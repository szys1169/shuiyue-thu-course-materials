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Lst>
  <p:notesMasterIdLst>
    <p:notesMasterId r:id="rId73"/>
  </p:notesMasterIdLst>
  <p:sldIdLst>
    <p:sldId id="256" r:id="rId2"/>
    <p:sldId id="258" r:id="rId3"/>
    <p:sldId id="296" r:id="rId4"/>
    <p:sldId id="259" r:id="rId5"/>
    <p:sldId id="260" r:id="rId6"/>
    <p:sldId id="261" r:id="rId7"/>
    <p:sldId id="262" r:id="rId8"/>
    <p:sldId id="263" r:id="rId9"/>
    <p:sldId id="264" r:id="rId10"/>
    <p:sldId id="295"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94" r:id="rId24"/>
    <p:sldId id="277" r:id="rId25"/>
    <p:sldId id="278" r:id="rId26"/>
    <p:sldId id="279" r:id="rId27"/>
    <p:sldId id="280" r:id="rId28"/>
    <p:sldId id="281" r:id="rId29"/>
    <p:sldId id="283" r:id="rId30"/>
    <p:sldId id="282" r:id="rId31"/>
    <p:sldId id="284" r:id="rId32"/>
    <p:sldId id="285" r:id="rId33"/>
    <p:sldId id="286" r:id="rId34"/>
    <p:sldId id="287" r:id="rId35"/>
    <p:sldId id="288" r:id="rId36"/>
    <p:sldId id="289" r:id="rId37"/>
    <p:sldId id="290" r:id="rId38"/>
    <p:sldId id="291" r:id="rId39"/>
    <p:sldId id="292" r:id="rId40"/>
    <p:sldId id="293" r:id="rId41"/>
    <p:sldId id="297" r:id="rId42"/>
    <p:sldId id="298" r:id="rId43"/>
    <p:sldId id="299" r:id="rId44"/>
    <p:sldId id="300" r:id="rId45"/>
    <p:sldId id="301" r:id="rId46"/>
    <p:sldId id="302" r:id="rId47"/>
    <p:sldId id="303" r:id="rId48"/>
    <p:sldId id="304" r:id="rId49"/>
    <p:sldId id="327"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5" r:id="rId70"/>
    <p:sldId id="328" r:id="rId71"/>
    <p:sldId id="324" r:id="rId72"/>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showPr>
  <p:clrMru>
    <a:srgbClr val="000099"/>
    <a:srgbClr val="D2DC08"/>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37" autoAdjust="0"/>
    <p:restoredTop sz="94458" autoAdjust="0"/>
  </p:normalViewPr>
  <p:slideViewPr>
    <p:cSldViewPr>
      <p:cViewPr varScale="1">
        <p:scale>
          <a:sx n="107" d="100"/>
          <a:sy n="107" d="100"/>
        </p:scale>
        <p:origin x="-173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 Id="rId5" Type="http://schemas.openxmlformats.org/officeDocument/2006/relationships/image" Target="../media/image10.wmf"/><Relationship Id="rId4"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 Id="rId5" Type="http://schemas.openxmlformats.org/officeDocument/2006/relationships/image" Target="../media/image15.wmf"/><Relationship Id="rId4"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 Id="rId5" Type="http://schemas.openxmlformats.org/officeDocument/2006/relationships/image" Target="../media/image24.wmf"/><Relationship Id="rId4" Type="http://schemas.openxmlformats.org/officeDocument/2006/relationships/image" Target="../media/image23.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 Id="rId5" Type="http://schemas.openxmlformats.org/officeDocument/2006/relationships/image" Target="../media/image29.wmf"/><Relationship Id="rId4" Type="http://schemas.openxmlformats.org/officeDocument/2006/relationships/image" Target="../media/image28.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image" Target="../media/image34.wmf"/><Relationship Id="rId7" Type="http://schemas.openxmlformats.org/officeDocument/2006/relationships/image" Target="../media/image38.wmf"/><Relationship Id="rId2" Type="http://schemas.openxmlformats.org/officeDocument/2006/relationships/image" Target="../media/image33.wmf"/><Relationship Id="rId1" Type="http://schemas.openxmlformats.org/officeDocument/2006/relationships/image" Target="../media/image32.wmf"/><Relationship Id="rId6" Type="http://schemas.openxmlformats.org/officeDocument/2006/relationships/image" Target="../media/image37.wmf"/><Relationship Id="rId5" Type="http://schemas.openxmlformats.org/officeDocument/2006/relationships/image" Target="../media/image36.wmf"/><Relationship Id="rId4" Type="http://schemas.openxmlformats.org/officeDocument/2006/relationships/image" Target="../media/image35.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 Id="rId4" Type="http://schemas.openxmlformats.org/officeDocument/2006/relationships/image" Target="../media/image50.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 Id="rId6" Type="http://schemas.openxmlformats.org/officeDocument/2006/relationships/image" Target="../media/image56.wmf"/><Relationship Id="rId5" Type="http://schemas.openxmlformats.org/officeDocument/2006/relationships/image" Target="../media/image55.wmf"/><Relationship Id="rId4" Type="http://schemas.openxmlformats.org/officeDocument/2006/relationships/image" Target="../media/image54.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 Id="rId6" Type="http://schemas.openxmlformats.org/officeDocument/2006/relationships/image" Target="../media/image62.wmf"/><Relationship Id="rId5" Type="http://schemas.openxmlformats.org/officeDocument/2006/relationships/image" Target="../media/image61.wmf"/><Relationship Id="rId4" Type="http://schemas.openxmlformats.org/officeDocument/2006/relationships/image" Target="../media/image60.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 Id="rId4" Type="http://schemas.openxmlformats.org/officeDocument/2006/relationships/image" Target="../media/image66.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 Id="rId4" Type="http://schemas.openxmlformats.org/officeDocument/2006/relationships/image" Target="../media/image70.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 Id="rId5" Type="http://schemas.openxmlformats.org/officeDocument/2006/relationships/image" Target="../media/image64.wmf"/><Relationship Id="rId4" Type="http://schemas.openxmlformats.org/officeDocument/2006/relationships/image" Target="../media/image74.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wmf"/><Relationship Id="rId5" Type="http://schemas.openxmlformats.org/officeDocument/2006/relationships/image" Target="../media/image64.wmf"/><Relationship Id="rId4" Type="http://schemas.openxmlformats.org/officeDocument/2006/relationships/image" Target="../media/image78.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80.wmf"/><Relationship Id="rId1" Type="http://schemas.openxmlformats.org/officeDocument/2006/relationships/image" Target="../media/image79.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image" Target="../media/image83.wmf"/><Relationship Id="rId7" Type="http://schemas.openxmlformats.org/officeDocument/2006/relationships/image" Target="../media/image86.wmf"/><Relationship Id="rId2" Type="http://schemas.openxmlformats.org/officeDocument/2006/relationships/image" Target="../media/image82.wmf"/><Relationship Id="rId1" Type="http://schemas.openxmlformats.org/officeDocument/2006/relationships/image" Target="../media/image81.wmf"/><Relationship Id="rId6" Type="http://schemas.openxmlformats.org/officeDocument/2006/relationships/image" Target="../media/image85.wmf"/><Relationship Id="rId5" Type="http://schemas.openxmlformats.org/officeDocument/2006/relationships/image" Target="../media/image76.wmf"/><Relationship Id="rId4" Type="http://schemas.openxmlformats.org/officeDocument/2006/relationships/image" Target="../media/image84.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87.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91.wmf"/><Relationship Id="rId3" Type="http://schemas.openxmlformats.org/officeDocument/2006/relationships/image" Target="../media/image88.wmf"/><Relationship Id="rId7" Type="http://schemas.openxmlformats.org/officeDocument/2006/relationships/image" Target="../media/image76.wmf"/><Relationship Id="rId2" Type="http://schemas.openxmlformats.org/officeDocument/2006/relationships/image" Target="../media/image85.wmf"/><Relationship Id="rId1" Type="http://schemas.openxmlformats.org/officeDocument/2006/relationships/image" Target="../media/image23.wmf"/><Relationship Id="rId6" Type="http://schemas.openxmlformats.org/officeDocument/2006/relationships/image" Target="../media/image90.wmf"/><Relationship Id="rId5" Type="http://schemas.openxmlformats.org/officeDocument/2006/relationships/image" Target="../media/image89.wmf"/><Relationship Id="rId4" Type="http://schemas.openxmlformats.org/officeDocument/2006/relationships/image" Target="../media/image73.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88.wmf"/><Relationship Id="rId6" Type="http://schemas.openxmlformats.org/officeDocument/2006/relationships/image" Target="../media/image23.wmf"/><Relationship Id="rId5" Type="http://schemas.openxmlformats.org/officeDocument/2006/relationships/image" Target="../media/image95.wmf"/><Relationship Id="rId4" Type="http://schemas.openxmlformats.org/officeDocument/2006/relationships/image" Target="../media/image94.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96.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97.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97.wmf"/><Relationship Id="rId3" Type="http://schemas.openxmlformats.org/officeDocument/2006/relationships/image" Target="../media/image101.wmf"/><Relationship Id="rId7" Type="http://schemas.openxmlformats.org/officeDocument/2006/relationships/image" Target="../media/image105.wmf"/><Relationship Id="rId2" Type="http://schemas.openxmlformats.org/officeDocument/2006/relationships/image" Target="../media/image100.wmf"/><Relationship Id="rId1" Type="http://schemas.openxmlformats.org/officeDocument/2006/relationships/image" Target="../media/image99.wmf"/><Relationship Id="rId6" Type="http://schemas.openxmlformats.org/officeDocument/2006/relationships/image" Target="../media/image104.wmf"/><Relationship Id="rId5" Type="http://schemas.openxmlformats.org/officeDocument/2006/relationships/image" Target="../media/image103.wmf"/><Relationship Id="rId4" Type="http://schemas.openxmlformats.org/officeDocument/2006/relationships/image" Target="../media/image102.wmf"/><Relationship Id="rId9" Type="http://schemas.openxmlformats.org/officeDocument/2006/relationships/image" Target="../media/image106.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114.wmf"/><Relationship Id="rId13" Type="http://schemas.openxmlformats.org/officeDocument/2006/relationships/image" Target="../media/image119.wmf"/><Relationship Id="rId3" Type="http://schemas.openxmlformats.org/officeDocument/2006/relationships/image" Target="../media/image109.wmf"/><Relationship Id="rId7" Type="http://schemas.openxmlformats.org/officeDocument/2006/relationships/image" Target="../media/image113.wmf"/><Relationship Id="rId12" Type="http://schemas.openxmlformats.org/officeDocument/2006/relationships/image" Target="../media/image118.wmf"/><Relationship Id="rId2" Type="http://schemas.openxmlformats.org/officeDocument/2006/relationships/image" Target="../media/image108.wmf"/><Relationship Id="rId1" Type="http://schemas.openxmlformats.org/officeDocument/2006/relationships/image" Target="../media/image107.wmf"/><Relationship Id="rId6" Type="http://schemas.openxmlformats.org/officeDocument/2006/relationships/image" Target="../media/image112.wmf"/><Relationship Id="rId11" Type="http://schemas.openxmlformats.org/officeDocument/2006/relationships/image" Target="../media/image117.wmf"/><Relationship Id="rId5" Type="http://schemas.openxmlformats.org/officeDocument/2006/relationships/image" Target="../media/image111.wmf"/><Relationship Id="rId10" Type="http://schemas.openxmlformats.org/officeDocument/2006/relationships/image" Target="../media/image116.wmf"/><Relationship Id="rId4" Type="http://schemas.openxmlformats.org/officeDocument/2006/relationships/image" Target="../media/image110.wmf"/><Relationship Id="rId9" Type="http://schemas.openxmlformats.org/officeDocument/2006/relationships/image" Target="../media/image115.wmf"/><Relationship Id="rId14" Type="http://schemas.openxmlformats.org/officeDocument/2006/relationships/image" Target="../media/image120.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23.wmf"/><Relationship Id="rId2" Type="http://schemas.openxmlformats.org/officeDocument/2006/relationships/image" Target="../media/image122.wmf"/><Relationship Id="rId1" Type="http://schemas.openxmlformats.org/officeDocument/2006/relationships/image" Target="../media/image121.wmf"/><Relationship Id="rId5" Type="http://schemas.openxmlformats.org/officeDocument/2006/relationships/image" Target="../media/image125.wmf"/><Relationship Id="rId4" Type="http://schemas.openxmlformats.org/officeDocument/2006/relationships/image" Target="../media/image124.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28.wmf"/><Relationship Id="rId2" Type="http://schemas.openxmlformats.org/officeDocument/2006/relationships/image" Target="../media/image127.wmf"/><Relationship Id="rId1" Type="http://schemas.openxmlformats.org/officeDocument/2006/relationships/image" Target="../media/image126.wmf"/><Relationship Id="rId6" Type="http://schemas.openxmlformats.org/officeDocument/2006/relationships/image" Target="../media/image131.wmf"/><Relationship Id="rId5" Type="http://schemas.openxmlformats.org/officeDocument/2006/relationships/image" Target="../media/image130.wmf"/><Relationship Id="rId4" Type="http://schemas.openxmlformats.org/officeDocument/2006/relationships/image" Target="../media/image129.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30.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32.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image" Target="../media/image133.wmf"/><Relationship Id="rId1" Type="http://schemas.openxmlformats.org/officeDocument/2006/relationships/image" Target="../media/image132.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137.wmf"/><Relationship Id="rId1" Type="http://schemas.openxmlformats.org/officeDocument/2006/relationships/image" Target="../media/image136.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40.wmf"/><Relationship Id="rId2" Type="http://schemas.openxmlformats.org/officeDocument/2006/relationships/image" Target="../media/image139.wmf"/><Relationship Id="rId1" Type="http://schemas.openxmlformats.org/officeDocument/2006/relationships/image" Target="../media/image138.wmf"/><Relationship Id="rId5" Type="http://schemas.openxmlformats.org/officeDocument/2006/relationships/image" Target="../media/image142.wmf"/><Relationship Id="rId4" Type="http://schemas.openxmlformats.org/officeDocument/2006/relationships/image" Target="../media/image141.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45.wmf"/><Relationship Id="rId7" Type="http://schemas.openxmlformats.org/officeDocument/2006/relationships/image" Target="../media/image149.wmf"/><Relationship Id="rId2" Type="http://schemas.openxmlformats.org/officeDocument/2006/relationships/image" Target="../media/image144.wmf"/><Relationship Id="rId1" Type="http://schemas.openxmlformats.org/officeDocument/2006/relationships/image" Target="../media/image143.wmf"/><Relationship Id="rId6" Type="http://schemas.openxmlformats.org/officeDocument/2006/relationships/image" Target="../media/image148.wmf"/><Relationship Id="rId5" Type="http://schemas.openxmlformats.org/officeDocument/2006/relationships/image" Target="../media/image147.jpeg"/><Relationship Id="rId4" Type="http://schemas.openxmlformats.org/officeDocument/2006/relationships/image" Target="../media/image146.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image" Target="../media/image136.wmf"/><Relationship Id="rId1" Type="http://schemas.openxmlformats.org/officeDocument/2006/relationships/image" Target="../media/image151.wmf"/><Relationship Id="rId5" Type="http://schemas.openxmlformats.org/officeDocument/2006/relationships/image" Target="../media/image149.wmf"/><Relationship Id="rId4" Type="http://schemas.openxmlformats.org/officeDocument/2006/relationships/image" Target="../media/image152.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56.wmf"/><Relationship Id="rId2" Type="http://schemas.openxmlformats.org/officeDocument/2006/relationships/image" Target="../media/image155.wmf"/><Relationship Id="rId1" Type="http://schemas.openxmlformats.org/officeDocument/2006/relationships/image" Target="../media/image154.wmf"/><Relationship Id="rId4" Type="http://schemas.openxmlformats.org/officeDocument/2006/relationships/image" Target="../media/image157.wmf"/></Relationships>
</file>

<file path=ppt/drawings/_rels/vmlDrawing40.vml.rels><?xml version="1.0" encoding="UTF-8" standalone="yes"?>
<Relationships xmlns="http://schemas.openxmlformats.org/package/2006/relationships"><Relationship Id="rId8" Type="http://schemas.openxmlformats.org/officeDocument/2006/relationships/image" Target="../media/image164.wmf"/><Relationship Id="rId3" Type="http://schemas.openxmlformats.org/officeDocument/2006/relationships/image" Target="../media/image160.wmf"/><Relationship Id="rId7" Type="http://schemas.openxmlformats.org/officeDocument/2006/relationships/image" Target="../media/image163.wmf"/><Relationship Id="rId2" Type="http://schemas.openxmlformats.org/officeDocument/2006/relationships/image" Target="../media/image159.wmf"/><Relationship Id="rId1" Type="http://schemas.openxmlformats.org/officeDocument/2006/relationships/image" Target="../media/image158.wmf"/><Relationship Id="rId6" Type="http://schemas.openxmlformats.org/officeDocument/2006/relationships/image" Target="../media/image156.wmf"/><Relationship Id="rId5" Type="http://schemas.openxmlformats.org/officeDocument/2006/relationships/image" Target="../media/image162.wmf"/><Relationship Id="rId4" Type="http://schemas.openxmlformats.org/officeDocument/2006/relationships/image" Target="../media/image161.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167.wmf"/><Relationship Id="rId1" Type="http://schemas.openxmlformats.org/officeDocument/2006/relationships/image" Target="../media/image166.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70.wmf"/><Relationship Id="rId2" Type="http://schemas.openxmlformats.org/officeDocument/2006/relationships/image" Target="../media/image169.wmf"/><Relationship Id="rId1" Type="http://schemas.openxmlformats.org/officeDocument/2006/relationships/image" Target="../media/image168.wmf"/><Relationship Id="rId6" Type="http://schemas.openxmlformats.org/officeDocument/2006/relationships/image" Target="../media/image173.wmf"/><Relationship Id="rId5" Type="http://schemas.openxmlformats.org/officeDocument/2006/relationships/image" Target="../media/image172.wmf"/><Relationship Id="rId4" Type="http://schemas.openxmlformats.org/officeDocument/2006/relationships/image" Target="../media/image171.wmf"/></Relationships>
</file>

<file path=ppt/drawings/_rels/vmlDrawing43.vml.rels><?xml version="1.0" encoding="UTF-8" standalone="yes"?>
<Relationships xmlns="http://schemas.openxmlformats.org/package/2006/relationships"><Relationship Id="rId8" Type="http://schemas.openxmlformats.org/officeDocument/2006/relationships/image" Target="../media/image181.wmf"/><Relationship Id="rId3" Type="http://schemas.openxmlformats.org/officeDocument/2006/relationships/image" Target="../media/image176.wmf"/><Relationship Id="rId7" Type="http://schemas.openxmlformats.org/officeDocument/2006/relationships/image" Target="../media/image180.wmf"/><Relationship Id="rId2" Type="http://schemas.openxmlformats.org/officeDocument/2006/relationships/image" Target="../media/image175.wmf"/><Relationship Id="rId1" Type="http://schemas.openxmlformats.org/officeDocument/2006/relationships/image" Target="../media/image174.wmf"/><Relationship Id="rId6" Type="http://schemas.openxmlformats.org/officeDocument/2006/relationships/image" Target="../media/image179.wmf"/><Relationship Id="rId11" Type="http://schemas.openxmlformats.org/officeDocument/2006/relationships/image" Target="../media/image184.wmf"/><Relationship Id="rId5" Type="http://schemas.openxmlformats.org/officeDocument/2006/relationships/image" Target="../media/image178.jpeg"/><Relationship Id="rId10" Type="http://schemas.openxmlformats.org/officeDocument/2006/relationships/image" Target="../media/image183.wmf"/><Relationship Id="rId4" Type="http://schemas.openxmlformats.org/officeDocument/2006/relationships/image" Target="../media/image177.wmf"/><Relationship Id="rId9" Type="http://schemas.openxmlformats.org/officeDocument/2006/relationships/image" Target="../media/image182.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186.wmf"/><Relationship Id="rId2" Type="http://schemas.openxmlformats.org/officeDocument/2006/relationships/image" Target="../media/image185.wmf"/><Relationship Id="rId1" Type="http://schemas.openxmlformats.org/officeDocument/2006/relationships/image" Target="../media/image178.jpeg"/></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188.wmf"/><Relationship Id="rId7" Type="http://schemas.openxmlformats.org/officeDocument/2006/relationships/image" Target="../media/image191.wmf"/><Relationship Id="rId2" Type="http://schemas.openxmlformats.org/officeDocument/2006/relationships/image" Target="../media/image187.wmf"/><Relationship Id="rId1" Type="http://schemas.openxmlformats.org/officeDocument/2006/relationships/image" Target="../media/image178.jpeg"/><Relationship Id="rId6" Type="http://schemas.openxmlformats.org/officeDocument/2006/relationships/image" Target="../media/image190.wmf"/><Relationship Id="rId5" Type="http://schemas.openxmlformats.org/officeDocument/2006/relationships/image" Target="../media/image189.wmf"/><Relationship Id="rId4" Type="http://schemas.openxmlformats.org/officeDocument/2006/relationships/image" Target="../media/image182.wmf"/></Relationships>
</file>

<file path=ppt/drawings/_rels/vmlDrawing46.vml.rels><?xml version="1.0" encoding="UTF-8" standalone="yes"?>
<Relationships xmlns="http://schemas.openxmlformats.org/package/2006/relationships"><Relationship Id="rId8" Type="http://schemas.openxmlformats.org/officeDocument/2006/relationships/image" Target="../media/image177.wmf"/><Relationship Id="rId3" Type="http://schemas.openxmlformats.org/officeDocument/2006/relationships/image" Target="../media/image178.jpeg"/><Relationship Id="rId7" Type="http://schemas.openxmlformats.org/officeDocument/2006/relationships/image" Target="../media/image197.wmf"/><Relationship Id="rId2" Type="http://schemas.openxmlformats.org/officeDocument/2006/relationships/image" Target="../media/image193.wmf"/><Relationship Id="rId1" Type="http://schemas.openxmlformats.org/officeDocument/2006/relationships/image" Target="../media/image192.jpeg"/><Relationship Id="rId6" Type="http://schemas.openxmlformats.org/officeDocument/2006/relationships/image" Target="../media/image196.jpeg"/><Relationship Id="rId5" Type="http://schemas.openxmlformats.org/officeDocument/2006/relationships/image" Target="../media/image195.wmf"/><Relationship Id="rId4" Type="http://schemas.openxmlformats.org/officeDocument/2006/relationships/image" Target="../media/image194.wmf"/><Relationship Id="rId9" Type="http://schemas.openxmlformats.org/officeDocument/2006/relationships/image" Target="../media/image198.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178.jpeg"/><Relationship Id="rId7" Type="http://schemas.openxmlformats.org/officeDocument/2006/relationships/image" Target="../media/image203.wmf"/><Relationship Id="rId2" Type="http://schemas.openxmlformats.org/officeDocument/2006/relationships/image" Target="../media/image199.wmf"/><Relationship Id="rId1" Type="http://schemas.openxmlformats.org/officeDocument/2006/relationships/image" Target="../media/image192.jpeg"/><Relationship Id="rId6" Type="http://schemas.openxmlformats.org/officeDocument/2006/relationships/image" Target="../media/image202.wmf"/><Relationship Id="rId5" Type="http://schemas.openxmlformats.org/officeDocument/2006/relationships/image" Target="../media/image201.jpeg"/><Relationship Id="rId4" Type="http://schemas.openxmlformats.org/officeDocument/2006/relationships/image" Target="../media/image200.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206.wmf"/><Relationship Id="rId2" Type="http://schemas.openxmlformats.org/officeDocument/2006/relationships/image" Target="../media/image205.wmf"/><Relationship Id="rId1" Type="http://schemas.openxmlformats.org/officeDocument/2006/relationships/image" Target="../media/image204.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174.wmf"/><Relationship Id="rId2" Type="http://schemas.openxmlformats.org/officeDocument/2006/relationships/image" Target="../media/image208.wmf"/><Relationship Id="rId1" Type="http://schemas.openxmlformats.org/officeDocument/2006/relationships/image" Target="../media/image207.wmf"/><Relationship Id="rId5" Type="http://schemas.openxmlformats.org/officeDocument/2006/relationships/image" Target="../media/image210.wmf"/><Relationship Id="rId4" Type="http://schemas.openxmlformats.org/officeDocument/2006/relationships/image" Target="../media/image209.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213.wmf"/><Relationship Id="rId2" Type="http://schemas.openxmlformats.org/officeDocument/2006/relationships/image" Target="../media/image212.wmf"/><Relationship Id="rId1" Type="http://schemas.openxmlformats.org/officeDocument/2006/relationships/image" Target="../media/image211.wmf"/><Relationship Id="rId4" Type="http://schemas.openxmlformats.org/officeDocument/2006/relationships/image" Target="../media/image214.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217.wmf"/><Relationship Id="rId2" Type="http://schemas.openxmlformats.org/officeDocument/2006/relationships/image" Target="../media/image216.wmf"/><Relationship Id="rId1" Type="http://schemas.openxmlformats.org/officeDocument/2006/relationships/image" Target="../media/image215.wmf"/><Relationship Id="rId4" Type="http://schemas.openxmlformats.org/officeDocument/2006/relationships/image" Target="../media/image21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921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7680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922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922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922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249978DE-EBEF-4774-84AF-0B85D034764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D3E869E8-A684-4A0B-9043-5591C8A876BE}" type="slidenum">
              <a:rPr lang="en-US" altLang="zh-CN" smtClean="0"/>
              <a:pPr/>
              <a:t>2</a:t>
            </a:fld>
            <a:endParaRPr lang="en-US" altLang="zh-CN" smtClean="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3"/>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
          <p:cNvSpPr>
            <a:spLocks noGrp="1" noChangeArrowheads="1"/>
          </p:cNvSpPr>
          <p:nvPr>
            <p:ph type="ftr" sz="quarter" idx="11"/>
          </p:nvPr>
        </p:nvSpPr>
        <p:spPr>
          <a:ln/>
        </p:spPr>
        <p:txBody>
          <a:bodyPr/>
          <a:lstStyle>
            <a:lvl1pPr>
              <a:defRPr/>
            </a:lvl1pPr>
          </a:lstStyle>
          <a:p>
            <a:pPr>
              <a:defRPr/>
            </a:pPr>
            <a:fld id="{8ADB7150-EE1B-445D-8517-0F0AAC0E2D52}" type="slidenum">
              <a:rPr lang="en-US" altLang="zh-CN"/>
              <a:pPr>
                <a:defRPr/>
              </a:pPr>
              <a:t>‹#›</a:t>
            </a:fld>
            <a:endParaRPr lang="en-US" altLang="zh-CN"/>
          </a:p>
        </p:txBody>
      </p:sp>
      <p:sp>
        <p:nvSpPr>
          <p:cNvPr id="6" name="Rectangle 5"/>
          <p:cNvSpPr>
            <a:spLocks noGrp="1" noChangeArrowheads="1"/>
          </p:cNvSpPr>
          <p:nvPr>
            <p:ph type="sldNum" sz="quarter" idx="12"/>
          </p:nvPr>
        </p:nvSpPr>
        <p:spPr>
          <a:ln/>
        </p:spPr>
        <p:txBody>
          <a:bodyPr/>
          <a:lstStyle>
            <a:lvl1pPr>
              <a:defRPr/>
            </a:lvl1pPr>
          </a:lstStyle>
          <a:p>
            <a:pPr>
              <a:defRPr/>
            </a:pPr>
            <a:fld id="{760432AC-8B66-4A8B-8E88-7FF00FF5AD29}" type="slidenum">
              <a:rPr lang="en-US" altLang="zh-CN"/>
              <a:pPr>
                <a:defRPr/>
              </a:pPr>
              <a:t>‹#›</a:t>
            </a:fld>
            <a:endParaRPr lang="en-US" altLang="zh-CN"/>
          </a:p>
        </p:txBody>
      </p:sp>
    </p:spTree>
  </p:cSld>
  <p:clrMapOvr>
    <a:masterClrMapping/>
  </p:clrMapOvr>
  <p:transition spd="med">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3"/>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
          <p:cNvSpPr>
            <a:spLocks noGrp="1" noChangeArrowheads="1"/>
          </p:cNvSpPr>
          <p:nvPr>
            <p:ph type="ftr" sz="quarter" idx="11"/>
          </p:nvPr>
        </p:nvSpPr>
        <p:spPr>
          <a:ln/>
        </p:spPr>
        <p:txBody>
          <a:bodyPr/>
          <a:lstStyle>
            <a:lvl1pPr>
              <a:defRPr/>
            </a:lvl1pPr>
          </a:lstStyle>
          <a:p>
            <a:pPr>
              <a:defRPr/>
            </a:pPr>
            <a:fld id="{B04AAC08-D120-4B0F-93C8-FE668E471CEA}" type="slidenum">
              <a:rPr lang="en-US" altLang="zh-CN"/>
              <a:pPr>
                <a:defRPr/>
              </a:pPr>
              <a:t>‹#›</a:t>
            </a:fld>
            <a:endParaRPr lang="en-US" altLang="zh-CN"/>
          </a:p>
        </p:txBody>
      </p:sp>
      <p:sp>
        <p:nvSpPr>
          <p:cNvPr id="6" name="Rectangle 5"/>
          <p:cNvSpPr>
            <a:spLocks noGrp="1" noChangeArrowheads="1"/>
          </p:cNvSpPr>
          <p:nvPr>
            <p:ph type="sldNum" sz="quarter" idx="12"/>
          </p:nvPr>
        </p:nvSpPr>
        <p:spPr>
          <a:ln/>
        </p:spPr>
        <p:txBody>
          <a:bodyPr/>
          <a:lstStyle>
            <a:lvl1pPr>
              <a:defRPr/>
            </a:lvl1pPr>
          </a:lstStyle>
          <a:p>
            <a:pPr>
              <a:defRPr/>
            </a:pPr>
            <a:fld id="{2246EA81-0BD3-492D-843F-979C717248A5}" type="slidenum">
              <a:rPr lang="en-US" altLang="zh-CN"/>
              <a:pPr>
                <a:defRPr/>
              </a:pPr>
              <a:t>‹#›</a:t>
            </a:fld>
            <a:endParaRPr lang="en-US" altLang="zh-CN"/>
          </a:p>
        </p:txBody>
      </p:sp>
    </p:spTree>
  </p:cSld>
  <p:clrMapOvr>
    <a:masterClrMapping/>
  </p:clrMapOvr>
  <p:transition spd="med">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3"/>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
          <p:cNvSpPr>
            <a:spLocks noGrp="1" noChangeArrowheads="1"/>
          </p:cNvSpPr>
          <p:nvPr>
            <p:ph type="ftr" sz="quarter" idx="11"/>
          </p:nvPr>
        </p:nvSpPr>
        <p:spPr>
          <a:ln/>
        </p:spPr>
        <p:txBody>
          <a:bodyPr/>
          <a:lstStyle>
            <a:lvl1pPr>
              <a:defRPr/>
            </a:lvl1pPr>
          </a:lstStyle>
          <a:p>
            <a:pPr>
              <a:defRPr/>
            </a:pPr>
            <a:fld id="{BBBA417C-EED6-4958-9E98-E60A1E3BA819}" type="slidenum">
              <a:rPr lang="en-US" altLang="zh-CN"/>
              <a:pPr>
                <a:defRPr/>
              </a:pPr>
              <a:t>‹#›</a:t>
            </a:fld>
            <a:endParaRPr lang="en-US" altLang="zh-CN"/>
          </a:p>
        </p:txBody>
      </p:sp>
      <p:sp>
        <p:nvSpPr>
          <p:cNvPr id="6" name="Rectangle 5"/>
          <p:cNvSpPr>
            <a:spLocks noGrp="1" noChangeArrowheads="1"/>
          </p:cNvSpPr>
          <p:nvPr>
            <p:ph type="sldNum" sz="quarter" idx="12"/>
          </p:nvPr>
        </p:nvSpPr>
        <p:spPr>
          <a:ln/>
        </p:spPr>
        <p:txBody>
          <a:bodyPr/>
          <a:lstStyle>
            <a:lvl1pPr>
              <a:defRPr/>
            </a:lvl1pPr>
          </a:lstStyle>
          <a:p>
            <a:pPr>
              <a:defRPr/>
            </a:pPr>
            <a:fld id="{6E70C87F-9EA0-49BB-A649-2BC7752EAB34}" type="slidenum">
              <a:rPr lang="en-US" altLang="zh-CN"/>
              <a:pPr>
                <a:defRPr/>
              </a:pPr>
              <a:t>‹#›</a:t>
            </a:fld>
            <a:endParaRPr lang="en-US" altLang="zh-CN"/>
          </a:p>
        </p:txBody>
      </p:sp>
    </p:spTree>
  </p:cSld>
  <p:clrMapOvr>
    <a:masterClrMapping/>
  </p:clrMapOvr>
  <p:transition spd="med">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3"/>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
          <p:cNvSpPr>
            <a:spLocks noGrp="1" noChangeArrowheads="1"/>
          </p:cNvSpPr>
          <p:nvPr>
            <p:ph type="ftr" sz="quarter" idx="11"/>
          </p:nvPr>
        </p:nvSpPr>
        <p:spPr>
          <a:ln/>
        </p:spPr>
        <p:txBody>
          <a:bodyPr/>
          <a:lstStyle>
            <a:lvl1pPr>
              <a:defRPr/>
            </a:lvl1pPr>
          </a:lstStyle>
          <a:p>
            <a:pPr>
              <a:defRPr/>
            </a:pPr>
            <a:fld id="{10A4F0EA-597F-4ACF-8264-B609FE883CED}" type="slidenum">
              <a:rPr lang="en-US" altLang="zh-CN"/>
              <a:pPr>
                <a:defRPr/>
              </a:pPr>
              <a:t>‹#›</a:t>
            </a:fld>
            <a:endParaRPr lang="en-US" altLang="zh-CN"/>
          </a:p>
        </p:txBody>
      </p:sp>
      <p:sp>
        <p:nvSpPr>
          <p:cNvPr id="7" name="Rectangle 5"/>
          <p:cNvSpPr>
            <a:spLocks noGrp="1" noChangeArrowheads="1"/>
          </p:cNvSpPr>
          <p:nvPr>
            <p:ph type="sldNum" sz="quarter" idx="12"/>
          </p:nvPr>
        </p:nvSpPr>
        <p:spPr>
          <a:ln/>
        </p:spPr>
        <p:txBody>
          <a:bodyPr/>
          <a:lstStyle>
            <a:lvl1pPr>
              <a:defRPr/>
            </a:lvl1pPr>
          </a:lstStyle>
          <a:p>
            <a:pPr>
              <a:defRPr/>
            </a:pPr>
            <a:fld id="{18638BB8-027E-4423-A4E6-6C004BB4D5A4}" type="slidenum">
              <a:rPr lang="en-US" altLang="zh-CN"/>
              <a:pPr>
                <a:defRPr/>
              </a:pPr>
              <a:t>‹#›</a:t>
            </a:fld>
            <a:endParaRPr lang="en-US" altLang="zh-CN"/>
          </a:p>
        </p:txBody>
      </p:sp>
    </p:spTree>
  </p:cSld>
  <p:clrMapOvr>
    <a:masterClrMapping/>
  </p:clrMapOvr>
  <p:transition spd="med">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3"/>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4"/>
          <p:cNvSpPr>
            <a:spLocks noGrp="1" noChangeArrowheads="1"/>
          </p:cNvSpPr>
          <p:nvPr>
            <p:ph type="ftr" sz="quarter" idx="11"/>
          </p:nvPr>
        </p:nvSpPr>
        <p:spPr>
          <a:ln/>
        </p:spPr>
        <p:txBody>
          <a:bodyPr/>
          <a:lstStyle>
            <a:lvl1pPr>
              <a:defRPr/>
            </a:lvl1pPr>
          </a:lstStyle>
          <a:p>
            <a:pPr>
              <a:defRPr/>
            </a:pPr>
            <a:fld id="{A98F3F37-FEF3-4B57-8D24-E21E2ED3485D}" type="slidenum">
              <a:rPr lang="en-US" altLang="zh-CN"/>
              <a:pPr>
                <a:defRPr/>
              </a:pPr>
              <a:t>‹#›</a:t>
            </a:fld>
            <a:endParaRPr lang="en-US" altLang="zh-CN"/>
          </a:p>
        </p:txBody>
      </p:sp>
      <p:sp>
        <p:nvSpPr>
          <p:cNvPr id="9" name="Rectangle 5"/>
          <p:cNvSpPr>
            <a:spLocks noGrp="1" noChangeArrowheads="1"/>
          </p:cNvSpPr>
          <p:nvPr>
            <p:ph type="sldNum" sz="quarter" idx="12"/>
          </p:nvPr>
        </p:nvSpPr>
        <p:spPr>
          <a:ln/>
        </p:spPr>
        <p:txBody>
          <a:bodyPr/>
          <a:lstStyle>
            <a:lvl1pPr>
              <a:defRPr/>
            </a:lvl1pPr>
          </a:lstStyle>
          <a:p>
            <a:pPr>
              <a:defRPr/>
            </a:pPr>
            <a:fld id="{CBBEC6E0-AFF2-479D-B9A8-8AF46CA68999}" type="slidenum">
              <a:rPr lang="en-US" altLang="zh-CN"/>
              <a:pPr>
                <a:defRPr/>
              </a:pPr>
              <a:t>‹#›</a:t>
            </a:fld>
            <a:endParaRPr lang="en-US" altLang="zh-CN"/>
          </a:p>
        </p:txBody>
      </p:sp>
    </p:spTree>
  </p:cSld>
  <p:clrMapOvr>
    <a:masterClrMapping/>
  </p:clrMapOvr>
  <p:transition spd="med">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3"/>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4"/>
          <p:cNvSpPr>
            <a:spLocks noGrp="1" noChangeArrowheads="1"/>
          </p:cNvSpPr>
          <p:nvPr>
            <p:ph type="ftr" sz="quarter" idx="11"/>
          </p:nvPr>
        </p:nvSpPr>
        <p:spPr>
          <a:ln/>
        </p:spPr>
        <p:txBody>
          <a:bodyPr/>
          <a:lstStyle>
            <a:lvl1pPr>
              <a:defRPr/>
            </a:lvl1pPr>
          </a:lstStyle>
          <a:p>
            <a:pPr>
              <a:defRPr/>
            </a:pPr>
            <a:fld id="{787CA07A-E2D1-436B-8190-BB89A221EB8F}" type="slidenum">
              <a:rPr lang="en-US" altLang="zh-CN"/>
              <a:pPr>
                <a:defRPr/>
              </a:pPr>
              <a:t>‹#›</a:t>
            </a:fld>
            <a:endParaRPr lang="en-US" altLang="zh-CN"/>
          </a:p>
        </p:txBody>
      </p:sp>
      <p:sp>
        <p:nvSpPr>
          <p:cNvPr id="5" name="Rectangle 5"/>
          <p:cNvSpPr>
            <a:spLocks noGrp="1" noChangeArrowheads="1"/>
          </p:cNvSpPr>
          <p:nvPr>
            <p:ph type="sldNum" sz="quarter" idx="12"/>
          </p:nvPr>
        </p:nvSpPr>
        <p:spPr>
          <a:ln/>
        </p:spPr>
        <p:txBody>
          <a:bodyPr/>
          <a:lstStyle>
            <a:lvl1pPr>
              <a:defRPr/>
            </a:lvl1pPr>
          </a:lstStyle>
          <a:p>
            <a:pPr>
              <a:defRPr/>
            </a:pPr>
            <a:fld id="{59475254-3B4C-4059-847B-F380DBE53B44}" type="slidenum">
              <a:rPr lang="en-US" altLang="zh-CN"/>
              <a:pPr>
                <a:defRPr/>
              </a:pPr>
              <a:t>‹#›</a:t>
            </a:fld>
            <a:endParaRPr lang="en-US" altLang="zh-CN"/>
          </a:p>
        </p:txBody>
      </p:sp>
    </p:spTree>
  </p:cSld>
  <p:clrMapOvr>
    <a:masterClrMapping/>
  </p:clrMapOvr>
  <p:transition spd="med">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3"/>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4"/>
          <p:cNvSpPr>
            <a:spLocks noGrp="1" noChangeArrowheads="1"/>
          </p:cNvSpPr>
          <p:nvPr>
            <p:ph type="ftr" sz="quarter" idx="11"/>
          </p:nvPr>
        </p:nvSpPr>
        <p:spPr>
          <a:ln/>
        </p:spPr>
        <p:txBody>
          <a:bodyPr/>
          <a:lstStyle>
            <a:lvl1pPr>
              <a:defRPr/>
            </a:lvl1pPr>
          </a:lstStyle>
          <a:p>
            <a:pPr>
              <a:defRPr/>
            </a:pPr>
            <a:fld id="{D5E878C8-F76B-4363-A06B-665FD57982B7}" type="slidenum">
              <a:rPr lang="en-US" altLang="zh-CN"/>
              <a:pPr>
                <a:defRPr/>
              </a:pPr>
              <a:t>‹#›</a:t>
            </a:fld>
            <a:endParaRPr lang="en-US" altLang="zh-CN"/>
          </a:p>
        </p:txBody>
      </p:sp>
      <p:sp>
        <p:nvSpPr>
          <p:cNvPr id="4" name="Rectangle 5"/>
          <p:cNvSpPr>
            <a:spLocks noGrp="1" noChangeArrowheads="1"/>
          </p:cNvSpPr>
          <p:nvPr>
            <p:ph type="sldNum" sz="quarter" idx="12"/>
          </p:nvPr>
        </p:nvSpPr>
        <p:spPr>
          <a:ln/>
        </p:spPr>
        <p:txBody>
          <a:bodyPr/>
          <a:lstStyle>
            <a:lvl1pPr>
              <a:defRPr/>
            </a:lvl1pPr>
          </a:lstStyle>
          <a:p>
            <a:pPr>
              <a:defRPr/>
            </a:pPr>
            <a:fld id="{F7A31D0F-AFC1-469E-956F-F248225ABA34}" type="slidenum">
              <a:rPr lang="en-US" altLang="zh-CN"/>
              <a:pPr>
                <a:defRPr/>
              </a:pPr>
              <a:t>‹#›</a:t>
            </a:fld>
            <a:endParaRPr lang="en-US" altLang="zh-CN"/>
          </a:p>
        </p:txBody>
      </p:sp>
    </p:spTree>
  </p:cSld>
  <p:clrMapOvr>
    <a:masterClrMapping/>
  </p:clrMapOvr>
  <p:transition spd="med">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3"/>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
          <p:cNvSpPr>
            <a:spLocks noGrp="1" noChangeArrowheads="1"/>
          </p:cNvSpPr>
          <p:nvPr>
            <p:ph type="ftr" sz="quarter" idx="11"/>
          </p:nvPr>
        </p:nvSpPr>
        <p:spPr>
          <a:ln/>
        </p:spPr>
        <p:txBody>
          <a:bodyPr/>
          <a:lstStyle>
            <a:lvl1pPr>
              <a:defRPr/>
            </a:lvl1pPr>
          </a:lstStyle>
          <a:p>
            <a:pPr>
              <a:defRPr/>
            </a:pPr>
            <a:fld id="{9AE7C676-9475-4B23-A979-BC29B834DB8E}" type="slidenum">
              <a:rPr lang="en-US" altLang="zh-CN"/>
              <a:pPr>
                <a:defRPr/>
              </a:pPr>
              <a:t>‹#›</a:t>
            </a:fld>
            <a:endParaRPr lang="en-US" altLang="zh-CN"/>
          </a:p>
        </p:txBody>
      </p:sp>
      <p:sp>
        <p:nvSpPr>
          <p:cNvPr id="7" name="Rectangle 5"/>
          <p:cNvSpPr>
            <a:spLocks noGrp="1" noChangeArrowheads="1"/>
          </p:cNvSpPr>
          <p:nvPr>
            <p:ph type="sldNum" sz="quarter" idx="12"/>
          </p:nvPr>
        </p:nvSpPr>
        <p:spPr>
          <a:ln/>
        </p:spPr>
        <p:txBody>
          <a:bodyPr/>
          <a:lstStyle>
            <a:lvl1pPr>
              <a:defRPr/>
            </a:lvl1pPr>
          </a:lstStyle>
          <a:p>
            <a:pPr>
              <a:defRPr/>
            </a:pPr>
            <a:fld id="{1B6D59FF-AD46-4157-B2EC-25D4A5CCEABE}" type="slidenum">
              <a:rPr lang="en-US" altLang="zh-CN"/>
              <a:pPr>
                <a:defRPr/>
              </a:pPr>
              <a:t>‹#›</a:t>
            </a:fld>
            <a:endParaRPr lang="en-US" altLang="zh-CN"/>
          </a:p>
        </p:txBody>
      </p:sp>
    </p:spTree>
  </p:cSld>
  <p:clrMapOvr>
    <a:masterClrMapping/>
  </p:clrMapOvr>
  <p:transition spd="med">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3"/>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
          <p:cNvSpPr>
            <a:spLocks noGrp="1" noChangeArrowheads="1"/>
          </p:cNvSpPr>
          <p:nvPr>
            <p:ph type="ftr" sz="quarter" idx="11"/>
          </p:nvPr>
        </p:nvSpPr>
        <p:spPr>
          <a:ln/>
        </p:spPr>
        <p:txBody>
          <a:bodyPr/>
          <a:lstStyle>
            <a:lvl1pPr>
              <a:defRPr/>
            </a:lvl1pPr>
          </a:lstStyle>
          <a:p>
            <a:pPr>
              <a:defRPr/>
            </a:pPr>
            <a:fld id="{570DF02C-E3D5-463C-9721-D1B2082CFB71}" type="slidenum">
              <a:rPr lang="en-US" altLang="zh-CN"/>
              <a:pPr>
                <a:defRPr/>
              </a:pPr>
              <a:t>‹#›</a:t>
            </a:fld>
            <a:endParaRPr lang="en-US" altLang="zh-CN"/>
          </a:p>
        </p:txBody>
      </p:sp>
      <p:sp>
        <p:nvSpPr>
          <p:cNvPr id="7" name="Rectangle 5"/>
          <p:cNvSpPr>
            <a:spLocks noGrp="1" noChangeArrowheads="1"/>
          </p:cNvSpPr>
          <p:nvPr>
            <p:ph type="sldNum" sz="quarter" idx="12"/>
          </p:nvPr>
        </p:nvSpPr>
        <p:spPr>
          <a:ln/>
        </p:spPr>
        <p:txBody>
          <a:bodyPr/>
          <a:lstStyle>
            <a:lvl1pPr>
              <a:defRPr/>
            </a:lvl1pPr>
          </a:lstStyle>
          <a:p>
            <a:pPr>
              <a:defRPr/>
            </a:pPr>
            <a:fld id="{C50184E2-94DB-4E3E-ACA3-E622CF0D8267}" type="slidenum">
              <a:rPr lang="en-US" altLang="zh-CN"/>
              <a:pPr>
                <a:defRPr/>
              </a:pPr>
              <a:t>‹#›</a:t>
            </a:fld>
            <a:endParaRPr lang="en-US" altLang="zh-CN"/>
          </a:p>
        </p:txBody>
      </p:sp>
    </p:spTree>
  </p:cSld>
  <p:clrMapOvr>
    <a:masterClrMapping/>
  </p:clrMapOvr>
  <p:transition spd="med">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3"/>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
          <p:cNvSpPr>
            <a:spLocks noGrp="1" noChangeArrowheads="1"/>
          </p:cNvSpPr>
          <p:nvPr>
            <p:ph type="ftr" sz="quarter" idx="11"/>
          </p:nvPr>
        </p:nvSpPr>
        <p:spPr>
          <a:ln/>
        </p:spPr>
        <p:txBody>
          <a:bodyPr/>
          <a:lstStyle>
            <a:lvl1pPr>
              <a:defRPr/>
            </a:lvl1pPr>
          </a:lstStyle>
          <a:p>
            <a:pPr>
              <a:defRPr/>
            </a:pPr>
            <a:fld id="{5B619EC7-7C17-4EF2-AA2D-93E6F4ADFEDA}" type="slidenum">
              <a:rPr lang="en-US" altLang="zh-CN"/>
              <a:pPr>
                <a:defRPr/>
              </a:pPr>
              <a:t>‹#›</a:t>
            </a:fld>
            <a:endParaRPr lang="en-US" altLang="zh-CN"/>
          </a:p>
        </p:txBody>
      </p:sp>
      <p:sp>
        <p:nvSpPr>
          <p:cNvPr id="6" name="Rectangle 5"/>
          <p:cNvSpPr>
            <a:spLocks noGrp="1" noChangeArrowheads="1"/>
          </p:cNvSpPr>
          <p:nvPr>
            <p:ph type="sldNum" sz="quarter" idx="12"/>
          </p:nvPr>
        </p:nvSpPr>
        <p:spPr>
          <a:ln/>
        </p:spPr>
        <p:txBody>
          <a:bodyPr/>
          <a:lstStyle>
            <a:lvl1pPr>
              <a:defRPr/>
            </a:lvl1pPr>
          </a:lstStyle>
          <a:p>
            <a:pPr>
              <a:defRPr/>
            </a:pPr>
            <a:fld id="{312D779B-4620-4AF5-956F-CBF734353F9A}" type="slidenum">
              <a:rPr lang="en-US" altLang="zh-CN"/>
              <a:pPr>
                <a:defRPr/>
              </a:pPr>
              <a:t>‹#›</a:t>
            </a:fld>
            <a:endParaRPr lang="en-US" altLang="zh-CN"/>
          </a:p>
        </p:txBody>
      </p:sp>
    </p:spTree>
  </p:cSld>
  <p:clrMapOvr>
    <a:masterClrMapping/>
  </p:clrMapOvr>
  <p:transition spd="med">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4013" y="228600"/>
            <a:ext cx="2135187" cy="589756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298450" y="228600"/>
            <a:ext cx="6253163" cy="58975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3"/>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
          <p:cNvSpPr>
            <a:spLocks noGrp="1" noChangeArrowheads="1"/>
          </p:cNvSpPr>
          <p:nvPr>
            <p:ph type="ftr" sz="quarter" idx="11"/>
          </p:nvPr>
        </p:nvSpPr>
        <p:spPr>
          <a:ln/>
        </p:spPr>
        <p:txBody>
          <a:bodyPr/>
          <a:lstStyle>
            <a:lvl1pPr>
              <a:defRPr/>
            </a:lvl1pPr>
          </a:lstStyle>
          <a:p>
            <a:pPr>
              <a:defRPr/>
            </a:pPr>
            <a:fld id="{A9676222-9ECE-43FA-BCB4-C6809821E2A4}" type="slidenum">
              <a:rPr lang="en-US" altLang="zh-CN"/>
              <a:pPr>
                <a:defRPr/>
              </a:pPr>
              <a:t>‹#›</a:t>
            </a:fld>
            <a:endParaRPr lang="en-US" altLang="zh-CN"/>
          </a:p>
        </p:txBody>
      </p:sp>
      <p:sp>
        <p:nvSpPr>
          <p:cNvPr id="6" name="Rectangle 5"/>
          <p:cNvSpPr>
            <a:spLocks noGrp="1" noChangeArrowheads="1"/>
          </p:cNvSpPr>
          <p:nvPr>
            <p:ph type="sldNum" sz="quarter" idx="12"/>
          </p:nvPr>
        </p:nvSpPr>
        <p:spPr>
          <a:ln/>
        </p:spPr>
        <p:txBody>
          <a:bodyPr/>
          <a:lstStyle>
            <a:lvl1pPr>
              <a:defRPr/>
            </a:lvl1pPr>
          </a:lstStyle>
          <a:p>
            <a:pPr>
              <a:defRPr/>
            </a:pPr>
            <a:fld id="{006EAC90-0AC0-495D-9218-E36A9659AC8D}" type="slidenum">
              <a:rPr lang="en-US" altLang="zh-CN"/>
              <a:pPr>
                <a:defRPr/>
              </a:pPr>
              <a:t>‹#›</a:t>
            </a:fld>
            <a:endParaRPr lang="en-US" altLang="zh-CN"/>
          </a:p>
        </p:txBody>
      </p:sp>
    </p:spTree>
  </p:cSld>
  <p:clrMapOvr>
    <a:masterClrMapping/>
  </p:clrMapOvr>
  <p:transition spd="med">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53250" name="Rectangle 2"/>
          <p:cNvSpPr>
            <a:spLocks noGrp="1" noRot="1" noChangeArrowheads="1"/>
          </p:cNvSpPr>
          <p:nvPr>
            <p:ph type="title"/>
          </p:nvPr>
        </p:nvSpPr>
        <p:spPr bwMode="auto">
          <a:xfrm>
            <a:off x="298450" y="228600"/>
            <a:ext cx="854075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6147" name="Rectangle 3"/>
          <p:cNvSpPr>
            <a:spLocks noGrp="1" noChangeArrowheads="1"/>
          </p:cNvSpPr>
          <p:nvPr>
            <p:ph type="dt" sz="half" idx="2"/>
          </p:nvPr>
        </p:nvSpPr>
        <p:spPr bwMode="auto">
          <a:xfrm>
            <a:off x="298450"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ltLang="zh-CN"/>
          </a:p>
        </p:txBody>
      </p:sp>
      <p:sp>
        <p:nvSpPr>
          <p:cNvPr id="6148" name="Rectangle 4"/>
          <p:cNvSpPr>
            <a:spLocks noGrp="1" noChangeArrowheads="1"/>
          </p:cNvSpPr>
          <p:nvPr>
            <p:ph type="ftr" sz="quarter" idx="3"/>
          </p:nvPr>
        </p:nvSpPr>
        <p:spPr bwMode="auto">
          <a:xfrm>
            <a:off x="3121025"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fld id="{25D3C7B8-814B-4A22-A5B2-FC192FE6D64D}" type="slidenum">
              <a:rPr lang="en-US" altLang="zh-CN"/>
              <a:pPr>
                <a:defRPr/>
              </a:pPr>
              <a:t>‹#›</a:t>
            </a:fld>
            <a:endParaRPr lang="en-US" altLang="zh-CN"/>
          </a:p>
        </p:txBody>
      </p:sp>
      <p:sp>
        <p:nvSpPr>
          <p:cNvPr id="6149" name="Rectangle 5"/>
          <p:cNvSpPr>
            <a:spLocks noGrp="1" noChangeArrowheads="1"/>
          </p:cNvSpPr>
          <p:nvPr>
            <p:ph type="sldNum" sz="quarter" idx="4"/>
          </p:nvPr>
        </p:nvSpPr>
        <p:spPr bwMode="auto">
          <a:xfrm>
            <a:off x="6550025" y="6245225"/>
            <a:ext cx="228917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3A0EE288-44D2-4740-BE11-27D8F7AD5552}" type="slidenum">
              <a:rPr lang="en-US" altLang="zh-CN"/>
              <a:pPr>
                <a:defRPr/>
              </a:pPr>
              <a:t>‹#›</a:t>
            </a:fld>
            <a:endParaRPr lang="en-US" altLang="zh-CN"/>
          </a:p>
        </p:txBody>
      </p:sp>
      <p:sp>
        <p:nvSpPr>
          <p:cNvPr id="6150" name="Text Box 6" descr="绿色大理石"/>
          <p:cNvSpPr txBox="1">
            <a:spLocks noChangeArrowheads="1"/>
          </p:cNvSpPr>
          <p:nvPr userDrawn="1"/>
        </p:nvSpPr>
        <p:spPr bwMode="auto">
          <a:xfrm>
            <a:off x="-15875" y="0"/>
            <a:ext cx="549275" cy="6907213"/>
          </a:xfrm>
          <a:prstGeom prst="rect">
            <a:avLst/>
          </a:prstGeom>
          <a:blipFill dpi="0" rotWithShape="0">
            <a:blip r:embed="rId14" cstate="print"/>
            <a:srcRect/>
            <a:tile tx="0" ty="0" sx="100000" sy="100000" flip="none" algn="tl"/>
          </a:blipFill>
          <a:ln w="9525">
            <a:noFill/>
            <a:miter lim="800000"/>
            <a:headEnd/>
            <a:tailEnd/>
          </a:ln>
          <a:effectLst/>
        </p:spPr>
        <p:txBody>
          <a:bodyPr vert="eaVert" wrap="none">
            <a:spAutoFit/>
          </a:bodyPr>
          <a:lstStyle/>
          <a:p>
            <a:pPr>
              <a:defRPr/>
            </a:pPr>
            <a:r>
              <a:rPr lang="en-US" altLang="zh-CN" sz="2400">
                <a:solidFill>
                  <a:schemeClr val="bg1"/>
                </a:solidFill>
                <a:latin typeface="华文新魏" pitchFamily="2" charset="-122"/>
                <a:ea typeface="华文新魏" pitchFamily="2" charset="-122"/>
              </a:rPr>
              <a:t>                      </a:t>
            </a:r>
            <a:r>
              <a:rPr lang="zh-CN" altLang="en-US" sz="2400">
                <a:solidFill>
                  <a:schemeClr val="bg1"/>
                </a:solidFill>
                <a:latin typeface="华文新魏" pitchFamily="2" charset="-122"/>
                <a:ea typeface="华文新魏" pitchFamily="2" charset="-122"/>
              </a:rPr>
              <a:t>第十章         统计热力学简介                  </a:t>
            </a:r>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transition spd="med">
    <p:blinds dir="vert"/>
  </p:transition>
  <p:hf hdr="0" ftr="0" dt="0"/>
  <p:txStyles>
    <p:titleStyle>
      <a:lvl1pPr algn="ctr" rtl="0" eaLnBrk="0" fontAlgn="base" hangingPunct="0">
        <a:spcBef>
          <a:spcPct val="0"/>
        </a:spcBef>
        <a:spcAft>
          <a:spcPct val="0"/>
        </a:spcAft>
        <a:defRPr sz="4400" b="1">
          <a:solidFill>
            <a:schemeClr val="tx2"/>
          </a:solidFill>
          <a:latin typeface="+mj-lt"/>
          <a:ea typeface="+mj-ea"/>
          <a:cs typeface="+mj-cs"/>
        </a:defRPr>
      </a:lvl1pPr>
      <a:lvl2pPr algn="ctr" rtl="0" eaLnBrk="0" fontAlgn="base" hangingPunct="0">
        <a:spcBef>
          <a:spcPct val="0"/>
        </a:spcBef>
        <a:spcAft>
          <a:spcPct val="0"/>
        </a:spcAft>
        <a:defRPr sz="4400" b="1">
          <a:solidFill>
            <a:schemeClr val="tx2"/>
          </a:solidFill>
          <a:latin typeface="楷体_GB2312" pitchFamily="49" charset="-122"/>
          <a:ea typeface="楷体_GB2312" pitchFamily="49" charset="-122"/>
        </a:defRPr>
      </a:lvl2pPr>
      <a:lvl3pPr algn="ctr" rtl="0" eaLnBrk="0" fontAlgn="base" hangingPunct="0">
        <a:spcBef>
          <a:spcPct val="0"/>
        </a:spcBef>
        <a:spcAft>
          <a:spcPct val="0"/>
        </a:spcAft>
        <a:defRPr sz="4400" b="1">
          <a:solidFill>
            <a:schemeClr val="tx2"/>
          </a:solidFill>
          <a:latin typeface="楷体_GB2312" pitchFamily="49" charset="-122"/>
          <a:ea typeface="楷体_GB2312" pitchFamily="49" charset="-122"/>
        </a:defRPr>
      </a:lvl3pPr>
      <a:lvl4pPr algn="ctr" rtl="0" eaLnBrk="0" fontAlgn="base" hangingPunct="0">
        <a:spcBef>
          <a:spcPct val="0"/>
        </a:spcBef>
        <a:spcAft>
          <a:spcPct val="0"/>
        </a:spcAft>
        <a:defRPr sz="4400" b="1">
          <a:solidFill>
            <a:schemeClr val="tx2"/>
          </a:solidFill>
          <a:latin typeface="楷体_GB2312" pitchFamily="49" charset="-122"/>
          <a:ea typeface="楷体_GB2312" pitchFamily="49" charset="-122"/>
        </a:defRPr>
      </a:lvl4pPr>
      <a:lvl5pPr algn="ctr" rtl="0" eaLnBrk="0" fontAlgn="base" hangingPunct="0">
        <a:spcBef>
          <a:spcPct val="0"/>
        </a:spcBef>
        <a:spcAft>
          <a:spcPct val="0"/>
        </a:spcAft>
        <a:defRPr sz="4400" b="1">
          <a:solidFill>
            <a:schemeClr val="tx2"/>
          </a:solidFill>
          <a:latin typeface="楷体_GB2312" pitchFamily="49" charset="-122"/>
          <a:ea typeface="楷体_GB2312" pitchFamily="49" charset="-122"/>
        </a:defRPr>
      </a:lvl5pPr>
      <a:lvl6pPr marL="457200" algn="ctr" rtl="0" fontAlgn="base">
        <a:spcBef>
          <a:spcPct val="0"/>
        </a:spcBef>
        <a:spcAft>
          <a:spcPct val="0"/>
        </a:spcAft>
        <a:defRPr sz="4400" b="1">
          <a:solidFill>
            <a:schemeClr val="tx2"/>
          </a:solidFill>
          <a:latin typeface="楷体_GB2312" pitchFamily="49" charset="-122"/>
          <a:ea typeface="楷体_GB2312" pitchFamily="49" charset="-122"/>
        </a:defRPr>
      </a:lvl6pPr>
      <a:lvl7pPr marL="914400" algn="ctr" rtl="0" fontAlgn="base">
        <a:spcBef>
          <a:spcPct val="0"/>
        </a:spcBef>
        <a:spcAft>
          <a:spcPct val="0"/>
        </a:spcAft>
        <a:defRPr sz="4400" b="1">
          <a:solidFill>
            <a:schemeClr val="tx2"/>
          </a:solidFill>
          <a:latin typeface="楷体_GB2312" pitchFamily="49" charset="-122"/>
          <a:ea typeface="楷体_GB2312" pitchFamily="49" charset="-122"/>
        </a:defRPr>
      </a:lvl7pPr>
      <a:lvl8pPr marL="1371600" algn="ctr" rtl="0" fontAlgn="base">
        <a:spcBef>
          <a:spcPct val="0"/>
        </a:spcBef>
        <a:spcAft>
          <a:spcPct val="0"/>
        </a:spcAft>
        <a:defRPr sz="4400" b="1">
          <a:solidFill>
            <a:schemeClr val="tx2"/>
          </a:solidFill>
          <a:latin typeface="楷体_GB2312" pitchFamily="49" charset="-122"/>
          <a:ea typeface="楷体_GB2312" pitchFamily="49" charset="-122"/>
        </a:defRPr>
      </a:lvl8pPr>
      <a:lvl9pPr marL="1828800" algn="ctr" rtl="0" fontAlgn="base">
        <a:spcBef>
          <a:spcPct val="0"/>
        </a:spcBef>
        <a:spcAft>
          <a:spcPct val="0"/>
        </a:spcAft>
        <a:defRPr sz="4400" b="1">
          <a:solidFill>
            <a:schemeClr val="tx2"/>
          </a:solidFill>
          <a:latin typeface="楷体_GB2312" pitchFamily="49" charset="-122"/>
          <a:ea typeface="楷体_GB2312" pitchFamily="49" charset="-122"/>
        </a:defRPr>
      </a:lvl9pPr>
    </p:titleStyle>
    <p:bodyStyle>
      <a:lvl1pPr marL="342900" indent="-342900" algn="l" rtl="0" eaLnBrk="0" fontAlgn="base" hangingPunct="0">
        <a:spcBef>
          <a:spcPct val="20000"/>
        </a:spcBef>
        <a:spcAft>
          <a:spcPct val="0"/>
        </a:spcAft>
        <a:buClr>
          <a:schemeClr val="hlink"/>
        </a:buClr>
        <a:buFont typeface="Wingdings"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itchFamily="2" charset="2"/>
        <a:buChar char="Ø"/>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95000"/>
        <a:buFont typeface="Wingdings 2" pitchFamily="18" charset="2"/>
        <a:buChar char="¡"/>
        <a:defRPr sz="2400">
          <a:solidFill>
            <a:schemeClr val="tx1"/>
          </a:solidFill>
          <a:latin typeface="+mn-lt"/>
        </a:defRPr>
      </a:lvl3pPr>
      <a:lvl4pPr marL="1600200" indent="-228600" algn="l" rtl="0" eaLnBrk="0" fontAlgn="base" hangingPunct="0">
        <a:spcBef>
          <a:spcPct val="20000"/>
        </a:spcBef>
        <a:spcAft>
          <a:spcPct val="0"/>
        </a:spcAft>
        <a:buClr>
          <a:schemeClr val="tx2"/>
        </a:buClr>
        <a:buSzPct val="90000"/>
        <a:buFont typeface="Wingdings" pitchFamily="2" charset="2"/>
        <a:buChar char="Ø"/>
        <a:defRPr sz="2000">
          <a:solidFill>
            <a:schemeClr val="tx1"/>
          </a:solidFill>
          <a:latin typeface="+mn-lt"/>
        </a:defRPr>
      </a:lvl4pPr>
      <a:lvl5pPr marL="2057400" indent="-228600" algn="l" rtl="0" eaLnBrk="0" fontAlgn="base" hangingPunct="0">
        <a:spcBef>
          <a:spcPct val="20000"/>
        </a:spcBef>
        <a:spcAft>
          <a:spcPct val="0"/>
        </a:spcAft>
        <a:buClr>
          <a:schemeClr val="hlink"/>
        </a:buClr>
        <a:buFont typeface="Wingdings 2" pitchFamily="18" charset="2"/>
        <a:buChar char="¡"/>
        <a:defRPr sz="2000">
          <a:solidFill>
            <a:schemeClr val="tx1"/>
          </a:solidFill>
          <a:latin typeface="+mn-lt"/>
        </a:defRPr>
      </a:lvl5pPr>
      <a:lvl6pPr marL="2514600" indent="-228600" algn="l" rtl="0" fontAlgn="base">
        <a:spcBef>
          <a:spcPct val="20000"/>
        </a:spcBef>
        <a:spcAft>
          <a:spcPct val="0"/>
        </a:spcAft>
        <a:buClr>
          <a:schemeClr val="hlink"/>
        </a:buClr>
        <a:buFont typeface="Wingdings 2" pitchFamily="18" charset="2"/>
        <a:buChar char="¡"/>
        <a:defRPr sz="2000">
          <a:solidFill>
            <a:schemeClr val="tx1"/>
          </a:solidFill>
          <a:latin typeface="+mn-lt"/>
        </a:defRPr>
      </a:lvl6pPr>
      <a:lvl7pPr marL="2971800" indent="-228600" algn="l" rtl="0" fontAlgn="base">
        <a:spcBef>
          <a:spcPct val="20000"/>
        </a:spcBef>
        <a:spcAft>
          <a:spcPct val="0"/>
        </a:spcAft>
        <a:buClr>
          <a:schemeClr val="hlink"/>
        </a:buClr>
        <a:buFont typeface="Wingdings 2" pitchFamily="18" charset="2"/>
        <a:buChar char="¡"/>
        <a:defRPr sz="2000">
          <a:solidFill>
            <a:schemeClr val="tx1"/>
          </a:solidFill>
          <a:latin typeface="+mn-lt"/>
        </a:defRPr>
      </a:lvl7pPr>
      <a:lvl8pPr marL="3429000" indent="-228600" algn="l" rtl="0" fontAlgn="base">
        <a:spcBef>
          <a:spcPct val="20000"/>
        </a:spcBef>
        <a:spcAft>
          <a:spcPct val="0"/>
        </a:spcAft>
        <a:buClr>
          <a:schemeClr val="hlink"/>
        </a:buClr>
        <a:buFont typeface="Wingdings 2" pitchFamily="18" charset="2"/>
        <a:buChar char="¡"/>
        <a:defRPr sz="2000">
          <a:solidFill>
            <a:schemeClr val="tx1"/>
          </a:solidFill>
          <a:latin typeface="+mn-lt"/>
        </a:defRPr>
      </a:lvl8pPr>
      <a:lvl9pPr marL="3886200" indent="-228600" algn="l" rtl="0" fontAlgn="base">
        <a:spcBef>
          <a:spcPct val="20000"/>
        </a:spcBef>
        <a:spcAft>
          <a:spcPct val="0"/>
        </a:spcAft>
        <a:buClr>
          <a:schemeClr val="hlink"/>
        </a:buClr>
        <a:buFont typeface="Wingdings 2" pitchFamily="18" charset="2"/>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7.bin"/><Relationship Id="rId5" Type="http://schemas.openxmlformats.org/officeDocument/2006/relationships/oleObject" Target="../embeddings/oleObject6.bin"/><Relationship Id="rId4"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9.bin"/><Relationship Id="rId7"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12.bin"/><Relationship Id="rId5" Type="http://schemas.openxmlformats.org/officeDocument/2006/relationships/oleObject" Target="../embeddings/oleObject11.bin"/><Relationship Id="rId4" Type="http://schemas.openxmlformats.org/officeDocument/2006/relationships/oleObject" Target="../embeddings/oleObject10.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oleObject" Target="../embeddings/oleObject15.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oleObject" Target="../embeddings/oleObject17.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8.bin"/><Relationship Id="rId7"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21.bin"/><Relationship Id="rId5" Type="http://schemas.openxmlformats.org/officeDocument/2006/relationships/oleObject" Target="../embeddings/oleObject20.bin"/><Relationship Id="rId4" Type="http://schemas.openxmlformats.org/officeDocument/2006/relationships/oleObject" Target="../embeddings/oleObject19.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3.bin"/><Relationship Id="rId7"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26.bin"/><Relationship Id="rId5" Type="http://schemas.openxmlformats.org/officeDocument/2006/relationships/oleObject" Target="../embeddings/oleObject25.bin"/><Relationship Id="rId4" Type="http://schemas.openxmlformats.org/officeDocument/2006/relationships/oleObject" Target="../embeddings/oleObject24.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oleObject" Target="../embeddings/oleObject29.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oleObject" Target="../embeddings/oleObject30.bin"/><Relationship Id="rId7" Type="http://schemas.openxmlformats.org/officeDocument/2006/relationships/oleObject" Target="../embeddings/oleObject34.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33.bin"/><Relationship Id="rId5" Type="http://schemas.openxmlformats.org/officeDocument/2006/relationships/oleObject" Target="../embeddings/oleObject32.bin"/><Relationship Id="rId10" Type="http://schemas.openxmlformats.org/officeDocument/2006/relationships/oleObject" Target="../embeddings/oleObject37.bin"/><Relationship Id="rId4" Type="http://schemas.openxmlformats.org/officeDocument/2006/relationships/oleObject" Target="../embeddings/oleObject31.bin"/><Relationship Id="rId9" Type="http://schemas.openxmlformats.org/officeDocument/2006/relationships/oleObject" Target="../embeddings/oleObject36.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11.vml"/><Relationship Id="rId5" Type="http://schemas.openxmlformats.org/officeDocument/2006/relationships/oleObject" Target="../embeddings/oleObject40.bin"/><Relationship Id="rId4" Type="http://schemas.openxmlformats.org/officeDocument/2006/relationships/oleObject" Target="../embeddings/oleObject39.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oleObject" Target="../embeddings/oleObject42.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7.xml"/><Relationship Id="rId1" Type="http://schemas.openxmlformats.org/officeDocument/2006/relationships/vmlDrawing" Target="../drawings/vmlDrawing13.vml"/><Relationship Id="rId4" Type="http://schemas.openxmlformats.org/officeDocument/2006/relationships/oleObject" Target="../embeddings/oleObject44.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48.bin"/><Relationship Id="rId5" Type="http://schemas.openxmlformats.org/officeDocument/2006/relationships/oleObject" Target="../embeddings/oleObject47.bin"/><Relationship Id="rId4" Type="http://schemas.openxmlformats.org/officeDocument/2006/relationships/oleObject" Target="../embeddings/oleObject46.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54.bin"/><Relationship Id="rId3" Type="http://schemas.openxmlformats.org/officeDocument/2006/relationships/oleObject" Target="../embeddings/oleObject49.bin"/><Relationship Id="rId7" Type="http://schemas.openxmlformats.org/officeDocument/2006/relationships/oleObject" Target="../embeddings/oleObject53.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52.bin"/><Relationship Id="rId5" Type="http://schemas.openxmlformats.org/officeDocument/2006/relationships/oleObject" Target="../embeddings/oleObject51.bin"/><Relationship Id="rId4" Type="http://schemas.openxmlformats.org/officeDocument/2006/relationships/oleObject" Target="../embeddings/oleObject50.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60.bin"/><Relationship Id="rId3" Type="http://schemas.openxmlformats.org/officeDocument/2006/relationships/oleObject" Target="../embeddings/oleObject55.bin"/><Relationship Id="rId7" Type="http://schemas.openxmlformats.org/officeDocument/2006/relationships/oleObject" Target="../embeddings/oleObject59.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58.bin"/><Relationship Id="rId5" Type="http://schemas.openxmlformats.org/officeDocument/2006/relationships/oleObject" Target="../embeddings/oleObject57.bin"/><Relationship Id="rId4" Type="http://schemas.openxmlformats.org/officeDocument/2006/relationships/oleObject" Target="../embeddings/oleObject56.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66.bin"/><Relationship Id="rId3" Type="http://schemas.openxmlformats.org/officeDocument/2006/relationships/oleObject" Target="../embeddings/oleObject61.bin"/><Relationship Id="rId7" Type="http://schemas.openxmlformats.org/officeDocument/2006/relationships/oleObject" Target="../embeddings/oleObject65.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64.bin"/><Relationship Id="rId5" Type="http://schemas.openxmlformats.org/officeDocument/2006/relationships/oleObject" Target="../embeddings/oleObject63.bin"/><Relationship Id="rId4" Type="http://schemas.openxmlformats.org/officeDocument/2006/relationships/oleObject" Target="../embeddings/oleObject62.bin"/></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oleObject" Target="../embeddings/oleObject70.bin"/><Relationship Id="rId5" Type="http://schemas.openxmlformats.org/officeDocument/2006/relationships/oleObject" Target="../embeddings/oleObject69.bin"/><Relationship Id="rId4" Type="http://schemas.openxmlformats.org/officeDocument/2006/relationships/oleObject" Target="../embeddings/oleObject68.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71.bin"/><Relationship Id="rId7" Type="http://schemas.openxmlformats.org/officeDocument/2006/relationships/oleObject" Target="../embeddings/oleObject75.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oleObject" Target="../embeddings/oleObject74.bin"/><Relationship Id="rId5" Type="http://schemas.openxmlformats.org/officeDocument/2006/relationships/oleObject" Target="../embeddings/oleObject73.bin"/><Relationship Id="rId4" Type="http://schemas.openxmlformats.org/officeDocument/2006/relationships/oleObject" Target="../embeddings/oleObject72.bin"/></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76.bin"/><Relationship Id="rId7" Type="http://schemas.openxmlformats.org/officeDocument/2006/relationships/oleObject" Target="../embeddings/oleObject80.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79.bin"/><Relationship Id="rId5" Type="http://schemas.openxmlformats.org/officeDocument/2006/relationships/oleObject" Target="../embeddings/oleObject78.bin"/><Relationship Id="rId4" Type="http://schemas.openxmlformats.org/officeDocument/2006/relationships/oleObject" Target="../embeddings/oleObject77.bin"/></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slideLayout" Target="../slideLayouts/slideLayout7.xml"/><Relationship Id="rId1" Type="http://schemas.openxmlformats.org/officeDocument/2006/relationships/vmlDrawing" Target="../drawings/vmlDrawing21.vml"/><Relationship Id="rId4" Type="http://schemas.openxmlformats.org/officeDocument/2006/relationships/oleObject" Target="../embeddings/oleObject82.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88.bin"/><Relationship Id="rId3" Type="http://schemas.openxmlformats.org/officeDocument/2006/relationships/oleObject" Target="../embeddings/oleObject83.bin"/><Relationship Id="rId7" Type="http://schemas.openxmlformats.org/officeDocument/2006/relationships/oleObject" Target="../embeddings/oleObject87.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oleObject" Target="../embeddings/oleObject86.bin"/><Relationship Id="rId5" Type="http://schemas.openxmlformats.org/officeDocument/2006/relationships/oleObject" Target="../embeddings/oleObject85.bin"/><Relationship Id="rId10" Type="http://schemas.openxmlformats.org/officeDocument/2006/relationships/oleObject" Target="../embeddings/oleObject90.bin"/><Relationship Id="rId4" Type="http://schemas.openxmlformats.org/officeDocument/2006/relationships/oleObject" Target="../embeddings/oleObject84.bin"/><Relationship Id="rId9" Type="http://schemas.openxmlformats.org/officeDocument/2006/relationships/oleObject" Target="../embeddings/oleObject89.bin"/></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91.bin"/><Relationship Id="rId2" Type="http://schemas.openxmlformats.org/officeDocument/2006/relationships/slideLayout" Target="../slideLayouts/slideLayout7.xml"/><Relationship Id="rId1" Type="http://schemas.openxmlformats.org/officeDocument/2006/relationships/vmlDrawing" Target="../drawings/vmlDrawing23.vml"/></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97.bin"/><Relationship Id="rId3" Type="http://schemas.openxmlformats.org/officeDocument/2006/relationships/oleObject" Target="../embeddings/oleObject92.bin"/><Relationship Id="rId7" Type="http://schemas.openxmlformats.org/officeDocument/2006/relationships/oleObject" Target="../embeddings/oleObject96.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oleObject" Target="../embeddings/oleObject95.bin"/><Relationship Id="rId11" Type="http://schemas.openxmlformats.org/officeDocument/2006/relationships/oleObject" Target="../embeddings/oleObject100.bin"/><Relationship Id="rId5" Type="http://schemas.openxmlformats.org/officeDocument/2006/relationships/oleObject" Target="../embeddings/oleObject94.bin"/><Relationship Id="rId10" Type="http://schemas.openxmlformats.org/officeDocument/2006/relationships/oleObject" Target="../embeddings/oleObject99.bin"/><Relationship Id="rId4" Type="http://schemas.openxmlformats.org/officeDocument/2006/relationships/oleObject" Target="../embeddings/oleObject93.bin"/><Relationship Id="rId9" Type="http://schemas.openxmlformats.org/officeDocument/2006/relationships/oleObject" Target="../embeddings/oleObject98.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06.bin"/><Relationship Id="rId3" Type="http://schemas.openxmlformats.org/officeDocument/2006/relationships/oleObject" Target="../embeddings/oleObject101.bin"/><Relationship Id="rId7" Type="http://schemas.openxmlformats.org/officeDocument/2006/relationships/oleObject" Target="../embeddings/oleObject105.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104.bin"/><Relationship Id="rId5" Type="http://schemas.openxmlformats.org/officeDocument/2006/relationships/oleObject" Target="../embeddings/oleObject103.bin"/><Relationship Id="rId4" Type="http://schemas.openxmlformats.org/officeDocument/2006/relationships/oleObject" Target="../embeddings/oleObject102.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07.bin"/><Relationship Id="rId2" Type="http://schemas.openxmlformats.org/officeDocument/2006/relationships/slideLayout" Target="../slideLayouts/slideLayout7.xml"/><Relationship Id="rId1" Type="http://schemas.openxmlformats.org/officeDocument/2006/relationships/vmlDrawing" Target="../drawings/vmlDrawing26.v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08.bin"/><Relationship Id="rId2" Type="http://schemas.openxmlformats.org/officeDocument/2006/relationships/slideLayout" Target="../slideLayouts/slideLayout7.xml"/><Relationship Id="rId1" Type="http://schemas.openxmlformats.org/officeDocument/2006/relationships/vmlDrawing" Target="../drawings/vmlDrawing27.vml"/><Relationship Id="rId4" Type="http://schemas.openxmlformats.org/officeDocument/2006/relationships/image" Target="../media/image98.wmf"/></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114.bin"/><Relationship Id="rId3" Type="http://schemas.openxmlformats.org/officeDocument/2006/relationships/oleObject" Target="../embeddings/oleObject109.bin"/><Relationship Id="rId7" Type="http://schemas.openxmlformats.org/officeDocument/2006/relationships/oleObject" Target="../embeddings/oleObject113.bin"/><Relationship Id="rId12" Type="http://schemas.openxmlformats.org/officeDocument/2006/relationships/oleObject" Target="../embeddings/oleObject118.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oleObject" Target="../embeddings/oleObject112.bin"/><Relationship Id="rId11" Type="http://schemas.openxmlformats.org/officeDocument/2006/relationships/oleObject" Target="../embeddings/oleObject117.bin"/><Relationship Id="rId5" Type="http://schemas.openxmlformats.org/officeDocument/2006/relationships/oleObject" Target="../embeddings/oleObject111.bin"/><Relationship Id="rId10" Type="http://schemas.openxmlformats.org/officeDocument/2006/relationships/oleObject" Target="../embeddings/oleObject116.bin"/><Relationship Id="rId4" Type="http://schemas.openxmlformats.org/officeDocument/2006/relationships/oleObject" Target="../embeddings/oleObject110.bin"/><Relationship Id="rId9" Type="http://schemas.openxmlformats.org/officeDocument/2006/relationships/oleObject" Target="../embeddings/oleObject115.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124.bin"/><Relationship Id="rId13" Type="http://schemas.openxmlformats.org/officeDocument/2006/relationships/oleObject" Target="../embeddings/oleObject129.bin"/><Relationship Id="rId18" Type="http://schemas.openxmlformats.org/officeDocument/2006/relationships/oleObject" Target="../embeddings/oleObject134.bin"/><Relationship Id="rId3" Type="http://schemas.openxmlformats.org/officeDocument/2006/relationships/oleObject" Target="../embeddings/oleObject119.bin"/><Relationship Id="rId7" Type="http://schemas.openxmlformats.org/officeDocument/2006/relationships/oleObject" Target="../embeddings/oleObject123.bin"/><Relationship Id="rId12" Type="http://schemas.openxmlformats.org/officeDocument/2006/relationships/oleObject" Target="../embeddings/oleObject128.bin"/><Relationship Id="rId17" Type="http://schemas.openxmlformats.org/officeDocument/2006/relationships/oleObject" Target="../embeddings/oleObject133.bin"/><Relationship Id="rId2" Type="http://schemas.openxmlformats.org/officeDocument/2006/relationships/slideLayout" Target="../slideLayouts/slideLayout7.xml"/><Relationship Id="rId16" Type="http://schemas.openxmlformats.org/officeDocument/2006/relationships/oleObject" Target="../embeddings/oleObject132.bin"/><Relationship Id="rId1" Type="http://schemas.openxmlformats.org/officeDocument/2006/relationships/vmlDrawing" Target="../drawings/vmlDrawing29.vml"/><Relationship Id="rId6" Type="http://schemas.openxmlformats.org/officeDocument/2006/relationships/oleObject" Target="../embeddings/oleObject122.bin"/><Relationship Id="rId11" Type="http://schemas.openxmlformats.org/officeDocument/2006/relationships/oleObject" Target="../embeddings/oleObject127.bin"/><Relationship Id="rId5" Type="http://schemas.openxmlformats.org/officeDocument/2006/relationships/oleObject" Target="../embeddings/oleObject121.bin"/><Relationship Id="rId15" Type="http://schemas.openxmlformats.org/officeDocument/2006/relationships/oleObject" Target="../embeddings/oleObject131.bin"/><Relationship Id="rId10" Type="http://schemas.openxmlformats.org/officeDocument/2006/relationships/oleObject" Target="../embeddings/oleObject126.bin"/><Relationship Id="rId4" Type="http://schemas.openxmlformats.org/officeDocument/2006/relationships/oleObject" Target="../embeddings/oleObject120.bin"/><Relationship Id="rId9" Type="http://schemas.openxmlformats.org/officeDocument/2006/relationships/oleObject" Target="../embeddings/oleObject125.bin"/><Relationship Id="rId14" Type="http://schemas.openxmlformats.org/officeDocument/2006/relationships/oleObject" Target="../embeddings/oleObject130.bin"/></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35.bin"/><Relationship Id="rId7" Type="http://schemas.openxmlformats.org/officeDocument/2006/relationships/oleObject" Target="../embeddings/oleObject139.bin"/><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oleObject" Target="../embeddings/oleObject138.bin"/><Relationship Id="rId5" Type="http://schemas.openxmlformats.org/officeDocument/2006/relationships/oleObject" Target="../embeddings/oleObject137.bin"/><Relationship Id="rId4" Type="http://schemas.openxmlformats.org/officeDocument/2006/relationships/oleObject" Target="../embeddings/oleObject136.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145.bin"/><Relationship Id="rId3" Type="http://schemas.openxmlformats.org/officeDocument/2006/relationships/oleObject" Target="../embeddings/oleObject140.bin"/><Relationship Id="rId7" Type="http://schemas.openxmlformats.org/officeDocument/2006/relationships/oleObject" Target="../embeddings/oleObject144.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oleObject" Target="../embeddings/oleObject143.bin"/><Relationship Id="rId5" Type="http://schemas.openxmlformats.org/officeDocument/2006/relationships/oleObject" Target="../embeddings/oleObject142.bin"/><Relationship Id="rId4" Type="http://schemas.openxmlformats.org/officeDocument/2006/relationships/oleObject" Target="../embeddings/oleObject141.bin"/></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46.bin"/><Relationship Id="rId2" Type="http://schemas.openxmlformats.org/officeDocument/2006/relationships/slideLayout" Target="../slideLayouts/slideLayout7.xml"/><Relationship Id="rId1" Type="http://schemas.openxmlformats.org/officeDocument/2006/relationships/vmlDrawing" Target="../drawings/vmlDrawing32.v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47.bin"/><Relationship Id="rId2" Type="http://schemas.openxmlformats.org/officeDocument/2006/relationships/slideLayout" Target="../slideLayouts/slideLayout7.xml"/><Relationship Id="rId1" Type="http://schemas.openxmlformats.org/officeDocument/2006/relationships/vmlDrawing" Target="../drawings/vmlDrawing33.v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48.bin"/><Relationship Id="rId2" Type="http://schemas.openxmlformats.org/officeDocument/2006/relationships/slideLayout" Target="../slideLayouts/slideLayout7.xml"/><Relationship Id="rId1" Type="http://schemas.openxmlformats.org/officeDocument/2006/relationships/vmlDrawing" Target="../drawings/vmlDrawing34.vml"/><Relationship Id="rId5" Type="http://schemas.openxmlformats.org/officeDocument/2006/relationships/oleObject" Target="../embeddings/oleObject150.bin"/><Relationship Id="rId4" Type="http://schemas.openxmlformats.org/officeDocument/2006/relationships/oleObject" Target="../embeddings/oleObject149.bin"/></Relationships>
</file>

<file path=ppt/slides/_rels/slide50.xml.rels><?xml version="1.0" encoding="UTF-8" standalone="yes"?>
<Relationships xmlns="http://schemas.openxmlformats.org/package/2006/relationships"><Relationship Id="rId2" Type="http://schemas.openxmlformats.org/officeDocument/2006/relationships/image" Target="../media/image135.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51.bin"/><Relationship Id="rId2" Type="http://schemas.openxmlformats.org/officeDocument/2006/relationships/slideLayout" Target="../slideLayouts/slideLayout7.xml"/><Relationship Id="rId1" Type="http://schemas.openxmlformats.org/officeDocument/2006/relationships/vmlDrawing" Target="../drawings/vmlDrawing35.vml"/><Relationship Id="rId5" Type="http://schemas.openxmlformats.org/officeDocument/2006/relationships/image" Target="../media/image2.jpeg"/><Relationship Id="rId4" Type="http://schemas.openxmlformats.org/officeDocument/2006/relationships/oleObject" Target="../embeddings/oleObject152.bin"/></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53.bin"/><Relationship Id="rId7" Type="http://schemas.openxmlformats.org/officeDocument/2006/relationships/oleObject" Target="../embeddings/oleObject157.bin"/><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oleObject" Target="../embeddings/oleObject156.bin"/><Relationship Id="rId5" Type="http://schemas.openxmlformats.org/officeDocument/2006/relationships/oleObject" Target="../embeddings/oleObject155.bin"/><Relationship Id="rId4" Type="http://schemas.openxmlformats.org/officeDocument/2006/relationships/oleObject" Target="../embeddings/oleObject154.bin"/></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163.bin"/><Relationship Id="rId3" Type="http://schemas.openxmlformats.org/officeDocument/2006/relationships/oleObject" Target="../embeddings/oleObject158.bin"/><Relationship Id="rId7" Type="http://schemas.openxmlformats.org/officeDocument/2006/relationships/oleObject" Target="../embeddings/oleObject162.bin"/><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oleObject" Target="../embeddings/oleObject161.bin"/><Relationship Id="rId5" Type="http://schemas.openxmlformats.org/officeDocument/2006/relationships/oleObject" Target="../embeddings/oleObject160.bin"/><Relationship Id="rId4" Type="http://schemas.openxmlformats.org/officeDocument/2006/relationships/oleObject" Target="../embeddings/oleObject159.bin"/><Relationship Id="rId9" Type="http://schemas.openxmlformats.org/officeDocument/2006/relationships/image" Target="../media/image150.jpeg"/></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64.bin"/><Relationship Id="rId7" Type="http://schemas.openxmlformats.org/officeDocument/2006/relationships/oleObject" Target="../embeddings/oleObject167.bin"/><Relationship Id="rId2" Type="http://schemas.openxmlformats.org/officeDocument/2006/relationships/slideLayout" Target="../slideLayouts/slideLayout7.xml"/><Relationship Id="rId1" Type="http://schemas.openxmlformats.org/officeDocument/2006/relationships/vmlDrawing" Target="../drawings/vmlDrawing38.vml"/><Relationship Id="rId6" Type="http://schemas.openxmlformats.org/officeDocument/2006/relationships/image" Target="../media/image153.jpeg"/><Relationship Id="rId5" Type="http://schemas.openxmlformats.org/officeDocument/2006/relationships/oleObject" Target="../embeddings/oleObject166.bin"/><Relationship Id="rId4" Type="http://schemas.openxmlformats.org/officeDocument/2006/relationships/oleObject" Target="../embeddings/oleObject165.bin"/></Relationships>
</file>

<file path=ppt/slides/_rels/slide55.xml.rels><?xml version="1.0" encoding="UTF-8" standalone="yes"?>
<Relationships xmlns="http://schemas.openxmlformats.org/package/2006/relationships"><Relationship Id="rId3" Type="http://schemas.openxmlformats.org/officeDocument/2006/relationships/image" Target="../media/image153.jpeg"/><Relationship Id="rId7" Type="http://schemas.openxmlformats.org/officeDocument/2006/relationships/oleObject" Target="../embeddings/oleObject171.bin"/><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oleObject" Target="../embeddings/oleObject170.bin"/><Relationship Id="rId5" Type="http://schemas.openxmlformats.org/officeDocument/2006/relationships/oleObject" Target="../embeddings/oleObject169.bin"/><Relationship Id="rId4" Type="http://schemas.openxmlformats.org/officeDocument/2006/relationships/oleObject" Target="../embeddings/oleObject168.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176.bin"/><Relationship Id="rId13" Type="http://schemas.openxmlformats.org/officeDocument/2006/relationships/oleObject" Target="../embeddings/oleObject181.bin"/><Relationship Id="rId3" Type="http://schemas.openxmlformats.org/officeDocument/2006/relationships/oleObject" Target="../embeddings/oleObject172.bin"/><Relationship Id="rId7" Type="http://schemas.openxmlformats.org/officeDocument/2006/relationships/oleObject" Target="../embeddings/oleObject175.bin"/><Relationship Id="rId12" Type="http://schemas.openxmlformats.org/officeDocument/2006/relationships/oleObject" Target="../embeddings/oleObject180.bin"/><Relationship Id="rId2" Type="http://schemas.openxmlformats.org/officeDocument/2006/relationships/slideLayout" Target="../slideLayouts/slideLayout7.xml"/><Relationship Id="rId1" Type="http://schemas.openxmlformats.org/officeDocument/2006/relationships/vmlDrawing" Target="../drawings/vmlDrawing40.vml"/><Relationship Id="rId6" Type="http://schemas.openxmlformats.org/officeDocument/2006/relationships/image" Target="../media/image165.jpeg"/><Relationship Id="rId11" Type="http://schemas.openxmlformats.org/officeDocument/2006/relationships/oleObject" Target="../embeddings/oleObject179.bin"/><Relationship Id="rId5" Type="http://schemas.openxmlformats.org/officeDocument/2006/relationships/oleObject" Target="../embeddings/oleObject174.bin"/><Relationship Id="rId10" Type="http://schemas.openxmlformats.org/officeDocument/2006/relationships/oleObject" Target="../embeddings/oleObject178.bin"/><Relationship Id="rId4" Type="http://schemas.openxmlformats.org/officeDocument/2006/relationships/oleObject" Target="../embeddings/oleObject173.bin"/><Relationship Id="rId9" Type="http://schemas.openxmlformats.org/officeDocument/2006/relationships/oleObject" Target="../embeddings/oleObject177.bin"/></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82.bin"/><Relationship Id="rId2" Type="http://schemas.openxmlformats.org/officeDocument/2006/relationships/slideLayout" Target="../slideLayouts/slideLayout7.xml"/><Relationship Id="rId1" Type="http://schemas.openxmlformats.org/officeDocument/2006/relationships/vmlDrawing" Target="../drawings/vmlDrawing41.vml"/><Relationship Id="rId4" Type="http://schemas.openxmlformats.org/officeDocument/2006/relationships/oleObject" Target="../embeddings/oleObject183.bin"/></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189.bin"/><Relationship Id="rId3" Type="http://schemas.openxmlformats.org/officeDocument/2006/relationships/oleObject" Target="../embeddings/oleObject184.bin"/><Relationship Id="rId7" Type="http://schemas.openxmlformats.org/officeDocument/2006/relationships/oleObject" Target="../embeddings/oleObject188.bin"/><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oleObject" Target="../embeddings/oleObject187.bin"/><Relationship Id="rId5" Type="http://schemas.openxmlformats.org/officeDocument/2006/relationships/oleObject" Target="../embeddings/oleObject186.bin"/><Relationship Id="rId10" Type="http://schemas.openxmlformats.org/officeDocument/2006/relationships/oleObject" Target="../embeddings/oleObject191.bin"/><Relationship Id="rId4" Type="http://schemas.openxmlformats.org/officeDocument/2006/relationships/oleObject" Target="../embeddings/oleObject185.bin"/><Relationship Id="rId9" Type="http://schemas.openxmlformats.org/officeDocument/2006/relationships/oleObject" Target="../embeddings/oleObject190.bin"/></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197.bin"/><Relationship Id="rId3" Type="http://schemas.openxmlformats.org/officeDocument/2006/relationships/oleObject" Target="../embeddings/oleObject192.bin"/><Relationship Id="rId7" Type="http://schemas.openxmlformats.org/officeDocument/2006/relationships/oleObject" Target="../embeddings/oleObject196.bin"/><Relationship Id="rId12" Type="http://schemas.openxmlformats.org/officeDocument/2006/relationships/oleObject" Target="../embeddings/oleObject201.bin"/><Relationship Id="rId2" Type="http://schemas.openxmlformats.org/officeDocument/2006/relationships/slideLayout" Target="../slideLayouts/slideLayout7.xml"/><Relationship Id="rId1" Type="http://schemas.openxmlformats.org/officeDocument/2006/relationships/vmlDrawing" Target="../drawings/vmlDrawing43.vml"/><Relationship Id="rId6" Type="http://schemas.openxmlformats.org/officeDocument/2006/relationships/oleObject" Target="../embeddings/oleObject195.bin"/><Relationship Id="rId11" Type="http://schemas.openxmlformats.org/officeDocument/2006/relationships/oleObject" Target="../embeddings/oleObject200.bin"/><Relationship Id="rId5" Type="http://schemas.openxmlformats.org/officeDocument/2006/relationships/oleObject" Target="../embeddings/oleObject194.bin"/><Relationship Id="rId10" Type="http://schemas.openxmlformats.org/officeDocument/2006/relationships/oleObject" Target="../embeddings/oleObject199.bin"/><Relationship Id="rId4" Type="http://schemas.openxmlformats.org/officeDocument/2006/relationships/oleObject" Target="../embeddings/oleObject193.bin"/><Relationship Id="rId9" Type="http://schemas.openxmlformats.org/officeDocument/2006/relationships/oleObject" Target="../embeddings/oleObject198.bin"/></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202.bin"/><Relationship Id="rId2" Type="http://schemas.openxmlformats.org/officeDocument/2006/relationships/slideLayout" Target="../slideLayouts/slideLayout7.xml"/><Relationship Id="rId1" Type="http://schemas.openxmlformats.org/officeDocument/2006/relationships/vmlDrawing" Target="../drawings/vmlDrawing44.vml"/><Relationship Id="rId4" Type="http://schemas.openxmlformats.org/officeDocument/2006/relationships/oleObject" Target="../embeddings/oleObject203.bin"/></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209.bin"/><Relationship Id="rId3" Type="http://schemas.openxmlformats.org/officeDocument/2006/relationships/oleObject" Target="../embeddings/oleObject204.bin"/><Relationship Id="rId7" Type="http://schemas.openxmlformats.org/officeDocument/2006/relationships/oleObject" Target="../embeddings/oleObject208.bin"/><Relationship Id="rId2" Type="http://schemas.openxmlformats.org/officeDocument/2006/relationships/slideLayout" Target="../slideLayouts/slideLayout7.xml"/><Relationship Id="rId1" Type="http://schemas.openxmlformats.org/officeDocument/2006/relationships/vmlDrawing" Target="../drawings/vmlDrawing45.vml"/><Relationship Id="rId6" Type="http://schemas.openxmlformats.org/officeDocument/2006/relationships/oleObject" Target="../embeddings/oleObject207.bin"/><Relationship Id="rId5" Type="http://schemas.openxmlformats.org/officeDocument/2006/relationships/oleObject" Target="../embeddings/oleObject206.bin"/><Relationship Id="rId4" Type="http://schemas.openxmlformats.org/officeDocument/2006/relationships/oleObject" Target="../embeddings/oleObject205.bin"/><Relationship Id="rId9" Type="http://schemas.openxmlformats.org/officeDocument/2006/relationships/oleObject" Target="../embeddings/oleObject210.bin"/></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216.bin"/><Relationship Id="rId3" Type="http://schemas.openxmlformats.org/officeDocument/2006/relationships/oleObject" Target="../embeddings/oleObject211.bin"/><Relationship Id="rId7" Type="http://schemas.openxmlformats.org/officeDocument/2006/relationships/oleObject" Target="../embeddings/oleObject215.bin"/><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oleObject" Target="../embeddings/oleObject214.bin"/><Relationship Id="rId5" Type="http://schemas.openxmlformats.org/officeDocument/2006/relationships/oleObject" Target="../embeddings/oleObject213.bin"/><Relationship Id="rId4" Type="http://schemas.openxmlformats.org/officeDocument/2006/relationships/oleObject" Target="../embeddings/oleObject212.bin"/></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217.bin"/><Relationship Id="rId2" Type="http://schemas.openxmlformats.org/officeDocument/2006/relationships/slideLayout" Target="../slideLayouts/slideLayout7.xml"/><Relationship Id="rId1" Type="http://schemas.openxmlformats.org/officeDocument/2006/relationships/vmlDrawing" Target="../drawings/vmlDrawing47.vml"/><Relationship Id="rId6" Type="http://schemas.openxmlformats.org/officeDocument/2006/relationships/oleObject" Target="../embeddings/oleObject220.bin"/><Relationship Id="rId5" Type="http://schemas.openxmlformats.org/officeDocument/2006/relationships/oleObject" Target="../embeddings/oleObject219.bin"/><Relationship Id="rId4" Type="http://schemas.openxmlformats.org/officeDocument/2006/relationships/oleObject" Target="../embeddings/oleObject218.bin"/></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221.bin"/><Relationship Id="rId2" Type="http://schemas.openxmlformats.org/officeDocument/2006/relationships/slideLayout" Target="../slideLayouts/slideLayout7.xml"/><Relationship Id="rId1" Type="http://schemas.openxmlformats.org/officeDocument/2006/relationships/vmlDrawing" Target="../drawings/vmlDrawing48.vml"/><Relationship Id="rId5" Type="http://schemas.openxmlformats.org/officeDocument/2006/relationships/oleObject" Target="../embeddings/oleObject223.bin"/><Relationship Id="rId4" Type="http://schemas.openxmlformats.org/officeDocument/2006/relationships/oleObject" Target="../embeddings/oleObject222.bin"/></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224.bin"/><Relationship Id="rId7" Type="http://schemas.openxmlformats.org/officeDocument/2006/relationships/oleObject" Target="../embeddings/oleObject228.bin"/><Relationship Id="rId2" Type="http://schemas.openxmlformats.org/officeDocument/2006/relationships/slideLayout" Target="../slideLayouts/slideLayout7.xml"/><Relationship Id="rId1" Type="http://schemas.openxmlformats.org/officeDocument/2006/relationships/vmlDrawing" Target="../drawings/vmlDrawing49.vml"/><Relationship Id="rId6" Type="http://schemas.openxmlformats.org/officeDocument/2006/relationships/oleObject" Target="../embeddings/oleObject227.bin"/><Relationship Id="rId5" Type="http://schemas.openxmlformats.org/officeDocument/2006/relationships/oleObject" Target="../embeddings/oleObject226.bin"/><Relationship Id="rId4" Type="http://schemas.openxmlformats.org/officeDocument/2006/relationships/oleObject" Target="../embeddings/oleObject225.bin"/></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229.bin"/><Relationship Id="rId2" Type="http://schemas.openxmlformats.org/officeDocument/2006/relationships/slideLayout" Target="../slideLayouts/slideLayout7.xml"/><Relationship Id="rId1" Type="http://schemas.openxmlformats.org/officeDocument/2006/relationships/vmlDrawing" Target="../drawings/vmlDrawing50.vml"/><Relationship Id="rId6" Type="http://schemas.openxmlformats.org/officeDocument/2006/relationships/oleObject" Target="../embeddings/oleObject232.bin"/><Relationship Id="rId5" Type="http://schemas.openxmlformats.org/officeDocument/2006/relationships/oleObject" Target="../embeddings/oleObject231.bin"/><Relationship Id="rId4" Type="http://schemas.openxmlformats.org/officeDocument/2006/relationships/oleObject" Target="../embeddings/oleObject230.bin"/></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233.bin"/><Relationship Id="rId2" Type="http://schemas.openxmlformats.org/officeDocument/2006/relationships/slideLayout" Target="../slideLayouts/slideLayout7.xml"/><Relationship Id="rId1" Type="http://schemas.openxmlformats.org/officeDocument/2006/relationships/vmlDrawing" Target="../drawings/vmlDrawing51.vml"/><Relationship Id="rId6" Type="http://schemas.openxmlformats.org/officeDocument/2006/relationships/oleObject" Target="../embeddings/oleObject236.bin"/><Relationship Id="rId5" Type="http://schemas.openxmlformats.org/officeDocument/2006/relationships/oleObject" Target="../embeddings/oleObject235.bin"/><Relationship Id="rId4" Type="http://schemas.openxmlformats.org/officeDocument/2006/relationships/oleObject" Target="../embeddings/oleObject234.bin"/></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a:spLocks noGrp="1"/>
          </p:cNvSpPr>
          <p:nvPr>
            <p:ph type="sldNum" sz="quarter" idx="12"/>
          </p:nvPr>
        </p:nvSpPr>
        <p:spPr>
          <a:noFill/>
        </p:spPr>
        <p:txBody>
          <a:bodyPr/>
          <a:lstStyle/>
          <a:p>
            <a:fld id="{E94E4294-2651-4BAB-8465-4E86919B05E3}" type="slidenum">
              <a:rPr lang="en-US" altLang="zh-CN" smtClean="0"/>
              <a:pPr/>
              <a:t>1</a:t>
            </a:fld>
            <a:endParaRPr lang="en-US" altLang="zh-CN" smtClean="0"/>
          </a:p>
        </p:txBody>
      </p:sp>
      <p:sp>
        <p:nvSpPr>
          <p:cNvPr id="54275" name="Rectangle 2"/>
          <p:cNvSpPr>
            <a:spLocks noGrp="1" noRot="1" noChangeArrowheads="1"/>
          </p:cNvSpPr>
          <p:nvPr>
            <p:ph type="ctrTitle"/>
          </p:nvPr>
        </p:nvSpPr>
        <p:spPr>
          <a:xfrm>
            <a:off x="685800" y="2286000"/>
            <a:ext cx="8458200" cy="1143000"/>
          </a:xfrm>
        </p:spPr>
        <p:txBody>
          <a:bodyPr/>
          <a:lstStyle/>
          <a:p>
            <a:pPr eaLnBrk="1" hangingPunct="1"/>
            <a:r>
              <a:rPr lang="zh-CN" altLang="en-US" sz="6000" dirty="0" smtClean="0">
                <a:solidFill>
                  <a:srgbClr val="FFFF00"/>
                </a:solidFill>
                <a:latin typeface="黑体" pitchFamily="49" charset="-122"/>
                <a:ea typeface="黑体" pitchFamily="49" charset="-122"/>
              </a:rPr>
              <a:t>第十章 统计热力学简介</a:t>
            </a:r>
          </a:p>
        </p:txBody>
      </p:sp>
      <p:sp>
        <p:nvSpPr>
          <p:cNvPr id="54276" name="Rectangle 3"/>
          <p:cNvSpPr>
            <a:spLocks noGrp="1" noChangeArrowheads="1"/>
          </p:cNvSpPr>
          <p:nvPr>
            <p:ph type="subTitle" idx="1"/>
          </p:nvPr>
        </p:nvSpPr>
        <p:spPr bwMode="auto">
          <a:xfrm>
            <a:off x="1371600" y="4876800"/>
            <a:ext cx="6400800" cy="1752600"/>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zh-CN" altLang="en-US" b="1" dirty="0" smtClean="0">
                <a:solidFill>
                  <a:schemeClr val="bg1"/>
                </a:solidFill>
                <a:latin typeface="华文中宋" pitchFamily="2" charset="-122"/>
                <a:ea typeface="华文中宋" pitchFamily="2" charset="-122"/>
              </a:rPr>
              <a:t>热能工程系工程热物理研究所</a:t>
            </a:r>
          </a:p>
          <a:p>
            <a:pPr eaLnBrk="1" hangingPunct="1"/>
            <a:r>
              <a:rPr lang="zh-CN" altLang="en-US" b="1" dirty="0" smtClean="0">
                <a:solidFill>
                  <a:schemeClr val="bg1"/>
                </a:solidFill>
                <a:latin typeface="华文中宋" pitchFamily="2" charset="-122"/>
                <a:ea typeface="华文中宋" pitchFamily="2" charset="-122"/>
              </a:rPr>
              <a:t>段远源</a:t>
            </a:r>
          </a:p>
        </p:txBody>
      </p:sp>
    </p:spTree>
  </p:cSld>
  <p:clrMapOvr>
    <a:masterClrMapping/>
  </p:clrMapOvr>
  <p:transition spd="med">
    <p:blinds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p:cNvSpPr>
            <a:spLocks noGrp="1"/>
          </p:cNvSpPr>
          <p:nvPr>
            <p:ph type="sldNum" sz="quarter" idx="12"/>
          </p:nvPr>
        </p:nvSpPr>
        <p:spPr>
          <a:noFill/>
        </p:spPr>
        <p:txBody>
          <a:bodyPr/>
          <a:lstStyle/>
          <a:p>
            <a:fld id="{775D5CF6-A176-45F6-AF8D-C3981445B710}" type="slidenum">
              <a:rPr lang="en-US" altLang="zh-CN" smtClean="0"/>
              <a:pPr/>
              <a:t>2</a:t>
            </a:fld>
            <a:endParaRPr lang="en-US" altLang="zh-CN" smtClean="0"/>
          </a:p>
        </p:txBody>
      </p:sp>
      <p:sp>
        <p:nvSpPr>
          <p:cNvPr id="55299" name="Rectangle 2"/>
          <p:cNvSpPr>
            <a:spLocks noGrp="1" noRot="1" noChangeArrowheads="1"/>
          </p:cNvSpPr>
          <p:nvPr>
            <p:ph type="title"/>
          </p:nvPr>
        </p:nvSpPr>
        <p:spPr/>
        <p:txBody>
          <a:bodyPr/>
          <a:lstStyle/>
          <a:p>
            <a:pPr eaLnBrk="1" hangingPunct="1"/>
            <a:r>
              <a:rPr lang="zh-CN" altLang="en-US" dirty="0" smtClean="0">
                <a:solidFill>
                  <a:srgbClr val="FFFF00"/>
                </a:solidFill>
                <a:latin typeface="黑体" pitchFamily="49" charset="-122"/>
                <a:ea typeface="黑体" pitchFamily="49" charset="-122"/>
              </a:rPr>
              <a:t>主要内容</a:t>
            </a:r>
          </a:p>
        </p:txBody>
      </p:sp>
      <p:sp>
        <p:nvSpPr>
          <p:cNvPr id="55300" name="Rectangle 3"/>
          <p:cNvSpPr>
            <a:spLocks noGrp="1" noChangeArrowheads="1"/>
          </p:cNvSpPr>
          <p:nvPr>
            <p:ph type="body" idx="1"/>
          </p:nvPr>
        </p:nvSpPr>
        <p:spPr bwMode="auto">
          <a:xfrm>
            <a:off x="685800" y="1981200"/>
            <a:ext cx="7772400" cy="4114800"/>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zh-CN" altLang="en-US" b="1" dirty="0" smtClean="0">
                <a:solidFill>
                  <a:schemeClr val="bg1"/>
                </a:solidFill>
                <a:latin typeface="华文中宋" pitchFamily="2" charset="-122"/>
                <a:ea typeface="华文中宋" pitchFamily="2" charset="-122"/>
              </a:rPr>
              <a:t>统计热力学概论</a:t>
            </a:r>
          </a:p>
          <a:p>
            <a:pPr eaLnBrk="1" hangingPunct="1"/>
            <a:r>
              <a:rPr lang="zh-CN" altLang="en-US" b="1" dirty="0" smtClean="0">
                <a:solidFill>
                  <a:schemeClr val="bg1"/>
                </a:solidFill>
                <a:latin typeface="华文中宋" pitchFamily="2" charset="-122"/>
                <a:ea typeface="华文中宋" pitchFamily="2" charset="-122"/>
              </a:rPr>
              <a:t>微观粒子运动的量子力学描述</a:t>
            </a:r>
          </a:p>
          <a:p>
            <a:pPr eaLnBrk="1" hangingPunct="1"/>
            <a:r>
              <a:rPr lang="zh-CN" altLang="en-US" b="1" dirty="0" smtClean="0">
                <a:solidFill>
                  <a:schemeClr val="bg1"/>
                </a:solidFill>
                <a:latin typeface="华文中宋" pitchFamily="2" charset="-122"/>
                <a:ea typeface="华文中宋" pitchFamily="2" charset="-122"/>
              </a:rPr>
              <a:t>各种体系的能级分布和微观状态数</a:t>
            </a:r>
          </a:p>
          <a:p>
            <a:pPr eaLnBrk="1" hangingPunct="1"/>
            <a:r>
              <a:rPr lang="zh-CN" altLang="en-US" b="1" dirty="0" smtClean="0">
                <a:solidFill>
                  <a:schemeClr val="bg1"/>
                </a:solidFill>
                <a:latin typeface="华文中宋" pitchFamily="2" charset="-122"/>
                <a:ea typeface="华文中宋" pitchFamily="2" charset="-122"/>
              </a:rPr>
              <a:t>经典统计</a:t>
            </a:r>
          </a:p>
        </p:txBody>
      </p:sp>
    </p:spTree>
  </p:cSld>
  <p:clrMapOvr>
    <a:masterClrMapping/>
  </p:clrMapOvr>
  <p:transition spd="med">
    <p:blinds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3"/>
          <p:cNvSpPr>
            <a:spLocks noGrp="1"/>
          </p:cNvSpPr>
          <p:nvPr>
            <p:ph type="sldNum" sz="quarter" idx="12"/>
          </p:nvPr>
        </p:nvSpPr>
        <p:spPr>
          <a:noFill/>
        </p:spPr>
        <p:txBody>
          <a:bodyPr/>
          <a:lstStyle/>
          <a:p>
            <a:fld id="{DB4236AD-00EB-4D03-8F89-6F05B0F751A9}" type="slidenum">
              <a:rPr lang="en-US" altLang="zh-CN" smtClean="0"/>
              <a:pPr/>
              <a:t>3</a:t>
            </a:fld>
            <a:endParaRPr lang="en-US" altLang="zh-CN" smtClean="0"/>
          </a:p>
        </p:txBody>
      </p:sp>
      <p:sp>
        <p:nvSpPr>
          <p:cNvPr id="56323" name="Text Box 2"/>
          <p:cNvSpPr txBox="1">
            <a:spLocks noChangeArrowheads="1"/>
          </p:cNvSpPr>
          <p:nvPr/>
        </p:nvSpPr>
        <p:spPr bwMode="auto">
          <a:xfrm>
            <a:off x="1928794" y="2690813"/>
            <a:ext cx="6250429" cy="769441"/>
          </a:xfrm>
          <a:prstGeom prst="rect">
            <a:avLst/>
          </a:prstGeom>
          <a:noFill/>
          <a:ln w="9525">
            <a:noFill/>
            <a:miter lim="800000"/>
            <a:headEnd/>
            <a:tailEnd/>
          </a:ln>
        </p:spPr>
        <p:txBody>
          <a:bodyPr wrap="none">
            <a:spAutoFit/>
          </a:bodyPr>
          <a:lstStyle/>
          <a:p>
            <a:r>
              <a:rPr lang="en-US" altLang="zh-CN" sz="4400" b="1" dirty="0">
                <a:solidFill>
                  <a:srgbClr val="FFFF00"/>
                </a:solidFill>
                <a:latin typeface="Times New Roman" pitchFamily="18" charset="0"/>
                <a:ea typeface="华文中宋" pitchFamily="2" charset="-122"/>
                <a:cs typeface="Times New Roman" pitchFamily="18" charset="0"/>
              </a:rPr>
              <a:t>§10.1  </a:t>
            </a:r>
            <a:r>
              <a:rPr lang="zh-CN" altLang="en-US" sz="4400" b="1" dirty="0">
                <a:solidFill>
                  <a:srgbClr val="FFFF00"/>
                </a:solidFill>
                <a:latin typeface="Times New Roman" pitchFamily="18" charset="0"/>
                <a:ea typeface="华文中宋" pitchFamily="2" charset="-122"/>
                <a:cs typeface="Times New Roman" pitchFamily="18" charset="0"/>
              </a:rPr>
              <a:t>统计热力学</a:t>
            </a:r>
            <a:r>
              <a:rPr lang="zh-CN" altLang="en-US" sz="4400" b="1" dirty="0" smtClean="0">
                <a:solidFill>
                  <a:srgbClr val="FFFF00"/>
                </a:solidFill>
                <a:latin typeface="Times New Roman" pitchFamily="18" charset="0"/>
                <a:ea typeface="华文中宋" pitchFamily="2" charset="-122"/>
                <a:cs typeface="Times New Roman" pitchFamily="18" charset="0"/>
              </a:rPr>
              <a:t>概论  </a:t>
            </a:r>
            <a:endParaRPr lang="zh-CN" altLang="en-US" sz="4400" b="1" dirty="0">
              <a:solidFill>
                <a:srgbClr val="FFFF00"/>
              </a:solidFill>
              <a:latin typeface="Times New Roman" pitchFamily="18" charset="0"/>
              <a:ea typeface="华文中宋" pitchFamily="2" charset="-122"/>
              <a:cs typeface="Times New Roman" pitchFamily="18" charset="0"/>
            </a:endParaRPr>
          </a:p>
        </p:txBody>
      </p:sp>
    </p:spTree>
  </p:cSld>
  <p:clrMapOvr>
    <a:masterClrMapping/>
  </p:clrMapOvr>
  <p:transition spd="med">
    <p:blinds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灯片编号占位符 5"/>
          <p:cNvSpPr>
            <a:spLocks noGrp="1"/>
          </p:cNvSpPr>
          <p:nvPr>
            <p:ph type="sldNum" sz="quarter" idx="12"/>
          </p:nvPr>
        </p:nvSpPr>
        <p:spPr>
          <a:noFill/>
        </p:spPr>
        <p:txBody>
          <a:bodyPr/>
          <a:lstStyle/>
          <a:p>
            <a:fld id="{EACB26D6-7A98-4504-9E79-ACC65A903ADB}" type="slidenum">
              <a:rPr lang="en-US" altLang="zh-CN" smtClean="0"/>
              <a:pPr/>
              <a:t>4</a:t>
            </a:fld>
            <a:endParaRPr lang="en-US" altLang="zh-CN" smtClean="0"/>
          </a:p>
        </p:txBody>
      </p:sp>
      <p:sp>
        <p:nvSpPr>
          <p:cNvPr id="57347" name="Rectangle 2"/>
          <p:cNvSpPr>
            <a:spLocks noGrp="1" noRot="1" noChangeArrowheads="1"/>
          </p:cNvSpPr>
          <p:nvPr>
            <p:ph type="title"/>
          </p:nvPr>
        </p:nvSpPr>
        <p:spPr/>
        <p:txBody>
          <a:bodyPr/>
          <a:lstStyle/>
          <a:p>
            <a:pPr eaLnBrk="1" hangingPunct="1"/>
            <a:r>
              <a:rPr lang="zh-CN" altLang="en-US" dirty="0" smtClean="0">
                <a:solidFill>
                  <a:srgbClr val="FFFF00"/>
                </a:solidFill>
              </a:rPr>
              <a:t>什么是统计热力学</a:t>
            </a:r>
          </a:p>
        </p:txBody>
      </p:sp>
      <p:sp>
        <p:nvSpPr>
          <p:cNvPr id="11267" name="Rectangle 3"/>
          <p:cNvSpPr>
            <a:spLocks noGrp="1" noChangeArrowheads="1"/>
          </p:cNvSpPr>
          <p:nvPr>
            <p:ph type="body" idx="1"/>
          </p:nvPr>
        </p:nvSpPr>
        <p:spPr bwMode="auto">
          <a:xfrm>
            <a:off x="685800" y="1981200"/>
            <a:ext cx="7772400" cy="4114800"/>
          </a:xfrm>
          <a:noFill/>
          <a:ln>
            <a:miter lim="800000"/>
            <a:headEnd/>
            <a:tailEnd/>
          </a:ln>
        </p:spPr>
        <p:txBody>
          <a:bodyPr vert="horz" wrap="square" lIns="91440" tIns="45720" rIns="91440" bIns="45720" numCol="1" anchor="t" anchorCtr="0" compatLnSpc="1">
            <a:prstTxWarp prst="textNoShape">
              <a:avLst/>
            </a:prstTxWarp>
          </a:bodyPr>
          <a:lstStyle/>
          <a:p>
            <a:pPr eaLnBrk="1" hangingPunct="1"/>
            <a:r>
              <a:rPr lang="zh-CN" altLang="en-US" b="1" dirty="0" smtClean="0">
                <a:solidFill>
                  <a:schemeClr val="bg1"/>
                </a:solidFill>
                <a:latin typeface="华文中宋" pitchFamily="2" charset="-122"/>
                <a:ea typeface="华文中宋" pitchFamily="2" charset="-122"/>
              </a:rPr>
              <a:t>统计力学：物理学分支之一，用统计平均的方法研究大量粒子的力学行为；</a:t>
            </a:r>
          </a:p>
          <a:p>
            <a:pPr eaLnBrk="1" hangingPunct="1"/>
            <a:endParaRPr lang="zh-CN" altLang="en-US" b="1" dirty="0" smtClean="0">
              <a:solidFill>
                <a:schemeClr val="bg1"/>
              </a:solidFill>
              <a:latin typeface="华文中宋" pitchFamily="2" charset="-122"/>
              <a:ea typeface="华文中宋" pitchFamily="2" charset="-122"/>
            </a:endParaRPr>
          </a:p>
          <a:p>
            <a:pPr eaLnBrk="1" hangingPunct="1"/>
            <a:r>
              <a:rPr lang="zh-CN" altLang="en-US" b="1" dirty="0" smtClean="0">
                <a:solidFill>
                  <a:schemeClr val="bg1"/>
                </a:solidFill>
                <a:latin typeface="华文中宋" pitchFamily="2" charset="-122"/>
                <a:ea typeface="华文中宋" pitchFamily="2" charset="-122"/>
              </a:rPr>
              <a:t>统计热力学：统计力学方法应用于研究热力学系统的宏观性质及其规律。</a:t>
            </a:r>
          </a:p>
        </p:txBody>
      </p:sp>
      <p:sp>
        <p:nvSpPr>
          <p:cNvPr id="57349" name="Text Box 5"/>
          <p:cNvSpPr txBox="1">
            <a:spLocks noChangeArrowheads="1"/>
          </p:cNvSpPr>
          <p:nvPr/>
        </p:nvSpPr>
        <p:spPr bwMode="auto">
          <a:xfrm>
            <a:off x="6357938" y="0"/>
            <a:ext cx="278606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r>
              <a:rPr kumimoji="1" lang="en-US" altLang="zh-CN" sz="2400" b="1">
                <a:solidFill>
                  <a:schemeClr val="bg1"/>
                </a:solidFill>
                <a:latin typeface="Times New Roman" pitchFamily="18" charset="0"/>
                <a:ea typeface="隶书" pitchFamily="49" charset="-122"/>
              </a:rPr>
              <a:t>   </a:t>
            </a:r>
            <a:r>
              <a:rPr kumimoji="1" lang="zh-CN" altLang="en-US" sz="2400" b="1">
                <a:solidFill>
                  <a:schemeClr val="bg1"/>
                </a:solidFill>
                <a:latin typeface="Times New Roman" pitchFamily="18" charset="0"/>
                <a:ea typeface="隶书" pitchFamily="49" charset="-122"/>
              </a:rPr>
              <a:t>统计热力学概论 </a:t>
            </a:r>
            <a:r>
              <a:rPr kumimoji="1" lang="zh-CN" altLang="en-US" sz="2400">
                <a:solidFill>
                  <a:schemeClr val="bg1"/>
                </a:solidFill>
                <a:latin typeface="Times New Roman" pitchFamily="18" charset="0"/>
              </a:rPr>
              <a:t>  </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additive="base">
                                        <p:cTn id="7" dur="500" fill="hold"/>
                                        <p:tgtEl>
                                          <p:spTgt spid="112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2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267">
                                            <p:txEl>
                                              <p:pRg st="2" end="2"/>
                                            </p:txEl>
                                          </p:spTgt>
                                        </p:tgtEl>
                                        <p:attrNameLst>
                                          <p:attrName>style.visibility</p:attrName>
                                        </p:attrNameLst>
                                      </p:cBhvr>
                                      <p:to>
                                        <p:strVal val="visible"/>
                                      </p:to>
                                    </p:set>
                                    <p:anim calcmode="lin" valueType="num">
                                      <p:cBhvr additive="base">
                                        <p:cTn id="13" dur="500" fill="hold"/>
                                        <p:tgtEl>
                                          <p:spTgt spid="11267">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26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灯片编号占位符 5"/>
          <p:cNvSpPr>
            <a:spLocks noGrp="1"/>
          </p:cNvSpPr>
          <p:nvPr>
            <p:ph type="sldNum" sz="quarter" idx="12"/>
          </p:nvPr>
        </p:nvSpPr>
        <p:spPr>
          <a:noFill/>
        </p:spPr>
        <p:txBody>
          <a:bodyPr/>
          <a:lstStyle/>
          <a:p>
            <a:fld id="{F108BC80-EBD0-4901-8A80-C3914DD1ACFE}" type="slidenum">
              <a:rPr lang="en-US" altLang="zh-CN" smtClean="0"/>
              <a:pPr/>
              <a:t>5</a:t>
            </a:fld>
            <a:endParaRPr lang="en-US" altLang="zh-CN" smtClean="0"/>
          </a:p>
        </p:txBody>
      </p:sp>
      <p:sp>
        <p:nvSpPr>
          <p:cNvPr id="58371" name="Rectangle 2"/>
          <p:cNvSpPr>
            <a:spLocks noGrp="1" noRot="1" noChangeArrowheads="1"/>
          </p:cNvSpPr>
          <p:nvPr>
            <p:ph type="title"/>
          </p:nvPr>
        </p:nvSpPr>
        <p:spPr/>
        <p:txBody>
          <a:bodyPr/>
          <a:lstStyle/>
          <a:p>
            <a:pPr eaLnBrk="1" hangingPunct="1"/>
            <a:r>
              <a:rPr lang="zh-CN" altLang="en-US" dirty="0" smtClean="0">
                <a:solidFill>
                  <a:srgbClr val="FFFF00"/>
                </a:solidFill>
                <a:latin typeface="黑体" pitchFamily="49" charset="-122"/>
                <a:ea typeface="黑体" pitchFamily="49" charset="-122"/>
              </a:rPr>
              <a:t>经典热力学方法及其局限性 </a:t>
            </a:r>
          </a:p>
        </p:txBody>
      </p:sp>
      <p:sp>
        <p:nvSpPr>
          <p:cNvPr id="12291" name="Rectangle 3"/>
          <p:cNvSpPr>
            <a:spLocks noGrp="1" noChangeArrowheads="1"/>
          </p:cNvSpPr>
          <p:nvPr>
            <p:ph type="body" idx="1"/>
          </p:nvPr>
        </p:nvSpPr>
        <p:spPr bwMode="auto">
          <a:xfrm>
            <a:off x="685800" y="1219200"/>
            <a:ext cx="7772400" cy="541020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90000"/>
              </a:lnSpc>
            </a:pPr>
            <a:r>
              <a:rPr lang="zh-CN" altLang="en-US" b="1" dirty="0" smtClean="0">
                <a:solidFill>
                  <a:schemeClr val="bg1"/>
                </a:solidFill>
                <a:latin typeface="华文中宋" pitchFamily="2" charset="-122"/>
                <a:ea typeface="华文中宋" pitchFamily="2" charset="-122"/>
              </a:rPr>
              <a:t>根据人类大量实验观测结果总结；</a:t>
            </a:r>
          </a:p>
          <a:p>
            <a:pPr eaLnBrk="1" hangingPunct="1">
              <a:lnSpc>
                <a:spcPct val="90000"/>
              </a:lnSpc>
            </a:pPr>
            <a:r>
              <a:rPr lang="zh-CN" altLang="en-US" b="1" dirty="0" smtClean="0">
                <a:solidFill>
                  <a:schemeClr val="bg1"/>
                </a:solidFill>
                <a:latin typeface="华文中宋" pitchFamily="2" charset="-122"/>
                <a:ea typeface="华文中宋" pitchFamily="2" charset="-122"/>
              </a:rPr>
              <a:t>采用的是综合的方法，只对体系的整体特征作出描述； </a:t>
            </a:r>
          </a:p>
          <a:p>
            <a:pPr eaLnBrk="1" hangingPunct="1">
              <a:lnSpc>
                <a:spcPct val="90000"/>
              </a:lnSpc>
            </a:pPr>
            <a:r>
              <a:rPr lang="zh-CN" altLang="en-US" b="1" dirty="0" smtClean="0">
                <a:solidFill>
                  <a:schemeClr val="bg1"/>
                </a:solidFill>
                <a:latin typeface="华文中宋" pitchFamily="2" charset="-122"/>
                <a:ea typeface="华文中宋" pitchFamily="2" charset="-122"/>
              </a:rPr>
              <a:t>最主要的优点就是结论的高度可靠性和普适性，正确性不会受到人类对物质结构认识深度的影响。</a:t>
            </a:r>
          </a:p>
          <a:p>
            <a:pPr eaLnBrk="1" hangingPunct="1">
              <a:lnSpc>
                <a:spcPct val="90000"/>
              </a:lnSpc>
            </a:pPr>
            <a:r>
              <a:rPr lang="zh-CN" altLang="en-US" b="1" dirty="0" smtClean="0">
                <a:solidFill>
                  <a:schemeClr val="bg1"/>
                </a:solidFill>
                <a:latin typeface="华文中宋" pitchFamily="2" charset="-122"/>
                <a:ea typeface="华文中宋" pitchFamily="2" charset="-122"/>
              </a:rPr>
              <a:t>局限性：</a:t>
            </a:r>
          </a:p>
          <a:p>
            <a:pPr lvl="1" eaLnBrk="1" hangingPunct="1">
              <a:lnSpc>
                <a:spcPct val="90000"/>
              </a:lnSpc>
            </a:pPr>
            <a:r>
              <a:rPr lang="zh-CN" altLang="en-US" b="1" dirty="0" smtClean="0">
                <a:solidFill>
                  <a:schemeClr val="bg1"/>
                </a:solidFill>
                <a:latin typeface="华文中宋" pitchFamily="2" charset="-122"/>
                <a:ea typeface="华文中宋" pitchFamily="2" charset="-122"/>
              </a:rPr>
              <a:t>无法对特殊物质的特性给出具体信息；</a:t>
            </a:r>
          </a:p>
          <a:p>
            <a:pPr lvl="1" eaLnBrk="1" hangingPunct="1">
              <a:lnSpc>
                <a:spcPct val="90000"/>
              </a:lnSpc>
            </a:pPr>
            <a:r>
              <a:rPr lang="zh-CN" altLang="en-US" b="1" dirty="0" smtClean="0">
                <a:solidFill>
                  <a:schemeClr val="bg1"/>
                </a:solidFill>
                <a:latin typeface="华文中宋" pitchFamily="2" charset="-122"/>
                <a:ea typeface="华文中宋" pitchFamily="2" charset="-122"/>
              </a:rPr>
              <a:t>无法对其结论作出更本质的微观解释 ；</a:t>
            </a:r>
          </a:p>
          <a:p>
            <a:pPr lvl="1" eaLnBrk="1" hangingPunct="1">
              <a:lnSpc>
                <a:spcPct val="90000"/>
              </a:lnSpc>
            </a:pPr>
            <a:r>
              <a:rPr lang="zh-CN" altLang="en-US" b="1" dirty="0" smtClean="0">
                <a:solidFill>
                  <a:schemeClr val="bg1"/>
                </a:solidFill>
                <a:latin typeface="华文中宋" pitchFamily="2" charset="-122"/>
                <a:ea typeface="华文中宋" pitchFamily="2" charset="-122"/>
              </a:rPr>
              <a:t>只讨论系统的平均行为，无法预言和解释系统实际行为与平均行为之间的偏差</a:t>
            </a:r>
            <a:r>
              <a:rPr lang="en-US" altLang="zh-CN" b="1" dirty="0" smtClean="0">
                <a:solidFill>
                  <a:schemeClr val="bg1"/>
                </a:solidFill>
                <a:latin typeface="华文中宋" pitchFamily="2" charset="-122"/>
                <a:ea typeface="华文中宋" pitchFamily="2" charset="-122"/>
              </a:rPr>
              <a:t>(</a:t>
            </a:r>
            <a:r>
              <a:rPr lang="zh-CN" altLang="en-US" b="1" dirty="0" smtClean="0">
                <a:solidFill>
                  <a:schemeClr val="bg1"/>
                </a:solidFill>
                <a:latin typeface="华文中宋" pitchFamily="2" charset="-122"/>
                <a:ea typeface="华文中宋" pitchFamily="2" charset="-122"/>
              </a:rPr>
              <a:t>涨落</a:t>
            </a:r>
            <a:r>
              <a:rPr lang="en-US" altLang="zh-CN" b="1" dirty="0" smtClean="0">
                <a:solidFill>
                  <a:schemeClr val="bg1"/>
                </a:solidFill>
                <a:latin typeface="华文中宋" pitchFamily="2" charset="-122"/>
                <a:ea typeface="华文中宋" pitchFamily="2" charset="-122"/>
              </a:rPr>
              <a:t>)</a:t>
            </a:r>
            <a:r>
              <a:rPr lang="zh-CN" altLang="en-US" b="1" dirty="0" smtClean="0">
                <a:solidFill>
                  <a:schemeClr val="bg1"/>
                </a:solidFill>
                <a:latin typeface="华文中宋" pitchFamily="2" charset="-122"/>
                <a:ea typeface="华文中宋" pitchFamily="2" charset="-122"/>
              </a:rPr>
              <a:t>。</a:t>
            </a:r>
          </a:p>
        </p:txBody>
      </p:sp>
      <p:sp>
        <p:nvSpPr>
          <p:cNvPr id="58373" name="Text Box 4"/>
          <p:cNvSpPr txBox="1">
            <a:spLocks noChangeArrowheads="1"/>
          </p:cNvSpPr>
          <p:nvPr/>
        </p:nvSpPr>
        <p:spPr bwMode="auto">
          <a:xfrm>
            <a:off x="6357938" y="0"/>
            <a:ext cx="278606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r>
              <a:rPr kumimoji="1" lang="en-US" altLang="zh-CN" sz="2400" b="1">
                <a:solidFill>
                  <a:schemeClr val="bg1"/>
                </a:solidFill>
                <a:latin typeface="Times New Roman" pitchFamily="18" charset="0"/>
                <a:ea typeface="隶书" pitchFamily="49" charset="-122"/>
              </a:rPr>
              <a:t>   </a:t>
            </a:r>
            <a:r>
              <a:rPr kumimoji="1" lang="zh-CN" altLang="en-US" sz="2400" b="1">
                <a:solidFill>
                  <a:schemeClr val="bg1"/>
                </a:solidFill>
                <a:latin typeface="Times New Roman" pitchFamily="18" charset="0"/>
                <a:ea typeface="隶书" pitchFamily="49" charset="-122"/>
              </a:rPr>
              <a:t>统计热力学概论 </a:t>
            </a:r>
            <a:r>
              <a:rPr kumimoji="1" lang="zh-CN" altLang="en-US" sz="2400">
                <a:solidFill>
                  <a:schemeClr val="bg1"/>
                </a:solidFill>
                <a:latin typeface="Times New Roman" pitchFamily="18" charset="0"/>
              </a:rPr>
              <a:t>  </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 calcmode="lin" valueType="num">
                                      <p:cBhvr additive="base">
                                        <p:cTn id="7" dur="500" fill="hold"/>
                                        <p:tgtEl>
                                          <p:spTgt spid="122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2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291">
                                            <p:txEl>
                                              <p:pRg st="1" end="1"/>
                                            </p:txEl>
                                          </p:spTgt>
                                        </p:tgtEl>
                                        <p:attrNameLst>
                                          <p:attrName>style.visibility</p:attrName>
                                        </p:attrNameLst>
                                      </p:cBhvr>
                                      <p:to>
                                        <p:strVal val="visible"/>
                                      </p:to>
                                    </p:set>
                                    <p:anim calcmode="lin" valueType="num">
                                      <p:cBhvr additive="base">
                                        <p:cTn id="13" dur="500" fill="hold"/>
                                        <p:tgtEl>
                                          <p:spTgt spid="122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2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291">
                                            <p:txEl>
                                              <p:pRg st="2" end="2"/>
                                            </p:txEl>
                                          </p:spTgt>
                                        </p:tgtEl>
                                        <p:attrNameLst>
                                          <p:attrName>style.visibility</p:attrName>
                                        </p:attrNameLst>
                                      </p:cBhvr>
                                      <p:to>
                                        <p:strVal val="visible"/>
                                      </p:to>
                                    </p:set>
                                    <p:anim calcmode="lin" valueType="num">
                                      <p:cBhvr additive="base">
                                        <p:cTn id="19" dur="500" fill="hold"/>
                                        <p:tgtEl>
                                          <p:spTgt spid="1229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29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2291">
                                            <p:txEl>
                                              <p:pRg st="3" end="3"/>
                                            </p:txEl>
                                          </p:spTgt>
                                        </p:tgtEl>
                                        <p:attrNameLst>
                                          <p:attrName>style.visibility</p:attrName>
                                        </p:attrNameLst>
                                      </p:cBhvr>
                                      <p:to>
                                        <p:strVal val="visible"/>
                                      </p:to>
                                    </p:set>
                                    <p:anim calcmode="lin" valueType="num">
                                      <p:cBhvr additive="base">
                                        <p:cTn id="25" dur="500" fill="hold"/>
                                        <p:tgtEl>
                                          <p:spTgt spid="1229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2291">
                                            <p:txEl>
                                              <p:pRg st="3" end="3"/>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12291">
                                            <p:txEl>
                                              <p:pRg st="4" end="4"/>
                                            </p:txEl>
                                          </p:spTgt>
                                        </p:tgtEl>
                                        <p:attrNameLst>
                                          <p:attrName>style.visibility</p:attrName>
                                        </p:attrNameLst>
                                      </p:cBhvr>
                                      <p:to>
                                        <p:strVal val="visible"/>
                                      </p:to>
                                    </p:set>
                                    <p:anim calcmode="lin" valueType="num">
                                      <p:cBhvr additive="base">
                                        <p:cTn id="29" dur="500" fill="hold"/>
                                        <p:tgtEl>
                                          <p:spTgt spid="12291">
                                            <p:txEl>
                                              <p:pRg st="4" end="4"/>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2291">
                                            <p:txEl>
                                              <p:pRg st="4" end="4"/>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12291">
                                            <p:txEl>
                                              <p:pRg st="5" end="5"/>
                                            </p:txEl>
                                          </p:spTgt>
                                        </p:tgtEl>
                                        <p:attrNameLst>
                                          <p:attrName>style.visibility</p:attrName>
                                        </p:attrNameLst>
                                      </p:cBhvr>
                                      <p:to>
                                        <p:strVal val="visible"/>
                                      </p:to>
                                    </p:set>
                                    <p:anim calcmode="lin" valueType="num">
                                      <p:cBhvr additive="base">
                                        <p:cTn id="33" dur="500" fill="hold"/>
                                        <p:tgtEl>
                                          <p:spTgt spid="12291">
                                            <p:txEl>
                                              <p:pRg st="5" end="5"/>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2291">
                                            <p:txEl>
                                              <p:pRg st="5" end="5"/>
                                            </p:tx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12291">
                                            <p:txEl>
                                              <p:pRg st="6" end="6"/>
                                            </p:txEl>
                                          </p:spTgt>
                                        </p:tgtEl>
                                        <p:attrNameLst>
                                          <p:attrName>style.visibility</p:attrName>
                                        </p:attrNameLst>
                                      </p:cBhvr>
                                      <p:to>
                                        <p:strVal val="visible"/>
                                      </p:to>
                                    </p:set>
                                    <p:anim calcmode="lin" valueType="num">
                                      <p:cBhvr additive="base">
                                        <p:cTn id="37" dur="500" fill="hold"/>
                                        <p:tgtEl>
                                          <p:spTgt spid="12291">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2291">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灯片编号占位符 5"/>
          <p:cNvSpPr>
            <a:spLocks noGrp="1"/>
          </p:cNvSpPr>
          <p:nvPr>
            <p:ph type="sldNum" sz="quarter" idx="12"/>
          </p:nvPr>
        </p:nvSpPr>
        <p:spPr>
          <a:noFill/>
        </p:spPr>
        <p:txBody>
          <a:bodyPr/>
          <a:lstStyle/>
          <a:p>
            <a:fld id="{730FF1D8-415B-433F-9E58-58D46BD5A3FC}" type="slidenum">
              <a:rPr lang="en-US" altLang="zh-CN" smtClean="0"/>
              <a:pPr/>
              <a:t>6</a:t>
            </a:fld>
            <a:endParaRPr lang="en-US" altLang="zh-CN" smtClean="0"/>
          </a:p>
        </p:txBody>
      </p:sp>
      <p:sp>
        <p:nvSpPr>
          <p:cNvPr id="1028" name="Rectangle 2"/>
          <p:cNvSpPr>
            <a:spLocks noGrp="1" noRot="1" noChangeArrowheads="1"/>
          </p:cNvSpPr>
          <p:nvPr>
            <p:ph type="title"/>
          </p:nvPr>
        </p:nvSpPr>
        <p:spPr/>
        <p:txBody>
          <a:bodyPr/>
          <a:lstStyle/>
          <a:p>
            <a:pPr eaLnBrk="1" hangingPunct="1"/>
            <a:r>
              <a:rPr lang="zh-CN" altLang="en-US" dirty="0" smtClean="0">
                <a:solidFill>
                  <a:srgbClr val="FFFF00"/>
                </a:solidFill>
                <a:latin typeface="黑体" pitchFamily="49" charset="-122"/>
                <a:ea typeface="黑体" pitchFamily="49" charset="-122"/>
              </a:rPr>
              <a:t>量子力学与统计热力学 </a:t>
            </a:r>
          </a:p>
        </p:txBody>
      </p:sp>
      <p:sp>
        <p:nvSpPr>
          <p:cNvPr id="1029" name="Text Box 4"/>
          <p:cNvSpPr txBox="1">
            <a:spLocks noChangeArrowheads="1"/>
          </p:cNvSpPr>
          <p:nvPr/>
        </p:nvSpPr>
        <p:spPr bwMode="auto">
          <a:xfrm>
            <a:off x="6357938" y="0"/>
            <a:ext cx="278606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r>
              <a:rPr kumimoji="1" lang="en-US" altLang="zh-CN" sz="2400" b="1">
                <a:solidFill>
                  <a:schemeClr val="bg1"/>
                </a:solidFill>
                <a:latin typeface="Times New Roman" pitchFamily="18" charset="0"/>
                <a:ea typeface="隶书" pitchFamily="49" charset="-122"/>
              </a:rPr>
              <a:t>   </a:t>
            </a:r>
            <a:r>
              <a:rPr kumimoji="1" lang="zh-CN" altLang="en-US" sz="2400" b="1">
                <a:solidFill>
                  <a:schemeClr val="bg1"/>
                </a:solidFill>
                <a:latin typeface="Times New Roman" pitchFamily="18" charset="0"/>
                <a:ea typeface="隶书" pitchFamily="49" charset="-122"/>
              </a:rPr>
              <a:t>统计热力学概论 </a:t>
            </a:r>
            <a:r>
              <a:rPr kumimoji="1" lang="zh-CN" altLang="en-US" sz="2400">
                <a:solidFill>
                  <a:schemeClr val="bg1"/>
                </a:solidFill>
                <a:latin typeface="Times New Roman" pitchFamily="18" charset="0"/>
              </a:rPr>
              <a:t>  </a:t>
            </a:r>
          </a:p>
        </p:txBody>
      </p:sp>
      <p:graphicFrame>
        <p:nvGraphicFramePr>
          <p:cNvPr id="13317" name="Object 5"/>
          <p:cNvGraphicFramePr>
            <a:graphicFrameLocks noChangeAspect="1"/>
          </p:cNvGraphicFramePr>
          <p:nvPr/>
        </p:nvGraphicFramePr>
        <p:xfrm>
          <a:off x="1143000" y="1285860"/>
          <a:ext cx="6858000" cy="3317875"/>
        </p:xfrm>
        <a:graphic>
          <a:graphicData uri="http://schemas.openxmlformats.org/presentationml/2006/ole">
            <p:oleObj spid="_x0000_s1026" name="Picture" r:id="rId3" imgW="4114800" imgH="1990800" progId="Word.Picture.8">
              <p:embed/>
            </p:oleObj>
          </a:graphicData>
        </a:graphic>
      </p:graphicFrame>
      <p:sp>
        <p:nvSpPr>
          <p:cNvPr id="13319" name="Text Box 7"/>
          <p:cNvSpPr txBox="1">
            <a:spLocks noChangeArrowheads="1"/>
          </p:cNvSpPr>
          <p:nvPr/>
        </p:nvSpPr>
        <p:spPr bwMode="auto">
          <a:xfrm>
            <a:off x="898525" y="4787922"/>
            <a:ext cx="8016875" cy="1784350"/>
          </a:xfrm>
          <a:prstGeom prst="rect">
            <a:avLst/>
          </a:prstGeom>
          <a:noFill/>
          <a:ln w="9525">
            <a:noFill/>
            <a:miter lim="800000"/>
            <a:headEnd/>
            <a:tailEnd/>
          </a:ln>
        </p:spPr>
        <p:txBody>
          <a:bodyPr>
            <a:spAutoFit/>
          </a:bodyPr>
          <a:lstStyle/>
          <a:p>
            <a:r>
              <a:rPr lang="zh-CN" altLang="en-US" sz="2200" b="1" dirty="0">
                <a:solidFill>
                  <a:srgbClr val="D2DC08"/>
                </a:solidFill>
                <a:latin typeface="华文中宋" pitchFamily="2" charset="-122"/>
                <a:ea typeface="华文中宋" pitchFamily="2" charset="-122"/>
              </a:rPr>
              <a:t>量子力学：</a:t>
            </a:r>
            <a:r>
              <a:rPr lang="zh-CN" altLang="en-US" sz="2200" b="1" dirty="0">
                <a:solidFill>
                  <a:schemeClr val="bg1"/>
                </a:solidFill>
                <a:latin typeface="华文中宋" pitchFamily="2" charset="-122"/>
                <a:ea typeface="华文中宋" pitchFamily="2" charset="-122"/>
              </a:rPr>
              <a:t>研究微观粒子的运动细节，属于纯粹的微观内容。</a:t>
            </a:r>
          </a:p>
          <a:p>
            <a:r>
              <a:rPr lang="zh-CN" altLang="en-US" sz="2200" b="1" dirty="0">
                <a:solidFill>
                  <a:srgbClr val="D2DC08"/>
                </a:solidFill>
                <a:latin typeface="华文中宋" pitchFamily="2" charset="-122"/>
                <a:ea typeface="华文中宋" pitchFamily="2" charset="-122"/>
              </a:rPr>
              <a:t>统计热力学：</a:t>
            </a:r>
            <a:r>
              <a:rPr lang="zh-CN" altLang="en-US" sz="2200" b="1" dirty="0">
                <a:solidFill>
                  <a:schemeClr val="bg1"/>
                </a:solidFill>
                <a:latin typeface="华文中宋" pitchFamily="2" charset="-122"/>
                <a:ea typeface="华文中宋" pitchFamily="2" charset="-122"/>
              </a:rPr>
              <a:t>根据微观粒子的运动规律，分析微观状态和宏观状态对应关系，从微观模型导出宏观行为、解释涨落现象、预言特殊物质的特殊性质，给出更本质的解释。架起了量子力学和唯象热力学之间的桥梁。</a:t>
            </a:r>
            <a:r>
              <a:rPr lang="zh-CN" altLang="en-US" b="1" dirty="0">
                <a:solidFill>
                  <a:schemeClr val="tx2"/>
                </a:solidFill>
                <a:latin typeface="华文中宋" pitchFamily="2" charset="-122"/>
                <a:ea typeface="华文中宋" pitchFamily="2" charset="-122"/>
              </a:rPr>
              <a:t> </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13317"/>
                                        </p:tgtEl>
                                        <p:attrNameLst>
                                          <p:attrName>style.visibility</p:attrName>
                                        </p:attrNameLst>
                                      </p:cBhvr>
                                      <p:to>
                                        <p:strVal val="visible"/>
                                      </p:to>
                                    </p:set>
                                    <p:animEffect transition="in" filter="barn(outHorizontal)">
                                      <p:cBhvr>
                                        <p:cTn id="7" dur="500"/>
                                        <p:tgtEl>
                                          <p:spTgt spid="1331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13319"/>
                                        </p:tgtEl>
                                        <p:attrNameLst>
                                          <p:attrName>style.visibility</p:attrName>
                                        </p:attrNameLst>
                                      </p:cBhvr>
                                      <p:to>
                                        <p:strVal val="visible"/>
                                      </p:to>
                                    </p:set>
                                    <p:animEffect transition="in" filter="barn(outHorizontal)">
                                      <p:cBhvr>
                                        <p:cTn id="12" dur="500"/>
                                        <p:tgtEl>
                                          <p:spTgt spid="13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9"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a:spLocks noGrp="1"/>
          </p:cNvSpPr>
          <p:nvPr>
            <p:ph type="sldNum" sz="quarter" idx="12"/>
          </p:nvPr>
        </p:nvSpPr>
        <p:spPr>
          <a:noFill/>
        </p:spPr>
        <p:txBody>
          <a:bodyPr/>
          <a:lstStyle/>
          <a:p>
            <a:fld id="{A16631B8-18C1-4713-B9C4-ED3D62C8F32E}" type="slidenum">
              <a:rPr lang="en-US" altLang="zh-CN" b="1" smtClean="0">
                <a:latin typeface="华文中宋" pitchFamily="2" charset="-122"/>
                <a:ea typeface="华文中宋" pitchFamily="2" charset="-122"/>
              </a:rPr>
              <a:pPr/>
              <a:t>7</a:t>
            </a:fld>
            <a:endParaRPr lang="en-US" altLang="zh-CN" b="1" smtClean="0">
              <a:latin typeface="华文中宋" pitchFamily="2" charset="-122"/>
              <a:ea typeface="华文中宋" pitchFamily="2" charset="-122"/>
            </a:endParaRPr>
          </a:p>
        </p:txBody>
      </p:sp>
      <p:sp>
        <p:nvSpPr>
          <p:cNvPr id="59395" name="Rectangle 2"/>
          <p:cNvSpPr>
            <a:spLocks noGrp="1" noRot="1" noChangeArrowheads="1"/>
          </p:cNvSpPr>
          <p:nvPr>
            <p:ph type="title"/>
          </p:nvPr>
        </p:nvSpPr>
        <p:spPr/>
        <p:txBody>
          <a:bodyPr/>
          <a:lstStyle/>
          <a:p>
            <a:pPr eaLnBrk="1" hangingPunct="1"/>
            <a:r>
              <a:rPr lang="zh-CN" altLang="en-US" dirty="0" smtClean="0">
                <a:solidFill>
                  <a:srgbClr val="FFFF00"/>
                </a:solidFill>
                <a:latin typeface="黑体" pitchFamily="49" charset="-122"/>
                <a:ea typeface="黑体" pitchFamily="49" charset="-122"/>
              </a:rPr>
              <a:t>统计方法与统计系统的分类</a:t>
            </a:r>
          </a:p>
        </p:txBody>
      </p:sp>
      <p:sp>
        <p:nvSpPr>
          <p:cNvPr id="59396" name="Text Box 4"/>
          <p:cNvSpPr txBox="1">
            <a:spLocks noChangeArrowheads="1"/>
          </p:cNvSpPr>
          <p:nvPr/>
        </p:nvSpPr>
        <p:spPr bwMode="auto">
          <a:xfrm>
            <a:off x="6357938" y="0"/>
            <a:ext cx="2932213" cy="461665"/>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r>
              <a:rPr kumimoji="1" lang="en-US" altLang="zh-CN" sz="2400" b="1">
                <a:solidFill>
                  <a:schemeClr val="bg1"/>
                </a:solidFill>
                <a:latin typeface="华文中宋" pitchFamily="2" charset="-122"/>
                <a:ea typeface="华文中宋" pitchFamily="2" charset="-122"/>
              </a:rPr>
              <a:t>   </a:t>
            </a:r>
            <a:r>
              <a:rPr kumimoji="1" lang="zh-CN" altLang="en-US" sz="2400" b="1">
                <a:solidFill>
                  <a:schemeClr val="bg1"/>
                </a:solidFill>
                <a:latin typeface="华文中宋" pitchFamily="2" charset="-122"/>
                <a:ea typeface="华文中宋" pitchFamily="2" charset="-122"/>
              </a:rPr>
              <a:t>统计热力学概论   </a:t>
            </a:r>
          </a:p>
        </p:txBody>
      </p:sp>
      <p:sp>
        <p:nvSpPr>
          <p:cNvPr id="14342" name="Text Box 6"/>
          <p:cNvSpPr txBox="1">
            <a:spLocks noChangeArrowheads="1"/>
          </p:cNvSpPr>
          <p:nvPr/>
        </p:nvSpPr>
        <p:spPr bwMode="auto">
          <a:xfrm>
            <a:off x="730250" y="4437063"/>
            <a:ext cx="2031325" cy="830997"/>
          </a:xfrm>
          <a:prstGeom prst="rect">
            <a:avLst/>
          </a:prstGeom>
          <a:noFill/>
          <a:ln w="9525">
            <a:noFill/>
            <a:miter lim="800000"/>
            <a:headEnd/>
            <a:tailEnd/>
          </a:ln>
        </p:spPr>
        <p:txBody>
          <a:bodyPr wrap="none">
            <a:spAutoFit/>
          </a:bodyPr>
          <a:lstStyle/>
          <a:p>
            <a:r>
              <a:rPr lang="zh-CN" altLang="en-US" sz="2400" b="1">
                <a:solidFill>
                  <a:srgbClr val="D2DC08"/>
                </a:solidFill>
                <a:latin typeface="华文中宋" pitchFamily="2" charset="-122"/>
                <a:ea typeface="华文中宋" pitchFamily="2" charset="-122"/>
              </a:rPr>
              <a:t>按粒子系统是</a:t>
            </a:r>
          </a:p>
          <a:p>
            <a:r>
              <a:rPr lang="zh-CN" altLang="en-US" sz="2400" b="1">
                <a:solidFill>
                  <a:srgbClr val="D2DC08"/>
                </a:solidFill>
                <a:latin typeface="华文中宋" pitchFamily="2" charset="-122"/>
                <a:ea typeface="华文中宋" pitchFamily="2" charset="-122"/>
              </a:rPr>
              <a:t>否处于平衡态</a:t>
            </a:r>
          </a:p>
        </p:txBody>
      </p:sp>
      <p:sp>
        <p:nvSpPr>
          <p:cNvPr id="14346" name="Text Box 10"/>
          <p:cNvSpPr txBox="1">
            <a:spLocks noChangeArrowheads="1"/>
          </p:cNvSpPr>
          <p:nvPr/>
        </p:nvSpPr>
        <p:spPr bwMode="auto">
          <a:xfrm>
            <a:off x="2895600" y="3754438"/>
            <a:ext cx="6032421" cy="830997"/>
          </a:xfrm>
          <a:prstGeom prst="rect">
            <a:avLst/>
          </a:prstGeom>
          <a:noFill/>
          <a:ln w="9525">
            <a:noFill/>
            <a:miter lim="800000"/>
            <a:headEnd/>
            <a:tailEnd/>
          </a:ln>
        </p:spPr>
        <p:txBody>
          <a:bodyPr wrap="none">
            <a:spAutoFit/>
          </a:bodyPr>
          <a:lstStyle/>
          <a:p>
            <a:r>
              <a:rPr lang="zh-CN" altLang="en-US" sz="2400" b="1" u="sng" dirty="0">
                <a:solidFill>
                  <a:schemeClr val="bg1"/>
                </a:solidFill>
                <a:latin typeface="华文中宋" pitchFamily="2" charset="-122"/>
                <a:ea typeface="华文中宋" pitchFamily="2" charset="-122"/>
              </a:rPr>
              <a:t>平衡统计力学</a:t>
            </a:r>
            <a:r>
              <a:rPr lang="zh-CN" altLang="en-US" sz="2400" b="1" dirty="0">
                <a:solidFill>
                  <a:schemeClr val="bg1"/>
                </a:solidFill>
                <a:latin typeface="华文中宋" pitchFamily="2" charset="-122"/>
                <a:ea typeface="华文中宋" pitchFamily="2" charset="-122"/>
              </a:rPr>
              <a:t>：相对比较成熟，研究问题与</a:t>
            </a:r>
          </a:p>
          <a:p>
            <a:r>
              <a:rPr lang="zh-CN" altLang="en-US" sz="2400" b="1" dirty="0">
                <a:solidFill>
                  <a:schemeClr val="bg1"/>
                </a:solidFill>
                <a:latin typeface="华文中宋" pitchFamily="2" charset="-122"/>
                <a:ea typeface="华文中宋" pitchFamily="2" charset="-122"/>
              </a:rPr>
              <a:t>平衡热力学相当，通常叫统计热力学</a:t>
            </a:r>
          </a:p>
        </p:txBody>
      </p:sp>
      <p:sp>
        <p:nvSpPr>
          <p:cNvPr id="14347" name="Text Box 11"/>
          <p:cNvSpPr txBox="1">
            <a:spLocks noChangeArrowheads="1"/>
          </p:cNvSpPr>
          <p:nvPr/>
        </p:nvSpPr>
        <p:spPr bwMode="auto">
          <a:xfrm>
            <a:off x="2895600" y="5365750"/>
            <a:ext cx="6436377" cy="1200329"/>
          </a:xfrm>
          <a:prstGeom prst="rect">
            <a:avLst/>
          </a:prstGeom>
          <a:noFill/>
          <a:ln w="9525">
            <a:noFill/>
            <a:miter lim="800000"/>
            <a:headEnd/>
            <a:tailEnd/>
          </a:ln>
        </p:spPr>
        <p:txBody>
          <a:bodyPr wrap="none">
            <a:spAutoFit/>
          </a:bodyPr>
          <a:lstStyle/>
          <a:p>
            <a:r>
              <a:rPr lang="zh-CN" altLang="en-US" sz="2400" b="1" u="sng" dirty="0">
                <a:solidFill>
                  <a:schemeClr val="bg1"/>
                </a:solidFill>
                <a:latin typeface="Times New Roman" pitchFamily="18" charset="0"/>
                <a:ea typeface="华文中宋" pitchFamily="2" charset="-122"/>
                <a:cs typeface="Times New Roman" pitchFamily="18" charset="0"/>
              </a:rPr>
              <a:t>非平衡统计力学</a:t>
            </a:r>
            <a:r>
              <a:rPr lang="zh-CN" altLang="en-US" sz="2400" b="1" dirty="0">
                <a:solidFill>
                  <a:schemeClr val="bg1"/>
                </a:solidFill>
                <a:latin typeface="Times New Roman" pitchFamily="18" charset="0"/>
                <a:ea typeface="华文中宋" pitchFamily="2" charset="-122"/>
                <a:cs typeface="Times New Roman" pitchFamily="18" charset="0"/>
              </a:rPr>
              <a:t>：源于分子运动论，由</a:t>
            </a:r>
          </a:p>
          <a:p>
            <a:r>
              <a:rPr lang="en-US" altLang="zh-CN" sz="2400" b="1" dirty="0">
                <a:solidFill>
                  <a:schemeClr val="bg1"/>
                </a:solidFill>
                <a:latin typeface="Times New Roman" pitchFamily="18" charset="0"/>
                <a:ea typeface="华文中宋" pitchFamily="2" charset="-122"/>
                <a:cs typeface="Times New Roman" pitchFamily="18" charset="0"/>
              </a:rPr>
              <a:t>Boltzmann</a:t>
            </a:r>
            <a:r>
              <a:rPr lang="zh-CN" altLang="en-US" sz="2400" b="1" dirty="0">
                <a:solidFill>
                  <a:schemeClr val="bg1"/>
                </a:solidFill>
                <a:latin typeface="Times New Roman" pitchFamily="18" charset="0"/>
                <a:ea typeface="华文中宋" pitchFamily="2" charset="-122"/>
                <a:cs typeface="Times New Roman" pitchFamily="18" charset="0"/>
              </a:rPr>
              <a:t>方程可导出各种输运系数，热力学</a:t>
            </a:r>
          </a:p>
          <a:p>
            <a:r>
              <a:rPr lang="zh-CN" altLang="en-US" sz="2400" b="1" dirty="0">
                <a:solidFill>
                  <a:schemeClr val="bg1"/>
                </a:solidFill>
                <a:latin typeface="Times New Roman" pitchFamily="18" charset="0"/>
                <a:ea typeface="华文中宋" pitchFamily="2" charset="-122"/>
                <a:cs typeface="Times New Roman" pitchFamily="18" charset="0"/>
              </a:rPr>
              <a:t>熵增的统计解释。近年来随机方法发展很快。</a:t>
            </a:r>
          </a:p>
        </p:txBody>
      </p:sp>
      <p:grpSp>
        <p:nvGrpSpPr>
          <p:cNvPr id="2" name="Group 15"/>
          <p:cNvGrpSpPr>
            <a:grpSpLocks/>
          </p:cNvGrpSpPr>
          <p:nvPr/>
        </p:nvGrpSpPr>
        <p:grpSpPr bwMode="auto">
          <a:xfrm>
            <a:off x="762000" y="1447800"/>
            <a:ext cx="4308475" cy="1752600"/>
            <a:chOff x="480" y="912"/>
            <a:chExt cx="2714" cy="1104"/>
          </a:xfrm>
        </p:grpSpPr>
        <p:sp>
          <p:nvSpPr>
            <p:cNvPr id="59405" name="Text Box 5"/>
            <p:cNvSpPr txBox="1">
              <a:spLocks noChangeArrowheads="1"/>
            </p:cNvSpPr>
            <p:nvPr/>
          </p:nvSpPr>
          <p:spPr bwMode="auto">
            <a:xfrm>
              <a:off x="480" y="1232"/>
              <a:ext cx="1280" cy="523"/>
            </a:xfrm>
            <a:prstGeom prst="rect">
              <a:avLst/>
            </a:prstGeom>
            <a:noFill/>
            <a:ln w="9525">
              <a:noFill/>
              <a:miter lim="800000"/>
              <a:headEnd/>
              <a:tailEnd/>
            </a:ln>
          </p:spPr>
          <p:txBody>
            <a:bodyPr wrap="none">
              <a:spAutoFit/>
            </a:bodyPr>
            <a:lstStyle/>
            <a:p>
              <a:r>
                <a:rPr lang="zh-CN" altLang="en-US" sz="2400" b="1" dirty="0">
                  <a:solidFill>
                    <a:srgbClr val="D2DC08"/>
                  </a:solidFill>
                  <a:latin typeface="华文中宋" pitchFamily="2" charset="-122"/>
                  <a:ea typeface="华文中宋" pitchFamily="2" charset="-122"/>
                </a:rPr>
                <a:t>按单个粒子遵</a:t>
              </a:r>
            </a:p>
            <a:p>
              <a:r>
                <a:rPr lang="zh-CN" altLang="en-US" sz="2400" b="1" dirty="0">
                  <a:solidFill>
                    <a:srgbClr val="D2DC08"/>
                  </a:solidFill>
                  <a:latin typeface="华文中宋" pitchFamily="2" charset="-122"/>
                  <a:ea typeface="华文中宋" pitchFamily="2" charset="-122"/>
                </a:rPr>
                <a:t>循的力学规律</a:t>
              </a:r>
            </a:p>
          </p:txBody>
        </p:sp>
        <p:sp>
          <p:nvSpPr>
            <p:cNvPr id="59406" name="Text Box 7"/>
            <p:cNvSpPr txBox="1">
              <a:spLocks noChangeArrowheads="1"/>
            </p:cNvSpPr>
            <p:nvPr/>
          </p:nvSpPr>
          <p:spPr bwMode="auto">
            <a:xfrm>
              <a:off x="1920" y="912"/>
              <a:ext cx="1274" cy="288"/>
            </a:xfrm>
            <a:prstGeom prst="rect">
              <a:avLst/>
            </a:prstGeom>
            <a:noFill/>
            <a:ln w="9525">
              <a:noFill/>
              <a:miter lim="800000"/>
              <a:headEnd/>
              <a:tailEnd/>
            </a:ln>
          </p:spPr>
          <p:txBody>
            <a:bodyPr wrap="none">
              <a:spAutoFit/>
            </a:bodyPr>
            <a:lstStyle/>
            <a:p>
              <a:r>
                <a:rPr lang="zh-CN" altLang="en-US" sz="2400" b="1">
                  <a:solidFill>
                    <a:schemeClr val="bg1"/>
                  </a:solidFill>
                  <a:latin typeface="华文中宋" pitchFamily="2" charset="-122"/>
                  <a:ea typeface="华文中宋" pitchFamily="2" charset="-122"/>
                </a:rPr>
                <a:t>经典力学系统</a:t>
              </a:r>
            </a:p>
          </p:txBody>
        </p:sp>
        <p:sp>
          <p:nvSpPr>
            <p:cNvPr id="59407" name="Text Box 8"/>
            <p:cNvSpPr txBox="1">
              <a:spLocks noChangeArrowheads="1"/>
            </p:cNvSpPr>
            <p:nvPr/>
          </p:nvSpPr>
          <p:spPr bwMode="auto">
            <a:xfrm>
              <a:off x="1900" y="1728"/>
              <a:ext cx="1274" cy="288"/>
            </a:xfrm>
            <a:prstGeom prst="rect">
              <a:avLst/>
            </a:prstGeom>
            <a:noFill/>
            <a:ln w="9525">
              <a:noFill/>
              <a:miter lim="800000"/>
              <a:headEnd/>
              <a:tailEnd/>
            </a:ln>
          </p:spPr>
          <p:txBody>
            <a:bodyPr wrap="none">
              <a:spAutoFit/>
            </a:bodyPr>
            <a:lstStyle/>
            <a:p>
              <a:r>
                <a:rPr lang="zh-CN" altLang="en-US" sz="2400" b="1">
                  <a:solidFill>
                    <a:schemeClr val="bg1"/>
                  </a:solidFill>
                  <a:latin typeface="华文中宋" pitchFamily="2" charset="-122"/>
                  <a:ea typeface="华文中宋" pitchFamily="2" charset="-122"/>
                </a:rPr>
                <a:t>量子力学系统</a:t>
              </a:r>
            </a:p>
          </p:txBody>
        </p:sp>
        <p:sp>
          <p:nvSpPr>
            <p:cNvPr id="59408" name="AutoShape 12"/>
            <p:cNvSpPr>
              <a:spLocks/>
            </p:cNvSpPr>
            <p:nvPr/>
          </p:nvSpPr>
          <p:spPr bwMode="auto">
            <a:xfrm>
              <a:off x="1728" y="1056"/>
              <a:ext cx="240" cy="816"/>
            </a:xfrm>
            <a:prstGeom prst="leftBrace">
              <a:avLst>
                <a:gd name="adj1" fmla="val 28333"/>
                <a:gd name="adj2" fmla="val 50000"/>
              </a:avLst>
            </a:prstGeom>
            <a:noFill/>
            <a:ln w="28575">
              <a:solidFill>
                <a:schemeClr val="tx2"/>
              </a:solidFill>
              <a:round/>
              <a:headEnd/>
              <a:tailEnd/>
            </a:ln>
          </p:spPr>
          <p:txBody>
            <a:bodyPr wrap="none" anchor="ctr"/>
            <a:lstStyle/>
            <a:p>
              <a:endParaRPr lang="zh-CN" altLang="en-US" b="1">
                <a:latin typeface="华文中宋" pitchFamily="2" charset="-122"/>
                <a:ea typeface="华文中宋" pitchFamily="2" charset="-122"/>
              </a:endParaRPr>
            </a:p>
          </p:txBody>
        </p:sp>
      </p:grpSp>
      <p:sp>
        <p:nvSpPr>
          <p:cNvPr id="14349" name="AutoShape 13"/>
          <p:cNvSpPr>
            <a:spLocks/>
          </p:cNvSpPr>
          <p:nvPr/>
        </p:nvSpPr>
        <p:spPr bwMode="auto">
          <a:xfrm>
            <a:off x="2667000" y="4114800"/>
            <a:ext cx="228600" cy="1676400"/>
          </a:xfrm>
          <a:prstGeom prst="leftBrace">
            <a:avLst>
              <a:gd name="adj1" fmla="val 61111"/>
              <a:gd name="adj2" fmla="val 50000"/>
            </a:avLst>
          </a:prstGeom>
          <a:noFill/>
          <a:ln w="28575">
            <a:solidFill>
              <a:schemeClr val="tx2"/>
            </a:solidFill>
            <a:round/>
            <a:headEnd/>
            <a:tailEnd/>
          </a:ln>
        </p:spPr>
        <p:txBody>
          <a:bodyPr wrap="none" anchor="ctr"/>
          <a:lstStyle/>
          <a:p>
            <a:endParaRPr lang="zh-CN" altLang="en-US" b="1">
              <a:latin typeface="华文中宋" pitchFamily="2" charset="-122"/>
              <a:ea typeface="华文中宋" pitchFamily="2" charset="-122"/>
            </a:endParaRPr>
          </a:p>
        </p:txBody>
      </p:sp>
      <p:grpSp>
        <p:nvGrpSpPr>
          <p:cNvPr id="3" name="Group 16"/>
          <p:cNvGrpSpPr>
            <a:grpSpLocks/>
          </p:cNvGrpSpPr>
          <p:nvPr/>
        </p:nvGrpSpPr>
        <p:grpSpPr bwMode="auto">
          <a:xfrm>
            <a:off x="4994276" y="1600201"/>
            <a:ext cx="4151313" cy="1570038"/>
            <a:chOff x="3168" y="1008"/>
            <a:chExt cx="2615" cy="989"/>
          </a:xfrm>
        </p:grpSpPr>
        <p:sp>
          <p:nvSpPr>
            <p:cNvPr id="59403" name="Text Box 9"/>
            <p:cNvSpPr txBox="1">
              <a:spLocks noChangeArrowheads="1"/>
            </p:cNvSpPr>
            <p:nvPr/>
          </p:nvSpPr>
          <p:spPr bwMode="auto">
            <a:xfrm>
              <a:off x="3340" y="1008"/>
              <a:ext cx="2443" cy="989"/>
            </a:xfrm>
            <a:prstGeom prst="rect">
              <a:avLst/>
            </a:prstGeom>
            <a:noFill/>
            <a:ln w="9525">
              <a:noFill/>
              <a:miter lim="800000"/>
              <a:headEnd/>
              <a:tailEnd/>
            </a:ln>
          </p:spPr>
          <p:txBody>
            <a:bodyPr wrap="none">
              <a:spAutoFit/>
            </a:bodyPr>
            <a:lstStyle/>
            <a:p>
              <a:r>
                <a:rPr lang="zh-CN" altLang="en-US" sz="2400" b="1">
                  <a:solidFill>
                    <a:schemeClr val="bg1"/>
                  </a:solidFill>
                  <a:latin typeface="华文中宋" pitchFamily="2" charset="-122"/>
                  <a:ea typeface="华文中宋" pitchFamily="2" charset="-122"/>
                </a:rPr>
                <a:t>差别在于对微观运动状态的</a:t>
              </a:r>
            </a:p>
            <a:p>
              <a:r>
                <a:rPr lang="zh-CN" altLang="en-US" sz="2400" b="1">
                  <a:solidFill>
                    <a:schemeClr val="bg1"/>
                  </a:solidFill>
                  <a:latin typeface="华文中宋" pitchFamily="2" charset="-122"/>
                  <a:ea typeface="华文中宋" pitchFamily="2" charset="-122"/>
                </a:rPr>
                <a:t>描述，而不在于统计原理；</a:t>
              </a:r>
            </a:p>
            <a:p>
              <a:r>
                <a:rPr lang="zh-CN" altLang="en-US" sz="2400" b="1">
                  <a:solidFill>
                    <a:schemeClr val="bg1"/>
                  </a:solidFill>
                  <a:latin typeface="华文中宋" pitchFamily="2" charset="-122"/>
                  <a:ea typeface="华文中宋" pitchFamily="2" charset="-122"/>
                </a:rPr>
                <a:t>经典统计力学方法依然对学</a:t>
              </a:r>
            </a:p>
            <a:p>
              <a:r>
                <a:rPr lang="zh-CN" altLang="en-US" sz="2400" b="1">
                  <a:solidFill>
                    <a:schemeClr val="bg1"/>
                  </a:solidFill>
                  <a:latin typeface="华文中宋" pitchFamily="2" charset="-122"/>
                  <a:ea typeface="华文中宋" pitchFamily="2" charset="-122"/>
                </a:rPr>
                <a:t>习量子统计有意义。</a:t>
              </a:r>
            </a:p>
          </p:txBody>
        </p:sp>
        <p:sp>
          <p:nvSpPr>
            <p:cNvPr id="59404" name="AutoShape 14"/>
            <p:cNvSpPr>
              <a:spLocks/>
            </p:cNvSpPr>
            <p:nvPr/>
          </p:nvSpPr>
          <p:spPr bwMode="auto">
            <a:xfrm>
              <a:off x="3168" y="1056"/>
              <a:ext cx="144" cy="864"/>
            </a:xfrm>
            <a:prstGeom prst="rightBrace">
              <a:avLst>
                <a:gd name="adj1" fmla="val 50000"/>
                <a:gd name="adj2" fmla="val 50000"/>
              </a:avLst>
            </a:prstGeom>
            <a:noFill/>
            <a:ln w="28575">
              <a:solidFill>
                <a:schemeClr val="tx2"/>
              </a:solidFill>
              <a:round/>
              <a:headEnd/>
              <a:tailEnd/>
            </a:ln>
          </p:spPr>
          <p:txBody>
            <a:bodyPr wrap="none" anchor="ctr"/>
            <a:lstStyle/>
            <a:p>
              <a:endParaRPr lang="zh-CN" altLang="en-US" b="1">
                <a:latin typeface="华文中宋" pitchFamily="2" charset="-122"/>
                <a:ea typeface="华文中宋" pitchFamily="2" charset="-122"/>
              </a:endParaRPr>
            </a:p>
          </p:txBody>
        </p:sp>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342"/>
                                        </p:tgtEl>
                                        <p:attrNameLst>
                                          <p:attrName>style.visibility</p:attrName>
                                        </p:attrNameLst>
                                      </p:cBhvr>
                                      <p:to>
                                        <p:strVal val="visible"/>
                                      </p:to>
                                    </p:set>
                                    <p:animEffect transition="in" filter="dissolve">
                                      <p:cBhvr>
                                        <p:cTn id="17" dur="500"/>
                                        <p:tgtEl>
                                          <p:spTgt spid="14342"/>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14349"/>
                                        </p:tgtEl>
                                        <p:attrNameLst>
                                          <p:attrName>style.visibility</p:attrName>
                                        </p:attrNameLst>
                                      </p:cBhvr>
                                      <p:to>
                                        <p:strVal val="visible"/>
                                      </p:to>
                                    </p:set>
                                    <p:animEffect transition="in" filter="dissolve">
                                      <p:cBhvr>
                                        <p:cTn id="21" dur="500"/>
                                        <p:tgtEl>
                                          <p:spTgt spid="14349"/>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4346"/>
                                        </p:tgtEl>
                                        <p:attrNameLst>
                                          <p:attrName>style.visibility</p:attrName>
                                        </p:attrNameLst>
                                      </p:cBhvr>
                                      <p:to>
                                        <p:strVal val="visible"/>
                                      </p:to>
                                    </p:set>
                                    <p:animEffect transition="in" filter="dissolve">
                                      <p:cBhvr>
                                        <p:cTn id="26" dur="500"/>
                                        <p:tgtEl>
                                          <p:spTgt spid="14346"/>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4347"/>
                                        </p:tgtEl>
                                        <p:attrNameLst>
                                          <p:attrName>style.visibility</p:attrName>
                                        </p:attrNameLst>
                                      </p:cBhvr>
                                      <p:to>
                                        <p:strVal val="visible"/>
                                      </p:to>
                                    </p:set>
                                    <p:animEffect transition="in" filter="dissolve">
                                      <p:cBhvr>
                                        <p:cTn id="31" dur="500"/>
                                        <p:tgtEl>
                                          <p:spTgt spid="143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2" grpId="0" autoUpdateAnimBg="0"/>
      <p:bldP spid="14346" grpId="0" autoUpdateAnimBg="0"/>
      <p:bldP spid="14347" grpId="0" autoUpdateAnimBg="0"/>
      <p:bldP spid="1434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灯片编号占位符 5"/>
          <p:cNvSpPr>
            <a:spLocks noGrp="1"/>
          </p:cNvSpPr>
          <p:nvPr>
            <p:ph type="sldNum" sz="quarter" idx="12"/>
          </p:nvPr>
        </p:nvSpPr>
        <p:spPr>
          <a:noFill/>
        </p:spPr>
        <p:txBody>
          <a:bodyPr/>
          <a:lstStyle/>
          <a:p>
            <a:fld id="{29BD7724-20CD-48BD-B887-57A0C52BFC35}" type="slidenum">
              <a:rPr lang="en-US" altLang="zh-CN" b="1" smtClean="0">
                <a:latin typeface="华文中宋" pitchFamily="2" charset="-122"/>
                <a:ea typeface="华文中宋" pitchFamily="2" charset="-122"/>
              </a:rPr>
              <a:pPr/>
              <a:t>8</a:t>
            </a:fld>
            <a:endParaRPr lang="en-US" altLang="zh-CN" b="1" smtClean="0">
              <a:latin typeface="华文中宋" pitchFamily="2" charset="-122"/>
              <a:ea typeface="华文中宋" pitchFamily="2" charset="-122"/>
            </a:endParaRPr>
          </a:p>
        </p:txBody>
      </p:sp>
      <p:sp>
        <p:nvSpPr>
          <p:cNvPr id="2053" name="Rectangle 2"/>
          <p:cNvSpPr>
            <a:spLocks noGrp="1" noRot="1" noChangeArrowheads="1"/>
          </p:cNvSpPr>
          <p:nvPr>
            <p:ph type="title"/>
          </p:nvPr>
        </p:nvSpPr>
        <p:spPr/>
        <p:txBody>
          <a:bodyPr/>
          <a:lstStyle/>
          <a:p>
            <a:pPr eaLnBrk="1" hangingPunct="1"/>
            <a:r>
              <a:rPr lang="zh-CN" altLang="en-US" dirty="0" smtClean="0">
                <a:solidFill>
                  <a:srgbClr val="FFFF00"/>
                </a:solidFill>
                <a:latin typeface="黑体" pitchFamily="49" charset="-122"/>
                <a:ea typeface="黑体" pitchFamily="49" charset="-122"/>
              </a:rPr>
              <a:t>统计方法与统计系统的分类</a:t>
            </a:r>
          </a:p>
        </p:txBody>
      </p:sp>
      <p:sp>
        <p:nvSpPr>
          <p:cNvPr id="2054" name="Text Box 4"/>
          <p:cNvSpPr txBox="1">
            <a:spLocks noChangeArrowheads="1"/>
          </p:cNvSpPr>
          <p:nvPr/>
        </p:nvSpPr>
        <p:spPr bwMode="auto">
          <a:xfrm>
            <a:off x="6357938" y="0"/>
            <a:ext cx="2932213" cy="461665"/>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r>
              <a:rPr kumimoji="1" lang="en-US" altLang="zh-CN" sz="2400" b="1">
                <a:solidFill>
                  <a:schemeClr val="bg1"/>
                </a:solidFill>
                <a:latin typeface="华文中宋" pitchFamily="2" charset="-122"/>
                <a:ea typeface="华文中宋" pitchFamily="2" charset="-122"/>
              </a:rPr>
              <a:t>   </a:t>
            </a:r>
            <a:r>
              <a:rPr kumimoji="1" lang="zh-CN" altLang="en-US" sz="2400" b="1">
                <a:solidFill>
                  <a:schemeClr val="bg1"/>
                </a:solidFill>
                <a:latin typeface="华文中宋" pitchFamily="2" charset="-122"/>
                <a:ea typeface="华文中宋" pitchFamily="2" charset="-122"/>
              </a:rPr>
              <a:t>统计热力学概论   </a:t>
            </a:r>
          </a:p>
        </p:txBody>
      </p:sp>
      <p:grpSp>
        <p:nvGrpSpPr>
          <p:cNvPr id="2" name="Group 37"/>
          <p:cNvGrpSpPr>
            <a:grpSpLocks/>
          </p:cNvGrpSpPr>
          <p:nvPr/>
        </p:nvGrpSpPr>
        <p:grpSpPr bwMode="auto">
          <a:xfrm>
            <a:off x="762000" y="1371600"/>
            <a:ext cx="4144963" cy="2217738"/>
            <a:chOff x="480" y="864"/>
            <a:chExt cx="2611" cy="1397"/>
          </a:xfrm>
        </p:grpSpPr>
        <p:sp>
          <p:nvSpPr>
            <p:cNvPr id="2078" name="Text Box 5"/>
            <p:cNvSpPr txBox="1">
              <a:spLocks noChangeArrowheads="1"/>
            </p:cNvSpPr>
            <p:nvPr/>
          </p:nvSpPr>
          <p:spPr bwMode="auto">
            <a:xfrm>
              <a:off x="480" y="1306"/>
              <a:ext cx="1086" cy="523"/>
            </a:xfrm>
            <a:prstGeom prst="rect">
              <a:avLst/>
            </a:prstGeom>
            <a:noFill/>
            <a:ln w="9525">
              <a:noFill/>
              <a:miter lim="800000"/>
              <a:headEnd/>
              <a:tailEnd/>
            </a:ln>
          </p:spPr>
          <p:txBody>
            <a:bodyPr wrap="none">
              <a:spAutoFit/>
            </a:bodyPr>
            <a:lstStyle/>
            <a:p>
              <a:r>
                <a:rPr lang="zh-CN" altLang="en-US" sz="2400" b="1">
                  <a:solidFill>
                    <a:srgbClr val="D2DC08"/>
                  </a:solidFill>
                  <a:latin typeface="华文中宋" pitchFamily="2" charset="-122"/>
                  <a:ea typeface="华文中宋" pitchFamily="2" charset="-122"/>
                </a:rPr>
                <a:t>粒子之间的</a:t>
              </a:r>
            </a:p>
            <a:p>
              <a:r>
                <a:rPr lang="zh-CN" altLang="en-US" sz="2400" b="1">
                  <a:solidFill>
                    <a:srgbClr val="D2DC08"/>
                  </a:solidFill>
                  <a:latin typeface="华文中宋" pitchFamily="2" charset="-122"/>
                  <a:ea typeface="华文中宋" pitchFamily="2" charset="-122"/>
                </a:rPr>
                <a:t>相互作用 </a:t>
              </a:r>
            </a:p>
          </p:txBody>
        </p:sp>
        <p:sp>
          <p:nvSpPr>
            <p:cNvPr id="2079" name="Text Box 6"/>
            <p:cNvSpPr txBox="1">
              <a:spLocks noChangeArrowheads="1"/>
            </p:cNvSpPr>
            <p:nvPr/>
          </p:nvSpPr>
          <p:spPr bwMode="auto">
            <a:xfrm>
              <a:off x="1632" y="864"/>
              <a:ext cx="1178" cy="288"/>
            </a:xfrm>
            <a:prstGeom prst="rect">
              <a:avLst/>
            </a:prstGeom>
            <a:noFill/>
            <a:ln w="9525">
              <a:noFill/>
              <a:miter lim="800000"/>
              <a:headEnd/>
              <a:tailEnd/>
            </a:ln>
          </p:spPr>
          <p:txBody>
            <a:bodyPr wrap="none">
              <a:spAutoFit/>
            </a:bodyPr>
            <a:lstStyle/>
            <a:p>
              <a:r>
                <a:rPr lang="zh-CN" altLang="en-US" sz="2400" b="1">
                  <a:solidFill>
                    <a:schemeClr val="bg1"/>
                  </a:solidFill>
                  <a:latin typeface="华文中宋" pitchFamily="2" charset="-122"/>
                  <a:ea typeface="华文中宋" pitchFamily="2" charset="-122"/>
                </a:rPr>
                <a:t>独立子体系 </a:t>
              </a:r>
            </a:p>
          </p:txBody>
        </p:sp>
        <p:sp>
          <p:nvSpPr>
            <p:cNvPr id="2080" name="Text Box 7"/>
            <p:cNvSpPr txBox="1">
              <a:spLocks noChangeArrowheads="1"/>
            </p:cNvSpPr>
            <p:nvPr/>
          </p:nvSpPr>
          <p:spPr bwMode="auto">
            <a:xfrm>
              <a:off x="1632" y="1738"/>
              <a:ext cx="1459" cy="523"/>
            </a:xfrm>
            <a:prstGeom prst="rect">
              <a:avLst/>
            </a:prstGeom>
            <a:noFill/>
            <a:ln w="9525">
              <a:noFill/>
              <a:miter lim="800000"/>
              <a:headEnd/>
              <a:tailEnd/>
            </a:ln>
          </p:spPr>
          <p:txBody>
            <a:bodyPr wrap="none">
              <a:spAutoFit/>
            </a:bodyPr>
            <a:lstStyle/>
            <a:p>
              <a:r>
                <a:rPr lang="zh-CN" altLang="en-US" sz="2400" b="1">
                  <a:solidFill>
                    <a:schemeClr val="bg1"/>
                  </a:solidFill>
                  <a:latin typeface="华文中宋" pitchFamily="2" charset="-122"/>
                  <a:ea typeface="华文中宋" pitchFamily="2" charset="-122"/>
                </a:rPr>
                <a:t>非独立子体系</a:t>
              </a:r>
            </a:p>
            <a:p>
              <a:r>
                <a:rPr lang="en-US" altLang="zh-CN" sz="2400" b="1">
                  <a:solidFill>
                    <a:schemeClr val="bg1"/>
                  </a:solidFill>
                  <a:latin typeface="华文中宋" pitchFamily="2" charset="-122"/>
                  <a:ea typeface="华文中宋" pitchFamily="2" charset="-122"/>
                </a:rPr>
                <a:t>(</a:t>
              </a:r>
              <a:r>
                <a:rPr lang="zh-CN" altLang="en-US" sz="2400" b="1">
                  <a:solidFill>
                    <a:schemeClr val="bg1"/>
                  </a:solidFill>
                  <a:latin typeface="华文中宋" pitchFamily="2" charset="-122"/>
                  <a:ea typeface="华文中宋" pitchFamily="2" charset="-122"/>
                </a:rPr>
                <a:t>或相依子体系</a:t>
              </a:r>
              <a:r>
                <a:rPr lang="en-US" altLang="zh-CN" sz="2400" b="1">
                  <a:solidFill>
                    <a:schemeClr val="bg1"/>
                  </a:solidFill>
                  <a:latin typeface="华文中宋" pitchFamily="2" charset="-122"/>
                  <a:ea typeface="华文中宋" pitchFamily="2" charset="-122"/>
                </a:rPr>
                <a:t>) </a:t>
              </a:r>
            </a:p>
          </p:txBody>
        </p:sp>
        <p:sp>
          <p:nvSpPr>
            <p:cNvPr id="2081" name="AutoShape 14"/>
            <p:cNvSpPr>
              <a:spLocks/>
            </p:cNvSpPr>
            <p:nvPr/>
          </p:nvSpPr>
          <p:spPr bwMode="auto">
            <a:xfrm>
              <a:off x="1536" y="1056"/>
              <a:ext cx="144" cy="912"/>
            </a:xfrm>
            <a:prstGeom prst="leftBrace">
              <a:avLst>
                <a:gd name="adj1" fmla="val 52778"/>
                <a:gd name="adj2" fmla="val 50000"/>
              </a:avLst>
            </a:prstGeom>
            <a:noFill/>
            <a:ln w="28575">
              <a:solidFill>
                <a:schemeClr val="tx2"/>
              </a:solidFill>
              <a:round/>
              <a:headEnd/>
              <a:tailEnd/>
            </a:ln>
          </p:spPr>
          <p:txBody>
            <a:bodyPr wrap="none" anchor="ctr"/>
            <a:lstStyle/>
            <a:p>
              <a:endParaRPr lang="zh-CN" altLang="en-US" b="1">
                <a:latin typeface="华文中宋" pitchFamily="2" charset="-122"/>
                <a:ea typeface="华文中宋" pitchFamily="2" charset="-122"/>
              </a:endParaRPr>
            </a:p>
          </p:txBody>
        </p:sp>
      </p:grpSp>
      <p:grpSp>
        <p:nvGrpSpPr>
          <p:cNvPr id="3" name="Group 38"/>
          <p:cNvGrpSpPr>
            <a:grpSpLocks/>
          </p:cNvGrpSpPr>
          <p:nvPr/>
        </p:nvGrpSpPr>
        <p:grpSpPr bwMode="auto">
          <a:xfrm>
            <a:off x="4267200" y="1219200"/>
            <a:ext cx="1881188" cy="854075"/>
            <a:chOff x="2688" y="768"/>
            <a:chExt cx="1185" cy="538"/>
          </a:xfrm>
        </p:grpSpPr>
        <p:graphicFrame>
          <p:nvGraphicFramePr>
            <p:cNvPr id="2051" name="Object 8"/>
            <p:cNvGraphicFramePr>
              <a:graphicFrameLocks noChangeAspect="1"/>
            </p:cNvGraphicFramePr>
            <p:nvPr/>
          </p:nvGraphicFramePr>
          <p:xfrm>
            <a:off x="3120" y="768"/>
            <a:ext cx="753" cy="538"/>
          </p:xfrm>
          <a:graphic>
            <a:graphicData uri="http://schemas.openxmlformats.org/presentationml/2006/ole">
              <p:oleObj spid="_x0000_s2051" r:id="rId3" imgW="596900" imgH="431800" progId="Equation.DSMT4">
                <p:embed/>
              </p:oleObj>
            </a:graphicData>
          </a:graphic>
        </p:graphicFrame>
        <p:sp>
          <p:nvSpPr>
            <p:cNvPr id="2077" name="Line 15"/>
            <p:cNvSpPr>
              <a:spLocks noChangeShapeType="1"/>
            </p:cNvSpPr>
            <p:nvPr/>
          </p:nvSpPr>
          <p:spPr bwMode="auto">
            <a:xfrm>
              <a:off x="2688" y="1008"/>
              <a:ext cx="432" cy="0"/>
            </a:xfrm>
            <a:prstGeom prst="line">
              <a:avLst/>
            </a:prstGeom>
            <a:noFill/>
            <a:ln w="38100">
              <a:solidFill>
                <a:schemeClr val="tx2"/>
              </a:solidFill>
              <a:round/>
              <a:headEnd/>
              <a:tailEnd/>
            </a:ln>
          </p:spPr>
          <p:txBody>
            <a:bodyPr wrap="none"/>
            <a:lstStyle/>
            <a:p>
              <a:endParaRPr lang="zh-CN" altLang="en-US" b="1">
                <a:latin typeface="华文中宋" pitchFamily="2" charset="-122"/>
                <a:ea typeface="华文中宋" pitchFamily="2" charset="-122"/>
              </a:endParaRPr>
            </a:p>
          </p:txBody>
        </p:sp>
      </p:grpSp>
      <p:grpSp>
        <p:nvGrpSpPr>
          <p:cNvPr id="4" name="Group 39"/>
          <p:cNvGrpSpPr>
            <a:grpSpLocks/>
          </p:cNvGrpSpPr>
          <p:nvPr/>
        </p:nvGrpSpPr>
        <p:grpSpPr bwMode="auto">
          <a:xfrm>
            <a:off x="4648200" y="2647950"/>
            <a:ext cx="2074863" cy="857250"/>
            <a:chOff x="2928" y="1668"/>
            <a:chExt cx="1307" cy="540"/>
          </a:xfrm>
        </p:grpSpPr>
        <p:graphicFrame>
          <p:nvGraphicFramePr>
            <p:cNvPr id="2050" name="Object 10"/>
            <p:cNvGraphicFramePr>
              <a:graphicFrameLocks noChangeAspect="1"/>
            </p:cNvGraphicFramePr>
            <p:nvPr/>
          </p:nvGraphicFramePr>
          <p:xfrm>
            <a:off x="3120" y="1668"/>
            <a:ext cx="1115" cy="540"/>
          </p:xfrm>
          <a:graphic>
            <a:graphicData uri="http://schemas.openxmlformats.org/presentationml/2006/ole">
              <p:oleObj spid="_x0000_s2050" r:id="rId4" imgW="888614" imgH="431613" progId="Equation.DSMT4">
                <p:embed/>
              </p:oleObj>
            </a:graphicData>
          </a:graphic>
        </p:graphicFrame>
        <p:sp>
          <p:nvSpPr>
            <p:cNvPr id="2076" name="Line 16"/>
            <p:cNvSpPr>
              <a:spLocks noChangeShapeType="1"/>
            </p:cNvSpPr>
            <p:nvPr/>
          </p:nvSpPr>
          <p:spPr bwMode="auto">
            <a:xfrm>
              <a:off x="2928" y="1920"/>
              <a:ext cx="192" cy="0"/>
            </a:xfrm>
            <a:prstGeom prst="line">
              <a:avLst/>
            </a:prstGeom>
            <a:noFill/>
            <a:ln w="38100">
              <a:solidFill>
                <a:schemeClr val="tx2"/>
              </a:solidFill>
              <a:round/>
              <a:headEnd/>
              <a:tailEnd/>
            </a:ln>
          </p:spPr>
          <p:txBody>
            <a:bodyPr wrap="none"/>
            <a:lstStyle/>
            <a:p>
              <a:endParaRPr lang="zh-CN" altLang="en-US" b="1">
                <a:latin typeface="华文中宋" pitchFamily="2" charset="-122"/>
                <a:ea typeface="华文中宋" pitchFamily="2" charset="-122"/>
              </a:endParaRPr>
            </a:p>
          </p:txBody>
        </p:sp>
      </p:grpSp>
      <p:grpSp>
        <p:nvGrpSpPr>
          <p:cNvPr id="5" name="Group 44"/>
          <p:cNvGrpSpPr>
            <a:grpSpLocks/>
          </p:cNvGrpSpPr>
          <p:nvPr/>
        </p:nvGrpSpPr>
        <p:grpSpPr bwMode="auto">
          <a:xfrm>
            <a:off x="6172200" y="1371600"/>
            <a:ext cx="2895600" cy="457200"/>
            <a:chOff x="3888" y="864"/>
            <a:chExt cx="1824" cy="288"/>
          </a:xfrm>
        </p:grpSpPr>
        <p:sp>
          <p:nvSpPr>
            <p:cNvPr id="2074" name="Text Box 12"/>
            <p:cNvSpPr txBox="1">
              <a:spLocks noChangeArrowheads="1"/>
            </p:cNvSpPr>
            <p:nvPr/>
          </p:nvSpPr>
          <p:spPr bwMode="auto">
            <a:xfrm>
              <a:off x="4534" y="864"/>
              <a:ext cx="1178" cy="288"/>
            </a:xfrm>
            <a:prstGeom prst="rect">
              <a:avLst/>
            </a:prstGeom>
            <a:noFill/>
            <a:ln w="9525">
              <a:noFill/>
              <a:miter lim="800000"/>
              <a:headEnd/>
              <a:tailEnd/>
            </a:ln>
          </p:spPr>
          <p:txBody>
            <a:bodyPr wrap="none">
              <a:spAutoFit/>
            </a:bodyPr>
            <a:lstStyle/>
            <a:p>
              <a:r>
                <a:rPr lang="zh-CN" altLang="en-US" sz="2400" b="1">
                  <a:solidFill>
                    <a:schemeClr val="bg1"/>
                  </a:solidFill>
                  <a:latin typeface="华文中宋" pitchFamily="2" charset="-122"/>
                  <a:ea typeface="华文中宋" pitchFamily="2" charset="-122"/>
                </a:rPr>
                <a:t>最可几方法 </a:t>
              </a:r>
            </a:p>
          </p:txBody>
        </p:sp>
        <p:sp>
          <p:nvSpPr>
            <p:cNvPr id="2075" name="Line 17"/>
            <p:cNvSpPr>
              <a:spLocks noChangeShapeType="1"/>
            </p:cNvSpPr>
            <p:nvPr/>
          </p:nvSpPr>
          <p:spPr bwMode="auto">
            <a:xfrm>
              <a:off x="3888" y="1008"/>
              <a:ext cx="672" cy="0"/>
            </a:xfrm>
            <a:prstGeom prst="line">
              <a:avLst/>
            </a:prstGeom>
            <a:noFill/>
            <a:ln w="38100">
              <a:solidFill>
                <a:schemeClr val="tx2"/>
              </a:solidFill>
              <a:round/>
              <a:headEnd/>
              <a:tailEnd/>
            </a:ln>
          </p:spPr>
          <p:txBody>
            <a:bodyPr wrap="none"/>
            <a:lstStyle/>
            <a:p>
              <a:endParaRPr lang="zh-CN" altLang="en-US" b="1">
                <a:latin typeface="华文中宋" pitchFamily="2" charset="-122"/>
                <a:ea typeface="华文中宋" pitchFamily="2" charset="-122"/>
              </a:endParaRPr>
            </a:p>
          </p:txBody>
        </p:sp>
      </p:grpSp>
      <p:grpSp>
        <p:nvGrpSpPr>
          <p:cNvPr id="6" name="Group 40"/>
          <p:cNvGrpSpPr>
            <a:grpSpLocks/>
          </p:cNvGrpSpPr>
          <p:nvPr/>
        </p:nvGrpSpPr>
        <p:grpSpPr bwMode="auto">
          <a:xfrm>
            <a:off x="6172200" y="1676400"/>
            <a:ext cx="2590800" cy="1600200"/>
            <a:chOff x="3888" y="1056"/>
            <a:chExt cx="1632" cy="1008"/>
          </a:xfrm>
        </p:grpSpPr>
        <p:sp>
          <p:nvSpPr>
            <p:cNvPr id="2071" name="Text Box 13"/>
            <p:cNvSpPr txBox="1">
              <a:spLocks noChangeArrowheads="1"/>
            </p:cNvSpPr>
            <p:nvPr/>
          </p:nvSpPr>
          <p:spPr bwMode="auto">
            <a:xfrm>
              <a:off x="4535" y="1776"/>
              <a:ext cx="985" cy="288"/>
            </a:xfrm>
            <a:prstGeom prst="rect">
              <a:avLst/>
            </a:prstGeom>
            <a:noFill/>
            <a:ln w="9525">
              <a:noFill/>
              <a:miter lim="800000"/>
              <a:headEnd/>
              <a:tailEnd/>
            </a:ln>
          </p:spPr>
          <p:txBody>
            <a:bodyPr wrap="none">
              <a:spAutoFit/>
            </a:bodyPr>
            <a:lstStyle/>
            <a:p>
              <a:r>
                <a:rPr lang="zh-CN" altLang="en-US" sz="2400" b="1">
                  <a:solidFill>
                    <a:schemeClr val="bg1"/>
                  </a:solidFill>
                  <a:latin typeface="华文中宋" pitchFamily="2" charset="-122"/>
                  <a:ea typeface="华文中宋" pitchFamily="2" charset="-122"/>
                </a:rPr>
                <a:t>系综方法 </a:t>
              </a:r>
            </a:p>
          </p:txBody>
        </p:sp>
        <p:sp>
          <p:nvSpPr>
            <p:cNvPr id="2072" name="Line 18"/>
            <p:cNvSpPr>
              <a:spLocks noChangeShapeType="1"/>
            </p:cNvSpPr>
            <p:nvPr/>
          </p:nvSpPr>
          <p:spPr bwMode="auto">
            <a:xfrm>
              <a:off x="4224" y="1920"/>
              <a:ext cx="384" cy="0"/>
            </a:xfrm>
            <a:prstGeom prst="line">
              <a:avLst/>
            </a:prstGeom>
            <a:noFill/>
            <a:ln w="38100">
              <a:solidFill>
                <a:schemeClr val="tx2"/>
              </a:solidFill>
              <a:round/>
              <a:headEnd/>
              <a:tailEnd/>
            </a:ln>
          </p:spPr>
          <p:txBody>
            <a:bodyPr wrap="none"/>
            <a:lstStyle/>
            <a:p>
              <a:endParaRPr lang="zh-CN" altLang="en-US" b="1">
                <a:latin typeface="华文中宋" pitchFamily="2" charset="-122"/>
                <a:ea typeface="华文中宋" pitchFamily="2" charset="-122"/>
              </a:endParaRPr>
            </a:p>
          </p:txBody>
        </p:sp>
        <p:sp>
          <p:nvSpPr>
            <p:cNvPr id="2073" name="Line 19"/>
            <p:cNvSpPr>
              <a:spLocks noChangeShapeType="1"/>
            </p:cNvSpPr>
            <p:nvPr/>
          </p:nvSpPr>
          <p:spPr bwMode="auto">
            <a:xfrm>
              <a:off x="3888" y="1056"/>
              <a:ext cx="720" cy="864"/>
            </a:xfrm>
            <a:prstGeom prst="line">
              <a:avLst/>
            </a:prstGeom>
            <a:noFill/>
            <a:ln w="38100">
              <a:solidFill>
                <a:schemeClr val="tx2"/>
              </a:solidFill>
              <a:round/>
              <a:headEnd/>
              <a:tailEnd/>
            </a:ln>
          </p:spPr>
          <p:txBody>
            <a:bodyPr wrap="none"/>
            <a:lstStyle/>
            <a:p>
              <a:endParaRPr lang="zh-CN" altLang="en-US" b="1">
                <a:latin typeface="华文中宋" pitchFamily="2" charset="-122"/>
                <a:ea typeface="华文中宋" pitchFamily="2" charset="-122"/>
              </a:endParaRPr>
            </a:p>
          </p:txBody>
        </p:sp>
      </p:grpSp>
      <p:grpSp>
        <p:nvGrpSpPr>
          <p:cNvPr id="7" name="Group 41"/>
          <p:cNvGrpSpPr>
            <a:grpSpLocks/>
          </p:cNvGrpSpPr>
          <p:nvPr/>
        </p:nvGrpSpPr>
        <p:grpSpPr bwMode="auto">
          <a:xfrm>
            <a:off x="762000" y="3906838"/>
            <a:ext cx="3835400" cy="2036762"/>
            <a:chOff x="480" y="2461"/>
            <a:chExt cx="2416" cy="1283"/>
          </a:xfrm>
        </p:grpSpPr>
        <p:sp>
          <p:nvSpPr>
            <p:cNvPr id="2067" name="Text Box 20"/>
            <p:cNvSpPr txBox="1">
              <a:spLocks noChangeArrowheads="1"/>
            </p:cNvSpPr>
            <p:nvPr/>
          </p:nvSpPr>
          <p:spPr bwMode="auto">
            <a:xfrm>
              <a:off x="480" y="2986"/>
              <a:ext cx="1086" cy="523"/>
            </a:xfrm>
            <a:prstGeom prst="rect">
              <a:avLst/>
            </a:prstGeom>
            <a:noFill/>
            <a:ln w="9525">
              <a:noFill/>
              <a:miter lim="800000"/>
              <a:headEnd/>
              <a:tailEnd/>
            </a:ln>
          </p:spPr>
          <p:txBody>
            <a:bodyPr wrap="none">
              <a:spAutoFit/>
            </a:bodyPr>
            <a:lstStyle/>
            <a:p>
              <a:r>
                <a:rPr lang="zh-CN" altLang="en-US" sz="2400" b="1">
                  <a:solidFill>
                    <a:srgbClr val="D2DC08"/>
                  </a:solidFill>
                  <a:latin typeface="华文中宋" pitchFamily="2" charset="-122"/>
                  <a:ea typeface="华文中宋" pitchFamily="2" charset="-122"/>
                </a:rPr>
                <a:t>粒子的运动</a:t>
              </a:r>
            </a:p>
            <a:p>
              <a:r>
                <a:rPr lang="zh-CN" altLang="en-US" sz="2400" b="1">
                  <a:solidFill>
                    <a:srgbClr val="D2DC08"/>
                  </a:solidFill>
                  <a:latin typeface="华文中宋" pitchFamily="2" charset="-122"/>
                  <a:ea typeface="华文中宋" pitchFamily="2" charset="-122"/>
                </a:rPr>
                <a:t>特点 </a:t>
              </a:r>
            </a:p>
          </p:txBody>
        </p:sp>
        <p:sp>
          <p:nvSpPr>
            <p:cNvPr id="2068" name="Text Box 21"/>
            <p:cNvSpPr txBox="1">
              <a:spLocks noChangeArrowheads="1"/>
            </p:cNvSpPr>
            <p:nvPr/>
          </p:nvSpPr>
          <p:spPr bwMode="auto">
            <a:xfrm>
              <a:off x="1718" y="2461"/>
              <a:ext cx="1178" cy="288"/>
            </a:xfrm>
            <a:prstGeom prst="rect">
              <a:avLst/>
            </a:prstGeom>
            <a:noFill/>
            <a:ln w="9525">
              <a:noFill/>
              <a:miter lim="800000"/>
              <a:headEnd/>
              <a:tailEnd/>
            </a:ln>
          </p:spPr>
          <p:txBody>
            <a:bodyPr wrap="none">
              <a:spAutoFit/>
            </a:bodyPr>
            <a:lstStyle/>
            <a:p>
              <a:r>
                <a:rPr lang="zh-CN" altLang="en-US" sz="2400" b="1">
                  <a:solidFill>
                    <a:schemeClr val="bg1"/>
                  </a:solidFill>
                  <a:latin typeface="华文中宋" pitchFamily="2" charset="-122"/>
                  <a:ea typeface="华文中宋" pitchFamily="2" charset="-122"/>
                </a:rPr>
                <a:t>定域子体系 </a:t>
              </a:r>
            </a:p>
          </p:txBody>
        </p:sp>
        <p:sp>
          <p:nvSpPr>
            <p:cNvPr id="2069" name="Text Box 22"/>
            <p:cNvSpPr txBox="1">
              <a:spLocks noChangeArrowheads="1"/>
            </p:cNvSpPr>
            <p:nvPr/>
          </p:nvSpPr>
          <p:spPr bwMode="auto">
            <a:xfrm>
              <a:off x="1702" y="3456"/>
              <a:ext cx="1178" cy="288"/>
            </a:xfrm>
            <a:prstGeom prst="rect">
              <a:avLst/>
            </a:prstGeom>
            <a:noFill/>
            <a:ln w="9525">
              <a:noFill/>
              <a:miter lim="800000"/>
              <a:headEnd/>
              <a:tailEnd/>
            </a:ln>
          </p:spPr>
          <p:txBody>
            <a:bodyPr wrap="none">
              <a:spAutoFit/>
            </a:bodyPr>
            <a:lstStyle/>
            <a:p>
              <a:r>
                <a:rPr lang="zh-CN" altLang="en-US" sz="2400" b="1">
                  <a:solidFill>
                    <a:schemeClr val="bg1"/>
                  </a:solidFill>
                  <a:latin typeface="华文中宋" pitchFamily="2" charset="-122"/>
                  <a:ea typeface="华文中宋" pitchFamily="2" charset="-122"/>
                </a:rPr>
                <a:t>离域子体系 </a:t>
              </a:r>
            </a:p>
          </p:txBody>
        </p:sp>
        <p:sp>
          <p:nvSpPr>
            <p:cNvPr id="2070" name="AutoShape 25"/>
            <p:cNvSpPr>
              <a:spLocks/>
            </p:cNvSpPr>
            <p:nvPr/>
          </p:nvSpPr>
          <p:spPr bwMode="auto">
            <a:xfrm>
              <a:off x="1584" y="2592"/>
              <a:ext cx="96" cy="1056"/>
            </a:xfrm>
            <a:prstGeom prst="leftBrace">
              <a:avLst>
                <a:gd name="adj1" fmla="val 91667"/>
                <a:gd name="adj2" fmla="val 50000"/>
              </a:avLst>
            </a:prstGeom>
            <a:noFill/>
            <a:ln w="28575">
              <a:solidFill>
                <a:schemeClr val="tx2"/>
              </a:solidFill>
              <a:round/>
              <a:headEnd/>
              <a:tailEnd/>
            </a:ln>
          </p:spPr>
          <p:txBody>
            <a:bodyPr wrap="none" anchor="ctr"/>
            <a:lstStyle/>
            <a:p>
              <a:endParaRPr lang="zh-CN" altLang="en-US" b="1">
                <a:latin typeface="华文中宋" pitchFamily="2" charset="-122"/>
                <a:ea typeface="华文中宋" pitchFamily="2" charset="-122"/>
              </a:endParaRPr>
            </a:p>
          </p:txBody>
        </p:sp>
      </p:grpSp>
      <p:grpSp>
        <p:nvGrpSpPr>
          <p:cNvPr id="8" name="Group 42"/>
          <p:cNvGrpSpPr>
            <a:grpSpLocks/>
          </p:cNvGrpSpPr>
          <p:nvPr/>
        </p:nvGrpSpPr>
        <p:grpSpPr bwMode="auto">
          <a:xfrm>
            <a:off x="4343400" y="3906838"/>
            <a:ext cx="4803775" cy="830262"/>
            <a:chOff x="2736" y="2461"/>
            <a:chExt cx="3026" cy="523"/>
          </a:xfrm>
        </p:grpSpPr>
        <p:sp>
          <p:nvSpPr>
            <p:cNvPr id="2065" name="Text Box 23"/>
            <p:cNvSpPr txBox="1">
              <a:spLocks noChangeArrowheads="1"/>
            </p:cNvSpPr>
            <p:nvPr/>
          </p:nvSpPr>
          <p:spPr bwMode="auto">
            <a:xfrm>
              <a:off x="3014" y="2461"/>
              <a:ext cx="2748" cy="523"/>
            </a:xfrm>
            <a:prstGeom prst="rect">
              <a:avLst/>
            </a:prstGeom>
            <a:noFill/>
            <a:ln w="9525">
              <a:noFill/>
              <a:miter lim="800000"/>
              <a:headEnd/>
              <a:tailEnd/>
            </a:ln>
          </p:spPr>
          <p:txBody>
            <a:bodyPr wrap="none">
              <a:spAutoFit/>
            </a:bodyPr>
            <a:lstStyle/>
            <a:p>
              <a:r>
                <a:rPr lang="zh-CN" altLang="en-US" sz="2400" b="1">
                  <a:solidFill>
                    <a:schemeClr val="bg1"/>
                  </a:solidFill>
                  <a:latin typeface="华文中宋" pitchFamily="2" charset="-122"/>
                  <a:ea typeface="华文中宋" pitchFamily="2" charset="-122"/>
                </a:rPr>
                <a:t>粒子的运动范围被局限于体系</a:t>
              </a:r>
            </a:p>
            <a:p>
              <a:r>
                <a:rPr lang="zh-CN" altLang="en-US" sz="2400" b="1">
                  <a:solidFill>
                    <a:schemeClr val="bg1"/>
                  </a:solidFill>
                  <a:latin typeface="华文中宋" pitchFamily="2" charset="-122"/>
                  <a:ea typeface="华文中宋" pitchFamily="2" charset="-122"/>
                </a:rPr>
                <a:t>某一小空间的体系，如晶体。 </a:t>
              </a:r>
            </a:p>
          </p:txBody>
        </p:sp>
        <p:sp>
          <p:nvSpPr>
            <p:cNvPr id="2066" name="Line 35"/>
            <p:cNvSpPr>
              <a:spLocks noChangeShapeType="1"/>
            </p:cNvSpPr>
            <p:nvPr/>
          </p:nvSpPr>
          <p:spPr bwMode="auto">
            <a:xfrm>
              <a:off x="2736" y="2640"/>
              <a:ext cx="384" cy="0"/>
            </a:xfrm>
            <a:prstGeom prst="line">
              <a:avLst/>
            </a:prstGeom>
            <a:noFill/>
            <a:ln w="38100">
              <a:solidFill>
                <a:schemeClr val="tx2"/>
              </a:solidFill>
              <a:round/>
              <a:headEnd/>
              <a:tailEnd/>
            </a:ln>
          </p:spPr>
          <p:txBody>
            <a:bodyPr wrap="none"/>
            <a:lstStyle/>
            <a:p>
              <a:endParaRPr lang="zh-CN" altLang="en-US" b="1">
                <a:latin typeface="华文中宋" pitchFamily="2" charset="-122"/>
                <a:ea typeface="华文中宋" pitchFamily="2" charset="-122"/>
              </a:endParaRPr>
            </a:p>
          </p:txBody>
        </p:sp>
      </p:grpSp>
      <p:grpSp>
        <p:nvGrpSpPr>
          <p:cNvPr id="9" name="Group 43"/>
          <p:cNvGrpSpPr>
            <a:grpSpLocks/>
          </p:cNvGrpSpPr>
          <p:nvPr/>
        </p:nvGrpSpPr>
        <p:grpSpPr bwMode="auto">
          <a:xfrm>
            <a:off x="4267200" y="5430838"/>
            <a:ext cx="4725988" cy="830262"/>
            <a:chOff x="2688" y="3421"/>
            <a:chExt cx="2977" cy="523"/>
          </a:xfrm>
        </p:grpSpPr>
        <p:sp>
          <p:nvSpPr>
            <p:cNvPr id="2063" name="Text Box 24"/>
            <p:cNvSpPr txBox="1">
              <a:spLocks noChangeArrowheads="1"/>
            </p:cNvSpPr>
            <p:nvPr/>
          </p:nvSpPr>
          <p:spPr bwMode="auto">
            <a:xfrm>
              <a:off x="3014" y="3421"/>
              <a:ext cx="2651" cy="523"/>
            </a:xfrm>
            <a:prstGeom prst="rect">
              <a:avLst/>
            </a:prstGeom>
            <a:noFill/>
            <a:ln w="9525">
              <a:noFill/>
              <a:miter lim="800000"/>
              <a:headEnd/>
              <a:tailEnd/>
            </a:ln>
          </p:spPr>
          <p:txBody>
            <a:bodyPr wrap="none">
              <a:spAutoFit/>
            </a:bodyPr>
            <a:lstStyle/>
            <a:p>
              <a:r>
                <a:rPr lang="zh-CN" altLang="en-US" sz="2400" b="1">
                  <a:solidFill>
                    <a:schemeClr val="bg1"/>
                  </a:solidFill>
                  <a:latin typeface="华文中宋" pitchFamily="2" charset="-122"/>
                  <a:ea typeface="华文中宋" pitchFamily="2" charset="-122"/>
                </a:rPr>
                <a:t>粒子可以在体系的整个空间内</a:t>
              </a:r>
            </a:p>
            <a:p>
              <a:r>
                <a:rPr lang="zh-CN" altLang="en-US" sz="2400" b="1">
                  <a:solidFill>
                    <a:schemeClr val="bg1"/>
                  </a:solidFill>
                  <a:latin typeface="华文中宋" pitchFamily="2" charset="-122"/>
                  <a:ea typeface="华文中宋" pitchFamily="2" charset="-122"/>
                </a:rPr>
                <a:t>运动 ，如气体、液体分子 </a:t>
              </a:r>
            </a:p>
          </p:txBody>
        </p:sp>
        <p:sp>
          <p:nvSpPr>
            <p:cNvPr id="2064" name="Line 36"/>
            <p:cNvSpPr>
              <a:spLocks noChangeShapeType="1"/>
            </p:cNvSpPr>
            <p:nvPr/>
          </p:nvSpPr>
          <p:spPr bwMode="auto">
            <a:xfrm>
              <a:off x="2688" y="3600"/>
              <a:ext cx="384" cy="0"/>
            </a:xfrm>
            <a:prstGeom prst="line">
              <a:avLst/>
            </a:prstGeom>
            <a:noFill/>
            <a:ln w="38100">
              <a:solidFill>
                <a:schemeClr val="tx2"/>
              </a:solidFill>
              <a:round/>
              <a:headEnd/>
              <a:tailEnd/>
            </a:ln>
          </p:spPr>
          <p:txBody>
            <a:bodyPr wrap="none"/>
            <a:lstStyle/>
            <a:p>
              <a:endParaRPr lang="zh-CN" altLang="en-US" b="1">
                <a:latin typeface="华文中宋" pitchFamily="2" charset="-122"/>
                <a:ea typeface="华文中宋" pitchFamily="2" charset="-122"/>
              </a:endParaRPr>
            </a:p>
          </p:txBody>
        </p:sp>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heckerboard(across)">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checkerboard(across)">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checkerboard(across)">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checkerboard(across)">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checkerboard(across)">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checkerboard(across)">
                                      <p:cBhvr>
                                        <p:cTn id="4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p:cNvSpPr>
            <a:spLocks noGrp="1"/>
          </p:cNvSpPr>
          <p:nvPr>
            <p:ph type="sldNum" sz="quarter" idx="12"/>
          </p:nvPr>
        </p:nvSpPr>
        <p:spPr>
          <a:xfrm>
            <a:off x="6550025" y="6002331"/>
            <a:ext cx="2289175" cy="476250"/>
          </a:xfrm>
          <a:noFill/>
        </p:spPr>
        <p:txBody>
          <a:bodyPr/>
          <a:lstStyle/>
          <a:p>
            <a:fld id="{69ABB380-5820-4FB3-B57D-7F6135FC3A88}" type="slidenum">
              <a:rPr lang="en-US" altLang="zh-CN" b="1" smtClean="0">
                <a:latin typeface="华文中宋" pitchFamily="2" charset="-122"/>
                <a:ea typeface="华文中宋" pitchFamily="2" charset="-122"/>
              </a:rPr>
              <a:pPr/>
              <a:t>9</a:t>
            </a:fld>
            <a:endParaRPr lang="en-US" altLang="zh-CN" b="1" smtClean="0">
              <a:latin typeface="华文中宋" pitchFamily="2" charset="-122"/>
              <a:ea typeface="华文中宋" pitchFamily="2" charset="-122"/>
            </a:endParaRPr>
          </a:p>
        </p:txBody>
      </p:sp>
      <p:sp>
        <p:nvSpPr>
          <p:cNvPr id="60419" name="Rectangle 2"/>
          <p:cNvSpPr>
            <a:spLocks noGrp="1" noRot="1" noChangeArrowheads="1"/>
          </p:cNvSpPr>
          <p:nvPr>
            <p:ph type="title"/>
          </p:nvPr>
        </p:nvSpPr>
        <p:spPr/>
        <p:txBody>
          <a:bodyPr/>
          <a:lstStyle/>
          <a:p>
            <a:pPr eaLnBrk="1" hangingPunct="1"/>
            <a:r>
              <a:rPr lang="zh-CN" altLang="en-US" dirty="0" smtClean="0">
                <a:solidFill>
                  <a:srgbClr val="FFFF00"/>
                </a:solidFill>
                <a:latin typeface="黑体" pitchFamily="49" charset="-122"/>
                <a:ea typeface="黑体" pitchFamily="49" charset="-122"/>
              </a:rPr>
              <a:t>全同粒子的可区分性</a:t>
            </a:r>
          </a:p>
        </p:txBody>
      </p:sp>
      <p:sp>
        <p:nvSpPr>
          <p:cNvPr id="60420" name="Text Box 4"/>
          <p:cNvSpPr txBox="1">
            <a:spLocks noChangeArrowheads="1"/>
          </p:cNvSpPr>
          <p:nvPr/>
        </p:nvSpPr>
        <p:spPr bwMode="auto">
          <a:xfrm>
            <a:off x="6357938" y="0"/>
            <a:ext cx="2932213" cy="461665"/>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r>
              <a:rPr kumimoji="1" lang="en-US" altLang="zh-CN" sz="2400" b="1">
                <a:solidFill>
                  <a:schemeClr val="bg1"/>
                </a:solidFill>
                <a:latin typeface="华文中宋" pitchFamily="2" charset="-122"/>
                <a:ea typeface="华文中宋" pitchFamily="2" charset="-122"/>
              </a:rPr>
              <a:t>   </a:t>
            </a:r>
            <a:r>
              <a:rPr kumimoji="1" lang="zh-CN" altLang="en-US" sz="2400" b="1">
                <a:solidFill>
                  <a:schemeClr val="bg1"/>
                </a:solidFill>
                <a:latin typeface="华文中宋" pitchFamily="2" charset="-122"/>
                <a:ea typeface="华文中宋" pitchFamily="2" charset="-122"/>
              </a:rPr>
              <a:t>统计热力学概论   </a:t>
            </a:r>
          </a:p>
        </p:txBody>
      </p:sp>
      <p:sp>
        <p:nvSpPr>
          <p:cNvPr id="16389" name="Text Box 5"/>
          <p:cNvSpPr txBox="1">
            <a:spLocks noChangeArrowheads="1"/>
          </p:cNvSpPr>
          <p:nvPr/>
        </p:nvSpPr>
        <p:spPr bwMode="auto">
          <a:xfrm>
            <a:off x="762000" y="1752600"/>
            <a:ext cx="1870075" cy="457200"/>
          </a:xfrm>
          <a:prstGeom prst="rect">
            <a:avLst/>
          </a:prstGeom>
          <a:noFill/>
          <a:ln w="9525">
            <a:noFill/>
            <a:miter lim="800000"/>
            <a:headEnd/>
            <a:tailEnd/>
          </a:ln>
        </p:spPr>
        <p:txBody>
          <a:bodyPr wrap="none">
            <a:spAutoFit/>
          </a:bodyPr>
          <a:lstStyle/>
          <a:p>
            <a:pPr eaLnBrk="0" hangingPunct="0"/>
            <a:r>
              <a:rPr lang="zh-CN" altLang="en-US" sz="2400" b="1" u="sng">
                <a:solidFill>
                  <a:srgbClr val="D2DC08"/>
                </a:solidFill>
                <a:latin typeface="华文中宋" pitchFamily="2" charset="-122"/>
                <a:ea typeface="华文中宋" pitchFamily="2" charset="-122"/>
              </a:rPr>
              <a:t>定域子体系 </a:t>
            </a:r>
          </a:p>
        </p:txBody>
      </p:sp>
      <p:sp>
        <p:nvSpPr>
          <p:cNvPr id="16390" name="Text Box 6"/>
          <p:cNvSpPr txBox="1">
            <a:spLocks noChangeArrowheads="1"/>
          </p:cNvSpPr>
          <p:nvPr/>
        </p:nvSpPr>
        <p:spPr bwMode="auto">
          <a:xfrm>
            <a:off x="838200" y="4252906"/>
            <a:ext cx="1870075" cy="457200"/>
          </a:xfrm>
          <a:prstGeom prst="rect">
            <a:avLst/>
          </a:prstGeom>
          <a:noFill/>
          <a:ln w="9525">
            <a:noFill/>
            <a:miter lim="800000"/>
            <a:headEnd/>
            <a:tailEnd/>
          </a:ln>
        </p:spPr>
        <p:txBody>
          <a:bodyPr wrap="none">
            <a:spAutoFit/>
          </a:bodyPr>
          <a:lstStyle/>
          <a:p>
            <a:pPr eaLnBrk="0" hangingPunct="0"/>
            <a:r>
              <a:rPr lang="zh-CN" altLang="en-US" sz="2400" b="1" u="sng">
                <a:solidFill>
                  <a:srgbClr val="D2DC08"/>
                </a:solidFill>
                <a:latin typeface="华文中宋" pitchFamily="2" charset="-122"/>
                <a:ea typeface="华文中宋" pitchFamily="2" charset="-122"/>
              </a:rPr>
              <a:t>离域子体系 </a:t>
            </a:r>
          </a:p>
        </p:txBody>
      </p:sp>
      <p:sp>
        <p:nvSpPr>
          <p:cNvPr id="16392" name="Text Box 8"/>
          <p:cNvSpPr txBox="1">
            <a:spLocks noChangeArrowheads="1"/>
          </p:cNvSpPr>
          <p:nvPr/>
        </p:nvSpPr>
        <p:spPr bwMode="auto">
          <a:xfrm>
            <a:off x="2913063" y="2500306"/>
            <a:ext cx="5545137" cy="830997"/>
          </a:xfrm>
          <a:prstGeom prst="rect">
            <a:avLst/>
          </a:prstGeom>
          <a:noFill/>
          <a:ln w="9525">
            <a:noFill/>
            <a:miter lim="800000"/>
            <a:headEnd/>
            <a:tailEnd/>
          </a:ln>
        </p:spPr>
        <p:txBody>
          <a:bodyPr>
            <a:spAutoFit/>
          </a:bodyPr>
          <a:lstStyle/>
          <a:p>
            <a:r>
              <a:rPr lang="zh-CN" altLang="en-US" sz="2400" b="1">
                <a:solidFill>
                  <a:schemeClr val="bg1"/>
                </a:solidFill>
                <a:latin typeface="华文中宋" pitchFamily="2" charset="-122"/>
                <a:ea typeface="华文中宋" pitchFamily="2" charset="-122"/>
              </a:rPr>
              <a:t>服从经典力学规律的粒子，即便可自由</a:t>
            </a:r>
          </a:p>
          <a:p>
            <a:r>
              <a:rPr lang="zh-CN" altLang="en-US" sz="2400" b="1">
                <a:solidFill>
                  <a:schemeClr val="bg1"/>
                </a:solidFill>
                <a:latin typeface="华文中宋" pitchFamily="2" charset="-122"/>
                <a:ea typeface="华文中宋" pitchFamily="2" charset="-122"/>
              </a:rPr>
              <a:t>运动，可跟踪运动轨迹加以辨识 </a:t>
            </a:r>
          </a:p>
        </p:txBody>
      </p:sp>
      <p:sp>
        <p:nvSpPr>
          <p:cNvPr id="16393" name="Text Box 9"/>
          <p:cNvSpPr txBox="1">
            <a:spLocks noChangeArrowheads="1"/>
          </p:cNvSpPr>
          <p:nvPr/>
        </p:nvSpPr>
        <p:spPr bwMode="auto">
          <a:xfrm>
            <a:off x="2895600" y="3567106"/>
            <a:ext cx="5993949" cy="1938992"/>
          </a:xfrm>
          <a:prstGeom prst="rect">
            <a:avLst/>
          </a:prstGeom>
          <a:noFill/>
          <a:ln w="9525">
            <a:noFill/>
            <a:miter lim="800000"/>
            <a:headEnd/>
            <a:tailEnd/>
          </a:ln>
        </p:spPr>
        <p:txBody>
          <a:bodyPr wrap="none">
            <a:spAutoFit/>
          </a:bodyPr>
          <a:lstStyle/>
          <a:p>
            <a:r>
              <a:rPr lang="zh-CN" altLang="en-US" sz="2400" b="1" dirty="0">
                <a:solidFill>
                  <a:schemeClr val="bg1"/>
                </a:solidFill>
                <a:latin typeface="Times New Roman" pitchFamily="18" charset="0"/>
                <a:ea typeface="华文中宋" pitchFamily="2" charset="-122"/>
                <a:cs typeface="Times New Roman" pitchFamily="18" charset="0"/>
              </a:rPr>
              <a:t>服从量子力学的微观粒子，具有粒子性和</a:t>
            </a:r>
          </a:p>
          <a:p>
            <a:r>
              <a:rPr lang="zh-CN" altLang="en-US" sz="2400" b="1" dirty="0">
                <a:solidFill>
                  <a:schemeClr val="bg1"/>
                </a:solidFill>
                <a:latin typeface="Times New Roman" pitchFamily="18" charset="0"/>
                <a:ea typeface="华文中宋" pitchFamily="2" charset="-122"/>
                <a:cs typeface="Times New Roman" pitchFamily="18" charset="0"/>
              </a:rPr>
              <a:t>波动性，两个固有特性</a:t>
            </a:r>
            <a:r>
              <a:rPr lang="en-US" altLang="zh-CN" sz="2400" b="1" dirty="0">
                <a:solidFill>
                  <a:schemeClr val="bg1"/>
                </a:solidFill>
                <a:latin typeface="Times New Roman" pitchFamily="18" charset="0"/>
                <a:ea typeface="华文中宋" pitchFamily="2" charset="-122"/>
                <a:cs typeface="Times New Roman" pitchFamily="18" charset="0"/>
              </a:rPr>
              <a:t>(</a:t>
            </a:r>
            <a:r>
              <a:rPr lang="zh-CN" altLang="en-US" sz="2400" b="1" dirty="0">
                <a:solidFill>
                  <a:schemeClr val="bg1"/>
                </a:solidFill>
                <a:latin typeface="Times New Roman" pitchFamily="18" charset="0"/>
                <a:ea typeface="华文中宋" pitchFamily="2" charset="-122"/>
                <a:cs typeface="Times New Roman" pitchFamily="18" charset="0"/>
              </a:rPr>
              <a:t>质量、电荷、自旋</a:t>
            </a:r>
            <a:endParaRPr lang="en-US" altLang="zh-CN" sz="2400" b="1" dirty="0">
              <a:solidFill>
                <a:schemeClr val="bg1"/>
              </a:solidFill>
              <a:latin typeface="Times New Roman" pitchFamily="18" charset="0"/>
              <a:ea typeface="华文中宋" pitchFamily="2" charset="-122"/>
              <a:cs typeface="Times New Roman" pitchFamily="18" charset="0"/>
            </a:endParaRPr>
          </a:p>
          <a:p>
            <a:r>
              <a:rPr lang="zh-CN" altLang="en-US" sz="2400" b="1" dirty="0">
                <a:solidFill>
                  <a:schemeClr val="bg1"/>
                </a:solidFill>
                <a:latin typeface="Times New Roman" pitchFamily="18" charset="0"/>
                <a:ea typeface="华文中宋" pitchFamily="2" charset="-122"/>
                <a:cs typeface="Times New Roman" pitchFamily="18" charset="0"/>
              </a:rPr>
              <a:t>等</a:t>
            </a:r>
            <a:r>
              <a:rPr lang="en-US" altLang="zh-CN" sz="2400" b="1" dirty="0">
                <a:solidFill>
                  <a:schemeClr val="bg1"/>
                </a:solidFill>
                <a:latin typeface="Times New Roman" pitchFamily="18" charset="0"/>
                <a:ea typeface="华文中宋" pitchFamily="2" charset="-122"/>
                <a:cs typeface="Times New Roman" pitchFamily="18" charset="0"/>
              </a:rPr>
              <a:t>)</a:t>
            </a:r>
            <a:r>
              <a:rPr lang="zh-CN" altLang="en-US" sz="2400" b="1" dirty="0">
                <a:solidFill>
                  <a:schemeClr val="bg1"/>
                </a:solidFill>
                <a:latin typeface="Times New Roman" pitchFamily="18" charset="0"/>
                <a:ea typeface="华文中宋" pitchFamily="2" charset="-122"/>
                <a:cs typeface="Times New Roman" pitchFamily="18" charset="0"/>
              </a:rPr>
              <a:t>完全相同的粒子</a:t>
            </a:r>
            <a:r>
              <a:rPr lang="en-US" altLang="zh-CN" sz="2400" b="1" dirty="0">
                <a:solidFill>
                  <a:schemeClr val="bg1"/>
                </a:solidFill>
                <a:latin typeface="Times New Roman" pitchFamily="18" charset="0"/>
                <a:ea typeface="华文中宋" pitchFamily="2" charset="-122"/>
                <a:cs typeface="Times New Roman" pitchFamily="18" charset="0"/>
              </a:rPr>
              <a:t>(</a:t>
            </a:r>
            <a:r>
              <a:rPr lang="zh-CN" altLang="en-US" sz="2400" b="1" dirty="0">
                <a:solidFill>
                  <a:schemeClr val="bg1"/>
                </a:solidFill>
                <a:latin typeface="Times New Roman" pitchFamily="18" charset="0"/>
                <a:ea typeface="华文中宋" pitchFamily="2" charset="-122"/>
                <a:cs typeface="Times New Roman" pitchFamily="18" charset="0"/>
              </a:rPr>
              <a:t>全同粒子</a:t>
            </a:r>
            <a:r>
              <a:rPr lang="en-US" altLang="zh-CN" sz="2400" b="1" dirty="0">
                <a:solidFill>
                  <a:schemeClr val="bg1"/>
                </a:solidFill>
                <a:latin typeface="Times New Roman" pitchFamily="18" charset="0"/>
                <a:ea typeface="华文中宋" pitchFamily="2" charset="-122"/>
                <a:cs typeface="Times New Roman" pitchFamily="18" charset="0"/>
              </a:rPr>
              <a:t>)</a:t>
            </a:r>
            <a:r>
              <a:rPr lang="zh-CN" altLang="en-US" sz="2400" b="1" dirty="0">
                <a:solidFill>
                  <a:schemeClr val="bg1"/>
                </a:solidFill>
                <a:latin typeface="Times New Roman" pitchFamily="18" charset="0"/>
                <a:ea typeface="华文中宋" pitchFamily="2" charset="-122"/>
                <a:cs typeface="Times New Roman" pitchFamily="18" charset="0"/>
              </a:rPr>
              <a:t>，即使加以</a:t>
            </a:r>
            <a:endParaRPr lang="en-US" altLang="zh-CN" sz="2400" b="1" dirty="0">
              <a:solidFill>
                <a:schemeClr val="bg1"/>
              </a:solidFill>
              <a:latin typeface="Times New Roman" pitchFamily="18" charset="0"/>
              <a:ea typeface="华文中宋" pitchFamily="2" charset="-122"/>
              <a:cs typeface="Times New Roman" pitchFamily="18" charset="0"/>
            </a:endParaRPr>
          </a:p>
          <a:p>
            <a:r>
              <a:rPr lang="zh-CN" altLang="en-US" sz="2400" b="1" dirty="0">
                <a:solidFill>
                  <a:schemeClr val="bg1"/>
                </a:solidFill>
                <a:latin typeface="Times New Roman" pitchFamily="18" charset="0"/>
                <a:ea typeface="华文中宋" pitchFamily="2" charset="-122"/>
                <a:cs typeface="Times New Roman" pitchFamily="18" charset="0"/>
              </a:rPr>
              <a:t>编号，当两粒子的</a:t>
            </a:r>
            <a:r>
              <a:rPr lang="en-US" altLang="zh-CN" sz="2400" b="1" dirty="0">
                <a:solidFill>
                  <a:schemeClr val="bg1"/>
                </a:solidFill>
                <a:latin typeface="Times New Roman" pitchFamily="18" charset="0"/>
                <a:ea typeface="华文中宋" pitchFamily="2" charset="-122"/>
                <a:cs typeface="Times New Roman" pitchFamily="18" charset="0"/>
              </a:rPr>
              <a:t>de Broglie</a:t>
            </a:r>
            <a:r>
              <a:rPr lang="zh-CN" altLang="en-US" sz="2400" b="1" dirty="0">
                <a:solidFill>
                  <a:schemeClr val="bg1"/>
                </a:solidFill>
                <a:latin typeface="Times New Roman" pitchFamily="18" charset="0"/>
                <a:ea typeface="华文中宋" pitchFamily="2" charset="-122"/>
                <a:cs typeface="Times New Roman" pitchFamily="18" charset="0"/>
              </a:rPr>
              <a:t>波扩散并相互</a:t>
            </a:r>
            <a:endParaRPr lang="en-US" altLang="zh-CN" sz="2400" b="1" dirty="0">
              <a:solidFill>
                <a:schemeClr val="bg1"/>
              </a:solidFill>
              <a:latin typeface="Times New Roman" pitchFamily="18" charset="0"/>
              <a:ea typeface="华文中宋" pitchFamily="2" charset="-122"/>
              <a:cs typeface="Times New Roman" pitchFamily="18" charset="0"/>
            </a:endParaRPr>
          </a:p>
          <a:p>
            <a:r>
              <a:rPr lang="zh-CN" altLang="en-US" sz="2400" b="1" dirty="0">
                <a:solidFill>
                  <a:schemeClr val="bg1"/>
                </a:solidFill>
                <a:latin typeface="Times New Roman" pitchFamily="18" charset="0"/>
                <a:ea typeface="华文中宋" pitchFamily="2" charset="-122"/>
                <a:cs typeface="Times New Roman" pitchFamily="18" charset="0"/>
              </a:rPr>
              <a:t>重叠时，根本无法辨认 </a:t>
            </a:r>
          </a:p>
        </p:txBody>
      </p:sp>
      <p:sp>
        <p:nvSpPr>
          <p:cNvPr id="16394" name="Text Box 10"/>
          <p:cNvSpPr txBox="1">
            <a:spLocks noChangeArrowheads="1"/>
          </p:cNvSpPr>
          <p:nvPr/>
        </p:nvSpPr>
        <p:spPr bwMode="auto">
          <a:xfrm>
            <a:off x="2832100" y="5776906"/>
            <a:ext cx="6218238" cy="830263"/>
          </a:xfrm>
          <a:prstGeom prst="rect">
            <a:avLst/>
          </a:prstGeom>
          <a:noFill/>
          <a:ln w="9525">
            <a:noFill/>
            <a:miter lim="800000"/>
            <a:headEnd/>
            <a:tailEnd/>
          </a:ln>
        </p:spPr>
        <p:txBody>
          <a:bodyPr wrap="none">
            <a:spAutoFit/>
          </a:bodyPr>
          <a:lstStyle/>
          <a:p>
            <a:r>
              <a:rPr lang="zh-CN" altLang="en-US" sz="2400" b="1">
                <a:solidFill>
                  <a:srgbClr val="FFFF00"/>
                </a:solidFill>
                <a:latin typeface="华文中宋" pitchFamily="2" charset="-122"/>
                <a:ea typeface="华文中宋" pitchFamily="2" charset="-122"/>
              </a:rPr>
              <a:t>无法对全同粒子编号，服从全同性原理，即</a:t>
            </a:r>
          </a:p>
          <a:p>
            <a:r>
              <a:rPr lang="zh-CN" altLang="en-US" sz="2400" b="1">
                <a:solidFill>
                  <a:srgbClr val="FFFF00"/>
                </a:solidFill>
                <a:latin typeface="华文中宋" pitchFamily="2" charset="-122"/>
                <a:ea typeface="华文中宋" pitchFamily="2" charset="-122"/>
              </a:rPr>
              <a:t>两个粒子的量子态交换不产生新的微观状态 </a:t>
            </a:r>
          </a:p>
        </p:txBody>
      </p:sp>
      <p:grpSp>
        <p:nvGrpSpPr>
          <p:cNvPr id="2" name="Group 13"/>
          <p:cNvGrpSpPr>
            <a:grpSpLocks/>
          </p:cNvGrpSpPr>
          <p:nvPr/>
        </p:nvGrpSpPr>
        <p:grpSpPr bwMode="auto">
          <a:xfrm>
            <a:off x="2362200" y="1752600"/>
            <a:ext cx="4191000" cy="457200"/>
            <a:chOff x="1488" y="1104"/>
            <a:chExt cx="2640" cy="288"/>
          </a:xfrm>
        </p:grpSpPr>
        <p:sp>
          <p:nvSpPr>
            <p:cNvPr id="60428" name="Text Box 7"/>
            <p:cNvSpPr txBox="1">
              <a:spLocks noChangeArrowheads="1"/>
            </p:cNvSpPr>
            <p:nvPr/>
          </p:nvSpPr>
          <p:spPr bwMode="auto">
            <a:xfrm>
              <a:off x="1889" y="1104"/>
              <a:ext cx="2239" cy="288"/>
            </a:xfrm>
            <a:prstGeom prst="rect">
              <a:avLst/>
            </a:prstGeom>
            <a:noFill/>
            <a:ln w="9525">
              <a:noFill/>
              <a:miter lim="800000"/>
              <a:headEnd/>
              <a:tailEnd/>
            </a:ln>
          </p:spPr>
          <p:txBody>
            <a:bodyPr wrap="none">
              <a:spAutoFit/>
            </a:bodyPr>
            <a:lstStyle/>
            <a:p>
              <a:r>
                <a:rPr lang="zh-CN" altLang="en-US" sz="2400" b="1">
                  <a:solidFill>
                    <a:srgbClr val="FFFF00"/>
                  </a:solidFill>
                  <a:latin typeface="华文中宋" pitchFamily="2" charset="-122"/>
                  <a:ea typeface="华文中宋" pitchFamily="2" charset="-122"/>
                </a:rPr>
                <a:t>可用对平衡位置编号区分</a:t>
              </a:r>
            </a:p>
          </p:txBody>
        </p:sp>
        <p:sp>
          <p:nvSpPr>
            <p:cNvPr id="60429" name="Line 11"/>
            <p:cNvSpPr>
              <a:spLocks noChangeShapeType="1"/>
            </p:cNvSpPr>
            <p:nvPr/>
          </p:nvSpPr>
          <p:spPr bwMode="auto">
            <a:xfrm>
              <a:off x="1488" y="1248"/>
              <a:ext cx="432" cy="0"/>
            </a:xfrm>
            <a:prstGeom prst="line">
              <a:avLst/>
            </a:prstGeom>
            <a:noFill/>
            <a:ln w="38100">
              <a:solidFill>
                <a:schemeClr val="tx2"/>
              </a:solidFill>
              <a:round/>
              <a:headEnd/>
              <a:tailEnd/>
            </a:ln>
          </p:spPr>
          <p:txBody>
            <a:bodyPr wrap="none"/>
            <a:lstStyle/>
            <a:p>
              <a:endParaRPr lang="zh-CN" altLang="en-US" b="1">
                <a:latin typeface="华文中宋" pitchFamily="2" charset="-122"/>
                <a:ea typeface="华文中宋" pitchFamily="2" charset="-122"/>
              </a:endParaRPr>
            </a:p>
          </p:txBody>
        </p:sp>
      </p:grpSp>
      <p:sp>
        <p:nvSpPr>
          <p:cNvPr id="16396" name="AutoShape 12"/>
          <p:cNvSpPr>
            <a:spLocks/>
          </p:cNvSpPr>
          <p:nvPr/>
        </p:nvSpPr>
        <p:spPr bwMode="auto">
          <a:xfrm>
            <a:off x="2514600" y="2805106"/>
            <a:ext cx="304800" cy="3429000"/>
          </a:xfrm>
          <a:prstGeom prst="leftBrace">
            <a:avLst>
              <a:gd name="adj1" fmla="val 93750"/>
              <a:gd name="adj2" fmla="val 50000"/>
            </a:avLst>
          </a:prstGeom>
          <a:noFill/>
          <a:ln w="38100">
            <a:solidFill>
              <a:schemeClr val="tx2"/>
            </a:solidFill>
            <a:round/>
            <a:headEnd/>
            <a:tailEnd/>
          </a:ln>
        </p:spPr>
        <p:txBody>
          <a:bodyPr wrap="none" anchor="ctr"/>
          <a:lstStyle/>
          <a:p>
            <a:endParaRPr lang="zh-CN" altLang="en-US" b="1">
              <a:latin typeface="华文中宋" pitchFamily="2" charset="-122"/>
              <a:ea typeface="华文中宋" pitchFamily="2" charset="-122"/>
            </a:endParaRP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6389"/>
                                        </p:tgtEl>
                                        <p:attrNameLst>
                                          <p:attrName>style.visibility</p:attrName>
                                        </p:attrNameLst>
                                      </p:cBhvr>
                                      <p:to>
                                        <p:strVal val="visible"/>
                                      </p:to>
                                    </p:set>
                                    <p:anim calcmode="lin" valueType="num">
                                      <p:cBhvr>
                                        <p:cTn id="7" dur="500" fill="hold"/>
                                        <p:tgtEl>
                                          <p:spTgt spid="16389"/>
                                        </p:tgtEl>
                                        <p:attrNameLst>
                                          <p:attrName>ppt_x</p:attrName>
                                        </p:attrNameLst>
                                      </p:cBhvr>
                                      <p:tavLst>
                                        <p:tav tm="0">
                                          <p:val>
                                            <p:strVal val="#ppt_x-#ppt_w/2"/>
                                          </p:val>
                                        </p:tav>
                                        <p:tav tm="100000">
                                          <p:val>
                                            <p:strVal val="#ppt_x"/>
                                          </p:val>
                                        </p:tav>
                                      </p:tavLst>
                                    </p:anim>
                                    <p:anim calcmode="lin" valueType="num">
                                      <p:cBhvr>
                                        <p:cTn id="8" dur="500" fill="hold"/>
                                        <p:tgtEl>
                                          <p:spTgt spid="16389"/>
                                        </p:tgtEl>
                                        <p:attrNameLst>
                                          <p:attrName>ppt_y</p:attrName>
                                        </p:attrNameLst>
                                      </p:cBhvr>
                                      <p:tavLst>
                                        <p:tav tm="0">
                                          <p:val>
                                            <p:strVal val="#ppt_y"/>
                                          </p:val>
                                        </p:tav>
                                        <p:tav tm="100000">
                                          <p:val>
                                            <p:strVal val="#ppt_y"/>
                                          </p:val>
                                        </p:tav>
                                      </p:tavLst>
                                    </p:anim>
                                    <p:anim calcmode="lin" valueType="num">
                                      <p:cBhvr>
                                        <p:cTn id="9" dur="500" fill="hold"/>
                                        <p:tgtEl>
                                          <p:spTgt spid="16389"/>
                                        </p:tgtEl>
                                        <p:attrNameLst>
                                          <p:attrName>ppt_w</p:attrName>
                                        </p:attrNameLst>
                                      </p:cBhvr>
                                      <p:tavLst>
                                        <p:tav tm="0">
                                          <p:val>
                                            <p:fltVal val="0"/>
                                          </p:val>
                                        </p:tav>
                                        <p:tav tm="100000">
                                          <p:val>
                                            <p:strVal val="#ppt_w"/>
                                          </p:val>
                                        </p:tav>
                                      </p:tavLst>
                                    </p:anim>
                                    <p:anim calcmode="lin" valueType="num">
                                      <p:cBhvr>
                                        <p:cTn id="10" dur="500" fill="hold"/>
                                        <p:tgtEl>
                                          <p:spTgt spid="16389"/>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500" fill="hold"/>
                                        <p:tgtEl>
                                          <p:spTgt spid="2"/>
                                        </p:tgtEl>
                                        <p:attrNameLst>
                                          <p:attrName>ppt_x</p:attrName>
                                        </p:attrNameLst>
                                      </p:cBhvr>
                                      <p:tavLst>
                                        <p:tav tm="0">
                                          <p:val>
                                            <p:strVal val="#ppt_x-#ppt_w/2"/>
                                          </p:val>
                                        </p:tav>
                                        <p:tav tm="100000">
                                          <p:val>
                                            <p:strVal val="#ppt_x"/>
                                          </p:val>
                                        </p:tav>
                                      </p:tavLst>
                                    </p:anim>
                                    <p:anim calcmode="lin" valueType="num">
                                      <p:cBhvr>
                                        <p:cTn id="16" dur="500" fill="hold"/>
                                        <p:tgtEl>
                                          <p:spTgt spid="2"/>
                                        </p:tgtEl>
                                        <p:attrNameLst>
                                          <p:attrName>ppt_y</p:attrName>
                                        </p:attrNameLst>
                                      </p:cBhvr>
                                      <p:tavLst>
                                        <p:tav tm="0">
                                          <p:val>
                                            <p:strVal val="#ppt_y"/>
                                          </p:val>
                                        </p:tav>
                                        <p:tav tm="100000">
                                          <p:val>
                                            <p:strVal val="#ppt_y"/>
                                          </p:val>
                                        </p:tav>
                                      </p:tavLst>
                                    </p:anim>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6390"/>
                                        </p:tgtEl>
                                        <p:attrNameLst>
                                          <p:attrName>style.visibility</p:attrName>
                                        </p:attrNameLst>
                                      </p:cBhvr>
                                      <p:to>
                                        <p:strVal val="visible"/>
                                      </p:to>
                                    </p:set>
                                    <p:anim calcmode="lin" valueType="num">
                                      <p:cBhvr>
                                        <p:cTn id="23" dur="500" fill="hold"/>
                                        <p:tgtEl>
                                          <p:spTgt spid="16390"/>
                                        </p:tgtEl>
                                        <p:attrNameLst>
                                          <p:attrName>ppt_x</p:attrName>
                                        </p:attrNameLst>
                                      </p:cBhvr>
                                      <p:tavLst>
                                        <p:tav tm="0">
                                          <p:val>
                                            <p:strVal val="#ppt_x-#ppt_w/2"/>
                                          </p:val>
                                        </p:tav>
                                        <p:tav tm="100000">
                                          <p:val>
                                            <p:strVal val="#ppt_x"/>
                                          </p:val>
                                        </p:tav>
                                      </p:tavLst>
                                    </p:anim>
                                    <p:anim calcmode="lin" valueType="num">
                                      <p:cBhvr>
                                        <p:cTn id="24" dur="500" fill="hold"/>
                                        <p:tgtEl>
                                          <p:spTgt spid="16390"/>
                                        </p:tgtEl>
                                        <p:attrNameLst>
                                          <p:attrName>ppt_y</p:attrName>
                                        </p:attrNameLst>
                                      </p:cBhvr>
                                      <p:tavLst>
                                        <p:tav tm="0">
                                          <p:val>
                                            <p:strVal val="#ppt_y"/>
                                          </p:val>
                                        </p:tav>
                                        <p:tav tm="100000">
                                          <p:val>
                                            <p:strVal val="#ppt_y"/>
                                          </p:val>
                                        </p:tav>
                                      </p:tavLst>
                                    </p:anim>
                                    <p:anim calcmode="lin" valueType="num">
                                      <p:cBhvr>
                                        <p:cTn id="25" dur="500" fill="hold"/>
                                        <p:tgtEl>
                                          <p:spTgt spid="16390"/>
                                        </p:tgtEl>
                                        <p:attrNameLst>
                                          <p:attrName>ppt_w</p:attrName>
                                        </p:attrNameLst>
                                      </p:cBhvr>
                                      <p:tavLst>
                                        <p:tav tm="0">
                                          <p:val>
                                            <p:fltVal val="0"/>
                                          </p:val>
                                        </p:tav>
                                        <p:tav tm="100000">
                                          <p:val>
                                            <p:strVal val="#ppt_w"/>
                                          </p:val>
                                        </p:tav>
                                      </p:tavLst>
                                    </p:anim>
                                    <p:anim calcmode="lin" valueType="num">
                                      <p:cBhvr>
                                        <p:cTn id="26" dur="500" fill="hold"/>
                                        <p:tgtEl>
                                          <p:spTgt spid="16390"/>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16396"/>
                                        </p:tgtEl>
                                        <p:attrNameLst>
                                          <p:attrName>style.visibility</p:attrName>
                                        </p:attrNameLst>
                                      </p:cBhvr>
                                      <p:to>
                                        <p:strVal val="visible"/>
                                      </p:to>
                                    </p:set>
                                    <p:anim calcmode="lin" valueType="num">
                                      <p:cBhvr>
                                        <p:cTn id="31" dur="500" fill="hold"/>
                                        <p:tgtEl>
                                          <p:spTgt spid="16396"/>
                                        </p:tgtEl>
                                        <p:attrNameLst>
                                          <p:attrName>ppt_x</p:attrName>
                                        </p:attrNameLst>
                                      </p:cBhvr>
                                      <p:tavLst>
                                        <p:tav tm="0">
                                          <p:val>
                                            <p:strVal val="#ppt_x-#ppt_w/2"/>
                                          </p:val>
                                        </p:tav>
                                        <p:tav tm="100000">
                                          <p:val>
                                            <p:strVal val="#ppt_x"/>
                                          </p:val>
                                        </p:tav>
                                      </p:tavLst>
                                    </p:anim>
                                    <p:anim calcmode="lin" valueType="num">
                                      <p:cBhvr>
                                        <p:cTn id="32" dur="500" fill="hold"/>
                                        <p:tgtEl>
                                          <p:spTgt spid="16396"/>
                                        </p:tgtEl>
                                        <p:attrNameLst>
                                          <p:attrName>ppt_y</p:attrName>
                                        </p:attrNameLst>
                                      </p:cBhvr>
                                      <p:tavLst>
                                        <p:tav tm="0">
                                          <p:val>
                                            <p:strVal val="#ppt_y"/>
                                          </p:val>
                                        </p:tav>
                                        <p:tav tm="100000">
                                          <p:val>
                                            <p:strVal val="#ppt_y"/>
                                          </p:val>
                                        </p:tav>
                                      </p:tavLst>
                                    </p:anim>
                                    <p:anim calcmode="lin" valueType="num">
                                      <p:cBhvr>
                                        <p:cTn id="33" dur="500" fill="hold"/>
                                        <p:tgtEl>
                                          <p:spTgt spid="16396"/>
                                        </p:tgtEl>
                                        <p:attrNameLst>
                                          <p:attrName>ppt_w</p:attrName>
                                        </p:attrNameLst>
                                      </p:cBhvr>
                                      <p:tavLst>
                                        <p:tav tm="0">
                                          <p:val>
                                            <p:fltVal val="0"/>
                                          </p:val>
                                        </p:tav>
                                        <p:tav tm="100000">
                                          <p:val>
                                            <p:strVal val="#ppt_w"/>
                                          </p:val>
                                        </p:tav>
                                      </p:tavLst>
                                    </p:anim>
                                    <p:anim calcmode="lin" valueType="num">
                                      <p:cBhvr>
                                        <p:cTn id="34" dur="500" fill="hold"/>
                                        <p:tgtEl>
                                          <p:spTgt spid="16396"/>
                                        </p:tgtEl>
                                        <p:attrNameLst>
                                          <p:attrName>ppt_h</p:attrName>
                                        </p:attrNameLst>
                                      </p:cBhvr>
                                      <p:tavLst>
                                        <p:tav tm="0">
                                          <p:val>
                                            <p:strVal val="#ppt_h"/>
                                          </p:val>
                                        </p:tav>
                                        <p:tav tm="100000">
                                          <p:val>
                                            <p:strVal val="#ppt_h"/>
                                          </p:val>
                                        </p:tav>
                                      </p:tavLst>
                                    </p:anim>
                                  </p:childTnLst>
                                </p:cTn>
                              </p:par>
                            </p:childTnLst>
                          </p:cTn>
                        </p:par>
                        <p:par>
                          <p:cTn id="35" fill="hold">
                            <p:stCondLst>
                              <p:cond delay="500"/>
                            </p:stCondLst>
                            <p:childTnLst>
                              <p:par>
                                <p:cTn id="36" presetID="17" presetClass="entr" presetSubtype="8" fill="hold" grpId="0" nodeType="afterEffect">
                                  <p:stCondLst>
                                    <p:cond delay="0"/>
                                  </p:stCondLst>
                                  <p:childTnLst>
                                    <p:set>
                                      <p:cBhvr>
                                        <p:cTn id="37" dur="1" fill="hold">
                                          <p:stCondLst>
                                            <p:cond delay="0"/>
                                          </p:stCondLst>
                                        </p:cTn>
                                        <p:tgtEl>
                                          <p:spTgt spid="16392"/>
                                        </p:tgtEl>
                                        <p:attrNameLst>
                                          <p:attrName>style.visibility</p:attrName>
                                        </p:attrNameLst>
                                      </p:cBhvr>
                                      <p:to>
                                        <p:strVal val="visible"/>
                                      </p:to>
                                    </p:set>
                                    <p:anim calcmode="lin" valueType="num">
                                      <p:cBhvr>
                                        <p:cTn id="38" dur="500" fill="hold"/>
                                        <p:tgtEl>
                                          <p:spTgt spid="16392"/>
                                        </p:tgtEl>
                                        <p:attrNameLst>
                                          <p:attrName>ppt_x</p:attrName>
                                        </p:attrNameLst>
                                      </p:cBhvr>
                                      <p:tavLst>
                                        <p:tav tm="0">
                                          <p:val>
                                            <p:strVal val="#ppt_x-#ppt_w/2"/>
                                          </p:val>
                                        </p:tav>
                                        <p:tav tm="100000">
                                          <p:val>
                                            <p:strVal val="#ppt_x"/>
                                          </p:val>
                                        </p:tav>
                                      </p:tavLst>
                                    </p:anim>
                                    <p:anim calcmode="lin" valueType="num">
                                      <p:cBhvr>
                                        <p:cTn id="39" dur="500" fill="hold"/>
                                        <p:tgtEl>
                                          <p:spTgt spid="16392"/>
                                        </p:tgtEl>
                                        <p:attrNameLst>
                                          <p:attrName>ppt_y</p:attrName>
                                        </p:attrNameLst>
                                      </p:cBhvr>
                                      <p:tavLst>
                                        <p:tav tm="0">
                                          <p:val>
                                            <p:strVal val="#ppt_y"/>
                                          </p:val>
                                        </p:tav>
                                        <p:tav tm="100000">
                                          <p:val>
                                            <p:strVal val="#ppt_y"/>
                                          </p:val>
                                        </p:tav>
                                      </p:tavLst>
                                    </p:anim>
                                    <p:anim calcmode="lin" valueType="num">
                                      <p:cBhvr>
                                        <p:cTn id="40" dur="500" fill="hold"/>
                                        <p:tgtEl>
                                          <p:spTgt spid="16392"/>
                                        </p:tgtEl>
                                        <p:attrNameLst>
                                          <p:attrName>ppt_w</p:attrName>
                                        </p:attrNameLst>
                                      </p:cBhvr>
                                      <p:tavLst>
                                        <p:tav tm="0">
                                          <p:val>
                                            <p:fltVal val="0"/>
                                          </p:val>
                                        </p:tav>
                                        <p:tav tm="100000">
                                          <p:val>
                                            <p:strVal val="#ppt_w"/>
                                          </p:val>
                                        </p:tav>
                                      </p:tavLst>
                                    </p:anim>
                                    <p:anim calcmode="lin" valueType="num">
                                      <p:cBhvr>
                                        <p:cTn id="41" dur="500" fill="hold"/>
                                        <p:tgtEl>
                                          <p:spTgt spid="16392"/>
                                        </p:tgtEl>
                                        <p:attrNameLst>
                                          <p:attrName>ppt_h</p:attrName>
                                        </p:attrNameLst>
                                      </p:cBhvr>
                                      <p:tavLst>
                                        <p:tav tm="0">
                                          <p:val>
                                            <p:strVal val="#ppt_h"/>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17" presetClass="entr" presetSubtype="8" fill="hold" grpId="0" nodeType="clickEffect">
                                  <p:stCondLst>
                                    <p:cond delay="0"/>
                                  </p:stCondLst>
                                  <p:childTnLst>
                                    <p:set>
                                      <p:cBhvr>
                                        <p:cTn id="45" dur="1" fill="hold">
                                          <p:stCondLst>
                                            <p:cond delay="0"/>
                                          </p:stCondLst>
                                        </p:cTn>
                                        <p:tgtEl>
                                          <p:spTgt spid="16393"/>
                                        </p:tgtEl>
                                        <p:attrNameLst>
                                          <p:attrName>style.visibility</p:attrName>
                                        </p:attrNameLst>
                                      </p:cBhvr>
                                      <p:to>
                                        <p:strVal val="visible"/>
                                      </p:to>
                                    </p:set>
                                    <p:anim calcmode="lin" valueType="num">
                                      <p:cBhvr>
                                        <p:cTn id="46" dur="500" fill="hold"/>
                                        <p:tgtEl>
                                          <p:spTgt spid="16393"/>
                                        </p:tgtEl>
                                        <p:attrNameLst>
                                          <p:attrName>ppt_x</p:attrName>
                                        </p:attrNameLst>
                                      </p:cBhvr>
                                      <p:tavLst>
                                        <p:tav tm="0">
                                          <p:val>
                                            <p:strVal val="#ppt_x-#ppt_w/2"/>
                                          </p:val>
                                        </p:tav>
                                        <p:tav tm="100000">
                                          <p:val>
                                            <p:strVal val="#ppt_x"/>
                                          </p:val>
                                        </p:tav>
                                      </p:tavLst>
                                    </p:anim>
                                    <p:anim calcmode="lin" valueType="num">
                                      <p:cBhvr>
                                        <p:cTn id="47" dur="500" fill="hold"/>
                                        <p:tgtEl>
                                          <p:spTgt spid="16393"/>
                                        </p:tgtEl>
                                        <p:attrNameLst>
                                          <p:attrName>ppt_y</p:attrName>
                                        </p:attrNameLst>
                                      </p:cBhvr>
                                      <p:tavLst>
                                        <p:tav tm="0">
                                          <p:val>
                                            <p:strVal val="#ppt_y"/>
                                          </p:val>
                                        </p:tav>
                                        <p:tav tm="100000">
                                          <p:val>
                                            <p:strVal val="#ppt_y"/>
                                          </p:val>
                                        </p:tav>
                                      </p:tavLst>
                                    </p:anim>
                                    <p:anim calcmode="lin" valueType="num">
                                      <p:cBhvr>
                                        <p:cTn id="48" dur="500" fill="hold"/>
                                        <p:tgtEl>
                                          <p:spTgt spid="16393"/>
                                        </p:tgtEl>
                                        <p:attrNameLst>
                                          <p:attrName>ppt_w</p:attrName>
                                        </p:attrNameLst>
                                      </p:cBhvr>
                                      <p:tavLst>
                                        <p:tav tm="0">
                                          <p:val>
                                            <p:fltVal val="0"/>
                                          </p:val>
                                        </p:tav>
                                        <p:tav tm="100000">
                                          <p:val>
                                            <p:strVal val="#ppt_w"/>
                                          </p:val>
                                        </p:tav>
                                      </p:tavLst>
                                    </p:anim>
                                    <p:anim calcmode="lin" valueType="num">
                                      <p:cBhvr>
                                        <p:cTn id="49" dur="500" fill="hold"/>
                                        <p:tgtEl>
                                          <p:spTgt spid="16393"/>
                                        </p:tgtEl>
                                        <p:attrNameLst>
                                          <p:attrName>ppt_h</p:attrName>
                                        </p:attrNameLst>
                                      </p:cBhvr>
                                      <p:tavLst>
                                        <p:tav tm="0">
                                          <p:val>
                                            <p:strVal val="#ppt_h"/>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17" presetClass="entr" presetSubtype="8" fill="hold" grpId="0" nodeType="clickEffect">
                                  <p:stCondLst>
                                    <p:cond delay="0"/>
                                  </p:stCondLst>
                                  <p:childTnLst>
                                    <p:set>
                                      <p:cBhvr>
                                        <p:cTn id="53" dur="1" fill="hold">
                                          <p:stCondLst>
                                            <p:cond delay="0"/>
                                          </p:stCondLst>
                                        </p:cTn>
                                        <p:tgtEl>
                                          <p:spTgt spid="16394"/>
                                        </p:tgtEl>
                                        <p:attrNameLst>
                                          <p:attrName>style.visibility</p:attrName>
                                        </p:attrNameLst>
                                      </p:cBhvr>
                                      <p:to>
                                        <p:strVal val="visible"/>
                                      </p:to>
                                    </p:set>
                                    <p:anim calcmode="lin" valueType="num">
                                      <p:cBhvr>
                                        <p:cTn id="54" dur="500" fill="hold"/>
                                        <p:tgtEl>
                                          <p:spTgt spid="16394"/>
                                        </p:tgtEl>
                                        <p:attrNameLst>
                                          <p:attrName>ppt_x</p:attrName>
                                        </p:attrNameLst>
                                      </p:cBhvr>
                                      <p:tavLst>
                                        <p:tav tm="0">
                                          <p:val>
                                            <p:strVal val="#ppt_x-#ppt_w/2"/>
                                          </p:val>
                                        </p:tav>
                                        <p:tav tm="100000">
                                          <p:val>
                                            <p:strVal val="#ppt_x"/>
                                          </p:val>
                                        </p:tav>
                                      </p:tavLst>
                                    </p:anim>
                                    <p:anim calcmode="lin" valueType="num">
                                      <p:cBhvr>
                                        <p:cTn id="55" dur="500" fill="hold"/>
                                        <p:tgtEl>
                                          <p:spTgt spid="16394"/>
                                        </p:tgtEl>
                                        <p:attrNameLst>
                                          <p:attrName>ppt_y</p:attrName>
                                        </p:attrNameLst>
                                      </p:cBhvr>
                                      <p:tavLst>
                                        <p:tav tm="0">
                                          <p:val>
                                            <p:strVal val="#ppt_y"/>
                                          </p:val>
                                        </p:tav>
                                        <p:tav tm="100000">
                                          <p:val>
                                            <p:strVal val="#ppt_y"/>
                                          </p:val>
                                        </p:tav>
                                      </p:tavLst>
                                    </p:anim>
                                    <p:anim calcmode="lin" valueType="num">
                                      <p:cBhvr>
                                        <p:cTn id="56" dur="500" fill="hold"/>
                                        <p:tgtEl>
                                          <p:spTgt spid="16394"/>
                                        </p:tgtEl>
                                        <p:attrNameLst>
                                          <p:attrName>ppt_w</p:attrName>
                                        </p:attrNameLst>
                                      </p:cBhvr>
                                      <p:tavLst>
                                        <p:tav tm="0">
                                          <p:val>
                                            <p:fltVal val="0"/>
                                          </p:val>
                                        </p:tav>
                                        <p:tav tm="100000">
                                          <p:val>
                                            <p:strVal val="#ppt_w"/>
                                          </p:val>
                                        </p:tav>
                                      </p:tavLst>
                                    </p:anim>
                                    <p:anim calcmode="lin" valueType="num">
                                      <p:cBhvr>
                                        <p:cTn id="57" dur="500" fill="hold"/>
                                        <p:tgtEl>
                                          <p:spTgt spid="1639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autoUpdateAnimBg="0"/>
      <p:bldP spid="16390" grpId="0" autoUpdateAnimBg="0"/>
      <p:bldP spid="16392" grpId="0" autoUpdateAnimBg="0"/>
      <p:bldP spid="16393" grpId="0" autoUpdateAnimBg="0"/>
      <p:bldP spid="16394" grpId="0" autoUpdateAnimBg="0"/>
      <p:bldP spid="1639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3"/>
          <p:cNvSpPr>
            <a:spLocks noGrp="1"/>
          </p:cNvSpPr>
          <p:nvPr>
            <p:ph type="sldNum" sz="quarter" idx="12"/>
          </p:nvPr>
        </p:nvSpPr>
        <p:spPr>
          <a:noFill/>
        </p:spPr>
        <p:txBody>
          <a:bodyPr/>
          <a:lstStyle/>
          <a:p>
            <a:fld id="{2A37D33A-B3AE-4AAF-B84F-F44629D0D8D7}" type="slidenum">
              <a:rPr lang="en-US" altLang="zh-CN" smtClean="0"/>
              <a:pPr/>
              <a:t>10</a:t>
            </a:fld>
            <a:endParaRPr lang="en-US" altLang="zh-CN" smtClean="0"/>
          </a:p>
        </p:txBody>
      </p:sp>
      <p:sp>
        <p:nvSpPr>
          <p:cNvPr id="61443" name="Text Box 2"/>
          <p:cNvSpPr txBox="1">
            <a:spLocks noChangeArrowheads="1"/>
          </p:cNvSpPr>
          <p:nvPr/>
        </p:nvSpPr>
        <p:spPr bwMode="auto">
          <a:xfrm>
            <a:off x="869950" y="2690813"/>
            <a:ext cx="8244565" cy="1446550"/>
          </a:xfrm>
          <a:prstGeom prst="rect">
            <a:avLst/>
          </a:prstGeom>
          <a:noFill/>
          <a:ln w="9525">
            <a:noFill/>
            <a:miter lim="800000"/>
            <a:headEnd/>
            <a:tailEnd/>
          </a:ln>
        </p:spPr>
        <p:txBody>
          <a:bodyPr wrap="none">
            <a:spAutoFit/>
          </a:bodyPr>
          <a:lstStyle/>
          <a:p>
            <a:r>
              <a:rPr lang="en-US" altLang="zh-CN" sz="4400" b="1" dirty="0">
                <a:solidFill>
                  <a:srgbClr val="D2DC08"/>
                </a:solidFill>
                <a:latin typeface="Times New Roman" pitchFamily="18" charset="0"/>
                <a:ea typeface="黑体" pitchFamily="49" charset="-122"/>
                <a:cs typeface="Times New Roman" pitchFamily="18" charset="0"/>
              </a:rPr>
              <a:t>§10.2  </a:t>
            </a:r>
            <a:r>
              <a:rPr lang="zh-CN" altLang="en-US" sz="4400" b="1" dirty="0">
                <a:solidFill>
                  <a:srgbClr val="D2DC08"/>
                </a:solidFill>
                <a:latin typeface="Times New Roman" pitchFamily="18" charset="0"/>
                <a:ea typeface="黑体" pitchFamily="49" charset="-122"/>
                <a:cs typeface="Times New Roman" pitchFamily="18" charset="0"/>
              </a:rPr>
              <a:t>微观粒子运动的量子力学</a:t>
            </a:r>
          </a:p>
          <a:p>
            <a:r>
              <a:rPr lang="zh-CN" altLang="en-US" sz="4400" b="1" dirty="0">
                <a:solidFill>
                  <a:srgbClr val="D2DC08"/>
                </a:solidFill>
                <a:latin typeface="Times New Roman" pitchFamily="18" charset="0"/>
                <a:ea typeface="黑体" pitchFamily="49" charset="-122"/>
                <a:cs typeface="Times New Roman" pitchFamily="18" charset="0"/>
              </a:rPr>
              <a:t>             描述</a:t>
            </a:r>
          </a:p>
        </p:txBody>
      </p:sp>
    </p:spTree>
  </p:cSld>
  <p:clrMapOvr>
    <a:masterClrMapping/>
  </p:clrMapOvr>
  <p:transition spd="med">
    <p:blinds dir="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灯片编号占位符 5"/>
          <p:cNvSpPr>
            <a:spLocks noGrp="1"/>
          </p:cNvSpPr>
          <p:nvPr>
            <p:ph type="sldNum" sz="quarter" idx="12"/>
          </p:nvPr>
        </p:nvSpPr>
        <p:spPr>
          <a:noFill/>
        </p:spPr>
        <p:txBody>
          <a:bodyPr/>
          <a:lstStyle/>
          <a:p>
            <a:fld id="{9C7987B0-B75C-4A30-8420-D05EB9F82436}" type="slidenum">
              <a:rPr lang="en-US" altLang="zh-CN" smtClean="0"/>
              <a:pPr/>
              <a:t>11</a:t>
            </a:fld>
            <a:endParaRPr lang="en-US" altLang="zh-CN" smtClean="0"/>
          </a:p>
        </p:txBody>
      </p:sp>
      <p:sp>
        <p:nvSpPr>
          <p:cNvPr id="62467" name="Rectangle 2"/>
          <p:cNvSpPr>
            <a:spLocks noGrp="1" noRot="1" noChangeArrowheads="1"/>
          </p:cNvSpPr>
          <p:nvPr>
            <p:ph type="title"/>
          </p:nvPr>
        </p:nvSpPr>
        <p:spPr/>
        <p:txBody>
          <a:bodyPr/>
          <a:lstStyle/>
          <a:p>
            <a:pPr eaLnBrk="1" hangingPunct="1"/>
            <a:r>
              <a:rPr lang="zh-CN" altLang="en-US" dirty="0" smtClean="0">
                <a:solidFill>
                  <a:srgbClr val="FFFF00"/>
                </a:solidFill>
                <a:latin typeface="黑体" pitchFamily="49" charset="-122"/>
                <a:ea typeface="黑体" pitchFamily="49" charset="-122"/>
              </a:rPr>
              <a:t>基本概念</a:t>
            </a:r>
          </a:p>
        </p:txBody>
      </p:sp>
      <p:sp>
        <p:nvSpPr>
          <p:cNvPr id="17411" name="Rectangle 3"/>
          <p:cNvSpPr>
            <a:spLocks noGrp="1" noChangeArrowheads="1"/>
          </p:cNvSpPr>
          <p:nvPr>
            <p:ph type="body" idx="1"/>
          </p:nvPr>
        </p:nvSpPr>
        <p:spPr bwMode="auto">
          <a:xfrm>
            <a:off x="685800" y="1371600"/>
            <a:ext cx="8077200" cy="5029200"/>
          </a:xfrm>
          <a:noFill/>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90000"/>
              </a:lnSpc>
            </a:pPr>
            <a:r>
              <a:rPr lang="zh-CN" altLang="en-US" b="1" dirty="0" smtClean="0">
                <a:solidFill>
                  <a:srgbClr val="D2DC08"/>
                </a:solidFill>
                <a:latin typeface="华文中宋" pitchFamily="2" charset="-122"/>
                <a:ea typeface="华文中宋" pitchFamily="2" charset="-122"/>
              </a:rPr>
              <a:t>量子态：</a:t>
            </a:r>
            <a:r>
              <a:rPr lang="zh-CN" altLang="en-US" b="1" dirty="0" smtClean="0">
                <a:solidFill>
                  <a:schemeClr val="bg1"/>
                </a:solidFill>
                <a:latin typeface="华文中宋" pitchFamily="2" charset="-122"/>
                <a:ea typeface="华文中宋" pitchFamily="2" charset="-122"/>
              </a:rPr>
              <a:t>可用波函数描述，体系的微观状态就是用指定波函数描述的量子态，可用多个量子数的集合表示。体系总是处于量子态的某个态中，所有许可的量子态表示体系的特征；</a:t>
            </a:r>
          </a:p>
          <a:p>
            <a:pPr eaLnBrk="1" hangingPunct="1">
              <a:lnSpc>
                <a:spcPct val="90000"/>
              </a:lnSpc>
            </a:pPr>
            <a:r>
              <a:rPr lang="zh-CN" altLang="en-US" b="1" dirty="0" smtClean="0">
                <a:solidFill>
                  <a:srgbClr val="D2DC08"/>
                </a:solidFill>
                <a:latin typeface="华文中宋" pitchFamily="2" charset="-122"/>
                <a:ea typeface="华文中宋" pitchFamily="2" charset="-122"/>
              </a:rPr>
              <a:t>能级：</a:t>
            </a:r>
            <a:r>
              <a:rPr lang="zh-CN" altLang="en-US" b="1" dirty="0" smtClean="0">
                <a:solidFill>
                  <a:schemeClr val="bg1"/>
                </a:solidFill>
                <a:latin typeface="华文中宋" pitchFamily="2" charset="-122"/>
                <a:ea typeface="华文中宋" pitchFamily="2" charset="-122"/>
              </a:rPr>
              <a:t>能量的一个确定值称为能级；</a:t>
            </a:r>
          </a:p>
          <a:p>
            <a:pPr eaLnBrk="1" hangingPunct="1">
              <a:lnSpc>
                <a:spcPct val="90000"/>
              </a:lnSpc>
            </a:pPr>
            <a:r>
              <a:rPr lang="zh-CN" altLang="en-US" b="1" dirty="0" smtClean="0">
                <a:solidFill>
                  <a:srgbClr val="D2DC08"/>
                </a:solidFill>
                <a:latin typeface="华文中宋" pitchFamily="2" charset="-122"/>
                <a:ea typeface="华文中宋" pitchFamily="2" charset="-122"/>
              </a:rPr>
              <a:t>简并度：</a:t>
            </a:r>
            <a:r>
              <a:rPr lang="zh-CN" altLang="en-US" b="1" dirty="0" smtClean="0">
                <a:solidFill>
                  <a:schemeClr val="bg1"/>
                </a:solidFill>
                <a:latin typeface="华文中宋" pitchFamily="2" charset="-122"/>
                <a:ea typeface="华文中宋" pitchFamily="2" charset="-122"/>
              </a:rPr>
              <a:t>一个能级所拥有的量子态数称为该能级的简并度；非简并、多重简并</a:t>
            </a:r>
          </a:p>
          <a:p>
            <a:pPr eaLnBrk="1" hangingPunct="1">
              <a:lnSpc>
                <a:spcPct val="90000"/>
              </a:lnSpc>
            </a:pPr>
            <a:r>
              <a:rPr lang="zh-CN" altLang="en-US" b="1" dirty="0" smtClean="0">
                <a:solidFill>
                  <a:srgbClr val="D2DC08"/>
                </a:solidFill>
                <a:latin typeface="华文中宋" pitchFamily="2" charset="-122"/>
                <a:ea typeface="华文中宋" pitchFamily="2" charset="-122"/>
              </a:rPr>
              <a:t>微观粒子的主要运动方式：</a:t>
            </a:r>
            <a:r>
              <a:rPr lang="zh-CN" altLang="en-US" b="1" dirty="0" smtClean="0">
                <a:solidFill>
                  <a:schemeClr val="bg1"/>
                </a:solidFill>
                <a:latin typeface="华文中宋" pitchFamily="2" charset="-122"/>
                <a:ea typeface="华文中宋" pitchFamily="2" charset="-122"/>
              </a:rPr>
              <a:t>平动、转动、振动等</a:t>
            </a:r>
            <a:r>
              <a:rPr lang="zh-CN" altLang="en-US" b="1" dirty="0" smtClean="0">
                <a:solidFill>
                  <a:srgbClr val="D2DC08"/>
                </a:solidFill>
                <a:latin typeface="华文中宋" pitchFamily="2" charset="-122"/>
                <a:ea typeface="华文中宋" pitchFamily="2" charset="-122"/>
              </a:rPr>
              <a:t> </a:t>
            </a:r>
          </a:p>
        </p:txBody>
      </p:sp>
      <p:sp>
        <p:nvSpPr>
          <p:cNvPr id="62469" name="Text Box 4"/>
          <p:cNvSpPr txBox="1">
            <a:spLocks noChangeArrowheads="1"/>
          </p:cNvSpPr>
          <p:nvPr/>
        </p:nvSpPr>
        <p:spPr bwMode="auto">
          <a:xfrm>
            <a:off x="4976813" y="-20638"/>
            <a:ext cx="4167187" cy="457201"/>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r>
              <a:rPr kumimoji="1" lang="zh-CN" altLang="en-US" sz="2400" b="1">
                <a:solidFill>
                  <a:schemeClr val="bg1"/>
                </a:solidFill>
                <a:latin typeface="Times New Roman" pitchFamily="18" charset="0"/>
                <a:ea typeface="隶书" pitchFamily="49" charset="-122"/>
              </a:rPr>
              <a:t>微观粒子运动的量子力学描述</a:t>
            </a:r>
            <a:endParaRPr kumimoji="1" lang="zh-CN" altLang="en-US" sz="2400">
              <a:solidFill>
                <a:schemeClr val="bg1"/>
              </a:solidFill>
              <a:latin typeface="Times New Roman" pitchFamily="18" charset="0"/>
            </a:endParaRP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dissolve">
                                      <p:cBhvr>
                                        <p:cTn id="7" dur="500"/>
                                        <p:tgtEl>
                                          <p:spTgt spid="174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411">
                                            <p:txEl>
                                              <p:pRg st="1" end="1"/>
                                            </p:txEl>
                                          </p:spTgt>
                                        </p:tgtEl>
                                        <p:attrNameLst>
                                          <p:attrName>style.visibility</p:attrName>
                                        </p:attrNameLst>
                                      </p:cBhvr>
                                      <p:to>
                                        <p:strVal val="visible"/>
                                      </p:to>
                                    </p:set>
                                    <p:animEffect transition="in" filter="dissolve">
                                      <p:cBhvr>
                                        <p:cTn id="12" dur="500"/>
                                        <p:tgtEl>
                                          <p:spTgt spid="174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411">
                                            <p:txEl>
                                              <p:pRg st="2" end="2"/>
                                            </p:txEl>
                                          </p:spTgt>
                                        </p:tgtEl>
                                        <p:attrNameLst>
                                          <p:attrName>style.visibility</p:attrName>
                                        </p:attrNameLst>
                                      </p:cBhvr>
                                      <p:to>
                                        <p:strVal val="visible"/>
                                      </p:to>
                                    </p:set>
                                    <p:animEffect transition="in" filter="dissolve">
                                      <p:cBhvr>
                                        <p:cTn id="17" dur="500"/>
                                        <p:tgtEl>
                                          <p:spTgt spid="174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411">
                                            <p:txEl>
                                              <p:pRg st="3" end="3"/>
                                            </p:txEl>
                                          </p:spTgt>
                                        </p:tgtEl>
                                        <p:attrNameLst>
                                          <p:attrName>style.visibility</p:attrName>
                                        </p:attrNameLst>
                                      </p:cBhvr>
                                      <p:to>
                                        <p:strVal val="visible"/>
                                      </p:to>
                                    </p:set>
                                    <p:animEffect transition="in" filter="dissolve">
                                      <p:cBhvr>
                                        <p:cTn id="22" dur="500"/>
                                        <p:tgtEl>
                                          <p:spTgt spid="174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9" name="灯片编号占位符 5"/>
          <p:cNvSpPr>
            <a:spLocks noGrp="1"/>
          </p:cNvSpPr>
          <p:nvPr>
            <p:ph type="sldNum" sz="quarter" idx="12"/>
          </p:nvPr>
        </p:nvSpPr>
        <p:spPr>
          <a:noFill/>
        </p:spPr>
        <p:txBody>
          <a:bodyPr/>
          <a:lstStyle/>
          <a:p>
            <a:fld id="{ECAF7783-6049-4264-8C6A-1AE78DFB2C4E}" type="slidenum">
              <a:rPr lang="en-US" altLang="zh-CN" smtClean="0">
                <a:latin typeface="华文中宋" pitchFamily="2" charset="-122"/>
                <a:ea typeface="华文中宋" pitchFamily="2" charset="-122"/>
              </a:rPr>
              <a:pPr/>
              <a:t>12</a:t>
            </a:fld>
            <a:endParaRPr lang="en-US" altLang="zh-CN" smtClean="0">
              <a:latin typeface="华文中宋" pitchFamily="2" charset="-122"/>
              <a:ea typeface="华文中宋" pitchFamily="2" charset="-122"/>
            </a:endParaRPr>
          </a:p>
        </p:txBody>
      </p:sp>
      <p:sp>
        <p:nvSpPr>
          <p:cNvPr id="3080" name="Rectangle 2"/>
          <p:cNvSpPr>
            <a:spLocks noGrp="1" noRot="1" noChangeArrowheads="1"/>
          </p:cNvSpPr>
          <p:nvPr>
            <p:ph type="title"/>
          </p:nvPr>
        </p:nvSpPr>
        <p:spPr/>
        <p:txBody>
          <a:bodyPr/>
          <a:lstStyle/>
          <a:p>
            <a:pPr eaLnBrk="1" hangingPunct="1"/>
            <a:r>
              <a:rPr lang="zh-CN" altLang="en-US" dirty="0" smtClean="0">
                <a:solidFill>
                  <a:srgbClr val="FFFF00"/>
                </a:solidFill>
                <a:latin typeface="黑体" pitchFamily="49" charset="-122"/>
                <a:ea typeface="黑体" pitchFamily="49" charset="-122"/>
              </a:rPr>
              <a:t>一维自由平动子 </a:t>
            </a:r>
          </a:p>
        </p:txBody>
      </p:sp>
      <p:sp>
        <p:nvSpPr>
          <p:cNvPr id="3081" name="Text Box 4"/>
          <p:cNvSpPr txBox="1">
            <a:spLocks noChangeArrowheads="1"/>
          </p:cNvSpPr>
          <p:nvPr/>
        </p:nvSpPr>
        <p:spPr bwMode="auto">
          <a:xfrm>
            <a:off x="4976813" y="0"/>
            <a:ext cx="4167187"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r>
              <a:rPr kumimoji="1" lang="zh-CN" altLang="en-US" sz="2400" b="1">
                <a:solidFill>
                  <a:schemeClr val="bg1"/>
                </a:solidFill>
                <a:latin typeface="Times New Roman" pitchFamily="18" charset="0"/>
                <a:ea typeface="隶书" pitchFamily="49" charset="-122"/>
              </a:rPr>
              <a:t>微观粒子运动的量子力学描述</a:t>
            </a:r>
            <a:endParaRPr kumimoji="1" lang="zh-CN" altLang="en-US" sz="2400">
              <a:solidFill>
                <a:schemeClr val="bg1"/>
              </a:solidFill>
              <a:latin typeface="Times New Roman" pitchFamily="18" charset="0"/>
            </a:endParaRPr>
          </a:p>
        </p:txBody>
      </p:sp>
      <p:graphicFrame>
        <p:nvGraphicFramePr>
          <p:cNvPr id="18439" name="Object 7"/>
          <p:cNvGraphicFramePr>
            <a:graphicFrameLocks noChangeAspect="1"/>
          </p:cNvGraphicFramePr>
          <p:nvPr/>
        </p:nvGraphicFramePr>
        <p:xfrm>
          <a:off x="990600" y="1371600"/>
          <a:ext cx="3581400" cy="1751013"/>
        </p:xfrm>
        <a:graphic>
          <a:graphicData uri="http://schemas.openxmlformats.org/presentationml/2006/ole">
            <p:oleObj spid="_x0000_s3074" r:id="rId3" imgW="2628900" imgH="1286256" progId="Word.Picture.8">
              <p:embed/>
            </p:oleObj>
          </a:graphicData>
        </a:graphic>
      </p:graphicFrame>
      <p:grpSp>
        <p:nvGrpSpPr>
          <p:cNvPr id="2" name="Group 23"/>
          <p:cNvGrpSpPr>
            <a:grpSpLocks/>
          </p:cNvGrpSpPr>
          <p:nvPr/>
        </p:nvGrpSpPr>
        <p:grpSpPr bwMode="auto">
          <a:xfrm>
            <a:off x="5089525" y="1544638"/>
            <a:ext cx="3140075" cy="1655762"/>
            <a:chOff x="3206" y="973"/>
            <a:chExt cx="1978" cy="1043"/>
          </a:xfrm>
        </p:grpSpPr>
        <p:graphicFrame>
          <p:nvGraphicFramePr>
            <p:cNvPr id="3078" name="Object 5"/>
            <p:cNvGraphicFramePr>
              <a:graphicFrameLocks noChangeAspect="1"/>
            </p:cNvGraphicFramePr>
            <p:nvPr/>
          </p:nvGraphicFramePr>
          <p:xfrm>
            <a:off x="3216" y="1440"/>
            <a:ext cx="1968" cy="576"/>
          </p:xfrm>
          <a:graphic>
            <a:graphicData uri="http://schemas.openxmlformats.org/presentationml/2006/ole">
              <p:oleObj spid="_x0000_s3078" r:id="rId4" imgW="1562100" imgH="457200" progId="Equation.DSMT4">
                <p:embed/>
              </p:oleObj>
            </a:graphicData>
          </a:graphic>
        </p:graphicFrame>
        <p:sp>
          <p:nvSpPr>
            <p:cNvPr id="3091" name="Text Box 9"/>
            <p:cNvSpPr txBox="1">
              <a:spLocks noChangeArrowheads="1"/>
            </p:cNvSpPr>
            <p:nvPr/>
          </p:nvSpPr>
          <p:spPr bwMode="auto">
            <a:xfrm>
              <a:off x="3206" y="973"/>
              <a:ext cx="1081" cy="288"/>
            </a:xfrm>
            <a:prstGeom prst="rect">
              <a:avLst/>
            </a:prstGeom>
            <a:noFill/>
            <a:ln w="9525">
              <a:noFill/>
              <a:miter lim="800000"/>
              <a:headEnd/>
              <a:tailEnd/>
            </a:ln>
          </p:spPr>
          <p:txBody>
            <a:bodyPr wrap="none">
              <a:spAutoFit/>
            </a:bodyPr>
            <a:lstStyle/>
            <a:p>
              <a:r>
                <a:rPr lang="zh-CN" altLang="en-US" sz="2400" b="1" dirty="0">
                  <a:solidFill>
                    <a:schemeClr val="bg1"/>
                  </a:solidFill>
                  <a:latin typeface="华文中宋" pitchFamily="2" charset="-122"/>
                  <a:ea typeface="华文中宋" pitchFamily="2" charset="-122"/>
                </a:rPr>
                <a:t>势能函数：</a:t>
              </a:r>
            </a:p>
          </p:txBody>
        </p:sp>
      </p:grpSp>
      <p:grpSp>
        <p:nvGrpSpPr>
          <p:cNvPr id="3" name="Group 20"/>
          <p:cNvGrpSpPr>
            <a:grpSpLocks/>
          </p:cNvGrpSpPr>
          <p:nvPr/>
        </p:nvGrpSpPr>
        <p:grpSpPr bwMode="auto">
          <a:xfrm>
            <a:off x="533400" y="3124200"/>
            <a:ext cx="4060825" cy="896938"/>
            <a:chOff x="336" y="1968"/>
            <a:chExt cx="2558" cy="565"/>
          </a:xfrm>
        </p:grpSpPr>
        <p:sp>
          <p:nvSpPr>
            <p:cNvPr id="3090" name="Text Box 10"/>
            <p:cNvSpPr txBox="1">
              <a:spLocks noChangeArrowheads="1"/>
            </p:cNvSpPr>
            <p:nvPr/>
          </p:nvSpPr>
          <p:spPr bwMode="auto">
            <a:xfrm>
              <a:off x="336" y="2125"/>
              <a:ext cx="761" cy="291"/>
            </a:xfrm>
            <a:prstGeom prst="rect">
              <a:avLst/>
            </a:prstGeom>
            <a:noFill/>
            <a:ln w="9525">
              <a:noFill/>
              <a:miter lim="800000"/>
              <a:headEnd/>
              <a:tailEnd/>
            </a:ln>
          </p:spPr>
          <p:txBody>
            <a:bodyPr wrap="none">
              <a:spAutoFit/>
            </a:bodyPr>
            <a:lstStyle/>
            <a:p>
              <a:r>
                <a:rPr lang="zh-CN" altLang="en-US" sz="2400" b="1">
                  <a:solidFill>
                    <a:schemeClr val="accent2"/>
                  </a:solidFill>
                  <a:latin typeface="华文中宋" pitchFamily="2" charset="-122"/>
                  <a:ea typeface="华文中宋" pitchFamily="2" charset="-122"/>
                </a:rPr>
                <a:t>波函数 </a:t>
              </a:r>
            </a:p>
          </p:txBody>
        </p:sp>
        <p:graphicFrame>
          <p:nvGraphicFramePr>
            <p:cNvPr id="3077" name="Object 11"/>
            <p:cNvGraphicFramePr>
              <a:graphicFrameLocks noChangeAspect="1"/>
            </p:cNvGraphicFramePr>
            <p:nvPr/>
          </p:nvGraphicFramePr>
          <p:xfrm>
            <a:off x="1248" y="1968"/>
            <a:ext cx="1646" cy="565"/>
          </p:xfrm>
          <a:graphic>
            <a:graphicData uri="http://schemas.openxmlformats.org/presentationml/2006/ole">
              <p:oleObj spid="_x0000_s3077" r:id="rId5" imgW="1307532" imgH="444307" progId="Equation.DSMT4">
                <p:embed/>
              </p:oleObj>
            </a:graphicData>
          </a:graphic>
        </p:graphicFrame>
      </p:grpSp>
      <p:grpSp>
        <p:nvGrpSpPr>
          <p:cNvPr id="4" name="Group 21"/>
          <p:cNvGrpSpPr>
            <a:grpSpLocks/>
          </p:cNvGrpSpPr>
          <p:nvPr/>
        </p:nvGrpSpPr>
        <p:grpSpPr bwMode="auto">
          <a:xfrm>
            <a:off x="533400" y="3962400"/>
            <a:ext cx="4402138" cy="838200"/>
            <a:chOff x="336" y="2496"/>
            <a:chExt cx="2773" cy="528"/>
          </a:xfrm>
        </p:grpSpPr>
        <p:sp>
          <p:nvSpPr>
            <p:cNvPr id="3089" name="Text Box 13"/>
            <p:cNvSpPr txBox="1">
              <a:spLocks noChangeArrowheads="1"/>
            </p:cNvSpPr>
            <p:nvPr/>
          </p:nvSpPr>
          <p:spPr bwMode="auto">
            <a:xfrm>
              <a:off x="336" y="2640"/>
              <a:ext cx="567" cy="291"/>
            </a:xfrm>
            <a:prstGeom prst="rect">
              <a:avLst/>
            </a:prstGeom>
            <a:noFill/>
            <a:ln w="9525">
              <a:noFill/>
              <a:miter lim="800000"/>
              <a:headEnd/>
              <a:tailEnd/>
            </a:ln>
          </p:spPr>
          <p:txBody>
            <a:bodyPr wrap="none">
              <a:spAutoFit/>
            </a:bodyPr>
            <a:lstStyle/>
            <a:p>
              <a:r>
                <a:rPr lang="zh-CN" altLang="en-US" sz="2400" b="1">
                  <a:solidFill>
                    <a:schemeClr val="accent2"/>
                  </a:solidFill>
                  <a:latin typeface="华文中宋" pitchFamily="2" charset="-122"/>
                  <a:ea typeface="华文中宋" pitchFamily="2" charset="-122"/>
                </a:rPr>
                <a:t>能级 </a:t>
              </a:r>
            </a:p>
          </p:txBody>
        </p:sp>
        <p:graphicFrame>
          <p:nvGraphicFramePr>
            <p:cNvPr id="3076" name="Object 14"/>
            <p:cNvGraphicFramePr>
              <a:graphicFrameLocks noChangeAspect="1"/>
            </p:cNvGraphicFramePr>
            <p:nvPr/>
          </p:nvGraphicFramePr>
          <p:xfrm>
            <a:off x="1200" y="2496"/>
            <a:ext cx="1909" cy="528"/>
          </p:xfrm>
          <a:graphic>
            <a:graphicData uri="http://schemas.openxmlformats.org/presentationml/2006/ole">
              <p:oleObj spid="_x0000_s3076" r:id="rId6" imgW="1511300" imgH="419100" progId="Equation.DSMT4">
                <p:embed/>
              </p:oleObj>
            </a:graphicData>
          </a:graphic>
        </p:graphicFrame>
      </p:grpSp>
      <p:grpSp>
        <p:nvGrpSpPr>
          <p:cNvPr id="5" name="Group 22"/>
          <p:cNvGrpSpPr>
            <a:grpSpLocks/>
          </p:cNvGrpSpPr>
          <p:nvPr/>
        </p:nvGrpSpPr>
        <p:grpSpPr bwMode="auto">
          <a:xfrm>
            <a:off x="533400" y="4951408"/>
            <a:ext cx="2135188" cy="463549"/>
            <a:chOff x="336" y="3119"/>
            <a:chExt cx="1345" cy="292"/>
          </a:xfrm>
        </p:grpSpPr>
        <p:sp>
          <p:nvSpPr>
            <p:cNvPr id="3088" name="Text Box 16"/>
            <p:cNvSpPr txBox="1">
              <a:spLocks noChangeArrowheads="1"/>
            </p:cNvSpPr>
            <p:nvPr/>
          </p:nvSpPr>
          <p:spPr bwMode="auto">
            <a:xfrm>
              <a:off x="336" y="3120"/>
              <a:ext cx="761" cy="291"/>
            </a:xfrm>
            <a:prstGeom prst="rect">
              <a:avLst/>
            </a:prstGeom>
            <a:noFill/>
            <a:ln w="9525">
              <a:noFill/>
              <a:miter lim="800000"/>
              <a:headEnd/>
              <a:tailEnd/>
            </a:ln>
          </p:spPr>
          <p:txBody>
            <a:bodyPr wrap="none">
              <a:spAutoFit/>
            </a:bodyPr>
            <a:lstStyle/>
            <a:p>
              <a:r>
                <a:rPr lang="zh-CN" altLang="en-US" sz="2400" b="1">
                  <a:solidFill>
                    <a:schemeClr val="accent2"/>
                  </a:solidFill>
                  <a:latin typeface="华文中宋" pitchFamily="2" charset="-122"/>
                  <a:ea typeface="华文中宋" pitchFamily="2" charset="-122"/>
                </a:rPr>
                <a:t>简并度 </a:t>
              </a:r>
            </a:p>
          </p:txBody>
        </p:sp>
        <p:graphicFrame>
          <p:nvGraphicFramePr>
            <p:cNvPr id="3075" name="Object 17"/>
            <p:cNvGraphicFramePr>
              <a:graphicFrameLocks noChangeAspect="1"/>
            </p:cNvGraphicFramePr>
            <p:nvPr/>
          </p:nvGraphicFramePr>
          <p:xfrm>
            <a:off x="1200" y="3119"/>
            <a:ext cx="481" cy="289"/>
          </p:xfrm>
          <a:graphic>
            <a:graphicData uri="http://schemas.openxmlformats.org/presentationml/2006/ole">
              <p:oleObj spid="_x0000_s3075" r:id="rId7" imgW="381000" imgH="228600" progId="Equation.DSMT4">
                <p:embed/>
              </p:oleObj>
            </a:graphicData>
          </a:graphic>
        </p:graphicFrame>
      </p:grpSp>
      <p:sp>
        <p:nvSpPr>
          <p:cNvPr id="18451" name="Text Box 19"/>
          <p:cNvSpPr txBox="1">
            <a:spLocks noChangeArrowheads="1"/>
          </p:cNvSpPr>
          <p:nvPr/>
        </p:nvSpPr>
        <p:spPr bwMode="auto">
          <a:xfrm>
            <a:off x="5029200" y="3429000"/>
            <a:ext cx="4267200" cy="2678113"/>
          </a:xfrm>
          <a:prstGeom prst="rect">
            <a:avLst/>
          </a:prstGeom>
          <a:solidFill>
            <a:schemeClr val="accent2"/>
          </a:solidFill>
          <a:ln w="9525">
            <a:noFill/>
            <a:miter lim="800000"/>
            <a:headEnd/>
            <a:tailEnd/>
          </a:ln>
        </p:spPr>
        <p:txBody>
          <a:bodyPr>
            <a:spAutoFit/>
          </a:bodyPr>
          <a:lstStyle/>
          <a:p>
            <a:r>
              <a:rPr lang="zh-CN" altLang="en-US" sz="2400" b="1" dirty="0">
                <a:latin typeface="Times New Roman" pitchFamily="18" charset="0"/>
                <a:ea typeface="华文中宋" pitchFamily="2" charset="-122"/>
                <a:cs typeface="Times New Roman" pitchFamily="18" charset="0"/>
              </a:rPr>
              <a:t>分析</a:t>
            </a:r>
          </a:p>
          <a:p>
            <a:r>
              <a:rPr lang="en-US" altLang="zh-CN" sz="2400" b="1" dirty="0">
                <a:latin typeface="Times New Roman" pitchFamily="18" charset="0"/>
                <a:ea typeface="华文中宋" pitchFamily="2" charset="-122"/>
                <a:cs typeface="Times New Roman" pitchFamily="18" charset="0"/>
              </a:rPr>
              <a:t>1</a:t>
            </a:r>
            <a:r>
              <a:rPr lang="en-US" altLang="zh-CN" sz="2400" b="1" dirty="0" smtClean="0">
                <a:latin typeface="Times New Roman" pitchFamily="18" charset="0"/>
                <a:ea typeface="华文中宋" pitchFamily="2" charset="-122"/>
                <a:cs typeface="Times New Roman" pitchFamily="18" charset="0"/>
              </a:rPr>
              <a:t>. </a:t>
            </a:r>
            <a:r>
              <a:rPr lang="zh-CN" altLang="en-US" sz="2400" b="1" dirty="0" smtClean="0">
                <a:latin typeface="Times New Roman" pitchFamily="18" charset="0"/>
                <a:ea typeface="华文中宋" pitchFamily="2" charset="-122"/>
                <a:cs typeface="Times New Roman" pitchFamily="18" charset="0"/>
              </a:rPr>
              <a:t>量子态</a:t>
            </a:r>
            <a:r>
              <a:rPr lang="zh-CN" altLang="en-US" sz="2400" b="1" dirty="0">
                <a:latin typeface="Times New Roman" pitchFamily="18" charset="0"/>
                <a:ea typeface="华文中宋" pitchFamily="2" charset="-122"/>
                <a:cs typeface="Times New Roman" pitchFamily="18" charset="0"/>
              </a:rPr>
              <a:t>与能级量子化，</a:t>
            </a:r>
          </a:p>
          <a:p>
            <a:r>
              <a:rPr lang="zh-CN" altLang="en-US" sz="2400" b="1" dirty="0">
                <a:latin typeface="Times New Roman" pitchFamily="18" charset="0"/>
                <a:ea typeface="华文中宋" pitchFamily="2" charset="-122"/>
                <a:cs typeface="Times New Roman" pitchFamily="18" charset="0"/>
              </a:rPr>
              <a:t>  </a:t>
            </a:r>
            <a:r>
              <a:rPr lang="zh-CN" altLang="en-US" sz="2400" b="1" dirty="0" smtClean="0">
                <a:latin typeface="Times New Roman" pitchFamily="18" charset="0"/>
                <a:ea typeface="华文中宋" pitchFamily="2" charset="-122"/>
                <a:cs typeface="Times New Roman" pitchFamily="18" charset="0"/>
              </a:rPr>
              <a:t>  能级</a:t>
            </a:r>
            <a:r>
              <a:rPr lang="zh-CN" altLang="en-US" sz="2400" b="1" dirty="0">
                <a:latin typeface="Times New Roman" pitchFamily="18" charset="0"/>
                <a:ea typeface="华文中宋" pitchFamily="2" charset="-122"/>
                <a:cs typeface="Times New Roman" pitchFamily="18" charset="0"/>
              </a:rPr>
              <a:t>是非简并的</a:t>
            </a:r>
          </a:p>
          <a:p>
            <a:r>
              <a:rPr lang="en-US" altLang="zh-CN" sz="2400" b="1" dirty="0">
                <a:latin typeface="Times New Roman" pitchFamily="18" charset="0"/>
                <a:ea typeface="华文中宋" pitchFamily="2" charset="-122"/>
                <a:cs typeface="Times New Roman" pitchFamily="18" charset="0"/>
              </a:rPr>
              <a:t>2</a:t>
            </a:r>
            <a:r>
              <a:rPr lang="en-US" altLang="zh-CN" sz="2400" b="1" dirty="0" smtClean="0">
                <a:latin typeface="Times New Roman" pitchFamily="18" charset="0"/>
                <a:ea typeface="华文中宋" pitchFamily="2" charset="-122"/>
                <a:cs typeface="Times New Roman" pitchFamily="18" charset="0"/>
              </a:rPr>
              <a:t>. </a:t>
            </a:r>
            <a:r>
              <a:rPr lang="zh-CN" altLang="en-US" sz="2400" b="1" dirty="0" smtClean="0">
                <a:latin typeface="Times New Roman" pitchFamily="18" charset="0"/>
                <a:ea typeface="华文中宋" pitchFamily="2" charset="-122"/>
                <a:cs typeface="Times New Roman" pitchFamily="18" charset="0"/>
              </a:rPr>
              <a:t>零点能</a:t>
            </a:r>
            <a:r>
              <a:rPr lang="zh-CN" altLang="en-US" sz="2400" b="1" dirty="0">
                <a:latin typeface="Times New Roman" pitchFamily="18" charset="0"/>
                <a:ea typeface="华文中宋" pitchFamily="2" charset="-122"/>
                <a:cs typeface="Times New Roman" pitchFamily="18" charset="0"/>
              </a:rPr>
              <a:t>不为零，没有静止</a:t>
            </a:r>
          </a:p>
          <a:p>
            <a:r>
              <a:rPr lang="zh-CN" altLang="en-US" sz="2400" b="1" dirty="0">
                <a:latin typeface="Times New Roman" pitchFamily="18" charset="0"/>
                <a:ea typeface="华文中宋" pitchFamily="2" charset="-122"/>
                <a:cs typeface="Times New Roman" pitchFamily="18" charset="0"/>
              </a:rPr>
              <a:t>  </a:t>
            </a:r>
            <a:r>
              <a:rPr lang="zh-CN" altLang="en-US" sz="2400" b="1" dirty="0" smtClean="0">
                <a:latin typeface="Times New Roman" pitchFamily="18" charset="0"/>
                <a:ea typeface="华文中宋" pitchFamily="2" charset="-122"/>
                <a:cs typeface="Times New Roman" pitchFamily="18" charset="0"/>
              </a:rPr>
              <a:t>  的</a:t>
            </a:r>
            <a:r>
              <a:rPr lang="zh-CN" altLang="en-US" sz="2400" b="1" dirty="0">
                <a:latin typeface="Times New Roman" pitchFamily="18" charset="0"/>
                <a:ea typeface="华文中宋" pitchFamily="2" charset="-122"/>
                <a:cs typeface="Times New Roman" pitchFamily="18" charset="0"/>
              </a:rPr>
              <a:t>波</a:t>
            </a:r>
          </a:p>
          <a:p>
            <a:r>
              <a:rPr lang="en-US" altLang="zh-CN" sz="2400" b="1" dirty="0">
                <a:latin typeface="Times New Roman" pitchFamily="18" charset="0"/>
                <a:ea typeface="华文中宋" pitchFamily="2" charset="-122"/>
                <a:cs typeface="Times New Roman" pitchFamily="18" charset="0"/>
              </a:rPr>
              <a:t>3</a:t>
            </a:r>
            <a:r>
              <a:rPr lang="en-US" altLang="zh-CN" sz="2400" b="1" dirty="0" smtClean="0">
                <a:latin typeface="Times New Roman" pitchFamily="18" charset="0"/>
                <a:ea typeface="华文中宋" pitchFamily="2" charset="-122"/>
                <a:cs typeface="Times New Roman" pitchFamily="18" charset="0"/>
              </a:rPr>
              <a:t>. </a:t>
            </a:r>
            <a:r>
              <a:rPr lang="zh-CN" altLang="en-US" sz="2400" b="1" dirty="0" smtClean="0">
                <a:latin typeface="Times New Roman" pitchFamily="18" charset="0"/>
                <a:ea typeface="华文中宋" pitchFamily="2" charset="-122"/>
                <a:cs typeface="Times New Roman" pitchFamily="18" charset="0"/>
              </a:rPr>
              <a:t>能级</a:t>
            </a:r>
            <a:r>
              <a:rPr lang="zh-CN" altLang="en-US" sz="2400" b="1" dirty="0">
                <a:latin typeface="Times New Roman" pitchFamily="18" charset="0"/>
                <a:ea typeface="华文中宋" pitchFamily="2" charset="-122"/>
                <a:cs typeface="Times New Roman" pitchFamily="18" charset="0"/>
              </a:rPr>
              <a:t>值与容器的大小有关 </a:t>
            </a:r>
          </a:p>
          <a:p>
            <a:r>
              <a:rPr lang="en-US" altLang="zh-CN" sz="2400" b="1" dirty="0">
                <a:latin typeface="Times New Roman" pitchFamily="18" charset="0"/>
                <a:ea typeface="华文中宋" pitchFamily="2" charset="-122"/>
                <a:cs typeface="Times New Roman" pitchFamily="18" charset="0"/>
              </a:rPr>
              <a:t>4</a:t>
            </a:r>
            <a:r>
              <a:rPr lang="en-US" altLang="zh-CN" sz="2400" b="1" dirty="0" smtClean="0">
                <a:latin typeface="Times New Roman" pitchFamily="18" charset="0"/>
                <a:ea typeface="华文中宋" pitchFamily="2" charset="-122"/>
                <a:cs typeface="Times New Roman" pitchFamily="18" charset="0"/>
              </a:rPr>
              <a:t>. </a:t>
            </a:r>
            <a:r>
              <a:rPr lang="zh-CN" altLang="en-US" sz="2400" b="1" dirty="0" smtClean="0">
                <a:latin typeface="Times New Roman" pitchFamily="18" charset="0"/>
                <a:ea typeface="华文中宋" pitchFamily="2" charset="-122"/>
                <a:cs typeface="Times New Roman" pitchFamily="18" charset="0"/>
              </a:rPr>
              <a:t>能级</a:t>
            </a:r>
            <a:r>
              <a:rPr lang="zh-CN" altLang="en-US" sz="2400" b="1" dirty="0">
                <a:latin typeface="Times New Roman" pitchFamily="18" charset="0"/>
                <a:ea typeface="华文中宋" pitchFamily="2" charset="-122"/>
                <a:cs typeface="Times New Roman" pitchFamily="18" charset="0"/>
              </a:rPr>
              <a:t>分立、非均匀分布   </a:t>
            </a:r>
          </a:p>
        </p:txBody>
      </p:sp>
      <p:sp>
        <p:nvSpPr>
          <p:cNvPr id="18456" name="Rectangle 24"/>
          <p:cNvSpPr>
            <a:spLocks noChangeArrowheads="1"/>
          </p:cNvSpPr>
          <p:nvPr/>
        </p:nvSpPr>
        <p:spPr bwMode="auto">
          <a:xfrm>
            <a:off x="1600200" y="3962400"/>
            <a:ext cx="3352800" cy="990600"/>
          </a:xfrm>
          <a:prstGeom prst="rect">
            <a:avLst/>
          </a:prstGeom>
          <a:noFill/>
          <a:ln w="38100">
            <a:solidFill>
              <a:srgbClr val="D2DC08"/>
            </a:solidFill>
            <a:miter lim="800000"/>
            <a:headEnd/>
            <a:tailEnd/>
          </a:ln>
        </p:spPr>
        <p:txBody>
          <a:bodyPr wrap="none" anchor="ctr"/>
          <a:lstStyle/>
          <a:p>
            <a:endParaRPr lang="zh-CN" altLang="en-US">
              <a:latin typeface="华文中宋" pitchFamily="2" charset="-122"/>
              <a:ea typeface="华文中宋" pitchFamily="2" charset="-122"/>
            </a:endParaRP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8439"/>
                                        </p:tgtEl>
                                        <p:attrNameLst>
                                          <p:attrName>style.visibility</p:attrName>
                                        </p:attrNameLst>
                                      </p:cBhvr>
                                      <p:to>
                                        <p:strVal val="visible"/>
                                      </p:to>
                                    </p:set>
                                    <p:animEffect transition="in" filter="checkerboard(across)">
                                      <p:cBhvr>
                                        <p:cTn id="7" dur="500"/>
                                        <p:tgtEl>
                                          <p:spTgt spid="1843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heckerboard(across)">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checkerboard(across)">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checkerboard(across)">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checkerboard(across)">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grpId="0" nodeType="clickEffect">
                                  <p:stCondLst>
                                    <p:cond delay="0"/>
                                  </p:stCondLst>
                                  <p:childTnLst>
                                    <p:set>
                                      <p:cBhvr>
                                        <p:cTn id="31" dur="1" fill="hold">
                                          <p:stCondLst>
                                            <p:cond delay="0"/>
                                          </p:stCondLst>
                                        </p:cTn>
                                        <p:tgtEl>
                                          <p:spTgt spid="18456"/>
                                        </p:tgtEl>
                                        <p:attrNameLst>
                                          <p:attrName>style.visibility</p:attrName>
                                        </p:attrNameLst>
                                      </p:cBhvr>
                                      <p:to>
                                        <p:strVal val="visible"/>
                                      </p:to>
                                    </p:set>
                                    <p:animEffect transition="in" filter="barn(inHorizontal)">
                                      <p:cBhvr>
                                        <p:cTn id="32" dur="500"/>
                                        <p:tgtEl>
                                          <p:spTgt spid="18456"/>
                                        </p:tgtEl>
                                      </p:cBhvr>
                                    </p:animEffect>
                                  </p:childTnLst>
                                </p:cTn>
                              </p:par>
                            </p:childTnLst>
                          </p:cTn>
                        </p:par>
                        <p:par>
                          <p:cTn id="33" fill="hold">
                            <p:stCondLst>
                              <p:cond delay="500"/>
                            </p:stCondLst>
                            <p:childTnLst>
                              <p:par>
                                <p:cTn id="34" presetID="5" presetClass="entr" presetSubtype="10" fill="hold" grpId="0" nodeType="afterEffect">
                                  <p:stCondLst>
                                    <p:cond delay="0"/>
                                  </p:stCondLst>
                                  <p:childTnLst>
                                    <p:set>
                                      <p:cBhvr>
                                        <p:cTn id="35" dur="1" fill="hold">
                                          <p:stCondLst>
                                            <p:cond delay="0"/>
                                          </p:stCondLst>
                                        </p:cTn>
                                        <p:tgtEl>
                                          <p:spTgt spid="18451"/>
                                        </p:tgtEl>
                                        <p:attrNameLst>
                                          <p:attrName>style.visibility</p:attrName>
                                        </p:attrNameLst>
                                      </p:cBhvr>
                                      <p:to>
                                        <p:strVal val="visible"/>
                                      </p:to>
                                    </p:set>
                                    <p:animEffect transition="in" filter="checkerboard(across)">
                                      <p:cBhvr>
                                        <p:cTn id="36" dur="500"/>
                                        <p:tgtEl>
                                          <p:spTgt spid="184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51" grpId="0" animBg="1" autoUpdateAnimBg="0"/>
      <p:bldP spid="1845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3" name="Rectangle 2"/>
          <p:cNvSpPr>
            <a:spLocks noGrp="1" noRot="1" noChangeArrowheads="1"/>
          </p:cNvSpPr>
          <p:nvPr>
            <p:ph type="title"/>
          </p:nvPr>
        </p:nvSpPr>
        <p:spPr/>
        <p:txBody>
          <a:bodyPr/>
          <a:lstStyle/>
          <a:p>
            <a:pPr eaLnBrk="1" hangingPunct="1"/>
            <a:r>
              <a:rPr lang="zh-CN" altLang="en-US" dirty="0" smtClean="0">
                <a:solidFill>
                  <a:srgbClr val="FFFF00"/>
                </a:solidFill>
                <a:latin typeface="黑体" pitchFamily="49" charset="-122"/>
                <a:ea typeface="黑体" pitchFamily="49" charset="-122"/>
              </a:rPr>
              <a:t>三维自由平动子 </a:t>
            </a:r>
          </a:p>
        </p:txBody>
      </p:sp>
      <p:sp>
        <p:nvSpPr>
          <p:cNvPr id="4104" name="Text Box 4"/>
          <p:cNvSpPr txBox="1">
            <a:spLocks noChangeArrowheads="1"/>
          </p:cNvSpPr>
          <p:nvPr/>
        </p:nvSpPr>
        <p:spPr bwMode="auto">
          <a:xfrm>
            <a:off x="4976813" y="0"/>
            <a:ext cx="4167187"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微观粒子运动的量子力学描述</a:t>
            </a:r>
            <a:endParaRPr lang="zh-CN" altLang="en-US" sz="2400">
              <a:solidFill>
                <a:schemeClr val="bg1"/>
              </a:solidFill>
              <a:latin typeface="Times New Roman" pitchFamily="18" charset="0"/>
            </a:endParaRPr>
          </a:p>
        </p:txBody>
      </p:sp>
      <p:graphicFrame>
        <p:nvGraphicFramePr>
          <p:cNvPr id="19461" name="Object 5"/>
          <p:cNvGraphicFramePr>
            <a:graphicFrameLocks noChangeAspect="1"/>
          </p:cNvGraphicFramePr>
          <p:nvPr/>
        </p:nvGraphicFramePr>
        <p:xfrm>
          <a:off x="990600" y="1295400"/>
          <a:ext cx="2743200" cy="2081213"/>
        </p:xfrm>
        <a:graphic>
          <a:graphicData uri="http://schemas.openxmlformats.org/presentationml/2006/ole">
            <p:oleObj spid="_x0000_s4098" r:id="rId3" imgW="2247900" imgH="1705356" progId="Word.Picture.8">
              <p:embed/>
            </p:oleObj>
          </a:graphicData>
        </a:graphic>
      </p:graphicFrame>
      <p:grpSp>
        <p:nvGrpSpPr>
          <p:cNvPr id="2" name="Group 22"/>
          <p:cNvGrpSpPr>
            <a:grpSpLocks/>
          </p:cNvGrpSpPr>
          <p:nvPr/>
        </p:nvGrpSpPr>
        <p:grpSpPr bwMode="auto">
          <a:xfrm>
            <a:off x="914400" y="3371850"/>
            <a:ext cx="7945438" cy="1733550"/>
            <a:chOff x="576" y="2124"/>
            <a:chExt cx="5005" cy="1092"/>
          </a:xfrm>
        </p:grpSpPr>
        <p:sp>
          <p:nvSpPr>
            <p:cNvPr id="4110" name="Text Box 7"/>
            <p:cNvSpPr txBox="1">
              <a:spLocks noChangeArrowheads="1"/>
            </p:cNvSpPr>
            <p:nvPr/>
          </p:nvSpPr>
          <p:spPr bwMode="auto">
            <a:xfrm>
              <a:off x="576" y="2352"/>
              <a:ext cx="788" cy="288"/>
            </a:xfrm>
            <a:prstGeom prst="rect">
              <a:avLst/>
            </a:prstGeom>
            <a:noFill/>
            <a:ln w="9525">
              <a:noFill/>
              <a:miter lim="800000"/>
              <a:headEnd/>
              <a:tailEnd/>
            </a:ln>
          </p:spPr>
          <p:txBody>
            <a:bodyPr wrap="none">
              <a:spAutoFit/>
            </a:bodyPr>
            <a:lstStyle/>
            <a:p>
              <a:r>
                <a:rPr lang="zh-CN" altLang="en-US" sz="2400" b="1">
                  <a:solidFill>
                    <a:schemeClr val="accent2"/>
                  </a:solidFill>
                  <a:latin typeface="华文中宋" pitchFamily="2" charset="-122"/>
                  <a:ea typeface="华文中宋" pitchFamily="2" charset="-122"/>
                </a:rPr>
                <a:t>波函数 </a:t>
              </a:r>
            </a:p>
          </p:txBody>
        </p:sp>
        <p:graphicFrame>
          <p:nvGraphicFramePr>
            <p:cNvPr id="4101" name="Object 8"/>
            <p:cNvGraphicFramePr>
              <a:graphicFrameLocks noChangeAspect="1"/>
            </p:cNvGraphicFramePr>
            <p:nvPr/>
          </p:nvGraphicFramePr>
          <p:xfrm>
            <a:off x="1392" y="2124"/>
            <a:ext cx="4189" cy="564"/>
          </p:xfrm>
          <a:graphic>
            <a:graphicData uri="http://schemas.openxmlformats.org/presentationml/2006/ole">
              <p:oleObj spid="_x0000_s4101" name="Equation" r:id="rId4" imgW="3327120" imgH="444240" progId="Equation.DSMT4">
                <p:embed/>
              </p:oleObj>
            </a:graphicData>
          </a:graphic>
        </p:graphicFrame>
        <p:sp>
          <p:nvSpPr>
            <p:cNvPr id="4111" name="Text Box 10"/>
            <p:cNvSpPr txBox="1">
              <a:spLocks noChangeArrowheads="1"/>
            </p:cNvSpPr>
            <p:nvPr/>
          </p:nvSpPr>
          <p:spPr bwMode="auto">
            <a:xfrm>
              <a:off x="614" y="2832"/>
              <a:ext cx="692" cy="291"/>
            </a:xfrm>
            <a:prstGeom prst="rect">
              <a:avLst/>
            </a:prstGeom>
            <a:noFill/>
            <a:ln w="9525">
              <a:noFill/>
              <a:miter lim="800000"/>
              <a:headEnd/>
              <a:tailEnd/>
            </a:ln>
          </p:spPr>
          <p:txBody>
            <a:bodyPr wrap="none">
              <a:spAutoFit/>
            </a:bodyPr>
            <a:lstStyle/>
            <a:p>
              <a:r>
                <a:rPr lang="zh-CN" altLang="en-US" sz="2400" b="1">
                  <a:solidFill>
                    <a:schemeClr val="accent2"/>
                  </a:solidFill>
                  <a:latin typeface="华文中宋" pitchFamily="2" charset="-122"/>
                  <a:ea typeface="华文中宋" pitchFamily="2" charset="-122"/>
                </a:rPr>
                <a:t>能  级 </a:t>
              </a:r>
            </a:p>
          </p:txBody>
        </p:sp>
        <p:graphicFrame>
          <p:nvGraphicFramePr>
            <p:cNvPr id="4102" name="Object 11"/>
            <p:cNvGraphicFramePr>
              <a:graphicFrameLocks noChangeAspect="1"/>
            </p:cNvGraphicFramePr>
            <p:nvPr/>
          </p:nvGraphicFramePr>
          <p:xfrm>
            <a:off x="1488" y="2676"/>
            <a:ext cx="2063" cy="540"/>
          </p:xfrm>
          <a:graphic>
            <a:graphicData uri="http://schemas.openxmlformats.org/presentationml/2006/ole">
              <p:oleObj spid="_x0000_s4102" r:id="rId5" imgW="1637589" imgH="431613" progId="Equation.DSMT4">
                <p:embed/>
              </p:oleObj>
            </a:graphicData>
          </a:graphic>
        </p:graphicFrame>
      </p:grpSp>
      <p:graphicFrame>
        <p:nvGraphicFramePr>
          <p:cNvPr id="19470" name="Object 14"/>
          <p:cNvGraphicFramePr>
            <a:graphicFrameLocks noChangeAspect="1"/>
          </p:cNvGraphicFramePr>
          <p:nvPr/>
        </p:nvGraphicFramePr>
        <p:xfrm>
          <a:off x="1143000" y="5661025"/>
          <a:ext cx="3494088" cy="1044575"/>
        </p:xfrm>
        <a:graphic>
          <a:graphicData uri="http://schemas.openxmlformats.org/presentationml/2006/ole">
            <p:oleObj spid="_x0000_s4099" r:id="rId6" imgW="1752600" imgH="520700" progId="Equation.DSMT4">
              <p:embed/>
            </p:oleObj>
          </a:graphicData>
        </a:graphic>
      </p:graphicFrame>
      <p:grpSp>
        <p:nvGrpSpPr>
          <p:cNvPr id="3" name="Group 19"/>
          <p:cNvGrpSpPr>
            <a:grpSpLocks/>
          </p:cNvGrpSpPr>
          <p:nvPr/>
        </p:nvGrpSpPr>
        <p:grpSpPr bwMode="auto">
          <a:xfrm>
            <a:off x="974725" y="4953004"/>
            <a:ext cx="5818190" cy="614363"/>
            <a:chOff x="614" y="3120"/>
            <a:chExt cx="3665" cy="387"/>
          </a:xfrm>
        </p:grpSpPr>
        <p:sp>
          <p:nvSpPr>
            <p:cNvPr id="4109" name="Text Box 13"/>
            <p:cNvSpPr txBox="1">
              <a:spLocks noChangeArrowheads="1"/>
            </p:cNvSpPr>
            <p:nvPr/>
          </p:nvSpPr>
          <p:spPr bwMode="auto">
            <a:xfrm>
              <a:off x="614" y="3216"/>
              <a:ext cx="3665" cy="291"/>
            </a:xfrm>
            <a:prstGeom prst="rect">
              <a:avLst/>
            </a:prstGeom>
            <a:noFill/>
            <a:ln w="9525">
              <a:noFill/>
              <a:miter lim="800000"/>
              <a:headEnd/>
              <a:tailEnd/>
            </a:ln>
          </p:spPr>
          <p:txBody>
            <a:bodyPr wrap="none">
              <a:spAutoFit/>
            </a:bodyPr>
            <a:lstStyle/>
            <a:p>
              <a:r>
                <a:rPr lang="zh-CN" altLang="en-US" sz="2400" b="1" dirty="0">
                  <a:solidFill>
                    <a:schemeClr val="accent2"/>
                  </a:solidFill>
                  <a:latin typeface="华文中宋" pitchFamily="2" charset="-122"/>
                  <a:ea typeface="华文中宋" pitchFamily="2" charset="-122"/>
                </a:rPr>
                <a:t>如果是立方体 </a:t>
              </a:r>
              <a:r>
                <a:rPr lang="en-US" altLang="zh-CN" sz="2400" b="1" dirty="0">
                  <a:solidFill>
                    <a:schemeClr val="accent2"/>
                  </a:solidFill>
                  <a:latin typeface="华文中宋" pitchFamily="2" charset="-122"/>
                  <a:ea typeface="华文中宋" pitchFamily="2" charset="-122"/>
                </a:rPr>
                <a:t>,                    </a:t>
              </a:r>
              <a:r>
                <a:rPr lang="en-US" altLang="zh-CN" sz="2400" b="1" dirty="0" smtClean="0">
                  <a:solidFill>
                    <a:schemeClr val="accent2"/>
                  </a:solidFill>
                  <a:latin typeface="华文中宋" pitchFamily="2" charset="-122"/>
                  <a:ea typeface="华文中宋" pitchFamily="2" charset="-122"/>
                </a:rPr>
                <a:t>           ,</a:t>
              </a:r>
              <a:r>
                <a:rPr lang="zh-CN" altLang="en-US" sz="2400" b="1" dirty="0">
                  <a:solidFill>
                    <a:schemeClr val="accent2"/>
                  </a:solidFill>
                  <a:latin typeface="华文中宋" pitchFamily="2" charset="-122"/>
                  <a:ea typeface="华文中宋" pitchFamily="2" charset="-122"/>
                </a:rPr>
                <a:t>则 </a:t>
              </a:r>
            </a:p>
          </p:txBody>
        </p:sp>
        <p:graphicFrame>
          <p:nvGraphicFramePr>
            <p:cNvPr id="4100" name="Object 16"/>
            <p:cNvGraphicFramePr>
              <a:graphicFrameLocks noChangeAspect="1"/>
            </p:cNvGraphicFramePr>
            <p:nvPr/>
          </p:nvGraphicFramePr>
          <p:xfrm>
            <a:off x="2099" y="3120"/>
            <a:ext cx="1741" cy="384"/>
          </p:xfrm>
          <a:graphic>
            <a:graphicData uri="http://schemas.openxmlformats.org/presentationml/2006/ole">
              <p:oleObj spid="_x0000_s4100" r:id="rId7" imgW="1384300" imgH="304800" progId="Equation.DSMT4">
                <p:embed/>
              </p:oleObj>
            </a:graphicData>
          </a:graphic>
        </p:graphicFrame>
      </p:grpSp>
      <p:sp>
        <p:nvSpPr>
          <p:cNvPr id="19476" name="Text Box 20"/>
          <p:cNvSpPr txBox="1">
            <a:spLocks noChangeArrowheads="1"/>
          </p:cNvSpPr>
          <p:nvPr/>
        </p:nvSpPr>
        <p:spPr bwMode="auto">
          <a:xfrm>
            <a:off x="4054475" y="1358900"/>
            <a:ext cx="4774064" cy="1938992"/>
          </a:xfrm>
          <a:prstGeom prst="rect">
            <a:avLst/>
          </a:prstGeom>
          <a:solidFill>
            <a:schemeClr val="bg1"/>
          </a:solidFill>
          <a:ln w="9525">
            <a:noFill/>
            <a:miter lim="800000"/>
            <a:headEnd/>
            <a:tailEnd/>
          </a:ln>
        </p:spPr>
        <p:txBody>
          <a:bodyPr wrap="none">
            <a:spAutoFit/>
          </a:bodyPr>
          <a:lstStyle/>
          <a:p>
            <a:pPr marL="457200" indent="-457200"/>
            <a:r>
              <a:rPr lang="zh-CN" altLang="en-US" sz="2400" b="1">
                <a:latin typeface="Times New Roman" pitchFamily="18" charset="0"/>
                <a:ea typeface="华文中宋" pitchFamily="2" charset="-122"/>
                <a:cs typeface="Times New Roman" pitchFamily="18" charset="0"/>
              </a:rPr>
              <a:t>分析：</a:t>
            </a:r>
          </a:p>
          <a:p>
            <a:pPr marL="457200" indent="-457200">
              <a:buFontTx/>
              <a:buAutoNum type="arabicPeriod"/>
            </a:pPr>
            <a:r>
              <a:rPr lang="zh-CN" altLang="en-US" sz="2400" b="1">
                <a:latin typeface="Times New Roman" pitchFamily="18" charset="0"/>
                <a:ea typeface="华文中宋" pitchFamily="2" charset="-122"/>
                <a:cs typeface="Times New Roman" pitchFamily="18" charset="0"/>
              </a:rPr>
              <a:t>三维自由平动子的量子态和</a:t>
            </a:r>
          </a:p>
          <a:p>
            <a:pPr marL="457200" indent="-457200"/>
            <a:r>
              <a:rPr lang="zh-CN" altLang="en-US" sz="2400" b="1">
                <a:latin typeface="Times New Roman" pitchFamily="18" charset="0"/>
                <a:ea typeface="华文中宋" pitchFamily="2" charset="-122"/>
                <a:cs typeface="Times New Roman" pitchFamily="18" charset="0"/>
              </a:rPr>
              <a:t>   能级是量子化的 </a:t>
            </a:r>
          </a:p>
          <a:p>
            <a:pPr marL="457200" indent="-457200"/>
            <a:r>
              <a:rPr lang="en-US" altLang="zh-CN" sz="2400" b="1">
                <a:latin typeface="Times New Roman" pitchFamily="18" charset="0"/>
                <a:ea typeface="华文中宋" pitchFamily="2" charset="-122"/>
                <a:cs typeface="Times New Roman" pitchFamily="18" charset="0"/>
              </a:rPr>
              <a:t>2.</a:t>
            </a:r>
            <a:r>
              <a:rPr lang="en-US" altLang="zh-CN" sz="2400" b="1" i="1" u="sng">
                <a:latin typeface="Times New Roman" pitchFamily="18" charset="0"/>
                <a:ea typeface="华文中宋" pitchFamily="2" charset="-122"/>
                <a:cs typeface="Times New Roman" pitchFamily="18" charset="0"/>
              </a:rPr>
              <a:t> </a:t>
            </a:r>
            <a:r>
              <a:rPr lang="zh-CN" altLang="en-US" sz="2400" b="1" i="1" u="sng">
                <a:latin typeface="Times New Roman" pitchFamily="18" charset="0"/>
                <a:ea typeface="华文中宋" pitchFamily="2" charset="-122"/>
                <a:cs typeface="Times New Roman" pitchFamily="18" charset="0"/>
              </a:rPr>
              <a:t>零点能不为</a:t>
            </a:r>
            <a:r>
              <a:rPr lang="en-US" altLang="zh-CN" sz="2400" b="1" i="1" u="sng">
                <a:latin typeface="Times New Roman" pitchFamily="18" charset="0"/>
                <a:ea typeface="华文中宋" pitchFamily="2" charset="-122"/>
                <a:cs typeface="Times New Roman" pitchFamily="18" charset="0"/>
              </a:rPr>
              <a:t>0</a:t>
            </a:r>
            <a:r>
              <a:rPr lang="zh-CN" altLang="en-US" sz="2400" b="1" i="1">
                <a:latin typeface="Times New Roman" pitchFamily="18" charset="0"/>
                <a:ea typeface="华文中宋" pitchFamily="2" charset="-122"/>
                <a:cs typeface="Times New Roman" pitchFamily="18" charset="0"/>
              </a:rPr>
              <a:t>，</a:t>
            </a:r>
            <a:r>
              <a:rPr lang="en-US" altLang="zh-CN" sz="2400" b="1" i="1">
                <a:latin typeface="Times New Roman" pitchFamily="18" charset="0"/>
                <a:ea typeface="华文中宋" pitchFamily="2" charset="-122"/>
                <a:cs typeface="Times New Roman" pitchFamily="18" charset="0"/>
              </a:rPr>
              <a:t>V </a:t>
            </a:r>
            <a:r>
              <a:rPr lang="zh-CN" altLang="en-US" sz="2400" b="1">
                <a:latin typeface="Times New Roman" pitchFamily="18" charset="0"/>
                <a:ea typeface="华文中宋" pitchFamily="2" charset="-122"/>
                <a:cs typeface="Times New Roman" pitchFamily="18" charset="0"/>
              </a:rPr>
              <a:t>越大零点能越</a:t>
            </a:r>
          </a:p>
          <a:p>
            <a:pPr marL="457200" indent="-457200"/>
            <a:r>
              <a:rPr lang="zh-CN" altLang="en-US" sz="2400" b="1">
                <a:latin typeface="Times New Roman" pitchFamily="18" charset="0"/>
                <a:ea typeface="华文中宋" pitchFamily="2" charset="-122"/>
                <a:cs typeface="Times New Roman" pitchFamily="18" charset="0"/>
              </a:rPr>
              <a:t>   小，能级分布不均匀  </a:t>
            </a:r>
          </a:p>
        </p:txBody>
      </p:sp>
      <p:sp>
        <p:nvSpPr>
          <p:cNvPr id="19477" name="Text Box 21"/>
          <p:cNvSpPr txBox="1">
            <a:spLocks noChangeArrowheads="1"/>
          </p:cNvSpPr>
          <p:nvPr/>
        </p:nvSpPr>
        <p:spPr bwMode="auto">
          <a:xfrm>
            <a:off x="5410200" y="5911850"/>
            <a:ext cx="2012950" cy="641350"/>
          </a:xfrm>
          <a:prstGeom prst="rect">
            <a:avLst/>
          </a:prstGeom>
          <a:solidFill>
            <a:schemeClr val="bg1"/>
          </a:solidFill>
          <a:ln w="9525">
            <a:noFill/>
            <a:miter lim="800000"/>
            <a:headEnd/>
            <a:tailEnd/>
          </a:ln>
        </p:spPr>
        <p:txBody>
          <a:bodyPr wrap="none">
            <a:spAutoFit/>
          </a:bodyPr>
          <a:lstStyle/>
          <a:p>
            <a:r>
              <a:rPr lang="zh-CN" altLang="en-US" sz="3600">
                <a:solidFill>
                  <a:schemeClr val="hlink"/>
                </a:solidFill>
                <a:latin typeface="华文中宋" pitchFamily="2" charset="-122"/>
                <a:ea typeface="华文中宋" pitchFamily="2" charset="-122"/>
              </a:rPr>
              <a:t>简并度？</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9461"/>
                                        </p:tgtEl>
                                        <p:attrNameLst>
                                          <p:attrName>style.visibility</p:attrName>
                                        </p:attrNameLst>
                                      </p:cBhvr>
                                      <p:to>
                                        <p:strVal val="visible"/>
                                      </p:to>
                                    </p:set>
                                    <p:animEffect transition="in" filter="dissolve">
                                      <p:cBhvr>
                                        <p:cTn id="7" dur="500"/>
                                        <p:tgtEl>
                                          <p:spTgt spid="1946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9470"/>
                                        </p:tgtEl>
                                        <p:attrNameLst>
                                          <p:attrName>style.visibility</p:attrName>
                                        </p:attrNameLst>
                                      </p:cBhvr>
                                      <p:to>
                                        <p:strVal val="visible"/>
                                      </p:to>
                                    </p:set>
                                    <p:animEffect transition="in" filter="dissolve">
                                      <p:cBhvr>
                                        <p:cTn id="22" dur="500"/>
                                        <p:tgtEl>
                                          <p:spTgt spid="1947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9476"/>
                                        </p:tgtEl>
                                        <p:attrNameLst>
                                          <p:attrName>style.visibility</p:attrName>
                                        </p:attrNameLst>
                                      </p:cBhvr>
                                      <p:to>
                                        <p:strVal val="visible"/>
                                      </p:to>
                                    </p:set>
                                    <p:animEffect transition="in" filter="dissolve">
                                      <p:cBhvr>
                                        <p:cTn id="27" dur="500"/>
                                        <p:tgtEl>
                                          <p:spTgt spid="1947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9477"/>
                                        </p:tgtEl>
                                        <p:attrNameLst>
                                          <p:attrName>style.visibility</p:attrName>
                                        </p:attrNameLst>
                                      </p:cBhvr>
                                      <p:to>
                                        <p:strVal val="visible"/>
                                      </p:to>
                                    </p:set>
                                    <p:animEffect transition="in" filter="dissolve">
                                      <p:cBhvr>
                                        <p:cTn id="32" dur="500"/>
                                        <p:tgtEl>
                                          <p:spTgt spid="19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76" grpId="0" animBg="1" autoUpdateAnimBg="0"/>
      <p:bldP spid="19477"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Rot="1" noChangeArrowheads="1"/>
          </p:cNvSpPr>
          <p:nvPr>
            <p:ph type="title"/>
          </p:nvPr>
        </p:nvSpPr>
        <p:spPr/>
        <p:txBody>
          <a:bodyPr/>
          <a:lstStyle/>
          <a:p>
            <a:pPr eaLnBrk="1" hangingPunct="1"/>
            <a:r>
              <a:rPr lang="zh-CN" altLang="en-US" dirty="0" smtClean="0">
                <a:solidFill>
                  <a:srgbClr val="FFFF00"/>
                </a:solidFill>
                <a:latin typeface="黑体" pitchFamily="49" charset="-122"/>
                <a:ea typeface="黑体" pitchFamily="49" charset="-122"/>
              </a:rPr>
              <a:t>三维自由平动子的简并度</a:t>
            </a:r>
          </a:p>
        </p:txBody>
      </p:sp>
      <p:sp>
        <p:nvSpPr>
          <p:cNvPr id="5125" name="Text Box 4"/>
          <p:cNvSpPr txBox="1">
            <a:spLocks noChangeArrowheads="1"/>
          </p:cNvSpPr>
          <p:nvPr/>
        </p:nvSpPr>
        <p:spPr bwMode="auto">
          <a:xfrm>
            <a:off x="4976813" y="0"/>
            <a:ext cx="4167187"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微观粒子运动的量子力学描述</a:t>
            </a:r>
            <a:endParaRPr lang="zh-CN" altLang="en-US" sz="2400">
              <a:solidFill>
                <a:schemeClr val="bg1"/>
              </a:solidFill>
              <a:latin typeface="Times New Roman" pitchFamily="18" charset="0"/>
            </a:endParaRPr>
          </a:p>
        </p:txBody>
      </p:sp>
      <p:grpSp>
        <p:nvGrpSpPr>
          <p:cNvPr id="2" name="Group 116"/>
          <p:cNvGrpSpPr>
            <a:grpSpLocks/>
          </p:cNvGrpSpPr>
          <p:nvPr/>
        </p:nvGrpSpPr>
        <p:grpSpPr bwMode="auto">
          <a:xfrm>
            <a:off x="1127125" y="1316038"/>
            <a:ext cx="7007228" cy="1200150"/>
            <a:chOff x="710" y="829"/>
            <a:chExt cx="4414" cy="756"/>
          </a:xfrm>
        </p:grpSpPr>
        <p:sp>
          <p:nvSpPr>
            <p:cNvPr id="5180" name="Text Box 5"/>
            <p:cNvSpPr txBox="1">
              <a:spLocks noChangeArrowheads="1"/>
            </p:cNvSpPr>
            <p:nvPr/>
          </p:nvSpPr>
          <p:spPr bwMode="auto">
            <a:xfrm>
              <a:off x="710" y="829"/>
              <a:ext cx="4414" cy="756"/>
            </a:xfrm>
            <a:prstGeom prst="rect">
              <a:avLst/>
            </a:prstGeom>
            <a:solidFill>
              <a:schemeClr val="bg1"/>
            </a:solidFill>
            <a:ln w="9525">
              <a:noFill/>
              <a:miter lim="800000"/>
              <a:headEnd/>
              <a:tailEnd/>
            </a:ln>
          </p:spPr>
          <p:txBody>
            <a:bodyPr wrap="none">
              <a:spAutoFit/>
            </a:bodyPr>
            <a:lstStyle/>
            <a:p>
              <a:endParaRPr lang="en-US" altLang="zh-CN" sz="2400" b="1" dirty="0">
                <a:latin typeface="Times New Roman" pitchFamily="18" charset="0"/>
                <a:ea typeface="华文中宋" pitchFamily="2" charset="-122"/>
                <a:cs typeface="Times New Roman" pitchFamily="18" charset="0"/>
              </a:endParaRPr>
            </a:p>
            <a:p>
              <a:r>
                <a:rPr lang="zh-CN" altLang="en-US" sz="2400" b="1" dirty="0">
                  <a:latin typeface="Times New Roman" pitchFamily="18" charset="0"/>
                  <a:ea typeface="华文中宋" pitchFamily="2" charset="-122"/>
                  <a:cs typeface="Times New Roman" pitchFamily="18" charset="0"/>
                </a:rPr>
                <a:t>当           </a:t>
              </a:r>
              <a:r>
                <a:rPr lang="zh-CN" altLang="en-US" sz="2400" b="1" dirty="0" smtClean="0">
                  <a:latin typeface="Times New Roman" pitchFamily="18" charset="0"/>
                  <a:ea typeface="华文中宋" pitchFamily="2" charset="-122"/>
                  <a:cs typeface="Times New Roman" pitchFamily="18" charset="0"/>
                </a:rPr>
                <a:t>         时</a:t>
              </a:r>
              <a:r>
                <a:rPr lang="zh-CN" altLang="en-US" sz="2400" b="1" dirty="0">
                  <a:latin typeface="Times New Roman" pitchFamily="18" charset="0"/>
                  <a:ea typeface="华文中宋" pitchFamily="2" charset="-122"/>
                  <a:cs typeface="Times New Roman" pitchFamily="18" charset="0"/>
                </a:rPr>
                <a:t>，能级是非简并的</a:t>
              </a:r>
              <a:r>
                <a:rPr lang="en-US" altLang="zh-CN" sz="2400" b="1" dirty="0">
                  <a:latin typeface="Times New Roman" pitchFamily="18" charset="0"/>
                  <a:ea typeface="华文中宋" pitchFamily="2" charset="-122"/>
                  <a:cs typeface="Times New Roman" pitchFamily="18" charset="0"/>
                </a:rPr>
                <a:t>(</a:t>
              </a:r>
              <a:r>
                <a:rPr lang="zh-CN" altLang="en-US" sz="2400" b="1" dirty="0">
                  <a:latin typeface="Times New Roman" pitchFamily="18" charset="0"/>
                  <a:ea typeface="华文中宋" pitchFamily="2" charset="-122"/>
                  <a:cs typeface="Times New Roman" pitchFamily="18" charset="0"/>
                </a:rPr>
                <a:t>简并度为</a:t>
              </a:r>
              <a:r>
                <a:rPr lang="en-US" altLang="zh-CN" sz="2400" b="1" dirty="0">
                  <a:latin typeface="Times New Roman" pitchFamily="18" charset="0"/>
                  <a:ea typeface="华文中宋" pitchFamily="2" charset="-122"/>
                  <a:cs typeface="Times New Roman" pitchFamily="18" charset="0"/>
                </a:rPr>
                <a:t>1)</a:t>
              </a:r>
              <a:r>
                <a:rPr lang="zh-CN" altLang="en-US" sz="2400" b="1" dirty="0" smtClean="0">
                  <a:latin typeface="Times New Roman" pitchFamily="18" charset="0"/>
                  <a:ea typeface="华文中宋" pitchFamily="2" charset="-122"/>
                  <a:cs typeface="Times New Roman" pitchFamily="18" charset="0"/>
                </a:rPr>
                <a:t>；    </a:t>
              </a:r>
              <a:endParaRPr lang="zh-CN" altLang="en-US" sz="2400" b="1" dirty="0">
                <a:latin typeface="Times New Roman" pitchFamily="18" charset="0"/>
                <a:ea typeface="华文中宋" pitchFamily="2" charset="-122"/>
                <a:cs typeface="Times New Roman" pitchFamily="18" charset="0"/>
              </a:endParaRPr>
            </a:p>
            <a:p>
              <a:r>
                <a:rPr lang="zh-CN" altLang="en-US" sz="2400" b="1" dirty="0">
                  <a:latin typeface="Times New Roman" pitchFamily="18" charset="0"/>
                  <a:ea typeface="华文中宋" pitchFamily="2" charset="-122"/>
                  <a:cs typeface="Times New Roman" pitchFamily="18" charset="0"/>
                </a:rPr>
                <a:t> </a:t>
              </a:r>
            </a:p>
          </p:txBody>
        </p:sp>
        <p:graphicFrame>
          <p:nvGraphicFramePr>
            <p:cNvPr id="5123" name="Object 1"/>
            <p:cNvGraphicFramePr>
              <a:graphicFrameLocks noChangeAspect="1"/>
            </p:cNvGraphicFramePr>
            <p:nvPr/>
          </p:nvGraphicFramePr>
          <p:xfrm>
            <a:off x="1008" y="925"/>
            <a:ext cx="898" cy="659"/>
          </p:xfrm>
          <a:graphic>
            <a:graphicData uri="http://schemas.openxmlformats.org/presentationml/2006/ole">
              <p:oleObj spid="_x0000_s5123" r:id="rId3" imgW="710891" imgH="520474" progId="Equation.DSMT4">
                <p:embed/>
              </p:oleObj>
            </a:graphicData>
          </a:graphic>
        </p:graphicFrame>
      </p:grpSp>
      <p:grpSp>
        <p:nvGrpSpPr>
          <p:cNvPr id="3" name="Group 117"/>
          <p:cNvGrpSpPr>
            <a:grpSpLocks/>
          </p:cNvGrpSpPr>
          <p:nvPr/>
        </p:nvGrpSpPr>
        <p:grpSpPr bwMode="auto">
          <a:xfrm>
            <a:off x="1127125" y="2514601"/>
            <a:ext cx="7823203" cy="1570038"/>
            <a:chOff x="710" y="1584"/>
            <a:chExt cx="4928" cy="989"/>
          </a:xfrm>
        </p:grpSpPr>
        <p:sp>
          <p:nvSpPr>
            <p:cNvPr id="5179" name="Text Box 8"/>
            <p:cNvSpPr txBox="1">
              <a:spLocks noChangeArrowheads="1"/>
            </p:cNvSpPr>
            <p:nvPr/>
          </p:nvSpPr>
          <p:spPr bwMode="auto">
            <a:xfrm>
              <a:off x="710" y="1584"/>
              <a:ext cx="4928" cy="989"/>
            </a:xfrm>
            <a:prstGeom prst="rect">
              <a:avLst/>
            </a:prstGeom>
            <a:solidFill>
              <a:schemeClr val="accent2"/>
            </a:solidFill>
            <a:ln w="9525">
              <a:noFill/>
              <a:miter lim="800000"/>
              <a:headEnd/>
              <a:tailEnd/>
            </a:ln>
          </p:spPr>
          <p:txBody>
            <a:bodyPr wrap="none">
              <a:spAutoFit/>
            </a:bodyPr>
            <a:lstStyle/>
            <a:p>
              <a:endParaRPr lang="en-US" altLang="zh-CN" sz="2400" b="1" dirty="0">
                <a:latin typeface="Times New Roman" pitchFamily="18" charset="0"/>
                <a:ea typeface="华文中宋" pitchFamily="2" charset="-122"/>
                <a:cs typeface="Times New Roman" pitchFamily="18" charset="0"/>
              </a:endParaRPr>
            </a:p>
            <a:p>
              <a:r>
                <a:rPr lang="zh-CN" altLang="en-US" sz="2400" b="1" dirty="0">
                  <a:latin typeface="Times New Roman" pitchFamily="18" charset="0"/>
                  <a:ea typeface="华文中宋" pitchFamily="2" charset="-122"/>
                  <a:cs typeface="Times New Roman" pitchFamily="18" charset="0"/>
                </a:rPr>
                <a:t>当           </a:t>
              </a:r>
              <a:r>
                <a:rPr lang="zh-CN" altLang="en-US" sz="2400" b="1" dirty="0" smtClean="0">
                  <a:latin typeface="Times New Roman" pitchFamily="18" charset="0"/>
                  <a:ea typeface="华文中宋" pitchFamily="2" charset="-122"/>
                  <a:cs typeface="Times New Roman" pitchFamily="18" charset="0"/>
                </a:rPr>
                <a:t>         时</a:t>
              </a:r>
              <a:r>
                <a:rPr lang="zh-CN" altLang="en-US" sz="2400" b="1" dirty="0">
                  <a:latin typeface="Times New Roman" pitchFamily="18" charset="0"/>
                  <a:ea typeface="华文中宋" pitchFamily="2" charset="-122"/>
                  <a:cs typeface="Times New Roman" pitchFamily="18" charset="0"/>
                </a:rPr>
                <a:t>，能级的简并度</a:t>
              </a:r>
              <a:r>
                <a:rPr lang="en-US" altLang="zh-CN" sz="2400" b="1" i="1" dirty="0">
                  <a:latin typeface="Times New Roman" pitchFamily="18" charset="0"/>
                  <a:ea typeface="华文中宋" pitchFamily="2" charset="-122"/>
                  <a:cs typeface="Times New Roman" pitchFamily="18" charset="0"/>
                </a:rPr>
                <a:t>g</a:t>
              </a:r>
              <a:r>
                <a:rPr lang="en-US" altLang="zh-CN" sz="2400" b="1" dirty="0">
                  <a:latin typeface="Times New Roman" pitchFamily="18" charset="0"/>
                  <a:ea typeface="华文中宋" pitchFamily="2" charset="-122"/>
                  <a:cs typeface="Times New Roman" pitchFamily="18" charset="0"/>
                </a:rPr>
                <a:t>=3</a:t>
              </a:r>
              <a:r>
                <a:rPr lang="zh-CN" altLang="en-US" sz="2400" b="1" dirty="0">
                  <a:latin typeface="Times New Roman" pitchFamily="18" charset="0"/>
                  <a:ea typeface="华文中宋" pitchFamily="2" charset="-122"/>
                  <a:cs typeface="Times New Roman" pitchFamily="18" charset="0"/>
                </a:rPr>
                <a:t>，即可以有三种</a:t>
              </a:r>
              <a:r>
                <a:rPr lang="zh-CN" altLang="en-US" sz="2400" b="1" dirty="0" smtClean="0">
                  <a:latin typeface="Times New Roman" pitchFamily="18" charset="0"/>
                  <a:ea typeface="华文中宋" pitchFamily="2" charset="-122"/>
                  <a:cs typeface="Times New Roman" pitchFamily="18" charset="0"/>
                </a:rPr>
                <a:t>量子 </a:t>
              </a:r>
              <a:endParaRPr lang="zh-CN" altLang="en-US" sz="2400" b="1" dirty="0">
                <a:latin typeface="Times New Roman" pitchFamily="18" charset="0"/>
                <a:ea typeface="华文中宋" pitchFamily="2" charset="-122"/>
                <a:cs typeface="Times New Roman" pitchFamily="18" charset="0"/>
              </a:endParaRPr>
            </a:p>
            <a:p>
              <a:endParaRPr lang="zh-CN" altLang="en-US" sz="2400" b="1" dirty="0">
                <a:latin typeface="Times New Roman" pitchFamily="18" charset="0"/>
                <a:ea typeface="华文中宋" pitchFamily="2" charset="-122"/>
                <a:cs typeface="Times New Roman" pitchFamily="18" charset="0"/>
              </a:endParaRPr>
            </a:p>
            <a:p>
              <a:r>
                <a:rPr lang="zh-CN" altLang="en-US" sz="2400" b="1" dirty="0">
                  <a:latin typeface="Times New Roman" pitchFamily="18" charset="0"/>
                  <a:ea typeface="华文中宋" pitchFamily="2" charset="-122"/>
                  <a:cs typeface="Times New Roman" pitchFamily="18" charset="0"/>
                </a:rPr>
                <a:t>态与此对应 </a:t>
              </a:r>
            </a:p>
          </p:txBody>
        </p:sp>
        <p:graphicFrame>
          <p:nvGraphicFramePr>
            <p:cNvPr id="5122" name="Object 0"/>
            <p:cNvGraphicFramePr>
              <a:graphicFrameLocks noChangeAspect="1"/>
            </p:cNvGraphicFramePr>
            <p:nvPr/>
          </p:nvGraphicFramePr>
          <p:xfrm>
            <a:off x="1008" y="1647"/>
            <a:ext cx="848" cy="657"/>
          </p:xfrm>
          <a:graphic>
            <a:graphicData uri="http://schemas.openxmlformats.org/presentationml/2006/ole">
              <p:oleObj spid="_x0000_s5122" r:id="rId4" imgW="672808" imgH="520474" progId="Equation.DSMT4">
                <p:embed/>
              </p:oleObj>
            </a:graphicData>
          </a:graphic>
        </p:graphicFrame>
      </p:grpSp>
      <p:grpSp>
        <p:nvGrpSpPr>
          <p:cNvPr id="4" name="Group 115"/>
          <p:cNvGrpSpPr>
            <a:grpSpLocks/>
          </p:cNvGrpSpPr>
          <p:nvPr/>
        </p:nvGrpSpPr>
        <p:grpSpPr bwMode="auto">
          <a:xfrm>
            <a:off x="2362200" y="4191000"/>
            <a:ext cx="5257800" cy="2447925"/>
            <a:chOff x="-3" y="-3"/>
            <a:chExt cx="2049" cy="1542"/>
          </a:xfrm>
        </p:grpSpPr>
        <p:grpSp>
          <p:nvGrpSpPr>
            <p:cNvPr id="5129" name="Group 113"/>
            <p:cNvGrpSpPr>
              <a:grpSpLocks/>
            </p:cNvGrpSpPr>
            <p:nvPr/>
          </p:nvGrpSpPr>
          <p:grpSpPr bwMode="auto">
            <a:xfrm>
              <a:off x="0" y="0"/>
              <a:ext cx="2043" cy="1536"/>
              <a:chOff x="0" y="0"/>
              <a:chExt cx="2043" cy="1536"/>
            </a:xfrm>
          </p:grpSpPr>
          <p:grpSp>
            <p:nvGrpSpPr>
              <p:cNvPr id="5131" name="Group 82"/>
              <p:cNvGrpSpPr>
                <a:grpSpLocks/>
              </p:cNvGrpSpPr>
              <p:nvPr/>
            </p:nvGrpSpPr>
            <p:grpSpPr bwMode="auto">
              <a:xfrm>
                <a:off x="0" y="0"/>
                <a:ext cx="705" cy="384"/>
                <a:chOff x="0" y="0"/>
                <a:chExt cx="705" cy="384"/>
              </a:xfrm>
            </p:grpSpPr>
            <p:sp>
              <p:nvSpPr>
                <p:cNvPr id="5177" name="Rectangle 65"/>
                <p:cNvSpPr>
                  <a:spLocks noChangeArrowheads="1"/>
                </p:cNvSpPr>
                <p:nvPr/>
              </p:nvSpPr>
              <p:spPr bwMode="auto">
                <a:xfrm>
                  <a:off x="43" y="0"/>
                  <a:ext cx="619" cy="384"/>
                </a:xfrm>
                <a:prstGeom prst="rect">
                  <a:avLst/>
                </a:prstGeom>
                <a:noFill/>
                <a:ln w="9525">
                  <a:noFill/>
                  <a:miter lim="800000"/>
                  <a:headEnd/>
                  <a:tailEnd/>
                </a:ln>
              </p:spPr>
              <p:txBody>
                <a:bodyPr/>
                <a:lstStyle/>
                <a:p>
                  <a:pPr algn="ctr"/>
                  <a:r>
                    <a:rPr kumimoji="1" lang="zh-CN" altLang="en-US" sz="2400" b="1">
                      <a:solidFill>
                        <a:schemeClr val="bg1"/>
                      </a:solidFill>
                      <a:latin typeface="Times New Roman" pitchFamily="18" charset="0"/>
                      <a:ea typeface="华文中宋" pitchFamily="2" charset="-122"/>
                      <a:cs typeface="Times New Roman" pitchFamily="18" charset="0"/>
                    </a:rPr>
                    <a:t>量子态</a:t>
                  </a:r>
                </a:p>
                <a:p>
                  <a:pPr algn="ctr" eaLnBrk="0" hangingPunct="0"/>
                  <a:endParaRPr kumimoji="1" lang="en-US" altLang="zh-CN" sz="2400" b="1">
                    <a:solidFill>
                      <a:schemeClr val="bg1"/>
                    </a:solidFill>
                    <a:latin typeface="Times New Roman" pitchFamily="18" charset="0"/>
                    <a:ea typeface="华文中宋" pitchFamily="2" charset="-122"/>
                    <a:cs typeface="Times New Roman" pitchFamily="18" charset="0"/>
                  </a:endParaRPr>
                </a:p>
              </p:txBody>
            </p:sp>
            <p:sp>
              <p:nvSpPr>
                <p:cNvPr id="5178" name="Rectangle 81"/>
                <p:cNvSpPr>
                  <a:spLocks noChangeArrowheads="1"/>
                </p:cNvSpPr>
                <p:nvPr/>
              </p:nvSpPr>
              <p:spPr bwMode="auto">
                <a:xfrm>
                  <a:off x="0" y="0"/>
                  <a:ext cx="705" cy="384"/>
                </a:xfrm>
                <a:prstGeom prst="rect">
                  <a:avLst/>
                </a:prstGeom>
                <a:noFill/>
                <a:ln w="7">
                  <a:solidFill>
                    <a:srgbClr val="A0A0A0"/>
                  </a:solidFill>
                  <a:miter lim="800000"/>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5132" name="Group 84"/>
              <p:cNvGrpSpPr>
                <a:grpSpLocks/>
              </p:cNvGrpSpPr>
              <p:nvPr/>
            </p:nvGrpSpPr>
            <p:grpSpPr bwMode="auto">
              <a:xfrm>
                <a:off x="705" y="0"/>
                <a:ext cx="446" cy="384"/>
                <a:chOff x="705" y="0"/>
                <a:chExt cx="446" cy="384"/>
              </a:xfrm>
            </p:grpSpPr>
            <p:sp>
              <p:nvSpPr>
                <p:cNvPr id="5175" name="Rectangle 66"/>
                <p:cNvSpPr>
                  <a:spLocks noChangeArrowheads="1"/>
                </p:cNvSpPr>
                <p:nvPr/>
              </p:nvSpPr>
              <p:spPr bwMode="auto">
                <a:xfrm>
                  <a:off x="748" y="0"/>
                  <a:ext cx="360" cy="384"/>
                </a:xfrm>
                <a:prstGeom prst="rect">
                  <a:avLst/>
                </a:prstGeom>
                <a:noFill/>
                <a:ln w="9525">
                  <a:noFill/>
                  <a:miter lim="800000"/>
                  <a:headEnd/>
                  <a:tailEnd/>
                </a:ln>
              </p:spPr>
              <p:txBody>
                <a:bodyPr/>
                <a:lstStyle/>
                <a:p>
                  <a:pPr algn="ctr"/>
                  <a:r>
                    <a:rPr kumimoji="1" lang="en-US" altLang="zh-CN" sz="2400" b="1">
                      <a:solidFill>
                        <a:schemeClr val="bg1"/>
                      </a:solidFill>
                      <a:latin typeface="Times New Roman" pitchFamily="18" charset="0"/>
                      <a:ea typeface="华文中宋" pitchFamily="2" charset="-122"/>
                      <a:cs typeface="Times New Roman" pitchFamily="18" charset="0"/>
                    </a:rPr>
                    <a:t>1</a:t>
                  </a:r>
                </a:p>
                <a:p>
                  <a:pPr algn="ctr" eaLnBrk="0" hangingPunct="0"/>
                  <a:endParaRPr kumimoji="1" lang="en-US" altLang="zh-CN" sz="2400" b="1">
                    <a:solidFill>
                      <a:schemeClr val="bg1"/>
                    </a:solidFill>
                    <a:latin typeface="Times New Roman" pitchFamily="18" charset="0"/>
                    <a:ea typeface="华文中宋" pitchFamily="2" charset="-122"/>
                    <a:cs typeface="Times New Roman" pitchFamily="18" charset="0"/>
                  </a:endParaRPr>
                </a:p>
              </p:txBody>
            </p:sp>
            <p:sp>
              <p:nvSpPr>
                <p:cNvPr id="5176" name="Rectangle 83"/>
                <p:cNvSpPr>
                  <a:spLocks noChangeArrowheads="1"/>
                </p:cNvSpPr>
                <p:nvPr/>
              </p:nvSpPr>
              <p:spPr bwMode="auto">
                <a:xfrm>
                  <a:off x="705" y="0"/>
                  <a:ext cx="446" cy="384"/>
                </a:xfrm>
                <a:prstGeom prst="rect">
                  <a:avLst/>
                </a:prstGeom>
                <a:noFill/>
                <a:ln w="7">
                  <a:solidFill>
                    <a:srgbClr val="A0A0A0"/>
                  </a:solidFill>
                  <a:miter lim="800000"/>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5133" name="Group 86"/>
              <p:cNvGrpSpPr>
                <a:grpSpLocks/>
              </p:cNvGrpSpPr>
              <p:nvPr/>
            </p:nvGrpSpPr>
            <p:grpSpPr bwMode="auto">
              <a:xfrm>
                <a:off x="1151" y="0"/>
                <a:ext cx="446" cy="384"/>
                <a:chOff x="1151" y="0"/>
                <a:chExt cx="446" cy="384"/>
              </a:xfrm>
            </p:grpSpPr>
            <p:sp>
              <p:nvSpPr>
                <p:cNvPr id="5173" name="Rectangle 67"/>
                <p:cNvSpPr>
                  <a:spLocks noChangeArrowheads="1"/>
                </p:cNvSpPr>
                <p:nvPr/>
              </p:nvSpPr>
              <p:spPr bwMode="auto">
                <a:xfrm>
                  <a:off x="1194" y="0"/>
                  <a:ext cx="360" cy="384"/>
                </a:xfrm>
                <a:prstGeom prst="rect">
                  <a:avLst/>
                </a:prstGeom>
                <a:noFill/>
                <a:ln w="9525">
                  <a:noFill/>
                  <a:miter lim="800000"/>
                  <a:headEnd/>
                  <a:tailEnd/>
                </a:ln>
              </p:spPr>
              <p:txBody>
                <a:bodyPr/>
                <a:lstStyle/>
                <a:p>
                  <a:pPr algn="ctr"/>
                  <a:r>
                    <a:rPr kumimoji="1" lang="en-US" altLang="zh-CN" sz="2400" b="1">
                      <a:solidFill>
                        <a:schemeClr val="bg1"/>
                      </a:solidFill>
                      <a:latin typeface="Times New Roman" pitchFamily="18" charset="0"/>
                      <a:ea typeface="华文中宋" pitchFamily="2" charset="-122"/>
                      <a:cs typeface="Times New Roman" pitchFamily="18" charset="0"/>
                    </a:rPr>
                    <a:t>2</a:t>
                  </a:r>
                </a:p>
                <a:p>
                  <a:pPr algn="ctr" eaLnBrk="0" hangingPunct="0"/>
                  <a:endParaRPr kumimoji="1" lang="en-US" altLang="zh-CN" sz="2400" b="1">
                    <a:solidFill>
                      <a:schemeClr val="bg1"/>
                    </a:solidFill>
                    <a:latin typeface="Times New Roman" pitchFamily="18" charset="0"/>
                    <a:ea typeface="华文中宋" pitchFamily="2" charset="-122"/>
                    <a:cs typeface="Times New Roman" pitchFamily="18" charset="0"/>
                  </a:endParaRPr>
                </a:p>
              </p:txBody>
            </p:sp>
            <p:sp>
              <p:nvSpPr>
                <p:cNvPr id="5174" name="Rectangle 85"/>
                <p:cNvSpPr>
                  <a:spLocks noChangeArrowheads="1"/>
                </p:cNvSpPr>
                <p:nvPr/>
              </p:nvSpPr>
              <p:spPr bwMode="auto">
                <a:xfrm>
                  <a:off x="1151" y="0"/>
                  <a:ext cx="446" cy="384"/>
                </a:xfrm>
                <a:prstGeom prst="rect">
                  <a:avLst/>
                </a:prstGeom>
                <a:noFill/>
                <a:ln w="7">
                  <a:solidFill>
                    <a:srgbClr val="A0A0A0"/>
                  </a:solidFill>
                  <a:miter lim="800000"/>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5134" name="Group 88"/>
              <p:cNvGrpSpPr>
                <a:grpSpLocks/>
              </p:cNvGrpSpPr>
              <p:nvPr/>
            </p:nvGrpSpPr>
            <p:grpSpPr bwMode="auto">
              <a:xfrm>
                <a:off x="1597" y="0"/>
                <a:ext cx="446" cy="384"/>
                <a:chOff x="1597" y="0"/>
                <a:chExt cx="446" cy="384"/>
              </a:xfrm>
            </p:grpSpPr>
            <p:sp>
              <p:nvSpPr>
                <p:cNvPr id="5171" name="Rectangle 68"/>
                <p:cNvSpPr>
                  <a:spLocks noChangeArrowheads="1"/>
                </p:cNvSpPr>
                <p:nvPr/>
              </p:nvSpPr>
              <p:spPr bwMode="auto">
                <a:xfrm>
                  <a:off x="1640" y="0"/>
                  <a:ext cx="360" cy="384"/>
                </a:xfrm>
                <a:prstGeom prst="rect">
                  <a:avLst/>
                </a:prstGeom>
                <a:noFill/>
                <a:ln w="9525">
                  <a:noFill/>
                  <a:miter lim="800000"/>
                  <a:headEnd/>
                  <a:tailEnd/>
                </a:ln>
              </p:spPr>
              <p:txBody>
                <a:bodyPr/>
                <a:lstStyle/>
                <a:p>
                  <a:pPr algn="ctr"/>
                  <a:r>
                    <a:rPr kumimoji="1" lang="en-US" altLang="zh-CN" sz="2400" b="1">
                      <a:solidFill>
                        <a:schemeClr val="bg1"/>
                      </a:solidFill>
                      <a:latin typeface="Times New Roman" pitchFamily="18" charset="0"/>
                      <a:ea typeface="华文中宋" pitchFamily="2" charset="-122"/>
                      <a:cs typeface="Times New Roman" pitchFamily="18" charset="0"/>
                    </a:rPr>
                    <a:t>3</a:t>
                  </a:r>
                </a:p>
                <a:p>
                  <a:pPr algn="ctr" eaLnBrk="0" hangingPunct="0"/>
                  <a:endParaRPr kumimoji="1" lang="en-US" altLang="zh-CN" sz="2400" b="1">
                    <a:solidFill>
                      <a:schemeClr val="bg1"/>
                    </a:solidFill>
                    <a:latin typeface="Times New Roman" pitchFamily="18" charset="0"/>
                    <a:ea typeface="华文中宋" pitchFamily="2" charset="-122"/>
                    <a:cs typeface="Times New Roman" pitchFamily="18" charset="0"/>
                  </a:endParaRPr>
                </a:p>
              </p:txBody>
            </p:sp>
            <p:sp>
              <p:nvSpPr>
                <p:cNvPr id="5172" name="Rectangle 87"/>
                <p:cNvSpPr>
                  <a:spLocks noChangeArrowheads="1"/>
                </p:cNvSpPr>
                <p:nvPr/>
              </p:nvSpPr>
              <p:spPr bwMode="auto">
                <a:xfrm>
                  <a:off x="1597" y="0"/>
                  <a:ext cx="446" cy="384"/>
                </a:xfrm>
                <a:prstGeom prst="rect">
                  <a:avLst/>
                </a:prstGeom>
                <a:noFill/>
                <a:ln w="7">
                  <a:solidFill>
                    <a:srgbClr val="A0A0A0"/>
                  </a:solidFill>
                  <a:miter lim="800000"/>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5135" name="Group 90"/>
              <p:cNvGrpSpPr>
                <a:grpSpLocks/>
              </p:cNvGrpSpPr>
              <p:nvPr/>
            </p:nvGrpSpPr>
            <p:grpSpPr bwMode="auto">
              <a:xfrm>
                <a:off x="0" y="384"/>
                <a:ext cx="705" cy="384"/>
                <a:chOff x="0" y="384"/>
                <a:chExt cx="705" cy="384"/>
              </a:xfrm>
            </p:grpSpPr>
            <p:sp>
              <p:nvSpPr>
                <p:cNvPr id="5169" name="Rectangle 69"/>
                <p:cNvSpPr>
                  <a:spLocks noChangeArrowheads="1"/>
                </p:cNvSpPr>
                <p:nvPr/>
              </p:nvSpPr>
              <p:spPr bwMode="auto">
                <a:xfrm>
                  <a:off x="43" y="384"/>
                  <a:ext cx="619" cy="384"/>
                </a:xfrm>
                <a:prstGeom prst="rect">
                  <a:avLst/>
                </a:prstGeom>
                <a:noFill/>
                <a:ln w="9525">
                  <a:noFill/>
                  <a:miter lim="800000"/>
                  <a:headEnd/>
                  <a:tailEnd/>
                </a:ln>
              </p:spPr>
              <p:txBody>
                <a:bodyPr/>
                <a:lstStyle/>
                <a:p>
                  <a:pPr algn="ctr"/>
                  <a:r>
                    <a:rPr kumimoji="1" lang="en-US" altLang="zh-CN" sz="2400" b="1" i="1">
                      <a:solidFill>
                        <a:schemeClr val="bg1"/>
                      </a:solidFill>
                      <a:latin typeface="Times New Roman" pitchFamily="18" charset="0"/>
                      <a:ea typeface="华文中宋" pitchFamily="2" charset="-122"/>
                      <a:cs typeface="Times New Roman" pitchFamily="18" charset="0"/>
                    </a:rPr>
                    <a:t>n</a:t>
                  </a:r>
                  <a:r>
                    <a:rPr kumimoji="1" lang="en-US" altLang="zh-CN" sz="2400" b="1" i="1" baseline="-30000">
                      <a:solidFill>
                        <a:schemeClr val="bg1"/>
                      </a:solidFill>
                      <a:latin typeface="Times New Roman" pitchFamily="18" charset="0"/>
                      <a:ea typeface="华文中宋" pitchFamily="2" charset="-122"/>
                      <a:cs typeface="Times New Roman" pitchFamily="18" charset="0"/>
                    </a:rPr>
                    <a:t>x</a:t>
                  </a:r>
                  <a:endParaRPr kumimoji="1" lang="en-US" altLang="zh-CN" sz="2400" b="1">
                    <a:solidFill>
                      <a:schemeClr val="bg1"/>
                    </a:solidFill>
                    <a:latin typeface="Times New Roman" pitchFamily="18" charset="0"/>
                    <a:ea typeface="华文中宋" pitchFamily="2" charset="-122"/>
                    <a:cs typeface="Times New Roman" pitchFamily="18" charset="0"/>
                  </a:endParaRPr>
                </a:p>
                <a:p>
                  <a:pPr algn="ctr" eaLnBrk="0" hangingPunct="0"/>
                  <a:endParaRPr kumimoji="1" lang="en-US" altLang="zh-CN" sz="2400" b="1">
                    <a:solidFill>
                      <a:schemeClr val="bg1"/>
                    </a:solidFill>
                    <a:latin typeface="Times New Roman" pitchFamily="18" charset="0"/>
                    <a:ea typeface="华文中宋" pitchFamily="2" charset="-122"/>
                    <a:cs typeface="Times New Roman" pitchFamily="18" charset="0"/>
                  </a:endParaRPr>
                </a:p>
              </p:txBody>
            </p:sp>
            <p:sp>
              <p:nvSpPr>
                <p:cNvPr id="5170" name="Rectangle 89"/>
                <p:cNvSpPr>
                  <a:spLocks noChangeArrowheads="1"/>
                </p:cNvSpPr>
                <p:nvPr/>
              </p:nvSpPr>
              <p:spPr bwMode="auto">
                <a:xfrm>
                  <a:off x="0" y="384"/>
                  <a:ext cx="705" cy="384"/>
                </a:xfrm>
                <a:prstGeom prst="rect">
                  <a:avLst/>
                </a:prstGeom>
                <a:noFill/>
                <a:ln w="7">
                  <a:solidFill>
                    <a:srgbClr val="A0A0A0"/>
                  </a:solidFill>
                  <a:miter lim="800000"/>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5136" name="Group 92"/>
              <p:cNvGrpSpPr>
                <a:grpSpLocks/>
              </p:cNvGrpSpPr>
              <p:nvPr/>
            </p:nvGrpSpPr>
            <p:grpSpPr bwMode="auto">
              <a:xfrm>
                <a:off x="705" y="384"/>
                <a:ext cx="446" cy="384"/>
                <a:chOff x="705" y="384"/>
                <a:chExt cx="446" cy="384"/>
              </a:xfrm>
            </p:grpSpPr>
            <p:sp>
              <p:nvSpPr>
                <p:cNvPr id="5167" name="Rectangle 70"/>
                <p:cNvSpPr>
                  <a:spLocks noChangeArrowheads="1"/>
                </p:cNvSpPr>
                <p:nvPr/>
              </p:nvSpPr>
              <p:spPr bwMode="auto">
                <a:xfrm>
                  <a:off x="748" y="384"/>
                  <a:ext cx="360" cy="384"/>
                </a:xfrm>
                <a:prstGeom prst="rect">
                  <a:avLst/>
                </a:prstGeom>
                <a:noFill/>
                <a:ln w="9525">
                  <a:noFill/>
                  <a:miter lim="800000"/>
                  <a:headEnd/>
                  <a:tailEnd/>
                </a:ln>
              </p:spPr>
              <p:txBody>
                <a:bodyPr/>
                <a:lstStyle/>
                <a:p>
                  <a:pPr algn="ctr"/>
                  <a:r>
                    <a:rPr kumimoji="1" lang="en-US" altLang="zh-CN" sz="2400" b="1">
                      <a:solidFill>
                        <a:schemeClr val="bg1"/>
                      </a:solidFill>
                      <a:latin typeface="Times New Roman" pitchFamily="18" charset="0"/>
                      <a:ea typeface="华文中宋" pitchFamily="2" charset="-122"/>
                      <a:cs typeface="Times New Roman" pitchFamily="18" charset="0"/>
                    </a:rPr>
                    <a:t>1</a:t>
                  </a:r>
                </a:p>
                <a:p>
                  <a:pPr algn="ctr" eaLnBrk="0" hangingPunct="0"/>
                  <a:endParaRPr kumimoji="1" lang="en-US" altLang="zh-CN" sz="2400" b="1">
                    <a:solidFill>
                      <a:schemeClr val="bg1"/>
                    </a:solidFill>
                    <a:latin typeface="Times New Roman" pitchFamily="18" charset="0"/>
                    <a:ea typeface="华文中宋" pitchFamily="2" charset="-122"/>
                    <a:cs typeface="Times New Roman" pitchFamily="18" charset="0"/>
                  </a:endParaRPr>
                </a:p>
              </p:txBody>
            </p:sp>
            <p:sp>
              <p:nvSpPr>
                <p:cNvPr id="5168" name="Rectangle 91"/>
                <p:cNvSpPr>
                  <a:spLocks noChangeArrowheads="1"/>
                </p:cNvSpPr>
                <p:nvPr/>
              </p:nvSpPr>
              <p:spPr bwMode="auto">
                <a:xfrm>
                  <a:off x="705" y="384"/>
                  <a:ext cx="446" cy="384"/>
                </a:xfrm>
                <a:prstGeom prst="rect">
                  <a:avLst/>
                </a:prstGeom>
                <a:noFill/>
                <a:ln w="7">
                  <a:solidFill>
                    <a:srgbClr val="A0A0A0"/>
                  </a:solidFill>
                  <a:miter lim="800000"/>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5137" name="Group 94"/>
              <p:cNvGrpSpPr>
                <a:grpSpLocks/>
              </p:cNvGrpSpPr>
              <p:nvPr/>
            </p:nvGrpSpPr>
            <p:grpSpPr bwMode="auto">
              <a:xfrm>
                <a:off x="1151" y="384"/>
                <a:ext cx="446" cy="384"/>
                <a:chOff x="1151" y="384"/>
                <a:chExt cx="446" cy="384"/>
              </a:xfrm>
            </p:grpSpPr>
            <p:sp>
              <p:nvSpPr>
                <p:cNvPr id="5165" name="Rectangle 71"/>
                <p:cNvSpPr>
                  <a:spLocks noChangeArrowheads="1"/>
                </p:cNvSpPr>
                <p:nvPr/>
              </p:nvSpPr>
              <p:spPr bwMode="auto">
                <a:xfrm>
                  <a:off x="1194" y="384"/>
                  <a:ext cx="360" cy="384"/>
                </a:xfrm>
                <a:prstGeom prst="rect">
                  <a:avLst/>
                </a:prstGeom>
                <a:noFill/>
                <a:ln w="9525">
                  <a:noFill/>
                  <a:miter lim="800000"/>
                  <a:headEnd/>
                  <a:tailEnd/>
                </a:ln>
              </p:spPr>
              <p:txBody>
                <a:bodyPr/>
                <a:lstStyle/>
                <a:p>
                  <a:pPr algn="ctr"/>
                  <a:r>
                    <a:rPr kumimoji="1" lang="en-US" altLang="zh-CN" sz="2400" b="1">
                      <a:solidFill>
                        <a:schemeClr val="bg1"/>
                      </a:solidFill>
                      <a:latin typeface="Times New Roman" pitchFamily="18" charset="0"/>
                      <a:ea typeface="华文中宋" pitchFamily="2" charset="-122"/>
                      <a:cs typeface="Times New Roman" pitchFamily="18" charset="0"/>
                    </a:rPr>
                    <a:t>1</a:t>
                  </a:r>
                </a:p>
                <a:p>
                  <a:pPr algn="ctr" eaLnBrk="0" hangingPunct="0"/>
                  <a:endParaRPr kumimoji="1" lang="en-US" altLang="zh-CN" sz="2400" b="1">
                    <a:solidFill>
                      <a:schemeClr val="bg1"/>
                    </a:solidFill>
                    <a:latin typeface="Times New Roman" pitchFamily="18" charset="0"/>
                    <a:ea typeface="华文中宋" pitchFamily="2" charset="-122"/>
                    <a:cs typeface="Times New Roman" pitchFamily="18" charset="0"/>
                  </a:endParaRPr>
                </a:p>
              </p:txBody>
            </p:sp>
            <p:sp>
              <p:nvSpPr>
                <p:cNvPr id="5166" name="Rectangle 93"/>
                <p:cNvSpPr>
                  <a:spLocks noChangeArrowheads="1"/>
                </p:cNvSpPr>
                <p:nvPr/>
              </p:nvSpPr>
              <p:spPr bwMode="auto">
                <a:xfrm>
                  <a:off x="1151" y="384"/>
                  <a:ext cx="446" cy="384"/>
                </a:xfrm>
                <a:prstGeom prst="rect">
                  <a:avLst/>
                </a:prstGeom>
                <a:noFill/>
                <a:ln w="7">
                  <a:solidFill>
                    <a:srgbClr val="A0A0A0"/>
                  </a:solidFill>
                  <a:miter lim="800000"/>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5138" name="Group 96"/>
              <p:cNvGrpSpPr>
                <a:grpSpLocks/>
              </p:cNvGrpSpPr>
              <p:nvPr/>
            </p:nvGrpSpPr>
            <p:grpSpPr bwMode="auto">
              <a:xfrm>
                <a:off x="1597" y="384"/>
                <a:ext cx="446" cy="384"/>
                <a:chOff x="1597" y="384"/>
                <a:chExt cx="446" cy="384"/>
              </a:xfrm>
            </p:grpSpPr>
            <p:sp>
              <p:nvSpPr>
                <p:cNvPr id="5163" name="Rectangle 72"/>
                <p:cNvSpPr>
                  <a:spLocks noChangeArrowheads="1"/>
                </p:cNvSpPr>
                <p:nvPr/>
              </p:nvSpPr>
              <p:spPr bwMode="auto">
                <a:xfrm>
                  <a:off x="1640" y="384"/>
                  <a:ext cx="360" cy="384"/>
                </a:xfrm>
                <a:prstGeom prst="rect">
                  <a:avLst/>
                </a:prstGeom>
                <a:noFill/>
                <a:ln w="9525">
                  <a:noFill/>
                  <a:miter lim="800000"/>
                  <a:headEnd/>
                  <a:tailEnd/>
                </a:ln>
              </p:spPr>
              <p:txBody>
                <a:bodyPr/>
                <a:lstStyle/>
                <a:p>
                  <a:pPr algn="ctr"/>
                  <a:r>
                    <a:rPr kumimoji="1" lang="en-US" altLang="zh-CN" sz="2400" b="1">
                      <a:solidFill>
                        <a:schemeClr val="bg1"/>
                      </a:solidFill>
                      <a:latin typeface="Times New Roman" pitchFamily="18" charset="0"/>
                      <a:ea typeface="华文中宋" pitchFamily="2" charset="-122"/>
                      <a:cs typeface="Times New Roman" pitchFamily="18" charset="0"/>
                    </a:rPr>
                    <a:t>2</a:t>
                  </a:r>
                </a:p>
                <a:p>
                  <a:pPr algn="ctr" eaLnBrk="0" hangingPunct="0"/>
                  <a:endParaRPr kumimoji="1" lang="en-US" altLang="zh-CN" sz="2400" b="1">
                    <a:solidFill>
                      <a:schemeClr val="bg1"/>
                    </a:solidFill>
                    <a:latin typeface="Times New Roman" pitchFamily="18" charset="0"/>
                    <a:ea typeface="华文中宋" pitchFamily="2" charset="-122"/>
                    <a:cs typeface="Times New Roman" pitchFamily="18" charset="0"/>
                  </a:endParaRPr>
                </a:p>
              </p:txBody>
            </p:sp>
            <p:sp>
              <p:nvSpPr>
                <p:cNvPr id="5164" name="Rectangle 95"/>
                <p:cNvSpPr>
                  <a:spLocks noChangeArrowheads="1"/>
                </p:cNvSpPr>
                <p:nvPr/>
              </p:nvSpPr>
              <p:spPr bwMode="auto">
                <a:xfrm>
                  <a:off x="1597" y="384"/>
                  <a:ext cx="446" cy="384"/>
                </a:xfrm>
                <a:prstGeom prst="rect">
                  <a:avLst/>
                </a:prstGeom>
                <a:noFill/>
                <a:ln w="7">
                  <a:solidFill>
                    <a:srgbClr val="A0A0A0"/>
                  </a:solidFill>
                  <a:miter lim="800000"/>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5139" name="Group 98"/>
              <p:cNvGrpSpPr>
                <a:grpSpLocks/>
              </p:cNvGrpSpPr>
              <p:nvPr/>
            </p:nvGrpSpPr>
            <p:grpSpPr bwMode="auto">
              <a:xfrm>
                <a:off x="0" y="768"/>
                <a:ext cx="705" cy="384"/>
                <a:chOff x="0" y="768"/>
                <a:chExt cx="705" cy="384"/>
              </a:xfrm>
            </p:grpSpPr>
            <p:sp>
              <p:nvSpPr>
                <p:cNvPr id="5161" name="Rectangle 73"/>
                <p:cNvSpPr>
                  <a:spLocks noChangeArrowheads="1"/>
                </p:cNvSpPr>
                <p:nvPr/>
              </p:nvSpPr>
              <p:spPr bwMode="auto">
                <a:xfrm>
                  <a:off x="43" y="768"/>
                  <a:ext cx="619" cy="384"/>
                </a:xfrm>
                <a:prstGeom prst="rect">
                  <a:avLst/>
                </a:prstGeom>
                <a:noFill/>
                <a:ln w="9525">
                  <a:noFill/>
                  <a:miter lim="800000"/>
                  <a:headEnd/>
                  <a:tailEnd/>
                </a:ln>
              </p:spPr>
              <p:txBody>
                <a:bodyPr/>
                <a:lstStyle/>
                <a:p>
                  <a:pPr algn="ctr"/>
                  <a:r>
                    <a:rPr kumimoji="1" lang="en-US" altLang="zh-CN" sz="2400" b="1" i="1">
                      <a:solidFill>
                        <a:schemeClr val="bg1"/>
                      </a:solidFill>
                      <a:latin typeface="Times New Roman" pitchFamily="18" charset="0"/>
                      <a:ea typeface="华文中宋" pitchFamily="2" charset="-122"/>
                      <a:cs typeface="Times New Roman" pitchFamily="18" charset="0"/>
                    </a:rPr>
                    <a:t>n</a:t>
                  </a:r>
                  <a:r>
                    <a:rPr kumimoji="1" lang="en-US" altLang="zh-CN" sz="2400" b="1" i="1" baseline="-30000">
                      <a:solidFill>
                        <a:schemeClr val="bg1"/>
                      </a:solidFill>
                      <a:latin typeface="Times New Roman" pitchFamily="18" charset="0"/>
                      <a:ea typeface="华文中宋" pitchFamily="2" charset="-122"/>
                      <a:cs typeface="Times New Roman" pitchFamily="18" charset="0"/>
                    </a:rPr>
                    <a:t>y</a:t>
                  </a:r>
                  <a:endParaRPr kumimoji="1" lang="en-US" altLang="zh-CN" sz="2400" b="1">
                    <a:solidFill>
                      <a:schemeClr val="bg1"/>
                    </a:solidFill>
                    <a:latin typeface="Times New Roman" pitchFamily="18" charset="0"/>
                    <a:ea typeface="华文中宋" pitchFamily="2" charset="-122"/>
                    <a:cs typeface="Times New Roman" pitchFamily="18" charset="0"/>
                  </a:endParaRPr>
                </a:p>
                <a:p>
                  <a:pPr algn="ctr" eaLnBrk="0" hangingPunct="0"/>
                  <a:endParaRPr kumimoji="1" lang="en-US" altLang="zh-CN" sz="2400" b="1">
                    <a:solidFill>
                      <a:schemeClr val="bg1"/>
                    </a:solidFill>
                    <a:latin typeface="Times New Roman" pitchFamily="18" charset="0"/>
                    <a:ea typeface="华文中宋" pitchFamily="2" charset="-122"/>
                    <a:cs typeface="Times New Roman" pitchFamily="18" charset="0"/>
                  </a:endParaRPr>
                </a:p>
              </p:txBody>
            </p:sp>
            <p:sp>
              <p:nvSpPr>
                <p:cNvPr id="5162" name="Rectangle 97"/>
                <p:cNvSpPr>
                  <a:spLocks noChangeArrowheads="1"/>
                </p:cNvSpPr>
                <p:nvPr/>
              </p:nvSpPr>
              <p:spPr bwMode="auto">
                <a:xfrm>
                  <a:off x="0" y="768"/>
                  <a:ext cx="705" cy="384"/>
                </a:xfrm>
                <a:prstGeom prst="rect">
                  <a:avLst/>
                </a:prstGeom>
                <a:noFill/>
                <a:ln w="7">
                  <a:solidFill>
                    <a:srgbClr val="A0A0A0"/>
                  </a:solidFill>
                  <a:miter lim="800000"/>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5140" name="Group 100"/>
              <p:cNvGrpSpPr>
                <a:grpSpLocks/>
              </p:cNvGrpSpPr>
              <p:nvPr/>
            </p:nvGrpSpPr>
            <p:grpSpPr bwMode="auto">
              <a:xfrm>
                <a:off x="705" y="768"/>
                <a:ext cx="446" cy="384"/>
                <a:chOff x="705" y="768"/>
                <a:chExt cx="446" cy="384"/>
              </a:xfrm>
            </p:grpSpPr>
            <p:sp>
              <p:nvSpPr>
                <p:cNvPr id="5159" name="Rectangle 74"/>
                <p:cNvSpPr>
                  <a:spLocks noChangeArrowheads="1"/>
                </p:cNvSpPr>
                <p:nvPr/>
              </p:nvSpPr>
              <p:spPr bwMode="auto">
                <a:xfrm>
                  <a:off x="748" y="768"/>
                  <a:ext cx="360" cy="384"/>
                </a:xfrm>
                <a:prstGeom prst="rect">
                  <a:avLst/>
                </a:prstGeom>
                <a:noFill/>
                <a:ln w="9525">
                  <a:noFill/>
                  <a:miter lim="800000"/>
                  <a:headEnd/>
                  <a:tailEnd/>
                </a:ln>
              </p:spPr>
              <p:txBody>
                <a:bodyPr/>
                <a:lstStyle/>
                <a:p>
                  <a:pPr algn="ctr"/>
                  <a:r>
                    <a:rPr kumimoji="1" lang="en-US" altLang="zh-CN" sz="2400" b="1">
                      <a:solidFill>
                        <a:schemeClr val="bg1"/>
                      </a:solidFill>
                      <a:latin typeface="Times New Roman" pitchFamily="18" charset="0"/>
                      <a:ea typeface="华文中宋" pitchFamily="2" charset="-122"/>
                      <a:cs typeface="Times New Roman" pitchFamily="18" charset="0"/>
                    </a:rPr>
                    <a:t>1</a:t>
                  </a:r>
                </a:p>
                <a:p>
                  <a:pPr algn="ctr" eaLnBrk="0" hangingPunct="0"/>
                  <a:endParaRPr kumimoji="1" lang="en-US" altLang="zh-CN" sz="2400" b="1">
                    <a:solidFill>
                      <a:schemeClr val="bg1"/>
                    </a:solidFill>
                    <a:latin typeface="Times New Roman" pitchFamily="18" charset="0"/>
                    <a:ea typeface="华文中宋" pitchFamily="2" charset="-122"/>
                    <a:cs typeface="Times New Roman" pitchFamily="18" charset="0"/>
                  </a:endParaRPr>
                </a:p>
              </p:txBody>
            </p:sp>
            <p:sp>
              <p:nvSpPr>
                <p:cNvPr id="5160" name="Rectangle 99"/>
                <p:cNvSpPr>
                  <a:spLocks noChangeArrowheads="1"/>
                </p:cNvSpPr>
                <p:nvPr/>
              </p:nvSpPr>
              <p:spPr bwMode="auto">
                <a:xfrm>
                  <a:off x="705" y="768"/>
                  <a:ext cx="446" cy="384"/>
                </a:xfrm>
                <a:prstGeom prst="rect">
                  <a:avLst/>
                </a:prstGeom>
                <a:noFill/>
                <a:ln w="7">
                  <a:solidFill>
                    <a:srgbClr val="A0A0A0"/>
                  </a:solidFill>
                  <a:miter lim="800000"/>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5141" name="Group 102"/>
              <p:cNvGrpSpPr>
                <a:grpSpLocks/>
              </p:cNvGrpSpPr>
              <p:nvPr/>
            </p:nvGrpSpPr>
            <p:grpSpPr bwMode="auto">
              <a:xfrm>
                <a:off x="1151" y="768"/>
                <a:ext cx="446" cy="384"/>
                <a:chOff x="1151" y="768"/>
                <a:chExt cx="446" cy="384"/>
              </a:xfrm>
            </p:grpSpPr>
            <p:sp>
              <p:nvSpPr>
                <p:cNvPr id="5157" name="Rectangle 75"/>
                <p:cNvSpPr>
                  <a:spLocks noChangeArrowheads="1"/>
                </p:cNvSpPr>
                <p:nvPr/>
              </p:nvSpPr>
              <p:spPr bwMode="auto">
                <a:xfrm>
                  <a:off x="1194" y="768"/>
                  <a:ext cx="360" cy="384"/>
                </a:xfrm>
                <a:prstGeom prst="rect">
                  <a:avLst/>
                </a:prstGeom>
                <a:noFill/>
                <a:ln w="9525">
                  <a:noFill/>
                  <a:miter lim="800000"/>
                  <a:headEnd/>
                  <a:tailEnd/>
                </a:ln>
              </p:spPr>
              <p:txBody>
                <a:bodyPr/>
                <a:lstStyle/>
                <a:p>
                  <a:pPr algn="ctr"/>
                  <a:r>
                    <a:rPr kumimoji="1" lang="en-US" altLang="zh-CN" sz="2400" b="1">
                      <a:solidFill>
                        <a:schemeClr val="bg1"/>
                      </a:solidFill>
                      <a:latin typeface="Times New Roman" pitchFamily="18" charset="0"/>
                      <a:ea typeface="华文中宋" pitchFamily="2" charset="-122"/>
                      <a:cs typeface="Times New Roman" pitchFamily="18" charset="0"/>
                    </a:rPr>
                    <a:t>2</a:t>
                  </a:r>
                </a:p>
                <a:p>
                  <a:pPr algn="ctr" eaLnBrk="0" hangingPunct="0"/>
                  <a:endParaRPr kumimoji="1" lang="en-US" altLang="zh-CN" sz="2400" b="1">
                    <a:solidFill>
                      <a:schemeClr val="bg1"/>
                    </a:solidFill>
                    <a:latin typeface="Times New Roman" pitchFamily="18" charset="0"/>
                    <a:ea typeface="华文中宋" pitchFamily="2" charset="-122"/>
                    <a:cs typeface="Times New Roman" pitchFamily="18" charset="0"/>
                  </a:endParaRPr>
                </a:p>
              </p:txBody>
            </p:sp>
            <p:sp>
              <p:nvSpPr>
                <p:cNvPr id="5158" name="Rectangle 101"/>
                <p:cNvSpPr>
                  <a:spLocks noChangeArrowheads="1"/>
                </p:cNvSpPr>
                <p:nvPr/>
              </p:nvSpPr>
              <p:spPr bwMode="auto">
                <a:xfrm>
                  <a:off x="1151" y="768"/>
                  <a:ext cx="446" cy="384"/>
                </a:xfrm>
                <a:prstGeom prst="rect">
                  <a:avLst/>
                </a:prstGeom>
                <a:noFill/>
                <a:ln w="7">
                  <a:solidFill>
                    <a:srgbClr val="A0A0A0"/>
                  </a:solidFill>
                  <a:miter lim="800000"/>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5142" name="Group 104"/>
              <p:cNvGrpSpPr>
                <a:grpSpLocks/>
              </p:cNvGrpSpPr>
              <p:nvPr/>
            </p:nvGrpSpPr>
            <p:grpSpPr bwMode="auto">
              <a:xfrm>
                <a:off x="1597" y="768"/>
                <a:ext cx="446" cy="384"/>
                <a:chOff x="1597" y="768"/>
                <a:chExt cx="446" cy="384"/>
              </a:xfrm>
            </p:grpSpPr>
            <p:sp>
              <p:nvSpPr>
                <p:cNvPr id="5155" name="Rectangle 76"/>
                <p:cNvSpPr>
                  <a:spLocks noChangeArrowheads="1"/>
                </p:cNvSpPr>
                <p:nvPr/>
              </p:nvSpPr>
              <p:spPr bwMode="auto">
                <a:xfrm>
                  <a:off x="1640" y="768"/>
                  <a:ext cx="360" cy="384"/>
                </a:xfrm>
                <a:prstGeom prst="rect">
                  <a:avLst/>
                </a:prstGeom>
                <a:noFill/>
                <a:ln w="9525">
                  <a:noFill/>
                  <a:miter lim="800000"/>
                  <a:headEnd/>
                  <a:tailEnd/>
                </a:ln>
              </p:spPr>
              <p:txBody>
                <a:bodyPr/>
                <a:lstStyle/>
                <a:p>
                  <a:pPr algn="ctr"/>
                  <a:r>
                    <a:rPr kumimoji="1" lang="en-US" altLang="zh-CN" sz="2400" b="1">
                      <a:solidFill>
                        <a:schemeClr val="bg1"/>
                      </a:solidFill>
                      <a:latin typeface="Times New Roman" pitchFamily="18" charset="0"/>
                      <a:ea typeface="华文中宋" pitchFamily="2" charset="-122"/>
                      <a:cs typeface="Times New Roman" pitchFamily="18" charset="0"/>
                    </a:rPr>
                    <a:t>1</a:t>
                  </a:r>
                </a:p>
                <a:p>
                  <a:pPr algn="ctr" eaLnBrk="0" hangingPunct="0"/>
                  <a:endParaRPr kumimoji="1" lang="en-US" altLang="zh-CN" sz="2400" b="1">
                    <a:solidFill>
                      <a:schemeClr val="bg1"/>
                    </a:solidFill>
                    <a:latin typeface="Times New Roman" pitchFamily="18" charset="0"/>
                    <a:ea typeface="华文中宋" pitchFamily="2" charset="-122"/>
                    <a:cs typeface="Times New Roman" pitchFamily="18" charset="0"/>
                  </a:endParaRPr>
                </a:p>
              </p:txBody>
            </p:sp>
            <p:sp>
              <p:nvSpPr>
                <p:cNvPr id="5156" name="Rectangle 103"/>
                <p:cNvSpPr>
                  <a:spLocks noChangeArrowheads="1"/>
                </p:cNvSpPr>
                <p:nvPr/>
              </p:nvSpPr>
              <p:spPr bwMode="auto">
                <a:xfrm>
                  <a:off x="1597" y="768"/>
                  <a:ext cx="446" cy="384"/>
                </a:xfrm>
                <a:prstGeom prst="rect">
                  <a:avLst/>
                </a:prstGeom>
                <a:noFill/>
                <a:ln w="7">
                  <a:solidFill>
                    <a:srgbClr val="A0A0A0"/>
                  </a:solidFill>
                  <a:miter lim="800000"/>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5143" name="Group 106"/>
              <p:cNvGrpSpPr>
                <a:grpSpLocks/>
              </p:cNvGrpSpPr>
              <p:nvPr/>
            </p:nvGrpSpPr>
            <p:grpSpPr bwMode="auto">
              <a:xfrm>
                <a:off x="0" y="1152"/>
                <a:ext cx="705" cy="384"/>
                <a:chOff x="0" y="1152"/>
                <a:chExt cx="705" cy="384"/>
              </a:xfrm>
            </p:grpSpPr>
            <p:sp>
              <p:nvSpPr>
                <p:cNvPr id="5153" name="Rectangle 77"/>
                <p:cNvSpPr>
                  <a:spLocks noChangeArrowheads="1"/>
                </p:cNvSpPr>
                <p:nvPr/>
              </p:nvSpPr>
              <p:spPr bwMode="auto">
                <a:xfrm>
                  <a:off x="43" y="1152"/>
                  <a:ext cx="619" cy="384"/>
                </a:xfrm>
                <a:prstGeom prst="rect">
                  <a:avLst/>
                </a:prstGeom>
                <a:noFill/>
                <a:ln w="9525">
                  <a:noFill/>
                  <a:miter lim="800000"/>
                  <a:headEnd/>
                  <a:tailEnd/>
                </a:ln>
              </p:spPr>
              <p:txBody>
                <a:bodyPr/>
                <a:lstStyle/>
                <a:p>
                  <a:pPr algn="ctr"/>
                  <a:r>
                    <a:rPr kumimoji="1" lang="en-US" altLang="zh-CN" sz="2400" b="1" i="1">
                      <a:solidFill>
                        <a:schemeClr val="bg1"/>
                      </a:solidFill>
                      <a:latin typeface="Times New Roman" pitchFamily="18" charset="0"/>
                      <a:ea typeface="华文中宋" pitchFamily="2" charset="-122"/>
                      <a:cs typeface="Times New Roman" pitchFamily="18" charset="0"/>
                    </a:rPr>
                    <a:t>n</a:t>
                  </a:r>
                  <a:r>
                    <a:rPr kumimoji="1" lang="en-US" altLang="zh-CN" sz="2400" b="1" i="1" baseline="-30000">
                      <a:solidFill>
                        <a:schemeClr val="bg1"/>
                      </a:solidFill>
                      <a:latin typeface="Times New Roman" pitchFamily="18" charset="0"/>
                      <a:ea typeface="华文中宋" pitchFamily="2" charset="-122"/>
                      <a:cs typeface="Times New Roman" pitchFamily="18" charset="0"/>
                    </a:rPr>
                    <a:t>z</a:t>
                  </a:r>
                  <a:endParaRPr kumimoji="1" lang="en-US" altLang="zh-CN" sz="2400" b="1">
                    <a:solidFill>
                      <a:schemeClr val="bg1"/>
                    </a:solidFill>
                    <a:latin typeface="Times New Roman" pitchFamily="18" charset="0"/>
                    <a:ea typeface="华文中宋" pitchFamily="2" charset="-122"/>
                    <a:cs typeface="Times New Roman" pitchFamily="18" charset="0"/>
                  </a:endParaRPr>
                </a:p>
                <a:p>
                  <a:pPr algn="ctr" eaLnBrk="0" hangingPunct="0"/>
                  <a:endParaRPr kumimoji="1" lang="en-US" altLang="zh-CN" sz="2400" b="1">
                    <a:solidFill>
                      <a:schemeClr val="bg1"/>
                    </a:solidFill>
                    <a:latin typeface="Times New Roman" pitchFamily="18" charset="0"/>
                    <a:ea typeface="华文中宋" pitchFamily="2" charset="-122"/>
                    <a:cs typeface="Times New Roman" pitchFamily="18" charset="0"/>
                  </a:endParaRPr>
                </a:p>
              </p:txBody>
            </p:sp>
            <p:sp>
              <p:nvSpPr>
                <p:cNvPr id="5154" name="Rectangle 105"/>
                <p:cNvSpPr>
                  <a:spLocks noChangeArrowheads="1"/>
                </p:cNvSpPr>
                <p:nvPr/>
              </p:nvSpPr>
              <p:spPr bwMode="auto">
                <a:xfrm>
                  <a:off x="0" y="1152"/>
                  <a:ext cx="705" cy="384"/>
                </a:xfrm>
                <a:prstGeom prst="rect">
                  <a:avLst/>
                </a:prstGeom>
                <a:noFill/>
                <a:ln w="7">
                  <a:solidFill>
                    <a:srgbClr val="A0A0A0"/>
                  </a:solidFill>
                  <a:miter lim="800000"/>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5144" name="Group 108"/>
              <p:cNvGrpSpPr>
                <a:grpSpLocks/>
              </p:cNvGrpSpPr>
              <p:nvPr/>
            </p:nvGrpSpPr>
            <p:grpSpPr bwMode="auto">
              <a:xfrm>
                <a:off x="705" y="1152"/>
                <a:ext cx="446" cy="384"/>
                <a:chOff x="705" y="1152"/>
                <a:chExt cx="446" cy="384"/>
              </a:xfrm>
            </p:grpSpPr>
            <p:sp>
              <p:nvSpPr>
                <p:cNvPr id="5151" name="Rectangle 78"/>
                <p:cNvSpPr>
                  <a:spLocks noChangeArrowheads="1"/>
                </p:cNvSpPr>
                <p:nvPr/>
              </p:nvSpPr>
              <p:spPr bwMode="auto">
                <a:xfrm>
                  <a:off x="748" y="1152"/>
                  <a:ext cx="360" cy="384"/>
                </a:xfrm>
                <a:prstGeom prst="rect">
                  <a:avLst/>
                </a:prstGeom>
                <a:noFill/>
                <a:ln w="9525">
                  <a:noFill/>
                  <a:miter lim="800000"/>
                  <a:headEnd/>
                  <a:tailEnd/>
                </a:ln>
              </p:spPr>
              <p:txBody>
                <a:bodyPr/>
                <a:lstStyle/>
                <a:p>
                  <a:pPr algn="ctr"/>
                  <a:r>
                    <a:rPr kumimoji="1" lang="en-US" altLang="zh-CN" sz="2400" b="1">
                      <a:solidFill>
                        <a:schemeClr val="bg1"/>
                      </a:solidFill>
                      <a:latin typeface="Times New Roman" pitchFamily="18" charset="0"/>
                      <a:ea typeface="华文中宋" pitchFamily="2" charset="-122"/>
                      <a:cs typeface="Times New Roman" pitchFamily="18" charset="0"/>
                    </a:rPr>
                    <a:t>2</a:t>
                  </a:r>
                </a:p>
                <a:p>
                  <a:pPr algn="ctr" eaLnBrk="0" hangingPunct="0"/>
                  <a:endParaRPr kumimoji="1" lang="en-US" altLang="zh-CN" sz="2400" b="1">
                    <a:solidFill>
                      <a:schemeClr val="bg1"/>
                    </a:solidFill>
                    <a:latin typeface="Times New Roman" pitchFamily="18" charset="0"/>
                    <a:ea typeface="华文中宋" pitchFamily="2" charset="-122"/>
                    <a:cs typeface="Times New Roman" pitchFamily="18" charset="0"/>
                  </a:endParaRPr>
                </a:p>
              </p:txBody>
            </p:sp>
            <p:sp>
              <p:nvSpPr>
                <p:cNvPr id="5152" name="Rectangle 107"/>
                <p:cNvSpPr>
                  <a:spLocks noChangeArrowheads="1"/>
                </p:cNvSpPr>
                <p:nvPr/>
              </p:nvSpPr>
              <p:spPr bwMode="auto">
                <a:xfrm>
                  <a:off x="705" y="1152"/>
                  <a:ext cx="446" cy="384"/>
                </a:xfrm>
                <a:prstGeom prst="rect">
                  <a:avLst/>
                </a:prstGeom>
                <a:noFill/>
                <a:ln w="7">
                  <a:solidFill>
                    <a:srgbClr val="A0A0A0"/>
                  </a:solidFill>
                  <a:miter lim="800000"/>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5145" name="Group 110"/>
              <p:cNvGrpSpPr>
                <a:grpSpLocks/>
              </p:cNvGrpSpPr>
              <p:nvPr/>
            </p:nvGrpSpPr>
            <p:grpSpPr bwMode="auto">
              <a:xfrm>
                <a:off x="1151" y="1152"/>
                <a:ext cx="446" cy="384"/>
                <a:chOff x="1151" y="1152"/>
                <a:chExt cx="446" cy="384"/>
              </a:xfrm>
            </p:grpSpPr>
            <p:sp>
              <p:nvSpPr>
                <p:cNvPr id="5149" name="Rectangle 79"/>
                <p:cNvSpPr>
                  <a:spLocks noChangeArrowheads="1"/>
                </p:cNvSpPr>
                <p:nvPr/>
              </p:nvSpPr>
              <p:spPr bwMode="auto">
                <a:xfrm>
                  <a:off x="1194" y="1152"/>
                  <a:ext cx="360" cy="384"/>
                </a:xfrm>
                <a:prstGeom prst="rect">
                  <a:avLst/>
                </a:prstGeom>
                <a:noFill/>
                <a:ln w="9525">
                  <a:noFill/>
                  <a:miter lim="800000"/>
                  <a:headEnd/>
                  <a:tailEnd/>
                </a:ln>
              </p:spPr>
              <p:txBody>
                <a:bodyPr/>
                <a:lstStyle/>
                <a:p>
                  <a:pPr algn="ctr"/>
                  <a:r>
                    <a:rPr kumimoji="1" lang="en-US" altLang="zh-CN" sz="2400" b="1">
                      <a:solidFill>
                        <a:schemeClr val="bg1"/>
                      </a:solidFill>
                      <a:latin typeface="Times New Roman" pitchFamily="18" charset="0"/>
                      <a:ea typeface="华文中宋" pitchFamily="2" charset="-122"/>
                      <a:cs typeface="Times New Roman" pitchFamily="18" charset="0"/>
                    </a:rPr>
                    <a:t>1</a:t>
                  </a:r>
                </a:p>
                <a:p>
                  <a:pPr algn="ctr" eaLnBrk="0" hangingPunct="0"/>
                  <a:endParaRPr kumimoji="1" lang="en-US" altLang="zh-CN" sz="2400" b="1">
                    <a:solidFill>
                      <a:schemeClr val="bg1"/>
                    </a:solidFill>
                    <a:latin typeface="Times New Roman" pitchFamily="18" charset="0"/>
                    <a:ea typeface="华文中宋" pitchFamily="2" charset="-122"/>
                    <a:cs typeface="Times New Roman" pitchFamily="18" charset="0"/>
                  </a:endParaRPr>
                </a:p>
              </p:txBody>
            </p:sp>
            <p:sp>
              <p:nvSpPr>
                <p:cNvPr id="5150" name="Rectangle 109"/>
                <p:cNvSpPr>
                  <a:spLocks noChangeArrowheads="1"/>
                </p:cNvSpPr>
                <p:nvPr/>
              </p:nvSpPr>
              <p:spPr bwMode="auto">
                <a:xfrm>
                  <a:off x="1151" y="1152"/>
                  <a:ext cx="446" cy="384"/>
                </a:xfrm>
                <a:prstGeom prst="rect">
                  <a:avLst/>
                </a:prstGeom>
                <a:noFill/>
                <a:ln w="7">
                  <a:solidFill>
                    <a:srgbClr val="A0A0A0"/>
                  </a:solidFill>
                  <a:miter lim="800000"/>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5146" name="Group 112"/>
              <p:cNvGrpSpPr>
                <a:grpSpLocks/>
              </p:cNvGrpSpPr>
              <p:nvPr/>
            </p:nvGrpSpPr>
            <p:grpSpPr bwMode="auto">
              <a:xfrm>
                <a:off x="1597" y="1152"/>
                <a:ext cx="446" cy="384"/>
                <a:chOff x="1597" y="1152"/>
                <a:chExt cx="446" cy="384"/>
              </a:xfrm>
            </p:grpSpPr>
            <p:sp>
              <p:nvSpPr>
                <p:cNvPr id="5147" name="Rectangle 80"/>
                <p:cNvSpPr>
                  <a:spLocks noChangeArrowheads="1"/>
                </p:cNvSpPr>
                <p:nvPr/>
              </p:nvSpPr>
              <p:spPr bwMode="auto">
                <a:xfrm>
                  <a:off x="1640" y="1152"/>
                  <a:ext cx="360" cy="384"/>
                </a:xfrm>
                <a:prstGeom prst="rect">
                  <a:avLst/>
                </a:prstGeom>
                <a:noFill/>
                <a:ln w="9525">
                  <a:noFill/>
                  <a:miter lim="800000"/>
                  <a:headEnd/>
                  <a:tailEnd/>
                </a:ln>
              </p:spPr>
              <p:txBody>
                <a:bodyPr/>
                <a:lstStyle/>
                <a:p>
                  <a:pPr algn="ctr"/>
                  <a:r>
                    <a:rPr kumimoji="1" lang="en-US" altLang="zh-CN" sz="2400" b="1">
                      <a:solidFill>
                        <a:schemeClr val="bg1"/>
                      </a:solidFill>
                      <a:latin typeface="Times New Roman" pitchFamily="18" charset="0"/>
                      <a:ea typeface="华文中宋" pitchFamily="2" charset="-122"/>
                      <a:cs typeface="Times New Roman" pitchFamily="18" charset="0"/>
                    </a:rPr>
                    <a:t>1</a:t>
                  </a:r>
                </a:p>
                <a:p>
                  <a:pPr algn="ctr" eaLnBrk="0" hangingPunct="0"/>
                  <a:endParaRPr kumimoji="1" lang="en-US" altLang="zh-CN" sz="2400" b="1">
                    <a:solidFill>
                      <a:schemeClr val="bg1"/>
                    </a:solidFill>
                    <a:latin typeface="Times New Roman" pitchFamily="18" charset="0"/>
                    <a:ea typeface="华文中宋" pitchFamily="2" charset="-122"/>
                    <a:cs typeface="Times New Roman" pitchFamily="18" charset="0"/>
                  </a:endParaRPr>
                </a:p>
              </p:txBody>
            </p:sp>
            <p:sp>
              <p:nvSpPr>
                <p:cNvPr id="5148" name="Rectangle 111"/>
                <p:cNvSpPr>
                  <a:spLocks noChangeArrowheads="1"/>
                </p:cNvSpPr>
                <p:nvPr/>
              </p:nvSpPr>
              <p:spPr bwMode="auto">
                <a:xfrm>
                  <a:off x="1597" y="1152"/>
                  <a:ext cx="446" cy="384"/>
                </a:xfrm>
                <a:prstGeom prst="rect">
                  <a:avLst/>
                </a:prstGeom>
                <a:noFill/>
                <a:ln w="7">
                  <a:solidFill>
                    <a:srgbClr val="A0A0A0"/>
                  </a:solidFill>
                  <a:miter lim="800000"/>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grpSp>
        </p:grpSp>
        <p:sp>
          <p:nvSpPr>
            <p:cNvPr id="5130" name="Rectangle 114"/>
            <p:cNvSpPr>
              <a:spLocks noChangeArrowheads="1"/>
            </p:cNvSpPr>
            <p:nvPr/>
          </p:nvSpPr>
          <p:spPr bwMode="auto">
            <a:xfrm>
              <a:off x="-3" y="-3"/>
              <a:ext cx="2049" cy="1542"/>
            </a:xfrm>
            <a:prstGeom prst="rect">
              <a:avLst/>
            </a:prstGeom>
            <a:noFill/>
            <a:ln w="9525">
              <a:solidFill>
                <a:srgbClr val="A0A0A0"/>
              </a:solidFill>
              <a:miter lim="800000"/>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灯片编号占位符 5"/>
          <p:cNvSpPr>
            <a:spLocks noGrp="1"/>
          </p:cNvSpPr>
          <p:nvPr>
            <p:ph type="sldNum" sz="quarter" idx="12"/>
          </p:nvPr>
        </p:nvSpPr>
        <p:spPr>
          <a:noFill/>
        </p:spPr>
        <p:txBody>
          <a:bodyPr/>
          <a:lstStyle/>
          <a:p>
            <a:fld id="{F20D9ED8-6E71-4CD7-B5F0-8EF553AC567B}" type="slidenum">
              <a:rPr lang="en-US" altLang="zh-CN" smtClean="0"/>
              <a:pPr/>
              <a:t>15</a:t>
            </a:fld>
            <a:endParaRPr lang="en-US" altLang="zh-CN" smtClean="0"/>
          </a:p>
        </p:txBody>
      </p:sp>
      <p:sp>
        <p:nvSpPr>
          <p:cNvPr id="6149" name="Text Box 4"/>
          <p:cNvSpPr txBox="1">
            <a:spLocks noChangeArrowheads="1"/>
          </p:cNvSpPr>
          <p:nvPr/>
        </p:nvSpPr>
        <p:spPr bwMode="auto">
          <a:xfrm>
            <a:off x="4976813" y="0"/>
            <a:ext cx="4167187"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微观粒子运动的量子力学描述</a:t>
            </a:r>
            <a:endParaRPr lang="zh-CN" altLang="en-US" sz="2400">
              <a:solidFill>
                <a:schemeClr val="bg1"/>
              </a:solidFill>
              <a:latin typeface="Times New Roman" pitchFamily="18" charset="0"/>
            </a:endParaRPr>
          </a:p>
        </p:txBody>
      </p:sp>
      <p:sp>
        <p:nvSpPr>
          <p:cNvPr id="6150" name="Rectangle 5"/>
          <p:cNvSpPr>
            <a:spLocks noGrp="1" noRot="1" noChangeArrowheads="1"/>
          </p:cNvSpPr>
          <p:nvPr/>
        </p:nvSpPr>
        <p:spPr bwMode="auto">
          <a:xfrm>
            <a:off x="298450" y="228600"/>
            <a:ext cx="8540750" cy="1143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三维自由平动子的简并度</a:t>
            </a:r>
          </a:p>
        </p:txBody>
      </p:sp>
      <p:sp>
        <p:nvSpPr>
          <p:cNvPr id="6151" name="Text Box 6"/>
          <p:cNvSpPr txBox="1">
            <a:spLocks noChangeArrowheads="1"/>
          </p:cNvSpPr>
          <p:nvPr/>
        </p:nvSpPr>
        <p:spPr bwMode="auto">
          <a:xfrm>
            <a:off x="1050925" y="1392238"/>
            <a:ext cx="5437707" cy="1200329"/>
          </a:xfrm>
          <a:prstGeom prst="rect">
            <a:avLst/>
          </a:prstGeom>
          <a:noFill/>
          <a:ln w="9525">
            <a:noFill/>
            <a:miter lim="800000"/>
            <a:headEnd/>
            <a:tailEnd/>
          </a:ln>
        </p:spPr>
        <p:txBody>
          <a:bodyPr wrap="none">
            <a:spAutoFit/>
          </a:bodyPr>
          <a:lstStyle/>
          <a:p>
            <a:endParaRPr lang="en-US" altLang="zh-CN" sz="2400" b="1" dirty="0">
              <a:solidFill>
                <a:schemeClr val="bg1"/>
              </a:solidFill>
              <a:latin typeface="Times New Roman" pitchFamily="18" charset="0"/>
              <a:ea typeface="华文中宋" pitchFamily="2" charset="-122"/>
              <a:cs typeface="Times New Roman" pitchFamily="18" charset="0"/>
            </a:endParaRPr>
          </a:p>
          <a:p>
            <a:r>
              <a:rPr lang="zh-CN" altLang="en-US" sz="2400" b="1" dirty="0">
                <a:solidFill>
                  <a:schemeClr val="bg1"/>
                </a:solidFill>
                <a:latin typeface="Times New Roman" pitchFamily="18" charset="0"/>
                <a:ea typeface="华文中宋" pitchFamily="2" charset="-122"/>
                <a:cs typeface="Times New Roman" pitchFamily="18" charset="0"/>
              </a:rPr>
              <a:t>当         </a:t>
            </a:r>
            <a:r>
              <a:rPr lang="zh-CN" altLang="en-US" sz="2400" b="1" dirty="0" smtClean="0">
                <a:solidFill>
                  <a:schemeClr val="bg1"/>
                </a:solidFill>
                <a:latin typeface="Times New Roman" pitchFamily="18" charset="0"/>
                <a:ea typeface="华文中宋" pitchFamily="2" charset="-122"/>
                <a:cs typeface="Times New Roman" pitchFamily="18" charset="0"/>
              </a:rPr>
              <a:t>           时</a:t>
            </a:r>
            <a:r>
              <a:rPr lang="zh-CN" altLang="en-US" sz="2400" b="1" dirty="0">
                <a:solidFill>
                  <a:schemeClr val="bg1"/>
                </a:solidFill>
                <a:latin typeface="Times New Roman" pitchFamily="18" charset="0"/>
                <a:ea typeface="华文中宋" pitchFamily="2" charset="-122"/>
                <a:cs typeface="Times New Roman" pitchFamily="18" charset="0"/>
              </a:rPr>
              <a:t>，能级的简并度</a:t>
            </a:r>
            <a:r>
              <a:rPr lang="en-US" altLang="zh-CN" sz="2400" b="1" i="1" dirty="0" smtClean="0">
                <a:solidFill>
                  <a:schemeClr val="bg1"/>
                </a:solidFill>
                <a:latin typeface="Times New Roman" pitchFamily="18" charset="0"/>
                <a:ea typeface="华文中宋" pitchFamily="2" charset="-122"/>
                <a:cs typeface="Times New Roman" pitchFamily="18" charset="0"/>
              </a:rPr>
              <a:t>g</a:t>
            </a:r>
            <a:r>
              <a:rPr lang="en-US" altLang="zh-CN" sz="2400" b="1" dirty="0" smtClean="0">
                <a:solidFill>
                  <a:schemeClr val="bg1"/>
                </a:solidFill>
                <a:latin typeface="Times New Roman" pitchFamily="18" charset="0"/>
                <a:ea typeface="华文中宋" pitchFamily="2" charset="-122"/>
                <a:cs typeface="Times New Roman" pitchFamily="18" charset="0"/>
              </a:rPr>
              <a:t>=12    </a:t>
            </a:r>
            <a:endParaRPr lang="en-US" altLang="zh-CN" sz="2400" b="1" dirty="0">
              <a:solidFill>
                <a:schemeClr val="bg1"/>
              </a:solidFill>
              <a:latin typeface="Times New Roman" pitchFamily="18" charset="0"/>
              <a:ea typeface="华文中宋" pitchFamily="2" charset="-122"/>
              <a:cs typeface="Times New Roman" pitchFamily="18" charset="0"/>
            </a:endParaRPr>
          </a:p>
          <a:p>
            <a:r>
              <a:rPr lang="en-US" altLang="zh-CN" sz="2400" b="1" dirty="0">
                <a:solidFill>
                  <a:schemeClr val="bg1"/>
                </a:solidFill>
                <a:latin typeface="Times New Roman" pitchFamily="18" charset="0"/>
                <a:ea typeface="华文中宋" pitchFamily="2" charset="-122"/>
                <a:cs typeface="Times New Roman" pitchFamily="18" charset="0"/>
              </a:rPr>
              <a:t> </a:t>
            </a:r>
          </a:p>
        </p:txBody>
      </p:sp>
      <p:graphicFrame>
        <p:nvGraphicFramePr>
          <p:cNvPr id="6146" name="Object 7"/>
          <p:cNvGraphicFramePr>
            <a:graphicFrameLocks noChangeAspect="1"/>
          </p:cNvGraphicFramePr>
          <p:nvPr/>
        </p:nvGraphicFramePr>
        <p:xfrm>
          <a:off x="1447800" y="1524000"/>
          <a:ext cx="1346200" cy="1042988"/>
        </p:xfrm>
        <a:graphic>
          <a:graphicData uri="http://schemas.openxmlformats.org/presentationml/2006/ole">
            <p:oleObj spid="_x0000_s6146" r:id="rId3" imgW="672808" imgH="520474" progId="Equation.DSMT4">
              <p:embed/>
            </p:oleObj>
          </a:graphicData>
        </a:graphic>
      </p:graphicFrame>
      <p:grpSp>
        <p:nvGrpSpPr>
          <p:cNvPr id="2" name="Group 167"/>
          <p:cNvGrpSpPr>
            <a:grpSpLocks/>
          </p:cNvGrpSpPr>
          <p:nvPr/>
        </p:nvGrpSpPr>
        <p:grpSpPr bwMode="auto">
          <a:xfrm>
            <a:off x="762000" y="2657475"/>
            <a:ext cx="8382000" cy="2600325"/>
            <a:chOff x="-3" y="-3"/>
            <a:chExt cx="3590" cy="1638"/>
          </a:xfrm>
        </p:grpSpPr>
        <p:grpSp>
          <p:nvGrpSpPr>
            <p:cNvPr id="6199" name="Group 165"/>
            <p:cNvGrpSpPr>
              <a:grpSpLocks/>
            </p:cNvGrpSpPr>
            <p:nvPr/>
          </p:nvGrpSpPr>
          <p:grpSpPr bwMode="auto">
            <a:xfrm>
              <a:off x="0" y="0"/>
              <a:ext cx="3584" cy="1632"/>
              <a:chOff x="0" y="0"/>
              <a:chExt cx="3584" cy="1632"/>
            </a:xfrm>
          </p:grpSpPr>
          <p:grpSp>
            <p:nvGrpSpPr>
              <p:cNvPr id="6201" name="Group 62"/>
              <p:cNvGrpSpPr>
                <a:grpSpLocks/>
              </p:cNvGrpSpPr>
              <p:nvPr/>
            </p:nvGrpSpPr>
            <p:grpSpPr bwMode="auto">
              <a:xfrm>
                <a:off x="0" y="0"/>
                <a:ext cx="356" cy="480"/>
                <a:chOff x="0" y="0"/>
                <a:chExt cx="356" cy="480"/>
              </a:xfrm>
            </p:grpSpPr>
            <p:sp>
              <p:nvSpPr>
                <p:cNvPr id="6355" name="Rectangle 9"/>
                <p:cNvSpPr>
                  <a:spLocks noChangeArrowheads="1"/>
                </p:cNvSpPr>
                <p:nvPr/>
              </p:nvSpPr>
              <p:spPr bwMode="auto">
                <a:xfrm>
                  <a:off x="43" y="0"/>
                  <a:ext cx="270" cy="480"/>
                </a:xfrm>
                <a:prstGeom prst="rect">
                  <a:avLst/>
                </a:prstGeom>
                <a:noFill/>
                <a:ln w="9525">
                  <a:noFill/>
                  <a:miter lim="800000"/>
                  <a:headEnd/>
                  <a:tailEnd/>
                </a:ln>
              </p:spPr>
              <p:txBody>
                <a:bodyPr lIns="18000" tIns="10800" rIns="18000" bIns="10800"/>
                <a:lstStyle/>
                <a:p>
                  <a:pPr algn="ctr"/>
                  <a:r>
                    <a:rPr kumimoji="1" lang="zh-CN" altLang="en-US" sz="2000" b="1" dirty="0">
                      <a:solidFill>
                        <a:srgbClr val="FFFF00"/>
                      </a:solidFill>
                      <a:latin typeface="华文中宋" pitchFamily="2" charset="-122"/>
                      <a:ea typeface="华文中宋" pitchFamily="2" charset="-122"/>
                    </a:rPr>
                    <a:t>量子态</a:t>
                  </a:r>
                </a:p>
                <a:p>
                  <a:pPr algn="ctr" eaLnBrk="0" hangingPunct="0"/>
                  <a:endParaRPr kumimoji="1" lang="en-US" altLang="zh-CN" sz="2000" b="1" dirty="0">
                    <a:solidFill>
                      <a:srgbClr val="FFFF00"/>
                    </a:solidFill>
                    <a:latin typeface="Times New Roman" pitchFamily="18" charset="0"/>
                    <a:ea typeface="仿宋_GB2312" pitchFamily="49" charset="-122"/>
                  </a:endParaRPr>
                </a:p>
              </p:txBody>
            </p:sp>
            <p:sp>
              <p:nvSpPr>
                <p:cNvPr id="6356" name="Rectangle 61"/>
                <p:cNvSpPr>
                  <a:spLocks noChangeArrowheads="1"/>
                </p:cNvSpPr>
                <p:nvPr/>
              </p:nvSpPr>
              <p:spPr bwMode="auto">
                <a:xfrm>
                  <a:off x="0" y="0"/>
                  <a:ext cx="356" cy="480"/>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02" name="Group 64"/>
              <p:cNvGrpSpPr>
                <a:grpSpLocks/>
              </p:cNvGrpSpPr>
              <p:nvPr/>
            </p:nvGrpSpPr>
            <p:grpSpPr bwMode="auto">
              <a:xfrm>
                <a:off x="356" y="0"/>
                <a:ext cx="269" cy="480"/>
                <a:chOff x="356" y="0"/>
                <a:chExt cx="269" cy="480"/>
              </a:xfrm>
            </p:grpSpPr>
            <p:sp>
              <p:nvSpPr>
                <p:cNvPr id="6353" name="Rectangle 10"/>
                <p:cNvSpPr>
                  <a:spLocks noChangeArrowheads="1"/>
                </p:cNvSpPr>
                <p:nvPr/>
              </p:nvSpPr>
              <p:spPr bwMode="auto">
                <a:xfrm>
                  <a:off x="399" y="0"/>
                  <a:ext cx="183" cy="480"/>
                </a:xfrm>
                <a:prstGeom prst="rect">
                  <a:avLst/>
                </a:prstGeom>
                <a:noFill/>
                <a:ln w="9525">
                  <a:noFill/>
                  <a:miter lim="800000"/>
                  <a:headEnd/>
                  <a:tailEnd/>
                </a:ln>
              </p:spPr>
              <p:txBody>
                <a:bodyPr lIns="18000" tIns="10800" rIns="18000" bIns="10800"/>
                <a:lstStyle/>
                <a:p>
                  <a:pPr algn="just"/>
                  <a:r>
                    <a:rPr kumimoji="1" lang="en-US" altLang="zh-CN" sz="2000" b="1">
                      <a:solidFill>
                        <a:srgbClr val="FFFF00"/>
                      </a:solidFill>
                      <a:latin typeface="Times New Roman" pitchFamily="18" charset="0"/>
                      <a:ea typeface="仿宋_GB2312" pitchFamily="49" charset="-122"/>
                    </a:rPr>
                    <a:t>1</a:t>
                  </a:r>
                </a:p>
                <a:p>
                  <a:pPr algn="just" eaLnBrk="0" hangingPunct="0"/>
                  <a:endParaRPr kumimoji="1" lang="en-US" altLang="zh-CN" sz="2000" b="1">
                    <a:solidFill>
                      <a:srgbClr val="FFFF00"/>
                    </a:solidFill>
                    <a:latin typeface="Times New Roman" pitchFamily="18" charset="0"/>
                    <a:ea typeface="仿宋_GB2312" pitchFamily="49" charset="-122"/>
                  </a:endParaRPr>
                </a:p>
              </p:txBody>
            </p:sp>
            <p:sp>
              <p:nvSpPr>
                <p:cNvPr id="6354" name="Rectangle 63"/>
                <p:cNvSpPr>
                  <a:spLocks noChangeArrowheads="1"/>
                </p:cNvSpPr>
                <p:nvPr/>
              </p:nvSpPr>
              <p:spPr bwMode="auto">
                <a:xfrm>
                  <a:off x="356" y="0"/>
                  <a:ext cx="269" cy="480"/>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03" name="Group 66"/>
              <p:cNvGrpSpPr>
                <a:grpSpLocks/>
              </p:cNvGrpSpPr>
              <p:nvPr/>
            </p:nvGrpSpPr>
            <p:grpSpPr bwMode="auto">
              <a:xfrm>
                <a:off x="625" y="0"/>
                <a:ext cx="269" cy="480"/>
                <a:chOff x="625" y="0"/>
                <a:chExt cx="269" cy="480"/>
              </a:xfrm>
            </p:grpSpPr>
            <p:sp>
              <p:nvSpPr>
                <p:cNvPr id="6351" name="Rectangle 11"/>
                <p:cNvSpPr>
                  <a:spLocks noChangeArrowheads="1"/>
                </p:cNvSpPr>
                <p:nvPr/>
              </p:nvSpPr>
              <p:spPr bwMode="auto">
                <a:xfrm>
                  <a:off x="668" y="0"/>
                  <a:ext cx="183" cy="480"/>
                </a:xfrm>
                <a:prstGeom prst="rect">
                  <a:avLst/>
                </a:prstGeom>
                <a:noFill/>
                <a:ln w="9525">
                  <a:noFill/>
                  <a:miter lim="800000"/>
                  <a:headEnd/>
                  <a:tailEnd/>
                </a:ln>
              </p:spPr>
              <p:txBody>
                <a:bodyPr lIns="18000" tIns="10800" rIns="18000" bIns="10800"/>
                <a:lstStyle/>
                <a:p>
                  <a:pPr algn="just"/>
                  <a:r>
                    <a:rPr kumimoji="1" lang="en-US" altLang="zh-CN" sz="2000" b="1">
                      <a:solidFill>
                        <a:srgbClr val="FFFF00"/>
                      </a:solidFill>
                      <a:latin typeface="Times New Roman" pitchFamily="18" charset="0"/>
                      <a:ea typeface="仿宋_GB2312" pitchFamily="49" charset="-122"/>
                    </a:rPr>
                    <a:t>2</a:t>
                  </a:r>
                </a:p>
                <a:p>
                  <a:pPr algn="just" eaLnBrk="0" hangingPunct="0"/>
                  <a:endParaRPr kumimoji="1" lang="en-US" altLang="zh-CN" sz="2000" b="1">
                    <a:solidFill>
                      <a:srgbClr val="FFFF00"/>
                    </a:solidFill>
                    <a:latin typeface="Times New Roman" pitchFamily="18" charset="0"/>
                    <a:ea typeface="仿宋_GB2312" pitchFamily="49" charset="-122"/>
                  </a:endParaRPr>
                </a:p>
              </p:txBody>
            </p:sp>
            <p:sp>
              <p:nvSpPr>
                <p:cNvPr id="6352" name="Rectangle 65"/>
                <p:cNvSpPr>
                  <a:spLocks noChangeArrowheads="1"/>
                </p:cNvSpPr>
                <p:nvPr/>
              </p:nvSpPr>
              <p:spPr bwMode="auto">
                <a:xfrm>
                  <a:off x="625" y="0"/>
                  <a:ext cx="269" cy="480"/>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04" name="Group 68"/>
              <p:cNvGrpSpPr>
                <a:grpSpLocks/>
              </p:cNvGrpSpPr>
              <p:nvPr/>
            </p:nvGrpSpPr>
            <p:grpSpPr bwMode="auto">
              <a:xfrm>
                <a:off x="894" y="0"/>
                <a:ext cx="269" cy="480"/>
                <a:chOff x="894" y="0"/>
                <a:chExt cx="269" cy="480"/>
              </a:xfrm>
            </p:grpSpPr>
            <p:sp>
              <p:nvSpPr>
                <p:cNvPr id="6349" name="Rectangle 12"/>
                <p:cNvSpPr>
                  <a:spLocks noChangeArrowheads="1"/>
                </p:cNvSpPr>
                <p:nvPr/>
              </p:nvSpPr>
              <p:spPr bwMode="auto">
                <a:xfrm>
                  <a:off x="937" y="0"/>
                  <a:ext cx="183" cy="480"/>
                </a:xfrm>
                <a:prstGeom prst="rect">
                  <a:avLst/>
                </a:prstGeom>
                <a:noFill/>
                <a:ln w="9525">
                  <a:noFill/>
                  <a:miter lim="800000"/>
                  <a:headEnd/>
                  <a:tailEnd/>
                </a:ln>
              </p:spPr>
              <p:txBody>
                <a:bodyPr lIns="18000" tIns="10800" rIns="18000" bIns="10800"/>
                <a:lstStyle/>
                <a:p>
                  <a:pPr algn="just"/>
                  <a:r>
                    <a:rPr kumimoji="1" lang="en-US" altLang="zh-CN" sz="2000" b="1">
                      <a:solidFill>
                        <a:srgbClr val="FFFF00"/>
                      </a:solidFill>
                      <a:latin typeface="Times New Roman" pitchFamily="18" charset="0"/>
                      <a:ea typeface="仿宋_GB2312" pitchFamily="49" charset="-122"/>
                    </a:rPr>
                    <a:t>3</a:t>
                  </a:r>
                </a:p>
                <a:p>
                  <a:pPr algn="just" eaLnBrk="0" hangingPunct="0"/>
                  <a:endParaRPr kumimoji="1" lang="en-US" altLang="zh-CN" sz="2000" b="1">
                    <a:solidFill>
                      <a:srgbClr val="FFFF00"/>
                    </a:solidFill>
                    <a:latin typeface="Times New Roman" pitchFamily="18" charset="0"/>
                    <a:ea typeface="仿宋_GB2312" pitchFamily="49" charset="-122"/>
                  </a:endParaRPr>
                </a:p>
              </p:txBody>
            </p:sp>
            <p:sp>
              <p:nvSpPr>
                <p:cNvPr id="6350" name="Rectangle 67"/>
                <p:cNvSpPr>
                  <a:spLocks noChangeArrowheads="1"/>
                </p:cNvSpPr>
                <p:nvPr/>
              </p:nvSpPr>
              <p:spPr bwMode="auto">
                <a:xfrm>
                  <a:off x="894" y="0"/>
                  <a:ext cx="269" cy="480"/>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05" name="Group 70"/>
              <p:cNvGrpSpPr>
                <a:grpSpLocks/>
              </p:cNvGrpSpPr>
              <p:nvPr/>
            </p:nvGrpSpPr>
            <p:grpSpPr bwMode="auto">
              <a:xfrm>
                <a:off x="1163" y="0"/>
                <a:ext cx="269" cy="480"/>
                <a:chOff x="1163" y="0"/>
                <a:chExt cx="269" cy="480"/>
              </a:xfrm>
            </p:grpSpPr>
            <p:sp>
              <p:nvSpPr>
                <p:cNvPr id="6347" name="Rectangle 13"/>
                <p:cNvSpPr>
                  <a:spLocks noChangeArrowheads="1"/>
                </p:cNvSpPr>
                <p:nvPr/>
              </p:nvSpPr>
              <p:spPr bwMode="auto">
                <a:xfrm>
                  <a:off x="1206" y="0"/>
                  <a:ext cx="183" cy="480"/>
                </a:xfrm>
                <a:prstGeom prst="rect">
                  <a:avLst/>
                </a:prstGeom>
                <a:noFill/>
                <a:ln w="9525">
                  <a:noFill/>
                  <a:miter lim="800000"/>
                  <a:headEnd/>
                  <a:tailEnd/>
                </a:ln>
              </p:spPr>
              <p:txBody>
                <a:bodyPr lIns="18000" tIns="10800" rIns="18000" bIns="10800"/>
                <a:lstStyle/>
                <a:p>
                  <a:pPr algn="just"/>
                  <a:r>
                    <a:rPr kumimoji="1" lang="en-US" altLang="zh-CN" sz="2000" b="1">
                      <a:solidFill>
                        <a:srgbClr val="FFFF00"/>
                      </a:solidFill>
                      <a:latin typeface="Times New Roman" pitchFamily="18" charset="0"/>
                      <a:ea typeface="仿宋_GB2312" pitchFamily="49" charset="-122"/>
                    </a:rPr>
                    <a:t>4</a:t>
                  </a:r>
                </a:p>
                <a:p>
                  <a:pPr algn="just" eaLnBrk="0" hangingPunct="0"/>
                  <a:endParaRPr kumimoji="1" lang="en-US" altLang="zh-CN" sz="2000" b="1">
                    <a:solidFill>
                      <a:srgbClr val="FFFF00"/>
                    </a:solidFill>
                    <a:latin typeface="Times New Roman" pitchFamily="18" charset="0"/>
                    <a:ea typeface="仿宋_GB2312" pitchFamily="49" charset="-122"/>
                  </a:endParaRPr>
                </a:p>
              </p:txBody>
            </p:sp>
            <p:sp>
              <p:nvSpPr>
                <p:cNvPr id="6348" name="Rectangle 69"/>
                <p:cNvSpPr>
                  <a:spLocks noChangeArrowheads="1"/>
                </p:cNvSpPr>
                <p:nvPr/>
              </p:nvSpPr>
              <p:spPr bwMode="auto">
                <a:xfrm>
                  <a:off x="1163" y="0"/>
                  <a:ext cx="269" cy="480"/>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06" name="Group 72"/>
              <p:cNvGrpSpPr>
                <a:grpSpLocks/>
              </p:cNvGrpSpPr>
              <p:nvPr/>
            </p:nvGrpSpPr>
            <p:grpSpPr bwMode="auto">
              <a:xfrm>
                <a:off x="1432" y="0"/>
                <a:ext cx="269" cy="480"/>
                <a:chOff x="1432" y="0"/>
                <a:chExt cx="269" cy="480"/>
              </a:xfrm>
            </p:grpSpPr>
            <p:sp>
              <p:nvSpPr>
                <p:cNvPr id="6345" name="Rectangle 14"/>
                <p:cNvSpPr>
                  <a:spLocks noChangeArrowheads="1"/>
                </p:cNvSpPr>
                <p:nvPr/>
              </p:nvSpPr>
              <p:spPr bwMode="auto">
                <a:xfrm>
                  <a:off x="1475" y="0"/>
                  <a:ext cx="183" cy="480"/>
                </a:xfrm>
                <a:prstGeom prst="rect">
                  <a:avLst/>
                </a:prstGeom>
                <a:noFill/>
                <a:ln w="9525">
                  <a:noFill/>
                  <a:miter lim="800000"/>
                  <a:headEnd/>
                  <a:tailEnd/>
                </a:ln>
              </p:spPr>
              <p:txBody>
                <a:bodyPr lIns="18000" tIns="10800" rIns="18000" bIns="10800"/>
                <a:lstStyle/>
                <a:p>
                  <a:pPr algn="just"/>
                  <a:r>
                    <a:rPr kumimoji="1" lang="en-US" altLang="zh-CN" sz="2000" b="1">
                      <a:solidFill>
                        <a:srgbClr val="FFFF00"/>
                      </a:solidFill>
                      <a:latin typeface="Times New Roman" pitchFamily="18" charset="0"/>
                      <a:ea typeface="仿宋_GB2312" pitchFamily="49" charset="-122"/>
                    </a:rPr>
                    <a:t>5</a:t>
                  </a:r>
                </a:p>
                <a:p>
                  <a:pPr algn="just" eaLnBrk="0" hangingPunct="0"/>
                  <a:endParaRPr kumimoji="1" lang="en-US" altLang="zh-CN" sz="2000" b="1">
                    <a:solidFill>
                      <a:srgbClr val="FFFF00"/>
                    </a:solidFill>
                    <a:latin typeface="Times New Roman" pitchFamily="18" charset="0"/>
                    <a:ea typeface="仿宋_GB2312" pitchFamily="49" charset="-122"/>
                  </a:endParaRPr>
                </a:p>
              </p:txBody>
            </p:sp>
            <p:sp>
              <p:nvSpPr>
                <p:cNvPr id="6346" name="Rectangle 71"/>
                <p:cNvSpPr>
                  <a:spLocks noChangeArrowheads="1"/>
                </p:cNvSpPr>
                <p:nvPr/>
              </p:nvSpPr>
              <p:spPr bwMode="auto">
                <a:xfrm>
                  <a:off x="1432" y="0"/>
                  <a:ext cx="269" cy="480"/>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07" name="Group 74"/>
              <p:cNvGrpSpPr>
                <a:grpSpLocks/>
              </p:cNvGrpSpPr>
              <p:nvPr/>
            </p:nvGrpSpPr>
            <p:grpSpPr bwMode="auto">
              <a:xfrm>
                <a:off x="1701" y="0"/>
                <a:ext cx="269" cy="480"/>
                <a:chOff x="1701" y="0"/>
                <a:chExt cx="269" cy="480"/>
              </a:xfrm>
            </p:grpSpPr>
            <p:sp>
              <p:nvSpPr>
                <p:cNvPr id="6343" name="Rectangle 15"/>
                <p:cNvSpPr>
                  <a:spLocks noChangeArrowheads="1"/>
                </p:cNvSpPr>
                <p:nvPr/>
              </p:nvSpPr>
              <p:spPr bwMode="auto">
                <a:xfrm>
                  <a:off x="1744" y="0"/>
                  <a:ext cx="183" cy="480"/>
                </a:xfrm>
                <a:prstGeom prst="rect">
                  <a:avLst/>
                </a:prstGeom>
                <a:noFill/>
                <a:ln w="9525">
                  <a:noFill/>
                  <a:miter lim="800000"/>
                  <a:headEnd/>
                  <a:tailEnd/>
                </a:ln>
              </p:spPr>
              <p:txBody>
                <a:bodyPr lIns="18000" tIns="10800" rIns="18000" bIns="10800"/>
                <a:lstStyle/>
                <a:p>
                  <a:pPr algn="just"/>
                  <a:r>
                    <a:rPr kumimoji="1" lang="en-US" altLang="zh-CN" sz="2000" b="1">
                      <a:solidFill>
                        <a:srgbClr val="FFFF00"/>
                      </a:solidFill>
                      <a:latin typeface="Times New Roman" pitchFamily="18" charset="0"/>
                      <a:ea typeface="仿宋_GB2312" pitchFamily="49" charset="-122"/>
                    </a:rPr>
                    <a:t>6</a:t>
                  </a:r>
                </a:p>
                <a:p>
                  <a:pPr algn="just" eaLnBrk="0" hangingPunct="0"/>
                  <a:endParaRPr kumimoji="1" lang="en-US" altLang="zh-CN" sz="2000" b="1">
                    <a:solidFill>
                      <a:srgbClr val="FFFF00"/>
                    </a:solidFill>
                    <a:latin typeface="Times New Roman" pitchFamily="18" charset="0"/>
                    <a:ea typeface="仿宋_GB2312" pitchFamily="49" charset="-122"/>
                  </a:endParaRPr>
                </a:p>
              </p:txBody>
            </p:sp>
            <p:sp>
              <p:nvSpPr>
                <p:cNvPr id="6344" name="Rectangle 73"/>
                <p:cNvSpPr>
                  <a:spLocks noChangeArrowheads="1"/>
                </p:cNvSpPr>
                <p:nvPr/>
              </p:nvSpPr>
              <p:spPr bwMode="auto">
                <a:xfrm>
                  <a:off x="1701" y="0"/>
                  <a:ext cx="269" cy="480"/>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08" name="Group 76"/>
              <p:cNvGrpSpPr>
                <a:grpSpLocks/>
              </p:cNvGrpSpPr>
              <p:nvPr/>
            </p:nvGrpSpPr>
            <p:grpSpPr bwMode="auto">
              <a:xfrm>
                <a:off x="1970" y="0"/>
                <a:ext cx="269" cy="480"/>
                <a:chOff x="1970" y="0"/>
                <a:chExt cx="269" cy="480"/>
              </a:xfrm>
            </p:grpSpPr>
            <p:sp>
              <p:nvSpPr>
                <p:cNvPr id="6341" name="Rectangle 16"/>
                <p:cNvSpPr>
                  <a:spLocks noChangeArrowheads="1"/>
                </p:cNvSpPr>
                <p:nvPr/>
              </p:nvSpPr>
              <p:spPr bwMode="auto">
                <a:xfrm>
                  <a:off x="2013" y="0"/>
                  <a:ext cx="183" cy="480"/>
                </a:xfrm>
                <a:prstGeom prst="rect">
                  <a:avLst/>
                </a:prstGeom>
                <a:noFill/>
                <a:ln w="9525">
                  <a:noFill/>
                  <a:miter lim="800000"/>
                  <a:headEnd/>
                  <a:tailEnd/>
                </a:ln>
              </p:spPr>
              <p:txBody>
                <a:bodyPr lIns="18000" tIns="10800" rIns="18000" bIns="10800"/>
                <a:lstStyle/>
                <a:p>
                  <a:pPr algn="just"/>
                  <a:r>
                    <a:rPr kumimoji="1" lang="en-US" altLang="zh-CN" sz="2000" b="1">
                      <a:solidFill>
                        <a:srgbClr val="FFFF00"/>
                      </a:solidFill>
                      <a:latin typeface="Times New Roman" pitchFamily="18" charset="0"/>
                      <a:ea typeface="仿宋_GB2312" pitchFamily="49" charset="-122"/>
                    </a:rPr>
                    <a:t>7</a:t>
                  </a:r>
                </a:p>
                <a:p>
                  <a:pPr algn="just" eaLnBrk="0" hangingPunct="0"/>
                  <a:endParaRPr kumimoji="1" lang="en-US" altLang="zh-CN" sz="2000" b="1">
                    <a:solidFill>
                      <a:srgbClr val="FFFF00"/>
                    </a:solidFill>
                    <a:latin typeface="Times New Roman" pitchFamily="18" charset="0"/>
                    <a:ea typeface="仿宋_GB2312" pitchFamily="49" charset="-122"/>
                  </a:endParaRPr>
                </a:p>
              </p:txBody>
            </p:sp>
            <p:sp>
              <p:nvSpPr>
                <p:cNvPr id="6342" name="Rectangle 75"/>
                <p:cNvSpPr>
                  <a:spLocks noChangeArrowheads="1"/>
                </p:cNvSpPr>
                <p:nvPr/>
              </p:nvSpPr>
              <p:spPr bwMode="auto">
                <a:xfrm>
                  <a:off x="1970" y="0"/>
                  <a:ext cx="269" cy="480"/>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09" name="Group 78"/>
              <p:cNvGrpSpPr>
                <a:grpSpLocks/>
              </p:cNvGrpSpPr>
              <p:nvPr/>
            </p:nvGrpSpPr>
            <p:grpSpPr bwMode="auto">
              <a:xfrm>
                <a:off x="2239" y="0"/>
                <a:ext cx="269" cy="480"/>
                <a:chOff x="2239" y="0"/>
                <a:chExt cx="269" cy="480"/>
              </a:xfrm>
            </p:grpSpPr>
            <p:sp>
              <p:nvSpPr>
                <p:cNvPr id="6339" name="Rectangle 17"/>
                <p:cNvSpPr>
                  <a:spLocks noChangeArrowheads="1"/>
                </p:cNvSpPr>
                <p:nvPr/>
              </p:nvSpPr>
              <p:spPr bwMode="auto">
                <a:xfrm>
                  <a:off x="2282" y="0"/>
                  <a:ext cx="183" cy="480"/>
                </a:xfrm>
                <a:prstGeom prst="rect">
                  <a:avLst/>
                </a:prstGeom>
                <a:noFill/>
                <a:ln w="9525">
                  <a:noFill/>
                  <a:miter lim="800000"/>
                  <a:headEnd/>
                  <a:tailEnd/>
                </a:ln>
              </p:spPr>
              <p:txBody>
                <a:bodyPr lIns="18000" tIns="10800" rIns="18000" bIns="10800"/>
                <a:lstStyle/>
                <a:p>
                  <a:pPr algn="just"/>
                  <a:r>
                    <a:rPr kumimoji="1" lang="en-US" altLang="zh-CN" sz="2000" b="1">
                      <a:solidFill>
                        <a:srgbClr val="FFFF00"/>
                      </a:solidFill>
                      <a:latin typeface="Times New Roman" pitchFamily="18" charset="0"/>
                      <a:ea typeface="仿宋_GB2312" pitchFamily="49" charset="-122"/>
                    </a:rPr>
                    <a:t>8</a:t>
                  </a:r>
                </a:p>
                <a:p>
                  <a:pPr algn="just" eaLnBrk="0" hangingPunct="0"/>
                  <a:endParaRPr kumimoji="1" lang="en-US" altLang="zh-CN" sz="2000" b="1">
                    <a:solidFill>
                      <a:srgbClr val="FFFF00"/>
                    </a:solidFill>
                    <a:latin typeface="Times New Roman" pitchFamily="18" charset="0"/>
                    <a:ea typeface="仿宋_GB2312" pitchFamily="49" charset="-122"/>
                  </a:endParaRPr>
                </a:p>
              </p:txBody>
            </p:sp>
            <p:sp>
              <p:nvSpPr>
                <p:cNvPr id="6340" name="Rectangle 77"/>
                <p:cNvSpPr>
                  <a:spLocks noChangeArrowheads="1"/>
                </p:cNvSpPr>
                <p:nvPr/>
              </p:nvSpPr>
              <p:spPr bwMode="auto">
                <a:xfrm>
                  <a:off x="2239" y="0"/>
                  <a:ext cx="269" cy="480"/>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10" name="Group 80"/>
              <p:cNvGrpSpPr>
                <a:grpSpLocks/>
              </p:cNvGrpSpPr>
              <p:nvPr/>
            </p:nvGrpSpPr>
            <p:grpSpPr bwMode="auto">
              <a:xfrm>
                <a:off x="2508" y="0"/>
                <a:ext cx="269" cy="480"/>
                <a:chOff x="2508" y="0"/>
                <a:chExt cx="269" cy="480"/>
              </a:xfrm>
            </p:grpSpPr>
            <p:sp>
              <p:nvSpPr>
                <p:cNvPr id="6337" name="Rectangle 18"/>
                <p:cNvSpPr>
                  <a:spLocks noChangeArrowheads="1"/>
                </p:cNvSpPr>
                <p:nvPr/>
              </p:nvSpPr>
              <p:spPr bwMode="auto">
                <a:xfrm>
                  <a:off x="2551" y="0"/>
                  <a:ext cx="183" cy="480"/>
                </a:xfrm>
                <a:prstGeom prst="rect">
                  <a:avLst/>
                </a:prstGeom>
                <a:noFill/>
                <a:ln w="9525">
                  <a:noFill/>
                  <a:miter lim="800000"/>
                  <a:headEnd/>
                  <a:tailEnd/>
                </a:ln>
              </p:spPr>
              <p:txBody>
                <a:bodyPr lIns="18000" tIns="10800" rIns="18000" bIns="10800"/>
                <a:lstStyle/>
                <a:p>
                  <a:pPr algn="just"/>
                  <a:r>
                    <a:rPr kumimoji="1" lang="en-US" altLang="zh-CN" sz="2000" b="1">
                      <a:solidFill>
                        <a:srgbClr val="FFFF00"/>
                      </a:solidFill>
                      <a:latin typeface="Times New Roman" pitchFamily="18" charset="0"/>
                      <a:ea typeface="仿宋_GB2312" pitchFamily="49" charset="-122"/>
                    </a:rPr>
                    <a:t>9</a:t>
                  </a:r>
                </a:p>
                <a:p>
                  <a:pPr algn="just" eaLnBrk="0" hangingPunct="0"/>
                  <a:endParaRPr kumimoji="1" lang="en-US" altLang="zh-CN" sz="2000" b="1">
                    <a:solidFill>
                      <a:srgbClr val="FFFF00"/>
                    </a:solidFill>
                    <a:latin typeface="Times New Roman" pitchFamily="18" charset="0"/>
                    <a:ea typeface="仿宋_GB2312" pitchFamily="49" charset="-122"/>
                  </a:endParaRPr>
                </a:p>
              </p:txBody>
            </p:sp>
            <p:sp>
              <p:nvSpPr>
                <p:cNvPr id="6338" name="Rectangle 79"/>
                <p:cNvSpPr>
                  <a:spLocks noChangeArrowheads="1"/>
                </p:cNvSpPr>
                <p:nvPr/>
              </p:nvSpPr>
              <p:spPr bwMode="auto">
                <a:xfrm>
                  <a:off x="2508" y="0"/>
                  <a:ext cx="269" cy="480"/>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11" name="Group 82"/>
              <p:cNvGrpSpPr>
                <a:grpSpLocks/>
              </p:cNvGrpSpPr>
              <p:nvPr/>
            </p:nvGrpSpPr>
            <p:grpSpPr bwMode="auto">
              <a:xfrm>
                <a:off x="2777" y="0"/>
                <a:ext cx="269" cy="480"/>
                <a:chOff x="2777" y="0"/>
                <a:chExt cx="269" cy="480"/>
              </a:xfrm>
            </p:grpSpPr>
            <p:sp>
              <p:nvSpPr>
                <p:cNvPr id="6335" name="Rectangle 19"/>
                <p:cNvSpPr>
                  <a:spLocks noChangeArrowheads="1"/>
                </p:cNvSpPr>
                <p:nvPr/>
              </p:nvSpPr>
              <p:spPr bwMode="auto">
                <a:xfrm>
                  <a:off x="2820" y="0"/>
                  <a:ext cx="183" cy="480"/>
                </a:xfrm>
                <a:prstGeom prst="rect">
                  <a:avLst/>
                </a:prstGeom>
                <a:noFill/>
                <a:ln w="9525">
                  <a:noFill/>
                  <a:miter lim="800000"/>
                  <a:headEnd/>
                  <a:tailEnd/>
                </a:ln>
              </p:spPr>
              <p:txBody>
                <a:bodyPr lIns="18000" tIns="10800" rIns="18000" bIns="10800"/>
                <a:lstStyle/>
                <a:p>
                  <a:pPr algn="just"/>
                  <a:r>
                    <a:rPr kumimoji="1" lang="en-US" altLang="zh-CN" sz="2000" b="1">
                      <a:solidFill>
                        <a:srgbClr val="FFFF00"/>
                      </a:solidFill>
                      <a:latin typeface="Times New Roman" pitchFamily="18" charset="0"/>
                      <a:ea typeface="仿宋_GB2312" pitchFamily="49" charset="-122"/>
                    </a:rPr>
                    <a:t>10</a:t>
                  </a:r>
                </a:p>
                <a:p>
                  <a:pPr algn="just" eaLnBrk="0" hangingPunct="0"/>
                  <a:endParaRPr kumimoji="1" lang="en-US" altLang="zh-CN" sz="2000" b="1">
                    <a:solidFill>
                      <a:srgbClr val="FFFF00"/>
                    </a:solidFill>
                    <a:latin typeface="Times New Roman" pitchFamily="18" charset="0"/>
                    <a:ea typeface="仿宋_GB2312" pitchFamily="49" charset="-122"/>
                  </a:endParaRPr>
                </a:p>
              </p:txBody>
            </p:sp>
            <p:sp>
              <p:nvSpPr>
                <p:cNvPr id="6336" name="Rectangle 81"/>
                <p:cNvSpPr>
                  <a:spLocks noChangeArrowheads="1"/>
                </p:cNvSpPr>
                <p:nvPr/>
              </p:nvSpPr>
              <p:spPr bwMode="auto">
                <a:xfrm>
                  <a:off x="2777" y="0"/>
                  <a:ext cx="269" cy="480"/>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12" name="Group 84"/>
              <p:cNvGrpSpPr>
                <a:grpSpLocks/>
              </p:cNvGrpSpPr>
              <p:nvPr/>
            </p:nvGrpSpPr>
            <p:grpSpPr bwMode="auto">
              <a:xfrm>
                <a:off x="3046" y="0"/>
                <a:ext cx="269" cy="480"/>
                <a:chOff x="3046" y="0"/>
                <a:chExt cx="269" cy="480"/>
              </a:xfrm>
            </p:grpSpPr>
            <p:sp>
              <p:nvSpPr>
                <p:cNvPr id="6333" name="Rectangle 20"/>
                <p:cNvSpPr>
                  <a:spLocks noChangeArrowheads="1"/>
                </p:cNvSpPr>
                <p:nvPr/>
              </p:nvSpPr>
              <p:spPr bwMode="auto">
                <a:xfrm>
                  <a:off x="3089" y="0"/>
                  <a:ext cx="183" cy="480"/>
                </a:xfrm>
                <a:prstGeom prst="rect">
                  <a:avLst/>
                </a:prstGeom>
                <a:noFill/>
                <a:ln w="9525">
                  <a:noFill/>
                  <a:miter lim="800000"/>
                  <a:headEnd/>
                  <a:tailEnd/>
                </a:ln>
              </p:spPr>
              <p:txBody>
                <a:bodyPr lIns="18000" tIns="10800" rIns="18000" bIns="10800"/>
                <a:lstStyle/>
                <a:p>
                  <a:pPr algn="just"/>
                  <a:r>
                    <a:rPr kumimoji="1" lang="en-US" altLang="zh-CN" sz="2000" b="1">
                      <a:solidFill>
                        <a:srgbClr val="FFFF00"/>
                      </a:solidFill>
                      <a:latin typeface="Times New Roman" pitchFamily="18" charset="0"/>
                      <a:ea typeface="仿宋_GB2312" pitchFamily="49" charset="-122"/>
                    </a:rPr>
                    <a:t>11</a:t>
                  </a:r>
                </a:p>
                <a:p>
                  <a:pPr algn="just" eaLnBrk="0" hangingPunct="0"/>
                  <a:endParaRPr kumimoji="1" lang="en-US" altLang="zh-CN" sz="2000" b="1">
                    <a:solidFill>
                      <a:srgbClr val="FFFF00"/>
                    </a:solidFill>
                    <a:latin typeface="Times New Roman" pitchFamily="18" charset="0"/>
                    <a:ea typeface="仿宋_GB2312" pitchFamily="49" charset="-122"/>
                  </a:endParaRPr>
                </a:p>
              </p:txBody>
            </p:sp>
            <p:sp>
              <p:nvSpPr>
                <p:cNvPr id="6334" name="Rectangle 83"/>
                <p:cNvSpPr>
                  <a:spLocks noChangeArrowheads="1"/>
                </p:cNvSpPr>
                <p:nvPr/>
              </p:nvSpPr>
              <p:spPr bwMode="auto">
                <a:xfrm>
                  <a:off x="3046" y="0"/>
                  <a:ext cx="269" cy="480"/>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13" name="Group 86"/>
              <p:cNvGrpSpPr>
                <a:grpSpLocks/>
              </p:cNvGrpSpPr>
              <p:nvPr/>
            </p:nvGrpSpPr>
            <p:grpSpPr bwMode="auto">
              <a:xfrm>
                <a:off x="3315" y="0"/>
                <a:ext cx="269" cy="480"/>
                <a:chOff x="3315" y="0"/>
                <a:chExt cx="269" cy="480"/>
              </a:xfrm>
            </p:grpSpPr>
            <p:sp>
              <p:nvSpPr>
                <p:cNvPr id="6331" name="Rectangle 21"/>
                <p:cNvSpPr>
                  <a:spLocks noChangeArrowheads="1"/>
                </p:cNvSpPr>
                <p:nvPr/>
              </p:nvSpPr>
              <p:spPr bwMode="auto">
                <a:xfrm>
                  <a:off x="3358" y="0"/>
                  <a:ext cx="183" cy="480"/>
                </a:xfrm>
                <a:prstGeom prst="rect">
                  <a:avLst/>
                </a:prstGeom>
                <a:noFill/>
                <a:ln w="9525">
                  <a:noFill/>
                  <a:miter lim="800000"/>
                  <a:headEnd/>
                  <a:tailEnd/>
                </a:ln>
              </p:spPr>
              <p:txBody>
                <a:bodyPr lIns="18000" tIns="10800" rIns="18000" bIns="10800"/>
                <a:lstStyle/>
                <a:p>
                  <a:pPr algn="just"/>
                  <a:r>
                    <a:rPr kumimoji="1" lang="en-US" altLang="zh-CN" sz="2000" b="1">
                      <a:solidFill>
                        <a:srgbClr val="FFFF00"/>
                      </a:solidFill>
                      <a:latin typeface="Times New Roman" pitchFamily="18" charset="0"/>
                      <a:ea typeface="仿宋_GB2312" pitchFamily="49" charset="-122"/>
                    </a:rPr>
                    <a:t>12</a:t>
                  </a:r>
                </a:p>
                <a:p>
                  <a:pPr algn="just" eaLnBrk="0" hangingPunct="0"/>
                  <a:endParaRPr kumimoji="1" lang="en-US" altLang="zh-CN" sz="2000" b="1">
                    <a:solidFill>
                      <a:srgbClr val="FFFF00"/>
                    </a:solidFill>
                    <a:latin typeface="Times New Roman" pitchFamily="18" charset="0"/>
                    <a:ea typeface="仿宋_GB2312" pitchFamily="49" charset="-122"/>
                  </a:endParaRPr>
                </a:p>
              </p:txBody>
            </p:sp>
            <p:sp>
              <p:nvSpPr>
                <p:cNvPr id="6332" name="Rectangle 85"/>
                <p:cNvSpPr>
                  <a:spLocks noChangeArrowheads="1"/>
                </p:cNvSpPr>
                <p:nvPr/>
              </p:nvSpPr>
              <p:spPr bwMode="auto">
                <a:xfrm>
                  <a:off x="3315" y="0"/>
                  <a:ext cx="269" cy="480"/>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14" name="Group 88"/>
              <p:cNvGrpSpPr>
                <a:grpSpLocks/>
              </p:cNvGrpSpPr>
              <p:nvPr/>
            </p:nvGrpSpPr>
            <p:grpSpPr bwMode="auto">
              <a:xfrm>
                <a:off x="0" y="480"/>
                <a:ext cx="356" cy="384"/>
                <a:chOff x="0" y="480"/>
                <a:chExt cx="356" cy="384"/>
              </a:xfrm>
            </p:grpSpPr>
            <p:sp>
              <p:nvSpPr>
                <p:cNvPr id="6329" name="Rectangle 22"/>
                <p:cNvSpPr>
                  <a:spLocks noChangeArrowheads="1"/>
                </p:cNvSpPr>
                <p:nvPr/>
              </p:nvSpPr>
              <p:spPr bwMode="auto">
                <a:xfrm>
                  <a:off x="43" y="480"/>
                  <a:ext cx="270" cy="384"/>
                </a:xfrm>
                <a:prstGeom prst="rect">
                  <a:avLst/>
                </a:prstGeom>
                <a:noFill/>
                <a:ln w="9525">
                  <a:noFill/>
                  <a:miter lim="800000"/>
                  <a:headEnd/>
                  <a:tailEnd/>
                </a:ln>
              </p:spPr>
              <p:txBody>
                <a:bodyPr lIns="18000" tIns="10800" rIns="18000" bIns="10800"/>
                <a:lstStyle/>
                <a:p>
                  <a:pPr algn="ctr"/>
                  <a:r>
                    <a:rPr kumimoji="1" lang="en-US" altLang="zh-CN" sz="2000" b="1" i="1">
                      <a:solidFill>
                        <a:schemeClr val="bg1"/>
                      </a:solidFill>
                      <a:latin typeface="Times New Roman" pitchFamily="18" charset="0"/>
                      <a:ea typeface="仿宋_GB2312" pitchFamily="49" charset="-122"/>
                    </a:rPr>
                    <a:t>n</a:t>
                  </a:r>
                  <a:r>
                    <a:rPr kumimoji="1" lang="en-US" altLang="zh-CN" sz="2000" b="1" i="1" baseline="-30000">
                      <a:solidFill>
                        <a:schemeClr val="bg1"/>
                      </a:solidFill>
                      <a:latin typeface="Times New Roman" pitchFamily="18" charset="0"/>
                      <a:ea typeface="仿宋_GB2312" pitchFamily="49" charset="-122"/>
                    </a:rPr>
                    <a:t>x</a:t>
                  </a:r>
                  <a:endParaRPr kumimoji="1" lang="en-US" altLang="zh-CN" sz="2000" b="1">
                    <a:solidFill>
                      <a:schemeClr val="bg1"/>
                    </a:solidFill>
                    <a:latin typeface="Times New Roman" pitchFamily="18" charset="0"/>
                    <a:ea typeface="仿宋_GB2312" pitchFamily="49" charset="-122"/>
                  </a:endParaRPr>
                </a:p>
                <a:p>
                  <a:pPr algn="ctr" eaLnBrk="0" hangingPunct="0"/>
                  <a:endParaRPr kumimoji="1" lang="en-US" altLang="zh-CN" sz="2000" b="1">
                    <a:solidFill>
                      <a:schemeClr val="bg1"/>
                    </a:solidFill>
                    <a:latin typeface="Times New Roman" pitchFamily="18" charset="0"/>
                    <a:ea typeface="仿宋_GB2312" pitchFamily="49" charset="-122"/>
                  </a:endParaRPr>
                </a:p>
              </p:txBody>
            </p:sp>
            <p:sp>
              <p:nvSpPr>
                <p:cNvPr id="6330" name="Rectangle 87"/>
                <p:cNvSpPr>
                  <a:spLocks noChangeArrowheads="1"/>
                </p:cNvSpPr>
                <p:nvPr/>
              </p:nvSpPr>
              <p:spPr bwMode="auto">
                <a:xfrm>
                  <a:off x="0" y="480"/>
                  <a:ext cx="356"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15" name="Group 90"/>
              <p:cNvGrpSpPr>
                <a:grpSpLocks/>
              </p:cNvGrpSpPr>
              <p:nvPr/>
            </p:nvGrpSpPr>
            <p:grpSpPr bwMode="auto">
              <a:xfrm>
                <a:off x="356" y="480"/>
                <a:ext cx="269" cy="384"/>
                <a:chOff x="356" y="480"/>
                <a:chExt cx="269" cy="384"/>
              </a:xfrm>
            </p:grpSpPr>
            <p:sp>
              <p:nvSpPr>
                <p:cNvPr id="6327" name="Rectangle 23"/>
                <p:cNvSpPr>
                  <a:spLocks noChangeArrowheads="1"/>
                </p:cNvSpPr>
                <p:nvPr/>
              </p:nvSpPr>
              <p:spPr bwMode="auto">
                <a:xfrm>
                  <a:off x="399" y="480"/>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1</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328" name="Rectangle 89"/>
                <p:cNvSpPr>
                  <a:spLocks noChangeArrowheads="1"/>
                </p:cNvSpPr>
                <p:nvPr/>
              </p:nvSpPr>
              <p:spPr bwMode="auto">
                <a:xfrm>
                  <a:off x="356" y="480"/>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16" name="Group 92"/>
              <p:cNvGrpSpPr>
                <a:grpSpLocks/>
              </p:cNvGrpSpPr>
              <p:nvPr/>
            </p:nvGrpSpPr>
            <p:grpSpPr bwMode="auto">
              <a:xfrm>
                <a:off x="625" y="480"/>
                <a:ext cx="269" cy="384"/>
                <a:chOff x="625" y="480"/>
                <a:chExt cx="269" cy="384"/>
              </a:xfrm>
            </p:grpSpPr>
            <p:sp>
              <p:nvSpPr>
                <p:cNvPr id="6325" name="Rectangle 24"/>
                <p:cNvSpPr>
                  <a:spLocks noChangeArrowheads="1"/>
                </p:cNvSpPr>
                <p:nvPr/>
              </p:nvSpPr>
              <p:spPr bwMode="auto">
                <a:xfrm>
                  <a:off x="668" y="480"/>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1</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326" name="Rectangle 91"/>
                <p:cNvSpPr>
                  <a:spLocks noChangeArrowheads="1"/>
                </p:cNvSpPr>
                <p:nvPr/>
              </p:nvSpPr>
              <p:spPr bwMode="auto">
                <a:xfrm>
                  <a:off x="625" y="480"/>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17" name="Group 94"/>
              <p:cNvGrpSpPr>
                <a:grpSpLocks/>
              </p:cNvGrpSpPr>
              <p:nvPr/>
            </p:nvGrpSpPr>
            <p:grpSpPr bwMode="auto">
              <a:xfrm>
                <a:off x="894" y="480"/>
                <a:ext cx="269" cy="384"/>
                <a:chOff x="894" y="480"/>
                <a:chExt cx="269" cy="384"/>
              </a:xfrm>
            </p:grpSpPr>
            <p:sp>
              <p:nvSpPr>
                <p:cNvPr id="6323" name="Rectangle 25"/>
                <p:cNvSpPr>
                  <a:spLocks noChangeArrowheads="1"/>
                </p:cNvSpPr>
                <p:nvPr/>
              </p:nvSpPr>
              <p:spPr bwMode="auto">
                <a:xfrm>
                  <a:off x="937" y="480"/>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8</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324" name="Rectangle 93"/>
                <p:cNvSpPr>
                  <a:spLocks noChangeArrowheads="1"/>
                </p:cNvSpPr>
                <p:nvPr/>
              </p:nvSpPr>
              <p:spPr bwMode="auto">
                <a:xfrm>
                  <a:off x="894" y="480"/>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18" name="Group 96"/>
              <p:cNvGrpSpPr>
                <a:grpSpLocks/>
              </p:cNvGrpSpPr>
              <p:nvPr/>
            </p:nvGrpSpPr>
            <p:grpSpPr bwMode="auto">
              <a:xfrm>
                <a:off x="1163" y="480"/>
                <a:ext cx="269" cy="384"/>
                <a:chOff x="1163" y="480"/>
                <a:chExt cx="269" cy="384"/>
              </a:xfrm>
            </p:grpSpPr>
            <p:sp>
              <p:nvSpPr>
                <p:cNvPr id="6321" name="Rectangle 26"/>
                <p:cNvSpPr>
                  <a:spLocks noChangeArrowheads="1"/>
                </p:cNvSpPr>
                <p:nvPr/>
              </p:nvSpPr>
              <p:spPr bwMode="auto">
                <a:xfrm>
                  <a:off x="1206" y="480"/>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5</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322" name="Rectangle 95"/>
                <p:cNvSpPr>
                  <a:spLocks noChangeArrowheads="1"/>
                </p:cNvSpPr>
                <p:nvPr/>
              </p:nvSpPr>
              <p:spPr bwMode="auto">
                <a:xfrm>
                  <a:off x="1163" y="480"/>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19" name="Group 98"/>
              <p:cNvGrpSpPr>
                <a:grpSpLocks/>
              </p:cNvGrpSpPr>
              <p:nvPr/>
            </p:nvGrpSpPr>
            <p:grpSpPr bwMode="auto">
              <a:xfrm>
                <a:off x="1432" y="480"/>
                <a:ext cx="269" cy="384"/>
                <a:chOff x="1432" y="480"/>
                <a:chExt cx="269" cy="384"/>
              </a:xfrm>
            </p:grpSpPr>
            <p:sp>
              <p:nvSpPr>
                <p:cNvPr id="6319" name="Rectangle 27"/>
                <p:cNvSpPr>
                  <a:spLocks noChangeArrowheads="1"/>
                </p:cNvSpPr>
                <p:nvPr/>
              </p:nvSpPr>
              <p:spPr bwMode="auto">
                <a:xfrm>
                  <a:off x="1475" y="480"/>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5</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320" name="Rectangle 97"/>
                <p:cNvSpPr>
                  <a:spLocks noChangeArrowheads="1"/>
                </p:cNvSpPr>
                <p:nvPr/>
              </p:nvSpPr>
              <p:spPr bwMode="auto">
                <a:xfrm>
                  <a:off x="1432" y="480"/>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20" name="Group 100"/>
              <p:cNvGrpSpPr>
                <a:grpSpLocks/>
              </p:cNvGrpSpPr>
              <p:nvPr/>
            </p:nvGrpSpPr>
            <p:grpSpPr bwMode="auto">
              <a:xfrm>
                <a:off x="1701" y="480"/>
                <a:ext cx="269" cy="384"/>
                <a:chOff x="1701" y="480"/>
                <a:chExt cx="269" cy="384"/>
              </a:xfrm>
            </p:grpSpPr>
            <p:sp>
              <p:nvSpPr>
                <p:cNvPr id="6317" name="Rectangle 28"/>
                <p:cNvSpPr>
                  <a:spLocks noChangeArrowheads="1"/>
                </p:cNvSpPr>
                <p:nvPr/>
              </p:nvSpPr>
              <p:spPr bwMode="auto">
                <a:xfrm>
                  <a:off x="1744" y="480"/>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4</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318" name="Rectangle 99"/>
                <p:cNvSpPr>
                  <a:spLocks noChangeArrowheads="1"/>
                </p:cNvSpPr>
                <p:nvPr/>
              </p:nvSpPr>
              <p:spPr bwMode="auto">
                <a:xfrm>
                  <a:off x="1701" y="480"/>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21" name="Group 102"/>
              <p:cNvGrpSpPr>
                <a:grpSpLocks/>
              </p:cNvGrpSpPr>
              <p:nvPr/>
            </p:nvGrpSpPr>
            <p:grpSpPr bwMode="auto">
              <a:xfrm>
                <a:off x="1970" y="480"/>
                <a:ext cx="269" cy="384"/>
                <a:chOff x="1970" y="480"/>
                <a:chExt cx="269" cy="384"/>
              </a:xfrm>
            </p:grpSpPr>
            <p:sp>
              <p:nvSpPr>
                <p:cNvPr id="6315" name="Rectangle 29"/>
                <p:cNvSpPr>
                  <a:spLocks noChangeArrowheads="1"/>
                </p:cNvSpPr>
                <p:nvPr/>
              </p:nvSpPr>
              <p:spPr bwMode="auto">
                <a:xfrm>
                  <a:off x="2013" y="480"/>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1</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316" name="Rectangle 101"/>
                <p:cNvSpPr>
                  <a:spLocks noChangeArrowheads="1"/>
                </p:cNvSpPr>
                <p:nvPr/>
              </p:nvSpPr>
              <p:spPr bwMode="auto">
                <a:xfrm>
                  <a:off x="1970" y="480"/>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22" name="Group 104"/>
              <p:cNvGrpSpPr>
                <a:grpSpLocks/>
              </p:cNvGrpSpPr>
              <p:nvPr/>
            </p:nvGrpSpPr>
            <p:grpSpPr bwMode="auto">
              <a:xfrm>
                <a:off x="2239" y="480"/>
                <a:ext cx="269" cy="384"/>
                <a:chOff x="2239" y="480"/>
                <a:chExt cx="269" cy="384"/>
              </a:xfrm>
            </p:grpSpPr>
            <p:sp>
              <p:nvSpPr>
                <p:cNvPr id="6313" name="Rectangle 30"/>
                <p:cNvSpPr>
                  <a:spLocks noChangeArrowheads="1"/>
                </p:cNvSpPr>
                <p:nvPr/>
              </p:nvSpPr>
              <p:spPr bwMode="auto">
                <a:xfrm>
                  <a:off x="2282" y="480"/>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1</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314" name="Rectangle 103"/>
                <p:cNvSpPr>
                  <a:spLocks noChangeArrowheads="1"/>
                </p:cNvSpPr>
                <p:nvPr/>
              </p:nvSpPr>
              <p:spPr bwMode="auto">
                <a:xfrm>
                  <a:off x="2239" y="480"/>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23" name="Group 106"/>
              <p:cNvGrpSpPr>
                <a:grpSpLocks/>
              </p:cNvGrpSpPr>
              <p:nvPr/>
            </p:nvGrpSpPr>
            <p:grpSpPr bwMode="auto">
              <a:xfrm>
                <a:off x="2508" y="480"/>
                <a:ext cx="269" cy="384"/>
                <a:chOff x="2508" y="480"/>
                <a:chExt cx="269" cy="384"/>
              </a:xfrm>
            </p:grpSpPr>
            <p:sp>
              <p:nvSpPr>
                <p:cNvPr id="6311" name="Rectangle 31"/>
                <p:cNvSpPr>
                  <a:spLocks noChangeArrowheads="1"/>
                </p:cNvSpPr>
                <p:nvPr/>
              </p:nvSpPr>
              <p:spPr bwMode="auto">
                <a:xfrm>
                  <a:off x="2551" y="480"/>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4</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312" name="Rectangle 105"/>
                <p:cNvSpPr>
                  <a:spLocks noChangeArrowheads="1"/>
                </p:cNvSpPr>
                <p:nvPr/>
              </p:nvSpPr>
              <p:spPr bwMode="auto">
                <a:xfrm>
                  <a:off x="2508" y="480"/>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24" name="Group 108"/>
              <p:cNvGrpSpPr>
                <a:grpSpLocks/>
              </p:cNvGrpSpPr>
              <p:nvPr/>
            </p:nvGrpSpPr>
            <p:grpSpPr bwMode="auto">
              <a:xfrm>
                <a:off x="2777" y="480"/>
                <a:ext cx="269" cy="384"/>
                <a:chOff x="2777" y="480"/>
                <a:chExt cx="269" cy="384"/>
              </a:xfrm>
            </p:grpSpPr>
            <p:sp>
              <p:nvSpPr>
                <p:cNvPr id="6309" name="Rectangle 32"/>
                <p:cNvSpPr>
                  <a:spLocks noChangeArrowheads="1"/>
                </p:cNvSpPr>
                <p:nvPr/>
              </p:nvSpPr>
              <p:spPr bwMode="auto">
                <a:xfrm>
                  <a:off x="2820" y="480"/>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4</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310" name="Rectangle 107"/>
                <p:cNvSpPr>
                  <a:spLocks noChangeArrowheads="1"/>
                </p:cNvSpPr>
                <p:nvPr/>
              </p:nvSpPr>
              <p:spPr bwMode="auto">
                <a:xfrm>
                  <a:off x="2777" y="480"/>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25" name="Group 110"/>
              <p:cNvGrpSpPr>
                <a:grpSpLocks/>
              </p:cNvGrpSpPr>
              <p:nvPr/>
            </p:nvGrpSpPr>
            <p:grpSpPr bwMode="auto">
              <a:xfrm>
                <a:off x="3046" y="480"/>
                <a:ext cx="269" cy="384"/>
                <a:chOff x="3046" y="480"/>
                <a:chExt cx="269" cy="384"/>
              </a:xfrm>
            </p:grpSpPr>
            <p:sp>
              <p:nvSpPr>
                <p:cNvPr id="6307" name="Rectangle 33"/>
                <p:cNvSpPr>
                  <a:spLocks noChangeArrowheads="1"/>
                </p:cNvSpPr>
                <p:nvPr/>
              </p:nvSpPr>
              <p:spPr bwMode="auto">
                <a:xfrm>
                  <a:off x="3089" y="480"/>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7</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308" name="Rectangle 109"/>
                <p:cNvSpPr>
                  <a:spLocks noChangeArrowheads="1"/>
                </p:cNvSpPr>
                <p:nvPr/>
              </p:nvSpPr>
              <p:spPr bwMode="auto">
                <a:xfrm>
                  <a:off x="3046" y="480"/>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26" name="Group 112"/>
              <p:cNvGrpSpPr>
                <a:grpSpLocks/>
              </p:cNvGrpSpPr>
              <p:nvPr/>
            </p:nvGrpSpPr>
            <p:grpSpPr bwMode="auto">
              <a:xfrm>
                <a:off x="3315" y="480"/>
                <a:ext cx="269" cy="384"/>
                <a:chOff x="3315" y="480"/>
                <a:chExt cx="269" cy="384"/>
              </a:xfrm>
            </p:grpSpPr>
            <p:sp>
              <p:nvSpPr>
                <p:cNvPr id="6305" name="Rectangle 34"/>
                <p:cNvSpPr>
                  <a:spLocks noChangeArrowheads="1"/>
                </p:cNvSpPr>
                <p:nvPr/>
              </p:nvSpPr>
              <p:spPr bwMode="auto">
                <a:xfrm>
                  <a:off x="3358" y="480"/>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7</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306" name="Rectangle 111"/>
                <p:cNvSpPr>
                  <a:spLocks noChangeArrowheads="1"/>
                </p:cNvSpPr>
                <p:nvPr/>
              </p:nvSpPr>
              <p:spPr bwMode="auto">
                <a:xfrm>
                  <a:off x="3315" y="480"/>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27" name="Group 114"/>
              <p:cNvGrpSpPr>
                <a:grpSpLocks/>
              </p:cNvGrpSpPr>
              <p:nvPr/>
            </p:nvGrpSpPr>
            <p:grpSpPr bwMode="auto">
              <a:xfrm>
                <a:off x="0" y="864"/>
                <a:ext cx="356" cy="384"/>
                <a:chOff x="0" y="864"/>
                <a:chExt cx="356" cy="384"/>
              </a:xfrm>
            </p:grpSpPr>
            <p:sp>
              <p:nvSpPr>
                <p:cNvPr id="6303" name="Rectangle 35"/>
                <p:cNvSpPr>
                  <a:spLocks noChangeArrowheads="1"/>
                </p:cNvSpPr>
                <p:nvPr/>
              </p:nvSpPr>
              <p:spPr bwMode="auto">
                <a:xfrm>
                  <a:off x="43" y="864"/>
                  <a:ext cx="270" cy="384"/>
                </a:xfrm>
                <a:prstGeom prst="rect">
                  <a:avLst/>
                </a:prstGeom>
                <a:noFill/>
                <a:ln w="9525">
                  <a:noFill/>
                  <a:miter lim="800000"/>
                  <a:headEnd/>
                  <a:tailEnd/>
                </a:ln>
              </p:spPr>
              <p:txBody>
                <a:bodyPr lIns="18000" tIns="10800" rIns="18000" bIns="10800"/>
                <a:lstStyle/>
                <a:p>
                  <a:pPr algn="ctr"/>
                  <a:r>
                    <a:rPr kumimoji="1" lang="en-US" altLang="zh-CN" sz="2000" b="1" i="1">
                      <a:solidFill>
                        <a:schemeClr val="bg1"/>
                      </a:solidFill>
                      <a:latin typeface="Times New Roman" pitchFamily="18" charset="0"/>
                      <a:ea typeface="仿宋_GB2312" pitchFamily="49" charset="-122"/>
                    </a:rPr>
                    <a:t>n</a:t>
                  </a:r>
                  <a:r>
                    <a:rPr kumimoji="1" lang="en-US" altLang="zh-CN" sz="2000" b="1" i="1" baseline="-30000">
                      <a:solidFill>
                        <a:schemeClr val="bg1"/>
                      </a:solidFill>
                      <a:latin typeface="Times New Roman" pitchFamily="18" charset="0"/>
                      <a:ea typeface="仿宋_GB2312" pitchFamily="49" charset="-122"/>
                    </a:rPr>
                    <a:t>y</a:t>
                  </a:r>
                  <a:endParaRPr kumimoji="1" lang="en-US" altLang="zh-CN" sz="2000" b="1">
                    <a:solidFill>
                      <a:schemeClr val="bg1"/>
                    </a:solidFill>
                    <a:latin typeface="Times New Roman" pitchFamily="18" charset="0"/>
                    <a:ea typeface="仿宋_GB2312" pitchFamily="49" charset="-122"/>
                  </a:endParaRPr>
                </a:p>
                <a:p>
                  <a:pPr algn="ctr" eaLnBrk="0" hangingPunct="0"/>
                  <a:endParaRPr kumimoji="1" lang="en-US" altLang="zh-CN" sz="2000" b="1">
                    <a:solidFill>
                      <a:schemeClr val="bg1"/>
                    </a:solidFill>
                    <a:latin typeface="Times New Roman" pitchFamily="18" charset="0"/>
                    <a:ea typeface="仿宋_GB2312" pitchFamily="49" charset="-122"/>
                  </a:endParaRPr>
                </a:p>
              </p:txBody>
            </p:sp>
            <p:sp>
              <p:nvSpPr>
                <p:cNvPr id="6304" name="Rectangle 113"/>
                <p:cNvSpPr>
                  <a:spLocks noChangeArrowheads="1"/>
                </p:cNvSpPr>
                <p:nvPr/>
              </p:nvSpPr>
              <p:spPr bwMode="auto">
                <a:xfrm>
                  <a:off x="0" y="864"/>
                  <a:ext cx="356"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28" name="Group 116"/>
              <p:cNvGrpSpPr>
                <a:grpSpLocks/>
              </p:cNvGrpSpPr>
              <p:nvPr/>
            </p:nvGrpSpPr>
            <p:grpSpPr bwMode="auto">
              <a:xfrm>
                <a:off x="356" y="864"/>
                <a:ext cx="269" cy="384"/>
                <a:chOff x="356" y="864"/>
                <a:chExt cx="269" cy="384"/>
              </a:xfrm>
            </p:grpSpPr>
            <p:sp>
              <p:nvSpPr>
                <p:cNvPr id="6301" name="Rectangle 36"/>
                <p:cNvSpPr>
                  <a:spLocks noChangeArrowheads="1"/>
                </p:cNvSpPr>
                <p:nvPr/>
              </p:nvSpPr>
              <p:spPr bwMode="auto">
                <a:xfrm>
                  <a:off x="399" y="864"/>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1</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302" name="Rectangle 115"/>
                <p:cNvSpPr>
                  <a:spLocks noChangeArrowheads="1"/>
                </p:cNvSpPr>
                <p:nvPr/>
              </p:nvSpPr>
              <p:spPr bwMode="auto">
                <a:xfrm>
                  <a:off x="356" y="864"/>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29" name="Group 118"/>
              <p:cNvGrpSpPr>
                <a:grpSpLocks/>
              </p:cNvGrpSpPr>
              <p:nvPr/>
            </p:nvGrpSpPr>
            <p:grpSpPr bwMode="auto">
              <a:xfrm>
                <a:off x="625" y="864"/>
                <a:ext cx="269" cy="384"/>
                <a:chOff x="625" y="864"/>
                <a:chExt cx="269" cy="384"/>
              </a:xfrm>
            </p:grpSpPr>
            <p:sp>
              <p:nvSpPr>
                <p:cNvPr id="6299" name="Rectangle 37"/>
                <p:cNvSpPr>
                  <a:spLocks noChangeArrowheads="1"/>
                </p:cNvSpPr>
                <p:nvPr/>
              </p:nvSpPr>
              <p:spPr bwMode="auto">
                <a:xfrm>
                  <a:off x="668" y="864"/>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8</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300" name="Rectangle 117"/>
                <p:cNvSpPr>
                  <a:spLocks noChangeArrowheads="1"/>
                </p:cNvSpPr>
                <p:nvPr/>
              </p:nvSpPr>
              <p:spPr bwMode="auto">
                <a:xfrm>
                  <a:off x="625" y="864"/>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30" name="Group 120"/>
              <p:cNvGrpSpPr>
                <a:grpSpLocks/>
              </p:cNvGrpSpPr>
              <p:nvPr/>
            </p:nvGrpSpPr>
            <p:grpSpPr bwMode="auto">
              <a:xfrm>
                <a:off x="894" y="864"/>
                <a:ext cx="269" cy="384"/>
                <a:chOff x="894" y="864"/>
                <a:chExt cx="269" cy="384"/>
              </a:xfrm>
            </p:grpSpPr>
            <p:sp>
              <p:nvSpPr>
                <p:cNvPr id="6297" name="Rectangle 38"/>
                <p:cNvSpPr>
                  <a:spLocks noChangeArrowheads="1"/>
                </p:cNvSpPr>
                <p:nvPr/>
              </p:nvSpPr>
              <p:spPr bwMode="auto">
                <a:xfrm>
                  <a:off x="937" y="864"/>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1</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298" name="Rectangle 119"/>
                <p:cNvSpPr>
                  <a:spLocks noChangeArrowheads="1"/>
                </p:cNvSpPr>
                <p:nvPr/>
              </p:nvSpPr>
              <p:spPr bwMode="auto">
                <a:xfrm>
                  <a:off x="894" y="864"/>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31" name="Group 122"/>
              <p:cNvGrpSpPr>
                <a:grpSpLocks/>
              </p:cNvGrpSpPr>
              <p:nvPr/>
            </p:nvGrpSpPr>
            <p:grpSpPr bwMode="auto">
              <a:xfrm>
                <a:off x="1163" y="864"/>
                <a:ext cx="269" cy="384"/>
                <a:chOff x="1163" y="864"/>
                <a:chExt cx="269" cy="384"/>
              </a:xfrm>
            </p:grpSpPr>
            <p:sp>
              <p:nvSpPr>
                <p:cNvPr id="6295" name="Rectangle 39"/>
                <p:cNvSpPr>
                  <a:spLocks noChangeArrowheads="1"/>
                </p:cNvSpPr>
                <p:nvPr/>
              </p:nvSpPr>
              <p:spPr bwMode="auto">
                <a:xfrm>
                  <a:off x="1206" y="864"/>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5</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296" name="Rectangle 121"/>
                <p:cNvSpPr>
                  <a:spLocks noChangeArrowheads="1"/>
                </p:cNvSpPr>
                <p:nvPr/>
              </p:nvSpPr>
              <p:spPr bwMode="auto">
                <a:xfrm>
                  <a:off x="1163" y="864"/>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32" name="Group 124"/>
              <p:cNvGrpSpPr>
                <a:grpSpLocks/>
              </p:cNvGrpSpPr>
              <p:nvPr/>
            </p:nvGrpSpPr>
            <p:grpSpPr bwMode="auto">
              <a:xfrm>
                <a:off x="1432" y="864"/>
                <a:ext cx="269" cy="384"/>
                <a:chOff x="1432" y="864"/>
                <a:chExt cx="269" cy="384"/>
              </a:xfrm>
            </p:grpSpPr>
            <p:sp>
              <p:nvSpPr>
                <p:cNvPr id="6293" name="Rectangle 40"/>
                <p:cNvSpPr>
                  <a:spLocks noChangeArrowheads="1"/>
                </p:cNvSpPr>
                <p:nvPr/>
              </p:nvSpPr>
              <p:spPr bwMode="auto">
                <a:xfrm>
                  <a:off x="1475" y="864"/>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4</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294" name="Rectangle 123"/>
                <p:cNvSpPr>
                  <a:spLocks noChangeArrowheads="1"/>
                </p:cNvSpPr>
                <p:nvPr/>
              </p:nvSpPr>
              <p:spPr bwMode="auto">
                <a:xfrm>
                  <a:off x="1432" y="864"/>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33" name="Group 126"/>
              <p:cNvGrpSpPr>
                <a:grpSpLocks/>
              </p:cNvGrpSpPr>
              <p:nvPr/>
            </p:nvGrpSpPr>
            <p:grpSpPr bwMode="auto">
              <a:xfrm>
                <a:off x="1701" y="864"/>
                <a:ext cx="269" cy="384"/>
                <a:chOff x="1701" y="864"/>
                <a:chExt cx="269" cy="384"/>
              </a:xfrm>
            </p:grpSpPr>
            <p:sp>
              <p:nvSpPr>
                <p:cNvPr id="6291" name="Rectangle 41"/>
                <p:cNvSpPr>
                  <a:spLocks noChangeArrowheads="1"/>
                </p:cNvSpPr>
                <p:nvPr/>
              </p:nvSpPr>
              <p:spPr bwMode="auto">
                <a:xfrm>
                  <a:off x="1744" y="864"/>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5</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292" name="Rectangle 125"/>
                <p:cNvSpPr>
                  <a:spLocks noChangeArrowheads="1"/>
                </p:cNvSpPr>
                <p:nvPr/>
              </p:nvSpPr>
              <p:spPr bwMode="auto">
                <a:xfrm>
                  <a:off x="1701" y="864"/>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34" name="Group 128"/>
              <p:cNvGrpSpPr>
                <a:grpSpLocks/>
              </p:cNvGrpSpPr>
              <p:nvPr/>
            </p:nvGrpSpPr>
            <p:grpSpPr bwMode="auto">
              <a:xfrm>
                <a:off x="1970" y="864"/>
                <a:ext cx="269" cy="384"/>
                <a:chOff x="1970" y="864"/>
                <a:chExt cx="269" cy="384"/>
              </a:xfrm>
            </p:grpSpPr>
            <p:sp>
              <p:nvSpPr>
                <p:cNvPr id="6289" name="Rectangle 42"/>
                <p:cNvSpPr>
                  <a:spLocks noChangeArrowheads="1"/>
                </p:cNvSpPr>
                <p:nvPr/>
              </p:nvSpPr>
              <p:spPr bwMode="auto">
                <a:xfrm>
                  <a:off x="2013" y="864"/>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4</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290" name="Rectangle 127"/>
                <p:cNvSpPr>
                  <a:spLocks noChangeArrowheads="1"/>
                </p:cNvSpPr>
                <p:nvPr/>
              </p:nvSpPr>
              <p:spPr bwMode="auto">
                <a:xfrm>
                  <a:off x="1970" y="864"/>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35" name="Group 130"/>
              <p:cNvGrpSpPr>
                <a:grpSpLocks/>
              </p:cNvGrpSpPr>
              <p:nvPr/>
            </p:nvGrpSpPr>
            <p:grpSpPr bwMode="auto">
              <a:xfrm>
                <a:off x="2239" y="864"/>
                <a:ext cx="269" cy="384"/>
                <a:chOff x="2239" y="864"/>
                <a:chExt cx="269" cy="384"/>
              </a:xfrm>
            </p:grpSpPr>
            <p:sp>
              <p:nvSpPr>
                <p:cNvPr id="6287" name="Rectangle 43"/>
                <p:cNvSpPr>
                  <a:spLocks noChangeArrowheads="1"/>
                </p:cNvSpPr>
                <p:nvPr/>
              </p:nvSpPr>
              <p:spPr bwMode="auto">
                <a:xfrm>
                  <a:off x="2282" y="864"/>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7</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288" name="Rectangle 129"/>
                <p:cNvSpPr>
                  <a:spLocks noChangeArrowheads="1"/>
                </p:cNvSpPr>
                <p:nvPr/>
              </p:nvSpPr>
              <p:spPr bwMode="auto">
                <a:xfrm>
                  <a:off x="2239" y="864"/>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36" name="Group 132"/>
              <p:cNvGrpSpPr>
                <a:grpSpLocks/>
              </p:cNvGrpSpPr>
              <p:nvPr/>
            </p:nvGrpSpPr>
            <p:grpSpPr bwMode="auto">
              <a:xfrm>
                <a:off x="2508" y="864"/>
                <a:ext cx="269" cy="384"/>
                <a:chOff x="2508" y="864"/>
                <a:chExt cx="269" cy="384"/>
              </a:xfrm>
            </p:grpSpPr>
            <p:sp>
              <p:nvSpPr>
                <p:cNvPr id="6285" name="Rectangle 44"/>
                <p:cNvSpPr>
                  <a:spLocks noChangeArrowheads="1"/>
                </p:cNvSpPr>
                <p:nvPr/>
              </p:nvSpPr>
              <p:spPr bwMode="auto">
                <a:xfrm>
                  <a:off x="2551" y="864"/>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1</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286" name="Rectangle 131"/>
                <p:cNvSpPr>
                  <a:spLocks noChangeArrowheads="1"/>
                </p:cNvSpPr>
                <p:nvPr/>
              </p:nvSpPr>
              <p:spPr bwMode="auto">
                <a:xfrm>
                  <a:off x="2508" y="864"/>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37" name="Group 134"/>
              <p:cNvGrpSpPr>
                <a:grpSpLocks/>
              </p:cNvGrpSpPr>
              <p:nvPr/>
            </p:nvGrpSpPr>
            <p:grpSpPr bwMode="auto">
              <a:xfrm>
                <a:off x="2777" y="864"/>
                <a:ext cx="269" cy="384"/>
                <a:chOff x="2777" y="864"/>
                <a:chExt cx="269" cy="384"/>
              </a:xfrm>
            </p:grpSpPr>
            <p:sp>
              <p:nvSpPr>
                <p:cNvPr id="6283" name="Rectangle 45"/>
                <p:cNvSpPr>
                  <a:spLocks noChangeArrowheads="1"/>
                </p:cNvSpPr>
                <p:nvPr/>
              </p:nvSpPr>
              <p:spPr bwMode="auto">
                <a:xfrm>
                  <a:off x="2820" y="864"/>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7</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284" name="Rectangle 133"/>
                <p:cNvSpPr>
                  <a:spLocks noChangeArrowheads="1"/>
                </p:cNvSpPr>
                <p:nvPr/>
              </p:nvSpPr>
              <p:spPr bwMode="auto">
                <a:xfrm>
                  <a:off x="2777" y="864"/>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38" name="Group 136"/>
              <p:cNvGrpSpPr>
                <a:grpSpLocks/>
              </p:cNvGrpSpPr>
              <p:nvPr/>
            </p:nvGrpSpPr>
            <p:grpSpPr bwMode="auto">
              <a:xfrm>
                <a:off x="3046" y="864"/>
                <a:ext cx="269" cy="384"/>
                <a:chOff x="3046" y="864"/>
                <a:chExt cx="269" cy="384"/>
              </a:xfrm>
            </p:grpSpPr>
            <p:sp>
              <p:nvSpPr>
                <p:cNvPr id="6281" name="Rectangle 46"/>
                <p:cNvSpPr>
                  <a:spLocks noChangeArrowheads="1"/>
                </p:cNvSpPr>
                <p:nvPr/>
              </p:nvSpPr>
              <p:spPr bwMode="auto">
                <a:xfrm>
                  <a:off x="3089" y="864"/>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1</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282" name="Rectangle 135"/>
                <p:cNvSpPr>
                  <a:spLocks noChangeArrowheads="1"/>
                </p:cNvSpPr>
                <p:nvPr/>
              </p:nvSpPr>
              <p:spPr bwMode="auto">
                <a:xfrm>
                  <a:off x="3046" y="864"/>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39" name="Group 138"/>
              <p:cNvGrpSpPr>
                <a:grpSpLocks/>
              </p:cNvGrpSpPr>
              <p:nvPr/>
            </p:nvGrpSpPr>
            <p:grpSpPr bwMode="auto">
              <a:xfrm>
                <a:off x="3315" y="864"/>
                <a:ext cx="269" cy="384"/>
                <a:chOff x="3315" y="864"/>
                <a:chExt cx="269" cy="384"/>
              </a:xfrm>
            </p:grpSpPr>
            <p:sp>
              <p:nvSpPr>
                <p:cNvPr id="6279" name="Rectangle 47"/>
                <p:cNvSpPr>
                  <a:spLocks noChangeArrowheads="1"/>
                </p:cNvSpPr>
                <p:nvPr/>
              </p:nvSpPr>
              <p:spPr bwMode="auto">
                <a:xfrm>
                  <a:off x="3358" y="864"/>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4</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280" name="Rectangle 137"/>
                <p:cNvSpPr>
                  <a:spLocks noChangeArrowheads="1"/>
                </p:cNvSpPr>
                <p:nvPr/>
              </p:nvSpPr>
              <p:spPr bwMode="auto">
                <a:xfrm>
                  <a:off x="3315" y="864"/>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40" name="Group 140"/>
              <p:cNvGrpSpPr>
                <a:grpSpLocks/>
              </p:cNvGrpSpPr>
              <p:nvPr/>
            </p:nvGrpSpPr>
            <p:grpSpPr bwMode="auto">
              <a:xfrm>
                <a:off x="0" y="1248"/>
                <a:ext cx="356" cy="384"/>
                <a:chOff x="0" y="1248"/>
                <a:chExt cx="356" cy="384"/>
              </a:xfrm>
            </p:grpSpPr>
            <p:sp>
              <p:nvSpPr>
                <p:cNvPr id="6277" name="Rectangle 48"/>
                <p:cNvSpPr>
                  <a:spLocks noChangeArrowheads="1"/>
                </p:cNvSpPr>
                <p:nvPr/>
              </p:nvSpPr>
              <p:spPr bwMode="auto">
                <a:xfrm>
                  <a:off x="43" y="1248"/>
                  <a:ext cx="270" cy="384"/>
                </a:xfrm>
                <a:prstGeom prst="rect">
                  <a:avLst/>
                </a:prstGeom>
                <a:noFill/>
                <a:ln w="9525">
                  <a:noFill/>
                  <a:miter lim="800000"/>
                  <a:headEnd/>
                  <a:tailEnd/>
                </a:ln>
              </p:spPr>
              <p:txBody>
                <a:bodyPr lIns="18000" tIns="10800" rIns="18000" bIns="10800"/>
                <a:lstStyle/>
                <a:p>
                  <a:pPr algn="ctr"/>
                  <a:r>
                    <a:rPr kumimoji="1" lang="en-US" altLang="zh-CN" sz="2000" b="1" i="1">
                      <a:solidFill>
                        <a:schemeClr val="bg1"/>
                      </a:solidFill>
                      <a:latin typeface="Times New Roman" pitchFamily="18" charset="0"/>
                      <a:ea typeface="仿宋_GB2312" pitchFamily="49" charset="-122"/>
                    </a:rPr>
                    <a:t>n</a:t>
                  </a:r>
                  <a:r>
                    <a:rPr kumimoji="1" lang="en-US" altLang="zh-CN" sz="2000" b="1" i="1" baseline="-30000">
                      <a:solidFill>
                        <a:schemeClr val="bg1"/>
                      </a:solidFill>
                      <a:latin typeface="Times New Roman" pitchFamily="18" charset="0"/>
                      <a:ea typeface="仿宋_GB2312" pitchFamily="49" charset="-122"/>
                    </a:rPr>
                    <a:t>z</a:t>
                  </a:r>
                  <a:endParaRPr kumimoji="1" lang="en-US" altLang="zh-CN" sz="2000" b="1">
                    <a:solidFill>
                      <a:schemeClr val="bg1"/>
                    </a:solidFill>
                    <a:latin typeface="Times New Roman" pitchFamily="18" charset="0"/>
                    <a:ea typeface="仿宋_GB2312" pitchFamily="49" charset="-122"/>
                  </a:endParaRPr>
                </a:p>
                <a:p>
                  <a:pPr algn="ctr" eaLnBrk="0" hangingPunct="0"/>
                  <a:endParaRPr kumimoji="1" lang="en-US" altLang="zh-CN" sz="2000" b="1">
                    <a:solidFill>
                      <a:schemeClr val="bg1"/>
                    </a:solidFill>
                    <a:latin typeface="Times New Roman" pitchFamily="18" charset="0"/>
                    <a:ea typeface="仿宋_GB2312" pitchFamily="49" charset="-122"/>
                  </a:endParaRPr>
                </a:p>
              </p:txBody>
            </p:sp>
            <p:sp>
              <p:nvSpPr>
                <p:cNvPr id="6278" name="Rectangle 139"/>
                <p:cNvSpPr>
                  <a:spLocks noChangeArrowheads="1"/>
                </p:cNvSpPr>
                <p:nvPr/>
              </p:nvSpPr>
              <p:spPr bwMode="auto">
                <a:xfrm>
                  <a:off x="0" y="1248"/>
                  <a:ext cx="356"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41" name="Group 142"/>
              <p:cNvGrpSpPr>
                <a:grpSpLocks/>
              </p:cNvGrpSpPr>
              <p:nvPr/>
            </p:nvGrpSpPr>
            <p:grpSpPr bwMode="auto">
              <a:xfrm>
                <a:off x="356" y="1248"/>
                <a:ext cx="269" cy="384"/>
                <a:chOff x="356" y="1248"/>
                <a:chExt cx="269" cy="384"/>
              </a:xfrm>
            </p:grpSpPr>
            <p:sp>
              <p:nvSpPr>
                <p:cNvPr id="6275" name="Rectangle 49"/>
                <p:cNvSpPr>
                  <a:spLocks noChangeArrowheads="1"/>
                </p:cNvSpPr>
                <p:nvPr/>
              </p:nvSpPr>
              <p:spPr bwMode="auto">
                <a:xfrm>
                  <a:off x="399" y="1248"/>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8</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276" name="Rectangle 141"/>
                <p:cNvSpPr>
                  <a:spLocks noChangeArrowheads="1"/>
                </p:cNvSpPr>
                <p:nvPr/>
              </p:nvSpPr>
              <p:spPr bwMode="auto">
                <a:xfrm>
                  <a:off x="356" y="1248"/>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42" name="Group 144"/>
              <p:cNvGrpSpPr>
                <a:grpSpLocks/>
              </p:cNvGrpSpPr>
              <p:nvPr/>
            </p:nvGrpSpPr>
            <p:grpSpPr bwMode="auto">
              <a:xfrm>
                <a:off x="625" y="1248"/>
                <a:ext cx="269" cy="384"/>
                <a:chOff x="625" y="1248"/>
                <a:chExt cx="269" cy="384"/>
              </a:xfrm>
            </p:grpSpPr>
            <p:sp>
              <p:nvSpPr>
                <p:cNvPr id="6273" name="Rectangle 50"/>
                <p:cNvSpPr>
                  <a:spLocks noChangeArrowheads="1"/>
                </p:cNvSpPr>
                <p:nvPr/>
              </p:nvSpPr>
              <p:spPr bwMode="auto">
                <a:xfrm>
                  <a:off x="668" y="1248"/>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1</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274" name="Rectangle 143"/>
                <p:cNvSpPr>
                  <a:spLocks noChangeArrowheads="1"/>
                </p:cNvSpPr>
                <p:nvPr/>
              </p:nvSpPr>
              <p:spPr bwMode="auto">
                <a:xfrm>
                  <a:off x="625" y="1248"/>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43" name="Group 146"/>
              <p:cNvGrpSpPr>
                <a:grpSpLocks/>
              </p:cNvGrpSpPr>
              <p:nvPr/>
            </p:nvGrpSpPr>
            <p:grpSpPr bwMode="auto">
              <a:xfrm>
                <a:off x="894" y="1248"/>
                <a:ext cx="269" cy="384"/>
                <a:chOff x="894" y="1248"/>
                <a:chExt cx="269" cy="384"/>
              </a:xfrm>
            </p:grpSpPr>
            <p:sp>
              <p:nvSpPr>
                <p:cNvPr id="6271" name="Rectangle 51"/>
                <p:cNvSpPr>
                  <a:spLocks noChangeArrowheads="1"/>
                </p:cNvSpPr>
                <p:nvPr/>
              </p:nvSpPr>
              <p:spPr bwMode="auto">
                <a:xfrm>
                  <a:off x="937" y="1248"/>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1</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272" name="Rectangle 145"/>
                <p:cNvSpPr>
                  <a:spLocks noChangeArrowheads="1"/>
                </p:cNvSpPr>
                <p:nvPr/>
              </p:nvSpPr>
              <p:spPr bwMode="auto">
                <a:xfrm>
                  <a:off x="894" y="1248"/>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44" name="Group 148"/>
              <p:cNvGrpSpPr>
                <a:grpSpLocks/>
              </p:cNvGrpSpPr>
              <p:nvPr/>
            </p:nvGrpSpPr>
            <p:grpSpPr bwMode="auto">
              <a:xfrm>
                <a:off x="1163" y="1248"/>
                <a:ext cx="269" cy="384"/>
                <a:chOff x="1163" y="1248"/>
                <a:chExt cx="269" cy="384"/>
              </a:xfrm>
            </p:grpSpPr>
            <p:sp>
              <p:nvSpPr>
                <p:cNvPr id="6269" name="Rectangle 52"/>
                <p:cNvSpPr>
                  <a:spLocks noChangeArrowheads="1"/>
                </p:cNvSpPr>
                <p:nvPr/>
              </p:nvSpPr>
              <p:spPr bwMode="auto">
                <a:xfrm>
                  <a:off x="1206" y="1248"/>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4</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270" name="Rectangle 147"/>
                <p:cNvSpPr>
                  <a:spLocks noChangeArrowheads="1"/>
                </p:cNvSpPr>
                <p:nvPr/>
              </p:nvSpPr>
              <p:spPr bwMode="auto">
                <a:xfrm>
                  <a:off x="1163" y="1248"/>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45" name="Group 150"/>
              <p:cNvGrpSpPr>
                <a:grpSpLocks/>
              </p:cNvGrpSpPr>
              <p:nvPr/>
            </p:nvGrpSpPr>
            <p:grpSpPr bwMode="auto">
              <a:xfrm>
                <a:off x="1432" y="1248"/>
                <a:ext cx="269" cy="384"/>
                <a:chOff x="1432" y="1248"/>
                <a:chExt cx="269" cy="384"/>
              </a:xfrm>
            </p:grpSpPr>
            <p:sp>
              <p:nvSpPr>
                <p:cNvPr id="6267" name="Rectangle 53"/>
                <p:cNvSpPr>
                  <a:spLocks noChangeArrowheads="1"/>
                </p:cNvSpPr>
                <p:nvPr/>
              </p:nvSpPr>
              <p:spPr bwMode="auto">
                <a:xfrm>
                  <a:off x="1475" y="1248"/>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5</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268" name="Rectangle 149"/>
                <p:cNvSpPr>
                  <a:spLocks noChangeArrowheads="1"/>
                </p:cNvSpPr>
                <p:nvPr/>
              </p:nvSpPr>
              <p:spPr bwMode="auto">
                <a:xfrm>
                  <a:off x="1432" y="1248"/>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46" name="Group 152"/>
              <p:cNvGrpSpPr>
                <a:grpSpLocks/>
              </p:cNvGrpSpPr>
              <p:nvPr/>
            </p:nvGrpSpPr>
            <p:grpSpPr bwMode="auto">
              <a:xfrm>
                <a:off x="1701" y="1248"/>
                <a:ext cx="269" cy="384"/>
                <a:chOff x="1701" y="1248"/>
                <a:chExt cx="269" cy="384"/>
              </a:xfrm>
            </p:grpSpPr>
            <p:sp>
              <p:nvSpPr>
                <p:cNvPr id="6265" name="Rectangle 54"/>
                <p:cNvSpPr>
                  <a:spLocks noChangeArrowheads="1"/>
                </p:cNvSpPr>
                <p:nvPr/>
              </p:nvSpPr>
              <p:spPr bwMode="auto">
                <a:xfrm>
                  <a:off x="1744" y="1248"/>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5</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266" name="Rectangle 151"/>
                <p:cNvSpPr>
                  <a:spLocks noChangeArrowheads="1"/>
                </p:cNvSpPr>
                <p:nvPr/>
              </p:nvSpPr>
              <p:spPr bwMode="auto">
                <a:xfrm>
                  <a:off x="1701" y="1248"/>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47" name="Group 154"/>
              <p:cNvGrpSpPr>
                <a:grpSpLocks/>
              </p:cNvGrpSpPr>
              <p:nvPr/>
            </p:nvGrpSpPr>
            <p:grpSpPr bwMode="auto">
              <a:xfrm>
                <a:off x="1970" y="1248"/>
                <a:ext cx="269" cy="384"/>
                <a:chOff x="1970" y="1248"/>
                <a:chExt cx="269" cy="384"/>
              </a:xfrm>
            </p:grpSpPr>
            <p:sp>
              <p:nvSpPr>
                <p:cNvPr id="6263" name="Rectangle 55"/>
                <p:cNvSpPr>
                  <a:spLocks noChangeArrowheads="1"/>
                </p:cNvSpPr>
                <p:nvPr/>
              </p:nvSpPr>
              <p:spPr bwMode="auto">
                <a:xfrm>
                  <a:off x="2013" y="1248"/>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7</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264" name="Rectangle 153"/>
                <p:cNvSpPr>
                  <a:spLocks noChangeArrowheads="1"/>
                </p:cNvSpPr>
                <p:nvPr/>
              </p:nvSpPr>
              <p:spPr bwMode="auto">
                <a:xfrm>
                  <a:off x="1970" y="1248"/>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48" name="Group 156"/>
              <p:cNvGrpSpPr>
                <a:grpSpLocks/>
              </p:cNvGrpSpPr>
              <p:nvPr/>
            </p:nvGrpSpPr>
            <p:grpSpPr bwMode="auto">
              <a:xfrm>
                <a:off x="2239" y="1248"/>
                <a:ext cx="269" cy="384"/>
                <a:chOff x="2239" y="1248"/>
                <a:chExt cx="269" cy="384"/>
              </a:xfrm>
            </p:grpSpPr>
            <p:sp>
              <p:nvSpPr>
                <p:cNvPr id="6261" name="Rectangle 56"/>
                <p:cNvSpPr>
                  <a:spLocks noChangeArrowheads="1"/>
                </p:cNvSpPr>
                <p:nvPr/>
              </p:nvSpPr>
              <p:spPr bwMode="auto">
                <a:xfrm>
                  <a:off x="2282" y="1248"/>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4</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262" name="Rectangle 155"/>
                <p:cNvSpPr>
                  <a:spLocks noChangeArrowheads="1"/>
                </p:cNvSpPr>
                <p:nvPr/>
              </p:nvSpPr>
              <p:spPr bwMode="auto">
                <a:xfrm>
                  <a:off x="2239" y="1248"/>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49" name="Group 158"/>
              <p:cNvGrpSpPr>
                <a:grpSpLocks/>
              </p:cNvGrpSpPr>
              <p:nvPr/>
            </p:nvGrpSpPr>
            <p:grpSpPr bwMode="auto">
              <a:xfrm>
                <a:off x="2508" y="1248"/>
                <a:ext cx="269" cy="384"/>
                <a:chOff x="2508" y="1248"/>
                <a:chExt cx="269" cy="384"/>
              </a:xfrm>
            </p:grpSpPr>
            <p:sp>
              <p:nvSpPr>
                <p:cNvPr id="6259" name="Rectangle 57"/>
                <p:cNvSpPr>
                  <a:spLocks noChangeArrowheads="1"/>
                </p:cNvSpPr>
                <p:nvPr/>
              </p:nvSpPr>
              <p:spPr bwMode="auto">
                <a:xfrm>
                  <a:off x="2551" y="1248"/>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7</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260" name="Rectangle 157"/>
                <p:cNvSpPr>
                  <a:spLocks noChangeArrowheads="1"/>
                </p:cNvSpPr>
                <p:nvPr/>
              </p:nvSpPr>
              <p:spPr bwMode="auto">
                <a:xfrm>
                  <a:off x="2508" y="1248"/>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50" name="Group 160"/>
              <p:cNvGrpSpPr>
                <a:grpSpLocks/>
              </p:cNvGrpSpPr>
              <p:nvPr/>
            </p:nvGrpSpPr>
            <p:grpSpPr bwMode="auto">
              <a:xfrm>
                <a:off x="2777" y="1248"/>
                <a:ext cx="269" cy="384"/>
                <a:chOff x="2777" y="1248"/>
                <a:chExt cx="269" cy="384"/>
              </a:xfrm>
            </p:grpSpPr>
            <p:sp>
              <p:nvSpPr>
                <p:cNvPr id="6257" name="Rectangle 58"/>
                <p:cNvSpPr>
                  <a:spLocks noChangeArrowheads="1"/>
                </p:cNvSpPr>
                <p:nvPr/>
              </p:nvSpPr>
              <p:spPr bwMode="auto">
                <a:xfrm>
                  <a:off x="2820" y="1248"/>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1</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258" name="Rectangle 159"/>
                <p:cNvSpPr>
                  <a:spLocks noChangeArrowheads="1"/>
                </p:cNvSpPr>
                <p:nvPr/>
              </p:nvSpPr>
              <p:spPr bwMode="auto">
                <a:xfrm>
                  <a:off x="2777" y="1248"/>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51" name="Group 162"/>
              <p:cNvGrpSpPr>
                <a:grpSpLocks/>
              </p:cNvGrpSpPr>
              <p:nvPr/>
            </p:nvGrpSpPr>
            <p:grpSpPr bwMode="auto">
              <a:xfrm>
                <a:off x="3046" y="1248"/>
                <a:ext cx="269" cy="384"/>
                <a:chOff x="3046" y="1248"/>
                <a:chExt cx="269" cy="384"/>
              </a:xfrm>
            </p:grpSpPr>
            <p:sp>
              <p:nvSpPr>
                <p:cNvPr id="6255" name="Rectangle 59"/>
                <p:cNvSpPr>
                  <a:spLocks noChangeArrowheads="1"/>
                </p:cNvSpPr>
                <p:nvPr/>
              </p:nvSpPr>
              <p:spPr bwMode="auto">
                <a:xfrm>
                  <a:off x="3089" y="1248"/>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4</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256" name="Rectangle 161"/>
                <p:cNvSpPr>
                  <a:spLocks noChangeArrowheads="1"/>
                </p:cNvSpPr>
                <p:nvPr/>
              </p:nvSpPr>
              <p:spPr bwMode="auto">
                <a:xfrm>
                  <a:off x="3046" y="1248"/>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nvGrpSpPr>
              <p:cNvPr id="6252" name="Group 164"/>
              <p:cNvGrpSpPr>
                <a:grpSpLocks/>
              </p:cNvGrpSpPr>
              <p:nvPr/>
            </p:nvGrpSpPr>
            <p:grpSpPr bwMode="auto">
              <a:xfrm>
                <a:off x="3315" y="1248"/>
                <a:ext cx="269" cy="384"/>
                <a:chOff x="3315" y="1248"/>
                <a:chExt cx="269" cy="384"/>
              </a:xfrm>
            </p:grpSpPr>
            <p:sp>
              <p:nvSpPr>
                <p:cNvPr id="6253" name="Rectangle 60"/>
                <p:cNvSpPr>
                  <a:spLocks noChangeArrowheads="1"/>
                </p:cNvSpPr>
                <p:nvPr/>
              </p:nvSpPr>
              <p:spPr bwMode="auto">
                <a:xfrm>
                  <a:off x="3358" y="1248"/>
                  <a:ext cx="183" cy="384"/>
                </a:xfrm>
                <a:prstGeom prst="rect">
                  <a:avLst/>
                </a:prstGeom>
                <a:noFill/>
                <a:ln w="9525">
                  <a:noFill/>
                  <a:miter lim="800000"/>
                  <a:headEnd/>
                  <a:tailEnd/>
                </a:ln>
              </p:spPr>
              <p:txBody>
                <a:bodyPr lIns="18000" tIns="10800" rIns="18000" bIns="10800"/>
                <a:lstStyle/>
                <a:p>
                  <a:pPr algn="just"/>
                  <a:r>
                    <a:rPr kumimoji="1" lang="en-US" altLang="zh-CN" sz="2000" b="1">
                      <a:solidFill>
                        <a:schemeClr val="bg1"/>
                      </a:solidFill>
                      <a:latin typeface="Times New Roman" pitchFamily="18" charset="0"/>
                      <a:ea typeface="仿宋_GB2312" pitchFamily="49" charset="-122"/>
                    </a:rPr>
                    <a:t>1</a:t>
                  </a:r>
                </a:p>
                <a:p>
                  <a:pPr algn="just" eaLnBrk="0" hangingPunct="0"/>
                  <a:endParaRPr kumimoji="1" lang="en-US" altLang="zh-CN" sz="2000" b="1">
                    <a:solidFill>
                      <a:schemeClr val="bg1"/>
                    </a:solidFill>
                    <a:latin typeface="Times New Roman" pitchFamily="18" charset="0"/>
                    <a:ea typeface="仿宋_GB2312" pitchFamily="49" charset="-122"/>
                  </a:endParaRPr>
                </a:p>
              </p:txBody>
            </p:sp>
            <p:sp>
              <p:nvSpPr>
                <p:cNvPr id="6254" name="Rectangle 163"/>
                <p:cNvSpPr>
                  <a:spLocks noChangeArrowheads="1"/>
                </p:cNvSpPr>
                <p:nvPr/>
              </p:nvSpPr>
              <p:spPr bwMode="auto">
                <a:xfrm>
                  <a:off x="3315" y="1248"/>
                  <a:ext cx="269" cy="384"/>
                </a:xfrm>
                <a:prstGeom prst="rect">
                  <a:avLst/>
                </a:prstGeom>
                <a:noFill/>
                <a:ln w="7">
                  <a:solidFill>
                    <a:srgbClr val="A0A0A0"/>
                  </a:solidFill>
                  <a:miter lim="800000"/>
                  <a:headEnd/>
                  <a:tailEnd/>
                </a:ln>
              </p:spPr>
              <p:txBody>
                <a:bodyPr wrap="none" lIns="18000" tIns="10800" rIns="18000" bIns="10800"/>
                <a:lstStyle/>
                <a:p>
                  <a:endParaRPr lang="zh-CN" altLang="en-US"/>
                </a:p>
              </p:txBody>
            </p:sp>
          </p:grpSp>
        </p:grpSp>
        <p:sp>
          <p:nvSpPr>
            <p:cNvPr id="6200" name="Rectangle 166"/>
            <p:cNvSpPr>
              <a:spLocks noChangeArrowheads="1"/>
            </p:cNvSpPr>
            <p:nvPr/>
          </p:nvSpPr>
          <p:spPr bwMode="auto">
            <a:xfrm>
              <a:off x="-3" y="-3"/>
              <a:ext cx="3590" cy="1638"/>
            </a:xfrm>
            <a:prstGeom prst="rect">
              <a:avLst/>
            </a:prstGeom>
            <a:noFill/>
            <a:ln w="9525">
              <a:solidFill>
                <a:srgbClr val="A0A0A0"/>
              </a:solidFill>
              <a:miter lim="800000"/>
              <a:headEnd/>
              <a:tailEnd/>
            </a:ln>
          </p:spPr>
          <p:txBody>
            <a:bodyPr wrap="none" lIns="18000" tIns="10800" rIns="18000" bIns="10800"/>
            <a:lstStyle/>
            <a:p>
              <a:endParaRPr lang="zh-CN" altLang="en-US"/>
            </a:p>
          </p:txBody>
        </p:sp>
      </p:grpSp>
      <p:grpSp>
        <p:nvGrpSpPr>
          <p:cNvPr id="6164" name="Group 214"/>
          <p:cNvGrpSpPr>
            <a:grpSpLocks/>
          </p:cNvGrpSpPr>
          <p:nvPr/>
        </p:nvGrpSpPr>
        <p:grpSpPr bwMode="auto">
          <a:xfrm>
            <a:off x="762000" y="5629275"/>
            <a:ext cx="8229600" cy="1228725"/>
            <a:chOff x="480" y="3546"/>
            <a:chExt cx="5184" cy="774"/>
          </a:xfrm>
        </p:grpSpPr>
        <p:graphicFrame>
          <p:nvGraphicFramePr>
            <p:cNvPr id="6147" name="Object 168"/>
            <p:cNvGraphicFramePr>
              <a:graphicFrameLocks noChangeAspect="1"/>
            </p:cNvGraphicFramePr>
            <p:nvPr/>
          </p:nvGraphicFramePr>
          <p:xfrm>
            <a:off x="480" y="3600"/>
            <a:ext cx="720" cy="252"/>
          </p:xfrm>
          <a:graphic>
            <a:graphicData uri="http://schemas.openxmlformats.org/presentationml/2006/ole">
              <p:oleObj spid="_x0000_s6147" r:id="rId4" imgW="736280" imgH="253890" progId="Equation.DSMT4">
                <p:embed/>
              </p:oleObj>
            </a:graphicData>
          </a:graphic>
        </p:graphicFrame>
        <p:grpSp>
          <p:nvGrpSpPr>
            <p:cNvPr id="6154" name="Group 213"/>
            <p:cNvGrpSpPr>
              <a:grpSpLocks/>
            </p:cNvGrpSpPr>
            <p:nvPr/>
          </p:nvGrpSpPr>
          <p:grpSpPr bwMode="auto">
            <a:xfrm>
              <a:off x="480" y="3546"/>
              <a:ext cx="5184" cy="774"/>
              <a:chOff x="-3" y="-3"/>
              <a:chExt cx="4322" cy="774"/>
            </a:xfrm>
          </p:grpSpPr>
          <p:grpSp>
            <p:nvGrpSpPr>
              <p:cNvPr id="6155" name="Group 211"/>
              <p:cNvGrpSpPr>
                <a:grpSpLocks/>
              </p:cNvGrpSpPr>
              <p:nvPr/>
            </p:nvGrpSpPr>
            <p:grpSpPr bwMode="auto">
              <a:xfrm>
                <a:off x="0" y="0"/>
                <a:ext cx="4316" cy="768"/>
                <a:chOff x="0" y="0"/>
                <a:chExt cx="4316" cy="768"/>
              </a:xfrm>
            </p:grpSpPr>
            <p:grpSp>
              <p:nvGrpSpPr>
                <p:cNvPr id="6157" name="Group 184"/>
                <p:cNvGrpSpPr>
                  <a:grpSpLocks/>
                </p:cNvGrpSpPr>
                <p:nvPr/>
              </p:nvGrpSpPr>
              <p:grpSpPr bwMode="auto">
                <a:xfrm>
                  <a:off x="0" y="0"/>
                  <a:ext cx="616" cy="384"/>
                  <a:chOff x="0" y="0"/>
                  <a:chExt cx="616" cy="384"/>
                </a:xfrm>
              </p:grpSpPr>
              <p:sp>
                <p:nvSpPr>
                  <p:cNvPr id="6197" name="Rectangle 169"/>
                  <p:cNvSpPr>
                    <a:spLocks noChangeArrowheads="1" noTextEdit="1"/>
                  </p:cNvSpPr>
                  <p:nvPr/>
                </p:nvSpPr>
                <p:spPr bwMode="auto">
                  <a:xfrm>
                    <a:off x="43" y="0"/>
                    <a:ext cx="530" cy="384"/>
                  </a:xfrm>
                  <a:prstGeom prst="rect">
                    <a:avLst/>
                  </a:prstGeom>
                  <a:noFill/>
                  <a:ln w="9525">
                    <a:noFill/>
                    <a:miter lim="800000"/>
                    <a:headEnd/>
                    <a:tailEnd/>
                  </a:ln>
                </p:spPr>
                <p:txBody>
                  <a:bodyPr lIns="18000" rIns="18000">
                    <a:spAutoFit/>
                  </a:bodyPr>
                  <a:lstStyle/>
                  <a:p>
                    <a:endParaRPr lang="zh-CN" altLang="en-US"/>
                  </a:p>
                </p:txBody>
              </p:sp>
              <p:sp>
                <p:nvSpPr>
                  <p:cNvPr id="6198" name="Rectangle 183"/>
                  <p:cNvSpPr>
                    <a:spLocks noChangeArrowheads="1"/>
                  </p:cNvSpPr>
                  <p:nvPr/>
                </p:nvSpPr>
                <p:spPr bwMode="auto">
                  <a:xfrm>
                    <a:off x="0" y="0"/>
                    <a:ext cx="616" cy="384"/>
                  </a:xfrm>
                  <a:prstGeom prst="rect">
                    <a:avLst/>
                  </a:prstGeom>
                  <a:noFill/>
                  <a:ln w="7">
                    <a:solidFill>
                      <a:srgbClr val="A0A0A0"/>
                    </a:solidFill>
                    <a:miter lim="800000"/>
                    <a:headEnd/>
                    <a:tailEnd/>
                  </a:ln>
                </p:spPr>
                <p:txBody>
                  <a:bodyPr wrap="none" lIns="18000" rIns="18000"/>
                  <a:lstStyle/>
                  <a:p>
                    <a:endParaRPr lang="zh-CN" altLang="en-US"/>
                  </a:p>
                </p:txBody>
              </p:sp>
            </p:grpSp>
            <p:grpSp>
              <p:nvGrpSpPr>
                <p:cNvPr id="6158" name="Group 186"/>
                <p:cNvGrpSpPr>
                  <a:grpSpLocks/>
                </p:cNvGrpSpPr>
                <p:nvPr/>
              </p:nvGrpSpPr>
              <p:grpSpPr bwMode="auto">
                <a:xfrm>
                  <a:off x="616" y="0"/>
                  <a:ext cx="616" cy="384"/>
                  <a:chOff x="616" y="0"/>
                  <a:chExt cx="616" cy="384"/>
                </a:xfrm>
              </p:grpSpPr>
              <p:sp>
                <p:nvSpPr>
                  <p:cNvPr id="6195" name="Rectangle 170"/>
                  <p:cNvSpPr>
                    <a:spLocks noChangeArrowheads="1"/>
                  </p:cNvSpPr>
                  <p:nvPr/>
                </p:nvSpPr>
                <p:spPr bwMode="auto">
                  <a:xfrm>
                    <a:off x="659" y="0"/>
                    <a:ext cx="530" cy="384"/>
                  </a:xfrm>
                  <a:prstGeom prst="rect">
                    <a:avLst/>
                  </a:prstGeom>
                  <a:noFill/>
                  <a:ln w="9525">
                    <a:noFill/>
                    <a:miter lim="800000"/>
                    <a:headEnd/>
                    <a:tailEnd/>
                  </a:ln>
                </p:spPr>
                <p:txBody>
                  <a:bodyPr lIns="18000" rIns="18000"/>
                  <a:lstStyle/>
                  <a:p>
                    <a:pPr algn="just"/>
                    <a:r>
                      <a:rPr kumimoji="1" lang="en-US" altLang="zh-CN" sz="2000" b="1">
                        <a:solidFill>
                          <a:schemeClr val="bg1"/>
                        </a:solidFill>
                        <a:latin typeface="Times New Roman" pitchFamily="18" charset="0"/>
                        <a:cs typeface="Times New Roman" pitchFamily="18" charset="0"/>
                      </a:rPr>
                      <a:t>11</a:t>
                    </a:r>
                  </a:p>
                  <a:p>
                    <a:pPr algn="just" eaLnBrk="0" hangingPunct="0"/>
                    <a:endParaRPr kumimoji="1" lang="en-US" altLang="zh-CN" sz="2000" b="1">
                      <a:solidFill>
                        <a:schemeClr val="bg1"/>
                      </a:solidFill>
                      <a:latin typeface="Times New Roman" pitchFamily="18" charset="0"/>
                    </a:endParaRPr>
                  </a:p>
                </p:txBody>
              </p:sp>
              <p:sp>
                <p:nvSpPr>
                  <p:cNvPr id="6196" name="Rectangle 185"/>
                  <p:cNvSpPr>
                    <a:spLocks noChangeArrowheads="1"/>
                  </p:cNvSpPr>
                  <p:nvPr/>
                </p:nvSpPr>
                <p:spPr bwMode="auto">
                  <a:xfrm>
                    <a:off x="616" y="0"/>
                    <a:ext cx="616" cy="384"/>
                  </a:xfrm>
                  <a:prstGeom prst="rect">
                    <a:avLst/>
                  </a:prstGeom>
                  <a:noFill/>
                  <a:ln w="7">
                    <a:solidFill>
                      <a:srgbClr val="A0A0A0"/>
                    </a:solidFill>
                    <a:miter lim="800000"/>
                    <a:headEnd/>
                    <a:tailEnd/>
                  </a:ln>
                </p:spPr>
                <p:txBody>
                  <a:bodyPr wrap="none" lIns="18000" rIns="18000"/>
                  <a:lstStyle/>
                  <a:p>
                    <a:endParaRPr lang="zh-CN" altLang="en-US"/>
                  </a:p>
                </p:txBody>
              </p:sp>
            </p:grpSp>
            <p:grpSp>
              <p:nvGrpSpPr>
                <p:cNvPr id="6159" name="Group 188"/>
                <p:cNvGrpSpPr>
                  <a:grpSpLocks/>
                </p:cNvGrpSpPr>
                <p:nvPr/>
              </p:nvGrpSpPr>
              <p:grpSpPr bwMode="auto">
                <a:xfrm>
                  <a:off x="1232" y="0"/>
                  <a:ext cx="616" cy="384"/>
                  <a:chOff x="1232" y="0"/>
                  <a:chExt cx="616" cy="384"/>
                </a:xfrm>
              </p:grpSpPr>
              <p:sp>
                <p:nvSpPr>
                  <p:cNvPr id="6193" name="Rectangle 171"/>
                  <p:cNvSpPr>
                    <a:spLocks noChangeArrowheads="1"/>
                  </p:cNvSpPr>
                  <p:nvPr/>
                </p:nvSpPr>
                <p:spPr bwMode="auto">
                  <a:xfrm>
                    <a:off x="1275" y="0"/>
                    <a:ext cx="530" cy="384"/>
                  </a:xfrm>
                  <a:prstGeom prst="rect">
                    <a:avLst/>
                  </a:prstGeom>
                  <a:noFill/>
                  <a:ln w="9525">
                    <a:noFill/>
                    <a:miter lim="800000"/>
                    <a:headEnd/>
                    <a:tailEnd/>
                  </a:ln>
                </p:spPr>
                <p:txBody>
                  <a:bodyPr lIns="18000" rIns="18000"/>
                  <a:lstStyle/>
                  <a:p>
                    <a:pPr algn="just"/>
                    <a:r>
                      <a:rPr kumimoji="1" lang="en-US" altLang="zh-CN" sz="2000" b="1">
                        <a:solidFill>
                          <a:schemeClr val="bg1"/>
                        </a:solidFill>
                        <a:latin typeface="Times New Roman" pitchFamily="18" charset="0"/>
                        <a:cs typeface="Times New Roman" pitchFamily="18" charset="0"/>
                      </a:rPr>
                      <a:t>101</a:t>
                    </a:r>
                  </a:p>
                  <a:p>
                    <a:pPr algn="just" eaLnBrk="0" hangingPunct="0"/>
                    <a:endParaRPr kumimoji="1" lang="en-US" altLang="zh-CN" sz="2000" b="1">
                      <a:solidFill>
                        <a:schemeClr val="bg1"/>
                      </a:solidFill>
                      <a:latin typeface="Times New Roman" pitchFamily="18" charset="0"/>
                    </a:endParaRPr>
                  </a:p>
                </p:txBody>
              </p:sp>
              <p:sp>
                <p:nvSpPr>
                  <p:cNvPr id="6194" name="Rectangle 187"/>
                  <p:cNvSpPr>
                    <a:spLocks noChangeArrowheads="1"/>
                  </p:cNvSpPr>
                  <p:nvPr/>
                </p:nvSpPr>
                <p:spPr bwMode="auto">
                  <a:xfrm>
                    <a:off x="1232" y="0"/>
                    <a:ext cx="616" cy="384"/>
                  </a:xfrm>
                  <a:prstGeom prst="rect">
                    <a:avLst/>
                  </a:prstGeom>
                  <a:noFill/>
                  <a:ln w="7">
                    <a:solidFill>
                      <a:srgbClr val="A0A0A0"/>
                    </a:solidFill>
                    <a:miter lim="800000"/>
                    <a:headEnd/>
                    <a:tailEnd/>
                  </a:ln>
                </p:spPr>
                <p:txBody>
                  <a:bodyPr wrap="none" lIns="18000" rIns="18000"/>
                  <a:lstStyle/>
                  <a:p>
                    <a:endParaRPr lang="zh-CN" altLang="en-US"/>
                  </a:p>
                </p:txBody>
              </p:sp>
            </p:grpSp>
            <p:grpSp>
              <p:nvGrpSpPr>
                <p:cNvPr id="6160" name="Group 190"/>
                <p:cNvGrpSpPr>
                  <a:grpSpLocks/>
                </p:cNvGrpSpPr>
                <p:nvPr/>
              </p:nvGrpSpPr>
              <p:grpSpPr bwMode="auto">
                <a:xfrm>
                  <a:off x="1848" y="0"/>
                  <a:ext cx="617" cy="384"/>
                  <a:chOff x="1848" y="0"/>
                  <a:chExt cx="617" cy="384"/>
                </a:xfrm>
              </p:grpSpPr>
              <p:sp>
                <p:nvSpPr>
                  <p:cNvPr id="6191" name="Rectangle 172"/>
                  <p:cNvSpPr>
                    <a:spLocks noChangeArrowheads="1"/>
                  </p:cNvSpPr>
                  <p:nvPr/>
                </p:nvSpPr>
                <p:spPr bwMode="auto">
                  <a:xfrm>
                    <a:off x="1891" y="0"/>
                    <a:ext cx="531" cy="384"/>
                  </a:xfrm>
                  <a:prstGeom prst="rect">
                    <a:avLst/>
                  </a:prstGeom>
                  <a:noFill/>
                  <a:ln w="9525">
                    <a:noFill/>
                    <a:miter lim="800000"/>
                    <a:headEnd/>
                    <a:tailEnd/>
                  </a:ln>
                </p:spPr>
                <p:txBody>
                  <a:bodyPr lIns="18000" rIns="18000"/>
                  <a:lstStyle/>
                  <a:p>
                    <a:pPr algn="just"/>
                    <a:r>
                      <a:rPr kumimoji="1" lang="en-US" altLang="zh-CN" sz="2000" b="1">
                        <a:solidFill>
                          <a:schemeClr val="bg1"/>
                        </a:solidFill>
                        <a:latin typeface="Times New Roman" pitchFamily="18" charset="0"/>
                        <a:cs typeface="Times New Roman" pitchFamily="18" charset="0"/>
                      </a:rPr>
                      <a:t>1001</a:t>
                    </a:r>
                  </a:p>
                  <a:p>
                    <a:pPr algn="just" eaLnBrk="0" hangingPunct="0"/>
                    <a:endParaRPr kumimoji="1" lang="en-US" altLang="zh-CN" sz="2000" b="1">
                      <a:solidFill>
                        <a:schemeClr val="bg1"/>
                      </a:solidFill>
                      <a:latin typeface="Times New Roman" pitchFamily="18" charset="0"/>
                    </a:endParaRPr>
                  </a:p>
                </p:txBody>
              </p:sp>
              <p:sp>
                <p:nvSpPr>
                  <p:cNvPr id="6192" name="Rectangle 189"/>
                  <p:cNvSpPr>
                    <a:spLocks noChangeArrowheads="1"/>
                  </p:cNvSpPr>
                  <p:nvPr/>
                </p:nvSpPr>
                <p:spPr bwMode="auto">
                  <a:xfrm>
                    <a:off x="1848" y="0"/>
                    <a:ext cx="617" cy="384"/>
                  </a:xfrm>
                  <a:prstGeom prst="rect">
                    <a:avLst/>
                  </a:prstGeom>
                  <a:noFill/>
                  <a:ln w="7">
                    <a:solidFill>
                      <a:srgbClr val="A0A0A0"/>
                    </a:solidFill>
                    <a:miter lim="800000"/>
                    <a:headEnd/>
                    <a:tailEnd/>
                  </a:ln>
                </p:spPr>
                <p:txBody>
                  <a:bodyPr wrap="none" lIns="18000" rIns="18000"/>
                  <a:lstStyle/>
                  <a:p>
                    <a:endParaRPr lang="zh-CN" altLang="en-US"/>
                  </a:p>
                </p:txBody>
              </p:sp>
            </p:grpSp>
            <p:grpSp>
              <p:nvGrpSpPr>
                <p:cNvPr id="6161" name="Group 192"/>
                <p:cNvGrpSpPr>
                  <a:grpSpLocks/>
                </p:cNvGrpSpPr>
                <p:nvPr/>
              </p:nvGrpSpPr>
              <p:grpSpPr bwMode="auto">
                <a:xfrm>
                  <a:off x="2465" y="0"/>
                  <a:ext cx="617" cy="384"/>
                  <a:chOff x="2465" y="0"/>
                  <a:chExt cx="617" cy="384"/>
                </a:xfrm>
              </p:grpSpPr>
              <p:sp>
                <p:nvSpPr>
                  <p:cNvPr id="6189" name="Rectangle 173"/>
                  <p:cNvSpPr>
                    <a:spLocks noChangeArrowheads="1"/>
                  </p:cNvSpPr>
                  <p:nvPr/>
                </p:nvSpPr>
                <p:spPr bwMode="auto">
                  <a:xfrm>
                    <a:off x="2508" y="0"/>
                    <a:ext cx="531" cy="384"/>
                  </a:xfrm>
                  <a:prstGeom prst="rect">
                    <a:avLst/>
                  </a:prstGeom>
                  <a:noFill/>
                  <a:ln w="9525">
                    <a:noFill/>
                    <a:miter lim="800000"/>
                    <a:headEnd/>
                    <a:tailEnd/>
                  </a:ln>
                </p:spPr>
                <p:txBody>
                  <a:bodyPr lIns="18000" rIns="18000"/>
                  <a:lstStyle/>
                  <a:p>
                    <a:pPr algn="just"/>
                    <a:r>
                      <a:rPr kumimoji="1" lang="en-US" altLang="zh-CN" sz="2000" b="1">
                        <a:solidFill>
                          <a:schemeClr val="bg1"/>
                        </a:solidFill>
                        <a:latin typeface="Times New Roman" pitchFamily="18" charset="0"/>
                        <a:cs typeface="Times New Roman" pitchFamily="18" charset="0"/>
                      </a:rPr>
                      <a:t>10001</a:t>
                    </a:r>
                  </a:p>
                  <a:p>
                    <a:pPr algn="just" eaLnBrk="0" hangingPunct="0"/>
                    <a:endParaRPr kumimoji="1" lang="en-US" altLang="zh-CN" sz="2000" b="1">
                      <a:solidFill>
                        <a:schemeClr val="bg1"/>
                      </a:solidFill>
                      <a:latin typeface="Times New Roman" pitchFamily="18" charset="0"/>
                    </a:endParaRPr>
                  </a:p>
                </p:txBody>
              </p:sp>
              <p:sp>
                <p:nvSpPr>
                  <p:cNvPr id="6190" name="Rectangle 191"/>
                  <p:cNvSpPr>
                    <a:spLocks noChangeArrowheads="1"/>
                  </p:cNvSpPr>
                  <p:nvPr/>
                </p:nvSpPr>
                <p:spPr bwMode="auto">
                  <a:xfrm>
                    <a:off x="2465" y="0"/>
                    <a:ext cx="617" cy="384"/>
                  </a:xfrm>
                  <a:prstGeom prst="rect">
                    <a:avLst/>
                  </a:prstGeom>
                  <a:noFill/>
                  <a:ln w="7">
                    <a:solidFill>
                      <a:srgbClr val="A0A0A0"/>
                    </a:solidFill>
                    <a:miter lim="800000"/>
                    <a:headEnd/>
                    <a:tailEnd/>
                  </a:ln>
                </p:spPr>
                <p:txBody>
                  <a:bodyPr wrap="none" lIns="18000" rIns="18000"/>
                  <a:lstStyle/>
                  <a:p>
                    <a:endParaRPr lang="zh-CN" altLang="en-US"/>
                  </a:p>
                </p:txBody>
              </p:sp>
            </p:grpSp>
            <p:grpSp>
              <p:nvGrpSpPr>
                <p:cNvPr id="6162" name="Group 194"/>
                <p:cNvGrpSpPr>
                  <a:grpSpLocks/>
                </p:cNvGrpSpPr>
                <p:nvPr/>
              </p:nvGrpSpPr>
              <p:grpSpPr bwMode="auto">
                <a:xfrm>
                  <a:off x="3082" y="0"/>
                  <a:ext cx="617" cy="384"/>
                  <a:chOff x="3082" y="0"/>
                  <a:chExt cx="617" cy="384"/>
                </a:xfrm>
              </p:grpSpPr>
              <p:sp>
                <p:nvSpPr>
                  <p:cNvPr id="6187" name="Rectangle 174"/>
                  <p:cNvSpPr>
                    <a:spLocks noChangeArrowheads="1"/>
                  </p:cNvSpPr>
                  <p:nvPr/>
                </p:nvSpPr>
                <p:spPr bwMode="auto">
                  <a:xfrm>
                    <a:off x="3125" y="0"/>
                    <a:ext cx="531" cy="384"/>
                  </a:xfrm>
                  <a:prstGeom prst="rect">
                    <a:avLst/>
                  </a:prstGeom>
                  <a:noFill/>
                  <a:ln w="9525">
                    <a:noFill/>
                    <a:miter lim="800000"/>
                    <a:headEnd/>
                    <a:tailEnd/>
                  </a:ln>
                </p:spPr>
                <p:txBody>
                  <a:bodyPr lIns="18000" rIns="18000"/>
                  <a:lstStyle/>
                  <a:p>
                    <a:pPr algn="just"/>
                    <a:r>
                      <a:rPr kumimoji="1" lang="en-US" altLang="zh-CN" sz="2000" b="1">
                        <a:solidFill>
                          <a:schemeClr val="bg1"/>
                        </a:solidFill>
                        <a:latin typeface="Times New Roman" pitchFamily="18" charset="0"/>
                        <a:cs typeface="Times New Roman" pitchFamily="18" charset="0"/>
                      </a:rPr>
                      <a:t>100001</a:t>
                    </a:r>
                  </a:p>
                  <a:p>
                    <a:pPr algn="just" eaLnBrk="0" hangingPunct="0"/>
                    <a:endParaRPr kumimoji="1" lang="en-US" altLang="zh-CN" sz="2000" b="1">
                      <a:solidFill>
                        <a:schemeClr val="bg1"/>
                      </a:solidFill>
                      <a:latin typeface="Times New Roman" pitchFamily="18" charset="0"/>
                    </a:endParaRPr>
                  </a:p>
                </p:txBody>
              </p:sp>
              <p:sp>
                <p:nvSpPr>
                  <p:cNvPr id="6188" name="Rectangle 193"/>
                  <p:cNvSpPr>
                    <a:spLocks noChangeArrowheads="1"/>
                  </p:cNvSpPr>
                  <p:nvPr/>
                </p:nvSpPr>
                <p:spPr bwMode="auto">
                  <a:xfrm>
                    <a:off x="3082" y="0"/>
                    <a:ext cx="617" cy="384"/>
                  </a:xfrm>
                  <a:prstGeom prst="rect">
                    <a:avLst/>
                  </a:prstGeom>
                  <a:noFill/>
                  <a:ln w="7">
                    <a:solidFill>
                      <a:srgbClr val="A0A0A0"/>
                    </a:solidFill>
                    <a:miter lim="800000"/>
                    <a:headEnd/>
                    <a:tailEnd/>
                  </a:ln>
                </p:spPr>
                <p:txBody>
                  <a:bodyPr wrap="none" lIns="18000" rIns="18000"/>
                  <a:lstStyle/>
                  <a:p>
                    <a:endParaRPr lang="zh-CN" altLang="en-US"/>
                  </a:p>
                </p:txBody>
              </p:sp>
            </p:grpSp>
            <p:grpSp>
              <p:nvGrpSpPr>
                <p:cNvPr id="6163" name="Group 196"/>
                <p:cNvGrpSpPr>
                  <a:grpSpLocks/>
                </p:cNvGrpSpPr>
                <p:nvPr/>
              </p:nvGrpSpPr>
              <p:grpSpPr bwMode="auto">
                <a:xfrm>
                  <a:off x="3699" y="0"/>
                  <a:ext cx="617" cy="384"/>
                  <a:chOff x="3699" y="0"/>
                  <a:chExt cx="617" cy="384"/>
                </a:xfrm>
              </p:grpSpPr>
              <p:sp>
                <p:nvSpPr>
                  <p:cNvPr id="6185" name="Rectangle 175"/>
                  <p:cNvSpPr>
                    <a:spLocks noChangeArrowheads="1"/>
                  </p:cNvSpPr>
                  <p:nvPr/>
                </p:nvSpPr>
                <p:spPr bwMode="auto">
                  <a:xfrm>
                    <a:off x="3742" y="0"/>
                    <a:ext cx="531" cy="384"/>
                  </a:xfrm>
                  <a:prstGeom prst="rect">
                    <a:avLst/>
                  </a:prstGeom>
                  <a:noFill/>
                  <a:ln w="9525">
                    <a:noFill/>
                    <a:miter lim="800000"/>
                    <a:headEnd/>
                    <a:tailEnd/>
                  </a:ln>
                </p:spPr>
                <p:txBody>
                  <a:bodyPr lIns="18000" rIns="18000"/>
                  <a:lstStyle/>
                  <a:p>
                    <a:pPr algn="just"/>
                    <a:r>
                      <a:rPr kumimoji="1" lang="en-US" altLang="zh-CN" sz="2000" b="1">
                        <a:solidFill>
                          <a:schemeClr val="bg1"/>
                        </a:solidFill>
                        <a:latin typeface="Times New Roman" pitchFamily="18" charset="0"/>
                        <a:cs typeface="Times New Roman" pitchFamily="18" charset="0"/>
                      </a:rPr>
                      <a:t>1000001</a:t>
                    </a:r>
                  </a:p>
                  <a:p>
                    <a:pPr algn="just" eaLnBrk="0" hangingPunct="0"/>
                    <a:endParaRPr kumimoji="1" lang="en-US" altLang="zh-CN" sz="2000" b="1">
                      <a:solidFill>
                        <a:schemeClr val="bg1"/>
                      </a:solidFill>
                      <a:latin typeface="Times New Roman" pitchFamily="18" charset="0"/>
                    </a:endParaRPr>
                  </a:p>
                </p:txBody>
              </p:sp>
              <p:sp>
                <p:nvSpPr>
                  <p:cNvPr id="6186" name="Rectangle 195"/>
                  <p:cNvSpPr>
                    <a:spLocks noChangeArrowheads="1"/>
                  </p:cNvSpPr>
                  <p:nvPr/>
                </p:nvSpPr>
                <p:spPr bwMode="auto">
                  <a:xfrm>
                    <a:off x="3699" y="0"/>
                    <a:ext cx="617" cy="384"/>
                  </a:xfrm>
                  <a:prstGeom prst="rect">
                    <a:avLst/>
                  </a:prstGeom>
                  <a:noFill/>
                  <a:ln w="7">
                    <a:solidFill>
                      <a:srgbClr val="A0A0A0"/>
                    </a:solidFill>
                    <a:miter lim="800000"/>
                    <a:headEnd/>
                    <a:tailEnd/>
                  </a:ln>
                </p:spPr>
                <p:txBody>
                  <a:bodyPr wrap="none" lIns="18000" rIns="18000"/>
                  <a:lstStyle/>
                  <a:p>
                    <a:endParaRPr lang="zh-CN" altLang="en-US"/>
                  </a:p>
                </p:txBody>
              </p:sp>
            </p:grpSp>
            <p:grpSp>
              <p:nvGrpSpPr>
                <p:cNvPr id="3" name="Group 198"/>
                <p:cNvGrpSpPr>
                  <a:grpSpLocks/>
                </p:cNvGrpSpPr>
                <p:nvPr/>
              </p:nvGrpSpPr>
              <p:grpSpPr bwMode="auto">
                <a:xfrm>
                  <a:off x="0" y="384"/>
                  <a:ext cx="616" cy="384"/>
                  <a:chOff x="0" y="384"/>
                  <a:chExt cx="616" cy="384"/>
                </a:xfrm>
              </p:grpSpPr>
              <p:sp>
                <p:nvSpPr>
                  <p:cNvPr id="6183" name="Rectangle 176"/>
                  <p:cNvSpPr>
                    <a:spLocks noChangeArrowheads="1"/>
                  </p:cNvSpPr>
                  <p:nvPr/>
                </p:nvSpPr>
                <p:spPr bwMode="auto">
                  <a:xfrm>
                    <a:off x="43" y="384"/>
                    <a:ext cx="530" cy="384"/>
                  </a:xfrm>
                  <a:prstGeom prst="rect">
                    <a:avLst/>
                  </a:prstGeom>
                  <a:noFill/>
                  <a:ln w="9525">
                    <a:noFill/>
                    <a:miter lim="800000"/>
                    <a:headEnd/>
                    <a:tailEnd/>
                  </a:ln>
                </p:spPr>
                <p:txBody>
                  <a:bodyPr lIns="18000" rIns="18000"/>
                  <a:lstStyle/>
                  <a:p>
                    <a:pPr algn="just"/>
                    <a:r>
                      <a:rPr kumimoji="1" lang="en-US" altLang="zh-CN" sz="2000" b="1" i="1">
                        <a:solidFill>
                          <a:schemeClr val="bg1"/>
                        </a:solidFill>
                        <a:latin typeface="Times New Roman" pitchFamily="18" charset="0"/>
                        <a:cs typeface="Times New Roman" pitchFamily="18" charset="0"/>
                      </a:rPr>
                      <a:t>g</a:t>
                    </a:r>
                    <a:endParaRPr kumimoji="1" lang="en-US" altLang="zh-CN" sz="2000" b="1">
                      <a:solidFill>
                        <a:schemeClr val="bg1"/>
                      </a:solidFill>
                      <a:latin typeface="Times New Roman" pitchFamily="18" charset="0"/>
                      <a:cs typeface="Times New Roman" pitchFamily="18" charset="0"/>
                    </a:endParaRPr>
                  </a:p>
                  <a:p>
                    <a:pPr algn="just" eaLnBrk="0" hangingPunct="0"/>
                    <a:endParaRPr kumimoji="1" lang="en-US" altLang="zh-CN" sz="2000" b="1">
                      <a:solidFill>
                        <a:schemeClr val="bg1"/>
                      </a:solidFill>
                      <a:latin typeface="Times New Roman" pitchFamily="18" charset="0"/>
                    </a:endParaRPr>
                  </a:p>
                </p:txBody>
              </p:sp>
              <p:sp>
                <p:nvSpPr>
                  <p:cNvPr id="6184" name="Rectangle 197"/>
                  <p:cNvSpPr>
                    <a:spLocks noChangeArrowheads="1"/>
                  </p:cNvSpPr>
                  <p:nvPr/>
                </p:nvSpPr>
                <p:spPr bwMode="auto">
                  <a:xfrm>
                    <a:off x="0" y="384"/>
                    <a:ext cx="616" cy="384"/>
                  </a:xfrm>
                  <a:prstGeom prst="rect">
                    <a:avLst/>
                  </a:prstGeom>
                  <a:noFill/>
                  <a:ln w="7">
                    <a:solidFill>
                      <a:srgbClr val="A0A0A0"/>
                    </a:solidFill>
                    <a:miter lim="800000"/>
                    <a:headEnd/>
                    <a:tailEnd/>
                  </a:ln>
                </p:spPr>
                <p:txBody>
                  <a:bodyPr wrap="none" lIns="18000" rIns="18000"/>
                  <a:lstStyle/>
                  <a:p>
                    <a:endParaRPr lang="zh-CN" altLang="en-US"/>
                  </a:p>
                </p:txBody>
              </p:sp>
            </p:grpSp>
            <p:grpSp>
              <p:nvGrpSpPr>
                <p:cNvPr id="6165" name="Group 200"/>
                <p:cNvGrpSpPr>
                  <a:grpSpLocks/>
                </p:cNvGrpSpPr>
                <p:nvPr/>
              </p:nvGrpSpPr>
              <p:grpSpPr bwMode="auto">
                <a:xfrm>
                  <a:off x="616" y="384"/>
                  <a:ext cx="616" cy="384"/>
                  <a:chOff x="616" y="384"/>
                  <a:chExt cx="616" cy="384"/>
                </a:xfrm>
              </p:grpSpPr>
              <p:sp>
                <p:nvSpPr>
                  <p:cNvPr id="6181" name="Rectangle 177"/>
                  <p:cNvSpPr>
                    <a:spLocks noChangeArrowheads="1"/>
                  </p:cNvSpPr>
                  <p:nvPr/>
                </p:nvSpPr>
                <p:spPr bwMode="auto">
                  <a:xfrm>
                    <a:off x="659" y="384"/>
                    <a:ext cx="530" cy="384"/>
                  </a:xfrm>
                  <a:prstGeom prst="rect">
                    <a:avLst/>
                  </a:prstGeom>
                  <a:noFill/>
                  <a:ln w="9525">
                    <a:noFill/>
                    <a:miter lim="800000"/>
                    <a:headEnd/>
                    <a:tailEnd/>
                  </a:ln>
                </p:spPr>
                <p:txBody>
                  <a:bodyPr lIns="18000" rIns="18000"/>
                  <a:lstStyle/>
                  <a:p>
                    <a:pPr algn="just"/>
                    <a:r>
                      <a:rPr kumimoji="1" lang="en-US" altLang="zh-CN" sz="2000" b="1">
                        <a:solidFill>
                          <a:schemeClr val="bg1"/>
                        </a:solidFill>
                        <a:latin typeface="Times New Roman" pitchFamily="18" charset="0"/>
                        <a:cs typeface="Times New Roman" pitchFamily="18" charset="0"/>
                      </a:rPr>
                      <a:t>3</a:t>
                    </a:r>
                  </a:p>
                  <a:p>
                    <a:pPr algn="just" eaLnBrk="0" hangingPunct="0"/>
                    <a:endParaRPr kumimoji="1" lang="en-US" altLang="zh-CN" sz="2000" b="1">
                      <a:solidFill>
                        <a:schemeClr val="bg1"/>
                      </a:solidFill>
                      <a:latin typeface="Times New Roman" pitchFamily="18" charset="0"/>
                    </a:endParaRPr>
                  </a:p>
                </p:txBody>
              </p:sp>
              <p:sp>
                <p:nvSpPr>
                  <p:cNvPr id="6182" name="Rectangle 199"/>
                  <p:cNvSpPr>
                    <a:spLocks noChangeArrowheads="1"/>
                  </p:cNvSpPr>
                  <p:nvPr/>
                </p:nvSpPr>
                <p:spPr bwMode="auto">
                  <a:xfrm>
                    <a:off x="616" y="384"/>
                    <a:ext cx="616" cy="384"/>
                  </a:xfrm>
                  <a:prstGeom prst="rect">
                    <a:avLst/>
                  </a:prstGeom>
                  <a:noFill/>
                  <a:ln w="7">
                    <a:solidFill>
                      <a:srgbClr val="A0A0A0"/>
                    </a:solidFill>
                    <a:miter lim="800000"/>
                    <a:headEnd/>
                    <a:tailEnd/>
                  </a:ln>
                </p:spPr>
                <p:txBody>
                  <a:bodyPr wrap="none" lIns="18000" rIns="18000"/>
                  <a:lstStyle/>
                  <a:p>
                    <a:endParaRPr lang="zh-CN" altLang="en-US"/>
                  </a:p>
                </p:txBody>
              </p:sp>
            </p:grpSp>
            <p:grpSp>
              <p:nvGrpSpPr>
                <p:cNvPr id="6166" name="Group 202"/>
                <p:cNvGrpSpPr>
                  <a:grpSpLocks/>
                </p:cNvGrpSpPr>
                <p:nvPr/>
              </p:nvGrpSpPr>
              <p:grpSpPr bwMode="auto">
                <a:xfrm>
                  <a:off x="1232" y="384"/>
                  <a:ext cx="616" cy="384"/>
                  <a:chOff x="1232" y="384"/>
                  <a:chExt cx="616" cy="384"/>
                </a:xfrm>
              </p:grpSpPr>
              <p:sp>
                <p:nvSpPr>
                  <p:cNvPr id="6179" name="Rectangle 178"/>
                  <p:cNvSpPr>
                    <a:spLocks noChangeArrowheads="1"/>
                  </p:cNvSpPr>
                  <p:nvPr/>
                </p:nvSpPr>
                <p:spPr bwMode="auto">
                  <a:xfrm>
                    <a:off x="1275" y="384"/>
                    <a:ext cx="530" cy="384"/>
                  </a:xfrm>
                  <a:prstGeom prst="rect">
                    <a:avLst/>
                  </a:prstGeom>
                  <a:noFill/>
                  <a:ln w="9525">
                    <a:noFill/>
                    <a:miter lim="800000"/>
                    <a:headEnd/>
                    <a:tailEnd/>
                  </a:ln>
                </p:spPr>
                <p:txBody>
                  <a:bodyPr lIns="18000" rIns="18000"/>
                  <a:lstStyle/>
                  <a:p>
                    <a:pPr algn="just"/>
                    <a:r>
                      <a:rPr kumimoji="1" lang="en-US" altLang="zh-CN" sz="2000" b="1">
                        <a:solidFill>
                          <a:schemeClr val="bg1"/>
                        </a:solidFill>
                        <a:latin typeface="Times New Roman" pitchFamily="18" charset="0"/>
                        <a:cs typeface="Times New Roman" pitchFamily="18" charset="0"/>
                      </a:rPr>
                      <a:t>18</a:t>
                    </a:r>
                  </a:p>
                  <a:p>
                    <a:pPr algn="just" eaLnBrk="0" hangingPunct="0"/>
                    <a:endParaRPr kumimoji="1" lang="en-US" altLang="zh-CN" sz="2000" b="1">
                      <a:solidFill>
                        <a:schemeClr val="bg1"/>
                      </a:solidFill>
                      <a:latin typeface="Times New Roman" pitchFamily="18" charset="0"/>
                    </a:endParaRPr>
                  </a:p>
                </p:txBody>
              </p:sp>
              <p:sp>
                <p:nvSpPr>
                  <p:cNvPr id="6180" name="Rectangle 201"/>
                  <p:cNvSpPr>
                    <a:spLocks noChangeArrowheads="1"/>
                  </p:cNvSpPr>
                  <p:nvPr/>
                </p:nvSpPr>
                <p:spPr bwMode="auto">
                  <a:xfrm>
                    <a:off x="1232" y="384"/>
                    <a:ext cx="616" cy="384"/>
                  </a:xfrm>
                  <a:prstGeom prst="rect">
                    <a:avLst/>
                  </a:prstGeom>
                  <a:noFill/>
                  <a:ln w="7">
                    <a:solidFill>
                      <a:srgbClr val="A0A0A0"/>
                    </a:solidFill>
                    <a:miter lim="800000"/>
                    <a:headEnd/>
                    <a:tailEnd/>
                  </a:ln>
                </p:spPr>
                <p:txBody>
                  <a:bodyPr wrap="none" lIns="18000" rIns="18000"/>
                  <a:lstStyle/>
                  <a:p>
                    <a:endParaRPr lang="zh-CN" altLang="en-US"/>
                  </a:p>
                </p:txBody>
              </p:sp>
            </p:grpSp>
            <p:grpSp>
              <p:nvGrpSpPr>
                <p:cNvPr id="6167" name="Group 204"/>
                <p:cNvGrpSpPr>
                  <a:grpSpLocks/>
                </p:cNvGrpSpPr>
                <p:nvPr/>
              </p:nvGrpSpPr>
              <p:grpSpPr bwMode="auto">
                <a:xfrm>
                  <a:off x="1848" y="384"/>
                  <a:ext cx="617" cy="384"/>
                  <a:chOff x="1848" y="384"/>
                  <a:chExt cx="617" cy="384"/>
                </a:xfrm>
              </p:grpSpPr>
              <p:sp>
                <p:nvSpPr>
                  <p:cNvPr id="6177" name="Rectangle 179"/>
                  <p:cNvSpPr>
                    <a:spLocks noChangeArrowheads="1"/>
                  </p:cNvSpPr>
                  <p:nvPr/>
                </p:nvSpPr>
                <p:spPr bwMode="auto">
                  <a:xfrm>
                    <a:off x="1891" y="384"/>
                    <a:ext cx="531" cy="384"/>
                  </a:xfrm>
                  <a:prstGeom prst="rect">
                    <a:avLst/>
                  </a:prstGeom>
                  <a:noFill/>
                  <a:ln w="9525">
                    <a:noFill/>
                    <a:miter lim="800000"/>
                    <a:headEnd/>
                    <a:tailEnd/>
                  </a:ln>
                </p:spPr>
                <p:txBody>
                  <a:bodyPr lIns="18000" rIns="18000"/>
                  <a:lstStyle/>
                  <a:p>
                    <a:pPr algn="just"/>
                    <a:r>
                      <a:rPr kumimoji="1" lang="en-US" altLang="zh-CN" sz="2000" b="1">
                        <a:solidFill>
                          <a:schemeClr val="bg1"/>
                        </a:solidFill>
                        <a:latin typeface="Times New Roman" pitchFamily="18" charset="0"/>
                        <a:cs typeface="Times New Roman" pitchFamily="18" charset="0"/>
                      </a:rPr>
                      <a:t>60</a:t>
                    </a:r>
                  </a:p>
                  <a:p>
                    <a:pPr algn="just" eaLnBrk="0" hangingPunct="0"/>
                    <a:endParaRPr kumimoji="1" lang="en-US" altLang="zh-CN" sz="2000" b="1">
                      <a:solidFill>
                        <a:schemeClr val="bg1"/>
                      </a:solidFill>
                      <a:latin typeface="Times New Roman" pitchFamily="18" charset="0"/>
                    </a:endParaRPr>
                  </a:p>
                </p:txBody>
              </p:sp>
              <p:sp>
                <p:nvSpPr>
                  <p:cNvPr id="6178" name="Rectangle 203"/>
                  <p:cNvSpPr>
                    <a:spLocks noChangeArrowheads="1"/>
                  </p:cNvSpPr>
                  <p:nvPr/>
                </p:nvSpPr>
                <p:spPr bwMode="auto">
                  <a:xfrm>
                    <a:off x="1848" y="384"/>
                    <a:ext cx="617" cy="384"/>
                  </a:xfrm>
                  <a:prstGeom prst="rect">
                    <a:avLst/>
                  </a:prstGeom>
                  <a:noFill/>
                  <a:ln w="7">
                    <a:solidFill>
                      <a:srgbClr val="A0A0A0"/>
                    </a:solidFill>
                    <a:miter lim="800000"/>
                    <a:headEnd/>
                    <a:tailEnd/>
                  </a:ln>
                </p:spPr>
                <p:txBody>
                  <a:bodyPr wrap="none" lIns="18000" rIns="18000"/>
                  <a:lstStyle/>
                  <a:p>
                    <a:endParaRPr lang="zh-CN" altLang="en-US"/>
                  </a:p>
                </p:txBody>
              </p:sp>
            </p:grpSp>
            <p:grpSp>
              <p:nvGrpSpPr>
                <p:cNvPr id="6168" name="Group 206"/>
                <p:cNvGrpSpPr>
                  <a:grpSpLocks/>
                </p:cNvGrpSpPr>
                <p:nvPr/>
              </p:nvGrpSpPr>
              <p:grpSpPr bwMode="auto">
                <a:xfrm>
                  <a:off x="2465" y="384"/>
                  <a:ext cx="617" cy="384"/>
                  <a:chOff x="2465" y="384"/>
                  <a:chExt cx="617" cy="384"/>
                </a:xfrm>
              </p:grpSpPr>
              <p:sp>
                <p:nvSpPr>
                  <p:cNvPr id="6175" name="Rectangle 180"/>
                  <p:cNvSpPr>
                    <a:spLocks noChangeArrowheads="1"/>
                  </p:cNvSpPr>
                  <p:nvPr/>
                </p:nvSpPr>
                <p:spPr bwMode="auto">
                  <a:xfrm>
                    <a:off x="2508" y="384"/>
                    <a:ext cx="531" cy="384"/>
                  </a:xfrm>
                  <a:prstGeom prst="rect">
                    <a:avLst/>
                  </a:prstGeom>
                  <a:noFill/>
                  <a:ln w="9525">
                    <a:noFill/>
                    <a:miter lim="800000"/>
                    <a:headEnd/>
                    <a:tailEnd/>
                  </a:ln>
                </p:spPr>
                <p:txBody>
                  <a:bodyPr lIns="18000" rIns="18000"/>
                  <a:lstStyle/>
                  <a:p>
                    <a:pPr algn="just"/>
                    <a:r>
                      <a:rPr kumimoji="1" lang="en-US" altLang="zh-CN" sz="2000" b="1">
                        <a:solidFill>
                          <a:schemeClr val="bg1"/>
                        </a:solidFill>
                        <a:latin typeface="Times New Roman" pitchFamily="18" charset="0"/>
                        <a:cs typeface="Times New Roman" pitchFamily="18" charset="0"/>
                      </a:rPr>
                      <a:t>234</a:t>
                    </a:r>
                  </a:p>
                  <a:p>
                    <a:pPr algn="just" eaLnBrk="0" hangingPunct="0"/>
                    <a:endParaRPr kumimoji="1" lang="en-US" altLang="zh-CN" sz="2000" b="1">
                      <a:solidFill>
                        <a:schemeClr val="bg1"/>
                      </a:solidFill>
                      <a:latin typeface="Times New Roman" pitchFamily="18" charset="0"/>
                    </a:endParaRPr>
                  </a:p>
                </p:txBody>
              </p:sp>
              <p:sp>
                <p:nvSpPr>
                  <p:cNvPr id="6176" name="Rectangle 205"/>
                  <p:cNvSpPr>
                    <a:spLocks noChangeArrowheads="1"/>
                  </p:cNvSpPr>
                  <p:nvPr/>
                </p:nvSpPr>
                <p:spPr bwMode="auto">
                  <a:xfrm>
                    <a:off x="2465" y="384"/>
                    <a:ext cx="617" cy="384"/>
                  </a:xfrm>
                  <a:prstGeom prst="rect">
                    <a:avLst/>
                  </a:prstGeom>
                  <a:noFill/>
                  <a:ln w="7">
                    <a:solidFill>
                      <a:srgbClr val="A0A0A0"/>
                    </a:solidFill>
                    <a:miter lim="800000"/>
                    <a:headEnd/>
                    <a:tailEnd/>
                  </a:ln>
                </p:spPr>
                <p:txBody>
                  <a:bodyPr wrap="none" lIns="18000" rIns="18000"/>
                  <a:lstStyle/>
                  <a:p>
                    <a:endParaRPr lang="zh-CN" altLang="en-US"/>
                  </a:p>
                </p:txBody>
              </p:sp>
            </p:grpSp>
            <p:grpSp>
              <p:nvGrpSpPr>
                <p:cNvPr id="6169" name="Group 208"/>
                <p:cNvGrpSpPr>
                  <a:grpSpLocks/>
                </p:cNvGrpSpPr>
                <p:nvPr/>
              </p:nvGrpSpPr>
              <p:grpSpPr bwMode="auto">
                <a:xfrm>
                  <a:off x="3082" y="384"/>
                  <a:ext cx="617" cy="384"/>
                  <a:chOff x="3082" y="384"/>
                  <a:chExt cx="617" cy="384"/>
                </a:xfrm>
              </p:grpSpPr>
              <p:sp>
                <p:nvSpPr>
                  <p:cNvPr id="6173" name="Rectangle 181"/>
                  <p:cNvSpPr>
                    <a:spLocks noChangeArrowheads="1"/>
                  </p:cNvSpPr>
                  <p:nvPr/>
                </p:nvSpPr>
                <p:spPr bwMode="auto">
                  <a:xfrm>
                    <a:off x="3125" y="384"/>
                    <a:ext cx="531" cy="384"/>
                  </a:xfrm>
                  <a:prstGeom prst="rect">
                    <a:avLst/>
                  </a:prstGeom>
                  <a:noFill/>
                  <a:ln w="9525">
                    <a:noFill/>
                    <a:miter lim="800000"/>
                    <a:headEnd/>
                    <a:tailEnd/>
                  </a:ln>
                </p:spPr>
                <p:txBody>
                  <a:bodyPr lIns="18000" rIns="18000"/>
                  <a:lstStyle/>
                  <a:p>
                    <a:pPr algn="just"/>
                    <a:r>
                      <a:rPr kumimoji="1" lang="en-US" altLang="zh-CN" sz="2000" b="1">
                        <a:solidFill>
                          <a:schemeClr val="bg1"/>
                        </a:solidFill>
                        <a:latin typeface="Times New Roman" pitchFamily="18" charset="0"/>
                        <a:cs typeface="Times New Roman" pitchFamily="18" charset="0"/>
                      </a:rPr>
                      <a:t>690</a:t>
                    </a:r>
                  </a:p>
                  <a:p>
                    <a:pPr algn="just" eaLnBrk="0" hangingPunct="0"/>
                    <a:endParaRPr kumimoji="1" lang="en-US" altLang="zh-CN" sz="2000" b="1">
                      <a:solidFill>
                        <a:schemeClr val="bg1"/>
                      </a:solidFill>
                      <a:latin typeface="Times New Roman" pitchFamily="18" charset="0"/>
                    </a:endParaRPr>
                  </a:p>
                </p:txBody>
              </p:sp>
              <p:sp>
                <p:nvSpPr>
                  <p:cNvPr id="6174" name="Rectangle 207"/>
                  <p:cNvSpPr>
                    <a:spLocks noChangeArrowheads="1"/>
                  </p:cNvSpPr>
                  <p:nvPr/>
                </p:nvSpPr>
                <p:spPr bwMode="auto">
                  <a:xfrm>
                    <a:off x="3082" y="384"/>
                    <a:ext cx="617" cy="384"/>
                  </a:xfrm>
                  <a:prstGeom prst="rect">
                    <a:avLst/>
                  </a:prstGeom>
                  <a:noFill/>
                  <a:ln w="7">
                    <a:solidFill>
                      <a:srgbClr val="A0A0A0"/>
                    </a:solidFill>
                    <a:miter lim="800000"/>
                    <a:headEnd/>
                    <a:tailEnd/>
                  </a:ln>
                </p:spPr>
                <p:txBody>
                  <a:bodyPr wrap="none" lIns="18000" rIns="18000"/>
                  <a:lstStyle/>
                  <a:p>
                    <a:endParaRPr lang="zh-CN" altLang="en-US"/>
                  </a:p>
                </p:txBody>
              </p:sp>
            </p:grpSp>
            <p:grpSp>
              <p:nvGrpSpPr>
                <p:cNvPr id="6170" name="Group 210"/>
                <p:cNvGrpSpPr>
                  <a:grpSpLocks/>
                </p:cNvGrpSpPr>
                <p:nvPr/>
              </p:nvGrpSpPr>
              <p:grpSpPr bwMode="auto">
                <a:xfrm>
                  <a:off x="3699" y="384"/>
                  <a:ext cx="617" cy="384"/>
                  <a:chOff x="3699" y="384"/>
                  <a:chExt cx="617" cy="384"/>
                </a:xfrm>
              </p:grpSpPr>
              <p:sp>
                <p:nvSpPr>
                  <p:cNvPr id="6171" name="Rectangle 182"/>
                  <p:cNvSpPr>
                    <a:spLocks noChangeArrowheads="1"/>
                  </p:cNvSpPr>
                  <p:nvPr/>
                </p:nvSpPr>
                <p:spPr bwMode="auto">
                  <a:xfrm>
                    <a:off x="3742" y="384"/>
                    <a:ext cx="531" cy="384"/>
                  </a:xfrm>
                  <a:prstGeom prst="rect">
                    <a:avLst/>
                  </a:prstGeom>
                  <a:noFill/>
                  <a:ln w="9525">
                    <a:noFill/>
                    <a:miter lim="800000"/>
                    <a:headEnd/>
                    <a:tailEnd/>
                  </a:ln>
                </p:spPr>
                <p:txBody>
                  <a:bodyPr lIns="18000" rIns="18000"/>
                  <a:lstStyle/>
                  <a:p>
                    <a:pPr algn="just"/>
                    <a:r>
                      <a:rPr kumimoji="1" lang="en-US" altLang="zh-CN" sz="2000" b="1">
                        <a:solidFill>
                          <a:schemeClr val="bg1"/>
                        </a:solidFill>
                        <a:latin typeface="Times New Roman" pitchFamily="18" charset="0"/>
                        <a:cs typeface="Times New Roman" pitchFamily="18" charset="0"/>
                      </a:rPr>
                      <a:t>1542</a:t>
                    </a:r>
                  </a:p>
                  <a:p>
                    <a:pPr algn="just" eaLnBrk="0" hangingPunct="0"/>
                    <a:endParaRPr kumimoji="1" lang="en-US" altLang="zh-CN" sz="2000" b="1">
                      <a:solidFill>
                        <a:schemeClr val="bg1"/>
                      </a:solidFill>
                      <a:latin typeface="Times New Roman" pitchFamily="18" charset="0"/>
                    </a:endParaRPr>
                  </a:p>
                </p:txBody>
              </p:sp>
              <p:sp>
                <p:nvSpPr>
                  <p:cNvPr id="6172" name="Rectangle 209"/>
                  <p:cNvSpPr>
                    <a:spLocks noChangeArrowheads="1"/>
                  </p:cNvSpPr>
                  <p:nvPr/>
                </p:nvSpPr>
                <p:spPr bwMode="auto">
                  <a:xfrm>
                    <a:off x="3699" y="384"/>
                    <a:ext cx="617" cy="384"/>
                  </a:xfrm>
                  <a:prstGeom prst="rect">
                    <a:avLst/>
                  </a:prstGeom>
                  <a:noFill/>
                  <a:ln w="7">
                    <a:solidFill>
                      <a:srgbClr val="A0A0A0"/>
                    </a:solidFill>
                    <a:miter lim="800000"/>
                    <a:headEnd/>
                    <a:tailEnd/>
                  </a:ln>
                </p:spPr>
                <p:txBody>
                  <a:bodyPr wrap="none" lIns="18000" rIns="18000"/>
                  <a:lstStyle/>
                  <a:p>
                    <a:endParaRPr lang="zh-CN" altLang="en-US"/>
                  </a:p>
                </p:txBody>
              </p:sp>
            </p:grpSp>
          </p:grpSp>
          <p:sp>
            <p:nvSpPr>
              <p:cNvPr id="6156" name="Rectangle 212"/>
              <p:cNvSpPr>
                <a:spLocks noChangeArrowheads="1"/>
              </p:cNvSpPr>
              <p:nvPr/>
            </p:nvSpPr>
            <p:spPr bwMode="auto">
              <a:xfrm>
                <a:off x="-3" y="-3"/>
                <a:ext cx="4322" cy="774"/>
              </a:xfrm>
              <a:prstGeom prst="rect">
                <a:avLst/>
              </a:prstGeom>
              <a:noFill/>
              <a:ln w="9525">
                <a:solidFill>
                  <a:srgbClr val="A0A0A0"/>
                </a:solidFill>
                <a:miter lim="800000"/>
                <a:headEnd/>
                <a:tailEnd/>
              </a:ln>
            </p:spPr>
            <p:txBody>
              <a:bodyPr wrap="none" lIns="18000" rIns="18000"/>
              <a:lstStyle/>
              <a:p>
                <a:endParaRPr lang="zh-CN" altLang="en-US"/>
              </a:p>
            </p:txBody>
          </p:sp>
        </p:grpSp>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6164"/>
                                        </p:tgtEl>
                                        <p:attrNameLst>
                                          <p:attrName>style.visibility</p:attrName>
                                        </p:attrNameLst>
                                      </p:cBhvr>
                                      <p:to>
                                        <p:strVal val="visible"/>
                                      </p:to>
                                    </p:set>
                                    <p:animEffect transition="in" filter="barn(inHorizontal)">
                                      <p:cBhvr>
                                        <p:cTn id="12" dur="500"/>
                                        <p:tgtEl>
                                          <p:spTgt spid="6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5" name="灯片编号占位符 5"/>
          <p:cNvSpPr>
            <a:spLocks noGrp="1"/>
          </p:cNvSpPr>
          <p:nvPr>
            <p:ph type="sldNum" sz="quarter" idx="12"/>
          </p:nvPr>
        </p:nvSpPr>
        <p:spPr>
          <a:noFill/>
        </p:spPr>
        <p:txBody>
          <a:bodyPr/>
          <a:lstStyle/>
          <a:p>
            <a:fld id="{98912AF5-A701-46FB-AD84-806C87C40552}" type="slidenum">
              <a:rPr lang="en-US" altLang="zh-CN" smtClean="0">
                <a:latin typeface="Times New Roman" pitchFamily="18" charset="0"/>
                <a:ea typeface="华文中宋" pitchFamily="2" charset="-122"/>
                <a:cs typeface="Times New Roman" pitchFamily="18" charset="0"/>
              </a:rPr>
              <a:pPr/>
              <a:t>16</a:t>
            </a:fld>
            <a:endParaRPr lang="en-US" altLang="zh-CN" smtClean="0">
              <a:latin typeface="Times New Roman" pitchFamily="18" charset="0"/>
              <a:ea typeface="华文中宋" pitchFamily="2" charset="-122"/>
              <a:cs typeface="Times New Roman" pitchFamily="18" charset="0"/>
            </a:endParaRPr>
          </a:p>
        </p:txBody>
      </p:sp>
      <p:sp>
        <p:nvSpPr>
          <p:cNvPr id="7176" name="Rectangle 4"/>
          <p:cNvSpPr>
            <a:spLocks noGrp="1" noRot="1" noChangeArrowheads="1"/>
          </p:cNvSpPr>
          <p:nvPr/>
        </p:nvSpPr>
        <p:spPr bwMode="auto">
          <a:xfrm>
            <a:off x="450850" y="228600"/>
            <a:ext cx="8540750" cy="1143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三维自由平动子的简并度</a:t>
            </a:r>
          </a:p>
        </p:txBody>
      </p:sp>
      <p:sp>
        <p:nvSpPr>
          <p:cNvPr id="7177" name="Text Box 6"/>
          <p:cNvSpPr txBox="1">
            <a:spLocks noChangeArrowheads="1"/>
          </p:cNvSpPr>
          <p:nvPr/>
        </p:nvSpPr>
        <p:spPr bwMode="auto">
          <a:xfrm>
            <a:off x="4976813" y="0"/>
            <a:ext cx="4167187"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微观粒子运动的量子力学描述</a:t>
            </a:r>
            <a:endParaRPr lang="zh-CN" altLang="en-US" sz="2400">
              <a:solidFill>
                <a:schemeClr val="bg1"/>
              </a:solidFill>
              <a:latin typeface="Times New Roman" pitchFamily="18" charset="0"/>
            </a:endParaRPr>
          </a:p>
        </p:txBody>
      </p:sp>
      <p:graphicFrame>
        <p:nvGraphicFramePr>
          <p:cNvPr id="22537" name="Object 9"/>
          <p:cNvGraphicFramePr>
            <a:graphicFrameLocks noChangeAspect="1"/>
          </p:cNvGraphicFramePr>
          <p:nvPr/>
        </p:nvGraphicFramePr>
        <p:xfrm>
          <a:off x="2900363" y="3200400"/>
          <a:ext cx="2357437" cy="457200"/>
        </p:xfrm>
        <a:graphic>
          <a:graphicData uri="http://schemas.openxmlformats.org/presentationml/2006/ole">
            <p:oleObj spid="_x0000_s7170" r:id="rId3" imgW="1181100" imgH="228600" progId="Equation.DSMT4">
              <p:embed/>
            </p:oleObj>
          </a:graphicData>
        </a:graphic>
      </p:graphicFrame>
      <p:graphicFrame>
        <p:nvGraphicFramePr>
          <p:cNvPr id="22539" name="Object 11"/>
          <p:cNvGraphicFramePr>
            <a:graphicFrameLocks noChangeAspect="1"/>
          </p:cNvGraphicFramePr>
          <p:nvPr/>
        </p:nvGraphicFramePr>
        <p:xfrm>
          <a:off x="3886200" y="3886200"/>
          <a:ext cx="2300288" cy="455613"/>
        </p:xfrm>
        <a:graphic>
          <a:graphicData uri="http://schemas.openxmlformats.org/presentationml/2006/ole">
            <p:oleObj spid="_x0000_s7171" r:id="rId4" imgW="1155700" imgH="228600" progId="Equation.DSMT4">
              <p:embed/>
            </p:oleObj>
          </a:graphicData>
        </a:graphic>
      </p:graphicFrame>
      <p:graphicFrame>
        <p:nvGraphicFramePr>
          <p:cNvPr id="22541" name="Object 13"/>
          <p:cNvGraphicFramePr>
            <a:graphicFrameLocks noChangeAspect="1"/>
          </p:cNvGraphicFramePr>
          <p:nvPr/>
        </p:nvGraphicFramePr>
        <p:xfrm>
          <a:off x="1600200" y="4724400"/>
          <a:ext cx="4706938" cy="508000"/>
        </p:xfrm>
        <a:graphic>
          <a:graphicData uri="http://schemas.openxmlformats.org/presentationml/2006/ole">
            <p:oleObj spid="_x0000_s7172" r:id="rId5" imgW="2387600" imgH="254000" progId="Equation.DSMT4">
              <p:embed/>
            </p:oleObj>
          </a:graphicData>
        </a:graphic>
      </p:graphicFrame>
      <p:graphicFrame>
        <p:nvGraphicFramePr>
          <p:cNvPr id="22543" name="Object 15"/>
          <p:cNvGraphicFramePr>
            <a:graphicFrameLocks noChangeAspect="1"/>
          </p:cNvGraphicFramePr>
          <p:nvPr/>
        </p:nvGraphicFramePr>
        <p:xfrm>
          <a:off x="3200400" y="5410200"/>
          <a:ext cx="1019175" cy="479425"/>
        </p:xfrm>
        <a:graphic>
          <a:graphicData uri="http://schemas.openxmlformats.org/presentationml/2006/ole">
            <p:oleObj spid="_x0000_s7173" r:id="rId6" imgW="482391" imgH="228501" progId="Equation.DSMT4">
              <p:embed/>
            </p:oleObj>
          </a:graphicData>
        </a:graphic>
      </p:graphicFrame>
      <p:sp>
        <p:nvSpPr>
          <p:cNvPr id="22545" name="Text Box 17"/>
          <p:cNvSpPr txBox="1">
            <a:spLocks noChangeArrowheads="1"/>
          </p:cNvSpPr>
          <p:nvPr/>
        </p:nvSpPr>
        <p:spPr bwMode="auto">
          <a:xfrm>
            <a:off x="822325" y="1219200"/>
            <a:ext cx="5541963" cy="519113"/>
          </a:xfrm>
          <a:prstGeom prst="rect">
            <a:avLst/>
          </a:prstGeom>
          <a:noFill/>
          <a:ln w="9525">
            <a:noFill/>
            <a:miter lim="800000"/>
            <a:headEnd/>
            <a:tailEnd/>
          </a:ln>
        </p:spPr>
        <p:txBody>
          <a:bodyPr wrap="none">
            <a:spAutoFit/>
          </a:bodyPr>
          <a:lstStyle/>
          <a:p>
            <a:r>
              <a:rPr lang="zh-CN" altLang="en-US" sz="2800" b="1" dirty="0">
                <a:solidFill>
                  <a:schemeClr val="bg1"/>
                </a:solidFill>
                <a:latin typeface="Times New Roman" pitchFamily="18" charset="0"/>
                <a:ea typeface="华文中宋" pitchFamily="2" charset="-122"/>
                <a:cs typeface="Times New Roman" pitchFamily="18" charset="0"/>
              </a:rPr>
              <a:t>例：氢分子在立方型箱体内的运动</a:t>
            </a:r>
          </a:p>
        </p:txBody>
      </p:sp>
      <p:sp>
        <p:nvSpPr>
          <p:cNvPr id="22546" name="Text Box 18"/>
          <p:cNvSpPr txBox="1">
            <a:spLocks noChangeArrowheads="1"/>
          </p:cNvSpPr>
          <p:nvPr/>
        </p:nvSpPr>
        <p:spPr bwMode="auto">
          <a:xfrm>
            <a:off x="1492250" y="1919288"/>
            <a:ext cx="3567002" cy="523220"/>
          </a:xfrm>
          <a:prstGeom prst="rect">
            <a:avLst/>
          </a:prstGeom>
          <a:noFill/>
          <a:ln w="9525">
            <a:noFill/>
            <a:miter lim="800000"/>
            <a:headEnd/>
            <a:tailEnd/>
          </a:ln>
        </p:spPr>
        <p:txBody>
          <a:bodyPr wrap="none">
            <a:spAutoFit/>
          </a:bodyPr>
          <a:lstStyle/>
          <a:p>
            <a:r>
              <a:rPr lang="zh-CN" altLang="en-US" sz="2800" b="1">
                <a:solidFill>
                  <a:schemeClr val="bg1"/>
                </a:solidFill>
                <a:latin typeface="Times New Roman" pitchFamily="18" charset="0"/>
                <a:ea typeface="华文中宋" pitchFamily="2" charset="-122"/>
                <a:cs typeface="Times New Roman" pitchFamily="18" charset="0"/>
              </a:rPr>
              <a:t>若</a:t>
            </a:r>
            <a:r>
              <a:rPr lang="en-US" altLang="zh-CN" sz="2800" b="1" i="1">
                <a:solidFill>
                  <a:schemeClr val="bg1"/>
                </a:solidFill>
                <a:latin typeface="Times New Roman" pitchFamily="18" charset="0"/>
                <a:ea typeface="华文中宋" pitchFamily="2" charset="-122"/>
                <a:cs typeface="Times New Roman" pitchFamily="18" charset="0"/>
              </a:rPr>
              <a:t>L</a:t>
            </a:r>
            <a:r>
              <a:rPr lang="en-US" altLang="zh-CN" sz="2800" b="1">
                <a:solidFill>
                  <a:schemeClr val="bg1"/>
                </a:solidFill>
                <a:latin typeface="Times New Roman" pitchFamily="18" charset="0"/>
                <a:ea typeface="华文中宋" pitchFamily="2" charset="-122"/>
                <a:cs typeface="Times New Roman" pitchFamily="18" charset="0"/>
              </a:rPr>
              <a:t>=10 cm</a:t>
            </a:r>
            <a:r>
              <a:rPr lang="zh-CN" altLang="en-US" sz="2800" b="1">
                <a:solidFill>
                  <a:schemeClr val="bg1"/>
                </a:solidFill>
                <a:latin typeface="Times New Roman" pitchFamily="18" charset="0"/>
                <a:ea typeface="华文中宋" pitchFamily="2" charset="-122"/>
                <a:cs typeface="Times New Roman" pitchFamily="18" charset="0"/>
              </a:rPr>
              <a:t>，</a:t>
            </a:r>
            <a:r>
              <a:rPr lang="en-US" altLang="zh-CN" sz="2800" b="1" i="1">
                <a:solidFill>
                  <a:schemeClr val="bg1"/>
                </a:solidFill>
                <a:latin typeface="Times New Roman" pitchFamily="18" charset="0"/>
                <a:ea typeface="华文中宋" pitchFamily="2" charset="-122"/>
                <a:cs typeface="Times New Roman" pitchFamily="18" charset="0"/>
              </a:rPr>
              <a:t>T</a:t>
            </a:r>
            <a:r>
              <a:rPr lang="en-US" altLang="zh-CN" sz="2800" b="1">
                <a:solidFill>
                  <a:schemeClr val="bg1"/>
                </a:solidFill>
                <a:latin typeface="Times New Roman" pitchFamily="18" charset="0"/>
                <a:ea typeface="华文中宋" pitchFamily="2" charset="-122"/>
                <a:cs typeface="Times New Roman" pitchFamily="18" charset="0"/>
              </a:rPr>
              <a:t>=298 K</a:t>
            </a:r>
          </a:p>
        </p:txBody>
      </p:sp>
      <p:grpSp>
        <p:nvGrpSpPr>
          <p:cNvPr id="2" name="Group 25"/>
          <p:cNvGrpSpPr>
            <a:grpSpLocks/>
          </p:cNvGrpSpPr>
          <p:nvPr/>
        </p:nvGrpSpPr>
        <p:grpSpPr bwMode="auto">
          <a:xfrm>
            <a:off x="1508125" y="2414588"/>
            <a:ext cx="5273675" cy="785812"/>
            <a:chOff x="950" y="1521"/>
            <a:chExt cx="3322" cy="495"/>
          </a:xfrm>
        </p:grpSpPr>
        <p:graphicFrame>
          <p:nvGraphicFramePr>
            <p:cNvPr id="7174" name="Object 7"/>
            <p:cNvGraphicFramePr>
              <a:graphicFrameLocks noChangeAspect="1"/>
            </p:cNvGraphicFramePr>
            <p:nvPr/>
          </p:nvGraphicFramePr>
          <p:xfrm>
            <a:off x="2302" y="1521"/>
            <a:ext cx="1970" cy="495"/>
          </p:xfrm>
          <a:graphic>
            <a:graphicData uri="http://schemas.openxmlformats.org/presentationml/2006/ole">
              <p:oleObj spid="_x0000_s7174" r:id="rId7" imgW="1548728" imgH="393529" progId="Equation.DSMT4">
                <p:embed/>
              </p:oleObj>
            </a:graphicData>
          </a:graphic>
        </p:graphicFrame>
        <p:sp>
          <p:nvSpPr>
            <p:cNvPr id="7183" name="Text Box 19"/>
            <p:cNvSpPr txBox="1">
              <a:spLocks noChangeArrowheads="1"/>
            </p:cNvSpPr>
            <p:nvPr/>
          </p:nvSpPr>
          <p:spPr bwMode="auto">
            <a:xfrm>
              <a:off x="950" y="1584"/>
              <a:ext cx="1466" cy="327"/>
            </a:xfrm>
            <a:prstGeom prst="rect">
              <a:avLst/>
            </a:prstGeom>
            <a:noFill/>
            <a:ln w="9525">
              <a:noFill/>
              <a:miter lim="800000"/>
              <a:headEnd/>
              <a:tailEnd/>
            </a:ln>
          </p:spPr>
          <p:txBody>
            <a:bodyPr wrap="none">
              <a:spAutoFit/>
            </a:bodyPr>
            <a:lstStyle/>
            <a:p>
              <a:r>
                <a:rPr lang="zh-CN" altLang="en-US" sz="2800" b="1">
                  <a:solidFill>
                    <a:schemeClr val="bg1"/>
                  </a:solidFill>
                  <a:latin typeface="Times New Roman" pitchFamily="18" charset="0"/>
                  <a:ea typeface="华文中宋" pitchFamily="2" charset="-122"/>
                  <a:cs typeface="Times New Roman" pitchFamily="18" charset="0"/>
                </a:rPr>
                <a:t>平均平动能：</a:t>
              </a:r>
            </a:p>
          </p:txBody>
        </p:sp>
      </p:grpSp>
      <p:sp>
        <p:nvSpPr>
          <p:cNvPr id="22549" name="Text Box 21"/>
          <p:cNvSpPr txBox="1">
            <a:spLocks noChangeArrowheads="1"/>
          </p:cNvSpPr>
          <p:nvPr/>
        </p:nvSpPr>
        <p:spPr bwMode="auto">
          <a:xfrm>
            <a:off x="1524000" y="3138488"/>
            <a:ext cx="1255713" cy="519112"/>
          </a:xfrm>
          <a:prstGeom prst="rect">
            <a:avLst/>
          </a:prstGeom>
          <a:noFill/>
          <a:ln w="9525">
            <a:noFill/>
            <a:miter lim="800000"/>
            <a:headEnd/>
            <a:tailEnd/>
          </a:ln>
        </p:spPr>
        <p:txBody>
          <a:bodyPr wrap="none">
            <a:spAutoFit/>
          </a:bodyPr>
          <a:lstStyle/>
          <a:p>
            <a:r>
              <a:rPr lang="zh-CN" altLang="en-US" sz="2800" b="1">
                <a:solidFill>
                  <a:schemeClr val="bg1"/>
                </a:solidFill>
                <a:latin typeface="Times New Roman" pitchFamily="18" charset="0"/>
                <a:ea typeface="华文中宋" pitchFamily="2" charset="-122"/>
                <a:cs typeface="Times New Roman" pitchFamily="18" charset="0"/>
              </a:rPr>
              <a:t>质量：</a:t>
            </a:r>
          </a:p>
        </p:txBody>
      </p:sp>
      <p:sp>
        <p:nvSpPr>
          <p:cNvPr id="22550" name="Text Box 22"/>
          <p:cNvSpPr txBox="1">
            <a:spLocks noChangeArrowheads="1"/>
          </p:cNvSpPr>
          <p:nvPr/>
        </p:nvSpPr>
        <p:spPr bwMode="auto">
          <a:xfrm>
            <a:off x="1482725" y="3824288"/>
            <a:ext cx="2327275" cy="519112"/>
          </a:xfrm>
          <a:prstGeom prst="rect">
            <a:avLst/>
          </a:prstGeom>
          <a:noFill/>
          <a:ln w="9525">
            <a:noFill/>
            <a:miter lim="800000"/>
            <a:headEnd/>
            <a:tailEnd/>
          </a:ln>
        </p:spPr>
        <p:txBody>
          <a:bodyPr wrap="none">
            <a:spAutoFit/>
          </a:bodyPr>
          <a:lstStyle/>
          <a:p>
            <a:r>
              <a:rPr lang="zh-CN" altLang="en-US" sz="2800" b="1">
                <a:solidFill>
                  <a:schemeClr val="bg1"/>
                </a:solidFill>
                <a:latin typeface="Times New Roman" pitchFamily="18" charset="0"/>
                <a:ea typeface="华文中宋" pitchFamily="2" charset="-122"/>
                <a:cs typeface="Times New Roman" pitchFamily="18" charset="0"/>
              </a:rPr>
              <a:t>普朗克常数：</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2545"/>
                                        </p:tgtEl>
                                        <p:attrNameLst>
                                          <p:attrName>style.visibility</p:attrName>
                                        </p:attrNameLst>
                                      </p:cBhvr>
                                      <p:to>
                                        <p:strVal val="visible"/>
                                      </p:to>
                                    </p:set>
                                    <p:animEffect transition="in" filter="barn(inVertical)">
                                      <p:cBhvr>
                                        <p:cTn id="7" dur="500"/>
                                        <p:tgtEl>
                                          <p:spTgt spid="2254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2546"/>
                                        </p:tgtEl>
                                        <p:attrNameLst>
                                          <p:attrName>style.visibility</p:attrName>
                                        </p:attrNameLst>
                                      </p:cBhvr>
                                      <p:to>
                                        <p:strVal val="visible"/>
                                      </p:to>
                                    </p:set>
                                    <p:animEffect transition="in" filter="barn(inVertical)">
                                      <p:cBhvr>
                                        <p:cTn id="12" dur="500"/>
                                        <p:tgtEl>
                                          <p:spTgt spid="2254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2549"/>
                                        </p:tgtEl>
                                        <p:attrNameLst>
                                          <p:attrName>style.visibility</p:attrName>
                                        </p:attrNameLst>
                                      </p:cBhvr>
                                      <p:to>
                                        <p:strVal val="visible"/>
                                      </p:to>
                                    </p:set>
                                    <p:animEffect transition="in" filter="barn(inVertical)">
                                      <p:cBhvr>
                                        <p:cTn id="22" dur="500"/>
                                        <p:tgtEl>
                                          <p:spTgt spid="22549"/>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22537"/>
                                        </p:tgtEl>
                                        <p:attrNameLst>
                                          <p:attrName>style.visibility</p:attrName>
                                        </p:attrNameLst>
                                      </p:cBhvr>
                                      <p:to>
                                        <p:strVal val="visible"/>
                                      </p:to>
                                    </p:set>
                                    <p:animEffect transition="in" filter="barn(inVertical)">
                                      <p:cBhvr>
                                        <p:cTn id="27" dur="500"/>
                                        <p:tgtEl>
                                          <p:spTgt spid="2253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22550"/>
                                        </p:tgtEl>
                                        <p:attrNameLst>
                                          <p:attrName>style.visibility</p:attrName>
                                        </p:attrNameLst>
                                      </p:cBhvr>
                                      <p:to>
                                        <p:strVal val="visible"/>
                                      </p:to>
                                    </p:set>
                                    <p:animEffect transition="in" filter="barn(inVertical)">
                                      <p:cBhvr>
                                        <p:cTn id="32" dur="500"/>
                                        <p:tgtEl>
                                          <p:spTgt spid="22550"/>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22539"/>
                                        </p:tgtEl>
                                        <p:attrNameLst>
                                          <p:attrName>style.visibility</p:attrName>
                                        </p:attrNameLst>
                                      </p:cBhvr>
                                      <p:to>
                                        <p:strVal val="visible"/>
                                      </p:to>
                                    </p:set>
                                    <p:animEffect transition="in" filter="barn(inVertical)">
                                      <p:cBhvr>
                                        <p:cTn id="37" dur="500"/>
                                        <p:tgtEl>
                                          <p:spTgt spid="22539"/>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22541"/>
                                        </p:tgtEl>
                                        <p:attrNameLst>
                                          <p:attrName>style.visibility</p:attrName>
                                        </p:attrNameLst>
                                      </p:cBhvr>
                                      <p:to>
                                        <p:strVal val="visible"/>
                                      </p:to>
                                    </p:set>
                                    <p:animEffect transition="in" filter="barn(inVertical)">
                                      <p:cBhvr>
                                        <p:cTn id="42" dur="500"/>
                                        <p:tgtEl>
                                          <p:spTgt spid="22541"/>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22543"/>
                                        </p:tgtEl>
                                        <p:attrNameLst>
                                          <p:attrName>style.visibility</p:attrName>
                                        </p:attrNameLst>
                                      </p:cBhvr>
                                      <p:to>
                                        <p:strVal val="visible"/>
                                      </p:to>
                                    </p:set>
                                    <p:animEffect transition="in" filter="barn(inVertical)">
                                      <p:cBhvr>
                                        <p:cTn id="47" dur="500"/>
                                        <p:tgtEl>
                                          <p:spTgt spid="225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45" grpId="0" autoUpdateAnimBg="0"/>
      <p:bldP spid="22546" grpId="0" autoUpdateAnimBg="0"/>
      <p:bldP spid="22549" grpId="0" autoUpdateAnimBg="0"/>
      <p:bldP spid="22550"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9" name="灯片编号占位符 3"/>
          <p:cNvSpPr>
            <a:spLocks noGrp="1"/>
          </p:cNvSpPr>
          <p:nvPr>
            <p:ph type="sldNum" sz="quarter" idx="12"/>
          </p:nvPr>
        </p:nvSpPr>
        <p:spPr>
          <a:noFill/>
        </p:spPr>
        <p:txBody>
          <a:bodyPr/>
          <a:lstStyle/>
          <a:p>
            <a:fld id="{05C3CE8F-ACAA-444C-918C-16994F3BAA91}" type="slidenum">
              <a:rPr lang="en-US" altLang="zh-CN" smtClean="0">
                <a:latin typeface="Times New Roman" pitchFamily="18" charset="0"/>
                <a:ea typeface="华文中宋" pitchFamily="2" charset="-122"/>
                <a:cs typeface="Times New Roman" pitchFamily="18" charset="0"/>
              </a:rPr>
              <a:pPr/>
              <a:t>17</a:t>
            </a:fld>
            <a:endParaRPr lang="en-US" altLang="zh-CN" smtClean="0">
              <a:latin typeface="Times New Roman" pitchFamily="18" charset="0"/>
              <a:ea typeface="华文中宋" pitchFamily="2" charset="-122"/>
              <a:cs typeface="Times New Roman" pitchFamily="18" charset="0"/>
            </a:endParaRPr>
          </a:p>
        </p:txBody>
      </p:sp>
      <p:sp>
        <p:nvSpPr>
          <p:cNvPr id="8200" name="Text Box 2"/>
          <p:cNvSpPr txBox="1">
            <a:spLocks noChangeArrowheads="1"/>
          </p:cNvSpPr>
          <p:nvPr/>
        </p:nvSpPr>
        <p:spPr bwMode="auto">
          <a:xfrm>
            <a:off x="4976813" y="0"/>
            <a:ext cx="4167187"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微观粒子运动的量子力学描述</a:t>
            </a:r>
            <a:endParaRPr lang="zh-CN" altLang="en-US" sz="2400">
              <a:solidFill>
                <a:schemeClr val="bg1"/>
              </a:solidFill>
              <a:latin typeface="Times New Roman" pitchFamily="18" charset="0"/>
            </a:endParaRPr>
          </a:p>
        </p:txBody>
      </p:sp>
      <p:sp>
        <p:nvSpPr>
          <p:cNvPr id="8201" name="Rectangle 3"/>
          <p:cNvSpPr>
            <a:spLocks noGrp="1" noRot="1" noChangeArrowheads="1"/>
          </p:cNvSpPr>
          <p:nvPr/>
        </p:nvSpPr>
        <p:spPr bwMode="auto">
          <a:xfrm>
            <a:off x="298450" y="228600"/>
            <a:ext cx="8540750" cy="1143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刚性转子的量子态</a:t>
            </a:r>
          </a:p>
        </p:txBody>
      </p:sp>
      <p:grpSp>
        <p:nvGrpSpPr>
          <p:cNvPr id="2" name="Group 18"/>
          <p:cNvGrpSpPr>
            <a:grpSpLocks/>
          </p:cNvGrpSpPr>
          <p:nvPr/>
        </p:nvGrpSpPr>
        <p:grpSpPr bwMode="auto">
          <a:xfrm>
            <a:off x="685800" y="1371600"/>
            <a:ext cx="8416925" cy="1200150"/>
            <a:chOff x="432" y="864"/>
            <a:chExt cx="5302" cy="756"/>
          </a:xfrm>
        </p:grpSpPr>
        <p:sp>
          <p:nvSpPr>
            <p:cNvPr id="8207" name="Text Box 4"/>
            <p:cNvSpPr txBox="1">
              <a:spLocks noChangeArrowheads="1"/>
            </p:cNvSpPr>
            <p:nvPr/>
          </p:nvSpPr>
          <p:spPr bwMode="auto">
            <a:xfrm>
              <a:off x="432" y="864"/>
              <a:ext cx="5302" cy="756"/>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质量为</a:t>
              </a:r>
              <a:r>
                <a:rPr lang="en-US" altLang="zh-CN" sz="2400" b="1" i="1">
                  <a:solidFill>
                    <a:schemeClr val="bg1"/>
                  </a:solidFill>
                  <a:latin typeface="Times New Roman" pitchFamily="18" charset="0"/>
                  <a:ea typeface="华文中宋" pitchFamily="2" charset="-122"/>
                  <a:cs typeface="Times New Roman" pitchFamily="18" charset="0"/>
                </a:rPr>
                <a:t>M</a:t>
              </a:r>
              <a:r>
                <a:rPr lang="zh-CN" altLang="en-US" sz="2400" b="1">
                  <a:solidFill>
                    <a:schemeClr val="bg1"/>
                  </a:solidFill>
                  <a:latin typeface="Times New Roman" pitchFamily="18" charset="0"/>
                  <a:ea typeface="华文中宋" pitchFamily="2" charset="-122"/>
                  <a:cs typeface="Times New Roman" pitchFamily="18" charset="0"/>
                </a:rPr>
                <a:t>的质点在球面上运动称为转子，设球的半径为</a:t>
              </a:r>
              <a:r>
                <a:rPr lang="en-US" altLang="zh-CN" sz="2400" b="1" i="1">
                  <a:solidFill>
                    <a:schemeClr val="bg1"/>
                  </a:solidFill>
                  <a:latin typeface="Times New Roman" pitchFamily="18" charset="0"/>
                  <a:ea typeface="华文中宋" pitchFamily="2" charset="-122"/>
                  <a:cs typeface="Times New Roman" pitchFamily="18" charset="0"/>
                </a:rPr>
                <a:t>r</a:t>
              </a:r>
              <a:r>
                <a:rPr lang="zh-CN" altLang="en-US" sz="2400" b="1">
                  <a:solidFill>
                    <a:schemeClr val="bg1"/>
                  </a:solidFill>
                  <a:latin typeface="Times New Roman" pitchFamily="18" charset="0"/>
                  <a:ea typeface="华文中宋" pitchFamily="2" charset="-122"/>
                  <a:cs typeface="Times New Roman" pitchFamily="18" charset="0"/>
                </a:rPr>
                <a:t>，</a:t>
              </a:r>
            </a:p>
            <a:p>
              <a:r>
                <a:rPr lang="zh-CN" altLang="en-US" sz="2400" b="1">
                  <a:solidFill>
                    <a:schemeClr val="bg1"/>
                  </a:solidFill>
                  <a:latin typeface="Times New Roman" pitchFamily="18" charset="0"/>
                  <a:ea typeface="华文中宋" pitchFamily="2" charset="-122"/>
                  <a:cs typeface="Times New Roman" pitchFamily="18" charset="0"/>
                </a:rPr>
                <a:t>则转子的转动惯量为               ，转子没有势能，使用球坐标求</a:t>
              </a:r>
            </a:p>
            <a:p>
              <a:r>
                <a:rPr lang="zh-CN" altLang="en-US" sz="2400" b="1">
                  <a:solidFill>
                    <a:schemeClr val="bg1"/>
                  </a:solidFill>
                  <a:latin typeface="Times New Roman" pitchFamily="18" charset="0"/>
                  <a:ea typeface="华文中宋" pitchFamily="2" charset="-122"/>
                  <a:cs typeface="Times New Roman" pitchFamily="18" charset="0"/>
                </a:rPr>
                <a:t>解</a:t>
              </a:r>
              <a:r>
                <a:rPr lang="en-US" altLang="zh-CN" sz="2400" b="1">
                  <a:solidFill>
                    <a:schemeClr val="bg1"/>
                  </a:solidFill>
                  <a:latin typeface="Times New Roman" pitchFamily="18" charset="0"/>
                  <a:ea typeface="华文中宋" pitchFamily="2" charset="-122"/>
                  <a:cs typeface="Times New Roman" pitchFamily="18" charset="0"/>
                </a:rPr>
                <a:t>Schrodinger</a:t>
              </a:r>
              <a:r>
                <a:rPr lang="zh-CN" altLang="en-US" sz="2400" b="1">
                  <a:solidFill>
                    <a:schemeClr val="bg1"/>
                  </a:solidFill>
                  <a:latin typeface="Times New Roman" pitchFamily="18" charset="0"/>
                  <a:ea typeface="华文中宋" pitchFamily="2" charset="-122"/>
                  <a:cs typeface="Times New Roman" pitchFamily="18" charset="0"/>
                </a:rPr>
                <a:t>方程得到波函数： </a:t>
              </a:r>
            </a:p>
          </p:txBody>
        </p:sp>
        <p:graphicFrame>
          <p:nvGraphicFramePr>
            <p:cNvPr id="8198" name="Object 5"/>
            <p:cNvGraphicFramePr>
              <a:graphicFrameLocks noChangeAspect="1"/>
            </p:cNvGraphicFramePr>
            <p:nvPr/>
          </p:nvGraphicFramePr>
          <p:xfrm>
            <a:off x="2256" y="1104"/>
            <a:ext cx="660" cy="240"/>
          </p:xfrm>
          <a:graphic>
            <a:graphicData uri="http://schemas.openxmlformats.org/presentationml/2006/ole">
              <p:oleObj spid="_x0000_s8198" r:id="rId3" imgW="520474" imgH="190417" progId="Equation.DSMT4">
                <p:embed/>
              </p:oleObj>
            </a:graphicData>
          </a:graphic>
        </p:graphicFrame>
      </p:grpSp>
      <p:graphicFrame>
        <p:nvGraphicFramePr>
          <p:cNvPr id="23559" name="Object 7"/>
          <p:cNvGraphicFramePr>
            <a:graphicFrameLocks noChangeAspect="1"/>
          </p:cNvGraphicFramePr>
          <p:nvPr/>
        </p:nvGraphicFramePr>
        <p:xfrm>
          <a:off x="1676400" y="2590800"/>
          <a:ext cx="5922963" cy="1428750"/>
        </p:xfrm>
        <a:graphic>
          <a:graphicData uri="http://schemas.openxmlformats.org/presentationml/2006/ole">
            <p:oleObj spid="_x0000_s8194" r:id="rId4" imgW="2959100" imgH="711200" progId="Equation.DSMT4">
              <p:embed/>
            </p:oleObj>
          </a:graphicData>
        </a:graphic>
      </p:graphicFrame>
      <p:grpSp>
        <p:nvGrpSpPr>
          <p:cNvPr id="3" name="Group 19"/>
          <p:cNvGrpSpPr>
            <a:grpSpLocks/>
          </p:cNvGrpSpPr>
          <p:nvPr/>
        </p:nvGrpSpPr>
        <p:grpSpPr bwMode="auto">
          <a:xfrm>
            <a:off x="685800" y="4038600"/>
            <a:ext cx="8534400" cy="1771650"/>
            <a:chOff x="432" y="2544"/>
            <a:chExt cx="5376" cy="1116"/>
          </a:xfrm>
        </p:grpSpPr>
        <p:grpSp>
          <p:nvGrpSpPr>
            <p:cNvPr id="8205" name="Group 17"/>
            <p:cNvGrpSpPr>
              <a:grpSpLocks/>
            </p:cNvGrpSpPr>
            <p:nvPr/>
          </p:nvGrpSpPr>
          <p:grpSpPr bwMode="auto">
            <a:xfrm>
              <a:off x="432" y="2554"/>
              <a:ext cx="5376" cy="1106"/>
              <a:chOff x="432" y="2554"/>
              <a:chExt cx="5376" cy="1106"/>
            </a:xfrm>
          </p:grpSpPr>
          <p:sp>
            <p:nvSpPr>
              <p:cNvPr id="8206" name="Text Box 9"/>
              <p:cNvSpPr txBox="1">
                <a:spLocks noChangeArrowheads="1"/>
              </p:cNvSpPr>
              <p:nvPr/>
            </p:nvSpPr>
            <p:spPr bwMode="auto">
              <a:xfrm>
                <a:off x="432" y="2554"/>
                <a:ext cx="5376" cy="523"/>
              </a:xfrm>
              <a:prstGeom prst="rect">
                <a:avLst/>
              </a:prstGeom>
              <a:noFill/>
              <a:ln w="9525">
                <a:noFill/>
                <a:miter lim="800000"/>
                <a:headEnd/>
                <a:tailEnd/>
              </a:ln>
            </p:spPr>
            <p:txBody>
              <a:bodyPr wrap="none">
                <a:spAutoFit/>
              </a:bodyPr>
              <a:lstStyle/>
              <a:p>
                <a:r>
                  <a:rPr lang="zh-CN" altLang="en-US" sz="2400">
                    <a:solidFill>
                      <a:schemeClr val="bg1"/>
                    </a:solidFill>
                    <a:latin typeface="Times New Roman" pitchFamily="18" charset="0"/>
                    <a:ea typeface="华文中宋" pitchFamily="2" charset="-122"/>
                    <a:cs typeface="Times New Roman" pitchFamily="18" charset="0"/>
                  </a:rPr>
                  <a:t>式中                 为</a:t>
                </a:r>
                <a:r>
                  <a:rPr lang="en-US" altLang="zh-CN" sz="2400" i="1">
                    <a:solidFill>
                      <a:schemeClr val="bg1"/>
                    </a:solidFill>
                    <a:latin typeface="Times New Roman" pitchFamily="18" charset="0"/>
                    <a:ea typeface="华文中宋" pitchFamily="2" charset="-122"/>
                    <a:cs typeface="Times New Roman" pitchFamily="18" charset="0"/>
                  </a:rPr>
                  <a:t>m</a:t>
                </a:r>
                <a:r>
                  <a:rPr lang="zh-CN" altLang="en-US" sz="2400">
                    <a:solidFill>
                      <a:schemeClr val="bg1"/>
                    </a:solidFill>
                    <a:latin typeface="Times New Roman" pitchFamily="18" charset="0"/>
                    <a:ea typeface="华文中宋" pitchFamily="2" charset="-122"/>
                    <a:cs typeface="Times New Roman" pitchFamily="18" charset="0"/>
                  </a:rPr>
                  <a:t>阶</a:t>
                </a:r>
                <a:r>
                  <a:rPr lang="en-US" altLang="zh-CN" sz="2400" i="1">
                    <a:solidFill>
                      <a:schemeClr val="bg1"/>
                    </a:solidFill>
                    <a:latin typeface="Times New Roman" pitchFamily="18" charset="0"/>
                    <a:ea typeface="华文中宋" pitchFamily="2" charset="-122"/>
                    <a:cs typeface="Times New Roman" pitchFamily="18" charset="0"/>
                  </a:rPr>
                  <a:t>J</a:t>
                </a:r>
                <a:r>
                  <a:rPr lang="zh-CN" altLang="en-US" sz="2400">
                    <a:solidFill>
                      <a:schemeClr val="bg1"/>
                    </a:solidFill>
                    <a:latin typeface="Times New Roman" pitchFamily="18" charset="0"/>
                    <a:ea typeface="华文中宋" pitchFamily="2" charset="-122"/>
                    <a:cs typeface="Times New Roman" pitchFamily="18" charset="0"/>
                  </a:rPr>
                  <a:t>次的</a:t>
                </a:r>
                <a:r>
                  <a:rPr lang="en-US" altLang="zh-CN" sz="2400">
                    <a:solidFill>
                      <a:schemeClr val="bg1"/>
                    </a:solidFill>
                    <a:latin typeface="Times New Roman" pitchFamily="18" charset="0"/>
                    <a:ea typeface="华文中宋" pitchFamily="2" charset="-122"/>
                    <a:cs typeface="Times New Roman" pitchFamily="18" charset="0"/>
                  </a:rPr>
                  <a:t>Lengendre</a:t>
                </a:r>
                <a:r>
                  <a:rPr lang="zh-CN" altLang="en-US" sz="2400">
                    <a:solidFill>
                      <a:schemeClr val="bg1"/>
                    </a:solidFill>
                    <a:latin typeface="Times New Roman" pitchFamily="18" charset="0"/>
                    <a:ea typeface="华文中宋" pitchFamily="2" charset="-122"/>
                    <a:cs typeface="Times New Roman" pitchFamily="18" charset="0"/>
                  </a:rPr>
                  <a:t>函数，</a:t>
                </a:r>
                <a:r>
                  <a:rPr lang="en-US" altLang="zh-CN" sz="2400" i="1">
                    <a:solidFill>
                      <a:schemeClr val="bg1"/>
                    </a:solidFill>
                    <a:latin typeface="Times New Roman" pitchFamily="18" charset="0"/>
                    <a:ea typeface="华文中宋" pitchFamily="2" charset="-122"/>
                    <a:cs typeface="Times New Roman" pitchFamily="18" charset="0"/>
                  </a:rPr>
                  <a:t>J</a:t>
                </a:r>
                <a:r>
                  <a:rPr lang="zh-CN" altLang="en-US" sz="2400">
                    <a:solidFill>
                      <a:schemeClr val="bg1"/>
                    </a:solidFill>
                    <a:latin typeface="Times New Roman" pitchFamily="18" charset="0"/>
                    <a:ea typeface="华文中宋" pitchFamily="2" charset="-122"/>
                    <a:cs typeface="Times New Roman" pitchFamily="18" charset="0"/>
                  </a:rPr>
                  <a:t>称为转动量子数，</a:t>
                </a:r>
              </a:p>
              <a:p>
                <a:r>
                  <a:rPr lang="en-US" altLang="zh-CN" sz="2400" i="1">
                    <a:solidFill>
                      <a:schemeClr val="bg1"/>
                    </a:solidFill>
                    <a:latin typeface="Times New Roman" pitchFamily="18" charset="0"/>
                    <a:ea typeface="华文中宋" pitchFamily="2" charset="-122"/>
                    <a:cs typeface="Times New Roman" pitchFamily="18" charset="0"/>
                  </a:rPr>
                  <a:t>m</a:t>
                </a:r>
                <a:r>
                  <a:rPr lang="zh-CN" altLang="en-US" sz="2400">
                    <a:solidFill>
                      <a:schemeClr val="bg1"/>
                    </a:solidFill>
                    <a:latin typeface="Times New Roman" pitchFamily="18" charset="0"/>
                    <a:ea typeface="华文中宋" pitchFamily="2" charset="-122"/>
                    <a:cs typeface="Times New Roman" pitchFamily="18" charset="0"/>
                  </a:rPr>
                  <a:t>称为磁量子数，其取值为 </a:t>
                </a:r>
              </a:p>
            </p:txBody>
          </p:sp>
          <p:graphicFrame>
            <p:nvGraphicFramePr>
              <p:cNvPr id="8196" name="Object 10"/>
              <p:cNvGraphicFramePr>
                <a:graphicFrameLocks noChangeAspect="1"/>
              </p:cNvGraphicFramePr>
              <p:nvPr/>
            </p:nvGraphicFramePr>
            <p:xfrm>
              <a:off x="1008" y="3120"/>
              <a:ext cx="2929" cy="540"/>
            </p:xfrm>
            <a:graphic>
              <a:graphicData uri="http://schemas.openxmlformats.org/presentationml/2006/ole">
                <p:oleObj spid="_x0000_s8196" r:id="rId5" imgW="2324100" imgH="431800" progId="Equation.DSMT4">
                  <p:embed/>
                </p:oleObj>
              </a:graphicData>
            </a:graphic>
          </p:graphicFrame>
          <p:graphicFrame>
            <p:nvGraphicFramePr>
              <p:cNvPr id="8197" name="Object 12"/>
              <p:cNvGraphicFramePr>
                <a:graphicFrameLocks noChangeAspect="1"/>
              </p:cNvGraphicFramePr>
              <p:nvPr/>
            </p:nvGraphicFramePr>
            <p:xfrm>
              <a:off x="4560" y="3216"/>
              <a:ext cx="576" cy="324"/>
            </p:xfrm>
            <a:graphic>
              <a:graphicData uri="http://schemas.openxmlformats.org/presentationml/2006/ole">
                <p:oleObj spid="_x0000_s8197" r:id="rId6" imgW="457002" imgH="253890" progId="Equation.DSMT4">
                  <p:embed/>
                </p:oleObj>
              </a:graphicData>
            </a:graphic>
          </p:graphicFrame>
        </p:grpSp>
        <p:graphicFrame>
          <p:nvGraphicFramePr>
            <p:cNvPr id="8195" name="Object 14"/>
            <p:cNvGraphicFramePr>
              <a:graphicFrameLocks noChangeAspect="1"/>
            </p:cNvGraphicFramePr>
            <p:nvPr/>
          </p:nvGraphicFramePr>
          <p:xfrm>
            <a:off x="912" y="2544"/>
            <a:ext cx="816" cy="300"/>
          </p:xfrm>
          <a:graphic>
            <a:graphicData uri="http://schemas.openxmlformats.org/presentationml/2006/ole">
              <p:oleObj spid="_x0000_s8195" r:id="rId7" imgW="647700" imgH="241300" progId="Equation.DSMT4">
                <p:embed/>
              </p:oleObj>
            </a:graphicData>
          </a:graphic>
        </p:graphicFrame>
      </p:grpSp>
      <p:sp>
        <p:nvSpPr>
          <p:cNvPr id="23568" name="Text Box 16"/>
          <p:cNvSpPr txBox="1">
            <a:spLocks noChangeArrowheads="1"/>
          </p:cNvSpPr>
          <p:nvPr/>
        </p:nvSpPr>
        <p:spPr bwMode="auto">
          <a:xfrm>
            <a:off x="838200" y="6019800"/>
            <a:ext cx="7159332" cy="461665"/>
          </a:xfrm>
          <a:prstGeom prst="rect">
            <a:avLst/>
          </a:prstGeom>
          <a:solidFill>
            <a:schemeClr val="hlink"/>
          </a:solid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对每一个</a:t>
            </a:r>
            <a:r>
              <a:rPr lang="en-US" altLang="zh-CN" sz="2400" b="1" i="1">
                <a:solidFill>
                  <a:schemeClr val="bg1"/>
                </a:solidFill>
                <a:latin typeface="Times New Roman" pitchFamily="18" charset="0"/>
                <a:ea typeface="华文中宋" pitchFamily="2" charset="-122"/>
                <a:cs typeface="Times New Roman" pitchFamily="18" charset="0"/>
              </a:rPr>
              <a:t>J</a:t>
            </a:r>
            <a:r>
              <a:rPr lang="zh-CN" altLang="en-US" sz="2400" b="1">
                <a:solidFill>
                  <a:schemeClr val="bg1"/>
                </a:solidFill>
                <a:latin typeface="Times New Roman" pitchFamily="18" charset="0"/>
                <a:ea typeface="华文中宋" pitchFamily="2" charset="-122"/>
                <a:cs typeface="Times New Roman" pitchFamily="18" charset="0"/>
              </a:rPr>
              <a:t>值有</a:t>
            </a:r>
            <a:r>
              <a:rPr lang="en-US" altLang="zh-CN" sz="2400" b="1">
                <a:solidFill>
                  <a:schemeClr val="bg1"/>
                </a:solidFill>
                <a:latin typeface="Times New Roman" pitchFamily="18" charset="0"/>
                <a:ea typeface="华文中宋" pitchFamily="2" charset="-122"/>
                <a:cs typeface="Times New Roman" pitchFamily="18" charset="0"/>
              </a:rPr>
              <a:t>2</a:t>
            </a:r>
            <a:r>
              <a:rPr lang="en-US" altLang="zh-CN" sz="2400" b="1" i="1">
                <a:solidFill>
                  <a:schemeClr val="bg1"/>
                </a:solidFill>
                <a:latin typeface="Times New Roman" pitchFamily="18" charset="0"/>
                <a:ea typeface="华文中宋" pitchFamily="2" charset="-122"/>
                <a:cs typeface="Times New Roman" pitchFamily="18" charset="0"/>
              </a:rPr>
              <a:t>J</a:t>
            </a:r>
            <a:r>
              <a:rPr lang="en-US" altLang="zh-CN" sz="2400" b="1">
                <a:solidFill>
                  <a:schemeClr val="bg1"/>
                </a:solidFill>
                <a:latin typeface="Times New Roman" pitchFamily="18" charset="0"/>
                <a:ea typeface="华文中宋" pitchFamily="2" charset="-122"/>
                <a:cs typeface="Times New Roman" pitchFamily="18" charset="0"/>
              </a:rPr>
              <a:t>+1</a:t>
            </a:r>
            <a:r>
              <a:rPr lang="zh-CN" altLang="en-US" sz="2400" b="1">
                <a:solidFill>
                  <a:schemeClr val="bg1"/>
                </a:solidFill>
                <a:latin typeface="Times New Roman" pitchFamily="18" charset="0"/>
                <a:ea typeface="华文中宋" pitchFamily="2" charset="-122"/>
                <a:cs typeface="Times New Roman" pitchFamily="18" charset="0"/>
              </a:rPr>
              <a:t>个</a:t>
            </a:r>
            <a:r>
              <a:rPr lang="en-US" altLang="zh-CN" sz="2400" b="1" i="1">
                <a:solidFill>
                  <a:schemeClr val="bg1"/>
                </a:solidFill>
                <a:latin typeface="Times New Roman" pitchFamily="18" charset="0"/>
                <a:ea typeface="华文中宋" pitchFamily="2" charset="-122"/>
                <a:cs typeface="Times New Roman" pitchFamily="18" charset="0"/>
              </a:rPr>
              <a:t>m</a:t>
            </a:r>
            <a:r>
              <a:rPr lang="zh-CN" altLang="en-US" sz="2400" b="1">
                <a:solidFill>
                  <a:schemeClr val="bg1"/>
                </a:solidFill>
                <a:latin typeface="Times New Roman" pitchFamily="18" charset="0"/>
                <a:ea typeface="华文中宋" pitchFamily="2" charset="-122"/>
                <a:cs typeface="Times New Roman" pitchFamily="18" charset="0"/>
              </a:rPr>
              <a:t>值，因此有</a:t>
            </a:r>
            <a:r>
              <a:rPr lang="en-US" altLang="zh-CN" sz="2400" b="1">
                <a:solidFill>
                  <a:schemeClr val="bg1"/>
                </a:solidFill>
                <a:latin typeface="Times New Roman" pitchFamily="18" charset="0"/>
                <a:ea typeface="华文中宋" pitchFamily="2" charset="-122"/>
                <a:cs typeface="Times New Roman" pitchFamily="18" charset="0"/>
              </a:rPr>
              <a:t>2</a:t>
            </a:r>
            <a:r>
              <a:rPr lang="en-US" altLang="zh-CN" sz="2400" b="1" i="1">
                <a:solidFill>
                  <a:schemeClr val="bg1"/>
                </a:solidFill>
                <a:latin typeface="Times New Roman" pitchFamily="18" charset="0"/>
                <a:ea typeface="华文中宋" pitchFamily="2" charset="-122"/>
                <a:cs typeface="Times New Roman" pitchFamily="18" charset="0"/>
              </a:rPr>
              <a:t>J</a:t>
            </a:r>
            <a:r>
              <a:rPr lang="en-US" altLang="zh-CN" sz="2400" b="1">
                <a:solidFill>
                  <a:schemeClr val="bg1"/>
                </a:solidFill>
                <a:latin typeface="Times New Roman" pitchFamily="18" charset="0"/>
                <a:ea typeface="华文中宋" pitchFamily="2" charset="-122"/>
                <a:cs typeface="Times New Roman" pitchFamily="18" charset="0"/>
              </a:rPr>
              <a:t>+1</a:t>
            </a:r>
            <a:r>
              <a:rPr lang="zh-CN" altLang="en-US" sz="2400" b="1">
                <a:solidFill>
                  <a:schemeClr val="bg1"/>
                </a:solidFill>
                <a:latin typeface="Times New Roman" pitchFamily="18" charset="0"/>
                <a:ea typeface="华文中宋" pitchFamily="2" charset="-122"/>
                <a:cs typeface="Times New Roman" pitchFamily="18" charset="0"/>
              </a:rPr>
              <a:t>个量子态。 </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23559"/>
                                        </p:tgtEl>
                                        <p:attrNameLst>
                                          <p:attrName>style.visibility</p:attrName>
                                        </p:attrNameLst>
                                      </p:cBhvr>
                                      <p:to>
                                        <p:strVal val="visible"/>
                                      </p:to>
                                    </p:set>
                                    <p:animEffect transition="in" filter="barn(inHorizontal)">
                                      <p:cBhvr>
                                        <p:cTn id="12" dur="500"/>
                                        <p:tgtEl>
                                          <p:spTgt spid="2355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arn(in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23568"/>
                                        </p:tgtEl>
                                        <p:attrNameLst>
                                          <p:attrName>style.visibility</p:attrName>
                                        </p:attrNameLst>
                                      </p:cBhvr>
                                      <p:to>
                                        <p:strVal val="visible"/>
                                      </p:to>
                                    </p:set>
                                    <p:animEffect transition="in" filter="barn(inHorizontal)">
                                      <p:cBhvr>
                                        <p:cTn id="22" dur="500"/>
                                        <p:tgtEl>
                                          <p:spTgt spid="235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8"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灯片编号占位符 3"/>
          <p:cNvSpPr>
            <a:spLocks noGrp="1"/>
          </p:cNvSpPr>
          <p:nvPr>
            <p:ph type="sldNum" sz="quarter" idx="12"/>
          </p:nvPr>
        </p:nvSpPr>
        <p:spPr>
          <a:noFill/>
        </p:spPr>
        <p:txBody>
          <a:bodyPr/>
          <a:lstStyle/>
          <a:p>
            <a:fld id="{2E7FA43E-E845-48CC-A439-1A651E05D381}" type="slidenum">
              <a:rPr lang="en-US" altLang="zh-CN" smtClean="0"/>
              <a:pPr/>
              <a:t>18</a:t>
            </a:fld>
            <a:endParaRPr lang="en-US" altLang="zh-CN" smtClean="0"/>
          </a:p>
        </p:txBody>
      </p:sp>
      <p:sp>
        <p:nvSpPr>
          <p:cNvPr id="9221" name="Text Box 2"/>
          <p:cNvSpPr txBox="1">
            <a:spLocks noChangeArrowheads="1"/>
          </p:cNvSpPr>
          <p:nvPr/>
        </p:nvSpPr>
        <p:spPr bwMode="auto">
          <a:xfrm>
            <a:off x="4976813" y="0"/>
            <a:ext cx="4167187"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微观粒子运动的量子力学描述</a:t>
            </a:r>
            <a:endParaRPr lang="zh-CN" altLang="en-US" sz="2400">
              <a:solidFill>
                <a:schemeClr val="bg1"/>
              </a:solidFill>
              <a:latin typeface="Times New Roman" pitchFamily="18" charset="0"/>
            </a:endParaRPr>
          </a:p>
        </p:txBody>
      </p:sp>
      <p:sp>
        <p:nvSpPr>
          <p:cNvPr id="9222" name="Rectangle 3"/>
          <p:cNvSpPr>
            <a:spLocks noGrp="1" noRot="1" noChangeArrowheads="1"/>
          </p:cNvSpPr>
          <p:nvPr/>
        </p:nvSpPr>
        <p:spPr bwMode="auto">
          <a:xfrm>
            <a:off x="298450" y="228600"/>
            <a:ext cx="8540750" cy="1143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刚性转子的能级</a:t>
            </a:r>
          </a:p>
        </p:txBody>
      </p:sp>
      <p:grpSp>
        <p:nvGrpSpPr>
          <p:cNvPr id="2" name="Group 11"/>
          <p:cNvGrpSpPr>
            <a:grpSpLocks/>
          </p:cNvGrpSpPr>
          <p:nvPr/>
        </p:nvGrpSpPr>
        <p:grpSpPr bwMode="auto">
          <a:xfrm>
            <a:off x="1660525" y="1371600"/>
            <a:ext cx="4267200" cy="839788"/>
            <a:chOff x="1046" y="864"/>
            <a:chExt cx="2688" cy="529"/>
          </a:xfrm>
        </p:grpSpPr>
        <p:graphicFrame>
          <p:nvGraphicFramePr>
            <p:cNvPr id="9219" name="Object 4"/>
            <p:cNvGraphicFramePr>
              <a:graphicFrameLocks noChangeAspect="1"/>
            </p:cNvGraphicFramePr>
            <p:nvPr/>
          </p:nvGraphicFramePr>
          <p:xfrm>
            <a:off x="2496" y="864"/>
            <a:ext cx="1238" cy="529"/>
          </p:xfrm>
          <a:graphic>
            <a:graphicData uri="http://schemas.openxmlformats.org/presentationml/2006/ole">
              <p:oleObj spid="_x0000_s9219" r:id="rId3" imgW="977900" imgH="419100" progId="Equation.DSMT4">
                <p:embed/>
              </p:oleObj>
            </a:graphicData>
          </a:graphic>
        </p:graphicFrame>
        <p:sp>
          <p:nvSpPr>
            <p:cNvPr id="9227" name="Text Box 8"/>
            <p:cNvSpPr txBox="1">
              <a:spLocks noChangeArrowheads="1"/>
            </p:cNvSpPr>
            <p:nvPr/>
          </p:nvSpPr>
          <p:spPr bwMode="auto">
            <a:xfrm>
              <a:off x="1046" y="973"/>
              <a:ext cx="649" cy="291"/>
            </a:xfrm>
            <a:prstGeom prst="rect">
              <a:avLst/>
            </a:prstGeom>
            <a:noFill/>
            <a:ln w="9525">
              <a:noFill/>
              <a:miter lim="800000"/>
              <a:headEnd/>
              <a:tailEnd/>
            </a:ln>
          </p:spPr>
          <p:txBody>
            <a:bodyPr wrap="none">
              <a:spAutoFit/>
            </a:bodyPr>
            <a:lstStyle/>
            <a:p>
              <a:r>
                <a:rPr lang="zh-CN" altLang="en-US" sz="2400" b="1" dirty="0">
                  <a:solidFill>
                    <a:schemeClr val="bg1"/>
                  </a:solidFill>
                  <a:latin typeface="Times New Roman" pitchFamily="18" charset="0"/>
                  <a:ea typeface="华文中宋" pitchFamily="2" charset="-122"/>
                  <a:cs typeface="Times New Roman" pitchFamily="18" charset="0"/>
                </a:rPr>
                <a:t>能  级 </a:t>
              </a:r>
            </a:p>
          </p:txBody>
        </p:sp>
      </p:grpSp>
      <p:grpSp>
        <p:nvGrpSpPr>
          <p:cNvPr id="3" name="Group 12"/>
          <p:cNvGrpSpPr>
            <a:grpSpLocks/>
          </p:cNvGrpSpPr>
          <p:nvPr/>
        </p:nvGrpSpPr>
        <p:grpSpPr bwMode="auto">
          <a:xfrm>
            <a:off x="1660525" y="2154238"/>
            <a:ext cx="3119438" cy="492125"/>
            <a:chOff x="1046" y="1357"/>
            <a:chExt cx="1965" cy="310"/>
          </a:xfrm>
        </p:grpSpPr>
        <p:graphicFrame>
          <p:nvGraphicFramePr>
            <p:cNvPr id="9218" name="Object 6"/>
            <p:cNvGraphicFramePr>
              <a:graphicFrameLocks noChangeAspect="1"/>
            </p:cNvGraphicFramePr>
            <p:nvPr/>
          </p:nvGraphicFramePr>
          <p:xfrm>
            <a:off x="2496" y="1440"/>
            <a:ext cx="515" cy="227"/>
          </p:xfrm>
          <a:graphic>
            <a:graphicData uri="http://schemas.openxmlformats.org/presentationml/2006/ole">
              <p:oleObj spid="_x0000_s9218" r:id="rId4" imgW="405872" imgH="177569" progId="Equation.DSMT4">
                <p:embed/>
              </p:oleObj>
            </a:graphicData>
          </a:graphic>
        </p:graphicFrame>
        <p:sp>
          <p:nvSpPr>
            <p:cNvPr id="9226" name="Text Box 9"/>
            <p:cNvSpPr txBox="1">
              <a:spLocks noChangeArrowheads="1"/>
            </p:cNvSpPr>
            <p:nvPr/>
          </p:nvSpPr>
          <p:spPr bwMode="auto">
            <a:xfrm>
              <a:off x="1046" y="1357"/>
              <a:ext cx="761" cy="291"/>
            </a:xfrm>
            <a:prstGeom prst="rect">
              <a:avLst/>
            </a:prstGeom>
            <a:noFill/>
            <a:ln w="9525">
              <a:noFill/>
              <a:miter lim="800000"/>
              <a:headEnd/>
              <a:tailEnd/>
            </a:ln>
          </p:spPr>
          <p:txBody>
            <a:bodyPr wrap="none">
              <a:spAutoFit/>
            </a:bodyPr>
            <a:lstStyle/>
            <a:p>
              <a:r>
                <a:rPr lang="zh-CN" altLang="en-US" sz="2400" b="1" dirty="0">
                  <a:solidFill>
                    <a:schemeClr val="bg1"/>
                  </a:solidFill>
                  <a:latin typeface="Times New Roman" pitchFamily="18" charset="0"/>
                  <a:ea typeface="华文中宋" pitchFamily="2" charset="-122"/>
                  <a:cs typeface="Times New Roman" pitchFamily="18" charset="0"/>
                </a:rPr>
                <a:t>简并度 </a:t>
              </a:r>
            </a:p>
          </p:txBody>
        </p:sp>
      </p:grpSp>
      <p:sp>
        <p:nvSpPr>
          <p:cNvPr id="24586" name="Text Box 10"/>
          <p:cNvSpPr txBox="1">
            <a:spLocks noChangeArrowheads="1"/>
          </p:cNvSpPr>
          <p:nvPr/>
        </p:nvSpPr>
        <p:spPr bwMode="auto">
          <a:xfrm>
            <a:off x="838200" y="3127375"/>
            <a:ext cx="8276625" cy="2308324"/>
          </a:xfrm>
          <a:prstGeom prst="rect">
            <a:avLst/>
          </a:prstGeom>
          <a:noFill/>
          <a:ln w="9525">
            <a:noFill/>
            <a:miter lim="800000"/>
            <a:headEnd/>
            <a:tailEnd/>
          </a:ln>
        </p:spPr>
        <p:txBody>
          <a:bodyPr wrap="none">
            <a:spAutoFit/>
          </a:bodyPr>
          <a:lstStyle/>
          <a:p>
            <a:pPr marL="457200" indent="-457200"/>
            <a:r>
              <a:rPr lang="zh-CN" altLang="en-US" sz="2400" b="1" dirty="0">
                <a:solidFill>
                  <a:schemeClr val="bg1"/>
                </a:solidFill>
                <a:latin typeface="Times New Roman" pitchFamily="18" charset="0"/>
                <a:ea typeface="华文中宋" pitchFamily="2" charset="-122"/>
                <a:cs typeface="Times New Roman" pitchFamily="18" charset="0"/>
              </a:rPr>
              <a:t>分析：</a:t>
            </a:r>
          </a:p>
          <a:p>
            <a:pPr marL="457200" indent="-457200">
              <a:buFontTx/>
              <a:buAutoNum type="arabicPeriod"/>
            </a:pPr>
            <a:r>
              <a:rPr lang="zh-CN" altLang="en-US" sz="2400" b="1" dirty="0">
                <a:solidFill>
                  <a:schemeClr val="bg1"/>
                </a:solidFill>
                <a:latin typeface="Times New Roman" pitchFamily="18" charset="0"/>
                <a:ea typeface="华文中宋" pitchFamily="2" charset="-122"/>
                <a:cs typeface="Times New Roman" pitchFamily="18" charset="0"/>
              </a:rPr>
              <a:t>量子态和能级是量子化的；</a:t>
            </a:r>
          </a:p>
          <a:p>
            <a:pPr marL="457200" indent="-457200">
              <a:buFontTx/>
              <a:buAutoNum type="arabicPeriod"/>
            </a:pPr>
            <a:r>
              <a:rPr lang="zh-CN" altLang="en-US" sz="2400" b="1" dirty="0">
                <a:solidFill>
                  <a:schemeClr val="bg1"/>
                </a:solidFill>
                <a:latin typeface="Times New Roman" pitchFamily="18" charset="0"/>
                <a:ea typeface="华文中宋" pitchFamily="2" charset="-122"/>
                <a:cs typeface="Times New Roman" pitchFamily="18" charset="0"/>
              </a:rPr>
              <a:t>能级只与转动量子数</a:t>
            </a:r>
            <a:r>
              <a:rPr lang="en-US" altLang="zh-CN" sz="2400" b="1" i="1" dirty="0">
                <a:solidFill>
                  <a:schemeClr val="bg1"/>
                </a:solidFill>
                <a:latin typeface="Times New Roman" pitchFamily="18" charset="0"/>
                <a:ea typeface="华文中宋" pitchFamily="2" charset="-122"/>
                <a:cs typeface="Times New Roman" pitchFamily="18" charset="0"/>
              </a:rPr>
              <a:t>J</a:t>
            </a:r>
            <a:r>
              <a:rPr lang="zh-CN" altLang="en-US" sz="2400" b="1" dirty="0">
                <a:solidFill>
                  <a:schemeClr val="bg1"/>
                </a:solidFill>
                <a:latin typeface="Times New Roman" pitchFamily="18" charset="0"/>
                <a:ea typeface="华文中宋" pitchFamily="2" charset="-122"/>
                <a:cs typeface="Times New Roman" pitchFamily="18" charset="0"/>
              </a:rPr>
              <a:t>有关，因此简并度</a:t>
            </a:r>
            <a:r>
              <a:rPr lang="en-US" altLang="zh-CN" sz="2400" b="1" i="1" dirty="0" err="1">
                <a:solidFill>
                  <a:schemeClr val="bg1"/>
                </a:solidFill>
                <a:latin typeface="Times New Roman" pitchFamily="18" charset="0"/>
                <a:ea typeface="华文中宋" pitchFamily="2" charset="-122"/>
                <a:cs typeface="Times New Roman" pitchFamily="18" charset="0"/>
              </a:rPr>
              <a:t>g</a:t>
            </a:r>
            <a:r>
              <a:rPr lang="en-US" altLang="zh-CN" sz="2400" b="1" i="1" baseline="-30000" dirty="0" err="1">
                <a:solidFill>
                  <a:schemeClr val="bg1"/>
                </a:solidFill>
                <a:latin typeface="Times New Roman" pitchFamily="18" charset="0"/>
                <a:ea typeface="华文中宋" pitchFamily="2" charset="-122"/>
                <a:cs typeface="Times New Roman" pitchFamily="18" charset="0"/>
              </a:rPr>
              <a:t>r</a:t>
            </a:r>
            <a:r>
              <a:rPr lang="en-US" altLang="zh-CN" sz="2400" b="1" dirty="0">
                <a:solidFill>
                  <a:schemeClr val="bg1"/>
                </a:solidFill>
                <a:latin typeface="Times New Roman" pitchFamily="18" charset="0"/>
                <a:ea typeface="华文中宋" pitchFamily="2" charset="-122"/>
                <a:cs typeface="Times New Roman" pitchFamily="18" charset="0"/>
              </a:rPr>
              <a:t>=2</a:t>
            </a:r>
            <a:r>
              <a:rPr lang="en-US" altLang="zh-CN" sz="2400" b="1" i="1" dirty="0">
                <a:solidFill>
                  <a:schemeClr val="bg1"/>
                </a:solidFill>
                <a:latin typeface="Times New Roman" pitchFamily="18" charset="0"/>
                <a:ea typeface="华文中宋" pitchFamily="2" charset="-122"/>
                <a:cs typeface="Times New Roman" pitchFamily="18" charset="0"/>
              </a:rPr>
              <a:t>J</a:t>
            </a:r>
            <a:r>
              <a:rPr lang="en-US" altLang="zh-CN" sz="2400" b="1" dirty="0">
                <a:solidFill>
                  <a:schemeClr val="bg1"/>
                </a:solidFill>
                <a:latin typeface="Times New Roman" pitchFamily="18" charset="0"/>
                <a:ea typeface="华文中宋" pitchFamily="2" charset="-122"/>
                <a:cs typeface="Times New Roman" pitchFamily="18" charset="0"/>
              </a:rPr>
              <a:t>+1 </a:t>
            </a:r>
            <a:r>
              <a:rPr lang="zh-CN" altLang="en-US" sz="2400" b="1" dirty="0">
                <a:solidFill>
                  <a:schemeClr val="bg1"/>
                </a:solidFill>
                <a:latin typeface="Times New Roman" pitchFamily="18" charset="0"/>
                <a:ea typeface="华文中宋" pitchFamily="2" charset="-122"/>
                <a:cs typeface="Times New Roman" pitchFamily="18" charset="0"/>
              </a:rPr>
              <a:t>，转子</a:t>
            </a:r>
          </a:p>
          <a:p>
            <a:pPr marL="457200" indent="-457200"/>
            <a:r>
              <a:rPr lang="zh-CN" altLang="en-US" sz="2400" b="1" dirty="0">
                <a:solidFill>
                  <a:schemeClr val="bg1"/>
                </a:solidFill>
                <a:latin typeface="Times New Roman" pitchFamily="18" charset="0"/>
                <a:ea typeface="华文中宋" pitchFamily="2" charset="-122"/>
                <a:cs typeface="Times New Roman" pitchFamily="18" charset="0"/>
              </a:rPr>
              <a:t>      的最低能级是非简并的，角动量可取为</a:t>
            </a:r>
            <a:r>
              <a:rPr lang="en-US" altLang="zh-CN" sz="2400" b="1" dirty="0">
                <a:solidFill>
                  <a:schemeClr val="bg1"/>
                </a:solidFill>
                <a:latin typeface="Times New Roman" pitchFamily="18" charset="0"/>
                <a:ea typeface="华文中宋" pitchFamily="2" charset="-122"/>
                <a:cs typeface="Times New Roman" pitchFamily="18" charset="0"/>
              </a:rPr>
              <a:t>0</a:t>
            </a:r>
            <a:r>
              <a:rPr lang="zh-CN" altLang="en-US" sz="2400" b="1" dirty="0">
                <a:solidFill>
                  <a:schemeClr val="bg1"/>
                </a:solidFill>
                <a:latin typeface="Times New Roman" pitchFamily="18" charset="0"/>
                <a:ea typeface="华文中宋" pitchFamily="2" charset="-122"/>
                <a:cs typeface="Times New Roman" pitchFamily="18" charset="0"/>
              </a:rPr>
              <a:t>；</a:t>
            </a:r>
          </a:p>
          <a:p>
            <a:pPr marL="457200" indent="-457200">
              <a:buFontTx/>
              <a:buAutoNum type="arabicPeriod" startAt="3"/>
            </a:pPr>
            <a:r>
              <a:rPr lang="zh-CN" altLang="en-US" sz="2400" b="1" dirty="0">
                <a:solidFill>
                  <a:schemeClr val="bg1"/>
                </a:solidFill>
                <a:latin typeface="Times New Roman" pitchFamily="18" charset="0"/>
                <a:ea typeface="华文中宋" pitchFamily="2" charset="-122"/>
                <a:cs typeface="Times New Roman" pitchFamily="18" charset="0"/>
              </a:rPr>
              <a:t>能级只取决于转动惯量</a:t>
            </a:r>
            <a:r>
              <a:rPr lang="en-US" altLang="zh-CN" sz="2400" b="1" i="1" dirty="0">
                <a:solidFill>
                  <a:schemeClr val="bg1"/>
                </a:solidFill>
                <a:latin typeface="Times New Roman" pitchFamily="18" charset="0"/>
                <a:ea typeface="华文中宋" pitchFamily="2" charset="-122"/>
                <a:cs typeface="Times New Roman" pitchFamily="18" charset="0"/>
              </a:rPr>
              <a:t>I</a:t>
            </a:r>
            <a:r>
              <a:rPr lang="zh-CN" altLang="en-US" sz="2400" b="1" dirty="0">
                <a:solidFill>
                  <a:schemeClr val="bg1"/>
                </a:solidFill>
                <a:latin typeface="Times New Roman" pitchFamily="18" charset="0"/>
                <a:ea typeface="华文中宋" pitchFamily="2" charset="-122"/>
                <a:cs typeface="Times New Roman" pitchFamily="18" charset="0"/>
              </a:rPr>
              <a:t>，球半径越小，量子化越显著；</a:t>
            </a:r>
          </a:p>
          <a:p>
            <a:pPr marL="457200" indent="-457200">
              <a:buFontTx/>
              <a:buAutoNum type="arabicPeriod" startAt="3"/>
            </a:pPr>
            <a:r>
              <a:rPr lang="zh-CN" altLang="en-US" sz="2400" b="1" dirty="0">
                <a:solidFill>
                  <a:schemeClr val="bg1"/>
                </a:solidFill>
                <a:latin typeface="Times New Roman" pitchFamily="18" charset="0"/>
                <a:ea typeface="华文中宋" pitchFamily="2" charset="-122"/>
                <a:cs typeface="Times New Roman" pitchFamily="18" charset="0"/>
              </a:rPr>
              <a:t>能量非连续。 </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24586"/>
                                        </p:tgtEl>
                                        <p:attrNameLst>
                                          <p:attrName>style.visibility</p:attrName>
                                        </p:attrNameLst>
                                      </p:cBhvr>
                                      <p:to>
                                        <p:strVal val="visible"/>
                                      </p:to>
                                    </p:set>
                                    <p:animEffect transition="in" filter="barn(inHorizontal)">
                                      <p:cBhvr>
                                        <p:cTn id="17" dur="500"/>
                                        <p:tgtEl>
                                          <p:spTgt spid="245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6"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0" name="灯片编号占位符 3"/>
          <p:cNvSpPr>
            <a:spLocks noGrp="1"/>
          </p:cNvSpPr>
          <p:nvPr>
            <p:ph type="sldNum" sz="quarter" idx="12"/>
          </p:nvPr>
        </p:nvSpPr>
        <p:spPr>
          <a:noFill/>
        </p:spPr>
        <p:txBody>
          <a:bodyPr/>
          <a:lstStyle/>
          <a:p>
            <a:fld id="{45CE369D-EA57-4D6B-BC77-2517F24091FD}" type="slidenum">
              <a:rPr lang="en-US" altLang="zh-CN" smtClean="0">
                <a:latin typeface="Times New Roman" pitchFamily="18" charset="0"/>
                <a:ea typeface="华文中宋" pitchFamily="2" charset="-122"/>
                <a:cs typeface="Times New Roman" pitchFamily="18" charset="0"/>
              </a:rPr>
              <a:pPr/>
              <a:t>19</a:t>
            </a:fld>
            <a:endParaRPr lang="en-US" altLang="zh-CN" smtClean="0">
              <a:latin typeface="Times New Roman" pitchFamily="18" charset="0"/>
              <a:ea typeface="华文中宋" pitchFamily="2" charset="-122"/>
              <a:cs typeface="Times New Roman" pitchFamily="18" charset="0"/>
            </a:endParaRPr>
          </a:p>
        </p:txBody>
      </p:sp>
      <p:sp>
        <p:nvSpPr>
          <p:cNvPr id="10251" name="Text Box 2"/>
          <p:cNvSpPr txBox="1">
            <a:spLocks noChangeArrowheads="1"/>
          </p:cNvSpPr>
          <p:nvPr/>
        </p:nvSpPr>
        <p:spPr bwMode="auto">
          <a:xfrm>
            <a:off x="4976813" y="0"/>
            <a:ext cx="4167187"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微观粒子运动的量子力学描述</a:t>
            </a:r>
            <a:endParaRPr lang="zh-CN" altLang="en-US" sz="2400">
              <a:solidFill>
                <a:schemeClr val="bg1"/>
              </a:solidFill>
              <a:latin typeface="Times New Roman" pitchFamily="18" charset="0"/>
            </a:endParaRPr>
          </a:p>
        </p:txBody>
      </p:sp>
      <p:sp>
        <p:nvSpPr>
          <p:cNvPr id="10252" name="Rectangle 3"/>
          <p:cNvSpPr>
            <a:spLocks noGrp="1" noRot="1" noChangeArrowheads="1"/>
          </p:cNvSpPr>
          <p:nvPr/>
        </p:nvSpPr>
        <p:spPr bwMode="auto">
          <a:xfrm>
            <a:off x="298450" y="228600"/>
            <a:ext cx="8540750" cy="1143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谐振子的量子态和能级</a:t>
            </a:r>
          </a:p>
        </p:txBody>
      </p:sp>
      <p:grpSp>
        <p:nvGrpSpPr>
          <p:cNvPr id="2" name="Group 35"/>
          <p:cNvGrpSpPr>
            <a:grpSpLocks/>
          </p:cNvGrpSpPr>
          <p:nvPr/>
        </p:nvGrpSpPr>
        <p:grpSpPr bwMode="auto">
          <a:xfrm>
            <a:off x="533400" y="1295400"/>
            <a:ext cx="8874126" cy="1352550"/>
            <a:chOff x="336" y="816"/>
            <a:chExt cx="5590" cy="852"/>
          </a:xfrm>
        </p:grpSpPr>
        <p:graphicFrame>
          <p:nvGraphicFramePr>
            <p:cNvPr id="10248" name="Object 6"/>
            <p:cNvGraphicFramePr>
              <a:graphicFrameLocks noChangeAspect="1"/>
            </p:cNvGraphicFramePr>
            <p:nvPr/>
          </p:nvGraphicFramePr>
          <p:xfrm>
            <a:off x="3408" y="880"/>
            <a:ext cx="152" cy="176"/>
          </p:xfrm>
          <a:graphic>
            <a:graphicData uri="http://schemas.openxmlformats.org/presentationml/2006/ole">
              <p:oleObj spid="_x0000_s10248" r:id="rId3" imgW="126835" imgH="139518" progId="Equation.DSMT4">
                <p:embed/>
              </p:oleObj>
            </a:graphicData>
          </a:graphic>
        </p:graphicFrame>
        <p:grpSp>
          <p:nvGrpSpPr>
            <p:cNvPr id="10266" name="Group 30"/>
            <p:cNvGrpSpPr>
              <a:grpSpLocks/>
            </p:cNvGrpSpPr>
            <p:nvPr/>
          </p:nvGrpSpPr>
          <p:grpSpPr bwMode="auto">
            <a:xfrm>
              <a:off x="336" y="816"/>
              <a:ext cx="5590" cy="852"/>
              <a:chOff x="336" y="816"/>
              <a:chExt cx="5590" cy="852"/>
            </a:xfrm>
          </p:grpSpPr>
          <p:sp>
            <p:nvSpPr>
              <p:cNvPr id="10267" name="Text Box 4"/>
              <p:cNvSpPr txBox="1">
                <a:spLocks noChangeArrowheads="1"/>
              </p:cNvSpPr>
              <p:nvPr/>
            </p:nvSpPr>
            <p:spPr bwMode="auto">
              <a:xfrm>
                <a:off x="336" y="816"/>
                <a:ext cx="5590"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质量为</a:t>
                </a:r>
                <a:r>
                  <a:rPr lang="en-US" altLang="zh-CN" sz="2400" b="1" i="1">
                    <a:solidFill>
                      <a:schemeClr val="bg1"/>
                    </a:solidFill>
                    <a:latin typeface="Times New Roman" pitchFamily="18" charset="0"/>
                    <a:ea typeface="华文中宋" pitchFamily="2" charset="-122"/>
                    <a:cs typeface="Times New Roman" pitchFamily="18" charset="0"/>
                  </a:rPr>
                  <a:t>m</a:t>
                </a:r>
                <a:r>
                  <a:rPr lang="zh-CN" altLang="en-US" sz="2400" b="1">
                    <a:solidFill>
                      <a:schemeClr val="bg1"/>
                    </a:solidFill>
                    <a:latin typeface="Times New Roman" pitchFamily="18" charset="0"/>
                    <a:ea typeface="华文中宋" pitchFamily="2" charset="-122"/>
                    <a:cs typeface="Times New Roman" pitchFamily="18" charset="0"/>
                  </a:rPr>
                  <a:t>的一维谐振子，其振动频率  与弹力常数</a:t>
                </a:r>
                <a:r>
                  <a:rPr lang="en-US" altLang="zh-CN" sz="2400" b="1" i="1">
                    <a:solidFill>
                      <a:schemeClr val="bg1"/>
                    </a:solidFill>
                    <a:latin typeface="Times New Roman" pitchFamily="18" charset="0"/>
                    <a:ea typeface="华文中宋" pitchFamily="2" charset="-122"/>
                    <a:cs typeface="Times New Roman" pitchFamily="18" charset="0"/>
                  </a:rPr>
                  <a:t>f</a:t>
                </a:r>
                <a:r>
                  <a:rPr lang="zh-CN" altLang="en-US" sz="2400" b="1">
                    <a:solidFill>
                      <a:schemeClr val="bg1"/>
                    </a:solidFill>
                    <a:latin typeface="Times New Roman" pitchFamily="18" charset="0"/>
                    <a:ea typeface="华文中宋" pitchFamily="2" charset="-122"/>
                    <a:cs typeface="Times New Roman" pitchFamily="18" charset="0"/>
                  </a:rPr>
                  <a:t>之间的关系为 </a:t>
                </a:r>
              </a:p>
            </p:txBody>
          </p:sp>
          <p:graphicFrame>
            <p:nvGraphicFramePr>
              <p:cNvPr id="10249" name="Object 7"/>
              <p:cNvGraphicFramePr>
                <a:graphicFrameLocks noChangeAspect="1"/>
              </p:cNvGraphicFramePr>
              <p:nvPr/>
            </p:nvGraphicFramePr>
            <p:xfrm>
              <a:off x="1693" y="1104"/>
              <a:ext cx="2099" cy="564"/>
            </p:xfrm>
            <a:graphic>
              <a:graphicData uri="http://schemas.openxmlformats.org/presentationml/2006/ole">
                <p:oleObj spid="_x0000_s10249" r:id="rId4" imgW="1663700" imgH="444500" progId="Equation.DSMT4">
                  <p:embed/>
                </p:oleObj>
              </a:graphicData>
            </a:graphic>
          </p:graphicFrame>
        </p:grpSp>
      </p:grpSp>
      <p:sp>
        <p:nvSpPr>
          <p:cNvPr id="25609" name="Text Box 9"/>
          <p:cNvSpPr txBox="1">
            <a:spLocks noChangeArrowheads="1"/>
          </p:cNvSpPr>
          <p:nvPr/>
        </p:nvSpPr>
        <p:spPr bwMode="auto">
          <a:xfrm>
            <a:off x="533400" y="2667000"/>
            <a:ext cx="6112571" cy="461665"/>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求解一维谐振子的</a:t>
            </a:r>
            <a:r>
              <a:rPr lang="en-US" altLang="zh-CN" sz="2400" b="1">
                <a:solidFill>
                  <a:schemeClr val="bg1"/>
                </a:solidFill>
                <a:latin typeface="Times New Roman" pitchFamily="18" charset="0"/>
                <a:ea typeface="华文中宋" pitchFamily="2" charset="-122"/>
                <a:cs typeface="Times New Roman" pitchFamily="18" charset="0"/>
              </a:rPr>
              <a:t>Schrodinger</a:t>
            </a:r>
            <a:r>
              <a:rPr lang="zh-CN" altLang="en-US" sz="2400" b="1">
                <a:solidFill>
                  <a:schemeClr val="bg1"/>
                </a:solidFill>
                <a:latin typeface="Times New Roman" pitchFamily="18" charset="0"/>
                <a:ea typeface="华文中宋" pitchFamily="2" charset="-122"/>
                <a:cs typeface="Times New Roman" pitchFamily="18" charset="0"/>
              </a:rPr>
              <a:t>方程可得： </a:t>
            </a:r>
          </a:p>
        </p:txBody>
      </p:sp>
      <p:grpSp>
        <p:nvGrpSpPr>
          <p:cNvPr id="4" name="Group 31"/>
          <p:cNvGrpSpPr>
            <a:grpSpLocks/>
          </p:cNvGrpSpPr>
          <p:nvPr/>
        </p:nvGrpSpPr>
        <p:grpSpPr bwMode="auto">
          <a:xfrm>
            <a:off x="1279525" y="3124200"/>
            <a:ext cx="5522913" cy="895350"/>
            <a:chOff x="806" y="1968"/>
            <a:chExt cx="3479" cy="564"/>
          </a:xfrm>
        </p:grpSpPr>
        <p:sp>
          <p:nvSpPr>
            <p:cNvPr id="10265" name="Text Box 10"/>
            <p:cNvSpPr txBox="1">
              <a:spLocks noChangeArrowheads="1"/>
            </p:cNvSpPr>
            <p:nvPr/>
          </p:nvSpPr>
          <p:spPr bwMode="auto">
            <a:xfrm>
              <a:off x="806" y="2077"/>
              <a:ext cx="761"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波函数 </a:t>
              </a:r>
            </a:p>
          </p:txBody>
        </p:sp>
        <p:graphicFrame>
          <p:nvGraphicFramePr>
            <p:cNvPr id="10247" name="Object 5"/>
            <p:cNvGraphicFramePr>
              <a:graphicFrameLocks noChangeAspect="1"/>
            </p:cNvGraphicFramePr>
            <p:nvPr/>
          </p:nvGraphicFramePr>
          <p:xfrm>
            <a:off x="1728" y="1968"/>
            <a:ext cx="2557" cy="564"/>
          </p:xfrm>
          <a:graphic>
            <a:graphicData uri="http://schemas.openxmlformats.org/presentationml/2006/ole">
              <p:oleObj spid="_x0000_s10247" r:id="rId5" imgW="2032000" imgH="444500" progId="Equation.DSMT4">
                <p:embed/>
              </p:oleObj>
            </a:graphicData>
          </a:graphic>
        </p:graphicFrame>
      </p:grpSp>
      <p:grpSp>
        <p:nvGrpSpPr>
          <p:cNvPr id="5" name="Group 32"/>
          <p:cNvGrpSpPr>
            <a:grpSpLocks/>
          </p:cNvGrpSpPr>
          <p:nvPr/>
        </p:nvGrpSpPr>
        <p:grpSpPr bwMode="auto">
          <a:xfrm>
            <a:off x="1355725" y="4097338"/>
            <a:ext cx="3292475" cy="779462"/>
            <a:chOff x="854" y="2581"/>
            <a:chExt cx="2074" cy="491"/>
          </a:xfrm>
        </p:grpSpPr>
        <p:sp>
          <p:nvSpPr>
            <p:cNvPr id="10264" name="Text Box 13"/>
            <p:cNvSpPr txBox="1">
              <a:spLocks noChangeArrowheads="1"/>
            </p:cNvSpPr>
            <p:nvPr/>
          </p:nvSpPr>
          <p:spPr bwMode="auto">
            <a:xfrm>
              <a:off x="854" y="2701"/>
              <a:ext cx="649"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能  级 </a:t>
              </a:r>
            </a:p>
          </p:txBody>
        </p:sp>
        <p:graphicFrame>
          <p:nvGraphicFramePr>
            <p:cNvPr id="10246" name="Object 4"/>
            <p:cNvGraphicFramePr>
              <a:graphicFrameLocks noChangeAspect="1"/>
            </p:cNvGraphicFramePr>
            <p:nvPr/>
          </p:nvGraphicFramePr>
          <p:xfrm>
            <a:off x="1790" y="2581"/>
            <a:ext cx="1138" cy="491"/>
          </p:xfrm>
          <a:graphic>
            <a:graphicData uri="http://schemas.openxmlformats.org/presentationml/2006/ole">
              <p:oleObj spid="_x0000_s10246" r:id="rId6" imgW="901309" imgH="393529" progId="Equation.DSMT4">
                <p:embed/>
              </p:oleObj>
            </a:graphicData>
          </a:graphic>
        </p:graphicFrame>
      </p:grpSp>
      <p:grpSp>
        <p:nvGrpSpPr>
          <p:cNvPr id="6" name="Group 33"/>
          <p:cNvGrpSpPr>
            <a:grpSpLocks/>
          </p:cNvGrpSpPr>
          <p:nvPr/>
        </p:nvGrpSpPr>
        <p:grpSpPr bwMode="auto">
          <a:xfrm>
            <a:off x="1355725" y="5029205"/>
            <a:ext cx="2324100" cy="482601"/>
            <a:chOff x="854" y="3168"/>
            <a:chExt cx="1464" cy="304"/>
          </a:xfrm>
        </p:grpSpPr>
        <p:sp>
          <p:nvSpPr>
            <p:cNvPr id="10263" name="Text Box 18"/>
            <p:cNvSpPr txBox="1">
              <a:spLocks noChangeArrowheads="1"/>
            </p:cNvSpPr>
            <p:nvPr/>
          </p:nvSpPr>
          <p:spPr bwMode="auto">
            <a:xfrm>
              <a:off x="854" y="3181"/>
              <a:ext cx="761"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简并度 </a:t>
              </a:r>
            </a:p>
          </p:txBody>
        </p:sp>
        <p:graphicFrame>
          <p:nvGraphicFramePr>
            <p:cNvPr id="10245" name="Object 3"/>
            <p:cNvGraphicFramePr>
              <a:graphicFrameLocks noChangeAspect="1"/>
            </p:cNvGraphicFramePr>
            <p:nvPr/>
          </p:nvGraphicFramePr>
          <p:xfrm>
            <a:off x="1824" y="3168"/>
            <a:ext cx="494" cy="289"/>
          </p:xfrm>
          <a:graphic>
            <a:graphicData uri="http://schemas.openxmlformats.org/presentationml/2006/ole">
              <p:oleObj spid="_x0000_s10245" r:id="rId7" imgW="393529" imgH="228501" progId="Equation.DSMT4">
                <p:embed/>
              </p:oleObj>
            </a:graphicData>
          </a:graphic>
        </p:graphicFrame>
      </p:grpSp>
      <p:sp>
        <p:nvSpPr>
          <p:cNvPr id="25621" name="Text Box 21"/>
          <p:cNvSpPr txBox="1">
            <a:spLocks noChangeArrowheads="1"/>
          </p:cNvSpPr>
          <p:nvPr/>
        </p:nvSpPr>
        <p:spPr bwMode="auto">
          <a:xfrm>
            <a:off x="3946525" y="5029200"/>
            <a:ext cx="2789238" cy="457200"/>
          </a:xfrm>
          <a:prstGeom prst="rect">
            <a:avLst/>
          </a:prstGeom>
          <a:solidFill>
            <a:schemeClr val="hlink"/>
          </a:solidFill>
          <a:ln w="9525">
            <a:noFill/>
            <a:miter lim="800000"/>
            <a:headEnd/>
            <a:tailEnd/>
          </a:ln>
        </p:spPr>
        <p:txBody>
          <a:bodyPr wrap="none">
            <a:spAutoFit/>
          </a:bodyPr>
          <a:lstStyle/>
          <a:p>
            <a:r>
              <a:rPr lang="zh-CN" altLang="en-US" sz="2400" b="1">
                <a:solidFill>
                  <a:srgbClr val="D2DC08"/>
                </a:solidFill>
                <a:latin typeface="Times New Roman" pitchFamily="18" charset="0"/>
                <a:ea typeface="华文中宋" pitchFamily="2" charset="-122"/>
                <a:cs typeface="Times New Roman" pitchFamily="18" charset="0"/>
              </a:rPr>
              <a:t>各能级为非简并的 </a:t>
            </a:r>
          </a:p>
        </p:txBody>
      </p:sp>
      <p:grpSp>
        <p:nvGrpSpPr>
          <p:cNvPr id="7" name="Group 36"/>
          <p:cNvGrpSpPr>
            <a:grpSpLocks/>
          </p:cNvGrpSpPr>
          <p:nvPr/>
        </p:nvGrpSpPr>
        <p:grpSpPr bwMode="auto">
          <a:xfrm>
            <a:off x="609600" y="5429264"/>
            <a:ext cx="8724900" cy="1443038"/>
            <a:chOff x="384" y="3470"/>
            <a:chExt cx="5496" cy="909"/>
          </a:xfrm>
        </p:grpSpPr>
        <p:graphicFrame>
          <p:nvGraphicFramePr>
            <p:cNvPr id="10242" name="Object 0"/>
            <p:cNvGraphicFramePr>
              <a:graphicFrameLocks noChangeAspect="1"/>
            </p:cNvGraphicFramePr>
            <p:nvPr/>
          </p:nvGraphicFramePr>
          <p:xfrm>
            <a:off x="2688" y="3743"/>
            <a:ext cx="626" cy="289"/>
          </p:xfrm>
          <a:graphic>
            <a:graphicData uri="http://schemas.openxmlformats.org/presentationml/2006/ole">
              <p:oleObj spid="_x0000_s10242" r:id="rId8" imgW="495085" imgH="228501" progId="Equation.DSMT4">
                <p:embed/>
              </p:oleObj>
            </a:graphicData>
          </a:graphic>
        </p:graphicFrame>
        <p:grpSp>
          <p:nvGrpSpPr>
            <p:cNvPr id="10260" name="Group 34"/>
            <p:cNvGrpSpPr>
              <a:grpSpLocks/>
            </p:cNvGrpSpPr>
            <p:nvPr/>
          </p:nvGrpSpPr>
          <p:grpSpPr bwMode="auto">
            <a:xfrm>
              <a:off x="384" y="3470"/>
              <a:ext cx="5496" cy="909"/>
              <a:chOff x="384" y="3470"/>
              <a:chExt cx="5496" cy="909"/>
            </a:xfrm>
          </p:grpSpPr>
          <p:sp>
            <p:nvSpPr>
              <p:cNvPr id="10261" name="Text Box 22"/>
              <p:cNvSpPr txBox="1">
                <a:spLocks noChangeArrowheads="1"/>
              </p:cNvSpPr>
              <p:nvPr/>
            </p:nvSpPr>
            <p:spPr bwMode="auto">
              <a:xfrm>
                <a:off x="614" y="3613"/>
                <a:ext cx="761" cy="291"/>
              </a:xfrm>
              <a:prstGeom prst="rect">
                <a:avLst/>
              </a:prstGeom>
              <a:noFill/>
              <a:ln w="9525">
                <a:noFill/>
                <a:miter lim="800000"/>
                <a:headEnd/>
                <a:tailEnd/>
              </a:ln>
            </p:spPr>
            <p:txBody>
              <a:bodyPr wrap="none">
                <a:spAutoFit/>
              </a:bodyPr>
              <a:lstStyle/>
              <a:p>
                <a:r>
                  <a:rPr lang="zh-CN" altLang="en-US" sz="2400" b="1" dirty="0">
                    <a:solidFill>
                      <a:schemeClr val="bg1"/>
                    </a:solidFill>
                    <a:latin typeface="Times New Roman" pitchFamily="18" charset="0"/>
                    <a:ea typeface="华文中宋" pitchFamily="2" charset="-122"/>
                    <a:cs typeface="Times New Roman" pitchFamily="18" charset="0"/>
                  </a:rPr>
                  <a:t>式中， </a:t>
                </a:r>
              </a:p>
            </p:txBody>
          </p:sp>
          <p:graphicFrame>
            <p:nvGraphicFramePr>
              <p:cNvPr id="10243" name="Object 1"/>
              <p:cNvGraphicFramePr>
                <a:graphicFrameLocks noChangeAspect="1"/>
              </p:cNvGraphicFramePr>
              <p:nvPr/>
            </p:nvGraphicFramePr>
            <p:xfrm>
              <a:off x="1248" y="3470"/>
              <a:ext cx="993" cy="562"/>
            </p:xfrm>
            <a:graphic>
              <a:graphicData uri="http://schemas.openxmlformats.org/presentationml/2006/ole">
                <p:oleObj spid="_x0000_s10243" r:id="rId9" imgW="787058" imgH="444307" progId="Equation.DSMT4">
                  <p:embed/>
                </p:oleObj>
              </a:graphicData>
            </a:graphic>
          </p:graphicFrame>
          <p:sp>
            <p:nvSpPr>
              <p:cNvPr id="10262" name="Text Box 27"/>
              <p:cNvSpPr txBox="1">
                <a:spLocks noChangeArrowheads="1"/>
              </p:cNvSpPr>
              <p:nvPr/>
            </p:nvSpPr>
            <p:spPr bwMode="auto">
              <a:xfrm>
                <a:off x="384" y="3744"/>
                <a:ext cx="5496" cy="523"/>
              </a:xfrm>
              <a:prstGeom prst="rect">
                <a:avLst/>
              </a:prstGeom>
              <a:noFill/>
              <a:ln w="9525">
                <a:noFill/>
                <a:miter lim="800000"/>
                <a:headEnd/>
                <a:tailEnd/>
              </a:ln>
            </p:spPr>
            <p:txBody>
              <a:bodyPr wrap="none">
                <a:spAutoFit/>
              </a:bodyPr>
              <a:lstStyle/>
              <a:p>
                <a:r>
                  <a:rPr lang="en-US" altLang="zh-CN" sz="2400" b="1" dirty="0">
                    <a:solidFill>
                      <a:schemeClr val="bg1"/>
                    </a:solidFill>
                    <a:latin typeface="Times New Roman" pitchFamily="18" charset="0"/>
                    <a:ea typeface="华文中宋" pitchFamily="2" charset="-122"/>
                    <a:cs typeface="Times New Roman" pitchFamily="18" charset="0"/>
                  </a:rPr>
                  <a:t>                                                           </a:t>
                </a:r>
                <a:r>
                  <a:rPr lang="zh-CN" altLang="en-US" sz="2400" b="1" dirty="0">
                    <a:solidFill>
                      <a:schemeClr val="bg1"/>
                    </a:solidFill>
                    <a:latin typeface="Times New Roman" pitchFamily="18" charset="0"/>
                    <a:ea typeface="华文中宋" pitchFamily="2" charset="-122"/>
                    <a:cs typeface="Times New Roman" pitchFamily="18" charset="0"/>
                  </a:rPr>
                  <a:t>为</a:t>
                </a:r>
                <a:r>
                  <a:rPr lang="en-US" altLang="zh-CN" sz="2400" b="1" dirty="0" err="1">
                    <a:solidFill>
                      <a:schemeClr val="bg1"/>
                    </a:solidFill>
                    <a:latin typeface="Times New Roman" pitchFamily="18" charset="0"/>
                    <a:ea typeface="华文中宋" pitchFamily="2" charset="-122"/>
                    <a:cs typeface="Times New Roman" pitchFamily="18" charset="0"/>
                  </a:rPr>
                  <a:t>Hermite</a:t>
                </a:r>
                <a:r>
                  <a:rPr lang="zh-CN" altLang="en-US" sz="2400" b="1" dirty="0">
                    <a:solidFill>
                      <a:schemeClr val="bg1"/>
                    </a:solidFill>
                    <a:latin typeface="Times New Roman" pitchFamily="18" charset="0"/>
                    <a:ea typeface="华文中宋" pitchFamily="2" charset="-122"/>
                    <a:cs typeface="Times New Roman" pitchFamily="18" charset="0"/>
                  </a:rPr>
                  <a:t>多项式，</a:t>
                </a:r>
                <a:r>
                  <a:rPr lang="en-US" altLang="zh-CN" sz="2400" b="1" i="1" dirty="0">
                    <a:solidFill>
                      <a:schemeClr val="bg1"/>
                    </a:solidFill>
                    <a:latin typeface="Times New Roman" pitchFamily="18" charset="0"/>
                    <a:ea typeface="华文中宋" pitchFamily="2" charset="-122"/>
                    <a:cs typeface="Times New Roman" pitchFamily="18" charset="0"/>
                  </a:rPr>
                  <a:t>n</a:t>
                </a:r>
                <a:r>
                  <a:rPr lang="zh-CN" altLang="en-US" sz="2400" b="1" dirty="0">
                    <a:solidFill>
                      <a:schemeClr val="bg1"/>
                    </a:solidFill>
                    <a:latin typeface="Times New Roman" pitchFamily="18" charset="0"/>
                    <a:ea typeface="华文中宋" pitchFamily="2" charset="-122"/>
                    <a:cs typeface="Times New Roman" pitchFamily="18" charset="0"/>
                  </a:rPr>
                  <a:t>为振动</a:t>
                </a:r>
              </a:p>
              <a:p>
                <a:r>
                  <a:rPr lang="zh-CN" altLang="en-US" sz="2400" b="1" dirty="0">
                    <a:solidFill>
                      <a:schemeClr val="bg1"/>
                    </a:solidFill>
                    <a:latin typeface="Times New Roman" pitchFamily="18" charset="0"/>
                    <a:ea typeface="华文中宋" pitchFamily="2" charset="-122"/>
                    <a:cs typeface="Times New Roman" pitchFamily="18" charset="0"/>
                  </a:rPr>
                  <a:t>量子数。一维谐振子也具有零点能，              能级为非简并的。 </a:t>
                </a:r>
              </a:p>
            </p:txBody>
          </p:sp>
          <p:graphicFrame>
            <p:nvGraphicFramePr>
              <p:cNvPr id="10244" name="Object 2"/>
              <p:cNvGraphicFramePr>
                <a:graphicFrameLocks noChangeAspect="1"/>
              </p:cNvGraphicFramePr>
              <p:nvPr/>
            </p:nvGraphicFramePr>
            <p:xfrm>
              <a:off x="3504" y="3888"/>
              <a:ext cx="766" cy="491"/>
            </p:xfrm>
            <a:graphic>
              <a:graphicData uri="http://schemas.openxmlformats.org/presentationml/2006/ole">
                <p:oleObj spid="_x0000_s10244" r:id="rId10" imgW="609336" imgH="393529" progId="Equation.DSMT4">
                  <p:embed/>
                </p:oleObj>
              </a:graphicData>
            </a:graphic>
          </p:graphicFrame>
        </p:grpSp>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25609"/>
                                        </p:tgtEl>
                                        <p:attrNameLst>
                                          <p:attrName>style.visibility</p:attrName>
                                        </p:attrNameLst>
                                      </p:cBhvr>
                                      <p:to>
                                        <p:strVal val="visible"/>
                                      </p:to>
                                    </p:set>
                                    <p:animEffect transition="in" filter="barn(inHorizontal)">
                                      <p:cBhvr>
                                        <p:cTn id="12" dur="500"/>
                                        <p:tgtEl>
                                          <p:spTgt spid="2560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in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arn(in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arn(in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grpId="0" nodeType="clickEffect">
                                  <p:stCondLst>
                                    <p:cond delay="0"/>
                                  </p:stCondLst>
                                  <p:childTnLst>
                                    <p:set>
                                      <p:cBhvr>
                                        <p:cTn id="31" dur="1" fill="hold">
                                          <p:stCondLst>
                                            <p:cond delay="0"/>
                                          </p:stCondLst>
                                        </p:cTn>
                                        <p:tgtEl>
                                          <p:spTgt spid="25621"/>
                                        </p:tgtEl>
                                        <p:attrNameLst>
                                          <p:attrName>style.visibility</p:attrName>
                                        </p:attrNameLst>
                                      </p:cBhvr>
                                      <p:to>
                                        <p:strVal val="visible"/>
                                      </p:to>
                                    </p:set>
                                    <p:animEffect transition="in" filter="barn(inHorizontal)">
                                      <p:cBhvr>
                                        <p:cTn id="32" dur="500"/>
                                        <p:tgtEl>
                                          <p:spTgt spid="25621"/>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barn(inHorizontal)">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9" grpId="0" autoUpdateAnimBg="0"/>
      <p:bldP spid="25621"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灯片编号占位符 3"/>
          <p:cNvSpPr>
            <a:spLocks noGrp="1"/>
          </p:cNvSpPr>
          <p:nvPr>
            <p:ph type="sldNum" sz="quarter" idx="12"/>
          </p:nvPr>
        </p:nvSpPr>
        <p:spPr>
          <a:noFill/>
        </p:spPr>
        <p:txBody>
          <a:bodyPr/>
          <a:lstStyle/>
          <a:p>
            <a:fld id="{8ABE9A4E-7FCD-453D-A26C-EBE750DA82FD}" type="slidenum">
              <a:rPr lang="en-US" altLang="zh-CN" smtClean="0"/>
              <a:pPr/>
              <a:t>20</a:t>
            </a:fld>
            <a:endParaRPr lang="en-US" altLang="zh-CN" smtClean="0"/>
          </a:p>
        </p:txBody>
      </p:sp>
      <p:sp>
        <p:nvSpPr>
          <p:cNvPr id="11270" name="Text Box 2"/>
          <p:cNvSpPr txBox="1">
            <a:spLocks noChangeArrowheads="1"/>
          </p:cNvSpPr>
          <p:nvPr/>
        </p:nvSpPr>
        <p:spPr bwMode="auto">
          <a:xfrm>
            <a:off x="4976813" y="0"/>
            <a:ext cx="4167187"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微观粒子运动的量子力学描述</a:t>
            </a:r>
            <a:endParaRPr lang="zh-CN" altLang="en-US" sz="2400">
              <a:solidFill>
                <a:schemeClr val="bg1"/>
              </a:solidFill>
              <a:latin typeface="Times New Roman" pitchFamily="18" charset="0"/>
            </a:endParaRPr>
          </a:p>
        </p:txBody>
      </p:sp>
      <p:sp>
        <p:nvSpPr>
          <p:cNvPr id="11271" name="Rectangle 3"/>
          <p:cNvSpPr>
            <a:spLocks noGrp="1" noRot="1" noChangeArrowheads="1"/>
          </p:cNvSpPr>
          <p:nvPr/>
        </p:nvSpPr>
        <p:spPr bwMode="auto">
          <a:xfrm>
            <a:off x="298450" y="214290"/>
            <a:ext cx="8540750" cy="1143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谐振子的量子态和能级</a:t>
            </a:r>
          </a:p>
        </p:txBody>
      </p:sp>
      <p:sp>
        <p:nvSpPr>
          <p:cNvPr id="11272" name="Text Box 4"/>
          <p:cNvSpPr txBox="1">
            <a:spLocks noChangeArrowheads="1"/>
          </p:cNvSpPr>
          <p:nvPr/>
        </p:nvSpPr>
        <p:spPr bwMode="auto">
          <a:xfrm>
            <a:off x="1355725" y="1517650"/>
            <a:ext cx="1970088" cy="519113"/>
          </a:xfrm>
          <a:prstGeom prst="rect">
            <a:avLst/>
          </a:prstGeom>
          <a:noFill/>
          <a:ln w="9525">
            <a:noFill/>
            <a:miter lim="800000"/>
            <a:headEnd/>
            <a:tailEnd/>
          </a:ln>
        </p:spPr>
        <p:txBody>
          <a:bodyPr wrap="none">
            <a:spAutoFit/>
          </a:bodyPr>
          <a:lstStyle/>
          <a:p>
            <a:r>
              <a:rPr lang="zh-CN" altLang="en-US" sz="2800" b="1" dirty="0">
                <a:solidFill>
                  <a:schemeClr val="bg1"/>
                </a:solidFill>
                <a:latin typeface="华文中宋" pitchFamily="2" charset="-122"/>
                <a:ea typeface="华文中宋" pitchFamily="2" charset="-122"/>
              </a:rPr>
              <a:t>三维谐振子</a:t>
            </a:r>
          </a:p>
        </p:txBody>
      </p:sp>
      <p:sp>
        <p:nvSpPr>
          <p:cNvPr id="11273" name="Text Box 5"/>
          <p:cNvSpPr txBox="1">
            <a:spLocks noChangeArrowheads="1"/>
          </p:cNvSpPr>
          <p:nvPr/>
        </p:nvSpPr>
        <p:spPr bwMode="auto">
          <a:xfrm>
            <a:off x="1371600" y="2355850"/>
            <a:ext cx="1249060" cy="523220"/>
          </a:xfrm>
          <a:prstGeom prst="rect">
            <a:avLst/>
          </a:prstGeom>
          <a:noFill/>
          <a:ln w="9525">
            <a:noFill/>
            <a:miter lim="800000"/>
            <a:headEnd/>
            <a:tailEnd/>
          </a:ln>
        </p:spPr>
        <p:txBody>
          <a:bodyPr wrap="none">
            <a:spAutoFit/>
          </a:bodyPr>
          <a:lstStyle/>
          <a:p>
            <a:r>
              <a:rPr lang="zh-CN" altLang="en-US" sz="2800" b="1">
                <a:solidFill>
                  <a:schemeClr val="bg1"/>
                </a:solidFill>
                <a:latin typeface="华文中宋" pitchFamily="2" charset="-122"/>
                <a:ea typeface="华文中宋" pitchFamily="2" charset="-122"/>
              </a:rPr>
              <a:t>能  级 </a:t>
            </a:r>
          </a:p>
        </p:txBody>
      </p:sp>
      <p:graphicFrame>
        <p:nvGraphicFramePr>
          <p:cNvPr id="11266" name="Object 6"/>
          <p:cNvGraphicFramePr>
            <a:graphicFrameLocks noChangeAspect="1"/>
          </p:cNvGraphicFramePr>
          <p:nvPr/>
        </p:nvGraphicFramePr>
        <p:xfrm>
          <a:off x="3810000" y="2209800"/>
          <a:ext cx="2232025" cy="782638"/>
        </p:xfrm>
        <a:graphic>
          <a:graphicData uri="http://schemas.openxmlformats.org/presentationml/2006/ole">
            <p:oleObj spid="_x0000_s11266" r:id="rId3" imgW="1117115" imgH="393529" progId="Equation.DSMT4">
              <p:embed/>
            </p:oleObj>
          </a:graphicData>
        </a:graphic>
      </p:graphicFrame>
      <p:sp>
        <p:nvSpPr>
          <p:cNvPr id="11274" name="Text Box 8"/>
          <p:cNvSpPr txBox="1">
            <a:spLocks noChangeArrowheads="1"/>
          </p:cNvSpPr>
          <p:nvPr/>
        </p:nvSpPr>
        <p:spPr bwMode="auto">
          <a:xfrm>
            <a:off x="1431925" y="3290888"/>
            <a:ext cx="1377300" cy="523220"/>
          </a:xfrm>
          <a:prstGeom prst="rect">
            <a:avLst/>
          </a:prstGeom>
          <a:noFill/>
          <a:ln w="9525">
            <a:noFill/>
            <a:miter lim="800000"/>
            <a:headEnd/>
            <a:tailEnd/>
          </a:ln>
        </p:spPr>
        <p:txBody>
          <a:bodyPr wrap="none">
            <a:spAutoFit/>
          </a:bodyPr>
          <a:lstStyle/>
          <a:p>
            <a:r>
              <a:rPr lang="zh-CN" altLang="en-US" sz="2800" b="1">
                <a:solidFill>
                  <a:schemeClr val="bg1"/>
                </a:solidFill>
                <a:latin typeface="华文中宋" pitchFamily="2" charset="-122"/>
                <a:ea typeface="华文中宋" pitchFamily="2" charset="-122"/>
              </a:rPr>
              <a:t>简并度 </a:t>
            </a:r>
          </a:p>
        </p:txBody>
      </p:sp>
      <p:graphicFrame>
        <p:nvGraphicFramePr>
          <p:cNvPr id="11267" name="Object 9"/>
          <p:cNvGraphicFramePr>
            <a:graphicFrameLocks noChangeAspect="1"/>
          </p:cNvGraphicFramePr>
          <p:nvPr/>
        </p:nvGraphicFramePr>
        <p:xfrm>
          <a:off x="3810000" y="3124200"/>
          <a:ext cx="2266950" cy="781050"/>
        </p:xfrm>
        <a:graphic>
          <a:graphicData uri="http://schemas.openxmlformats.org/presentationml/2006/ole">
            <p:oleObj spid="_x0000_s11267" r:id="rId4" imgW="1129810" imgH="393529" progId="Equation.DSMT4">
              <p:embed/>
            </p:oleObj>
          </a:graphicData>
        </a:graphic>
      </p:graphicFrame>
      <p:sp>
        <p:nvSpPr>
          <p:cNvPr id="11275" name="Text Box 11"/>
          <p:cNvSpPr txBox="1">
            <a:spLocks noChangeArrowheads="1"/>
          </p:cNvSpPr>
          <p:nvPr/>
        </p:nvSpPr>
        <p:spPr bwMode="auto">
          <a:xfrm>
            <a:off x="1568450" y="4648200"/>
            <a:ext cx="1207382" cy="461665"/>
          </a:xfrm>
          <a:prstGeom prst="rect">
            <a:avLst/>
          </a:prstGeom>
          <a:noFill/>
          <a:ln w="9525">
            <a:noFill/>
            <a:miter lim="800000"/>
            <a:headEnd/>
            <a:tailEnd/>
          </a:ln>
        </p:spPr>
        <p:txBody>
          <a:bodyPr wrap="none">
            <a:spAutoFit/>
          </a:bodyPr>
          <a:lstStyle/>
          <a:p>
            <a:r>
              <a:rPr lang="zh-CN" altLang="en-US" sz="2400" b="1">
                <a:solidFill>
                  <a:schemeClr val="bg1"/>
                </a:solidFill>
                <a:latin typeface="华文中宋" pitchFamily="2" charset="-122"/>
                <a:ea typeface="华文中宋" pitchFamily="2" charset="-122"/>
              </a:rPr>
              <a:t>式中， </a:t>
            </a:r>
          </a:p>
        </p:txBody>
      </p:sp>
      <p:sp>
        <p:nvSpPr>
          <p:cNvPr id="11276" name="Text Box 12"/>
          <p:cNvSpPr txBox="1">
            <a:spLocks noChangeArrowheads="1"/>
          </p:cNvSpPr>
          <p:nvPr/>
        </p:nvSpPr>
        <p:spPr bwMode="auto">
          <a:xfrm>
            <a:off x="4403725" y="4648200"/>
            <a:ext cx="2789238" cy="457200"/>
          </a:xfrm>
          <a:prstGeom prst="rect">
            <a:avLst/>
          </a:prstGeom>
          <a:noFill/>
          <a:ln w="9525">
            <a:noFill/>
            <a:miter lim="800000"/>
            <a:headEnd/>
            <a:tailEnd/>
          </a:ln>
        </p:spPr>
        <p:txBody>
          <a:bodyPr wrap="none">
            <a:spAutoFit/>
          </a:bodyPr>
          <a:lstStyle/>
          <a:p>
            <a:r>
              <a:rPr lang="zh-CN" altLang="en-US" sz="2400" b="1">
                <a:solidFill>
                  <a:schemeClr val="bg1"/>
                </a:solidFill>
                <a:latin typeface="华文中宋" pitchFamily="2" charset="-122"/>
                <a:ea typeface="华文中宋" pitchFamily="2" charset="-122"/>
              </a:rPr>
              <a:t>为总振动量子数。 </a:t>
            </a:r>
          </a:p>
        </p:txBody>
      </p:sp>
      <p:graphicFrame>
        <p:nvGraphicFramePr>
          <p:cNvPr id="11268" name="Object 13"/>
          <p:cNvGraphicFramePr>
            <a:graphicFrameLocks noChangeAspect="1"/>
          </p:cNvGraphicFramePr>
          <p:nvPr/>
        </p:nvGraphicFramePr>
        <p:xfrm>
          <a:off x="2514600" y="4648200"/>
          <a:ext cx="1885950" cy="476250"/>
        </p:xfrm>
        <a:graphic>
          <a:graphicData uri="http://schemas.openxmlformats.org/presentationml/2006/ole">
            <p:oleObj spid="_x0000_s11268" r:id="rId5" imgW="939392" imgH="241195" progId="Equation.DSMT4">
              <p:embed/>
            </p:oleObj>
          </a:graphicData>
        </a:graphic>
      </p:graphicFrame>
    </p:spTree>
  </p:cSld>
  <p:clrMapOvr>
    <a:masterClrMapping/>
  </p:clrMapOvr>
  <p:transition spd="med">
    <p:blinds dir="ver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灯片编号占位符 3"/>
          <p:cNvSpPr>
            <a:spLocks noGrp="1"/>
          </p:cNvSpPr>
          <p:nvPr>
            <p:ph type="sldNum" sz="quarter" idx="12"/>
          </p:nvPr>
        </p:nvSpPr>
        <p:spPr>
          <a:noFill/>
        </p:spPr>
        <p:txBody>
          <a:bodyPr/>
          <a:lstStyle/>
          <a:p>
            <a:fld id="{3056A164-2DFD-4828-9401-C8C6DCFE89A0}" type="slidenum">
              <a:rPr lang="en-US" altLang="zh-CN" smtClean="0"/>
              <a:pPr/>
              <a:t>21</a:t>
            </a:fld>
            <a:endParaRPr lang="en-US" altLang="zh-CN" smtClean="0"/>
          </a:p>
        </p:txBody>
      </p:sp>
      <p:sp>
        <p:nvSpPr>
          <p:cNvPr id="12293" name="Rectangle 2"/>
          <p:cNvSpPr>
            <a:spLocks noGrp="1" noRot="1" noChangeArrowheads="1"/>
          </p:cNvSpPr>
          <p:nvPr/>
        </p:nvSpPr>
        <p:spPr bwMode="auto">
          <a:xfrm>
            <a:off x="298450" y="228600"/>
            <a:ext cx="8540750" cy="1143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分子的量子态和能级</a:t>
            </a:r>
          </a:p>
        </p:txBody>
      </p:sp>
      <p:sp>
        <p:nvSpPr>
          <p:cNvPr id="12294" name="Text Box 3"/>
          <p:cNvSpPr txBox="1">
            <a:spLocks noChangeArrowheads="1"/>
          </p:cNvSpPr>
          <p:nvPr/>
        </p:nvSpPr>
        <p:spPr bwMode="auto">
          <a:xfrm>
            <a:off x="4976813" y="0"/>
            <a:ext cx="4167187"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微观粒子运动的量子力学描述</a:t>
            </a:r>
            <a:endParaRPr lang="zh-CN" altLang="en-US" sz="2400">
              <a:solidFill>
                <a:schemeClr val="bg1"/>
              </a:solidFill>
              <a:latin typeface="Times New Roman" pitchFamily="18" charset="0"/>
            </a:endParaRPr>
          </a:p>
        </p:txBody>
      </p:sp>
      <p:sp>
        <p:nvSpPr>
          <p:cNvPr id="27652" name="Text Box 4"/>
          <p:cNvSpPr txBox="1">
            <a:spLocks noChangeArrowheads="1"/>
          </p:cNvSpPr>
          <p:nvPr/>
        </p:nvSpPr>
        <p:spPr bwMode="auto">
          <a:xfrm>
            <a:off x="762000" y="1174750"/>
            <a:ext cx="7918450" cy="1938338"/>
          </a:xfrm>
          <a:prstGeom prst="rect">
            <a:avLst/>
          </a:prstGeom>
          <a:noFill/>
          <a:ln w="9525">
            <a:noFill/>
            <a:miter lim="800000"/>
            <a:headEnd/>
            <a:tailEnd/>
          </a:ln>
        </p:spPr>
        <p:txBody>
          <a:bodyPr wrap="none">
            <a:spAutoFit/>
          </a:bodyPr>
          <a:lstStyle/>
          <a:p>
            <a:r>
              <a:rPr lang="zh-CN" altLang="en-US" sz="2400" b="1" dirty="0">
                <a:solidFill>
                  <a:schemeClr val="bg1"/>
                </a:solidFill>
                <a:latin typeface="Times New Roman" pitchFamily="18" charset="0"/>
                <a:ea typeface="华文中宋" pitchFamily="2" charset="-122"/>
                <a:cs typeface="Times New Roman" pitchFamily="18" charset="0"/>
              </a:rPr>
              <a:t>原子由电子和原子核构成，分子则是由原子按照一定构型</a:t>
            </a:r>
            <a:endParaRPr lang="en-US" altLang="zh-CN" sz="2400" b="1" dirty="0">
              <a:solidFill>
                <a:schemeClr val="bg1"/>
              </a:solidFill>
              <a:latin typeface="Times New Roman" pitchFamily="18" charset="0"/>
              <a:ea typeface="华文中宋" pitchFamily="2" charset="-122"/>
              <a:cs typeface="Times New Roman" pitchFamily="18" charset="0"/>
            </a:endParaRPr>
          </a:p>
          <a:p>
            <a:r>
              <a:rPr lang="zh-CN" altLang="en-US" sz="2400" b="1" dirty="0">
                <a:solidFill>
                  <a:schemeClr val="bg1"/>
                </a:solidFill>
                <a:latin typeface="Times New Roman" pitchFamily="18" charset="0"/>
                <a:ea typeface="华文中宋" pitchFamily="2" charset="-122"/>
                <a:cs typeface="Times New Roman" pitchFamily="18" charset="0"/>
              </a:rPr>
              <a:t>通过化学键结合而成。依据量子力学，分子的量子态仍可</a:t>
            </a:r>
            <a:endParaRPr lang="en-US" altLang="zh-CN" sz="2400" b="1" dirty="0">
              <a:solidFill>
                <a:schemeClr val="bg1"/>
              </a:solidFill>
              <a:latin typeface="Times New Roman" pitchFamily="18" charset="0"/>
              <a:ea typeface="华文中宋" pitchFamily="2" charset="-122"/>
              <a:cs typeface="Times New Roman" pitchFamily="18" charset="0"/>
            </a:endParaRPr>
          </a:p>
          <a:p>
            <a:r>
              <a:rPr lang="zh-CN" altLang="en-US" sz="2400" b="1" dirty="0">
                <a:solidFill>
                  <a:schemeClr val="bg1"/>
                </a:solidFill>
                <a:latin typeface="Times New Roman" pitchFamily="18" charset="0"/>
                <a:ea typeface="华文中宋" pitchFamily="2" charset="-122"/>
                <a:cs typeface="Times New Roman" pitchFamily="18" charset="0"/>
              </a:rPr>
              <a:t>以通过求解</a:t>
            </a:r>
            <a:r>
              <a:rPr lang="en-US" altLang="zh-CN" sz="2400" b="1" dirty="0">
                <a:solidFill>
                  <a:schemeClr val="bg1"/>
                </a:solidFill>
                <a:latin typeface="Times New Roman" pitchFamily="18" charset="0"/>
                <a:ea typeface="华文中宋" pitchFamily="2" charset="-122"/>
                <a:cs typeface="Times New Roman" pitchFamily="18" charset="0"/>
              </a:rPr>
              <a:t>Schrodinger</a:t>
            </a:r>
            <a:r>
              <a:rPr lang="zh-CN" altLang="en-US" sz="2400" b="1" dirty="0">
                <a:solidFill>
                  <a:schemeClr val="bg1"/>
                </a:solidFill>
                <a:latin typeface="Times New Roman" pitchFamily="18" charset="0"/>
                <a:ea typeface="华文中宋" pitchFamily="2" charset="-122"/>
                <a:cs typeface="Times New Roman" pitchFamily="18" charset="0"/>
              </a:rPr>
              <a:t>方程得到，但除了氢原子之外的</a:t>
            </a:r>
            <a:endParaRPr lang="en-US" altLang="zh-CN" sz="2400" b="1" dirty="0">
              <a:solidFill>
                <a:schemeClr val="bg1"/>
              </a:solidFill>
              <a:latin typeface="Times New Roman" pitchFamily="18" charset="0"/>
              <a:ea typeface="华文中宋" pitchFamily="2" charset="-122"/>
              <a:cs typeface="Times New Roman" pitchFamily="18" charset="0"/>
            </a:endParaRPr>
          </a:p>
          <a:p>
            <a:r>
              <a:rPr lang="zh-CN" altLang="en-US" sz="2400" b="1" dirty="0">
                <a:solidFill>
                  <a:schemeClr val="bg1"/>
                </a:solidFill>
                <a:latin typeface="Times New Roman" pitchFamily="18" charset="0"/>
                <a:ea typeface="华文中宋" pitchFamily="2" charset="-122"/>
                <a:cs typeface="Times New Roman" pitchFamily="18" charset="0"/>
              </a:rPr>
              <a:t>原子和分子尚不能得出其精确的波函数，只能得到其</a:t>
            </a:r>
          </a:p>
          <a:p>
            <a:r>
              <a:rPr lang="zh-CN" altLang="en-US" sz="2400" b="1" dirty="0">
                <a:solidFill>
                  <a:schemeClr val="bg1"/>
                </a:solidFill>
                <a:latin typeface="Times New Roman" pitchFamily="18" charset="0"/>
                <a:ea typeface="华文中宋" pitchFamily="2" charset="-122"/>
                <a:cs typeface="Times New Roman" pitchFamily="18" charset="0"/>
              </a:rPr>
              <a:t>近似的波函数和能级。 </a:t>
            </a:r>
          </a:p>
        </p:txBody>
      </p:sp>
      <p:grpSp>
        <p:nvGrpSpPr>
          <p:cNvPr id="2" name="Group 12"/>
          <p:cNvGrpSpPr>
            <a:grpSpLocks/>
          </p:cNvGrpSpPr>
          <p:nvPr/>
        </p:nvGrpSpPr>
        <p:grpSpPr bwMode="auto">
          <a:xfrm>
            <a:off x="762000" y="3689350"/>
            <a:ext cx="8537575" cy="1797050"/>
            <a:chOff x="480" y="2324"/>
            <a:chExt cx="5378" cy="1132"/>
          </a:xfrm>
        </p:grpSpPr>
        <p:sp>
          <p:nvSpPr>
            <p:cNvPr id="12301" name="Text Box 5"/>
            <p:cNvSpPr txBox="1">
              <a:spLocks noChangeArrowheads="1"/>
            </p:cNvSpPr>
            <p:nvPr/>
          </p:nvSpPr>
          <p:spPr bwMode="auto">
            <a:xfrm>
              <a:off x="480" y="2324"/>
              <a:ext cx="5378" cy="756"/>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例如双原子分子，其运动状态可以包括平动、转动、振动等，</a:t>
              </a:r>
              <a:endParaRPr lang="en-US" altLang="zh-CN" sz="2400" b="1">
                <a:solidFill>
                  <a:schemeClr val="bg1"/>
                </a:solidFill>
                <a:latin typeface="Times New Roman" pitchFamily="18" charset="0"/>
                <a:ea typeface="华文中宋" pitchFamily="2" charset="-122"/>
                <a:cs typeface="Times New Roman" pitchFamily="18" charset="0"/>
              </a:endParaRPr>
            </a:p>
            <a:p>
              <a:r>
                <a:rPr lang="zh-CN" altLang="en-US" sz="2400" b="1">
                  <a:solidFill>
                    <a:schemeClr val="bg1"/>
                  </a:solidFill>
                  <a:latin typeface="Times New Roman" pitchFamily="18" charset="0"/>
                  <a:ea typeface="华文中宋" pitchFamily="2" charset="-122"/>
                  <a:cs typeface="Times New Roman" pitchFamily="18" charset="0"/>
                </a:rPr>
                <a:t>考虑波函数时还必须考虑到电子和原子核的能级，其量子态</a:t>
              </a:r>
              <a:endParaRPr lang="en-US" altLang="zh-CN" sz="2400" b="1">
                <a:solidFill>
                  <a:schemeClr val="bg1"/>
                </a:solidFill>
                <a:latin typeface="Times New Roman" pitchFamily="18" charset="0"/>
                <a:ea typeface="华文中宋" pitchFamily="2" charset="-122"/>
                <a:cs typeface="Times New Roman" pitchFamily="18" charset="0"/>
              </a:endParaRPr>
            </a:p>
            <a:p>
              <a:r>
                <a:rPr lang="zh-CN" altLang="en-US" sz="2400" b="1">
                  <a:solidFill>
                    <a:schemeClr val="bg1"/>
                  </a:solidFill>
                  <a:latin typeface="Times New Roman" pitchFamily="18" charset="0"/>
                  <a:ea typeface="华文中宋" pitchFamily="2" charset="-122"/>
                  <a:cs typeface="Times New Roman" pitchFamily="18" charset="0"/>
                </a:rPr>
                <a:t>可近似表达为</a:t>
              </a:r>
            </a:p>
          </p:txBody>
        </p:sp>
        <p:graphicFrame>
          <p:nvGraphicFramePr>
            <p:cNvPr id="12291" name="Object 6"/>
            <p:cNvGraphicFramePr>
              <a:graphicFrameLocks noChangeAspect="1"/>
            </p:cNvGraphicFramePr>
            <p:nvPr/>
          </p:nvGraphicFramePr>
          <p:xfrm>
            <a:off x="2064" y="3156"/>
            <a:ext cx="1582" cy="300"/>
          </p:xfrm>
          <a:graphic>
            <a:graphicData uri="http://schemas.openxmlformats.org/presentationml/2006/ole">
              <p:oleObj spid="_x0000_s12291" r:id="rId3" imgW="1257300" imgH="241300" progId="Equation.DSMT4">
                <p:embed/>
              </p:oleObj>
            </a:graphicData>
          </a:graphic>
        </p:graphicFrame>
      </p:grpSp>
      <p:grpSp>
        <p:nvGrpSpPr>
          <p:cNvPr id="3" name="Group 14"/>
          <p:cNvGrpSpPr>
            <a:grpSpLocks/>
          </p:cNvGrpSpPr>
          <p:nvPr/>
        </p:nvGrpSpPr>
        <p:grpSpPr bwMode="auto">
          <a:xfrm>
            <a:off x="304800" y="5562603"/>
            <a:ext cx="8153400" cy="830263"/>
            <a:chOff x="192" y="3504"/>
            <a:chExt cx="5136" cy="523"/>
          </a:xfrm>
        </p:grpSpPr>
        <p:sp>
          <p:nvSpPr>
            <p:cNvPr id="12298" name="Text Box 11"/>
            <p:cNvSpPr txBox="1">
              <a:spLocks noChangeArrowheads="1"/>
            </p:cNvSpPr>
            <p:nvPr/>
          </p:nvSpPr>
          <p:spPr bwMode="auto">
            <a:xfrm>
              <a:off x="192" y="3504"/>
              <a:ext cx="5136" cy="523"/>
            </a:xfrm>
            <a:prstGeom prst="rect">
              <a:avLst/>
            </a:prstGeom>
            <a:noFill/>
            <a:ln w="9525">
              <a:noFill/>
              <a:miter lim="800000"/>
              <a:headEnd/>
              <a:tailEnd/>
            </a:ln>
          </p:spPr>
          <p:txBody>
            <a:bodyPr>
              <a:spAutoFit/>
            </a:bodyPr>
            <a:lstStyle/>
            <a:p>
              <a:r>
                <a:rPr lang="en-US" altLang="zh-CN" sz="2400" b="1" dirty="0">
                  <a:solidFill>
                    <a:schemeClr val="bg1"/>
                  </a:solidFill>
                  <a:latin typeface="Times New Roman" pitchFamily="18" charset="0"/>
                  <a:ea typeface="华文中宋" pitchFamily="2" charset="-122"/>
                  <a:cs typeface="Times New Roman" pitchFamily="18" charset="0"/>
                </a:rPr>
                <a:t>                           </a:t>
              </a:r>
              <a:r>
                <a:rPr lang="en-US" altLang="zh-CN" sz="2400" b="1" dirty="0" smtClean="0">
                  <a:solidFill>
                    <a:schemeClr val="bg1"/>
                  </a:solidFill>
                  <a:latin typeface="Times New Roman" pitchFamily="18" charset="0"/>
                  <a:ea typeface="华文中宋" pitchFamily="2" charset="-122"/>
                  <a:cs typeface="Times New Roman" pitchFamily="18" charset="0"/>
                </a:rPr>
                <a:t>                            </a:t>
              </a:r>
              <a:r>
                <a:rPr lang="zh-CN" altLang="en-US" sz="2400" b="1" dirty="0" smtClean="0">
                  <a:solidFill>
                    <a:schemeClr val="bg1"/>
                  </a:solidFill>
                  <a:latin typeface="Times New Roman" pitchFamily="18" charset="0"/>
                  <a:ea typeface="华文中宋" pitchFamily="2" charset="-122"/>
                  <a:cs typeface="Times New Roman" pitchFamily="18" charset="0"/>
                </a:rPr>
                <a:t>分别</a:t>
              </a:r>
              <a:r>
                <a:rPr lang="zh-CN" altLang="en-US" sz="2400" b="1" dirty="0">
                  <a:solidFill>
                    <a:schemeClr val="bg1"/>
                  </a:solidFill>
                  <a:latin typeface="Times New Roman" pitchFamily="18" charset="0"/>
                  <a:ea typeface="华文中宋" pitchFamily="2" charset="-122"/>
                  <a:cs typeface="Times New Roman" pitchFamily="18" charset="0"/>
                </a:rPr>
                <a:t>表示平动、转动、振动</a:t>
              </a:r>
              <a:r>
                <a:rPr lang="zh-CN" altLang="en-US" sz="2400" b="1" dirty="0" smtClean="0">
                  <a:solidFill>
                    <a:schemeClr val="bg1"/>
                  </a:solidFill>
                  <a:latin typeface="Times New Roman" pitchFamily="18" charset="0"/>
                  <a:ea typeface="华文中宋" pitchFamily="2" charset="-122"/>
                  <a:cs typeface="Times New Roman" pitchFamily="18" charset="0"/>
                </a:rPr>
                <a:t>、 </a:t>
              </a:r>
              <a:endParaRPr lang="zh-CN" altLang="en-US" sz="2400" b="1" dirty="0">
                <a:solidFill>
                  <a:schemeClr val="bg1"/>
                </a:solidFill>
                <a:latin typeface="Times New Roman" pitchFamily="18" charset="0"/>
                <a:ea typeface="华文中宋" pitchFamily="2" charset="-122"/>
                <a:cs typeface="Times New Roman" pitchFamily="18" charset="0"/>
              </a:endParaRPr>
            </a:p>
            <a:p>
              <a:r>
                <a:rPr lang="zh-CN" altLang="en-US" sz="2400" b="1" dirty="0">
                  <a:solidFill>
                    <a:schemeClr val="bg1"/>
                  </a:solidFill>
                  <a:latin typeface="Times New Roman" pitchFamily="18" charset="0"/>
                  <a:ea typeface="华文中宋" pitchFamily="2" charset="-122"/>
                  <a:cs typeface="Times New Roman" pitchFamily="18" charset="0"/>
                </a:rPr>
                <a:t>    电子运动、第一和第二个原子核的波函数。 </a:t>
              </a:r>
            </a:p>
          </p:txBody>
        </p:sp>
        <p:grpSp>
          <p:nvGrpSpPr>
            <p:cNvPr id="12299" name="Group 13"/>
            <p:cNvGrpSpPr>
              <a:grpSpLocks/>
            </p:cNvGrpSpPr>
            <p:nvPr/>
          </p:nvGrpSpPr>
          <p:grpSpPr bwMode="auto">
            <a:xfrm>
              <a:off x="566" y="3504"/>
              <a:ext cx="2303" cy="304"/>
              <a:chOff x="566" y="3504"/>
              <a:chExt cx="2303" cy="304"/>
            </a:xfrm>
          </p:grpSpPr>
          <p:sp>
            <p:nvSpPr>
              <p:cNvPr id="12300" name="Text Box 8"/>
              <p:cNvSpPr txBox="1">
                <a:spLocks noChangeArrowheads="1"/>
              </p:cNvSpPr>
              <p:nvPr/>
            </p:nvSpPr>
            <p:spPr bwMode="auto">
              <a:xfrm>
                <a:off x="566" y="3517"/>
                <a:ext cx="761" cy="291"/>
              </a:xfrm>
              <a:prstGeom prst="rect">
                <a:avLst/>
              </a:prstGeom>
              <a:noFill/>
              <a:ln w="9525">
                <a:noFill/>
                <a:miter lim="800000"/>
                <a:headEnd/>
                <a:tailEnd/>
              </a:ln>
            </p:spPr>
            <p:txBody>
              <a:bodyPr wrap="none">
                <a:spAutoFit/>
              </a:bodyPr>
              <a:lstStyle/>
              <a:p>
                <a:r>
                  <a:rPr lang="zh-CN" altLang="en-US" sz="2400" b="1" dirty="0">
                    <a:solidFill>
                      <a:schemeClr val="bg1"/>
                    </a:solidFill>
                    <a:latin typeface="Times New Roman" pitchFamily="18" charset="0"/>
                    <a:ea typeface="华文中宋" pitchFamily="2" charset="-122"/>
                    <a:cs typeface="Times New Roman" pitchFamily="18" charset="0"/>
                  </a:rPr>
                  <a:t>式中， </a:t>
                </a:r>
              </a:p>
            </p:txBody>
          </p:sp>
          <p:graphicFrame>
            <p:nvGraphicFramePr>
              <p:cNvPr id="12290" name="Object 9"/>
              <p:cNvGraphicFramePr>
                <a:graphicFrameLocks noChangeAspect="1"/>
              </p:cNvGraphicFramePr>
              <p:nvPr/>
            </p:nvGraphicFramePr>
            <p:xfrm>
              <a:off x="1200" y="3504"/>
              <a:ext cx="1669" cy="300"/>
            </p:xfrm>
            <a:graphic>
              <a:graphicData uri="http://schemas.openxmlformats.org/presentationml/2006/ole">
                <p:oleObj spid="_x0000_s12290" r:id="rId4" imgW="1320227" imgH="241195" progId="Equation.DSMT4">
                  <p:embed/>
                </p:oleObj>
              </a:graphicData>
            </a:graphic>
          </p:graphicFrame>
        </p:grpSp>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7652"/>
                                        </p:tgtEl>
                                        <p:attrNameLst>
                                          <p:attrName>style.visibility</p:attrName>
                                        </p:attrNameLst>
                                      </p:cBhvr>
                                      <p:to>
                                        <p:strVal val="visible"/>
                                      </p:to>
                                    </p:set>
                                    <p:animEffect transition="in" filter="barn(inHorizontal)">
                                      <p:cBhvr>
                                        <p:cTn id="7" dur="500"/>
                                        <p:tgtEl>
                                          <p:spTgt spid="2765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arn(in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灯片编号占位符 3"/>
          <p:cNvSpPr>
            <a:spLocks noGrp="1"/>
          </p:cNvSpPr>
          <p:nvPr>
            <p:ph type="sldNum" sz="quarter" idx="12"/>
          </p:nvPr>
        </p:nvSpPr>
        <p:spPr>
          <a:noFill/>
        </p:spPr>
        <p:txBody>
          <a:bodyPr/>
          <a:lstStyle/>
          <a:p>
            <a:fld id="{E457FB10-1452-4AF5-A398-5DD0F280705D}" type="slidenum">
              <a:rPr lang="en-US" altLang="zh-CN" smtClean="0"/>
              <a:pPr/>
              <a:t>22</a:t>
            </a:fld>
            <a:endParaRPr lang="en-US" altLang="zh-CN" smtClean="0"/>
          </a:p>
        </p:txBody>
      </p:sp>
      <p:sp>
        <p:nvSpPr>
          <p:cNvPr id="13317" name="Text Box 2"/>
          <p:cNvSpPr txBox="1">
            <a:spLocks noChangeArrowheads="1"/>
          </p:cNvSpPr>
          <p:nvPr/>
        </p:nvSpPr>
        <p:spPr bwMode="auto">
          <a:xfrm>
            <a:off x="4976813" y="0"/>
            <a:ext cx="4167187"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微观粒子运动的量子力学描述</a:t>
            </a:r>
            <a:endParaRPr lang="zh-CN" altLang="en-US" sz="2400">
              <a:solidFill>
                <a:schemeClr val="bg1"/>
              </a:solidFill>
              <a:latin typeface="Times New Roman" pitchFamily="18" charset="0"/>
            </a:endParaRPr>
          </a:p>
        </p:txBody>
      </p:sp>
      <p:sp>
        <p:nvSpPr>
          <p:cNvPr id="13318" name="Rectangle 3"/>
          <p:cNvSpPr>
            <a:spLocks noGrp="1" noRot="1" noChangeArrowheads="1"/>
          </p:cNvSpPr>
          <p:nvPr/>
        </p:nvSpPr>
        <p:spPr bwMode="auto">
          <a:xfrm>
            <a:off x="298450" y="228600"/>
            <a:ext cx="8540750" cy="1143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分子的量子态和能级</a:t>
            </a:r>
          </a:p>
        </p:txBody>
      </p:sp>
      <p:grpSp>
        <p:nvGrpSpPr>
          <p:cNvPr id="2" name="Group 10"/>
          <p:cNvGrpSpPr>
            <a:grpSpLocks/>
          </p:cNvGrpSpPr>
          <p:nvPr/>
        </p:nvGrpSpPr>
        <p:grpSpPr bwMode="auto">
          <a:xfrm>
            <a:off x="1279525" y="1644650"/>
            <a:ext cx="5240338" cy="1217613"/>
            <a:chOff x="806" y="1036"/>
            <a:chExt cx="3301" cy="767"/>
          </a:xfrm>
        </p:grpSpPr>
        <p:sp>
          <p:nvSpPr>
            <p:cNvPr id="13322" name="Text Box 4"/>
            <p:cNvSpPr txBox="1">
              <a:spLocks noChangeArrowheads="1"/>
            </p:cNvSpPr>
            <p:nvPr/>
          </p:nvSpPr>
          <p:spPr bwMode="auto">
            <a:xfrm>
              <a:off x="806" y="1036"/>
              <a:ext cx="3301" cy="368"/>
            </a:xfrm>
            <a:prstGeom prst="rect">
              <a:avLst/>
            </a:prstGeom>
            <a:noFill/>
            <a:ln w="9525">
              <a:noFill/>
              <a:miter lim="800000"/>
              <a:headEnd/>
              <a:tailEnd/>
            </a:ln>
          </p:spPr>
          <p:txBody>
            <a:bodyPr wrap="none">
              <a:spAutoFit/>
            </a:bodyPr>
            <a:lstStyle/>
            <a:p>
              <a:r>
                <a:rPr lang="zh-CN" altLang="en-US" sz="3200" b="1" dirty="0">
                  <a:solidFill>
                    <a:schemeClr val="bg1"/>
                  </a:solidFill>
                  <a:latin typeface="华文中宋" pitchFamily="2" charset="-122"/>
                  <a:ea typeface="华文中宋" pitchFamily="2" charset="-122"/>
                </a:rPr>
                <a:t>该双原子分子的能量相应为 </a:t>
              </a:r>
            </a:p>
          </p:txBody>
        </p:sp>
        <p:graphicFrame>
          <p:nvGraphicFramePr>
            <p:cNvPr id="13315" name="Object 6"/>
            <p:cNvGraphicFramePr>
              <a:graphicFrameLocks noChangeAspect="1"/>
            </p:cNvGraphicFramePr>
            <p:nvPr/>
          </p:nvGraphicFramePr>
          <p:xfrm>
            <a:off x="1330" y="1428"/>
            <a:ext cx="2777" cy="375"/>
          </p:xfrm>
          <a:graphic>
            <a:graphicData uri="http://schemas.openxmlformats.org/presentationml/2006/ole">
              <p:oleObj spid="_x0000_s13315" r:id="rId3" imgW="1765300" imgH="241300" progId="Equation.DSMT4">
                <p:embed/>
              </p:oleObj>
            </a:graphicData>
          </a:graphic>
        </p:graphicFrame>
      </p:grpSp>
      <p:grpSp>
        <p:nvGrpSpPr>
          <p:cNvPr id="3" name="Group 11"/>
          <p:cNvGrpSpPr>
            <a:grpSpLocks/>
          </p:cNvGrpSpPr>
          <p:nvPr/>
        </p:nvGrpSpPr>
        <p:grpSpPr bwMode="auto">
          <a:xfrm>
            <a:off x="1355725" y="3473450"/>
            <a:ext cx="3729038" cy="1236663"/>
            <a:chOff x="854" y="2188"/>
            <a:chExt cx="2349" cy="779"/>
          </a:xfrm>
        </p:grpSpPr>
        <p:sp>
          <p:nvSpPr>
            <p:cNvPr id="13321" name="Text Box 5"/>
            <p:cNvSpPr txBox="1">
              <a:spLocks noChangeArrowheads="1"/>
            </p:cNvSpPr>
            <p:nvPr/>
          </p:nvSpPr>
          <p:spPr bwMode="auto">
            <a:xfrm>
              <a:off x="854" y="2188"/>
              <a:ext cx="2009" cy="368"/>
            </a:xfrm>
            <a:prstGeom prst="rect">
              <a:avLst/>
            </a:prstGeom>
            <a:noFill/>
            <a:ln w="9525">
              <a:noFill/>
              <a:miter lim="800000"/>
              <a:headEnd/>
              <a:tailEnd/>
            </a:ln>
          </p:spPr>
          <p:txBody>
            <a:bodyPr wrap="none">
              <a:spAutoFit/>
            </a:bodyPr>
            <a:lstStyle/>
            <a:p>
              <a:r>
                <a:rPr lang="zh-CN" altLang="en-US" sz="3200" b="1">
                  <a:solidFill>
                    <a:schemeClr val="bg1"/>
                  </a:solidFill>
                  <a:latin typeface="华文中宋" pitchFamily="2" charset="-122"/>
                  <a:ea typeface="华文中宋" pitchFamily="2" charset="-122"/>
                </a:rPr>
                <a:t>相应的简并度为 </a:t>
              </a:r>
            </a:p>
          </p:txBody>
        </p:sp>
        <p:graphicFrame>
          <p:nvGraphicFramePr>
            <p:cNvPr id="13314" name="Object 8"/>
            <p:cNvGraphicFramePr>
              <a:graphicFrameLocks noChangeAspect="1"/>
            </p:cNvGraphicFramePr>
            <p:nvPr/>
          </p:nvGraphicFramePr>
          <p:xfrm>
            <a:off x="1344" y="2592"/>
            <a:ext cx="1859" cy="375"/>
          </p:xfrm>
          <a:graphic>
            <a:graphicData uri="http://schemas.openxmlformats.org/presentationml/2006/ole">
              <p:oleObj spid="_x0000_s13314" r:id="rId4" imgW="1180588" imgH="241195" progId="Equation.DSMT4">
                <p:embed/>
              </p:oleObj>
            </a:graphicData>
          </a:graphic>
        </p:graphicFrame>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3"/>
          <p:cNvSpPr>
            <a:spLocks noGrp="1"/>
          </p:cNvSpPr>
          <p:nvPr>
            <p:ph type="sldNum" sz="quarter" idx="12"/>
          </p:nvPr>
        </p:nvSpPr>
        <p:spPr>
          <a:noFill/>
        </p:spPr>
        <p:txBody>
          <a:bodyPr/>
          <a:lstStyle/>
          <a:p>
            <a:fld id="{F1EB3FCB-41AE-4652-83B6-4A85471B55EB}" type="slidenum">
              <a:rPr lang="en-US" altLang="zh-CN" smtClean="0"/>
              <a:pPr/>
              <a:t>23</a:t>
            </a:fld>
            <a:endParaRPr lang="en-US" altLang="zh-CN" smtClean="0"/>
          </a:p>
        </p:txBody>
      </p:sp>
      <p:sp>
        <p:nvSpPr>
          <p:cNvPr id="65539" name="Text Box 2"/>
          <p:cNvSpPr txBox="1">
            <a:spLocks noChangeArrowheads="1"/>
          </p:cNvSpPr>
          <p:nvPr/>
        </p:nvSpPr>
        <p:spPr bwMode="auto">
          <a:xfrm>
            <a:off x="869950" y="2690813"/>
            <a:ext cx="7112845" cy="1446550"/>
          </a:xfrm>
          <a:prstGeom prst="rect">
            <a:avLst/>
          </a:prstGeom>
          <a:noFill/>
          <a:ln w="9525">
            <a:noFill/>
            <a:miter lim="800000"/>
            <a:headEnd/>
            <a:tailEnd/>
          </a:ln>
        </p:spPr>
        <p:txBody>
          <a:bodyPr wrap="none">
            <a:spAutoFit/>
          </a:bodyPr>
          <a:lstStyle/>
          <a:p>
            <a:r>
              <a:rPr lang="en-US" altLang="zh-CN" sz="4400" b="1" dirty="0">
                <a:solidFill>
                  <a:srgbClr val="D2DC08"/>
                </a:solidFill>
                <a:latin typeface="Times New Roman" pitchFamily="18" charset="0"/>
                <a:ea typeface="黑体" pitchFamily="49" charset="-122"/>
                <a:cs typeface="Times New Roman" pitchFamily="18" charset="0"/>
              </a:rPr>
              <a:t>§10.3  </a:t>
            </a:r>
            <a:r>
              <a:rPr lang="zh-CN" altLang="en-US" sz="4400" b="1" dirty="0">
                <a:solidFill>
                  <a:srgbClr val="D2DC08"/>
                </a:solidFill>
                <a:latin typeface="Times New Roman" pitchFamily="18" charset="0"/>
                <a:ea typeface="黑体" pitchFamily="49" charset="-122"/>
                <a:cs typeface="Times New Roman" pitchFamily="18" charset="0"/>
              </a:rPr>
              <a:t>各种体系的能级分布</a:t>
            </a:r>
          </a:p>
          <a:p>
            <a:r>
              <a:rPr lang="zh-CN" altLang="en-US" sz="4400" b="1" dirty="0">
                <a:solidFill>
                  <a:srgbClr val="D2DC08"/>
                </a:solidFill>
                <a:latin typeface="Times New Roman" pitchFamily="18" charset="0"/>
                <a:ea typeface="黑体" pitchFamily="49" charset="-122"/>
                <a:cs typeface="Times New Roman" pitchFamily="18" charset="0"/>
              </a:rPr>
              <a:t>             和微观状态数</a:t>
            </a:r>
          </a:p>
        </p:txBody>
      </p:sp>
    </p:spTree>
  </p:cSld>
  <p:clrMapOvr>
    <a:masterClrMapping/>
  </p:clrMapOvr>
  <p:transition spd="med">
    <p:blinds dir="ver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3"/>
          <p:cNvSpPr>
            <a:spLocks noGrp="1"/>
          </p:cNvSpPr>
          <p:nvPr>
            <p:ph type="sldNum" sz="quarter" idx="12"/>
          </p:nvPr>
        </p:nvSpPr>
        <p:spPr>
          <a:noFill/>
        </p:spPr>
        <p:txBody>
          <a:bodyPr/>
          <a:lstStyle/>
          <a:p>
            <a:fld id="{2E18893D-72BB-4A77-8B9C-AAD5B796C34F}" type="slidenum">
              <a:rPr lang="en-US" altLang="zh-CN" smtClean="0"/>
              <a:pPr/>
              <a:t>24</a:t>
            </a:fld>
            <a:endParaRPr lang="en-US" altLang="zh-CN" smtClean="0"/>
          </a:p>
        </p:txBody>
      </p:sp>
      <p:sp>
        <p:nvSpPr>
          <p:cNvPr id="66563" name="Text Box 2"/>
          <p:cNvSpPr txBox="1">
            <a:spLocks noChangeArrowheads="1"/>
          </p:cNvSpPr>
          <p:nvPr/>
        </p:nvSpPr>
        <p:spPr bwMode="auto">
          <a:xfrm>
            <a:off x="4364038" y="0"/>
            <a:ext cx="477996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各种体系的能级分布和微观状态数</a:t>
            </a:r>
            <a:endParaRPr lang="zh-CN" altLang="en-US" sz="2400">
              <a:solidFill>
                <a:schemeClr val="bg1"/>
              </a:solidFill>
              <a:latin typeface="Times New Roman" pitchFamily="18" charset="0"/>
            </a:endParaRPr>
          </a:p>
        </p:txBody>
      </p:sp>
      <p:sp>
        <p:nvSpPr>
          <p:cNvPr id="66564" name="Rectangle 3"/>
          <p:cNvSpPr>
            <a:spLocks noGrp="1" noRot="1" noChangeArrowheads="1"/>
          </p:cNvSpPr>
          <p:nvPr/>
        </p:nvSpPr>
        <p:spPr bwMode="auto">
          <a:xfrm>
            <a:off x="298450" y="228600"/>
            <a:ext cx="8540750" cy="1143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微观状态数</a:t>
            </a:r>
          </a:p>
        </p:txBody>
      </p:sp>
      <p:sp>
        <p:nvSpPr>
          <p:cNvPr id="29700" name="Text Box 4"/>
          <p:cNvSpPr txBox="1">
            <a:spLocks noChangeArrowheads="1"/>
          </p:cNvSpPr>
          <p:nvPr/>
        </p:nvSpPr>
        <p:spPr bwMode="auto">
          <a:xfrm>
            <a:off x="762000" y="1539421"/>
            <a:ext cx="8150225" cy="2246769"/>
          </a:xfrm>
          <a:prstGeom prst="rect">
            <a:avLst/>
          </a:prstGeom>
          <a:noFill/>
          <a:ln w="9525">
            <a:noFill/>
            <a:miter lim="800000"/>
            <a:headEnd/>
            <a:tailEnd/>
          </a:ln>
        </p:spPr>
        <p:txBody>
          <a:bodyPr>
            <a:spAutoFit/>
          </a:bodyPr>
          <a:lstStyle/>
          <a:p>
            <a:r>
              <a:rPr lang="zh-CN" altLang="en-US" sz="2800" b="1" dirty="0" smtClean="0">
                <a:solidFill>
                  <a:schemeClr val="bg1"/>
                </a:solidFill>
                <a:latin typeface="华文中宋" pitchFamily="2" charset="-122"/>
                <a:ea typeface="华文中宋" pitchFamily="2" charset="-122"/>
              </a:rPr>
              <a:t>宏观体系平衡态可用几</a:t>
            </a:r>
            <a:r>
              <a:rPr lang="zh-CN" altLang="en-US" sz="2800" b="1" dirty="0">
                <a:solidFill>
                  <a:schemeClr val="bg1"/>
                </a:solidFill>
                <a:latin typeface="华文中宋" pitchFamily="2" charset="-122"/>
                <a:ea typeface="华文中宋" pitchFamily="2" charset="-122"/>
              </a:rPr>
              <a:t>个宏观</a:t>
            </a:r>
            <a:r>
              <a:rPr lang="zh-CN" altLang="en-US" sz="2800" b="1" dirty="0" smtClean="0">
                <a:solidFill>
                  <a:schemeClr val="bg1"/>
                </a:solidFill>
                <a:latin typeface="华文中宋" pitchFamily="2" charset="-122"/>
                <a:ea typeface="华文中宋" pitchFamily="2" charset="-122"/>
              </a:rPr>
              <a:t>参量来</a:t>
            </a:r>
            <a:r>
              <a:rPr lang="zh-CN" altLang="en-US" sz="2800" b="1" dirty="0">
                <a:solidFill>
                  <a:schemeClr val="bg1"/>
                </a:solidFill>
                <a:latin typeface="华文中宋" pitchFamily="2" charset="-122"/>
                <a:ea typeface="华文中宋" pitchFamily="2" charset="-122"/>
              </a:rPr>
              <a:t>描述</a:t>
            </a:r>
            <a:r>
              <a:rPr lang="zh-CN" altLang="en-US" sz="2800" b="1" dirty="0" smtClean="0">
                <a:solidFill>
                  <a:schemeClr val="bg1"/>
                </a:solidFill>
                <a:latin typeface="华文中宋" pitchFamily="2" charset="-122"/>
                <a:ea typeface="华文中宋" pitchFamily="2" charset="-122"/>
              </a:rPr>
              <a:t>，也</a:t>
            </a:r>
            <a:r>
              <a:rPr lang="zh-CN" altLang="en-US" sz="2800" b="1" dirty="0">
                <a:solidFill>
                  <a:schemeClr val="bg1"/>
                </a:solidFill>
                <a:latin typeface="华文中宋" pitchFamily="2" charset="-122"/>
                <a:ea typeface="华文中宋" pitchFamily="2" charset="-122"/>
              </a:rPr>
              <a:t>是施加于体系的宏观</a:t>
            </a:r>
            <a:r>
              <a:rPr lang="zh-CN" altLang="en-US" sz="2800" b="1" dirty="0" smtClean="0">
                <a:solidFill>
                  <a:schemeClr val="bg1"/>
                </a:solidFill>
                <a:latin typeface="华文中宋" pitchFamily="2" charset="-122"/>
                <a:ea typeface="华文中宋" pitchFamily="2" charset="-122"/>
              </a:rPr>
              <a:t>约束，但这些约束</a:t>
            </a:r>
            <a:r>
              <a:rPr lang="zh-CN" altLang="en-US" sz="2800" b="1" dirty="0">
                <a:solidFill>
                  <a:schemeClr val="bg1"/>
                </a:solidFill>
                <a:latin typeface="华文中宋" pitchFamily="2" charset="-122"/>
                <a:ea typeface="华文中宋" pitchFamily="2" charset="-122"/>
              </a:rPr>
              <a:t>不能具体限制到体系究竟处于那个微观热力学</a:t>
            </a:r>
            <a:r>
              <a:rPr lang="zh-CN" altLang="en-US" sz="2800" b="1" dirty="0" smtClean="0">
                <a:solidFill>
                  <a:schemeClr val="bg1"/>
                </a:solidFill>
                <a:latin typeface="华文中宋" pitchFamily="2" charset="-122"/>
                <a:ea typeface="华文中宋" pitchFamily="2" charset="-122"/>
              </a:rPr>
              <a:t>状态，</a:t>
            </a:r>
            <a:r>
              <a:rPr lang="zh-CN" altLang="en-US" sz="2800" b="1" dirty="0">
                <a:solidFill>
                  <a:schemeClr val="bg1"/>
                </a:solidFill>
                <a:latin typeface="华文中宋" pitchFamily="2" charset="-122"/>
                <a:ea typeface="华文中宋" pitchFamily="2" charset="-122"/>
              </a:rPr>
              <a:t>但它限制着体系可具有的微观态不能是任意的，只能与处在那些描述宏观约束的宏观参量相容的量子态上。 </a:t>
            </a:r>
          </a:p>
        </p:txBody>
      </p:sp>
      <p:sp>
        <p:nvSpPr>
          <p:cNvPr id="29701" name="Text Box 5"/>
          <p:cNvSpPr txBox="1">
            <a:spLocks noChangeArrowheads="1"/>
          </p:cNvSpPr>
          <p:nvPr/>
        </p:nvSpPr>
        <p:spPr bwMode="auto">
          <a:xfrm>
            <a:off x="838200" y="4311650"/>
            <a:ext cx="8578850" cy="1373188"/>
          </a:xfrm>
          <a:prstGeom prst="rect">
            <a:avLst/>
          </a:prstGeom>
          <a:noFill/>
          <a:ln w="9525">
            <a:noFill/>
            <a:miter lim="800000"/>
            <a:headEnd/>
            <a:tailEnd/>
          </a:ln>
        </p:spPr>
        <p:txBody>
          <a:bodyPr wrap="none">
            <a:spAutoFit/>
          </a:bodyPr>
          <a:lstStyle/>
          <a:p>
            <a:r>
              <a:rPr lang="zh-CN" altLang="en-US" sz="2800" b="1">
                <a:solidFill>
                  <a:schemeClr val="bg1"/>
                </a:solidFill>
                <a:latin typeface="华文中宋" pitchFamily="2" charset="-122"/>
                <a:ea typeface="华文中宋" pitchFamily="2" charset="-122"/>
              </a:rPr>
              <a:t>假定各种微观状态出现的几率是相同的，那么一种</a:t>
            </a:r>
          </a:p>
          <a:p>
            <a:r>
              <a:rPr lang="zh-CN" altLang="en-US" sz="2800" b="1">
                <a:solidFill>
                  <a:schemeClr val="bg1"/>
                </a:solidFill>
                <a:latin typeface="华文中宋" pitchFamily="2" charset="-122"/>
                <a:ea typeface="华文中宋" pitchFamily="2" charset="-122"/>
              </a:rPr>
              <a:t>宏观状态对应的微观状态数越多，则该宏观状态出</a:t>
            </a:r>
          </a:p>
          <a:p>
            <a:r>
              <a:rPr lang="zh-CN" altLang="en-US" sz="2800" b="1">
                <a:solidFill>
                  <a:schemeClr val="bg1"/>
                </a:solidFill>
                <a:latin typeface="华文中宋" pitchFamily="2" charset="-122"/>
                <a:ea typeface="华文中宋" pitchFamily="2" charset="-122"/>
              </a:rPr>
              <a:t>现的可能就越大，即这种宏观状态出现的几率越大。 </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9700"/>
                                        </p:tgtEl>
                                        <p:attrNameLst>
                                          <p:attrName>style.visibility</p:attrName>
                                        </p:attrNameLst>
                                      </p:cBhvr>
                                      <p:to>
                                        <p:strVal val="visible"/>
                                      </p:to>
                                    </p:set>
                                    <p:animEffect transition="in" filter="barn(inHorizontal)">
                                      <p:cBhvr>
                                        <p:cTn id="7" dur="500"/>
                                        <p:tgtEl>
                                          <p:spTgt spid="2970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29701"/>
                                        </p:tgtEl>
                                        <p:attrNameLst>
                                          <p:attrName>style.visibility</p:attrName>
                                        </p:attrNameLst>
                                      </p:cBhvr>
                                      <p:to>
                                        <p:strVal val="visible"/>
                                      </p:to>
                                    </p:set>
                                    <p:animEffect transition="in" filter="barn(inHorizontal)">
                                      <p:cBhvr>
                                        <p:cTn id="12" dur="500"/>
                                        <p:tgtEl>
                                          <p:spTgt spid="297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autoUpdateAnimBg="0"/>
      <p:bldP spid="29701"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3"/>
          <p:cNvSpPr>
            <a:spLocks noGrp="1"/>
          </p:cNvSpPr>
          <p:nvPr>
            <p:ph type="sldNum" sz="quarter" idx="12"/>
          </p:nvPr>
        </p:nvSpPr>
        <p:spPr>
          <a:noFill/>
        </p:spPr>
        <p:txBody>
          <a:bodyPr/>
          <a:lstStyle/>
          <a:p>
            <a:fld id="{F9785445-CB1E-42F3-85CC-E7538F93390A}" type="slidenum">
              <a:rPr lang="en-US" altLang="zh-CN" smtClean="0"/>
              <a:pPr/>
              <a:t>25</a:t>
            </a:fld>
            <a:endParaRPr lang="en-US" altLang="zh-CN" smtClean="0"/>
          </a:p>
        </p:txBody>
      </p:sp>
      <p:sp>
        <p:nvSpPr>
          <p:cNvPr id="67587" name="Text Box 2"/>
          <p:cNvSpPr txBox="1">
            <a:spLocks noChangeArrowheads="1"/>
          </p:cNvSpPr>
          <p:nvPr/>
        </p:nvSpPr>
        <p:spPr bwMode="auto">
          <a:xfrm>
            <a:off x="4364038" y="0"/>
            <a:ext cx="477996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各种体系的能级分布和微观状态数</a:t>
            </a:r>
            <a:endParaRPr lang="zh-CN" altLang="en-US" sz="2400">
              <a:solidFill>
                <a:schemeClr val="bg1"/>
              </a:solidFill>
              <a:latin typeface="Times New Roman" pitchFamily="18" charset="0"/>
            </a:endParaRPr>
          </a:p>
        </p:txBody>
      </p:sp>
      <p:sp>
        <p:nvSpPr>
          <p:cNvPr id="67588" name="Rectangle 3"/>
          <p:cNvSpPr>
            <a:spLocks noGrp="1" noRot="1" noChangeArrowheads="1"/>
          </p:cNvSpPr>
          <p:nvPr/>
        </p:nvSpPr>
        <p:spPr bwMode="auto">
          <a:xfrm>
            <a:off x="298450" y="285728"/>
            <a:ext cx="8540750" cy="1143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微观状态数</a:t>
            </a:r>
          </a:p>
        </p:txBody>
      </p:sp>
      <p:sp>
        <p:nvSpPr>
          <p:cNvPr id="30724" name="Text Box 4"/>
          <p:cNvSpPr txBox="1">
            <a:spLocks noChangeArrowheads="1"/>
          </p:cNvSpPr>
          <p:nvPr/>
        </p:nvSpPr>
        <p:spPr bwMode="auto">
          <a:xfrm>
            <a:off x="685800" y="1793875"/>
            <a:ext cx="8229600" cy="4031873"/>
          </a:xfrm>
          <a:prstGeom prst="rect">
            <a:avLst/>
          </a:prstGeom>
          <a:noFill/>
          <a:ln w="9525">
            <a:noFill/>
            <a:miter lim="800000"/>
            <a:headEnd/>
            <a:tailEnd/>
          </a:ln>
        </p:spPr>
        <p:txBody>
          <a:bodyPr>
            <a:spAutoFit/>
          </a:bodyPr>
          <a:lstStyle/>
          <a:p>
            <a:r>
              <a:rPr lang="zh-CN" altLang="en-US" sz="3200" b="1" dirty="0">
                <a:solidFill>
                  <a:schemeClr val="bg1"/>
                </a:solidFill>
                <a:latin typeface="Times New Roman" pitchFamily="18" charset="0"/>
                <a:ea typeface="华文中宋" pitchFamily="2" charset="-122"/>
                <a:cs typeface="Times New Roman" pitchFamily="18" charset="0"/>
              </a:rPr>
              <a:t>尽管在数学中几率通常是小于</a:t>
            </a:r>
            <a:r>
              <a:rPr lang="en-US" altLang="zh-CN" sz="3200" b="1" dirty="0">
                <a:solidFill>
                  <a:schemeClr val="bg1"/>
                </a:solidFill>
                <a:latin typeface="Times New Roman" pitchFamily="18" charset="0"/>
                <a:ea typeface="华文中宋" pitchFamily="2" charset="-122"/>
                <a:cs typeface="Times New Roman" pitchFamily="18" charset="0"/>
              </a:rPr>
              <a:t>1</a:t>
            </a:r>
            <a:r>
              <a:rPr lang="zh-CN" altLang="en-US" sz="3200" b="1" dirty="0">
                <a:solidFill>
                  <a:schemeClr val="bg1"/>
                </a:solidFill>
                <a:latin typeface="Times New Roman" pitchFamily="18" charset="0"/>
                <a:ea typeface="华文中宋" pitchFamily="2" charset="-122"/>
                <a:cs typeface="Times New Roman" pitchFamily="18" charset="0"/>
              </a:rPr>
              <a:t>的数，而宏观状态对应的微观状态数往往是非常大的数。但为了强调一个宏观状态对应的微观状态数与其出现几率之间的联系，通常将一个宏观体系对应的</a:t>
            </a:r>
            <a:r>
              <a:rPr lang="zh-CN" altLang="en-US" sz="3200" b="1" u="sng" dirty="0">
                <a:solidFill>
                  <a:srgbClr val="D2DC08"/>
                </a:solidFill>
                <a:latin typeface="Times New Roman" pitchFamily="18" charset="0"/>
                <a:ea typeface="华文中宋" pitchFamily="2" charset="-122"/>
                <a:cs typeface="Times New Roman" pitchFamily="18" charset="0"/>
              </a:rPr>
              <a:t>微观状态数</a:t>
            </a:r>
            <a:r>
              <a:rPr lang="en-US" altLang="zh-CN" sz="3200" b="1" u="sng" dirty="0">
                <a:solidFill>
                  <a:srgbClr val="D2DC08"/>
                </a:solidFill>
                <a:latin typeface="Times New Roman" pitchFamily="18" charset="0"/>
                <a:ea typeface="华文中宋" pitchFamily="2" charset="-122"/>
                <a:cs typeface="Times New Roman" pitchFamily="18" charset="0"/>
              </a:rPr>
              <a:t>(Number of microstates) </a:t>
            </a:r>
            <a:r>
              <a:rPr lang="zh-CN" altLang="en-US" sz="3200" b="1" dirty="0">
                <a:solidFill>
                  <a:schemeClr val="bg1"/>
                </a:solidFill>
                <a:latin typeface="Times New Roman" pitchFamily="18" charset="0"/>
                <a:ea typeface="华文中宋" pitchFamily="2" charset="-122"/>
                <a:cs typeface="Times New Roman" pitchFamily="18" charset="0"/>
              </a:rPr>
              <a:t>称为其</a:t>
            </a:r>
            <a:r>
              <a:rPr lang="zh-CN" altLang="en-US" sz="3200" b="1" u="sng" dirty="0">
                <a:solidFill>
                  <a:srgbClr val="D2DC08"/>
                </a:solidFill>
                <a:latin typeface="Times New Roman" pitchFamily="18" charset="0"/>
                <a:ea typeface="华文中宋" pitchFamily="2" charset="-122"/>
                <a:cs typeface="Times New Roman" pitchFamily="18" charset="0"/>
              </a:rPr>
              <a:t>热力学几率</a:t>
            </a:r>
            <a:r>
              <a:rPr lang="en-US" altLang="zh-CN" sz="3200" b="1" u="sng" dirty="0">
                <a:solidFill>
                  <a:srgbClr val="D2DC08"/>
                </a:solidFill>
                <a:latin typeface="Times New Roman" pitchFamily="18" charset="0"/>
                <a:ea typeface="华文中宋" pitchFamily="2" charset="-122"/>
                <a:cs typeface="Times New Roman" pitchFamily="18" charset="0"/>
              </a:rPr>
              <a:t>(Thermodynamic probability)</a:t>
            </a:r>
            <a:r>
              <a:rPr lang="zh-CN" altLang="en-US" sz="3200" b="1" dirty="0">
                <a:solidFill>
                  <a:srgbClr val="D2DC08"/>
                </a:solidFill>
                <a:latin typeface="Times New Roman" pitchFamily="18" charset="0"/>
                <a:ea typeface="华文中宋" pitchFamily="2" charset="-122"/>
                <a:cs typeface="Times New Roman" pitchFamily="18" charset="0"/>
              </a:rPr>
              <a:t>，</a:t>
            </a:r>
            <a:r>
              <a:rPr lang="zh-CN" altLang="en-US" sz="3200" b="1" dirty="0">
                <a:solidFill>
                  <a:schemeClr val="bg1"/>
                </a:solidFill>
                <a:latin typeface="Times New Roman" pitchFamily="18" charset="0"/>
                <a:ea typeface="华文中宋" pitchFamily="2" charset="-122"/>
                <a:cs typeface="Times New Roman" pitchFamily="18" charset="0"/>
              </a:rPr>
              <a:t>常用</a:t>
            </a:r>
            <a:r>
              <a:rPr lang="en-US" altLang="zh-CN" sz="3200" b="1" dirty="0">
                <a:solidFill>
                  <a:srgbClr val="D2DC08"/>
                </a:solidFill>
                <a:latin typeface="Times New Roman" pitchFamily="18" charset="0"/>
                <a:ea typeface="华文中宋" pitchFamily="2" charset="-122"/>
                <a:cs typeface="Times New Roman" pitchFamily="18" charset="0"/>
              </a:rPr>
              <a:t>Ω</a:t>
            </a:r>
            <a:r>
              <a:rPr lang="zh-CN" altLang="en-US" sz="3200" b="1" dirty="0">
                <a:solidFill>
                  <a:schemeClr val="bg1"/>
                </a:solidFill>
                <a:latin typeface="Times New Roman" pitchFamily="18" charset="0"/>
                <a:ea typeface="华文中宋" pitchFamily="2" charset="-122"/>
                <a:cs typeface="Times New Roman" pitchFamily="18" charset="0"/>
              </a:rPr>
              <a:t>或</a:t>
            </a:r>
            <a:r>
              <a:rPr lang="en-US" altLang="zh-CN" sz="3200" b="1" i="1" dirty="0">
                <a:solidFill>
                  <a:srgbClr val="D2DC08"/>
                </a:solidFill>
                <a:latin typeface="Times New Roman" pitchFamily="18" charset="0"/>
                <a:ea typeface="华文中宋" pitchFamily="2" charset="-122"/>
                <a:cs typeface="Times New Roman" pitchFamily="18" charset="0"/>
              </a:rPr>
              <a:t>W</a:t>
            </a:r>
            <a:r>
              <a:rPr lang="zh-CN" altLang="en-US" sz="3200" b="1" dirty="0">
                <a:solidFill>
                  <a:schemeClr val="bg1"/>
                </a:solidFill>
                <a:latin typeface="Times New Roman" pitchFamily="18" charset="0"/>
                <a:ea typeface="华文中宋" pitchFamily="2" charset="-122"/>
                <a:cs typeface="Times New Roman" pitchFamily="18" charset="0"/>
              </a:rPr>
              <a:t>表示。</a:t>
            </a:r>
            <a:r>
              <a:rPr lang="zh-CN" altLang="en-US" sz="3200" b="1" dirty="0">
                <a:solidFill>
                  <a:srgbClr val="D2DC08"/>
                </a:solidFill>
                <a:latin typeface="Times New Roman" pitchFamily="18" charset="0"/>
                <a:ea typeface="华文中宋" pitchFamily="2" charset="-122"/>
                <a:cs typeface="Times New Roman" pitchFamily="18" charset="0"/>
              </a:rPr>
              <a:t> </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30724"/>
                                        </p:tgtEl>
                                        <p:attrNameLst>
                                          <p:attrName>style.visibility</p:attrName>
                                        </p:attrNameLst>
                                      </p:cBhvr>
                                      <p:to>
                                        <p:strVal val="visible"/>
                                      </p:to>
                                    </p:set>
                                    <p:animEffect transition="in" filter="barn(outHorizontal)">
                                      <p:cBhvr>
                                        <p:cTn id="7" dur="500"/>
                                        <p:tgtEl>
                                          <p:spTgt spid="30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2" name="灯片编号占位符 3"/>
          <p:cNvSpPr>
            <a:spLocks noGrp="1"/>
          </p:cNvSpPr>
          <p:nvPr>
            <p:ph type="sldNum" sz="quarter" idx="12"/>
          </p:nvPr>
        </p:nvSpPr>
        <p:spPr>
          <a:noFill/>
        </p:spPr>
        <p:txBody>
          <a:bodyPr/>
          <a:lstStyle/>
          <a:p>
            <a:fld id="{8E8F6B5D-9B4E-45EF-99BF-0E46DD3818A2}" type="slidenum">
              <a:rPr lang="en-US" altLang="zh-CN" smtClean="0">
                <a:latin typeface="Times New Roman" pitchFamily="18" charset="0"/>
                <a:ea typeface="华文中宋" pitchFamily="2" charset="-122"/>
                <a:cs typeface="Times New Roman" pitchFamily="18" charset="0"/>
              </a:rPr>
              <a:pPr/>
              <a:t>26</a:t>
            </a:fld>
            <a:endParaRPr lang="en-US" altLang="zh-CN" smtClean="0">
              <a:latin typeface="Times New Roman" pitchFamily="18" charset="0"/>
              <a:ea typeface="华文中宋" pitchFamily="2" charset="-122"/>
              <a:cs typeface="Times New Roman" pitchFamily="18" charset="0"/>
            </a:endParaRPr>
          </a:p>
        </p:txBody>
      </p:sp>
      <p:sp>
        <p:nvSpPr>
          <p:cNvPr id="14343" name="Text Box 2"/>
          <p:cNvSpPr txBox="1">
            <a:spLocks noChangeArrowheads="1"/>
          </p:cNvSpPr>
          <p:nvPr/>
        </p:nvSpPr>
        <p:spPr bwMode="auto">
          <a:xfrm>
            <a:off x="4364038" y="0"/>
            <a:ext cx="477996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各种体系的能级分布和微观状态数</a:t>
            </a:r>
            <a:endParaRPr lang="zh-CN" altLang="en-US" sz="2400">
              <a:solidFill>
                <a:schemeClr val="bg1"/>
              </a:solidFill>
              <a:latin typeface="Times New Roman" pitchFamily="18" charset="0"/>
            </a:endParaRPr>
          </a:p>
        </p:txBody>
      </p:sp>
      <p:sp>
        <p:nvSpPr>
          <p:cNvPr id="31747" name="Rectangle 3"/>
          <p:cNvSpPr>
            <a:spLocks noGrp="1" noRot="1" noChangeArrowheads="1"/>
          </p:cNvSpPr>
          <p:nvPr/>
        </p:nvSpPr>
        <p:spPr bwMode="auto">
          <a:xfrm>
            <a:off x="298450" y="228600"/>
            <a:ext cx="8540750" cy="1143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微观状态数计算举例</a:t>
            </a:r>
          </a:p>
        </p:txBody>
      </p:sp>
      <p:grpSp>
        <p:nvGrpSpPr>
          <p:cNvPr id="2" name="Group 25"/>
          <p:cNvGrpSpPr>
            <a:grpSpLocks/>
          </p:cNvGrpSpPr>
          <p:nvPr/>
        </p:nvGrpSpPr>
        <p:grpSpPr bwMode="auto">
          <a:xfrm>
            <a:off x="762000" y="1143000"/>
            <a:ext cx="8145463" cy="2362200"/>
            <a:chOff x="480" y="720"/>
            <a:chExt cx="5131" cy="1488"/>
          </a:xfrm>
        </p:grpSpPr>
        <p:grpSp>
          <p:nvGrpSpPr>
            <p:cNvPr id="14371" name="Group 9"/>
            <p:cNvGrpSpPr>
              <a:grpSpLocks/>
            </p:cNvGrpSpPr>
            <p:nvPr/>
          </p:nvGrpSpPr>
          <p:grpSpPr bwMode="auto">
            <a:xfrm>
              <a:off x="528" y="749"/>
              <a:ext cx="5083" cy="1440"/>
              <a:chOff x="528" y="781"/>
              <a:chExt cx="5083" cy="1440"/>
            </a:xfrm>
          </p:grpSpPr>
          <p:sp>
            <p:nvSpPr>
              <p:cNvPr id="14373" name="Text Box 4"/>
              <p:cNvSpPr txBox="1">
                <a:spLocks noChangeArrowheads="1"/>
              </p:cNvSpPr>
              <p:nvPr/>
            </p:nvSpPr>
            <p:spPr bwMode="auto">
              <a:xfrm>
                <a:off x="528" y="781"/>
                <a:ext cx="5083" cy="523"/>
              </a:xfrm>
              <a:prstGeom prst="rect">
                <a:avLst/>
              </a:prstGeom>
              <a:noFill/>
              <a:ln w="9525">
                <a:noFill/>
                <a:miter lim="800000"/>
                <a:headEnd/>
                <a:tailEnd/>
              </a:ln>
            </p:spPr>
            <p:txBody>
              <a:bodyPr wrap="none">
                <a:spAutoFit/>
              </a:bodyPr>
              <a:lstStyle/>
              <a:p>
                <a:r>
                  <a:rPr lang="zh-CN" altLang="en-US" sz="2400" b="1" dirty="0">
                    <a:solidFill>
                      <a:srgbClr val="D2DC08"/>
                    </a:solidFill>
                    <a:latin typeface="Times New Roman" pitchFamily="18" charset="0"/>
                    <a:ea typeface="华文中宋" pitchFamily="2" charset="-122"/>
                    <a:cs typeface="Times New Roman" pitchFamily="18" charset="0"/>
                  </a:rPr>
                  <a:t>例：一个体系中有</a:t>
                </a:r>
                <a:r>
                  <a:rPr lang="en-US" altLang="zh-CN" sz="2400" b="1" dirty="0">
                    <a:solidFill>
                      <a:srgbClr val="D2DC08"/>
                    </a:solidFill>
                    <a:latin typeface="Times New Roman" pitchFamily="18" charset="0"/>
                    <a:ea typeface="华文中宋" pitchFamily="2" charset="-122"/>
                    <a:cs typeface="Times New Roman" pitchFamily="18" charset="0"/>
                  </a:rPr>
                  <a:t>2</a:t>
                </a:r>
                <a:r>
                  <a:rPr lang="zh-CN" altLang="en-US" sz="2400" b="1" dirty="0">
                    <a:solidFill>
                      <a:srgbClr val="D2DC08"/>
                    </a:solidFill>
                    <a:latin typeface="Times New Roman" pitchFamily="18" charset="0"/>
                    <a:ea typeface="华文中宋" pitchFamily="2" charset="-122"/>
                    <a:cs typeface="Times New Roman" pitchFamily="18" charset="0"/>
                  </a:rPr>
                  <a:t>个三维平动子，假设为定域子，即它们</a:t>
                </a:r>
              </a:p>
              <a:p>
                <a:r>
                  <a:rPr lang="zh-CN" altLang="en-US" sz="2400" b="1" dirty="0">
                    <a:solidFill>
                      <a:srgbClr val="D2DC08"/>
                    </a:solidFill>
                    <a:latin typeface="Times New Roman" pitchFamily="18" charset="0"/>
                    <a:ea typeface="华文中宋" pitchFamily="2" charset="-122"/>
                    <a:cs typeface="Times New Roman" pitchFamily="18" charset="0"/>
                  </a:rPr>
                  <a:t>是可分辨的。若其总能量为  </a:t>
                </a:r>
              </a:p>
            </p:txBody>
          </p:sp>
          <p:graphicFrame>
            <p:nvGraphicFramePr>
              <p:cNvPr id="14341" name="Object 5"/>
              <p:cNvGraphicFramePr>
                <a:graphicFrameLocks noChangeAspect="1"/>
              </p:cNvGraphicFramePr>
              <p:nvPr/>
            </p:nvGraphicFramePr>
            <p:xfrm>
              <a:off x="2208" y="1213"/>
              <a:ext cx="875" cy="659"/>
            </p:xfrm>
            <a:graphic>
              <a:graphicData uri="http://schemas.openxmlformats.org/presentationml/2006/ole">
                <p:oleObj spid="_x0000_s14341" r:id="rId3" imgW="698500" imgH="520700" progId="Equation.DSMT4">
                  <p:embed/>
                </p:oleObj>
              </a:graphicData>
            </a:graphic>
          </p:graphicFrame>
          <p:sp>
            <p:nvSpPr>
              <p:cNvPr id="14374" name="Text Box 7"/>
              <p:cNvSpPr txBox="1">
                <a:spLocks noChangeArrowheads="1"/>
              </p:cNvSpPr>
              <p:nvPr/>
            </p:nvSpPr>
            <p:spPr bwMode="auto">
              <a:xfrm>
                <a:off x="528" y="1933"/>
                <a:ext cx="4410" cy="288"/>
              </a:xfrm>
              <a:prstGeom prst="rect">
                <a:avLst/>
              </a:prstGeom>
              <a:noFill/>
              <a:ln w="9525">
                <a:noFill/>
                <a:miter lim="800000"/>
                <a:headEnd/>
                <a:tailEnd/>
              </a:ln>
            </p:spPr>
            <p:txBody>
              <a:bodyPr wrap="none">
                <a:spAutoFit/>
              </a:bodyPr>
              <a:lstStyle/>
              <a:p>
                <a:r>
                  <a:rPr lang="zh-CN" altLang="en-US" sz="2400" b="1">
                    <a:solidFill>
                      <a:srgbClr val="D2DC08"/>
                    </a:solidFill>
                    <a:latin typeface="Times New Roman" pitchFamily="18" charset="0"/>
                    <a:ea typeface="华文中宋" pitchFamily="2" charset="-122"/>
                    <a:cs typeface="Times New Roman" pitchFamily="18" charset="0"/>
                  </a:rPr>
                  <a:t>满足能量约束条件的能量分配方案？微观状态数？ </a:t>
                </a:r>
              </a:p>
            </p:txBody>
          </p:sp>
        </p:grpSp>
        <p:sp>
          <p:nvSpPr>
            <p:cNvPr id="14372" name="Rectangle 10"/>
            <p:cNvSpPr>
              <a:spLocks noChangeArrowheads="1"/>
            </p:cNvSpPr>
            <p:nvPr/>
          </p:nvSpPr>
          <p:spPr bwMode="auto">
            <a:xfrm>
              <a:off x="480" y="720"/>
              <a:ext cx="5088" cy="1488"/>
            </a:xfrm>
            <a:prstGeom prst="rect">
              <a:avLst/>
            </a:prstGeom>
            <a:noFill/>
            <a:ln w="57150">
              <a:solidFill>
                <a:schemeClr val="tx2"/>
              </a:solidFill>
              <a:miter lim="800000"/>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grpSp>
      <p:grpSp>
        <p:nvGrpSpPr>
          <p:cNvPr id="4" name="Group 35"/>
          <p:cNvGrpSpPr>
            <a:grpSpLocks/>
          </p:cNvGrpSpPr>
          <p:nvPr/>
        </p:nvGrpSpPr>
        <p:grpSpPr bwMode="auto">
          <a:xfrm>
            <a:off x="762000" y="3657600"/>
            <a:ext cx="8382000" cy="1042988"/>
            <a:chOff x="480" y="2304"/>
            <a:chExt cx="5280" cy="657"/>
          </a:xfrm>
        </p:grpSpPr>
        <p:sp>
          <p:nvSpPr>
            <p:cNvPr id="14366" name="Text Box 8"/>
            <p:cNvSpPr txBox="1">
              <a:spLocks noChangeArrowheads="1"/>
            </p:cNvSpPr>
            <p:nvPr/>
          </p:nvSpPr>
          <p:spPr bwMode="auto">
            <a:xfrm>
              <a:off x="480" y="2461"/>
              <a:ext cx="2224" cy="291"/>
            </a:xfrm>
            <a:prstGeom prst="rect">
              <a:avLst/>
            </a:prstGeom>
            <a:noFill/>
            <a:ln w="9525">
              <a:noFill/>
              <a:miter lim="800000"/>
              <a:headEnd/>
              <a:tailEnd/>
            </a:ln>
          </p:spPr>
          <p:txBody>
            <a:bodyPr wrap="none">
              <a:spAutoFit/>
            </a:bodyPr>
            <a:lstStyle/>
            <a:p>
              <a:r>
                <a:rPr lang="en-US" altLang="zh-CN" sz="2400" b="1">
                  <a:solidFill>
                    <a:schemeClr val="bg1"/>
                  </a:solidFill>
                  <a:latin typeface="Times New Roman" pitchFamily="18" charset="0"/>
                  <a:ea typeface="华文中宋" pitchFamily="2" charset="-122"/>
                  <a:cs typeface="Times New Roman" pitchFamily="18" charset="0"/>
                </a:rPr>
                <a:t>(1) </a:t>
              </a:r>
              <a:r>
                <a:rPr lang="zh-CN" altLang="en-US" sz="2400" b="1">
                  <a:solidFill>
                    <a:schemeClr val="bg1"/>
                  </a:solidFill>
                  <a:latin typeface="Times New Roman" pitchFamily="18" charset="0"/>
                  <a:ea typeface="华文中宋" pitchFamily="2" charset="-122"/>
                  <a:cs typeface="Times New Roman" pitchFamily="18" charset="0"/>
                </a:rPr>
                <a:t>两个粒子的能量均为 </a:t>
              </a:r>
            </a:p>
          </p:txBody>
        </p:sp>
        <p:graphicFrame>
          <p:nvGraphicFramePr>
            <p:cNvPr id="14340" name="Object 12"/>
            <p:cNvGraphicFramePr>
              <a:graphicFrameLocks noChangeAspect="1"/>
            </p:cNvGraphicFramePr>
            <p:nvPr/>
          </p:nvGraphicFramePr>
          <p:xfrm>
            <a:off x="2640" y="2304"/>
            <a:ext cx="848" cy="657"/>
          </p:xfrm>
          <a:graphic>
            <a:graphicData uri="http://schemas.openxmlformats.org/presentationml/2006/ole">
              <p:oleObj spid="_x0000_s14340" r:id="rId4" imgW="672808" imgH="520474" progId="Equation.DSMT4">
                <p:embed/>
              </p:oleObj>
            </a:graphicData>
          </a:graphic>
        </p:graphicFrame>
        <p:sp>
          <p:nvSpPr>
            <p:cNvPr id="14367" name="Text Box 14"/>
            <p:cNvSpPr txBox="1">
              <a:spLocks noChangeArrowheads="1"/>
            </p:cNvSpPr>
            <p:nvPr/>
          </p:nvSpPr>
          <p:spPr bwMode="auto">
            <a:xfrm>
              <a:off x="3696" y="2353"/>
              <a:ext cx="914" cy="582"/>
            </a:xfrm>
            <a:prstGeom prst="rect">
              <a:avLst/>
            </a:prstGeom>
            <a:noFill/>
            <a:ln w="28575">
              <a:solidFill>
                <a:schemeClr val="bg2"/>
              </a:solidFill>
              <a:miter lim="800000"/>
              <a:headEnd/>
              <a:tailEnd/>
            </a:ln>
          </p:spPr>
          <p:txBody>
            <a:bodyPr wrap="none">
              <a:spAutoFit/>
            </a:bodyPr>
            <a:lstStyle/>
            <a:p>
              <a:r>
                <a:rPr lang="en-US" altLang="zh-CN" b="1">
                  <a:solidFill>
                    <a:schemeClr val="bg1"/>
                  </a:solidFill>
                  <a:latin typeface="Times New Roman" pitchFamily="18" charset="0"/>
                  <a:ea typeface="华文中宋" pitchFamily="2" charset="-122"/>
                  <a:cs typeface="Times New Roman" pitchFamily="18" charset="0"/>
                </a:rPr>
                <a:t>(1,1,2)</a:t>
              </a:r>
            </a:p>
            <a:p>
              <a:r>
                <a:rPr lang="en-US" altLang="zh-CN" b="1">
                  <a:solidFill>
                    <a:schemeClr val="bg1"/>
                  </a:solidFill>
                  <a:latin typeface="Times New Roman" pitchFamily="18" charset="0"/>
                  <a:ea typeface="华文中宋" pitchFamily="2" charset="-122"/>
                  <a:cs typeface="Times New Roman" pitchFamily="18" charset="0"/>
                </a:rPr>
                <a:t>(1,2,1)     </a:t>
              </a:r>
              <a:r>
                <a:rPr lang="en-US" altLang="zh-CN" b="1" i="1">
                  <a:solidFill>
                    <a:schemeClr val="bg1"/>
                  </a:solidFill>
                  <a:latin typeface="Times New Roman" pitchFamily="18" charset="0"/>
                  <a:ea typeface="华文中宋" pitchFamily="2" charset="-122"/>
                  <a:cs typeface="Times New Roman" pitchFamily="18" charset="0"/>
                </a:rPr>
                <a:t>g</a:t>
              </a:r>
              <a:r>
                <a:rPr lang="en-US" altLang="zh-CN" b="1">
                  <a:solidFill>
                    <a:schemeClr val="bg1"/>
                  </a:solidFill>
                  <a:latin typeface="Times New Roman" pitchFamily="18" charset="0"/>
                  <a:ea typeface="华文中宋" pitchFamily="2" charset="-122"/>
                  <a:cs typeface="Times New Roman" pitchFamily="18" charset="0"/>
                </a:rPr>
                <a:t>=3</a:t>
              </a:r>
              <a:endParaRPr lang="en-US" altLang="zh-CN" b="1" i="1">
                <a:solidFill>
                  <a:schemeClr val="bg1"/>
                </a:solidFill>
                <a:latin typeface="Times New Roman" pitchFamily="18" charset="0"/>
                <a:ea typeface="华文中宋" pitchFamily="2" charset="-122"/>
                <a:cs typeface="Times New Roman" pitchFamily="18" charset="0"/>
              </a:endParaRPr>
            </a:p>
            <a:p>
              <a:r>
                <a:rPr lang="en-US" altLang="zh-CN" b="1">
                  <a:solidFill>
                    <a:schemeClr val="bg1"/>
                  </a:solidFill>
                  <a:latin typeface="Times New Roman" pitchFamily="18" charset="0"/>
                  <a:ea typeface="华文中宋" pitchFamily="2" charset="-122"/>
                  <a:cs typeface="Times New Roman" pitchFamily="18" charset="0"/>
                </a:rPr>
                <a:t>(2,1,1)</a:t>
              </a:r>
            </a:p>
          </p:txBody>
        </p:sp>
        <p:sp>
          <p:nvSpPr>
            <p:cNvPr id="14368" name="Line 15"/>
            <p:cNvSpPr>
              <a:spLocks noChangeShapeType="1"/>
            </p:cNvSpPr>
            <p:nvPr/>
          </p:nvSpPr>
          <p:spPr bwMode="auto">
            <a:xfrm>
              <a:off x="3504" y="2640"/>
              <a:ext cx="192" cy="0"/>
            </a:xfrm>
            <a:prstGeom prst="line">
              <a:avLst/>
            </a:prstGeom>
            <a:noFill/>
            <a:ln w="28575">
              <a:solidFill>
                <a:schemeClr val="bg2"/>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sp>
          <p:nvSpPr>
            <p:cNvPr id="14369" name="Line 16"/>
            <p:cNvSpPr>
              <a:spLocks noChangeShapeType="1"/>
            </p:cNvSpPr>
            <p:nvPr/>
          </p:nvSpPr>
          <p:spPr bwMode="auto">
            <a:xfrm>
              <a:off x="4680" y="2640"/>
              <a:ext cx="192" cy="0"/>
            </a:xfrm>
            <a:prstGeom prst="line">
              <a:avLst/>
            </a:prstGeom>
            <a:noFill/>
            <a:ln w="28575">
              <a:solidFill>
                <a:schemeClr val="bg2"/>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sp>
          <p:nvSpPr>
            <p:cNvPr id="14370" name="Text Box 17"/>
            <p:cNvSpPr txBox="1">
              <a:spLocks noChangeArrowheads="1"/>
            </p:cNvSpPr>
            <p:nvPr/>
          </p:nvSpPr>
          <p:spPr bwMode="auto">
            <a:xfrm>
              <a:off x="4888" y="2448"/>
              <a:ext cx="872" cy="368"/>
            </a:xfrm>
            <a:prstGeom prst="rect">
              <a:avLst/>
            </a:prstGeom>
            <a:solidFill>
              <a:schemeClr val="hlink"/>
            </a:solidFill>
            <a:ln w="57150">
              <a:noFill/>
              <a:miter lim="800000"/>
              <a:headEnd/>
              <a:tailEnd/>
            </a:ln>
          </p:spPr>
          <p:txBody>
            <a:bodyPr lIns="18000" rIns="18000">
              <a:spAutoFit/>
            </a:bodyPr>
            <a:lstStyle/>
            <a:p>
              <a:r>
                <a:rPr lang="en-US" altLang="zh-CN" sz="3200" b="1">
                  <a:solidFill>
                    <a:schemeClr val="bg1"/>
                  </a:solidFill>
                  <a:latin typeface="Times New Roman" pitchFamily="18" charset="0"/>
                  <a:ea typeface="华文中宋" pitchFamily="2" charset="-122"/>
                  <a:cs typeface="Times New Roman" pitchFamily="18" charset="0"/>
                </a:rPr>
                <a:t>3×3=9 </a:t>
              </a:r>
            </a:p>
          </p:txBody>
        </p:sp>
      </p:grpSp>
      <p:grpSp>
        <p:nvGrpSpPr>
          <p:cNvPr id="5" name="Group 24"/>
          <p:cNvGrpSpPr>
            <a:grpSpLocks/>
          </p:cNvGrpSpPr>
          <p:nvPr/>
        </p:nvGrpSpPr>
        <p:grpSpPr bwMode="auto">
          <a:xfrm>
            <a:off x="762000" y="5835650"/>
            <a:ext cx="7902575" cy="1098550"/>
            <a:chOff x="480" y="3278"/>
            <a:chExt cx="4978" cy="692"/>
          </a:xfrm>
        </p:grpSpPr>
        <p:sp>
          <p:nvSpPr>
            <p:cNvPr id="14364" name="Text Box 18"/>
            <p:cNvSpPr txBox="1">
              <a:spLocks noChangeArrowheads="1"/>
            </p:cNvSpPr>
            <p:nvPr/>
          </p:nvSpPr>
          <p:spPr bwMode="auto">
            <a:xfrm>
              <a:off x="480" y="3421"/>
              <a:ext cx="2418" cy="291"/>
            </a:xfrm>
            <a:prstGeom prst="rect">
              <a:avLst/>
            </a:prstGeom>
            <a:noFill/>
            <a:ln w="9525">
              <a:noFill/>
              <a:miter lim="800000"/>
              <a:headEnd/>
              <a:tailEnd/>
            </a:ln>
          </p:spPr>
          <p:txBody>
            <a:bodyPr wrap="none">
              <a:spAutoFit/>
            </a:bodyPr>
            <a:lstStyle/>
            <a:p>
              <a:r>
                <a:rPr lang="en-US" altLang="zh-CN" sz="2400" b="1">
                  <a:solidFill>
                    <a:schemeClr val="bg1"/>
                  </a:solidFill>
                  <a:latin typeface="Times New Roman" pitchFamily="18" charset="0"/>
                  <a:ea typeface="华文中宋" pitchFamily="2" charset="-122"/>
                  <a:cs typeface="Times New Roman" pitchFamily="18" charset="0"/>
                </a:rPr>
                <a:t>(2) </a:t>
              </a:r>
              <a:r>
                <a:rPr lang="zh-CN" altLang="en-US" sz="2400" b="1">
                  <a:solidFill>
                    <a:schemeClr val="bg1"/>
                  </a:solidFill>
                  <a:latin typeface="Times New Roman" pitchFamily="18" charset="0"/>
                  <a:ea typeface="华文中宋" pitchFamily="2" charset="-122"/>
                  <a:cs typeface="Times New Roman" pitchFamily="18" charset="0"/>
                </a:rPr>
                <a:t>两个粒子的能量一个为 </a:t>
              </a:r>
            </a:p>
          </p:txBody>
        </p:sp>
        <p:graphicFrame>
          <p:nvGraphicFramePr>
            <p:cNvPr id="14338" name="Object 19"/>
            <p:cNvGraphicFramePr>
              <a:graphicFrameLocks noChangeAspect="1"/>
            </p:cNvGraphicFramePr>
            <p:nvPr/>
          </p:nvGraphicFramePr>
          <p:xfrm>
            <a:off x="2832" y="3278"/>
            <a:ext cx="850" cy="658"/>
          </p:xfrm>
          <a:graphic>
            <a:graphicData uri="http://schemas.openxmlformats.org/presentationml/2006/ole">
              <p:oleObj spid="_x0000_s14338" r:id="rId5" imgW="672808" imgH="520474" progId="Equation.DSMT4">
                <p:embed/>
              </p:oleObj>
            </a:graphicData>
          </a:graphic>
        </p:graphicFrame>
        <p:sp>
          <p:nvSpPr>
            <p:cNvPr id="14365" name="Text Box 21"/>
            <p:cNvSpPr txBox="1">
              <a:spLocks noChangeArrowheads="1"/>
            </p:cNvSpPr>
            <p:nvPr/>
          </p:nvSpPr>
          <p:spPr bwMode="auto">
            <a:xfrm>
              <a:off x="3622" y="3456"/>
              <a:ext cx="1178" cy="288"/>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，另一个为 </a:t>
              </a:r>
            </a:p>
          </p:txBody>
        </p:sp>
        <p:graphicFrame>
          <p:nvGraphicFramePr>
            <p:cNvPr id="14339" name="Object 22"/>
            <p:cNvGraphicFramePr>
              <a:graphicFrameLocks noChangeAspect="1"/>
            </p:cNvGraphicFramePr>
            <p:nvPr/>
          </p:nvGraphicFramePr>
          <p:xfrm>
            <a:off x="4608" y="3312"/>
            <a:ext cx="850" cy="658"/>
          </p:xfrm>
          <a:graphic>
            <a:graphicData uri="http://schemas.openxmlformats.org/presentationml/2006/ole">
              <p:oleObj spid="_x0000_s14339" r:id="rId6" imgW="672808" imgH="520474" progId="Equation.DSMT4">
                <p:embed/>
              </p:oleObj>
            </a:graphicData>
          </a:graphic>
        </p:graphicFrame>
      </p:grpSp>
      <p:grpSp>
        <p:nvGrpSpPr>
          <p:cNvPr id="6" name="Group 30"/>
          <p:cNvGrpSpPr>
            <a:grpSpLocks/>
          </p:cNvGrpSpPr>
          <p:nvPr/>
        </p:nvGrpSpPr>
        <p:grpSpPr bwMode="auto">
          <a:xfrm>
            <a:off x="1736725" y="4914900"/>
            <a:ext cx="3254375" cy="1206500"/>
            <a:chOff x="1094" y="3096"/>
            <a:chExt cx="2050" cy="760"/>
          </a:xfrm>
        </p:grpSpPr>
        <p:sp>
          <p:nvSpPr>
            <p:cNvPr id="14362" name="Text Box 27"/>
            <p:cNvSpPr txBox="1">
              <a:spLocks noChangeArrowheads="1"/>
            </p:cNvSpPr>
            <p:nvPr/>
          </p:nvSpPr>
          <p:spPr bwMode="auto">
            <a:xfrm>
              <a:off x="1094" y="3096"/>
              <a:ext cx="769" cy="407"/>
            </a:xfrm>
            <a:prstGeom prst="rect">
              <a:avLst/>
            </a:prstGeom>
            <a:noFill/>
            <a:ln w="28575">
              <a:solidFill>
                <a:schemeClr val="bg1"/>
              </a:solidFill>
              <a:miter lim="800000"/>
              <a:headEnd/>
              <a:tailEnd/>
            </a:ln>
          </p:spPr>
          <p:txBody>
            <a:bodyPr wrap="none">
              <a:spAutoFit/>
            </a:bodyPr>
            <a:lstStyle/>
            <a:p>
              <a:r>
                <a:rPr lang="en-US" altLang="zh-CN" b="1">
                  <a:solidFill>
                    <a:schemeClr val="bg1"/>
                  </a:solidFill>
                  <a:latin typeface="Times New Roman" pitchFamily="18" charset="0"/>
                  <a:ea typeface="华文中宋" pitchFamily="2" charset="-122"/>
                  <a:cs typeface="Times New Roman" pitchFamily="18" charset="0"/>
                </a:rPr>
                <a:t>(1,1,1) </a:t>
              </a:r>
              <a:r>
                <a:rPr lang="en-US" altLang="zh-CN" b="1" i="1">
                  <a:solidFill>
                    <a:schemeClr val="bg1"/>
                  </a:solidFill>
                  <a:latin typeface="Times New Roman" pitchFamily="18" charset="0"/>
                  <a:ea typeface="华文中宋" pitchFamily="2" charset="-122"/>
                  <a:cs typeface="Times New Roman" pitchFamily="18" charset="0"/>
                </a:rPr>
                <a:t>g</a:t>
              </a:r>
              <a:r>
                <a:rPr lang="en-US" altLang="zh-CN" b="1">
                  <a:solidFill>
                    <a:schemeClr val="bg1"/>
                  </a:solidFill>
                  <a:latin typeface="Times New Roman" pitchFamily="18" charset="0"/>
                  <a:ea typeface="华文中宋" pitchFamily="2" charset="-122"/>
                  <a:cs typeface="Times New Roman" pitchFamily="18" charset="0"/>
                </a:rPr>
                <a:t>=1</a:t>
              </a:r>
            </a:p>
            <a:p>
              <a:r>
                <a:rPr lang="zh-CN" altLang="en-US" b="1">
                  <a:solidFill>
                    <a:schemeClr val="bg1"/>
                  </a:solidFill>
                  <a:latin typeface="Times New Roman" pitchFamily="18" charset="0"/>
                  <a:ea typeface="华文中宋" pitchFamily="2" charset="-122"/>
                  <a:cs typeface="Times New Roman" pitchFamily="18" charset="0"/>
                </a:rPr>
                <a:t>非简并</a:t>
              </a:r>
            </a:p>
          </p:txBody>
        </p:sp>
        <p:sp>
          <p:nvSpPr>
            <p:cNvPr id="14363" name="Line 28"/>
            <p:cNvSpPr>
              <a:spLocks noChangeShapeType="1"/>
            </p:cNvSpPr>
            <p:nvPr/>
          </p:nvSpPr>
          <p:spPr bwMode="auto">
            <a:xfrm flipH="1" flipV="1">
              <a:off x="1416" y="3520"/>
              <a:ext cx="1728" cy="336"/>
            </a:xfrm>
            <a:prstGeom prst="line">
              <a:avLst/>
            </a:prstGeom>
            <a:noFill/>
            <a:ln w="28575">
              <a:solidFill>
                <a:schemeClr val="bg1"/>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7" name="Group 32"/>
          <p:cNvGrpSpPr>
            <a:grpSpLocks/>
          </p:cNvGrpSpPr>
          <p:nvPr/>
        </p:nvGrpSpPr>
        <p:grpSpPr bwMode="auto">
          <a:xfrm>
            <a:off x="4327525" y="4838700"/>
            <a:ext cx="3482975" cy="1333500"/>
            <a:chOff x="2726" y="3048"/>
            <a:chExt cx="2194" cy="840"/>
          </a:xfrm>
        </p:grpSpPr>
        <p:sp>
          <p:nvSpPr>
            <p:cNvPr id="14360" name="Text Box 29"/>
            <p:cNvSpPr txBox="1">
              <a:spLocks noChangeArrowheads="1"/>
            </p:cNvSpPr>
            <p:nvPr/>
          </p:nvSpPr>
          <p:spPr bwMode="auto">
            <a:xfrm>
              <a:off x="2726" y="3048"/>
              <a:ext cx="914" cy="582"/>
            </a:xfrm>
            <a:prstGeom prst="rect">
              <a:avLst/>
            </a:prstGeom>
            <a:noFill/>
            <a:ln w="28575">
              <a:solidFill>
                <a:schemeClr val="bg1"/>
              </a:solidFill>
              <a:miter lim="800000"/>
              <a:headEnd/>
              <a:tailEnd/>
            </a:ln>
          </p:spPr>
          <p:txBody>
            <a:bodyPr wrap="none">
              <a:spAutoFit/>
            </a:bodyPr>
            <a:lstStyle/>
            <a:p>
              <a:r>
                <a:rPr lang="en-US" altLang="zh-CN" b="1">
                  <a:solidFill>
                    <a:schemeClr val="bg1"/>
                  </a:solidFill>
                  <a:latin typeface="Times New Roman" pitchFamily="18" charset="0"/>
                  <a:ea typeface="华文中宋" pitchFamily="2" charset="-122"/>
                  <a:cs typeface="Times New Roman" pitchFamily="18" charset="0"/>
                </a:rPr>
                <a:t>(1,2,2)</a:t>
              </a:r>
            </a:p>
            <a:p>
              <a:r>
                <a:rPr lang="en-US" altLang="zh-CN" b="1">
                  <a:solidFill>
                    <a:schemeClr val="bg1"/>
                  </a:solidFill>
                  <a:latin typeface="Times New Roman" pitchFamily="18" charset="0"/>
                  <a:ea typeface="华文中宋" pitchFamily="2" charset="-122"/>
                  <a:cs typeface="Times New Roman" pitchFamily="18" charset="0"/>
                </a:rPr>
                <a:t>(2,1,2)     </a:t>
              </a:r>
              <a:r>
                <a:rPr lang="en-US" altLang="zh-CN" b="1" i="1">
                  <a:solidFill>
                    <a:schemeClr val="bg1"/>
                  </a:solidFill>
                  <a:latin typeface="Times New Roman" pitchFamily="18" charset="0"/>
                  <a:ea typeface="华文中宋" pitchFamily="2" charset="-122"/>
                  <a:cs typeface="Times New Roman" pitchFamily="18" charset="0"/>
                </a:rPr>
                <a:t>g</a:t>
              </a:r>
              <a:r>
                <a:rPr lang="en-US" altLang="zh-CN" b="1">
                  <a:solidFill>
                    <a:schemeClr val="bg1"/>
                  </a:solidFill>
                  <a:latin typeface="Times New Roman" pitchFamily="18" charset="0"/>
                  <a:ea typeface="华文中宋" pitchFamily="2" charset="-122"/>
                  <a:cs typeface="Times New Roman" pitchFamily="18" charset="0"/>
                </a:rPr>
                <a:t>=3</a:t>
              </a:r>
            </a:p>
            <a:p>
              <a:r>
                <a:rPr lang="en-US" altLang="zh-CN" b="1">
                  <a:solidFill>
                    <a:schemeClr val="bg1"/>
                  </a:solidFill>
                  <a:latin typeface="Times New Roman" pitchFamily="18" charset="0"/>
                  <a:ea typeface="华文中宋" pitchFamily="2" charset="-122"/>
                  <a:cs typeface="Times New Roman" pitchFamily="18" charset="0"/>
                </a:rPr>
                <a:t>(2,2,1)</a:t>
              </a:r>
            </a:p>
          </p:txBody>
        </p:sp>
        <p:sp>
          <p:nvSpPr>
            <p:cNvPr id="14361" name="Line 31"/>
            <p:cNvSpPr>
              <a:spLocks noChangeShapeType="1"/>
            </p:cNvSpPr>
            <p:nvPr/>
          </p:nvSpPr>
          <p:spPr bwMode="auto">
            <a:xfrm flipH="1" flipV="1">
              <a:off x="3720" y="3456"/>
              <a:ext cx="1200" cy="432"/>
            </a:xfrm>
            <a:prstGeom prst="line">
              <a:avLst/>
            </a:prstGeom>
            <a:noFill/>
            <a:ln w="28575">
              <a:solidFill>
                <a:schemeClr val="bg1"/>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8" name="Group 40"/>
          <p:cNvGrpSpPr>
            <a:grpSpLocks/>
          </p:cNvGrpSpPr>
          <p:nvPr/>
        </p:nvGrpSpPr>
        <p:grpSpPr bwMode="auto">
          <a:xfrm>
            <a:off x="3200400" y="4800600"/>
            <a:ext cx="3798888" cy="925513"/>
            <a:chOff x="2016" y="3024"/>
            <a:chExt cx="2393" cy="583"/>
          </a:xfrm>
        </p:grpSpPr>
        <p:sp>
          <p:nvSpPr>
            <p:cNvPr id="14358" name="Text Box 33"/>
            <p:cNvSpPr txBox="1">
              <a:spLocks noChangeArrowheads="1"/>
            </p:cNvSpPr>
            <p:nvPr/>
          </p:nvSpPr>
          <p:spPr bwMode="auto">
            <a:xfrm>
              <a:off x="2016" y="3024"/>
              <a:ext cx="576" cy="576"/>
            </a:xfrm>
            <a:prstGeom prst="rect">
              <a:avLst/>
            </a:prstGeom>
            <a:solidFill>
              <a:schemeClr val="hlink"/>
            </a:solidFill>
            <a:ln w="9525">
              <a:noFill/>
              <a:miter lim="800000"/>
              <a:headEnd/>
              <a:tailEnd/>
            </a:ln>
          </p:spPr>
          <p:txBody>
            <a:bodyPr>
              <a:spAutoFit/>
            </a:bodyPr>
            <a:lstStyle/>
            <a:p>
              <a:r>
                <a:rPr lang="en-US" altLang="zh-CN" sz="5400" b="1">
                  <a:solidFill>
                    <a:schemeClr val="bg1"/>
                  </a:solidFill>
                  <a:latin typeface="Times New Roman" pitchFamily="18" charset="0"/>
                  <a:ea typeface="华文中宋" pitchFamily="2" charset="-122"/>
                  <a:cs typeface="Times New Roman" pitchFamily="18" charset="0"/>
                </a:rPr>
                <a:t>× </a:t>
              </a:r>
            </a:p>
          </p:txBody>
        </p:sp>
        <p:sp>
          <p:nvSpPr>
            <p:cNvPr id="14359" name="Text Box 34"/>
            <p:cNvSpPr txBox="1">
              <a:spLocks noChangeArrowheads="1"/>
            </p:cNvSpPr>
            <p:nvPr/>
          </p:nvSpPr>
          <p:spPr bwMode="auto">
            <a:xfrm>
              <a:off x="3878" y="3084"/>
              <a:ext cx="531" cy="523"/>
            </a:xfrm>
            <a:prstGeom prst="rect">
              <a:avLst/>
            </a:prstGeom>
            <a:solidFill>
              <a:schemeClr val="hlink"/>
            </a:solidFill>
            <a:ln w="9525">
              <a:noFill/>
              <a:miter lim="800000"/>
              <a:headEnd/>
              <a:tailEnd/>
            </a:ln>
          </p:spPr>
          <p:txBody>
            <a:bodyPr wrap="none">
              <a:spAutoFit/>
            </a:bodyPr>
            <a:lstStyle/>
            <a:p>
              <a:r>
                <a:rPr lang="en-US" altLang="zh-CN" sz="4800" b="1">
                  <a:solidFill>
                    <a:schemeClr val="bg1"/>
                  </a:solidFill>
                  <a:latin typeface="Times New Roman" pitchFamily="18" charset="0"/>
                  <a:ea typeface="华文中宋" pitchFamily="2" charset="-122"/>
                  <a:cs typeface="Times New Roman" pitchFamily="18" charset="0"/>
                </a:rPr>
                <a:t>=3</a:t>
              </a:r>
            </a:p>
          </p:txBody>
        </p:sp>
      </p:grpSp>
      <p:sp>
        <p:nvSpPr>
          <p:cNvPr id="31783" name="Text Box 39"/>
          <p:cNvSpPr txBox="1">
            <a:spLocks noChangeArrowheads="1"/>
          </p:cNvSpPr>
          <p:nvPr/>
        </p:nvSpPr>
        <p:spPr bwMode="auto">
          <a:xfrm>
            <a:off x="7467600" y="4927600"/>
            <a:ext cx="1723549" cy="830997"/>
          </a:xfrm>
          <a:prstGeom prst="rect">
            <a:avLst/>
          </a:prstGeom>
          <a:solidFill>
            <a:srgbClr val="D2DC08"/>
          </a:solidFill>
          <a:ln w="9525">
            <a:noFill/>
            <a:miter lim="800000"/>
            <a:headEnd/>
            <a:tailEnd/>
          </a:ln>
        </p:spPr>
        <p:txBody>
          <a:bodyPr wrap="none">
            <a:spAutoFit/>
          </a:bodyPr>
          <a:lstStyle/>
          <a:p>
            <a:r>
              <a:rPr lang="zh-CN" altLang="en-US" sz="2400" b="1">
                <a:solidFill>
                  <a:srgbClr val="000099"/>
                </a:solidFill>
                <a:latin typeface="Times New Roman" pitchFamily="18" charset="0"/>
                <a:ea typeface="华文中宋" pitchFamily="2" charset="-122"/>
                <a:cs typeface="Times New Roman" pitchFamily="18" charset="0"/>
              </a:rPr>
              <a:t>微观状态数</a:t>
            </a:r>
          </a:p>
          <a:p>
            <a:r>
              <a:rPr lang="en-US" altLang="zh-CN" sz="2400" b="1">
                <a:solidFill>
                  <a:srgbClr val="000099"/>
                </a:solidFill>
                <a:latin typeface="Times New Roman" pitchFamily="18" charset="0"/>
                <a:ea typeface="华文中宋" pitchFamily="2" charset="-122"/>
                <a:cs typeface="Times New Roman" pitchFamily="18" charset="0"/>
              </a:rPr>
              <a:t>Ω=15</a:t>
            </a:r>
          </a:p>
        </p:txBody>
      </p:sp>
      <p:sp>
        <p:nvSpPr>
          <p:cNvPr id="31788" name="Text Box 44"/>
          <p:cNvSpPr txBox="1">
            <a:spLocks noChangeArrowheads="1"/>
          </p:cNvSpPr>
          <p:nvPr/>
        </p:nvSpPr>
        <p:spPr bwMode="auto">
          <a:xfrm>
            <a:off x="1508125" y="5886450"/>
            <a:ext cx="6026009" cy="584775"/>
          </a:xfrm>
          <a:prstGeom prst="rect">
            <a:avLst/>
          </a:prstGeom>
          <a:solidFill>
            <a:schemeClr val="hlink"/>
          </a:solidFill>
          <a:ln w="9525">
            <a:noFill/>
            <a:miter lim="800000"/>
            <a:headEnd/>
            <a:tailEnd/>
          </a:ln>
        </p:spPr>
        <p:txBody>
          <a:bodyPr wrap="none">
            <a:spAutoFit/>
          </a:bodyPr>
          <a:lstStyle/>
          <a:p>
            <a:r>
              <a:rPr lang="zh-CN" altLang="en-US" sz="3200" b="1">
                <a:solidFill>
                  <a:schemeClr val="bg1"/>
                </a:solidFill>
                <a:latin typeface="Times New Roman" pitchFamily="18" charset="0"/>
                <a:ea typeface="华文中宋" pitchFamily="2" charset="-122"/>
                <a:cs typeface="Times New Roman" pitchFamily="18" charset="0"/>
              </a:rPr>
              <a:t>两个粒子能量为</a:t>
            </a:r>
            <a:r>
              <a:rPr lang="en-US" altLang="zh-CN" sz="3200" b="1">
                <a:solidFill>
                  <a:schemeClr val="bg1"/>
                </a:solidFill>
                <a:latin typeface="Times New Roman" pitchFamily="18" charset="0"/>
                <a:ea typeface="华文中宋" pitchFamily="2" charset="-122"/>
                <a:cs typeface="Times New Roman" pitchFamily="18" charset="0"/>
              </a:rPr>
              <a:t>(9,3)</a:t>
            </a:r>
            <a:r>
              <a:rPr lang="zh-CN" altLang="en-US" sz="3200" b="1">
                <a:solidFill>
                  <a:schemeClr val="bg1"/>
                </a:solidFill>
                <a:latin typeface="Times New Roman" pitchFamily="18" charset="0"/>
                <a:ea typeface="华文中宋" pitchFamily="2" charset="-122"/>
                <a:cs typeface="Times New Roman" pitchFamily="18" charset="0"/>
              </a:rPr>
              <a:t>时    </a:t>
            </a:r>
            <a:r>
              <a:rPr lang="en-US" altLang="zh-CN" sz="3200" b="1">
                <a:solidFill>
                  <a:schemeClr val="bg1"/>
                </a:solidFill>
                <a:latin typeface="Times New Roman" pitchFamily="18" charset="0"/>
                <a:ea typeface="华文中宋" pitchFamily="2" charset="-122"/>
                <a:cs typeface="Times New Roman" pitchFamily="18" charset="0"/>
              </a:rPr>
              <a:t>3 ×1=3</a:t>
            </a:r>
          </a:p>
        </p:txBody>
      </p:sp>
      <p:grpSp>
        <p:nvGrpSpPr>
          <p:cNvPr id="9" name="Group 46"/>
          <p:cNvGrpSpPr>
            <a:grpSpLocks/>
          </p:cNvGrpSpPr>
          <p:nvPr/>
        </p:nvGrpSpPr>
        <p:grpSpPr bwMode="auto">
          <a:xfrm>
            <a:off x="7061200" y="4470400"/>
            <a:ext cx="1231900" cy="1397000"/>
            <a:chOff x="4448" y="2816"/>
            <a:chExt cx="776" cy="880"/>
          </a:xfrm>
        </p:grpSpPr>
        <p:grpSp>
          <p:nvGrpSpPr>
            <p:cNvPr id="14354" name="Group 38"/>
            <p:cNvGrpSpPr>
              <a:grpSpLocks/>
            </p:cNvGrpSpPr>
            <p:nvPr/>
          </p:nvGrpSpPr>
          <p:grpSpPr bwMode="auto">
            <a:xfrm>
              <a:off x="4448" y="2816"/>
              <a:ext cx="776" cy="675"/>
              <a:chOff x="4504" y="2816"/>
              <a:chExt cx="776" cy="675"/>
            </a:xfrm>
          </p:grpSpPr>
          <p:sp>
            <p:nvSpPr>
              <p:cNvPr id="14356" name="Text Box 36"/>
              <p:cNvSpPr txBox="1">
                <a:spLocks noChangeArrowheads="1"/>
              </p:cNvSpPr>
              <p:nvPr/>
            </p:nvSpPr>
            <p:spPr bwMode="auto">
              <a:xfrm>
                <a:off x="4504" y="3161"/>
                <a:ext cx="252" cy="330"/>
              </a:xfrm>
              <a:prstGeom prst="rect">
                <a:avLst/>
              </a:prstGeom>
              <a:solidFill>
                <a:schemeClr val="tx2"/>
              </a:solidFill>
              <a:ln w="9525">
                <a:noFill/>
                <a:miter lim="800000"/>
                <a:headEnd/>
                <a:tailEnd/>
              </a:ln>
            </p:spPr>
            <p:txBody>
              <a:bodyPr wrap="none">
                <a:spAutoFit/>
              </a:bodyPr>
              <a:lstStyle/>
              <a:p>
                <a:r>
                  <a:rPr lang="en-US" altLang="zh-CN" sz="2800">
                    <a:solidFill>
                      <a:schemeClr val="bg1"/>
                    </a:solidFill>
                    <a:latin typeface="Times New Roman" pitchFamily="18" charset="0"/>
                    <a:ea typeface="华文中宋" pitchFamily="2" charset="-122"/>
                    <a:cs typeface="Times New Roman" pitchFamily="18" charset="0"/>
                  </a:rPr>
                  <a:t>+</a:t>
                </a:r>
              </a:p>
            </p:txBody>
          </p:sp>
          <p:sp>
            <p:nvSpPr>
              <p:cNvPr id="14357" name="Line 37"/>
              <p:cNvSpPr>
                <a:spLocks noChangeShapeType="1"/>
              </p:cNvSpPr>
              <p:nvPr/>
            </p:nvSpPr>
            <p:spPr bwMode="auto">
              <a:xfrm flipH="1">
                <a:off x="4608" y="2816"/>
                <a:ext cx="672" cy="336"/>
              </a:xfrm>
              <a:prstGeom prst="line">
                <a:avLst/>
              </a:prstGeom>
              <a:noFill/>
              <a:ln w="57150">
                <a:solidFill>
                  <a:schemeClr val="tx2"/>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grpSp>
        <p:sp>
          <p:nvSpPr>
            <p:cNvPr id="14355" name="Line 45"/>
            <p:cNvSpPr>
              <a:spLocks noChangeShapeType="1"/>
            </p:cNvSpPr>
            <p:nvPr/>
          </p:nvSpPr>
          <p:spPr bwMode="auto">
            <a:xfrm flipH="1" flipV="1">
              <a:off x="4560" y="3504"/>
              <a:ext cx="48" cy="192"/>
            </a:xfrm>
            <a:prstGeom prst="line">
              <a:avLst/>
            </a:prstGeom>
            <a:noFill/>
            <a:ln w="57150">
              <a:solidFill>
                <a:schemeClr val="tx2"/>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1747"/>
                                        </p:tgtEl>
                                        <p:attrNameLst>
                                          <p:attrName>style.visibility</p:attrName>
                                        </p:attrNameLst>
                                      </p:cBhvr>
                                      <p:to>
                                        <p:strVal val="visible"/>
                                      </p:to>
                                    </p:set>
                                    <p:animEffect transition="in" filter="box(in)">
                                      <p:cBhvr>
                                        <p:cTn id="7" dur="500"/>
                                        <p:tgtEl>
                                          <p:spTgt spid="3174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out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heckerboard(across)">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checkerboard(across)">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checkerboard(across)">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checkerboard(across)">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checkerboard(across)">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1788"/>
                                        </p:tgtEl>
                                        <p:attrNameLst>
                                          <p:attrName>style.visibility</p:attrName>
                                        </p:attrNameLst>
                                      </p:cBhvr>
                                      <p:to>
                                        <p:strVal val="visible"/>
                                      </p:to>
                                    </p:set>
                                    <p:animEffect transition="in" filter="dissolve">
                                      <p:cBhvr>
                                        <p:cTn id="42" dur="500"/>
                                        <p:tgtEl>
                                          <p:spTgt spid="3178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dissolve">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31783"/>
                                        </p:tgtEl>
                                        <p:attrNameLst>
                                          <p:attrName>style.visibility</p:attrName>
                                        </p:attrNameLst>
                                      </p:cBhvr>
                                      <p:to>
                                        <p:strVal val="visible"/>
                                      </p:to>
                                    </p:set>
                                    <p:animEffect transition="in" filter="checkerboard(across)">
                                      <p:cBhvr>
                                        <p:cTn id="52" dur="500"/>
                                        <p:tgtEl>
                                          <p:spTgt spid="317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autoUpdateAnimBg="0"/>
      <p:bldP spid="31783" grpId="0" animBg="1" autoUpdateAnimBg="0"/>
      <p:bldP spid="31788"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3"/>
          <p:cNvSpPr>
            <a:spLocks noGrp="1"/>
          </p:cNvSpPr>
          <p:nvPr>
            <p:ph type="sldNum" sz="quarter" idx="12"/>
          </p:nvPr>
        </p:nvSpPr>
        <p:spPr>
          <a:noFill/>
        </p:spPr>
        <p:txBody>
          <a:bodyPr/>
          <a:lstStyle/>
          <a:p>
            <a:fld id="{44319897-9800-4490-882B-BE1A013435A1}" type="slidenum">
              <a:rPr lang="en-US" altLang="zh-CN" smtClean="0">
                <a:latin typeface="Times New Roman" pitchFamily="18" charset="0"/>
                <a:ea typeface="华文中宋" pitchFamily="2" charset="-122"/>
                <a:cs typeface="Times New Roman" pitchFamily="18" charset="0"/>
              </a:rPr>
              <a:pPr/>
              <a:t>27</a:t>
            </a:fld>
            <a:endParaRPr lang="en-US" altLang="zh-CN" smtClean="0">
              <a:latin typeface="Times New Roman" pitchFamily="18" charset="0"/>
              <a:ea typeface="华文中宋" pitchFamily="2" charset="-122"/>
              <a:cs typeface="Times New Roman" pitchFamily="18" charset="0"/>
            </a:endParaRPr>
          </a:p>
        </p:txBody>
      </p:sp>
      <p:sp>
        <p:nvSpPr>
          <p:cNvPr id="68611" name="Text Box 2"/>
          <p:cNvSpPr txBox="1">
            <a:spLocks noChangeArrowheads="1"/>
          </p:cNvSpPr>
          <p:nvPr/>
        </p:nvSpPr>
        <p:spPr bwMode="auto">
          <a:xfrm>
            <a:off x="4364038" y="0"/>
            <a:ext cx="477996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各种体系的能级分布和微观状态数</a:t>
            </a:r>
            <a:endParaRPr lang="zh-CN" altLang="en-US" sz="2400">
              <a:solidFill>
                <a:schemeClr val="bg1"/>
              </a:solidFill>
              <a:latin typeface="Times New Roman" pitchFamily="18" charset="0"/>
            </a:endParaRPr>
          </a:p>
        </p:txBody>
      </p:sp>
      <p:sp>
        <p:nvSpPr>
          <p:cNvPr id="32771" name="Rectangle 3"/>
          <p:cNvSpPr>
            <a:spLocks noGrp="1" noRot="1" noChangeArrowheads="1"/>
          </p:cNvSpPr>
          <p:nvPr/>
        </p:nvSpPr>
        <p:spPr bwMode="auto">
          <a:xfrm>
            <a:off x="298450" y="228600"/>
            <a:ext cx="8540750" cy="1143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微观状态数计算原则</a:t>
            </a:r>
          </a:p>
        </p:txBody>
      </p:sp>
      <p:sp>
        <p:nvSpPr>
          <p:cNvPr id="32772" name="Text Box 4"/>
          <p:cNvSpPr txBox="1">
            <a:spLocks noChangeArrowheads="1"/>
          </p:cNvSpPr>
          <p:nvPr/>
        </p:nvSpPr>
        <p:spPr bwMode="auto">
          <a:xfrm>
            <a:off x="685800" y="1309688"/>
            <a:ext cx="8042275" cy="946150"/>
          </a:xfrm>
          <a:prstGeom prst="rect">
            <a:avLst/>
          </a:prstGeom>
          <a:noFill/>
          <a:ln w="9525">
            <a:noFill/>
            <a:miter lim="800000"/>
            <a:headEnd/>
            <a:tailEnd/>
          </a:ln>
        </p:spPr>
        <p:txBody>
          <a:bodyPr wrap="none">
            <a:spAutoFit/>
          </a:bodyPr>
          <a:lstStyle/>
          <a:p>
            <a:r>
              <a:rPr lang="zh-CN" altLang="en-US" sz="2800" b="1">
                <a:solidFill>
                  <a:schemeClr val="bg1"/>
                </a:solidFill>
                <a:latin typeface="Times New Roman" pitchFamily="18" charset="0"/>
                <a:ea typeface="华文中宋" pitchFamily="2" charset="-122"/>
                <a:cs typeface="Times New Roman" pitchFamily="18" charset="0"/>
              </a:rPr>
              <a:t>对于某种确定的能级分布方式，不同能级的量子态</a:t>
            </a:r>
          </a:p>
          <a:p>
            <a:r>
              <a:rPr lang="zh-CN" altLang="en-US" sz="2800" b="1">
                <a:solidFill>
                  <a:schemeClr val="bg1"/>
                </a:solidFill>
                <a:latin typeface="Times New Roman" pitchFamily="18" charset="0"/>
                <a:ea typeface="华文中宋" pitchFamily="2" charset="-122"/>
                <a:cs typeface="Times New Roman" pitchFamily="18" charset="0"/>
              </a:rPr>
              <a:t>总数相乘； </a:t>
            </a:r>
          </a:p>
        </p:txBody>
      </p:sp>
      <p:sp>
        <p:nvSpPr>
          <p:cNvPr id="32773" name="Text Box 5"/>
          <p:cNvSpPr txBox="1">
            <a:spLocks noChangeArrowheads="1"/>
          </p:cNvSpPr>
          <p:nvPr/>
        </p:nvSpPr>
        <p:spPr bwMode="auto">
          <a:xfrm>
            <a:off x="685800" y="2224088"/>
            <a:ext cx="7507288" cy="519112"/>
          </a:xfrm>
          <a:prstGeom prst="rect">
            <a:avLst/>
          </a:prstGeom>
          <a:noFill/>
          <a:ln w="9525">
            <a:noFill/>
            <a:miter lim="800000"/>
            <a:headEnd/>
            <a:tailEnd/>
          </a:ln>
        </p:spPr>
        <p:txBody>
          <a:bodyPr wrap="none">
            <a:spAutoFit/>
          </a:bodyPr>
          <a:lstStyle/>
          <a:p>
            <a:r>
              <a:rPr lang="zh-CN" altLang="en-US" sz="2800" b="1">
                <a:solidFill>
                  <a:schemeClr val="bg1"/>
                </a:solidFill>
                <a:latin typeface="Times New Roman" pitchFamily="18" charset="0"/>
                <a:ea typeface="华文中宋" pitchFamily="2" charset="-122"/>
                <a:cs typeface="Times New Roman" pitchFamily="18" charset="0"/>
              </a:rPr>
              <a:t>对于不同能量分布方式的微观态数进行加和； </a:t>
            </a:r>
          </a:p>
        </p:txBody>
      </p:sp>
      <p:sp>
        <p:nvSpPr>
          <p:cNvPr id="32774" name="Text Box 6"/>
          <p:cNvSpPr txBox="1">
            <a:spLocks noChangeArrowheads="1"/>
          </p:cNvSpPr>
          <p:nvPr/>
        </p:nvSpPr>
        <p:spPr bwMode="auto">
          <a:xfrm>
            <a:off x="609600" y="2771775"/>
            <a:ext cx="8529899" cy="1815882"/>
          </a:xfrm>
          <a:prstGeom prst="rect">
            <a:avLst/>
          </a:prstGeom>
          <a:solidFill>
            <a:schemeClr val="accent2"/>
          </a:solidFill>
          <a:ln w="9525">
            <a:noFill/>
            <a:miter lim="800000"/>
            <a:headEnd/>
            <a:tailEnd/>
          </a:ln>
        </p:spPr>
        <p:txBody>
          <a:bodyPr wrap="none">
            <a:spAutoFit/>
          </a:bodyPr>
          <a:lstStyle/>
          <a:p>
            <a:r>
              <a:rPr lang="zh-CN" altLang="en-US" sz="2800" b="1">
                <a:latin typeface="Times New Roman" pitchFamily="18" charset="0"/>
                <a:ea typeface="华文中宋" pitchFamily="2" charset="-122"/>
                <a:cs typeface="Times New Roman" pitchFamily="18" charset="0"/>
              </a:rPr>
              <a:t>类比：某学校食堂分为中餐厅和西餐厅，中餐厅有</a:t>
            </a:r>
            <a:r>
              <a:rPr lang="en-US" altLang="zh-CN" sz="2800" b="1">
                <a:latin typeface="Times New Roman" pitchFamily="18" charset="0"/>
                <a:ea typeface="华文中宋" pitchFamily="2" charset="-122"/>
                <a:cs typeface="Times New Roman" pitchFamily="18" charset="0"/>
              </a:rPr>
              <a:t>3</a:t>
            </a:r>
          </a:p>
          <a:p>
            <a:r>
              <a:rPr lang="zh-CN" altLang="en-US" sz="2800" b="1">
                <a:latin typeface="Times New Roman" pitchFamily="18" charset="0"/>
                <a:ea typeface="华文中宋" pitchFamily="2" charset="-122"/>
                <a:cs typeface="Times New Roman" pitchFamily="18" charset="0"/>
              </a:rPr>
              <a:t>种菜、</a:t>
            </a:r>
            <a:r>
              <a:rPr lang="en-US" altLang="zh-CN" sz="2800" b="1">
                <a:latin typeface="Times New Roman" pitchFamily="18" charset="0"/>
                <a:ea typeface="华文中宋" pitchFamily="2" charset="-122"/>
                <a:cs typeface="Times New Roman" pitchFamily="18" charset="0"/>
              </a:rPr>
              <a:t>3</a:t>
            </a:r>
            <a:r>
              <a:rPr lang="zh-CN" altLang="en-US" sz="2800" b="1">
                <a:latin typeface="Times New Roman" pitchFamily="18" charset="0"/>
                <a:ea typeface="华文中宋" pitchFamily="2" charset="-122"/>
                <a:cs typeface="Times New Roman" pitchFamily="18" charset="0"/>
              </a:rPr>
              <a:t>种主食，来吃饭的人限选各一种；西餐厅有</a:t>
            </a:r>
          </a:p>
          <a:p>
            <a:r>
              <a:rPr lang="en-US" altLang="zh-CN" sz="2800" b="1">
                <a:latin typeface="Times New Roman" pitchFamily="18" charset="0"/>
                <a:ea typeface="华文中宋" pitchFamily="2" charset="-122"/>
                <a:cs typeface="Times New Roman" pitchFamily="18" charset="0"/>
              </a:rPr>
              <a:t>2</a:t>
            </a:r>
            <a:r>
              <a:rPr lang="zh-CN" altLang="en-US" sz="2800" b="1">
                <a:latin typeface="Times New Roman" pitchFamily="18" charset="0"/>
                <a:ea typeface="华文中宋" pitchFamily="2" charset="-122"/>
                <a:cs typeface="Times New Roman" pitchFamily="18" charset="0"/>
              </a:rPr>
              <a:t>种沙拉、</a:t>
            </a:r>
            <a:r>
              <a:rPr lang="en-US" altLang="zh-CN" sz="2800" b="1">
                <a:latin typeface="Times New Roman" pitchFamily="18" charset="0"/>
                <a:ea typeface="华文中宋" pitchFamily="2" charset="-122"/>
                <a:cs typeface="Times New Roman" pitchFamily="18" charset="0"/>
              </a:rPr>
              <a:t>4</a:t>
            </a:r>
            <a:r>
              <a:rPr lang="zh-CN" altLang="en-US" sz="2800" b="1">
                <a:latin typeface="Times New Roman" pitchFamily="18" charset="0"/>
                <a:ea typeface="华文中宋" pitchFamily="2" charset="-122"/>
                <a:cs typeface="Times New Roman" pitchFamily="18" charset="0"/>
              </a:rPr>
              <a:t>种主菜，每人也各限选一种；问在食堂就</a:t>
            </a:r>
          </a:p>
          <a:p>
            <a:r>
              <a:rPr lang="zh-CN" altLang="en-US" sz="2800" b="1">
                <a:latin typeface="Times New Roman" pitchFamily="18" charset="0"/>
                <a:ea typeface="华文中宋" pitchFamily="2" charset="-122"/>
                <a:cs typeface="Times New Roman" pitchFamily="18" charset="0"/>
              </a:rPr>
              <a:t>餐时最多可以有多少种搭配？</a:t>
            </a:r>
          </a:p>
        </p:txBody>
      </p:sp>
      <p:sp>
        <p:nvSpPr>
          <p:cNvPr id="32775" name="Text Box 7"/>
          <p:cNvSpPr txBox="1">
            <a:spLocks noChangeArrowheads="1"/>
          </p:cNvSpPr>
          <p:nvPr/>
        </p:nvSpPr>
        <p:spPr bwMode="auto">
          <a:xfrm>
            <a:off x="1230313" y="4841875"/>
            <a:ext cx="3360215" cy="461665"/>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在中餐厅就餐：</a:t>
            </a:r>
            <a:r>
              <a:rPr lang="en-US" altLang="zh-CN" sz="2400" b="1">
                <a:solidFill>
                  <a:schemeClr val="bg1"/>
                </a:solidFill>
                <a:latin typeface="Times New Roman" pitchFamily="18" charset="0"/>
                <a:ea typeface="华文中宋" pitchFamily="2" charset="-122"/>
                <a:cs typeface="Times New Roman" pitchFamily="18" charset="0"/>
              </a:rPr>
              <a:t>3×3=9 </a:t>
            </a:r>
          </a:p>
        </p:txBody>
      </p:sp>
      <p:sp>
        <p:nvSpPr>
          <p:cNvPr id="32776" name="Text Box 8"/>
          <p:cNvSpPr txBox="1">
            <a:spLocks noChangeArrowheads="1"/>
          </p:cNvSpPr>
          <p:nvPr/>
        </p:nvSpPr>
        <p:spPr bwMode="auto">
          <a:xfrm>
            <a:off x="1219200" y="5638800"/>
            <a:ext cx="3403496" cy="461665"/>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在西餐厅就餐：</a:t>
            </a:r>
            <a:r>
              <a:rPr lang="en-US" altLang="zh-CN" sz="2400" b="1">
                <a:solidFill>
                  <a:schemeClr val="bg1"/>
                </a:solidFill>
                <a:latin typeface="Times New Roman" pitchFamily="18" charset="0"/>
                <a:ea typeface="华文中宋" pitchFamily="2" charset="-122"/>
                <a:cs typeface="Times New Roman" pitchFamily="18" charset="0"/>
              </a:rPr>
              <a:t>2×4=8</a:t>
            </a:r>
          </a:p>
        </p:txBody>
      </p:sp>
      <p:sp>
        <p:nvSpPr>
          <p:cNvPr id="32777" name="AutoShape 9"/>
          <p:cNvSpPr>
            <a:spLocks/>
          </p:cNvSpPr>
          <p:nvPr/>
        </p:nvSpPr>
        <p:spPr bwMode="auto">
          <a:xfrm>
            <a:off x="4648200" y="5029200"/>
            <a:ext cx="381000" cy="914400"/>
          </a:xfrm>
          <a:prstGeom prst="rightBrace">
            <a:avLst>
              <a:gd name="adj1" fmla="val 20000"/>
              <a:gd name="adj2" fmla="val 50000"/>
            </a:avLst>
          </a:prstGeom>
          <a:noFill/>
          <a:ln w="38100">
            <a:solidFill>
              <a:schemeClr val="tx2"/>
            </a:solidFill>
            <a:round/>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sp>
        <p:nvSpPr>
          <p:cNvPr id="32778" name="Text Box 10"/>
          <p:cNvSpPr txBox="1">
            <a:spLocks noChangeArrowheads="1"/>
          </p:cNvSpPr>
          <p:nvPr/>
        </p:nvSpPr>
        <p:spPr bwMode="auto">
          <a:xfrm>
            <a:off x="5165725" y="5200650"/>
            <a:ext cx="1826141" cy="584775"/>
          </a:xfrm>
          <a:prstGeom prst="rect">
            <a:avLst/>
          </a:prstGeom>
          <a:solidFill>
            <a:schemeClr val="tx2"/>
          </a:solidFill>
          <a:ln w="9525">
            <a:noFill/>
            <a:miter lim="800000"/>
            <a:headEnd/>
            <a:tailEnd/>
          </a:ln>
        </p:spPr>
        <p:txBody>
          <a:bodyPr wrap="none">
            <a:spAutoFit/>
          </a:bodyPr>
          <a:lstStyle/>
          <a:p>
            <a:r>
              <a:rPr lang="en-US" altLang="zh-CN" sz="3200" b="1">
                <a:latin typeface="Times New Roman" pitchFamily="18" charset="0"/>
                <a:ea typeface="华文中宋" pitchFamily="2" charset="-122"/>
                <a:cs typeface="Times New Roman" pitchFamily="18" charset="0"/>
              </a:rPr>
              <a:t>8</a:t>
            </a:r>
            <a:r>
              <a:rPr lang="zh-CN" altLang="en-US" sz="3200" b="1">
                <a:latin typeface="Times New Roman" pitchFamily="18" charset="0"/>
                <a:ea typeface="华文中宋" pitchFamily="2" charset="-122"/>
                <a:cs typeface="Times New Roman" pitchFamily="18" charset="0"/>
              </a:rPr>
              <a:t>＋</a:t>
            </a:r>
            <a:r>
              <a:rPr lang="en-US" altLang="zh-CN" sz="3200" b="1">
                <a:latin typeface="Times New Roman" pitchFamily="18" charset="0"/>
                <a:ea typeface="华文中宋" pitchFamily="2" charset="-122"/>
                <a:cs typeface="Times New Roman" pitchFamily="18" charset="0"/>
              </a:rPr>
              <a:t>9</a:t>
            </a:r>
            <a:r>
              <a:rPr lang="zh-CN" altLang="en-US" sz="3200" b="1">
                <a:latin typeface="Times New Roman" pitchFamily="18" charset="0"/>
                <a:ea typeface="华文中宋" pitchFamily="2" charset="-122"/>
                <a:cs typeface="Times New Roman" pitchFamily="18" charset="0"/>
              </a:rPr>
              <a:t>＝</a:t>
            </a:r>
            <a:r>
              <a:rPr lang="en-US" altLang="zh-CN" sz="3200" b="1">
                <a:latin typeface="Times New Roman" pitchFamily="18" charset="0"/>
                <a:ea typeface="华文中宋" pitchFamily="2" charset="-122"/>
                <a:cs typeface="Times New Roman" pitchFamily="18" charset="0"/>
              </a:rPr>
              <a:t>17</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2771"/>
                                        </p:tgtEl>
                                        <p:attrNameLst>
                                          <p:attrName>style.visibility</p:attrName>
                                        </p:attrNameLst>
                                      </p:cBhvr>
                                      <p:to>
                                        <p:strVal val="visible"/>
                                      </p:to>
                                    </p:set>
                                    <p:animEffect transition="in" filter="dissolve">
                                      <p:cBhvr>
                                        <p:cTn id="7" dur="500"/>
                                        <p:tgtEl>
                                          <p:spTgt spid="3277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2772"/>
                                        </p:tgtEl>
                                        <p:attrNameLst>
                                          <p:attrName>style.visibility</p:attrName>
                                        </p:attrNameLst>
                                      </p:cBhvr>
                                      <p:to>
                                        <p:strVal val="visible"/>
                                      </p:to>
                                    </p:set>
                                    <p:animEffect transition="in" filter="dissolve">
                                      <p:cBhvr>
                                        <p:cTn id="12" dur="500"/>
                                        <p:tgtEl>
                                          <p:spTgt spid="3277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2773"/>
                                        </p:tgtEl>
                                        <p:attrNameLst>
                                          <p:attrName>style.visibility</p:attrName>
                                        </p:attrNameLst>
                                      </p:cBhvr>
                                      <p:to>
                                        <p:strVal val="visible"/>
                                      </p:to>
                                    </p:set>
                                    <p:animEffect transition="in" filter="dissolve">
                                      <p:cBhvr>
                                        <p:cTn id="17" dur="500"/>
                                        <p:tgtEl>
                                          <p:spTgt spid="3277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2774"/>
                                        </p:tgtEl>
                                        <p:attrNameLst>
                                          <p:attrName>style.visibility</p:attrName>
                                        </p:attrNameLst>
                                      </p:cBhvr>
                                      <p:to>
                                        <p:strVal val="visible"/>
                                      </p:to>
                                    </p:set>
                                    <p:animEffect transition="in" filter="dissolve">
                                      <p:cBhvr>
                                        <p:cTn id="22" dur="500"/>
                                        <p:tgtEl>
                                          <p:spTgt spid="3277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2775"/>
                                        </p:tgtEl>
                                        <p:attrNameLst>
                                          <p:attrName>style.visibility</p:attrName>
                                        </p:attrNameLst>
                                      </p:cBhvr>
                                      <p:to>
                                        <p:strVal val="visible"/>
                                      </p:to>
                                    </p:set>
                                    <p:animEffect transition="in" filter="dissolve">
                                      <p:cBhvr>
                                        <p:cTn id="27" dur="500"/>
                                        <p:tgtEl>
                                          <p:spTgt spid="3277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2776"/>
                                        </p:tgtEl>
                                        <p:attrNameLst>
                                          <p:attrName>style.visibility</p:attrName>
                                        </p:attrNameLst>
                                      </p:cBhvr>
                                      <p:to>
                                        <p:strVal val="visible"/>
                                      </p:to>
                                    </p:set>
                                    <p:animEffect transition="in" filter="dissolve">
                                      <p:cBhvr>
                                        <p:cTn id="32" dur="500"/>
                                        <p:tgtEl>
                                          <p:spTgt spid="3277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2777"/>
                                        </p:tgtEl>
                                        <p:attrNameLst>
                                          <p:attrName>style.visibility</p:attrName>
                                        </p:attrNameLst>
                                      </p:cBhvr>
                                      <p:to>
                                        <p:strVal val="visible"/>
                                      </p:to>
                                    </p:set>
                                    <p:animEffect transition="in" filter="dissolve">
                                      <p:cBhvr>
                                        <p:cTn id="37" dur="500"/>
                                        <p:tgtEl>
                                          <p:spTgt spid="3277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2778"/>
                                        </p:tgtEl>
                                        <p:attrNameLst>
                                          <p:attrName>style.visibility</p:attrName>
                                        </p:attrNameLst>
                                      </p:cBhvr>
                                      <p:to>
                                        <p:strVal val="visible"/>
                                      </p:to>
                                    </p:set>
                                    <p:animEffect transition="in" filter="dissolve">
                                      <p:cBhvr>
                                        <p:cTn id="42" dur="500"/>
                                        <p:tgtEl>
                                          <p:spTgt spid="32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autoUpdateAnimBg="0"/>
      <p:bldP spid="32772" grpId="0" autoUpdateAnimBg="0"/>
      <p:bldP spid="32773" grpId="0" autoUpdateAnimBg="0"/>
      <p:bldP spid="32774" grpId="0" animBg="1" autoUpdateAnimBg="0"/>
      <p:bldP spid="32775" grpId="0" autoUpdateAnimBg="0"/>
      <p:bldP spid="32776" grpId="0" autoUpdateAnimBg="0"/>
      <p:bldP spid="32777" grpId="0" animBg="1"/>
      <p:bldP spid="32778" grpId="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8" name="灯片编号占位符 3"/>
          <p:cNvSpPr>
            <a:spLocks noGrp="1"/>
          </p:cNvSpPr>
          <p:nvPr>
            <p:ph type="sldNum" sz="quarter" idx="12"/>
          </p:nvPr>
        </p:nvSpPr>
        <p:spPr>
          <a:noFill/>
        </p:spPr>
        <p:txBody>
          <a:bodyPr/>
          <a:lstStyle/>
          <a:p>
            <a:fld id="{E5BDFE00-7B27-428C-A843-F24192B753A4}" type="slidenum">
              <a:rPr lang="en-US" altLang="zh-CN" smtClean="0"/>
              <a:pPr/>
              <a:t>28</a:t>
            </a:fld>
            <a:endParaRPr lang="en-US" altLang="zh-CN" smtClean="0"/>
          </a:p>
        </p:txBody>
      </p:sp>
      <p:sp>
        <p:nvSpPr>
          <p:cNvPr id="15369" name="Text Box 2"/>
          <p:cNvSpPr txBox="1">
            <a:spLocks noChangeArrowheads="1"/>
          </p:cNvSpPr>
          <p:nvPr/>
        </p:nvSpPr>
        <p:spPr bwMode="auto">
          <a:xfrm>
            <a:off x="4364038" y="0"/>
            <a:ext cx="477996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各种体系的能级分布和微观状态数</a:t>
            </a:r>
            <a:endParaRPr lang="zh-CN" altLang="en-US" sz="2400">
              <a:solidFill>
                <a:schemeClr val="bg1"/>
              </a:solidFill>
              <a:latin typeface="Times New Roman" pitchFamily="18" charset="0"/>
            </a:endParaRPr>
          </a:p>
        </p:txBody>
      </p:sp>
      <p:sp>
        <p:nvSpPr>
          <p:cNvPr id="33795" name="Rectangle 3"/>
          <p:cNvSpPr>
            <a:spLocks noGrp="1" noRot="1" noChangeArrowheads="1"/>
          </p:cNvSpPr>
          <p:nvPr/>
        </p:nvSpPr>
        <p:spPr bwMode="auto">
          <a:xfrm>
            <a:off x="374650" y="228600"/>
            <a:ext cx="8540750" cy="1143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特定宏观体系的微观状态数计算</a:t>
            </a:r>
          </a:p>
        </p:txBody>
      </p:sp>
      <p:sp>
        <p:nvSpPr>
          <p:cNvPr id="33796" name="Text Box 4"/>
          <p:cNvSpPr txBox="1">
            <a:spLocks noChangeArrowheads="1"/>
          </p:cNvSpPr>
          <p:nvPr/>
        </p:nvSpPr>
        <p:spPr bwMode="auto">
          <a:xfrm>
            <a:off x="1050925" y="1249363"/>
            <a:ext cx="7119938" cy="579437"/>
          </a:xfrm>
          <a:prstGeom prst="rect">
            <a:avLst/>
          </a:prstGeom>
          <a:noFill/>
          <a:ln w="9525">
            <a:noFill/>
            <a:miter lim="800000"/>
            <a:headEnd/>
            <a:tailEnd/>
          </a:ln>
        </p:spPr>
        <p:txBody>
          <a:bodyPr wrap="none">
            <a:spAutoFit/>
          </a:bodyPr>
          <a:lstStyle/>
          <a:p>
            <a:r>
              <a:rPr lang="zh-CN" altLang="en-US" sz="3200" b="1" dirty="0">
                <a:solidFill>
                  <a:schemeClr val="bg1"/>
                </a:solidFill>
                <a:ea typeface="黑体" pitchFamily="2" charset="-122"/>
              </a:rPr>
              <a:t>特定体系：全同独粒子组成的孤立体系</a:t>
            </a:r>
          </a:p>
        </p:txBody>
      </p:sp>
      <p:grpSp>
        <p:nvGrpSpPr>
          <p:cNvPr id="2" name="Group 14"/>
          <p:cNvGrpSpPr>
            <a:grpSpLocks/>
          </p:cNvGrpSpPr>
          <p:nvPr/>
        </p:nvGrpSpPr>
        <p:grpSpPr bwMode="auto">
          <a:xfrm>
            <a:off x="685800" y="1828800"/>
            <a:ext cx="3289300" cy="1371600"/>
            <a:chOff x="432" y="1152"/>
            <a:chExt cx="2072" cy="864"/>
          </a:xfrm>
        </p:grpSpPr>
        <p:sp>
          <p:nvSpPr>
            <p:cNvPr id="15383" name="Text Box 5"/>
            <p:cNvSpPr txBox="1">
              <a:spLocks noChangeArrowheads="1"/>
            </p:cNvSpPr>
            <p:nvPr/>
          </p:nvSpPr>
          <p:spPr bwMode="auto">
            <a:xfrm>
              <a:off x="432" y="1556"/>
              <a:ext cx="1583" cy="460"/>
            </a:xfrm>
            <a:prstGeom prst="rect">
              <a:avLst/>
            </a:prstGeom>
            <a:noFill/>
            <a:ln w="28575">
              <a:solidFill>
                <a:schemeClr val="bg1"/>
              </a:solidFill>
              <a:miter lim="800000"/>
              <a:headEnd/>
              <a:tailEnd/>
            </a:ln>
          </p:spPr>
          <p:txBody>
            <a:bodyPr wrap="none">
              <a:spAutoFit/>
            </a:bodyPr>
            <a:lstStyle/>
            <a:p>
              <a:r>
                <a:rPr lang="zh-CN" altLang="en-US" sz="2000" b="1" dirty="0">
                  <a:solidFill>
                    <a:schemeClr val="bg1"/>
                  </a:solidFill>
                  <a:latin typeface="Times New Roman" pitchFamily="18" charset="0"/>
                  <a:ea typeface="华文中宋" pitchFamily="2" charset="-122"/>
                  <a:cs typeface="Times New Roman" pitchFamily="18" charset="0"/>
                </a:rPr>
                <a:t>粒子之间没有差别，</a:t>
              </a:r>
            </a:p>
            <a:p>
              <a:r>
                <a:rPr lang="zh-CN" altLang="en-US" sz="2000" b="1" dirty="0">
                  <a:solidFill>
                    <a:schemeClr val="bg1"/>
                  </a:solidFill>
                  <a:latin typeface="Times New Roman" pitchFamily="18" charset="0"/>
                  <a:ea typeface="华文中宋" pitchFamily="2" charset="-122"/>
                  <a:cs typeface="Times New Roman" pitchFamily="18" charset="0"/>
                </a:rPr>
                <a:t>纯净物体系</a:t>
              </a:r>
            </a:p>
          </p:txBody>
        </p:sp>
        <p:sp>
          <p:nvSpPr>
            <p:cNvPr id="15384" name="Line 8"/>
            <p:cNvSpPr>
              <a:spLocks noChangeShapeType="1"/>
            </p:cNvSpPr>
            <p:nvPr/>
          </p:nvSpPr>
          <p:spPr bwMode="auto">
            <a:xfrm>
              <a:off x="2024" y="1152"/>
              <a:ext cx="480" cy="0"/>
            </a:xfrm>
            <a:prstGeom prst="line">
              <a:avLst/>
            </a:prstGeom>
            <a:noFill/>
            <a:ln w="57150">
              <a:solidFill>
                <a:schemeClr val="tx2"/>
              </a:solidFill>
              <a:round/>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sp>
          <p:nvSpPr>
            <p:cNvPr id="15385" name="Line 11"/>
            <p:cNvSpPr>
              <a:spLocks noChangeShapeType="1"/>
            </p:cNvSpPr>
            <p:nvPr/>
          </p:nvSpPr>
          <p:spPr bwMode="auto">
            <a:xfrm flipH="1">
              <a:off x="1248" y="1152"/>
              <a:ext cx="1008" cy="384"/>
            </a:xfrm>
            <a:prstGeom prst="line">
              <a:avLst/>
            </a:prstGeom>
            <a:noFill/>
            <a:ln w="57150">
              <a:solidFill>
                <a:schemeClr val="tx2"/>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3" name="Group 15"/>
          <p:cNvGrpSpPr>
            <a:grpSpLocks/>
          </p:cNvGrpSpPr>
          <p:nvPr/>
        </p:nvGrpSpPr>
        <p:grpSpPr bwMode="auto">
          <a:xfrm>
            <a:off x="3543300" y="1828800"/>
            <a:ext cx="2514600" cy="1652588"/>
            <a:chOff x="2232" y="1152"/>
            <a:chExt cx="1584" cy="1041"/>
          </a:xfrm>
        </p:grpSpPr>
        <p:sp>
          <p:nvSpPr>
            <p:cNvPr id="15380" name="Text Box 6"/>
            <p:cNvSpPr txBox="1">
              <a:spLocks noChangeArrowheads="1"/>
            </p:cNvSpPr>
            <p:nvPr/>
          </p:nvSpPr>
          <p:spPr bwMode="auto">
            <a:xfrm>
              <a:off x="2232" y="1541"/>
              <a:ext cx="1584" cy="652"/>
            </a:xfrm>
            <a:prstGeom prst="rect">
              <a:avLst/>
            </a:prstGeom>
            <a:noFill/>
            <a:ln w="28575">
              <a:solidFill>
                <a:schemeClr val="bg1"/>
              </a:solidFill>
              <a:miter lim="800000"/>
              <a:headEnd/>
              <a:tailEnd/>
            </a:ln>
          </p:spPr>
          <p:txBody>
            <a:bodyPr wrap="none">
              <a:spAutoFit/>
            </a:bodyPr>
            <a:lstStyle/>
            <a:p>
              <a:r>
                <a:rPr lang="zh-CN" altLang="en-US" sz="2000" b="1">
                  <a:solidFill>
                    <a:schemeClr val="bg1"/>
                  </a:solidFill>
                  <a:latin typeface="Times New Roman" pitchFamily="18" charset="0"/>
                  <a:ea typeface="华文中宋" pitchFamily="2" charset="-122"/>
                  <a:cs typeface="Times New Roman" pitchFamily="18" charset="0"/>
                </a:rPr>
                <a:t>分子之间没有相互作</a:t>
              </a:r>
            </a:p>
            <a:p>
              <a:r>
                <a:rPr lang="zh-CN" altLang="en-US" sz="2000" b="1">
                  <a:solidFill>
                    <a:schemeClr val="bg1"/>
                  </a:solidFill>
                  <a:latin typeface="Times New Roman" pitchFamily="18" charset="0"/>
                  <a:ea typeface="华文中宋" pitchFamily="2" charset="-122"/>
                  <a:cs typeface="Times New Roman" pitchFamily="18" charset="0"/>
                </a:rPr>
                <a:t>用</a:t>
              </a:r>
              <a:r>
                <a:rPr lang="en-US" altLang="zh-CN" sz="2000" b="1">
                  <a:solidFill>
                    <a:schemeClr val="bg1"/>
                  </a:solidFill>
                  <a:latin typeface="Times New Roman" pitchFamily="18" charset="0"/>
                  <a:ea typeface="华文中宋" pitchFamily="2" charset="-122"/>
                  <a:cs typeface="Times New Roman" pitchFamily="18" charset="0"/>
                </a:rPr>
                <a:t>(</a:t>
              </a:r>
              <a:r>
                <a:rPr lang="zh-CN" altLang="en-US" sz="2000" b="1">
                  <a:solidFill>
                    <a:schemeClr val="bg1"/>
                  </a:solidFill>
                  <a:latin typeface="Times New Roman" pitchFamily="18" charset="0"/>
                  <a:ea typeface="华文中宋" pitchFamily="2" charset="-122"/>
                  <a:cs typeface="Times New Roman" pitchFamily="18" charset="0"/>
                </a:rPr>
                <a:t>没有分子势能</a:t>
              </a:r>
              <a:r>
                <a:rPr lang="en-US" altLang="zh-CN" sz="2000" b="1">
                  <a:solidFill>
                    <a:schemeClr val="bg1"/>
                  </a:solidFill>
                  <a:latin typeface="Times New Roman" pitchFamily="18" charset="0"/>
                  <a:ea typeface="华文中宋" pitchFamily="2" charset="-122"/>
                  <a:cs typeface="Times New Roman" pitchFamily="18" charset="0"/>
                </a:rPr>
                <a:t>)</a:t>
              </a:r>
              <a:r>
                <a:rPr lang="zh-CN" altLang="en-US" sz="2000" b="1">
                  <a:solidFill>
                    <a:schemeClr val="bg1"/>
                  </a:solidFill>
                  <a:latin typeface="Times New Roman" pitchFamily="18" charset="0"/>
                  <a:ea typeface="华文中宋" pitchFamily="2" charset="-122"/>
                  <a:cs typeface="Times New Roman" pitchFamily="18" charset="0"/>
                </a:rPr>
                <a:t>，</a:t>
              </a:r>
            </a:p>
            <a:p>
              <a:r>
                <a:rPr lang="zh-CN" altLang="en-US" sz="2000" b="1">
                  <a:solidFill>
                    <a:schemeClr val="bg1"/>
                  </a:solidFill>
                  <a:latin typeface="Times New Roman" pitchFamily="18" charset="0"/>
                  <a:ea typeface="华文中宋" pitchFamily="2" charset="-122"/>
                  <a:cs typeface="Times New Roman" pitchFamily="18" charset="0"/>
                </a:rPr>
                <a:t>如理想气体体系</a:t>
              </a:r>
            </a:p>
          </p:txBody>
        </p:sp>
        <p:sp>
          <p:nvSpPr>
            <p:cNvPr id="15381" name="Line 9"/>
            <p:cNvSpPr>
              <a:spLocks noChangeShapeType="1"/>
            </p:cNvSpPr>
            <p:nvPr/>
          </p:nvSpPr>
          <p:spPr bwMode="auto">
            <a:xfrm>
              <a:off x="2544" y="1152"/>
              <a:ext cx="720" cy="0"/>
            </a:xfrm>
            <a:prstGeom prst="line">
              <a:avLst/>
            </a:prstGeom>
            <a:noFill/>
            <a:ln w="57150">
              <a:solidFill>
                <a:schemeClr val="tx2"/>
              </a:solidFill>
              <a:round/>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sp>
          <p:nvSpPr>
            <p:cNvPr id="15382" name="Line 12"/>
            <p:cNvSpPr>
              <a:spLocks noChangeShapeType="1"/>
            </p:cNvSpPr>
            <p:nvPr/>
          </p:nvSpPr>
          <p:spPr bwMode="auto">
            <a:xfrm>
              <a:off x="2880" y="1152"/>
              <a:ext cx="0" cy="384"/>
            </a:xfrm>
            <a:prstGeom prst="line">
              <a:avLst/>
            </a:prstGeom>
            <a:noFill/>
            <a:ln w="57150">
              <a:solidFill>
                <a:schemeClr val="tx2"/>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4" name="Group 16"/>
          <p:cNvGrpSpPr>
            <a:grpSpLocks/>
          </p:cNvGrpSpPr>
          <p:nvPr/>
        </p:nvGrpSpPr>
        <p:grpSpPr bwMode="auto">
          <a:xfrm>
            <a:off x="6400800" y="1828800"/>
            <a:ext cx="2697163" cy="1949450"/>
            <a:chOff x="4032" y="1152"/>
            <a:chExt cx="1699" cy="1228"/>
          </a:xfrm>
        </p:grpSpPr>
        <p:sp>
          <p:nvSpPr>
            <p:cNvPr id="15377" name="Text Box 7"/>
            <p:cNvSpPr txBox="1">
              <a:spLocks noChangeArrowheads="1"/>
            </p:cNvSpPr>
            <p:nvPr/>
          </p:nvSpPr>
          <p:spPr bwMode="auto">
            <a:xfrm>
              <a:off x="4032" y="1536"/>
              <a:ext cx="1699" cy="844"/>
            </a:xfrm>
            <a:prstGeom prst="rect">
              <a:avLst/>
            </a:prstGeom>
            <a:noFill/>
            <a:ln w="28575">
              <a:solidFill>
                <a:schemeClr val="bg1"/>
              </a:solidFill>
              <a:miter lim="800000"/>
              <a:headEnd/>
              <a:tailEnd/>
            </a:ln>
          </p:spPr>
          <p:txBody>
            <a:bodyPr wrap="none">
              <a:spAutoFit/>
            </a:bodyPr>
            <a:lstStyle/>
            <a:p>
              <a:r>
                <a:rPr lang="zh-CN" altLang="en-US" sz="2000" b="1">
                  <a:solidFill>
                    <a:schemeClr val="bg1"/>
                  </a:solidFill>
                  <a:latin typeface="Times New Roman" pitchFamily="18" charset="0"/>
                  <a:ea typeface="华文中宋" pitchFamily="2" charset="-122"/>
                  <a:cs typeface="Times New Roman" pitchFamily="18" charset="0"/>
                </a:rPr>
                <a:t>与外界之间没有物质</a:t>
              </a:r>
            </a:p>
            <a:p>
              <a:r>
                <a:rPr lang="zh-CN" altLang="en-US" sz="2000" b="1">
                  <a:solidFill>
                    <a:schemeClr val="bg1"/>
                  </a:solidFill>
                  <a:latin typeface="Times New Roman" pitchFamily="18" charset="0"/>
                  <a:ea typeface="华文中宋" pitchFamily="2" charset="-122"/>
                  <a:cs typeface="Times New Roman" pitchFamily="18" charset="0"/>
                </a:rPr>
                <a:t>和能量的交换，因此</a:t>
              </a:r>
            </a:p>
            <a:p>
              <a:r>
                <a:rPr lang="zh-CN" altLang="en-US" sz="2000" b="1">
                  <a:solidFill>
                    <a:schemeClr val="bg1"/>
                  </a:solidFill>
                  <a:latin typeface="Times New Roman" pitchFamily="18" charset="0"/>
                  <a:ea typeface="华文中宋" pitchFamily="2" charset="-122"/>
                  <a:cs typeface="Times New Roman" pitchFamily="18" charset="0"/>
                </a:rPr>
                <a:t>具有明确的粒子数</a:t>
              </a:r>
              <a:r>
                <a:rPr lang="en-US" altLang="zh-CN" sz="2000" b="1" i="1">
                  <a:solidFill>
                    <a:schemeClr val="bg1"/>
                  </a:solidFill>
                  <a:latin typeface="Times New Roman" pitchFamily="18" charset="0"/>
                  <a:ea typeface="华文中宋" pitchFamily="2" charset="-122"/>
                  <a:cs typeface="Times New Roman" pitchFamily="18" charset="0"/>
                </a:rPr>
                <a:t>N</a:t>
              </a:r>
              <a:r>
                <a:rPr lang="zh-CN" altLang="en-US" sz="2000" b="1">
                  <a:solidFill>
                    <a:schemeClr val="bg1"/>
                  </a:solidFill>
                  <a:latin typeface="Times New Roman" pitchFamily="18" charset="0"/>
                  <a:ea typeface="华文中宋" pitchFamily="2" charset="-122"/>
                  <a:cs typeface="Times New Roman" pitchFamily="18" charset="0"/>
                </a:rPr>
                <a:t>、</a:t>
              </a:r>
            </a:p>
            <a:p>
              <a:r>
                <a:rPr lang="zh-CN" altLang="en-US" sz="2000" b="1">
                  <a:solidFill>
                    <a:schemeClr val="bg1"/>
                  </a:solidFill>
                  <a:latin typeface="Times New Roman" pitchFamily="18" charset="0"/>
                  <a:ea typeface="华文中宋" pitchFamily="2" charset="-122"/>
                  <a:cs typeface="Times New Roman" pitchFamily="18" charset="0"/>
                </a:rPr>
                <a:t>总能量</a:t>
              </a:r>
              <a:r>
                <a:rPr lang="en-US" altLang="zh-CN" sz="2000" b="1" i="1">
                  <a:solidFill>
                    <a:schemeClr val="bg1"/>
                  </a:solidFill>
                  <a:latin typeface="Times New Roman" pitchFamily="18" charset="0"/>
                  <a:ea typeface="华文中宋" pitchFamily="2" charset="-122"/>
                  <a:cs typeface="Times New Roman" pitchFamily="18" charset="0"/>
                </a:rPr>
                <a:t>E</a:t>
              </a:r>
              <a:r>
                <a:rPr lang="zh-CN" altLang="en-US" sz="2000" b="1">
                  <a:solidFill>
                    <a:schemeClr val="bg1"/>
                  </a:solidFill>
                  <a:latin typeface="Times New Roman" pitchFamily="18" charset="0"/>
                  <a:ea typeface="华文中宋" pitchFamily="2" charset="-122"/>
                  <a:cs typeface="Times New Roman" pitchFamily="18" charset="0"/>
                </a:rPr>
                <a:t>和总体积</a:t>
              </a:r>
              <a:r>
                <a:rPr lang="en-US" altLang="zh-CN" sz="2000" b="1" i="1">
                  <a:solidFill>
                    <a:schemeClr val="bg1"/>
                  </a:solidFill>
                  <a:latin typeface="Times New Roman" pitchFamily="18" charset="0"/>
                  <a:ea typeface="华文中宋" pitchFamily="2" charset="-122"/>
                  <a:cs typeface="Times New Roman" pitchFamily="18" charset="0"/>
                </a:rPr>
                <a:t>V</a:t>
              </a:r>
              <a:r>
                <a:rPr lang="en-US" altLang="zh-CN" sz="2000" b="1">
                  <a:solidFill>
                    <a:schemeClr val="bg1"/>
                  </a:solidFill>
                  <a:latin typeface="Times New Roman" pitchFamily="18" charset="0"/>
                  <a:ea typeface="华文中宋" pitchFamily="2" charset="-122"/>
                  <a:cs typeface="Times New Roman" pitchFamily="18" charset="0"/>
                </a:rPr>
                <a:t> </a:t>
              </a:r>
            </a:p>
          </p:txBody>
        </p:sp>
        <p:sp>
          <p:nvSpPr>
            <p:cNvPr id="15378" name="Line 10"/>
            <p:cNvSpPr>
              <a:spLocks noChangeShapeType="1"/>
            </p:cNvSpPr>
            <p:nvPr/>
          </p:nvSpPr>
          <p:spPr bwMode="auto">
            <a:xfrm>
              <a:off x="4112" y="1152"/>
              <a:ext cx="960" cy="0"/>
            </a:xfrm>
            <a:prstGeom prst="line">
              <a:avLst/>
            </a:prstGeom>
            <a:noFill/>
            <a:ln w="57150">
              <a:solidFill>
                <a:schemeClr val="tx2"/>
              </a:solidFill>
              <a:round/>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sp>
          <p:nvSpPr>
            <p:cNvPr id="15379" name="Line 13"/>
            <p:cNvSpPr>
              <a:spLocks noChangeShapeType="1"/>
            </p:cNvSpPr>
            <p:nvPr/>
          </p:nvSpPr>
          <p:spPr bwMode="auto">
            <a:xfrm>
              <a:off x="4560" y="1152"/>
              <a:ext cx="336" cy="384"/>
            </a:xfrm>
            <a:prstGeom prst="line">
              <a:avLst/>
            </a:prstGeom>
            <a:noFill/>
            <a:ln w="57150">
              <a:solidFill>
                <a:schemeClr val="tx2"/>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5" name="Group 30"/>
          <p:cNvGrpSpPr>
            <a:grpSpLocks/>
          </p:cNvGrpSpPr>
          <p:nvPr/>
        </p:nvGrpSpPr>
        <p:grpSpPr bwMode="auto">
          <a:xfrm>
            <a:off x="985838" y="4267200"/>
            <a:ext cx="6956431" cy="1600200"/>
            <a:chOff x="621" y="2688"/>
            <a:chExt cx="4382" cy="1008"/>
          </a:xfrm>
        </p:grpSpPr>
        <p:sp>
          <p:nvSpPr>
            <p:cNvPr id="15376" name="Text Box 17"/>
            <p:cNvSpPr txBox="1">
              <a:spLocks noChangeArrowheads="1"/>
            </p:cNvSpPr>
            <p:nvPr/>
          </p:nvSpPr>
          <p:spPr bwMode="auto">
            <a:xfrm>
              <a:off x="621" y="2688"/>
              <a:ext cx="4382" cy="989"/>
            </a:xfrm>
            <a:prstGeom prst="rect">
              <a:avLst/>
            </a:prstGeom>
            <a:noFill/>
            <a:ln w="9525">
              <a:noFill/>
              <a:miter lim="800000"/>
              <a:headEnd/>
              <a:tailEnd/>
            </a:ln>
          </p:spPr>
          <p:txBody>
            <a:bodyPr wrap="none">
              <a:spAutoFit/>
            </a:bodyPr>
            <a:lstStyle/>
            <a:p>
              <a:r>
                <a:rPr lang="zh-CN" altLang="en-US" sz="2400" b="1" dirty="0">
                  <a:solidFill>
                    <a:srgbClr val="D2DC08"/>
                  </a:solidFill>
                  <a:latin typeface="Times New Roman" pitchFamily="18" charset="0"/>
                  <a:ea typeface="华文中宋" pitchFamily="2" charset="-122"/>
                  <a:cs typeface="Times New Roman" pitchFamily="18" charset="0"/>
                </a:rPr>
                <a:t>符号约定</a:t>
              </a:r>
              <a:r>
                <a:rPr lang="zh-CN" altLang="en-US" sz="2400" b="1" dirty="0" smtClean="0">
                  <a:solidFill>
                    <a:srgbClr val="D2DC08"/>
                  </a:solidFill>
                  <a:latin typeface="Times New Roman" pitchFamily="18" charset="0"/>
                  <a:ea typeface="华文中宋" pitchFamily="2" charset="-122"/>
                  <a:cs typeface="Times New Roman" pitchFamily="18" charset="0"/>
                </a:rPr>
                <a:t>：     </a:t>
              </a:r>
              <a:r>
                <a:rPr lang="zh-CN" altLang="en-US" sz="2400" b="1" dirty="0">
                  <a:solidFill>
                    <a:srgbClr val="D2DC08"/>
                  </a:solidFill>
                  <a:latin typeface="Times New Roman" pitchFamily="18" charset="0"/>
                  <a:ea typeface="华文中宋" pitchFamily="2" charset="-122"/>
                  <a:cs typeface="Times New Roman" pitchFamily="18" charset="0"/>
                </a:rPr>
                <a:t>为粒子的能级，</a:t>
              </a:r>
            </a:p>
            <a:p>
              <a:r>
                <a:rPr lang="zh-CN" altLang="en-US" sz="2400" b="1" dirty="0">
                  <a:solidFill>
                    <a:srgbClr val="D2DC08"/>
                  </a:solidFill>
                  <a:latin typeface="Times New Roman" pitchFamily="18" charset="0"/>
                  <a:ea typeface="华文中宋" pitchFamily="2" charset="-122"/>
                  <a:cs typeface="Times New Roman" pitchFamily="18" charset="0"/>
                </a:rPr>
                <a:t>            </a:t>
              </a:r>
              <a:r>
                <a:rPr lang="zh-CN" altLang="en-US" sz="2400" b="1" dirty="0" smtClean="0">
                  <a:solidFill>
                    <a:srgbClr val="D2DC08"/>
                  </a:solidFill>
                  <a:latin typeface="Times New Roman" pitchFamily="18" charset="0"/>
                  <a:ea typeface="华文中宋" pitchFamily="2" charset="-122"/>
                  <a:cs typeface="Times New Roman" pitchFamily="18" charset="0"/>
                </a:rPr>
                <a:t>             为</a:t>
              </a:r>
              <a:r>
                <a:rPr lang="zh-CN" altLang="en-US" sz="2400" b="1" dirty="0">
                  <a:solidFill>
                    <a:srgbClr val="D2DC08"/>
                  </a:solidFill>
                  <a:latin typeface="Times New Roman" pitchFamily="18" charset="0"/>
                  <a:ea typeface="华文中宋" pitchFamily="2" charset="-122"/>
                  <a:cs typeface="Times New Roman" pitchFamily="18" charset="0"/>
                </a:rPr>
                <a:t>能级为 </a:t>
              </a:r>
              <a:r>
                <a:rPr lang="zh-CN" altLang="en-US" sz="2400" b="1" dirty="0" smtClean="0">
                  <a:solidFill>
                    <a:srgbClr val="D2DC08"/>
                  </a:solidFill>
                  <a:latin typeface="Times New Roman" pitchFamily="18" charset="0"/>
                  <a:ea typeface="华文中宋" pitchFamily="2" charset="-122"/>
                  <a:cs typeface="Times New Roman" pitchFamily="18" charset="0"/>
                </a:rPr>
                <a:t>  </a:t>
              </a:r>
              <a:r>
                <a:rPr lang="zh-CN" altLang="en-US" sz="2400" b="1" dirty="0">
                  <a:solidFill>
                    <a:srgbClr val="D2DC08"/>
                  </a:solidFill>
                  <a:latin typeface="Times New Roman" pitchFamily="18" charset="0"/>
                  <a:ea typeface="华文中宋" pitchFamily="2" charset="-122"/>
                  <a:cs typeface="Times New Roman" pitchFamily="18" charset="0"/>
                </a:rPr>
                <a:t>时的简并度，  </a:t>
              </a:r>
            </a:p>
            <a:p>
              <a:r>
                <a:rPr lang="zh-CN" altLang="en-US" sz="2400" b="1" dirty="0">
                  <a:solidFill>
                    <a:srgbClr val="D2DC08"/>
                  </a:solidFill>
                  <a:latin typeface="Times New Roman" pitchFamily="18" charset="0"/>
                  <a:ea typeface="华文中宋" pitchFamily="2" charset="-122"/>
                  <a:cs typeface="Times New Roman" pitchFamily="18" charset="0"/>
                </a:rPr>
                <a:t>            </a:t>
              </a:r>
              <a:r>
                <a:rPr lang="zh-CN" altLang="en-US" sz="2400" b="1" dirty="0" smtClean="0">
                  <a:solidFill>
                    <a:srgbClr val="D2DC08"/>
                  </a:solidFill>
                  <a:latin typeface="Times New Roman" pitchFamily="18" charset="0"/>
                  <a:ea typeface="华文中宋" pitchFamily="2" charset="-122"/>
                  <a:cs typeface="Times New Roman" pitchFamily="18" charset="0"/>
                </a:rPr>
                <a:t>             为</a:t>
              </a:r>
              <a:r>
                <a:rPr lang="zh-CN" altLang="en-US" sz="2400" b="1" dirty="0">
                  <a:solidFill>
                    <a:srgbClr val="D2DC08"/>
                  </a:solidFill>
                  <a:latin typeface="Times New Roman" pitchFamily="18" charset="0"/>
                  <a:ea typeface="华文中宋" pitchFamily="2" charset="-122"/>
                  <a:cs typeface="Times New Roman" pitchFamily="18" charset="0"/>
                </a:rPr>
                <a:t>能级</a:t>
              </a:r>
              <a:r>
                <a:rPr lang="zh-CN" altLang="en-US" sz="2400" b="1" dirty="0" smtClean="0">
                  <a:solidFill>
                    <a:srgbClr val="D2DC08"/>
                  </a:solidFill>
                  <a:latin typeface="Times New Roman" pitchFamily="18" charset="0"/>
                  <a:ea typeface="华文中宋" pitchFamily="2" charset="-122"/>
                  <a:cs typeface="Times New Roman" pitchFamily="18" charset="0"/>
                </a:rPr>
                <a:t>为   </a:t>
              </a:r>
              <a:r>
                <a:rPr lang="zh-CN" altLang="en-US" sz="2400" b="1" dirty="0">
                  <a:solidFill>
                    <a:srgbClr val="D2DC08"/>
                  </a:solidFill>
                  <a:latin typeface="Times New Roman" pitchFamily="18" charset="0"/>
                  <a:ea typeface="华文中宋" pitchFamily="2" charset="-122"/>
                  <a:cs typeface="Times New Roman" pitchFamily="18" charset="0"/>
                </a:rPr>
                <a:t>的粒子数，        </a:t>
              </a:r>
            </a:p>
            <a:p>
              <a:r>
                <a:rPr lang="zh-CN" altLang="en-US" sz="2400" b="1" dirty="0">
                  <a:solidFill>
                    <a:srgbClr val="D2DC08"/>
                  </a:solidFill>
                  <a:latin typeface="Times New Roman" pitchFamily="18" charset="0"/>
                  <a:ea typeface="华文中宋" pitchFamily="2" charset="-122"/>
                  <a:cs typeface="Times New Roman" pitchFamily="18" charset="0"/>
                </a:rPr>
                <a:t>                   </a:t>
              </a:r>
              <a:r>
                <a:rPr lang="zh-CN" altLang="en-US" sz="2400" b="1" dirty="0" smtClean="0">
                  <a:solidFill>
                    <a:srgbClr val="D2DC08"/>
                  </a:solidFill>
                  <a:latin typeface="Times New Roman" pitchFamily="18" charset="0"/>
                  <a:ea typeface="华文中宋" pitchFamily="2" charset="-122"/>
                  <a:cs typeface="Times New Roman" pitchFamily="18" charset="0"/>
                </a:rPr>
                <a:t>                      是</a:t>
              </a:r>
              <a:r>
                <a:rPr lang="zh-CN" altLang="en-US" sz="2400" b="1" dirty="0">
                  <a:solidFill>
                    <a:srgbClr val="D2DC08"/>
                  </a:solidFill>
                  <a:latin typeface="Times New Roman" pitchFamily="18" charset="0"/>
                  <a:ea typeface="华文中宋" pitchFamily="2" charset="-122"/>
                  <a:cs typeface="Times New Roman" pitchFamily="18" charset="0"/>
                </a:rPr>
                <a:t>能级从低到高的标号</a:t>
              </a:r>
              <a:r>
                <a:rPr lang="zh-CN" altLang="en-US" sz="2400" b="1" dirty="0" smtClean="0">
                  <a:solidFill>
                    <a:srgbClr val="D2DC08"/>
                  </a:solidFill>
                  <a:latin typeface="Times New Roman" pitchFamily="18" charset="0"/>
                  <a:ea typeface="华文中宋" pitchFamily="2" charset="-122"/>
                  <a:cs typeface="Times New Roman" pitchFamily="18" charset="0"/>
                </a:rPr>
                <a:t>。   </a:t>
              </a:r>
              <a:endParaRPr lang="zh-CN" altLang="en-US" sz="2400" b="1" dirty="0">
                <a:solidFill>
                  <a:srgbClr val="D2DC08"/>
                </a:solidFill>
                <a:latin typeface="Times New Roman" pitchFamily="18" charset="0"/>
                <a:ea typeface="华文中宋" pitchFamily="2" charset="-122"/>
                <a:cs typeface="Times New Roman" pitchFamily="18" charset="0"/>
              </a:endParaRPr>
            </a:p>
          </p:txBody>
        </p:sp>
        <p:graphicFrame>
          <p:nvGraphicFramePr>
            <p:cNvPr id="15362" name="Object 18"/>
            <p:cNvGraphicFramePr>
              <a:graphicFrameLocks noChangeAspect="1"/>
            </p:cNvGraphicFramePr>
            <p:nvPr/>
          </p:nvGraphicFramePr>
          <p:xfrm>
            <a:off x="1654" y="2688"/>
            <a:ext cx="179" cy="286"/>
          </p:xfrm>
          <a:graphic>
            <a:graphicData uri="http://schemas.openxmlformats.org/presentationml/2006/ole">
              <p:oleObj spid="_x0000_s15362" r:id="rId3" imgW="139700" imgH="228600" progId="Equation.DSMT4">
                <p:embed/>
              </p:oleObj>
            </a:graphicData>
          </a:graphic>
        </p:graphicFrame>
        <p:graphicFrame>
          <p:nvGraphicFramePr>
            <p:cNvPr id="15363" name="Object 20"/>
            <p:cNvGraphicFramePr>
              <a:graphicFrameLocks noChangeAspect="1"/>
            </p:cNvGraphicFramePr>
            <p:nvPr/>
          </p:nvGraphicFramePr>
          <p:xfrm>
            <a:off x="1654" y="2928"/>
            <a:ext cx="204" cy="289"/>
          </p:xfrm>
          <a:graphic>
            <a:graphicData uri="http://schemas.openxmlformats.org/presentationml/2006/ole">
              <p:oleObj spid="_x0000_s15363" r:id="rId4" imgW="165028" imgH="228501" progId="Equation.DSMT4">
                <p:embed/>
              </p:oleObj>
            </a:graphicData>
          </a:graphic>
        </p:graphicFrame>
        <p:graphicFrame>
          <p:nvGraphicFramePr>
            <p:cNvPr id="15364" name="Object 22"/>
            <p:cNvGraphicFramePr>
              <a:graphicFrameLocks noChangeAspect="1"/>
            </p:cNvGraphicFramePr>
            <p:nvPr/>
          </p:nvGraphicFramePr>
          <p:xfrm>
            <a:off x="2614" y="2928"/>
            <a:ext cx="179" cy="286"/>
          </p:xfrm>
          <a:graphic>
            <a:graphicData uri="http://schemas.openxmlformats.org/presentationml/2006/ole">
              <p:oleObj spid="_x0000_s15364" name="Equation" r:id="rId5" imgW="152280" imgH="228600" progId="Equation.DSMT4">
                <p:embed/>
              </p:oleObj>
            </a:graphicData>
          </a:graphic>
        </p:graphicFrame>
        <p:graphicFrame>
          <p:nvGraphicFramePr>
            <p:cNvPr id="15365" name="Object 23"/>
            <p:cNvGraphicFramePr>
              <a:graphicFrameLocks noChangeAspect="1"/>
            </p:cNvGraphicFramePr>
            <p:nvPr/>
          </p:nvGraphicFramePr>
          <p:xfrm>
            <a:off x="2627" y="3170"/>
            <a:ext cx="179" cy="286"/>
          </p:xfrm>
          <a:graphic>
            <a:graphicData uri="http://schemas.openxmlformats.org/presentationml/2006/ole">
              <p:oleObj spid="_x0000_s15365" name="Equation" r:id="rId6" imgW="152280" imgH="228600" progId="Equation.DSMT4">
                <p:embed/>
              </p:oleObj>
            </a:graphicData>
          </a:graphic>
        </p:graphicFrame>
        <p:graphicFrame>
          <p:nvGraphicFramePr>
            <p:cNvPr id="15366" name="Object 24"/>
            <p:cNvGraphicFramePr>
              <a:graphicFrameLocks noChangeAspect="1"/>
            </p:cNvGraphicFramePr>
            <p:nvPr/>
          </p:nvGraphicFramePr>
          <p:xfrm>
            <a:off x="1656" y="3171"/>
            <a:ext cx="190" cy="285"/>
          </p:xfrm>
          <a:graphic>
            <a:graphicData uri="http://schemas.openxmlformats.org/presentationml/2006/ole">
              <p:oleObj spid="_x0000_s15366" r:id="rId7" imgW="152334" imgH="228501" progId="Equation.DSMT4">
                <p:embed/>
              </p:oleObj>
            </a:graphicData>
          </a:graphic>
        </p:graphicFrame>
        <p:graphicFrame>
          <p:nvGraphicFramePr>
            <p:cNvPr id="15367" name="Object 26"/>
            <p:cNvGraphicFramePr>
              <a:graphicFrameLocks noChangeAspect="1"/>
            </p:cNvGraphicFramePr>
            <p:nvPr/>
          </p:nvGraphicFramePr>
          <p:xfrm>
            <a:off x="1702" y="3443"/>
            <a:ext cx="866" cy="253"/>
          </p:xfrm>
          <a:graphic>
            <a:graphicData uri="http://schemas.openxmlformats.org/presentationml/2006/ole">
              <p:oleObj spid="_x0000_s15367" r:id="rId8" imgW="685800" imgH="203200" progId="Equation.DSMT4">
                <p:embed/>
              </p:oleObj>
            </a:graphicData>
          </a:graphic>
        </p:graphicFrame>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box(in)">
                                      <p:cBhvr>
                                        <p:cTn id="7" dur="500"/>
                                        <p:tgtEl>
                                          <p:spTgt spid="3379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3796"/>
                                        </p:tgtEl>
                                        <p:attrNameLst>
                                          <p:attrName>style.visibility</p:attrName>
                                        </p:attrNameLst>
                                      </p:cBhvr>
                                      <p:to>
                                        <p:strVal val="visible"/>
                                      </p:to>
                                    </p:set>
                                    <p:animEffect transition="in" filter="dissolve">
                                      <p:cBhvr>
                                        <p:cTn id="12" dur="500"/>
                                        <p:tgtEl>
                                          <p:spTgt spid="3379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0-#ppt_w/2"/>
                                          </p:val>
                                        </p:tav>
                                        <p:tav tm="100000">
                                          <p:val>
                                            <p:strVal val="#ppt_x"/>
                                          </p:val>
                                        </p:tav>
                                      </p:tavLst>
                                    </p:anim>
                                    <p:anim calcmode="lin" valueType="num">
                                      <p:cBhvr additive="base">
                                        <p:cTn id="1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1+#ppt_w/2"/>
                                          </p:val>
                                        </p:tav>
                                        <p:tav tm="100000">
                                          <p:val>
                                            <p:strVal val="#ppt_x"/>
                                          </p:val>
                                        </p:tav>
                                      </p:tavLst>
                                    </p:anim>
                                    <p:anim calcmode="lin" valueType="num">
                                      <p:cBhvr additive="base">
                                        <p:cTn id="3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6" presetClass="entr" presetSubtype="42"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barn(outHorizontal)">
                                      <p:cBhvr>
                                        <p:cTn id="3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autoUpdateAnimBg="0"/>
      <p:bldP spid="33796"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2" name="灯片编号占位符 3"/>
          <p:cNvSpPr>
            <a:spLocks noGrp="1"/>
          </p:cNvSpPr>
          <p:nvPr>
            <p:ph type="sldNum" sz="quarter" idx="12"/>
          </p:nvPr>
        </p:nvSpPr>
        <p:spPr>
          <a:noFill/>
        </p:spPr>
        <p:txBody>
          <a:bodyPr/>
          <a:lstStyle/>
          <a:p>
            <a:fld id="{F55BFDFA-4329-48FD-812C-221E5B0A1114}" type="slidenum">
              <a:rPr lang="en-US" altLang="zh-CN" smtClean="0">
                <a:latin typeface="Times New Roman" pitchFamily="18" charset="0"/>
                <a:ea typeface="华文中宋" pitchFamily="2" charset="-122"/>
                <a:cs typeface="Times New Roman" pitchFamily="18" charset="0"/>
              </a:rPr>
              <a:pPr/>
              <a:t>29</a:t>
            </a:fld>
            <a:endParaRPr lang="en-US" altLang="zh-CN" smtClean="0">
              <a:latin typeface="Times New Roman" pitchFamily="18" charset="0"/>
              <a:ea typeface="华文中宋" pitchFamily="2" charset="-122"/>
              <a:cs typeface="Times New Roman" pitchFamily="18" charset="0"/>
            </a:endParaRPr>
          </a:p>
        </p:txBody>
      </p:sp>
      <p:sp>
        <p:nvSpPr>
          <p:cNvPr id="16393" name="Rectangle 2"/>
          <p:cNvSpPr>
            <a:spLocks noGrp="1" noRot="1" noChangeArrowheads="1"/>
          </p:cNvSpPr>
          <p:nvPr/>
        </p:nvSpPr>
        <p:spPr bwMode="auto">
          <a:xfrm>
            <a:off x="374650" y="228600"/>
            <a:ext cx="8540750" cy="1143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特定宏观体系的微观状态数计算</a:t>
            </a:r>
          </a:p>
        </p:txBody>
      </p:sp>
      <p:sp>
        <p:nvSpPr>
          <p:cNvPr id="16394" name="Text Box 3"/>
          <p:cNvSpPr txBox="1">
            <a:spLocks noChangeArrowheads="1"/>
          </p:cNvSpPr>
          <p:nvPr/>
        </p:nvSpPr>
        <p:spPr bwMode="auto">
          <a:xfrm>
            <a:off x="4364038" y="0"/>
            <a:ext cx="477996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各种体系的能级分布和微观状态数</a:t>
            </a:r>
            <a:endParaRPr lang="zh-CN" altLang="en-US" sz="2400">
              <a:solidFill>
                <a:schemeClr val="bg1"/>
              </a:solidFill>
              <a:latin typeface="Times New Roman" pitchFamily="18" charset="0"/>
            </a:endParaRPr>
          </a:p>
        </p:txBody>
      </p:sp>
      <p:grpSp>
        <p:nvGrpSpPr>
          <p:cNvPr id="2" name="Group 21"/>
          <p:cNvGrpSpPr>
            <a:grpSpLocks/>
          </p:cNvGrpSpPr>
          <p:nvPr/>
        </p:nvGrpSpPr>
        <p:grpSpPr bwMode="auto">
          <a:xfrm>
            <a:off x="1584325" y="1568450"/>
            <a:ext cx="3544888" cy="568325"/>
            <a:chOff x="998" y="988"/>
            <a:chExt cx="2233" cy="358"/>
          </a:xfrm>
        </p:grpSpPr>
        <p:sp>
          <p:nvSpPr>
            <p:cNvPr id="16415" name="Text Box 4"/>
            <p:cNvSpPr txBox="1">
              <a:spLocks noChangeArrowheads="1"/>
            </p:cNvSpPr>
            <p:nvPr/>
          </p:nvSpPr>
          <p:spPr bwMode="auto">
            <a:xfrm>
              <a:off x="998" y="988"/>
              <a:ext cx="738" cy="330"/>
            </a:xfrm>
            <a:prstGeom prst="rect">
              <a:avLst/>
            </a:prstGeom>
            <a:noFill/>
            <a:ln w="9525">
              <a:noFill/>
              <a:miter lim="800000"/>
              <a:headEnd/>
              <a:tailEnd/>
            </a:ln>
          </p:spPr>
          <p:txBody>
            <a:bodyPr wrap="none">
              <a:spAutoFit/>
            </a:bodyPr>
            <a:lstStyle/>
            <a:p>
              <a:r>
                <a:rPr lang="zh-CN" altLang="en-US" sz="2800" b="1" dirty="0">
                  <a:solidFill>
                    <a:schemeClr val="bg1"/>
                  </a:solidFill>
                  <a:latin typeface="Times New Roman" pitchFamily="18" charset="0"/>
                  <a:ea typeface="华文中宋" pitchFamily="2" charset="-122"/>
                  <a:cs typeface="Times New Roman" pitchFamily="18" charset="0"/>
                </a:rPr>
                <a:t>能  级 </a:t>
              </a:r>
            </a:p>
          </p:txBody>
        </p:sp>
        <p:graphicFrame>
          <p:nvGraphicFramePr>
            <p:cNvPr id="16391" name="Object 7"/>
            <p:cNvGraphicFramePr>
              <a:graphicFrameLocks noChangeAspect="1"/>
            </p:cNvGraphicFramePr>
            <p:nvPr/>
          </p:nvGraphicFramePr>
          <p:xfrm>
            <a:off x="2208" y="1056"/>
            <a:ext cx="1023" cy="290"/>
          </p:xfrm>
          <a:graphic>
            <a:graphicData uri="http://schemas.openxmlformats.org/presentationml/2006/ole">
              <p:oleObj spid="_x0000_s16391" r:id="rId3" imgW="812447" imgH="228501" progId="Equation.DSMT4">
                <p:embed/>
              </p:oleObj>
            </a:graphicData>
          </a:graphic>
        </p:graphicFrame>
      </p:grpSp>
      <p:grpSp>
        <p:nvGrpSpPr>
          <p:cNvPr id="3" name="Group 22"/>
          <p:cNvGrpSpPr>
            <a:grpSpLocks/>
          </p:cNvGrpSpPr>
          <p:nvPr/>
        </p:nvGrpSpPr>
        <p:grpSpPr bwMode="auto">
          <a:xfrm>
            <a:off x="1584325" y="2178052"/>
            <a:ext cx="3722688" cy="523876"/>
            <a:chOff x="998" y="1372"/>
            <a:chExt cx="2345" cy="330"/>
          </a:xfrm>
        </p:grpSpPr>
        <p:sp>
          <p:nvSpPr>
            <p:cNvPr id="16414" name="Text Box 5"/>
            <p:cNvSpPr txBox="1">
              <a:spLocks noChangeArrowheads="1"/>
            </p:cNvSpPr>
            <p:nvPr/>
          </p:nvSpPr>
          <p:spPr bwMode="auto">
            <a:xfrm>
              <a:off x="998" y="1372"/>
              <a:ext cx="868" cy="330"/>
            </a:xfrm>
            <a:prstGeom prst="rect">
              <a:avLst/>
            </a:prstGeom>
            <a:noFill/>
            <a:ln w="9525">
              <a:noFill/>
              <a:miter lim="800000"/>
              <a:headEnd/>
              <a:tailEnd/>
            </a:ln>
          </p:spPr>
          <p:txBody>
            <a:bodyPr wrap="none">
              <a:spAutoFit/>
            </a:bodyPr>
            <a:lstStyle/>
            <a:p>
              <a:r>
                <a:rPr lang="zh-CN" altLang="en-US" sz="2800" b="1">
                  <a:solidFill>
                    <a:schemeClr val="bg1"/>
                  </a:solidFill>
                  <a:latin typeface="Times New Roman" pitchFamily="18" charset="0"/>
                  <a:ea typeface="华文中宋" pitchFamily="2" charset="-122"/>
                  <a:cs typeface="Times New Roman" pitchFamily="18" charset="0"/>
                </a:rPr>
                <a:t>简并度 </a:t>
              </a:r>
            </a:p>
          </p:txBody>
        </p:sp>
        <p:graphicFrame>
          <p:nvGraphicFramePr>
            <p:cNvPr id="16390" name="Object 9"/>
            <p:cNvGraphicFramePr>
              <a:graphicFrameLocks noChangeAspect="1"/>
            </p:cNvGraphicFramePr>
            <p:nvPr/>
          </p:nvGraphicFramePr>
          <p:xfrm>
            <a:off x="2208" y="1392"/>
            <a:ext cx="1135" cy="290"/>
          </p:xfrm>
          <a:graphic>
            <a:graphicData uri="http://schemas.openxmlformats.org/presentationml/2006/ole">
              <p:oleObj spid="_x0000_s16390" r:id="rId4" imgW="901309" imgH="228501" progId="Equation.DSMT4">
                <p:embed/>
              </p:oleObj>
            </a:graphicData>
          </a:graphic>
        </p:graphicFrame>
      </p:grpSp>
      <p:grpSp>
        <p:nvGrpSpPr>
          <p:cNvPr id="4" name="Group 23"/>
          <p:cNvGrpSpPr>
            <a:grpSpLocks/>
          </p:cNvGrpSpPr>
          <p:nvPr/>
        </p:nvGrpSpPr>
        <p:grpSpPr bwMode="auto">
          <a:xfrm>
            <a:off x="1600200" y="2787653"/>
            <a:ext cx="3606800" cy="523876"/>
            <a:chOff x="1008" y="1756"/>
            <a:chExt cx="2272" cy="330"/>
          </a:xfrm>
        </p:grpSpPr>
        <p:sp>
          <p:nvSpPr>
            <p:cNvPr id="16413" name="Text Box 6"/>
            <p:cNvSpPr txBox="1">
              <a:spLocks noChangeArrowheads="1"/>
            </p:cNvSpPr>
            <p:nvPr/>
          </p:nvSpPr>
          <p:spPr bwMode="auto">
            <a:xfrm>
              <a:off x="1008" y="1756"/>
              <a:ext cx="868" cy="330"/>
            </a:xfrm>
            <a:prstGeom prst="rect">
              <a:avLst/>
            </a:prstGeom>
            <a:noFill/>
            <a:ln w="9525">
              <a:noFill/>
              <a:miter lim="800000"/>
              <a:headEnd/>
              <a:tailEnd/>
            </a:ln>
          </p:spPr>
          <p:txBody>
            <a:bodyPr wrap="none">
              <a:spAutoFit/>
            </a:bodyPr>
            <a:lstStyle/>
            <a:p>
              <a:r>
                <a:rPr lang="zh-CN" altLang="en-US" sz="2800" b="1">
                  <a:solidFill>
                    <a:schemeClr val="bg1"/>
                  </a:solidFill>
                  <a:latin typeface="Times New Roman" pitchFamily="18" charset="0"/>
                  <a:ea typeface="华文中宋" pitchFamily="2" charset="-122"/>
                  <a:cs typeface="Times New Roman" pitchFamily="18" charset="0"/>
                </a:rPr>
                <a:t>粒子数 </a:t>
              </a:r>
            </a:p>
          </p:txBody>
        </p:sp>
        <p:graphicFrame>
          <p:nvGraphicFramePr>
            <p:cNvPr id="16389" name="Object 11"/>
            <p:cNvGraphicFramePr>
              <a:graphicFrameLocks noChangeAspect="1"/>
            </p:cNvGraphicFramePr>
            <p:nvPr/>
          </p:nvGraphicFramePr>
          <p:xfrm>
            <a:off x="2208" y="1776"/>
            <a:ext cx="1072" cy="290"/>
          </p:xfrm>
          <a:graphic>
            <a:graphicData uri="http://schemas.openxmlformats.org/presentationml/2006/ole">
              <p:oleObj spid="_x0000_s16389" r:id="rId5" imgW="850900" imgH="228600" progId="Equation.DSMT4">
                <p:embed/>
              </p:oleObj>
            </a:graphicData>
          </a:graphic>
        </p:graphicFrame>
      </p:grpSp>
      <p:sp>
        <p:nvSpPr>
          <p:cNvPr id="35856" name="Text Box 16"/>
          <p:cNvSpPr txBox="1">
            <a:spLocks noChangeArrowheads="1"/>
          </p:cNvSpPr>
          <p:nvPr/>
        </p:nvSpPr>
        <p:spPr bwMode="auto">
          <a:xfrm>
            <a:off x="6765925" y="1196975"/>
            <a:ext cx="1403350" cy="457200"/>
          </a:xfrm>
          <a:prstGeom prst="rect">
            <a:avLst/>
          </a:prstGeom>
          <a:noFill/>
          <a:ln w="9525">
            <a:noFill/>
            <a:miter lim="800000"/>
            <a:headEnd/>
            <a:tailEnd/>
          </a:ln>
        </p:spPr>
        <p:txBody>
          <a:bodyPr wrap="none">
            <a:spAutoFit/>
          </a:bodyPr>
          <a:lstStyle/>
          <a:p>
            <a:r>
              <a:rPr lang="zh-CN" altLang="en-US" sz="2400">
                <a:solidFill>
                  <a:srgbClr val="D2DC08"/>
                </a:solidFill>
                <a:latin typeface="Times New Roman" pitchFamily="18" charset="0"/>
                <a:ea typeface="华文中宋" pitchFamily="2" charset="-122"/>
                <a:cs typeface="Times New Roman" pitchFamily="18" charset="0"/>
              </a:rPr>
              <a:t>限制条件</a:t>
            </a:r>
          </a:p>
        </p:txBody>
      </p:sp>
      <p:grpSp>
        <p:nvGrpSpPr>
          <p:cNvPr id="5" name="Group 25"/>
          <p:cNvGrpSpPr>
            <a:grpSpLocks/>
          </p:cNvGrpSpPr>
          <p:nvPr/>
        </p:nvGrpSpPr>
        <p:grpSpPr bwMode="auto">
          <a:xfrm>
            <a:off x="5486400" y="2743200"/>
            <a:ext cx="2533650" cy="685800"/>
            <a:chOff x="3456" y="1728"/>
            <a:chExt cx="1596" cy="432"/>
          </a:xfrm>
        </p:grpSpPr>
        <p:sp>
          <p:nvSpPr>
            <p:cNvPr id="16412" name="Line 14"/>
            <p:cNvSpPr>
              <a:spLocks noChangeShapeType="1"/>
            </p:cNvSpPr>
            <p:nvPr/>
          </p:nvSpPr>
          <p:spPr bwMode="auto">
            <a:xfrm>
              <a:off x="3456" y="1920"/>
              <a:ext cx="576" cy="0"/>
            </a:xfrm>
            <a:prstGeom prst="line">
              <a:avLst/>
            </a:prstGeom>
            <a:noFill/>
            <a:ln w="38100">
              <a:solidFill>
                <a:schemeClr val="tx2"/>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graphicFrame>
          <p:nvGraphicFramePr>
            <p:cNvPr id="16388" name="Object 17"/>
            <p:cNvGraphicFramePr>
              <a:graphicFrameLocks noChangeAspect="1"/>
            </p:cNvGraphicFramePr>
            <p:nvPr/>
          </p:nvGraphicFramePr>
          <p:xfrm>
            <a:off x="4272" y="1728"/>
            <a:ext cx="780" cy="432"/>
          </p:xfrm>
          <a:graphic>
            <a:graphicData uri="http://schemas.openxmlformats.org/presentationml/2006/ole">
              <p:oleObj spid="_x0000_s16388" r:id="rId6" imgW="622030" imgH="342751" progId="Equation.DSMT4">
                <p:embed/>
              </p:oleObj>
            </a:graphicData>
          </a:graphic>
        </p:graphicFrame>
      </p:grpSp>
      <p:grpSp>
        <p:nvGrpSpPr>
          <p:cNvPr id="6" name="Group 24"/>
          <p:cNvGrpSpPr>
            <a:grpSpLocks/>
          </p:cNvGrpSpPr>
          <p:nvPr/>
        </p:nvGrpSpPr>
        <p:grpSpPr bwMode="auto">
          <a:xfrm>
            <a:off x="5486400" y="1676400"/>
            <a:ext cx="2727325" cy="1295400"/>
            <a:chOff x="3456" y="1056"/>
            <a:chExt cx="1718" cy="816"/>
          </a:xfrm>
        </p:grpSpPr>
        <p:sp>
          <p:nvSpPr>
            <p:cNvPr id="16410" name="Line 13"/>
            <p:cNvSpPr>
              <a:spLocks noChangeShapeType="1"/>
            </p:cNvSpPr>
            <p:nvPr/>
          </p:nvSpPr>
          <p:spPr bwMode="auto">
            <a:xfrm>
              <a:off x="3456" y="1200"/>
              <a:ext cx="576" cy="0"/>
            </a:xfrm>
            <a:prstGeom prst="line">
              <a:avLst/>
            </a:prstGeom>
            <a:noFill/>
            <a:ln w="38100">
              <a:solidFill>
                <a:schemeClr val="tx2"/>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sp>
          <p:nvSpPr>
            <p:cNvPr id="16411" name="Line 15"/>
            <p:cNvSpPr>
              <a:spLocks noChangeShapeType="1"/>
            </p:cNvSpPr>
            <p:nvPr/>
          </p:nvSpPr>
          <p:spPr bwMode="auto">
            <a:xfrm flipV="1">
              <a:off x="3456" y="1248"/>
              <a:ext cx="576" cy="624"/>
            </a:xfrm>
            <a:prstGeom prst="line">
              <a:avLst/>
            </a:prstGeom>
            <a:noFill/>
            <a:ln w="38100">
              <a:solidFill>
                <a:schemeClr val="tx2"/>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graphicFrame>
          <p:nvGraphicFramePr>
            <p:cNvPr id="16387" name="Object 19"/>
            <p:cNvGraphicFramePr>
              <a:graphicFrameLocks noChangeAspect="1"/>
            </p:cNvGraphicFramePr>
            <p:nvPr/>
          </p:nvGraphicFramePr>
          <p:xfrm>
            <a:off x="4272" y="1056"/>
            <a:ext cx="902" cy="433"/>
          </p:xfrm>
          <a:graphic>
            <a:graphicData uri="http://schemas.openxmlformats.org/presentationml/2006/ole">
              <p:oleObj spid="_x0000_s16387" r:id="rId7" imgW="710891" imgH="342751" progId="Equation.DSMT4">
                <p:embed/>
              </p:oleObj>
            </a:graphicData>
          </a:graphic>
        </p:graphicFrame>
      </p:grpSp>
      <p:sp>
        <p:nvSpPr>
          <p:cNvPr id="35866" name="Text Box 26"/>
          <p:cNvSpPr txBox="1">
            <a:spLocks noChangeArrowheads="1"/>
          </p:cNvSpPr>
          <p:nvPr/>
        </p:nvSpPr>
        <p:spPr bwMode="auto">
          <a:xfrm>
            <a:off x="762000" y="3527425"/>
            <a:ext cx="2684463" cy="519113"/>
          </a:xfrm>
          <a:prstGeom prst="rect">
            <a:avLst/>
          </a:prstGeom>
          <a:noFill/>
          <a:ln w="9525">
            <a:noFill/>
            <a:miter lim="800000"/>
            <a:headEnd/>
            <a:tailEnd/>
          </a:ln>
        </p:spPr>
        <p:txBody>
          <a:bodyPr wrap="none">
            <a:spAutoFit/>
          </a:bodyPr>
          <a:lstStyle/>
          <a:p>
            <a:r>
              <a:rPr lang="zh-CN" altLang="en-US" sz="2800" b="1">
                <a:solidFill>
                  <a:schemeClr val="bg1"/>
                </a:solidFill>
                <a:latin typeface="Times New Roman" pitchFamily="18" charset="0"/>
                <a:ea typeface="华文中宋" pitchFamily="2" charset="-122"/>
                <a:cs typeface="Times New Roman" pitchFamily="18" charset="0"/>
              </a:rPr>
              <a:t>求解思路分析：</a:t>
            </a:r>
          </a:p>
        </p:txBody>
      </p:sp>
      <p:grpSp>
        <p:nvGrpSpPr>
          <p:cNvPr id="7" name="Group 32"/>
          <p:cNvGrpSpPr>
            <a:grpSpLocks/>
          </p:cNvGrpSpPr>
          <p:nvPr/>
        </p:nvGrpSpPr>
        <p:grpSpPr bwMode="auto">
          <a:xfrm>
            <a:off x="3048000" y="4708525"/>
            <a:ext cx="3151188" cy="1311275"/>
            <a:chOff x="1920" y="2966"/>
            <a:chExt cx="1985" cy="826"/>
          </a:xfrm>
        </p:grpSpPr>
        <p:sp>
          <p:nvSpPr>
            <p:cNvPr id="16408" name="Text Box 28"/>
            <p:cNvSpPr txBox="1">
              <a:spLocks noChangeArrowheads="1"/>
            </p:cNvSpPr>
            <p:nvPr/>
          </p:nvSpPr>
          <p:spPr bwMode="auto">
            <a:xfrm>
              <a:off x="2448" y="2966"/>
              <a:ext cx="1457" cy="826"/>
            </a:xfrm>
            <a:prstGeom prst="rect">
              <a:avLst/>
            </a:prstGeom>
            <a:solidFill>
              <a:schemeClr val="accent2"/>
            </a:solidFill>
            <a:ln w="9525">
              <a:noFill/>
              <a:miter lim="800000"/>
              <a:headEnd/>
              <a:tailEnd/>
            </a:ln>
          </p:spPr>
          <p:txBody>
            <a:bodyPr wrap="none">
              <a:spAutoFit/>
            </a:bodyPr>
            <a:lstStyle/>
            <a:p>
              <a:r>
                <a:rPr lang="zh-CN" altLang="en-US" sz="2000" b="1">
                  <a:latin typeface="Times New Roman" pitchFamily="18" charset="0"/>
                  <a:ea typeface="华文中宋" pitchFamily="2" charset="-122"/>
                  <a:cs typeface="Times New Roman" pitchFamily="18" charset="0"/>
                </a:rPr>
                <a:t>求解这种能级分布</a:t>
              </a:r>
            </a:p>
            <a:p>
              <a:r>
                <a:rPr lang="zh-CN" altLang="en-US" sz="2000" b="1">
                  <a:latin typeface="Times New Roman" pitchFamily="18" charset="0"/>
                  <a:ea typeface="华文中宋" pitchFamily="2" charset="-122"/>
                  <a:cs typeface="Times New Roman" pitchFamily="18" charset="0"/>
                </a:rPr>
                <a:t>下的总的微观状态</a:t>
              </a:r>
            </a:p>
            <a:p>
              <a:r>
                <a:rPr lang="zh-CN" altLang="en-US" sz="2000" b="1">
                  <a:latin typeface="Times New Roman" pitchFamily="18" charset="0"/>
                  <a:ea typeface="华文中宋" pitchFamily="2" charset="-122"/>
                  <a:cs typeface="Times New Roman" pitchFamily="18" charset="0"/>
                </a:rPr>
                <a:t>数</a:t>
              </a:r>
              <a:r>
                <a:rPr lang="en-US" altLang="zh-CN" sz="2000" b="1">
                  <a:latin typeface="Times New Roman" pitchFamily="18" charset="0"/>
                  <a:ea typeface="华文中宋" pitchFamily="2" charset="-122"/>
                  <a:cs typeface="Times New Roman" pitchFamily="18" charset="0"/>
                </a:rPr>
                <a:t>(</a:t>
              </a:r>
              <a:r>
                <a:rPr lang="zh-CN" altLang="en-US" sz="2000" b="1">
                  <a:latin typeface="Times New Roman" pitchFamily="18" charset="0"/>
                  <a:ea typeface="华文中宋" pitchFamily="2" charset="-122"/>
                  <a:cs typeface="Times New Roman" pitchFamily="18" charset="0"/>
                </a:rPr>
                <a:t>将每种能级下的</a:t>
              </a:r>
            </a:p>
            <a:p>
              <a:r>
                <a:rPr lang="zh-CN" altLang="en-US" sz="2000" b="1">
                  <a:latin typeface="Times New Roman" pitchFamily="18" charset="0"/>
                  <a:ea typeface="华文中宋" pitchFamily="2" charset="-122"/>
                  <a:cs typeface="Times New Roman" pitchFamily="18" charset="0"/>
                </a:rPr>
                <a:t>微观状态数相乘</a:t>
              </a:r>
              <a:r>
                <a:rPr lang="en-US" altLang="zh-CN" sz="2000" b="1">
                  <a:latin typeface="Times New Roman" pitchFamily="18" charset="0"/>
                  <a:ea typeface="华文中宋" pitchFamily="2" charset="-122"/>
                  <a:cs typeface="Times New Roman" pitchFamily="18" charset="0"/>
                </a:rPr>
                <a:t>)</a:t>
              </a:r>
            </a:p>
          </p:txBody>
        </p:sp>
        <p:sp>
          <p:nvSpPr>
            <p:cNvPr id="16409" name="Line 30"/>
            <p:cNvSpPr>
              <a:spLocks noChangeShapeType="1"/>
            </p:cNvSpPr>
            <p:nvPr/>
          </p:nvSpPr>
          <p:spPr bwMode="auto">
            <a:xfrm>
              <a:off x="1920" y="3360"/>
              <a:ext cx="528" cy="0"/>
            </a:xfrm>
            <a:prstGeom prst="line">
              <a:avLst/>
            </a:prstGeom>
            <a:noFill/>
            <a:ln w="38100">
              <a:solidFill>
                <a:schemeClr val="accent1"/>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8" name="Group 33"/>
          <p:cNvGrpSpPr>
            <a:grpSpLocks/>
          </p:cNvGrpSpPr>
          <p:nvPr/>
        </p:nvGrpSpPr>
        <p:grpSpPr bwMode="auto">
          <a:xfrm>
            <a:off x="6172200" y="4419600"/>
            <a:ext cx="2998788" cy="1920875"/>
            <a:chOff x="3888" y="2784"/>
            <a:chExt cx="1889" cy="1210"/>
          </a:xfrm>
        </p:grpSpPr>
        <p:sp>
          <p:nvSpPr>
            <p:cNvPr id="16406" name="Text Box 29"/>
            <p:cNvSpPr txBox="1">
              <a:spLocks noChangeArrowheads="1"/>
            </p:cNvSpPr>
            <p:nvPr/>
          </p:nvSpPr>
          <p:spPr bwMode="auto">
            <a:xfrm>
              <a:off x="4320" y="2784"/>
              <a:ext cx="1457" cy="1210"/>
            </a:xfrm>
            <a:prstGeom prst="rect">
              <a:avLst/>
            </a:prstGeom>
            <a:solidFill>
              <a:schemeClr val="accent2"/>
            </a:solidFill>
            <a:ln w="9525">
              <a:noFill/>
              <a:miter lim="800000"/>
              <a:headEnd/>
              <a:tailEnd/>
            </a:ln>
          </p:spPr>
          <p:txBody>
            <a:bodyPr wrap="none">
              <a:spAutoFit/>
            </a:bodyPr>
            <a:lstStyle/>
            <a:p>
              <a:r>
                <a:rPr lang="zh-CN" altLang="en-US" sz="2000" b="1">
                  <a:latin typeface="Times New Roman" pitchFamily="18" charset="0"/>
                  <a:ea typeface="华文中宋" pitchFamily="2" charset="-122"/>
                  <a:cs typeface="Times New Roman" pitchFamily="18" charset="0"/>
                </a:rPr>
                <a:t>求解符合外部约束</a:t>
              </a:r>
            </a:p>
            <a:p>
              <a:r>
                <a:rPr lang="zh-CN" altLang="en-US" sz="2000" b="1">
                  <a:latin typeface="Times New Roman" pitchFamily="18" charset="0"/>
                  <a:ea typeface="华文中宋" pitchFamily="2" charset="-122"/>
                  <a:cs typeface="Times New Roman" pitchFamily="18" charset="0"/>
                </a:rPr>
                <a:t>的所有能级分布形</a:t>
              </a:r>
            </a:p>
            <a:p>
              <a:r>
                <a:rPr lang="zh-CN" altLang="en-US" sz="2000" b="1">
                  <a:latin typeface="Times New Roman" pitchFamily="18" charset="0"/>
                  <a:ea typeface="华文中宋" pitchFamily="2" charset="-122"/>
                  <a:cs typeface="Times New Roman" pitchFamily="18" charset="0"/>
                </a:rPr>
                <a:t>式的总的微观状态</a:t>
              </a:r>
            </a:p>
            <a:p>
              <a:r>
                <a:rPr lang="zh-CN" altLang="en-US" sz="2000" b="1">
                  <a:latin typeface="Times New Roman" pitchFamily="18" charset="0"/>
                  <a:ea typeface="华文中宋" pitchFamily="2" charset="-122"/>
                  <a:cs typeface="Times New Roman" pitchFamily="18" charset="0"/>
                </a:rPr>
                <a:t>数</a:t>
              </a:r>
              <a:r>
                <a:rPr lang="en-US" altLang="zh-CN" sz="2000" b="1">
                  <a:latin typeface="Times New Roman" pitchFamily="18" charset="0"/>
                  <a:ea typeface="华文中宋" pitchFamily="2" charset="-122"/>
                  <a:cs typeface="Times New Roman" pitchFamily="18" charset="0"/>
                </a:rPr>
                <a:t>(</a:t>
              </a:r>
              <a:r>
                <a:rPr lang="zh-CN" altLang="en-US" sz="2000" b="1">
                  <a:latin typeface="Times New Roman" pitchFamily="18" charset="0"/>
                  <a:ea typeface="华文中宋" pitchFamily="2" charset="-122"/>
                  <a:cs typeface="Times New Roman" pitchFamily="18" charset="0"/>
                </a:rPr>
                <a:t>将不同能级分布</a:t>
              </a:r>
            </a:p>
            <a:p>
              <a:r>
                <a:rPr lang="zh-CN" altLang="en-US" sz="2000" b="1">
                  <a:latin typeface="Times New Roman" pitchFamily="18" charset="0"/>
                  <a:ea typeface="华文中宋" pitchFamily="2" charset="-122"/>
                  <a:cs typeface="Times New Roman" pitchFamily="18" charset="0"/>
                </a:rPr>
                <a:t>情况的微观状态数</a:t>
              </a:r>
            </a:p>
            <a:p>
              <a:r>
                <a:rPr lang="zh-CN" altLang="en-US" sz="2000" b="1">
                  <a:latin typeface="Times New Roman" pitchFamily="18" charset="0"/>
                  <a:ea typeface="华文中宋" pitchFamily="2" charset="-122"/>
                  <a:cs typeface="Times New Roman" pitchFamily="18" charset="0"/>
                </a:rPr>
                <a:t>加和</a:t>
              </a:r>
              <a:r>
                <a:rPr lang="en-US" altLang="zh-CN" sz="2000" b="1">
                  <a:latin typeface="Times New Roman" pitchFamily="18" charset="0"/>
                  <a:ea typeface="华文中宋" pitchFamily="2" charset="-122"/>
                  <a:cs typeface="Times New Roman" pitchFamily="18" charset="0"/>
                </a:rPr>
                <a:t>)</a:t>
              </a:r>
            </a:p>
          </p:txBody>
        </p:sp>
        <p:sp>
          <p:nvSpPr>
            <p:cNvPr id="16407" name="Line 31"/>
            <p:cNvSpPr>
              <a:spLocks noChangeShapeType="1"/>
            </p:cNvSpPr>
            <p:nvPr/>
          </p:nvSpPr>
          <p:spPr bwMode="auto">
            <a:xfrm>
              <a:off x="3888" y="3360"/>
              <a:ext cx="432" cy="0"/>
            </a:xfrm>
            <a:prstGeom prst="line">
              <a:avLst/>
            </a:prstGeom>
            <a:noFill/>
            <a:ln w="38100">
              <a:solidFill>
                <a:schemeClr val="accent1"/>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9" name="Group 36"/>
          <p:cNvGrpSpPr>
            <a:grpSpLocks/>
          </p:cNvGrpSpPr>
          <p:nvPr/>
        </p:nvGrpSpPr>
        <p:grpSpPr bwMode="auto">
          <a:xfrm>
            <a:off x="838200" y="4267201"/>
            <a:ext cx="2481263" cy="2246313"/>
            <a:chOff x="528" y="2688"/>
            <a:chExt cx="1563" cy="1415"/>
          </a:xfrm>
        </p:grpSpPr>
        <p:sp>
          <p:nvSpPr>
            <p:cNvPr id="16405" name="Text Box 27"/>
            <p:cNvSpPr txBox="1">
              <a:spLocks noChangeArrowheads="1"/>
            </p:cNvSpPr>
            <p:nvPr/>
          </p:nvSpPr>
          <p:spPr bwMode="auto">
            <a:xfrm>
              <a:off x="528" y="2688"/>
              <a:ext cx="1563" cy="1415"/>
            </a:xfrm>
            <a:prstGeom prst="rect">
              <a:avLst/>
            </a:prstGeom>
            <a:solidFill>
              <a:schemeClr val="accent2"/>
            </a:solidFill>
            <a:ln w="9525">
              <a:noFill/>
              <a:miter lim="800000"/>
              <a:headEnd/>
              <a:tailEnd/>
            </a:ln>
          </p:spPr>
          <p:txBody>
            <a:bodyPr wrap="none">
              <a:spAutoFit/>
            </a:bodyPr>
            <a:lstStyle/>
            <a:p>
              <a:r>
                <a:rPr lang="zh-CN" altLang="en-US" sz="2000" b="1">
                  <a:latin typeface="Times New Roman" pitchFamily="18" charset="0"/>
                  <a:ea typeface="华文中宋" pitchFamily="2" charset="-122"/>
                  <a:cs typeface="Times New Roman" pitchFamily="18" charset="0"/>
                </a:rPr>
                <a:t>在某一种符合外部</a:t>
              </a:r>
            </a:p>
            <a:p>
              <a:r>
                <a:rPr lang="zh-CN" altLang="en-US" sz="2000" b="1">
                  <a:latin typeface="Times New Roman" pitchFamily="18" charset="0"/>
                  <a:ea typeface="华文中宋" pitchFamily="2" charset="-122"/>
                  <a:cs typeface="Times New Roman" pitchFamily="18" charset="0"/>
                </a:rPr>
                <a:t>约束条件的能级分</a:t>
              </a:r>
            </a:p>
            <a:p>
              <a:r>
                <a:rPr lang="zh-CN" altLang="en-US" sz="2000" b="1">
                  <a:latin typeface="Times New Roman" pitchFamily="18" charset="0"/>
                  <a:ea typeface="华文中宋" pitchFamily="2" charset="-122"/>
                  <a:cs typeface="Times New Roman" pitchFamily="18" charset="0"/>
                </a:rPr>
                <a:t>布下，对于某个确</a:t>
              </a:r>
            </a:p>
            <a:p>
              <a:r>
                <a:rPr lang="zh-CN" altLang="en-US" sz="2000" b="1">
                  <a:latin typeface="Times New Roman" pitchFamily="18" charset="0"/>
                  <a:ea typeface="华文中宋" pitchFamily="2" charset="-122"/>
                  <a:cs typeface="Times New Roman" pitchFamily="18" charset="0"/>
                </a:rPr>
                <a:t>定的能级   ，其简并</a:t>
              </a:r>
            </a:p>
            <a:p>
              <a:r>
                <a:rPr lang="zh-CN" altLang="en-US" sz="2000" b="1">
                  <a:latin typeface="Times New Roman" pitchFamily="18" charset="0"/>
                  <a:ea typeface="华文中宋" pitchFamily="2" charset="-122"/>
                  <a:cs typeface="Times New Roman" pitchFamily="18" charset="0"/>
                </a:rPr>
                <a:t>度为</a:t>
              </a:r>
              <a:r>
                <a:rPr lang="en-US" altLang="zh-CN" sz="2000" b="1" i="1">
                  <a:latin typeface="Times New Roman" pitchFamily="18" charset="0"/>
                  <a:ea typeface="华文中宋" pitchFamily="2" charset="-122"/>
                  <a:cs typeface="Times New Roman" pitchFamily="18" charset="0"/>
                </a:rPr>
                <a:t>g</a:t>
              </a:r>
              <a:r>
                <a:rPr lang="en-US" altLang="zh-CN" sz="2000" b="1" i="1" baseline="-30000">
                  <a:latin typeface="Times New Roman" pitchFamily="18" charset="0"/>
                  <a:ea typeface="华文中宋" pitchFamily="2" charset="-122"/>
                  <a:cs typeface="Times New Roman" pitchFamily="18" charset="0"/>
                </a:rPr>
                <a:t>i</a:t>
              </a:r>
              <a:r>
                <a:rPr lang="en-US" altLang="zh-CN" sz="2000" b="1">
                  <a:latin typeface="Times New Roman" pitchFamily="18" charset="0"/>
                  <a:ea typeface="华文中宋" pitchFamily="2" charset="-122"/>
                  <a:cs typeface="Times New Roman" pitchFamily="18" charset="0"/>
                </a:rPr>
                <a:t> </a:t>
              </a:r>
              <a:r>
                <a:rPr lang="zh-CN" altLang="en-US" sz="2000" b="1">
                  <a:latin typeface="Times New Roman" pitchFamily="18" charset="0"/>
                  <a:ea typeface="华文中宋" pitchFamily="2" charset="-122"/>
                  <a:cs typeface="Times New Roman" pitchFamily="18" charset="0"/>
                </a:rPr>
                <a:t>，粒子数为</a:t>
              </a:r>
            </a:p>
            <a:p>
              <a:r>
                <a:rPr lang="en-US" altLang="zh-CN" sz="2000" b="1" i="1">
                  <a:latin typeface="Times New Roman" pitchFamily="18" charset="0"/>
                  <a:ea typeface="华文中宋" pitchFamily="2" charset="-122"/>
                  <a:cs typeface="Times New Roman" pitchFamily="18" charset="0"/>
                </a:rPr>
                <a:t>n</a:t>
              </a:r>
              <a:r>
                <a:rPr lang="en-US" altLang="zh-CN" sz="2000" b="1" i="1" baseline="-30000">
                  <a:latin typeface="Times New Roman" pitchFamily="18" charset="0"/>
                  <a:ea typeface="华文中宋" pitchFamily="2" charset="-122"/>
                  <a:cs typeface="Times New Roman" pitchFamily="18" charset="0"/>
                </a:rPr>
                <a:t>i</a:t>
              </a:r>
              <a:r>
                <a:rPr lang="en-US" altLang="zh-CN" sz="2000" b="1">
                  <a:latin typeface="Times New Roman" pitchFamily="18" charset="0"/>
                  <a:ea typeface="华文中宋" pitchFamily="2" charset="-122"/>
                  <a:cs typeface="Times New Roman" pitchFamily="18" charset="0"/>
                </a:rPr>
                <a:t> </a:t>
              </a:r>
              <a:r>
                <a:rPr lang="zh-CN" altLang="en-US" sz="2000" b="1">
                  <a:latin typeface="Times New Roman" pitchFamily="18" charset="0"/>
                  <a:ea typeface="华文中宋" pitchFamily="2" charset="-122"/>
                  <a:cs typeface="Times New Roman" pitchFamily="18" charset="0"/>
                </a:rPr>
                <a:t>，求解该能级的</a:t>
              </a:r>
            </a:p>
            <a:p>
              <a:r>
                <a:rPr lang="zh-CN" altLang="en-US" sz="2000" b="1">
                  <a:latin typeface="Times New Roman" pitchFamily="18" charset="0"/>
                  <a:ea typeface="华文中宋" pitchFamily="2" charset="-122"/>
                  <a:cs typeface="Times New Roman" pitchFamily="18" charset="0"/>
                </a:rPr>
                <a:t>微观状态数</a:t>
              </a:r>
            </a:p>
          </p:txBody>
        </p:sp>
        <p:graphicFrame>
          <p:nvGraphicFramePr>
            <p:cNvPr id="16386" name="Object 34"/>
            <p:cNvGraphicFramePr>
              <a:graphicFrameLocks noChangeAspect="1"/>
            </p:cNvGraphicFramePr>
            <p:nvPr/>
          </p:nvGraphicFramePr>
          <p:xfrm>
            <a:off x="1200" y="3252"/>
            <a:ext cx="190" cy="285"/>
          </p:xfrm>
          <a:graphic>
            <a:graphicData uri="http://schemas.openxmlformats.org/presentationml/2006/ole">
              <p:oleObj spid="_x0000_s16386" r:id="rId8" imgW="152334" imgH="228501" progId="Equation.DSMT4">
                <p:embed/>
              </p:oleObj>
            </a:graphicData>
          </a:graphic>
        </p:graphicFrame>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5856"/>
                                        </p:tgtEl>
                                        <p:attrNameLst>
                                          <p:attrName>style.visibility</p:attrName>
                                        </p:attrNameLst>
                                      </p:cBhvr>
                                      <p:to>
                                        <p:strVal val="visible"/>
                                      </p:to>
                                    </p:set>
                                    <p:animEffect transition="in" filter="dissolve">
                                      <p:cBhvr>
                                        <p:cTn id="22" dur="500"/>
                                        <p:tgtEl>
                                          <p:spTgt spid="3585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dissolve">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dissolv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5866"/>
                                        </p:tgtEl>
                                        <p:attrNameLst>
                                          <p:attrName>style.visibility</p:attrName>
                                        </p:attrNameLst>
                                      </p:cBhvr>
                                      <p:to>
                                        <p:strVal val="visible"/>
                                      </p:to>
                                    </p:set>
                                    <p:animEffect transition="in" filter="dissolve">
                                      <p:cBhvr>
                                        <p:cTn id="37" dur="500"/>
                                        <p:tgtEl>
                                          <p:spTgt spid="35866"/>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42"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barn(outHorizontal)">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dissolve">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dissolve">
                                      <p:cBhvr>
                                        <p:cTn id="5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56" grpId="0" autoUpdateAnimBg="0"/>
      <p:bldP spid="35866"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6" name="灯片编号占位符 3"/>
          <p:cNvSpPr>
            <a:spLocks noGrp="1"/>
          </p:cNvSpPr>
          <p:nvPr>
            <p:ph type="sldNum" sz="quarter" idx="12"/>
          </p:nvPr>
        </p:nvSpPr>
        <p:spPr>
          <a:noFill/>
        </p:spPr>
        <p:txBody>
          <a:bodyPr/>
          <a:lstStyle/>
          <a:p>
            <a:fld id="{80BFF339-2721-4C09-B855-111824ACC39E}" type="slidenum">
              <a:rPr lang="en-US" altLang="zh-CN" smtClean="0">
                <a:latin typeface="Times New Roman" pitchFamily="18" charset="0"/>
                <a:ea typeface="华文中宋" pitchFamily="2" charset="-122"/>
                <a:cs typeface="Times New Roman" pitchFamily="18" charset="0"/>
              </a:rPr>
              <a:pPr/>
              <a:t>30</a:t>
            </a:fld>
            <a:endParaRPr lang="en-US" altLang="zh-CN" smtClean="0">
              <a:latin typeface="Times New Roman" pitchFamily="18" charset="0"/>
              <a:ea typeface="华文中宋" pitchFamily="2" charset="-122"/>
              <a:cs typeface="Times New Roman" pitchFamily="18" charset="0"/>
            </a:endParaRPr>
          </a:p>
        </p:txBody>
      </p:sp>
      <p:sp>
        <p:nvSpPr>
          <p:cNvPr id="17417" name="Text Box 2"/>
          <p:cNvSpPr txBox="1">
            <a:spLocks noChangeArrowheads="1"/>
          </p:cNvSpPr>
          <p:nvPr/>
        </p:nvSpPr>
        <p:spPr bwMode="auto">
          <a:xfrm>
            <a:off x="4364038" y="0"/>
            <a:ext cx="477996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各种体系的能级分布和微观状态数</a:t>
            </a:r>
            <a:endParaRPr lang="zh-CN" altLang="en-US" sz="2400">
              <a:solidFill>
                <a:schemeClr val="bg1"/>
              </a:solidFill>
              <a:latin typeface="Times New Roman" pitchFamily="18" charset="0"/>
            </a:endParaRPr>
          </a:p>
        </p:txBody>
      </p:sp>
      <p:sp>
        <p:nvSpPr>
          <p:cNvPr id="34819" name="Rectangle 3"/>
          <p:cNvSpPr>
            <a:spLocks noGrp="1" noRot="1" noChangeArrowheads="1"/>
          </p:cNvSpPr>
          <p:nvPr/>
        </p:nvSpPr>
        <p:spPr bwMode="auto">
          <a:xfrm>
            <a:off x="374650" y="228600"/>
            <a:ext cx="8540750" cy="1143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定域子的微观状态数计算</a:t>
            </a:r>
          </a:p>
        </p:txBody>
      </p:sp>
      <p:sp>
        <p:nvSpPr>
          <p:cNvPr id="34820" name="Text Box 4"/>
          <p:cNvSpPr txBox="1">
            <a:spLocks noChangeArrowheads="1"/>
          </p:cNvSpPr>
          <p:nvPr/>
        </p:nvSpPr>
        <p:spPr bwMode="auto">
          <a:xfrm>
            <a:off x="819150" y="1279525"/>
            <a:ext cx="8050213" cy="860425"/>
          </a:xfrm>
          <a:prstGeom prst="rect">
            <a:avLst/>
          </a:prstGeom>
          <a:noFill/>
          <a:ln w="38100">
            <a:solidFill>
              <a:schemeClr val="accent1"/>
            </a:solidFill>
            <a:miter lim="800000"/>
            <a:headEnd/>
            <a:tailEnd/>
          </a:ln>
        </p:spPr>
        <p:txBody>
          <a:bodyPr wrap="none">
            <a:spAutoFit/>
          </a:bodyPr>
          <a:lstStyle/>
          <a:p>
            <a:r>
              <a:rPr lang="zh-CN" altLang="en-US" sz="2400" b="1">
                <a:solidFill>
                  <a:srgbClr val="D2DC08"/>
                </a:solidFill>
                <a:latin typeface="Times New Roman" pitchFamily="18" charset="0"/>
                <a:ea typeface="华文中宋" pitchFamily="2" charset="-122"/>
                <a:cs typeface="Times New Roman" pitchFamily="18" charset="0"/>
              </a:rPr>
              <a:t>定域子体系的特点：可以用对位置标号的方式对粒子加以</a:t>
            </a:r>
          </a:p>
          <a:p>
            <a:r>
              <a:rPr lang="zh-CN" altLang="en-US" sz="2400" b="1">
                <a:solidFill>
                  <a:srgbClr val="D2DC08"/>
                </a:solidFill>
                <a:latin typeface="Times New Roman" pitchFamily="18" charset="0"/>
                <a:ea typeface="华文中宋" pitchFamily="2" charset="-122"/>
                <a:cs typeface="Times New Roman" pitchFamily="18" charset="0"/>
              </a:rPr>
              <a:t>                  分辨，因此定域子体系是可分辨的。 </a:t>
            </a:r>
          </a:p>
        </p:txBody>
      </p:sp>
      <p:grpSp>
        <p:nvGrpSpPr>
          <p:cNvPr id="2" name="Group 54"/>
          <p:cNvGrpSpPr>
            <a:grpSpLocks/>
          </p:cNvGrpSpPr>
          <p:nvPr/>
        </p:nvGrpSpPr>
        <p:grpSpPr bwMode="auto">
          <a:xfrm>
            <a:off x="914400" y="2286002"/>
            <a:ext cx="8047038" cy="465138"/>
            <a:chOff x="576" y="1440"/>
            <a:chExt cx="5069" cy="293"/>
          </a:xfrm>
        </p:grpSpPr>
        <p:sp>
          <p:nvSpPr>
            <p:cNvPr id="17454" name="Text Box 5"/>
            <p:cNvSpPr txBox="1">
              <a:spLocks noChangeArrowheads="1"/>
            </p:cNvSpPr>
            <p:nvPr/>
          </p:nvSpPr>
          <p:spPr bwMode="auto">
            <a:xfrm>
              <a:off x="576" y="1442"/>
              <a:ext cx="5069" cy="291"/>
            </a:xfrm>
            <a:prstGeom prst="rect">
              <a:avLst/>
            </a:prstGeom>
            <a:noFill/>
            <a:ln w="9525">
              <a:noFill/>
              <a:miter lim="800000"/>
              <a:headEnd/>
              <a:tailEnd/>
            </a:ln>
          </p:spPr>
          <p:txBody>
            <a:bodyPr wrap="none">
              <a:spAutoFit/>
            </a:bodyPr>
            <a:lstStyle/>
            <a:p>
              <a:r>
                <a:rPr lang="zh-CN" altLang="en-US" sz="2400" b="1">
                  <a:solidFill>
                    <a:srgbClr val="D2DC08"/>
                  </a:solidFill>
                  <a:latin typeface="Times New Roman" pitchFamily="18" charset="0"/>
                  <a:ea typeface="华文中宋" pitchFamily="2" charset="-122"/>
                  <a:cs typeface="Times New Roman" pitchFamily="18" charset="0"/>
                </a:rPr>
                <a:t>步骤一</a:t>
              </a:r>
              <a:r>
                <a:rPr lang="zh-CN" altLang="en-US" sz="2400" b="1">
                  <a:solidFill>
                    <a:schemeClr val="bg1"/>
                  </a:solidFill>
                  <a:latin typeface="Times New Roman" pitchFamily="18" charset="0"/>
                  <a:ea typeface="华文中宋" pitchFamily="2" charset="-122"/>
                  <a:cs typeface="Times New Roman" pitchFamily="18" charset="0"/>
                </a:rPr>
                <a:t>：对于给定的     能级，有</a:t>
              </a:r>
              <a:r>
                <a:rPr lang="en-US" altLang="zh-CN" sz="2400" b="1" i="1">
                  <a:solidFill>
                    <a:schemeClr val="bg1"/>
                  </a:solidFill>
                  <a:latin typeface="Times New Roman" pitchFamily="18" charset="0"/>
                  <a:ea typeface="华文中宋" pitchFamily="2" charset="-122"/>
                  <a:cs typeface="Times New Roman" pitchFamily="18" charset="0"/>
                </a:rPr>
                <a:t>n</a:t>
              </a:r>
              <a:r>
                <a:rPr lang="en-US" altLang="zh-CN" sz="2400" b="1" i="1" baseline="-30000">
                  <a:solidFill>
                    <a:schemeClr val="bg1"/>
                  </a:solidFill>
                  <a:latin typeface="Times New Roman" pitchFamily="18" charset="0"/>
                  <a:ea typeface="华文中宋" pitchFamily="2" charset="-122"/>
                  <a:cs typeface="Times New Roman" pitchFamily="18" charset="0"/>
                </a:rPr>
                <a:t>i</a:t>
              </a:r>
              <a:r>
                <a:rPr lang="zh-CN" altLang="en-US" sz="2400" b="1">
                  <a:solidFill>
                    <a:schemeClr val="bg1"/>
                  </a:solidFill>
                  <a:latin typeface="Times New Roman" pitchFamily="18" charset="0"/>
                  <a:ea typeface="华文中宋" pitchFamily="2" charset="-122"/>
                  <a:cs typeface="Times New Roman" pitchFamily="18" charset="0"/>
                </a:rPr>
                <a:t>个粒子，简并度为</a:t>
              </a:r>
              <a:r>
                <a:rPr lang="en-US" altLang="zh-CN" sz="2400" b="1" i="1">
                  <a:solidFill>
                    <a:schemeClr val="bg1"/>
                  </a:solidFill>
                  <a:latin typeface="Times New Roman" pitchFamily="18" charset="0"/>
                  <a:ea typeface="华文中宋" pitchFamily="2" charset="-122"/>
                  <a:cs typeface="Times New Roman" pitchFamily="18" charset="0"/>
                </a:rPr>
                <a:t>g</a:t>
              </a:r>
              <a:r>
                <a:rPr lang="en-US" altLang="zh-CN" sz="2400" b="1" i="1" baseline="-30000">
                  <a:solidFill>
                    <a:schemeClr val="bg1"/>
                  </a:solidFill>
                  <a:latin typeface="Times New Roman" pitchFamily="18" charset="0"/>
                  <a:ea typeface="华文中宋" pitchFamily="2" charset="-122"/>
                  <a:cs typeface="Times New Roman" pitchFamily="18" charset="0"/>
                </a:rPr>
                <a:t>i</a:t>
              </a:r>
              <a:r>
                <a:rPr lang="en-US" altLang="zh-CN" sz="2400" b="1">
                  <a:solidFill>
                    <a:schemeClr val="bg1"/>
                  </a:solidFill>
                  <a:latin typeface="Times New Roman" pitchFamily="18" charset="0"/>
                  <a:ea typeface="华文中宋" pitchFamily="2" charset="-122"/>
                  <a:cs typeface="Times New Roman" pitchFamily="18" charset="0"/>
                </a:rPr>
                <a:t> </a:t>
              </a:r>
              <a:r>
                <a:rPr lang="zh-CN" altLang="en-US" sz="2400" b="1">
                  <a:solidFill>
                    <a:schemeClr val="bg1"/>
                  </a:solidFill>
                  <a:latin typeface="Times New Roman" pitchFamily="18" charset="0"/>
                  <a:ea typeface="华文中宋" pitchFamily="2" charset="-122"/>
                  <a:cs typeface="Times New Roman" pitchFamily="18" charset="0"/>
                </a:rPr>
                <a:t>。</a:t>
              </a:r>
            </a:p>
          </p:txBody>
        </p:sp>
        <p:graphicFrame>
          <p:nvGraphicFramePr>
            <p:cNvPr id="17415" name="Object 6"/>
            <p:cNvGraphicFramePr>
              <a:graphicFrameLocks noChangeAspect="1"/>
            </p:cNvGraphicFramePr>
            <p:nvPr/>
          </p:nvGraphicFramePr>
          <p:xfrm>
            <a:off x="2410" y="1440"/>
            <a:ext cx="179" cy="286"/>
          </p:xfrm>
          <a:graphic>
            <a:graphicData uri="http://schemas.openxmlformats.org/presentationml/2006/ole">
              <p:oleObj spid="_x0000_s17415" name="Equation" r:id="rId3" imgW="152280" imgH="228600" progId="Equation.DSMT4">
                <p:embed/>
              </p:oleObj>
            </a:graphicData>
          </a:graphic>
        </p:graphicFrame>
      </p:grpSp>
      <p:grpSp>
        <p:nvGrpSpPr>
          <p:cNvPr id="3" name="Group 42"/>
          <p:cNvGrpSpPr>
            <a:grpSpLocks/>
          </p:cNvGrpSpPr>
          <p:nvPr/>
        </p:nvGrpSpPr>
        <p:grpSpPr bwMode="auto">
          <a:xfrm>
            <a:off x="990600" y="2895600"/>
            <a:ext cx="8001000" cy="1531938"/>
            <a:chOff x="720" y="1916"/>
            <a:chExt cx="5040" cy="965"/>
          </a:xfrm>
        </p:grpSpPr>
        <p:sp>
          <p:nvSpPr>
            <p:cNvPr id="17429" name="Text Box 11"/>
            <p:cNvSpPr txBox="1">
              <a:spLocks noChangeArrowheads="1"/>
            </p:cNvSpPr>
            <p:nvPr/>
          </p:nvSpPr>
          <p:spPr bwMode="auto">
            <a:xfrm>
              <a:off x="3168" y="1916"/>
              <a:ext cx="756" cy="442"/>
            </a:xfrm>
            <a:prstGeom prst="rect">
              <a:avLst/>
            </a:prstGeom>
            <a:noFill/>
            <a:ln w="9525">
              <a:noFill/>
              <a:miter lim="800000"/>
              <a:headEnd/>
              <a:tailEnd/>
            </a:ln>
          </p:spPr>
          <p:txBody>
            <a:bodyPr wrap="none">
              <a:spAutoFit/>
            </a:bodyPr>
            <a:lstStyle/>
            <a:p>
              <a:r>
                <a:rPr lang="en-US" altLang="zh-CN" sz="4000">
                  <a:solidFill>
                    <a:schemeClr val="bg1"/>
                  </a:solidFill>
                  <a:latin typeface="Times New Roman" pitchFamily="18" charset="0"/>
                  <a:ea typeface="华文中宋" pitchFamily="2" charset="-122"/>
                  <a:cs typeface="Times New Roman" pitchFamily="18" charset="0"/>
                </a:rPr>
                <a:t>……</a:t>
              </a:r>
            </a:p>
          </p:txBody>
        </p:sp>
        <p:sp>
          <p:nvSpPr>
            <p:cNvPr id="17430" name="Text Box 12"/>
            <p:cNvSpPr txBox="1">
              <a:spLocks noChangeArrowheads="1"/>
            </p:cNvSpPr>
            <p:nvPr/>
          </p:nvSpPr>
          <p:spPr bwMode="auto">
            <a:xfrm>
              <a:off x="5004" y="1920"/>
              <a:ext cx="756" cy="442"/>
            </a:xfrm>
            <a:prstGeom prst="rect">
              <a:avLst/>
            </a:prstGeom>
            <a:noFill/>
            <a:ln w="9525">
              <a:noFill/>
              <a:miter lim="800000"/>
              <a:headEnd/>
              <a:tailEnd/>
            </a:ln>
          </p:spPr>
          <p:txBody>
            <a:bodyPr wrap="none">
              <a:spAutoFit/>
            </a:bodyPr>
            <a:lstStyle/>
            <a:p>
              <a:r>
                <a:rPr lang="en-US" altLang="zh-CN" sz="4000">
                  <a:solidFill>
                    <a:schemeClr val="bg1"/>
                  </a:solidFill>
                  <a:latin typeface="Times New Roman" pitchFamily="18" charset="0"/>
                  <a:ea typeface="华文中宋" pitchFamily="2" charset="-122"/>
                  <a:cs typeface="Times New Roman" pitchFamily="18" charset="0"/>
                </a:rPr>
                <a:t>……</a:t>
              </a:r>
            </a:p>
          </p:txBody>
        </p:sp>
        <p:grpSp>
          <p:nvGrpSpPr>
            <p:cNvPr id="17431" name="Group 39"/>
            <p:cNvGrpSpPr>
              <a:grpSpLocks/>
            </p:cNvGrpSpPr>
            <p:nvPr/>
          </p:nvGrpSpPr>
          <p:grpSpPr bwMode="auto">
            <a:xfrm>
              <a:off x="720" y="1920"/>
              <a:ext cx="1008" cy="957"/>
              <a:chOff x="720" y="1920"/>
              <a:chExt cx="1008" cy="957"/>
            </a:xfrm>
          </p:grpSpPr>
          <p:sp>
            <p:nvSpPr>
              <p:cNvPr id="17449" name="Rectangle 8"/>
              <p:cNvSpPr>
                <a:spLocks noChangeArrowheads="1"/>
              </p:cNvSpPr>
              <p:nvPr/>
            </p:nvSpPr>
            <p:spPr bwMode="auto">
              <a:xfrm>
                <a:off x="720" y="1920"/>
                <a:ext cx="1008" cy="672"/>
              </a:xfrm>
              <a:prstGeom prst="rect">
                <a:avLst/>
              </a:prstGeom>
              <a:noFill/>
              <a:ln w="38100">
                <a:solidFill>
                  <a:schemeClr val="accent1"/>
                </a:solidFill>
                <a:miter lim="800000"/>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graphicFrame>
            <p:nvGraphicFramePr>
              <p:cNvPr id="17414" name="Object 14"/>
              <p:cNvGraphicFramePr>
                <a:graphicFrameLocks noChangeAspect="1"/>
              </p:cNvGraphicFramePr>
              <p:nvPr/>
            </p:nvGraphicFramePr>
            <p:xfrm>
              <a:off x="1152" y="2592"/>
              <a:ext cx="190" cy="285"/>
            </p:xfrm>
            <a:graphic>
              <a:graphicData uri="http://schemas.openxmlformats.org/presentationml/2006/ole">
                <p:oleObj spid="_x0000_s17414" r:id="rId4" imgW="152334" imgH="228501" progId="Equation.DSMT4">
                  <p:embed/>
                </p:oleObj>
              </a:graphicData>
            </a:graphic>
          </p:graphicFrame>
          <p:sp>
            <p:nvSpPr>
              <p:cNvPr id="17450" name="Oval 19"/>
              <p:cNvSpPr>
                <a:spLocks noChangeArrowheads="1"/>
              </p:cNvSpPr>
              <p:nvPr/>
            </p:nvSpPr>
            <p:spPr bwMode="auto">
              <a:xfrm>
                <a:off x="864" y="2448"/>
                <a:ext cx="113" cy="113"/>
              </a:xfrm>
              <a:prstGeom prst="ellipse">
                <a:avLst/>
              </a:prstGeom>
              <a:solidFill>
                <a:schemeClr val="accent1"/>
              </a:solidFill>
              <a:ln w="9525">
                <a:solidFill>
                  <a:schemeClr val="tx1"/>
                </a:solidFill>
                <a:round/>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sp>
            <p:nvSpPr>
              <p:cNvPr id="17451" name="Oval 20"/>
              <p:cNvSpPr>
                <a:spLocks noChangeArrowheads="1"/>
              </p:cNvSpPr>
              <p:nvPr/>
            </p:nvSpPr>
            <p:spPr bwMode="auto">
              <a:xfrm>
                <a:off x="1056" y="2448"/>
                <a:ext cx="113" cy="113"/>
              </a:xfrm>
              <a:prstGeom prst="ellipse">
                <a:avLst/>
              </a:prstGeom>
              <a:solidFill>
                <a:schemeClr val="accent1"/>
              </a:solidFill>
              <a:ln w="9525">
                <a:solidFill>
                  <a:schemeClr val="tx1"/>
                </a:solidFill>
                <a:round/>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sp>
            <p:nvSpPr>
              <p:cNvPr id="17452" name="Oval 21"/>
              <p:cNvSpPr>
                <a:spLocks noChangeArrowheads="1"/>
              </p:cNvSpPr>
              <p:nvPr/>
            </p:nvSpPr>
            <p:spPr bwMode="auto">
              <a:xfrm>
                <a:off x="1248" y="2448"/>
                <a:ext cx="113" cy="113"/>
              </a:xfrm>
              <a:prstGeom prst="ellipse">
                <a:avLst/>
              </a:prstGeom>
              <a:solidFill>
                <a:schemeClr val="accent1"/>
              </a:solidFill>
              <a:ln w="9525">
                <a:solidFill>
                  <a:schemeClr val="tx1"/>
                </a:solidFill>
                <a:round/>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sp>
            <p:nvSpPr>
              <p:cNvPr id="17453" name="Oval 22"/>
              <p:cNvSpPr>
                <a:spLocks noChangeArrowheads="1"/>
              </p:cNvSpPr>
              <p:nvPr/>
            </p:nvSpPr>
            <p:spPr bwMode="auto">
              <a:xfrm>
                <a:off x="1440" y="2448"/>
                <a:ext cx="113" cy="113"/>
              </a:xfrm>
              <a:prstGeom prst="ellipse">
                <a:avLst/>
              </a:prstGeom>
              <a:solidFill>
                <a:schemeClr val="accent1"/>
              </a:solidFill>
              <a:ln w="9525">
                <a:solidFill>
                  <a:schemeClr val="tx1"/>
                </a:solidFill>
                <a:round/>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grpSp>
        <p:grpSp>
          <p:nvGrpSpPr>
            <p:cNvPr id="17432" name="Group 40"/>
            <p:cNvGrpSpPr>
              <a:grpSpLocks/>
            </p:cNvGrpSpPr>
            <p:nvPr/>
          </p:nvGrpSpPr>
          <p:grpSpPr bwMode="auto">
            <a:xfrm>
              <a:off x="2016" y="1920"/>
              <a:ext cx="1008" cy="961"/>
              <a:chOff x="2016" y="1920"/>
              <a:chExt cx="1008" cy="961"/>
            </a:xfrm>
          </p:grpSpPr>
          <p:sp>
            <p:nvSpPr>
              <p:cNvPr id="17446" name="Rectangle 10"/>
              <p:cNvSpPr>
                <a:spLocks noChangeArrowheads="1"/>
              </p:cNvSpPr>
              <p:nvPr/>
            </p:nvSpPr>
            <p:spPr bwMode="auto">
              <a:xfrm>
                <a:off x="2016" y="1920"/>
                <a:ext cx="1008" cy="672"/>
              </a:xfrm>
              <a:prstGeom prst="rect">
                <a:avLst/>
              </a:prstGeom>
              <a:noFill/>
              <a:ln w="38100">
                <a:solidFill>
                  <a:schemeClr val="accent1"/>
                </a:solidFill>
                <a:miter lim="800000"/>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graphicFrame>
            <p:nvGraphicFramePr>
              <p:cNvPr id="17413" name="Object 16"/>
              <p:cNvGraphicFramePr>
                <a:graphicFrameLocks noChangeAspect="1"/>
              </p:cNvGraphicFramePr>
              <p:nvPr/>
            </p:nvGraphicFramePr>
            <p:xfrm>
              <a:off x="2448" y="2592"/>
              <a:ext cx="204" cy="289"/>
            </p:xfrm>
            <a:graphic>
              <a:graphicData uri="http://schemas.openxmlformats.org/presentationml/2006/ole">
                <p:oleObj spid="_x0000_s17413" r:id="rId5" imgW="165028" imgH="228501" progId="Equation.DSMT4">
                  <p:embed/>
                </p:oleObj>
              </a:graphicData>
            </a:graphic>
          </p:graphicFrame>
          <p:sp>
            <p:nvSpPr>
              <p:cNvPr id="17447" name="Oval 23"/>
              <p:cNvSpPr>
                <a:spLocks noChangeArrowheads="1"/>
              </p:cNvSpPr>
              <p:nvPr/>
            </p:nvSpPr>
            <p:spPr bwMode="auto">
              <a:xfrm>
                <a:off x="2160" y="2448"/>
                <a:ext cx="113" cy="113"/>
              </a:xfrm>
              <a:prstGeom prst="ellipse">
                <a:avLst/>
              </a:prstGeom>
              <a:solidFill>
                <a:schemeClr val="accent1"/>
              </a:solidFill>
              <a:ln w="9525">
                <a:solidFill>
                  <a:schemeClr val="tx1"/>
                </a:solidFill>
                <a:round/>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sp>
            <p:nvSpPr>
              <p:cNvPr id="17448" name="Oval 24"/>
              <p:cNvSpPr>
                <a:spLocks noChangeArrowheads="1"/>
              </p:cNvSpPr>
              <p:nvPr/>
            </p:nvSpPr>
            <p:spPr bwMode="auto">
              <a:xfrm>
                <a:off x="2352" y="2448"/>
                <a:ext cx="113" cy="113"/>
              </a:xfrm>
              <a:prstGeom prst="ellipse">
                <a:avLst/>
              </a:prstGeom>
              <a:solidFill>
                <a:schemeClr val="accent1"/>
              </a:solidFill>
              <a:ln w="9525">
                <a:solidFill>
                  <a:schemeClr val="tx1"/>
                </a:solidFill>
                <a:round/>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grpSp>
        <p:grpSp>
          <p:nvGrpSpPr>
            <p:cNvPr id="17433" name="Group 41"/>
            <p:cNvGrpSpPr>
              <a:grpSpLocks/>
            </p:cNvGrpSpPr>
            <p:nvPr/>
          </p:nvGrpSpPr>
          <p:grpSpPr bwMode="auto">
            <a:xfrm>
              <a:off x="3984" y="1920"/>
              <a:ext cx="1008" cy="958"/>
              <a:chOff x="3984" y="1920"/>
              <a:chExt cx="1008" cy="958"/>
            </a:xfrm>
          </p:grpSpPr>
          <p:sp>
            <p:nvSpPr>
              <p:cNvPr id="17434" name="Rectangle 9"/>
              <p:cNvSpPr>
                <a:spLocks noChangeArrowheads="1"/>
              </p:cNvSpPr>
              <p:nvPr/>
            </p:nvSpPr>
            <p:spPr bwMode="auto">
              <a:xfrm>
                <a:off x="3984" y="1920"/>
                <a:ext cx="1008" cy="672"/>
              </a:xfrm>
              <a:prstGeom prst="rect">
                <a:avLst/>
              </a:prstGeom>
              <a:noFill/>
              <a:ln w="38100">
                <a:solidFill>
                  <a:schemeClr val="accent1"/>
                </a:solidFill>
                <a:miter lim="800000"/>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graphicFrame>
            <p:nvGraphicFramePr>
              <p:cNvPr id="17412" name="Object 18"/>
              <p:cNvGraphicFramePr>
                <a:graphicFrameLocks noChangeAspect="1"/>
              </p:cNvGraphicFramePr>
              <p:nvPr/>
            </p:nvGraphicFramePr>
            <p:xfrm>
              <a:off x="4416" y="2592"/>
              <a:ext cx="179" cy="286"/>
            </p:xfrm>
            <a:graphic>
              <a:graphicData uri="http://schemas.openxmlformats.org/presentationml/2006/ole">
                <p:oleObj spid="_x0000_s17412" name="Equation" r:id="rId6" imgW="152280" imgH="228600" progId="Equation.DSMT4">
                  <p:embed/>
                </p:oleObj>
              </a:graphicData>
            </a:graphic>
          </p:graphicFrame>
          <p:sp>
            <p:nvSpPr>
              <p:cNvPr id="17435" name="Oval 27"/>
              <p:cNvSpPr>
                <a:spLocks noChangeArrowheads="1"/>
              </p:cNvSpPr>
              <p:nvPr/>
            </p:nvSpPr>
            <p:spPr bwMode="auto">
              <a:xfrm>
                <a:off x="4032" y="2448"/>
                <a:ext cx="113" cy="113"/>
              </a:xfrm>
              <a:prstGeom prst="ellipse">
                <a:avLst/>
              </a:prstGeom>
              <a:solidFill>
                <a:schemeClr val="accent1"/>
              </a:solidFill>
              <a:ln w="9525">
                <a:solidFill>
                  <a:schemeClr val="tx1"/>
                </a:solidFill>
                <a:round/>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sp>
            <p:nvSpPr>
              <p:cNvPr id="17436" name="Oval 28"/>
              <p:cNvSpPr>
                <a:spLocks noChangeArrowheads="1"/>
              </p:cNvSpPr>
              <p:nvPr/>
            </p:nvSpPr>
            <p:spPr bwMode="auto">
              <a:xfrm>
                <a:off x="4159" y="2448"/>
                <a:ext cx="113" cy="113"/>
              </a:xfrm>
              <a:prstGeom prst="ellipse">
                <a:avLst/>
              </a:prstGeom>
              <a:solidFill>
                <a:schemeClr val="accent1"/>
              </a:solidFill>
              <a:ln w="9525">
                <a:solidFill>
                  <a:schemeClr val="tx1"/>
                </a:solidFill>
                <a:round/>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sp>
            <p:nvSpPr>
              <p:cNvPr id="17437" name="Oval 29"/>
              <p:cNvSpPr>
                <a:spLocks noChangeArrowheads="1"/>
              </p:cNvSpPr>
              <p:nvPr/>
            </p:nvSpPr>
            <p:spPr bwMode="auto">
              <a:xfrm>
                <a:off x="4320" y="2448"/>
                <a:ext cx="113" cy="113"/>
              </a:xfrm>
              <a:prstGeom prst="ellipse">
                <a:avLst/>
              </a:prstGeom>
              <a:solidFill>
                <a:schemeClr val="accent1"/>
              </a:solidFill>
              <a:ln w="9525">
                <a:solidFill>
                  <a:schemeClr val="tx1"/>
                </a:solidFill>
                <a:round/>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sp>
            <p:nvSpPr>
              <p:cNvPr id="17438" name="Oval 30"/>
              <p:cNvSpPr>
                <a:spLocks noChangeArrowheads="1"/>
              </p:cNvSpPr>
              <p:nvPr/>
            </p:nvSpPr>
            <p:spPr bwMode="auto">
              <a:xfrm>
                <a:off x="4464" y="2448"/>
                <a:ext cx="113" cy="113"/>
              </a:xfrm>
              <a:prstGeom prst="ellipse">
                <a:avLst/>
              </a:prstGeom>
              <a:solidFill>
                <a:schemeClr val="accent1"/>
              </a:solidFill>
              <a:ln w="9525">
                <a:solidFill>
                  <a:schemeClr val="tx1"/>
                </a:solidFill>
                <a:round/>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sp>
            <p:nvSpPr>
              <p:cNvPr id="17439" name="Oval 31"/>
              <p:cNvSpPr>
                <a:spLocks noChangeArrowheads="1"/>
              </p:cNvSpPr>
              <p:nvPr/>
            </p:nvSpPr>
            <p:spPr bwMode="auto">
              <a:xfrm>
                <a:off x="4608" y="2448"/>
                <a:ext cx="113" cy="113"/>
              </a:xfrm>
              <a:prstGeom prst="ellipse">
                <a:avLst/>
              </a:prstGeom>
              <a:solidFill>
                <a:schemeClr val="accent1"/>
              </a:solidFill>
              <a:ln w="9525">
                <a:solidFill>
                  <a:schemeClr val="tx1"/>
                </a:solidFill>
                <a:round/>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sp>
            <p:nvSpPr>
              <p:cNvPr id="17440" name="Oval 32"/>
              <p:cNvSpPr>
                <a:spLocks noChangeArrowheads="1"/>
              </p:cNvSpPr>
              <p:nvPr/>
            </p:nvSpPr>
            <p:spPr bwMode="auto">
              <a:xfrm>
                <a:off x="4752" y="2448"/>
                <a:ext cx="113" cy="113"/>
              </a:xfrm>
              <a:prstGeom prst="ellipse">
                <a:avLst/>
              </a:prstGeom>
              <a:solidFill>
                <a:schemeClr val="accent1"/>
              </a:solidFill>
              <a:ln w="9525">
                <a:solidFill>
                  <a:schemeClr val="tx1"/>
                </a:solidFill>
                <a:round/>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sp>
            <p:nvSpPr>
              <p:cNvPr id="17441" name="Oval 33"/>
              <p:cNvSpPr>
                <a:spLocks noChangeArrowheads="1"/>
              </p:cNvSpPr>
              <p:nvPr/>
            </p:nvSpPr>
            <p:spPr bwMode="auto">
              <a:xfrm>
                <a:off x="4560" y="2304"/>
                <a:ext cx="113" cy="113"/>
              </a:xfrm>
              <a:prstGeom prst="ellipse">
                <a:avLst/>
              </a:prstGeom>
              <a:solidFill>
                <a:schemeClr val="accent1"/>
              </a:solidFill>
              <a:ln w="9525">
                <a:solidFill>
                  <a:schemeClr val="tx1"/>
                </a:solidFill>
                <a:round/>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sp>
            <p:nvSpPr>
              <p:cNvPr id="17442" name="Oval 34"/>
              <p:cNvSpPr>
                <a:spLocks noChangeArrowheads="1"/>
              </p:cNvSpPr>
              <p:nvPr/>
            </p:nvSpPr>
            <p:spPr bwMode="auto">
              <a:xfrm>
                <a:off x="4416" y="2304"/>
                <a:ext cx="113" cy="113"/>
              </a:xfrm>
              <a:prstGeom prst="ellipse">
                <a:avLst/>
              </a:prstGeom>
              <a:solidFill>
                <a:schemeClr val="accent1"/>
              </a:solidFill>
              <a:ln w="9525">
                <a:solidFill>
                  <a:schemeClr val="tx1"/>
                </a:solidFill>
                <a:round/>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sp>
            <p:nvSpPr>
              <p:cNvPr id="17443" name="Oval 35"/>
              <p:cNvSpPr>
                <a:spLocks noChangeArrowheads="1"/>
              </p:cNvSpPr>
              <p:nvPr/>
            </p:nvSpPr>
            <p:spPr bwMode="auto">
              <a:xfrm>
                <a:off x="4224" y="2304"/>
                <a:ext cx="113" cy="113"/>
              </a:xfrm>
              <a:prstGeom prst="ellipse">
                <a:avLst/>
              </a:prstGeom>
              <a:solidFill>
                <a:schemeClr val="accent1"/>
              </a:solidFill>
              <a:ln w="9525">
                <a:solidFill>
                  <a:schemeClr val="tx1"/>
                </a:solidFill>
                <a:round/>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sp>
            <p:nvSpPr>
              <p:cNvPr id="17444" name="Text Box 36"/>
              <p:cNvSpPr txBox="1">
                <a:spLocks noChangeArrowheads="1"/>
              </p:cNvSpPr>
              <p:nvPr/>
            </p:nvSpPr>
            <p:spPr bwMode="auto">
              <a:xfrm>
                <a:off x="4070" y="1992"/>
                <a:ext cx="224" cy="233"/>
              </a:xfrm>
              <a:prstGeom prst="rect">
                <a:avLst/>
              </a:prstGeom>
              <a:noFill/>
              <a:ln w="9525">
                <a:noFill/>
                <a:miter lim="800000"/>
                <a:headEnd/>
                <a:tailEnd/>
              </a:ln>
            </p:spPr>
            <p:txBody>
              <a:bodyPr wrap="none">
                <a:spAutoFit/>
              </a:bodyPr>
              <a:lstStyle/>
              <a:p>
                <a:r>
                  <a:rPr lang="en-US" altLang="zh-CN" b="1" i="1">
                    <a:solidFill>
                      <a:schemeClr val="bg1"/>
                    </a:solidFill>
                    <a:latin typeface="Times New Roman" pitchFamily="18" charset="0"/>
                    <a:ea typeface="华文中宋" pitchFamily="2" charset="-122"/>
                    <a:cs typeface="Times New Roman" pitchFamily="18" charset="0"/>
                  </a:rPr>
                  <a:t>n</a:t>
                </a:r>
                <a:r>
                  <a:rPr lang="en-US" altLang="zh-CN" b="1" i="1" baseline="-30000">
                    <a:solidFill>
                      <a:schemeClr val="bg1"/>
                    </a:solidFill>
                    <a:latin typeface="Times New Roman" pitchFamily="18" charset="0"/>
                    <a:ea typeface="华文中宋" pitchFamily="2" charset="-122"/>
                    <a:cs typeface="Times New Roman" pitchFamily="18" charset="0"/>
                  </a:rPr>
                  <a:t>i</a:t>
                </a:r>
              </a:p>
            </p:txBody>
          </p:sp>
          <p:sp>
            <p:nvSpPr>
              <p:cNvPr id="17445" name="Text Box 37"/>
              <p:cNvSpPr txBox="1">
                <a:spLocks noChangeArrowheads="1"/>
              </p:cNvSpPr>
              <p:nvPr/>
            </p:nvSpPr>
            <p:spPr bwMode="auto">
              <a:xfrm>
                <a:off x="4406" y="1992"/>
                <a:ext cx="253" cy="233"/>
              </a:xfrm>
              <a:prstGeom prst="rect">
                <a:avLst/>
              </a:prstGeom>
              <a:noFill/>
              <a:ln w="9525">
                <a:noFill/>
                <a:miter lim="800000"/>
                <a:headEnd/>
                <a:tailEnd/>
              </a:ln>
            </p:spPr>
            <p:txBody>
              <a:bodyPr wrap="none">
                <a:spAutoFit/>
              </a:bodyPr>
              <a:lstStyle/>
              <a:p>
                <a:r>
                  <a:rPr lang="en-US" altLang="zh-CN" b="1" i="1">
                    <a:solidFill>
                      <a:schemeClr val="bg1"/>
                    </a:solidFill>
                    <a:latin typeface="Times New Roman" pitchFamily="18" charset="0"/>
                    <a:ea typeface="华文中宋" pitchFamily="2" charset="-122"/>
                    <a:cs typeface="Times New Roman" pitchFamily="18" charset="0"/>
                  </a:rPr>
                  <a:t>g</a:t>
                </a:r>
                <a:r>
                  <a:rPr lang="en-US" altLang="zh-CN" b="1" i="1" baseline="-30000">
                    <a:solidFill>
                      <a:schemeClr val="bg1"/>
                    </a:solidFill>
                    <a:latin typeface="Times New Roman" pitchFamily="18" charset="0"/>
                    <a:ea typeface="华文中宋" pitchFamily="2" charset="-122"/>
                    <a:cs typeface="Times New Roman" pitchFamily="18" charset="0"/>
                  </a:rPr>
                  <a:t>i</a:t>
                </a:r>
                <a:r>
                  <a:rPr lang="en-US" altLang="zh-CN" b="1">
                    <a:solidFill>
                      <a:schemeClr val="bg1"/>
                    </a:solidFill>
                    <a:latin typeface="Times New Roman" pitchFamily="18" charset="0"/>
                    <a:ea typeface="华文中宋" pitchFamily="2" charset="-122"/>
                    <a:cs typeface="Times New Roman" pitchFamily="18" charset="0"/>
                  </a:rPr>
                  <a:t> </a:t>
                </a:r>
              </a:p>
            </p:txBody>
          </p:sp>
        </p:grpSp>
      </p:grpSp>
      <p:grpSp>
        <p:nvGrpSpPr>
          <p:cNvPr id="7" name="Group 47"/>
          <p:cNvGrpSpPr>
            <a:grpSpLocks/>
          </p:cNvGrpSpPr>
          <p:nvPr/>
        </p:nvGrpSpPr>
        <p:grpSpPr bwMode="auto">
          <a:xfrm>
            <a:off x="1203325" y="4479925"/>
            <a:ext cx="4633913" cy="1042988"/>
            <a:chOff x="758" y="2822"/>
            <a:chExt cx="2919" cy="657"/>
          </a:xfrm>
        </p:grpSpPr>
        <p:graphicFrame>
          <p:nvGraphicFramePr>
            <p:cNvPr id="17411" name="Object 44"/>
            <p:cNvGraphicFramePr>
              <a:graphicFrameLocks noChangeAspect="1"/>
            </p:cNvGraphicFramePr>
            <p:nvPr/>
          </p:nvGraphicFramePr>
          <p:xfrm>
            <a:off x="781" y="2832"/>
            <a:ext cx="179" cy="286"/>
          </p:xfrm>
          <a:graphic>
            <a:graphicData uri="http://schemas.openxmlformats.org/presentationml/2006/ole">
              <p:oleObj spid="_x0000_s17411" name="Equation" r:id="rId7" imgW="152280" imgH="228600" progId="Equation.DSMT4">
                <p:embed/>
              </p:oleObj>
            </a:graphicData>
          </a:graphic>
        </p:graphicFrame>
        <p:sp>
          <p:nvSpPr>
            <p:cNvPr id="17427" name="Text Box 45"/>
            <p:cNvSpPr txBox="1">
              <a:spLocks noChangeArrowheads="1"/>
            </p:cNvSpPr>
            <p:nvPr/>
          </p:nvSpPr>
          <p:spPr bwMode="auto">
            <a:xfrm>
              <a:off x="1056" y="2822"/>
              <a:ext cx="438" cy="250"/>
            </a:xfrm>
            <a:prstGeom prst="rect">
              <a:avLst/>
            </a:prstGeom>
            <a:noFill/>
            <a:ln w="9525">
              <a:noFill/>
              <a:miter lim="800000"/>
              <a:headEnd/>
              <a:tailEnd/>
            </a:ln>
          </p:spPr>
          <p:txBody>
            <a:bodyPr wrap="none">
              <a:spAutoFit/>
            </a:bodyPr>
            <a:lstStyle/>
            <a:p>
              <a:r>
                <a:rPr lang="zh-CN" altLang="en-US" sz="2000" b="1">
                  <a:solidFill>
                    <a:schemeClr val="bg1"/>
                  </a:solidFill>
                  <a:latin typeface="Times New Roman" pitchFamily="18" charset="0"/>
                  <a:ea typeface="华文中宋" pitchFamily="2" charset="-122"/>
                  <a:cs typeface="Times New Roman" pitchFamily="18" charset="0"/>
                </a:rPr>
                <a:t>柜子</a:t>
              </a:r>
            </a:p>
          </p:txBody>
        </p:sp>
        <p:sp>
          <p:nvSpPr>
            <p:cNvPr id="17428" name="Text Box 46"/>
            <p:cNvSpPr txBox="1">
              <a:spLocks noChangeArrowheads="1"/>
            </p:cNvSpPr>
            <p:nvPr/>
          </p:nvSpPr>
          <p:spPr bwMode="auto">
            <a:xfrm>
              <a:off x="758" y="3033"/>
              <a:ext cx="2919" cy="446"/>
            </a:xfrm>
            <a:prstGeom prst="rect">
              <a:avLst/>
            </a:prstGeom>
            <a:noFill/>
            <a:ln w="9525">
              <a:noFill/>
              <a:miter lim="800000"/>
              <a:headEnd/>
              <a:tailEnd/>
            </a:ln>
          </p:spPr>
          <p:txBody>
            <a:bodyPr wrap="none">
              <a:spAutoFit/>
            </a:bodyPr>
            <a:lstStyle/>
            <a:p>
              <a:r>
                <a:rPr lang="en-US" altLang="zh-CN" sz="2000" b="1" i="1">
                  <a:solidFill>
                    <a:schemeClr val="bg1"/>
                  </a:solidFill>
                  <a:latin typeface="Times New Roman" pitchFamily="18" charset="0"/>
                  <a:ea typeface="华文中宋" pitchFamily="2" charset="-122"/>
                  <a:cs typeface="Times New Roman" pitchFamily="18" charset="0"/>
                </a:rPr>
                <a:t>g</a:t>
              </a:r>
              <a:r>
                <a:rPr lang="en-US" altLang="zh-CN" sz="2000" b="1" i="1" baseline="-30000">
                  <a:solidFill>
                    <a:schemeClr val="bg1"/>
                  </a:solidFill>
                  <a:latin typeface="Times New Roman" pitchFamily="18" charset="0"/>
                  <a:ea typeface="华文中宋" pitchFamily="2" charset="-122"/>
                  <a:cs typeface="Times New Roman" pitchFamily="18" charset="0"/>
                </a:rPr>
                <a:t>i</a:t>
              </a:r>
              <a:r>
                <a:rPr lang="en-US" altLang="zh-CN" sz="2000" b="1">
                  <a:solidFill>
                    <a:schemeClr val="bg1"/>
                  </a:solidFill>
                  <a:latin typeface="Times New Roman" pitchFamily="18" charset="0"/>
                  <a:ea typeface="华文中宋" pitchFamily="2" charset="-122"/>
                  <a:cs typeface="Times New Roman" pitchFamily="18" charset="0"/>
                </a:rPr>
                <a:t>     </a:t>
              </a:r>
              <a:r>
                <a:rPr lang="zh-CN" altLang="en-US" sz="2000" b="1">
                  <a:solidFill>
                    <a:schemeClr val="bg1"/>
                  </a:solidFill>
                  <a:latin typeface="Times New Roman" pitchFamily="18" charset="0"/>
                  <a:ea typeface="华文中宋" pitchFamily="2" charset="-122"/>
                  <a:cs typeface="Times New Roman" pitchFamily="18" charset="0"/>
                </a:rPr>
                <a:t>柜子中抽屉的数量</a:t>
              </a:r>
            </a:p>
            <a:p>
              <a:r>
                <a:rPr lang="en-US" altLang="zh-CN" sz="2000" b="1" i="1">
                  <a:solidFill>
                    <a:schemeClr val="bg1"/>
                  </a:solidFill>
                  <a:latin typeface="Times New Roman" pitchFamily="18" charset="0"/>
                  <a:ea typeface="华文中宋" pitchFamily="2" charset="-122"/>
                  <a:cs typeface="Times New Roman" pitchFamily="18" charset="0"/>
                </a:rPr>
                <a:t>n</a:t>
              </a:r>
              <a:r>
                <a:rPr lang="en-US" altLang="zh-CN" sz="2000" b="1" i="1" baseline="-30000">
                  <a:solidFill>
                    <a:schemeClr val="bg1"/>
                  </a:solidFill>
                  <a:latin typeface="Times New Roman" pitchFamily="18" charset="0"/>
                  <a:ea typeface="华文中宋" pitchFamily="2" charset="-122"/>
                  <a:cs typeface="Times New Roman" pitchFamily="18" charset="0"/>
                </a:rPr>
                <a:t>i      </a:t>
              </a:r>
              <a:r>
                <a:rPr lang="zh-CN" altLang="en-US" sz="2000" b="1">
                  <a:solidFill>
                    <a:schemeClr val="bg1"/>
                  </a:solidFill>
                  <a:latin typeface="Times New Roman" pitchFamily="18" charset="0"/>
                  <a:ea typeface="华文中宋" pitchFamily="2" charset="-122"/>
                  <a:cs typeface="Times New Roman" pitchFamily="18" charset="0"/>
                </a:rPr>
                <a:t>放在这个柜子中总的乒乓球的数量</a:t>
              </a:r>
              <a:r>
                <a:rPr lang="zh-CN" altLang="en-US" sz="2000" b="1" i="1" baseline="-30000">
                  <a:solidFill>
                    <a:schemeClr val="bg1"/>
                  </a:solidFill>
                  <a:latin typeface="Times New Roman" pitchFamily="18" charset="0"/>
                  <a:ea typeface="华文中宋" pitchFamily="2" charset="-122"/>
                  <a:cs typeface="Times New Roman" pitchFamily="18" charset="0"/>
                </a:rPr>
                <a:t> </a:t>
              </a:r>
            </a:p>
          </p:txBody>
        </p:sp>
      </p:grpSp>
      <p:grpSp>
        <p:nvGrpSpPr>
          <p:cNvPr id="8" name="Group 53"/>
          <p:cNvGrpSpPr>
            <a:grpSpLocks/>
          </p:cNvGrpSpPr>
          <p:nvPr/>
        </p:nvGrpSpPr>
        <p:grpSpPr bwMode="auto">
          <a:xfrm>
            <a:off x="5943600" y="2743200"/>
            <a:ext cx="2057400" cy="3040063"/>
            <a:chOff x="3744" y="1728"/>
            <a:chExt cx="1296" cy="1915"/>
          </a:xfrm>
        </p:grpSpPr>
        <p:sp>
          <p:nvSpPr>
            <p:cNvPr id="17424" name="Rectangle 48"/>
            <p:cNvSpPr>
              <a:spLocks noChangeArrowheads="1"/>
            </p:cNvSpPr>
            <p:nvPr/>
          </p:nvSpPr>
          <p:spPr bwMode="auto">
            <a:xfrm>
              <a:off x="3744" y="1728"/>
              <a:ext cx="1296" cy="1104"/>
            </a:xfrm>
            <a:prstGeom prst="rect">
              <a:avLst/>
            </a:prstGeom>
            <a:noFill/>
            <a:ln w="38100">
              <a:solidFill>
                <a:schemeClr val="tx2"/>
              </a:solidFill>
              <a:miter lim="800000"/>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sp>
          <p:nvSpPr>
            <p:cNvPr id="17425" name="Line 49"/>
            <p:cNvSpPr>
              <a:spLocks noChangeShapeType="1"/>
            </p:cNvSpPr>
            <p:nvPr/>
          </p:nvSpPr>
          <p:spPr bwMode="auto">
            <a:xfrm>
              <a:off x="4368" y="2832"/>
              <a:ext cx="0" cy="288"/>
            </a:xfrm>
            <a:prstGeom prst="line">
              <a:avLst/>
            </a:prstGeom>
            <a:noFill/>
            <a:ln w="38100">
              <a:solidFill>
                <a:schemeClr val="tx2"/>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sp>
          <p:nvSpPr>
            <p:cNvPr id="17426" name="Text Box 50"/>
            <p:cNvSpPr txBox="1">
              <a:spLocks noChangeArrowheads="1"/>
            </p:cNvSpPr>
            <p:nvPr/>
          </p:nvSpPr>
          <p:spPr bwMode="auto">
            <a:xfrm>
              <a:off x="3840" y="3120"/>
              <a:ext cx="1037" cy="523"/>
            </a:xfrm>
            <a:prstGeom prst="rect">
              <a:avLst/>
            </a:prstGeom>
            <a:noFill/>
            <a:ln w="9525">
              <a:solidFill>
                <a:schemeClr val="tx2"/>
              </a:solid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放法：       </a:t>
              </a:r>
            </a:p>
            <a:p>
              <a:endParaRPr lang="en-US" altLang="zh-CN" sz="2400" b="1">
                <a:solidFill>
                  <a:schemeClr val="bg1"/>
                </a:solidFill>
                <a:latin typeface="Times New Roman" pitchFamily="18" charset="0"/>
                <a:ea typeface="华文中宋" pitchFamily="2" charset="-122"/>
                <a:cs typeface="Times New Roman" pitchFamily="18" charset="0"/>
              </a:endParaRPr>
            </a:p>
          </p:txBody>
        </p:sp>
        <p:graphicFrame>
          <p:nvGraphicFramePr>
            <p:cNvPr id="17410" name="Object 51"/>
            <p:cNvGraphicFramePr>
              <a:graphicFrameLocks noChangeAspect="1"/>
            </p:cNvGraphicFramePr>
            <p:nvPr/>
          </p:nvGraphicFramePr>
          <p:xfrm>
            <a:off x="4464" y="3120"/>
            <a:ext cx="274" cy="298"/>
          </p:xfrm>
          <a:graphic>
            <a:graphicData uri="http://schemas.openxmlformats.org/presentationml/2006/ole">
              <p:oleObj spid="_x0000_s17410" r:id="rId8" imgW="215713" imgH="241091" progId="Equation.DSMT4">
                <p:embed/>
              </p:oleObj>
            </a:graphicData>
          </a:graphic>
        </p:graphicFrame>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4819"/>
                                        </p:tgtEl>
                                        <p:attrNameLst>
                                          <p:attrName>style.visibility</p:attrName>
                                        </p:attrNameLst>
                                      </p:cBhvr>
                                      <p:to>
                                        <p:strVal val="visible"/>
                                      </p:to>
                                    </p:set>
                                    <p:animEffect transition="in" filter="box(in)">
                                      <p:cBhvr>
                                        <p:cTn id="7" dur="500"/>
                                        <p:tgtEl>
                                          <p:spTgt spid="3481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4820"/>
                                        </p:tgtEl>
                                        <p:attrNameLst>
                                          <p:attrName>style.visibility</p:attrName>
                                        </p:attrNameLst>
                                      </p:cBhvr>
                                      <p:to>
                                        <p:strVal val="visible"/>
                                      </p:to>
                                    </p:set>
                                    <p:animEffect transition="in" filter="checkerboard(across)">
                                      <p:cBhvr>
                                        <p:cTn id="12" dur="500"/>
                                        <p:tgtEl>
                                          <p:spTgt spid="34820"/>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heckerboard(across)">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checkerboard(across)">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checkerboard(across)">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checkerboard(across)">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autoUpdateAnimBg="0"/>
      <p:bldP spid="34820"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灯片编号占位符 3"/>
          <p:cNvSpPr>
            <a:spLocks noGrp="1"/>
          </p:cNvSpPr>
          <p:nvPr>
            <p:ph type="sldNum" sz="quarter" idx="12"/>
          </p:nvPr>
        </p:nvSpPr>
        <p:spPr>
          <a:noFill/>
        </p:spPr>
        <p:txBody>
          <a:bodyPr/>
          <a:lstStyle/>
          <a:p>
            <a:fld id="{42079C97-A369-499E-AE6D-87941163F9E3}" type="slidenum">
              <a:rPr lang="en-US" altLang="zh-CN" smtClean="0">
                <a:latin typeface="Times New Roman" pitchFamily="18" charset="0"/>
                <a:ea typeface="华文中宋" pitchFamily="2" charset="-122"/>
                <a:cs typeface="Times New Roman" pitchFamily="18" charset="0"/>
              </a:rPr>
              <a:pPr/>
              <a:t>31</a:t>
            </a:fld>
            <a:endParaRPr lang="en-US" altLang="zh-CN" smtClean="0">
              <a:latin typeface="Times New Roman" pitchFamily="18" charset="0"/>
              <a:ea typeface="华文中宋" pitchFamily="2" charset="-122"/>
              <a:cs typeface="Times New Roman" pitchFamily="18" charset="0"/>
            </a:endParaRPr>
          </a:p>
        </p:txBody>
      </p:sp>
      <p:sp>
        <p:nvSpPr>
          <p:cNvPr id="18439" name="Text Box 2"/>
          <p:cNvSpPr txBox="1">
            <a:spLocks noChangeArrowheads="1"/>
          </p:cNvSpPr>
          <p:nvPr/>
        </p:nvSpPr>
        <p:spPr bwMode="auto">
          <a:xfrm>
            <a:off x="4364038" y="0"/>
            <a:ext cx="477996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各种体系的能级分布和微观状态数</a:t>
            </a:r>
            <a:endParaRPr lang="zh-CN" altLang="en-US" sz="2400">
              <a:solidFill>
                <a:schemeClr val="bg1"/>
              </a:solidFill>
              <a:latin typeface="Times New Roman" pitchFamily="18" charset="0"/>
            </a:endParaRPr>
          </a:p>
        </p:txBody>
      </p:sp>
      <p:sp>
        <p:nvSpPr>
          <p:cNvPr id="36867" name="Rectangle 3"/>
          <p:cNvSpPr>
            <a:spLocks noGrp="1" noRot="1" noChangeArrowheads="1"/>
          </p:cNvSpPr>
          <p:nvPr/>
        </p:nvSpPr>
        <p:spPr bwMode="auto">
          <a:xfrm>
            <a:off x="374650" y="228600"/>
            <a:ext cx="8540750" cy="1143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定域子的微观状态数计算</a:t>
            </a:r>
          </a:p>
        </p:txBody>
      </p:sp>
      <p:sp>
        <p:nvSpPr>
          <p:cNvPr id="36868" name="Text Box 4"/>
          <p:cNvSpPr txBox="1">
            <a:spLocks noChangeArrowheads="1"/>
          </p:cNvSpPr>
          <p:nvPr/>
        </p:nvSpPr>
        <p:spPr bwMode="auto">
          <a:xfrm>
            <a:off x="914400" y="1295400"/>
            <a:ext cx="6587060" cy="461665"/>
          </a:xfrm>
          <a:prstGeom prst="rect">
            <a:avLst/>
          </a:prstGeom>
          <a:noFill/>
          <a:ln w="9525">
            <a:noFill/>
            <a:miter lim="800000"/>
            <a:headEnd/>
            <a:tailEnd/>
          </a:ln>
        </p:spPr>
        <p:txBody>
          <a:bodyPr wrap="none">
            <a:spAutoFit/>
          </a:bodyPr>
          <a:lstStyle/>
          <a:p>
            <a:r>
              <a:rPr lang="zh-CN" altLang="en-US" sz="2400" b="1">
                <a:solidFill>
                  <a:srgbClr val="D2DC08"/>
                </a:solidFill>
                <a:latin typeface="Times New Roman" pitchFamily="18" charset="0"/>
                <a:ea typeface="华文中宋" pitchFamily="2" charset="-122"/>
                <a:cs typeface="Times New Roman" pitchFamily="18" charset="0"/>
              </a:rPr>
              <a:t>步骤二：将</a:t>
            </a:r>
            <a:r>
              <a:rPr lang="en-US" altLang="zh-CN" sz="2400" b="1">
                <a:solidFill>
                  <a:srgbClr val="D2DC08"/>
                </a:solidFill>
                <a:latin typeface="Times New Roman" pitchFamily="18" charset="0"/>
                <a:ea typeface="华文中宋" pitchFamily="2" charset="-122"/>
                <a:cs typeface="Times New Roman" pitchFamily="18" charset="0"/>
              </a:rPr>
              <a:t>N</a:t>
            </a:r>
            <a:r>
              <a:rPr lang="zh-CN" altLang="en-US" sz="2400" b="1">
                <a:solidFill>
                  <a:srgbClr val="D2DC08"/>
                </a:solidFill>
                <a:latin typeface="Times New Roman" pitchFamily="18" charset="0"/>
                <a:ea typeface="华文中宋" pitchFamily="2" charset="-122"/>
                <a:cs typeface="Times New Roman" pitchFamily="18" charset="0"/>
              </a:rPr>
              <a:t>个粒子放在</a:t>
            </a:r>
            <a:r>
              <a:rPr lang="en-US" altLang="zh-CN" sz="2400" b="1">
                <a:solidFill>
                  <a:srgbClr val="D2DC08"/>
                </a:solidFill>
                <a:latin typeface="Times New Roman" pitchFamily="18" charset="0"/>
                <a:ea typeface="华文中宋" pitchFamily="2" charset="-122"/>
                <a:cs typeface="Times New Roman" pitchFamily="18" charset="0"/>
              </a:rPr>
              <a:t>N</a:t>
            </a:r>
            <a:r>
              <a:rPr lang="zh-CN" altLang="en-US" sz="2400" b="1">
                <a:solidFill>
                  <a:srgbClr val="D2DC08"/>
                </a:solidFill>
                <a:latin typeface="Times New Roman" pitchFamily="18" charset="0"/>
                <a:ea typeface="华文中宋" pitchFamily="2" charset="-122"/>
                <a:cs typeface="Times New Roman" pitchFamily="18" charset="0"/>
              </a:rPr>
              <a:t>个可辨识的位置上 。</a:t>
            </a:r>
          </a:p>
        </p:txBody>
      </p:sp>
      <p:grpSp>
        <p:nvGrpSpPr>
          <p:cNvPr id="2" name="Group 14"/>
          <p:cNvGrpSpPr>
            <a:grpSpLocks/>
          </p:cNvGrpSpPr>
          <p:nvPr/>
        </p:nvGrpSpPr>
        <p:grpSpPr bwMode="auto">
          <a:xfrm>
            <a:off x="1203325" y="1981200"/>
            <a:ext cx="1724026" cy="2155825"/>
            <a:chOff x="758" y="1248"/>
            <a:chExt cx="1086" cy="1358"/>
          </a:xfrm>
        </p:grpSpPr>
        <p:graphicFrame>
          <p:nvGraphicFramePr>
            <p:cNvPr id="18437" name="Object 5"/>
            <p:cNvGraphicFramePr>
              <a:graphicFrameLocks noChangeAspect="1"/>
            </p:cNvGraphicFramePr>
            <p:nvPr/>
          </p:nvGraphicFramePr>
          <p:xfrm>
            <a:off x="1078" y="1248"/>
            <a:ext cx="410" cy="338"/>
          </p:xfrm>
          <a:graphic>
            <a:graphicData uri="http://schemas.openxmlformats.org/presentationml/2006/ole">
              <p:oleObj spid="_x0000_s18437" r:id="rId3" imgW="215619" imgH="177569" progId="Equation.DSMT4">
                <p:embed/>
              </p:oleObj>
            </a:graphicData>
          </a:graphic>
        </p:graphicFrame>
        <p:sp>
          <p:nvSpPr>
            <p:cNvPr id="18449" name="Text Box 11"/>
            <p:cNvSpPr txBox="1">
              <a:spLocks noChangeArrowheads="1"/>
            </p:cNvSpPr>
            <p:nvPr/>
          </p:nvSpPr>
          <p:spPr bwMode="auto">
            <a:xfrm>
              <a:off x="758" y="1850"/>
              <a:ext cx="1086" cy="756"/>
            </a:xfrm>
            <a:prstGeom prst="rect">
              <a:avLst/>
            </a:prstGeom>
            <a:solidFill>
              <a:srgbClr val="000099"/>
            </a:solidFill>
            <a:ln w="9525">
              <a:noFill/>
              <a:miter lim="800000"/>
              <a:headEnd/>
              <a:tailEnd/>
            </a:ln>
          </p:spPr>
          <p:txBody>
            <a:bodyPr wrap="none">
              <a:spAutoFit/>
            </a:bodyPr>
            <a:lstStyle/>
            <a:p>
              <a:r>
                <a:rPr lang="zh-CN" altLang="en-US" sz="2400" b="1">
                  <a:solidFill>
                    <a:srgbClr val="D2DC08"/>
                  </a:solidFill>
                  <a:latin typeface="Times New Roman" pitchFamily="18" charset="0"/>
                  <a:ea typeface="华文中宋" pitchFamily="2" charset="-122"/>
                  <a:cs typeface="Times New Roman" pitchFamily="18" charset="0"/>
                </a:rPr>
                <a:t>将</a:t>
              </a:r>
              <a:r>
                <a:rPr lang="en-US" altLang="zh-CN" sz="2400" b="1">
                  <a:solidFill>
                    <a:srgbClr val="D2DC08"/>
                  </a:solidFill>
                  <a:latin typeface="Times New Roman" pitchFamily="18" charset="0"/>
                  <a:ea typeface="华文中宋" pitchFamily="2" charset="-122"/>
                  <a:cs typeface="Times New Roman" pitchFamily="18" charset="0"/>
                </a:rPr>
                <a:t>N</a:t>
              </a:r>
              <a:r>
                <a:rPr lang="zh-CN" altLang="en-US" sz="2400" b="1">
                  <a:solidFill>
                    <a:srgbClr val="D2DC08"/>
                  </a:solidFill>
                  <a:latin typeface="Times New Roman" pitchFamily="18" charset="0"/>
                  <a:ea typeface="华文中宋" pitchFamily="2" charset="-122"/>
                  <a:cs typeface="Times New Roman" pitchFamily="18" charset="0"/>
                </a:rPr>
                <a:t>个粒子</a:t>
              </a:r>
            </a:p>
            <a:p>
              <a:r>
                <a:rPr lang="zh-CN" altLang="en-US" sz="2400" b="1">
                  <a:solidFill>
                    <a:srgbClr val="D2DC08"/>
                  </a:solidFill>
                  <a:latin typeface="Times New Roman" pitchFamily="18" charset="0"/>
                  <a:ea typeface="华文中宋" pitchFamily="2" charset="-122"/>
                  <a:cs typeface="Times New Roman" pitchFamily="18" charset="0"/>
                </a:rPr>
                <a:t>放在</a:t>
              </a:r>
              <a:r>
                <a:rPr lang="en-US" altLang="zh-CN" sz="2400" b="1">
                  <a:solidFill>
                    <a:srgbClr val="D2DC08"/>
                  </a:solidFill>
                  <a:latin typeface="Times New Roman" pitchFamily="18" charset="0"/>
                  <a:ea typeface="华文中宋" pitchFamily="2" charset="-122"/>
                  <a:cs typeface="Times New Roman" pitchFamily="18" charset="0"/>
                </a:rPr>
                <a:t>N</a:t>
              </a:r>
              <a:r>
                <a:rPr lang="zh-CN" altLang="en-US" sz="2400" b="1">
                  <a:solidFill>
                    <a:srgbClr val="D2DC08"/>
                  </a:solidFill>
                  <a:latin typeface="Times New Roman" pitchFamily="18" charset="0"/>
                  <a:ea typeface="华文中宋" pitchFamily="2" charset="-122"/>
                  <a:cs typeface="Times New Roman" pitchFamily="18" charset="0"/>
                </a:rPr>
                <a:t>个可</a:t>
              </a:r>
            </a:p>
            <a:p>
              <a:r>
                <a:rPr lang="zh-CN" altLang="en-US" sz="2400" b="1">
                  <a:solidFill>
                    <a:srgbClr val="D2DC08"/>
                  </a:solidFill>
                  <a:latin typeface="Times New Roman" pitchFamily="18" charset="0"/>
                  <a:ea typeface="华文中宋" pitchFamily="2" charset="-122"/>
                  <a:cs typeface="Times New Roman" pitchFamily="18" charset="0"/>
                </a:rPr>
                <a:t>辨识的位置</a:t>
              </a:r>
            </a:p>
          </p:txBody>
        </p:sp>
      </p:grpSp>
      <p:grpSp>
        <p:nvGrpSpPr>
          <p:cNvPr id="3" name="Group 15"/>
          <p:cNvGrpSpPr>
            <a:grpSpLocks/>
          </p:cNvGrpSpPr>
          <p:nvPr/>
        </p:nvGrpSpPr>
        <p:grpSpPr bwMode="auto">
          <a:xfrm>
            <a:off x="2362200" y="1752600"/>
            <a:ext cx="5614988" cy="2679700"/>
            <a:chOff x="1488" y="1104"/>
            <a:chExt cx="3537" cy="1688"/>
          </a:xfrm>
        </p:grpSpPr>
        <p:graphicFrame>
          <p:nvGraphicFramePr>
            <p:cNvPr id="18436" name="Object 7"/>
            <p:cNvGraphicFramePr>
              <a:graphicFrameLocks noChangeAspect="1"/>
            </p:cNvGraphicFramePr>
            <p:nvPr/>
          </p:nvGraphicFramePr>
          <p:xfrm>
            <a:off x="2640" y="1104"/>
            <a:ext cx="2267" cy="841"/>
          </p:xfrm>
          <a:graphic>
            <a:graphicData uri="http://schemas.openxmlformats.org/presentationml/2006/ole">
              <p:oleObj spid="_x0000_s18436" r:id="rId4" imgW="1435100" imgH="533400" progId="Equation.DSMT4">
                <p:embed/>
              </p:oleObj>
            </a:graphicData>
          </a:graphic>
        </p:graphicFrame>
        <p:sp>
          <p:nvSpPr>
            <p:cNvPr id="18447" name="Line 9"/>
            <p:cNvSpPr>
              <a:spLocks noChangeShapeType="1"/>
            </p:cNvSpPr>
            <p:nvPr/>
          </p:nvSpPr>
          <p:spPr bwMode="auto">
            <a:xfrm>
              <a:off x="1488" y="1440"/>
              <a:ext cx="1152" cy="0"/>
            </a:xfrm>
            <a:prstGeom prst="line">
              <a:avLst/>
            </a:prstGeom>
            <a:noFill/>
            <a:ln w="57150">
              <a:solidFill>
                <a:schemeClr val="tx2"/>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sp>
          <p:nvSpPr>
            <p:cNvPr id="18448" name="Text Box 13"/>
            <p:cNvSpPr txBox="1">
              <a:spLocks noChangeArrowheads="1"/>
            </p:cNvSpPr>
            <p:nvPr/>
          </p:nvSpPr>
          <p:spPr bwMode="auto">
            <a:xfrm>
              <a:off x="2582" y="2036"/>
              <a:ext cx="2443" cy="756"/>
            </a:xfrm>
            <a:prstGeom prst="rect">
              <a:avLst/>
            </a:prstGeom>
            <a:solidFill>
              <a:srgbClr val="000099"/>
            </a:solidFill>
            <a:ln w="9525">
              <a:noFill/>
              <a:miter lim="800000"/>
              <a:headEnd/>
              <a:tailEnd/>
            </a:ln>
          </p:spPr>
          <p:txBody>
            <a:bodyPr wrap="none">
              <a:spAutoFit/>
            </a:bodyPr>
            <a:lstStyle/>
            <a:p>
              <a:r>
                <a:rPr lang="zh-CN" altLang="en-US" sz="2400" b="1">
                  <a:solidFill>
                    <a:srgbClr val="D2DC08"/>
                  </a:solidFill>
                  <a:latin typeface="Times New Roman" pitchFamily="18" charset="0"/>
                  <a:ea typeface="华文中宋" pitchFamily="2" charset="-122"/>
                  <a:cs typeface="Times New Roman" pitchFamily="18" charset="0"/>
                </a:rPr>
                <a:t>由于是全同粒子，同一能级</a:t>
              </a:r>
            </a:p>
            <a:p>
              <a:r>
                <a:rPr lang="zh-CN" altLang="en-US" sz="2400" b="1">
                  <a:solidFill>
                    <a:srgbClr val="D2DC08"/>
                  </a:solidFill>
                  <a:latin typeface="Times New Roman" pitchFamily="18" charset="0"/>
                  <a:ea typeface="华文中宋" pitchFamily="2" charset="-122"/>
                  <a:cs typeface="Times New Roman" pitchFamily="18" charset="0"/>
                </a:rPr>
                <a:t>上的任意两个粒子互换位置</a:t>
              </a:r>
            </a:p>
            <a:p>
              <a:r>
                <a:rPr lang="zh-CN" altLang="en-US" sz="2400" b="1">
                  <a:solidFill>
                    <a:srgbClr val="D2DC08"/>
                  </a:solidFill>
                  <a:latin typeface="Times New Roman" pitchFamily="18" charset="0"/>
                  <a:ea typeface="华文中宋" pitchFamily="2" charset="-122"/>
                  <a:cs typeface="Times New Roman" pitchFamily="18" charset="0"/>
                </a:rPr>
                <a:t>并不会产生新的量子态</a:t>
              </a:r>
            </a:p>
          </p:txBody>
        </p:sp>
      </p:grpSp>
      <p:grpSp>
        <p:nvGrpSpPr>
          <p:cNvPr id="4" name="Group 19"/>
          <p:cNvGrpSpPr>
            <a:grpSpLocks/>
          </p:cNvGrpSpPr>
          <p:nvPr/>
        </p:nvGrpSpPr>
        <p:grpSpPr bwMode="auto">
          <a:xfrm>
            <a:off x="1066800" y="4597400"/>
            <a:ext cx="7448550" cy="1117600"/>
            <a:chOff x="672" y="2896"/>
            <a:chExt cx="4692" cy="704"/>
          </a:xfrm>
        </p:grpSpPr>
        <p:sp>
          <p:nvSpPr>
            <p:cNvPr id="18446" name="Text Box 16"/>
            <p:cNvSpPr txBox="1">
              <a:spLocks noChangeArrowheads="1"/>
            </p:cNvSpPr>
            <p:nvPr/>
          </p:nvSpPr>
          <p:spPr bwMode="auto">
            <a:xfrm>
              <a:off x="672" y="2938"/>
              <a:ext cx="2505" cy="523"/>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对于一套确定的能级分布</a:t>
              </a:r>
            </a:p>
            <a:p>
              <a:r>
                <a:rPr lang="zh-CN" altLang="en-US" sz="2400" b="1">
                  <a:solidFill>
                    <a:schemeClr val="bg1"/>
                  </a:solidFill>
                  <a:latin typeface="Times New Roman" pitchFamily="18" charset="0"/>
                  <a:ea typeface="华文中宋" pitchFamily="2" charset="-122"/>
                  <a:cs typeface="Times New Roman" pitchFamily="18" charset="0"/>
                </a:rPr>
                <a:t>方式，系统的微观态数为： </a:t>
              </a:r>
            </a:p>
          </p:txBody>
        </p:sp>
        <p:graphicFrame>
          <p:nvGraphicFramePr>
            <p:cNvPr id="18435" name="Object 17"/>
            <p:cNvGraphicFramePr>
              <a:graphicFrameLocks noChangeAspect="1"/>
            </p:cNvGraphicFramePr>
            <p:nvPr/>
          </p:nvGraphicFramePr>
          <p:xfrm>
            <a:off x="3120" y="2896"/>
            <a:ext cx="2244" cy="704"/>
          </p:xfrm>
          <a:graphic>
            <a:graphicData uri="http://schemas.openxmlformats.org/presentationml/2006/ole">
              <p:oleObj spid="_x0000_s18435" r:id="rId5" imgW="1790700" imgH="558800" progId="Equation.DSMT4">
                <p:embed/>
              </p:oleObj>
            </a:graphicData>
          </a:graphic>
        </p:graphicFrame>
      </p:grpSp>
      <p:sp>
        <p:nvSpPr>
          <p:cNvPr id="36884" name="Text Box 20"/>
          <p:cNvSpPr txBox="1">
            <a:spLocks noChangeArrowheads="1"/>
          </p:cNvSpPr>
          <p:nvPr/>
        </p:nvSpPr>
        <p:spPr bwMode="auto">
          <a:xfrm>
            <a:off x="914400" y="5618163"/>
            <a:ext cx="6005513" cy="457200"/>
          </a:xfrm>
          <a:prstGeom prst="rect">
            <a:avLst/>
          </a:prstGeom>
          <a:noFill/>
          <a:ln w="9525">
            <a:noFill/>
            <a:miter lim="800000"/>
            <a:headEnd/>
            <a:tailEnd/>
          </a:ln>
        </p:spPr>
        <p:txBody>
          <a:bodyPr wrap="none">
            <a:spAutoFit/>
          </a:bodyPr>
          <a:lstStyle/>
          <a:p>
            <a:r>
              <a:rPr lang="zh-CN" altLang="en-US" sz="2400" b="1">
                <a:solidFill>
                  <a:srgbClr val="D2DC08"/>
                </a:solidFill>
                <a:latin typeface="Times New Roman" pitchFamily="18" charset="0"/>
                <a:ea typeface="华文中宋" pitchFamily="2" charset="-122"/>
                <a:cs typeface="Times New Roman" pitchFamily="18" charset="0"/>
              </a:rPr>
              <a:t>步骤三：对所有可能的能级分布形式加总。</a:t>
            </a:r>
          </a:p>
        </p:txBody>
      </p:sp>
      <p:graphicFrame>
        <p:nvGraphicFramePr>
          <p:cNvPr id="36885" name="Object 21"/>
          <p:cNvGraphicFramePr>
            <a:graphicFrameLocks noChangeAspect="1"/>
          </p:cNvGraphicFramePr>
          <p:nvPr/>
        </p:nvGraphicFramePr>
        <p:xfrm>
          <a:off x="2362200" y="5943600"/>
          <a:ext cx="4059238" cy="914400"/>
        </p:xfrm>
        <a:graphic>
          <a:graphicData uri="http://schemas.openxmlformats.org/presentationml/2006/ole">
            <p:oleObj spid="_x0000_s18434" r:id="rId6" imgW="2032000" imgH="457200" progId="Equation.DSMT4">
              <p:embed/>
            </p:oleObj>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6867"/>
                                        </p:tgtEl>
                                        <p:attrNameLst>
                                          <p:attrName>style.visibility</p:attrName>
                                        </p:attrNameLst>
                                      </p:cBhvr>
                                      <p:to>
                                        <p:strVal val="visible"/>
                                      </p:to>
                                    </p:set>
                                    <p:animEffect transition="in" filter="box(in)">
                                      <p:cBhvr>
                                        <p:cTn id="7" dur="500"/>
                                        <p:tgtEl>
                                          <p:spTgt spid="3686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6868"/>
                                        </p:tgtEl>
                                        <p:attrNameLst>
                                          <p:attrName>style.visibility</p:attrName>
                                        </p:attrNameLst>
                                      </p:cBhvr>
                                      <p:to>
                                        <p:strVal val="visible"/>
                                      </p:to>
                                    </p:set>
                                    <p:animEffect transition="in" filter="checkerboard(across)">
                                      <p:cBhvr>
                                        <p:cTn id="12" dur="500"/>
                                        <p:tgtEl>
                                          <p:spTgt spid="36868"/>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heckerboard(across)">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checkerboard(across)">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checkerboard(across)">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6884"/>
                                        </p:tgtEl>
                                        <p:attrNameLst>
                                          <p:attrName>style.visibility</p:attrName>
                                        </p:attrNameLst>
                                      </p:cBhvr>
                                      <p:to>
                                        <p:strVal val="visible"/>
                                      </p:to>
                                    </p:set>
                                    <p:animEffect transition="in" filter="checkerboard(across)">
                                      <p:cBhvr>
                                        <p:cTn id="32" dur="500"/>
                                        <p:tgtEl>
                                          <p:spTgt spid="36884"/>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36885"/>
                                        </p:tgtEl>
                                        <p:attrNameLst>
                                          <p:attrName>style.visibility</p:attrName>
                                        </p:attrNameLst>
                                      </p:cBhvr>
                                      <p:to>
                                        <p:strVal val="visible"/>
                                      </p:to>
                                    </p:set>
                                    <p:animEffect transition="in" filter="checkerboard(across)">
                                      <p:cBhvr>
                                        <p:cTn id="37" dur="500"/>
                                        <p:tgtEl>
                                          <p:spTgt spid="368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autoUpdateAnimBg="0"/>
      <p:bldP spid="36868" grpId="0" autoUpdateAnimBg="0"/>
      <p:bldP spid="36884"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3"/>
          <p:cNvSpPr>
            <a:spLocks noGrp="1"/>
          </p:cNvSpPr>
          <p:nvPr>
            <p:ph type="sldNum" sz="quarter" idx="12"/>
          </p:nvPr>
        </p:nvSpPr>
        <p:spPr>
          <a:noFill/>
        </p:spPr>
        <p:txBody>
          <a:bodyPr/>
          <a:lstStyle/>
          <a:p>
            <a:fld id="{7B283F7B-A75C-4C18-A061-48C409153D9E}" type="slidenum">
              <a:rPr lang="en-US" altLang="zh-CN" smtClean="0">
                <a:latin typeface="Times New Roman" pitchFamily="18" charset="0"/>
                <a:ea typeface="华文中宋" pitchFamily="2" charset="-122"/>
                <a:cs typeface="Times New Roman" pitchFamily="18" charset="0"/>
              </a:rPr>
              <a:pPr/>
              <a:t>32</a:t>
            </a:fld>
            <a:endParaRPr lang="en-US" altLang="zh-CN" smtClean="0">
              <a:latin typeface="Times New Roman" pitchFamily="18" charset="0"/>
              <a:ea typeface="华文中宋" pitchFamily="2" charset="-122"/>
              <a:cs typeface="Times New Roman" pitchFamily="18" charset="0"/>
            </a:endParaRPr>
          </a:p>
        </p:txBody>
      </p:sp>
      <p:sp>
        <p:nvSpPr>
          <p:cNvPr id="69635" name="Text Box 2"/>
          <p:cNvSpPr txBox="1">
            <a:spLocks noChangeArrowheads="1"/>
          </p:cNvSpPr>
          <p:nvPr/>
        </p:nvSpPr>
        <p:spPr bwMode="auto">
          <a:xfrm>
            <a:off x="4364038" y="0"/>
            <a:ext cx="477996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各种体系的能级分布和微观状态数</a:t>
            </a:r>
            <a:endParaRPr lang="zh-CN" altLang="en-US" sz="2400">
              <a:solidFill>
                <a:schemeClr val="bg1"/>
              </a:solidFill>
              <a:latin typeface="Times New Roman" pitchFamily="18" charset="0"/>
            </a:endParaRPr>
          </a:p>
        </p:txBody>
      </p:sp>
      <p:sp>
        <p:nvSpPr>
          <p:cNvPr id="37891" name="Rectangle 3"/>
          <p:cNvSpPr>
            <a:spLocks noGrp="1" noRot="1" noChangeArrowheads="1"/>
          </p:cNvSpPr>
          <p:nvPr/>
        </p:nvSpPr>
        <p:spPr bwMode="auto">
          <a:xfrm>
            <a:off x="374650" y="228600"/>
            <a:ext cx="8540750" cy="1143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离域子的分类</a:t>
            </a:r>
          </a:p>
        </p:txBody>
      </p:sp>
      <p:sp>
        <p:nvSpPr>
          <p:cNvPr id="37892" name="Text Box 4"/>
          <p:cNvSpPr txBox="1">
            <a:spLocks noChangeArrowheads="1"/>
          </p:cNvSpPr>
          <p:nvPr/>
        </p:nvSpPr>
        <p:spPr bwMode="auto">
          <a:xfrm>
            <a:off x="819150" y="1279525"/>
            <a:ext cx="7362913" cy="461665"/>
          </a:xfrm>
          <a:prstGeom prst="rect">
            <a:avLst/>
          </a:prstGeom>
          <a:noFill/>
          <a:ln w="38100">
            <a:solidFill>
              <a:schemeClr val="accent1"/>
            </a:solidFill>
            <a:miter lim="800000"/>
            <a:headEnd/>
            <a:tailEnd/>
          </a:ln>
        </p:spPr>
        <p:txBody>
          <a:bodyPr wrap="none">
            <a:spAutoFit/>
          </a:bodyPr>
          <a:lstStyle/>
          <a:p>
            <a:r>
              <a:rPr lang="zh-CN" altLang="en-US" sz="2400" b="1">
                <a:solidFill>
                  <a:srgbClr val="D2DC08"/>
                </a:solidFill>
                <a:latin typeface="Times New Roman" pitchFamily="18" charset="0"/>
                <a:ea typeface="华文中宋" pitchFamily="2" charset="-122"/>
                <a:cs typeface="Times New Roman" pitchFamily="18" charset="0"/>
              </a:rPr>
              <a:t>离域子体系的特点：粒子没有确定位置，不可分辨。 </a:t>
            </a:r>
          </a:p>
        </p:txBody>
      </p:sp>
      <p:grpSp>
        <p:nvGrpSpPr>
          <p:cNvPr id="2" name="Group 18"/>
          <p:cNvGrpSpPr>
            <a:grpSpLocks/>
          </p:cNvGrpSpPr>
          <p:nvPr/>
        </p:nvGrpSpPr>
        <p:grpSpPr bwMode="auto">
          <a:xfrm>
            <a:off x="2041525" y="1903413"/>
            <a:ext cx="4900613" cy="949325"/>
            <a:chOff x="1286" y="1199"/>
            <a:chExt cx="3087" cy="598"/>
          </a:xfrm>
        </p:grpSpPr>
        <p:sp>
          <p:nvSpPr>
            <p:cNvPr id="69649" name="Text Box 5"/>
            <p:cNvSpPr txBox="1">
              <a:spLocks noChangeArrowheads="1"/>
            </p:cNvSpPr>
            <p:nvPr/>
          </p:nvSpPr>
          <p:spPr bwMode="auto">
            <a:xfrm>
              <a:off x="2524" y="1199"/>
              <a:ext cx="695" cy="288"/>
            </a:xfrm>
            <a:prstGeom prst="rect">
              <a:avLst/>
            </a:prstGeom>
            <a:solidFill>
              <a:schemeClr val="tx2"/>
            </a:solid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离域子</a:t>
              </a:r>
            </a:p>
          </p:txBody>
        </p:sp>
        <p:sp>
          <p:nvSpPr>
            <p:cNvPr id="69650" name="Text Box 6"/>
            <p:cNvSpPr txBox="1">
              <a:spLocks noChangeArrowheads="1"/>
            </p:cNvSpPr>
            <p:nvPr/>
          </p:nvSpPr>
          <p:spPr bwMode="auto">
            <a:xfrm>
              <a:off x="1286" y="1545"/>
              <a:ext cx="739" cy="252"/>
            </a:xfrm>
            <a:prstGeom prst="rect">
              <a:avLst/>
            </a:prstGeom>
            <a:solidFill>
              <a:schemeClr val="hlink"/>
            </a:solidFill>
            <a:ln w="9525">
              <a:noFill/>
              <a:miter lim="800000"/>
              <a:headEnd/>
              <a:tailEnd/>
            </a:ln>
          </p:spPr>
          <p:txBody>
            <a:bodyPr wrap="none">
              <a:spAutoFit/>
            </a:bodyPr>
            <a:lstStyle/>
            <a:p>
              <a:r>
                <a:rPr lang="en-US" altLang="zh-CN" sz="2000" b="1">
                  <a:solidFill>
                    <a:schemeClr val="bg1"/>
                  </a:solidFill>
                  <a:latin typeface="Times New Roman" pitchFamily="18" charset="0"/>
                  <a:ea typeface="华文中宋" pitchFamily="2" charset="-122"/>
                  <a:cs typeface="Times New Roman" pitchFamily="18" charset="0"/>
                </a:rPr>
                <a:t>Fermi</a:t>
              </a:r>
              <a:r>
                <a:rPr lang="zh-CN" altLang="en-US" sz="2000" b="1">
                  <a:solidFill>
                    <a:schemeClr val="bg1"/>
                  </a:solidFill>
                  <a:latin typeface="Times New Roman" pitchFamily="18" charset="0"/>
                  <a:ea typeface="华文中宋" pitchFamily="2" charset="-122"/>
                  <a:cs typeface="Times New Roman" pitchFamily="18" charset="0"/>
                </a:rPr>
                <a:t>子 </a:t>
              </a:r>
            </a:p>
          </p:txBody>
        </p:sp>
        <p:sp>
          <p:nvSpPr>
            <p:cNvPr id="69651" name="Text Box 7"/>
            <p:cNvSpPr txBox="1">
              <a:spLocks noChangeArrowheads="1"/>
            </p:cNvSpPr>
            <p:nvPr/>
          </p:nvSpPr>
          <p:spPr bwMode="auto">
            <a:xfrm>
              <a:off x="3732" y="1536"/>
              <a:ext cx="641" cy="252"/>
            </a:xfrm>
            <a:prstGeom prst="rect">
              <a:avLst/>
            </a:prstGeom>
            <a:solidFill>
              <a:schemeClr val="accent3">
                <a:lumMod val="95000"/>
              </a:schemeClr>
            </a:solidFill>
            <a:ln w="9525">
              <a:noFill/>
              <a:miter lim="800000"/>
              <a:headEnd/>
              <a:tailEnd/>
            </a:ln>
          </p:spPr>
          <p:txBody>
            <a:bodyPr wrap="none">
              <a:spAutoFit/>
            </a:bodyPr>
            <a:lstStyle/>
            <a:p>
              <a:r>
                <a:rPr lang="en-US" altLang="zh-CN" sz="2000" b="1" dirty="0">
                  <a:latin typeface="Times New Roman" pitchFamily="18" charset="0"/>
                  <a:ea typeface="华文中宋" pitchFamily="2" charset="-122"/>
                  <a:cs typeface="Times New Roman" pitchFamily="18" charset="0"/>
                </a:rPr>
                <a:t>Bose</a:t>
              </a:r>
              <a:r>
                <a:rPr lang="zh-CN" altLang="en-US" sz="2000" b="1" dirty="0">
                  <a:latin typeface="Times New Roman" pitchFamily="18" charset="0"/>
                  <a:ea typeface="华文中宋" pitchFamily="2" charset="-122"/>
                  <a:cs typeface="Times New Roman" pitchFamily="18" charset="0"/>
                </a:rPr>
                <a:t>子</a:t>
              </a:r>
              <a:r>
                <a:rPr lang="zh-CN" altLang="en-US" sz="2000" b="1" dirty="0">
                  <a:solidFill>
                    <a:schemeClr val="bg1"/>
                  </a:solidFill>
                  <a:latin typeface="Times New Roman" pitchFamily="18" charset="0"/>
                  <a:ea typeface="华文中宋" pitchFamily="2" charset="-122"/>
                  <a:cs typeface="Times New Roman" pitchFamily="18" charset="0"/>
                </a:rPr>
                <a:t> </a:t>
              </a:r>
            </a:p>
          </p:txBody>
        </p:sp>
        <p:sp>
          <p:nvSpPr>
            <p:cNvPr id="69652" name="Line 14"/>
            <p:cNvSpPr>
              <a:spLocks noChangeShapeType="1"/>
            </p:cNvSpPr>
            <p:nvPr/>
          </p:nvSpPr>
          <p:spPr bwMode="auto">
            <a:xfrm flipH="1">
              <a:off x="1656" y="1392"/>
              <a:ext cx="864" cy="144"/>
            </a:xfrm>
            <a:prstGeom prst="line">
              <a:avLst/>
            </a:prstGeom>
            <a:noFill/>
            <a:ln w="38100">
              <a:solidFill>
                <a:schemeClr val="accent2"/>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sp>
          <p:nvSpPr>
            <p:cNvPr id="69653" name="Line 15"/>
            <p:cNvSpPr>
              <a:spLocks noChangeShapeType="1"/>
            </p:cNvSpPr>
            <p:nvPr/>
          </p:nvSpPr>
          <p:spPr bwMode="auto">
            <a:xfrm>
              <a:off x="3216" y="1392"/>
              <a:ext cx="816" cy="144"/>
            </a:xfrm>
            <a:prstGeom prst="line">
              <a:avLst/>
            </a:prstGeom>
            <a:noFill/>
            <a:ln w="38100">
              <a:solidFill>
                <a:schemeClr val="accent2"/>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3" name="Group 19"/>
          <p:cNvGrpSpPr>
            <a:grpSpLocks/>
          </p:cNvGrpSpPr>
          <p:nvPr/>
        </p:nvGrpSpPr>
        <p:grpSpPr bwMode="auto">
          <a:xfrm>
            <a:off x="1143000" y="2819400"/>
            <a:ext cx="3414713" cy="3832225"/>
            <a:chOff x="720" y="1776"/>
            <a:chExt cx="2151" cy="2414"/>
          </a:xfrm>
        </p:grpSpPr>
        <p:sp>
          <p:nvSpPr>
            <p:cNvPr id="69645" name="Text Box 8"/>
            <p:cNvSpPr txBox="1">
              <a:spLocks noChangeArrowheads="1"/>
            </p:cNvSpPr>
            <p:nvPr/>
          </p:nvSpPr>
          <p:spPr bwMode="auto">
            <a:xfrm>
              <a:off x="720" y="2062"/>
              <a:ext cx="2148" cy="834"/>
            </a:xfrm>
            <a:prstGeom prst="rect">
              <a:avLst/>
            </a:prstGeom>
            <a:solidFill>
              <a:schemeClr val="hlink"/>
            </a:solidFill>
            <a:ln w="9525">
              <a:noFill/>
              <a:miter lim="800000"/>
              <a:headEnd/>
              <a:tailEnd/>
            </a:ln>
          </p:spPr>
          <p:txBody>
            <a:bodyPr wrap="none">
              <a:spAutoFit/>
            </a:bodyPr>
            <a:lstStyle/>
            <a:p>
              <a:r>
                <a:rPr lang="zh-CN" altLang="en-US" sz="2000" b="1">
                  <a:solidFill>
                    <a:schemeClr val="bg1"/>
                  </a:solidFill>
                  <a:latin typeface="Times New Roman" pitchFamily="18" charset="0"/>
                  <a:ea typeface="华文中宋" pitchFamily="2" charset="-122"/>
                  <a:cs typeface="Times New Roman" pitchFamily="18" charset="0"/>
                </a:rPr>
                <a:t>电子、质子和中子等，自旋</a:t>
              </a:r>
            </a:p>
            <a:p>
              <a:r>
                <a:rPr lang="zh-CN" altLang="en-US" sz="2000" b="1">
                  <a:solidFill>
                    <a:schemeClr val="bg1"/>
                  </a:solidFill>
                  <a:latin typeface="Times New Roman" pitchFamily="18" charset="0"/>
                  <a:ea typeface="华文中宋" pitchFamily="2" charset="-122"/>
                  <a:cs typeface="Times New Roman" pitchFamily="18" charset="0"/>
                </a:rPr>
                <a:t>量子数为半整数，组合的总</a:t>
              </a:r>
            </a:p>
            <a:p>
              <a:r>
                <a:rPr lang="zh-CN" altLang="en-US" sz="2000" b="1">
                  <a:solidFill>
                    <a:schemeClr val="bg1"/>
                  </a:solidFill>
                  <a:latin typeface="Times New Roman" pitchFamily="18" charset="0"/>
                  <a:ea typeface="华文中宋" pitchFamily="2" charset="-122"/>
                  <a:cs typeface="Times New Roman" pitchFamily="18" charset="0"/>
                </a:rPr>
                <a:t>波函数对于粒子交换是反对</a:t>
              </a:r>
            </a:p>
            <a:p>
              <a:r>
                <a:rPr lang="zh-CN" altLang="en-US" sz="2000" b="1">
                  <a:solidFill>
                    <a:schemeClr val="bg1"/>
                  </a:solidFill>
                  <a:latin typeface="Times New Roman" pitchFamily="18" charset="0"/>
                  <a:ea typeface="华文中宋" pitchFamily="2" charset="-122"/>
                  <a:cs typeface="Times New Roman" pitchFamily="18" charset="0"/>
                </a:rPr>
                <a:t>称的，遵从</a:t>
              </a:r>
              <a:r>
                <a:rPr lang="en-US" altLang="zh-CN" sz="2000" b="1">
                  <a:solidFill>
                    <a:schemeClr val="bg1"/>
                  </a:solidFill>
                  <a:latin typeface="Times New Roman" pitchFamily="18" charset="0"/>
                  <a:ea typeface="华文中宋" pitchFamily="2" charset="-122"/>
                  <a:cs typeface="Times New Roman" pitchFamily="18" charset="0"/>
                </a:rPr>
                <a:t>Fermi-Dirac</a:t>
              </a:r>
              <a:r>
                <a:rPr lang="zh-CN" altLang="en-US" sz="2000" b="1">
                  <a:solidFill>
                    <a:schemeClr val="bg1"/>
                  </a:solidFill>
                  <a:latin typeface="Times New Roman" pitchFamily="18" charset="0"/>
                  <a:ea typeface="华文中宋" pitchFamily="2" charset="-122"/>
                  <a:cs typeface="Times New Roman" pitchFamily="18" charset="0"/>
                </a:rPr>
                <a:t>统计 </a:t>
              </a:r>
            </a:p>
          </p:txBody>
        </p:sp>
        <p:sp>
          <p:nvSpPr>
            <p:cNvPr id="69646" name="Text Box 10"/>
            <p:cNvSpPr txBox="1">
              <a:spLocks noChangeArrowheads="1"/>
            </p:cNvSpPr>
            <p:nvPr/>
          </p:nvSpPr>
          <p:spPr bwMode="auto">
            <a:xfrm>
              <a:off x="720" y="2985"/>
              <a:ext cx="2088" cy="442"/>
            </a:xfrm>
            <a:prstGeom prst="rect">
              <a:avLst/>
            </a:prstGeom>
            <a:solidFill>
              <a:schemeClr val="hlink"/>
            </a:solidFill>
            <a:ln w="9525">
              <a:noFill/>
              <a:miter lim="800000"/>
              <a:headEnd/>
              <a:tailEnd/>
            </a:ln>
          </p:spPr>
          <p:txBody>
            <a:bodyPr wrap="none">
              <a:spAutoFit/>
            </a:bodyPr>
            <a:lstStyle/>
            <a:p>
              <a:r>
                <a:rPr lang="zh-CN" altLang="en-US" sz="2000" b="1" u="sng">
                  <a:solidFill>
                    <a:schemeClr val="bg1"/>
                  </a:solidFill>
                  <a:latin typeface="Times New Roman" pitchFamily="18" charset="0"/>
                  <a:ea typeface="华文中宋" pitchFamily="2" charset="-122"/>
                  <a:cs typeface="Times New Roman" pitchFamily="18" charset="0"/>
                </a:rPr>
                <a:t>遵循</a:t>
              </a:r>
              <a:r>
                <a:rPr lang="en-US" altLang="zh-CN" sz="2000" b="1" u="sng">
                  <a:solidFill>
                    <a:schemeClr val="bg1"/>
                  </a:solidFill>
                  <a:latin typeface="Times New Roman" pitchFamily="18" charset="0"/>
                  <a:ea typeface="华文中宋" pitchFamily="2" charset="-122"/>
                  <a:cs typeface="Times New Roman" pitchFamily="18" charset="0"/>
                </a:rPr>
                <a:t>Pauli</a:t>
              </a:r>
              <a:r>
                <a:rPr lang="zh-CN" altLang="en-US" sz="2000" b="1" u="sng">
                  <a:solidFill>
                    <a:schemeClr val="bg1"/>
                  </a:solidFill>
                  <a:latin typeface="Times New Roman" pitchFamily="18" charset="0"/>
                  <a:ea typeface="华文中宋" pitchFamily="2" charset="-122"/>
                  <a:cs typeface="Times New Roman" pitchFamily="18" charset="0"/>
                </a:rPr>
                <a:t>不相容原理，一</a:t>
              </a:r>
            </a:p>
            <a:p>
              <a:r>
                <a:rPr lang="zh-CN" altLang="en-US" sz="2000" b="1" u="sng">
                  <a:solidFill>
                    <a:schemeClr val="bg1"/>
                  </a:solidFill>
                  <a:latin typeface="Times New Roman" pitchFamily="18" charset="0"/>
                  <a:ea typeface="华文中宋" pitchFamily="2" charset="-122"/>
                  <a:cs typeface="Times New Roman" pitchFamily="18" charset="0"/>
                </a:rPr>
                <a:t>个量子态只能允许一个粒子</a:t>
              </a:r>
              <a:r>
                <a:rPr lang="zh-CN" altLang="en-US" sz="2000" b="1">
                  <a:solidFill>
                    <a:schemeClr val="bg1"/>
                  </a:solidFill>
                  <a:latin typeface="Times New Roman" pitchFamily="18" charset="0"/>
                  <a:ea typeface="华文中宋" pitchFamily="2" charset="-122"/>
                  <a:cs typeface="Times New Roman" pitchFamily="18" charset="0"/>
                </a:rPr>
                <a:t> </a:t>
              </a:r>
            </a:p>
          </p:txBody>
        </p:sp>
        <p:sp>
          <p:nvSpPr>
            <p:cNvPr id="69647" name="Text Box 12"/>
            <p:cNvSpPr txBox="1">
              <a:spLocks noChangeArrowheads="1"/>
            </p:cNvSpPr>
            <p:nvPr/>
          </p:nvSpPr>
          <p:spPr bwMode="auto">
            <a:xfrm>
              <a:off x="720" y="3550"/>
              <a:ext cx="2151" cy="640"/>
            </a:xfrm>
            <a:prstGeom prst="rect">
              <a:avLst/>
            </a:prstGeom>
            <a:solidFill>
              <a:schemeClr val="hlink"/>
            </a:solidFill>
            <a:ln w="9525">
              <a:noFill/>
              <a:miter lim="800000"/>
              <a:headEnd/>
              <a:tailEnd/>
            </a:ln>
          </p:spPr>
          <p:txBody>
            <a:bodyPr wrap="none">
              <a:spAutoFit/>
            </a:bodyPr>
            <a:lstStyle/>
            <a:p>
              <a:r>
                <a:rPr lang="zh-CN" altLang="en-US" sz="2000" b="1">
                  <a:solidFill>
                    <a:schemeClr val="bg1"/>
                  </a:solidFill>
                  <a:latin typeface="Times New Roman" pitchFamily="18" charset="0"/>
                  <a:ea typeface="华文中宋" pitchFamily="2" charset="-122"/>
                  <a:cs typeface="Times New Roman" pitchFamily="18" charset="0"/>
                </a:rPr>
                <a:t>电子、质子和中子的总数是</a:t>
              </a:r>
            </a:p>
            <a:p>
              <a:r>
                <a:rPr lang="zh-CN" altLang="en-US" sz="2000" b="1">
                  <a:solidFill>
                    <a:schemeClr val="bg1"/>
                  </a:solidFill>
                  <a:latin typeface="Times New Roman" pitchFamily="18" charset="0"/>
                  <a:ea typeface="华文中宋" pitchFamily="2" charset="-122"/>
                  <a:cs typeface="Times New Roman" pitchFamily="18" charset="0"/>
                </a:rPr>
                <a:t>奇数，如</a:t>
              </a:r>
              <a:r>
                <a:rPr lang="en-US" altLang="zh-CN" sz="2000" b="1">
                  <a:solidFill>
                    <a:schemeClr val="bg1"/>
                  </a:solidFill>
                  <a:latin typeface="Times New Roman" pitchFamily="18" charset="0"/>
                  <a:ea typeface="华文中宋" pitchFamily="2" charset="-122"/>
                  <a:cs typeface="Times New Roman" pitchFamily="18" charset="0"/>
                </a:rPr>
                <a:t>H</a:t>
              </a:r>
              <a:r>
                <a:rPr lang="en-US" altLang="zh-CN" sz="2000" b="1" baseline="30000">
                  <a:solidFill>
                    <a:schemeClr val="bg1"/>
                  </a:solidFill>
                  <a:latin typeface="Times New Roman" pitchFamily="18" charset="0"/>
                  <a:ea typeface="华文中宋" pitchFamily="2" charset="-122"/>
                  <a:cs typeface="Times New Roman" pitchFamily="18" charset="0"/>
                </a:rPr>
                <a:t>2</a:t>
              </a:r>
              <a:r>
                <a:rPr lang="zh-CN" altLang="en-US" sz="2000" b="1">
                  <a:solidFill>
                    <a:schemeClr val="bg1"/>
                  </a:solidFill>
                  <a:latin typeface="Times New Roman" pitchFamily="18" charset="0"/>
                  <a:ea typeface="华文中宋" pitchFamily="2" charset="-122"/>
                  <a:cs typeface="Times New Roman" pitchFamily="18" charset="0"/>
                </a:rPr>
                <a:t>、</a:t>
              </a:r>
              <a:r>
                <a:rPr lang="en-US" altLang="zh-CN" sz="2000" b="1">
                  <a:solidFill>
                    <a:schemeClr val="bg1"/>
                  </a:solidFill>
                  <a:latin typeface="Times New Roman" pitchFamily="18" charset="0"/>
                  <a:ea typeface="华文中宋" pitchFamily="2" charset="-122"/>
                  <a:cs typeface="Times New Roman" pitchFamily="18" charset="0"/>
                </a:rPr>
                <a:t>He</a:t>
              </a:r>
              <a:r>
                <a:rPr lang="en-US" altLang="zh-CN" sz="2000" b="1" baseline="30000">
                  <a:solidFill>
                    <a:schemeClr val="bg1"/>
                  </a:solidFill>
                  <a:latin typeface="Times New Roman" pitchFamily="18" charset="0"/>
                  <a:ea typeface="华文中宋" pitchFamily="2" charset="-122"/>
                  <a:cs typeface="Times New Roman" pitchFamily="18" charset="0"/>
                </a:rPr>
                <a:t>3</a:t>
              </a:r>
              <a:r>
                <a:rPr lang="zh-CN" altLang="en-US" sz="2000" b="1">
                  <a:solidFill>
                    <a:schemeClr val="bg1"/>
                  </a:solidFill>
                  <a:latin typeface="Times New Roman" pitchFamily="18" charset="0"/>
                  <a:ea typeface="华文中宋" pitchFamily="2" charset="-122"/>
                  <a:cs typeface="Times New Roman" pitchFamily="18" charset="0"/>
                </a:rPr>
                <a:t>服从</a:t>
              </a:r>
              <a:r>
                <a:rPr lang="en-US" altLang="zh-CN" sz="2000" b="1">
                  <a:solidFill>
                    <a:schemeClr val="bg1"/>
                  </a:solidFill>
                  <a:latin typeface="Times New Roman" pitchFamily="18" charset="0"/>
                  <a:ea typeface="华文中宋" pitchFamily="2" charset="-122"/>
                  <a:cs typeface="Times New Roman" pitchFamily="18" charset="0"/>
                </a:rPr>
                <a:t>Fermi-</a:t>
              </a:r>
            </a:p>
            <a:p>
              <a:r>
                <a:rPr lang="en-US" altLang="zh-CN" sz="2000" b="1">
                  <a:solidFill>
                    <a:schemeClr val="bg1"/>
                  </a:solidFill>
                  <a:latin typeface="Times New Roman" pitchFamily="18" charset="0"/>
                  <a:ea typeface="华文中宋" pitchFamily="2" charset="-122"/>
                  <a:cs typeface="Times New Roman" pitchFamily="18" charset="0"/>
                </a:rPr>
                <a:t>Dirac</a:t>
              </a:r>
              <a:r>
                <a:rPr lang="zh-CN" altLang="en-US" sz="2000" b="1">
                  <a:solidFill>
                    <a:schemeClr val="bg1"/>
                  </a:solidFill>
                  <a:latin typeface="Times New Roman" pitchFamily="18" charset="0"/>
                  <a:ea typeface="华文中宋" pitchFamily="2" charset="-122"/>
                  <a:cs typeface="Times New Roman" pitchFamily="18" charset="0"/>
                </a:rPr>
                <a:t>统计 </a:t>
              </a:r>
            </a:p>
          </p:txBody>
        </p:sp>
        <p:sp>
          <p:nvSpPr>
            <p:cNvPr id="69648" name="Line 16"/>
            <p:cNvSpPr>
              <a:spLocks noChangeShapeType="1"/>
            </p:cNvSpPr>
            <p:nvPr/>
          </p:nvSpPr>
          <p:spPr bwMode="auto">
            <a:xfrm>
              <a:off x="1632" y="1776"/>
              <a:ext cx="0" cy="288"/>
            </a:xfrm>
            <a:prstGeom prst="line">
              <a:avLst/>
            </a:prstGeom>
            <a:noFill/>
            <a:ln w="38100">
              <a:solidFill>
                <a:schemeClr val="hlink"/>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4" name="Group 20"/>
          <p:cNvGrpSpPr>
            <a:grpSpLocks/>
          </p:cNvGrpSpPr>
          <p:nvPr/>
        </p:nvGrpSpPr>
        <p:grpSpPr bwMode="auto">
          <a:xfrm>
            <a:off x="5067301" y="2819400"/>
            <a:ext cx="3490913" cy="3832225"/>
            <a:chOff x="3192" y="1776"/>
            <a:chExt cx="2199" cy="2414"/>
          </a:xfrm>
        </p:grpSpPr>
        <p:sp>
          <p:nvSpPr>
            <p:cNvPr id="69641" name="Text Box 9"/>
            <p:cNvSpPr txBox="1">
              <a:spLocks noChangeArrowheads="1"/>
            </p:cNvSpPr>
            <p:nvPr/>
          </p:nvSpPr>
          <p:spPr bwMode="auto">
            <a:xfrm>
              <a:off x="3206" y="2062"/>
              <a:ext cx="2048" cy="826"/>
            </a:xfrm>
            <a:prstGeom prst="rect">
              <a:avLst/>
            </a:prstGeom>
            <a:solidFill>
              <a:schemeClr val="accent3">
                <a:lumMod val="95000"/>
              </a:schemeClr>
            </a:solidFill>
            <a:ln w="9525">
              <a:noFill/>
              <a:miter lim="800000"/>
              <a:headEnd/>
              <a:tailEnd/>
            </a:ln>
          </p:spPr>
          <p:txBody>
            <a:bodyPr wrap="none">
              <a:spAutoFit/>
            </a:bodyPr>
            <a:lstStyle/>
            <a:p>
              <a:r>
                <a:rPr lang="zh-CN" altLang="en-US" sz="2000" b="1" dirty="0">
                  <a:latin typeface="Times New Roman" pitchFamily="18" charset="0"/>
                  <a:ea typeface="华文中宋" pitchFamily="2" charset="-122"/>
                  <a:cs typeface="Times New Roman" pitchFamily="18" charset="0"/>
                </a:rPr>
                <a:t>以光子为代表，自旋量子数</a:t>
              </a:r>
            </a:p>
            <a:p>
              <a:r>
                <a:rPr lang="zh-CN" altLang="en-US" sz="2000" b="1" dirty="0">
                  <a:latin typeface="Times New Roman" pitchFamily="18" charset="0"/>
                  <a:ea typeface="华文中宋" pitchFamily="2" charset="-122"/>
                  <a:cs typeface="Times New Roman" pitchFamily="18" charset="0"/>
                </a:rPr>
                <a:t>为整数，组合的总波函数对</a:t>
              </a:r>
            </a:p>
            <a:p>
              <a:r>
                <a:rPr lang="zh-CN" altLang="en-US" sz="2000" b="1" dirty="0">
                  <a:latin typeface="Times New Roman" pitchFamily="18" charset="0"/>
                  <a:ea typeface="华文中宋" pitchFamily="2" charset="-122"/>
                  <a:cs typeface="Times New Roman" pitchFamily="18" charset="0"/>
                </a:rPr>
                <a:t>于量子交换是对称的，遵从</a:t>
              </a:r>
            </a:p>
            <a:p>
              <a:r>
                <a:rPr lang="en-US" altLang="zh-CN" sz="2000" b="1" dirty="0">
                  <a:latin typeface="Times New Roman" pitchFamily="18" charset="0"/>
                  <a:ea typeface="华文中宋" pitchFamily="2" charset="-122"/>
                  <a:cs typeface="Times New Roman" pitchFamily="18" charset="0"/>
                </a:rPr>
                <a:t>Bose-Einstein</a:t>
              </a:r>
              <a:r>
                <a:rPr lang="zh-CN" altLang="en-US" sz="2000" b="1" dirty="0">
                  <a:latin typeface="Times New Roman" pitchFamily="18" charset="0"/>
                  <a:ea typeface="华文中宋" pitchFamily="2" charset="-122"/>
                  <a:cs typeface="Times New Roman" pitchFamily="18" charset="0"/>
                </a:rPr>
                <a:t>统计 </a:t>
              </a:r>
            </a:p>
          </p:txBody>
        </p:sp>
        <p:sp>
          <p:nvSpPr>
            <p:cNvPr id="69642" name="Text Box 11"/>
            <p:cNvSpPr txBox="1">
              <a:spLocks noChangeArrowheads="1"/>
            </p:cNvSpPr>
            <p:nvPr/>
          </p:nvSpPr>
          <p:spPr bwMode="auto">
            <a:xfrm>
              <a:off x="3192" y="2985"/>
              <a:ext cx="2133" cy="446"/>
            </a:xfrm>
            <a:prstGeom prst="rect">
              <a:avLst/>
            </a:prstGeom>
            <a:solidFill>
              <a:schemeClr val="accent3">
                <a:lumMod val="95000"/>
              </a:schemeClr>
            </a:solidFill>
            <a:ln w="9525">
              <a:noFill/>
              <a:miter lim="800000"/>
              <a:headEnd/>
              <a:tailEnd/>
            </a:ln>
          </p:spPr>
          <p:txBody>
            <a:bodyPr wrap="none">
              <a:spAutoFit/>
            </a:bodyPr>
            <a:lstStyle/>
            <a:p>
              <a:r>
                <a:rPr lang="zh-CN" altLang="en-US" sz="2000" b="1" u="sng">
                  <a:latin typeface="Times New Roman" pitchFamily="18" charset="0"/>
                  <a:ea typeface="华文中宋" pitchFamily="2" charset="-122"/>
                  <a:cs typeface="Times New Roman" pitchFamily="18" charset="0"/>
                </a:rPr>
                <a:t>不遵循</a:t>
              </a:r>
              <a:r>
                <a:rPr lang="en-US" altLang="zh-CN" sz="2000" b="1" u="sng">
                  <a:latin typeface="Times New Roman" pitchFamily="18" charset="0"/>
                  <a:ea typeface="华文中宋" pitchFamily="2" charset="-122"/>
                  <a:cs typeface="Times New Roman" pitchFamily="18" charset="0"/>
                </a:rPr>
                <a:t>Pauli</a:t>
              </a:r>
              <a:r>
                <a:rPr lang="zh-CN" altLang="en-US" sz="2000" b="1" u="sng">
                  <a:latin typeface="Times New Roman" pitchFamily="18" charset="0"/>
                  <a:ea typeface="华文中宋" pitchFamily="2" charset="-122"/>
                  <a:cs typeface="Times New Roman" pitchFamily="18" charset="0"/>
                </a:rPr>
                <a:t>不相容原理，一</a:t>
              </a:r>
            </a:p>
            <a:p>
              <a:r>
                <a:rPr lang="zh-CN" altLang="en-US" sz="2000" b="1" u="sng">
                  <a:latin typeface="Times New Roman" pitchFamily="18" charset="0"/>
                  <a:ea typeface="华文中宋" pitchFamily="2" charset="-122"/>
                  <a:cs typeface="Times New Roman" pitchFamily="18" charset="0"/>
                </a:rPr>
                <a:t>个量子态允许多个粒子共存</a:t>
              </a:r>
              <a:r>
                <a:rPr lang="zh-CN" altLang="en-US" sz="2000" b="1">
                  <a:latin typeface="Times New Roman" pitchFamily="18" charset="0"/>
                  <a:ea typeface="华文中宋" pitchFamily="2" charset="-122"/>
                  <a:cs typeface="Times New Roman" pitchFamily="18" charset="0"/>
                </a:rPr>
                <a:t> </a:t>
              </a:r>
            </a:p>
          </p:txBody>
        </p:sp>
        <p:sp>
          <p:nvSpPr>
            <p:cNvPr id="69643" name="Text Box 13"/>
            <p:cNvSpPr txBox="1">
              <a:spLocks noChangeArrowheads="1"/>
            </p:cNvSpPr>
            <p:nvPr/>
          </p:nvSpPr>
          <p:spPr bwMode="auto">
            <a:xfrm>
              <a:off x="3216" y="3550"/>
              <a:ext cx="2175" cy="640"/>
            </a:xfrm>
            <a:prstGeom prst="rect">
              <a:avLst/>
            </a:prstGeom>
            <a:solidFill>
              <a:schemeClr val="accent3">
                <a:lumMod val="95000"/>
              </a:schemeClr>
            </a:solidFill>
            <a:ln w="9525">
              <a:noFill/>
              <a:miter lim="800000"/>
              <a:headEnd/>
              <a:tailEnd/>
            </a:ln>
          </p:spPr>
          <p:txBody>
            <a:bodyPr wrap="none">
              <a:spAutoFit/>
            </a:bodyPr>
            <a:lstStyle/>
            <a:p>
              <a:r>
                <a:rPr lang="zh-CN" altLang="en-US" sz="2000" b="1">
                  <a:latin typeface="Times New Roman" pitchFamily="18" charset="0"/>
                  <a:ea typeface="华文中宋" pitchFamily="2" charset="-122"/>
                  <a:cs typeface="Times New Roman" pitchFamily="18" charset="0"/>
                </a:rPr>
                <a:t>电子、质子和中子的总数是</a:t>
              </a:r>
            </a:p>
            <a:p>
              <a:r>
                <a:rPr lang="zh-CN" altLang="en-US" sz="2000" b="1">
                  <a:latin typeface="Times New Roman" pitchFamily="18" charset="0"/>
                  <a:ea typeface="华文中宋" pitchFamily="2" charset="-122"/>
                  <a:cs typeface="Times New Roman" pitchFamily="18" charset="0"/>
                </a:rPr>
                <a:t>偶数，如</a:t>
              </a:r>
              <a:r>
                <a:rPr lang="en-US" altLang="zh-CN" sz="2000" b="1">
                  <a:latin typeface="Times New Roman" pitchFamily="18" charset="0"/>
                  <a:ea typeface="华文中宋" pitchFamily="2" charset="-122"/>
                  <a:cs typeface="Times New Roman" pitchFamily="18" charset="0"/>
                </a:rPr>
                <a:t>H</a:t>
              </a:r>
              <a:r>
                <a:rPr lang="zh-CN" altLang="en-US" sz="2000" b="1">
                  <a:latin typeface="Times New Roman" pitchFamily="18" charset="0"/>
                  <a:ea typeface="华文中宋" pitchFamily="2" charset="-122"/>
                  <a:cs typeface="Times New Roman" pitchFamily="18" charset="0"/>
                </a:rPr>
                <a:t>、</a:t>
              </a:r>
              <a:r>
                <a:rPr lang="en-US" altLang="zh-CN" sz="2000" b="1">
                  <a:latin typeface="Times New Roman" pitchFamily="18" charset="0"/>
                  <a:ea typeface="华文中宋" pitchFamily="2" charset="-122"/>
                  <a:cs typeface="Times New Roman" pitchFamily="18" charset="0"/>
                </a:rPr>
                <a:t>H</a:t>
              </a:r>
              <a:r>
                <a:rPr lang="en-US" altLang="zh-CN" sz="2000" b="1" baseline="-30000">
                  <a:latin typeface="Times New Roman" pitchFamily="18" charset="0"/>
                  <a:ea typeface="华文中宋" pitchFamily="2" charset="-122"/>
                  <a:cs typeface="Times New Roman" pitchFamily="18" charset="0"/>
                </a:rPr>
                <a:t>2</a:t>
              </a:r>
              <a:r>
                <a:rPr lang="zh-CN" altLang="en-US" sz="2000" b="1">
                  <a:latin typeface="Times New Roman" pitchFamily="18" charset="0"/>
                  <a:ea typeface="华文中宋" pitchFamily="2" charset="-122"/>
                  <a:cs typeface="Times New Roman" pitchFamily="18" charset="0"/>
                </a:rPr>
                <a:t>、</a:t>
              </a:r>
              <a:r>
                <a:rPr lang="en-US" altLang="zh-CN" sz="2000" b="1">
                  <a:latin typeface="Times New Roman" pitchFamily="18" charset="0"/>
                  <a:ea typeface="华文中宋" pitchFamily="2" charset="-122"/>
                  <a:cs typeface="Times New Roman" pitchFamily="18" charset="0"/>
                </a:rPr>
                <a:t>He</a:t>
              </a:r>
              <a:r>
                <a:rPr lang="en-US" altLang="zh-CN" sz="2000" b="1" baseline="30000">
                  <a:latin typeface="Times New Roman" pitchFamily="18" charset="0"/>
                  <a:ea typeface="华文中宋" pitchFamily="2" charset="-122"/>
                  <a:cs typeface="Times New Roman" pitchFamily="18" charset="0"/>
                </a:rPr>
                <a:t>4</a:t>
              </a:r>
              <a:r>
                <a:rPr lang="zh-CN" altLang="en-US" sz="2000" b="1">
                  <a:latin typeface="Times New Roman" pitchFamily="18" charset="0"/>
                  <a:ea typeface="华文中宋" pitchFamily="2" charset="-122"/>
                  <a:cs typeface="Times New Roman" pitchFamily="18" charset="0"/>
                </a:rPr>
                <a:t>等服从</a:t>
              </a:r>
            </a:p>
            <a:p>
              <a:r>
                <a:rPr lang="en-US" altLang="zh-CN" sz="2000" b="1">
                  <a:latin typeface="Times New Roman" pitchFamily="18" charset="0"/>
                  <a:ea typeface="华文中宋" pitchFamily="2" charset="-122"/>
                  <a:cs typeface="Times New Roman" pitchFamily="18" charset="0"/>
                </a:rPr>
                <a:t>Bose-Einstein</a:t>
              </a:r>
              <a:r>
                <a:rPr lang="zh-CN" altLang="en-US" sz="2000" b="1">
                  <a:latin typeface="Times New Roman" pitchFamily="18" charset="0"/>
                  <a:ea typeface="华文中宋" pitchFamily="2" charset="-122"/>
                  <a:cs typeface="Times New Roman" pitchFamily="18" charset="0"/>
                </a:rPr>
                <a:t>统计 </a:t>
              </a:r>
            </a:p>
          </p:txBody>
        </p:sp>
        <p:sp>
          <p:nvSpPr>
            <p:cNvPr id="69644" name="Line 17"/>
            <p:cNvSpPr>
              <a:spLocks noChangeShapeType="1"/>
            </p:cNvSpPr>
            <p:nvPr/>
          </p:nvSpPr>
          <p:spPr bwMode="auto">
            <a:xfrm>
              <a:off x="4032" y="1776"/>
              <a:ext cx="0" cy="288"/>
            </a:xfrm>
            <a:prstGeom prst="line">
              <a:avLst/>
            </a:prstGeom>
            <a:noFill/>
            <a:ln w="38100">
              <a:solidFill>
                <a:schemeClr val="folHlink"/>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7891"/>
                                        </p:tgtEl>
                                        <p:attrNameLst>
                                          <p:attrName>style.visibility</p:attrName>
                                        </p:attrNameLst>
                                      </p:cBhvr>
                                      <p:to>
                                        <p:strVal val="visible"/>
                                      </p:to>
                                    </p:set>
                                    <p:animEffect transition="in" filter="box(in)">
                                      <p:cBhvr>
                                        <p:cTn id="7" dur="500"/>
                                        <p:tgtEl>
                                          <p:spTgt spid="3789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7892"/>
                                        </p:tgtEl>
                                        <p:attrNameLst>
                                          <p:attrName>style.visibility</p:attrName>
                                        </p:attrNameLst>
                                      </p:cBhvr>
                                      <p:to>
                                        <p:strVal val="visible"/>
                                      </p:to>
                                    </p:set>
                                    <p:animEffect transition="in" filter="checkerboard(across)">
                                      <p:cBhvr>
                                        <p:cTn id="12" dur="500"/>
                                        <p:tgtEl>
                                          <p:spTgt spid="37892"/>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heckerboard(across)">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checkerboard(across)">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checkerboard(across)">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autoUpdateAnimBg="0"/>
      <p:bldP spid="37892"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灯片编号占位符 3"/>
          <p:cNvSpPr>
            <a:spLocks noGrp="1"/>
          </p:cNvSpPr>
          <p:nvPr>
            <p:ph type="sldNum" sz="quarter" idx="12"/>
          </p:nvPr>
        </p:nvSpPr>
        <p:spPr>
          <a:noFill/>
        </p:spPr>
        <p:txBody>
          <a:bodyPr/>
          <a:lstStyle/>
          <a:p>
            <a:fld id="{95F01DC9-BB0C-4E4C-BB9B-C2813785D4E7}" type="slidenum">
              <a:rPr lang="en-US" altLang="zh-CN" smtClean="0">
                <a:latin typeface="Times New Roman" pitchFamily="18" charset="0"/>
                <a:ea typeface="华文中宋" pitchFamily="2" charset="-122"/>
                <a:cs typeface="Times New Roman" pitchFamily="18" charset="0"/>
              </a:rPr>
              <a:pPr/>
              <a:t>33</a:t>
            </a:fld>
            <a:endParaRPr lang="en-US" altLang="zh-CN" smtClean="0">
              <a:latin typeface="Times New Roman" pitchFamily="18" charset="0"/>
              <a:ea typeface="华文中宋" pitchFamily="2" charset="-122"/>
              <a:cs typeface="Times New Roman" pitchFamily="18" charset="0"/>
            </a:endParaRPr>
          </a:p>
        </p:txBody>
      </p:sp>
      <p:sp>
        <p:nvSpPr>
          <p:cNvPr id="19464" name="Text Box 2"/>
          <p:cNvSpPr txBox="1">
            <a:spLocks noChangeArrowheads="1"/>
          </p:cNvSpPr>
          <p:nvPr/>
        </p:nvSpPr>
        <p:spPr bwMode="auto">
          <a:xfrm>
            <a:off x="4364038" y="0"/>
            <a:ext cx="477996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各种体系的能级分布和微观状态数</a:t>
            </a:r>
            <a:endParaRPr lang="zh-CN" altLang="en-US" sz="2400">
              <a:solidFill>
                <a:schemeClr val="bg1"/>
              </a:solidFill>
              <a:latin typeface="Times New Roman" pitchFamily="18" charset="0"/>
            </a:endParaRPr>
          </a:p>
        </p:txBody>
      </p:sp>
      <p:sp>
        <p:nvSpPr>
          <p:cNvPr id="38915" name="Rectangle 3"/>
          <p:cNvSpPr>
            <a:spLocks noGrp="1" noRot="1" noChangeArrowheads="1"/>
          </p:cNvSpPr>
          <p:nvPr/>
        </p:nvSpPr>
        <p:spPr bwMode="auto">
          <a:xfrm>
            <a:off x="374650" y="228600"/>
            <a:ext cx="8540750" cy="1143000"/>
          </a:xfrm>
          <a:prstGeom prst="rect">
            <a:avLst/>
          </a:prstGeom>
          <a:noFill/>
          <a:ln w="9525">
            <a:noFill/>
            <a:miter lim="800000"/>
            <a:headEnd/>
            <a:tailEnd/>
          </a:ln>
        </p:spPr>
        <p:txBody>
          <a:bodyPr anchor="ctr"/>
          <a:lstStyle/>
          <a:p>
            <a:pPr algn="ctr" eaLnBrk="0" hangingPunct="0"/>
            <a:r>
              <a:rPr lang="en-US" altLang="zh-CN" sz="4400" b="1" dirty="0">
                <a:solidFill>
                  <a:srgbClr val="FFFF00"/>
                </a:solidFill>
                <a:latin typeface="Times New Roman" pitchFamily="18" charset="0"/>
                <a:ea typeface="黑体" pitchFamily="49" charset="-122"/>
                <a:cs typeface="Times New Roman" pitchFamily="18" charset="0"/>
              </a:rPr>
              <a:t>Fermi</a:t>
            </a:r>
            <a:r>
              <a:rPr lang="zh-CN" altLang="en-US" sz="4400" b="1" dirty="0">
                <a:solidFill>
                  <a:srgbClr val="FFFF00"/>
                </a:solidFill>
                <a:latin typeface="Times New Roman" pitchFamily="18" charset="0"/>
                <a:ea typeface="黑体" pitchFamily="49" charset="-122"/>
                <a:cs typeface="Times New Roman" pitchFamily="18" charset="0"/>
              </a:rPr>
              <a:t>子的微观状态数计算</a:t>
            </a:r>
          </a:p>
        </p:txBody>
      </p:sp>
      <p:grpSp>
        <p:nvGrpSpPr>
          <p:cNvPr id="2" name="Group 4"/>
          <p:cNvGrpSpPr>
            <a:grpSpLocks/>
          </p:cNvGrpSpPr>
          <p:nvPr/>
        </p:nvGrpSpPr>
        <p:grpSpPr bwMode="auto">
          <a:xfrm>
            <a:off x="914400" y="1292227"/>
            <a:ext cx="8047038" cy="465138"/>
            <a:chOff x="576" y="1440"/>
            <a:chExt cx="5069" cy="293"/>
          </a:xfrm>
        </p:grpSpPr>
        <p:sp>
          <p:nvSpPr>
            <p:cNvPr id="19476" name="Text Box 5"/>
            <p:cNvSpPr txBox="1">
              <a:spLocks noChangeArrowheads="1"/>
            </p:cNvSpPr>
            <p:nvPr/>
          </p:nvSpPr>
          <p:spPr bwMode="auto">
            <a:xfrm>
              <a:off x="576" y="1442"/>
              <a:ext cx="5069" cy="291"/>
            </a:xfrm>
            <a:prstGeom prst="rect">
              <a:avLst/>
            </a:prstGeom>
            <a:noFill/>
            <a:ln w="9525">
              <a:noFill/>
              <a:miter lim="800000"/>
              <a:headEnd/>
              <a:tailEnd/>
            </a:ln>
          </p:spPr>
          <p:txBody>
            <a:bodyPr wrap="none">
              <a:spAutoFit/>
            </a:bodyPr>
            <a:lstStyle/>
            <a:p>
              <a:r>
                <a:rPr lang="zh-CN" altLang="en-US" sz="2400" b="1">
                  <a:solidFill>
                    <a:srgbClr val="D2DC08"/>
                  </a:solidFill>
                  <a:latin typeface="Times New Roman" pitchFamily="18" charset="0"/>
                  <a:ea typeface="华文中宋" pitchFamily="2" charset="-122"/>
                  <a:cs typeface="Times New Roman" pitchFamily="18" charset="0"/>
                </a:rPr>
                <a:t>步骤一</a:t>
              </a:r>
              <a:r>
                <a:rPr lang="zh-CN" altLang="en-US" sz="2400" b="1">
                  <a:solidFill>
                    <a:schemeClr val="bg1"/>
                  </a:solidFill>
                  <a:latin typeface="Times New Roman" pitchFamily="18" charset="0"/>
                  <a:ea typeface="华文中宋" pitchFamily="2" charset="-122"/>
                  <a:cs typeface="Times New Roman" pitchFamily="18" charset="0"/>
                </a:rPr>
                <a:t>：对于给定的     能级，有</a:t>
              </a:r>
              <a:r>
                <a:rPr lang="en-US" altLang="zh-CN" sz="2400" b="1" i="1">
                  <a:solidFill>
                    <a:schemeClr val="bg1"/>
                  </a:solidFill>
                  <a:latin typeface="Times New Roman" pitchFamily="18" charset="0"/>
                  <a:ea typeface="华文中宋" pitchFamily="2" charset="-122"/>
                  <a:cs typeface="Times New Roman" pitchFamily="18" charset="0"/>
                </a:rPr>
                <a:t>n</a:t>
              </a:r>
              <a:r>
                <a:rPr lang="en-US" altLang="zh-CN" sz="2400" b="1" i="1" baseline="-30000">
                  <a:solidFill>
                    <a:schemeClr val="bg1"/>
                  </a:solidFill>
                  <a:latin typeface="Times New Roman" pitchFamily="18" charset="0"/>
                  <a:ea typeface="华文中宋" pitchFamily="2" charset="-122"/>
                  <a:cs typeface="Times New Roman" pitchFamily="18" charset="0"/>
                </a:rPr>
                <a:t>i</a:t>
              </a:r>
              <a:r>
                <a:rPr lang="zh-CN" altLang="en-US" sz="2400" b="1">
                  <a:solidFill>
                    <a:schemeClr val="bg1"/>
                  </a:solidFill>
                  <a:latin typeface="Times New Roman" pitchFamily="18" charset="0"/>
                  <a:ea typeface="华文中宋" pitchFamily="2" charset="-122"/>
                  <a:cs typeface="Times New Roman" pitchFamily="18" charset="0"/>
                </a:rPr>
                <a:t>个粒子，简并度为</a:t>
              </a:r>
              <a:r>
                <a:rPr lang="en-US" altLang="zh-CN" sz="2400" b="1" i="1">
                  <a:solidFill>
                    <a:schemeClr val="bg1"/>
                  </a:solidFill>
                  <a:latin typeface="Times New Roman" pitchFamily="18" charset="0"/>
                  <a:ea typeface="华文中宋" pitchFamily="2" charset="-122"/>
                  <a:cs typeface="Times New Roman" pitchFamily="18" charset="0"/>
                </a:rPr>
                <a:t>g</a:t>
              </a:r>
              <a:r>
                <a:rPr lang="en-US" altLang="zh-CN" sz="2400" b="1" i="1" baseline="-30000">
                  <a:solidFill>
                    <a:schemeClr val="bg1"/>
                  </a:solidFill>
                  <a:latin typeface="Times New Roman" pitchFamily="18" charset="0"/>
                  <a:ea typeface="华文中宋" pitchFamily="2" charset="-122"/>
                  <a:cs typeface="Times New Roman" pitchFamily="18" charset="0"/>
                </a:rPr>
                <a:t>i</a:t>
              </a:r>
              <a:r>
                <a:rPr lang="en-US" altLang="zh-CN" sz="2400" b="1">
                  <a:solidFill>
                    <a:schemeClr val="bg1"/>
                  </a:solidFill>
                  <a:latin typeface="Times New Roman" pitchFamily="18" charset="0"/>
                  <a:ea typeface="华文中宋" pitchFamily="2" charset="-122"/>
                  <a:cs typeface="Times New Roman" pitchFamily="18" charset="0"/>
                </a:rPr>
                <a:t> </a:t>
              </a:r>
              <a:r>
                <a:rPr lang="zh-CN" altLang="en-US" sz="2400" b="1">
                  <a:solidFill>
                    <a:schemeClr val="bg1"/>
                  </a:solidFill>
                  <a:latin typeface="Times New Roman" pitchFamily="18" charset="0"/>
                  <a:ea typeface="华文中宋" pitchFamily="2" charset="-122"/>
                  <a:cs typeface="Times New Roman" pitchFamily="18" charset="0"/>
                </a:rPr>
                <a:t>。</a:t>
              </a:r>
            </a:p>
          </p:txBody>
        </p:sp>
        <p:graphicFrame>
          <p:nvGraphicFramePr>
            <p:cNvPr id="19462" name="Object 6"/>
            <p:cNvGraphicFramePr>
              <a:graphicFrameLocks noChangeAspect="1"/>
            </p:cNvGraphicFramePr>
            <p:nvPr/>
          </p:nvGraphicFramePr>
          <p:xfrm>
            <a:off x="2410" y="1440"/>
            <a:ext cx="179" cy="286"/>
          </p:xfrm>
          <a:graphic>
            <a:graphicData uri="http://schemas.openxmlformats.org/presentationml/2006/ole">
              <p:oleObj spid="_x0000_s19462" name="Equation" r:id="rId3" imgW="152280" imgH="228600" progId="Equation.DSMT4">
                <p:embed/>
              </p:oleObj>
            </a:graphicData>
          </a:graphic>
        </p:graphicFrame>
      </p:grpSp>
      <p:grpSp>
        <p:nvGrpSpPr>
          <p:cNvPr id="3" name="Group 14"/>
          <p:cNvGrpSpPr>
            <a:grpSpLocks/>
          </p:cNvGrpSpPr>
          <p:nvPr/>
        </p:nvGrpSpPr>
        <p:grpSpPr bwMode="auto">
          <a:xfrm>
            <a:off x="914400" y="1981200"/>
            <a:ext cx="4440238" cy="2049463"/>
            <a:chOff x="576" y="1248"/>
            <a:chExt cx="2797" cy="1291"/>
          </a:xfrm>
        </p:grpSpPr>
        <p:graphicFrame>
          <p:nvGraphicFramePr>
            <p:cNvPr id="19461" name="Object 7"/>
            <p:cNvGraphicFramePr>
              <a:graphicFrameLocks noChangeAspect="1"/>
            </p:cNvGraphicFramePr>
            <p:nvPr/>
          </p:nvGraphicFramePr>
          <p:xfrm>
            <a:off x="576" y="1248"/>
            <a:ext cx="2797" cy="540"/>
          </p:xfrm>
          <a:graphic>
            <a:graphicData uri="http://schemas.openxmlformats.org/presentationml/2006/ole">
              <p:oleObj spid="_x0000_s19461" r:id="rId4" imgW="2222500" imgH="431800" progId="Equation.DSMT4">
                <p:embed/>
              </p:oleObj>
            </a:graphicData>
          </a:graphic>
        </p:graphicFrame>
        <p:sp>
          <p:nvSpPr>
            <p:cNvPr id="19475" name="Text Box 12"/>
            <p:cNvSpPr txBox="1">
              <a:spLocks noChangeArrowheads="1"/>
            </p:cNvSpPr>
            <p:nvPr/>
          </p:nvSpPr>
          <p:spPr bwMode="auto">
            <a:xfrm>
              <a:off x="835" y="2016"/>
              <a:ext cx="1861" cy="523"/>
            </a:xfrm>
            <a:prstGeom prst="rect">
              <a:avLst/>
            </a:prstGeom>
            <a:solidFill>
              <a:srgbClr val="000099"/>
            </a:solidFill>
            <a:ln w="9525">
              <a:noFill/>
              <a:miter lim="800000"/>
              <a:headEnd/>
              <a:tailEnd/>
            </a:ln>
          </p:spPr>
          <p:txBody>
            <a:bodyPr wrap="none">
              <a:spAutoFit/>
            </a:bodyPr>
            <a:lstStyle/>
            <a:p>
              <a:r>
                <a:rPr lang="zh-CN" altLang="en-US" sz="2400" b="1">
                  <a:solidFill>
                    <a:srgbClr val="D2DC08"/>
                  </a:solidFill>
                  <a:latin typeface="Times New Roman" pitchFamily="18" charset="0"/>
                  <a:ea typeface="华文中宋" pitchFamily="2" charset="-122"/>
                  <a:cs typeface="Times New Roman" pitchFamily="18" charset="0"/>
                </a:rPr>
                <a:t>一个量子态只允许有</a:t>
              </a:r>
            </a:p>
            <a:p>
              <a:r>
                <a:rPr lang="zh-CN" altLang="en-US" sz="2400" b="1">
                  <a:solidFill>
                    <a:srgbClr val="D2DC08"/>
                  </a:solidFill>
                  <a:latin typeface="Times New Roman" pitchFamily="18" charset="0"/>
                  <a:ea typeface="华文中宋" pitchFamily="2" charset="-122"/>
                  <a:cs typeface="Times New Roman" pitchFamily="18" charset="0"/>
                </a:rPr>
                <a:t>一个粒子占据</a:t>
              </a:r>
            </a:p>
          </p:txBody>
        </p:sp>
      </p:grpSp>
      <p:grpSp>
        <p:nvGrpSpPr>
          <p:cNvPr id="4" name="Group 15"/>
          <p:cNvGrpSpPr>
            <a:grpSpLocks/>
          </p:cNvGrpSpPr>
          <p:nvPr/>
        </p:nvGrpSpPr>
        <p:grpSpPr bwMode="auto">
          <a:xfrm>
            <a:off x="5384800" y="1981200"/>
            <a:ext cx="3284538" cy="2266950"/>
            <a:chOff x="3392" y="1248"/>
            <a:chExt cx="2069" cy="1428"/>
          </a:xfrm>
        </p:grpSpPr>
        <p:graphicFrame>
          <p:nvGraphicFramePr>
            <p:cNvPr id="19460" name="Object 9"/>
            <p:cNvGraphicFramePr>
              <a:graphicFrameLocks noChangeAspect="1"/>
            </p:cNvGraphicFramePr>
            <p:nvPr/>
          </p:nvGraphicFramePr>
          <p:xfrm>
            <a:off x="4079" y="1248"/>
            <a:ext cx="961" cy="541"/>
          </p:xfrm>
          <a:graphic>
            <a:graphicData uri="http://schemas.openxmlformats.org/presentationml/2006/ole">
              <p:oleObj spid="_x0000_s19460" r:id="rId5" imgW="761669" imgH="431613" progId="Equation.DSMT4">
                <p:embed/>
              </p:oleObj>
            </a:graphicData>
          </a:graphic>
        </p:graphicFrame>
        <p:sp>
          <p:nvSpPr>
            <p:cNvPr id="19473" name="Line 11"/>
            <p:cNvSpPr>
              <a:spLocks noChangeShapeType="1"/>
            </p:cNvSpPr>
            <p:nvPr/>
          </p:nvSpPr>
          <p:spPr bwMode="auto">
            <a:xfrm>
              <a:off x="3392" y="1488"/>
              <a:ext cx="672" cy="0"/>
            </a:xfrm>
            <a:prstGeom prst="line">
              <a:avLst/>
            </a:prstGeom>
            <a:noFill/>
            <a:ln w="38100">
              <a:solidFill>
                <a:schemeClr val="bg1"/>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sp>
          <p:nvSpPr>
            <p:cNvPr id="19474" name="Text Box 13"/>
            <p:cNvSpPr txBox="1">
              <a:spLocks noChangeArrowheads="1"/>
            </p:cNvSpPr>
            <p:nvPr/>
          </p:nvSpPr>
          <p:spPr bwMode="auto">
            <a:xfrm>
              <a:off x="3600" y="1920"/>
              <a:ext cx="1861" cy="756"/>
            </a:xfrm>
            <a:prstGeom prst="rect">
              <a:avLst/>
            </a:prstGeom>
            <a:solidFill>
              <a:srgbClr val="000099"/>
            </a:solidFill>
            <a:ln w="9525">
              <a:noFill/>
              <a:miter lim="800000"/>
              <a:headEnd/>
              <a:tailEnd/>
            </a:ln>
          </p:spPr>
          <p:txBody>
            <a:bodyPr wrap="none">
              <a:spAutoFit/>
            </a:bodyPr>
            <a:lstStyle/>
            <a:p>
              <a:r>
                <a:rPr lang="zh-CN" altLang="en-US" sz="2400" b="1">
                  <a:solidFill>
                    <a:srgbClr val="D2DC08"/>
                  </a:solidFill>
                  <a:latin typeface="Times New Roman" pitchFamily="18" charset="0"/>
                  <a:ea typeface="华文中宋" pitchFamily="2" charset="-122"/>
                  <a:cs typeface="Times New Roman" pitchFamily="18" charset="0"/>
                </a:rPr>
                <a:t>粒子的全同性，同一</a:t>
              </a:r>
            </a:p>
            <a:p>
              <a:r>
                <a:rPr lang="zh-CN" altLang="en-US" sz="2400" b="1">
                  <a:solidFill>
                    <a:srgbClr val="D2DC08"/>
                  </a:solidFill>
                  <a:latin typeface="Times New Roman" pitchFamily="18" charset="0"/>
                  <a:ea typeface="华文中宋" pitchFamily="2" charset="-122"/>
                  <a:cs typeface="Times New Roman" pitchFamily="18" charset="0"/>
                </a:rPr>
                <a:t>能级上的粒子交换不</a:t>
              </a:r>
            </a:p>
            <a:p>
              <a:r>
                <a:rPr lang="zh-CN" altLang="en-US" sz="2400" b="1">
                  <a:solidFill>
                    <a:srgbClr val="D2DC08"/>
                  </a:solidFill>
                  <a:latin typeface="Times New Roman" pitchFamily="18" charset="0"/>
                  <a:ea typeface="华文中宋" pitchFamily="2" charset="-122"/>
                  <a:cs typeface="Times New Roman" pitchFamily="18" charset="0"/>
                </a:rPr>
                <a:t>产生新的微观状态</a:t>
              </a:r>
            </a:p>
          </p:txBody>
        </p:sp>
      </p:grpSp>
      <p:grpSp>
        <p:nvGrpSpPr>
          <p:cNvPr id="5" name="Group 24"/>
          <p:cNvGrpSpPr>
            <a:grpSpLocks/>
          </p:cNvGrpSpPr>
          <p:nvPr/>
        </p:nvGrpSpPr>
        <p:grpSpPr bwMode="auto">
          <a:xfrm>
            <a:off x="914400" y="4343400"/>
            <a:ext cx="6694488" cy="1238250"/>
            <a:chOff x="576" y="2736"/>
            <a:chExt cx="4217" cy="780"/>
          </a:xfrm>
        </p:grpSpPr>
        <p:sp>
          <p:nvSpPr>
            <p:cNvPr id="19472" name="Text Box 16"/>
            <p:cNvSpPr txBox="1">
              <a:spLocks noChangeArrowheads="1"/>
            </p:cNvSpPr>
            <p:nvPr/>
          </p:nvSpPr>
          <p:spPr bwMode="auto">
            <a:xfrm>
              <a:off x="576" y="2736"/>
              <a:ext cx="4217" cy="288"/>
            </a:xfrm>
            <a:prstGeom prst="rect">
              <a:avLst/>
            </a:prstGeom>
            <a:noFill/>
            <a:ln w="9525">
              <a:noFill/>
              <a:miter lim="800000"/>
              <a:headEnd/>
              <a:tailEnd/>
            </a:ln>
          </p:spPr>
          <p:txBody>
            <a:bodyPr wrap="none">
              <a:spAutoFit/>
            </a:bodyPr>
            <a:lstStyle/>
            <a:p>
              <a:pPr eaLnBrk="0" hangingPunct="0"/>
              <a:r>
                <a:rPr lang="zh-CN" altLang="en-US" sz="2400" b="1">
                  <a:solidFill>
                    <a:srgbClr val="D2DC08"/>
                  </a:solidFill>
                  <a:latin typeface="Times New Roman" pitchFamily="18" charset="0"/>
                  <a:ea typeface="华文中宋" pitchFamily="2" charset="-122"/>
                  <a:cs typeface="Times New Roman" pitchFamily="18" charset="0"/>
                </a:rPr>
                <a:t>步骤二：给定一套能级分布时的所有微观状态 。</a:t>
              </a:r>
            </a:p>
          </p:txBody>
        </p:sp>
        <p:graphicFrame>
          <p:nvGraphicFramePr>
            <p:cNvPr id="19459" name="Object 18"/>
            <p:cNvGraphicFramePr>
              <a:graphicFrameLocks noChangeAspect="1"/>
            </p:cNvGraphicFramePr>
            <p:nvPr/>
          </p:nvGraphicFramePr>
          <p:xfrm>
            <a:off x="1189" y="2976"/>
            <a:ext cx="1211" cy="540"/>
          </p:xfrm>
          <a:graphic>
            <a:graphicData uri="http://schemas.openxmlformats.org/presentationml/2006/ole">
              <p:oleObj spid="_x0000_s19459" r:id="rId6" imgW="965200" imgH="431800" progId="Equation.DSMT4">
                <p:embed/>
              </p:oleObj>
            </a:graphicData>
          </a:graphic>
        </p:graphicFrame>
      </p:grpSp>
      <p:grpSp>
        <p:nvGrpSpPr>
          <p:cNvPr id="6" name="Group 25"/>
          <p:cNvGrpSpPr>
            <a:grpSpLocks/>
          </p:cNvGrpSpPr>
          <p:nvPr/>
        </p:nvGrpSpPr>
        <p:grpSpPr bwMode="auto">
          <a:xfrm>
            <a:off x="914400" y="5618163"/>
            <a:ext cx="6005513" cy="1181100"/>
            <a:chOff x="576" y="3539"/>
            <a:chExt cx="3783" cy="744"/>
          </a:xfrm>
        </p:grpSpPr>
        <p:sp>
          <p:nvSpPr>
            <p:cNvPr id="19471" name="Text Box 17"/>
            <p:cNvSpPr txBox="1">
              <a:spLocks noChangeArrowheads="1"/>
            </p:cNvSpPr>
            <p:nvPr/>
          </p:nvSpPr>
          <p:spPr bwMode="auto">
            <a:xfrm>
              <a:off x="576" y="3539"/>
              <a:ext cx="3783" cy="288"/>
            </a:xfrm>
            <a:prstGeom prst="rect">
              <a:avLst/>
            </a:prstGeom>
            <a:noFill/>
            <a:ln w="9525">
              <a:noFill/>
              <a:miter lim="800000"/>
              <a:headEnd/>
              <a:tailEnd/>
            </a:ln>
          </p:spPr>
          <p:txBody>
            <a:bodyPr wrap="none">
              <a:spAutoFit/>
            </a:bodyPr>
            <a:lstStyle/>
            <a:p>
              <a:pPr eaLnBrk="0" hangingPunct="0"/>
              <a:r>
                <a:rPr lang="zh-CN" altLang="en-US" sz="2400" b="1">
                  <a:solidFill>
                    <a:srgbClr val="D2DC08"/>
                  </a:solidFill>
                  <a:latin typeface="Times New Roman" pitchFamily="18" charset="0"/>
                  <a:ea typeface="华文中宋" pitchFamily="2" charset="-122"/>
                  <a:cs typeface="Times New Roman" pitchFamily="18" charset="0"/>
                </a:rPr>
                <a:t>步骤三：对所有可能的能级分布形式加总。</a:t>
              </a:r>
            </a:p>
          </p:txBody>
        </p:sp>
        <p:graphicFrame>
          <p:nvGraphicFramePr>
            <p:cNvPr id="19458" name="Object 20"/>
            <p:cNvGraphicFramePr>
              <a:graphicFrameLocks noChangeAspect="1"/>
            </p:cNvGraphicFramePr>
            <p:nvPr/>
          </p:nvGraphicFramePr>
          <p:xfrm>
            <a:off x="1190" y="3744"/>
            <a:ext cx="1786" cy="539"/>
          </p:xfrm>
          <a:graphic>
            <a:graphicData uri="http://schemas.openxmlformats.org/presentationml/2006/ole">
              <p:oleObj spid="_x0000_s19458" r:id="rId7" imgW="1422400" imgH="431800" progId="Equation.DSMT4">
                <p:embed/>
              </p:oleObj>
            </a:graphicData>
          </a:graphic>
        </p:graphicFrame>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8915"/>
                                        </p:tgtEl>
                                        <p:attrNameLst>
                                          <p:attrName>style.visibility</p:attrName>
                                        </p:attrNameLst>
                                      </p:cBhvr>
                                      <p:to>
                                        <p:strVal val="visible"/>
                                      </p:to>
                                    </p:set>
                                    <p:animEffect transition="in" filter="box(in)">
                                      <p:cBhvr>
                                        <p:cTn id="7" dur="500"/>
                                        <p:tgtEl>
                                          <p:spTgt spid="3891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heckerboard(across)">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checkerboard(across)">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checkerboard(across)">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checkerboard(across)">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checkerboard(across)">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7" name="灯片编号占位符 3"/>
          <p:cNvSpPr>
            <a:spLocks noGrp="1"/>
          </p:cNvSpPr>
          <p:nvPr>
            <p:ph type="sldNum" sz="quarter" idx="12"/>
          </p:nvPr>
        </p:nvSpPr>
        <p:spPr>
          <a:noFill/>
        </p:spPr>
        <p:txBody>
          <a:bodyPr/>
          <a:lstStyle/>
          <a:p>
            <a:fld id="{575798BA-4867-4399-866C-1B1A4A6C0CC0}" type="slidenum">
              <a:rPr lang="en-US" altLang="zh-CN" smtClean="0">
                <a:latin typeface="Times New Roman" pitchFamily="18" charset="0"/>
                <a:ea typeface="华文中宋" pitchFamily="2" charset="-122"/>
                <a:cs typeface="Times New Roman" pitchFamily="18" charset="0"/>
              </a:rPr>
              <a:pPr/>
              <a:t>34</a:t>
            </a:fld>
            <a:endParaRPr lang="en-US" altLang="zh-CN" dirty="0" smtClean="0">
              <a:latin typeface="Times New Roman" pitchFamily="18" charset="0"/>
              <a:ea typeface="华文中宋" pitchFamily="2" charset="-122"/>
              <a:cs typeface="Times New Roman" pitchFamily="18" charset="0"/>
            </a:endParaRPr>
          </a:p>
        </p:txBody>
      </p:sp>
      <p:sp>
        <p:nvSpPr>
          <p:cNvPr id="20488" name="Text Box 2"/>
          <p:cNvSpPr txBox="1">
            <a:spLocks noChangeArrowheads="1"/>
          </p:cNvSpPr>
          <p:nvPr/>
        </p:nvSpPr>
        <p:spPr bwMode="auto">
          <a:xfrm>
            <a:off x="4364038" y="0"/>
            <a:ext cx="477996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各种体系的能级分布和微观状态数</a:t>
            </a:r>
            <a:endParaRPr lang="zh-CN" altLang="en-US" sz="2400">
              <a:solidFill>
                <a:schemeClr val="bg1"/>
              </a:solidFill>
              <a:latin typeface="Times New Roman" pitchFamily="18" charset="0"/>
            </a:endParaRPr>
          </a:p>
        </p:txBody>
      </p:sp>
      <p:sp>
        <p:nvSpPr>
          <p:cNvPr id="39939" name="Rectangle 3"/>
          <p:cNvSpPr>
            <a:spLocks noGrp="1" noRot="1" noChangeArrowheads="1"/>
          </p:cNvSpPr>
          <p:nvPr/>
        </p:nvSpPr>
        <p:spPr bwMode="auto">
          <a:xfrm>
            <a:off x="374650" y="228600"/>
            <a:ext cx="8540750" cy="1143000"/>
          </a:xfrm>
          <a:prstGeom prst="rect">
            <a:avLst/>
          </a:prstGeom>
          <a:noFill/>
          <a:ln w="9525">
            <a:noFill/>
            <a:miter lim="800000"/>
            <a:headEnd/>
            <a:tailEnd/>
          </a:ln>
        </p:spPr>
        <p:txBody>
          <a:bodyPr anchor="ctr"/>
          <a:lstStyle/>
          <a:p>
            <a:pPr algn="ctr" eaLnBrk="0" hangingPunct="0"/>
            <a:r>
              <a:rPr lang="en-US" altLang="zh-CN" sz="4400" b="1" dirty="0">
                <a:solidFill>
                  <a:srgbClr val="FFFF00"/>
                </a:solidFill>
                <a:latin typeface="Times New Roman" pitchFamily="18" charset="0"/>
                <a:ea typeface="黑体" pitchFamily="49" charset="-122"/>
                <a:cs typeface="Times New Roman" pitchFamily="18" charset="0"/>
              </a:rPr>
              <a:t>Bose</a:t>
            </a:r>
            <a:r>
              <a:rPr lang="zh-CN" altLang="en-US" sz="4400" b="1" dirty="0">
                <a:solidFill>
                  <a:srgbClr val="FFFF00"/>
                </a:solidFill>
                <a:latin typeface="Times New Roman" pitchFamily="18" charset="0"/>
                <a:ea typeface="黑体" pitchFamily="49" charset="-122"/>
                <a:cs typeface="Times New Roman" pitchFamily="18" charset="0"/>
              </a:rPr>
              <a:t>子的微观状态数计算</a:t>
            </a:r>
          </a:p>
        </p:txBody>
      </p:sp>
      <p:grpSp>
        <p:nvGrpSpPr>
          <p:cNvPr id="2" name="Group 4"/>
          <p:cNvGrpSpPr>
            <a:grpSpLocks/>
          </p:cNvGrpSpPr>
          <p:nvPr/>
        </p:nvGrpSpPr>
        <p:grpSpPr bwMode="auto">
          <a:xfrm>
            <a:off x="914400" y="1292227"/>
            <a:ext cx="8047038" cy="465138"/>
            <a:chOff x="576" y="1440"/>
            <a:chExt cx="5069" cy="293"/>
          </a:xfrm>
        </p:grpSpPr>
        <p:sp>
          <p:nvSpPr>
            <p:cNvPr id="20501" name="Text Box 5"/>
            <p:cNvSpPr txBox="1">
              <a:spLocks noChangeArrowheads="1"/>
            </p:cNvSpPr>
            <p:nvPr/>
          </p:nvSpPr>
          <p:spPr bwMode="auto">
            <a:xfrm>
              <a:off x="576" y="1442"/>
              <a:ext cx="5069" cy="291"/>
            </a:xfrm>
            <a:prstGeom prst="rect">
              <a:avLst/>
            </a:prstGeom>
            <a:noFill/>
            <a:ln w="9525">
              <a:noFill/>
              <a:miter lim="800000"/>
              <a:headEnd/>
              <a:tailEnd/>
            </a:ln>
          </p:spPr>
          <p:txBody>
            <a:bodyPr wrap="none">
              <a:spAutoFit/>
            </a:bodyPr>
            <a:lstStyle/>
            <a:p>
              <a:r>
                <a:rPr lang="zh-CN" altLang="en-US" sz="2400" b="1">
                  <a:solidFill>
                    <a:srgbClr val="D2DC08"/>
                  </a:solidFill>
                  <a:latin typeface="Times New Roman" pitchFamily="18" charset="0"/>
                  <a:ea typeface="华文中宋" pitchFamily="2" charset="-122"/>
                  <a:cs typeface="Times New Roman" pitchFamily="18" charset="0"/>
                </a:rPr>
                <a:t>步骤一</a:t>
              </a:r>
              <a:r>
                <a:rPr lang="zh-CN" altLang="en-US" sz="2400" b="1">
                  <a:solidFill>
                    <a:schemeClr val="bg1"/>
                  </a:solidFill>
                  <a:latin typeface="Times New Roman" pitchFamily="18" charset="0"/>
                  <a:ea typeface="华文中宋" pitchFamily="2" charset="-122"/>
                  <a:cs typeface="Times New Roman" pitchFamily="18" charset="0"/>
                </a:rPr>
                <a:t>：对于给定的     能级，有</a:t>
              </a:r>
              <a:r>
                <a:rPr lang="en-US" altLang="zh-CN" sz="2400" b="1" i="1">
                  <a:solidFill>
                    <a:schemeClr val="bg1"/>
                  </a:solidFill>
                  <a:latin typeface="Times New Roman" pitchFamily="18" charset="0"/>
                  <a:ea typeface="华文中宋" pitchFamily="2" charset="-122"/>
                  <a:cs typeface="Times New Roman" pitchFamily="18" charset="0"/>
                </a:rPr>
                <a:t>n</a:t>
              </a:r>
              <a:r>
                <a:rPr lang="en-US" altLang="zh-CN" sz="2400" b="1" i="1" baseline="-30000">
                  <a:solidFill>
                    <a:schemeClr val="bg1"/>
                  </a:solidFill>
                  <a:latin typeface="Times New Roman" pitchFamily="18" charset="0"/>
                  <a:ea typeface="华文中宋" pitchFamily="2" charset="-122"/>
                  <a:cs typeface="Times New Roman" pitchFamily="18" charset="0"/>
                </a:rPr>
                <a:t>i</a:t>
              </a:r>
              <a:r>
                <a:rPr lang="zh-CN" altLang="en-US" sz="2400" b="1">
                  <a:solidFill>
                    <a:schemeClr val="bg1"/>
                  </a:solidFill>
                  <a:latin typeface="Times New Roman" pitchFamily="18" charset="0"/>
                  <a:ea typeface="华文中宋" pitchFamily="2" charset="-122"/>
                  <a:cs typeface="Times New Roman" pitchFamily="18" charset="0"/>
                </a:rPr>
                <a:t>个粒子，简并度为</a:t>
              </a:r>
              <a:r>
                <a:rPr lang="en-US" altLang="zh-CN" sz="2400" b="1" i="1">
                  <a:solidFill>
                    <a:schemeClr val="bg1"/>
                  </a:solidFill>
                  <a:latin typeface="Times New Roman" pitchFamily="18" charset="0"/>
                  <a:ea typeface="华文中宋" pitchFamily="2" charset="-122"/>
                  <a:cs typeface="Times New Roman" pitchFamily="18" charset="0"/>
                </a:rPr>
                <a:t>g</a:t>
              </a:r>
              <a:r>
                <a:rPr lang="en-US" altLang="zh-CN" sz="2400" b="1" i="1" baseline="-30000">
                  <a:solidFill>
                    <a:schemeClr val="bg1"/>
                  </a:solidFill>
                  <a:latin typeface="Times New Roman" pitchFamily="18" charset="0"/>
                  <a:ea typeface="华文中宋" pitchFamily="2" charset="-122"/>
                  <a:cs typeface="Times New Roman" pitchFamily="18" charset="0"/>
                </a:rPr>
                <a:t>i</a:t>
              </a:r>
              <a:r>
                <a:rPr lang="en-US" altLang="zh-CN" sz="2400" b="1">
                  <a:solidFill>
                    <a:schemeClr val="bg1"/>
                  </a:solidFill>
                  <a:latin typeface="Times New Roman" pitchFamily="18" charset="0"/>
                  <a:ea typeface="华文中宋" pitchFamily="2" charset="-122"/>
                  <a:cs typeface="Times New Roman" pitchFamily="18" charset="0"/>
                </a:rPr>
                <a:t> </a:t>
              </a:r>
              <a:r>
                <a:rPr lang="zh-CN" altLang="en-US" sz="2400" b="1">
                  <a:solidFill>
                    <a:schemeClr val="bg1"/>
                  </a:solidFill>
                  <a:latin typeface="Times New Roman" pitchFamily="18" charset="0"/>
                  <a:ea typeface="华文中宋" pitchFamily="2" charset="-122"/>
                  <a:cs typeface="Times New Roman" pitchFamily="18" charset="0"/>
                </a:rPr>
                <a:t>。</a:t>
              </a:r>
            </a:p>
          </p:txBody>
        </p:sp>
        <p:graphicFrame>
          <p:nvGraphicFramePr>
            <p:cNvPr id="20486" name="Object 6"/>
            <p:cNvGraphicFramePr>
              <a:graphicFrameLocks noChangeAspect="1"/>
            </p:cNvGraphicFramePr>
            <p:nvPr/>
          </p:nvGraphicFramePr>
          <p:xfrm>
            <a:off x="2410" y="1440"/>
            <a:ext cx="179" cy="286"/>
          </p:xfrm>
          <a:graphic>
            <a:graphicData uri="http://schemas.openxmlformats.org/presentationml/2006/ole">
              <p:oleObj spid="_x0000_s20486" name="Equation" r:id="rId3" imgW="152280" imgH="228600" progId="Equation.DSMT4">
                <p:embed/>
              </p:oleObj>
            </a:graphicData>
          </a:graphic>
        </p:graphicFrame>
      </p:grpSp>
      <p:sp>
        <p:nvSpPr>
          <p:cNvPr id="39944" name="Text Box 8"/>
          <p:cNvSpPr txBox="1">
            <a:spLocks noChangeArrowheads="1"/>
          </p:cNvSpPr>
          <p:nvPr/>
        </p:nvSpPr>
        <p:spPr bwMode="auto">
          <a:xfrm>
            <a:off x="914400" y="2166938"/>
            <a:ext cx="3877985" cy="830997"/>
          </a:xfrm>
          <a:prstGeom prst="rect">
            <a:avLst/>
          </a:prstGeom>
          <a:solidFill>
            <a:srgbClr val="000099"/>
          </a:solidFill>
          <a:ln w="9525">
            <a:noFill/>
            <a:miter lim="800000"/>
            <a:headEnd/>
            <a:tailEnd/>
          </a:ln>
        </p:spPr>
        <p:txBody>
          <a:bodyPr wrap="none">
            <a:spAutoFit/>
          </a:bodyPr>
          <a:lstStyle/>
          <a:p>
            <a:r>
              <a:rPr lang="zh-CN" altLang="en-US" sz="2400" b="1">
                <a:solidFill>
                  <a:srgbClr val="D2DC08"/>
                </a:solidFill>
                <a:latin typeface="Times New Roman" pitchFamily="18" charset="0"/>
                <a:ea typeface="华文中宋" pitchFamily="2" charset="-122"/>
                <a:cs typeface="Times New Roman" pitchFamily="18" charset="0"/>
              </a:rPr>
              <a:t>允许一个能级的同一个量子</a:t>
            </a:r>
          </a:p>
          <a:p>
            <a:r>
              <a:rPr lang="zh-CN" altLang="en-US" sz="2400" b="1">
                <a:solidFill>
                  <a:srgbClr val="D2DC08"/>
                </a:solidFill>
                <a:latin typeface="Times New Roman" pitchFamily="18" charset="0"/>
                <a:ea typeface="华文中宋" pitchFamily="2" charset="-122"/>
                <a:cs typeface="Times New Roman" pitchFamily="18" charset="0"/>
              </a:rPr>
              <a:t>态上允许有多个粒子共存 </a:t>
            </a:r>
          </a:p>
        </p:txBody>
      </p:sp>
      <p:grpSp>
        <p:nvGrpSpPr>
          <p:cNvPr id="3" name="Group 11"/>
          <p:cNvGrpSpPr>
            <a:grpSpLocks/>
          </p:cNvGrpSpPr>
          <p:nvPr/>
        </p:nvGrpSpPr>
        <p:grpSpPr bwMode="auto">
          <a:xfrm>
            <a:off x="4737100" y="2012950"/>
            <a:ext cx="4065588" cy="1200150"/>
            <a:chOff x="2984" y="1268"/>
            <a:chExt cx="2561" cy="756"/>
          </a:xfrm>
        </p:grpSpPr>
        <p:sp>
          <p:nvSpPr>
            <p:cNvPr id="20499" name="Text Box 7"/>
            <p:cNvSpPr txBox="1">
              <a:spLocks noChangeArrowheads="1"/>
            </p:cNvSpPr>
            <p:nvPr/>
          </p:nvSpPr>
          <p:spPr bwMode="auto">
            <a:xfrm>
              <a:off x="3322" y="1268"/>
              <a:ext cx="2223" cy="756"/>
            </a:xfrm>
            <a:prstGeom prst="rect">
              <a:avLst/>
            </a:prstGeom>
            <a:solidFill>
              <a:srgbClr val="000099"/>
            </a:solidFill>
            <a:ln w="9525">
              <a:noFill/>
              <a:miter lim="800000"/>
              <a:headEnd/>
              <a:tailEnd/>
            </a:ln>
          </p:spPr>
          <p:txBody>
            <a:bodyPr wrap="none">
              <a:spAutoFit/>
            </a:bodyPr>
            <a:lstStyle/>
            <a:p>
              <a:r>
                <a:rPr lang="zh-CN" altLang="en-US" sz="2400" b="1">
                  <a:solidFill>
                    <a:srgbClr val="D2DC08"/>
                  </a:solidFill>
                  <a:latin typeface="Times New Roman" pitchFamily="18" charset="0"/>
                  <a:ea typeface="华文中宋" pitchFamily="2" charset="-122"/>
                  <a:cs typeface="Times New Roman" pitchFamily="18" charset="0"/>
                </a:rPr>
                <a:t>相当于研究将</a:t>
              </a:r>
              <a:r>
                <a:rPr lang="en-US" altLang="zh-CN" sz="2400" b="1" i="1">
                  <a:solidFill>
                    <a:srgbClr val="D2DC08"/>
                  </a:solidFill>
                  <a:latin typeface="Times New Roman" pitchFamily="18" charset="0"/>
                  <a:ea typeface="华文中宋" pitchFamily="2" charset="-122"/>
                  <a:cs typeface="Times New Roman" pitchFamily="18" charset="0"/>
                </a:rPr>
                <a:t>n</a:t>
              </a:r>
              <a:r>
                <a:rPr lang="en-US" altLang="zh-CN" sz="2400" b="1" i="1" baseline="-30000">
                  <a:solidFill>
                    <a:srgbClr val="D2DC08"/>
                  </a:solidFill>
                  <a:latin typeface="Times New Roman" pitchFamily="18" charset="0"/>
                  <a:ea typeface="华文中宋" pitchFamily="2" charset="-122"/>
                  <a:cs typeface="Times New Roman" pitchFamily="18" charset="0"/>
                </a:rPr>
                <a:t>i</a:t>
              </a:r>
              <a:r>
                <a:rPr lang="zh-CN" altLang="en-US" sz="2400" b="1">
                  <a:solidFill>
                    <a:srgbClr val="D2DC08"/>
                  </a:solidFill>
                  <a:latin typeface="Times New Roman" pitchFamily="18" charset="0"/>
                  <a:ea typeface="华文中宋" pitchFamily="2" charset="-122"/>
                  <a:cs typeface="Times New Roman" pitchFamily="18" charset="0"/>
                </a:rPr>
                <a:t>个相同的</a:t>
              </a:r>
            </a:p>
            <a:p>
              <a:r>
                <a:rPr lang="zh-CN" altLang="en-US" sz="2400" b="1">
                  <a:solidFill>
                    <a:srgbClr val="D2DC08"/>
                  </a:solidFill>
                  <a:latin typeface="Times New Roman" pitchFamily="18" charset="0"/>
                  <a:ea typeface="华文中宋" pitchFamily="2" charset="-122"/>
                  <a:cs typeface="Times New Roman" pitchFamily="18" charset="0"/>
                </a:rPr>
                <a:t>球放入</a:t>
              </a:r>
              <a:r>
                <a:rPr lang="en-US" altLang="zh-CN" sz="2400" b="1" i="1">
                  <a:solidFill>
                    <a:srgbClr val="D2DC08"/>
                  </a:solidFill>
                  <a:latin typeface="Times New Roman" pitchFamily="18" charset="0"/>
                  <a:ea typeface="华文中宋" pitchFamily="2" charset="-122"/>
                  <a:cs typeface="Times New Roman" pitchFamily="18" charset="0"/>
                </a:rPr>
                <a:t>g</a:t>
              </a:r>
              <a:r>
                <a:rPr lang="en-US" altLang="zh-CN" sz="2400" b="1" i="1" baseline="-30000">
                  <a:solidFill>
                    <a:srgbClr val="D2DC08"/>
                  </a:solidFill>
                  <a:latin typeface="Times New Roman" pitchFamily="18" charset="0"/>
                  <a:ea typeface="华文中宋" pitchFamily="2" charset="-122"/>
                  <a:cs typeface="Times New Roman" pitchFamily="18" charset="0"/>
                </a:rPr>
                <a:t>i</a:t>
              </a:r>
              <a:r>
                <a:rPr lang="zh-CN" altLang="en-US" sz="2400" b="1">
                  <a:solidFill>
                    <a:srgbClr val="D2DC08"/>
                  </a:solidFill>
                  <a:latin typeface="Times New Roman" pitchFamily="18" charset="0"/>
                  <a:ea typeface="华文中宋" pitchFamily="2" charset="-122"/>
                  <a:cs typeface="Times New Roman" pitchFamily="18" charset="0"/>
                </a:rPr>
                <a:t>个不同的盒子有</a:t>
              </a:r>
            </a:p>
            <a:p>
              <a:r>
                <a:rPr lang="zh-CN" altLang="en-US" sz="2400" b="1">
                  <a:solidFill>
                    <a:srgbClr val="D2DC08"/>
                  </a:solidFill>
                  <a:latin typeface="Times New Roman" pitchFamily="18" charset="0"/>
                  <a:ea typeface="华文中宋" pitchFamily="2" charset="-122"/>
                  <a:cs typeface="Times New Roman" pitchFamily="18" charset="0"/>
                </a:rPr>
                <a:t>多少种可能的放法 </a:t>
              </a:r>
            </a:p>
          </p:txBody>
        </p:sp>
        <p:sp>
          <p:nvSpPr>
            <p:cNvPr id="20500" name="Line 10"/>
            <p:cNvSpPr>
              <a:spLocks noChangeShapeType="1"/>
            </p:cNvSpPr>
            <p:nvPr/>
          </p:nvSpPr>
          <p:spPr bwMode="auto">
            <a:xfrm>
              <a:off x="2984" y="1632"/>
              <a:ext cx="336" cy="0"/>
            </a:xfrm>
            <a:prstGeom prst="line">
              <a:avLst/>
            </a:prstGeom>
            <a:noFill/>
            <a:ln w="38100">
              <a:solidFill>
                <a:schemeClr val="tx2"/>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grpSp>
      <p:graphicFrame>
        <p:nvGraphicFramePr>
          <p:cNvPr id="39948" name="Object 12"/>
          <p:cNvGraphicFramePr>
            <a:graphicFrameLocks noChangeAspect="1"/>
          </p:cNvGraphicFramePr>
          <p:nvPr/>
        </p:nvGraphicFramePr>
        <p:xfrm>
          <a:off x="571500" y="3390900"/>
          <a:ext cx="8534400" cy="755650"/>
        </p:xfrm>
        <a:graphic>
          <a:graphicData uri="http://schemas.openxmlformats.org/presentationml/2006/ole">
            <p:oleObj spid="_x0000_s20482" r:id="rId4" imgW="4515612" imgH="400812" progId="Word.Picture.8">
              <p:embed/>
            </p:oleObj>
          </a:graphicData>
        </a:graphic>
      </p:graphicFrame>
      <p:grpSp>
        <p:nvGrpSpPr>
          <p:cNvPr id="4" name="Group 17"/>
          <p:cNvGrpSpPr>
            <a:grpSpLocks/>
          </p:cNvGrpSpPr>
          <p:nvPr/>
        </p:nvGrpSpPr>
        <p:grpSpPr bwMode="auto">
          <a:xfrm>
            <a:off x="593725" y="4267200"/>
            <a:ext cx="6797675" cy="990600"/>
            <a:chOff x="374" y="2688"/>
            <a:chExt cx="4282" cy="624"/>
          </a:xfrm>
        </p:grpSpPr>
        <p:sp>
          <p:nvSpPr>
            <p:cNvPr id="20496" name="Text Box 14"/>
            <p:cNvSpPr txBox="1">
              <a:spLocks noChangeArrowheads="1"/>
            </p:cNvSpPr>
            <p:nvPr/>
          </p:nvSpPr>
          <p:spPr bwMode="auto">
            <a:xfrm>
              <a:off x="374" y="2793"/>
              <a:ext cx="1509" cy="252"/>
            </a:xfrm>
            <a:prstGeom prst="rect">
              <a:avLst/>
            </a:prstGeom>
            <a:noFill/>
            <a:ln w="9525">
              <a:noFill/>
              <a:miter lim="800000"/>
              <a:headEnd/>
              <a:tailEnd/>
            </a:ln>
          </p:spPr>
          <p:txBody>
            <a:bodyPr wrap="none">
              <a:spAutoFit/>
            </a:bodyPr>
            <a:lstStyle/>
            <a:p>
              <a:r>
                <a:rPr lang="en-US" altLang="zh-CN" sz="2000" b="1">
                  <a:solidFill>
                    <a:schemeClr val="bg1"/>
                  </a:solidFill>
                  <a:latin typeface="Times New Roman" pitchFamily="18" charset="0"/>
                  <a:ea typeface="华文中宋" pitchFamily="2" charset="-122"/>
                  <a:cs typeface="Times New Roman" pitchFamily="18" charset="0"/>
                </a:rPr>
                <a:t>1</a:t>
              </a:r>
              <a:r>
                <a:rPr lang="zh-CN" altLang="en-US" sz="2000" b="1">
                  <a:solidFill>
                    <a:schemeClr val="bg1"/>
                  </a:solidFill>
                  <a:latin typeface="Times New Roman" pitchFamily="18" charset="0"/>
                  <a:ea typeface="华文中宋" pitchFamily="2" charset="-122"/>
                  <a:cs typeface="Times New Roman" pitchFamily="18" charset="0"/>
                </a:rPr>
                <a:t>号箱始终在最左侧</a:t>
              </a:r>
            </a:p>
          </p:txBody>
        </p:sp>
        <p:sp>
          <p:nvSpPr>
            <p:cNvPr id="20497" name="AutoShape 15"/>
            <p:cNvSpPr>
              <a:spLocks/>
            </p:cNvSpPr>
            <p:nvPr/>
          </p:nvSpPr>
          <p:spPr bwMode="auto">
            <a:xfrm rot="-5400000">
              <a:off x="3000" y="2328"/>
              <a:ext cx="144" cy="864"/>
            </a:xfrm>
            <a:prstGeom prst="leftBrace">
              <a:avLst>
                <a:gd name="adj1" fmla="val 50000"/>
                <a:gd name="adj2" fmla="val 50000"/>
              </a:avLst>
            </a:prstGeom>
            <a:noFill/>
            <a:ln w="38100">
              <a:solidFill>
                <a:schemeClr val="bg1"/>
              </a:solidFill>
              <a:round/>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sp>
          <p:nvSpPr>
            <p:cNvPr id="20498" name="Text Box 16"/>
            <p:cNvSpPr txBox="1">
              <a:spLocks noChangeArrowheads="1"/>
            </p:cNvSpPr>
            <p:nvPr/>
          </p:nvSpPr>
          <p:spPr bwMode="auto">
            <a:xfrm>
              <a:off x="2286" y="2870"/>
              <a:ext cx="2370" cy="442"/>
            </a:xfrm>
            <a:prstGeom prst="rect">
              <a:avLst/>
            </a:prstGeom>
            <a:noFill/>
            <a:ln w="9525">
              <a:noFill/>
              <a:miter lim="800000"/>
              <a:headEnd/>
              <a:tailEnd/>
            </a:ln>
          </p:spPr>
          <p:txBody>
            <a:bodyPr wrap="none">
              <a:spAutoFit/>
            </a:bodyPr>
            <a:lstStyle/>
            <a:p>
              <a:r>
                <a:rPr lang="zh-CN" altLang="en-US" sz="2000" b="1">
                  <a:solidFill>
                    <a:schemeClr val="bg1"/>
                  </a:solidFill>
                  <a:latin typeface="Times New Roman" pitchFamily="18" charset="0"/>
                  <a:ea typeface="华文中宋" pitchFamily="2" charset="-122"/>
                  <a:cs typeface="Times New Roman" pitchFamily="18" charset="0"/>
                </a:rPr>
                <a:t>所有球放入紧邻其左侧的盒子，</a:t>
              </a:r>
            </a:p>
            <a:p>
              <a:r>
                <a:rPr lang="zh-CN" altLang="en-US" sz="2000" b="1">
                  <a:solidFill>
                    <a:schemeClr val="bg1"/>
                  </a:solidFill>
                  <a:latin typeface="Times New Roman" pitchFamily="18" charset="0"/>
                  <a:ea typeface="华文中宋" pitchFamily="2" charset="-122"/>
                  <a:cs typeface="Times New Roman" pitchFamily="18" charset="0"/>
                </a:rPr>
                <a:t>这三个球放入</a:t>
              </a:r>
              <a:r>
                <a:rPr lang="en-US" altLang="zh-CN" sz="2000" b="1">
                  <a:solidFill>
                    <a:schemeClr val="bg1"/>
                  </a:solidFill>
                  <a:latin typeface="Times New Roman" pitchFamily="18" charset="0"/>
                  <a:ea typeface="华文中宋" pitchFamily="2" charset="-122"/>
                  <a:cs typeface="Times New Roman" pitchFamily="18" charset="0"/>
                </a:rPr>
                <a:t>3</a:t>
              </a:r>
              <a:r>
                <a:rPr lang="zh-CN" altLang="en-US" sz="2000" b="1">
                  <a:solidFill>
                    <a:schemeClr val="bg1"/>
                  </a:solidFill>
                  <a:latin typeface="Times New Roman" pitchFamily="18" charset="0"/>
                  <a:ea typeface="华文中宋" pitchFamily="2" charset="-122"/>
                  <a:cs typeface="Times New Roman" pitchFamily="18" charset="0"/>
                </a:rPr>
                <a:t>号盒</a:t>
              </a:r>
            </a:p>
          </p:txBody>
        </p:sp>
      </p:grpSp>
      <p:grpSp>
        <p:nvGrpSpPr>
          <p:cNvPr id="5" name="Group 23"/>
          <p:cNvGrpSpPr>
            <a:grpSpLocks/>
          </p:cNvGrpSpPr>
          <p:nvPr/>
        </p:nvGrpSpPr>
        <p:grpSpPr bwMode="auto">
          <a:xfrm>
            <a:off x="609600" y="5105400"/>
            <a:ext cx="8391525" cy="1057275"/>
            <a:chOff x="384" y="3343"/>
            <a:chExt cx="5286" cy="666"/>
          </a:xfrm>
        </p:grpSpPr>
        <p:sp>
          <p:nvSpPr>
            <p:cNvPr id="20495" name="Text Box 18"/>
            <p:cNvSpPr txBox="1">
              <a:spLocks noChangeArrowheads="1"/>
            </p:cNvSpPr>
            <p:nvPr/>
          </p:nvSpPr>
          <p:spPr bwMode="auto">
            <a:xfrm>
              <a:off x="384" y="3369"/>
              <a:ext cx="5286" cy="640"/>
            </a:xfrm>
            <a:prstGeom prst="rect">
              <a:avLst/>
            </a:prstGeom>
            <a:noFill/>
            <a:ln w="9525">
              <a:noFill/>
              <a:miter lim="800000"/>
              <a:headEnd/>
              <a:tailEnd/>
            </a:ln>
          </p:spPr>
          <p:txBody>
            <a:bodyPr wrap="none">
              <a:spAutoFit/>
            </a:bodyPr>
            <a:lstStyle/>
            <a:p>
              <a:r>
                <a:rPr lang="en-US" altLang="zh-CN" sz="2000" b="1">
                  <a:solidFill>
                    <a:srgbClr val="D2DC08"/>
                  </a:solidFill>
                  <a:latin typeface="Times New Roman" pitchFamily="18" charset="0"/>
                  <a:ea typeface="华文中宋" pitchFamily="2" charset="-122"/>
                  <a:cs typeface="Times New Roman" pitchFamily="18" charset="0"/>
                </a:rPr>
                <a:t>1</a:t>
              </a:r>
              <a:r>
                <a:rPr lang="zh-CN" altLang="en-US" sz="2000" b="1">
                  <a:solidFill>
                    <a:srgbClr val="D2DC08"/>
                  </a:solidFill>
                  <a:latin typeface="Times New Roman" pitchFamily="18" charset="0"/>
                  <a:ea typeface="华文中宋" pitchFamily="2" charset="-122"/>
                  <a:cs typeface="Times New Roman" pitchFamily="18" charset="0"/>
                </a:rPr>
                <a:t>号盒不参加排列，参加排列的盒子和球的总数为                      ，其排列为</a:t>
              </a:r>
            </a:p>
            <a:p>
              <a:r>
                <a:rPr lang="zh-CN" altLang="en-US" sz="2000" b="1">
                  <a:solidFill>
                    <a:srgbClr val="D2DC08"/>
                  </a:solidFill>
                  <a:latin typeface="Times New Roman" pitchFamily="18" charset="0"/>
                  <a:ea typeface="华文中宋" pitchFamily="2" charset="-122"/>
                  <a:cs typeface="Times New Roman" pitchFamily="18" charset="0"/>
                </a:rPr>
                <a:t>                          ；球是全同的，其互相交换位置不产生新排列方式；盒子</a:t>
              </a:r>
            </a:p>
            <a:p>
              <a:r>
                <a:rPr lang="zh-CN" altLang="en-US" sz="2000" b="1">
                  <a:solidFill>
                    <a:srgbClr val="D2DC08"/>
                  </a:solidFill>
                  <a:latin typeface="Times New Roman" pitchFamily="18" charset="0"/>
                  <a:ea typeface="华文中宋" pitchFamily="2" charset="-122"/>
                  <a:cs typeface="Times New Roman" pitchFamily="18" charset="0"/>
                </a:rPr>
                <a:t>交换位置同样不代表新排列；所产生的总的排列方式的数目实际为 </a:t>
              </a:r>
            </a:p>
          </p:txBody>
        </p:sp>
        <p:graphicFrame>
          <p:nvGraphicFramePr>
            <p:cNvPr id="20484" name="Object 19"/>
            <p:cNvGraphicFramePr>
              <a:graphicFrameLocks noChangeAspect="1"/>
            </p:cNvGraphicFramePr>
            <p:nvPr/>
          </p:nvGraphicFramePr>
          <p:xfrm>
            <a:off x="3898" y="3343"/>
            <a:ext cx="902" cy="289"/>
          </p:xfrm>
          <a:graphic>
            <a:graphicData uri="http://schemas.openxmlformats.org/presentationml/2006/ole">
              <p:oleObj spid="_x0000_s20484" r:id="rId5" imgW="711200" imgH="228600" progId="Equation.DSMT4">
                <p:embed/>
              </p:oleObj>
            </a:graphicData>
          </a:graphic>
        </p:graphicFrame>
        <p:graphicFrame>
          <p:nvGraphicFramePr>
            <p:cNvPr id="20485" name="Object 21"/>
            <p:cNvGraphicFramePr>
              <a:graphicFrameLocks noChangeAspect="1"/>
            </p:cNvGraphicFramePr>
            <p:nvPr/>
          </p:nvGraphicFramePr>
          <p:xfrm>
            <a:off x="479" y="3552"/>
            <a:ext cx="961" cy="288"/>
          </p:xfrm>
          <a:graphic>
            <a:graphicData uri="http://schemas.openxmlformats.org/presentationml/2006/ole">
              <p:oleObj spid="_x0000_s20485" r:id="rId6" imgW="761669" imgH="228501" progId="Equation.DSMT4">
                <p:embed/>
              </p:oleObj>
            </a:graphicData>
          </a:graphic>
        </p:graphicFrame>
      </p:grpSp>
      <p:graphicFrame>
        <p:nvGraphicFramePr>
          <p:cNvPr id="39960" name="Object 24"/>
          <p:cNvGraphicFramePr>
            <a:graphicFrameLocks noChangeAspect="1"/>
          </p:cNvGraphicFramePr>
          <p:nvPr/>
        </p:nvGraphicFramePr>
        <p:xfrm>
          <a:off x="2971800" y="6019800"/>
          <a:ext cx="1539875" cy="855663"/>
        </p:xfrm>
        <a:graphic>
          <a:graphicData uri="http://schemas.openxmlformats.org/presentationml/2006/ole">
            <p:oleObj spid="_x0000_s20483" r:id="rId7" imgW="774364" imgH="431613" progId="Equation.DSMT4">
              <p:embed/>
            </p:oleObj>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9939"/>
                                        </p:tgtEl>
                                        <p:attrNameLst>
                                          <p:attrName>style.visibility</p:attrName>
                                        </p:attrNameLst>
                                      </p:cBhvr>
                                      <p:to>
                                        <p:strVal val="visible"/>
                                      </p:to>
                                    </p:set>
                                    <p:animEffect transition="in" filter="checkerboard(across)">
                                      <p:cBhvr>
                                        <p:cTn id="7" dur="500"/>
                                        <p:tgtEl>
                                          <p:spTgt spid="3993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heckerboard(across)">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9944"/>
                                        </p:tgtEl>
                                        <p:attrNameLst>
                                          <p:attrName>style.visibility</p:attrName>
                                        </p:attrNameLst>
                                      </p:cBhvr>
                                      <p:to>
                                        <p:strVal val="visible"/>
                                      </p:to>
                                    </p:set>
                                    <p:animEffect transition="in" filter="checkerboard(across)">
                                      <p:cBhvr>
                                        <p:cTn id="17" dur="500"/>
                                        <p:tgtEl>
                                          <p:spTgt spid="39944"/>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checkerboard(across)">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9948"/>
                                        </p:tgtEl>
                                        <p:attrNameLst>
                                          <p:attrName>style.visibility</p:attrName>
                                        </p:attrNameLst>
                                      </p:cBhvr>
                                      <p:to>
                                        <p:strVal val="visible"/>
                                      </p:to>
                                    </p:set>
                                    <p:animEffect transition="in" filter="checkerboard(across)">
                                      <p:cBhvr>
                                        <p:cTn id="27" dur="500"/>
                                        <p:tgtEl>
                                          <p:spTgt spid="39948"/>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checkerboard(across)">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checkerboard(across)">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39960"/>
                                        </p:tgtEl>
                                        <p:attrNameLst>
                                          <p:attrName>style.visibility</p:attrName>
                                        </p:attrNameLst>
                                      </p:cBhvr>
                                      <p:to>
                                        <p:strVal val="visible"/>
                                      </p:to>
                                    </p:set>
                                    <p:animEffect transition="in" filter="checkerboard(across)">
                                      <p:cBhvr>
                                        <p:cTn id="42" dur="500"/>
                                        <p:tgtEl>
                                          <p:spTgt spid="399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autoUpdateAnimBg="0"/>
      <p:bldP spid="39944"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灯片编号占位符 3"/>
          <p:cNvSpPr>
            <a:spLocks noGrp="1"/>
          </p:cNvSpPr>
          <p:nvPr>
            <p:ph type="sldNum" sz="quarter" idx="12"/>
          </p:nvPr>
        </p:nvSpPr>
        <p:spPr>
          <a:noFill/>
        </p:spPr>
        <p:txBody>
          <a:bodyPr/>
          <a:lstStyle/>
          <a:p>
            <a:fld id="{8F4DE44C-EB7D-4696-9ED1-3B219AF2F070}" type="slidenum">
              <a:rPr lang="en-US" altLang="zh-CN" smtClean="0"/>
              <a:pPr/>
              <a:t>35</a:t>
            </a:fld>
            <a:endParaRPr lang="en-US" altLang="zh-CN" smtClean="0"/>
          </a:p>
        </p:txBody>
      </p:sp>
      <p:sp>
        <p:nvSpPr>
          <p:cNvPr id="21509" name="Text Box 2"/>
          <p:cNvSpPr txBox="1">
            <a:spLocks noChangeArrowheads="1"/>
          </p:cNvSpPr>
          <p:nvPr/>
        </p:nvSpPr>
        <p:spPr bwMode="auto">
          <a:xfrm>
            <a:off x="4364038" y="0"/>
            <a:ext cx="477996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各种体系的能级分布和微观状态数</a:t>
            </a:r>
            <a:endParaRPr lang="zh-CN" altLang="en-US" sz="2400">
              <a:solidFill>
                <a:schemeClr val="bg1"/>
              </a:solidFill>
              <a:latin typeface="Times New Roman" pitchFamily="18" charset="0"/>
            </a:endParaRPr>
          </a:p>
        </p:txBody>
      </p:sp>
      <p:sp>
        <p:nvSpPr>
          <p:cNvPr id="40963" name="Rectangle 3"/>
          <p:cNvSpPr>
            <a:spLocks noGrp="1" noRot="1" noChangeArrowheads="1"/>
          </p:cNvSpPr>
          <p:nvPr/>
        </p:nvSpPr>
        <p:spPr bwMode="auto">
          <a:xfrm>
            <a:off x="374650" y="228600"/>
            <a:ext cx="8540750" cy="1143000"/>
          </a:xfrm>
          <a:prstGeom prst="rect">
            <a:avLst/>
          </a:prstGeom>
          <a:noFill/>
          <a:ln w="9525">
            <a:noFill/>
            <a:miter lim="800000"/>
            <a:headEnd/>
            <a:tailEnd/>
          </a:ln>
        </p:spPr>
        <p:txBody>
          <a:bodyPr anchor="ctr"/>
          <a:lstStyle/>
          <a:p>
            <a:pPr algn="ctr" eaLnBrk="0" hangingPunct="0"/>
            <a:r>
              <a:rPr lang="en-US" altLang="zh-CN" sz="4400" b="1" dirty="0">
                <a:solidFill>
                  <a:srgbClr val="FFFF00"/>
                </a:solidFill>
                <a:latin typeface="Times New Roman" pitchFamily="18" charset="0"/>
                <a:ea typeface="黑体" pitchFamily="49" charset="-122"/>
                <a:cs typeface="Times New Roman" pitchFamily="18" charset="0"/>
              </a:rPr>
              <a:t>Bose</a:t>
            </a:r>
            <a:r>
              <a:rPr lang="zh-CN" altLang="en-US" sz="4400" b="1" dirty="0">
                <a:solidFill>
                  <a:srgbClr val="FFFF00"/>
                </a:solidFill>
                <a:latin typeface="Times New Roman" pitchFamily="18" charset="0"/>
                <a:ea typeface="黑体" pitchFamily="49" charset="-122"/>
                <a:cs typeface="Times New Roman" pitchFamily="18" charset="0"/>
              </a:rPr>
              <a:t>子的微观状态数计算</a:t>
            </a:r>
          </a:p>
        </p:txBody>
      </p:sp>
      <p:grpSp>
        <p:nvGrpSpPr>
          <p:cNvPr id="2" name="Group 10"/>
          <p:cNvGrpSpPr>
            <a:grpSpLocks/>
          </p:cNvGrpSpPr>
          <p:nvPr/>
        </p:nvGrpSpPr>
        <p:grpSpPr bwMode="auto">
          <a:xfrm>
            <a:off x="914400" y="1600200"/>
            <a:ext cx="6694488" cy="1897063"/>
            <a:chOff x="576" y="1008"/>
            <a:chExt cx="4217" cy="1195"/>
          </a:xfrm>
        </p:grpSpPr>
        <p:sp>
          <p:nvSpPr>
            <p:cNvPr id="21514" name="Text Box 4"/>
            <p:cNvSpPr txBox="1">
              <a:spLocks noChangeArrowheads="1"/>
            </p:cNvSpPr>
            <p:nvPr/>
          </p:nvSpPr>
          <p:spPr bwMode="auto">
            <a:xfrm>
              <a:off x="576" y="1008"/>
              <a:ext cx="4217" cy="288"/>
            </a:xfrm>
            <a:prstGeom prst="rect">
              <a:avLst/>
            </a:prstGeom>
            <a:noFill/>
            <a:ln w="9525">
              <a:noFill/>
              <a:miter lim="800000"/>
              <a:headEnd/>
              <a:tailEnd/>
            </a:ln>
          </p:spPr>
          <p:txBody>
            <a:bodyPr wrap="none">
              <a:spAutoFit/>
            </a:bodyPr>
            <a:lstStyle/>
            <a:p>
              <a:pPr eaLnBrk="0" hangingPunct="0"/>
              <a:r>
                <a:rPr lang="zh-CN" altLang="en-US" sz="2400" b="1" dirty="0">
                  <a:solidFill>
                    <a:srgbClr val="D2DC08"/>
                  </a:solidFill>
                  <a:latin typeface="华文中宋" pitchFamily="2" charset="-122"/>
                  <a:ea typeface="华文中宋" pitchFamily="2" charset="-122"/>
                </a:rPr>
                <a:t>步骤二：给定一套能级分布时的所有微观状态 。</a:t>
              </a:r>
            </a:p>
          </p:txBody>
        </p:sp>
        <p:graphicFrame>
          <p:nvGraphicFramePr>
            <p:cNvPr id="21507" name="Object 6"/>
            <p:cNvGraphicFramePr>
              <a:graphicFrameLocks noChangeAspect="1"/>
            </p:cNvGraphicFramePr>
            <p:nvPr/>
          </p:nvGraphicFramePr>
          <p:xfrm>
            <a:off x="1728" y="1392"/>
            <a:ext cx="1857" cy="811"/>
          </p:xfrm>
          <a:graphic>
            <a:graphicData uri="http://schemas.openxmlformats.org/presentationml/2006/ole">
              <p:oleObj spid="_x0000_s21507" r:id="rId3" imgW="977900" imgH="431800" progId="Equation.DSMT4">
                <p:embed/>
              </p:oleObj>
            </a:graphicData>
          </a:graphic>
        </p:graphicFrame>
      </p:grpSp>
      <p:grpSp>
        <p:nvGrpSpPr>
          <p:cNvPr id="3" name="Group 11"/>
          <p:cNvGrpSpPr>
            <a:grpSpLocks/>
          </p:cNvGrpSpPr>
          <p:nvPr/>
        </p:nvGrpSpPr>
        <p:grpSpPr bwMode="auto">
          <a:xfrm>
            <a:off x="914400" y="3886200"/>
            <a:ext cx="6005513" cy="1895475"/>
            <a:chOff x="576" y="2448"/>
            <a:chExt cx="3783" cy="1194"/>
          </a:xfrm>
        </p:grpSpPr>
        <p:sp>
          <p:nvSpPr>
            <p:cNvPr id="21513" name="Text Box 5"/>
            <p:cNvSpPr txBox="1">
              <a:spLocks noChangeArrowheads="1"/>
            </p:cNvSpPr>
            <p:nvPr/>
          </p:nvSpPr>
          <p:spPr bwMode="auto">
            <a:xfrm>
              <a:off x="576" y="2448"/>
              <a:ext cx="3783" cy="288"/>
            </a:xfrm>
            <a:prstGeom prst="rect">
              <a:avLst/>
            </a:prstGeom>
            <a:noFill/>
            <a:ln w="9525">
              <a:noFill/>
              <a:miter lim="800000"/>
              <a:headEnd/>
              <a:tailEnd/>
            </a:ln>
          </p:spPr>
          <p:txBody>
            <a:bodyPr wrap="none">
              <a:spAutoFit/>
            </a:bodyPr>
            <a:lstStyle/>
            <a:p>
              <a:pPr eaLnBrk="0" hangingPunct="0"/>
              <a:r>
                <a:rPr lang="zh-CN" altLang="en-US" sz="2400" b="1" dirty="0">
                  <a:solidFill>
                    <a:srgbClr val="D2DC08"/>
                  </a:solidFill>
                  <a:latin typeface="华文中宋" pitchFamily="2" charset="-122"/>
                  <a:ea typeface="华文中宋" pitchFamily="2" charset="-122"/>
                </a:rPr>
                <a:t>步骤三：对所有可能的能级分布形式加总。</a:t>
              </a:r>
            </a:p>
          </p:txBody>
        </p:sp>
        <p:graphicFrame>
          <p:nvGraphicFramePr>
            <p:cNvPr id="21506" name="Object 8"/>
            <p:cNvGraphicFramePr>
              <a:graphicFrameLocks noChangeAspect="1"/>
            </p:cNvGraphicFramePr>
            <p:nvPr/>
          </p:nvGraphicFramePr>
          <p:xfrm>
            <a:off x="1392" y="2832"/>
            <a:ext cx="2720" cy="810"/>
          </p:xfrm>
          <a:graphic>
            <a:graphicData uri="http://schemas.openxmlformats.org/presentationml/2006/ole">
              <p:oleObj spid="_x0000_s21506" r:id="rId4" imgW="1435100" imgH="431800" progId="Equation.DSMT4">
                <p:embed/>
              </p:oleObj>
            </a:graphicData>
          </a:graphic>
        </p:graphicFrame>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40963"/>
                                        </p:tgtEl>
                                        <p:attrNameLst>
                                          <p:attrName>style.visibility</p:attrName>
                                        </p:attrNameLst>
                                      </p:cBhvr>
                                      <p:to>
                                        <p:strVal val="visible"/>
                                      </p:to>
                                    </p:set>
                                    <p:animEffect transition="in" filter="barn(outHorizontal)">
                                      <p:cBhvr>
                                        <p:cTn id="7" dur="500"/>
                                        <p:tgtEl>
                                          <p:spTgt spid="4096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out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arn(out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8" name="灯片编号占位符 3"/>
          <p:cNvSpPr>
            <a:spLocks noGrp="1"/>
          </p:cNvSpPr>
          <p:nvPr>
            <p:ph type="sldNum" sz="quarter" idx="12"/>
          </p:nvPr>
        </p:nvSpPr>
        <p:spPr>
          <a:noFill/>
        </p:spPr>
        <p:txBody>
          <a:bodyPr/>
          <a:lstStyle/>
          <a:p>
            <a:fld id="{467CCAE3-D84F-4172-AC82-8B5B09BC35FD}" type="slidenum">
              <a:rPr lang="en-US" altLang="zh-CN" smtClean="0">
                <a:latin typeface="Times New Roman" pitchFamily="18" charset="0"/>
                <a:ea typeface="华文中宋" pitchFamily="2" charset="-122"/>
                <a:cs typeface="Times New Roman" pitchFamily="18" charset="0"/>
              </a:rPr>
              <a:pPr/>
              <a:t>36</a:t>
            </a:fld>
            <a:endParaRPr lang="en-US" altLang="zh-CN" smtClean="0">
              <a:latin typeface="Times New Roman" pitchFamily="18" charset="0"/>
              <a:ea typeface="华文中宋" pitchFamily="2" charset="-122"/>
              <a:cs typeface="Times New Roman" pitchFamily="18" charset="0"/>
            </a:endParaRPr>
          </a:p>
        </p:txBody>
      </p:sp>
      <p:sp>
        <p:nvSpPr>
          <p:cNvPr id="22539" name="Text Box 3"/>
          <p:cNvSpPr txBox="1">
            <a:spLocks noChangeArrowheads="1"/>
          </p:cNvSpPr>
          <p:nvPr/>
        </p:nvSpPr>
        <p:spPr bwMode="auto">
          <a:xfrm>
            <a:off x="4364038" y="0"/>
            <a:ext cx="477996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各种体系的能级分布和微观状态数</a:t>
            </a:r>
            <a:endParaRPr lang="zh-CN" altLang="en-US" sz="2400">
              <a:solidFill>
                <a:schemeClr val="bg1"/>
              </a:solidFill>
              <a:latin typeface="Times New Roman" pitchFamily="18" charset="0"/>
            </a:endParaRPr>
          </a:p>
        </p:txBody>
      </p:sp>
      <p:sp>
        <p:nvSpPr>
          <p:cNvPr id="41988" name="Rectangle 4"/>
          <p:cNvSpPr>
            <a:spLocks noGrp="1" noRot="1" noChangeArrowheads="1"/>
          </p:cNvSpPr>
          <p:nvPr/>
        </p:nvSpPr>
        <p:spPr bwMode="auto">
          <a:xfrm>
            <a:off x="374650" y="571488"/>
            <a:ext cx="8540750" cy="1143000"/>
          </a:xfrm>
          <a:prstGeom prst="rect">
            <a:avLst/>
          </a:prstGeom>
          <a:noFill/>
          <a:ln w="9525">
            <a:noFill/>
            <a:miter lim="800000"/>
            <a:headEnd/>
            <a:tailEnd/>
          </a:ln>
        </p:spPr>
        <p:txBody>
          <a:bodyPr anchor="ctr"/>
          <a:lstStyle/>
          <a:p>
            <a:pPr algn="ctr" eaLnBrk="0" hangingPunct="0"/>
            <a:r>
              <a:rPr lang="en-US" altLang="zh-CN" sz="4400" b="1" dirty="0">
                <a:solidFill>
                  <a:srgbClr val="FFFF00"/>
                </a:solidFill>
                <a:latin typeface="Times New Roman" pitchFamily="18" charset="0"/>
                <a:ea typeface="黑体" pitchFamily="49" charset="-122"/>
                <a:cs typeface="Times New Roman" pitchFamily="18" charset="0"/>
              </a:rPr>
              <a:t>Bose</a:t>
            </a:r>
            <a:r>
              <a:rPr lang="zh-CN" altLang="en-US" sz="4400" b="1" dirty="0">
                <a:solidFill>
                  <a:srgbClr val="FFFF00"/>
                </a:solidFill>
                <a:latin typeface="Times New Roman" pitchFamily="18" charset="0"/>
                <a:ea typeface="黑体" pitchFamily="49" charset="-122"/>
                <a:cs typeface="Times New Roman" pitchFamily="18" charset="0"/>
              </a:rPr>
              <a:t>子的微观状态数计算</a:t>
            </a:r>
          </a:p>
          <a:p>
            <a:pPr algn="ctr" eaLnBrk="0" hangingPunct="0"/>
            <a:r>
              <a:rPr lang="zh-CN" altLang="en-US" sz="4400" b="1" dirty="0">
                <a:solidFill>
                  <a:srgbClr val="FFFF00"/>
                </a:solidFill>
                <a:latin typeface="Times New Roman" pitchFamily="18" charset="0"/>
                <a:ea typeface="黑体" pitchFamily="49" charset="-122"/>
                <a:cs typeface="Times New Roman" pitchFamily="18" charset="0"/>
              </a:rPr>
              <a:t>的另一种思路</a:t>
            </a:r>
          </a:p>
        </p:txBody>
      </p:sp>
      <p:grpSp>
        <p:nvGrpSpPr>
          <p:cNvPr id="2" name="Group 5"/>
          <p:cNvGrpSpPr>
            <a:grpSpLocks/>
          </p:cNvGrpSpPr>
          <p:nvPr/>
        </p:nvGrpSpPr>
        <p:grpSpPr bwMode="auto">
          <a:xfrm>
            <a:off x="914400" y="1825627"/>
            <a:ext cx="8047038" cy="465138"/>
            <a:chOff x="576" y="1440"/>
            <a:chExt cx="5069" cy="293"/>
          </a:xfrm>
        </p:grpSpPr>
        <p:sp>
          <p:nvSpPr>
            <p:cNvPr id="22555" name="Text Box 6"/>
            <p:cNvSpPr txBox="1">
              <a:spLocks noChangeArrowheads="1"/>
            </p:cNvSpPr>
            <p:nvPr/>
          </p:nvSpPr>
          <p:spPr bwMode="auto">
            <a:xfrm>
              <a:off x="576" y="1442"/>
              <a:ext cx="5069" cy="291"/>
            </a:xfrm>
            <a:prstGeom prst="rect">
              <a:avLst/>
            </a:prstGeom>
            <a:noFill/>
            <a:ln w="9525">
              <a:noFill/>
              <a:miter lim="800000"/>
              <a:headEnd/>
              <a:tailEnd/>
            </a:ln>
          </p:spPr>
          <p:txBody>
            <a:bodyPr wrap="none">
              <a:spAutoFit/>
            </a:bodyPr>
            <a:lstStyle/>
            <a:p>
              <a:r>
                <a:rPr lang="zh-CN" altLang="en-US" sz="2400" b="1">
                  <a:solidFill>
                    <a:srgbClr val="D2DC08"/>
                  </a:solidFill>
                  <a:latin typeface="Times New Roman" pitchFamily="18" charset="0"/>
                  <a:ea typeface="华文中宋" pitchFamily="2" charset="-122"/>
                  <a:cs typeface="Times New Roman" pitchFamily="18" charset="0"/>
                </a:rPr>
                <a:t>步骤一</a:t>
              </a:r>
              <a:r>
                <a:rPr lang="zh-CN" altLang="en-US" sz="2400" b="1">
                  <a:solidFill>
                    <a:schemeClr val="bg1"/>
                  </a:solidFill>
                  <a:latin typeface="Times New Roman" pitchFamily="18" charset="0"/>
                  <a:ea typeface="华文中宋" pitchFamily="2" charset="-122"/>
                  <a:cs typeface="Times New Roman" pitchFamily="18" charset="0"/>
                </a:rPr>
                <a:t>：对于给定的     能级，有</a:t>
              </a:r>
              <a:r>
                <a:rPr lang="en-US" altLang="zh-CN" sz="2400" b="1" i="1">
                  <a:solidFill>
                    <a:schemeClr val="bg1"/>
                  </a:solidFill>
                  <a:latin typeface="Times New Roman" pitchFamily="18" charset="0"/>
                  <a:ea typeface="华文中宋" pitchFamily="2" charset="-122"/>
                  <a:cs typeface="Times New Roman" pitchFamily="18" charset="0"/>
                </a:rPr>
                <a:t>n</a:t>
              </a:r>
              <a:r>
                <a:rPr lang="en-US" altLang="zh-CN" sz="2400" b="1" i="1" baseline="-30000">
                  <a:solidFill>
                    <a:schemeClr val="bg1"/>
                  </a:solidFill>
                  <a:latin typeface="Times New Roman" pitchFamily="18" charset="0"/>
                  <a:ea typeface="华文中宋" pitchFamily="2" charset="-122"/>
                  <a:cs typeface="Times New Roman" pitchFamily="18" charset="0"/>
                </a:rPr>
                <a:t>i</a:t>
              </a:r>
              <a:r>
                <a:rPr lang="zh-CN" altLang="en-US" sz="2400" b="1">
                  <a:solidFill>
                    <a:schemeClr val="bg1"/>
                  </a:solidFill>
                  <a:latin typeface="Times New Roman" pitchFamily="18" charset="0"/>
                  <a:ea typeface="华文中宋" pitchFamily="2" charset="-122"/>
                  <a:cs typeface="Times New Roman" pitchFamily="18" charset="0"/>
                </a:rPr>
                <a:t>个粒子，简并度为</a:t>
              </a:r>
              <a:r>
                <a:rPr lang="en-US" altLang="zh-CN" sz="2400" b="1" i="1">
                  <a:solidFill>
                    <a:schemeClr val="bg1"/>
                  </a:solidFill>
                  <a:latin typeface="Times New Roman" pitchFamily="18" charset="0"/>
                  <a:ea typeface="华文中宋" pitchFamily="2" charset="-122"/>
                  <a:cs typeface="Times New Roman" pitchFamily="18" charset="0"/>
                </a:rPr>
                <a:t>g</a:t>
              </a:r>
              <a:r>
                <a:rPr lang="en-US" altLang="zh-CN" sz="2400" b="1" i="1" baseline="-30000">
                  <a:solidFill>
                    <a:schemeClr val="bg1"/>
                  </a:solidFill>
                  <a:latin typeface="Times New Roman" pitchFamily="18" charset="0"/>
                  <a:ea typeface="华文中宋" pitchFamily="2" charset="-122"/>
                  <a:cs typeface="Times New Roman" pitchFamily="18" charset="0"/>
                </a:rPr>
                <a:t>i</a:t>
              </a:r>
              <a:r>
                <a:rPr lang="en-US" altLang="zh-CN" sz="2400" b="1">
                  <a:solidFill>
                    <a:schemeClr val="bg1"/>
                  </a:solidFill>
                  <a:latin typeface="Times New Roman" pitchFamily="18" charset="0"/>
                  <a:ea typeface="华文中宋" pitchFamily="2" charset="-122"/>
                  <a:cs typeface="Times New Roman" pitchFamily="18" charset="0"/>
                </a:rPr>
                <a:t> </a:t>
              </a:r>
              <a:r>
                <a:rPr lang="zh-CN" altLang="en-US" sz="2400" b="1">
                  <a:solidFill>
                    <a:schemeClr val="bg1"/>
                  </a:solidFill>
                  <a:latin typeface="Times New Roman" pitchFamily="18" charset="0"/>
                  <a:ea typeface="华文中宋" pitchFamily="2" charset="-122"/>
                  <a:cs typeface="Times New Roman" pitchFamily="18" charset="0"/>
                </a:rPr>
                <a:t>。</a:t>
              </a:r>
            </a:p>
          </p:txBody>
        </p:sp>
        <p:graphicFrame>
          <p:nvGraphicFramePr>
            <p:cNvPr id="22537" name="Object 7"/>
            <p:cNvGraphicFramePr>
              <a:graphicFrameLocks noChangeAspect="1"/>
            </p:cNvGraphicFramePr>
            <p:nvPr/>
          </p:nvGraphicFramePr>
          <p:xfrm>
            <a:off x="2410" y="1440"/>
            <a:ext cx="179" cy="286"/>
          </p:xfrm>
          <a:graphic>
            <a:graphicData uri="http://schemas.openxmlformats.org/presentationml/2006/ole">
              <p:oleObj spid="_x0000_s22537" name="Equation" r:id="rId3" imgW="152280" imgH="228600" progId="Equation.DSMT4">
                <p:embed/>
              </p:oleObj>
            </a:graphicData>
          </a:graphic>
        </p:graphicFrame>
      </p:grpSp>
      <p:grpSp>
        <p:nvGrpSpPr>
          <p:cNvPr id="3" name="Group 11"/>
          <p:cNvGrpSpPr>
            <a:grpSpLocks/>
          </p:cNvGrpSpPr>
          <p:nvPr/>
        </p:nvGrpSpPr>
        <p:grpSpPr bwMode="auto">
          <a:xfrm>
            <a:off x="685800" y="2405063"/>
            <a:ext cx="3762375" cy="1311275"/>
            <a:chOff x="432" y="1515"/>
            <a:chExt cx="2370" cy="826"/>
          </a:xfrm>
        </p:grpSpPr>
        <p:sp>
          <p:nvSpPr>
            <p:cNvPr id="22554" name="Text Box 8"/>
            <p:cNvSpPr txBox="1">
              <a:spLocks noChangeArrowheads="1"/>
            </p:cNvSpPr>
            <p:nvPr/>
          </p:nvSpPr>
          <p:spPr bwMode="auto">
            <a:xfrm>
              <a:off x="432" y="1515"/>
              <a:ext cx="2370" cy="826"/>
            </a:xfrm>
            <a:prstGeom prst="rect">
              <a:avLst/>
            </a:prstGeom>
            <a:solidFill>
              <a:srgbClr val="000099"/>
            </a:solidFill>
            <a:ln w="9525">
              <a:noFill/>
              <a:miter lim="800000"/>
              <a:headEnd/>
              <a:tailEnd/>
            </a:ln>
          </p:spPr>
          <p:txBody>
            <a:bodyPr wrap="none">
              <a:spAutoFit/>
            </a:bodyPr>
            <a:lstStyle/>
            <a:p>
              <a:r>
                <a:rPr lang="zh-CN" altLang="en-US" sz="2000" b="1">
                  <a:solidFill>
                    <a:srgbClr val="D2DC08"/>
                  </a:solidFill>
                  <a:latin typeface="Times New Roman" pitchFamily="18" charset="0"/>
                  <a:ea typeface="华文中宋" pitchFamily="2" charset="-122"/>
                  <a:cs typeface="Times New Roman" pitchFamily="18" charset="0"/>
                </a:rPr>
                <a:t>假设粒子是可分辨的，对第一个</a:t>
              </a:r>
            </a:p>
            <a:p>
              <a:r>
                <a:rPr lang="zh-CN" altLang="en-US" sz="2000" b="1">
                  <a:solidFill>
                    <a:srgbClr val="D2DC08"/>
                  </a:solidFill>
                  <a:latin typeface="Times New Roman" pitchFamily="18" charset="0"/>
                  <a:ea typeface="华文中宋" pitchFamily="2" charset="-122"/>
                  <a:cs typeface="Times New Roman" pitchFamily="18" charset="0"/>
                </a:rPr>
                <a:t>粒子有</a:t>
              </a:r>
              <a:r>
                <a:rPr lang="en-US" altLang="zh-CN" sz="2000" b="1" i="1">
                  <a:solidFill>
                    <a:srgbClr val="D2DC08"/>
                  </a:solidFill>
                  <a:latin typeface="Times New Roman" pitchFamily="18" charset="0"/>
                  <a:ea typeface="华文中宋" pitchFamily="2" charset="-122"/>
                  <a:cs typeface="Times New Roman" pitchFamily="18" charset="0"/>
                </a:rPr>
                <a:t>g</a:t>
              </a:r>
              <a:r>
                <a:rPr lang="en-US" altLang="zh-CN" sz="2000" b="1" i="1" baseline="-30000">
                  <a:solidFill>
                    <a:srgbClr val="D2DC08"/>
                  </a:solidFill>
                  <a:latin typeface="Times New Roman" pitchFamily="18" charset="0"/>
                  <a:ea typeface="华文中宋" pitchFamily="2" charset="-122"/>
                  <a:cs typeface="Times New Roman" pitchFamily="18" charset="0"/>
                </a:rPr>
                <a:t>i</a:t>
              </a:r>
              <a:r>
                <a:rPr lang="zh-CN" altLang="en-US" sz="2000" b="1">
                  <a:solidFill>
                    <a:srgbClr val="D2DC08"/>
                  </a:solidFill>
                  <a:latin typeface="Times New Roman" pitchFamily="18" charset="0"/>
                  <a:ea typeface="华文中宋" pitchFamily="2" charset="-122"/>
                  <a:cs typeface="Times New Roman" pitchFamily="18" charset="0"/>
                </a:rPr>
                <a:t>种放法，对第二个粒子</a:t>
              </a:r>
            </a:p>
            <a:p>
              <a:r>
                <a:rPr lang="zh-CN" altLang="en-US" sz="2000" b="1">
                  <a:solidFill>
                    <a:srgbClr val="D2DC08"/>
                  </a:solidFill>
                  <a:latin typeface="Times New Roman" pitchFamily="18" charset="0"/>
                  <a:ea typeface="华文中宋" pitchFamily="2" charset="-122"/>
                  <a:cs typeface="Times New Roman" pitchFamily="18" charset="0"/>
                </a:rPr>
                <a:t>也有</a:t>
              </a:r>
              <a:r>
                <a:rPr lang="en-US" altLang="zh-CN" sz="2000" b="1" i="1">
                  <a:solidFill>
                    <a:srgbClr val="D2DC08"/>
                  </a:solidFill>
                  <a:latin typeface="Times New Roman" pitchFamily="18" charset="0"/>
                  <a:ea typeface="华文中宋" pitchFamily="2" charset="-122"/>
                  <a:cs typeface="Times New Roman" pitchFamily="18" charset="0"/>
                </a:rPr>
                <a:t>g</a:t>
              </a:r>
              <a:r>
                <a:rPr lang="en-US" altLang="zh-CN" sz="2000" b="1" i="1" baseline="-30000">
                  <a:solidFill>
                    <a:srgbClr val="D2DC08"/>
                  </a:solidFill>
                  <a:latin typeface="Times New Roman" pitchFamily="18" charset="0"/>
                  <a:ea typeface="华文中宋" pitchFamily="2" charset="-122"/>
                  <a:cs typeface="Times New Roman" pitchFamily="18" charset="0"/>
                </a:rPr>
                <a:t>i</a:t>
              </a:r>
              <a:r>
                <a:rPr lang="zh-CN" altLang="en-US" sz="2000" b="1">
                  <a:solidFill>
                    <a:srgbClr val="D2DC08"/>
                  </a:solidFill>
                  <a:latin typeface="Times New Roman" pitchFamily="18" charset="0"/>
                  <a:ea typeface="华文中宋" pitchFamily="2" charset="-122"/>
                  <a:cs typeface="Times New Roman" pitchFamily="18" charset="0"/>
                </a:rPr>
                <a:t>种放法</a:t>
              </a:r>
              <a:r>
                <a:rPr lang="en-US" altLang="zh-CN" sz="2000" b="1">
                  <a:solidFill>
                    <a:srgbClr val="D2DC08"/>
                  </a:solidFill>
                  <a:latin typeface="Times New Roman" pitchFamily="18" charset="0"/>
                  <a:ea typeface="华文中宋" pitchFamily="2" charset="-122"/>
                  <a:cs typeface="Times New Roman" pitchFamily="18" charset="0"/>
                </a:rPr>
                <a:t>……</a:t>
              </a:r>
              <a:r>
                <a:rPr lang="zh-CN" altLang="en-US" sz="2000" b="1">
                  <a:solidFill>
                    <a:srgbClr val="D2DC08"/>
                  </a:solidFill>
                  <a:latin typeface="Times New Roman" pitchFamily="18" charset="0"/>
                  <a:ea typeface="华文中宋" pitchFamily="2" charset="-122"/>
                  <a:cs typeface="Times New Roman" pitchFamily="18" charset="0"/>
                </a:rPr>
                <a:t>，则个可分辨</a:t>
              </a:r>
            </a:p>
            <a:p>
              <a:r>
                <a:rPr lang="zh-CN" altLang="en-US" sz="2000" b="1">
                  <a:solidFill>
                    <a:srgbClr val="D2DC08"/>
                  </a:solidFill>
                  <a:latin typeface="Times New Roman" pitchFamily="18" charset="0"/>
                  <a:ea typeface="华文中宋" pitchFamily="2" charset="-122"/>
                  <a:cs typeface="Times New Roman" pitchFamily="18" charset="0"/>
                </a:rPr>
                <a:t>粒子共有      种分配方法 </a:t>
              </a:r>
            </a:p>
          </p:txBody>
        </p:sp>
        <p:graphicFrame>
          <p:nvGraphicFramePr>
            <p:cNvPr id="22536" name="Object 9"/>
            <p:cNvGraphicFramePr>
              <a:graphicFrameLocks noChangeAspect="1"/>
            </p:cNvGraphicFramePr>
            <p:nvPr/>
          </p:nvGraphicFramePr>
          <p:xfrm>
            <a:off x="1152" y="2080"/>
            <a:ext cx="206" cy="224"/>
          </p:xfrm>
          <a:graphic>
            <a:graphicData uri="http://schemas.openxmlformats.org/presentationml/2006/ole">
              <p:oleObj spid="_x0000_s22536" r:id="rId4" imgW="215713" imgH="241091" progId="Equation.DSMT4">
                <p:embed/>
              </p:oleObj>
            </a:graphicData>
          </a:graphic>
        </p:graphicFrame>
      </p:grpSp>
      <p:grpSp>
        <p:nvGrpSpPr>
          <p:cNvPr id="4" name="Group 17"/>
          <p:cNvGrpSpPr>
            <a:grpSpLocks/>
          </p:cNvGrpSpPr>
          <p:nvPr/>
        </p:nvGrpSpPr>
        <p:grpSpPr bwMode="auto">
          <a:xfrm>
            <a:off x="4419600" y="2651125"/>
            <a:ext cx="3325813" cy="701675"/>
            <a:chOff x="2784" y="1670"/>
            <a:chExt cx="2095" cy="442"/>
          </a:xfrm>
        </p:grpSpPr>
        <p:sp>
          <p:nvSpPr>
            <p:cNvPr id="22552" name="Text Box 12"/>
            <p:cNvSpPr txBox="1">
              <a:spLocks noChangeArrowheads="1"/>
            </p:cNvSpPr>
            <p:nvPr/>
          </p:nvSpPr>
          <p:spPr bwMode="auto">
            <a:xfrm>
              <a:off x="3072" y="1670"/>
              <a:ext cx="1807" cy="442"/>
            </a:xfrm>
            <a:prstGeom prst="rect">
              <a:avLst/>
            </a:prstGeom>
            <a:solidFill>
              <a:srgbClr val="000099"/>
            </a:solidFill>
            <a:ln w="9525">
              <a:noFill/>
              <a:miter lim="800000"/>
              <a:headEnd/>
              <a:tailEnd/>
            </a:ln>
          </p:spPr>
          <p:txBody>
            <a:bodyPr wrap="none">
              <a:spAutoFit/>
            </a:bodyPr>
            <a:lstStyle/>
            <a:p>
              <a:r>
                <a:rPr lang="zh-CN" altLang="en-US" sz="2000" b="1">
                  <a:solidFill>
                    <a:srgbClr val="D2DC08"/>
                  </a:solidFill>
                  <a:latin typeface="Times New Roman" pitchFamily="18" charset="0"/>
                  <a:ea typeface="华文中宋" pitchFamily="2" charset="-122"/>
                  <a:cs typeface="Times New Roman" pitchFamily="18" charset="0"/>
                </a:rPr>
                <a:t>粒子互换位置实际只是</a:t>
              </a:r>
            </a:p>
            <a:p>
              <a:r>
                <a:rPr lang="zh-CN" altLang="en-US" sz="2000" b="1">
                  <a:solidFill>
                    <a:srgbClr val="D2DC08"/>
                  </a:solidFill>
                  <a:latin typeface="Times New Roman" pitchFamily="18" charset="0"/>
                  <a:ea typeface="华文中宋" pitchFamily="2" charset="-122"/>
                  <a:cs typeface="Times New Roman" pitchFamily="18" charset="0"/>
                </a:rPr>
                <a:t>一种方法，最终结果为 </a:t>
              </a:r>
            </a:p>
          </p:txBody>
        </p:sp>
        <p:sp>
          <p:nvSpPr>
            <p:cNvPr id="22553" name="Line 15"/>
            <p:cNvSpPr>
              <a:spLocks noChangeShapeType="1"/>
            </p:cNvSpPr>
            <p:nvPr/>
          </p:nvSpPr>
          <p:spPr bwMode="auto">
            <a:xfrm>
              <a:off x="2784" y="1872"/>
              <a:ext cx="288" cy="0"/>
            </a:xfrm>
            <a:prstGeom prst="line">
              <a:avLst/>
            </a:prstGeom>
            <a:noFill/>
            <a:ln w="38100">
              <a:solidFill>
                <a:srgbClr val="000099"/>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5" name="Group 18"/>
          <p:cNvGrpSpPr>
            <a:grpSpLocks/>
          </p:cNvGrpSpPr>
          <p:nvPr/>
        </p:nvGrpSpPr>
        <p:grpSpPr bwMode="auto">
          <a:xfrm>
            <a:off x="7772400" y="2438400"/>
            <a:ext cx="1143000" cy="1138238"/>
            <a:chOff x="4896" y="1536"/>
            <a:chExt cx="720" cy="717"/>
          </a:xfrm>
        </p:grpSpPr>
        <p:graphicFrame>
          <p:nvGraphicFramePr>
            <p:cNvPr id="22535" name="Object 13"/>
            <p:cNvGraphicFramePr>
              <a:graphicFrameLocks noChangeAspect="1"/>
            </p:cNvGraphicFramePr>
            <p:nvPr/>
          </p:nvGraphicFramePr>
          <p:xfrm>
            <a:off x="5212" y="1536"/>
            <a:ext cx="404" cy="717"/>
          </p:xfrm>
          <a:graphic>
            <a:graphicData uri="http://schemas.openxmlformats.org/presentationml/2006/ole">
              <p:oleObj spid="_x0000_s22535" r:id="rId5" imgW="253890" imgH="457002" progId="Equation.DSMT4">
                <p:embed/>
              </p:oleObj>
            </a:graphicData>
          </a:graphic>
        </p:graphicFrame>
        <p:sp>
          <p:nvSpPr>
            <p:cNvPr id="22551" name="Line 16"/>
            <p:cNvSpPr>
              <a:spLocks noChangeShapeType="1"/>
            </p:cNvSpPr>
            <p:nvPr/>
          </p:nvSpPr>
          <p:spPr bwMode="auto">
            <a:xfrm>
              <a:off x="4896" y="1872"/>
              <a:ext cx="288" cy="0"/>
            </a:xfrm>
            <a:prstGeom prst="line">
              <a:avLst/>
            </a:prstGeom>
            <a:noFill/>
            <a:ln w="38100">
              <a:solidFill>
                <a:srgbClr val="000099"/>
              </a:solidFill>
              <a:round/>
              <a:headEnd/>
              <a:tailEnd type="triangle" w="med" len="me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6" name="Group 21"/>
          <p:cNvGrpSpPr>
            <a:grpSpLocks/>
          </p:cNvGrpSpPr>
          <p:nvPr/>
        </p:nvGrpSpPr>
        <p:grpSpPr bwMode="auto">
          <a:xfrm>
            <a:off x="5013325" y="3886200"/>
            <a:ext cx="3308350" cy="855663"/>
            <a:chOff x="3158" y="2448"/>
            <a:chExt cx="2084" cy="539"/>
          </a:xfrm>
        </p:grpSpPr>
        <p:sp>
          <p:nvSpPr>
            <p:cNvPr id="22550" name="Text Box 19"/>
            <p:cNvSpPr txBox="1">
              <a:spLocks noChangeArrowheads="1"/>
            </p:cNvSpPr>
            <p:nvPr/>
          </p:nvSpPr>
          <p:spPr bwMode="auto">
            <a:xfrm>
              <a:off x="3158" y="2590"/>
              <a:ext cx="1082" cy="250"/>
            </a:xfrm>
            <a:prstGeom prst="rect">
              <a:avLst/>
            </a:prstGeom>
            <a:solidFill>
              <a:schemeClr val="tx2"/>
            </a:solidFill>
            <a:ln w="9525">
              <a:noFill/>
              <a:miter lim="800000"/>
              <a:headEnd/>
              <a:tailEnd/>
            </a:ln>
          </p:spPr>
          <p:txBody>
            <a:bodyPr wrap="none">
              <a:spAutoFit/>
            </a:bodyPr>
            <a:lstStyle/>
            <a:p>
              <a:r>
                <a:rPr lang="zh-CN" altLang="en-US" sz="2000" b="1">
                  <a:solidFill>
                    <a:srgbClr val="D2DC08"/>
                  </a:solidFill>
                  <a:latin typeface="Times New Roman" pitchFamily="18" charset="0"/>
                  <a:ea typeface="华文中宋" pitchFamily="2" charset="-122"/>
                  <a:cs typeface="Times New Roman" pitchFamily="18" charset="0"/>
                </a:rPr>
                <a:t>刚才的结果：</a:t>
              </a:r>
            </a:p>
          </p:txBody>
        </p:sp>
        <p:graphicFrame>
          <p:nvGraphicFramePr>
            <p:cNvPr id="22534" name="Object 20"/>
            <p:cNvGraphicFramePr>
              <a:graphicFrameLocks noChangeAspect="1"/>
            </p:cNvGraphicFramePr>
            <p:nvPr/>
          </p:nvGraphicFramePr>
          <p:xfrm>
            <a:off x="4272" y="2448"/>
            <a:ext cx="970" cy="539"/>
          </p:xfrm>
          <a:graphic>
            <a:graphicData uri="http://schemas.openxmlformats.org/presentationml/2006/ole">
              <p:oleObj spid="_x0000_s22534" r:id="rId6" imgW="774364" imgH="431613" progId="Equation.DSMT4">
                <p:embed/>
              </p:oleObj>
            </a:graphicData>
          </a:graphic>
        </p:graphicFrame>
      </p:grpSp>
      <p:sp>
        <p:nvSpPr>
          <p:cNvPr id="42006" name="Text Box 22"/>
          <p:cNvSpPr txBox="1">
            <a:spLocks noChangeArrowheads="1"/>
          </p:cNvSpPr>
          <p:nvPr/>
        </p:nvSpPr>
        <p:spPr bwMode="auto">
          <a:xfrm>
            <a:off x="746125" y="3954463"/>
            <a:ext cx="3448050" cy="579437"/>
          </a:xfrm>
          <a:prstGeom prst="rect">
            <a:avLst/>
          </a:prstGeom>
          <a:solidFill>
            <a:schemeClr val="accent2"/>
          </a:solidFill>
          <a:ln w="9525">
            <a:noFill/>
            <a:miter lim="800000"/>
            <a:headEnd/>
            <a:tailEnd/>
          </a:ln>
        </p:spPr>
        <p:txBody>
          <a:bodyPr wrap="none">
            <a:spAutoFit/>
          </a:bodyPr>
          <a:lstStyle/>
          <a:p>
            <a:r>
              <a:rPr lang="zh-CN" altLang="en-US" sz="3200" b="1">
                <a:latin typeface="Times New Roman" pitchFamily="18" charset="0"/>
                <a:ea typeface="华文中宋" pitchFamily="2" charset="-122"/>
                <a:cs typeface="Times New Roman" pitchFamily="18" charset="0"/>
              </a:rPr>
              <a:t>谁对谁错？都对？</a:t>
            </a:r>
          </a:p>
        </p:txBody>
      </p:sp>
      <p:grpSp>
        <p:nvGrpSpPr>
          <p:cNvPr id="7" name="Group 28"/>
          <p:cNvGrpSpPr>
            <a:grpSpLocks/>
          </p:cNvGrpSpPr>
          <p:nvPr/>
        </p:nvGrpSpPr>
        <p:grpSpPr bwMode="auto">
          <a:xfrm>
            <a:off x="946150" y="4724400"/>
            <a:ext cx="4105275" cy="496888"/>
            <a:chOff x="596" y="3168"/>
            <a:chExt cx="2586" cy="313"/>
          </a:xfrm>
        </p:grpSpPr>
        <p:sp>
          <p:nvSpPr>
            <p:cNvPr id="22549" name="Text Box 23"/>
            <p:cNvSpPr txBox="1">
              <a:spLocks noChangeArrowheads="1"/>
            </p:cNvSpPr>
            <p:nvPr/>
          </p:nvSpPr>
          <p:spPr bwMode="auto">
            <a:xfrm>
              <a:off x="596" y="3168"/>
              <a:ext cx="1564" cy="288"/>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实例计算，如果 </a:t>
              </a:r>
            </a:p>
          </p:txBody>
        </p:sp>
        <p:graphicFrame>
          <p:nvGraphicFramePr>
            <p:cNvPr id="22532" name="Object 24"/>
            <p:cNvGraphicFramePr>
              <a:graphicFrameLocks noChangeAspect="1"/>
            </p:cNvGraphicFramePr>
            <p:nvPr/>
          </p:nvGraphicFramePr>
          <p:xfrm>
            <a:off x="2040" y="3192"/>
            <a:ext cx="494" cy="289"/>
          </p:xfrm>
          <a:graphic>
            <a:graphicData uri="http://schemas.openxmlformats.org/presentationml/2006/ole">
              <p:oleObj spid="_x0000_s22532" r:id="rId7" imgW="393529" imgH="228501" progId="Equation.DSMT4">
                <p:embed/>
              </p:oleObj>
            </a:graphicData>
          </a:graphic>
        </p:graphicFrame>
        <p:graphicFrame>
          <p:nvGraphicFramePr>
            <p:cNvPr id="22533" name="Object 26"/>
            <p:cNvGraphicFramePr>
              <a:graphicFrameLocks noChangeAspect="1"/>
            </p:cNvGraphicFramePr>
            <p:nvPr/>
          </p:nvGraphicFramePr>
          <p:xfrm>
            <a:off x="2688" y="3168"/>
            <a:ext cx="494" cy="289"/>
          </p:xfrm>
          <a:graphic>
            <a:graphicData uri="http://schemas.openxmlformats.org/presentationml/2006/ole">
              <p:oleObj spid="_x0000_s22533" r:id="rId8" imgW="393529" imgH="228501" progId="Equation.DSMT4">
                <p:embed/>
              </p:oleObj>
            </a:graphicData>
          </a:graphic>
        </p:graphicFrame>
      </p:grpSp>
      <p:graphicFrame>
        <p:nvGraphicFramePr>
          <p:cNvPr id="42013" name="Object 29"/>
          <p:cNvGraphicFramePr>
            <a:graphicFrameLocks noChangeAspect="1"/>
          </p:cNvGraphicFramePr>
          <p:nvPr/>
        </p:nvGraphicFramePr>
        <p:xfrm>
          <a:off x="1165225" y="5257800"/>
          <a:ext cx="1806575" cy="912813"/>
        </p:xfrm>
        <a:graphic>
          <a:graphicData uri="http://schemas.openxmlformats.org/presentationml/2006/ole">
            <p:oleObj spid="_x0000_s22530" r:id="rId9" imgW="901700" imgH="457200" progId="Equation.DSMT4">
              <p:embed/>
            </p:oleObj>
          </a:graphicData>
        </a:graphic>
      </p:graphicFrame>
      <p:graphicFrame>
        <p:nvGraphicFramePr>
          <p:cNvPr id="42015" name="Object 31"/>
          <p:cNvGraphicFramePr>
            <a:graphicFrameLocks noChangeAspect="1"/>
          </p:cNvGraphicFramePr>
          <p:nvPr/>
        </p:nvGraphicFramePr>
        <p:xfrm>
          <a:off x="5349875" y="5313363"/>
          <a:ext cx="2879725" cy="858837"/>
        </p:xfrm>
        <a:graphic>
          <a:graphicData uri="http://schemas.openxmlformats.org/presentationml/2006/ole">
            <p:oleObj spid="_x0000_s22531" r:id="rId10" imgW="1435100" imgH="431800" progId="Equation.DSMT4">
              <p:embed/>
            </p:oleObj>
          </a:graphicData>
        </a:graphic>
      </p:graphicFrame>
      <p:sp>
        <p:nvSpPr>
          <p:cNvPr id="42017" name="Text Box 33"/>
          <p:cNvSpPr txBox="1">
            <a:spLocks noChangeArrowheads="1"/>
          </p:cNvSpPr>
          <p:nvPr/>
        </p:nvSpPr>
        <p:spPr bwMode="auto">
          <a:xfrm>
            <a:off x="2971800" y="5486400"/>
            <a:ext cx="1454150" cy="396875"/>
          </a:xfrm>
          <a:prstGeom prst="rect">
            <a:avLst/>
          </a:prstGeom>
          <a:solidFill>
            <a:srgbClr val="000099"/>
          </a:solidFill>
          <a:ln w="9525">
            <a:noFill/>
            <a:miter lim="800000"/>
            <a:headEnd/>
            <a:tailEnd/>
          </a:ln>
        </p:spPr>
        <p:txBody>
          <a:bodyPr wrap="none">
            <a:spAutoFit/>
          </a:bodyPr>
          <a:lstStyle/>
          <a:p>
            <a:r>
              <a:rPr lang="zh-CN" altLang="en-US" sz="2000">
                <a:solidFill>
                  <a:schemeClr val="bg1"/>
                </a:solidFill>
                <a:latin typeface="Times New Roman" pitchFamily="18" charset="0"/>
                <a:ea typeface="华文中宋" pitchFamily="2" charset="-122"/>
                <a:cs typeface="Times New Roman" pitchFamily="18" charset="0"/>
              </a:rPr>
              <a:t>不是整数？</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1988"/>
                                        </p:tgtEl>
                                        <p:attrNameLst>
                                          <p:attrName>style.visibility</p:attrName>
                                        </p:attrNameLst>
                                      </p:cBhvr>
                                      <p:to>
                                        <p:strVal val="visible"/>
                                      </p:to>
                                    </p:set>
                                    <p:animEffect transition="in" filter="dissolve">
                                      <p:cBhvr>
                                        <p:cTn id="7" dur="500"/>
                                        <p:tgtEl>
                                          <p:spTgt spid="4198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dissolv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dissolve">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dissolv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2006"/>
                                        </p:tgtEl>
                                        <p:attrNameLst>
                                          <p:attrName>style.visibility</p:attrName>
                                        </p:attrNameLst>
                                      </p:cBhvr>
                                      <p:to>
                                        <p:strVal val="visible"/>
                                      </p:to>
                                    </p:set>
                                    <p:animEffect transition="in" filter="dissolve">
                                      <p:cBhvr>
                                        <p:cTn id="37" dur="500"/>
                                        <p:tgtEl>
                                          <p:spTgt spid="42006"/>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dissolve">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42013"/>
                                        </p:tgtEl>
                                        <p:attrNameLst>
                                          <p:attrName>style.visibility</p:attrName>
                                        </p:attrNameLst>
                                      </p:cBhvr>
                                      <p:to>
                                        <p:strVal val="visible"/>
                                      </p:to>
                                    </p:set>
                                    <p:animEffect transition="in" filter="dissolve">
                                      <p:cBhvr>
                                        <p:cTn id="47" dur="500"/>
                                        <p:tgtEl>
                                          <p:spTgt spid="42013"/>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42017"/>
                                        </p:tgtEl>
                                        <p:attrNameLst>
                                          <p:attrName>style.visibility</p:attrName>
                                        </p:attrNameLst>
                                      </p:cBhvr>
                                      <p:to>
                                        <p:strVal val="visible"/>
                                      </p:to>
                                    </p:set>
                                    <p:animEffect transition="in" filter="dissolve">
                                      <p:cBhvr>
                                        <p:cTn id="52" dur="500"/>
                                        <p:tgtEl>
                                          <p:spTgt spid="42017"/>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42015"/>
                                        </p:tgtEl>
                                        <p:attrNameLst>
                                          <p:attrName>style.visibility</p:attrName>
                                        </p:attrNameLst>
                                      </p:cBhvr>
                                      <p:to>
                                        <p:strVal val="visible"/>
                                      </p:to>
                                    </p:set>
                                    <p:animEffect transition="in" filter="dissolve">
                                      <p:cBhvr>
                                        <p:cTn id="57" dur="500"/>
                                        <p:tgtEl>
                                          <p:spTgt spid="420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autoUpdateAnimBg="0"/>
      <p:bldP spid="42006" grpId="0" animBg="1" autoUpdateAnimBg="0"/>
      <p:bldP spid="42017" grpId="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灯片编号占位符 3"/>
          <p:cNvSpPr>
            <a:spLocks noGrp="1"/>
          </p:cNvSpPr>
          <p:nvPr>
            <p:ph type="sldNum" sz="quarter" idx="12"/>
          </p:nvPr>
        </p:nvSpPr>
        <p:spPr>
          <a:noFill/>
        </p:spPr>
        <p:txBody>
          <a:bodyPr/>
          <a:lstStyle/>
          <a:p>
            <a:fld id="{388C145C-86A1-420D-99A1-F05616DF63B3}" type="slidenum">
              <a:rPr lang="en-US" altLang="zh-CN" smtClean="0"/>
              <a:pPr/>
              <a:t>37</a:t>
            </a:fld>
            <a:endParaRPr lang="en-US" altLang="zh-CN" smtClean="0"/>
          </a:p>
        </p:txBody>
      </p:sp>
      <p:sp>
        <p:nvSpPr>
          <p:cNvPr id="23556" name="Text Box 2"/>
          <p:cNvSpPr txBox="1">
            <a:spLocks noChangeArrowheads="1"/>
          </p:cNvSpPr>
          <p:nvPr/>
        </p:nvSpPr>
        <p:spPr bwMode="auto">
          <a:xfrm>
            <a:off x="4364038" y="0"/>
            <a:ext cx="477996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各种体系的能级分布和微观状态数</a:t>
            </a:r>
            <a:endParaRPr lang="zh-CN" altLang="en-US" sz="2400">
              <a:solidFill>
                <a:schemeClr val="bg1"/>
              </a:solidFill>
              <a:latin typeface="Times New Roman" pitchFamily="18" charset="0"/>
            </a:endParaRPr>
          </a:p>
        </p:txBody>
      </p:sp>
      <p:sp>
        <p:nvSpPr>
          <p:cNvPr id="43011" name="Rectangle 3"/>
          <p:cNvSpPr>
            <a:spLocks noGrp="1" noRot="1" noChangeArrowheads="1"/>
          </p:cNvSpPr>
          <p:nvPr/>
        </p:nvSpPr>
        <p:spPr bwMode="auto">
          <a:xfrm>
            <a:off x="374650" y="609600"/>
            <a:ext cx="8540750" cy="1143000"/>
          </a:xfrm>
          <a:prstGeom prst="rect">
            <a:avLst/>
          </a:prstGeom>
          <a:noFill/>
          <a:ln w="9525">
            <a:noFill/>
            <a:miter lim="800000"/>
            <a:headEnd/>
            <a:tailEnd/>
          </a:ln>
        </p:spPr>
        <p:txBody>
          <a:bodyPr anchor="ctr"/>
          <a:lstStyle/>
          <a:p>
            <a:pPr algn="ctr" eaLnBrk="0" hangingPunct="0"/>
            <a:r>
              <a:rPr lang="en-US" altLang="zh-CN" sz="4400" b="1">
                <a:solidFill>
                  <a:srgbClr val="FFFF00"/>
                </a:solidFill>
                <a:latin typeface="Times New Roman" pitchFamily="18" charset="0"/>
                <a:ea typeface="黑体" pitchFamily="49" charset="-122"/>
                <a:cs typeface="Times New Roman" pitchFamily="18" charset="0"/>
              </a:rPr>
              <a:t>Bose</a:t>
            </a:r>
            <a:r>
              <a:rPr lang="zh-CN" altLang="en-US" sz="4400" b="1">
                <a:solidFill>
                  <a:srgbClr val="FFFF00"/>
                </a:solidFill>
                <a:latin typeface="Times New Roman" pitchFamily="18" charset="0"/>
                <a:ea typeface="黑体" pitchFamily="49" charset="-122"/>
                <a:cs typeface="Times New Roman" pitchFamily="18" charset="0"/>
              </a:rPr>
              <a:t>子的微观状态数计算</a:t>
            </a:r>
          </a:p>
          <a:p>
            <a:pPr algn="ctr" eaLnBrk="0" hangingPunct="0"/>
            <a:r>
              <a:rPr lang="zh-CN" altLang="en-US" sz="4400" b="1">
                <a:solidFill>
                  <a:srgbClr val="FFFF00"/>
                </a:solidFill>
                <a:latin typeface="Times New Roman" pitchFamily="18" charset="0"/>
                <a:ea typeface="黑体" pitchFamily="49" charset="-122"/>
                <a:cs typeface="Times New Roman" pitchFamily="18" charset="0"/>
              </a:rPr>
              <a:t>的另一种思路</a:t>
            </a:r>
          </a:p>
        </p:txBody>
      </p:sp>
      <p:grpSp>
        <p:nvGrpSpPr>
          <p:cNvPr id="2" name="Group 7"/>
          <p:cNvGrpSpPr>
            <a:grpSpLocks/>
          </p:cNvGrpSpPr>
          <p:nvPr/>
        </p:nvGrpSpPr>
        <p:grpSpPr bwMode="auto">
          <a:xfrm>
            <a:off x="974725" y="1897062"/>
            <a:ext cx="7635875" cy="3311525"/>
            <a:chOff x="614" y="1226"/>
            <a:chExt cx="4810" cy="2086"/>
          </a:xfrm>
        </p:grpSpPr>
        <p:sp>
          <p:nvSpPr>
            <p:cNvPr id="23560" name="Text Box 4"/>
            <p:cNvSpPr txBox="1">
              <a:spLocks noChangeArrowheads="1"/>
            </p:cNvSpPr>
            <p:nvPr/>
          </p:nvSpPr>
          <p:spPr bwMode="auto">
            <a:xfrm>
              <a:off x="614" y="1226"/>
              <a:ext cx="3338" cy="291"/>
            </a:xfrm>
            <a:prstGeom prst="rect">
              <a:avLst/>
            </a:prstGeom>
            <a:noFill/>
            <a:ln w="9525">
              <a:noFill/>
              <a:miter lim="800000"/>
              <a:headEnd/>
              <a:tailEnd/>
            </a:ln>
          </p:spPr>
          <p:txBody>
            <a:bodyPr wrap="none">
              <a:spAutoFit/>
            </a:bodyPr>
            <a:lstStyle/>
            <a:p>
              <a:r>
                <a:rPr lang="zh-CN" altLang="en-US" sz="2400" b="1" dirty="0">
                  <a:solidFill>
                    <a:schemeClr val="bg1"/>
                  </a:solidFill>
                  <a:latin typeface="Times New Roman" pitchFamily="18" charset="0"/>
                  <a:ea typeface="华文中宋" pitchFamily="2" charset="-122"/>
                  <a:cs typeface="Times New Roman" pitchFamily="18" charset="0"/>
                </a:rPr>
                <a:t>实际分配方案</a:t>
              </a:r>
              <a:r>
                <a:rPr lang="en-US" altLang="zh-CN" sz="2400" b="1" dirty="0">
                  <a:solidFill>
                    <a:schemeClr val="bg1"/>
                  </a:solidFill>
                  <a:latin typeface="Times New Roman" pitchFamily="18" charset="0"/>
                  <a:ea typeface="华文中宋" pitchFamily="2" charset="-122"/>
                  <a:cs typeface="Times New Roman" pitchFamily="18" charset="0"/>
                </a:rPr>
                <a:t>6</a:t>
              </a:r>
              <a:r>
                <a:rPr lang="zh-CN" altLang="en-US" sz="2400" b="1" dirty="0">
                  <a:solidFill>
                    <a:schemeClr val="bg1"/>
                  </a:solidFill>
                  <a:latin typeface="Times New Roman" pitchFamily="18" charset="0"/>
                  <a:ea typeface="华文中宋" pitchFamily="2" charset="-122"/>
                  <a:cs typeface="Times New Roman" pitchFamily="18" charset="0"/>
                </a:rPr>
                <a:t>种！第一种方法正确！</a:t>
              </a:r>
            </a:p>
          </p:txBody>
        </p:sp>
        <p:graphicFrame>
          <p:nvGraphicFramePr>
            <p:cNvPr id="23554" name="Object 5"/>
            <p:cNvGraphicFramePr>
              <a:graphicFrameLocks noChangeAspect="1"/>
            </p:cNvGraphicFramePr>
            <p:nvPr/>
          </p:nvGraphicFramePr>
          <p:xfrm>
            <a:off x="852" y="1529"/>
            <a:ext cx="4572" cy="1783"/>
          </p:xfrm>
          <a:graphic>
            <a:graphicData uri="http://schemas.openxmlformats.org/presentationml/2006/ole">
              <p:oleObj spid="_x0000_s23554" r:id="rId3" imgW="6886956" imgH="2686812" progId="Word.Picture.8">
                <p:embed/>
              </p:oleObj>
            </a:graphicData>
          </a:graphic>
        </p:graphicFrame>
      </p:grpSp>
      <p:sp>
        <p:nvSpPr>
          <p:cNvPr id="43016" name="Text Box 8"/>
          <p:cNvSpPr txBox="1">
            <a:spLocks noChangeArrowheads="1"/>
          </p:cNvSpPr>
          <p:nvPr/>
        </p:nvSpPr>
        <p:spPr bwMode="auto">
          <a:xfrm>
            <a:off x="914400" y="5473154"/>
            <a:ext cx="8084264" cy="1107996"/>
          </a:xfrm>
          <a:prstGeom prst="rect">
            <a:avLst/>
          </a:prstGeom>
          <a:noFill/>
          <a:ln w="9525">
            <a:noFill/>
            <a:miter lim="800000"/>
            <a:headEnd/>
            <a:tailEnd/>
          </a:ln>
        </p:spPr>
        <p:txBody>
          <a:bodyPr wrap="none">
            <a:spAutoFit/>
          </a:bodyPr>
          <a:lstStyle/>
          <a:p>
            <a:r>
              <a:rPr lang="zh-CN" altLang="en-US" sz="2200" b="1" dirty="0">
                <a:solidFill>
                  <a:schemeClr val="bg1"/>
                </a:solidFill>
                <a:latin typeface="Times New Roman" pitchFamily="18" charset="0"/>
                <a:ea typeface="华文中宋" pitchFamily="2" charset="-122"/>
                <a:cs typeface="Times New Roman" pitchFamily="18" charset="0"/>
              </a:rPr>
              <a:t>如果是可分辨的粒子</a:t>
            </a:r>
            <a:r>
              <a:rPr lang="zh-CN" altLang="en-US" sz="2200" b="1" dirty="0" smtClean="0">
                <a:solidFill>
                  <a:schemeClr val="bg1"/>
                </a:solidFill>
                <a:latin typeface="Times New Roman" pitchFamily="18" charset="0"/>
                <a:ea typeface="华文中宋" pitchFamily="2" charset="-122"/>
                <a:cs typeface="Times New Roman" pitchFamily="18" charset="0"/>
              </a:rPr>
              <a:t>，有</a:t>
            </a:r>
            <a:r>
              <a:rPr lang="en-US" altLang="zh-CN" sz="2200" b="1" dirty="0">
                <a:solidFill>
                  <a:schemeClr val="bg1"/>
                </a:solidFill>
                <a:latin typeface="Times New Roman" pitchFamily="18" charset="0"/>
                <a:ea typeface="华文中宋" pitchFamily="2" charset="-122"/>
                <a:cs typeface="Times New Roman" pitchFamily="18" charset="0"/>
              </a:rPr>
              <a:t>9</a:t>
            </a:r>
            <a:r>
              <a:rPr lang="zh-CN" altLang="en-US" sz="2200" b="1" dirty="0">
                <a:solidFill>
                  <a:schemeClr val="bg1"/>
                </a:solidFill>
                <a:latin typeface="Times New Roman" pitchFamily="18" charset="0"/>
                <a:ea typeface="华文中宋" pitchFamily="2" charset="-122"/>
                <a:cs typeface="Times New Roman" pitchFamily="18" charset="0"/>
              </a:rPr>
              <a:t>种分配方案，但是</a:t>
            </a:r>
            <a:r>
              <a:rPr lang="en-US" altLang="zh-CN" sz="2200" b="1" dirty="0">
                <a:solidFill>
                  <a:schemeClr val="bg1"/>
                </a:solidFill>
                <a:latin typeface="Times New Roman" pitchFamily="18" charset="0"/>
                <a:ea typeface="华文中宋" pitchFamily="2" charset="-122"/>
                <a:cs typeface="Times New Roman" pitchFamily="18" charset="0"/>
              </a:rPr>
              <a:t>2</a:t>
            </a:r>
            <a:r>
              <a:rPr lang="zh-CN" altLang="en-US" sz="2200" b="1" dirty="0">
                <a:solidFill>
                  <a:schemeClr val="bg1"/>
                </a:solidFill>
                <a:latin typeface="Times New Roman" pitchFamily="18" charset="0"/>
                <a:ea typeface="华文中宋" pitchFamily="2" charset="-122"/>
                <a:cs typeface="Times New Roman" pitchFamily="18" charset="0"/>
              </a:rPr>
              <a:t>个球放</a:t>
            </a:r>
            <a:r>
              <a:rPr lang="zh-CN" altLang="en-US" sz="2200" b="1" dirty="0" smtClean="0">
                <a:solidFill>
                  <a:schemeClr val="bg1"/>
                </a:solidFill>
                <a:latin typeface="Times New Roman" pitchFamily="18" charset="0"/>
                <a:ea typeface="华文中宋" pitchFamily="2" charset="-122"/>
                <a:cs typeface="Times New Roman" pitchFamily="18" charset="0"/>
              </a:rPr>
              <a:t>在一</a:t>
            </a:r>
            <a:r>
              <a:rPr lang="zh-CN" altLang="en-US" sz="2200" b="1" dirty="0">
                <a:solidFill>
                  <a:schemeClr val="bg1"/>
                </a:solidFill>
                <a:latin typeface="Times New Roman" pitchFamily="18" charset="0"/>
                <a:ea typeface="华文中宋" pitchFamily="2" charset="-122"/>
                <a:cs typeface="Times New Roman" pitchFamily="18" charset="0"/>
              </a:rPr>
              <a:t>个</a:t>
            </a:r>
            <a:r>
              <a:rPr lang="zh-CN" altLang="en-US" sz="2200" b="1" dirty="0" smtClean="0">
                <a:solidFill>
                  <a:schemeClr val="bg1"/>
                </a:solidFill>
                <a:latin typeface="Times New Roman" pitchFamily="18" charset="0"/>
                <a:ea typeface="华文中宋" pitchFamily="2" charset="-122"/>
                <a:cs typeface="Times New Roman" pitchFamily="18" charset="0"/>
              </a:rPr>
              <a:t>盒子</a:t>
            </a:r>
            <a:endParaRPr lang="en-US" altLang="zh-CN" sz="2200" b="1" dirty="0" smtClean="0">
              <a:solidFill>
                <a:schemeClr val="bg1"/>
              </a:solidFill>
              <a:latin typeface="Times New Roman" pitchFamily="18" charset="0"/>
              <a:ea typeface="华文中宋" pitchFamily="2" charset="-122"/>
              <a:cs typeface="Times New Roman" pitchFamily="18" charset="0"/>
            </a:endParaRPr>
          </a:p>
          <a:p>
            <a:r>
              <a:rPr lang="zh-CN" altLang="en-US" sz="2200" b="1" dirty="0" smtClean="0">
                <a:solidFill>
                  <a:schemeClr val="bg1"/>
                </a:solidFill>
                <a:latin typeface="Times New Roman" pitchFamily="18" charset="0"/>
                <a:ea typeface="华文中宋" pitchFamily="2" charset="-122"/>
                <a:cs typeface="Times New Roman" pitchFamily="18" charset="0"/>
              </a:rPr>
              <a:t>里</a:t>
            </a:r>
            <a:r>
              <a:rPr lang="zh-CN" altLang="en-US" sz="2200" b="1" dirty="0">
                <a:solidFill>
                  <a:schemeClr val="bg1"/>
                </a:solidFill>
                <a:latin typeface="Times New Roman" pitchFamily="18" charset="0"/>
                <a:ea typeface="华文中宋" pitchFamily="2" charset="-122"/>
                <a:cs typeface="Times New Roman" pitchFamily="18" charset="0"/>
              </a:rPr>
              <a:t>的方案，即方案一、三、五，对于不可分辨粒子</a:t>
            </a:r>
            <a:r>
              <a:rPr lang="zh-CN" altLang="en-US" sz="2200" b="1" dirty="0" smtClean="0">
                <a:solidFill>
                  <a:schemeClr val="bg1"/>
                </a:solidFill>
                <a:latin typeface="Times New Roman" pitchFamily="18" charset="0"/>
                <a:ea typeface="华文中宋" pitchFamily="2" charset="-122"/>
                <a:cs typeface="Times New Roman" pitchFamily="18" charset="0"/>
              </a:rPr>
              <a:t>而言也</a:t>
            </a:r>
            <a:r>
              <a:rPr lang="zh-CN" altLang="en-US" sz="2200" b="1" dirty="0">
                <a:solidFill>
                  <a:schemeClr val="bg1"/>
                </a:solidFill>
                <a:latin typeface="Times New Roman" pitchFamily="18" charset="0"/>
                <a:ea typeface="华文中宋" pitchFamily="2" charset="-122"/>
                <a:cs typeface="Times New Roman" pitchFamily="18" charset="0"/>
              </a:rPr>
              <a:t>是</a:t>
            </a:r>
            <a:r>
              <a:rPr lang="zh-CN" altLang="en-US" sz="2200" b="1" dirty="0" smtClean="0">
                <a:solidFill>
                  <a:schemeClr val="bg1"/>
                </a:solidFill>
                <a:latin typeface="Times New Roman" pitchFamily="18" charset="0"/>
                <a:ea typeface="华文中宋" pitchFamily="2" charset="-122"/>
                <a:cs typeface="Times New Roman" pitchFamily="18" charset="0"/>
              </a:rPr>
              <a:t>唯一</a:t>
            </a:r>
            <a:endParaRPr lang="en-US" altLang="zh-CN" sz="2200" b="1" dirty="0" smtClean="0">
              <a:solidFill>
                <a:schemeClr val="bg1"/>
              </a:solidFill>
              <a:latin typeface="Times New Roman" pitchFamily="18" charset="0"/>
              <a:ea typeface="华文中宋" pitchFamily="2" charset="-122"/>
              <a:cs typeface="Times New Roman" pitchFamily="18" charset="0"/>
            </a:endParaRPr>
          </a:p>
          <a:p>
            <a:r>
              <a:rPr lang="zh-CN" altLang="en-US" sz="2200" b="1" dirty="0" smtClean="0">
                <a:solidFill>
                  <a:schemeClr val="bg1"/>
                </a:solidFill>
                <a:latin typeface="Times New Roman" pitchFamily="18" charset="0"/>
                <a:ea typeface="华文中宋" pitchFamily="2" charset="-122"/>
                <a:cs typeface="Times New Roman" pitchFamily="18" charset="0"/>
              </a:rPr>
              <a:t>的</a:t>
            </a:r>
            <a:r>
              <a:rPr lang="zh-CN" altLang="en-US" sz="2200" b="1" dirty="0">
                <a:solidFill>
                  <a:schemeClr val="bg1"/>
                </a:solidFill>
                <a:latin typeface="Times New Roman" pitchFamily="18" charset="0"/>
                <a:ea typeface="华文中宋" pitchFamily="2" charset="-122"/>
                <a:cs typeface="Times New Roman" pitchFamily="18" charset="0"/>
              </a:rPr>
              <a:t>，不存在重复统计的问题，因此一概除以是</a:t>
            </a:r>
            <a:r>
              <a:rPr lang="en-US" altLang="zh-CN" sz="2200" b="1" dirty="0">
                <a:solidFill>
                  <a:schemeClr val="bg1"/>
                </a:solidFill>
                <a:latin typeface="Times New Roman" pitchFamily="18" charset="0"/>
                <a:ea typeface="华文中宋" pitchFamily="2" charset="-122"/>
                <a:cs typeface="Times New Roman" pitchFamily="18" charset="0"/>
              </a:rPr>
              <a:t>N!</a:t>
            </a:r>
            <a:r>
              <a:rPr lang="zh-CN" altLang="en-US" sz="2200" b="1" dirty="0">
                <a:solidFill>
                  <a:schemeClr val="bg1"/>
                </a:solidFill>
                <a:latin typeface="Times New Roman" pitchFamily="18" charset="0"/>
                <a:ea typeface="华文中宋" pitchFamily="2" charset="-122"/>
                <a:cs typeface="Times New Roman" pitchFamily="18" charset="0"/>
              </a:rPr>
              <a:t>不</a:t>
            </a:r>
            <a:r>
              <a:rPr lang="zh-CN" altLang="en-US" sz="2200" b="1" dirty="0" smtClean="0">
                <a:solidFill>
                  <a:schemeClr val="bg1"/>
                </a:solidFill>
                <a:latin typeface="Times New Roman" pitchFamily="18" charset="0"/>
                <a:ea typeface="华文中宋" pitchFamily="2" charset="-122"/>
                <a:cs typeface="Times New Roman" pitchFamily="18" charset="0"/>
              </a:rPr>
              <a:t>正确的</a:t>
            </a:r>
            <a:r>
              <a:rPr lang="en-US" altLang="zh-CN" sz="2200" b="1" dirty="0">
                <a:solidFill>
                  <a:schemeClr val="bg1"/>
                </a:solidFill>
                <a:latin typeface="Times New Roman" pitchFamily="18" charset="0"/>
                <a:ea typeface="华文中宋" pitchFamily="2" charset="-122"/>
                <a:cs typeface="Times New Roman" pitchFamily="18" charset="0"/>
              </a:rPr>
              <a:t>! </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43011"/>
                                        </p:tgtEl>
                                        <p:attrNameLst>
                                          <p:attrName>style.visibility</p:attrName>
                                        </p:attrNameLst>
                                      </p:cBhvr>
                                      <p:to>
                                        <p:strVal val="visible"/>
                                      </p:to>
                                    </p:set>
                                    <p:animEffect transition="in" filter="barn(outHorizontal)">
                                      <p:cBhvr>
                                        <p:cTn id="7" dur="500"/>
                                        <p:tgtEl>
                                          <p:spTgt spid="430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out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43016"/>
                                        </p:tgtEl>
                                        <p:attrNameLst>
                                          <p:attrName>style.visibility</p:attrName>
                                        </p:attrNameLst>
                                      </p:cBhvr>
                                      <p:to>
                                        <p:strVal val="visible"/>
                                      </p:to>
                                    </p:set>
                                    <p:animEffect transition="in" filter="barn(outHorizontal)">
                                      <p:cBhvr>
                                        <p:cTn id="17" dur="500"/>
                                        <p:tgtEl>
                                          <p:spTgt spid="430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autoUpdateAnimBg="0"/>
      <p:bldP spid="43016"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7" name="灯片编号占位符 3"/>
          <p:cNvSpPr>
            <a:spLocks noGrp="1"/>
          </p:cNvSpPr>
          <p:nvPr>
            <p:ph type="sldNum" sz="quarter" idx="12"/>
          </p:nvPr>
        </p:nvSpPr>
        <p:spPr>
          <a:noFill/>
        </p:spPr>
        <p:txBody>
          <a:bodyPr/>
          <a:lstStyle/>
          <a:p>
            <a:fld id="{B936A366-49AB-49BE-BA63-D4D1EC335EF3}" type="slidenum">
              <a:rPr lang="en-US" altLang="zh-CN" smtClean="0">
                <a:latin typeface="Times New Roman" pitchFamily="18" charset="0"/>
                <a:ea typeface="华文中宋" pitchFamily="2" charset="-122"/>
                <a:cs typeface="Times New Roman" pitchFamily="18" charset="0"/>
              </a:rPr>
              <a:pPr/>
              <a:t>38</a:t>
            </a:fld>
            <a:endParaRPr lang="en-US" altLang="zh-CN" dirty="0" smtClean="0">
              <a:latin typeface="Times New Roman" pitchFamily="18" charset="0"/>
              <a:ea typeface="华文中宋" pitchFamily="2" charset="-122"/>
              <a:cs typeface="Times New Roman" pitchFamily="18" charset="0"/>
            </a:endParaRPr>
          </a:p>
        </p:txBody>
      </p:sp>
      <p:sp>
        <p:nvSpPr>
          <p:cNvPr id="24588" name="Text Box 2"/>
          <p:cNvSpPr txBox="1">
            <a:spLocks noChangeArrowheads="1"/>
          </p:cNvSpPr>
          <p:nvPr/>
        </p:nvSpPr>
        <p:spPr bwMode="auto">
          <a:xfrm>
            <a:off x="4364038" y="0"/>
            <a:ext cx="477996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各种体系的能级分布和微观状态数</a:t>
            </a:r>
            <a:endParaRPr lang="zh-CN" altLang="en-US" sz="2400">
              <a:solidFill>
                <a:schemeClr val="bg1"/>
              </a:solidFill>
              <a:latin typeface="Times New Roman" pitchFamily="18" charset="0"/>
            </a:endParaRPr>
          </a:p>
        </p:txBody>
      </p:sp>
      <p:sp>
        <p:nvSpPr>
          <p:cNvPr id="44035" name="Rectangle 3"/>
          <p:cNvSpPr>
            <a:spLocks noGrp="1" noRot="1" noChangeArrowheads="1"/>
          </p:cNvSpPr>
          <p:nvPr/>
        </p:nvSpPr>
        <p:spPr bwMode="auto">
          <a:xfrm>
            <a:off x="374650" y="228600"/>
            <a:ext cx="8540750" cy="1143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各种体系微观状态数的计算结果</a:t>
            </a:r>
          </a:p>
        </p:txBody>
      </p:sp>
      <p:grpSp>
        <p:nvGrpSpPr>
          <p:cNvPr id="2" name="Group 35"/>
          <p:cNvGrpSpPr>
            <a:grpSpLocks/>
          </p:cNvGrpSpPr>
          <p:nvPr/>
        </p:nvGrpSpPr>
        <p:grpSpPr bwMode="auto">
          <a:xfrm>
            <a:off x="685800" y="4017963"/>
            <a:ext cx="7772400" cy="935037"/>
            <a:chOff x="432" y="2531"/>
            <a:chExt cx="4896" cy="589"/>
          </a:xfrm>
        </p:grpSpPr>
        <p:graphicFrame>
          <p:nvGraphicFramePr>
            <p:cNvPr id="24585" name="Object 12"/>
            <p:cNvGraphicFramePr>
              <a:graphicFrameLocks noChangeAspect="1"/>
            </p:cNvGraphicFramePr>
            <p:nvPr/>
          </p:nvGraphicFramePr>
          <p:xfrm>
            <a:off x="1766" y="2533"/>
            <a:ext cx="970" cy="539"/>
          </p:xfrm>
          <a:graphic>
            <a:graphicData uri="http://schemas.openxmlformats.org/presentationml/2006/ole">
              <p:oleObj spid="_x0000_s24585" r:id="rId3" imgW="774364" imgH="431613" progId="Equation.DSMT4">
                <p:embed/>
              </p:oleObj>
            </a:graphicData>
          </a:graphic>
        </p:graphicFrame>
        <p:graphicFrame>
          <p:nvGraphicFramePr>
            <p:cNvPr id="24586" name="Object 14"/>
            <p:cNvGraphicFramePr>
              <a:graphicFrameLocks noChangeAspect="1"/>
            </p:cNvGraphicFramePr>
            <p:nvPr/>
          </p:nvGraphicFramePr>
          <p:xfrm>
            <a:off x="3696" y="2531"/>
            <a:ext cx="1478" cy="541"/>
          </p:xfrm>
          <a:graphic>
            <a:graphicData uri="http://schemas.openxmlformats.org/presentationml/2006/ole">
              <p:oleObj spid="_x0000_s24586" r:id="rId4" imgW="1167893" imgH="431613" progId="Equation.DSMT4">
                <p:embed/>
              </p:oleObj>
            </a:graphicData>
          </a:graphic>
        </p:graphicFrame>
        <p:sp>
          <p:nvSpPr>
            <p:cNvPr id="24608" name="Text Box 24"/>
            <p:cNvSpPr txBox="1">
              <a:spLocks noChangeArrowheads="1"/>
            </p:cNvSpPr>
            <p:nvPr/>
          </p:nvSpPr>
          <p:spPr bwMode="auto">
            <a:xfrm>
              <a:off x="459" y="2640"/>
              <a:ext cx="698" cy="291"/>
            </a:xfrm>
            <a:prstGeom prst="rect">
              <a:avLst/>
            </a:prstGeom>
            <a:noFill/>
            <a:ln w="9525">
              <a:noFill/>
              <a:miter lim="800000"/>
              <a:headEnd/>
              <a:tailEnd/>
            </a:ln>
          </p:spPr>
          <p:txBody>
            <a:bodyPr wrap="none">
              <a:spAutoFit/>
            </a:bodyPr>
            <a:lstStyle/>
            <a:p>
              <a:r>
                <a:rPr lang="en-US" altLang="zh-CN" sz="2400" b="1">
                  <a:solidFill>
                    <a:schemeClr val="bg1"/>
                  </a:solidFill>
                  <a:latin typeface="Times New Roman" pitchFamily="18" charset="0"/>
                  <a:ea typeface="华文中宋" pitchFamily="2" charset="-122"/>
                  <a:cs typeface="Times New Roman" pitchFamily="18" charset="0"/>
                </a:rPr>
                <a:t>Bose</a:t>
              </a:r>
              <a:r>
                <a:rPr lang="zh-CN" altLang="en-US" sz="2400" b="1">
                  <a:solidFill>
                    <a:schemeClr val="bg1"/>
                  </a:solidFill>
                  <a:latin typeface="Times New Roman" pitchFamily="18" charset="0"/>
                  <a:ea typeface="华文中宋" pitchFamily="2" charset="-122"/>
                  <a:cs typeface="Times New Roman" pitchFamily="18" charset="0"/>
                </a:rPr>
                <a:t>子</a:t>
              </a:r>
            </a:p>
          </p:txBody>
        </p:sp>
        <p:sp>
          <p:nvSpPr>
            <p:cNvPr id="24609" name="Line 29"/>
            <p:cNvSpPr>
              <a:spLocks noChangeShapeType="1"/>
            </p:cNvSpPr>
            <p:nvPr/>
          </p:nvSpPr>
          <p:spPr bwMode="auto">
            <a:xfrm>
              <a:off x="432" y="3120"/>
              <a:ext cx="4896" cy="0"/>
            </a:xfrm>
            <a:prstGeom prst="line">
              <a:avLst/>
            </a:prstGeom>
            <a:noFill/>
            <a:ln w="38100">
              <a:solidFill>
                <a:schemeClr val="bg1"/>
              </a:solidFill>
              <a:round/>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3" name="Group 44"/>
          <p:cNvGrpSpPr>
            <a:grpSpLocks/>
          </p:cNvGrpSpPr>
          <p:nvPr/>
        </p:nvGrpSpPr>
        <p:grpSpPr bwMode="auto">
          <a:xfrm>
            <a:off x="685800" y="4953000"/>
            <a:ext cx="7772400" cy="990600"/>
            <a:chOff x="432" y="3120"/>
            <a:chExt cx="4896" cy="624"/>
          </a:xfrm>
        </p:grpSpPr>
        <p:graphicFrame>
          <p:nvGraphicFramePr>
            <p:cNvPr id="24583" name="Object 16"/>
            <p:cNvGraphicFramePr>
              <a:graphicFrameLocks noChangeAspect="1"/>
            </p:cNvGraphicFramePr>
            <p:nvPr/>
          </p:nvGraphicFramePr>
          <p:xfrm>
            <a:off x="2112" y="3127"/>
            <a:ext cx="320" cy="569"/>
          </p:xfrm>
          <a:graphic>
            <a:graphicData uri="http://schemas.openxmlformats.org/presentationml/2006/ole">
              <p:oleObj spid="_x0000_s24583" r:id="rId5" imgW="253890" imgH="457002" progId="Equation.DSMT4">
                <p:embed/>
              </p:oleObj>
            </a:graphicData>
          </a:graphic>
        </p:graphicFrame>
        <p:graphicFrame>
          <p:nvGraphicFramePr>
            <p:cNvPr id="24584" name="Object 18"/>
            <p:cNvGraphicFramePr>
              <a:graphicFrameLocks noChangeAspect="1"/>
            </p:cNvGraphicFramePr>
            <p:nvPr/>
          </p:nvGraphicFramePr>
          <p:xfrm>
            <a:off x="4080" y="3120"/>
            <a:ext cx="816" cy="576"/>
          </p:xfrm>
          <a:graphic>
            <a:graphicData uri="http://schemas.openxmlformats.org/presentationml/2006/ole">
              <p:oleObj spid="_x0000_s24584" r:id="rId6" imgW="647700" imgH="457200" progId="Equation.DSMT4">
                <p:embed/>
              </p:oleObj>
            </a:graphicData>
          </a:graphic>
        </p:graphicFrame>
        <p:sp>
          <p:nvSpPr>
            <p:cNvPr id="24606" name="Text Box 25"/>
            <p:cNvSpPr txBox="1">
              <a:spLocks noChangeArrowheads="1"/>
            </p:cNvSpPr>
            <p:nvPr/>
          </p:nvSpPr>
          <p:spPr bwMode="auto">
            <a:xfrm>
              <a:off x="432" y="3264"/>
              <a:ext cx="1280"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计算“错误”</a:t>
              </a:r>
            </a:p>
          </p:txBody>
        </p:sp>
        <p:sp>
          <p:nvSpPr>
            <p:cNvPr id="24607" name="Line 30"/>
            <p:cNvSpPr>
              <a:spLocks noChangeShapeType="1"/>
            </p:cNvSpPr>
            <p:nvPr/>
          </p:nvSpPr>
          <p:spPr bwMode="auto">
            <a:xfrm>
              <a:off x="432" y="3744"/>
              <a:ext cx="4896" cy="0"/>
            </a:xfrm>
            <a:prstGeom prst="line">
              <a:avLst/>
            </a:prstGeom>
            <a:noFill/>
            <a:ln w="38100">
              <a:solidFill>
                <a:schemeClr val="bg1"/>
              </a:solidFill>
              <a:round/>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4" name="Group 43"/>
          <p:cNvGrpSpPr>
            <a:grpSpLocks/>
          </p:cNvGrpSpPr>
          <p:nvPr/>
        </p:nvGrpSpPr>
        <p:grpSpPr bwMode="auto">
          <a:xfrm>
            <a:off x="685800" y="2952750"/>
            <a:ext cx="7772400" cy="933450"/>
            <a:chOff x="432" y="1860"/>
            <a:chExt cx="4896" cy="588"/>
          </a:xfrm>
        </p:grpSpPr>
        <p:graphicFrame>
          <p:nvGraphicFramePr>
            <p:cNvPr id="24581" name="Object 8"/>
            <p:cNvGraphicFramePr>
              <a:graphicFrameLocks noChangeAspect="1"/>
            </p:cNvGraphicFramePr>
            <p:nvPr/>
          </p:nvGraphicFramePr>
          <p:xfrm>
            <a:off x="1776" y="1872"/>
            <a:ext cx="961" cy="541"/>
          </p:xfrm>
          <a:graphic>
            <a:graphicData uri="http://schemas.openxmlformats.org/presentationml/2006/ole">
              <p:oleObj spid="_x0000_s24581" r:id="rId7" imgW="761669" imgH="431613" progId="Equation.DSMT4">
                <p:embed/>
              </p:oleObj>
            </a:graphicData>
          </a:graphic>
        </p:graphicFrame>
        <p:graphicFrame>
          <p:nvGraphicFramePr>
            <p:cNvPr id="24582" name="Object 10"/>
            <p:cNvGraphicFramePr>
              <a:graphicFrameLocks noChangeAspect="1"/>
            </p:cNvGraphicFramePr>
            <p:nvPr/>
          </p:nvGraphicFramePr>
          <p:xfrm>
            <a:off x="3637" y="1860"/>
            <a:ext cx="1451" cy="540"/>
          </p:xfrm>
          <a:graphic>
            <a:graphicData uri="http://schemas.openxmlformats.org/presentationml/2006/ole">
              <p:oleObj spid="_x0000_s24582" r:id="rId8" imgW="1155700" imgH="431800" progId="Equation.DSMT4">
                <p:embed/>
              </p:oleObj>
            </a:graphicData>
          </a:graphic>
        </p:graphicFrame>
        <p:sp>
          <p:nvSpPr>
            <p:cNvPr id="24604" name="Text Box 23"/>
            <p:cNvSpPr txBox="1">
              <a:spLocks noChangeArrowheads="1"/>
            </p:cNvSpPr>
            <p:nvPr/>
          </p:nvSpPr>
          <p:spPr bwMode="auto">
            <a:xfrm>
              <a:off x="470" y="1968"/>
              <a:ext cx="815" cy="291"/>
            </a:xfrm>
            <a:prstGeom prst="rect">
              <a:avLst/>
            </a:prstGeom>
            <a:noFill/>
            <a:ln w="9525">
              <a:noFill/>
              <a:miter lim="800000"/>
              <a:headEnd/>
              <a:tailEnd/>
            </a:ln>
          </p:spPr>
          <p:txBody>
            <a:bodyPr wrap="none">
              <a:spAutoFit/>
            </a:bodyPr>
            <a:lstStyle/>
            <a:p>
              <a:r>
                <a:rPr lang="en-US" altLang="zh-CN" sz="2400" b="1">
                  <a:solidFill>
                    <a:schemeClr val="bg1"/>
                  </a:solidFill>
                  <a:latin typeface="Times New Roman" pitchFamily="18" charset="0"/>
                  <a:ea typeface="华文中宋" pitchFamily="2" charset="-122"/>
                  <a:cs typeface="Times New Roman" pitchFamily="18" charset="0"/>
                </a:rPr>
                <a:t>Fermi</a:t>
              </a:r>
              <a:r>
                <a:rPr lang="zh-CN" altLang="en-US" sz="2400" b="1">
                  <a:solidFill>
                    <a:schemeClr val="bg1"/>
                  </a:solidFill>
                  <a:latin typeface="Times New Roman" pitchFamily="18" charset="0"/>
                  <a:ea typeface="华文中宋" pitchFamily="2" charset="-122"/>
                  <a:cs typeface="Times New Roman" pitchFamily="18" charset="0"/>
                </a:rPr>
                <a:t>子</a:t>
              </a:r>
            </a:p>
          </p:txBody>
        </p:sp>
        <p:sp>
          <p:nvSpPr>
            <p:cNvPr id="24605" name="Line 28"/>
            <p:cNvSpPr>
              <a:spLocks noChangeShapeType="1"/>
            </p:cNvSpPr>
            <p:nvPr/>
          </p:nvSpPr>
          <p:spPr bwMode="auto">
            <a:xfrm>
              <a:off x="432" y="2448"/>
              <a:ext cx="4896" cy="0"/>
            </a:xfrm>
            <a:prstGeom prst="line">
              <a:avLst/>
            </a:prstGeom>
            <a:noFill/>
            <a:ln w="38100">
              <a:solidFill>
                <a:schemeClr val="bg1"/>
              </a:solidFill>
              <a:round/>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5" name="Group 33"/>
          <p:cNvGrpSpPr>
            <a:grpSpLocks/>
          </p:cNvGrpSpPr>
          <p:nvPr/>
        </p:nvGrpSpPr>
        <p:grpSpPr bwMode="auto">
          <a:xfrm>
            <a:off x="685800" y="1158875"/>
            <a:ext cx="7772400" cy="1736725"/>
            <a:chOff x="432" y="730"/>
            <a:chExt cx="4896" cy="1094"/>
          </a:xfrm>
        </p:grpSpPr>
        <p:graphicFrame>
          <p:nvGraphicFramePr>
            <p:cNvPr id="24579" name="Object 4"/>
            <p:cNvGraphicFramePr>
              <a:graphicFrameLocks noChangeAspect="1"/>
            </p:cNvGraphicFramePr>
            <p:nvPr/>
          </p:nvGraphicFramePr>
          <p:xfrm>
            <a:off x="2078" y="1252"/>
            <a:ext cx="322" cy="572"/>
          </p:xfrm>
          <a:graphic>
            <a:graphicData uri="http://schemas.openxmlformats.org/presentationml/2006/ole">
              <p:oleObj spid="_x0000_s24579" r:id="rId9" imgW="253890" imgH="457002" progId="Equation.DSMT4">
                <p:embed/>
              </p:oleObj>
            </a:graphicData>
          </a:graphic>
        </p:graphicFrame>
        <p:graphicFrame>
          <p:nvGraphicFramePr>
            <p:cNvPr id="24580" name="Object 6"/>
            <p:cNvGraphicFramePr>
              <a:graphicFrameLocks noChangeAspect="1"/>
            </p:cNvGraphicFramePr>
            <p:nvPr/>
          </p:nvGraphicFramePr>
          <p:xfrm>
            <a:off x="3805" y="1249"/>
            <a:ext cx="1043" cy="575"/>
          </p:xfrm>
          <a:graphic>
            <a:graphicData uri="http://schemas.openxmlformats.org/presentationml/2006/ole">
              <p:oleObj spid="_x0000_s24580" r:id="rId10" imgW="825500" imgH="457200" progId="Equation.DSMT4">
                <p:embed/>
              </p:oleObj>
            </a:graphicData>
          </a:graphic>
        </p:graphicFrame>
        <p:sp>
          <p:nvSpPr>
            <p:cNvPr id="24598" name="Text Box 20"/>
            <p:cNvSpPr txBox="1">
              <a:spLocks noChangeArrowheads="1"/>
            </p:cNvSpPr>
            <p:nvPr/>
          </p:nvSpPr>
          <p:spPr bwMode="auto">
            <a:xfrm>
              <a:off x="1315" y="730"/>
              <a:ext cx="1861" cy="523"/>
            </a:xfrm>
            <a:prstGeom prst="rect">
              <a:avLst/>
            </a:prstGeom>
            <a:noFill/>
            <a:ln w="9525">
              <a:noFill/>
              <a:miter lim="800000"/>
              <a:headEnd/>
              <a:tailEnd/>
            </a:ln>
          </p:spPr>
          <p:txBody>
            <a:bodyPr wrap="none">
              <a:spAutoFit/>
            </a:bodyPr>
            <a:lstStyle/>
            <a:p>
              <a:r>
                <a:rPr lang="zh-CN" altLang="en-US" sz="2400" b="1" dirty="0">
                  <a:solidFill>
                    <a:schemeClr val="bg1"/>
                  </a:solidFill>
                  <a:latin typeface="Times New Roman" pitchFamily="18" charset="0"/>
                  <a:ea typeface="华文中宋" pitchFamily="2" charset="-122"/>
                  <a:cs typeface="Times New Roman" pitchFamily="18" charset="0"/>
                </a:rPr>
                <a:t>确定分布下某一能级</a:t>
              </a:r>
            </a:p>
            <a:p>
              <a:r>
                <a:rPr lang="zh-CN" altLang="en-US" sz="2400" b="1" dirty="0">
                  <a:solidFill>
                    <a:schemeClr val="bg1"/>
                  </a:solidFill>
                  <a:latin typeface="Times New Roman" pitchFamily="18" charset="0"/>
                  <a:ea typeface="华文中宋" pitchFamily="2" charset="-122"/>
                  <a:cs typeface="Times New Roman" pitchFamily="18" charset="0"/>
                </a:rPr>
                <a:t>的排列数</a:t>
              </a:r>
            </a:p>
          </p:txBody>
        </p:sp>
        <p:sp>
          <p:nvSpPr>
            <p:cNvPr id="24599" name="Text Box 21"/>
            <p:cNvSpPr txBox="1">
              <a:spLocks noChangeArrowheads="1"/>
            </p:cNvSpPr>
            <p:nvPr/>
          </p:nvSpPr>
          <p:spPr bwMode="auto">
            <a:xfrm>
              <a:off x="3427" y="816"/>
              <a:ext cx="1853" cy="288"/>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系统总的微观状态数</a:t>
              </a:r>
            </a:p>
          </p:txBody>
        </p:sp>
        <p:sp>
          <p:nvSpPr>
            <p:cNvPr id="24600" name="Text Box 22"/>
            <p:cNvSpPr txBox="1">
              <a:spLocks noChangeArrowheads="1"/>
            </p:cNvSpPr>
            <p:nvPr/>
          </p:nvSpPr>
          <p:spPr bwMode="auto">
            <a:xfrm>
              <a:off x="432" y="1392"/>
              <a:ext cx="695" cy="288"/>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定域子</a:t>
              </a:r>
            </a:p>
          </p:txBody>
        </p:sp>
        <p:sp>
          <p:nvSpPr>
            <p:cNvPr id="24601" name="Line 26"/>
            <p:cNvSpPr>
              <a:spLocks noChangeShapeType="1"/>
            </p:cNvSpPr>
            <p:nvPr/>
          </p:nvSpPr>
          <p:spPr bwMode="auto">
            <a:xfrm>
              <a:off x="432" y="768"/>
              <a:ext cx="4896" cy="0"/>
            </a:xfrm>
            <a:prstGeom prst="line">
              <a:avLst/>
            </a:prstGeom>
            <a:noFill/>
            <a:ln w="38100">
              <a:solidFill>
                <a:schemeClr val="bg1"/>
              </a:solidFill>
              <a:round/>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sp>
          <p:nvSpPr>
            <p:cNvPr id="24602" name="Line 27"/>
            <p:cNvSpPr>
              <a:spLocks noChangeShapeType="1"/>
            </p:cNvSpPr>
            <p:nvPr/>
          </p:nvSpPr>
          <p:spPr bwMode="auto">
            <a:xfrm>
              <a:off x="432" y="1824"/>
              <a:ext cx="4896" cy="0"/>
            </a:xfrm>
            <a:prstGeom prst="line">
              <a:avLst/>
            </a:prstGeom>
            <a:noFill/>
            <a:ln w="38100">
              <a:solidFill>
                <a:schemeClr val="bg1"/>
              </a:solidFill>
              <a:round/>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sp>
          <p:nvSpPr>
            <p:cNvPr id="24603" name="Line 32"/>
            <p:cNvSpPr>
              <a:spLocks noChangeShapeType="1"/>
            </p:cNvSpPr>
            <p:nvPr/>
          </p:nvSpPr>
          <p:spPr bwMode="auto">
            <a:xfrm>
              <a:off x="432" y="1296"/>
              <a:ext cx="4896" cy="0"/>
            </a:xfrm>
            <a:prstGeom prst="line">
              <a:avLst/>
            </a:prstGeom>
            <a:noFill/>
            <a:ln w="38100">
              <a:solidFill>
                <a:schemeClr val="bg1"/>
              </a:solidFill>
              <a:round/>
              <a:headEnd/>
              <a:tailEnd/>
            </a:ln>
          </p:spPr>
          <p:txBody>
            <a:bodyPr wrap="none"/>
            <a:lstStyle/>
            <a:p>
              <a:endParaRPr lang="zh-CN" altLang="en-US">
                <a:latin typeface="Times New Roman" pitchFamily="18" charset="0"/>
                <a:ea typeface="华文中宋" pitchFamily="2" charset="-122"/>
                <a:cs typeface="Times New Roman" pitchFamily="18" charset="0"/>
              </a:endParaRPr>
            </a:p>
          </p:txBody>
        </p:sp>
      </p:grpSp>
      <p:grpSp>
        <p:nvGrpSpPr>
          <p:cNvPr id="6" name="Group 42"/>
          <p:cNvGrpSpPr>
            <a:grpSpLocks/>
          </p:cNvGrpSpPr>
          <p:nvPr/>
        </p:nvGrpSpPr>
        <p:grpSpPr bwMode="auto">
          <a:xfrm>
            <a:off x="2514600" y="3048000"/>
            <a:ext cx="4038600" cy="3810000"/>
            <a:chOff x="1584" y="1920"/>
            <a:chExt cx="2544" cy="2400"/>
          </a:xfrm>
        </p:grpSpPr>
        <p:sp>
          <p:nvSpPr>
            <p:cNvPr id="24595" name="Rectangle 37"/>
            <p:cNvSpPr>
              <a:spLocks noChangeArrowheads="1"/>
            </p:cNvSpPr>
            <p:nvPr/>
          </p:nvSpPr>
          <p:spPr bwMode="auto">
            <a:xfrm>
              <a:off x="1584" y="1920"/>
              <a:ext cx="1296" cy="1776"/>
            </a:xfrm>
            <a:prstGeom prst="rect">
              <a:avLst/>
            </a:prstGeom>
            <a:noFill/>
            <a:ln w="57150">
              <a:solidFill>
                <a:schemeClr val="tx2"/>
              </a:solidFill>
              <a:miter lim="800000"/>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sp>
          <p:nvSpPr>
            <p:cNvPr id="24596" name="AutoShape 38"/>
            <p:cNvSpPr>
              <a:spLocks noChangeArrowheads="1"/>
            </p:cNvSpPr>
            <p:nvPr/>
          </p:nvSpPr>
          <p:spPr bwMode="auto">
            <a:xfrm>
              <a:off x="2880" y="3312"/>
              <a:ext cx="1248" cy="1008"/>
            </a:xfrm>
            <a:prstGeom prst="wedgeEllipseCallout">
              <a:avLst>
                <a:gd name="adj1" fmla="val -52722"/>
                <a:gd name="adj2" fmla="val -76787"/>
              </a:avLst>
            </a:prstGeom>
            <a:solidFill>
              <a:schemeClr val="accent1"/>
            </a:solidFill>
            <a:ln w="9525">
              <a:solidFill>
                <a:schemeClr val="tx1"/>
              </a:solidFill>
              <a:miter lim="800000"/>
              <a:headEnd/>
              <a:tailEnd/>
            </a:ln>
          </p:spPr>
          <p:txBody>
            <a:bodyPr/>
            <a:lstStyle/>
            <a:p>
              <a:pPr algn="ctr"/>
              <a:endParaRPr lang="zh-CN" altLang="zh-CN">
                <a:latin typeface="Times New Roman" pitchFamily="18" charset="0"/>
                <a:ea typeface="华文中宋" pitchFamily="2" charset="-122"/>
                <a:cs typeface="Times New Roman" pitchFamily="18" charset="0"/>
              </a:endParaRPr>
            </a:p>
          </p:txBody>
        </p:sp>
        <p:sp>
          <p:nvSpPr>
            <p:cNvPr id="24597" name="Text Box 39"/>
            <p:cNvSpPr txBox="1">
              <a:spLocks noChangeArrowheads="1"/>
            </p:cNvSpPr>
            <p:nvPr/>
          </p:nvSpPr>
          <p:spPr bwMode="auto">
            <a:xfrm>
              <a:off x="3062" y="3472"/>
              <a:ext cx="916" cy="442"/>
            </a:xfrm>
            <a:prstGeom prst="rect">
              <a:avLst/>
            </a:prstGeom>
            <a:noFill/>
            <a:ln w="9525">
              <a:noFill/>
              <a:miter lim="800000"/>
              <a:headEnd/>
              <a:tailEnd/>
            </a:ln>
          </p:spPr>
          <p:txBody>
            <a:bodyPr wrap="none">
              <a:spAutoFit/>
            </a:bodyPr>
            <a:lstStyle/>
            <a:p>
              <a:r>
                <a:rPr lang="zh-CN" altLang="en-US" sz="2000" b="1" dirty="0">
                  <a:latin typeface="Times New Roman" pitchFamily="18" charset="0"/>
                  <a:ea typeface="华文中宋" pitchFamily="2" charset="-122"/>
                  <a:cs typeface="Times New Roman" pitchFamily="18" charset="0"/>
                </a:rPr>
                <a:t>在经典极限</a:t>
              </a:r>
            </a:p>
            <a:p>
              <a:r>
                <a:rPr lang="zh-CN" altLang="en-US" sz="2000" b="1" dirty="0">
                  <a:latin typeface="Times New Roman" pitchFamily="18" charset="0"/>
                  <a:ea typeface="华文中宋" pitchFamily="2" charset="-122"/>
                  <a:cs typeface="Times New Roman" pitchFamily="18" charset="0"/>
                </a:rPr>
                <a:t>下表述相同</a:t>
              </a:r>
            </a:p>
          </p:txBody>
        </p:sp>
        <p:graphicFrame>
          <p:nvGraphicFramePr>
            <p:cNvPr id="24578" name="Object 40"/>
            <p:cNvGraphicFramePr>
              <a:graphicFrameLocks noChangeAspect="1"/>
            </p:cNvGraphicFramePr>
            <p:nvPr/>
          </p:nvGraphicFramePr>
          <p:xfrm>
            <a:off x="3216" y="3888"/>
            <a:ext cx="612" cy="288"/>
          </p:xfrm>
          <a:graphic>
            <a:graphicData uri="http://schemas.openxmlformats.org/presentationml/2006/ole">
              <p:oleObj spid="_x0000_s24578" r:id="rId11" imgW="482391" imgH="228501" progId="Equation.DSMT4">
                <p:embed/>
              </p:oleObj>
            </a:graphicData>
          </a:graphic>
        </p:graphicFrame>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4035"/>
                                        </p:tgtEl>
                                        <p:attrNameLst>
                                          <p:attrName>style.visibility</p:attrName>
                                        </p:attrNameLst>
                                      </p:cBhvr>
                                      <p:to>
                                        <p:strVal val="visible"/>
                                      </p:to>
                                    </p:set>
                                    <p:animEffect transition="in" filter="dissolve">
                                      <p:cBhvr>
                                        <p:cTn id="7" dur="500"/>
                                        <p:tgtEl>
                                          <p:spTgt spid="4403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dissolv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dissolve">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dissolve">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8" name="灯片编号占位符 3"/>
          <p:cNvSpPr>
            <a:spLocks noGrp="1"/>
          </p:cNvSpPr>
          <p:nvPr>
            <p:ph type="sldNum" sz="quarter" idx="12"/>
          </p:nvPr>
        </p:nvSpPr>
        <p:spPr>
          <a:noFill/>
        </p:spPr>
        <p:txBody>
          <a:bodyPr/>
          <a:lstStyle/>
          <a:p>
            <a:fld id="{A3B4F688-CD45-470F-AAD3-6542A2585A32}" type="slidenum">
              <a:rPr lang="en-US" altLang="zh-CN" smtClean="0">
                <a:latin typeface="Times New Roman" pitchFamily="18" charset="0"/>
                <a:ea typeface="华文中宋" pitchFamily="2" charset="-122"/>
                <a:cs typeface="Times New Roman" pitchFamily="18" charset="0"/>
              </a:rPr>
              <a:pPr/>
              <a:t>39</a:t>
            </a:fld>
            <a:endParaRPr lang="en-US" altLang="zh-CN" smtClean="0">
              <a:latin typeface="Times New Roman" pitchFamily="18" charset="0"/>
              <a:ea typeface="华文中宋" pitchFamily="2" charset="-122"/>
              <a:cs typeface="Times New Roman" pitchFamily="18" charset="0"/>
            </a:endParaRPr>
          </a:p>
        </p:txBody>
      </p:sp>
      <p:sp>
        <p:nvSpPr>
          <p:cNvPr id="25609" name="Text Box 2"/>
          <p:cNvSpPr txBox="1">
            <a:spLocks noChangeArrowheads="1"/>
          </p:cNvSpPr>
          <p:nvPr/>
        </p:nvSpPr>
        <p:spPr bwMode="auto">
          <a:xfrm>
            <a:off x="4364038" y="0"/>
            <a:ext cx="477996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wrap="none">
            <a:spAutoFit/>
          </a:bodyPr>
          <a:lstStyle/>
          <a:p>
            <a:pPr eaLnBrk="0" hangingPunct="0"/>
            <a:r>
              <a:rPr lang="zh-CN" altLang="en-US" sz="2400" b="1">
                <a:solidFill>
                  <a:schemeClr val="bg1"/>
                </a:solidFill>
                <a:latin typeface="Times New Roman" pitchFamily="18" charset="0"/>
                <a:ea typeface="隶书" pitchFamily="49" charset="-122"/>
              </a:rPr>
              <a:t>各种体系的能级分布和微观状态数</a:t>
            </a:r>
            <a:endParaRPr lang="zh-CN" altLang="en-US" sz="2400">
              <a:solidFill>
                <a:schemeClr val="bg1"/>
              </a:solidFill>
              <a:latin typeface="Times New Roman" pitchFamily="18" charset="0"/>
            </a:endParaRPr>
          </a:p>
        </p:txBody>
      </p:sp>
      <p:sp>
        <p:nvSpPr>
          <p:cNvPr id="45059" name="Rectangle 3"/>
          <p:cNvSpPr>
            <a:spLocks noGrp="1" noRot="1" noChangeArrowheads="1"/>
          </p:cNvSpPr>
          <p:nvPr/>
        </p:nvSpPr>
        <p:spPr bwMode="auto">
          <a:xfrm>
            <a:off x="374650" y="228600"/>
            <a:ext cx="8540750" cy="1143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经典极限</a:t>
            </a:r>
          </a:p>
        </p:txBody>
      </p:sp>
      <p:grpSp>
        <p:nvGrpSpPr>
          <p:cNvPr id="2" name="Group 9"/>
          <p:cNvGrpSpPr>
            <a:grpSpLocks/>
          </p:cNvGrpSpPr>
          <p:nvPr/>
        </p:nvGrpSpPr>
        <p:grpSpPr bwMode="auto">
          <a:xfrm>
            <a:off x="838200" y="1231901"/>
            <a:ext cx="8186740" cy="469901"/>
            <a:chOff x="528" y="776"/>
            <a:chExt cx="5157" cy="296"/>
          </a:xfrm>
        </p:grpSpPr>
        <p:sp>
          <p:nvSpPr>
            <p:cNvPr id="25628" name="Text Box 4"/>
            <p:cNvSpPr txBox="1">
              <a:spLocks noChangeArrowheads="1"/>
            </p:cNvSpPr>
            <p:nvPr/>
          </p:nvSpPr>
          <p:spPr bwMode="auto">
            <a:xfrm>
              <a:off x="528" y="781"/>
              <a:ext cx="5157" cy="291"/>
            </a:xfrm>
            <a:prstGeom prst="rect">
              <a:avLst/>
            </a:prstGeom>
            <a:noFill/>
            <a:ln w="9525">
              <a:noFill/>
              <a:miter lim="800000"/>
              <a:headEnd/>
              <a:tailEnd/>
            </a:ln>
          </p:spPr>
          <p:txBody>
            <a:bodyPr wrap="none">
              <a:spAutoFit/>
            </a:bodyPr>
            <a:lstStyle/>
            <a:p>
              <a:r>
                <a:rPr lang="zh-CN" altLang="en-US" sz="2400" b="1" dirty="0">
                  <a:solidFill>
                    <a:schemeClr val="bg1"/>
                  </a:solidFill>
                  <a:latin typeface="Times New Roman" pitchFamily="18" charset="0"/>
                  <a:ea typeface="华文中宋" pitchFamily="2" charset="-122"/>
                  <a:cs typeface="Times New Roman" pitchFamily="18" charset="0"/>
                </a:rPr>
                <a:t>对于实际离域子体系，一般成立       </a:t>
              </a:r>
              <a:r>
                <a:rPr lang="zh-CN" altLang="en-US" sz="2400" b="1" dirty="0" smtClean="0">
                  <a:solidFill>
                    <a:schemeClr val="bg1"/>
                  </a:solidFill>
                  <a:latin typeface="Times New Roman" pitchFamily="18" charset="0"/>
                  <a:ea typeface="华文中宋" pitchFamily="2" charset="-122"/>
                  <a:cs typeface="Times New Roman" pitchFamily="18" charset="0"/>
                </a:rPr>
                <a:t>       ，被</a:t>
              </a:r>
              <a:r>
                <a:rPr lang="zh-CN" altLang="en-US" sz="2400" b="1" dirty="0">
                  <a:solidFill>
                    <a:schemeClr val="bg1"/>
                  </a:solidFill>
                  <a:latin typeface="Times New Roman" pitchFamily="18" charset="0"/>
                  <a:ea typeface="华文中宋" pitchFamily="2" charset="-122"/>
                  <a:cs typeface="Times New Roman" pitchFamily="18" charset="0"/>
                </a:rPr>
                <a:t>称为经典</a:t>
              </a:r>
              <a:r>
                <a:rPr lang="zh-CN" altLang="en-US" sz="2400" b="1" dirty="0" smtClean="0">
                  <a:solidFill>
                    <a:schemeClr val="bg1"/>
                  </a:solidFill>
                  <a:latin typeface="Times New Roman" pitchFamily="18" charset="0"/>
                  <a:ea typeface="华文中宋" pitchFamily="2" charset="-122"/>
                  <a:cs typeface="Times New Roman" pitchFamily="18" charset="0"/>
                </a:rPr>
                <a:t>极限   </a:t>
              </a:r>
              <a:endParaRPr lang="zh-CN" altLang="en-US" sz="2400" b="1" dirty="0">
                <a:solidFill>
                  <a:schemeClr val="bg1"/>
                </a:solidFill>
                <a:latin typeface="Times New Roman" pitchFamily="18" charset="0"/>
                <a:ea typeface="华文中宋" pitchFamily="2" charset="-122"/>
                <a:cs typeface="Times New Roman" pitchFamily="18" charset="0"/>
              </a:endParaRPr>
            </a:p>
          </p:txBody>
        </p:sp>
        <p:graphicFrame>
          <p:nvGraphicFramePr>
            <p:cNvPr id="25607" name="Object 7"/>
            <p:cNvGraphicFramePr>
              <a:graphicFrameLocks noChangeAspect="1"/>
            </p:cNvGraphicFramePr>
            <p:nvPr/>
          </p:nvGraphicFramePr>
          <p:xfrm>
            <a:off x="3312" y="776"/>
            <a:ext cx="612" cy="288"/>
          </p:xfrm>
          <a:graphic>
            <a:graphicData uri="http://schemas.openxmlformats.org/presentationml/2006/ole">
              <p:oleObj spid="_x0000_s25607" r:id="rId3" imgW="482391" imgH="228501" progId="Equation.DSMT4">
                <p:embed/>
              </p:oleObj>
            </a:graphicData>
          </a:graphic>
        </p:graphicFrame>
      </p:grpSp>
      <p:grpSp>
        <p:nvGrpSpPr>
          <p:cNvPr id="3" name="Group 15"/>
          <p:cNvGrpSpPr>
            <a:grpSpLocks/>
          </p:cNvGrpSpPr>
          <p:nvPr/>
        </p:nvGrpSpPr>
        <p:grpSpPr bwMode="auto">
          <a:xfrm>
            <a:off x="838200" y="1946275"/>
            <a:ext cx="8061325" cy="1406525"/>
            <a:chOff x="528" y="1226"/>
            <a:chExt cx="5078" cy="886"/>
          </a:xfrm>
        </p:grpSpPr>
        <p:sp>
          <p:nvSpPr>
            <p:cNvPr id="25627" name="Text Box 5"/>
            <p:cNvSpPr txBox="1">
              <a:spLocks noChangeArrowheads="1"/>
            </p:cNvSpPr>
            <p:nvPr/>
          </p:nvSpPr>
          <p:spPr bwMode="auto">
            <a:xfrm>
              <a:off x="528" y="1226"/>
              <a:ext cx="2220"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此时，对于</a:t>
              </a:r>
              <a:r>
                <a:rPr lang="en-US" altLang="zh-CN" sz="2400" b="1">
                  <a:solidFill>
                    <a:schemeClr val="bg1"/>
                  </a:solidFill>
                  <a:latin typeface="Times New Roman" pitchFamily="18" charset="0"/>
                  <a:ea typeface="华文中宋" pitchFamily="2" charset="-122"/>
                  <a:cs typeface="Times New Roman" pitchFamily="18" charset="0"/>
                </a:rPr>
                <a:t>Fermi</a:t>
              </a:r>
              <a:r>
                <a:rPr lang="zh-CN" altLang="en-US" sz="2400" b="1">
                  <a:solidFill>
                    <a:schemeClr val="bg1"/>
                  </a:solidFill>
                  <a:latin typeface="Times New Roman" pitchFamily="18" charset="0"/>
                  <a:ea typeface="华文中宋" pitchFamily="2" charset="-122"/>
                  <a:cs typeface="Times New Roman" pitchFamily="18" charset="0"/>
                </a:rPr>
                <a:t>子成立</a:t>
              </a:r>
            </a:p>
          </p:txBody>
        </p:sp>
        <p:graphicFrame>
          <p:nvGraphicFramePr>
            <p:cNvPr id="25606" name="Object 10"/>
            <p:cNvGraphicFramePr>
              <a:graphicFrameLocks noChangeAspect="1"/>
            </p:cNvGraphicFramePr>
            <p:nvPr/>
          </p:nvGraphicFramePr>
          <p:xfrm>
            <a:off x="768" y="1536"/>
            <a:ext cx="4838" cy="576"/>
          </p:xfrm>
          <a:graphic>
            <a:graphicData uri="http://schemas.openxmlformats.org/presentationml/2006/ole">
              <p:oleObj spid="_x0000_s25606" r:id="rId4" imgW="3835400" imgH="457200" progId="Equation.DSMT4">
                <p:embed/>
              </p:oleObj>
            </a:graphicData>
          </a:graphic>
        </p:graphicFrame>
      </p:grpSp>
      <p:grpSp>
        <p:nvGrpSpPr>
          <p:cNvPr id="4" name="Group 16"/>
          <p:cNvGrpSpPr>
            <a:grpSpLocks/>
          </p:cNvGrpSpPr>
          <p:nvPr/>
        </p:nvGrpSpPr>
        <p:grpSpPr bwMode="auto">
          <a:xfrm>
            <a:off x="838200" y="3733800"/>
            <a:ext cx="7469188" cy="1466850"/>
            <a:chOff x="528" y="2352"/>
            <a:chExt cx="4705" cy="924"/>
          </a:xfrm>
        </p:grpSpPr>
        <p:sp>
          <p:nvSpPr>
            <p:cNvPr id="25626" name="Text Box 6"/>
            <p:cNvSpPr txBox="1">
              <a:spLocks noChangeArrowheads="1"/>
            </p:cNvSpPr>
            <p:nvPr/>
          </p:nvSpPr>
          <p:spPr bwMode="auto">
            <a:xfrm>
              <a:off x="528" y="2352"/>
              <a:ext cx="1086"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对于</a:t>
              </a:r>
              <a:r>
                <a:rPr lang="en-US" altLang="zh-CN" sz="2400" b="1">
                  <a:solidFill>
                    <a:schemeClr val="bg1"/>
                  </a:solidFill>
                  <a:latin typeface="Times New Roman" pitchFamily="18" charset="0"/>
                  <a:ea typeface="华文中宋" pitchFamily="2" charset="-122"/>
                  <a:cs typeface="Times New Roman" pitchFamily="18" charset="0"/>
                </a:rPr>
                <a:t>Bose</a:t>
              </a:r>
              <a:r>
                <a:rPr lang="zh-CN" altLang="en-US" sz="2400" b="1">
                  <a:solidFill>
                    <a:schemeClr val="bg1"/>
                  </a:solidFill>
                  <a:latin typeface="Times New Roman" pitchFamily="18" charset="0"/>
                  <a:ea typeface="华文中宋" pitchFamily="2" charset="-122"/>
                  <a:cs typeface="Times New Roman" pitchFamily="18" charset="0"/>
                </a:rPr>
                <a:t>子</a:t>
              </a:r>
            </a:p>
          </p:txBody>
        </p:sp>
        <p:graphicFrame>
          <p:nvGraphicFramePr>
            <p:cNvPr id="25605" name="Object 12"/>
            <p:cNvGraphicFramePr>
              <a:graphicFrameLocks noChangeAspect="1"/>
            </p:cNvGraphicFramePr>
            <p:nvPr/>
          </p:nvGraphicFramePr>
          <p:xfrm>
            <a:off x="912" y="2688"/>
            <a:ext cx="4321" cy="588"/>
          </p:xfrm>
          <a:graphic>
            <a:graphicData uri="http://schemas.openxmlformats.org/presentationml/2006/ole">
              <p:oleObj spid="_x0000_s25605" r:id="rId5" imgW="3429000" imgH="469900" progId="Equation.DSMT4">
                <p:embed/>
              </p:oleObj>
            </a:graphicData>
          </a:graphic>
        </p:graphicFrame>
      </p:grpSp>
      <p:sp>
        <p:nvSpPr>
          <p:cNvPr id="45070" name="AutoShape 14"/>
          <p:cNvSpPr>
            <a:spLocks noChangeArrowheads="1"/>
          </p:cNvSpPr>
          <p:nvPr/>
        </p:nvSpPr>
        <p:spPr bwMode="auto">
          <a:xfrm>
            <a:off x="7620000" y="2438400"/>
            <a:ext cx="1371600" cy="2819400"/>
          </a:xfrm>
          <a:prstGeom prst="parallelogram">
            <a:avLst>
              <a:gd name="adj" fmla="val 43889"/>
            </a:avLst>
          </a:prstGeom>
          <a:noFill/>
          <a:ln w="38100">
            <a:solidFill>
              <a:schemeClr val="tx2"/>
            </a:solidFill>
            <a:miter lim="800000"/>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grpSp>
        <p:nvGrpSpPr>
          <p:cNvPr id="5" name="Group 23"/>
          <p:cNvGrpSpPr>
            <a:grpSpLocks/>
          </p:cNvGrpSpPr>
          <p:nvPr/>
        </p:nvGrpSpPr>
        <p:grpSpPr bwMode="auto">
          <a:xfrm>
            <a:off x="762000" y="5257800"/>
            <a:ext cx="4953000" cy="914400"/>
            <a:chOff x="480" y="3312"/>
            <a:chExt cx="3120" cy="576"/>
          </a:xfrm>
        </p:grpSpPr>
        <p:sp>
          <p:nvSpPr>
            <p:cNvPr id="25625" name="Text Box 17"/>
            <p:cNvSpPr txBox="1">
              <a:spLocks noChangeArrowheads="1"/>
            </p:cNvSpPr>
            <p:nvPr/>
          </p:nvSpPr>
          <p:spPr bwMode="auto">
            <a:xfrm>
              <a:off x="480" y="3442"/>
              <a:ext cx="2529" cy="288"/>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某一个确定能级的微观态数 </a:t>
              </a:r>
            </a:p>
          </p:txBody>
        </p:sp>
        <p:graphicFrame>
          <p:nvGraphicFramePr>
            <p:cNvPr id="25604" name="Object 19"/>
            <p:cNvGraphicFramePr>
              <a:graphicFrameLocks noChangeAspect="1"/>
            </p:cNvGraphicFramePr>
            <p:nvPr/>
          </p:nvGraphicFramePr>
          <p:xfrm>
            <a:off x="3024" y="3312"/>
            <a:ext cx="576" cy="576"/>
          </p:xfrm>
          <a:graphic>
            <a:graphicData uri="http://schemas.openxmlformats.org/presentationml/2006/ole">
              <p:oleObj spid="_x0000_s25604" r:id="rId6" imgW="457200" imgH="457200" progId="Equation.DSMT4">
                <p:embed/>
              </p:oleObj>
            </a:graphicData>
          </a:graphic>
        </p:graphicFrame>
      </p:grpSp>
      <p:grpSp>
        <p:nvGrpSpPr>
          <p:cNvPr id="6" name="Group 24"/>
          <p:cNvGrpSpPr>
            <a:grpSpLocks/>
          </p:cNvGrpSpPr>
          <p:nvPr/>
        </p:nvGrpSpPr>
        <p:grpSpPr bwMode="auto">
          <a:xfrm>
            <a:off x="822325" y="5943600"/>
            <a:ext cx="3902075" cy="914400"/>
            <a:chOff x="518" y="3744"/>
            <a:chExt cx="2458" cy="576"/>
          </a:xfrm>
        </p:grpSpPr>
        <p:sp>
          <p:nvSpPr>
            <p:cNvPr id="25624" name="Text Box 18"/>
            <p:cNvSpPr txBox="1">
              <a:spLocks noChangeArrowheads="1"/>
            </p:cNvSpPr>
            <p:nvPr/>
          </p:nvSpPr>
          <p:spPr bwMode="auto">
            <a:xfrm>
              <a:off x="518" y="3888"/>
              <a:ext cx="1371" cy="288"/>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总微观状态数 </a:t>
              </a:r>
            </a:p>
          </p:txBody>
        </p:sp>
        <p:graphicFrame>
          <p:nvGraphicFramePr>
            <p:cNvPr id="25603" name="Object 21"/>
            <p:cNvGraphicFramePr>
              <a:graphicFrameLocks noChangeAspect="1"/>
            </p:cNvGraphicFramePr>
            <p:nvPr/>
          </p:nvGraphicFramePr>
          <p:xfrm>
            <a:off x="1824" y="3744"/>
            <a:ext cx="1152" cy="576"/>
          </p:xfrm>
          <a:graphic>
            <a:graphicData uri="http://schemas.openxmlformats.org/presentationml/2006/ole">
              <p:oleObj spid="_x0000_s25603" r:id="rId7" imgW="914400" imgH="457200" progId="Equation.DSMT4">
                <p:embed/>
              </p:oleObj>
            </a:graphicData>
          </a:graphic>
        </p:graphicFrame>
      </p:grpSp>
      <p:sp>
        <p:nvSpPr>
          <p:cNvPr id="45081" name="Text Box 25"/>
          <p:cNvSpPr txBox="1">
            <a:spLocks noChangeArrowheads="1"/>
          </p:cNvSpPr>
          <p:nvPr/>
        </p:nvSpPr>
        <p:spPr bwMode="auto">
          <a:xfrm>
            <a:off x="5715000" y="5865813"/>
            <a:ext cx="3592650" cy="923330"/>
          </a:xfrm>
          <a:prstGeom prst="rect">
            <a:avLst/>
          </a:prstGeom>
          <a:solidFill>
            <a:srgbClr val="000099"/>
          </a:solidFill>
          <a:ln w="9525">
            <a:noFill/>
            <a:miter lim="800000"/>
            <a:headEnd/>
            <a:tailEnd/>
          </a:ln>
        </p:spPr>
        <p:txBody>
          <a:bodyPr wrap="none">
            <a:spAutoFit/>
          </a:bodyPr>
          <a:lstStyle/>
          <a:p>
            <a:r>
              <a:rPr lang="zh-CN" altLang="en-US" b="1">
                <a:solidFill>
                  <a:schemeClr val="bg1"/>
                </a:solidFill>
                <a:latin typeface="Times New Roman" pitchFamily="18" charset="0"/>
                <a:ea typeface="华文中宋" pitchFamily="2" charset="-122"/>
                <a:cs typeface="Times New Roman" pitchFamily="18" charset="0"/>
              </a:rPr>
              <a:t>只有对于光子气或低温氦</a:t>
            </a:r>
            <a:r>
              <a:rPr lang="en-US" altLang="zh-CN" b="1">
                <a:solidFill>
                  <a:schemeClr val="bg1"/>
                </a:solidFill>
                <a:latin typeface="Times New Roman" pitchFamily="18" charset="0"/>
                <a:ea typeface="华文中宋" pitchFamily="2" charset="-122"/>
                <a:cs typeface="Times New Roman" pitchFamily="18" charset="0"/>
              </a:rPr>
              <a:t>(Bose</a:t>
            </a:r>
          </a:p>
          <a:p>
            <a:r>
              <a:rPr lang="zh-CN" altLang="en-US" b="1">
                <a:solidFill>
                  <a:schemeClr val="bg1"/>
                </a:solidFill>
                <a:latin typeface="Times New Roman" pitchFamily="18" charset="0"/>
                <a:ea typeface="华文中宋" pitchFamily="2" charset="-122"/>
                <a:cs typeface="Times New Roman" pitchFamily="18" charset="0"/>
              </a:rPr>
              <a:t>子</a:t>
            </a:r>
            <a:r>
              <a:rPr lang="en-US" altLang="zh-CN" b="1">
                <a:solidFill>
                  <a:schemeClr val="bg1"/>
                </a:solidFill>
                <a:latin typeface="Times New Roman" pitchFamily="18" charset="0"/>
                <a:ea typeface="华文中宋" pitchFamily="2" charset="-122"/>
                <a:cs typeface="Times New Roman" pitchFamily="18" charset="0"/>
              </a:rPr>
              <a:t>)</a:t>
            </a:r>
            <a:r>
              <a:rPr lang="zh-CN" altLang="en-US" b="1">
                <a:solidFill>
                  <a:schemeClr val="bg1"/>
                </a:solidFill>
                <a:latin typeface="Times New Roman" pitchFamily="18" charset="0"/>
                <a:ea typeface="华文中宋" pitchFamily="2" charset="-122"/>
                <a:cs typeface="Times New Roman" pitchFamily="18" charset="0"/>
              </a:rPr>
              <a:t>和金属中的自由电子气</a:t>
            </a:r>
          </a:p>
          <a:p>
            <a:r>
              <a:rPr lang="en-US" altLang="zh-CN" b="1">
                <a:solidFill>
                  <a:schemeClr val="bg1"/>
                </a:solidFill>
                <a:latin typeface="Times New Roman" pitchFamily="18" charset="0"/>
                <a:ea typeface="华文中宋" pitchFamily="2" charset="-122"/>
                <a:cs typeface="Times New Roman" pitchFamily="18" charset="0"/>
              </a:rPr>
              <a:t>(Fermi</a:t>
            </a:r>
            <a:r>
              <a:rPr lang="zh-CN" altLang="en-US" b="1">
                <a:solidFill>
                  <a:schemeClr val="bg1"/>
                </a:solidFill>
                <a:latin typeface="Times New Roman" pitchFamily="18" charset="0"/>
                <a:ea typeface="华文中宋" pitchFamily="2" charset="-122"/>
                <a:cs typeface="Times New Roman" pitchFamily="18" charset="0"/>
              </a:rPr>
              <a:t>子</a:t>
            </a:r>
            <a:r>
              <a:rPr lang="en-US" altLang="zh-CN" b="1">
                <a:solidFill>
                  <a:schemeClr val="bg1"/>
                </a:solidFill>
                <a:latin typeface="Times New Roman" pitchFamily="18" charset="0"/>
                <a:ea typeface="华文中宋" pitchFamily="2" charset="-122"/>
                <a:cs typeface="Times New Roman" pitchFamily="18" charset="0"/>
              </a:rPr>
              <a:t>)</a:t>
            </a:r>
            <a:r>
              <a:rPr lang="zh-CN" altLang="en-US" b="1">
                <a:solidFill>
                  <a:schemeClr val="bg1"/>
                </a:solidFill>
                <a:latin typeface="Times New Roman" pitchFamily="18" charset="0"/>
                <a:ea typeface="华文中宋" pitchFamily="2" charset="-122"/>
                <a:cs typeface="Times New Roman" pitchFamily="18" charset="0"/>
              </a:rPr>
              <a:t>才必须考虑其量子效应 </a:t>
            </a:r>
          </a:p>
        </p:txBody>
      </p:sp>
      <p:grpSp>
        <p:nvGrpSpPr>
          <p:cNvPr id="7" name="Group 33"/>
          <p:cNvGrpSpPr>
            <a:grpSpLocks/>
          </p:cNvGrpSpPr>
          <p:nvPr/>
        </p:nvGrpSpPr>
        <p:grpSpPr bwMode="auto">
          <a:xfrm>
            <a:off x="838200" y="4724400"/>
            <a:ext cx="5372100" cy="1562100"/>
            <a:chOff x="528" y="2976"/>
            <a:chExt cx="3384" cy="984"/>
          </a:xfrm>
        </p:grpSpPr>
        <p:grpSp>
          <p:nvGrpSpPr>
            <p:cNvPr id="25619" name="Group 30"/>
            <p:cNvGrpSpPr>
              <a:grpSpLocks/>
            </p:cNvGrpSpPr>
            <p:nvPr/>
          </p:nvGrpSpPr>
          <p:grpSpPr bwMode="auto">
            <a:xfrm>
              <a:off x="528" y="2976"/>
              <a:ext cx="2448" cy="816"/>
              <a:chOff x="2352" y="1776"/>
              <a:chExt cx="2160" cy="816"/>
            </a:xfrm>
          </p:grpSpPr>
          <p:sp>
            <p:nvSpPr>
              <p:cNvPr id="25621" name="Rectangle 29"/>
              <p:cNvSpPr>
                <a:spLocks noChangeArrowheads="1"/>
              </p:cNvSpPr>
              <p:nvPr/>
            </p:nvSpPr>
            <p:spPr bwMode="auto">
              <a:xfrm>
                <a:off x="2352" y="1776"/>
                <a:ext cx="2160" cy="816"/>
              </a:xfrm>
              <a:prstGeom prst="rect">
                <a:avLst/>
              </a:prstGeom>
              <a:solidFill>
                <a:srgbClr val="000099"/>
              </a:solidFill>
              <a:ln w="9525">
                <a:solidFill>
                  <a:schemeClr val="tx1"/>
                </a:solidFill>
                <a:miter lim="800000"/>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grpSp>
            <p:nvGrpSpPr>
              <p:cNvPr id="25622" name="Group 28"/>
              <p:cNvGrpSpPr>
                <a:grpSpLocks/>
              </p:cNvGrpSpPr>
              <p:nvPr/>
            </p:nvGrpSpPr>
            <p:grpSpPr bwMode="auto">
              <a:xfrm>
                <a:off x="2352" y="1872"/>
                <a:ext cx="2157" cy="575"/>
                <a:chOff x="2246" y="2112"/>
                <a:chExt cx="2157" cy="575"/>
              </a:xfrm>
            </p:grpSpPr>
            <p:sp>
              <p:nvSpPr>
                <p:cNvPr id="25623" name="Text Box 26"/>
                <p:cNvSpPr txBox="1">
                  <a:spLocks noChangeArrowheads="1"/>
                </p:cNvSpPr>
                <p:nvPr/>
              </p:nvSpPr>
              <p:spPr bwMode="auto">
                <a:xfrm>
                  <a:off x="2246" y="2221"/>
                  <a:ext cx="954" cy="288"/>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定域子体系</a:t>
                  </a:r>
                </a:p>
              </p:txBody>
            </p:sp>
            <p:graphicFrame>
              <p:nvGraphicFramePr>
                <p:cNvPr id="25602" name="Object 27"/>
                <p:cNvGraphicFramePr>
                  <a:graphicFrameLocks noChangeAspect="1"/>
                </p:cNvGraphicFramePr>
                <p:nvPr/>
              </p:nvGraphicFramePr>
              <p:xfrm>
                <a:off x="3360" y="2112"/>
                <a:ext cx="1043" cy="575"/>
              </p:xfrm>
              <a:graphic>
                <a:graphicData uri="http://schemas.openxmlformats.org/presentationml/2006/ole">
                  <p:oleObj spid="_x0000_s25602" r:id="rId8" imgW="825500" imgH="457200" progId="Equation.DSMT4">
                    <p:embed/>
                  </p:oleObj>
                </a:graphicData>
              </a:graphic>
            </p:graphicFrame>
          </p:grpSp>
        </p:grpSp>
        <p:sp>
          <p:nvSpPr>
            <p:cNvPr id="25620" name="Oval 32"/>
            <p:cNvSpPr>
              <a:spLocks noChangeArrowheads="1"/>
            </p:cNvSpPr>
            <p:nvPr/>
          </p:nvSpPr>
          <p:spPr bwMode="auto">
            <a:xfrm>
              <a:off x="1656" y="3048"/>
              <a:ext cx="2256" cy="912"/>
            </a:xfrm>
            <a:prstGeom prst="ellipse">
              <a:avLst/>
            </a:prstGeom>
            <a:noFill/>
            <a:ln w="57150">
              <a:solidFill>
                <a:schemeClr val="tx2"/>
              </a:solidFill>
              <a:round/>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5059"/>
                                        </p:tgtEl>
                                        <p:attrNameLst>
                                          <p:attrName>style.visibility</p:attrName>
                                        </p:attrNameLst>
                                      </p:cBhvr>
                                      <p:to>
                                        <p:strVal val="visible"/>
                                      </p:to>
                                    </p:set>
                                    <p:animEffect transition="in" filter="box(in)">
                                      <p:cBhvr>
                                        <p:cTn id="7" dur="500"/>
                                        <p:tgtEl>
                                          <p:spTgt spid="4505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ox(i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ox(in)">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5070"/>
                                        </p:tgtEl>
                                        <p:attrNameLst>
                                          <p:attrName>style.visibility</p:attrName>
                                        </p:attrNameLst>
                                      </p:cBhvr>
                                      <p:to>
                                        <p:strVal val="visible"/>
                                      </p:to>
                                    </p:set>
                                    <p:animEffect transition="in" filter="box(in)">
                                      <p:cBhvr>
                                        <p:cTn id="27" dur="500"/>
                                        <p:tgtEl>
                                          <p:spTgt spid="45070"/>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ox(in)">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ox(in)">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45081"/>
                                        </p:tgtEl>
                                        <p:attrNameLst>
                                          <p:attrName>style.visibility</p:attrName>
                                        </p:attrNameLst>
                                      </p:cBhvr>
                                      <p:to>
                                        <p:strVal val="visible"/>
                                      </p:to>
                                    </p:set>
                                    <p:animEffect transition="in" filter="box(in)">
                                      <p:cBhvr>
                                        <p:cTn id="42" dur="500"/>
                                        <p:tgtEl>
                                          <p:spTgt spid="45081"/>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barn(outHorizontal)">
                                      <p:cBhvr>
                                        <p:cTn id="4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autoUpdateAnimBg="0"/>
      <p:bldP spid="45070" grpId="0" animBg="1"/>
      <p:bldP spid="45081" grpId="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3"/>
          <p:cNvSpPr>
            <a:spLocks noGrp="1"/>
          </p:cNvSpPr>
          <p:nvPr>
            <p:ph type="sldNum" sz="quarter" idx="12"/>
          </p:nvPr>
        </p:nvSpPr>
        <p:spPr>
          <a:noFill/>
        </p:spPr>
        <p:txBody>
          <a:bodyPr/>
          <a:lstStyle/>
          <a:p>
            <a:fld id="{599DECEC-0685-43CA-9F92-AC28DC5516F5}" type="slidenum">
              <a:rPr lang="en-US" altLang="zh-CN" smtClean="0"/>
              <a:pPr/>
              <a:t>40</a:t>
            </a:fld>
            <a:endParaRPr lang="en-US" altLang="zh-CN" smtClean="0"/>
          </a:p>
        </p:txBody>
      </p:sp>
      <p:sp>
        <p:nvSpPr>
          <p:cNvPr id="70659" name="Text Box 11"/>
          <p:cNvSpPr txBox="1">
            <a:spLocks noChangeArrowheads="1"/>
          </p:cNvSpPr>
          <p:nvPr/>
        </p:nvSpPr>
        <p:spPr bwMode="auto">
          <a:xfrm>
            <a:off x="2690813" y="2690813"/>
            <a:ext cx="4689475" cy="762000"/>
          </a:xfrm>
          <a:prstGeom prst="rect">
            <a:avLst/>
          </a:prstGeom>
          <a:noFill/>
          <a:ln w="9525">
            <a:noFill/>
            <a:miter lim="800000"/>
            <a:headEnd/>
            <a:tailEnd/>
          </a:ln>
        </p:spPr>
        <p:txBody>
          <a:bodyPr>
            <a:spAutoFit/>
          </a:bodyPr>
          <a:lstStyle/>
          <a:p>
            <a:r>
              <a:rPr lang="en-US" altLang="zh-CN" sz="4400" b="1" dirty="0">
                <a:solidFill>
                  <a:srgbClr val="D2DC08"/>
                </a:solidFill>
                <a:latin typeface="Times New Roman" pitchFamily="18" charset="0"/>
                <a:ea typeface="黑体" pitchFamily="49" charset="-122"/>
                <a:cs typeface="Times New Roman" pitchFamily="18" charset="0"/>
              </a:rPr>
              <a:t>§10.4  </a:t>
            </a:r>
            <a:r>
              <a:rPr lang="en-US" altLang="zh-CN" sz="4400" b="1" dirty="0" smtClean="0">
                <a:solidFill>
                  <a:srgbClr val="D2DC08"/>
                </a:solidFill>
                <a:latin typeface="Times New Roman" pitchFamily="18" charset="0"/>
                <a:ea typeface="黑体" pitchFamily="49" charset="-122"/>
                <a:cs typeface="Times New Roman" pitchFamily="18" charset="0"/>
              </a:rPr>
              <a:t>  </a:t>
            </a:r>
            <a:r>
              <a:rPr lang="zh-CN" altLang="en-US" sz="4400" b="1" dirty="0" smtClean="0">
                <a:solidFill>
                  <a:srgbClr val="D2DC08"/>
                </a:solidFill>
                <a:latin typeface="Times New Roman" pitchFamily="18" charset="0"/>
                <a:ea typeface="黑体" pitchFamily="49" charset="-122"/>
                <a:cs typeface="Times New Roman" pitchFamily="18" charset="0"/>
              </a:rPr>
              <a:t>经典统计  </a:t>
            </a:r>
            <a:endParaRPr lang="zh-CN" altLang="en-US" sz="4400" b="1" dirty="0">
              <a:solidFill>
                <a:srgbClr val="D2DC08"/>
              </a:solidFill>
              <a:latin typeface="Times New Roman" pitchFamily="18" charset="0"/>
              <a:ea typeface="黑体" pitchFamily="49" charset="-122"/>
              <a:cs typeface="Times New Roman" pitchFamily="18" charset="0"/>
            </a:endParaRPr>
          </a:p>
        </p:txBody>
      </p:sp>
    </p:spTree>
  </p:cSld>
  <p:clrMapOvr>
    <a:masterClrMapping/>
  </p:clrMapOvr>
  <p:transition spd="med">
    <p:blinds dir="vert"/>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灯片编号占位符 3"/>
          <p:cNvSpPr>
            <a:spLocks noGrp="1"/>
          </p:cNvSpPr>
          <p:nvPr>
            <p:ph type="sldNum" sz="quarter" idx="12"/>
          </p:nvPr>
        </p:nvSpPr>
        <p:spPr>
          <a:noFill/>
        </p:spPr>
        <p:txBody>
          <a:bodyPr/>
          <a:lstStyle/>
          <a:p>
            <a:fld id="{3016682B-96D1-4175-B070-EE67E8C414FB}" type="slidenum">
              <a:rPr lang="en-US" altLang="zh-CN" smtClean="0"/>
              <a:pPr/>
              <a:t>41</a:t>
            </a:fld>
            <a:endParaRPr lang="en-US" altLang="zh-CN" dirty="0" smtClean="0"/>
          </a:p>
        </p:txBody>
      </p:sp>
      <p:sp>
        <p:nvSpPr>
          <p:cNvPr id="26628" name="Text Box 11"/>
          <p:cNvSpPr txBox="1">
            <a:spLocks noChangeArrowheads="1"/>
          </p:cNvSpPr>
          <p:nvPr/>
        </p:nvSpPr>
        <p:spPr bwMode="auto">
          <a:xfrm>
            <a:off x="7451725" y="0"/>
            <a:ext cx="1692275"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50188" name="Rectangle 12"/>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统计力学的基本假设</a:t>
            </a:r>
          </a:p>
        </p:txBody>
      </p:sp>
      <p:sp>
        <p:nvSpPr>
          <p:cNvPr id="50189" name="Text Box 13"/>
          <p:cNvSpPr txBox="1">
            <a:spLocks noChangeArrowheads="1"/>
          </p:cNvSpPr>
          <p:nvPr/>
        </p:nvSpPr>
        <p:spPr bwMode="auto">
          <a:xfrm>
            <a:off x="838200" y="1163638"/>
            <a:ext cx="8228013" cy="1200150"/>
          </a:xfrm>
          <a:prstGeom prst="rect">
            <a:avLst/>
          </a:prstGeom>
          <a:noFill/>
          <a:ln w="9525">
            <a:noFill/>
            <a:miter lim="800000"/>
            <a:headEnd/>
            <a:tailEnd/>
          </a:ln>
        </p:spPr>
        <p:txBody>
          <a:bodyPr wrap="none">
            <a:spAutoFit/>
          </a:bodyPr>
          <a:lstStyle/>
          <a:p>
            <a:r>
              <a:rPr lang="zh-CN" altLang="en-US" sz="2400" b="1" dirty="0">
                <a:solidFill>
                  <a:srgbClr val="D2DC08"/>
                </a:solidFill>
                <a:latin typeface="Times New Roman" pitchFamily="18" charset="0"/>
                <a:ea typeface="华文中宋" pitchFamily="2" charset="-122"/>
                <a:cs typeface="Times New Roman" pitchFamily="18" charset="0"/>
              </a:rPr>
              <a:t>统计力学的主要任务就是依据体系微观状态的微观量求统计</a:t>
            </a:r>
          </a:p>
          <a:p>
            <a:r>
              <a:rPr lang="zh-CN" altLang="en-US" sz="2400" b="1" dirty="0">
                <a:solidFill>
                  <a:srgbClr val="D2DC08"/>
                </a:solidFill>
                <a:latin typeface="Times New Roman" pitchFamily="18" charset="0"/>
                <a:ea typeface="华文中宋" pitchFamily="2" charset="-122"/>
                <a:cs typeface="Times New Roman" pitchFamily="18" charset="0"/>
              </a:rPr>
              <a:t>平均，用以阐明体系的宏观量及其规律性。究竟宏观量是哪</a:t>
            </a:r>
          </a:p>
          <a:p>
            <a:r>
              <a:rPr lang="zh-CN" altLang="en-US" sz="2400" b="1" dirty="0">
                <a:solidFill>
                  <a:srgbClr val="D2DC08"/>
                </a:solidFill>
                <a:latin typeface="Times New Roman" pitchFamily="18" charset="0"/>
                <a:ea typeface="华文中宋" pitchFamily="2" charset="-122"/>
                <a:cs typeface="Times New Roman" pitchFamily="18" charset="0"/>
              </a:rPr>
              <a:t>些微观状态对应的微观量的统计平均值呢？ </a:t>
            </a:r>
          </a:p>
        </p:txBody>
      </p:sp>
      <p:sp>
        <p:nvSpPr>
          <p:cNvPr id="50190" name="Text Box 14"/>
          <p:cNvSpPr txBox="1">
            <a:spLocks noChangeArrowheads="1"/>
          </p:cNvSpPr>
          <p:nvPr/>
        </p:nvSpPr>
        <p:spPr bwMode="auto">
          <a:xfrm>
            <a:off x="841375" y="2438400"/>
            <a:ext cx="8212505" cy="830997"/>
          </a:xfrm>
          <a:prstGeom prst="rect">
            <a:avLst/>
          </a:prstGeom>
          <a:solidFill>
            <a:schemeClr val="accent1"/>
          </a:solidFill>
          <a:ln w="9525">
            <a:noFill/>
            <a:miter lim="800000"/>
            <a:headEnd/>
            <a:tailEnd/>
          </a:ln>
        </p:spPr>
        <p:txBody>
          <a:bodyPr wrap="none">
            <a:spAutoFit/>
          </a:bodyPr>
          <a:lstStyle/>
          <a:p>
            <a:r>
              <a:rPr lang="zh-CN" altLang="en-US" sz="2400" b="1" dirty="0">
                <a:solidFill>
                  <a:srgbClr val="FF0000"/>
                </a:solidFill>
                <a:latin typeface="华文中宋" pitchFamily="2" charset="-122"/>
                <a:ea typeface="华文中宋" pitchFamily="2" charset="-122"/>
              </a:rPr>
              <a:t>统计平均等效性原理：</a:t>
            </a:r>
            <a:r>
              <a:rPr lang="zh-CN" altLang="en-US" sz="2400" b="1" dirty="0">
                <a:latin typeface="Times New Roman" pitchFamily="18" charset="0"/>
                <a:ea typeface="黑体" pitchFamily="2" charset="-122"/>
              </a:rPr>
              <a:t>任一宏观量都是一定宏观约束条件下</a:t>
            </a:r>
          </a:p>
          <a:p>
            <a:r>
              <a:rPr lang="zh-CN" altLang="en-US" sz="2400" b="1" dirty="0">
                <a:latin typeface="Times New Roman" pitchFamily="18" charset="0"/>
                <a:ea typeface="黑体" pitchFamily="2" charset="-122"/>
              </a:rPr>
              <a:t>体系所有可及状态所相应的微观量的统计平均值。</a:t>
            </a:r>
            <a:r>
              <a:rPr lang="zh-CN" altLang="en-US" sz="2400" dirty="0"/>
              <a:t> </a:t>
            </a:r>
          </a:p>
        </p:txBody>
      </p:sp>
      <p:grpSp>
        <p:nvGrpSpPr>
          <p:cNvPr id="2" name="Group 18"/>
          <p:cNvGrpSpPr>
            <a:grpSpLocks/>
          </p:cNvGrpSpPr>
          <p:nvPr/>
        </p:nvGrpSpPr>
        <p:grpSpPr bwMode="auto">
          <a:xfrm>
            <a:off x="838200" y="3352800"/>
            <a:ext cx="8228013" cy="1719263"/>
            <a:chOff x="528" y="2365"/>
            <a:chExt cx="5183" cy="1139"/>
          </a:xfrm>
        </p:grpSpPr>
        <p:sp>
          <p:nvSpPr>
            <p:cNvPr id="26635" name="Text Box 15"/>
            <p:cNvSpPr txBox="1">
              <a:spLocks noChangeArrowheads="1"/>
            </p:cNvSpPr>
            <p:nvPr/>
          </p:nvSpPr>
          <p:spPr bwMode="auto">
            <a:xfrm>
              <a:off x="528" y="2365"/>
              <a:ext cx="5183" cy="551"/>
            </a:xfrm>
            <a:prstGeom prst="rect">
              <a:avLst/>
            </a:prstGeom>
            <a:solidFill>
              <a:schemeClr val="accent1"/>
            </a:solidFill>
            <a:ln w="9525">
              <a:noFill/>
              <a:miter lim="800000"/>
              <a:headEnd/>
              <a:tailEnd/>
            </a:ln>
          </p:spPr>
          <p:txBody>
            <a:bodyPr wrap="none">
              <a:spAutoFit/>
            </a:bodyPr>
            <a:lstStyle/>
            <a:p>
              <a:r>
                <a:rPr lang="zh-CN" altLang="en-US" sz="2400" b="1" dirty="0">
                  <a:solidFill>
                    <a:srgbClr val="FF0000"/>
                  </a:solidFill>
                  <a:latin typeface="华文中宋" pitchFamily="2" charset="-122"/>
                  <a:ea typeface="华文中宋" pitchFamily="2" charset="-122"/>
                </a:rPr>
                <a:t>等几率假设：</a:t>
              </a:r>
              <a:r>
                <a:rPr lang="zh-CN" altLang="en-US" sz="2400" b="1" dirty="0">
                  <a:latin typeface="Times New Roman" pitchFamily="18" charset="0"/>
                  <a:ea typeface="黑体" pitchFamily="2" charset="-122"/>
                </a:rPr>
                <a:t>平衡态孤立体系任一可及微观状态出现的概率</a:t>
              </a:r>
            </a:p>
            <a:p>
              <a:r>
                <a:rPr lang="zh-CN" altLang="en-US" sz="2400" b="1" dirty="0">
                  <a:latin typeface="Times New Roman" pitchFamily="18" charset="0"/>
                  <a:ea typeface="黑体" pitchFamily="2" charset="-122"/>
                </a:rPr>
                <a:t>相等。</a:t>
              </a:r>
              <a:r>
                <a:rPr lang="zh-CN" altLang="en-US" sz="2400" dirty="0"/>
                <a:t> </a:t>
              </a:r>
            </a:p>
          </p:txBody>
        </p:sp>
        <p:graphicFrame>
          <p:nvGraphicFramePr>
            <p:cNvPr id="26626" name="Object 16"/>
            <p:cNvGraphicFramePr>
              <a:graphicFrameLocks noChangeAspect="1"/>
            </p:cNvGraphicFramePr>
            <p:nvPr/>
          </p:nvGraphicFramePr>
          <p:xfrm>
            <a:off x="1968" y="2976"/>
            <a:ext cx="1764" cy="528"/>
          </p:xfrm>
          <a:graphic>
            <a:graphicData uri="http://schemas.openxmlformats.org/presentationml/2006/ole">
              <p:oleObj spid="_x0000_s26626" r:id="rId3" imgW="1397000" imgH="419100" progId="Equation.DSMT4">
                <p:embed/>
              </p:oleObj>
            </a:graphicData>
          </a:graphic>
        </p:graphicFrame>
      </p:grpSp>
      <p:sp>
        <p:nvSpPr>
          <p:cNvPr id="50195" name="Text Box 19"/>
          <p:cNvSpPr txBox="1">
            <a:spLocks noChangeArrowheads="1"/>
          </p:cNvSpPr>
          <p:nvPr/>
        </p:nvSpPr>
        <p:spPr bwMode="auto">
          <a:xfrm>
            <a:off x="685800" y="5029200"/>
            <a:ext cx="8362950" cy="701675"/>
          </a:xfrm>
          <a:prstGeom prst="rect">
            <a:avLst/>
          </a:prstGeom>
          <a:noFill/>
          <a:ln w="9525">
            <a:noFill/>
            <a:miter lim="800000"/>
            <a:headEnd/>
            <a:tailEnd/>
          </a:ln>
        </p:spPr>
        <p:txBody>
          <a:bodyPr wrap="none">
            <a:spAutoFit/>
          </a:bodyPr>
          <a:lstStyle/>
          <a:p>
            <a:r>
              <a:rPr lang="zh-CN" altLang="en-US" sz="2000" b="1">
                <a:solidFill>
                  <a:schemeClr val="bg1"/>
                </a:solidFill>
                <a:latin typeface="Times New Roman" pitchFamily="18" charset="0"/>
                <a:ea typeface="华文中宋" pitchFamily="2" charset="-122"/>
                <a:cs typeface="Times New Roman" pitchFamily="18" charset="0"/>
              </a:rPr>
              <a:t>无法严格证明。一是基于直观的逻辑思维，任何一种量子态都是平等的；</a:t>
            </a:r>
          </a:p>
          <a:p>
            <a:r>
              <a:rPr lang="zh-CN" altLang="en-US" sz="2000" b="1">
                <a:solidFill>
                  <a:schemeClr val="bg1"/>
                </a:solidFill>
                <a:latin typeface="Times New Roman" pitchFamily="18" charset="0"/>
                <a:ea typeface="华文中宋" pitchFamily="2" charset="-122"/>
                <a:cs typeface="Times New Roman" pitchFamily="18" charset="0"/>
              </a:rPr>
              <a:t>二是由于从这个假设出发得到的推论与目前已知的实验事实相一致。 </a:t>
            </a:r>
          </a:p>
        </p:txBody>
      </p:sp>
      <p:sp>
        <p:nvSpPr>
          <p:cNvPr id="50196" name="Text Box 20"/>
          <p:cNvSpPr txBox="1">
            <a:spLocks noChangeArrowheads="1"/>
          </p:cNvSpPr>
          <p:nvPr/>
        </p:nvSpPr>
        <p:spPr bwMode="auto">
          <a:xfrm>
            <a:off x="685800" y="5867400"/>
            <a:ext cx="8310563" cy="701675"/>
          </a:xfrm>
          <a:prstGeom prst="rect">
            <a:avLst/>
          </a:prstGeom>
          <a:noFill/>
          <a:ln w="9525">
            <a:noFill/>
            <a:miter lim="800000"/>
            <a:headEnd/>
            <a:tailEnd/>
          </a:ln>
        </p:spPr>
        <p:txBody>
          <a:bodyPr wrap="none">
            <a:spAutoFit/>
          </a:bodyPr>
          <a:lstStyle/>
          <a:p>
            <a:r>
              <a:rPr lang="zh-CN" altLang="en-US" sz="2000" b="1">
                <a:solidFill>
                  <a:srgbClr val="D2DC08"/>
                </a:solidFill>
                <a:latin typeface="Times New Roman" pitchFamily="18" charset="0"/>
                <a:ea typeface="华文中宋" pitchFamily="2" charset="-122"/>
                <a:cs typeface="Times New Roman" pitchFamily="18" charset="0"/>
              </a:rPr>
              <a:t>某种分布对应的微观状态数为</a:t>
            </a:r>
            <a:r>
              <a:rPr lang="en-US" altLang="zh-CN" sz="2000" b="1">
                <a:solidFill>
                  <a:srgbClr val="D2DC08"/>
                </a:solidFill>
                <a:latin typeface="Times New Roman" pitchFamily="18" charset="0"/>
                <a:ea typeface="华文中宋" pitchFamily="2" charset="-122"/>
                <a:cs typeface="Times New Roman" pitchFamily="18" charset="0"/>
              </a:rPr>
              <a:t>Ω</a:t>
            </a:r>
            <a:r>
              <a:rPr lang="en-US" altLang="zh-CN" sz="2000" b="1" i="1" baseline="-30000">
                <a:solidFill>
                  <a:srgbClr val="D2DC08"/>
                </a:solidFill>
                <a:latin typeface="Times New Roman" pitchFamily="18" charset="0"/>
                <a:ea typeface="华文中宋" pitchFamily="2" charset="-122"/>
                <a:cs typeface="Times New Roman" pitchFamily="18" charset="0"/>
              </a:rPr>
              <a:t>i</a:t>
            </a:r>
            <a:r>
              <a:rPr lang="zh-CN" altLang="en-US" sz="2000" b="1">
                <a:solidFill>
                  <a:srgbClr val="D2DC08"/>
                </a:solidFill>
                <a:latin typeface="Times New Roman" pitchFamily="18" charset="0"/>
                <a:ea typeface="华文中宋" pitchFamily="2" charset="-122"/>
                <a:cs typeface="Times New Roman" pitchFamily="18" charset="0"/>
              </a:rPr>
              <a:t>，则其出现的几率为</a:t>
            </a:r>
            <a:r>
              <a:rPr lang="en-US" altLang="zh-CN" sz="2000" b="1">
                <a:solidFill>
                  <a:srgbClr val="D2DC08"/>
                </a:solidFill>
                <a:latin typeface="Times New Roman" pitchFamily="18" charset="0"/>
                <a:ea typeface="华文中宋" pitchFamily="2" charset="-122"/>
                <a:cs typeface="Times New Roman" pitchFamily="18" charset="0"/>
              </a:rPr>
              <a:t>Ω</a:t>
            </a:r>
            <a:r>
              <a:rPr lang="en-US" altLang="zh-CN" sz="2000" b="1" i="1" baseline="-30000">
                <a:solidFill>
                  <a:srgbClr val="D2DC08"/>
                </a:solidFill>
                <a:latin typeface="Times New Roman" pitchFamily="18" charset="0"/>
                <a:ea typeface="华文中宋" pitchFamily="2" charset="-122"/>
                <a:cs typeface="Times New Roman" pitchFamily="18" charset="0"/>
              </a:rPr>
              <a:t>i </a:t>
            </a:r>
            <a:r>
              <a:rPr lang="en-US" altLang="zh-CN" sz="2000" b="1">
                <a:solidFill>
                  <a:srgbClr val="D2DC08"/>
                </a:solidFill>
                <a:latin typeface="Times New Roman" pitchFamily="18" charset="0"/>
                <a:ea typeface="华文中宋" pitchFamily="2" charset="-122"/>
                <a:cs typeface="Times New Roman" pitchFamily="18" charset="0"/>
              </a:rPr>
              <a:t>/Ω</a:t>
            </a:r>
            <a:r>
              <a:rPr lang="zh-CN" altLang="en-US" sz="2000" b="1">
                <a:solidFill>
                  <a:srgbClr val="D2DC08"/>
                </a:solidFill>
                <a:latin typeface="Times New Roman" pitchFamily="18" charset="0"/>
                <a:ea typeface="华文中宋" pitchFamily="2" charset="-122"/>
                <a:cs typeface="Times New Roman" pitchFamily="18" charset="0"/>
              </a:rPr>
              <a:t>。出现几率最</a:t>
            </a:r>
          </a:p>
          <a:p>
            <a:r>
              <a:rPr lang="zh-CN" altLang="en-US" sz="2000" b="1">
                <a:solidFill>
                  <a:srgbClr val="D2DC08"/>
                </a:solidFill>
                <a:latin typeface="Times New Roman" pitchFamily="18" charset="0"/>
                <a:ea typeface="华文中宋" pitchFamily="2" charset="-122"/>
                <a:cs typeface="Times New Roman" pitchFamily="18" charset="0"/>
              </a:rPr>
              <a:t>大的宏观状态，即</a:t>
            </a:r>
            <a:r>
              <a:rPr lang="zh-CN" altLang="en-US" sz="2000" b="1" u="sng">
                <a:solidFill>
                  <a:srgbClr val="D2DC08"/>
                </a:solidFill>
                <a:latin typeface="Times New Roman" pitchFamily="18" charset="0"/>
                <a:ea typeface="华文中宋" pitchFamily="2" charset="-122"/>
                <a:cs typeface="Times New Roman" pitchFamily="18" charset="0"/>
              </a:rPr>
              <a:t>最可几状态</a:t>
            </a:r>
            <a:r>
              <a:rPr lang="zh-CN" altLang="en-US" sz="2000" b="1">
                <a:solidFill>
                  <a:srgbClr val="D2DC08"/>
                </a:solidFill>
                <a:latin typeface="Times New Roman" pitchFamily="18" charset="0"/>
                <a:ea typeface="华文中宋" pitchFamily="2" charset="-122"/>
                <a:cs typeface="Times New Roman" pitchFamily="18" charset="0"/>
              </a:rPr>
              <a:t>。 </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50188"/>
                                        </p:tgtEl>
                                        <p:attrNameLst>
                                          <p:attrName>style.visibility</p:attrName>
                                        </p:attrNameLst>
                                      </p:cBhvr>
                                      <p:to>
                                        <p:strVal val="visible"/>
                                      </p:to>
                                    </p:set>
                                    <p:animEffect transition="in" filter="barn(outHorizontal)">
                                      <p:cBhvr>
                                        <p:cTn id="7" dur="500"/>
                                        <p:tgtEl>
                                          <p:spTgt spid="5018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50189"/>
                                        </p:tgtEl>
                                        <p:attrNameLst>
                                          <p:attrName>style.visibility</p:attrName>
                                        </p:attrNameLst>
                                      </p:cBhvr>
                                      <p:to>
                                        <p:strVal val="visible"/>
                                      </p:to>
                                    </p:set>
                                    <p:animEffect transition="in" filter="barn(outHorizontal)">
                                      <p:cBhvr>
                                        <p:cTn id="12" dur="500"/>
                                        <p:tgtEl>
                                          <p:spTgt spid="5018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50190"/>
                                        </p:tgtEl>
                                        <p:attrNameLst>
                                          <p:attrName>style.visibility</p:attrName>
                                        </p:attrNameLst>
                                      </p:cBhvr>
                                      <p:to>
                                        <p:strVal val="visible"/>
                                      </p:to>
                                    </p:set>
                                    <p:animEffect transition="in" filter="barn(outHorizontal)">
                                      <p:cBhvr>
                                        <p:cTn id="17" dur="500"/>
                                        <p:tgtEl>
                                          <p:spTgt spid="5019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arn(out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50195"/>
                                        </p:tgtEl>
                                        <p:attrNameLst>
                                          <p:attrName>style.visibility</p:attrName>
                                        </p:attrNameLst>
                                      </p:cBhvr>
                                      <p:to>
                                        <p:strVal val="visible"/>
                                      </p:to>
                                    </p:set>
                                    <p:animEffect transition="in" filter="barn(outHorizontal)">
                                      <p:cBhvr>
                                        <p:cTn id="27" dur="500"/>
                                        <p:tgtEl>
                                          <p:spTgt spid="50195"/>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grpId="0" nodeType="clickEffect">
                                  <p:stCondLst>
                                    <p:cond delay="0"/>
                                  </p:stCondLst>
                                  <p:childTnLst>
                                    <p:set>
                                      <p:cBhvr>
                                        <p:cTn id="31" dur="1" fill="hold">
                                          <p:stCondLst>
                                            <p:cond delay="0"/>
                                          </p:stCondLst>
                                        </p:cTn>
                                        <p:tgtEl>
                                          <p:spTgt spid="50196"/>
                                        </p:tgtEl>
                                        <p:attrNameLst>
                                          <p:attrName>style.visibility</p:attrName>
                                        </p:attrNameLst>
                                      </p:cBhvr>
                                      <p:to>
                                        <p:strVal val="visible"/>
                                      </p:to>
                                    </p:set>
                                    <p:animEffect transition="in" filter="barn(outHorizontal)">
                                      <p:cBhvr>
                                        <p:cTn id="32" dur="500"/>
                                        <p:tgtEl>
                                          <p:spTgt spid="50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8" grpId="0" autoUpdateAnimBg="0"/>
      <p:bldP spid="50189" grpId="0" autoUpdateAnimBg="0"/>
      <p:bldP spid="50190" grpId="0" animBg="1" autoUpdateAnimBg="0"/>
      <p:bldP spid="50195" grpId="0" autoUpdateAnimBg="0"/>
      <p:bldP spid="50196"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灯片编号占位符 3"/>
          <p:cNvSpPr>
            <a:spLocks noGrp="1"/>
          </p:cNvSpPr>
          <p:nvPr>
            <p:ph type="sldNum" sz="quarter" idx="12"/>
          </p:nvPr>
        </p:nvSpPr>
        <p:spPr>
          <a:noFill/>
        </p:spPr>
        <p:txBody>
          <a:bodyPr/>
          <a:lstStyle/>
          <a:p>
            <a:fld id="{342A8806-DD25-43E5-8A47-1CE8EEF6DBB6}" type="slidenum">
              <a:rPr lang="en-US" altLang="zh-CN" smtClean="0"/>
              <a:pPr/>
              <a:t>42</a:t>
            </a:fld>
            <a:endParaRPr lang="en-US" altLang="zh-CN" smtClean="0"/>
          </a:p>
        </p:txBody>
      </p:sp>
      <p:sp>
        <p:nvSpPr>
          <p:cNvPr id="27652" name="Text Box 2"/>
          <p:cNvSpPr txBox="1">
            <a:spLocks noChangeArrowheads="1"/>
          </p:cNvSpPr>
          <p:nvPr/>
        </p:nvSpPr>
        <p:spPr bwMode="auto">
          <a:xfrm>
            <a:off x="7596188" y="0"/>
            <a:ext cx="154781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51203" name="Rectangle 3"/>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熵的统计意义 </a:t>
            </a:r>
          </a:p>
        </p:txBody>
      </p:sp>
      <p:sp>
        <p:nvSpPr>
          <p:cNvPr id="51204" name="Text Box 4"/>
          <p:cNvSpPr txBox="1">
            <a:spLocks noChangeArrowheads="1"/>
          </p:cNvSpPr>
          <p:nvPr/>
        </p:nvSpPr>
        <p:spPr bwMode="auto">
          <a:xfrm>
            <a:off x="762000" y="1239838"/>
            <a:ext cx="7879080" cy="1200329"/>
          </a:xfrm>
          <a:prstGeom prst="rect">
            <a:avLst/>
          </a:prstGeom>
          <a:noFill/>
          <a:ln w="9525">
            <a:noFill/>
            <a:miter lim="800000"/>
            <a:headEnd/>
            <a:tailEnd/>
          </a:ln>
        </p:spPr>
        <p:txBody>
          <a:bodyPr wrap="none">
            <a:spAutoFit/>
          </a:bodyPr>
          <a:lstStyle/>
          <a:p>
            <a:r>
              <a:rPr lang="zh-CN" altLang="en-US" sz="2400" b="1" dirty="0">
                <a:solidFill>
                  <a:srgbClr val="D2DC08"/>
                </a:solidFill>
                <a:latin typeface="华文中宋" pitchFamily="2" charset="-122"/>
                <a:ea typeface="华文中宋" pitchFamily="2" charset="-122"/>
              </a:rPr>
              <a:t>可以找到宏观与微观的能量函数之间的直接对应关系，如</a:t>
            </a:r>
          </a:p>
          <a:p>
            <a:r>
              <a:rPr lang="zh-CN" altLang="en-US" sz="2400" b="1" dirty="0">
                <a:solidFill>
                  <a:srgbClr val="D2DC08"/>
                </a:solidFill>
                <a:latin typeface="华文中宋" pitchFamily="2" charset="-122"/>
                <a:ea typeface="华文中宋" pitchFamily="2" charset="-122"/>
              </a:rPr>
              <a:t>独立子体系的总能就是各个微观粒子能量的加总，对相依</a:t>
            </a:r>
          </a:p>
          <a:p>
            <a:r>
              <a:rPr lang="zh-CN" altLang="en-US" sz="2400" b="1" dirty="0">
                <a:solidFill>
                  <a:srgbClr val="D2DC08"/>
                </a:solidFill>
                <a:latin typeface="华文中宋" pitchFamily="2" charset="-122"/>
                <a:ea typeface="华文中宋" pitchFamily="2" charset="-122"/>
              </a:rPr>
              <a:t>子体系还必须考虑势能。 </a:t>
            </a:r>
          </a:p>
        </p:txBody>
      </p:sp>
      <p:sp>
        <p:nvSpPr>
          <p:cNvPr id="51205" name="Text Box 5"/>
          <p:cNvSpPr txBox="1">
            <a:spLocks noChangeArrowheads="1"/>
          </p:cNvSpPr>
          <p:nvPr/>
        </p:nvSpPr>
        <p:spPr bwMode="auto">
          <a:xfrm>
            <a:off x="725488" y="2454275"/>
            <a:ext cx="8186857" cy="830997"/>
          </a:xfrm>
          <a:prstGeom prst="rect">
            <a:avLst/>
          </a:prstGeom>
          <a:noFill/>
          <a:ln w="9525">
            <a:noFill/>
            <a:miter lim="800000"/>
            <a:headEnd/>
            <a:tailEnd/>
          </a:ln>
        </p:spPr>
        <p:txBody>
          <a:bodyPr wrap="none">
            <a:spAutoFit/>
          </a:bodyPr>
          <a:lstStyle/>
          <a:p>
            <a:r>
              <a:rPr lang="zh-CN" altLang="en-US" sz="2400" b="1">
                <a:solidFill>
                  <a:srgbClr val="D2DC08"/>
                </a:solidFill>
                <a:latin typeface="华文中宋" pitchFamily="2" charset="-122"/>
                <a:ea typeface="华文中宋" pitchFamily="2" charset="-122"/>
              </a:rPr>
              <a:t>但是</a:t>
            </a:r>
            <a:r>
              <a:rPr lang="zh-CN" altLang="en-US" sz="2400" b="1" u="sng">
                <a:solidFill>
                  <a:schemeClr val="tx2"/>
                </a:solidFill>
                <a:latin typeface="华文中宋" pitchFamily="2" charset="-122"/>
                <a:ea typeface="华文中宋" pitchFamily="2" charset="-122"/>
              </a:rPr>
              <a:t>熵</a:t>
            </a:r>
            <a:r>
              <a:rPr lang="zh-CN" altLang="en-US" sz="2400" b="1">
                <a:solidFill>
                  <a:srgbClr val="D2DC08"/>
                </a:solidFill>
                <a:latin typeface="华文中宋" pitchFamily="2" charset="-122"/>
                <a:ea typeface="华文中宋" pitchFamily="2" charset="-122"/>
              </a:rPr>
              <a:t>则无法在力学中找到与之相对应的物理量。熵的概念</a:t>
            </a:r>
          </a:p>
          <a:p>
            <a:r>
              <a:rPr lang="zh-CN" altLang="en-US" sz="2400" b="1">
                <a:solidFill>
                  <a:srgbClr val="D2DC08"/>
                </a:solidFill>
                <a:latin typeface="华文中宋" pitchFamily="2" charset="-122"/>
                <a:ea typeface="华文中宋" pitchFamily="2" charset="-122"/>
              </a:rPr>
              <a:t>原本是在热力学中为了描述宏观过程的不可逆性引入的。 </a:t>
            </a:r>
          </a:p>
        </p:txBody>
      </p:sp>
      <p:grpSp>
        <p:nvGrpSpPr>
          <p:cNvPr id="2" name="Group 16"/>
          <p:cNvGrpSpPr>
            <a:grpSpLocks/>
          </p:cNvGrpSpPr>
          <p:nvPr/>
        </p:nvGrpSpPr>
        <p:grpSpPr bwMode="auto">
          <a:xfrm>
            <a:off x="2873375" y="5273675"/>
            <a:ext cx="6438900" cy="1500188"/>
            <a:chOff x="1810" y="3322"/>
            <a:chExt cx="4056" cy="945"/>
          </a:xfrm>
        </p:grpSpPr>
        <p:sp>
          <p:nvSpPr>
            <p:cNvPr id="27662" name="Text Box 7"/>
            <p:cNvSpPr txBox="1">
              <a:spLocks noChangeArrowheads="1"/>
            </p:cNvSpPr>
            <p:nvPr/>
          </p:nvSpPr>
          <p:spPr bwMode="auto">
            <a:xfrm>
              <a:off x="1810" y="3322"/>
              <a:ext cx="4056" cy="523"/>
            </a:xfrm>
            <a:prstGeom prst="rect">
              <a:avLst/>
            </a:prstGeom>
            <a:noFill/>
            <a:ln w="9525">
              <a:noFill/>
              <a:miter lim="800000"/>
              <a:headEnd/>
              <a:tailEnd/>
            </a:ln>
          </p:spPr>
          <p:txBody>
            <a:bodyPr wrap="none">
              <a:spAutoFit/>
            </a:bodyPr>
            <a:lstStyle/>
            <a:p>
              <a:r>
                <a:rPr lang="zh-CN" altLang="en-US" sz="2400" b="1">
                  <a:solidFill>
                    <a:srgbClr val="D2DC08"/>
                  </a:solidFill>
                  <a:latin typeface="华文中宋" pitchFamily="2" charset="-122"/>
                  <a:ea typeface="华文中宋" pitchFamily="2" charset="-122"/>
                </a:rPr>
                <a:t>不可逆性伴随着熵的增加，也伴随着热力学几</a:t>
              </a:r>
            </a:p>
            <a:p>
              <a:r>
                <a:rPr lang="zh-CN" altLang="en-US" sz="2400" b="1">
                  <a:solidFill>
                    <a:srgbClr val="D2DC08"/>
                  </a:solidFill>
                  <a:latin typeface="华文中宋" pitchFamily="2" charset="-122"/>
                  <a:ea typeface="华文中宋" pitchFamily="2" charset="-122"/>
                </a:rPr>
                <a:t>率的增加，二者之间存在着某种联系。因此有 </a:t>
              </a:r>
            </a:p>
          </p:txBody>
        </p:sp>
        <p:graphicFrame>
          <p:nvGraphicFramePr>
            <p:cNvPr id="27650" name="Object 8"/>
            <p:cNvGraphicFramePr>
              <a:graphicFrameLocks noChangeAspect="1"/>
            </p:cNvGraphicFramePr>
            <p:nvPr/>
          </p:nvGraphicFramePr>
          <p:xfrm>
            <a:off x="3148" y="3888"/>
            <a:ext cx="1172" cy="379"/>
          </p:xfrm>
          <a:graphic>
            <a:graphicData uri="http://schemas.openxmlformats.org/presentationml/2006/ole">
              <p:oleObj spid="_x0000_s27650" r:id="rId3" imgW="622030" imgH="203112" progId="Equation.DSMT4">
                <p:embed/>
              </p:oleObj>
            </a:graphicData>
          </a:graphic>
        </p:graphicFrame>
      </p:grpSp>
      <p:grpSp>
        <p:nvGrpSpPr>
          <p:cNvPr id="3" name="Group 15"/>
          <p:cNvGrpSpPr>
            <a:grpSpLocks/>
          </p:cNvGrpSpPr>
          <p:nvPr/>
        </p:nvGrpSpPr>
        <p:grpSpPr bwMode="auto">
          <a:xfrm>
            <a:off x="762000" y="3048000"/>
            <a:ext cx="8382000" cy="3011488"/>
            <a:chOff x="480" y="1920"/>
            <a:chExt cx="5280" cy="1897"/>
          </a:xfrm>
        </p:grpSpPr>
        <p:pic>
          <p:nvPicPr>
            <p:cNvPr id="27658" name="Picture 10" descr="PE01753_"/>
            <p:cNvPicPr>
              <a:picLocks noChangeAspect="1" noChangeArrowheads="1"/>
            </p:cNvPicPr>
            <p:nvPr/>
          </p:nvPicPr>
          <p:blipFill>
            <a:blip r:embed="rId4"/>
            <a:srcRect/>
            <a:stretch>
              <a:fillRect/>
            </a:stretch>
          </p:blipFill>
          <p:spPr bwMode="auto">
            <a:xfrm>
              <a:off x="480" y="2160"/>
              <a:ext cx="1276" cy="1657"/>
            </a:xfrm>
            <a:prstGeom prst="rect">
              <a:avLst/>
            </a:prstGeom>
            <a:noFill/>
            <a:ln w="9525">
              <a:noFill/>
              <a:miter lim="800000"/>
              <a:headEnd/>
              <a:tailEnd/>
            </a:ln>
          </p:spPr>
        </p:pic>
        <p:sp>
          <p:nvSpPr>
            <p:cNvPr id="27659" name="Text Box 11"/>
            <p:cNvSpPr txBox="1">
              <a:spLocks noChangeArrowheads="1"/>
            </p:cNvSpPr>
            <p:nvPr/>
          </p:nvSpPr>
          <p:spPr bwMode="auto">
            <a:xfrm>
              <a:off x="780" y="3527"/>
              <a:ext cx="852" cy="231"/>
            </a:xfrm>
            <a:prstGeom prst="rect">
              <a:avLst/>
            </a:prstGeom>
            <a:solidFill>
              <a:schemeClr val="accent1"/>
            </a:solidFill>
            <a:ln w="9525">
              <a:noFill/>
              <a:miter lim="800000"/>
              <a:headEnd/>
              <a:tailEnd/>
            </a:ln>
          </p:spPr>
          <p:txBody>
            <a:bodyPr wrap="none">
              <a:spAutoFit/>
            </a:bodyPr>
            <a:lstStyle/>
            <a:p>
              <a:r>
                <a:rPr lang="en-US" altLang="zh-CN" b="1">
                  <a:solidFill>
                    <a:schemeClr val="tx2"/>
                  </a:solidFill>
                </a:rPr>
                <a:t>Boltzmann</a:t>
              </a:r>
            </a:p>
          </p:txBody>
        </p:sp>
        <p:sp>
          <p:nvSpPr>
            <p:cNvPr id="27660" name="AutoShape 13"/>
            <p:cNvSpPr>
              <a:spLocks noChangeArrowheads="1"/>
            </p:cNvSpPr>
            <p:nvPr/>
          </p:nvSpPr>
          <p:spPr bwMode="auto">
            <a:xfrm>
              <a:off x="1680" y="1920"/>
              <a:ext cx="4080" cy="1152"/>
            </a:xfrm>
            <a:prstGeom prst="wedgeRoundRectCallout">
              <a:avLst>
                <a:gd name="adj1" fmla="val -56495"/>
                <a:gd name="adj2" fmla="val 44620"/>
                <a:gd name="adj3" fmla="val 16667"/>
              </a:avLst>
            </a:prstGeom>
            <a:solidFill>
              <a:schemeClr val="accent1"/>
            </a:solidFill>
            <a:ln w="9525">
              <a:solidFill>
                <a:schemeClr val="tx1"/>
              </a:solidFill>
              <a:miter lim="800000"/>
              <a:headEnd/>
              <a:tailEnd/>
            </a:ln>
          </p:spPr>
          <p:txBody>
            <a:bodyPr/>
            <a:lstStyle/>
            <a:p>
              <a:pPr algn="ctr"/>
              <a:endParaRPr lang="zh-CN" altLang="zh-CN"/>
            </a:p>
          </p:txBody>
        </p:sp>
        <p:sp>
          <p:nvSpPr>
            <p:cNvPr id="27661" name="Text Box 14"/>
            <p:cNvSpPr txBox="1">
              <a:spLocks noChangeArrowheads="1"/>
            </p:cNvSpPr>
            <p:nvPr/>
          </p:nvSpPr>
          <p:spPr bwMode="auto">
            <a:xfrm>
              <a:off x="1755" y="1935"/>
              <a:ext cx="3979" cy="1144"/>
            </a:xfrm>
            <a:prstGeom prst="rect">
              <a:avLst/>
            </a:prstGeom>
            <a:noFill/>
            <a:ln w="9525">
              <a:noFill/>
              <a:miter lim="800000"/>
              <a:headEnd/>
              <a:tailEnd/>
            </a:ln>
          </p:spPr>
          <p:txBody>
            <a:bodyPr wrap="none">
              <a:spAutoFit/>
            </a:bodyPr>
            <a:lstStyle/>
            <a:p>
              <a:r>
                <a:rPr lang="zh-CN" altLang="en-US" sz="2800" b="1" dirty="0">
                  <a:solidFill>
                    <a:schemeClr val="tx2"/>
                  </a:solidFill>
                  <a:latin typeface="华文中宋" pitchFamily="2" charset="-122"/>
                  <a:ea typeface="华文中宋" pitchFamily="2" charset="-122"/>
                </a:rPr>
                <a:t>所谓宏观系统的不可逆性只不过</a:t>
              </a:r>
              <a:r>
                <a:rPr lang="zh-CN" altLang="en-US" sz="2800" b="1" dirty="0" smtClean="0">
                  <a:solidFill>
                    <a:schemeClr val="tx2"/>
                  </a:solidFill>
                  <a:latin typeface="华文中宋" pitchFamily="2" charset="-122"/>
                  <a:ea typeface="华文中宋" pitchFamily="2" charset="-122"/>
                </a:rPr>
                <a:t>是其如</a:t>
              </a:r>
              <a:endParaRPr lang="zh-CN" altLang="en-US" sz="2800" b="1" dirty="0">
                <a:solidFill>
                  <a:schemeClr val="tx2"/>
                </a:solidFill>
                <a:latin typeface="华文中宋" pitchFamily="2" charset="-122"/>
                <a:ea typeface="华文中宋" pitchFamily="2" charset="-122"/>
              </a:endParaRPr>
            </a:p>
            <a:p>
              <a:r>
                <a:rPr lang="zh-CN" altLang="en-US" sz="2800" b="1" dirty="0">
                  <a:solidFill>
                    <a:schemeClr val="tx2"/>
                  </a:solidFill>
                  <a:latin typeface="华文中宋" pitchFamily="2" charset="-122"/>
                  <a:ea typeface="华文中宋" pitchFamily="2" charset="-122"/>
                </a:rPr>
                <a:t>下特性的一种体现：</a:t>
              </a:r>
              <a:r>
                <a:rPr lang="zh-CN" altLang="en-US" sz="2800" b="1" u="sng" dirty="0">
                  <a:solidFill>
                    <a:srgbClr val="000099"/>
                  </a:solidFill>
                  <a:latin typeface="Times New Roman" pitchFamily="18" charset="0"/>
                  <a:ea typeface="黑体" pitchFamily="2" charset="-122"/>
                </a:rPr>
                <a:t>系统总是向着</a:t>
              </a:r>
              <a:r>
                <a:rPr lang="zh-CN" altLang="en-US" sz="2800" b="1" u="sng" dirty="0" smtClean="0">
                  <a:solidFill>
                    <a:srgbClr val="000099"/>
                  </a:solidFill>
                  <a:latin typeface="Times New Roman" pitchFamily="18" charset="0"/>
                  <a:ea typeface="黑体" pitchFamily="2" charset="-122"/>
                </a:rPr>
                <a:t>出现</a:t>
              </a:r>
              <a:endParaRPr lang="en-US" altLang="zh-CN" sz="2800" b="1" u="sng" dirty="0" smtClean="0">
                <a:solidFill>
                  <a:srgbClr val="000099"/>
                </a:solidFill>
                <a:latin typeface="Times New Roman" pitchFamily="18" charset="0"/>
                <a:ea typeface="黑体" pitchFamily="2" charset="-122"/>
              </a:endParaRPr>
            </a:p>
            <a:p>
              <a:r>
                <a:rPr lang="zh-CN" altLang="en-US" sz="2800" b="1" u="sng" dirty="0" smtClean="0">
                  <a:solidFill>
                    <a:srgbClr val="000099"/>
                  </a:solidFill>
                  <a:latin typeface="Times New Roman" pitchFamily="18" charset="0"/>
                  <a:ea typeface="黑体" pitchFamily="2" charset="-122"/>
                </a:rPr>
                <a:t>几率增大</a:t>
              </a:r>
              <a:r>
                <a:rPr lang="zh-CN" altLang="en-US" sz="2800" b="1" u="sng" dirty="0">
                  <a:solidFill>
                    <a:srgbClr val="000099"/>
                  </a:solidFill>
                  <a:latin typeface="Times New Roman" pitchFamily="18" charset="0"/>
                  <a:ea typeface="黑体" pitchFamily="2" charset="-122"/>
                </a:rPr>
                <a:t>的方向发展，平衡态相当于</a:t>
              </a:r>
              <a:r>
                <a:rPr lang="zh-CN" altLang="en-US" sz="2800" b="1" u="sng" dirty="0" smtClean="0">
                  <a:solidFill>
                    <a:srgbClr val="000099"/>
                  </a:solidFill>
                  <a:latin typeface="Times New Roman" pitchFamily="18" charset="0"/>
                  <a:ea typeface="黑体" pitchFamily="2" charset="-122"/>
                </a:rPr>
                <a:t>出</a:t>
              </a:r>
              <a:endParaRPr lang="en-US" altLang="zh-CN" sz="2800" b="1" u="sng" dirty="0" smtClean="0">
                <a:solidFill>
                  <a:srgbClr val="000099"/>
                </a:solidFill>
                <a:latin typeface="Times New Roman" pitchFamily="18" charset="0"/>
                <a:ea typeface="黑体" pitchFamily="2" charset="-122"/>
              </a:endParaRPr>
            </a:p>
            <a:p>
              <a:r>
                <a:rPr lang="zh-CN" altLang="en-US" sz="2800" b="1" u="sng" dirty="0" smtClean="0">
                  <a:solidFill>
                    <a:srgbClr val="000099"/>
                  </a:solidFill>
                  <a:latin typeface="Times New Roman" pitchFamily="18" charset="0"/>
                  <a:ea typeface="黑体" pitchFamily="2" charset="-122"/>
                </a:rPr>
                <a:t>现</a:t>
              </a:r>
              <a:r>
                <a:rPr lang="zh-CN" altLang="en-US" sz="2800" b="1" u="sng" dirty="0">
                  <a:solidFill>
                    <a:srgbClr val="000099"/>
                  </a:solidFill>
                  <a:latin typeface="Times New Roman" pitchFamily="18" charset="0"/>
                  <a:ea typeface="黑体" pitchFamily="2" charset="-122"/>
                </a:rPr>
                <a:t>几率最大</a:t>
              </a:r>
              <a:r>
                <a:rPr lang="zh-CN" altLang="en-US" sz="2800" b="1" u="sng" dirty="0" smtClean="0">
                  <a:solidFill>
                    <a:srgbClr val="000099"/>
                  </a:solidFill>
                  <a:latin typeface="Times New Roman" pitchFamily="18" charset="0"/>
                  <a:ea typeface="黑体" pitchFamily="2" charset="-122"/>
                </a:rPr>
                <a:t>的状态</a:t>
              </a:r>
              <a:r>
                <a:rPr lang="zh-CN" altLang="en-US" sz="2800" b="1" dirty="0">
                  <a:solidFill>
                    <a:schemeClr val="tx2"/>
                  </a:solidFill>
                  <a:latin typeface="Times New Roman" pitchFamily="18" charset="0"/>
                  <a:ea typeface="仿宋_GB2312" pitchFamily="49" charset="-122"/>
                </a:rPr>
                <a:t>。</a:t>
              </a:r>
            </a:p>
          </p:txBody>
        </p:sp>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51203"/>
                                        </p:tgtEl>
                                        <p:attrNameLst>
                                          <p:attrName>style.visibility</p:attrName>
                                        </p:attrNameLst>
                                      </p:cBhvr>
                                      <p:to>
                                        <p:strVal val="visible"/>
                                      </p:to>
                                    </p:set>
                                    <p:animEffect transition="in" filter="barn(outVertical)">
                                      <p:cBhvr>
                                        <p:cTn id="7" dur="500"/>
                                        <p:tgtEl>
                                          <p:spTgt spid="5120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51204"/>
                                        </p:tgtEl>
                                        <p:attrNameLst>
                                          <p:attrName>style.visibility</p:attrName>
                                        </p:attrNameLst>
                                      </p:cBhvr>
                                      <p:to>
                                        <p:strVal val="visible"/>
                                      </p:to>
                                    </p:set>
                                    <p:animEffect transition="in" filter="barn(outVertical)">
                                      <p:cBhvr>
                                        <p:cTn id="12" dur="500"/>
                                        <p:tgtEl>
                                          <p:spTgt spid="5120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51205"/>
                                        </p:tgtEl>
                                        <p:attrNameLst>
                                          <p:attrName>style.visibility</p:attrName>
                                        </p:attrNameLst>
                                      </p:cBhvr>
                                      <p:to>
                                        <p:strVal val="visible"/>
                                      </p:to>
                                    </p:set>
                                    <p:animEffect transition="in" filter="barn(outVertical)">
                                      <p:cBhvr>
                                        <p:cTn id="17" dur="500"/>
                                        <p:tgtEl>
                                          <p:spTgt spid="51205"/>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strips(upRigh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strips(upRight)">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autoUpdateAnimBg="0"/>
      <p:bldP spid="51204" grpId="0" autoUpdateAnimBg="0"/>
      <p:bldP spid="51205"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84" name="灯片编号占位符 3"/>
          <p:cNvSpPr>
            <a:spLocks noGrp="1"/>
          </p:cNvSpPr>
          <p:nvPr>
            <p:ph type="sldNum" sz="quarter" idx="12"/>
          </p:nvPr>
        </p:nvSpPr>
        <p:spPr>
          <a:noFill/>
        </p:spPr>
        <p:txBody>
          <a:bodyPr/>
          <a:lstStyle/>
          <a:p>
            <a:fld id="{8C235B82-7FC5-4EC7-AF76-3BF10C877E3E}" type="slidenum">
              <a:rPr lang="en-US" altLang="zh-CN" smtClean="0"/>
              <a:pPr/>
              <a:t>43</a:t>
            </a:fld>
            <a:endParaRPr lang="en-US" altLang="zh-CN" smtClean="0"/>
          </a:p>
        </p:txBody>
      </p:sp>
      <p:sp>
        <p:nvSpPr>
          <p:cNvPr id="28685" name="Text Box 2"/>
          <p:cNvSpPr txBox="1">
            <a:spLocks noChangeArrowheads="1"/>
          </p:cNvSpPr>
          <p:nvPr/>
        </p:nvSpPr>
        <p:spPr bwMode="auto">
          <a:xfrm>
            <a:off x="7524750" y="0"/>
            <a:ext cx="1619250"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52227" name="Rectangle 3"/>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熵的统计意义 </a:t>
            </a:r>
          </a:p>
        </p:txBody>
      </p:sp>
      <p:graphicFrame>
        <p:nvGraphicFramePr>
          <p:cNvPr id="52228" name="Object 4"/>
          <p:cNvGraphicFramePr>
            <a:graphicFrameLocks noChangeAspect="1"/>
          </p:cNvGraphicFramePr>
          <p:nvPr/>
        </p:nvGraphicFramePr>
        <p:xfrm>
          <a:off x="1143000" y="1447800"/>
          <a:ext cx="3733800" cy="3233738"/>
        </p:xfrm>
        <a:graphic>
          <a:graphicData uri="http://schemas.openxmlformats.org/presentationml/2006/ole">
            <p:oleObj spid="_x0000_s28674" r:id="rId3" imgW="2772156" imgH="2400300" progId="Word.Picture.8">
              <p:embed/>
            </p:oleObj>
          </a:graphicData>
        </a:graphic>
      </p:graphicFrame>
      <p:grpSp>
        <p:nvGrpSpPr>
          <p:cNvPr id="2" name="Group 28"/>
          <p:cNvGrpSpPr>
            <a:grpSpLocks/>
          </p:cNvGrpSpPr>
          <p:nvPr/>
        </p:nvGrpSpPr>
        <p:grpSpPr bwMode="auto">
          <a:xfrm>
            <a:off x="6019800" y="1666875"/>
            <a:ext cx="1701800" cy="1152525"/>
            <a:chOff x="3792" y="1050"/>
            <a:chExt cx="1072" cy="726"/>
          </a:xfrm>
        </p:grpSpPr>
        <p:graphicFrame>
          <p:nvGraphicFramePr>
            <p:cNvPr id="28682" name="Object 6"/>
            <p:cNvGraphicFramePr>
              <a:graphicFrameLocks noChangeAspect="1"/>
            </p:cNvGraphicFramePr>
            <p:nvPr/>
          </p:nvGraphicFramePr>
          <p:xfrm>
            <a:off x="3792" y="1050"/>
            <a:ext cx="1072" cy="342"/>
          </p:xfrm>
          <a:graphic>
            <a:graphicData uri="http://schemas.openxmlformats.org/presentationml/2006/ole">
              <p:oleObj spid="_x0000_s28682" r:id="rId4" imgW="685502" imgH="215806" progId="Equation.DSMT4">
                <p:embed/>
              </p:oleObj>
            </a:graphicData>
          </a:graphic>
        </p:graphicFrame>
        <p:graphicFrame>
          <p:nvGraphicFramePr>
            <p:cNvPr id="28683" name="Object 8"/>
            <p:cNvGraphicFramePr>
              <a:graphicFrameLocks noChangeAspect="1"/>
            </p:cNvGraphicFramePr>
            <p:nvPr/>
          </p:nvGraphicFramePr>
          <p:xfrm>
            <a:off x="3792" y="1435"/>
            <a:ext cx="993" cy="341"/>
          </p:xfrm>
          <a:graphic>
            <a:graphicData uri="http://schemas.openxmlformats.org/presentationml/2006/ole">
              <p:oleObj spid="_x0000_s28683" r:id="rId5" imgW="634449" imgH="215713" progId="Equation.DSMT4">
                <p:embed/>
              </p:oleObj>
            </a:graphicData>
          </a:graphic>
        </p:graphicFrame>
      </p:grpSp>
      <p:grpSp>
        <p:nvGrpSpPr>
          <p:cNvPr id="3" name="Group 29"/>
          <p:cNvGrpSpPr>
            <a:grpSpLocks/>
          </p:cNvGrpSpPr>
          <p:nvPr/>
        </p:nvGrpSpPr>
        <p:grpSpPr bwMode="auto">
          <a:xfrm>
            <a:off x="6019800" y="2819400"/>
            <a:ext cx="1835150" cy="1676400"/>
            <a:chOff x="3792" y="1776"/>
            <a:chExt cx="1156" cy="1056"/>
          </a:xfrm>
        </p:grpSpPr>
        <p:graphicFrame>
          <p:nvGraphicFramePr>
            <p:cNvPr id="28679" name="Object 10"/>
            <p:cNvGraphicFramePr>
              <a:graphicFrameLocks noChangeAspect="1"/>
            </p:cNvGraphicFramePr>
            <p:nvPr/>
          </p:nvGraphicFramePr>
          <p:xfrm>
            <a:off x="3792" y="2105"/>
            <a:ext cx="1118" cy="343"/>
          </p:xfrm>
          <a:graphic>
            <a:graphicData uri="http://schemas.openxmlformats.org/presentationml/2006/ole">
              <p:oleObj spid="_x0000_s28679" r:id="rId6" imgW="710891" imgH="215806" progId="Equation.DSMT4">
                <p:embed/>
              </p:oleObj>
            </a:graphicData>
          </a:graphic>
        </p:graphicFrame>
        <p:graphicFrame>
          <p:nvGraphicFramePr>
            <p:cNvPr id="28680" name="Object 12"/>
            <p:cNvGraphicFramePr>
              <a:graphicFrameLocks noChangeAspect="1"/>
            </p:cNvGraphicFramePr>
            <p:nvPr/>
          </p:nvGraphicFramePr>
          <p:xfrm>
            <a:off x="3792" y="2487"/>
            <a:ext cx="1156" cy="345"/>
          </p:xfrm>
          <a:graphic>
            <a:graphicData uri="http://schemas.openxmlformats.org/presentationml/2006/ole">
              <p:oleObj spid="_x0000_s28680" r:id="rId7" imgW="736280" imgH="215806" progId="Equation.DSMT4">
                <p:embed/>
              </p:oleObj>
            </a:graphicData>
          </a:graphic>
        </p:graphicFrame>
        <p:graphicFrame>
          <p:nvGraphicFramePr>
            <p:cNvPr id="28681" name="Object 14"/>
            <p:cNvGraphicFramePr>
              <a:graphicFrameLocks noChangeAspect="1"/>
            </p:cNvGraphicFramePr>
            <p:nvPr/>
          </p:nvGraphicFramePr>
          <p:xfrm>
            <a:off x="3792" y="1776"/>
            <a:ext cx="975" cy="315"/>
          </p:xfrm>
          <a:graphic>
            <a:graphicData uri="http://schemas.openxmlformats.org/presentationml/2006/ole">
              <p:oleObj spid="_x0000_s28681" r:id="rId8" imgW="622030" imgH="203112" progId="Equation.DSMT4">
                <p:embed/>
              </p:oleObj>
            </a:graphicData>
          </a:graphic>
        </p:graphicFrame>
      </p:grpSp>
      <p:graphicFrame>
        <p:nvGraphicFramePr>
          <p:cNvPr id="52240" name="Object 16"/>
          <p:cNvGraphicFramePr>
            <a:graphicFrameLocks noChangeAspect="1"/>
          </p:cNvGraphicFramePr>
          <p:nvPr/>
        </p:nvGraphicFramePr>
        <p:xfrm>
          <a:off x="2057400" y="4600575"/>
          <a:ext cx="3732213" cy="1190625"/>
        </p:xfrm>
        <a:graphic>
          <a:graphicData uri="http://schemas.openxmlformats.org/presentationml/2006/ole">
            <p:oleObj spid="_x0000_s28675" r:id="rId9" imgW="685502" imgH="215806" progId="Equation.DSMT4">
              <p:embed/>
            </p:oleObj>
          </a:graphicData>
        </a:graphic>
      </p:graphicFrame>
      <p:grpSp>
        <p:nvGrpSpPr>
          <p:cNvPr id="4" name="Group 31"/>
          <p:cNvGrpSpPr>
            <a:grpSpLocks/>
          </p:cNvGrpSpPr>
          <p:nvPr/>
        </p:nvGrpSpPr>
        <p:grpSpPr bwMode="auto">
          <a:xfrm>
            <a:off x="3352800" y="5638800"/>
            <a:ext cx="849313" cy="1042988"/>
            <a:chOff x="2112" y="3552"/>
            <a:chExt cx="535" cy="657"/>
          </a:xfrm>
        </p:grpSpPr>
        <p:sp>
          <p:nvSpPr>
            <p:cNvPr id="28697" name="Line 17"/>
            <p:cNvSpPr>
              <a:spLocks noChangeShapeType="1"/>
            </p:cNvSpPr>
            <p:nvPr/>
          </p:nvSpPr>
          <p:spPr bwMode="auto">
            <a:xfrm>
              <a:off x="2352" y="3552"/>
              <a:ext cx="0" cy="336"/>
            </a:xfrm>
            <a:prstGeom prst="line">
              <a:avLst/>
            </a:prstGeom>
            <a:noFill/>
            <a:ln w="38100">
              <a:solidFill>
                <a:schemeClr val="accent1"/>
              </a:solidFill>
              <a:round/>
              <a:headEnd/>
              <a:tailEnd type="triangle" w="med" len="med"/>
            </a:ln>
          </p:spPr>
          <p:txBody>
            <a:bodyPr wrap="none"/>
            <a:lstStyle/>
            <a:p>
              <a:endParaRPr lang="zh-CN" altLang="en-US"/>
            </a:p>
          </p:txBody>
        </p:sp>
        <p:graphicFrame>
          <p:nvGraphicFramePr>
            <p:cNvPr id="28678" name="Object 22"/>
            <p:cNvGraphicFramePr>
              <a:graphicFrameLocks noChangeAspect="1"/>
            </p:cNvGraphicFramePr>
            <p:nvPr/>
          </p:nvGraphicFramePr>
          <p:xfrm>
            <a:off x="2112" y="3936"/>
            <a:ext cx="535" cy="273"/>
          </p:xfrm>
          <a:graphic>
            <a:graphicData uri="http://schemas.openxmlformats.org/presentationml/2006/ole">
              <p:oleObj spid="_x0000_s28678" r:id="rId10" imgW="431613" imgH="215806" progId="Equation.DSMT4">
                <p:embed/>
              </p:oleObj>
            </a:graphicData>
          </a:graphic>
        </p:graphicFrame>
      </p:grpSp>
      <p:grpSp>
        <p:nvGrpSpPr>
          <p:cNvPr id="5" name="Group 30"/>
          <p:cNvGrpSpPr>
            <a:grpSpLocks/>
          </p:cNvGrpSpPr>
          <p:nvPr/>
        </p:nvGrpSpPr>
        <p:grpSpPr bwMode="auto">
          <a:xfrm>
            <a:off x="609600" y="5638800"/>
            <a:ext cx="2133600" cy="1066800"/>
            <a:chOff x="384" y="3552"/>
            <a:chExt cx="1344" cy="672"/>
          </a:xfrm>
        </p:grpSpPr>
        <p:graphicFrame>
          <p:nvGraphicFramePr>
            <p:cNvPr id="28677" name="Object 20"/>
            <p:cNvGraphicFramePr>
              <a:graphicFrameLocks noChangeAspect="1"/>
            </p:cNvGraphicFramePr>
            <p:nvPr/>
          </p:nvGraphicFramePr>
          <p:xfrm>
            <a:off x="384" y="3950"/>
            <a:ext cx="1344" cy="274"/>
          </p:xfrm>
          <a:graphic>
            <a:graphicData uri="http://schemas.openxmlformats.org/presentationml/2006/ole">
              <p:oleObj spid="_x0000_s28677" r:id="rId11" imgW="1079032" imgH="215806" progId="Equation.DSMT4">
                <p:embed/>
              </p:oleObj>
            </a:graphicData>
          </a:graphic>
        </p:graphicFrame>
        <p:sp>
          <p:nvSpPr>
            <p:cNvPr id="28696" name="Line 26"/>
            <p:cNvSpPr>
              <a:spLocks noChangeShapeType="1"/>
            </p:cNvSpPr>
            <p:nvPr/>
          </p:nvSpPr>
          <p:spPr bwMode="auto">
            <a:xfrm>
              <a:off x="1536" y="3552"/>
              <a:ext cx="0" cy="336"/>
            </a:xfrm>
            <a:prstGeom prst="line">
              <a:avLst/>
            </a:prstGeom>
            <a:noFill/>
            <a:ln w="38100">
              <a:solidFill>
                <a:schemeClr val="accent1"/>
              </a:solidFill>
              <a:round/>
              <a:headEnd/>
              <a:tailEnd type="triangle" w="med" len="med"/>
            </a:ln>
          </p:spPr>
          <p:txBody>
            <a:bodyPr wrap="none"/>
            <a:lstStyle/>
            <a:p>
              <a:endParaRPr lang="zh-CN" altLang="en-US"/>
            </a:p>
          </p:txBody>
        </p:sp>
      </p:grpSp>
      <p:grpSp>
        <p:nvGrpSpPr>
          <p:cNvPr id="6" name="Group 32"/>
          <p:cNvGrpSpPr>
            <a:grpSpLocks/>
          </p:cNvGrpSpPr>
          <p:nvPr/>
        </p:nvGrpSpPr>
        <p:grpSpPr bwMode="auto">
          <a:xfrm>
            <a:off x="4800600" y="5638800"/>
            <a:ext cx="885825" cy="1042988"/>
            <a:chOff x="3024" y="3552"/>
            <a:chExt cx="558" cy="657"/>
          </a:xfrm>
        </p:grpSpPr>
        <p:graphicFrame>
          <p:nvGraphicFramePr>
            <p:cNvPr id="28676" name="Object 24"/>
            <p:cNvGraphicFramePr>
              <a:graphicFrameLocks noChangeAspect="1"/>
            </p:cNvGraphicFramePr>
            <p:nvPr/>
          </p:nvGraphicFramePr>
          <p:xfrm>
            <a:off x="3024" y="3936"/>
            <a:ext cx="558" cy="273"/>
          </p:xfrm>
          <a:graphic>
            <a:graphicData uri="http://schemas.openxmlformats.org/presentationml/2006/ole">
              <p:oleObj spid="_x0000_s28676" r:id="rId12" imgW="444114" imgH="215713" progId="Equation.DSMT4">
                <p:embed/>
              </p:oleObj>
            </a:graphicData>
          </a:graphic>
        </p:graphicFrame>
        <p:sp>
          <p:nvSpPr>
            <p:cNvPr id="28695" name="Line 27"/>
            <p:cNvSpPr>
              <a:spLocks noChangeShapeType="1"/>
            </p:cNvSpPr>
            <p:nvPr/>
          </p:nvSpPr>
          <p:spPr bwMode="auto">
            <a:xfrm>
              <a:off x="3264" y="3552"/>
              <a:ext cx="0" cy="336"/>
            </a:xfrm>
            <a:prstGeom prst="line">
              <a:avLst/>
            </a:prstGeom>
            <a:noFill/>
            <a:ln w="38100">
              <a:solidFill>
                <a:schemeClr val="accent1"/>
              </a:solidFill>
              <a:round/>
              <a:headEnd/>
              <a:tailEnd type="triangle" w="med" len="med"/>
            </a:ln>
          </p:spPr>
          <p:txBody>
            <a:bodyPr wrap="none"/>
            <a:lstStyle/>
            <a:p>
              <a:endParaRPr lang="zh-CN" altLang="en-US"/>
            </a:p>
          </p:txBody>
        </p:sp>
      </p:grpSp>
      <p:grpSp>
        <p:nvGrpSpPr>
          <p:cNvPr id="7" name="Group 35"/>
          <p:cNvGrpSpPr>
            <a:grpSpLocks/>
          </p:cNvGrpSpPr>
          <p:nvPr/>
        </p:nvGrpSpPr>
        <p:grpSpPr bwMode="auto">
          <a:xfrm>
            <a:off x="2778125" y="6202363"/>
            <a:ext cx="1911350" cy="579437"/>
            <a:chOff x="1750" y="3907"/>
            <a:chExt cx="1204" cy="365"/>
          </a:xfrm>
        </p:grpSpPr>
        <p:sp>
          <p:nvSpPr>
            <p:cNvPr id="28693" name="Text Box 33"/>
            <p:cNvSpPr txBox="1">
              <a:spLocks noChangeArrowheads="1"/>
            </p:cNvSpPr>
            <p:nvPr/>
          </p:nvSpPr>
          <p:spPr bwMode="auto">
            <a:xfrm>
              <a:off x="1750" y="3907"/>
              <a:ext cx="266" cy="365"/>
            </a:xfrm>
            <a:prstGeom prst="rect">
              <a:avLst/>
            </a:prstGeom>
            <a:solidFill>
              <a:srgbClr val="000099"/>
            </a:solidFill>
            <a:ln w="9525">
              <a:noFill/>
              <a:miter lim="800000"/>
              <a:headEnd/>
              <a:tailEnd/>
            </a:ln>
          </p:spPr>
          <p:txBody>
            <a:bodyPr wrap="none">
              <a:spAutoFit/>
            </a:bodyPr>
            <a:lstStyle/>
            <a:p>
              <a:r>
                <a:rPr lang="en-US" altLang="zh-CN" sz="3200">
                  <a:solidFill>
                    <a:schemeClr val="bg1"/>
                  </a:solidFill>
                </a:rPr>
                <a:t>=</a:t>
              </a:r>
            </a:p>
          </p:txBody>
        </p:sp>
        <p:sp>
          <p:nvSpPr>
            <p:cNvPr id="28694" name="Text Box 34"/>
            <p:cNvSpPr txBox="1">
              <a:spLocks noChangeArrowheads="1"/>
            </p:cNvSpPr>
            <p:nvPr/>
          </p:nvSpPr>
          <p:spPr bwMode="auto">
            <a:xfrm>
              <a:off x="2688" y="3907"/>
              <a:ext cx="266" cy="365"/>
            </a:xfrm>
            <a:prstGeom prst="rect">
              <a:avLst/>
            </a:prstGeom>
            <a:solidFill>
              <a:srgbClr val="000099"/>
            </a:solidFill>
            <a:ln w="9525">
              <a:noFill/>
              <a:miter lim="800000"/>
              <a:headEnd/>
              <a:tailEnd/>
            </a:ln>
          </p:spPr>
          <p:txBody>
            <a:bodyPr wrap="none">
              <a:spAutoFit/>
            </a:bodyPr>
            <a:lstStyle/>
            <a:p>
              <a:r>
                <a:rPr lang="en-US" altLang="zh-CN" sz="3200">
                  <a:solidFill>
                    <a:schemeClr val="bg1"/>
                  </a:solidFill>
                </a:rPr>
                <a:t>+</a:t>
              </a:r>
            </a:p>
          </p:txBody>
        </p:sp>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52227"/>
                                        </p:tgtEl>
                                        <p:attrNameLst>
                                          <p:attrName>style.visibility</p:attrName>
                                        </p:attrNameLst>
                                      </p:cBhvr>
                                      <p:to>
                                        <p:strVal val="visible"/>
                                      </p:to>
                                    </p:set>
                                    <p:animEffect transition="in" filter="barn(outHorizontal)">
                                      <p:cBhvr>
                                        <p:cTn id="7" dur="500"/>
                                        <p:tgtEl>
                                          <p:spTgt spid="5222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52228"/>
                                        </p:tgtEl>
                                        <p:attrNameLst>
                                          <p:attrName>style.visibility</p:attrName>
                                        </p:attrNameLst>
                                      </p:cBhvr>
                                      <p:to>
                                        <p:strVal val="visible"/>
                                      </p:to>
                                    </p:set>
                                    <p:animEffect transition="in" filter="barn(outHorizontal)">
                                      <p:cBhvr>
                                        <p:cTn id="12" dur="500"/>
                                        <p:tgtEl>
                                          <p:spTgt spid="5222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arn(out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arn(out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52240"/>
                                        </p:tgtEl>
                                        <p:attrNameLst>
                                          <p:attrName>style.visibility</p:attrName>
                                        </p:attrNameLst>
                                      </p:cBhvr>
                                      <p:to>
                                        <p:strVal val="visible"/>
                                      </p:to>
                                    </p:set>
                                    <p:animEffect transition="in" filter="barn(outHorizontal)">
                                      <p:cBhvr>
                                        <p:cTn id="27" dur="500"/>
                                        <p:tgtEl>
                                          <p:spTgt spid="52240"/>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arn(outHorizontal)">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barn(outHorizontal)">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42"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arn(outHorizontal)">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barn(outHorizontal)">
                                      <p:cBhvr>
                                        <p:cTn id="4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14" name="灯片编号占位符 3"/>
          <p:cNvSpPr>
            <a:spLocks noGrp="1"/>
          </p:cNvSpPr>
          <p:nvPr>
            <p:ph type="sldNum" sz="quarter" idx="12"/>
          </p:nvPr>
        </p:nvSpPr>
        <p:spPr>
          <a:noFill/>
        </p:spPr>
        <p:txBody>
          <a:bodyPr/>
          <a:lstStyle/>
          <a:p>
            <a:fld id="{BFBA8771-86C5-4DE1-8E9F-8B97975CA3C1}" type="slidenum">
              <a:rPr lang="en-US" altLang="zh-CN" smtClean="0"/>
              <a:pPr/>
              <a:t>44</a:t>
            </a:fld>
            <a:endParaRPr lang="en-US" altLang="zh-CN" smtClean="0"/>
          </a:p>
        </p:txBody>
      </p:sp>
      <p:sp>
        <p:nvSpPr>
          <p:cNvPr id="29715" name="Text Box 2"/>
          <p:cNvSpPr txBox="1">
            <a:spLocks noChangeArrowheads="1"/>
          </p:cNvSpPr>
          <p:nvPr/>
        </p:nvSpPr>
        <p:spPr bwMode="auto">
          <a:xfrm>
            <a:off x="7524750" y="0"/>
            <a:ext cx="1619250"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53251" name="Rectangle 3"/>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熵的统计意义 </a:t>
            </a:r>
          </a:p>
        </p:txBody>
      </p:sp>
      <p:graphicFrame>
        <p:nvGraphicFramePr>
          <p:cNvPr id="53252" name="Object 4"/>
          <p:cNvGraphicFramePr>
            <a:graphicFrameLocks noChangeAspect="1"/>
          </p:cNvGraphicFramePr>
          <p:nvPr/>
        </p:nvGraphicFramePr>
        <p:xfrm>
          <a:off x="1371600" y="1295400"/>
          <a:ext cx="4124325" cy="541338"/>
        </p:xfrm>
        <a:graphic>
          <a:graphicData uri="http://schemas.openxmlformats.org/presentationml/2006/ole">
            <p:oleObj spid="_x0000_s29698" r:id="rId3" imgW="1663700" imgH="215900" progId="Equation.DSMT4">
              <p:embed/>
            </p:oleObj>
          </a:graphicData>
        </a:graphic>
      </p:graphicFrame>
      <p:graphicFrame>
        <p:nvGraphicFramePr>
          <p:cNvPr id="53259" name="Object 11"/>
          <p:cNvGraphicFramePr>
            <a:graphicFrameLocks noChangeAspect="1"/>
          </p:cNvGraphicFramePr>
          <p:nvPr/>
        </p:nvGraphicFramePr>
        <p:xfrm>
          <a:off x="1295400" y="2209800"/>
          <a:ext cx="993775" cy="860425"/>
        </p:xfrm>
        <a:graphic>
          <a:graphicData uri="http://schemas.openxmlformats.org/presentationml/2006/ole">
            <p:oleObj spid="_x0000_s29699" r:id="rId4" imgW="495085" imgH="431613" progId="Equation.DSMT4">
              <p:embed/>
            </p:oleObj>
          </a:graphicData>
        </a:graphic>
      </p:graphicFrame>
      <p:graphicFrame>
        <p:nvGraphicFramePr>
          <p:cNvPr id="53261" name="Object 13"/>
          <p:cNvGraphicFramePr>
            <a:graphicFrameLocks noChangeAspect="1"/>
          </p:cNvGraphicFramePr>
          <p:nvPr/>
        </p:nvGraphicFramePr>
        <p:xfrm>
          <a:off x="2362200" y="2209800"/>
          <a:ext cx="1582738" cy="858838"/>
        </p:xfrm>
        <a:graphic>
          <a:graphicData uri="http://schemas.openxmlformats.org/presentationml/2006/ole">
            <p:oleObj spid="_x0000_s29700" r:id="rId5" imgW="787400" imgH="431800" progId="Equation.DSMT4">
              <p:embed/>
            </p:oleObj>
          </a:graphicData>
        </a:graphic>
      </p:graphicFrame>
      <p:graphicFrame>
        <p:nvGraphicFramePr>
          <p:cNvPr id="53263" name="Object 15"/>
          <p:cNvGraphicFramePr>
            <a:graphicFrameLocks noChangeAspect="1"/>
          </p:cNvGraphicFramePr>
          <p:nvPr/>
        </p:nvGraphicFramePr>
        <p:xfrm>
          <a:off x="3962400" y="2209800"/>
          <a:ext cx="2036763" cy="857250"/>
        </p:xfrm>
        <a:graphic>
          <a:graphicData uri="http://schemas.openxmlformats.org/presentationml/2006/ole">
            <p:oleObj spid="_x0000_s29701" r:id="rId6" imgW="1016000" imgH="431800" progId="Equation.DSMT4">
              <p:embed/>
            </p:oleObj>
          </a:graphicData>
        </a:graphic>
      </p:graphicFrame>
      <p:graphicFrame>
        <p:nvGraphicFramePr>
          <p:cNvPr id="53265" name="Object 17"/>
          <p:cNvGraphicFramePr>
            <a:graphicFrameLocks noChangeAspect="1"/>
          </p:cNvGraphicFramePr>
          <p:nvPr/>
        </p:nvGraphicFramePr>
        <p:xfrm>
          <a:off x="6019800" y="2209800"/>
          <a:ext cx="1533525" cy="785813"/>
        </p:xfrm>
        <a:graphic>
          <a:graphicData uri="http://schemas.openxmlformats.org/presentationml/2006/ole">
            <p:oleObj spid="_x0000_s29702" r:id="rId7" imgW="761669" imgH="393529" progId="Equation.DSMT4">
              <p:embed/>
            </p:oleObj>
          </a:graphicData>
        </a:graphic>
      </p:graphicFrame>
      <p:graphicFrame>
        <p:nvGraphicFramePr>
          <p:cNvPr id="53267" name="Object 19"/>
          <p:cNvGraphicFramePr>
            <a:graphicFrameLocks noChangeAspect="1"/>
          </p:cNvGraphicFramePr>
          <p:nvPr/>
        </p:nvGraphicFramePr>
        <p:xfrm>
          <a:off x="1219200" y="3276600"/>
          <a:ext cx="1011238" cy="858838"/>
        </p:xfrm>
        <a:graphic>
          <a:graphicData uri="http://schemas.openxmlformats.org/presentationml/2006/ole">
            <p:oleObj spid="_x0000_s29703" r:id="rId8" imgW="508000" imgH="431800" progId="Equation.DSMT4">
              <p:embed/>
            </p:oleObj>
          </a:graphicData>
        </a:graphic>
      </p:graphicFrame>
      <p:graphicFrame>
        <p:nvGraphicFramePr>
          <p:cNvPr id="53269" name="Object 21"/>
          <p:cNvGraphicFramePr>
            <a:graphicFrameLocks noChangeAspect="1"/>
          </p:cNvGraphicFramePr>
          <p:nvPr/>
        </p:nvGraphicFramePr>
        <p:xfrm>
          <a:off x="2286000" y="3276600"/>
          <a:ext cx="1590675" cy="862013"/>
        </p:xfrm>
        <a:graphic>
          <a:graphicData uri="http://schemas.openxmlformats.org/presentationml/2006/ole">
            <p:oleObj spid="_x0000_s29704" r:id="rId9" imgW="787400" imgH="431800" progId="Equation.DSMT4">
              <p:embed/>
            </p:oleObj>
          </a:graphicData>
        </a:graphic>
      </p:graphicFrame>
      <p:graphicFrame>
        <p:nvGraphicFramePr>
          <p:cNvPr id="53271" name="Object 23"/>
          <p:cNvGraphicFramePr>
            <a:graphicFrameLocks noChangeAspect="1"/>
          </p:cNvGraphicFramePr>
          <p:nvPr/>
        </p:nvGraphicFramePr>
        <p:xfrm>
          <a:off x="3962400" y="3276600"/>
          <a:ext cx="2044700" cy="860425"/>
        </p:xfrm>
        <a:graphic>
          <a:graphicData uri="http://schemas.openxmlformats.org/presentationml/2006/ole">
            <p:oleObj spid="_x0000_s29705" r:id="rId10" imgW="1016000" imgH="431800" progId="Equation.DSMT4">
              <p:embed/>
            </p:oleObj>
          </a:graphicData>
        </a:graphic>
      </p:graphicFrame>
      <p:graphicFrame>
        <p:nvGraphicFramePr>
          <p:cNvPr id="53273" name="Object 25"/>
          <p:cNvGraphicFramePr>
            <a:graphicFrameLocks noChangeAspect="1"/>
          </p:cNvGraphicFramePr>
          <p:nvPr/>
        </p:nvGraphicFramePr>
        <p:xfrm>
          <a:off x="6096000" y="3276600"/>
          <a:ext cx="1511300" cy="784225"/>
        </p:xfrm>
        <a:graphic>
          <a:graphicData uri="http://schemas.openxmlformats.org/presentationml/2006/ole">
            <p:oleObj spid="_x0000_s29706" r:id="rId11" imgW="748975" imgH="393529" progId="Equation.DSMT4">
              <p:embed/>
            </p:oleObj>
          </a:graphicData>
        </a:graphic>
      </p:graphicFrame>
      <p:graphicFrame>
        <p:nvGraphicFramePr>
          <p:cNvPr id="53275" name="Object 27"/>
          <p:cNvGraphicFramePr>
            <a:graphicFrameLocks noChangeAspect="1"/>
          </p:cNvGraphicFramePr>
          <p:nvPr/>
        </p:nvGraphicFramePr>
        <p:xfrm>
          <a:off x="1335088" y="4267200"/>
          <a:ext cx="4379912" cy="860425"/>
        </p:xfrm>
        <a:graphic>
          <a:graphicData uri="http://schemas.openxmlformats.org/presentationml/2006/ole">
            <p:oleObj spid="_x0000_s29707" r:id="rId12" imgW="2184400" imgH="431800" progId="Equation.DSMT4">
              <p:embed/>
            </p:oleObj>
          </a:graphicData>
        </a:graphic>
      </p:graphicFrame>
      <p:sp>
        <p:nvSpPr>
          <p:cNvPr id="53277" name="Text Box 29"/>
          <p:cNvSpPr txBox="1">
            <a:spLocks noChangeArrowheads="1"/>
          </p:cNvSpPr>
          <p:nvPr/>
        </p:nvSpPr>
        <p:spPr bwMode="auto">
          <a:xfrm>
            <a:off x="762000" y="5105400"/>
            <a:ext cx="8667757" cy="461665"/>
          </a:xfrm>
          <a:prstGeom prst="rect">
            <a:avLst/>
          </a:prstGeom>
          <a:noFill/>
          <a:ln w="9525">
            <a:noFill/>
            <a:miter lim="800000"/>
            <a:headEnd/>
            <a:tailEnd/>
          </a:ln>
        </p:spPr>
        <p:txBody>
          <a:bodyPr wrap="none">
            <a:spAutoFit/>
          </a:bodyPr>
          <a:lstStyle/>
          <a:p>
            <a:r>
              <a:rPr lang="zh-CN" altLang="en-US" sz="2400" b="1" dirty="0">
                <a:solidFill>
                  <a:schemeClr val="bg1"/>
                </a:solidFill>
                <a:latin typeface="Times New Roman" pitchFamily="18" charset="0"/>
                <a:ea typeface="华文中宋" pitchFamily="2" charset="-122"/>
                <a:cs typeface="Times New Roman" pitchFamily="18" charset="0"/>
              </a:rPr>
              <a:t>对于任意分割成的</a:t>
            </a:r>
            <a:r>
              <a:rPr lang="en-US" altLang="zh-CN" sz="2400" b="1" dirty="0">
                <a:solidFill>
                  <a:schemeClr val="bg1"/>
                </a:solidFill>
                <a:latin typeface="Times New Roman" pitchFamily="18" charset="0"/>
                <a:ea typeface="华文中宋" pitchFamily="2" charset="-122"/>
                <a:cs typeface="Times New Roman" pitchFamily="18" charset="0"/>
              </a:rPr>
              <a:t>1</a:t>
            </a:r>
            <a:r>
              <a:rPr lang="zh-CN" altLang="en-US" sz="2400" b="1" dirty="0">
                <a:solidFill>
                  <a:schemeClr val="bg1"/>
                </a:solidFill>
                <a:latin typeface="Times New Roman" pitchFamily="18" charset="0"/>
                <a:ea typeface="华文中宋" pitchFamily="2" charset="-122"/>
                <a:cs typeface="Times New Roman" pitchFamily="18" charset="0"/>
              </a:rPr>
              <a:t>和</a:t>
            </a:r>
            <a:r>
              <a:rPr lang="en-US" altLang="zh-CN" sz="2400" b="1" dirty="0">
                <a:solidFill>
                  <a:schemeClr val="bg1"/>
                </a:solidFill>
                <a:latin typeface="Times New Roman" pitchFamily="18" charset="0"/>
                <a:ea typeface="华文中宋" pitchFamily="2" charset="-122"/>
                <a:cs typeface="Times New Roman" pitchFamily="18" charset="0"/>
              </a:rPr>
              <a:t>2</a:t>
            </a:r>
            <a:r>
              <a:rPr lang="zh-CN" altLang="en-US" sz="2400" b="1" dirty="0">
                <a:solidFill>
                  <a:schemeClr val="bg1"/>
                </a:solidFill>
                <a:latin typeface="Times New Roman" pitchFamily="18" charset="0"/>
                <a:ea typeface="华文中宋" pitchFamily="2" charset="-122"/>
                <a:cs typeface="Times New Roman" pitchFamily="18" charset="0"/>
              </a:rPr>
              <a:t>两部分都成立，因此其结果必然为常数 </a:t>
            </a:r>
          </a:p>
        </p:txBody>
      </p:sp>
      <p:graphicFrame>
        <p:nvGraphicFramePr>
          <p:cNvPr id="53278" name="Object 30"/>
          <p:cNvGraphicFramePr>
            <a:graphicFrameLocks noChangeAspect="1"/>
          </p:cNvGraphicFramePr>
          <p:nvPr/>
        </p:nvGraphicFramePr>
        <p:xfrm>
          <a:off x="1371600" y="5638800"/>
          <a:ext cx="2206625" cy="403225"/>
        </p:xfrm>
        <a:graphic>
          <a:graphicData uri="http://schemas.openxmlformats.org/presentationml/2006/ole">
            <p:oleObj spid="_x0000_s29708" r:id="rId13" imgW="1091726" imgH="203112" progId="Equation.DSMT4">
              <p:embed/>
            </p:oleObj>
          </a:graphicData>
        </a:graphic>
      </p:graphicFrame>
      <p:sp>
        <p:nvSpPr>
          <p:cNvPr id="53280" name="Text Box 32"/>
          <p:cNvSpPr txBox="1">
            <a:spLocks noChangeArrowheads="1"/>
          </p:cNvSpPr>
          <p:nvPr/>
        </p:nvSpPr>
        <p:spPr bwMode="auto">
          <a:xfrm>
            <a:off x="696913" y="6116638"/>
            <a:ext cx="6465887" cy="457200"/>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由热力学几率满足乘法法则而熵满足加法法则 </a:t>
            </a:r>
          </a:p>
        </p:txBody>
      </p:sp>
      <p:graphicFrame>
        <p:nvGraphicFramePr>
          <p:cNvPr id="53281" name="Object 33"/>
          <p:cNvGraphicFramePr>
            <a:graphicFrameLocks noChangeAspect="1"/>
          </p:cNvGraphicFramePr>
          <p:nvPr/>
        </p:nvGraphicFramePr>
        <p:xfrm>
          <a:off x="6905625" y="6005513"/>
          <a:ext cx="2238375" cy="623887"/>
        </p:xfrm>
        <a:graphic>
          <a:graphicData uri="http://schemas.openxmlformats.org/presentationml/2006/ole">
            <p:oleObj spid="_x0000_s29709" r:id="rId14" imgW="647419" imgH="177723" progId="Equation.DSMT4">
              <p:embed/>
            </p:oleObj>
          </a:graphicData>
        </a:graphic>
      </p:graphicFrame>
      <p:grpSp>
        <p:nvGrpSpPr>
          <p:cNvPr id="2" name="Group 47"/>
          <p:cNvGrpSpPr>
            <a:grpSpLocks/>
          </p:cNvGrpSpPr>
          <p:nvPr/>
        </p:nvGrpSpPr>
        <p:grpSpPr bwMode="auto">
          <a:xfrm>
            <a:off x="914400" y="2209800"/>
            <a:ext cx="5410200" cy="838200"/>
            <a:chOff x="576" y="1392"/>
            <a:chExt cx="3408" cy="528"/>
          </a:xfrm>
        </p:grpSpPr>
        <p:grpSp>
          <p:nvGrpSpPr>
            <p:cNvPr id="29723" name="Group 46"/>
            <p:cNvGrpSpPr>
              <a:grpSpLocks/>
            </p:cNvGrpSpPr>
            <p:nvPr/>
          </p:nvGrpSpPr>
          <p:grpSpPr bwMode="auto">
            <a:xfrm>
              <a:off x="1632" y="1392"/>
              <a:ext cx="2352" cy="528"/>
              <a:chOff x="1632" y="1392"/>
              <a:chExt cx="2352" cy="528"/>
            </a:xfrm>
          </p:grpSpPr>
          <p:sp>
            <p:nvSpPr>
              <p:cNvPr id="29724" name="Rectangle 40"/>
              <p:cNvSpPr>
                <a:spLocks noChangeArrowheads="1"/>
              </p:cNvSpPr>
              <p:nvPr/>
            </p:nvSpPr>
            <p:spPr bwMode="auto">
              <a:xfrm>
                <a:off x="1632" y="1392"/>
                <a:ext cx="2304" cy="528"/>
              </a:xfrm>
              <a:prstGeom prst="rect">
                <a:avLst/>
              </a:prstGeom>
              <a:solidFill>
                <a:srgbClr val="000099"/>
              </a:solidFill>
              <a:ln w="9525">
                <a:solidFill>
                  <a:schemeClr val="tx1"/>
                </a:solidFill>
                <a:miter lim="800000"/>
                <a:headEnd/>
                <a:tailEnd/>
              </a:ln>
            </p:spPr>
            <p:txBody>
              <a:bodyPr wrap="none" anchor="ctr"/>
              <a:lstStyle/>
              <a:p>
                <a:endParaRPr lang="zh-CN" altLang="en-US"/>
              </a:p>
            </p:txBody>
          </p:sp>
          <p:graphicFrame>
            <p:nvGraphicFramePr>
              <p:cNvPr id="29713" name="Object 35"/>
              <p:cNvGraphicFramePr>
                <a:graphicFrameLocks noChangeAspect="1"/>
              </p:cNvGraphicFramePr>
              <p:nvPr/>
            </p:nvGraphicFramePr>
            <p:xfrm>
              <a:off x="3662" y="1440"/>
              <a:ext cx="322" cy="345"/>
            </p:xfrm>
            <a:graphic>
              <a:graphicData uri="http://schemas.openxmlformats.org/presentationml/2006/ole">
                <p:oleObj spid="_x0000_s29713" r:id="rId15" imgW="203024" imgH="215713" progId="Equation.DSMT4">
                  <p:embed/>
                </p:oleObj>
              </a:graphicData>
            </a:graphic>
          </p:graphicFrame>
        </p:grpSp>
        <p:graphicFrame>
          <p:nvGraphicFramePr>
            <p:cNvPr id="29712" name="Object 39"/>
            <p:cNvGraphicFramePr>
              <a:graphicFrameLocks noChangeAspect="1"/>
            </p:cNvGraphicFramePr>
            <p:nvPr/>
          </p:nvGraphicFramePr>
          <p:xfrm>
            <a:off x="576" y="1479"/>
            <a:ext cx="315" cy="345"/>
          </p:xfrm>
          <a:graphic>
            <a:graphicData uri="http://schemas.openxmlformats.org/presentationml/2006/ole">
              <p:oleObj spid="_x0000_s29712" r:id="rId16" imgW="203024" imgH="215713" progId="Equation.DSMT4">
                <p:embed/>
              </p:oleObj>
            </a:graphicData>
          </a:graphic>
        </p:graphicFrame>
      </p:grpSp>
      <p:grpSp>
        <p:nvGrpSpPr>
          <p:cNvPr id="4" name="Group 48"/>
          <p:cNvGrpSpPr>
            <a:grpSpLocks/>
          </p:cNvGrpSpPr>
          <p:nvPr/>
        </p:nvGrpSpPr>
        <p:grpSpPr bwMode="auto">
          <a:xfrm>
            <a:off x="828675" y="3276600"/>
            <a:ext cx="5483225" cy="838200"/>
            <a:chOff x="522" y="2064"/>
            <a:chExt cx="3454" cy="528"/>
          </a:xfrm>
        </p:grpSpPr>
        <p:grpSp>
          <p:nvGrpSpPr>
            <p:cNvPr id="29721" name="Group 45"/>
            <p:cNvGrpSpPr>
              <a:grpSpLocks/>
            </p:cNvGrpSpPr>
            <p:nvPr/>
          </p:nvGrpSpPr>
          <p:grpSpPr bwMode="auto">
            <a:xfrm>
              <a:off x="1624" y="2064"/>
              <a:ext cx="2352" cy="528"/>
              <a:chOff x="1632" y="2400"/>
              <a:chExt cx="2352" cy="528"/>
            </a:xfrm>
          </p:grpSpPr>
          <p:sp>
            <p:nvSpPr>
              <p:cNvPr id="29722" name="Rectangle 41"/>
              <p:cNvSpPr>
                <a:spLocks noChangeArrowheads="1"/>
              </p:cNvSpPr>
              <p:nvPr/>
            </p:nvSpPr>
            <p:spPr bwMode="auto">
              <a:xfrm>
                <a:off x="1632" y="2400"/>
                <a:ext cx="2352" cy="528"/>
              </a:xfrm>
              <a:prstGeom prst="rect">
                <a:avLst/>
              </a:prstGeom>
              <a:solidFill>
                <a:srgbClr val="000099"/>
              </a:solidFill>
              <a:ln w="9525">
                <a:solidFill>
                  <a:schemeClr val="tx1"/>
                </a:solidFill>
                <a:miter lim="800000"/>
                <a:headEnd/>
                <a:tailEnd/>
              </a:ln>
            </p:spPr>
            <p:txBody>
              <a:bodyPr wrap="none" anchor="ctr"/>
              <a:lstStyle/>
              <a:p>
                <a:endParaRPr lang="zh-CN" altLang="en-US"/>
              </a:p>
            </p:txBody>
          </p:sp>
          <p:graphicFrame>
            <p:nvGraphicFramePr>
              <p:cNvPr id="29711" name="Object 37"/>
              <p:cNvGraphicFramePr>
                <a:graphicFrameLocks noChangeAspect="1"/>
              </p:cNvGraphicFramePr>
              <p:nvPr/>
            </p:nvGraphicFramePr>
            <p:xfrm>
              <a:off x="3600" y="2496"/>
              <a:ext cx="342" cy="342"/>
            </p:xfrm>
            <a:graphic>
              <a:graphicData uri="http://schemas.openxmlformats.org/presentationml/2006/ole">
                <p:oleObj spid="_x0000_s29711" r:id="rId17" imgW="215619" imgH="215619" progId="Equation.DSMT4">
                  <p:embed/>
                </p:oleObj>
              </a:graphicData>
            </a:graphic>
          </p:graphicFrame>
        </p:grpSp>
        <p:graphicFrame>
          <p:nvGraphicFramePr>
            <p:cNvPr id="29710" name="Object 44"/>
            <p:cNvGraphicFramePr>
              <a:graphicFrameLocks noChangeAspect="1"/>
            </p:cNvGraphicFramePr>
            <p:nvPr/>
          </p:nvGraphicFramePr>
          <p:xfrm>
            <a:off x="522" y="2160"/>
            <a:ext cx="342" cy="342"/>
          </p:xfrm>
          <a:graphic>
            <a:graphicData uri="http://schemas.openxmlformats.org/presentationml/2006/ole">
              <p:oleObj spid="_x0000_s29710" r:id="rId18" imgW="215619" imgH="215619" progId="Equation.DSMT4">
                <p:embed/>
              </p:oleObj>
            </a:graphicData>
          </a:graphic>
        </p:graphicFrame>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53251"/>
                                        </p:tgtEl>
                                        <p:attrNameLst>
                                          <p:attrName>style.visibility</p:attrName>
                                        </p:attrNameLst>
                                      </p:cBhvr>
                                      <p:to>
                                        <p:strVal val="visible"/>
                                      </p:to>
                                    </p:set>
                                    <p:animEffect transition="in" filter="barn(outHorizontal)">
                                      <p:cBhvr>
                                        <p:cTn id="7" dur="500"/>
                                        <p:tgtEl>
                                          <p:spTgt spid="5325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53252"/>
                                        </p:tgtEl>
                                        <p:attrNameLst>
                                          <p:attrName>style.visibility</p:attrName>
                                        </p:attrNameLst>
                                      </p:cBhvr>
                                      <p:to>
                                        <p:strVal val="visible"/>
                                      </p:to>
                                    </p:set>
                                    <p:animEffect transition="in" filter="barn(outHorizontal)">
                                      <p:cBhvr>
                                        <p:cTn id="12" dur="500"/>
                                        <p:tgtEl>
                                          <p:spTgt spid="5325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53259"/>
                                        </p:tgtEl>
                                        <p:attrNameLst>
                                          <p:attrName>style.visibility</p:attrName>
                                        </p:attrNameLst>
                                      </p:cBhvr>
                                      <p:to>
                                        <p:strVal val="visible"/>
                                      </p:to>
                                    </p:set>
                                    <p:animEffect transition="in" filter="barn(outHorizontal)">
                                      <p:cBhvr>
                                        <p:cTn id="17" dur="500"/>
                                        <p:tgtEl>
                                          <p:spTgt spid="5325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53261"/>
                                        </p:tgtEl>
                                        <p:attrNameLst>
                                          <p:attrName>style.visibility</p:attrName>
                                        </p:attrNameLst>
                                      </p:cBhvr>
                                      <p:to>
                                        <p:strVal val="visible"/>
                                      </p:to>
                                    </p:set>
                                    <p:animEffect transition="in" filter="barn(outHorizontal)">
                                      <p:cBhvr>
                                        <p:cTn id="22" dur="500"/>
                                        <p:tgtEl>
                                          <p:spTgt spid="53261"/>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53263"/>
                                        </p:tgtEl>
                                        <p:attrNameLst>
                                          <p:attrName>style.visibility</p:attrName>
                                        </p:attrNameLst>
                                      </p:cBhvr>
                                      <p:to>
                                        <p:strVal val="visible"/>
                                      </p:to>
                                    </p:set>
                                    <p:animEffect transition="in" filter="barn(outHorizontal)">
                                      <p:cBhvr>
                                        <p:cTn id="27" dur="500"/>
                                        <p:tgtEl>
                                          <p:spTgt spid="53263"/>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53265"/>
                                        </p:tgtEl>
                                        <p:attrNameLst>
                                          <p:attrName>style.visibility</p:attrName>
                                        </p:attrNameLst>
                                      </p:cBhvr>
                                      <p:to>
                                        <p:strVal val="visible"/>
                                      </p:to>
                                    </p:set>
                                    <p:animEffect transition="in" filter="barn(outHorizontal)">
                                      <p:cBhvr>
                                        <p:cTn id="32" dur="500"/>
                                        <p:tgtEl>
                                          <p:spTgt spid="53265"/>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53267"/>
                                        </p:tgtEl>
                                        <p:attrNameLst>
                                          <p:attrName>style.visibility</p:attrName>
                                        </p:attrNameLst>
                                      </p:cBhvr>
                                      <p:to>
                                        <p:strVal val="visible"/>
                                      </p:to>
                                    </p:set>
                                    <p:animEffect transition="in" filter="barn(outHorizontal)">
                                      <p:cBhvr>
                                        <p:cTn id="37" dur="500"/>
                                        <p:tgtEl>
                                          <p:spTgt spid="53267"/>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42" fill="hold" nodeType="clickEffect">
                                  <p:stCondLst>
                                    <p:cond delay="0"/>
                                  </p:stCondLst>
                                  <p:childTnLst>
                                    <p:set>
                                      <p:cBhvr>
                                        <p:cTn id="41" dur="1" fill="hold">
                                          <p:stCondLst>
                                            <p:cond delay="0"/>
                                          </p:stCondLst>
                                        </p:cTn>
                                        <p:tgtEl>
                                          <p:spTgt spid="53269"/>
                                        </p:tgtEl>
                                        <p:attrNameLst>
                                          <p:attrName>style.visibility</p:attrName>
                                        </p:attrNameLst>
                                      </p:cBhvr>
                                      <p:to>
                                        <p:strVal val="visible"/>
                                      </p:to>
                                    </p:set>
                                    <p:animEffect transition="in" filter="barn(outHorizontal)">
                                      <p:cBhvr>
                                        <p:cTn id="42" dur="500"/>
                                        <p:tgtEl>
                                          <p:spTgt spid="53269"/>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nodeType="clickEffect">
                                  <p:stCondLst>
                                    <p:cond delay="0"/>
                                  </p:stCondLst>
                                  <p:childTnLst>
                                    <p:set>
                                      <p:cBhvr>
                                        <p:cTn id="46" dur="1" fill="hold">
                                          <p:stCondLst>
                                            <p:cond delay="0"/>
                                          </p:stCondLst>
                                        </p:cTn>
                                        <p:tgtEl>
                                          <p:spTgt spid="53271"/>
                                        </p:tgtEl>
                                        <p:attrNameLst>
                                          <p:attrName>style.visibility</p:attrName>
                                        </p:attrNameLst>
                                      </p:cBhvr>
                                      <p:to>
                                        <p:strVal val="visible"/>
                                      </p:to>
                                    </p:set>
                                    <p:animEffect transition="in" filter="barn(outHorizontal)">
                                      <p:cBhvr>
                                        <p:cTn id="47" dur="500"/>
                                        <p:tgtEl>
                                          <p:spTgt spid="53271"/>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42" fill="hold" nodeType="clickEffect">
                                  <p:stCondLst>
                                    <p:cond delay="0"/>
                                  </p:stCondLst>
                                  <p:childTnLst>
                                    <p:set>
                                      <p:cBhvr>
                                        <p:cTn id="51" dur="1" fill="hold">
                                          <p:stCondLst>
                                            <p:cond delay="0"/>
                                          </p:stCondLst>
                                        </p:cTn>
                                        <p:tgtEl>
                                          <p:spTgt spid="53273"/>
                                        </p:tgtEl>
                                        <p:attrNameLst>
                                          <p:attrName>style.visibility</p:attrName>
                                        </p:attrNameLst>
                                      </p:cBhvr>
                                      <p:to>
                                        <p:strVal val="visible"/>
                                      </p:to>
                                    </p:set>
                                    <p:animEffect transition="in" filter="barn(outHorizontal)">
                                      <p:cBhvr>
                                        <p:cTn id="52" dur="500"/>
                                        <p:tgtEl>
                                          <p:spTgt spid="53273"/>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42" fill="hold" nodeType="clickEffect">
                                  <p:stCondLst>
                                    <p:cond delay="0"/>
                                  </p:stCondLst>
                                  <p:childTnLst>
                                    <p:set>
                                      <p:cBhvr>
                                        <p:cTn id="56" dur="1" fill="hold">
                                          <p:stCondLst>
                                            <p:cond delay="0"/>
                                          </p:stCondLst>
                                        </p:cTn>
                                        <p:tgtEl>
                                          <p:spTgt spid="2"/>
                                        </p:tgtEl>
                                        <p:attrNameLst>
                                          <p:attrName>style.visibility</p:attrName>
                                        </p:attrNameLst>
                                      </p:cBhvr>
                                      <p:to>
                                        <p:strVal val="visible"/>
                                      </p:to>
                                    </p:set>
                                    <p:animEffect transition="in" filter="barn(outHorizontal)">
                                      <p:cBhvr>
                                        <p:cTn id="57" dur="500"/>
                                        <p:tgtEl>
                                          <p:spTgt spid="2"/>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42" fill="hold" nodeType="click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barn(outHorizontal)">
                                      <p:cBhvr>
                                        <p:cTn id="62" dur="500"/>
                                        <p:tgtEl>
                                          <p:spTgt spid="4"/>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42" fill="hold" nodeType="clickEffect">
                                  <p:stCondLst>
                                    <p:cond delay="0"/>
                                  </p:stCondLst>
                                  <p:childTnLst>
                                    <p:set>
                                      <p:cBhvr>
                                        <p:cTn id="66" dur="1" fill="hold">
                                          <p:stCondLst>
                                            <p:cond delay="0"/>
                                          </p:stCondLst>
                                        </p:cTn>
                                        <p:tgtEl>
                                          <p:spTgt spid="53275"/>
                                        </p:tgtEl>
                                        <p:attrNameLst>
                                          <p:attrName>style.visibility</p:attrName>
                                        </p:attrNameLst>
                                      </p:cBhvr>
                                      <p:to>
                                        <p:strVal val="visible"/>
                                      </p:to>
                                    </p:set>
                                    <p:animEffect transition="in" filter="barn(outHorizontal)">
                                      <p:cBhvr>
                                        <p:cTn id="67" dur="500"/>
                                        <p:tgtEl>
                                          <p:spTgt spid="53275"/>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42" fill="hold" grpId="0" nodeType="clickEffect">
                                  <p:stCondLst>
                                    <p:cond delay="0"/>
                                  </p:stCondLst>
                                  <p:childTnLst>
                                    <p:set>
                                      <p:cBhvr>
                                        <p:cTn id="71" dur="1" fill="hold">
                                          <p:stCondLst>
                                            <p:cond delay="0"/>
                                          </p:stCondLst>
                                        </p:cTn>
                                        <p:tgtEl>
                                          <p:spTgt spid="53277"/>
                                        </p:tgtEl>
                                        <p:attrNameLst>
                                          <p:attrName>style.visibility</p:attrName>
                                        </p:attrNameLst>
                                      </p:cBhvr>
                                      <p:to>
                                        <p:strVal val="visible"/>
                                      </p:to>
                                    </p:set>
                                    <p:animEffect transition="in" filter="barn(outHorizontal)">
                                      <p:cBhvr>
                                        <p:cTn id="72" dur="500"/>
                                        <p:tgtEl>
                                          <p:spTgt spid="53277"/>
                                        </p:tgtEl>
                                      </p:cBhvr>
                                    </p:animEffect>
                                  </p:childTnLst>
                                </p:cTn>
                              </p:par>
                            </p:childTnLst>
                          </p:cTn>
                        </p:par>
                      </p:childTnLst>
                    </p:cTn>
                  </p:par>
                  <p:par>
                    <p:cTn id="73" fill="hold">
                      <p:stCondLst>
                        <p:cond delay="indefinite"/>
                      </p:stCondLst>
                      <p:childTnLst>
                        <p:par>
                          <p:cTn id="74" fill="hold">
                            <p:stCondLst>
                              <p:cond delay="0"/>
                            </p:stCondLst>
                            <p:childTnLst>
                              <p:par>
                                <p:cTn id="75" presetID="16" presetClass="entr" presetSubtype="42" fill="hold" nodeType="clickEffect">
                                  <p:stCondLst>
                                    <p:cond delay="0"/>
                                  </p:stCondLst>
                                  <p:childTnLst>
                                    <p:set>
                                      <p:cBhvr>
                                        <p:cTn id="76" dur="1" fill="hold">
                                          <p:stCondLst>
                                            <p:cond delay="0"/>
                                          </p:stCondLst>
                                        </p:cTn>
                                        <p:tgtEl>
                                          <p:spTgt spid="53278"/>
                                        </p:tgtEl>
                                        <p:attrNameLst>
                                          <p:attrName>style.visibility</p:attrName>
                                        </p:attrNameLst>
                                      </p:cBhvr>
                                      <p:to>
                                        <p:strVal val="visible"/>
                                      </p:to>
                                    </p:set>
                                    <p:animEffect transition="in" filter="barn(outHorizontal)">
                                      <p:cBhvr>
                                        <p:cTn id="77" dur="500"/>
                                        <p:tgtEl>
                                          <p:spTgt spid="53278"/>
                                        </p:tgtEl>
                                      </p:cBhvr>
                                    </p:animEffect>
                                  </p:childTnLst>
                                </p:cTn>
                              </p:par>
                            </p:childTnLst>
                          </p:cTn>
                        </p:par>
                      </p:childTnLst>
                    </p:cTn>
                  </p:par>
                  <p:par>
                    <p:cTn id="78" fill="hold">
                      <p:stCondLst>
                        <p:cond delay="indefinite"/>
                      </p:stCondLst>
                      <p:childTnLst>
                        <p:par>
                          <p:cTn id="79" fill="hold">
                            <p:stCondLst>
                              <p:cond delay="0"/>
                            </p:stCondLst>
                            <p:childTnLst>
                              <p:par>
                                <p:cTn id="80" presetID="16" presetClass="entr" presetSubtype="42" fill="hold" grpId="0" nodeType="clickEffect">
                                  <p:stCondLst>
                                    <p:cond delay="0"/>
                                  </p:stCondLst>
                                  <p:childTnLst>
                                    <p:set>
                                      <p:cBhvr>
                                        <p:cTn id="81" dur="1" fill="hold">
                                          <p:stCondLst>
                                            <p:cond delay="0"/>
                                          </p:stCondLst>
                                        </p:cTn>
                                        <p:tgtEl>
                                          <p:spTgt spid="53280"/>
                                        </p:tgtEl>
                                        <p:attrNameLst>
                                          <p:attrName>style.visibility</p:attrName>
                                        </p:attrNameLst>
                                      </p:cBhvr>
                                      <p:to>
                                        <p:strVal val="visible"/>
                                      </p:to>
                                    </p:set>
                                    <p:animEffect transition="in" filter="barn(outHorizontal)">
                                      <p:cBhvr>
                                        <p:cTn id="82" dur="500"/>
                                        <p:tgtEl>
                                          <p:spTgt spid="53280"/>
                                        </p:tgtEl>
                                      </p:cBhvr>
                                    </p:animEffect>
                                  </p:childTnLst>
                                </p:cTn>
                              </p:par>
                            </p:childTnLst>
                          </p:cTn>
                        </p:par>
                      </p:childTnLst>
                    </p:cTn>
                  </p:par>
                  <p:par>
                    <p:cTn id="83" fill="hold">
                      <p:stCondLst>
                        <p:cond delay="indefinite"/>
                      </p:stCondLst>
                      <p:childTnLst>
                        <p:par>
                          <p:cTn id="84" fill="hold">
                            <p:stCondLst>
                              <p:cond delay="0"/>
                            </p:stCondLst>
                            <p:childTnLst>
                              <p:par>
                                <p:cTn id="85" presetID="16" presetClass="entr" presetSubtype="42" fill="hold" nodeType="clickEffect">
                                  <p:stCondLst>
                                    <p:cond delay="0"/>
                                  </p:stCondLst>
                                  <p:childTnLst>
                                    <p:set>
                                      <p:cBhvr>
                                        <p:cTn id="86" dur="1" fill="hold">
                                          <p:stCondLst>
                                            <p:cond delay="0"/>
                                          </p:stCondLst>
                                        </p:cTn>
                                        <p:tgtEl>
                                          <p:spTgt spid="53281"/>
                                        </p:tgtEl>
                                        <p:attrNameLst>
                                          <p:attrName>style.visibility</p:attrName>
                                        </p:attrNameLst>
                                      </p:cBhvr>
                                      <p:to>
                                        <p:strVal val="visible"/>
                                      </p:to>
                                    </p:set>
                                    <p:animEffect transition="in" filter="barn(outHorizontal)">
                                      <p:cBhvr>
                                        <p:cTn id="87" dur="500"/>
                                        <p:tgtEl>
                                          <p:spTgt spid="53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autoUpdateAnimBg="0"/>
      <p:bldP spid="53277" grpId="0" autoUpdateAnimBg="0"/>
      <p:bldP spid="53280"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7" name="灯片编号占位符 3"/>
          <p:cNvSpPr>
            <a:spLocks noGrp="1"/>
          </p:cNvSpPr>
          <p:nvPr>
            <p:ph type="sldNum" sz="quarter" idx="12"/>
          </p:nvPr>
        </p:nvSpPr>
        <p:spPr>
          <a:noFill/>
        </p:spPr>
        <p:txBody>
          <a:bodyPr/>
          <a:lstStyle/>
          <a:p>
            <a:fld id="{3D3FD7B0-6632-4904-8925-F39FA7D8C467}" type="slidenum">
              <a:rPr lang="en-US" altLang="zh-CN" smtClean="0"/>
              <a:pPr/>
              <a:t>45</a:t>
            </a:fld>
            <a:endParaRPr lang="en-US" altLang="zh-CN" smtClean="0"/>
          </a:p>
        </p:txBody>
      </p:sp>
      <p:sp>
        <p:nvSpPr>
          <p:cNvPr id="30728" name="Text Box 2"/>
          <p:cNvSpPr txBox="1">
            <a:spLocks noChangeArrowheads="1"/>
          </p:cNvSpPr>
          <p:nvPr/>
        </p:nvSpPr>
        <p:spPr bwMode="auto">
          <a:xfrm>
            <a:off x="7596188" y="0"/>
            <a:ext cx="154781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54275" name="Rectangle 3"/>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en-US" altLang="zh-CN" sz="4400" b="1" i="1" dirty="0">
                <a:solidFill>
                  <a:srgbClr val="FFFF00"/>
                </a:solidFill>
                <a:latin typeface="Times New Roman" pitchFamily="18" charset="0"/>
                <a:ea typeface="楷体_GB2312" pitchFamily="49" charset="-122"/>
              </a:rPr>
              <a:t>a</a:t>
            </a:r>
            <a:r>
              <a:rPr lang="en-US" altLang="zh-CN" sz="4400" b="1" dirty="0">
                <a:solidFill>
                  <a:srgbClr val="FFFF00"/>
                </a:solidFill>
                <a:latin typeface="Times New Roman" pitchFamily="18" charset="0"/>
                <a:ea typeface="楷体_GB2312" pitchFamily="49" charset="-122"/>
              </a:rPr>
              <a:t>=?</a:t>
            </a:r>
            <a:r>
              <a:rPr lang="en-US" altLang="zh-CN" sz="4400" b="1" dirty="0">
                <a:solidFill>
                  <a:srgbClr val="FFFF00"/>
                </a:solidFill>
                <a:latin typeface="楷体_GB2312" pitchFamily="49" charset="-122"/>
                <a:ea typeface="楷体_GB2312" pitchFamily="49" charset="-122"/>
              </a:rPr>
              <a:t> </a:t>
            </a:r>
          </a:p>
        </p:txBody>
      </p:sp>
      <p:sp>
        <p:nvSpPr>
          <p:cNvPr id="54276" name="Text Box 4"/>
          <p:cNvSpPr txBox="1">
            <a:spLocks noChangeArrowheads="1"/>
          </p:cNvSpPr>
          <p:nvPr/>
        </p:nvSpPr>
        <p:spPr bwMode="auto">
          <a:xfrm>
            <a:off x="838200" y="1279525"/>
            <a:ext cx="4248150" cy="396875"/>
          </a:xfrm>
          <a:prstGeom prst="rect">
            <a:avLst/>
          </a:prstGeom>
          <a:solidFill>
            <a:srgbClr val="000099"/>
          </a:solidFill>
          <a:ln w="9525">
            <a:noFill/>
            <a:miter lim="800000"/>
            <a:headEnd/>
            <a:tailEnd/>
          </a:ln>
        </p:spPr>
        <p:txBody>
          <a:bodyPr wrap="none">
            <a:spAutoFit/>
          </a:bodyPr>
          <a:lstStyle/>
          <a:p>
            <a:r>
              <a:rPr lang="zh-CN" altLang="en-US" sz="2000">
                <a:solidFill>
                  <a:schemeClr val="bg1"/>
                </a:solidFill>
                <a:ea typeface="黑体" pitchFamily="2" charset="-122"/>
              </a:rPr>
              <a:t>统计的和宏观体系的结论对比确定！</a:t>
            </a:r>
          </a:p>
        </p:txBody>
      </p:sp>
      <p:grpSp>
        <p:nvGrpSpPr>
          <p:cNvPr id="2" name="Group 10"/>
          <p:cNvGrpSpPr>
            <a:grpSpLocks/>
          </p:cNvGrpSpPr>
          <p:nvPr/>
        </p:nvGrpSpPr>
        <p:grpSpPr bwMode="auto">
          <a:xfrm>
            <a:off x="914400" y="1828800"/>
            <a:ext cx="8212138" cy="2252663"/>
            <a:chOff x="576" y="1152"/>
            <a:chExt cx="5173" cy="1419"/>
          </a:xfrm>
        </p:grpSpPr>
        <p:graphicFrame>
          <p:nvGraphicFramePr>
            <p:cNvPr id="30726" name="Object 7"/>
            <p:cNvGraphicFramePr>
              <a:graphicFrameLocks noChangeAspect="1"/>
            </p:cNvGraphicFramePr>
            <p:nvPr/>
          </p:nvGraphicFramePr>
          <p:xfrm>
            <a:off x="576" y="1152"/>
            <a:ext cx="1920" cy="1419"/>
          </p:xfrm>
          <a:graphic>
            <a:graphicData uri="http://schemas.openxmlformats.org/presentationml/2006/ole">
              <p:oleObj spid="_x0000_s30726" r:id="rId3" imgW="2191512" imgH="1962912" progId="Word.Picture.8">
                <p:embed/>
              </p:oleObj>
            </a:graphicData>
          </a:graphic>
        </p:graphicFrame>
        <p:sp>
          <p:nvSpPr>
            <p:cNvPr id="30739" name="Text Box 9"/>
            <p:cNvSpPr txBox="1">
              <a:spLocks noChangeArrowheads="1"/>
            </p:cNvSpPr>
            <p:nvPr/>
          </p:nvSpPr>
          <p:spPr bwMode="auto">
            <a:xfrm>
              <a:off x="2544" y="1238"/>
              <a:ext cx="3205" cy="1028"/>
            </a:xfrm>
            <a:prstGeom prst="rect">
              <a:avLst/>
            </a:prstGeom>
            <a:noFill/>
            <a:ln w="9525">
              <a:noFill/>
              <a:miter lim="800000"/>
              <a:headEnd/>
              <a:tailEnd/>
            </a:ln>
          </p:spPr>
          <p:txBody>
            <a:bodyPr wrap="none">
              <a:spAutoFit/>
            </a:bodyPr>
            <a:lstStyle/>
            <a:p>
              <a:r>
                <a:rPr lang="zh-CN" altLang="en-US" sz="2000" b="1" dirty="0">
                  <a:solidFill>
                    <a:schemeClr val="bg1"/>
                  </a:solidFill>
                  <a:latin typeface="Times New Roman" pitchFamily="18" charset="0"/>
                  <a:ea typeface="华文中宋" pitchFamily="2" charset="-122"/>
                  <a:cs typeface="Times New Roman" pitchFamily="18" charset="0"/>
                </a:rPr>
                <a:t>一个密闭刚性容器体积为</a:t>
              </a:r>
              <a:r>
                <a:rPr lang="en-US" altLang="zh-CN" sz="2000" b="1" i="1" dirty="0">
                  <a:solidFill>
                    <a:schemeClr val="bg1"/>
                  </a:solidFill>
                  <a:latin typeface="Times New Roman" pitchFamily="18" charset="0"/>
                  <a:ea typeface="华文中宋" pitchFamily="2" charset="-122"/>
                  <a:cs typeface="Times New Roman" pitchFamily="18" charset="0"/>
                </a:rPr>
                <a:t>V</a:t>
              </a:r>
              <a:r>
                <a:rPr lang="zh-CN" altLang="en-US" sz="2000" b="1" dirty="0">
                  <a:solidFill>
                    <a:schemeClr val="bg1"/>
                  </a:solidFill>
                  <a:latin typeface="Times New Roman" pitchFamily="18" charset="0"/>
                  <a:ea typeface="华文中宋" pitchFamily="2" charset="-122"/>
                  <a:cs typeface="Times New Roman" pitchFamily="18" charset="0"/>
                </a:rPr>
                <a:t>，初始时刻将容</a:t>
              </a:r>
              <a:endParaRPr lang="en-US" altLang="zh-CN" sz="2000" b="1" dirty="0">
                <a:solidFill>
                  <a:schemeClr val="bg1"/>
                </a:solidFill>
                <a:latin typeface="Times New Roman" pitchFamily="18" charset="0"/>
                <a:ea typeface="华文中宋" pitchFamily="2" charset="-122"/>
                <a:cs typeface="Times New Roman" pitchFamily="18" charset="0"/>
              </a:endParaRPr>
            </a:p>
            <a:p>
              <a:r>
                <a:rPr lang="zh-CN" altLang="en-US" sz="2000" b="1" dirty="0">
                  <a:solidFill>
                    <a:schemeClr val="bg1"/>
                  </a:solidFill>
                  <a:latin typeface="Times New Roman" pitchFamily="18" charset="0"/>
                  <a:ea typeface="华文中宋" pitchFamily="2" charset="-122"/>
                  <a:cs typeface="Times New Roman" pitchFamily="18" charset="0"/>
                </a:rPr>
                <a:t>器使用绝热隔板分隔成两部分，其中一部分</a:t>
              </a:r>
              <a:endParaRPr lang="en-US" altLang="zh-CN" sz="2000" b="1" dirty="0">
                <a:solidFill>
                  <a:schemeClr val="bg1"/>
                </a:solidFill>
                <a:latin typeface="Times New Roman" pitchFamily="18" charset="0"/>
                <a:ea typeface="华文中宋" pitchFamily="2" charset="-122"/>
                <a:cs typeface="Times New Roman" pitchFamily="18" charset="0"/>
              </a:endParaRPr>
            </a:p>
            <a:p>
              <a:r>
                <a:rPr lang="zh-CN" altLang="en-US" sz="2000" b="1" dirty="0">
                  <a:solidFill>
                    <a:schemeClr val="bg1"/>
                  </a:solidFill>
                  <a:latin typeface="Times New Roman" pitchFamily="18" charset="0"/>
                  <a:ea typeface="华文中宋" pitchFamily="2" charset="-122"/>
                  <a:cs typeface="Times New Roman" pitchFamily="18" charset="0"/>
                </a:rPr>
                <a:t>的体积为</a:t>
              </a:r>
              <a:r>
                <a:rPr lang="en-US" altLang="zh-CN" sz="2000" b="1" i="1" dirty="0">
                  <a:solidFill>
                    <a:schemeClr val="bg1"/>
                  </a:solidFill>
                  <a:latin typeface="Times New Roman" pitchFamily="18" charset="0"/>
                  <a:ea typeface="华文中宋" pitchFamily="2" charset="-122"/>
                  <a:cs typeface="Times New Roman" pitchFamily="18" charset="0"/>
                </a:rPr>
                <a:t>V</a:t>
              </a:r>
              <a:r>
                <a:rPr lang="en-US" altLang="zh-CN" sz="2000" b="1" baseline="-30000" dirty="0">
                  <a:solidFill>
                    <a:schemeClr val="bg1"/>
                  </a:solidFill>
                  <a:latin typeface="Times New Roman" pitchFamily="18" charset="0"/>
                  <a:ea typeface="华文中宋" pitchFamily="2" charset="-122"/>
                  <a:cs typeface="Times New Roman" pitchFamily="18" charset="0"/>
                </a:rPr>
                <a:t>1</a:t>
              </a:r>
              <a:r>
                <a:rPr lang="zh-CN" altLang="en-US" sz="2000" b="1" dirty="0">
                  <a:solidFill>
                    <a:schemeClr val="bg1"/>
                  </a:solidFill>
                  <a:latin typeface="Times New Roman" pitchFamily="18" charset="0"/>
                  <a:ea typeface="华文中宋" pitchFamily="2" charset="-122"/>
                  <a:cs typeface="Times New Roman" pitchFamily="18" charset="0"/>
                </a:rPr>
                <a:t>，装有理想气体，其余部分为真</a:t>
              </a:r>
              <a:endParaRPr lang="en-US" altLang="zh-CN" sz="2000" b="1" dirty="0">
                <a:solidFill>
                  <a:schemeClr val="bg1"/>
                </a:solidFill>
                <a:latin typeface="Times New Roman" pitchFamily="18" charset="0"/>
                <a:ea typeface="华文中宋" pitchFamily="2" charset="-122"/>
                <a:cs typeface="Times New Roman" pitchFamily="18" charset="0"/>
              </a:endParaRPr>
            </a:p>
            <a:p>
              <a:r>
                <a:rPr lang="zh-CN" altLang="en-US" sz="2000" b="1" dirty="0">
                  <a:solidFill>
                    <a:schemeClr val="bg1"/>
                  </a:solidFill>
                  <a:latin typeface="Times New Roman" pitchFamily="18" charset="0"/>
                  <a:ea typeface="华文中宋" pitchFamily="2" charset="-122"/>
                  <a:cs typeface="Times New Roman" pitchFamily="18" charset="0"/>
                </a:rPr>
                <a:t>空；抽去隔板，使气体自由膨胀，分析终态</a:t>
              </a:r>
              <a:endParaRPr lang="en-US" altLang="zh-CN" sz="2000" b="1" dirty="0">
                <a:solidFill>
                  <a:schemeClr val="bg1"/>
                </a:solidFill>
                <a:latin typeface="Times New Roman" pitchFamily="18" charset="0"/>
                <a:ea typeface="华文中宋" pitchFamily="2" charset="-122"/>
                <a:cs typeface="Times New Roman" pitchFamily="18" charset="0"/>
              </a:endParaRPr>
            </a:p>
            <a:p>
              <a:r>
                <a:rPr lang="zh-CN" altLang="en-US" sz="2000" b="1" dirty="0">
                  <a:solidFill>
                    <a:schemeClr val="bg1"/>
                  </a:solidFill>
                  <a:latin typeface="Times New Roman" pitchFamily="18" charset="0"/>
                  <a:ea typeface="华文中宋" pitchFamily="2" charset="-122"/>
                  <a:cs typeface="Times New Roman" pitchFamily="18" charset="0"/>
                </a:rPr>
                <a:t>所有气体分子都处于左侧体积</a:t>
              </a:r>
              <a:r>
                <a:rPr lang="en-US" altLang="zh-CN" sz="2000" b="1" i="1" dirty="0">
                  <a:solidFill>
                    <a:schemeClr val="bg1"/>
                  </a:solidFill>
                  <a:latin typeface="Times New Roman" pitchFamily="18" charset="0"/>
                  <a:ea typeface="华文中宋" pitchFamily="2" charset="-122"/>
                  <a:cs typeface="Times New Roman" pitchFamily="18" charset="0"/>
                </a:rPr>
                <a:t>V</a:t>
              </a:r>
              <a:r>
                <a:rPr lang="en-US" altLang="zh-CN" sz="2000" b="1" baseline="-30000" dirty="0">
                  <a:solidFill>
                    <a:schemeClr val="bg1"/>
                  </a:solidFill>
                  <a:latin typeface="Times New Roman" pitchFamily="18" charset="0"/>
                  <a:ea typeface="华文中宋" pitchFamily="2" charset="-122"/>
                  <a:cs typeface="Times New Roman" pitchFamily="18" charset="0"/>
                </a:rPr>
                <a:t>1</a:t>
              </a:r>
              <a:r>
                <a:rPr lang="zh-CN" altLang="en-US" sz="2000" b="1" dirty="0">
                  <a:solidFill>
                    <a:schemeClr val="bg1"/>
                  </a:solidFill>
                  <a:latin typeface="Times New Roman" pitchFamily="18" charset="0"/>
                  <a:ea typeface="华文中宋" pitchFamily="2" charset="-122"/>
                  <a:cs typeface="Times New Roman" pitchFamily="18" charset="0"/>
                </a:rPr>
                <a:t>中的几率 </a:t>
              </a:r>
            </a:p>
          </p:txBody>
        </p:sp>
      </p:grpSp>
      <p:grpSp>
        <p:nvGrpSpPr>
          <p:cNvPr id="3" name="Group 25"/>
          <p:cNvGrpSpPr>
            <a:grpSpLocks/>
          </p:cNvGrpSpPr>
          <p:nvPr/>
        </p:nvGrpSpPr>
        <p:grpSpPr bwMode="auto">
          <a:xfrm>
            <a:off x="1066800" y="4114800"/>
            <a:ext cx="4213225" cy="782638"/>
            <a:chOff x="672" y="2592"/>
            <a:chExt cx="2654" cy="493"/>
          </a:xfrm>
        </p:grpSpPr>
        <p:sp>
          <p:nvSpPr>
            <p:cNvPr id="30738" name="Text Box 12"/>
            <p:cNvSpPr txBox="1">
              <a:spLocks noChangeArrowheads="1"/>
            </p:cNvSpPr>
            <p:nvPr/>
          </p:nvSpPr>
          <p:spPr bwMode="auto">
            <a:xfrm>
              <a:off x="672" y="2707"/>
              <a:ext cx="1705" cy="271"/>
            </a:xfrm>
            <a:prstGeom prst="rect">
              <a:avLst/>
            </a:prstGeom>
            <a:noFill/>
            <a:ln w="9525">
              <a:noFill/>
              <a:miter lim="800000"/>
              <a:headEnd/>
              <a:tailEnd/>
            </a:ln>
          </p:spPr>
          <p:txBody>
            <a:bodyPr wrap="none">
              <a:spAutoFit/>
            </a:bodyPr>
            <a:lstStyle/>
            <a:p>
              <a:r>
                <a:rPr lang="zh-CN" altLang="en-US" sz="2200" b="1">
                  <a:solidFill>
                    <a:schemeClr val="bg1"/>
                  </a:solidFill>
                  <a:latin typeface="Times New Roman" pitchFamily="18" charset="0"/>
                  <a:ea typeface="华文中宋" pitchFamily="2" charset="-122"/>
                  <a:cs typeface="Times New Roman" pitchFamily="18" charset="0"/>
                </a:rPr>
                <a:t>如果只有</a:t>
              </a:r>
              <a:r>
                <a:rPr lang="en-US" altLang="zh-CN" sz="2200" b="1">
                  <a:solidFill>
                    <a:schemeClr val="bg1"/>
                  </a:solidFill>
                  <a:latin typeface="Times New Roman" pitchFamily="18" charset="0"/>
                  <a:ea typeface="华文中宋" pitchFamily="2" charset="-122"/>
                  <a:cs typeface="Times New Roman" pitchFamily="18" charset="0"/>
                </a:rPr>
                <a:t>1</a:t>
              </a:r>
              <a:r>
                <a:rPr lang="zh-CN" altLang="en-US" sz="2200" b="1">
                  <a:solidFill>
                    <a:schemeClr val="bg1"/>
                  </a:solidFill>
                  <a:latin typeface="Times New Roman" pitchFamily="18" charset="0"/>
                  <a:ea typeface="华文中宋" pitchFamily="2" charset="-122"/>
                  <a:cs typeface="Times New Roman" pitchFamily="18" charset="0"/>
                </a:rPr>
                <a:t>个分子， </a:t>
              </a:r>
            </a:p>
          </p:txBody>
        </p:sp>
        <p:graphicFrame>
          <p:nvGraphicFramePr>
            <p:cNvPr id="30725" name="Object 14"/>
            <p:cNvGraphicFramePr>
              <a:graphicFrameLocks noChangeAspect="1"/>
            </p:cNvGraphicFramePr>
            <p:nvPr/>
          </p:nvGraphicFramePr>
          <p:xfrm>
            <a:off x="2256" y="2592"/>
            <a:ext cx="1070" cy="493"/>
          </p:xfrm>
          <a:graphic>
            <a:graphicData uri="http://schemas.openxmlformats.org/presentationml/2006/ole">
              <p:oleObj spid="_x0000_s30725" r:id="rId4" imgW="850531" imgH="393529" progId="Equation.DSMT4">
                <p:embed/>
              </p:oleObj>
            </a:graphicData>
          </a:graphic>
        </p:graphicFrame>
      </p:grpSp>
      <p:grpSp>
        <p:nvGrpSpPr>
          <p:cNvPr id="4" name="Group 26"/>
          <p:cNvGrpSpPr>
            <a:grpSpLocks/>
          </p:cNvGrpSpPr>
          <p:nvPr/>
        </p:nvGrpSpPr>
        <p:grpSpPr bwMode="auto">
          <a:xfrm>
            <a:off x="1068388" y="4852988"/>
            <a:ext cx="4219575" cy="785812"/>
            <a:chOff x="673" y="3057"/>
            <a:chExt cx="2658" cy="495"/>
          </a:xfrm>
        </p:grpSpPr>
        <p:sp>
          <p:nvSpPr>
            <p:cNvPr id="30737" name="Text Box 16"/>
            <p:cNvSpPr txBox="1">
              <a:spLocks noChangeArrowheads="1"/>
            </p:cNvSpPr>
            <p:nvPr/>
          </p:nvSpPr>
          <p:spPr bwMode="auto">
            <a:xfrm>
              <a:off x="673" y="3139"/>
              <a:ext cx="1527" cy="271"/>
            </a:xfrm>
            <a:prstGeom prst="rect">
              <a:avLst/>
            </a:prstGeom>
            <a:noFill/>
            <a:ln w="9525">
              <a:noFill/>
              <a:miter lim="800000"/>
              <a:headEnd/>
              <a:tailEnd/>
            </a:ln>
          </p:spPr>
          <p:txBody>
            <a:bodyPr wrap="none">
              <a:spAutoFit/>
            </a:bodyPr>
            <a:lstStyle/>
            <a:p>
              <a:r>
                <a:rPr lang="zh-CN" altLang="en-US" sz="2200" b="1">
                  <a:solidFill>
                    <a:schemeClr val="bg1"/>
                  </a:solidFill>
                  <a:latin typeface="Times New Roman" pitchFamily="18" charset="0"/>
                  <a:ea typeface="华文中宋" pitchFamily="2" charset="-122"/>
                  <a:cs typeface="Times New Roman" pitchFamily="18" charset="0"/>
                </a:rPr>
                <a:t>如果有</a:t>
              </a:r>
              <a:r>
                <a:rPr lang="en-US" altLang="zh-CN" sz="2200" b="1">
                  <a:solidFill>
                    <a:schemeClr val="bg1"/>
                  </a:solidFill>
                  <a:latin typeface="Times New Roman" pitchFamily="18" charset="0"/>
                  <a:ea typeface="华文中宋" pitchFamily="2" charset="-122"/>
                  <a:cs typeface="Times New Roman" pitchFamily="18" charset="0"/>
                </a:rPr>
                <a:t>2</a:t>
              </a:r>
              <a:r>
                <a:rPr lang="zh-CN" altLang="en-US" sz="2200" b="1">
                  <a:solidFill>
                    <a:schemeClr val="bg1"/>
                  </a:solidFill>
                  <a:latin typeface="Times New Roman" pitchFamily="18" charset="0"/>
                  <a:ea typeface="华文中宋" pitchFamily="2" charset="-122"/>
                  <a:cs typeface="Times New Roman" pitchFamily="18" charset="0"/>
                </a:rPr>
                <a:t>个分子， </a:t>
              </a:r>
            </a:p>
          </p:txBody>
        </p:sp>
        <p:graphicFrame>
          <p:nvGraphicFramePr>
            <p:cNvPr id="30724" name="Object 17"/>
            <p:cNvGraphicFramePr>
              <a:graphicFrameLocks noChangeAspect="1"/>
            </p:cNvGraphicFramePr>
            <p:nvPr/>
          </p:nvGraphicFramePr>
          <p:xfrm>
            <a:off x="2064" y="3057"/>
            <a:ext cx="1267" cy="495"/>
          </p:xfrm>
          <a:graphic>
            <a:graphicData uri="http://schemas.openxmlformats.org/presentationml/2006/ole">
              <p:oleObj spid="_x0000_s30724" r:id="rId5" imgW="1002865" imgH="393529" progId="Equation.DSMT4">
                <p:embed/>
              </p:oleObj>
            </a:graphicData>
          </a:graphic>
        </p:graphicFrame>
      </p:grpSp>
      <p:grpSp>
        <p:nvGrpSpPr>
          <p:cNvPr id="5" name="Group 27"/>
          <p:cNvGrpSpPr>
            <a:grpSpLocks/>
          </p:cNvGrpSpPr>
          <p:nvPr/>
        </p:nvGrpSpPr>
        <p:grpSpPr bwMode="auto">
          <a:xfrm>
            <a:off x="1039813" y="5638800"/>
            <a:ext cx="8023224" cy="1238250"/>
            <a:chOff x="655" y="3552"/>
            <a:chExt cx="5054" cy="780"/>
          </a:xfrm>
        </p:grpSpPr>
        <p:sp>
          <p:nvSpPr>
            <p:cNvPr id="30735" name="Text Box 19"/>
            <p:cNvSpPr txBox="1">
              <a:spLocks noChangeArrowheads="1"/>
            </p:cNvSpPr>
            <p:nvPr/>
          </p:nvSpPr>
          <p:spPr bwMode="auto">
            <a:xfrm>
              <a:off x="655" y="3571"/>
              <a:ext cx="3092" cy="271"/>
            </a:xfrm>
            <a:prstGeom prst="rect">
              <a:avLst/>
            </a:prstGeom>
            <a:noFill/>
            <a:ln w="9525">
              <a:noFill/>
              <a:miter lim="800000"/>
              <a:headEnd/>
              <a:tailEnd/>
            </a:ln>
          </p:spPr>
          <p:txBody>
            <a:bodyPr wrap="none">
              <a:spAutoFit/>
            </a:bodyPr>
            <a:lstStyle/>
            <a:p>
              <a:r>
                <a:rPr lang="zh-CN" altLang="en-US" sz="2200" b="1">
                  <a:solidFill>
                    <a:schemeClr val="bg1"/>
                  </a:solidFill>
                  <a:latin typeface="Times New Roman" pitchFamily="18" charset="0"/>
                  <a:ea typeface="华文中宋" pitchFamily="2" charset="-122"/>
                  <a:cs typeface="Times New Roman" pitchFamily="18" charset="0"/>
                </a:rPr>
                <a:t>如果有</a:t>
              </a:r>
              <a:r>
                <a:rPr lang="en-US" altLang="zh-CN" sz="2200" b="1">
                  <a:solidFill>
                    <a:schemeClr val="bg1"/>
                  </a:solidFill>
                  <a:latin typeface="Times New Roman" pitchFamily="18" charset="0"/>
                  <a:ea typeface="华文中宋" pitchFamily="2" charset="-122"/>
                  <a:cs typeface="Times New Roman" pitchFamily="18" charset="0"/>
                </a:rPr>
                <a:t>1 mol</a:t>
              </a:r>
              <a:r>
                <a:rPr lang="zh-CN" altLang="en-US" sz="2200" b="1">
                  <a:solidFill>
                    <a:schemeClr val="bg1"/>
                  </a:solidFill>
                  <a:latin typeface="Times New Roman" pitchFamily="18" charset="0"/>
                  <a:ea typeface="华文中宋" pitchFamily="2" charset="-122"/>
                  <a:cs typeface="Times New Roman" pitchFamily="18" charset="0"/>
                </a:rPr>
                <a:t>气体，即有</a:t>
              </a:r>
              <a:r>
                <a:rPr lang="en-US" altLang="zh-CN" sz="2200" b="1">
                  <a:solidFill>
                    <a:schemeClr val="bg1"/>
                  </a:solidFill>
                  <a:latin typeface="Times New Roman" pitchFamily="18" charset="0"/>
                  <a:ea typeface="华文中宋" pitchFamily="2" charset="-122"/>
                  <a:cs typeface="Times New Roman" pitchFamily="18" charset="0"/>
                </a:rPr>
                <a:t>Avogadro</a:t>
              </a:r>
              <a:r>
                <a:rPr lang="zh-CN" altLang="en-US" sz="2200" b="1">
                  <a:solidFill>
                    <a:schemeClr val="bg1"/>
                  </a:solidFill>
                  <a:latin typeface="Times New Roman" pitchFamily="18" charset="0"/>
                  <a:ea typeface="华文中宋" pitchFamily="2" charset="-122"/>
                  <a:cs typeface="Times New Roman" pitchFamily="18" charset="0"/>
                </a:rPr>
                <a:t>常数 </a:t>
              </a:r>
            </a:p>
          </p:txBody>
        </p:sp>
        <p:graphicFrame>
          <p:nvGraphicFramePr>
            <p:cNvPr id="30722" name="Object 20"/>
            <p:cNvGraphicFramePr>
              <a:graphicFrameLocks noChangeAspect="1"/>
            </p:cNvGraphicFramePr>
            <p:nvPr/>
          </p:nvGraphicFramePr>
          <p:xfrm>
            <a:off x="3684" y="3552"/>
            <a:ext cx="1356" cy="288"/>
          </p:xfrm>
          <a:graphic>
            <a:graphicData uri="http://schemas.openxmlformats.org/presentationml/2006/ole">
              <p:oleObj spid="_x0000_s30722" r:id="rId6" imgW="1079500" imgH="228600" progId="Equation.DSMT4">
                <p:embed/>
              </p:oleObj>
            </a:graphicData>
          </a:graphic>
        </p:graphicFrame>
        <p:sp>
          <p:nvSpPr>
            <p:cNvPr id="30736" name="Text Box 22"/>
            <p:cNvSpPr txBox="1">
              <a:spLocks noChangeArrowheads="1"/>
            </p:cNvSpPr>
            <p:nvPr/>
          </p:nvSpPr>
          <p:spPr bwMode="auto">
            <a:xfrm>
              <a:off x="5003" y="3571"/>
              <a:ext cx="706" cy="271"/>
            </a:xfrm>
            <a:prstGeom prst="rect">
              <a:avLst/>
            </a:prstGeom>
            <a:noFill/>
            <a:ln w="9525">
              <a:noFill/>
              <a:miter lim="800000"/>
              <a:headEnd/>
              <a:tailEnd/>
            </a:ln>
          </p:spPr>
          <p:txBody>
            <a:bodyPr wrap="none">
              <a:spAutoFit/>
            </a:bodyPr>
            <a:lstStyle/>
            <a:p>
              <a:r>
                <a:rPr lang="zh-CN" altLang="en-US" sz="2200" b="1">
                  <a:solidFill>
                    <a:schemeClr val="bg1"/>
                  </a:solidFill>
                  <a:latin typeface="Times New Roman" pitchFamily="18" charset="0"/>
                  <a:ea typeface="华文中宋" pitchFamily="2" charset="-122"/>
                  <a:cs typeface="Times New Roman" pitchFamily="18" charset="0"/>
                </a:rPr>
                <a:t>个分子 </a:t>
              </a:r>
            </a:p>
          </p:txBody>
        </p:sp>
        <p:graphicFrame>
          <p:nvGraphicFramePr>
            <p:cNvPr id="30723" name="Object 23"/>
            <p:cNvGraphicFramePr>
              <a:graphicFrameLocks noChangeAspect="1"/>
            </p:cNvGraphicFramePr>
            <p:nvPr/>
          </p:nvGraphicFramePr>
          <p:xfrm>
            <a:off x="2292" y="3840"/>
            <a:ext cx="1356" cy="492"/>
          </p:xfrm>
          <a:graphic>
            <a:graphicData uri="http://schemas.openxmlformats.org/presentationml/2006/ole">
              <p:oleObj spid="_x0000_s30723" r:id="rId7" imgW="1079032" imgH="393529" progId="Equation.DSMT4">
                <p:embed/>
              </p:oleObj>
            </a:graphicData>
          </a:graphic>
        </p:graphicFrame>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54275"/>
                                        </p:tgtEl>
                                        <p:attrNameLst>
                                          <p:attrName>style.visibility</p:attrName>
                                        </p:attrNameLst>
                                      </p:cBhvr>
                                      <p:to>
                                        <p:strVal val="visible"/>
                                      </p:to>
                                    </p:set>
                                    <p:animEffect transition="in" filter="barn(outHorizontal)">
                                      <p:cBhvr>
                                        <p:cTn id="7" dur="500"/>
                                        <p:tgtEl>
                                          <p:spTgt spid="5427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54276"/>
                                        </p:tgtEl>
                                        <p:attrNameLst>
                                          <p:attrName>style.visibility</p:attrName>
                                        </p:attrNameLst>
                                      </p:cBhvr>
                                      <p:to>
                                        <p:strVal val="visible"/>
                                      </p:to>
                                    </p:set>
                                    <p:animEffect transition="in" filter="barn(outHorizontal)">
                                      <p:cBhvr>
                                        <p:cTn id="12" dur="500"/>
                                        <p:tgtEl>
                                          <p:spTgt spid="5427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arn(out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arn(out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arn(outHorizontal)">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arn(outHorizontal)">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autoUpdateAnimBg="0"/>
      <p:bldP spid="54276" grpId="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2" name="灯片编号占位符 3"/>
          <p:cNvSpPr>
            <a:spLocks noGrp="1"/>
          </p:cNvSpPr>
          <p:nvPr>
            <p:ph type="sldNum" sz="quarter" idx="12"/>
          </p:nvPr>
        </p:nvSpPr>
        <p:spPr>
          <a:noFill/>
        </p:spPr>
        <p:txBody>
          <a:bodyPr/>
          <a:lstStyle/>
          <a:p>
            <a:fld id="{E1F27FD0-D4A0-460E-8CE8-843DFE48005B}" type="slidenum">
              <a:rPr lang="en-US" altLang="zh-CN" smtClean="0"/>
              <a:pPr/>
              <a:t>46</a:t>
            </a:fld>
            <a:endParaRPr lang="en-US" altLang="zh-CN" smtClean="0"/>
          </a:p>
        </p:txBody>
      </p:sp>
      <p:sp>
        <p:nvSpPr>
          <p:cNvPr id="31753" name="Text Box 2"/>
          <p:cNvSpPr txBox="1">
            <a:spLocks noChangeArrowheads="1"/>
          </p:cNvSpPr>
          <p:nvPr/>
        </p:nvSpPr>
        <p:spPr bwMode="auto">
          <a:xfrm>
            <a:off x="7524750" y="0"/>
            <a:ext cx="1619250"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55299" name="Rectangle 3"/>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en-US" altLang="zh-CN" sz="4400" b="1" i="1" dirty="0">
                <a:solidFill>
                  <a:srgbClr val="FFFF00"/>
                </a:solidFill>
                <a:latin typeface="Times New Roman" pitchFamily="18" charset="0"/>
                <a:ea typeface="楷体_GB2312" pitchFamily="49" charset="-122"/>
              </a:rPr>
              <a:t>a</a:t>
            </a:r>
            <a:r>
              <a:rPr lang="en-US" altLang="zh-CN" sz="4400" b="1" dirty="0">
                <a:solidFill>
                  <a:srgbClr val="FFFF00"/>
                </a:solidFill>
                <a:latin typeface="Times New Roman" pitchFamily="18" charset="0"/>
                <a:ea typeface="楷体_GB2312" pitchFamily="49" charset="-122"/>
              </a:rPr>
              <a:t>=?</a:t>
            </a:r>
            <a:r>
              <a:rPr lang="en-US" altLang="zh-CN" sz="4400" b="1" dirty="0">
                <a:solidFill>
                  <a:srgbClr val="FFFF00"/>
                </a:solidFill>
                <a:latin typeface="楷体_GB2312" pitchFamily="49" charset="-122"/>
                <a:ea typeface="楷体_GB2312" pitchFamily="49" charset="-122"/>
              </a:rPr>
              <a:t> </a:t>
            </a:r>
          </a:p>
        </p:txBody>
      </p:sp>
      <p:sp>
        <p:nvSpPr>
          <p:cNvPr id="55300" name="Text Box 4"/>
          <p:cNvSpPr txBox="1">
            <a:spLocks noChangeArrowheads="1"/>
          </p:cNvSpPr>
          <p:nvPr/>
        </p:nvSpPr>
        <p:spPr bwMode="auto">
          <a:xfrm>
            <a:off x="762000" y="1295400"/>
            <a:ext cx="4933950" cy="457200"/>
          </a:xfrm>
          <a:prstGeom prst="rect">
            <a:avLst/>
          </a:prstGeom>
          <a:noFill/>
          <a:ln w="9525">
            <a:noFill/>
            <a:miter lim="800000"/>
            <a:headEnd/>
            <a:tailEnd/>
          </a:ln>
        </p:spPr>
        <p:txBody>
          <a:bodyPr wrap="none">
            <a:spAutoFit/>
          </a:bodyPr>
          <a:lstStyle/>
          <a:p>
            <a:r>
              <a:rPr lang="zh-CN" altLang="en-US" sz="2400" b="1" dirty="0">
                <a:solidFill>
                  <a:schemeClr val="bg1"/>
                </a:solidFill>
                <a:latin typeface="Times New Roman" pitchFamily="18" charset="0"/>
                <a:ea typeface="华文中宋" pitchFamily="2" charset="-122"/>
                <a:cs typeface="Times New Roman" pitchFamily="18" charset="0"/>
              </a:rPr>
              <a:t>如上所述的自由膨胀过程的熵变为 </a:t>
            </a:r>
          </a:p>
        </p:txBody>
      </p:sp>
      <p:graphicFrame>
        <p:nvGraphicFramePr>
          <p:cNvPr id="55301" name="Object 5"/>
          <p:cNvGraphicFramePr>
            <a:graphicFrameLocks noChangeAspect="1"/>
          </p:cNvGraphicFramePr>
          <p:nvPr/>
        </p:nvGraphicFramePr>
        <p:xfrm>
          <a:off x="1295400" y="1752600"/>
          <a:ext cx="5311775" cy="857250"/>
        </p:xfrm>
        <a:graphic>
          <a:graphicData uri="http://schemas.openxmlformats.org/presentationml/2006/ole">
            <p:oleObj spid="_x0000_s31746" r:id="rId3" imgW="2654300" imgH="431800" progId="Equation.DSMT4">
              <p:embed/>
            </p:oleObj>
          </a:graphicData>
        </a:graphic>
      </p:graphicFrame>
      <p:sp>
        <p:nvSpPr>
          <p:cNvPr id="55303" name="Text Box 7"/>
          <p:cNvSpPr txBox="1">
            <a:spLocks noChangeArrowheads="1"/>
          </p:cNvSpPr>
          <p:nvPr/>
        </p:nvSpPr>
        <p:spPr bwMode="auto">
          <a:xfrm>
            <a:off x="762000" y="2590800"/>
            <a:ext cx="8610600" cy="457200"/>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根据宏观热力学，理想气体的自由膨胀过程温度不变，熵变为 </a:t>
            </a:r>
          </a:p>
        </p:txBody>
      </p:sp>
      <p:graphicFrame>
        <p:nvGraphicFramePr>
          <p:cNvPr id="55304" name="Object 8"/>
          <p:cNvGraphicFramePr>
            <a:graphicFrameLocks noChangeAspect="1"/>
          </p:cNvGraphicFramePr>
          <p:nvPr/>
        </p:nvGraphicFramePr>
        <p:xfrm>
          <a:off x="1295400" y="3027363"/>
          <a:ext cx="1582738" cy="858837"/>
        </p:xfrm>
        <a:graphic>
          <a:graphicData uri="http://schemas.openxmlformats.org/presentationml/2006/ole">
            <p:oleObj spid="_x0000_s31747" r:id="rId4" imgW="787400" imgH="431800" progId="Equation.DSMT4">
              <p:embed/>
            </p:oleObj>
          </a:graphicData>
        </a:graphic>
      </p:graphicFrame>
      <p:sp>
        <p:nvSpPr>
          <p:cNvPr id="55306" name="Text Box 10"/>
          <p:cNvSpPr txBox="1">
            <a:spLocks noChangeArrowheads="1"/>
          </p:cNvSpPr>
          <p:nvPr/>
        </p:nvSpPr>
        <p:spPr bwMode="auto">
          <a:xfrm>
            <a:off x="762000" y="3733800"/>
            <a:ext cx="2176463" cy="457200"/>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比较两式有： </a:t>
            </a:r>
          </a:p>
        </p:txBody>
      </p:sp>
      <p:graphicFrame>
        <p:nvGraphicFramePr>
          <p:cNvPr id="55307" name="Object 11"/>
          <p:cNvGraphicFramePr>
            <a:graphicFrameLocks noChangeAspect="1"/>
          </p:cNvGraphicFramePr>
          <p:nvPr/>
        </p:nvGraphicFramePr>
        <p:xfrm>
          <a:off x="1322388" y="4191000"/>
          <a:ext cx="1116012" cy="434975"/>
        </p:xfrm>
        <a:graphic>
          <a:graphicData uri="http://schemas.openxmlformats.org/presentationml/2006/ole">
            <p:oleObj spid="_x0000_s31748" r:id="rId5" imgW="558558" imgH="215806" progId="Equation.DSMT4">
              <p:embed/>
            </p:oleObj>
          </a:graphicData>
        </a:graphic>
      </p:graphicFrame>
      <p:graphicFrame>
        <p:nvGraphicFramePr>
          <p:cNvPr id="55309" name="Object 13"/>
          <p:cNvGraphicFramePr>
            <a:graphicFrameLocks noChangeAspect="1"/>
          </p:cNvGraphicFramePr>
          <p:nvPr/>
        </p:nvGraphicFramePr>
        <p:xfrm>
          <a:off x="1295400" y="4648200"/>
          <a:ext cx="6953250" cy="914400"/>
        </p:xfrm>
        <a:graphic>
          <a:graphicData uri="http://schemas.openxmlformats.org/presentationml/2006/ole">
            <p:oleObj spid="_x0000_s31749" r:id="rId6" imgW="3479800" imgH="457200" progId="Equation.DSMT4">
              <p:embed/>
            </p:oleObj>
          </a:graphicData>
        </a:graphic>
      </p:graphicFrame>
      <p:sp>
        <p:nvSpPr>
          <p:cNvPr id="55311" name="Text Box 15"/>
          <p:cNvSpPr txBox="1">
            <a:spLocks noChangeArrowheads="1"/>
          </p:cNvSpPr>
          <p:nvPr/>
        </p:nvSpPr>
        <p:spPr bwMode="auto">
          <a:xfrm>
            <a:off x="838200" y="5527675"/>
            <a:ext cx="8037778" cy="830997"/>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这个比例常数就是通用气体常数和</a:t>
            </a:r>
            <a:r>
              <a:rPr lang="en-US" altLang="zh-CN" sz="2400" b="1">
                <a:solidFill>
                  <a:schemeClr val="bg1"/>
                </a:solidFill>
                <a:latin typeface="Times New Roman" pitchFamily="18" charset="0"/>
                <a:ea typeface="华文中宋" pitchFamily="2" charset="-122"/>
                <a:cs typeface="Times New Roman" pitchFamily="18" charset="0"/>
              </a:rPr>
              <a:t>Avogadro</a:t>
            </a:r>
            <a:r>
              <a:rPr lang="zh-CN" altLang="en-US" sz="2400" b="1">
                <a:solidFill>
                  <a:schemeClr val="bg1"/>
                </a:solidFill>
                <a:latin typeface="Times New Roman" pitchFamily="18" charset="0"/>
                <a:ea typeface="华文中宋" pitchFamily="2" charset="-122"/>
                <a:cs typeface="Times New Roman" pitchFamily="18" charset="0"/>
              </a:rPr>
              <a:t>常数之比，被</a:t>
            </a:r>
          </a:p>
          <a:p>
            <a:r>
              <a:rPr lang="zh-CN" altLang="en-US" sz="2400" b="1">
                <a:solidFill>
                  <a:schemeClr val="bg1"/>
                </a:solidFill>
                <a:latin typeface="Times New Roman" pitchFamily="18" charset="0"/>
                <a:ea typeface="华文中宋" pitchFamily="2" charset="-122"/>
                <a:cs typeface="Times New Roman" pitchFamily="18" charset="0"/>
              </a:rPr>
              <a:t>称为</a:t>
            </a:r>
            <a:r>
              <a:rPr lang="en-US" altLang="zh-CN" sz="2400" b="1">
                <a:solidFill>
                  <a:schemeClr val="bg1"/>
                </a:solidFill>
                <a:latin typeface="Times New Roman" pitchFamily="18" charset="0"/>
                <a:ea typeface="华文中宋" pitchFamily="2" charset="-122"/>
                <a:cs typeface="Times New Roman" pitchFamily="18" charset="0"/>
              </a:rPr>
              <a:t>Boltzmann</a:t>
            </a:r>
            <a:r>
              <a:rPr lang="zh-CN" altLang="en-US" sz="2400" b="1">
                <a:solidFill>
                  <a:schemeClr val="bg1"/>
                </a:solidFill>
                <a:latin typeface="Times New Roman" pitchFamily="18" charset="0"/>
                <a:ea typeface="华文中宋" pitchFamily="2" charset="-122"/>
                <a:cs typeface="Times New Roman" pitchFamily="18" charset="0"/>
              </a:rPr>
              <a:t>常数 </a:t>
            </a:r>
          </a:p>
        </p:txBody>
      </p:sp>
      <p:graphicFrame>
        <p:nvGraphicFramePr>
          <p:cNvPr id="55312" name="Object 16"/>
          <p:cNvGraphicFramePr>
            <a:graphicFrameLocks noChangeAspect="1"/>
          </p:cNvGraphicFramePr>
          <p:nvPr/>
        </p:nvGraphicFramePr>
        <p:xfrm>
          <a:off x="4267200" y="6324600"/>
          <a:ext cx="1619250" cy="452438"/>
        </p:xfrm>
        <a:graphic>
          <a:graphicData uri="http://schemas.openxmlformats.org/presentationml/2006/ole">
            <p:oleObj spid="_x0000_s31750" r:id="rId7" imgW="647419" imgH="177723" progId="Equation.DSMT4">
              <p:embed/>
            </p:oleObj>
          </a:graphicData>
        </a:graphic>
      </p:graphicFrame>
      <p:graphicFrame>
        <p:nvGraphicFramePr>
          <p:cNvPr id="55314" name="Object 18"/>
          <p:cNvGraphicFramePr>
            <a:graphicFrameLocks noChangeAspect="1"/>
          </p:cNvGraphicFramePr>
          <p:nvPr/>
        </p:nvGraphicFramePr>
        <p:xfrm>
          <a:off x="6096000" y="762000"/>
          <a:ext cx="2889250" cy="860425"/>
        </p:xfrm>
        <a:graphic>
          <a:graphicData uri="http://schemas.openxmlformats.org/presentationml/2006/ole">
            <p:oleObj spid="_x0000_s31751" r:id="rId8" imgW="1435100" imgH="431800" progId="Equation.DSMT4">
              <p:embed/>
            </p:oleObj>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55299"/>
                                        </p:tgtEl>
                                        <p:attrNameLst>
                                          <p:attrName>style.visibility</p:attrName>
                                        </p:attrNameLst>
                                      </p:cBhvr>
                                      <p:to>
                                        <p:strVal val="visible"/>
                                      </p:to>
                                    </p:set>
                                    <p:animEffect transition="in" filter="barn(outHorizontal)">
                                      <p:cBhvr>
                                        <p:cTn id="7" dur="500"/>
                                        <p:tgtEl>
                                          <p:spTgt spid="5529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55300"/>
                                        </p:tgtEl>
                                        <p:attrNameLst>
                                          <p:attrName>style.visibility</p:attrName>
                                        </p:attrNameLst>
                                      </p:cBhvr>
                                      <p:to>
                                        <p:strVal val="visible"/>
                                      </p:to>
                                    </p:set>
                                    <p:animEffect transition="in" filter="barn(outHorizontal)">
                                      <p:cBhvr>
                                        <p:cTn id="12" dur="500"/>
                                        <p:tgtEl>
                                          <p:spTgt spid="5530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55301"/>
                                        </p:tgtEl>
                                        <p:attrNameLst>
                                          <p:attrName>style.visibility</p:attrName>
                                        </p:attrNameLst>
                                      </p:cBhvr>
                                      <p:to>
                                        <p:strVal val="visible"/>
                                      </p:to>
                                    </p:set>
                                    <p:animEffect transition="in" filter="barn(outHorizontal)">
                                      <p:cBhvr>
                                        <p:cTn id="17" dur="500"/>
                                        <p:tgtEl>
                                          <p:spTgt spid="55301"/>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55314"/>
                                        </p:tgtEl>
                                        <p:attrNameLst>
                                          <p:attrName>style.visibility</p:attrName>
                                        </p:attrNameLst>
                                      </p:cBhvr>
                                      <p:to>
                                        <p:strVal val="visible"/>
                                      </p:to>
                                    </p:set>
                                    <p:animEffect transition="in" filter="barn(outHorizontal)">
                                      <p:cBhvr>
                                        <p:cTn id="22" dur="500"/>
                                        <p:tgtEl>
                                          <p:spTgt spid="5531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55303"/>
                                        </p:tgtEl>
                                        <p:attrNameLst>
                                          <p:attrName>style.visibility</p:attrName>
                                        </p:attrNameLst>
                                      </p:cBhvr>
                                      <p:to>
                                        <p:strVal val="visible"/>
                                      </p:to>
                                    </p:set>
                                    <p:animEffect transition="in" filter="barn(outHorizontal)">
                                      <p:cBhvr>
                                        <p:cTn id="27" dur="500"/>
                                        <p:tgtEl>
                                          <p:spTgt spid="55303"/>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55304"/>
                                        </p:tgtEl>
                                        <p:attrNameLst>
                                          <p:attrName>style.visibility</p:attrName>
                                        </p:attrNameLst>
                                      </p:cBhvr>
                                      <p:to>
                                        <p:strVal val="visible"/>
                                      </p:to>
                                    </p:set>
                                    <p:animEffect transition="in" filter="barn(outHorizontal)">
                                      <p:cBhvr>
                                        <p:cTn id="32" dur="500"/>
                                        <p:tgtEl>
                                          <p:spTgt spid="55304"/>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grpId="0" nodeType="clickEffect">
                                  <p:stCondLst>
                                    <p:cond delay="0"/>
                                  </p:stCondLst>
                                  <p:childTnLst>
                                    <p:set>
                                      <p:cBhvr>
                                        <p:cTn id="36" dur="1" fill="hold">
                                          <p:stCondLst>
                                            <p:cond delay="0"/>
                                          </p:stCondLst>
                                        </p:cTn>
                                        <p:tgtEl>
                                          <p:spTgt spid="55306"/>
                                        </p:tgtEl>
                                        <p:attrNameLst>
                                          <p:attrName>style.visibility</p:attrName>
                                        </p:attrNameLst>
                                      </p:cBhvr>
                                      <p:to>
                                        <p:strVal val="visible"/>
                                      </p:to>
                                    </p:set>
                                    <p:animEffect transition="in" filter="barn(outHorizontal)">
                                      <p:cBhvr>
                                        <p:cTn id="37" dur="500"/>
                                        <p:tgtEl>
                                          <p:spTgt spid="55306"/>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42" fill="hold" nodeType="clickEffect">
                                  <p:stCondLst>
                                    <p:cond delay="0"/>
                                  </p:stCondLst>
                                  <p:childTnLst>
                                    <p:set>
                                      <p:cBhvr>
                                        <p:cTn id="41" dur="1" fill="hold">
                                          <p:stCondLst>
                                            <p:cond delay="0"/>
                                          </p:stCondLst>
                                        </p:cTn>
                                        <p:tgtEl>
                                          <p:spTgt spid="55307"/>
                                        </p:tgtEl>
                                        <p:attrNameLst>
                                          <p:attrName>style.visibility</p:attrName>
                                        </p:attrNameLst>
                                      </p:cBhvr>
                                      <p:to>
                                        <p:strVal val="visible"/>
                                      </p:to>
                                    </p:set>
                                    <p:animEffect transition="in" filter="barn(outHorizontal)">
                                      <p:cBhvr>
                                        <p:cTn id="42" dur="500"/>
                                        <p:tgtEl>
                                          <p:spTgt spid="55307"/>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nodeType="clickEffect">
                                  <p:stCondLst>
                                    <p:cond delay="0"/>
                                  </p:stCondLst>
                                  <p:childTnLst>
                                    <p:set>
                                      <p:cBhvr>
                                        <p:cTn id="46" dur="1" fill="hold">
                                          <p:stCondLst>
                                            <p:cond delay="0"/>
                                          </p:stCondLst>
                                        </p:cTn>
                                        <p:tgtEl>
                                          <p:spTgt spid="55309"/>
                                        </p:tgtEl>
                                        <p:attrNameLst>
                                          <p:attrName>style.visibility</p:attrName>
                                        </p:attrNameLst>
                                      </p:cBhvr>
                                      <p:to>
                                        <p:strVal val="visible"/>
                                      </p:to>
                                    </p:set>
                                    <p:animEffect transition="in" filter="barn(outHorizontal)">
                                      <p:cBhvr>
                                        <p:cTn id="47" dur="500"/>
                                        <p:tgtEl>
                                          <p:spTgt spid="55309"/>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42" fill="hold" grpId="0" nodeType="clickEffect">
                                  <p:stCondLst>
                                    <p:cond delay="0"/>
                                  </p:stCondLst>
                                  <p:childTnLst>
                                    <p:set>
                                      <p:cBhvr>
                                        <p:cTn id="51" dur="1" fill="hold">
                                          <p:stCondLst>
                                            <p:cond delay="0"/>
                                          </p:stCondLst>
                                        </p:cTn>
                                        <p:tgtEl>
                                          <p:spTgt spid="55311"/>
                                        </p:tgtEl>
                                        <p:attrNameLst>
                                          <p:attrName>style.visibility</p:attrName>
                                        </p:attrNameLst>
                                      </p:cBhvr>
                                      <p:to>
                                        <p:strVal val="visible"/>
                                      </p:to>
                                    </p:set>
                                    <p:animEffect transition="in" filter="barn(outHorizontal)">
                                      <p:cBhvr>
                                        <p:cTn id="52" dur="500"/>
                                        <p:tgtEl>
                                          <p:spTgt spid="55311"/>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42" fill="hold" nodeType="clickEffect">
                                  <p:stCondLst>
                                    <p:cond delay="0"/>
                                  </p:stCondLst>
                                  <p:childTnLst>
                                    <p:set>
                                      <p:cBhvr>
                                        <p:cTn id="56" dur="1" fill="hold">
                                          <p:stCondLst>
                                            <p:cond delay="0"/>
                                          </p:stCondLst>
                                        </p:cTn>
                                        <p:tgtEl>
                                          <p:spTgt spid="55312"/>
                                        </p:tgtEl>
                                        <p:attrNameLst>
                                          <p:attrName>style.visibility</p:attrName>
                                        </p:attrNameLst>
                                      </p:cBhvr>
                                      <p:to>
                                        <p:strVal val="visible"/>
                                      </p:to>
                                    </p:set>
                                    <p:animEffect transition="in" filter="barn(outHorizontal)">
                                      <p:cBhvr>
                                        <p:cTn id="57" dur="500"/>
                                        <p:tgtEl>
                                          <p:spTgt spid="55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autoUpdateAnimBg="0"/>
      <p:bldP spid="55300" grpId="0" autoUpdateAnimBg="0"/>
      <p:bldP spid="55303" grpId="0" autoUpdateAnimBg="0"/>
      <p:bldP spid="55306" grpId="0" autoUpdateAnimBg="0"/>
      <p:bldP spid="55311"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灯片编号占位符 3"/>
          <p:cNvSpPr>
            <a:spLocks noGrp="1"/>
          </p:cNvSpPr>
          <p:nvPr>
            <p:ph type="sldNum" sz="quarter" idx="12"/>
          </p:nvPr>
        </p:nvSpPr>
        <p:spPr>
          <a:noFill/>
        </p:spPr>
        <p:txBody>
          <a:bodyPr/>
          <a:lstStyle/>
          <a:p>
            <a:fld id="{C56E77D6-E1FB-4AA8-8126-3F0FA929FC7D}" type="slidenum">
              <a:rPr lang="en-US" altLang="zh-CN" smtClean="0">
                <a:latin typeface="Times New Roman" pitchFamily="18" charset="0"/>
                <a:cs typeface="Times New Roman" pitchFamily="18" charset="0"/>
              </a:rPr>
              <a:pPr/>
              <a:t>47</a:t>
            </a:fld>
            <a:endParaRPr lang="en-US" altLang="zh-CN" dirty="0" smtClean="0">
              <a:latin typeface="Times New Roman" pitchFamily="18" charset="0"/>
              <a:cs typeface="Times New Roman" pitchFamily="18" charset="0"/>
            </a:endParaRPr>
          </a:p>
        </p:txBody>
      </p:sp>
      <p:sp>
        <p:nvSpPr>
          <p:cNvPr id="32772" name="Text Box 2"/>
          <p:cNvSpPr txBox="1">
            <a:spLocks noChangeArrowheads="1"/>
          </p:cNvSpPr>
          <p:nvPr/>
        </p:nvSpPr>
        <p:spPr bwMode="auto">
          <a:xfrm>
            <a:off x="7524750" y="0"/>
            <a:ext cx="1619250"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cs typeface="Times New Roman" pitchFamily="18" charset="0"/>
              </a:rPr>
              <a:t>经典统计</a:t>
            </a:r>
            <a:endParaRPr lang="zh-CN" altLang="en-US" sz="2400">
              <a:solidFill>
                <a:schemeClr val="bg1"/>
              </a:solidFill>
              <a:latin typeface="Times New Roman" pitchFamily="18" charset="0"/>
              <a:cs typeface="Times New Roman" pitchFamily="18" charset="0"/>
            </a:endParaRPr>
          </a:p>
        </p:txBody>
      </p:sp>
      <p:sp>
        <p:nvSpPr>
          <p:cNvPr id="32773" name="Rectangle 3"/>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en-US" altLang="zh-CN" sz="4400" b="1" dirty="0">
                <a:solidFill>
                  <a:schemeClr val="tx2"/>
                </a:solidFill>
                <a:latin typeface="Times New Roman" pitchFamily="18" charset="0"/>
                <a:ea typeface="黑体" pitchFamily="49" charset="-122"/>
                <a:cs typeface="Times New Roman" pitchFamily="18" charset="0"/>
              </a:rPr>
              <a:t>                 </a:t>
            </a:r>
            <a:r>
              <a:rPr lang="zh-CN" altLang="en-US" sz="4400" b="1" dirty="0">
                <a:solidFill>
                  <a:schemeClr val="tx2"/>
                </a:solidFill>
                <a:latin typeface="Times New Roman" pitchFamily="18" charset="0"/>
                <a:ea typeface="黑体" pitchFamily="49" charset="-122"/>
                <a:cs typeface="Times New Roman" pitchFamily="18" charset="0"/>
              </a:rPr>
              <a:t>的意义 </a:t>
            </a:r>
          </a:p>
        </p:txBody>
      </p:sp>
      <p:graphicFrame>
        <p:nvGraphicFramePr>
          <p:cNvPr id="32770" name="Object 4"/>
          <p:cNvGraphicFramePr>
            <a:graphicFrameLocks noChangeAspect="1"/>
          </p:cNvGraphicFramePr>
          <p:nvPr/>
        </p:nvGraphicFramePr>
        <p:xfrm>
          <a:off x="2484438" y="431800"/>
          <a:ext cx="2544762" cy="711200"/>
        </p:xfrm>
        <a:graphic>
          <a:graphicData uri="http://schemas.openxmlformats.org/presentationml/2006/ole">
            <p:oleObj spid="_x0000_s32770" r:id="rId3" imgW="647419" imgH="177723" progId="Equation.DSMT4">
              <p:embed/>
            </p:oleObj>
          </a:graphicData>
        </a:graphic>
      </p:graphicFrame>
      <p:sp>
        <p:nvSpPr>
          <p:cNvPr id="56325" name="Text Box 5"/>
          <p:cNvSpPr txBox="1">
            <a:spLocks noChangeArrowheads="1"/>
          </p:cNvSpPr>
          <p:nvPr/>
        </p:nvSpPr>
        <p:spPr bwMode="auto">
          <a:xfrm>
            <a:off x="685800" y="1125538"/>
            <a:ext cx="8275022" cy="1107996"/>
          </a:xfrm>
          <a:prstGeom prst="rect">
            <a:avLst/>
          </a:prstGeom>
          <a:noFill/>
          <a:ln w="9525">
            <a:noFill/>
            <a:miter lim="800000"/>
            <a:headEnd/>
            <a:tailEnd/>
          </a:ln>
        </p:spPr>
        <p:txBody>
          <a:bodyPr wrap="none">
            <a:spAutoFit/>
          </a:bodyPr>
          <a:lstStyle/>
          <a:p>
            <a:pPr marL="457200" indent="-457200">
              <a:buFontTx/>
              <a:buAutoNum type="arabicParenBoth"/>
            </a:pPr>
            <a:r>
              <a:rPr lang="zh-CN" altLang="en-US" sz="2200" dirty="0">
                <a:solidFill>
                  <a:schemeClr val="bg1"/>
                </a:solidFill>
                <a:latin typeface="Times New Roman" pitchFamily="18" charset="0"/>
                <a:ea typeface="华文中宋" pitchFamily="2" charset="-122"/>
                <a:cs typeface="Times New Roman" pitchFamily="18" charset="0"/>
              </a:rPr>
              <a:t>热力学第二定律和宏观不可逆性的统计解释：</a:t>
            </a:r>
            <a:r>
              <a:rPr lang="zh-CN" altLang="en-US" sz="2200" b="1" dirty="0">
                <a:solidFill>
                  <a:srgbClr val="FFFF00"/>
                </a:solidFill>
                <a:latin typeface="Times New Roman" pitchFamily="18" charset="0"/>
                <a:ea typeface="黑体" pitchFamily="2" charset="-122"/>
                <a:cs typeface="Times New Roman" pitchFamily="18" charset="0"/>
              </a:rPr>
              <a:t>孤立系统呈现出</a:t>
            </a:r>
          </a:p>
          <a:p>
            <a:pPr marL="457200" indent="-457200"/>
            <a:r>
              <a:rPr lang="zh-CN" altLang="en-US" sz="2200" b="1" dirty="0">
                <a:solidFill>
                  <a:srgbClr val="FFFF00"/>
                </a:solidFill>
                <a:latin typeface="Times New Roman" pitchFamily="18" charset="0"/>
                <a:ea typeface="黑体" pitchFamily="2" charset="-122"/>
                <a:cs typeface="Times New Roman" pitchFamily="18" charset="0"/>
              </a:rPr>
              <a:t>的熵增加的</a:t>
            </a:r>
            <a:r>
              <a:rPr lang="zh-CN" altLang="en-US" sz="2200" b="1" dirty="0" smtClean="0">
                <a:solidFill>
                  <a:srgbClr val="FFFF00"/>
                </a:solidFill>
                <a:latin typeface="Times New Roman" pitchFamily="18" charset="0"/>
                <a:ea typeface="黑体" pitchFamily="2" charset="-122"/>
                <a:cs typeface="Times New Roman" pitchFamily="18" charset="0"/>
              </a:rPr>
              <a:t>不可逆过程，从</a:t>
            </a:r>
            <a:r>
              <a:rPr lang="zh-CN" altLang="en-US" sz="2200" b="1" dirty="0">
                <a:solidFill>
                  <a:srgbClr val="FFFF00"/>
                </a:solidFill>
                <a:latin typeface="Times New Roman" pitchFamily="18" charset="0"/>
                <a:ea typeface="黑体" pitchFamily="2" charset="-122"/>
                <a:cs typeface="Times New Roman" pitchFamily="18" charset="0"/>
              </a:rPr>
              <a:t>微观上是系统从几率小到几率大</a:t>
            </a:r>
            <a:r>
              <a:rPr lang="zh-CN" altLang="en-US" sz="2200" b="1" dirty="0" smtClean="0">
                <a:solidFill>
                  <a:srgbClr val="FFFF00"/>
                </a:solidFill>
                <a:latin typeface="Times New Roman" pitchFamily="18" charset="0"/>
                <a:ea typeface="黑体" pitchFamily="2" charset="-122"/>
                <a:cs typeface="Times New Roman" pitchFamily="18" charset="0"/>
              </a:rPr>
              <a:t>状态</a:t>
            </a:r>
            <a:endParaRPr lang="en-US" altLang="zh-CN" sz="2200" b="1" dirty="0" smtClean="0">
              <a:solidFill>
                <a:srgbClr val="FFFF00"/>
              </a:solidFill>
              <a:latin typeface="Times New Roman" pitchFamily="18" charset="0"/>
              <a:ea typeface="黑体" pitchFamily="2" charset="-122"/>
              <a:cs typeface="Times New Roman" pitchFamily="18" charset="0"/>
            </a:endParaRPr>
          </a:p>
          <a:p>
            <a:pPr marL="457200" indent="-457200"/>
            <a:r>
              <a:rPr lang="zh-CN" altLang="en-US" sz="2200" b="1" dirty="0" smtClean="0">
                <a:solidFill>
                  <a:srgbClr val="FFFF00"/>
                </a:solidFill>
                <a:latin typeface="Times New Roman" pitchFamily="18" charset="0"/>
                <a:ea typeface="黑体" pitchFamily="2" charset="-122"/>
                <a:cs typeface="Times New Roman" pitchFamily="18" charset="0"/>
              </a:rPr>
              <a:t>发展的</a:t>
            </a:r>
            <a:r>
              <a:rPr lang="zh-CN" altLang="en-US" sz="2200" b="1" dirty="0">
                <a:solidFill>
                  <a:srgbClr val="FFFF00"/>
                </a:solidFill>
                <a:latin typeface="Times New Roman" pitchFamily="18" charset="0"/>
                <a:ea typeface="黑体" pitchFamily="2" charset="-122"/>
                <a:cs typeface="Times New Roman" pitchFamily="18" charset="0"/>
              </a:rPr>
              <a:t>过程</a:t>
            </a:r>
            <a:r>
              <a:rPr lang="zh-CN" altLang="en-US" sz="2200" dirty="0">
                <a:solidFill>
                  <a:schemeClr val="bg1"/>
                </a:solidFill>
                <a:latin typeface="Times New Roman" pitchFamily="18" charset="0"/>
                <a:cs typeface="Times New Roman" pitchFamily="18" charset="0"/>
              </a:rPr>
              <a:t>； </a:t>
            </a:r>
          </a:p>
        </p:txBody>
      </p:sp>
      <p:sp>
        <p:nvSpPr>
          <p:cNvPr id="56326" name="Text Box 6"/>
          <p:cNvSpPr txBox="1">
            <a:spLocks noChangeArrowheads="1"/>
          </p:cNvSpPr>
          <p:nvPr/>
        </p:nvSpPr>
        <p:spPr bwMode="auto">
          <a:xfrm>
            <a:off x="685800" y="2362200"/>
            <a:ext cx="8241359" cy="769441"/>
          </a:xfrm>
          <a:prstGeom prst="rect">
            <a:avLst/>
          </a:prstGeom>
          <a:noFill/>
          <a:ln w="9525">
            <a:noFill/>
            <a:miter lim="800000"/>
            <a:headEnd/>
            <a:tailEnd/>
          </a:ln>
        </p:spPr>
        <p:txBody>
          <a:bodyPr wrap="none">
            <a:spAutoFit/>
          </a:bodyPr>
          <a:lstStyle/>
          <a:p>
            <a:r>
              <a:rPr lang="en-US" altLang="zh-CN" sz="2200" dirty="0">
                <a:solidFill>
                  <a:schemeClr val="bg1"/>
                </a:solidFill>
                <a:latin typeface="Times New Roman" pitchFamily="18" charset="0"/>
                <a:cs typeface="Times New Roman" pitchFamily="18" charset="0"/>
              </a:rPr>
              <a:t>(2) </a:t>
            </a:r>
            <a:r>
              <a:rPr lang="zh-CN" altLang="en-US" sz="2200" dirty="0">
                <a:solidFill>
                  <a:schemeClr val="bg1"/>
                </a:solidFill>
                <a:latin typeface="Times New Roman" pitchFamily="18" charset="0"/>
                <a:ea typeface="华文中宋" pitchFamily="2" charset="-122"/>
                <a:cs typeface="Times New Roman" pitchFamily="18" charset="0"/>
              </a:rPr>
              <a:t>指出了</a:t>
            </a:r>
            <a:r>
              <a:rPr lang="zh-CN" altLang="en-US" sz="2200" b="1" dirty="0">
                <a:solidFill>
                  <a:srgbClr val="FFFF00"/>
                </a:solidFill>
                <a:latin typeface="Times New Roman" pitchFamily="18" charset="0"/>
                <a:ea typeface="黑体" pitchFamily="2" charset="-122"/>
                <a:cs typeface="Times New Roman" pitchFamily="18" charset="0"/>
              </a:rPr>
              <a:t>热力学第二定律的应用范围，即只适用于由大量粒子</a:t>
            </a:r>
            <a:r>
              <a:rPr lang="zh-CN" altLang="en-US" sz="2200" b="1" dirty="0" smtClean="0">
                <a:solidFill>
                  <a:srgbClr val="FFFF00"/>
                </a:solidFill>
                <a:latin typeface="Times New Roman" pitchFamily="18" charset="0"/>
                <a:ea typeface="黑体" pitchFamily="2" charset="-122"/>
                <a:cs typeface="Times New Roman" pitchFamily="18" charset="0"/>
              </a:rPr>
              <a:t>组</a:t>
            </a:r>
            <a:endParaRPr lang="en-US" altLang="zh-CN" sz="2200" b="1" dirty="0" smtClean="0">
              <a:solidFill>
                <a:srgbClr val="FFFF00"/>
              </a:solidFill>
              <a:latin typeface="Times New Roman" pitchFamily="18" charset="0"/>
              <a:ea typeface="黑体" pitchFamily="2" charset="-122"/>
              <a:cs typeface="Times New Roman" pitchFamily="18" charset="0"/>
            </a:endParaRPr>
          </a:p>
          <a:p>
            <a:r>
              <a:rPr lang="zh-CN" altLang="en-US" sz="2200" b="1" dirty="0" smtClean="0">
                <a:solidFill>
                  <a:srgbClr val="FFFF00"/>
                </a:solidFill>
                <a:latin typeface="Times New Roman" pitchFamily="18" charset="0"/>
                <a:ea typeface="黑体" pitchFamily="2" charset="-122"/>
                <a:cs typeface="Times New Roman" pitchFamily="18" charset="0"/>
              </a:rPr>
              <a:t>成的</a:t>
            </a:r>
            <a:r>
              <a:rPr lang="zh-CN" altLang="en-US" sz="2200" b="1" dirty="0">
                <a:solidFill>
                  <a:srgbClr val="FFFF00"/>
                </a:solidFill>
                <a:latin typeface="Times New Roman" pitchFamily="18" charset="0"/>
                <a:ea typeface="黑体" pitchFamily="2" charset="-122"/>
                <a:cs typeface="Times New Roman" pitchFamily="18" charset="0"/>
              </a:rPr>
              <a:t>系统</a:t>
            </a:r>
            <a:r>
              <a:rPr lang="zh-CN" altLang="en-US" sz="2200" dirty="0">
                <a:solidFill>
                  <a:schemeClr val="bg1"/>
                </a:solidFill>
                <a:latin typeface="Times New Roman" pitchFamily="18" charset="0"/>
                <a:cs typeface="Times New Roman" pitchFamily="18" charset="0"/>
              </a:rPr>
              <a:t>，</a:t>
            </a:r>
            <a:r>
              <a:rPr lang="zh-CN" altLang="en-US" sz="2200" dirty="0">
                <a:solidFill>
                  <a:schemeClr val="bg1"/>
                </a:solidFill>
                <a:latin typeface="Times New Roman" pitchFamily="18" charset="0"/>
                <a:ea typeface="华文中宋" pitchFamily="2" charset="-122"/>
                <a:cs typeface="Times New Roman" pitchFamily="18" charset="0"/>
              </a:rPr>
              <a:t>只有这样的系统关于几率的讨论才具有普遍意义； </a:t>
            </a:r>
          </a:p>
        </p:txBody>
      </p:sp>
      <p:sp>
        <p:nvSpPr>
          <p:cNvPr id="56327" name="Text Box 7"/>
          <p:cNvSpPr txBox="1">
            <a:spLocks noChangeArrowheads="1"/>
          </p:cNvSpPr>
          <p:nvPr/>
        </p:nvSpPr>
        <p:spPr bwMode="auto">
          <a:xfrm>
            <a:off x="646113" y="3276600"/>
            <a:ext cx="8670963" cy="1446550"/>
          </a:xfrm>
          <a:prstGeom prst="rect">
            <a:avLst/>
          </a:prstGeom>
          <a:noFill/>
          <a:ln w="9525">
            <a:noFill/>
            <a:miter lim="800000"/>
            <a:headEnd/>
            <a:tailEnd/>
          </a:ln>
        </p:spPr>
        <p:txBody>
          <a:bodyPr wrap="none">
            <a:spAutoFit/>
          </a:bodyPr>
          <a:lstStyle/>
          <a:p>
            <a:r>
              <a:rPr lang="en-US" altLang="zh-CN" sz="2200" dirty="0">
                <a:solidFill>
                  <a:schemeClr val="bg1"/>
                </a:solidFill>
                <a:latin typeface="Times New Roman" pitchFamily="18" charset="0"/>
                <a:cs typeface="Times New Roman" pitchFamily="18" charset="0"/>
              </a:rPr>
              <a:t>(3) </a:t>
            </a:r>
            <a:r>
              <a:rPr lang="zh-CN" altLang="en-US" sz="2200" dirty="0">
                <a:solidFill>
                  <a:schemeClr val="bg1"/>
                </a:solidFill>
                <a:latin typeface="Times New Roman" pitchFamily="18" charset="0"/>
                <a:ea typeface="华文中宋" pitchFamily="2" charset="-122"/>
                <a:cs typeface="Times New Roman" pitchFamily="18" charset="0"/>
              </a:rPr>
              <a:t>在绝对</a:t>
            </a:r>
            <a:r>
              <a:rPr lang="en-US" altLang="zh-CN" sz="2200" dirty="0">
                <a:solidFill>
                  <a:schemeClr val="bg1"/>
                </a:solidFill>
                <a:latin typeface="Times New Roman" pitchFamily="18" charset="0"/>
                <a:ea typeface="华文中宋" pitchFamily="2" charset="-122"/>
                <a:cs typeface="Times New Roman" pitchFamily="18" charset="0"/>
              </a:rPr>
              <a:t>0 K</a:t>
            </a:r>
            <a:r>
              <a:rPr lang="zh-CN" altLang="en-US" sz="2200" dirty="0">
                <a:solidFill>
                  <a:schemeClr val="bg1"/>
                </a:solidFill>
                <a:latin typeface="Times New Roman" pitchFamily="18" charset="0"/>
                <a:ea typeface="华文中宋" pitchFamily="2" charset="-122"/>
                <a:cs typeface="Times New Roman" pitchFamily="18" charset="0"/>
              </a:rPr>
              <a:t>时，根据量子力学尽管理想晶体的微观粒子仍有能量，</a:t>
            </a:r>
          </a:p>
          <a:p>
            <a:r>
              <a:rPr lang="zh-CN" altLang="en-US" sz="2200" dirty="0">
                <a:solidFill>
                  <a:schemeClr val="bg1"/>
                </a:solidFill>
                <a:latin typeface="Times New Roman" pitchFamily="18" charset="0"/>
                <a:ea typeface="华文中宋" pitchFamily="2" charset="-122"/>
                <a:cs typeface="Times New Roman" pitchFamily="18" charset="0"/>
              </a:rPr>
              <a:t>但均处于其零点能，因此系统的微观状态是唯一确定的，根据上式</a:t>
            </a:r>
          </a:p>
          <a:p>
            <a:r>
              <a:rPr lang="zh-CN" altLang="en-US" sz="2200" dirty="0">
                <a:solidFill>
                  <a:schemeClr val="bg1"/>
                </a:solidFill>
                <a:latin typeface="Times New Roman" pitchFamily="18" charset="0"/>
                <a:ea typeface="华文中宋" pitchFamily="2" charset="-122"/>
                <a:cs typeface="Times New Roman" pitchFamily="18" charset="0"/>
              </a:rPr>
              <a:t>此时的熵为</a:t>
            </a:r>
            <a:r>
              <a:rPr lang="en-US" altLang="zh-CN" sz="2200" dirty="0">
                <a:solidFill>
                  <a:schemeClr val="bg1"/>
                </a:solidFill>
                <a:latin typeface="Times New Roman" pitchFamily="18" charset="0"/>
                <a:ea typeface="华文中宋" pitchFamily="2" charset="-122"/>
                <a:cs typeface="Times New Roman" pitchFamily="18" charset="0"/>
              </a:rPr>
              <a:t>0</a:t>
            </a:r>
            <a:r>
              <a:rPr lang="zh-CN" altLang="en-US" sz="2200" dirty="0">
                <a:solidFill>
                  <a:schemeClr val="bg1"/>
                </a:solidFill>
                <a:latin typeface="Times New Roman" pitchFamily="18" charset="0"/>
                <a:ea typeface="华文中宋" pitchFamily="2" charset="-122"/>
                <a:cs typeface="Times New Roman" pitchFamily="18" charset="0"/>
              </a:rPr>
              <a:t>，这与热力学第三定律的结论相同，可以说这个公式同</a:t>
            </a:r>
          </a:p>
          <a:p>
            <a:r>
              <a:rPr lang="zh-CN" altLang="en-US" sz="2200" dirty="0">
                <a:solidFill>
                  <a:schemeClr val="bg1"/>
                </a:solidFill>
                <a:latin typeface="Times New Roman" pitchFamily="18" charset="0"/>
                <a:ea typeface="华文中宋" pitchFamily="2" charset="-122"/>
                <a:cs typeface="Times New Roman" pitchFamily="18" charset="0"/>
              </a:rPr>
              <a:t>时也</a:t>
            </a:r>
            <a:r>
              <a:rPr lang="zh-CN" altLang="en-US" sz="2200" b="1" dirty="0">
                <a:solidFill>
                  <a:srgbClr val="FFFF00"/>
                </a:solidFill>
                <a:latin typeface="Times New Roman" pitchFamily="18" charset="0"/>
                <a:ea typeface="黑体" pitchFamily="2" charset="-122"/>
                <a:cs typeface="Times New Roman" pitchFamily="18" charset="0"/>
              </a:rPr>
              <a:t>提供了一种热力学第三定律的统计解释</a:t>
            </a:r>
            <a:r>
              <a:rPr lang="zh-CN" altLang="en-US" sz="2200" dirty="0">
                <a:solidFill>
                  <a:schemeClr val="bg1"/>
                </a:solidFill>
                <a:latin typeface="Times New Roman" pitchFamily="18" charset="0"/>
                <a:cs typeface="Times New Roman" pitchFamily="18" charset="0"/>
              </a:rPr>
              <a:t>； </a:t>
            </a:r>
          </a:p>
        </p:txBody>
      </p:sp>
      <p:sp>
        <p:nvSpPr>
          <p:cNvPr id="56328" name="Text Box 8"/>
          <p:cNvSpPr txBox="1">
            <a:spLocks noChangeArrowheads="1"/>
          </p:cNvSpPr>
          <p:nvPr/>
        </p:nvSpPr>
        <p:spPr bwMode="auto">
          <a:xfrm>
            <a:off x="714375" y="4953000"/>
            <a:ext cx="8485015" cy="1446550"/>
          </a:xfrm>
          <a:prstGeom prst="rect">
            <a:avLst/>
          </a:prstGeom>
          <a:noFill/>
          <a:ln w="9525">
            <a:noFill/>
            <a:miter lim="800000"/>
            <a:headEnd/>
            <a:tailEnd/>
          </a:ln>
        </p:spPr>
        <p:txBody>
          <a:bodyPr wrap="none">
            <a:spAutoFit/>
          </a:bodyPr>
          <a:lstStyle/>
          <a:p>
            <a:r>
              <a:rPr lang="en-US" altLang="zh-CN" sz="2200" dirty="0">
                <a:solidFill>
                  <a:schemeClr val="bg1"/>
                </a:solidFill>
                <a:latin typeface="Times New Roman" pitchFamily="18" charset="0"/>
                <a:cs typeface="Times New Roman" pitchFamily="18" charset="0"/>
              </a:rPr>
              <a:t>(4) </a:t>
            </a:r>
            <a:r>
              <a:rPr lang="zh-CN" altLang="en-US" sz="2200" dirty="0">
                <a:solidFill>
                  <a:schemeClr val="bg1"/>
                </a:solidFill>
                <a:latin typeface="Times New Roman" pitchFamily="18" charset="0"/>
                <a:ea typeface="华文中宋" pitchFamily="2" charset="-122"/>
                <a:cs typeface="Times New Roman" pitchFamily="18" charset="0"/>
              </a:rPr>
              <a:t>尽管热力学第二定律隐含着一个假定，在非平衡态也存在着一个</a:t>
            </a:r>
          </a:p>
          <a:p>
            <a:r>
              <a:rPr lang="zh-CN" altLang="en-US" sz="2200" dirty="0">
                <a:solidFill>
                  <a:schemeClr val="bg1"/>
                </a:solidFill>
                <a:latin typeface="Times New Roman" pitchFamily="18" charset="0"/>
                <a:ea typeface="华文中宋" pitchFamily="2" charset="-122"/>
                <a:cs typeface="Times New Roman" pitchFamily="18" charset="0"/>
              </a:rPr>
              <a:t>熵函数，但具体计算问题无法在平衡态热力学中得到解决，而从统</a:t>
            </a:r>
          </a:p>
          <a:p>
            <a:r>
              <a:rPr lang="zh-CN" altLang="en-US" sz="2200" dirty="0">
                <a:solidFill>
                  <a:schemeClr val="bg1"/>
                </a:solidFill>
                <a:latin typeface="Times New Roman" pitchFamily="18" charset="0"/>
                <a:ea typeface="华文中宋" pitchFamily="2" charset="-122"/>
                <a:cs typeface="Times New Roman" pitchFamily="18" charset="0"/>
              </a:rPr>
              <a:t>计熵出发我们看到，</a:t>
            </a:r>
            <a:r>
              <a:rPr lang="zh-CN" altLang="en-US" sz="2200" b="1" dirty="0">
                <a:solidFill>
                  <a:srgbClr val="FFFF00"/>
                </a:solidFill>
                <a:latin typeface="Times New Roman" pitchFamily="18" charset="0"/>
                <a:ea typeface="黑体" pitchFamily="2" charset="-122"/>
                <a:cs typeface="Times New Roman" pitchFamily="18" charset="0"/>
              </a:rPr>
              <a:t>只要能够计算非平衡态的微观态数</a:t>
            </a:r>
            <a:r>
              <a:rPr lang="en-US" altLang="zh-CN" sz="2200" dirty="0">
                <a:solidFill>
                  <a:schemeClr val="bg1"/>
                </a:solidFill>
                <a:latin typeface="Times New Roman" pitchFamily="18" charset="0"/>
                <a:ea typeface="华文中宋" pitchFamily="2" charset="-122"/>
                <a:cs typeface="Times New Roman" pitchFamily="18" charset="0"/>
              </a:rPr>
              <a:t>(</a:t>
            </a:r>
            <a:r>
              <a:rPr lang="zh-CN" altLang="en-US" sz="2200" dirty="0">
                <a:solidFill>
                  <a:schemeClr val="bg1"/>
                </a:solidFill>
                <a:latin typeface="Times New Roman" pitchFamily="18" charset="0"/>
                <a:ea typeface="华文中宋" pitchFamily="2" charset="-122"/>
                <a:cs typeface="Times New Roman" pitchFamily="18" charset="0"/>
              </a:rPr>
              <a:t>这原则上是</a:t>
            </a:r>
          </a:p>
          <a:p>
            <a:r>
              <a:rPr lang="zh-CN" altLang="en-US" sz="2200" dirty="0">
                <a:solidFill>
                  <a:schemeClr val="bg1"/>
                </a:solidFill>
                <a:latin typeface="Times New Roman" pitchFamily="18" charset="0"/>
                <a:ea typeface="华文中宋" pitchFamily="2" charset="-122"/>
                <a:cs typeface="Times New Roman" pitchFamily="18" charset="0"/>
              </a:rPr>
              <a:t>可以做到的</a:t>
            </a:r>
            <a:r>
              <a:rPr lang="en-US" altLang="zh-CN" sz="2200" dirty="0">
                <a:solidFill>
                  <a:schemeClr val="bg1"/>
                </a:solidFill>
                <a:latin typeface="Times New Roman" pitchFamily="18" charset="0"/>
                <a:ea typeface="华文中宋" pitchFamily="2" charset="-122"/>
                <a:cs typeface="Times New Roman" pitchFamily="18" charset="0"/>
              </a:rPr>
              <a:t>)</a:t>
            </a:r>
            <a:r>
              <a:rPr lang="zh-CN" altLang="en-US" sz="2200" dirty="0">
                <a:solidFill>
                  <a:schemeClr val="bg1"/>
                </a:solidFill>
                <a:latin typeface="Times New Roman" pitchFamily="18" charset="0"/>
                <a:cs typeface="Times New Roman" pitchFamily="18" charset="0"/>
              </a:rPr>
              <a:t>，</a:t>
            </a:r>
            <a:r>
              <a:rPr lang="zh-CN" altLang="en-US" sz="2200" b="1" dirty="0">
                <a:solidFill>
                  <a:srgbClr val="FFFF00"/>
                </a:solidFill>
                <a:latin typeface="Times New Roman" pitchFamily="18" charset="0"/>
                <a:ea typeface="黑体" pitchFamily="2" charset="-122"/>
                <a:cs typeface="Times New Roman" pitchFamily="18" charset="0"/>
              </a:rPr>
              <a:t>就能够计算非平衡态的熵</a:t>
            </a:r>
            <a:r>
              <a:rPr lang="zh-CN" altLang="en-US" sz="2200" dirty="0">
                <a:solidFill>
                  <a:schemeClr val="bg1"/>
                </a:solidFill>
                <a:latin typeface="Times New Roman" pitchFamily="18" charset="0"/>
                <a:cs typeface="Times New Roman" pitchFamily="18" charset="0"/>
              </a:rPr>
              <a:t>； </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56325"/>
                                        </p:tgtEl>
                                        <p:attrNameLst>
                                          <p:attrName>style.visibility</p:attrName>
                                        </p:attrNameLst>
                                      </p:cBhvr>
                                      <p:to>
                                        <p:strVal val="visible"/>
                                      </p:to>
                                    </p:set>
                                    <p:animEffect transition="in" filter="barn(outHorizontal)">
                                      <p:cBhvr>
                                        <p:cTn id="7" dur="500"/>
                                        <p:tgtEl>
                                          <p:spTgt spid="5632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56326"/>
                                        </p:tgtEl>
                                        <p:attrNameLst>
                                          <p:attrName>style.visibility</p:attrName>
                                        </p:attrNameLst>
                                      </p:cBhvr>
                                      <p:to>
                                        <p:strVal val="visible"/>
                                      </p:to>
                                    </p:set>
                                    <p:animEffect transition="in" filter="barn(outHorizontal)">
                                      <p:cBhvr>
                                        <p:cTn id="12" dur="500"/>
                                        <p:tgtEl>
                                          <p:spTgt spid="5632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56327"/>
                                        </p:tgtEl>
                                        <p:attrNameLst>
                                          <p:attrName>style.visibility</p:attrName>
                                        </p:attrNameLst>
                                      </p:cBhvr>
                                      <p:to>
                                        <p:strVal val="visible"/>
                                      </p:to>
                                    </p:set>
                                    <p:animEffect transition="in" filter="barn(outHorizontal)">
                                      <p:cBhvr>
                                        <p:cTn id="17" dur="500"/>
                                        <p:tgtEl>
                                          <p:spTgt spid="5632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56328"/>
                                        </p:tgtEl>
                                        <p:attrNameLst>
                                          <p:attrName>style.visibility</p:attrName>
                                        </p:attrNameLst>
                                      </p:cBhvr>
                                      <p:to>
                                        <p:strVal val="visible"/>
                                      </p:to>
                                    </p:set>
                                    <p:animEffect transition="in" filter="barn(outHorizontal)">
                                      <p:cBhvr>
                                        <p:cTn id="22" dur="500"/>
                                        <p:tgtEl>
                                          <p:spTgt spid="56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5" grpId="0" autoUpdateAnimBg="0"/>
      <p:bldP spid="56326" grpId="0" autoUpdateAnimBg="0"/>
      <p:bldP spid="56327" grpId="0" autoUpdateAnimBg="0"/>
      <p:bldP spid="56328"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Text Box 2"/>
          <p:cNvSpPr txBox="1">
            <a:spLocks noChangeArrowheads="1"/>
          </p:cNvSpPr>
          <p:nvPr/>
        </p:nvSpPr>
        <p:spPr bwMode="auto">
          <a:xfrm>
            <a:off x="7524750" y="0"/>
            <a:ext cx="1619250"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33796" name="Rectangle 3"/>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en-US" altLang="zh-CN" sz="4400" b="1" dirty="0">
                <a:solidFill>
                  <a:schemeClr val="tx2"/>
                </a:solidFill>
                <a:latin typeface="Times New Roman" pitchFamily="18" charset="0"/>
                <a:ea typeface="黑体" pitchFamily="49" charset="-122"/>
                <a:cs typeface="Times New Roman" pitchFamily="18" charset="0"/>
              </a:rPr>
              <a:t>                 </a:t>
            </a:r>
            <a:r>
              <a:rPr lang="zh-CN" altLang="en-US" sz="4400" b="1" dirty="0">
                <a:solidFill>
                  <a:schemeClr val="tx2"/>
                </a:solidFill>
                <a:latin typeface="Times New Roman" pitchFamily="18" charset="0"/>
                <a:ea typeface="黑体" pitchFamily="49" charset="-122"/>
                <a:cs typeface="Times New Roman" pitchFamily="18" charset="0"/>
              </a:rPr>
              <a:t>的意义 </a:t>
            </a:r>
          </a:p>
        </p:txBody>
      </p:sp>
      <p:graphicFrame>
        <p:nvGraphicFramePr>
          <p:cNvPr id="33794" name="Object 4"/>
          <p:cNvGraphicFramePr>
            <a:graphicFrameLocks noChangeAspect="1"/>
          </p:cNvGraphicFramePr>
          <p:nvPr/>
        </p:nvGraphicFramePr>
        <p:xfrm>
          <a:off x="2484438" y="431800"/>
          <a:ext cx="2544762" cy="711200"/>
        </p:xfrm>
        <a:graphic>
          <a:graphicData uri="http://schemas.openxmlformats.org/presentationml/2006/ole">
            <p:oleObj spid="_x0000_s33794" name="Equation" r:id="rId3" imgW="647640" imgH="177480" progId="Equation.DSMT4">
              <p:embed/>
            </p:oleObj>
          </a:graphicData>
        </a:graphic>
      </p:graphicFrame>
      <p:sp>
        <p:nvSpPr>
          <p:cNvPr id="33800" name="Text Box 5"/>
          <p:cNvSpPr txBox="1">
            <a:spLocks noChangeArrowheads="1"/>
          </p:cNvSpPr>
          <p:nvPr/>
        </p:nvSpPr>
        <p:spPr bwMode="auto">
          <a:xfrm>
            <a:off x="685800" y="1143000"/>
            <a:ext cx="8045450" cy="1200150"/>
          </a:xfrm>
          <a:prstGeom prst="rect">
            <a:avLst/>
          </a:prstGeom>
          <a:noFill/>
          <a:ln w="9525">
            <a:noFill/>
            <a:miter lim="800000"/>
            <a:headEnd/>
            <a:tailEnd/>
          </a:ln>
        </p:spPr>
        <p:txBody>
          <a:bodyPr wrap="none">
            <a:spAutoFit/>
          </a:bodyPr>
          <a:lstStyle/>
          <a:p>
            <a:r>
              <a:rPr lang="en-US" altLang="zh-CN" sz="2400" b="1">
                <a:solidFill>
                  <a:schemeClr val="bg1"/>
                </a:solidFill>
                <a:latin typeface="Times New Roman" pitchFamily="18" charset="0"/>
                <a:ea typeface="华文中宋" pitchFamily="2" charset="-122"/>
                <a:cs typeface="Times New Roman" pitchFamily="18" charset="0"/>
              </a:rPr>
              <a:t>(5) </a:t>
            </a:r>
            <a:r>
              <a:rPr lang="zh-CN" altLang="en-US" sz="2400" b="1">
                <a:solidFill>
                  <a:schemeClr val="bg1"/>
                </a:solidFill>
                <a:latin typeface="Times New Roman" pitchFamily="18" charset="0"/>
                <a:ea typeface="华文中宋" pitchFamily="2" charset="-122"/>
                <a:cs typeface="Times New Roman" pitchFamily="18" charset="0"/>
              </a:rPr>
              <a:t>宏观热力学中指出，孤立系统中不可逆过程熵的变化是</a:t>
            </a:r>
            <a:endParaRPr lang="en-US" altLang="zh-CN" sz="2400" b="1">
              <a:solidFill>
                <a:schemeClr val="bg1"/>
              </a:solidFill>
              <a:latin typeface="Times New Roman" pitchFamily="18" charset="0"/>
              <a:ea typeface="华文中宋" pitchFamily="2" charset="-122"/>
              <a:cs typeface="Times New Roman" pitchFamily="18" charset="0"/>
            </a:endParaRPr>
          </a:p>
          <a:p>
            <a:r>
              <a:rPr lang="zh-CN" altLang="en-US" sz="2400" b="1">
                <a:solidFill>
                  <a:schemeClr val="bg1"/>
                </a:solidFill>
                <a:latin typeface="Times New Roman" pitchFamily="18" charset="0"/>
                <a:ea typeface="华文中宋" pitchFamily="2" charset="-122"/>
                <a:cs typeface="Times New Roman" pitchFamily="18" charset="0"/>
              </a:rPr>
              <a:t>单向的，即只能增加不能减少。</a:t>
            </a:r>
            <a:endParaRPr lang="en-US" altLang="zh-CN" sz="2400" b="1">
              <a:solidFill>
                <a:schemeClr val="bg1"/>
              </a:solidFill>
              <a:latin typeface="Times New Roman" pitchFamily="18" charset="0"/>
              <a:ea typeface="华文中宋" pitchFamily="2" charset="-122"/>
              <a:cs typeface="Times New Roman" pitchFamily="18" charset="0"/>
            </a:endParaRPr>
          </a:p>
          <a:p>
            <a:endParaRPr lang="en-US" altLang="zh-CN" sz="2400" b="1">
              <a:solidFill>
                <a:schemeClr val="bg1"/>
              </a:solidFill>
              <a:latin typeface="Times New Roman" pitchFamily="18" charset="0"/>
              <a:ea typeface="华文中宋" pitchFamily="2" charset="-122"/>
              <a:cs typeface="Times New Roman" pitchFamily="18" charset="0"/>
            </a:endParaRPr>
          </a:p>
        </p:txBody>
      </p:sp>
      <p:sp>
        <p:nvSpPr>
          <p:cNvPr id="9" name="Text Box 5"/>
          <p:cNvSpPr txBox="1">
            <a:spLocks noChangeArrowheads="1"/>
          </p:cNvSpPr>
          <p:nvPr/>
        </p:nvSpPr>
        <p:spPr bwMode="auto">
          <a:xfrm>
            <a:off x="714375" y="2143125"/>
            <a:ext cx="7999306" cy="2308324"/>
          </a:xfrm>
          <a:prstGeom prst="rect">
            <a:avLst/>
          </a:prstGeom>
          <a:noFill/>
          <a:ln w="9525">
            <a:noFill/>
            <a:miter lim="800000"/>
            <a:headEnd/>
            <a:tailEnd/>
          </a:ln>
        </p:spPr>
        <p:txBody>
          <a:bodyPr wrap="none">
            <a:spAutoFit/>
          </a:bodyPr>
          <a:lstStyle/>
          <a:p>
            <a:r>
              <a:rPr lang="en-US" altLang="zh-CN" sz="2400" b="1" dirty="0">
                <a:solidFill>
                  <a:schemeClr val="bg1"/>
                </a:solidFill>
                <a:latin typeface="Times New Roman" pitchFamily="18" charset="0"/>
                <a:ea typeface="华文中宋" pitchFamily="2" charset="-122"/>
                <a:cs typeface="Times New Roman" pitchFamily="18" charset="0"/>
              </a:rPr>
              <a:t>1876</a:t>
            </a:r>
            <a:r>
              <a:rPr lang="zh-CN" altLang="en-US" sz="2400" b="1" dirty="0">
                <a:solidFill>
                  <a:schemeClr val="bg1"/>
                </a:solidFill>
                <a:latin typeface="Times New Roman" pitchFamily="18" charset="0"/>
                <a:ea typeface="华文中宋" pitchFamily="2" charset="-122"/>
                <a:cs typeface="Times New Roman" pitchFamily="18" charset="0"/>
              </a:rPr>
              <a:t>年，洛施密特</a:t>
            </a:r>
            <a:r>
              <a:rPr lang="en-US" altLang="zh-CN" sz="2400" b="1" dirty="0">
                <a:solidFill>
                  <a:schemeClr val="bg1"/>
                </a:solidFill>
                <a:latin typeface="Times New Roman" pitchFamily="18" charset="0"/>
                <a:ea typeface="华文中宋" pitchFamily="2" charset="-122"/>
                <a:cs typeface="Times New Roman" pitchFamily="18" charset="0"/>
              </a:rPr>
              <a:t>(L. </a:t>
            </a:r>
            <a:r>
              <a:rPr lang="en-US" altLang="zh-CN" sz="2400" b="1" dirty="0" err="1">
                <a:solidFill>
                  <a:schemeClr val="bg1"/>
                </a:solidFill>
                <a:latin typeface="Times New Roman" pitchFamily="18" charset="0"/>
                <a:ea typeface="华文中宋" pitchFamily="2" charset="-122"/>
                <a:cs typeface="Times New Roman" pitchFamily="18" charset="0"/>
              </a:rPr>
              <a:t>Loschmidt</a:t>
            </a:r>
            <a:r>
              <a:rPr lang="en-US" altLang="zh-CN" sz="2400" b="1" dirty="0">
                <a:solidFill>
                  <a:schemeClr val="bg1"/>
                </a:solidFill>
                <a:latin typeface="Times New Roman" pitchFamily="18" charset="0"/>
                <a:ea typeface="华文中宋" pitchFamily="2" charset="-122"/>
                <a:cs typeface="Times New Roman" pitchFamily="18" charset="0"/>
              </a:rPr>
              <a:t>)</a:t>
            </a:r>
            <a:r>
              <a:rPr lang="zh-CN" altLang="en-US" sz="2400" b="1" dirty="0">
                <a:solidFill>
                  <a:schemeClr val="bg1"/>
                </a:solidFill>
                <a:latin typeface="Times New Roman" pitchFamily="18" charset="0"/>
                <a:ea typeface="华文中宋" pitchFamily="2" charset="-122"/>
                <a:cs typeface="Times New Roman" pitchFamily="18" charset="0"/>
              </a:rPr>
              <a:t>对热力学第二定律提出了</a:t>
            </a:r>
            <a:endParaRPr lang="en-US" altLang="zh-CN" sz="2400" b="1" dirty="0">
              <a:solidFill>
                <a:schemeClr val="bg1"/>
              </a:solidFill>
              <a:latin typeface="Times New Roman" pitchFamily="18" charset="0"/>
              <a:ea typeface="华文中宋" pitchFamily="2" charset="-122"/>
              <a:cs typeface="Times New Roman" pitchFamily="18" charset="0"/>
            </a:endParaRPr>
          </a:p>
          <a:p>
            <a:r>
              <a:rPr lang="zh-CN" altLang="en-US" sz="2400" b="1" dirty="0">
                <a:solidFill>
                  <a:schemeClr val="bg1"/>
                </a:solidFill>
                <a:latin typeface="Times New Roman" pitchFamily="18" charset="0"/>
                <a:ea typeface="华文中宋" pitchFamily="2" charset="-122"/>
                <a:cs typeface="Times New Roman" pitchFamily="18" charset="0"/>
              </a:rPr>
              <a:t>一个著名的诘难－</a:t>
            </a:r>
            <a:r>
              <a:rPr lang="zh-CN" altLang="en-US" sz="2400" b="1" dirty="0">
                <a:solidFill>
                  <a:srgbClr val="FFFF00"/>
                </a:solidFill>
                <a:latin typeface="Times New Roman" pitchFamily="18" charset="0"/>
                <a:ea typeface="华文中宋" pitchFamily="2" charset="-122"/>
                <a:cs typeface="Times New Roman" pitchFamily="18" charset="0"/>
              </a:rPr>
              <a:t>反向运动问题</a:t>
            </a:r>
            <a:r>
              <a:rPr lang="zh-CN" altLang="en-US" sz="2400" b="1" dirty="0">
                <a:solidFill>
                  <a:schemeClr val="bg1"/>
                </a:solidFill>
                <a:latin typeface="Times New Roman" pitchFamily="18" charset="0"/>
                <a:ea typeface="华文中宋" pitchFamily="2" charset="-122"/>
                <a:cs typeface="Times New Roman" pitchFamily="18" charset="0"/>
              </a:rPr>
              <a:t>：由于微观粒子的运动是</a:t>
            </a:r>
            <a:endParaRPr lang="en-US" altLang="zh-CN" sz="2400" b="1" dirty="0">
              <a:solidFill>
                <a:schemeClr val="bg1"/>
              </a:solidFill>
              <a:latin typeface="Times New Roman" pitchFamily="18" charset="0"/>
              <a:ea typeface="华文中宋" pitchFamily="2" charset="-122"/>
              <a:cs typeface="Times New Roman" pitchFamily="18" charset="0"/>
            </a:endParaRPr>
          </a:p>
          <a:p>
            <a:r>
              <a:rPr lang="zh-CN" altLang="en-US" sz="2400" b="1" dirty="0">
                <a:solidFill>
                  <a:schemeClr val="bg1"/>
                </a:solidFill>
                <a:latin typeface="Times New Roman" pitchFamily="18" charset="0"/>
                <a:ea typeface="华文中宋" pitchFamily="2" charset="-122"/>
                <a:cs typeface="Times New Roman" pitchFamily="18" charset="0"/>
              </a:rPr>
              <a:t>完全可逆的，假设我们截取不可逆过程的某一个时刻，并</a:t>
            </a:r>
            <a:endParaRPr lang="en-US" altLang="zh-CN" sz="2400" b="1" dirty="0">
              <a:solidFill>
                <a:schemeClr val="bg1"/>
              </a:solidFill>
              <a:latin typeface="Times New Roman" pitchFamily="18" charset="0"/>
              <a:ea typeface="华文中宋" pitchFamily="2" charset="-122"/>
              <a:cs typeface="Times New Roman" pitchFamily="18" charset="0"/>
            </a:endParaRPr>
          </a:p>
          <a:p>
            <a:r>
              <a:rPr lang="zh-CN" altLang="en-US" sz="2400" b="1" dirty="0">
                <a:solidFill>
                  <a:schemeClr val="bg1"/>
                </a:solidFill>
                <a:latin typeface="Times New Roman" pitchFamily="18" charset="0"/>
                <a:ea typeface="华文中宋" pitchFamily="2" charset="-122"/>
                <a:cs typeface="Times New Roman" pitchFamily="18" charset="0"/>
              </a:rPr>
              <a:t>令所有的微观粒子完全反向运动，似乎从原理上系统应该</a:t>
            </a:r>
            <a:endParaRPr lang="en-US" altLang="zh-CN" sz="2400" b="1" dirty="0">
              <a:solidFill>
                <a:schemeClr val="bg1"/>
              </a:solidFill>
              <a:latin typeface="Times New Roman" pitchFamily="18" charset="0"/>
              <a:ea typeface="华文中宋" pitchFamily="2" charset="-122"/>
              <a:cs typeface="Times New Roman" pitchFamily="18" charset="0"/>
            </a:endParaRPr>
          </a:p>
          <a:p>
            <a:r>
              <a:rPr lang="zh-CN" altLang="en-US" sz="2400" b="1" dirty="0">
                <a:solidFill>
                  <a:schemeClr val="bg1"/>
                </a:solidFill>
                <a:latin typeface="Times New Roman" pitchFamily="18" charset="0"/>
                <a:ea typeface="华文中宋" pitchFamily="2" charset="-122"/>
                <a:cs typeface="Times New Roman" pitchFamily="18" charset="0"/>
              </a:rPr>
              <a:t>恢复到初态，这个过程中系统的熵变与原不可逆过程恰好</a:t>
            </a:r>
            <a:endParaRPr lang="en-US" altLang="zh-CN" sz="2400" b="1" dirty="0">
              <a:solidFill>
                <a:schemeClr val="bg1"/>
              </a:solidFill>
              <a:latin typeface="Times New Roman" pitchFamily="18" charset="0"/>
              <a:ea typeface="华文中宋" pitchFamily="2" charset="-122"/>
              <a:cs typeface="Times New Roman" pitchFamily="18" charset="0"/>
            </a:endParaRPr>
          </a:p>
          <a:p>
            <a:r>
              <a:rPr lang="zh-CN" altLang="en-US" sz="2400" b="1" dirty="0">
                <a:solidFill>
                  <a:schemeClr val="bg1"/>
                </a:solidFill>
                <a:latin typeface="Times New Roman" pitchFamily="18" charset="0"/>
                <a:ea typeface="华文中宋" pitchFamily="2" charset="-122"/>
                <a:cs typeface="Times New Roman" pitchFamily="18" charset="0"/>
              </a:rPr>
              <a:t>相反－是一直减小的，这似乎就推翻了热力学第二定律。</a:t>
            </a:r>
            <a:endParaRPr lang="en-US" altLang="zh-CN" sz="2400" b="1" dirty="0">
              <a:solidFill>
                <a:schemeClr val="bg1"/>
              </a:solidFill>
              <a:latin typeface="Times New Roman" pitchFamily="18" charset="0"/>
              <a:ea typeface="华文中宋" pitchFamily="2" charset="-122"/>
              <a:cs typeface="Times New Roman" pitchFamily="18" charset="0"/>
            </a:endParaRPr>
          </a:p>
        </p:txBody>
      </p:sp>
      <p:sp>
        <p:nvSpPr>
          <p:cNvPr id="10" name="Text Box 5"/>
          <p:cNvSpPr txBox="1">
            <a:spLocks noChangeArrowheads="1"/>
          </p:cNvSpPr>
          <p:nvPr/>
        </p:nvSpPr>
        <p:spPr bwMode="auto">
          <a:xfrm>
            <a:off x="714375" y="4714875"/>
            <a:ext cx="8228013" cy="1570038"/>
          </a:xfrm>
          <a:prstGeom prst="rect">
            <a:avLst/>
          </a:prstGeom>
          <a:noFill/>
          <a:ln w="9525">
            <a:noFill/>
            <a:miter lim="800000"/>
            <a:headEnd/>
            <a:tailEnd/>
          </a:ln>
        </p:spPr>
        <p:txBody>
          <a:bodyPr wrap="none">
            <a:spAutoFit/>
          </a:bodyPr>
          <a:lstStyle/>
          <a:p>
            <a:r>
              <a:rPr lang="en-US" altLang="zh-CN" sz="2400" b="1">
                <a:solidFill>
                  <a:schemeClr val="bg1"/>
                </a:solidFill>
                <a:latin typeface="Times New Roman" pitchFamily="18" charset="0"/>
                <a:ea typeface="华文中宋" pitchFamily="2" charset="-122"/>
                <a:cs typeface="Times New Roman" pitchFamily="18" charset="0"/>
              </a:rPr>
              <a:t>Boltzmann</a:t>
            </a:r>
            <a:r>
              <a:rPr lang="zh-CN" altLang="en-US" sz="2400" b="1">
                <a:solidFill>
                  <a:schemeClr val="bg1"/>
                </a:solidFill>
                <a:latin typeface="Times New Roman" pitchFamily="18" charset="0"/>
                <a:ea typeface="华文中宋" pitchFamily="2" charset="-122"/>
                <a:cs typeface="Times New Roman" pitchFamily="18" charset="0"/>
              </a:rPr>
              <a:t>进一步提出了</a:t>
            </a:r>
            <a:r>
              <a:rPr lang="zh-CN" altLang="en-US" sz="2400" b="1">
                <a:solidFill>
                  <a:srgbClr val="FFFF00"/>
                </a:solidFill>
                <a:latin typeface="Times New Roman" pitchFamily="18" charset="0"/>
                <a:ea typeface="华文中宋" pitchFamily="2" charset="-122"/>
                <a:cs typeface="Times New Roman" pitchFamily="18" charset="0"/>
              </a:rPr>
              <a:t>涨落</a:t>
            </a:r>
            <a:r>
              <a:rPr lang="zh-CN" altLang="en-US" sz="2400" b="1">
                <a:solidFill>
                  <a:schemeClr val="bg1"/>
                </a:solidFill>
                <a:latin typeface="Times New Roman" pitchFamily="18" charset="0"/>
                <a:ea typeface="华文中宋" pitchFamily="2" charset="-122"/>
                <a:cs typeface="Times New Roman" pitchFamily="18" charset="0"/>
              </a:rPr>
              <a:t>的概念，即熵增大并不是绝对</a:t>
            </a:r>
            <a:endParaRPr lang="en-US" altLang="zh-CN" sz="2400" b="1">
              <a:solidFill>
                <a:schemeClr val="bg1"/>
              </a:solidFill>
              <a:latin typeface="Times New Roman" pitchFamily="18" charset="0"/>
              <a:ea typeface="华文中宋" pitchFamily="2" charset="-122"/>
              <a:cs typeface="Times New Roman" pitchFamily="18" charset="0"/>
            </a:endParaRPr>
          </a:p>
          <a:p>
            <a:r>
              <a:rPr lang="zh-CN" altLang="en-US" sz="2400" b="1">
                <a:solidFill>
                  <a:schemeClr val="bg1"/>
                </a:solidFill>
                <a:latin typeface="Times New Roman" pitchFamily="18" charset="0"/>
                <a:ea typeface="华文中宋" pitchFamily="2" charset="-122"/>
                <a:cs typeface="Times New Roman" pitchFamily="18" charset="0"/>
              </a:rPr>
              <a:t>发生的事实，只是几率较大而已，反向运动会在一段时间带</a:t>
            </a:r>
            <a:endParaRPr lang="en-US" altLang="zh-CN" sz="2400" b="1">
              <a:solidFill>
                <a:schemeClr val="bg1"/>
              </a:solidFill>
              <a:latin typeface="Times New Roman" pitchFamily="18" charset="0"/>
              <a:ea typeface="华文中宋" pitchFamily="2" charset="-122"/>
              <a:cs typeface="Times New Roman" pitchFamily="18" charset="0"/>
            </a:endParaRPr>
          </a:p>
          <a:p>
            <a:r>
              <a:rPr lang="zh-CN" altLang="en-US" sz="2400" b="1">
                <a:solidFill>
                  <a:schemeClr val="bg1"/>
                </a:solidFill>
                <a:latin typeface="Times New Roman" pitchFamily="18" charset="0"/>
                <a:ea typeface="华文中宋" pitchFamily="2" charset="-122"/>
                <a:cs typeface="Times New Roman" pitchFamily="18" charset="0"/>
              </a:rPr>
              <a:t>来熵的减小，但随着时间的推移和微观粒子运动的随机性，</a:t>
            </a:r>
            <a:endParaRPr lang="en-US" altLang="zh-CN" sz="2400" b="1">
              <a:solidFill>
                <a:schemeClr val="bg1"/>
              </a:solidFill>
              <a:latin typeface="Times New Roman" pitchFamily="18" charset="0"/>
              <a:ea typeface="华文中宋" pitchFamily="2" charset="-122"/>
              <a:cs typeface="Times New Roman" pitchFamily="18" charset="0"/>
            </a:endParaRPr>
          </a:p>
          <a:p>
            <a:r>
              <a:rPr lang="zh-CN" altLang="en-US" sz="2400" b="1">
                <a:solidFill>
                  <a:schemeClr val="bg1"/>
                </a:solidFill>
                <a:latin typeface="Times New Roman" pitchFamily="18" charset="0"/>
                <a:ea typeface="华文中宋" pitchFamily="2" charset="-122"/>
                <a:cs typeface="Times New Roman" pitchFamily="18" charset="0"/>
              </a:rPr>
              <a:t>熵仍会走向增大的方向，这是宏观热力学所无法解释的。</a:t>
            </a:r>
            <a:endParaRPr lang="en-US" altLang="zh-CN" sz="2400" b="1">
              <a:solidFill>
                <a:schemeClr val="bg1"/>
              </a:solidFill>
              <a:latin typeface="Times New Roman" pitchFamily="18" charset="0"/>
              <a:ea typeface="华文中宋" pitchFamily="2" charset="-122"/>
              <a:cs typeface="Times New Roman" pitchFamily="18" charset="0"/>
            </a:endParaRP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800">
                                            <p:txEl>
                                              <p:pRg st="0" end="0"/>
                                            </p:txEl>
                                          </p:spTgt>
                                        </p:tgtEl>
                                        <p:attrNameLst>
                                          <p:attrName>style.visibility</p:attrName>
                                        </p:attrNameLst>
                                      </p:cBhvr>
                                      <p:to>
                                        <p:strVal val="visible"/>
                                      </p:to>
                                    </p:set>
                                    <p:animEffect transition="in" filter="fade">
                                      <p:cBhvr>
                                        <p:cTn id="7" dur="2000"/>
                                        <p:tgtEl>
                                          <p:spTgt spid="3380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3800">
                                            <p:txEl>
                                              <p:pRg st="1" end="1"/>
                                            </p:txEl>
                                          </p:spTgt>
                                        </p:tgtEl>
                                        <p:attrNameLst>
                                          <p:attrName>style.visibility</p:attrName>
                                        </p:attrNameLst>
                                      </p:cBhvr>
                                      <p:to>
                                        <p:strVal val="visible"/>
                                      </p:to>
                                    </p:set>
                                    <p:animEffect transition="in" filter="fade">
                                      <p:cBhvr>
                                        <p:cTn id="10" dur="2000"/>
                                        <p:tgtEl>
                                          <p:spTgt spid="33800">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fade">
                                      <p:cBhvr>
                                        <p:cTn id="15" dur="2000"/>
                                        <p:tgtEl>
                                          <p:spTgt spid="9">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xEl>
                                              <p:pRg st="1" end="1"/>
                                            </p:txEl>
                                          </p:spTgt>
                                        </p:tgtEl>
                                        <p:attrNameLst>
                                          <p:attrName>style.visibility</p:attrName>
                                        </p:attrNameLst>
                                      </p:cBhvr>
                                      <p:to>
                                        <p:strVal val="visible"/>
                                      </p:to>
                                    </p:set>
                                    <p:animEffect transition="in" filter="fade">
                                      <p:cBhvr>
                                        <p:cTn id="18" dur="2000"/>
                                        <p:tgtEl>
                                          <p:spTgt spid="9">
                                            <p:txEl>
                                              <p:pRg st="1" end="1"/>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xEl>
                                              <p:pRg st="2" end="2"/>
                                            </p:txEl>
                                          </p:spTgt>
                                        </p:tgtEl>
                                        <p:attrNameLst>
                                          <p:attrName>style.visibility</p:attrName>
                                        </p:attrNameLst>
                                      </p:cBhvr>
                                      <p:to>
                                        <p:strVal val="visible"/>
                                      </p:to>
                                    </p:set>
                                    <p:animEffect transition="in" filter="fade">
                                      <p:cBhvr>
                                        <p:cTn id="21" dur="2000"/>
                                        <p:tgtEl>
                                          <p:spTgt spid="9">
                                            <p:txEl>
                                              <p:pRg st="2" end="2"/>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fade">
                                      <p:cBhvr>
                                        <p:cTn id="24" dur="2000"/>
                                        <p:tgtEl>
                                          <p:spTgt spid="9">
                                            <p:txEl>
                                              <p:pRg st="3" end="3"/>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2000"/>
                                        <p:tgtEl>
                                          <p:spTgt spid="9">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xEl>
                                              <p:pRg st="5" end="5"/>
                                            </p:txEl>
                                          </p:spTgt>
                                        </p:tgtEl>
                                        <p:attrNameLst>
                                          <p:attrName>style.visibility</p:attrName>
                                        </p:attrNameLst>
                                      </p:cBhvr>
                                      <p:to>
                                        <p:strVal val="visible"/>
                                      </p:to>
                                    </p:set>
                                    <p:animEffect transition="in" filter="fade">
                                      <p:cBhvr>
                                        <p:cTn id="30" dur="2000"/>
                                        <p:tgtEl>
                                          <p:spTgt spid="9">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
                                            <p:txEl>
                                              <p:pRg st="0" end="0"/>
                                            </p:txEl>
                                          </p:spTgt>
                                        </p:tgtEl>
                                        <p:attrNameLst>
                                          <p:attrName>style.visibility</p:attrName>
                                        </p:attrNameLst>
                                      </p:cBhvr>
                                      <p:to>
                                        <p:strVal val="visible"/>
                                      </p:to>
                                    </p:set>
                                    <p:animEffect transition="in" filter="fade">
                                      <p:cBhvr>
                                        <p:cTn id="35" dur="2000"/>
                                        <p:tgtEl>
                                          <p:spTgt spid="10">
                                            <p:txEl>
                                              <p:pRg st="0" end="0"/>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0">
                                            <p:txEl>
                                              <p:pRg st="1" end="1"/>
                                            </p:txEl>
                                          </p:spTgt>
                                        </p:tgtEl>
                                        <p:attrNameLst>
                                          <p:attrName>style.visibility</p:attrName>
                                        </p:attrNameLst>
                                      </p:cBhvr>
                                      <p:to>
                                        <p:strVal val="visible"/>
                                      </p:to>
                                    </p:set>
                                    <p:animEffect transition="in" filter="fade">
                                      <p:cBhvr>
                                        <p:cTn id="38" dur="2000"/>
                                        <p:tgtEl>
                                          <p:spTgt spid="10">
                                            <p:txEl>
                                              <p:pRg st="1" end="1"/>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0">
                                            <p:txEl>
                                              <p:pRg st="2" end="2"/>
                                            </p:txEl>
                                          </p:spTgt>
                                        </p:tgtEl>
                                        <p:attrNameLst>
                                          <p:attrName>style.visibility</p:attrName>
                                        </p:attrNameLst>
                                      </p:cBhvr>
                                      <p:to>
                                        <p:strVal val="visible"/>
                                      </p:to>
                                    </p:set>
                                    <p:animEffect transition="in" filter="fade">
                                      <p:cBhvr>
                                        <p:cTn id="41" dur="2000"/>
                                        <p:tgtEl>
                                          <p:spTgt spid="10">
                                            <p:txEl>
                                              <p:pRg st="2" end="2"/>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0">
                                            <p:txEl>
                                              <p:pRg st="3" end="3"/>
                                            </p:txEl>
                                          </p:spTgt>
                                        </p:tgtEl>
                                        <p:attrNameLst>
                                          <p:attrName>style.visibility</p:attrName>
                                        </p:attrNameLst>
                                      </p:cBhvr>
                                      <p:to>
                                        <p:strVal val="visible"/>
                                      </p:to>
                                    </p:set>
                                    <p:animEffect transition="in" filter="fade">
                                      <p:cBhvr>
                                        <p:cTn id="44" dur="20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0" grpId="0" build="allAtOnce"/>
      <p:bldP spid="9" grpId="0" build="allAtOnce"/>
      <p:bldP spid="10" grpId="0" build="allAtOnce"/>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Text Box 2"/>
          <p:cNvSpPr txBox="1">
            <a:spLocks noChangeArrowheads="1"/>
          </p:cNvSpPr>
          <p:nvPr/>
        </p:nvSpPr>
        <p:spPr bwMode="auto">
          <a:xfrm>
            <a:off x="7524750" y="0"/>
            <a:ext cx="1619250"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34822" name="Rectangle 3"/>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en-US" altLang="zh-CN" sz="4400" b="1" dirty="0">
                <a:solidFill>
                  <a:schemeClr val="tx2"/>
                </a:solidFill>
                <a:latin typeface="Times New Roman" pitchFamily="18" charset="0"/>
                <a:ea typeface="楷体_GB2312" pitchFamily="49" charset="-122"/>
              </a:rPr>
              <a:t>                 </a:t>
            </a:r>
            <a:r>
              <a:rPr lang="zh-CN" altLang="en-US" sz="4400" b="1" dirty="0">
                <a:solidFill>
                  <a:schemeClr val="tx2"/>
                </a:solidFill>
                <a:latin typeface="黑体" pitchFamily="49" charset="-122"/>
                <a:ea typeface="黑体" pitchFamily="49" charset="-122"/>
              </a:rPr>
              <a:t>的意义 </a:t>
            </a:r>
          </a:p>
        </p:txBody>
      </p:sp>
      <p:graphicFrame>
        <p:nvGraphicFramePr>
          <p:cNvPr id="34818" name="Object 4"/>
          <p:cNvGraphicFramePr>
            <a:graphicFrameLocks noChangeAspect="1"/>
          </p:cNvGraphicFramePr>
          <p:nvPr/>
        </p:nvGraphicFramePr>
        <p:xfrm>
          <a:off x="2484438" y="431800"/>
          <a:ext cx="2544762" cy="711200"/>
        </p:xfrm>
        <a:graphic>
          <a:graphicData uri="http://schemas.openxmlformats.org/presentationml/2006/ole">
            <p:oleObj spid="_x0000_s34818" name="Equation" r:id="rId3" imgW="647640" imgH="177480" progId="Equation.DSMT4">
              <p:embed/>
            </p:oleObj>
          </a:graphicData>
        </a:graphic>
      </p:graphicFrame>
      <p:grpSp>
        <p:nvGrpSpPr>
          <p:cNvPr id="2" name="组合 13"/>
          <p:cNvGrpSpPr>
            <a:grpSpLocks/>
          </p:cNvGrpSpPr>
          <p:nvPr/>
        </p:nvGrpSpPr>
        <p:grpSpPr bwMode="auto">
          <a:xfrm>
            <a:off x="685800" y="1143000"/>
            <a:ext cx="7918450" cy="3046413"/>
            <a:chOff x="685800" y="1143000"/>
            <a:chExt cx="7919156" cy="3046988"/>
          </a:xfrm>
        </p:grpSpPr>
        <p:sp>
          <p:nvSpPr>
            <p:cNvPr id="34826" name="Text Box 5"/>
            <p:cNvSpPr txBox="1">
              <a:spLocks noChangeArrowheads="1"/>
            </p:cNvSpPr>
            <p:nvPr/>
          </p:nvSpPr>
          <p:spPr bwMode="auto">
            <a:xfrm>
              <a:off x="685800" y="1143000"/>
              <a:ext cx="7919156" cy="3046988"/>
            </a:xfrm>
            <a:prstGeom prst="rect">
              <a:avLst/>
            </a:prstGeom>
            <a:noFill/>
            <a:ln w="9525">
              <a:noFill/>
              <a:miter lim="800000"/>
              <a:headEnd/>
              <a:tailEnd/>
            </a:ln>
          </p:spPr>
          <p:txBody>
            <a:bodyPr wrap="none">
              <a:spAutoFit/>
            </a:bodyPr>
            <a:lstStyle/>
            <a:p>
              <a:r>
                <a:rPr lang="en-US" altLang="zh-CN" sz="2400" b="1" dirty="0">
                  <a:solidFill>
                    <a:schemeClr val="bg1"/>
                  </a:solidFill>
                  <a:latin typeface="Times New Roman" pitchFamily="18" charset="0"/>
                  <a:ea typeface="华文中宋" pitchFamily="2" charset="-122"/>
                  <a:cs typeface="Times New Roman" pitchFamily="18" charset="0"/>
                </a:rPr>
                <a:t>(5) </a:t>
              </a:r>
              <a:r>
                <a:rPr lang="zh-CN" altLang="en-US" sz="2400" b="1" dirty="0">
                  <a:solidFill>
                    <a:schemeClr val="bg1"/>
                  </a:solidFill>
                  <a:latin typeface="Times New Roman" pitchFamily="18" charset="0"/>
                  <a:ea typeface="华文中宋" pitchFamily="2" charset="-122"/>
                  <a:cs typeface="Times New Roman" pitchFamily="18" charset="0"/>
                </a:rPr>
                <a:t>我们考虑刚才自由膨胀的例子，假设</a:t>
              </a:r>
              <a:r>
                <a:rPr lang="en-US" altLang="zh-CN" sz="2400" b="1" dirty="0">
                  <a:solidFill>
                    <a:schemeClr val="bg1"/>
                  </a:solidFill>
                  <a:latin typeface="Times New Roman" pitchFamily="18" charset="0"/>
                  <a:ea typeface="华文中宋" pitchFamily="2" charset="-122"/>
                  <a:cs typeface="Times New Roman" pitchFamily="18" charset="0"/>
                </a:rPr>
                <a:t>1 mol</a:t>
              </a:r>
              <a:r>
                <a:rPr lang="zh-CN" altLang="en-US" sz="2400" b="1" dirty="0">
                  <a:solidFill>
                    <a:schemeClr val="bg1"/>
                  </a:solidFill>
                  <a:latin typeface="Times New Roman" pitchFamily="18" charset="0"/>
                  <a:ea typeface="华文中宋" pitchFamily="2" charset="-122"/>
                  <a:cs typeface="Times New Roman" pitchFamily="18" charset="0"/>
                </a:rPr>
                <a:t>理想气体从</a:t>
              </a:r>
              <a:endParaRPr lang="en-US" altLang="zh-CN" sz="2400" b="1" dirty="0">
                <a:solidFill>
                  <a:schemeClr val="bg1"/>
                </a:solidFill>
                <a:latin typeface="Times New Roman" pitchFamily="18" charset="0"/>
                <a:ea typeface="华文中宋" pitchFamily="2" charset="-122"/>
                <a:cs typeface="Times New Roman" pitchFamily="18" charset="0"/>
              </a:endParaRPr>
            </a:p>
            <a:p>
              <a:r>
                <a:rPr lang="zh-CN" altLang="en-US" sz="2400" b="1" dirty="0">
                  <a:solidFill>
                    <a:schemeClr val="bg1"/>
                  </a:solidFill>
                  <a:latin typeface="Times New Roman" pitchFamily="18" charset="0"/>
                  <a:ea typeface="华文中宋" pitchFamily="2" charset="-122"/>
                  <a:cs typeface="Times New Roman" pitchFamily="18" charset="0"/>
                </a:rPr>
                <a:t>体积</a:t>
              </a:r>
              <a:r>
                <a:rPr lang="en-US" altLang="zh-CN" sz="2400" b="1" i="1" dirty="0">
                  <a:solidFill>
                    <a:schemeClr val="bg1"/>
                  </a:solidFill>
                  <a:latin typeface="Times New Roman" pitchFamily="18" charset="0"/>
                  <a:ea typeface="华文中宋" pitchFamily="2" charset="-122"/>
                  <a:cs typeface="Times New Roman" pitchFamily="18" charset="0"/>
                </a:rPr>
                <a:t>V</a:t>
              </a:r>
              <a:r>
                <a:rPr lang="zh-CN" altLang="en-US" sz="2400" b="1" dirty="0">
                  <a:solidFill>
                    <a:schemeClr val="bg1"/>
                  </a:solidFill>
                  <a:latin typeface="Times New Roman" pitchFamily="18" charset="0"/>
                  <a:ea typeface="华文中宋" pitchFamily="2" charset="-122"/>
                  <a:cs typeface="Times New Roman" pitchFamily="18" charset="0"/>
                </a:rPr>
                <a:t>自由膨胀到</a:t>
              </a:r>
              <a:r>
                <a:rPr lang="en-US" altLang="zh-CN" sz="2400" b="1" dirty="0">
                  <a:solidFill>
                    <a:schemeClr val="bg1"/>
                  </a:solidFill>
                  <a:latin typeface="Times New Roman" pitchFamily="18" charset="0"/>
                  <a:ea typeface="华文中宋" pitchFamily="2" charset="-122"/>
                  <a:cs typeface="Times New Roman" pitchFamily="18" charset="0"/>
                </a:rPr>
                <a:t>2</a:t>
              </a:r>
              <a:r>
                <a:rPr lang="en-US" altLang="zh-CN" sz="2400" b="1" i="1" dirty="0">
                  <a:solidFill>
                    <a:schemeClr val="bg1"/>
                  </a:solidFill>
                  <a:latin typeface="Times New Roman" pitchFamily="18" charset="0"/>
                  <a:ea typeface="华文中宋" pitchFamily="2" charset="-122"/>
                  <a:cs typeface="Times New Roman" pitchFamily="18" charset="0"/>
                </a:rPr>
                <a:t>V</a:t>
              </a:r>
              <a:r>
                <a:rPr lang="zh-CN" altLang="en-US" sz="2400" b="1" dirty="0">
                  <a:solidFill>
                    <a:schemeClr val="bg1"/>
                  </a:solidFill>
                  <a:latin typeface="Times New Roman" pitchFamily="18" charset="0"/>
                  <a:ea typeface="华文中宋" pitchFamily="2" charset="-122"/>
                  <a:cs typeface="Times New Roman" pitchFamily="18" charset="0"/>
                </a:rPr>
                <a:t>，它仍然存在在某一时刻所有气体分</a:t>
              </a:r>
              <a:endParaRPr lang="en-US" altLang="zh-CN" sz="2400" b="1" dirty="0">
                <a:solidFill>
                  <a:schemeClr val="bg1"/>
                </a:solidFill>
                <a:latin typeface="Times New Roman" pitchFamily="18" charset="0"/>
                <a:ea typeface="华文中宋" pitchFamily="2" charset="-122"/>
                <a:cs typeface="Times New Roman" pitchFamily="18" charset="0"/>
              </a:endParaRPr>
            </a:p>
            <a:p>
              <a:r>
                <a:rPr lang="zh-CN" altLang="en-US" sz="2400" b="1" dirty="0">
                  <a:solidFill>
                    <a:schemeClr val="bg1"/>
                  </a:solidFill>
                  <a:latin typeface="Times New Roman" pitchFamily="18" charset="0"/>
                  <a:ea typeface="华文中宋" pitchFamily="2" charset="-122"/>
                  <a:cs typeface="Times New Roman" pitchFamily="18" charset="0"/>
                </a:rPr>
                <a:t>子全部集中于原来的体积</a:t>
              </a:r>
              <a:r>
                <a:rPr lang="en-US" altLang="zh-CN" sz="2400" b="1" i="1" dirty="0">
                  <a:solidFill>
                    <a:schemeClr val="bg1"/>
                  </a:solidFill>
                  <a:latin typeface="Times New Roman" pitchFamily="18" charset="0"/>
                  <a:ea typeface="华文中宋" pitchFamily="2" charset="-122"/>
                  <a:cs typeface="Times New Roman" pitchFamily="18" charset="0"/>
                </a:rPr>
                <a:t>V</a:t>
              </a:r>
              <a:r>
                <a:rPr lang="zh-CN" altLang="en-US" sz="2400" b="1" dirty="0">
                  <a:solidFill>
                    <a:schemeClr val="bg1"/>
                  </a:solidFill>
                  <a:latin typeface="Times New Roman" pitchFamily="18" charset="0"/>
                  <a:ea typeface="华文中宋" pitchFamily="2" charset="-122"/>
                  <a:cs typeface="Times New Roman" pitchFamily="18" charset="0"/>
                </a:rPr>
                <a:t>的可能性，根据等几率假设和</a:t>
              </a:r>
              <a:endParaRPr lang="en-US" altLang="zh-CN" sz="2400" b="1" dirty="0">
                <a:solidFill>
                  <a:schemeClr val="bg1"/>
                </a:solidFill>
                <a:latin typeface="Times New Roman" pitchFamily="18" charset="0"/>
                <a:ea typeface="华文中宋" pitchFamily="2" charset="-122"/>
                <a:cs typeface="Times New Roman" pitchFamily="18" charset="0"/>
              </a:endParaRPr>
            </a:p>
            <a:p>
              <a:r>
                <a:rPr lang="zh-CN" altLang="en-US" sz="2400" b="1" dirty="0">
                  <a:solidFill>
                    <a:schemeClr val="bg1"/>
                  </a:solidFill>
                  <a:latin typeface="Times New Roman" pitchFamily="18" charset="0"/>
                  <a:ea typeface="华文中宋" pitchFamily="2" charset="-122"/>
                  <a:cs typeface="Times New Roman" pitchFamily="18" charset="0"/>
                </a:rPr>
                <a:t>前面的分析，我们知道这种可能性与气体分子充满整个体</a:t>
              </a:r>
              <a:endParaRPr lang="en-US" altLang="zh-CN" sz="2400" b="1" dirty="0">
                <a:solidFill>
                  <a:schemeClr val="bg1"/>
                </a:solidFill>
                <a:latin typeface="Times New Roman" pitchFamily="18" charset="0"/>
                <a:ea typeface="华文中宋" pitchFamily="2" charset="-122"/>
                <a:cs typeface="Times New Roman" pitchFamily="18" charset="0"/>
              </a:endParaRPr>
            </a:p>
            <a:p>
              <a:r>
                <a:rPr lang="zh-CN" altLang="en-US" sz="2400" b="1" dirty="0">
                  <a:solidFill>
                    <a:schemeClr val="bg1"/>
                  </a:solidFill>
                  <a:latin typeface="Times New Roman" pitchFamily="18" charset="0"/>
                  <a:ea typeface="华文中宋" pitchFamily="2" charset="-122"/>
                  <a:cs typeface="Times New Roman" pitchFamily="18" charset="0"/>
                </a:rPr>
                <a:t>积的可能性之比为：</a:t>
              </a:r>
            </a:p>
            <a:p>
              <a:endParaRPr lang="en-US" altLang="zh-CN" sz="2400" b="1" dirty="0">
                <a:solidFill>
                  <a:schemeClr val="bg1"/>
                </a:solidFill>
                <a:latin typeface="Times New Roman" pitchFamily="18" charset="0"/>
                <a:ea typeface="华文中宋" pitchFamily="2" charset="-122"/>
                <a:cs typeface="Times New Roman" pitchFamily="18" charset="0"/>
              </a:endParaRPr>
            </a:p>
            <a:p>
              <a:r>
                <a:rPr lang="zh-CN" altLang="en-US" sz="2400" b="1" dirty="0">
                  <a:solidFill>
                    <a:schemeClr val="bg1"/>
                  </a:solidFill>
                  <a:latin typeface="Times New Roman" pitchFamily="18" charset="0"/>
                  <a:ea typeface="华文中宋" pitchFamily="2" charset="-122"/>
                  <a:cs typeface="Times New Roman" pitchFamily="18" charset="0"/>
                </a:rPr>
                <a:t>可能性存在但微乎其微，宏观上无法观测到。</a:t>
              </a:r>
            </a:p>
            <a:p>
              <a:endParaRPr lang="en-US" altLang="zh-CN" sz="2400" b="1" dirty="0">
                <a:solidFill>
                  <a:schemeClr val="bg1"/>
                </a:solidFill>
                <a:latin typeface="Times New Roman" pitchFamily="18" charset="0"/>
                <a:ea typeface="华文中宋" pitchFamily="2" charset="-122"/>
                <a:cs typeface="Times New Roman" pitchFamily="18" charset="0"/>
              </a:endParaRPr>
            </a:p>
          </p:txBody>
        </p:sp>
        <p:graphicFrame>
          <p:nvGraphicFramePr>
            <p:cNvPr id="34820" name="Object 6"/>
            <p:cNvGraphicFramePr>
              <a:graphicFrameLocks noChangeAspect="1"/>
            </p:cNvGraphicFramePr>
            <p:nvPr/>
          </p:nvGraphicFramePr>
          <p:xfrm>
            <a:off x="3571868" y="2609847"/>
            <a:ext cx="2853112" cy="748133"/>
          </p:xfrm>
          <a:graphic>
            <a:graphicData uri="http://schemas.openxmlformats.org/presentationml/2006/ole">
              <p:oleObj spid="_x0000_s34820" name="Equation" r:id="rId4" imgW="1485720" imgH="393480" progId="Equation.DSMT4">
                <p:embed/>
              </p:oleObj>
            </a:graphicData>
          </a:graphic>
        </p:graphicFrame>
      </p:grpSp>
      <p:grpSp>
        <p:nvGrpSpPr>
          <p:cNvPr id="3" name="组合 12"/>
          <p:cNvGrpSpPr>
            <a:grpSpLocks/>
          </p:cNvGrpSpPr>
          <p:nvPr/>
        </p:nvGrpSpPr>
        <p:grpSpPr bwMode="auto">
          <a:xfrm>
            <a:off x="757238" y="3763963"/>
            <a:ext cx="7859844" cy="2308324"/>
            <a:chOff x="756870" y="3763882"/>
            <a:chExt cx="7860239" cy="2308423"/>
          </a:xfrm>
        </p:grpSpPr>
        <p:sp>
          <p:nvSpPr>
            <p:cNvPr id="34825" name="Text Box 5"/>
            <p:cNvSpPr txBox="1">
              <a:spLocks noChangeArrowheads="1"/>
            </p:cNvSpPr>
            <p:nvPr/>
          </p:nvSpPr>
          <p:spPr bwMode="auto">
            <a:xfrm>
              <a:off x="756870" y="3763882"/>
              <a:ext cx="7860239" cy="2308423"/>
            </a:xfrm>
            <a:prstGeom prst="rect">
              <a:avLst/>
            </a:prstGeom>
            <a:noFill/>
            <a:ln w="9525">
              <a:noFill/>
              <a:miter lim="800000"/>
              <a:headEnd/>
              <a:tailEnd/>
            </a:ln>
          </p:spPr>
          <p:txBody>
            <a:bodyPr wrap="none">
              <a:spAutoFit/>
            </a:bodyPr>
            <a:lstStyle/>
            <a:p>
              <a:endParaRPr lang="en-US" altLang="zh-CN" sz="2400" b="1">
                <a:solidFill>
                  <a:schemeClr val="bg1"/>
                </a:solidFill>
                <a:latin typeface="Times New Roman" pitchFamily="18" charset="0"/>
                <a:ea typeface="华文中宋" pitchFamily="2" charset="-122"/>
                <a:cs typeface="Times New Roman" pitchFamily="18" charset="0"/>
              </a:endParaRPr>
            </a:p>
            <a:p>
              <a:r>
                <a:rPr lang="en-US" altLang="zh-CN" sz="2400" b="1">
                  <a:solidFill>
                    <a:schemeClr val="bg1"/>
                  </a:solidFill>
                  <a:latin typeface="Times New Roman" pitchFamily="18" charset="0"/>
                  <a:ea typeface="华文中宋" pitchFamily="2" charset="-122"/>
                  <a:cs typeface="Times New Roman" pitchFamily="18" charset="0"/>
                </a:rPr>
                <a:t>1896</a:t>
              </a:r>
              <a:r>
                <a:rPr lang="zh-CN" altLang="en-US" sz="2400" b="1">
                  <a:solidFill>
                    <a:schemeClr val="bg1"/>
                  </a:solidFill>
                  <a:latin typeface="Times New Roman" pitchFamily="18" charset="0"/>
                  <a:ea typeface="华文中宋" pitchFamily="2" charset="-122"/>
                  <a:cs typeface="Times New Roman" pitchFamily="18" charset="0"/>
                </a:rPr>
                <a:t>年策尔梅洛</a:t>
              </a:r>
              <a:r>
                <a:rPr lang="en-US" altLang="zh-CN" sz="2400" b="1">
                  <a:solidFill>
                    <a:schemeClr val="bg1"/>
                  </a:solidFill>
                  <a:latin typeface="Times New Roman" pitchFamily="18" charset="0"/>
                  <a:ea typeface="华文中宋" pitchFamily="2" charset="-122"/>
                  <a:cs typeface="Times New Roman" pitchFamily="18" charset="0"/>
                </a:rPr>
                <a:t>(E. Zermelo)</a:t>
              </a:r>
              <a:r>
                <a:rPr lang="zh-CN" altLang="en-US" sz="2400" b="1">
                  <a:solidFill>
                    <a:schemeClr val="bg1"/>
                  </a:solidFill>
                  <a:latin typeface="Times New Roman" pitchFamily="18" charset="0"/>
                  <a:ea typeface="华文中宋" pitchFamily="2" charset="-122"/>
                  <a:cs typeface="Times New Roman" pitchFamily="18" charset="0"/>
                </a:rPr>
                <a:t>引用庞加莱</a:t>
              </a:r>
              <a:r>
                <a:rPr lang="en-US" altLang="zh-CN" sz="2400" b="1">
                  <a:solidFill>
                    <a:schemeClr val="bg1"/>
                  </a:solidFill>
                  <a:latin typeface="Times New Roman" pitchFamily="18" charset="0"/>
                  <a:ea typeface="华文中宋" pitchFamily="2" charset="-122"/>
                  <a:cs typeface="Times New Roman" pitchFamily="18" charset="0"/>
                </a:rPr>
                <a:t>4</a:t>
              </a:r>
              <a:r>
                <a:rPr lang="zh-CN" altLang="en-US" sz="2400" b="1">
                  <a:solidFill>
                    <a:schemeClr val="bg1"/>
                  </a:solidFill>
                  <a:latin typeface="Times New Roman" pitchFamily="18" charset="0"/>
                  <a:ea typeface="华文中宋" pitchFamily="2" charset="-122"/>
                  <a:cs typeface="Times New Roman" pitchFamily="18" charset="0"/>
                </a:rPr>
                <a:t>年前发现的始态</a:t>
              </a:r>
              <a:endParaRPr lang="en-US" altLang="zh-CN" sz="2400" b="1">
                <a:solidFill>
                  <a:schemeClr val="bg1"/>
                </a:solidFill>
                <a:latin typeface="Times New Roman" pitchFamily="18" charset="0"/>
                <a:ea typeface="华文中宋" pitchFamily="2" charset="-122"/>
                <a:cs typeface="Times New Roman" pitchFamily="18" charset="0"/>
              </a:endParaRPr>
            </a:p>
            <a:p>
              <a:r>
                <a:rPr lang="zh-CN" altLang="en-US" sz="2400" b="1">
                  <a:solidFill>
                    <a:schemeClr val="bg1"/>
                  </a:solidFill>
                  <a:latin typeface="Times New Roman" pitchFamily="18" charset="0"/>
                  <a:ea typeface="华文中宋" pitchFamily="2" charset="-122"/>
                  <a:cs typeface="Times New Roman" pitchFamily="18" charset="0"/>
                </a:rPr>
                <a:t>复现原理攻击热力学第二定律。但</a:t>
              </a:r>
              <a:r>
                <a:rPr lang="en-US" altLang="zh-CN" sz="2400" b="1">
                  <a:solidFill>
                    <a:schemeClr val="bg1"/>
                  </a:solidFill>
                  <a:latin typeface="Times New Roman" pitchFamily="18" charset="0"/>
                  <a:ea typeface="华文中宋" pitchFamily="2" charset="-122"/>
                  <a:cs typeface="Times New Roman" pitchFamily="18" charset="0"/>
                </a:rPr>
                <a:t>Boltzmann</a:t>
              </a:r>
              <a:r>
                <a:rPr lang="zh-CN" altLang="en-US" sz="2400" b="1">
                  <a:solidFill>
                    <a:schemeClr val="bg1"/>
                  </a:solidFill>
                  <a:latin typeface="Times New Roman" pitchFamily="18" charset="0"/>
                  <a:ea typeface="华文中宋" pitchFamily="2" charset="-122"/>
                  <a:cs typeface="Times New Roman" pitchFamily="18" charset="0"/>
                </a:rPr>
                <a:t>同样用涨落</a:t>
              </a:r>
              <a:endParaRPr lang="en-US" altLang="zh-CN" sz="2400" b="1">
                <a:solidFill>
                  <a:schemeClr val="bg1"/>
                </a:solidFill>
                <a:latin typeface="Times New Roman" pitchFamily="18" charset="0"/>
                <a:ea typeface="华文中宋" pitchFamily="2" charset="-122"/>
                <a:cs typeface="Times New Roman" pitchFamily="18" charset="0"/>
              </a:endParaRPr>
            </a:p>
            <a:p>
              <a:r>
                <a:rPr lang="zh-CN" altLang="en-US" sz="2400" b="1">
                  <a:solidFill>
                    <a:schemeClr val="bg1"/>
                  </a:solidFill>
                  <a:latin typeface="Times New Roman" pitchFamily="18" charset="0"/>
                  <a:ea typeface="华文中宋" pitchFamily="2" charset="-122"/>
                  <a:cs typeface="Times New Roman" pitchFamily="18" charset="0"/>
                </a:rPr>
                <a:t>进行了回击，他估计即使</a:t>
              </a:r>
              <a:r>
                <a:rPr lang="en-US" altLang="zh-CN" sz="2400" b="1">
                  <a:solidFill>
                    <a:schemeClr val="bg1"/>
                  </a:solidFill>
                  <a:latin typeface="Times New Roman" pitchFamily="18" charset="0"/>
                  <a:ea typeface="华文中宋" pitchFamily="2" charset="-122"/>
                  <a:cs typeface="Times New Roman" pitchFamily="18" charset="0"/>
                </a:rPr>
                <a:t>1</a:t>
              </a:r>
              <a:r>
                <a:rPr lang="zh-CN" altLang="en-US" sz="2400" b="1">
                  <a:solidFill>
                    <a:schemeClr val="bg1"/>
                  </a:solidFill>
                  <a:latin typeface="Times New Roman" pitchFamily="18" charset="0"/>
                  <a:ea typeface="华文中宋" pitchFamily="2" charset="-122"/>
                  <a:cs typeface="Times New Roman" pitchFamily="18" charset="0"/>
                </a:rPr>
                <a:t>滴水中的分子</a:t>
              </a:r>
              <a:r>
                <a:rPr lang="en-US" altLang="zh-CN" sz="2400" b="1">
                  <a:solidFill>
                    <a:schemeClr val="bg1"/>
                  </a:solidFill>
                  <a:latin typeface="Times New Roman" pitchFamily="18" charset="0"/>
                  <a:ea typeface="华文中宋" pitchFamily="2" charset="-122"/>
                  <a:cs typeface="Times New Roman" pitchFamily="18" charset="0"/>
                </a:rPr>
                <a:t>(10</a:t>
              </a:r>
              <a:r>
                <a:rPr lang="en-US" altLang="zh-CN" sz="2400" b="1" baseline="30000">
                  <a:solidFill>
                    <a:schemeClr val="bg1"/>
                  </a:solidFill>
                  <a:latin typeface="Times New Roman" pitchFamily="18" charset="0"/>
                  <a:ea typeface="华文中宋" pitchFamily="2" charset="-122"/>
                  <a:cs typeface="Times New Roman" pitchFamily="18" charset="0"/>
                </a:rPr>
                <a:t>18</a:t>
              </a:r>
              <a:r>
                <a:rPr lang="en-US" altLang="zh-CN" sz="2400" b="1">
                  <a:solidFill>
                    <a:schemeClr val="bg1"/>
                  </a:solidFill>
                  <a:latin typeface="Times New Roman" pitchFamily="18" charset="0"/>
                  <a:ea typeface="华文中宋" pitchFamily="2" charset="-122"/>
                  <a:cs typeface="Times New Roman" pitchFamily="18" charset="0"/>
                </a:rPr>
                <a:t>)</a:t>
              </a:r>
              <a:r>
                <a:rPr lang="zh-CN" altLang="en-US" sz="2400" b="1">
                  <a:solidFill>
                    <a:schemeClr val="bg1"/>
                  </a:solidFill>
                  <a:latin typeface="Times New Roman" pitchFamily="18" charset="0"/>
                  <a:ea typeface="华文中宋" pitchFamily="2" charset="-122"/>
                  <a:cs typeface="Times New Roman" pitchFamily="18" charset="0"/>
                </a:rPr>
                <a:t>，回归到初</a:t>
              </a:r>
              <a:endParaRPr lang="en-US" altLang="zh-CN" sz="2400" b="1">
                <a:solidFill>
                  <a:schemeClr val="bg1"/>
                </a:solidFill>
                <a:latin typeface="Times New Roman" pitchFamily="18" charset="0"/>
                <a:ea typeface="华文中宋" pitchFamily="2" charset="-122"/>
                <a:cs typeface="Times New Roman" pitchFamily="18" charset="0"/>
              </a:endParaRPr>
            </a:p>
            <a:p>
              <a:r>
                <a:rPr lang="zh-CN" altLang="en-US" sz="2400" b="1">
                  <a:solidFill>
                    <a:schemeClr val="bg1"/>
                  </a:solidFill>
                  <a:latin typeface="Times New Roman" pitchFamily="18" charset="0"/>
                  <a:ea typeface="华文中宋" pitchFamily="2" charset="-122"/>
                  <a:cs typeface="Times New Roman" pitchFamily="18" charset="0"/>
                </a:rPr>
                <a:t>始状态的时间至少需要         年，宇宙的年龄连其零头</a:t>
              </a:r>
            </a:p>
            <a:p>
              <a:r>
                <a:rPr lang="zh-CN" altLang="en-US" sz="2400" b="1">
                  <a:solidFill>
                    <a:schemeClr val="bg1"/>
                  </a:solidFill>
                  <a:latin typeface="Times New Roman" pitchFamily="18" charset="0"/>
                  <a:ea typeface="华文中宋" pitchFamily="2" charset="-122"/>
                  <a:cs typeface="Times New Roman" pitchFamily="18" charset="0"/>
                </a:rPr>
                <a:t>都不够，因此对现实的宏观系统没有实际意义。 </a:t>
              </a:r>
            </a:p>
          </p:txBody>
        </p:sp>
        <p:graphicFrame>
          <p:nvGraphicFramePr>
            <p:cNvPr id="34819" name="Object 8"/>
            <p:cNvGraphicFramePr>
              <a:graphicFrameLocks noChangeAspect="1"/>
            </p:cNvGraphicFramePr>
            <p:nvPr/>
          </p:nvGraphicFramePr>
          <p:xfrm>
            <a:off x="3971925" y="5214949"/>
            <a:ext cx="626022" cy="428627"/>
          </p:xfrm>
          <a:graphic>
            <a:graphicData uri="http://schemas.openxmlformats.org/presentationml/2006/ole">
              <p:oleObj spid="_x0000_s34819" r:id="rId5" imgW="330200" imgH="228600" progId="Equation.DSMT4">
                <p:embed/>
              </p:oleObj>
            </a:graphicData>
          </a:graphic>
        </p:graphicFrame>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3"/>
          <p:cNvSpPr>
            <a:spLocks noGrp="1"/>
          </p:cNvSpPr>
          <p:nvPr>
            <p:ph type="sldNum" sz="quarter" idx="12"/>
          </p:nvPr>
        </p:nvSpPr>
        <p:spPr>
          <a:noFill/>
        </p:spPr>
        <p:txBody>
          <a:bodyPr/>
          <a:lstStyle/>
          <a:p>
            <a:fld id="{A1B6F04B-2B9D-4404-AFAC-A44CEA112802}" type="slidenum">
              <a:rPr lang="en-US" altLang="zh-CN" smtClean="0"/>
              <a:pPr/>
              <a:t>50</a:t>
            </a:fld>
            <a:endParaRPr lang="en-US" altLang="zh-CN" smtClean="0"/>
          </a:p>
        </p:txBody>
      </p:sp>
      <p:sp>
        <p:nvSpPr>
          <p:cNvPr id="71683" name="Rectangle 3"/>
          <p:cNvSpPr>
            <a:spLocks noChangeArrowheads="1"/>
          </p:cNvSpPr>
          <p:nvPr/>
        </p:nvSpPr>
        <p:spPr bwMode="auto">
          <a:xfrm>
            <a:off x="2790825" y="809625"/>
            <a:ext cx="9144000" cy="0"/>
          </a:xfrm>
          <a:prstGeom prst="rect">
            <a:avLst/>
          </a:prstGeom>
          <a:noFill/>
          <a:ln w="9525">
            <a:noFill/>
            <a:miter lim="800000"/>
            <a:headEnd/>
            <a:tailEnd/>
          </a:ln>
        </p:spPr>
        <p:txBody>
          <a:bodyPr>
            <a:spAutoFit/>
          </a:bodyPr>
          <a:lstStyle/>
          <a:p>
            <a:endParaRPr lang="zh-CN" altLang="en-US"/>
          </a:p>
        </p:txBody>
      </p:sp>
      <p:pic>
        <p:nvPicPr>
          <p:cNvPr id="71684" name="Picture 2" descr="boltzman"/>
          <p:cNvPicPr>
            <a:picLocks noChangeAspect="1" noChangeArrowheads="1"/>
          </p:cNvPicPr>
          <p:nvPr/>
        </p:nvPicPr>
        <p:blipFill>
          <a:blip r:embed="rId2"/>
          <a:srcRect/>
          <a:stretch>
            <a:fillRect/>
          </a:stretch>
        </p:blipFill>
        <p:spPr bwMode="auto">
          <a:xfrm>
            <a:off x="2711450" y="123825"/>
            <a:ext cx="4527550" cy="6657975"/>
          </a:xfrm>
          <a:prstGeom prst="rect">
            <a:avLst/>
          </a:prstGeom>
          <a:noFill/>
          <a:ln w="9525">
            <a:noFill/>
            <a:miter lim="800000"/>
            <a:headEnd/>
            <a:tailEnd/>
          </a:ln>
        </p:spPr>
      </p:pic>
    </p:spTree>
  </p:cSld>
  <p:clrMapOvr>
    <a:masterClrMapping/>
  </p:clrMapOvr>
  <p:transition spd="med">
    <p:blinds dir="vert"/>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灯片编号占位符 3"/>
          <p:cNvSpPr>
            <a:spLocks noGrp="1"/>
          </p:cNvSpPr>
          <p:nvPr>
            <p:ph type="sldNum" sz="quarter" idx="12"/>
          </p:nvPr>
        </p:nvSpPr>
        <p:spPr>
          <a:noFill/>
        </p:spPr>
        <p:txBody>
          <a:bodyPr/>
          <a:lstStyle/>
          <a:p>
            <a:fld id="{86E5203B-40B4-4C87-8544-8A624E583516}" type="slidenum">
              <a:rPr lang="en-US" altLang="zh-CN" smtClean="0">
                <a:latin typeface="华文中宋" pitchFamily="2" charset="-122"/>
                <a:ea typeface="华文中宋" pitchFamily="2" charset="-122"/>
              </a:rPr>
              <a:pPr/>
              <a:t>51</a:t>
            </a:fld>
            <a:endParaRPr lang="en-US" altLang="zh-CN" smtClean="0">
              <a:latin typeface="华文中宋" pitchFamily="2" charset="-122"/>
              <a:ea typeface="华文中宋" pitchFamily="2" charset="-122"/>
            </a:endParaRPr>
          </a:p>
        </p:txBody>
      </p:sp>
      <p:sp>
        <p:nvSpPr>
          <p:cNvPr id="35845" name="Text Box 2"/>
          <p:cNvSpPr txBox="1">
            <a:spLocks noChangeArrowheads="1"/>
          </p:cNvSpPr>
          <p:nvPr/>
        </p:nvSpPr>
        <p:spPr bwMode="auto">
          <a:xfrm>
            <a:off x="7596188" y="0"/>
            <a:ext cx="154781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35846" name="Rectangle 3"/>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最可几分布和一切分布 </a:t>
            </a:r>
          </a:p>
        </p:txBody>
      </p:sp>
      <p:sp>
        <p:nvSpPr>
          <p:cNvPr id="59396" name="Text Box 4"/>
          <p:cNvSpPr txBox="1">
            <a:spLocks noChangeArrowheads="1"/>
          </p:cNvSpPr>
          <p:nvPr/>
        </p:nvSpPr>
        <p:spPr bwMode="auto">
          <a:xfrm>
            <a:off x="719138" y="1600200"/>
            <a:ext cx="8494633" cy="830997"/>
          </a:xfrm>
          <a:prstGeom prst="rect">
            <a:avLst/>
          </a:prstGeom>
          <a:noFill/>
          <a:ln w="9525">
            <a:noFill/>
            <a:miter lim="800000"/>
            <a:headEnd/>
            <a:tailEnd/>
          </a:ln>
        </p:spPr>
        <p:txBody>
          <a:bodyPr wrap="none">
            <a:spAutoFit/>
          </a:bodyPr>
          <a:lstStyle/>
          <a:p>
            <a:r>
              <a:rPr lang="zh-CN" altLang="en-US" sz="2400" b="1" dirty="0" smtClean="0">
                <a:solidFill>
                  <a:schemeClr val="bg1"/>
                </a:solidFill>
                <a:latin typeface="华文中宋" pitchFamily="2" charset="-122"/>
                <a:ea typeface="华文中宋" pitchFamily="2" charset="-122"/>
              </a:rPr>
              <a:t>对应微观</a:t>
            </a:r>
            <a:r>
              <a:rPr lang="zh-CN" altLang="en-US" sz="2400" b="1" dirty="0">
                <a:solidFill>
                  <a:schemeClr val="bg1"/>
                </a:solidFill>
                <a:latin typeface="华文中宋" pitchFamily="2" charset="-122"/>
                <a:ea typeface="华文中宋" pitchFamily="2" charset="-122"/>
              </a:rPr>
              <a:t>状态最多的</a:t>
            </a:r>
            <a:r>
              <a:rPr lang="zh-CN" altLang="en-US" sz="2400" b="1" dirty="0" smtClean="0">
                <a:solidFill>
                  <a:schemeClr val="bg1"/>
                </a:solidFill>
                <a:latin typeface="华文中宋" pitchFamily="2" charset="-122"/>
                <a:ea typeface="华文中宋" pitchFamily="2" charset="-122"/>
              </a:rPr>
              <a:t>分布有特殊意义</a:t>
            </a:r>
            <a:r>
              <a:rPr lang="zh-CN" altLang="en-US" sz="2400" b="1" dirty="0">
                <a:solidFill>
                  <a:schemeClr val="bg1"/>
                </a:solidFill>
                <a:latin typeface="华文中宋" pitchFamily="2" charset="-122"/>
                <a:ea typeface="华文中宋" pitchFamily="2" charset="-122"/>
              </a:rPr>
              <a:t>，它是</a:t>
            </a:r>
            <a:r>
              <a:rPr lang="zh-CN" altLang="en-US" sz="2400" b="1" dirty="0" smtClean="0">
                <a:solidFill>
                  <a:schemeClr val="bg1"/>
                </a:solidFill>
                <a:latin typeface="华文中宋" pitchFamily="2" charset="-122"/>
                <a:ea typeface="华文中宋" pitchFamily="2" charset="-122"/>
              </a:rPr>
              <a:t>热力学</a:t>
            </a:r>
            <a:r>
              <a:rPr lang="zh-CN" altLang="en-US" sz="2400" b="1" dirty="0">
                <a:solidFill>
                  <a:schemeClr val="bg1"/>
                </a:solidFill>
                <a:latin typeface="华文中宋" pitchFamily="2" charset="-122"/>
                <a:ea typeface="华文中宋" pitchFamily="2" charset="-122"/>
              </a:rPr>
              <a:t>的平衡态</a:t>
            </a:r>
            <a:r>
              <a:rPr lang="zh-CN" altLang="en-US" sz="2400" b="1" dirty="0" smtClean="0">
                <a:solidFill>
                  <a:schemeClr val="bg1"/>
                </a:solidFill>
                <a:latin typeface="华文中宋" pitchFamily="2" charset="-122"/>
                <a:ea typeface="华文中宋" pitchFamily="2" charset="-122"/>
              </a:rPr>
              <a:t>，</a:t>
            </a:r>
            <a:endParaRPr lang="en-US" altLang="zh-CN" sz="2400" b="1" dirty="0" smtClean="0">
              <a:solidFill>
                <a:schemeClr val="bg1"/>
              </a:solidFill>
              <a:latin typeface="华文中宋" pitchFamily="2" charset="-122"/>
              <a:ea typeface="华文中宋" pitchFamily="2" charset="-122"/>
            </a:endParaRPr>
          </a:p>
          <a:p>
            <a:r>
              <a:rPr lang="zh-CN" altLang="en-US" sz="2400" b="1" dirty="0" smtClean="0">
                <a:solidFill>
                  <a:schemeClr val="bg1"/>
                </a:solidFill>
                <a:latin typeface="华文中宋" pitchFamily="2" charset="-122"/>
                <a:ea typeface="华文中宋" pitchFamily="2" charset="-122"/>
              </a:rPr>
              <a:t>我们</a:t>
            </a:r>
            <a:r>
              <a:rPr lang="zh-CN" altLang="en-US" sz="2400" b="1" dirty="0">
                <a:solidFill>
                  <a:schemeClr val="bg1"/>
                </a:solidFill>
                <a:latin typeface="华文中宋" pitchFamily="2" charset="-122"/>
                <a:ea typeface="华文中宋" pitchFamily="2" charset="-122"/>
              </a:rPr>
              <a:t>把这种分布叫做</a:t>
            </a:r>
            <a:r>
              <a:rPr lang="zh-CN" altLang="en-US" sz="2400" b="1" dirty="0">
                <a:solidFill>
                  <a:srgbClr val="D2DC08"/>
                </a:solidFill>
                <a:latin typeface="华文中宋" pitchFamily="2" charset="-122"/>
                <a:ea typeface="华文中宋" pitchFamily="2" charset="-122"/>
              </a:rPr>
              <a:t>最概然分布</a:t>
            </a:r>
            <a:r>
              <a:rPr lang="zh-CN" altLang="en-US" sz="2400" b="1" dirty="0">
                <a:solidFill>
                  <a:schemeClr val="bg1"/>
                </a:solidFill>
                <a:latin typeface="华文中宋" pitchFamily="2" charset="-122"/>
                <a:ea typeface="华文中宋" pitchFamily="2" charset="-122"/>
              </a:rPr>
              <a:t>或</a:t>
            </a:r>
            <a:r>
              <a:rPr lang="zh-CN" altLang="en-US" sz="2400" b="1" dirty="0">
                <a:solidFill>
                  <a:srgbClr val="D2DC08"/>
                </a:solidFill>
                <a:latin typeface="华文中宋" pitchFamily="2" charset="-122"/>
                <a:ea typeface="华文中宋" pitchFamily="2" charset="-122"/>
              </a:rPr>
              <a:t>最可几分布</a:t>
            </a:r>
            <a:r>
              <a:rPr lang="zh-CN" altLang="en-US" sz="2400" b="1" dirty="0">
                <a:solidFill>
                  <a:schemeClr val="bg1"/>
                </a:solidFill>
                <a:latin typeface="华文中宋" pitchFamily="2" charset="-122"/>
                <a:ea typeface="华文中宋" pitchFamily="2" charset="-122"/>
              </a:rPr>
              <a:t>。 </a:t>
            </a:r>
          </a:p>
        </p:txBody>
      </p:sp>
      <p:sp>
        <p:nvSpPr>
          <p:cNvPr id="59397" name="Text Box 5"/>
          <p:cNvSpPr txBox="1">
            <a:spLocks noChangeArrowheads="1"/>
          </p:cNvSpPr>
          <p:nvPr/>
        </p:nvSpPr>
        <p:spPr bwMode="auto">
          <a:xfrm>
            <a:off x="685800" y="2606675"/>
            <a:ext cx="8186857" cy="830997"/>
          </a:xfrm>
          <a:prstGeom prst="rect">
            <a:avLst/>
          </a:prstGeom>
          <a:noFill/>
          <a:ln w="9525">
            <a:noFill/>
            <a:miter lim="800000"/>
            <a:headEnd/>
            <a:tailEnd/>
          </a:ln>
        </p:spPr>
        <p:txBody>
          <a:bodyPr wrap="none">
            <a:spAutoFit/>
          </a:bodyPr>
          <a:lstStyle/>
          <a:p>
            <a:r>
              <a:rPr lang="zh-CN" altLang="en-US" sz="2400" b="1" dirty="0" smtClean="0">
                <a:solidFill>
                  <a:schemeClr val="bg1"/>
                </a:solidFill>
                <a:latin typeface="华文中宋" pitchFamily="2" charset="-122"/>
                <a:ea typeface="华文中宋" pitchFamily="2" charset="-122"/>
              </a:rPr>
              <a:t>粒子</a:t>
            </a:r>
            <a:r>
              <a:rPr lang="zh-CN" altLang="en-US" sz="2400" b="1" dirty="0">
                <a:solidFill>
                  <a:schemeClr val="bg1"/>
                </a:solidFill>
                <a:latin typeface="华文中宋" pitchFamily="2" charset="-122"/>
                <a:ea typeface="华文中宋" pitchFamily="2" charset="-122"/>
              </a:rPr>
              <a:t>数极大时，最可几分布所对应的微观状态</a:t>
            </a:r>
            <a:r>
              <a:rPr lang="zh-CN" altLang="en-US" sz="2400" b="1" dirty="0" smtClean="0">
                <a:solidFill>
                  <a:schemeClr val="bg1"/>
                </a:solidFill>
                <a:latin typeface="华文中宋" pitchFamily="2" charset="-122"/>
                <a:ea typeface="华文中宋" pitchFamily="2" charset="-122"/>
              </a:rPr>
              <a:t>数与</a:t>
            </a:r>
            <a:r>
              <a:rPr lang="zh-CN" altLang="en-US" sz="2400" b="1" dirty="0">
                <a:solidFill>
                  <a:schemeClr val="bg1"/>
                </a:solidFill>
                <a:latin typeface="华文中宋" pitchFamily="2" charset="-122"/>
                <a:ea typeface="华文中宋" pitchFamily="2" charset="-122"/>
              </a:rPr>
              <a:t>所有</a:t>
            </a:r>
            <a:r>
              <a:rPr lang="zh-CN" altLang="en-US" sz="2400" b="1" dirty="0" smtClean="0">
                <a:solidFill>
                  <a:schemeClr val="bg1"/>
                </a:solidFill>
                <a:latin typeface="华文中宋" pitchFamily="2" charset="-122"/>
                <a:ea typeface="华文中宋" pitchFamily="2" charset="-122"/>
              </a:rPr>
              <a:t>可能</a:t>
            </a:r>
            <a:endParaRPr lang="en-US" altLang="zh-CN" sz="2400" b="1" dirty="0" smtClean="0">
              <a:solidFill>
                <a:schemeClr val="bg1"/>
              </a:solidFill>
              <a:latin typeface="华文中宋" pitchFamily="2" charset="-122"/>
              <a:ea typeface="华文中宋" pitchFamily="2" charset="-122"/>
            </a:endParaRPr>
          </a:p>
          <a:p>
            <a:r>
              <a:rPr lang="zh-CN" altLang="en-US" sz="2400" b="1" dirty="0" smtClean="0">
                <a:solidFill>
                  <a:schemeClr val="bg1"/>
                </a:solidFill>
                <a:latin typeface="华文中宋" pitchFamily="2" charset="-122"/>
                <a:ea typeface="华文中宋" pitchFamily="2" charset="-122"/>
              </a:rPr>
              <a:t>分布</a:t>
            </a:r>
            <a:r>
              <a:rPr lang="zh-CN" altLang="en-US" sz="2400" b="1" dirty="0">
                <a:solidFill>
                  <a:schemeClr val="bg1"/>
                </a:solidFill>
                <a:latin typeface="华文中宋" pitchFamily="2" charset="-122"/>
                <a:ea typeface="华文中宋" pitchFamily="2" charset="-122"/>
              </a:rPr>
              <a:t>对应的微观状态数近似相等，即 </a:t>
            </a:r>
          </a:p>
        </p:txBody>
      </p:sp>
      <p:grpSp>
        <p:nvGrpSpPr>
          <p:cNvPr id="2" name="Group 13"/>
          <p:cNvGrpSpPr>
            <a:grpSpLocks/>
          </p:cNvGrpSpPr>
          <p:nvPr/>
        </p:nvGrpSpPr>
        <p:grpSpPr bwMode="auto">
          <a:xfrm>
            <a:off x="762000" y="3581400"/>
            <a:ext cx="7299325" cy="990600"/>
            <a:chOff x="480" y="2064"/>
            <a:chExt cx="4598" cy="624"/>
          </a:xfrm>
        </p:grpSpPr>
        <p:graphicFrame>
          <p:nvGraphicFramePr>
            <p:cNvPr id="35842" name="Object 6"/>
            <p:cNvGraphicFramePr>
              <a:graphicFrameLocks noChangeAspect="1"/>
            </p:cNvGraphicFramePr>
            <p:nvPr/>
          </p:nvGraphicFramePr>
          <p:xfrm>
            <a:off x="1296" y="2064"/>
            <a:ext cx="2294" cy="300"/>
          </p:xfrm>
          <a:graphic>
            <a:graphicData uri="http://schemas.openxmlformats.org/presentationml/2006/ole">
              <p:oleObj spid="_x0000_s35842" r:id="rId3" imgW="1816100" imgH="241300" progId="Equation.DSMT4">
                <p:embed/>
              </p:oleObj>
            </a:graphicData>
          </a:graphic>
        </p:graphicFrame>
        <p:grpSp>
          <p:nvGrpSpPr>
            <p:cNvPr id="35853" name="Group 12"/>
            <p:cNvGrpSpPr>
              <a:grpSpLocks/>
            </p:cNvGrpSpPr>
            <p:nvPr/>
          </p:nvGrpSpPr>
          <p:grpSpPr bwMode="auto">
            <a:xfrm>
              <a:off x="480" y="2352"/>
              <a:ext cx="4598" cy="336"/>
              <a:chOff x="480" y="2352"/>
              <a:chExt cx="4598" cy="336"/>
            </a:xfrm>
          </p:grpSpPr>
          <p:sp>
            <p:nvSpPr>
              <p:cNvPr id="35854" name="Text Box 8"/>
              <p:cNvSpPr txBox="1">
                <a:spLocks noChangeArrowheads="1"/>
              </p:cNvSpPr>
              <p:nvPr/>
            </p:nvSpPr>
            <p:spPr bwMode="auto">
              <a:xfrm>
                <a:off x="480" y="2352"/>
                <a:ext cx="761" cy="291"/>
              </a:xfrm>
              <a:prstGeom prst="rect">
                <a:avLst/>
              </a:prstGeom>
              <a:noFill/>
              <a:ln w="9525">
                <a:noFill/>
                <a:miter lim="800000"/>
                <a:headEnd/>
                <a:tailEnd/>
              </a:ln>
            </p:spPr>
            <p:txBody>
              <a:bodyPr wrap="none">
                <a:spAutoFit/>
              </a:bodyPr>
              <a:lstStyle/>
              <a:p>
                <a:r>
                  <a:rPr lang="zh-CN" altLang="en-US" sz="2400" b="1">
                    <a:solidFill>
                      <a:schemeClr val="bg1"/>
                    </a:solidFill>
                    <a:latin typeface="华文中宋" pitchFamily="2" charset="-122"/>
                    <a:ea typeface="华文中宋" pitchFamily="2" charset="-122"/>
                  </a:rPr>
                  <a:t>式中， </a:t>
                </a:r>
              </a:p>
            </p:txBody>
          </p:sp>
          <p:sp>
            <p:nvSpPr>
              <p:cNvPr id="35855" name="Text Box 9"/>
              <p:cNvSpPr txBox="1">
                <a:spLocks noChangeArrowheads="1"/>
              </p:cNvSpPr>
              <p:nvPr/>
            </p:nvSpPr>
            <p:spPr bwMode="auto">
              <a:xfrm>
                <a:off x="1584" y="2352"/>
                <a:ext cx="3494" cy="288"/>
              </a:xfrm>
              <a:prstGeom prst="rect">
                <a:avLst/>
              </a:prstGeom>
              <a:noFill/>
              <a:ln w="9525">
                <a:noFill/>
                <a:miter lim="800000"/>
                <a:headEnd/>
                <a:tailEnd/>
              </a:ln>
            </p:spPr>
            <p:txBody>
              <a:bodyPr wrap="none">
                <a:spAutoFit/>
              </a:bodyPr>
              <a:lstStyle/>
              <a:p>
                <a:r>
                  <a:rPr lang="zh-CN" altLang="en-US" sz="2400" b="1">
                    <a:solidFill>
                      <a:schemeClr val="bg1"/>
                    </a:solidFill>
                    <a:latin typeface="华文中宋" pitchFamily="2" charset="-122"/>
                    <a:ea typeface="华文中宋" pitchFamily="2" charset="-122"/>
                  </a:rPr>
                  <a:t>表示最可几分布所对应的微观状态数。 </a:t>
                </a:r>
              </a:p>
            </p:txBody>
          </p:sp>
          <p:graphicFrame>
            <p:nvGraphicFramePr>
              <p:cNvPr id="35843" name="Object 10"/>
              <p:cNvGraphicFramePr>
                <a:graphicFrameLocks noChangeAspect="1"/>
              </p:cNvGraphicFramePr>
              <p:nvPr/>
            </p:nvGraphicFramePr>
            <p:xfrm>
              <a:off x="1104" y="2385"/>
              <a:ext cx="496" cy="303"/>
            </p:xfrm>
            <a:graphic>
              <a:graphicData uri="http://schemas.openxmlformats.org/presentationml/2006/ole">
                <p:oleObj spid="_x0000_s35843" r:id="rId4" imgW="393529" imgH="241195" progId="Equation.DSMT4">
                  <p:embed/>
                </p:oleObj>
              </a:graphicData>
            </a:graphic>
          </p:graphicFrame>
        </p:grpSp>
      </p:grpSp>
      <p:sp>
        <p:nvSpPr>
          <p:cNvPr id="59406" name="Text Box 14" descr="绿色大理石"/>
          <p:cNvSpPr txBox="1">
            <a:spLocks noChangeArrowheads="1"/>
          </p:cNvSpPr>
          <p:nvPr/>
        </p:nvSpPr>
        <p:spPr bwMode="auto">
          <a:xfrm>
            <a:off x="838200" y="4745038"/>
            <a:ext cx="6470650" cy="457200"/>
          </a:xfrm>
          <a:prstGeom prst="rect">
            <a:avLst/>
          </a:prstGeom>
          <a:blipFill dpi="0" rotWithShape="0">
            <a:blip r:embed="rId5"/>
            <a:srcRect/>
            <a:tile tx="0" ty="0" sx="100000" sy="100000" flip="none" algn="tl"/>
          </a:blipFill>
          <a:ln w="9525">
            <a:noFill/>
            <a:miter lim="800000"/>
            <a:headEnd/>
            <a:tailEnd/>
          </a:ln>
        </p:spPr>
        <p:txBody>
          <a:bodyPr>
            <a:spAutoFit/>
          </a:bodyPr>
          <a:lstStyle/>
          <a:p>
            <a:r>
              <a:rPr lang="zh-CN" altLang="en-US" sz="2400" b="1">
                <a:solidFill>
                  <a:schemeClr val="bg2"/>
                </a:solidFill>
                <a:latin typeface="华文中宋" pitchFamily="2" charset="-122"/>
                <a:ea typeface="华文中宋" pitchFamily="2" charset="-122"/>
              </a:rPr>
              <a:t>为什么最可几分布可以代表整体的平衡特性？</a:t>
            </a:r>
          </a:p>
        </p:txBody>
      </p:sp>
      <p:sp>
        <p:nvSpPr>
          <p:cNvPr id="59407" name="Text Box 15" descr="绿色大理石"/>
          <p:cNvSpPr txBox="1">
            <a:spLocks noChangeArrowheads="1"/>
          </p:cNvSpPr>
          <p:nvPr/>
        </p:nvSpPr>
        <p:spPr bwMode="auto">
          <a:xfrm>
            <a:off x="838200" y="5334000"/>
            <a:ext cx="6448444" cy="461665"/>
          </a:xfrm>
          <a:prstGeom prst="rect">
            <a:avLst/>
          </a:prstGeom>
          <a:blipFill dpi="0" rotWithShape="0">
            <a:blip r:embed="rId5"/>
            <a:srcRect/>
            <a:tile tx="0" ty="0" sx="100000" sy="100000" flip="none" algn="tl"/>
          </a:blipFill>
          <a:ln w="9525">
            <a:noFill/>
            <a:miter lim="800000"/>
            <a:headEnd/>
            <a:tailEnd/>
          </a:ln>
        </p:spPr>
        <p:txBody>
          <a:bodyPr wrap="square">
            <a:spAutoFit/>
          </a:bodyPr>
          <a:lstStyle/>
          <a:p>
            <a:r>
              <a:rPr lang="zh-CN" altLang="en-US" sz="2400" b="1" dirty="0">
                <a:solidFill>
                  <a:schemeClr val="bg2"/>
                </a:solidFill>
                <a:latin typeface="华文中宋" pitchFamily="2" charset="-122"/>
                <a:ea typeface="华文中宋" pitchFamily="2" charset="-122"/>
              </a:rPr>
              <a:t>最可几</a:t>
            </a:r>
            <a:r>
              <a:rPr lang="zh-CN" altLang="en-US" sz="2400" b="1" dirty="0" smtClean="0">
                <a:solidFill>
                  <a:schemeClr val="bg2"/>
                </a:solidFill>
                <a:latin typeface="华文中宋" pitchFamily="2" charset="-122"/>
                <a:ea typeface="华文中宋" pitchFamily="2" charset="-122"/>
              </a:rPr>
              <a:t>分布本身出现</a:t>
            </a:r>
            <a:r>
              <a:rPr lang="zh-CN" altLang="en-US" sz="2400" b="1" dirty="0">
                <a:solidFill>
                  <a:schemeClr val="bg2"/>
                </a:solidFill>
                <a:latin typeface="华文中宋" pitchFamily="2" charset="-122"/>
                <a:ea typeface="华文中宋" pitchFamily="2" charset="-122"/>
              </a:rPr>
              <a:t>的几率究竟有多大？</a:t>
            </a:r>
          </a:p>
        </p:txBody>
      </p:sp>
      <p:sp>
        <p:nvSpPr>
          <p:cNvPr id="59408" name="Text Box 16" descr="绿色大理石"/>
          <p:cNvSpPr txBox="1">
            <a:spLocks noChangeArrowheads="1"/>
          </p:cNvSpPr>
          <p:nvPr/>
        </p:nvSpPr>
        <p:spPr bwMode="auto">
          <a:xfrm>
            <a:off x="841375" y="5943600"/>
            <a:ext cx="8302625" cy="830997"/>
          </a:xfrm>
          <a:prstGeom prst="rect">
            <a:avLst/>
          </a:prstGeom>
          <a:blipFill dpi="0" rotWithShape="0">
            <a:blip r:embed="rId5"/>
            <a:srcRect/>
            <a:tile tx="0" ty="0" sx="100000" sy="100000" flip="none" algn="tl"/>
          </a:blipFill>
          <a:ln w="9525">
            <a:noFill/>
            <a:miter lim="800000"/>
            <a:headEnd/>
            <a:tailEnd/>
          </a:ln>
        </p:spPr>
        <p:txBody>
          <a:bodyPr>
            <a:spAutoFit/>
          </a:bodyPr>
          <a:lstStyle/>
          <a:p>
            <a:r>
              <a:rPr lang="zh-CN" altLang="en-US" sz="2400" b="1" dirty="0">
                <a:solidFill>
                  <a:schemeClr val="bg2"/>
                </a:solidFill>
                <a:latin typeface="华文中宋" pitchFamily="2" charset="-122"/>
                <a:ea typeface="华文中宋" pitchFamily="2" charset="-122"/>
              </a:rPr>
              <a:t>所有粒子全部集中于体系的</a:t>
            </a:r>
            <a:r>
              <a:rPr lang="zh-CN" altLang="en-US" sz="2400" b="1" dirty="0" smtClean="0">
                <a:solidFill>
                  <a:schemeClr val="bg2"/>
                </a:solidFill>
                <a:latin typeface="华文中宋" pitchFamily="2" charset="-122"/>
                <a:ea typeface="华文中宋" pitchFamily="2" charset="-122"/>
              </a:rPr>
              <a:t>一部分也</a:t>
            </a:r>
            <a:r>
              <a:rPr lang="zh-CN" altLang="en-US" sz="2400" b="1" dirty="0">
                <a:solidFill>
                  <a:schemeClr val="bg2"/>
                </a:solidFill>
                <a:latin typeface="华文中宋" pitchFamily="2" charset="-122"/>
                <a:ea typeface="华文中宋" pitchFamily="2" charset="-122"/>
              </a:rPr>
              <a:t>是系统的可及</a:t>
            </a:r>
            <a:r>
              <a:rPr lang="zh-CN" altLang="en-US" sz="2400" b="1" dirty="0" smtClean="0">
                <a:solidFill>
                  <a:schemeClr val="bg2"/>
                </a:solidFill>
                <a:latin typeface="华文中宋" pitchFamily="2" charset="-122"/>
                <a:ea typeface="华文中宋" pitchFamily="2" charset="-122"/>
              </a:rPr>
              <a:t>状态</a:t>
            </a:r>
            <a:r>
              <a:rPr lang="zh-CN" altLang="en-US" sz="2400" b="1" dirty="0">
                <a:solidFill>
                  <a:schemeClr val="bg2"/>
                </a:solidFill>
                <a:latin typeface="华文中宋" pitchFamily="2" charset="-122"/>
                <a:ea typeface="华文中宋" pitchFamily="2" charset="-122"/>
              </a:rPr>
              <a:t>，为什么在平衡态时观察不到 ？</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59396"/>
                                        </p:tgtEl>
                                        <p:attrNameLst>
                                          <p:attrName>style.visibility</p:attrName>
                                        </p:attrNameLst>
                                      </p:cBhvr>
                                      <p:to>
                                        <p:strVal val="visible"/>
                                      </p:to>
                                    </p:set>
                                    <p:animEffect transition="in" filter="barn(outHorizontal)">
                                      <p:cBhvr>
                                        <p:cTn id="7" dur="500"/>
                                        <p:tgtEl>
                                          <p:spTgt spid="5939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59397"/>
                                        </p:tgtEl>
                                        <p:attrNameLst>
                                          <p:attrName>style.visibility</p:attrName>
                                        </p:attrNameLst>
                                      </p:cBhvr>
                                      <p:to>
                                        <p:strVal val="visible"/>
                                      </p:to>
                                    </p:set>
                                    <p:animEffect transition="in" filter="barn(outHorizontal)">
                                      <p:cBhvr>
                                        <p:cTn id="12" dur="500"/>
                                        <p:tgtEl>
                                          <p:spTgt spid="5939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arn(out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59406"/>
                                        </p:tgtEl>
                                        <p:attrNameLst>
                                          <p:attrName>style.visibility</p:attrName>
                                        </p:attrNameLst>
                                      </p:cBhvr>
                                      <p:to>
                                        <p:strVal val="visible"/>
                                      </p:to>
                                    </p:set>
                                    <p:animEffect transition="in" filter="barn(outHorizontal)">
                                      <p:cBhvr>
                                        <p:cTn id="22" dur="500"/>
                                        <p:tgtEl>
                                          <p:spTgt spid="5940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59407"/>
                                        </p:tgtEl>
                                        <p:attrNameLst>
                                          <p:attrName>style.visibility</p:attrName>
                                        </p:attrNameLst>
                                      </p:cBhvr>
                                      <p:to>
                                        <p:strVal val="visible"/>
                                      </p:to>
                                    </p:set>
                                    <p:animEffect transition="in" filter="barn(outHorizontal)">
                                      <p:cBhvr>
                                        <p:cTn id="27" dur="500"/>
                                        <p:tgtEl>
                                          <p:spTgt spid="5940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grpId="0" nodeType="clickEffect">
                                  <p:stCondLst>
                                    <p:cond delay="0"/>
                                  </p:stCondLst>
                                  <p:childTnLst>
                                    <p:set>
                                      <p:cBhvr>
                                        <p:cTn id="31" dur="1" fill="hold">
                                          <p:stCondLst>
                                            <p:cond delay="0"/>
                                          </p:stCondLst>
                                        </p:cTn>
                                        <p:tgtEl>
                                          <p:spTgt spid="59408"/>
                                        </p:tgtEl>
                                        <p:attrNameLst>
                                          <p:attrName>style.visibility</p:attrName>
                                        </p:attrNameLst>
                                      </p:cBhvr>
                                      <p:to>
                                        <p:strVal val="visible"/>
                                      </p:to>
                                    </p:set>
                                    <p:animEffect transition="in" filter="barn(outHorizontal)">
                                      <p:cBhvr>
                                        <p:cTn id="32" dur="500"/>
                                        <p:tgtEl>
                                          <p:spTgt spid="59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6" grpId="0" autoUpdateAnimBg="0"/>
      <p:bldP spid="59397" grpId="0" autoUpdateAnimBg="0"/>
      <p:bldP spid="59406" grpId="0" animBg="1" autoUpdateAnimBg="0"/>
      <p:bldP spid="59407" grpId="0" animBg="1" autoUpdateAnimBg="0"/>
      <p:bldP spid="59408" grpId="0" animBg="1"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1" name="灯片编号占位符 3"/>
          <p:cNvSpPr>
            <a:spLocks noGrp="1"/>
          </p:cNvSpPr>
          <p:nvPr>
            <p:ph type="sldNum" sz="quarter" idx="12"/>
          </p:nvPr>
        </p:nvSpPr>
        <p:spPr>
          <a:noFill/>
        </p:spPr>
        <p:txBody>
          <a:bodyPr/>
          <a:lstStyle/>
          <a:p>
            <a:fld id="{49A766E7-0DC4-483E-9D3F-B71B78B17FF6}" type="slidenum">
              <a:rPr lang="en-US" altLang="zh-CN" smtClean="0">
                <a:latin typeface="Times New Roman" pitchFamily="18" charset="0"/>
                <a:ea typeface="华文中宋" pitchFamily="2" charset="-122"/>
                <a:cs typeface="Times New Roman" pitchFamily="18" charset="0"/>
              </a:rPr>
              <a:pPr/>
              <a:t>52</a:t>
            </a:fld>
            <a:endParaRPr lang="en-US" altLang="zh-CN" smtClean="0">
              <a:latin typeface="Times New Roman" pitchFamily="18" charset="0"/>
              <a:ea typeface="华文中宋" pitchFamily="2" charset="-122"/>
              <a:cs typeface="Times New Roman" pitchFamily="18" charset="0"/>
            </a:endParaRPr>
          </a:p>
        </p:txBody>
      </p:sp>
      <p:sp>
        <p:nvSpPr>
          <p:cNvPr id="36872" name="Text Box 2"/>
          <p:cNvSpPr txBox="1">
            <a:spLocks noChangeArrowheads="1"/>
          </p:cNvSpPr>
          <p:nvPr/>
        </p:nvSpPr>
        <p:spPr bwMode="auto">
          <a:xfrm>
            <a:off x="7524750" y="0"/>
            <a:ext cx="1619250"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36873" name="Rectangle 3"/>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最可几分布和一切分布 </a:t>
            </a:r>
          </a:p>
        </p:txBody>
      </p:sp>
      <p:sp>
        <p:nvSpPr>
          <p:cNvPr id="60420" name="Text Box 4"/>
          <p:cNvSpPr txBox="1">
            <a:spLocks noChangeArrowheads="1"/>
          </p:cNvSpPr>
          <p:nvPr/>
        </p:nvSpPr>
        <p:spPr bwMode="auto">
          <a:xfrm>
            <a:off x="685800" y="1219200"/>
            <a:ext cx="8414483" cy="830997"/>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例：假设有</a:t>
            </a:r>
            <a:r>
              <a:rPr lang="en-US" altLang="zh-CN" sz="2400" b="1" i="1">
                <a:solidFill>
                  <a:schemeClr val="bg1"/>
                </a:solidFill>
                <a:latin typeface="Times New Roman" pitchFamily="18" charset="0"/>
                <a:ea typeface="华文中宋" pitchFamily="2" charset="-122"/>
                <a:cs typeface="Times New Roman" pitchFamily="18" charset="0"/>
              </a:rPr>
              <a:t>N</a:t>
            </a:r>
            <a:r>
              <a:rPr lang="zh-CN" altLang="en-US" sz="2400" b="1">
                <a:solidFill>
                  <a:schemeClr val="bg1"/>
                </a:solidFill>
                <a:latin typeface="Times New Roman" pitchFamily="18" charset="0"/>
                <a:ea typeface="华文中宋" pitchFamily="2" charset="-122"/>
                <a:cs typeface="Times New Roman" pitchFamily="18" charset="0"/>
              </a:rPr>
              <a:t>个彼此可分辨的粒子可在一个容器的左右两半自</a:t>
            </a:r>
          </a:p>
          <a:p>
            <a:r>
              <a:rPr lang="zh-CN" altLang="en-US" sz="2400" b="1">
                <a:solidFill>
                  <a:schemeClr val="bg1"/>
                </a:solidFill>
                <a:latin typeface="Times New Roman" pitchFamily="18" charset="0"/>
                <a:ea typeface="华文中宋" pitchFamily="2" charset="-122"/>
                <a:cs typeface="Times New Roman" pitchFamily="18" charset="0"/>
              </a:rPr>
              <a:t>由分配，显然最可几分布是左右两边各占一半，即 </a:t>
            </a:r>
          </a:p>
        </p:txBody>
      </p:sp>
      <p:graphicFrame>
        <p:nvGraphicFramePr>
          <p:cNvPr id="60421" name="Object 5"/>
          <p:cNvGraphicFramePr>
            <a:graphicFrameLocks noChangeAspect="1"/>
          </p:cNvGraphicFramePr>
          <p:nvPr/>
        </p:nvGraphicFramePr>
        <p:xfrm>
          <a:off x="3429000" y="1981200"/>
          <a:ext cx="2382838" cy="1162050"/>
        </p:xfrm>
        <a:graphic>
          <a:graphicData uri="http://schemas.openxmlformats.org/presentationml/2006/ole">
            <p:oleObj spid="_x0000_s36866" r:id="rId3" imgW="1193800" imgH="584200" progId="Equation.DSMT4">
              <p:embed/>
            </p:oleObj>
          </a:graphicData>
        </a:graphic>
      </p:graphicFrame>
      <p:grpSp>
        <p:nvGrpSpPr>
          <p:cNvPr id="2" name="Group 18"/>
          <p:cNvGrpSpPr>
            <a:grpSpLocks/>
          </p:cNvGrpSpPr>
          <p:nvPr/>
        </p:nvGrpSpPr>
        <p:grpSpPr bwMode="auto">
          <a:xfrm>
            <a:off x="838200" y="3333750"/>
            <a:ext cx="7315200" cy="857250"/>
            <a:chOff x="528" y="2100"/>
            <a:chExt cx="4608" cy="540"/>
          </a:xfrm>
        </p:grpSpPr>
        <p:sp>
          <p:nvSpPr>
            <p:cNvPr id="36882" name="Text Box 7"/>
            <p:cNvSpPr txBox="1">
              <a:spLocks noChangeArrowheads="1"/>
            </p:cNvSpPr>
            <p:nvPr/>
          </p:nvSpPr>
          <p:spPr bwMode="auto">
            <a:xfrm>
              <a:off x="528" y="2208"/>
              <a:ext cx="2866" cy="288"/>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系统可以实现的总的微观态数为 </a:t>
              </a:r>
            </a:p>
          </p:txBody>
        </p:sp>
        <p:graphicFrame>
          <p:nvGraphicFramePr>
            <p:cNvPr id="36870" name="Object 8"/>
            <p:cNvGraphicFramePr>
              <a:graphicFrameLocks noChangeAspect="1"/>
            </p:cNvGraphicFramePr>
            <p:nvPr/>
          </p:nvGraphicFramePr>
          <p:xfrm>
            <a:off x="3467" y="2100"/>
            <a:ext cx="1669" cy="540"/>
          </p:xfrm>
          <a:graphic>
            <a:graphicData uri="http://schemas.openxmlformats.org/presentationml/2006/ole">
              <p:oleObj spid="_x0000_s36870" r:id="rId4" imgW="1320227" imgH="431613" progId="Equation.DSMT4">
                <p:embed/>
              </p:oleObj>
            </a:graphicData>
          </a:graphic>
        </p:graphicFrame>
      </p:grpSp>
      <p:grpSp>
        <p:nvGrpSpPr>
          <p:cNvPr id="3" name="Group 19"/>
          <p:cNvGrpSpPr>
            <a:grpSpLocks/>
          </p:cNvGrpSpPr>
          <p:nvPr/>
        </p:nvGrpSpPr>
        <p:grpSpPr bwMode="auto">
          <a:xfrm>
            <a:off x="838200" y="4324350"/>
            <a:ext cx="6875463" cy="857250"/>
            <a:chOff x="528" y="2724"/>
            <a:chExt cx="4331" cy="540"/>
          </a:xfrm>
        </p:grpSpPr>
        <p:sp>
          <p:nvSpPr>
            <p:cNvPr id="36881" name="Text Box 10"/>
            <p:cNvSpPr txBox="1">
              <a:spLocks noChangeArrowheads="1"/>
            </p:cNvSpPr>
            <p:nvPr/>
          </p:nvSpPr>
          <p:spPr bwMode="auto">
            <a:xfrm>
              <a:off x="528" y="2832"/>
              <a:ext cx="1342"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由二项式公式 </a:t>
              </a:r>
            </a:p>
          </p:txBody>
        </p:sp>
        <p:graphicFrame>
          <p:nvGraphicFramePr>
            <p:cNvPr id="36869" name="Object 11"/>
            <p:cNvGraphicFramePr>
              <a:graphicFrameLocks noChangeAspect="1"/>
            </p:cNvGraphicFramePr>
            <p:nvPr/>
          </p:nvGraphicFramePr>
          <p:xfrm>
            <a:off x="2016" y="2724"/>
            <a:ext cx="2843" cy="540"/>
          </p:xfrm>
          <a:graphic>
            <a:graphicData uri="http://schemas.openxmlformats.org/presentationml/2006/ole">
              <p:oleObj spid="_x0000_s36869" r:id="rId5" imgW="2260600" imgH="431800" progId="Equation.DSMT4">
                <p:embed/>
              </p:oleObj>
            </a:graphicData>
          </a:graphic>
        </p:graphicFrame>
      </p:grpSp>
      <p:grpSp>
        <p:nvGrpSpPr>
          <p:cNvPr id="4" name="Group 23"/>
          <p:cNvGrpSpPr>
            <a:grpSpLocks/>
          </p:cNvGrpSpPr>
          <p:nvPr/>
        </p:nvGrpSpPr>
        <p:grpSpPr bwMode="auto">
          <a:xfrm>
            <a:off x="914400" y="5410200"/>
            <a:ext cx="5865813" cy="862013"/>
            <a:chOff x="576" y="3408"/>
            <a:chExt cx="3695" cy="543"/>
          </a:xfrm>
        </p:grpSpPr>
        <p:grpSp>
          <p:nvGrpSpPr>
            <p:cNvPr id="36878" name="Group 20"/>
            <p:cNvGrpSpPr>
              <a:grpSpLocks/>
            </p:cNvGrpSpPr>
            <p:nvPr/>
          </p:nvGrpSpPr>
          <p:grpSpPr bwMode="auto">
            <a:xfrm>
              <a:off x="576" y="3552"/>
              <a:ext cx="1575" cy="291"/>
              <a:chOff x="576" y="3552"/>
              <a:chExt cx="1575" cy="291"/>
            </a:xfrm>
          </p:grpSpPr>
          <p:sp>
            <p:nvSpPr>
              <p:cNvPr id="36879" name="Text Box 14"/>
              <p:cNvSpPr txBox="1">
                <a:spLocks noChangeArrowheads="1"/>
              </p:cNvSpPr>
              <p:nvPr/>
            </p:nvSpPr>
            <p:spPr bwMode="auto">
              <a:xfrm>
                <a:off x="576" y="3552"/>
                <a:ext cx="373"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取 </a:t>
                </a:r>
              </a:p>
            </p:txBody>
          </p:sp>
          <p:graphicFrame>
            <p:nvGraphicFramePr>
              <p:cNvPr id="36868" name="Object 15"/>
              <p:cNvGraphicFramePr>
                <a:graphicFrameLocks noChangeAspect="1"/>
              </p:cNvGraphicFramePr>
              <p:nvPr/>
            </p:nvGraphicFramePr>
            <p:xfrm>
              <a:off x="912" y="3552"/>
              <a:ext cx="730" cy="251"/>
            </p:xfrm>
            <a:graphic>
              <a:graphicData uri="http://schemas.openxmlformats.org/presentationml/2006/ole">
                <p:oleObj spid="_x0000_s36868" r:id="rId6" imgW="583947" imgH="203112" progId="Equation.DSMT4">
                  <p:embed/>
                </p:oleObj>
              </a:graphicData>
            </a:graphic>
          </p:graphicFrame>
          <p:sp>
            <p:nvSpPr>
              <p:cNvPr id="36880" name="Text Box 17"/>
              <p:cNvSpPr txBox="1">
                <a:spLocks noChangeArrowheads="1"/>
              </p:cNvSpPr>
              <p:nvPr/>
            </p:nvSpPr>
            <p:spPr bwMode="auto">
              <a:xfrm>
                <a:off x="1584" y="3552"/>
                <a:ext cx="567"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可得 </a:t>
                </a:r>
              </a:p>
            </p:txBody>
          </p:sp>
        </p:grpSp>
        <p:graphicFrame>
          <p:nvGraphicFramePr>
            <p:cNvPr id="36867" name="Object 21"/>
            <p:cNvGraphicFramePr>
              <a:graphicFrameLocks noChangeAspect="1"/>
            </p:cNvGraphicFramePr>
            <p:nvPr/>
          </p:nvGraphicFramePr>
          <p:xfrm>
            <a:off x="2208" y="3408"/>
            <a:ext cx="2063" cy="543"/>
          </p:xfrm>
          <a:graphic>
            <a:graphicData uri="http://schemas.openxmlformats.org/presentationml/2006/ole">
              <p:oleObj spid="_x0000_s36867" r:id="rId7" imgW="1625600" imgH="431800" progId="Equation.DSMT4">
                <p:embed/>
              </p:oleObj>
            </a:graphicData>
          </a:graphic>
        </p:graphicFrame>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60420"/>
                                        </p:tgtEl>
                                        <p:attrNameLst>
                                          <p:attrName>style.visibility</p:attrName>
                                        </p:attrNameLst>
                                      </p:cBhvr>
                                      <p:to>
                                        <p:strVal val="visible"/>
                                      </p:to>
                                    </p:set>
                                    <p:animEffect transition="in" filter="barn(inHorizontal)">
                                      <p:cBhvr>
                                        <p:cTn id="7" dur="500"/>
                                        <p:tgtEl>
                                          <p:spTgt spid="6042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nodeType="clickEffect">
                                  <p:stCondLst>
                                    <p:cond delay="0"/>
                                  </p:stCondLst>
                                  <p:childTnLst>
                                    <p:set>
                                      <p:cBhvr>
                                        <p:cTn id="11" dur="1" fill="hold">
                                          <p:stCondLst>
                                            <p:cond delay="0"/>
                                          </p:stCondLst>
                                        </p:cTn>
                                        <p:tgtEl>
                                          <p:spTgt spid="60421"/>
                                        </p:tgtEl>
                                        <p:attrNameLst>
                                          <p:attrName>style.visibility</p:attrName>
                                        </p:attrNameLst>
                                      </p:cBhvr>
                                      <p:to>
                                        <p:strVal val="visible"/>
                                      </p:to>
                                    </p:set>
                                    <p:animEffect transition="in" filter="barn(inHorizontal)">
                                      <p:cBhvr>
                                        <p:cTn id="12" dur="500"/>
                                        <p:tgtEl>
                                          <p:spTgt spid="6042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arn(in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arn(in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arn(inHorizontal)">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0"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6" name="灯片编号占位符 3"/>
          <p:cNvSpPr>
            <a:spLocks noGrp="1"/>
          </p:cNvSpPr>
          <p:nvPr>
            <p:ph type="sldNum" sz="quarter" idx="12"/>
          </p:nvPr>
        </p:nvSpPr>
        <p:spPr>
          <a:noFill/>
        </p:spPr>
        <p:txBody>
          <a:bodyPr/>
          <a:lstStyle/>
          <a:p>
            <a:fld id="{3408C312-3647-4D08-A228-D0D4C71F6CD3}" type="slidenum">
              <a:rPr lang="en-US" altLang="zh-CN" smtClean="0"/>
              <a:pPr/>
              <a:t>53</a:t>
            </a:fld>
            <a:endParaRPr lang="en-US" altLang="zh-CN" smtClean="0"/>
          </a:p>
        </p:txBody>
      </p:sp>
      <p:sp>
        <p:nvSpPr>
          <p:cNvPr id="37897" name="Text Box 2"/>
          <p:cNvSpPr txBox="1">
            <a:spLocks noChangeArrowheads="1"/>
          </p:cNvSpPr>
          <p:nvPr/>
        </p:nvSpPr>
        <p:spPr bwMode="auto">
          <a:xfrm>
            <a:off x="7596188" y="0"/>
            <a:ext cx="154781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37898" name="Rectangle 3"/>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最可几分布和一切分布 </a:t>
            </a:r>
          </a:p>
        </p:txBody>
      </p:sp>
      <p:grpSp>
        <p:nvGrpSpPr>
          <p:cNvPr id="2" name="Group 21"/>
          <p:cNvGrpSpPr>
            <a:grpSpLocks/>
          </p:cNvGrpSpPr>
          <p:nvPr/>
        </p:nvGrpSpPr>
        <p:grpSpPr bwMode="auto">
          <a:xfrm>
            <a:off x="1447800" y="1219200"/>
            <a:ext cx="7008813" cy="1162050"/>
            <a:chOff x="912" y="768"/>
            <a:chExt cx="4415" cy="732"/>
          </a:xfrm>
        </p:grpSpPr>
        <p:graphicFrame>
          <p:nvGraphicFramePr>
            <p:cNvPr id="37894" name="Object 4" descr="信纸"/>
            <p:cNvGraphicFramePr>
              <a:graphicFrameLocks noChangeAspect="1"/>
            </p:cNvGraphicFramePr>
            <p:nvPr/>
          </p:nvGraphicFramePr>
          <p:xfrm>
            <a:off x="912" y="768"/>
            <a:ext cx="1501" cy="732"/>
          </p:xfrm>
          <a:graphic>
            <a:graphicData uri="http://schemas.openxmlformats.org/presentationml/2006/ole">
              <p:oleObj spid="_x0000_s37894" name="Equation" r:id="rId3" imgW="1193760" imgH="583920" progId="Equation.DSMT4">
                <p:embed/>
              </p:oleObj>
            </a:graphicData>
          </a:graphic>
        </p:graphicFrame>
        <p:graphicFrame>
          <p:nvGraphicFramePr>
            <p:cNvPr id="37895" name="Object 5"/>
            <p:cNvGraphicFramePr>
              <a:graphicFrameLocks noChangeAspect="1"/>
            </p:cNvGraphicFramePr>
            <p:nvPr/>
          </p:nvGraphicFramePr>
          <p:xfrm>
            <a:off x="3264" y="816"/>
            <a:ext cx="2063" cy="543"/>
          </p:xfrm>
          <a:graphic>
            <a:graphicData uri="http://schemas.openxmlformats.org/presentationml/2006/ole">
              <p:oleObj spid="_x0000_s37895" name="Equation" r:id="rId4" imgW="1625400" imgH="431640" progId="Equation.DSMT4">
                <p:embed/>
              </p:oleObj>
            </a:graphicData>
          </a:graphic>
        </p:graphicFrame>
      </p:grpSp>
      <p:grpSp>
        <p:nvGrpSpPr>
          <p:cNvPr id="3" name="Group 15"/>
          <p:cNvGrpSpPr>
            <a:grpSpLocks/>
          </p:cNvGrpSpPr>
          <p:nvPr/>
        </p:nvGrpSpPr>
        <p:grpSpPr bwMode="auto">
          <a:xfrm>
            <a:off x="974725" y="2438400"/>
            <a:ext cx="6380163" cy="785813"/>
            <a:chOff x="614" y="1536"/>
            <a:chExt cx="4019" cy="495"/>
          </a:xfrm>
        </p:grpSpPr>
        <p:sp>
          <p:nvSpPr>
            <p:cNvPr id="37906" name="Text Box 6"/>
            <p:cNvSpPr txBox="1">
              <a:spLocks noChangeArrowheads="1"/>
            </p:cNvSpPr>
            <p:nvPr/>
          </p:nvSpPr>
          <p:spPr bwMode="auto">
            <a:xfrm>
              <a:off x="614" y="1610"/>
              <a:ext cx="1370" cy="291"/>
            </a:xfrm>
            <a:prstGeom prst="rect">
              <a:avLst/>
            </a:prstGeom>
            <a:noFill/>
            <a:ln w="9525">
              <a:noFill/>
              <a:miter lim="800000"/>
              <a:headEnd/>
              <a:tailEnd/>
            </a:ln>
          </p:spPr>
          <p:txBody>
            <a:bodyPr wrap="none">
              <a:spAutoFit/>
            </a:bodyPr>
            <a:lstStyle/>
            <a:p>
              <a:r>
                <a:rPr lang="zh-CN" altLang="en-US" sz="2400" b="1" dirty="0">
                  <a:solidFill>
                    <a:schemeClr val="bg1"/>
                  </a:solidFill>
                  <a:latin typeface="Times New Roman" pitchFamily="18" charset="0"/>
                  <a:ea typeface="华文中宋" pitchFamily="2" charset="-122"/>
                  <a:cs typeface="Times New Roman" pitchFamily="18" charset="0"/>
                </a:rPr>
                <a:t>由</a:t>
              </a:r>
              <a:r>
                <a:rPr lang="en-US" altLang="zh-CN" sz="2400" b="1" dirty="0" err="1">
                  <a:solidFill>
                    <a:schemeClr val="bg1"/>
                  </a:solidFill>
                  <a:latin typeface="Times New Roman" pitchFamily="18" charset="0"/>
                  <a:ea typeface="华文中宋" pitchFamily="2" charset="-122"/>
                  <a:cs typeface="Times New Roman" pitchFamily="18" charset="0"/>
                </a:rPr>
                <a:t>Stirling</a:t>
              </a:r>
              <a:r>
                <a:rPr lang="zh-CN" altLang="en-US" sz="2400" b="1" dirty="0">
                  <a:solidFill>
                    <a:schemeClr val="bg1"/>
                  </a:solidFill>
                  <a:latin typeface="Times New Roman" pitchFamily="18" charset="0"/>
                  <a:ea typeface="华文中宋" pitchFamily="2" charset="-122"/>
                  <a:cs typeface="Times New Roman" pitchFamily="18" charset="0"/>
                </a:rPr>
                <a:t>公式 </a:t>
              </a:r>
            </a:p>
          </p:txBody>
        </p:sp>
        <p:graphicFrame>
          <p:nvGraphicFramePr>
            <p:cNvPr id="37893" name="Object 7"/>
            <p:cNvGraphicFramePr>
              <a:graphicFrameLocks noChangeAspect="1"/>
            </p:cNvGraphicFramePr>
            <p:nvPr/>
          </p:nvGraphicFramePr>
          <p:xfrm>
            <a:off x="2160" y="1536"/>
            <a:ext cx="2473" cy="495"/>
          </p:xfrm>
          <a:graphic>
            <a:graphicData uri="http://schemas.openxmlformats.org/presentationml/2006/ole">
              <p:oleObj spid="_x0000_s37893" r:id="rId5" imgW="1955800" imgH="393700" progId="Equation.DSMT4">
                <p:embed/>
              </p:oleObj>
            </a:graphicData>
          </a:graphic>
        </p:graphicFrame>
      </p:grpSp>
      <p:grpSp>
        <p:nvGrpSpPr>
          <p:cNvPr id="4" name="Group 16"/>
          <p:cNvGrpSpPr>
            <a:grpSpLocks/>
          </p:cNvGrpSpPr>
          <p:nvPr/>
        </p:nvGrpSpPr>
        <p:grpSpPr bwMode="auto">
          <a:xfrm>
            <a:off x="955675" y="3048000"/>
            <a:ext cx="4740275" cy="781050"/>
            <a:chOff x="602" y="1920"/>
            <a:chExt cx="2986" cy="492"/>
          </a:xfrm>
        </p:grpSpPr>
        <p:sp>
          <p:nvSpPr>
            <p:cNvPr id="37905" name="Text Box 9"/>
            <p:cNvSpPr txBox="1">
              <a:spLocks noChangeArrowheads="1"/>
            </p:cNvSpPr>
            <p:nvPr/>
          </p:nvSpPr>
          <p:spPr bwMode="auto">
            <a:xfrm>
              <a:off x="602" y="2016"/>
              <a:ext cx="567"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可得 </a:t>
              </a:r>
            </a:p>
          </p:txBody>
        </p:sp>
        <p:graphicFrame>
          <p:nvGraphicFramePr>
            <p:cNvPr id="37892" name="Object 10"/>
            <p:cNvGraphicFramePr>
              <a:graphicFrameLocks noChangeAspect="1"/>
            </p:cNvGraphicFramePr>
            <p:nvPr/>
          </p:nvGraphicFramePr>
          <p:xfrm>
            <a:off x="2160" y="1920"/>
            <a:ext cx="1428" cy="492"/>
          </p:xfrm>
          <a:graphic>
            <a:graphicData uri="http://schemas.openxmlformats.org/presentationml/2006/ole">
              <p:oleObj spid="_x0000_s37892" r:id="rId6" imgW="1129810" imgH="393529" progId="Equation.DSMT4">
                <p:embed/>
              </p:oleObj>
            </a:graphicData>
          </a:graphic>
        </p:graphicFrame>
      </p:grpSp>
      <p:grpSp>
        <p:nvGrpSpPr>
          <p:cNvPr id="5" name="Group 17"/>
          <p:cNvGrpSpPr>
            <a:grpSpLocks/>
          </p:cNvGrpSpPr>
          <p:nvPr/>
        </p:nvGrpSpPr>
        <p:grpSpPr bwMode="auto">
          <a:xfrm>
            <a:off x="938213" y="3962400"/>
            <a:ext cx="6969125" cy="1981200"/>
            <a:chOff x="591" y="2496"/>
            <a:chExt cx="4390" cy="1248"/>
          </a:xfrm>
        </p:grpSpPr>
        <p:sp>
          <p:nvSpPr>
            <p:cNvPr id="37904" name="Text Box 12"/>
            <p:cNvSpPr txBox="1">
              <a:spLocks noChangeArrowheads="1"/>
            </p:cNvSpPr>
            <p:nvPr/>
          </p:nvSpPr>
          <p:spPr bwMode="auto">
            <a:xfrm>
              <a:off x="591" y="2496"/>
              <a:ext cx="2699"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因此最可几分布的微观态数为 </a:t>
              </a:r>
            </a:p>
          </p:txBody>
        </p:sp>
        <p:graphicFrame>
          <p:nvGraphicFramePr>
            <p:cNvPr id="37891" name="Object 13"/>
            <p:cNvGraphicFramePr>
              <a:graphicFrameLocks noChangeAspect="1"/>
            </p:cNvGraphicFramePr>
            <p:nvPr/>
          </p:nvGraphicFramePr>
          <p:xfrm>
            <a:off x="1200" y="2784"/>
            <a:ext cx="3781" cy="960"/>
          </p:xfrm>
          <a:graphic>
            <a:graphicData uri="http://schemas.openxmlformats.org/presentationml/2006/ole">
              <p:oleObj spid="_x0000_s37891" r:id="rId7" imgW="2997200" imgH="762000" progId="Equation.DSMT4">
                <p:embed/>
              </p:oleObj>
            </a:graphicData>
          </a:graphic>
        </p:graphicFrame>
      </p:grpSp>
      <p:graphicFrame>
        <p:nvGraphicFramePr>
          <p:cNvPr id="61458" name="Object 18"/>
          <p:cNvGraphicFramePr>
            <a:graphicFrameLocks noChangeAspect="1"/>
          </p:cNvGraphicFramePr>
          <p:nvPr/>
        </p:nvGraphicFramePr>
        <p:xfrm>
          <a:off x="1066800" y="5965825"/>
          <a:ext cx="2825750" cy="892175"/>
        </p:xfrm>
        <a:graphic>
          <a:graphicData uri="http://schemas.openxmlformats.org/presentationml/2006/ole">
            <p:oleObj spid="_x0000_s37890" r:id="rId8" imgW="1422400" imgH="444500" progId="Equation.DSMT4">
              <p:embed/>
            </p:oleObj>
          </a:graphicData>
        </a:graphic>
      </p:graphicFrame>
      <p:sp>
        <p:nvSpPr>
          <p:cNvPr id="61460" name="Text Box 20" descr="棕色大理石"/>
          <p:cNvSpPr txBox="1">
            <a:spLocks noChangeArrowheads="1"/>
          </p:cNvSpPr>
          <p:nvPr/>
        </p:nvSpPr>
        <p:spPr bwMode="auto">
          <a:xfrm>
            <a:off x="4378325" y="5924550"/>
            <a:ext cx="4716356" cy="954107"/>
          </a:xfrm>
          <a:prstGeom prst="rect">
            <a:avLst/>
          </a:prstGeom>
          <a:blipFill dpi="0" rotWithShape="0">
            <a:blip r:embed="rId9"/>
            <a:srcRect/>
            <a:tile tx="0" ty="0" sx="100000" sy="100000" flip="none" algn="tl"/>
          </a:blipFill>
          <a:ln w="9525">
            <a:noFill/>
            <a:miter lim="800000"/>
            <a:headEnd/>
            <a:tailEnd/>
          </a:ln>
        </p:spPr>
        <p:txBody>
          <a:bodyPr wrap="none">
            <a:spAutoFit/>
          </a:bodyPr>
          <a:lstStyle/>
          <a:p>
            <a:r>
              <a:rPr lang="zh-CN" altLang="en-US" sz="2800" b="1">
                <a:solidFill>
                  <a:schemeClr val="bg1"/>
                </a:solidFill>
                <a:latin typeface="Times New Roman" pitchFamily="18" charset="0"/>
                <a:ea typeface="华文中宋" pitchFamily="2" charset="-122"/>
                <a:cs typeface="Times New Roman" pitchFamily="18" charset="0"/>
              </a:rPr>
              <a:t>结论</a:t>
            </a:r>
            <a:r>
              <a:rPr lang="en-US" altLang="zh-CN" sz="2800" b="1">
                <a:solidFill>
                  <a:schemeClr val="bg1"/>
                </a:solidFill>
                <a:latin typeface="Times New Roman" pitchFamily="18" charset="0"/>
                <a:ea typeface="华文中宋" pitchFamily="2" charset="-122"/>
                <a:cs typeface="Times New Roman" pitchFamily="18" charset="0"/>
              </a:rPr>
              <a:t>1</a:t>
            </a:r>
            <a:r>
              <a:rPr lang="zh-CN" altLang="en-US" sz="2800" b="1">
                <a:solidFill>
                  <a:schemeClr val="bg1"/>
                </a:solidFill>
                <a:latin typeface="Times New Roman" pitchFamily="18" charset="0"/>
                <a:ea typeface="华文中宋" pitchFamily="2" charset="-122"/>
                <a:cs typeface="Times New Roman" pitchFamily="18" charset="0"/>
              </a:rPr>
              <a:t>：严格的最可几分布本</a:t>
            </a:r>
          </a:p>
          <a:p>
            <a:r>
              <a:rPr lang="zh-CN" altLang="en-US" sz="2800" b="1">
                <a:solidFill>
                  <a:schemeClr val="bg1"/>
                </a:solidFill>
                <a:latin typeface="Times New Roman" pitchFamily="18" charset="0"/>
                <a:ea typeface="华文中宋" pitchFamily="2" charset="-122"/>
                <a:cs typeface="Times New Roman" pitchFamily="18" charset="0"/>
              </a:rPr>
              <a:t>身出现的几率很小</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out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out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arn(out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61458"/>
                                        </p:tgtEl>
                                        <p:attrNameLst>
                                          <p:attrName>style.visibility</p:attrName>
                                        </p:attrNameLst>
                                      </p:cBhvr>
                                      <p:to>
                                        <p:strVal val="visible"/>
                                      </p:to>
                                    </p:set>
                                    <p:animEffect transition="in" filter="barn(outHorizontal)">
                                      <p:cBhvr>
                                        <p:cTn id="27" dur="500"/>
                                        <p:tgtEl>
                                          <p:spTgt spid="61458"/>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grpId="0" nodeType="clickEffect">
                                  <p:stCondLst>
                                    <p:cond delay="0"/>
                                  </p:stCondLst>
                                  <p:childTnLst>
                                    <p:set>
                                      <p:cBhvr>
                                        <p:cTn id="31" dur="1" fill="hold">
                                          <p:stCondLst>
                                            <p:cond delay="0"/>
                                          </p:stCondLst>
                                        </p:cTn>
                                        <p:tgtEl>
                                          <p:spTgt spid="61460"/>
                                        </p:tgtEl>
                                        <p:attrNameLst>
                                          <p:attrName>style.visibility</p:attrName>
                                        </p:attrNameLst>
                                      </p:cBhvr>
                                      <p:to>
                                        <p:strVal val="visible"/>
                                      </p:to>
                                    </p:set>
                                    <p:animEffect transition="in" filter="barn(outHorizontal)">
                                      <p:cBhvr>
                                        <p:cTn id="32" dur="500"/>
                                        <p:tgtEl>
                                          <p:spTgt spid="61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0" grpId="0" animBg="1"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8" name="灯片编号占位符 3"/>
          <p:cNvSpPr>
            <a:spLocks noGrp="1"/>
          </p:cNvSpPr>
          <p:nvPr>
            <p:ph type="sldNum" sz="quarter" idx="12"/>
          </p:nvPr>
        </p:nvSpPr>
        <p:spPr>
          <a:noFill/>
        </p:spPr>
        <p:txBody>
          <a:bodyPr/>
          <a:lstStyle/>
          <a:p>
            <a:fld id="{9E8F412B-89DB-4C62-B328-09BDD826D801}" type="slidenum">
              <a:rPr lang="en-US" altLang="zh-CN" smtClean="0"/>
              <a:pPr/>
              <a:t>54</a:t>
            </a:fld>
            <a:endParaRPr lang="en-US" altLang="zh-CN" smtClean="0"/>
          </a:p>
        </p:txBody>
      </p:sp>
      <p:sp>
        <p:nvSpPr>
          <p:cNvPr id="38919" name="Text Box 2"/>
          <p:cNvSpPr txBox="1">
            <a:spLocks noChangeArrowheads="1"/>
          </p:cNvSpPr>
          <p:nvPr/>
        </p:nvSpPr>
        <p:spPr bwMode="auto">
          <a:xfrm>
            <a:off x="7524750" y="0"/>
            <a:ext cx="1619250"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38920" name="Rectangle 3"/>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最可几分布和一切分布 </a:t>
            </a:r>
          </a:p>
        </p:txBody>
      </p:sp>
      <p:grpSp>
        <p:nvGrpSpPr>
          <p:cNvPr id="2" name="Group 16"/>
          <p:cNvGrpSpPr>
            <a:grpSpLocks/>
          </p:cNvGrpSpPr>
          <p:nvPr/>
        </p:nvGrpSpPr>
        <p:grpSpPr bwMode="auto">
          <a:xfrm>
            <a:off x="763588" y="1181100"/>
            <a:ext cx="7693025" cy="1238250"/>
            <a:chOff x="481" y="744"/>
            <a:chExt cx="4846" cy="780"/>
          </a:xfrm>
        </p:grpSpPr>
        <p:graphicFrame>
          <p:nvGraphicFramePr>
            <p:cNvPr id="38916" name="Object 4" descr="信纸"/>
            <p:cNvGraphicFramePr>
              <a:graphicFrameLocks noChangeAspect="1"/>
            </p:cNvGraphicFramePr>
            <p:nvPr/>
          </p:nvGraphicFramePr>
          <p:xfrm>
            <a:off x="481" y="744"/>
            <a:ext cx="2363" cy="780"/>
          </p:xfrm>
          <a:graphic>
            <a:graphicData uri="http://schemas.openxmlformats.org/presentationml/2006/ole">
              <p:oleObj spid="_x0000_s38916" name="Equation" r:id="rId3" imgW="1879560" imgH="622080" progId="Equation.DSMT4">
                <p:embed/>
              </p:oleObj>
            </a:graphicData>
          </a:graphic>
        </p:graphicFrame>
        <p:graphicFrame>
          <p:nvGraphicFramePr>
            <p:cNvPr id="38917" name="Object 5"/>
            <p:cNvGraphicFramePr>
              <a:graphicFrameLocks noChangeAspect="1"/>
            </p:cNvGraphicFramePr>
            <p:nvPr/>
          </p:nvGraphicFramePr>
          <p:xfrm>
            <a:off x="3264" y="816"/>
            <a:ext cx="2063" cy="543"/>
          </p:xfrm>
          <a:graphic>
            <a:graphicData uri="http://schemas.openxmlformats.org/presentationml/2006/ole">
              <p:oleObj spid="_x0000_s38917" name="Equation" r:id="rId4" imgW="1625400" imgH="431640" progId="Equation.DSMT4">
                <p:embed/>
              </p:oleObj>
            </a:graphicData>
          </a:graphic>
        </p:graphicFrame>
      </p:grpSp>
      <p:sp>
        <p:nvSpPr>
          <p:cNvPr id="62471" name="Text Box 7"/>
          <p:cNvSpPr txBox="1">
            <a:spLocks noChangeArrowheads="1"/>
          </p:cNvSpPr>
          <p:nvPr/>
        </p:nvSpPr>
        <p:spPr bwMode="auto">
          <a:xfrm>
            <a:off x="609600" y="2514600"/>
            <a:ext cx="8513869" cy="830997"/>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对于一个宏观系统，比较典型的粒子数是</a:t>
            </a:r>
            <a:r>
              <a:rPr lang="en-US" altLang="zh-CN" sz="2400" b="1">
                <a:solidFill>
                  <a:schemeClr val="bg1"/>
                </a:solidFill>
                <a:latin typeface="Times New Roman" pitchFamily="18" charset="0"/>
                <a:ea typeface="华文中宋" pitchFamily="2" charset="-122"/>
                <a:cs typeface="Times New Roman" pitchFamily="18" charset="0"/>
              </a:rPr>
              <a:t>10</a:t>
            </a:r>
            <a:r>
              <a:rPr lang="en-US" altLang="zh-CN" sz="2400" b="1" baseline="30000">
                <a:solidFill>
                  <a:schemeClr val="bg1"/>
                </a:solidFill>
                <a:latin typeface="Times New Roman" pitchFamily="18" charset="0"/>
                <a:ea typeface="华文中宋" pitchFamily="2" charset="-122"/>
                <a:cs typeface="Times New Roman" pitchFamily="18" charset="0"/>
              </a:rPr>
              <a:t>24</a:t>
            </a:r>
            <a:r>
              <a:rPr lang="zh-CN" altLang="en-US" sz="2400" b="1">
                <a:solidFill>
                  <a:schemeClr val="bg1"/>
                </a:solidFill>
                <a:latin typeface="Times New Roman" pitchFamily="18" charset="0"/>
                <a:ea typeface="华文中宋" pitchFamily="2" charset="-122"/>
                <a:cs typeface="Times New Roman" pitchFamily="18" charset="0"/>
              </a:rPr>
              <a:t>量级，我们来比</a:t>
            </a:r>
          </a:p>
          <a:p>
            <a:r>
              <a:rPr lang="zh-CN" altLang="en-US" sz="2400" b="1">
                <a:solidFill>
                  <a:schemeClr val="bg1"/>
                </a:solidFill>
                <a:latin typeface="Times New Roman" pitchFamily="18" charset="0"/>
                <a:ea typeface="华文中宋" pitchFamily="2" charset="-122"/>
                <a:cs typeface="Times New Roman" pitchFamily="18" charset="0"/>
              </a:rPr>
              <a:t>较一下最可几分布和一切分布的微观态数的对数值 </a:t>
            </a:r>
          </a:p>
        </p:txBody>
      </p:sp>
      <p:graphicFrame>
        <p:nvGraphicFramePr>
          <p:cNvPr id="62472" name="Object 8"/>
          <p:cNvGraphicFramePr>
            <a:graphicFrameLocks noChangeAspect="1"/>
          </p:cNvGraphicFramePr>
          <p:nvPr/>
        </p:nvGraphicFramePr>
        <p:xfrm>
          <a:off x="1600200" y="3352800"/>
          <a:ext cx="5399088" cy="1854200"/>
        </p:xfrm>
        <a:graphic>
          <a:graphicData uri="http://schemas.openxmlformats.org/presentationml/2006/ole">
            <p:oleObj spid="_x0000_s38914" r:id="rId5" imgW="3187700" imgH="1092200" progId="Equation.DSMT4">
              <p:embed/>
            </p:oleObj>
          </a:graphicData>
        </a:graphic>
      </p:graphicFrame>
      <p:grpSp>
        <p:nvGrpSpPr>
          <p:cNvPr id="3" name="Group 15"/>
          <p:cNvGrpSpPr>
            <a:grpSpLocks/>
          </p:cNvGrpSpPr>
          <p:nvPr/>
        </p:nvGrpSpPr>
        <p:grpSpPr bwMode="auto">
          <a:xfrm>
            <a:off x="685800" y="5257800"/>
            <a:ext cx="8550275" cy="1524000"/>
            <a:chOff x="432" y="3312"/>
            <a:chExt cx="5386" cy="960"/>
          </a:xfrm>
        </p:grpSpPr>
        <p:sp>
          <p:nvSpPr>
            <p:cNvPr id="38924" name="Rectangle 14" descr="紫色网格"/>
            <p:cNvSpPr>
              <a:spLocks noChangeArrowheads="1"/>
            </p:cNvSpPr>
            <p:nvPr/>
          </p:nvSpPr>
          <p:spPr bwMode="auto">
            <a:xfrm>
              <a:off x="432" y="3312"/>
              <a:ext cx="5280" cy="960"/>
            </a:xfrm>
            <a:prstGeom prst="rect">
              <a:avLst/>
            </a:prstGeom>
            <a:blipFill dpi="0" rotWithShape="0">
              <a:blip r:embed="rId6"/>
              <a:srcRect/>
              <a:tile tx="0" ty="0" sx="100000" sy="100000" flip="none" algn="tl"/>
            </a:blipFill>
            <a:ln w="9525">
              <a:solidFill>
                <a:schemeClr val="tx1"/>
              </a:solidFill>
              <a:miter lim="800000"/>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grpSp>
          <p:nvGrpSpPr>
            <p:cNvPr id="38925" name="Group 13"/>
            <p:cNvGrpSpPr>
              <a:grpSpLocks/>
            </p:cNvGrpSpPr>
            <p:nvPr/>
          </p:nvGrpSpPr>
          <p:grpSpPr bwMode="auto">
            <a:xfrm>
              <a:off x="480" y="3360"/>
              <a:ext cx="5338" cy="780"/>
              <a:chOff x="480" y="3360"/>
              <a:chExt cx="5338" cy="780"/>
            </a:xfrm>
          </p:grpSpPr>
          <p:sp>
            <p:nvSpPr>
              <p:cNvPr id="38926" name="Text Box 10"/>
              <p:cNvSpPr txBox="1">
                <a:spLocks noChangeArrowheads="1"/>
              </p:cNvSpPr>
              <p:nvPr/>
            </p:nvSpPr>
            <p:spPr bwMode="auto">
              <a:xfrm>
                <a:off x="480" y="3360"/>
                <a:ext cx="5338" cy="756"/>
              </a:xfrm>
              <a:prstGeom prst="rect">
                <a:avLst/>
              </a:prstGeom>
              <a:noFill/>
              <a:ln w="9525">
                <a:noFill/>
                <a:miter lim="800000"/>
                <a:headEnd/>
                <a:tailEnd/>
              </a:ln>
            </p:spPr>
            <p:txBody>
              <a:bodyPr wrap="none">
                <a:spAutoFit/>
              </a:bodyPr>
              <a:lstStyle/>
              <a:p>
                <a:r>
                  <a:rPr lang="zh-CN" altLang="en-US" sz="2400" b="1">
                    <a:solidFill>
                      <a:srgbClr val="D2DC08"/>
                    </a:solidFill>
                    <a:latin typeface="Times New Roman" pitchFamily="18" charset="0"/>
                    <a:ea typeface="华文中宋" pitchFamily="2" charset="-122"/>
                    <a:cs typeface="Times New Roman" pitchFamily="18" charset="0"/>
                  </a:rPr>
                  <a:t>结论</a:t>
                </a:r>
                <a:r>
                  <a:rPr lang="en-US" altLang="zh-CN" sz="2400" b="1">
                    <a:solidFill>
                      <a:srgbClr val="D2DC08"/>
                    </a:solidFill>
                    <a:latin typeface="Times New Roman" pitchFamily="18" charset="0"/>
                    <a:ea typeface="华文中宋" pitchFamily="2" charset="-122"/>
                    <a:cs typeface="Times New Roman" pitchFamily="18" charset="0"/>
                  </a:rPr>
                  <a:t>2</a:t>
                </a:r>
                <a:r>
                  <a:rPr lang="zh-CN" altLang="en-US" sz="2400" b="1">
                    <a:solidFill>
                      <a:srgbClr val="D2DC08"/>
                    </a:solidFill>
                    <a:latin typeface="Times New Roman" pitchFamily="18" charset="0"/>
                    <a:ea typeface="华文中宋" pitchFamily="2" charset="-122"/>
                    <a:cs typeface="Times New Roman" pitchFamily="18" charset="0"/>
                  </a:rPr>
                  <a:t>：当粒子数充分多时，应用</a:t>
                </a:r>
                <a:r>
                  <a:rPr lang="en-US" altLang="zh-CN" sz="2400" b="1">
                    <a:solidFill>
                      <a:srgbClr val="D2DC08"/>
                    </a:solidFill>
                    <a:latin typeface="Times New Roman" pitchFamily="18" charset="0"/>
                    <a:ea typeface="华文中宋" pitchFamily="2" charset="-122"/>
                    <a:cs typeface="Times New Roman" pitchFamily="18" charset="0"/>
                  </a:rPr>
                  <a:t>Boltzmann</a:t>
                </a:r>
                <a:r>
                  <a:rPr lang="zh-CN" altLang="en-US" sz="2400" b="1">
                    <a:solidFill>
                      <a:srgbClr val="D2DC08"/>
                    </a:solidFill>
                    <a:latin typeface="Times New Roman" pitchFamily="18" charset="0"/>
                    <a:ea typeface="华文中宋" pitchFamily="2" charset="-122"/>
                    <a:cs typeface="Times New Roman" pitchFamily="18" charset="0"/>
                  </a:rPr>
                  <a:t>分布律获得的统</a:t>
                </a:r>
              </a:p>
              <a:p>
                <a:r>
                  <a:rPr lang="zh-CN" altLang="en-US" sz="2400" b="1">
                    <a:solidFill>
                      <a:srgbClr val="D2DC08"/>
                    </a:solidFill>
                    <a:latin typeface="Times New Roman" pitchFamily="18" charset="0"/>
                    <a:ea typeface="华文中宋" pitchFamily="2" charset="-122"/>
                    <a:cs typeface="Times New Roman" pitchFamily="18" charset="0"/>
                  </a:rPr>
                  <a:t>计平均值就是对所有微观态的统计平均值，这个结论叫做撷</a:t>
                </a:r>
              </a:p>
              <a:p>
                <a:r>
                  <a:rPr lang="zh-CN" altLang="en-US" sz="2400" b="1">
                    <a:solidFill>
                      <a:srgbClr val="D2DC08"/>
                    </a:solidFill>
                    <a:latin typeface="Times New Roman" pitchFamily="18" charset="0"/>
                    <a:ea typeface="华文中宋" pitchFamily="2" charset="-122"/>
                    <a:cs typeface="Times New Roman" pitchFamily="18" charset="0"/>
                  </a:rPr>
                  <a:t>取最大项原理。 </a:t>
                </a:r>
              </a:p>
            </p:txBody>
          </p:sp>
          <p:graphicFrame>
            <p:nvGraphicFramePr>
              <p:cNvPr id="38915" name="Object 11"/>
              <p:cNvGraphicFramePr>
                <a:graphicFrameLocks noChangeAspect="1"/>
              </p:cNvGraphicFramePr>
              <p:nvPr/>
            </p:nvGraphicFramePr>
            <p:xfrm>
              <a:off x="2410" y="3840"/>
              <a:ext cx="2294" cy="300"/>
            </p:xfrm>
            <a:graphic>
              <a:graphicData uri="http://schemas.openxmlformats.org/presentationml/2006/ole">
                <p:oleObj spid="_x0000_s38915" r:id="rId7" imgW="1816100" imgH="241300" progId="Equation.DSMT4">
                  <p:embed/>
                </p:oleObj>
              </a:graphicData>
            </a:graphic>
          </p:graphicFrame>
        </p:grpSp>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62471"/>
                                        </p:tgtEl>
                                        <p:attrNameLst>
                                          <p:attrName>style.visibility</p:attrName>
                                        </p:attrNameLst>
                                      </p:cBhvr>
                                      <p:to>
                                        <p:strVal val="visible"/>
                                      </p:to>
                                    </p:set>
                                    <p:anim calcmode="lin" valueType="num">
                                      <p:cBhvr>
                                        <p:cTn id="13" dur="500" fill="hold"/>
                                        <p:tgtEl>
                                          <p:spTgt spid="62471"/>
                                        </p:tgtEl>
                                        <p:attrNameLst>
                                          <p:attrName>ppt_w</p:attrName>
                                        </p:attrNameLst>
                                      </p:cBhvr>
                                      <p:tavLst>
                                        <p:tav tm="0">
                                          <p:val>
                                            <p:fltVal val="0"/>
                                          </p:val>
                                        </p:tav>
                                        <p:tav tm="100000">
                                          <p:val>
                                            <p:strVal val="#ppt_w"/>
                                          </p:val>
                                        </p:tav>
                                      </p:tavLst>
                                    </p:anim>
                                    <p:anim calcmode="lin" valueType="num">
                                      <p:cBhvr>
                                        <p:cTn id="14" dur="500" fill="hold"/>
                                        <p:tgtEl>
                                          <p:spTgt spid="62471"/>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nodeType="clickEffect">
                                  <p:stCondLst>
                                    <p:cond delay="0"/>
                                  </p:stCondLst>
                                  <p:childTnLst>
                                    <p:set>
                                      <p:cBhvr>
                                        <p:cTn id="18" dur="1" fill="hold">
                                          <p:stCondLst>
                                            <p:cond delay="0"/>
                                          </p:stCondLst>
                                        </p:cTn>
                                        <p:tgtEl>
                                          <p:spTgt spid="62472"/>
                                        </p:tgtEl>
                                        <p:attrNameLst>
                                          <p:attrName>style.visibility</p:attrName>
                                        </p:attrNameLst>
                                      </p:cBhvr>
                                      <p:to>
                                        <p:strVal val="visible"/>
                                      </p:to>
                                    </p:set>
                                    <p:anim calcmode="lin" valueType="num">
                                      <p:cBhvr>
                                        <p:cTn id="19" dur="500" fill="hold"/>
                                        <p:tgtEl>
                                          <p:spTgt spid="62472"/>
                                        </p:tgtEl>
                                        <p:attrNameLst>
                                          <p:attrName>ppt_w</p:attrName>
                                        </p:attrNameLst>
                                      </p:cBhvr>
                                      <p:tavLst>
                                        <p:tav tm="0">
                                          <p:val>
                                            <p:fltVal val="0"/>
                                          </p:val>
                                        </p:tav>
                                        <p:tav tm="100000">
                                          <p:val>
                                            <p:strVal val="#ppt_w"/>
                                          </p:val>
                                        </p:tav>
                                      </p:tavLst>
                                    </p:anim>
                                    <p:anim calcmode="lin" valueType="num">
                                      <p:cBhvr>
                                        <p:cTn id="20" dur="500" fill="hold"/>
                                        <p:tgtEl>
                                          <p:spTgt spid="62472"/>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fill="hold"/>
                                        <p:tgtEl>
                                          <p:spTgt spid="3"/>
                                        </p:tgtEl>
                                        <p:attrNameLst>
                                          <p:attrName>ppt_w</p:attrName>
                                        </p:attrNameLst>
                                      </p:cBhvr>
                                      <p:tavLst>
                                        <p:tav tm="0">
                                          <p:val>
                                            <p:fltVal val="0"/>
                                          </p:val>
                                        </p:tav>
                                        <p:tav tm="100000">
                                          <p:val>
                                            <p:strVal val="#ppt_w"/>
                                          </p:val>
                                        </p:tav>
                                      </p:tavLst>
                                    </p:anim>
                                    <p:anim calcmode="lin" valueType="num">
                                      <p:cBhvr>
                                        <p:cTn id="26" dur="5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1"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2" name="灯片编号占位符 3"/>
          <p:cNvSpPr>
            <a:spLocks noGrp="1"/>
          </p:cNvSpPr>
          <p:nvPr>
            <p:ph type="sldNum" sz="quarter" idx="12"/>
          </p:nvPr>
        </p:nvSpPr>
        <p:spPr>
          <a:noFill/>
        </p:spPr>
        <p:txBody>
          <a:bodyPr/>
          <a:lstStyle/>
          <a:p>
            <a:fld id="{033D88CC-4DA0-40C4-BC21-902B9E213551}" type="slidenum">
              <a:rPr lang="en-US" altLang="zh-CN" smtClean="0"/>
              <a:pPr/>
              <a:t>55</a:t>
            </a:fld>
            <a:endParaRPr lang="en-US" altLang="zh-CN" smtClean="0"/>
          </a:p>
        </p:txBody>
      </p:sp>
      <p:sp>
        <p:nvSpPr>
          <p:cNvPr id="39943" name="Text Box 2"/>
          <p:cNvSpPr txBox="1">
            <a:spLocks noChangeArrowheads="1"/>
          </p:cNvSpPr>
          <p:nvPr/>
        </p:nvSpPr>
        <p:spPr bwMode="auto">
          <a:xfrm>
            <a:off x="7451725" y="0"/>
            <a:ext cx="1692275"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39944" name="Rectangle 3"/>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最可几分布和一切分布 </a:t>
            </a:r>
          </a:p>
        </p:txBody>
      </p:sp>
      <p:sp>
        <p:nvSpPr>
          <p:cNvPr id="63492" name="Text Box 4" descr="紫色网格"/>
          <p:cNvSpPr txBox="1">
            <a:spLocks noChangeArrowheads="1"/>
          </p:cNvSpPr>
          <p:nvPr/>
        </p:nvSpPr>
        <p:spPr bwMode="auto">
          <a:xfrm>
            <a:off x="609600" y="1143000"/>
            <a:ext cx="8494633" cy="830997"/>
          </a:xfrm>
          <a:prstGeom prst="rect">
            <a:avLst/>
          </a:prstGeom>
          <a:blipFill dpi="0" rotWithShape="0">
            <a:blip r:embed="rId3"/>
            <a:srcRect/>
            <a:tile tx="0" ty="0" sx="100000" sy="100000" flip="none" algn="tl"/>
          </a:blip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最可几分布本身出现的几率非常小，而其又可以作为微观状态</a:t>
            </a:r>
          </a:p>
          <a:p>
            <a:r>
              <a:rPr lang="zh-CN" altLang="en-US" sz="2400" b="1">
                <a:solidFill>
                  <a:schemeClr val="bg1"/>
                </a:solidFill>
                <a:latin typeface="Times New Roman" pitchFamily="18" charset="0"/>
                <a:ea typeface="华文中宋" pitchFamily="2" charset="-122"/>
                <a:cs typeface="Times New Roman" pitchFamily="18" charset="0"/>
              </a:rPr>
              <a:t>的代表，这是否矛盾？实验可观察到的微观状态究竟是什么？</a:t>
            </a:r>
          </a:p>
        </p:txBody>
      </p:sp>
      <p:grpSp>
        <p:nvGrpSpPr>
          <p:cNvPr id="2" name="Group 17"/>
          <p:cNvGrpSpPr>
            <a:grpSpLocks/>
          </p:cNvGrpSpPr>
          <p:nvPr/>
        </p:nvGrpSpPr>
        <p:grpSpPr bwMode="auto">
          <a:xfrm>
            <a:off x="598488" y="2057401"/>
            <a:ext cx="8878887" cy="830263"/>
            <a:chOff x="377" y="1296"/>
            <a:chExt cx="5593" cy="523"/>
          </a:xfrm>
        </p:grpSpPr>
        <p:sp>
          <p:nvSpPr>
            <p:cNvPr id="39949" name="Text Box 7"/>
            <p:cNvSpPr txBox="1">
              <a:spLocks noChangeArrowheads="1"/>
            </p:cNvSpPr>
            <p:nvPr/>
          </p:nvSpPr>
          <p:spPr bwMode="auto">
            <a:xfrm>
              <a:off x="377" y="1296"/>
              <a:ext cx="5593" cy="523"/>
            </a:xfrm>
            <a:prstGeom prst="rect">
              <a:avLst/>
            </a:prstGeom>
            <a:noFill/>
            <a:ln w="9525">
              <a:noFill/>
              <a:miter lim="800000"/>
              <a:headEnd/>
              <a:tailEnd/>
            </a:ln>
          </p:spPr>
          <p:txBody>
            <a:bodyPr wrap="none">
              <a:spAutoFit/>
            </a:bodyPr>
            <a:lstStyle/>
            <a:p>
              <a:r>
                <a:rPr lang="zh-CN" altLang="en-US" sz="2400" b="1" dirty="0">
                  <a:solidFill>
                    <a:schemeClr val="bg1"/>
                  </a:solidFill>
                  <a:latin typeface="Times New Roman" pitchFamily="18" charset="0"/>
                  <a:ea typeface="华文中宋" pitchFamily="2" charset="-122"/>
                  <a:cs typeface="Times New Roman" pitchFamily="18" charset="0"/>
                </a:rPr>
                <a:t>我们考察一下当粒子数允许偏差为    </a:t>
              </a:r>
              <a:r>
                <a:rPr lang="zh-CN" altLang="en-US" sz="2400" b="1" dirty="0" smtClean="0">
                  <a:solidFill>
                    <a:schemeClr val="bg1"/>
                  </a:solidFill>
                  <a:latin typeface="Times New Roman" pitchFamily="18" charset="0"/>
                  <a:ea typeface="华文中宋" pitchFamily="2" charset="-122"/>
                  <a:cs typeface="Times New Roman" pitchFamily="18" charset="0"/>
                </a:rPr>
                <a:t> 时</a:t>
              </a:r>
              <a:r>
                <a:rPr lang="zh-CN" altLang="en-US" sz="2400" b="1" dirty="0">
                  <a:solidFill>
                    <a:schemeClr val="bg1"/>
                  </a:solidFill>
                  <a:latin typeface="Times New Roman" pitchFamily="18" charset="0"/>
                  <a:ea typeface="华文中宋" pitchFamily="2" charset="-122"/>
                  <a:cs typeface="Times New Roman" pitchFamily="18" charset="0"/>
                </a:rPr>
                <a:t>，两边大概各分配</a:t>
              </a:r>
              <a:r>
                <a:rPr lang="en-US" altLang="zh-CN" sz="2400" b="1" i="1" dirty="0">
                  <a:solidFill>
                    <a:schemeClr val="bg1"/>
                  </a:solidFill>
                  <a:latin typeface="Times New Roman" pitchFamily="18" charset="0"/>
                  <a:ea typeface="华文中宋" pitchFamily="2" charset="-122"/>
                  <a:cs typeface="Times New Roman" pitchFamily="18" charset="0"/>
                </a:rPr>
                <a:t>N</a:t>
              </a:r>
              <a:r>
                <a:rPr lang="en-US" altLang="zh-CN" sz="2400" b="1" dirty="0">
                  <a:solidFill>
                    <a:schemeClr val="bg1"/>
                  </a:solidFill>
                  <a:latin typeface="Times New Roman" pitchFamily="18" charset="0"/>
                  <a:ea typeface="华文中宋" pitchFamily="2" charset="-122"/>
                  <a:cs typeface="Times New Roman" pitchFamily="18" charset="0"/>
                </a:rPr>
                <a:t>/2</a:t>
              </a:r>
              <a:r>
                <a:rPr lang="zh-CN" altLang="en-US" sz="2400" b="1" dirty="0">
                  <a:solidFill>
                    <a:schemeClr val="bg1"/>
                  </a:solidFill>
                  <a:latin typeface="Times New Roman" pitchFamily="18" charset="0"/>
                  <a:ea typeface="华文中宋" pitchFamily="2" charset="-122"/>
                  <a:cs typeface="Times New Roman" pitchFamily="18" charset="0"/>
                </a:rPr>
                <a:t>个</a:t>
              </a:r>
            </a:p>
            <a:p>
              <a:r>
                <a:rPr lang="zh-CN" altLang="en-US" sz="2400" b="1" dirty="0">
                  <a:solidFill>
                    <a:schemeClr val="bg1"/>
                  </a:solidFill>
                  <a:latin typeface="Times New Roman" pitchFamily="18" charset="0"/>
                  <a:ea typeface="华文中宋" pitchFamily="2" charset="-122"/>
                  <a:cs typeface="Times New Roman" pitchFamily="18" charset="0"/>
                </a:rPr>
                <a:t>粒子的情况出现的概率 </a:t>
              </a:r>
            </a:p>
          </p:txBody>
        </p:sp>
        <p:graphicFrame>
          <p:nvGraphicFramePr>
            <p:cNvPr id="39941" name="Object 8"/>
            <p:cNvGraphicFramePr>
              <a:graphicFrameLocks noChangeAspect="1"/>
            </p:cNvGraphicFramePr>
            <p:nvPr/>
          </p:nvGraphicFramePr>
          <p:xfrm>
            <a:off x="3300" y="1344"/>
            <a:ext cx="274" cy="203"/>
          </p:xfrm>
          <a:graphic>
            <a:graphicData uri="http://schemas.openxmlformats.org/presentationml/2006/ole">
              <p:oleObj spid="_x0000_s39941" r:id="rId4" imgW="215619" imgH="164885" progId="Equation.DSMT4">
                <p:embed/>
              </p:oleObj>
            </a:graphicData>
          </a:graphic>
        </p:graphicFrame>
      </p:grpSp>
      <p:graphicFrame>
        <p:nvGraphicFramePr>
          <p:cNvPr id="63498" name="Object 10"/>
          <p:cNvGraphicFramePr>
            <a:graphicFrameLocks noChangeAspect="1"/>
          </p:cNvGraphicFramePr>
          <p:nvPr/>
        </p:nvGraphicFramePr>
        <p:xfrm>
          <a:off x="1087438" y="2667000"/>
          <a:ext cx="6837362" cy="2438400"/>
        </p:xfrm>
        <a:graphic>
          <a:graphicData uri="http://schemas.openxmlformats.org/presentationml/2006/ole">
            <p:oleObj spid="_x0000_s39938" r:id="rId5" imgW="3416300" imgH="1219200" progId="Equation.DSMT4">
              <p:embed/>
            </p:oleObj>
          </a:graphicData>
        </a:graphic>
      </p:graphicFrame>
      <p:grpSp>
        <p:nvGrpSpPr>
          <p:cNvPr id="3" name="Group 18"/>
          <p:cNvGrpSpPr>
            <a:grpSpLocks/>
          </p:cNvGrpSpPr>
          <p:nvPr/>
        </p:nvGrpSpPr>
        <p:grpSpPr bwMode="auto">
          <a:xfrm>
            <a:off x="974725" y="4910138"/>
            <a:ext cx="4108452" cy="895350"/>
            <a:chOff x="614" y="3093"/>
            <a:chExt cx="2588" cy="564"/>
          </a:xfrm>
        </p:grpSpPr>
        <p:sp>
          <p:nvSpPr>
            <p:cNvPr id="39948" name="Text Box 12"/>
            <p:cNvSpPr txBox="1">
              <a:spLocks noChangeArrowheads="1"/>
            </p:cNvSpPr>
            <p:nvPr/>
          </p:nvSpPr>
          <p:spPr bwMode="auto">
            <a:xfrm>
              <a:off x="614" y="3229"/>
              <a:ext cx="2588" cy="291"/>
            </a:xfrm>
            <a:prstGeom prst="rect">
              <a:avLst/>
            </a:prstGeom>
            <a:noFill/>
            <a:ln w="9525">
              <a:noFill/>
              <a:miter lim="800000"/>
              <a:headEnd/>
              <a:tailEnd/>
            </a:ln>
          </p:spPr>
          <p:txBody>
            <a:bodyPr wrap="none">
              <a:spAutoFit/>
            </a:bodyPr>
            <a:lstStyle/>
            <a:p>
              <a:r>
                <a:rPr lang="zh-CN" altLang="en-US" sz="2400" b="1" dirty="0">
                  <a:solidFill>
                    <a:schemeClr val="bg1"/>
                  </a:solidFill>
                  <a:latin typeface="Times New Roman" pitchFamily="18" charset="0"/>
                  <a:ea typeface="华文中宋" pitchFamily="2" charset="-122"/>
                  <a:cs typeface="Times New Roman" pitchFamily="18" charset="0"/>
                </a:rPr>
                <a:t>如果令 </a:t>
              </a:r>
              <a:r>
                <a:rPr lang="zh-CN" altLang="en-US" sz="2400" b="1" dirty="0" smtClean="0">
                  <a:solidFill>
                    <a:schemeClr val="bg1"/>
                  </a:solidFill>
                  <a:latin typeface="Times New Roman" pitchFamily="18" charset="0"/>
                  <a:ea typeface="华文中宋" pitchFamily="2" charset="-122"/>
                  <a:cs typeface="Times New Roman" pitchFamily="18" charset="0"/>
                </a:rPr>
                <a:t>                 </a:t>
              </a:r>
              <a:r>
                <a:rPr lang="zh-CN" altLang="en-US" sz="2400" b="1" dirty="0">
                  <a:solidFill>
                    <a:schemeClr val="bg1"/>
                  </a:solidFill>
                  <a:latin typeface="Times New Roman" pitchFamily="18" charset="0"/>
                  <a:ea typeface="华文中宋" pitchFamily="2" charset="-122"/>
                  <a:cs typeface="Times New Roman" pitchFamily="18" charset="0"/>
                </a:rPr>
                <a:t>，可以证明 </a:t>
              </a:r>
            </a:p>
          </p:txBody>
        </p:sp>
        <p:graphicFrame>
          <p:nvGraphicFramePr>
            <p:cNvPr id="39940" name="Object 13"/>
            <p:cNvGraphicFramePr>
              <a:graphicFrameLocks noChangeAspect="1"/>
            </p:cNvGraphicFramePr>
            <p:nvPr/>
          </p:nvGraphicFramePr>
          <p:xfrm>
            <a:off x="1296" y="3093"/>
            <a:ext cx="780" cy="564"/>
          </p:xfrm>
          <a:graphic>
            <a:graphicData uri="http://schemas.openxmlformats.org/presentationml/2006/ole">
              <p:oleObj spid="_x0000_s39940" r:id="rId6" imgW="622030" imgH="444307" progId="Equation.DSMT4">
                <p:embed/>
              </p:oleObj>
            </a:graphicData>
          </a:graphic>
        </p:graphicFrame>
      </p:grpSp>
      <p:graphicFrame>
        <p:nvGraphicFramePr>
          <p:cNvPr id="63503" name="Object 15"/>
          <p:cNvGraphicFramePr>
            <a:graphicFrameLocks noChangeAspect="1"/>
          </p:cNvGraphicFramePr>
          <p:nvPr/>
        </p:nvGraphicFramePr>
        <p:xfrm>
          <a:off x="1219200" y="5738813"/>
          <a:ext cx="6902450" cy="890587"/>
        </p:xfrm>
        <a:graphic>
          <a:graphicData uri="http://schemas.openxmlformats.org/presentationml/2006/ole">
            <p:oleObj spid="_x0000_s39939" r:id="rId7" imgW="3467100" imgH="444500" progId="Equation.DSMT4">
              <p:embed/>
            </p:oleObj>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63492"/>
                                        </p:tgtEl>
                                        <p:attrNameLst>
                                          <p:attrName>style.visibility</p:attrName>
                                        </p:attrNameLst>
                                      </p:cBhvr>
                                      <p:to>
                                        <p:strVal val="visible"/>
                                      </p:to>
                                    </p:set>
                                    <p:animEffect transition="in" filter="barn(outHorizontal)">
                                      <p:cBhvr>
                                        <p:cTn id="7" dur="500"/>
                                        <p:tgtEl>
                                          <p:spTgt spid="6349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out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63498"/>
                                        </p:tgtEl>
                                        <p:attrNameLst>
                                          <p:attrName>style.visibility</p:attrName>
                                        </p:attrNameLst>
                                      </p:cBhvr>
                                      <p:to>
                                        <p:strVal val="visible"/>
                                      </p:to>
                                    </p:set>
                                    <p:animEffect transition="in" filter="barn(outHorizontal)">
                                      <p:cBhvr>
                                        <p:cTn id="17" dur="500"/>
                                        <p:tgtEl>
                                          <p:spTgt spid="6349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arn(out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63503"/>
                                        </p:tgtEl>
                                        <p:attrNameLst>
                                          <p:attrName>style.visibility</p:attrName>
                                        </p:attrNameLst>
                                      </p:cBhvr>
                                      <p:to>
                                        <p:strVal val="visible"/>
                                      </p:to>
                                    </p:set>
                                    <p:animEffect transition="in" filter="barn(outHorizontal)">
                                      <p:cBhvr>
                                        <p:cTn id="27" dur="500"/>
                                        <p:tgtEl>
                                          <p:spTgt spid="635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2" grpId="0" animBg="1"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2" name="灯片编号占位符 3"/>
          <p:cNvSpPr>
            <a:spLocks noGrp="1"/>
          </p:cNvSpPr>
          <p:nvPr>
            <p:ph type="sldNum" sz="quarter" idx="12"/>
          </p:nvPr>
        </p:nvSpPr>
        <p:spPr>
          <a:noFill/>
        </p:spPr>
        <p:txBody>
          <a:bodyPr/>
          <a:lstStyle/>
          <a:p>
            <a:fld id="{0E127724-2642-4775-A6B2-D1D6C06815F6}" type="slidenum">
              <a:rPr lang="en-US" altLang="zh-CN" smtClean="0"/>
              <a:pPr/>
              <a:t>56</a:t>
            </a:fld>
            <a:endParaRPr lang="en-US" altLang="zh-CN" smtClean="0"/>
          </a:p>
        </p:txBody>
      </p:sp>
      <p:sp>
        <p:nvSpPr>
          <p:cNvPr id="40973" name="Text Box 2"/>
          <p:cNvSpPr txBox="1">
            <a:spLocks noChangeArrowheads="1"/>
          </p:cNvSpPr>
          <p:nvPr/>
        </p:nvSpPr>
        <p:spPr bwMode="auto">
          <a:xfrm>
            <a:off x="7596188" y="0"/>
            <a:ext cx="154781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40974" name="Rectangle 3"/>
          <p:cNvSpPr>
            <a:spLocks noGrp="1" noRot="1" noChangeArrowheads="1"/>
          </p:cNvSpPr>
          <p:nvPr/>
        </p:nvSpPr>
        <p:spPr bwMode="auto">
          <a:xfrm>
            <a:off x="357158" y="357166"/>
            <a:ext cx="8540750" cy="762000"/>
          </a:xfrm>
          <a:prstGeom prst="rect">
            <a:avLst/>
          </a:prstGeom>
          <a:noFill/>
          <a:ln w="9525">
            <a:noFill/>
            <a:miter lim="800000"/>
            <a:headEnd/>
            <a:tailEnd/>
          </a:ln>
        </p:spPr>
        <p:txBody>
          <a:bodyPr anchor="ctr"/>
          <a:lstStyle/>
          <a:p>
            <a:pPr algn="ctr" eaLnBrk="0" hangingPunct="0"/>
            <a:r>
              <a:rPr lang="zh-CN" altLang="en-US" sz="4400" b="1">
                <a:solidFill>
                  <a:srgbClr val="FFFF00"/>
                </a:solidFill>
                <a:latin typeface="黑体" pitchFamily="49" charset="-122"/>
                <a:ea typeface="黑体" pitchFamily="49" charset="-122"/>
              </a:rPr>
              <a:t>最可几分布和一切分布 </a:t>
            </a:r>
          </a:p>
        </p:txBody>
      </p:sp>
      <p:grpSp>
        <p:nvGrpSpPr>
          <p:cNvPr id="2" name="Group 35"/>
          <p:cNvGrpSpPr>
            <a:grpSpLocks/>
          </p:cNvGrpSpPr>
          <p:nvPr/>
        </p:nvGrpSpPr>
        <p:grpSpPr bwMode="auto">
          <a:xfrm>
            <a:off x="800100" y="2133602"/>
            <a:ext cx="7986713" cy="461963"/>
            <a:chOff x="504" y="1344"/>
            <a:chExt cx="4448" cy="291"/>
          </a:xfrm>
        </p:grpSpPr>
        <p:sp>
          <p:nvSpPr>
            <p:cNvPr id="40987" name="Text Box 13"/>
            <p:cNvSpPr txBox="1">
              <a:spLocks noChangeArrowheads="1"/>
            </p:cNvSpPr>
            <p:nvPr/>
          </p:nvSpPr>
          <p:spPr bwMode="auto">
            <a:xfrm>
              <a:off x="504" y="1344"/>
              <a:ext cx="844"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可以得到 </a:t>
              </a:r>
            </a:p>
          </p:txBody>
        </p:sp>
        <p:graphicFrame>
          <p:nvGraphicFramePr>
            <p:cNvPr id="40971" name="Object 14"/>
            <p:cNvGraphicFramePr>
              <a:graphicFrameLocks noChangeAspect="1"/>
            </p:cNvGraphicFramePr>
            <p:nvPr/>
          </p:nvGraphicFramePr>
          <p:xfrm>
            <a:off x="1249" y="1344"/>
            <a:ext cx="3703" cy="284"/>
          </p:xfrm>
          <a:graphic>
            <a:graphicData uri="http://schemas.openxmlformats.org/presentationml/2006/ole">
              <p:oleObj spid="_x0000_s40971" name="Equation" r:id="rId3" imgW="2946240" imgH="228600" progId="Equation.DSMT4">
                <p:embed/>
              </p:oleObj>
            </a:graphicData>
          </a:graphic>
        </p:graphicFrame>
      </p:grpSp>
      <p:grpSp>
        <p:nvGrpSpPr>
          <p:cNvPr id="3" name="Group 28"/>
          <p:cNvGrpSpPr>
            <a:grpSpLocks/>
          </p:cNvGrpSpPr>
          <p:nvPr/>
        </p:nvGrpSpPr>
        <p:grpSpPr bwMode="auto">
          <a:xfrm>
            <a:off x="762000" y="3352800"/>
            <a:ext cx="7545388" cy="1008063"/>
            <a:chOff x="480" y="2112"/>
            <a:chExt cx="4753" cy="635"/>
          </a:xfrm>
        </p:grpSpPr>
        <p:sp>
          <p:nvSpPr>
            <p:cNvPr id="40985" name="Text Box 16"/>
            <p:cNvSpPr txBox="1">
              <a:spLocks noChangeArrowheads="1"/>
            </p:cNvSpPr>
            <p:nvPr/>
          </p:nvSpPr>
          <p:spPr bwMode="auto">
            <a:xfrm>
              <a:off x="480" y="2112"/>
              <a:ext cx="1536"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尽管上面我们取 </a:t>
              </a:r>
            </a:p>
          </p:txBody>
        </p:sp>
        <p:graphicFrame>
          <p:nvGraphicFramePr>
            <p:cNvPr id="40969" name="Object 17"/>
            <p:cNvGraphicFramePr>
              <a:graphicFrameLocks noChangeAspect="1"/>
            </p:cNvGraphicFramePr>
            <p:nvPr/>
          </p:nvGraphicFramePr>
          <p:xfrm>
            <a:off x="1966" y="2112"/>
            <a:ext cx="626" cy="253"/>
          </p:xfrm>
          <a:graphic>
            <a:graphicData uri="http://schemas.openxmlformats.org/presentationml/2006/ole">
              <p:oleObj spid="_x0000_s40969" r:id="rId4" imgW="494870" imgH="203024" progId="Equation.DSMT4">
                <p:embed/>
              </p:oleObj>
            </a:graphicData>
          </a:graphic>
        </p:graphicFrame>
        <p:sp>
          <p:nvSpPr>
            <p:cNvPr id="40986" name="Text Box 19"/>
            <p:cNvSpPr txBox="1">
              <a:spLocks noChangeArrowheads="1"/>
            </p:cNvSpPr>
            <p:nvPr/>
          </p:nvSpPr>
          <p:spPr bwMode="auto">
            <a:xfrm>
              <a:off x="2534" y="2112"/>
              <a:ext cx="2699"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，但是粒子数的波动幅度只有 </a:t>
              </a:r>
            </a:p>
          </p:txBody>
        </p:sp>
        <p:graphicFrame>
          <p:nvGraphicFramePr>
            <p:cNvPr id="40970" name="Object 20"/>
            <p:cNvGraphicFramePr>
              <a:graphicFrameLocks noChangeAspect="1"/>
            </p:cNvGraphicFramePr>
            <p:nvPr/>
          </p:nvGraphicFramePr>
          <p:xfrm>
            <a:off x="1824" y="2496"/>
            <a:ext cx="970" cy="251"/>
          </p:xfrm>
          <a:graphic>
            <a:graphicData uri="http://schemas.openxmlformats.org/presentationml/2006/ole">
              <p:oleObj spid="_x0000_s40970" r:id="rId5" imgW="774364" imgH="203112" progId="Equation.DSMT4">
                <p:embed/>
              </p:oleObj>
            </a:graphicData>
          </a:graphic>
        </p:graphicFrame>
      </p:grpSp>
      <p:sp>
        <p:nvSpPr>
          <p:cNvPr id="64534" name="Text Box 22"/>
          <p:cNvSpPr txBox="1">
            <a:spLocks noChangeArrowheads="1"/>
          </p:cNvSpPr>
          <p:nvPr/>
        </p:nvSpPr>
        <p:spPr bwMode="auto">
          <a:xfrm>
            <a:off x="762000" y="4551363"/>
            <a:ext cx="8186857" cy="830997"/>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这显然比通常的观察精度要高很多，因此我们在宏观上几乎</a:t>
            </a:r>
          </a:p>
          <a:p>
            <a:r>
              <a:rPr lang="zh-CN" altLang="en-US" sz="2400" b="1">
                <a:solidFill>
                  <a:schemeClr val="bg1"/>
                </a:solidFill>
                <a:latin typeface="Times New Roman" pitchFamily="18" charset="0"/>
                <a:ea typeface="华文中宋" pitchFamily="2" charset="-122"/>
                <a:cs typeface="Times New Roman" pitchFamily="18" charset="0"/>
              </a:rPr>
              <a:t>无法观察到系统对最可几状态也就是平衡态的偏离。 </a:t>
            </a:r>
          </a:p>
        </p:txBody>
      </p:sp>
      <p:sp>
        <p:nvSpPr>
          <p:cNvPr id="64535" name="Text Box 23" descr="再生纸"/>
          <p:cNvSpPr txBox="1">
            <a:spLocks noChangeArrowheads="1"/>
          </p:cNvSpPr>
          <p:nvPr/>
        </p:nvSpPr>
        <p:spPr bwMode="auto">
          <a:xfrm>
            <a:off x="914400" y="5562600"/>
            <a:ext cx="7545655" cy="954107"/>
          </a:xfrm>
          <a:prstGeom prst="rect">
            <a:avLst/>
          </a:prstGeom>
          <a:blipFill dpi="0" rotWithShape="0">
            <a:blip r:embed="rId6"/>
            <a:srcRect/>
            <a:tile tx="0" ty="0" sx="100000" sy="100000" flip="none" algn="tl"/>
          </a:blipFill>
          <a:ln w="9525">
            <a:noFill/>
            <a:miter lim="800000"/>
            <a:headEnd/>
            <a:tailEnd/>
          </a:ln>
        </p:spPr>
        <p:txBody>
          <a:bodyPr wrap="none">
            <a:spAutoFit/>
          </a:bodyPr>
          <a:lstStyle/>
          <a:p>
            <a:r>
              <a:rPr lang="zh-CN" altLang="en-US" sz="2800" b="1" dirty="0">
                <a:latin typeface="Times New Roman" pitchFamily="18" charset="0"/>
                <a:ea typeface="华文中宋" pitchFamily="2" charset="-122"/>
                <a:cs typeface="Times New Roman" pitchFamily="18" charset="0"/>
              </a:rPr>
              <a:t>结论</a:t>
            </a:r>
            <a:r>
              <a:rPr lang="en-US" altLang="zh-CN" sz="2800" b="1" dirty="0">
                <a:latin typeface="Times New Roman" pitchFamily="18" charset="0"/>
                <a:ea typeface="华文中宋" pitchFamily="2" charset="-122"/>
                <a:cs typeface="Times New Roman" pitchFamily="18" charset="0"/>
              </a:rPr>
              <a:t>3</a:t>
            </a:r>
            <a:r>
              <a:rPr lang="zh-CN" altLang="en-US" sz="2800" b="1" dirty="0">
                <a:latin typeface="Times New Roman" pitchFamily="18" charset="0"/>
                <a:ea typeface="华文中宋" pitchFamily="2" charset="-122"/>
                <a:cs typeface="Times New Roman" pitchFamily="18" charset="0"/>
              </a:rPr>
              <a:t>：最可几状态可以代表实验上可观测到</a:t>
            </a:r>
            <a:r>
              <a:rPr lang="zh-CN" altLang="en-US" sz="2800" b="1" dirty="0" smtClean="0">
                <a:latin typeface="Times New Roman" pitchFamily="18" charset="0"/>
                <a:ea typeface="华文中宋" pitchFamily="2" charset="-122"/>
                <a:cs typeface="Times New Roman" pitchFamily="18" charset="0"/>
              </a:rPr>
              <a:t>的</a:t>
            </a:r>
            <a:endParaRPr lang="en-US" altLang="zh-CN" sz="2800" b="1" dirty="0" smtClean="0">
              <a:latin typeface="Times New Roman" pitchFamily="18" charset="0"/>
              <a:ea typeface="华文中宋" pitchFamily="2" charset="-122"/>
              <a:cs typeface="Times New Roman" pitchFamily="18" charset="0"/>
            </a:endParaRPr>
          </a:p>
          <a:p>
            <a:r>
              <a:rPr lang="zh-CN" altLang="en-US" sz="2800" b="1" dirty="0" smtClean="0">
                <a:latin typeface="Times New Roman" pitchFamily="18" charset="0"/>
                <a:ea typeface="华文中宋" pitchFamily="2" charset="-122"/>
                <a:cs typeface="Times New Roman" pitchFamily="18" charset="0"/>
              </a:rPr>
              <a:t>宏观</a:t>
            </a:r>
            <a:r>
              <a:rPr lang="zh-CN" altLang="en-US" sz="2800" b="1" dirty="0">
                <a:latin typeface="Times New Roman" pitchFamily="18" charset="0"/>
                <a:ea typeface="华文中宋" pitchFamily="2" charset="-122"/>
                <a:cs typeface="Times New Roman" pitchFamily="18" charset="0"/>
              </a:rPr>
              <a:t>状态</a:t>
            </a:r>
            <a:r>
              <a:rPr lang="zh-CN" altLang="en-US" sz="2800" dirty="0">
                <a:latin typeface="Times New Roman" pitchFamily="18" charset="0"/>
                <a:ea typeface="华文中宋" pitchFamily="2" charset="-122"/>
                <a:cs typeface="Times New Roman" pitchFamily="18" charset="0"/>
              </a:rPr>
              <a:t>。 </a:t>
            </a:r>
          </a:p>
        </p:txBody>
      </p:sp>
      <p:grpSp>
        <p:nvGrpSpPr>
          <p:cNvPr id="4" name="Group 37"/>
          <p:cNvGrpSpPr>
            <a:grpSpLocks/>
          </p:cNvGrpSpPr>
          <p:nvPr/>
        </p:nvGrpSpPr>
        <p:grpSpPr bwMode="auto">
          <a:xfrm>
            <a:off x="838200" y="1217613"/>
            <a:ext cx="7924800" cy="992187"/>
            <a:chOff x="528" y="767"/>
            <a:chExt cx="4992" cy="625"/>
          </a:xfrm>
        </p:grpSpPr>
        <p:sp>
          <p:nvSpPr>
            <p:cNvPr id="40982" name="Text Box 9"/>
            <p:cNvSpPr txBox="1">
              <a:spLocks noChangeArrowheads="1"/>
            </p:cNvSpPr>
            <p:nvPr/>
          </p:nvSpPr>
          <p:spPr bwMode="auto">
            <a:xfrm>
              <a:off x="2762" y="890"/>
              <a:ext cx="567"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，则 </a:t>
              </a:r>
            </a:p>
          </p:txBody>
        </p:sp>
        <p:grpSp>
          <p:nvGrpSpPr>
            <p:cNvPr id="40983" name="Group 34"/>
            <p:cNvGrpSpPr>
              <a:grpSpLocks/>
            </p:cNvGrpSpPr>
            <p:nvPr/>
          </p:nvGrpSpPr>
          <p:grpSpPr bwMode="auto">
            <a:xfrm>
              <a:off x="528" y="767"/>
              <a:ext cx="4992" cy="625"/>
              <a:chOff x="528" y="767"/>
              <a:chExt cx="4992" cy="625"/>
            </a:xfrm>
          </p:grpSpPr>
          <p:sp>
            <p:nvSpPr>
              <p:cNvPr id="40984" name="Text Box 4"/>
              <p:cNvSpPr txBox="1">
                <a:spLocks noChangeArrowheads="1"/>
              </p:cNvSpPr>
              <p:nvPr/>
            </p:nvSpPr>
            <p:spPr bwMode="auto">
              <a:xfrm>
                <a:off x="528" y="912"/>
                <a:ext cx="761" cy="291"/>
              </a:xfrm>
              <a:prstGeom prst="rect">
                <a:avLst/>
              </a:prstGeom>
              <a:noFill/>
              <a:ln w="9525">
                <a:noFill/>
                <a:miter lim="800000"/>
                <a:headEnd/>
                <a:tailEnd/>
              </a:ln>
            </p:spPr>
            <p:txBody>
              <a:bodyPr wrap="none">
                <a:spAutoFit/>
              </a:bodyPr>
              <a:lstStyle/>
              <a:p>
                <a:r>
                  <a:rPr lang="zh-CN" altLang="en-US" sz="2400" b="1" dirty="0">
                    <a:solidFill>
                      <a:schemeClr val="bg1"/>
                    </a:solidFill>
                    <a:latin typeface="Times New Roman" pitchFamily="18" charset="0"/>
                    <a:ea typeface="华文中宋" pitchFamily="2" charset="-122"/>
                    <a:cs typeface="Times New Roman" pitchFamily="18" charset="0"/>
                  </a:rPr>
                  <a:t>如果取 </a:t>
                </a:r>
              </a:p>
            </p:txBody>
          </p:sp>
          <p:graphicFrame>
            <p:nvGraphicFramePr>
              <p:cNvPr id="40965" name="Object 5"/>
              <p:cNvGraphicFramePr>
                <a:graphicFrameLocks noChangeAspect="1"/>
              </p:cNvGraphicFramePr>
              <p:nvPr/>
            </p:nvGraphicFramePr>
            <p:xfrm>
              <a:off x="1217" y="912"/>
              <a:ext cx="703" cy="250"/>
            </p:xfrm>
            <a:graphic>
              <a:graphicData uri="http://schemas.openxmlformats.org/presentationml/2006/ole">
                <p:oleObj spid="_x0000_s40965" r:id="rId7" imgW="558558" imgH="203112" progId="Equation.DSMT4">
                  <p:embed/>
                </p:oleObj>
              </a:graphicData>
            </a:graphic>
          </p:graphicFrame>
          <p:graphicFrame>
            <p:nvGraphicFramePr>
              <p:cNvPr id="40966" name="Object 7"/>
              <p:cNvGraphicFramePr>
                <a:graphicFrameLocks noChangeAspect="1"/>
              </p:cNvGraphicFramePr>
              <p:nvPr/>
            </p:nvGraphicFramePr>
            <p:xfrm>
              <a:off x="2158" y="899"/>
              <a:ext cx="626" cy="253"/>
            </p:xfrm>
            <a:graphic>
              <a:graphicData uri="http://schemas.openxmlformats.org/presentationml/2006/ole">
                <p:oleObj spid="_x0000_s40966" r:id="rId8" imgW="494870" imgH="203024" progId="Equation.DSMT4">
                  <p:embed/>
                </p:oleObj>
              </a:graphicData>
            </a:graphic>
          </p:graphicFrame>
          <p:graphicFrame>
            <p:nvGraphicFramePr>
              <p:cNvPr id="40967" name="Object 10"/>
              <p:cNvGraphicFramePr>
                <a:graphicFrameLocks noChangeAspect="1"/>
              </p:cNvGraphicFramePr>
              <p:nvPr/>
            </p:nvGraphicFramePr>
            <p:xfrm>
              <a:off x="3312" y="912"/>
              <a:ext cx="759" cy="225"/>
            </p:xfrm>
            <a:graphic>
              <a:graphicData uri="http://schemas.openxmlformats.org/presentationml/2006/ole">
                <p:oleObj spid="_x0000_s40967" name="Equation" r:id="rId9" imgW="609480" imgH="177480" progId="Equation.DSMT4">
                  <p:embed/>
                </p:oleObj>
              </a:graphicData>
            </a:graphic>
          </p:graphicFrame>
          <p:graphicFrame>
            <p:nvGraphicFramePr>
              <p:cNvPr id="40968" name="Object 24"/>
              <p:cNvGraphicFramePr>
                <a:graphicFrameLocks noChangeAspect="1"/>
              </p:cNvGraphicFramePr>
              <p:nvPr/>
            </p:nvGraphicFramePr>
            <p:xfrm>
              <a:off x="4656" y="767"/>
              <a:ext cx="864" cy="625"/>
            </p:xfrm>
            <a:graphic>
              <a:graphicData uri="http://schemas.openxmlformats.org/presentationml/2006/ole">
                <p:oleObj spid="_x0000_s40968" r:id="rId10" imgW="622030" imgH="444307" progId="Equation.DSMT4">
                  <p:embed/>
                </p:oleObj>
              </a:graphicData>
            </a:graphic>
          </p:graphicFrame>
        </p:grpSp>
      </p:grpSp>
      <p:grpSp>
        <p:nvGrpSpPr>
          <p:cNvPr id="6" name="Group 36"/>
          <p:cNvGrpSpPr>
            <a:grpSpLocks/>
          </p:cNvGrpSpPr>
          <p:nvPr/>
        </p:nvGrpSpPr>
        <p:grpSpPr bwMode="auto">
          <a:xfrm>
            <a:off x="838200" y="2646360"/>
            <a:ext cx="7391400" cy="482599"/>
            <a:chOff x="528" y="1667"/>
            <a:chExt cx="4656" cy="304"/>
          </a:xfrm>
        </p:grpSpPr>
        <p:sp>
          <p:nvSpPr>
            <p:cNvPr id="40981" name="Text Box 30"/>
            <p:cNvSpPr txBox="1">
              <a:spLocks noChangeArrowheads="1"/>
            </p:cNvSpPr>
            <p:nvPr/>
          </p:nvSpPr>
          <p:spPr bwMode="auto">
            <a:xfrm>
              <a:off x="528" y="1680"/>
              <a:ext cx="761" cy="291"/>
            </a:xfrm>
            <a:prstGeom prst="rect">
              <a:avLst/>
            </a:prstGeom>
            <a:solidFill>
              <a:schemeClr val="tx1"/>
            </a:solid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如果取 </a:t>
              </a:r>
            </a:p>
          </p:txBody>
        </p:sp>
        <p:graphicFrame>
          <p:nvGraphicFramePr>
            <p:cNvPr id="40962" name="Object 31"/>
            <p:cNvGraphicFramePr>
              <a:graphicFrameLocks noChangeAspect="1"/>
            </p:cNvGraphicFramePr>
            <p:nvPr/>
          </p:nvGraphicFramePr>
          <p:xfrm>
            <a:off x="1217" y="1680"/>
            <a:ext cx="703" cy="250"/>
          </p:xfrm>
          <a:graphic>
            <a:graphicData uri="http://schemas.openxmlformats.org/presentationml/2006/ole">
              <p:oleObj spid="_x0000_s40962" r:id="rId11" imgW="558558" imgH="203112" progId="Equation.DSMT4">
                <p:embed/>
              </p:oleObj>
            </a:graphicData>
          </a:graphic>
        </p:graphicFrame>
        <p:graphicFrame>
          <p:nvGraphicFramePr>
            <p:cNvPr id="40963" name="Object 32"/>
            <p:cNvGraphicFramePr>
              <a:graphicFrameLocks noChangeAspect="1"/>
            </p:cNvGraphicFramePr>
            <p:nvPr/>
          </p:nvGraphicFramePr>
          <p:xfrm>
            <a:off x="2014" y="1667"/>
            <a:ext cx="626" cy="253"/>
          </p:xfrm>
          <a:graphic>
            <a:graphicData uri="http://schemas.openxmlformats.org/presentationml/2006/ole">
              <p:oleObj spid="_x0000_s40963" name="Equation" r:id="rId12" imgW="495000" imgH="203040" progId="Equation.DSMT4">
                <p:embed/>
              </p:oleObj>
            </a:graphicData>
          </a:graphic>
        </p:graphicFrame>
        <p:graphicFrame>
          <p:nvGraphicFramePr>
            <p:cNvPr id="40964" name="Object 33"/>
            <p:cNvGraphicFramePr>
              <a:graphicFrameLocks noChangeAspect="1"/>
            </p:cNvGraphicFramePr>
            <p:nvPr/>
          </p:nvGraphicFramePr>
          <p:xfrm>
            <a:off x="2822" y="1684"/>
            <a:ext cx="2362" cy="284"/>
          </p:xfrm>
          <a:graphic>
            <a:graphicData uri="http://schemas.openxmlformats.org/presentationml/2006/ole">
              <p:oleObj spid="_x0000_s40964" name="Equation" r:id="rId13" imgW="1879560" imgH="228600" progId="Equation.DSMT4">
                <p:embed/>
              </p:oleObj>
            </a:graphicData>
          </a:graphic>
        </p:graphicFrame>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dissolv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4534"/>
                                        </p:tgtEl>
                                        <p:attrNameLst>
                                          <p:attrName>style.visibility</p:attrName>
                                        </p:attrNameLst>
                                      </p:cBhvr>
                                      <p:to>
                                        <p:strVal val="visible"/>
                                      </p:to>
                                    </p:set>
                                    <p:animEffect transition="in" filter="dissolve">
                                      <p:cBhvr>
                                        <p:cTn id="27" dur="500"/>
                                        <p:tgtEl>
                                          <p:spTgt spid="6453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64535"/>
                                        </p:tgtEl>
                                        <p:attrNameLst>
                                          <p:attrName>style.visibility</p:attrName>
                                        </p:attrNameLst>
                                      </p:cBhvr>
                                      <p:to>
                                        <p:strVal val="visible"/>
                                      </p:to>
                                    </p:set>
                                    <p:animEffect transition="in" filter="dissolve">
                                      <p:cBhvr>
                                        <p:cTn id="32" dur="500"/>
                                        <p:tgtEl>
                                          <p:spTgt spid="645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34" grpId="0" autoUpdateAnimBg="0"/>
      <p:bldP spid="64535" grpId="0" animBg="1"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灯片编号占位符 3"/>
          <p:cNvSpPr>
            <a:spLocks noGrp="1"/>
          </p:cNvSpPr>
          <p:nvPr>
            <p:ph type="sldNum" sz="quarter" idx="12"/>
          </p:nvPr>
        </p:nvSpPr>
        <p:spPr>
          <a:noFill/>
        </p:spPr>
        <p:txBody>
          <a:bodyPr/>
          <a:lstStyle/>
          <a:p>
            <a:fld id="{BB3D8A11-7E7C-4312-A332-87BFC0B6EE94}" type="slidenum">
              <a:rPr lang="en-US" altLang="zh-CN" smtClean="0"/>
              <a:pPr/>
              <a:t>57</a:t>
            </a:fld>
            <a:endParaRPr lang="en-US" altLang="zh-CN" smtClean="0"/>
          </a:p>
        </p:txBody>
      </p:sp>
      <p:sp>
        <p:nvSpPr>
          <p:cNvPr id="41989" name="Text Box 2"/>
          <p:cNvSpPr txBox="1">
            <a:spLocks noChangeArrowheads="1"/>
          </p:cNvSpPr>
          <p:nvPr/>
        </p:nvSpPr>
        <p:spPr bwMode="auto">
          <a:xfrm>
            <a:off x="7524750" y="0"/>
            <a:ext cx="1619250"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41990" name="Rectangle 3"/>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en-US" altLang="zh-CN" sz="4400" b="1">
                <a:solidFill>
                  <a:srgbClr val="FFFF00"/>
                </a:solidFill>
                <a:latin typeface="Times New Roman" pitchFamily="18" charset="0"/>
                <a:ea typeface="黑体" pitchFamily="49" charset="-122"/>
                <a:cs typeface="Times New Roman" pitchFamily="18" charset="0"/>
              </a:rPr>
              <a:t>Boltzmann</a:t>
            </a:r>
            <a:r>
              <a:rPr lang="zh-CN" altLang="en-US" sz="4400" b="1">
                <a:solidFill>
                  <a:srgbClr val="FFFF00"/>
                </a:solidFill>
                <a:latin typeface="Times New Roman" pitchFamily="18" charset="0"/>
                <a:ea typeface="黑体" pitchFamily="49" charset="-122"/>
                <a:cs typeface="Times New Roman" pitchFamily="18" charset="0"/>
              </a:rPr>
              <a:t>分布 </a:t>
            </a:r>
          </a:p>
        </p:txBody>
      </p:sp>
      <p:sp>
        <p:nvSpPr>
          <p:cNvPr id="65540" name="Text Box 4"/>
          <p:cNvSpPr txBox="1">
            <a:spLocks noChangeArrowheads="1"/>
          </p:cNvSpPr>
          <p:nvPr/>
        </p:nvSpPr>
        <p:spPr bwMode="auto">
          <a:xfrm>
            <a:off x="642910" y="1418570"/>
            <a:ext cx="8186857" cy="1938992"/>
          </a:xfrm>
          <a:prstGeom prst="rect">
            <a:avLst/>
          </a:prstGeom>
          <a:noFill/>
          <a:ln w="9525">
            <a:noFill/>
            <a:miter lim="800000"/>
            <a:headEnd/>
            <a:tailEnd/>
          </a:ln>
        </p:spPr>
        <p:txBody>
          <a:bodyPr wrap="none">
            <a:spAutoFit/>
          </a:bodyPr>
          <a:lstStyle/>
          <a:p>
            <a:r>
              <a:rPr lang="zh-CN" altLang="en-US" sz="2400" b="1" dirty="0">
                <a:solidFill>
                  <a:schemeClr val="bg1"/>
                </a:solidFill>
                <a:latin typeface="Times New Roman" pitchFamily="18" charset="0"/>
                <a:ea typeface="华文中宋" pitchFamily="2" charset="-122"/>
                <a:cs typeface="Times New Roman" pitchFamily="18" charset="0"/>
              </a:rPr>
              <a:t>热力学平衡态是几率最大的微观态，也是对应微观态数最多</a:t>
            </a:r>
          </a:p>
          <a:p>
            <a:r>
              <a:rPr lang="zh-CN" altLang="en-US" sz="2400" b="1" dirty="0">
                <a:solidFill>
                  <a:schemeClr val="bg1"/>
                </a:solidFill>
                <a:latin typeface="Times New Roman" pitchFamily="18" charset="0"/>
                <a:ea typeface="华文中宋" pitchFamily="2" charset="-122"/>
                <a:cs typeface="Times New Roman" pitchFamily="18" charset="0"/>
              </a:rPr>
              <a:t>的宏观态。</a:t>
            </a:r>
          </a:p>
          <a:p>
            <a:endParaRPr lang="zh-CN" altLang="en-US" sz="2400" b="1" dirty="0">
              <a:solidFill>
                <a:schemeClr val="bg1"/>
              </a:solidFill>
              <a:latin typeface="Times New Roman" pitchFamily="18" charset="0"/>
              <a:ea typeface="华文中宋" pitchFamily="2" charset="-122"/>
              <a:cs typeface="Times New Roman" pitchFamily="18" charset="0"/>
            </a:endParaRPr>
          </a:p>
          <a:p>
            <a:r>
              <a:rPr lang="zh-CN" altLang="en-US" sz="2400" b="1" dirty="0" smtClean="0">
                <a:solidFill>
                  <a:schemeClr val="bg1"/>
                </a:solidFill>
                <a:latin typeface="Times New Roman" pitchFamily="18" charset="0"/>
                <a:ea typeface="华文中宋" pitchFamily="2" charset="-122"/>
                <a:cs typeface="Times New Roman" pitchFamily="18" charset="0"/>
              </a:rPr>
              <a:t>孤立系统</a:t>
            </a:r>
            <a:r>
              <a:rPr lang="zh-CN" altLang="en-US" sz="2400" b="1" dirty="0">
                <a:solidFill>
                  <a:schemeClr val="bg1"/>
                </a:solidFill>
                <a:latin typeface="Times New Roman" pitchFamily="18" charset="0"/>
                <a:ea typeface="华文中宋" pitchFamily="2" charset="-122"/>
                <a:cs typeface="Times New Roman" pitchFamily="18" charset="0"/>
              </a:rPr>
              <a:t>在</a:t>
            </a:r>
            <a:r>
              <a:rPr lang="zh-CN" altLang="en-US" sz="2400" b="1" dirty="0" smtClean="0">
                <a:solidFill>
                  <a:schemeClr val="bg1"/>
                </a:solidFill>
                <a:latin typeface="Times New Roman" pitchFamily="18" charset="0"/>
                <a:ea typeface="华文中宋" pitchFamily="2" charset="-122"/>
                <a:cs typeface="Times New Roman" pitchFamily="18" charset="0"/>
              </a:rPr>
              <a:t>达到平衡态</a:t>
            </a:r>
            <a:r>
              <a:rPr lang="zh-CN" altLang="en-US" sz="2400" b="1" dirty="0">
                <a:solidFill>
                  <a:schemeClr val="bg1"/>
                </a:solidFill>
                <a:latin typeface="Times New Roman" pitchFamily="18" charset="0"/>
                <a:ea typeface="华文中宋" pitchFamily="2" charset="-122"/>
                <a:cs typeface="Times New Roman" pitchFamily="18" charset="0"/>
              </a:rPr>
              <a:t>时粒子按能级如何</a:t>
            </a:r>
            <a:r>
              <a:rPr lang="zh-CN" altLang="en-US" sz="2400" b="1" dirty="0" smtClean="0">
                <a:solidFill>
                  <a:schemeClr val="bg1"/>
                </a:solidFill>
                <a:latin typeface="Times New Roman" pitchFamily="18" charset="0"/>
                <a:ea typeface="华文中宋" pitchFamily="2" charset="-122"/>
                <a:cs typeface="Times New Roman" pitchFamily="18" charset="0"/>
              </a:rPr>
              <a:t>分布，</a:t>
            </a:r>
            <a:r>
              <a:rPr lang="zh-CN" altLang="en-US" sz="2400" b="1" dirty="0">
                <a:solidFill>
                  <a:schemeClr val="bg1"/>
                </a:solidFill>
                <a:latin typeface="Times New Roman" pitchFamily="18" charset="0"/>
                <a:ea typeface="华文中宋" pitchFamily="2" charset="-122"/>
                <a:cs typeface="Times New Roman" pitchFamily="18" charset="0"/>
              </a:rPr>
              <a:t>等价</a:t>
            </a:r>
            <a:r>
              <a:rPr lang="zh-CN" altLang="en-US" sz="2400" b="1" dirty="0" smtClean="0">
                <a:solidFill>
                  <a:schemeClr val="bg1"/>
                </a:solidFill>
                <a:latin typeface="Times New Roman" pitchFamily="18" charset="0"/>
                <a:ea typeface="华文中宋" pitchFamily="2" charset="-122"/>
                <a:cs typeface="Times New Roman" pitchFamily="18" charset="0"/>
              </a:rPr>
              <a:t>于什么</a:t>
            </a:r>
            <a:endParaRPr lang="en-US" altLang="zh-CN" sz="2400" b="1" dirty="0" smtClean="0">
              <a:solidFill>
                <a:schemeClr val="bg1"/>
              </a:solidFill>
              <a:latin typeface="Times New Roman" pitchFamily="18" charset="0"/>
              <a:ea typeface="华文中宋" pitchFamily="2" charset="-122"/>
              <a:cs typeface="Times New Roman" pitchFamily="18" charset="0"/>
            </a:endParaRPr>
          </a:p>
          <a:p>
            <a:r>
              <a:rPr lang="zh-CN" altLang="en-US" sz="2400" b="1" dirty="0" smtClean="0">
                <a:solidFill>
                  <a:schemeClr val="bg1"/>
                </a:solidFill>
                <a:latin typeface="Times New Roman" pitchFamily="18" charset="0"/>
                <a:ea typeface="华文中宋" pitchFamily="2" charset="-122"/>
                <a:cs typeface="Times New Roman" pitchFamily="18" charset="0"/>
              </a:rPr>
              <a:t>分布使</a:t>
            </a:r>
            <a:r>
              <a:rPr lang="zh-CN" altLang="en-US" sz="2400" b="1" dirty="0">
                <a:solidFill>
                  <a:schemeClr val="bg1"/>
                </a:solidFill>
                <a:latin typeface="Times New Roman" pitchFamily="18" charset="0"/>
                <a:ea typeface="华文中宋" pitchFamily="2" charset="-122"/>
                <a:cs typeface="Times New Roman" pitchFamily="18" charset="0"/>
              </a:rPr>
              <a:t>系统在</a:t>
            </a:r>
            <a:r>
              <a:rPr lang="zh-CN" altLang="en-US" sz="2400" b="1" dirty="0" smtClean="0">
                <a:solidFill>
                  <a:schemeClr val="bg1"/>
                </a:solidFill>
                <a:latin typeface="Times New Roman" pitchFamily="18" charset="0"/>
                <a:ea typeface="华文中宋" pitchFamily="2" charset="-122"/>
                <a:cs typeface="Times New Roman" pitchFamily="18" charset="0"/>
              </a:rPr>
              <a:t>孤立系条件下</a:t>
            </a:r>
            <a:r>
              <a:rPr lang="zh-CN" altLang="en-US" sz="2400" b="1" dirty="0">
                <a:solidFill>
                  <a:schemeClr val="bg1"/>
                </a:solidFill>
                <a:latin typeface="Times New Roman" pitchFamily="18" charset="0"/>
                <a:ea typeface="华文中宋" pitchFamily="2" charset="-122"/>
                <a:cs typeface="Times New Roman" pitchFamily="18" charset="0"/>
              </a:rPr>
              <a:t>对应的微观状态数最多。 </a:t>
            </a:r>
          </a:p>
        </p:txBody>
      </p:sp>
      <p:grpSp>
        <p:nvGrpSpPr>
          <p:cNvPr id="2" name="Group 12"/>
          <p:cNvGrpSpPr>
            <a:grpSpLocks/>
          </p:cNvGrpSpPr>
          <p:nvPr/>
        </p:nvGrpSpPr>
        <p:grpSpPr bwMode="auto">
          <a:xfrm>
            <a:off x="609600" y="3886200"/>
            <a:ext cx="8494713" cy="1524000"/>
            <a:chOff x="384" y="2448"/>
            <a:chExt cx="5351" cy="960"/>
          </a:xfrm>
        </p:grpSpPr>
        <p:sp>
          <p:nvSpPr>
            <p:cNvPr id="41995" name="Text Box 6"/>
            <p:cNvSpPr txBox="1">
              <a:spLocks noChangeArrowheads="1"/>
            </p:cNvSpPr>
            <p:nvPr/>
          </p:nvSpPr>
          <p:spPr bwMode="auto">
            <a:xfrm>
              <a:off x="384" y="2448"/>
              <a:ext cx="5351" cy="523"/>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对于定域子体系，一套满足约束条件的给定的能量分布形式对</a:t>
              </a:r>
            </a:p>
            <a:p>
              <a:r>
                <a:rPr lang="zh-CN" altLang="en-US" sz="2400" b="1">
                  <a:solidFill>
                    <a:schemeClr val="bg1"/>
                  </a:solidFill>
                  <a:latin typeface="Times New Roman" pitchFamily="18" charset="0"/>
                  <a:ea typeface="华文中宋" pitchFamily="2" charset="-122"/>
                  <a:cs typeface="Times New Roman" pitchFamily="18" charset="0"/>
                </a:rPr>
                <a:t>应的微观态数为 </a:t>
              </a:r>
            </a:p>
          </p:txBody>
        </p:sp>
        <p:graphicFrame>
          <p:nvGraphicFramePr>
            <p:cNvPr id="41987" name="Object 7"/>
            <p:cNvGraphicFramePr>
              <a:graphicFrameLocks noChangeAspect="1"/>
            </p:cNvGraphicFramePr>
            <p:nvPr/>
          </p:nvGraphicFramePr>
          <p:xfrm>
            <a:off x="2496" y="2831"/>
            <a:ext cx="1238" cy="577"/>
          </p:xfrm>
          <a:graphic>
            <a:graphicData uri="http://schemas.openxmlformats.org/presentationml/2006/ole">
              <p:oleObj spid="_x0000_s41987" r:id="rId3" imgW="977900" imgH="457200" progId="Equation.DSMT4">
                <p:embed/>
              </p:oleObj>
            </a:graphicData>
          </a:graphic>
        </p:graphicFrame>
      </p:grpSp>
      <p:grpSp>
        <p:nvGrpSpPr>
          <p:cNvPr id="3" name="Group 13"/>
          <p:cNvGrpSpPr>
            <a:grpSpLocks/>
          </p:cNvGrpSpPr>
          <p:nvPr/>
        </p:nvGrpSpPr>
        <p:grpSpPr bwMode="auto">
          <a:xfrm>
            <a:off x="609600" y="5486400"/>
            <a:ext cx="8839200" cy="1295400"/>
            <a:chOff x="384" y="3456"/>
            <a:chExt cx="5568" cy="816"/>
          </a:xfrm>
        </p:grpSpPr>
        <p:sp>
          <p:nvSpPr>
            <p:cNvPr id="41994" name="Text Box 9"/>
            <p:cNvSpPr txBox="1">
              <a:spLocks noChangeArrowheads="1"/>
            </p:cNvSpPr>
            <p:nvPr/>
          </p:nvSpPr>
          <p:spPr bwMode="auto">
            <a:xfrm>
              <a:off x="384" y="3456"/>
              <a:ext cx="5568"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对于离域子</a:t>
              </a:r>
              <a:r>
                <a:rPr lang="en-US" altLang="zh-CN" sz="2400" b="1">
                  <a:solidFill>
                    <a:schemeClr val="bg1"/>
                  </a:solidFill>
                  <a:latin typeface="Times New Roman" pitchFamily="18" charset="0"/>
                  <a:ea typeface="华文中宋" pitchFamily="2" charset="-122"/>
                  <a:cs typeface="Times New Roman" pitchFamily="18" charset="0"/>
                </a:rPr>
                <a:t>(Bose</a:t>
              </a:r>
              <a:r>
                <a:rPr lang="zh-CN" altLang="en-US" sz="2400" b="1">
                  <a:solidFill>
                    <a:schemeClr val="bg1"/>
                  </a:solidFill>
                  <a:latin typeface="Times New Roman" pitchFamily="18" charset="0"/>
                  <a:ea typeface="华文中宋" pitchFamily="2" charset="-122"/>
                  <a:cs typeface="Times New Roman" pitchFamily="18" charset="0"/>
                </a:rPr>
                <a:t>子或</a:t>
              </a:r>
              <a:r>
                <a:rPr lang="en-US" altLang="zh-CN" sz="2400" b="1">
                  <a:solidFill>
                    <a:schemeClr val="bg1"/>
                  </a:solidFill>
                  <a:latin typeface="Times New Roman" pitchFamily="18" charset="0"/>
                  <a:ea typeface="华文中宋" pitchFamily="2" charset="-122"/>
                  <a:cs typeface="Times New Roman" pitchFamily="18" charset="0"/>
                </a:rPr>
                <a:t>Fermi</a:t>
              </a:r>
              <a:r>
                <a:rPr lang="zh-CN" altLang="en-US" sz="2400" b="1">
                  <a:solidFill>
                    <a:schemeClr val="bg1"/>
                  </a:solidFill>
                  <a:latin typeface="Times New Roman" pitchFamily="18" charset="0"/>
                  <a:ea typeface="华文中宋" pitchFamily="2" charset="-122"/>
                  <a:cs typeface="Times New Roman" pitchFamily="18" charset="0"/>
                </a:rPr>
                <a:t>子</a:t>
              </a:r>
              <a:r>
                <a:rPr lang="en-US" altLang="zh-CN" sz="2400" b="1">
                  <a:solidFill>
                    <a:schemeClr val="bg1"/>
                  </a:solidFill>
                  <a:latin typeface="Times New Roman" pitchFamily="18" charset="0"/>
                  <a:ea typeface="华文中宋" pitchFamily="2" charset="-122"/>
                  <a:cs typeface="Times New Roman" pitchFamily="18" charset="0"/>
                </a:rPr>
                <a:t>)</a:t>
              </a:r>
              <a:r>
                <a:rPr lang="zh-CN" altLang="en-US" sz="2400" b="1">
                  <a:solidFill>
                    <a:schemeClr val="bg1"/>
                  </a:solidFill>
                  <a:latin typeface="Times New Roman" pitchFamily="18" charset="0"/>
                  <a:ea typeface="华文中宋" pitchFamily="2" charset="-122"/>
                  <a:cs typeface="Times New Roman" pitchFamily="18" charset="0"/>
                </a:rPr>
                <a:t>，满足经典极限时，微观态数为 </a:t>
              </a:r>
            </a:p>
          </p:txBody>
        </p:sp>
        <p:graphicFrame>
          <p:nvGraphicFramePr>
            <p:cNvPr id="41986" name="Object 10"/>
            <p:cNvGraphicFramePr>
              <a:graphicFrameLocks noChangeAspect="1"/>
            </p:cNvGraphicFramePr>
            <p:nvPr/>
          </p:nvGraphicFramePr>
          <p:xfrm>
            <a:off x="2592" y="3697"/>
            <a:ext cx="1007" cy="575"/>
          </p:xfrm>
          <a:graphic>
            <a:graphicData uri="http://schemas.openxmlformats.org/presentationml/2006/ole">
              <p:oleObj spid="_x0000_s41986" r:id="rId4" imgW="800100" imgH="457200" progId="Equation.DSMT4">
                <p:embed/>
              </p:oleObj>
            </a:graphicData>
          </a:graphic>
        </p:graphicFrame>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65540"/>
                                        </p:tgtEl>
                                        <p:attrNameLst>
                                          <p:attrName>style.visibility</p:attrName>
                                        </p:attrNameLst>
                                      </p:cBhvr>
                                      <p:to>
                                        <p:strVal val="visible"/>
                                      </p:to>
                                    </p:set>
                                    <p:animEffect transition="in" filter="barn(outHorizontal)">
                                      <p:cBhvr>
                                        <p:cTn id="7" dur="500"/>
                                        <p:tgtEl>
                                          <p:spTgt spid="6554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out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arn(out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0"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8" name="灯片编号占位符 3"/>
          <p:cNvSpPr>
            <a:spLocks noGrp="1"/>
          </p:cNvSpPr>
          <p:nvPr>
            <p:ph type="sldNum" sz="quarter" idx="12"/>
          </p:nvPr>
        </p:nvSpPr>
        <p:spPr>
          <a:noFill/>
        </p:spPr>
        <p:txBody>
          <a:bodyPr/>
          <a:lstStyle/>
          <a:p>
            <a:fld id="{1A5E5FAF-687A-4584-B57C-F230AA0258AB}" type="slidenum">
              <a:rPr lang="en-US" altLang="zh-CN" smtClean="0"/>
              <a:pPr/>
              <a:t>58</a:t>
            </a:fld>
            <a:endParaRPr lang="en-US" altLang="zh-CN" smtClean="0"/>
          </a:p>
        </p:txBody>
      </p:sp>
      <p:sp>
        <p:nvSpPr>
          <p:cNvPr id="43019" name="Text Box 2"/>
          <p:cNvSpPr txBox="1">
            <a:spLocks noChangeArrowheads="1"/>
          </p:cNvSpPr>
          <p:nvPr/>
        </p:nvSpPr>
        <p:spPr bwMode="auto">
          <a:xfrm>
            <a:off x="7524750" y="0"/>
            <a:ext cx="1619250"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43020" name="Rectangle 3"/>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en-US" altLang="zh-CN" sz="4400" b="1" dirty="0">
                <a:solidFill>
                  <a:srgbClr val="FFFF00"/>
                </a:solidFill>
                <a:latin typeface="Times New Roman" pitchFamily="18" charset="0"/>
                <a:ea typeface="黑体" pitchFamily="49" charset="-122"/>
                <a:cs typeface="Times New Roman" pitchFamily="18" charset="0"/>
              </a:rPr>
              <a:t>Boltzmann</a:t>
            </a:r>
            <a:r>
              <a:rPr lang="zh-CN" altLang="en-US" sz="4400" b="1" dirty="0">
                <a:solidFill>
                  <a:srgbClr val="FFFF00"/>
                </a:solidFill>
                <a:latin typeface="Times New Roman" pitchFamily="18" charset="0"/>
                <a:ea typeface="黑体" pitchFamily="49" charset="-122"/>
                <a:cs typeface="Times New Roman" pitchFamily="18" charset="0"/>
              </a:rPr>
              <a:t>分布 </a:t>
            </a:r>
          </a:p>
        </p:txBody>
      </p:sp>
      <p:grpSp>
        <p:nvGrpSpPr>
          <p:cNvPr id="2" name="Group 23"/>
          <p:cNvGrpSpPr>
            <a:grpSpLocks/>
          </p:cNvGrpSpPr>
          <p:nvPr/>
        </p:nvGrpSpPr>
        <p:grpSpPr bwMode="auto">
          <a:xfrm>
            <a:off x="685800" y="1295400"/>
            <a:ext cx="8139114" cy="1373188"/>
            <a:chOff x="432" y="816"/>
            <a:chExt cx="5127" cy="865"/>
          </a:xfrm>
        </p:grpSpPr>
        <p:grpSp>
          <p:nvGrpSpPr>
            <p:cNvPr id="43027" name="Group 13"/>
            <p:cNvGrpSpPr>
              <a:grpSpLocks/>
            </p:cNvGrpSpPr>
            <p:nvPr/>
          </p:nvGrpSpPr>
          <p:grpSpPr bwMode="auto">
            <a:xfrm>
              <a:off x="432" y="816"/>
              <a:ext cx="5127" cy="336"/>
              <a:chOff x="432" y="816"/>
              <a:chExt cx="5127" cy="336"/>
            </a:xfrm>
          </p:grpSpPr>
          <p:sp>
            <p:nvSpPr>
              <p:cNvPr id="43028" name="Text Box 4"/>
              <p:cNvSpPr txBox="1">
                <a:spLocks noChangeArrowheads="1"/>
              </p:cNvSpPr>
              <p:nvPr/>
            </p:nvSpPr>
            <p:spPr bwMode="auto">
              <a:xfrm>
                <a:off x="432" y="816"/>
                <a:ext cx="2806" cy="291"/>
              </a:xfrm>
              <a:prstGeom prst="rect">
                <a:avLst/>
              </a:prstGeom>
              <a:noFill/>
              <a:ln w="9525">
                <a:noFill/>
                <a:miter lim="800000"/>
                <a:headEnd/>
                <a:tailEnd/>
              </a:ln>
            </p:spPr>
            <p:txBody>
              <a:bodyPr wrap="none">
                <a:spAutoFit/>
              </a:bodyPr>
              <a:lstStyle/>
              <a:p>
                <a:r>
                  <a:rPr lang="zh-CN" altLang="en-US" sz="2400" b="1" dirty="0">
                    <a:solidFill>
                      <a:schemeClr val="bg1"/>
                    </a:solidFill>
                    <a:latin typeface="华文中宋" pitchFamily="2" charset="-122"/>
                    <a:ea typeface="华文中宋" pitchFamily="2" charset="-122"/>
                  </a:rPr>
                  <a:t> </a:t>
                </a:r>
                <a:r>
                  <a:rPr lang="zh-CN" altLang="en-US" sz="2400" b="1" dirty="0" smtClean="0">
                    <a:solidFill>
                      <a:schemeClr val="bg1"/>
                    </a:solidFill>
                    <a:latin typeface="华文中宋" pitchFamily="2" charset="-122"/>
                    <a:ea typeface="华文中宋" pitchFamily="2" charset="-122"/>
                  </a:rPr>
                  <a:t>       为</a:t>
                </a:r>
                <a:r>
                  <a:rPr lang="zh-CN" altLang="en-US" sz="2400" b="1" dirty="0">
                    <a:solidFill>
                      <a:schemeClr val="bg1"/>
                    </a:solidFill>
                    <a:latin typeface="华文中宋" pitchFamily="2" charset="-122"/>
                    <a:ea typeface="华文中宋" pitchFamily="2" charset="-122"/>
                  </a:rPr>
                  <a:t>极大值</a:t>
                </a:r>
                <a:r>
                  <a:rPr lang="zh-CN" altLang="en-US" sz="2400" b="1" dirty="0" smtClean="0">
                    <a:solidFill>
                      <a:schemeClr val="bg1"/>
                    </a:solidFill>
                    <a:latin typeface="华文中宋" pitchFamily="2" charset="-122"/>
                    <a:ea typeface="华文中宋" pitchFamily="2" charset="-122"/>
                  </a:rPr>
                  <a:t>，平衡分布时    </a:t>
                </a:r>
                <a:endParaRPr lang="zh-CN" altLang="en-US" sz="2400" b="1" dirty="0">
                  <a:solidFill>
                    <a:schemeClr val="bg1"/>
                  </a:solidFill>
                  <a:latin typeface="华文中宋" pitchFamily="2" charset="-122"/>
                  <a:ea typeface="华文中宋" pitchFamily="2" charset="-122"/>
                </a:endParaRPr>
              </a:p>
            </p:txBody>
          </p:sp>
          <p:graphicFrame>
            <p:nvGraphicFramePr>
              <p:cNvPr id="43016" name="Object 5"/>
              <p:cNvGraphicFramePr>
                <a:graphicFrameLocks noChangeAspect="1"/>
              </p:cNvGraphicFramePr>
              <p:nvPr/>
            </p:nvGraphicFramePr>
            <p:xfrm>
              <a:off x="645" y="854"/>
              <a:ext cx="274" cy="298"/>
            </p:xfrm>
            <a:graphic>
              <a:graphicData uri="http://schemas.openxmlformats.org/presentationml/2006/ole">
                <p:oleObj spid="_x0000_s43016" r:id="rId3" imgW="215713" imgH="241091" progId="Equation.DSMT4">
                  <p:embed/>
                </p:oleObj>
              </a:graphicData>
            </a:graphic>
          </p:graphicFrame>
          <p:graphicFrame>
            <p:nvGraphicFramePr>
              <p:cNvPr id="43017" name="Object 7"/>
              <p:cNvGraphicFramePr>
                <a:graphicFrameLocks noChangeAspect="1"/>
              </p:cNvGraphicFramePr>
              <p:nvPr/>
            </p:nvGraphicFramePr>
            <p:xfrm>
              <a:off x="3015" y="816"/>
              <a:ext cx="866" cy="289"/>
            </p:xfrm>
            <a:graphic>
              <a:graphicData uri="http://schemas.openxmlformats.org/presentationml/2006/ole">
                <p:oleObj spid="_x0000_s43017" r:id="rId4" imgW="685800" imgH="228600" progId="Equation.DSMT4">
                  <p:embed/>
                </p:oleObj>
              </a:graphicData>
            </a:graphic>
          </p:graphicFrame>
          <p:sp>
            <p:nvSpPr>
              <p:cNvPr id="43029" name="Text Box 12"/>
              <p:cNvSpPr txBox="1">
                <a:spLocks noChangeArrowheads="1"/>
              </p:cNvSpPr>
              <p:nvPr/>
            </p:nvSpPr>
            <p:spPr bwMode="auto">
              <a:xfrm>
                <a:off x="3960" y="816"/>
                <a:ext cx="1599" cy="291"/>
              </a:xfrm>
              <a:prstGeom prst="rect">
                <a:avLst/>
              </a:prstGeom>
              <a:noFill/>
              <a:ln w="9525">
                <a:noFill/>
                <a:miter lim="800000"/>
                <a:headEnd/>
                <a:tailEnd/>
              </a:ln>
            </p:spPr>
            <p:txBody>
              <a:bodyPr wrap="none">
                <a:spAutoFit/>
              </a:bodyPr>
              <a:lstStyle/>
              <a:p>
                <a:r>
                  <a:rPr lang="zh-CN" altLang="en-US" sz="2400" b="1" dirty="0">
                    <a:solidFill>
                      <a:schemeClr val="bg1"/>
                    </a:solidFill>
                    <a:latin typeface="华文中宋" pitchFamily="2" charset="-122"/>
                    <a:ea typeface="华文中宋" pitchFamily="2" charset="-122"/>
                  </a:rPr>
                  <a:t>的取值必然</a:t>
                </a:r>
                <a:r>
                  <a:rPr lang="zh-CN" altLang="en-US" sz="2400" b="1" dirty="0" smtClean="0">
                    <a:solidFill>
                      <a:schemeClr val="bg1"/>
                    </a:solidFill>
                    <a:latin typeface="华文中宋" pitchFamily="2" charset="-122"/>
                    <a:ea typeface="华文中宋" pitchFamily="2" charset="-122"/>
                  </a:rPr>
                  <a:t>满足  </a:t>
                </a:r>
                <a:endParaRPr lang="zh-CN" altLang="en-US" sz="2400" b="1" dirty="0">
                  <a:solidFill>
                    <a:schemeClr val="bg1"/>
                  </a:solidFill>
                  <a:latin typeface="华文中宋" pitchFamily="2" charset="-122"/>
                  <a:ea typeface="华文中宋" pitchFamily="2" charset="-122"/>
                </a:endParaRPr>
              </a:p>
            </p:txBody>
          </p:sp>
        </p:grpSp>
        <p:graphicFrame>
          <p:nvGraphicFramePr>
            <p:cNvPr id="43015" name="Object 15"/>
            <p:cNvGraphicFramePr>
              <a:graphicFrameLocks noChangeAspect="1"/>
            </p:cNvGraphicFramePr>
            <p:nvPr/>
          </p:nvGraphicFramePr>
          <p:xfrm>
            <a:off x="1918" y="1104"/>
            <a:ext cx="2018" cy="577"/>
          </p:xfrm>
          <a:graphic>
            <a:graphicData uri="http://schemas.openxmlformats.org/presentationml/2006/ole">
              <p:oleObj spid="_x0000_s43015" r:id="rId5" imgW="1600200" imgH="457200" progId="Equation.DSMT4">
                <p:embed/>
              </p:oleObj>
            </a:graphicData>
          </a:graphic>
        </p:graphicFrame>
      </p:grpSp>
      <p:grpSp>
        <p:nvGrpSpPr>
          <p:cNvPr id="4" name="Group 22"/>
          <p:cNvGrpSpPr>
            <a:grpSpLocks/>
          </p:cNvGrpSpPr>
          <p:nvPr/>
        </p:nvGrpSpPr>
        <p:grpSpPr bwMode="auto">
          <a:xfrm>
            <a:off x="674688" y="2590801"/>
            <a:ext cx="8337552" cy="830263"/>
            <a:chOff x="425" y="1152"/>
            <a:chExt cx="5252" cy="523"/>
          </a:xfrm>
        </p:grpSpPr>
        <p:sp>
          <p:nvSpPr>
            <p:cNvPr id="43026" name="Text Box 14"/>
            <p:cNvSpPr txBox="1">
              <a:spLocks noChangeArrowheads="1"/>
            </p:cNvSpPr>
            <p:nvPr/>
          </p:nvSpPr>
          <p:spPr bwMode="auto">
            <a:xfrm>
              <a:off x="425" y="1152"/>
              <a:ext cx="5252" cy="523"/>
            </a:xfrm>
            <a:prstGeom prst="rect">
              <a:avLst/>
            </a:prstGeom>
            <a:noFill/>
            <a:ln w="9525">
              <a:noFill/>
              <a:miter lim="800000"/>
              <a:headEnd/>
              <a:tailEnd/>
            </a:ln>
          </p:spPr>
          <p:txBody>
            <a:bodyPr wrap="none">
              <a:spAutoFit/>
            </a:bodyPr>
            <a:lstStyle/>
            <a:p>
              <a:r>
                <a:rPr lang="zh-CN" altLang="en-US" sz="2400" b="1" dirty="0">
                  <a:solidFill>
                    <a:schemeClr val="bg1"/>
                  </a:solidFill>
                  <a:latin typeface="华文中宋" pitchFamily="2" charset="-122"/>
                  <a:ea typeface="华文中宋" pitchFamily="2" charset="-122"/>
                </a:rPr>
                <a:t>由于   </a:t>
              </a:r>
              <a:r>
                <a:rPr lang="zh-CN" altLang="en-US" sz="2400" b="1" dirty="0" smtClean="0">
                  <a:solidFill>
                    <a:schemeClr val="bg1"/>
                  </a:solidFill>
                  <a:latin typeface="华文中宋" pitchFamily="2" charset="-122"/>
                  <a:ea typeface="华文中宋" pitchFamily="2" charset="-122"/>
                </a:rPr>
                <a:t>  为</a:t>
              </a:r>
              <a:r>
                <a:rPr lang="zh-CN" altLang="en-US" sz="2400" b="1" dirty="0">
                  <a:solidFill>
                    <a:schemeClr val="bg1"/>
                  </a:solidFill>
                  <a:latin typeface="华文中宋" pitchFamily="2" charset="-122"/>
                  <a:ea typeface="华文中宋" pitchFamily="2" charset="-122"/>
                </a:rPr>
                <a:t>正整数，显然   </a:t>
              </a:r>
              <a:r>
                <a:rPr lang="zh-CN" altLang="en-US" sz="2400" b="1" dirty="0" smtClean="0">
                  <a:solidFill>
                    <a:schemeClr val="bg1"/>
                  </a:solidFill>
                  <a:latin typeface="华文中宋" pitchFamily="2" charset="-122"/>
                  <a:ea typeface="华文中宋" pitchFamily="2" charset="-122"/>
                </a:rPr>
                <a:t> 的</a:t>
              </a:r>
              <a:r>
                <a:rPr lang="zh-CN" altLang="en-US" sz="2400" b="1" dirty="0">
                  <a:solidFill>
                    <a:schemeClr val="bg1"/>
                  </a:solidFill>
                  <a:latin typeface="华文中宋" pitchFamily="2" charset="-122"/>
                  <a:ea typeface="华文中宋" pitchFamily="2" charset="-122"/>
                </a:rPr>
                <a:t>极值位置与    </a:t>
              </a:r>
              <a:r>
                <a:rPr lang="zh-CN" altLang="en-US" sz="2400" b="1" dirty="0" smtClean="0">
                  <a:solidFill>
                    <a:schemeClr val="bg1"/>
                  </a:solidFill>
                  <a:latin typeface="华文中宋" pitchFamily="2" charset="-122"/>
                  <a:ea typeface="华文中宋" pitchFamily="2" charset="-122"/>
                </a:rPr>
                <a:t>    的</a:t>
              </a:r>
              <a:r>
                <a:rPr lang="zh-CN" altLang="en-US" sz="2400" b="1" dirty="0">
                  <a:solidFill>
                    <a:schemeClr val="bg1"/>
                  </a:solidFill>
                  <a:latin typeface="华文中宋" pitchFamily="2" charset="-122"/>
                  <a:ea typeface="华文中宋" pitchFamily="2" charset="-122"/>
                </a:rPr>
                <a:t>极值位置是</a:t>
              </a:r>
            </a:p>
            <a:p>
              <a:r>
                <a:rPr lang="zh-CN" altLang="en-US" sz="2400" b="1" dirty="0">
                  <a:solidFill>
                    <a:schemeClr val="bg1"/>
                  </a:solidFill>
                  <a:latin typeface="华文中宋" pitchFamily="2" charset="-122"/>
                  <a:ea typeface="华文中宋" pitchFamily="2" charset="-122"/>
                </a:rPr>
                <a:t>完全一样的。对于定域子体系 </a:t>
              </a:r>
            </a:p>
          </p:txBody>
        </p:sp>
        <p:graphicFrame>
          <p:nvGraphicFramePr>
            <p:cNvPr id="43012" name="Object 17"/>
            <p:cNvGraphicFramePr>
              <a:graphicFrameLocks noChangeAspect="1"/>
            </p:cNvGraphicFramePr>
            <p:nvPr/>
          </p:nvGraphicFramePr>
          <p:xfrm>
            <a:off x="912" y="1173"/>
            <a:ext cx="274" cy="298"/>
          </p:xfrm>
          <a:graphic>
            <a:graphicData uri="http://schemas.openxmlformats.org/presentationml/2006/ole">
              <p:oleObj spid="_x0000_s43012" r:id="rId6" imgW="215713" imgH="241091" progId="Equation.DSMT4">
                <p:embed/>
              </p:oleObj>
            </a:graphicData>
          </a:graphic>
        </p:graphicFrame>
        <p:graphicFrame>
          <p:nvGraphicFramePr>
            <p:cNvPr id="43013" name="Object 19"/>
            <p:cNvGraphicFramePr>
              <a:graphicFrameLocks noChangeAspect="1"/>
            </p:cNvGraphicFramePr>
            <p:nvPr/>
          </p:nvGraphicFramePr>
          <p:xfrm>
            <a:off x="2520" y="1185"/>
            <a:ext cx="274" cy="298"/>
          </p:xfrm>
          <a:graphic>
            <a:graphicData uri="http://schemas.openxmlformats.org/presentationml/2006/ole">
              <p:oleObj spid="_x0000_s43013" r:id="rId7" imgW="215713" imgH="241091" progId="Equation.DSMT4">
                <p:embed/>
              </p:oleObj>
            </a:graphicData>
          </a:graphic>
        </p:graphicFrame>
        <p:graphicFrame>
          <p:nvGraphicFramePr>
            <p:cNvPr id="43014" name="Object 20"/>
            <p:cNvGraphicFramePr>
              <a:graphicFrameLocks noChangeAspect="1"/>
            </p:cNvGraphicFramePr>
            <p:nvPr/>
          </p:nvGraphicFramePr>
          <p:xfrm>
            <a:off x="3936" y="1179"/>
            <a:ext cx="447" cy="302"/>
          </p:xfrm>
          <a:graphic>
            <a:graphicData uri="http://schemas.openxmlformats.org/presentationml/2006/ole">
              <p:oleObj spid="_x0000_s43014" r:id="rId8" imgW="355446" imgH="241195" progId="Equation.DSMT4">
                <p:embed/>
              </p:oleObj>
            </a:graphicData>
          </a:graphic>
        </p:graphicFrame>
      </p:grpSp>
      <p:graphicFrame>
        <p:nvGraphicFramePr>
          <p:cNvPr id="66584" name="Object 24"/>
          <p:cNvGraphicFramePr>
            <a:graphicFrameLocks noChangeAspect="1"/>
          </p:cNvGraphicFramePr>
          <p:nvPr/>
        </p:nvGraphicFramePr>
        <p:xfrm>
          <a:off x="1371600" y="3427413"/>
          <a:ext cx="7154863" cy="2668587"/>
        </p:xfrm>
        <a:graphic>
          <a:graphicData uri="http://schemas.openxmlformats.org/presentationml/2006/ole">
            <p:oleObj spid="_x0000_s43010" r:id="rId9" imgW="4089400" imgH="1524000" progId="Equation.DSMT4">
              <p:embed/>
            </p:oleObj>
          </a:graphicData>
        </a:graphic>
      </p:graphicFrame>
      <p:grpSp>
        <p:nvGrpSpPr>
          <p:cNvPr id="5" name="Group 30"/>
          <p:cNvGrpSpPr>
            <a:grpSpLocks/>
          </p:cNvGrpSpPr>
          <p:nvPr/>
        </p:nvGrpSpPr>
        <p:grpSpPr bwMode="auto">
          <a:xfrm>
            <a:off x="838200" y="5943600"/>
            <a:ext cx="8077200" cy="914400"/>
            <a:chOff x="672" y="2976"/>
            <a:chExt cx="5088" cy="576"/>
          </a:xfrm>
        </p:grpSpPr>
        <p:sp>
          <p:nvSpPr>
            <p:cNvPr id="43024" name="Rectangle 29"/>
            <p:cNvSpPr>
              <a:spLocks noChangeArrowheads="1"/>
            </p:cNvSpPr>
            <p:nvPr/>
          </p:nvSpPr>
          <p:spPr bwMode="auto">
            <a:xfrm>
              <a:off x="672" y="2976"/>
              <a:ext cx="5088" cy="576"/>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43025" name="Text Box 26"/>
            <p:cNvSpPr txBox="1">
              <a:spLocks noChangeArrowheads="1"/>
            </p:cNvSpPr>
            <p:nvPr/>
          </p:nvSpPr>
          <p:spPr bwMode="auto">
            <a:xfrm>
              <a:off x="768" y="3123"/>
              <a:ext cx="1168" cy="288"/>
            </a:xfrm>
            <a:prstGeom prst="rect">
              <a:avLst/>
            </a:prstGeom>
            <a:noFill/>
            <a:ln w="9525">
              <a:noFill/>
              <a:miter lim="800000"/>
              <a:headEnd/>
              <a:tailEnd/>
            </a:ln>
          </p:spPr>
          <p:txBody>
            <a:bodyPr wrap="none">
              <a:spAutoFit/>
            </a:bodyPr>
            <a:lstStyle/>
            <a:p>
              <a:r>
                <a:rPr lang="en-US" altLang="zh-CN" sz="2400" b="1">
                  <a:latin typeface="Times New Roman" pitchFamily="18" charset="0"/>
                  <a:ea typeface="黑体" pitchFamily="2" charset="-122"/>
                </a:rPr>
                <a:t>Stirling</a:t>
              </a:r>
              <a:r>
                <a:rPr lang="zh-CN" altLang="en-US" sz="2400" b="1">
                  <a:latin typeface="Times New Roman" pitchFamily="18" charset="0"/>
                  <a:ea typeface="黑体" pitchFamily="2" charset="-122"/>
                </a:rPr>
                <a:t>公式 </a:t>
              </a:r>
            </a:p>
          </p:txBody>
        </p:sp>
        <p:graphicFrame>
          <p:nvGraphicFramePr>
            <p:cNvPr id="43011" name="Object 27"/>
            <p:cNvGraphicFramePr>
              <a:graphicFrameLocks noChangeAspect="1"/>
            </p:cNvGraphicFramePr>
            <p:nvPr/>
          </p:nvGraphicFramePr>
          <p:xfrm>
            <a:off x="2191" y="3024"/>
            <a:ext cx="3521" cy="494"/>
          </p:xfrm>
          <a:graphic>
            <a:graphicData uri="http://schemas.openxmlformats.org/presentationml/2006/ole">
              <p:oleObj spid="_x0000_s43011" r:id="rId10" imgW="2781300" imgH="393700" progId="Equation.DSMT4">
                <p:embed/>
              </p:oleObj>
            </a:graphicData>
          </a:graphic>
        </p:graphicFrame>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out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66584"/>
                                        </p:tgtEl>
                                        <p:attrNameLst>
                                          <p:attrName>style.visibility</p:attrName>
                                        </p:attrNameLst>
                                      </p:cBhvr>
                                      <p:to>
                                        <p:strVal val="visible"/>
                                      </p:to>
                                    </p:set>
                                    <p:animEffect transition="in" filter="barn(outHorizontal)">
                                      <p:cBhvr>
                                        <p:cTn id="17" dur="500"/>
                                        <p:tgtEl>
                                          <p:spTgt spid="6658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arn(outHorizontal)">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44" name="灯片编号占位符 3"/>
          <p:cNvSpPr>
            <a:spLocks noGrp="1"/>
          </p:cNvSpPr>
          <p:nvPr>
            <p:ph type="sldNum" sz="quarter" idx="12"/>
          </p:nvPr>
        </p:nvSpPr>
        <p:spPr>
          <a:noFill/>
        </p:spPr>
        <p:txBody>
          <a:bodyPr/>
          <a:lstStyle/>
          <a:p>
            <a:fld id="{9C23EFE3-AC54-4506-9088-EF0471992742}" type="slidenum">
              <a:rPr lang="en-US" altLang="zh-CN" smtClean="0">
                <a:latin typeface="Times New Roman" pitchFamily="18" charset="0"/>
                <a:ea typeface="华文中宋" pitchFamily="2" charset="-122"/>
                <a:cs typeface="Times New Roman" pitchFamily="18" charset="0"/>
              </a:rPr>
              <a:pPr/>
              <a:t>59</a:t>
            </a:fld>
            <a:endParaRPr lang="en-US" altLang="zh-CN" smtClean="0">
              <a:latin typeface="Times New Roman" pitchFamily="18" charset="0"/>
              <a:ea typeface="华文中宋" pitchFamily="2" charset="-122"/>
              <a:cs typeface="Times New Roman" pitchFamily="18" charset="0"/>
            </a:endParaRPr>
          </a:p>
        </p:txBody>
      </p:sp>
      <p:sp>
        <p:nvSpPr>
          <p:cNvPr id="44045" name="Text Box 2"/>
          <p:cNvSpPr txBox="1">
            <a:spLocks noChangeArrowheads="1"/>
          </p:cNvSpPr>
          <p:nvPr/>
        </p:nvSpPr>
        <p:spPr bwMode="auto">
          <a:xfrm>
            <a:off x="7596188" y="0"/>
            <a:ext cx="154781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44046" name="Rectangle 3"/>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en-US" altLang="zh-CN" sz="4400" b="1" dirty="0">
                <a:solidFill>
                  <a:srgbClr val="FFFF00"/>
                </a:solidFill>
                <a:latin typeface="Times New Roman" pitchFamily="18" charset="0"/>
                <a:ea typeface="黑体" pitchFamily="49" charset="-122"/>
                <a:cs typeface="Times New Roman" pitchFamily="18" charset="0"/>
              </a:rPr>
              <a:t>Boltzmann</a:t>
            </a:r>
            <a:r>
              <a:rPr lang="zh-CN" altLang="en-US" sz="4400" b="1" dirty="0">
                <a:solidFill>
                  <a:srgbClr val="FFFF00"/>
                </a:solidFill>
                <a:latin typeface="Times New Roman" pitchFamily="18" charset="0"/>
                <a:ea typeface="黑体" pitchFamily="49" charset="-122"/>
                <a:cs typeface="Times New Roman" pitchFamily="18" charset="0"/>
              </a:rPr>
              <a:t>分布 </a:t>
            </a:r>
          </a:p>
        </p:txBody>
      </p:sp>
      <p:sp>
        <p:nvSpPr>
          <p:cNvPr id="67588" name="Text Box 4"/>
          <p:cNvSpPr txBox="1">
            <a:spLocks noChangeArrowheads="1"/>
          </p:cNvSpPr>
          <p:nvPr/>
        </p:nvSpPr>
        <p:spPr bwMode="auto">
          <a:xfrm>
            <a:off x="685800" y="1219200"/>
            <a:ext cx="4856163" cy="457200"/>
          </a:xfrm>
          <a:prstGeom prst="rect">
            <a:avLst/>
          </a:prstGeom>
          <a:noFill/>
          <a:ln w="9525">
            <a:noFill/>
            <a:miter lim="800000"/>
            <a:headEnd/>
            <a:tailEnd/>
          </a:ln>
        </p:spPr>
        <p:txBody>
          <a:bodyPr wrap="none">
            <a:spAutoFit/>
          </a:bodyPr>
          <a:lstStyle/>
          <a:p>
            <a:r>
              <a:rPr lang="zh-CN" altLang="en-US" sz="2400" b="1" dirty="0">
                <a:solidFill>
                  <a:schemeClr val="bg1"/>
                </a:solidFill>
                <a:latin typeface="Times New Roman" pitchFamily="18" charset="0"/>
                <a:ea typeface="华文中宋" pitchFamily="2" charset="-122"/>
                <a:cs typeface="Times New Roman" pitchFamily="18" charset="0"/>
              </a:rPr>
              <a:t>如果为经典极限的离域子体系，则 </a:t>
            </a:r>
          </a:p>
        </p:txBody>
      </p:sp>
      <p:graphicFrame>
        <p:nvGraphicFramePr>
          <p:cNvPr id="67589" name="Object 5"/>
          <p:cNvGraphicFramePr>
            <a:graphicFrameLocks noChangeAspect="1"/>
          </p:cNvGraphicFramePr>
          <p:nvPr/>
        </p:nvGraphicFramePr>
        <p:xfrm>
          <a:off x="2305050" y="1676400"/>
          <a:ext cx="3714750" cy="685800"/>
        </p:xfrm>
        <a:graphic>
          <a:graphicData uri="http://schemas.openxmlformats.org/presentationml/2006/ole">
            <p:oleObj spid="_x0000_s44034" r:id="rId3" imgW="1854200" imgH="342900" progId="Equation.DSMT4">
              <p:embed/>
            </p:oleObj>
          </a:graphicData>
        </a:graphic>
      </p:graphicFrame>
      <p:grpSp>
        <p:nvGrpSpPr>
          <p:cNvPr id="2" name="Group 19"/>
          <p:cNvGrpSpPr>
            <a:grpSpLocks/>
          </p:cNvGrpSpPr>
          <p:nvPr/>
        </p:nvGrpSpPr>
        <p:grpSpPr bwMode="auto">
          <a:xfrm>
            <a:off x="685800" y="2209800"/>
            <a:ext cx="5181600" cy="1219200"/>
            <a:chOff x="432" y="1392"/>
            <a:chExt cx="3264" cy="768"/>
          </a:xfrm>
        </p:grpSpPr>
        <p:sp>
          <p:nvSpPr>
            <p:cNvPr id="44054" name="Text Box 7"/>
            <p:cNvSpPr txBox="1">
              <a:spLocks noChangeArrowheads="1"/>
            </p:cNvSpPr>
            <p:nvPr/>
          </p:nvSpPr>
          <p:spPr bwMode="auto">
            <a:xfrm>
              <a:off x="432" y="1392"/>
              <a:ext cx="2046" cy="288"/>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整个体系的约束条件：</a:t>
              </a:r>
            </a:p>
          </p:txBody>
        </p:sp>
        <p:graphicFrame>
          <p:nvGraphicFramePr>
            <p:cNvPr id="44042" name="Object 8"/>
            <p:cNvGraphicFramePr>
              <a:graphicFrameLocks noChangeAspect="1"/>
            </p:cNvGraphicFramePr>
            <p:nvPr/>
          </p:nvGraphicFramePr>
          <p:xfrm>
            <a:off x="816" y="1728"/>
            <a:ext cx="1043" cy="431"/>
          </p:xfrm>
          <a:graphic>
            <a:graphicData uri="http://schemas.openxmlformats.org/presentationml/2006/ole">
              <p:oleObj spid="_x0000_s44042" r:id="rId4" imgW="825500" imgH="342900" progId="Equation.DSMT4">
                <p:embed/>
              </p:oleObj>
            </a:graphicData>
          </a:graphic>
        </p:graphicFrame>
        <p:graphicFrame>
          <p:nvGraphicFramePr>
            <p:cNvPr id="44043" name="Object 10"/>
            <p:cNvGraphicFramePr>
              <a:graphicFrameLocks noChangeAspect="1"/>
            </p:cNvGraphicFramePr>
            <p:nvPr/>
          </p:nvGraphicFramePr>
          <p:xfrm>
            <a:off x="2544" y="1728"/>
            <a:ext cx="1152" cy="432"/>
          </p:xfrm>
          <a:graphic>
            <a:graphicData uri="http://schemas.openxmlformats.org/presentationml/2006/ole">
              <p:oleObj spid="_x0000_s44043" r:id="rId5" imgW="914400" imgH="342900" progId="Equation.DSMT4">
                <p:embed/>
              </p:oleObj>
            </a:graphicData>
          </a:graphic>
        </p:graphicFrame>
      </p:grpSp>
      <p:grpSp>
        <p:nvGrpSpPr>
          <p:cNvPr id="3" name="Group 20"/>
          <p:cNvGrpSpPr>
            <a:grpSpLocks/>
          </p:cNvGrpSpPr>
          <p:nvPr/>
        </p:nvGrpSpPr>
        <p:grpSpPr bwMode="auto">
          <a:xfrm>
            <a:off x="742950" y="3429004"/>
            <a:ext cx="8374063" cy="461963"/>
            <a:chOff x="468" y="2160"/>
            <a:chExt cx="5275" cy="291"/>
          </a:xfrm>
        </p:grpSpPr>
        <p:sp>
          <p:nvSpPr>
            <p:cNvPr id="44053" name="Text Box 12"/>
            <p:cNvSpPr txBox="1">
              <a:spLocks noChangeArrowheads="1"/>
            </p:cNvSpPr>
            <p:nvPr/>
          </p:nvSpPr>
          <p:spPr bwMode="auto">
            <a:xfrm>
              <a:off x="468" y="2160"/>
              <a:ext cx="5275"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使用</a:t>
              </a:r>
              <a:r>
                <a:rPr lang="en-US" altLang="zh-CN" sz="2400" b="1">
                  <a:solidFill>
                    <a:schemeClr val="bg1"/>
                  </a:solidFill>
                  <a:latin typeface="Times New Roman" pitchFamily="18" charset="0"/>
                  <a:ea typeface="华文中宋" pitchFamily="2" charset="-122"/>
                  <a:cs typeface="Times New Roman" pitchFamily="18" charset="0"/>
                </a:rPr>
                <a:t>Lagrange</a:t>
              </a:r>
              <a:r>
                <a:rPr lang="zh-CN" altLang="en-US" sz="2400" b="1">
                  <a:solidFill>
                    <a:schemeClr val="bg1"/>
                  </a:solidFill>
                  <a:latin typeface="Times New Roman" pitchFamily="18" charset="0"/>
                  <a:ea typeface="华文中宋" pitchFamily="2" charset="-122"/>
                  <a:cs typeface="Times New Roman" pitchFamily="18" charset="0"/>
                </a:rPr>
                <a:t>乘数法，将上面两式分别乘以          和   ，定义 </a:t>
              </a:r>
            </a:p>
          </p:txBody>
        </p:sp>
        <p:graphicFrame>
          <p:nvGraphicFramePr>
            <p:cNvPr id="44040" name="Object 13"/>
            <p:cNvGraphicFramePr>
              <a:graphicFrameLocks noChangeAspect="1"/>
            </p:cNvGraphicFramePr>
            <p:nvPr/>
          </p:nvGraphicFramePr>
          <p:xfrm>
            <a:off x="4191" y="2181"/>
            <a:ext cx="544" cy="254"/>
          </p:xfrm>
          <a:graphic>
            <a:graphicData uri="http://schemas.openxmlformats.org/presentationml/2006/ole">
              <p:oleObj spid="_x0000_s44040" r:id="rId6" imgW="431613" imgH="203112" progId="Equation.DSMT4">
                <p:embed/>
              </p:oleObj>
            </a:graphicData>
          </a:graphic>
        </p:graphicFrame>
        <p:graphicFrame>
          <p:nvGraphicFramePr>
            <p:cNvPr id="44041" name="Object 15"/>
            <p:cNvGraphicFramePr>
              <a:graphicFrameLocks noChangeAspect="1"/>
            </p:cNvGraphicFramePr>
            <p:nvPr/>
          </p:nvGraphicFramePr>
          <p:xfrm>
            <a:off x="4863" y="2178"/>
            <a:ext cx="206" cy="255"/>
          </p:xfrm>
          <a:graphic>
            <a:graphicData uri="http://schemas.openxmlformats.org/presentationml/2006/ole">
              <p:oleObj spid="_x0000_s44041" r:id="rId7" imgW="164957" imgH="203024" progId="Equation.DSMT4">
                <p:embed/>
              </p:oleObj>
            </a:graphicData>
          </a:graphic>
        </p:graphicFrame>
      </p:grpSp>
      <p:graphicFrame>
        <p:nvGraphicFramePr>
          <p:cNvPr id="67601" name="Object 17"/>
          <p:cNvGraphicFramePr>
            <a:graphicFrameLocks noChangeAspect="1"/>
          </p:cNvGraphicFramePr>
          <p:nvPr/>
        </p:nvGraphicFramePr>
        <p:xfrm>
          <a:off x="2001838" y="4038600"/>
          <a:ext cx="6075362" cy="685800"/>
        </p:xfrm>
        <a:graphic>
          <a:graphicData uri="http://schemas.openxmlformats.org/presentationml/2006/ole">
            <p:oleObj spid="_x0000_s44035" r:id="rId8" imgW="3035300" imgH="342900" progId="Equation.DSMT4">
              <p:embed/>
            </p:oleObj>
          </a:graphicData>
        </a:graphic>
      </p:graphicFrame>
      <p:grpSp>
        <p:nvGrpSpPr>
          <p:cNvPr id="4" name="Group 24"/>
          <p:cNvGrpSpPr>
            <a:grpSpLocks/>
          </p:cNvGrpSpPr>
          <p:nvPr/>
        </p:nvGrpSpPr>
        <p:grpSpPr bwMode="auto">
          <a:xfrm>
            <a:off x="822325" y="4668838"/>
            <a:ext cx="7802564" cy="514350"/>
            <a:chOff x="518" y="2941"/>
            <a:chExt cx="4915" cy="324"/>
          </a:xfrm>
        </p:grpSpPr>
        <p:sp>
          <p:nvSpPr>
            <p:cNvPr id="44052" name="Text Box 21"/>
            <p:cNvSpPr txBox="1">
              <a:spLocks noChangeArrowheads="1"/>
            </p:cNvSpPr>
            <p:nvPr/>
          </p:nvSpPr>
          <p:spPr bwMode="auto">
            <a:xfrm>
              <a:off x="518" y="2941"/>
              <a:ext cx="4915" cy="291"/>
            </a:xfrm>
            <a:prstGeom prst="rect">
              <a:avLst/>
            </a:prstGeom>
            <a:noFill/>
            <a:ln w="9525">
              <a:noFill/>
              <a:miter lim="800000"/>
              <a:headEnd/>
              <a:tailEnd/>
            </a:ln>
          </p:spPr>
          <p:txBody>
            <a:bodyPr wrap="none">
              <a:spAutoFit/>
            </a:bodyPr>
            <a:lstStyle/>
            <a:p>
              <a:r>
                <a:rPr lang="zh-CN" altLang="en-US" sz="2400" b="1" dirty="0">
                  <a:solidFill>
                    <a:schemeClr val="bg1"/>
                  </a:solidFill>
                  <a:latin typeface="Times New Roman" pitchFamily="18" charset="0"/>
                  <a:ea typeface="华文中宋" pitchFamily="2" charset="-122"/>
                  <a:cs typeface="Times New Roman" pitchFamily="18" charset="0"/>
                </a:rPr>
                <a:t>前述问题等价于</a:t>
              </a:r>
              <a:r>
                <a:rPr lang="zh-CN" altLang="en-US" sz="2400" b="1" dirty="0" smtClean="0">
                  <a:solidFill>
                    <a:schemeClr val="bg1"/>
                  </a:solidFill>
                  <a:latin typeface="Times New Roman" pitchFamily="18" charset="0"/>
                  <a:ea typeface="华文中宋" pitchFamily="2" charset="-122"/>
                  <a:cs typeface="Times New Roman" pitchFamily="18" charset="0"/>
                </a:rPr>
                <a:t>求          </a:t>
              </a:r>
              <a:r>
                <a:rPr lang="zh-CN" altLang="en-US" sz="2400" b="1" dirty="0">
                  <a:solidFill>
                    <a:schemeClr val="bg1"/>
                  </a:solidFill>
                  <a:latin typeface="Times New Roman" pitchFamily="18" charset="0"/>
                  <a:ea typeface="华文中宋" pitchFamily="2" charset="-122"/>
                  <a:cs typeface="Times New Roman" pitchFamily="18" charset="0"/>
                </a:rPr>
                <a:t>的无约束极值。对于定域子体系 </a:t>
              </a:r>
            </a:p>
          </p:txBody>
        </p:sp>
        <p:graphicFrame>
          <p:nvGraphicFramePr>
            <p:cNvPr id="44039" name="Object 22"/>
            <p:cNvGraphicFramePr>
              <a:graphicFrameLocks noChangeAspect="1"/>
            </p:cNvGraphicFramePr>
            <p:nvPr/>
          </p:nvGraphicFramePr>
          <p:xfrm>
            <a:off x="2112" y="2976"/>
            <a:ext cx="481" cy="289"/>
          </p:xfrm>
          <a:graphic>
            <a:graphicData uri="http://schemas.openxmlformats.org/presentationml/2006/ole">
              <p:oleObj spid="_x0000_s44039" r:id="rId9" imgW="381000" imgH="228600" progId="Equation.DSMT4">
                <p:embed/>
              </p:oleObj>
            </a:graphicData>
          </a:graphic>
        </p:graphicFrame>
      </p:grpSp>
      <p:graphicFrame>
        <p:nvGraphicFramePr>
          <p:cNvPr id="67609" name="Object 25"/>
          <p:cNvGraphicFramePr>
            <a:graphicFrameLocks noChangeAspect="1"/>
          </p:cNvGraphicFramePr>
          <p:nvPr/>
        </p:nvGraphicFramePr>
        <p:xfrm>
          <a:off x="1600200" y="5105400"/>
          <a:ext cx="6572250" cy="857250"/>
        </p:xfrm>
        <a:graphic>
          <a:graphicData uri="http://schemas.openxmlformats.org/presentationml/2006/ole">
            <p:oleObj spid="_x0000_s44036" r:id="rId10" imgW="3289300" imgH="431800" progId="Equation.DSMT4">
              <p:embed/>
            </p:oleObj>
          </a:graphicData>
        </a:graphic>
      </p:graphicFrame>
      <p:grpSp>
        <p:nvGrpSpPr>
          <p:cNvPr id="5" name="Group 31"/>
          <p:cNvGrpSpPr>
            <a:grpSpLocks/>
          </p:cNvGrpSpPr>
          <p:nvPr/>
        </p:nvGrpSpPr>
        <p:grpSpPr bwMode="auto">
          <a:xfrm>
            <a:off x="2189163" y="5924550"/>
            <a:ext cx="4745037" cy="857250"/>
            <a:chOff x="1379" y="3732"/>
            <a:chExt cx="2989" cy="540"/>
          </a:xfrm>
        </p:grpSpPr>
        <p:graphicFrame>
          <p:nvGraphicFramePr>
            <p:cNvPr id="44037" name="Object 27"/>
            <p:cNvGraphicFramePr>
              <a:graphicFrameLocks noChangeAspect="1"/>
            </p:cNvGraphicFramePr>
            <p:nvPr/>
          </p:nvGraphicFramePr>
          <p:xfrm>
            <a:off x="1379" y="3732"/>
            <a:ext cx="1165" cy="540"/>
          </p:xfrm>
          <a:graphic>
            <a:graphicData uri="http://schemas.openxmlformats.org/presentationml/2006/ole">
              <p:oleObj spid="_x0000_s44037" r:id="rId11" imgW="927100" imgH="431800" progId="Equation.DSMT4">
                <p:embed/>
              </p:oleObj>
            </a:graphicData>
          </a:graphic>
        </p:graphicFrame>
        <p:graphicFrame>
          <p:nvGraphicFramePr>
            <p:cNvPr id="44038" name="Object 29" descr="棕色大理石"/>
            <p:cNvGraphicFramePr>
              <a:graphicFrameLocks noChangeAspect="1"/>
            </p:cNvGraphicFramePr>
            <p:nvPr/>
          </p:nvGraphicFramePr>
          <p:xfrm>
            <a:off x="2977" y="3792"/>
            <a:ext cx="1391" cy="414"/>
          </p:xfrm>
          <a:graphic>
            <a:graphicData uri="http://schemas.openxmlformats.org/presentationml/2006/ole">
              <p:oleObj spid="_x0000_s44038" r:id="rId12" imgW="799753" imgH="241195" progId="Equation.DSMT4">
                <p:embed/>
              </p:oleObj>
            </a:graphicData>
          </a:graphic>
        </p:graphicFrame>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67588"/>
                                        </p:tgtEl>
                                        <p:attrNameLst>
                                          <p:attrName>style.visibility</p:attrName>
                                        </p:attrNameLst>
                                      </p:cBhvr>
                                      <p:to>
                                        <p:strVal val="visible"/>
                                      </p:to>
                                    </p:set>
                                    <p:animEffect transition="in" filter="barn(outHorizontal)">
                                      <p:cBhvr>
                                        <p:cTn id="7" dur="500"/>
                                        <p:tgtEl>
                                          <p:spTgt spid="6758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67589"/>
                                        </p:tgtEl>
                                        <p:attrNameLst>
                                          <p:attrName>style.visibility</p:attrName>
                                        </p:attrNameLst>
                                      </p:cBhvr>
                                      <p:to>
                                        <p:strVal val="visible"/>
                                      </p:to>
                                    </p:set>
                                    <p:animEffect transition="in" filter="barn(outHorizontal)">
                                      <p:cBhvr>
                                        <p:cTn id="12" dur="500"/>
                                        <p:tgtEl>
                                          <p:spTgt spid="6758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arn(out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arn(out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67601"/>
                                        </p:tgtEl>
                                        <p:attrNameLst>
                                          <p:attrName>style.visibility</p:attrName>
                                        </p:attrNameLst>
                                      </p:cBhvr>
                                      <p:to>
                                        <p:strVal val="visible"/>
                                      </p:to>
                                    </p:set>
                                    <p:animEffect transition="in" filter="barn(outHorizontal)">
                                      <p:cBhvr>
                                        <p:cTn id="27" dur="500"/>
                                        <p:tgtEl>
                                          <p:spTgt spid="67601"/>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arn(outHorizontal)">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67609"/>
                                        </p:tgtEl>
                                        <p:attrNameLst>
                                          <p:attrName>style.visibility</p:attrName>
                                        </p:attrNameLst>
                                      </p:cBhvr>
                                      <p:to>
                                        <p:strVal val="visible"/>
                                      </p:to>
                                    </p:set>
                                    <p:animEffect transition="in" filter="barn(outHorizontal)">
                                      <p:cBhvr>
                                        <p:cTn id="37" dur="500"/>
                                        <p:tgtEl>
                                          <p:spTgt spid="67609"/>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42"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arn(outHorizontal)">
                                      <p:cBhvr>
                                        <p:cTn id="4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8"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灯片编号占位符 3"/>
          <p:cNvSpPr>
            <a:spLocks noGrp="1"/>
          </p:cNvSpPr>
          <p:nvPr>
            <p:ph type="sldNum" sz="quarter" idx="12"/>
          </p:nvPr>
        </p:nvSpPr>
        <p:spPr>
          <a:noFill/>
        </p:spPr>
        <p:txBody>
          <a:bodyPr/>
          <a:lstStyle/>
          <a:p>
            <a:fld id="{C3982A5A-A242-4480-B7BB-56E206BD4081}" type="slidenum">
              <a:rPr lang="en-US" altLang="zh-CN" smtClean="0"/>
              <a:pPr/>
              <a:t>60</a:t>
            </a:fld>
            <a:endParaRPr lang="en-US" altLang="zh-CN" smtClean="0"/>
          </a:p>
        </p:txBody>
      </p:sp>
      <p:graphicFrame>
        <p:nvGraphicFramePr>
          <p:cNvPr id="68612" name="Object 4" descr="棕色大理石"/>
          <p:cNvGraphicFramePr>
            <a:graphicFrameLocks noChangeAspect="1"/>
          </p:cNvGraphicFramePr>
          <p:nvPr/>
        </p:nvGraphicFramePr>
        <p:xfrm>
          <a:off x="3124200" y="1371600"/>
          <a:ext cx="2208213" cy="657225"/>
        </p:xfrm>
        <a:graphic>
          <a:graphicData uri="http://schemas.openxmlformats.org/presentationml/2006/ole">
            <p:oleObj spid="_x0000_s45058" name="Equation" r:id="rId3" imgW="799920" imgH="241200" progId="Equation.DSMT4">
              <p:embed/>
            </p:oleObj>
          </a:graphicData>
        </a:graphic>
      </p:graphicFrame>
      <p:sp>
        <p:nvSpPr>
          <p:cNvPr id="45061" name="Rectangle 5"/>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en-US" altLang="zh-CN" sz="4400" b="1" dirty="0">
                <a:solidFill>
                  <a:srgbClr val="FFFF00"/>
                </a:solidFill>
                <a:latin typeface="Times New Roman" pitchFamily="18" charset="0"/>
                <a:ea typeface="黑体" pitchFamily="49" charset="-122"/>
                <a:cs typeface="Times New Roman" pitchFamily="18" charset="0"/>
              </a:rPr>
              <a:t>Boltzmann</a:t>
            </a:r>
            <a:r>
              <a:rPr lang="zh-CN" altLang="en-US" sz="4400" b="1" dirty="0">
                <a:solidFill>
                  <a:srgbClr val="FFFF00"/>
                </a:solidFill>
                <a:latin typeface="Times New Roman" pitchFamily="18" charset="0"/>
                <a:ea typeface="黑体" pitchFamily="49" charset="-122"/>
                <a:cs typeface="Times New Roman" pitchFamily="18" charset="0"/>
              </a:rPr>
              <a:t>分布 </a:t>
            </a:r>
          </a:p>
        </p:txBody>
      </p:sp>
      <p:sp>
        <p:nvSpPr>
          <p:cNvPr id="45062" name="Text Box 6"/>
          <p:cNvSpPr txBox="1">
            <a:spLocks noChangeArrowheads="1"/>
          </p:cNvSpPr>
          <p:nvPr/>
        </p:nvSpPr>
        <p:spPr bwMode="auto">
          <a:xfrm>
            <a:off x="7596188" y="0"/>
            <a:ext cx="154781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grpSp>
        <p:nvGrpSpPr>
          <p:cNvPr id="2" name="Group 10"/>
          <p:cNvGrpSpPr>
            <a:grpSpLocks/>
          </p:cNvGrpSpPr>
          <p:nvPr/>
        </p:nvGrpSpPr>
        <p:grpSpPr bwMode="auto">
          <a:xfrm>
            <a:off x="898525" y="2459038"/>
            <a:ext cx="7540625" cy="512762"/>
            <a:chOff x="566" y="1549"/>
            <a:chExt cx="4750" cy="323"/>
          </a:xfrm>
        </p:grpSpPr>
        <p:sp>
          <p:nvSpPr>
            <p:cNvPr id="45066" name="Text Box 7"/>
            <p:cNvSpPr txBox="1">
              <a:spLocks noChangeArrowheads="1"/>
            </p:cNvSpPr>
            <p:nvPr/>
          </p:nvSpPr>
          <p:spPr bwMode="auto">
            <a:xfrm>
              <a:off x="566" y="1549"/>
              <a:ext cx="4750" cy="288"/>
            </a:xfrm>
            <a:prstGeom prst="rect">
              <a:avLst/>
            </a:prstGeom>
            <a:noFill/>
            <a:ln w="9525">
              <a:noFill/>
              <a:miter lim="800000"/>
              <a:headEnd/>
              <a:tailEnd/>
            </a:ln>
          </p:spPr>
          <p:txBody>
            <a:bodyPr wrap="none">
              <a:spAutoFit/>
            </a:bodyPr>
            <a:lstStyle/>
            <a:p>
              <a:r>
                <a:rPr lang="zh-CN" altLang="en-US" sz="2400" b="1" dirty="0">
                  <a:solidFill>
                    <a:schemeClr val="bg1"/>
                  </a:solidFill>
                  <a:latin typeface="Times New Roman" pitchFamily="18" charset="0"/>
                  <a:ea typeface="华文中宋" pitchFamily="2" charset="-122"/>
                  <a:cs typeface="Times New Roman" pitchFamily="18" charset="0"/>
                </a:rPr>
                <a:t>上式确定了平衡态时，粒子</a:t>
              </a:r>
              <a:r>
                <a:rPr lang="zh-CN" altLang="en-US" sz="2400" b="1" dirty="0" smtClean="0">
                  <a:solidFill>
                    <a:schemeClr val="bg1"/>
                  </a:solidFill>
                  <a:latin typeface="Times New Roman" pitchFamily="18" charset="0"/>
                  <a:ea typeface="华文中宋" pitchFamily="2" charset="-122"/>
                  <a:cs typeface="Times New Roman" pitchFamily="18" charset="0"/>
                </a:rPr>
                <a:t>数     </a:t>
              </a:r>
              <a:r>
                <a:rPr lang="zh-CN" altLang="en-US" sz="2400" b="1" dirty="0">
                  <a:solidFill>
                    <a:schemeClr val="bg1"/>
                  </a:solidFill>
                  <a:latin typeface="Times New Roman" pitchFamily="18" charset="0"/>
                  <a:ea typeface="华文中宋" pitchFamily="2" charset="-122"/>
                  <a:cs typeface="Times New Roman" pitchFamily="18" charset="0"/>
                </a:rPr>
                <a:t>随能级的变化规律。 </a:t>
              </a:r>
            </a:p>
          </p:txBody>
        </p:sp>
        <p:graphicFrame>
          <p:nvGraphicFramePr>
            <p:cNvPr id="45059" name="Object 8"/>
            <p:cNvGraphicFramePr>
              <a:graphicFrameLocks noChangeAspect="1"/>
            </p:cNvGraphicFramePr>
            <p:nvPr/>
          </p:nvGraphicFramePr>
          <p:xfrm>
            <a:off x="3168" y="1587"/>
            <a:ext cx="190" cy="285"/>
          </p:xfrm>
          <a:graphic>
            <a:graphicData uri="http://schemas.openxmlformats.org/presentationml/2006/ole">
              <p:oleObj spid="_x0000_s45059" r:id="rId4" imgW="152334" imgH="228501" progId="Equation.DSMT4">
                <p:embed/>
              </p:oleObj>
            </a:graphicData>
          </a:graphic>
        </p:graphicFrame>
      </p:grpSp>
      <p:sp>
        <p:nvSpPr>
          <p:cNvPr id="68619" name="Text Box 11"/>
          <p:cNvSpPr txBox="1">
            <a:spLocks noChangeArrowheads="1"/>
          </p:cNvSpPr>
          <p:nvPr/>
        </p:nvSpPr>
        <p:spPr bwMode="auto">
          <a:xfrm>
            <a:off x="914400" y="3144838"/>
            <a:ext cx="7978466" cy="830997"/>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对于经典极限的离域子系统也能得到和上式完全相同的结</a:t>
            </a:r>
          </a:p>
          <a:p>
            <a:r>
              <a:rPr lang="zh-CN" altLang="en-US" sz="2400" b="1">
                <a:solidFill>
                  <a:schemeClr val="bg1"/>
                </a:solidFill>
                <a:latin typeface="Times New Roman" pitchFamily="18" charset="0"/>
                <a:ea typeface="华文中宋" pitchFamily="2" charset="-122"/>
                <a:cs typeface="Times New Roman" pitchFamily="18" charset="0"/>
              </a:rPr>
              <a:t>论，也就是说粒子的可分辨性并不影响在各能级的分布。 </a:t>
            </a:r>
          </a:p>
        </p:txBody>
      </p:sp>
      <p:sp>
        <p:nvSpPr>
          <p:cNvPr id="68620" name="Text Box 12"/>
          <p:cNvSpPr txBox="1">
            <a:spLocks noChangeArrowheads="1"/>
          </p:cNvSpPr>
          <p:nvPr/>
        </p:nvSpPr>
        <p:spPr bwMode="auto">
          <a:xfrm>
            <a:off x="923925" y="4343400"/>
            <a:ext cx="7981672" cy="830997"/>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是由</a:t>
            </a:r>
            <a:r>
              <a:rPr lang="en-US" altLang="zh-CN" sz="2400" b="1">
                <a:solidFill>
                  <a:schemeClr val="bg1"/>
                </a:solidFill>
                <a:latin typeface="Times New Roman" pitchFamily="18" charset="0"/>
                <a:ea typeface="华文中宋" pitchFamily="2" charset="-122"/>
                <a:cs typeface="Times New Roman" pitchFamily="18" charset="0"/>
              </a:rPr>
              <a:t>Boltzmann</a:t>
            </a:r>
            <a:r>
              <a:rPr lang="zh-CN" altLang="en-US" sz="2400" b="1">
                <a:solidFill>
                  <a:schemeClr val="bg1"/>
                </a:solidFill>
                <a:latin typeface="Times New Roman" pitchFamily="18" charset="0"/>
                <a:ea typeface="华文中宋" pitchFamily="2" charset="-122"/>
                <a:cs typeface="Times New Roman" pitchFamily="18" charset="0"/>
              </a:rPr>
              <a:t>最先导出，因此常称为</a:t>
            </a:r>
            <a:r>
              <a:rPr lang="en-US" altLang="zh-CN" sz="2400" b="1">
                <a:solidFill>
                  <a:schemeClr val="bg1"/>
                </a:solidFill>
                <a:latin typeface="Times New Roman" pitchFamily="18" charset="0"/>
                <a:ea typeface="华文中宋" pitchFamily="2" charset="-122"/>
                <a:cs typeface="Times New Roman" pitchFamily="18" charset="0"/>
              </a:rPr>
              <a:t>Boltzmann</a:t>
            </a:r>
            <a:r>
              <a:rPr lang="zh-CN" altLang="en-US" sz="2400" b="1">
                <a:solidFill>
                  <a:schemeClr val="bg1"/>
                </a:solidFill>
                <a:latin typeface="Times New Roman" pitchFamily="18" charset="0"/>
                <a:ea typeface="华文中宋" pitchFamily="2" charset="-122"/>
                <a:cs typeface="Times New Roman" pitchFamily="18" charset="0"/>
              </a:rPr>
              <a:t>分布，有</a:t>
            </a:r>
          </a:p>
          <a:p>
            <a:r>
              <a:rPr lang="zh-CN" altLang="en-US" sz="2400" b="1">
                <a:solidFill>
                  <a:schemeClr val="bg1"/>
                </a:solidFill>
                <a:latin typeface="Times New Roman" pitchFamily="18" charset="0"/>
                <a:ea typeface="华文中宋" pitchFamily="2" charset="-122"/>
                <a:cs typeface="Times New Roman" pitchFamily="18" charset="0"/>
              </a:rPr>
              <a:t>时也称为</a:t>
            </a:r>
            <a:r>
              <a:rPr lang="en-US" altLang="zh-CN" sz="2400" b="1">
                <a:solidFill>
                  <a:schemeClr val="bg1"/>
                </a:solidFill>
                <a:latin typeface="Times New Roman" pitchFamily="18" charset="0"/>
                <a:ea typeface="华文中宋" pitchFamily="2" charset="-122"/>
                <a:cs typeface="Times New Roman" pitchFamily="18" charset="0"/>
              </a:rPr>
              <a:t>Boltzmann-Maxwell</a:t>
            </a:r>
            <a:r>
              <a:rPr lang="zh-CN" altLang="en-US" sz="2400" b="1">
                <a:solidFill>
                  <a:schemeClr val="bg1"/>
                </a:solidFill>
                <a:latin typeface="Times New Roman" pitchFamily="18" charset="0"/>
                <a:ea typeface="华文中宋" pitchFamily="2" charset="-122"/>
                <a:cs typeface="Times New Roman" pitchFamily="18" charset="0"/>
              </a:rPr>
              <a:t>分布。 </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8612"/>
                                        </p:tgtEl>
                                        <p:attrNameLst>
                                          <p:attrName>style.visibility</p:attrName>
                                        </p:attrNameLst>
                                      </p:cBhvr>
                                      <p:to>
                                        <p:strVal val="visible"/>
                                      </p:to>
                                    </p:set>
                                    <p:animEffect transition="in" filter="slide(fromBottom)">
                                      <p:cBhvr>
                                        <p:cTn id="7" dur="500"/>
                                        <p:tgtEl>
                                          <p:spTgt spid="6861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Bottom)">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68619"/>
                                        </p:tgtEl>
                                        <p:attrNameLst>
                                          <p:attrName>style.visibility</p:attrName>
                                        </p:attrNameLst>
                                      </p:cBhvr>
                                      <p:to>
                                        <p:strVal val="visible"/>
                                      </p:to>
                                    </p:set>
                                    <p:animEffect transition="in" filter="slide(fromBottom)">
                                      <p:cBhvr>
                                        <p:cTn id="17" dur="500"/>
                                        <p:tgtEl>
                                          <p:spTgt spid="68619"/>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68620"/>
                                        </p:tgtEl>
                                        <p:attrNameLst>
                                          <p:attrName>style.visibility</p:attrName>
                                        </p:attrNameLst>
                                      </p:cBhvr>
                                      <p:to>
                                        <p:strVal val="visible"/>
                                      </p:to>
                                    </p:set>
                                    <p:animEffect transition="in" filter="slide(fromBottom)">
                                      <p:cBhvr>
                                        <p:cTn id="22" dur="500"/>
                                        <p:tgtEl>
                                          <p:spTgt spid="68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9" grpId="0" autoUpdateAnimBg="0"/>
      <p:bldP spid="68620"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9" name="灯片编号占位符 3"/>
          <p:cNvSpPr>
            <a:spLocks noGrp="1"/>
          </p:cNvSpPr>
          <p:nvPr>
            <p:ph type="sldNum" sz="quarter" idx="12"/>
          </p:nvPr>
        </p:nvSpPr>
        <p:spPr>
          <a:noFill/>
        </p:spPr>
        <p:txBody>
          <a:bodyPr/>
          <a:lstStyle/>
          <a:p>
            <a:fld id="{1A0500E2-035A-4608-9C66-7DE606F405A4}" type="slidenum">
              <a:rPr lang="en-US" altLang="zh-CN" smtClean="0"/>
              <a:pPr/>
              <a:t>61</a:t>
            </a:fld>
            <a:endParaRPr lang="en-US" altLang="zh-CN" smtClean="0"/>
          </a:p>
        </p:txBody>
      </p:sp>
      <p:sp>
        <p:nvSpPr>
          <p:cNvPr id="46090" name="Text Box 2"/>
          <p:cNvSpPr txBox="1">
            <a:spLocks noChangeArrowheads="1"/>
          </p:cNvSpPr>
          <p:nvPr/>
        </p:nvSpPr>
        <p:spPr bwMode="auto">
          <a:xfrm>
            <a:off x="7596188" y="0"/>
            <a:ext cx="154781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46091" name="Rectangle 3"/>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en-US" altLang="zh-CN" sz="4400" b="1" dirty="0">
                <a:solidFill>
                  <a:srgbClr val="FFFF00"/>
                </a:solidFill>
                <a:latin typeface="Times New Roman" pitchFamily="18" charset="0"/>
                <a:ea typeface="黑体" pitchFamily="49" charset="-122"/>
                <a:cs typeface="Times New Roman" pitchFamily="18" charset="0"/>
              </a:rPr>
              <a:t>Boltzmann</a:t>
            </a:r>
            <a:r>
              <a:rPr lang="zh-CN" altLang="en-US" sz="4400" b="1" dirty="0">
                <a:solidFill>
                  <a:srgbClr val="FFFF00"/>
                </a:solidFill>
                <a:latin typeface="Times New Roman" pitchFamily="18" charset="0"/>
                <a:ea typeface="黑体" pitchFamily="49" charset="-122"/>
                <a:cs typeface="Times New Roman" pitchFamily="18" charset="0"/>
              </a:rPr>
              <a:t>分布 </a:t>
            </a:r>
          </a:p>
        </p:txBody>
      </p:sp>
      <p:graphicFrame>
        <p:nvGraphicFramePr>
          <p:cNvPr id="69636" name="Object 4" descr="棕色大理石"/>
          <p:cNvGraphicFramePr>
            <a:graphicFrameLocks noChangeAspect="1"/>
          </p:cNvGraphicFramePr>
          <p:nvPr/>
        </p:nvGraphicFramePr>
        <p:xfrm>
          <a:off x="3124200" y="1371600"/>
          <a:ext cx="2208213" cy="657225"/>
        </p:xfrm>
        <a:graphic>
          <a:graphicData uri="http://schemas.openxmlformats.org/presentationml/2006/ole">
            <p:oleObj spid="_x0000_s46082" name="Equation" r:id="rId3" imgW="799920" imgH="241200" progId="Equation.DSMT4">
              <p:embed/>
            </p:oleObj>
          </a:graphicData>
        </a:graphic>
      </p:graphicFrame>
      <p:grpSp>
        <p:nvGrpSpPr>
          <p:cNvPr id="2" name="Group 13"/>
          <p:cNvGrpSpPr>
            <a:grpSpLocks/>
          </p:cNvGrpSpPr>
          <p:nvPr/>
        </p:nvGrpSpPr>
        <p:grpSpPr bwMode="auto">
          <a:xfrm>
            <a:off x="762000" y="2133602"/>
            <a:ext cx="7469189" cy="461963"/>
            <a:chOff x="518" y="1418"/>
            <a:chExt cx="4705" cy="291"/>
          </a:xfrm>
        </p:grpSpPr>
        <p:sp>
          <p:nvSpPr>
            <p:cNvPr id="46098" name="Text Box 8"/>
            <p:cNvSpPr txBox="1">
              <a:spLocks noChangeArrowheads="1"/>
            </p:cNvSpPr>
            <p:nvPr/>
          </p:nvSpPr>
          <p:spPr bwMode="auto">
            <a:xfrm>
              <a:off x="518" y="1418"/>
              <a:ext cx="4705" cy="291"/>
            </a:xfrm>
            <a:prstGeom prst="rect">
              <a:avLst/>
            </a:prstGeom>
            <a:noFill/>
            <a:ln w="9525">
              <a:noFill/>
              <a:miter lim="800000"/>
              <a:headEnd/>
              <a:tailEnd/>
            </a:ln>
          </p:spPr>
          <p:txBody>
            <a:bodyPr wrap="none">
              <a:spAutoFit/>
            </a:bodyPr>
            <a:lstStyle/>
            <a:p>
              <a:r>
                <a:rPr lang="en-US" altLang="zh-CN" sz="2400" b="1" dirty="0">
                  <a:solidFill>
                    <a:schemeClr val="bg1"/>
                  </a:solidFill>
                  <a:latin typeface="Times New Roman" pitchFamily="18" charset="0"/>
                  <a:ea typeface="华文中宋" pitchFamily="2" charset="-122"/>
                  <a:cs typeface="Times New Roman" pitchFamily="18" charset="0"/>
                </a:rPr>
                <a:t>Boltzmann</a:t>
              </a:r>
              <a:r>
                <a:rPr lang="zh-CN" altLang="en-US" sz="2400" b="1" dirty="0">
                  <a:solidFill>
                    <a:schemeClr val="bg1"/>
                  </a:solidFill>
                  <a:latin typeface="Times New Roman" pitchFamily="18" charset="0"/>
                  <a:ea typeface="华文中宋" pitchFamily="2" charset="-122"/>
                  <a:cs typeface="Times New Roman" pitchFamily="18" charset="0"/>
                </a:rPr>
                <a:t>分布式中还含有两个未定常数   </a:t>
              </a:r>
              <a:r>
                <a:rPr lang="zh-CN" altLang="en-US" sz="2400" b="1" dirty="0" smtClean="0">
                  <a:solidFill>
                    <a:schemeClr val="bg1"/>
                  </a:solidFill>
                  <a:latin typeface="Times New Roman" pitchFamily="18" charset="0"/>
                  <a:ea typeface="华文中宋" pitchFamily="2" charset="-122"/>
                  <a:cs typeface="Times New Roman" pitchFamily="18" charset="0"/>
                </a:rPr>
                <a:t> 和   </a:t>
              </a:r>
              <a:r>
                <a:rPr lang="zh-CN" altLang="en-US" sz="2400" b="1" dirty="0">
                  <a:solidFill>
                    <a:schemeClr val="bg1"/>
                  </a:solidFill>
                  <a:latin typeface="Times New Roman" pitchFamily="18" charset="0"/>
                  <a:ea typeface="华文中宋" pitchFamily="2" charset="-122"/>
                  <a:cs typeface="Times New Roman" pitchFamily="18" charset="0"/>
                </a:rPr>
                <a:t>，由于 </a:t>
              </a:r>
            </a:p>
          </p:txBody>
        </p:sp>
        <p:graphicFrame>
          <p:nvGraphicFramePr>
            <p:cNvPr id="46087" name="Object 9"/>
            <p:cNvGraphicFramePr>
              <a:graphicFrameLocks noChangeAspect="1"/>
            </p:cNvGraphicFramePr>
            <p:nvPr/>
          </p:nvGraphicFramePr>
          <p:xfrm>
            <a:off x="3963" y="1488"/>
            <a:ext cx="188" cy="176"/>
          </p:xfrm>
          <a:graphic>
            <a:graphicData uri="http://schemas.openxmlformats.org/presentationml/2006/ole">
              <p:oleObj spid="_x0000_s46087" r:id="rId4" imgW="152334" imgH="139639" progId="Equation.DSMT4">
                <p:embed/>
              </p:oleObj>
            </a:graphicData>
          </a:graphic>
        </p:graphicFrame>
        <p:graphicFrame>
          <p:nvGraphicFramePr>
            <p:cNvPr id="46088" name="Object 11"/>
            <p:cNvGraphicFramePr>
              <a:graphicFrameLocks noChangeAspect="1"/>
            </p:cNvGraphicFramePr>
            <p:nvPr/>
          </p:nvGraphicFramePr>
          <p:xfrm>
            <a:off x="4320" y="1440"/>
            <a:ext cx="206" cy="255"/>
          </p:xfrm>
          <a:graphic>
            <a:graphicData uri="http://schemas.openxmlformats.org/presentationml/2006/ole">
              <p:oleObj spid="_x0000_s46088" r:id="rId5" imgW="164957" imgH="203024" progId="Equation.DSMT4">
                <p:embed/>
              </p:oleObj>
            </a:graphicData>
          </a:graphic>
        </p:graphicFrame>
      </p:grpSp>
      <p:graphicFrame>
        <p:nvGraphicFramePr>
          <p:cNvPr id="69646" name="Object 14"/>
          <p:cNvGraphicFramePr>
            <a:graphicFrameLocks noChangeAspect="1"/>
          </p:cNvGraphicFramePr>
          <p:nvPr/>
        </p:nvGraphicFramePr>
        <p:xfrm>
          <a:off x="2209800" y="2667000"/>
          <a:ext cx="4779963" cy="685800"/>
        </p:xfrm>
        <a:graphic>
          <a:graphicData uri="http://schemas.openxmlformats.org/presentationml/2006/ole">
            <p:oleObj spid="_x0000_s46083" r:id="rId6" imgW="2387600" imgH="342900" progId="Equation.DSMT4">
              <p:embed/>
            </p:oleObj>
          </a:graphicData>
        </a:graphic>
      </p:graphicFrame>
      <p:grpSp>
        <p:nvGrpSpPr>
          <p:cNvPr id="3" name="Group 20"/>
          <p:cNvGrpSpPr>
            <a:grpSpLocks/>
          </p:cNvGrpSpPr>
          <p:nvPr/>
        </p:nvGrpSpPr>
        <p:grpSpPr bwMode="auto">
          <a:xfrm>
            <a:off x="685800" y="3352800"/>
            <a:ext cx="8153400" cy="990600"/>
            <a:chOff x="432" y="2400"/>
            <a:chExt cx="5136" cy="624"/>
          </a:xfrm>
        </p:grpSpPr>
        <p:sp>
          <p:nvSpPr>
            <p:cNvPr id="46096" name="Rectangle 19"/>
            <p:cNvSpPr>
              <a:spLocks noChangeArrowheads="1"/>
            </p:cNvSpPr>
            <p:nvPr/>
          </p:nvSpPr>
          <p:spPr bwMode="auto">
            <a:xfrm>
              <a:off x="432" y="2400"/>
              <a:ext cx="5136" cy="576"/>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46097" name="Text Box 16"/>
            <p:cNvSpPr txBox="1">
              <a:spLocks noChangeArrowheads="1"/>
            </p:cNvSpPr>
            <p:nvPr/>
          </p:nvSpPr>
          <p:spPr bwMode="auto">
            <a:xfrm>
              <a:off x="432" y="2515"/>
              <a:ext cx="3373" cy="327"/>
            </a:xfrm>
            <a:prstGeom prst="rect">
              <a:avLst/>
            </a:prstGeom>
            <a:noFill/>
            <a:ln w="9525">
              <a:noFill/>
              <a:miter lim="800000"/>
              <a:headEnd/>
              <a:tailEnd/>
            </a:ln>
          </p:spPr>
          <p:txBody>
            <a:bodyPr wrap="none">
              <a:spAutoFit/>
            </a:bodyPr>
            <a:lstStyle/>
            <a:p>
              <a:r>
                <a:rPr lang="zh-CN" altLang="en-US" sz="2800" b="1">
                  <a:latin typeface="Times New Roman" pitchFamily="18" charset="0"/>
                  <a:ea typeface="黑体" pitchFamily="2" charset="-122"/>
                </a:rPr>
                <a:t>定义配分函数</a:t>
              </a:r>
              <a:r>
                <a:rPr lang="en-US" altLang="zh-CN" sz="2800" b="1">
                  <a:latin typeface="Times New Roman" pitchFamily="18" charset="0"/>
                  <a:ea typeface="黑体" pitchFamily="2" charset="-122"/>
                </a:rPr>
                <a:t>(partition function) </a:t>
              </a:r>
            </a:p>
          </p:txBody>
        </p:sp>
        <p:graphicFrame>
          <p:nvGraphicFramePr>
            <p:cNvPr id="46086" name="Object 17"/>
            <p:cNvGraphicFramePr>
              <a:graphicFrameLocks noChangeAspect="1"/>
            </p:cNvGraphicFramePr>
            <p:nvPr/>
          </p:nvGraphicFramePr>
          <p:xfrm>
            <a:off x="3840" y="2461"/>
            <a:ext cx="1440" cy="563"/>
          </p:xfrm>
          <a:graphic>
            <a:graphicData uri="http://schemas.openxmlformats.org/presentationml/2006/ole">
              <p:oleObj spid="_x0000_s46086" r:id="rId7" imgW="876300" imgH="342900" progId="Equation.DSMT4">
                <p:embed/>
              </p:oleObj>
            </a:graphicData>
          </a:graphic>
        </p:graphicFrame>
      </p:grpSp>
      <p:grpSp>
        <p:nvGrpSpPr>
          <p:cNvPr id="4" name="Group 26"/>
          <p:cNvGrpSpPr>
            <a:grpSpLocks/>
          </p:cNvGrpSpPr>
          <p:nvPr/>
        </p:nvGrpSpPr>
        <p:grpSpPr bwMode="auto">
          <a:xfrm>
            <a:off x="609600" y="4460875"/>
            <a:ext cx="8782051" cy="1201738"/>
            <a:chOff x="384" y="2810"/>
            <a:chExt cx="5532" cy="757"/>
          </a:xfrm>
        </p:grpSpPr>
        <p:sp>
          <p:nvSpPr>
            <p:cNvPr id="46095" name="Text Box 21"/>
            <p:cNvSpPr txBox="1">
              <a:spLocks noChangeArrowheads="1"/>
            </p:cNvSpPr>
            <p:nvPr/>
          </p:nvSpPr>
          <p:spPr bwMode="auto">
            <a:xfrm>
              <a:off x="384" y="2810"/>
              <a:ext cx="5532" cy="291"/>
            </a:xfrm>
            <a:prstGeom prst="rect">
              <a:avLst/>
            </a:prstGeom>
            <a:noFill/>
            <a:ln w="9525">
              <a:noFill/>
              <a:miter lim="800000"/>
              <a:headEnd/>
              <a:tailEnd/>
            </a:ln>
          </p:spPr>
          <p:txBody>
            <a:bodyPr wrap="none">
              <a:spAutoFit/>
            </a:bodyPr>
            <a:lstStyle/>
            <a:p>
              <a:r>
                <a:rPr lang="zh-CN" altLang="en-US" sz="2400" b="1" dirty="0">
                  <a:solidFill>
                    <a:schemeClr val="bg1"/>
                  </a:solidFill>
                  <a:latin typeface="Times New Roman" pitchFamily="18" charset="0"/>
                  <a:ea typeface="华文中宋" pitchFamily="2" charset="-122"/>
                  <a:cs typeface="Times New Roman" pitchFamily="18" charset="0"/>
                </a:rPr>
                <a:t>确定了   的物理意义，配分函数</a:t>
              </a:r>
              <a:r>
                <a:rPr lang="en-US" altLang="zh-CN" sz="2400" b="1" i="1" dirty="0">
                  <a:solidFill>
                    <a:schemeClr val="bg1"/>
                  </a:solidFill>
                  <a:latin typeface="Times New Roman" pitchFamily="18" charset="0"/>
                  <a:ea typeface="华文中宋" pitchFamily="2" charset="-122"/>
                  <a:cs typeface="Times New Roman" pitchFamily="18" charset="0"/>
                </a:rPr>
                <a:t>Z</a:t>
              </a:r>
              <a:r>
                <a:rPr lang="zh-CN" altLang="en-US" sz="2400" b="1" dirty="0">
                  <a:solidFill>
                    <a:schemeClr val="bg1"/>
                  </a:solidFill>
                  <a:latin typeface="Times New Roman" pitchFamily="18" charset="0"/>
                  <a:ea typeface="华文中宋" pitchFamily="2" charset="-122"/>
                  <a:cs typeface="Times New Roman" pitchFamily="18" charset="0"/>
                </a:rPr>
                <a:t>的意义就明确了，从而可得到 </a:t>
              </a:r>
            </a:p>
          </p:txBody>
        </p:sp>
        <p:graphicFrame>
          <p:nvGraphicFramePr>
            <p:cNvPr id="46084" name="Object 22"/>
            <p:cNvGraphicFramePr>
              <a:graphicFrameLocks noChangeAspect="1"/>
            </p:cNvGraphicFramePr>
            <p:nvPr/>
          </p:nvGraphicFramePr>
          <p:xfrm>
            <a:off x="1008" y="2832"/>
            <a:ext cx="206" cy="255"/>
          </p:xfrm>
          <a:graphic>
            <a:graphicData uri="http://schemas.openxmlformats.org/presentationml/2006/ole">
              <p:oleObj spid="_x0000_s46084" r:id="rId8" imgW="164957" imgH="203024" progId="Equation.DSMT4">
                <p:embed/>
              </p:oleObj>
            </a:graphicData>
          </a:graphic>
        </p:graphicFrame>
        <p:graphicFrame>
          <p:nvGraphicFramePr>
            <p:cNvPr id="46085" name="Object 24"/>
            <p:cNvGraphicFramePr>
              <a:graphicFrameLocks noChangeAspect="1"/>
            </p:cNvGraphicFramePr>
            <p:nvPr/>
          </p:nvGraphicFramePr>
          <p:xfrm>
            <a:off x="2496" y="3072"/>
            <a:ext cx="857" cy="495"/>
          </p:xfrm>
          <a:graphic>
            <a:graphicData uri="http://schemas.openxmlformats.org/presentationml/2006/ole">
              <p:oleObj spid="_x0000_s46085" r:id="rId9" imgW="672808" imgH="393529" progId="Equation.DSMT4">
                <p:embed/>
              </p:oleObj>
            </a:graphicData>
          </a:graphic>
        </p:graphicFrame>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9636"/>
                                        </p:tgtEl>
                                        <p:attrNameLst>
                                          <p:attrName>style.visibility</p:attrName>
                                        </p:attrNameLst>
                                      </p:cBhvr>
                                      <p:to>
                                        <p:strVal val="visible"/>
                                      </p:to>
                                    </p:set>
                                    <p:animEffect transition="in" filter="slide(fromBottom)">
                                      <p:cBhvr>
                                        <p:cTn id="7" dur="500"/>
                                        <p:tgtEl>
                                          <p:spTgt spid="6963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Bottom)">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69646"/>
                                        </p:tgtEl>
                                        <p:attrNameLst>
                                          <p:attrName>style.visibility</p:attrName>
                                        </p:attrNameLst>
                                      </p:cBhvr>
                                      <p:to>
                                        <p:strVal val="visible"/>
                                      </p:to>
                                    </p:set>
                                    <p:animEffect transition="in" filter="slide(fromBottom)">
                                      <p:cBhvr>
                                        <p:cTn id="17" dur="500"/>
                                        <p:tgtEl>
                                          <p:spTgt spid="69646"/>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slide(fromBottom)">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slide(fromBottom)">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12" name="灯片编号占位符 3"/>
          <p:cNvSpPr>
            <a:spLocks noGrp="1"/>
          </p:cNvSpPr>
          <p:nvPr>
            <p:ph type="sldNum" sz="quarter" idx="12"/>
          </p:nvPr>
        </p:nvSpPr>
        <p:spPr>
          <a:noFill/>
        </p:spPr>
        <p:txBody>
          <a:bodyPr/>
          <a:lstStyle/>
          <a:p>
            <a:fld id="{E3CD6101-41BE-4A68-BB47-552E2CA64F7A}" type="slidenum">
              <a:rPr lang="en-US" altLang="zh-CN" smtClean="0"/>
              <a:pPr/>
              <a:t>62</a:t>
            </a:fld>
            <a:endParaRPr lang="en-US" altLang="zh-CN" smtClean="0"/>
          </a:p>
        </p:txBody>
      </p:sp>
      <p:sp>
        <p:nvSpPr>
          <p:cNvPr id="47113" name="Text Box 2"/>
          <p:cNvSpPr txBox="1">
            <a:spLocks noChangeArrowheads="1"/>
          </p:cNvSpPr>
          <p:nvPr/>
        </p:nvSpPr>
        <p:spPr bwMode="auto">
          <a:xfrm>
            <a:off x="7596188" y="0"/>
            <a:ext cx="154781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47114" name="Rectangle 3"/>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en-US" altLang="zh-CN" sz="4400" b="1" dirty="0">
                <a:solidFill>
                  <a:srgbClr val="FFFF00"/>
                </a:solidFill>
                <a:latin typeface="Times New Roman" pitchFamily="18" charset="0"/>
                <a:ea typeface="黑体" pitchFamily="49" charset="-122"/>
                <a:cs typeface="Times New Roman" pitchFamily="18" charset="0"/>
              </a:rPr>
              <a:t>Boltzmann</a:t>
            </a:r>
            <a:r>
              <a:rPr lang="zh-CN" altLang="en-US" sz="4400" b="1" dirty="0">
                <a:solidFill>
                  <a:srgbClr val="FFFF00"/>
                </a:solidFill>
                <a:latin typeface="Times New Roman" pitchFamily="18" charset="0"/>
                <a:ea typeface="黑体" pitchFamily="49" charset="-122"/>
                <a:cs typeface="Times New Roman" pitchFamily="18" charset="0"/>
              </a:rPr>
              <a:t>分布 </a:t>
            </a:r>
          </a:p>
        </p:txBody>
      </p:sp>
      <p:graphicFrame>
        <p:nvGraphicFramePr>
          <p:cNvPr id="70660" name="Object 4" descr="绿色大理石"/>
          <p:cNvGraphicFramePr>
            <a:graphicFrameLocks noChangeAspect="1"/>
          </p:cNvGraphicFramePr>
          <p:nvPr/>
        </p:nvGraphicFramePr>
        <p:xfrm>
          <a:off x="914400" y="1219200"/>
          <a:ext cx="3714750" cy="685800"/>
        </p:xfrm>
        <a:graphic>
          <a:graphicData uri="http://schemas.openxmlformats.org/presentationml/2006/ole">
            <p:oleObj spid="_x0000_s47106" name="Equation" r:id="rId3" imgW="1854000" imgH="342720" progId="Equation.DSMT4">
              <p:embed/>
            </p:oleObj>
          </a:graphicData>
        </a:graphic>
      </p:graphicFrame>
      <p:graphicFrame>
        <p:nvGraphicFramePr>
          <p:cNvPr id="70661" name="Object 5" descr="棕色大理石"/>
          <p:cNvGraphicFramePr>
            <a:graphicFrameLocks noChangeAspect="1"/>
          </p:cNvGraphicFramePr>
          <p:nvPr/>
        </p:nvGraphicFramePr>
        <p:xfrm>
          <a:off x="5257800" y="1219200"/>
          <a:ext cx="2208213" cy="657225"/>
        </p:xfrm>
        <a:graphic>
          <a:graphicData uri="http://schemas.openxmlformats.org/presentationml/2006/ole">
            <p:oleObj spid="_x0000_s47107" name="Equation" r:id="rId4" imgW="799920" imgH="241200" progId="Equation.DSMT4">
              <p:embed/>
            </p:oleObj>
          </a:graphicData>
        </a:graphic>
      </p:graphicFrame>
      <p:sp>
        <p:nvSpPr>
          <p:cNvPr id="70662" name="Text Box 6"/>
          <p:cNvSpPr txBox="1">
            <a:spLocks noChangeArrowheads="1"/>
          </p:cNvSpPr>
          <p:nvPr/>
        </p:nvSpPr>
        <p:spPr bwMode="auto">
          <a:xfrm>
            <a:off x="838200" y="2022475"/>
            <a:ext cx="8286243" cy="830997"/>
          </a:xfrm>
          <a:prstGeom prst="rect">
            <a:avLst/>
          </a:prstGeom>
          <a:noFill/>
          <a:ln w="9525">
            <a:noFill/>
            <a:miter lim="800000"/>
            <a:headEnd/>
            <a:tailEnd/>
          </a:ln>
        </p:spPr>
        <p:txBody>
          <a:bodyPr wrap="none">
            <a:spAutoFit/>
          </a:bodyPr>
          <a:lstStyle/>
          <a:p>
            <a:r>
              <a:rPr lang="zh-CN" altLang="en-US" sz="2400" b="1" dirty="0">
                <a:solidFill>
                  <a:schemeClr val="bg1"/>
                </a:solidFill>
                <a:latin typeface="Times New Roman" pitchFamily="18" charset="0"/>
                <a:ea typeface="华文中宋" pitchFamily="2" charset="-122"/>
                <a:cs typeface="Times New Roman" pitchFamily="18" charset="0"/>
              </a:rPr>
              <a:t>假设系统是粒子数</a:t>
            </a:r>
            <a:r>
              <a:rPr lang="en-US" altLang="zh-CN" sz="2400" b="1" i="1" dirty="0">
                <a:solidFill>
                  <a:schemeClr val="bg1"/>
                </a:solidFill>
                <a:latin typeface="Times New Roman" pitchFamily="18" charset="0"/>
                <a:ea typeface="华文中宋" pitchFamily="2" charset="-122"/>
                <a:cs typeface="Times New Roman" pitchFamily="18" charset="0"/>
              </a:rPr>
              <a:t>N</a:t>
            </a:r>
            <a:r>
              <a:rPr lang="zh-CN" altLang="en-US" sz="2400" b="1" dirty="0">
                <a:solidFill>
                  <a:schemeClr val="bg1"/>
                </a:solidFill>
                <a:latin typeface="Times New Roman" pitchFamily="18" charset="0"/>
                <a:ea typeface="华文中宋" pitchFamily="2" charset="-122"/>
                <a:cs typeface="Times New Roman" pitchFamily="18" charset="0"/>
              </a:rPr>
              <a:t>和体积不变</a:t>
            </a:r>
            <a:r>
              <a:rPr lang="en-US" altLang="zh-CN" sz="2400" b="1" i="1" dirty="0">
                <a:solidFill>
                  <a:schemeClr val="bg1"/>
                </a:solidFill>
                <a:latin typeface="Times New Roman" pitchFamily="18" charset="0"/>
                <a:ea typeface="华文中宋" pitchFamily="2" charset="-122"/>
                <a:cs typeface="Times New Roman" pitchFamily="18" charset="0"/>
              </a:rPr>
              <a:t>V</a:t>
            </a:r>
            <a:r>
              <a:rPr lang="zh-CN" altLang="en-US" sz="2400" b="1" dirty="0">
                <a:solidFill>
                  <a:schemeClr val="bg1"/>
                </a:solidFill>
                <a:latin typeface="Times New Roman" pitchFamily="18" charset="0"/>
                <a:ea typeface="华文中宋" pitchFamily="2" charset="-122"/>
                <a:cs typeface="Times New Roman" pitchFamily="18" charset="0"/>
              </a:rPr>
              <a:t>的闭口系统，总能量</a:t>
            </a:r>
            <a:r>
              <a:rPr lang="en-US" altLang="zh-CN" sz="2400" b="1" i="1" dirty="0">
                <a:solidFill>
                  <a:schemeClr val="bg1"/>
                </a:solidFill>
                <a:latin typeface="Times New Roman" pitchFamily="18" charset="0"/>
                <a:ea typeface="华文中宋" pitchFamily="2" charset="-122"/>
                <a:cs typeface="Times New Roman" pitchFamily="18" charset="0"/>
              </a:rPr>
              <a:t>E</a:t>
            </a:r>
            <a:r>
              <a:rPr lang="zh-CN" altLang="en-US" sz="2400" b="1" dirty="0">
                <a:solidFill>
                  <a:schemeClr val="bg1"/>
                </a:solidFill>
                <a:latin typeface="Times New Roman" pitchFamily="18" charset="0"/>
                <a:ea typeface="华文中宋" pitchFamily="2" charset="-122"/>
                <a:cs typeface="Times New Roman" pitchFamily="18" charset="0"/>
              </a:rPr>
              <a:t>可以</a:t>
            </a:r>
          </a:p>
          <a:p>
            <a:r>
              <a:rPr lang="zh-CN" altLang="en-US" sz="2400" b="1" dirty="0">
                <a:solidFill>
                  <a:schemeClr val="bg1"/>
                </a:solidFill>
                <a:latin typeface="Times New Roman" pitchFamily="18" charset="0"/>
                <a:ea typeface="华文中宋" pitchFamily="2" charset="-122"/>
                <a:cs typeface="Times New Roman" pitchFamily="18" charset="0"/>
              </a:rPr>
              <a:t>变化，我们考察一下最可几分布的微观状态数是如何变化的 </a:t>
            </a:r>
          </a:p>
        </p:txBody>
      </p:sp>
      <p:graphicFrame>
        <p:nvGraphicFramePr>
          <p:cNvPr id="70663" name="Object 7"/>
          <p:cNvGraphicFramePr>
            <a:graphicFrameLocks noChangeAspect="1"/>
          </p:cNvGraphicFramePr>
          <p:nvPr/>
        </p:nvGraphicFramePr>
        <p:xfrm>
          <a:off x="1219200" y="2686050"/>
          <a:ext cx="6399213" cy="2038350"/>
        </p:xfrm>
        <a:graphic>
          <a:graphicData uri="http://schemas.openxmlformats.org/presentationml/2006/ole">
            <p:oleObj spid="_x0000_s47108" r:id="rId5" imgW="3200400" imgH="1016000" progId="Equation.DSMT4">
              <p:embed/>
            </p:oleObj>
          </a:graphicData>
        </a:graphic>
      </p:graphicFrame>
      <p:grpSp>
        <p:nvGrpSpPr>
          <p:cNvPr id="2" name="Group 14"/>
          <p:cNvGrpSpPr>
            <a:grpSpLocks/>
          </p:cNvGrpSpPr>
          <p:nvPr/>
        </p:nvGrpSpPr>
        <p:grpSpPr bwMode="auto">
          <a:xfrm>
            <a:off x="838200" y="4648200"/>
            <a:ext cx="5410200" cy="857250"/>
            <a:chOff x="576" y="2880"/>
            <a:chExt cx="3408" cy="540"/>
          </a:xfrm>
        </p:grpSpPr>
        <p:sp>
          <p:nvSpPr>
            <p:cNvPr id="47117" name="Text Box 9"/>
            <p:cNvSpPr txBox="1">
              <a:spLocks noChangeArrowheads="1"/>
            </p:cNvSpPr>
            <p:nvPr/>
          </p:nvSpPr>
          <p:spPr bwMode="auto">
            <a:xfrm>
              <a:off x="576" y="2976"/>
              <a:ext cx="1342"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推导中用到了 </a:t>
              </a:r>
            </a:p>
          </p:txBody>
        </p:sp>
        <p:graphicFrame>
          <p:nvGraphicFramePr>
            <p:cNvPr id="47110" name="Object 10"/>
            <p:cNvGraphicFramePr>
              <a:graphicFrameLocks noChangeAspect="1"/>
            </p:cNvGraphicFramePr>
            <p:nvPr/>
          </p:nvGraphicFramePr>
          <p:xfrm>
            <a:off x="1920" y="2880"/>
            <a:ext cx="1165" cy="540"/>
          </p:xfrm>
          <a:graphic>
            <a:graphicData uri="http://schemas.openxmlformats.org/presentationml/2006/ole">
              <p:oleObj spid="_x0000_s47110" r:id="rId6" imgW="927100" imgH="431800" progId="Equation.DSMT4">
                <p:embed/>
              </p:oleObj>
            </a:graphicData>
          </a:graphic>
        </p:graphicFrame>
        <p:graphicFrame>
          <p:nvGraphicFramePr>
            <p:cNvPr id="47111" name="Object 12"/>
            <p:cNvGraphicFramePr>
              <a:graphicFrameLocks noChangeAspect="1"/>
            </p:cNvGraphicFramePr>
            <p:nvPr/>
          </p:nvGraphicFramePr>
          <p:xfrm>
            <a:off x="3395" y="3023"/>
            <a:ext cx="589" cy="289"/>
          </p:xfrm>
          <a:graphic>
            <a:graphicData uri="http://schemas.openxmlformats.org/presentationml/2006/ole">
              <p:oleObj spid="_x0000_s47111" r:id="rId7" imgW="469900" imgH="228600" progId="Equation.DSMT4">
                <p:embed/>
              </p:oleObj>
            </a:graphicData>
          </a:graphic>
        </p:graphicFrame>
      </p:grpSp>
      <p:graphicFrame>
        <p:nvGraphicFramePr>
          <p:cNvPr id="70671" name="Object 15" descr="新闻纸"/>
          <p:cNvGraphicFramePr>
            <a:graphicFrameLocks noChangeAspect="1"/>
          </p:cNvGraphicFramePr>
          <p:nvPr/>
        </p:nvGraphicFramePr>
        <p:xfrm>
          <a:off x="838200" y="5638800"/>
          <a:ext cx="8077200" cy="936625"/>
        </p:xfrm>
        <a:graphic>
          <a:graphicData uri="http://schemas.openxmlformats.org/presentationml/2006/ole">
            <p:oleObj spid="_x0000_s47109" r:id="rId8" imgW="3606800" imgH="419100" progId="Equation.DSMT4">
              <p:embed/>
            </p:oleObj>
          </a:graphicData>
        </a:graphic>
      </p:graphicFrame>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70661"/>
                                        </p:tgtEl>
                                        <p:attrNameLst>
                                          <p:attrName>style.visibility</p:attrName>
                                        </p:attrNameLst>
                                      </p:cBhvr>
                                      <p:to>
                                        <p:strVal val="visible"/>
                                      </p:to>
                                    </p:set>
                                    <p:animEffect transition="in" filter="barn(outHorizontal)">
                                      <p:cBhvr>
                                        <p:cTn id="7" dur="500"/>
                                        <p:tgtEl>
                                          <p:spTgt spid="7066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70660"/>
                                        </p:tgtEl>
                                        <p:attrNameLst>
                                          <p:attrName>style.visibility</p:attrName>
                                        </p:attrNameLst>
                                      </p:cBhvr>
                                      <p:to>
                                        <p:strVal val="visible"/>
                                      </p:to>
                                    </p:set>
                                    <p:animEffect transition="in" filter="barn(outHorizontal)">
                                      <p:cBhvr>
                                        <p:cTn id="12" dur="500"/>
                                        <p:tgtEl>
                                          <p:spTgt spid="7066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70662"/>
                                        </p:tgtEl>
                                        <p:attrNameLst>
                                          <p:attrName>style.visibility</p:attrName>
                                        </p:attrNameLst>
                                      </p:cBhvr>
                                      <p:to>
                                        <p:strVal val="visible"/>
                                      </p:to>
                                    </p:set>
                                    <p:animEffect transition="in" filter="barn(outHorizontal)">
                                      <p:cBhvr>
                                        <p:cTn id="17" dur="500"/>
                                        <p:tgtEl>
                                          <p:spTgt spid="7066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70663"/>
                                        </p:tgtEl>
                                        <p:attrNameLst>
                                          <p:attrName>style.visibility</p:attrName>
                                        </p:attrNameLst>
                                      </p:cBhvr>
                                      <p:to>
                                        <p:strVal val="visible"/>
                                      </p:to>
                                    </p:set>
                                    <p:animEffect transition="in" filter="barn(outHorizontal)">
                                      <p:cBhvr>
                                        <p:cTn id="22" dur="500"/>
                                        <p:tgtEl>
                                          <p:spTgt spid="7066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arn(outHorizontal)">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70671"/>
                                        </p:tgtEl>
                                        <p:attrNameLst>
                                          <p:attrName>style.visibility</p:attrName>
                                        </p:attrNameLst>
                                      </p:cBhvr>
                                      <p:to>
                                        <p:strVal val="visible"/>
                                      </p:to>
                                    </p:set>
                                    <p:animEffect transition="in" filter="barn(outHorizontal)">
                                      <p:cBhvr>
                                        <p:cTn id="32" dur="500"/>
                                        <p:tgtEl>
                                          <p:spTgt spid="706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2"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4" name="灯片编号占位符 3"/>
          <p:cNvSpPr>
            <a:spLocks noGrp="1"/>
          </p:cNvSpPr>
          <p:nvPr>
            <p:ph type="sldNum" sz="quarter" idx="12"/>
          </p:nvPr>
        </p:nvSpPr>
        <p:spPr>
          <a:noFill/>
        </p:spPr>
        <p:txBody>
          <a:bodyPr/>
          <a:lstStyle/>
          <a:p>
            <a:fld id="{E238EADA-9349-4569-9D1F-9E6EFF1F4F75}" type="slidenum">
              <a:rPr lang="en-US" altLang="zh-CN" smtClean="0"/>
              <a:pPr/>
              <a:t>63</a:t>
            </a:fld>
            <a:endParaRPr lang="en-US" altLang="zh-CN" smtClean="0"/>
          </a:p>
        </p:txBody>
      </p:sp>
      <p:sp>
        <p:nvSpPr>
          <p:cNvPr id="48135" name="Text Box 2"/>
          <p:cNvSpPr txBox="1">
            <a:spLocks noChangeArrowheads="1"/>
          </p:cNvSpPr>
          <p:nvPr/>
        </p:nvSpPr>
        <p:spPr bwMode="auto">
          <a:xfrm>
            <a:off x="7596188" y="0"/>
            <a:ext cx="154781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48136" name="Rectangle 3"/>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en-US" altLang="zh-CN" sz="4400" b="1" dirty="0">
                <a:solidFill>
                  <a:srgbClr val="FFFF00"/>
                </a:solidFill>
                <a:latin typeface="Times New Roman" pitchFamily="18" charset="0"/>
                <a:ea typeface="黑体" pitchFamily="49" charset="-122"/>
                <a:cs typeface="Times New Roman" pitchFamily="18" charset="0"/>
              </a:rPr>
              <a:t>Boltzmann</a:t>
            </a:r>
            <a:r>
              <a:rPr lang="zh-CN" altLang="en-US" sz="4400" b="1" dirty="0">
                <a:solidFill>
                  <a:srgbClr val="FFFF00"/>
                </a:solidFill>
                <a:latin typeface="Times New Roman" pitchFamily="18" charset="0"/>
                <a:ea typeface="黑体" pitchFamily="49" charset="-122"/>
                <a:cs typeface="Times New Roman" pitchFamily="18" charset="0"/>
              </a:rPr>
              <a:t>分布 </a:t>
            </a:r>
          </a:p>
        </p:txBody>
      </p:sp>
      <p:graphicFrame>
        <p:nvGraphicFramePr>
          <p:cNvPr id="71684" name="Object 4" descr="绿色大理石"/>
          <p:cNvGraphicFramePr>
            <a:graphicFrameLocks noChangeAspect="1"/>
          </p:cNvGraphicFramePr>
          <p:nvPr/>
        </p:nvGraphicFramePr>
        <p:xfrm>
          <a:off x="914400" y="1219200"/>
          <a:ext cx="3714750" cy="685800"/>
        </p:xfrm>
        <a:graphic>
          <a:graphicData uri="http://schemas.openxmlformats.org/presentationml/2006/ole">
            <p:oleObj spid="_x0000_s48130" name="Equation" r:id="rId3" imgW="1854000" imgH="342720" progId="Equation.DSMT4">
              <p:embed/>
            </p:oleObj>
          </a:graphicData>
        </a:graphic>
      </p:graphicFrame>
      <p:graphicFrame>
        <p:nvGraphicFramePr>
          <p:cNvPr id="71685" name="Object 5" descr="棕色大理石"/>
          <p:cNvGraphicFramePr>
            <a:graphicFrameLocks noChangeAspect="1"/>
          </p:cNvGraphicFramePr>
          <p:nvPr/>
        </p:nvGraphicFramePr>
        <p:xfrm>
          <a:off x="5257800" y="1219200"/>
          <a:ext cx="2208213" cy="657225"/>
        </p:xfrm>
        <a:graphic>
          <a:graphicData uri="http://schemas.openxmlformats.org/presentationml/2006/ole">
            <p:oleObj spid="_x0000_s48131" name="Equation" r:id="rId4" imgW="799920" imgH="241200" progId="Equation.DSMT4">
              <p:embed/>
            </p:oleObj>
          </a:graphicData>
        </a:graphic>
      </p:graphicFrame>
      <p:grpSp>
        <p:nvGrpSpPr>
          <p:cNvPr id="2" name="Group 13"/>
          <p:cNvGrpSpPr>
            <a:grpSpLocks/>
          </p:cNvGrpSpPr>
          <p:nvPr/>
        </p:nvGrpSpPr>
        <p:grpSpPr bwMode="auto">
          <a:xfrm>
            <a:off x="898525" y="1981200"/>
            <a:ext cx="2378075" cy="1470025"/>
            <a:chOff x="566" y="1248"/>
            <a:chExt cx="1498" cy="926"/>
          </a:xfrm>
        </p:grpSpPr>
        <p:sp>
          <p:nvSpPr>
            <p:cNvPr id="48141" name="Text Box 6"/>
            <p:cNvSpPr txBox="1">
              <a:spLocks noChangeArrowheads="1"/>
            </p:cNvSpPr>
            <p:nvPr/>
          </p:nvSpPr>
          <p:spPr bwMode="auto">
            <a:xfrm>
              <a:off x="566" y="1248"/>
              <a:ext cx="1342"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因此配分函数 </a:t>
              </a:r>
            </a:p>
          </p:txBody>
        </p:sp>
        <p:graphicFrame>
          <p:nvGraphicFramePr>
            <p:cNvPr id="48133" name="Object 7"/>
            <p:cNvGraphicFramePr>
              <a:graphicFrameLocks noChangeAspect="1"/>
            </p:cNvGraphicFramePr>
            <p:nvPr/>
          </p:nvGraphicFramePr>
          <p:xfrm>
            <a:off x="912" y="1579"/>
            <a:ext cx="1152" cy="595"/>
          </p:xfrm>
          <a:graphic>
            <a:graphicData uri="http://schemas.openxmlformats.org/presentationml/2006/ole">
              <p:oleObj spid="_x0000_s48133" r:id="rId5" imgW="863225" imgH="444307" progId="Equation.DSMT4">
                <p:embed/>
              </p:oleObj>
            </a:graphicData>
          </a:graphic>
        </p:graphicFrame>
      </p:grpSp>
      <p:grpSp>
        <p:nvGrpSpPr>
          <p:cNvPr id="3" name="Group 14"/>
          <p:cNvGrpSpPr>
            <a:grpSpLocks/>
          </p:cNvGrpSpPr>
          <p:nvPr/>
        </p:nvGrpSpPr>
        <p:grpSpPr bwMode="auto">
          <a:xfrm>
            <a:off x="914400" y="3581400"/>
            <a:ext cx="2971800" cy="1600200"/>
            <a:chOff x="576" y="2256"/>
            <a:chExt cx="1872" cy="1008"/>
          </a:xfrm>
        </p:grpSpPr>
        <p:sp>
          <p:nvSpPr>
            <p:cNvPr id="48140" name="Text Box 9"/>
            <p:cNvSpPr txBox="1">
              <a:spLocks noChangeArrowheads="1"/>
            </p:cNvSpPr>
            <p:nvPr/>
          </p:nvSpPr>
          <p:spPr bwMode="auto">
            <a:xfrm>
              <a:off x="576" y="2256"/>
              <a:ext cx="1845" cy="291"/>
            </a:xfrm>
            <a:prstGeom prst="rect">
              <a:avLst/>
            </a:prstGeom>
            <a:noFill/>
            <a:ln w="9525">
              <a:noFill/>
              <a:miter lim="800000"/>
              <a:headEnd/>
              <a:tailEnd/>
            </a:ln>
          </p:spPr>
          <p:txBody>
            <a:bodyPr wrap="none">
              <a:spAutoFit/>
            </a:bodyPr>
            <a:lstStyle/>
            <a:p>
              <a:r>
                <a:rPr lang="en-US" altLang="zh-CN" sz="2400" b="1">
                  <a:solidFill>
                    <a:schemeClr val="bg1"/>
                  </a:solidFill>
                  <a:latin typeface="Times New Roman" pitchFamily="18" charset="0"/>
                  <a:ea typeface="华文中宋" pitchFamily="2" charset="-122"/>
                  <a:cs typeface="Times New Roman" pitchFamily="18" charset="0"/>
                </a:rPr>
                <a:t>Boltzmann</a:t>
              </a:r>
              <a:r>
                <a:rPr lang="zh-CN" altLang="en-US" sz="2400" b="1">
                  <a:solidFill>
                    <a:schemeClr val="bg1"/>
                  </a:solidFill>
                  <a:latin typeface="Times New Roman" pitchFamily="18" charset="0"/>
                  <a:ea typeface="华文中宋" pitchFamily="2" charset="-122"/>
                  <a:cs typeface="Times New Roman" pitchFamily="18" charset="0"/>
                </a:rPr>
                <a:t>分布律为 </a:t>
              </a:r>
            </a:p>
          </p:txBody>
        </p:sp>
        <p:graphicFrame>
          <p:nvGraphicFramePr>
            <p:cNvPr id="48132" name="Object 10" descr="白色大理石"/>
            <p:cNvGraphicFramePr>
              <a:graphicFrameLocks noChangeAspect="1"/>
            </p:cNvGraphicFramePr>
            <p:nvPr/>
          </p:nvGraphicFramePr>
          <p:xfrm>
            <a:off x="1104" y="2599"/>
            <a:ext cx="1344" cy="665"/>
          </p:xfrm>
          <a:graphic>
            <a:graphicData uri="http://schemas.openxmlformats.org/presentationml/2006/ole">
              <p:oleObj spid="_x0000_s48132" r:id="rId6" imgW="850531" imgH="418918" progId="Equation.DSMT4">
                <p:embed/>
              </p:oleObj>
            </a:graphicData>
          </a:graphic>
        </p:graphicFrame>
      </p:grpSp>
      <p:sp>
        <p:nvSpPr>
          <p:cNvPr id="71692" name="Text Box 12"/>
          <p:cNvSpPr txBox="1">
            <a:spLocks noChangeArrowheads="1"/>
          </p:cNvSpPr>
          <p:nvPr/>
        </p:nvSpPr>
        <p:spPr bwMode="auto">
          <a:xfrm>
            <a:off x="762000" y="5578475"/>
            <a:ext cx="8150225" cy="822325"/>
          </a:xfrm>
          <a:prstGeom prst="rect">
            <a:avLst/>
          </a:prstGeom>
          <a:solidFill>
            <a:srgbClr val="000099"/>
          </a:solidFill>
          <a:ln w="9525">
            <a:noFill/>
            <a:miter lim="800000"/>
            <a:headEnd/>
            <a:tailEnd/>
          </a:ln>
        </p:spPr>
        <p:txBody>
          <a:bodyPr wrap="none">
            <a:spAutoFit/>
          </a:bodyPr>
          <a:lstStyle/>
          <a:p>
            <a:r>
              <a:rPr lang="zh-CN" altLang="en-US" sz="2400" b="1">
                <a:solidFill>
                  <a:schemeClr val="bg1"/>
                </a:solidFill>
                <a:latin typeface="Times New Roman" pitchFamily="18" charset="0"/>
                <a:ea typeface="黑体" pitchFamily="2" charset="-122"/>
              </a:rPr>
              <a:t>两个公式对于离域子体系或定域子体系都是适用的，也就是</a:t>
            </a:r>
          </a:p>
          <a:p>
            <a:r>
              <a:rPr lang="zh-CN" altLang="en-US" sz="2400" b="1">
                <a:solidFill>
                  <a:schemeClr val="bg1"/>
                </a:solidFill>
                <a:latin typeface="Times New Roman" pitchFamily="18" charset="0"/>
                <a:ea typeface="黑体" pitchFamily="2" charset="-122"/>
              </a:rPr>
              <a:t>说粒子的可分辨性并不影响粒子在各能级的分布情况。</a:t>
            </a:r>
            <a:r>
              <a:rPr lang="zh-CN" altLang="en-US" sz="2400">
                <a:solidFill>
                  <a:schemeClr val="bg1"/>
                </a:solidFill>
              </a:rPr>
              <a:t> </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1685"/>
                                        </p:tgtEl>
                                        <p:attrNameLst>
                                          <p:attrName>style.visibility</p:attrName>
                                        </p:attrNameLst>
                                      </p:cBhvr>
                                      <p:to>
                                        <p:strVal val="visible"/>
                                      </p:to>
                                    </p:set>
                                    <p:animEffect transition="in" filter="slide(fromBottom)">
                                      <p:cBhvr>
                                        <p:cTn id="7" dur="500"/>
                                        <p:tgtEl>
                                          <p:spTgt spid="7168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71684"/>
                                        </p:tgtEl>
                                        <p:attrNameLst>
                                          <p:attrName>style.visibility</p:attrName>
                                        </p:attrNameLst>
                                      </p:cBhvr>
                                      <p:to>
                                        <p:strVal val="visible"/>
                                      </p:to>
                                    </p:set>
                                    <p:animEffect transition="in" filter="slide(fromBottom)">
                                      <p:cBhvr>
                                        <p:cTn id="12" dur="500"/>
                                        <p:tgtEl>
                                          <p:spTgt spid="7168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slide(fromBottom)">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slide(fromBottom)">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71692"/>
                                        </p:tgtEl>
                                        <p:attrNameLst>
                                          <p:attrName>style.visibility</p:attrName>
                                        </p:attrNameLst>
                                      </p:cBhvr>
                                      <p:to>
                                        <p:strVal val="visible"/>
                                      </p:to>
                                    </p:set>
                                    <p:animEffect transition="in" filter="slide(fromBottom)">
                                      <p:cBhvr>
                                        <p:cTn id="27" dur="500"/>
                                        <p:tgtEl>
                                          <p:spTgt spid="71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92" grpId="0" animBg="1"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7" name="灯片编号占位符 3"/>
          <p:cNvSpPr>
            <a:spLocks noGrp="1"/>
          </p:cNvSpPr>
          <p:nvPr>
            <p:ph type="sldNum" sz="quarter" idx="12"/>
          </p:nvPr>
        </p:nvSpPr>
        <p:spPr>
          <a:noFill/>
        </p:spPr>
        <p:txBody>
          <a:bodyPr/>
          <a:lstStyle/>
          <a:p>
            <a:fld id="{CE7398DF-8DBD-4836-AFD1-75CB667F606B}" type="slidenum">
              <a:rPr lang="en-US" altLang="zh-CN" smtClean="0"/>
              <a:pPr/>
              <a:t>64</a:t>
            </a:fld>
            <a:endParaRPr lang="en-US" altLang="zh-CN" smtClean="0"/>
          </a:p>
        </p:txBody>
      </p:sp>
      <p:sp>
        <p:nvSpPr>
          <p:cNvPr id="49158" name="Text Box 2"/>
          <p:cNvSpPr txBox="1">
            <a:spLocks noChangeArrowheads="1"/>
          </p:cNvSpPr>
          <p:nvPr/>
        </p:nvSpPr>
        <p:spPr bwMode="auto">
          <a:xfrm>
            <a:off x="7596188" y="0"/>
            <a:ext cx="154781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49159" name="Rectangle 3"/>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热力学函数的统计解释 </a:t>
            </a:r>
          </a:p>
        </p:txBody>
      </p:sp>
      <p:sp>
        <p:nvSpPr>
          <p:cNvPr id="72708" name="Text Box 4"/>
          <p:cNvSpPr txBox="1">
            <a:spLocks noChangeArrowheads="1"/>
          </p:cNvSpPr>
          <p:nvPr/>
        </p:nvSpPr>
        <p:spPr bwMode="auto">
          <a:xfrm>
            <a:off x="822325" y="1260475"/>
            <a:ext cx="1390124" cy="461665"/>
          </a:xfrm>
          <a:prstGeom prst="rect">
            <a:avLst/>
          </a:prstGeom>
          <a:noFill/>
          <a:ln w="9525">
            <a:noFill/>
            <a:miter lim="800000"/>
            <a:headEnd/>
            <a:tailEnd/>
          </a:ln>
        </p:spPr>
        <p:txBody>
          <a:bodyPr wrap="none">
            <a:spAutoFit/>
          </a:bodyPr>
          <a:lstStyle/>
          <a:p>
            <a:r>
              <a:rPr lang="en-US" altLang="zh-CN" sz="2400" b="1" dirty="0">
                <a:solidFill>
                  <a:srgbClr val="D2DC08"/>
                </a:solidFill>
                <a:latin typeface="Times New Roman" pitchFamily="18" charset="0"/>
                <a:ea typeface="华文中宋" pitchFamily="2" charset="-122"/>
                <a:cs typeface="Times New Roman" pitchFamily="18" charset="0"/>
              </a:rPr>
              <a:t>1. </a:t>
            </a:r>
            <a:r>
              <a:rPr lang="zh-CN" altLang="en-US" sz="2400" b="1" dirty="0">
                <a:solidFill>
                  <a:srgbClr val="D2DC08"/>
                </a:solidFill>
                <a:latin typeface="Times New Roman" pitchFamily="18" charset="0"/>
                <a:ea typeface="华文中宋" pitchFamily="2" charset="-122"/>
                <a:cs typeface="Times New Roman" pitchFamily="18" charset="0"/>
              </a:rPr>
              <a:t>内能</a:t>
            </a:r>
            <a:r>
              <a:rPr lang="en-US" altLang="zh-CN" sz="2400" b="1" i="1" dirty="0">
                <a:solidFill>
                  <a:srgbClr val="D2DC08"/>
                </a:solidFill>
                <a:latin typeface="Times New Roman" pitchFamily="18" charset="0"/>
                <a:ea typeface="华文中宋" pitchFamily="2" charset="-122"/>
                <a:cs typeface="Times New Roman" pitchFamily="18" charset="0"/>
              </a:rPr>
              <a:t>E</a:t>
            </a:r>
            <a:r>
              <a:rPr lang="en-US" altLang="zh-CN" sz="2400" b="1" dirty="0">
                <a:solidFill>
                  <a:schemeClr val="bg1"/>
                </a:solidFill>
                <a:latin typeface="Times New Roman" pitchFamily="18" charset="0"/>
                <a:ea typeface="华文中宋" pitchFamily="2" charset="-122"/>
                <a:cs typeface="Times New Roman" pitchFamily="18" charset="0"/>
              </a:rPr>
              <a:t> </a:t>
            </a:r>
          </a:p>
        </p:txBody>
      </p:sp>
      <p:graphicFrame>
        <p:nvGraphicFramePr>
          <p:cNvPr id="72709" name="Object 5"/>
          <p:cNvGraphicFramePr>
            <a:graphicFrameLocks noChangeAspect="1"/>
          </p:cNvGraphicFramePr>
          <p:nvPr/>
        </p:nvGraphicFramePr>
        <p:xfrm>
          <a:off x="1219200" y="1828800"/>
          <a:ext cx="4573588" cy="892175"/>
        </p:xfrm>
        <a:graphic>
          <a:graphicData uri="http://schemas.openxmlformats.org/presentationml/2006/ole">
            <p:oleObj spid="_x0000_s49154" r:id="rId3" imgW="2298700" imgH="444500" progId="Equation.DSMT4">
              <p:embed/>
            </p:oleObj>
          </a:graphicData>
        </a:graphic>
      </p:graphicFrame>
      <p:graphicFrame>
        <p:nvGraphicFramePr>
          <p:cNvPr id="72711" name="Object 7"/>
          <p:cNvGraphicFramePr>
            <a:graphicFrameLocks noChangeAspect="1"/>
          </p:cNvGraphicFramePr>
          <p:nvPr/>
        </p:nvGraphicFramePr>
        <p:xfrm>
          <a:off x="1158875" y="2743200"/>
          <a:ext cx="7985125" cy="892175"/>
        </p:xfrm>
        <a:graphic>
          <a:graphicData uri="http://schemas.openxmlformats.org/presentationml/2006/ole">
            <p:oleObj spid="_x0000_s49155" r:id="rId4" imgW="4013200" imgH="444500" progId="Equation.DSMT4">
              <p:embed/>
            </p:oleObj>
          </a:graphicData>
        </a:graphic>
      </p:graphicFrame>
      <p:sp>
        <p:nvSpPr>
          <p:cNvPr id="72713" name="Text Box 9"/>
          <p:cNvSpPr txBox="1">
            <a:spLocks noChangeArrowheads="1"/>
          </p:cNvSpPr>
          <p:nvPr/>
        </p:nvSpPr>
        <p:spPr bwMode="auto">
          <a:xfrm>
            <a:off x="822325" y="4114800"/>
            <a:ext cx="1526380" cy="461665"/>
          </a:xfrm>
          <a:prstGeom prst="rect">
            <a:avLst/>
          </a:prstGeom>
          <a:noFill/>
          <a:ln w="9525">
            <a:noFill/>
            <a:miter lim="800000"/>
            <a:headEnd/>
            <a:tailEnd/>
          </a:ln>
        </p:spPr>
        <p:txBody>
          <a:bodyPr wrap="none">
            <a:spAutoFit/>
          </a:bodyPr>
          <a:lstStyle/>
          <a:p>
            <a:r>
              <a:rPr lang="en-US" altLang="zh-CN" sz="2400" b="1">
                <a:solidFill>
                  <a:srgbClr val="D2DC08"/>
                </a:solidFill>
                <a:latin typeface="Times New Roman" pitchFamily="18" charset="0"/>
                <a:ea typeface="华文中宋" pitchFamily="2" charset="-122"/>
                <a:cs typeface="Times New Roman" pitchFamily="18" charset="0"/>
              </a:rPr>
              <a:t>2. </a:t>
            </a:r>
            <a:r>
              <a:rPr lang="zh-CN" altLang="en-US" sz="2400" b="1">
                <a:solidFill>
                  <a:srgbClr val="D2DC08"/>
                </a:solidFill>
                <a:latin typeface="Times New Roman" pitchFamily="18" charset="0"/>
                <a:ea typeface="华文中宋" pitchFamily="2" charset="-122"/>
                <a:cs typeface="Times New Roman" pitchFamily="18" charset="0"/>
              </a:rPr>
              <a:t>热容</a:t>
            </a:r>
            <a:r>
              <a:rPr lang="en-US" altLang="zh-CN" sz="2400" b="1" i="1">
                <a:solidFill>
                  <a:srgbClr val="D2DC08"/>
                </a:solidFill>
                <a:latin typeface="Times New Roman" pitchFamily="18" charset="0"/>
                <a:ea typeface="华文中宋" pitchFamily="2" charset="-122"/>
                <a:cs typeface="Times New Roman" pitchFamily="18" charset="0"/>
              </a:rPr>
              <a:t>C</a:t>
            </a:r>
            <a:r>
              <a:rPr lang="en-US" altLang="zh-CN" sz="2400" b="1" i="1" baseline="-30000">
                <a:solidFill>
                  <a:srgbClr val="D2DC08"/>
                </a:solidFill>
                <a:latin typeface="Times New Roman" pitchFamily="18" charset="0"/>
                <a:ea typeface="华文中宋" pitchFamily="2" charset="-122"/>
                <a:cs typeface="Times New Roman" pitchFamily="18" charset="0"/>
              </a:rPr>
              <a:t>V</a:t>
            </a:r>
            <a:r>
              <a:rPr lang="en-US" altLang="zh-CN" sz="2400" b="1">
                <a:solidFill>
                  <a:srgbClr val="D2DC08"/>
                </a:solidFill>
                <a:latin typeface="Times New Roman" pitchFamily="18" charset="0"/>
                <a:ea typeface="华文中宋" pitchFamily="2" charset="-122"/>
                <a:cs typeface="Times New Roman" pitchFamily="18" charset="0"/>
              </a:rPr>
              <a:t> </a:t>
            </a:r>
          </a:p>
        </p:txBody>
      </p:sp>
      <p:graphicFrame>
        <p:nvGraphicFramePr>
          <p:cNvPr id="72714" name="Object 10"/>
          <p:cNvGraphicFramePr>
            <a:graphicFrameLocks noChangeAspect="1"/>
          </p:cNvGraphicFramePr>
          <p:nvPr/>
        </p:nvGraphicFramePr>
        <p:xfrm>
          <a:off x="1258888" y="4899025"/>
          <a:ext cx="6132512" cy="968375"/>
        </p:xfrm>
        <a:graphic>
          <a:graphicData uri="http://schemas.openxmlformats.org/presentationml/2006/ole">
            <p:oleObj spid="_x0000_s49156" r:id="rId5" imgW="3073400" imgH="482600" progId="Equation.DSMT4">
              <p:embed/>
            </p:oleObj>
          </a:graphicData>
        </a:graphic>
      </p:graphicFrame>
      <p:grpSp>
        <p:nvGrpSpPr>
          <p:cNvPr id="2" name="Group 15"/>
          <p:cNvGrpSpPr>
            <a:grpSpLocks/>
          </p:cNvGrpSpPr>
          <p:nvPr/>
        </p:nvGrpSpPr>
        <p:grpSpPr bwMode="auto">
          <a:xfrm>
            <a:off x="976313" y="2776538"/>
            <a:ext cx="8153400" cy="3243262"/>
            <a:chOff x="615" y="1749"/>
            <a:chExt cx="5136" cy="2043"/>
          </a:xfrm>
        </p:grpSpPr>
        <p:sp>
          <p:nvSpPr>
            <p:cNvPr id="49163" name="Text Box 12"/>
            <p:cNvSpPr txBox="1">
              <a:spLocks noChangeArrowheads="1"/>
            </p:cNvSpPr>
            <p:nvPr/>
          </p:nvSpPr>
          <p:spPr bwMode="auto">
            <a:xfrm>
              <a:off x="2832" y="2496"/>
              <a:ext cx="2648" cy="324"/>
            </a:xfrm>
            <a:prstGeom prst="rect">
              <a:avLst/>
            </a:prstGeom>
            <a:noFill/>
            <a:ln w="57150">
              <a:solidFill>
                <a:schemeClr val="tx2"/>
              </a:solidFill>
              <a:miter lim="800000"/>
              <a:headEnd/>
              <a:tailEnd/>
            </a:ln>
          </p:spPr>
          <p:txBody>
            <a:bodyPr wrap="none">
              <a:spAutoFit/>
            </a:bodyPr>
            <a:lstStyle/>
            <a:p>
              <a:r>
                <a:rPr lang="zh-CN" altLang="en-US" sz="2400">
                  <a:solidFill>
                    <a:schemeClr val="bg1"/>
                  </a:solidFill>
                  <a:ea typeface="黑体" pitchFamily="2" charset="-122"/>
                </a:rPr>
                <a:t>对定域子和离域子体系均适用</a:t>
              </a:r>
            </a:p>
          </p:txBody>
        </p:sp>
        <p:sp>
          <p:nvSpPr>
            <p:cNvPr id="49164" name="Rectangle 13"/>
            <p:cNvSpPr>
              <a:spLocks noChangeArrowheads="1"/>
            </p:cNvSpPr>
            <p:nvPr/>
          </p:nvSpPr>
          <p:spPr bwMode="auto">
            <a:xfrm>
              <a:off x="615" y="1749"/>
              <a:ext cx="5136" cy="576"/>
            </a:xfrm>
            <a:prstGeom prst="rect">
              <a:avLst/>
            </a:prstGeom>
            <a:noFill/>
            <a:ln w="57150">
              <a:solidFill>
                <a:schemeClr val="tx2"/>
              </a:solidFill>
              <a:miter lim="800000"/>
              <a:headEnd/>
              <a:tailEnd/>
            </a:ln>
          </p:spPr>
          <p:txBody>
            <a:bodyPr wrap="none" anchor="ctr"/>
            <a:lstStyle/>
            <a:p>
              <a:endParaRPr lang="zh-CN" altLang="en-US"/>
            </a:p>
          </p:txBody>
        </p:sp>
        <p:sp>
          <p:nvSpPr>
            <p:cNvPr id="49165" name="Rectangle 14"/>
            <p:cNvSpPr>
              <a:spLocks noChangeArrowheads="1"/>
            </p:cNvSpPr>
            <p:nvPr/>
          </p:nvSpPr>
          <p:spPr bwMode="auto">
            <a:xfrm>
              <a:off x="672" y="3072"/>
              <a:ext cx="4128" cy="720"/>
            </a:xfrm>
            <a:prstGeom prst="rect">
              <a:avLst/>
            </a:prstGeom>
            <a:noFill/>
            <a:ln w="57150">
              <a:solidFill>
                <a:schemeClr val="tx2"/>
              </a:solidFill>
              <a:miter lim="800000"/>
              <a:headEnd/>
              <a:tailEnd/>
            </a:ln>
          </p:spPr>
          <p:txBody>
            <a:bodyPr wrap="none" anchor="ctr"/>
            <a:lstStyle/>
            <a:p>
              <a:endParaRPr lang="zh-CN" altLang="en-US"/>
            </a:p>
          </p:txBody>
        </p:sp>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72708"/>
                                        </p:tgtEl>
                                        <p:attrNameLst>
                                          <p:attrName>style.visibility</p:attrName>
                                        </p:attrNameLst>
                                      </p:cBhvr>
                                      <p:to>
                                        <p:strVal val="visible"/>
                                      </p:to>
                                    </p:set>
                                    <p:animEffect transition="in" filter="barn(outHorizontal)">
                                      <p:cBhvr>
                                        <p:cTn id="7" dur="500"/>
                                        <p:tgtEl>
                                          <p:spTgt spid="7270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72709"/>
                                        </p:tgtEl>
                                        <p:attrNameLst>
                                          <p:attrName>style.visibility</p:attrName>
                                        </p:attrNameLst>
                                      </p:cBhvr>
                                      <p:to>
                                        <p:strVal val="visible"/>
                                      </p:to>
                                    </p:set>
                                    <p:animEffect transition="in" filter="barn(outHorizontal)">
                                      <p:cBhvr>
                                        <p:cTn id="12" dur="500"/>
                                        <p:tgtEl>
                                          <p:spTgt spid="7270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72711"/>
                                        </p:tgtEl>
                                        <p:attrNameLst>
                                          <p:attrName>style.visibility</p:attrName>
                                        </p:attrNameLst>
                                      </p:cBhvr>
                                      <p:to>
                                        <p:strVal val="visible"/>
                                      </p:to>
                                    </p:set>
                                    <p:animEffect transition="in" filter="barn(outHorizontal)">
                                      <p:cBhvr>
                                        <p:cTn id="17" dur="500"/>
                                        <p:tgtEl>
                                          <p:spTgt spid="72711"/>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72713"/>
                                        </p:tgtEl>
                                        <p:attrNameLst>
                                          <p:attrName>style.visibility</p:attrName>
                                        </p:attrNameLst>
                                      </p:cBhvr>
                                      <p:to>
                                        <p:strVal val="visible"/>
                                      </p:to>
                                    </p:set>
                                    <p:animEffect transition="in" filter="barn(outHorizontal)">
                                      <p:cBhvr>
                                        <p:cTn id="22" dur="500"/>
                                        <p:tgtEl>
                                          <p:spTgt spid="7271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72714"/>
                                        </p:tgtEl>
                                        <p:attrNameLst>
                                          <p:attrName>style.visibility</p:attrName>
                                        </p:attrNameLst>
                                      </p:cBhvr>
                                      <p:to>
                                        <p:strVal val="visible"/>
                                      </p:to>
                                    </p:set>
                                    <p:animEffect transition="in" filter="barn(outHorizontal)">
                                      <p:cBhvr>
                                        <p:cTn id="27" dur="500"/>
                                        <p:tgtEl>
                                          <p:spTgt spid="72714"/>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arn(outHorizontal)">
                                      <p:cBhvr>
                                        <p:cTn id="3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8" grpId="0" autoUpdateAnimBg="0"/>
      <p:bldP spid="72713"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3" name="灯片编号占位符 3"/>
          <p:cNvSpPr>
            <a:spLocks noGrp="1"/>
          </p:cNvSpPr>
          <p:nvPr>
            <p:ph type="sldNum" sz="quarter" idx="12"/>
          </p:nvPr>
        </p:nvSpPr>
        <p:spPr>
          <a:noFill/>
        </p:spPr>
        <p:txBody>
          <a:bodyPr/>
          <a:lstStyle/>
          <a:p>
            <a:fld id="{07917A03-507F-4E9F-81A2-6A667558029D}" type="slidenum">
              <a:rPr lang="en-US" altLang="zh-CN" smtClean="0">
                <a:latin typeface="Times New Roman" pitchFamily="18" charset="0"/>
                <a:ea typeface="华文中宋" pitchFamily="2" charset="-122"/>
                <a:cs typeface="Times New Roman" pitchFamily="18" charset="0"/>
              </a:rPr>
              <a:pPr/>
              <a:t>65</a:t>
            </a:fld>
            <a:endParaRPr lang="en-US" altLang="zh-CN" smtClean="0">
              <a:latin typeface="Times New Roman" pitchFamily="18" charset="0"/>
              <a:ea typeface="华文中宋" pitchFamily="2" charset="-122"/>
              <a:cs typeface="Times New Roman" pitchFamily="18" charset="0"/>
            </a:endParaRPr>
          </a:p>
        </p:txBody>
      </p:sp>
      <p:sp>
        <p:nvSpPr>
          <p:cNvPr id="50184" name="Text Box 2"/>
          <p:cNvSpPr txBox="1">
            <a:spLocks noChangeArrowheads="1"/>
          </p:cNvSpPr>
          <p:nvPr/>
        </p:nvSpPr>
        <p:spPr bwMode="auto">
          <a:xfrm>
            <a:off x="7596188" y="0"/>
            <a:ext cx="154781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50185" name="Rectangle 3"/>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热力学函数的统计解释 </a:t>
            </a:r>
          </a:p>
        </p:txBody>
      </p:sp>
      <p:sp>
        <p:nvSpPr>
          <p:cNvPr id="73732" name="Text Box 4"/>
          <p:cNvSpPr txBox="1">
            <a:spLocks noChangeArrowheads="1"/>
          </p:cNvSpPr>
          <p:nvPr/>
        </p:nvSpPr>
        <p:spPr bwMode="auto">
          <a:xfrm>
            <a:off x="974725" y="1260475"/>
            <a:ext cx="1048685" cy="461665"/>
          </a:xfrm>
          <a:prstGeom prst="rect">
            <a:avLst/>
          </a:prstGeom>
          <a:noFill/>
          <a:ln w="9525">
            <a:noFill/>
            <a:miter lim="800000"/>
            <a:headEnd/>
            <a:tailEnd/>
          </a:ln>
        </p:spPr>
        <p:txBody>
          <a:bodyPr wrap="none">
            <a:spAutoFit/>
          </a:bodyPr>
          <a:lstStyle/>
          <a:p>
            <a:r>
              <a:rPr lang="en-US" altLang="zh-CN" sz="2400" b="1">
                <a:solidFill>
                  <a:srgbClr val="D2DC08"/>
                </a:solidFill>
                <a:latin typeface="Times New Roman" pitchFamily="18" charset="0"/>
                <a:ea typeface="华文中宋" pitchFamily="2" charset="-122"/>
                <a:cs typeface="Times New Roman" pitchFamily="18" charset="0"/>
              </a:rPr>
              <a:t>3. </a:t>
            </a:r>
            <a:r>
              <a:rPr lang="zh-CN" altLang="en-US" sz="2400" b="1">
                <a:solidFill>
                  <a:srgbClr val="D2DC08"/>
                </a:solidFill>
                <a:latin typeface="Times New Roman" pitchFamily="18" charset="0"/>
                <a:ea typeface="华文中宋" pitchFamily="2" charset="-122"/>
                <a:cs typeface="Times New Roman" pitchFamily="18" charset="0"/>
              </a:rPr>
              <a:t>熵</a:t>
            </a:r>
            <a:r>
              <a:rPr lang="en-US" altLang="zh-CN" sz="2400" b="1" i="1">
                <a:solidFill>
                  <a:srgbClr val="D2DC08"/>
                </a:solidFill>
                <a:latin typeface="Times New Roman" pitchFamily="18" charset="0"/>
                <a:ea typeface="华文中宋" pitchFamily="2" charset="-122"/>
                <a:cs typeface="Times New Roman" pitchFamily="18" charset="0"/>
              </a:rPr>
              <a:t>S</a:t>
            </a:r>
            <a:r>
              <a:rPr lang="en-US" altLang="zh-CN" sz="2400" b="1">
                <a:solidFill>
                  <a:srgbClr val="D2DC08"/>
                </a:solidFill>
                <a:latin typeface="Times New Roman" pitchFamily="18" charset="0"/>
                <a:ea typeface="华文中宋" pitchFamily="2" charset="-122"/>
                <a:cs typeface="Times New Roman" pitchFamily="18" charset="0"/>
              </a:rPr>
              <a:t> </a:t>
            </a:r>
          </a:p>
        </p:txBody>
      </p:sp>
      <p:sp>
        <p:nvSpPr>
          <p:cNvPr id="73733" name="Text Box 5"/>
          <p:cNvSpPr txBox="1">
            <a:spLocks noChangeArrowheads="1"/>
          </p:cNvSpPr>
          <p:nvPr/>
        </p:nvSpPr>
        <p:spPr bwMode="auto">
          <a:xfrm>
            <a:off x="1127125" y="1641475"/>
            <a:ext cx="7613650" cy="457200"/>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熵的大小与粒子的可分辨性是有关的，对定域子体系： </a:t>
            </a:r>
          </a:p>
        </p:txBody>
      </p:sp>
      <p:graphicFrame>
        <p:nvGraphicFramePr>
          <p:cNvPr id="73734" name="Object 6"/>
          <p:cNvGraphicFramePr>
            <a:graphicFrameLocks noChangeAspect="1"/>
          </p:cNvGraphicFramePr>
          <p:nvPr/>
        </p:nvGraphicFramePr>
        <p:xfrm>
          <a:off x="2133600" y="2133600"/>
          <a:ext cx="4268788" cy="685800"/>
        </p:xfrm>
        <a:graphic>
          <a:graphicData uri="http://schemas.openxmlformats.org/presentationml/2006/ole">
            <p:oleObj spid="_x0000_s50178" r:id="rId3" imgW="2133600" imgH="342900" progId="Equation.DSMT4">
              <p:embed/>
            </p:oleObj>
          </a:graphicData>
        </a:graphic>
      </p:graphicFrame>
      <p:grpSp>
        <p:nvGrpSpPr>
          <p:cNvPr id="2" name="Group 21"/>
          <p:cNvGrpSpPr>
            <a:grpSpLocks/>
          </p:cNvGrpSpPr>
          <p:nvPr/>
        </p:nvGrpSpPr>
        <p:grpSpPr bwMode="auto">
          <a:xfrm>
            <a:off x="1066800" y="2516188"/>
            <a:ext cx="6505575" cy="2055812"/>
            <a:chOff x="672" y="1585"/>
            <a:chExt cx="4098" cy="1295"/>
          </a:xfrm>
        </p:grpSpPr>
        <p:sp>
          <p:nvSpPr>
            <p:cNvPr id="50193" name="Text Box 8"/>
            <p:cNvSpPr txBox="1">
              <a:spLocks noChangeArrowheads="1"/>
            </p:cNvSpPr>
            <p:nvPr/>
          </p:nvSpPr>
          <p:spPr bwMode="auto">
            <a:xfrm>
              <a:off x="672" y="1658"/>
              <a:ext cx="567"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由于 </a:t>
              </a:r>
            </a:p>
          </p:txBody>
        </p:sp>
        <p:graphicFrame>
          <p:nvGraphicFramePr>
            <p:cNvPr id="50182" name="Object 9"/>
            <p:cNvGraphicFramePr>
              <a:graphicFrameLocks noChangeAspect="1"/>
            </p:cNvGraphicFramePr>
            <p:nvPr/>
          </p:nvGraphicFramePr>
          <p:xfrm>
            <a:off x="1152" y="1585"/>
            <a:ext cx="3618" cy="1295"/>
          </p:xfrm>
          <a:graphic>
            <a:graphicData uri="http://schemas.openxmlformats.org/presentationml/2006/ole">
              <p:oleObj spid="_x0000_s50182" r:id="rId4" imgW="3594100" imgH="1282700" progId="Equation.DSMT4">
                <p:embed/>
              </p:oleObj>
            </a:graphicData>
          </a:graphic>
        </p:graphicFrame>
      </p:grpSp>
      <p:graphicFrame>
        <p:nvGraphicFramePr>
          <p:cNvPr id="73739" name="Object 11"/>
          <p:cNvGraphicFramePr>
            <a:graphicFrameLocks noChangeAspect="1"/>
          </p:cNvGraphicFramePr>
          <p:nvPr/>
        </p:nvGraphicFramePr>
        <p:xfrm>
          <a:off x="1619250" y="4705350"/>
          <a:ext cx="4476750" cy="781050"/>
        </p:xfrm>
        <a:graphic>
          <a:graphicData uri="http://schemas.openxmlformats.org/presentationml/2006/ole">
            <p:oleObj spid="_x0000_s50179" r:id="rId5" imgW="2235200" imgH="393700" progId="Equation.DSMT4">
              <p:embed/>
            </p:oleObj>
          </a:graphicData>
        </a:graphic>
      </p:graphicFrame>
      <p:sp>
        <p:nvSpPr>
          <p:cNvPr id="73741" name="Text Box 13"/>
          <p:cNvSpPr txBox="1">
            <a:spLocks noChangeArrowheads="1"/>
          </p:cNvSpPr>
          <p:nvPr/>
        </p:nvSpPr>
        <p:spPr bwMode="auto">
          <a:xfrm>
            <a:off x="1050925" y="5410200"/>
            <a:ext cx="4856163" cy="457200"/>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如果为经典极限的离域子体系，则 </a:t>
            </a:r>
          </a:p>
        </p:txBody>
      </p:sp>
      <p:grpSp>
        <p:nvGrpSpPr>
          <p:cNvPr id="3" name="Group 20"/>
          <p:cNvGrpSpPr>
            <a:grpSpLocks/>
          </p:cNvGrpSpPr>
          <p:nvPr/>
        </p:nvGrpSpPr>
        <p:grpSpPr bwMode="auto">
          <a:xfrm>
            <a:off x="1676400" y="5867400"/>
            <a:ext cx="6400800" cy="990600"/>
            <a:chOff x="1728" y="2544"/>
            <a:chExt cx="4032" cy="624"/>
          </a:xfrm>
        </p:grpSpPr>
        <p:sp>
          <p:nvSpPr>
            <p:cNvPr id="50191" name="Rectangle 19"/>
            <p:cNvSpPr>
              <a:spLocks noChangeArrowheads="1"/>
            </p:cNvSpPr>
            <p:nvPr/>
          </p:nvSpPr>
          <p:spPr bwMode="auto">
            <a:xfrm>
              <a:off x="1728" y="2544"/>
              <a:ext cx="4032" cy="624"/>
            </a:xfrm>
            <a:prstGeom prst="rect">
              <a:avLst/>
            </a:prstGeom>
            <a:gradFill rotWithShape="0">
              <a:gsLst>
                <a:gs pos="0">
                  <a:schemeClr val="tx1"/>
                </a:gs>
                <a:gs pos="100000">
                  <a:schemeClr val="hlink"/>
                </a:gs>
              </a:gsLst>
              <a:lin ang="5400000" scaled="1"/>
            </a:gradFill>
            <a:ln w="9525">
              <a:solidFill>
                <a:schemeClr val="tx1"/>
              </a:solidFill>
              <a:miter lim="800000"/>
              <a:headEnd/>
              <a:tailEnd/>
            </a:ln>
          </p:spPr>
          <p:txBody>
            <a:bodyPr wrap="none" anchor="ctr"/>
            <a:lstStyle/>
            <a:p>
              <a:endParaRPr lang="zh-CN" altLang="en-US">
                <a:latin typeface="Times New Roman" pitchFamily="18" charset="0"/>
                <a:ea typeface="华文中宋" pitchFamily="2" charset="-122"/>
                <a:cs typeface="Times New Roman" pitchFamily="18" charset="0"/>
              </a:endParaRPr>
            </a:p>
          </p:txBody>
        </p:sp>
        <p:grpSp>
          <p:nvGrpSpPr>
            <p:cNvPr id="50192" name="Group 18"/>
            <p:cNvGrpSpPr>
              <a:grpSpLocks/>
            </p:cNvGrpSpPr>
            <p:nvPr/>
          </p:nvGrpSpPr>
          <p:grpSpPr bwMode="auto">
            <a:xfrm>
              <a:off x="1824" y="2610"/>
              <a:ext cx="3877" cy="510"/>
              <a:chOff x="1824" y="2610"/>
              <a:chExt cx="3877" cy="510"/>
            </a:xfrm>
          </p:grpSpPr>
          <p:graphicFrame>
            <p:nvGraphicFramePr>
              <p:cNvPr id="50180" name="Object 14"/>
              <p:cNvGraphicFramePr>
                <a:graphicFrameLocks noChangeAspect="1"/>
              </p:cNvGraphicFramePr>
              <p:nvPr/>
            </p:nvGraphicFramePr>
            <p:xfrm>
              <a:off x="1824" y="2688"/>
              <a:ext cx="2340" cy="432"/>
            </p:xfrm>
            <a:graphic>
              <a:graphicData uri="http://schemas.openxmlformats.org/presentationml/2006/ole">
                <p:oleObj spid="_x0000_s50180" r:id="rId6" imgW="1854200" imgH="342900" progId="Equation.DSMT4">
                  <p:embed/>
                </p:oleObj>
              </a:graphicData>
            </a:graphic>
          </p:graphicFrame>
          <p:graphicFrame>
            <p:nvGraphicFramePr>
              <p:cNvPr id="50181" name="Object 16"/>
              <p:cNvGraphicFramePr>
                <a:graphicFrameLocks noChangeAspect="1"/>
              </p:cNvGraphicFramePr>
              <p:nvPr/>
            </p:nvGraphicFramePr>
            <p:xfrm>
              <a:off x="4128" y="2610"/>
              <a:ext cx="1573" cy="492"/>
            </p:xfrm>
            <a:graphic>
              <a:graphicData uri="http://schemas.openxmlformats.org/presentationml/2006/ole">
                <p:oleObj spid="_x0000_s50181" r:id="rId7" imgW="1244600" imgH="393700" progId="Equation.DSMT4">
                  <p:embed/>
                </p:oleObj>
              </a:graphicData>
            </a:graphic>
          </p:graphicFrame>
        </p:grpSp>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73732"/>
                                        </p:tgtEl>
                                        <p:attrNameLst>
                                          <p:attrName>style.visibility</p:attrName>
                                        </p:attrNameLst>
                                      </p:cBhvr>
                                      <p:to>
                                        <p:strVal val="visible"/>
                                      </p:to>
                                    </p:set>
                                    <p:animEffect transition="in" filter="barn(outHorizontal)">
                                      <p:cBhvr>
                                        <p:cTn id="7" dur="500"/>
                                        <p:tgtEl>
                                          <p:spTgt spid="7373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73733"/>
                                        </p:tgtEl>
                                        <p:attrNameLst>
                                          <p:attrName>style.visibility</p:attrName>
                                        </p:attrNameLst>
                                      </p:cBhvr>
                                      <p:to>
                                        <p:strVal val="visible"/>
                                      </p:to>
                                    </p:set>
                                    <p:animEffect transition="in" filter="barn(outHorizontal)">
                                      <p:cBhvr>
                                        <p:cTn id="12" dur="500"/>
                                        <p:tgtEl>
                                          <p:spTgt spid="7373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73734"/>
                                        </p:tgtEl>
                                        <p:attrNameLst>
                                          <p:attrName>style.visibility</p:attrName>
                                        </p:attrNameLst>
                                      </p:cBhvr>
                                      <p:to>
                                        <p:strVal val="visible"/>
                                      </p:to>
                                    </p:set>
                                    <p:animEffect transition="in" filter="barn(outHorizontal)">
                                      <p:cBhvr>
                                        <p:cTn id="17" dur="500"/>
                                        <p:tgtEl>
                                          <p:spTgt spid="7373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arn(out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73739"/>
                                        </p:tgtEl>
                                        <p:attrNameLst>
                                          <p:attrName>style.visibility</p:attrName>
                                        </p:attrNameLst>
                                      </p:cBhvr>
                                      <p:to>
                                        <p:strVal val="visible"/>
                                      </p:to>
                                    </p:set>
                                    <p:animEffect transition="in" filter="barn(outHorizontal)">
                                      <p:cBhvr>
                                        <p:cTn id="27" dur="500"/>
                                        <p:tgtEl>
                                          <p:spTgt spid="7373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grpId="0" nodeType="clickEffect">
                                  <p:stCondLst>
                                    <p:cond delay="0"/>
                                  </p:stCondLst>
                                  <p:childTnLst>
                                    <p:set>
                                      <p:cBhvr>
                                        <p:cTn id="31" dur="1" fill="hold">
                                          <p:stCondLst>
                                            <p:cond delay="0"/>
                                          </p:stCondLst>
                                        </p:cTn>
                                        <p:tgtEl>
                                          <p:spTgt spid="73741"/>
                                        </p:tgtEl>
                                        <p:attrNameLst>
                                          <p:attrName>style.visibility</p:attrName>
                                        </p:attrNameLst>
                                      </p:cBhvr>
                                      <p:to>
                                        <p:strVal val="visible"/>
                                      </p:to>
                                    </p:set>
                                    <p:animEffect transition="in" filter="barn(outHorizontal)">
                                      <p:cBhvr>
                                        <p:cTn id="32" dur="500"/>
                                        <p:tgtEl>
                                          <p:spTgt spid="73741"/>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barn(outHorizontal)">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2" grpId="0" autoUpdateAnimBg="0"/>
      <p:bldP spid="73733" grpId="0" autoUpdateAnimBg="0"/>
      <p:bldP spid="73741"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6" name="灯片编号占位符 3"/>
          <p:cNvSpPr>
            <a:spLocks noGrp="1"/>
          </p:cNvSpPr>
          <p:nvPr>
            <p:ph type="sldNum" sz="quarter" idx="12"/>
          </p:nvPr>
        </p:nvSpPr>
        <p:spPr>
          <a:noFill/>
        </p:spPr>
        <p:txBody>
          <a:bodyPr/>
          <a:lstStyle/>
          <a:p>
            <a:fld id="{67FC32E7-487B-4577-8934-881A8399B8A2}" type="slidenum">
              <a:rPr lang="en-US" altLang="zh-CN" smtClean="0">
                <a:latin typeface="Times New Roman" pitchFamily="18" charset="0"/>
                <a:ea typeface="华文中宋" pitchFamily="2" charset="-122"/>
                <a:cs typeface="Times New Roman" pitchFamily="18" charset="0"/>
              </a:rPr>
              <a:pPr/>
              <a:t>66</a:t>
            </a:fld>
            <a:endParaRPr lang="en-US" altLang="zh-CN" smtClean="0">
              <a:latin typeface="Times New Roman" pitchFamily="18" charset="0"/>
              <a:ea typeface="华文中宋" pitchFamily="2" charset="-122"/>
              <a:cs typeface="Times New Roman" pitchFamily="18" charset="0"/>
            </a:endParaRPr>
          </a:p>
        </p:txBody>
      </p:sp>
      <p:sp>
        <p:nvSpPr>
          <p:cNvPr id="51207" name="Text Box 2"/>
          <p:cNvSpPr txBox="1">
            <a:spLocks noChangeArrowheads="1"/>
          </p:cNvSpPr>
          <p:nvPr/>
        </p:nvSpPr>
        <p:spPr bwMode="auto">
          <a:xfrm>
            <a:off x="7596188" y="0"/>
            <a:ext cx="154781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51208" name="Rectangle 3"/>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热力学函数的统计解释 </a:t>
            </a:r>
          </a:p>
        </p:txBody>
      </p:sp>
      <p:sp>
        <p:nvSpPr>
          <p:cNvPr id="51209" name="Text Box 4"/>
          <p:cNvSpPr txBox="1">
            <a:spLocks noChangeArrowheads="1"/>
          </p:cNvSpPr>
          <p:nvPr/>
        </p:nvSpPr>
        <p:spPr bwMode="auto">
          <a:xfrm>
            <a:off x="746125" y="1184275"/>
            <a:ext cx="2755883" cy="461665"/>
          </a:xfrm>
          <a:prstGeom prst="rect">
            <a:avLst/>
          </a:prstGeom>
          <a:noFill/>
          <a:ln w="9525">
            <a:noFill/>
            <a:miter lim="800000"/>
            <a:headEnd/>
            <a:tailEnd/>
          </a:ln>
        </p:spPr>
        <p:txBody>
          <a:bodyPr wrap="none">
            <a:spAutoFit/>
          </a:bodyPr>
          <a:lstStyle/>
          <a:p>
            <a:r>
              <a:rPr lang="en-US" altLang="zh-CN" sz="2400" b="1">
                <a:solidFill>
                  <a:srgbClr val="D2DC08"/>
                </a:solidFill>
                <a:latin typeface="Times New Roman" pitchFamily="18" charset="0"/>
                <a:ea typeface="华文中宋" pitchFamily="2" charset="-122"/>
                <a:cs typeface="Times New Roman" pitchFamily="18" charset="0"/>
              </a:rPr>
              <a:t>4. Helmholtz</a:t>
            </a:r>
            <a:r>
              <a:rPr lang="zh-CN" altLang="en-US" sz="2400" b="1">
                <a:solidFill>
                  <a:srgbClr val="D2DC08"/>
                </a:solidFill>
                <a:latin typeface="Times New Roman" pitchFamily="18" charset="0"/>
                <a:ea typeface="华文中宋" pitchFamily="2" charset="-122"/>
                <a:cs typeface="Times New Roman" pitchFamily="18" charset="0"/>
              </a:rPr>
              <a:t>函数</a:t>
            </a:r>
            <a:r>
              <a:rPr lang="en-US" altLang="zh-CN" sz="2400" b="1" i="1">
                <a:solidFill>
                  <a:srgbClr val="D2DC08"/>
                </a:solidFill>
                <a:latin typeface="Times New Roman" pitchFamily="18" charset="0"/>
                <a:ea typeface="华文中宋" pitchFamily="2" charset="-122"/>
                <a:cs typeface="Times New Roman" pitchFamily="18" charset="0"/>
              </a:rPr>
              <a:t>A</a:t>
            </a:r>
            <a:r>
              <a:rPr lang="en-US" altLang="zh-CN" sz="2400" b="1">
                <a:solidFill>
                  <a:srgbClr val="D2DC08"/>
                </a:solidFill>
                <a:latin typeface="Times New Roman" pitchFamily="18" charset="0"/>
                <a:ea typeface="华文中宋" pitchFamily="2" charset="-122"/>
                <a:cs typeface="Times New Roman" pitchFamily="18" charset="0"/>
              </a:rPr>
              <a:t> </a:t>
            </a:r>
          </a:p>
        </p:txBody>
      </p:sp>
      <p:grpSp>
        <p:nvGrpSpPr>
          <p:cNvPr id="51210" name="Group 14"/>
          <p:cNvGrpSpPr>
            <a:grpSpLocks/>
          </p:cNvGrpSpPr>
          <p:nvPr/>
        </p:nvGrpSpPr>
        <p:grpSpPr bwMode="auto">
          <a:xfrm>
            <a:off x="1127125" y="1641477"/>
            <a:ext cx="2195513" cy="461963"/>
            <a:chOff x="710" y="1034"/>
            <a:chExt cx="1383" cy="291"/>
          </a:xfrm>
        </p:grpSpPr>
        <p:sp>
          <p:nvSpPr>
            <p:cNvPr id="51217" name="Text Box 5"/>
            <p:cNvSpPr txBox="1">
              <a:spLocks noChangeArrowheads="1"/>
            </p:cNvSpPr>
            <p:nvPr/>
          </p:nvSpPr>
          <p:spPr bwMode="auto">
            <a:xfrm>
              <a:off x="710" y="1034"/>
              <a:ext cx="567"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由于 </a:t>
              </a:r>
            </a:p>
          </p:txBody>
        </p:sp>
        <p:graphicFrame>
          <p:nvGraphicFramePr>
            <p:cNvPr id="51205" name="Object 6"/>
            <p:cNvGraphicFramePr>
              <a:graphicFrameLocks noChangeAspect="1"/>
            </p:cNvGraphicFramePr>
            <p:nvPr/>
          </p:nvGraphicFramePr>
          <p:xfrm>
            <a:off x="1200" y="1070"/>
            <a:ext cx="893" cy="226"/>
          </p:xfrm>
          <a:graphic>
            <a:graphicData uri="http://schemas.openxmlformats.org/presentationml/2006/ole">
              <p:oleObj spid="_x0000_s51205" r:id="rId3" imgW="710891" imgH="177723" progId="Equation.DSMT4">
                <p:embed/>
              </p:oleObj>
            </a:graphicData>
          </a:graphic>
        </p:graphicFrame>
      </p:grpSp>
      <p:grpSp>
        <p:nvGrpSpPr>
          <p:cNvPr id="51211" name="Group 19"/>
          <p:cNvGrpSpPr>
            <a:grpSpLocks/>
          </p:cNvGrpSpPr>
          <p:nvPr/>
        </p:nvGrpSpPr>
        <p:grpSpPr bwMode="auto">
          <a:xfrm>
            <a:off x="1143000" y="2174875"/>
            <a:ext cx="2743200" cy="850900"/>
            <a:chOff x="720" y="1370"/>
            <a:chExt cx="1728" cy="536"/>
          </a:xfrm>
        </p:grpSpPr>
        <p:sp>
          <p:nvSpPr>
            <p:cNvPr id="51216" name="Text Box 8"/>
            <p:cNvSpPr txBox="1">
              <a:spLocks noChangeArrowheads="1"/>
            </p:cNvSpPr>
            <p:nvPr/>
          </p:nvSpPr>
          <p:spPr bwMode="auto">
            <a:xfrm>
              <a:off x="720" y="1370"/>
              <a:ext cx="1342"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定域子体系： </a:t>
              </a:r>
            </a:p>
          </p:txBody>
        </p:sp>
        <p:graphicFrame>
          <p:nvGraphicFramePr>
            <p:cNvPr id="51204" name="Object 9"/>
            <p:cNvGraphicFramePr>
              <a:graphicFrameLocks noChangeAspect="1"/>
            </p:cNvGraphicFramePr>
            <p:nvPr/>
          </p:nvGraphicFramePr>
          <p:xfrm>
            <a:off x="1271" y="1680"/>
            <a:ext cx="1177" cy="226"/>
          </p:xfrm>
          <a:graphic>
            <a:graphicData uri="http://schemas.openxmlformats.org/presentationml/2006/ole">
              <p:oleObj spid="_x0000_s51204" r:id="rId4" imgW="939392" imgH="177723" progId="Equation.DSMT4">
                <p:embed/>
              </p:oleObj>
            </a:graphicData>
          </a:graphic>
        </p:graphicFrame>
      </p:grpSp>
      <p:grpSp>
        <p:nvGrpSpPr>
          <p:cNvPr id="51212" name="Group 20"/>
          <p:cNvGrpSpPr>
            <a:grpSpLocks/>
          </p:cNvGrpSpPr>
          <p:nvPr/>
        </p:nvGrpSpPr>
        <p:grpSpPr bwMode="auto">
          <a:xfrm>
            <a:off x="1166813" y="3124200"/>
            <a:ext cx="4284662" cy="1238250"/>
            <a:chOff x="735" y="1968"/>
            <a:chExt cx="2699" cy="780"/>
          </a:xfrm>
        </p:grpSpPr>
        <p:sp>
          <p:nvSpPr>
            <p:cNvPr id="51215" name="Text Box 11"/>
            <p:cNvSpPr txBox="1">
              <a:spLocks noChangeArrowheads="1"/>
            </p:cNvSpPr>
            <p:nvPr/>
          </p:nvSpPr>
          <p:spPr bwMode="auto">
            <a:xfrm>
              <a:off x="735" y="1968"/>
              <a:ext cx="2699"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满足经典极限的离域子体系： </a:t>
              </a:r>
            </a:p>
          </p:txBody>
        </p:sp>
        <p:graphicFrame>
          <p:nvGraphicFramePr>
            <p:cNvPr id="51203" name="Object 12"/>
            <p:cNvGraphicFramePr>
              <a:graphicFrameLocks noChangeAspect="1"/>
            </p:cNvGraphicFramePr>
            <p:nvPr/>
          </p:nvGraphicFramePr>
          <p:xfrm>
            <a:off x="1331" y="2256"/>
            <a:ext cx="1741" cy="492"/>
          </p:xfrm>
          <a:graphic>
            <a:graphicData uri="http://schemas.openxmlformats.org/presentationml/2006/ole">
              <p:oleObj spid="_x0000_s51203" r:id="rId5" imgW="1384300" imgH="393700" progId="Equation.DSMT4">
                <p:embed/>
              </p:oleObj>
            </a:graphicData>
          </a:graphic>
        </p:graphicFrame>
      </p:grpSp>
      <p:sp>
        <p:nvSpPr>
          <p:cNvPr id="51213" name="Text Box 15"/>
          <p:cNvSpPr txBox="1">
            <a:spLocks noChangeArrowheads="1"/>
          </p:cNvSpPr>
          <p:nvPr/>
        </p:nvSpPr>
        <p:spPr bwMode="auto">
          <a:xfrm>
            <a:off x="803275" y="4419600"/>
            <a:ext cx="1338828" cy="461665"/>
          </a:xfrm>
          <a:prstGeom prst="rect">
            <a:avLst/>
          </a:prstGeom>
          <a:noFill/>
          <a:ln w="9525">
            <a:noFill/>
            <a:miter lim="800000"/>
            <a:headEnd/>
            <a:tailEnd/>
          </a:ln>
        </p:spPr>
        <p:txBody>
          <a:bodyPr wrap="none">
            <a:spAutoFit/>
          </a:bodyPr>
          <a:lstStyle/>
          <a:p>
            <a:r>
              <a:rPr lang="en-US" altLang="zh-CN" sz="2400" b="1">
                <a:solidFill>
                  <a:srgbClr val="D2DC08"/>
                </a:solidFill>
                <a:latin typeface="Times New Roman" pitchFamily="18" charset="0"/>
                <a:ea typeface="华文中宋" pitchFamily="2" charset="-122"/>
                <a:cs typeface="Times New Roman" pitchFamily="18" charset="0"/>
              </a:rPr>
              <a:t>5. </a:t>
            </a:r>
            <a:r>
              <a:rPr lang="zh-CN" altLang="en-US" sz="2400" b="1">
                <a:solidFill>
                  <a:srgbClr val="D2DC08"/>
                </a:solidFill>
                <a:latin typeface="Times New Roman" pitchFamily="18" charset="0"/>
                <a:ea typeface="华文中宋" pitchFamily="2" charset="-122"/>
                <a:cs typeface="Times New Roman" pitchFamily="18" charset="0"/>
              </a:rPr>
              <a:t>压力</a:t>
            </a:r>
            <a:r>
              <a:rPr lang="en-US" altLang="zh-CN" sz="2400" b="1" i="1">
                <a:solidFill>
                  <a:srgbClr val="D2DC08"/>
                </a:solidFill>
                <a:latin typeface="Times New Roman" pitchFamily="18" charset="0"/>
                <a:ea typeface="华文中宋" pitchFamily="2" charset="-122"/>
                <a:cs typeface="Times New Roman" pitchFamily="18" charset="0"/>
              </a:rPr>
              <a:t>p</a:t>
            </a:r>
            <a:r>
              <a:rPr lang="en-US" altLang="zh-CN" sz="2400" b="1">
                <a:solidFill>
                  <a:srgbClr val="D2DC08"/>
                </a:solidFill>
                <a:latin typeface="Times New Roman" pitchFamily="18" charset="0"/>
                <a:ea typeface="华文中宋" pitchFamily="2" charset="-122"/>
                <a:cs typeface="Times New Roman" pitchFamily="18" charset="0"/>
              </a:rPr>
              <a:t> </a:t>
            </a:r>
          </a:p>
        </p:txBody>
      </p:sp>
      <p:sp>
        <p:nvSpPr>
          <p:cNvPr id="51214" name="Text Box 16"/>
          <p:cNvSpPr txBox="1">
            <a:spLocks noChangeArrowheads="1"/>
          </p:cNvSpPr>
          <p:nvPr/>
        </p:nvSpPr>
        <p:spPr bwMode="auto">
          <a:xfrm>
            <a:off x="1303338" y="5029200"/>
            <a:ext cx="7307262" cy="457200"/>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无论对于定域子体系还是满足经典极限的离域子体系 </a:t>
            </a:r>
          </a:p>
        </p:txBody>
      </p:sp>
      <p:graphicFrame>
        <p:nvGraphicFramePr>
          <p:cNvPr id="51202" name="Object 17"/>
          <p:cNvGraphicFramePr>
            <a:graphicFrameLocks noChangeAspect="1"/>
          </p:cNvGraphicFramePr>
          <p:nvPr/>
        </p:nvGraphicFramePr>
        <p:xfrm>
          <a:off x="1905000" y="5638800"/>
          <a:ext cx="3505200" cy="781050"/>
        </p:xfrm>
        <a:graphic>
          <a:graphicData uri="http://schemas.openxmlformats.org/presentationml/2006/ole">
            <p:oleObj spid="_x0000_s51202" r:id="rId6" imgW="1752600" imgH="393700" progId="Equation.DSMT4">
              <p:embed/>
            </p:oleObj>
          </a:graphicData>
        </a:graphic>
      </p:graphicFrame>
    </p:spTree>
  </p:cSld>
  <p:clrMapOvr>
    <a:masterClrMapping/>
  </p:clrMapOvr>
  <p:transition spd="med">
    <p:blinds dir="vert"/>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0" name="灯片编号占位符 3"/>
          <p:cNvSpPr>
            <a:spLocks noGrp="1"/>
          </p:cNvSpPr>
          <p:nvPr>
            <p:ph type="sldNum" sz="quarter" idx="12"/>
          </p:nvPr>
        </p:nvSpPr>
        <p:spPr>
          <a:noFill/>
        </p:spPr>
        <p:txBody>
          <a:bodyPr/>
          <a:lstStyle/>
          <a:p>
            <a:fld id="{914ABCA6-FBE4-4592-B765-2E910C8ADE53}" type="slidenum">
              <a:rPr lang="en-US" altLang="zh-CN" smtClean="0">
                <a:latin typeface="Times New Roman" pitchFamily="18" charset="0"/>
                <a:ea typeface="华文中宋" pitchFamily="2" charset="-122"/>
                <a:cs typeface="Times New Roman" pitchFamily="18" charset="0"/>
              </a:rPr>
              <a:pPr/>
              <a:t>67</a:t>
            </a:fld>
            <a:endParaRPr lang="en-US" altLang="zh-CN" smtClean="0">
              <a:latin typeface="Times New Roman" pitchFamily="18" charset="0"/>
              <a:ea typeface="华文中宋" pitchFamily="2" charset="-122"/>
              <a:cs typeface="Times New Roman" pitchFamily="18" charset="0"/>
            </a:endParaRPr>
          </a:p>
        </p:txBody>
      </p:sp>
      <p:sp>
        <p:nvSpPr>
          <p:cNvPr id="52231" name="Rectangle 2"/>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热力学函数的统计解释 </a:t>
            </a:r>
          </a:p>
        </p:txBody>
      </p:sp>
      <p:sp>
        <p:nvSpPr>
          <p:cNvPr id="52232" name="Text Box 3"/>
          <p:cNvSpPr txBox="1">
            <a:spLocks noChangeArrowheads="1"/>
          </p:cNvSpPr>
          <p:nvPr/>
        </p:nvSpPr>
        <p:spPr bwMode="auto">
          <a:xfrm>
            <a:off x="7596188" y="0"/>
            <a:ext cx="154781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75780" name="Text Box 4"/>
          <p:cNvSpPr txBox="1">
            <a:spLocks noChangeArrowheads="1"/>
          </p:cNvSpPr>
          <p:nvPr/>
        </p:nvSpPr>
        <p:spPr bwMode="auto">
          <a:xfrm>
            <a:off x="762000" y="1143000"/>
            <a:ext cx="1192955" cy="461665"/>
          </a:xfrm>
          <a:prstGeom prst="rect">
            <a:avLst/>
          </a:prstGeom>
          <a:noFill/>
          <a:ln w="9525">
            <a:noFill/>
            <a:miter lim="800000"/>
            <a:headEnd/>
            <a:tailEnd/>
          </a:ln>
        </p:spPr>
        <p:txBody>
          <a:bodyPr wrap="none">
            <a:spAutoFit/>
          </a:bodyPr>
          <a:lstStyle/>
          <a:p>
            <a:r>
              <a:rPr lang="en-US" altLang="zh-CN" sz="2400" b="1">
                <a:solidFill>
                  <a:srgbClr val="D2DC08"/>
                </a:solidFill>
                <a:latin typeface="Times New Roman" pitchFamily="18" charset="0"/>
                <a:ea typeface="华文中宋" pitchFamily="2" charset="-122"/>
                <a:cs typeface="Times New Roman" pitchFamily="18" charset="0"/>
              </a:rPr>
              <a:t>6. </a:t>
            </a:r>
            <a:r>
              <a:rPr lang="zh-CN" altLang="en-US" sz="2400" b="1">
                <a:solidFill>
                  <a:srgbClr val="D2DC08"/>
                </a:solidFill>
                <a:latin typeface="Times New Roman" pitchFamily="18" charset="0"/>
                <a:ea typeface="华文中宋" pitchFamily="2" charset="-122"/>
                <a:cs typeface="Times New Roman" pitchFamily="18" charset="0"/>
              </a:rPr>
              <a:t>焓 </a:t>
            </a:r>
            <a:r>
              <a:rPr lang="en-US" altLang="zh-CN" sz="2400" b="1" i="1">
                <a:solidFill>
                  <a:srgbClr val="D2DC08"/>
                </a:solidFill>
                <a:latin typeface="Times New Roman" pitchFamily="18" charset="0"/>
                <a:ea typeface="华文中宋" pitchFamily="2" charset="-122"/>
                <a:cs typeface="Times New Roman" pitchFamily="18" charset="0"/>
              </a:rPr>
              <a:t>H</a:t>
            </a:r>
            <a:r>
              <a:rPr lang="en-US" altLang="zh-CN" sz="2400" b="1">
                <a:solidFill>
                  <a:srgbClr val="D2DC08"/>
                </a:solidFill>
                <a:latin typeface="Times New Roman" pitchFamily="18" charset="0"/>
                <a:ea typeface="华文中宋" pitchFamily="2" charset="-122"/>
                <a:cs typeface="Times New Roman" pitchFamily="18" charset="0"/>
              </a:rPr>
              <a:t> </a:t>
            </a:r>
          </a:p>
        </p:txBody>
      </p:sp>
      <p:sp>
        <p:nvSpPr>
          <p:cNvPr id="75781" name="Text Box 5"/>
          <p:cNvSpPr txBox="1">
            <a:spLocks noChangeArrowheads="1"/>
          </p:cNvSpPr>
          <p:nvPr/>
        </p:nvSpPr>
        <p:spPr bwMode="auto">
          <a:xfrm>
            <a:off x="990600" y="1600200"/>
            <a:ext cx="7307263" cy="457200"/>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无论对于定域子体系还是满足经典极限的离域子体系 </a:t>
            </a:r>
          </a:p>
        </p:txBody>
      </p:sp>
      <p:graphicFrame>
        <p:nvGraphicFramePr>
          <p:cNvPr id="75782" name="Object 6"/>
          <p:cNvGraphicFramePr>
            <a:graphicFrameLocks noChangeAspect="1"/>
          </p:cNvGraphicFramePr>
          <p:nvPr/>
        </p:nvGraphicFramePr>
        <p:xfrm>
          <a:off x="1778000" y="1981200"/>
          <a:ext cx="5800725" cy="1620838"/>
        </p:xfrm>
        <a:graphic>
          <a:graphicData uri="http://schemas.openxmlformats.org/presentationml/2006/ole">
            <p:oleObj spid="_x0000_s52226" name="Equation" r:id="rId3" imgW="2895480" imgH="812520" progId="Equation.DSMT4">
              <p:embed/>
            </p:oleObj>
          </a:graphicData>
        </a:graphic>
      </p:graphicFrame>
      <p:sp>
        <p:nvSpPr>
          <p:cNvPr id="75784" name="Text Box 8"/>
          <p:cNvSpPr txBox="1">
            <a:spLocks noChangeArrowheads="1"/>
          </p:cNvSpPr>
          <p:nvPr/>
        </p:nvSpPr>
        <p:spPr bwMode="auto">
          <a:xfrm>
            <a:off x="793750" y="3505200"/>
            <a:ext cx="2271776" cy="461665"/>
          </a:xfrm>
          <a:prstGeom prst="rect">
            <a:avLst/>
          </a:prstGeom>
          <a:noFill/>
          <a:ln w="9525">
            <a:noFill/>
            <a:miter lim="800000"/>
            <a:headEnd/>
            <a:tailEnd/>
          </a:ln>
        </p:spPr>
        <p:txBody>
          <a:bodyPr wrap="none">
            <a:spAutoFit/>
          </a:bodyPr>
          <a:lstStyle/>
          <a:p>
            <a:r>
              <a:rPr lang="en-US" altLang="zh-CN" sz="2400" b="1">
                <a:solidFill>
                  <a:srgbClr val="D2DC08"/>
                </a:solidFill>
                <a:latin typeface="Times New Roman" pitchFamily="18" charset="0"/>
                <a:ea typeface="华文中宋" pitchFamily="2" charset="-122"/>
                <a:cs typeface="Times New Roman" pitchFamily="18" charset="0"/>
              </a:rPr>
              <a:t>7. Gibbs</a:t>
            </a:r>
            <a:r>
              <a:rPr lang="zh-CN" altLang="en-US" sz="2400" b="1">
                <a:solidFill>
                  <a:srgbClr val="D2DC08"/>
                </a:solidFill>
                <a:latin typeface="Times New Roman" pitchFamily="18" charset="0"/>
                <a:ea typeface="华文中宋" pitchFamily="2" charset="-122"/>
                <a:cs typeface="Times New Roman" pitchFamily="18" charset="0"/>
              </a:rPr>
              <a:t>函数 </a:t>
            </a:r>
            <a:r>
              <a:rPr lang="en-US" altLang="zh-CN" sz="2400" b="1" i="1">
                <a:solidFill>
                  <a:srgbClr val="D2DC08"/>
                </a:solidFill>
                <a:latin typeface="Times New Roman" pitchFamily="18" charset="0"/>
                <a:ea typeface="华文中宋" pitchFamily="2" charset="-122"/>
                <a:cs typeface="Times New Roman" pitchFamily="18" charset="0"/>
              </a:rPr>
              <a:t>G</a:t>
            </a:r>
            <a:r>
              <a:rPr lang="en-US" altLang="zh-CN" sz="2400" b="1">
                <a:solidFill>
                  <a:srgbClr val="D2DC08"/>
                </a:solidFill>
                <a:latin typeface="Times New Roman" pitchFamily="18" charset="0"/>
                <a:ea typeface="华文中宋" pitchFamily="2" charset="-122"/>
                <a:cs typeface="Times New Roman" pitchFamily="18" charset="0"/>
              </a:rPr>
              <a:t> </a:t>
            </a:r>
          </a:p>
        </p:txBody>
      </p:sp>
      <p:grpSp>
        <p:nvGrpSpPr>
          <p:cNvPr id="2" name="Group 18"/>
          <p:cNvGrpSpPr>
            <a:grpSpLocks/>
          </p:cNvGrpSpPr>
          <p:nvPr/>
        </p:nvGrpSpPr>
        <p:grpSpPr bwMode="auto">
          <a:xfrm>
            <a:off x="1203325" y="4156079"/>
            <a:ext cx="6878638" cy="461963"/>
            <a:chOff x="758" y="2618"/>
            <a:chExt cx="4333" cy="291"/>
          </a:xfrm>
        </p:grpSpPr>
        <p:sp>
          <p:nvSpPr>
            <p:cNvPr id="52241" name="Text Box 9"/>
            <p:cNvSpPr txBox="1">
              <a:spLocks noChangeArrowheads="1"/>
            </p:cNvSpPr>
            <p:nvPr/>
          </p:nvSpPr>
          <p:spPr bwMode="auto">
            <a:xfrm>
              <a:off x="758" y="2618"/>
              <a:ext cx="4333"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由于                   ，和熵有关，两种体系的结果不同</a:t>
              </a:r>
            </a:p>
          </p:txBody>
        </p:sp>
        <p:graphicFrame>
          <p:nvGraphicFramePr>
            <p:cNvPr id="52229" name="Object 10"/>
            <p:cNvGraphicFramePr>
              <a:graphicFrameLocks noChangeAspect="1"/>
            </p:cNvGraphicFramePr>
            <p:nvPr/>
          </p:nvGraphicFramePr>
          <p:xfrm>
            <a:off x="1173" y="2640"/>
            <a:ext cx="939" cy="226"/>
          </p:xfrm>
          <a:graphic>
            <a:graphicData uri="http://schemas.openxmlformats.org/presentationml/2006/ole">
              <p:oleObj spid="_x0000_s52229" r:id="rId4" imgW="748975" imgH="177723" progId="Equation.DSMT4">
                <p:embed/>
              </p:oleObj>
            </a:graphicData>
          </a:graphic>
        </p:graphicFrame>
      </p:grpSp>
      <p:grpSp>
        <p:nvGrpSpPr>
          <p:cNvPr id="3" name="Group 19"/>
          <p:cNvGrpSpPr>
            <a:grpSpLocks/>
          </p:cNvGrpSpPr>
          <p:nvPr/>
        </p:nvGrpSpPr>
        <p:grpSpPr bwMode="auto">
          <a:xfrm>
            <a:off x="1203325" y="4648200"/>
            <a:ext cx="6797675" cy="779463"/>
            <a:chOff x="758" y="2928"/>
            <a:chExt cx="4282" cy="491"/>
          </a:xfrm>
        </p:grpSpPr>
        <p:sp>
          <p:nvSpPr>
            <p:cNvPr id="52240" name="Text Box 12"/>
            <p:cNvSpPr txBox="1">
              <a:spLocks noChangeArrowheads="1"/>
            </p:cNvSpPr>
            <p:nvPr/>
          </p:nvSpPr>
          <p:spPr bwMode="auto">
            <a:xfrm>
              <a:off x="758" y="3050"/>
              <a:ext cx="1342"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定域子体系： </a:t>
              </a:r>
            </a:p>
          </p:txBody>
        </p:sp>
        <p:graphicFrame>
          <p:nvGraphicFramePr>
            <p:cNvPr id="52228" name="Object 14"/>
            <p:cNvGraphicFramePr>
              <a:graphicFrameLocks noChangeAspect="1"/>
            </p:cNvGraphicFramePr>
            <p:nvPr/>
          </p:nvGraphicFramePr>
          <p:xfrm>
            <a:off x="2918" y="2928"/>
            <a:ext cx="2122" cy="491"/>
          </p:xfrm>
          <a:graphic>
            <a:graphicData uri="http://schemas.openxmlformats.org/presentationml/2006/ole">
              <p:oleObj spid="_x0000_s52228" r:id="rId5" imgW="1688367" imgH="393529" progId="Equation.DSMT4">
                <p:embed/>
              </p:oleObj>
            </a:graphicData>
          </a:graphic>
        </p:graphicFrame>
      </p:grpSp>
      <p:grpSp>
        <p:nvGrpSpPr>
          <p:cNvPr id="4" name="Group 20"/>
          <p:cNvGrpSpPr>
            <a:grpSpLocks/>
          </p:cNvGrpSpPr>
          <p:nvPr/>
        </p:nvGrpSpPr>
        <p:grpSpPr bwMode="auto">
          <a:xfrm>
            <a:off x="1169988" y="5543550"/>
            <a:ext cx="7364412" cy="781050"/>
            <a:chOff x="737" y="3492"/>
            <a:chExt cx="4639" cy="492"/>
          </a:xfrm>
        </p:grpSpPr>
        <p:sp>
          <p:nvSpPr>
            <p:cNvPr id="52239" name="Text Box 13"/>
            <p:cNvSpPr txBox="1">
              <a:spLocks noChangeArrowheads="1"/>
            </p:cNvSpPr>
            <p:nvPr/>
          </p:nvSpPr>
          <p:spPr bwMode="auto">
            <a:xfrm>
              <a:off x="737" y="3578"/>
              <a:ext cx="2312" cy="291"/>
            </a:xfrm>
            <a:prstGeom prst="rect">
              <a:avLst/>
            </a:prstGeom>
            <a:noFill/>
            <a:ln w="9525">
              <a:noFill/>
              <a:miter lim="800000"/>
              <a:headEnd/>
              <a:tailEnd/>
            </a:ln>
          </p:spPr>
          <p:txBody>
            <a:bodyPr wrap="none">
              <a:spAutoFit/>
            </a:bodyPr>
            <a:lstStyle/>
            <a:p>
              <a:r>
                <a:rPr lang="zh-CN" altLang="en-US" sz="2400" b="1">
                  <a:solidFill>
                    <a:schemeClr val="bg1"/>
                  </a:solidFill>
                  <a:latin typeface="Times New Roman" pitchFamily="18" charset="0"/>
                  <a:ea typeface="华文中宋" pitchFamily="2" charset="-122"/>
                  <a:cs typeface="Times New Roman" pitchFamily="18" charset="0"/>
                </a:rPr>
                <a:t>经典极限的离域子体系： </a:t>
              </a:r>
            </a:p>
          </p:txBody>
        </p:sp>
        <p:graphicFrame>
          <p:nvGraphicFramePr>
            <p:cNvPr id="52227" name="Object 16"/>
            <p:cNvGraphicFramePr>
              <a:graphicFrameLocks noChangeAspect="1"/>
            </p:cNvGraphicFramePr>
            <p:nvPr/>
          </p:nvGraphicFramePr>
          <p:xfrm>
            <a:off x="2941" y="3492"/>
            <a:ext cx="2435" cy="492"/>
          </p:xfrm>
          <a:graphic>
            <a:graphicData uri="http://schemas.openxmlformats.org/presentationml/2006/ole">
              <p:oleObj spid="_x0000_s52227" r:id="rId6" imgW="1930400" imgH="393700" progId="Equation.DSMT4">
                <p:embed/>
              </p:oleObj>
            </a:graphicData>
          </a:graphic>
        </p:graphicFrame>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75780"/>
                                        </p:tgtEl>
                                        <p:attrNameLst>
                                          <p:attrName>style.visibility</p:attrName>
                                        </p:attrNameLst>
                                      </p:cBhvr>
                                      <p:to>
                                        <p:strVal val="visible"/>
                                      </p:to>
                                    </p:set>
                                    <p:animEffect transition="in" filter="barn(outHorizontal)">
                                      <p:cBhvr>
                                        <p:cTn id="7" dur="500"/>
                                        <p:tgtEl>
                                          <p:spTgt spid="7578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75781"/>
                                        </p:tgtEl>
                                        <p:attrNameLst>
                                          <p:attrName>style.visibility</p:attrName>
                                        </p:attrNameLst>
                                      </p:cBhvr>
                                      <p:to>
                                        <p:strVal val="visible"/>
                                      </p:to>
                                    </p:set>
                                    <p:animEffect transition="in" filter="barn(outHorizontal)">
                                      <p:cBhvr>
                                        <p:cTn id="12" dur="500"/>
                                        <p:tgtEl>
                                          <p:spTgt spid="7578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75782"/>
                                        </p:tgtEl>
                                        <p:attrNameLst>
                                          <p:attrName>style.visibility</p:attrName>
                                        </p:attrNameLst>
                                      </p:cBhvr>
                                      <p:to>
                                        <p:strVal val="visible"/>
                                      </p:to>
                                    </p:set>
                                    <p:animEffect transition="in" filter="barn(outHorizontal)">
                                      <p:cBhvr>
                                        <p:cTn id="17" dur="500"/>
                                        <p:tgtEl>
                                          <p:spTgt spid="7578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75784"/>
                                        </p:tgtEl>
                                        <p:attrNameLst>
                                          <p:attrName>style.visibility</p:attrName>
                                        </p:attrNameLst>
                                      </p:cBhvr>
                                      <p:to>
                                        <p:strVal val="visible"/>
                                      </p:to>
                                    </p:set>
                                    <p:animEffect transition="in" filter="barn(outHorizontal)">
                                      <p:cBhvr>
                                        <p:cTn id="22" dur="500"/>
                                        <p:tgtEl>
                                          <p:spTgt spid="7578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arn(outHorizontal)">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42"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arn(outHorizontal)">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barn(outHorizontal)">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0" grpId="0" autoUpdateAnimBg="0"/>
      <p:bldP spid="75781" grpId="0" autoUpdateAnimBg="0"/>
      <p:bldP spid="75784"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3"/>
          <p:cNvSpPr>
            <a:spLocks noGrp="1"/>
          </p:cNvSpPr>
          <p:nvPr>
            <p:ph type="sldNum" sz="quarter" idx="12"/>
          </p:nvPr>
        </p:nvSpPr>
        <p:spPr>
          <a:noFill/>
        </p:spPr>
        <p:txBody>
          <a:bodyPr/>
          <a:lstStyle/>
          <a:p>
            <a:fld id="{DB79D88B-608C-4A76-8B26-5AB33FE42C60}" type="slidenum">
              <a:rPr lang="en-US" altLang="zh-CN" smtClean="0"/>
              <a:pPr/>
              <a:t>68</a:t>
            </a:fld>
            <a:endParaRPr lang="en-US" altLang="zh-CN" smtClean="0"/>
          </a:p>
        </p:txBody>
      </p:sp>
      <p:sp>
        <p:nvSpPr>
          <p:cNvPr id="72707" name="Text Box 2"/>
          <p:cNvSpPr txBox="1">
            <a:spLocks noChangeArrowheads="1"/>
          </p:cNvSpPr>
          <p:nvPr/>
        </p:nvSpPr>
        <p:spPr bwMode="auto">
          <a:xfrm>
            <a:off x="7596188" y="0"/>
            <a:ext cx="1547812" cy="457200"/>
          </a:xfrm>
          <a:prstGeom prst="rect">
            <a:avLst/>
          </a:prstGeom>
          <a:gradFill rotWithShape="0">
            <a:gsLst>
              <a:gs pos="0">
                <a:schemeClr val="hlink"/>
              </a:gs>
              <a:gs pos="100000">
                <a:srgbClr val="663300"/>
              </a:gs>
            </a:gsLst>
            <a:path path="shape">
              <a:fillToRect l="50000" t="50000" r="50000" b="50000"/>
            </a:path>
          </a:gradFill>
          <a:ln w="9525">
            <a:noFill/>
            <a:miter lim="800000"/>
            <a:headEnd/>
            <a:tailEnd/>
          </a:ln>
        </p:spPr>
        <p:txBody>
          <a:bodyPr>
            <a:spAutoFit/>
          </a:bodyPr>
          <a:lstStyle/>
          <a:p>
            <a:pPr eaLnBrk="0" hangingPunct="0"/>
            <a:r>
              <a:rPr lang="zh-CN" altLang="en-US" sz="2400" b="1">
                <a:solidFill>
                  <a:schemeClr val="bg1"/>
                </a:solidFill>
                <a:latin typeface="Times New Roman" pitchFamily="18" charset="0"/>
                <a:ea typeface="隶书" pitchFamily="49" charset="-122"/>
              </a:rPr>
              <a:t>经典统计</a:t>
            </a:r>
            <a:endParaRPr lang="zh-CN" altLang="en-US" sz="2400">
              <a:solidFill>
                <a:schemeClr val="bg1"/>
              </a:solidFill>
              <a:latin typeface="Times New Roman" pitchFamily="18" charset="0"/>
            </a:endParaRPr>
          </a:p>
        </p:txBody>
      </p:sp>
      <p:sp>
        <p:nvSpPr>
          <p:cNvPr id="72708" name="Rectangle 3"/>
          <p:cNvSpPr>
            <a:spLocks noGrp="1" noRot="1" noChangeArrowheads="1"/>
          </p:cNvSpPr>
          <p:nvPr/>
        </p:nvSpPr>
        <p:spPr bwMode="auto">
          <a:xfrm>
            <a:off x="374650" y="381000"/>
            <a:ext cx="8540750" cy="762000"/>
          </a:xfrm>
          <a:prstGeom prst="rect">
            <a:avLst/>
          </a:prstGeom>
          <a:noFill/>
          <a:ln w="9525">
            <a:noFill/>
            <a:miter lim="800000"/>
            <a:headEnd/>
            <a:tailEnd/>
          </a:ln>
        </p:spPr>
        <p:txBody>
          <a:bodyPr anchor="ctr"/>
          <a:lstStyle/>
          <a:p>
            <a:pPr algn="ctr" eaLnBrk="0" hangingPunct="0"/>
            <a:r>
              <a:rPr lang="zh-CN" altLang="en-US" sz="4400" b="1" dirty="0">
                <a:solidFill>
                  <a:srgbClr val="FFFF00"/>
                </a:solidFill>
                <a:latin typeface="黑体" pitchFamily="49" charset="-122"/>
                <a:ea typeface="黑体" pitchFamily="49" charset="-122"/>
              </a:rPr>
              <a:t>热力学函数的统计解释 </a:t>
            </a:r>
          </a:p>
        </p:txBody>
      </p:sp>
      <p:sp>
        <p:nvSpPr>
          <p:cNvPr id="76804" name="Text Box 4"/>
          <p:cNvSpPr txBox="1">
            <a:spLocks noChangeArrowheads="1"/>
          </p:cNvSpPr>
          <p:nvPr/>
        </p:nvSpPr>
        <p:spPr bwMode="auto">
          <a:xfrm>
            <a:off x="762000" y="1274763"/>
            <a:ext cx="8186857" cy="830997"/>
          </a:xfrm>
          <a:prstGeom prst="rect">
            <a:avLst/>
          </a:prstGeom>
          <a:noFill/>
          <a:ln w="9525">
            <a:noFill/>
            <a:miter lim="800000"/>
            <a:headEnd/>
            <a:tailEnd/>
          </a:ln>
        </p:spPr>
        <p:txBody>
          <a:bodyPr wrap="none">
            <a:spAutoFit/>
          </a:bodyPr>
          <a:lstStyle/>
          <a:p>
            <a:r>
              <a:rPr lang="zh-CN" altLang="en-US" sz="2400" b="1" dirty="0">
                <a:solidFill>
                  <a:schemeClr val="bg1"/>
                </a:solidFill>
                <a:latin typeface="华文中宋" pitchFamily="2" charset="-122"/>
                <a:ea typeface="华文中宋" pitchFamily="2" charset="-122"/>
              </a:rPr>
              <a:t>很容易利用上面的办法</a:t>
            </a:r>
            <a:r>
              <a:rPr lang="zh-CN" altLang="en-US" sz="2400" b="1" dirty="0" smtClean="0">
                <a:solidFill>
                  <a:schemeClr val="bg1"/>
                </a:solidFill>
                <a:latin typeface="华文中宋" pitchFamily="2" charset="-122"/>
                <a:ea typeface="华文中宋" pitchFamily="2" charset="-122"/>
              </a:rPr>
              <a:t>推导比定压热容、比定压热容和比定</a:t>
            </a:r>
            <a:endParaRPr lang="en-US" altLang="zh-CN" sz="2400" b="1" dirty="0" smtClean="0">
              <a:solidFill>
                <a:schemeClr val="bg1"/>
              </a:solidFill>
              <a:latin typeface="华文中宋" pitchFamily="2" charset="-122"/>
              <a:ea typeface="华文中宋" pitchFamily="2" charset="-122"/>
            </a:endParaRPr>
          </a:p>
          <a:p>
            <a:r>
              <a:rPr lang="zh-CN" altLang="en-US" sz="2400" b="1" dirty="0" smtClean="0">
                <a:solidFill>
                  <a:schemeClr val="bg1"/>
                </a:solidFill>
                <a:latin typeface="华文中宋" pitchFamily="2" charset="-122"/>
                <a:ea typeface="华文中宋" pitchFamily="2" charset="-122"/>
              </a:rPr>
              <a:t>容热</a:t>
            </a:r>
            <a:r>
              <a:rPr lang="zh-CN" altLang="en-US" sz="2400" b="1" dirty="0">
                <a:solidFill>
                  <a:schemeClr val="bg1"/>
                </a:solidFill>
                <a:latin typeface="华文中宋" pitchFamily="2" charset="-122"/>
                <a:ea typeface="华文中宋" pitchFamily="2" charset="-122"/>
              </a:rPr>
              <a:t>容</a:t>
            </a:r>
            <a:r>
              <a:rPr lang="zh-CN" altLang="en-US" sz="2400" b="1" dirty="0" smtClean="0">
                <a:solidFill>
                  <a:schemeClr val="bg1"/>
                </a:solidFill>
                <a:latin typeface="华文中宋" pitchFamily="2" charset="-122"/>
                <a:ea typeface="华文中宋" pitchFamily="2" charset="-122"/>
              </a:rPr>
              <a:t>的</a:t>
            </a:r>
            <a:r>
              <a:rPr lang="zh-CN" altLang="en-US" sz="2400" b="1" dirty="0">
                <a:solidFill>
                  <a:schemeClr val="bg1"/>
                </a:solidFill>
                <a:latin typeface="华文中宋" pitchFamily="2" charset="-122"/>
                <a:ea typeface="华文中宋" pitchFamily="2" charset="-122"/>
              </a:rPr>
              <a:t>差值等等的表达式，这里就不再列出了。 </a:t>
            </a:r>
          </a:p>
        </p:txBody>
      </p:sp>
      <p:sp>
        <p:nvSpPr>
          <p:cNvPr id="76805" name="Text Box 5"/>
          <p:cNvSpPr txBox="1">
            <a:spLocks noChangeArrowheads="1"/>
          </p:cNvSpPr>
          <p:nvPr/>
        </p:nvSpPr>
        <p:spPr bwMode="auto">
          <a:xfrm>
            <a:off x="762000" y="2265363"/>
            <a:ext cx="8186857" cy="830997"/>
          </a:xfrm>
          <a:prstGeom prst="rect">
            <a:avLst/>
          </a:prstGeom>
          <a:noFill/>
          <a:ln w="9525">
            <a:noFill/>
            <a:miter lim="800000"/>
            <a:headEnd/>
            <a:tailEnd/>
          </a:ln>
        </p:spPr>
        <p:txBody>
          <a:bodyPr wrap="none">
            <a:spAutoFit/>
          </a:bodyPr>
          <a:lstStyle/>
          <a:p>
            <a:r>
              <a:rPr lang="zh-CN" altLang="en-US" sz="2400" b="1">
                <a:solidFill>
                  <a:schemeClr val="bg1"/>
                </a:solidFill>
                <a:latin typeface="华文中宋" pitchFamily="2" charset="-122"/>
                <a:ea typeface="华文中宋" pitchFamily="2" charset="-122"/>
              </a:rPr>
              <a:t>如果我们可以求得一个体系的配分函数，就可以得到其各种</a:t>
            </a:r>
          </a:p>
          <a:p>
            <a:r>
              <a:rPr lang="zh-CN" altLang="en-US" sz="2400" b="1">
                <a:solidFill>
                  <a:schemeClr val="bg1"/>
                </a:solidFill>
                <a:latin typeface="华文中宋" pitchFamily="2" charset="-122"/>
                <a:ea typeface="华文中宋" pitchFamily="2" charset="-122"/>
              </a:rPr>
              <a:t>热力学函数的统计表达式。 </a:t>
            </a:r>
          </a:p>
        </p:txBody>
      </p:sp>
      <p:sp>
        <p:nvSpPr>
          <p:cNvPr id="76806" name="Text Box 6"/>
          <p:cNvSpPr txBox="1">
            <a:spLocks noChangeArrowheads="1"/>
          </p:cNvSpPr>
          <p:nvPr/>
        </p:nvSpPr>
        <p:spPr bwMode="auto">
          <a:xfrm>
            <a:off x="762000" y="3368675"/>
            <a:ext cx="8186857" cy="1200329"/>
          </a:xfrm>
          <a:prstGeom prst="rect">
            <a:avLst/>
          </a:prstGeom>
          <a:noFill/>
          <a:ln w="9525">
            <a:noFill/>
            <a:miter lim="800000"/>
            <a:headEnd/>
            <a:tailEnd/>
          </a:ln>
        </p:spPr>
        <p:txBody>
          <a:bodyPr wrap="none">
            <a:spAutoFit/>
          </a:bodyPr>
          <a:lstStyle/>
          <a:p>
            <a:r>
              <a:rPr lang="zh-CN" altLang="en-US" sz="2400" b="1">
                <a:solidFill>
                  <a:schemeClr val="bg1"/>
                </a:solidFill>
                <a:latin typeface="华文中宋" pitchFamily="2" charset="-122"/>
                <a:ea typeface="华文中宋" pitchFamily="2" charset="-122"/>
              </a:rPr>
              <a:t>我们可以对配分函数进行分解，分别求解其平动、转动、振</a:t>
            </a:r>
          </a:p>
          <a:p>
            <a:r>
              <a:rPr lang="zh-CN" altLang="en-US" sz="2400" b="1">
                <a:solidFill>
                  <a:schemeClr val="bg1"/>
                </a:solidFill>
                <a:latin typeface="华文中宋" pitchFamily="2" charset="-122"/>
                <a:ea typeface="华文中宋" pitchFamily="2" charset="-122"/>
              </a:rPr>
              <a:t>动等配分函数，从而得到理想气体热力学函数的具体表述，</a:t>
            </a:r>
          </a:p>
          <a:p>
            <a:r>
              <a:rPr lang="zh-CN" altLang="en-US" sz="2400" b="1">
                <a:solidFill>
                  <a:schemeClr val="bg1"/>
                </a:solidFill>
                <a:latin typeface="华文中宋" pitchFamily="2" charset="-122"/>
                <a:ea typeface="华文中宋" pitchFamily="2" charset="-122"/>
              </a:rPr>
              <a:t>我们由于学时的限制就不做进一步分析了。 </a:t>
            </a:r>
          </a:p>
        </p:txBody>
      </p:sp>
      <p:sp>
        <p:nvSpPr>
          <p:cNvPr id="76807" name="Text Box 7"/>
          <p:cNvSpPr txBox="1">
            <a:spLocks noChangeArrowheads="1"/>
          </p:cNvSpPr>
          <p:nvPr/>
        </p:nvSpPr>
        <p:spPr bwMode="auto">
          <a:xfrm>
            <a:off x="762000" y="4816475"/>
            <a:ext cx="8494633" cy="830997"/>
          </a:xfrm>
          <a:prstGeom prst="rect">
            <a:avLst/>
          </a:prstGeom>
          <a:noFill/>
          <a:ln w="9525">
            <a:noFill/>
            <a:miter lim="800000"/>
            <a:headEnd/>
            <a:tailEnd/>
          </a:ln>
        </p:spPr>
        <p:txBody>
          <a:bodyPr wrap="none">
            <a:spAutoFit/>
          </a:bodyPr>
          <a:lstStyle/>
          <a:p>
            <a:r>
              <a:rPr lang="zh-CN" altLang="en-US" sz="2400" b="1">
                <a:solidFill>
                  <a:schemeClr val="bg1"/>
                </a:solidFill>
                <a:latin typeface="华文中宋" pitchFamily="2" charset="-122"/>
                <a:ea typeface="华文中宋" pitchFamily="2" charset="-122"/>
              </a:rPr>
              <a:t>近年来统计力学发展较快，是解决实际问题的一种有用工具，</a:t>
            </a:r>
          </a:p>
          <a:p>
            <a:r>
              <a:rPr lang="zh-CN" altLang="en-US" sz="2400" b="1">
                <a:solidFill>
                  <a:schemeClr val="bg1"/>
                </a:solidFill>
                <a:latin typeface="华文中宋" pitchFamily="2" charset="-122"/>
                <a:ea typeface="华文中宋" pitchFamily="2" charset="-122"/>
              </a:rPr>
              <a:t>但并不能来取代宏观唯象热力学。 </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76804"/>
                                        </p:tgtEl>
                                        <p:attrNameLst>
                                          <p:attrName>style.visibility</p:attrName>
                                        </p:attrNameLst>
                                      </p:cBhvr>
                                      <p:to>
                                        <p:strVal val="visible"/>
                                      </p:to>
                                    </p:set>
                                    <p:animEffect transition="in" filter="slide(fromBottom)">
                                      <p:cBhvr>
                                        <p:cTn id="7" dur="500"/>
                                        <p:tgtEl>
                                          <p:spTgt spid="7680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76805"/>
                                        </p:tgtEl>
                                        <p:attrNameLst>
                                          <p:attrName>style.visibility</p:attrName>
                                        </p:attrNameLst>
                                      </p:cBhvr>
                                      <p:to>
                                        <p:strVal val="visible"/>
                                      </p:to>
                                    </p:set>
                                    <p:animEffect transition="in" filter="slide(fromBottom)">
                                      <p:cBhvr>
                                        <p:cTn id="12" dur="500"/>
                                        <p:tgtEl>
                                          <p:spTgt spid="7680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76806"/>
                                        </p:tgtEl>
                                        <p:attrNameLst>
                                          <p:attrName>style.visibility</p:attrName>
                                        </p:attrNameLst>
                                      </p:cBhvr>
                                      <p:to>
                                        <p:strVal val="visible"/>
                                      </p:to>
                                    </p:set>
                                    <p:animEffect transition="in" filter="slide(fromBottom)">
                                      <p:cBhvr>
                                        <p:cTn id="17" dur="500"/>
                                        <p:tgtEl>
                                          <p:spTgt spid="76806"/>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76807"/>
                                        </p:tgtEl>
                                        <p:attrNameLst>
                                          <p:attrName>style.visibility</p:attrName>
                                        </p:attrNameLst>
                                      </p:cBhvr>
                                      <p:to>
                                        <p:strVal val="visible"/>
                                      </p:to>
                                    </p:set>
                                    <p:animEffect transition="in" filter="slide(fromBottom)">
                                      <p:cBhvr>
                                        <p:cTn id="22" dur="500"/>
                                        <p:tgtEl>
                                          <p:spTgt spid="76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autoUpdateAnimBg="0"/>
      <p:bldP spid="76805" grpId="0" autoUpdateAnimBg="0"/>
      <p:bldP spid="76806" grpId="0" autoUpdateAnimBg="0"/>
      <p:bldP spid="76807"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1"/>
          <p:cNvSpPr>
            <a:spLocks noGrp="1"/>
          </p:cNvSpPr>
          <p:nvPr>
            <p:ph type="sldNum" sz="quarter" idx="12"/>
          </p:nvPr>
        </p:nvSpPr>
        <p:spPr>
          <a:noFill/>
        </p:spPr>
        <p:txBody>
          <a:bodyPr/>
          <a:lstStyle/>
          <a:p>
            <a:fld id="{8E8D17FE-DB06-41D8-BC2D-CA50D4100114}" type="slidenum">
              <a:rPr lang="en-US" altLang="zh-CN" smtClean="0"/>
              <a:pPr/>
              <a:t>69</a:t>
            </a:fld>
            <a:endParaRPr lang="en-US" altLang="zh-CN" smtClean="0"/>
          </a:p>
        </p:txBody>
      </p:sp>
      <p:sp>
        <p:nvSpPr>
          <p:cNvPr id="3" name="矩形 2"/>
          <p:cNvSpPr/>
          <p:nvPr/>
        </p:nvSpPr>
        <p:spPr>
          <a:xfrm>
            <a:off x="1000125" y="1214438"/>
            <a:ext cx="7286625" cy="5262562"/>
          </a:xfrm>
          <a:prstGeom prst="rect">
            <a:avLst/>
          </a:prstGeom>
        </p:spPr>
        <p:txBody>
          <a:bodyPr>
            <a:spAutoFit/>
          </a:bodyPr>
          <a:lstStyle/>
          <a:p>
            <a:pPr>
              <a:defRPr/>
            </a:pPr>
            <a:r>
              <a:rPr lang="en-US" altLang="zh-CN" sz="4800" b="1" dirty="0">
                <a:solidFill>
                  <a:srgbClr val="FFFF00"/>
                </a:solidFill>
                <a:latin typeface="+mn-lt"/>
                <a:ea typeface="黑体" pitchFamily="49" charset="-122"/>
              </a:rPr>
              <a:t>《</a:t>
            </a:r>
            <a:r>
              <a:rPr lang="zh-CN" altLang="en-US" sz="4800" b="1" dirty="0">
                <a:solidFill>
                  <a:srgbClr val="FFFF00"/>
                </a:solidFill>
                <a:latin typeface="+mn-lt"/>
                <a:ea typeface="黑体" pitchFamily="49" charset="-122"/>
              </a:rPr>
              <a:t>高等热力学</a:t>
            </a:r>
            <a:r>
              <a:rPr lang="en-US" altLang="zh-CN" sz="4800" b="1" dirty="0">
                <a:solidFill>
                  <a:srgbClr val="FFFF00"/>
                </a:solidFill>
                <a:latin typeface="+mn-lt"/>
                <a:ea typeface="黑体" pitchFamily="49" charset="-122"/>
              </a:rPr>
              <a:t>》</a:t>
            </a:r>
            <a:r>
              <a:rPr lang="zh-CN" altLang="en-US" sz="4800" b="1" dirty="0">
                <a:solidFill>
                  <a:srgbClr val="FFFF00"/>
                </a:solidFill>
                <a:latin typeface="+mn-lt"/>
                <a:ea typeface="黑体" pitchFamily="49" charset="-122"/>
              </a:rPr>
              <a:t>期末考试</a:t>
            </a:r>
            <a:endParaRPr lang="en-US" altLang="zh-CN" sz="4800" b="1" dirty="0">
              <a:solidFill>
                <a:srgbClr val="FFFF00"/>
              </a:solidFill>
              <a:latin typeface="+mn-lt"/>
              <a:ea typeface="黑体" pitchFamily="49" charset="-122"/>
            </a:endParaRPr>
          </a:p>
          <a:p>
            <a:pPr>
              <a:defRPr/>
            </a:pPr>
            <a:endParaRPr lang="en-US" altLang="zh-CN" sz="4800" b="1" dirty="0">
              <a:solidFill>
                <a:schemeClr val="bg1"/>
              </a:solidFill>
              <a:latin typeface="+mn-lt"/>
            </a:endParaRPr>
          </a:p>
          <a:p>
            <a:pPr>
              <a:defRPr/>
            </a:pPr>
            <a:r>
              <a:rPr lang="zh-CN" altLang="en-US" sz="4800" b="1" dirty="0">
                <a:solidFill>
                  <a:schemeClr val="bg1"/>
                </a:solidFill>
                <a:latin typeface="+mn-lt"/>
              </a:rPr>
              <a:t>时间：</a:t>
            </a:r>
            <a:r>
              <a:rPr lang="en-US" altLang="zh-CN" sz="4800" b="1" dirty="0" smtClean="0">
                <a:solidFill>
                  <a:schemeClr val="bg1"/>
                </a:solidFill>
                <a:latin typeface="+mn-lt"/>
              </a:rPr>
              <a:t>2014</a:t>
            </a:r>
            <a:r>
              <a:rPr lang="zh-CN" altLang="en-US" sz="4800" b="1" dirty="0" smtClean="0">
                <a:solidFill>
                  <a:schemeClr val="bg1"/>
                </a:solidFill>
                <a:latin typeface="+mn-lt"/>
              </a:rPr>
              <a:t>年</a:t>
            </a:r>
            <a:r>
              <a:rPr lang="en-US" altLang="zh-CN" sz="4800" b="1" dirty="0">
                <a:solidFill>
                  <a:schemeClr val="bg1"/>
                </a:solidFill>
                <a:latin typeface="+mn-lt"/>
              </a:rPr>
              <a:t>1</a:t>
            </a:r>
            <a:r>
              <a:rPr lang="zh-CN" altLang="en-US" sz="4800" b="1" dirty="0" smtClean="0">
                <a:solidFill>
                  <a:schemeClr val="bg1"/>
                </a:solidFill>
                <a:latin typeface="+mn-lt"/>
              </a:rPr>
              <a:t>月</a:t>
            </a:r>
            <a:r>
              <a:rPr lang="en-US" altLang="zh-CN" sz="4800" b="1" dirty="0" smtClean="0">
                <a:solidFill>
                  <a:schemeClr val="bg1"/>
                </a:solidFill>
                <a:latin typeface="+mn-lt"/>
              </a:rPr>
              <a:t>8</a:t>
            </a:r>
            <a:r>
              <a:rPr lang="zh-CN" altLang="en-US" sz="4800" b="1" dirty="0" smtClean="0">
                <a:solidFill>
                  <a:schemeClr val="bg1"/>
                </a:solidFill>
                <a:latin typeface="+mn-lt"/>
              </a:rPr>
              <a:t>日</a:t>
            </a:r>
            <a:r>
              <a:rPr lang="en-US" altLang="zh-CN" sz="4800" b="1" dirty="0">
                <a:solidFill>
                  <a:schemeClr val="bg1"/>
                </a:solidFill>
                <a:latin typeface="+mn-lt"/>
              </a:rPr>
              <a:t>(</a:t>
            </a:r>
            <a:r>
              <a:rPr lang="zh-CN" altLang="en-US" sz="4800" b="1" dirty="0" smtClean="0">
                <a:solidFill>
                  <a:schemeClr val="bg1"/>
                </a:solidFill>
                <a:latin typeface="+mn-lt"/>
              </a:rPr>
              <a:t>星期三</a:t>
            </a:r>
            <a:r>
              <a:rPr lang="en-US" altLang="zh-CN" sz="4800" b="1" dirty="0" smtClean="0">
                <a:solidFill>
                  <a:schemeClr val="bg1"/>
                </a:solidFill>
                <a:latin typeface="+mn-lt"/>
              </a:rPr>
              <a:t>)</a:t>
            </a:r>
            <a:r>
              <a:rPr lang="zh-CN" altLang="en-US" sz="4800" b="1" dirty="0">
                <a:solidFill>
                  <a:schemeClr val="bg1"/>
                </a:solidFill>
                <a:latin typeface="+mn-lt"/>
              </a:rPr>
              <a:t>上午</a:t>
            </a:r>
            <a:r>
              <a:rPr lang="en-US" altLang="zh-CN" sz="4800" b="1" dirty="0">
                <a:solidFill>
                  <a:schemeClr val="bg1"/>
                </a:solidFill>
                <a:latin typeface="+mn-lt"/>
              </a:rPr>
              <a:t>8:00-10:00</a:t>
            </a:r>
            <a:br>
              <a:rPr lang="en-US" altLang="zh-CN" sz="4800" b="1" dirty="0">
                <a:solidFill>
                  <a:schemeClr val="bg1"/>
                </a:solidFill>
                <a:latin typeface="+mn-lt"/>
              </a:rPr>
            </a:br>
            <a:endParaRPr lang="en-US" altLang="zh-CN" sz="4800" b="1" dirty="0">
              <a:solidFill>
                <a:schemeClr val="bg1"/>
              </a:solidFill>
              <a:latin typeface="+mn-lt"/>
            </a:endParaRPr>
          </a:p>
          <a:p>
            <a:pPr>
              <a:defRPr/>
            </a:pPr>
            <a:r>
              <a:rPr lang="zh-CN" altLang="en-US" sz="4800" b="1" dirty="0">
                <a:solidFill>
                  <a:schemeClr val="bg1"/>
                </a:solidFill>
                <a:latin typeface="+mn-lt"/>
              </a:rPr>
              <a:t>地点</a:t>
            </a:r>
            <a:r>
              <a:rPr lang="zh-CN" altLang="en-US" sz="4800" b="1" dirty="0" smtClean="0">
                <a:solidFill>
                  <a:schemeClr val="bg1"/>
                </a:solidFill>
                <a:latin typeface="+mn-lt"/>
              </a:rPr>
              <a:t>：</a:t>
            </a:r>
            <a:r>
              <a:rPr lang="en-US" altLang="zh-CN" sz="4800" b="1" dirty="0" smtClean="0">
                <a:solidFill>
                  <a:schemeClr val="bg1"/>
                </a:solidFill>
                <a:latin typeface="+mn-lt"/>
              </a:rPr>
              <a:t>6A211</a:t>
            </a:r>
            <a:r>
              <a:rPr lang="zh-CN" altLang="en-US" sz="4800" b="1" dirty="0" smtClean="0">
                <a:solidFill>
                  <a:schemeClr val="bg1"/>
                </a:solidFill>
                <a:latin typeface="+mn-lt"/>
              </a:rPr>
              <a:t>，</a:t>
            </a:r>
            <a:r>
              <a:rPr lang="en-US" altLang="zh-CN" sz="4800" b="1" dirty="0" smtClean="0">
                <a:solidFill>
                  <a:schemeClr val="bg1"/>
                </a:solidFill>
                <a:latin typeface="+mn-lt"/>
              </a:rPr>
              <a:t>6A213</a:t>
            </a:r>
            <a:r>
              <a:rPr lang="en-US" altLang="zh-CN" sz="4800" b="1" dirty="0">
                <a:solidFill>
                  <a:schemeClr val="bg1"/>
                </a:solidFill>
                <a:latin typeface="+mn-lt"/>
              </a:rPr>
              <a:t/>
            </a:r>
            <a:br>
              <a:rPr lang="en-US" altLang="zh-CN" sz="4800" b="1" dirty="0">
                <a:solidFill>
                  <a:schemeClr val="bg1"/>
                </a:solidFill>
                <a:latin typeface="+mn-lt"/>
              </a:rPr>
            </a:br>
            <a:endParaRPr lang="zh-CN" altLang="en-US" sz="4800" b="1" dirty="0">
              <a:solidFill>
                <a:schemeClr val="bg1"/>
              </a:solidFill>
              <a:latin typeface="+mn-lt"/>
            </a:endParaRPr>
          </a:p>
        </p:txBody>
      </p:sp>
    </p:spTree>
  </p:cSld>
  <p:clrMapOvr>
    <a:masterClrMapping/>
  </p:clrMapOvr>
  <p:transition spd="med">
    <p:blinds dir="vert"/>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1"/>
          <p:cNvSpPr>
            <a:spLocks noGrp="1"/>
          </p:cNvSpPr>
          <p:nvPr>
            <p:ph type="sldNum" sz="quarter" idx="12"/>
          </p:nvPr>
        </p:nvSpPr>
        <p:spPr>
          <a:noFill/>
        </p:spPr>
        <p:txBody>
          <a:bodyPr/>
          <a:lstStyle/>
          <a:p>
            <a:fld id="{FFFC74E1-FD1D-4667-8748-1DE9EA746CF2}" type="slidenum">
              <a:rPr lang="en-US" altLang="zh-CN" smtClean="0"/>
              <a:pPr/>
              <a:t>70</a:t>
            </a:fld>
            <a:endParaRPr lang="en-US" altLang="zh-CN" smtClean="0"/>
          </a:p>
        </p:txBody>
      </p:sp>
      <p:sp>
        <p:nvSpPr>
          <p:cNvPr id="3" name="矩形 2"/>
          <p:cNvSpPr/>
          <p:nvPr/>
        </p:nvSpPr>
        <p:spPr>
          <a:xfrm>
            <a:off x="1000125" y="214313"/>
            <a:ext cx="7715279" cy="6986528"/>
          </a:xfrm>
          <a:prstGeom prst="rect">
            <a:avLst/>
          </a:prstGeom>
        </p:spPr>
        <p:txBody>
          <a:bodyPr wrap="square">
            <a:spAutoFit/>
          </a:bodyPr>
          <a:lstStyle/>
          <a:p>
            <a:pPr>
              <a:defRPr/>
            </a:pPr>
            <a:r>
              <a:rPr lang="en-US" altLang="zh-CN" sz="4800" b="1" dirty="0">
                <a:solidFill>
                  <a:srgbClr val="FFFF00"/>
                </a:solidFill>
                <a:latin typeface="+mn-lt"/>
                <a:ea typeface="黑体" pitchFamily="49" charset="-122"/>
              </a:rPr>
              <a:t>《</a:t>
            </a:r>
            <a:r>
              <a:rPr lang="zh-CN" altLang="en-US" sz="4800" b="1" dirty="0">
                <a:solidFill>
                  <a:srgbClr val="FFFF00"/>
                </a:solidFill>
                <a:latin typeface="+mn-lt"/>
                <a:ea typeface="黑体" pitchFamily="49" charset="-122"/>
              </a:rPr>
              <a:t>高等热力学</a:t>
            </a:r>
            <a:r>
              <a:rPr lang="en-US" altLang="zh-CN" sz="4800" b="1" dirty="0">
                <a:solidFill>
                  <a:srgbClr val="FFFF00"/>
                </a:solidFill>
                <a:latin typeface="+mn-lt"/>
                <a:ea typeface="黑体" pitchFamily="49" charset="-122"/>
              </a:rPr>
              <a:t>》</a:t>
            </a:r>
            <a:r>
              <a:rPr lang="zh-CN" altLang="en-US" sz="4800" b="1" dirty="0">
                <a:solidFill>
                  <a:srgbClr val="FFFF00"/>
                </a:solidFill>
                <a:latin typeface="+mn-lt"/>
                <a:ea typeface="黑体" pitchFamily="49" charset="-122"/>
              </a:rPr>
              <a:t>答疑安排</a:t>
            </a:r>
            <a:endParaRPr lang="en-US" altLang="zh-CN" sz="4800" b="1" dirty="0">
              <a:solidFill>
                <a:srgbClr val="FFFF00"/>
              </a:solidFill>
              <a:latin typeface="+mn-lt"/>
              <a:ea typeface="黑体" pitchFamily="49" charset="-122"/>
            </a:endParaRPr>
          </a:p>
          <a:p>
            <a:pPr>
              <a:defRPr/>
            </a:pPr>
            <a:endParaRPr lang="en-US" altLang="zh-CN" sz="4800" b="1" dirty="0">
              <a:solidFill>
                <a:schemeClr val="bg1"/>
              </a:solidFill>
              <a:latin typeface="+mn-lt"/>
            </a:endParaRPr>
          </a:p>
          <a:p>
            <a:pPr>
              <a:defRPr/>
            </a:pPr>
            <a:r>
              <a:rPr lang="en-US" sz="4400" b="1" u="sng" dirty="0" smtClean="0">
                <a:solidFill>
                  <a:schemeClr val="bg1"/>
                </a:solidFill>
                <a:latin typeface="Times New Roman" pitchFamily="18" charset="0"/>
                <a:cs typeface="Times New Roman" pitchFamily="18" charset="0"/>
              </a:rPr>
              <a:t>1月3日</a:t>
            </a:r>
            <a:r>
              <a:rPr lang="zh-CN" altLang="en-US" sz="4400" b="1" dirty="0" smtClean="0">
                <a:solidFill>
                  <a:schemeClr val="bg1"/>
                </a:solidFill>
                <a:latin typeface="Times New Roman" pitchFamily="18" charset="0"/>
                <a:cs typeface="Times New Roman" pitchFamily="18" charset="0"/>
              </a:rPr>
              <a:t>，</a:t>
            </a:r>
            <a:r>
              <a:rPr lang="en-US" altLang="zh-CN" sz="4400" b="1" dirty="0" smtClean="0">
                <a:solidFill>
                  <a:schemeClr val="bg1"/>
                </a:solidFill>
                <a:latin typeface="Times New Roman" pitchFamily="18" charset="0"/>
                <a:cs typeface="Times New Roman" pitchFamily="18" charset="0"/>
              </a:rPr>
              <a:t>9:50-12:15</a:t>
            </a:r>
            <a:r>
              <a:rPr lang="en-US" sz="4400" b="1" dirty="0" smtClean="0">
                <a:solidFill>
                  <a:schemeClr val="bg1"/>
                </a:solidFill>
                <a:latin typeface="Times New Roman" pitchFamily="18" charset="0"/>
                <a:cs typeface="Times New Roman" pitchFamily="18" charset="0"/>
              </a:rPr>
              <a:t>，6A414</a:t>
            </a:r>
            <a:r>
              <a:rPr lang="zh-CN" altLang="en-US" sz="4400" b="1" dirty="0" smtClean="0">
                <a:solidFill>
                  <a:schemeClr val="bg1"/>
                </a:solidFill>
                <a:latin typeface="Times New Roman" pitchFamily="18" charset="0"/>
                <a:cs typeface="Times New Roman" pitchFamily="18" charset="0"/>
              </a:rPr>
              <a:t>，也是交专题报告的最后时限</a:t>
            </a:r>
            <a:r>
              <a:rPr lang="en-US" sz="4400" b="1" dirty="0">
                <a:solidFill>
                  <a:schemeClr val="bg1"/>
                </a:solidFill>
                <a:latin typeface="Times New Roman" pitchFamily="18" charset="0"/>
                <a:cs typeface="Times New Roman" pitchFamily="18" charset="0"/>
              </a:rPr>
              <a:t/>
            </a:r>
            <a:br>
              <a:rPr lang="en-US" sz="4400" b="1" dirty="0">
                <a:solidFill>
                  <a:schemeClr val="bg1"/>
                </a:solidFill>
                <a:latin typeface="Times New Roman" pitchFamily="18" charset="0"/>
                <a:cs typeface="Times New Roman" pitchFamily="18" charset="0"/>
              </a:rPr>
            </a:br>
            <a:endParaRPr lang="en-US" sz="4400" b="1" dirty="0">
              <a:solidFill>
                <a:schemeClr val="bg1"/>
              </a:solidFill>
              <a:latin typeface="Times New Roman" pitchFamily="18" charset="0"/>
              <a:cs typeface="Times New Roman" pitchFamily="18" charset="0"/>
            </a:endParaRPr>
          </a:p>
          <a:p>
            <a:pPr>
              <a:defRPr/>
            </a:pPr>
            <a:r>
              <a:rPr lang="en-US" sz="4400" b="1" u="sng" dirty="0">
                <a:solidFill>
                  <a:schemeClr val="bg1"/>
                </a:solidFill>
                <a:latin typeface="Times New Roman" pitchFamily="18" charset="0"/>
                <a:cs typeface="Times New Roman" pitchFamily="18" charset="0"/>
              </a:rPr>
              <a:t>1</a:t>
            </a:r>
            <a:r>
              <a:rPr lang="en-US" sz="4400" b="1" u="sng" dirty="0" smtClean="0">
                <a:solidFill>
                  <a:schemeClr val="bg1"/>
                </a:solidFill>
                <a:latin typeface="Times New Roman" pitchFamily="18" charset="0"/>
                <a:cs typeface="Times New Roman" pitchFamily="18" charset="0"/>
              </a:rPr>
              <a:t>月7日</a:t>
            </a:r>
            <a:r>
              <a:rPr lang="en-US" sz="4400" b="1" dirty="0" smtClean="0">
                <a:solidFill>
                  <a:schemeClr val="bg1"/>
                </a:solidFill>
                <a:latin typeface="Times New Roman" pitchFamily="18" charset="0"/>
                <a:cs typeface="Times New Roman" pitchFamily="18" charset="0"/>
              </a:rPr>
              <a:t> 8:30-11:30，14:00-17:00</a:t>
            </a:r>
            <a:r>
              <a:rPr lang="en-US" sz="4400" b="1" dirty="0">
                <a:solidFill>
                  <a:schemeClr val="bg1"/>
                </a:solidFill>
                <a:latin typeface="Times New Roman" pitchFamily="18" charset="0"/>
                <a:cs typeface="Times New Roman" pitchFamily="18" charset="0"/>
              </a:rPr>
              <a:t>，地点</a:t>
            </a:r>
            <a:r>
              <a:rPr lang="zh-CN" altLang="en-US" sz="4400" b="1" dirty="0" smtClean="0">
                <a:solidFill>
                  <a:schemeClr val="bg1"/>
                </a:solidFill>
                <a:latin typeface="Times New Roman" pitchFamily="18" charset="0"/>
                <a:cs typeface="Times New Roman" pitchFamily="18" charset="0"/>
              </a:rPr>
              <a:t>：热能系工程热物理研究所</a:t>
            </a:r>
            <a:r>
              <a:rPr lang="en-US" altLang="zh-CN" sz="4400" b="1" dirty="0" smtClean="0">
                <a:solidFill>
                  <a:schemeClr val="bg1"/>
                </a:solidFill>
                <a:latin typeface="Times New Roman" pitchFamily="18" charset="0"/>
                <a:cs typeface="Times New Roman" pitchFamily="18" charset="0"/>
              </a:rPr>
              <a:t>A105</a:t>
            </a:r>
            <a:br>
              <a:rPr lang="en-US" altLang="zh-CN" sz="4400" b="1" dirty="0" smtClean="0">
                <a:solidFill>
                  <a:schemeClr val="bg1"/>
                </a:solidFill>
                <a:latin typeface="Times New Roman" pitchFamily="18" charset="0"/>
                <a:cs typeface="Times New Roman" pitchFamily="18" charset="0"/>
              </a:rPr>
            </a:br>
            <a:r>
              <a:rPr lang="en-US" sz="4400" b="1" dirty="0">
                <a:solidFill>
                  <a:schemeClr val="bg1"/>
                </a:solidFill>
                <a:latin typeface="Times New Roman" pitchFamily="18" charset="0"/>
                <a:cs typeface="Times New Roman" pitchFamily="18" charset="0"/>
              </a:rPr>
              <a:t/>
            </a:r>
            <a:br>
              <a:rPr lang="en-US" sz="4400" b="1" dirty="0">
                <a:solidFill>
                  <a:schemeClr val="bg1"/>
                </a:solidFill>
                <a:latin typeface="Times New Roman" pitchFamily="18" charset="0"/>
                <a:cs typeface="Times New Roman" pitchFamily="18" charset="0"/>
              </a:rPr>
            </a:br>
            <a:endParaRPr lang="zh-CN" altLang="en-US" sz="4400" b="1" dirty="0">
              <a:solidFill>
                <a:schemeClr val="bg1"/>
              </a:solidFill>
              <a:latin typeface="Times New Roman" pitchFamily="18" charset="0"/>
              <a:cs typeface="Times New Roman" pitchFamily="18" charset="0"/>
            </a:endParaRPr>
          </a:p>
        </p:txBody>
      </p:sp>
    </p:spTree>
  </p:cSld>
  <p:clrMapOvr>
    <a:masterClrMapping/>
  </p:clrMapOvr>
  <p:transition spd="med">
    <p:blinds dir="vert"/>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3"/>
          <p:cNvSpPr>
            <a:spLocks noGrp="1"/>
          </p:cNvSpPr>
          <p:nvPr>
            <p:ph type="sldNum" sz="quarter" idx="12"/>
          </p:nvPr>
        </p:nvSpPr>
        <p:spPr>
          <a:noFill/>
        </p:spPr>
        <p:txBody>
          <a:bodyPr/>
          <a:lstStyle/>
          <a:p>
            <a:fld id="{2F307969-8A18-4727-86D3-CAF5A30D15DA}" type="slidenum">
              <a:rPr lang="en-US" altLang="zh-CN" smtClean="0"/>
              <a:pPr/>
              <a:t>71</a:t>
            </a:fld>
            <a:endParaRPr lang="en-US" altLang="zh-CN" smtClean="0"/>
          </a:p>
        </p:txBody>
      </p:sp>
      <p:sp>
        <p:nvSpPr>
          <p:cNvPr id="77826" name="Text Box 2"/>
          <p:cNvSpPr txBox="1">
            <a:spLocks noChangeArrowheads="1"/>
          </p:cNvSpPr>
          <p:nvPr/>
        </p:nvSpPr>
        <p:spPr bwMode="auto">
          <a:xfrm>
            <a:off x="1908175" y="1484313"/>
            <a:ext cx="5264150" cy="1311275"/>
          </a:xfrm>
          <a:prstGeom prst="rect">
            <a:avLst/>
          </a:prstGeom>
          <a:solidFill>
            <a:schemeClr val="tx2"/>
          </a:solidFill>
          <a:ln w="9525">
            <a:noFill/>
            <a:miter lim="800000"/>
            <a:headEnd/>
            <a:tailEnd/>
          </a:ln>
        </p:spPr>
        <p:txBody>
          <a:bodyPr wrap="none">
            <a:spAutoFit/>
          </a:bodyPr>
          <a:lstStyle/>
          <a:p>
            <a:r>
              <a:rPr lang="zh-CN" altLang="en-US" sz="8000">
                <a:solidFill>
                  <a:srgbClr val="D2DC08"/>
                </a:solidFill>
                <a:latin typeface="华文琥珀" pitchFamily="2" charset="-122"/>
                <a:ea typeface="华文琥珀" pitchFamily="2" charset="-122"/>
              </a:rPr>
              <a:t>新年快乐！</a:t>
            </a:r>
          </a:p>
        </p:txBody>
      </p:sp>
      <p:sp>
        <p:nvSpPr>
          <p:cNvPr id="77828" name="Text Box 4"/>
          <p:cNvSpPr txBox="1">
            <a:spLocks noChangeArrowheads="1"/>
          </p:cNvSpPr>
          <p:nvPr/>
        </p:nvSpPr>
        <p:spPr bwMode="auto">
          <a:xfrm>
            <a:off x="457200" y="3429000"/>
            <a:ext cx="9140825" cy="914400"/>
          </a:xfrm>
          <a:prstGeom prst="rect">
            <a:avLst/>
          </a:prstGeom>
          <a:noFill/>
          <a:ln w="9525">
            <a:noFill/>
            <a:miter lim="800000"/>
            <a:headEnd/>
            <a:tailEnd/>
          </a:ln>
        </p:spPr>
        <p:txBody>
          <a:bodyPr wrap="none">
            <a:spAutoFit/>
          </a:bodyPr>
          <a:lstStyle/>
          <a:p>
            <a:r>
              <a:rPr lang="zh-CN" altLang="en-US" sz="5400" b="1">
                <a:solidFill>
                  <a:srgbClr val="D2DC08"/>
                </a:solidFill>
                <a:latin typeface="楷体_GB2312" pitchFamily="49" charset="-122"/>
                <a:ea typeface="楷体_GB2312" pitchFamily="49" charset="-122"/>
              </a:rPr>
              <a:t>祝大家期末考试取得好成绩！</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grpId="0" nodeType="clickEffect">
                                  <p:stCondLst>
                                    <p:cond delay="0"/>
                                  </p:stCondLst>
                                  <p:childTnLst>
                                    <p:set>
                                      <p:cBhvr>
                                        <p:cTn id="6" dur="1" fill="hold">
                                          <p:stCondLst>
                                            <p:cond delay="0"/>
                                          </p:stCondLst>
                                        </p:cTn>
                                        <p:tgtEl>
                                          <p:spTgt spid="77826"/>
                                        </p:tgtEl>
                                        <p:attrNameLst>
                                          <p:attrName>style.visibility</p:attrName>
                                        </p:attrNameLst>
                                      </p:cBhvr>
                                      <p:to>
                                        <p:strVal val="visible"/>
                                      </p:to>
                                    </p:set>
                                    <p:anim calcmode="lin" valueType="num">
                                      <p:cBhvr>
                                        <p:cTn id="7" dur="5000" fill="hold"/>
                                        <p:tgtEl>
                                          <p:spTgt spid="77826"/>
                                        </p:tgtEl>
                                        <p:attrNameLst>
                                          <p:attrName>ppt_w</p:attrName>
                                        </p:attrNameLst>
                                      </p:cBhvr>
                                      <p:tavLst>
                                        <p:tav tm="0" fmla="#ppt_w*sin(2.5*pi*$)">
                                          <p:val>
                                            <p:fltVal val="0"/>
                                          </p:val>
                                        </p:tav>
                                        <p:tav tm="100000">
                                          <p:val>
                                            <p:fltVal val="1"/>
                                          </p:val>
                                        </p:tav>
                                      </p:tavLst>
                                    </p:anim>
                                    <p:anim calcmode="lin" valueType="num">
                                      <p:cBhvr>
                                        <p:cTn id="8" dur="5000" fill="hold"/>
                                        <p:tgtEl>
                                          <p:spTgt spid="77826"/>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9" presetClass="entr" presetSubtype="10" fill="hold" grpId="0" nodeType="clickEffect">
                                  <p:stCondLst>
                                    <p:cond delay="0"/>
                                  </p:stCondLst>
                                  <p:childTnLst>
                                    <p:set>
                                      <p:cBhvr>
                                        <p:cTn id="12" dur="1" fill="hold">
                                          <p:stCondLst>
                                            <p:cond delay="0"/>
                                          </p:stCondLst>
                                        </p:cTn>
                                        <p:tgtEl>
                                          <p:spTgt spid="77828"/>
                                        </p:tgtEl>
                                        <p:attrNameLst>
                                          <p:attrName>style.visibility</p:attrName>
                                        </p:attrNameLst>
                                      </p:cBhvr>
                                      <p:to>
                                        <p:strVal val="visible"/>
                                      </p:to>
                                    </p:set>
                                    <p:anim calcmode="lin" valueType="num">
                                      <p:cBhvr>
                                        <p:cTn id="13" dur="5000" fill="hold"/>
                                        <p:tgtEl>
                                          <p:spTgt spid="77828"/>
                                        </p:tgtEl>
                                        <p:attrNameLst>
                                          <p:attrName>ppt_w</p:attrName>
                                        </p:attrNameLst>
                                      </p:cBhvr>
                                      <p:tavLst>
                                        <p:tav tm="0" fmla="#ppt_w*sin(2.5*pi*$)">
                                          <p:val>
                                            <p:fltVal val="0"/>
                                          </p:val>
                                        </p:tav>
                                        <p:tav tm="100000">
                                          <p:val>
                                            <p:fltVal val="1"/>
                                          </p:val>
                                        </p:tav>
                                      </p:tavLst>
                                    </p:anim>
                                    <p:anim calcmode="lin" valueType="num">
                                      <p:cBhvr>
                                        <p:cTn id="14" dur="5000" fill="hold"/>
                                        <p:tgtEl>
                                          <p:spTgt spid="7782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animBg="1" autoUpdateAnimBg="0"/>
      <p:bldP spid="77828" grpId="0" autoUpdateAnimBg="0"/>
    </p:bldLst>
  </p:timing>
</p:sld>
</file>

<file path=ppt/theme/theme1.xml><?xml version="1.0" encoding="utf-8"?>
<a:theme xmlns:a="http://schemas.openxmlformats.org/drawingml/2006/main" name="6">
  <a:themeElements>
    <a:clrScheme name="6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fontScheme name="6">
      <a:majorFont>
        <a:latin typeface="楷体_GB2312"/>
        <a:ea typeface="楷体_GB2312"/>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6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clrMap bg1="lt1" tx1="dk1" bg2="lt2" tx2="dk2" accent1="accent1" accent2="accent2" accent3="accent3" accent4="accent4" accent5="accent5" accent6="accent6" hlink="hlink" folHlink="folHlink"/>
    </a:extraClrScheme>
    <a:extraClrScheme>
      <a:clrScheme name="6 2">
        <a:dk1>
          <a:srgbClr val="59582D"/>
        </a:dk1>
        <a:lt1>
          <a:srgbClr val="EAEAEA"/>
        </a:lt1>
        <a:dk2>
          <a:srgbClr val="666699"/>
        </a:dk2>
        <a:lt2>
          <a:srgbClr val="D9D9D9"/>
        </a:lt2>
        <a:accent1>
          <a:srgbClr val="CCECFF"/>
        </a:accent1>
        <a:accent2>
          <a:srgbClr val="B2D2C7"/>
        </a:accent2>
        <a:accent3>
          <a:srgbClr val="F3F3F3"/>
        </a:accent3>
        <a:accent4>
          <a:srgbClr val="4B4A25"/>
        </a:accent4>
        <a:accent5>
          <a:srgbClr val="E2F4FF"/>
        </a:accent5>
        <a:accent6>
          <a:srgbClr val="A1BEB4"/>
        </a:accent6>
        <a:hlink>
          <a:srgbClr val="993366"/>
        </a:hlink>
        <a:folHlink>
          <a:srgbClr val="92B9E0"/>
        </a:folHlink>
      </a:clrScheme>
      <a:clrMap bg1="lt1" tx1="dk1" bg2="lt2" tx2="dk2" accent1="accent1" accent2="accent2" accent3="accent3" accent4="accent4" accent5="accent5" accent6="accent6" hlink="hlink" folHlink="folHlink"/>
    </a:extraClrScheme>
    <a:extraClrScheme>
      <a:clrScheme name="6 3">
        <a:dk1>
          <a:srgbClr val="000099"/>
        </a:dk1>
        <a:lt1>
          <a:srgbClr val="FFFFCC"/>
        </a:lt1>
        <a:dk2>
          <a:srgbClr val="004000"/>
        </a:dk2>
        <a:lt2>
          <a:srgbClr val="FFD9B3"/>
        </a:lt2>
        <a:accent1>
          <a:srgbClr val="FFD9D9"/>
        </a:accent1>
        <a:accent2>
          <a:srgbClr val="DDDDDD"/>
        </a:accent2>
        <a:accent3>
          <a:srgbClr val="FFFFE2"/>
        </a:accent3>
        <a:accent4>
          <a:srgbClr val="000082"/>
        </a:accent4>
        <a:accent5>
          <a:srgbClr val="FFE9E9"/>
        </a:accent5>
        <a:accent6>
          <a:srgbClr val="C8C8C8"/>
        </a:accent6>
        <a:hlink>
          <a:srgbClr val="FF0000"/>
        </a:hlink>
        <a:folHlink>
          <a:srgbClr val="FFAB57"/>
        </a:folHlink>
      </a:clrScheme>
      <a:clrMap bg1="lt1" tx1="dk1" bg2="lt2" tx2="dk2" accent1="accent1" accent2="accent2" accent3="accent3" accent4="accent4" accent5="accent5" accent6="accent6" hlink="hlink" folHlink="folHlink"/>
    </a:extraClrScheme>
    <a:extraClrScheme>
      <a:clrScheme name="6 4">
        <a:dk1>
          <a:srgbClr val="000000"/>
        </a:dk1>
        <a:lt1>
          <a:srgbClr val="DCE8E2"/>
        </a:lt1>
        <a:dk2>
          <a:srgbClr val="0033CC"/>
        </a:dk2>
        <a:lt2>
          <a:srgbClr val="C4C4D8"/>
        </a:lt2>
        <a:accent1>
          <a:srgbClr val="FFFFFF"/>
        </a:accent1>
        <a:accent2>
          <a:srgbClr val="A9CFB1"/>
        </a:accent2>
        <a:accent3>
          <a:srgbClr val="EBF2EE"/>
        </a:accent3>
        <a:accent4>
          <a:srgbClr val="000000"/>
        </a:accent4>
        <a:accent5>
          <a:srgbClr val="FFFFFF"/>
        </a:accent5>
        <a:accent6>
          <a:srgbClr val="99BBA0"/>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6 5">
        <a:dk1>
          <a:srgbClr val="606090"/>
        </a:dk1>
        <a:lt1>
          <a:srgbClr val="E5FFFF"/>
        </a:lt1>
        <a:dk2>
          <a:srgbClr val="0000CC"/>
        </a:dk2>
        <a:lt2>
          <a:srgbClr val="91DAFF"/>
        </a:lt2>
        <a:accent1>
          <a:srgbClr val="EAEAEA"/>
        </a:accent1>
        <a:accent2>
          <a:srgbClr val="FFE2C5"/>
        </a:accent2>
        <a:accent3>
          <a:srgbClr val="F0FFFF"/>
        </a:accent3>
        <a:accent4>
          <a:srgbClr val="51517A"/>
        </a:accent4>
        <a:accent5>
          <a:srgbClr val="F3F3F3"/>
        </a:accent5>
        <a:accent6>
          <a:srgbClr val="E7CDB2"/>
        </a:accent6>
        <a:hlink>
          <a:srgbClr val="000000"/>
        </a:hlink>
        <a:folHlink>
          <a:srgbClr val="3DB77A"/>
        </a:folHlink>
      </a:clrScheme>
      <a:clrMap bg1="lt1" tx1="dk1" bg2="lt2" tx2="dk2" accent1="accent1" accent2="accent2" accent3="accent3" accent4="accent4" accent5="accent5" accent6="accent6" hlink="hlink" folHlink="folHlink"/>
    </a:extraClrScheme>
    <a:extraClrScheme>
      <a:clrScheme name="6 6">
        <a:dk1>
          <a:srgbClr val="CC0066"/>
        </a:dk1>
        <a:lt1>
          <a:srgbClr val="FFDDBB"/>
        </a:lt1>
        <a:dk2>
          <a:srgbClr val="000000"/>
        </a:dk2>
        <a:lt2>
          <a:srgbClr val="C0C0C0"/>
        </a:lt2>
        <a:accent1>
          <a:srgbClr val="FFFFCC"/>
        </a:accent1>
        <a:accent2>
          <a:srgbClr val="FFFFFF"/>
        </a:accent2>
        <a:accent3>
          <a:srgbClr val="FFEBDA"/>
        </a:accent3>
        <a:accent4>
          <a:srgbClr val="AE0056"/>
        </a:accent4>
        <a:accent5>
          <a:srgbClr val="FFFFE2"/>
        </a:accent5>
        <a:accent6>
          <a:srgbClr val="E7E7E7"/>
        </a:accent6>
        <a:hlink>
          <a:srgbClr val="0066CC"/>
        </a:hlink>
        <a:folHlink>
          <a:srgbClr val="8EB37D"/>
        </a:folHlink>
      </a:clrScheme>
      <a:clrMap bg1="lt1" tx1="dk1" bg2="lt2" tx2="dk2" accent1="accent1" accent2="accent2" accent3="accent3" accent4="accent4" accent5="accent5" accent6="accent6" hlink="hlink" folHlink="folHlink"/>
    </a:extraClrScheme>
    <a:extraClrScheme>
      <a:clrScheme name="6 7">
        <a:dk1>
          <a:srgbClr val="B60000"/>
        </a:dk1>
        <a:lt1>
          <a:srgbClr val="FFFF99"/>
        </a:lt1>
        <a:dk2>
          <a:srgbClr val="800000"/>
        </a:dk2>
        <a:lt2>
          <a:srgbClr val="FFFFFF"/>
        </a:lt2>
        <a:accent1>
          <a:srgbClr val="9888A4"/>
        </a:accent1>
        <a:accent2>
          <a:srgbClr val="A9335D"/>
        </a:accent2>
        <a:accent3>
          <a:srgbClr val="C0AAAA"/>
        </a:accent3>
        <a:accent4>
          <a:srgbClr val="DADA82"/>
        </a:accent4>
        <a:accent5>
          <a:srgbClr val="CAC3CF"/>
        </a:accent5>
        <a:accent6>
          <a:srgbClr val="992D53"/>
        </a:accent6>
        <a:hlink>
          <a:srgbClr val="CCECFF"/>
        </a:hlink>
        <a:folHlink>
          <a:srgbClr val="FF6600"/>
        </a:folHlink>
      </a:clrScheme>
      <a:clrMap bg1="dk2" tx1="lt1" bg2="dk1" tx2="lt2" accent1="accent1" accent2="accent2" accent3="accent3" accent4="accent4" accent5="accent5" accent6="accent6" hlink="hlink" folHlink="folHlink"/>
    </a:extraClrScheme>
    <a:extraClrScheme>
      <a:clrScheme name="6 8">
        <a:dk1>
          <a:srgbClr val="808080"/>
        </a:dk1>
        <a:lt1>
          <a:srgbClr val="FFFFFF"/>
        </a:lt1>
        <a:dk2>
          <a:srgbClr val="1C1C1C"/>
        </a:dk2>
        <a:lt2>
          <a:srgbClr val="FFFF66"/>
        </a:lt2>
        <a:accent1>
          <a:srgbClr val="9898BA"/>
        </a:accent1>
        <a:accent2>
          <a:srgbClr val="777777"/>
        </a:accent2>
        <a:accent3>
          <a:srgbClr val="ABABAB"/>
        </a:accent3>
        <a:accent4>
          <a:srgbClr val="DADADA"/>
        </a:accent4>
        <a:accent5>
          <a:srgbClr val="CACAD9"/>
        </a:accent5>
        <a:accent6>
          <a:srgbClr val="6B6B6B"/>
        </a:accent6>
        <a:hlink>
          <a:srgbClr val="CCFF99"/>
        </a:hlink>
        <a:folHlink>
          <a:srgbClr val="E436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Designs\6.pot</Template>
  <TotalTime>2902</TotalTime>
  <Words>5225</Words>
  <Application>Microsoft Office PowerPoint</Application>
  <PresentationFormat>全屏显示(4:3)</PresentationFormat>
  <Paragraphs>781</Paragraphs>
  <Slides>71</Slides>
  <Notes>1</Notes>
  <HiddenSlides>0</HiddenSlides>
  <MMClips>0</MMClips>
  <ScaleCrop>false</ScaleCrop>
  <HeadingPairs>
    <vt:vector size="6" baseType="variant">
      <vt:variant>
        <vt:lpstr>主题</vt:lpstr>
      </vt:variant>
      <vt:variant>
        <vt:i4>1</vt:i4>
      </vt:variant>
      <vt:variant>
        <vt:lpstr>嵌入 OLE 服务器</vt:lpstr>
      </vt:variant>
      <vt:variant>
        <vt:i4>4</vt:i4>
      </vt:variant>
      <vt:variant>
        <vt:lpstr>幻灯片标题</vt:lpstr>
      </vt:variant>
      <vt:variant>
        <vt:i4>71</vt:i4>
      </vt:variant>
    </vt:vector>
  </HeadingPairs>
  <TitlesOfParts>
    <vt:vector size="76" baseType="lpstr">
      <vt:lpstr>6</vt:lpstr>
      <vt:lpstr>Picture</vt:lpstr>
      <vt:lpstr>MathType 6.0 Equation</vt:lpstr>
      <vt:lpstr>Microsoft Word Picture</vt:lpstr>
      <vt:lpstr>Equation</vt:lpstr>
      <vt:lpstr>第十章 统计热力学简介</vt:lpstr>
      <vt:lpstr>主要内容</vt:lpstr>
      <vt:lpstr>幻灯片 3</vt:lpstr>
      <vt:lpstr>什么是统计热力学</vt:lpstr>
      <vt:lpstr>经典热力学方法及其局限性 </vt:lpstr>
      <vt:lpstr>量子力学与统计热力学 </vt:lpstr>
      <vt:lpstr>统计方法与统计系统的分类</vt:lpstr>
      <vt:lpstr>统计方法与统计系统的分类</vt:lpstr>
      <vt:lpstr>全同粒子的可区分性</vt:lpstr>
      <vt:lpstr>幻灯片 10</vt:lpstr>
      <vt:lpstr>基本概念</vt:lpstr>
      <vt:lpstr>一维自由平动子 </vt:lpstr>
      <vt:lpstr>三维自由平动子 </vt:lpstr>
      <vt:lpstr>三维自由平动子的简并度</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lpstr>幻灯片 61</vt:lpstr>
      <vt:lpstr>幻灯片 62</vt:lpstr>
      <vt:lpstr>幻灯片 63</vt:lpstr>
      <vt:lpstr>幻灯片 64</vt:lpstr>
      <vt:lpstr>幻灯片 65</vt:lpstr>
      <vt:lpstr>幻灯片 66</vt:lpstr>
      <vt:lpstr>幻灯片 67</vt:lpstr>
      <vt:lpstr>幻灯片 68</vt:lpstr>
      <vt:lpstr>幻灯片 69</vt:lpstr>
      <vt:lpstr>幻灯片 70</vt:lpstr>
      <vt:lpstr>幻灯片 71</vt:lpstr>
    </vt:vector>
  </TitlesOfParts>
  <Company>tsinghua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第十章 统计热力学简介</dc:title>
  <dc:creator>yyduan</dc:creator>
  <cp:lastModifiedBy>yyduan</cp:lastModifiedBy>
  <cp:revision>207</cp:revision>
  <dcterms:created xsi:type="dcterms:W3CDTF">2004-08-16T00:28:18Z</dcterms:created>
  <dcterms:modified xsi:type="dcterms:W3CDTF">2013-12-26T15:13:39Z</dcterms:modified>
</cp:coreProperties>
</file>