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98" r:id="rId2"/>
  </p:sldMasterIdLst>
  <p:notesMasterIdLst>
    <p:notesMasterId r:id="rId99"/>
  </p:notesMasterIdLst>
  <p:handoutMasterIdLst>
    <p:handoutMasterId r:id="rId100"/>
  </p:handoutMasterIdLst>
  <p:sldIdLst>
    <p:sldId id="497" r:id="rId3"/>
    <p:sldId id="498" r:id="rId4"/>
    <p:sldId id="501" r:id="rId5"/>
    <p:sldId id="502" r:id="rId6"/>
    <p:sldId id="503" r:id="rId7"/>
    <p:sldId id="499" r:id="rId8"/>
    <p:sldId id="500" r:id="rId9"/>
    <p:sldId id="458" r:id="rId10"/>
    <p:sldId id="381" r:id="rId11"/>
    <p:sldId id="336" r:id="rId12"/>
    <p:sldId id="382" r:id="rId13"/>
    <p:sldId id="338" r:id="rId14"/>
    <p:sldId id="339" r:id="rId15"/>
    <p:sldId id="340" r:id="rId16"/>
    <p:sldId id="341" r:id="rId17"/>
    <p:sldId id="383" r:id="rId18"/>
    <p:sldId id="424" r:id="rId19"/>
    <p:sldId id="343" r:id="rId20"/>
    <p:sldId id="344" r:id="rId21"/>
    <p:sldId id="418" r:id="rId22"/>
    <p:sldId id="448" r:id="rId23"/>
    <p:sldId id="449" r:id="rId24"/>
    <p:sldId id="464" r:id="rId25"/>
    <p:sldId id="345" r:id="rId26"/>
    <p:sldId id="420" r:id="rId27"/>
    <p:sldId id="421" r:id="rId28"/>
    <p:sldId id="422" r:id="rId29"/>
    <p:sldId id="423" r:id="rId30"/>
    <p:sldId id="346" r:id="rId31"/>
    <p:sldId id="347" r:id="rId32"/>
    <p:sldId id="425" r:id="rId33"/>
    <p:sldId id="426" r:id="rId34"/>
    <p:sldId id="427" r:id="rId35"/>
    <p:sldId id="428" r:id="rId36"/>
    <p:sldId id="454" r:id="rId37"/>
    <p:sldId id="348" r:id="rId38"/>
    <p:sldId id="349" r:id="rId39"/>
    <p:sldId id="350" r:id="rId40"/>
    <p:sldId id="465" r:id="rId41"/>
    <p:sldId id="351" r:id="rId42"/>
    <p:sldId id="352" r:id="rId43"/>
    <p:sldId id="353" r:id="rId44"/>
    <p:sldId id="354" r:id="rId45"/>
    <p:sldId id="430" r:id="rId46"/>
    <p:sldId id="431" r:id="rId47"/>
    <p:sldId id="432" r:id="rId48"/>
    <p:sldId id="433" r:id="rId49"/>
    <p:sldId id="447" r:id="rId50"/>
    <p:sldId id="435" r:id="rId51"/>
    <p:sldId id="453" r:id="rId52"/>
    <p:sldId id="436" r:id="rId53"/>
    <p:sldId id="437" r:id="rId54"/>
    <p:sldId id="452" r:id="rId55"/>
    <p:sldId id="486" r:id="rId56"/>
    <p:sldId id="487" r:id="rId57"/>
    <p:sldId id="438" r:id="rId58"/>
    <p:sldId id="439" r:id="rId59"/>
    <p:sldId id="440" r:id="rId60"/>
    <p:sldId id="441" r:id="rId61"/>
    <p:sldId id="355" r:id="rId62"/>
    <p:sldId id="356" r:id="rId63"/>
    <p:sldId id="357" r:id="rId64"/>
    <p:sldId id="443" r:id="rId65"/>
    <p:sldId id="444" r:id="rId66"/>
    <p:sldId id="358" r:id="rId67"/>
    <p:sldId id="359" r:id="rId68"/>
    <p:sldId id="360" r:id="rId69"/>
    <p:sldId id="466" r:id="rId70"/>
    <p:sldId id="468" r:id="rId71"/>
    <p:sldId id="469" r:id="rId72"/>
    <p:sldId id="470" r:id="rId73"/>
    <p:sldId id="471" r:id="rId74"/>
    <p:sldId id="472" r:id="rId75"/>
    <p:sldId id="446" r:id="rId76"/>
    <p:sldId id="493" r:id="rId77"/>
    <p:sldId id="489" r:id="rId78"/>
    <p:sldId id="491" r:id="rId79"/>
    <p:sldId id="490" r:id="rId80"/>
    <p:sldId id="473" r:id="rId81"/>
    <p:sldId id="474" r:id="rId82"/>
    <p:sldId id="475" r:id="rId83"/>
    <p:sldId id="476" r:id="rId84"/>
    <p:sldId id="477" r:id="rId85"/>
    <p:sldId id="478" r:id="rId86"/>
    <p:sldId id="479" r:id="rId87"/>
    <p:sldId id="480" r:id="rId88"/>
    <p:sldId id="481" r:id="rId89"/>
    <p:sldId id="484" r:id="rId90"/>
    <p:sldId id="482" r:id="rId91"/>
    <p:sldId id="483" r:id="rId92"/>
    <p:sldId id="494" r:id="rId93"/>
    <p:sldId id="495" r:id="rId94"/>
    <p:sldId id="496" r:id="rId95"/>
    <p:sldId id="451" r:id="rId96"/>
    <p:sldId id="485" r:id="rId97"/>
    <p:sldId id="445" r:id="rId98"/>
  </p:sldIdLst>
  <p:sldSz cx="9144000" cy="6858000" type="screen4x3"/>
  <p:notesSz cx="7099300" cy="10234613"/>
  <p:defaultTextStyle>
    <a:defPPr>
      <a:defRPr lang="en-US"/>
    </a:defPPr>
    <a:lvl1pPr algn="l" rtl="0" eaLnBrk="0" fontAlgn="base" hangingPunct="0">
      <a:spcBef>
        <a:spcPct val="0"/>
      </a:spcBef>
      <a:spcAft>
        <a:spcPct val="0"/>
      </a:spcAft>
      <a:defRPr sz="4000" b="1" kern="1200">
        <a:solidFill>
          <a:srgbClr val="0000FF"/>
        </a:solidFill>
        <a:latin typeface="Arial" charset="0"/>
        <a:ea typeface="楷体_GB2312" charset="0"/>
        <a:cs typeface="楷体_GB2312" charset="0"/>
      </a:defRPr>
    </a:lvl1pPr>
    <a:lvl2pPr marL="457200" algn="l" rtl="0" eaLnBrk="0" fontAlgn="base" hangingPunct="0">
      <a:spcBef>
        <a:spcPct val="0"/>
      </a:spcBef>
      <a:spcAft>
        <a:spcPct val="0"/>
      </a:spcAft>
      <a:defRPr sz="4000" b="1" kern="1200">
        <a:solidFill>
          <a:srgbClr val="0000FF"/>
        </a:solidFill>
        <a:latin typeface="Arial" charset="0"/>
        <a:ea typeface="楷体_GB2312" charset="0"/>
        <a:cs typeface="楷体_GB2312" charset="0"/>
      </a:defRPr>
    </a:lvl2pPr>
    <a:lvl3pPr marL="914400" algn="l" rtl="0" eaLnBrk="0" fontAlgn="base" hangingPunct="0">
      <a:spcBef>
        <a:spcPct val="0"/>
      </a:spcBef>
      <a:spcAft>
        <a:spcPct val="0"/>
      </a:spcAft>
      <a:defRPr sz="4000" b="1" kern="1200">
        <a:solidFill>
          <a:srgbClr val="0000FF"/>
        </a:solidFill>
        <a:latin typeface="Arial" charset="0"/>
        <a:ea typeface="楷体_GB2312" charset="0"/>
        <a:cs typeface="楷体_GB2312" charset="0"/>
      </a:defRPr>
    </a:lvl3pPr>
    <a:lvl4pPr marL="1371600" algn="l" rtl="0" eaLnBrk="0" fontAlgn="base" hangingPunct="0">
      <a:spcBef>
        <a:spcPct val="0"/>
      </a:spcBef>
      <a:spcAft>
        <a:spcPct val="0"/>
      </a:spcAft>
      <a:defRPr sz="4000" b="1" kern="1200">
        <a:solidFill>
          <a:srgbClr val="0000FF"/>
        </a:solidFill>
        <a:latin typeface="Arial" charset="0"/>
        <a:ea typeface="楷体_GB2312" charset="0"/>
        <a:cs typeface="楷体_GB2312" charset="0"/>
      </a:defRPr>
    </a:lvl4pPr>
    <a:lvl5pPr marL="1828800" algn="l" rtl="0" eaLnBrk="0" fontAlgn="base" hangingPunct="0">
      <a:spcBef>
        <a:spcPct val="0"/>
      </a:spcBef>
      <a:spcAft>
        <a:spcPct val="0"/>
      </a:spcAft>
      <a:defRPr sz="4000" b="1" kern="1200">
        <a:solidFill>
          <a:srgbClr val="0000FF"/>
        </a:solidFill>
        <a:latin typeface="Arial" charset="0"/>
        <a:ea typeface="楷体_GB2312" charset="0"/>
        <a:cs typeface="楷体_GB2312" charset="0"/>
      </a:defRPr>
    </a:lvl5pPr>
    <a:lvl6pPr marL="2286000" algn="l" defTabSz="457200" rtl="0" eaLnBrk="1" latinLnBrk="0" hangingPunct="1">
      <a:defRPr sz="4000" b="1" kern="1200">
        <a:solidFill>
          <a:srgbClr val="0000FF"/>
        </a:solidFill>
        <a:latin typeface="Arial" charset="0"/>
        <a:ea typeface="楷体_GB2312" charset="0"/>
        <a:cs typeface="楷体_GB2312" charset="0"/>
      </a:defRPr>
    </a:lvl6pPr>
    <a:lvl7pPr marL="2743200" algn="l" defTabSz="457200" rtl="0" eaLnBrk="1" latinLnBrk="0" hangingPunct="1">
      <a:defRPr sz="4000" b="1" kern="1200">
        <a:solidFill>
          <a:srgbClr val="0000FF"/>
        </a:solidFill>
        <a:latin typeface="Arial" charset="0"/>
        <a:ea typeface="楷体_GB2312" charset="0"/>
        <a:cs typeface="楷体_GB2312" charset="0"/>
      </a:defRPr>
    </a:lvl7pPr>
    <a:lvl8pPr marL="3200400" algn="l" defTabSz="457200" rtl="0" eaLnBrk="1" latinLnBrk="0" hangingPunct="1">
      <a:defRPr sz="4000" b="1" kern="1200">
        <a:solidFill>
          <a:srgbClr val="0000FF"/>
        </a:solidFill>
        <a:latin typeface="Arial" charset="0"/>
        <a:ea typeface="楷体_GB2312" charset="0"/>
        <a:cs typeface="楷体_GB2312" charset="0"/>
      </a:defRPr>
    </a:lvl8pPr>
    <a:lvl9pPr marL="3657600" algn="l" defTabSz="457200" rtl="0" eaLnBrk="1" latinLnBrk="0" hangingPunct="1">
      <a:defRPr sz="4000" b="1" kern="1200">
        <a:solidFill>
          <a:srgbClr val="0000FF"/>
        </a:solidFill>
        <a:latin typeface="Arial" charset="0"/>
        <a:ea typeface="楷体_GB2312" charset="0"/>
        <a:cs typeface="楷体_GB2312"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800000"/>
    <a:srgbClr val="40BFD9"/>
    <a:srgbClr val="7BC3F7"/>
    <a:srgbClr val="F4BA4A"/>
    <a:srgbClr val="CD5134"/>
    <a:srgbClr val="3333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8" autoAdjust="0"/>
    <p:restoredTop sz="86151" autoAdjust="0"/>
  </p:normalViewPr>
  <p:slideViewPr>
    <p:cSldViewPr snapToGrid="0" snapToObjects="1">
      <p:cViewPr varScale="1">
        <p:scale>
          <a:sx n="56" d="100"/>
          <a:sy n="56" d="100"/>
        </p:scale>
        <p:origin x="1578" y="30"/>
      </p:cViewPr>
      <p:guideLst>
        <p:guide orient="horz" pos="2160"/>
        <p:guide pos="2880"/>
      </p:guideLst>
    </p:cSldViewPr>
  </p:slideViewPr>
  <p:outlineViewPr>
    <p:cViewPr>
      <p:scale>
        <a:sx n="35" d="100"/>
        <a:sy n="35"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viewProps" Target="view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4"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2450"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defTabSz="990600" eaLnBrk="0" hangingPunct="0">
              <a:lnSpc>
                <a:spcPct val="100000"/>
              </a:lnSpc>
              <a:spcBef>
                <a:spcPct val="0"/>
              </a:spcBef>
              <a:buFontTx/>
              <a:buNone/>
              <a:defRPr sz="1300" b="0">
                <a:solidFill>
                  <a:schemeClr val="tx1"/>
                </a:solidFill>
                <a:latin typeface="Times"/>
                <a:ea typeface="宋体" pitchFamily="2" charset="-122"/>
                <a:cs typeface="+mn-cs"/>
              </a:defRPr>
            </a:lvl1pPr>
          </a:lstStyle>
          <a:p>
            <a:pPr>
              <a:defRPr/>
            </a:pPr>
            <a:endParaRPr lang="zh-CN" altLang="en-US"/>
          </a:p>
        </p:txBody>
      </p:sp>
      <p:sp>
        <p:nvSpPr>
          <p:cNvPr id="232451"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algn="r" defTabSz="990600" eaLnBrk="0" hangingPunct="0">
              <a:lnSpc>
                <a:spcPct val="100000"/>
              </a:lnSpc>
              <a:spcBef>
                <a:spcPct val="0"/>
              </a:spcBef>
              <a:buFontTx/>
              <a:buNone/>
              <a:defRPr sz="1300" b="0">
                <a:solidFill>
                  <a:schemeClr val="tx1"/>
                </a:solidFill>
                <a:latin typeface="Times"/>
                <a:ea typeface="宋体" pitchFamily="2" charset="-122"/>
                <a:cs typeface="+mn-cs"/>
              </a:defRPr>
            </a:lvl1pPr>
          </a:lstStyle>
          <a:p>
            <a:pPr>
              <a:defRPr/>
            </a:pPr>
            <a:endParaRPr lang="en-US" altLang="zh-CN"/>
          </a:p>
        </p:txBody>
      </p:sp>
      <p:sp>
        <p:nvSpPr>
          <p:cNvPr id="232452"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defTabSz="990600" eaLnBrk="0" hangingPunct="0">
              <a:lnSpc>
                <a:spcPct val="100000"/>
              </a:lnSpc>
              <a:spcBef>
                <a:spcPct val="0"/>
              </a:spcBef>
              <a:buFontTx/>
              <a:buNone/>
              <a:defRPr sz="1300" b="0">
                <a:solidFill>
                  <a:schemeClr val="tx1"/>
                </a:solidFill>
                <a:latin typeface="Times"/>
                <a:ea typeface="宋体" pitchFamily="2" charset="-122"/>
                <a:cs typeface="+mn-cs"/>
              </a:defRPr>
            </a:lvl1pPr>
          </a:lstStyle>
          <a:p>
            <a:pPr>
              <a:defRPr/>
            </a:pPr>
            <a:endParaRPr lang="en-US" altLang="zh-CN"/>
          </a:p>
        </p:txBody>
      </p:sp>
      <p:sp>
        <p:nvSpPr>
          <p:cNvPr id="232453"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algn="r" defTabSz="990600">
              <a:defRPr sz="1300" b="0">
                <a:solidFill>
                  <a:schemeClr val="tx1"/>
                </a:solidFill>
                <a:latin typeface="Times" charset="0"/>
                <a:ea typeface="宋体" charset="0"/>
                <a:cs typeface="宋体" charset="0"/>
              </a:defRPr>
            </a:lvl1pPr>
          </a:lstStyle>
          <a:p>
            <a:fld id="{F4290780-03DB-464E-8349-DAFF5DC5D82A}" type="slidenum">
              <a:rPr lang="zh-CN" altLang="en-US"/>
              <a:pPr/>
              <a:t>‹#›</a:t>
            </a:fld>
            <a:endParaRPr lang="en-US" altLang="zh-CN"/>
          </a:p>
        </p:txBody>
      </p:sp>
    </p:spTree>
    <p:extLst>
      <p:ext uri="{BB962C8B-B14F-4D97-AF65-F5344CB8AC3E}">
        <p14:creationId xmlns:p14="http://schemas.microsoft.com/office/powerpoint/2010/main" val="19710615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defTabSz="990600" eaLnBrk="0" hangingPunct="0">
              <a:lnSpc>
                <a:spcPct val="100000"/>
              </a:lnSpc>
              <a:spcBef>
                <a:spcPct val="0"/>
              </a:spcBef>
              <a:buFontTx/>
              <a:buNone/>
              <a:defRPr sz="1300" b="0">
                <a:solidFill>
                  <a:schemeClr val="tx1"/>
                </a:solidFill>
                <a:latin typeface="Times"/>
                <a:ea typeface="宋体" pitchFamily="2" charset="-122"/>
                <a:cs typeface="+mn-cs"/>
              </a:defRPr>
            </a:lvl1pPr>
          </a:lstStyle>
          <a:p>
            <a:pPr>
              <a:defRPr/>
            </a:pPr>
            <a:endParaRPr lang="zh-CN" altLang="en-US"/>
          </a:p>
        </p:txBody>
      </p:sp>
      <p:sp>
        <p:nvSpPr>
          <p:cNvPr id="76803"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algn="r" defTabSz="990600" eaLnBrk="0" hangingPunct="0">
              <a:lnSpc>
                <a:spcPct val="100000"/>
              </a:lnSpc>
              <a:spcBef>
                <a:spcPct val="0"/>
              </a:spcBef>
              <a:buFontTx/>
              <a:buNone/>
              <a:defRPr sz="1300" b="0">
                <a:solidFill>
                  <a:schemeClr val="tx1"/>
                </a:solidFill>
                <a:latin typeface="Times"/>
                <a:ea typeface="宋体" pitchFamily="2" charset="-122"/>
                <a:cs typeface="+mn-cs"/>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76805"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6806"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defTabSz="990600" eaLnBrk="0" hangingPunct="0">
              <a:lnSpc>
                <a:spcPct val="100000"/>
              </a:lnSpc>
              <a:spcBef>
                <a:spcPct val="0"/>
              </a:spcBef>
              <a:buFontTx/>
              <a:buNone/>
              <a:defRPr sz="1300" b="0">
                <a:solidFill>
                  <a:schemeClr val="tx1"/>
                </a:solidFill>
                <a:latin typeface="Times"/>
                <a:ea typeface="宋体" pitchFamily="2" charset="-122"/>
                <a:cs typeface="+mn-cs"/>
              </a:defRPr>
            </a:lvl1pPr>
          </a:lstStyle>
          <a:p>
            <a:pPr>
              <a:defRPr/>
            </a:pPr>
            <a:endParaRPr lang="en-US" altLang="zh-CN"/>
          </a:p>
        </p:txBody>
      </p:sp>
      <p:sp>
        <p:nvSpPr>
          <p:cNvPr id="76807"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algn="r" defTabSz="990600">
              <a:defRPr sz="1300" b="0">
                <a:solidFill>
                  <a:schemeClr val="tx1"/>
                </a:solidFill>
                <a:latin typeface="Times" charset="0"/>
                <a:ea typeface="宋体" charset="0"/>
                <a:cs typeface="宋体" charset="0"/>
              </a:defRPr>
            </a:lvl1pPr>
          </a:lstStyle>
          <a:p>
            <a:fld id="{A3FAB13E-AB70-924F-AA02-A93F03E3B867}" type="slidenum">
              <a:rPr lang="zh-CN" altLang="en-US"/>
              <a:pPr/>
              <a:t>‹#›</a:t>
            </a:fld>
            <a:endParaRPr lang="en-US" altLang="zh-CN"/>
          </a:p>
        </p:txBody>
      </p:sp>
    </p:spTree>
    <p:extLst>
      <p:ext uri="{BB962C8B-B14F-4D97-AF65-F5344CB8AC3E}">
        <p14:creationId xmlns:p14="http://schemas.microsoft.com/office/powerpoint/2010/main" val="25539266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a:ea typeface="宋体" charset="0"/>
        <a:cs typeface="+mn-cs"/>
      </a:defRPr>
    </a:lvl1pPr>
    <a:lvl2pPr marL="457200" algn="l" rtl="0" eaLnBrk="0" fontAlgn="base" hangingPunct="0">
      <a:spcBef>
        <a:spcPct val="30000"/>
      </a:spcBef>
      <a:spcAft>
        <a:spcPct val="0"/>
      </a:spcAft>
      <a:defRPr sz="1200" kern="1200">
        <a:solidFill>
          <a:schemeClr val="tx1"/>
        </a:solidFill>
        <a:latin typeface="Times"/>
        <a:ea typeface="宋体" charset="0"/>
        <a:cs typeface="+mn-cs"/>
      </a:defRPr>
    </a:lvl2pPr>
    <a:lvl3pPr marL="914400" algn="l" rtl="0" eaLnBrk="0" fontAlgn="base" hangingPunct="0">
      <a:spcBef>
        <a:spcPct val="30000"/>
      </a:spcBef>
      <a:spcAft>
        <a:spcPct val="0"/>
      </a:spcAft>
      <a:defRPr sz="1200" kern="1200">
        <a:solidFill>
          <a:schemeClr val="tx1"/>
        </a:solidFill>
        <a:latin typeface="Times"/>
        <a:ea typeface="宋体" charset="0"/>
        <a:cs typeface="+mn-cs"/>
      </a:defRPr>
    </a:lvl3pPr>
    <a:lvl4pPr marL="1371600" algn="l" rtl="0" eaLnBrk="0" fontAlgn="base" hangingPunct="0">
      <a:spcBef>
        <a:spcPct val="30000"/>
      </a:spcBef>
      <a:spcAft>
        <a:spcPct val="0"/>
      </a:spcAft>
      <a:defRPr sz="1200" kern="1200">
        <a:solidFill>
          <a:schemeClr val="tx1"/>
        </a:solidFill>
        <a:latin typeface="Times"/>
        <a:ea typeface="宋体" charset="0"/>
        <a:cs typeface="+mn-cs"/>
      </a:defRPr>
    </a:lvl4pPr>
    <a:lvl5pPr marL="1828800" algn="l" rtl="0" eaLnBrk="0" fontAlgn="base" hangingPunct="0">
      <a:spcBef>
        <a:spcPct val="30000"/>
      </a:spcBef>
      <a:spcAft>
        <a:spcPct val="0"/>
      </a:spcAft>
      <a:defRPr sz="1200" kern="1200">
        <a:solidFill>
          <a:schemeClr val="tx1"/>
        </a:solidFill>
        <a:latin typeface="Times"/>
        <a:ea typeface="宋体"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F93C7BE6-6409-184A-A058-805B451FBBC9}" type="slidenum">
              <a:rPr lang="zh-CN" altLang="en-US" sz="1300"/>
              <a:pPr/>
              <a:t>10</a:t>
            </a:fld>
            <a:endParaRPr lang="en-US" altLang="zh-CN" sz="1300"/>
          </a:p>
        </p:txBody>
      </p:sp>
      <p:sp>
        <p:nvSpPr>
          <p:cNvPr id="12291" name="Rectangle 2"/>
          <p:cNvSpPr>
            <a:spLocks noGrp="1" noRot="1" noChangeAspect="1" noChangeArrowheads="1" noTextEdit="1"/>
          </p:cNvSpPr>
          <p:nvPr>
            <p:ph type="sldImg"/>
          </p:nvPr>
        </p:nvSpPr>
        <p:spPr>
          <a:xfrm>
            <a:off x="992188" y="768350"/>
            <a:ext cx="5114925" cy="3836988"/>
          </a:xfrm>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3583035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EC51F180-B92B-8645-A80E-8D9546541146}" type="slidenum">
              <a:rPr lang="zh-CN" altLang="en-US" sz="1300"/>
              <a:pPr/>
              <a:t>12</a:t>
            </a:fld>
            <a:endParaRPr lang="en-US" altLang="zh-CN" sz="1300"/>
          </a:p>
        </p:txBody>
      </p:sp>
      <p:sp>
        <p:nvSpPr>
          <p:cNvPr id="15363" name="Rectangle 2"/>
          <p:cNvSpPr>
            <a:spLocks noGrp="1" noRot="1" noChangeAspect="1" noChangeArrowheads="1" noTextEdit="1"/>
          </p:cNvSpPr>
          <p:nvPr>
            <p:ph type="sldImg"/>
          </p:nvPr>
        </p:nvSpPr>
        <p:spPr>
          <a:xfrm>
            <a:off x="992188" y="768350"/>
            <a:ext cx="5114925" cy="3836988"/>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254847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6AE302EC-9F1B-714C-8D08-DDEC25FF6428}" type="slidenum">
              <a:rPr lang="zh-CN" altLang="en-US" sz="1300"/>
              <a:pPr/>
              <a:t>13</a:t>
            </a:fld>
            <a:endParaRPr lang="en-US" altLang="zh-CN" sz="1300"/>
          </a:p>
        </p:txBody>
      </p:sp>
      <p:sp>
        <p:nvSpPr>
          <p:cNvPr id="17411" name="Rectangle 2"/>
          <p:cNvSpPr>
            <a:spLocks noGrp="1" noRot="1" noChangeAspect="1" noChangeArrowheads="1" noTextEdit="1"/>
          </p:cNvSpPr>
          <p:nvPr>
            <p:ph type="sldImg"/>
          </p:nvPr>
        </p:nvSpPr>
        <p:spPr>
          <a:xfrm>
            <a:off x="992188" y="768350"/>
            <a:ext cx="5114925" cy="3836988"/>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802034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FC523970-5AA3-3E42-B128-72BA6449CFB5}" type="slidenum">
              <a:rPr lang="zh-CN" altLang="en-US" sz="1300"/>
              <a:pPr/>
              <a:t>14</a:t>
            </a:fld>
            <a:endParaRPr lang="en-US" altLang="zh-CN" sz="1300"/>
          </a:p>
        </p:txBody>
      </p:sp>
      <p:sp>
        <p:nvSpPr>
          <p:cNvPr id="19459" name="Rectangle 2"/>
          <p:cNvSpPr>
            <a:spLocks noGrp="1" noRot="1" noChangeAspect="1" noChangeArrowheads="1" noTextEdit="1"/>
          </p:cNvSpPr>
          <p:nvPr>
            <p:ph type="sldImg"/>
          </p:nvPr>
        </p:nvSpPr>
        <p:spPr>
          <a:xfrm>
            <a:off x="992188" y="768350"/>
            <a:ext cx="5114925" cy="3836988"/>
          </a:xfrm>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3245705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AF3AFCDC-4D63-964F-BD0D-B2F013EFA464}" type="slidenum">
              <a:rPr lang="zh-CN" altLang="en-US" sz="1300"/>
              <a:pPr/>
              <a:t>15</a:t>
            </a:fld>
            <a:endParaRPr lang="en-US" altLang="zh-CN" sz="1300"/>
          </a:p>
        </p:txBody>
      </p:sp>
      <p:sp>
        <p:nvSpPr>
          <p:cNvPr id="21507" name="Rectangle 2"/>
          <p:cNvSpPr>
            <a:spLocks noGrp="1" noRot="1" noChangeAspect="1" noChangeArrowheads="1" noTextEdit="1"/>
          </p:cNvSpPr>
          <p:nvPr>
            <p:ph type="sldImg"/>
          </p:nvPr>
        </p:nvSpPr>
        <p:spPr>
          <a:xfrm>
            <a:off x="992188" y="768350"/>
            <a:ext cx="5114925" cy="3836988"/>
          </a:xfrm>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3471900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C1E07DAC-F615-634A-B00D-3DEBC49E6872}" type="slidenum">
              <a:rPr lang="zh-CN" altLang="en-US" sz="1300"/>
              <a:pPr/>
              <a:t>16</a:t>
            </a:fld>
            <a:endParaRPr lang="en-US" altLang="zh-CN" sz="1300"/>
          </a:p>
        </p:txBody>
      </p:sp>
      <p:sp>
        <p:nvSpPr>
          <p:cNvPr id="23555" name="Rectangle 2"/>
          <p:cNvSpPr>
            <a:spLocks noGrp="1" noRot="1" noChangeAspect="1" noChangeArrowheads="1" noTextEdit="1"/>
          </p:cNvSpPr>
          <p:nvPr>
            <p:ph type="sldImg"/>
          </p:nvPr>
        </p:nvSpPr>
        <p:spPr>
          <a:xfrm>
            <a:off x="992188" y="768350"/>
            <a:ext cx="5114925" cy="3836988"/>
          </a:xfrm>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7229863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9598FD05-D069-3148-B33F-70D121B92754}" type="slidenum">
              <a:rPr lang="zh-CN" altLang="en-US" sz="1300"/>
              <a:pPr/>
              <a:t>18</a:t>
            </a:fld>
            <a:endParaRPr lang="en-US" altLang="zh-CN" sz="1300"/>
          </a:p>
        </p:txBody>
      </p:sp>
      <p:sp>
        <p:nvSpPr>
          <p:cNvPr id="26627" name="Rectangle 2"/>
          <p:cNvSpPr>
            <a:spLocks noGrp="1" noRot="1" noChangeAspect="1" noChangeArrowheads="1" noTextEdit="1"/>
          </p:cNvSpPr>
          <p:nvPr>
            <p:ph type="sldImg"/>
          </p:nvPr>
        </p:nvSpPr>
        <p:spPr>
          <a:xfrm>
            <a:off x="992188" y="768350"/>
            <a:ext cx="5114925" cy="3836988"/>
          </a:xfrm>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245282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B81812D9-D59D-264A-9831-555E60E42ADA}" type="slidenum">
              <a:rPr lang="zh-CN" altLang="en-US" sz="1300"/>
              <a:pPr/>
              <a:t>19</a:t>
            </a:fld>
            <a:endParaRPr lang="en-US" altLang="zh-CN" sz="1300"/>
          </a:p>
        </p:txBody>
      </p:sp>
      <p:sp>
        <p:nvSpPr>
          <p:cNvPr id="28675" name="Rectangle 2"/>
          <p:cNvSpPr>
            <a:spLocks noGrp="1" noRot="1" noChangeAspect="1" noChangeArrowheads="1" noTextEdit="1"/>
          </p:cNvSpPr>
          <p:nvPr>
            <p:ph type="sldImg"/>
          </p:nvPr>
        </p:nvSpPr>
        <p:spPr>
          <a:xfrm>
            <a:off x="992188" y="768350"/>
            <a:ext cx="5114925" cy="3836988"/>
          </a:xfrm>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119528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0A45C090-FE61-4146-947F-2598A50827F3}" type="slidenum">
              <a:rPr lang="zh-CN" altLang="en-US" sz="1300"/>
              <a:pPr/>
              <a:t>24</a:t>
            </a:fld>
            <a:endParaRPr lang="en-US" altLang="zh-CN" sz="1300"/>
          </a:p>
        </p:txBody>
      </p:sp>
      <p:sp>
        <p:nvSpPr>
          <p:cNvPr id="34819" name="Rectangle 2"/>
          <p:cNvSpPr>
            <a:spLocks noGrp="1" noRot="1" noChangeAspect="1" noChangeArrowheads="1" noTextEdit="1"/>
          </p:cNvSpPr>
          <p:nvPr>
            <p:ph type="sldImg"/>
          </p:nvPr>
        </p:nvSpPr>
        <p:spPr>
          <a:xfrm>
            <a:off x="992188" y="768350"/>
            <a:ext cx="5114925" cy="3836988"/>
          </a:xfrm>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7686544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0BB73A82-5666-854A-8277-3B7E66489FC3}" type="slidenum">
              <a:rPr lang="zh-CN" altLang="en-US" sz="1300"/>
              <a:pPr/>
              <a:t>29</a:t>
            </a:fld>
            <a:endParaRPr lang="en-US" altLang="zh-CN" sz="1300"/>
          </a:p>
        </p:txBody>
      </p:sp>
      <p:sp>
        <p:nvSpPr>
          <p:cNvPr id="40963" name="Rectangle 2"/>
          <p:cNvSpPr>
            <a:spLocks noGrp="1" noRot="1" noChangeAspect="1" noChangeArrowheads="1" noTextEdit="1"/>
          </p:cNvSpPr>
          <p:nvPr>
            <p:ph type="sldImg"/>
          </p:nvPr>
        </p:nvSpPr>
        <p:spPr>
          <a:xfrm>
            <a:off x="992188" y="768350"/>
            <a:ext cx="5114925" cy="3836988"/>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4278206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22E7FFA5-9EA6-904A-B94D-FBECD0801F13}" type="slidenum">
              <a:rPr lang="zh-CN" altLang="en-US" sz="1300"/>
              <a:pPr/>
              <a:t>30</a:t>
            </a:fld>
            <a:endParaRPr lang="en-US" altLang="zh-CN" sz="1300"/>
          </a:p>
        </p:txBody>
      </p:sp>
      <p:sp>
        <p:nvSpPr>
          <p:cNvPr id="43011" name="Rectangle 2"/>
          <p:cNvSpPr>
            <a:spLocks noGrp="1" noRot="1" noChangeAspect="1" noChangeArrowheads="1" noTextEdit="1"/>
          </p:cNvSpPr>
          <p:nvPr>
            <p:ph type="sldImg"/>
          </p:nvPr>
        </p:nvSpPr>
        <p:spPr>
          <a:xfrm>
            <a:off x="992188" y="768350"/>
            <a:ext cx="5114925" cy="3836988"/>
          </a:xfrm>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3968275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DCAC5132-6A02-2543-98B5-3021D55E6A29}" type="slidenum">
              <a:rPr lang="zh-CN" altLang="en-US" sz="1300"/>
              <a:pPr/>
              <a:t>36</a:t>
            </a:fld>
            <a:endParaRPr lang="en-US" altLang="zh-CN" sz="1300"/>
          </a:p>
        </p:txBody>
      </p:sp>
      <p:sp>
        <p:nvSpPr>
          <p:cNvPr id="50179" name="Rectangle 2"/>
          <p:cNvSpPr>
            <a:spLocks noGrp="1" noRot="1" noChangeAspect="1" noChangeArrowheads="1" noTextEdit="1"/>
          </p:cNvSpPr>
          <p:nvPr>
            <p:ph type="sldImg"/>
          </p:nvPr>
        </p:nvSpPr>
        <p:spPr>
          <a:xfrm>
            <a:off x="992188" y="768350"/>
            <a:ext cx="5114925" cy="3836988"/>
          </a:xfrm>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2692186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27B60EE8-53A8-5941-856C-CB37709E3438}" type="slidenum">
              <a:rPr lang="zh-CN" altLang="en-US" sz="1300"/>
              <a:pPr/>
              <a:t>37</a:t>
            </a:fld>
            <a:endParaRPr lang="en-US" altLang="zh-CN" sz="1300"/>
          </a:p>
        </p:txBody>
      </p:sp>
      <p:sp>
        <p:nvSpPr>
          <p:cNvPr id="52227" name="Rectangle 2"/>
          <p:cNvSpPr>
            <a:spLocks noGrp="1" noRot="1" noChangeAspect="1" noChangeArrowheads="1" noTextEdit="1"/>
          </p:cNvSpPr>
          <p:nvPr>
            <p:ph type="sldImg"/>
          </p:nvPr>
        </p:nvSpPr>
        <p:spPr>
          <a:xfrm>
            <a:off x="992188" y="768350"/>
            <a:ext cx="5114925" cy="3836988"/>
          </a:xfrm>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3194480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CEAB9182-B8D2-D241-81FA-7171EA3F8936}" type="slidenum">
              <a:rPr lang="zh-CN" altLang="en-US" sz="1300"/>
              <a:pPr/>
              <a:t>38</a:t>
            </a:fld>
            <a:endParaRPr lang="en-US" altLang="zh-CN" sz="1300"/>
          </a:p>
        </p:txBody>
      </p:sp>
      <p:sp>
        <p:nvSpPr>
          <p:cNvPr id="54275" name="Rectangle 2"/>
          <p:cNvSpPr>
            <a:spLocks noGrp="1" noRot="1" noChangeAspect="1" noChangeArrowheads="1" noTextEdit="1"/>
          </p:cNvSpPr>
          <p:nvPr>
            <p:ph type="sldImg"/>
          </p:nvPr>
        </p:nvSpPr>
        <p:spPr>
          <a:xfrm>
            <a:off x="992188" y="768350"/>
            <a:ext cx="5114925" cy="3836988"/>
          </a:xfrm>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20102763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81D63231-006B-F247-8169-39B69888CD3E}" type="slidenum">
              <a:rPr lang="zh-CN" altLang="en-US" sz="1300"/>
              <a:pPr/>
              <a:t>40</a:t>
            </a:fld>
            <a:endParaRPr lang="en-US" altLang="zh-CN" sz="1300"/>
          </a:p>
        </p:txBody>
      </p:sp>
      <p:sp>
        <p:nvSpPr>
          <p:cNvPr id="57347" name="Rectangle 2"/>
          <p:cNvSpPr>
            <a:spLocks noGrp="1" noRot="1" noChangeAspect="1" noChangeArrowheads="1" noTextEdit="1"/>
          </p:cNvSpPr>
          <p:nvPr>
            <p:ph type="sldImg"/>
          </p:nvPr>
        </p:nvSpPr>
        <p:spPr>
          <a:xfrm>
            <a:off x="992188" y="768350"/>
            <a:ext cx="5114925" cy="3836988"/>
          </a:xfrm>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1742237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FA0AA216-DF19-E64E-AABE-9F3308DD1996}" type="slidenum">
              <a:rPr lang="zh-CN" altLang="en-US" sz="1300"/>
              <a:pPr/>
              <a:t>41</a:t>
            </a:fld>
            <a:endParaRPr lang="en-US" altLang="zh-CN" sz="1300"/>
          </a:p>
        </p:txBody>
      </p:sp>
      <p:sp>
        <p:nvSpPr>
          <p:cNvPr id="59395" name="Rectangle 2"/>
          <p:cNvSpPr>
            <a:spLocks noGrp="1" noRot="1" noChangeAspect="1" noChangeArrowheads="1" noTextEdit="1"/>
          </p:cNvSpPr>
          <p:nvPr>
            <p:ph type="sldImg"/>
          </p:nvPr>
        </p:nvSpPr>
        <p:spPr>
          <a:xfrm>
            <a:off x="992188" y="768350"/>
            <a:ext cx="5114925" cy="3836988"/>
          </a:xfrm>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415888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79AAB8AA-7A24-DA44-8879-AF7C4931D9A5}" type="slidenum">
              <a:rPr lang="zh-CN" altLang="en-US" sz="1300"/>
              <a:pPr/>
              <a:t>42</a:t>
            </a:fld>
            <a:endParaRPr lang="en-US" altLang="zh-CN" sz="1300"/>
          </a:p>
        </p:txBody>
      </p:sp>
      <p:sp>
        <p:nvSpPr>
          <p:cNvPr id="61443" name="Rectangle 2"/>
          <p:cNvSpPr>
            <a:spLocks noGrp="1" noRot="1" noChangeAspect="1" noChangeArrowheads="1" noTextEdit="1"/>
          </p:cNvSpPr>
          <p:nvPr>
            <p:ph type="sldImg"/>
          </p:nvPr>
        </p:nvSpPr>
        <p:spPr>
          <a:xfrm>
            <a:off x="992188" y="768350"/>
            <a:ext cx="5114925" cy="3836988"/>
          </a:xfrm>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24238805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0741DE17-E37B-7548-A27B-63EF867A54D9}" type="slidenum">
              <a:rPr lang="zh-CN" altLang="en-US" sz="1300"/>
              <a:pPr/>
              <a:t>43</a:t>
            </a:fld>
            <a:endParaRPr lang="en-US" altLang="zh-CN" sz="1300"/>
          </a:p>
        </p:txBody>
      </p:sp>
      <p:sp>
        <p:nvSpPr>
          <p:cNvPr id="63491" name="Rectangle 2"/>
          <p:cNvSpPr>
            <a:spLocks noGrp="1" noRot="1" noChangeAspect="1" noChangeArrowheads="1" noTextEdit="1"/>
          </p:cNvSpPr>
          <p:nvPr>
            <p:ph type="sldImg"/>
          </p:nvPr>
        </p:nvSpPr>
        <p:spPr>
          <a:xfrm>
            <a:off x="992188" y="768350"/>
            <a:ext cx="5114925" cy="3836988"/>
          </a:xfrm>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1884150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10A5888B-80C8-EB45-8FD6-290F3A8DEE40}" type="slidenum">
              <a:rPr lang="zh-CN" altLang="en-US" sz="1300"/>
              <a:pPr/>
              <a:t>60</a:t>
            </a:fld>
            <a:endParaRPr lang="en-US" altLang="zh-CN" sz="1300"/>
          </a:p>
        </p:txBody>
      </p:sp>
      <p:sp>
        <p:nvSpPr>
          <p:cNvPr id="81923" name="Rectangle 2"/>
          <p:cNvSpPr>
            <a:spLocks noGrp="1" noRot="1" noChangeAspect="1" noChangeArrowheads="1" noTextEdit="1"/>
          </p:cNvSpPr>
          <p:nvPr>
            <p:ph type="sldImg"/>
          </p:nvPr>
        </p:nvSpPr>
        <p:spPr>
          <a:xfrm>
            <a:off x="992188" y="768350"/>
            <a:ext cx="5114925" cy="3836988"/>
          </a:xfrm>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21643076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3A8B5D67-24A3-4943-8812-A724DA908FBE}" type="slidenum">
              <a:rPr lang="zh-CN" altLang="en-US" sz="1300"/>
              <a:pPr/>
              <a:t>61</a:t>
            </a:fld>
            <a:endParaRPr lang="en-US" altLang="zh-CN" sz="1300"/>
          </a:p>
        </p:txBody>
      </p:sp>
      <p:sp>
        <p:nvSpPr>
          <p:cNvPr id="83971" name="Rectangle 2"/>
          <p:cNvSpPr>
            <a:spLocks noGrp="1" noRot="1" noChangeAspect="1" noChangeArrowheads="1" noTextEdit="1"/>
          </p:cNvSpPr>
          <p:nvPr>
            <p:ph type="sldImg"/>
          </p:nvPr>
        </p:nvSpPr>
        <p:spPr>
          <a:xfrm>
            <a:off x="992188" y="768350"/>
            <a:ext cx="5114925" cy="3836988"/>
          </a:xfrm>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19736442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C5AA9D27-A947-2B4D-B968-11A7C28A96AF}" type="slidenum">
              <a:rPr lang="zh-CN" altLang="en-US" sz="1300"/>
              <a:pPr/>
              <a:t>62</a:t>
            </a:fld>
            <a:endParaRPr lang="en-US" altLang="zh-CN" sz="1300"/>
          </a:p>
        </p:txBody>
      </p:sp>
      <p:sp>
        <p:nvSpPr>
          <p:cNvPr id="86019" name="Rectangle 2"/>
          <p:cNvSpPr>
            <a:spLocks noGrp="1" noRot="1" noChangeAspect="1" noChangeArrowheads="1" noTextEdit="1"/>
          </p:cNvSpPr>
          <p:nvPr>
            <p:ph type="sldImg"/>
          </p:nvPr>
        </p:nvSpPr>
        <p:spPr>
          <a:xfrm>
            <a:off x="992188" y="768350"/>
            <a:ext cx="5114925" cy="3836988"/>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21964848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79BEA64A-09DE-D140-98D3-F42A7068CC4A}" type="slidenum">
              <a:rPr lang="zh-CN" altLang="en-US" sz="1300"/>
              <a:pPr/>
              <a:t>65</a:t>
            </a:fld>
            <a:endParaRPr lang="en-US" altLang="zh-CN" sz="1300"/>
          </a:p>
        </p:txBody>
      </p:sp>
      <p:sp>
        <p:nvSpPr>
          <p:cNvPr id="90115" name="Rectangle 2"/>
          <p:cNvSpPr>
            <a:spLocks noGrp="1" noRot="1" noChangeAspect="1" noChangeArrowheads="1" noTextEdit="1"/>
          </p:cNvSpPr>
          <p:nvPr>
            <p:ph type="sldImg"/>
          </p:nvPr>
        </p:nvSpPr>
        <p:spPr>
          <a:xfrm>
            <a:off x="992188" y="768350"/>
            <a:ext cx="5114925" cy="3836988"/>
          </a:xfrm>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15898424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72E15CD4-D043-3F4A-8B44-ED1AAD079558}" type="slidenum">
              <a:rPr lang="zh-CN" altLang="en-US" sz="1300"/>
              <a:pPr/>
              <a:t>66</a:t>
            </a:fld>
            <a:endParaRPr lang="en-US" altLang="zh-CN" sz="1300"/>
          </a:p>
        </p:txBody>
      </p:sp>
      <p:sp>
        <p:nvSpPr>
          <p:cNvPr id="92163" name="Rectangle 2"/>
          <p:cNvSpPr>
            <a:spLocks noGrp="1" noRot="1" noChangeAspect="1" noChangeArrowheads="1" noTextEdit="1"/>
          </p:cNvSpPr>
          <p:nvPr>
            <p:ph type="sldImg"/>
          </p:nvPr>
        </p:nvSpPr>
        <p:spPr>
          <a:xfrm>
            <a:off x="992188" y="768350"/>
            <a:ext cx="5114925" cy="3836988"/>
          </a:xfrm>
          <a:ln/>
        </p:spPr>
      </p:sp>
      <p:sp>
        <p:nvSpPr>
          <p:cNvPr id="92164"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39161149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1200">
                <a:solidFill>
                  <a:schemeClr val="tx1"/>
                </a:solidFill>
                <a:latin typeface="Times" charset="0"/>
                <a:ea typeface="宋体" charset="0"/>
              </a:defRPr>
            </a:lvl1pPr>
            <a:lvl2pPr marL="742950" indent="-285750" defTabSz="990600">
              <a:defRPr sz="1200">
                <a:solidFill>
                  <a:schemeClr val="tx1"/>
                </a:solidFill>
                <a:latin typeface="Times" charset="0"/>
                <a:ea typeface="宋体" charset="0"/>
              </a:defRPr>
            </a:lvl2pPr>
            <a:lvl3pPr marL="1143000" indent="-228600" defTabSz="990600">
              <a:defRPr sz="1200">
                <a:solidFill>
                  <a:schemeClr val="tx1"/>
                </a:solidFill>
                <a:latin typeface="Times" charset="0"/>
                <a:ea typeface="宋体" charset="0"/>
              </a:defRPr>
            </a:lvl3pPr>
            <a:lvl4pPr marL="1600200" indent="-228600" defTabSz="990600">
              <a:defRPr sz="1200">
                <a:solidFill>
                  <a:schemeClr val="tx1"/>
                </a:solidFill>
                <a:latin typeface="Times" charset="0"/>
                <a:ea typeface="宋体" charset="0"/>
              </a:defRPr>
            </a:lvl4pPr>
            <a:lvl5pPr marL="2057400" indent="-228600" defTabSz="990600">
              <a:defRPr sz="1200">
                <a:solidFill>
                  <a:schemeClr val="tx1"/>
                </a:solidFill>
                <a:latin typeface="Times" charset="0"/>
                <a:ea typeface="宋体" charset="0"/>
              </a:defRPr>
            </a:lvl5pPr>
            <a:lvl6pPr marL="2514600" indent="-228600" defTabSz="990600" eaLnBrk="0" fontAlgn="base" hangingPunct="0">
              <a:spcBef>
                <a:spcPct val="30000"/>
              </a:spcBef>
              <a:spcAft>
                <a:spcPct val="0"/>
              </a:spcAft>
              <a:defRPr sz="1200">
                <a:solidFill>
                  <a:schemeClr val="tx1"/>
                </a:solidFill>
                <a:latin typeface="Times" charset="0"/>
                <a:ea typeface="宋体" charset="0"/>
              </a:defRPr>
            </a:lvl6pPr>
            <a:lvl7pPr marL="2971800" indent="-228600" defTabSz="990600" eaLnBrk="0" fontAlgn="base" hangingPunct="0">
              <a:spcBef>
                <a:spcPct val="30000"/>
              </a:spcBef>
              <a:spcAft>
                <a:spcPct val="0"/>
              </a:spcAft>
              <a:defRPr sz="1200">
                <a:solidFill>
                  <a:schemeClr val="tx1"/>
                </a:solidFill>
                <a:latin typeface="Times" charset="0"/>
                <a:ea typeface="宋体" charset="0"/>
              </a:defRPr>
            </a:lvl7pPr>
            <a:lvl8pPr marL="3429000" indent="-228600" defTabSz="990600" eaLnBrk="0" fontAlgn="base" hangingPunct="0">
              <a:spcBef>
                <a:spcPct val="30000"/>
              </a:spcBef>
              <a:spcAft>
                <a:spcPct val="0"/>
              </a:spcAft>
              <a:defRPr sz="1200">
                <a:solidFill>
                  <a:schemeClr val="tx1"/>
                </a:solidFill>
                <a:latin typeface="Times" charset="0"/>
                <a:ea typeface="宋体" charset="0"/>
              </a:defRPr>
            </a:lvl8pPr>
            <a:lvl9pPr marL="3886200" indent="-228600" defTabSz="990600" eaLnBrk="0" fontAlgn="base" hangingPunct="0">
              <a:spcBef>
                <a:spcPct val="30000"/>
              </a:spcBef>
              <a:spcAft>
                <a:spcPct val="0"/>
              </a:spcAft>
              <a:defRPr sz="1200">
                <a:solidFill>
                  <a:schemeClr val="tx1"/>
                </a:solidFill>
                <a:latin typeface="Times" charset="0"/>
                <a:ea typeface="宋体" charset="0"/>
              </a:defRPr>
            </a:lvl9pPr>
          </a:lstStyle>
          <a:p>
            <a:fld id="{DFC4B17A-21B5-E549-A1C2-48764B3E86E7}" type="slidenum">
              <a:rPr lang="zh-CN" altLang="en-US" sz="1300"/>
              <a:pPr/>
              <a:t>67</a:t>
            </a:fld>
            <a:endParaRPr lang="en-US" altLang="zh-CN" sz="1300"/>
          </a:p>
        </p:txBody>
      </p:sp>
      <p:sp>
        <p:nvSpPr>
          <p:cNvPr id="94211" name="Rectangle 2"/>
          <p:cNvSpPr>
            <a:spLocks noGrp="1" noRot="1" noChangeAspect="1" noChangeArrowheads="1" noTextEdit="1"/>
          </p:cNvSpPr>
          <p:nvPr>
            <p:ph type="sldImg"/>
          </p:nvPr>
        </p:nvSpPr>
        <p:spPr>
          <a:xfrm>
            <a:off x="992188" y="768350"/>
            <a:ext cx="5114925" cy="3836988"/>
          </a:xfrm>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charset="0"/>
              <a:cs typeface="宋体" charset="0"/>
            </a:endParaRPr>
          </a:p>
        </p:txBody>
      </p:sp>
    </p:spTree>
    <p:extLst>
      <p:ext uri="{BB962C8B-B14F-4D97-AF65-F5344CB8AC3E}">
        <p14:creationId xmlns:p14="http://schemas.microsoft.com/office/powerpoint/2010/main" val="3372190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4"/>
          <p:cNvSpPr>
            <a:spLocks noChangeArrowheads="1"/>
          </p:cNvSpPr>
          <p:nvPr userDrawn="1"/>
        </p:nvSpPr>
        <p:spPr bwMode="auto">
          <a:xfrm>
            <a:off x="4371975" y="0"/>
            <a:ext cx="1841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lnSpc>
                <a:spcPct val="90000"/>
              </a:lnSpc>
              <a:spcBef>
                <a:spcPct val="50000"/>
              </a:spcBef>
              <a:buChar char="•"/>
              <a:defRPr sz="4000" b="1">
                <a:solidFill>
                  <a:srgbClr val="0000FF"/>
                </a:solidFill>
                <a:latin typeface="Arial" panose="020B0604020202020204" pitchFamily="34" charset="0"/>
                <a:ea typeface="楷体_GB2312" charset="-122"/>
              </a:defRPr>
            </a:lvl1pPr>
            <a:lvl2pPr marL="742950" indent="-285750">
              <a:lnSpc>
                <a:spcPct val="90000"/>
              </a:lnSpc>
              <a:spcBef>
                <a:spcPct val="50000"/>
              </a:spcBef>
              <a:buChar char="•"/>
              <a:defRPr sz="4000" b="1">
                <a:solidFill>
                  <a:srgbClr val="0000FF"/>
                </a:solidFill>
                <a:latin typeface="Arial" panose="020B0604020202020204" pitchFamily="34" charset="0"/>
                <a:ea typeface="楷体_GB2312" charset="-122"/>
              </a:defRPr>
            </a:lvl2pPr>
            <a:lvl3pPr marL="1143000" indent="-228600">
              <a:lnSpc>
                <a:spcPct val="90000"/>
              </a:lnSpc>
              <a:spcBef>
                <a:spcPct val="50000"/>
              </a:spcBef>
              <a:buChar char="•"/>
              <a:defRPr sz="4000" b="1">
                <a:solidFill>
                  <a:srgbClr val="0000FF"/>
                </a:solidFill>
                <a:latin typeface="Arial" panose="020B0604020202020204" pitchFamily="34" charset="0"/>
                <a:ea typeface="楷体_GB2312" charset="-122"/>
              </a:defRPr>
            </a:lvl3pPr>
            <a:lvl4pPr marL="1600200" indent="-228600">
              <a:lnSpc>
                <a:spcPct val="90000"/>
              </a:lnSpc>
              <a:spcBef>
                <a:spcPct val="50000"/>
              </a:spcBef>
              <a:buChar char="•"/>
              <a:defRPr sz="4000" b="1">
                <a:solidFill>
                  <a:srgbClr val="0000FF"/>
                </a:solidFill>
                <a:latin typeface="Arial" panose="020B0604020202020204" pitchFamily="34" charset="0"/>
                <a:ea typeface="楷体_GB2312" charset="-122"/>
              </a:defRPr>
            </a:lvl4pPr>
            <a:lvl5pPr marL="2057400" indent="-228600">
              <a:lnSpc>
                <a:spcPct val="90000"/>
              </a:lnSpc>
              <a:spcBef>
                <a:spcPct val="50000"/>
              </a:spcBef>
              <a:buChar char="•"/>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a:lnSpc>
                <a:spcPct val="100000"/>
              </a:lnSpc>
              <a:spcBef>
                <a:spcPct val="0"/>
              </a:spcBef>
              <a:buFontTx/>
              <a:buNone/>
              <a:defRPr/>
            </a:pPr>
            <a:endParaRPr lang="zh-CN" altLang="en-US" sz="2400" b="0" smtClean="0">
              <a:solidFill>
                <a:schemeClr val="tx1"/>
              </a:solidFill>
              <a:latin typeface="Times" panose="02020603050405020304" pitchFamily="18" charset="0"/>
              <a:ea typeface="宋体" panose="02010600030101010101" pitchFamily="2" charset="-122"/>
              <a:cs typeface="+mn-cs"/>
            </a:endParaRPr>
          </a:p>
        </p:txBody>
      </p:sp>
      <p:sp>
        <p:nvSpPr>
          <p:cNvPr id="5" name="Rectangle 5"/>
          <p:cNvSpPr>
            <a:spLocks noChangeArrowheads="1"/>
          </p:cNvSpPr>
          <p:nvPr userDrawn="1"/>
        </p:nvSpPr>
        <p:spPr bwMode="auto">
          <a:xfrm>
            <a:off x="0" y="6400800"/>
            <a:ext cx="9144000" cy="457200"/>
          </a:xfrm>
          <a:prstGeom prst="rect">
            <a:avLst/>
          </a:prstGeom>
          <a:solidFill>
            <a:srgbClr val="FF99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ct val="50000"/>
              </a:spcBef>
              <a:buChar char="•"/>
              <a:defRPr sz="4000" b="1">
                <a:solidFill>
                  <a:srgbClr val="0000FF"/>
                </a:solidFill>
                <a:latin typeface="Arial" panose="020B0604020202020204" pitchFamily="34" charset="0"/>
                <a:ea typeface="楷体_GB2312" charset="-122"/>
              </a:defRPr>
            </a:lvl1pPr>
            <a:lvl2pPr marL="742950" indent="-285750">
              <a:lnSpc>
                <a:spcPct val="90000"/>
              </a:lnSpc>
              <a:spcBef>
                <a:spcPct val="50000"/>
              </a:spcBef>
              <a:buChar char="•"/>
              <a:defRPr sz="4000" b="1">
                <a:solidFill>
                  <a:srgbClr val="0000FF"/>
                </a:solidFill>
                <a:latin typeface="Arial" panose="020B0604020202020204" pitchFamily="34" charset="0"/>
                <a:ea typeface="楷体_GB2312" charset="-122"/>
              </a:defRPr>
            </a:lvl2pPr>
            <a:lvl3pPr marL="1143000" indent="-228600">
              <a:lnSpc>
                <a:spcPct val="90000"/>
              </a:lnSpc>
              <a:spcBef>
                <a:spcPct val="50000"/>
              </a:spcBef>
              <a:buChar char="•"/>
              <a:defRPr sz="4000" b="1">
                <a:solidFill>
                  <a:srgbClr val="0000FF"/>
                </a:solidFill>
                <a:latin typeface="Arial" panose="020B0604020202020204" pitchFamily="34" charset="0"/>
                <a:ea typeface="楷体_GB2312" charset="-122"/>
              </a:defRPr>
            </a:lvl3pPr>
            <a:lvl4pPr marL="1600200" indent="-228600">
              <a:lnSpc>
                <a:spcPct val="90000"/>
              </a:lnSpc>
              <a:spcBef>
                <a:spcPct val="50000"/>
              </a:spcBef>
              <a:buChar char="•"/>
              <a:defRPr sz="4000" b="1">
                <a:solidFill>
                  <a:srgbClr val="0000FF"/>
                </a:solidFill>
                <a:latin typeface="Arial" panose="020B0604020202020204" pitchFamily="34" charset="0"/>
                <a:ea typeface="楷体_GB2312" charset="-122"/>
              </a:defRPr>
            </a:lvl4pPr>
            <a:lvl5pPr marL="2057400" indent="-228600">
              <a:lnSpc>
                <a:spcPct val="90000"/>
              </a:lnSpc>
              <a:spcBef>
                <a:spcPct val="50000"/>
              </a:spcBef>
              <a:buChar char="•"/>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a:lnSpc>
                <a:spcPct val="100000"/>
              </a:lnSpc>
              <a:spcBef>
                <a:spcPct val="0"/>
              </a:spcBef>
              <a:buFontTx/>
              <a:buNone/>
              <a:defRPr/>
            </a:pPr>
            <a:endParaRPr lang="zh-CN" altLang="en-US" sz="2400" b="0" smtClean="0">
              <a:solidFill>
                <a:schemeClr val="tx1"/>
              </a:solidFill>
              <a:latin typeface="Times" panose="02020603050405020304" pitchFamily="18" charset="0"/>
              <a:ea typeface="宋体" panose="02010600030101010101" pitchFamily="2" charset="-122"/>
              <a:cs typeface="+mn-cs"/>
            </a:endParaRPr>
          </a:p>
        </p:txBody>
      </p:sp>
      <p:sp>
        <p:nvSpPr>
          <p:cNvPr id="6" name="Rectangle 10"/>
          <p:cNvSpPr>
            <a:spLocks noChangeArrowheads="1"/>
          </p:cNvSpPr>
          <p:nvPr userDrawn="1"/>
        </p:nvSpPr>
        <p:spPr bwMode="auto">
          <a:xfrm>
            <a:off x="0" y="0"/>
            <a:ext cx="9144000" cy="725488"/>
          </a:xfrm>
          <a:prstGeom prst="rect">
            <a:avLst/>
          </a:prstGeom>
          <a:solidFill>
            <a:srgbClr val="990000"/>
          </a:solidFill>
          <a:ln w="9525">
            <a:solidFill>
              <a:srgbClr val="990000"/>
            </a:solidFill>
            <a:miter lim="800000"/>
            <a:headEnd/>
            <a:tailEnd/>
          </a:ln>
        </p:spPr>
        <p:txBody>
          <a:bodyPr wrap="none" anchor="ctr"/>
          <a:lstStyle>
            <a:lvl1pPr>
              <a:lnSpc>
                <a:spcPct val="90000"/>
              </a:lnSpc>
              <a:spcBef>
                <a:spcPct val="50000"/>
              </a:spcBef>
              <a:buChar char="•"/>
              <a:defRPr sz="4000" b="1">
                <a:solidFill>
                  <a:srgbClr val="0000FF"/>
                </a:solidFill>
                <a:latin typeface="Arial" panose="020B0604020202020204" pitchFamily="34" charset="0"/>
                <a:ea typeface="楷体_GB2312" charset="-122"/>
              </a:defRPr>
            </a:lvl1pPr>
            <a:lvl2pPr marL="742950" indent="-285750">
              <a:lnSpc>
                <a:spcPct val="90000"/>
              </a:lnSpc>
              <a:spcBef>
                <a:spcPct val="50000"/>
              </a:spcBef>
              <a:buChar char="•"/>
              <a:defRPr sz="4000" b="1">
                <a:solidFill>
                  <a:srgbClr val="0000FF"/>
                </a:solidFill>
                <a:latin typeface="Arial" panose="020B0604020202020204" pitchFamily="34" charset="0"/>
                <a:ea typeface="楷体_GB2312" charset="-122"/>
              </a:defRPr>
            </a:lvl2pPr>
            <a:lvl3pPr marL="1143000" indent="-228600">
              <a:lnSpc>
                <a:spcPct val="90000"/>
              </a:lnSpc>
              <a:spcBef>
                <a:spcPct val="50000"/>
              </a:spcBef>
              <a:buChar char="•"/>
              <a:defRPr sz="4000" b="1">
                <a:solidFill>
                  <a:srgbClr val="0000FF"/>
                </a:solidFill>
                <a:latin typeface="Arial" panose="020B0604020202020204" pitchFamily="34" charset="0"/>
                <a:ea typeface="楷体_GB2312" charset="-122"/>
              </a:defRPr>
            </a:lvl3pPr>
            <a:lvl4pPr marL="1600200" indent="-228600">
              <a:lnSpc>
                <a:spcPct val="90000"/>
              </a:lnSpc>
              <a:spcBef>
                <a:spcPct val="50000"/>
              </a:spcBef>
              <a:buChar char="•"/>
              <a:defRPr sz="4000" b="1">
                <a:solidFill>
                  <a:srgbClr val="0000FF"/>
                </a:solidFill>
                <a:latin typeface="Arial" panose="020B0604020202020204" pitchFamily="34" charset="0"/>
                <a:ea typeface="楷体_GB2312" charset="-122"/>
              </a:defRPr>
            </a:lvl4pPr>
            <a:lvl5pPr marL="2057400" indent="-228600">
              <a:lnSpc>
                <a:spcPct val="90000"/>
              </a:lnSpc>
              <a:spcBef>
                <a:spcPct val="50000"/>
              </a:spcBef>
              <a:buChar char="•"/>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eaLnBrk="1" hangingPunct="1">
              <a:defRPr/>
            </a:pPr>
            <a:endParaRPr lang="zh-CN" altLang="en-US" smtClean="0">
              <a:cs typeface="+mn-cs"/>
            </a:endParaRPr>
          </a:p>
        </p:txBody>
      </p:sp>
      <p:sp>
        <p:nvSpPr>
          <p:cNvPr id="7" name="Rectangle 14"/>
          <p:cNvSpPr>
            <a:spLocks noChangeArrowheads="1"/>
          </p:cNvSpPr>
          <p:nvPr userDrawn="1"/>
        </p:nvSpPr>
        <p:spPr bwMode="auto">
          <a:xfrm>
            <a:off x="0" y="6400800"/>
            <a:ext cx="9144000" cy="457200"/>
          </a:xfrm>
          <a:prstGeom prst="rect">
            <a:avLst/>
          </a:prstGeom>
          <a:solidFill>
            <a:srgbClr val="8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lnSpc>
                <a:spcPct val="90000"/>
              </a:lnSpc>
              <a:spcBef>
                <a:spcPct val="50000"/>
              </a:spcBef>
              <a:buChar char="•"/>
              <a:defRPr sz="4000" b="1">
                <a:solidFill>
                  <a:srgbClr val="0000FF"/>
                </a:solidFill>
                <a:latin typeface="Arial" panose="020B0604020202020204" pitchFamily="34" charset="0"/>
                <a:ea typeface="楷体_GB2312" charset="-122"/>
              </a:defRPr>
            </a:lvl1pPr>
            <a:lvl2pPr marL="742950" indent="-285750">
              <a:lnSpc>
                <a:spcPct val="90000"/>
              </a:lnSpc>
              <a:spcBef>
                <a:spcPct val="50000"/>
              </a:spcBef>
              <a:buChar char="•"/>
              <a:defRPr sz="4000" b="1">
                <a:solidFill>
                  <a:srgbClr val="0000FF"/>
                </a:solidFill>
                <a:latin typeface="Arial" panose="020B0604020202020204" pitchFamily="34" charset="0"/>
                <a:ea typeface="楷体_GB2312" charset="-122"/>
              </a:defRPr>
            </a:lvl2pPr>
            <a:lvl3pPr marL="1143000" indent="-228600">
              <a:lnSpc>
                <a:spcPct val="90000"/>
              </a:lnSpc>
              <a:spcBef>
                <a:spcPct val="50000"/>
              </a:spcBef>
              <a:buChar char="•"/>
              <a:defRPr sz="4000" b="1">
                <a:solidFill>
                  <a:srgbClr val="0000FF"/>
                </a:solidFill>
                <a:latin typeface="Arial" panose="020B0604020202020204" pitchFamily="34" charset="0"/>
                <a:ea typeface="楷体_GB2312" charset="-122"/>
              </a:defRPr>
            </a:lvl3pPr>
            <a:lvl4pPr marL="1600200" indent="-228600">
              <a:lnSpc>
                <a:spcPct val="90000"/>
              </a:lnSpc>
              <a:spcBef>
                <a:spcPct val="50000"/>
              </a:spcBef>
              <a:buChar char="•"/>
              <a:defRPr sz="4000" b="1">
                <a:solidFill>
                  <a:srgbClr val="0000FF"/>
                </a:solidFill>
                <a:latin typeface="Arial" panose="020B0604020202020204" pitchFamily="34" charset="0"/>
                <a:ea typeface="楷体_GB2312" charset="-122"/>
              </a:defRPr>
            </a:lvl4pPr>
            <a:lvl5pPr marL="2057400" indent="-228600">
              <a:lnSpc>
                <a:spcPct val="90000"/>
              </a:lnSpc>
              <a:spcBef>
                <a:spcPct val="50000"/>
              </a:spcBef>
              <a:buChar char="•"/>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a:lnSpc>
                <a:spcPct val="100000"/>
              </a:lnSpc>
              <a:spcBef>
                <a:spcPct val="0"/>
              </a:spcBef>
              <a:buFontTx/>
              <a:buNone/>
              <a:defRPr/>
            </a:pPr>
            <a:endParaRPr lang="zh-CN" altLang="en-US" sz="2400" b="0" smtClean="0">
              <a:solidFill>
                <a:schemeClr val="tx1"/>
              </a:solidFill>
              <a:latin typeface="Times" panose="02020603050405020304" pitchFamily="18" charset="0"/>
              <a:ea typeface="宋体" panose="02010600030101010101" pitchFamily="2" charset="-122"/>
              <a:cs typeface="+mn-cs"/>
            </a:endParaRPr>
          </a:p>
        </p:txBody>
      </p:sp>
      <p:sp>
        <p:nvSpPr>
          <p:cNvPr id="3074" name="Rectangle 2"/>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p>
        </p:txBody>
      </p:sp>
      <p:sp>
        <p:nvSpPr>
          <p:cNvPr id="3075" name="Rectangle 3"/>
          <p:cNvSpPr>
            <a:spLocks noGrp="1" noChangeArrowheads="1"/>
          </p:cNvSpPr>
          <p:nvPr>
            <p:ph type="subTitle" idx="1"/>
          </p:nvPr>
        </p:nvSpPr>
        <p:spPr>
          <a:xfrm>
            <a:off x="1371600" y="3886200"/>
            <a:ext cx="6400800" cy="1752600"/>
          </a:xfrm>
          <a:ln>
            <a:solidFill>
              <a:schemeClr val="bg2"/>
            </a:solidFill>
          </a:ln>
        </p:spPr>
        <p:txBody>
          <a:bodyPr/>
          <a:lstStyle>
            <a:lvl1pPr marL="0" indent="0" algn="ctr">
              <a:buFontTx/>
              <a:buNone/>
              <a:defRPr/>
            </a:lvl1pPr>
          </a:lstStyle>
          <a:p>
            <a:r>
              <a:rPr lang="en-US" altLang="zh-CN"/>
              <a:t>Click to edit Master subtitle style</a:t>
            </a:r>
          </a:p>
        </p:txBody>
      </p:sp>
    </p:spTree>
    <p:extLst>
      <p:ext uri="{BB962C8B-B14F-4D97-AF65-F5344CB8AC3E}">
        <p14:creationId xmlns:p14="http://schemas.microsoft.com/office/powerpoint/2010/main" val="134134918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0025567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78922045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0" y="977900"/>
            <a:ext cx="4495800" cy="5880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77900"/>
            <a:ext cx="4495800" cy="5880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0945720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99790279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57050493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577950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26308929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32302929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83680913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2700"/>
            <a:ext cx="2286000" cy="68453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12700"/>
            <a:ext cx="6705600" cy="68453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5289731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977900"/>
            <a:ext cx="4495800" cy="5880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77900"/>
            <a:ext cx="4495800" cy="5880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80917571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977900"/>
            <a:ext cx="4495800" cy="5880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977900"/>
            <a:ext cx="4495800" cy="2863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94150"/>
            <a:ext cx="4495800" cy="2863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08643907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0" y="977900"/>
            <a:ext cx="9144000" cy="5880100"/>
          </a:xfrm>
        </p:spPr>
        <p:txBody>
          <a:bodyPr/>
          <a:lstStyle/>
          <a:p>
            <a:pPr lvl="0"/>
            <a:endParaRPr lang="zh-CN" altLang="en-US" noProof="0" smtClean="0"/>
          </a:p>
        </p:txBody>
      </p:sp>
    </p:spTree>
    <p:extLst>
      <p:ext uri="{BB962C8B-B14F-4D97-AF65-F5344CB8AC3E}">
        <p14:creationId xmlns:p14="http://schemas.microsoft.com/office/powerpoint/2010/main" val="208358623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4"/>
          <p:cNvSpPr>
            <a:spLocks noChangeArrowheads="1"/>
          </p:cNvSpPr>
          <p:nvPr userDrawn="1"/>
        </p:nvSpPr>
        <p:spPr bwMode="auto">
          <a:xfrm>
            <a:off x="4371975" y="0"/>
            <a:ext cx="1841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latin typeface="Times" panose="02020603050405020304" pitchFamily="18" charset="0"/>
              <a:ea typeface="宋体" panose="02010600030101010101" pitchFamily="2" charset="-122"/>
            </a:endParaRPr>
          </a:p>
        </p:txBody>
      </p:sp>
      <p:sp>
        <p:nvSpPr>
          <p:cNvPr id="5" name="Rectangle 5"/>
          <p:cNvSpPr>
            <a:spLocks noChangeArrowheads="1"/>
          </p:cNvSpPr>
          <p:nvPr userDrawn="1"/>
        </p:nvSpPr>
        <p:spPr bwMode="auto">
          <a:xfrm>
            <a:off x="0" y="6400800"/>
            <a:ext cx="9144000" cy="457200"/>
          </a:xfrm>
          <a:prstGeom prst="rect">
            <a:avLst/>
          </a:prstGeom>
          <a:solidFill>
            <a:srgbClr val="FF99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latin typeface="Times" panose="02020603050405020304" pitchFamily="18" charset="0"/>
              <a:ea typeface="宋体" panose="02010600030101010101" pitchFamily="2" charset="-122"/>
            </a:endParaRPr>
          </a:p>
        </p:txBody>
      </p:sp>
      <p:sp>
        <p:nvSpPr>
          <p:cNvPr id="6" name="Rectangle 10"/>
          <p:cNvSpPr>
            <a:spLocks noChangeArrowheads="1"/>
          </p:cNvSpPr>
          <p:nvPr userDrawn="1"/>
        </p:nvSpPr>
        <p:spPr bwMode="auto">
          <a:xfrm>
            <a:off x="0" y="0"/>
            <a:ext cx="9144000" cy="725488"/>
          </a:xfrm>
          <a:prstGeom prst="rect">
            <a:avLst/>
          </a:prstGeom>
          <a:solidFill>
            <a:srgbClr val="990000"/>
          </a:solidFill>
          <a:ln w="9525">
            <a:solidFill>
              <a:srgbClr val="990000"/>
            </a:solidFill>
            <a:miter lim="800000"/>
            <a:headEnd/>
            <a:tailEnd/>
          </a:ln>
        </p:spPr>
        <p:txBody>
          <a:bodyPr wrap="none" anchor="ct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endParaRPr>
          </a:p>
        </p:txBody>
      </p:sp>
      <p:sp>
        <p:nvSpPr>
          <p:cNvPr id="7" name="Rectangle 14"/>
          <p:cNvSpPr>
            <a:spLocks noChangeArrowheads="1"/>
          </p:cNvSpPr>
          <p:nvPr userDrawn="1"/>
        </p:nvSpPr>
        <p:spPr bwMode="auto">
          <a:xfrm>
            <a:off x="0" y="6400800"/>
            <a:ext cx="9144000" cy="457200"/>
          </a:xfrm>
          <a:prstGeom prst="rect">
            <a:avLst/>
          </a:prstGeom>
          <a:solidFill>
            <a:srgbClr val="8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latin typeface="Times" panose="02020603050405020304" pitchFamily="18" charset="0"/>
              <a:ea typeface="宋体" panose="02010600030101010101" pitchFamily="2" charset="-122"/>
            </a:endParaRPr>
          </a:p>
        </p:txBody>
      </p:sp>
      <p:sp>
        <p:nvSpPr>
          <p:cNvPr id="3074" name="Rectangle 2"/>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p>
        </p:txBody>
      </p:sp>
      <p:sp>
        <p:nvSpPr>
          <p:cNvPr id="3075" name="Rectangle 3"/>
          <p:cNvSpPr>
            <a:spLocks noGrp="1" noChangeArrowheads="1"/>
          </p:cNvSpPr>
          <p:nvPr>
            <p:ph type="subTitle" idx="1"/>
          </p:nvPr>
        </p:nvSpPr>
        <p:spPr>
          <a:xfrm>
            <a:off x="1371600" y="3886200"/>
            <a:ext cx="6400800" cy="1752600"/>
          </a:xfrm>
          <a:ln>
            <a:solidFill>
              <a:schemeClr val="bg2"/>
            </a:solidFill>
          </a:ln>
        </p:spPr>
        <p:txBody>
          <a:bodyPr/>
          <a:lstStyle>
            <a:lvl1pPr marL="0" indent="0" algn="ctr">
              <a:buFontTx/>
              <a:buNone/>
              <a:defRPr/>
            </a:lvl1pPr>
          </a:lstStyle>
          <a:p>
            <a:r>
              <a:rPr lang="en-US" altLang="zh-CN"/>
              <a:t>Click to edit Master subtitle style</a:t>
            </a:r>
          </a:p>
        </p:txBody>
      </p:sp>
    </p:spTree>
    <p:extLst>
      <p:ext uri="{BB962C8B-B14F-4D97-AF65-F5344CB8AC3E}">
        <p14:creationId xmlns:p14="http://schemas.microsoft.com/office/powerpoint/2010/main" val="999956595"/>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8457632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30066147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0" y="1346200"/>
            <a:ext cx="449580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346200"/>
            <a:ext cx="449580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998925488"/>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26794301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237125710"/>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07555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71921575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39656467"/>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9253319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2700"/>
            <a:ext cx="2286000" cy="65405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12700"/>
            <a:ext cx="6705600" cy="65405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53370972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82575" y="12700"/>
            <a:ext cx="8178800" cy="11811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1346200"/>
            <a:ext cx="4495800" cy="5207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346200"/>
            <a:ext cx="4495800" cy="25273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4025900"/>
            <a:ext cx="4495800" cy="25273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1096747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82575" y="12700"/>
            <a:ext cx="8178800" cy="11811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0" y="1346200"/>
            <a:ext cx="9144000" cy="5207000"/>
          </a:xfrm>
        </p:spPr>
        <p:txBody>
          <a:bodyPr/>
          <a:lstStyle/>
          <a:p>
            <a:pPr lvl="0"/>
            <a:endParaRPr lang="zh-CN" altLang="en-US" noProof="0" smtClean="0"/>
          </a:p>
        </p:txBody>
      </p:sp>
    </p:spTree>
    <p:extLst>
      <p:ext uri="{BB962C8B-B14F-4D97-AF65-F5344CB8AC3E}">
        <p14:creationId xmlns:p14="http://schemas.microsoft.com/office/powerpoint/2010/main" val="1905335317"/>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82575" y="12700"/>
            <a:ext cx="8178800" cy="11811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1346200"/>
            <a:ext cx="4495800" cy="5207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346200"/>
            <a:ext cx="4495800" cy="5207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6872898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0" y="977900"/>
            <a:ext cx="9144000" cy="5880100"/>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7" name="Rectangle 7"/>
          <p:cNvSpPr>
            <a:spLocks noChangeArrowheads="1"/>
          </p:cNvSpPr>
          <p:nvPr userDrawn="1"/>
        </p:nvSpPr>
        <p:spPr bwMode="auto">
          <a:xfrm>
            <a:off x="4371975" y="0"/>
            <a:ext cx="1841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lnSpc>
                <a:spcPct val="90000"/>
              </a:lnSpc>
              <a:spcBef>
                <a:spcPct val="50000"/>
              </a:spcBef>
              <a:buChar char="•"/>
              <a:defRPr sz="4000" b="1">
                <a:solidFill>
                  <a:srgbClr val="0000FF"/>
                </a:solidFill>
                <a:latin typeface="Arial" panose="020B0604020202020204" pitchFamily="34" charset="0"/>
                <a:ea typeface="楷体_GB2312" charset="-122"/>
              </a:defRPr>
            </a:lvl1pPr>
            <a:lvl2pPr marL="742950" indent="-285750">
              <a:lnSpc>
                <a:spcPct val="90000"/>
              </a:lnSpc>
              <a:spcBef>
                <a:spcPct val="50000"/>
              </a:spcBef>
              <a:buChar char="•"/>
              <a:defRPr sz="4000" b="1">
                <a:solidFill>
                  <a:srgbClr val="0000FF"/>
                </a:solidFill>
                <a:latin typeface="Arial" panose="020B0604020202020204" pitchFamily="34" charset="0"/>
                <a:ea typeface="楷体_GB2312" charset="-122"/>
              </a:defRPr>
            </a:lvl2pPr>
            <a:lvl3pPr marL="1143000" indent="-228600">
              <a:lnSpc>
                <a:spcPct val="90000"/>
              </a:lnSpc>
              <a:spcBef>
                <a:spcPct val="50000"/>
              </a:spcBef>
              <a:buChar char="•"/>
              <a:defRPr sz="4000" b="1">
                <a:solidFill>
                  <a:srgbClr val="0000FF"/>
                </a:solidFill>
                <a:latin typeface="Arial" panose="020B0604020202020204" pitchFamily="34" charset="0"/>
                <a:ea typeface="楷体_GB2312" charset="-122"/>
              </a:defRPr>
            </a:lvl3pPr>
            <a:lvl4pPr marL="1600200" indent="-228600">
              <a:lnSpc>
                <a:spcPct val="90000"/>
              </a:lnSpc>
              <a:spcBef>
                <a:spcPct val="50000"/>
              </a:spcBef>
              <a:buChar char="•"/>
              <a:defRPr sz="4000" b="1">
                <a:solidFill>
                  <a:srgbClr val="0000FF"/>
                </a:solidFill>
                <a:latin typeface="Arial" panose="020B0604020202020204" pitchFamily="34" charset="0"/>
                <a:ea typeface="楷体_GB2312" charset="-122"/>
              </a:defRPr>
            </a:lvl4pPr>
            <a:lvl5pPr marL="2057400" indent="-228600">
              <a:lnSpc>
                <a:spcPct val="90000"/>
              </a:lnSpc>
              <a:spcBef>
                <a:spcPct val="50000"/>
              </a:spcBef>
              <a:buChar char="•"/>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a:lnSpc>
                <a:spcPct val="100000"/>
              </a:lnSpc>
              <a:spcBef>
                <a:spcPct val="0"/>
              </a:spcBef>
              <a:buFontTx/>
              <a:buNone/>
              <a:defRPr/>
            </a:pPr>
            <a:endParaRPr lang="zh-CN" altLang="en-US" sz="2400" b="0" smtClean="0">
              <a:solidFill>
                <a:schemeClr val="tx1"/>
              </a:solidFill>
              <a:latin typeface="Times" panose="02020603050405020304" pitchFamily="18" charset="0"/>
              <a:ea typeface="宋体" panose="02010600030101010101" pitchFamily="2" charset="-122"/>
              <a:cs typeface="+mn-cs"/>
            </a:endParaRPr>
          </a:p>
        </p:txBody>
      </p:sp>
      <p:sp>
        <p:nvSpPr>
          <p:cNvPr id="1028" name="Rectangle 14"/>
          <p:cNvSpPr>
            <a:spLocks noChangeArrowheads="1"/>
          </p:cNvSpPr>
          <p:nvPr userDrawn="1"/>
        </p:nvSpPr>
        <p:spPr bwMode="auto">
          <a:xfrm>
            <a:off x="-12700" y="774700"/>
            <a:ext cx="3467100" cy="42863"/>
          </a:xfrm>
          <a:prstGeom prst="rect">
            <a:avLst/>
          </a:prstGeom>
          <a:solidFill>
            <a:srgbClr val="800000"/>
          </a:solidFill>
          <a:ln w="9525">
            <a:solidFill>
              <a:srgbClr val="800000"/>
            </a:solidFill>
            <a:miter lim="800000"/>
            <a:headEnd/>
            <a:tailEnd/>
          </a:ln>
        </p:spPr>
        <p:txBody>
          <a:bodyPr wrap="none" anchor="ctr"/>
          <a:lstStyle>
            <a:lvl1pPr>
              <a:lnSpc>
                <a:spcPct val="90000"/>
              </a:lnSpc>
              <a:spcBef>
                <a:spcPct val="50000"/>
              </a:spcBef>
              <a:buChar char="•"/>
              <a:defRPr sz="4000" b="1">
                <a:solidFill>
                  <a:srgbClr val="0000FF"/>
                </a:solidFill>
                <a:latin typeface="Arial" panose="020B0604020202020204" pitchFamily="34" charset="0"/>
                <a:ea typeface="楷体_GB2312" charset="-122"/>
              </a:defRPr>
            </a:lvl1pPr>
            <a:lvl2pPr marL="742950" indent="-285750">
              <a:lnSpc>
                <a:spcPct val="90000"/>
              </a:lnSpc>
              <a:spcBef>
                <a:spcPct val="50000"/>
              </a:spcBef>
              <a:buChar char="•"/>
              <a:defRPr sz="4000" b="1">
                <a:solidFill>
                  <a:srgbClr val="0000FF"/>
                </a:solidFill>
                <a:latin typeface="Arial" panose="020B0604020202020204" pitchFamily="34" charset="0"/>
                <a:ea typeface="楷体_GB2312" charset="-122"/>
              </a:defRPr>
            </a:lvl2pPr>
            <a:lvl3pPr marL="1143000" indent="-228600">
              <a:lnSpc>
                <a:spcPct val="90000"/>
              </a:lnSpc>
              <a:spcBef>
                <a:spcPct val="50000"/>
              </a:spcBef>
              <a:buChar char="•"/>
              <a:defRPr sz="4000" b="1">
                <a:solidFill>
                  <a:srgbClr val="0000FF"/>
                </a:solidFill>
                <a:latin typeface="Arial" panose="020B0604020202020204" pitchFamily="34" charset="0"/>
                <a:ea typeface="楷体_GB2312" charset="-122"/>
              </a:defRPr>
            </a:lvl3pPr>
            <a:lvl4pPr marL="1600200" indent="-228600">
              <a:lnSpc>
                <a:spcPct val="90000"/>
              </a:lnSpc>
              <a:spcBef>
                <a:spcPct val="50000"/>
              </a:spcBef>
              <a:buChar char="•"/>
              <a:defRPr sz="4000" b="1">
                <a:solidFill>
                  <a:srgbClr val="0000FF"/>
                </a:solidFill>
                <a:latin typeface="Arial" panose="020B0604020202020204" pitchFamily="34" charset="0"/>
                <a:ea typeface="楷体_GB2312" charset="-122"/>
              </a:defRPr>
            </a:lvl4pPr>
            <a:lvl5pPr marL="2057400" indent="-228600">
              <a:lnSpc>
                <a:spcPct val="90000"/>
              </a:lnSpc>
              <a:spcBef>
                <a:spcPct val="50000"/>
              </a:spcBef>
              <a:buChar char="•"/>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eaLnBrk="1" hangingPunct="1">
              <a:defRPr/>
            </a:pPr>
            <a:endParaRPr lang="zh-CN" altLang="en-US" smtClean="0">
              <a:cs typeface="+mn-cs"/>
            </a:endParaRPr>
          </a:p>
        </p:txBody>
      </p:sp>
      <p:sp>
        <p:nvSpPr>
          <p:cNvPr id="1029" name="Rectangle 2"/>
          <p:cNvSpPr>
            <a:spLocks noGrp="1" noChangeArrowheads="1"/>
          </p:cNvSpPr>
          <p:nvPr>
            <p:ph type="title"/>
          </p:nvPr>
        </p:nvSpPr>
        <p:spPr bwMode="auto">
          <a:xfrm>
            <a:off x="0" y="12700"/>
            <a:ext cx="8178800" cy="609600"/>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Tree>
  </p:cSld>
  <p:clrMap bg1="dk2" tx1="lt1" bg2="dk1" tx2="lt2" accent1="accent1" accent2="accent2" accent3="accent3" accent4="accent4" accent5="accent5" accent6="accent6" hlink="hlink" folHlink="folHlink"/>
  <p:sldLayoutIdLst>
    <p:sldLayoutId id="2147483797"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Lst>
  <p:transition/>
  <p:txStyles>
    <p:titleStyle>
      <a:lvl1pPr algn="l" rtl="0" eaLnBrk="0" fontAlgn="base" hangingPunct="0">
        <a:spcBef>
          <a:spcPct val="0"/>
        </a:spcBef>
        <a:spcAft>
          <a:spcPct val="0"/>
        </a:spcAft>
        <a:defRPr sz="3600" b="1">
          <a:solidFill>
            <a:srgbClr val="990000"/>
          </a:solidFill>
          <a:latin typeface="+mj-lt"/>
          <a:ea typeface="+mj-ea"/>
          <a:cs typeface="楷体_GB2312"/>
        </a:defRPr>
      </a:lvl1pPr>
      <a:lvl2pPr algn="l" rtl="0" eaLnBrk="0" fontAlgn="base" hangingPunct="0">
        <a:spcBef>
          <a:spcPct val="0"/>
        </a:spcBef>
        <a:spcAft>
          <a:spcPct val="0"/>
        </a:spcAft>
        <a:defRPr sz="3600" b="1">
          <a:solidFill>
            <a:srgbClr val="990000"/>
          </a:solidFill>
          <a:latin typeface="Arial" pitchFamily="34" charset="0"/>
          <a:ea typeface="楷体_GB2312" pitchFamily="49" charset="-122"/>
          <a:cs typeface="楷体_GB2312"/>
        </a:defRPr>
      </a:lvl2pPr>
      <a:lvl3pPr algn="l" rtl="0" eaLnBrk="0" fontAlgn="base" hangingPunct="0">
        <a:spcBef>
          <a:spcPct val="0"/>
        </a:spcBef>
        <a:spcAft>
          <a:spcPct val="0"/>
        </a:spcAft>
        <a:defRPr sz="3600" b="1">
          <a:solidFill>
            <a:srgbClr val="990000"/>
          </a:solidFill>
          <a:latin typeface="Arial" pitchFamily="34" charset="0"/>
          <a:ea typeface="楷体_GB2312" pitchFamily="49" charset="-122"/>
          <a:cs typeface="楷体_GB2312"/>
        </a:defRPr>
      </a:lvl3pPr>
      <a:lvl4pPr algn="l" rtl="0" eaLnBrk="0" fontAlgn="base" hangingPunct="0">
        <a:spcBef>
          <a:spcPct val="0"/>
        </a:spcBef>
        <a:spcAft>
          <a:spcPct val="0"/>
        </a:spcAft>
        <a:defRPr sz="3600" b="1">
          <a:solidFill>
            <a:srgbClr val="990000"/>
          </a:solidFill>
          <a:latin typeface="Arial" pitchFamily="34" charset="0"/>
          <a:ea typeface="楷体_GB2312" pitchFamily="49" charset="-122"/>
          <a:cs typeface="楷体_GB2312"/>
        </a:defRPr>
      </a:lvl4pPr>
      <a:lvl5pPr algn="l" rtl="0" eaLnBrk="0" fontAlgn="base" hangingPunct="0">
        <a:spcBef>
          <a:spcPct val="0"/>
        </a:spcBef>
        <a:spcAft>
          <a:spcPct val="0"/>
        </a:spcAft>
        <a:defRPr sz="3600" b="1">
          <a:solidFill>
            <a:srgbClr val="990000"/>
          </a:solidFill>
          <a:latin typeface="Arial" pitchFamily="34" charset="0"/>
          <a:ea typeface="楷体_GB2312" pitchFamily="49" charset="-122"/>
          <a:cs typeface="楷体_GB2312"/>
        </a:defRPr>
      </a:lvl5pPr>
      <a:lvl6pPr marL="457200" algn="l" rtl="0" fontAlgn="base">
        <a:spcBef>
          <a:spcPct val="0"/>
        </a:spcBef>
        <a:spcAft>
          <a:spcPct val="0"/>
        </a:spcAft>
        <a:defRPr sz="3600" b="1">
          <a:solidFill>
            <a:srgbClr val="990000"/>
          </a:solidFill>
          <a:latin typeface="Arial" pitchFamily="34" charset="0"/>
          <a:ea typeface="楷体_GB2312" pitchFamily="49" charset="-122"/>
        </a:defRPr>
      </a:lvl6pPr>
      <a:lvl7pPr marL="914400" algn="l" rtl="0" fontAlgn="base">
        <a:spcBef>
          <a:spcPct val="0"/>
        </a:spcBef>
        <a:spcAft>
          <a:spcPct val="0"/>
        </a:spcAft>
        <a:defRPr sz="3600" b="1">
          <a:solidFill>
            <a:srgbClr val="990000"/>
          </a:solidFill>
          <a:latin typeface="Arial" pitchFamily="34" charset="0"/>
          <a:ea typeface="楷体_GB2312" pitchFamily="49" charset="-122"/>
        </a:defRPr>
      </a:lvl7pPr>
      <a:lvl8pPr marL="1371600" algn="l" rtl="0" fontAlgn="base">
        <a:spcBef>
          <a:spcPct val="0"/>
        </a:spcBef>
        <a:spcAft>
          <a:spcPct val="0"/>
        </a:spcAft>
        <a:defRPr sz="3600" b="1">
          <a:solidFill>
            <a:srgbClr val="990000"/>
          </a:solidFill>
          <a:latin typeface="Arial" pitchFamily="34" charset="0"/>
          <a:ea typeface="楷体_GB2312" pitchFamily="49" charset="-122"/>
        </a:defRPr>
      </a:lvl8pPr>
      <a:lvl9pPr marL="1828800" algn="l" rtl="0" fontAlgn="base">
        <a:spcBef>
          <a:spcPct val="0"/>
        </a:spcBef>
        <a:spcAft>
          <a:spcPct val="0"/>
        </a:spcAft>
        <a:defRPr sz="3600" b="1">
          <a:solidFill>
            <a:srgbClr val="990000"/>
          </a:solidFill>
          <a:latin typeface="Arial" pitchFamily="34" charset="0"/>
          <a:ea typeface="楷体_GB2312" pitchFamily="49" charset="-122"/>
        </a:defRPr>
      </a:lvl9pPr>
    </p:titleStyle>
    <p:bodyStyle>
      <a:lvl1pPr marL="342900" indent="-342900" algn="l" rtl="0" eaLnBrk="0" fontAlgn="base" hangingPunct="0">
        <a:spcBef>
          <a:spcPct val="20000"/>
        </a:spcBef>
        <a:spcAft>
          <a:spcPct val="0"/>
        </a:spcAft>
        <a:buChar char="•"/>
        <a:defRPr sz="3200" b="1">
          <a:solidFill>
            <a:srgbClr val="000000"/>
          </a:solidFill>
          <a:latin typeface="+mn-lt"/>
          <a:ea typeface="+mn-ea"/>
          <a:cs typeface="宋体" charset="0"/>
        </a:defRPr>
      </a:lvl1pPr>
      <a:lvl2pPr marL="742950" indent="-285750" algn="l" rtl="0" eaLnBrk="0" fontAlgn="base" hangingPunct="0">
        <a:spcBef>
          <a:spcPct val="20000"/>
        </a:spcBef>
        <a:spcAft>
          <a:spcPct val="0"/>
        </a:spcAft>
        <a:buChar char="–"/>
        <a:defRPr sz="2800" b="1">
          <a:solidFill>
            <a:srgbClr val="000000"/>
          </a:solidFill>
          <a:latin typeface="+mn-lt"/>
          <a:ea typeface="+mn-ea"/>
        </a:defRPr>
      </a:lvl2pPr>
      <a:lvl3pPr marL="1143000" indent="-228600" algn="l" rtl="0" eaLnBrk="0" fontAlgn="base" hangingPunct="0">
        <a:spcBef>
          <a:spcPct val="20000"/>
        </a:spcBef>
        <a:spcAft>
          <a:spcPct val="0"/>
        </a:spcAft>
        <a:buChar char="•"/>
        <a:defRPr sz="24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vl6pPr marL="2514600" indent="-228600" algn="l" rtl="0" fontAlgn="base">
        <a:spcBef>
          <a:spcPct val="20000"/>
        </a:spcBef>
        <a:spcAft>
          <a:spcPct val="0"/>
        </a:spcAft>
        <a:buChar char="»"/>
        <a:defRPr sz="2000" b="1">
          <a:solidFill>
            <a:srgbClr val="000000"/>
          </a:solidFill>
          <a:latin typeface="+mn-lt"/>
          <a:ea typeface="+mn-ea"/>
        </a:defRPr>
      </a:lvl6pPr>
      <a:lvl7pPr marL="2971800" indent="-228600" algn="l" rtl="0" fontAlgn="base">
        <a:spcBef>
          <a:spcPct val="20000"/>
        </a:spcBef>
        <a:spcAft>
          <a:spcPct val="0"/>
        </a:spcAft>
        <a:buChar char="»"/>
        <a:defRPr sz="2000" b="1">
          <a:solidFill>
            <a:srgbClr val="000000"/>
          </a:solidFill>
          <a:latin typeface="+mn-lt"/>
          <a:ea typeface="+mn-ea"/>
        </a:defRPr>
      </a:lvl7pPr>
      <a:lvl8pPr marL="3429000" indent="-228600" algn="l" rtl="0" fontAlgn="base">
        <a:spcBef>
          <a:spcPct val="20000"/>
        </a:spcBef>
        <a:spcAft>
          <a:spcPct val="0"/>
        </a:spcAft>
        <a:buChar char="»"/>
        <a:defRPr sz="2000" b="1">
          <a:solidFill>
            <a:srgbClr val="000000"/>
          </a:solidFill>
          <a:latin typeface="+mn-lt"/>
          <a:ea typeface="+mn-ea"/>
        </a:defRPr>
      </a:lvl8pPr>
      <a:lvl9pPr marL="3886200" indent="-228600" algn="l" rtl="0" fontAlgn="base">
        <a:spcBef>
          <a:spcPct val="20000"/>
        </a:spcBef>
        <a:spcAft>
          <a:spcPct val="0"/>
        </a:spcAft>
        <a:buChar char="»"/>
        <a:defRPr sz="20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0" y="1346200"/>
            <a:ext cx="9144000" cy="5207000"/>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7" name="Rectangle 7"/>
          <p:cNvSpPr>
            <a:spLocks noChangeArrowheads="1"/>
          </p:cNvSpPr>
          <p:nvPr userDrawn="1"/>
        </p:nvSpPr>
        <p:spPr bwMode="auto">
          <a:xfrm>
            <a:off x="4371975" y="0"/>
            <a:ext cx="1841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latin typeface="Times" panose="02020603050405020304" pitchFamily="18" charset="0"/>
              <a:ea typeface="宋体" panose="02010600030101010101" pitchFamily="2" charset="-122"/>
            </a:endParaRPr>
          </a:p>
        </p:txBody>
      </p:sp>
      <p:sp>
        <p:nvSpPr>
          <p:cNvPr id="1028" name="Rectangle 11"/>
          <p:cNvSpPr>
            <a:spLocks noChangeArrowheads="1"/>
          </p:cNvSpPr>
          <p:nvPr userDrawn="1"/>
        </p:nvSpPr>
        <p:spPr bwMode="auto">
          <a:xfrm>
            <a:off x="0" y="6400800"/>
            <a:ext cx="9144000" cy="457200"/>
          </a:xfrm>
          <a:prstGeom prst="rect">
            <a:avLst/>
          </a:prstGeom>
          <a:solidFill>
            <a:srgbClr val="8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latin typeface="Times" panose="02020603050405020304" pitchFamily="18" charset="0"/>
              <a:ea typeface="宋体" panose="02010600030101010101" pitchFamily="2" charset="-122"/>
            </a:endParaRPr>
          </a:p>
        </p:txBody>
      </p:sp>
      <p:sp>
        <p:nvSpPr>
          <p:cNvPr id="1029" name="Rectangle 14"/>
          <p:cNvSpPr>
            <a:spLocks noChangeArrowheads="1"/>
          </p:cNvSpPr>
          <p:nvPr userDrawn="1"/>
        </p:nvSpPr>
        <p:spPr bwMode="auto">
          <a:xfrm>
            <a:off x="-12700" y="1193800"/>
            <a:ext cx="9144000" cy="152400"/>
          </a:xfrm>
          <a:prstGeom prst="rect">
            <a:avLst/>
          </a:prstGeom>
          <a:solidFill>
            <a:srgbClr val="800000"/>
          </a:solidFill>
          <a:ln w="9525">
            <a:solidFill>
              <a:srgbClr val="800000"/>
            </a:solidFill>
            <a:miter lim="800000"/>
            <a:headEnd/>
            <a:tailEnd/>
          </a:ln>
        </p:spPr>
        <p:txBody>
          <a:bodyPr wrap="none" anchor="ct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endParaRPr>
          </a:p>
        </p:txBody>
      </p:sp>
      <p:sp>
        <p:nvSpPr>
          <p:cNvPr id="1030" name="Rectangle 16"/>
          <p:cNvSpPr>
            <a:spLocks noChangeArrowheads="1"/>
          </p:cNvSpPr>
          <p:nvPr userDrawn="1"/>
        </p:nvSpPr>
        <p:spPr bwMode="auto">
          <a:xfrm>
            <a:off x="-15875" y="12700"/>
            <a:ext cx="9144000" cy="119380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endParaRPr>
          </a:p>
        </p:txBody>
      </p:sp>
      <p:sp>
        <p:nvSpPr>
          <p:cNvPr id="1031" name="Rectangle 2"/>
          <p:cNvSpPr>
            <a:spLocks noGrp="1" noChangeArrowheads="1"/>
          </p:cNvSpPr>
          <p:nvPr>
            <p:ph type="title"/>
          </p:nvPr>
        </p:nvSpPr>
        <p:spPr bwMode="auto">
          <a:xfrm>
            <a:off x="282575" y="12700"/>
            <a:ext cx="8178800" cy="1181100"/>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smtClean="0"/>
              <a:t>Click to edit Master title style</a:t>
            </a:r>
          </a:p>
        </p:txBody>
      </p:sp>
    </p:spTree>
    <p:extLst>
      <p:ext uri="{BB962C8B-B14F-4D97-AF65-F5344CB8AC3E}">
        <p14:creationId xmlns:p14="http://schemas.microsoft.com/office/powerpoint/2010/main" val="1643340595"/>
      </p:ext>
    </p:extLst>
  </p:cSld>
  <p:clrMap bg1="dk2" tx1="lt1" bg2="dk1" tx2="lt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Lst>
  <p:transition/>
  <p:txStyles>
    <p:titleStyle>
      <a:lvl1pPr algn="l" rtl="0" eaLnBrk="0" fontAlgn="base" hangingPunct="0">
        <a:spcBef>
          <a:spcPct val="0"/>
        </a:spcBef>
        <a:spcAft>
          <a:spcPct val="0"/>
        </a:spcAft>
        <a:defRPr sz="4400" b="1">
          <a:solidFill>
            <a:srgbClr val="990000"/>
          </a:solidFill>
          <a:latin typeface="+mj-lt"/>
          <a:ea typeface="+mj-ea"/>
          <a:cs typeface="+mj-cs"/>
        </a:defRPr>
      </a:lvl1pPr>
      <a:lvl2pPr algn="l" rtl="0" eaLnBrk="0" fontAlgn="base" hangingPunct="0">
        <a:spcBef>
          <a:spcPct val="0"/>
        </a:spcBef>
        <a:spcAft>
          <a:spcPct val="0"/>
        </a:spcAft>
        <a:defRPr sz="4400" b="1">
          <a:solidFill>
            <a:srgbClr val="990000"/>
          </a:solidFill>
          <a:latin typeface="Arial" pitchFamily="34" charset="0"/>
          <a:ea typeface="楷体_GB2312"/>
          <a:cs typeface="楷体_GB2312"/>
        </a:defRPr>
      </a:lvl2pPr>
      <a:lvl3pPr algn="l" rtl="0" eaLnBrk="0" fontAlgn="base" hangingPunct="0">
        <a:spcBef>
          <a:spcPct val="0"/>
        </a:spcBef>
        <a:spcAft>
          <a:spcPct val="0"/>
        </a:spcAft>
        <a:defRPr sz="4400" b="1">
          <a:solidFill>
            <a:srgbClr val="990000"/>
          </a:solidFill>
          <a:latin typeface="Arial" pitchFamily="34" charset="0"/>
          <a:ea typeface="楷体_GB2312"/>
          <a:cs typeface="楷体_GB2312"/>
        </a:defRPr>
      </a:lvl3pPr>
      <a:lvl4pPr algn="l" rtl="0" eaLnBrk="0" fontAlgn="base" hangingPunct="0">
        <a:spcBef>
          <a:spcPct val="0"/>
        </a:spcBef>
        <a:spcAft>
          <a:spcPct val="0"/>
        </a:spcAft>
        <a:defRPr sz="4400" b="1">
          <a:solidFill>
            <a:srgbClr val="990000"/>
          </a:solidFill>
          <a:latin typeface="Arial" pitchFamily="34" charset="0"/>
          <a:ea typeface="楷体_GB2312"/>
          <a:cs typeface="楷体_GB2312"/>
        </a:defRPr>
      </a:lvl4pPr>
      <a:lvl5pPr algn="l" rtl="0" eaLnBrk="0" fontAlgn="base" hangingPunct="0">
        <a:spcBef>
          <a:spcPct val="0"/>
        </a:spcBef>
        <a:spcAft>
          <a:spcPct val="0"/>
        </a:spcAft>
        <a:defRPr sz="4400" b="1">
          <a:solidFill>
            <a:srgbClr val="990000"/>
          </a:solidFill>
          <a:latin typeface="Arial" pitchFamily="34" charset="0"/>
          <a:ea typeface="楷体_GB2312"/>
          <a:cs typeface="楷体_GB2312"/>
        </a:defRPr>
      </a:lvl5pPr>
      <a:lvl6pPr marL="457200" algn="l" rtl="0" fontAlgn="base">
        <a:spcBef>
          <a:spcPct val="0"/>
        </a:spcBef>
        <a:spcAft>
          <a:spcPct val="0"/>
        </a:spcAft>
        <a:defRPr sz="4400" b="1">
          <a:solidFill>
            <a:srgbClr val="990000"/>
          </a:solidFill>
          <a:latin typeface="Arial" pitchFamily="34" charset="0"/>
          <a:ea typeface="楷体_GB2312"/>
          <a:cs typeface="楷体_GB2312"/>
        </a:defRPr>
      </a:lvl6pPr>
      <a:lvl7pPr marL="914400" algn="l" rtl="0" fontAlgn="base">
        <a:spcBef>
          <a:spcPct val="0"/>
        </a:spcBef>
        <a:spcAft>
          <a:spcPct val="0"/>
        </a:spcAft>
        <a:defRPr sz="4400" b="1">
          <a:solidFill>
            <a:srgbClr val="990000"/>
          </a:solidFill>
          <a:latin typeface="Arial" pitchFamily="34" charset="0"/>
          <a:ea typeface="楷体_GB2312"/>
          <a:cs typeface="楷体_GB2312"/>
        </a:defRPr>
      </a:lvl7pPr>
      <a:lvl8pPr marL="1371600" algn="l" rtl="0" fontAlgn="base">
        <a:spcBef>
          <a:spcPct val="0"/>
        </a:spcBef>
        <a:spcAft>
          <a:spcPct val="0"/>
        </a:spcAft>
        <a:defRPr sz="4400" b="1">
          <a:solidFill>
            <a:srgbClr val="990000"/>
          </a:solidFill>
          <a:latin typeface="Arial" pitchFamily="34" charset="0"/>
          <a:ea typeface="楷体_GB2312"/>
          <a:cs typeface="楷体_GB2312"/>
        </a:defRPr>
      </a:lvl8pPr>
      <a:lvl9pPr marL="1828800" algn="l" rtl="0" fontAlgn="base">
        <a:spcBef>
          <a:spcPct val="0"/>
        </a:spcBef>
        <a:spcAft>
          <a:spcPct val="0"/>
        </a:spcAft>
        <a:defRPr sz="4400" b="1">
          <a:solidFill>
            <a:srgbClr val="990000"/>
          </a:solidFill>
          <a:latin typeface="Arial" pitchFamily="34" charset="0"/>
          <a:ea typeface="楷体_GB2312"/>
          <a:cs typeface="楷体_GB2312"/>
        </a:defRPr>
      </a:lvl9pPr>
    </p:titleStyle>
    <p:bodyStyle>
      <a:lvl1pPr marL="342900" indent="-342900" algn="l" rtl="0" eaLnBrk="0" fontAlgn="base" hangingPunct="0">
        <a:spcBef>
          <a:spcPct val="20000"/>
        </a:spcBef>
        <a:spcAft>
          <a:spcPct val="0"/>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00"/>
          </a:solidFill>
          <a:latin typeface="+mn-lt"/>
          <a:ea typeface="+mn-ea"/>
          <a:cs typeface="+mn-cs"/>
        </a:defRPr>
      </a:lvl2pPr>
      <a:lvl3pPr marL="1143000" indent="-228600" algn="l" rtl="0" eaLnBrk="0" fontAlgn="base" hangingPunct="0">
        <a:spcBef>
          <a:spcPct val="20000"/>
        </a:spcBef>
        <a:spcAft>
          <a:spcPct val="0"/>
        </a:spcAft>
        <a:buChar char="•"/>
        <a:defRPr sz="2400">
          <a:solidFill>
            <a:srgbClr val="000000"/>
          </a:solidFill>
          <a:latin typeface="+mn-lt"/>
          <a:ea typeface="+mn-ea"/>
          <a:cs typeface="+mn-cs"/>
        </a:defRPr>
      </a:lvl3pPr>
      <a:lvl4pPr marL="1600200" indent="-228600" algn="l" rtl="0" eaLnBrk="0" fontAlgn="base" hangingPunct="0">
        <a:spcBef>
          <a:spcPct val="20000"/>
        </a:spcBef>
        <a:spcAft>
          <a:spcPct val="0"/>
        </a:spcAft>
        <a:buChar char="–"/>
        <a:defRPr sz="2000">
          <a:solidFill>
            <a:srgbClr val="000000"/>
          </a:solidFill>
          <a:latin typeface="+mn-lt"/>
          <a:ea typeface="+mn-ea"/>
          <a:cs typeface="+mn-cs"/>
        </a:defRPr>
      </a:lvl4pPr>
      <a:lvl5pPr marL="2057400" indent="-228600" algn="l" rtl="0" eaLnBrk="0" fontAlgn="base" hangingPunct="0">
        <a:spcBef>
          <a:spcPct val="20000"/>
        </a:spcBef>
        <a:spcAft>
          <a:spcPct val="0"/>
        </a:spcAft>
        <a:buChar char="»"/>
        <a:defRPr sz="2000">
          <a:solidFill>
            <a:srgbClr val="000000"/>
          </a:solidFill>
          <a:latin typeface="+mn-lt"/>
          <a:ea typeface="+mn-ea"/>
          <a:cs typeface="+mn-cs"/>
        </a:defRPr>
      </a:lvl5pPr>
      <a:lvl6pPr marL="2514600" indent="-228600" algn="l" rtl="0" fontAlgn="base">
        <a:spcBef>
          <a:spcPct val="20000"/>
        </a:spcBef>
        <a:spcAft>
          <a:spcPct val="0"/>
        </a:spcAft>
        <a:buChar char="»"/>
        <a:defRPr sz="2000">
          <a:solidFill>
            <a:srgbClr val="000000"/>
          </a:solidFill>
          <a:latin typeface="+mn-lt"/>
          <a:ea typeface="+mn-ea"/>
          <a:cs typeface="+mn-cs"/>
        </a:defRPr>
      </a:lvl6pPr>
      <a:lvl7pPr marL="2971800" indent="-228600" algn="l" rtl="0" fontAlgn="base">
        <a:spcBef>
          <a:spcPct val="20000"/>
        </a:spcBef>
        <a:spcAft>
          <a:spcPct val="0"/>
        </a:spcAft>
        <a:buChar char="»"/>
        <a:defRPr sz="2000">
          <a:solidFill>
            <a:srgbClr val="000000"/>
          </a:solidFill>
          <a:latin typeface="+mn-lt"/>
          <a:ea typeface="+mn-ea"/>
          <a:cs typeface="+mn-cs"/>
        </a:defRPr>
      </a:lvl7pPr>
      <a:lvl8pPr marL="3429000" indent="-228600" algn="l" rtl="0" fontAlgn="base">
        <a:spcBef>
          <a:spcPct val="20000"/>
        </a:spcBef>
        <a:spcAft>
          <a:spcPct val="0"/>
        </a:spcAft>
        <a:buChar char="»"/>
        <a:defRPr sz="2000">
          <a:solidFill>
            <a:srgbClr val="000000"/>
          </a:solidFill>
          <a:latin typeface="+mn-lt"/>
          <a:ea typeface="+mn-ea"/>
          <a:cs typeface="+mn-cs"/>
        </a:defRPr>
      </a:lvl8pPr>
      <a:lvl9pPr marL="3886200" indent="-228600" algn="l" rtl="0" fontAlgn="base">
        <a:spcBef>
          <a:spcPct val="20000"/>
        </a:spcBef>
        <a:spcAft>
          <a:spcPct val="0"/>
        </a:spcAft>
        <a:buChar char="»"/>
        <a:defRPr sz="2000">
          <a:solidFill>
            <a:srgbClr val="000000"/>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w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5.xml"/><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12.wmf"/><Relationship Id="rId5" Type="http://schemas.openxmlformats.org/officeDocument/2006/relationships/image" Target="../media/image9.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1.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image" Target="../media/image13.wmf"/><Relationship Id="rId4"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5.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notesSlide" Target="../notesSlides/notesSlide11.xml"/><Relationship Id="rId7" Type="http://schemas.openxmlformats.org/officeDocument/2006/relationships/image" Target="../media/image17.wmf"/><Relationship Id="rId2" Type="http://schemas.openxmlformats.org/officeDocument/2006/relationships/slideLayout" Target="../slideLayouts/slideLayout13.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16.wmf"/><Relationship Id="rId4" Type="http://schemas.openxmlformats.org/officeDocument/2006/relationships/oleObject" Target="../embeddings/oleObject9.bin"/><Relationship Id="rId9" Type="http://schemas.openxmlformats.org/officeDocument/2006/relationships/oleObject" Target="../embeddings/oleObject12.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9.wmf"/><Relationship Id="rId5" Type="http://schemas.openxmlformats.org/officeDocument/2006/relationships/oleObject" Target="../embeddings/oleObject14.bin"/><Relationship Id="rId4" Type="http://schemas.openxmlformats.org/officeDocument/2006/relationships/image" Target="../media/image18.wmf"/></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notesSlide" Target="../notesSlides/notesSlide14.xml"/><Relationship Id="rId7" Type="http://schemas.openxmlformats.org/officeDocument/2006/relationships/image" Target="../media/image23.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6.bin"/><Relationship Id="rId11" Type="http://schemas.openxmlformats.org/officeDocument/2006/relationships/image" Target="../media/image25.wmf"/><Relationship Id="rId5" Type="http://schemas.openxmlformats.org/officeDocument/2006/relationships/image" Target="../media/image22.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24.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7.wmf"/></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33.wmf"/></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p:cNvSpPr>
            <a:spLocks noGrp="1" noChangeArrowheads="1"/>
          </p:cNvSpPr>
          <p:nvPr>
            <p:ph idx="1"/>
          </p:nvPr>
        </p:nvSpPr>
        <p:spPr>
          <a:xfrm>
            <a:off x="0" y="1346200"/>
            <a:ext cx="9144000" cy="5207000"/>
          </a:xfrm>
        </p:spPr>
        <p:txBody>
          <a:bodyPr/>
          <a:lstStyle/>
          <a:p>
            <a:r>
              <a:rPr lang="en-US" altLang="zh-CN" sz="3000" dirty="0"/>
              <a:t>2019</a:t>
            </a:r>
            <a:r>
              <a:rPr lang="zh-CN" altLang="en-US" sz="3000" dirty="0"/>
              <a:t>年</a:t>
            </a:r>
            <a:r>
              <a:rPr lang="en-US" altLang="zh-CN" sz="3000" dirty="0"/>
              <a:t>10</a:t>
            </a:r>
            <a:r>
              <a:rPr lang="zh-CN" altLang="en-US" sz="3000" dirty="0"/>
              <a:t>月</a:t>
            </a:r>
            <a:r>
              <a:rPr lang="en-US" altLang="zh-CN" sz="3000" dirty="0" smtClean="0"/>
              <a:t>10</a:t>
            </a:r>
            <a:r>
              <a:rPr lang="zh-CN" altLang="en-US" sz="3000" dirty="0" smtClean="0"/>
              <a:t>日晚</a:t>
            </a:r>
            <a:r>
              <a:rPr lang="en-US" altLang="zh-CN" sz="3000" dirty="0"/>
              <a:t>18:10</a:t>
            </a:r>
            <a:r>
              <a:rPr lang="zh-CN" altLang="en-US" sz="3000" dirty="0"/>
              <a:t>左右，江苏省无锡市锡山区</a:t>
            </a:r>
            <a:r>
              <a:rPr lang="en-US" altLang="zh-CN" sz="3000" dirty="0"/>
              <a:t>312</a:t>
            </a:r>
            <a:r>
              <a:rPr lang="zh-CN" altLang="en-US" sz="3000" dirty="0"/>
              <a:t>国道上海方向</a:t>
            </a:r>
            <a:r>
              <a:rPr lang="en-US" altLang="zh-CN" sz="3000" dirty="0"/>
              <a:t>K135</a:t>
            </a:r>
            <a:r>
              <a:rPr lang="zh-CN" altLang="en-US" sz="3000" dirty="0"/>
              <a:t>处、锡港路上跨桥出现桥面侧翻。截至</a:t>
            </a:r>
            <a:r>
              <a:rPr lang="en-US" altLang="zh-CN" sz="3000" dirty="0"/>
              <a:t>2019</a:t>
            </a:r>
            <a:r>
              <a:rPr lang="zh-CN" altLang="en-US" sz="3000" dirty="0"/>
              <a:t>年</a:t>
            </a:r>
            <a:r>
              <a:rPr lang="en-US" altLang="zh-CN" sz="3000" dirty="0"/>
              <a:t>10</a:t>
            </a:r>
            <a:r>
              <a:rPr lang="zh-CN" altLang="en-US" sz="3000" dirty="0"/>
              <a:t>月</a:t>
            </a:r>
            <a:r>
              <a:rPr lang="en-US" altLang="zh-CN" sz="3000" dirty="0"/>
              <a:t>11</a:t>
            </a:r>
            <a:r>
              <a:rPr lang="zh-CN" altLang="en-US" sz="3000" dirty="0"/>
              <a:t>日</a:t>
            </a:r>
            <a:r>
              <a:rPr lang="en-US" altLang="zh-CN" sz="3000" dirty="0"/>
              <a:t>5</a:t>
            </a:r>
            <a:r>
              <a:rPr lang="zh-CN" altLang="en-US" sz="3000" dirty="0"/>
              <a:t>时，事故共造成</a:t>
            </a:r>
            <a:r>
              <a:rPr lang="en-US" altLang="zh-CN" sz="3000" dirty="0"/>
              <a:t>3</a:t>
            </a:r>
            <a:r>
              <a:rPr lang="zh-CN" altLang="en-US" sz="3000" dirty="0"/>
              <a:t>人死亡，</a:t>
            </a:r>
            <a:r>
              <a:rPr lang="en-US" altLang="zh-CN" sz="3000" dirty="0"/>
              <a:t>2</a:t>
            </a:r>
            <a:r>
              <a:rPr lang="zh-CN" altLang="en-US" sz="3000" dirty="0"/>
              <a:t>人</a:t>
            </a:r>
            <a:r>
              <a:rPr lang="zh-CN" altLang="en-US" sz="3000" dirty="0" smtClean="0"/>
              <a:t>受伤。</a:t>
            </a:r>
            <a:endParaRPr lang="en-US" altLang="zh-CN" sz="3000" dirty="0"/>
          </a:p>
        </p:txBody>
      </p:sp>
      <p:sp>
        <p:nvSpPr>
          <p:cNvPr id="3" name="标题 2"/>
          <p:cNvSpPr>
            <a:spLocks noGrp="1"/>
          </p:cNvSpPr>
          <p:nvPr>
            <p:ph type="title"/>
          </p:nvPr>
        </p:nvSpPr>
        <p:spPr/>
        <p:txBody>
          <a:bodyPr/>
          <a:lstStyle/>
          <a:p>
            <a:r>
              <a:rPr lang="zh-CN" altLang="en-US" dirty="0"/>
              <a:t>无锡高架桥侧翻事件</a:t>
            </a:r>
          </a:p>
        </p:txBody>
      </p:sp>
      <p:pic>
        <p:nvPicPr>
          <p:cNvPr id="2" name="图片 1"/>
          <p:cNvPicPr>
            <a:picLocks noChangeAspect="1"/>
          </p:cNvPicPr>
          <p:nvPr/>
        </p:nvPicPr>
        <p:blipFill>
          <a:blip r:embed="rId2"/>
          <a:stretch>
            <a:fillRect/>
          </a:stretch>
        </p:blipFill>
        <p:spPr>
          <a:xfrm>
            <a:off x="4475453" y="3424551"/>
            <a:ext cx="4617055" cy="3078037"/>
          </a:xfrm>
          <a:prstGeom prst="rect">
            <a:avLst/>
          </a:prstGeom>
          <a:ln>
            <a:noFill/>
          </a:ln>
          <a:effectLst>
            <a:softEdge rad="112500"/>
          </a:effectLst>
        </p:spPr>
      </p:pic>
      <p:pic>
        <p:nvPicPr>
          <p:cNvPr id="5" name="图片 4"/>
          <p:cNvPicPr>
            <a:picLocks noChangeAspect="1"/>
          </p:cNvPicPr>
          <p:nvPr/>
        </p:nvPicPr>
        <p:blipFill>
          <a:blip r:embed="rId3"/>
          <a:stretch>
            <a:fillRect/>
          </a:stretch>
        </p:blipFill>
        <p:spPr>
          <a:xfrm>
            <a:off x="51492" y="3424552"/>
            <a:ext cx="4346575" cy="3078036"/>
          </a:xfrm>
          <a:prstGeom prst="rect">
            <a:avLst/>
          </a:prstGeom>
          <a:ln>
            <a:noFill/>
          </a:ln>
          <a:effectLst>
            <a:softEdge rad="112500"/>
          </a:effectLst>
        </p:spPr>
      </p:pic>
    </p:spTree>
    <p:extLst>
      <p:ext uri="{BB962C8B-B14F-4D97-AF65-F5344CB8AC3E}">
        <p14:creationId xmlns:p14="http://schemas.microsoft.com/office/powerpoint/2010/main" val="3570462449"/>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无锡高架桥侧翻事件</a:t>
            </a:r>
          </a:p>
        </p:txBody>
      </p:sp>
      <p:sp>
        <p:nvSpPr>
          <p:cNvPr id="4" name="内容占位符 3"/>
          <p:cNvSpPr>
            <a:spLocks noGrp="1"/>
          </p:cNvSpPr>
          <p:nvPr>
            <p:ph idx="1"/>
          </p:nvPr>
        </p:nvSpPr>
        <p:spPr/>
        <p:txBody>
          <a:bodyPr/>
          <a:lstStyle/>
          <a:p>
            <a:r>
              <a:rPr lang="zh-CN" altLang="en-US" sz="3000" b="1" dirty="0" smtClean="0">
                <a:solidFill>
                  <a:srgbClr val="C00000"/>
                </a:solidFill>
                <a:effectLst>
                  <a:outerShdw blurRad="38100" dist="38100" dir="2700000" algn="tl">
                    <a:srgbClr val="000000">
                      <a:alpha val="43137"/>
                    </a:srgbClr>
                  </a:outerShdw>
                </a:effectLst>
              </a:rPr>
              <a:t>事故分析</a:t>
            </a:r>
            <a:endParaRPr lang="en-US" altLang="zh-CN" sz="3000" b="1" dirty="0" smtClean="0">
              <a:solidFill>
                <a:srgbClr val="C00000"/>
              </a:solidFill>
              <a:effectLst>
                <a:outerShdw blurRad="38100" dist="38100" dir="2700000" algn="tl">
                  <a:srgbClr val="000000">
                    <a:alpha val="43137"/>
                  </a:srgbClr>
                </a:outerShdw>
              </a:effectLst>
            </a:endParaRPr>
          </a:p>
          <a:p>
            <a:pPr lvl="1">
              <a:spcBef>
                <a:spcPts val="600"/>
              </a:spcBef>
              <a:spcAft>
                <a:spcPts val="600"/>
              </a:spcAft>
            </a:pPr>
            <a:r>
              <a:rPr lang="zh-CN" altLang="en-US" dirty="0"/>
              <a:t>此次发生上部结构梁体侧翻的是锡港路上跨桥南侧</a:t>
            </a:r>
            <a:r>
              <a:rPr lang="en-US" altLang="zh-CN" dirty="0"/>
              <a:t>B</a:t>
            </a:r>
            <a:r>
              <a:rPr lang="zh-CN" altLang="en-US" dirty="0"/>
              <a:t>桥，全长</a:t>
            </a:r>
            <a:r>
              <a:rPr lang="en-US" altLang="zh-CN" dirty="0"/>
              <a:t>82</a:t>
            </a:r>
            <a:r>
              <a:rPr lang="zh-CN" altLang="en-US" dirty="0"/>
              <a:t>米，宽度</a:t>
            </a:r>
            <a:r>
              <a:rPr lang="en-US" altLang="zh-CN" dirty="0"/>
              <a:t>9.5</a:t>
            </a:r>
            <a:r>
              <a:rPr lang="zh-CN" altLang="en-US" dirty="0"/>
              <a:t>米</a:t>
            </a:r>
            <a:r>
              <a:rPr lang="zh-CN" altLang="en-US" dirty="0" smtClean="0"/>
              <a:t>。</a:t>
            </a:r>
            <a:endParaRPr lang="en-US" altLang="zh-CN" dirty="0" smtClean="0"/>
          </a:p>
          <a:p>
            <a:pPr lvl="1">
              <a:spcBef>
                <a:spcPts val="600"/>
              </a:spcBef>
              <a:spcAft>
                <a:spcPts val="600"/>
              </a:spcAft>
            </a:pPr>
            <a:r>
              <a:rPr lang="zh-CN" altLang="en-US" dirty="0" smtClean="0"/>
              <a:t>该桥于</a:t>
            </a:r>
            <a:r>
              <a:rPr lang="en-US" altLang="zh-CN" dirty="0"/>
              <a:t>2005</a:t>
            </a:r>
            <a:r>
              <a:rPr lang="zh-CN" altLang="en-US" dirty="0"/>
              <a:t>年</a:t>
            </a:r>
            <a:r>
              <a:rPr lang="en-US" altLang="zh-CN" dirty="0"/>
              <a:t>5</a:t>
            </a:r>
            <a:r>
              <a:rPr lang="zh-CN" altLang="en-US" dirty="0"/>
              <a:t>月开工建设，</a:t>
            </a:r>
            <a:r>
              <a:rPr lang="en-US" altLang="zh-CN" dirty="0"/>
              <a:t>2007</a:t>
            </a:r>
            <a:r>
              <a:rPr lang="zh-CN" altLang="en-US" dirty="0"/>
              <a:t>年</a:t>
            </a:r>
            <a:r>
              <a:rPr lang="en-US" altLang="zh-CN" dirty="0"/>
              <a:t>11</a:t>
            </a:r>
            <a:r>
              <a:rPr lang="zh-CN" altLang="en-US" dirty="0"/>
              <a:t>月通过竣工验收</a:t>
            </a:r>
            <a:r>
              <a:rPr lang="zh-CN" altLang="en-US" dirty="0" smtClean="0"/>
              <a:t>。</a:t>
            </a:r>
            <a:endParaRPr lang="en-US" altLang="zh-CN" dirty="0" smtClean="0"/>
          </a:p>
          <a:p>
            <a:pPr lvl="1">
              <a:spcBef>
                <a:spcPts val="600"/>
              </a:spcBef>
              <a:spcAft>
                <a:spcPts val="600"/>
              </a:spcAft>
            </a:pPr>
            <a:r>
              <a:rPr lang="zh-CN" altLang="en-US" dirty="0" smtClean="0"/>
              <a:t>经调查，</a:t>
            </a:r>
            <a:r>
              <a:rPr lang="zh-CN" altLang="en-US" dirty="0"/>
              <a:t>该桥梁体完整，未见折断，未见跨中和墩顶严重横向开裂现象，</a:t>
            </a:r>
            <a:r>
              <a:rPr lang="zh-CN" altLang="en-US" dirty="0" smtClean="0"/>
              <a:t>设计符合设计期相关规范要求。</a:t>
            </a:r>
            <a:endParaRPr lang="en-US" altLang="zh-CN" dirty="0" smtClean="0"/>
          </a:p>
          <a:p>
            <a:pPr lvl="1">
              <a:spcBef>
                <a:spcPts val="600"/>
              </a:spcBef>
              <a:spcAft>
                <a:spcPts val="600"/>
              </a:spcAft>
            </a:pPr>
            <a:r>
              <a:rPr lang="zh-CN" altLang="en-US" dirty="0" smtClean="0">
                <a:solidFill>
                  <a:srgbClr val="800000"/>
                </a:solidFill>
              </a:rPr>
              <a:t>事故原因初步分析为半挂牵引车严重超载导致桥梁发生侧翻，货车应载</a:t>
            </a:r>
            <a:r>
              <a:rPr lang="en-US" altLang="zh-CN" dirty="0">
                <a:solidFill>
                  <a:srgbClr val="800000"/>
                </a:solidFill>
              </a:rPr>
              <a:t>65</a:t>
            </a:r>
            <a:r>
              <a:rPr lang="zh-CN" altLang="en-US" dirty="0">
                <a:solidFill>
                  <a:srgbClr val="800000"/>
                </a:solidFill>
              </a:rPr>
              <a:t>吨，实载</a:t>
            </a:r>
            <a:r>
              <a:rPr lang="en-US" altLang="zh-CN" dirty="0">
                <a:solidFill>
                  <a:srgbClr val="800000"/>
                </a:solidFill>
              </a:rPr>
              <a:t>187</a:t>
            </a:r>
            <a:r>
              <a:rPr lang="zh-CN" altLang="en-US" dirty="0" smtClean="0">
                <a:solidFill>
                  <a:srgbClr val="800000"/>
                </a:solidFill>
              </a:rPr>
              <a:t>吨，严重超载。</a:t>
            </a:r>
            <a:endParaRPr lang="en-US" altLang="zh-CN" dirty="0">
              <a:solidFill>
                <a:srgbClr val="800000"/>
              </a:solidFill>
            </a:endParaRPr>
          </a:p>
        </p:txBody>
      </p:sp>
    </p:spTree>
    <p:extLst>
      <p:ext uri="{BB962C8B-B14F-4D97-AF65-F5344CB8AC3E}">
        <p14:creationId xmlns:p14="http://schemas.microsoft.com/office/powerpoint/2010/main" val="1401957989"/>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p:cNvSpPr>
            <a:spLocks noGrp="1" noChangeArrowheads="1"/>
          </p:cNvSpPr>
          <p:nvPr>
            <p:ph idx="1"/>
          </p:nvPr>
        </p:nvSpPr>
        <p:spPr>
          <a:xfrm>
            <a:off x="0" y="1346200"/>
            <a:ext cx="9144000" cy="5207000"/>
          </a:xfrm>
        </p:spPr>
        <p:txBody>
          <a:bodyPr/>
          <a:lstStyle/>
          <a:p>
            <a:r>
              <a:rPr lang="en-US" altLang="zh-CN" sz="2800" dirty="0" smtClean="0"/>
              <a:t>2009</a:t>
            </a:r>
            <a:r>
              <a:rPr lang="zh-CN" altLang="en-US" sz="2800" dirty="0" smtClean="0"/>
              <a:t>年</a:t>
            </a:r>
            <a:r>
              <a:rPr lang="en-US" altLang="zh-CN" sz="2800" dirty="0" smtClean="0"/>
              <a:t>4</a:t>
            </a:r>
            <a:r>
              <a:rPr lang="zh-CN" altLang="en-US" sz="2800" dirty="0" smtClean="0"/>
              <a:t>月</a:t>
            </a:r>
            <a:r>
              <a:rPr lang="en-US" altLang="zh-CN" sz="2800" dirty="0" smtClean="0"/>
              <a:t>12</a:t>
            </a:r>
            <a:r>
              <a:rPr lang="zh-CN" altLang="en-US" sz="2800" dirty="0" smtClean="0"/>
              <a:t>日，河南省漯河市的一辆重型拖挂货车压垮</a:t>
            </a:r>
            <a:r>
              <a:rPr lang="en-US" altLang="zh-CN" sz="2800" dirty="0" smtClean="0"/>
              <a:t>107</a:t>
            </a:r>
            <a:r>
              <a:rPr lang="zh-CN" altLang="en-US" sz="2800" dirty="0" smtClean="0"/>
              <a:t>国道澧</a:t>
            </a:r>
            <a:r>
              <a:rPr lang="zh-CN" altLang="en-US" sz="2800" dirty="0"/>
              <a:t>河</a:t>
            </a:r>
            <a:r>
              <a:rPr lang="zh-CN" altLang="en-US" sz="2800" dirty="0" smtClean="0"/>
              <a:t>桥。</a:t>
            </a:r>
            <a:endParaRPr lang="en-US" altLang="zh-CN" sz="2800" dirty="0" smtClean="0"/>
          </a:p>
          <a:p>
            <a:r>
              <a:rPr lang="zh-CN" altLang="en-US" sz="2800" dirty="0" smtClean="0"/>
              <a:t>对</a:t>
            </a:r>
            <a:r>
              <a:rPr lang="zh-CN" altLang="en-US" sz="2800" dirty="0"/>
              <a:t>事故车的检测表明，该货车主车重达</a:t>
            </a:r>
            <a:r>
              <a:rPr lang="en-US" altLang="zh-CN" sz="2800" dirty="0"/>
              <a:t>96</a:t>
            </a:r>
            <a:r>
              <a:rPr lang="zh-CN" altLang="en-US" sz="2800" dirty="0"/>
              <a:t>吨，挂车载货量约</a:t>
            </a:r>
            <a:r>
              <a:rPr lang="en-US" altLang="zh-CN" sz="2800" dirty="0"/>
              <a:t>150</a:t>
            </a:r>
            <a:r>
              <a:rPr lang="zh-CN" altLang="en-US" sz="2800" dirty="0"/>
              <a:t>吨，加上车身自重，总重约</a:t>
            </a:r>
            <a:r>
              <a:rPr lang="en-US" altLang="zh-CN" sz="2800" dirty="0"/>
              <a:t>260</a:t>
            </a:r>
            <a:r>
              <a:rPr lang="zh-CN" altLang="en-US" sz="2800" dirty="0"/>
              <a:t>吨，属严重超载</a:t>
            </a:r>
            <a:r>
              <a:rPr lang="zh-CN" altLang="en-US" sz="2800" dirty="0" smtClean="0"/>
              <a:t>。据</a:t>
            </a:r>
            <a:r>
              <a:rPr lang="zh-CN" altLang="en-US" sz="2800" dirty="0"/>
              <a:t>豫治超办文件规定，严禁车货总量</a:t>
            </a:r>
            <a:r>
              <a:rPr lang="en-US" altLang="zh-CN" sz="2800" dirty="0"/>
              <a:t>55</a:t>
            </a:r>
            <a:r>
              <a:rPr lang="zh-CN" altLang="en-US" sz="2800" dirty="0"/>
              <a:t>吨以上的车辆行驶公路和</a:t>
            </a:r>
            <a:r>
              <a:rPr lang="zh-CN" altLang="en-US" sz="2800" dirty="0" smtClean="0"/>
              <a:t>桥梁。</a:t>
            </a:r>
            <a:endParaRPr lang="en-US" altLang="zh-CN" sz="2800" dirty="0"/>
          </a:p>
        </p:txBody>
      </p:sp>
      <p:sp>
        <p:nvSpPr>
          <p:cNvPr id="3" name="标题 2"/>
          <p:cNvSpPr>
            <a:spLocks noGrp="1"/>
          </p:cNvSpPr>
          <p:nvPr>
            <p:ph type="title"/>
          </p:nvPr>
        </p:nvSpPr>
        <p:spPr/>
        <p:txBody>
          <a:bodyPr/>
          <a:lstStyle/>
          <a:p>
            <a:r>
              <a:rPr lang="zh-CN" altLang="en-US" dirty="0"/>
              <a:t>类似</a:t>
            </a:r>
            <a:r>
              <a:rPr lang="zh-CN" altLang="en-US" dirty="0" smtClean="0"/>
              <a:t>事故之一</a:t>
            </a:r>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3781" y="4047511"/>
            <a:ext cx="6656438" cy="2486025"/>
          </a:xfrm>
          <a:prstGeom prst="rect">
            <a:avLst/>
          </a:prstGeom>
          <a:ln>
            <a:noFill/>
          </a:ln>
          <a:effectLst>
            <a:softEdge rad="112500"/>
          </a:effectLst>
        </p:spPr>
      </p:pic>
    </p:spTree>
    <p:extLst>
      <p:ext uri="{BB962C8B-B14F-4D97-AF65-F5344CB8AC3E}">
        <p14:creationId xmlns:p14="http://schemas.microsoft.com/office/powerpoint/2010/main" val="266156622"/>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p:cNvSpPr>
            <a:spLocks noGrp="1" noChangeArrowheads="1"/>
          </p:cNvSpPr>
          <p:nvPr>
            <p:ph idx="1"/>
          </p:nvPr>
        </p:nvSpPr>
        <p:spPr>
          <a:xfrm>
            <a:off x="0" y="1346200"/>
            <a:ext cx="9144000" cy="5207000"/>
          </a:xfrm>
        </p:spPr>
        <p:txBody>
          <a:bodyPr/>
          <a:lstStyle/>
          <a:p>
            <a:r>
              <a:rPr lang="en-US" altLang="zh-CN" sz="2800" dirty="0"/>
              <a:t>2011</a:t>
            </a:r>
            <a:r>
              <a:rPr lang="zh-CN" altLang="en-US" sz="2800" dirty="0"/>
              <a:t>年</a:t>
            </a:r>
            <a:r>
              <a:rPr lang="en-US" altLang="zh-CN" sz="2800" dirty="0"/>
              <a:t>7</a:t>
            </a:r>
            <a:r>
              <a:rPr lang="zh-CN" altLang="en-US" sz="2800" dirty="0"/>
              <a:t>月</a:t>
            </a:r>
            <a:r>
              <a:rPr lang="en-US" altLang="zh-CN" sz="2800" dirty="0"/>
              <a:t>19</a:t>
            </a:r>
            <a:r>
              <a:rPr lang="zh-CN" altLang="en-US" sz="2800" dirty="0"/>
              <a:t>日，北京一辆重型半挂牵引车运载沙石料时</a:t>
            </a:r>
            <a:r>
              <a:rPr lang="zh-CN" altLang="en-US" sz="2800" dirty="0" smtClean="0"/>
              <a:t>，</a:t>
            </a:r>
            <a:r>
              <a:rPr lang="zh-CN" altLang="en-US" sz="2800" dirty="0"/>
              <a:t>压垮</a:t>
            </a:r>
            <a:r>
              <a:rPr lang="zh-CN" altLang="en-US" sz="2800" dirty="0" smtClean="0"/>
              <a:t>怀柔</a:t>
            </a:r>
            <a:r>
              <a:rPr lang="zh-CN" altLang="en-US" sz="2800" dirty="0"/>
              <a:t>区宝山</a:t>
            </a:r>
            <a:r>
              <a:rPr lang="zh-CN" altLang="en-US" sz="2800" dirty="0" smtClean="0"/>
              <a:t>寺白河桥。</a:t>
            </a:r>
            <a:endParaRPr lang="en-US" altLang="zh-CN" sz="2800" dirty="0" smtClean="0"/>
          </a:p>
          <a:p>
            <a:r>
              <a:rPr lang="zh-CN" altLang="en-US" sz="2800" dirty="0"/>
              <a:t>事后调查发现，这辆车严重超载了</a:t>
            </a:r>
            <a:r>
              <a:rPr lang="en-US" altLang="zh-CN" sz="2800" dirty="0"/>
              <a:t>110</a:t>
            </a:r>
            <a:r>
              <a:rPr lang="zh-CN" altLang="en-US" sz="2800" dirty="0"/>
              <a:t>余吨，是桥梁垮塌的主要</a:t>
            </a:r>
            <a:r>
              <a:rPr lang="zh-CN" altLang="en-US" sz="2800" dirty="0" smtClean="0"/>
              <a:t>原因。</a:t>
            </a:r>
            <a:endParaRPr lang="en-US" altLang="zh-CN" sz="2800" dirty="0"/>
          </a:p>
        </p:txBody>
      </p:sp>
      <p:sp>
        <p:nvSpPr>
          <p:cNvPr id="3" name="标题 2"/>
          <p:cNvSpPr>
            <a:spLocks noGrp="1"/>
          </p:cNvSpPr>
          <p:nvPr>
            <p:ph type="title"/>
          </p:nvPr>
        </p:nvSpPr>
        <p:spPr/>
        <p:txBody>
          <a:bodyPr/>
          <a:lstStyle/>
          <a:p>
            <a:r>
              <a:rPr lang="zh-CN" altLang="en-US" dirty="0"/>
              <a:t>类似</a:t>
            </a:r>
            <a:r>
              <a:rPr lang="zh-CN" altLang="en-US" dirty="0" smtClean="0"/>
              <a:t>事故之</a:t>
            </a:r>
            <a:r>
              <a:rPr lang="zh-CN" altLang="en-US" dirty="0"/>
              <a:t>二</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3329" y="3204395"/>
            <a:ext cx="6017341" cy="3329141"/>
          </a:xfrm>
          <a:prstGeom prst="rect">
            <a:avLst/>
          </a:prstGeom>
          <a:ln>
            <a:noFill/>
          </a:ln>
          <a:effectLst>
            <a:softEdge rad="112500"/>
          </a:effectLst>
        </p:spPr>
      </p:pic>
    </p:spTree>
    <p:extLst>
      <p:ext uri="{BB962C8B-B14F-4D97-AF65-F5344CB8AC3E}">
        <p14:creationId xmlns:p14="http://schemas.microsoft.com/office/powerpoint/2010/main" val="3097677844"/>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p:cNvSpPr>
            <a:spLocks noGrp="1" noChangeArrowheads="1"/>
          </p:cNvSpPr>
          <p:nvPr>
            <p:ph idx="1"/>
          </p:nvPr>
        </p:nvSpPr>
        <p:spPr>
          <a:xfrm>
            <a:off x="0" y="1346200"/>
            <a:ext cx="9144000" cy="5207000"/>
          </a:xfrm>
        </p:spPr>
        <p:txBody>
          <a:bodyPr/>
          <a:lstStyle/>
          <a:p>
            <a:r>
              <a:rPr lang="en-US" altLang="zh-CN" sz="2800" dirty="0"/>
              <a:t>2012</a:t>
            </a:r>
            <a:r>
              <a:rPr lang="zh-CN" altLang="en-US" sz="2800" dirty="0"/>
              <a:t>年</a:t>
            </a:r>
            <a:r>
              <a:rPr lang="en-US" altLang="zh-CN" sz="2800" dirty="0"/>
              <a:t>8</a:t>
            </a:r>
            <a:r>
              <a:rPr lang="zh-CN" altLang="en-US" sz="2800" dirty="0"/>
              <a:t>月</a:t>
            </a:r>
            <a:r>
              <a:rPr lang="en-US" altLang="zh-CN" sz="2800" dirty="0"/>
              <a:t>24</a:t>
            </a:r>
            <a:r>
              <a:rPr lang="zh-CN" altLang="en-US" sz="2800" dirty="0"/>
              <a:t>日，哈尔滨市三环路群力高架桥洪湖路上行匝道垮塌，导致</a:t>
            </a:r>
            <a:r>
              <a:rPr lang="en-US" altLang="zh-CN" sz="2800" dirty="0"/>
              <a:t>4</a:t>
            </a:r>
            <a:r>
              <a:rPr lang="zh-CN" altLang="en-US" sz="2800" dirty="0"/>
              <a:t>辆货车翻落，造成</a:t>
            </a:r>
            <a:r>
              <a:rPr lang="en-US" altLang="zh-CN" sz="2800" dirty="0"/>
              <a:t>3</a:t>
            </a:r>
            <a:r>
              <a:rPr lang="zh-CN" altLang="en-US" sz="2800" dirty="0"/>
              <a:t>人死亡、</a:t>
            </a:r>
            <a:r>
              <a:rPr lang="en-US" altLang="zh-CN" sz="2800" dirty="0"/>
              <a:t>5</a:t>
            </a:r>
            <a:r>
              <a:rPr lang="zh-CN" altLang="en-US" sz="2800" dirty="0"/>
              <a:t>人受伤。</a:t>
            </a:r>
            <a:endParaRPr lang="en-US" altLang="zh-CN" sz="2800" dirty="0" smtClean="0"/>
          </a:p>
          <a:p>
            <a:r>
              <a:rPr lang="zh-CN" altLang="en-US" sz="2800" dirty="0"/>
              <a:t>据事故调查组介绍，</a:t>
            </a:r>
            <a:r>
              <a:rPr lang="en-US" altLang="zh-CN" sz="2800" dirty="0"/>
              <a:t>4</a:t>
            </a:r>
            <a:r>
              <a:rPr lang="zh-CN" altLang="en-US" sz="2800" dirty="0"/>
              <a:t>台货车全部超载，</a:t>
            </a:r>
            <a:r>
              <a:rPr lang="en-US" altLang="zh-CN" sz="2800" dirty="0"/>
              <a:t>1</a:t>
            </a:r>
            <a:r>
              <a:rPr lang="zh-CN" altLang="en-US" sz="2800" dirty="0"/>
              <a:t>至</a:t>
            </a:r>
            <a:r>
              <a:rPr lang="en-US" altLang="zh-CN" sz="2800" dirty="0"/>
              <a:t>4</a:t>
            </a:r>
            <a:r>
              <a:rPr lang="zh-CN" altLang="en-US" sz="2800" dirty="0"/>
              <a:t>号车核载总量为</a:t>
            </a:r>
            <a:r>
              <a:rPr lang="en-US" altLang="zh-CN" sz="2800" dirty="0"/>
              <a:t>102.135</a:t>
            </a:r>
            <a:r>
              <a:rPr lang="zh-CN" altLang="en-US" sz="2800" dirty="0"/>
              <a:t>吨，实载总量为</a:t>
            </a:r>
            <a:r>
              <a:rPr lang="en-US" altLang="zh-CN" sz="2800" dirty="0"/>
              <a:t>395.4</a:t>
            </a:r>
            <a:r>
              <a:rPr lang="zh-CN" altLang="en-US" sz="2800" dirty="0"/>
              <a:t>吨，总超载为</a:t>
            </a:r>
            <a:r>
              <a:rPr lang="en-US" altLang="zh-CN" sz="2800" dirty="0"/>
              <a:t>293.265</a:t>
            </a:r>
            <a:r>
              <a:rPr lang="zh-CN" altLang="en-US" sz="2800" dirty="0"/>
              <a:t>吨，车货总重</a:t>
            </a:r>
            <a:r>
              <a:rPr lang="en-US" altLang="zh-CN" sz="2800" dirty="0"/>
              <a:t>485.185</a:t>
            </a:r>
            <a:r>
              <a:rPr lang="zh-CN" altLang="en-US" sz="2800" dirty="0" smtClean="0"/>
              <a:t>吨。</a:t>
            </a:r>
            <a:endParaRPr lang="en-US" altLang="zh-CN" sz="2800" dirty="0"/>
          </a:p>
        </p:txBody>
      </p:sp>
      <p:sp>
        <p:nvSpPr>
          <p:cNvPr id="3" name="标题 2"/>
          <p:cNvSpPr>
            <a:spLocks noGrp="1"/>
          </p:cNvSpPr>
          <p:nvPr>
            <p:ph type="title"/>
          </p:nvPr>
        </p:nvSpPr>
        <p:spPr/>
        <p:txBody>
          <a:bodyPr/>
          <a:lstStyle/>
          <a:p>
            <a:r>
              <a:rPr lang="zh-CN" altLang="en-US" dirty="0"/>
              <a:t>类似</a:t>
            </a:r>
            <a:r>
              <a:rPr lang="zh-CN" altLang="en-US" dirty="0" smtClean="0"/>
              <a:t>事故之</a:t>
            </a:r>
            <a:r>
              <a:rPr lang="zh-CN" altLang="en-US" dirty="0"/>
              <a:t>三</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1433" y="3998862"/>
            <a:ext cx="6381134" cy="2524842"/>
          </a:xfrm>
          <a:prstGeom prst="rect">
            <a:avLst/>
          </a:prstGeom>
          <a:ln>
            <a:noFill/>
          </a:ln>
          <a:effectLst>
            <a:softEdge rad="112500"/>
          </a:effectLst>
        </p:spPr>
      </p:pic>
    </p:spTree>
    <p:extLst>
      <p:ext uri="{BB962C8B-B14F-4D97-AF65-F5344CB8AC3E}">
        <p14:creationId xmlns:p14="http://schemas.microsoft.com/office/powerpoint/2010/main" val="3891270155"/>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无锡高架桥侧翻事件</a:t>
            </a:r>
          </a:p>
        </p:txBody>
      </p:sp>
      <p:sp>
        <p:nvSpPr>
          <p:cNvPr id="4" name="内容占位符 3"/>
          <p:cNvSpPr>
            <a:spLocks noGrp="1"/>
          </p:cNvSpPr>
          <p:nvPr>
            <p:ph idx="1"/>
          </p:nvPr>
        </p:nvSpPr>
        <p:spPr/>
        <p:txBody>
          <a:bodyPr/>
          <a:lstStyle/>
          <a:p>
            <a:r>
              <a:rPr lang="zh-CN" altLang="en-US" sz="3000" b="1" dirty="0" smtClean="0">
                <a:solidFill>
                  <a:srgbClr val="C00000"/>
                </a:solidFill>
                <a:effectLst>
                  <a:outerShdw blurRad="38100" dist="38100" dir="2700000" algn="tl">
                    <a:srgbClr val="000000">
                      <a:alpha val="43137"/>
                    </a:srgbClr>
                  </a:outerShdw>
                </a:effectLst>
              </a:rPr>
              <a:t>事故问责</a:t>
            </a:r>
          </a:p>
          <a:p>
            <a:pPr lvl="1">
              <a:spcBef>
                <a:spcPts val="600"/>
              </a:spcBef>
              <a:spcAft>
                <a:spcPts val="600"/>
              </a:spcAft>
            </a:pPr>
            <a:r>
              <a:rPr lang="zh-CN" altLang="en-US" sz="2400" dirty="0" smtClean="0">
                <a:solidFill>
                  <a:srgbClr val="800000"/>
                </a:solidFill>
              </a:rPr>
              <a:t>货车盈利模式</a:t>
            </a:r>
            <a:r>
              <a:rPr lang="en-US" altLang="zh-CN" sz="2400" dirty="0" smtClean="0">
                <a:solidFill>
                  <a:srgbClr val="800000"/>
                </a:solidFill>
              </a:rPr>
              <a:t>——</a:t>
            </a:r>
            <a:r>
              <a:rPr lang="zh-CN" altLang="en-US" sz="2400" dirty="0" smtClean="0">
                <a:solidFill>
                  <a:srgbClr val="800000"/>
                </a:solidFill>
              </a:rPr>
              <a:t>市场竞争因素：</a:t>
            </a:r>
            <a:r>
              <a:rPr lang="zh-CN" altLang="en-US" sz="2400" dirty="0" smtClean="0"/>
              <a:t>现</a:t>
            </a:r>
            <a:r>
              <a:rPr lang="zh-CN" altLang="en-US" sz="2400" dirty="0"/>
              <a:t>有的重载货车如果不超载很难实现盈利</a:t>
            </a:r>
            <a:r>
              <a:rPr lang="zh-CN" altLang="en-US" sz="2400" dirty="0" smtClean="0"/>
              <a:t>，既想提高货运行业的收入又要杜绝超载现象是非常困难的。</a:t>
            </a:r>
            <a:endParaRPr lang="en-US" altLang="zh-CN" sz="2400" dirty="0" smtClean="0"/>
          </a:p>
          <a:p>
            <a:pPr lvl="1">
              <a:spcBef>
                <a:spcPts val="600"/>
              </a:spcBef>
              <a:spcAft>
                <a:spcPts val="600"/>
              </a:spcAft>
            </a:pPr>
            <a:r>
              <a:rPr lang="zh-CN" altLang="en-US" sz="2400" dirty="0" smtClean="0">
                <a:solidFill>
                  <a:srgbClr val="800000"/>
                </a:solidFill>
              </a:rPr>
              <a:t>相关部门以罚代管</a:t>
            </a:r>
            <a:r>
              <a:rPr lang="zh-CN" altLang="en-US" sz="2400" dirty="0">
                <a:solidFill>
                  <a:srgbClr val="800000"/>
                </a:solidFill>
              </a:rPr>
              <a:t>：</a:t>
            </a:r>
            <a:r>
              <a:rPr lang="zh-CN" altLang="en-US" sz="2400" dirty="0"/>
              <a:t>超载货车罚款后继续放</a:t>
            </a:r>
            <a:r>
              <a:rPr lang="zh-CN" altLang="en-US" sz="2400" dirty="0" smtClean="0"/>
              <a:t>行，监管明显出现了纰漏，全国各地对于超载监管不力。</a:t>
            </a:r>
            <a:endParaRPr lang="en-US" altLang="zh-CN" sz="2400" dirty="0"/>
          </a:p>
        </p:txBody>
      </p:sp>
      <p:pic>
        <p:nvPicPr>
          <p:cNvPr id="2" name="图片 1"/>
          <p:cNvPicPr>
            <a:picLocks noChangeAspect="1"/>
          </p:cNvPicPr>
          <p:nvPr/>
        </p:nvPicPr>
        <p:blipFill rotWithShape="1">
          <a:blip r:embed="rId2"/>
          <a:srcRect b="15837"/>
          <a:stretch/>
        </p:blipFill>
        <p:spPr>
          <a:xfrm>
            <a:off x="51493" y="4019152"/>
            <a:ext cx="4470536" cy="2534048"/>
          </a:xfrm>
          <a:prstGeom prst="rect">
            <a:avLst/>
          </a:prstGeom>
          <a:ln>
            <a:noFill/>
          </a:ln>
          <a:effectLst>
            <a:softEdge rad="112500"/>
          </a:effectLst>
        </p:spPr>
      </p:pic>
      <p:pic>
        <p:nvPicPr>
          <p:cNvPr id="5" name="图片 4"/>
          <p:cNvPicPr>
            <a:picLocks noChangeAspect="1"/>
          </p:cNvPicPr>
          <p:nvPr/>
        </p:nvPicPr>
        <p:blipFill rotWithShape="1">
          <a:blip r:embed="rId3"/>
          <a:srcRect b="13780"/>
          <a:stretch/>
        </p:blipFill>
        <p:spPr>
          <a:xfrm>
            <a:off x="4522029" y="4019152"/>
            <a:ext cx="4522029" cy="2534048"/>
          </a:xfrm>
          <a:prstGeom prst="rect">
            <a:avLst/>
          </a:prstGeom>
          <a:ln>
            <a:noFill/>
          </a:ln>
          <a:effectLst>
            <a:softEdge rad="112500"/>
          </a:effectLst>
        </p:spPr>
      </p:pic>
    </p:spTree>
    <p:extLst>
      <p:ext uri="{BB962C8B-B14F-4D97-AF65-F5344CB8AC3E}">
        <p14:creationId xmlns:p14="http://schemas.microsoft.com/office/powerpoint/2010/main" val="129713865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无锡高架桥侧翻事件</a:t>
            </a:r>
          </a:p>
        </p:txBody>
      </p:sp>
      <p:sp>
        <p:nvSpPr>
          <p:cNvPr id="4" name="内容占位符 3"/>
          <p:cNvSpPr>
            <a:spLocks noGrp="1"/>
          </p:cNvSpPr>
          <p:nvPr>
            <p:ph idx="1"/>
          </p:nvPr>
        </p:nvSpPr>
        <p:spPr/>
        <p:txBody>
          <a:bodyPr/>
          <a:lstStyle/>
          <a:p>
            <a:r>
              <a:rPr lang="zh-CN" altLang="en-US" sz="3000" b="1" dirty="0" smtClean="0">
                <a:solidFill>
                  <a:srgbClr val="C00000"/>
                </a:solidFill>
                <a:effectLst>
                  <a:outerShdw blurRad="38100" dist="38100" dir="2700000" algn="tl">
                    <a:srgbClr val="000000">
                      <a:alpha val="43137"/>
                    </a:srgbClr>
                  </a:outerShdw>
                </a:effectLst>
              </a:rPr>
              <a:t>事故思考</a:t>
            </a:r>
            <a:endParaRPr lang="en-US" altLang="zh-CN" sz="3000" b="1" dirty="0" smtClean="0">
              <a:solidFill>
                <a:srgbClr val="C00000"/>
              </a:solidFill>
              <a:effectLst>
                <a:outerShdw blurRad="38100" dist="38100" dir="2700000" algn="tl">
                  <a:srgbClr val="000000">
                    <a:alpha val="43137"/>
                  </a:srgbClr>
                </a:outerShdw>
              </a:effectLst>
            </a:endParaRPr>
          </a:p>
          <a:p>
            <a:pPr lvl="1">
              <a:spcBef>
                <a:spcPts val="600"/>
              </a:spcBef>
              <a:spcAft>
                <a:spcPts val="600"/>
              </a:spcAft>
              <a:buFont typeface="Symbol" charset="2"/>
              <a:buChar char="-"/>
            </a:pPr>
            <a:r>
              <a:rPr lang="zh-CN" altLang="en-US" dirty="0"/>
              <a:t>保证城市道路、桥梁安全，才能保障城市道路交通所有参与人员的生命安全</a:t>
            </a:r>
            <a:r>
              <a:rPr lang="zh-CN" altLang="en-US" dirty="0" smtClean="0"/>
              <a:t>。</a:t>
            </a:r>
            <a:endParaRPr lang="en-US" altLang="zh-CN" dirty="0" smtClean="0"/>
          </a:p>
          <a:p>
            <a:pPr lvl="1">
              <a:spcBef>
                <a:spcPts val="600"/>
              </a:spcBef>
              <a:spcAft>
                <a:spcPts val="600"/>
              </a:spcAft>
              <a:buFont typeface="Symbol" charset="2"/>
              <a:buChar char="-"/>
            </a:pPr>
            <a:r>
              <a:rPr lang="zh-CN" altLang="en-US" dirty="0" smtClean="0"/>
              <a:t>此次无锡高架桥侧翻事故涉及</a:t>
            </a:r>
            <a:r>
              <a:rPr lang="zh-CN" altLang="en-US" dirty="0"/>
              <a:t>道路安全治理、交通治理、物流经济生态体系改善等重大课题，要从根本上解决现有问题，需要从多个方面同时着手</a:t>
            </a:r>
            <a:r>
              <a:rPr lang="zh-CN" altLang="en-US" dirty="0" smtClean="0"/>
              <a:t>。</a:t>
            </a:r>
            <a:endParaRPr lang="en-US" altLang="zh-CN" dirty="0" smtClean="0"/>
          </a:p>
          <a:p>
            <a:pPr lvl="1">
              <a:spcBef>
                <a:spcPts val="600"/>
              </a:spcBef>
              <a:spcAft>
                <a:spcPts val="600"/>
              </a:spcAft>
              <a:buFont typeface="Symbol" charset="2"/>
              <a:buChar char="-"/>
            </a:pPr>
            <a:r>
              <a:rPr lang="zh-CN" altLang="en-US" dirty="0" smtClean="0">
                <a:solidFill>
                  <a:srgbClr val="800000"/>
                </a:solidFill>
              </a:rPr>
              <a:t>对</a:t>
            </a:r>
            <a:r>
              <a:rPr lang="zh-CN" altLang="en-US" dirty="0">
                <a:solidFill>
                  <a:srgbClr val="800000"/>
                </a:solidFill>
              </a:rPr>
              <a:t>道路、桥梁</a:t>
            </a:r>
            <a:r>
              <a:rPr lang="zh-CN" altLang="en-US" dirty="0" smtClean="0">
                <a:solidFill>
                  <a:srgbClr val="800000"/>
                </a:solidFill>
              </a:rPr>
              <a:t>安全进行常规化定期排查和维护；</a:t>
            </a:r>
            <a:r>
              <a:rPr lang="zh-CN" altLang="en-US" dirty="0">
                <a:solidFill>
                  <a:srgbClr val="800000"/>
                </a:solidFill>
              </a:rPr>
              <a:t>对货车密集通过路段的限行和</a:t>
            </a:r>
            <a:r>
              <a:rPr lang="zh-CN" altLang="en-US" dirty="0" smtClean="0">
                <a:solidFill>
                  <a:srgbClr val="800000"/>
                </a:solidFill>
              </a:rPr>
              <a:t>管理；对超载超限车辆进行严格监管执法</a:t>
            </a:r>
            <a:r>
              <a:rPr lang="en-US" altLang="zh-CN" dirty="0" smtClean="0">
                <a:solidFill>
                  <a:srgbClr val="800000"/>
                </a:solidFill>
              </a:rPr>
              <a:t>……</a:t>
            </a:r>
            <a:endParaRPr lang="zh-CN" altLang="en-US" dirty="0">
              <a:solidFill>
                <a:srgbClr val="800000"/>
              </a:solidFill>
            </a:endParaRPr>
          </a:p>
        </p:txBody>
      </p:sp>
    </p:spTree>
    <p:extLst>
      <p:ext uri="{BB962C8B-B14F-4D97-AF65-F5344CB8AC3E}">
        <p14:creationId xmlns:p14="http://schemas.microsoft.com/office/powerpoint/2010/main" val="2723095344"/>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ChangeArrowheads="1"/>
          </p:cNvSpPr>
          <p:nvPr/>
        </p:nvSpPr>
        <p:spPr bwMode="auto">
          <a:xfrm>
            <a:off x="0" y="798513"/>
            <a:ext cx="9186863" cy="3163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eaLnBrk="1" hangingPunct="1"/>
            <a:r>
              <a:rPr lang="zh-CN" altLang="en-US" sz="6000">
                <a:solidFill>
                  <a:srgbClr val="C00000"/>
                </a:solidFill>
              </a:rPr>
              <a:t>工程经济学</a:t>
            </a:r>
            <a:r>
              <a:rPr lang="zh-CN" altLang="en-US" sz="5400">
                <a:solidFill>
                  <a:srgbClr val="C00000"/>
                </a:solidFill>
              </a:rPr>
              <a:t/>
            </a:r>
            <a:br>
              <a:rPr lang="zh-CN" altLang="en-US" sz="5400">
                <a:solidFill>
                  <a:srgbClr val="C00000"/>
                </a:solidFill>
              </a:rPr>
            </a:br>
            <a:r>
              <a:rPr lang="zh-CN" altLang="en-US" sz="3600">
                <a:solidFill>
                  <a:srgbClr val="C00000"/>
                </a:solidFill>
              </a:rPr>
              <a:t/>
            </a:r>
            <a:br>
              <a:rPr lang="zh-CN" altLang="en-US" sz="3600">
                <a:solidFill>
                  <a:srgbClr val="C00000"/>
                </a:solidFill>
              </a:rPr>
            </a:br>
            <a:r>
              <a:rPr lang="zh-CN" altLang="en-US">
                <a:solidFill>
                  <a:srgbClr val="C00000"/>
                </a:solidFill>
              </a:rPr>
              <a:t>风险与不确定性分析</a:t>
            </a:r>
          </a:p>
        </p:txBody>
      </p:sp>
      <p:sp>
        <p:nvSpPr>
          <p:cNvPr id="9219" name="Rectangle 5"/>
          <p:cNvSpPr>
            <a:spLocks noChangeArrowheads="1"/>
          </p:cNvSpPr>
          <p:nvPr/>
        </p:nvSpPr>
        <p:spPr bwMode="auto">
          <a:xfrm>
            <a:off x="725488" y="4368800"/>
            <a:ext cx="7634287" cy="1944688"/>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gn="ctr" eaLnBrk="1" hangingPunct="1">
              <a:spcBef>
                <a:spcPct val="20000"/>
              </a:spcBef>
            </a:pPr>
            <a:r>
              <a:rPr lang="zh-CN" altLang="en-US" sz="2800" dirty="0">
                <a:solidFill>
                  <a:srgbClr val="000000"/>
                </a:solidFill>
                <a:ea typeface="宋体" charset="0"/>
                <a:cs typeface="宋体" charset="0"/>
              </a:rPr>
              <a:t>唐文哲 </a:t>
            </a:r>
            <a:r>
              <a:rPr lang="zh-CN" altLang="en-US" sz="2800" dirty="0" smtClean="0">
                <a:solidFill>
                  <a:srgbClr val="000000"/>
                </a:solidFill>
                <a:ea typeface="宋体" charset="0"/>
                <a:cs typeface="宋体" charset="0"/>
              </a:rPr>
              <a:t>教授</a:t>
            </a:r>
            <a:r>
              <a:rPr lang="en-US" altLang="zh-CN" sz="2800" dirty="0">
                <a:solidFill>
                  <a:srgbClr val="000000"/>
                </a:solidFill>
                <a:ea typeface="宋体" charset="0"/>
                <a:cs typeface="宋体" charset="0"/>
              </a:rPr>
              <a:t>/</a:t>
            </a:r>
            <a:r>
              <a:rPr lang="zh-CN" altLang="en-US" sz="2800" dirty="0">
                <a:solidFill>
                  <a:srgbClr val="000000"/>
                </a:solidFill>
                <a:ea typeface="宋体" charset="0"/>
                <a:cs typeface="宋体" charset="0"/>
              </a:rPr>
              <a:t>博导</a:t>
            </a:r>
          </a:p>
          <a:p>
            <a:pPr marL="342900" indent="-342900" algn="ctr" eaLnBrk="1" hangingPunct="1">
              <a:spcBef>
                <a:spcPct val="20000"/>
              </a:spcBef>
            </a:pPr>
            <a:r>
              <a:rPr lang="zh-CN" altLang="en-US" sz="2800" dirty="0" smtClean="0">
                <a:solidFill>
                  <a:srgbClr val="000000"/>
                </a:solidFill>
                <a:ea typeface="宋体" charset="0"/>
                <a:cs typeface="宋体" charset="0"/>
              </a:rPr>
              <a:t>清华大学土木水利学院</a:t>
            </a:r>
            <a:endParaRPr lang="zh-CN" altLang="en-US" sz="2800" dirty="0">
              <a:solidFill>
                <a:srgbClr val="000000"/>
              </a:solidFill>
              <a:ea typeface="宋体" charset="0"/>
              <a:cs typeface="宋体" charset="0"/>
            </a:endParaRPr>
          </a:p>
          <a:p>
            <a:pPr marL="342900" indent="-342900" algn="ctr" eaLnBrk="1" hangingPunct="1">
              <a:spcBef>
                <a:spcPct val="20000"/>
              </a:spcBef>
            </a:pPr>
            <a:r>
              <a:rPr lang="en-US" altLang="zh-CN" sz="2800" dirty="0" smtClean="0">
                <a:solidFill>
                  <a:srgbClr val="000000"/>
                </a:solidFill>
                <a:ea typeface="宋体" charset="0"/>
                <a:cs typeface="宋体" charset="0"/>
              </a:rPr>
              <a:t>2019</a:t>
            </a:r>
            <a:r>
              <a:rPr lang="zh-CN" altLang="en-US" sz="2800" dirty="0" smtClean="0">
                <a:solidFill>
                  <a:srgbClr val="000000"/>
                </a:solidFill>
                <a:ea typeface="宋体" charset="0"/>
                <a:cs typeface="宋体" charset="0"/>
              </a:rPr>
              <a:t>年</a:t>
            </a:r>
            <a:r>
              <a:rPr lang="en-US" altLang="zh-CN" sz="2800" dirty="0" smtClean="0">
                <a:solidFill>
                  <a:srgbClr val="000000"/>
                </a:solidFill>
                <a:ea typeface="宋体" charset="0"/>
                <a:cs typeface="宋体" charset="0"/>
              </a:rPr>
              <a:t>11</a:t>
            </a:r>
            <a:r>
              <a:rPr lang="zh-CN" altLang="en-US" sz="2800" dirty="0" smtClean="0">
                <a:solidFill>
                  <a:srgbClr val="000000"/>
                </a:solidFill>
                <a:ea typeface="宋体" charset="0"/>
                <a:cs typeface="宋体" charset="0"/>
              </a:rPr>
              <a:t>月</a:t>
            </a:r>
            <a:r>
              <a:rPr lang="en-US" altLang="zh-CN" sz="2800" dirty="0" smtClean="0">
                <a:solidFill>
                  <a:srgbClr val="000000"/>
                </a:solidFill>
                <a:ea typeface="宋体" charset="0"/>
                <a:cs typeface="宋体" charset="0"/>
              </a:rPr>
              <a:t>14</a:t>
            </a:r>
            <a:r>
              <a:rPr lang="zh-CN" altLang="en-US" sz="2800" dirty="0" smtClean="0">
                <a:solidFill>
                  <a:srgbClr val="000000"/>
                </a:solidFill>
                <a:ea typeface="宋体" charset="0"/>
                <a:cs typeface="宋体" charset="0"/>
              </a:rPr>
              <a:t>日</a:t>
            </a:r>
            <a:endParaRPr lang="zh-CN" altLang="en-US" sz="2800" dirty="0">
              <a:solidFill>
                <a:srgbClr val="000000"/>
              </a:solidFill>
              <a:ea typeface="宋体" charset="0"/>
              <a:cs typeface="宋体" charset="0"/>
            </a:endParaRPr>
          </a:p>
          <a:p>
            <a:pPr marL="342900" indent="-342900" eaLnBrk="1" hangingPunct="1">
              <a:spcBef>
                <a:spcPct val="20000"/>
              </a:spcBef>
            </a:pPr>
            <a:endParaRPr lang="zh-CN" altLang="en-US" sz="2800" dirty="0">
              <a:solidFill>
                <a:srgbClr val="000000"/>
              </a:solidFill>
              <a:ea typeface="宋体" charset="0"/>
              <a:cs typeface="宋体"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本讲内容</a:t>
            </a:r>
          </a:p>
        </p:txBody>
      </p:sp>
      <p:sp>
        <p:nvSpPr>
          <p:cNvPr id="10243" name="Rectangle 3"/>
          <p:cNvSpPr>
            <a:spLocks noGrp="1" noChangeArrowheads="1"/>
          </p:cNvSpPr>
          <p:nvPr>
            <p:ph type="body" idx="1"/>
          </p:nvPr>
        </p:nvSpPr>
        <p:spPr/>
        <p:txBody>
          <a:bodyPr/>
          <a:lstStyle/>
          <a:p>
            <a:pPr eaLnBrk="1" hangingPunct="1"/>
            <a:r>
              <a:rPr lang="zh-CN" altLang="en-US">
                <a:solidFill>
                  <a:srgbClr val="800000"/>
                </a:solidFill>
                <a:latin typeface="Arial" charset="0"/>
                <a:ea typeface="宋体" charset="0"/>
              </a:rPr>
              <a:t>一、风险与不确定性分析的必要性</a:t>
            </a:r>
          </a:p>
          <a:p>
            <a:pPr eaLnBrk="1" hangingPunct="1"/>
            <a:endParaRPr lang="zh-CN" altLang="en-US">
              <a:solidFill>
                <a:srgbClr val="800000"/>
              </a:solidFill>
              <a:latin typeface="Arial" charset="0"/>
              <a:ea typeface="宋体" charset="0"/>
            </a:endParaRPr>
          </a:p>
          <a:p>
            <a:pPr eaLnBrk="1" hangingPunct="1"/>
            <a:r>
              <a:rPr lang="zh-CN" altLang="en-US">
                <a:latin typeface="Arial" charset="0"/>
                <a:ea typeface="宋体" charset="0"/>
              </a:rPr>
              <a:t>二、三种风险与不确定性分析方法</a:t>
            </a:r>
          </a:p>
          <a:p>
            <a:pPr lvl="1" eaLnBrk="1" hangingPunct="1"/>
            <a:r>
              <a:rPr lang="zh-CN" altLang="en-US">
                <a:latin typeface="Arial" charset="0"/>
                <a:ea typeface="宋体" charset="0"/>
              </a:rPr>
              <a:t>（一）盈亏平衡分析</a:t>
            </a:r>
          </a:p>
          <a:p>
            <a:pPr lvl="1" eaLnBrk="1" hangingPunct="1"/>
            <a:r>
              <a:rPr lang="zh-CN" altLang="en-US">
                <a:latin typeface="Arial" charset="0"/>
                <a:ea typeface="宋体" charset="0"/>
              </a:rPr>
              <a:t>（二）敏感性分析</a:t>
            </a:r>
          </a:p>
          <a:p>
            <a:pPr lvl="1" eaLnBrk="1" hangingPunct="1"/>
            <a:r>
              <a:rPr lang="zh-CN" altLang="en-US">
                <a:latin typeface="Arial" charset="0"/>
                <a:ea typeface="宋体" charset="0"/>
              </a:rPr>
              <a:t>（三）风险分析</a:t>
            </a:r>
          </a:p>
          <a:p>
            <a:pPr lvl="1" eaLnBrk="1" hangingPunct="1">
              <a:buFontTx/>
              <a:buNone/>
            </a:pPr>
            <a:endParaRPr lang="zh-CN" altLang="en-US">
              <a:latin typeface="Arial" charset="0"/>
              <a:ea typeface="宋体" charset="0"/>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12700"/>
            <a:ext cx="8861425" cy="698500"/>
          </a:xfrm>
        </p:spPr>
        <p:txBody>
          <a:bodyPr/>
          <a:lstStyle/>
          <a:p>
            <a:pPr eaLnBrk="1" hangingPunct="1"/>
            <a:r>
              <a:rPr lang="zh-CN" altLang="en-US" sz="3200">
                <a:latin typeface="Arial" charset="0"/>
                <a:ea typeface="楷体_GB2312" charset="0"/>
                <a:cs typeface="楷体_GB2312" charset="0"/>
              </a:rPr>
              <a:t>进行风险与不确定性分析的必要性</a:t>
            </a:r>
          </a:p>
        </p:txBody>
      </p:sp>
      <p:sp>
        <p:nvSpPr>
          <p:cNvPr id="787459" name="Rectangle 3"/>
          <p:cNvSpPr>
            <a:spLocks noGrp="1" noChangeArrowheads="1"/>
          </p:cNvSpPr>
          <p:nvPr>
            <p:ph type="body" idx="1"/>
          </p:nvPr>
        </p:nvSpPr>
        <p:spPr/>
        <p:txBody>
          <a:bodyPr/>
          <a:lstStyle/>
          <a:p>
            <a:pPr eaLnBrk="1" hangingPunct="1">
              <a:lnSpc>
                <a:spcPct val="90000"/>
              </a:lnSpc>
            </a:pPr>
            <a:r>
              <a:rPr lang="zh-CN" altLang="en-US" sz="2800">
                <a:latin typeface="Arial" charset="0"/>
                <a:ea typeface="宋体" charset="0"/>
              </a:rPr>
              <a:t>工程经济分析建立在分析人员对</a:t>
            </a:r>
            <a:r>
              <a:rPr lang="zh-CN" altLang="en-US" sz="2800" u="sng">
                <a:latin typeface="Arial" charset="0"/>
                <a:ea typeface="宋体" charset="0"/>
              </a:rPr>
              <a:t>未来</a:t>
            </a:r>
            <a:r>
              <a:rPr lang="zh-CN" altLang="en-US" sz="2800">
                <a:latin typeface="Arial" charset="0"/>
                <a:ea typeface="宋体" charset="0"/>
              </a:rPr>
              <a:t>经济效果所作的</a:t>
            </a:r>
            <a:r>
              <a:rPr lang="zh-CN" altLang="en-US" sz="2800" u="sng">
                <a:latin typeface="Arial" charset="0"/>
                <a:ea typeface="宋体" charset="0"/>
              </a:rPr>
              <a:t>预测</a:t>
            </a:r>
            <a:r>
              <a:rPr lang="zh-CN" altLang="en-US" sz="2800">
                <a:latin typeface="Arial" charset="0"/>
                <a:ea typeface="宋体" charset="0"/>
              </a:rPr>
              <a:t>与</a:t>
            </a:r>
            <a:r>
              <a:rPr lang="zh-CN" altLang="en-US" sz="2800" u="sng">
                <a:latin typeface="Arial" charset="0"/>
                <a:ea typeface="宋体" charset="0"/>
              </a:rPr>
              <a:t>判断</a:t>
            </a:r>
            <a:r>
              <a:rPr lang="zh-CN" altLang="en-US" sz="2800">
                <a:latin typeface="Arial" charset="0"/>
                <a:ea typeface="宋体" charset="0"/>
              </a:rPr>
              <a:t>基础之上</a:t>
            </a:r>
          </a:p>
          <a:p>
            <a:pPr eaLnBrk="1" hangingPunct="1">
              <a:lnSpc>
                <a:spcPct val="90000"/>
              </a:lnSpc>
            </a:pPr>
            <a:endParaRPr lang="zh-CN" altLang="en-US" sz="2000">
              <a:latin typeface="Arial" charset="0"/>
              <a:ea typeface="宋体" charset="0"/>
            </a:endParaRPr>
          </a:p>
          <a:p>
            <a:pPr eaLnBrk="1" hangingPunct="1">
              <a:lnSpc>
                <a:spcPct val="90000"/>
              </a:lnSpc>
            </a:pPr>
            <a:r>
              <a:rPr lang="zh-CN" altLang="en-US" sz="2800">
                <a:latin typeface="Arial" charset="0"/>
                <a:ea typeface="宋体" charset="0"/>
              </a:rPr>
              <a:t>但是，未来的变化总是带有不确定性</a:t>
            </a:r>
            <a:r>
              <a:rPr lang="en-US" altLang="zh-CN" sz="2800">
                <a:latin typeface="Arial" charset="0"/>
                <a:ea typeface="宋体" charset="0"/>
              </a:rPr>
              <a:t>(Uncertainty)</a:t>
            </a:r>
            <a:r>
              <a:rPr lang="zh-CN" altLang="en-US" sz="2800">
                <a:latin typeface="Arial" charset="0"/>
                <a:ea typeface="宋体" charset="0"/>
              </a:rPr>
              <a:t>和风险</a:t>
            </a:r>
            <a:r>
              <a:rPr lang="en-US" altLang="zh-CN" sz="2800">
                <a:latin typeface="Arial" charset="0"/>
                <a:ea typeface="宋体" charset="0"/>
              </a:rPr>
              <a:t>(Risk)</a:t>
            </a:r>
            <a:r>
              <a:rPr lang="zh-CN" altLang="en-US" sz="2800">
                <a:latin typeface="Arial" charset="0"/>
                <a:ea typeface="宋体" charset="0"/>
              </a:rPr>
              <a:t>的</a:t>
            </a:r>
          </a:p>
          <a:p>
            <a:pPr lvl="1" eaLnBrk="1" hangingPunct="1">
              <a:lnSpc>
                <a:spcPct val="90000"/>
              </a:lnSpc>
            </a:pPr>
            <a:r>
              <a:rPr lang="zh-CN" altLang="en-US" sz="2400">
                <a:latin typeface="Arial" charset="0"/>
                <a:ea typeface="宋体" charset="0"/>
              </a:rPr>
              <a:t>来源于未来信息的不充分：市场信息、技术信息、竞争对手的信息</a:t>
            </a:r>
            <a:r>
              <a:rPr lang="en-US" altLang="zh-CN" sz="2400">
                <a:latin typeface="Arial" charset="0"/>
                <a:ea typeface="宋体" charset="0"/>
              </a:rPr>
              <a:t>……</a:t>
            </a:r>
          </a:p>
          <a:p>
            <a:pPr lvl="1" eaLnBrk="1" hangingPunct="1">
              <a:lnSpc>
                <a:spcPct val="90000"/>
              </a:lnSpc>
            </a:pPr>
            <a:endParaRPr lang="zh-CN" altLang="en-US" sz="2000">
              <a:latin typeface="Arial" charset="0"/>
              <a:ea typeface="宋体" charset="0"/>
            </a:endParaRPr>
          </a:p>
          <a:p>
            <a:pPr eaLnBrk="1" hangingPunct="1">
              <a:lnSpc>
                <a:spcPct val="90000"/>
              </a:lnSpc>
            </a:pPr>
            <a:r>
              <a:rPr lang="zh-CN" altLang="en-US" sz="2800">
                <a:latin typeface="Arial" charset="0"/>
                <a:ea typeface="宋体" charset="0"/>
              </a:rPr>
              <a:t>为了尽量避免投资决策失误，需要进行风险与不确定性分析</a:t>
            </a:r>
          </a:p>
          <a:p>
            <a:pPr lvl="1" eaLnBrk="1" hangingPunct="1">
              <a:lnSpc>
                <a:spcPct val="90000"/>
              </a:lnSpc>
            </a:pPr>
            <a:r>
              <a:rPr lang="zh-CN" altLang="en-US" sz="2400">
                <a:latin typeface="Arial" charset="0"/>
                <a:ea typeface="宋体" charset="0"/>
              </a:rPr>
              <a:t>核心问题：未来预测的变化会如何影响现金流，进而影响投资决策？</a:t>
            </a:r>
          </a:p>
          <a:p>
            <a:pPr lvl="1" eaLnBrk="1" hangingPunct="1">
              <a:lnSpc>
                <a:spcPct val="90000"/>
              </a:lnSpc>
            </a:pPr>
            <a:r>
              <a:rPr lang="zh-CN" altLang="en-US" sz="2400">
                <a:latin typeface="Arial" charset="0"/>
                <a:ea typeface="宋体" charset="0"/>
              </a:rPr>
              <a:t>“投资是否可行”对于未来某些因素的变化的敏感性如何？</a:t>
            </a:r>
          </a:p>
          <a:p>
            <a:pPr lvl="2" eaLnBrk="1" hangingPunct="1">
              <a:lnSpc>
                <a:spcPct val="90000"/>
              </a:lnSpc>
            </a:pPr>
            <a:r>
              <a:rPr lang="zh-CN" altLang="en-US" sz="2200">
                <a:latin typeface="Arial" charset="0"/>
                <a:ea typeface="宋体" charset="0"/>
              </a:rPr>
              <a:t>寿命期、期初投资、每年产量、每年净收益、回收残值</a:t>
            </a:r>
            <a:r>
              <a:rPr lang="en-US" altLang="zh-CN" sz="2200">
                <a:latin typeface="Arial" charset="0"/>
                <a:ea typeface="宋体" charset="0"/>
              </a:rPr>
              <a:t>……</a:t>
            </a:r>
          </a:p>
          <a:p>
            <a:pPr eaLnBrk="1" hangingPunct="1">
              <a:lnSpc>
                <a:spcPct val="90000"/>
              </a:lnSpc>
            </a:pPr>
            <a:endParaRPr lang="zh-CN" altLang="en-US" sz="2400">
              <a:latin typeface="Arial" charset="0"/>
              <a:ea typeface="宋体"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87459">
                                            <p:txEl>
                                              <p:pRg st="2" end="2"/>
                                            </p:txEl>
                                          </p:spTgt>
                                        </p:tgtEl>
                                        <p:attrNameLst>
                                          <p:attrName>style.visibility</p:attrName>
                                        </p:attrNameLst>
                                      </p:cBhvr>
                                      <p:to>
                                        <p:strVal val="visible"/>
                                      </p:to>
                                    </p:set>
                                    <p:anim calcmode="lin" valueType="num">
                                      <p:cBhvr additive="base">
                                        <p:cTn id="7" dur="500" fill="hold"/>
                                        <p:tgtEl>
                                          <p:spTgt spid="78745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87459">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87459">
                                            <p:txEl>
                                              <p:pRg st="3" end="3"/>
                                            </p:txEl>
                                          </p:spTgt>
                                        </p:tgtEl>
                                        <p:attrNameLst>
                                          <p:attrName>style.visibility</p:attrName>
                                        </p:attrNameLst>
                                      </p:cBhvr>
                                      <p:to>
                                        <p:strVal val="visible"/>
                                      </p:to>
                                    </p:set>
                                    <p:anim calcmode="lin" valueType="num">
                                      <p:cBhvr additive="base">
                                        <p:cTn id="11" dur="500" fill="hold"/>
                                        <p:tgtEl>
                                          <p:spTgt spid="787459">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87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787459">
                                            <p:txEl>
                                              <p:pRg st="5" end="5"/>
                                            </p:txEl>
                                          </p:spTgt>
                                        </p:tgtEl>
                                        <p:attrNameLst>
                                          <p:attrName>style.visibility</p:attrName>
                                        </p:attrNameLst>
                                      </p:cBhvr>
                                      <p:to>
                                        <p:strVal val="visible"/>
                                      </p:to>
                                    </p:set>
                                    <p:anim calcmode="lin" valueType="num">
                                      <p:cBhvr additive="base">
                                        <p:cTn id="17" dur="500" fill="hold"/>
                                        <p:tgtEl>
                                          <p:spTgt spid="787459">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87459">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87459">
                                            <p:txEl>
                                              <p:pRg st="6" end="6"/>
                                            </p:txEl>
                                          </p:spTgt>
                                        </p:tgtEl>
                                        <p:attrNameLst>
                                          <p:attrName>style.visibility</p:attrName>
                                        </p:attrNameLst>
                                      </p:cBhvr>
                                      <p:to>
                                        <p:strVal val="visible"/>
                                      </p:to>
                                    </p:set>
                                    <p:anim calcmode="lin" valueType="num">
                                      <p:cBhvr additive="base">
                                        <p:cTn id="21" dur="500" fill="hold"/>
                                        <p:tgtEl>
                                          <p:spTgt spid="787459">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87459">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787459">
                                            <p:txEl>
                                              <p:pRg st="7" end="7"/>
                                            </p:txEl>
                                          </p:spTgt>
                                        </p:tgtEl>
                                        <p:attrNameLst>
                                          <p:attrName>style.visibility</p:attrName>
                                        </p:attrNameLst>
                                      </p:cBhvr>
                                      <p:to>
                                        <p:strVal val="visible"/>
                                      </p:to>
                                    </p:set>
                                    <p:anim calcmode="lin" valueType="num">
                                      <p:cBhvr additive="base">
                                        <p:cTn id="25" dur="500" fill="hold"/>
                                        <p:tgtEl>
                                          <p:spTgt spid="787459">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87459">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87459">
                                            <p:txEl>
                                              <p:pRg st="8" end="8"/>
                                            </p:txEl>
                                          </p:spTgt>
                                        </p:tgtEl>
                                        <p:attrNameLst>
                                          <p:attrName>style.visibility</p:attrName>
                                        </p:attrNameLst>
                                      </p:cBhvr>
                                      <p:to>
                                        <p:strVal val="visible"/>
                                      </p:to>
                                    </p:set>
                                    <p:anim calcmode="lin" valueType="num">
                                      <p:cBhvr additive="base">
                                        <p:cTn id="29" dur="500" fill="hold"/>
                                        <p:tgtEl>
                                          <p:spTgt spid="787459">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8745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zh-CN" altLang="en-US" sz="3200" dirty="0">
                <a:latin typeface="Arial" charset="0"/>
                <a:ea typeface="楷体_GB2312" charset="0"/>
                <a:cs typeface="楷体_GB2312" charset="0"/>
              </a:rPr>
              <a:t>本讲内容</a:t>
            </a:r>
          </a:p>
        </p:txBody>
      </p:sp>
      <p:sp>
        <p:nvSpPr>
          <p:cNvPr id="13315" name="Rectangle 3"/>
          <p:cNvSpPr>
            <a:spLocks noGrp="1" noChangeArrowheads="1"/>
          </p:cNvSpPr>
          <p:nvPr>
            <p:ph type="body" idx="1"/>
          </p:nvPr>
        </p:nvSpPr>
        <p:spPr/>
        <p:txBody>
          <a:bodyPr/>
          <a:lstStyle/>
          <a:p>
            <a:pPr eaLnBrk="1" hangingPunct="1"/>
            <a:r>
              <a:rPr lang="zh-CN" altLang="en-US" dirty="0">
                <a:latin typeface="Arial" charset="0"/>
                <a:ea typeface="宋体" charset="0"/>
              </a:rPr>
              <a:t>一、风险与不确定性分析的必要性</a:t>
            </a:r>
          </a:p>
          <a:p>
            <a:pPr eaLnBrk="1" hangingPunct="1"/>
            <a:endParaRPr lang="zh-CN" altLang="en-US" dirty="0">
              <a:latin typeface="Arial" charset="0"/>
              <a:ea typeface="宋体" charset="0"/>
            </a:endParaRPr>
          </a:p>
          <a:p>
            <a:pPr eaLnBrk="1" hangingPunct="1"/>
            <a:r>
              <a:rPr lang="zh-CN" altLang="en-US" dirty="0">
                <a:solidFill>
                  <a:srgbClr val="800000"/>
                </a:solidFill>
                <a:latin typeface="Arial" charset="0"/>
                <a:ea typeface="宋体" charset="0"/>
              </a:rPr>
              <a:t>二、三种风险与不确定性分析方法</a:t>
            </a:r>
          </a:p>
          <a:p>
            <a:pPr lvl="1" eaLnBrk="1" hangingPunct="1"/>
            <a:r>
              <a:rPr lang="zh-CN" altLang="en-US" dirty="0">
                <a:solidFill>
                  <a:srgbClr val="800000"/>
                </a:solidFill>
                <a:latin typeface="Arial" charset="0"/>
                <a:ea typeface="宋体" charset="0"/>
              </a:rPr>
              <a:t>（一）盈亏平衡分析</a:t>
            </a:r>
          </a:p>
          <a:p>
            <a:pPr lvl="2" eaLnBrk="1" hangingPunct="1"/>
            <a:r>
              <a:rPr lang="zh-CN" altLang="en-US" dirty="0">
                <a:solidFill>
                  <a:srgbClr val="0000FF"/>
                </a:solidFill>
                <a:latin typeface="Arial" charset="0"/>
                <a:ea typeface="宋体" charset="0"/>
              </a:rPr>
              <a:t>单方案</a:t>
            </a:r>
            <a:r>
              <a:rPr lang="en-US" altLang="zh-CN" dirty="0">
                <a:latin typeface="Arial" charset="0"/>
                <a:ea typeface="宋体" charset="0"/>
              </a:rPr>
              <a:t>/</a:t>
            </a:r>
            <a:r>
              <a:rPr lang="zh-CN" altLang="en-US" dirty="0">
                <a:latin typeface="Arial" charset="0"/>
                <a:ea typeface="宋体" charset="0"/>
              </a:rPr>
              <a:t>多方案盈亏平衡分析</a:t>
            </a:r>
          </a:p>
          <a:p>
            <a:pPr lvl="1" eaLnBrk="1" hangingPunct="1"/>
            <a:r>
              <a:rPr lang="zh-CN" altLang="en-US" dirty="0">
                <a:solidFill>
                  <a:srgbClr val="800000"/>
                </a:solidFill>
                <a:latin typeface="Arial" charset="0"/>
                <a:ea typeface="宋体" charset="0"/>
              </a:rPr>
              <a:t>（二）敏感性分析</a:t>
            </a:r>
          </a:p>
          <a:p>
            <a:pPr lvl="2" eaLnBrk="1" hangingPunct="1"/>
            <a:r>
              <a:rPr lang="zh-CN" altLang="en-US" dirty="0">
                <a:solidFill>
                  <a:srgbClr val="0000FF"/>
                </a:solidFill>
                <a:latin typeface="Arial" charset="0"/>
                <a:ea typeface="宋体" charset="0"/>
              </a:rPr>
              <a:t>单因素</a:t>
            </a:r>
            <a:r>
              <a:rPr lang="en-US" altLang="zh-CN" dirty="0">
                <a:latin typeface="Arial" charset="0"/>
                <a:ea typeface="宋体" charset="0"/>
              </a:rPr>
              <a:t>/</a:t>
            </a:r>
            <a:r>
              <a:rPr lang="zh-CN" altLang="en-US" dirty="0">
                <a:latin typeface="Arial" charset="0"/>
                <a:ea typeface="宋体" charset="0"/>
              </a:rPr>
              <a:t>多因素敏感性分析</a:t>
            </a:r>
            <a:endParaRPr lang="zh-CN" altLang="en-US" dirty="0">
              <a:solidFill>
                <a:srgbClr val="800000"/>
              </a:solidFill>
              <a:latin typeface="Arial" charset="0"/>
              <a:ea typeface="宋体" charset="0"/>
            </a:endParaRPr>
          </a:p>
          <a:p>
            <a:pPr lvl="1" eaLnBrk="1" hangingPunct="1"/>
            <a:r>
              <a:rPr lang="zh-CN" altLang="en-US" dirty="0">
                <a:solidFill>
                  <a:srgbClr val="800000"/>
                </a:solidFill>
                <a:latin typeface="Arial" charset="0"/>
                <a:ea typeface="宋体" charset="0"/>
              </a:rPr>
              <a:t>（三）风险分析</a:t>
            </a:r>
          </a:p>
          <a:p>
            <a:pPr lvl="2" eaLnBrk="1" hangingPunct="1"/>
            <a:r>
              <a:rPr lang="zh-CN" altLang="en-US" dirty="0">
                <a:latin typeface="Arial" charset="0"/>
                <a:ea typeface="宋体" charset="0"/>
              </a:rPr>
              <a:t>风险识别、</a:t>
            </a:r>
            <a:r>
              <a:rPr lang="zh-CN" altLang="en-US" dirty="0">
                <a:solidFill>
                  <a:srgbClr val="0000FF"/>
                </a:solidFill>
                <a:latin typeface="Arial" charset="0"/>
                <a:ea typeface="宋体" charset="0"/>
              </a:rPr>
              <a:t>风险测度</a:t>
            </a:r>
            <a:r>
              <a:rPr lang="zh-CN" altLang="en-US" dirty="0">
                <a:latin typeface="Arial" charset="0"/>
                <a:ea typeface="宋体" charset="0"/>
              </a:rPr>
              <a:t>、风险决策、风险控制</a:t>
            </a:r>
          </a:p>
          <a:p>
            <a:pPr lvl="2" eaLnBrk="1" hangingPunct="1">
              <a:buFontTx/>
              <a:buNone/>
            </a:pPr>
            <a:endParaRPr lang="zh-CN" altLang="en-US" dirty="0">
              <a:solidFill>
                <a:srgbClr val="800000"/>
              </a:solidFill>
              <a:latin typeface="Arial" charset="0"/>
              <a:ea typeface="宋体" charset="0"/>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a:latin typeface="Arial" charset="0"/>
                <a:ea typeface="楷体_GB2312" charset="0"/>
                <a:cs typeface="楷体_GB2312" charset="0"/>
              </a:rPr>
              <a:t>（一）盈亏平衡分析</a:t>
            </a:r>
          </a:p>
        </p:txBody>
      </p:sp>
      <p:sp>
        <p:nvSpPr>
          <p:cNvPr id="791555" name="Rectangle 3"/>
          <p:cNvSpPr>
            <a:spLocks noGrp="1" noChangeArrowheads="1"/>
          </p:cNvSpPr>
          <p:nvPr>
            <p:ph type="body" idx="1"/>
          </p:nvPr>
        </p:nvSpPr>
        <p:spPr/>
        <p:txBody>
          <a:bodyPr/>
          <a:lstStyle/>
          <a:p>
            <a:pPr eaLnBrk="1" hangingPunct="1"/>
            <a:r>
              <a:rPr lang="zh-CN" altLang="en-US" sz="2800">
                <a:latin typeface="Arial" charset="0"/>
                <a:ea typeface="宋体" charset="0"/>
              </a:rPr>
              <a:t>各种不确定性因素（如初始投资、生产成本、产销量、销售价格等）的变化会影响投资方案的经济效果</a:t>
            </a:r>
            <a:r>
              <a:rPr lang="en-US" altLang="zh-CN" sz="2800">
                <a:latin typeface="Arial" charset="0"/>
                <a:ea typeface="宋体" charset="0"/>
              </a:rPr>
              <a:t>——</a:t>
            </a:r>
            <a:r>
              <a:rPr lang="zh-CN" altLang="en-US" sz="2800">
                <a:latin typeface="Arial" charset="0"/>
                <a:ea typeface="宋体" charset="0"/>
              </a:rPr>
              <a:t>是否盈利</a:t>
            </a:r>
          </a:p>
          <a:p>
            <a:pPr lvl="1" eaLnBrk="1" hangingPunct="1"/>
            <a:r>
              <a:rPr lang="zh-CN" altLang="en-US" sz="2400">
                <a:latin typeface="Arial" charset="0"/>
                <a:ea typeface="宋体" charset="0"/>
              </a:rPr>
              <a:t>当这些因素的变化达到某一临界值时，就会影响方案的取舍，这一临界值被称为“盈亏平衡点”</a:t>
            </a:r>
            <a:r>
              <a:rPr lang="en-US" altLang="zh-CN" sz="2400">
                <a:latin typeface="Arial" charset="0"/>
                <a:ea typeface="宋体" charset="0"/>
              </a:rPr>
              <a:t>(Break-even point, BEP)</a:t>
            </a:r>
          </a:p>
          <a:p>
            <a:pPr lvl="1" eaLnBrk="1" hangingPunct="1"/>
            <a:r>
              <a:rPr lang="zh-CN" altLang="en-US" sz="2400">
                <a:latin typeface="Arial" charset="0"/>
                <a:ea typeface="宋体" charset="0"/>
              </a:rPr>
              <a:t>盈亏平衡分析目的在于找出临界值，判断投资方案对不确定因素变化的承受能力</a:t>
            </a:r>
          </a:p>
          <a:p>
            <a:pPr eaLnBrk="1" hangingPunct="1"/>
            <a:endParaRPr lang="zh-CN" altLang="en-US" sz="2800">
              <a:latin typeface="Arial" charset="0"/>
              <a:ea typeface="宋体" charset="0"/>
            </a:endParaRPr>
          </a:p>
          <a:p>
            <a:pPr eaLnBrk="1" hangingPunct="1"/>
            <a:r>
              <a:rPr lang="zh-CN" altLang="en-US" sz="2800">
                <a:latin typeface="Arial" charset="0"/>
                <a:ea typeface="宋体" charset="0"/>
              </a:rPr>
              <a:t>基本方法：建立成本与产量、销售收入与产量之间的函数关系，通过对图形或函数的分析，找到盈亏平衡点</a:t>
            </a:r>
          </a:p>
          <a:p>
            <a:pPr lvl="1" eaLnBrk="1" hangingPunct="1"/>
            <a:r>
              <a:rPr lang="zh-CN" altLang="en-US" sz="2400">
                <a:latin typeface="Arial" charset="0"/>
                <a:ea typeface="宋体" charset="0"/>
              </a:rPr>
              <a:t>单方案</a:t>
            </a:r>
            <a:r>
              <a:rPr lang="en-US" altLang="zh-CN" sz="2400">
                <a:latin typeface="Arial" charset="0"/>
                <a:ea typeface="宋体" charset="0"/>
              </a:rPr>
              <a:t>/</a:t>
            </a:r>
            <a:r>
              <a:rPr lang="zh-CN" altLang="en-US" sz="2400">
                <a:latin typeface="Arial" charset="0"/>
                <a:ea typeface="宋体" charset="0"/>
              </a:rPr>
              <a:t>多方案盈亏平衡分析</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91555">
                                            <p:txEl>
                                              <p:pRg st="1" end="1"/>
                                            </p:txEl>
                                          </p:spTgt>
                                        </p:tgtEl>
                                        <p:attrNameLst>
                                          <p:attrName>style.visibility</p:attrName>
                                        </p:attrNameLst>
                                      </p:cBhvr>
                                      <p:to>
                                        <p:strVal val="visible"/>
                                      </p:to>
                                    </p:set>
                                    <p:animEffect transition="in" filter="blinds(horizontal)">
                                      <p:cBhvr>
                                        <p:cTn id="7" dur="500"/>
                                        <p:tgtEl>
                                          <p:spTgt spid="79155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91555">
                                            <p:txEl>
                                              <p:pRg st="2" end="2"/>
                                            </p:txEl>
                                          </p:spTgt>
                                        </p:tgtEl>
                                        <p:attrNameLst>
                                          <p:attrName>style.visibility</p:attrName>
                                        </p:attrNameLst>
                                      </p:cBhvr>
                                      <p:to>
                                        <p:strVal val="visible"/>
                                      </p:to>
                                    </p:set>
                                    <p:animEffect transition="in" filter="blinds(horizontal)">
                                      <p:cBhvr>
                                        <p:cTn id="10" dur="500"/>
                                        <p:tgtEl>
                                          <p:spTgt spid="791555">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791555">
                                            <p:txEl>
                                              <p:pRg st="4" end="4"/>
                                            </p:txEl>
                                          </p:spTgt>
                                        </p:tgtEl>
                                        <p:attrNameLst>
                                          <p:attrName>style.visibility</p:attrName>
                                        </p:attrNameLst>
                                      </p:cBhvr>
                                      <p:to>
                                        <p:strVal val="visible"/>
                                      </p:to>
                                    </p:set>
                                    <p:animEffect transition="in" filter="blinds(horizontal)">
                                      <p:cBhvr>
                                        <p:cTn id="15" dur="500"/>
                                        <p:tgtEl>
                                          <p:spTgt spid="791555">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91555">
                                            <p:txEl>
                                              <p:pRg st="5" end="5"/>
                                            </p:txEl>
                                          </p:spTgt>
                                        </p:tgtEl>
                                        <p:attrNameLst>
                                          <p:attrName>style.visibility</p:attrName>
                                        </p:attrNameLst>
                                      </p:cBhvr>
                                      <p:to>
                                        <p:strVal val="visible"/>
                                      </p:to>
                                    </p:set>
                                    <p:animEffect transition="in" filter="blinds(horizontal)">
                                      <p:cBhvr>
                                        <p:cTn id="18" dur="500"/>
                                        <p:tgtEl>
                                          <p:spTgt spid="7915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a:latin typeface="Arial" charset="0"/>
                <a:ea typeface="楷体_GB2312" charset="0"/>
                <a:cs typeface="楷体_GB2312" charset="0"/>
              </a:rPr>
              <a:t>1. </a:t>
            </a:r>
            <a:r>
              <a:rPr lang="zh-CN" altLang="en-US">
                <a:latin typeface="Arial" charset="0"/>
                <a:ea typeface="楷体_GB2312" charset="0"/>
                <a:cs typeface="楷体_GB2312" charset="0"/>
              </a:rPr>
              <a:t>单方案盈亏平衡分析</a:t>
            </a:r>
          </a:p>
        </p:txBody>
      </p:sp>
      <p:sp>
        <p:nvSpPr>
          <p:cNvPr id="16387" name="Rectangle 3"/>
          <p:cNvSpPr>
            <a:spLocks noGrp="1" noChangeArrowheads="1"/>
          </p:cNvSpPr>
          <p:nvPr>
            <p:ph type="body" idx="1"/>
          </p:nvPr>
        </p:nvSpPr>
        <p:spPr/>
        <p:txBody>
          <a:bodyPr/>
          <a:lstStyle/>
          <a:p>
            <a:pPr eaLnBrk="1" hangingPunct="1"/>
            <a:r>
              <a:rPr lang="en-US" altLang="zh-CN">
                <a:latin typeface="Arial" charset="0"/>
                <a:ea typeface="宋体" charset="0"/>
              </a:rPr>
              <a:t>(1) </a:t>
            </a:r>
            <a:r>
              <a:rPr lang="zh-CN" altLang="en-US">
                <a:latin typeface="Arial" charset="0"/>
                <a:ea typeface="宋体" charset="0"/>
              </a:rPr>
              <a:t>销售收入、成本费用与产品产量的关系</a:t>
            </a:r>
          </a:p>
          <a:p>
            <a:pPr eaLnBrk="1" hangingPunct="1">
              <a:lnSpc>
                <a:spcPct val="50000"/>
              </a:lnSpc>
              <a:spcBef>
                <a:spcPct val="0"/>
              </a:spcBef>
              <a:buFontTx/>
              <a:buNone/>
            </a:pPr>
            <a:endParaRPr lang="zh-CN" altLang="en-US">
              <a:latin typeface="Arial" charset="0"/>
              <a:ea typeface="宋体" charset="0"/>
            </a:endParaRPr>
          </a:p>
          <a:p>
            <a:pPr eaLnBrk="1" hangingPunct="1">
              <a:buFontTx/>
              <a:buNone/>
            </a:pPr>
            <a:r>
              <a:rPr lang="zh-CN" altLang="en-US">
                <a:latin typeface="Arial" charset="0"/>
                <a:ea typeface="宋体" charset="0"/>
              </a:rPr>
              <a:t>		收入：	</a:t>
            </a:r>
            <a:r>
              <a:rPr lang="en-US" altLang="zh-CN">
                <a:latin typeface="Arial" charset="0"/>
                <a:ea typeface="宋体" charset="0"/>
              </a:rPr>
              <a:t>R=PQ</a:t>
            </a:r>
          </a:p>
          <a:p>
            <a:pPr eaLnBrk="1" hangingPunct="1">
              <a:buFontTx/>
              <a:buNone/>
            </a:pPr>
            <a:endParaRPr lang="en-US" altLang="zh-CN">
              <a:latin typeface="Arial" charset="0"/>
              <a:ea typeface="宋体" charset="0"/>
            </a:endParaRPr>
          </a:p>
          <a:p>
            <a:pPr eaLnBrk="1" hangingPunct="1">
              <a:buFontTx/>
              <a:buNone/>
            </a:pPr>
            <a:endParaRPr lang="en-US" altLang="zh-CN">
              <a:latin typeface="Arial" charset="0"/>
              <a:ea typeface="宋体" charset="0"/>
            </a:endParaRPr>
          </a:p>
          <a:p>
            <a:pPr eaLnBrk="1" hangingPunct="1">
              <a:buFontTx/>
              <a:buNone/>
            </a:pPr>
            <a:r>
              <a:rPr lang="zh-CN" altLang="en-US">
                <a:latin typeface="Arial" charset="0"/>
                <a:ea typeface="宋体" charset="0"/>
              </a:rPr>
              <a:t>		成本：	固定成本（</a:t>
            </a:r>
            <a:r>
              <a:rPr lang="en-US" altLang="zh-CN">
                <a:latin typeface="Arial" charset="0"/>
                <a:ea typeface="宋体" charset="0"/>
              </a:rPr>
              <a:t>C</a:t>
            </a:r>
            <a:r>
              <a:rPr lang="en-US" altLang="zh-CN" baseline="-25000">
                <a:latin typeface="Arial" charset="0"/>
                <a:ea typeface="宋体" charset="0"/>
              </a:rPr>
              <a:t>f</a:t>
            </a:r>
            <a:r>
              <a:rPr lang="zh-CN" altLang="en-US">
                <a:latin typeface="Arial" charset="0"/>
                <a:ea typeface="宋体" charset="0"/>
              </a:rPr>
              <a:t>）</a:t>
            </a:r>
          </a:p>
          <a:p>
            <a:pPr eaLnBrk="1" hangingPunct="1">
              <a:buFontTx/>
              <a:buNone/>
            </a:pPr>
            <a:r>
              <a:rPr lang="zh-CN" altLang="en-US">
                <a:latin typeface="Arial" charset="0"/>
                <a:ea typeface="宋体" charset="0"/>
              </a:rPr>
              <a:t>				变动成本（</a:t>
            </a:r>
            <a:r>
              <a:rPr lang="en-US" altLang="zh-CN">
                <a:latin typeface="Arial" charset="0"/>
                <a:ea typeface="宋体" charset="0"/>
              </a:rPr>
              <a:t>C</a:t>
            </a:r>
            <a:r>
              <a:rPr lang="en-US" altLang="zh-CN" baseline="-25000">
                <a:latin typeface="Arial" charset="0"/>
                <a:ea typeface="宋体" charset="0"/>
              </a:rPr>
              <a:t>v</a:t>
            </a:r>
            <a:r>
              <a:rPr lang="zh-CN" altLang="en-US">
                <a:latin typeface="Arial" charset="0"/>
                <a:ea typeface="宋体" charset="0"/>
              </a:rPr>
              <a:t>）</a:t>
            </a:r>
          </a:p>
          <a:p>
            <a:pPr eaLnBrk="1" hangingPunct="1">
              <a:buFontTx/>
              <a:buNone/>
            </a:pPr>
            <a:r>
              <a:rPr lang="zh-CN" altLang="en-US">
                <a:latin typeface="Arial" charset="0"/>
                <a:ea typeface="宋体" charset="0"/>
              </a:rPr>
              <a:t>				</a:t>
            </a:r>
            <a:r>
              <a:rPr lang="en-US" altLang="zh-CN">
                <a:latin typeface="Arial" charset="0"/>
                <a:ea typeface="宋体" charset="0"/>
              </a:rPr>
              <a:t>C=C</a:t>
            </a:r>
            <a:r>
              <a:rPr lang="en-US" altLang="zh-CN" baseline="-25000">
                <a:latin typeface="Arial" charset="0"/>
                <a:ea typeface="宋体" charset="0"/>
              </a:rPr>
              <a:t>f</a:t>
            </a:r>
            <a:r>
              <a:rPr lang="en-US" altLang="zh-CN">
                <a:latin typeface="Arial" charset="0"/>
                <a:ea typeface="宋体" charset="0"/>
              </a:rPr>
              <a:t>+C</a:t>
            </a:r>
            <a:r>
              <a:rPr lang="en-US" altLang="zh-CN" baseline="-25000">
                <a:latin typeface="Arial" charset="0"/>
                <a:ea typeface="宋体" charset="0"/>
              </a:rPr>
              <a:t>v</a:t>
            </a:r>
            <a:r>
              <a:rPr lang="en-US" altLang="zh-CN">
                <a:latin typeface="Arial" charset="0"/>
                <a:ea typeface="宋体" charset="0"/>
              </a:rPr>
              <a:t>Q</a:t>
            </a:r>
            <a:endParaRPr lang="zh-CN" altLang="en-US">
              <a:latin typeface="Arial" charset="0"/>
              <a:ea typeface="宋体" charset="0"/>
            </a:endParaRPr>
          </a:p>
        </p:txBody>
      </p:sp>
      <p:graphicFrame>
        <p:nvGraphicFramePr>
          <p:cNvPr id="16388" name="Object 4"/>
          <p:cNvGraphicFramePr>
            <a:graphicFrameLocks noChangeAspect="1"/>
          </p:cNvGraphicFramePr>
          <p:nvPr/>
        </p:nvGraphicFramePr>
        <p:xfrm>
          <a:off x="2855913" y="2505075"/>
          <a:ext cx="2625725" cy="812800"/>
        </p:xfrm>
        <a:graphic>
          <a:graphicData uri="http://schemas.openxmlformats.org/presentationml/2006/ole">
            <mc:AlternateContent xmlns:mc="http://schemas.openxmlformats.org/markup-compatibility/2006">
              <mc:Choice xmlns:v="urn:schemas-microsoft-com:vml" Requires="v">
                <p:oleObj spid="_x0000_s16400" name="Equation" r:id="rId4" imgW="1066800" imgH="330200" progId="Equation.DSMT4">
                  <p:embed/>
                </p:oleObj>
              </mc:Choice>
              <mc:Fallback>
                <p:oleObj name="Equation" r:id="rId4" imgW="1066800" imgH="3302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5913" y="2505075"/>
                        <a:ext cx="2625725" cy="812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zh-CN">
                <a:latin typeface="Arial" charset="0"/>
                <a:ea typeface="楷体_GB2312" charset="0"/>
                <a:cs typeface="楷体_GB2312" charset="0"/>
              </a:rPr>
              <a:t>1. </a:t>
            </a:r>
            <a:r>
              <a:rPr lang="zh-CN" altLang="en-US">
                <a:latin typeface="Arial" charset="0"/>
                <a:ea typeface="楷体_GB2312" charset="0"/>
                <a:cs typeface="楷体_GB2312" charset="0"/>
              </a:rPr>
              <a:t>单方案盈亏平衡分析</a:t>
            </a:r>
          </a:p>
        </p:txBody>
      </p:sp>
      <p:sp>
        <p:nvSpPr>
          <p:cNvPr id="18435" name="Rectangle 3"/>
          <p:cNvSpPr>
            <a:spLocks noGrp="1" noChangeArrowheads="1"/>
          </p:cNvSpPr>
          <p:nvPr>
            <p:ph type="body" idx="1"/>
          </p:nvPr>
        </p:nvSpPr>
        <p:spPr/>
        <p:txBody>
          <a:bodyPr/>
          <a:lstStyle/>
          <a:p>
            <a:pPr eaLnBrk="1" hangingPunct="1"/>
            <a:r>
              <a:rPr lang="en-US" altLang="zh-CN">
                <a:latin typeface="Arial" charset="0"/>
                <a:ea typeface="宋体" charset="0"/>
              </a:rPr>
              <a:t>(2) </a:t>
            </a:r>
            <a:r>
              <a:rPr lang="zh-CN" altLang="en-US">
                <a:latin typeface="Arial" charset="0"/>
                <a:ea typeface="宋体" charset="0"/>
              </a:rPr>
              <a:t>盈亏平衡点及其确定</a:t>
            </a:r>
          </a:p>
        </p:txBody>
      </p:sp>
      <p:grpSp>
        <p:nvGrpSpPr>
          <p:cNvPr id="18436" name="Group 4"/>
          <p:cNvGrpSpPr>
            <a:grpSpLocks/>
          </p:cNvGrpSpPr>
          <p:nvPr/>
        </p:nvGrpSpPr>
        <p:grpSpPr bwMode="auto">
          <a:xfrm>
            <a:off x="1236663" y="1944688"/>
            <a:ext cx="6096000" cy="4056062"/>
            <a:chOff x="776" y="1071"/>
            <a:chExt cx="3465" cy="2194"/>
          </a:xfrm>
        </p:grpSpPr>
        <p:sp>
          <p:nvSpPr>
            <p:cNvPr id="18437" name="Line 5"/>
            <p:cNvSpPr>
              <a:spLocks noChangeShapeType="1"/>
            </p:cNvSpPr>
            <p:nvPr/>
          </p:nvSpPr>
          <p:spPr bwMode="auto">
            <a:xfrm flipV="1">
              <a:off x="1156" y="1434"/>
              <a:ext cx="0" cy="1536"/>
            </a:xfrm>
            <a:prstGeom prst="line">
              <a:avLst/>
            </a:prstGeom>
            <a:noFill/>
            <a:ln w="9525">
              <a:solidFill>
                <a:srgbClr val="080808"/>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18438" name="Line 6"/>
            <p:cNvSpPr>
              <a:spLocks noChangeShapeType="1"/>
            </p:cNvSpPr>
            <p:nvPr/>
          </p:nvSpPr>
          <p:spPr bwMode="auto">
            <a:xfrm>
              <a:off x="1156" y="2976"/>
              <a:ext cx="2587" cy="6"/>
            </a:xfrm>
            <a:prstGeom prst="line">
              <a:avLst/>
            </a:prstGeom>
            <a:noFill/>
            <a:ln w="9525">
              <a:solidFill>
                <a:srgbClr val="080808"/>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18439" name="Line 7"/>
            <p:cNvSpPr>
              <a:spLocks noChangeShapeType="1"/>
            </p:cNvSpPr>
            <p:nvPr/>
          </p:nvSpPr>
          <p:spPr bwMode="auto">
            <a:xfrm flipV="1">
              <a:off x="1156" y="1207"/>
              <a:ext cx="2179" cy="1763"/>
            </a:xfrm>
            <a:prstGeom prst="line">
              <a:avLst/>
            </a:prstGeom>
            <a:noFill/>
            <a:ln w="9525">
              <a:solidFill>
                <a:srgbClr val="080808"/>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440" name="Line 8"/>
            <p:cNvSpPr>
              <a:spLocks noChangeShapeType="1"/>
            </p:cNvSpPr>
            <p:nvPr/>
          </p:nvSpPr>
          <p:spPr bwMode="auto">
            <a:xfrm flipV="1">
              <a:off x="1156" y="1706"/>
              <a:ext cx="2112" cy="672"/>
            </a:xfrm>
            <a:prstGeom prst="line">
              <a:avLst/>
            </a:prstGeom>
            <a:noFill/>
            <a:ln w="9525">
              <a:solidFill>
                <a:srgbClr val="080808"/>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441" name="Line 9"/>
            <p:cNvSpPr>
              <a:spLocks noChangeShapeType="1"/>
            </p:cNvSpPr>
            <p:nvPr/>
          </p:nvSpPr>
          <p:spPr bwMode="auto">
            <a:xfrm>
              <a:off x="1156" y="2387"/>
              <a:ext cx="2495" cy="0"/>
            </a:xfrm>
            <a:prstGeom prst="line">
              <a:avLst/>
            </a:prstGeom>
            <a:noFill/>
            <a:ln w="9525">
              <a:solidFill>
                <a:srgbClr val="080808"/>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442" name="Line 10"/>
            <p:cNvSpPr>
              <a:spLocks noChangeShapeType="1"/>
            </p:cNvSpPr>
            <p:nvPr/>
          </p:nvSpPr>
          <p:spPr bwMode="auto">
            <a:xfrm>
              <a:off x="2336" y="2024"/>
              <a:ext cx="0" cy="952"/>
            </a:xfrm>
            <a:prstGeom prst="line">
              <a:avLst/>
            </a:prstGeom>
            <a:noFill/>
            <a:ln w="9525">
              <a:solidFill>
                <a:srgbClr val="080808"/>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443" name="Text Box 11"/>
            <p:cNvSpPr txBox="1">
              <a:spLocks noChangeArrowheads="1"/>
            </p:cNvSpPr>
            <p:nvPr/>
          </p:nvSpPr>
          <p:spPr bwMode="auto">
            <a:xfrm>
              <a:off x="776" y="1525"/>
              <a:ext cx="261" cy="10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eaVert">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lang="en-US" altLang="zh-CN" sz="1800" b="0">
                  <a:solidFill>
                    <a:srgbClr val="080808"/>
                  </a:solidFill>
                </a:rPr>
                <a:t>B   or    C</a:t>
              </a:r>
            </a:p>
          </p:txBody>
        </p:sp>
        <p:sp>
          <p:nvSpPr>
            <p:cNvPr id="18444" name="Text Box 12"/>
            <p:cNvSpPr txBox="1">
              <a:spLocks noChangeArrowheads="1"/>
            </p:cNvSpPr>
            <p:nvPr/>
          </p:nvSpPr>
          <p:spPr bwMode="auto">
            <a:xfrm>
              <a:off x="1927" y="1706"/>
              <a:ext cx="453" cy="1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lang="en-US" altLang="zh-CN" sz="1800" b="0">
                  <a:solidFill>
                    <a:srgbClr val="FF0066"/>
                  </a:solidFill>
                </a:rPr>
                <a:t>BEP</a:t>
              </a:r>
            </a:p>
          </p:txBody>
        </p:sp>
        <p:sp>
          <p:nvSpPr>
            <p:cNvPr id="18445" name="Text Box 13"/>
            <p:cNvSpPr txBox="1">
              <a:spLocks noChangeArrowheads="1"/>
            </p:cNvSpPr>
            <p:nvPr/>
          </p:nvSpPr>
          <p:spPr bwMode="auto">
            <a:xfrm>
              <a:off x="3379" y="1071"/>
              <a:ext cx="680" cy="1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lang="en-US" altLang="zh-CN" sz="1800" b="0">
                  <a:solidFill>
                    <a:srgbClr val="080808"/>
                  </a:solidFill>
                </a:rPr>
                <a:t>R=PQ</a:t>
              </a:r>
            </a:p>
          </p:txBody>
        </p:sp>
        <p:sp>
          <p:nvSpPr>
            <p:cNvPr id="18446" name="Line 14"/>
            <p:cNvSpPr>
              <a:spLocks noChangeShapeType="1"/>
            </p:cNvSpPr>
            <p:nvPr/>
          </p:nvSpPr>
          <p:spPr bwMode="auto">
            <a:xfrm flipH="1">
              <a:off x="1247" y="2341"/>
              <a:ext cx="45" cy="544"/>
            </a:xfrm>
            <a:prstGeom prst="line">
              <a:avLst/>
            </a:prstGeom>
            <a:noFill/>
            <a:ln w="9525">
              <a:solidFill>
                <a:srgbClr val="FF0066"/>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447" name="Line 15"/>
            <p:cNvSpPr>
              <a:spLocks noChangeShapeType="1"/>
            </p:cNvSpPr>
            <p:nvPr/>
          </p:nvSpPr>
          <p:spPr bwMode="auto">
            <a:xfrm flipH="1">
              <a:off x="1383" y="2296"/>
              <a:ext cx="46" cy="499"/>
            </a:xfrm>
            <a:prstGeom prst="line">
              <a:avLst/>
            </a:prstGeom>
            <a:noFill/>
            <a:ln w="9525">
              <a:solidFill>
                <a:srgbClr val="FF0066"/>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448" name="Line 16"/>
            <p:cNvSpPr>
              <a:spLocks noChangeShapeType="1"/>
            </p:cNvSpPr>
            <p:nvPr/>
          </p:nvSpPr>
          <p:spPr bwMode="auto">
            <a:xfrm flipH="1">
              <a:off x="1519" y="2251"/>
              <a:ext cx="45" cy="408"/>
            </a:xfrm>
            <a:prstGeom prst="line">
              <a:avLst/>
            </a:prstGeom>
            <a:noFill/>
            <a:ln w="9525">
              <a:solidFill>
                <a:srgbClr val="FF0066"/>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449" name="Line 17"/>
            <p:cNvSpPr>
              <a:spLocks noChangeShapeType="1"/>
            </p:cNvSpPr>
            <p:nvPr/>
          </p:nvSpPr>
          <p:spPr bwMode="auto">
            <a:xfrm flipV="1">
              <a:off x="1655" y="2205"/>
              <a:ext cx="45" cy="318"/>
            </a:xfrm>
            <a:prstGeom prst="line">
              <a:avLst/>
            </a:prstGeom>
            <a:noFill/>
            <a:ln w="9525">
              <a:solidFill>
                <a:srgbClr val="FF0066"/>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450" name="Line 18"/>
            <p:cNvSpPr>
              <a:spLocks noChangeShapeType="1"/>
            </p:cNvSpPr>
            <p:nvPr/>
          </p:nvSpPr>
          <p:spPr bwMode="auto">
            <a:xfrm flipV="1">
              <a:off x="1791" y="2160"/>
              <a:ext cx="45" cy="272"/>
            </a:xfrm>
            <a:prstGeom prst="line">
              <a:avLst/>
            </a:prstGeom>
            <a:noFill/>
            <a:ln w="9525">
              <a:solidFill>
                <a:srgbClr val="FF0066"/>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451" name="Line 19"/>
            <p:cNvSpPr>
              <a:spLocks noChangeShapeType="1"/>
            </p:cNvSpPr>
            <p:nvPr/>
          </p:nvSpPr>
          <p:spPr bwMode="auto">
            <a:xfrm flipV="1">
              <a:off x="1927" y="2115"/>
              <a:ext cx="46" cy="226"/>
            </a:xfrm>
            <a:prstGeom prst="line">
              <a:avLst/>
            </a:prstGeom>
            <a:noFill/>
            <a:ln w="9525">
              <a:solidFill>
                <a:srgbClr val="FF0066"/>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452" name="Line 20"/>
            <p:cNvSpPr>
              <a:spLocks noChangeShapeType="1"/>
            </p:cNvSpPr>
            <p:nvPr/>
          </p:nvSpPr>
          <p:spPr bwMode="auto">
            <a:xfrm flipH="1">
              <a:off x="2653" y="1661"/>
              <a:ext cx="136" cy="272"/>
            </a:xfrm>
            <a:prstGeom prst="line">
              <a:avLst/>
            </a:prstGeom>
            <a:noFill/>
            <a:ln w="9525">
              <a:solidFill>
                <a:srgbClr val="00FF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453" name="Line 21"/>
            <p:cNvSpPr>
              <a:spLocks noChangeShapeType="1"/>
            </p:cNvSpPr>
            <p:nvPr/>
          </p:nvSpPr>
          <p:spPr bwMode="auto">
            <a:xfrm flipH="1">
              <a:off x="2835" y="1434"/>
              <a:ext cx="227" cy="408"/>
            </a:xfrm>
            <a:prstGeom prst="line">
              <a:avLst/>
            </a:prstGeom>
            <a:noFill/>
            <a:ln w="9525">
              <a:solidFill>
                <a:srgbClr val="00FF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454" name="Line 22"/>
            <p:cNvSpPr>
              <a:spLocks noChangeShapeType="1"/>
            </p:cNvSpPr>
            <p:nvPr/>
          </p:nvSpPr>
          <p:spPr bwMode="auto">
            <a:xfrm flipH="1">
              <a:off x="3016" y="1253"/>
              <a:ext cx="272" cy="544"/>
            </a:xfrm>
            <a:prstGeom prst="line">
              <a:avLst/>
            </a:prstGeom>
            <a:noFill/>
            <a:ln w="9525">
              <a:solidFill>
                <a:srgbClr val="00FF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455" name="Text Box 23"/>
            <p:cNvSpPr txBox="1">
              <a:spLocks noChangeArrowheads="1"/>
            </p:cNvSpPr>
            <p:nvPr/>
          </p:nvSpPr>
          <p:spPr bwMode="auto">
            <a:xfrm>
              <a:off x="3379" y="1570"/>
              <a:ext cx="862" cy="1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lang="en-US" altLang="zh-CN" sz="1800" b="0">
                  <a:solidFill>
                    <a:srgbClr val="080808"/>
                  </a:solidFill>
                </a:rPr>
                <a:t>C=C</a:t>
              </a:r>
              <a:r>
                <a:rPr lang="en-US" altLang="zh-CN" sz="1800" b="0" baseline="-25000">
                  <a:solidFill>
                    <a:srgbClr val="080808"/>
                  </a:solidFill>
                </a:rPr>
                <a:t>f</a:t>
              </a:r>
              <a:r>
                <a:rPr lang="en-US" altLang="zh-CN" sz="1800" b="0">
                  <a:solidFill>
                    <a:srgbClr val="080808"/>
                  </a:solidFill>
                </a:rPr>
                <a:t>+C</a:t>
              </a:r>
              <a:r>
                <a:rPr lang="en-US" altLang="zh-CN" sz="1800" b="0" baseline="-25000">
                  <a:solidFill>
                    <a:srgbClr val="080808"/>
                  </a:solidFill>
                </a:rPr>
                <a:t>v</a:t>
              </a:r>
              <a:r>
                <a:rPr lang="en-US" altLang="zh-CN" sz="1800" b="0">
                  <a:solidFill>
                    <a:srgbClr val="080808"/>
                  </a:solidFill>
                </a:rPr>
                <a:t>Q</a:t>
              </a:r>
            </a:p>
          </p:txBody>
        </p:sp>
        <p:sp>
          <p:nvSpPr>
            <p:cNvPr id="18456" name="Text Box 24"/>
            <p:cNvSpPr txBox="1">
              <a:spLocks noChangeArrowheads="1"/>
            </p:cNvSpPr>
            <p:nvPr/>
          </p:nvSpPr>
          <p:spPr bwMode="auto">
            <a:xfrm>
              <a:off x="3833" y="2296"/>
              <a:ext cx="363" cy="1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lang="en-US" altLang="zh-CN" sz="1800" b="0">
                  <a:solidFill>
                    <a:srgbClr val="080808"/>
                  </a:solidFill>
                </a:rPr>
                <a:t>C</a:t>
              </a:r>
              <a:r>
                <a:rPr lang="en-US" altLang="zh-CN" sz="1800" b="0" baseline="-25000">
                  <a:solidFill>
                    <a:srgbClr val="080808"/>
                  </a:solidFill>
                </a:rPr>
                <a:t>f</a:t>
              </a:r>
            </a:p>
          </p:txBody>
        </p:sp>
        <p:sp>
          <p:nvSpPr>
            <p:cNvPr id="18457" name="Text Box 25"/>
            <p:cNvSpPr txBox="1">
              <a:spLocks noChangeArrowheads="1"/>
            </p:cNvSpPr>
            <p:nvPr/>
          </p:nvSpPr>
          <p:spPr bwMode="auto">
            <a:xfrm>
              <a:off x="3606" y="1979"/>
              <a:ext cx="590" cy="1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lang="en-US" altLang="zh-CN" sz="1800" b="0">
                  <a:solidFill>
                    <a:srgbClr val="080808"/>
                  </a:solidFill>
                </a:rPr>
                <a:t>C</a:t>
              </a:r>
              <a:r>
                <a:rPr lang="en-US" altLang="zh-CN" sz="1800" b="0" baseline="-25000">
                  <a:solidFill>
                    <a:srgbClr val="080808"/>
                  </a:solidFill>
                </a:rPr>
                <a:t>v</a:t>
              </a:r>
              <a:r>
                <a:rPr lang="en-US" altLang="zh-CN" sz="1800" b="0">
                  <a:solidFill>
                    <a:srgbClr val="080808"/>
                  </a:solidFill>
                </a:rPr>
                <a:t>Q</a:t>
              </a:r>
            </a:p>
          </p:txBody>
        </p:sp>
        <p:sp>
          <p:nvSpPr>
            <p:cNvPr id="18458" name="Text Box 26"/>
            <p:cNvSpPr txBox="1">
              <a:spLocks noChangeArrowheads="1"/>
            </p:cNvSpPr>
            <p:nvPr/>
          </p:nvSpPr>
          <p:spPr bwMode="auto">
            <a:xfrm>
              <a:off x="1066" y="3067"/>
              <a:ext cx="2903" cy="1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lang="en-US" altLang="zh-CN" sz="1800" b="0">
                  <a:solidFill>
                    <a:srgbClr val="080808"/>
                  </a:solidFill>
                </a:rPr>
                <a:t>0                           Q*                             Q</a:t>
              </a:r>
            </a:p>
          </p:txBody>
        </p:sp>
        <p:sp>
          <p:nvSpPr>
            <p:cNvPr id="18459" name="Line 27"/>
            <p:cNvSpPr>
              <a:spLocks noChangeShapeType="1"/>
            </p:cNvSpPr>
            <p:nvPr/>
          </p:nvSpPr>
          <p:spPr bwMode="auto">
            <a:xfrm flipH="1">
              <a:off x="2064" y="2069"/>
              <a:ext cx="45" cy="136"/>
            </a:xfrm>
            <a:prstGeom prst="line">
              <a:avLst/>
            </a:prstGeom>
            <a:noFill/>
            <a:ln w="9525">
              <a:solidFill>
                <a:srgbClr val="FF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460" name="Line 28"/>
            <p:cNvSpPr>
              <a:spLocks noChangeShapeType="1"/>
            </p:cNvSpPr>
            <p:nvPr/>
          </p:nvSpPr>
          <p:spPr bwMode="auto">
            <a:xfrm flipV="1">
              <a:off x="1156" y="2296"/>
              <a:ext cx="2112" cy="672"/>
            </a:xfrm>
            <a:prstGeom prst="line">
              <a:avLst/>
            </a:prstGeom>
            <a:noFill/>
            <a:ln w="9525">
              <a:solidFill>
                <a:srgbClr val="080808"/>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gr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a:latin typeface="Arial" charset="0"/>
                <a:ea typeface="楷体_GB2312" charset="0"/>
                <a:cs typeface="楷体_GB2312" charset="0"/>
              </a:rPr>
              <a:t>1. </a:t>
            </a:r>
            <a:r>
              <a:rPr lang="zh-CN" altLang="en-US">
                <a:latin typeface="Arial" charset="0"/>
                <a:ea typeface="楷体_GB2312" charset="0"/>
                <a:cs typeface="楷体_GB2312" charset="0"/>
              </a:rPr>
              <a:t>单方案盈亏平衡分析</a:t>
            </a:r>
          </a:p>
        </p:txBody>
      </p:sp>
      <p:sp>
        <p:nvSpPr>
          <p:cNvPr id="20483" name="Rectangle 3"/>
          <p:cNvSpPr>
            <a:spLocks noGrp="1" noChangeArrowheads="1"/>
          </p:cNvSpPr>
          <p:nvPr>
            <p:ph type="body" idx="1"/>
          </p:nvPr>
        </p:nvSpPr>
        <p:spPr/>
        <p:txBody>
          <a:bodyPr/>
          <a:lstStyle/>
          <a:p>
            <a:pPr eaLnBrk="1" hangingPunct="1"/>
            <a:r>
              <a:rPr lang="zh-CN" altLang="en-US">
                <a:latin typeface="Arial" charset="0"/>
                <a:ea typeface="宋体" charset="0"/>
              </a:rPr>
              <a:t>盈亏平衡点及其确定</a:t>
            </a:r>
          </a:p>
          <a:p>
            <a:pPr eaLnBrk="1" hangingPunct="1"/>
            <a:endParaRPr lang="zh-CN" altLang="en-US">
              <a:latin typeface="Arial" charset="0"/>
              <a:ea typeface="宋体" charset="0"/>
            </a:endParaRPr>
          </a:p>
          <a:p>
            <a:pPr eaLnBrk="1" hangingPunct="1"/>
            <a:endParaRPr lang="zh-CN" altLang="en-US">
              <a:latin typeface="Arial" charset="0"/>
              <a:ea typeface="宋体" charset="0"/>
            </a:endParaRPr>
          </a:p>
          <a:p>
            <a:pPr lvl="1" eaLnBrk="1" hangingPunct="1">
              <a:buFontTx/>
              <a:buNone/>
            </a:pPr>
            <a:r>
              <a:rPr lang="zh-CN" altLang="en-US">
                <a:latin typeface="Arial" charset="0"/>
                <a:ea typeface="宋体" charset="0"/>
              </a:rPr>
              <a:t>					</a:t>
            </a:r>
          </a:p>
          <a:p>
            <a:pPr lvl="1" eaLnBrk="1" hangingPunct="1">
              <a:buFontTx/>
              <a:buNone/>
            </a:pPr>
            <a:r>
              <a:rPr lang="zh-CN" altLang="en-US">
                <a:latin typeface="Arial" charset="0"/>
                <a:ea typeface="宋体" charset="0"/>
              </a:rPr>
              <a:t>                                盈亏平衡产量</a:t>
            </a:r>
          </a:p>
          <a:p>
            <a:pPr lvl="1" eaLnBrk="1" hangingPunct="1">
              <a:buFontTx/>
              <a:buNone/>
            </a:pPr>
            <a:endParaRPr lang="zh-CN" altLang="en-US">
              <a:latin typeface="Arial" charset="0"/>
              <a:ea typeface="宋体" charset="0"/>
            </a:endParaRPr>
          </a:p>
          <a:p>
            <a:pPr lvl="1" eaLnBrk="1" hangingPunct="1">
              <a:buFontTx/>
              <a:buNone/>
            </a:pPr>
            <a:r>
              <a:rPr lang="zh-CN" altLang="en-US">
                <a:latin typeface="Arial" charset="0"/>
                <a:ea typeface="宋体" charset="0"/>
              </a:rPr>
              <a:t>					盈亏平衡价格</a:t>
            </a:r>
          </a:p>
          <a:p>
            <a:pPr lvl="1" eaLnBrk="1" hangingPunct="1">
              <a:buFontTx/>
              <a:buNone/>
            </a:pPr>
            <a:endParaRPr lang="zh-CN" altLang="en-US">
              <a:latin typeface="Arial" charset="0"/>
              <a:ea typeface="宋体" charset="0"/>
            </a:endParaRPr>
          </a:p>
          <a:p>
            <a:pPr lvl="1" eaLnBrk="1" hangingPunct="1">
              <a:buFontTx/>
              <a:buNone/>
            </a:pPr>
            <a:r>
              <a:rPr lang="zh-CN" altLang="en-US">
                <a:latin typeface="Arial" charset="0"/>
                <a:ea typeface="宋体" charset="0"/>
              </a:rPr>
              <a:t>					盈亏平衡单位产品变动成本</a:t>
            </a:r>
          </a:p>
          <a:p>
            <a:pPr eaLnBrk="1" hangingPunct="1">
              <a:buFontTx/>
              <a:buNone/>
            </a:pPr>
            <a:endParaRPr lang="zh-CN" altLang="en-US">
              <a:latin typeface="Arial" charset="0"/>
              <a:ea typeface="宋体" charset="0"/>
            </a:endParaRPr>
          </a:p>
        </p:txBody>
      </p:sp>
      <p:graphicFrame>
        <p:nvGraphicFramePr>
          <p:cNvPr id="20484" name="Object 4"/>
          <p:cNvGraphicFramePr>
            <a:graphicFrameLocks noChangeAspect="1"/>
          </p:cNvGraphicFramePr>
          <p:nvPr/>
        </p:nvGraphicFramePr>
        <p:xfrm>
          <a:off x="496888" y="2052638"/>
          <a:ext cx="2608262" cy="644525"/>
        </p:xfrm>
        <a:graphic>
          <a:graphicData uri="http://schemas.openxmlformats.org/presentationml/2006/ole">
            <mc:AlternateContent xmlns:mc="http://schemas.openxmlformats.org/markup-compatibility/2006">
              <mc:Choice xmlns:v="urn:schemas-microsoft-com:vml" Requires="v">
                <p:oleObj spid="_x0000_s20532" name="Equation" r:id="rId4" imgW="977900" imgH="241300" progId="Equation.3">
                  <p:embed/>
                </p:oleObj>
              </mc:Choice>
              <mc:Fallback>
                <p:oleObj name="Equation" r:id="rId4" imgW="977900" imgH="2413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888" y="2052638"/>
                        <a:ext cx="2608262" cy="6445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0485" name="Object 5"/>
          <p:cNvGraphicFramePr>
            <a:graphicFrameLocks noChangeAspect="1"/>
          </p:cNvGraphicFramePr>
          <p:nvPr/>
        </p:nvGraphicFramePr>
        <p:xfrm>
          <a:off x="1031875" y="2963863"/>
          <a:ext cx="1470025" cy="854075"/>
        </p:xfrm>
        <a:graphic>
          <a:graphicData uri="http://schemas.openxmlformats.org/presentationml/2006/ole">
            <mc:AlternateContent xmlns:mc="http://schemas.openxmlformats.org/markup-compatibility/2006">
              <mc:Choice xmlns:v="urn:schemas-microsoft-com:vml" Requires="v">
                <p:oleObj spid="_x0000_s20533" name="Equation" r:id="rId6" imgW="787400" imgH="457200" progId="Equation.3">
                  <p:embed/>
                </p:oleObj>
              </mc:Choice>
              <mc:Fallback>
                <p:oleObj name="Equation" r:id="rId6" imgW="787400" imgH="4572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1875" y="2963863"/>
                        <a:ext cx="1470025" cy="8540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0486" name="Object 6"/>
          <p:cNvGraphicFramePr>
            <a:graphicFrameLocks noChangeAspect="1"/>
          </p:cNvGraphicFramePr>
          <p:nvPr/>
        </p:nvGraphicFramePr>
        <p:xfrm>
          <a:off x="915988" y="3951288"/>
          <a:ext cx="2082800" cy="842962"/>
        </p:xfrm>
        <a:graphic>
          <a:graphicData uri="http://schemas.openxmlformats.org/presentationml/2006/ole">
            <mc:AlternateContent xmlns:mc="http://schemas.openxmlformats.org/markup-compatibility/2006">
              <mc:Choice xmlns:v="urn:schemas-microsoft-com:vml" Requires="v">
                <p:oleObj spid="_x0000_s20534" name="Equation" r:id="rId8" imgW="863225" imgH="457002" progId="Equation.3">
                  <p:embed/>
                </p:oleObj>
              </mc:Choice>
              <mc:Fallback>
                <p:oleObj name="Equation" r:id="rId8" imgW="863225" imgH="457002"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5988" y="3951288"/>
                        <a:ext cx="2082800" cy="84296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0487" name="Object 7"/>
          <p:cNvGraphicFramePr>
            <a:graphicFrameLocks noChangeAspect="1"/>
          </p:cNvGraphicFramePr>
          <p:nvPr/>
        </p:nvGraphicFramePr>
        <p:xfrm>
          <a:off x="915988" y="4956175"/>
          <a:ext cx="2298700" cy="811213"/>
        </p:xfrm>
        <a:graphic>
          <a:graphicData uri="http://schemas.openxmlformats.org/presentationml/2006/ole">
            <mc:AlternateContent xmlns:mc="http://schemas.openxmlformats.org/markup-compatibility/2006">
              <mc:Choice xmlns:v="urn:schemas-microsoft-com:vml" Requires="v">
                <p:oleObj spid="_x0000_s20535" name="Equation" r:id="rId10" imgW="838200" imgH="457200" progId="Equation.3">
                  <p:embed/>
                </p:oleObj>
              </mc:Choice>
              <mc:Fallback>
                <p:oleObj name="Equation" r:id="rId10" imgW="838200" imgH="45720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5988" y="4956175"/>
                        <a:ext cx="2298700" cy="8112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a:latin typeface="Arial" charset="0"/>
                <a:ea typeface="楷体_GB2312" charset="0"/>
                <a:cs typeface="楷体_GB2312" charset="0"/>
              </a:rPr>
              <a:t>清华园里的煎饼摊</a:t>
            </a:r>
            <a:r>
              <a:rPr lang="en-US" altLang="zh-CN">
                <a:latin typeface="Arial" charset="0"/>
                <a:ea typeface="楷体_GB2312" charset="0"/>
                <a:cs typeface="楷体_GB2312" charset="0"/>
              </a:rPr>
              <a:t>…</a:t>
            </a:r>
          </a:p>
        </p:txBody>
      </p:sp>
      <p:sp>
        <p:nvSpPr>
          <p:cNvPr id="22531" name="Rectangle 3"/>
          <p:cNvSpPr>
            <a:spLocks noGrp="1" noChangeArrowheads="1"/>
          </p:cNvSpPr>
          <p:nvPr>
            <p:ph type="body" sz="half" idx="1"/>
          </p:nvPr>
        </p:nvSpPr>
        <p:spPr>
          <a:xfrm>
            <a:off x="0" y="977900"/>
            <a:ext cx="8915400" cy="5880100"/>
          </a:xfrm>
        </p:spPr>
        <p:txBody>
          <a:bodyPr/>
          <a:lstStyle/>
          <a:p>
            <a:pPr eaLnBrk="1" hangingPunct="1"/>
            <a:r>
              <a:rPr lang="zh-CN" altLang="en-US" sz="2800">
                <a:latin typeface="Arial" charset="0"/>
                <a:ea typeface="宋体" charset="0"/>
              </a:rPr>
              <a:t>设清华主干道上的煎饼摊每天从晚上</a:t>
            </a:r>
            <a:r>
              <a:rPr lang="en-US" altLang="zh-CN" sz="2800">
                <a:latin typeface="Arial" charset="0"/>
                <a:ea typeface="宋体" charset="0"/>
              </a:rPr>
              <a:t>20:00</a:t>
            </a:r>
            <a:r>
              <a:rPr lang="zh-CN" altLang="en-US" sz="2800">
                <a:latin typeface="Arial" charset="0"/>
                <a:ea typeface="宋体" charset="0"/>
              </a:rPr>
              <a:t>营业到</a:t>
            </a:r>
            <a:r>
              <a:rPr lang="en-US" altLang="zh-CN" sz="2800">
                <a:latin typeface="Arial" charset="0"/>
                <a:ea typeface="宋体" charset="0"/>
              </a:rPr>
              <a:t>24:00</a:t>
            </a:r>
            <a:r>
              <a:rPr lang="zh-CN" altLang="en-US" sz="2800">
                <a:latin typeface="Arial" charset="0"/>
                <a:ea typeface="宋体" charset="0"/>
              </a:rPr>
              <a:t>，只出售煎饼果子，原料包括</a:t>
            </a:r>
            <a:r>
              <a:rPr lang="en-US" altLang="zh-CN" sz="2800">
                <a:solidFill>
                  <a:srgbClr val="3333FF"/>
                </a:solidFill>
                <a:latin typeface="Arial" charset="0"/>
                <a:ea typeface="宋体" charset="0"/>
              </a:rPr>
              <a:t>1</a:t>
            </a:r>
            <a:r>
              <a:rPr lang="zh-CN" altLang="en-US" sz="2800">
                <a:solidFill>
                  <a:srgbClr val="3333FF"/>
                </a:solidFill>
                <a:latin typeface="Arial" charset="0"/>
                <a:ea typeface="宋体" charset="0"/>
              </a:rPr>
              <a:t>勺</a:t>
            </a:r>
            <a:r>
              <a:rPr lang="zh-CN" altLang="en-US" sz="2800">
                <a:latin typeface="Arial" charset="0"/>
                <a:ea typeface="宋体" charset="0"/>
              </a:rPr>
              <a:t>绿豆面、</a:t>
            </a:r>
            <a:r>
              <a:rPr lang="en-US" altLang="zh-CN" sz="2800">
                <a:solidFill>
                  <a:srgbClr val="3333FF"/>
                </a:solidFill>
                <a:latin typeface="Arial" charset="0"/>
                <a:ea typeface="宋体" charset="0"/>
              </a:rPr>
              <a:t>2</a:t>
            </a:r>
            <a:r>
              <a:rPr lang="zh-CN" altLang="en-US" sz="2800">
                <a:solidFill>
                  <a:srgbClr val="3333FF"/>
                </a:solidFill>
                <a:latin typeface="Arial" charset="0"/>
                <a:ea typeface="宋体" charset="0"/>
              </a:rPr>
              <a:t>个</a:t>
            </a:r>
            <a:r>
              <a:rPr lang="zh-CN" altLang="en-US" sz="2800">
                <a:latin typeface="Arial" charset="0"/>
                <a:ea typeface="宋体" charset="0"/>
              </a:rPr>
              <a:t>鸡蛋、</a:t>
            </a:r>
            <a:r>
              <a:rPr lang="en-US" altLang="zh-CN" sz="2800">
                <a:solidFill>
                  <a:srgbClr val="3333FF"/>
                </a:solidFill>
                <a:latin typeface="Arial" charset="0"/>
                <a:ea typeface="宋体" charset="0"/>
              </a:rPr>
              <a:t>1</a:t>
            </a:r>
            <a:r>
              <a:rPr lang="zh-CN" altLang="en-US" sz="2800">
                <a:solidFill>
                  <a:srgbClr val="3333FF"/>
                </a:solidFill>
                <a:latin typeface="Arial" charset="0"/>
                <a:ea typeface="宋体" charset="0"/>
              </a:rPr>
              <a:t>份</a:t>
            </a:r>
            <a:r>
              <a:rPr lang="zh-CN" altLang="en-US" sz="2800">
                <a:latin typeface="Arial" charset="0"/>
                <a:ea typeface="宋体" charset="0"/>
              </a:rPr>
              <a:t>薄脆、香葱、辣酱等，最多每晚制作</a:t>
            </a:r>
            <a:r>
              <a:rPr lang="en-US" altLang="zh-CN" sz="2800">
                <a:latin typeface="Arial" charset="0"/>
                <a:ea typeface="宋体" charset="0"/>
              </a:rPr>
              <a:t>200</a:t>
            </a:r>
            <a:r>
              <a:rPr lang="zh-CN" altLang="en-US" sz="2800">
                <a:latin typeface="Arial" charset="0"/>
                <a:ea typeface="宋体" charset="0"/>
              </a:rPr>
              <a:t>个煎饼果子。已知摊位每月</a:t>
            </a:r>
            <a:r>
              <a:rPr lang="en-US" altLang="zh-CN" sz="2800">
                <a:latin typeface="Arial" charset="0"/>
                <a:ea typeface="宋体" charset="0"/>
              </a:rPr>
              <a:t>(</a:t>
            </a:r>
            <a:r>
              <a:rPr lang="zh-CN" altLang="en-US" sz="2800">
                <a:latin typeface="Arial" charset="0"/>
                <a:ea typeface="宋体" charset="0"/>
              </a:rPr>
              <a:t>以</a:t>
            </a:r>
            <a:r>
              <a:rPr lang="en-US" altLang="zh-CN" sz="2800">
                <a:latin typeface="Arial" charset="0"/>
                <a:ea typeface="宋体" charset="0"/>
              </a:rPr>
              <a:t>30</a:t>
            </a:r>
            <a:r>
              <a:rPr lang="zh-CN" altLang="en-US" sz="2800">
                <a:latin typeface="Arial" charset="0"/>
                <a:ea typeface="宋体" charset="0"/>
              </a:rPr>
              <a:t>天计</a:t>
            </a:r>
            <a:r>
              <a:rPr lang="en-US" altLang="zh-CN" sz="2800">
                <a:latin typeface="Arial" charset="0"/>
                <a:ea typeface="宋体" charset="0"/>
              </a:rPr>
              <a:t>)</a:t>
            </a:r>
            <a:r>
              <a:rPr lang="zh-CN" altLang="en-US" sz="2800">
                <a:latin typeface="Arial" charset="0"/>
                <a:ea typeface="宋体" charset="0"/>
              </a:rPr>
              <a:t>需支付</a:t>
            </a:r>
            <a:r>
              <a:rPr lang="en-US" altLang="zh-CN" sz="2800">
                <a:solidFill>
                  <a:srgbClr val="3333FF"/>
                </a:solidFill>
                <a:latin typeface="Arial" charset="0"/>
                <a:ea typeface="宋体" charset="0"/>
              </a:rPr>
              <a:t>800</a:t>
            </a:r>
            <a:r>
              <a:rPr lang="zh-CN" altLang="en-US" sz="2800">
                <a:solidFill>
                  <a:srgbClr val="3333FF"/>
                </a:solidFill>
                <a:latin typeface="Arial" charset="0"/>
                <a:ea typeface="宋体" charset="0"/>
              </a:rPr>
              <a:t>元租金</a:t>
            </a:r>
            <a:r>
              <a:rPr lang="zh-CN" altLang="en-US" sz="2800">
                <a:latin typeface="Arial" charset="0"/>
                <a:ea typeface="宋体" charset="0"/>
              </a:rPr>
              <a:t>和</a:t>
            </a:r>
            <a:r>
              <a:rPr lang="en-US" altLang="zh-CN" sz="2800">
                <a:solidFill>
                  <a:srgbClr val="3333FF"/>
                </a:solidFill>
                <a:latin typeface="Arial" charset="0"/>
                <a:ea typeface="宋体" charset="0"/>
              </a:rPr>
              <a:t>40</a:t>
            </a:r>
            <a:r>
              <a:rPr lang="zh-CN" altLang="en-US" sz="2800">
                <a:solidFill>
                  <a:srgbClr val="3333FF"/>
                </a:solidFill>
                <a:latin typeface="Arial" charset="0"/>
                <a:ea typeface="宋体" charset="0"/>
              </a:rPr>
              <a:t>元电费</a:t>
            </a:r>
            <a:r>
              <a:rPr lang="zh-CN" altLang="en-US" sz="2800">
                <a:latin typeface="Arial" charset="0"/>
                <a:ea typeface="宋体" charset="0"/>
              </a:rPr>
              <a:t>，</a:t>
            </a:r>
            <a:r>
              <a:rPr lang="en-US" altLang="zh-CN" sz="2800">
                <a:latin typeface="Arial" charset="0"/>
                <a:ea typeface="宋体" charset="0"/>
              </a:rPr>
              <a:t>1</a:t>
            </a:r>
            <a:r>
              <a:rPr lang="zh-CN" altLang="en-US" sz="2800">
                <a:latin typeface="Arial" charset="0"/>
                <a:ea typeface="宋体" charset="0"/>
              </a:rPr>
              <a:t>勺绿豆面</a:t>
            </a:r>
            <a:r>
              <a:rPr lang="en-US" altLang="zh-CN" sz="2800">
                <a:solidFill>
                  <a:srgbClr val="3333FF"/>
                </a:solidFill>
                <a:latin typeface="Arial" charset="0"/>
                <a:ea typeface="宋体" charset="0"/>
              </a:rPr>
              <a:t>0.2</a:t>
            </a:r>
            <a:r>
              <a:rPr lang="zh-CN" altLang="en-US" sz="2800">
                <a:solidFill>
                  <a:srgbClr val="3333FF"/>
                </a:solidFill>
                <a:latin typeface="Arial" charset="0"/>
                <a:ea typeface="宋体" charset="0"/>
              </a:rPr>
              <a:t>元</a:t>
            </a:r>
            <a:r>
              <a:rPr lang="zh-CN" altLang="en-US" sz="2800">
                <a:latin typeface="Arial" charset="0"/>
                <a:ea typeface="宋体" charset="0"/>
              </a:rPr>
              <a:t>，</a:t>
            </a:r>
            <a:r>
              <a:rPr lang="en-US" altLang="zh-CN" sz="2800">
                <a:latin typeface="Arial" charset="0"/>
                <a:ea typeface="宋体" charset="0"/>
              </a:rPr>
              <a:t>1</a:t>
            </a:r>
            <a:r>
              <a:rPr lang="zh-CN" altLang="en-US" sz="2800">
                <a:latin typeface="Arial" charset="0"/>
                <a:ea typeface="宋体" charset="0"/>
              </a:rPr>
              <a:t>个鸡蛋</a:t>
            </a:r>
            <a:r>
              <a:rPr lang="en-US" altLang="zh-CN" sz="2800">
                <a:solidFill>
                  <a:srgbClr val="3333FF"/>
                </a:solidFill>
                <a:latin typeface="Arial" charset="0"/>
                <a:ea typeface="宋体" charset="0"/>
              </a:rPr>
              <a:t>0.5</a:t>
            </a:r>
            <a:r>
              <a:rPr lang="zh-CN" altLang="en-US" sz="2800">
                <a:solidFill>
                  <a:srgbClr val="3333FF"/>
                </a:solidFill>
                <a:latin typeface="Arial" charset="0"/>
                <a:ea typeface="宋体" charset="0"/>
              </a:rPr>
              <a:t>元</a:t>
            </a:r>
            <a:r>
              <a:rPr lang="zh-CN" altLang="en-US" sz="2800">
                <a:latin typeface="Arial" charset="0"/>
                <a:ea typeface="宋体" charset="0"/>
              </a:rPr>
              <a:t>，</a:t>
            </a:r>
            <a:r>
              <a:rPr lang="en-US" altLang="zh-CN" sz="2800">
                <a:latin typeface="Arial" charset="0"/>
                <a:ea typeface="宋体" charset="0"/>
              </a:rPr>
              <a:t>1</a:t>
            </a:r>
            <a:r>
              <a:rPr lang="zh-CN" altLang="en-US" sz="2800">
                <a:latin typeface="Arial" charset="0"/>
                <a:ea typeface="宋体" charset="0"/>
              </a:rPr>
              <a:t>份薄脆</a:t>
            </a:r>
            <a:r>
              <a:rPr lang="en-US" altLang="zh-CN" sz="2800">
                <a:solidFill>
                  <a:srgbClr val="3333FF"/>
                </a:solidFill>
                <a:latin typeface="Arial" charset="0"/>
                <a:ea typeface="宋体" charset="0"/>
              </a:rPr>
              <a:t>0.2</a:t>
            </a:r>
            <a:r>
              <a:rPr lang="zh-CN" altLang="en-US" sz="2800">
                <a:solidFill>
                  <a:srgbClr val="3333FF"/>
                </a:solidFill>
                <a:latin typeface="Arial" charset="0"/>
                <a:ea typeface="宋体" charset="0"/>
              </a:rPr>
              <a:t>元</a:t>
            </a:r>
            <a:r>
              <a:rPr lang="zh-CN" altLang="en-US" sz="2800">
                <a:latin typeface="Arial" charset="0"/>
                <a:ea typeface="宋体" charset="0"/>
              </a:rPr>
              <a:t>，</a:t>
            </a:r>
            <a:r>
              <a:rPr lang="en-US" altLang="zh-CN" sz="2800">
                <a:latin typeface="Arial" charset="0"/>
                <a:ea typeface="宋体" charset="0"/>
              </a:rPr>
              <a:t>1</a:t>
            </a:r>
            <a:r>
              <a:rPr lang="zh-CN" altLang="en-US" sz="2800">
                <a:latin typeface="Arial" charset="0"/>
                <a:ea typeface="宋体" charset="0"/>
              </a:rPr>
              <a:t>个煎饼果子需要的香葱末等其他材料（包括煤气）约</a:t>
            </a:r>
            <a:r>
              <a:rPr lang="en-US" altLang="zh-CN" sz="2800">
                <a:solidFill>
                  <a:srgbClr val="3333FF"/>
                </a:solidFill>
                <a:latin typeface="Arial" charset="0"/>
                <a:ea typeface="宋体" charset="0"/>
              </a:rPr>
              <a:t>0.1</a:t>
            </a:r>
            <a:r>
              <a:rPr lang="zh-CN" altLang="en-US" sz="2800">
                <a:solidFill>
                  <a:srgbClr val="3333FF"/>
                </a:solidFill>
                <a:latin typeface="Arial" charset="0"/>
                <a:ea typeface="宋体" charset="0"/>
              </a:rPr>
              <a:t>元</a:t>
            </a:r>
            <a:r>
              <a:rPr lang="zh-CN" altLang="en-US" sz="2800">
                <a:latin typeface="Arial" charset="0"/>
                <a:ea typeface="宋体" charset="0"/>
              </a:rPr>
              <a:t>，每个煎饼果子售价</a:t>
            </a:r>
            <a:r>
              <a:rPr lang="en-US" altLang="zh-CN" sz="2800">
                <a:solidFill>
                  <a:srgbClr val="3333FF"/>
                </a:solidFill>
                <a:latin typeface="Arial" charset="0"/>
                <a:ea typeface="宋体" charset="0"/>
              </a:rPr>
              <a:t>2.5</a:t>
            </a:r>
            <a:r>
              <a:rPr lang="zh-CN" altLang="en-US" sz="2800">
                <a:solidFill>
                  <a:srgbClr val="3333FF"/>
                </a:solidFill>
                <a:latin typeface="Arial" charset="0"/>
                <a:ea typeface="宋体" charset="0"/>
              </a:rPr>
              <a:t>元</a:t>
            </a:r>
            <a:r>
              <a:rPr lang="zh-CN" altLang="en-US" sz="2800">
                <a:latin typeface="Arial" charset="0"/>
                <a:ea typeface="宋体" charset="0"/>
              </a:rPr>
              <a:t>。</a:t>
            </a:r>
          </a:p>
          <a:p>
            <a:pPr eaLnBrk="1" hangingPunct="1"/>
            <a:endParaRPr lang="zh-CN" altLang="en-US">
              <a:latin typeface="Arial" charset="0"/>
              <a:ea typeface="宋体" charset="0"/>
            </a:endParaRPr>
          </a:p>
          <a:p>
            <a:pPr lvl="1" eaLnBrk="1" hangingPunct="1"/>
            <a:endParaRPr lang="zh-CN" altLang="en-US">
              <a:latin typeface="Arial" charset="0"/>
              <a:ea typeface="宋体" charset="0"/>
            </a:endParaRPr>
          </a:p>
          <a:p>
            <a:pPr eaLnBrk="1" hangingPunct="1"/>
            <a:endParaRPr lang="zh-CN" altLang="en-US">
              <a:latin typeface="Arial" charset="0"/>
              <a:ea typeface="宋体" charset="0"/>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清华园里的煎饼摊</a:t>
            </a:r>
            <a:r>
              <a:rPr lang="en-US" altLang="zh-CN" sz="3200">
                <a:latin typeface="Arial" charset="0"/>
                <a:ea typeface="楷体_GB2312" charset="0"/>
                <a:cs typeface="楷体_GB2312" charset="0"/>
              </a:rPr>
              <a:t>…</a:t>
            </a:r>
            <a:endParaRPr lang="zh-CN" altLang="en-US" sz="3200">
              <a:latin typeface="Arial" charset="0"/>
              <a:ea typeface="楷体_GB2312" charset="0"/>
              <a:cs typeface="楷体_GB2312" charset="0"/>
            </a:endParaRPr>
          </a:p>
        </p:txBody>
      </p:sp>
      <p:sp>
        <p:nvSpPr>
          <p:cNvPr id="24579" name="Rectangle 3"/>
          <p:cNvSpPr>
            <a:spLocks noGrp="1" noChangeArrowheads="1"/>
          </p:cNvSpPr>
          <p:nvPr>
            <p:ph type="body" idx="1"/>
          </p:nvPr>
        </p:nvSpPr>
        <p:spPr/>
        <p:txBody>
          <a:bodyPr/>
          <a:lstStyle/>
          <a:p>
            <a:pPr eaLnBrk="1" hangingPunct="1"/>
            <a:r>
              <a:rPr lang="zh-CN" altLang="en-US">
                <a:latin typeface="Arial" charset="0"/>
                <a:ea typeface="宋体" charset="0"/>
              </a:rPr>
              <a:t>每天的固定成本为</a:t>
            </a:r>
            <a:r>
              <a:rPr lang="en-US" altLang="zh-CN">
                <a:latin typeface="Arial" charset="0"/>
                <a:ea typeface="宋体" charset="0"/>
              </a:rPr>
              <a:t>(800+40)/30=28</a:t>
            </a:r>
            <a:r>
              <a:rPr lang="zh-CN" altLang="en-US">
                <a:latin typeface="Arial" charset="0"/>
                <a:ea typeface="宋体" charset="0"/>
              </a:rPr>
              <a:t>元</a:t>
            </a:r>
          </a:p>
          <a:p>
            <a:pPr eaLnBrk="1" hangingPunct="1"/>
            <a:r>
              <a:rPr lang="zh-CN" altLang="en-US">
                <a:latin typeface="Arial" charset="0"/>
                <a:ea typeface="宋体" charset="0"/>
              </a:rPr>
              <a:t>单位可变成本为</a:t>
            </a:r>
            <a:r>
              <a:rPr lang="en-US" altLang="zh-CN">
                <a:latin typeface="Arial" charset="0"/>
                <a:ea typeface="宋体" charset="0"/>
              </a:rPr>
              <a:t>0.2+0.5*2+0.2+0.1=1.5</a:t>
            </a:r>
            <a:r>
              <a:rPr lang="zh-CN" altLang="en-US">
                <a:latin typeface="Arial" charset="0"/>
                <a:ea typeface="宋体" charset="0"/>
              </a:rPr>
              <a:t>元</a:t>
            </a:r>
          </a:p>
          <a:p>
            <a:pPr eaLnBrk="1" hangingPunct="1"/>
            <a:r>
              <a:rPr lang="zh-CN" altLang="en-US">
                <a:latin typeface="Arial" charset="0"/>
                <a:ea typeface="宋体" charset="0"/>
              </a:rPr>
              <a:t>盈亏平衡点</a:t>
            </a:r>
          </a:p>
          <a:p>
            <a:pPr lvl="1" eaLnBrk="1" hangingPunct="1"/>
            <a:r>
              <a:rPr lang="zh-CN" altLang="en-US" sz="3200">
                <a:latin typeface="Arial" charset="0"/>
                <a:ea typeface="宋体" charset="0"/>
              </a:rPr>
              <a:t>盈亏平衡产量：</a:t>
            </a:r>
            <a:r>
              <a:rPr lang="en-US" altLang="zh-CN" sz="3200">
                <a:latin typeface="Arial" charset="0"/>
                <a:ea typeface="宋体" charset="0"/>
              </a:rPr>
              <a:t>Q*=C</a:t>
            </a:r>
            <a:r>
              <a:rPr lang="en-US" altLang="zh-CN" sz="3200" baseline="-25000">
                <a:latin typeface="Arial" charset="0"/>
                <a:ea typeface="宋体" charset="0"/>
              </a:rPr>
              <a:t>f</a:t>
            </a:r>
            <a:r>
              <a:rPr lang="en-US" altLang="zh-CN" sz="3200">
                <a:latin typeface="Arial" charset="0"/>
                <a:ea typeface="宋体" charset="0"/>
              </a:rPr>
              <a:t>/(P-C</a:t>
            </a:r>
            <a:r>
              <a:rPr lang="en-US" altLang="zh-CN" sz="3200" baseline="-25000">
                <a:latin typeface="Arial" charset="0"/>
                <a:ea typeface="宋体" charset="0"/>
              </a:rPr>
              <a:t>v</a:t>
            </a:r>
            <a:r>
              <a:rPr lang="en-US" altLang="zh-CN" sz="3200">
                <a:latin typeface="Arial" charset="0"/>
                <a:ea typeface="宋体" charset="0"/>
              </a:rPr>
              <a:t>)=28/(2.5-1.5)=28</a:t>
            </a:r>
            <a:r>
              <a:rPr lang="zh-CN" altLang="en-US" sz="3200">
                <a:latin typeface="Arial" charset="0"/>
                <a:ea typeface="宋体" charset="0"/>
              </a:rPr>
              <a:t>个</a:t>
            </a:r>
          </a:p>
          <a:p>
            <a:pPr lvl="1" eaLnBrk="1" hangingPunct="1"/>
            <a:r>
              <a:rPr lang="zh-CN" altLang="en-US" sz="3200">
                <a:latin typeface="Arial" charset="0"/>
                <a:ea typeface="宋体" charset="0"/>
              </a:rPr>
              <a:t>最大产量时的盈亏平衡价格：</a:t>
            </a:r>
            <a:r>
              <a:rPr lang="en-US" altLang="zh-CN" sz="3200">
                <a:latin typeface="Arial" charset="0"/>
                <a:ea typeface="宋体" charset="0"/>
              </a:rPr>
              <a:t>P*=C</a:t>
            </a:r>
            <a:r>
              <a:rPr lang="en-US" altLang="zh-CN" sz="3200" baseline="-25000">
                <a:latin typeface="Arial" charset="0"/>
                <a:ea typeface="宋体" charset="0"/>
              </a:rPr>
              <a:t>v</a:t>
            </a:r>
            <a:r>
              <a:rPr lang="en-US" altLang="zh-CN" sz="3200">
                <a:latin typeface="Arial" charset="0"/>
                <a:ea typeface="宋体" charset="0"/>
              </a:rPr>
              <a:t>+C</a:t>
            </a:r>
            <a:r>
              <a:rPr lang="en-US" altLang="zh-CN" sz="3200" baseline="-25000">
                <a:latin typeface="Arial" charset="0"/>
                <a:ea typeface="宋体" charset="0"/>
              </a:rPr>
              <a:t>f</a:t>
            </a:r>
            <a:r>
              <a:rPr lang="en-US" altLang="zh-CN" sz="3200">
                <a:latin typeface="Arial" charset="0"/>
                <a:ea typeface="宋体" charset="0"/>
              </a:rPr>
              <a:t>/Q</a:t>
            </a:r>
            <a:r>
              <a:rPr lang="en-US" altLang="zh-CN" sz="3200" baseline="-25000">
                <a:latin typeface="Arial" charset="0"/>
                <a:ea typeface="宋体" charset="0"/>
              </a:rPr>
              <a:t>max</a:t>
            </a:r>
            <a:r>
              <a:rPr lang="en-US" altLang="zh-CN" sz="3200">
                <a:latin typeface="Arial" charset="0"/>
                <a:ea typeface="宋体" charset="0"/>
              </a:rPr>
              <a:t>=1.5+28/200=1.64</a:t>
            </a:r>
            <a:r>
              <a:rPr lang="zh-CN" altLang="en-US" sz="3200">
                <a:latin typeface="Arial" charset="0"/>
                <a:ea typeface="宋体" charset="0"/>
              </a:rPr>
              <a:t>元</a:t>
            </a:r>
            <a:r>
              <a:rPr lang="en-US" altLang="zh-CN" sz="3200">
                <a:latin typeface="Arial" charset="0"/>
                <a:ea typeface="宋体" charset="0"/>
              </a:rPr>
              <a:t>/</a:t>
            </a:r>
            <a:r>
              <a:rPr lang="zh-CN" altLang="en-US" sz="3200">
                <a:latin typeface="Arial" charset="0"/>
                <a:ea typeface="宋体" charset="0"/>
              </a:rPr>
              <a:t>个</a:t>
            </a:r>
          </a:p>
          <a:p>
            <a:pPr lvl="1" eaLnBrk="1" hangingPunct="1"/>
            <a:r>
              <a:rPr lang="zh-CN" altLang="en-US" sz="3200">
                <a:latin typeface="Arial" charset="0"/>
                <a:ea typeface="宋体" charset="0"/>
              </a:rPr>
              <a:t>最大产量时的盈亏平衡变动成本：</a:t>
            </a:r>
          </a:p>
          <a:p>
            <a:pPr lvl="1" eaLnBrk="1" hangingPunct="1">
              <a:buFontTx/>
              <a:buNone/>
            </a:pPr>
            <a:r>
              <a:rPr lang="en-US" altLang="zh-CN" sz="3200">
                <a:latin typeface="Arial" charset="0"/>
                <a:ea typeface="宋体" charset="0"/>
              </a:rPr>
              <a:t>   C</a:t>
            </a:r>
            <a:r>
              <a:rPr lang="en-US" altLang="zh-CN" sz="3200" baseline="-25000">
                <a:latin typeface="Arial" charset="0"/>
                <a:ea typeface="宋体" charset="0"/>
              </a:rPr>
              <a:t>v</a:t>
            </a:r>
            <a:r>
              <a:rPr lang="en-US" altLang="zh-CN" sz="3200">
                <a:latin typeface="Arial" charset="0"/>
                <a:ea typeface="宋体" charset="0"/>
              </a:rPr>
              <a:t>*=P-C</a:t>
            </a:r>
            <a:r>
              <a:rPr lang="en-US" altLang="zh-CN" sz="3200" baseline="-25000">
                <a:latin typeface="Arial" charset="0"/>
                <a:ea typeface="宋体" charset="0"/>
              </a:rPr>
              <a:t>f</a:t>
            </a:r>
            <a:r>
              <a:rPr lang="en-US" altLang="zh-CN" sz="3200">
                <a:latin typeface="Arial" charset="0"/>
                <a:ea typeface="宋体" charset="0"/>
              </a:rPr>
              <a:t>/Q</a:t>
            </a:r>
            <a:r>
              <a:rPr lang="en-US" altLang="zh-CN" sz="3200" baseline="-25000">
                <a:latin typeface="Arial" charset="0"/>
                <a:ea typeface="宋体" charset="0"/>
              </a:rPr>
              <a:t>max</a:t>
            </a:r>
            <a:r>
              <a:rPr lang="en-US" altLang="zh-CN" sz="3200">
                <a:latin typeface="Arial" charset="0"/>
                <a:ea typeface="宋体" charset="0"/>
              </a:rPr>
              <a:t>=2.5-28/200=2.36</a:t>
            </a:r>
            <a:r>
              <a:rPr lang="zh-CN" altLang="en-US" sz="3200">
                <a:latin typeface="Arial" charset="0"/>
                <a:ea typeface="宋体" charset="0"/>
              </a:rPr>
              <a:t>元</a:t>
            </a:r>
            <a:r>
              <a:rPr lang="en-US" altLang="zh-CN" sz="3200">
                <a:latin typeface="Arial" charset="0"/>
                <a:ea typeface="宋体" charset="0"/>
              </a:rPr>
              <a:t>/</a:t>
            </a:r>
            <a:r>
              <a:rPr lang="zh-CN" altLang="en-US" sz="3200">
                <a:latin typeface="Arial" charset="0"/>
                <a:ea typeface="宋体" charset="0"/>
              </a:rPr>
              <a:t>个</a:t>
            </a:r>
          </a:p>
          <a:p>
            <a:pPr eaLnBrk="1" hangingPunct="1"/>
            <a:endParaRPr lang="zh-CN" altLang="en-US">
              <a:latin typeface="Arial" charset="0"/>
              <a:ea typeface="宋体" charset="0"/>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a:latin typeface="Arial" charset="0"/>
                <a:ea typeface="楷体_GB2312" charset="0"/>
                <a:cs typeface="楷体_GB2312" charset="0"/>
              </a:rPr>
              <a:t>2. </a:t>
            </a:r>
            <a:r>
              <a:rPr lang="zh-CN" altLang="en-US">
                <a:latin typeface="Arial" charset="0"/>
                <a:ea typeface="楷体_GB2312" charset="0"/>
                <a:cs typeface="楷体_GB2312" charset="0"/>
              </a:rPr>
              <a:t>互斥方案的盈亏平衡分析</a:t>
            </a:r>
          </a:p>
        </p:txBody>
      </p:sp>
      <p:sp>
        <p:nvSpPr>
          <p:cNvPr id="801795" name="Rectangle 3"/>
          <p:cNvSpPr>
            <a:spLocks noGrp="1" noChangeArrowheads="1"/>
          </p:cNvSpPr>
          <p:nvPr>
            <p:ph type="body" idx="1"/>
          </p:nvPr>
        </p:nvSpPr>
        <p:spPr/>
        <p:txBody>
          <a:bodyPr/>
          <a:lstStyle/>
          <a:p>
            <a:pPr eaLnBrk="1" hangingPunct="1">
              <a:lnSpc>
                <a:spcPct val="90000"/>
              </a:lnSpc>
            </a:pPr>
            <a:r>
              <a:rPr lang="zh-CN" altLang="en-US">
                <a:latin typeface="Arial" charset="0"/>
                <a:ea typeface="宋体" charset="0"/>
              </a:rPr>
              <a:t>基本方法</a:t>
            </a:r>
          </a:p>
          <a:p>
            <a:pPr lvl="1" eaLnBrk="1" hangingPunct="1">
              <a:lnSpc>
                <a:spcPct val="90000"/>
              </a:lnSpc>
            </a:pPr>
            <a:r>
              <a:rPr lang="zh-CN" altLang="en-US">
                <a:latin typeface="Arial" charset="0"/>
                <a:ea typeface="宋体" charset="0"/>
              </a:rPr>
              <a:t>找出共有的影响这些方案取舍的不确定因素</a:t>
            </a:r>
          </a:p>
          <a:p>
            <a:pPr lvl="1" eaLnBrk="1" hangingPunct="1">
              <a:lnSpc>
                <a:spcPct val="90000"/>
              </a:lnSpc>
            </a:pPr>
            <a:r>
              <a:rPr lang="zh-CN" altLang="en-US">
                <a:latin typeface="Arial" charset="0"/>
                <a:ea typeface="宋体" charset="0"/>
              </a:rPr>
              <a:t>求出两两方案的盈亏平衡点</a:t>
            </a:r>
          </a:p>
          <a:p>
            <a:pPr lvl="1" eaLnBrk="1" hangingPunct="1">
              <a:lnSpc>
                <a:spcPct val="90000"/>
              </a:lnSpc>
            </a:pPr>
            <a:r>
              <a:rPr lang="zh-CN" altLang="en-US">
                <a:latin typeface="Arial" charset="0"/>
                <a:ea typeface="宋体" charset="0"/>
              </a:rPr>
              <a:t>根据盈亏平衡点进行方案取舍</a:t>
            </a:r>
            <a:endParaRPr lang="en-US" altLang="zh-CN">
              <a:latin typeface="Arial" charset="0"/>
              <a:ea typeface="宋体" charset="0"/>
            </a:endParaRPr>
          </a:p>
          <a:p>
            <a:pPr eaLnBrk="1" hangingPunct="1">
              <a:lnSpc>
                <a:spcPct val="90000"/>
              </a:lnSpc>
            </a:pPr>
            <a:endParaRPr lang="zh-CN" altLang="en-US">
              <a:latin typeface="Arial" charset="0"/>
              <a:ea typeface="宋体" charset="0"/>
            </a:endParaRPr>
          </a:p>
          <a:p>
            <a:pPr eaLnBrk="1" hangingPunct="1">
              <a:lnSpc>
                <a:spcPct val="90000"/>
              </a:lnSpc>
            </a:pPr>
            <a:r>
              <a:rPr lang="zh-CN" altLang="en-US">
                <a:latin typeface="Arial" charset="0"/>
                <a:ea typeface="宋体" charset="0"/>
              </a:rPr>
              <a:t>例题</a:t>
            </a:r>
          </a:p>
          <a:p>
            <a:pPr lvl="1" eaLnBrk="1" hangingPunct="1">
              <a:lnSpc>
                <a:spcPct val="90000"/>
              </a:lnSpc>
            </a:pPr>
            <a:r>
              <a:rPr lang="zh-CN" altLang="en-US">
                <a:latin typeface="Arial" charset="0"/>
                <a:ea typeface="宋体" charset="0"/>
              </a:rPr>
              <a:t>假设你开始创业生涯，现在有两个投资方案，方案</a:t>
            </a:r>
            <a:r>
              <a:rPr lang="en-US" altLang="zh-CN">
                <a:latin typeface="Arial" charset="0"/>
                <a:ea typeface="宋体" charset="0"/>
              </a:rPr>
              <a:t>A</a:t>
            </a:r>
            <a:r>
              <a:rPr lang="zh-CN" altLang="en-US">
                <a:latin typeface="Arial" charset="0"/>
                <a:ea typeface="宋体" charset="0"/>
              </a:rPr>
              <a:t>初始投资为</a:t>
            </a:r>
            <a:r>
              <a:rPr lang="en-US" altLang="zh-CN">
                <a:latin typeface="Arial" charset="0"/>
                <a:ea typeface="宋体" charset="0"/>
              </a:rPr>
              <a:t>70</a:t>
            </a:r>
            <a:r>
              <a:rPr lang="zh-CN" altLang="en-US">
                <a:latin typeface="Arial" charset="0"/>
                <a:ea typeface="宋体" charset="0"/>
              </a:rPr>
              <a:t>万元，预期年净收益</a:t>
            </a:r>
            <a:r>
              <a:rPr lang="en-US" altLang="zh-CN">
                <a:latin typeface="Arial" charset="0"/>
                <a:ea typeface="宋体" charset="0"/>
              </a:rPr>
              <a:t>15</a:t>
            </a:r>
            <a:r>
              <a:rPr lang="zh-CN" altLang="en-US">
                <a:latin typeface="Arial" charset="0"/>
                <a:ea typeface="宋体" charset="0"/>
              </a:rPr>
              <a:t>万元；方案</a:t>
            </a:r>
            <a:r>
              <a:rPr lang="en-US" altLang="zh-CN">
                <a:latin typeface="Arial" charset="0"/>
                <a:ea typeface="宋体" charset="0"/>
              </a:rPr>
              <a:t>B</a:t>
            </a:r>
            <a:r>
              <a:rPr lang="zh-CN" altLang="en-US">
                <a:latin typeface="Arial" charset="0"/>
                <a:ea typeface="宋体" charset="0"/>
              </a:rPr>
              <a:t>初始投资为</a:t>
            </a:r>
            <a:r>
              <a:rPr lang="en-US" altLang="zh-CN">
                <a:latin typeface="Arial" charset="0"/>
                <a:ea typeface="宋体" charset="0"/>
              </a:rPr>
              <a:t>170</a:t>
            </a:r>
            <a:r>
              <a:rPr lang="zh-CN" altLang="en-US">
                <a:latin typeface="Arial" charset="0"/>
                <a:ea typeface="宋体" charset="0"/>
              </a:rPr>
              <a:t>万元，预期年净收益</a:t>
            </a:r>
            <a:r>
              <a:rPr lang="en-US" altLang="zh-CN">
                <a:latin typeface="Arial" charset="0"/>
                <a:ea typeface="宋体" charset="0"/>
              </a:rPr>
              <a:t>35</a:t>
            </a:r>
            <a:r>
              <a:rPr lang="zh-CN" altLang="en-US">
                <a:latin typeface="Arial" charset="0"/>
                <a:ea typeface="宋体" charset="0"/>
              </a:rPr>
              <a:t>万元。两个方案的市场寿命具有较大的不确定性，试就寿命期分析两方案的临界点。（不考虑期末资产残值，</a:t>
            </a:r>
            <a:r>
              <a:rPr lang="en-US" altLang="zh-CN">
                <a:latin typeface="Arial" charset="0"/>
                <a:ea typeface="宋体" charset="0"/>
              </a:rPr>
              <a:t>i</a:t>
            </a:r>
            <a:r>
              <a:rPr lang="en-US" altLang="zh-CN" baseline="-25000">
                <a:latin typeface="Arial" charset="0"/>
                <a:ea typeface="宋体" charset="0"/>
              </a:rPr>
              <a:t>c</a:t>
            </a:r>
            <a:r>
              <a:rPr lang="en-US" altLang="zh-CN">
                <a:latin typeface="Arial" charset="0"/>
                <a:ea typeface="宋体" charset="0"/>
              </a:rPr>
              <a:t>=15%</a:t>
            </a:r>
            <a:r>
              <a:rPr lang="zh-CN" altLang="en-US">
                <a:latin typeface="Arial" charset="0"/>
                <a:ea typeface="宋体"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01795">
                                            <p:txEl>
                                              <p:pRg st="5" end="5"/>
                                            </p:txEl>
                                          </p:spTgt>
                                        </p:tgtEl>
                                        <p:attrNameLst>
                                          <p:attrName>style.visibility</p:attrName>
                                        </p:attrNameLst>
                                      </p:cBhvr>
                                      <p:to>
                                        <p:strVal val="visible"/>
                                      </p:to>
                                    </p:set>
                                    <p:animEffect transition="in" filter="blinds(horizontal)">
                                      <p:cBhvr>
                                        <p:cTn id="7" dur="500"/>
                                        <p:tgtEl>
                                          <p:spTgt spid="801795">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01795">
                                            <p:txEl>
                                              <p:pRg st="6" end="6"/>
                                            </p:txEl>
                                          </p:spTgt>
                                        </p:tgtEl>
                                        <p:attrNameLst>
                                          <p:attrName>style.visibility</p:attrName>
                                        </p:attrNameLst>
                                      </p:cBhvr>
                                      <p:to>
                                        <p:strVal val="visible"/>
                                      </p:to>
                                    </p:set>
                                    <p:animEffect transition="in" filter="blinds(horizontal)">
                                      <p:cBhvr>
                                        <p:cTn id="10" dur="500"/>
                                        <p:tgtEl>
                                          <p:spTgt spid="8017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zh-CN">
                <a:latin typeface="Arial" charset="0"/>
                <a:ea typeface="楷体_GB2312" charset="0"/>
                <a:cs typeface="楷体_GB2312" charset="0"/>
              </a:rPr>
              <a:t>2. </a:t>
            </a:r>
            <a:r>
              <a:rPr lang="zh-CN" altLang="en-US">
                <a:latin typeface="Arial" charset="0"/>
                <a:ea typeface="楷体_GB2312" charset="0"/>
                <a:cs typeface="楷体_GB2312" charset="0"/>
              </a:rPr>
              <a:t>互斥方案的盈亏平衡分析</a:t>
            </a:r>
          </a:p>
        </p:txBody>
      </p:sp>
      <p:sp>
        <p:nvSpPr>
          <p:cNvPr id="27651" name="Rectangle 3"/>
          <p:cNvSpPr>
            <a:spLocks noGrp="1" noChangeArrowheads="1"/>
          </p:cNvSpPr>
          <p:nvPr>
            <p:ph type="body" idx="1"/>
          </p:nvPr>
        </p:nvSpPr>
        <p:spPr>
          <a:xfrm>
            <a:off x="0" y="1025525"/>
            <a:ext cx="9144000" cy="5207000"/>
          </a:xfrm>
        </p:spPr>
        <p:txBody>
          <a:bodyPr/>
          <a:lstStyle/>
          <a:p>
            <a:pPr eaLnBrk="1" hangingPunct="1"/>
            <a:r>
              <a:rPr lang="zh-CN" altLang="en-US">
                <a:latin typeface="Arial" charset="0"/>
                <a:ea typeface="宋体" charset="0"/>
              </a:rPr>
              <a:t>解：设项目寿命期为</a:t>
            </a:r>
            <a:r>
              <a:rPr lang="en-US" altLang="zh-CN">
                <a:latin typeface="Arial" charset="0"/>
                <a:ea typeface="宋体" charset="0"/>
              </a:rPr>
              <a:t>n</a:t>
            </a:r>
          </a:p>
          <a:p>
            <a:pPr eaLnBrk="1" hangingPunct="1">
              <a:spcBef>
                <a:spcPct val="40000"/>
              </a:spcBef>
              <a:buFontTx/>
              <a:buNone/>
            </a:pPr>
            <a:r>
              <a:rPr lang="zh-CN" altLang="en-US">
                <a:latin typeface="Arial" charset="0"/>
                <a:ea typeface="宋体" charset="0"/>
              </a:rPr>
              <a:t/>
            </a:r>
            <a:br>
              <a:rPr lang="zh-CN" altLang="en-US">
                <a:latin typeface="Arial" charset="0"/>
                <a:ea typeface="宋体" charset="0"/>
              </a:rPr>
            </a:br>
            <a:r>
              <a:rPr lang="zh-CN" altLang="en-US">
                <a:latin typeface="Arial" charset="0"/>
                <a:ea typeface="宋体" charset="0"/>
              </a:rPr>
              <a:t/>
            </a:r>
            <a:br>
              <a:rPr lang="zh-CN" altLang="en-US">
                <a:latin typeface="Arial" charset="0"/>
                <a:ea typeface="宋体" charset="0"/>
              </a:rPr>
            </a:br>
            <a:r>
              <a:rPr lang="zh-CN" altLang="en-US" sz="2800">
                <a:latin typeface="Arial" charset="0"/>
                <a:ea typeface="宋体" charset="0"/>
              </a:rPr>
              <a:t>当</a:t>
            </a:r>
            <a:r>
              <a:rPr lang="en-US" altLang="zh-CN" sz="2800">
                <a:latin typeface="Arial" charset="0"/>
                <a:ea typeface="宋体" charset="0"/>
              </a:rPr>
              <a:t>NPV</a:t>
            </a:r>
            <a:r>
              <a:rPr lang="en-US" altLang="zh-CN" sz="2800" baseline="-25000">
                <a:latin typeface="Arial" charset="0"/>
                <a:ea typeface="宋体" charset="0"/>
              </a:rPr>
              <a:t>A</a:t>
            </a:r>
            <a:r>
              <a:rPr lang="en-US" altLang="zh-CN" sz="2800">
                <a:latin typeface="Arial" charset="0"/>
                <a:ea typeface="宋体" charset="0"/>
              </a:rPr>
              <a:t>=NPV</a:t>
            </a:r>
            <a:r>
              <a:rPr lang="en-US" altLang="zh-CN" sz="2800" baseline="-25000">
                <a:latin typeface="Arial" charset="0"/>
                <a:ea typeface="宋体" charset="0"/>
              </a:rPr>
              <a:t>B</a:t>
            </a:r>
            <a:r>
              <a:rPr lang="zh-CN" altLang="en-US" sz="2800">
                <a:latin typeface="Arial" charset="0"/>
                <a:ea typeface="宋体" charset="0"/>
              </a:rPr>
              <a:t>时</a:t>
            </a:r>
            <a:br>
              <a:rPr lang="zh-CN" altLang="en-US" sz="2800">
                <a:latin typeface="Arial" charset="0"/>
                <a:ea typeface="宋体" charset="0"/>
              </a:rPr>
            </a:br>
            <a:r>
              <a:rPr lang="zh-CN" altLang="en-US" sz="2800">
                <a:latin typeface="Arial" charset="0"/>
                <a:ea typeface="宋体" charset="0"/>
              </a:rPr>
              <a:t/>
            </a:r>
            <a:br>
              <a:rPr lang="zh-CN" altLang="en-US" sz="2800">
                <a:latin typeface="Arial" charset="0"/>
                <a:ea typeface="宋体" charset="0"/>
              </a:rPr>
            </a:br>
            <a:r>
              <a:rPr lang="zh-CN" altLang="en-US" sz="2800">
                <a:latin typeface="Arial" charset="0"/>
                <a:ea typeface="宋体" charset="0"/>
              </a:rPr>
              <a:t/>
            </a:r>
            <a:br>
              <a:rPr lang="zh-CN" altLang="en-US" sz="2800">
                <a:latin typeface="Arial" charset="0"/>
                <a:ea typeface="宋体" charset="0"/>
              </a:rPr>
            </a:br>
            <a:r>
              <a:rPr lang="zh-CN" altLang="en-US" sz="2800">
                <a:latin typeface="Arial" charset="0"/>
                <a:ea typeface="宋体" charset="0"/>
              </a:rPr>
              <a:t/>
            </a:r>
            <a:br>
              <a:rPr lang="zh-CN" altLang="en-US" sz="2800">
                <a:latin typeface="Arial" charset="0"/>
                <a:ea typeface="宋体" charset="0"/>
              </a:rPr>
            </a:br>
            <a:r>
              <a:rPr lang="zh-CN" altLang="en-US" sz="2800">
                <a:latin typeface="Arial" charset="0"/>
                <a:ea typeface="宋体" charset="0"/>
              </a:rPr>
              <a:t>求得</a:t>
            </a:r>
            <a:r>
              <a:rPr lang="en-US" altLang="zh-CN" sz="2800">
                <a:latin typeface="Arial" charset="0"/>
                <a:ea typeface="宋体" charset="0"/>
              </a:rPr>
              <a:t>n=10</a:t>
            </a:r>
            <a:r>
              <a:rPr lang="zh-CN" altLang="en-US" sz="2800">
                <a:latin typeface="Arial" charset="0"/>
                <a:ea typeface="宋体" charset="0"/>
              </a:rPr>
              <a:t>年，如图所示</a:t>
            </a:r>
            <a:br>
              <a:rPr lang="zh-CN" altLang="en-US" sz="2800">
                <a:latin typeface="Arial" charset="0"/>
                <a:ea typeface="宋体" charset="0"/>
              </a:rPr>
            </a:br>
            <a:r>
              <a:rPr lang="zh-CN" altLang="en-US" sz="2800">
                <a:latin typeface="Arial" charset="0"/>
                <a:ea typeface="宋体" charset="0"/>
              </a:rPr>
              <a:t>当寿命期小于</a:t>
            </a:r>
            <a:r>
              <a:rPr lang="en-US" altLang="zh-CN" sz="2800">
                <a:latin typeface="Arial" charset="0"/>
                <a:ea typeface="宋体" charset="0"/>
              </a:rPr>
              <a:t>10</a:t>
            </a:r>
            <a:r>
              <a:rPr lang="zh-CN" altLang="en-US" sz="2800">
                <a:latin typeface="Arial" charset="0"/>
                <a:ea typeface="宋体" charset="0"/>
              </a:rPr>
              <a:t>年，采用</a:t>
            </a:r>
            <a:r>
              <a:rPr lang="en-US" altLang="zh-CN" sz="2800">
                <a:latin typeface="Arial" charset="0"/>
                <a:ea typeface="宋体" charset="0"/>
              </a:rPr>
              <a:t>A</a:t>
            </a:r>
            <a:r>
              <a:rPr lang="zh-CN" altLang="en-US" sz="2800">
                <a:latin typeface="Arial" charset="0"/>
                <a:ea typeface="宋体" charset="0"/>
              </a:rPr>
              <a:t/>
            </a:r>
            <a:br>
              <a:rPr lang="zh-CN" altLang="en-US" sz="2800">
                <a:latin typeface="Arial" charset="0"/>
                <a:ea typeface="宋体" charset="0"/>
              </a:rPr>
            </a:br>
            <a:r>
              <a:rPr lang="zh-CN" altLang="en-US" sz="2800">
                <a:latin typeface="Arial" charset="0"/>
                <a:ea typeface="宋体" charset="0"/>
              </a:rPr>
              <a:t>当寿命期大于</a:t>
            </a:r>
            <a:r>
              <a:rPr lang="en-US" altLang="zh-CN" sz="2800">
                <a:latin typeface="Arial" charset="0"/>
                <a:ea typeface="宋体" charset="0"/>
              </a:rPr>
              <a:t>10</a:t>
            </a:r>
            <a:r>
              <a:rPr lang="zh-CN" altLang="en-US" sz="2800">
                <a:latin typeface="Arial" charset="0"/>
                <a:ea typeface="宋体" charset="0"/>
              </a:rPr>
              <a:t>年，采用</a:t>
            </a:r>
            <a:r>
              <a:rPr lang="en-US" altLang="zh-CN" sz="2800">
                <a:latin typeface="Arial" charset="0"/>
                <a:ea typeface="宋体" charset="0"/>
              </a:rPr>
              <a:t>B</a:t>
            </a:r>
            <a:endParaRPr lang="en-US" altLang="zh-CN">
              <a:latin typeface="Arial" charset="0"/>
              <a:ea typeface="宋体" charset="0"/>
            </a:endParaRPr>
          </a:p>
        </p:txBody>
      </p:sp>
      <p:graphicFrame>
        <p:nvGraphicFramePr>
          <p:cNvPr id="27652" name="Object 4"/>
          <p:cNvGraphicFramePr>
            <a:graphicFrameLocks noChangeAspect="1"/>
          </p:cNvGraphicFramePr>
          <p:nvPr/>
        </p:nvGraphicFramePr>
        <p:xfrm>
          <a:off x="560388" y="1633538"/>
          <a:ext cx="4378325" cy="996950"/>
        </p:xfrm>
        <a:graphic>
          <a:graphicData uri="http://schemas.openxmlformats.org/presentationml/2006/ole">
            <mc:AlternateContent xmlns:mc="http://schemas.openxmlformats.org/markup-compatibility/2006">
              <mc:Choice xmlns:v="urn:schemas-microsoft-com:vml" Requires="v">
                <p:oleObj spid="_x0000_s27688" name="Equation" r:id="rId4" imgW="2006600" imgH="457200" progId="Equation.3">
                  <p:embed/>
                </p:oleObj>
              </mc:Choice>
              <mc:Fallback>
                <p:oleObj name="Equation" r:id="rId4" imgW="2006600" imgH="4572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388" y="1633538"/>
                        <a:ext cx="4378325" cy="9969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7653" name="Object 5"/>
          <p:cNvGraphicFramePr>
            <a:graphicFrameLocks noChangeAspect="1"/>
          </p:cNvGraphicFramePr>
          <p:nvPr/>
        </p:nvGraphicFramePr>
        <p:xfrm>
          <a:off x="450850" y="3346450"/>
          <a:ext cx="6538913" cy="941388"/>
        </p:xfrm>
        <a:graphic>
          <a:graphicData uri="http://schemas.openxmlformats.org/presentationml/2006/ole">
            <mc:AlternateContent xmlns:mc="http://schemas.openxmlformats.org/markup-compatibility/2006">
              <mc:Choice xmlns:v="urn:schemas-microsoft-com:vml" Requires="v">
                <p:oleObj spid="_x0000_s27689" name="Equation" r:id="rId6" imgW="2997200" imgH="431800" progId="Equation.3">
                  <p:embed/>
                </p:oleObj>
              </mc:Choice>
              <mc:Fallback>
                <p:oleObj name="Equation" r:id="rId6" imgW="2997200" imgH="4318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850" y="3346450"/>
                        <a:ext cx="6538913" cy="9413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7654" name="Line 6"/>
          <p:cNvSpPr>
            <a:spLocks noChangeShapeType="1"/>
          </p:cNvSpPr>
          <p:nvPr/>
        </p:nvSpPr>
        <p:spPr bwMode="auto">
          <a:xfrm flipV="1">
            <a:off x="5568950" y="4151313"/>
            <a:ext cx="0" cy="2193925"/>
          </a:xfrm>
          <a:prstGeom prst="line">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pSp>
        <p:nvGrpSpPr>
          <p:cNvPr id="27655" name="Group 7"/>
          <p:cNvGrpSpPr>
            <a:grpSpLocks/>
          </p:cNvGrpSpPr>
          <p:nvPr/>
        </p:nvGrpSpPr>
        <p:grpSpPr bwMode="auto">
          <a:xfrm>
            <a:off x="4900613" y="4013200"/>
            <a:ext cx="3978275" cy="2219325"/>
            <a:chOff x="3087" y="2528"/>
            <a:chExt cx="2506" cy="1398"/>
          </a:xfrm>
        </p:grpSpPr>
        <p:sp>
          <p:nvSpPr>
            <p:cNvPr id="27656" name="Line 8"/>
            <p:cNvSpPr>
              <a:spLocks noChangeShapeType="1"/>
            </p:cNvSpPr>
            <p:nvPr/>
          </p:nvSpPr>
          <p:spPr bwMode="auto">
            <a:xfrm>
              <a:off x="3508" y="3358"/>
              <a:ext cx="2085" cy="0"/>
            </a:xfrm>
            <a:prstGeom prst="line">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7657" name="Line 9"/>
            <p:cNvSpPr>
              <a:spLocks noChangeShapeType="1"/>
            </p:cNvSpPr>
            <p:nvPr/>
          </p:nvSpPr>
          <p:spPr bwMode="auto">
            <a:xfrm flipV="1">
              <a:off x="3508" y="2748"/>
              <a:ext cx="1693" cy="823"/>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7658" name="Line 10"/>
            <p:cNvSpPr>
              <a:spLocks noChangeShapeType="1"/>
            </p:cNvSpPr>
            <p:nvPr/>
          </p:nvSpPr>
          <p:spPr bwMode="auto">
            <a:xfrm flipV="1">
              <a:off x="3508" y="2615"/>
              <a:ext cx="1371" cy="1244"/>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7659" name="Line 11"/>
            <p:cNvSpPr>
              <a:spLocks noChangeShapeType="1"/>
            </p:cNvSpPr>
            <p:nvPr/>
          </p:nvSpPr>
          <p:spPr bwMode="auto">
            <a:xfrm>
              <a:off x="4188" y="3237"/>
              <a:ext cx="0" cy="121"/>
            </a:xfrm>
            <a:prstGeom prst="line">
              <a:avLst/>
            </a:prstGeom>
            <a:noFill/>
            <a:ln w="9525">
              <a:solidFill>
                <a:srgbClr val="000000"/>
              </a:solidFill>
              <a:prstDash val="sysDot"/>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7660" name="Text Box 12"/>
            <p:cNvSpPr txBox="1">
              <a:spLocks noChangeArrowheads="1"/>
            </p:cNvSpPr>
            <p:nvPr/>
          </p:nvSpPr>
          <p:spPr bwMode="auto">
            <a:xfrm>
              <a:off x="3087" y="2615"/>
              <a:ext cx="380" cy="1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lgn="r">
                <a:spcBef>
                  <a:spcPct val="50000"/>
                </a:spcBef>
              </a:pPr>
              <a:r>
                <a:rPr lang="en-US" altLang="zh-CN" sz="1200" b="0"/>
                <a:t>NPV</a:t>
              </a:r>
            </a:p>
          </p:txBody>
        </p:sp>
        <p:sp>
          <p:nvSpPr>
            <p:cNvPr id="27661" name="Text Box 13"/>
            <p:cNvSpPr txBox="1">
              <a:spLocks noChangeArrowheads="1"/>
            </p:cNvSpPr>
            <p:nvPr/>
          </p:nvSpPr>
          <p:spPr bwMode="auto">
            <a:xfrm>
              <a:off x="3111" y="3465"/>
              <a:ext cx="380" cy="1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lgn="r">
                <a:spcBef>
                  <a:spcPct val="50000"/>
                </a:spcBef>
              </a:pPr>
              <a:r>
                <a:rPr lang="en-US" altLang="zh-CN" sz="1200" b="0"/>
                <a:t>-70</a:t>
              </a:r>
            </a:p>
          </p:txBody>
        </p:sp>
        <p:sp>
          <p:nvSpPr>
            <p:cNvPr id="27662" name="Text Box 14"/>
            <p:cNvSpPr txBox="1">
              <a:spLocks noChangeArrowheads="1"/>
            </p:cNvSpPr>
            <p:nvPr/>
          </p:nvSpPr>
          <p:spPr bwMode="auto">
            <a:xfrm>
              <a:off x="3111" y="3753"/>
              <a:ext cx="380" cy="1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lgn="r">
                <a:spcBef>
                  <a:spcPct val="50000"/>
                </a:spcBef>
              </a:pPr>
              <a:r>
                <a:rPr lang="en-US" altLang="zh-CN" sz="1200" b="0"/>
                <a:t>-170</a:t>
              </a:r>
            </a:p>
          </p:txBody>
        </p:sp>
        <p:sp>
          <p:nvSpPr>
            <p:cNvPr id="27663" name="Text Box 15"/>
            <p:cNvSpPr txBox="1">
              <a:spLocks noChangeArrowheads="1"/>
            </p:cNvSpPr>
            <p:nvPr/>
          </p:nvSpPr>
          <p:spPr bwMode="auto">
            <a:xfrm>
              <a:off x="3944" y="3398"/>
              <a:ext cx="487" cy="1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lgn="r">
                <a:spcBef>
                  <a:spcPct val="50000"/>
                </a:spcBef>
              </a:pPr>
              <a:r>
                <a:rPr lang="en-US" altLang="zh-CN" sz="1200" b="0"/>
                <a:t>N=10</a:t>
              </a:r>
              <a:r>
                <a:rPr lang="zh-CN" altLang="en-US" sz="1200" b="0"/>
                <a:t>年</a:t>
              </a:r>
            </a:p>
          </p:txBody>
        </p:sp>
        <p:sp>
          <p:nvSpPr>
            <p:cNvPr id="27664" name="Text Box 16"/>
            <p:cNvSpPr txBox="1">
              <a:spLocks noChangeArrowheads="1"/>
            </p:cNvSpPr>
            <p:nvPr/>
          </p:nvSpPr>
          <p:spPr bwMode="auto">
            <a:xfrm>
              <a:off x="4403" y="2528"/>
              <a:ext cx="380" cy="1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lgn="r">
                <a:spcBef>
                  <a:spcPct val="50000"/>
                </a:spcBef>
              </a:pPr>
              <a:r>
                <a:rPr lang="zh-CN" altLang="en-US" sz="1200" b="0"/>
                <a:t>方案</a:t>
              </a:r>
              <a:r>
                <a:rPr lang="en-US" altLang="zh-CN" sz="1200" b="0"/>
                <a:t>B</a:t>
              </a:r>
            </a:p>
          </p:txBody>
        </p:sp>
        <p:sp>
          <p:nvSpPr>
            <p:cNvPr id="27665" name="Text Box 17"/>
            <p:cNvSpPr txBox="1">
              <a:spLocks noChangeArrowheads="1"/>
            </p:cNvSpPr>
            <p:nvPr/>
          </p:nvSpPr>
          <p:spPr bwMode="auto">
            <a:xfrm>
              <a:off x="5011" y="2871"/>
              <a:ext cx="380" cy="1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lgn="r">
                <a:spcBef>
                  <a:spcPct val="50000"/>
                </a:spcBef>
              </a:pPr>
              <a:r>
                <a:rPr lang="zh-CN" altLang="en-US" sz="1200" b="0"/>
                <a:t>方案</a:t>
              </a:r>
              <a:r>
                <a:rPr lang="en-US" altLang="zh-CN" sz="1200" b="0"/>
                <a:t>A</a:t>
              </a:r>
            </a:p>
          </p:txBody>
        </p:sp>
      </p:gr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zh-CN" altLang="en-US">
                <a:solidFill>
                  <a:srgbClr val="000000"/>
                </a:solidFill>
                <a:latin typeface="Arial" charset="0"/>
                <a:ea typeface="楷体_GB2312" charset="0"/>
                <a:cs typeface="楷体_GB2312" charset="0"/>
              </a:rPr>
              <a:t>盈亏平衡分析</a:t>
            </a:r>
            <a:r>
              <a:rPr lang="en-US" altLang="zh-CN">
                <a:solidFill>
                  <a:srgbClr val="000000"/>
                </a:solidFill>
                <a:latin typeface="Arial" charset="0"/>
                <a:ea typeface="楷体_GB2312" charset="0"/>
                <a:cs typeface="楷体_GB2312" charset="0"/>
              </a:rPr>
              <a:t>——</a:t>
            </a:r>
            <a:r>
              <a:rPr lang="zh-CN" altLang="en-US">
                <a:solidFill>
                  <a:srgbClr val="000000"/>
                </a:solidFill>
                <a:latin typeface="Arial" charset="0"/>
                <a:ea typeface="楷体_GB2312" charset="0"/>
                <a:cs typeface="楷体_GB2312" charset="0"/>
              </a:rPr>
              <a:t>图解法</a:t>
            </a:r>
          </a:p>
        </p:txBody>
      </p:sp>
      <p:sp>
        <p:nvSpPr>
          <p:cNvPr id="29699" name="Line 5"/>
          <p:cNvSpPr>
            <a:spLocks noChangeShapeType="1"/>
          </p:cNvSpPr>
          <p:nvPr/>
        </p:nvSpPr>
        <p:spPr bwMode="auto">
          <a:xfrm>
            <a:off x="1143000" y="6019800"/>
            <a:ext cx="7010400" cy="0"/>
          </a:xfrm>
          <a:prstGeom prst="line">
            <a:avLst/>
          </a:prstGeom>
          <a:noFill/>
          <a:ln w="381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9700" name="Line 6"/>
          <p:cNvSpPr>
            <a:spLocks noChangeShapeType="1"/>
          </p:cNvSpPr>
          <p:nvPr/>
        </p:nvSpPr>
        <p:spPr bwMode="auto">
          <a:xfrm flipV="1">
            <a:off x="1143000" y="838200"/>
            <a:ext cx="0" cy="5181600"/>
          </a:xfrm>
          <a:prstGeom prst="line">
            <a:avLst/>
          </a:prstGeom>
          <a:noFill/>
          <a:ln w="381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9701" name="Line 7"/>
          <p:cNvSpPr>
            <a:spLocks noChangeShapeType="1"/>
          </p:cNvSpPr>
          <p:nvPr/>
        </p:nvSpPr>
        <p:spPr bwMode="auto">
          <a:xfrm flipV="1">
            <a:off x="1143000" y="990600"/>
            <a:ext cx="5029200" cy="502920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9702" name="Line 8"/>
          <p:cNvSpPr>
            <a:spLocks noChangeShapeType="1"/>
          </p:cNvSpPr>
          <p:nvPr/>
        </p:nvSpPr>
        <p:spPr bwMode="auto">
          <a:xfrm flipV="1">
            <a:off x="1143000" y="1600200"/>
            <a:ext cx="6477000" cy="3124200"/>
          </a:xfrm>
          <a:prstGeom prst="line">
            <a:avLst/>
          </a:prstGeom>
          <a:noFill/>
          <a:ln w="28575">
            <a:solidFill>
              <a:srgbClr val="FF0000"/>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9703" name="Line 9"/>
          <p:cNvSpPr>
            <a:spLocks noChangeShapeType="1"/>
          </p:cNvSpPr>
          <p:nvPr/>
        </p:nvSpPr>
        <p:spPr bwMode="auto">
          <a:xfrm>
            <a:off x="1143000" y="4724400"/>
            <a:ext cx="6248400" cy="0"/>
          </a:xfrm>
          <a:prstGeom prst="line">
            <a:avLst/>
          </a:prstGeom>
          <a:noFill/>
          <a:ln w="28575">
            <a:solidFill>
              <a:srgbClr val="FF0000"/>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9704" name="Line 10"/>
          <p:cNvSpPr>
            <a:spLocks noChangeShapeType="1"/>
          </p:cNvSpPr>
          <p:nvPr/>
        </p:nvSpPr>
        <p:spPr bwMode="auto">
          <a:xfrm>
            <a:off x="3657600" y="3505200"/>
            <a:ext cx="0" cy="2514600"/>
          </a:xfrm>
          <a:prstGeom prst="line">
            <a:avLst/>
          </a:prstGeom>
          <a:noFill/>
          <a:ln w="9525" cap="rnd">
            <a:solidFill>
              <a:srgbClr val="000000"/>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9705" name="Line 11"/>
          <p:cNvSpPr>
            <a:spLocks noChangeShapeType="1"/>
          </p:cNvSpPr>
          <p:nvPr/>
        </p:nvSpPr>
        <p:spPr bwMode="auto">
          <a:xfrm>
            <a:off x="5943600" y="1295400"/>
            <a:ext cx="0" cy="4724400"/>
          </a:xfrm>
          <a:prstGeom prst="line">
            <a:avLst/>
          </a:prstGeom>
          <a:noFill/>
          <a:ln w="9525" cap="rnd">
            <a:solidFill>
              <a:srgbClr val="000000"/>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9706" name="Line 12"/>
          <p:cNvSpPr>
            <a:spLocks noChangeShapeType="1"/>
          </p:cNvSpPr>
          <p:nvPr/>
        </p:nvSpPr>
        <p:spPr bwMode="auto">
          <a:xfrm flipH="1">
            <a:off x="1143000" y="1295400"/>
            <a:ext cx="6400800" cy="0"/>
          </a:xfrm>
          <a:prstGeom prst="line">
            <a:avLst/>
          </a:prstGeom>
          <a:noFill/>
          <a:ln w="952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9707" name="Text Box 13"/>
          <p:cNvSpPr txBox="1">
            <a:spLocks noChangeArrowheads="1"/>
          </p:cNvSpPr>
          <p:nvPr/>
        </p:nvSpPr>
        <p:spPr bwMode="auto">
          <a:xfrm>
            <a:off x="2743200" y="1524000"/>
            <a:ext cx="19812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spcBef>
                <a:spcPct val="50000"/>
              </a:spcBef>
            </a:pPr>
            <a:r>
              <a:rPr kumimoji="1" lang="zh-CN" altLang="en-US" sz="2400" i="1">
                <a:latin typeface="Times New Roman" charset="0"/>
              </a:rPr>
              <a:t>总收入曲线</a:t>
            </a:r>
          </a:p>
        </p:txBody>
      </p:sp>
      <p:sp>
        <p:nvSpPr>
          <p:cNvPr id="29708" name="Text Box 14"/>
          <p:cNvSpPr txBox="1">
            <a:spLocks noChangeArrowheads="1"/>
          </p:cNvSpPr>
          <p:nvPr/>
        </p:nvSpPr>
        <p:spPr bwMode="auto">
          <a:xfrm>
            <a:off x="1524000" y="2895600"/>
            <a:ext cx="19812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spcBef>
                <a:spcPct val="50000"/>
              </a:spcBef>
            </a:pPr>
            <a:r>
              <a:rPr kumimoji="1" lang="zh-CN" altLang="en-US" sz="2400" i="1">
                <a:latin typeface="Times New Roman" charset="0"/>
              </a:rPr>
              <a:t>总成本曲线</a:t>
            </a:r>
          </a:p>
        </p:txBody>
      </p:sp>
      <p:sp>
        <p:nvSpPr>
          <p:cNvPr id="29709" name="Line 15"/>
          <p:cNvSpPr>
            <a:spLocks noChangeShapeType="1"/>
          </p:cNvSpPr>
          <p:nvPr/>
        </p:nvSpPr>
        <p:spPr bwMode="auto">
          <a:xfrm>
            <a:off x="3581400" y="1981200"/>
            <a:ext cx="762000" cy="533400"/>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9710" name="Line 16"/>
          <p:cNvSpPr>
            <a:spLocks noChangeShapeType="1"/>
          </p:cNvSpPr>
          <p:nvPr/>
        </p:nvSpPr>
        <p:spPr bwMode="auto">
          <a:xfrm flipH="1">
            <a:off x="1981200" y="3429000"/>
            <a:ext cx="228600" cy="762000"/>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9711" name="Text Box 17"/>
          <p:cNvSpPr txBox="1">
            <a:spLocks noChangeArrowheads="1"/>
          </p:cNvSpPr>
          <p:nvPr/>
        </p:nvSpPr>
        <p:spPr bwMode="auto">
          <a:xfrm>
            <a:off x="533400" y="762000"/>
            <a:ext cx="457200" cy="822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sz="2400">
                <a:latin typeface="Times New Roman" charset="0"/>
              </a:rPr>
              <a:t>成本</a:t>
            </a:r>
            <a:endParaRPr kumimoji="1" lang="zh-CN" altLang="en-US" sz="2400" b="0">
              <a:latin typeface="Times New Roman" charset="0"/>
            </a:endParaRPr>
          </a:p>
        </p:txBody>
      </p:sp>
      <p:sp>
        <p:nvSpPr>
          <p:cNvPr id="29712" name="Text Box 18"/>
          <p:cNvSpPr txBox="1">
            <a:spLocks noChangeArrowheads="1"/>
          </p:cNvSpPr>
          <p:nvPr/>
        </p:nvSpPr>
        <p:spPr bwMode="auto">
          <a:xfrm>
            <a:off x="7467600" y="6096000"/>
            <a:ext cx="9144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sz="2400">
                <a:latin typeface="Times New Roman" charset="0"/>
              </a:rPr>
              <a:t>产量</a:t>
            </a:r>
            <a:endParaRPr kumimoji="1" lang="zh-CN" altLang="en-US" sz="2400" b="0">
              <a:latin typeface="Times New Roman" charset="0"/>
            </a:endParaRPr>
          </a:p>
        </p:txBody>
      </p:sp>
      <p:sp>
        <p:nvSpPr>
          <p:cNvPr id="29713" name="Text Box 19"/>
          <p:cNvSpPr txBox="1">
            <a:spLocks noChangeArrowheads="1"/>
          </p:cNvSpPr>
          <p:nvPr/>
        </p:nvSpPr>
        <p:spPr bwMode="auto">
          <a:xfrm>
            <a:off x="4648200" y="2438400"/>
            <a:ext cx="685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sz="2400">
                <a:latin typeface="Times New Roman" charset="0"/>
              </a:rPr>
              <a:t>盈</a:t>
            </a:r>
          </a:p>
        </p:txBody>
      </p:sp>
      <p:sp>
        <p:nvSpPr>
          <p:cNvPr id="29714" name="Rectangle 20"/>
          <p:cNvSpPr>
            <a:spLocks noChangeArrowheads="1"/>
          </p:cNvSpPr>
          <p:nvPr/>
        </p:nvSpPr>
        <p:spPr bwMode="auto">
          <a:xfrm>
            <a:off x="5029200" y="2133600"/>
            <a:ext cx="490538"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1" hangingPunct="1"/>
            <a:r>
              <a:rPr kumimoji="1" lang="zh-CN" altLang="en-US" sz="2400">
                <a:solidFill>
                  <a:srgbClr val="000000"/>
                </a:solidFill>
                <a:latin typeface="Times New Roman" charset="0"/>
                <a:ea typeface="宋体" charset="0"/>
                <a:cs typeface="宋体" charset="0"/>
              </a:rPr>
              <a:t>利</a:t>
            </a:r>
          </a:p>
        </p:txBody>
      </p:sp>
      <p:sp>
        <p:nvSpPr>
          <p:cNvPr id="29715" name="Rectangle 21"/>
          <p:cNvSpPr>
            <a:spLocks noChangeArrowheads="1"/>
          </p:cNvSpPr>
          <p:nvPr/>
        </p:nvSpPr>
        <p:spPr bwMode="auto">
          <a:xfrm>
            <a:off x="5454650" y="1828800"/>
            <a:ext cx="490538"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1" hangingPunct="1"/>
            <a:r>
              <a:rPr kumimoji="1" lang="zh-CN" altLang="en-US" sz="2400">
                <a:solidFill>
                  <a:srgbClr val="000000"/>
                </a:solidFill>
                <a:latin typeface="Times New Roman" charset="0"/>
                <a:ea typeface="宋体" charset="0"/>
                <a:cs typeface="宋体" charset="0"/>
              </a:rPr>
              <a:t>区</a:t>
            </a:r>
          </a:p>
        </p:txBody>
      </p:sp>
      <p:sp>
        <p:nvSpPr>
          <p:cNvPr id="29716" name="Text Box 22"/>
          <p:cNvSpPr txBox="1">
            <a:spLocks noChangeArrowheads="1"/>
          </p:cNvSpPr>
          <p:nvPr/>
        </p:nvSpPr>
        <p:spPr bwMode="auto">
          <a:xfrm>
            <a:off x="1295400" y="4876800"/>
            <a:ext cx="685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sz="2400">
                <a:latin typeface="Times New Roman" charset="0"/>
              </a:rPr>
              <a:t>亏</a:t>
            </a:r>
          </a:p>
        </p:txBody>
      </p:sp>
      <p:sp>
        <p:nvSpPr>
          <p:cNvPr id="29717" name="Text Box 23"/>
          <p:cNvSpPr txBox="1">
            <a:spLocks noChangeArrowheads="1"/>
          </p:cNvSpPr>
          <p:nvPr/>
        </p:nvSpPr>
        <p:spPr bwMode="auto">
          <a:xfrm>
            <a:off x="1752600" y="4495800"/>
            <a:ext cx="685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sz="2400">
                <a:latin typeface="Times New Roman" charset="0"/>
              </a:rPr>
              <a:t>损</a:t>
            </a:r>
          </a:p>
        </p:txBody>
      </p:sp>
      <p:sp>
        <p:nvSpPr>
          <p:cNvPr id="29718" name="Rectangle 24"/>
          <p:cNvSpPr>
            <a:spLocks noChangeArrowheads="1"/>
          </p:cNvSpPr>
          <p:nvPr/>
        </p:nvSpPr>
        <p:spPr bwMode="auto">
          <a:xfrm>
            <a:off x="2286000" y="4114800"/>
            <a:ext cx="490538"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1" hangingPunct="1"/>
            <a:r>
              <a:rPr kumimoji="1" lang="zh-CN" altLang="en-US" sz="2400">
                <a:solidFill>
                  <a:srgbClr val="000000"/>
                </a:solidFill>
                <a:latin typeface="Times New Roman" charset="0"/>
                <a:ea typeface="宋体" charset="0"/>
                <a:cs typeface="宋体" charset="0"/>
              </a:rPr>
              <a:t>区</a:t>
            </a:r>
          </a:p>
        </p:txBody>
      </p:sp>
      <p:sp>
        <p:nvSpPr>
          <p:cNvPr id="29719" name="Text Box 25"/>
          <p:cNvSpPr txBox="1">
            <a:spLocks noChangeArrowheads="1"/>
          </p:cNvSpPr>
          <p:nvPr/>
        </p:nvSpPr>
        <p:spPr bwMode="auto">
          <a:xfrm flipV="1">
            <a:off x="533400" y="5867400"/>
            <a:ext cx="4572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en-US" altLang="zh-CN" sz="2400">
                <a:latin typeface="Times New Roman" charset="0"/>
              </a:rPr>
              <a:t>0</a:t>
            </a:r>
          </a:p>
        </p:txBody>
      </p:sp>
      <p:sp>
        <p:nvSpPr>
          <p:cNvPr id="29720" name="AutoShape 26"/>
          <p:cNvSpPr>
            <a:spLocks/>
          </p:cNvSpPr>
          <p:nvPr/>
        </p:nvSpPr>
        <p:spPr bwMode="auto">
          <a:xfrm>
            <a:off x="5943600" y="4724400"/>
            <a:ext cx="381000" cy="1295400"/>
          </a:xfrm>
          <a:prstGeom prst="rightBrace">
            <a:avLst>
              <a:gd name="adj1" fmla="val 28333"/>
              <a:gd name="adj2" fmla="val 50000"/>
            </a:avLst>
          </a:prstGeom>
          <a:noFill/>
          <a:ln w="9525">
            <a:solidFill>
              <a:srgbClr val="FF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1" hangingPunct="1">
              <a:lnSpc>
                <a:spcPct val="90000"/>
              </a:lnSpc>
              <a:spcBef>
                <a:spcPct val="50000"/>
              </a:spcBef>
              <a:buFontTx/>
              <a:buChar char="•"/>
            </a:pPr>
            <a:endParaRPr lang="zh-CN" altLang="en-US"/>
          </a:p>
        </p:txBody>
      </p:sp>
      <p:sp>
        <p:nvSpPr>
          <p:cNvPr id="29721" name="Text Box 27"/>
          <p:cNvSpPr txBox="1">
            <a:spLocks noChangeArrowheads="1"/>
          </p:cNvSpPr>
          <p:nvPr/>
        </p:nvSpPr>
        <p:spPr bwMode="auto">
          <a:xfrm>
            <a:off x="6400800" y="5181600"/>
            <a:ext cx="1905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sz="2400" b="0">
                <a:latin typeface="Times New Roman" charset="0"/>
              </a:rPr>
              <a:t>总固定成本</a:t>
            </a:r>
          </a:p>
        </p:txBody>
      </p:sp>
      <p:sp>
        <p:nvSpPr>
          <p:cNvPr id="29722" name="AutoShape 28"/>
          <p:cNvSpPr>
            <a:spLocks/>
          </p:cNvSpPr>
          <p:nvPr/>
        </p:nvSpPr>
        <p:spPr bwMode="auto">
          <a:xfrm>
            <a:off x="5943600" y="2438400"/>
            <a:ext cx="304800" cy="2209800"/>
          </a:xfrm>
          <a:prstGeom prst="rightBrace">
            <a:avLst>
              <a:gd name="adj1" fmla="val 60417"/>
              <a:gd name="adj2" fmla="val 50000"/>
            </a:avLst>
          </a:prstGeom>
          <a:noFill/>
          <a:ln w="9525">
            <a:solidFill>
              <a:srgbClr val="FF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1" hangingPunct="1">
              <a:lnSpc>
                <a:spcPct val="90000"/>
              </a:lnSpc>
              <a:spcBef>
                <a:spcPct val="50000"/>
              </a:spcBef>
              <a:buFontTx/>
              <a:buChar char="•"/>
            </a:pPr>
            <a:endParaRPr lang="zh-CN" altLang="en-US"/>
          </a:p>
        </p:txBody>
      </p:sp>
      <p:sp>
        <p:nvSpPr>
          <p:cNvPr id="29723" name="Text Box 29"/>
          <p:cNvSpPr txBox="1">
            <a:spLocks noChangeArrowheads="1"/>
          </p:cNvSpPr>
          <p:nvPr/>
        </p:nvSpPr>
        <p:spPr bwMode="auto">
          <a:xfrm>
            <a:off x="6248400" y="2514600"/>
            <a:ext cx="533400" cy="1917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sz="2400" b="0">
                <a:latin typeface="Times New Roman" charset="0"/>
              </a:rPr>
              <a:t>总变动成本</a:t>
            </a:r>
          </a:p>
        </p:txBody>
      </p:sp>
      <p:sp>
        <p:nvSpPr>
          <p:cNvPr id="29724" name="AutoShape 30"/>
          <p:cNvSpPr>
            <a:spLocks/>
          </p:cNvSpPr>
          <p:nvPr/>
        </p:nvSpPr>
        <p:spPr bwMode="auto">
          <a:xfrm>
            <a:off x="6019800" y="1295400"/>
            <a:ext cx="228600" cy="990600"/>
          </a:xfrm>
          <a:prstGeom prst="rightBrace">
            <a:avLst>
              <a:gd name="adj1" fmla="val 36111"/>
              <a:gd name="adj2" fmla="val 50000"/>
            </a:avLst>
          </a:prstGeom>
          <a:noFill/>
          <a:ln w="9525">
            <a:solidFill>
              <a:srgbClr val="FF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1" hangingPunct="1">
              <a:lnSpc>
                <a:spcPct val="90000"/>
              </a:lnSpc>
              <a:spcBef>
                <a:spcPct val="50000"/>
              </a:spcBef>
              <a:buFontTx/>
              <a:buChar char="•"/>
            </a:pPr>
            <a:endParaRPr lang="zh-CN" altLang="en-US"/>
          </a:p>
        </p:txBody>
      </p:sp>
      <p:sp>
        <p:nvSpPr>
          <p:cNvPr id="29725" name="Text Box 31"/>
          <p:cNvSpPr txBox="1">
            <a:spLocks noChangeArrowheads="1"/>
          </p:cNvSpPr>
          <p:nvPr/>
        </p:nvSpPr>
        <p:spPr bwMode="auto">
          <a:xfrm>
            <a:off x="6248400" y="1311275"/>
            <a:ext cx="533400" cy="822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sz="2400" b="0">
                <a:latin typeface="Times New Roman" charset="0"/>
              </a:rPr>
              <a:t>利润</a:t>
            </a:r>
          </a:p>
        </p:txBody>
      </p:sp>
      <p:sp>
        <p:nvSpPr>
          <p:cNvPr id="29726" name="Text Box 32"/>
          <p:cNvSpPr txBox="1">
            <a:spLocks noChangeArrowheads="1"/>
          </p:cNvSpPr>
          <p:nvPr/>
        </p:nvSpPr>
        <p:spPr bwMode="auto">
          <a:xfrm>
            <a:off x="1981200" y="6324600"/>
            <a:ext cx="23622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sz="2400">
                <a:latin typeface="Times New Roman" charset="0"/>
                <a:ea typeface="黑体" charset="0"/>
                <a:cs typeface="黑体" charset="0"/>
              </a:rPr>
              <a:t>盈亏平衡点产量</a:t>
            </a:r>
          </a:p>
        </p:txBody>
      </p:sp>
      <p:sp>
        <p:nvSpPr>
          <p:cNvPr id="29727" name="Line 33"/>
          <p:cNvSpPr>
            <a:spLocks noChangeShapeType="1"/>
          </p:cNvSpPr>
          <p:nvPr/>
        </p:nvSpPr>
        <p:spPr bwMode="auto">
          <a:xfrm flipV="1">
            <a:off x="3124200" y="6096000"/>
            <a:ext cx="457200" cy="228600"/>
          </a:xfrm>
          <a:prstGeom prst="line">
            <a:avLst/>
          </a:prstGeom>
          <a:noFill/>
          <a:ln w="28575">
            <a:solidFill>
              <a:srgbClr val="FF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9728" name="Oval 34"/>
          <p:cNvSpPr>
            <a:spLocks noChangeArrowheads="1"/>
          </p:cNvSpPr>
          <p:nvPr/>
        </p:nvSpPr>
        <p:spPr bwMode="auto">
          <a:xfrm>
            <a:off x="3657600" y="5562600"/>
            <a:ext cx="2286000" cy="838200"/>
          </a:xfrm>
          <a:prstGeom prst="ellipse">
            <a:avLst/>
          </a:prstGeom>
          <a:noFill/>
          <a:ln w="19050" cap="rnd">
            <a:solidFill>
              <a:srgbClr val="FF0000"/>
            </a:solidFill>
            <a:prstDash val="sysDot"/>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1" hangingPunct="1">
              <a:lnSpc>
                <a:spcPct val="90000"/>
              </a:lnSpc>
              <a:spcBef>
                <a:spcPct val="50000"/>
              </a:spcBef>
              <a:buFontTx/>
              <a:buChar char="•"/>
            </a:pPr>
            <a:endParaRPr lang="zh-CN" altLang="en-US"/>
          </a:p>
        </p:txBody>
      </p:sp>
      <p:sp>
        <p:nvSpPr>
          <p:cNvPr id="29729" name="Text Box 35"/>
          <p:cNvSpPr txBox="1">
            <a:spLocks noChangeArrowheads="1"/>
          </p:cNvSpPr>
          <p:nvPr/>
        </p:nvSpPr>
        <p:spPr bwMode="auto">
          <a:xfrm>
            <a:off x="4114800" y="5562600"/>
            <a:ext cx="1447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sz="2400">
                <a:latin typeface="Times New Roman" charset="0"/>
                <a:ea typeface="黑体" charset="0"/>
                <a:cs typeface="黑体" charset="0"/>
              </a:rPr>
              <a:t>安全边际</a:t>
            </a:r>
          </a:p>
        </p:txBody>
      </p:sp>
      <p:sp>
        <p:nvSpPr>
          <p:cNvPr id="29730" name="AutoShape 36"/>
          <p:cNvSpPr>
            <a:spLocks/>
          </p:cNvSpPr>
          <p:nvPr/>
        </p:nvSpPr>
        <p:spPr bwMode="auto">
          <a:xfrm>
            <a:off x="5638800" y="2514600"/>
            <a:ext cx="228600" cy="3429000"/>
          </a:xfrm>
          <a:prstGeom prst="leftBrace">
            <a:avLst>
              <a:gd name="adj1" fmla="val 125000"/>
              <a:gd name="adj2" fmla="val 50000"/>
            </a:avLst>
          </a:prstGeom>
          <a:noFill/>
          <a:ln w="9525">
            <a:solidFill>
              <a:srgbClr val="FF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1" hangingPunct="1">
              <a:lnSpc>
                <a:spcPct val="90000"/>
              </a:lnSpc>
              <a:spcBef>
                <a:spcPct val="50000"/>
              </a:spcBef>
              <a:buFontTx/>
              <a:buChar char="•"/>
            </a:pPr>
            <a:endParaRPr lang="zh-CN" altLang="en-US"/>
          </a:p>
        </p:txBody>
      </p:sp>
      <p:sp>
        <p:nvSpPr>
          <p:cNvPr id="29731" name="Text Box 37"/>
          <p:cNvSpPr txBox="1">
            <a:spLocks noChangeArrowheads="1"/>
          </p:cNvSpPr>
          <p:nvPr/>
        </p:nvSpPr>
        <p:spPr bwMode="auto">
          <a:xfrm>
            <a:off x="4495800" y="3962400"/>
            <a:ext cx="1143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sz="2400" b="0">
                <a:latin typeface="Times New Roman" charset="0"/>
              </a:rPr>
              <a:t>总成本</a:t>
            </a:r>
          </a:p>
        </p:txBody>
      </p:sp>
      <p:sp>
        <p:nvSpPr>
          <p:cNvPr id="29732" name="AutoShape 38"/>
          <p:cNvSpPr>
            <a:spLocks/>
          </p:cNvSpPr>
          <p:nvPr/>
        </p:nvSpPr>
        <p:spPr bwMode="auto">
          <a:xfrm>
            <a:off x="7848600" y="1295400"/>
            <a:ext cx="457200" cy="4648200"/>
          </a:xfrm>
          <a:prstGeom prst="rightBrace">
            <a:avLst>
              <a:gd name="adj1" fmla="val 84722"/>
              <a:gd name="adj2" fmla="val 50000"/>
            </a:avLst>
          </a:pr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1" hangingPunct="1">
              <a:lnSpc>
                <a:spcPct val="90000"/>
              </a:lnSpc>
              <a:spcBef>
                <a:spcPct val="50000"/>
              </a:spcBef>
              <a:buFontTx/>
              <a:buChar char="•"/>
            </a:pPr>
            <a:endParaRPr lang="zh-CN" altLang="en-US"/>
          </a:p>
        </p:txBody>
      </p:sp>
      <p:sp>
        <p:nvSpPr>
          <p:cNvPr id="29733" name="Text Box 39"/>
          <p:cNvSpPr txBox="1">
            <a:spLocks noChangeArrowheads="1"/>
          </p:cNvSpPr>
          <p:nvPr/>
        </p:nvSpPr>
        <p:spPr bwMode="auto">
          <a:xfrm>
            <a:off x="8305800" y="3048000"/>
            <a:ext cx="457200" cy="1187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sz="2400" b="0">
                <a:latin typeface="Times New Roman" charset="0"/>
              </a:rPr>
              <a:t>总收入</a:t>
            </a:r>
          </a:p>
        </p:txBody>
      </p:sp>
      <p:sp>
        <p:nvSpPr>
          <p:cNvPr id="29734" name="Text Box 40"/>
          <p:cNvSpPr txBox="1">
            <a:spLocks noChangeArrowheads="1"/>
          </p:cNvSpPr>
          <p:nvPr/>
        </p:nvSpPr>
        <p:spPr bwMode="auto">
          <a:xfrm>
            <a:off x="5715000" y="6400800"/>
            <a:ext cx="1524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sz="2400">
                <a:latin typeface="Times New Roman" charset="0"/>
                <a:ea typeface="黑体" charset="0"/>
                <a:cs typeface="黑体" charset="0"/>
              </a:rPr>
              <a:t>实际产量</a:t>
            </a:r>
          </a:p>
        </p:txBody>
      </p:sp>
      <p:sp>
        <p:nvSpPr>
          <p:cNvPr id="29735" name="Line 41"/>
          <p:cNvSpPr>
            <a:spLocks noChangeShapeType="1"/>
          </p:cNvSpPr>
          <p:nvPr/>
        </p:nvSpPr>
        <p:spPr bwMode="auto">
          <a:xfrm flipH="1" flipV="1">
            <a:off x="6019800" y="6096000"/>
            <a:ext cx="381000" cy="304800"/>
          </a:xfrm>
          <a:prstGeom prst="line">
            <a:avLst/>
          </a:prstGeom>
          <a:noFill/>
          <a:ln w="28575">
            <a:solidFill>
              <a:srgbClr val="FF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9736" name="AutoShape 42"/>
          <p:cNvSpPr>
            <a:spLocks noChangeArrowheads="1"/>
          </p:cNvSpPr>
          <p:nvPr/>
        </p:nvSpPr>
        <p:spPr bwMode="auto">
          <a:xfrm>
            <a:off x="1116013" y="4724400"/>
            <a:ext cx="1057275" cy="914400"/>
          </a:xfrm>
          <a:prstGeom prst="triangle">
            <a:avLst>
              <a:gd name="adj" fmla="val 50000"/>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eaLnBrk="1" hangingPunct="1">
              <a:lnSpc>
                <a:spcPct val="90000"/>
              </a:lnSpc>
              <a:spcBef>
                <a:spcPct val="50000"/>
              </a:spcBef>
              <a:buFontTx/>
              <a:buChar char="•"/>
            </a:pPr>
            <a:endParaRPr lang="zh-CN" altLang="en-US"/>
          </a:p>
        </p:txBody>
      </p:sp>
      <p:sp>
        <p:nvSpPr>
          <p:cNvPr id="29737" name="Freeform 43"/>
          <p:cNvSpPr>
            <a:spLocks/>
          </p:cNvSpPr>
          <p:nvPr/>
        </p:nvSpPr>
        <p:spPr bwMode="auto">
          <a:xfrm>
            <a:off x="-2197100" y="3860800"/>
            <a:ext cx="742950" cy="1447800"/>
          </a:xfrm>
          <a:custGeom>
            <a:avLst/>
            <a:gdLst>
              <a:gd name="T0" fmla="*/ 2147483646 w 468"/>
              <a:gd name="T1" fmla="*/ 2147483646 h 912"/>
              <a:gd name="T2" fmla="*/ 2147483646 w 468"/>
              <a:gd name="T3" fmla="*/ 2147483646 h 912"/>
              <a:gd name="T4" fmla="*/ 2147483646 w 468"/>
              <a:gd name="T5" fmla="*/ 2147483646 h 912"/>
              <a:gd name="T6" fmla="*/ 2147483646 w 468"/>
              <a:gd name="T7" fmla="*/ 2147483646 h 912"/>
              <a:gd name="T8" fmla="*/ 2147483646 w 468"/>
              <a:gd name="T9" fmla="*/ 2147483646 h 912"/>
              <a:gd name="T10" fmla="*/ 2147483646 w 468"/>
              <a:gd name="T11" fmla="*/ 2147483646 h 912"/>
              <a:gd name="T12" fmla="*/ 2147483646 w 468"/>
              <a:gd name="T13" fmla="*/ 2147483646 h 912"/>
              <a:gd name="T14" fmla="*/ 0 w 468"/>
              <a:gd name="T15" fmla="*/ 2147483646 h 912"/>
              <a:gd name="T16" fmla="*/ 2147483646 w 468"/>
              <a:gd name="T17" fmla="*/ 2147483646 h 912"/>
              <a:gd name="T18" fmla="*/ 2147483646 w 468"/>
              <a:gd name="T19" fmla="*/ 2147483646 h 912"/>
              <a:gd name="T20" fmla="*/ 2147483646 w 468"/>
              <a:gd name="T21" fmla="*/ 2147483646 h 912"/>
              <a:gd name="T22" fmla="*/ 2147483646 w 468"/>
              <a:gd name="T23" fmla="*/ 2147483646 h 912"/>
              <a:gd name="T24" fmla="*/ 2147483646 w 468"/>
              <a:gd name="T25" fmla="*/ 2147483646 h 912"/>
              <a:gd name="T26" fmla="*/ 2147483646 w 468"/>
              <a:gd name="T27" fmla="*/ 0 h 912"/>
              <a:gd name="T28" fmla="*/ 2147483646 w 468"/>
              <a:gd name="T29" fmla="*/ 2147483646 h 912"/>
              <a:gd name="T30" fmla="*/ 2147483646 w 468"/>
              <a:gd name="T31" fmla="*/ 2147483646 h 912"/>
              <a:gd name="T32" fmla="*/ 2147483646 w 468"/>
              <a:gd name="T33" fmla="*/ 2147483646 h 912"/>
              <a:gd name="T34" fmla="*/ 2147483646 w 468"/>
              <a:gd name="T35" fmla="*/ 2147483646 h 9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8"/>
              <a:gd name="T55" fmla="*/ 0 h 912"/>
              <a:gd name="T56" fmla="*/ 468 w 468"/>
              <a:gd name="T57" fmla="*/ 912 h 9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8" h="912">
                <a:moveTo>
                  <a:pt x="468" y="396"/>
                </a:moveTo>
                <a:cubicBezTo>
                  <a:pt x="449" y="444"/>
                  <a:pt x="436" y="491"/>
                  <a:pt x="420" y="540"/>
                </a:cubicBezTo>
                <a:cubicBezTo>
                  <a:pt x="417" y="559"/>
                  <a:pt x="395" y="727"/>
                  <a:pt x="384" y="780"/>
                </a:cubicBezTo>
                <a:cubicBezTo>
                  <a:pt x="381" y="796"/>
                  <a:pt x="382" y="815"/>
                  <a:pt x="372" y="828"/>
                </a:cubicBezTo>
                <a:cubicBezTo>
                  <a:pt x="353" y="851"/>
                  <a:pt x="262" y="845"/>
                  <a:pt x="228" y="864"/>
                </a:cubicBezTo>
                <a:cubicBezTo>
                  <a:pt x="203" y="878"/>
                  <a:pt x="156" y="912"/>
                  <a:pt x="156" y="912"/>
                </a:cubicBezTo>
                <a:cubicBezTo>
                  <a:pt x="101" y="857"/>
                  <a:pt x="93" y="793"/>
                  <a:pt x="48" y="732"/>
                </a:cubicBezTo>
                <a:cubicBezTo>
                  <a:pt x="19" y="646"/>
                  <a:pt x="38" y="681"/>
                  <a:pt x="0" y="624"/>
                </a:cubicBezTo>
                <a:cubicBezTo>
                  <a:pt x="4" y="584"/>
                  <a:pt x="0" y="542"/>
                  <a:pt x="12" y="504"/>
                </a:cubicBezTo>
                <a:cubicBezTo>
                  <a:pt x="38" y="420"/>
                  <a:pt x="51" y="448"/>
                  <a:pt x="96" y="408"/>
                </a:cubicBezTo>
                <a:cubicBezTo>
                  <a:pt x="96" y="408"/>
                  <a:pt x="186" y="318"/>
                  <a:pt x="204" y="300"/>
                </a:cubicBezTo>
                <a:cubicBezTo>
                  <a:pt x="290" y="214"/>
                  <a:pt x="184" y="359"/>
                  <a:pt x="276" y="228"/>
                </a:cubicBezTo>
                <a:cubicBezTo>
                  <a:pt x="293" y="204"/>
                  <a:pt x="324" y="156"/>
                  <a:pt x="324" y="156"/>
                </a:cubicBezTo>
                <a:cubicBezTo>
                  <a:pt x="315" y="75"/>
                  <a:pt x="282" y="26"/>
                  <a:pt x="360" y="0"/>
                </a:cubicBezTo>
                <a:cubicBezTo>
                  <a:pt x="384" y="4"/>
                  <a:pt x="411" y="0"/>
                  <a:pt x="432" y="12"/>
                </a:cubicBezTo>
                <a:cubicBezTo>
                  <a:pt x="443" y="18"/>
                  <a:pt x="443" y="35"/>
                  <a:pt x="444" y="48"/>
                </a:cubicBezTo>
                <a:cubicBezTo>
                  <a:pt x="447" y="108"/>
                  <a:pt x="444" y="168"/>
                  <a:pt x="444" y="228"/>
                </a:cubicBezTo>
                <a:lnTo>
                  <a:pt x="274" y="671"/>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a:spAutoFit/>
          </a:bodyPr>
          <a:lstStyle/>
          <a:p>
            <a:endParaRPr lang="zh-CN" altLang="en-US"/>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例子</a:t>
            </a:r>
            <a:r>
              <a:rPr lang="en-US" altLang="zh-CN" sz="3200">
                <a:latin typeface="Arial" charset="0"/>
                <a:ea typeface="楷体_GB2312" charset="0"/>
                <a:cs typeface="楷体_GB2312" charset="0"/>
              </a:rPr>
              <a:t>:</a:t>
            </a:r>
          </a:p>
        </p:txBody>
      </p:sp>
      <p:sp>
        <p:nvSpPr>
          <p:cNvPr id="30723" name="Rectangle 3"/>
          <p:cNvSpPr>
            <a:spLocks noGrp="1" noChangeArrowheads="1"/>
          </p:cNvSpPr>
          <p:nvPr>
            <p:ph type="body" idx="1"/>
          </p:nvPr>
        </p:nvSpPr>
        <p:spPr/>
        <p:txBody>
          <a:bodyPr/>
          <a:lstStyle/>
          <a:p>
            <a:pPr eaLnBrk="1" hangingPunct="1">
              <a:buFontTx/>
              <a:buNone/>
            </a:pPr>
            <a:r>
              <a:rPr lang="zh-CN" altLang="en-US">
                <a:latin typeface="Arial" charset="0"/>
                <a:ea typeface="宋体" charset="0"/>
              </a:rPr>
              <a:t>小王经营文具店，每月要支出的固定费用如下：</a:t>
            </a:r>
          </a:p>
          <a:p>
            <a:pPr eaLnBrk="1" hangingPunct="1"/>
            <a:r>
              <a:rPr lang="zh-CN" altLang="en-US">
                <a:latin typeface="Arial" charset="0"/>
                <a:ea typeface="宋体" charset="0"/>
              </a:rPr>
              <a:t>电费：</a:t>
            </a:r>
            <a:r>
              <a:rPr lang="en-US" altLang="zh-CN">
                <a:latin typeface="Arial" charset="0"/>
                <a:ea typeface="宋体" charset="0"/>
              </a:rPr>
              <a:t>75 </a:t>
            </a:r>
            <a:r>
              <a:rPr lang="zh-CN" altLang="en-US">
                <a:latin typeface="Arial" charset="0"/>
                <a:ea typeface="宋体" charset="0"/>
              </a:rPr>
              <a:t>元</a:t>
            </a:r>
            <a:r>
              <a:rPr lang="en-US" altLang="zh-CN">
                <a:latin typeface="Arial" charset="0"/>
                <a:ea typeface="宋体" charset="0"/>
              </a:rPr>
              <a:t>/</a:t>
            </a:r>
            <a:r>
              <a:rPr lang="zh-CN" altLang="en-US">
                <a:latin typeface="Arial" charset="0"/>
                <a:ea typeface="宋体" charset="0"/>
              </a:rPr>
              <a:t>月；房租：</a:t>
            </a:r>
            <a:r>
              <a:rPr lang="en-US" altLang="zh-CN">
                <a:latin typeface="Arial" charset="0"/>
                <a:ea typeface="宋体" charset="0"/>
              </a:rPr>
              <a:t>500</a:t>
            </a:r>
            <a:r>
              <a:rPr lang="zh-CN" altLang="en-US">
                <a:latin typeface="Arial" charset="0"/>
                <a:ea typeface="宋体" charset="0"/>
              </a:rPr>
              <a:t>元</a:t>
            </a:r>
            <a:r>
              <a:rPr lang="en-US" altLang="zh-CN">
                <a:latin typeface="Arial" charset="0"/>
                <a:ea typeface="宋体" charset="0"/>
              </a:rPr>
              <a:t>/</a:t>
            </a:r>
            <a:r>
              <a:rPr lang="zh-CN" altLang="en-US">
                <a:latin typeface="Arial" charset="0"/>
                <a:ea typeface="宋体" charset="0"/>
              </a:rPr>
              <a:t>月；运费：</a:t>
            </a:r>
            <a:r>
              <a:rPr lang="en-US" altLang="zh-CN">
                <a:latin typeface="Arial" charset="0"/>
                <a:ea typeface="宋体" charset="0"/>
              </a:rPr>
              <a:t>200</a:t>
            </a:r>
            <a:r>
              <a:rPr lang="zh-CN" altLang="en-US">
                <a:latin typeface="Arial" charset="0"/>
                <a:ea typeface="宋体" charset="0"/>
              </a:rPr>
              <a:t>元</a:t>
            </a:r>
            <a:r>
              <a:rPr lang="en-US" altLang="zh-CN">
                <a:latin typeface="Arial" charset="0"/>
                <a:ea typeface="宋体" charset="0"/>
              </a:rPr>
              <a:t>/</a:t>
            </a:r>
            <a:r>
              <a:rPr lang="zh-CN" altLang="en-US">
                <a:latin typeface="Arial" charset="0"/>
                <a:ea typeface="宋体" charset="0"/>
              </a:rPr>
              <a:t>月；营业税：</a:t>
            </a:r>
            <a:r>
              <a:rPr lang="en-US" altLang="zh-CN">
                <a:latin typeface="Arial" charset="0"/>
                <a:ea typeface="宋体" charset="0"/>
              </a:rPr>
              <a:t>70</a:t>
            </a:r>
            <a:r>
              <a:rPr lang="zh-CN" altLang="en-US">
                <a:latin typeface="Arial" charset="0"/>
                <a:ea typeface="宋体" charset="0"/>
              </a:rPr>
              <a:t>元</a:t>
            </a:r>
            <a:r>
              <a:rPr lang="en-US" altLang="zh-CN">
                <a:latin typeface="Arial" charset="0"/>
                <a:ea typeface="宋体" charset="0"/>
              </a:rPr>
              <a:t>/</a:t>
            </a:r>
            <a:r>
              <a:rPr lang="zh-CN" altLang="en-US">
                <a:latin typeface="Arial" charset="0"/>
                <a:ea typeface="宋体" charset="0"/>
              </a:rPr>
              <a:t>月；卫生费：</a:t>
            </a:r>
            <a:r>
              <a:rPr lang="en-US" altLang="zh-CN">
                <a:latin typeface="Arial" charset="0"/>
                <a:ea typeface="宋体" charset="0"/>
              </a:rPr>
              <a:t>5</a:t>
            </a:r>
            <a:r>
              <a:rPr lang="zh-CN" altLang="en-US">
                <a:latin typeface="Arial" charset="0"/>
                <a:ea typeface="宋体" charset="0"/>
              </a:rPr>
              <a:t>元</a:t>
            </a:r>
            <a:r>
              <a:rPr lang="en-US" altLang="zh-CN">
                <a:latin typeface="Arial" charset="0"/>
                <a:ea typeface="宋体" charset="0"/>
              </a:rPr>
              <a:t>/</a:t>
            </a:r>
            <a:r>
              <a:rPr lang="zh-CN" altLang="en-US">
                <a:latin typeface="Arial" charset="0"/>
                <a:ea typeface="宋体" charset="0"/>
              </a:rPr>
              <a:t>月。</a:t>
            </a:r>
          </a:p>
          <a:p>
            <a:pPr eaLnBrk="1" hangingPunct="1"/>
            <a:r>
              <a:rPr lang="zh-CN" altLang="en-US">
                <a:latin typeface="Arial" charset="0"/>
                <a:ea typeface="宋体" charset="0"/>
              </a:rPr>
              <a:t>店里经营</a:t>
            </a:r>
            <a:r>
              <a:rPr lang="en-US" altLang="zh-CN">
                <a:latin typeface="Arial" charset="0"/>
                <a:ea typeface="宋体" charset="0"/>
              </a:rPr>
              <a:t>25</a:t>
            </a:r>
            <a:r>
              <a:rPr lang="zh-CN" altLang="en-US">
                <a:latin typeface="Arial" charset="0"/>
                <a:ea typeface="宋体" charset="0"/>
              </a:rPr>
              <a:t>种文具（固定费用可在每种文具上均摊），其中签字笔芯买卖情况如下：进价</a:t>
            </a:r>
            <a:r>
              <a:rPr lang="en-US" altLang="zh-CN">
                <a:latin typeface="Arial" charset="0"/>
                <a:ea typeface="宋体" charset="0"/>
              </a:rPr>
              <a:t>0.5</a:t>
            </a:r>
            <a:r>
              <a:rPr lang="zh-CN" altLang="en-US">
                <a:latin typeface="Arial" charset="0"/>
                <a:ea typeface="宋体" charset="0"/>
              </a:rPr>
              <a:t>元</a:t>
            </a:r>
            <a:r>
              <a:rPr lang="en-US" altLang="zh-CN">
                <a:latin typeface="Arial" charset="0"/>
                <a:ea typeface="宋体" charset="0"/>
              </a:rPr>
              <a:t>/</a:t>
            </a:r>
            <a:r>
              <a:rPr lang="zh-CN" altLang="en-US">
                <a:latin typeface="Arial" charset="0"/>
                <a:ea typeface="宋体" charset="0"/>
              </a:rPr>
              <a:t>枝；正常卖价</a:t>
            </a:r>
            <a:r>
              <a:rPr lang="en-US" altLang="zh-CN">
                <a:latin typeface="Arial" charset="0"/>
                <a:ea typeface="宋体" charset="0"/>
              </a:rPr>
              <a:t>1</a:t>
            </a:r>
            <a:r>
              <a:rPr lang="zh-CN" altLang="en-US">
                <a:latin typeface="Arial" charset="0"/>
                <a:ea typeface="宋体" charset="0"/>
              </a:rPr>
              <a:t>元</a:t>
            </a:r>
            <a:r>
              <a:rPr lang="en-US" altLang="zh-CN">
                <a:latin typeface="Arial" charset="0"/>
                <a:ea typeface="宋体" charset="0"/>
              </a:rPr>
              <a:t>/</a:t>
            </a:r>
            <a:r>
              <a:rPr lang="zh-CN" altLang="en-US">
                <a:latin typeface="Arial" charset="0"/>
                <a:ea typeface="宋体" charset="0"/>
              </a:rPr>
              <a:t>枝；优惠价</a:t>
            </a:r>
            <a:r>
              <a:rPr lang="en-US" altLang="zh-CN">
                <a:latin typeface="Arial" charset="0"/>
                <a:ea typeface="宋体" charset="0"/>
              </a:rPr>
              <a:t>1.5</a:t>
            </a:r>
            <a:r>
              <a:rPr lang="zh-CN" altLang="en-US">
                <a:latin typeface="Arial" charset="0"/>
                <a:ea typeface="宋体" charset="0"/>
              </a:rPr>
              <a:t>元</a:t>
            </a:r>
            <a:r>
              <a:rPr lang="en-US" altLang="zh-CN">
                <a:latin typeface="Arial" charset="0"/>
                <a:ea typeface="宋体" charset="0"/>
              </a:rPr>
              <a:t>/2</a:t>
            </a:r>
            <a:r>
              <a:rPr lang="zh-CN" altLang="en-US">
                <a:latin typeface="Arial" charset="0"/>
                <a:ea typeface="宋体" charset="0"/>
              </a:rPr>
              <a:t>枝；。</a:t>
            </a:r>
          </a:p>
          <a:p>
            <a:pPr eaLnBrk="1" hangingPunct="1">
              <a:buFontTx/>
              <a:buNone/>
            </a:pPr>
            <a:r>
              <a:rPr lang="zh-CN" altLang="en-US">
                <a:latin typeface="Arial" charset="0"/>
                <a:ea typeface="宋体" charset="0"/>
              </a:rPr>
              <a:t>试进行签字笔芯每天经营的盈亏平衡分析：</a:t>
            </a:r>
          </a:p>
          <a:p>
            <a:pPr eaLnBrk="1" hangingPunct="1"/>
            <a:r>
              <a:rPr lang="zh-CN" altLang="en-US">
                <a:latin typeface="Arial" charset="0"/>
                <a:ea typeface="宋体" charset="0"/>
              </a:rPr>
              <a:t>不同价位不亏本的日销售量。</a:t>
            </a:r>
          </a:p>
          <a:p>
            <a:pPr eaLnBrk="1" hangingPunct="1"/>
            <a:r>
              <a:rPr lang="zh-CN" altLang="en-US">
                <a:latin typeface="Arial" charset="0"/>
                <a:ea typeface="宋体" charset="0"/>
              </a:rPr>
              <a:t>假设每天能卖出</a:t>
            </a:r>
            <a:r>
              <a:rPr lang="en-US" altLang="zh-CN">
                <a:latin typeface="Arial" charset="0"/>
                <a:ea typeface="宋体" charset="0"/>
              </a:rPr>
              <a:t>8</a:t>
            </a:r>
            <a:r>
              <a:rPr lang="zh-CN" altLang="en-US">
                <a:latin typeface="Arial" charset="0"/>
                <a:ea typeface="宋体" charset="0"/>
              </a:rPr>
              <a:t>枝，求盈亏平衡点销售价格。</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计算</a:t>
            </a:r>
          </a:p>
        </p:txBody>
      </p:sp>
      <p:sp>
        <p:nvSpPr>
          <p:cNvPr id="31747" name="Rectangle 3"/>
          <p:cNvSpPr>
            <a:spLocks noGrp="1" noChangeArrowheads="1"/>
          </p:cNvSpPr>
          <p:nvPr>
            <p:ph type="body" idx="1"/>
          </p:nvPr>
        </p:nvSpPr>
        <p:spPr/>
        <p:txBody>
          <a:bodyPr/>
          <a:lstStyle/>
          <a:p>
            <a:pPr eaLnBrk="1" hangingPunct="1">
              <a:buFontTx/>
              <a:buNone/>
            </a:pPr>
            <a:r>
              <a:rPr lang="zh-CN" altLang="en-US">
                <a:latin typeface="Arial" charset="0"/>
                <a:ea typeface="宋体" charset="0"/>
              </a:rPr>
              <a:t>  店每天固定成本</a:t>
            </a:r>
          </a:p>
          <a:p>
            <a:pPr eaLnBrk="1" hangingPunct="1">
              <a:buFontTx/>
              <a:buNone/>
            </a:pPr>
            <a:r>
              <a:rPr lang="en-US" altLang="zh-CN">
                <a:latin typeface="Arial" charset="0"/>
                <a:ea typeface="宋体" charset="0"/>
              </a:rPr>
              <a:t>(75 + 500 + 60/12 +70 + 200)/ 30.5 =27.87</a:t>
            </a:r>
            <a:r>
              <a:rPr lang="zh-CN" altLang="en-US">
                <a:latin typeface="Arial" charset="0"/>
                <a:ea typeface="宋体" charset="0"/>
              </a:rPr>
              <a:t>（元）</a:t>
            </a:r>
          </a:p>
          <a:p>
            <a:pPr eaLnBrk="1" hangingPunct="1"/>
            <a:r>
              <a:rPr lang="zh-CN" altLang="en-US">
                <a:latin typeface="Arial" charset="0"/>
                <a:ea typeface="宋体" charset="0"/>
              </a:rPr>
              <a:t>签字笔芯每天摊到的固定成本为：</a:t>
            </a:r>
          </a:p>
          <a:p>
            <a:pPr eaLnBrk="1" hangingPunct="1">
              <a:buFontTx/>
              <a:buNone/>
            </a:pPr>
            <a:r>
              <a:rPr lang="en-US" altLang="zh-CN">
                <a:latin typeface="Arial" charset="0"/>
                <a:ea typeface="宋体" charset="0"/>
              </a:rPr>
              <a:t>   27.87×</a:t>
            </a:r>
            <a:r>
              <a:rPr lang="zh-CN" altLang="en-US">
                <a:latin typeface="Arial" charset="0"/>
                <a:ea typeface="宋体" charset="0"/>
              </a:rPr>
              <a:t>（</a:t>
            </a:r>
            <a:r>
              <a:rPr lang="en-US" altLang="zh-CN">
                <a:latin typeface="Arial" charset="0"/>
                <a:ea typeface="宋体" charset="0"/>
              </a:rPr>
              <a:t>1/25</a:t>
            </a:r>
            <a:r>
              <a:rPr lang="zh-CN" altLang="en-US">
                <a:latin typeface="Arial" charset="0"/>
                <a:ea typeface="宋体" charset="0"/>
              </a:rPr>
              <a:t>）</a:t>
            </a:r>
            <a:r>
              <a:rPr lang="en-US" altLang="zh-CN">
                <a:latin typeface="Arial" charset="0"/>
                <a:ea typeface="宋体" charset="0"/>
              </a:rPr>
              <a:t>=1.11</a:t>
            </a:r>
            <a:r>
              <a:rPr lang="zh-CN" altLang="en-US">
                <a:latin typeface="Arial" charset="0"/>
                <a:ea typeface="宋体" charset="0"/>
              </a:rPr>
              <a:t>元</a:t>
            </a:r>
          </a:p>
          <a:p>
            <a:pPr eaLnBrk="1" hangingPunct="1"/>
            <a:r>
              <a:rPr lang="zh-CN" altLang="en-US">
                <a:latin typeface="Arial" charset="0"/>
                <a:ea typeface="宋体" charset="0"/>
              </a:rPr>
              <a:t>如果每枝笔芯卖一元钱，要卖多少枝才能赢利？</a:t>
            </a:r>
            <a:r>
              <a:rPr lang="en-US" altLang="zh-CN">
                <a:latin typeface="Arial" charset="0"/>
                <a:ea typeface="宋体" charset="0"/>
              </a:rPr>
              <a:t>1.11/(1-0.5)=2.22</a:t>
            </a:r>
            <a:r>
              <a:rPr lang="zh-CN" altLang="en-US">
                <a:latin typeface="Arial" charset="0"/>
                <a:ea typeface="宋体" charset="0"/>
              </a:rPr>
              <a:t>（枝）</a:t>
            </a:r>
          </a:p>
          <a:p>
            <a:pPr eaLnBrk="1" hangingPunct="1"/>
            <a:r>
              <a:rPr lang="zh-CN" altLang="en-US">
                <a:latin typeface="Arial" charset="0"/>
                <a:ea typeface="宋体" charset="0"/>
              </a:rPr>
              <a:t>如果每支卖</a:t>
            </a:r>
            <a:r>
              <a:rPr lang="en-US" altLang="zh-CN">
                <a:latin typeface="Arial" charset="0"/>
                <a:ea typeface="宋体" charset="0"/>
              </a:rPr>
              <a:t>0.75</a:t>
            </a:r>
            <a:r>
              <a:rPr lang="zh-CN" altLang="en-US">
                <a:latin typeface="Arial" charset="0"/>
                <a:ea typeface="宋体" charset="0"/>
              </a:rPr>
              <a:t>元，要卖多少枝才能赢利？</a:t>
            </a:r>
          </a:p>
          <a:p>
            <a:pPr eaLnBrk="1" hangingPunct="1">
              <a:buFontTx/>
              <a:buNone/>
            </a:pPr>
            <a:r>
              <a:rPr lang="en-US" altLang="zh-CN">
                <a:latin typeface="Arial" charset="0"/>
                <a:ea typeface="宋体" charset="0"/>
              </a:rPr>
              <a:t>   1.11/(0.75-0.5)=4.44</a:t>
            </a:r>
            <a:r>
              <a:rPr lang="zh-CN" altLang="en-US">
                <a:latin typeface="Arial" charset="0"/>
                <a:ea typeface="宋体" charset="0"/>
              </a:rPr>
              <a:t>（枝）</a:t>
            </a:r>
          </a:p>
          <a:p>
            <a:pPr eaLnBrk="1" hangingPunct="1"/>
            <a:r>
              <a:rPr lang="zh-CN" altLang="en-US">
                <a:latin typeface="Arial" charset="0"/>
                <a:ea typeface="宋体" charset="0"/>
              </a:rPr>
              <a:t>每天卖出</a:t>
            </a:r>
            <a:r>
              <a:rPr lang="en-US" altLang="zh-CN">
                <a:latin typeface="Arial" charset="0"/>
                <a:ea typeface="宋体" charset="0"/>
              </a:rPr>
              <a:t>8</a:t>
            </a:r>
            <a:r>
              <a:rPr lang="zh-CN" altLang="en-US">
                <a:latin typeface="Arial" charset="0"/>
                <a:ea typeface="宋体" charset="0"/>
              </a:rPr>
              <a:t>枝的盈亏平衡价格：</a:t>
            </a:r>
          </a:p>
          <a:p>
            <a:pPr eaLnBrk="1" hangingPunct="1"/>
            <a:r>
              <a:rPr lang="en-US" altLang="zh-CN">
                <a:latin typeface="Arial" charset="0"/>
                <a:ea typeface="宋体" charset="0"/>
              </a:rPr>
              <a:t>0.5+1.11/8=0.64</a:t>
            </a:r>
            <a:r>
              <a:rPr lang="zh-CN" altLang="en-US">
                <a:latin typeface="Arial" charset="0"/>
                <a:ea typeface="宋体" charset="0"/>
              </a:rPr>
              <a:t>元 </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noChangeArrowheads="1"/>
          </p:cNvSpPr>
          <p:nvPr>
            <p:ph type="title"/>
          </p:nvPr>
        </p:nvSpPr>
        <p:spPr/>
        <p:txBody>
          <a:bodyPr/>
          <a:lstStyle/>
          <a:p>
            <a:pPr eaLnBrk="1" hangingPunct="1"/>
            <a:r>
              <a:rPr lang="zh-CN" altLang="en-US">
                <a:latin typeface="Arial" charset="0"/>
                <a:ea typeface="楷体_GB2312" charset="0"/>
                <a:cs typeface="楷体_GB2312" charset="0"/>
              </a:rPr>
              <a:t>内容回顾</a:t>
            </a:r>
            <a:endParaRPr lang="en-US" altLang="zh-CN">
              <a:latin typeface="Arial" charset="0"/>
              <a:ea typeface="楷体_GB2312" charset="0"/>
              <a:cs typeface="楷体_GB2312" charset="0"/>
            </a:endParaRPr>
          </a:p>
        </p:txBody>
      </p:sp>
      <p:sp>
        <p:nvSpPr>
          <p:cNvPr id="32771" name="Rectangle 5"/>
          <p:cNvSpPr>
            <a:spLocks noGrp="1" noChangeArrowheads="1"/>
          </p:cNvSpPr>
          <p:nvPr>
            <p:ph type="body" idx="1"/>
          </p:nvPr>
        </p:nvSpPr>
        <p:spPr/>
        <p:txBody>
          <a:bodyPr/>
          <a:lstStyle/>
          <a:p>
            <a:pPr eaLnBrk="1" hangingPunct="1"/>
            <a:r>
              <a:rPr lang="zh-CN" altLang="en-US">
                <a:solidFill>
                  <a:srgbClr val="660066"/>
                </a:solidFill>
                <a:latin typeface="Arial" charset="0"/>
                <a:ea typeface="宋体" charset="0"/>
              </a:rPr>
              <a:t>一、风险与不确定性分析的必要性</a:t>
            </a:r>
          </a:p>
          <a:p>
            <a:pPr eaLnBrk="1" hangingPunct="1"/>
            <a:endParaRPr lang="zh-CN" altLang="en-US">
              <a:latin typeface="Arial" charset="0"/>
              <a:ea typeface="宋体" charset="0"/>
            </a:endParaRPr>
          </a:p>
          <a:p>
            <a:pPr eaLnBrk="1" hangingPunct="1"/>
            <a:r>
              <a:rPr lang="zh-CN" altLang="en-US">
                <a:solidFill>
                  <a:srgbClr val="660066"/>
                </a:solidFill>
                <a:latin typeface="Arial" charset="0"/>
                <a:ea typeface="宋体" charset="0"/>
              </a:rPr>
              <a:t>二、三种风险与不确定性分析方法</a:t>
            </a:r>
          </a:p>
          <a:p>
            <a:pPr lvl="1" eaLnBrk="1" hangingPunct="1"/>
            <a:r>
              <a:rPr lang="zh-CN" altLang="en-US">
                <a:solidFill>
                  <a:srgbClr val="660066"/>
                </a:solidFill>
                <a:latin typeface="Arial" charset="0"/>
                <a:ea typeface="宋体" charset="0"/>
              </a:rPr>
              <a:t>（一）盈亏平衡分析</a:t>
            </a:r>
          </a:p>
          <a:p>
            <a:pPr lvl="2" eaLnBrk="1" hangingPunct="1"/>
            <a:r>
              <a:rPr lang="zh-CN" altLang="en-US">
                <a:solidFill>
                  <a:srgbClr val="660066"/>
                </a:solidFill>
                <a:latin typeface="Arial" charset="0"/>
                <a:ea typeface="宋体" charset="0"/>
              </a:rPr>
              <a:t>单方案</a:t>
            </a:r>
            <a:r>
              <a:rPr lang="en-US" altLang="zh-CN">
                <a:solidFill>
                  <a:srgbClr val="660066"/>
                </a:solidFill>
                <a:latin typeface="Arial" charset="0"/>
                <a:ea typeface="宋体" charset="0"/>
              </a:rPr>
              <a:t>/</a:t>
            </a:r>
            <a:r>
              <a:rPr lang="zh-CN" altLang="en-US">
                <a:solidFill>
                  <a:srgbClr val="660066"/>
                </a:solidFill>
                <a:latin typeface="Arial" charset="0"/>
                <a:ea typeface="宋体" charset="0"/>
              </a:rPr>
              <a:t>多方案盈亏平衡分析</a:t>
            </a:r>
          </a:p>
          <a:p>
            <a:pPr lvl="1" eaLnBrk="1" hangingPunct="1"/>
            <a:r>
              <a:rPr lang="zh-CN" altLang="en-US">
                <a:latin typeface="Arial" charset="0"/>
                <a:ea typeface="宋体" charset="0"/>
              </a:rPr>
              <a:t>（二）敏感性分析</a:t>
            </a:r>
          </a:p>
          <a:p>
            <a:pPr lvl="2" eaLnBrk="1" hangingPunct="1"/>
            <a:r>
              <a:rPr lang="zh-CN" altLang="en-US">
                <a:latin typeface="Arial" charset="0"/>
                <a:ea typeface="宋体" charset="0"/>
              </a:rPr>
              <a:t>单因素</a:t>
            </a:r>
            <a:r>
              <a:rPr lang="en-US" altLang="zh-CN">
                <a:latin typeface="Arial" charset="0"/>
                <a:ea typeface="宋体" charset="0"/>
              </a:rPr>
              <a:t>/</a:t>
            </a:r>
            <a:r>
              <a:rPr lang="zh-CN" altLang="en-US">
                <a:latin typeface="Arial" charset="0"/>
                <a:ea typeface="宋体" charset="0"/>
              </a:rPr>
              <a:t>多因素敏感性分析</a:t>
            </a:r>
          </a:p>
          <a:p>
            <a:pPr lvl="1" eaLnBrk="1" hangingPunct="1"/>
            <a:r>
              <a:rPr lang="zh-CN" altLang="en-US">
                <a:latin typeface="Arial" charset="0"/>
                <a:ea typeface="宋体" charset="0"/>
              </a:rPr>
              <a:t>（三）风险分析</a:t>
            </a:r>
          </a:p>
          <a:p>
            <a:pPr lvl="2" eaLnBrk="1" hangingPunct="1"/>
            <a:r>
              <a:rPr lang="zh-CN" altLang="en-US">
                <a:latin typeface="Arial" charset="0"/>
                <a:ea typeface="宋体" charset="0"/>
              </a:rPr>
              <a:t>风险识别、风险测度、风险决策、风险控制</a:t>
            </a:r>
          </a:p>
          <a:p>
            <a:pPr lvl="2" eaLnBrk="1" hangingPunct="1">
              <a:buFontTx/>
              <a:buNone/>
            </a:pPr>
            <a:endParaRPr lang="zh-CN" altLang="en-US">
              <a:solidFill>
                <a:srgbClr val="800000"/>
              </a:solidFill>
              <a:latin typeface="Arial" charset="0"/>
              <a:ea typeface="宋体" charset="0"/>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a:latin typeface="Arial" charset="0"/>
                <a:ea typeface="楷体_GB2312" charset="0"/>
                <a:cs typeface="楷体_GB2312" charset="0"/>
              </a:rPr>
              <a:t>（二）敏感性分析</a:t>
            </a:r>
          </a:p>
        </p:txBody>
      </p:sp>
      <p:sp>
        <p:nvSpPr>
          <p:cNvPr id="33795" name="Rectangle 3"/>
          <p:cNvSpPr>
            <a:spLocks noGrp="1" noChangeArrowheads="1"/>
          </p:cNvSpPr>
          <p:nvPr>
            <p:ph type="body" idx="1"/>
          </p:nvPr>
        </p:nvSpPr>
        <p:spPr/>
        <p:txBody>
          <a:bodyPr/>
          <a:lstStyle/>
          <a:p>
            <a:pPr eaLnBrk="1" hangingPunct="1">
              <a:lnSpc>
                <a:spcPct val="95000"/>
              </a:lnSpc>
              <a:spcBef>
                <a:spcPct val="10000"/>
              </a:spcBef>
              <a:spcAft>
                <a:spcPct val="60000"/>
              </a:spcAft>
            </a:pPr>
            <a:r>
              <a:rPr lang="zh-CN" altLang="en-US">
                <a:latin typeface="Arial" charset="0"/>
                <a:ea typeface="宋体" charset="0"/>
              </a:rPr>
              <a:t>什么是敏感性分析 </a:t>
            </a:r>
            <a:r>
              <a:rPr lang="en-US" altLang="zh-CN">
                <a:latin typeface="Arial" charset="0"/>
                <a:ea typeface="宋体" charset="0"/>
              </a:rPr>
              <a:t>(Sensitivity Analysis)?</a:t>
            </a:r>
          </a:p>
          <a:p>
            <a:pPr lvl="1" eaLnBrk="1" hangingPunct="1">
              <a:lnSpc>
                <a:spcPct val="95000"/>
              </a:lnSpc>
              <a:spcBef>
                <a:spcPct val="10000"/>
              </a:spcBef>
              <a:spcAft>
                <a:spcPct val="60000"/>
              </a:spcAft>
            </a:pPr>
            <a:r>
              <a:rPr lang="zh-CN" altLang="en-US">
                <a:latin typeface="Arial" charset="0"/>
                <a:ea typeface="宋体" charset="0"/>
              </a:rPr>
              <a:t>通过测定一个或多个不确定因素的变化所导致的决策评价指标的变化幅度，了解各种因素的变化对实现预期目标的影响程度，从而对外部条件发生不利条件时投资方案的承受能力作出判断</a:t>
            </a:r>
          </a:p>
          <a:p>
            <a:pPr lvl="1" eaLnBrk="1" hangingPunct="1">
              <a:lnSpc>
                <a:spcPct val="95000"/>
              </a:lnSpc>
              <a:spcBef>
                <a:spcPct val="10000"/>
              </a:spcBef>
              <a:spcAft>
                <a:spcPct val="60000"/>
              </a:spcAft>
            </a:pPr>
            <a:r>
              <a:rPr lang="zh-CN" altLang="en-US">
                <a:latin typeface="Arial" charset="0"/>
                <a:ea typeface="宋体" charset="0"/>
              </a:rPr>
              <a:t>目的是找出敏感因素，确定其敏感程度</a:t>
            </a:r>
          </a:p>
          <a:p>
            <a:pPr lvl="1" eaLnBrk="1" hangingPunct="1">
              <a:lnSpc>
                <a:spcPct val="95000"/>
              </a:lnSpc>
              <a:spcBef>
                <a:spcPct val="10000"/>
              </a:spcBef>
              <a:spcAft>
                <a:spcPct val="60000"/>
              </a:spcAft>
            </a:pPr>
            <a:r>
              <a:rPr lang="zh-CN" altLang="en-US">
                <a:latin typeface="Arial" charset="0"/>
                <a:ea typeface="宋体" charset="0"/>
              </a:rPr>
              <a:t>单因素</a:t>
            </a:r>
            <a:r>
              <a:rPr lang="en-US" altLang="zh-CN">
                <a:latin typeface="Arial" charset="0"/>
                <a:ea typeface="宋体" charset="0"/>
              </a:rPr>
              <a:t>/</a:t>
            </a:r>
            <a:r>
              <a:rPr lang="zh-CN" altLang="en-US">
                <a:latin typeface="Arial" charset="0"/>
                <a:ea typeface="宋体" charset="0"/>
              </a:rPr>
              <a:t>多因素敏感性分析</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敏感性分析目的</a:t>
            </a:r>
          </a:p>
        </p:txBody>
      </p:sp>
      <p:sp>
        <p:nvSpPr>
          <p:cNvPr id="35843" name="Rectangle 3"/>
          <p:cNvSpPr>
            <a:spLocks noGrp="1" noChangeArrowheads="1"/>
          </p:cNvSpPr>
          <p:nvPr>
            <p:ph type="body" idx="1"/>
          </p:nvPr>
        </p:nvSpPr>
        <p:spPr/>
        <p:txBody>
          <a:bodyPr/>
          <a:lstStyle/>
          <a:p>
            <a:pPr eaLnBrk="1" hangingPunct="1"/>
            <a:r>
              <a:rPr kumimoji="1" lang="zh-CN" altLang="en-US" b="0">
                <a:latin typeface="Arial" charset="0"/>
                <a:ea typeface="宋体" charset="0"/>
              </a:rPr>
              <a:t>找出影响项目经济效益变动的敏感性因素，分析敏感性因素变动的原因，并为进一步进行不确定性分析</a:t>
            </a:r>
            <a:r>
              <a:rPr kumimoji="1" lang="en-US" altLang="zh-CN" b="0">
                <a:latin typeface="Arial" charset="0"/>
                <a:ea typeface="宋体" charset="0"/>
              </a:rPr>
              <a:t>(</a:t>
            </a:r>
            <a:r>
              <a:rPr kumimoji="1" lang="zh-CN" altLang="en-US" b="0">
                <a:latin typeface="Arial" charset="0"/>
                <a:ea typeface="宋体" charset="0"/>
              </a:rPr>
              <a:t>如概率分析</a:t>
            </a:r>
            <a:r>
              <a:rPr kumimoji="1" lang="en-US" altLang="zh-CN" b="0">
                <a:latin typeface="Arial" charset="0"/>
                <a:ea typeface="宋体" charset="0"/>
              </a:rPr>
              <a:t>)</a:t>
            </a:r>
            <a:r>
              <a:rPr kumimoji="1" lang="zh-CN" altLang="en-US" b="0">
                <a:latin typeface="Arial" charset="0"/>
                <a:ea typeface="宋体" charset="0"/>
              </a:rPr>
              <a:t>提供依据；</a:t>
            </a:r>
          </a:p>
          <a:p>
            <a:pPr eaLnBrk="1" hangingPunct="1"/>
            <a:r>
              <a:rPr kumimoji="1" lang="zh-CN" altLang="en-US" b="0">
                <a:latin typeface="Arial" charset="0"/>
                <a:ea typeface="宋体" charset="0"/>
              </a:rPr>
              <a:t>研究不确定性因素变动如引起项目经济效益值变动的范围或极限值，分析判断项目承担风险的能力；</a:t>
            </a:r>
          </a:p>
          <a:p>
            <a:pPr eaLnBrk="1" hangingPunct="1"/>
            <a:r>
              <a:rPr kumimoji="1" lang="zh-CN" altLang="en-US" b="0">
                <a:latin typeface="Arial" charset="0"/>
                <a:ea typeface="宋体" charset="0"/>
              </a:rPr>
              <a:t>比较多方案的敏感性大小，以便在经济效益值相似的情况下，从中选出不敏感的投资方案。</a:t>
            </a:r>
          </a:p>
          <a:p>
            <a:pPr eaLnBrk="1" hangingPunct="1">
              <a:buFontTx/>
              <a:buNone/>
            </a:pPr>
            <a:endParaRPr lang="zh-CN" altLang="en-US">
              <a:latin typeface="Arial" charset="0"/>
              <a:ea typeface="宋体" charset="0"/>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敏感性分析步骤</a:t>
            </a:r>
          </a:p>
        </p:txBody>
      </p:sp>
      <p:sp>
        <p:nvSpPr>
          <p:cNvPr id="36867" name="Rectangle 3"/>
          <p:cNvSpPr>
            <a:spLocks noGrp="1" noChangeArrowheads="1"/>
          </p:cNvSpPr>
          <p:nvPr>
            <p:ph type="body" idx="1"/>
          </p:nvPr>
        </p:nvSpPr>
        <p:spPr/>
        <p:txBody>
          <a:bodyPr/>
          <a:lstStyle/>
          <a:p>
            <a:pPr eaLnBrk="1" hangingPunct="1">
              <a:buFontTx/>
              <a:buNone/>
            </a:pPr>
            <a:r>
              <a:rPr kumimoji="1" lang="en-US" altLang="zh-CN">
                <a:latin typeface="Arial" charset="0"/>
                <a:ea typeface="宋体" charset="0"/>
              </a:rPr>
              <a:t>1</a:t>
            </a:r>
            <a:r>
              <a:rPr kumimoji="1" lang="zh-CN" altLang="en-US">
                <a:latin typeface="Arial" charset="0"/>
                <a:ea typeface="宋体" charset="0"/>
              </a:rPr>
              <a:t>．确定分析的经济效益指标</a:t>
            </a:r>
            <a:r>
              <a:rPr kumimoji="1" lang="en-US" altLang="zh-CN">
                <a:latin typeface="Arial" charset="0"/>
                <a:ea typeface="宋体" charset="0"/>
              </a:rPr>
              <a:t>:</a:t>
            </a:r>
            <a:endParaRPr kumimoji="1" lang="zh-CN" altLang="en-US">
              <a:latin typeface="Arial" charset="0"/>
              <a:ea typeface="宋体" charset="0"/>
            </a:endParaRPr>
          </a:p>
          <a:p>
            <a:pPr eaLnBrk="1" hangingPunct="1">
              <a:buFontTx/>
              <a:buNone/>
            </a:pPr>
            <a:r>
              <a:rPr kumimoji="1" lang="zh-CN" altLang="en-US">
                <a:latin typeface="Arial" charset="0"/>
                <a:ea typeface="宋体" charset="0"/>
              </a:rPr>
              <a:t>   评价投资项目的经济效益指标主要包括：净现值、内部收益率、投资利润率、投资回收期等。</a:t>
            </a:r>
          </a:p>
          <a:p>
            <a:pPr eaLnBrk="1" hangingPunct="1">
              <a:buFontTx/>
              <a:buNone/>
            </a:pPr>
            <a:r>
              <a:rPr kumimoji="1" lang="en-US" altLang="zh-CN">
                <a:latin typeface="Arial" charset="0"/>
                <a:ea typeface="宋体" charset="0"/>
              </a:rPr>
              <a:t>2</a:t>
            </a:r>
            <a:r>
              <a:rPr kumimoji="1" lang="zh-CN" altLang="en-US">
                <a:latin typeface="Arial" charset="0"/>
                <a:ea typeface="宋体" charset="0"/>
              </a:rPr>
              <a:t>．选定不确定性因素，设定其变化范围。</a:t>
            </a:r>
          </a:p>
          <a:p>
            <a:pPr eaLnBrk="1" hangingPunct="1">
              <a:buFontTx/>
              <a:buNone/>
            </a:pPr>
            <a:r>
              <a:rPr kumimoji="1" lang="en-US" altLang="zh-CN">
                <a:latin typeface="Arial" charset="0"/>
                <a:ea typeface="宋体" charset="0"/>
              </a:rPr>
              <a:t>3</a:t>
            </a:r>
            <a:r>
              <a:rPr kumimoji="1" lang="zh-CN" altLang="en-US">
                <a:latin typeface="Arial" charset="0"/>
                <a:ea typeface="宋体" charset="0"/>
              </a:rPr>
              <a:t>．计算不确定性因素变动对项目经济效益指标的影响程度，找出敏感性因素。</a:t>
            </a:r>
          </a:p>
          <a:p>
            <a:pPr eaLnBrk="1" hangingPunct="1">
              <a:buFontTx/>
              <a:buNone/>
            </a:pPr>
            <a:r>
              <a:rPr kumimoji="1" lang="en-US" altLang="zh-CN">
                <a:latin typeface="Arial" charset="0"/>
                <a:ea typeface="宋体" charset="0"/>
              </a:rPr>
              <a:t>4</a:t>
            </a:r>
            <a:r>
              <a:rPr kumimoji="1" lang="zh-CN" altLang="en-US">
                <a:latin typeface="Arial" charset="0"/>
                <a:ea typeface="宋体" charset="0"/>
              </a:rPr>
              <a:t>．绘制敏感性分析图，求出不确定性因素变化的极限值。</a:t>
            </a:r>
          </a:p>
          <a:p>
            <a:pPr eaLnBrk="1" hangingPunct="1">
              <a:buFontTx/>
              <a:buNone/>
            </a:pPr>
            <a:r>
              <a:rPr kumimoji="1" lang="en-US" altLang="zh-CN">
                <a:latin typeface="Arial" charset="0"/>
                <a:ea typeface="宋体" charset="0"/>
              </a:rPr>
              <a:t>5.</a:t>
            </a:r>
            <a:r>
              <a:rPr kumimoji="1" lang="zh-CN" altLang="en-US">
                <a:latin typeface="Arial" charset="0"/>
                <a:ea typeface="宋体" charset="0"/>
              </a:rPr>
              <a:t>敏感性评价</a:t>
            </a:r>
          </a:p>
          <a:p>
            <a:pPr eaLnBrk="1" hangingPunct="1">
              <a:buFontTx/>
              <a:buNone/>
            </a:pPr>
            <a:endParaRPr lang="zh-CN" altLang="en-US">
              <a:latin typeface="Arial" charset="0"/>
              <a:ea typeface="宋体" charset="0"/>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敏感性分析图</a:t>
            </a:r>
          </a:p>
        </p:txBody>
      </p:sp>
      <p:graphicFrame>
        <p:nvGraphicFramePr>
          <p:cNvPr id="37891" name="Object 4"/>
          <p:cNvGraphicFramePr>
            <a:graphicFrameLocks noGrp="1" noChangeAspect="1"/>
          </p:cNvGraphicFramePr>
          <p:nvPr>
            <p:ph idx="1"/>
          </p:nvPr>
        </p:nvGraphicFramePr>
        <p:xfrm>
          <a:off x="165100" y="1076325"/>
          <a:ext cx="8801100" cy="5335588"/>
        </p:xfrm>
        <a:graphic>
          <a:graphicData uri="http://schemas.openxmlformats.org/presentationml/2006/ole">
            <mc:AlternateContent xmlns:mc="http://schemas.openxmlformats.org/markup-compatibility/2006">
              <mc:Choice xmlns:v="urn:schemas-microsoft-com:vml" Requires="v">
                <p:oleObj spid="_x0000_s37903" name="文档" r:id="rId3" imgW="5654040" imgH="3429000" progId="Word.Document.8">
                  <p:embed/>
                </p:oleObj>
              </mc:Choice>
              <mc:Fallback>
                <p:oleObj name="文档" r:id="rId3" imgW="5654040" imgH="342900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100" y="1076325"/>
                        <a:ext cx="8801100" cy="53355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type="body" idx="1"/>
          </p:nvPr>
        </p:nvSpPr>
        <p:spPr/>
        <p:txBody>
          <a:bodyPr/>
          <a:lstStyle/>
          <a:p>
            <a:pPr algn="just" eaLnBrk="1" hangingPunct="1">
              <a:buFontTx/>
              <a:buNone/>
            </a:pPr>
            <a:r>
              <a:rPr lang="zh-CN" altLang="en-US" b="0">
                <a:latin typeface="Arial" charset="0"/>
                <a:ea typeface="宋体" charset="0"/>
              </a:rPr>
              <a:t>①确定敏感因素</a:t>
            </a:r>
            <a:endParaRPr lang="zh-CN" altLang="en-US">
              <a:latin typeface="Arial" charset="0"/>
              <a:ea typeface="宋体" charset="0"/>
            </a:endParaRPr>
          </a:p>
          <a:p>
            <a:pPr algn="just" eaLnBrk="1" hangingPunct="1">
              <a:buFontTx/>
              <a:buNone/>
            </a:pPr>
            <a:r>
              <a:rPr lang="zh-CN" altLang="en-US" b="0">
                <a:latin typeface="Arial" charset="0"/>
                <a:ea typeface="宋体" charset="0"/>
              </a:rPr>
              <a:t>②确定可行区域</a:t>
            </a:r>
            <a:endParaRPr lang="zh-CN" altLang="en-US">
              <a:latin typeface="Arial" charset="0"/>
              <a:ea typeface="宋体" charset="0"/>
            </a:endParaRPr>
          </a:p>
          <a:p>
            <a:pPr algn="just" eaLnBrk="1" hangingPunct="1">
              <a:buFontTx/>
              <a:buNone/>
            </a:pPr>
            <a:r>
              <a:rPr lang="zh-CN" altLang="en-US" b="0">
                <a:latin typeface="Arial" charset="0"/>
                <a:ea typeface="宋体" charset="0"/>
              </a:rPr>
              <a:t>  </a:t>
            </a:r>
          </a:p>
          <a:p>
            <a:pPr algn="just" eaLnBrk="1" hangingPunct="1">
              <a:buFontTx/>
              <a:buNone/>
            </a:pPr>
            <a:endParaRPr lang="zh-CN" altLang="en-US">
              <a:latin typeface="Arial" charset="0"/>
              <a:ea typeface="宋体" charset="0"/>
            </a:endParaRPr>
          </a:p>
          <a:p>
            <a:pPr eaLnBrk="1" hangingPunct="1"/>
            <a:endParaRPr lang="zh-CN" altLang="en-US">
              <a:latin typeface="Arial" charset="0"/>
              <a:ea typeface="宋体" charset="0"/>
            </a:endParaRPr>
          </a:p>
        </p:txBody>
      </p:sp>
      <p:sp>
        <p:nvSpPr>
          <p:cNvPr id="38915" name="Rectangle 9"/>
          <p:cNvSpPr>
            <a:spLocks noChangeArrowheads="1"/>
          </p:cNvSpPr>
          <p:nvPr/>
        </p:nvSpPr>
        <p:spPr bwMode="auto">
          <a:xfrm>
            <a:off x="0" y="0"/>
            <a:ext cx="2724150" cy="641350"/>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marL="342900" indent="-342900" eaLnBrk="1" hangingPunct="1">
              <a:lnSpc>
                <a:spcPct val="90000"/>
              </a:lnSpc>
              <a:spcBef>
                <a:spcPct val="50000"/>
              </a:spcBef>
            </a:pPr>
            <a:r>
              <a:rPr kumimoji="1" lang="zh-CN" altLang="en-US">
                <a:solidFill>
                  <a:srgbClr val="000000"/>
                </a:solidFill>
              </a:rPr>
              <a:t>敏感性评价</a:t>
            </a:r>
          </a:p>
        </p:txBody>
      </p:sp>
      <p:sp>
        <p:nvSpPr>
          <p:cNvPr id="38916" name="Rectangle 10"/>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敏感性评价</a:t>
            </a:r>
            <a:endParaRPr lang="en-US" altLang="zh-CN" sz="3200">
              <a:latin typeface="Arial" charset="0"/>
              <a:ea typeface="楷体_GB2312" charset="0"/>
              <a:cs typeface="楷体_GB2312" charset="0"/>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zh-CN">
                <a:latin typeface="Arial" charset="0"/>
                <a:ea typeface="楷体_GB2312" charset="0"/>
                <a:cs typeface="楷体_GB2312" charset="0"/>
              </a:rPr>
              <a:t>1. </a:t>
            </a:r>
            <a:r>
              <a:rPr lang="zh-CN" altLang="en-US">
                <a:latin typeface="Arial" charset="0"/>
                <a:ea typeface="楷体_GB2312" charset="0"/>
                <a:cs typeface="楷体_GB2312" charset="0"/>
              </a:rPr>
              <a:t>单因素敏感性分析实例</a:t>
            </a:r>
          </a:p>
        </p:txBody>
      </p:sp>
      <p:sp>
        <p:nvSpPr>
          <p:cNvPr id="39939" name="Rectangle 3"/>
          <p:cNvSpPr>
            <a:spLocks noGrp="1" noChangeArrowheads="1"/>
          </p:cNvSpPr>
          <p:nvPr>
            <p:ph type="body" idx="1"/>
          </p:nvPr>
        </p:nvSpPr>
        <p:spPr/>
        <p:txBody>
          <a:bodyPr/>
          <a:lstStyle/>
          <a:p>
            <a:pPr eaLnBrk="1" hangingPunct="1"/>
            <a:r>
              <a:rPr lang="zh-CN" altLang="en-US" sz="2800">
                <a:latin typeface="Arial" charset="0"/>
                <a:ea typeface="宋体" charset="0"/>
              </a:rPr>
              <a:t>下表所示的是一个客运个体户在打算购置一辆运客面包车时进行的确定性现金流分析。表中数据是对未来</a:t>
            </a:r>
            <a:r>
              <a:rPr lang="zh-CN" altLang="en-US" sz="2800">
                <a:solidFill>
                  <a:srgbClr val="3333CC"/>
                </a:solidFill>
                <a:latin typeface="Arial" charset="0"/>
                <a:ea typeface="宋体" charset="0"/>
              </a:rPr>
              <a:t>最可能出现</a:t>
            </a:r>
            <a:r>
              <a:rPr lang="zh-CN" altLang="en-US" sz="2800">
                <a:latin typeface="Arial" charset="0"/>
                <a:ea typeface="宋体" charset="0"/>
              </a:rPr>
              <a:t>的情况预测估算得到的。由于未来影响经济环境的某些因素的不确定性，预计各参数的</a:t>
            </a:r>
            <a:r>
              <a:rPr lang="zh-CN" altLang="en-US" sz="2800">
                <a:solidFill>
                  <a:schemeClr val="accent2"/>
                </a:solidFill>
                <a:latin typeface="Arial" charset="0"/>
                <a:ea typeface="宋体" charset="0"/>
              </a:rPr>
              <a:t>最大变化范围</a:t>
            </a:r>
            <a:r>
              <a:rPr lang="zh-CN" altLang="en-US" sz="2800">
                <a:latin typeface="Arial" charset="0"/>
                <a:ea typeface="宋体" charset="0"/>
              </a:rPr>
              <a:t>为</a:t>
            </a:r>
            <a:r>
              <a:rPr lang="en-US" altLang="zh-CN" sz="2800">
                <a:latin typeface="Arial" charset="0"/>
                <a:ea typeface="宋体" charset="0"/>
              </a:rPr>
              <a:t>-30%~+30%</a:t>
            </a:r>
            <a:r>
              <a:rPr lang="zh-CN" altLang="en-US" sz="2800">
                <a:latin typeface="Arial" charset="0"/>
                <a:ea typeface="宋体" charset="0"/>
              </a:rPr>
              <a:t>，基准折现率为</a:t>
            </a:r>
            <a:r>
              <a:rPr lang="en-US" altLang="zh-CN" sz="2800">
                <a:latin typeface="Arial" charset="0"/>
                <a:ea typeface="宋体" charset="0"/>
              </a:rPr>
              <a:t>12</a:t>
            </a:r>
            <a:r>
              <a:rPr lang="zh-CN" altLang="en-US" sz="2800">
                <a:latin typeface="Arial" charset="0"/>
                <a:ea typeface="宋体" charset="0"/>
              </a:rPr>
              <a:t>％，试对各参数分别作敏感性分析。</a:t>
            </a:r>
          </a:p>
        </p:txBody>
      </p:sp>
      <p:graphicFrame>
        <p:nvGraphicFramePr>
          <p:cNvPr id="807940" name="Group 4"/>
          <p:cNvGraphicFramePr>
            <a:graphicFrameLocks noGrp="1"/>
          </p:cNvGraphicFramePr>
          <p:nvPr/>
        </p:nvGraphicFramePr>
        <p:xfrm>
          <a:off x="282575" y="4243388"/>
          <a:ext cx="8642350" cy="1555750"/>
        </p:xfrm>
        <a:graphic>
          <a:graphicData uri="http://schemas.openxmlformats.org/drawingml/2006/table">
            <a:tbl>
              <a:tblPr/>
              <a:tblGrid>
                <a:gridCol w="984250">
                  <a:extLst>
                    <a:ext uri="{9D8B030D-6E8A-4147-A177-3AD203B41FA5}">
                      <a16:colId xmlns:a16="http://schemas.microsoft.com/office/drawing/2014/main" val="20000"/>
                    </a:ext>
                  </a:extLst>
                </a:gridCol>
                <a:gridCol w="1881188">
                  <a:extLst>
                    <a:ext uri="{9D8B030D-6E8A-4147-A177-3AD203B41FA5}">
                      <a16:colId xmlns:a16="http://schemas.microsoft.com/office/drawing/2014/main" val="20001"/>
                    </a:ext>
                  </a:extLst>
                </a:gridCol>
                <a:gridCol w="1774825">
                  <a:extLst>
                    <a:ext uri="{9D8B030D-6E8A-4147-A177-3AD203B41FA5}">
                      <a16:colId xmlns:a16="http://schemas.microsoft.com/office/drawing/2014/main" val="20002"/>
                    </a:ext>
                  </a:extLst>
                </a:gridCol>
                <a:gridCol w="1377950">
                  <a:extLst>
                    <a:ext uri="{9D8B030D-6E8A-4147-A177-3AD203B41FA5}">
                      <a16:colId xmlns:a16="http://schemas.microsoft.com/office/drawing/2014/main" val="20003"/>
                    </a:ext>
                  </a:extLst>
                </a:gridCol>
                <a:gridCol w="1057275">
                  <a:extLst>
                    <a:ext uri="{9D8B030D-6E8A-4147-A177-3AD203B41FA5}">
                      <a16:colId xmlns:a16="http://schemas.microsoft.com/office/drawing/2014/main" val="20004"/>
                    </a:ext>
                  </a:extLst>
                </a:gridCol>
                <a:gridCol w="1566862">
                  <a:extLst>
                    <a:ext uri="{9D8B030D-6E8A-4147-A177-3AD203B41FA5}">
                      <a16:colId xmlns:a16="http://schemas.microsoft.com/office/drawing/2014/main" val="20005"/>
                    </a:ext>
                  </a:extLst>
                </a:gridCol>
              </a:tblGrid>
              <a:tr h="762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因素</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投资额</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a:t>
                      </a:r>
                      <a:r>
                        <a:rPr kumimoji="0" lang="zh-CN" altLang="en-US" sz="2000" b="1" i="0" u="none" strike="noStrike" cap="none" normalizeH="0" baseline="0">
                          <a:ln>
                            <a:noFill/>
                          </a:ln>
                          <a:solidFill>
                            <a:srgbClr val="000000"/>
                          </a:solidFill>
                          <a:effectLst/>
                          <a:latin typeface="Arial" charset="0"/>
                          <a:ea typeface="宋体" charset="0"/>
                          <a:cs typeface="宋体" charset="0"/>
                        </a:rPr>
                        <a:t>一辆面包车</a:t>
                      </a:r>
                      <a:r>
                        <a:rPr kumimoji="0" lang="en-US" altLang="zh-CN" sz="2000" b="1" i="0" u="none" strike="noStrike" cap="none" normalizeH="0" baseline="0">
                          <a:ln>
                            <a:noFill/>
                          </a:ln>
                          <a:solidFill>
                            <a:srgbClr val="000000"/>
                          </a:solidFill>
                          <a:effectLst/>
                          <a:latin typeface="Arial" charset="0"/>
                          <a:ea typeface="宋体" charset="0"/>
                          <a:cs typeface="宋体" charset="0"/>
                        </a:rPr>
                        <a:t>)</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年收益</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a:t>
                      </a:r>
                      <a:r>
                        <a:rPr kumimoji="0" lang="zh-CN" altLang="en-US" sz="2000" b="1" i="0" u="none" strike="noStrike" cap="none" normalizeH="0" baseline="0">
                          <a:ln>
                            <a:noFill/>
                          </a:ln>
                          <a:solidFill>
                            <a:srgbClr val="000000"/>
                          </a:solidFill>
                          <a:effectLst/>
                          <a:latin typeface="Arial" charset="0"/>
                          <a:ea typeface="宋体" charset="0"/>
                          <a:cs typeface="宋体" charset="0"/>
                        </a:rPr>
                        <a:t>运客收入</a:t>
                      </a:r>
                      <a:r>
                        <a:rPr kumimoji="0" lang="en-US" altLang="zh-CN" sz="2000" b="1" i="0" u="none" strike="noStrike" cap="none" normalizeH="0" baseline="0">
                          <a:ln>
                            <a:noFill/>
                          </a:ln>
                          <a:solidFill>
                            <a:srgbClr val="000000"/>
                          </a:solidFill>
                          <a:effectLst/>
                          <a:latin typeface="Arial" charset="0"/>
                          <a:ea typeface="宋体" charset="0"/>
                          <a:cs typeface="宋体" charset="0"/>
                        </a:rPr>
                        <a:t>)</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年支出</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a:t>
                      </a:r>
                      <a:r>
                        <a:rPr kumimoji="0" lang="zh-CN" altLang="en-US" sz="2000" b="1" i="0" u="none" strike="noStrike" cap="none" normalizeH="0" baseline="0">
                          <a:ln>
                            <a:noFill/>
                          </a:ln>
                          <a:solidFill>
                            <a:srgbClr val="000000"/>
                          </a:solidFill>
                          <a:effectLst/>
                          <a:latin typeface="Arial" charset="0"/>
                          <a:ea typeface="宋体" charset="0"/>
                          <a:cs typeface="宋体" charset="0"/>
                        </a:rPr>
                        <a:t>油费</a:t>
                      </a:r>
                      <a:r>
                        <a:rPr kumimoji="0" lang="en-US" altLang="zh-CN" sz="2000" b="1" i="0" u="none" strike="noStrike" cap="none" normalizeH="0" baseline="0">
                          <a:ln>
                            <a:noFill/>
                          </a:ln>
                          <a:solidFill>
                            <a:srgbClr val="000000"/>
                          </a:solidFill>
                          <a:effectLst/>
                          <a:latin typeface="Arial" charset="0"/>
                          <a:ea typeface="宋体" charset="0"/>
                          <a:cs typeface="宋体" charset="0"/>
                        </a:rPr>
                        <a:t>)</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残值</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寿命期</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单元</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元</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元</a:t>
                      </a:r>
                      <a:endParaRPr kumimoji="0" lang="en-US" altLang="zh-CN" sz="2000" b="1" i="0" u="none" strike="noStrike" cap="none" normalizeH="0" baseline="0">
                        <a:ln>
                          <a:noFill/>
                        </a:ln>
                        <a:solidFill>
                          <a:srgbClr val="000000"/>
                        </a:solidFill>
                        <a:effectLst/>
                        <a:latin typeface="Arial" charset="0"/>
                        <a:ea typeface="宋体" charset="0"/>
                        <a:cs typeface="宋体" charset="0"/>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元</a:t>
                      </a:r>
                      <a:endParaRPr kumimoji="0" lang="en-US" altLang="zh-CN" sz="2000" b="1" i="0" u="none" strike="noStrike" cap="none" normalizeH="0" baseline="0">
                        <a:ln>
                          <a:noFill/>
                        </a:ln>
                        <a:solidFill>
                          <a:srgbClr val="000000"/>
                        </a:solidFill>
                        <a:effectLst/>
                        <a:latin typeface="Arial" charset="0"/>
                        <a:ea typeface="宋体" charset="0"/>
                        <a:cs typeface="宋体" charset="0"/>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元</a:t>
                      </a:r>
                      <a:endParaRPr kumimoji="0" lang="en-US" altLang="zh-CN" sz="2000" b="1" i="0" u="none" strike="noStrike" cap="none" normalizeH="0" baseline="0">
                        <a:ln>
                          <a:noFill/>
                        </a:ln>
                        <a:solidFill>
                          <a:srgbClr val="000000"/>
                        </a:solidFill>
                        <a:effectLst/>
                        <a:latin typeface="Arial" charset="0"/>
                        <a:ea typeface="宋体" charset="0"/>
                        <a:cs typeface="宋体" charset="0"/>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年</a:t>
                      </a:r>
                      <a:endParaRPr kumimoji="0" lang="en-US" altLang="zh-CN" sz="2000" b="1" i="0" u="none" strike="noStrike" cap="none" normalizeH="0" baseline="0">
                        <a:ln>
                          <a:noFill/>
                        </a:ln>
                        <a:solidFill>
                          <a:srgbClr val="000000"/>
                        </a:solidFill>
                        <a:effectLst/>
                        <a:latin typeface="Arial" charset="0"/>
                        <a:ea typeface="宋体" charset="0"/>
                        <a:cs typeface="宋体" charset="0"/>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预测值</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170,000</a:t>
                      </a:r>
                      <a:endParaRPr kumimoji="0" lang="zh-CN" altLang="en-US" sz="2000" b="1" i="0" u="none" strike="noStrike" cap="none" normalizeH="0" baseline="0">
                        <a:ln>
                          <a:noFill/>
                        </a:ln>
                        <a:solidFill>
                          <a:srgbClr val="000000"/>
                        </a:solidFill>
                        <a:effectLst/>
                        <a:latin typeface="Arial" charset="0"/>
                        <a:ea typeface="宋体" charset="0"/>
                        <a:cs typeface="宋体" charset="0"/>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35,000</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3,000</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20,000</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10</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zh-CN">
                <a:latin typeface="Arial" charset="0"/>
                <a:ea typeface="楷体_GB2312" charset="0"/>
                <a:cs typeface="楷体_GB2312" charset="0"/>
              </a:rPr>
              <a:t>1. </a:t>
            </a:r>
            <a:r>
              <a:rPr lang="zh-CN" altLang="en-US">
                <a:latin typeface="Arial" charset="0"/>
                <a:ea typeface="楷体_GB2312" charset="0"/>
                <a:cs typeface="楷体_GB2312" charset="0"/>
              </a:rPr>
              <a:t>单因素敏感性分析实例</a:t>
            </a:r>
          </a:p>
        </p:txBody>
      </p:sp>
      <p:sp>
        <p:nvSpPr>
          <p:cNvPr id="41987" name="Rectangle 3"/>
          <p:cNvSpPr>
            <a:spLocks noGrp="1" noChangeArrowheads="1"/>
          </p:cNvSpPr>
          <p:nvPr>
            <p:ph type="body" sz="half" idx="1"/>
          </p:nvPr>
        </p:nvSpPr>
        <p:spPr>
          <a:xfrm>
            <a:off x="0" y="977900"/>
            <a:ext cx="9144000" cy="5880100"/>
          </a:xfrm>
        </p:spPr>
        <p:txBody>
          <a:bodyPr/>
          <a:lstStyle/>
          <a:p>
            <a:pPr eaLnBrk="1" hangingPunct="1"/>
            <a:endParaRPr lang="en-US" altLang="zh-CN" sz="2000">
              <a:latin typeface="Arial" charset="0"/>
              <a:ea typeface="宋体" charset="0"/>
            </a:endParaRPr>
          </a:p>
          <a:p>
            <a:pPr eaLnBrk="1" hangingPunct="1">
              <a:buFontTx/>
              <a:buNone/>
            </a:pPr>
            <a:r>
              <a:rPr lang="zh-CN" altLang="en-US" sz="2600">
                <a:latin typeface="Arial" charset="0"/>
                <a:ea typeface="宋体" charset="0"/>
              </a:rPr>
              <a:t>	</a:t>
            </a:r>
          </a:p>
          <a:p>
            <a:pPr eaLnBrk="1" hangingPunct="1">
              <a:buFontTx/>
              <a:buNone/>
            </a:pPr>
            <a:r>
              <a:rPr lang="zh-CN" altLang="en-US" sz="2600">
                <a:latin typeface="Arial" charset="0"/>
                <a:ea typeface="宋体" charset="0"/>
              </a:rPr>
              <a:t>         根据公式，使用上表数据，五个因素分别取    </a:t>
            </a:r>
            <a:r>
              <a:rPr lang="en-US" altLang="zh-CN" sz="2600">
                <a:latin typeface="Arial" charset="0"/>
                <a:ea typeface="宋体" charset="0"/>
              </a:rPr>
              <a:t>10%,      </a:t>
            </a:r>
          </a:p>
          <a:p>
            <a:pPr eaLnBrk="1" hangingPunct="1">
              <a:buFontTx/>
              <a:buNone/>
            </a:pPr>
            <a:r>
              <a:rPr lang="en-US" altLang="zh-CN" sz="2600">
                <a:latin typeface="Arial" charset="0"/>
                <a:ea typeface="宋体" charset="0"/>
              </a:rPr>
              <a:t>         20%,      30%</a:t>
            </a:r>
            <a:r>
              <a:rPr lang="zh-CN" altLang="en-US" sz="2600">
                <a:latin typeface="Arial" charset="0"/>
                <a:ea typeface="宋体" charset="0"/>
              </a:rPr>
              <a:t>，计算结果如下所示：</a:t>
            </a:r>
            <a:r>
              <a:rPr lang="zh-CN" altLang="en-US" sz="2400">
                <a:latin typeface="Arial" charset="0"/>
                <a:ea typeface="宋体" charset="0"/>
              </a:rPr>
              <a:t/>
            </a:r>
            <a:br>
              <a:rPr lang="zh-CN" altLang="en-US" sz="2400">
                <a:latin typeface="Arial" charset="0"/>
                <a:ea typeface="宋体" charset="0"/>
              </a:rPr>
            </a:br>
            <a:r>
              <a:rPr lang="zh-CN" altLang="en-US" sz="2400">
                <a:latin typeface="Arial" charset="0"/>
                <a:ea typeface="宋体" charset="0"/>
              </a:rPr>
              <a:t/>
            </a:r>
            <a:br>
              <a:rPr lang="zh-CN" altLang="en-US" sz="2400">
                <a:latin typeface="Arial" charset="0"/>
                <a:ea typeface="宋体" charset="0"/>
              </a:rPr>
            </a:br>
            <a:r>
              <a:rPr lang="zh-CN" altLang="en-US" sz="2400">
                <a:latin typeface="Arial" charset="0"/>
                <a:ea typeface="宋体" charset="0"/>
              </a:rPr>
              <a:t/>
            </a:r>
            <a:br>
              <a:rPr lang="zh-CN" altLang="en-US" sz="2400">
                <a:latin typeface="Arial" charset="0"/>
                <a:ea typeface="宋体" charset="0"/>
              </a:rPr>
            </a:br>
            <a:r>
              <a:rPr lang="zh-CN" altLang="en-US" sz="2400">
                <a:latin typeface="Arial" charset="0"/>
                <a:ea typeface="宋体" charset="0"/>
              </a:rPr>
              <a:t/>
            </a:r>
            <a:br>
              <a:rPr lang="zh-CN" altLang="en-US" sz="2400">
                <a:latin typeface="Arial" charset="0"/>
                <a:ea typeface="宋体" charset="0"/>
              </a:rPr>
            </a:br>
            <a:r>
              <a:rPr lang="zh-CN" altLang="en-US" sz="2400">
                <a:latin typeface="Arial" charset="0"/>
                <a:ea typeface="宋体" charset="0"/>
              </a:rPr>
              <a:t/>
            </a:r>
            <a:br>
              <a:rPr lang="zh-CN" altLang="en-US" sz="2400">
                <a:latin typeface="Arial" charset="0"/>
                <a:ea typeface="宋体" charset="0"/>
              </a:rPr>
            </a:br>
            <a:r>
              <a:rPr lang="zh-CN" altLang="en-US" sz="2800">
                <a:latin typeface="Arial" charset="0"/>
                <a:ea typeface="宋体" charset="0"/>
              </a:rPr>
              <a:t/>
            </a:r>
            <a:br>
              <a:rPr lang="zh-CN" altLang="en-US" sz="2800">
                <a:latin typeface="Arial" charset="0"/>
                <a:ea typeface="宋体" charset="0"/>
              </a:rPr>
            </a:br>
            <a:r>
              <a:rPr lang="zh-CN" altLang="en-US" sz="2800">
                <a:latin typeface="Arial" charset="0"/>
                <a:ea typeface="宋体" charset="0"/>
              </a:rPr>
              <a:t/>
            </a:r>
            <a:br>
              <a:rPr lang="zh-CN" altLang="en-US" sz="2800">
                <a:latin typeface="Arial" charset="0"/>
                <a:ea typeface="宋体" charset="0"/>
              </a:rPr>
            </a:br>
            <a:r>
              <a:rPr lang="zh-CN" altLang="en-US" sz="2800">
                <a:latin typeface="Arial" charset="0"/>
                <a:ea typeface="宋体" charset="0"/>
              </a:rPr>
              <a:t/>
            </a:r>
            <a:br>
              <a:rPr lang="zh-CN" altLang="en-US" sz="2800">
                <a:latin typeface="Arial" charset="0"/>
                <a:ea typeface="宋体" charset="0"/>
              </a:rPr>
            </a:br>
            <a:endParaRPr lang="zh-CN" altLang="en-US" sz="2800">
              <a:latin typeface="Arial" charset="0"/>
              <a:ea typeface="宋体" charset="0"/>
            </a:endParaRPr>
          </a:p>
          <a:p>
            <a:pPr eaLnBrk="1" hangingPunct="1">
              <a:buFontTx/>
              <a:buNone/>
            </a:pPr>
            <a:r>
              <a:rPr lang="zh-CN" altLang="en-US" sz="2400">
                <a:latin typeface="Arial" charset="0"/>
                <a:ea typeface="宋体" charset="0"/>
              </a:rPr>
              <a:t>判断准则：敏感性</a:t>
            </a:r>
            <a:r>
              <a:rPr lang="en-US" altLang="zh-CN" sz="2400">
                <a:latin typeface="Arial" charset="0"/>
                <a:ea typeface="宋体" charset="0"/>
              </a:rPr>
              <a:t>/</a:t>
            </a:r>
            <a:r>
              <a:rPr lang="zh-CN" altLang="en-US" sz="2400">
                <a:latin typeface="Arial" charset="0"/>
                <a:ea typeface="宋体" charset="0"/>
              </a:rPr>
              <a:t>变动幅度</a:t>
            </a:r>
            <a:r>
              <a:rPr lang="en-US" altLang="zh-CN" sz="2400">
                <a:latin typeface="Arial" charset="0"/>
                <a:ea typeface="宋体" charset="0"/>
              </a:rPr>
              <a:t>/</a:t>
            </a:r>
            <a:r>
              <a:rPr lang="zh-CN" altLang="en-US" sz="2400">
                <a:latin typeface="Arial" charset="0"/>
                <a:ea typeface="宋体" charset="0"/>
              </a:rPr>
              <a:t>斜率</a:t>
            </a:r>
          </a:p>
        </p:txBody>
      </p:sp>
      <p:graphicFrame>
        <p:nvGraphicFramePr>
          <p:cNvPr id="41988" name="Object 4"/>
          <p:cNvGraphicFramePr>
            <a:graphicFrameLocks noGrp="1" noChangeAspect="1"/>
          </p:cNvGraphicFramePr>
          <p:nvPr>
            <p:ph sz="quarter" idx="2"/>
          </p:nvPr>
        </p:nvGraphicFramePr>
        <p:xfrm>
          <a:off x="579438" y="2379663"/>
          <a:ext cx="298450" cy="366712"/>
        </p:xfrm>
        <a:graphic>
          <a:graphicData uri="http://schemas.openxmlformats.org/presentationml/2006/ole">
            <mc:AlternateContent xmlns:mc="http://schemas.openxmlformats.org/markup-compatibility/2006">
              <mc:Choice xmlns:v="urn:schemas-microsoft-com:vml" Requires="v">
                <p:oleObj spid="_x0000_s42103" name="Equation" r:id="rId4" imgW="139639" imgH="152334" progId="Equation.3">
                  <p:embed/>
                </p:oleObj>
              </mc:Choice>
              <mc:Fallback>
                <p:oleObj name="Equation" r:id="rId4" imgW="139639" imgH="152334"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438" y="2379663"/>
                        <a:ext cx="298450" cy="3667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graphicFrame>
        <p:nvGraphicFramePr>
          <p:cNvPr id="809989" name="Group 5"/>
          <p:cNvGraphicFramePr>
            <a:graphicFrameLocks noGrp="1"/>
          </p:cNvGraphicFramePr>
          <p:nvPr/>
        </p:nvGraphicFramePr>
        <p:xfrm>
          <a:off x="282575" y="2822575"/>
          <a:ext cx="8632825" cy="2778125"/>
        </p:xfrm>
        <a:graphic>
          <a:graphicData uri="http://schemas.openxmlformats.org/drawingml/2006/table">
            <a:tbl>
              <a:tblPr/>
              <a:tblGrid>
                <a:gridCol w="1098550">
                  <a:extLst>
                    <a:ext uri="{9D8B030D-6E8A-4147-A177-3AD203B41FA5}">
                      <a16:colId xmlns:a16="http://schemas.microsoft.com/office/drawing/2014/main" val="20000"/>
                    </a:ext>
                  </a:extLst>
                </a:gridCol>
                <a:gridCol w="1076325">
                  <a:extLst>
                    <a:ext uri="{9D8B030D-6E8A-4147-A177-3AD203B41FA5}">
                      <a16:colId xmlns:a16="http://schemas.microsoft.com/office/drawing/2014/main" val="20001"/>
                    </a:ext>
                  </a:extLst>
                </a:gridCol>
                <a:gridCol w="1076325">
                  <a:extLst>
                    <a:ext uri="{9D8B030D-6E8A-4147-A177-3AD203B41FA5}">
                      <a16:colId xmlns:a16="http://schemas.microsoft.com/office/drawing/2014/main" val="20002"/>
                    </a:ext>
                  </a:extLst>
                </a:gridCol>
                <a:gridCol w="1076325">
                  <a:extLst>
                    <a:ext uri="{9D8B030D-6E8A-4147-A177-3AD203B41FA5}">
                      <a16:colId xmlns:a16="http://schemas.microsoft.com/office/drawing/2014/main" val="20003"/>
                    </a:ext>
                  </a:extLst>
                </a:gridCol>
                <a:gridCol w="1076325">
                  <a:extLst>
                    <a:ext uri="{9D8B030D-6E8A-4147-A177-3AD203B41FA5}">
                      <a16:colId xmlns:a16="http://schemas.microsoft.com/office/drawing/2014/main" val="20004"/>
                    </a:ext>
                  </a:extLst>
                </a:gridCol>
                <a:gridCol w="1076325">
                  <a:extLst>
                    <a:ext uri="{9D8B030D-6E8A-4147-A177-3AD203B41FA5}">
                      <a16:colId xmlns:a16="http://schemas.microsoft.com/office/drawing/2014/main" val="20005"/>
                    </a:ext>
                  </a:extLst>
                </a:gridCol>
                <a:gridCol w="1076325">
                  <a:extLst>
                    <a:ext uri="{9D8B030D-6E8A-4147-A177-3AD203B41FA5}">
                      <a16:colId xmlns:a16="http://schemas.microsoft.com/office/drawing/2014/main" val="20006"/>
                    </a:ext>
                  </a:extLst>
                </a:gridCol>
                <a:gridCol w="1076325">
                  <a:extLst>
                    <a:ext uri="{9D8B030D-6E8A-4147-A177-3AD203B41FA5}">
                      <a16:colId xmlns:a16="http://schemas.microsoft.com/office/drawing/2014/main" val="20007"/>
                    </a:ext>
                  </a:extLst>
                </a:gridCol>
              </a:tblGrid>
              <a:tr h="396875">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参数</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7">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变动幅度</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9687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-30%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-20%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20%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30%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投资额</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68240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51240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34240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17240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240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-16760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-33760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年收益</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-42085</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-22310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-2535</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17240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37015</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56790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76565</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extLst>
                  <a:ext uri="{0D108BD9-81ED-4DB2-BD59-A6C34878D82A}">
                    <a16:rowId xmlns:a16="http://schemas.microsoft.com/office/drawing/2014/main" val="10003"/>
                  </a:ext>
                </a:extLst>
              </a:tr>
              <a:tr h="396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年支出</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22325</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20630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18935</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17240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15545</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13850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12155</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残值</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15308</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15952</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16596</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17240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17884</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18528</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19172</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extLst>
                  <a:ext uri="{0D108BD9-81ED-4DB2-BD59-A6C34878D82A}">
                    <a16:rowId xmlns:a16="http://schemas.microsoft.com/office/drawing/2014/main" val="10005"/>
                  </a:ext>
                </a:extLst>
              </a:tr>
              <a:tr h="396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寿命期</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-14906</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-2946</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7708</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17240</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25766</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33342</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40152</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42056" name="Object 72"/>
          <p:cNvGraphicFramePr>
            <a:graphicFrameLocks noChangeAspect="1"/>
          </p:cNvGraphicFramePr>
          <p:nvPr/>
        </p:nvGraphicFramePr>
        <p:xfrm>
          <a:off x="282575" y="977900"/>
          <a:ext cx="7675563" cy="442913"/>
        </p:xfrm>
        <a:graphic>
          <a:graphicData uri="http://schemas.openxmlformats.org/presentationml/2006/ole">
            <mc:AlternateContent xmlns:mc="http://schemas.openxmlformats.org/markup-compatibility/2006">
              <mc:Choice xmlns:v="urn:schemas-microsoft-com:vml" Requires="v">
                <p:oleObj spid="_x0000_s42104" name="Equation" r:id="rId6" imgW="3517900" imgH="203200" progId="Equation.3">
                  <p:embed/>
                </p:oleObj>
              </mc:Choice>
              <mc:Fallback>
                <p:oleObj name="Equation" r:id="rId6" imgW="3517900" imgH="203200" progId="Equation.3">
                  <p:embed/>
                  <p:pic>
                    <p:nvPicPr>
                      <p:cNvPr id="0" name="Object 7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2575" y="977900"/>
                        <a:ext cx="7675563" cy="4429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2057" name="Object 73"/>
          <p:cNvGraphicFramePr>
            <a:graphicFrameLocks noChangeAspect="1"/>
          </p:cNvGraphicFramePr>
          <p:nvPr/>
        </p:nvGraphicFramePr>
        <p:xfrm>
          <a:off x="7239000" y="1879600"/>
          <a:ext cx="327025" cy="357188"/>
        </p:xfrm>
        <a:graphic>
          <a:graphicData uri="http://schemas.openxmlformats.org/presentationml/2006/ole">
            <mc:AlternateContent xmlns:mc="http://schemas.openxmlformats.org/markup-compatibility/2006">
              <mc:Choice xmlns:v="urn:schemas-microsoft-com:vml" Requires="v">
                <p:oleObj spid="_x0000_s42105" name="Equation" r:id="rId8" imgW="139639" imgH="152334" progId="Equation.3">
                  <p:embed/>
                </p:oleObj>
              </mc:Choice>
              <mc:Fallback>
                <p:oleObj name="Equation" r:id="rId8" imgW="139639" imgH="152334" progId="Equation.3">
                  <p:embed/>
                  <p:pic>
                    <p:nvPicPr>
                      <p:cNvPr id="0" name="Object 7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9000" y="1879600"/>
                        <a:ext cx="327025" cy="3571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2058" name="Object 74"/>
          <p:cNvGraphicFramePr>
            <a:graphicFrameLocks noGrp="1" noChangeAspect="1"/>
          </p:cNvGraphicFramePr>
          <p:nvPr>
            <p:ph sz="quarter" idx="3"/>
          </p:nvPr>
        </p:nvGraphicFramePr>
        <p:xfrm>
          <a:off x="1863725" y="2379663"/>
          <a:ext cx="298450" cy="366712"/>
        </p:xfrm>
        <a:graphic>
          <a:graphicData uri="http://schemas.openxmlformats.org/presentationml/2006/ole">
            <mc:AlternateContent xmlns:mc="http://schemas.openxmlformats.org/markup-compatibility/2006">
              <mc:Choice xmlns:v="urn:schemas-microsoft-com:vml" Requires="v">
                <p:oleObj spid="_x0000_s42106" name="Equation" r:id="rId9" imgW="139639" imgH="152334" progId="Equation.3">
                  <p:embed/>
                </p:oleObj>
              </mc:Choice>
              <mc:Fallback>
                <p:oleObj name="Equation" r:id="rId9" imgW="139639" imgH="152334" progId="Equation.3">
                  <p:embed/>
                  <p:pic>
                    <p:nvPicPr>
                      <p:cNvPr id="0" name="Object 7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3725" y="2379663"/>
                        <a:ext cx="298450" cy="3667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zh-CN" altLang="en-US">
                <a:solidFill>
                  <a:srgbClr val="000000"/>
                </a:solidFill>
                <a:latin typeface="Arial" charset="0"/>
                <a:ea typeface="楷体_GB2312" charset="0"/>
                <a:cs typeface="楷体_GB2312" charset="0"/>
              </a:rPr>
              <a:t>敏感性分析例题</a:t>
            </a:r>
          </a:p>
        </p:txBody>
      </p:sp>
      <p:sp>
        <p:nvSpPr>
          <p:cNvPr id="44035" name="Rectangle 5"/>
          <p:cNvSpPr>
            <a:spLocks noChangeArrowheads="1"/>
          </p:cNvSpPr>
          <p:nvPr/>
        </p:nvSpPr>
        <p:spPr bwMode="auto">
          <a:xfrm>
            <a:off x="395288" y="908050"/>
            <a:ext cx="8497887" cy="2041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eaLnBrk="1" hangingPunct="1"/>
            <a:r>
              <a:rPr kumimoji="1" lang="zh-CN" altLang="en-US" sz="3200" b="0">
                <a:solidFill>
                  <a:srgbClr val="000000"/>
                </a:solidFill>
                <a:latin typeface="黑体" charset="0"/>
                <a:ea typeface="黑体" charset="0"/>
                <a:cs typeface="黑体" charset="0"/>
              </a:rPr>
              <a:t>设某项目基本方案的基本数据估算值如下表所示，试就年销售收入</a:t>
            </a:r>
            <a:r>
              <a:rPr kumimoji="1" lang="en-US" altLang="zh-CN" sz="3200" b="0">
                <a:solidFill>
                  <a:srgbClr val="000000"/>
                </a:solidFill>
                <a:latin typeface="黑体" charset="0"/>
                <a:ea typeface="黑体" charset="0"/>
                <a:cs typeface="黑体" charset="0"/>
              </a:rPr>
              <a:t>B</a:t>
            </a:r>
            <a:r>
              <a:rPr kumimoji="1" lang="zh-CN" altLang="en-US" sz="3200" b="0">
                <a:solidFill>
                  <a:srgbClr val="000000"/>
                </a:solidFill>
                <a:latin typeface="黑体" charset="0"/>
                <a:ea typeface="黑体" charset="0"/>
                <a:cs typeface="黑体" charset="0"/>
              </a:rPr>
              <a:t>、年经营成本</a:t>
            </a:r>
            <a:r>
              <a:rPr kumimoji="1" lang="en-US" altLang="zh-CN" sz="3200" b="0">
                <a:solidFill>
                  <a:srgbClr val="000000"/>
                </a:solidFill>
                <a:latin typeface="黑体" charset="0"/>
                <a:ea typeface="黑体" charset="0"/>
                <a:cs typeface="黑体" charset="0"/>
              </a:rPr>
              <a:t>C</a:t>
            </a:r>
            <a:r>
              <a:rPr kumimoji="1" lang="zh-CN" altLang="en-US" sz="3200" b="0">
                <a:solidFill>
                  <a:srgbClr val="000000"/>
                </a:solidFill>
                <a:latin typeface="黑体" charset="0"/>
                <a:ea typeface="黑体" charset="0"/>
                <a:cs typeface="黑体" charset="0"/>
              </a:rPr>
              <a:t>和建设投资</a:t>
            </a:r>
            <a:r>
              <a:rPr kumimoji="1" lang="en-US" altLang="zh-CN" sz="3200" b="0">
                <a:solidFill>
                  <a:srgbClr val="000000"/>
                </a:solidFill>
                <a:latin typeface="黑体" charset="0"/>
                <a:ea typeface="黑体" charset="0"/>
                <a:cs typeface="黑体" charset="0"/>
              </a:rPr>
              <a:t>I</a:t>
            </a:r>
            <a:r>
              <a:rPr kumimoji="1" lang="zh-CN" altLang="en-US" sz="3200" b="0">
                <a:solidFill>
                  <a:srgbClr val="000000"/>
                </a:solidFill>
                <a:latin typeface="黑体" charset="0"/>
                <a:ea typeface="黑体" charset="0"/>
                <a:cs typeface="黑体" charset="0"/>
              </a:rPr>
              <a:t>对内部收益率进行单因素敏感性分析（基准收益率</a:t>
            </a:r>
            <a:r>
              <a:rPr kumimoji="1" lang="en-US" altLang="zh-CN" sz="3200" b="0">
                <a:solidFill>
                  <a:srgbClr val="000000"/>
                </a:solidFill>
                <a:latin typeface="黑体" charset="0"/>
                <a:ea typeface="黑体" charset="0"/>
                <a:cs typeface="黑体" charset="0"/>
              </a:rPr>
              <a:t>ic=8%</a:t>
            </a:r>
            <a:r>
              <a:rPr kumimoji="1" lang="zh-CN" altLang="en-US" sz="3200" b="0">
                <a:solidFill>
                  <a:srgbClr val="000000"/>
                </a:solidFill>
                <a:latin typeface="黑体" charset="0"/>
                <a:ea typeface="黑体" charset="0"/>
                <a:cs typeface="黑体" charset="0"/>
              </a:rPr>
              <a:t>）。</a:t>
            </a:r>
            <a:r>
              <a:rPr kumimoji="1" lang="zh-CN" altLang="en-US" sz="3200">
                <a:solidFill>
                  <a:srgbClr val="000000"/>
                </a:solidFill>
                <a:latin typeface="黑体" charset="0"/>
                <a:ea typeface="黑体" charset="0"/>
                <a:cs typeface="黑体" charset="0"/>
              </a:rPr>
              <a:t> </a:t>
            </a:r>
          </a:p>
        </p:txBody>
      </p:sp>
      <p:sp>
        <p:nvSpPr>
          <p:cNvPr id="44036" name="Rectangle 6"/>
          <p:cNvSpPr>
            <a:spLocks noChangeArrowheads="1"/>
          </p:cNvSpPr>
          <p:nvPr/>
        </p:nvSpPr>
        <p:spPr bwMode="auto">
          <a:xfrm>
            <a:off x="1979613" y="3860800"/>
            <a:ext cx="56769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eaLnBrk="1" hangingPunct="1"/>
            <a:r>
              <a:rPr kumimoji="1" lang="zh-CN" altLang="en-US" sz="2400" b="0">
                <a:solidFill>
                  <a:srgbClr val="000000"/>
                </a:solidFill>
                <a:latin typeface="宋体" charset="0"/>
                <a:ea typeface="宋体" charset="0"/>
                <a:cs typeface="Arial" charset="0"/>
              </a:rPr>
              <a:t>基本方案的基本数据估算表 </a:t>
            </a:r>
            <a:r>
              <a:rPr kumimoji="1" lang="zh-CN" altLang="en-US" sz="2400">
                <a:solidFill>
                  <a:srgbClr val="000000"/>
                </a:solidFill>
                <a:ea typeface="黑体" charset="0"/>
                <a:cs typeface="Arial" charset="0"/>
              </a:rPr>
              <a:t>                    </a:t>
            </a:r>
            <a:endParaRPr kumimoji="1" lang="zh-CN" altLang="en-US" sz="2400" b="0">
              <a:solidFill>
                <a:srgbClr val="000000"/>
              </a:solidFill>
              <a:latin typeface="Times New Roman" charset="0"/>
              <a:ea typeface="宋体" charset="0"/>
              <a:cs typeface="宋体" charset="0"/>
            </a:endParaRPr>
          </a:p>
        </p:txBody>
      </p:sp>
      <p:graphicFrame>
        <p:nvGraphicFramePr>
          <p:cNvPr id="915463" name="Group 7"/>
          <p:cNvGraphicFramePr>
            <a:graphicFrameLocks noGrp="1"/>
          </p:cNvGraphicFramePr>
          <p:nvPr/>
        </p:nvGraphicFramePr>
        <p:xfrm>
          <a:off x="0" y="4581525"/>
          <a:ext cx="8820150" cy="1646256"/>
        </p:xfrm>
        <a:graphic>
          <a:graphicData uri="http://schemas.openxmlformats.org/drawingml/2006/table">
            <a:tbl>
              <a:tblPr/>
              <a:tblGrid>
                <a:gridCol w="1470025">
                  <a:extLst>
                    <a:ext uri="{9D8B030D-6E8A-4147-A177-3AD203B41FA5}">
                      <a16:colId xmlns:a16="http://schemas.microsoft.com/office/drawing/2014/main" val="20000"/>
                    </a:ext>
                  </a:extLst>
                </a:gridCol>
                <a:gridCol w="1470025">
                  <a:extLst>
                    <a:ext uri="{9D8B030D-6E8A-4147-A177-3AD203B41FA5}">
                      <a16:colId xmlns:a16="http://schemas.microsoft.com/office/drawing/2014/main" val="20001"/>
                    </a:ext>
                  </a:extLst>
                </a:gridCol>
                <a:gridCol w="1470025">
                  <a:extLst>
                    <a:ext uri="{9D8B030D-6E8A-4147-A177-3AD203B41FA5}">
                      <a16:colId xmlns:a16="http://schemas.microsoft.com/office/drawing/2014/main" val="20002"/>
                    </a:ext>
                  </a:extLst>
                </a:gridCol>
                <a:gridCol w="1470025">
                  <a:extLst>
                    <a:ext uri="{9D8B030D-6E8A-4147-A177-3AD203B41FA5}">
                      <a16:colId xmlns:a16="http://schemas.microsoft.com/office/drawing/2014/main" val="20003"/>
                    </a:ext>
                  </a:extLst>
                </a:gridCol>
                <a:gridCol w="1470025">
                  <a:extLst>
                    <a:ext uri="{9D8B030D-6E8A-4147-A177-3AD203B41FA5}">
                      <a16:colId xmlns:a16="http://schemas.microsoft.com/office/drawing/2014/main" val="20004"/>
                    </a:ext>
                  </a:extLst>
                </a:gridCol>
                <a:gridCol w="1470025">
                  <a:extLst>
                    <a:ext uri="{9D8B030D-6E8A-4147-A177-3AD203B41FA5}">
                      <a16:colId xmlns:a16="http://schemas.microsoft.com/office/drawing/2014/main" val="20005"/>
                    </a:ext>
                  </a:extLst>
                </a:gridCol>
              </a:tblGrid>
              <a:tr h="11890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rgbClr val="000000"/>
                        </a:solidFill>
                        <a:effectLst/>
                        <a:latin typeface="Arial" charset="0"/>
                        <a:ea typeface="宋体" charset="0"/>
                        <a:cs typeface="Arial"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Arial" charset="0"/>
                          <a:ea typeface="宋体" charset="0"/>
                          <a:cs typeface="Arial" charset="0"/>
                        </a:rPr>
                        <a:t>因素</a:t>
                      </a: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Arial" charset="0"/>
                          <a:ea typeface="宋体" charset="0"/>
                          <a:cs typeface="Arial" charset="0"/>
                        </a:rPr>
                        <a:t>建设投资</a:t>
                      </a:r>
                      <a:endParaRPr kumimoji="0" lang="zh-CN" altLang="en-US" sz="2400" b="1" i="0" u="none" strike="noStrike" cap="none" normalizeH="0" baseline="0">
                        <a:ln>
                          <a:noFill/>
                        </a:ln>
                        <a:solidFill>
                          <a:srgbClr val="000000"/>
                        </a:solidFill>
                        <a:effectLst/>
                        <a:latin typeface="黑体" charset="0"/>
                        <a:ea typeface="宋体" charset="0"/>
                        <a:cs typeface="Times New Roman"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rgbClr val="000000"/>
                          </a:solidFill>
                          <a:effectLst/>
                          <a:latin typeface="Arial" charset="0"/>
                          <a:ea typeface="宋体" charset="0"/>
                          <a:cs typeface="Arial" charset="0"/>
                        </a:rPr>
                        <a:t>I</a:t>
                      </a:r>
                      <a:r>
                        <a:rPr kumimoji="0" lang="en-US" altLang="zh-CN" sz="2400" b="1" i="0" u="none" strike="noStrike" cap="none" normalizeH="0" baseline="0">
                          <a:ln>
                            <a:noFill/>
                          </a:ln>
                          <a:solidFill>
                            <a:srgbClr val="000000"/>
                          </a:solidFill>
                          <a:effectLst/>
                          <a:latin typeface="Arial" charset="0"/>
                          <a:ea typeface="宋体" charset="0"/>
                          <a:cs typeface="Arial" charset="0"/>
                        </a:rPr>
                        <a:t>(</a:t>
                      </a:r>
                      <a:r>
                        <a:rPr kumimoji="0" lang="zh-CN" altLang="en-US" sz="2400" b="1" i="0" u="none" strike="noStrike" cap="none" normalizeH="0" baseline="0">
                          <a:ln>
                            <a:noFill/>
                          </a:ln>
                          <a:solidFill>
                            <a:srgbClr val="000000"/>
                          </a:solidFill>
                          <a:effectLst/>
                          <a:latin typeface="Arial" charset="0"/>
                          <a:ea typeface="宋体" charset="0"/>
                          <a:cs typeface="Arial" charset="0"/>
                        </a:rPr>
                        <a:t>万元</a:t>
                      </a:r>
                      <a:r>
                        <a:rPr kumimoji="0" lang="en-US" altLang="zh-CN" sz="2400" b="1" i="0" u="none" strike="noStrike" cap="none" normalizeH="0" baseline="0">
                          <a:ln>
                            <a:noFill/>
                          </a:ln>
                          <a:solidFill>
                            <a:srgbClr val="000000"/>
                          </a:solidFill>
                          <a:effectLst/>
                          <a:latin typeface="Arial" charset="0"/>
                          <a:ea typeface="宋体" charset="0"/>
                          <a:cs typeface="Arial" charset="0"/>
                        </a:rPr>
                        <a:t>)</a:t>
                      </a:r>
                      <a:endParaRPr kumimoji="0" lang="en-US" altLang="zh-CN" sz="2400" b="1" i="0" u="none" strike="noStrike" cap="none" normalizeH="0" baseline="0">
                        <a:ln>
                          <a:noFill/>
                        </a:ln>
                        <a:solidFill>
                          <a:srgbClr val="000000"/>
                        </a:solidFill>
                        <a:effectLst/>
                        <a:latin typeface="Arial" charset="0"/>
                        <a:ea typeface="宋体" charset="0"/>
                        <a:cs typeface="宋体"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Arial" charset="0"/>
                          <a:ea typeface="宋体" charset="0"/>
                          <a:cs typeface="Arial" charset="0"/>
                        </a:rPr>
                        <a:t>年销售收入</a:t>
                      </a:r>
                      <a:endParaRPr kumimoji="0" lang="zh-CN" altLang="en-US" sz="2400" b="1" i="0" u="none" strike="noStrike" cap="none" normalizeH="0" baseline="0">
                        <a:ln>
                          <a:noFill/>
                        </a:ln>
                        <a:solidFill>
                          <a:srgbClr val="000000"/>
                        </a:solidFill>
                        <a:effectLst/>
                        <a:latin typeface="黑体" charset="0"/>
                        <a:ea typeface="宋体" charset="0"/>
                        <a:cs typeface="Times New Roman"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rgbClr val="000000"/>
                          </a:solidFill>
                          <a:effectLst/>
                          <a:latin typeface="Arial" charset="0"/>
                          <a:ea typeface="宋体" charset="0"/>
                          <a:cs typeface="Arial" charset="0"/>
                        </a:rPr>
                        <a:t>B</a:t>
                      </a:r>
                      <a:r>
                        <a:rPr kumimoji="0" lang="en-US" altLang="zh-CN" sz="2400" b="1" i="0" u="none" strike="noStrike" cap="none" normalizeH="0" baseline="0">
                          <a:ln>
                            <a:noFill/>
                          </a:ln>
                          <a:solidFill>
                            <a:srgbClr val="000000"/>
                          </a:solidFill>
                          <a:effectLst/>
                          <a:latin typeface="Arial" charset="0"/>
                          <a:ea typeface="宋体" charset="0"/>
                          <a:cs typeface="Arial" charset="0"/>
                        </a:rPr>
                        <a:t>(</a:t>
                      </a:r>
                      <a:r>
                        <a:rPr kumimoji="0" lang="zh-CN" altLang="en-US" sz="2400" b="1" i="0" u="none" strike="noStrike" cap="none" normalizeH="0" baseline="0">
                          <a:ln>
                            <a:noFill/>
                          </a:ln>
                          <a:solidFill>
                            <a:srgbClr val="000000"/>
                          </a:solidFill>
                          <a:effectLst/>
                          <a:latin typeface="Arial" charset="0"/>
                          <a:ea typeface="宋体" charset="0"/>
                          <a:cs typeface="Arial" charset="0"/>
                        </a:rPr>
                        <a:t>万元</a:t>
                      </a:r>
                      <a:r>
                        <a:rPr kumimoji="0" lang="en-US" altLang="zh-CN" sz="2400" b="1" i="0" u="none" strike="noStrike" cap="none" normalizeH="0" baseline="0">
                          <a:ln>
                            <a:noFill/>
                          </a:ln>
                          <a:solidFill>
                            <a:srgbClr val="000000"/>
                          </a:solidFill>
                          <a:effectLst/>
                          <a:latin typeface="Arial" charset="0"/>
                          <a:ea typeface="宋体" charset="0"/>
                          <a:cs typeface="Arial" charset="0"/>
                        </a:rPr>
                        <a:t>)</a:t>
                      </a:r>
                      <a:endParaRPr kumimoji="0" lang="en-US" altLang="zh-CN" sz="2400" b="1" i="0" u="none" strike="noStrike" cap="none" normalizeH="0" baseline="0">
                        <a:ln>
                          <a:noFill/>
                        </a:ln>
                        <a:solidFill>
                          <a:srgbClr val="000000"/>
                        </a:solidFill>
                        <a:effectLst/>
                        <a:latin typeface="Arial" charset="0"/>
                        <a:ea typeface="宋体" charset="0"/>
                        <a:cs typeface="宋体"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Arial" charset="0"/>
                          <a:ea typeface="宋体" charset="0"/>
                          <a:cs typeface="Arial" charset="0"/>
                        </a:rPr>
                        <a:t>年经营成本</a:t>
                      </a:r>
                      <a:endParaRPr kumimoji="0" lang="zh-CN" altLang="en-US" sz="2400" b="1" i="0" u="none" strike="noStrike" cap="none" normalizeH="0" baseline="0">
                        <a:ln>
                          <a:noFill/>
                        </a:ln>
                        <a:solidFill>
                          <a:srgbClr val="000000"/>
                        </a:solidFill>
                        <a:effectLst/>
                        <a:latin typeface="黑体" charset="0"/>
                        <a:ea typeface="宋体" charset="0"/>
                        <a:cs typeface="Times New Roman"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rgbClr val="000000"/>
                          </a:solidFill>
                          <a:effectLst/>
                          <a:latin typeface="Arial" charset="0"/>
                          <a:ea typeface="宋体" charset="0"/>
                          <a:cs typeface="Arial" charset="0"/>
                        </a:rPr>
                        <a:t>C</a:t>
                      </a:r>
                      <a:r>
                        <a:rPr kumimoji="0" lang="en-US" altLang="zh-CN" sz="2400" b="1" i="0" u="none" strike="noStrike" cap="none" normalizeH="0" baseline="0">
                          <a:ln>
                            <a:noFill/>
                          </a:ln>
                          <a:solidFill>
                            <a:srgbClr val="000000"/>
                          </a:solidFill>
                          <a:effectLst/>
                          <a:latin typeface="Arial" charset="0"/>
                          <a:ea typeface="宋体" charset="0"/>
                          <a:cs typeface="Arial" charset="0"/>
                        </a:rPr>
                        <a:t>(</a:t>
                      </a:r>
                      <a:r>
                        <a:rPr kumimoji="0" lang="zh-CN" altLang="en-US" sz="2400" b="1" i="0" u="none" strike="noStrike" cap="none" normalizeH="0" baseline="0">
                          <a:ln>
                            <a:noFill/>
                          </a:ln>
                          <a:solidFill>
                            <a:srgbClr val="000000"/>
                          </a:solidFill>
                          <a:effectLst/>
                          <a:latin typeface="Arial" charset="0"/>
                          <a:ea typeface="宋体" charset="0"/>
                          <a:cs typeface="Arial" charset="0"/>
                        </a:rPr>
                        <a:t>万元</a:t>
                      </a:r>
                      <a:r>
                        <a:rPr kumimoji="0" lang="en-US" altLang="zh-CN" sz="2400" b="1" i="0" u="none" strike="noStrike" cap="none" normalizeH="0" baseline="0">
                          <a:ln>
                            <a:noFill/>
                          </a:ln>
                          <a:solidFill>
                            <a:srgbClr val="000000"/>
                          </a:solidFill>
                          <a:effectLst/>
                          <a:latin typeface="Arial" charset="0"/>
                          <a:ea typeface="宋体" charset="0"/>
                          <a:cs typeface="Arial" charset="0"/>
                        </a:rPr>
                        <a:t>)</a:t>
                      </a:r>
                      <a:endParaRPr kumimoji="0" lang="en-US" altLang="zh-CN" sz="2400" b="1" i="0" u="none" strike="noStrike" cap="none" normalizeH="0" baseline="0">
                        <a:ln>
                          <a:noFill/>
                        </a:ln>
                        <a:solidFill>
                          <a:srgbClr val="000000"/>
                        </a:solidFill>
                        <a:effectLst/>
                        <a:latin typeface="Arial" charset="0"/>
                        <a:ea typeface="宋体" charset="0"/>
                        <a:cs typeface="宋体"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Arial" charset="0"/>
                          <a:ea typeface="宋体" charset="0"/>
                          <a:cs typeface="Arial" charset="0"/>
                        </a:rPr>
                        <a:t>期末残值</a:t>
                      </a:r>
                      <a:endParaRPr kumimoji="0" lang="zh-CN" altLang="en-US" sz="2400" b="1" i="0" u="none" strike="noStrike" cap="none" normalizeH="0" baseline="0">
                        <a:ln>
                          <a:noFill/>
                        </a:ln>
                        <a:solidFill>
                          <a:srgbClr val="000000"/>
                        </a:solidFill>
                        <a:effectLst/>
                        <a:latin typeface="黑体" charset="0"/>
                        <a:ea typeface="宋体" charset="0"/>
                        <a:cs typeface="Times New Roman"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rgbClr val="000000"/>
                          </a:solidFill>
                          <a:effectLst/>
                          <a:latin typeface="Arial" charset="0"/>
                          <a:ea typeface="宋体" charset="0"/>
                          <a:cs typeface="Arial" charset="0"/>
                        </a:rPr>
                        <a:t>L</a:t>
                      </a:r>
                      <a:r>
                        <a:rPr kumimoji="0" lang="en-US" altLang="zh-CN" sz="2400" b="1" i="0" u="none" strike="noStrike" cap="none" normalizeH="0" baseline="0">
                          <a:ln>
                            <a:noFill/>
                          </a:ln>
                          <a:solidFill>
                            <a:srgbClr val="000000"/>
                          </a:solidFill>
                          <a:effectLst/>
                          <a:latin typeface="Arial" charset="0"/>
                          <a:ea typeface="宋体" charset="0"/>
                          <a:cs typeface="Arial" charset="0"/>
                        </a:rPr>
                        <a:t>(</a:t>
                      </a:r>
                      <a:r>
                        <a:rPr kumimoji="0" lang="zh-CN" altLang="en-US" sz="2400" b="1" i="0" u="none" strike="noStrike" cap="none" normalizeH="0" baseline="0">
                          <a:ln>
                            <a:noFill/>
                          </a:ln>
                          <a:solidFill>
                            <a:srgbClr val="000000"/>
                          </a:solidFill>
                          <a:effectLst/>
                          <a:latin typeface="Arial" charset="0"/>
                          <a:ea typeface="宋体" charset="0"/>
                          <a:cs typeface="Arial" charset="0"/>
                        </a:rPr>
                        <a:t>万元</a:t>
                      </a:r>
                      <a:r>
                        <a:rPr kumimoji="0" lang="en-US" altLang="zh-CN" sz="2400" b="1" i="0" u="none" strike="noStrike" cap="none" normalizeH="0" baseline="0">
                          <a:ln>
                            <a:noFill/>
                          </a:ln>
                          <a:solidFill>
                            <a:srgbClr val="000000"/>
                          </a:solidFill>
                          <a:effectLst/>
                          <a:latin typeface="Arial" charset="0"/>
                          <a:ea typeface="宋体" charset="0"/>
                          <a:cs typeface="Arial" charset="0"/>
                        </a:rPr>
                        <a:t>)</a:t>
                      </a:r>
                      <a:endParaRPr kumimoji="0" lang="en-US" altLang="zh-CN" sz="2400" b="1" i="0" u="none" strike="noStrike" cap="none" normalizeH="0" baseline="0">
                        <a:ln>
                          <a:noFill/>
                        </a:ln>
                        <a:solidFill>
                          <a:srgbClr val="000000"/>
                        </a:solidFill>
                        <a:effectLst/>
                        <a:latin typeface="Arial" charset="0"/>
                        <a:ea typeface="宋体" charset="0"/>
                        <a:cs typeface="宋体"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Arial" charset="0"/>
                          <a:ea typeface="宋体" charset="0"/>
                          <a:cs typeface="Arial" charset="0"/>
                        </a:rPr>
                        <a:t>寿命</a:t>
                      </a:r>
                      <a:endParaRPr kumimoji="0" lang="zh-CN" altLang="en-US" sz="2400" b="1" i="0" u="none" strike="noStrike" cap="none" normalizeH="0" baseline="0">
                        <a:ln>
                          <a:noFill/>
                        </a:ln>
                        <a:solidFill>
                          <a:srgbClr val="000000"/>
                        </a:solidFill>
                        <a:effectLst/>
                        <a:latin typeface="黑体" charset="0"/>
                        <a:ea typeface="宋体" charset="0"/>
                        <a:cs typeface="Times New Roman"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rgbClr val="000000"/>
                          </a:solidFill>
                          <a:effectLst/>
                          <a:latin typeface="Arial" charset="0"/>
                          <a:ea typeface="宋体" charset="0"/>
                          <a:cs typeface="Arial" charset="0"/>
                        </a:rPr>
                        <a:t>n</a:t>
                      </a:r>
                      <a:r>
                        <a:rPr kumimoji="0" lang="en-US" altLang="zh-CN" sz="2400" b="1" i="0" u="none" strike="noStrike" cap="none" normalizeH="0" baseline="0">
                          <a:ln>
                            <a:noFill/>
                          </a:ln>
                          <a:solidFill>
                            <a:srgbClr val="000000"/>
                          </a:solidFill>
                          <a:effectLst/>
                          <a:latin typeface="Arial" charset="0"/>
                          <a:ea typeface="宋体" charset="0"/>
                          <a:cs typeface="Arial" charset="0"/>
                        </a:rPr>
                        <a:t>(</a:t>
                      </a:r>
                      <a:r>
                        <a:rPr kumimoji="0" lang="zh-CN" altLang="en-US" sz="2400" b="1" i="0" u="none" strike="noStrike" cap="none" normalizeH="0" baseline="0">
                          <a:ln>
                            <a:noFill/>
                          </a:ln>
                          <a:solidFill>
                            <a:srgbClr val="000000"/>
                          </a:solidFill>
                          <a:effectLst/>
                          <a:latin typeface="Arial" charset="0"/>
                          <a:ea typeface="宋体" charset="0"/>
                          <a:cs typeface="Arial" charset="0"/>
                        </a:rPr>
                        <a:t>年</a:t>
                      </a:r>
                      <a:r>
                        <a:rPr kumimoji="0" lang="en-US" altLang="zh-CN" sz="2400" b="1" i="0" u="none" strike="noStrike" cap="none" normalizeH="0" baseline="0">
                          <a:ln>
                            <a:noFill/>
                          </a:ln>
                          <a:solidFill>
                            <a:srgbClr val="000000"/>
                          </a:solidFill>
                          <a:effectLst/>
                          <a:latin typeface="Arial" charset="0"/>
                          <a:ea typeface="宋体" charset="0"/>
                          <a:cs typeface="Arial" charset="0"/>
                        </a:rPr>
                        <a:t>)</a:t>
                      </a:r>
                      <a:endParaRPr kumimoji="0" lang="en-US" altLang="zh-CN" sz="2400" b="1" i="0" u="none" strike="noStrike" cap="none" normalizeH="0" baseline="0">
                        <a:ln>
                          <a:noFill/>
                        </a:ln>
                        <a:solidFill>
                          <a:srgbClr val="000000"/>
                        </a:solidFill>
                        <a:effectLst/>
                        <a:latin typeface="Arial" charset="0"/>
                        <a:ea typeface="宋体" charset="0"/>
                        <a:cs typeface="宋体" charset="0"/>
                      </a:endParaRPr>
                    </a:p>
                  </a:txBody>
                  <a:tcPr marT="45729" marB="45729"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Arial" charset="0"/>
                          <a:ea typeface="宋体" charset="0"/>
                          <a:cs typeface="Arial" charset="0"/>
                        </a:rPr>
                        <a:t>估算值</a:t>
                      </a:r>
                    </a:p>
                  </a:txBody>
                  <a:tcPr marT="45729" marB="45729"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Arial" charset="0"/>
                          <a:ea typeface="宋体" charset="0"/>
                          <a:cs typeface="Arial" charset="0"/>
                        </a:rPr>
                        <a:t>1500</a:t>
                      </a: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Arial" charset="0"/>
                          <a:ea typeface="宋体" charset="0"/>
                          <a:cs typeface="Arial" charset="0"/>
                        </a:rPr>
                        <a:t>600</a:t>
                      </a: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Arial" charset="0"/>
                          <a:ea typeface="宋体" charset="0"/>
                          <a:cs typeface="Arial" charset="0"/>
                        </a:rPr>
                        <a:t>250</a:t>
                      </a: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Arial" charset="0"/>
                          <a:ea typeface="宋体" charset="0"/>
                          <a:cs typeface="Arial" charset="0"/>
                        </a:rPr>
                        <a:t>200</a:t>
                      </a: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Arial" charset="0"/>
                          <a:ea typeface="宋体" charset="0"/>
                          <a:cs typeface="Arial" charset="0"/>
                        </a:rPr>
                        <a:t>6</a:t>
                      </a:r>
                    </a:p>
                  </a:txBody>
                  <a:tcPr marT="45729" marB="45729"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zh-CN" altLang="en-US">
                <a:solidFill>
                  <a:srgbClr val="000000"/>
                </a:solidFill>
                <a:latin typeface="Arial" charset="0"/>
                <a:ea typeface="楷体_GB2312" charset="0"/>
                <a:cs typeface="楷体_GB2312" charset="0"/>
              </a:rPr>
              <a:t>敏感性分析例题</a:t>
            </a:r>
          </a:p>
        </p:txBody>
      </p:sp>
      <p:graphicFrame>
        <p:nvGraphicFramePr>
          <p:cNvPr id="45059" name="Object 5"/>
          <p:cNvGraphicFramePr>
            <a:graphicFrameLocks noChangeAspect="1"/>
          </p:cNvGraphicFramePr>
          <p:nvPr/>
        </p:nvGraphicFramePr>
        <p:xfrm>
          <a:off x="395288" y="1557338"/>
          <a:ext cx="8353425" cy="1811337"/>
        </p:xfrm>
        <a:graphic>
          <a:graphicData uri="http://schemas.openxmlformats.org/presentationml/2006/ole">
            <mc:AlternateContent xmlns:mc="http://schemas.openxmlformats.org/markup-compatibility/2006">
              <mc:Choice xmlns:v="urn:schemas-microsoft-com:vml" Requires="v">
                <p:oleObj spid="_x0000_s45085" name="公式" r:id="rId3" imgW="4089400" imgH="889000" progId="Equation.3">
                  <p:embed/>
                </p:oleObj>
              </mc:Choice>
              <mc:Fallback>
                <p:oleObj name="公式" r:id="rId3" imgW="4089400" imgH="8890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1557338"/>
                        <a:ext cx="8353425" cy="18113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graphicFrame>
        <p:nvGraphicFramePr>
          <p:cNvPr id="45060" name="Object 6"/>
          <p:cNvGraphicFramePr>
            <a:graphicFrameLocks noChangeAspect="1"/>
          </p:cNvGraphicFramePr>
          <p:nvPr/>
        </p:nvGraphicFramePr>
        <p:xfrm>
          <a:off x="1619250" y="5880100"/>
          <a:ext cx="6624638" cy="977900"/>
        </p:xfrm>
        <a:graphic>
          <a:graphicData uri="http://schemas.openxmlformats.org/presentationml/2006/ole">
            <mc:AlternateContent xmlns:mc="http://schemas.openxmlformats.org/markup-compatibility/2006">
              <mc:Choice xmlns:v="urn:schemas-microsoft-com:vml" Requires="v">
                <p:oleObj spid="_x0000_s45086" name="公式" r:id="rId5" imgW="2717800" imgH="393700" progId="Equation.3">
                  <p:embed/>
                </p:oleObj>
              </mc:Choice>
              <mc:Fallback>
                <p:oleObj name="公式" r:id="rId5" imgW="2717800" imgH="3937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5880100"/>
                        <a:ext cx="6624638" cy="977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45061" name="Rectangle 7"/>
          <p:cNvSpPr>
            <a:spLocks noChangeArrowheads="1"/>
          </p:cNvSpPr>
          <p:nvPr/>
        </p:nvSpPr>
        <p:spPr bwMode="auto">
          <a:xfrm>
            <a:off x="468313" y="877888"/>
            <a:ext cx="5973762" cy="519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eaLnBrk="1" hangingPunct="1"/>
            <a:r>
              <a:rPr kumimoji="1" lang="zh-CN" altLang="en-US" sz="2800" b="0">
                <a:solidFill>
                  <a:srgbClr val="000000"/>
                </a:solidFill>
                <a:ea typeface="宋体" charset="0"/>
                <a:cs typeface="Arial" charset="0"/>
              </a:rPr>
              <a:t>（</a:t>
            </a:r>
            <a:r>
              <a:rPr kumimoji="1" lang="en-US" altLang="zh-CN" sz="2800" b="0">
                <a:solidFill>
                  <a:srgbClr val="000000"/>
                </a:solidFill>
                <a:ea typeface="宋体" charset="0"/>
                <a:cs typeface="Arial" charset="0"/>
              </a:rPr>
              <a:t>1</a:t>
            </a:r>
            <a:r>
              <a:rPr kumimoji="1" lang="zh-CN" altLang="en-US" sz="2800" b="0">
                <a:solidFill>
                  <a:srgbClr val="000000"/>
                </a:solidFill>
                <a:ea typeface="宋体" charset="0"/>
                <a:cs typeface="Arial" charset="0"/>
              </a:rPr>
              <a:t>）计算基本方案的内部益率</a:t>
            </a:r>
            <a:r>
              <a:rPr kumimoji="1" lang="en-US" altLang="zh-CN" sz="2800" b="0">
                <a:solidFill>
                  <a:srgbClr val="000000"/>
                </a:solidFill>
                <a:ea typeface="宋体" charset="0"/>
                <a:cs typeface="Arial" charset="0"/>
              </a:rPr>
              <a:t>IRR</a:t>
            </a:r>
            <a:r>
              <a:rPr kumimoji="1" lang="zh-CN" altLang="en-US" sz="2800" b="0">
                <a:solidFill>
                  <a:srgbClr val="000000"/>
                </a:solidFill>
                <a:ea typeface="宋体" charset="0"/>
                <a:cs typeface="Arial" charset="0"/>
              </a:rPr>
              <a:t>：</a:t>
            </a:r>
            <a:endParaRPr kumimoji="1" lang="zh-CN" altLang="en-US" sz="2800" b="0">
              <a:solidFill>
                <a:srgbClr val="000000"/>
              </a:solidFill>
              <a:latin typeface="Times New Roman" charset="0"/>
              <a:ea typeface="宋体" charset="0"/>
              <a:cs typeface="Arial" charset="0"/>
            </a:endParaRPr>
          </a:p>
        </p:txBody>
      </p:sp>
      <p:sp>
        <p:nvSpPr>
          <p:cNvPr id="45062" name="Rectangle 8"/>
          <p:cNvSpPr>
            <a:spLocks noChangeArrowheads="1"/>
          </p:cNvSpPr>
          <p:nvPr/>
        </p:nvSpPr>
        <p:spPr bwMode="auto">
          <a:xfrm>
            <a:off x="468313" y="3375025"/>
            <a:ext cx="6408737" cy="2143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eaLnBrk="1" hangingPunct="1">
              <a:lnSpc>
                <a:spcPct val="120000"/>
              </a:lnSpc>
            </a:pPr>
            <a:r>
              <a:rPr kumimoji="1" lang="zh-CN" altLang="en-US" sz="2800" b="0">
                <a:solidFill>
                  <a:srgbClr val="000000"/>
                </a:solidFill>
                <a:ea typeface="宋体" charset="0"/>
                <a:cs typeface="Arial" charset="0"/>
              </a:rPr>
              <a:t>采用试算法得</a:t>
            </a:r>
            <a:r>
              <a:rPr kumimoji="1" lang="en-US" altLang="zh-CN" sz="2800" b="0">
                <a:solidFill>
                  <a:srgbClr val="000000"/>
                </a:solidFill>
                <a:ea typeface="宋体" charset="0"/>
                <a:cs typeface="Arial" charset="0"/>
              </a:rPr>
              <a:t>:     </a:t>
            </a:r>
            <a:endParaRPr kumimoji="1" lang="en-US" altLang="zh-CN" sz="2800" b="0">
              <a:solidFill>
                <a:srgbClr val="000000"/>
              </a:solidFill>
              <a:latin typeface="黑体" charset="0"/>
              <a:ea typeface="黑体" charset="0"/>
              <a:cs typeface="Arial" charset="0"/>
            </a:endParaRPr>
          </a:p>
          <a:p>
            <a:pPr>
              <a:lnSpc>
                <a:spcPct val="120000"/>
              </a:lnSpc>
            </a:pPr>
            <a:r>
              <a:rPr kumimoji="1" lang="en-US" altLang="zh-CN" sz="2800" b="0">
                <a:solidFill>
                  <a:srgbClr val="000000"/>
                </a:solidFill>
                <a:ea typeface="宋体" charset="0"/>
                <a:cs typeface="Arial" charset="0"/>
              </a:rPr>
              <a:t>    </a:t>
            </a:r>
            <a:r>
              <a:rPr kumimoji="1" lang="en-US" altLang="zh-CN" sz="2800" b="0" i="1">
                <a:solidFill>
                  <a:srgbClr val="000000"/>
                </a:solidFill>
                <a:ea typeface="宋体" charset="0"/>
                <a:cs typeface="Arial" charset="0"/>
              </a:rPr>
              <a:t>NPV</a:t>
            </a:r>
            <a:r>
              <a:rPr kumimoji="1" lang="en-US" altLang="zh-CN" sz="2800" b="0">
                <a:solidFill>
                  <a:srgbClr val="000000"/>
                </a:solidFill>
                <a:ea typeface="宋体" charset="0"/>
                <a:cs typeface="Arial" charset="0"/>
              </a:rPr>
              <a:t>(i=8%)=31.08</a:t>
            </a:r>
            <a:r>
              <a:rPr kumimoji="1" lang="zh-CN" altLang="en-US" sz="2800" b="0">
                <a:solidFill>
                  <a:srgbClr val="000000"/>
                </a:solidFill>
                <a:ea typeface="宋体" charset="0"/>
                <a:cs typeface="Arial" charset="0"/>
              </a:rPr>
              <a:t>（万元）</a:t>
            </a:r>
            <a:r>
              <a:rPr kumimoji="1" lang="zh-CN" altLang="en-US" sz="2800" b="0">
                <a:solidFill>
                  <a:srgbClr val="000000"/>
                </a:solidFill>
                <a:ea typeface="宋体" charset="0"/>
                <a:cs typeface="Arial" charset="0"/>
                <a:sym typeface="Symbol" charset="0"/>
              </a:rPr>
              <a:t></a:t>
            </a:r>
            <a:r>
              <a:rPr kumimoji="1" lang="en-US" altLang="zh-CN" sz="2800" b="0">
                <a:solidFill>
                  <a:srgbClr val="000000"/>
                </a:solidFill>
                <a:ea typeface="宋体" charset="0"/>
                <a:cs typeface="Arial" charset="0"/>
              </a:rPr>
              <a:t>0</a:t>
            </a:r>
            <a:r>
              <a:rPr kumimoji="1" lang="zh-CN" altLang="en-US" sz="2800" b="0">
                <a:solidFill>
                  <a:srgbClr val="000000"/>
                </a:solidFill>
                <a:ea typeface="宋体" charset="0"/>
                <a:cs typeface="Arial" charset="0"/>
                <a:sym typeface="Symbol" charset="0"/>
              </a:rPr>
              <a:t>，</a:t>
            </a:r>
            <a:endParaRPr kumimoji="1" lang="zh-CN" altLang="en-US" sz="2800" b="0">
              <a:solidFill>
                <a:srgbClr val="000000"/>
              </a:solidFill>
              <a:latin typeface="黑体" charset="0"/>
              <a:ea typeface="黑体" charset="0"/>
              <a:cs typeface="黑体" charset="0"/>
              <a:sym typeface="Symbol" charset="0"/>
            </a:endParaRPr>
          </a:p>
          <a:p>
            <a:pPr>
              <a:lnSpc>
                <a:spcPct val="120000"/>
              </a:lnSpc>
            </a:pPr>
            <a:r>
              <a:rPr kumimoji="1" lang="zh-CN" altLang="en-US" sz="2800" b="0">
                <a:solidFill>
                  <a:srgbClr val="000000"/>
                </a:solidFill>
                <a:ea typeface="宋体" charset="0"/>
                <a:cs typeface="宋体" charset="0"/>
                <a:sym typeface="Symbol" charset="0"/>
              </a:rPr>
              <a:t>    </a:t>
            </a:r>
            <a:r>
              <a:rPr kumimoji="1" lang="en-US" altLang="zh-CN" sz="2800" b="0" i="1">
                <a:solidFill>
                  <a:srgbClr val="000000"/>
                </a:solidFill>
                <a:ea typeface="宋体" charset="0"/>
                <a:cs typeface="宋体" charset="0"/>
                <a:sym typeface="Symbol" charset="0"/>
              </a:rPr>
              <a:t>NPV</a:t>
            </a:r>
            <a:r>
              <a:rPr kumimoji="1" lang="en-US" altLang="zh-CN" sz="2800" b="0">
                <a:solidFill>
                  <a:srgbClr val="000000"/>
                </a:solidFill>
                <a:ea typeface="宋体" charset="0"/>
                <a:cs typeface="宋体" charset="0"/>
                <a:sym typeface="Symbol" charset="0"/>
              </a:rPr>
              <a:t>(i=9%)=</a:t>
            </a:r>
            <a:r>
              <a:rPr kumimoji="1" lang="zh-CN" altLang="en-US" sz="2800" b="0">
                <a:solidFill>
                  <a:srgbClr val="000000"/>
                </a:solidFill>
                <a:ea typeface="宋体" charset="0"/>
                <a:cs typeface="宋体" charset="0"/>
                <a:sym typeface="Symbol" charset="0"/>
              </a:rPr>
              <a:t>－</a:t>
            </a:r>
            <a:r>
              <a:rPr kumimoji="1" lang="en-US" altLang="zh-CN" sz="2800" b="0">
                <a:solidFill>
                  <a:srgbClr val="000000"/>
                </a:solidFill>
                <a:ea typeface="宋体" charset="0"/>
                <a:cs typeface="宋体" charset="0"/>
                <a:sym typeface="Symbol" charset="0"/>
              </a:rPr>
              <a:t>7.92</a:t>
            </a:r>
            <a:r>
              <a:rPr kumimoji="1" lang="zh-CN" altLang="en-US" sz="2800" b="0">
                <a:solidFill>
                  <a:srgbClr val="000000"/>
                </a:solidFill>
                <a:ea typeface="宋体" charset="0"/>
                <a:cs typeface="宋体" charset="0"/>
                <a:sym typeface="Symbol" charset="0"/>
              </a:rPr>
              <a:t>（万元）</a:t>
            </a:r>
            <a:r>
              <a:rPr kumimoji="1" lang="en-US" altLang="zh-CN" sz="2800" b="0">
                <a:solidFill>
                  <a:srgbClr val="000000"/>
                </a:solidFill>
                <a:ea typeface="宋体" charset="0"/>
                <a:cs typeface="宋体" charset="0"/>
              </a:rPr>
              <a:t>0</a:t>
            </a:r>
            <a:endParaRPr kumimoji="1" lang="en-US" altLang="zh-CN" sz="2800" b="0">
              <a:solidFill>
                <a:srgbClr val="000000"/>
              </a:solidFill>
              <a:latin typeface="黑体" charset="0"/>
              <a:ea typeface="黑体" charset="0"/>
              <a:cs typeface="黑体" charset="0"/>
              <a:sym typeface="Symbol" charset="0"/>
            </a:endParaRPr>
          </a:p>
          <a:p>
            <a:pPr>
              <a:lnSpc>
                <a:spcPct val="120000"/>
              </a:lnSpc>
            </a:pPr>
            <a:r>
              <a:rPr kumimoji="1" lang="zh-CN" altLang="en-US" sz="2800" b="0">
                <a:solidFill>
                  <a:srgbClr val="000000"/>
                </a:solidFill>
                <a:ea typeface="宋体" charset="0"/>
                <a:cs typeface="宋体" charset="0"/>
                <a:sym typeface="Symbol" charset="0"/>
              </a:rPr>
              <a:t>采用线性内插法可求得：</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zh-CN" altLang="en-US">
                <a:solidFill>
                  <a:srgbClr val="000000"/>
                </a:solidFill>
                <a:latin typeface="Arial" charset="0"/>
                <a:ea typeface="楷体_GB2312" charset="0"/>
                <a:cs typeface="楷体_GB2312" charset="0"/>
              </a:rPr>
              <a:t>敏感性分析例题</a:t>
            </a:r>
          </a:p>
        </p:txBody>
      </p:sp>
      <p:sp>
        <p:nvSpPr>
          <p:cNvPr id="46083" name="Rectangle 5"/>
          <p:cNvSpPr>
            <a:spLocks noChangeArrowheads="1"/>
          </p:cNvSpPr>
          <p:nvPr/>
        </p:nvSpPr>
        <p:spPr bwMode="auto">
          <a:xfrm>
            <a:off x="250825" y="836613"/>
            <a:ext cx="8893175" cy="2087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eaLnBrk="1" hangingPunct="1"/>
            <a:r>
              <a:rPr kumimoji="1" lang="zh-CN" altLang="en-US" sz="3200" b="0">
                <a:solidFill>
                  <a:srgbClr val="000000"/>
                </a:solidFill>
                <a:latin typeface="黑体" charset="0"/>
                <a:ea typeface="黑体" charset="0"/>
                <a:cs typeface="黑体" charset="0"/>
              </a:rPr>
              <a:t>（</a:t>
            </a:r>
            <a:r>
              <a:rPr kumimoji="1" lang="en-US" altLang="zh-CN" sz="3200" b="0">
                <a:solidFill>
                  <a:srgbClr val="000000"/>
                </a:solidFill>
                <a:latin typeface="黑体" charset="0"/>
                <a:ea typeface="黑体" charset="0"/>
                <a:cs typeface="黑体" charset="0"/>
              </a:rPr>
              <a:t>2</a:t>
            </a:r>
            <a:r>
              <a:rPr kumimoji="1" lang="zh-CN" altLang="en-US" sz="3200" b="0">
                <a:solidFill>
                  <a:srgbClr val="000000"/>
                </a:solidFill>
                <a:latin typeface="黑体" charset="0"/>
                <a:ea typeface="黑体" charset="0"/>
                <a:cs typeface="黑体" charset="0"/>
              </a:rPr>
              <a:t>）计算销售收入、经营成本和建设投资变化对内部收益率的影响，结果见下表。</a:t>
            </a:r>
          </a:p>
        </p:txBody>
      </p:sp>
      <p:sp>
        <p:nvSpPr>
          <p:cNvPr id="46084" name="Rectangle 6"/>
          <p:cNvSpPr>
            <a:spLocks noChangeArrowheads="1"/>
          </p:cNvSpPr>
          <p:nvPr/>
        </p:nvSpPr>
        <p:spPr bwMode="auto">
          <a:xfrm>
            <a:off x="1892300" y="2432050"/>
            <a:ext cx="1312863"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1" hangingPunct="1">
              <a:lnSpc>
                <a:spcPct val="90000"/>
              </a:lnSpc>
              <a:spcBef>
                <a:spcPct val="50000"/>
              </a:spcBef>
              <a:buFontTx/>
              <a:buChar char="•"/>
            </a:pPr>
            <a:endParaRPr lang="zh-CN" altLang="en-US"/>
          </a:p>
        </p:txBody>
      </p:sp>
      <p:pic>
        <p:nvPicPr>
          <p:cNvPr id="46085" name="Picture 7"/>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0" y="2924175"/>
            <a:ext cx="9144000" cy="2838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zh-CN" altLang="en-US">
                <a:latin typeface="Arial" charset="0"/>
                <a:ea typeface="楷体_GB2312" charset="0"/>
                <a:cs typeface="楷体_GB2312" charset="0"/>
              </a:rPr>
              <a:t>敏感性分析例题</a:t>
            </a:r>
          </a:p>
        </p:txBody>
      </p:sp>
      <p:pic>
        <p:nvPicPr>
          <p:cNvPr id="47107" name="Picture 5"/>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200" y="685800"/>
            <a:ext cx="9067800" cy="5783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sz="3200">
                <a:latin typeface="Arial" charset="0"/>
                <a:ea typeface="楷体_GB2312" charset="0"/>
                <a:cs typeface="楷体_GB2312" charset="0"/>
              </a:rPr>
              <a:t>单因素敏感性分析的局限</a:t>
            </a:r>
          </a:p>
        </p:txBody>
      </p:sp>
      <p:sp>
        <p:nvSpPr>
          <p:cNvPr id="48131" name="Rectangle 3"/>
          <p:cNvSpPr>
            <a:spLocks noGrp="1" noChangeArrowheads="1"/>
          </p:cNvSpPr>
          <p:nvPr>
            <p:ph type="body" idx="1"/>
          </p:nvPr>
        </p:nvSpPr>
        <p:spPr/>
        <p:txBody>
          <a:bodyPr/>
          <a:lstStyle/>
          <a:p>
            <a:pPr algn="just" eaLnBrk="1" hangingPunct="1">
              <a:buFontTx/>
              <a:buNone/>
            </a:pPr>
            <a:endParaRPr lang="zh-CN" altLang="en-US">
              <a:latin typeface="Arial" charset="0"/>
              <a:ea typeface="宋体" charset="0"/>
            </a:endParaRPr>
          </a:p>
          <a:p>
            <a:pPr algn="just" eaLnBrk="1" hangingPunct="1">
              <a:buFontTx/>
              <a:buNone/>
            </a:pPr>
            <a:r>
              <a:rPr lang="zh-CN" altLang="en-US" b="0">
                <a:latin typeface="Arial" charset="0"/>
                <a:ea typeface="宋体" charset="0"/>
              </a:rPr>
              <a:t> </a:t>
            </a:r>
            <a:r>
              <a:rPr lang="zh-CN" altLang="en-US" sz="3600" b="0">
                <a:latin typeface="Arial" charset="0"/>
                <a:ea typeface="宋体" charset="0"/>
              </a:rPr>
              <a:t>①单个因素变化；</a:t>
            </a:r>
            <a:endParaRPr lang="zh-CN" altLang="en-US" sz="3600">
              <a:latin typeface="Arial" charset="0"/>
              <a:ea typeface="宋体" charset="0"/>
            </a:endParaRPr>
          </a:p>
          <a:p>
            <a:pPr eaLnBrk="1" hangingPunct="1">
              <a:buFontTx/>
              <a:buNone/>
            </a:pPr>
            <a:r>
              <a:rPr lang="zh-CN" altLang="en-US" sz="3600" b="0">
                <a:latin typeface="Arial" charset="0"/>
                <a:ea typeface="宋体" charset="0"/>
              </a:rPr>
              <a:t> ②等概率假设。</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ltLang="zh-CN">
                <a:latin typeface="Arial" charset="0"/>
                <a:ea typeface="楷体_GB2312" charset="0"/>
                <a:cs typeface="楷体_GB2312" charset="0"/>
              </a:rPr>
              <a:t>2. </a:t>
            </a:r>
            <a:r>
              <a:rPr lang="zh-CN" altLang="en-US">
                <a:latin typeface="Arial" charset="0"/>
                <a:ea typeface="楷体_GB2312" charset="0"/>
                <a:cs typeface="楷体_GB2312" charset="0"/>
              </a:rPr>
              <a:t>多因素敏感性分析</a:t>
            </a:r>
          </a:p>
        </p:txBody>
      </p:sp>
      <p:sp>
        <p:nvSpPr>
          <p:cNvPr id="49155" name="Rectangle 3"/>
          <p:cNvSpPr>
            <a:spLocks noGrp="1" noChangeArrowheads="1"/>
          </p:cNvSpPr>
          <p:nvPr>
            <p:ph type="body" idx="1"/>
          </p:nvPr>
        </p:nvSpPr>
        <p:spPr/>
        <p:txBody>
          <a:bodyPr/>
          <a:lstStyle/>
          <a:p>
            <a:pPr eaLnBrk="1" hangingPunct="1"/>
            <a:r>
              <a:rPr lang="zh-CN" altLang="en-US">
                <a:latin typeface="Arial" charset="0"/>
                <a:ea typeface="宋体" charset="0"/>
              </a:rPr>
              <a:t>单因素敏感性分析在分析某一因素对经济效果的影响时，假定其他因素不变</a:t>
            </a:r>
          </a:p>
          <a:p>
            <a:pPr eaLnBrk="1" hangingPunct="1"/>
            <a:endParaRPr lang="zh-CN" altLang="en-US">
              <a:latin typeface="Arial" charset="0"/>
              <a:ea typeface="宋体" charset="0"/>
            </a:endParaRPr>
          </a:p>
          <a:p>
            <a:pPr eaLnBrk="1" hangingPunct="1"/>
            <a:r>
              <a:rPr lang="zh-CN" altLang="en-US">
                <a:latin typeface="Arial" charset="0"/>
                <a:ea typeface="宋体" charset="0"/>
              </a:rPr>
              <a:t>但事实上，有些因素的变动不是独立的。多因素敏感性分析就是要考虑各种因素可能发生的不同变动幅度的多种组合，分析其对方案经济效果的影响程度</a:t>
            </a: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zh-CN">
                <a:latin typeface="Arial" charset="0"/>
                <a:ea typeface="楷体_GB2312" charset="0"/>
                <a:cs typeface="楷体_GB2312" charset="0"/>
              </a:rPr>
              <a:t>2. </a:t>
            </a:r>
            <a:r>
              <a:rPr lang="zh-CN" altLang="en-US">
                <a:latin typeface="Arial" charset="0"/>
                <a:ea typeface="楷体_GB2312" charset="0"/>
                <a:cs typeface="楷体_GB2312" charset="0"/>
              </a:rPr>
              <a:t>多因素敏感性分析实例</a:t>
            </a:r>
          </a:p>
        </p:txBody>
      </p:sp>
      <p:graphicFrame>
        <p:nvGraphicFramePr>
          <p:cNvPr id="814171" name="Group 91"/>
          <p:cNvGraphicFramePr>
            <a:graphicFrameLocks noGrp="1"/>
          </p:cNvGraphicFramePr>
          <p:nvPr>
            <p:ph idx="1"/>
          </p:nvPr>
        </p:nvGraphicFramePr>
        <p:xfrm>
          <a:off x="1320800" y="2273300"/>
          <a:ext cx="6400800" cy="3652839"/>
        </p:xfrm>
        <a:graphic>
          <a:graphicData uri="http://schemas.openxmlformats.org/drawingml/2006/table">
            <a:tbl>
              <a:tblPr/>
              <a:tblGrid>
                <a:gridCol w="712788">
                  <a:extLst>
                    <a:ext uri="{9D8B030D-6E8A-4147-A177-3AD203B41FA5}">
                      <a16:colId xmlns:a16="http://schemas.microsoft.com/office/drawing/2014/main" val="20000"/>
                    </a:ext>
                  </a:extLst>
                </a:gridCol>
                <a:gridCol w="709612">
                  <a:extLst>
                    <a:ext uri="{9D8B030D-6E8A-4147-A177-3AD203B41FA5}">
                      <a16:colId xmlns:a16="http://schemas.microsoft.com/office/drawing/2014/main" val="20001"/>
                    </a:ext>
                  </a:extLst>
                </a:gridCol>
                <a:gridCol w="711200">
                  <a:extLst>
                    <a:ext uri="{9D8B030D-6E8A-4147-A177-3AD203B41FA5}">
                      <a16:colId xmlns:a16="http://schemas.microsoft.com/office/drawing/2014/main" val="20002"/>
                    </a:ext>
                  </a:extLst>
                </a:gridCol>
                <a:gridCol w="711200">
                  <a:extLst>
                    <a:ext uri="{9D8B030D-6E8A-4147-A177-3AD203B41FA5}">
                      <a16:colId xmlns:a16="http://schemas.microsoft.com/office/drawing/2014/main" val="20003"/>
                    </a:ext>
                  </a:extLst>
                </a:gridCol>
                <a:gridCol w="711200">
                  <a:extLst>
                    <a:ext uri="{9D8B030D-6E8A-4147-A177-3AD203B41FA5}">
                      <a16:colId xmlns:a16="http://schemas.microsoft.com/office/drawing/2014/main" val="20004"/>
                    </a:ext>
                  </a:extLst>
                </a:gridCol>
                <a:gridCol w="711200">
                  <a:extLst>
                    <a:ext uri="{9D8B030D-6E8A-4147-A177-3AD203B41FA5}">
                      <a16:colId xmlns:a16="http://schemas.microsoft.com/office/drawing/2014/main" val="20005"/>
                    </a:ext>
                  </a:extLst>
                </a:gridCol>
                <a:gridCol w="711200">
                  <a:extLst>
                    <a:ext uri="{9D8B030D-6E8A-4147-A177-3AD203B41FA5}">
                      <a16:colId xmlns:a16="http://schemas.microsoft.com/office/drawing/2014/main" val="20006"/>
                    </a:ext>
                  </a:extLst>
                </a:gridCol>
                <a:gridCol w="709613">
                  <a:extLst>
                    <a:ext uri="{9D8B030D-6E8A-4147-A177-3AD203B41FA5}">
                      <a16:colId xmlns:a16="http://schemas.microsoft.com/office/drawing/2014/main" val="20007"/>
                    </a:ext>
                  </a:extLst>
                </a:gridCol>
                <a:gridCol w="712787">
                  <a:extLst>
                    <a:ext uri="{9D8B030D-6E8A-4147-A177-3AD203B41FA5}">
                      <a16:colId xmlns:a16="http://schemas.microsoft.com/office/drawing/2014/main" val="20008"/>
                    </a:ext>
                  </a:extLst>
                </a:gridCol>
              </a:tblGrid>
              <a:tr h="404813">
                <a:tc rowSpan="2"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xBody>
                    <a:bodyPr/>
                    <a:lstStyle/>
                    <a:p>
                      <a:endParaRPr lang="zh-CN" altLang="en-US"/>
                    </a:p>
                  </a:txBody>
                  <a:tcPr/>
                </a:tc>
                <a:tc gridSpan="7">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投资额</a:t>
                      </a:r>
                      <a:r>
                        <a:rPr kumimoji="0" lang="en-US" altLang="zh-CN" sz="2000" b="1" i="0" u="none" strike="noStrike" cap="none" normalizeH="0" baseline="0">
                          <a:ln>
                            <a:noFill/>
                          </a:ln>
                          <a:solidFill>
                            <a:srgbClr val="000000"/>
                          </a:solidFill>
                          <a:effectLst/>
                          <a:latin typeface="Arial" charset="0"/>
                          <a:ea typeface="宋体" charset="0"/>
                          <a:cs typeface="宋体" charset="0"/>
                        </a:rPr>
                        <a:t>(a)</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06400">
                <a:tc gridSpan="2" vMerge="1">
                  <a:txBody>
                    <a:bodyPr/>
                    <a:lstStyle/>
                    <a:p>
                      <a:endParaRPr lang="zh-CN" altLang="en-US"/>
                    </a:p>
                  </a:txBody>
                  <a:tcPr/>
                </a:tc>
                <a:tc hMerge="1"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-30%</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-20%</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-10%</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0</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10%</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20%</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30%</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rowSpan="7">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000" b="1" i="0" u="none" strike="noStrike" cap="none" normalizeH="0" baseline="0">
                        <a:ln>
                          <a:noFill/>
                        </a:ln>
                        <a:solidFill>
                          <a:srgbClr val="000000"/>
                        </a:solidFill>
                        <a:effectLst/>
                        <a:latin typeface="Arial" charset="0"/>
                        <a:ea typeface="宋体" charset="0"/>
                        <a:cs typeface="宋体" charset="0"/>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000" b="1" i="0" u="none" strike="noStrike" cap="none" normalizeH="0" baseline="0">
                        <a:ln>
                          <a:noFill/>
                        </a:ln>
                        <a:solidFill>
                          <a:srgbClr val="000000"/>
                        </a:solidFill>
                        <a:effectLst/>
                        <a:latin typeface="Arial" charset="0"/>
                        <a:ea typeface="宋体" charset="0"/>
                        <a:cs typeface="宋体" charset="0"/>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000" b="1" i="0" u="none" strike="noStrike" cap="none" normalizeH="0" baseline="0">
                        <a:ln>
                          <a:noFill/>
                        </a:ln>
                        <a:solidFill>
                          <a:srgbClr val="000000"/>
                        </a:solidFill>
                        <a:effectLst/>
                        <a:latin typeface="Arial" charset="0"/>
                        <a:ea typeface="宋体" charset="0"/>
                        <a:cs typeface="宋体"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000000"/>
                          </a:solidFill>
                          <a:effectLst/>
                          <a:latin typeface="Arial" charset="0"/>
                          <a:ea typeface="宋体" charset="0"/>
                          <a:cs typeface="宋体" charset="0"/>
                        </a:rPr>
                        <a:t>年</a:t>
                      </a:r>
                      <a:br>
                        <a:rPr kumimoji="0" lang="zh-CN" altLang="en-US" sz="2000" b="1" i="0" u="none" strike="noStrike" cap="none" normalizeH="0" baseline="0">
                          <a:ln>
                            <a:noFill/>
                          </a:ln>
                          <a:solidFill>
                            <a:srgbClr val="000000"/>
                          </a:solidFill>
                          <a:effectLst/>
                          <a:latin typeface="Arial" charset="0"/>
                          <a:ea typeface="宋体" charset="0"/>
                          <a:cs typeface="宋体" charset="0"/>
                        </a:rPr>
                      </a:br>
                      <a:r>
                        <a:rPr kumimoji="0" lang="zh-CN" altLang="en-US" sz="2000" b="1" i="0" u="none" strike="noStrike" cap="none" normalizeH="0" baseline="0">
                          <a:ln>
                            <a:noFill/>
                          </a:ln>
                          <a:solidFill>
                            <a:srgbClr val="000000"/>
                          </a:solidFill>
                          <a:effectLst/>
                          <a:latin typeface="Arial" charset="0"/>
                          <a:ea typeface="宋体" charset="0"/>
                          <a:cs typeface="宋体" charset="0"/>
                        </a:rPr>
                        <a:t>收</a:t>
                      </a:r>
                      <a:br>
                        <a:rPr kumimoji="0" lang="zh-CN" altLang="en-US" sz="2000" b="1" i="0" u="none" strike="noStrike" cap="none" normalizeH="0" baseline="0">
                          <a:ln>
                            <a:noFill/>
                          </a:ln>
                          <a:solidFill>
                            <a:srgbClr val="000000"/>
                          </a:solidFill>
                          <a:effectLst/>
                          <a:latin typeface="Arial" charset="0"/>
                          <a:ea typeface="宋体" charset="0"/>
                          <a:cs typeface="宋体" charset="0"/>
                        </a:rPr>
                      </a:br>
                      <a:r>
                        <a:rPr kumimoji="0" lang="zh-CN" altLang="en-US" sz="2000" b="1" i="0" u="none" strike="noStrike" cap="none" normalizeH="0" baseline="0">
                          <a:ln>
                            <a:noFill/>
                          </a:ln>
                          <a:solidFill>
                            <a:srgbClr val="000000"/>
                          </a:solidFill>
                          <a:effectLst/>
                          <a:latin typeface="Arial" charset="0"/>
                          <a:ea typeface="宋体" charset="0"/>
                          <a:cs typeface="宋体" charset="0"/>
                        </a:rPr>
                        <a:t>益</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宋体" charset="0"/>
                        </a:rPr>
                        <a:t>(b)</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-30%</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8915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-8085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-25085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-42085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-59085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-76085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-93085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-20%</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28690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11690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-5310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-22310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-39310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-56310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-73310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481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-10%</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48465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31465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14465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-2535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-19535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-36535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-53535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0</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68240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51240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34240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17240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240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-16760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-33760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10%</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88015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71015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54015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37015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20015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3015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-13985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20%</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107790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90790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73790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56790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39790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22790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5790</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481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30%</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127565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110565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93565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76565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59565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42565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200" b="1" i="0" u="none" strike="noStrike" cap="none" normalizeH="0" baseline="0">
                          <a:ln>
                            <a:noFill/>
                          </a:ln>
                          <a:solidFill>
                            <a:srgbClr val="000000"/>
                          </a:solidFill>
                          <a:effectLst/>
                          <a:latin typeface="Arial" charset="0"/>
                          <a:ea typeface="宋体" charset="0"/>
                          <a:cs typeface="宋体" charset="0"/>
                        </a:rPr>
                        <a:t>25565</a:t>
                      </a:r>
                      <a:endParaRPr kumimoji="0" lang="zh-CN" altLang="en-US" sz="1200" b="1" i="0" u="none" strike="noStrike" cap="none" normalizeH="0" baseline="0">
                        <a:ln>
                          <a:noFill/>
                        </a:ln>
                        <a:solidFill>
                          <a:srgbClr val="000000"/>
                        </a:solidFill>
                        <a:effectLst/>
                        <a:latin typeface="Arial" charset="0"/>
                        <a:ea typeface="宋体" charset="0"/>
                        <a:cs typeface="宋体"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1290" name="Rectangle 90"/>
          <p:cNvSpPr>
            <a:spLocks noChangeArrowheads="1"/>
          </p:cNvSpPr>
          <p:nvPr/>
        </p:nvSpPr>
        <p:spPr bwMode="auto">
          <a:xfrm>
            <a:off x="282575" y="900113"/>
            <a:ext cx="8456613" cy="1373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2800">
                <a:solidFill>
                  <a:srgbClr val="000000"/>
                </a:solidFill>
                <a:ea typeface="宋体" charset="0"/>
                <a:cs typeface="宋体" charset="0"/>
              </a:rPr>
              <a:t>根据前面购置一辆运客面包车给出的数据，对投资额</a:t>
            </a:r>
            <a:r>
              <a:rPr lang="en-US" altLang="zh-CN" sz="2800">
                <a:solidFill>
                  <a:srgbClr val="000000"/>
                </a:solidFill>
                <a:ea typeface="宋体" charset="0"/>
                <a:cs typeface="宋体" charset="0"/>
              </a:rPr>
              <a:t>(a)</a:t>
            </a:r>
            <a:r>
              <a:rPr lang="zh-CN" altLang="en-US" sz="2800">
                <a:solidFill>
                  <a:srgbClr val="000000"/>
                </a:solidFill>
                <a:ea typeface="宋体" charset="0"/>
                <a:cs typeface="宋体" charset="0"/>
              </a:rPr>
              <a:t>和年收益</a:t>
            </a:r>
            <a:r>
              <a:rPr lang="en-US" altLang="zh-CN" sz="2800">
                <a:solidFill>
                  <a:srgbClr val="000000"/>
                </a:solidFill>
                <a:ea typeface="宋体" charset="0"/>
                <a:cs typeface="宋体" charset="0"/>
              </a:rPr>
              <a:t>(b)</a:t>
            </a:r>
            <a:r>
              <a:rPr lang="zh-CN" altLang="en-US" sz="2800">
                <a:solidFill>
                  <a:srgbClr val="000000"/>
                </a:solidFill>
                <a:ea typeface="宋体" charset="0"/>
                <a:cs typeface="宋体" charset="0"/>
              </a:rPr>
              <a:t>的变动进行多因素敏感性分析。</a:t>
            </a:r>
            <a:br>
              <a:rPr lang="zh-CN" altLang="en-US" sz="2800">
                <a:solidFill>
                  <a:srgbClr val="000000"/>
                </a:solidFill>
                <a:ea typeface="宋体" charset="0"/>
                <a:cs typeface="宋体" charset="0"/>
              </a:rPr>
            </a:br>
            <a:endParaRPr lang="zh-CN" altLang="en-US" sz="2800">
              <a:solidFill>
                <a:srgbClr val="000000"/>
              </a:solidFill>
              <a:ea typeface="宋体" charset="0"/>
              <a:cs typeface="宋体" charset="0"/>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zh-CN" altLang="en-US">
                <a:latin typeface="Arial" charset="0"/>
                <a:ea typeface="楷体_GB2312" charset="0"/>
                <a:cs typeface="楷体_GB2312" charset="0"/>
              </a:rPr>
              <a:t>更直观的图示法</a:t>
            </a:r>
          </a:p>
        </p:txBody>
      </p:sp>
      <p:sp>
        <p:nvSpPr>
          <p:cNvPr id="53251" name="Rectangle 3"/>
          <p:cNvSpPr>
            <a:spLocks noGrp="1" noChangeArrowheads="1"/>
          </p:cNvSpPr>
          <p:nvPr>
            <p:ph type="body" idx="1"/>
          </p:nvPr>
        </p:nvSpPr>
        <p:spPr>
          <a:xfrm>
            <a:off x="0" y="1404938"/>
            <a:ext cx="9144000" cy="5207000"/>
          </a:xfrm>
        </p:spPr>
        <p:txBody>
          <a:bodyPr/>
          <a:lstStyle/>
          <a:p>
            <a:pPr eaLnBrk="1" hangingPunct="1"/>
            <a:r>
              <a:rPr lang="zh-CN" altLang="en-US" sz="2800">
                <a:latin typeface="Arial" charset="0"/>
                <a:ea typeface="宋体" charset="0"/>
              </a:rPr>
              <a:t/>
            </a:r>
            <a:br>
              <a:rPr lang="zh-CN" altLang="en-US" sz="2800">
                <a:latin typeface="Arial" charset="0"/>
                <a:ea typeface="宋体" charset="0"/>
              </a:rPr>
            </a:br>
            <a:r>
              <a:rPr lang="zh-CN" altLang="en-US" sz="2800">
                <a:latin typeface="Arial" charset="0"/>
                <a:ea typeface="宋体" charset="0"/>
              </a:rPr>
              <a:t/>
            </a:r>
            <a:br>
              <a:rPr lang="zh-CN" altLang="en-US" sz="2800">
                <a:latin typeface="Arial" charset="0"/>
                <a:ea typeface="宋体" charset="0"/>
              </a:rPr>
            </a:br>
            <a:r>
              <a:rPr lang="zh-CN" altLang="en-US" sz="2800">
                <a:latin typeface="Arial" charset="0"/>
                <a:ea typeface="宋体" charset="0"/>
              </a:rPr>
              <a:t/>
            </a:r>
            <a:br>
              <a:rPr lang="zh-CN" altLang="en-US" sz="2800">
                <a:latin typeface="Arial" charset="0"/>
                <a:ea typeface="宋体" charset="0"/>
              </a:rPr>
            </a:br>
            <a:r>
              <a:rPr lang="zh-CN" altLang="en-US" sz="2800">
                <a:latin typeface="Arial" charset="0"/>
                <a:ea typeface="宋体" charset="0"/>
              </a:rPr>
              <a:t/>
            </a:r>
            <a:br>
              <a:rPr lang="zh-CN" altLang="en-US" sz="2800">
                <a:latin typeface="Arial" charset="0"/>
                <a:ea typeface="宋体" charset="0"/>
              </a:rPr>
            </a:br>
            <a:r>
              <a:rPr lang="zh-CN" altLang="en-US" sz="2800">
                <a:latin typeface="Arial" charset="0"/>
                <a:ea typeface="宋体" charset="0"/>
              </a:rPr>
              <a:t>将表中数据代入上式</a:t>
            </a:r>
            <a:br>
              <a:rPr lang="zh-CN" altLang="en-US" sz="2800">
                <a:latin typeface="Arial" charset="0"/>
                <a:ea typeface="宋体" charset="0"/>
              </a:rPr>
            </a:br>
            <a:r>
              <a:rPr lang="zh-CN" altLang="en-US" sz="2800">
                <a:latin typeface="Arial" charset="0"/>
                <a:ea typeface="宋体" charset="0"/>
              </a:rPr>
              <a:t/>
            </a:r>
            <a:br>
              <a:rPr lang="zh-CN" altLang="en-US" sz="2800">
                <a:latin typeface="Arial" charset="0"/>
                <a:ea typeface="宋体" charset="0"/>
              </a:rPr>
            </a:br>
            <a:r>
              <a:rPr lang="zh-CN" altLang="en-US" sz="2800">
                <a:latin typeface="Arial" charset="0"/>
                <a:ea typeface="宋体" charset="0"/>
              </a:rPr>
              <a:t/>
            </a:r>
            <a:br>
              <a:rPr lang="zh-CN" altLang="en-US" sz="2800">
                <a:latin typeface="Arial" charset="0"/>
                <a:ea typeface="宋体" charset="0"/>
              </a:rPr>
            </a:br>
            <a:r>
              <a:rPr lang="zh-CN" altLang="en-US" sz="2800">
                <a:latin typeface="Arial" charset="0"/>
                <a:ea typeface="宋体" charset="0"/>
              </a:rPr>
              <a:t>取</a:t>
            </a:r>
            <a:r>
              <a:rPr lang="en-US" altLang="zh-CN" sz="2800">
                <a:latin typeface="Arial" charset="0"/>
                <a:ea typeface="宋体" charset="0"/>
              </a:rPr>
              <a:t>NPV</a:t>
            </a:r>
            <a:r>
              <a:rPr lang="zh-CN" altLang="en-US" sz="2800">
                <a:latin typeface="Arial" charset="0"/>
                <a:ea typeface="宋体" charset="0"/>
              </a:rPr>
              <a:t>的临界值，</a:t>
            </a:r>
            <a:r>
              <a:rPr lang="en-US" altLang="zh-CN" sz="2800">
                <a:latin typeface="Arial" charset="0"/>
                <a:ea typeface="宋体" charset="0"/>
              </a:rPr>
              <a:t>NPV=0</a:t>
            </a:r>
            <a:br>
              <a:rPr lang="en-US" altLang="zh-CN" sz="2800">
                <a:latin typeface="Arial" charset="0"/>
                <a:ea typeface="宋体" charset="0"/>
              </a:rPr>
            </a:br>
            <a:r>
              <a:rPr lang="en-US" altLang="zh-CN" sz="2800">
                <a:latin typeface="Arial" charset="0"/>
                <a:ea typeface="宋体" charset="0"/>
              </a:rPr>
              <a:t/>
            </a:r>
            <a:br>
              <a:rPr lang="en-US" altLang="zh-CN" sz="2800">
                <a:latin typeface="Arial" charset="0"/>
                <a:ea typeface="宋体" charset="0"/>
              </a:rPr>
            </a:br>
            <a:r>
              <a:rPr lang="en-US" altLang="zh-CN" sz="1400">
                <a:latin typeface="Arial" charset="0"/>
                <a:ea typeface="宋体" charset="0"/>
              </a:rPr>
              <a:t/>
            </a:r>
            <a:br>
              <a:rPr lang="en-US" altLang="zh-CN" sz="1400">
                <a:latin typeface="Arial" charset="0"/>
                <a:ea typeface="宋体" charset="0"/>
              </a:rPr>
            </a:br>
            <a:r>
              <a:rPr lang="zh-CN" altLang="en-US" sz="2800">
                <a:solidFill>
                  <a:srgbClr val="800000"/>
                </a:solidFill>
                <a:latin typeface="Arial" charset="0"/>
                <a:ea typeface="宋体" charset="0"/>
              </a:rPr>
              <a:t>判断准则：？？？</a:t>
            </a:r>
            <a:endParaRPr lang="zh-CN" altLang="en-US">
              <a:solidFill>
                <a:srgbClr val="800000"/>
              </a:solidFill>
              <a:latin typeface="Arial" charset="0"/>
              <a:ea typeface="宋体" charset="0"/>
            </a:endParaRPr>
          </a:p>
        </p:txBody>
      </p:sp>
      <p:grpSp>
        <p:nvGrpSpPr>
          <p:cNvPr id="53252" name="Group 4"/>
          <p:cNvGrpSpPr>
            <a:grpSpLocks/>
          </p:cNvGrpSpPr>
          <p:nvPr/>
        </p:nvGrpSpPr>
        <p:grpSpPr bwMode="auto">
          <a:xfrm>
            <a:off x="4837113" y="3856038"/>
            <a:ext cx="4051300" cy="2495550"/>
            <a:chOff x="1273" y="2333"/>
            <a:chExt cx="2552" cy="1572"/>
          </a:xfrm>
        </p:grpSpPr>
        <p:sp>
          <p:nvSpPr>
            <p:cNvPr id="53257" name="Line 5"/>
            <p:cNvSpPr>
              <a:spLocks noChangeShapeType="1"/>
            </p:cNvSpPr>
            <p:nvPr/>
          </p:nvSpPr>
          <p:spPr bwMode="auto">
            <a:xfrm>
              <a:off x="1273" y="3151"/>
              <a:ext cx="2552" cy="0"/>
            </a:xfrm>
            <a:prstGeom prst="line">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53258" name="Line 6"/>
            <p:cNvSpPr>
              <a:spLocks noChangeShapeType="1"/>
            </p:cNvSpPr>
            <p:nvPr/>
          </p:nvSpPr>
          <p:spPr bwMode="auto">
            <a:xfrm flipV="1">
              <a:off x="1935" y="2333"/>
              <a:ext cx="0" cy="1572"/>
            </a:xfrm>
            <a:prstGeom prst="line">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53259" name="Line 7"/>
            <p:cNvSpPr>
              <a:spLocks noChangeShapeType="1"/>
            </p:cNvSpPr>
            <p:nvPr/>
          </p:nvSpPr>
          <p:spPr bwMode="auto">
            <a:xfrm flipV="1">
              <a:off x="1745" y="2580"/>
              <a:ext cx="1763" cy="1187"/>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53260" name="Text Box 8"/>
            <p:cNvSpPr txBox="1">
              <a:spLocks noChangeArrowheads="1"/>
            </p:cNvSpPr>
            <p:nvPr/>
          </p:nvSpPr>
          <p:spPr bwMode="auto">
            <a:xfrm>
              <a:off x="1745" y="3151"/>
              <a:ext cx="190"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spcBef>
                  <a:spcPct val="50000"/>
                </a:spcBef>
              </a:pPr>
              <a:r>
                <a:rPr lang="en-US" altLang="zh-CN" sz="1400" b="0"/>
                <a:t>0</a:t>
              </a:r>
            </a:p>
          </p:txBody>
        </p:sp>
        <p:sp>
          <p:nvSpPr>
            <p:cNvPr id="53261" name="Text Box 9"/>
            <p:cNvSpPr txBox="1">
              <a:spLocks noChangeArrowheads="1"/>
            </p:cNvSpPr>
            <p:nvPr/>
          </p:nvSpPr>
          <p:spPr bwMode="auto">
            <a:xfrm>
              <a:off x="1745" y="2333"/>
              <a:ext cx="190"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spcBef>
                  <a:spcPct val="50000"/>
                </a:spcBef>
              </a:pPr>
              <a:r>
                <a:rPr lang="en-US" altLang="zh-CN" sz="1400" b="0"/>
                <a:t>b</a:t>
              </a:r>
            </a:p>
          </p:txBody>
        </p:sp>
        <p:sp>
          <p:nvSpPr>
            <p:cNvPr id="53262" name="Text Box 10"/>
            <p:cNvSpPr txBox="1">
              <a:spLocks noChangeArrowheads="1"/>
            </p:cNvSpPr>
            <p:nvPr/>
          </p:nvSpPr>
          <p:spPr bwMode="auto">
            <a:xfrm>
              <a:off x="3635" y="3151"/>
              <a:ext cx="190"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spcBef>
                  <a:spcPct val="50000"/>
                </a:spcBef>
              </a:pPr>
              <a:r>
                <a:rPr lang="en-US" altLang="zh-CN" sz="1400" b="0"/>
                <a:t>a</a:t>
              </a:r>
            </a:p>
          </p:txBody>
        </p:sp>
        <p:sp>
          <p:nvSpPr>
            <p:cNvPr id="53263" name="Text Box 11"/>
            <p:cNvSpPr txBox="1">
              <a:spLocks noChangeArrowheads="1"/>
            </p:cNvSpPr>
            <p:nvPr/>
          </p:nvSpPr>
          <p:spPr bwMode="auto">
            <a:xfrm>
              <a:off x="1935" y="3575"/>
              <a:ext cx="432"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spcBef>
                  <a:spcPct val="50000"/>
                </a:spcBef>
              </a:pPr>
              <a:r>
                <a:rPr lang="en-US" altLang="zh-CN" sz="1400" b="0"/>
                <a:t>-8.72</a:t>
              </a:r>
            </a:p>
          </p:txBody>
        </p:sp>
        <p:sp>
          <p:nvSpPr>
            <p:cNvPr id="53264" name="Text Box 12"/>
            <p:cNvSpPr txBox="1">
              <a:spLocks noChangeArrowheads="1"/>
            </p:cNvSpPr>
            <p:nvPr/>
          </p:nvSpPr>
          <p:spPr bwMode="auto">
            <a:xfrm>
              <a:off x="2618" y="3151"/>
              <a:ext cx="441"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spcBef>
                  <a:spcPct val="50000"/>
                </a:spcBef>
              </a:pPr>
              <a:r>
                <a:rPr lang="en-US" altLang="zh-CN" sz="1400" b="0"/>
                <a:t>10.14</a:t>
              </a:r>
            </a:p>
          </p:txBody>
        </p:sp>
        <p:sp>
          <p:nvSpPr>
            <p:cNvPr id="53265" name="Text Box 13"/>
            <p:cNvSpPr txBox="1">
              <a:spLocks noChangeArrowheads="1"/>
            </p:cNvSpPr>
            <p:nvPr/>
          </p:nvSpPr>
          <p:spPr bwMode="auto">
            <a:xfrm>
              <a:off x="2341" y="2429"/>
              <a:ext cx="1167"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spcBef>
                  <a:spcPct val="50000"/>
                </a:spcBef>
              </a:pPr>
              <a:r>
                <a:rPr lang="en-US" altLang="zh-CN" sz="1400" b="0"/>
                <a:t>b = 0.8597a - 0.0872</a:t>
              </a:r>
            </a:p>
          </p:txBody>
        </p:sp>
      </p:grpSp>
      <p:graphicFrame>
        <p:nvGraphicFramePr>
          <p:cNvPr id="53253" name="Object 14"/>
          <p:cNvGraphicFramePr>
            <a:graphicFrameLocks noChangeAspect="1"/>
          </p:cNvGraphicFramePr>
          <p:nvPr/>
        </p:nvGraphicFramePr>
        <p:xfrm>
          <a:off x="417513" y="1182688"/>
          <a:ext cx="6816725" cy="442912"/>
        </p:xfrm>
        <a:graphic>
          <a:graphicData uri="http://schemas.openxmlformats.org/presentationml/2006/ole">
            <mc:AlternateContent xmlns:mc="http://schemas.openxmlformats.org/markup-compatibility/2006">
              <mc:Choice xmlns:v="urn:schemas-microsoft-com:vml" Requires="v">
                <p:oleObj spid="_x0000_s53310" name="Equation" r:id="rId4" imgW="3124200" imgH="203200" progId="Equation.3">
                  <p:embed/>
                </p:oleObj>
              </mc:Choice>
              <mc:Fallback>
                <p:oleObj name="Equation" r:id="rId4" imgW="3124200" imgH="203200"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513" y="1182688"/>
                        <a:ext cx="6816725" cy="4429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3254" name="Object 15"/>
          <p:cNvGraphicFramePr>
            <a:graphicFrameLocks noChangeAspect="1"/>
          </p:cNvGraphicFramePr>
          <p:nvPr/>
        </p:nvGraphicFramePr>
        <p:xfrm>
          <a:off x="1509713" y="1822450"/>
          <a:ext cx="2457450" cy="436563"/>
        </p:xfrm>
        <a:graphic>
          <a:graphicData uri="http://schemas.openxmlformats.org/presentationml/2006/ole">
            <mc:AlternateContent xmlns:mc="http://schemas.openxmlformats.org/markup-compatibility/2006">
              <mc:Choice xmlns:v="urn:schemas-microsoft-com:vml" Requires="v">
                <p:oleObj spid="_x0000_s53311" name="Equation" r:id="rId6" imgW="1143000" imgH="203200" progId="Equation.3">
                  <p:embed/>
                </p:oleObj>
              </mc:Choice>
              <mc:Fallback>
                <p:oleObj name="Equation" r:id="rId6" imgW="1143000" imgH="203200"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9713" y="1822450"/>
                        <a:ext cx="2457450" cy="4365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53255" name="Object 16"/>
          <p:cNvGraphicFramePr>
            <a:graphicFrameLocks noChangeAspect="1"/>
          </p:cNvGraphicFramePr>
          <p:nvPr/>
        </p:nvGraphicFramePr>
        <p:xfrm>
          <a:off x="282575" y="3803650"/>
          <a:ext cx="5059363" cy="407988"/>
        </p:xfrm>
        <a:graphic>
          <a:graphicData uri="http://schemas.openxmlformats.org/presentationml/2006/ole">
            <mc:AlternateContent xmlns:mc="http://schemas.openxmlformats.org/markup-compatibility/2006">
              <mc:Choice xmlns:v="urn:schemas-microsoft-com:vml" Requires="v">
                <p:oleObj spid="_x0000_s53312" name="Equation" r:id="rId8" imgW="2197100" imgH="177800" progId="Equation.3">
                  <p:embed/>
                </p:oleObj>
              </mc:Choice>
              <mc:Fallback>
                <p:oleObj name="Equation" r:id="rId8" imgW="2197100" imgH="177800"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2575" y="3803650"/>
                        <a:ext cx="5059363" cy="4079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53256" name="Object 17"/>
          <p:cNvGraphicFramePr>
            <a:graphicFrameLocks noChangeAspect="1"/>
          </p:cNvGraphicFramePr>
          <p:nvPr/>
        </p:nvGraphicFramePr>
        <p:xfrm>
          <a:off x="282575" y="5011738"/>
          <a:ext cx="4473575" cy="407987"/>
        </p:xfrm>
        <a:graphic>
          <a:graphicData uri="http://schemas.openxmlformats.org/presentationml/2006/ole">
            <mc:AlternateContent xmlns:mc="http://schemas.openxmlformats.org/markup-compatibility/2006">
              <mc:Choice xmlns:v="urn:schemas-microsoft-com:vml" Requires="v">
                <p:oleObj spid="_x0000_s53313" name="Equation" r:id="rId10" imgW="1942257" imgH="177723" progId="Equation.3">
                  <p:embed/>
                </p:oleObj>
              </mc:Choice>
              <mc:Fallback>
                <p:oleObj name="Equation" r:id="rId10" imgW="1942257" imgH="177723" progId="Equation.3">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2575" y="5011738"/>
                        <a:ext cx="4473575" cy="4079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Grp="1" noRot="1" noChangeArrowheads="1"/>
          </p:cNvSpPr>
          <p:nvPr>
            <p:ph type="title"/>
          </p:nvPr>
        </p:nvSpPr>
        <p:spPr>
          <a:xfrm>
            <a:off x="273050" y="0"/>
            <a:ext cx="8540750" cy="11430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zh-CN" altLang="en-US">
                <a:latin typeface="Arial" charset="0"/>
                <a:ea typeface="楷体_GB2312" charset="0"/>
                <a:cs typeface="楷体_GB2312" charset="0"/>
              </a:rPr>
              <a:t> </a:t>
            </a:r>
            <a:r>
              <a:rPr lang="zh-CN" altLang="en-US" b="0">
                <a:latin typeface="Arial" charset="0"/>
                <a:ea typeface="楷体_GB2312" charset="0"/>
                <a:cs typeface="楷体_GB2312" charset="0"/>
              </a:rPr>
              <a:t>公路项目财务敏感性分析</a:t>
            </a:r>
            <a:r>
              <a:rPr lang="zh-CN" altLang="en-US">
                <a:latin typeface="Arial" charset="0"/>
                <a:ea typeface="楷体_GB2312" charset="0"/>
                <a:cs typeface="楷体_GB2312" charset="0"/>
              </a:rPr>
              <a:t> </a:t>
            </a:r>
          </a:p>
        </p:txBody>
      </p:sp>
      <p:sp>
        <p:nvSpPr>
          <p:cNvPr id="55299" name="Rectangle 5"/>
          <p:cNvSpPr>
            <a:spLocks noChangeArrowheads="1"/>
          </p:cNvSpPr>
          <p:nvPr/>
        </p:nvSpPr>
        <p:spPr bwMode="auto">
          <a:xfrm>
            <a:off x="0" y="2411413"/>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wrap="none" anchor="ctr">
            <a:spAutoFit/>
          </a:bodyPr>
          <a:lstStyle/>
          <a:p>
            <a:endParaRPr lang="zh-CN" altLang="en-US" sz="2400" b="0">
              <a:solidFill>
                <a:schemeClr val="tx1"/>
              </a:solidFill>
              <a:latin typeface="Times New Roman" charset="0"/>
              <a:ea typeface="宋体" charset="0"/>
              <a:cs typeface="宋体" charset="0"/>
            </a:endParaRPr>
          </a:p>
        </p:txBody>
      </p:sp>
      <p:graphicFrame>
        <p:nvGraphicFramePr>
          <p:cNvPr id="957446" name="Group 6"/>
          <p:cNvGraphicFramePr>
            <a:graphicFrameLocks noGrp="1"/>
          </p:cNvGraphicFramePr>
          <p:nvPr/>
        </p:nvGraphicFramePr>
        <p:xfrm>
          <a:off x="0" y="1484313"/>
          <a:ext cx="9144000" cy="2895600"/>
        </p:xfrm>
        <a:graphic>
          <a:graphicData uri="http://schemas.openxmlformats.org/drawingml/2006/table">
            <a:tbl>
              <a:tblPr/>
              <a:tblGrid>
                <a:gridCol w="2500313">
                  <a:extLst>
                    <a:ext uri="{9D8B030D-6E8A-4147-A177-3AD203B41FA5}">
                      <a16:colId xmlns:a16="http://schemas.microsoft.com/office/drawing/2014/main" val="20000"/>
                    </a:ext>
                  </a:extLst>
                </a:gridCol>
                <a:gridCol w="1660525">
                  <a:extLst>
                    <a:ext uri="{9D8B030D-6E8A-4147-A177-3AD203B41FA5}">
                      <a16:colId xmlns:a16="http://schemas.microsoft.com/office/drawing/2014/main" val="20001"/>
                    </a:ext>
                  </a:extLst>
                </a:gridCol>
                <a:gridCol w="1660525">
                  <a:extLst>
                    <a:ext uri="{9D8B030D-6E8A-4147-A177-3AD203B41FA5}">
                      <a16:colId xmlns:a16="http://schemas.microsoft.com/office/drawing/2014/main" val="20002"/>
                    </a:ext>
                  </a:extLst>
                </a:gridCol>
                <a:gridCol w="1662112">
                  <a:extLst>
                    <a:ext uri="{9D8B030D-6E8A-4147-A177-3AD203B41FA5}">
                      <a16:colId xmlns:a16="http://schemas.microsoft.com/office/drawing/2014/main" val="20003"/>
                    </a:ext>
                  </a:extLst>
                </a:gridCol>
                <a:gridCol w="1660525">
                  <a:extLst>
                    <a:ext uri="{9D8B030D-6E8A-4147-A177-3AD203B41FA5}">
                      <a16:colId xmlns:a16="http://schemas.microsoft.com/office/drawing/2014/main" val="20004"/>
                    </a:ext>
                  </a:extLst>
                </a:gridCol>
              </a:tblGrid>
              <a:tr h="61912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指标</a:t>
                      </a:r>
                      <a:r>
                        <a:rPr kumimoji="0" lang="zh-CN" altLang="en-US" sz="2000" b="0" i="0" u="none" strike="noStrike" cap="none" normalizeH="0" baseline="0">
                          <a:ln>
                            <a:noFill/>
                          </a:ln>
                          <a:solidFill>
                            <a:srgbClr val="000000"/>
                          </a:solidFill>
                          <a:effectLst/>
                          <a:latin typeface="Times New Roman" charset="0"/>
                          <a:ea typeface="楷体_GB2312" charset="0"/>
                          <a:cs typeface="Times New Roman" charset="0"/>
                        </a:rPr>
                        <a:t>   </a:t>
                      </a:r>
                      <a:endPar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Times New Roman" charset="0"/>
                          <a:ea typeface="楷体_GB2312" charset="0"/>
                          <a:cs typeface="Times New Roman" charset="0"/>
                        </a:rPr>
                        <a:t>  </a:t>
                      </a: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分析方案</a:t>
                      </a:r>
                    </a:p>
                  </a:txBody>
                  <a:tcPr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财务净现值</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（亿元）</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内部收益率</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a:t>
                      </a:r>
                      <a:r>
                        <a:rPr kumimoji="0" lang="en-US" altLang="zh-CN" sz="2000" b="0" i="0" u="none" strike="noStrike" cap="none" normalizeH="0" baseline="0">
                          <a:ln>
                            <a:noFill/>
                          </a:ln>
                          <a:solidFill>
                            <a:srgbClr val="000000"/>
                          </a:solidFill>
                          <a:effectLst/>
                          <a:latin typeface="Times New Roman" charset="0"/>
                          <a:ea typeface="楷体_GB2312" charset="0"/>
                          <a:cs typeface="Times New Roman" charset="0"/>
                        </a:rPr>
                        <a:t>%</a:t>
                      </a: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效益成本比</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投资回收期</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（年）</a:t>
                      </a:r>
                    </a:p>
                  </a:txBody>
                  <a:tcPr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0"/>
                  </a:ext>
                </a:extLst>
              </a:tr>
              <a:tr h="39211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效益减少</a:t>
                      </a:r>
                      <a:r>
                        <a:rPr kumimoji="0" lang="en-US" altLang="zh-CN" sz="2000" b="0" i="0" u="none" strike="noStrike" cap="none" normalizeH="0" baseline="0">
                          <a:ln>
                            <a:noFill/>
                          </a:ln>
                          <a:solidFill>
                            <a:srgbClr val="000000"/>
                          </a:solidFill>
                          <a:effectLst/>
                          <a:latin typeface="Times New Roman" charset="0"/>
                          <a:ea typeface="楷体_GB2312" charset="0"/>
                          <a:cs typeface="Times New Roman" charset="0"/>
                        </a:rPr>
                        <a:t>20%</a:t>
                      </a:r>
                    </a:p>
                  </a:txBody>
                  <a:tcPr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3.32</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266700" algn="r"/>
                          <a:tab pos="2636838" algn="ctr"/>
                          <a:tab pos="5273675" algn="r"/>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4.02</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1.02</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23.49</a:t>
                      </a:r>
                    </a:p>
                  </a:txBody>
                  <a:tcPr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1"/>
                  </a:ext>
                </a:extLst>
              </a:tr>
              <a:tr h="3905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费用增加</a:t>
                      </a:r>
                      <a:r>
                        <a:rPr kumimoji="0" lang="en-US" altLang="zh-CN" sz="2000" b="0" i="0" u="none" strike="noStrike" cap="none" normalizeH="0" baseline="0">
                          <a:ln>
                            <a:noFill/>
                          </a:ln>
                          <a:solidFill>
                            <a:srgbClr val="000000"/>
                          </a:solidFill>
                          <a:effectLst/>
                          <a:latin typeface="Times New Roman" charset="0"/>
                          <a:ea typeface="楷体_GB2312" charset="0"/>
                          <a:cs typeface="Times New Roman" charset="0"/>
                        </a:rPr>
                        <a:t>20%</a:t>
                      </a:r>
                    </a:p>
                  </a:txBody>
                  <a:tcPr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28.7</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5.55</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1.15</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21.13</a:t>
                      </a:r>
                    </a:p>
                  </a:txBody>
                  <a:tcPr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2"/>
                  </a:ext>
                </a:extLst>
              </a:tr>
              <a:tr h="59531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效益减少</a:t>
                      </a:r>
                      <a:r>
                        <a:rPr kumimoji="0" lang="en-US" altLang="zh-CN" sz="2000" b="0" i="0" u="none" strike="noStrike" cap="none" normalizeH="0" baseline="0">
                          <a:ln>
                            <a:noFill/>
                          </a:ln>
                          <a:solidFill>
                            <a:srgbClr val="000000"/>
                          </a:solidFill>
                          <a:effectLst/>
                          <a:latin typeface="Times New Roman" charset="0"/>
                          <a:ea typeface="楷体_GB2312" charset="0"/>
                          <a:cs typeface="Times New Roman" charset="0"/>
                        </a:rPr>
                        <a:t>10%</a:t>
                      </a:r>
                      <a:endParaRPr kumimoji="0" lang="en-AU" altLang="zh-CN" sz="2000" b="0" i="0" u="none" strike="noStrike" cap="none" normalizeH="0" baseline="0">
                        <a:ln>
                          <a:noFill/>
                        </a:ln>
                        <a:solidFill>
                          <a:srgbClr val="000000"/>
                        </a:solidFill>
                        <a:effectLst/>
                        <a:latin typeface="Times New Roman" charset="0"/>
                        <a:ea typeface="楷体_GB2312" charset="0"/>
                        <a:cs typeface="Times New Roman"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费用增加</a:t>
                      </a:r>
                      <a:r>
                        <a:rPr kumimoji="0" lang="en-US" altLang="zh-CN" sz="2000" b="0" i="0" u="none" strike="noStrike" cap="none" normalizeH="0" baseline="0">
                          <a:ln>
                            <a:noFill/>
                          </a:ln>
                          <a:solidFill>
                            <a:srgbClr val="000000"/>
                          </a:solidFill>
                          <a:effectLst/>
                          <a:latin typeface="Times New Roman" charset="0"/>
                          <a:ea typeface="楷体_GB2312" charset="0"/>
                          <a:cs typeface="Times New Roman" charset="0"/>
                        </a:rPr>
                        <a:t>10%</a:t>
                      </a:r>
                    </a:p>
                  </a:txBody>
                  <a:tcPr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16.01</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4.89</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1.09</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22.08</a:t>
                      </a:r>
                    </a:p>
                  </a:txBody>
                  <a:tcPr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3"/>
                  </a:ext>
                </a:extLst>
              </a:tr>
              <a:tr h="59531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效益减少</a:t>
                      </a:r>
                      <a:r>
                        <a:rPr kumimoji="0" lang="en-US" altLang="zh-CN" sz="2000" b="0" i="0" u="none" strike="noStrike" cap="none" normalizeH="0" baseline="0">
                          <a:ln>
                            <a:noFill/>
                          </a:ln>
                          <a:solidFill>
                            <a:srgbClr val="000000"/>
                          </a:solidFill>
                          <a:effectLst/>
                          <a:latin typeface="Times New Roman" charset="0"/>
                          <a:ea typeface="楷体_GB2312" charset="0"/>
                          <a:cs typeface="Times New Roman" charset="0"/>
                        </a:rPr>
                        <a:t>20%</a:t>
                      </a:r>
                      <a:endParaRPr kumimoji="0" lang="en-AU" altLang="zh-CN" sz="2000" b="0" i="0" u="none" strike="noStrike" cap="none" normalizeH="0" baseline="0">
                        <a:ln>
                          <a:noFill/>
                        </a:ln>
                        <a:solidFill>
                          <a:srgbClr val="000000"/>
                        </a:solidFill>
                        <a:effectLst/>
                        <a:latin typeface="Times New Roman" charset="0"/>
                        <a:ea typeface="楷体_GB2312" charset="0"/>
                        <a:cs typeface="Times New Roman"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AU" sz="2000" b="0" i="0" u="none" strike="noStrike" cap="none" normalizeH="0" baseline="0">
                          <a:ln>
                            <a:noFill/>
                          </a:ln>
                          <a:solidFill>
                            <a:srgbClr val="000000"/>
                          </a:solidFill>
                          <a:effectLst/>
                          <a:latin typeface="Times New Roman" charset="0"/>
                          <a:ea typeface="楷体_GB2312" charset="0"/>
                          <a:cs typeface="Times New Roman" charset="0"/>
                        </a:rPr>
                        <a:t>费用增加</a:t>
                      </a:r>
                      <a:r>
                        <a:rPr kumimoji="0" lang="en-US" altLang="zh-CN" sz="2000" b="0" i="0" u="none" strike="noStrike" cap="none" normalizeH="0" baseline="0">
                          <a:ln>
                            <a:noFill/>
                          </a:ln>
                          <a:solidFill>
                            <a:srgbClr val="000000"/>
                          </a:solidFill>
                          <a:effectLst/>
                          <a:latin typeface="Times New Roman" charset="0"/>
                          <a:ea typeface="楷体_GB2312" charset="0"/>
                          <a:cs typeface="Times New Roman" charset="0"/>
                        </a:rPr>
                        <a:t>20%</a:t>
                      </a:r>
                    </a:p>
                  </a:txBody>
                  <a:tcPr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-15.48</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2.60</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0.92</a:t>
                      </a: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Times New Roman" charset="0"/>
                          <a:ea typeface="宋体" charset="0"/>
                          <a:cs typeface="Times New Roman" charset="0"/>
                        </a:rPr>
                        <a:t>26.38</a:t>
                      </a:r>
                    </a:p>
                  </a:txBody>
                  <a:tcPr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5338" name="Rectangle 44"/>
          <p:cNvSpPr>
            <a:spLocks noChangeArrowheads="1"/>
          </p:cNvSpPr>
          <p:nvPr/>
        </p:nvSpPr>
        <p:spPr bwMode="auto">
          <a:xfrm>
            <a:off x="273050" y="4575175"/>
            <a:ext cx="7775575" cy="1506538"/>
          </a:xfrm>
          <a:prstGeom prst="rect">
            <a:avLst/>
          </a:prstGeom>
          <a:noFill/>
          <a:ln w="12700" cap="sq">
            <a:solidFill>
              <a:schemeClr val="tx2"/>
            </a:solidFill>
            <a:miter lim="800000"/>
            <a:headEnd type="none" w="sm" len="sm"/>
            <a:tailEnd type="none" w="sm" len="sm"/>
          </a:ln>
          <a:extLst>
            <a:ext uri="{909E8E84-426E-40dd-AFC4-6F175D3DCCD1}">
              <a14:hiddenFill xmlns:a14="http://schemas.microsoft.com/office/drawing/2010/main" xmlns="">
                <a:solidFill>
                  <a:srgbClr val="FFFFFF"/>
                </a:solidFill>
              </a14:hiddenFill>
            </a:ext>
          </a:extLst>
        </p:spPr>
        <p:txBody>
          <a:bodyPr anchor="ctr">
            <a:spAutoFit/>
          </a:bodyPr>
          <a:lstStyle/>
          <a:p>
            <a:r>
              <a:rPr lang="zh-CN" altLang="en-AU" sz="3200" b="0">
                <a:solidFill>
                  <a:srgbClr val="000000"/>
                </a:solidFill>
                <a:latin typeface="华文楷体" charset="0"/>
                <a:cs typeface="Times New Roman" charset="0"/>
              </a:rPr>
              <a:t>上表所列结果表明，本项目财务上承受风险的能力一般，应注意控制工程造价</a:t>
            </a:r>
          </a:p>
          <a:p>
            <a:r>
              <a:rPr lang="en-US" altLang="zh-CN" sz="2800" b="0">
                <a:solidFill>
                  <a:srgbClr val="000000"/>
                </a:solidFill>
                <a:cs typeface="Times New Roman" charset="0"/>
              </a:rPr>
              <a:t>(</a:t>
            </a:r>
            <a:r>
              <a:rPr lang="zh-CN" altLang="en-US" sz="2800" b="0">
                <a:solidFill>
                  <a:srgbClr val="000000"/>
                </a:solidFill>
                <a:cs typeface="Times New Roman" charset="0"/>
              </a:rPr>
              <a:t>本项目财务基准折现率为</a:t>
            </a:r>
            <a:r>
              <a:rPr lang="en-US" altLang="zh-CN" sz="2800" b="0">
                <a:solidFill>
                  <a:srgbClr val="000000"/>
                </a:solidFill>
                <a:cs typeface="Times New Roman" charset="0"/>
              </a:rPr>
              <a:t>3.744</a:t>
            </a:r>
            <a:r>
              <a:rPr lang="zh-CN" altLang="en-US" sz="2800" b="0">
                <a:solidFill>
                  <a:srgbClr val="000000"/>
                </a:solidFill>
                <a:cs typeface="Times New Roman" charset="0"/>
              </a:rPr>
              <a:t>％</a:t>
            </a:r>
            <a:r>
              <a:rPr lang="zh-CN" altLang="en-AU" sz="2800" b="0">
                <a:solidFill>
                  <a:srgbClr val="000000"/>
                </a:solidFill>
                <a:cs typeface="Times New Roman" charset="0"/>
              </a:rPr>
              <a:t> </a:t>
            </a:r>
            <a:r>
              <a:rPr lang="en-AU" altLang="zh-CN" sz="2800" b="0">
                <a:solidFill>
                  <a:srgbClr val="000000"/>
                </a:solidFill>
                <a:cs typeface="Times New Roman" charset="0"/>
              </a:rPr>
              <a:t>)</a:t>
            </a:r>
            <a:r>
              <a:rPr lang="zh-CN" altLang="en-AU" sz="2800" b="0">
                <a:solidFill>
                  <a:srgbClr val="000000"/>
                </a:solidFill>
                <a:latin typeface="华文楷体" charset="0"/>
                <a:cs typeface="Times New Roman" charset="0"/>
              </a:rPr>
              <a:t>。</a:t>
            </a: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zh-CN" altLang="en-US">
                <a:latin typeface="Arial" charset="0"/>
                <a:ea typeface="楷体_GB2312" charset="0"/>
                <a:cs typeface="楷体_GB2312" charset="0"/>
              </a:rPr>
              <a:t>（三）风险分析</a:t>
            </a:r>
          </a:p>
        </p:txBody>
      </p:sp>
      <p:sp>
        <p:nvSpPr>
          <p:cNvPr id="56323" name="Rectangle 3"/>
          <p:cNvSpPr>
            <a:spLocks noGrp="1" noChangeArrowheads="1"/>
          </p:cNvSpPr>
          <p:nvPr>
            <p:ph type="body" idx="1"/>
          </p:nvPr>
        </p:nvSpPr>
        <p:spPr/>
        <p:txBody>
          <a:bodyPr/>
          <a:lstStyle/>
          <a:p>
            <a:pPr eaLnBrk="1" hangingPunct="1"/>
            <a:r>
              <a:rPr lang="zh-CN" altLang="en-US">
                <a:latin typeface="Arial" charset="0"/>
                <a:ea typeface="宋体" charset="0"/>
              </a:rPr>
              <a:t>风险的概念</a:t>
            </a:r>
          </a:p>
          <a:p>
            <a:pPr lvl="1" eaLnBrk="1" hangingPunct="1"/>
            <a:r>
              <a:rPr lang="zh-CN" altLang="en-US">
                <a:latin typeface="Arial" charset="0"/>
                <a:ea typeface="宋体" charset="0"/>
              </a:rPr>
              <a:t>相对于预期目标而言，经济主体遭受</a:t>
            </a:r>
            <a:r>
              <a:rPr lang="zh-CN" altLang="en-US">
                <a:solidFill>
                  <a:srgbClr val="800000"/>
                </a:solidFill>
                <a:latin typeface="Arial" charset="0"/>
                <a:ea typeface="宋体" charset="0"/>
              </a:rPr>
              <a:t>损失</a:t>
            </a:r>
            <a:r>
              <a:rPr lang="zh-CN" altLang="en-US">
                <a:latin typeface="Arial" charset="0"/>
                <a:ea typeface="宋体" charset="0"/>
              </a:rPr>
              <a:t>的不确定性</a:t>
            </a:r>
          </a:p>
          <a:p>
            <a:pPr lvl="1" eaLnBrk="1" hangingPunct="1"/>
            <a:r>
              <a:rPr lang="zh-CN" altLang="en-US">
                <a:latin typeface="Arial" charset="0"/>
                <a:ea typeface="宋体" charset="0"/>
              </a:rPr>
              <a:t>与不确定性的差别</a:t>
            </a:r>
          </a:p>
          <a:p>
            <a:pPr eaLnBrk="1" hangingPunct="1"/>
            <a:r>
              <a:rPr lang="zh-CN" altLang="en-US">
                <a:latin typeface="Arial" charset="0"/>
                <a:ea typeface="宋体" charset="0"/>
              </a:rPr>
              <a:t>风险的分类</a:t>
            </a:r>
          </a:p>
          <a:p>
            <a:pPr lvl="1" eaLnBrk="1" hangingPunct="1"/>
            <a:r>
              <a:rPr lang="zh-CN" altLang="en-US">
                <a:latin typeface="Arial" charset="0"/>
                <a:ea typeface="宋体" charset="0"/>
              </a:rPr>
              <a:t>静态、动态风险；主观、客观风险</a:t>
            </a:r>
            <a:r>
              <a:rPr lang="en-US" altLang="zh-CN">
                <a:latin typeface="Arial" charset="0"/>
                <a:ea typeface="宋体" charset="0"/>
              </a:rPr>
              <a:t>……</a:t>
            </a:r>
          </a:p>
          <a:p>
            <a:pPr eaLnBrk="1" hangingPunct="1"/>
            <a:r>
              <a:rPr lang="zh-CN" altLang="en-US">
                <a:latin typeface="Arial" charset="0"/>
                <a:ea typeface="宋体" charset="0"/>
              </a:rPr>
              <a:t>风险管理的步骤</a:t>
            </a:r>
          </a:p>
          <a:p>
            <a:pPr lvl="1" eaLnBrk="1" hangingPunct="1"/>
            <a:r>
              <a:rPr lang="zh-CN" altLang="en-US">
                <a:latin typeface="Arial" charset="0"/>
                <a:ea typeface="宋体" charset="0"/>
              </a:rPr>
              <a:t>风险识别、风险测度（评估）、风险决策和风险控制</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zh-CN">
                <a:latin typeface="Arial" charset="0"/>
                <a:ea typeface="楷体_GB2312" charset="0"/>
                <a:cs typeface="楷体_GB2312" charset="0"/>
              </a:rPr>
              <a:t>1. </a:t>
            </a:r>
            <a:r>
              <a:rPr lang="zh-CN" altLang="en-US">
                <a:latin typeface="Arial" charset="0"/>
                <a:ea typeface="楷体_GB2312" charset="0"/>
                <a:cs typeface="楷体_GB2312" charset="0"/>
              </a:rPr>
              <a:t>风险测度</a:t>
            </a:r>
          </a:p>
        </p:txBody>
      </p:sp>
      <p:sp>
        <p:nvSpPr>
          <p:cNvPr id="58371" name="Rectangle 3"/>
          <p:cNvSpPr>
            <a:spLocks noGrp="1" noChangeArrowheads="1"/>
          </p:cNvSpPr>
          <p:nvPr>
            <p:ph type="body" idx="1"/>
          </p:nvPr>
        </p:nvSpPr>
        <p:spPr/>
        <p:txBody>
          <a:bodyPr/>
          <a:lstStyle/>
          <a:p>
            <a:pPr eaLnBrk="1" hangingPunct="1">
              <a:lnSpc>
                <a:spcPct val="90000"/>
              </a:lnSpc>
              <a:spcAft>
                <a:spcPct val="10000"/>
              </a:spcAft>
            </a:pPr>
            <a:r>
              <a:rPr lang="zh-CN" altLang="en-US">
                <a:latin typeface="Arial" charset="0"/>
                <a:ea typeface="宋体" charset="0"/>
              </a:rPr>
              <a:t>什么是风险测度（评估）？</a:t>
            </a:r>
          </a:p>
          <a:p>
            <a:pPr lvl="1" eaLnBrk="1" hangingPunct="1">
              <a:lnSpc>
                <a:spcPct val="90000"/>
              </a:lnSpc>
              <a:spcAft>
                <a:spcPct val="10000"/>
              </a:spcAft>
            </a:pPr>
            <a:r>
              <a:rPr lang="zh-CN" altLang="en-US">
                <a:latin typeface="Arial" charset="0"/>
                <a:ea typeface="宋体" charset="0"/>
              </a:rPr>
              <a:t>定性、</a:t>
            </a:r>
            <a:r>
              <a:rPr lang="zh-CN" altLang="en-US">
                <a:solidFill>
                  <a:srgbClr val="800000"/>
                </a:solidFill>
                <a:latin typeface="Arial" charset="0"/>
                <a:ea typeface="宋体" charset="0"/>
              </a:rPr>
              <a:t>定量</a:t>
            </a:r>
          </a:p>
          <a:p>
            <a:pPr lvl="1" eaLnBrk="1" hangingPunct="1">
              <a:lnSpc>
                <a:spcPct val="90000"/>
              </a:lnSpc>
              <a:spcAft>
                <a:spcPct val="10000"/>
              </a:spcAft>
            </a:pPr>
            <a:r>
              <a:rPr lang="zh-CN" altLang="en-US">
                <a:latin typeface="Arial" charset="0"/>
                <a:ea typeface="宋体" charset="0"/>
              </a:rPr>
              <a:t>通过研究各种不确定因素发生不同幅度变动的</a:t>
            </a:r>
            <a:r>
              <a:rPr lang="zh-CN" altLang="en-US">
                <a:solidFill>
                  <a:srgbClr val="800000"/>
                </a:solidFill>
                <a:latin typeface="Arial" charset="0"/>
                <a:ea typeface="宋体" charset="0"/>
              </a:rPr>
              <a:t>概率分布</a:t>
            </a:r>
            <a:r>
              <a:rPr lang="zh-CN" altLang="en-US">
                <a:latin typeface="Arial" charset="0"/>
                <a:ea typeface="宋体" charset="0"/>
              </a:rPr>
              <a:t>及其对方案经济效果的影响，对方案的净现金流量及经济效果指标作出某种概率描述，对方案的风险情况作出比较准确的判断。</a:t>
            </a:r>
          </a:p>
          <a:p>
            <a:pPr eaLnBrk="1" hangingPunct="1">
              <a:lnSpc>
                <a:spcPct val="90000"/>
              </a:lnSpc>
              <a:spcAft>
                <a:spcPct val="10000"/>
              </a:spcAft>
            </a:pPr>
            <a:r>
              <a:rPr lang="zh-CN" altLang="en-US">
                <a:latin typeface="Arial" charset="0"/>
                <a:ea typeface="宋体" charset="0"/>
              </a:rPr>
              <a:t>几种方法</a:t>
            </a:r>
          </a:p>
          <a:p>
            <a:pPr lvl="1" eaLnBrk="1" hangingPunct="1">
              <a:lnSpc>
                <a:spcPct val="90000"/>
              </a:lnSpc>
              <a:spcAft>
                <a:spcPct val="10000"/>
              </a:spcAft>
            </a:pPr>
            <a:r>
              <a:rPr lang="zh-CN" altLang="en-US">
                <a:latin typeface="Arial" charset="0"/>
                <a:ea typeface="宋体" charset="0"/>
              </a:rPr>
              <a:t>解析法</a:t>
            </a:r>
          </a:p>
          <a:p>
            <a:pPr lvl="1" eaLnBrk="1" hangingPunct="1">
              <a:lnSpc>
                <a:spcPct val="90000"/>
              </a:lnSpc>
              <a:spcAft>
                <a:spcPct val="10000"/>
              </a:spcAft>
            </a:pPr>
            <a:r>
              <a:rPr lang="zh-CN" altLang="en-US">
                <a:latin typeface="Arial" charset="0"/>
                <a:ea typeface="宋体" charset="0"/>
              </a:rPr>
              <a:t>图示法</a:t>
            </a:r>
          </a:p>
          <a:p>
            <a:pPr lvl="1" eaLnBrk="1" hangingPunct="1">
              <a:lnSpc>
                <a:spcPct val="90000"/>
              </a:lnSpc>
              <a:spcAft>
                <a:spcPct val="10000"/>
              </a:spcAft>
            </a:pPr>
            <a:r>
              <a:rPr lang="zh-CN" altLang="en-US">
                <a:latin typeface="Arial" charset="0"/>
                <a:ea typeface="宋体" charset="0"/>
              </a:rPr>
              <a:t>模拟法</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ltLang="zh-CN">
                <a:latin typeface="Arial" charset="0"/>
                <a:ea typeface="楷体_GB2312" charset="0"/>
                <a:cs typeface="楷体_GB2312" charset="0"/>
              </a:rPr>
              <a:t>(1) </a:t>
            </a:r>
            <a:r>
              <a:rPr lang="zh-CN" altLang="en-US">
                <a:latin typeface="Arial" charset="0"/>
                <a:ea typeface="楷体_GB2312" charset="0"/>
                <a:cs typeface="楷体_GB2312" charset="0"/>
              </a:rPr>
              <a:t>解析法</a:t>
            </a:r>
          </a:p>
        </p:txBody>
      </p:sp>
      <p:sp>
        <p:nvSpPr>
          <p:cNvPr id="60419" name="Rectangle 3"/>
          <p:cNvSpPr>
            <a:spLocks noGrp="1" noChangeArrowheads="1"/>
          </p:cNvSpPr>
          <p:nvPr>
            <p:ph type="body" idx="1"/>
          </p:nvPr>
        </p:nvSpPr>
        <p:spPr/>
        <p:txBody>
          <a:bodyPr/>
          <a:lstStyle/>
          <a:p>
            <a:pPr eaLnBrk="1" hangingPunct="1"/>
            <a:r>
              <a:rPr lang="zh-CN" altLang="en-US">
                <a:latin typeface="Arial" charset="0"/>
                <a:ea typeface="宋体" charset="0"/>
              </a:rPr>
              <a:t>在方案经济效果指标（如净现值）服从某种典型概率分布的情况下，如果已知其期望值与标准差，可以使用解析法进行方案风险估计。</a:t>
            </a:r>
          </a:p>
          <a:p>
            <a:pPr eaLnBrk="1" hangingPunct="1"/>
            <a:endParaRPr lang="zh-CN" altLang="en-US">
              <a:latin typeface="Arial" charset="0"/>
              <a:ea typeface="宋体" charset="0"/>
            </a:endParaRPr>
          </a:p>
          <a:p>
            <a:pPr eaLnBrk="1" hangingPunct="1"/>
            <a:r>
              <a:rPr lang="zh-CN" altLang="en-US">
                <a:latin typeface="Arial" charset="0"/>
                <a:ea typeface="宋体" charset="0"/>
              </a:rPr>
              <a:t>例：假定方案净现值服从正态分布，求</a:t>
            </a:r>
            <a:br>
              <a:rPr lang="zh-CN" altLang="en-US">
                <a:latin typeface="Arial" charset="0"/>
                <a:ea typeface="宋体" charset="0"/>
              </a:rPr>
            </a:br>
            <a:r>
              <a:rPr lang="en-US" altLang="zh-CN">
                <a:latin typeface="Arial" charset="0"/>
                <a:ea typeface="宋体" charset="0"/>
              </a:rPr>
              <a:t>(1)</a:t>
            </a:r>
            <a:r>
              <a:rPr lang="zh-CN" altLang="en-US">
                <a:latin typeface="Arial" charset="0"/>
                <a:ea typeface="宋体" charset="0"/>
              </a:rPr>
              <a:t>净现值大于或等于</a:t>
            </a:r>
            <a:r>
              <a:rPr lang="en-US" altLang="zh-CN">
                <a:latin typeface="Arial" charset="0"/>
                <a:ea typeface="宋体" charset="0"/>
              </a:rPr>
              <a:t>0</a:t>
            </a:r>
            <a:r>
              <a:rPr lang="zh-CN" altLang="en-US">
                <a:latin typeface="Arial" charset="0"/>
                <a:ea typeface="宋体" charset="0"/>
              </a:rPr>
              <a:t>的概率</a:t>
            </a:r>
            <a:br>
              <a:rPr lang="zh-CN" altLang="en-US">
                <a:latin typeface="Arial" charset="0"/>
                <a:ea typeface="宋体" charset="0"/>
              </a:rPr>
            </a:br>
            <a:r>
              <a:rPr lang="en-US" altLang="zh-CN">
                <a:latin typeface="Arial" charset="0"/>
                <a:ea typeface="宋体" charset="0"/>
              </a:rPr>
              <a:t>(2)</a:t>
            </a:r>
            <a:r>
              <a:rPr lang="zh-CN" altLang="en-US">
                <a:latin typeface="Arial" charset="0"/>
                <a:ea typeface="宋体" charset="0"/>
              </a:rPr>
              <a:t>净现值小于－</a:t>
            </a:r>
            <a:r>
              <a:rPr lang="en-US" altLang="zh-CN">
                <a:latin typeface="Arial" charset="0"/>
                <a:ea typeface="宋体" charset="0"/>
              </a:rPr>
              <a:t>100</a:t>
            </a:r>
            <a:r>
              <a:rPr lang="zh-CN" altLang="en-US">
                <a:latin typeface="Arial" charset="0"/>
                <a:ea typeface="宋体" charset="0"/>
              </a:rPr>
              <a:t>万元的概率</a:t>
            </a:r>
            <a:br>
              <a:rPr lang="zh-CN" altLang="en-US">
                <a:latin typeface="Arial" charset="0"/>
                <a:ea typeface="宋体" charset="0"/>
              </a:rPr>
            </a:br>
            <a:r>
              <a:rPr lang="en-US" altLang="zh-CN">
                <a:latin typeface="Arial" charset="0"/>
                <a:ea typeface="宋体" charset="0"/>
              </a:rPr>
              <a:t>(3)</a:t>
            </a:r>
            <a:r>
              <a:rPr lang="zh-CN" altLang="en-US">
                <a:latin typeface="Arial" charset="0"/>
                <a:ea typeface="宋体" charset="0"/>
              </a:rPr>
              <a:t>净现值大于或等于</a:t>
            </a:r>
            <a:r>
              <a:rPr lang="en-US" altLang="zh-CN">
                <a:latin typeface="Arial" charset="0"/>
                <a:ea typeface="宋体" charset="0"/>
              </a:rPr>
              <a:t>500</a:t>
            </a:r>
            <a:r>
              <a:rPr lang="zh-CN" altLang="en-US">
                <a:latin typeface="Arial" charset="0"/>
                <a:ea typeface="宋体" charset="0"/>
              </a:rPr>
              <a:t>万元的概率</a:t>
            </a:r>
          </a:p>
          <a:p>
            <a:pPr eaLnBrk="1" hangingPunct="1"/>
            <a:endParaRPr lang="zh-CN" altLang="en-US">
              <a:latin typeface="Arial" charset="0"/>
              <a:ea typeface="宋体" charset="0"/>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US" altLang="zh-CN">
                <a:latin typeface="Arial" charset="0"/>
                <a:ea typeface="楷体_GB2312" charset="0"/>
                <a:cs typeface="楷体_GB2312" charset="0"/>
              </a:rPr>
              <a:t>(2) </a:t>
            </a:r>
            <a:r>
              <a:rPr lang="zh-CN" altLang="en-US">
                <a:latin typeface="Arial" charset="0"/>
                <a:ea typeface="楷体_GB2312" charset="0"/>
                <a:cs typeface="楷体_GB2312" charset="0"/>
              </a:rPr>
              <a:t>图示法</a:t>
            </a:r>
          </a:p>
        </p:txBody>
      </p:sp>
      <p:sp>
        <p:nvSpPr>
          <p:cNvPr id="62467" name="Rectangle 3"/>
          <p:cNvSpPr>
            <a:spLocks noGrp="1" noChangeArrowheads="1"/>
          </p:cNvSpPr>
          <p:nvPr>
            <p:ph type="body" idx="1"/>
          </p:nvPr>
        </p:nvSpPr>
        <p:spPr/>
        <p:txBody>
          <a:bodyPr/>
          <a:lstStyle/>
          <a:p>
            <a:pPr eaLnBrk="1" hangingPunct="1"/>
            <a:r>
              <a:rPr lang="zh-CN" altLang="en-US">
                <a:latin typeface="Arial" charset="0"/>
                <a:ea typeface="宋体" charset="0"/>
              </a:rPr>
              <a:t>如果已知所有可能出现的方案现金流量状态所对应的经济效果指标（如</a:t>
            </a:r>
            <a:r>
              <a:rPr lang="en-US" altLang="zh-CN">
                <a:latin typeface="Arial" charset="0"/>
                <a:ea typeface="宋体" charset="0"/>
              </a:rPr>
              <a:t>NPV</a:t>
            </a:r>
            <a:r>
              <a:rPr lang="zh-CN" altLang="en-US">
                <a:latin typeface="Arial" charset="0"/>
                <a:ea typeface="宋体" charset="0"/>
              </a:rPr>
              <a:t>）及其发生概率，可以绘出投资风险图表明方案的风险情况。</a:t>
            </a:r>
          </a:p>
        </p:txBody>
      </p:sp>
      <p:pic>
        <p:nvPicPr>
          <p:cNvPr id="62468" name="Picture 4"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9838" y="3028950"/>
            <a:ext cx="6440487" cy="3289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zh-CN" altLang="en-US">
                <a:solidFill>
                  <a:srgbClr val="000000"/>
                </a:solidFill>
                <a:latin typeface="Arial" charset="0"/>
                <a:ea typeface="楷体_GB2312" charset="0"/>
                <a:cs typeface="楷体_GB2312" charset="0"/>
              </a:rPr>
              <a:t>概率树分析 </a:t>
            </a:r>
          </a:p>
        </p:txBody>
      </p:sp>
      <p:sp>
        <p:nvSpPr>
          <p:cNvPr id="920581" name="Rectangle 5"/>
          <p:cNvSpPr>
            <a:spLocks noChangeArrowheads="1"/>
          </p:cNvSpPr>
          <p:nvPr/>
        </p:nvSpPr>
        <p:spPr bwMode="auto">
          <a:xfrm>
            <a:off x="323850" y="692150"/>
            <a:ext cx="8424863" cy="6076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1" hangingPunct="1">
              <a:lnSpc>
                <a:spcPct val="140000"/>
              </a:lnSpc>
            </a:pPr>
            <a:r>
              <a:rPr kumimoji="1" lang="zh-CN" altLang="en-US" sz="2800" b="0">
                <a:solidFill>
                  <a:srgbClr val="000000"/>
                </a:solidFill>
                <a:latin typeface="黑体" charset="0"/>
                <a:ea typeface="黑体" charset="0"/>
                <a:cs typeface="黑体" charset="0"/>
              </a:rPr>
              <a:t>概率分析是通过研究各种不确定性因素发生不同变动幅度的概率分布及其对项目经济效益指标的影响，对项目可行性和风险性以及方案优劣作出判断的一种不确定性分析法。概率分析常用于对大中型重要若干项目的评估和决策之中。</a:t>
            </a:r>
          </a:p>
          <a:p>
            <a:pPr eaLnBrk="1" hangingPunct="1">
              <a:lnSpc>
                <a:spcPct val="140000"/>
              </a:lnSpc>
            </a:pPr>
            <a:r>
              <a:rPr kumimoji="1" lang="zh-CN" altLang="en-US" sz="2800" b="0">
                <a:solidFill>
                  <a:srgbClr val="000000"/>
                </a:solidFill>
                <a:latin typeface="黑体" charset="0"/>
                <a:ea typeface="黑体" charset="0"/>
                <a:cs typeface="黑体" charset="0"/>
              </a:rPr>
              <a:t>    进行概率分析具体的方法主要有期望值法、效用函数法和模拟分析法等。</a:t>
            </a:r>
          </a:p>
          <a:p>
            <a:pPr eaLnBrk="1" hangingPunct="1">
              <a:lnSpc>
                <a:spcPct val="140000"/>
              </a:lnSpc>
            </a:pPr>
            <a:r>
              <a:rPr kumimoji="1" lang="zh-CN" altLang="en-US" sz="2800" b="0">
                <a:solidFill>
                  <a:srgbClr val="000000"/>
                </a:solidFill>
                <a:latin typeface="黑体" charset="0"/>
                <a:ea typeface="黑体" charset="0"/>
                <a:cs typeface="黑体" charset="0"/>
              </a:rPr>
              <a:t>    期望值法是通过计算项目净现值的期望值和净现值大于或等于零时的累计概率，来比较方案优劣、确定项目可行性和风险程度的方法。</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920581"/>
                                        </p:tgtEl>
                                        <p:attrNameLst>
                                          <p:attrName>style.visibility</p:attrName>
                                        </p:attrNameLst>
                                      </p:cBhvr>
                                      <p:to>
                                        <p:strVal val="visible"/>
                                      </p:to>
                                    </p:set>
                                    <p:animEffect transition="in" filter="box(in)">
                                      <p:cBhvr>
                                        <p:cTn id="7" dur="500"/>
                                        <p:tgtEl>
                                          <p:spTgt spid="920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0581"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zh-CN" altLang="en-US">
                <a:solidFill>
                  <a:srgbClr val="000000"/>
                </a:solidFill>
                <a:latin typeface="Arial" charset="0"/>
                <a:ea typeface="楷体_GB2312" charset="0"/>
                <a:cs typeface="楷体_GB2312" charset="0"/>
              </a:rPr>
              <a:t>概率树分析</a:t>
            </a:r>
            <a:r>
              <a:rPr lang="zh-CN" altLang="en-US" b="0">
                <a:solidFill>
                  <a:srgbClr val="000000"/>
                </a:solidFill>
                <a:latin typeface="Arial" charset="0"/>
                <a:ea typeface="楷体_GB2312" charset="0"/>
                <a:cs typeface="楷体_GB2312" charset="0"/>
              </a:rPr>
              <a:t>步骤</a:t>
            </a:r>
          </a:p>
        </p:txBody>
      </p:sp>
      <p:sp>
        <p:nvSpPr>
          <p:cNvPr id="921605" name="Rectangle 5"/>
          <p:cNvSpPr>
            <a:spLocks noChangeArrowheads="1"/>
          </p:cNvSpPr>
          <p:nvPr/>
        </p:nvSpPr>
        <p:spPr bwMode="auto">
          <a:xfrm>
            <a:off x="323850" y="911225"/>
            <a:ext cx="8820150" cy="3940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1" hangingPunct="1">
              <a:lnSpc>
                <a:spcPct val="150000"/>
              </a:lnSpc>
            </a:pPr>
            <a:r>
              <a:rPr kumimoji="1" lang="zh-CN" altLang="en-US" sz="2800" b="0">
                <a:solidFill>
                  <a:srgbClr val="000000"/>
                </a:solidFill>
                <a:latin typeface="Times New Roman" charset="0"/>
                <a:ea typeface="黑体" charset="0"/>
                <a:cs typeface="黑体" charset="0"/>
              </a:rPr>
              <a:t>（</a:t>
            </a:r>
            <a:r>
              <a:rPr kumimoji="1" lang="en-US" altLang="zh-CN" sz="2800" b="0">
                <a:solidFill>
                  <a:srgbClr val="000000"/>
                </a:solidFill>
                <a:latin typeface="Times New Roman" charset="0"/>
                <a:ea typeface="黑体" charset="0"/>
                <a:cs typeface="黑体" charset="0"/>
              </a:rPr>
              <a:t>1</a:t>
            </a:r>
            <a:r>
              <a:rPr kumimoji="1" lang="zh-CN" altLang="en-US" sz="2800" b="0">
                <a:solidFill>
                  <a:srgbClr val="000000"/>
                </a:solidFill>
                <a:latin typeface="Times New Roman" charset="0"/>
                <a:ea typeface="黑体" charset="0"/>
                <a:cs typeface="黑体" charset="0"/>
              </a:rPr>
              <a:t>）列出要考虑的各种风险因素，如投资、经营成本、销售价格等；</a:t>
            </a:r>
          </a:p>
          <a:p>
            <a:pPr eaLnBrk="1" hangingPunct="1">
              <a:lnSpc>
                <a:spcPct val="150000"/>
              </a:lnSpc>
            </a:pPr>
            <a:r>
              <a:rPr kumimoji="1" lang="zh-CN" altLang="en-US" sz="2800" b="0">
                <a:solidFill>
                  <a:srgbClr val="000000"/>
                </a:solidFill>
                <a:latin typeface="Times New Roman" charset="0"/>
                <a:ea typeface="黑体" charset="0"/>
                <a:cs typeface="黑体" charset="0"/>
              </a:rPr>
              <a:t>（</a:t>
            </a:r>
            <a:r>
              <a:rPr kumimoji="1" lang="en-US" altLang="zh-CN" sz="2800" b="0">
                <a:solidFill>
                  <a:srgbClr val="000000"/>
                </a:solidFill>
                <a:latin typeface="Times New Roman" charset="0"/>
                <a:ea typeface="黑体" charset="0"/>
                <a:cs typeface="黑体" charset="0"/>
              </a:rPr>
              <a:t>2</a:t>
            </a:r>
            <a:r>
              <a:rPr kumimoji="1" lang="zh-CN" altLang="en-US" sz="2800" b="0">
                <a:solidFill>
                  <a:srgbClr val="000000"/>
                </a:solidFill>
                <a:latin typeface="Times New Roman" charset="0"/>
                <a:ea typeface="黑体" charset="0"/>
                <a:cs typeface="黑体" charset="0"/>
              </a:rPr>
              <a:t>）设想各种风险因素可能发生的状态，即确定其数值发生变化个数；</a:t>
            </a:r>
          </a:p>
          <a:p>
            <a:pPr eaLnBrk="1" hangingPunct="1">
              <a:lnSpc>
                <a:spcPct val="150000"/>
              </a:lnSpc>
            </a:pPr>
            <a:r>
              <a:rPr kumimoji="1" lang="zh-CN" altLang="en-US" sz="2800" b="0">
                <a:solidFill>
                  <a:srgbClr val="000000"/>
                </a:solidFill>
                <a:latin typeface="Times New Roman" charset="0"/>
                <a:ea typeface="黑体" charset="0"/>
                <a:cs typeface="黑体" charset="0"/>
              </a:rPr>
              <a:t>（</a:t>
            </a:r>
            <a:r>
              <a:rPr kumimoji="1" lang="en-US" altLang="zh-CN" sz="2800" b="0">
                <a:solidFill>
                  <a:srgbClr val="000000"/>
                </a:solidFill>
                <a:latin typeface="Times New Roman" charset="0"/>
                <a:ea typeface="黑体" charset="0"/>
                <a:cs typeface="黑体" charset="0"/>
              </a:rPr>
              <a:t>3</a:t>
            </a:r>
            <a:r>
              <a:rPr kumimoji="1" lang="zh-CN" altLang="en-US" sz="2800" b="0">
                <a:solidFill>
                  <a:srgbClr val="000000"/>
                </a:solidFill>
                <a:latin typeface="Times New Roman" charset="0"/>
                <a:ea typeface="黑体" charset="0"/>
                <a:cs typeface="黑体" charset="0"/>
              </a:rPr>
              <a:t>）分别确定各种状态可能出现的概率，并使可能发生状态概率之和等于</a:t>
            </a:r>
            <a:r>
              <a:rPr kumimoji="1" lang="en-US" altLang="zh-CN" sz="2800" b="0">
                <a:solidFill>
                  <a:srgbClr val="000000"/>
                </a:solidFill>
                <a:latin typeface="Times New Roman" charset="0"/>
                <a:ea typeface="黑体" charset="0"/>
                <a:cs typeface="黑体" charset="0"/>
              </a:rPr>
              <a:t>1</a:t>
            </a:r>
            <a:r>
              <a:rPr kumimoji="1" lang="zh-CN" altLang="en-US" sz="2800" b="0">
                <a:solidFill>
                  <a:srgbClr val="000000"/>
                </a:solidFill>
                <a:latin typeface="Times New Roman" charset="0"/>
                <a:ea typeface="黑体" charset="0"/>
                <a:cs typeface="黑体"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921605"/>
                                        </p:tgtEl>
                                        <p:attrNameLst>
                                          <p:attrName>style.visibility</p:attrName>
                                        </p:attrNameLst>
                                      </p:cBhvr>
                                      <p:to>
                                        <p:strVal val="visible"/>
                                      </p:to>
                                    </p:set>
                                    <p:animEffect transition="in" filter="box(in)">
                                      <p:cBhvr>
                                        <p:cTn id="7" dur="500"/>
                                        <p:tgtEl>
                                          <p:spTgt spid="921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05"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zh-CN" altLang="en-US">
                <a:solidFill>
                  <a:srgbClr val="000000"/>
                </a:solidFill>
                <a:latin typeface="Arial" charset="0"/>
                <a:ea typeface="楷体_GB2312" charset="0"/>
                <a:cs typeface="楷体_GB2312" charset="0"/>
              </a:rPr>
              <a:t>概率树分析</a:t>
            </a:r>
            <a:r>
              <a:rPr lang="zh-CN" altLang="en-US" b="0">
                <a:solidFill>
                  <a:srgbClr val="000000"/>
                </a:solidFill>
                <a:latin typeface="Arial" charset="0"/>
                <a:ea typeface="楷体_GB2312" charset="0"/>
                <a:cs typeface="楷体_GB2312" charset="0"/>
              </a:rPr>
              <a:t>步骤</a:t>
            </a:r>
          </a:p>
        </p:txBody>
      </p:sp>
      <p:sp>
        <p:nvSpPr>
          <p:cNvPr id="922629" name="Rectangle 5"/>
          <p:cNvSpPr>
            <a:spLocks noChangeArrowheads="1"/>
          </p:cNvSpPr>
          <p:nvPr/>
        </p:nvSpPr>
        <p:spPr bwMode="auto">
          <a:xfrm>
            <a:off x="250825" y="911225"/>
            <a:ext cx="8893175" cy="3298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1" hangingPunct="1">
              <a:lnSpc>
                <a:spcPct val="150000"/>
              </a:lnSpc>
            </a:pPr>
            <a:r>
              <a:rPr kumimoji="1" lang="zh-CN" altLang="en-US" sz="2800" b="0">
                <a:solidFill>
                  <a:srgbClr val="000000"/>
                </a:solidFill>
                <a:latin typeface="Times New Roman" charset="0"/>
                <a:ea typeface="黑体" charset="0"/>
                <a:cs typeface="黑体" charset="0"/>
              </a:rPr>
              <a:t>（</a:t>
            </a:r>
            <a:r>
              <a:rPr kumimoji="1" lang="en-US" altLang="zh-CN" sz="2800" b="0">
                <a:solidFill>
                  <a:srgbClr val="000000"/>
                </a:solidFill>
                <a:latin typeface="Times New Roman" charset="0"/>
                <a:ea typeface="黑体" charset="0"/>
                <a:cs typeface="黑体" charset="0"/>
              </a:rPr>
              <a:t>4</a:t>
            </a:r>
            <a:r>
              <a:rPr kumimoji="1" lang="zh-CN" altLang="en-US" sz="2800" b="0">
                <a:solidFill>
                  <a:srgbClr val="000000"/>
                </a:solidFill>
                <a:latin typeface="Times New Roman" charset="0"/>
                <a:ea typeface="黑体" charset="0"/>
                <a:cs typeface="黑体" charset="0"/>
              </a:rPr>
              <a:t>）分别求出各种风险因素发生变化时，方案净现金流量各状态发生的概率和相应状态下的净现值</a:t>
            </a:r>
            <a:r>
              <a:rPr kumimoji="1" lang="en-US" altLang="zh-CN" sz="2800" b="0" i="1">
                <a:solidFill>
                  <a:srgbClr val="000000"/>
                </a:solidFill>
                <a:latin typeface="Times New Roman" charset="0"/>
                <a:ea typeface="黑体" charset="0"/>
                <a:cs typeface="黑体" charset="0"/>
              </a:rPr>
              <a:t>NPV</a:t>
            </a:r>
            <a:r>
              <a:rPr kumimoji="1" lang="en-US" altLang="zh-CN" sz="2800" b="0">
                <a:solidFill>
                  <a:srgbClr val="000000"/>
                </a:solidFill>
                <a:latin typeface="Times New Roman" charset="0"/>
                <a:ea typeface="黑体" charset="0"/>
                <a:cs typeface="黑体" charset="0"/>
              </a:rPr>
              <a:t>(j)</a:t>
            </a:r>
            <a:r>
              <a:rPr kumimoji="1" lang="zh-CN" altLang="en-US" sz="2800" b="0">
                <a:solidFill>
                  <a:srgbClr val="000000"/>
                </a:solidFill>
                <a:latin typeface="Times New Roman" charset="0"/>
                <a:ea typeface="黑体" charset="0"/>
                <a:cs typeface="黑体" charset="0"/>
              </a:rPr>
              <a:t>；</a:t>
            </a:r>
          </a:p>
          <a:p>
            <a:pPr eaLnBrk="1" hangingPunct="1">
              <a:lnSpc>
                <a:spcPct val="150000"/>
              </a:lnSpc>
            </a:pPr>
            <a:r>
              <a:rPr kumimoji="1" lang="zh-CN" altLang="en-US" sz="2800" b="0">
                <a:solidFill>
                  <a:srgbClr val="000000"/>
                </a:solidFill>
                <a:latin typeface="Times New Roman" charset="0"/>
                <a:ea typeface="黑体" charset="0"/>
                <a:cs typeface="黑体" charset="0"/>
              </a:rPr>
              <a:t>（</a:t>
            </a:r>
            <a:r>
              <a:rPr kumimoji="1" lang="en-US" altLang="zh-CN" sz="2800" b="0">
                <a:solidFill>
                  <a:srgbClr val="000000"/>
                </a:solidFill>
                <a:latin typeface="Times New Roman" charset="0"/>
                <a:ea typeface="黑体" charset="0"/>
                <a:cs typeface="黑体" charset="0"/>
              </a:rPr>
              <a:t>5</a:t>
            </a:r>
            <a:r>
              <a:rPr kumimoji="1" lang="zh-CN" altLang="en-US" sz="2800" b="0">
                <a:solidFill>
                  <a:srgbClr val="000000"/>
                </a:solidFill>
                <a:latin typeface="Times New Roman" charset="0"/>
                <a:ea typeface="黑体" charset="0"/>
                <a:cs typeface="黑体" charset="0"/>
              </a:rPr>
              <a:t>）求方案净现值的期望值（均值）</a:t>
            </a:r>
            <a:r>
              <a:rPr kumimoji="1" lang="en-US" altLang="zh-CN" sz="2800" b="0">
                <a:solidFill>
                  <a:srgbClr val="000000"/>
                </a:solidFill>
                <a:latin typeface="Times New Roman" charset="0"/>
                <a:ea typeface="黑体" charset="0"/>
                <a:cs typeface="黑体" charset="0"/>
              </a:rPr>
              <a:t>E</a:t>
            </a:r>
            <a:r>
              <a:rPr kumimoji="1" lang="zh-CN" altLang="en-US" sz="2800" b="0">
                <a:solidFill>
                  <a:srgbClr val="000000"/>
                </a:solidFill>
                <a:latin typeface="Times New Roman" charset="0"/>
                <a:ea typeface="黑体" charset="0"/>
                <a:cs typeface="黑体" charset="0"/>
              </a:rPr>
              <a:t>（</a:t>
            </a:r>
            <a:r>
              <a:rPr kumimoji="1" lang="en-US" altLang="zh-CN" sz="2800" b="0" i="1">
                <a:solidFill>
                  <a:srgbClr val="000000"/>
                </a:solidFill>
                <a:latin typeface="Times New Roman" charset="0"/>
                <a:ea typeface="黑体" charset="0"/>
                <a:cs typeface="黑体" charset="0"/>
              </a:rPr>
              <a:t>NPV</a:t>
            </a:r>
            <a:r>
              <a:rPr kumimoji="1" lang="zh-CN" altLang="en-US" sz="2800" b="0">
                <a:solidFill>
                  <a:srgbClr val="000000"/>
                </a:solidFill>
                <a:latin typeface="Times New Roman" charset="0"/>
                <a:ea typeface="黑体" charset="0"/>
                <a:cs typeface="黑体" charset="0"/>
              </a:rPr>
              <a:t>）；</a:t>
            </a:r>
          </a:p>
          <a:p>
            <a:pPr eaLnBrk="1" hangingPunct="1">
              <a:lnSpc>
                <a:spcPct val="150000"/>
              </a:lnSpc>
            </a:pPr>
            <a:r>
              <a:rPr kumimoji="1" lang="zh-CN" altLang="en-US" sz="2800" b="0">
                <a:solidFill>
                  <a:srgbClr val="000000"/>
                </a:solidFill>
                <a:latin typeface="Times New Roman" charset="0"/>
                <a:ea typeface="黑体" charset="0"/>
                <a:cs typeface="黑体" charset="0"/>
              </a:rPr>
              <a:t>（</a:t>
            </a:r>
            <a:r>
              <a:rPr kumimoji="1" lang="en-US" altLang="zh-CN" sz="2800" b="0">
                <a:solidFill>
                  <a:srgbClr val="000000"/>
                </a:solidFill>
                <a:latin typeface="Times New Roman" charset="0"/>
                <a:ea typeface="黑体" charset="0"/>
                <a:cs typeface="黑体" charset="0"/>
              </a:rPr>
              <a:t>6</a:t>
            </a:r>
            <a:r>
              <a:rPr kumimoji="1" lang="zh-CN" altLang="en-US" sz="2800" b="0">
                <a:solidFill>
                  <a:srgbClr val="000000"/>
                </a:solidFill>
                <a:latin typeface="Times New Roman" charset="0"/>
                <a:ea typeface="黑体" charset="0"/>
                <a:cs typeface="黑体" charset="0"/>
              </a:rPr>
              <a:t>）求出方案净现值非负的累计概率；</a:t>
            </a:r>
          </a:p>
          <a:p>
            <a:pPr eaLnBrk="1" hangingPunct="1">
              <a:lnSpc>
                <a:spcPct val="150000"/>
              </a:lnSpc>
            </a:pPr>
            <a:r>
              <a:rPr kumimoji="1" lang="zh-CN" altLang="en-US" sz="2800" b="0">
                <a:solidFill>
                  <a:srgbClr val="000000"/>
                </a:solidFill>
                <a:latin typeface="Times New Roman" charset="0"/>
                <a:ea typeface="黑体" charset="0"/>
                <a:cs typeface="黑体" charset="0"/>
              </a:rPr>
              <a:t>（</a:t>
            </a:r>
            <a:r>
              <a:rPr kumimoji="1" lang="en-US" altLang="zh-CN" sz="2800" b="0">
                <a:solidFill>
                  <a:srgbClr val="000000"/>
                </a:solidFill>
                <a:latin typeface="Times New Roman" charset="0"/>
                <a:ea typeface="黑体" charset="0"/>
                <a:cs typeface="黑体" charset="0"/>
              </a:rPr>
              <a:t>7</a:t>
            </a:r>
            <a:r>
              <a:rPr kumimoji="1" lang="zh-CN" altLang="en-US" sz="2800" b="0">
                <a:solidFill>
                  <a:srgbClr val="000000"/>
                </a:solidFill>
                <a:latin typeface="Times New Roman" charset="0"/>
                <a:ea typeface="黑体" charset="0"/>
                <a:cs typeface="黑体" charset="0"/>
              </a:rPr>
              <a:t>）对概率分析结果作说明。</a:t>
            </a:r>
          </a:p>
        </p:txBody>
      </p:sp>
      <p:sp>
        <p:nvSpPr>
          <p:cNvPr id="66564" name="Rectangle 6"/>
          <p:cNvSpPr>
            <a:spLocks noChangeArrowheads="1"/>
          </p:cNvSpPr>
          <p:nvPr/>
        </p:nvSpPr>
        <p:spPr bwMode="auto">
          <a:xfrm>
            <a:off x="0" y="2938463"/>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eaLnBrk="1" hangingPunct="1">
              <a:lnSpc>
                <a:spcPct val="90000"/>
              </a:lnSpc>
              <a:spcBef>
                <a:spcPct val="50000"/>
              </a:spcBef>
              <a:buFontTx/>
              <a:buChar char="•"/>
            </a:pPr>
            <a:endParaRPr lang="zh-CN" altLang="en-US"/>
          </a:p>
        </p:txBody>
      </p:sp>
      <p:graphicFrame>
        <p:nvGraphicFramePr>
          <p:cNvPr id="66565" name="Object 7"/>
          <p:cNvGraphicFramePr>
            <a:graphicFrameLocks noChangeAspect="1"/>
          </p:cNvGraphicFramePr>
          <p:nvPr/>
        </p:nvGraphicFramePr>
        <p:xfrm>
          <a:off x="2195513" y="4437063"/>
          <a:ext cx="5184775" cy="2062162"/>
        </p:xfrm>
        <a:graphic>
          <a:graphicData uri="http://schemas.openxmlformats.org/presentationml/2006/ole">
            <mc:AlternateContent xmlns:mc="http://schemas.openxmlformats.org/markup-compatibility/2006">
              <mc:Choice xmlns:v="urn:schemas-microsoft-com:vml" Requires="v">
                <p:oleObj spid="_x0000_s66577" name="公式" r:id="rId3" imgW="2032000" imgH="927100" progId="Equation.3">
                  <p:embed/>
                </p:oleObj>
              </mc:Choice>
              <mc:Fallback>
                <p:oleObj name="公式" r:id="rId3" imgW="2032000" imgH="9271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4437063"/>
                        <a:ext cx="5184775" cy="20621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922629"/>
                                        </p:tgtEl>
                                        <p:attrNameLst>
                                          <p:attrName>style.visibility</p:attrName>
                                        </p:attrNameLst>
                                      </p:cBhvr>
                                      <p:to>
                                        <p:strVal val="visible"/>
                                      </p:to>
                                    </p:set>
                                    <p:animEffect transition="in" filter="box(in)">
                                      <p:cBhvr>
                                        <p:cTn id="7" dur="500"/>
                                        <p:tgtEl>
                                          <p:spTgt spid="922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629"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zh-CN" altLang="en-US">
                <a:solidFill>
                  <a:srgbClr val="000000"/>
                </a:solidFill>
                <a:latin typeface="Arial" charset="0"/>
                <a:ea typeface="楷体_GB2312" charset="0"/>
                <a:cs typeface="楷体_GB2312" charset="0"/>
              </a:rPr>
              <a:t>概率树分析 </a:t>
            </a:r>
          </a:p>
        </p:txBody>
      </p:sp>
      <p:sp>
        <p:nvSpPr>
          <p:cNvPr id="923653" name="Rectangle 5"/>
          <p:cNvSpPr>
            <a:spLocks noChangeArrowheads="1"/>
          </p:cNvSpPr>
          <p:nvPr/>
        </p:nvSpPr>
        <p:spPr bwMode="auto">
          <a:xfrm>
            <a:off x="323850" y="911225"/>
            <a:ext cx="8424863" cy="287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1" hangingPunct="1">
              <a:lnSpc>
                <a:spcPct val="130000"/>
              </a:lnSpc>
            </a:pPr>
            <a:r>
              <a:rPr kumimoji="1" lang="zh-CN" altLang="en-US" sz="2800" b="0">
                <a:solidFill>
                  <a:srgbClr val="000000"/>
                </a:solidFill>
                <a:latin typeface="Times New Roman" charset="0"/>
                <a:ea typeface="黑体" charset="0"/>
                <a:cs typeface="黑体" charset="0"/>
              </a:rPr>
              <a:t>某商品住宅小区开发项目现金流量的估计值如下表</a:t>
            </a:r>
            <a:r>
              <a:rPr kumimoji="1" lang="en-US" altLang="zh-CN" sz="2800" b="0">
                <a:solidFill>
                  <a:srgbClr val="000000"/>
                </a:solidFill>
                <a:latin typeface="Times New Roman" charset="0"/>
                <a:ea typeface="黑体" charset="0"/>
                <a:cs typeface="黑体" charset="0"/>
              </a:rPr>
              <a:t>1</a:t>
            </a:r>
            <a:r>
              <a:rPr kumimoji="1" lang="zh-CN" altLang="en-US" sz="2800" b="0">
                <a:solidFill>
                  <a:srgbClr val="000000"/>
                </a:solidFill>
                <a:latin typeface="Times New Roman" charset="0"/>
                <a:ea typeface="黑体" charset="0"/>
                <a:cs typeface="黑体" charset="0"/>
              </a:rPr>
              <a:t>所示，根据经验推断，销售收入和开发成本为离散型随机变量，其值在估计值的基础上可能发生的变化及其概率见下表</a:t>
            </a:r>
            <a:r>
              <a:rPr kumimoji="1" lang="en-US" altLang="zh-CN" sz="2800" b="0">
                <a:solidFill>
                  <a:srgbClr val="000000"/>
                </a:solidFill>
                <a:latin typeface="Times New Roman" charset="0"/>
                <a:ea typeface="黑体" charset="0"/>
                <a:cs typeface="黑体" charset="0"/>
              </a:rPr>
              <a:t>2</a:t>
            </a:r>
            <a:r>
              <a:rPr kumimoji="1" lang="zh-CN" altLang="en-US" sz="2800" b="0">
                <a:solidFill>
                  <a:srgbClr val="000000"/>
                </a:solidFill>
                <a:latin typeface="Times New Roman" charset="0"/>
                <a:ea typeface="黑体" charset="0"/>
                <a:cs typeface="黑体" charset="0"/>
              </a:rPr>
              <a:t>。试确定该项目净现值大于等于零的概率。基准收益率</a:t>
            </a:r>
            <a:r>
              <a:rPr kumimoji="1" lang="en-US" altLang="zh-CN" sz="2800" b="0" i="1">
                <a:solidFill>
                  <a:srgbClr val="000000"/>
                </a:solidFill>
                <a:latin typeface="Times New Roman" charset="0"/>
                <a:ea typeface="黑体" charset="0"/>
                <a:cs typeface="黑体" charset="0"/>
              </a:rPr>
              <a:t>i</a:t>
            </a:r>
            <a:r>
              <a:rPr kumimoji="1" lang="en-US" altLang="zh-CN" sz="2800" b="0">
                <a:solidFill>
                  <a:srgbClr val="000000"/>
                </a:solidFill>
                <a:latin typeface="Times New Roman" charset="0"/>
                <a:ea typeface="黑体" charset="0"/>
                <a:cs typeface="黑体" charset="0"/>
              </a:rPr>
              <a:t>c=12%</a:t>
            </a:r>
            <a:r>
              <a:rPr kumimoji="1" lang="zh-CN" altLang="en-US" sz="2800" b="0">
                <a:solidFill>
                  <a:srgbClr val="000000"/>
                </a:solidFill>
                <a:latin typeface="Times New Roman" charset="0"/>
                <a:ea typeface="黑体" charset="0"/>
                <a:cs typeface="黑体" charset="0"/>
              </a:rPr>
              <a:t>。</a:t>
            </a:r>
            <a:r>
              <a:rPr kumimoji="1" lang="zh-CN" altLang="en-US" sz="2800">
                <a:solidFill>
                  <a:srgbClr val="000000"/>
                </a:solidFill>
                <a:latin typeface="Times New Roman" charset="0"/>
                <a:ea typeface="黑体" charset="0"/>
                <a:cs typeface="黑体" charset="0"/>
              </a:rPr>
              <a:t> </a:t>
            </a:r>
          </a:p>
        </p:txBody>
      </p:sp>
      <p:pic>
        <p:nvPicPr>
          <p:cNvPr id="67588" name="Picture 7"/>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23850" y="4025900"/>
            <a:ext cx="8424863" cy="2622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923653"/>
                                        </p:tgtEl>
                                        <p:attrNameLst>
                                          <p:attrName>style.visibility</p:attrName>
                                        </p:attrNameLst>
                                      </p:cBhvr>
                                      <p:to>
                                        <p:strVal val="visible"/>
                                      </p:to>
                                    </p:set>
                                    <p:animEffect transition="in" filter="box(in)">
                                      <p:cBhvr>
                                        <p:cTn id="7" dur="500"/>
                                        <p:tgtEl>
                                          <p:spTgt spid="923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653"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a:spLocks noGrp="1" noChangeArrowheads="1"/>
          </p:cNvSpPr>
          <p:nvPr>
            <p:ph type="title"/>
          </p:nvPr>
        </p:nvSpPr>
        <p:spPr>
          <a:xfrm>
            <a:off x="0" y="0"/>
            <a:ext cx="8721725" cy="1147763"/>
          </a:xfrm>
          <a:noFill/>
          <a:extLst>
            <a:ext uri="{909E8E84-426E-40dd-AFC4-6F175D3DCCD1}">
              <a14:hiddenFill xmlns:a14="http://schemas.microsoft.com/office/drawing/2010/main" xmlns="">
                <a:solidFill>
                  <a:schemeClr val="tx2"/>
                </a:solidFill>
              </a14:hiddenFill>
            </a:ext>
          </a:extLst>
        </p:spPr>
        <p:txBody>
          <a:bodyPr lIns="91385" tIns="45695" rIns="91385" bIns="45695"/>
          <a:lstStyle/>
          <a:p>
            <a:pPr eaLnBrk="1" hangingPunct="1"/>
            <a:r>
              <a:rPr lang="en-US" altLang="zh-CN">
                <a:latin typeface="Arial" charset="0"/>
                <a:ea typeface="楷体_GB2312" charset="0"/>
                <a:cs typeface="楷体_GB2312" charset="0"/>
              </a:rPr>
              <a:t>Delphi Technique</a:t>
            </a:r>
          </a:p>
        </p:txBody>
      </p:sp>
      <p:sp>
        <p:nvSpPr>
          <p:cNvPr id="68611" name="Rectangle 5"/>
          <p:cNvSpPr>
            <a:spLocks noGrp="1" noChangeArrowheads="1"/>
          </p:cNvSpPr>
          <p:nvPr>
            <p:ph type="body" idx="1"/>
          </p:nvPr>
        </p:nvSpPr>
        <p:spPr>
          <a:xfrm>
            <a:off x="0" y="1223963"/>
            <a:ext cx="8721725" cy="5046662"/>
          </a:xfrm>
          <a:noFill/>
          <a:extLst>
            <a:ext uri="{909E8E84-426E-40dd-AFC4-6F175D3DCCD1}">
              <a14:hiddenFill xmlns:a14="http://schemas.microsoft.com/office/drawing/2010/main" xmlns="">
                <a:solidFill>
                  <a:srgbClr val="FFFFFF"/>
                </a:solidFill>
              </a14:hiddenFill>
            </a:ext>
          </a:extLst>
        </p:spPr>
        <p:txBody>
          <a:bodyPr lIns="91385" tIns="45695" rIns="91385" bIns="45695"/>
          <a:lstStyle/>
          <a:p>
            <a:pPr eaLnBrk="1" hangingPunct="1"/>
            <a:r>
              <a:rPr lang="en-US" altLang="zh-CN">
                <a:latin typeface="Arial" charset="0"/>
                <a:ea typeface="宋体" charset="0"/>
              </a:rPr>
              <a:t>The </a:t>
            </a:r>
            <a:r>
              <a:rPr lang="en-US" altLang="zh-CN" b="0">
                <a:latin typeface="Arial" charset="0"/>
                <a:ea typeface="宋体" charset="0"/>
              </a:rPr>
              <a:t>Delphi Technique</a:t>
            </a:r>
            <a:r>
              <a:rPr lang="en-US" altLang="zh-CN">
                <a:latin typeface="Arial" charset="0"/>
                <a:ea typeface="宋体" charset="0"/>
              </a:rPr>
              <a:t> is used to derive a consensus among a panel of experts who make predictions about future developments.</a:t>
            </a:r>
          </a:p>
          <a:p>
            <a:pPr eaLnBrk="1" hangingPunct="1"/>
            <a:r>
              <a:rPr lang="en-US" altLang="zh-CN">
                <a:latin typeface="Arial" charset="0"/>
                <a:ea typeface="宋体" charset="0"/>
              </a:rPr>
              <a:t>Provides independent and anonymous input regarding future events.</a:t>
            </a:r>
          </a:p>
          <a:p>
            <a:pPr eaLnBrk="1" hangingPunct="1"/>
            <a:r>
              <a:rPr lang="en-US" altLang="zh-CN">
                <a:latin typeface="Arial" charset="0"/>
                <a:ea typeface="宋体" charset="0"/>
              </a:rPr>
              <a:t>Uses repeated rounds of questioning and written responses and avoids the biasing effects possible in oral methods, such as brainstorming. </a:t>
            </a: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4"/>
          <p:cNvSpPr>
            <a:spLocks noGrp="1" noRot="1" noChangeArrowheads="1"/>
          </p:cNvSpPr>
          <p:nvPr>
            <p:ph type="title"/>
          </p:nvPr>
        </p:nvSpPr>
        <p:spPr>
          <a:xfrm>
            <a:off x="301625" y="685800"/>
            <a:ext cx="8540750" cy="1143000"/>
          </a:xfrm>
          <a:noFill/>
          <a:extLst>
            <a:ext uri="{909E8E84-426E-40dd-AFC4-6F175D3DCCD1}">
              <a14:hiddenFill xmlns:a14="http://schemas.microsoft.com/office/drawing/2010/main" xmlns="">
                <a:solidFill>
                  <a:schemeClr val="tx2"/>
                </a:solidFill>
              </a14:hiddenFill>
            </a:ext>
          </a:extLst>
        </p:spPr>
        <p:txBody>
          <a:bodyPr/>
          <a:lstStyle/>
          <a:p>
            <a:pPr eaLnBrk="1" hangingPunct="1"/>
            <a:endParaRPr lang="zh-CN" altLang="en-US">
              <a:latin typeface="Arial" charset="0"/>
              <a:ea typeface="楷体_GB2312" charset="0"/>
              <a:cs typeface="楷体_GB2312" charset="0"/>
            </a:endParaRPr>
          </a:p>
        </p:txBody>
      </p:sp>
      <p:sp>
        <p:nvSpPr>
          <p:cNvPr id="69635" name="Rectangle 5"/>
          <p:cNvSpPr>
            <a:spLocks noGrp="1" noRot="1" noChangeArrowheads="1"/>
          </p:cNvSpPr>
          <p:nvPr>
            <p:ph type="body" idx="1"/>
          </p:nvPr>
        </p:nvSpPr>
        <p:spPr>
          <a:xfrm>
            <a:off x="304800" y="1981200"/>
            <a:ext cx="8540750" cy="3886200"/>
          </a:xfrm>
          <a:noFill/>
          <a:extLst>
            <a:ext uri="{909E8E84-426E-40dd-AFC4-6F175D3DCCD1}">
              <a14:hiddenFill xmlns:a14="http://schemas.microsoft.com/office/drawing/2010/main" xmlns="">
                <a:solidFill>
                  <a:srgbClr val="FFFFFF"/>
                </a:solidFill>
              </a14:hiddenFill>
            </a:ext>
          </a:extLst>
        </p:spPr>
        <p:txBody>
          <a:bodyPr/>
          <a:lstStyle/>
          <a:p>
            <a:pPr eaLnBrk="1" hangingPunct="1"/>
            <a:endParaRPr lang="zh-CN" altLang="en-US">
              <a:latin typeface="Arial" charset="0"/>
              <a:ea typeface="宋体" charset="0"/>
            </a:endParaRPr>
          </a:p>
        </p:txBody>
      </p:sp>
      <p:pic>
        <p:nvPicPr>
          <p:cNvPr id="69636" name="Picture 6"/>
          <p:cNvPicPr>
            <a:picLocks noChangeAspect="1" noChangeArrowheads="1"/>
          </p:cNvPicPr>
          <p:nvPr/>
        </p:nvPicPr>
        <p:blipFill>
          <a:blip r:embed="rId2">
            <a:extLst>
              <a:ext uri="{28A0092B-C50C-407E-A947-70E740481C1C}">
                <a14:useLocalDpi xmlns:a14="http://schemas.microsoft.com/office/drawing/2010/main" val="0"/>
              </a:ext>
            </a:extLst>
          </a:blip>
          <a:srcRect l="24219" t="16780" r="9335" b="8203"/>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pic>
      <p:sp>
        <p:nvSpPr>
          <p:cNvPr id="69637" name="Text Box 7"/>
          <p:cNvSpPr txBox="1">
            <a:spLocks noChangeArrowheads="1"/>
          </p:cNvSpPr>
          <p:nvPr/>
        </p:nvSpPr>
        <p:spPr bwMode="auto">
          <a:xfrm>
            <a:off x="3924300" y="115888"/>
            <a:ext cx="5162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en-US" altLang="zh-CN" sz="1800" b="0">
                <a:solidFill>
                  <a:schemeClr val="tx1"/>
                </a:solidFill>
              </a:rPr>
              <a:t>(Qualitative measures of consequence or impact)</a:t>
            </a:r>
          </a:p>
        </p:txBody>
      </p:sp>
      <p:sp>
        <p:nvSpPr>
          <p:cNvPr id="69638" name="Text Box 8"/>
          <p:cNvSpPr txBox="1">
            <a:spLocks noChangeArrowheads="1"/>
          </p:cNvSpPr>
          <p:nvPr/>
        </p:nvSpPr>
        <p:spPr bwMode="auto">
          <a:xfrm>
            <a:off x="3471863" y="3665538"/>
            <a:ext cx="51244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en-US" altLang="zh-CN" sz="1800" b="0">
                <a:solidFill>
                  <a:schemeClr val="tx1"/>
                </a:solidFill>
              </a:rPr>
              <a:t>(Qualitative measures of likelihood or probability)</a:t>
            </a: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4"/>
          <p:cNvPicPr>
            <a:picLocks noChangeAspect="1" noChangeArrowheads="1"/>
          </p:cNvPicPr>
          <p:nvPr/>
        </p:nvPicPr>
        <p:blipFill>
          <a:blip r:embed="rId2" cstate="email">
            <a:extLst>
              <a:ext uri="{28A0092B-C50C-407E-A947-70E740481C1C}">
                <a14:useLocalDpi xmlns:a14="http://schemas.microsoft.com/office/drawing/2010/main" val="0"/>
              </a:ext>
            </a:extLst>
          </a:blip>
          <a:srcRect l="3242" t="13086" r="8749" b="10417"/>
          <a:stretch>
            <a:fillRect/>
          </a:stretch>
        </p:blipFill>
        <p:spPr bwMode="auto">
          <a:xfrm>
            <a:off x="33338" y="765175"/>
            <a:ext cx="9110662" cy="6019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pic>
      <p:sp>
        <p:nvSpPr>
          <p:cNvPr id="70659" name="Text Box 5"/>
          <p:cNvSpPr txBox="1">
            <a:spLocks noChangeArrowheads="1"/>
          </p:cNvSpPr>
          <p:nvPr/>
        </p:nvSpPr>
        <p:spPr bwMode="auto">
          <a:xfrm>
            <a:off x="1692275" y="0"/>
            <a:ext cx="6208713"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en-US" altLang="zh-CN" b="0">
                <a:solidFill>
                  <a:srgbClr val="800000"/>
                </a:solidFill>
              </a:rPr>
              <a:t>A</a:t>
            </a:r>
            <a:r>
              <a:rPr lang="en-US" altLang="zh-CN" b="0">
                <a:solidFill>
                  <a:schemeClr val="tx1"/>
                </a:solidFill>
              </a:rPr>
              <a:t> </a:t>
            </a:r>
            <a:r>
              <a:rPr lang="en-US" altLang="zh-CN" b="0">
                <a:solidFill>
                  <a:srgbClr val="800000"/>
                </a:solidFill>
              </a:rPr>
              <a:t>Scale</a:t>
            </a:r>
            <a:r>
              <a:rPr lang="en-US" altLang="zh-CN" b="0">
                <a:solidFill>
                  <a:schemeClr val="tx1"/>
                </a:solidFill>
              </a:rPr>
              <a:t> </a:t>
            </a:r>
            <a:r>
              <a:rPr lang="en-US" altLang="zh-CN" b="0">
                <a:solidFill>
                  <a:srgbClr val="800000"/>
                </a:solidFill>
              </a:rPr>
              <a:t>of</a:t>
            </a:r>
            <a:r>
              <a:rPr lang="en-US" altLang="zh-CN" b="0">
                <a:solidFill>
                  <a:schemeClr val="tx1"/>
                </a:solidFill>
              </a:rPr>
              <a:t> </a:t>
            </a:r>
            <a:r>
              <a:rPr lang="en-US" altLang="zh-CN" b="0">
                <a:solidFill>
                  <a:srgbClr val="800000"/>
                </a:solidFill>
              </a:rPr>
              <a:t>Consequence of Risks</a:t>
            </a: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5"/>
          <p:cNvPicPr>
            <a:picLocks noChangeAspect="1" noChangeArrowheads="1"/>
          </p:cNvPicPr>
          <p:nvPr/>
        </p:nvPicPr>
        <p:blipFill>
          <a:blip r:embed="rId2">
            <a:extLst>
              <a:ext uri="{28A0092B-C50C-407E-A947-70E740481C1C}">
                <a14:useLocalDpi xmlns:a14="http://schemas.microsoft.com/office/drawing/2010/main" val="0"/>
              </a:ext>
            </a:extLst>
          </a:blip>
          <a:srcRect l="16550" t="21941" r="9921" b="18262"/>
          <a:stretch>
            <a:fillRect/>
          </a:stretch>
        </p:blipFill>
        <p:spPr bwMode="auto">
          <a:xfrm>
            <a:off x="0" y="908050"/>
            <a:ext cx="9144000" cy="5949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pic>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4"/>
          <p:cNvSpPr>
            <a:spLocks noGrp="1" noRot="1" noChangeArrowheads="1"/>
          </p:cNvSpPr>
          <p:nvPr>
            <p:ph type="title"/>
          </p:nvPr>
        </p:nvSpPr>
        <p:spPr>
          <a:xfrm>
            <a:off x="603250" y="-14288"/>
            <a:ext cx="8540750" cy="1143001"/>
          </a:xfrm>
          <a:noFill/>
          <a:extLst>
            <a:ext uri="{909E8E84-426E-40dd-AFC4-6F175D3DCCD1}">
              <a14:hiddenFill xmlns:a14="http://schemas.microsoft.com/office/drawing/2010/main" xmlns="">
                <a:solidFill>
                  <a:schemeClr val="tx2"/>
                </a:solidFill>
              </a14:hiddenFill>
            </a:ext>
          </a:extLst>
        </p:spPr>
        <p:txBody>
          <a:bodyPr/>
          <a:lstStyle/>
          <a:p>
            <a:pPr eaLnBrk="1" hangingPunct="1"/>
            <a:r>
              <a:rPr lang="en-US" altLang="zh-CN">
                <a:latin typeface="Arial" charset="0"/>
                <a:ea typeface="楷体_GB2312" charset="0"/>
                <a:cs typeface="楷体_GB2312" charset="0"/>
              </a:rPr>
              <a:t>Probability and impact matrix</a:t>
            </a:r>
          </a:p>
        </p:txBody>
      </p:sp>
      <p:sp>
        <p:nvSpPr>
          <p:cNvPr id="72707" name="Rectangle 5"/>
          <p:cNvSpPr>
            <a:spLocks noGrp="1" noRot="1" noChangeArrowheads="1"/>
          </p:cNvSpPr>
          <p:nvPr>
            <p:ph type="body" idx="1"/>
          </p:nvPr>
        </p:nvSpPr>
        <p:spPr>
          <a:xfrm>
            <a:off x="606425" y="1281113"/>
            <a:ext cx="8540750" cy="3886200"/>
          </a:xfrm>
          <a:noFill/>
          <a:extLst>
            <a:ext uri="{909E8E84-426E-40dd-AFC4-6F175D3DCCD1}">
              <a14:hiddenFill xmlns:a14="http://schemas.microsoft.com/office/drawing/2010/main" xmlns="">
                <a:solidFill>
                  <a:srgbClr val="FFFFFF"/>
                </a:solidFill>
              </a14:hiddenFill>
            </a:ext>
          </a:extLst>
        </p:spPr>
        <p:txBody>
          <a:bodyPr/>
          <a:lstStyle/>
          <a:p>
            <a:pPr eaLnBrk="1" hangingPunct="1"/>
            <a:endParaRPr lang="zh-CN" altLang="en-US">
              <a:latin typeface="Arial" charset="0"/>
              <a:ea typeface="宋体" charset="0"/>
            </a:endParaRPr>
          </a:p>
        </p:txBody>
      </p:sp>
      <p:pic>
        <p:nvPicPr>
          <p:cNvPr id="72708" name="Picture 6"/>
          <p:cNvPicPr>
            <a:picLocks noChangeAspect="1" noChangeArrowheads="1"/>
          </p:cNvPicPr>
          <p:nvPr/>
        </p:nvPicPr>
        <p:blipFill>
          <a:blip r:embed="rId2">
            <a:extLst>
              <a:ext uri="{28A0092B-C50C-407E-A947-70E740481C1C}">
                <a14:useLocalDpi xmlns:a14="http://schemas.microsoft.com/office/drawing/2010/main" val="0"/>
              </a:ext>
            </a:extLst>
          </a:blip>
          <a:srcRect l="14766" t="37451" r="12891" b="19727"/>
          <a:stretch>
            <a:fillRect/>
          </a:stretch>
        </p:blipFill>
        <p:spPr bwMode="auto">
          <a:xfrm>
            <a:off x="0" y="1000125"/>
            <a:ext cx="9144000" cy="5157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pic>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ChangeArrowheads="1"/>
          </p:cNvSpPr>
          <p:nvPr/>
        </p:nvSpPr>
        <p:spPr bwMode="auto">
          <a:xfrm>
            <a:off x="304800" y="0"/>
            <a:ext cx="8001000" cy="1219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nchor="ctr"/>
          <a:lstStyle/>
          <a:p>
            <a:pPr eaLnBrk="1" hangingPunct="1"/>
            <a:r>
              <a:rPr lang="en-US" altLang="zh-CN" sz="3600">
                <a:solidFill>
                  <a:srgbClr val="990000"/>
                </a:solidFill>
              </a:rPr>
              <a:t>Risk evaluation: comparison of a level of risk against criteria</a:t>
            </a:r>
            <a:endParaRPr lang="en-GB" altLang="zh-CN" sz="3600">
              <a:solidFill>
                <a:srgbClr val="990000"/>
              </a:solidFill>
            </a:endParaRPr>
          </a:p>
        </p:txBody>
      </p:sp>
      <p:sp>
        <p:nvSpPr>
          <p:cNvPr id="73731" name="Rectangle 8"/>
          <p:cNvSpPr>
            <a:spLocks noChangeArrowheads="1"/>
          </p:cNvSpPr>
          <p:nvPr/>
        </p:nvSpPr>
        <p:spPr bwMode="auto">
          <a:xfrm>
            <a:off x="2933700" y="1843088"/>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p>
            <a:pPr eaLnBrk="1" hangingPunct="1">
              <a:lnSpc>
                <a:spcPct val="90000"/>
              </a:lnSpc>
              <a:spcBef>
                <a:spcPct val="50000"/>
              </a:spcBef>
              <a:buFontTx/>
              <a:buChar char="•"/>
            </a:pPr>
            <a:endParaRPr lang="zh-CN" altLang="en-US"/>
          </a:p>
        </p:txBody>
      </p:sp>
      <p:graphicFrame>
        <p:nvGraphicFramePr>
          <p:cNvPr id="73732" name="Object 9"/>
          <p:cNvGraphicFramePr>
            <a:graphicFrameLocks noChangeAspect="1"/>
          </p:cNvGraphicFramePr>
          <p:nvPr/>
        </p:nvGraphicFramePr>
        <p:xfrm>
          <a:off x="1981200" y="1843088"/>
          <a:ext cx="5005388" cy="4845050"/>
        </p:xfrm>
        <a:graphic>
          <a:graphicData uri="http://schemas.openxmlformats.org/presentationml/2006/ole">
            <mc:AlternateContent xmlns:mc="http://schemas.openxmlformats.org/markup-compatibility/2006">
              <mc:Choice xmlns:v="urn:schemas-microsoft-com:vml" Requires="v">
                <p:oleObj spid="_x0000_s73744" name="Picture" r:id="rId3" imgW="3383280" imgH="3276600" progId="Word.Picture.8">
                  <p:embed/>
                </p:oleObj>
              </mc:Choice>
              <mc:Fallback>
                <p:oleObj name="Picture" r:id="rId3" imgW="3383280" imgH="3276600" progId="Word.Picture.8">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843088"/>
                        <a:ext cx="5005388" cy="4845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4"/>
          <p:cNvPicPr>
            <a:picLocks noChangeAspect="1" noChangeArrowheads="1"/>
          </p:cNvPicPr>
          <p:nvPr/>
        </p:nvPicPr>
        <p:blipFill>
          <a:blip r:embed="rId2" cstate="email">
            <a:extLst>
              <a:ext uri="{28A0092B-C50C-407E-A947-70E740481C1C}">
                <a14:useLocalDpi xmlns:a14="http://schemas.microsoft.com/office/drawing/2010/main" val="0"/>
              </a:ext>
            </a:extLst>
          </a:blip>
          <a:srcRect l="2057" t="18994" r="8763" b="16032"/>
          <a:stretch>
            <a:fillRect/>
          </a:stretch>
        </p:blipFill>
        <p:spPr bwMode="auto">
          <a:xfrm>
            <a:off x="0" y="1268413"/>
            <a:ext cx="9144000" cy="53006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pic>
      <p:sp>
        <p:nvSpPr>
          <p:cNvPr id="74755" name="Text Box 5"/>
          <p:cNvSpPr txBox="1">
            <a:spLocks noChangeArrowheads="1"/>
          </p:cNvSpPr>
          <p:nvPr/>
        </p:nvSpPr>
        <p:spPr bwMode="auto">
          <a:xfrm>
            <a:off x="1692275" y="188913"/>
            <a:ext cx="6567488"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en-US" altLang="zh-CN" sz="4000" b="0">
                <a:solidFill>
                  <a:srgbClr val="0000FF"/>
                </a:solidFill>
              </a:rPr>
              <a:t>An organizational risk profile</a:t>
            </a: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4"/>
          <p:cNvPicPr>
            <a:picLocks noChangeAspect="1" noChangeArrowheads="1"/>
          </p:cNvPicPr>
          <p:nvPr/>
        </p:nvPicPr>
        <p:blipFill>
          <a:blip r:embed="rId2" cstate="email">
            <a:extLst>
              <a:ext uri="{28A0092B-C50C-407E-A947-70E740481C1C}">
                <a14:useLocalDpi xmlns:a14="http://schemas.microsoft.com/office/drawing/2010/main" val="0"/>
              </a:ext>
            </a:extLst>
          </a:blip>
          <a:srcRect l="6497" t="22041" r="2553" b="7454"/>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pic>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a:spLocks noGrp="1" noRot="1" noChangeArrowheads="1"/>
          </p:cNvSpPr>
          <p:nvPr>
            <p:ph type="title"/>
          </p:nvPr>
        </p:nvSpPr>
        <p:spPr>
          <a:xfrm>
            <a:off x="0" y="-228600"/>
            <a:ext cx="8540750" cy="11430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en-US" altLang="zh-CN">
                <a:latin typeface="Arial" charset="0"/>
                <a:ea typeface="楷体_GB2312" charset="0"/>
                <a:cs typeface="楷体_GB2312" charset="0"/>
              </a:rPr>
              <a:t>EMV and Decision Tree</a:t>
            </a:r>
          </a:p>
        </p:txBody>
      </p:sp>
      <p:sp>
        <p:nvSpPr>
          <p:cNvPr id="76803" name="Rectangle 5"/>
          <p:cNvSpPr>
            <a:spLocks noGrp="1" noRot="1" noChangeArrowheads="1"/>
          </p:cNvSpPr>
          <p:nvPr>
            <p:ph type="body" idx="1"/>
          </p:nvPr>
        </p:nvSpPr>
        <p:spPr>
          <a:xfrm>
            <a:off x="-292100" y="749300"/>
            <a:ext cx="9436100" cy="5943600"/>
          </a:xfrm>
          <a:noFill/>
          <a:extLst>
            <a:ext uri="{909E8E84-426E-40dd-AFC4-6F175D3DCCD1}">
              <a14:hiddenFill xmlns:a14="http://schemas.microsoft.com/office/drawing/2010/main" xmlns="">
                <a:solidFill>
                  <a:srgbClr val="FFFFFF"/>
                </a:solidFill>
              </a14:hiddenFill>
            </a:ext>
          </a:extLst>
        </p:spPr>
        <p:txBody>
          <a:bodyPr/>
          <a:lstStyle/>
          <a:p>
            <a:pPr eaLnBrk="1" hangingPunct="1">
              <a:lnSpc>
                <a:spcPct val="90000"/>
              </a:lnSpc>
            </a:pPr>
            <a:r>
              <a:rPr lang="en-GB" altLang="zh-CN" b="0">
                <a:latin typeface="Arial" charset="0"/>
                <a:ea typeface="宋体" charset="0"/>
              </a:rPr>
              <a:t>Suppose that we are investing in a factory which can generate an annual income of $900,000, but the project may result in pollution. If emission from the factory causes pollution, the project will be fined $500,000. If we build a pollutant treatment facility to ensure that there will be no pollution, we will spend an additional $270,000. The probability of pollution is 0.5. Another option is to seek help from a consultant, whose consulting fee is $5,000. If the consultant says that there is no possibility of pollution, we will not build the treatment facility, or if he says that there is the possibility, we have to build one. What should we do?</a:t>
            </a:r>
            <a:endParaRPr lang="zh-CN" altLang="en-US" b="0">
              <a:latin typeface="Arial" charset="0"/>
              <a:ea typeface="宋体" charset="0"/>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4"/>
          <p:cNvSpPr>
            <a:spLocks noGrp="1" noRot="1" noChangeArrowheads="1"/>
          </p:cNvSpPr>
          <p:nvPr>
            <p:ph type="title"/>
          </p:nvPr>
        </p:nvSpPr>
        <p:spPr>
          <a:xfrm>
            <a:off x="179388" y="685800"/>
            <a:ext cx="8540750" cy="11430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en-GB" altLang="zh-CN">
                <a:latin typeface="Arial" charset="0"/>
                <a:ea typeface="楷体_GB2312" charset="0"/>
                <a:cs typeface="楷体_GB2312" charset="0"/>
              </a:rPr>
              <a:t>Possible Decisions Using Expected Monetary Value (EMV)</a:t>
            </a:r>
            <a:endParaRPr lang="zh-CN" altLang="en-US">
              <a:latin typeface="Arial" charset="0"/>
              <a:ea typeface="楷体_GB2312" charset="0"/>
              <a:cs typeface="楷体_GB2312" charset="0"/>
            </a:endParaRPr>
          </a:p>
        </p:txBody>
      </p:sp>
      <p:sp>
        <p:nvSpPr>
          <p:cNvPr id="77827" name="Rectangle 5"/>
          <p:cNvSpPr>
            <a:spLocks noChangeArrowheads="1"/>
          </p:cNvSpPr>
          <p:nvPr/>
        </p:nvSpPr>
        <p:spPr bwMode="auto">
          <a:xfrm>
            <a:off x="-122238" y="2695575"/>
            <a:ext cx="184151"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wrap="none" anchor="ctr">
            <a:spAutoFit/>
          </a:bodyPr>
          <a:lstStyle/>
          <a:p>
            <a:endParaRPr lang="zh-CN" altLang="en-US" sz="2400" b="0">
              <a:solidFill>
                <a:schemeClr val="tx1"/>
              </a:solidFill>
              <a:latin typeface="Times New Roman" charset="0"/>
              <a:ea typeface="宋体" charset="0"/>
              <a:cs typeface="宋体" charset="0"/>
            </a:endParaRPr>
          </a:p>
        </p:txBody>
      </p:sp>
      <p:graphicFrame>
        <p:nvGraphicFramePr>
          <p:cNvPr id="929798" name="Group 6"/>
          <p:cNvGraphicFramePr>
            <a:graphicFrameLocks noGrp="1"/>
          </p:cNvGraphicFramePr>
          <p:nvPr/>
        </p:nvGraphicFramePr>
        <p:xfrm>
          <a:off x="57150" y="2349500"/>
          <a:ext cx="8964613" cy="3352799"/>
        </p:xfrm>
        <a:graphic>
          <a:graphicData uri="http://schemas.openxmlformats.org/drawingml/2006/table">
            <a:tbl>
              <a:tblPr/>
              <a:tblGrid>
                <a:gridCol w="2490788">
                  <a:extLst>
                    <a:ext uri="{9D8B030D-6E8A-4147-A177-3AD203B41FA5}">
                      <a16:colId xmlns:a16="http://schemas.microsoft.com/office/drawing/2014/main" val="20000"/>
                    </a:ext>
                  </a:extLst>
                </a:gridCol>
                <a:gridCol w="2921000">
                  <a:extLst>
                    <a:ext uri="{9D8B030D-6E8A-4147-A177-3AD203B41FA5}">
                      <a16:colId xmlns:a16="http://schemas.microsoft.com/office/drawing/2014/main" val="20001"/>
                    </a:ext>
                  </a:extLst>
                </a:gridCol>
                <a:gridCol w="3552825">
                  <a:extLst>
                    <a:ext uri="{9D8B030D-6E8A-4147-A177-3AD203B41FA5}">
                      <a16:colId xmlns:a16="http://schemas.microsoft.com/office/drawing/2014/main" val="20002"/>
                    </a:ext>
                  </a:extLst>
                </a:gridCol>
              </a:tblGrid>
              <a:tr h="4302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2800" b="0" i="0" u="none" strike="noStrike" cap="none" normalizeH="0" baseline="0">
                          <a:ln>
                            <a:noFill/>
                          </a:ln>
                          <a:solidFill>
                            <a:srgbClr val="000000"/>
                          </a:solidFill>
                          <a:effectLst/>
                          <a:latin typeface="Times New Roman" charset="0"/>
                          <a:ea typeface="仿宋体" charset="0"/>
                          <a:cs typeface="Times New Roman" charset="0"/>
                        </a:rPr>
                        <a:t>Decisions</a:t>
                      </a:r>
                      <a:endParaRPr kumimoji="0" lang="en-GB" altLang="zh-CN" sz="2800" b="1" i="0" u="none" strike="noStrike" cap="none" normalizeH="0" baseline="0">
                        <a:ln>
                          <a:noFill/>
                        </a:ln>
                        <a:solidFill>
                          <a:srgbClr val="000000"/>
                        </a:solidFill>
                        <a:effectLst/>
                        <a:latin typeface="Times New Roman" charset="0"/>
                        <a:ea typeface="仿宋体" charset="0"/>
                        <a:cs typeface="Times New Roman"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2800" b="0" i="0" u="none" strike="noStrike" cap="none" normalizeH="0" baseline="0">
                          <a:ln>
                            <a:noFill/>
                          </a:ln>
                          <a:solidFill>
                            <a:srgbClr val="000000"/>
                          </a:solidFill>
                          <a:effectLst/>
                          <a:latin typeface="Times New Roman" charset="0"/>
                          <a:ea typeface="仿宋体" charset="0"/>
                          <a:cs typeface="Times New Roman" charset="0"/>
                        </a:rPr>
                        <a:t>No pollution ($)</a:t>
                      </a:r>
                      <a:endParaRPr kumimoji="0" lang="en-GB" altLang="zh-CN" sz="2800" b="1" i="0" u="none" strike="noStrike" cap="none" normalizeH="0" baseline="0">
                        <a:ln>
                          <a:noFill/>
                        </a:ln>
                        <a:solidFill>
                          <a:srgbClr val="000000"/>
                        </a:solidFill>
                        <a:effectLst/>
                        <a:latin typeface="Times New Roman" charset="0"/>
                        <a:ea typeface="仿宋体" charset="0"/>
                        <a:cs typeface="Times New Roman"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2800" b="0" i="0" u="none" strike="noStrike" cap="none" normalizeH="0" baseline="0">
                          <a:ln>
                            <a:noFill/>
                          </a:ln>
                          <a:solidFill>
                            <a:srgbClr val="000000"/>
                          </a:solidFill>
                          <a:effectLst/>
                          <a:latin typeface="Times New Roman" charset="0"/>
                          <a:ea typeface="仿宋体" charset="0"/>
                          <a:cs typeface="Times New Roman" charset="0"/>
                        </a:rPr>
                        <a:t>Pollution ($)</a:t>
                      </a:r>
                      <a:endParaRPr kumimoji="0" lang="en-GB" altLang="zh-CN" sz="2800" b="1" i="0" u="none" strike="noStrike" cap="none" normalizeH="0" baseline="0">
                        <a:ln>
                          <a:noFill/>
                        </a:ln>
                        <a:solidFill>
                          <a:srgbClr val="000000"/>
                        </a:solidFill>
                        <a:effectLst/>
                        <a:latin typeface="Times New Roman" charset="0"/>
                        <a:ea typeface="仿宋体" charset="0"/>
                        <a:cs typeface="Times New Roman"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0"/>
                  </a:ext>
                </a:extLst>
              </a:tr>
              <a:tr h="79057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2800" b="1" i="0" u="none" strike="noStrike" cap="none" normalizeH="0" baseline="0">
                          <a:ln>
                            <a:noFill/>
                          </a:ln>
                          <a:solidFill>
                            <a:srgbClr val="000000"/>
                          </a:solidFill>
                          <a:effectLst/>
                          <a:latin typeface="Times New Roman" charset="0"/>
                          <a:ea typeface="仿宋体" charset="0"/>
                          <a:cs typeface="Times New Roman" charset="0"/>
                        </a:rPr>
                        <a:t>Decision 1: No treatment</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2800" b="1" i="0" u="none" strike="noStrike" cap="none" normalizeH="0" baseline="0">
                          <a:ln>
                            <a:noFill/>
                          </a:ln>
                          <a:solidFill>
                            <a:srgbClr val="000000"/>
                          </a:solidFill>
                          <a:effectLst/>
                          <a:latin typeface="Times New Roman" charset="0"/>
                          <a:ea typeface="仿宋体" charset="0"/>
                          <a:cs typeface="Times New Roman" charset="0"/>
                        </a:rPr>
                        <a:t>900,000</a:t>
                      </a: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2800" b="1" i="0" u="none" strike="noStrike" cap="none" normalizeH="0" baseline="0">
                          <a:ln>
                            <a:noFill/>
                          </a:ln>
                          <a:solidFill>
                            <a:srgbClr val="000000"/>
                          </a:solidFill>
                          <a:effectLst/>
                          <a:latin typeface="Times New Roman" charset="0"/>
                          <a:ea typeface="仿宋体" charset="0"/>
                          <a:cs typeface="Times New Roman" charset="0"/>
                        </a:rPr>
                        <a:t>900,000– 500,000 =  400,000</a:t>
                      </a: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1"/>
                  </a:ext>
                </a:extLst>
              </a:tr>
              <a:tr h="8826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2800" b="1" i="0" u="none" strike="noStrike" cap="none" normalizeH="0" baseline="0">
                          <a:ln>
                            <a:noFill/>
                          </a:ln>
                          <a:solidFill>
                            <a:srgbClr val="000000"/>
                          </a:solidFill>
                          <a:effectLst/>
                          <a:latin typeface="Times New Roman" charset="0"/>
                          <a:ea typeface="仿宋体" charset="0"/>
                          <a:cs typeface="Times New Roman" charset="0"/>
                        </a:rPr>
                        <a:t>Decision 2: Treatment</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2800" b="1" i="0" u="none" strike="noStrike" cap="none" normalizeH="0" baseline="0">
                          <a:ln>
                            <a:noFill/>
                          </a:ln>
                          <a:solidFill>
                            <a:srgbClr val="000000"/>
                          </a:solidFill>
                          <a:effectLst/>
                          <a:latin typeface="Times New Roman" charset="0"/>
                          <a:ea typeface="仿宋体" charset="0"/>
                          <a:cs typeface="Times New Roman" charset="0"/>
                        </a:rPr>
                        <a:t>900,000 – 270,000 = 630,000</a:t>
                      </a: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2800" b="1" i="0" u="none" strike="noStrike" cap="none" normalizeH="0" baseline="0">
                          <a:ln>
                            <a:noFill/>
                          </a:ln>
                          <a:solidFill>
                            <a:srgbClr val="000000"/>
                          </a:solidFill>
                          <a:effectLst/>
                          <a:latin typeface="Times New Roman" charset="0"/>
                          <a:ea typeface="仿宋体" charset="0"/>
                          <a:cs typeface="Times New Roman" charset="0"/>
                        </a:rPr>
                        <a:t>630,000</a:t>
                      </a: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2"/>
                  </a:ext>
                </a:extLst>
              </a:tr>
              <a:tr h="7921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2800" b="1" i="0" u="none" strike="noStrike" cap="none" normalizeH="0" baseline="0">
                          <a:ln>
                            <a:noFill/>
                          </a:ln>
                          <a:solidFill>
                            <a:srgbClr val="000000"/>
                          </a:solidFill>
                          <a:effectLst/>
                          <a:latin typeface="Times New Roman" charset="0"/>
                          <a:ea typeface="仿宋体" charset="0"/>
                          <a:cs typeface="Times New Roman" charset="0"/>
                        </a:rPr>
                        <a:t>Decision 3: Consulting</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2800" b="1" i="0" u="none" strike="noStrike" cap="none" normalizeH="0" baseline="0">
                          <a:ln>
                            <a:noFill/>
                          </a:ln>
                          <a:solidFill>
                            <a:srgbClr val="000000"/>
                          </a:solidFill>
                          <a:effectLst/>
                          <a:latin typeface="Times New Roman" charset="0"/>
                          <a:ea typeface="仿宋体" charset="0"/>
                          <a:cs typeface="Times New Roman" charset="0"/>
                        </a:rPr>
                        <a:t>900,000 – 5,000 = 895,000</a:t>
                      </a: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2800" b="1" i="0" u="none" strike="noStrike" cap="none" normalizeH="0" baseline="0">
                          <a:ln>
                            <a:noFill/>
                          </a:ln>
                          <a:solidFill>
                            <a:srgbClr val="000000"/>
                          </a:solidFill>
                          <a:effectLst/>
                          <a:latin typeface="Times New Roman" charset="0"/>
                          <a:ea typeface="仿宋体" charset="0"/>
                          <a:cs typeface="Times New Roman" charset="0"/>
                        </a:rPr>
                        <a:t>900,000 – 5,000 – 270,000 = 625,000</a:t>
                      </a: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p:cNvSpPr>
            <a:spLocks noGrp="1" noRot="1" noChangeArrowheads="1"/>
          </p:cNvSpPr>
          <p:nvPr>
            <p:ph type="title"/>
          </p:nvPr>
        </p:nvSpPr>
        <p:spPr>
          <a:xfrm>
            <a:off x="0" y="0"/>
            <a:ext cx="8540750" cy="11430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en-US" altLang="zh-CN">
                <a:latin typeface="Arial" charset="0"/>
                <a:ea typeface="楷体_GB2312" charset="0"/>
                <a:cs typeface="楷体_GB2312" charset="0"/>
              </a:rPr>
              <a:t>Value of Decisions</a:t>
            </a:r>
          </a:p>
        </p:txBody>
      </p:sp>
      <p:sp>
        <p:nvSpPr>
          <p:cNvPr id="78851" name="Rectangle 5"/>
          <p:cNvSpPr>
            <a:spLocks noGrp="1" noRot="1" noChangeArrowheads="1"/>
          </p:cNvSpPr>
          <p:nvPr>
            <p:ph type="body" idx="1"/>
          </p:nvPr>
        </p:nvSpPr>
        <p:spPr>
          <a:xfrm>
            <a:off x="3175" y="1295400"/>
            <a:ext cx="8540750" cy="3886200"/>
          </a:xfrm>
          <a:noFill/>
          <a:extLst>
            <a:ext uri="{909E8E84-426E-40dd-AFC4-6F175D3DCCD1}">
              <a14:hiddenFill xmlns:a14="http://schemas.microsoft.com/office/drawing/2010/main" xmlns="">
                <a:solidFill>
                  <a:srgbClr val="FFFFFF"/>
                </a:solidFill>
              </a14:hiddenFill>
            </a:ext>
          </a:extLst>
        </p:spPr>
        <p:txBody>
          <a:bodyPr/>
          <a:lstStyle/>
          <a:p>
            <a:pPr eaLnBrk="1" hangingPunct="1"/>
            <a:r>
              <a:rPr lang="en-GB" altLang="zh-CN">
                <a:latin typeface="Arial" charset="0"/>
                <a:ea typeface="宋体" charset="0"/>
              </a:rPr>
              <a:t>Decision 1 (Not to build treatment facility): EMV1=900,000</a:t>
            </a:r>
            <a:r>
              <a:rPr lang="en-GB" altLang="zh-CN">
                <a:latin typeface="Arial" charset="0"/>
                <a:ea typeface="宋体" charset="0"/>
                <a:sym typeface="Symbol" charset="0"/>
              </a:rPr>
              <a:t></a:t>
            </a:r>
            <a:r>
              <a:rPr lang="en-GB" altLang="zh-CN">
                <a:latin typeface="Arial" charset="0"/>
                <a:ea typeface="宋体" charset="0"/>
              </a:rPr>
              <a:t>0.5 + (400,000) </a:t>
            </a:r>
            <a:r>
              <a:rPr lang="en-GB" altLang="zh-CN">
                <a:latin typeface="Arial" charset="0"/>
                <a:ea typeface="宋体" charset="0"/>
                <a:sym typeface="Symbol" charset="0"/>
              </a:rPr>
              <a:t></a:t>
            </a:r>
            <a:r>
              <a:rPr lang="en-GB" altLang="zh-CN">
                <a:latin typeface="Arial" charset="0"/>
                <a:ea typeface="宋体" charset="0"/>
              </a:rPr>
              <a:t>(1 – 0.5)</a:t>
            </a:r>
            <a:br>
              <a:rPr lang="en-GB" altLang="zh-CN">
                <a:latin typeface="Arial" charset="0"/>
                <a:ea typeface="宋体" charset="0"/>
              </a:rPr>
            </a:br>
            <a:r>
              <a:rPr lang="en-GB" altLang="zh-CN">
                <a:latin typeface="Arial" charset="0"/>
                <a:ea typeface="宋体" charset="0"/>
              </a:rPr>
              <a:t>	=$650 000</a:t>
            </a:r>
          </a:p>
          <a:p>
            <a:pPr eaLnBrk="1" hangingPunct="1"/>
            <a:r>
              <a:rPr lang="en-GB" altLang="zh-CN">
                <a:latin typeface="Arial" charset="0"/>
                <a:ea typeface="宋体" charset="0"/>
              </a:rPr>
              <a:t>Decision 2 (To build treatment facility):   EMV2=630 000</a:t>
            </a:r>
            <a:r>
              <a:rPr lang="en-GB" altLang="zh-CN">
                <a:latin typeface="Arial" charset="0"/>
                <a:ea typeface="宋体" charset="0"/>
                <a:sym typeface="Symbol" charset="0"/>
              </a:rPr>
              <a:t></a:t>
            </a:r>
            <a:r>
              <a:rPr lang="en-GB" altLang="zh-CN">
                <a:latin typeface="Arial" charset="0"/>
                <a:ea typeface="宋体" charset="0"/>
              </a:rPr>
              <a:t>0.5+630 000 </a:t>
            </a:r>
            <a:r>
              <a:rPr lang="en-GB" altLang="zh-CN">
                <a:latin typeface="Arial" charset="0"/>
                <a:ea typeface="宋体" charset="0"/>
                <a:sym typeface="Symbol" charset="0"/>
              </a:rPr>
              <a:t></a:t>
            </a:r>
            <a:r>
              <a:rPr lang="en-GB" altLang="zh-CN">
                <a:latin typeface="Arial" charset="0"/>
                <a:ea typeface="宋体" charset="0"/>
              </a:rPr>
              <a:t>(1 – 0.5)</a:t>
            </a:r>
            <a:br>
              <a:rPr lang="en-GB" altLang="zh-CN">
                <a:latin typeface="Arial" charset="0"/>
                <a:ea typeface="宋体" charset="0"/>
              </a:rPr>
            </a:br>
            <a:r>
              <a:rPr lang="en-GB" altLang="zh-CN">
                <a:latin typeface="Arial" charset="0"/>
                <a:ea typeface="宋体" charset="0"/>
              </a:rPr>
              <a:t>	 =$630 000</a:t>
            </a:r>
          </a:p>
          <a:p>
            <a:pPr eaLnBrk="1" hangingPunct="1"/>
            <a:r>
              <a:rPr lang="en-GB" altLang="zh-CN">
                <a:latin typeface="Arial" charset="0"/>
                <a:ea typeface="宋体" charset="0"/>
              </a:rPr>
              <a:t>Decision 3 (To hire consultant): EMV3=895 000</a:t>
            </a:r>
            <a:r>
              <a:rPr lang="en-GB" altLang="zh-CN">
                <a:latin typeface="Arial" charset="0"/>
                <a:ea typeface="宋体" charset="0"/>
                <a:sym typeface="Symbol" charset="0"/>
              </a:rPr>
              <a:t></a:t>
            </a:r>
            <a:r>
              <a:rPr lang="en-GB" altLang="zh-CN">
                <a:latin typeface="Arial" charset="0"/>
                <a:ea typeface="宋体" charset="0"/>
              </a:rPr>
              <a:t>0.5+625 000 </a:t>
            </a:r>
            <a:r>
              <a:rPr lang="en-GB" altLang="zh-CN">
                <a:latin typeface="Arial" charset="0"/>
                <a:ea typeface="宋体" charset="0"/>
                <a:sym typeface="Symbol" charset="0"/>
              </a:rPr>
              <a:t></a:t>
            </a:r>
            <a:r>
              <a:rPr lang="en-GB" altLang="zh-CN">
                <a:latin typeface="Arial" charset="0"/>
                <a:ea typeface="宋体" charset="0"/>
              </a:rPr>
              <a:t>(1 – 0.5)</a:t>
            </a:r>
            <a:br>
              <a:rPr lang="en-GB" altLang="zh-CN">
                <a:latin typeface="Arial" charset="0"/>
                <a:ea typeface="宋体" charset="0"/>
              </a:rPr>
            </a:br>
            <a:r>
              <a:rPr lang="en-GB" altLang="zh-CN">
                <a:latin typeface="Arial" charset="0"/>
                <a:ea typeface="宋体" charset="0"/>
              </a:rPr>
              <a:t>	=$760 000</a:t>
            </a:r>
            <a:endParaRPr lang="zh-CN" altLang="en-US">
              <a:latin typeface="Arial" charset="0"/>
              <a:ea typeface="宋体" charset="0"/>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4"/>
          <p:cNvSpPr>
            <a:spLocks noGrp="1" noRot="1" noChangeArrowheads="1"/>
          </p:cNvSpPr>
          <p:nvPr>
            <p:ph type="title"/>
          </p:nvPr>
        </p:nvSpPr>
        <p:spPr>
          <a:xfrm>
            <a:off x="301625" y="685800"/>
            <a:ext cx="8540750" cy="1143000"/>
          </a:xfrm>
          <a:noFill/>
          <a:extLst>
            <a:ext uri="{909E8E84-426E-40dd-AFC4-6F175D3DCCD1}">
              <a14:hiddenFill xmlns:a14="http://schemas.microsoft.com/office/drawing/2010/main" xmlns="">
                <a:solidFill>
                  <a:schemeClr val="tx2"/>
                </a:solidFill>
              </a14:hiddenFill>
            </a:ext>
          </a:extLst>
        </p:spPr>
        <p:txBody>
          <a:bodyPr/>
          <a:lstStyle/>
          <a:p>
            <a:pPr eaLnBrk="1" hangingPunct="1"/>
            <a:endParaRPr lang="zh-CN" altLang="en-US" sz="1400">
              <a:solidFill>
                <a:srgbClr val="000000"/>
              </a:solidFill>
              <a:latin typeface="Arial" charset="0"/>
              <a:ea typeface="楷体_GB2312" charset="0"/>
              <a:cs typeface="楷体_GB2312" charset="0"/>
            </a:endParaRPr>
          </a:p>
        </p:txBody>
      </p:sp>
      <p:grpSp>
        <p:nvGrpSpPr>
          <p:cNvPr id="79875" name="Group 5"/>
          <p:cNvGrpSpPr>
            <a:grpSpLocks noChangeAspect="1"/>
          </p:cNvGrpSpPr>
          <p:nvPr/>
        </p:nvGrpSpPr>
        <p:grpSpPr bwMode="auto">
          <a:xfrm>
            <a:off x="250825" y="404813"/>
            <a:ext cx="8281988" cy="5845175"/>
            <a:chOff x="2666" y="1358"/>
            <a:chExt cx="7357" cy="5199"/>
          </a:xfrm>
        </p:grpSpPr>
        <p:sp>
          <p:nvSpPr>
            <p:cNvPr id="79877" name="AutoShape 6"/>
            <p:cNvSpPr>
              <a:spLocks noChangeAspect="1" noChangeArrowheads="1"/>
            </p:cNvSpPr>
            <p:nvPr/>
          </p:nvSpPr>
          <p:spPr bwMode="auto">
            <a:xfrm>
              <a:off x="2666" y="1358"/>
              <a:ext cx="7357" cy="51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en-US" sz="1800" b="0">
                <a:solidFill>
                  <a:srgbClr val="000000"/>
                </a:solidFill>
                <a:ea typeface="宋体" charset="0"/>
                <a:cs typeface="宋体" charset="0"/>
              </a:endParaRPr>
            </a:p>
          </p:txBody>
        </p:sp>
        <p:sp>
          <p:nvSpPr>
            <p:cNvPr id="79878" name="Rectangle 7"/>
            <p:cNvSpPr>
              <a:spLocks noChangeArrowheads="1"/>
            </p:cNvSpPr>
            <p:nvPr/>
          </p:nvSpPr>
          <p:spPr bwMode="auto">
            <a:xfrm>
              <a:off x="6579" y="5591"/>
              <a:ext cx="1348" cy="544"/>
            </a:xfrm>
            <a:prstGeom prst="rect">
              <a:avLst/>
            </a:prstGeom>
            <a:solidFill>
              <a:srgbClr val="FFFFFF"/>
            </a:solidFill>
            <a:ln w="9525">
              <a:solidFill>
                <a:srgbClr val="FFFFFF"/>
              </a:solidFill>
              <a:miter lim="800000"/>
              <a:headEnd/>
              <a:tailEnd/>
            </a:ln>
          </p:spPr>
          <p:txBody>
            <a:bodyPr/>
            <a:lstStyle/>
            <a:p>
              <a:pPr algn="ctr" eaLnBrk="1" hangingPunct="1"/>
              <a:r>
                <a:rPr lang="en-US" altLang="zh-CN" sz="1800" b="0">
                  <a:solidFill>
                    <a:srgbClr val="000000"/>
                  </a:solidFill>
                  <a:latin typeface="Times New Roman" charset="0"/>
                  <a:ea typeface="宋体" charset="0"/>
                  <a:cs typeface="宋体" charset="0"/>
                </a:rPr>
                <a:t>Treat</a:t>
              </a:r>
              <a:endParaRPr lang="en-US" altLang="zh-CN" sz="1800" b="0">
                <a:solidFill>
                  <a:srgbClr val="000000"/>
                </a:solidFill>
                <a:ea typeface="宋体" charset="0"/>
                <a:cs typeface="宋体" charset="0"/>
              </a:endParaRPr>
            </a:p>
          </p:txBody>
        </p:sp>
        <p:sp>
          <p:nvSpPr>
            <p:cNvPr id="79879" name="Rectangle 8"/>
            <p:cNvSpPr>
              <a:spLocks noChangeArrowheads="1"/>
            </p:cNvSpPr>
            <p:nvPr/>
          </p:nvSpPr>
          <p:spPr bwMode="auto">
            <a:xfrm>
              <a:off x="5875" y="4964"/>
              <a:ext cx="939" cy="496"/>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Not treat</a:t>
              </a:r>
              <a:endParaRPr lang="en-US" altLang="zh-CN" sz="1800" b="0">
                <a:solidFill>
                  <a:srgbClr val="000000"/>
                </a:solidFill>
                <a:ea typeface="宋体" charset="0"/>
                <a:cs typeface="宋体" charset="0"/>
              </a:endParaRPr>
            </a:p>
          </p:txBody>
        </p:sp>
        <p:sp>
          <p:nvSpPr>
            <p:cNvPr id="79880" name="Rectangle 9"/>
            <p:cNvSpPr>
              <a:spLocks noChangeArrowheads="1"/>
            </p:cNvSpPr>
            <p:nvPr/>
          </p:nvSpPr>
          <p:spPr bwMode="auto">
            <a:xfrm>
              <a:off x="2901" y="4807"/>
              <a:ext cx="2034" cy="512"/>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Not hire consultant</a:t>
              </a:r>
              <a:endParaRPr lang="en-US" altLang="zh-CN" sz="1800" b="0">
                <a:solidFill>
                  <a:srgbClr val="000000"/>
                </a:solidFill>
                <a:ea typeface="宋体" charset="0"/>
                <a:cs typeface="宋体" charset="0"/>
              </a:endParaRPr>
            </a:p>
          </p:txBody>
        </p:sp>
        <p:sp>
          <p:nvSpPr>
            <p:cNvPr id="79881" name="Rectangle 10"/>
            <p:cNvSpPr>
              <a:spLocks noChangeArrowheads="1"/>
            </p:cNvSpPr>
            <p:nvPr/>
          </p:nvSpPr>
          <p:spPr bwMode="auto">
            <a:xfrm>
              <a:off x="4857" y="4650"/>
              <a:ext cx="1096" cy="532"/>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$650,000</a:t>
              </a:r>
              <a:endParaRPr lang="en-US" altLang="zh-CN" sz="1800" b="0">
                <a:solidFill>
                  <a:srgbClr val="000000"/>
                </a:solidFill>
                <a:ea typeface="宋体" charset="0"/>
                <a:cs typeface="宋体" charset="0"/>
              </a:endParaRPr>
            </a:p>
          </p:txBody>
        </p:sp>
        <p:sp>
          <p:nvSpPr>
            <p:cNvPr id="79882" name="Rectangle 11"/>
            <p:cNvSpPr>
              <a:spLocks noChangeArrowheads="1"/>
            </p:cNvSpPr>
            <p:nvPr/>
          </p:nvSpPr>
          <p:spPr bwMode="auto">
            <a:xfrm>
              <a:off x="4231" y="2142"/>
              <a:ext cx="1096" cy="598"/>
            </a:xfrm>
            <a:prstGeom prst="rect">
              <a:avLst/>
            </a:prstGeom>
            <a:solidFill>
              <a:srgbClr val="FFFFFF"/>
            </a:solidFill>
            <a:ln w="9525">
              <a:solidFill>
                <a:srgbClr val="FFFFFF"/>
              </a:solidFill>
              <a:miter lim="800000"/>
              <a:headEnd/>
              <a:tailEnd/>
            </a:ln>
          </p:spPr>
          <p:txBody>
            <a:bodyPr/>
            <a:lstStyle/>
            <a:p>
              <a:pPr algn="r" eaLnBrk="1" hangingPunct="1"/>
              <a:r>
                <a:rPr lang="en-US" altLang="zh-CN" sz="1800" b="0">
                  <a:solidFill>
                    <a:srgbClr val="000000"/>
                  </a:solidFill>
                  <a:latin typeface="Times New Roman" charset="0"/>
                  <a:ea typeface="宋体" charset="0"/>
                  <a:cs typeface="宋体" charset="0"/>
                </a:rPr>
                <a:t>$760,000</a:t>
              </a:r>
              <a:endParaRPr lang="en-US" altLang="zh-CN" sz="1800" b="0">
                <a:solidFill>
                  <a:srgbClr val="000000"/>
                </a:solidFill>
                <a:ea typeface="宋体" charset="0"/>
                <a:cs typeface="宋体" charset="0"/>
              </a:endParaRPr>
            </a:p>
          </p:txBody>
        </p:sp>
        <p:sp>
          <p:nvSpPr>
            <p:cNvPr id="79883" name="Rectangle 12"/>
            <p:cNvSpPr>
              <a:spLocks noChangeArrowheads="1"/>
            </p:cNvSpPr>
            <p:nvPr/>
          </p:nvSpPr>
          <p:spPr bwMode="auto">
            <a:xfrm>
              <a:off x="5796" y="4180"/>
              <a:ext cx="1096" cy="622"/>
            </a:xfrm>
            <a:prstGeom prst="rect">
              <a:avLst/>
            </a:prstGeom>
            <a:solidFill>
              <a:srgbClr val="FFFFFF"/>
            </a:solidFill>
            <a:ln w="9525">
              <a:solidFill>
                <a:srgbClr val="FFFFFF"/>
              </a:solidFill>
              <a:miter lim="800000"/>
              <a:headEnd/>
              <a:tailEnd/>
            </a:ln>
          </p:spPr>
          <p:txBody>
            <a:bodyPr/>
            <a:lstStyle/>
            <a:p>
              <a:pPr algn="r" eaLnBrk="1" hangingPunct="1"/>
              <a:r>
                <a:rPr lang="en-US" altLang="zh-CN" sz="1800" b="0">
                  <a:solidFill>
                    <a:srgbClr val="000000"/>
                  </a:solidFill>
                  <a:latin typeface="Times New Roman" charset="0"/>
                  <a:ea typeface="宋体" charset="0"/>
                  <a:cs typeface="宋体" charset="0"/>
                </a:rPr>
                <a:t>$650,000</a:t>
              </a:r>
              <a:endParaRPr lang="en-US" altLang="zh-CN" sz="1800" b="0">
                <a:solidFill>
                  <a:srgbClr val="000000"/>
                </a:solidFill>
                <a:ea typeface="宋体" charset="0"/>
                <a:cs typeface="宋体" charset="0"/>
              </a:endParaRPr>
            </a:p>
          </p:txBody>
        </p:sp>
        <p:sp>
          <p:nvSpPr>
            <p:cNvPr id="79884" name="Rectangle 13"/>
            <p:cNvSpPr>
              <a:spLocks noChangeArrowheads="1"/>
            </p:cNvSpPr>
            <p:nvPr/>
          </p:nvSpPr>
          <p:spPr bwMode="auto">
            <a:xfrm>
              <a:off x="2666" y="3553"/>
              <a:ext cx="1095" cy="543"/>
            </a:xfrm>
            <a:prstGeom prst="rect">
              <a:avLst/>
            </a:prstGeom>
            <a:solidFill>
              <a:srgbClr val="FFFFFF"/>
            </a:solidFill>
            <a:ln w="9525">
              <a:solidFill>
                <a:srgbClr val="FFFFFF"/>
              </a:solidFill>
              <a:miter lim="800000"/>
              <a:headEnd/>
              <a:tailEnd/>
            </a:ln>
          </p:spPr>
          <p:txBody>
            <a:bodyPr/>
            <a:lstStyle/>
            <a:p>
              <a:pPr algn="ctr" eaLnBrk="1" hangingPunct="1"/>
              <a:r>
                <a:rPr lang="en-US" altLang="zh-CN" sz="1800" b="0">
                  <a:solidFill>
                    <a:srgbClr val="000000"/>
                  </a:solidFill>
                  <a:latin typeface="Times New Roman" charset="0"/>
                  <a:ea typeface="宋体" charset="0"/>
                  <a:cs typeface="宋体" charset="0"/>
                </a:rPr>
                <a:t>$760,000</a:t>
              </a:r>
              <a:endParaRPr lang="en-US" altLang="zh-CN" sz="1800" b="0">
                <a:solidFill>
                  <a:srgbClr val="000000"/>
                </a:solidFill>
                <a:ea typeface="宋体" charset="0"/>
                <a:cs typeface="宋体" charset="0"/>
              </a:endParaRPr>
            </a:p>
          </p:txBody>
        </p:sp>
        <p:sp>
          <p:nvSpPr>
            <p:cNvPr id="79885" name="Line 14"/>
            <p:cNvSpPr>
              <a:spLocks noChangeShapeType="1"/>
            </p:cNvSpPr>
            <p:nvPr/>
          </p:nvSpPr>
          <p:spPr bwMode="auto">
            <a:xfrm>
              <a:off x="3511" y="4368"/>
              <a:ext cx="1565" cy="1087"/>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886" name="Line 15"/>
            <p:cNvSpPr>
              <a:spLocks noChangeShapeType="1"/>
            </p:cNvSpPr>
            <p:nvPr/>
          </p:nvSpPr>
          <p:spPr bwMode="auto">
            <a:xfrm>
              <a:off x="5702" y="5455"/>
              <a:ext cx="939" cy="68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887" name="Line 16"/>
            <p:cNvSpPr>
              <a:spLocks noChangeShapeType="1"/>
            </p:cNvSpPr>
            <p:nvPr/>
          </p:nvSpPr>
          <p:spPr bwMode="auto">
            <a:xfrm flipV="1">
              <a:off x="5546" y="4912"/>
              <a:ext cx="876" cy="543"/>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888" name="Line 17"/>
            <p:cNvSpPr>
              <a:spLocks noChangeShapeType="1"/>
            </p:cNvSpPr>
            <p:nvPr/>
          </p:nvSpPr>
          <p:spPr bwMode="auto">
            <a:xfrm flipV="1">
              <a:off x="6735" y="4097"/>
              <a:ext cx="534" cy="679"/>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889" name="Line 18"/>
            <p:cNvSpPr>
              <a:spLocks noChangeShapeType="1"/>
            </p:cNvSpPr>
            <p:nvPr/>
          </p:nvSpPr>
          <p:spPr bwMode="auto">
            <a:xfrm flipV="1">
              <a:off x="5327" y="2058"/>
              <a:ext cx="688" cy="81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890" name="Line 19"/>
            <p:cNvSpPr>
              <a:spLocks noChangeShapeType="1"/>
            </p:cNvSpPr>
            <p:nvPr/>
          </p:nvSpPr>
          <p:spPr bwMode="auto">
            <a:xfrm>
              <a:off x="5389" y="2874"/>
              <a:ext cx="783" cy="407"/>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891" name="Line 20"/>
            <p:cNvSpPr>
              <a:spLocks noChangeShapeType="1"/>
            </p:cNvSpPr>
            <p:nvPr/>
          </p:nvSpPr>
          <p:spPr bwMode="auto">
            <a:xfrm flipV="1">
              <a:off x="4137" y="4776"/>
              <a:ext cx="157" cy="13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892" name="Line 21"/>
            <p:cNvSpPr>
              <a:spLocks noChangeShapeType="1"/>
            </p:cNvSpPr>
            <p:nvPr/>
          </p:nvSpPr>
          <p:spPr bwMode="auto">
            <a:xfrm flipV="1">
              <a:off x="4294" y="4912"/>
              <a:ext cx="156" cy="13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893" name="Rectangle 22"/>
            <p:cNvSpPr>
              <a:spLocks noChangeArrowheads="1"/>
            </p:cNvSpPr>
            <p:nvPr/>
          </p:nvSpPr>
          <p:spPr bwMode="auto">
            <a:xfrm>
              <a:off x="7518" y="3553"/>
              <a:ext cx="1094" cy="545"/>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Pollution</a:t>
              </a:r>
            </a:p>
            <a:p>
              <a:pPr eaLnBrk="1" hangingPunct="1"/>
              <a:endParaRPr lang="en-US" altLang="zh-CN" sz="1800" b="0">
                <a:solidFill>
                  <a:srgbClr val="000000"/>
                </a:solidFill>
                <a:ea typeface="宋体" charset="0"/>
                <a:cs typeface="宋体" charset="0"/>
              </a:endParaRPr>
            </a:p>
          </p:txBody>
        </p:sp>
        <p:sp>
          <p:nvSpPr>
            <p:cNvPr id="79894" name="Rectangle 23"/>
            <p:cNvSpPr>
              <a:spLocks noChangeArrowheads="1"/>
            </p:cNvSpPr>
            <p:nvPr/>
          </p:nvSpPr>
          <p:spPr bwMode="auto">
            <a:xfrm>
              <a:off x="7674" y="4023"/>
              <a:ext cx="783" cy="480"/>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0.5</a:t>
              </a:r>
              <a:endParaRPr lang="en-US" altLang="zh-CN" sz="1800" b="0">
                <a:solidFill>
                  <a:srgbClr val="000000"/>
                </a:solidFill>
                <a:ea typeface="宋体" charset="0"/>
                <a:cs typeface="宋体" charset="0"/>
              </a:endParaRPr>
            </a:p>
          </p:txBody>
        </p:sp>
        <p:sp>
          <p:nvSpPr>
            <p:cNvPr id="79895" name="Rectangle 24"/>
            <p:cNvSpPr>
              <a:spLocks noChangeArrowheads="1"/>
            </p:cNvSpPr>
            <p:nvPr/>
          </p:nvSpPr>
          <p:spPr bwMode="auto">
            <a:xfrm>
              <a:off x="7518" y="4807"/>
              <a:ext cx="1250" cy="514"/>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No pollution</a:t>
              </a:r>
              <a:endParaRPr lang="en-US" altLang="zh-CN" sz="1800" b="0">
                <a:solidFill>
                  <a:srgbClr val="000000"/>
                </a:solidFill>
                <a:ea typeface="宋体" charset="0"/>
                <a:cs typeface="宋体" charset="0"/>
              </a:endParaRPr>
            </a:p>
          </p:txBody>
        </p:sp>
        <p:sp>
          <p:nvSpPr>
            <p:cNvPr id="79896" name="Rectangle 25"/>
            <p:cNvSpPr>
              <a:spLocks noChangeArrowheads="1"/>
            </p:cNvSpPr>
            <p:nvPr/>
          </p:nvSpPr>
          <p:spPr bwMode="auto">
            <a:xfrm>
              <a:off x="7753" y="5277"/>
              <a:ext cx="782" cy="607"/>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0.5</a:t>
              </a:r>
              <a:endParaRPr lang="en-US" altLang="zh-CN" sz="1800" b="0">
                <a:solidFill>
                  <a:srgbClr val="000000"/>
                </a:solidFill>
                <a:ea typeface="宋体" charset="0"/>
                <a:cs typeface="宋体" charset="0"/>
              </a:endParaRPr>
            </a:p>
          </p:txBody>
        </p:sp>
        <p:sp>
          <p:nvSpPr>
            <p:cNvPr id="79897" name="Rectangle 26"/>
            <p:cNvSpPr>
              <a:spLocks noChangeArrowheads="1"/>
            </p:cNvSpPr>
            <p:nvPr/>
          </p:nvSpPr>
          <p:spPr bwMode="auto">
            <a:xfrm>
              <a:off x="5076" y="5184"/>
              <a:ext cx="690" cy="409"/>
            </a:xfrm>
            <a:prstGeom prst="rect">
              <a:avLst/>
            </a:prstGeom>
            <a:solidFill>
              <a:srgbClr val="FFFFFF"/>
            </a:solidFill>
            <a:ln w="9525">
              <a:solidFill>
                <a:srgbClr val="000000"/>
              </a:solidFill>
              <a:miter lim="800000"/>
              <a:headEnd/>
              <a:tailEnd/>
            </a:ln>
          </p:spPr>
          <p:txBody>
            <a:bodyPr/>
            <a:lstStyle/>
            <a:p>
              <a:pPr eaLnBrk="1" hangingPunct="1">
                <a:lnSpc>
                  <a:spcPct val="90000"/>
                </a:lnSpc>
                <a:spcBef>
                  <a:spcPct val="50000"/>
                </a:spcBef>
                <a:buFontTx/>
                <a:buChar char="•"/>
              </a:pPr>
              <a:endParaRPr lang="zh-CN" altLang="en-US"/>
            </a:p>
          </p:txBody>
        </p:sp>
        <p:sp>
          <p:nvSpPr>
            <p:cNvPr id="79898" name="Line 27"/>
            <p:cNvSpPr>
              <a:spLocks noChangeShapeType="1"/>
            </p:cNvSpPr>
            <p:nvPr/>
          </p:nvSpPr>
          <p:spPr bwMode="auto">
            <a:xfrm flipV="1">
              <a:off x="6266" y="5905"/>
              <a:ext cx="156" cy="15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899" name="Line 28"/>
            <p:cNvSpPr>
              <a:spLocks noChangeShapeType="1"/>
            </p:cNvSpPr>
            <p:nvPr/>
          </p:nvSpPr>
          <p:spPr bwMode="auto">
            <a:xfrm flipV="1">
              <a:off x="6109" y="5748"/>
              <a:ext cx="155" cy="157"/>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900" name="Rectangle 29"/>
            <p:cNvSpPr>
              <a:spLocks noChangeArrowheads="1"/>
            </p:cNvSpPr>
            <p:nvPr/>
          </p:nvSpPr>
          <p:spPr bwMode="auto">
            <a:xfrm>
              <a:off x="8927" y="5748"/>
              <a:ext cx="1096" cy="502"/>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$630,000</a:t>
              </a:r>
              <a:endParaRPr lang="en-US" altLang="zh-CN" sz="1800" b="0">
                <a:solidFill>
                  <a:srgbClr val="000000"/>
                </a:solidFill>
                <a:ea typeface="宋体" charset="0"/>
                <a:cs typeface="宋体" charset="0"/>
              </a:endParaRPr>
            </a:p>
          </p:txBody>
        </p:sp>
        <p:sp>
          <p:nvSpPr>
            <p:cNvPr id="79901" name="Rectangle 30"/>
            <p:cNvSpPr>
              <a:spLocks noChangeArrowheads="1"/>
            </p:cNvSpPr>
            <p:nvPr/>
          </p:nvSpPr>
          <p:spPr bwMode="auto">
            <a:xfrm>
              <a:off x="8926" y="4964"/>
              <a:ext cx="1097" cy="491"/>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$900,000</a:t>
              </a:r>
              <a:endParaRPr lang="en-US" altLang="zh-CN" sz="1800" b="0">
                <a:solidFill>
                  <a:srgbClr val="000000"/>
                </a:solidFill>
                <a:ea typeface="宋体" charset="0"/>
                <a:cs typeface="宋体" charset="0"/>
              </a:endParaRPr>
            </a:p>
          </p:txBody>
        </p:sp>
        <p:sp>
          <p:nvSpPr>
            <p:cNvPr id="79902" name="Rectangle 31"/>
            <p:cNvSpPr>
              <a:spLocks noChangeArrowheads="1"/>
            </p:cNvSpPr>
            <p:nvPr/>
          </p:nvSpPr>
          <p:spPr bwMode="auto">
            <a:xfrm>
              <a:off x="8848" y="3710"/>
              <a:ext cx="1174" cy="658"/>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$400,000</a:t>
              </a:r>
              <a:endParaRPr lang="en-US" altLang="zh-CN" sz="1800" b="0">
                <a:solidFill>
                  <a:srgbClr val="000000"/>
                </a:solidFill>
                <a:ea typeface="宋体" charset="0"/>
                <a:cs typeface="宋体" charset="0"/>
              </a:endParaRPr>
            </a:p>
          </p:txBody>
        </p:sp>
        <p:sp>
          <p:nvSpPr>
            <p:cNvPr id="79903" name="Rectangle 32"/>
            <p:cNvSpPr>
              <a:spLocks noChangeArrowheads="1"/>
            </p:cNvSpPr>
            <p:nvPr/>
          </p:nvSpPr>
          <p:spPr bwMode="auto">
            <a:xfrm>
              <a:off x="8144" y="2926"/>
              <a:ext cx="1096" cy="491"/>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$895,000</a:t>
              </a:r>
              <a:endParaRPr lang="en-US" altLang="zh-CN" sz="1800" b="0">
                <a:solidFill>
                  <a:srgbClr val="000000"/>
                </a:solidFill>
                <a:ea typeface="宋体" charset="0"/>
                <a:cs typeface="宋体" charset="0"/>
              </a:endParaRPr>
            </a:p>
          </p:txBody>
        </p:sp>
        <p:sp>
          <p:nvSpPr>
            <p:cNvPr id="79904" name="Rectangle 33"/>
            <p:cNvSpPr>
              <a:spLocks noChangeArrowheads="1"/>
            </p:cNvSpPr>
            <p:nvPr/>
          </p:nvSpPr>
          <p:spPr bwMode="auto">
            <a:xfrm>
              <a:off x="8144" y="1672"/>
              <a:ext cx="1096" cy="501"/>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$625,000</a:t>
              </a:r>
              <a:endParaRPr lang="en-US" altLang="zh-CN" sz="1800" b="0">
                <a:solidFill>
                  <a:srgbClr val="000000"/>
                </a:solidFill>
                <a:ea typeface="宋体" charset="0"/>
                <a:cs typeface="宋体" charset="0"/>
              </a:endParaRPr>
            </a:p>
          </p:txBody>
        </p:sp>
        <p:sp>
          <p:nvSpPr>
            <p:cNvPr id="79905" name="Rectangle 34"/>
            <p:cNvSpPr>
              <a:spLocks noChangeArrowheads="1"/>
            </p:cNvSpPr>
            <p:nvPr/>
          </p:nvSpPr>
          <p:spPr bwMode="auto">
            <a:xfrm>
              <a:off x="6422" y="2769"/>
              <a:ext cx="1251" cy="514"/>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No pollution</a:t>
              </a:r>
              <a:endParaRPr lang="en-US" altLang="zh-CN" sz="1800" b="0">
                <a:solidFill>
                  <a:srgbClr val="000000"/>
                </a:solidFill>
                <a:ea typeface="宋体" charset="0"/>
                <a:cs typeface="宋体" charset="0"/>
              </a:endParaRPr>
            </a:p>
          </p:txBody>
        </p:sp>
        <p:sp>
          <p:nvSpPr>
            <p:cNvPr id="79906" name="Rectangle 35"/>
            <p:cNvSpPr>
              <a:spLocks noChangeArrowheads="1"/>
            </p:cNvSpPr>
            <p:nvPr/>
          </p:nvSpPr>
          <p:spPr bwMode="auto">
            <a:xfrm>
              <a:off x="6266" y="1515"/>
              <a:ext cx="1250" cy="566"/>
            </a:xfrm>
            <a:prstGeom prst="rect">
              <a:avLst/>
            </a:prstGeom>
            <a:solidFill>
              <a:srgbClr val="FFFFFF"/>
            </a:solidFill>
            <a:ln w="9525">
              <a:solidFill>
                <a:srgbClr val="FFFFFF"/>
              </a:solidFill>
              <a:miter lim="800000"/>
              <a:headEnd/>
              <a:tailEnd/>
            </a:ln>
          </p:spPr>
          <p:txBody>
            <a:bodyPr/>
            <a:lstStyle/>
            <a:p>
              <a:pPr algn="ctr" eaLnBrk="1" hangingPunct="1"/>
              <a:r>
                <a:rPr lang="en-US" altLang="zh-CN" sz="1800" b="0">
                  <a:solidFill>
                    <a:srgbClr val="000000"/>
                  </a:solidFill>
                  <a:latin typeface="Times New Roman" charset="0"/>
                  <a:ea typeface="宋体" charset="0"/>
                  <a:cs typeface="宋体" charset="0"/>
                </a:rPr>
                <a:t>Pollution</a:t>
              </a:r>
              <a:endParaRPr lang="en-US" altLang="zh-CN" sz="1800" b="0">
                <a:solidFill>
                  <a:srgbClr val="000000"/>
                </a:solidFill>
                <a:ea typeface="宋体" charset="0"/>
                <a:cs typeface="宋体" charset="0"/>
              </a:endParaRPr>
            </a:p>
          </p:txBody>
        </p:sp>
        <p:sp>
          <p:nvSpPr>
            <p:cNvPr id="79907" name="Line 36"/>
            <p:cNvSpPr>
              <a:spLocks noChangeShapeType="1"/>
            </p:cNvSpPr>
            <p:nvPr/>
          </p:nvSpPr>
          <p:spPr bwMode="auto">
            <a:xfrm flipV="1">
              <a:off x="7268" y="4097"/>
              <a:ext cx="1658" cy="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908" name="Line 37"/>
            <p:cNvSpPr>
              <a:spLocks noChangeShapeType="1"/>
            </p:cNvSpPr>
            <p:nvPr/>
          </p:nvSpPr>
          <p:spPr bwMode="auto">
            <a:xfrm>
              <a:off x="7581" y="5319"/>
              <a:ext cx="1345" cy="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909" name="Line 38"/>
            <p:cNvSpPr>
              <a:spLocks noChangeShapeType="1"/>
            </p:cNvSpPr>
            <p:nvPr/>
          </p:nvSpPr>
          <p:spPr bwMode="auto">
            <a:xfrm>
              <a:off x="6798" y="4912"/>
              <a:ext cx="782" cy="407"/>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910" name="Line 39"/>
            <p:cNvSpPr>
              <a:spLocks noChangeShapeType="1"/>
            </p:cNvSpPr>
            <p:nvPr/>
          </p:nvSpPr>
          <p:spPr bwMode="auto">
            <a:xfrm>
              <a:off x="6641" y="6135"/>
              <a:ext cx="2285" cy="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911" name="Rectangle 40"/>
            <p:cNvSpPr>
              <a:spLocks noChangeArrowheads="1"/>
            </p:cNvSpPr>
            <p:nvPr/>
          </p:nvSpPr>
          <p:spPr bwMode="auto">
            <a:xfrm>
              <a:off x="6735" y="3239"/>
              <a:ext cx="784" cy="627"/>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0.5</a:t>
              </a:r>
              <a:endParaRPr lang="en-US" altLang="zh-CN" sz="1800" b="0">
                <a:solidFill>
                  <a:srgbClr val="000000"/>
                </a:solidFill>
                <a:ea typeface="宋体" charset="0"/>
                <a:cs typeface="宋体" charset="0"/>
              </a:endParaRPr>
            </a:p>
          </p:txBody>
        </p:sp>
        <p:sp>
          <p:nvSpPr>
            <p:cNvPr id="79912" name="Rectangle 41"/>
            <p:cNvSpPr>
              <a:spLocks noChangeArrowheads="1"/>
            </p:cNvSpPr>
            <p:nvPr/>
          </p:nvSpPr>
          <p:spPr bwMode="auto">
            <a:xfrm>
              <a:off x="6579" y="1985"/>
              <a:ext cx="783" cy="479"/>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0.5</a:t>
              </a:r>
              <a:endParaRPr lang="en-US" altLang="zh-CN" sz="1800" b="0">
                <a:solidFill>
                  <a:srgbClr val="000000"/>
                </a:solidFill>
                <a:ea typeface="宋体" charset="0"/>
                <a:cs typeface="宋体" charset="0"/>
              </a:endParaRPr>
            </a:p>
          </p:txBody>
        </p:sp>
        <p:sp>
          <p:nvSpPr>
            <p:cNvPr id="79913" name="Line 42"/>
            <p:cNvSpPr>
              <a:spLocks noChangeShapeType="1"/>
            </p:cNvSpPr>
            <p:nvPr/>
          </p:nvSpPr>
          <p:spPr bwMode="auto">
            <a:xfrm>
              <a:off x="6015" y="2058"/>
              <a:ext cx="2192" cy="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914" name="Line 43"/>
            <p:cNvSpPr>
              <a:spLocks noChangeShapeType="1"/>
            </p:cNvSpPr>
            <p:nvPr/>
          </p:nvSpPr>
          <p:spPr bwMode="auto">
            <a:xfrm>
              <a:off x="6172" y="3281"/>
              <a:ext cx="1972" cy="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9915" name="Oval 44"/>
            <p:cNvSpPr>
              <a:spLocks noChangeArrowheads="1"/>
            </p:cNvSpPr>
            <p:nvPr/>
          </p:nvSpPr>
          <p:spPr bwMode="auto">
            <a:xfrm>
              <a:off x="4920" y="2738"/>
              <a:ext cx="469" cy="408"/>
            </a:xfrm>
            <a:prstGeom prst="ellipse">
              <a:avLst/>
            </a:prstGeom>
            <a:solidFill>
              <a:srgbClr val="FFFFFF"/>
            </a:solidFill>
            <a:ln w="9525">
              <a:solidFill>
                <a:srgbClr val="000000"/>
              </a:solidFill>
              <a:round/>
              <a:headEnd/>
              <a:tailEnd/>
            </a:ln>
          </p:spPr>
          <p:txBody>
            <a:bodyPr/>
            <a:lstStyle/>
            <a:p>
              <a:pPr eaLnBrk="1" hangingPunct="1">
                <a:lnSpc>
                  <a:spcPct val="90000"/>
                </a:lnSpc>
                <a:spcBef>
                  <a:spcPct val="50000"/>
                </a:spcBef>
                <a:buFontTx/>
                <a:buChar char="•"/>
              </a:pPr>
              <a:endParaRPr lang="zh-CN" altLang="en-US"/>
            </a:p>
          </p:txBody>
        </p:sp>
        <p:sp>
          <p:nvSpPr>
            <p:cNvPr id="79916" name="Oval 45"/>
            <p:cNvSpPr>
              <a:spLocks noChangeArrowheads="1"/>
            </p:cNvSpPr>
            <p:nvPr/>
          </p:nvSpPr>
          <p:spPr bwMode="auto">
            <a:xfrm>
              <a:off x="6328" y="4640"/>
              <a:ext cx="472" cy="409"/>
            </a:xfrm>
            <a:prstGeom prst="ellipse">
              <a:avLst/>
            </a:prstGeom>
            <a:solidFill>
              <a:srgbClr val="FFFFFF"/>
            </a:solidFill>
            <a:ln w="9525">
              <a:solidFill>
                <a:srgbClr val="000000"/>
              </a:solidFill>
              <a:round/>
              <a:headEnd/>
              <a:tailEnd/>
            </a:ln>
          </p:spPr>
          <p:txBody>
            <a:bodyPr/>
            <a:lstStyle/>
            <a:p>
              <a:pPr eaLnBrk="1" hangingPunct="1">
                <a:lnSpc>
                  <a:spcPct val="90000"/>
                </a:lnSpc>
                <a:spcBef>
                  <a:spcPct val="50000"/>
                </a:spcBef>
                <a:buFontTx/>
                <a:buChar char="•"/>
              </a:pPr>
              <a:endParaRPr lang="zh-CN" altLang="en-US"/>
            </a:p>
          </p:txBody>
        </p:sp>
        <p:sp>
          <p:nvSpPr>
            <p:cNvPr id="79917" name="Rectangle 46"/>
            <p:cNvSpPr>
              <a:spLocks noChangeArrowheads="1"/>
            </p:cNvSpPr>
            <p:nvPr/>
          </p:nvSpPr>
          <p:spPr bwMode="auto">
            <a:xfrm>
              <a:off x="2885" y="4097"/>
              <a:ext cx="626" cy="408"/>
            </a:xfrm>
            <a:prstGeom prst="rect">
              <a:avLst/>
            </a:prstGeom>
            <a:solidFill>
              <a:srgbClr val="FFFFFF"/>
            </a:solidFill>
            <a:ln w="9525">
              <a:solidFill>
                <a:srgbClr val="000000"/>
              </a:solidFill>
              <a:miter lim="800000"/>
              <a:headEnd/>
              <a:tailEnd/>
            </a:ln>
          </p:spPr>
          <p:txBody>
            <a:bodyPr/>
            <a:lstStyle/>
            <a:p>
              <a:pPr eaLnBrk="1" hangingPunct="1">
                <a:lnSpc>
                  <a:spcPct val="90000"/>
                </a:lnSpc>
                <a:spcBef>
                  <a:spcPct val="50000"/>
                </a:spcBef>
                <a:buFontTx/>
                <a:buChar char="•"/>
              </a:pPr>
              <a:endParaRPr lang="zh-CN" altLang="en-US"/>
            </a:p>
          </p:txBody>
        </p:sp>
        <p:sp>
          <p:nvSpPr>
            <p:cNvPr id="79918" name="Rectangle 47"/>
            <p:cNvSpPr>
              <a:spLocks noChangeArrowheads="1"/>
            </p:cNvSpPr>
            <p:nvPr/>
          </p:nvSpPr>
          <p:spPr bwMode="auto">
            <a:xfrm>
              <a:off x="3136" y="2926"/>
              <a:ext cx="1565" cy="564"/>
            </a:xfrm>
            <a:prstGeom prst="rect">
              <a:avLst/>
            </a:prstGeom>
            <a:solidFill>
              <a:srgbClr val="FFFFFF"/>
            </a:solidFill>
            <a:ln w="9525">
              <a:solidFill>
                <a:srgbClr val="FFFFFF"/>
              </a:solidFill>
              <a:miter lim="800000"/>
              <a:headEnd/>
              <a:tailEnd/>
            </a:ln>
          </p:spPr>
          <p:txBody>
            <a:bodyPr/>
            <a:lstStyle/>
            <a:p>
              <a:pPr algn="just" eaLnBrk="1" hangingPunct="1"/>
              <a:r>
                <a:rPr lang="en-US" altLang="zh-CN" sz="1800" b="0">
                  <a:solidFill>
                    <a:srgbClr val="000000"/>
                  </a:solidFill>
                  <a:latin typeface="Times New Roman" charset="0"/>
                  <a:ea typeface="宋体" charset="0"/>
                  <a:cs typeface="宋体" charset="0"/>
                </a:rPr>
                <a:t>Hire consultant</a:t>
              </a:r>
              <a:endParaRPr lang="en-US" altLang="zh-CN" sz="1800" b="0">
                <a:solidFill>
                  <a:srgbClr val="000000"/>
                </a:solidFill>
                <a:ea typeface="宋体" charset="0"/>
                <a:cs typeface="宋体" charset="0"/>
              </a:endParaRPr>
            </a:p>
          </p:txBody>
        </p:sp>
        <p:sp>
          <p:nvSpPr>
            <p:cNvPr id="79919" name="Line 48"/>
            <p:cNvSpPr>
              <a:spLocks noChangeShapeType="1"/>
            </p:cNvSpPr>
            <p:nvPr/>
          </p:nvSpPr>
          <p:spPr bwMode="auto">
            <a:xfrm flipV="1">
              <a:off x="3511" y="3010"/>
              <a:ext cx="1410" cy="1223"/>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grpSp>
      <p:sp>
        <p:nvSpPr>
          <p:cNvPr id="79876" name="Text Box 49"/>
          <p:cNvSpPr txBox="1">
            <a:spLocks noChangeArrowheads="1"/>
          </p:cNvSpPr>
          <p:nvPr/>
        </p:nvSpPr>
        <p:spPr bwMode="auto">
          <a:xfrm>
            <a:off x="438150" y="55563"/>
            <a:ext cx="3149600"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en-US" altLang="zh-CN" sz="4000" b="0"/>
              <a:t>Decision tree</a:t>
            </a: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altLang="zh-CN">
                <a:latin typeface="Arial" charset="0"/>
                <a:ea typeface="楷体_GB2312" charset="0"/>
                <a:cs typeface="楷体_GB2312" charset="0"/>
              </a:rPr>
              <a:t>(3) </a:t>
            </a:r>
            <a:r>
              <a:rPr lang="zh-CN" altLang="en-US">
                <a:latin typeface="Arial" charset="0"/>
                <a:ea typeface="楷体_GB2312" charset="0"/>
                <a:cs typeface="楷体_GB2312" charset="0"/>
              </a:rPr>
              <a:t>模拟法</a:t>
            </a:r>
          </a:p>
        </p:txBody>
      </p:sp>
      <p:sp>
        <p:nvSpPr>
          <p:cNvPr id="80899" name="Rectangle 3"/>
          <p:cNvSpPr>
            <a:spLocks noGrp="1" noChangeArrowheads="1"/>
          </p:cNvSpPr>
          <p:nvPr>
            <p:ph type="body" idx="1"/>
          </p:nvPr>
        </p:nvSpPr>
        <p:spPr/>
        <p:txBody>
          <a:bodyPr/>
          <a:lstStyle/>
          <a:p>
            <a:pPr eaLnBrk="1" hangingPunct="1"/>
            <a:r>
              <a:rPr lang="zh-CN" altLang="en-US">
                <a:latin typeface="Arial" charset="0"/>
                <a:ea typeface="宋体" charset="0"/>
              </a:rPr>
              <a:t>也叫蒙特卡罗模拟法，反复进行随机抽样的方法模拟各种随机变量的变化，进而通过计算了解方案经济效果指标的概率分布</a:t>
            </a:r>
          </a:p>
          <a:p>
            <a:pPr eaLnBrk="1" hangingPunct="1"/>
            <a:endParaRPr lang="zh-CN" altLang="en-US">
              <a:latin typeface="Arial" charset="0"/>
              <a:ea typeface="宋体" charset="0"/>
            </a:endParaRPr>
          </a:p>
          <a:p>
            <a:pPr eaLnBrk="1" hangingPunct="1"/>
            <a:r>
              <a:rPr lang="zh-CN" altLang="en-US">
                <a:latin typeface="Arial" charset="0"/>
                <a:ea typeface="宋体" charset="0"/>
              </a:rPr>
              <a:t>模拟法要通过反复抽样来模拟方案的各种随机状态，且样本数需足够大，因而计算工作量非常大，用手工计算是很困难的，一般需借助计算机进行模拟计算</a:t>
            </a:r>
          </a:p>
          <a:p>
            <a:pPr lvl="1" eaLnBrk="1" hangingPunct="1"/>
            <a:r>
              <a:rPr lang="en-US" altLang="zh-CN">
                <a:latin typeface="Arial" charset="0"/>
                <a:ea typeface="宋体" charset="0"/>
              </a:rPr>
              <a:t>MS Excel / CryStall Ball / @risk</a:t>
            </a:r>
          </a:p>
          <a:p>
            <a:pPr eaLnBrk="1" hangingPunct="1"/>
            <a:endParaRPr lang="zh-CN" altLang="en-US">
              <a:latin typeface="Arial" charset="0"/>
              <a:ea typeface="宋体" charset="0"/>
            </a:endParaRP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zh-CN" altLang="en-US">
                <a:latin typeface="Arial" charset="0"/>
                <a:ea typeface="楷体_GB2312" charset="0"/>
                <a:cs typeface="楷体_GB2312" charset="0"/>
              </a:rPr>
              <a:t>模拟法的实施步骤</a:t>
            </a:r>
          </a:p>
        </p:txBody>
      </p:sp>
      <p:sp>
        <p:nvSpPr>
          <p:cNvPr id="82947" name="Rectangle 3"/>
          <p:cNvSpPr>
            <a:spLocks noGrp="1" noChangeArrowheads="1"/>
          </p:cNvSpPr>
          <p:nvPr>
            <p:ph type="body" idx="1"/>
          </p:nvPr>
        </p:nvSpPr>
        <p:spPr/>
        <p:txBody>
          <a:bodyPr/>
          <a:lstStyle/>
          <a:p>
            <a:pPr eaLnBrk="1" hangingPunct="1">
              <a:spcBef>
                <a:spcPct val="50000"/>
              </a:spcBef>
              <a:buFontTx/>
              <a:buNone/>
            </a:pPr>
            <a:r>
              <a:rPr lang="zh-CN" altLang="en-US" sz="2800">
                <a:latin typeface="Arial" charset="0"/>
                <a:ea typeface="宋体" charset="0"/>
                <a:sym typeface="Wingdings" charset="0"/>
              </a:rPr>
              <a:t>（</a:t>
            </a:r>
            <a:r>
              <a:rPr lang="en-US" altLang="zh-CN" sz="2800">
                <a:latin typeface="Arial" charset="0"/>
                <a:ea typeface="宋体" charset="0"/>
                <a:sym typeface="Wingdings" charset="0"/>
              </a:rPr>
              <a:t>1</a:t>
            </a:r>
            <a:r>
              <a:rPr lang="zh-CN" altLang="en-US" sz="2800">
                <a:latin typeface="Arial" charset="0"/>
                <a:ea typeface="宋体" charset="0"/>
                <a:sym typeface="Wingdings" charset="0"/>
              </a:rPr>
              <a:t>）通过敏感性分析确定风险随机变量；</a:t>
            </a:r>
          </a:p>
          <a:p>
            <a:pPr eaLnBrk="1" hangingPunct="1">
              <a:spcBef>
                <a:spcPct val="50000"/>
              </a:spcBef>
              <a:buFontTx/>
              <a:buNone/>
            </a:pPr>
            <a:r>
              <a:rPr lang="zh-CN" altLang="en-US" sz="2800">
                <a:latin typeface="Arial" charset="0"/>
                <a:ea typeface="宋体" charset="0"/>
                <a:sym typeface="Wingdings" charset="0"/>
              </a:rPr>
              <a:t>（</a:t>
            </a:r>
            <a:r>
              <a:rPr lang="en-US" altLang="zh-CN" sz="2800">
                <a:latin typeface="Arial" charset="0"/>
                <a:ea typeface="宋体" charset="0"/>
                <a:sym typeface="Wingdings" charset="0"/>
              </a:rPr>
              <a:t>2</a:t>
            </a:r>
            <a:r>
              <a:rPr lang="zh-CN" altLang="en-US" sz="2800">
                <a:latin typeface="Arial" charset="0"/>
                <a:ea typeface="宋体" charset="0"/>
                <a:sym typeface="Wingdings" charset="0"/>
              </a:rPr>
              <a:t>）确定风险随机变量的概率分布；</a:t>
            </a:r>
          </a:p>
          <a:p>
            <a:pPr eaLnBrk="1" hangingPunct="1">
              <a:spcBef>
                <a:spcPct val="50000"/>
              </a:spcBef>
              <a:buFontTx/>
              <a:buNone/>
            </a:pPr>
            <a:r>
              <a:rPr lang="zh-CN" altLang="en-US" sz="2800">
                <a:latin typeface="Arial" charset="0"/>
                <a:ea typeface="宋体" charset="0"/>
                <a:sym typeface="Wingdings" charset="0"/>
              </a:rPr>
              <a:t>（</a:t>
            </a:r>
            <a:r>
              <a:rPr lang="en-US" altLang="zh-CN" sz="2800">
                <a:latin typeface="Arial" charset="0"/>
                <a:ea typeface="宋体" charset="0"/>
                <a:sym typeface="Wingdings" charset="0"/>
              </a:rPr>
              <a:t>3</a:t>
            </a:r>
            <a:r>
              <a:rPr lang="zh-CN" altLang="en-US" sz="2800">
                <a:latin typeface="Arial" charset="0"/>
                <a:ea typeface="宋体" charset="0"/>
                <a:sym typeface="Wingdings" charset="0"/>
              </a:rPr>
              <a:t>）通过随机数表或计算机求出随机数，根据风</a:t>
            </a:r>
            <a:br>
              <a:rPr lang="zh-CN" altLang="en-US" sz="2800">
                <a:latin typeface="Arial" charset="0"/>
                <a:ea typeface="宋体" charset="0"/>
                <a:sym typeface="Wingdings" charset="0"/>
              </a:rPr>
            </a:br>
            <a:r>
              <a:rPr lang="zh-CN" altLang="en-US" sz="2800">
                <a:latin typeface="Arial" charset="0"/>
                <a:ea typeface="宋体" charset="0"/>
                <a:sym typeface="Wingdings" charset="0"/>
              </a:rPr>
              <a:t>      险随机变量的概率分布模拟输入变量；</a:t>
            </a:r>
          </a:p>
          <a:p>
            <a:pPr eaLnBrk="1" hangingPunct="1">
              <a:spcBef>
                <a:spcPct val="50000"/>
              </a:spcBef>
              <a:buFontTx/>
              <a:buNone/>
            </a:pPr>
            <a:r>
              <a:rPr lang="zh-CN" altLang="en-US" sz="2800">
                <a:latin typeface="Arial" charset="0"/>
                <a:ea typeface="宋体" charset="0"/>
                <a:sym typeface="Wingdings" charset="0"/>
              </a:rPr>
              <a:t>（</a:t>
            </a:r>
            <a:r>
              <a:rPr lang="en-US" altLang="zh-CN" sz="2800">
                <a:latin typeface="Arial" charset="0"/>
                <a:ea typeface="宋体" charset="0"/>
                <a:sym typeface="Wingdings" charset="0"/>
              </a:rPr>
              <a:t>4</a:t>
            </a:r>
            <a:r>
              <a:rPr lang="zh-CN" altLang="en-US" sz="2800">
                <a:latin typeface="Arial" charset="0"/>
                <a:ea typeface="宋体" charset="0"/>
                <a:sym typeface="Wingdings" charset="0"/>
              </a:rPr>
              <a:t>）选取经济评价指标，如净现值、内部收益率</a:t>
            </a:r>
          </a:p>
          <a:p>
            <a:pPr eaLnBrk="1" hangingPunct="1">
              <a:spcBef>
                <a:spcPct val="50000"/>
              </a:spcBef>
              <a:buFontTx/>
              <a:buNone/>
            </a:pPr>
            <a:r>
              <a:rPr lang="zh-CN" altLang="en-US" sz="2800">
                <a:latin typeface="Arial" charset="0"/>
                <a:ea typeface="宋体" charset="0"/>
                <a:sym typeface="Wingdings" charset="0"/>
              </a:rPr>
              <a:t>（</a:t>
            </a:r>
            <a:r>
              <a:rPr lang="en-US" altLang="zh-CN" sz="2800">
                <a:latin typeface="Arial" charset="0"/>
                <a:ea typeface="宋体" charset="0"/>
                <a:sym typeface="Wingdings" charset="0"/>
              </a:rPr>
              <a:t>5</a:t>
            </a:r>
            <a:r>
              <a:rPr lang="zh-CN" altLang="en-US" sz="2800">
                <a:latin typeface="Arial" charset="0"/>
                <a:ea typeface="宋体" charset="0"/>
                <a:sym typeface="Wingdings" charset="0"/>
              </a:rPr>
              <a:t>）根据基础数据计算评价指标；</a:t>
            </a:r>
          </a:p>
          <a:p>
            <a:pPr eaLnBrk="1" hangingPunct="1">
              <a:spcBef>
                <a:spcPct val="50000"/>
              </a:spcBef>
              <a:buFontTx/>
              <a:buNone/>
            </a:pPr>
            <a:r>
              <a:rPr lang="zh-CN" altLang="en-US" sz="2800">
                <a:latin typeface="Arial" charset="0"/>
                <a:ea typeface="宋体" charset="0"/>
                <a:sym typeface="Wingdings" charset="0"/>
              </a:rPr>
              <a:t>（</a:t>
            </a:r>
            <a:r>
              <a:rPr lang="en-US" altLang="zh-CN" sz="2800">
                <a:latin typeface="Arial" charset="0"/>
                <a:ea typeface="宋体" charset="0"/>
                <a:sym typeface="Wingdings" charset="0"/>
              </a:rPr>
              <a:t>6</a:t>
            </a:r>
            <a:r>
              <a:rPr lang="zh-CN" altLang="en-US" sz="2800">
                <a:latin typeface="Arial" charset="0"/>
                <a:ea typeface="宋体" charset="0"/>
                <a:sym typeface="Wingdings" charset="0"/>
              </a:rPr>
              <a:t>）整理模拟结果所得评价指标的期望值、方差、</a:t>
            </a:r>
            <a:br>
              <a:rPr lang="zh-CN" altLang="en-US" sz="2800">
                <a:latin typeface="Arial" charset="0"/>
                <a:ea typeface="宋体" charset="0"/>
                <a:sym typeface="Wingdings" charset="0"/>
              </a:rPr>
            </a:br>
            <a:r>
              <a:rPr lang="zh-CN" altLang="en-US" sz="2800">
                <a:latin typeface="Arial" charset="0"/>
                <a:ea typeface="宋体" charset="0"/>
                <a:sym typeface="Wingdings" charset="0"/>
              </a:rPr>
              <a:t>      标准差和它的概率分布及累计概率，绘制累</a:t>
            </a:r>
            <a:br>
              <a:rPr lang="zh-CN" altLang="en-US" sz="2800">
                <a:latin typeface="Arial" charset="0"/>
                <a:ea typeface="宋体" charset="0"/>
                <a:sym typeface="Wingdings" charset="0"/>
              </a:rPr>
            </a:br>
            <a:r>
              <a:rPr lang="zh-CN" altLang="en-US" sz="2800">
                <a:latin typeface="Arial" charset="0"/>
                <a:ea typeface="宋体" charset="0"/>
                <a:sym typeface="Wingdings" charset="0"/>
              </a:rPr>
              <a:t>      计概率图，计算项目可行或不可行的概率。</a:t>
            </a: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CN" altLang="en-US">
                <a:latin typeface="Arial" charset="0"/>
                <a:ea typeface="楷体_GB2312" charset="0"/>
                <a:cs typeface="楷体_GB2312" charset="0"/>
              </a:rPr>
              <a:t>模拟法的例子</a:t>
            </a:r>
          </a:p>
        </p:txBody>
      </p:sp>
      <p:sp>
        <p:nvSpPr>
          <p:cNvPr id="84995" name="Rectangle 3"/>
          <p:cNvSpPr>
            <a:spLocks noGrp="1" noChangeArrowheads="1"/>
          </p:cNvSpPr>
          <p:nvPr>
            <p:ph type="body" idx="1"/>
          </p:nvPr>
        </p:nvSpPr>
        <p:spPr/>
        <p:txBody>
          <a:bodyPr/>
          <a:lstStyle/>
          <a:p>
            <a:pPr eaLnBrk="1" hangingPunct="1"/>
            <a:endParaRPr lang="zh-CN" altLang="en-US">
              <a:latin typeface="Arial" charset="0"/>
              <a:ea typeface="宋体" charset="0"/>
            </a:endParaRPr>
          </a:p>
        </p:txBody>
      </p:sp>
      <p:pic>
        <p:nvPicPr>
          <p:cNvPr id="84996" name="Picture 4" descr="QuRiskSi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038" y="2011363"/>
            <a:ext cx="8650287" cy="3749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5"/>
          <p:cNvSpPr>
            <a:spLocks noGrp="1" noChangeArrowheads="1"/>
          </p:cNvSpPr>
          <p:nvPr>
            <p:ph type="title"/>
          </p:nvPr>
        </p:nvSpPr>
        <p:spPr>
          <a:xfrm>
            <a:off x="211138" y="139700"/>
            <a:ext cx="8721725" cy="1147763"/>
          </a:xfrm>
          <a:noFill/>
          <a:extLst>
            <a:ext uri="{909E8E84-426E-40dd-AFC4-6F175D3DCCD1}">
              <a14:hiddenFill xmlns:a14="http://schemas.microsoft.com/office/drawing/2010/main" xmlns="">
                <a:solidFill>
                  <a:schemeClr val="tx2"/>
                </a:solidFill>
              </a14:hiddenFill>
            </a:ext>
          </a:extLst>
        </p:spPr>
        <p:txBody>
          <a:bodyPr lIns="91385" tIns="45695" rIns="91385" bIns="45695"/>
          <a:lstStyle/>
          <a:p>
            <a:pPr eaLnBrk="1" hangingPunct="1"/>
            <a:r>
              <a:rPr lang="en-US" altLang="zh-CN">
                <a:latin typeface="Arial" charset="0"/>
                <a:ea typeface="楷体_GB2312" charset="0"/>
                <a:cs typeface="楷体_GB2312" charset="0"/>
              </a:rPr>
              <a:t>Sample Monte Carlo simulation results for project schedule</a:t>
            </a:r>
          </a:p>
        </p:txBody>
      </p:sp>
      <p:pic>
        <p:nvPicPr>
          <p:cNvPr id="8704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24000"/>
            <a:ext cx="7696200" cy="480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5"/>
          <p:cNvSpPr>
            <a:spLocks noGrp="1" noChangeArrowheads="1"/>
          </p:cNvSpPr>
          <p:nvPr>
            <p:ph type="title"/>
          </p:nvPr>
        </p:nvSpPr>
        <p:spPr>
          <a:xfrm>
            <a:off x="211138" y="139700"/>
            <a:ext cx="8721725" cy="1147763"/>
          </a:xfrm>
          <a:noFill/>
          <a:extLst>
            <a:ext uri="{909E8E84-426E-40dd-AFC4-6F175D3DCCD1}">
              <a14:hiddenFill xmlns:a14="http://schemas.microsoft.com/office/drawing/2010/main" xmlns="">
                <a:solidFill>
                  <a:schemeClr val="tx2"/>
                </a:solidFill>
              </a14:hiddenFill>
            </a:ext>
          </a:extLst>
        </p:spPr>
        <p:txBody>
          <a:bodyPr lIns="91385" tIns="45695" rIns="91385" bIns="45695"/>
          <a:lstStyle/>
          <a:p>
            <a:pPr eaLnBrk="1" hangingPunct="1"/>
            <a:r>
              <a:rPr lang="en-US" altLang="zh-CN">
                <a:latin typeface="Arial" charset="0"/>
                <a:ea typeface="楷体_GB2312" charset="0"/>
                <a:cs typeface="楷体_GB2312" charset="0"/>
              </a:rPr>
              <a:t>Sample Monte Carlo simulations results for project costs</a:t>
            </a:r>
          </a:p>
        </p:txBody>
      </p:sp>
      <p:pic>
        <p:nvPicPr>
          <p:cNvPr id="8806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447800"/>
            <a:ext cx="7772400" cy="4881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en-US" altLang="zh-CN">
                <a:latin typeface="Arial" charset="0"/>
                <a:ea typeface="楷体_GB2312" charset="0"/>
                <a:cs typeface="楷体_GB2312" charset="0"/>
              </a:rPr>
              <a:t>2. </a:t>
            </a:r>
            <a:r>
              <a:rPr lang="zh-CN" altLang="en-US">
                <a:latin typeface="Arial" charset="0"/>
                <a:ea typeface="楷体_GB2312" charset="0"/>
                <a:cs typeface="楷体_GB2312" charset="0"/>
              </a:rPr>
              <a:t>风险决策</a:t>
            </a:r>
          </a:p>
        </p:txBody>
      </p:sp>
      <p:sp>
        <p:nvSpPr>
          <p:cNvPr id="89091" name="Rectangle 3"/>
          <p:cNvSpPr>
            <a:spLocks noGrp="1" noChangeArrowheads="1"/>
          </p:cNvSpPr>
          <p:nvPr>
            <p:ph type="body" idx="1"/>
          </p:nvPr>
        </p:nvSpPr>
        <p:spPr/>
        <p:txBody>
          <a:bodyPr/>
          <a:lstStyle/>
          <a:p>
            <a:pPr eaLnBrk="1" hangingPunct="1">
              <a:spcBef>
                <a:spcPct val="50000"/>
              </a:spcBef>
              <a:spcAft>
                <a:spcPct val="30000"/>
              </a:spcAft>
            </a:pPr>
            <a:r>
              <a:rPr lang="zh-CN" altLang="en-US">
                <a:latin typeface="Arial" charset="0"/>
                <a:ea typeface="宋体" charset="0"/>
              </a:rPr>
              <a:t>为什么要有风险决策？</a:t>
            </a:r>
          </a:p>
          <a:p>
            <a:pPr lvl="1" eaLnBrk="1" hangingPunct="1">
              <a:spcBef>
                <a:spcPct val="50000"/>
              </a:spcBef>
              <a:spcAft>
                <a:spcPct val="30000"/>
              </a:spcAft>
            </a:pPr>
            <a:r>
              <a:rPr lang="zh-CN" altLang="en-US">
                <a:latin typeface="Arial" charset="0"/>
                <a:ea typeface="宋体" charset="0"/>
              </a:rPr>
              <a:t>概率分析可以给出方案经济效果指标的期望值和标准差以及经济效果指标的实际值发生在某一区间的概率，这为在风险条件下进行方案取舍提供了依据</a:t>
            </a:r>
          </a:p>
          <a:p>
            <a:pPr lvl="1" eaLnBrk="1" hangingPunct="1">
              <a:spcBef>
                <a:spcPct val="50000"/>
              </a:spcBef>
              <a:spcAft>
                <a:spcPct val="30000"/>
              </a:spcAft>
            </a:pPr>
            <a:r>
              <a:rPr lang="zh-CN" altLang="en-US">
                <a:latin typeface="Arial" charset="0"/>
                <a:ea typeface="宋体" charset="0"/>
              </a:rPr>
              <a:t>但是并没有给出在风险条件下进行方案取舍的原则和多方案比选的方法</a:t>
            </a: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0" y="92075"/>
            <a:ext cx="8178800" cy="492125"/>
          </a:xfrm>
        </p:spPr>
        <p:txBody>
          <a:bodyPr/>
          <a:lstStyle/>
          <a:p>
            <a:pPr eaLnBrk="1" hangingPunct="1"/>
            <a:r>
              <a:rPr lang="zh-CN" altLang="en-US">
                <a:latin typeface="Arial" charset="0"/>
                <a:ea typeface="楷体_GB2312" charset="0"/>
                <a:cs typeface="楷体_GB2312" charset="0"/>
              </a:rPr>
              <a:t>选择哪个项目</a:t>
            </a:r>
            <a:r>
              <a:rPr lang="en-US" altLang="zh-CN">
                <a:latin typeface="Arial" charset="0"/>
                <a:ea typeface="楷体_GB2312" charset="0"/>
                <a:cs typeface="楷体_GB2312" charset="0"/>
              </a:rPr>
              <a:t>?</a:t>
            </a:r>
            <a:endParaRPr lang="en-US" altLang="zh-CN" sz="3200">
              <a:latin typeface="Arial" charset="0"/>
              <a:ea typeface="楷体_GB2312" charset="0"/>
              <a:cs typeface="楷体_GB2312" charset="0"/>
            </a:endParaRPr>
          </a:p>
        </p:txBody>
      </p:sp>
      <p:grpSp>
        <p:nvGrpSpPr>
          <p:cNvPr id="91139" name="Group 3"/>
          <p:cNvGrpSpPr>
            <a:grpSpLocks/>
          </p:cNvGrpSpPr>
          <p:nvPr/>
        </p:nvGrpSpPr>
        <p:grpSpPr bwMode="auto">
          <a:xfrm>
            <a:off x="574675" y="1663700"/>
            <a:ext cx="8077200" cy="4648200"/>
            <a:chOff x="480" y="910"/>
            <a:chExt cx="5088" cy="2928"/>
          </a:xfrm>
        </p:grpSpPr>
        <p:sp>
          <p:nvSpPr>
            <p:cNvPr id="91140" name="Text Box 4"/>
            <p:cNvSpPr txBox="1">
              <a:spLocks noChangeArrowheads="1"/>
            </p:cNvSpPr>
            <p:nvPr/>
          </p:nvSpPr>
          <p:spPr bwMode="auto">
            <a:xfrm>
              <a:off x="3840" y="1438"/>
              <a:ext cx="1728" cy="7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lang="en-US" altLang="zh-CN" sz="2400">
                  <a:latin typeface="Times New Roman" charset="0"/>
                </a:rPr>
                <a:t>… </a:t>
              </a:r>
              <a:r>
                <a:rPr lang="zh-CN" altLang="en-US" sz="2400">
                  <a:latin typeface="Times New Roman" charset="0"/>
                </a:rPr>
                <a:t>决策者对风险的态度：愿意承担风险的程度</a:t>
              </a:r>
            </a:p>
          </p:txBody>
        </p:sp>
        <p:sp>
          <p:nvSpPr>
            <p:cNvPr id="91141" name="Text Box 5"/>
            <p:cNvSpPr txBox="1">
              <a:spLocks noChangeArrowheads="1"/>
            </p:cNvSpPr>
            <p:nvPr/>
          </p:nvSpPr>
          <p:spPr bwMode="auto">
            <a:xfrm>
              <a:off x="3670" y="910"/>
              <a:ext cx="1348" cy="5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zh-CN" altLang="en-US" sz="2400">
                  <a:latin typeface="Times New Roman" charset="0"/>
                </a:rPr>
                <a:t>选择项目</a:t>
              </a:r>
              <a:r>
                <a:rPr lang="en-US" altLang="zh-CN" sz="2400">
                  <a:latin typeface="Times New Roman" charset="0"/>
                </a:rPr>
                <a:t>A</a:t>
              </a:r>
              <a:r>
                <a:rPr lang="zh-CN" altLang="en-US" sz="2400">
                  <a:latin typeface="Times New Roman" charset="0"/>
                </a:rPr>
                <a:t>或</a:t>
              </a:r>
              <a:r>
                <a:rPr lang="en-US" altLang="zh-CN" sz="2400">
                  <a:latin typeface="Times New Roman" charset="0"/>
                </a:rPr>
                <a:t>B</a:t>
              </a:r>
            </a:p>
            <a:p>
              <a:pPr eaLnBrk="1" hangingPunct="1"/>
              <a:r>
                <a:rPr lang="zh-CN" altLang="en-US" sz="2400">
                  <a:latin typeface="Times New Roman" charset="0"/>
                </a:rPr>
                <a:t>取决于 </a:t>
              </a:r>
              <a:r>
                <a:rPr lang="en-US" altLang="zh-CN" sz="2400">
                  <a:latin typeface="Times New Roman" charset="0"/>
                </a:rPr>
                <a:t>…</a:t>
              </a:r>
            </a:p>
          </p:txBody>
        </p:sp>
        <p:sp>
          <p:nvSpPr>
            <p:cNvPr id="91142" name="Line 6"/>
            <p:cNvSpPr>
              <a:spLocks noChangeShapeType="1"/>
            </p:cNvSpPr>
            <p:nvPr/>
          </p:nvSpPr>
          <p:spPr bwMode="auto">
            <a:xfrm flipV="1">
              <a:off x="1920" y="910"/>
              <a:ext cx="0" cy="2832"/>
            </a:xfrm>
            <a:prstGeom prst="line">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91143" name="Line 7"/>
            <p:cNvSpPr>
              <a:spLocks noChangeShapeType="1"/>
            </p:cNvSpPr>
            <p:nvPr/>
          </p:nvSpPr>
          <p:spPr bwMode="auto">
            <a:xfrm>
              <a:off x="480" y="3454"/>
              <a:ext cx="4848" cy="0"/>
            </a:xfrm>
            <a:prstGeom prst="line">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zh-CN" altLang="en-US"/>
            </a:p>
          </p:txBody>
        </p:sp>
        <p:sp>
          <p:nvSpPr>
            <p:cNvPr id="91144" name="Freeform 8"/>
            <p:cNvSpPr>
              <a:spLocks/>
            </p:cNvSpPr>
            <p:nvPr/>
          </p:nvSpPr>
          <p:spPr bwMode="auto">
            <a:xfrm>
              <a:off x="816" y="2014"/>
              <a:ext cx="4128" cy="1344"/>
            </a:xfrm>
            <a:custGeom>
              <a:avLst/>
              <a:gdLst>
                <a:gd name="T0" fmla="*/ 0 w 4128"/>
                <a:gd name="T1" fmla="*/ 1344 h 1344"/>
                <a:gd name="T2" fmla="*/ 1104 w 4128"/>
                <a:gd name="T3" fmla="*/ 864 h 1344"/>
                <a:gd name="T4" fmla="*/ 1584 w 4128"/>
                <a:gd name="T5" fmla="*/ 240 h 1344"/>
                <a:gd name="T6" fmla="*/ 2064 w 4128"/>
                <a:gd name="T7" fmla="*/ 0 h 1344"/>
                <a:gd name="T8" fmla="*/ 2592 w 4128"/>
                <a:gd name="T9" fmla="*/ 240 h 1344"/>
                <a:gd name="T10" fmla="*/ 3120 w 4128"/>
                <a:gd name="T11" fmla="*/ 864 h 1344"/>
                <a:gd name="T12" fmla="*/ 4128 w 4128"/>
                <a:gd name="T13" fmla="*/ 1344 h 1344"/>
                <a:gd name="T14" fmla="*/ 0 60000 65536"/>
                <a:gd name="T15" fmla="*/ 0 60000 65536"/>
                <a:gd name="T16" fmla="*/ 0 60000 65536"/>
                <a:gd name="T17" fmla="*/ 0 60000 65536"/>
                <a:gd name="T18" fmla="*/ 0 60000 65536"/>
                <a:gd name="T19" fmla="*/ 0 60000 65536"/>
                <a:gd name="T20" fmla="*/ 0 60000 65536"/>
                <a:gd name="T21" fmla="*/ 0 w 4128"/>
                <a:gd name="T22" fmla="*/ 0 h 1344"/>
                <a:gd name="T23" fmla="*/ 4128 w 4128"/>
                <a:gd name="T24" fmla="*/ 1344 h 13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28" h="1344">
                  <a:moveTo>
                    <a:pt x="0" y="1344"/>
                  </a:moveTo>
                  <a:cubicBezTo>
                    <a:pt x="420" y="1196"/>
                    <a:pt x="840" y="1048"/>
                    <a:pt x="1104" y="864"/>
                  </a:cubicBezTo>
                  <a:cubicBezTo>
                    <a:pt x="1368" y="680"/>
                    <a:pt x="1424" y="384"/>
                    <a:pt x="1584" y="240"/>
                  </a:cubicBezTo>
                  <a:cubicBezTo>
                    <a:pt x="1744" y="96"/>
                    <a:pt x="1896" y="0"/>
                    <a:pt x="2064" y="0"/>
                  </a:cubicBezTo>
                  <a:cubicBezTo>
                    <a:pt x="2232" y="0"/>
                    <a:pt x="2416" y="96"/>
                    <a:pt x="2592" y="240"/>
                  </a:cubicBezTo>
                  <a:cubicBezTo>
                    <a:pt x="2768" y="384"/>
                    <a:pt x="2864" y="680"/>
                    <a:pt x="3120" y="864"/>
                  </a:cubicBezTo>
                  <a:cubicBezTo>
                    <a:pt x="3376" y="1048"/>
                    <a:pt x="3752" y="1196"/>
                    <a:pt x="4128" y="1344"/>
                  </a:cubicBezTo>
                </a:path>
              </a:pathLst>
            </a:custGeom>
            <a:noFill/>
            <a:ln w="254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lstStyle/>
            <a:p>
              <a:endParaRPr lang="zh-CN" altLang="en-US"/>
            </a:p>
          </p:txBody>
        </p:sp>
        <p:sp>
          <p:nvSpPr>
            <p:cNvPr id="91145" name="Freeform 9"/>
            <p:cNvSpPr>
              <a:spLocks/>
            </p:cNvSpPr>
            <p:nvPr/>
          </p:nvSpPr>
          <p:spPr bwMode="auto">
            <a:xfrm>
              <a:off x="1344" y="1390"/>
              <a:ext cx="2160" cy="2016"/>
            </a:xfrm>
            <a:custGeom>
              <a:avLst/>
              <a:gdLst>
                <a:gd name="T0" fmla="*/ 0 w 4128"/>
                <a:gd name="T1" fmla="*/ 34446 h 1344"/>
                <a:gd name="T2" fmla="*/ 6 w 4128"/>
                <a:gd name="T3" fmla="*/ 22145 h 1344"/>
                <a:gd name="T4" fmla="*/ 9 w 4128"/>
                <a:gd name="T5" fmla="*/ 6155 h 1344"/>
                <a:gd name="T6" fmla="*/ 12 w 4128"/>
                <a:gd name="T7" fmla="*/ 0 h 1344"/>
                <a:gd name="T8" fmla="*/ 15 w 4128"/>
                <a:gd name="T9" fmla="*/ 6155 h 1344"/>
                <a:gd name="T10" fmla="*/ 17 w 4128"/>
                <a:gd name="T11" fmla="*/ 22145 h 1344"/>
                <a:gd name="T12" fmla="*/ 23 w 4128"/>
                <a:gd name="T13" fmla="*/ 34446 h 1344"/>
                <a:gd name="T14" fmla="*/ 0 60000 65536"/>
                <a:gd name="T15" fmla="*/ 0 60000 65536"/>
                <a:gd name="T16" fmla="*/ 0 60000 65536"/>
                <a:gd name="T17" fmla="*/ 0 60000 65536"/>
                <a:gd name="T18" fmla="*/ 0 60000 65536"/>
                <a:gd name="T19" fmla="*/ 0 60000 65536"/>
                <a:gd name="T20" fmla="*/ 0 60000 65536"/>
                <a:gd name="T21" fmla="*/ 0 w 4128"/>
                <a:gd name="T22" fmla="*/ 0 h 1344"/>
                <a:gd name="T23" fmla="*/ 4128 w 4128"/>
                <a:gd name="T24" fmla="*/ 1344 h 13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28" h="1344">
                  <a:moveTo>
                    <a:pt x="0" y="1344"/>
                  </a:moveTo>
                  <a:cubicBezTo>
                    <a:pt x="420" y="1196"/>
                    <a:pt x="840" y="1048"/>
                    <a:pt x="1104" y="864"/>
                  </a:cubicBezTo>
                  <a:cubicBezTo>
                    <a:pt x="1368" y="680"/>
                    <a:pt x="1424" y="384"/>
                    <a:pt x="1584" y="240"/>
                  </a:cubicBezTo>
                  <a:cubicBezTo>
                    <a:pt x="1744" y="96"/>
                    <a:pt x="1896" y="0"/>
                    <a:pt x="2064" y="0"/>
                  </a:cubicBezTo>
                  <a:cubicBezTo>
                    <a:pt x="2232" y="0"/>
                    <a:pt x="2416" y="96"/>
                    <a:pt x="2592" y="240"/>
                  </a:cubicBezTo>
                  <a:cubicBezTo>
                    <a:pt x="2768" y="384"/>
                    <a:pt x="2864" y="680"/>
                    <a:pt x="3120" y="864"/>
                  </a:cubicBezTo>
                  <a:cubicBezTo>
                    <a:pt x="3376" y="1048"/>
                    <a:pt x="3752" y="1196"/>
                    <a:pt x="4128" y="1344"/>
                  </a:cubicBezTo>
                </a:path>
              </a:pathLst>
            </a:custGeom>
            <a:noFill/>
            <a:ln w="381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lstStyle/>
            <a:p>
              <a:endParaRPr lang="zh-CN" altLang="en-US"/>
            </a:p>
          </p:txBody>
        </p:sp>
        <p:sp>
          <p:nvSpPr>
            <p:cNvPr id="91146" name="Text Box 10"/>
            <p:cNvSpPr txBox="1">
              <a:spLocks noChangeArrowheads="1"/>
            </p:cNvSpPr>
            <p:nvPr/>
          </p:nvSpPr>
          <p:spPr bwMode="auto">
            <a:xfrm>
              <a:off x="4416" y="3550"/>
              <a:ext cx="1025"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en-US" altLang="zh-CN" sz="2400">
                  <a:latin typeface="Times New Roman" charset="0"/>
                </a:rPr>
                <a:t>NPV(</a:t>
              </a:r>
              <a:r>
                <a:rPr lang="zh-CN" altLang="en-US" sz="2400">
                  <a:latin typeface="Times New Roman" charset="0"/>
                </a:rPr>
                <a:t>百万</a:t>
              </a:r>
              <a:r>
                <a:rPr lang="en-US" altLang="zh-CN" sz="2400">
                  <a:latin typeface="Times New Roman" charset="0"/>
                </a:rPr>
                <a:t>)</a:t>
              </a:r>
            </a:p>
          </p:txBody>
        </p:sp>
        <p:sp>
          <p:nvSpPr>
            <p:cNvPr id="91147" name="Text Box 11"/>
            <p:cNvSpPr txBox="1">
              <a:spLocks noChangeArrowheads="1"/>
            </p:cNvSpPr>
            <p:nvPr/>
          </p:nvSpPr>
          <p:spPr bwMode="auto">
            <a:xfrm>
              <a:off x="960" y="910"/>
              <a:ext cx="870"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zh-CN" altLang="en-US" sz="2400">
                  <a:latin typeface="Times New Roman" charset="0"/>
                </a:rPr>
                <a:t>概率 </a:t>
              </a:r>
              <a:r>
                <a:rPr lang="en-US" altLang="zh-CN" sz="2400">
                  <a:latin typeface="Times New Roman" charset="0"/>
                </a:rPr>
                <a:t>(%)</a:t>
              </a:r>
            </a:p>
          </p:txBody>
        </p:sp>
        <p:sp>
          <p:nvSpPr>
            <p:cNvPr id="91148" name="Text Box 12"/>
            <p:cNvSpPr txBox="1">
              <a:spLocks noChangeArrowheads="1"/>
            </p:cNvSpPr>
            <p:nvPr/>
          </p:nvSpPr>
          <p:spPr bwMode="auto">
            <a:xfrm>
              <a:off x="4128" y="2782"/>
              <a:ext cx="630"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zh-CN" altLang="en-US" sz="2400">
                  <a:latin typeface="Times New Roman" charset="0"/>
                </a:rPr>
                <a:t>项目</a:t>
              </a:r>
              <a:r>
                <a:rPr lang="en-US" altLang="zh-CN" sz="2400">
                  <a:latin typeface="Times New Roman" charset="0"/>
                </a:rPr>
                <a:t>B</a:t>
              </a:r>
            </a:p>
          </p:txBody>
        </p:sp>
        <p:sp>
          <p:nvSpPr>
            <p:cNvPr id="91149" name="Text Box 13"/>
            <p:cNvSpPr txBox="1">
              <a:spLocks noChangeArrowheads="1"/>
            </p:cNvSpPr>
            <p:nvPr/>
          </p:nvSpPr>
          <p:spPr bwMode="auto">
            <a:xfrm>
              <a:off x="2640" y="1438"/>
              <a:ext cx="830"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zh-CN" altLang="en-US" sz="2400">
                  <a:latin typeface="Times New Roman" charset="0"/>
                </a:rPr>
                <a:t>项目</a:t>
              </a:r>
              <a:r>
                <a:rPr lang="en-US" altLang="zh-CN" sz="2400">
                  <a:latin typeface="Times New Roman" charset="0"/>
                </a:rPr>
                <a:t>A</a:t>
              </a:r>
            </a:p>
          </p:txBody>
        </p:sp>
        <p:sp>
          <p:nvSpPr>
            <p:cNvPr id="91150" name="Line 14"/>
            <p:cNvSpPr>
              <a:spLocks noChangeShapeType="1"/>
            </p:cNvSpPr>
            <p:nvPr/>
          </p:nvSpPr>
          <p:spPr bwMode="auto">
            <a:xfrm>
              <a:off x="2880" y="2014"/>
              <a:ext cx="0" cy="1488"/>
            </a:xfrm>
            <a:prstGeom prst="line">
              <a:avLst/>
            </a:prstGeom>
            <a:noFill/>
            <a:ln w="9525">
              <a:solidFill>
                <a:srgbClr val="000000"/>
              </a:solidFill>
              <a:prstDash val="sysDot"/>
              <a:round/>
              <a:headEnd/>
              <a:tailEnd/>
            </a:ln>
            <a:extLst>
              <a:ext uri="{909E8E84-426E-40dd-AFC4-6F175D3DCCD1}">
                <a14:hiddenFill xmlns:a14="http://schemas.microsoft.com/office/drawing/2010/main" xmlns="">
                  <a:noFill/>
                </a14:hiddenFill>
              </a:ext>
            </a:extLst>
          </p:spPr>
          <p:txBody>
            <a:bodyPr wrap="none"/>
            <a:lstStyle/>
            <a:p>
              <a:endParaRPr lang="zh-CN" altLang="en-US"/>
            </a:p>
          </p:txBody>
        </p:sp>
        <p:sp>
          <p:nvSpPr>
            <p:cNvPr id="91151" name="Line 15"/>
            <p:cNvSpPr>
              <a:spLocks noChangeShapeType="1"/>
            </p:cNvSpPr>
            <p:nvPr/>
          </p:nvSpPr>
          <p:spPr bwMode="auto">
            <a:xfrm flipH="1">
              <a:off x="1872" y="2014"/>
              <a:ext cx="1056" cy="0"/>
            </a:xfrm>
            <a:prstGeom prst="line">
              <a:avLst/>
            </a:prstGeom>
            <a:noFill/>
            <a:ln w="9525">
              <a:solidFill>
                <a:srgbClr val="000000"/>
              </a:solidFill>
              <a:prstDash val="sysDot"/>
              <a:round/>
              <a:headEnd/>
              <a:tailEnd/>
            </a:ln>
            <a:extLst>
              <a:ext uri="{909E8E84-426E-40dd-AFC4-6F175D3DCCD1}">
                <a14:hiddenFill xmlns:a14="http://schemas.microsoft.com/office/drawing/2010/main" xmlns="">
                  <a:noFill/>
                </a14:hiddenFill>
              </a:ext>
            </a:extLst>
          </p:spPr>
          <p:txBody>
            <a:bodyPr wrap="none"/>
            <a:lstStyle/>
            <a:p>
              <a:endParaRPr lang="zh-CN" altLang="en-US"/>
            </a:p>
          </p:txBody>
        </p:sp>
        <p:sp>
          <p:nvSpPr>
            <p:cNvPr id="91152" name="Text Box 16"/>
            <p:cNvSpPr txBox="1">
              <a:spLocks noChangeArrowheads="1"/>
            </p:cNvSpPr>
            <p:nvPr/>
          </p:nvSpPr>
          <p:spPr bwMode="auto">
            <a:xfrm>
              <a:off x="1440" y="1870"/>
              <a:ext cx="500"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en-US" altLang="zh-CN" sz="2400">
                  <a:latin typeface="Times New Roman" charset="0"/>
                </a:rPr>
                <a:t>50%</a:t>
              </a:r>
            </a:p>
          </p:txBody>
        </p:sp>
        <p:sp>
          <p:nvSpPr>
            <p:cNvPr id="91153" name="Text Box 17"/>
            <p:cNvSpPr txBox="1">
              <a:spLocks noChangeArrowheads="1"/>
            </p:cNvSpPr>
            <p:nvPr/>
          </p:nvSpPr>
          <p:spPr bwMode="auto">
            <a:xfrm>
              <a:off x="1920" y="3454"/>
              <a:ext cx="212"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en-US" altLang="zh-CN" sz="2400">
                  <a:latin typeface="Times New Roman" charset="0"/>
                </a:rPr>
                <a:t>0</a:t>
              </a:r>
            </a:p>
          </p:txBody>
        </p:sp>
        <p:sp>
          <p:nvSpPr>
            <p:cNvPr id="91154" name="Text Box 18"/>
            <p:cNvSpPr txBox="1">
              <a:spLocks noChangeArrowheads="1"/>
            </p:cNvSpPr>
            <p:nvPr/>
          </p:nvSpPr>
          <p:spPr bwMode="auto">
            <a:xfrm>
              <a:off x="2688" y="3454"/>
              <a:ext cx="30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en-US" altLang="zh-CN" sz="2400">
                  <a:latin typeface="Times New Roman" charset="0"/>
                </a:rPr>
                <a:t>20</a:t>
              </a:r>
            </a:p>
          </p:txBody>
        </p:sp>
        <p:sp>
          <p:nvSpPr>
            <p:cNvPr id="91155" name="Line 19"/>
            <p:cNvSpPr>
              <a:spLocks noChangeShapeType="1"/>
            </p:cNvSpPr>
            <p:nvPr/>
          </p:nvSpPr>
          <p:spPr bwMode="auto">
            <a:xfrm flipH="1">
              <a:off x="1872" y="1390"/>
              <a:ext cx="528" cy="0"/>
            </a:xfrm>
            <a:prstGeom prst="line">
              <a:avLst/>
            </a:prstGeom>
            <a:noFill/>
            <a:ln w="9525">
              <a:solidFill>
                <a:srgbClr val="000000"/>
              </a:solidFill>
              <a:prstDash val="sysDot"/>
              <a:round/>
              <a:headEnd/>
              <a:tailEnd/>
            </a:ln>
            <a:extLst>
              <a:ext uri="{909E8E84-426E-40dd-AFC4-6F175D3DCCD1}">
                <a14:hiddenFill xmlns:a14="http://schemas.microsoft.com/office/drawing/2010/main" xmlns="">
                  <a:noFill/>
                </a14:hiddenFill>
              </a:ext>
            </a:extLst>
          </p:spPr>
          <p:txBody>
            <a:bodyPr wrap="none"/>
            <a:lstStyle/>
            <a:p>
              <a:endParaRPr lang="zh-CN" altLang="en-US"/>
            </a:p>
          </p:txBody>
        </p:sp>
        <p:sp>
          <p:nvSpPr>
            <p:cNvPr id="91156" name="Text Box 20"/>
            <p:cNvSpPr txBox="1">
              <a:spLocks noChangeArrowheads="1"/>
            </p:cNvSpPr>
            <p:nvPr/>
          </p:nvSpPr>
          <p:spPr bwMode="auto">
            <a:xfrm>
              <a:off x="1440" y="1246"/>
              <a:ext cx="500"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en-US" altLang="zh-CN" sz="2400">
                  <a:latin typeface="Times New Roman" charset="0"/>
                </a:rPr>
                <a:t>70%</a:t>
              </a:r>
            </a:p>
          </p:txBody>
        </p:sp>
        <p:sp>
          <p:nvSpPr>
            <p:cNvPr id="91157" name="Line 21"/>
            <p:cNvSpPr>
              <a:spLocks noChangeShapeType="1"/>
            </p:cNvSpPr>
            <p:nvPr/>
          </p:nvSpPr>
          <p:spPr bwMode="auto">
            <a:xfrm>
              <a:off x="2400" y="1390"/>
              <a:ext cx="0" cy="2112"/>
            </a:xfrm>
            <a:prstGeom prst="line">
              <a:avLst/>
            </a:prstGeom>
            <a:noFill/>
            <a:ln w="9525">
              <a:solidFill>
                <a:srgbClr val="000000"/>
              </a:solidFill>
              <a:prstDash val="sysDot"/>
              <a:round/>
              <a:headEnd/>
              <a:tailEnd/>
            </a:ln>
            <a:extLst>
              <a:ext uri="{909E8E84-426E-40dd-AFC4-6F175D3DCCD1}">
                <a14:hiddenFill xmlns:a14="http://schemas.microsoft.com/office/drawing/2010/main" xmlns="">
                  <a:noFill/>
                </a14:hiddenFill>
              </a:ext>
            </a:extLst>
          </p:spPr>
          <p:txBody>
            <a:bodyPr wrap="none"/>
            <a:lstStyle/>
            <a:p>
              <a:endParaRPr lang="zh-CN" altLang="en-US"/>
            </a:p>
          </p:txBody>
        </p:sp>
        <p:sp>
          <p:nvSpPr>
            <p:cNvPr id="91158" name="Text Box 22"/>
            <p:cNvSpPr txBox="1">
              <a:spLocks noChangeArrowheads="1"/>
            </p:cNvSpPr>
            <p:nvPr/>
          </p:nvSpPr>
          <p:spPr bwMode="auto">
            <a:xfrm>
              <a:off x="2208" y="3454"/>
              <a:ext cx="30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r>
                <a:rPr lang="en-US" altLang="zh-CN" sz="2400">
                  <a:latin typeface="Times New Roman" charset="0"/>
                </a:rPr>
                <a:t>10</a:t>
              </a:r>
            </a:p>
          </p:txBody>
        </p:sp>
      </p:gr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zh-CN" altLang="en-US">
                <a:latin typeface="Arial" charset="0"/>
                <a:ea typeface="楷体_GB2312" charset="0"/>
                <a:cs typeface="楷体_GB2312" charset="0"/>
              </a:rPr>
              <a:t>风险决策的准则</a:t>
            </a:r>
          </a:p>
        </p:txBody>
      </p:sp>
      <p:sp>
        <p:nvSpPr>
          <p:cNvPr id="93187" name="Rectangle 3"/>
          <p:cNvSpPr>
            <a:spLocks noGrp="1" noChangeArrowheads="1"/>
          </p:cNvSpPr>
          <p:nvPr>
            <p:ph type="body" idx="1"/>
          </p:nvPr>
        </p:nvSpPr>
        <p:spPr/>
        <p:txBody>
          <a:bodyPr/>
          <a:lstStyle/>
          <a:p>
            <a:pPr eaLnBrk="1" hangingPunct="1"/>
            <a:r>
              <a:rPr lang="zh-CN" altLang="en-US">
                <a:latin typeface="Arial" charset="0"/>
                <a:ea typeface="宋体" charset="0"/>
              </a:rPr>
              <a:t>人是决策的主体，在风险条件下决策行为取决于决策者的风险态度。典型的风险态度有三种表现形式：风险厌恶、风险中性和风险偏爱。</a:t>
            </a:r>
            <a:br>
              <a:rPr lang="zh-CN" altLang="en-US">
                <a:latin typeface="Arial" charset="0"/>
                <a:ea typeface="宋体" charset="0"/>
              </a:rPr>
            </a:br>
            <a:r>
              <a:rPr lang="zh-CN" altLang="en-US">
                <a:latin typeface="Arial" charset="0"/>
                <a:ea typeface="宋体" charset="0"/>
              </a:rPr>
              <a:t/>
            </a:r>
            <a:br>
              <a:rPr lang="zh-CN" altLang="en-US">
                <a:latin typeface="Arial" charset="0"/>
                <a:ea typeface="宋体" charset="0"/>
              </a:rPr>
            </a:br>
            <a:r>
              <a:rPr lang="en-US" altLang="zh-CN">
                <a:latin typeface="Arial" charset="0"/>
                <a:ea typeface="宋体" charset="0"/>
              </a:rPr>
              <a:t>1. </a:t>
            </a:r>
            <a:r>
              <a:rPr lang="zh-CN" altLang="en-US">
                <a:latin typeface="Arial" charset="0"/>
                <a:ea typeface="宋体" charset="0"/>
              </a:rPr>
              <a:t>等概率法  </a:t>
            </a:r>
            <a:r>
              <a:rPr lang="en-US" altLang="zh-CN">
                <a:latin typeface="Arial" charset="0"/>
                <a:ea typeface="宋体" charset="0"/>
              </a:rPr>
              <a:t>(</a:t>
            </a:r>
            <a:r>
              <a:rPr lang="zh-CN" altLang="en-US">
                <a:latin typeface="Arial" charset="0"/>
                <a:ea typeface="宋体" charset="0"/>
              </a:rPr>
              <a:t>各方案可能性相同</a:t>
            </a:r>
            <a:r>
              <a:rPr lang="en-US" altLang="zh-CN">
                <a:latin typeface="Arial" charset="0"/>
                <a:ea typeface="宋体" charset="0"/>
              </a:rPr>
              <a:t>)</a:t>
            </a:r>
            <a:br>
              <a:rPr lang="en-US" altLang="zh-CN">
                <a:latin typeface="Arial" charset="0"/>
                <a:ea typeface="宋体" charset="0"/>
              </a:rPr>
            </a:br>
            <a:r>
              <a:rPr lang="en-US" altLang="zh-CN">
                <a:latin typeface="Arial" charset="0"/>
                <a:ea typeface="宋体" charset="0"/>
              </a:rPr>
              <a:t>2. </a:t>
            </a:r>
            <a:r>
              <a:rPr lang="zh-CN" altLang="en-US">
                <a:latin typeface="Arial" charset="0"/>
                <a:ea typeface="宋体" charset="0"/>
              </a:rPr>
              <a:t>小中取大法（悲观准则）</a:t>
            </a:r>
          </a:p>
          <a:p>
            <a:pPr eaLnBrk="1" hangingPunct="1"/>
            <a:r>
              <a:rPr lang="en-US" altLang="zh-CN">
                <a:latin typeface="Arial" charset="0"/>
                <a:ea typeface="宋体" charset="0"/>
              </a:rPr>
              <a:t>3.</a:t>
            </a:r>
            <a:r>
              <a:rPr lang="zh-CN" altLang="en-US">
                <a:latin typeface="Arial" charset="0"/>
                <a:ea typeface="宋体" charset="0"/>
              </a:rPr>
              <a:t>大中取大法（乐观准则）</a:t>
            </a:r>
          </a:p>
          <a:p>
            <a:pPr eaLnBrk="1" hangingPunct="1"/>
            <a:r>
              <a:rPr lang="en-US" altLang="zh-CN">
                <a:latin typeface="Arial" charset="0"/>
                <a:ea typeface="宋体" charset="0"/>
              </a:rPr>
              <a:t>4.</a:t>
            </a:r>
            <a:r>
              <a:rPr lang="zh-CN" altLang="en-US">
                <a:latin typeface="Arial" charset="0"/>
                <a:ea typeface="宋体" charset="0"/>
              </a:rPr>
              <a:t>乐观系数法  （介于乐观与悲观准则之间）</a:t>
            </a:r>
          </a:p>
          <a:p>
            <a:pPr eaLnBrk="1" hangingPunct="1"/>
            <a:r>
              <a:rPr lang="en-US" altLang="zh-CN">
                <a:latin typeface="Arial" charset="0"/>
                <a:ea typeface="宋体" charset="0"/>
              </a:rPr>
              <a:t>5.</a:t>
            </a:r>
            <a:r>
              <a:rPr lang="zh-CN" altLang="en-US">
                <a:latin typeface="Arial" charset="0"/>
                <a:ea typeface="宋体" charset="0"/>
              </a:rPr>
              <a:t>大中取小法（最小遗憾原则）</a:t>
            </a: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4"/>
          <p:cNvSpPr>
            <a:spLocks noGrp="1" noRot="1" noChangeArrowheads="1"/>
          </p:cNvSpPr>
          <p:nvPr>
            <p:ph type="title"/>
          </p:nvPr>
        </p:nvSpPr>
        <p:spPr>
          <a:xfrm>
            <a:off x="179388" y="-254000"/>
            <a:ext cx="8540750" cy="11430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zh-CN" altLang="en-US" sz="3200">
                <a:latin typeface="Arial" charset="0"/>
                <a:ea typeface="楷体_GB2312" charset="0"/>
                <a:cs typeface="楷体_GB2312" charset="0"/>
              </a:rPr>
              <a:t>某产品生产的收益（单位：万元）</a:t>
            </a:r>
          </a:p>
        </p:txBody>
      </p:sp>
      <p:sp>
        <p:nvSpPr>
          <p:cNvPr id="95235" name="Rectangle 5"/>
          <p:cNvSpPr>
            <a:spLocks noChangeArrowheads="1"/>
          </p:cNvSpPr>
          <p:nvPr/>
        </p:nvSpPr>
        <p:spPr bwMode="auto">
          <a:xfrm>
            <a:off x="-122238" y="2695575"/>
            <a:ext cx="184151"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wrap="none" anchor="ctr">
            <a:spAutoFit/>
          </a:bodyPr>
          <a:lstStyle/>
          <a:p>
            <a:endParaRPr lang="zh-CN" altLang="en-US" sz="2400" b="0">
              <a:solidFill>
                <a:schemeClr val="tx1"/>
              </a:solidFill>
              <a:latin typeface="Times New Roman" charset="0"/>
              <a:ea typeface="宋体" charset="0"/>
              <a:cs typeface="宋体" charset="0"/>
            </a:endParaRPr>
          </a:p>
        </p:txBody>
      </p:sp>
      <p:sp>
        <p:nvSpPr>
          <p:cNvPr id="95236" name="Rectangle 30"/>
          <p:cNvSpPr>
            <a:spLocks noChangeArrowheads="1"/>
          </p:cNvSpPr>
          <p:nvPr/>
        </p:nvSpPr>
        <p:spPr bwMode="auto">
          <a:xfrm>
            <a:off x="0" y="2733675"/>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sp>
        <p:nvSpPr>
          <p:cNvPr id="95237" name="Rectangle 199"/>
          <p:cNvSpPr>
            <a:spLocks noChangeArrowheads="1"/>
          </p:cNvSpPr>
          <p:nvPr/>
        </p:nvSpPr>
        <p:spPr bwMode="auto">
          <a:xfrm>
            <a:off x="0" y="4122738"/>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sp>
        <p:nvSpPr>
          <p:cNvPr id="95238" name="Rectangle 708"/>
          <p:cNvSpPr>
            <a:spLocks noChangeArrowheads="1"/>
          </p:cNvSpPr>
          <p:nvPr/>
        </p:nvSpPr>
        <p:spPr bwMode="auto">
          <a:xfrm>
            <a:off x="0" y="2733675"/>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graphicFrame>
        <p:nvGraphicFramePr>
          <p:cNvPr id="959340" name="Group 876"/>
          <p:cNvGraphicFramePr>
            <a:graphicFrameLocks noGrp="1"/>
          </p:cNvGraphicFramePr>
          <p:nvPr/>
        </p:nvGraphicFramePr>
        <p:xfrm>
          <a:off x="300038" y="1257300"/>
          <a:ext cx="8420100" cy="4233864"/>
        </p:xfrm>
        <a:graphic>
          <a:graphicData uri="http://schemas.openxmlformats.org/drawingml/2006/table">
            <a:tbl>
              <a:tblPr/>
              <a:tblGrid>
                <a:gridCol w="931862">
                  <a:extLst>
                    <a:ext uri="{9D8B030D-6E8A-4147-A177-3AD203B41FA5}">
                      <a16:colId xmlns:a16="http://schemas.microsoft.com/office/drawing/2014/main" val="20000"/>
                    </a:ext>
                  </a:extLst>
                </a:gridCol>
                <a:gridCol w="1030288">
                  <a:extLst>
                    <a:ext uri="{9D8B030D-6E8A-4147-A177-3AD203B41FA5}">
                      <a16:colId xmlns:a16="http://schemas.microsoft.com/office/drawing/2014/main" val="20001"/>
                    </a:ext>
                  </a:extLst>
                </a:gridCol>
                <a:gridCol w="1498600">
                  <a:extLst>
                    <a:ext uri="{9D8B030D-6E8A-4147-A177-3AD203B41FA5}">
                      <a16:colId xmlns:a16="http://schemas.microsoft.com/office/drawing/2014/main" val="20002"/>
                    </a:ext>
                  </a:extLst>
                </a:gridCol>
                <a:gridCol w="1758950">
                  <a:extLst>
                    <a:ext uri="{9D8B030D-6E8A-4147-A177-3AD203B41FA5}">
                      <a16:colId xmlns:a16="http://schemas.microsoft.com/office/drawing/2014/main" val="20003"/>
                    </a:ext>
                  </a:extLst>
                </a:gridCol>
                <a:gridCol w="1604962">
                  <a:extLst>
                    <a:ext uri="{9D8B030D-6E8A-4147-A177-3AD203B41FA5}">
                      <a16:colId xmlns:a16="http://schemas.microsoft.com/office/drawing/2014/main" val="20004"/>
                    </a:ext>
                  </a:extLst>
                </a:gridCol>
                <a:gridCol w="1595438">
                  <a:extLst>
                    <a:ext uri="{9D8B030D-6E8A-4147-A177-3AD203B41FA5}">
                      <a16:colId xmlns:a16="http://schemas.microsoft.com/office/drawing/2014/main" val="20005"/>
                    </a:ext>
                  </a:extLst>
                </a:gridCol>
              </a:tblGrid>
              <a:tr h="855663">
                <a:tc rowSpan="2" gridSpan="2">
                  <a:txBody>
                    <a:bodyPr/>
                    <a:lstStyle/>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rgbClr val="0000FF"/>
                        </a:solidFill>
                        <a:effectLst/>
                        <a:latin typeface="Calibri" charset="0"/>
                        <a:ea typeface="宋体" charset="0"/>
                        <a:cs typeface="Times New Roman"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3200" b="1" i="0" u="none" strike="noStrike" cap="none" normalizeH="0" baseline="0">
                          <a:ln>
                            <a:noFill/>
                          </a:ln>
                          <a:solidFill>
                            <a:srgbClr val="0000FF"/>
                          </a:solidFill>
                          <a:effectLst/>
                          <a:latin typeface="Calibri" charset="0"/>
                          <a:ea typeface="宋体" charset="0"/>
                          <a:cs typeface="Times New Roman" charset="0"/>
                        </a:rPr>
                        <a:t>收益</a:t>
                      </a:r>
                      <a:endParaRPr kumimoji="0" lang="zh-CN" altLang="en-US"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xBody>
                    <a:bodyPr/>
                    <a:lstStyle/>
                    <a:p>
                      <a:endParaRPr lang="zh-CN" altLang="en-US"/>
                    </a:p>
                  </a:txBody>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3200" b="1" i="0" u="none" strike="noStrike" cap="none" normalizeH="0" baseline="0">
                          <a:ln>
                            <a:noFill/>
                          </a:ln>
                          <a:solidFill>
                            <a:srgbClr val="0000FF"/>
                          </a:solidFill>
                          <a:effectLst/>
                          <a:latin typeface="Calibri" charset="0"/>
                          <a:ea typeface="宋体" charset="0"/>
                          <a:cs typeface="Times New Roman" charset="0"/>
                        </a:rPr>
                        <a:t>销           量</a:t>
                      </a:r>
                      <a:endParaRPr kumimoji="0" lang="zh-CN" altLang="en-US"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838200">
                <a:tc gridSpan="2" vMerge="1">
                  <a:txBody>
                    <a:bodyPr/>
                    <a:lstStyle/>
                    <a:p>
                      <a:endParaRPr lang="zh-CN" altLang="en-US"/>
                    </a:p>
                  </a:txBody>
                  <a:tcPr/>
                </a:tc>
                <a:tc hMerge="1"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3200" b="1" i="0" u="none" strike="noStrike" cap="none" normalizeH="0" baseline="0">
                          <a:ln>
                            <a:noFill/>
                          </a:ln>
                          <a:solidFill>
                            <a:srgbClr val="0000FF"/>
                          </a:solidFill>
                          <a:effectLst/>
                          <a:latin typeface="Calibri" charset="0"/>
                          <a:ea typeface="宋体" charset="0"/>
                          <a:cs typeface="Times New Roman" charset="0"/>
                        </a:rPr>
                        <a:t>大</a:t>
                      </a:r>
                      <a:endParaRPr kumimoji="0" lang="zh-CN" altLang="en-US"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3200" b="1" i="0" u="none" strike="noStrike" cap="none" normalizeH="0" baseline="0">
                          <a:ln>
                            <a:noFill/>
                          </a:ln>
                          <a:solidFill>
                            <a:srgbClr val="0000FF"/>
                          </a:solidFill>
                          <a:effectLst/>
                          <a:latin typeface="Calibri" charset="0"/>
                          <a:ea typeface="宋体" charset="0"/>
                          <a:cs typeface="Times New Roman" charset="0"/>
                        </a:rPr>
                        <a:t>一般</a:t>
                      </a:r>
                      <a:endParaRPr kumimoji="0" lang="zh-CN" altLang="en-US"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3200" b="1" i="0" u="none" strike="noStrike" cap="none" normalizeH="0" baseline="0">
                          <a:ln>
                            <a:noFill/>
                          </a:ln>
                          <a:solidFill>
                            <a:srgbClr val="0000FF"/>
                          </a:solidFill>
                          <a:effectLst/>
                          <a:latin typeface="Calibri" charset="0"/>
                          <a:ea typeface="宋体" charset="0"/>
                          <a:cs typeface="Times New Roman" charset="0"/>
                        </a:rPr>
                        <a:t>较低</a:t>
                      </a:r>
                      <a:endParaRPr kumimoji="0" lang="zh-CN" altLang="en-US"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3200" b="1" i="0" u="none" strike="noStrike" cap="none" normalizeH="0" baseline="0">
                          <a:ln>
                            <a:noFill/>
                          </a:ln>
                          <a:solidFill>
                            <a:srgbClr val="0000FF"/>
                          </a:solidFill>
                          <a:effectLst/>
                          <a:latin typeface="Calibri" charset="0"/>
                          <a:ea typeface="宋体" charset="0"/>
                          <a:cs typeface="Times New Roman" charset="0"/>
                        </a:rPr>
                        <a:t>很低</a:t>
                      </a:r>
                      <a:endParaRPr kumimoji="0" lang="zh-CN" altLang="en-US"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46138">
                <a:tc row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rgbClr val="0000FF"/>
                        </a:solidFill>
                        <a:effectLst/>
                        <a:latin typeface="Calibri" charset="0"/>
                        <a:ea typeface="宋体" charset="0"/>
                        <a:cs typeface="Times New Roman"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3200" b="1" i="0" u="none" strike="noStrike" cap="none" normalizeH="0" baseline="0">
                          <a:ln>
                            <a:noFill/>
                          </a:ln>
                          <a:solidFill>
                            <a:srgbClr val="0000FF"/>
                          </a:solidFill>
                          <a:effectLst/>
                          <a:latin typeface="Calibri" charset="0"/>
                          <a:ea typeface="宋体" charset="0"/>
                          <a:cs typeface="Times New Roman" charset="0"/>
                        </a:rPr>
                        <a:t>方案</a:t>
                      </a:r>
                      <a:endParaRPr kumimoji="0" lang="zh-CN" altLang="en-US"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1</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600</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400</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0</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-150</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2325">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2</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800</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350</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-100</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-300</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71538">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3</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400</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250</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90</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3200" b="1" i="0" u="none" strike="noStrike" cap="none" normalizeH="0" baseline="0">
                          <a:ln>
                            <a:noFill/>
                          </a:ln>
                          <a:solidFill>
                            <a:srgbClr val="0000FF"/>
                          </a:solidFill>
                          <a:effectLst/>
                          <a:latin typeface="Calibri" charset="0"/>
                          <a:ea typeface="宋体" charset="0"/>
                          <a:cs typeface="Times New Roman" charset="0"/>
                        </a:rPr>
                        <a:t>50</a:t>
                      </a:r>
                      <a:endParaRPr kumimoji="0" lang="en-US" altLang="zh-CN" sz="32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5275" name="Rectangle 877"/>
          <p:cNvSpPr>
            <a:spLocks noChangeArrowheads="1"/>
          </p:cNvSpPr>
          <p:nvPr/>
        </p:nvSpPr>
        <p:spPr bwMode="auto">
          <a:xfrm>
            <a:off x="0" y="4122738"/>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indent="266700"/>
            <a:endParaRPr lang="zh-CN" altLang="en-US" sz="2400" b="0">
              <a:solidFill>
                <a:schemeClr val="tx1"/>
              </a:solidFill>
              <a:latin typeface="Times" charset="0"/>
              <a:ea typeface="宋体" charset="0"/>
              <a:cs typeface="宋体" charset="0"/>
            </a:endParaRPr>
          </a:p>
        </p:txBody>
      </p:sp>
      <p:sp>
        <p:nvSpPr>
          <p:cNvPr id="95276" name="Text Box 879"/>
          <p:cNvSpPr txBox="1">
            <a:spLocks noChangeArrowheads="1"/>
          </p:cNvSpPr>
          <p:nvPr/>
        </p:nvSpPr>
        <p:spPr bwMode="auto">
          <a:xfrm>
            <a:off x="3760788" y="5794375"/>
            <a:ext cx="2732087"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marL="342900" indent="-342900" eaLnBrk="1" hangingPunct="1">
              <a:lnSpc>
                <a:spcPct val="90000"/>
              </a:lnSpc>
              <a:spcBef>
                <a:spcPct val="50000"/>
              </a:spcBef>
            </a:pPr>
            <a:r>
              <a:rPr lang="zh-CN" altLang="en-US" sz="4000">
                <a:solidFill>
                  <a:srgbClr val="800000"/>
                </a:solidFill>
                <a:ea typeface="楷体_GB2312" charset="0"/>
                <a:cs typeface="楷体_GB2312" charset="0"/>
              </a:rPr>
              <a:t>如何决策？</a:t>
            </a:r>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4"/>
          <p:cNvSpPr>
            <a:spLocks noChangeArrowheads="1"/>
          </p:cNvSpPr>
          <p:nvPr/>
        </p:nvSpPr>
        <p:spPr bwMode="auto">
          <a:xfrm>
            <a:off x="0" y="2733675"/>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graphicFrame>
        <p:nvGraphicFramePr>
          <p:cNvPr id="961738" name="Group 202"/>
          <p:cNvGraphicFramePr>
            <a:graphicFrameLocks noGrp="1"/>
          </p:cNvGraphicFramePr>
          <p:nvPr/>
        </p:nvGraphicFramePr>
        <p:xfrm>
          <a:off x="87313" y="1282700"/>
          <a:ext cx="8904287" cy="3221039"/>
        </p:xfrm>
        <a:graphic>
          <a:graphicData uri="http://schemas.openxmlformats.org/drawingml/2006/table">
            <a:tbl>
              <a:tblPr/>
              <a:tblGrid>
                <a:gridCol w="993775">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355725">
                  <a:extLst>
                    <a:ext uri="{9D8B030D-6E8A-4147-A177-3AD203B41FA5}">
                      <a16:colId xmlns:a16="http://schemas.microsoft.com/office/drawing/2014/main" val="20002"/>
                    </a:ext>
                  </a:extLst>
                </a:gridCol>
                <a:gridCol w="1174750">
                  <a:extLst>
                    <a:ext uri="{9D8B030D-6E8A-4147-A177-3AD203B41FA5}">
                      <a16:colId xmlns:a16="http://schemas.microsoft.com/office/drawing/2014/main" val="20003"/>
                    </a:ext>
                  </a:extLst>
                </a:gridCol>
                <a:gridCol w="1354137">
                  <a:extLst>
                    <a:ext uri="{9D8B030D-6E8A-4147-A177-3AD203B41FA5}">
                      <a16:colId xmlns:a16="http://schemas.microsoft.com/office/drawing/2014/main" val="20004"/>
                    </a:ext>
                  </a:extLst>
                </a:gridCol>
                <a:gridCol w="1425575">
                  <a:extLst>
                    <a:ext uri="{9D8B030D-6E8A-4147-A177-3AD203B41FA5}">
                      <a16:colId xmlns:a16="http://schemas.microsoft.com/office/drawing/2014/main" val="20005"/>
                    </a:ext>
                  </a:extLst>
                </a:gridCol>
                <a:gridCol w="1533525">
                  <a:extLst>
                    <a:ext uri="{9D8B030D-6E8A-4147-A177-3AD203B41FA5}">
                      <a16:colId xmlns:a16="http://schemas.microsoft.com/office/drawing/2014/main" val="20006"/>
                    </a:ext>
                  </a:extLst>
                </a:gridCol>
              </a:tblGrid>
              <a:tr h="627063">
                <a:tc rowSpan="2" gridSpan="2">
                  <a:txBody>
                    <a:bodyPr/>
                    <a:lstStyle/>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rgbClr val="0000FF"/>
                        </a:solidFill>
                        <a:effectLst/>
                        <a:latin typeface="Calibri" charset="0"/>
                        <a:ea typeface="宋体" charset="0"/>
                        <a:cs typeface="Times New Roman"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收益</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xBody>
                    <a:bodyPr/>
                    <a:lstStyle/>
                    <a:p>
                      <a:endParaRPr lang="zh-CN" altLang="en-US"/>
                    </a:p>
                  </a:txBody>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销           量</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收益</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2938">
                <a:tc gridSpan="2" vMerge="1">
                  <a:txBody>
                    <a:bodyPr/>
                    <a:lstStyle/>
                    <a:p>
                      <a:endParaRPr lang="zh-CN" altLang="en-US"/>
                    </a:p>
                  </a:txBody>
                  <a:tcPr/>
                </a:tc>
                <a:tc hMerge="1"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大</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一般</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较低</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很低</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650875">
                <a:tc row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方案</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600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400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800000"/>
                          </a:solidFill>
                          <a:effectLst/>
                          <a:latin typeface="Calibri" charset="0"/>
                          <a:ea typeface="宋体" charset="0"/>
                          <a:cs typeface="Times New Roman" charset="0"/>
                        </a:rPr>
                        <a:t>212.5</a:t>
                      </a:r>
                      <a:endParaRPr kumimoji="0" lang="en-US" altLang="zh-CN" sz="2800" b="1" i="0" u="none" strike="noStrike" cap="none" normalizeH="0" baseline="0">
                        <a:ln>
                          <a:noFill/>
                        </a:ln>
                        <a:solidFill>
                          <a:srgbClr val="800000"/>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1825">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2</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800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350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-300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187.5</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68338">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3</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400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250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90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210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6300" name="Rectangle 200"/>
          <p:cNvSpPr>
            <a:spLocks noChangeArrowheads="1"/>
          </p:cNvSpPr>
          <p:nvPr/>
        </p:nvSpPr>
        <p:spPr bwMode="auto">
          <a:xfrm>
            <a:off x="0" y="4122738"/>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sp>
        <p:nvSpPr>
          <p:cNvPr id="96301" name="Rectangle 201"/>
          <p:cNvSpPr>
            <a:spLocks noChangeArrowheads="1"/>
          </p:cNvSpPr>
          <p:nvPr/>
        </p:nvSpPr>
        <p:spPr bwMode="auto">
          <a:xfrm>
            <a:off x="87313" y="88900"/>
            <a:ext cx="7767637" cy="968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marL="342900" indent="-342900" eaLnBrk="1" hangingPunct="1">
              <a:lnSpc>
                <a:spcPct val="90000"/>
              </a:lnSpc>
              <a:spcBef>
                <a:spcPct val="50000"/>
              </a:spcBef>
            </a:pPr>
            <a:r>
              <a:rPr lang="en-US" altLang="zh-CN" sz="3200">
                <a:solidFill>
                  <a:srgbClr val="990000"/>
                </a:solidFill>
              </a:rPr>
              <a:t>1. </a:t>
            </a:r>
            <a:r>
              <a:rPr lang="zh-CN" altLang="en-US" sz="3200">
                <a:solidFill>
                  <a:srgbClr val="990000"/>
                </a:solidFill>
              </a:rPr>
              <a:t>等概率法</a:t>
            </a:r>
            <a:r>
              <a:rPr lang="en-US" altLang="zh-CN" sz="3200">
                <a:solidFill>
                  <a:srgbClr val="990000"/>
                </a:solidFill>
              </a:rPr>
              <a:t>(</a:t>
            </a:r>
            <a:r>
              <a:rPr lang="zh-CN" altLang="en-US" sz="3200">
                <a:solidFill>
                  <a:srgbClr val="990000"/>
                </a:solidFill>
              </a:rPr>
              <a:t> </a:t>
            </a:r>
            <a:r>
              <a:rPr lang="en-US" altLang="zh-CN" sz="3200">
                <a:solidFill>
                  <a:srgbClr val="990000"/>
                </a:solidFill>
              </a:rPr>
              <a:t>Laplace Decision Criterion)</a:t>
            </a:r>
            <a:br>
              <a:rPr lang="en-US" altLang="zh-CN" sz="3200">
                <a:solidFill>
                  <a:srgbClr val="990000"/>
                </a:solidFill>
              </a:rPr>
            </a:br>
            <a:endParaRPr lang="zh-CN" altLang="en-US" sz="3200">
              <a:solidFill>
                <a:srgbClr val="990000"/>
              </a:solidFill>
            </a:endParaRPr>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4"/>
          <p:cNvSpPr>
            <a:spLocks noChangeArrowheads="1"/>
          </p:cNvSpPr>
          <p:nvPr/>
        </p:nvSpPr>
        <p:spPr bwMode="auto">
          <a:xfrm>
            <a:off x="0" y="2733675"/>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graphicFrame>
        <p:nvGraphicFramePr>
          <p:cNvPr id="962759" name="Group 199"/>
          <p:cNvGraphicFramePr>
            <a:graphicFrameLocks noGrp="1"/>
          </p:cNvGraphicFramePr>
          <p:nvPr/>
        </p:nvGraphicFramePr>
        <p:xfrm>
          <a:off x="292100" y="1231900"/>
          <a:ext cx="8661400" cy="3003551"/>
        </p:xfrm>
        <a:graphic>
          <a:graphicData uri="http://schemas.openxmlformats.org/drawingml/2006/table">
            <a:tbl>
              <a:tblPr/>
              <a:tblGrid>
                <a:gridCol w="966788">
                  <a:extLst>
                    <a:ext uri="{9D8B030D-6E8A-4147-A177-3AD203B41FA5}">
                      <a16:colId xmlns:a16="http://schemas.microsoft.com/office/drawing/2014/main" val="20000"/>
                    </a:ext>
                  </a:extLst>
                </a:gridCol>
                <a:gridCol w="1038225">
                  <a:extLst>
                    <a:ext uri="{9D8B030D-6E8A-4147-A177-3AD203B41FA5}">
                      <a16:colId xmlns:a16="http://schemas.microsoft.com/office/drawing/2014/main" val="20001"/>
                    </a:ext>
                  </a:extLst>
                </a:gridCol>
                <a:gridCol w="1319212">
                  <a:extLst>
                    <a:ext uri="{9D8B030D-6E8A-4147-A177-3AD203B41FA5}">
                      <a16:colId xmlns:a16="http://schemas.microsoft.com/office/drawing/2014/main" val="20002"/>
                    </a:ext>
                  </a:extLst>
                </a:gridCol>
                <a:gridCol w="1141413">
                  <a:extLst>
                    <a:ext uri="{9D8B030D-6E8A-4147-A177-3AD203B41FA5}">
                      <a16:colId xmlns:a16="http://schemas.microsoft.com/office/drawing/2014/main" val="20003"/>
                    </a:ext>
                  </a:extLst>
                </a:gridCol>
                <a:gridCol w="1316037">
                  <a:extLst>
                    <a:ext uri="{9D8B030D-6E8A-4147-A177-3AD203B41FA5}">
                      <a16:colId xmlns:a16="http://schemas.microsoft.com/office/drawing/2014/main" val="20004"/>
                    </a:ext>
                  </a:extLst>
                </a:gridCol>
                <a:gridCol w="1387475">
                  <a:extLst>
                    <a:ext uri="{9D8B030D-6E8A-4147-A177-3AD203B41FA5}">
                      <a16:colId xmlns:a16="http://schemas.microsoft.com/office/drawing/2014/main" val="20005"/>
                    </a:ext>
                  </a:extLst>
                </a:gridCol>
                <a:gridCol w="1492250">
                  <a:extLst>
                    <a:ext uri="{9D8B030D-6E8A-4147-A177-3AD203B41FA5}">
                      <a16:colId xmlns:a16="http://schemas.microsoft.com/office/drawing/2014/main" val="20006"/>
                    </a:ext>
                  </a:extLst>
                </a:gridCol>
              </a:tblGrid>
              <a:tr h="608013">
                <a:tc rowSpan="2" gridSpan="2">
                  <a:txBody>
                    <a:bodyPr/>
                    <a:lstStyle/>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rgbClr val="0000FF"/>
                        </a:solidFill>
                        <a:effectLst/>
                        <a:latin typeface="Calibri" charset="0"/>
                        <a:ea typeface="宋体" charset="0"/>
                        <a:cs typeface="Times New Roman"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收益</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xBody>
                    <a:bodyPr/>
                    <a:lstStyle/>
                    <a:p>
                      <a:endParaRPr lang="zh-CN" altLang="en-US"/>
                    </a:p>
                  </a:txBody>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销           量</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最小</a:t>
                      </a:r>
                      <a:endParaRPr kumimoji="0" lang="zh-CN" altLang="en-US" sz="2800" b="1" i="0" u="none" strike="noStrike" cap="none" normalizeH="0" baseline="0">
                        <a:ln>
                          <a:noFill/>
                        </a:ln>
                        <a:solidFill>
                          <a:srgbClr val="0000FF"/>
                        </a:solidFill>
                        <a:effectLst/>
                        <a:latin typeface="Times New Roman" charset="0"/>
                        <a:ea typeface="宋体" charset="0"/>
                        <a:cs typeface="Times New Roman"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收益</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3725">
                <a:tc gridSpan="2" vMerge="1">
                  <a:txBody>
                    <a:bodyPr/>
                    <a:lstStyle/>
                    <a:p>
                      <a:endParaRPr lang="zh-CN" altLang="en-US"/>
                    </a:p>
                  </a:txBody>
                  <a:tcPr/>
                </a:tc>
                <a:tc hMerge="1"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大</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一般</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较低</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很低</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600075">
                <a:tc row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方案</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600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400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4200">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2</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800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350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-300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-300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17538">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3</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400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250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90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800000"/>
                          </a:solidFill>
                          <a:effectLst/>
                          <a:latin typeface="Calibri" charset="0"/>
                          <a:ea typeface="宋体" charset="0"/>
                          <a:cs typeface="Times New Roman" charset="0"/>
                        </a:rPr>
                        <a:t>50</a:t>
                      </a:r>
                      <a:endParaRPr kumimoji="0" lang="en-US" altLang="zh-CN" sz="2800" b="1" i="0" u="none" strike="noStrike" cap="none" normalizeH="0" baseline="0">
                        <a:ln>
                          <a:noFill/>
                        </a:ln>
                        <a:solidFill>
                          <a:srgbClr val="800000"/>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7324" name="Rectangle 200"/>
          <p:cNvSpPr>
            <a:spLocks noChangeArrowheads="1"/>
          </p:cNvSpPr>
          <p:nvPr/>
        </p:nvSpPr>
        <p:spPr bwMode="auto">
          <a:xfrm>
            <a:off x="0" y="4122738"/>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sp>
        <p:nvSpPr>
          <p:cNvPr id="97325" name="Rectangle 201"/>
          <p:cNvSpPr>
            <a:spLocks noChangeArrowheads="1"/>
          </p:cNvSpPr>
          <p:nvPr/>
        </p:nvSpPr>
        <p:spPr bwMode="auto">
          <a:xfrm>
            <a:off x="0" y="88900"/>
            <a:ext cx="5010150"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marL="342900" indent="-342900" eaLnBrk="1" hangingPunct="1">
              <a:lnSpc>
                <a:spcPct val="90000"/>
              </a:lnSpc>
              <a:spcBef>
                <a:spcPct val="50000"/>
              </a:spcBef>
            </a:pPr>
            <a:r>
              <a:rPr lang="en-US" altLang="zh-CN" sz="3200">
                <a:solidFill>
                  <a:srgbClr val="990000"/>
                </a:solidFill>
              </a:rPr>
              <a:t>2.</a:t>
            </a:r>
            <a:r>
              <a:rPr lang="zh-CN" altLang="en-US" sz="3200">
                <a:solidFill>
                  <a:srgbClr val="990000"/>
                </a:solidFill>
              </a:rPr>
              <a:t>小中取大法（悲观准则）</a:t>
            </a:r>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4"/>
          <p:cNvSpPr>
            <a:spLocks noChangeArrowheads="1"/>
          </p:cNvSpPr>
          <p:nvPr/>
        </p:nvSpPr>
        <p:spPr bwMode="auto">
          <a:xfrm>
            <a:off x="0" y="2733675"/>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graphicFrame>
        <p:nvGraphicFramePr>
          <p:cNvPr id="963783" name="Group 199"/>
          <p:cNvGraphicFramePr>
            <a:graphicFrameLocks noGrp="1"/>
          </p:cNvGraphicFramePr>
          <p:nvPr/>
        </p:nvGraphicFramePr>
        <p:xfrm>
          <a:off x="292100" y="1625600"/>
          <a:ext cx="8610600" cy="2933701"/>
        </p:xfrm>
        <a:graphic>
          <a:graphicData uri="http://schemas.openxmlformats.org/drawingml/2006/table">
            <a:tbl>
              <a:tblPr/>
              <a:tblGrid>
                <a:gridCol w="962025">
                  <a:extLst>
                    <a:ext uri="{9D8B030D-6E8A-4147-A177-3AD203B41FA5}">
                      <a16:colId xmlns:a16="http://schemas.microsoft.com/office/drawing/2014/main" val="20000"/>
                    </a:ext>
                  </a:extLst>
                </a:gridCol>
                <a:gridCol w="1030288">
                  <a:extLst>
                    <a:ext uri="{9D8B030D-6E8A-4147-A177-3AD203B41FA5}">
                      <a16:colId xmlns:a16="http://schemas.microsoft.com/office/drawing/2014/main" val="20001"/>
                    </a:ext>
                  </a:extLst>
                </a:gridCol>
                <a:gridCol w="1311275">
                  <a:extLst>
                    <a:ext uri="{9D8B030D-6E8A-4147-A177-3AD203B41FA5}">
                      <a16:colId xmlns:a16="http://schemas.microsoft.com/office/drawing/2014/main" val="20002"/>
                    </a:ext>
                  </a:extLst>
                </a:gridCol>
                <a:gridCol w="1135062">
                  <a:extLst>
                    <a:ext uri="{9D8B030D-6E8A-4147-A177-3AD203B41FA5}">
                      <a16:colId xmlns:a16="http://schemas.microsoft.com/office/drawing/2014/main" val="20003"/>
                    </a:ext>
                  </a:extLst>
                </a:gridCol>
                <a:gridCol w="1309688">
                  <a:extLst>
                    <a:ext uri="{9D8B030D-6E8A-4147-A177-3AD203B41FA5}">
                      <a16:colId xmlns:a16="http://schemas.microsoft.com/office/drawing/2014/main" val="20004"/>
                    </a:ext>
                  </a:extLst>
                </a:gridCol>
                <a:gridCol w="1379537">
                  <a:extLst>
                    <a:ext uri="{9D8B030D-6E8A-4147-A177-3AD203B41FA5}">
                      <a16:colId xmlns:a16="http://schemas.microsoft.com/office/drawing/2014/main" val="20005"/>
                    </a:ext>
                  </a:extLst>
                </a:gridCol>
                <a:gridCol w="1482725">
                  <a:extLst>
                    <a:ext uri="{9D8B030D-6E8A-4147-A177-3AD203B41FA5}">
                      <a16:colId xmlns:a16="http://schemas.microsoft.com/office/drawing/2014/main" val="20006"/>
                    </a:ext>
                  </a:extLst>
                </a:gridCol>
              </a:tblGrid>
              <a:tr h="593725">
                <a:tc rowSpan="2" gridSpan="2">
                  <a:txBody>
                    <a:body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收益</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xBody>
                    <a:bodyPr/>
                    <a:lstStyle/>
                    <a:p>
                      <a:endParaRPr lang="zh-CN" altLang="en-US"/>
                    </a:p>
                  </a:txBody>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销           量</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最大</a:t>
                      </a:r>
                      <a:endParaRPr kumimoji="0" lang="zh-CN" altLang="en-US" sz="2800" b="1" i="0" u="none" strike="noStrike" cap="none" normalizeH="0" baseline="0">
                        <a:ln>
                          <a:noFill/>
                        </a:ln>
                        <a:solidFill>
                          <a:srgbClr val="0000FF"/>
                        </a:solidFill>
                        <a:effectLst/>
                        <a:latin typeface="Times New Roman" charset="0"/>
                        <a:ea typeface="宋体" charset="0"/>
                        <a:cs typeface="Times New Roman"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收益</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gridSpan="2" vMerge="1">
                  <a:txBody>
                    <a:bodyPr/>
                    <a:lstStyle/>
                    <a:p>
                      <a:endParaRPr lang="zh-CN" altLang="en-US"/>
                    </a:p>
                  </a:txBody>
                  <a:tcPr/>
                </a:tc>
                <a:tc hMerge="1"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大</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一般</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较低</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很低</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587375">
                <a:tc row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方案</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600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400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600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9913">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2</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800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350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-300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800000"/>
                          </a:solidFill>
                          <a:effectLst/>
                          <a:latin typeface="Calibri" charset="0"/>
                          <a:ea typeface="宋体" charset="0"/>
                          <a:cs typeface="Times New Roman" charset="0"/>
                        </a:rPr>
                        <a:t>800</a:t>
                      </a:r>
                      <a:endParaRPr kumimoji="0" lang="en-US" altLang="zh-CN" sz="2800" b="1" i="0" u="none" strike="noStrike" cap="none" normalizeH="0" baseline="0">
                        <a:ln>
                          <a:noFill/>
                        </a:ln>
                        <a:solidFill>
                          <a:srgbClr val="800000"/>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3250">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3</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400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250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90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400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8348" name="Rectangle 200"/>
          <p:cNvSpPr>
            <a:spLocks noChangeArrowheads="1"/>
          </p:cNvSpPr>
          <p:nvPr/>
        </p:nvSpPr>
        <p:spPr bwMode="auto">
          <a:xfrm>
            <a:off x="0" y="4122738"/>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sp>
        <p:nvSpPr>
          <p:cNvPr id="98349" name="Rectangle 201"/>
          <p:cNvSpPr>
            <a:spLocks noChangeArrowheads="1"/>
          </p:cNvSpPr>
          <p:nvPr/>
        </p:nvSpPr>
        <p:spPr bwMode="auto">
          <a:xfrm>
            <a:off x="0" y="88900"/>
            <a:ext cx="5010150"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marL="342900" indent="-342900" eaLnBrk="1" hangingPunct="1">
              <a:lnSpc>
                <a:spcPct val="90000"/>
              </a:lnSpc>
              <a:spcBef>
                <a:spcPct val="50000"/>
              </a:spcBef>
            </a:pPr>
            <a:r>
              <a:rPr lang="en-US" altLang="zh-CN" sz="3200">
                <a:solidFill>
                  <a:srgbClr val="990000"/>
                </a:solidFill>
              </a:rPr>
              <a:t>3.</a:t>
            </a:r>
            <a:r>
              <a:rPr lang="zh-CN" altLang="en-US" sz="3200">
                <a:solidFill>
                  <a:srgbClr val="990000"/>
                </a:solidFill>
              </a:rPr>
              <a:t>大中取大法（乐观准则）</a:t>
            </a: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4"/>
          <p:cNvSpPr>
            <a:spLocks noChangeArrowheads="1"/>
          </p:cNvSpPr>
          <p:nvPr/>
        </p:nvSpPr>
        <p:spPr bwMode="auto">
          <a:xfrm>
            <a:off x="0" y="2733675"/>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graphicFrame>
        <p:nvGraphicFramePr>
          <p:cNvPr id="964811" name="Group 203"/>
          <p:cNvGraphicFramePr>
            <a:graphicFrameLocks noGrp="1"/>
          </p:cNvGraphicFramePr>
          <p:nvPr/>
        </p:nvGraphicFramePr>
        <p:xfrm>
          <a:off x="87313" y="1317625"/>
          <a:ext cx="8828087" cy="3073400"/>
        </p:xfrm>
        <a:graphic>
          <a:graphicData uri="http://schemas.openxmlformats.org/drawingml/2006/table">
            <a:tbl>
              <a:tblPr/>
              <a:tblGrid>
                <a:gridCol w="985837">
                  <a:extLst>
                    <a:ext uri="{9D8B030D-6E8A-4147-A177-3AD203B41FA5}">
                      <a16:colId xmlns:a16="http://schemas.microsoft.com/office/drawing/2014/main" val="20000"/>
                    </a:ext>
                  </a:extLst>
                </a:gridCol>
                <a:gridCol w="1057275">
                  <a:extLst>
                    <a:ext uri="{9D8B030D-6E8A-4147-A177-3AD203B41FA5}">
                      <a16:colId xmlns:a16="http://schemas.microsoft.com/office/drawing/2014/main" val="20001"/>
                    </a:ext>
                  </a:extLst>
                </a:gridCol>
                <a:gridCol w="1344613">
                  <a:extLst>
                    <a:ext uri="{9D8B030D-6E8A-4147-A177-3AD203B41FA5}">
                      <a16:colId xmlns:a16="http://schemas.microsoft.com/office/drawing/2014/main" val="20002"/>
                    </a:ext>
                  </a:extLst>
                </a:gridCol>
                <a:gridCol w="1163637">
                  <a:extLst>
                    <a:ext uri="{9D8B030D-6E8A-4147-A177-3AD203B41FA5}">
                      <a16:colId xmlns:a16="http://schemas.microsoft.com/office/drawing/2014/main" val="20003"/>
                    </a:ext>
                  </a:extLst>
                </a:gridCol>
                <a:gridCol w="1343025">
                  <a:extLst>
                    <a:ext uri="{9D8B030D-6E8A-4147-A177-3AD203B41FA5}">
                      <a16:colId xmlns:a16="http://schemas.microsoft.com/office/drawing/2014/main" val="20004"/>
                    </a:ext>
                  </a:extLst>
                </a:gridCol>
                <a:gridCol w="1412875">
                  <a:extLst>
                    <a:ext uri="{9D8B030D-6E8A-4147-A177-3AD203B41FA5}">
                      <a16:colId xmlns:a16="http://schemas.microsoft.com/office/drawing/2014/main" val="20005"/>
                    </a:ext>
                  </a:extLst>
                </a:gridCol>
                <a:gridCol w="1520825">
                  <a:extLst>
                    <a:ext uri="{9D8B030D-6E8A-4147-A177-3AD203B41FA5}">
                      <a16:colId xmlns:a16="http://schemas.microsoft.com/office/drawing/2014/main" val="20006"/>
                    </a:ext>
                  </a:extLst>
                </a:gridCol>
              </a:tblGrid>
              <a:tr h="622300">
                <a:tc rowSpan="2" gridSpan="2">
                  <a:txBody>
                    <a:bodyPr/>
                    <a:lstStyle/>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a:ln>
                          <a:noFill/>
                        </a:ln>
                        <a:solidFill>
                          <a:srgbClr val="0000FF"/>
                        </a:solidFill>
                        <a:effectLst/>
                        <a:latin typeface="Calibri" charset="0"/>
                        <a:ea typeface="宋体" charset="0"/>
                        <a:cs typeface="Times New Roman"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FF"/>
                          </a:solidFill>
                          <a:effectLst/>
                          <a:latin typeface="Calibri" charset="0"/>
                          <a:ea typeface="宋体" charset="0"/>
                          <a:cs typeface="Times New Roman" charset="0"/>
                        </a:rPr>
                        <a:t>收益</a:t>
                      </a:r>
                      <a:endParaRPr kumimoji="0" lang="zh-CN" altLang="en-US"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xBody>
                    <a:bodyPr/>
                    <a:lstStyle/>
                    <a:p>
                      <a:endParaRPr lang="zh-CN" altLang="en-US"/>
                    </a:p>
                  </a:txBody>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FF"/>
                          </a:solidFill>
                          <a:effectLst/>
                          <a:latin typeface="Calibri" charset="0"/>
                          <a:ea typeface="宋体" charset="0"/>
                          <a:cs typeface="Times New Roman" charset="0"/>
                        </a:rPr>
                        <a:t>销           量</a:t>
                      </a:r>
                      <a:endParaRPr kumimoji="0" lang="zh-CN" altLang="en-US"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FF"/>
                          </a:solidFill>
                          <a:effectLst/>
                          <a:latin typeface="Calibri" charset="0"/>
                          <a:ea typeface="宋体" charset="0"/>
                          <a:cs typeface="Times New Roman" charset="0"/>
                        </a:rPr>
                        <a:t>最大</a:t>
                      </a:r>
                      <a:endParaRPr kumimoji="0" lang="zh-CN" altLang="en-US" sz="2400" b="1" i="0" u="none" strike="noStrike" cap="none" normalizeH="0" baseline="0">
                        <a:ln>
                          <a:noFill/>
                        </a:ln>
                        <a:solidFill>
                          <a:srgbClr val="0000FF"/>
                        </a:solidFill>
                        <a:effectLst/>
                        <a:latin typeface="Times New Roman" charset="0"/>
                        <a:ea typeface="宋体" charset="0"/>
                        <a:cs typeface="Times New Roman"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FF"/>
                          </a:solidFill>
                          <a:effectLst/>
                          <a:latin typeface="Calibri" charset="0"/>
                          <a:ea typeface="宋体" charset="0"/>
                          <a:cs typeface="Times New Roman" charset="0"/>
                        </a:rPr>
                        <a:t>收益</a:t>
                      </a:r>
                      <a:endParaRPr kumimoji="0" lang="zh-CN" altLang="en-US"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6425">
                <a:tc gridSpan="2" vMerge="1">
                  <a:txBody>
                    <a:bodyPr/>
                    <a:lstStyle/>
                    <a:p>
                      <a:endParaRPr lang="zh-CN" altLang="en-US"/>
                    </a:p>
                  </a:txBody>
                  <a:tcPr/>
                </a:tc>
                <a:tc hMerge="1"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FF"/>
                          </a:solidFill>
                          <a:effectLst/>
                          <a:latin typeface="Calibri" charset="0"/>
                          <a:ea typeface="宋体" charset="0"/>
                          <a:cs typeface="Times New Roman" charset="0"/>
                        </a:rPr>
                        <a:t>大</a:t>
                      </a:r>
                      <a:endParaRPr kumimoji="0" lang="zh-CN" altLang="en-US"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FF"/>
                          </a:solidFill>
                          <a:effectLst/>
                          <a:latin typeface="Calibri" charset="0"/>
                          <a:ea typeface="宋体" charset="0"/>
                          <a:cs typeface="Times New Roman" charset="0"/>
                        </a:rPr>
                        <a:t>一般</a:t>
                      </a:r>
                      <a:endParaRPr kumimoji="0" lang="zh-CN" altLang="en-US"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FF"/>
                          </a:solidFill>
                          <a:effectLst/>
                          <a:latin typeface="Calibri" charset="0"/>
                          <a:ea typeface="宋体" charset="0"/>
                          <a:cs typeface="Times New Roman" charset="0"/>
                        </a:rPr>
                        <a:t>较低</a:t>
                      </a:r>
                      <a:endParaRPr kumimoji="0" lang="zh-CN" altLang="en-US"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FF"/>
                          </a:solidFill>
                          <a:effectLst/>
                          <a:latin typeface="Calibri" charset="0"/>
                          <a:ea typeface="宋体" charset="0"/>
                          <a:cs typeface="Times New Roman" charset="0"/>
                        </a:rPr>
                        <a:t>很低</a:t>
                      </a:r>
                      <a:endParaRPr kumimoji="0" lang="zh-CN" altLang="en-US"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615950">
                <a:tc row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FF"/>
                          </a:solidFill>
                          <a:effectLst/>
                          <a:latin typeface="Calibri" charset="0"/>
                          <a:ea typeface="宋体" charset="0"/>
                          <a:cs typeface="Times New Roman" charset="0"/>
                        </a:rPr>
                        <a:t>方案</a:t>
                      </a:r>
                      <a:endParaRPr kumimoji="0" lang="zh-CN" altLang="en-US"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1</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600x0.2</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400</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0</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-150x0.8</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0</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6900">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2</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800x0.2</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350</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-100</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-300x0.8</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-80</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1825">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3</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400x0.2</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250</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90</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FF"/>
                          </a:solidFill>
                          <a:effectLst/>
                          <a:latin typeface="Calibri" charset="0"/>
                          <a:ea typeface="宋体" charset="0"/>
                          <a:cs typeface="Times New Roman" charset="0"/>
                        </a:rPr>
                        <a:t>50x0.8</a:t>
                      </a:r>
                      <a:endParaRPr kumimoji="0" lang="en-US" altLang="zh-CN" sz="24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800000"/>
                          </a:solidFill>
                          <a:effectLst/>
                          <a:latin typeface="Calibri" charset="0"/>
                          <a:ea typeface="宋体" charset="0"/>
                          <a:cs typeface="Times New Roman" charset="0"/>
                        </a:rPr>
                        <a:t>120</a:t>
                      </a:r>
                      <a:endParaRPr kumimoji="0" lang="en-US" altLang="zh-CN" sz="2400" b="1" i="0" u="none" strike="noStrike" cap="none" normalizeH="0" baseline="0">
                        <a:ln>
                          <a:noFill/>
                        </a:ln>
                        <a:solidFill>
                          <a:srgbClr val="800000"/>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9372" name="Rectangle 200"/>
          <p:cNvSpPr>
            <a:spLocks noChangeArrowheads="1"/>
          </p:cNvSpPr>
          <p:nvPr/>
        </p:nvSpPr>
        <p:spPr bwMode="auto">
          <a:xfrm>
            <a:off x="0" y="4122738"/>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sp>
        <p:nvSpPr>
          <p:cNvPr id="99373" name="Rectangle 204"/>
          <p:cNvSpPr>
            <a:spLocks noChangeArrowheads="1"/>
          </p:cNvSpPr>
          <p:nvPr/>
        </p:nvSpPr>
        <p:spPr bwMode="auto">
          <a:xfrm>
            <a:off x="0" y="88900"/>
            <a:ext cx="2562225"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marL="342900" indent="-342900" eaLnBrk="1" hangingPunct="1">
              <a:lnSpc>
                <a:spcPct val="90000"/>
              </a:lnSpc>
              <a:spcBef>
                <a:spcPct val="50000"/>
              </a:spcBef>
            </a:pPr>
            <a:r>
              <a:rPr lang="en-US" altLang="zh-CN" sz="3200">
                <a:solidFill>
                  <a:srgbClr val="990000"/>
                </a:solidFill>
              </a:rPr>
              <a:t>4.</a:t>
            </a:r>
            <a:r>
              <a:rPr lang="zh-CN" altLang="en-US" sz="3200">
                <a:solidFill>
                  <a:srgbClr val="990000"/>
                </a:solidFill>
              </a:rPr>
              <a:t>乐观系数法</a:t>
            </a:r>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4"/>
          <p:cNvSpPr>
            <a:spLocks noChangeArrowheads="1"/>
          </p:cNvSpPr>
          <p:nvPr/>
        </p:nvSpPr>
        <p:spPr bwMode="auto">
          <a:xfrm>
            <a:off x="0" y="2733675"/>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sp>
        <p:nvSpPr>
          <p:cNvPr id="100355" name="Rectangle 200"/>
          <p:cNvSpPr>
            <a:spLocks noChangeArrowheads="1"/>
          </p:cNvSpPr>
          <p:nvPr/>
        </p:nvSpPr>
        <p:spPr bwMode="auto">
          <a:xfrm>
            <a:off x="0" y="4122738"/>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sp>
        <p:nvSpPr>
          <p:cNvPr id="100356" name="Rectangle 202"/>
          <p:cNvSpPr>
            <a:spLocks noChangeArrowheads="1"/>
          </p:cNvSpPr>
          <p:nvPr/>
        </p:nvSpPr>
        <p:spPr bwMode="auto">
          <a:xfrm>
            <a:off x="0" y="88900"/>
            <a:ext cx="5826125"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marL="342900" indent="-342900" eaLnBrk="1" hangingPunct="1">
              <a:lnSpc>
                <a:spcPct val="90000"/>
              </a:lnSpc>
              <a:spcBef>
                <a:spcPct val="50000"/>
              </a:spcBef>
            </a:pPr>
            <a:r>
              <a:rPr lang="en-US" altLang="zh-CN" sz="3200">
                <a:solidFill>
                  <a:srgbClr val="990000"/>
                </a:solidFill>
              </a:rPr>
              <a:t>5.</a:t>
            </a:r>
            <a:r>
              <a:rPr lang="zh-CN" altLang="en-US" sz="3200">
                <a:solidFill>
                  <a:srgbClr val="990000"/>
                </a:solidFill>
              </a:rPr>
              <a:t>大中取小法（最小遗憾原则）</a:t>
            </a:r>
          </a:p>
        </p:txBody>
      </p:sp>
      <p:sp>
        <p:nvSpPr>
          <p:cNvPr id="100357" name="Rectangle 245"/>
          <p:cNvSpPr>
            <a:spLocks noChangeArrowheads="1"/>
          </p:cNvSpPr>
          <p:nvPr/>
        </p:nvSpPr>
        <p:spPr bwMode="auto">
          <a:xfrm>
            <a:off x="241300" y="3241675"/>
            <a:ext cx="1841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graphicFrame>
        <p:nvGraphicFramePr>
          <p:cNvPr id="965878" name="Group 246"/>
          <p:cNvGraphicFramePr>
            <a:graphicFrameLocks noGrp="1"/>
          </p:cNvGraphicFramePr>
          <p:nvPr/>
        </p:nvGraphicFramePr>
        <p:xfrm>
          <a:off x="285750" y="1489075"/>
          <a:ext cx="8610600" cy="2933701"/>
        </p:xfrm>
        <a:graphic>
          <a:graphicData uri="http://schemas.openxmlformats.org/drawingml/2006/table">
            <a:tbl>
              <a:tblPr/>
              <a:tblGrid>
                <a:gridCol w="962025">
                  <a:extLst>
                    <a:ext uri="{9D8B030D-6E8A-4147-A177-3AD203B41FA5}">
                      <a16:colId xmlns:a16="http://schemas.microsoft.com/office/drawing/2014/main" val="20000"/>
                    </a:ext>
                  </a:extLst>
                </a:gridCol>
                <a:gridCol w="1030288">
                  <a:extLst>
                    <a:ext uri="{9D8B030D-6E8A-4147-A177-3AD203B41FA5}">
                      <a16:colId xmlns:a16="http://schemas.microsoft.com/office/drawing/2014/main" val="20001"/>
                    </a:ext>
                  </a:extLst>
                </a:gridCol>
                <a:gridCol w="1311275">
                  <a:extLst>
                    <a:ext uri="{9D8B030D-6E8A-4147-A177-3AD203B41FA5}">
                      <a16:colId xmlns:a16="http://schemas.microsoft.com/office/drawing/2014/main" val="20002"/>
                    </a:ext>
                  </a:extLst>
                </a:gridCol>
                <a:gridCol w="1135062">
                  <a:extLst>
                    <a:ext uri="{9D8B030D-6E8A-4147-A177-3AD203B41FA5}">
                      <a16:colId xmlns:a16="http://schemas.microsoft.com/office/drawing/2014/main" val="20003"/>
                    </a:ext>
                  </a:extLst>
                </a:gridCol>
                <a:gridCol w="1309688">
                  <a:extLst>
                    <a:ext uri="{9D8B030D-6E8A-4147-A177-3AD203B41FA5}">
                      <a16:colId xmlns:a16="http://schemas.microsoft.com/office/drawing/2014/main" val="20004"/>
                    </a:ext>
                  </a:extLst>
                </a:gridCol>
                <a:gridCol w="1379537">
                  <a:extLst>
                    <a:ext uri="{9D8B030D-6E8A-4147-A177-3AD203B41FA5}">
                      <a16:colId xmlns:a16="http://schemas.microsoft.com/office/drawing/2014/main" val="20005"/>
                    </a:ext>
                  </a:extLst>
                </a:gridCol>
                <a:gridCol w="1482725">
                  <a:extLst>
                    <a:ext uri="{9D8B030D-6E8A-4147-A177-3AD203B41FA5}">
                      <a16:colId xmlns:a16="http://schemas.microsoft.com/office/drawing/2014/main" val="20006"/>
                    </a:ext>
                  </a:extLst>
                </a:gridCol>
              </a:tblGrid>
              <a:tr h="593725">
                <a:tc rowSpan="2" gridSpan="2">
                  <a:txBody>
                    <a:body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收益</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xBody>
                    <a:bodyPr/>
                    <a:lstStyle/>
                    <a:p>
                      <a:endParaRPr lang="zh-CN" altLang="en-US"/>
                    </a:p>
                  </a:txBody>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销           量</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最大</a:t>
                      </a:r>
                      <a:endParaRPr kumimoji="0" lang="zh-CN" altLang="en-US" sz="2800" b="1" i="0" u="none" strike="noStrike" cap="none" normalizeH="0" baseline="0">
                        <a:ln>
                          <a:noFill/>
                        </a:ln>
                        <a:solidFill>
                          <a:srgbClr val="0000FF"/>
                        </a:solidFill>
                        <a:effectLst/>
                        <a:latin typeface="Times New Roman" charset="0"/>
                        <a:ea typeface="宋体" charset="0"/>
                        <a:cs typeface="Times New Roman"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后悔值</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gridSpan="2" vMerge="1">
                  <a:txBody>
                    <a:bodyPr/>
                    <a:lstStyle/>
                    <a:p>
                      <a:endParaRPr lang="zh-CN" altLang="en-US"/>
                    </a:p>
                  </a:txBody>
                  <a:tcPr/>
                </a:tc>
                <a:tc hMerge="1"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大</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一般</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较低</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很低</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587375">
                <a:tc row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rgbClr val="0000FF"/>
                          </a:solidFill>
                          <a:effectLst/>
                          <a:latin typeface="Calibri" charset="0"/>
                          <a:ea typeface="宋体" charset="0"/>
                          <a:cs typeface="Times New Roman" charset="0"/>
                        </a:rPr>
                        <a:t>方案</a:t>
                      </a:r>
                      <a:endParaRPr kumimoji="0" lang="zh-CN" altLang="en-US"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600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400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750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9913">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2</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800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350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-300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1100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3250">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3</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400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250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90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0000FF"/>
                          </a:solidFill>
                          <a:effectLst/>
                          <a:latin typeface="Calibri" charset="0"/>
                          <a:ea typeface="宋体" charset="0"/>
                          <a:cs typeface="Times New Roman" charset="0"/>
                        </a:rPr>
                        <a:t>50</a:t>
                      </a:r>
                      <a:endParaRPr kumimoji="0" lang="en-US" altLang="zh-CN" sz="2800" b="1" i="0" u="none" strike="noStrike" cap="none" normalizeH="0" baseline="0">
                        <a:ln>
                          <a:noFill/>
                        </a:ln>
                        <a:solidFill>
                          <a:srgbClr val="0000FF"/>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rgbClr val="800000"/>
                          </a:solidFill>
                          <a:effectLst/>
                          <a:latin typeface="Calibri" charset="0"/>
                          <a:ea typeface="宋体" charset="0"/>
                          <a:cs typeface="Times New Roman" charset="0"/>
                        </a:rPr>
                        <a:t>350</a:t>
                      </a:r>
                      <a:endParaRPr kumimoji="0" lang="en-US" altLang="zh-CN" sz="2800" b="1" i="0" u="none" strike="noStrike" cap="none" normalizeH="0" baseline="0">
                        <a:ln>
                          <a:noFill/>
                        </a:ln>
                        <a:solidFill>
                          <a:srgbClr val="800000"/>
                        </a:solidFill>
                        <a:effectLst/>
                        <a:latin typeface="Times" charset="0"/>
                        <a:ea typeface="宋体"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0399" name="Rectangle 287"/>
          <p:cNvSpPr>
            <a:spLocks noChangeArrowheads="1"/>
          </p:cNvSpPr>
          <p:nvPr/>
        </p:nvSpPr>
        <p:spPr bwMode="auto">
          <a:xfrm>
            <a:off x="241300" y="4630738"/>
            <a:ext cx="1841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sz="2400" b="0">
              <a:solidFill>
                <a:schemeClr val="tx1"/>
              </a:solidFill>
              <a:latin typeface="Times" charset="0"/>
              <a:ea typeface="宋体" charset="0"/>
              <a:cs typeface="宋体" charset="0"/>
            </a:endParaRP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kumimoji="1" lang="zh-CN" altLang="en-US" sz="3200" b="0">
                <a:latin typeface="Arial" charset="0"/>
                <a:ea typeface="楷体_GB2312" charset="0"/>
                <a:cs typeface="楷体_GB2312" charset="0"/>
              </a:rPr>
              <a:t>风险</a:t>
            </a:r>
          </a:p>
        </p:txBody>
      </p:sp>
      <p:sp>
        <p:nvSpPr>
          <p:cNvPr id="101379" name="Rectangle 3"/>
          <p:cNvSpPr>
            <a:spLocks noGrp="1" noChangeArrowheads="1"/>
          </p:cNvSpPr>
          <p:nvPr>
            <p:ph type="body" idx="1"/>
          </p:nvPr>
        </p:nvSpPr>
        <p:spPr/>
        <p:txBody>
          <a:bodyPr/>
          <a:lstStyle/>
          <a:p>
            <a:pPr eaLnBrk="1" hangingPunct="1"/>
            <a:r>
              <a:rPr kumimoji="1" lang="zh-CN" altLang="en-US" b="0">
                <a:latin typeface="Arial" charset="0"/>
                <a:ea typeface="宋体" charset="0"/>
              </a:rPr>
              <a:t>风险</a:t>
            </a:r>
            <a:r>
              <a:rPr kumimoji="1" lang="en-US" altLang="zh-CN" b="0">
                <a:latin typeface="Arial" charset="0"/>
                <a:ea typeface="宋体" charset="0"/>
              </a:rPr>
              <a:t>——</a:t>
            </a:r>
            <a:r>
              <a:rPr kumimoji="1" lang="zh-CN" altLang="en-US" b="0">
                <a:latin typeface="Arial" charset="0"/>
                <a:ea typeface="宋体" charset="0"/>
              </a:rPr>
              <a:t>对经济主体预期目标产生不利影响的可能性。</a:t>
            </a:r>
          </a:p>
          <a:p>
            <a:pPr eaLnBrk="1" hangingPunct="1"/>
            <a:r>
              <a:rPr kumimoji="1" lang="zh-CN" altLang="en-US" b="0">
                <a:latin typeface="Arial" charset="0"/>
                <a:ea typeface="宋体" charset="0"/>
              </a:rPr>
              <a:t>风险是一种不确定性</a:t>
            </a:r>
          </a:p>
          <a:p>
            <a:pPr eaLnBrk="1" hangingPunct="1"/>
            <a:r>
              <a:rPr kumimoji="1" lang="zh-CN" altLang="en-US" b="0">
                <a:latin typeface="Arial" charset="0"/>
                <a:ea typeface="宋体" charset="0"/>
              </a:rPr>
              <a:t>风险是潜在的损失或者损害</a:t>
            </a:r>
          </a:p>
          <a:p>
            <a:pPr eaLnBrk="1" hangingPunct="1"/>
            <a:r>
              <a:rPr kumimoji="1" lang="zh-CN" altLang="en-US" b="0">
                <a:latin typeface="Arial" charset="0"/>
                <a:ea typeface="宋体" charset="0"/>
              </a:rPr>
              <a:t>风险是实际结果与预期目标之间的差异</a:t>
            </a:r>
          </a:p>
          <a:p>
            <a:pPr eaLnBrk="1" hangingPunct="1"/>
            <a:r>
              <a:rPr kumimoji="1" lang="zh-CN" altLang="en-US" b="0">
                <a:latin typeface="Arial" charset="0"/>
                <a:ea typeface="宋体" charset="0"/>
              </a:rPr>
              <a:t>风险一定涉及选择</a:t>
            </a:r>
          </a:p>
          <a:p>
            <a:pPr eaLnBrk="1" hangingPunct="1"/>
            <a:r>
              <a:rPr kumimoji="1" lang="zh-CN" altLang="en-US" b="0">
                <a:latin typeface="Arial" charset="0"/>
                <a:ea typeface="宋体" charset="0"/>
              </a:rPr>
              <a:t>风险是相对于经济主体而言</a:t>
            </a:r>
          </a:p>
          <a:p>
            <a:pPr eaLnBrk="1" hangingPunct="1"/>
            <a:endParaRPr lang="zh-CN" altLang="en-US">
              <a:latin typeface="Arial" charset="0"/>
              <a:ea typeface="宋体" charset="0"/>
            </a:endParaRPr>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txBox="1">
            <a:spLocks noChangeArrowheads="1"/>
          </p:cNvSpPr>
          <p:nvPr/>
        </p:nvSpPr>
        <p:spPr>
          <a:xfrm>
            <a:off x="406400" y="228600"/>
            <a:ext cx="7772400" cy="1143000"/>
          </a:xfrm>
          <a:prstGeom prst="rect">
            <a:avLst/>
          </a:prstGeom>
          <a:noFill/>
          <a:ln/>
        </p:spPr>
        <p:txBody>
          <a:bodyPr anchor="b"/>
          <a:lstStyle/>
          <a:p>
            <a:pPr eaLnBrk="1" hangingPunct="1">
              <a:defRPr/>
            </a:pPr>
            <a:r>
              <a:rPr lang="en-AU" altLang="zh-CN" sz="3600" kern="0">
                <a:solidFill>
                  <a:srgbClr val="990000"/>
                </a:solidFill>
                <a:latin typeface="+mj-lt"/>
                <a:ea typeface="+mj-ea"/>
                <a:cs typeface="+mj-cs"/>
              </a:rPr>
              <a:t>Sources of Project Risk</a:t>
            </a:r>
          </a:p>
        </p:txBody>
      </p:sp>
      <p:sp>
        <p:nvSpPr>
          <p:cNvPr id="3" name="Rectangle 5"/>
          <p:cNvSpPr txBox="1">
            <a:spLocks noChangeArrowheads="1"/>
          </p:cNvSpPr>
          <p:nvPr/>
        </p:nvSpPr>
        <p:spPr>
          <a:xfrm>
            <a:off x="457200" y="1643063"/>
            <a:ext cx="8178800" cy="4171950"/>
          </a:xfrm>
          <a:prstGeom prst="rect">
            <a:avLst/>
          </a:prstGeom>
          <a:noFill/>
          <a:ln/>
        </p:spPr>
        <p:txBody>
          <a:bodyPr/>
          <a:lstStyle>
            <a:lvl1pPr marL="342900" indent="-3429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spcBef>
                <a:spcPct val="20000"/>
              </a:spcBef>
              <a:buFontTx/>
              <a:buChar char="•"/>
            </a:pPr>
            <a:r>
              <a:rPr lang="en-AU" altLang="zh-CN" sz="3200">
                <a:solidFill>
                  <a:srgbClr val="000000"/>
                </a:solidFill>
                <a:ea typeface="宋体" charset="0"/>
                <a:cs typeface="宋体" charset="0"/>
              </a:rPr>
              <a:t>Economic circumstances</a:t>
            </a:r>
          </a:p>
          <a:p>
            <a:pPr eaLnBrk="1" hangingPunct="1">
              <a:spcBef>
                <a:spcPct val="20000"/>
              </a:spcBef>
              <a:buFontTx/>
              <a:buChar char="•"/>
            </a:pPr>
            <a:r>
              <a:rPr lang="en-AU" altLang="zh-CN" sz="3200">
                <a:solidFill>
                  <a:srgbClr val="000000"/>
                </a:solidFill>
                <a:ea typeface="宋体" charset="0"/>
                <a:cs typeface="宋体" charset="0"/>
              </a:rPr>
              <a:t>Natural events</a:t>
            </a:r>
          </a:p>
          <a:p>
            <a:pPr eaLnBrk="1" hangingPunct="1">
              <a:spcBef>
                <a:spcPct val="20000"/>
              </a:spcBef>
              <a:buFontTx/>
              <a:buChar char="•"/>
            </a:pPr>
            <a:r>
              <a:rPr lang="en-AU" altLang="zh-CN" sz="3200">
                <a:solidFill>
                  <a:srgbClr val="000000"/>
                </a:solidFill>
                <a:ea typeface="宋体" charset="0"/>
                <a:cs typeface="宋体" charset="0"/>
              </a:rPr>
              <a:t>Political circumstances</a:t>
            </a:r>
          </a:p>
          <a:p>
            <a:pPr eaLnBrk="1" hangingPunct="1">
              <a:spcBef>
                <a:spcPct val="20000"/>
              </a:spcBef>
              <a:buFontTx/>
              <a:buChar char="•"/>
            </a:pPr>
            <a:r>
              <a:rPr lang="en-AU" altLang="zh-CN" sz="3200">
                <a:solidFill>
                  <a:srgbClr val="000000"/>
                </a:solidFill>
                <a:ea typeface="宋体" charset="0"/>
                <a:cs typeface="宋体" charset="0"/>
              </a:rPr>
              <a:t>Technology and technical issues</a:t>
            </a:r>
          </a:p>
          <a:p>
            <a:pPr eaLnBrk="1" hangingPunct="1">
              <a:spcBef>
                <a:spcPct val="20000"/>
              </a:spcBef>
              <a:buFontTx/>
              <a:buChar char="•"/>
            </a:pPr>
            <a:r>
              <a:rPr lang="en-AU" altLang="zh-CN" sz="3200">
                <a:solidFill>
                  <a:srgbClr val="000000"/>
                </a:solidFill>
                <a:ea typeface="宋体" charset="0"/>
                <a:cs typeface="宋体" charset="0"/>
              </a:rPr>
              <a:t>Management activities and controls</a:t>
            </a:r>
          </a:p>
          <a:p>
            <a:pPr eaLnBrk="1" hangingPunct="1">
              <a:spcBef>
                <a:spcPct val="20000"/>
              </a:spcBef>
              <a:buFontTx/>
              <a:buChar char="•"/>
            </a:pPr>
            <a:r>
              <a:rPr lang="en-AU" altLang="zh-CN" sz="3200">
                <a:solidFill>
                  <a:srgbClr val="000000"/>
                </a:solidFill>
                <a:ea typeface="宋体" charset="0"/>
                <a:cs typeface="宋体" charset="0"/>
              </a:rPr>
              <a:t>Individual activities</a:t>
            </a:r>
          </a:p>
          <a:p>
            <a:pPr eaLnBrk="1" hangingPunct="1">
              <a:spcBef>
                <a:spcPct val="20000"/>
              </a:spcBef>
              <a:buFontTx/>
              <a:buChar char="•"/>
            </a:pPr>
            <a:r>
              <a:rPr lang="en-AU" altLang="zh-CN" sz="3200">
                <a:solidFill>
                  <a:srgbClr val="000000"/>
                </a:solidFill>
                <a:ea typeface="宋体" charset="0"/>
                <a:cs typeface="宋体" charset="0"/>
              </a:rPr>
              <a:t>Commercial and legal relationships</a:t>
            </a:r>
          </a:p>
          <a:p>
            <a:pPr eaLnBrk="1" hangingPunct="1">
              <a:spcBef>
                <a:spcPct val="20000"/>
              </a:spcBef>
              <a:buFontTx/>
              <a:buChar char="•"/>
            </a:pPr>
            <a:r>
              <a:rPr lang="en-AU" altLang="zh-CN" sz="3200">
                <a:solidFill>
                  <a:srgbClr val="000000"/>
                </a:solidFill>
                <a:ea typeface="宋体" charset="0"/>
                <a:cs typeface="宋体" charset="0"/>
              </a:rPr>
              <a:t>Human behaviour</a:t>
            </a:r>
          </a:p>
          <a:p>
            <a:pPr eaLnBrk="1" hangingPunct="1">
              <a:spcBef>
                <a:spcPct val="20000"/>
              </a:spcBef>
              <a:buFontTx/>
              <a:buChar char="•"/>
            </a:pPr>
            <a:endParaRPr lang="en-AU" altLang="zh-CN" sz="3200">
              <a:solidFill>
                <a:srgbClr val="000000"/>
              </a:solidFill>
              <a:ea typeface="宋体" charset="0"/>
              <a:cs typeface="宋体" charset="0"/>
            </a:endParaRPr>
          </a:p>
          <a:p>
            <a:pPr eaLnBrk="1" hangingPunct="1">
              <a:spcBef>
                <a:spcPct val="20000"/>
              </a:spcBef>
              <a:buFontTx/>
              <a:buChar char="•"/>
            </a:pPr>
            <a:endParaRPr lang="en-AU" altLang="zh-CN" sz="3200">
              <a:solidFill>
                <a:srgbClr val="000000"/>
              </a:solidFill>
              <a:ea typeface="宋体" charset="0"/>
              <a:cs typeface="宋体" charset="0"/>
            </a:endParaRPr>
          </a:p>
        </p:txBody>
      </p:sp>
      <p:sp>
        <p:nvSpPr>
          <p:cNvPr id="102404" name="Text Box 6"/>
          <p:cNvSpPr txBox="1">
            <a:spLocks noChangeArrowheads="1"/>
          </p:cNvSpPr>
          <p:nvPr/>
        </p:nvSpPr>
        <p:spPr bwMode="auto">
          <a:xfrm>
            <a:off x="6135688" y="3362325"/>
            <a:ext cx="184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wrap="none">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endParaRPr lang="zh-CN" altLang="en-US" sz="1800" b="0">
              <a:solidFill>
                <a:schemeClr val="tx1"/>
              </a:solidFill>
            </a:endParaRPr>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8"/>
          <p:cNvSpPr>
            <a:spLocks noRot="1" noChangeArrowheads="1"/>
          </p:cNvSpPr>
          <p:nvPr/>
        </p:nvSpPr>
        <p:spPr bwMode="auto">
          <a:xfrm>
            <a:off x="2268538" y="188913"/>
            <a:ext cx="4175125" cy="9985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algn="dist" eaLnBrk="1" hangingPunct="1">
              <a:lnSpc>
                <a:spcPct val="90000"/>
              </a:lnSpc>
              <a:spcBef>
                <a:spcPct val="50000"/>
              </a:spcBef>
              <a:buFontTx/>
              <a:buChar char="•"/>
            </a:pPr>
            <a:r>
              <a:rPr lang="zh-CN" altLang="en-US" sz="4800">
                <a:solidFill>
                  <a:srgbClr val="990000"/>
                </a:solidFill>
                <a:latin typeface="方正舒体" charset="0"/>
                <a:ea typeface="方正舒体" charset="0"/>
                <a:cs typeface="方正舒体" charset="0"/>
              </a:rPr>
              <a:t>点击时事</a:t>
            </a:r>
            <a:endParaRPr lang="en-US" altLang="zh-CN" sz="4800">
              <a:solidFill>
                <a:srgbClr val="990000"/>
              </a:solidFill>
              <a:latin typeface="方正舒体" charset="0"/>
              <a:ea typeface="方正舒体" charset="0"/>
              <a:cs typeface="方正舒体" charset="0"/>
            </a:endParaRPr>
          </a:p>
        </p:txBody>
      </p:sp>
      <p:sp>
        <p:nvSpPr>
          <p:cNvPr id="3" name="Rectangle 9"/>
          <p:cNvSpPr txBox="1">
            <a:spLocks noRot="1" noChangeArrowheads="1"/>
          </p:cNvSpPr>
          <p:nvPr/>
        </p:nvSpPr>
        <p:spPr>
          <a:xfrm>
            <a:off x="142875" y="1484313"/>
            <a:ext cx="8678863" cy="587375"/>
          </a:xfrm>
          <a:prstGeom prst="rect">
            <a:avLst/>
          </a:prstGeom>
          <a:noFill/>
        </p:spPr>
        <p:txBody>
          <a:bodyPr/>
          <a:lstStyle>
            <a:lvl1pPr marL="631825" indent="-4572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spcBef>
                <a:spcPct val="20000"/>
              </a:spcBef>
              <a:buFont typeface="Wingdings" charset="0"/>
              <a:buChar char="l"/>
            </a:pPr>
            <a:r>
              <a:rPr lang="zh-CN" altLang="en-US" sz="2800">
                <a:solidFill>
                  <a:srgbClr val="000000"/>
                </a:solidFill>
                <a:ea typeface="宋体" charset="0"/>
                <a:cs typeface="宋体" charset="0"/>
              </a:rPr>
              <a:t>深圳同一地段</a:t>
            </a:r>
            <a:r>
              <a:rPr lang="en-US" altLang="zh-CN" sz="2800">
                <a:solidFill>
                  <a:srgbClr val="000000"/>
                </a:solidFill>
                <a:ea typeface="宋体" charset="0"/>
                <a:cs typeface="宋体" charset="0"/>
              </a:rPr>
              <a:t>1</a:t>
            </a:r>
            <a:r>
              <a:rPr lang="zh-CN" altLang="en-US" sz="2800">
                <a:solidFill>
                  <a:srgbClr val="000000"/>
                </a:solidFill>
                <a:ea typeface="宋体" charset="0"/>
                <a:cs typeface="宋体" charset="0"/>
              </a:rPr>
              <a:t>年内</a:t>
            </a:r>
            <a:r>
              <a:rPr lang="en-US" altLang="zh-CN" sz="2800">
                <a:solidFill>
                  <a:srgbClr val="000000"/>
                </a:solidFill>
                <a:ea typeface="宋体" charset="0"/>
                <a:cs typeface="宋体" charset="0"/>
              </a:rPr>
              <a:t>5</a:t>
            </a:r>
            <a:r>
              <a:rPr lang="zh-CN" altLang="en-US" sz="2800">
                <a:solidFill>
                  <a:srgbClr val="000000"/>
                </a:solidFill>
                <a:ea typeface="宋体" charset="0"/>
                <a:cs typeface="宋体" charset="0"/>
              </a:rPr>
              <a:t>次施工塌陷</a:t>
            </a:r>
          </a:p>
        </p:txBody>
      </p:sp>
      <p:sp>
        <p:nvSpPr>
          <p:cNvPr id="4" name="矩形 3"/>
          <p:cNvSpPr/>
          <p:nvPr/>
        </p:nvSpPr>
        <p:spPr>
          <a:xfrm>
            <a:off x="142875" y="2071688"/>
            <a:ext cx="8715375" cy="1528762"/>
          </a:xfrm>
          <a:prstGeom prst="rect">
            <a:avLst/>
          </a:prstGeom>
        </p:spPr>
        <p:txBody>
          <a:bodyPr>
            <a:spAutoFit/>
          </a:bodyPr>
          <a:lstStyle/>
          <a:p>
            <a:pPr marL="177800" indent="-177800" eaLnBrk="1" hangingPunct="1">
              <a:lnSpc>
                <a:spcPts val="2500"/>
              </a:lnSpc>
              <a:spcBef>
                <a:spcPts val="600"/>
              </a:spcBef>
              <a:buFont typeface="Wingdings" charset="0"/>
              <a:buChar char="Ø"/>
            </a:pPr>
            <a:r>
              <a:rPr lang="zh-CN" altLang="en-US" sz="2600">
                <a:solidFill>
                  <a:srgbClr val="000000"/>
                </a:solidFill>
                <a:latin typeface="华文新魏" charset="0"/>
                <a:ea typeface="华文新魏" charset="0"/>
                <a:cs typeface="华文新魏" charset="0"/>
              </a:rPr>
              <a:t> </a:t>
            </a:r>
            <a:r>
              <a:rPr lang="en-US" altLang="zh-CN" sz="2600">
                <a:solidFill>
                  <a:srgbClr val="000000"/>
                </a:solidFill>
                <a:latin typeface="华文新魏" charset="0"/>
                <a:ea typeface="华文新魏" charset="0"/>
                <a:cs typeface="华文新魏" charset="0"/>
              </a:rPr>
              <a:t>10</a:t>
            </a:r>
            <a:r>
              <a:rPr lang="zh-CN" altLang="en-US" sz="2600">
                <a:solidFill>
                  <a:srgbClr val="000000"/>
                </a:solidFill>
                <a:latin typeface="华文新魏" charset="0"/>
                <a:ea typeface="华文新魏" charset="0"/>
                <a:cs typeface="华文新魏" charset="0"/>
              </a:rPr>
              <a:t>月</a:t>
            </a:r>
            <a:r>
              <a:rPr lang="en-US" altLang="zh-CN" sz="2600">
                <a:solidFill>
                  <a:srgbClr val="000000"/>
                </a:solidFill>
                <a:latin typeface="华文新魏" charset="0"/>
                <a:ea typeface="华文新魏" charset="0"/>
                <a:cs typeface="华文新魏" charset="0"/>
              </a:rPr>
              <a:t>30</a:t>
            </a:r>
            <a:r>
              <a:rPr lang="zh-CN" altLang="en-US" sz="2600">
                <a:solidFill>
                  <a:srgbClr val="000000"/>
                </a:solidFill>
                <a:latin typeface="华文新魏" charset="0"/>
                <a:ea typeface="华文新魏" charset="0"/>
                <a:cs typeface="华文新魏" charset="0"/>
              </a:rPr>
              <a:t>日上午</a:t>
            </a:r>
            <a:r>
              <a:rPr lang="en-US" altLang="zh-CN" sz="2600">
                <a:solidFill>
                  <a:srgbClr val="000000"/>
                </a:solidFill>
                <a:latin typeface="华文新魏" charset="0"/>
                <a:ea typeface="华文新魏" charset="0"/>
                <a:cs typeface="华文新魏" charset="0"/>
              </a:rPr>
              <a:t>9</a:t>
            </a:r>
            <a:r>
              <a:rPr lang="zh-CN" altLang="en-US" sz="2600">
                <a:solidFill>
                  <a:srgbClr val="000000"/>
                </a:solidFill>
                <a:latin typeface="华文新魏" charset="0"/>
                <a:ea typeface="华文新魏" charset="0"/>
                <a:cs typeface="华文新魏" charset="0"/>
              </a:rPr>
              <a:t>时</a:t>
            </a:r>
            <a:r>
              <a:rPr lang="en-US" altLang="zh-CN" sz="2600">
                <a:solidFill>
                  <a:srgbClr val="000000"/>
                </a:solidFill>
                <a:latin typeface="华文新魏" charset="0"/>
                <a:ea typeface="华文新魏" charset="0"/>
                <a:cs typeface="华文新魏" charset="0"/>
              </a:rPr>
              <a:t>20</a:t>
            </a:r>
            <a:r>
              <a:rPr lang="zh-CN" altLang="en-US" sz="2600">
                <a:solidFill>
                  <a:srgbClr val="000000"/>
                </a:solidFill>
                <a:latin typeface="华文新魏" charset="0"/>
                <a:ea typeface="华文新魏" charset="0"/>
                <a:cs typeface="华文新魏" charset="0"/>
              </a:rPr>
              <a:t>分许，深圳梅林路与梅村路交汇处发生塌陷</a:t>
            </a:r>
            <a:endParaRPr lang="en-US" altLang="zh-CN" sz="2600">
              <a:solidFill>
                <a:srgbClr val="000000"/>
              </a:solidFill>
              <a:latin typeface="华文新魏" charset="0"/>
              <a:ea typeface="华文新魏" charset="0"/>
              <a:cs typeface="华文新魏" charset="0"/>
            </a:endParaRPr>
          </a:p>
          <a:p>
            <a:pPr marL="177800" indent="-177800" eaLnBrk="1" hangingPunct="1">
              <a:lnSpc>
                <a:spcPts val="2500"/>
              </a:lnSpc>
              <a:spcBef>
                <a:spcPts val="600"/>
              </a:spcBef>
              <a:buFont typeface="Arial" charset="0"/>
              <a:buChar char="•"/>
            </a:pPr>
            <a:r>
              <a:rPr lang="zh-CN" altLang="en-US" sz="2600">
                <a:solidFill>
                  <a:srgbClr val="000000"/>
                </a:solidFill>
                <a:latin typeface="华文新魏" charset="0"/>
                <a:ea typeface="华文新魏" charset="0"/>
                <a:cs typeface="华文新魏" charset="0"/>
              </a:rPr>
              <a:t>形成一个长约</a:t>
            </a:r>
            <a:r>
              <a:rPr lang="en-US" altLang="zh-CN" sz="2600">
                <a:solidFill>
                  <a:srgbClr val="000000"/>
                </a:solidFill>
                <a:latin typeface="华文新魏" charset="0"/>
                <a:ea typeface="华文新魏" charset="0"/>
                <a:cs typeface="华文新魏" charset="0"/>
              </a:rPr>
              <a:t>15</a:t>
            </a:r>
            <a:r>
              <a:rPr lang="zh-CN" altLang="en-US" sz="2600">
                <a:solidFill>
                  <a:srgbClr val="000000"/>
                </a:solidFill>
                <a:latin typeface="华文新魏" charset="0"/>
                <a:ea typeface="华文新魏" charset="0"/>
                <a:cs typeface="华文新魏" charset="0"/>
              </a:rPr>
              <a:t>米，宽约</a:t>
            </a:r>
            <a:r>
              <a:rPr lang="en-US" altLang="zh-CN" sz="2600">
                <a:solidFill>
                  <a:srgbClr val="000000"/>
                </a:solidFill>
                <a:latin typeface="华文新魏" charset="0"/>
                <a:ea typeface="华文新魏" charset="0"/>
                <a:cs typeface="华文新魏" charset="0"/>
              </a:rPr>
              <a:t>10</a:t>
            </a:r>
            <a:r>
              <a:rPr lang="zh-CN" altLang="en-US" sz="2600">
                <a:solidFill>
                  <a:srgbClr val="000000"/>
                </a:solidFill>
                <a:latin typeface="华文新魏" charset="0"/>
                <a:ea typeface="华文新魏" charset="0"/>
                <a:cs typeface="华文新魏" charset="0"/>
              </a:rPr>
              <a:t>米，深约</a:t>
            </a:r>
            <a:r>
              <a:rPr lang="en-US" altLang="zh-CN" sz="2600">
                <a:solidFill>
                  <a:srgbClr val="000000"/>
                </a:solidFill>
                <a:latin typeface="华文新魏" charset="0"/>
                <a:ea typeface="华文新魏" charset="0"/>
                <a:cs typeface="华文新魏" charset="0"/>
              </a:rPr>
              <a:t>4</a:t>
            </a:r>
            <a:r>
              <a:rPr lang="zh-CN" altLang="en-US" sz="2600">
                <a:solidFill>
                  <a:srgbClr val="000000"/>
                </a:solidFill>
                <a:latin typeface="华文新魏" charset="0"/>
                <a:ea typeface="华文新魏" charset="0"/>
                <a:cs typeface="华文新魏" charset="0"/>
              </a:rPr>
              <a:t>米的大坑</a:t>
            </a:r>
            <a:endParaRPr lang="en-US" altLang="zh-CN" sz="2600">
              <a:solidFill>
                <a:srgbClr val="000000"/>
              </a:solidFill>
              <a:latin typeface="华文新魏" charset="0"/>
              <a:ea typeface="华文新魏" charset="0"/>
              <a:cs typeface="华文新魏" charset="0"/>
            </a:endParaRPr>
          </a:p>
          <a:p>
            <a:pPr marL="177800" indent="-177800" eaLnBrk="1" hangingPunct="1">
              <a:lnSpc>
                <a:spcPts val="2500"/>
              </a:lnSpc>
              <a:spcBef>
                <a:spcPts val="600"/>
              </a:spcBef>
              <a:buFont typeface="Arial" charset="0"/>
              <a:buChar char="•"/>
            </a:pPr>
            <a:r>
              <a:rPr lang="zh-CN" altLang="en-US" sz="2600">
                <a:solidFill>
                  <a:srgbClr val="000000"/>
                </a:solidFill>
                <a:latin typeface="华文新魏" charset="0"/>
                <a:ea typeface="华文新魏" charset="0"/>
                <a:cs typeface="华文新魏" charset="0"/>
              </a:rPr>
              <a:t>广深港客运专线地下施工导致的第五次塌陷</a:t>
            </a:r>
            <a:endParaRPr lang="en-US" altLang="zh-CN" sz="2600">
              <a:solidFill>
                <a:srgbClr val="000000"/>
              </a:solidFill>
              <a:latin typeface="华文新魏" charset="0"/>
              <a:ea typeface="华文新魏" charset="0"/>
              <a:cs typeface="华文新魏" charset="0"/>
            </a:endParaRPr>
          </a:p>
        </p:txBody>
      </p:sp>
      <p:sp>
        <p:nvSpPr>
          <p:cNvPr id="5" name="矩形 4"/>
          <p:cNvSpPr/>
          <p:nvPr/>
        </p:nvSpPr>
        <p:spPr>
          <a:xfrm>
            <a:off x="142875" y="5861050"/>
            <a:ext cx="8715375" cy="425450"/>
          </a:xfrm>
          <a:prstGeom prst="rect">
            <a:avLst/>
          </a:prstGeom>
        </p:spPr>
        <p:txBody>
          <a:bodyPr>
            <a:spAutoFit/>
          </a:bodyPr>
          <a:lstStyle/>
          <a:p>
            <a:pPr marL="177800" indent="-177800" eaLnBrk="1" hangingPunct="1">
              <a:lnSpc>
                <a:spcPts val="2500"/>
              </a:lnSpc>
              <a:spcBef>
                <a:spcPts val="600"/>
              </a:spcBef>
              <a:buFont typeface="Wingdings" charset="0"/>
              <a:buChar char="Ø"/>
            </a:pPr>
            <a:r>
              <a:rPr lang="zh-CN" altLang="en-US" sz="2600">
                <a:solidFill>
                  <a:srgbClr val="000000"/>
                </a:solidFill>
                <a:latin typeface="华文新魏" charset="0"/>
                <a:ea typeface="华文新魏" charset="0"/>
                <a:cs typeface="华文新魏" charset="0"/>
              </a:rPr>
              <a:t>繁华市区施工如何保安全</a:t>
            </a:r>
          </a:p>
        </p:txBody>
      </p:sp>
      <p:sp>
        <p:nvSpPr>
          <p:cNvPr id="6" name="矩形 5"/>
          <p:cNvSpPr/>
          <p:nvPr/>
        </p:nvSpPr>
        <p:spPr>
          <a:xfrm>
            <a:off x="142875" y="3714750"/>
            <a:ext cx="8715375" cy="425450"/>
          </a:xfrm>
          <a:prstGeom prst="rect">
            <a:avLst/>
          </a:prstGeom>
        </p:spPr>
        <p:txBody>
          <a:bodyPr>
            <a:spAutoFit/>
          </a:bodyPr>
          <a:lstStyle/>
          <a:p>
            <a:pPr marL="177800" indent="-177800" eaLnBrk="1" hangingPunct="1">
              <a:lnSpc>
                <a:spcPts val="2500"/>
              </a:lnSpc>
              <a:spcBef>
                <a:spcPts val="600"/>
              </a:spcBef>
              <a:buFont typeface="Wingdings" charset="0"/>
              <a:buChar char="Ø"/>
            </a:pPr>
            <a:r>
              <a:rPr lang="zh-CN" altLang="en-US" sz="2600">
                <a:solidFill>
                  <a:srgbClr val="000000"/>
                </a:solidFill>
                <a:latin typeface="华文新魏" charset="0"/>
                <a:ea typeface="华文新魏" charset="0"/>
                <a:cs typeface="华文新魏" charset="0"/>
              </a:rPr>
              <a:t>施工方早有预料要塌陷</a:t>
            </a:r>
          </a:p>
        </p:txBody>
      </p:sp>
      <p:sp>
        <p:nvSpPr>
          <p:cNvPr id="7" name="矩形 6"/>
          <p:cNvSpPr/>
          <p:nvPr/>
        </p:nvSpPr>
        <p:spPr>
          <a:xfrm>
            <a:off x="214313" y="4184650"/>
            <a:ext cx="8572500" cy="1604963"/>
          </a:xfrm>
          <a:prstGeom prst="rect">
            <a:avLst/>
          </a:prstGeom>
        </p:spPr>
        <p:txBody>
          <a:bodyPr>
            <a:spAutoFit/>
          </a:bodyPr>
          <a:lstStyle/>
          <a:p>
            <a:pPr marL="450850" indent="-273050" eaLnBrk="1" hangingPunct="1">
              <a:lnSpc>
                <a:spcPts val="2500"/>
              </a:lnSpc>
              <a:spcBef>
                <a:spcPts val="600"/>
              </a:spcBef>
              <a:buFont typeface="Arial" charset="0"/>
              <a:buChar char="•"/>
            </a:pPr>
            <a:r>
              <a:rPr lang="zh-CN" altLang="en-US" sz="2600">
                <a:solidFill>
                  <a:srgbClr val="000000"/>
                </a:solidFill>
                <a:latin typeface="华文新魏" charset="0"/>
                <a:ea typeface="华文新魏" charset="0"/>
                <a:cs typeface="华文新魏" charset="0"/>
              </a:rPr>
              <a:t>一天前，市交警部门突然对附近路段实施交通管制</a:t>
            </a:r>
            <a:endParaRPr lang="en-US" altLang="zh-CN" sz="2600">
              <a:solidFill>
                <a:srgbClr val="000000"/>
              </a:solidFill>
              <a:latin typeface="华文新魏" charset="0"/>
              <a:ea typeface="华文新魏" charset="0"/>
              <a:cs typeface="华文新魏" charset="0"/>
            </a:endParaRPr>
          </a:p>
          <a:p>
            <a:pPr marL="450850" indent="-273050" eaLnBrk="1" hangingPunct="1">
              <a:lnSpc>
                <a:spcPts val="2500"/>
              </a:lnSpc>
              <a:spcBef>
                <a:spcPts val="600"/>
              </a:spcBef>
              <a:buFont typeface="Arial" charset="0"/>
              <a:buChar char="•"/>
            </a:pPr>
            <a:r>
              <a:rPr lang="zh-CN" altLang="en-US" sz="2600">
                <a:solidFill>
                  <a:srgbClr val="000000"/>
                </a:solidFill>
                <a:latin typeface="华文新魏" charset="0"/>
                <a:ea typeface="华文新魏" charset="0"/>
                <a:cs typeface="华文新魏" charset="0"/>
              </a:rPr>
              <a:t>一天后封闭路段就发生了坍塌</a:t>
            </a:r>
            <a:endParaRPr lang="en-US" altLang="zh-CN" sz="2600">
              <a:solidFill>
                <a:srgbClr val="000000"/>
              </a:solidFill>
              <a:latin typeface="华文新魏" charset="0"/>
              <a:ea typeface="华文新魏" charset="0"/>
              <a:cs typeface="华文新魏" charset="0"/>
            </a:endParaRPr>
          </a:p>
          <a:p>
            <a:pPr marL="450850" indent="-273050" eaLnBrk="1" hangingPunct="1">
              <a:lnSpc>
                <a:spcPts val="2500"/>
              </a:lnSpc>
              <a:spcBef>
                <a:spcPts val="600"/>
              </a:spcBef>
              <a:buFont typeface="Arial" charset="0"/>
              <a:buChar char="•"/>
            </a:pPr>
            <a:r>
              <a:rPr lang="zh-CN" altLang="en-US" sz="2600">
                <a:solidFill>
                  <a:srgbClr val="000000"/>
                </a:solidFill>
                <a:latin typeface="华文新魏" charset="0"/>
                <a:ea typeface="华文新魏" charset="0"/>
                <a:cs typeface="华文新魏" charset="0"/>
              </a:rPr>
              <a:t>施工方：地质结构软硬不均导致塌陷</a:t>
            </a:r>
            <a:endParaRPr lang="en-US" altLang="zh-CN" sz="2600">
              <a:solidFill>
                <a:srgbClr val="000000"/>
              </a:solidFill>
              <a:latin typeface="华文新魏" charset="0"/>
              <a:ea typeface="华文新魏" charset="0"/>
              <a:cs typeface="华文新魏" charset="0"/>
            </a:endParaRPr>
          </a:p>
          <a:p>
            <a:pPr marL="450850" indent="-273050" eaLnBrk="1" hangingPunct="1">
              <a:lnSpc>
                <a:spcPts val="2500"/>
              </a:lnSpc>
              <a:spcBef>
                <a:spcPts val="600"/>
              </a:spcBef>
              <a:buFont typeface="Arial" charset="0"/>
              <a:buChar char="•"/>
            </a:pPr>
            <a:r>
              <a:rPr lang="zh-CN" altLang="en-US" sz="2600">
                <a:solidFill>
                  <a:srgbClr val="000000"/>
                </a:solidFill>
                <a:latin typeface="华文新魏" charset="0"/>
                <a:ea typeface="华文新魏" charset="0"/>
                <a:cs typeface="华文新魏" charset="0"/>
              </a:rPr>
              <a:t>早有预料为何不加固作业？</a:t>
            </a:r>
          </a:p>
        </p:txBody>
      </p:sp>
      <p:pic>
        <p:nvPicPr>
          <p:cNvPr id="8" name="图片 3" descr="http://photocdn.sohu.com/20111031/Img324033056.jp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428750" y="3219450"/>
            <a:ext cx="4857750" cy="3638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8"/>
          <p:cNvSpPr>
            <a:spLocks noRot="1" noChangeArrowheads="1"/>
          </p:cNvSpPr>
          <p:nvPr/>
        </p:nvSpPr>
        <p:spPr bwMode="auto">
          <a:xfrm>
            <a:off x="2268538" y="188913"/>
            <a:ext cx="4175125" cy="9985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algn="dist" eaLnBrk="1" hangingPunct="1"/>
            <a:r>
              <a:rPr lang="zh-CN" altLang="en-US" sz="4800">
                <a:solidFill>
                  <a:srgbClr val="990000"/>
                </a:solidFill>
                <a:latin typeface="方正舒体" charset="0"/>
                <a:ea typeface="方正舒体" charset="0"/>
                <a:cs typeface="方正舒体" charset="0"/>
              </a:rPr>
              <a:t>点击时事</a:t>
            </a:r>
            <a:endParaRPr lang="en-US" altLang="zh-CN" sz="4800">
              <a:solidFill>
                <a:srgbClr val="990000"/>
              </a:solidFill>
              <a:latin typeface="方正舒体" charset="0"/>
              <a:ea typeface="方正舒体" charset="0"/>
              <a:cs typeface="方正舒体" charset="0"/>
            </a:endParaRPr>
          </a:p>
        </p:txBody>
      </p:sp>
      <p:sp>
        <p:nvSpPr>
          <p:cNvPr id="104451" name="Rectangle 9"/>
          <p:cNvSpPr>
            <a:spLocks noRot="1" noChangeArrowheads="1"/>
          </p:cNvSpPr>
          <p:nvPr/>
        </p:nvSpPr>
        <p:spPr bwMode="auto">
          <a:xfrm>
            <a:off x="179388" y="1566863"/>
            <a:ext cx="8785225" cy="709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eaLnBrk="1" hangingPunct="1">
              <a:spcBef>
                <a:spcPct val="20000"/>
              </a:spcBef>
              <a:buFont typeface="Wingdings" charset="0"/>
              <a:buChar char="l"/>
            </a:pPr>
            <a:r>
              <a:rPr lang="zh-CN" altLang="en-US" sz="2400" i="1">
                <a:solidFill>
                  <a:srgbClr val="660066"/>
                </a:solidFill>
                <a:ea typeface="宋体" charset="0"/>
                <a:cs typeface="宋体" charset="0"/>
              </a:rPr>
              <a:t>前三门 </a:t>
            </a:r>
            <a:r>
              <a:rPr lang="zh-CN" altLang="en-US" sz="2400">
                <a:solidFill>
                  <a:srgbClr val="660066"/>
                </a:solidFill>
                <a:ea typeface="宋体" charset="0"/>
                <a:cs typeface="宋体" charset="0"/>
              </a:rPr>
              <a:t>开挖超大隧洞   </a:t>
            </a:r>
            <a:r>
              <a:rPr lang="en-US" altLang="zh-CN" sz="2400">
                <a:solidFill>
                  <a:srgbClr val="660066"/>
                </a:solidFill>
                <a:ea typeface="宋体" charset="0"/>
                <a:cs typeface="宋体" charset="0"/>
              </a:rPr>
              <a:t>2013</a:t>
            </a:r>
            <a:r>
              <a:rPr lang="zh-CN" altLang="en-US" sz="2400">
                <a:solidFill>
                  <a:srgbClr val="660066"/>
                </a:solidFill>
                <a:ea typeface="宋体" charset="0"/>
                <a:cs typeface="宋体" charset="0"/>
              </a:rPr>
              <a:t>年</a:t>
            </a:r>
            <a:r>
              <a:rPr lang="zh-CN" altLang="en-US" sz="2400" i="1">
                <a:solidFill>
                  <a:srgbClr val="660066"/>
                </a:solidFill>
                <a:ea typeface="宋体" charset="0"/>
                <a:cs typeface="宋体" charset="0"/>
              </a:rPr>
              <a:t>北京站 </a:t>
            </a:r>
            <a:r>
              <a:rPr lang="zh-CN" altLang="en-US" sz="2400">
                <a:solidFill>
                  <a:srgbClr val="660066"/>
                </a:solidFill>
                <a:ea typeface="宋体" charset="0"/>
                <a:cs typeface="宋体" charset="0"/>
              </a:rPr>
              <a:t>地下通</a:t>
            </a:r>
            <a:r>
              <a:rPr lang="zh-CN" altLang="en-US" sz="2400" i="1">
                <a:solidFill>
                  <a:srgbClr val="660066"/>
                </a:solidFill>
                <a:ea typeface="宋体" charset="0"/>
                <a:cs typeface="宋体" charset="0"/>
              </a:rPr>
              <a:t>西站</a:t>
            </a:r>
            <a:endParaRPr lang="en-US" altLang="zh-CN" sz="2400" b="0" i="1">
              <a:solidFill>
                <a:srgbClr val="660066"/>
              </a:solidFill>
              <a:ea typeface="宋体" charset="0"/>
              <a:cs typeface="宋体" charset="0"/>
            </a:endParaRPr>
          </a:p>
        </p:txBody>
      </p:sp>
      <p:sp>
        <p:nvSpPr>
          <p:cNvPr id="4" name="Rectangle 9"/>
          <p:cNvSpPr txBox="1">
            <a:spLocks noRot="1" noChangeArrowheads="1"/>
          </p:cNvSpPr>
          <p:nvPr/>
        </p:nvSpPr>
        <p:spPr bwMode="auto">
          <a:xfrm>
            <a:off x="250825" y="2276475"/>
            <a:ext cx="8137525" cy="576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lnSpc>
                <a:spcPct val="80000"/>
              </a:lnSpc>
              <a:spcBef>
                <a:spcPct val="20000"/>
              </a:spcBef>
              <a:buFontTx/>
              <a:buChar char="•"/>
            </a:pPr>
            <a:r>
              <a:rPr lang="zh-CN" altLang="en-US" sz="2800" b="0">
                <a:latin typeface="华文新魏" charset="0"/>
                <a:ea typeface="华文新魏" charset="0"/>
                <a:cs typeface="华文新魏" charset="0"/>
              </a:rPr>
              <a:t>北京铁路地下直径线工程。</a:t>
            </a:r>
            <a:r>
              <a:rPr lang="en-US" altLang="zh-CN" sz="2800" b="0">
                <a:latin typeface="华文新魏" charset="0"/>
                <a:ea typeface="华文新魏" charset="0"/>
                <a:cs typeface="华文新魏" charset="0"/>
              </a:rPr>
              <a:t>2005</a:t>
            </a:r>
            <a:r>
              <a:rPr lang="zh-CN" altLang="en-US" sz="2800" b="0">
                <a:latin typeface="华文新魏" charset="0"/>
                <a:ea typeface="华文新魏" charset="0"/>
                <a:cs typeface="华文新魏" charset="0"/>
              </a:rPr>
              <a:t>年</a:t>
            </a:r>
            <a:r>
              <a:rPr lang="en-US" altLang="zh-CN" sz="2800" b="0">
                <a:latin typeface="华文新魏" charset="0"/>
                <a:ea typeface="华文新魏" charset="0"/>
                <a:cs typeface="华文新魏" charset="0"/>
              </a:rPr>
              <a:t>12</a:t>
            </a:r>
            <a:r>
              <a:rPr lang="zh-CN" altLang="en-US" sz="2800" b="0">
                <a:latin typeface="华文新魏" charset="0"/>
                <a:ea typeface="华文新魏" charset="0"/>
                <a:cs typeface="华文新魏" charset="0"/>
              </a:rPr>
              <a:t>月动工。</a:t>
            </a:r>
            <a:endParaRPr lang="en-US" altLang="zh-CN" sz="2800" b="0">
              <a:latin typeface="华文新魏" charset="0"/>
              <a:ea typeface="华文新魏" charset="0"/>
              <a:cs typeface="华文新魏" charset="0"/>
            </a:endParaRPr>
          </a:p>
        </p:txBody>
      </p:sp>
      <p:sp>
        <p:nvSpPr>
          <p:cNvPr id="5" name="矩形 4"/>
          <p:cNvSpPr>
            <a:spLocks noChangeArrowheads="1"/>
          </p:cNvSpPr>
          <p:nvPr/>
        </p:nvSpPr>
        <p:spPr bwMode="auto">
          <a:xfrm>
            <a:off x="250825" y="4849813"/>
            <a:ext cx="8424863" cy="450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1" hangingPunct="1">
              <a:lnSpc>
                <a:spcPct val="80000"/>
              </a:lnSpc>
              <a:spcBef>
                <a:spcPct val="20000"/>
              </a:spcBef>
              <a:buFontTx/>
              <a:buChar char="•"/>
            </a:pPr>
            <a:r>
              <a:rPr lang="zh-CN" altLang="en-US" sz="2800" b="0">
                <a:solidFill>
                  <a:srgbClr val="000000"/>
                </a:solidFill>
                <a:latin typeface="华文新魏" charset="0"/>
                <a:ea typeface="华文新魏" charset="0"/>
                <a:cs typeface="华文新魏" charset="0"/>
              </a:rPr>
              <a:t>北京现有地下工程中难度最大。</a:t>
            </a:r>
          </a:p>
        </p:txBody>
      </p:sp>
      <p:sp>
        <p:nvSpPr>
          <p:cNvPr id="6" name="矩形 5"/>
          <p:cNvSpPr>
            <a:spLocks noChangeArrowheads="1"/>
          </p:cNvSpPr>
          <p:nvPr/>
        </p:nvSpPr>
        <p:spPr bwMode="auto">
          <a:xfrm>
            <a:off x="250825" y="2784475"/>
            <a:ext cx="8208963" cy="433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1" hangingPunct="1">
              <a:lnSpc>
                <a:spcPct val="80000"/>
              </a:lnSpc>
              <a:spcBef>
                <a:spcPct val="20000"/>
              </a:spcBef>
              <a:buFontTx/>
              <a:buChar char="•"/>
            </a:pPr>
            <a:r>
              <a:rPr lang="zh-CN" altLang="en-US" sz="2800" b="0">
                <a:solidFill>
                  <a:srgbClr val="000000"/>
                </a:solidFill>
                <a:latin typeface="华文新魏" charset="0"/>
                <a:ea typeface="华文新魏" charset="0"/>
                <a:cs typeface="华文新魏" charset="0"/>
              </a:rPr>
              <a:t>计划</a:t>
            </a:r>
            <a:r>
              <a:rPr lang="en-US" altLang="zh-CN" sz="2800" b="0">
                <a:solidFill>
                  <a:srgbClr val="000000"/>
                </a:solidFill>
                <a:latin typeface="华文新魏" charset="0"/>
                <a:ea typeface="华文新魏" charset="0"/>
                <a:cs typeface="华文新魏" charset="0"/>
              </a:rPr>
              <a:t>2013</a:t>
            </a:r>
            <a:r>
              <a:rPr lang="zh-CN" altLang="en-US" sz="2800" b="0">
                <a:solidFill>
                  <a:srgbClr val="000000"/>
                </a:solidFill>
                <a:latin typeface="华文新魏" charset="0"/>
                <a:ea typeface="华文新魏" charset="0"/>
                <a:cs typeface="华文新魏" charset="0"/>
              </a:rPr>
              <a:t>年上半年投入运营。总投资</a:t>
            </a:r>
            <a:r>
              <a:rPr lang="en-US" altLang="zh-CN" sz="2800" b="0">
                <a:solidFill>
                  <a:srgbClr val="000000"/>
                </a:solidFill>
                <a:latin typeface="华文新魏" charset="0"/>
                <a:ea typeface="华文新魏" charset="0"/>
                <a:cs typeface="华文新魏" charset="0"/>
              </a:rPr>
              <a:t>40</a:t>
            </a:r>
            <a:r>
              <a:rPr lang="zh-CN" altLang="en-US" sz="2800" b="0">
                <a:solidFill>
                  <a:srgbClr val="000000"/>
                </a:solidFill>
                <a:latin typeface="华文新魏" charset="0"/>
                <a:ea typeface="华文新魏" charset="0"/>
                <a:cs typeface="华文新魏" charset="0"/>
              </a:rPr>
              <a:t>亿元。</a:t>
            </a:r>
          </a:p>
        </p:txBody>
      </p:sp>
      <p:sp>
        <p:nvSpPr>
          <p:cNvPr id="7" name="矩形 6"/>
          <p:cNvSpPr>
            <a:spLocks noChangeArrowheads="1"/>
          </p:cNvSpPr>
          <p:nvPr/>
        </p:nvSpPr>
        <p:spPr bwMode="auto">
          <a:xfrm>
            <a:off x="250825" y="5373688"/>
            <a:ext cx="8893175" cy="433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1" hangingPunct="1">
              <a:lnSpc>
                <a:spcPct val="80000"/>
              </a:lnSpc>
              <a:spcBef>
                <a:spcPct val="20000"/>
              </a:spcBef>
              <a:buFontTx/>
              <a:buChar char="•"/>
            </a:pPr>
            <a:r>
              <a:rPr lang="zh-CN" altLang="en-US" sz="2800" b="0">
                <a:solidFill>
                  <a:srgbClr val="000000"/>
                </a:solidFill>
                <a:latin typeface="华文新魏" charset="0"/>
                <a:ea typeface="华文新魏" charset="0"/>
                <a:cs typeface="华文新魏" charset="0"/>
              </a:rPr>
              <a:t>目前最危险的风险源已成功穿越，地铁运营未受影响。</a:t>
            </a:r>
          </a:p>
        </p:txBody>
      </p:sp>
      <p:sp>
        <p:nvSpPr>
          <p:cNvPr id="8" name="矩形 7"/>
          <p:cNvSpPr>
            <a:spLocks noChangeArrowheads="1"/>
          </p:cNvSpPr>
          <p:nvPr/>
        </p:nvSpPr>
        <p:spPr bwMode="auto">
          <a:xfrm>
            <a:off x="250825" y="3351213"/>
            <a:ext cx="8137525" cy="433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1" hangingPunct="1">
              <a:lnSpc>
                <a:spcPct val="80000"/>
              </a:lnSpc>
              <a:spcBef>
                <a:spcPct val="20000"/>
              </a:spcBef>
              <a:buFontTx/>
              <a:buChar char="•"/>
            </a:pPr>
            <a:r>
              <a:rPr lang="zh-CN" altLang="en-US" sz="2800" b="0">
                <a:solidFill>
                  <a:srgbClr val="000000"/>
                </a:solidFill>
                <a:latin typeface="华文新魏" charset="0"/>
                <a:ea typeface="华文新魏" charset="0"/>
                <a:cs typeface="华文新魏" charset="0"/>
              </a:rPr>
              <a:t>超大隧洞：   超</a:t>
            </a:r>
            <a:r>
              <a:rPr lang="en-US" altLang="zh-CN" sz="2800" b="0">
                <a:solidFill>
                  <a:srgbClr val="000000"/>
                </a:solidFill>
                <a:latin typeface="华文新魏" charset="0"/>
                <a:ea typeface="华文新魏" charset="0"/>
                <a:cs typeface="华文新魏" charset="0"/>
              </a:rPr>
              <a:t>10</a:t>
            </a:r>
            <a:r>
              <a:rPr lang="zh-CN" altLang="en-US" sz="2800" b="0">
                <a:solidFill>
                  <a:srgbClr val="000000"/>
                </a:solidFill>
                <a:latin typeface="华文新魏" charset="0"/>
                <a:ea typeface="华文新魏" charset="0"/>
                <a:cs typeface="华文新魏" charset="0"/>
              </a:rPr>
              <a:t>米、两列电气化列车双向行驶。</a:t>
            </a:r>
          </a:p>
        </p:txBody>
      </p:sp>
      <p:sp>
        <p:nvSpPr>
          <p:cNvPr id="9" name="椭圆 8"/>
          <p:cNvSpPr/>
          <p:nvPr/>
        </p:nvSpPr>
        <p:spPr bwMode="auto">
          <a:xfrm>
            <a:off x="2195513" y="3429000"/>
            <a:ext cx="215900" cy="215900"/>
          </a:xfrm>
          <a:prstGeom prst="ellipse">
            <a:avLst/>
          </a:prstGeom>
          <a:noFill/>
          <a:ln w="28575" cap="flat" cmpd="sng" algn="ctr">
            <a:solidFill>
              <a:schemeClr val="bg2">
                <a:lumMod val="50000"/>
              </a:schemeClr>
            </a:solidFill>
            <a:prstDash val="solid"/>
            <a:round/>
            <a:headEnd type="none" w="med" len="med"/>
            <a:tailEnd type="none" w="med" len="med"/>
          </a:ln>
          <a:effectLst/>
        </p:spPr>
        <p:txBody>
          <a:bodyPr>
            <a:spAutoFit/>
          </a:bodyPr>
          <a:lstStyle/>
          <a:p>
            <a:pPr eaLnBrk="1" hangingPunct="1">
              <a:spcBef>
                <a:spcPct val="50000"/>
              </a:spcBef>
              <a:defRPr/>
            </a:pPr>
            <a:endParaRPr kumimoji="1" lang="zh-CN" altLang="en-US" sz="2400" b="0">
              <a:solidFill>
                <a:srgbClr val="6666FF"/>
              </a:solidFill>
              <a:latin typeface="Times New Roman" pitchFamily="18" charset="0"/>
              <a:ea typeface="宋体" pitchFamily="2" charset="-122"/>
              <a:cs typeface="+mn-cs"/>
            </a:endParaRPr>
          </a:p>
        </p:txBody>
      </p:sp>
      <p:cxnSp>
        <p:nvCxnSpPr>
          <p:cNvPr id="10" name="直接连接符 9"/>
          <p:cNvCxnSpPr/>
          <p:nvPr/>
        </p:nvCxnSpPr>
        <p:spPr bwMode="auto">
          <a:xfrm rot="5400000">
            <a:off x="2124869" y="3356769"/>
            <a:ext cx="358775" cy="360363"/>
          </a:xfrm>
          <a:prstGeom prst="line">
            <a:avLst/>
          </a:prstGeom>
          <a:noFill/>
          <a:ln w="28575" cap="flat" cmpd="sng" algn="ctr">
            <a:solidFill>
              <a:schemeClr val="bg2">
                <a:lumMod val="50000"/>
              </a:schemeClr>
            </a:solidFill>
            <a:prstDash val="solid"/>
            <a:round/>
            <a:headEnd type="none" w="med" len="med"/>
            <a:tailEnd type="none" w="med" len="med"/>
          </a:ln>
          <a:effectLst/>
        </p:spPr>
      </p:cxnSp>
      <p:sp>
        <p:nvSpPr>
          <p:cNvPr id="11" name="矩形 10"/>
          <p:cNvSpPr>
            <a:spLocks noChangeArrowheads="1"/>
          </p:cNvSpPr>
          <p:nvPr/>
        </p:nvSpPr>
        <p:spPr bwMode="auto">
          <a:xfrm>
            <a:off x="250825" y="3914775"/>
            <a:ext cx="8569325" cy="860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1" hangingPunct="1">
              <a:lnSpc>
                <a:spcPct val="80000"/>
              </a:lnSpc>
              <a:spcBef>
                <a:spcPct val="20000"/>
              </a:spcBef>
              <a:buFontTx/>
              <a:buChar char="•"/>
            </a:pPr>
            <a:r>
              <a:rPr lang="zh-CN" altLang="en-US" sz="2800" b="0">
                <a:solidFill>
                  <a:srgbClr val="000000"/>
                </a:solidFill>
                <a:latin typeface="华文新魏" charset="0"/>
                <a:ea typeface="华文新魏" charset="0"/>
                <a:cs typeface="华文新魏" charset="0"/>
              </a:rPr>
              <a:t>全长</a:t>
            </a:r>
            <a:r>
              <a:rPr lang="en-US" altLang="zh-CN" sz="2800" b="0">
                <a:solidFill>
                  <a:srgbClr val="000000"/>
                </a:solidFill>
                <a:latin typeface="华文新魏" charset="0"/>
                <a:ea typeface="华文新魏" charset="0"/>
                <a:cs typeface="华文新魏" charset="0"/>
              </a:rPr>
              <a:t>9.15</a:t>
            </a:r>
            <a:r>
              <a:rPr lang="zh-CN" altLang="en-US" sz="2800" b="0">
                <a:solidFill>
                  <a:srgbClr val="000000"/>
                </a:solidFill>
                <a:latin typeface="华文新魏" charset="0"/>
                <a:ea typeface="华文新魏" charset="0"/>
                <a:cs typeface="华文新魏" charset="0"/>
              </a:rPr>
              <a:t>公里：出发</a:t>
            </a:r>
            <a:r>
              <a:rPr lang="en-US" altLang="zh-CN" sz="2800" b="0">
                <a:solidFill>
                  <a:srgbClr val="000000"/>
                </a:solidFill>
                <a:latin typeface="华文新魏" charset="0"/>
                <a:ea typeface="华文新魏" charset="0"/>
                <a:cs typeface="华文新魏" charset="0"/>
              </a:rPr>
              <a:t>-</a:t>
            </a:r>
            <a:r>
              <a:rPr lang="zh-CN" altLang="en-US" sz="2800" b="0">
                <a:solidFill>
                  <a:srgbClr val="000000"/>
                </a:solidFill>
                <a:latin typeface="华文新魏" charset="0"/>
                <a:ea typeface="华文新魏" charset="0"/>
                <a:cs typeface="华文新魏" charset="0"/>
              </a:rPr>
              <a:t>北京站，到达</a:t>
            </a:r>
            <a:r>
              <a:rPr lang="en-US" altLang="zh-CN" sz="2800" b="0">
                <a:solidFill>
                  <a:srgbClr val="000000"/>
                </a:solidFill>
                <a:latin typeface="华文新魏" charset="0"/>
                <a:ea typeface="华文新魏" charset="0"/>
                <a:cs typeface="华文新魏" charset="0"/>
              </a:rPr>
              <a:t>-</a:t>
            </a:r>
            <a:r>
              <a:rPr lang="zh-CN" altLang="en-US" sz="2800" b="0">
                <a:solidFill>
                  <a:srgbClr val="000000"/>
                </a:solidFill>
                <a:latin typeface="华文新魏" charset="0"/>
                <a:ea typeface="华文新魏" charset="0"/>
                <a:cs typeface="华文新魏" charset="0"/>
              </a:rPr>
              <a:t>北京西站。</a:t>
            </a:r>
            <a:endParaRPr lang="en-US" altLang="zh-CN" sz="2800" b="0">
              <a:solidFill>
                <a:srgbClr val="000000"/>
              </a:solidFill>
              <a:latin typeface="华文新魏" charset="0"/>
              <a:ea typeface="华文新魏" charset="0"/>
              <a:cs typeface="华文新魏" charset="0"/>
            </a:endParaRPr>
          </a:p>
          <a:p>
            <a:pPr eaLnBrk="1" hangingPunct="1">
              <a:lnSpc>
                <a:spcPct val="80000"/>
              </a:lnSpc>
              <a:spcBef>
                <a:spcPct val="20000"/>
              </a:spcBef>
            </a:pPr>
            <a:r>
              <a:rPr lang="en-US" altLang="zh-CN" sz="2800" b="0">
                <a:solidFill>
                  <a:srgbClr val="000000"/>
                </a:solidFill>
                <a:latin typeface="华文新魏" charset="0"/>
                <a:ea typeface="华文新魏" charset="0"/>
                <a:cs typeface="华文新魏" charset="0"/>
              </a:rPr>
              <a:t>  </a:t>
            </a:r>
            <a:r>
              <a:rPr lang="zh-CN" altLang="en-US" sz="2800" b="0">
                <a:solidFill>
                  <a:srgbClr val="000000"/>
                </a:solidFill>
                <a:latin typeface="华文新魏" charset="0"/>
                <a:ea typeface="华文新魏" charset="0"/>
                <a:cs typeface="华文新魏" charset="0"/>
              </a:rPr>
              <a:t>使两站间数千万旅客地下换乘，缓解地面交通压力。</a:t>
            </a:r>
          </a:p>
        </p:txBody>
      </p:sp>
      <p:sp>
        <p:nvSpPr>
          <p:cNvPr id="12" name="矩形 11"/>
          <p:cNvSpPr>
            <a:spLocks noChangeArrowheads="1"/>
          </p:cNvSpPr>
          <p:nvPr/>
        </p:nvSpPr>
        <p:spPr bwMode="auto">
          <a:xfrm>
            <a:off x="250825" y="5857875"/>
            <a:ext cx="8642350" cy="774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1" hangingPunct="1">
              <a:lnSpc>
                <a:spcPct val="80000"/>
              </a:lnSpc>
              <a:spcBef>
                <a:spcPct val="20000"/>
              </a:spcBef>
              <a:buFontTx/>
              <a:buChar char="•"/>
            </a:pPr>
            <a:r>
              <a:rPr lang="zh-CN" altLang="en-US" sz="2800" b="0">
                <a:solidFill>
                  <a:srgbClr val="000000"/>
                </a:solidFill>
                <a:latin typeface="华文新魏" charset="0"/>
                <a:ea typeface="华文新魏" charset="0"/>
                <a:cs typeface="华文新魏" charset="0"/>
              </a:rPr>
              <a:t>已掘进</a:t>
            </a:r>
            <a:r>
              <a:rPr lang="en-US" altLang="zh-CN" sz="2800" b="0">
                <a:solidFill>
                  <a:srgbClr val="000000"/>
                </a:solidFill>
                <a:latin typeface="华文新魏" charset="0"/>
                <a:ea typeface="华文新魏" charset="0"/>
                <a:cs typeface="华文新魏" charset="0"/>
              </a:rPr>
              <a:t>1800</a:t>
            </a:r>
            <a:r>
              <a:rPr lang="zh-CN" altLang="en-US" sz="2800" b="0">
                <a:solidFill>
                  <a:srgbClr val="000000"/>
                </a:solidFill>
                <a:latin typeface="华文新魏" charset="0"/>
                <a:ea typeface="华文新魏" charset="0"/>
                <a:cs typeface="华文新魏" charset="0"/>
              </a:rPr>
              <a:t>多米，创造了日掘进</a:t>
            </a:r>
            <a:r>
              <a:rPr lang="en-US" altLang="zh-CN" sz="2800" b="0">
                <a:solidFill>
                  <a:srgbClr val="000000"/>
                </a:solidFill>
                <a:latin typeface="华文新魏" charset="0"/>
                <a:ea typeface="华文新魏" charset="0"/>
                <a:cs typeface="华文新魏" charset="0"/>
              </a:rPr>
              <a:t>11.4</a:t>
            </a:r>
            <a:r>
              <a:rPr lang="zh-CN" altLang="en-US" sz="2800" b="0">
                <a:solidFill>
                  <a:srgbClr val="000000"/>
                </a:solidFill>
                <a:latin typeface="华文新魏" charset="0"/>
                <a:ea typeface="华文新魏" charset="0"/>
                <a:cs typeface="华文新魏" charset="0"/>
              </a:rPr>
              <a:t>米、月掘进</a:t>
            </a:r>
            <a:r>
              <a:rPr lang="en-US" altLang="zh-CN" sz="2800" b="0">
                <a:solidFill>
                  <a:srgbClr val="000000"/>
                </a:solidFill>
                <a:latin typeface="华文新魏" charset="0"/>
                <a:ea typeface="华文新魏" charset="0"/>
                <a:cs typeface="华文新魏" charset="0"/>
              </a:rPr>
              <a:t>205</a:t>
            </a:r>
            <a:r>
              <a:rPr lang="zh-CN" altLang="en-US" sz="2800" b="0">
                <a:solidFill>
                  <a:srgbClr val="000000"/>
                </a:solidFill>
                <a:latin typeface="华文新魏" charset="0"/>
                <a:ea typeface="华文新魏" charset="0"/>
                <a:cs typeface="华文新魏" charset="0"/>
              </a:rPr>
              <a:t>米的国内城市繁华地段大直径盾构掘进的最高纪录。</a:t>
            </a:r>
          </a:p>
        </p:txBody>
      </p:sp>
      <p:pic>
        <p:nvPicPr>
          <p:cNvPr id="13" name="Picture 2" descr="D:\研究生\工程经济学助教\ppt\大型盾构机.jp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500563" y="1989138"/>
            <a:ext cx="4495800" cy="3867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3"/>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animBg="1"/>
      <p:bldP spid="11" grpId="0"/>
      <p:bldP spid="1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8"/>
          <p:cNvSpPr>
            <a:spLocks noRot="1" noChangeArrowheads="1"/>
          </p:cNvSpPr>
          <p:nvPr/>
        </p:nvSpPr>
        <p:spPr bwMode="auto">
          <a:xfrm>
            <a:off x="2268538" y="188913"/>
            <a:ext cx="4175125" cy="9985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algn="dist" eaLnBrk="1" hangingPunct="1">
              <a:lnSpc>
                <a:spcPct val="90000"/>
              </a:lnSpc>
              <a:spcBef>
                <a:spcPct val="50000"/>
              </a:spcBef>
            </a:pPr>
            <a:r>
              <a:rPr lang="zh-CN" altLang="en-US" sz="4800">
                <a:solidFill>
                  <a:srgbClr val="990000"/>
                </a:solidFill>
                <a:latin typeface="方正舒体" charset="0"/>
                <a:ea typeface="方正舒体" charset="0"/>
                <a:cs typeface="方正舒体" charset="0"/>
              </a:rPr>
              <a:t>点击时事</a:t>
            </a:r>
            <a:endParaRPr lang="en-US" altLang="zh-CN" sz="4800">
              <a:solidFill>
                <a:srgbClr val="990000"/>
              </a:solidFill>
              <a:latin typeface="方正舒体" charset="0"/>
              <a:ea typeface="方正舒体" charset="0"/>
              <a:cs typeface="方正舒体" charset="0"/>
            </a:endParaRPr>
          </a:p>
        </p:txBody>
      </p:sp>
      <p:sp>
        <p:nvSpPr>
          <p:cNvPr id="3" name="Rectangle 9"/>
          <p:cNvSpPr txBox="1">
            <a:spLocks noRot="1" noChangeArrowheads="1"/>
          </p:cNvSpPr>
          <p:nvPr/>
        </p:nvSpPr>
        <p:spPr>
          <a:xfrm>
            <a:off x="142875" y="1484313"/>
            <a:ext cx="8678863" cy="587375"/>
          </a:xfrm>
          <a:prstGeom prst="rect">
            <a:avLst/>
          </a:prstGeom>
          <a:noFill/>
        </p:spPr>
        <p:txBody>
          <a:bodyPr/>
          <a:lstStyle>
            <a:lvl1pPr marL="631825" indent="-4572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spcBef>
                <a:spcPct val="20000"/>
              </a:spcBef>
              <a:buFont typeface="Wingdings" charset="0"/>
              <a:buChar char="l"/>
            </a:pPr>
            <a:r>
              <a:rPr lang="zh-CN" altLang="en-US" sz="2800">
                <a:solidFill>
                  <a:srgbClr val="000000"/>
                </a:solidFill>
                <a:ea typeface="宋体" charset="0"/>
                <a:cs typeface="宋体" charset="0"/>
              </a:rPr>
              <a:t>地下水污染防治项目启动 环保业享</a:t>
            </a:r>
            <a:r>
              <a:rPr lang="en-US" altLang="zh-CN" sz="2800">
                <a:solidFill>
                  <a:srgbClr val="000000"/>
                </a:solidFill>
                <a:ea typeface="宋体" charset="0"/>
                <a:cs typeface="宋体" charset="0"/>
              </a:rPr>
              <a:t>350</a:t>
            </a:r>
            <a:r>
              <a:rPr lang="zh-CN" altLang="en-US" sz="2800">
                <a:solidFill>
                  <a:srgbClr val="000000"/>
                </a:solidFill>
                <a:ea typeface="宋体" charset="0"/>
                <a:cs typeface="宋体" charset="0"/>
              </a:rPr>
              <a:t>亿蛋糕</a:t>
            </a:r>
          </a:p>
        </p:txBody>
      </p:sp>
      <p:sp>
        <p:nvSpPr>
          <p:cNvPr id="4" name="矩形 3"/>
          <p:cNvSpPr/>
          <p:nvPr/>
        </p:nvSpPr>
        <p:spPr>
          <a:xfrm>
            <a:off x="142875" y="2071688"/>
            <a:ext cx="8715375" cy="1528762"/>
          </a:xfrm>
          <a:prstGeom prst="rect">
            <a:avLst/>
          </a:prstGeom>
        </p:spPr>
        <p:txBody>
          <a:bodyPr>
            <a:spAutoFit/>
          </a:bodyPr>
          <a:lstStyle/>
          <a:p>
            <a:pPr marL="177800" indent="-177800" eaLnBrk="1" hangingPunct="1">
              <a:lnSpc>
                <a:spcPts val="2500"/>
              </a:lnSpc>
              <a:spcBef>
                <a:spcPts val="600"/>
              </a:spcBef>
              <a:buFont typeface="Wingdings" charset="0"/>
              <a:buChar char="Ø"/>
            </a:pPr>
            <a:r>
              <a:rPr lang="en-US" altLang="zh-CN" sz="2600">
                <a:solidFill>
                  <a:srgbClr val="000000"/>
                </a:solidFill>
                <a:latin typeface="华文新魏" charset="0"/>
                <a:ea typeface="华文新魏" charset="0"/>
                <a:cs typeface="华文新魏" charset="0"/>
              </a:rPr>
              <a:t>10</a:t>
            </a:r>
            <a:r>
              <a:rPr lang="zh-CN" altLang="en-US" sz="2600">
                <a:solidFill>
                  <a:srgbClr val="000000"/>
                </a:solidFill>
                <a:latin typeface="华文新魏" charset="0"/>
                <a:ea typeface="华文新魏" charset="0"/>
                <a:cs typeface="华文新魏" charset="0"/>
              </a:rPr>
              <a:t>月</a:t>
            </a:r>
            <a:r>
              <a:rPr lang="en-US" altLang="zh-CN" sz="2600">
                <a:solidFill>
                  <a:srgbClr val="000000"/>
                </a:solidFill>
                <a:latin typeface="华文新魏" charset="0"/>
                <a:ea typeface="华文新魏" charset="0"/>
                <a:cs typeface="华文新魏" charset="0"/>
              </a:rPr>
              <a:t>28</a:t>
            </a:r>
            <a:r>
              <a:rPr lang="zh-CN" altLang="en-US" sz="2600">
                <a:solidFill>
                  <a:srgbClr val="000000"/>
                </a:solidFill>
                <a:latin typeface="华文新魏" charset="0"/>
                <a:ea typeface="华文新魏" charset="0"/>
                <a:cs typeface="华文新魏" charset="0"/>
              </a:rPr>
              <a:t>日，环保部、国土资源部与水利部发布</a:t>
            </a:r>
            <a:r>
              <a:rPr lang="en-US" altLang="zh-CN" sz="2600">
                <a:solidFill>
                  <a:srgbClr val="000000"/>
                </a:solidFill>
                <a:latin typeface="华文新魏" charset="0"/>
                <a:ea typeface="华文新魏" charset="0"/>
                <a:cs typeface="华文新魏" charset="0"/>
              </a:rPr>
              <a:t>《</a:t>
            </a:r>
            <a:r>
              <a:rPr lang="zh-CN" altLang="en-US" sz="2600">
                <a:solidFill>
                  <a:srgbClr val="000000"/>
                </a:solidFill>
                <a:latin typeface="华文新魏" charset="0"/>
                <a:ea typeface="华文新魏" charset="0"/>
                <a:cs typeface="华文新魏" charset="0"/>
              </a:rPr>
              <a:t>全国地下水污染防治规划</a:t>
            </a:r>
            <a:r>
              <a:rPr lang="en-US" altLang="zh-CN" sz="2600">
                <a:solidFill>
                  <a:srgbClr val="000000"/>
                </a:solidFill>
                <a:latin typeface="华文新魏" charset="0"/>
                <a:ea typeface="华文新魏" charset="0"/>
                <a:cs typeface="华文新魏" charset="0"/>
              </a:rPr>
              <a:t>》</a:t>
            </a:r>
          </a:p>
          <a:p>
            <a:pPr marL="177800" indent="-177800" eaLnBrk="1" hangingPunct="1">
              <a:lnSpc>
                <a:spcPts val="2500"/>
              </a:lnSpc>
              <a:spcBef>
                <a:spcPts val="600"/>
              </a:spcBef>
              <a:buFont typeface="Arial" charset="0"/>
              <a:buChar char="•"/>
            </a:pPr>
            <a:r>
              <a:rPr lang="zh-CN" altLang="en-US" sz="2600">
                <a:solidFill>
                  <a:srgbClr val="000000"/>
                </a:solidFill>
                <a:latin typeface="华文新魏" charset="0"/>
                <a:ea typeface="华文新魏" charset="0"/>
                <a:cs typeface="华文新魏" charset="0"/>
              </a:rPr>
              <a:t>未来地下水污染防治：</a:t>
            </a:r>
            <a:r>
              <a:rPr lang="en-US" altLang="zh-CN" sz="2600">
                <a:solidFill>
                  <a:srgbClr val="000000"/>
                </a:solidFill>
                <a:latin typeface="华文新魏" charset="0"/>
                <a:ea typeface="华文新魏" charset="0"/>
                <a:cs typeface="华文新魏" charset="0"/>
              </a:rPr>
              <a:t>6</a:t>
            </a:r>
            <a:r>
              <a:rPr lang="zh-CN" altLang="en-US" sz="2600">
                <a:solidFill>
                  <a:srgbClr val="000000"/>
                </a:solidFill>
                <a:latin typeface="华文新魏" charset="0"/>
                <a:ea typeface="华文新魏" charset="0"/>
                <a:cs typeface="华文新魏" charset="0"/>
              </a:rPr>
              <a:t>类项目、总投资</a:t>
            </a:r>
            <a:r>
              <a:rPr lang="en-US" altLang="zh-CN" sz="2600">
                <a:solidFill>
                  <a:srgbClr val="000000"/>
                </a:solidFill>
                <a:latin typeface="华文新魏" charset="0"/>
                <a:ea typeface="华文新魏" charset="0"/>
                <a:cs typeface="华文新魏" charset="0"/>
              </a:rPr>
              <a:t>346.6</a:t>
            </a:r>
            <a:r>
              <a:rPr lang="zh-CN" altLang="en-US" sz="2600">
                <a:solidFill>
                  <a:srgbClr val="000000"/>
                </a:solidFill>
                <a:latin typeface="华文新魏" charset="0"/>
                <a:ea typeface="华文新魏" charset="0"/>
                <a:cs typeface="华文新魏" charset="0"/>
              </a:rPr>
              <a:t>亿元</a:t>
            </a:r>
            <a:endParaRPr lang="en-US" altLang="zh-CN" sz="2600">
              <a:solidFill>
                <a:srgbClr val="000000"/>
              </a:solidFill>
              <a:latin typeface="华文新魏" charset="0"/>
              <a:ea typeface="华文新魏" charset="0"/>
              <a:cs typeface="华文新魏" charset="0"/>
            </a:endParaRPr>
          </a:p>
          <a:p>
            <a:pPr marL="177800" indent="-177800" eaLnBrk="1" hangingPunct="1">
              <a:lnSpc>
                <a:spcPts val="2500"/>
              </a:lnSpc>
              <a:spcBef>
                <a:spcPts val="600"/>
              </a:spcBef>
              <a:buFont typeface="Arial" charset="0"/>
              <a:buChar char="•"/>
            </a:pPr>
            <a:r>
              <a:rPr lang="zh-CN" altLang="en-US" sz="2600">
                <a:solidFill>
                  <a:srgbClr val="000000"/>
                </a:solidFill>
                <a:latin typeface="华文新魏" charset="0"/>
                <a:ea typeface="华文新魏" charset="0"/>
                <a:cs typeface="华文新魏" charset="0"/>
              </a:rPr>
              <a:t>地下水修复市场将成为环保产业新的增长点</a:t>
            </a:r>
          </a:p>
        </p:txBody>
      </p:sp>
      <p:sp>
        <p:nvSpPr>
          <p:cNvPr id="5" name="矩形 4"/>
          <p:cNvSpPr/>
          <p:nvPr/>
        </p:nvSpPr>
        <p:spPr>
          <a:xfrm>
            <a:off x="142875" y="3643313"/>
            <a:ext cx="8715375" cy="425450"/>
          </a:xfrm>
          <a:prstGeom prst="rect">
            <a:avLst/>
          </a:prstGeom>
        </p:spPr>
        <p:txBody>
          <a:bodyPr>
            <a:spAutoFit/>
          </a:bodyPr>
          <a:lstStyle/>
          <a:p>
            <a:pPr marL="177800" indent="-177800" eaLnBrk="1" hangingPunct="1">
              <a:lnSpc>
                <a:spcPts val="2500"/>
              </a:lnSpc>
              <a:spcBef>
                <a:spcPts val="600"/>
              </a:spcBef>
              <a:buFont typeface="Wingdings" charset="0"/>
              <a:buChar char="Ø"/>
            </a:pPr>
            <a:r>
              <a:rPr lang="zh-CN" altLang="en-US" sz="2600">
                <a:solidFill>
                  <a:srgbClr val="000000"/>
                </a:solidFill>
                <a:latin typeface="华文新魏" charset="0"/>
                <a:ea typeface="华文新魏" charset="0"/>
                <a:cs typeface="华文新魏" charset="0"/>
              </a:rPr>
              <a:t>三年遏制地下水恶化</a:t>
            </a:r>
          </a:p>
        </p:txBody>
      </p:sp>
      <p:sp>
        <p:nvSpPr>
          <p:cNvPr id="6" name="矩形 5"/>
          <p:cNvSpPr/>
          <p:nvPr/>
        </p:nvSpPr>
        <p:spPr>
          <a:xfrm>
            <a:off x="214313" y="4113213"/>
            <a:ext cx="8572500" cy="2246312"/>
          </a:xfrm>
          <a:prstGeom prst="rect">
            <a:avLst/>
          </a:prstGeom>
        </p:spPr>
        <p:txBody>
          <a:bodyPr>
            <a:spAutoFit/>
          </a:bodyPr>
          <a:lstStyle/>
          <a:p>
            <a:pPr marL="450850" indent="-273050" eaLnBrk="1" hangingPunct="1">
              <a:lnSpc>
                <a:spcPts val="2500"/>
              </a:lnSpc>
              <a:spcBef>
                <a:spcPts val="600"/>
              </a:spcBef>
              <a:buFont typeface="Arial" charset="0"/>
              <a:buChar char="•"/>
            </a:pPr>
            <a:r>
              <a:rPr lang="zh-CN" altLang="en-US" sz="2600">
                <a:solidFill>
                  <a:srgbClr val="000000"/>
                </a:solidFill>
                <a:latin typeface="华文新魏" charset="0"/>
                <a:ea typeface="华文新魏" charset="0"/>
                <a:cs typeface="华文新魏" charset="0"/>
              </a:rPr>
              <a:t>到</a:t>
            </a:r>
            <a:r>
              <a:rPr lang="en-US" altLang="zh-CN" sz="2600">
                <a:solidFill>
                  <a:srgbClr val="000000"/>
                </a:solidFill>
                <a:latin typeface="华文新魏" charset="0"/>
                <a:ea typeface="华文新魏" charset="0"/>
                <a:cs typeface="华文新魏" charset="0"/>
              </a:rPr>
              <a:t>2015</a:t>
            </a:r>
            <a:r>
              <a:rPr lang="zh-CN" altLang="en-US" sz="2600">
                <a:solidFill>
                  <a:srgbClr val="000000"/>
                </a:solidFill>
                <a:latin typeface="华文新魏" charset="0"/>
                <a:ea typeface="华文新魏" charset="0"/>
                <a:cs typeface="华文新魏" charset="0"/>
              </a:rPr>
              <a:t>年，我国将基本掌握地下水污染状况，初步控制地下水污染源，遏制地下水水质恶化趋势，全面建立地下水环境监管体系</a:t>
            </a:r>
            <a:endParaRPr lang="en-US" altLang="zh-CN" sz="2600">
              <a:solidFill>
                <a:srgbClr val="000000"/>
              </a:solidFill>
              <a:latin typeface="华文新魏" charset="0"/>
              <a:ea typeface="华文新魏" charset="0"/>
              <a:cs typeface="华文新魏" charset="0"/>
            </a:endParaRPr>
          </a:p>
          <a:p>
            <a:pPr marL="450850" indent="-273050" eaLnBrk="1" hangingPunct="1">
              <a:lnSpc>
                <a:spcPts val="2500"/>
              </a:lnSpc>
              <a:spcBef>
                <a:spcPts val="600"/>
              </a:spcBef>
              <a:buFont typeface="Arial" charset="0"/>
              <a:buChar char="•"/>
            </a:pPr>
            <a:r>
              <a:rPr lang="zh-CN" altLang="en-US" sz="2600">
                <a:solidFill>
                  <a:srgbClr val="000000"/>
                </a:solidFill>
                <a:latin typeface="华文新魏" charset="0"/>
                <a:ea typeface="华文新魏" charset="0"/>
                <a:cs typeface="华文新魏" charset="0"/>
              </a:rPr>
              <a:t>到</a:t>
            </a:r>
            <a:r>
              <a:rPr lang="en-US" altLang="zh-CN" sz="2600">
                <a:solidFill>
                  <a:srgbClr val="000000"/>
                </a:solidFill>
                <a:latin typeface="华文新魏" charset="0"/>
                <a:ea typeface="华文新魏" charset="0"/>
                <a:cs typeface="华文新魏" charset="0"/>
              </a:rPr>
              <a:t>2020</a:t>
            </a:r>
            <a:r>
              <a:rPr lang="zh-CN" altLang="en-US" sz="2600">
                <a:solidFill>
                  <a:srgbClr val="000000"/>
                </a:solidFill>
                <a:latin typeface="华文新魏" charset="0"/>
                <a:ea typeface="华文新魏" charset="0"/>
                <a:cs typeface="华文新魏" charset="0"/>
              </a:rPr>
              <a:t>年，地下水污染防治体系基本建成</a:t>
            </a:r>
            <a:endParaRPr lang="en-US" altLang="zh-CN" sz="2600">
              <a:solidFill>
                <a:srgbClr val="000000"/>
              </a:solidFill>
              <a:latin typeface="华文新魏" charset="0"/>
              <a:ea typeface="华文新魏" charset="0"/>
              <a:cs typeface="华文新魏" charset="0"/>
            </a:endParaRPr>
          </a:p>
          <a:p>
            <a:pPr marL="450850" indent="-273050" eaLnBrk="1" hangingPunct="1">
              <a:lnSpc>
                <a:spcPts val="2500"/>
              </a:lnSpc>
              <a:spcBef>
                <a:spcPts val="600"/>
              </a:spcBef>
              <a:buFont typeface="Arial" charset="0"/>
              <a:buChar char="•"/>
            </a:pPr>
            <a:r>
              <a:rPr lang="zh-CN" altLang="en-US" sz="2600">
                <a:solidFill>
                  <a:srgbClr val="000000"/>
                </a:solidFill>
                <a:latin typeface="华文新魏" charset="0"/>
                <a:ea typeface="华文新魏" charset="0"/>
                <a:cs typeface="华文新魏" charset="0"/>
              </a:rPr>
              <a:t>现状：全国三分之二的城镇以地下水为主要水源</a:t>
            </a:r>
            <a:endParaRPr lang="en-US" altLang="zh-CN" sz="2600">
              <a:solidFill>
                <a:srgbClr val="000000"/>
              </a:solidFill>
              <a:latin typeface="华文新魏" charset="0"/>
              <a:ea typeface="华文新魏" charset="0"/>
              <a:cs typeface="华文新魏" charset="0"/>
            </a:endParaRPr>
          </a:p>
          <a:p>
            <a:pPr marL="450850" indent="-273050" eaLnBrk="1" hangingPunct="1">
              <a:lnSpc>
                <a:spcPts val="2500"/>
              </a:lnSpc>
              <a:spcBef>
                <a:spcPts val="600"/>
              </a:spcBef>
              <a:buFont typeface="Arial" charset="0"/>
              <a:buChar char="•"/>
            </a:pPr>
            <a:r>
              <a:rPr lang="zh-CN" altLang="en-US" sz="2600">
                <a:solidFill>
                  <a:srgbClr val="000000"/>
                </a:solidFill>
                <a:latin typeface="华文新魏" charset="0"/>
                <a:ea typeface="华文新魏" charset="0"/>
                <a:cs typeface="华文新魏" charset="0"/>
              </a:rPr>
              <a:t>严重性：目前地下水超采面积达</a:t>
            </a:r>
            <a:r>
              <a:rPr lang="en-US" altLang="zh-CN" sz="2600">
                <a:solidFill>
                  <a:srgbClr val="000000"/>
                </a:solidFill>
                <a:latin typeface="华文新魏" charset="0"/>
                <a:ea typeface="华文新魏" charset="0"/>
                <a:cs typeface="华文新魏" charset="0"/>
              </a:rPr>
              <a:t>19</a:t>
            </a:r>
            <a:r>
              <a:rPr lang="zh-CN" altLang="en-US" sz="2600">
                <a:solidFill>
                  <a:srgbClr val="000000"/>
                </a:solidFill>
                <a:latin typeface="华文新魏" charset="0"/>
                <a:ea typeface="华文新魏" charset="0"/>
                <a:cs typeface="华文新魏" charset="0"/>
              </a:rPr>
              <a:t>万平方公里</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par>
                          <p:cTn id="23" fill="hold" nodeType="afterGroup">
                            <p:stCondLst>
                              <p:cond delay="0"/>
                            </p:stCondLst>
                            <p:childTnLst>
                              <p:par>
                                <p:cTn id="24" presetID="1" presetClass="entr" presetSubtype="0" fill="hold" nodeType="afterEffect">
                                  <p:stCondLst>
                                    <p:cond delay="0"/>
                                  </p:stCondLst>
                                  <p:childTnLst>
                                    <p:set>
                                      <p:cBhvr>
                                        <p:cTn id="25"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6">
                                            <p:txEl>
                                              <p:pRg st="2" end="2"/>
                                            </p:txEl>
                                          </p:spTgt>
                                        </p:tgtEl>
                                        <p:attrNameLst>
                                          <p:attrName>style.visibility</p:attrName>
                                        </p:attrNameLst>
                                      </p:cBhvr>
                                      <p:to>
                                        <p:strVal val="visible"/>
                                      </p:to>
                                    </p:set>
                                  </p:childTnLst>
                                </p:cTn>
                              </p:par>
                            </p:childTnLst>
                          </p:cTn>
                        </p:par>
                        <p:par>
                          <p:cTn id="30" fill="hold" nodeType="afterGroup">
                            <p:stCondLst>
                              <p:cond delay="0"/>
                            </p:stCondLst>
                            <p:childTnLst>
                              <p:par>
                                <p:cTn id="31" presetID="1" presetClass="entr" presetSubtype="0" fill="hold" nodeType="after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4"/>
          <p:cNvPicPr>
            <a:picLocks noChangeAspect="1" noChangeArrowheads="1"/>
          </p:cNvPicPr>
          <p:nvPr/>
        </p:nvPicPr>
        <p:blipFill>
          <a:blip r:embed="rId2" cstate="email">
            <a:extLst>
              <a:ext uri="{28A0092B-C50C-407E-A947-70E740481C1C}">
                <a14:useLocalDpi xmlns:a14="http://schemas.microsoft.com/office/drawing/2010/main" val="0"/>
              </a:ext>
            </a:extLst>
          </a:blip>
          <a:srcRect l="12195" t="19051" r="13997" b="19762"/>
          <a:stretch>
            <a:fillRect/>
          </a:stretch>
        </p:blipFill>
        <p:spPr bwMode="auto">
          <a:xfrm>
            <a:off x="0" y="765175"/>
            <a:ext cx="9144000" cy="5013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pic>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4"/>
          <p:cNvSpPr>
            <a:spLocks noGrp="1" noRot="1" noChangeArrowheads="1"/>
          </p:cNvSpPr>
          <p:nvPr>
            <p:ph type="title"/>
          </p:nvPr>
        </p:nvSpPr>
        <p:spPr>
          <a:xfrm>
            <a:off x="301625" y="685800"/>
            <a:ext cx="8540750" cy="1143000"/>
          </a:xfrm>
          <a:noFill/>
          <a:extLst>
            <a:ext uri="{909E8E84-426E-40dd-AFC4-6F175D3DCCD1}">
              <a14:hiddenFill xmlns:a14="http://schemas.microsoft.com/office/drawing/2010/main" xmlns="">
                <a:solidFill>
                  <a:schemeClr val="tx2"/>
                </a:solidFill>
              </a14:hiddenFill>
            </a:ext>
          </a:extLst>
        </p:spPr>
        <p:txBody>
          <a:bodyPr/>
          <a:lstStyle/>
          <a:p>
            <a:pPr eaLnBrk="1" hangingPunct="1"/>
            <a:endParaRPr lang="zh-CN" altLang="en-US">
              <a:latin typeface="Arial" charset="0"/>
              <a:ea typeface="楷体_GB2312" charset="0"/>
              <a:cs typeface="楷体_GB2312" charset="0"/>
            </a:endParaRPr>
          </a:p>
        </p:txBody>
      </p:sp>
      <p:sp>
        <p:nvSpPr>
          <p:cNvPr id="107523" name="Rectangle 5"/>
          <p:cNvSpPr>
            <a:spLocks noGrp="1" noRot="1" noChangeArrowheads="1"/>
          </p:cNvSpPr>
          <p:nvPr>
            <p:ph type="body" idx="1"/>
          </p:nvPr>
        </p:nvSpPr>
        <p:spPr>
          <a:xfrm>
            <a:off x="304800" y="1981200"/>
            <a:ext cx="8540750" cy="3886200"/>
          </a:xfrm>
          <a:noFill/>
          <a:extLst>
            <a:ext uri="{909E8E84-426E-40dd-AFC4-6F175D3DCCD1}">
              <a14:hiddenFill xmlns:a14="http://schemas.microsoft.com/office/drawing/2010/main" xmlns="">
                <a:solidFill>
                  <a:srgbClr val="FFFFFF"/>
                </a:solidFill>
              </a14:hiddenFill>
            </a:ext>
          </a:extLst>
        </p:spPr>
        <p:txBody>
          <a:bodyPr/>
          <a:lstStyle/>
          <a:p>
            <a:pPr eaLnBrk="1" hangingPunct="1"/>
            <a:endParaRPr lang="zh-CN" altLang="en-US">
              <a:latin typeface="Arial" charset="0"/>
              <a:ea typeface="宋体" charset="0"/>
            </a:endParaRPr>
          </a:p>
        </p:txBody>
      </p:sp>
      <p:pic>
        <p:nvPicPr>
          <p:cNvPr id="107524"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l="17101" t="7207" r="15396" b="8554"/>
          <a:stretch>
            <a:fillRect/>
          </a:stretch>
        </p:blipFill>
        <p:spPr bwMode="auto">
          <a:xfrm>
            <a:off x="0" y="-171450"/>
            <a:ext cx="9540875" cy="7442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pic>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4"/>
          <p:cNvSpPr>
            <a:spLocks noGrp="1" noRot="1" noChangeArrowheads="1"/>
          </p:cNvSpPr>
          <p:nvPr>
            <p:ph type="title"/>
          </p:nvPr>
        </p:nvSpPr>
        <p:spPr>
          <a:xfrm>
            <a:off x="301625" y="685800"/>
            <a:ext cx="8540750" cy="1143000"/>
          </a:xfrm>
          <a:noFill/>
          <a:extLst>
            <a:ext uri="{909E8E84-426E-40dd-AFC4-6F175D3DCCD1}">
              <a14:hiddenFill xmlns:a14="http://schemas.microsoft.com/office/drawing/2010/main" xmlns="">
                <a:solidFill>
                  <a:schemeClr val="tx2"/>
                </a:solidFill>
              </a14:hiddenFill>
            </a:ext>
          </a:extLst>
        </p:spPr>
        <p:txBody>
          <a:bodyPr/>
          <a:lstStyle/>
          <a:p>
            <a:pPr eaLnBrk="1" hangingPunct="1"/>
            <a:endParaRPr lang="zh-CN" altLang="en-US">
              <a:latin typeface="Arial" charset="0"/>
              <a:ea typeface="楷体_GB2312" charset="0"/>
              <a:cs typeface="楷体_GB2312" charset="0"/>
            </a:endParaRPr>
          </a:p>
        </p:txBody>
      </p:sp>
      <p:sp>
        <p:nvSpPr>
          <p:cNvPr id="108547" name="Rectangle 5"/>
          <p:cNvSpPr>
            <a:spLocks noGrp="1" noRot="1" noChangeArrowheads="1"/>
          </p:cNvSpPr>
          <p:nvPr>
            <p:ph type="body" idx="1"/>
          </p:nvPr>
        </p:nvSpPr>
        <p:spPr>
          <a:xfrm>
            <a:off x="304800" y="1981200"/>
            <a:ext cx="8540750" cy="3886200"/>
          </a:xfrm>
          <a:noFill/>
          <a:extLst>
            <a:ext uri="{909E8E84-426E-40dd-AFC4-6F175D3DCCD1}">
              <a14:hiddenFill xmlns:a14="http://schemas.microsoft.com/office/drawing/2010/main" xmlns="">
                <a:solidFill>
                  <a:srgbClr val="FFFFFF"/>
                </a:solidFill>
              </a14:hiddenFill>
            </a:ext>
          </a:extLst>
        </p:spPr>
        <p:txBody>
          <a:bodyPr/>
          <a:lstStyle/>
          <a:p>
            <a:pPr eaLnBrk="1" hangingPunct="1"/>
            <a:endParaRPr lang="zh-CN" altLang="en-US">
              <a:latin typeface="Arial" charset="0"/>
              <a:ea typeface="宋体" charset="0"/>
            </a:endParaRPr>
          </a:p>
        </p:txBody>
      </p:sp>
      <p:pic>
        <p:nvPicPr>
          <p:cNvPr id="108548"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l="7695" t="3204" r="7695" b="6804"/>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pic>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61" name="Text Box 9"/>
          <p:cNvSpPr txBox="1">
            <a:spLocks noChangeArrowheads="1"/>
          </p:cNvSpPr>
          <p:nvPr/>
        </p:nvSpPr>
        <p:spPr bwMode="auto">
          <a:xfrm>
            <a:off x="1811338" y="2825750"/>
            <a:ext cx="5935662" cy="1074738"/>
          </a:xfrm>
          <a:prstGeom prst="rect">
            <a:avLst/>
          </a:prstGeom>
          <a:noFill/>
          <a:ln w="9525">
            <a:noFill/>
            <a:miter lim="800000"/>
            <a:headEnd/>
            <a:tailEnd/>
          </a:ln>
          <a:effectLst/>
        </p:spPr>
        <p:txBody>
          <a:bodyPr lIns="54000" rIns="54000">
            <a:spAutoFit/>
          </a:bodyPr>
          <a:lstStyle>
            <a:lvl1pPr marL="444500" indent="-4445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spcBef>
                <a:spcPct val="30000"/>
              </a:spcBef>
              <a:buClr>
                <a:srgbClr val="FF3300"/>
              </a:buClr>
              <a:buSzPct val="80000"/>
              <a:buFont typeface="Wingdings" charset="0"/>
              <a:buChar char="l"/>
            </a:pPr>
            <a:r>
              <a:rPr lang="zh-CN" altLang="en-US" sz="2800">
                <a:effectLst>
                  <a:outerShdw blurRad="38100" dist="38100" dir="2700000" algn="tl">
                    <a:srgbClr val="DDDDDD"/>
                  </a:outerShdw>
                </a:effectLst>
                <a:latin typeface="黑体" charset="0"/>
                <a:ea typeface="黑体" charset="0"/>
                <a:cs typeface="黑体" charset="0"/>
              </a:rPr>
              <a:t>分布广、突发性强、破坏力大</a:t>
            </a:r>
          </a:p>
          <a:p>
            <a:pPr eaLnBrk="1" hangingPunct="1">
              <a:spcBef>
                <a:spcPct val="30000"/>
              </a:spcBef>
              <a:buClr>
                <a:srgbClr val="FF3300"/>
              </a:buClr>
              <a:buSzPct val="80000"/>
              <a:buFont typeface="Wingdings" charset="0"/>
              <a:buChar char="l"/>
            </a:pPr>
            <a:r>
              <a:rPr lang="zh-CN" altLang="en-US" sz="2800">
                <a:effectLst>
                  <a:outerShdw blurRad="38100" dist="38100" dir="2700000" algn="tl">
                    <a:srgbClr val="DDDDDD"/>
                  </a:outerShdw>
                </a:effectLst>
                <a:latin typeface="黑体" charset="0"/>
                <a:ea typeface="黑体" charset="0"/>
                <a:cs typeface="黑体" charset="0"/>
              </a:rPr>
              <a:t>当前防灾减灾的一个突出问题</a:t>
            </a:r>
          </a:p>
        </p:txBody>
      </p:sp>
      <p:sp>
        <p:nvSpPr>
          <p:cNvPr id="970762" name="Text Box 10"/>
          <p:cNvSpPr txBox="1">
            <a:spLocks noChangeArrowheads="1"/>
          </p:cNvSpPr>
          <p:nvPr/>
        </p:nvSpPr>
        <p:spPr bwMode="auto">
          <a:xfrm>
            <a:off x="884238" y="4183063"/>
            <a:ext cx="7142162" cy="1878012"/>
          </a:xfrm>
          <a:prstGeom prst="rect">
            <a:avLst/>
          </a:prstGeom>
          <a:noFill/>
          <a:ln w="31750">
            <a:solidFill>
              <a:srgbClr val="00FF00"/>
            </a:solidFill>
            <a:miter lim="800000"/>
            <a:headEnd/>
            <a:tailEnd/>
          </a:ln>
          <a:effectLst/>
        </p:spPr>
        <p:txBody>
          <a:bodyPr>
            <a:spAutoFit/>
          </a:bodyPr>
          <a:lstStyle>
            <a:lvl1pPr indent="1778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a:spcBef>
                <a:spcPct val="30000"/>
              </a:spcBef>
            </a:pPr>
            <a:r>
              <a:rPr lang="en-US" altLang="zh-CN" sz="3200">
                <a:effectLst>
                  <a:outerShdw blurRad="38100" dist="38100" dir="2700000" algn="tl">
                    <a:srgbClr val="DDDDDD"/>
                  </a:outerShdw>
                </a:effectLst>
                <a:latin typeface="Times New Roman" charset="0"/>
                <a:ea typeface="黑体" charset="0"/>
                <a:cs typeface="黑体" charset="0"/>
              </a:rPr>
              <a:t>1</a:t>
            </a:r>
            <a:r>
              <a:rPr lang="zh-CN" altLang="en-US" sz="3200">
                <a:effectLst>
                  <a:outerShdw blurRad="38100" dist="38100" dir="2700000" algn="tl">
                    <a:srgbClr val="DDDDDD"/>
                  </a:outerShdw>
                </a:effectLst>
                <a:latin typeface="Times New Roman" charset="0"/>
                <a:ea typeface="黑体" charset="0"/>
                <a:cs typeface="黑体" charset="0"/>
              </a:rPr>
              <a:t>、国家公共安全保障的重大需求</a:t>
            </a:r>
          </a:p>
          <a:p>
            <a:pPr>
              <a:spcBef>
                <a:spcPct val="30000"/>
              </a:spcBef>
            </a:pPr>
            <a:r>
              <a:rPr lang="en-US" altLang="zh-CN" sz="3200">
                <a:effectLst>
                  <a:outerShdw blurRad="38100" dist="38100" dir="2700000" algn="tl">
                    <a:srgbClr val="DDDDDD"/>
                  </a:outerShdw>
                </a:effectLst>
                <a:latin typeface="Times New Roman" charset="0"/>
                <a:ea typeface="黑体" charset="0"/>
                <a:cs typeface="黑体" charset="0"/>
              </a:rPr>
              <a:t>2</a:t>
            </a:r>
            <a:r>
              <a:rPr lang="zh-CN" altLang="en-US" sz="3200">
                <a:effectLst>
                  <a:outerShdw blurRad="38100" dist="38100" dir="2700000" algn="tl">
                    <a:srgbClr val="DDDDDD"/>
                  </a:outerShdw>
                </a:effectLst>
                <a:latin typeface="Times New Roman" charset="0"/>
                <a:ea typeface="黑体" charset="0"/>
                <a:cs typeface="黑体" charset="0"/>
              </a:rPr>
              <a:t>、国家重大灾害防治的战略举措</a:t>
            </a:r>
          </a:p>
          <a:p>
            <a:pPr>
              <a:spcBef>
                <a:spcPct val="30000"/>
              </a:spcBef>
            </a:pPr>
            <a:r>
              <a:rPr lang="en-US" altLang="zh-CN" sz="3200">
                <a:effectLst>
                  <a:outerShdw blurRad="38100" dist="38100" dir="2700000" algn="tl">
                    <a:srgbClr val="DDDDDD"/>
                  </a:outerShdw>
                </a:effectLst>
                <a:latin typeface="Times New Roman" charset="0"/>
                <a:ea typeface="黑体" charset="0"/>
                <a:cs typeface="黑体" charset="0"/>
              </a:rPr>
              <a:t>3</a:t>
            </a:r>
            <a:r>
              <a:rPr lang="zh-CN" altLang="en-US" sz="3200">
                <a:effectLst>
                  <a:outerShdw blurRad="38100" dist="38100" dir="2700000" algn="tl">
                    <a:srgbClr val="DDDDDD"/>
                  </a:outerShdw>
                </a:effectLst>
                <a:latin typeface="Times New Roman" charset="0"/>
                <a:ea typeface="黑体" charset="0"/>
                <a:cs typeface="黑体" charset="0"/>
              </a:rPr>
              <a:t>、国际灾害学前沿的重大科学问题</a:t>
            </a:r>
          </a:p>
        </p:txBody>
      </p:sp>
      <p:sp>
        <p:nvSpPr>
          <p:cNvPr id="109572" name="Text Box 11"/>
          <p:cNvSpPr txBox="1">
            <a:spLocks noChangeArrowheads="1"/>
          </p:cNvSpPr>
          <p:nvPr/>
        </p:nvSpPr>
        <p:spPr bwMode="auto">
          <a:xfrm>
            <a:off x="0" y="0"/>
            <a:ext cx="6156325" cy="579438"/>
          </a:xfrm>
          <a:prstGeom prst="rect">
            <a:avLst/>
          </a:prstGeom>
          <a:solidFill>
            <a:srgbClr val="FF66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r>
              <a:rPr lang="en-US" altLang="zh-CN">
                <a:solidFill>
                  <a:srgbClr val="0000FF"/>
                </a:solidFill>
              </a:rPr>
              <a:t>973</a:t>
            </a:r>
            <a:r>
              <a:rPr lang="zh-CN" altLang="en-US">
                <a:solidFill>
                  <a:srgbClr val="0000FF"/>
                </a:solidFill>
              </a:rPr>
              <a:t>项目</a:t>
            </a:r>
            <a:r>
              <a:rPr lang="en-US" altLang="zh-CN">
                <a:solidFill>
                  <a:srgbClr val="0000FF"/>
                </a:solidFill>
              </a:rPr>
              <a:t>:</a:t>
            </a:r>
            <a:r>
              <a:rPr lang="zh-CN" altLang="en-US">
                <a:solidFill>
                  <a:srgbClr val="0000FF"/>
                </a:solidFill>
              </a:rPr>
              <a:t>坝堤溃决研究</a:t>
            </a:r>
            <a:endParaRPr lang="zh-CN" altLang="en-US">
              <a:solidFill>
                <a:srgbClr val="0000FF"/>
              </a:solidFill>
              <a:latin typeface="Times New Roman" charset="0"/>
            </a:endParaRPr>
          </a:p>
        </p:txBody>
      </p:sp>
      <p:sp>
        <p:nvSpPr>
          <p:cNvPr id="970764" name="Rectangle 12"/>
          <p:cNvSpPr>
            <a:spLocks noChangeArrowheads="1"/>
          </p:cNvSpPr>
          <p:nvPr/>
        </p:nvSpPr>
        <p:spPr bwMode="auto">
          <a:xfrm>
            <a:off x="215900" y="1704975"/>
            <a:ext cx="8507413" cy="946150"/>
          </a:xfrm>
          <a:prstGeom prst="rect">
            <a:avLst/>
          </a:prstGeom>
          <a:noFill/>
          <a:ln w="9525">
            <a:noFill/>
            <a:miter lim="800000"/>
            <a:headEnd/>
            <a:tailEnd/>
          </a:ln>
          <a:effectLst/>
        </p:spPr>
        <p:txBody>
          <a:bodyPr>
            <a:spAutoFit/>
          </a:bodyPr>
          <a:lstStyle/>
          <a:p>
            <a:pPr algn="ctr" eaLnBrk="1" hangingPunct="1">
              <a:spcBef>
                <a:spcPct val="30000"/>
              </a:spcBef>
              <a:buClr>
                <a:srgbClr val="FF3300"/>
              </a:buClr>
              <a:buSzPct val="80000"/>
              <a:buFont typeface="Wingdings" charset="0"/>
              <a:buNone/>
            </a:pPr>
            <a:r>
              <a:rPr lang="zh-CN" altLang="en-US" sz="2800">
                <a:effectLst>
                  <a:outerShdw blurRad="38100" dist="38100" dir="2700000" algn="tl">
                    <a:srgbClr val="DDDDDD"/>
                  </a:outerShdw>
                </a:effectLst>
                <a:latin typeface="Times New Roman" charset="0"/>
                <a:ea typeface="黑体" charset="0"/>
                <a:cs typeface="黑体" charset="0"/>
              </a:rPr>
              <a:t>坝堤溃决灾害：极端气象水文条件、地震、人为破坏等引起的大坝与堤防溃决而导致的灾害事件</a:t>
            </a:r>
          </a:p>
        </p:txBody>
      </p:sp>
      <p:sp>
        <p:nvSpPr>
          <p:cNvPr id="970765" name="Rectangle 13"/>
          <p:cNvSpPr>
            <a:spLocks noChangeArrowheads="1"/>
          </p:cNvSpPr>
          <p:nvPr/>
        </p:nvSpPr>
        <p:spPr bwMode="auto">
          <a:xfrm>
            <a:off x="287338" y="612775"/>
            <a:ext cx="8507412" cy="946150"/>
          </a:xfrm>
          <a:prstGeom prst="rect">
            <a:avLst/>
          </a:prstGeom>
          <a:noFill/>
          <a:ln w="9525">
            <a:noFill/>
            <a:miter lim="800000"/>
            <a:headEnd/>
            <a:tailEnd/>
          </a:ln>
          <a:effectLst/>
        </p:spPr>
        <p:txBody>
          <a:bodyPr>
            <a:spAutoFit/>
          </a:bodyPr>
          <a:lstStyle/>
          <a:p>
            <a:pPr algn="ctr" eaLnBrk="1" hangingPunct="1">
              <a:spcBef>
                <a:spcPct val="30000"/>
              </a:spcBef>
              <a:buClr>
                <a:srgbClr val="FF3300"/>
              </a:buClr>
              <a:buSzPct val="80000"/>
              <a:buFont typeface="Wingdings" charset="0"/>
              <a:buNone/>
            </a:pPr>
            <a:r>
              <a:rPr lang="zh-CN" altLang="en-US" sz="2800">
                <a:effectLst>
                  <a:outerShdw blurRad="38100" dist="38100" dir="2700000" algn="tl">
                    <a:srgbClr val="DDDDDD"/>
                  </a:outerShdw>
                </a:effectLst>
                <a:latin typeface="Times New Roman" charset="0"/>
                <a:ea typeface="黑体" charset="0"/>
                <a:cs typeface="黑体" charset="0"/>
              </a:rPr>
              <a:t>坝堤工程</a:t>
            </a:r>
            <a:r>
              <a:rPr lang="en-US" altLang="zh-CN" sz="2800">
                <a:effectLst>
                  <a:outerShdw blurRad="38100" dist="38100" dir="2700000" algn="tl">
                    <a:srgbClr val="DDDDDD"/>
                  </a:outerShdw>
                </a:effectLst>
                <a:latin typeface="Times New Roman" charset="0"/>
                <a:ea typeface="黑体" charset="0"/>
                <a:cs typeface="黑体" charset="0"/>
              </a:rPr>
              <a:t>：</a:t>
            </a:r>
            <a:r>
              <a:rPr lang="zh-CN" altLang="en-US" sz="2800">
                <a:effectLst>
                  <a:outerShdw blurRad="38100" dist="38100" dir="2700000" algn="tl">
                    <a:srgbClr val="DDDDDD"/>
                  </a:outerShdw>
                </a:effectLst>
                <a:latin typeface="Times New Roman" charset="0"/>
                <a:ea typeface="黑体" charset="0"/>
                <a:cs typeface="黑体" charset="0"/>
              </a:rPr>
              <a:t>我国已经修建8.5万多座大坝及23万公里的堤防工程，是国家社会经济发展的基础</a:t>
            </a: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80" name="Text Box 4"/>
          <p:cNvSpPr txBox="1">
            <a:spLocks noChangeArrowheads="1"/>
          </p:cNvSpPr>
          <p:nvPr/>
        </p:nvSpPr>
        <p:spPr bwMode="auto">
          <a:xfrm>
            <a:off x="0" y="254000"/>
            <a:ext cx="9144000" cy="595313"/>
          </a:xfrm>
          <a:prstGeom prst="rect">
            <a:avLst/>
          </a:prstGeom>
          <a:noFill/>
          <a:ln w="9525">
            <a:noFill/>
            <a:miter lim="800000"/>
            <a:headEnd/>
            <a:tailEnd/>
          </a:ln>
          <a:effectLst/>
        </p:spPr>
        <p:txBody>
          <a:bodyPr>
            <a:spAutoFit/>
          </a:bodyPr>
          <a:lstStyle/>
          <a:p>
            <a:pPr algn="ctr" eaLnBrk="1" hangingPunct="1">
              <a:spcBef>
                <a:spcPct val="50000"/>
              </a:spcBef>
              <a:buClr>
                <a:srgbClr val="FF3300"/>
              </a:buClr>
              <a:buSzPct val="80000"/>
              <a:buFont typeface="Wingdings" pitchFamily="2" charset="2"/>
              <a:buNone/>
              <a:defRPr/>
            </a:pPr>
            <a:r>
              <a:rPr lang="zh-CN" altLang="en-US" sz="3300">
                <a:effectLst>
                  <a:outerShdw blurRad="38100" dist="38100" dir="2700000" algn="tl">
                    <a:srgbClr val="C0C0C0"/>
                  </a:outerShdw>
                </a:effectLst>
                <a:latin typeface="Times New Roman" pitchFamily="18" charset="0"/>
                <a:ea typeface="黑体" pitchFamily="49" charset="-122"/>
                <a:cs typeface="+mn-cs"/>
              </a:rPr>
              <a:t>国家公共安全保障的重大需求</a:t>
            </a:r>
          </a:p>
        </p:txBody>
      </p:sp>
      <p:sp>
        <p:nvSpPr>
          <p:cNvPr id="110595" name="Line 5"/>
          <p:cNvSpPr>
            <a:spLocks noChangeShapeType="1"/>
          </p:cNvSpPr>
          <p:nvPr/>
        </p:nvSpPr>
        <p:spPr bwMode="auto">
          <a:xfrm>
            <a:off x="188913" y="935038"/>
            <a:ext cx="8775700" cy="0"/>
          </a:xfrm>
          <a:prstGeom prst="line">
            <a:avLst/>
          </a:prstGeom>
          <a:noFill/>
          <a:ln w="50800">
            <a:solidFill>
              <a:schemeClr val="folHlink"/>
            </a:solidFill>
            <a:round/>
            <a:headEnd/>
            <a:tailEnd/>
          </a:ln>
          <a:extLst>
            <a:ext uri="{909E8E84-426E-40dd-AFC4-6F175D3DCCD1}">
              <a14:hiddenFill xmlns:a14="http://schemas.microsoft.com/office/drawing/2010/main" xmlns="">
                <a:noFill/>
              </a14:hiddenFill>
            </a:ext>
          </a:extLst>
        </p:spPr>
        <p:txBody>
          <a:bodyPr wrap="none"/>
          <a:lstStyle/>
          <a:p>
            <a:endParaRPr lang="zh-CN" altLang="en-US"/>
          </a:p>
        </p:txBody>
      </p:sp>
      <p:pic>
        <p:nvPicPr>
          <p:cNvPr id="110596" name="Picture 6" descr="13"/>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184775" y="1030288"/>
            <a:ext cx="4010025" cy="31734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0597" name="Rectangle 7"/>
          <p:cNvSpPr>
            <a:spLocks noChangeArrowheads="1"/>
          </p:cNvSpPr>
          <p:nvPr/>
        </p:nvSpPr>
        <p:spPr bwMode="auto">
          <a:xfrm>
            <a:off x="209550" y="5003800"/>
            <a:ext cx="4845050" cy="16795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marL="355600" indent="-355600">
              <a:buFont typeface="Wingdings" charset="0"/>
              <a:buChar char="l"/>
            </a:pPr>
            <a:r>
              <a:rPr lang="zh-CN" altLang="en-US" sz="2600">
                <a:latin typeface="Times New Roman" charset="0"/>
                <a:ea typeface="黑体" charset="0"/>
                <a:cs typeface="黑体" charset="0"/>
              </a:rPr>
              <a:t>长江荆江河段形势险恶，三峡工程蓄水后清水下切大堤坍塌加剧，07</a:t>
            </a:r>
            <a:r>
              <a:rPr lang="en-US" altLang="zh-CN" sz="2600">
                <a:latin typeface="Times New Roman" charset="0"/>
                <a:ea typeface="黑体" charset="0"/>
                <a:cs typeface="黑体" charset="0"/>
              </a:rPr>
              <a:t>.3.22</a:t>
            </a:r>
            <a:r>
              <a:rPr lang="zh-CN" altLang="en-US" sz="2600">
                <a:latin typeface="Times New Roman" charset="0"/>
                <a:ea typeface="黑体" charset="0"/>
                <a:cs typeface="黑体" charset="0"/>
              </a:rPr>
              <a:t>日石首段坍塌</a:t>
            </a:r>
          </a:p>
        </p:txBody>
      </p:sp>
      <p:sp>
        <p:nvSpPr>
          <p:cNvPr id="110598" name="Text Box 8"/>
          <p:cNvSpPr txBox="1">
            <a:spLocks noChangeArrowheads="1"/>
          </p:cNvSpPr>
          <p:nvPr/>
        </p:nvSpPr>
        <p:spPr bwMode="auto">
          <a:xfrm>
            <a:off x="244475" y="1281113"/>
            <a:ext cx="4784725" cy="15859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261938" indent="-261938">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spcBef>
                <a:spcPct val="25000"/>
              </a:spcBef>
              <a:buFont typeface="Wingdings" charset="0"/>
              <a:buChar char="Ø"/>
            </a:pPr>
            <a:r>
              <a:rPr lang="en-US" altLang="zh-CN" sz="2800">
                <a:solidFill>
                  <a:srgbClr val="0000FF"/>
                </a:solidFill>
                <a:latin typeface="黑体" charset="0"/>
                <a:ea typeface="黑体" charset="0"/>
                <a:cs typeface="黑体" charset="0"/>
              </a:rPr>
              <a:t>8.5</a:t>
            </a:r>
            <a:r>
              <a:rPr lang="zh-CN" altLang="en-US" sz="2800">
                <a:solidFill>
                  <a:srgbClr val="0000FF"/>
                </a:solidFill>
                <a:latin typeface="黑体" charset="0"/>
                <a:ea typeface="黑体" charset="0"/>
                <a:cs typeface="黑体" charset="0"/>
              </a:rPr>
              <a:t>万水库有</a:t>
            </a:r>
            <a:r>
              <a:rPr lang="en-US" altLang="zh-CN" sz="2800">
                <a:solidFill>
                  <a:srgbClr val="0000FF"/>
                </a:solidFill>
                <a:latin typeface="黑体" charset="0"/>
                <a:ea typeface="黑体" charset="0"/>
                <a:cs typeface="黑体" charset="0"/>
              </a:rPr>
              <a:t>3</a:t>
            </a:r>
            <a:r>
              <a:rPr lang="zh-CN" altLang="en-US" sz="2800">
                <a:solidFill>
                  <a:srgbClr val="0000FF"/>
                </a:solidFill>
                <a:latin typeface="黑体" charset="0"/>
                <a:ea typeface="黑体" charset="0"/>
                <a:cs typeface="黑体" charset="0"/>
              </a:rPr>
              <a:t>万座病险水库</a:t>
            </a:r>
          </a:p>
          <a:p>
            <a:pPr>
              <a:spcBef>
                <a:spcPct val="25000"/>
              </a:spcBef>
              <a:buFont typeface="Wingdings" charset="0"/>
              <a:buChar char="Ø"/>
            </a:pPr>
            <a:r>
              <a:rPr lang="en-US" altLang="zh-CN" sz="2800">
                <a:solidFill>
                  <a:srgbClr val="0000FF"/>
                </a:solidFill>
                <a:latin typeface="黑体" charset="0"/>
                <a:ea typeface="黑体" charset="0"/>
                <a:cs typeface="黑体" charset="0"/>
              </a:rPr>
              <a:t>1953</a:t>
            </a:r>
            <a:r>
              <a:rPr lang="zh-CN" altLang="en-US" sz="2800">
                <a:solidFill>
                  <a:srgbClr val="0000FF"/>
                </a:solidFill>
                <a:latin typeface="黑体" charset="0"/>
                <a:ea typeface="黑体" charset="0"/>
                <a:cs typeface="黑体" charset="0"/>
              </a:rPr>
              <a:t>年以来</a:t>
            </a:r>
            <a:r>
              <a:rPr lang="en-US" altLang="zh-CN" sz="2800">
                <a:solidFill>
                  <a:srgbClr val="0000FF"/>
                </a:solidFill>
                <a:latin typeface="黑体" charset="0"/>
                <a:ea typeface="黑体" charset="0"/>
                <a:cs typeface="黑体" charset="0"/>
              </a:rPr>
              <a:t>3500</a:t>
            </a:r>
            <a:r>
              <a:rPr lang="zh-CN" altLang="en-US" sz="2800">
                <a:solidFill>
                  <a:srgbClr val="0000FF"/>
                </a:solidFill>
                <a:latin typeface="黑体" charset="0"/>
                <a:ea typeface="黑体" charset="0"/>
                <a:cs typeface="黑体" charset="0"/>
              </a:rPr>
              <a:t>例溃坝</a:t>
            </a:r>
          </a:p>
          <a:p>
            <a:pPr>
              <a:spcBef>
                <a:spcPct val="25000"/>
              </a:spcBef>
              <a:buClr>
                <a:schemeClr val="bg1"/>
              </a:buClr>
              <a:buFont typeface="Wingdings" charset="0"/>
              <a:buChar char="Ø"/>
            </a:pPr>
            <a:r>
              <a:rPr lang="en-US" altLang="zh-CN" sz="2800">
                <a:solidFill>
                  <a:srgbClr val="0000FF"/>
                </a:solidFill>
                <a:latin typeface="黑体" charset="0"/>
                <a:ea typeface="黑体" charset="0"/>
                <a:cs typeface="黑体" charset="0"/>
              </a:rPr>
              <a:t>23</a:t>
            </a:r>
            <a:r>
              <a:rPr lang="zh-CN" altLang="en-US" sz="2800">
                <a:solidFill>
                  <a:srgbClr val="0000FF"/>
                </a:solidFill>
                <a:latin typeface="黑体" charset="0"/>
                <a:ea typeface="黑体" charset="0"/>
                <a:cs typeface="黑体" charset="0"/>
              </a:rPr>
              <a:t>万公里堤防经常溃决</a:t>
            </a:r>
          </a:p>
        </p:txBody>
      </p:sp>
      <p:sp>
        <p:nvSpPr>
          <p:cNvPr id="110599" name="Rectangle 9"/>
          <p:cNvSpPr>
            <a:spLocks noChangeArrowheads="1"/>
          </p:cNvSpPr>
          <p:nvPr/>
        </p:nvSpPr>
        <p:spPr bwMode="auto">
          <a:xfrm>
            <a:off x="254000" y="3195638"/>
            <a:ext cx="4605338" cy="16795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marL="355600" indent="-355600">
              <a:buClr>
                <a:schemeClr val="bg1"/>
              </a:buClr>
              <a:buFont typeface="Wingdings" charset="0"/>
              <a:buChar char="l"/>
            </a:pPr>
            <a:r>
              <a:rPr lang="zh-CN" altLang="en-US" sz="2600">
                <a:latin typeface="Times New Roman" charset="0"/>
                <a:ea typeface="黑体" charset="0"/>
                <a:cs typeface="黑体" charset="0"/>
              </a:rPr>
              <a:t>密云水库库容42亿</a:t>
            </a:r>
            <a:r>
              <a:rPr lang="en-US" altLang="zh-CN" sz="2600">
                <a:latin typeface="Times New Roman" charset="0"/>
                <a:ea typeface="黑体" charset="0"/>
                <a:cs typeface="黑体" charset="0"/>
              </a:rPr>
              <a:t>m</a:t>
            </a:r>
            <a:r>
              <a:rPr lang="en-US" altLang="zh-CN" sz="2600" baseline="30000">
                <a:latin typeface="Times New Roman" charset="0"/>
                <a:ea typeface="黑体" charset="0"/>
                <a:cs typeface="黑体" charset="0"/>
              </a:rPr>
              <a:t>3</a:t>
            </a:r>
            <a:r>
              <a:rPr lang="zh-CN" altLang="en-US" sz="2600">
                <a:latin typeface="Times New Roman" charset="0"/>
                <a:ea typeface="黑体" charset="0"/>
                <a:cs typeface="黑体" charset="0"/>
              </a:rPr>
              <a:t>，北京的水源及防洪水库</a:t>
            </a:r>
            <a:r>
              <a:rPr lang="en-US" altLang="zh-CN" sz="2600">
                <a:latin typeface="Times New Roman" charset="0"/>
                <a:ea typeface="黑体" charset="0"/>
                <a:cs typeface="黑体" charset="0"/>
              </a:rPr>
              <a:t>，76</a:t>
            </a:r>
            <a:r>
              <a:rPr lang="zh-CN" altLang="en-US" sz="2600">
                <a:latin typeface="Times New Roman" charset="0"/>
                <a:ea typeface="黑体" charset="0"/>
                <a:cs typeface="黑体" charset="0"/>
              </a:rPr>
              <a:t>年唐山地震白河主坝发生滑坡，存在极大的安全隐患</a:t>
            </a:r>
          </a:p>
        </p:txBody>
      </p:sp>
      <p:pic>
        <p:nvPicPr>
          <p:cNvPr id="110600" name="Picture 10" descr="U868P1T1D10564251F21DT20060728142945"/>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162550" y="3690938"/>
            <a:ext cx="3981450" cy="31670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4"/>
          <p:cNvSpPr>
            <a:spLocks noChangeArrowheads="1"/>
          </p:cNvSpPr>
          <p:nvPr/>
        </p:nvSpPr>
        <p:spPr bwMode="auto">
          <a:xfrm>
            <a:off x="379413" y="1550988"/>
            <a:ext cx="8559800" cy="16795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marL="266700" indent="-266700">
              <a:buSzPct val="50000"/>
              <a:buFont typeface="Wingdings" charset="0"/>
              <a:buChar char="Ø"/>
            </a:pPr>
            <a:r>
              <a:rPr lang="zh-CN" altLang="en-US" sz="2600">
                <a:latin typeface="Times New Roman" charset="0"/>
                <a:ea typeface="黑体" charset="0"/>
                <a:cs typeface="黑体" charset="0"/>
              </a:rPr>
              <a:t>“75.8”板桥水库跨坝， </a:t>
            </a:r>
            <a:r>
              <a:rPr lang="en-US" altLang="zh-CN" sz="2600">
                <a:latin typeface="Times New Roman" charset="0"/>
                <a:ea typeface="黑体" charset="0"/>
                <a:cs typeface="黑体" charset="0"/>
              </a:rPr>
              <a:t>2.6</a:t>
            </a:r>
            <a:r>
              <a:rPr lang="zh-CN" altLang="en-US" sz="2600">
                <a:latin typeface="Times New Roman" charset="0"/>
                <a:ea typeface="黑体" charset="0"/>
                <a:cs typeface="黑体" charset="0"/>
              </a:rPr>
              <a:t>万 人死亡， </a:t>
            </a:r>
            <a:r>
              <a:rPr lang="en-US" altLang="zh-CN" sz="2600">
                <a:latin typeface="Times New Roman" charset="0"/>
                <a:ea typeface="黑体" charset="0"/>
                <a:cs typeface="黑体" charset="0"/>
              </a:rPr>
              <a:t>1015</a:t>
            </a:r>
            <a:r>
              <a:rPr lang="zh-CN" altLang="en-US" sz="2600">
                <a:latin typeface="Times New Roman" charset="0"/>
                <a:ea typeface="黑体" charset="0"/>
                <a:cs typeface="黑体" charset="0"/>
              </a:rPr>
              <a:t>万 人受灾</a:t>
            </a:r>
            <a:endParaRPr lang="en-US" altLang="zh-CN" sz="2600">
              <a:latin typeface="Times New Roman" charset="0"/>
              <a:ea typeface="黑体" charset="0"/>
              <a:cs typeface="黑体" charset="0"/>
            </a:endParaRPr>
          </a:p>
          <a:p>
            <a:pPr marL="266700" indent="-266700">
              <a:buSzPct val="50000"/>
              <a:buFont typeface="Wingdings" charset="0"/>
              <a:buChar char="Ø"/>
            </a:pPr>
            <a:r>
              <a:rPr lang="zh-CN" altLang="en-US" sz="2600">
                <a:latin typeface="Times New Roman" charset="0"/>
                <a:ea typeface="黑体" charset="0"/>
                <a:cs typeface="黑体" charset="0"/>
              </a:rPr>
              <a:t>1993青海沟后水库垮坝，近 </a:t>
            </a:r>
            <a:r>
              <a:rPr lang="en-US" altLang="zh-CN" sz="2600">
                <a:latin typeface="Times New Roman" charset="0"/>
                <a:ea typeface="黑体" charset="0"/>
                <a:cs typeface="黑体" charset="0"/>
              </a:rPr>
              <a:t>300 </a:t>
            </a:r>
            <a:r>
              <a:rPr lang="zh-CN" altLang="en-US" sz="2600">
                <a:latin typeface="Times New Roman" charset="0"/>
                <a:ea typeface="黑体" charset="0"/>
                <a:cs typeface="黑体" charset="0"/>
              </a:rPr>
              <a:t>人丧生、</a:t>
            </a:r>
            <a:r>
              <a:rPr lang="en-US" altLang="zh-CN" sz="2600">
                <a:latin typeface="Times New Roman" charset="0"/>
                <a:ea typeface="黑体" charset="0"/>
                <a:cs typeface="黑体" charset="0"/>
              </a:rPr>
              <a:t>1000 </a:t>
            </a:r>
            <a:r>
              <a:rPr lang="zh-CN" altLang="en-US" sz="2600">
                <a:latin typeface="Times New Roman" charset="0"/>
                <a:ea typeface="黑体" charset="0"/>
                <a:cs typeface="黑体" charset="0"/>
              </a:rPr>
              <a:t>多人受伤</a:t>
            </a:r>
          </a:p>
          <a:p>
            <a:pPr marL="266700" indent="-266700">
              <a:buSzPct val="50000"/>
              <a:buFont typeface="Wingdings" charset="0"/>
              <a:buChar char="Ø"/>
            </a:pPr>
            <a:r>
              <a:rPr lang="zh-CN" altLang="en-US" sz="2600">
                <a:latin typeface="Times New Roman" charset="0"/>
                <a:ea typeface="黑体" charset="0"/>
                <a:cs typeface="黑体" charset="0"/>
              </a:rPr>
              <a:t>1938年黄河花园口人为决口，89万人死亡，1500万受灾</a:t>
            </a:r>
          </a:p>
          <a:p>
            <a:pPr marL="266700" indent="-266700">
              <a:buSzPct val="50000"/>
              <a:buFont typeface="Wingdings" charset="0"/>
              <a:buChar char="Ø"/>
            </a:pPr>
            <a:r>
              <a:rPr lang="zh-CN" altLang="en-US" sz="2600">
                <a:latin typeface="Times New Roman" charset="0"/>
                <a:ea typeface="黑体" charset="0"/>
                <a:cs typeface="黑体" charset="0"/>
              </a:rPr>
              <a:t>1954年长江大水堤垸多处溃决，3万人死亡</a:t>
            </a:r>
          </a:p>
        </p:txBody>
      </p:sp>
      <p:sp>
        <p:nvSpPr>
          <p:cNvPr id="111619" name="Rectangle 5"/>
          <p:cNvSpPr>
            <a:spLocks noChangeArrowheads="1"/>
          </p:cNvSpPr>
          <p:nvPr/>
        </p:nvSpPr>
        <p:spPr bwMode="auto">
          <a:xfrm>
            <a:off x="373063" y="3779838"/>
            <a:ext cx="8140700" cy="1282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marL="266700" indent="-266700">
              <a:buSzPct val="50000"/>
              <a:buFont typeface="Wingdings" charset="0"/>
              <a:buChar char="Ø"/>
            </a:pPr>
            <a:r>
              <a:rPr lang="zh-CN" altLang="en-US" sz="2600">
                <a:latin typeface="Times New Roman" charset="0"/>
                <a:ea typeface="黑体" charset="0"/>
                <a:cs typeface="黑体" charset="0"/>
              </a:rPr>
              <a:t>“75.8”板桥水库跨坝经济损失达 百亿 元</a:t>
            </a:r>
          </a:p>
          <a:p>
            <a:pPr marL="266700" indent="-266700">
              <a:buSzPct val="50000"/>
              <a:buFont typeface="Wingdings" charset="0"/>
              <a:buChar char="Ø"/>
            </a:pPr>
            <a:r>
              <a:rPr lang="zh-CN" altLang="en-US" sz="2600">
                <a:latin typeface="Times New Roman" charset="0"/>
                <a:ea typeface="黑体" charset="0"/>
                <a:cs typeface="黑体" charset="0"/>
              </a:rPr>
              <a:t>“98”洪水长江、松花江堤防决口经济损失数 百 亿元</a:t>
            </a:r>
          </a:p>
          <a:p>
            <a:pPr marL="266700" indent="-266700">
              <a:buSzPct val="50000"/>
              <a:buFont typeface="Wingdings" charset="0"/>
              <a:buChar char="Ø"/>
            </a:pPr>
            <a:r>
              <a:rPr lang="zh-CN" altLang="en-US" sz="2600">
                <a:latin typeface="Times New Roman" charset="0"/>
                <a:ea typeface="黑体" charset="0"/>
                <a:cs typeface="黑体" charset="0"/>
              </a:rPr>
              <a:t>“03”渭河秋汛决堤，经济损失 50亿元</a:t>
            </a:r>
          </a:p>
        </p:txBody>
      </p:sp>
      <p:sp>
        <p:nvSpPr>
          <p:cNvPr id="111620" name="Rectangle 6"/>
          <p:cNvSpPr>
            <a:spLocks noChangeArrowheads="1"/>
          </p:cNvSpPr>
          <p:nvPr/>
        </p:nvSpPr>
        <p:spPr bwMode="auto">
          <a:xfrm>
            <a:off x="190500" y="960438"/>
            <a:ext cx="4676775" cy="549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a:buClr>
                <a:srgbClr val="FF0000"/>
              </a:buClr>
              <a:buFont typeface="Wingdings" charset="0"/>
              <a:buChar char="l"/>
            </a:pPr>
            <a:r>
              <a:rPr lang="zh-CN" altLang="en-US" sz="3000">
                <a:latin typeface="Times New Roman" charset="0"/>
                <a:ea typeface="黑体" charset="0"/>
                <a:cs typeface="黑体" charset="0"/>
              </a:rPr>
              <a:t>坝堤溃决灾害死亡人数高</a:t>
            </a:r>
          </a:p>
        </p:txBody>
      </p:sp>
      <p:sp>
        <p:nvSpPr>
          <p:cNvPr id="111621" name="Rectangle 7"/>
          <p:cNvSpPr>
            <a:spLocks noChangeArrowheads="1"/>
          </p:cNvSpPr>
          <p:nvPr/>
        </p:nvSpPr>
        <p:spPr bwMode="auto">
          <a:xfrm>
            <a:off x="174625" y="3209925"/>
            <a:ext cx="4294188" cy="549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a:buClr>
                <a:srgbClr val="FF0000"/>
              </a:buClr>
              <a:buFont typeface="Wingdings" charset="0"/>
              <a:buChar char="l"/>
            </a:pPr>
            <a:r>
              <a:rPr lang="zh-CN" altLang="en-US" sz="3000">
                <a:latin typeface="Times New Roman" charset="0"/>
                <a:ea typeface="黑体" charset="0"/>
                <a:cs typeface="黑体" charset="0"/>
              </a:rPr>
              <a:t>溃决造成财产损失巨大</a:t>
            </a:r>
          </a:p>
        </p:txBody>
      </p:sp>
      <p:sp>
        <p:nvSpPr>
          <p:cNvPr id="972808" name="Text Box 8"/>
          <p:cNvSpPr txBox="1">
            <a:spLocks noChangeArrowheads="1"/>
          </p:cNvSpPr>
          <p:nvPr/>
        </p:nvSpPr>
        <p:spPr bwMode="auto">
          <a:xfrm>
            <a:off x="0" y="292100"/>
            <a:ext cx="9144000" cy="595313"/>
          </a:xfrm>
          <a:prstGeom prst="rect">
            <a:avLst/>
          </a:prstGeom>
          <a:noFill/>
          <a:ln w="9525">
            <a:noFill/>
            <a:miter lim="800000"/>
            <a:headEnd/>
            <a:tailEnd/>
          </a:ln>
          <a:effectLst/>
        </p:spPr>
        <p:txBody>
          <a:bodyPr>
            <a:spAutoFit/>
          </a:bodyPr>
          <a:lstStyle/>
          <a:p>
            <a:pPr algn="ctr" eaLnBrk="1" hangingPunct="1">
              <a:spcBef>
                <a:spcPct val="50000"/>
              </a:spcBef>
              <a:buClr>
                <a:srgbClr val="FF3300"/>
              </a:buClr>
              <a:buSzPct val="80000"/>
              <a:buFont typeface="Wingdings" pitchFamily="2" charset="2"/>
              <a:buNone/>
              <a:defRPr/>
            </a:pPr>
            <a:r>
              <a:rPr lang="zh-CN" altLang="en-US" sz="3300">
                <a:effectLst>
                  <a:outerShdw blurRad="38100" dist="38100" dir="2700000" algn="tl">
                    <a:srgbClr val="C0C0C0"/>
                  </a:outerShdw>
                </a:effectLst>
                <a:latin typeface="Times New Roman" pitchFamily="18" charset="0"/>
                <a:ea typeface="黑体" pitchFamily="49" charset="-122"/>
                <a:cs typeface="+mn-cs"/>
              </a:rPr>
              <a:t>国家公共安全保障的重大需求</a:t>
            </a:r>
          </a:p>
        </p:txBody>
      </p:sp>
      <p:sp>
        <p:nvSpPr>
          <p:cNvPr id="111623" name="Line 9"/>
          <p:cNvSpPr>
            <a:spLocks noChangeShapeType="1"/>
          </p:cNvSpPr>
          <p:nvPr/>
        </p:nvSpPr>
        <p:spPr bwMode="auto">
          <a:xfrm>
            <a:off x="188913" y="935038"/>
            <a:ext cx="8775700" cy="0"/>
          </a:xfrm>
          <a:prstGeom prst="line">
            <a:avLst/>
          </a:prstGeom>
          <a:noFill/>
          <a:ln w="50800">
            <a:solidFill>
              <a:schemeClr val="folHlink"/>
            </a:solidFill>
            <a:round/>
            <a:headEnd/>
            <a:tailEnd/>
          </a:ln>
          <a:extLst>
            <a:ext uri="{909E8E84-426E-40dd-AFC4-6F175D3DCCD1}">
              <a14:hiddenFill xmlns:a14="http://schemas.microsoft.com/office/drawing/2010/main" xmlns="">
                <a:noFill/>
              </a14:hiddenFill>
            </a:ext>
          </a:extLst>
        </p:spPr>
        <p:txBody>
          <a:bodyPr wrap="none"/>
          <a:lstStyle/>
          <a:p>
            <a:endParaRPr lang="zh-CN" altLang="en-US"/>
          </a:p>
        </p:txBody>
      </p:sp>
      <p:pic>
        <p:nvPicPr>
          <p:cNvPr id="111624" name="Picture 10" descr="temp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133975"/>
            <a:ext cx="9144000" cy="1876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4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0"/>
            <a:ext cx="916305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pic>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4" descr="temp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3667" name="Text Box 5"/>
          <p:cNvSpPr txBox="1">
            <a:spLocks noChangeArrowheads="1"/>
          </p:cNvSpPr>
          <p:nvPr/>
        </p:nvSpPr>
        <p:spPr bwMode="auto">
          <a:xfrm>
            <a:off x="2971800" y="2590800"/>
            <a:ext cx="3313113" cy="762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sz="4400">
                <a:solidFill>
                  <a:srgbClr val="FF0000"/>
                </a:solidFill>
                <a:latin typeface="Tahoma" charset="0"/>
                <a:ea typeface="华文行楷" charset="0"/>
                <a:cs typeface="华文行楷" charset="0"/>
              </a:rPr>
              <a:t>罗纹河决口</a:t>
            </a:r>
          </a:p>
        </p:txBody>
      </p:sp>
      <p:sp>
        <p:nvSpPr>
          <p:cNvPr id="975878" name="Text Box 6"/>
          <p:cNvSpPr txBox="1">
            <a:spLocks noChangeArrowheads="1"/>
          </p:cNvSpPr>
          <p:nvPr/>
        </p:nvSpPr>
        <p:spPr bwMode="auto">
          <a:xfrm>
            <a:off x="2616200" y="6096000"/>
            <a:ext cx="3887788" cy="762000"/>
          </a:xfrm>
          <a:prstGeom prst="rect">
            <a:avLst/>
          </a:prstGeom>
          <a:noFill/>
          <a:ln w="9525" algn="ctr">
            <a:noFill/>
            <a:miter lim="800000"/>
            <a:headEnd/>
            <a:tailEnd/>
          </a:ln>
          <a:effectLst/>
        </p:spPr>
        <p:txBody>
          <a:bodyPr>
            <a:spAutoFit/>
          </a:bodyPr>
          <a:lstStyle>
            <a:lvl1pPr>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spcBef>
                <a:spcPct val="50000"/>
              </a:spcBef>
            </a:pPr>
            <a:r>
              <a:rPr kumimoji="1" lang="zh-CN" altLang="en-US" sz="4400">
                <a:solidFill>
                  <a:srgbClr val="FF0000"/>
                </a:solidFill>
                <a:effectLst>
                  <a:outerShdw blurRad="38100" dist="38100" dir="2700000" algn="tl">
                    <a:srgbClr val="DDDDDD"/>
                  </a:outerShdw>
                </a:effectLst>
                <a:latin typeface="Tahoma" charset="0"/>
                <a:ea typeface="华文行楷" charset="0"/>
                <a:cs typeface="华文行楷" charset="0"/>
              </a:rPr>
              <a:t>二华夹槽漫滩</a:t>
            </a:r>
          </a:p>
        </p:txBody>
      </p:sp>
      <p:sp>
        <p:nvSpPr>
          <p:cNvPr id="113669" name="Text Box 7"/>
          <p:cNvSpPr txBox="1">
            <a:spLocks noChangeArrowheads="1"/>
          </p:cNvSpPr>
          <p:nvPr/>
        </p:nvSpPr>
        <p:spPr bwMode="auto">
          <a:xfrm>
            <a:off x="3124200" y="533400"/>
            <a:ext cx="35814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eaLnBrk="1" hangingPunct="1">
              <a:spcBef>
                <a:spcPct val="50000"/>
              </a:spcBef>
            </a:pPr>
            <a:r>
              <a:rPr kumimoji="1" lang="zh-CN" altLang="en-US">
                <a:solidFill>
                  <a:srgbClr val="CC0000"/>
                </a:solidFill>
              </a:rPr>
              <a:t>2003年渭河洪水</a:t>
            </a:r>
          </a:p>
        </p:txBody>
      </p:sp>
      <p:sp>
        <p:nvSpPr>
          <p:cNvPr id="113670" name="Text Box 8"/>
          <p:cNvSpPr txBox="1">
            <a:spLocks noChangeArrowheads="1"/>
          </p:cNvSpPr>
          <p:nvPr/>
        </p:nvSpPr>
        <p:spPr bwMode="auto">
          <a:xfrm>
            <a:off x="0" y="3519488"/>
            <a:ext cx="9144000" cy="665162"/>
          </a:xfrm>
          <a:prstGeom prst="rect">
            <a:avLst/>
          </a:prstGeom>
          <a:solidFill>
            <a:srgbClr val="008000"/>
          </a:solidFill>
          <a:ln w="9525">
            <a:solidFill>
              <a:srgbClr val="008000"/>
            </a:solidFill>
            <a:miter lim="800000"/>
            <a:headEnd/>
            <a:tailEnd/>
          </a:ln>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lgn="ctr">
              <a:spcBef>
                <a:spcPct val="50000"/>
              </a:spcBef>
            </a:pPr>
            <a:r>
              <a:rPr lang="zh-CN" altLang="en-US" sz="3700">
                <a:solidFill>
                  <a:srgbClr val="FFFF00"/>
                </a:solidFill>
                <a:latin typeface="Times New Roman" charset="0"/>
                <a:ea typeface="黑体" charset="0"/>
                <a:cs typeface="黑体" charset="0"/>
              </a:rPr>
              <a:t>堤防决口原因：洪水漫决、冲决、管涌等</a:t>
            </a:r>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4" descr="temp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 y="104775"/>
            <a:ext cx="8896350" cy="6648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4691" name="Rectangle 5"/>
          <p:cNvSpPr>
            <a:spLocks noChangeArrowheads="1"/>
          </p:cNvSpPr>
          <p:nvPr/>
        </p:nvSpPr>
        <p:spPr bwMode="auto">
          <a:xfrm>
            <a:off x="171450" y="0"/>
            <a:ext cx="2328863" cy="457200"/>
          </a:xfrm>
          <a:prstGeom prst="rect">
            <a:avLst/>
          </a:prstGeom>
          <a:solidFill>
            <a:srgbClr val="008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1" hangingPunct="1"/>
            <a:r>
              <a:rPr lang="zh-CN" altLang="en-US" sz="2400">
                <a:solidFill>
                  <a:schemeClr val="bg1"/>
                </a:solidFill>
                <a:latin typeface="黑体" charset="0"/>
                <a:ea typeface="黑体" charset="0"/>
                <a:cs typeface="黑体" charset="0"/>
              </a:rPr>
              <a:t>石漫滩水库溃坝</a:t>
            </a:r>
          </a:p>
        </p:txBody>
      </p:sp>
      <p:sp>
        <p:nvSpPr>
          <p:cNvPr id="114692" name="Rectangle 6"/>
          <p:cNvSpPr>
            <a:spLocks noChangeArrowheads="1"/>
          </p:cNvSpPr>
          <p:nvPr/>
        </p:nvSpPr>
        <p:spPr bwMode="auto">
          <a:xfrm>
            <a:off x="6092825" y="0"/>
            <a:ext cx="2789238" cy="457200"/>
          </a:xfrm>
          <a:prstGeom prst="rect">
            <a:avLst/>
          </a:prstGeom>
          <a:solidFill>
            <a:srgbClr val="008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1" hangingPunct="1"/>
            <a:r>
              <a:rPr lang="zh-CN" altLang="en-US" sz="2400">
                <a:solidFill>
                  <a:schemeClr val="bg1"/>
                </a:solidFill>
                <a:latin typeface="黑体" charset="0"/>
                <a:ea typeface="黑体" charset="0"/>
                <a:cs typeface="黑体" charset="0"/>
              </a:rPr>
              <a:t>板桥水库溃坝失事 </a:t>
            </a:r>
          </a:p>
        </p:txBody>
      </p:sp>
      <p:sp>
        <p:nvSpPr>
          <p:cNvPr id="114693" name="Rectangle 7"/>
          <p:cNvSpPr>
            <a:spLocks noChangeArrowheads="1"/>
          </p:cNvSpPr>
          <p:nvPr/>
        </p:nvSpPr>
        <p:spPr bwMode="auto">
          <a:xfrm>
            <a:off x="0" y="6238875"/>
            <a:ext cx="3097213" cy="457200"/>
          </a:xfrm>
          <a:prstGeom prst="rect">
            <a:avLst/>
          </a:prstGeom>
          <a:solidFill>
            <a:srgbClr val="008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1" hangingPunct="1"/>
            <a:r>
              <a:rPr lang="en-US" altLang="zh-CN" sz="2400">
                <a:solidFill>
                  <a:schemeClr val="bg1"/>
                </a:solidFill>
                <a:latin typeface="黑体" charset="0"/>
                <a:ea typeface="黑体" charset="0"/>
                <a:cs typeface="黑体" charset="0"/>
              </a:rPr>
              <a:t>62</a:t>
            </a:r>
            <a:r>
              <a:rPr lang="zh-CN" altLang="en-US" sz="2400">
                <a:solidFill>
                  <a:schemeClr val="bg1"/>
                </a:solidFill>
                <a:latin typeface="黑体" charset="0"/>
                <a:ea typeface="黑体" charset="0"/>
                <a:cs typeface="黑体" charset="0"/>
              </a:rPr>
              <a:t>个水库群连锁溃决 </a:t>
            </a:r>
          </a:p>
        </p:txBody>
      </p:sp>
      <p:sp>
        <p:nvSpPr>
          <p:cNvPr id="114694" name="Rectangle 8"/>
          <p:cNvSpPr>
            <a:spLocks noChangeArrowheads="1"/>
          </p:cNvSpPr>
          <p:nvPr/>
        </p:nvSpPr>
        <p:spPr bwMode="auto">
          <a:xfrm>
            <a:off x="5837238" y="6142038"/>
            <a:ext cx="2684462" cy="538162"/>
          </a:xfrm>
          <a:prstGeom prst="rect">
            <a:avLst/>
          </a:prstGeom>
          <a:solidFill>
            <a:srgbClr val="008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tIns="65067" anchor="ctr">
            <a:spAutoFit/>
          </a:bodyPr>
          <a:lstStyle/>
          <a:p>
            <a:pPr algn="ctr" eaLnBrk="1" hangingPunct="1"/>
            <a:r>
              <a:rPr lang="zh-CN" altLang="en-US" sz="2800">
                <a:solidFill>
                  <a:schemeClr val="bg1"/>
                </a:solidFill>
                <a:ea typeface="黑体" charset="0"/>
                <a:cs typeface="黑体" charset="0"/>
              </a:rPr>
              <a:t>京广铁路被破坏</a:t>
            </a:r>
          </a:p>
        </p:txBody>
      </p:sp>
      <p:sp>
        <p:nvSpPr>
          <p:cNvPr id="114695" name="AutoShape 9"/>
          <p:cNvSpPr>
            <a:spLocks noChangeArrowheads="1"/>
          </p:cNvSpPr>
          <p:nvPr/>
        </p:nvSpPr>
        <p:spPr bwMode="auto">
          <a:xfrm>
            <a:off x="2933700" y="2184400"/>
            <a:ext cx="3429000" cy="2171700"/>
          </a:xfrm>
          <a:prstGeom prst="irregularSeal2">
            <a:avLst/>
          </a:prstGeom>
          <a:solidFill>
            <a:srgbClr val="008000"/>
          </a:solidFill>
          <a:ln w="9525">
            <a:solidFill>
              <a:srgbClr val="008000"/>
            </a:solidFill>
            <a:miter lim="800000"/>
            <a:headEnd/>
            <a:tailEnd/>
          </a:ln>
        </p:spPr>
        <p:txBody>
          <a:bodyPr wrap="none" anchor="ctr"/>
          <a:lstStyle/>
          <a:p>
            <a:pPr eaLnBrk="1" hangingPunct="1">
              <a:lnSpc>
                <a:spcPct val="90000"/>
              </a:lnSpc>
              <a:spcBef>
                <a:spcPct val="50000"/>
              </a:spcBef>
              <a:buFontTx/>
              <a:buChar char="•"/>
            </a:pPr>
            <a:endParaRPr lang="zh-CN" altLang="en-US"/>
          </a:p>
        </p:txBody>
      </p:sp>
      <p:sp>
        <p:nvSpPr>
          <p:cNvPr id="114696" name="Text Box 10"/>
          <p:cNvSpPr txBox="1">
            <a:spLocks noChangeArrowheads="1"/>
          </p:cNvSpPr>
          <p:nvPr/>
        </p:nvSpPr>
        <p:spPr bwMode="auto">
          <a:xfrm>
            <a:off x="3632200" y="2730500"/>
            <a:ext cx="1968500" cy="974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lgn="ctr">
              <a:spcBef>
                <a:spcPct val="50000"/>
              </a:spcBef>
            </a:pPr>
            <a:r>
              <a:rPr lang="zh-CN" altLang="en-US" sz="2900">
                <a:solidFill>
                  <a:schemeClr val="bg1"/>
                </a:solidFill>
                <a:latin typeface="Times New Roman" charset="0"/>
                <a:ea typeface="黑体" charset="0"/>
                <a:cs typeface="黑体" charset="0"/>
              </a:rPr>
              <a:t>“</a:t>
            </a:r>
            <a:r>
              <a:rPr lang="en-US" altLang="zh-CN" sz="2900">
                <a:solidFill>
                  <a:schemeClr val="bg1"/>
                </a:solidFill>
                <a:latin typeface="Times New Roman" charset="0"/>
                <a:ea typeface="黑体" charset="0"/>
                <a:cs typeface="黑体" charset="0"/>
              </a:rPr>
              <a:t>75.8”</a:t>
            </a:r>
            <a:r>
              <a:rPr lang="zh-CN" altLang="en-US" sz="2900">
                <a:solidFill>
                  <a:schemeClr val="bg1"/>
                </a:solidFill>
                <a:latin typeface="Times New Roman" charset="0"/>
                <a:ea typeface="黑体" charset="0"/>
                <a:cs typeface="黑体" charset="0"/>
              </a:rPr>
              <a:t>淮河连续溃坝</a:t>
            </a:r>
          </a:p>
        </p:txBody>
      </p:sp>
      <p:sp>
        <p:nvSpPr>
          <p:cNvPr id="114697" name="Text Box 11"/>
          <p:cNvSpPr txBox="1">
            <a:spLocks noChangeArrowheads="1"/>
          </p:cNvSpPr>
          <p:nvPr/>
        </p:nvSpPr>
        <p:spPr bwMode="auto">
          <a:xfrm>
            <a:off x="2527300" y="3987800"/>
            <a:ext cx="3975100" cy="650875"/>
          </a:xfrm>
          <a:prstGeom prst="rect">
            <a:avLst/>
          </a:prstGeom>
          <a:solidFill>
            <a:srgbClr val="0080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8000"/>
            </a:extrusionClr>
          </a:sp3d>
        </p:spPr>
        <p:txBody>
          <a:bodyPr>
            <a:spAutoFit/>
            <a:flatTx/>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lgn="ctr">
              <a:spcBef>
                <a:spcPct val="50000"/>
              </a:spcBef>
            </a:pPr>
            <a:r>
              <a:rPr lang="zh-CN" altLang="en-US" sz="3600">
                <a:solidFill>
                  <a:srgbClr val="FFFF00"/>
                </a:solidFill>
                <a:latin typeface="Times New Roman" charset="0"/>
                <a:ea typeface="黑体" charset="0"/>
                <a:cs typeface="黑体" charset="0"/>
              </a:rPr>
              <a:t>梯级库群灾害放大</a:t>
            </a:r>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2" name="Text Box 4"/>
          <p:cNvSpPr txBox="1">
            <a:spLocks noChangeArrowheads="1"/>
          </p:cNvSpPr>
          <p:nvPr/>
        </p:nvSpPr>
        <p:spPr bwMode="auto">
          <a:xfrm>
            <a:off x="1123950" y="238125"/>
            <a:ext cx="7216775" cy="595313"/>
          </a:xfrm>
          <a:prstGeom prst="rect">
            <a:avLst/>
          </a:prstGeom>
          <a:noFill/>
          <a:ln w="9525">
            <a:noFill/>
            <a:miter lim="800000"/>
            <a:headEnd/>
            <a:tailEnd/>
          </a:ln>
          <a:effectLst/>
        </p:spPr>
        <p:txBody>
          <a:bodyPr>
            <a:spAutoFit/>
          </a:bodyPr>
          <a:lstStyle/>
          <a:p>
            <a:pPr algn="ctr" eaLnBrk="1" hangingPunct="1">
              <a:spcBef>
                <a:spcPct val="50000"/>
              </a:spcBef>
              <a:buClr>
                <a:srgbClr val="FF3300"/>
              </a:buClr>
              <a:buSzPct val="80000"/>
              <a:buFont typeface="Wingdings" pitchFamily="2" charset="2"/>
              <a:buNone/>
              <a:defRPr/>
            </a:pPr>
            <a:r>
              <a:rPr lang="zh-CN" altLang="en-US" sz="3300">
                <a:effectLst>
                  <a:outerShdw blurRad="38100" dist="38100" dir="2700000" algn="tl">
                    <a:srgbClr val="C0C0C0"/>
                  </a:outerShdw>
                </a:effectLst>
                <a:latin typeface="Times New Roman" pitchFamily="18" charset="0"/>
                <a:ea typeface="黑体" pitchFamily="49" charset="-122"/>
                <a:cs typeface="+mn-cs"/>
              </a:rPr>
              <a:t>国家公共安全保障的重大需求</a:t>
            </a:r>
            <a:endParaRPr lang="zh-CN" altLang="en-US" sz="4100">
              <a:effectLst>
                <a:outerShdw blurRad="38100" dist="38100" dir="2700000" algn="tl">
                  <a:srgbClr val="C0C0C0"/>
                </a:outerShdw>
              </a:effectLst>
              <a:latin typeface="Times New Roman" pitchFamily="18" charset="0"/>
              <a:ea typeface="黑体" pitchFamily="49" charset="-122"/>
              <a:cs typeface="+mn-cs"/>
            </a:endParaRPr>
          </a:p>
        </p:txBody>
      </p:sp>
      <p:sp>
        <p:nvSpPr>
          <p:cNvPr id="115715" name="Line 5"/>
          <p:cNvSpPr>
            <a:spLocks noChangeShapeType="1"/>
          </p:cNvSpPr>
          <p:nvPr/>
        </p:nvSpPr>
        <p:spPr bwMode="auto">
          <a:xfrm>
            <a:off x="188913" y="979488"/>
            <a:ext cx="8775700" cy="0"/>
          </a:xfrm>
          <a:prstGeom prst="line">
            <a:avLst/>
          </a:prstGeom>
          <a:noFill/>
          <a:ln w="50800">
            <a:solidFill>
              <a:schemeClr val="folHlink"/>
            </a:solidFill>
            <a:round/>
            <a:headEnd/>
            <a:tailEnd/>
          </a:ln>
          <a:extLst>
            <a:ext uri="{909E8E84-426E-40dd-AFC4-6F175D3DCCD1}">
              <a14:hiddenFill xmlns:a14="http://schemas.microsoft.com/office/drawing/2010/main" xmlns="">
                <a:noFill/>
              </a14:hiddenFill>
            </a:ext>
          </a:extLst>
        </p:spPr>
        <p:txBody>
          <a:bodyPr wrap="none"/>
          <a:lstStyle/>
          <a:p>
            <a:endParaRPr lang="zh-CN" altLang="en-US"/>
          </a:p>
        </p:txBody>
      </p:sp>
      <p:pic>
        <p:nvPicPr>
          <p:cNvPr id="115716" name="Picture 6" descr="黄河悬河"/>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654675" y="1139825"/>
            <a:ext cx="3489325" cy="2606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5717" name="Rectangle 7"/>
          <p:cNvSpPr>
            <a:spLocks noChangeArrowheads="1"/>
          </p:cNvSpPr>
          <p:nvPr/>
        </p:nvSpPr>
        <p:spPr bwMode="auto">
          <a:xfrm>
            <a:off x="5665788" y="1081088"/>
            <a:ext cx="2500312" cy="1187450"/>
          </a:xfrm>
          <a:prstGeom prst="rect">
            <a:avLst/>
          </a:prstGeom>
          <a:solidFill>
            <a:srgbClr val="008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2400">
                <a:latin typeface="Times New Roman" charset="0"/>
                <a:ea typeface="黑体" charset="0"/>
                <a:cs typeface="黑体" charset="0"/>
              </a:rPr>
              <a:t>黄河下游地上悬河，孕育极大的溃堤风险</a:t>
            </a:r>
          </a:p>
        </p:txBody>
      </p:sp>
      <p:pic>
        <p:nvPicPr>
          <p:cNvPr id="115718" name="Picture 8" descr="小海子水库决口"/>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643563" y="3813175"/>
            <a:ext cx="3500437" cy="3044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5719" name="Text Box 9"/>
          <p:cNvSpPr txBox="1">
            <a:spLocks noChangeArrowheads="1"/>
          </p:cNvSpPr>
          <p:nvPr/>
        </p:nvSpPr>
        <p:spPr bwMode="auto">
          <a:xfrm>
            <a:off x="5613400" y="3835400"/>
            <a:ext cx="3530600" cy="457200"/>
          </a:xfrm>
          <a:prstGeom prst="rect">
            <a:avLst/>
          </a:prstGeom>
          <a:solidFill>
            <a:srgbClr val="008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spcBef>
                <a:spcPct val="50000"/>
              </a:spcBef>
            </a:pPr>
            <a:r>
              <a:rPr lang="zh-CN" altLang="en-US" sz="2400">
                <a:solidFill>
                  <a:srgbClr val="0000FF"/>
                </a:solidFill>
                <a:latin typeface="Times New Roman" charset="0"/>
                <a:ea typeface="黑体" charset="0"/>
                <a:cs typeface="黑体" charset="0"/>
              </a:rPr>
              <a:t>小海子水库溃决 </a:t>
            </a:r>
          </a:p>
        </p:txBody>
      </p:sp>
      <p:sp>
        <p:nvSpPr>
          <p:cNvPr id="115720" name="Text Box 10"/>
          <p:cNvSpPr txBox="1">
            <a:spLocks noChangeArrowheads="1"/>
          </p:cNvSpPr>
          <p:nvPr/>
        </p:nvSpPr>
        <p:spPr bwMode="auto">
          <a:xfrm>
            <a:off x="217488" y="1274763"/>
            <a:ext cx="5407025" cy="54848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1750">
                <a:solidFill>
                  <a:srgbClr val="000000"/>
                </a:solidFill>
                <a:miter lim="800000"/>
                <a:headEnd/>
                <a:tailEnd/>
              </a14:hiddenLine>
            </a:ext>
          </a:extLst>
        </p:spPr>
        <p:txBody>
          <a:bodyPr>
            <a:spAutoFit/>
          </a:bodyPr>
          <a:lstStyle>
            <a:lvl1pPr marL="444500" indent="-444500">
              <a:defRPr sz="3200" b="1">
                <a:solidFill>
                  <a:srgbClr val="000000"/>
                </a:solidFill>
                <a:latin typeface="Arial" charset="0"/>
                <a:ea typeface="宋体" charset="0"/>
                <a:cs typeface="宋体" charset="0"/>
              </a:defRPr>
            </a:lvl1pPr>
            <a:lvl2pPr>
              <a:defRPr sz="2800" b="1">
                <a:solidFill>
                  <a:srgbClr val="000000"/>
                </a:solidFill>
                <a:latin typeface="Arial" charset="0"/>
                <a:ea typeface="宋体" charset="0"/>
              </a:defRPr>
            </a:lvl2pPr>
            <a:lvl3pPr>
              <a:defRPr sz="2400" b="1">
                <a:solidFill>
                  <a:srgbClr val="000000"/>
                </a:solidFill>
                <a:latin typeface="Arial" charset="0"/>
                <a:ea typeface="宋体" charset="0"/>
              </a:defRPr>
            </a:lvl3pPr>
            <a:lvl4pPr>
              <a:defRPr sz="2000" b="1">
                <a:solidFill>
                  <a:srgbClr val="000000"/>
                </a:solidFill>
                <a:latin typeface="Arial" charset="0"/>
                <a:ea typeface="宋体" charset="0"/>
              </a:defRPr>
            </a:lvl4pPr>
            <a:lvl5pPr>
              <a:defRPr sz="2000" b="1">
                <a:solidFill>
                  <a:srgbClr val="000000"/>
                </a:solidFill>
                <a:latin typeface="Arial" charset="0"/>
                <a:ea typeface="宋体" charset="0"/>
              </a:defRPr>
            </a:lvl5pPr>
            <a:lvl6pPr eaLnBrk="0" hangingPunct="0">
              <a:defRPr sz="2000" b="1">
                <a:solidFill>
                  <a:srgbClr val="000000"/>
                </a:solidFill>
                <a:latin typeface="Arial" charset="0"/>
                <a:ea typeface="宋体" charset="0"/>
              </a:defRPr>
            </a:lvl6pPr>
            <a:lvl7pPr eaLnBrk="0" hangingPunct="0">
              <a:defRPr sz="2000" b="1">
                <a:solidFill>
                  <a:srgbClr val="000000"/>
                </a:solidFill>
                <a:latin typeface="Arial" charset="0"/>
                <a:ea typeface="宋体" charset="0"/>
              </a:defRPr>
            </a:lvl7pPr>
            <a:lvl8pPr eaLnBrk="0" hangingPunct="0">
              <a:defRPr sz="2000" b="1">
                <a:solidFill>
                  <a:srgbClr val="000000"/>
                </a:solidFill>
                <a:latin typeface="Arial" charset="0"/>
                <a:ea typeface="宋体" charset="0"/>
              </a:defRPr>
            </a:lvl8pPr>
            <a:lvl9pPr eaLnBrk="0" hangingPunct="0">
              <a:defRPr sz="2000" b="1">
                <a:solidFill>
                  <a:srgbClr val="000000"/>
                </a:solidFill>
                <a:latin typeface="Arial" charset="0"/>
                <a:ea typeface="宋体" charset="0"/>
              </a:defRPr>
            </a:lvl9pPr>
          </a:lstStyle>
          <a:p>
            <a:pPr>
              <a:spcBef>
                <a:spcPct val="30000"/>
              </a:spcBef>
              <a:buClr>
                <a:srgbClr val="FF0000"/>
              </a:buClr>
              <a:buFont typeface="Wingdings" charset="0"/>
              <a:buChar char="l"/>
            </a:pPr>
            <a:r>
              <a:rPr lang="zh-CN" altLang="en-US" sz="2800">
                <a:solidFill>
                  <a:srgbClr val="0000FF"/>
                </a:solidFill>
                <a:ea typeface="黑体" charset="0"/>
                <a:cs typeface="黑体" charset="0"/>
              </a:rPr>
              <a:t>经济命脉：</a:t>
            </a:r>
            <a:r>
              <a:rPr lang="zh-CN" altLang="en-US" sz="2600">
                <a:solidFill>
                  <a:srgbClr val="0000FF"/>
                </a:solidFill>
                <a:ea typeface="黑体" charset="0"/>
                <a:cs typeface="黑体" charset="0"/>
              </a:rPr>
              <a:t>我国城市、广大农村供水及防洪安全依赖大坝及堤防保护，一旦发生坝堤溃决灾害，将严重影响我国经济的持续发展</a:t>
            </a:r>
          </a:p>
          <a:p>
            <a:pPr>
              <a:spcBef>
                <a:spcPct val="30000"/>
              </a:spcBef>
              <a:buClr>
                <a:srgbClr val="FF0000"/>
              </a:buClr>
              <a:buFont typeface="Wingdings" charset="0"/>
              <a:buChar char="l"/>
            </a:pPr>
            <a:endParaRPr lang="zh-CN" altLang="en-US" sz="800">
              <a:solidFill>
                <a:srgbClr val="0000FF"/>
              </a:solidFill>
              <a:ea typeface="黑体" charset="0"/>
              <a:cs typeface="黑体" charset="0"/>
            </a:endParaRPr>
          </a:p>
          <a:p>
            <a:pPr>
              <a:spcBef>
                <a:spcPct val="30000"/>
              </a:spcBef>
              <a:buClr>
                <a:srgbClr val="FF0000"/>
              </a:buClr>
              <a:buFont typeface="Wingdings" charset="0"/>
              <a:buChar char="l"/>
            </a:pPr>
            <a:r>
              <a:rPr lang="zh-CN" altLang="en-US" sz="2800">
                <a:solidFill>
                  <a:srgbClr val="0000FF"/>
                </a:solidFill>
                <a:ea typeface="黑体" charset="0"/>
                <a:cs typeface="黑体" charset="0"/>
              </a:rPr>
              <a:t>坝堤溃决新的活跃期</a:t>
            </a:r>
          </a:p>
          <a:p>
            <a:pPr>
              <a:spcBef>
                <a:spcPct val="30000"/>
              </a:spcBef>
              <a:buClr>
                <a:srgbClr val="FF0000"/>
              </a:buClr>
              <a:buFont typeface="Wingdings" charset="0"/>
              <a:buChar char="ü"/>
            </a:pPr>
            <a:r>
              <a:rPr lang="zh-CN" altLang="en-US" sz="2600">
                <a:solidFill>
                  <a:srgbClr val="0000FF"/>
                </a:solidFill>
                <a:ea typeface="黑体" charset="0"/>
                <a:cs typeface="黑体" charset="0"/>
              </a:rPr>
              <a:t>1960</a:t>
            </a:r>
            <a:r>
              <a:rPr lang="en-US" altLang="zh-CN" sz="2600">
                <a:solidFill>
                  <a:srgbClr val="0000FF"/>
                </a:solidFill>
                <a:ea typeface="黑体" charset="0"/>
                <a:cs typeface="黑体" charset="0"/>
              </a:rPr>
              <a:t>-70</a:t>
            </a:r>
            <a:r>
              <a:rPr lang="zh-CN" altLang="en-US" sz="2600">
                <a:solidFill>
                  <a:srgbClr val="0000FF"/>
                </a:solidFill>
                <a:ea typeface="黑体" charset="0"/>
                <a:cs typeface="黑体" charset="0"/>
              </a:rPr>
              <a:t>年代为我国坝堤溃决的高峰期， “63.8”洪水海河流域溃坝319座，“75.8”洪水淮河流域溃坝62座</a:t>
            </a:r>
          </a:p>
          <a:p>
            <a:pPr>
              <a:spcBef>
                <a:spcPct val="30000"/>
              </a:spcBef>
              <a:buClr>
                <a:srgbClr val="FF0000"/>
              </a:buClr>
              <a:buFont typeface="Wingdings" charset="0"/>
              <a:buChar char="ü"/>
            </a:pPr>
            <a:r>
              <a:rPr lang="zh-CN" altLang="en-US" sz="2600">
                <a:solidFill>
                  <a:srgbClr val="0000FF"/>
                </a:solidFill>
                <a:ea typeface="黑体" charset="0"/>
                <a:cs typeface="黑体" charset="0"/>
              </a:rPr>
              <a:t>1990年以来，进入新的坝堤溃决多发期，最近</a:t>
            </a:r>
            <a:r>
              <a:rPr lang="en-US" altLang="zh-CN" sz="2600">
                <a:solidFill>
                  <a:srgbClr val="0000FF"/>
                </a:solidFill>
                <a:ea typeface="黑体" charset="0"/>
                <a:cs typeface="黑体" charset="0"/>
              </a:rPr>
              <a:t>2007.4.19</a:t>
            </a:r>
            <a:r>
              <a:rPr lang="zh-CN" altLang="en-US" sz="2600">
                <a:solidFill>
                  <a:srgbClr val="0000FF"/>
                </a:solidFill>
                <a:ea typeface="黑体" charset="0"/>
                <a:cs typeface="黑体" charset="0"/>
              </a:rPr>
              <a:t>甘肃小海子水库决口</a:t>
            </a:r>
            <a:r>
              <a:rPr lang="zh-CN" altLang="en-US" sz="2900" b="0">
                <a:solidFill>
                  <a:srgbClr val="0000FF"/>
                </a:solidFill>
                <a:latin typeface="Times New Roman" charset="0"/>
                <a:ea typeface="黑体" charset="0"/>
                <a:cs typeface="黑体" charset="0"/>
              </a:rPr>
              <a:t> </a:t>
            </a: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4" name="Text Box 4"/>
          <p:cNvSpPr txBox="1">
            <a:spLocks noChangeArrowheads="1"/>
          </p:cNvSpPr>
          <p:nvPr/>
        </p:nvSpPr>
        <p:spPr bwMode="auto">
          <a:xfrm>
            <a:off x="0" y="347663"/>
            <a:ext cx="9144000" cy="641350"/>
          </a:xfrm>
          <a:prstGeom prst="rect">
            <a:avLst/>
          </a:prstGeom>
          <a:noFill/>
          <a:ln w="9525">
            <a:noFill/>
            <a:miter lim="800000"/>
            <a:headEnd/>
            <a:tailEnd/>
          </a:ln>
          <a:effectLst/>
        </p:spPr>
        <p:txBody>
          <a:bodyPr>
            <a:spAutoFit/>
          </a:bodyPr>
          <a:lstStyle>
            <a:lvl1pPr>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algn="ctr" eaLnBrk="1" hangingPunct="1">
              <a:spcBef>
                <a:spcPct val="50000"/>
              </a:spcBef>
              <a:buClr>
                <a:srgbClr val="FF3300"/>
              </a:buClr>
              <a:buSzPct val="80000"/>
              <a:buFont typeface="Wingdings" charset="0"/>
              <a:buNone/>
            </a:pPr>
            <a:r>
              <a:rPr lang="zh-CN" altLang="en-CA" sz="3600">
                <a:effectLst>
                  <a:outerShdw blurRad="38100" dist="38100" dir="2700000" algn="tl">
                    <a:srgbClr val="DDDDDD"/>
                  </a:outerShdw>
                </a:effectLst>
                <a:latin typeface="黑体" charset="0"/>
                <a:ea typeface="黑体" charset="0"/>
                <a:cs typeface="黑体" charset="0"/>
              </a:rPr>
              <a:t>坝堤溃决灾害：国际社会面临的</a:t>
            </a:r>
            <a:r>
              <a:rPr lang="zh-CN" altLang="en-US" sz="3600">
                <a:effectLst>
                  <a:outerShdw blurRad="38100" dist="38100" dir="2700000" algn="tl">
                    <a:srgbClr val="DDDDDD"/>
                  </a:outerShdw>
                </a:effectLst>
                <a:latin typeface="黑体" charset="0"/>
                <a:ea typeface="黑体" charset="0"/>
                <a:cs typeface="黑体" charset="0"/>
              </a:rPr>
              <a:t>共同</a:t>
            </a:r>
            <a:r>
              <a:rPr lang="zh-CN" altLang="en-CA" sz="3600">
                <a:effectLst>
                  <a:outerShdw blurRad="38100" dist="38100" dir="2700000" algn="tl">
                    <a:srgbClr val="DDDDDD"/>
                  </a:outerShdw>
                </a:effectLst>
                <a:latin typeface="黑体" charset="0"/>
                <a:ea typeface="黑体" charset="0"/>
                <a:cs typeface="黑体" charset="0"/>
              </a:rPr>
              <a:t>挑战</a:t>
            </a:r>
            <a:endParaRPr lang="zh-CN" altLang="en-US" sz="3600">
              <a:effectLst>
                <a:outerShdw blurRad="38100" dist="38100" dir="2700000" algn="tl">
                  <a:srgbClr val="DDDDDD"/>
                </a:outerShdw>
              </a:effectLst>
              <a:latin typeface="黑体" charset="0"/>
              <a:ea typeface="黑体" charset="0"/>
              <a:cs typeface="黑体" charset="0"/>
            </a:endParaRPr>
          </a:p>
        </p:txBody>
      </p:sp>
      <p:sp>
        <p:nvSpPr>
          <p:cNvPr id="977925" name="Text Box 5"/>
          <p:cNvSpPr txBox="1">
            <a:spLocks noChangeArrowheads="1"/>
          </p:cNvSpPr>
          <p:nvPr/>
        </p:nvSpPr>
        <p:spPr bwMode="auto">
          <a:xfrm>
            <a:off x="350838" y="1368425"/>
            <a:ext cx="7218362" cy="519113"/>
          </a:xfrm>
          <a:prstGeom prst="rect">
            <a:avLst/>
          </a:prstGeom>
          <a:noFill/>
          <a:ln w="9525">
            <a:noFill/>
            <a:miter lim="800000"/>
            <a:headEnd/>
            <a:tailEnd/>
          </a:ln>
          <a:effectLst/>
        </p:spPr>
        <p:txBody>
          <a:bodyPr>
            <a:spAutoFit/>
            <a:flatTx/>
          </a:bodyPr>
          <a:lstStyle>
            <a:lvl1pPr marL="266700" indent="-2667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spcBef>
                <a:spcPct val="50000"/>
              </a:spcBef>
              <a:buClr>
                <a:srgbClr val="FF3300"/>
              </a:buClr>
              <a:buFont typeface="Wingdings" charset="0"/>
              <a:buChar char="l"/>
            </a:pPr>
            <a:r>
              <a:rPr lang="zh-CN" altLang="en-US" sz="2800">
                <a:effectLst>
                  <a:outerShdw blurRad="38100" dist="38100" dir="2700000" algn="tl">
                    <a:srgbClr val="DDDDDD"/>
                  </a:outerShdw>
                </a:effectLst>
                <a:latin typeface="黑体" charset="0"/>
                <a:ea typeface="黑体" charset="0"/>
                <a:cs typeface="黑体" charset="0"/>
              </a:rPr>
              <a:t> 世界各国都不断发生坝堤溃决灾害事件</a:t>
            </a:r>
          </a:p>
        </p:txBody>
      </p:sp>
      <p:sp>
        <p:nvSpPr>
          <p:cNvPr id="116740" name="Line 6"/>
          <p:cNvSpPr>
            <a:spLocks noChangeShapeType="1"/>
          </p:cNvSpPr>
          <p:nvPr/>
        </p:nvSpPr>
        <p:spPr bwMode="auto">
          <a:xfrm>
            <a:off x="188913" y="1143000"/>
            <a:ext cx="8775700" cy="0"/>
          </a:xfrm>
          <a:prstGeom prst="line">
            <a:avLst/>
          </a:prstGeom>
          <a:noFill/>
          <a:ln w="50800">
            <a:solidFill>
              <a:schemeClr val="folHlink"/>
            </a:solidFill>
            <a:round/>
            <a:headEnd/>
            <a:tailEnd/>
          </a:ln>
          <a:extLst>
            <a:ext uri="{909E8E84-426E-40dd-AFC4-6F175D3DCCD1}">
              <a14:hiddenFill xmlns:a14="http://schemas.microsoft.com/office/drawing/2010/main" xmlns="">
                <a:noFill/>
              </a14:hiddenFill>
            </a:ext>
          </a:extLst>
        </p:spPr>
        <p:txBody>
          <a:bodyPr wrap="none"/>
          <a:lstStyle/>
          <a:p>
            <a:endParaRPr lang="zh-CN" altLang="en-US"/>
          </a:p>
        </p:txBody>
      </p:sp>
      <p:sp>
        <p:nvSpPr>
          <p:cNvPr id="116741" name="Rectangle 7"/>
          <p:cNvSpPr>
            <a:spLocks noChangeArrowheads="1"/>
          </p:cNvSpPr>
          <p:nvPr/>
        </p:nvSpPr>
        <p:spPr bwMode="auto">
          <a:xfrm>
            <a:off x="719138" y="1978025"/>
            <a:ext cx="8035925" cy="1917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marL="177800" indent="-177800">
              <a:buSzPct val="50000"/>
              <a:buFont typeface="Wingdings" charset="0"/>
              <a:buChar char="Ø"/>
            </a:pPr>
            <a:r>
              <a:rPr lang="zh-CN" altLang="en-US" sz="2400">
                <a:latin typeface="Times New Roman" charset="0"/>
                <a:ea typeface="黑体" charset="0"/>
                <a:cs typeface="黑体" charset="0"/>
              </a:rPr>
              <a:t>巴西俄洛斯坝溃决导致下游有</a:t>
            </a:r>
            <a:r>
              <a:rPr lang="en-US" altLang="zh-CN" sz="2400">
                <a:latin typeface="Times New Roman" charset="0"/>
                <a:ea typeface="黑体" charset="0"/>
                <a:cs typeface="黑体" charset="0"/>
              </a:rPr>
              <a:t>100</a:t>
            </a:r>
            <a:r>
              <a:rPr lang="zh-CN" altLang="en-US" sz="2400">
                <a:latin typeface="Times New Roman" charset="0"/>
                <a:ea typeface="黑体" charset="0"/>
                <a:cs typeface="黑体" charset="0"/>
              </a:rPr>
              <a:t>万居民需紧急撤退</a:t>
            </a:r>
          </a:p>
          <a:p>
            <a:pPr marL="177800" indent="-177800">
              <a:buSzPct val="50000"/>
              <a:buFont typeface="Wingdings" charset="0"/>
              <a:buChar char="Ø"/>
            </a:pPr>
            <a:r>
              <a:rPr lang="zh-CN" altLang="en-US" sz="2400">
                <a:latin typeface="Times New Roman" charset="0"/>
                <a:ea typeface="黑体" charset="0"/>
                <a:cs typeface="黑体" charset="0"/>
              </a:rPr>
              <a:t>前苏联的基谢廖夫斯克土坝溃决经济损失超过</a:t>
            </a:r>
            <a:r>
              <a:rPr lang="en-US" altLang="zh-CN" sz="2400">
                <a:latin typeface="Times New Roman" charset="0"/>
                <a:ea typeface="黑体" charset="0"/>
                <a:cs typeface="黑体" charset="0"/>
              </a:rPr>
              <a:t>400</a:t>
            </a:r>
            <a:r>
              <a:rPr lang="zh-CN" altLang="en-US" sz="2400">
                <a:latin typeface="Times New Roman" charset="0"/>
                <a:ea typeface="黑体" charset="0"/>
                <a:cs typeface="黑体" charset="0"/>
              </a:rPr>
              <a:t>亿卢布</a:t>
            </a:r>
          </a:p>
          <a:p>
            <a:pPr marL="177800" indent="-177800">
              <a:buSzPct val="50000"/>
              <a:buFont typeface="Wingdings" charset="0"/>
              <a:buChar char="Ø"/>
            </a:pPr>
            <a:r>
              <a:rPr lang="zh-CN" altLang="en-US" sz="2400">
                <a:latin typeface="Times New Roman" charset="0"/>
                <a:ea typeface="黑体" charset="0"/>
                <a:cs typeface="黑体" charset="0"/>
              </a:rPr>
              <a:t>意大利奥布拉跨坝致使</a:t>
            </a:r>
            <a:r>
              <a:rPr lang="en-US" altLang="zh-CN" sz="2400">
                <a:latin typeface="Times New Roman" charset="0"/>
                <a:ea typeface="黑体" charset="0"/>
                <a:cs typeface="黑体" charset="0"/>
              </a:rPr>
              <a:t>100</a:t>
            </a:r>
            <a:r>
              <a:rPr lang="zh-CN" altLang="en-US" sz="2400">
                <a:latin typeface="Times New Roman" charset="0"/>
                <a:ea typeface="黑体" charset="0"/>
                <a:cs typeface="黑体" charset="0"/>
              </a:rPr>
              <a:t>多人死亡 </a:t>
            </a:r>
          </a:p>
          <a:p>
            <a:pPr marL="177800" indent="-177800">
              <a:buSzPct val="50000"/>
              <a:buFont typeface="Wingdings" charset="0"/>
              <a:buChar char="Ø"/>
            </a:pPr>
            <a:r>
              <a:rPr lang="zh-CN" altLang="en-US" sz="2400">
                <a:latin typeface="Times New Roman" charset="0"/>
                <a:ea typeface="黑体" charset="0"/>
                <a:cs typeface="黑体" charset="0"/>
              </a:rPr>
              <a:t>法国马尔帕赛特跨坝造成</a:t>
            </a:r>
            <a:r>
              <a:rPr lang="en-US" altLang="zh-CN" sz="2400">
                <a:latin typeface="Times New Roman" charset="0"/>
                <a:ea typeface="黑体" charset="0"/>
                <a:cs typeface="黑体" charset="0"/>
              </a:rPr>
              <a:t>421</a:t>
            </a:r>
            <a:r>
              <a:rPr lang="zh-CN" altLang="en-US" sz="2400">
                <a:latin typeface="Times New Roman" charset="0"/>
                <a:ea typeface="黑体" charset="0"/>
                <a:cs typeface="黑体" charset="0"/>
              </a:rPr>
              <a:t>人死亡</a:t>
            </a:r>
          </a:p>
          <a:p>
            <a:pPr marL="177800" indent="-177800">
              <a:buSzPct val="50000"/>
              <a:buFont typeface="Wingdings" charset="0"/>
              <a:buChar char="Ø"/>
            </a:pPr>
            <a:r>
              <a:rPr lang="zh-CN" altLang="en-US" sz="2400">
                <a:latin typeface="Times New Roman" charset="0"/>
                <a:ea typeface="黑体" charset="0"/>
                <a:cs typeface="黑体" charset="0"/>
              </a:rPr>
              <a:t>美国野牛溪、提塘大坝溃决数百人死亡，损失</a:t>
            </a:r>
            <a:r>
              <a:rPr lang="en-US" altLang="zh-CN" sz="2400">
                <a:latin typeface="Times New Roman" charset="0"/>
                <a:ea typeface="黑体" charset="0"/>
                <a:cs typeface="黑体" charset="0"/>
              </a:rPr>
              <a:t>20</a:t>
            </a:r>
            <a:r>
              <a:rPr lang="zh-CN" altLang="en-US" sz="2400">
                <a:latin typeface="Times New Roman" charset="0"/>
                <a:ea typeface="黑体" charset="0"/>
                <a:cs typeface="黑体" charset="0"/>
              </a:rPr>
              <a:t>亿美元</a:t>
            </a:r>
          </a:p>
        </p:txBody>
      </p:sp>
      <p:sp>
        <p:nvSpPr>
          <p:cNvPr id="977928" name="Text Box 8"/>
          <p:cNvSpPr txBox="1">
            <a:spLocks noChangeArrowheads="1"/>
          </p:cNvSpPr>
          <p:nvPr/>
        </p:nvSpPr>
        <p:spPr bwMode="auto">
          <a:xfrm>
            <a:off x="314325" y="4557713"/>
            <a:ext cx="8589963" cy="519112"/>
          </a:xfrm>
          <a:prstGeom prst="rect">
            <a:avLst/>
          </a:prstGeom>
          <a:noFill/>
          <a:ln w="9525">
            <a:noFill/>
            <a:miter lim="800000"/>
            <a:headEnd/>
            <a:tailEnd/>
          </a:ln>
          <a:effectLst/>
        </p:spPr>
        <p:txBody>
          <a:bodyPr>
            <a:spAutoFit/>
            <a:flatTx/>
          </a:bodyPr>
          <a:lstStyle>
            <a:lvl1pPr marL="266700" indent="-266700">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pPr eaLnBrk="1" hangingPunct="1">
              <a:spcBef>
                <a:spcPct val="50000"/>
              </a:spcBef>
              <a:buClr>
                <a:srgbClr val="FF3300"/>
              </a:buClr>
              <a:buFont typeface="Wingdings" charset="0"/>
              <a:buChar char="l"/>
            </a:pPr>
            <a:r>
              <a:rPr lang="zh-CN" altLang="en-US" sz="2800">
                <a:effectLst>
                  <a:outerShdw blurRad="38100" dist="38100" dir="2700000" algn="tl">
                    <a:srgbClr val="DDDDDD"/>
                  </a:outerShdw>
                </a:effectLst>
                <a:latin typeface="黑体" charset="0"/>
                <a:ea typeface="黑体" charset="0"/>
                <a:cs typeface="黑体" charset="0"/>
              </a:rPr>
              <a:t> 世界各国对大坝的安全问题都给予了高度的重视 </a:t>
            </a:r>
          </a:p>
        </p:txBody>
      </p:sp>
      <p:sp>
        <p:nvSpPr>
          <p:cNvPr id="116743" name="Rectangle 9"/>
          <p:cNvSpPr>
            <a:spLocks noChangeArrowheads="1"/>
          </p:cNvSpPr>
          <p:nvPr/>
        </p:nvSpPr>
        <p:spPr bwMode="auto">
          <a:xfrm>
            <a:off x="719138" y="5043488"/>
            <a:ext cx="8035925" cy="1373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marL="177800" indent="-177800">
              <a:buSzPct val="50000"/>
              <a:buFont typeface="Wingdings" charset="0"/>
              <a:buChar char="Ø"/>
            </a:pPr>
            <a:r>
              <a:rPr lang="zh-CN" altLang="en-US" sz="2800">
                <a:latin typeface="Times New Roman" charset="0"/>
                <a:ea typeface="黑体" charset="0"/>
                <a:cs typeface="黑体" charset="0"/>
              </a:rPr>
              <a:t>国际大坝委员会第</a:t>
            </a:r>
            <a:r>
              <a:rPr lang="en-US" altLang="zh-CN" sz="2800">
                <a:latin typeface="Times New Roman" charset="0"/>
                <a:ea typeface="黑体" charset="0"/>
                <a:cs typeface="黑体" charset="0"/>
              </a:rPr>
              <a:t>111</a:t>
            </a:r>
            <a:r>
              <a:rPr lang="zh-CN" altLang="en-US" sz="2800">
                <a:latin typeface="Times New Roman" charset="0"/>
                <a:ea typeface="黑体" charset="0"/>
                <a:cs typeface="黑体" charset="0"/>
              </a:rPr>
              <a:t>号技术公报明确声明，作为国际组织，有责任总结国际上开展溃坝研究的经验，为制定详细的应急管理措施提供技术支持</a:t>
            </a:r>
          </a:p>
        </p:txBody>
      </p:sp>
      <p:sp>
        <p:nvSpPr>
          <p:cNvPr id="116744" name="Rectangle 10"/>
          <p:cNvSpPr>
            <a:spLocks noChangeArrowheads="1"/>
          </p:cNvSpPr>
          <p:nvPr/>
        </p:nvSpPr>
        <p:spPr bwMode="auto">
          <a:xfrm>
            <a:off x="668338" y="3973513"/>
            <a:ext cx="8035925" cy="519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marL="177800" indent="-177800">
              <a:buSzPct val="50000"/>
              <a:buFont typeface="Wingdings" charset="0"/>
              <a:buChar char="Ø"/>
            </a:pPr>
            <a:r>
              <a:rPr lang="zh-CN" altLang="en-US" sz="2800">
                <a:latin typeface="Times New Roman" charset="0"/>
                <a:ea typeface="黑体" charset="0"/>
                <a:cs typeface="黑体" charset="0"/>
              </a:rPr>
              <a:t>美国1951年以前溃坝率为2.2％，之后为0.49％</a:t>
            </a:r>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
          <p:cNvSpPr>
            <a:spLocks noGrp="1" noRot="1" noChangeArrowheads="1"/>
          </p:cNvSpPr>
          <p:nvPr>
            <p:ph type="title"/>
          </p:nvPr>
        </p:nvSpPr>
        <p:spPr>
          <a:xfrm>
            <a:off x="395288" y="0"/>
            <a:ext cx="8540750" cy="1143000"/>
          </a:xfrm>
          <a:noFill/>
          <a:extLst>
            <a:ext uri="{909E8E84-426E-40dd-AFC4-6F175D3DCCD1}">
              <a14:hiddenFill xmlns:a14="http://schemas.microsoft.com/office/drawing/2010/main" xmlns="">
                <a:solidFill>
                  <a:schemeClr val="tx2"/>
                </a:solidFill>
              </a14:hiddenFill>
            </a:ext>
          </a:extLst>
        </p:spPr>
        <p:txBody>
          <a:bodyPr/>
          <a:lstStyle/>
          <a:p>
            <a:pPr eaLnBrk="1" hangingPunct="1"/>
            <a:r>
              <a:rPr lang="zh-CN" altLang="en-US">
                <a:solidFill>
                  <a:srgbClr val="0000FF"/>
                </a:solidFill>
                <a:latin typeface="Arial" charset="0"/>
                <a:ea typeface="楷体_GB2312" charset="0"/>
                <a:cs typeface="楷体_GB2312" charset="0"/>
              </a:rPr>
              <a:t>项目风险</a:t>
            </a:r>
          </a:p>
        </p:txBody>
      </p:sp>
      <p:sp>
        <p:nvSpPr>
          <p:cNvPr id="117763" name="Rectangle 5"/>
          <p:cNvSpPr>
            <a:spLocks noGrp="1" noRot="1" noChangeArrowheads="1"/>
          </p:cNvSpPr>
          <p:nvPr>
            <p:ph type="body" idx="1"/>
          </p:nvPr>
        </p:nvSpPr>
        <p:spPr>
          <a:xfrm>
            <a:off x="0" y="935038"/>
            <a:ext cx="9144000" cy="3886200"/>
          </a:xfrm>
          <a:noFill/>
          <a:extLst>
            <a:ext uri="{909E8E84-426E-40dd-AFC4-6F175D3DCCD1}">
              <a14:hiddenFill xmlns:a14="http://schemas.microsoft.com/office/drawing/2010/main" xmlns="">
                <a:solidFill>
                  <a:srgbClr val="FFFFFF"/>
                </a:solidFill>
              </a14:hiddenFill>
            </a:ext>
          </a:extLst>
        </p:spPr>
        <p:txBody>
          <a:bodyPr/>
          <a:lstStyle/>
          <a:p>
            <a:pPr marL="381000" indent="-381000" eaLnBrk="1" hangingPunct="1">
              <a:lnSpc>
                <a:spcPct val="80000"/>
              </a:lnSpc>
              <a:buFontTx/>
              <a:buNone/>
            </a:pPr>
            <a:r>
              <a:rPr lang="zh-CN" altLang="en-US" sz="2800">
                <a:solidFill>
                  <a:srgbClr val="800000"/>
                </a:solidFill>
                <a:latin typeface="Arial" charset="0"/>
                <a:ea typeface="宋体" charset="0"/>
              </a:rPr>
              <a:t>决策草率，对项目风险分析不足，先期大量投入无法回收</a:t>
            </a:r>
            <a:r>
              <a:rPr lang="en-US" altLang="zh-CN" sz="2800">
                <a:solidFill>
                  <a:srgbClr val="800000"/>
                </a:solidFill>
                <a:latin typeface="Arial" charset="0"/>
                <a:ea typeface="宋体" charset="0"/>
              </a:rPr>
              <a:t>:</a:t>
            </a:r>
          </a:p>
          <a:p>
            <a:pPr marL="381000" indent="-381000" eaLnBrk="1" hangingPunct="1">
              <a:lnSpc>
                <a:spcPct val="80000"/>
              </a:lnSpc>
            </a:pPr>
            <a:r>
              <a:rPr lang="zh-CN" altLang="en-US" sz="2400">
                <a:solidFill>
                  <a:srgbClr val="0000FF"/>
                </a:solidFill>
                <a:latin typeface="Arial" charset="0"/>
                <a:ea typeface="宋体" charset="0"/>
              </a:rPr>
              <a:t>三门峡电站</a:t>
            </a:r>
            <a:r>
              <a:rPr lang="en-US" altLang="zh-CN" sz="2400">
                <a:solidFill>
                  <a:srgbClr val="0000FF"/>
                </a:solidFill>
                <a:latin typeface="Arial" charset="0"/>
                <a:ea typeface="宋体" charset="0"/>
              </a:rPr>
              <a:t>,</a:t>
            </a:r>
          </a:p>
          <a:p>
            <a:pPr marL="381000" indent="-381000" eaLnBrk="1" hangingPunct="1">
              <a:lnSpc>
                <a:spcPct val="80000"/>
              </a:lnSpc>
            </a:pPr>
            <a:r>
              <a:rPr lang="zh-CN" altLang="en-US" sz="2400">
                <a:solidFill>
                  <a:srgbClr val="0000FF"/>
                </a:solidFill>
                <a:latin typeface="Arial" charset="0"/>
                <a:ea typeface="宋体" charset="0"/>
              </a:rPr>
              <a:t>贵州省近几年用国家无偿修建的水利工程、坡改梯工程，不能正常发挥作用的分别高达</a:t>
            </a:r>
            <a:r>
              <a:rPr lang="en-US" altLang="zh-CN" sz="2400">
                <a:solidFill>
                  <a:srgbClr val="0000FF"/>
                </a:solidFill>
                <a:latin typeface="Arial" charset="0"/>
                <a:ea typeface="宋体" charset="0"/>
              </a:rPr>
              <a:t>40%</a:t>
            </a:r>
            <a:r>
              <a:rPr lang="zh-CN" altLang="en-US" sz="2400">
                <a:solidFill>
                  <a:srgbClr val="0000FF"/>
                </a:solidFill>
                <a:latin typeface="Arial" charset="0"/>
                <a:ea typeface="宋体" charset="0"/>
              </a:rPr>
              <a:t>和</a:t>
            </a:r>
            <a:r>
              <a:rPr lang="en-US" altLang="zh-CN" sz="2400">
                <a:solidFill>
                  <a:srgbClr val="0000FF"/>
                </a:solidFill>
                <a:latin typeface="Arial" charset="0"/>
                <a:ea typeface="宋体" charset="0"/>
              </a:rPr>
              <a:t>60%</a:t>
            </a:r>
            <a:r>
              <a:rPr lang="zh-CN" altLang="en-US" sz="2400">
                <a:solidFill>
                  <a:srgbClr val="0000FF"/>
                </a:solidFill>
                <a:latin typeface="Arial" charset="0"/>
                <a:ea typeface="宋体" charset="0"/>
              </a:rPr>
              <a:t>。</a:t>
            </a:r>
            <a:r>
              <a:rPr lang="zh-CN" altLang="en-US" sz="2800" b="0">
                <a:solidFill>
                  <a:srgbClr val="0000FF"/>
                </a:solidFill>
                <a:latin typeface="Arial" charset="0"/>
                <a:ea typeface="宋体" charset="0"/>
              </a:rPr>
              <a:t> </a:t>
            </a:r>
          </a:p>
          <a:p>
            <a:pPr marL="381000" indent="-381000" eaLnBrk="1" hangingPunct="1">
              <a:lnSpc>
                <a:spcPct val="80000"/>
              </a:lnSpc>
              <a:buFontTx/>
              <a:buNone/>
            </a:pPr>
            <a:r>
              <a:rPr lang="zh-CN" altLang="en-US" sz="2800">
                <a:solidFill>
                  <a:srgbClr val="800000"/>
                </a:solidFill>
                <a:latin typeface="Arial" charset="0"/>
                <a:ea typeface="宋体" charset="0"/>
              </a:rPr>
              <a:t>项目风险事件中</a:t>
            </a:r>
            <a:r>
              <a:rPr lang="en-US" altLang="zh-CN" sz="2800">
                <a:solidFill>
                  <a:srgbClr val="800000"/>
                </a:solidFill>
                <a:latin typeface="Arial" charset="0"/>
                <a:ea typeface="宋体" charset="0"/>
              </a:rPr>
              <a:t>,</a:t>
            </a:r>
            <a:r>
              <a:rPr lang="zh-CN" altLang="en-US" sz="2800">
                <a:solidFill>
                  <a:srgbClr val="800000"/>
                </a:solidFill>
                <a:latin typeface="Arial" charset="0"/>
                <a:ea typeface="宋体" charset="0"/>
              </a:rPr>
              <a:t>很多发生在项目实施和运营过程中</a:t>
            </a:r>
            <a:r>
              <a:rPr lang="en-US" altLang="zh-CN" sz="2800">
                <a:solidFill>
                  <a:srgbClr val="800000"/>
                </a:solidFill>
                <a:latin typeface="Arial" charset="0"/>
                <a:ea typeface="宋体" charset="0"/>
              </a:rPr>
              <a:t>:</a:t>
            </a:r>
          </a:p>
          <a:p>
            <a:pPr marL="381000" indent="-381000" eaLnBrk="1" hangingPunct="1">
              <a:lnSpc>
                <a:spcPct val="80000"/>
              </a:lnSpc>
            </a:pPr>
            <a:r>
              <a:rPr lang="zh-CN" altLang="en-US" sz="2400">
                <a:solidFill>
                  <a:srgbClr val="0000FF"/>
                </a:solidFill>
                <a:latin typeface="Arial" charset="0"/>
                <a:ea typeface="宋体" charset="0"/>
              </a:rPr>
              <a:t>重庆綦江虹桥垮塌</a:t>
            </a:r>
          </a:p>
          <a:p>
            <a:pPr marL="381000" indent="-381000" eaLnBrk="1" hangingPunct="1">
              <a:lnSpc>
                <a:spcPct val="80000"/>
              </a:lnSpc>
            </a:pPr>
            <a:r>
              <a:rPr lang="zh-CN" altLang="en-US" sz="2400">
                <a:solidFill>
                  <a:srgbClr val="0000FF"/>
                </a:solidFill>
                <a:latin typeface="Arial" charset="0"/>
                <a:ea typeface="宋体" charset="0"/>
              </a:rPr>
              <a:t>林石化爆炸造成松花江污染</a:t>
            </a:r>
          </a:p>
          <a:p>
            <a:pPr marL="381000" indent="-381000" eaLnBrk="1" hangingPunct="1">
              <a:lnSpc>
                <a:spcPct val="80000"/>
              </a:lnSpc>
            </a:pPr>
            <a:r>
              <a:rPr lang="zh-CN" altLang="en-US" sz="2400">
                <a:solidFill>
                  <a:srgbClr val="0000FF"/>
                </a:solidFill>
                <a:latin typeface="Arial" charset="0"/>
                <a:ea typeface="宋体" charset="0"/>
              </a:rPr>
              <a:t>云南省投资</a:t>
            </a:r>
            <a:r>
              <a:rPr lang="en-US" altLang="zh-CN" sz="2400">
                <a:solidFill>
                  <a:srgbClr val="0000FF"/>
                </a:solidFill>
                <a:latin typeface="Arial" charset="0"/>
                <a:ea typeface="宋体" charset="0"/>
              </a:rPr>
              <a:t>3.8</a:t>
            </a:r>
            <a:r>
              <a:rPr lang="zh-CN" altLang="en-US" sz="2400">
                <a:solidFill>
                  <a:srgbClr val="0000FF"/>
                </a:solidFill>
                <a:latin typeface="Arial" charset="0"/>
                <a:ea typeface="宋体" charset="0"/>
              </a:rPr>
              <a:t>亿元的昆禄公路，通车</a:t>
            </a:r>
            <a:r>
              <a:rPr lang="en-US" altLang="zh-CN" sz="2400">
                <a:solidFill>
                  <a:srgbClr val="0000FF"/>
                </a:solidFill>
                <a:latin typeface="Arial" charset="0"/>
                <a:ea typeface="宋体" charset="0"/>
              </a:rPr>
              <a:t>18</a:t>
            </a:r>
            <a:r>
              <a:rPr lang="zh-CN" altLang="en-US" sz="2400">
                <a:solidFill>
                  <a:srgbClr val="0000FF"/>
                </a:solidFill>
                <a:latin typeface="Arial" charset="0"/>
                <a:ea typeface="宋体" charset="0"/>
              </a:rPr>
              <a:t>天就路面开裂，不得不再拨</a:t>
            </a:r>
            <a:r>
              <a:rPr lang="en-US" altLang="zh-CN" sz="2400">
                <a:solidFill>
                  <a:srgbClr val="0000FF"/>
                </a:solidFill>
                <a:latin typeface="Arial" charset="0"/>
                <a:ea typeface="宋体" charset="0"/>
              </a:rPr>
              <a:t>1</a:t>
            </a:r>
            <a:r>
              <a:rPr lang="zh-CN" altLang="en-US" sz="2400">
                <a:solidFill>
                  <a:srgbClr val="0000FF"/>
                </a:solidFill>
                <a:latin typeface="Arial" charset="0"/>
                <a:ea typeface="宋体" charset="0"/>
              </a:rPr>
              <a:t>亿元重建；</a:t>
            </a:r>
          </a:p>
          <a:p>
            <a:pPr marL="381000" indent="-381000" eaLnBrk="1" hangingPunct="1">
              <a:lnSpc>
                <a:spcPct val="80000"/>
              </a:lnSpc>
            </a:pPr>
            <a:r>
              <a:rPr lang="zh-CN" altLang="en-US" sz="2400">
                <a:solidFill>
                  <a:srgbClr val="0000FF"/>
                </a:solidFill>
                <a:latin typeface="Arial" charset="0"/>
                <a:ea typeface="宋体" charset="0"/>
              </a:rPr>
              <a:t>四川省预期</a:t>
            </a:r>
            <a:r>
              <a:rPr lang="en-US" altLang="zh-CN" sz="2400">
                <a:solidFill>
                  <a:srgbClr val="0000FF"/>
                </a:solidFill>
                <a:latin typeface="Arial" charset="0"/>
                <a:ea typeface="宋体" charset="0"/>
              </a:rPr>
              <a:t>50</a:t>
            </a:r>
            <a:r>
              <a:rPr lang="zh-CN" altLang="en-US" sz="2400">
                <a:solidFill>
                  <a:srgbClr val="0000FF"/>
                </a:solidFill>
                <a:latin typeface="Arial" charset="0"/>
                <a:ea typeface="宋体" charset="0"/>
              </a:rPr>
              <a:t>年使用期的嘉陵江大桥，仅使用</a:t>
            </a:r>
            <a:r>
              <a:rPr lang="en-US" altLang="zh-CN" sz="2400">
                <a:solidFill>
                  <a:srgbClr val="0000FF"/>
                </a:solidFill>
                <a:latin typeface="Arial" charset="0"/>
                <a:ea typeface="宋体" charset="0"/>
              </a:rPr>
              <a:t>7</a:t>
            </a:r>
            <a:r>
              <a:rPr lang="zh-CN" altLang="en-US" sz="2400">
                <a:solidFill>
                  <a:srgbClr val="0000FF"/>
                </a:solidFill>
                <a:latin typeface="Arial" charset="0"/>
                <a:ea typeface="宋体" charset="0"/>
              </a:rPr>
              <a:t>年就面临报废；</a:t>
            </a:r>
          </a:p>
          <a:p>
            <a:pPr marL="381000" indent="-381000" eaLnBrk="1" hangingPunct="1">
              <a:lnSpc>
                <a:spcPct val="80000"/>
              </a:lnSpc>
              <a:buFontTx/>
              <a:buNone/>
            </a:pPr>
            <a:r>
              <a:rPr lang="zh-CN" altLang="en-US" sz="2800">
                <a:solidFill>
                  <a:srgbClr val="800000"/>
                </a:solidFill>
                <a:latin typeface="Arial" charset="0"/>
                <a:ea typeface="宋体" charset="0"/>
              </a:rPr>
              <a:t>未能处理好与利益相关者关系</a:t>
            </a:r>
            <a:r>
              <a:rPr lang="en-US" altLang="zh-CN" sz="2800">
                <a:solidFill>
                  <a:srgbClr val="800000"/>
                </a:solidFill>
                <a:latin typeface="Arial" charset="0"/>
                <a:ea typeface="宋体" charset="0"/>
              </a:rPr>
              <a:t>,</a:t>
            </a:r>
            <a:r>
              <a:rPr lang="zh-CN" altLang="en-US" sz="2800">
                <a:solidFill>
                  <a:srgbClr val="800000"/>
                </a:solidFill>
                <a:latin typeface="Arial" charset="0"/>
                <a:ea typeface="宋体" charset="0"/>
              </a:rPr>
              <a:t>造成投资损失和社会的不和谐</a:t>
            </a:r>
            <a:r>
              <a:rPr lang="en-US" altLang="zh-CN" sz="2800">
                <a:solidFill>
                  <a:srgbClr val="800000"/>
                </a:solidFill>
                <a:latin typeface="Arial" charset="0"/>
                <a:ea typeface="宋体" charset="0"/>
              </a:rPr>
              <a:t>: </a:t>
            </a:r>
          </a:p>
          <a:p>
            <a:pPr marL="381000" indent="-381000" eaLnBrk="1" hangingPunct="1">
              <a:lnSpc>
                <a:spcPct val="80000"/>
              </a:lnSpc>
            </a:pPr>
            <a:r>
              <a:rPr lang="zh-CN" altLang="en-US" sz="2400">
                <a:solidFill>
                  <a:srgbClr val="0000FF"/>
                </a:solidFill>
                <a:latin typeface="Arial" charset="0"/>
                <a:ea typeface="宋体" charset="0"/>
              </a:rPr>
              <a:t>瀑布沟电站</a:t>
            </a:r>
          </a:p>
          <a:p>
            <a:pPr marL="381000" indent="-381000" eaLnBrk="1" hangingPunct="1">
              <a:lnSpc>
                <a:spcPct val="80000"/>
              </a:lnSpc>
            </a:pPr>
            <a:r>
              <a:rPr lang="zh-CN" altLang="en-US" sz="2400">
                <a:solidFill>
                  <a:srgbClr val="0000FF"/>
                </a:solidFill>
                <a:latin typeface="Arial" charset="0"/>
                <a:ea typeface="宋体" charset="0"/>
              </a:rPr>
              <a:t>杨柳湖电站</a:t>
            </a:r>
            <a:r>
              <a:rPr lang="en-US" altLang="zh-CN" sz="2400">
                <a:solidFill>
                  <a:srgbClr val="0000FF"/>
                </a:solidFill>
                <a:latin typeface="Arial" charset="0"/>
                <a:ea typeface="宋体" charset="0"/>
              </a:rPr>
              <a:t> </a:t>
            </a: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p:cNvSpPr>
          <p:nvPr>
            <p:ph type="title"/>
          </p:nvPr>
        </p:nvSpPr>
        <p:spPr/>
        <p:txBody>
          <a:bodyPr/>
          <a:lstStyle/>
          <a:p>
            <a:r>
              <a:rPr lang="en-US" altLang="zh-CN">
                <a:latin typeface="Arial" charset="0"/>
                <a:ea typeface="楷体_GB2312" charset="0"/>
                <a:cs typeface="楷体_GB2312" charset="0"/>
              </a:rPr>
              <a:t> </a:t>
            </a:r>
            <a:r>
              <a:rPr lang="zh-CN" altLang="en-US">
                <a:latin typeface="Arial" charset="0"/>
                <a:ea typeface="楷体_GB2312" charset="0"/>
                <a:cs typeface="楷体_GB2312" charset="0"/>
              </a:rPr>
              <a:t>水电项目：业主风险</a:t>
            </a:r>
          </a:p>
        </p:txBody>
      </p:sp>
      <p:sp>
        <p:nvSpPr>
          <p:cNvPr id="118787" name="内容占位符 2"/>
          <p:cNvSpPr>
            <a:spLocks noGrp="1"/>
          </p:cNvSpPr>
          <p:nvPr>
            <p:ph idx="1"/>
          </p:nvPr>
        </p:nvSpPr>
        <p:spPr>
          <a:xfrm>
            <a:off x="660400" y="977900"/>
            <a:ext cx="9144000" cy="5880100"/>
          </a:xfrm>
        </p:spPr>
        <p:txBody>
          <a:bodyPr/>
          <a:lstStyle/>
          <a:p>
            <a:pPr>
              <a:buFontTx/>
              <a:buNone/>
            </a:pPr>
            <a:r>
              <a:rPr lang="en-US" altLang="zh-CN">
                <a:latin typeface="Arial" charset="0"/>
                <a:ea typeface="宋体" charset="0"/>
              </a:rPr>
              <a:t>1. Immigration</a:t>
            </a:r>
          </a:p>
          <a:p>
            <a:pPr>
              <a:buFontTx/>
              <a:buNone/>
            </a:pPr>
            <a:r>
              <a:rPr lang="en-US" altLang="zh-CN">
                <a:latin typeface="Arial" charset="0"/>
                <a:ea typeface="宋体" charset="0"/>
              </a:rPr>
              <a:t>2. Incompetence of subcontractors</a:t>
            </a:r>
          </a:p>
          <a:p>
            <a:pPr>
              <a:buFontTx/>
              <a:buNone/>
            </a:pPr>
            <a:r>
              <a:rPr lang="en-US" altLang="zh-CN">
                <a:latin typeface="Arial" charset="0"/>
                <a:ea typeface="宋体" charset="0"/>
              </a:rPr>
              <a:t>3. Delay</a:t>
            </a:r>
          </a:p>
          <a:p>
            <a:pPr>
              <a:buFontTx/>
              <a:buNone/>
            </a:pPr>
            <a:r>
              <a:rPr lang="en-US" altLang="zh-CN">
                <a:latin typeface="Arial" charset="0"/>
                <a:ea typeface="宋体" charset="0"/>
              </a:rPr>
              <a:t>4. </a:t>
            </a:r>
            <a:r>
              <a:rPr lang="en-GB" altLang="zh-CN">
                <a:latin typeface="Arial" charset="0"/>
                <a:ea typeface="宋体" charset="0"/>
              </a:rPr>
              <a:t>Inadequate or incorrect design</a:t>
            </a:r>
          </a:p>
          <a:p>
            <a:pPr>
              <a:buFontTx/>
              <a:buNone/>
            </a:pPr>
            <a:r>
              <a:rPr lang="en-GB" altLang="zh-CN">
                <a:latin typeface="Arial" charset="0"/>
                <a:ea typeface="宋体" charset="0"/>
              </a:rPr>
              <a:t>5. Safety</a:t>
            </a:r>
          </a:p>
          <a:p>
            <a:pPr>
              <a:buFontTx/>
              <a:buNone/>
            </a:pPr>
            <a:r>
              <a:rPr lang="en-GB" altLang="zh-CN">
                <a:latin typeface="Arial" charset="0"/>
                <a:ea typeface="宋体" charset="0"/>
              </a:rPr>
              <a:t>6. Premature facility failure</a:t>
            </a:r>
          </a:p>
          <a:p>
            <a:pPr>
              <a:buFontTx/>
              <a:buNone/>
            </a:pPr>
            <a:r>
              <a:rPr lang="en-GB" altLang="zh-CN">
                <a:latin typeface="Arial" charset="0"/>
                <a:ea typeface="宋体" charset="0"/>
              </a:rPr>
              <a:t>7. Ecological and environmental influence </a:t>
            </a:r>
          </a:p>
          <a:p>
            <a:pPr>
              <a:buFontTx/>
              <a:buNone/>
            </a:pPr>
            <a:r>
              <a:rPr lang="en-GB" altLang="zh-CN">
                <a:latin typeface="Arial" charset="0"/>
                <a:ea typeface="宋体" charset="0"/>
              </a:rPr>
              <a:t>8. Quality</a:t>
            </a:r>
          </a:p>
          <a:p>
            <a:pPr>
              <a:buFontTx/>
              <a:buNone/>
            </a:pPr>
            <a:r>
              <a:rPr lang="en-GB" altLang="zh-CN">
                <a:latin typeface="Arial" charset="0"/>
                <a:ea typeface="宋体" charset="0"/>
              </a:rPr>
              <a:t>9.  Delay of drawings</a:t>
            </a:r>
          </a:p>
          <a:p>
            <a:pPr>
              <a:buFontTx/>
              <a:buNone/>
            </a:pPr>
            <a:r>
              <a:rPr lang="en-GB" altLang="zh-CN">
                <a:latin typeface="Arial" charset="0"/>
                <a:ea typeface="宋体" charset="0"/>
              </a:rPr>
              <a:t>10. Failure to identify defects</a:t>
            </a:r>
            <a:endParaRPr lang="zh-CN" altLang="en-US">
              <a:latin typeface="Arial" charset="0"/>
              <a:ea typeface="宋体" charset="0"/>
            </a:endParaRPr>
          </a:p>
          <a:p>
            <a:endParaRPr lang="zh-CN" altLang="en-US">
              <a:latin typeface="Arial" charset="0"/>
              <a:ea typeface="宋体" charset="0"/>
            </a:endParaRPr>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ph type="title"/>
          </p:nvPr>
        </p:nvSpPr>
        <p:spPr/>
        <p:txBody>
          <a:bodyPr/>
          <a:lstStyle/>
          <a:p>
            <a:r>
              <a:rPr lang="en-US" altLang="zh-CN">
                <a:latin typeface="Arial" charset="0"/>
                <a:ea typeface="楷体_GB2312" charset="0"/>
                <a:cs typeface="楷体_GB2312" charset="0"/>
              </a:rPr>
              <a:t> </a:t>
            </a:r>
            <a:r>
              <a:rPr lang="zh-CN" altLang="en-US">
                <a:latin typeface="Arial" charset="0"/>
                <a:ea typeface="楷体_GB2312" charset="0"/>
                <a:cs typeface="楷体_GB2312" charset="0"/>
              </a:rPr>
              <a:t>水电项目：</a:t>
            </a:r>
            <a:r>
              <a:rPr lang="en-US" altLang="zh-CN">
                <a:latin typeface="Arial" charset="0"/>
                <a:ea typeface="楷体_GB2312" charset="0"/>
                <a:cs typeface="楷体_GB2312" charset="0"/>
              </a:rPr>
              <a:t> </a:t>
            </a:r>
            <a:r>
              <a:rPr lang="zh-CN" altLang="en-US">
                <a:latin typeface="Arial" charset="0"/>
                <a:ea typeface="楷体_GB2312" charset="0"/>
                <a:cs typeface="楷体_GB2312" charset="0"/>
              </a:rPr>
              <a:t>承包商风险</a:t>
            </a:r>
          </a:p>
        </p:txBody>
      </p:sp>
      <p:sp>
        <p:nvSpPr>
          <p:cNvPr id="119811" name="内容占位符 2"/>
          <p:cNvSpPr>
            <a:spLocks noGrp="1"/>
          </p:cNvSpPr>
          <p:nvPr>
            <p:ph idx="1"/>
          </p:nvPr>
        </p:nvSpPr>
        <p:spPr>
          <a:xfrm>
            <a:off x="584200" y="977900"/>
            <a:ext cx="9144000" cy="5880100"/>
          </a:xfrm>
        </p:spPr>
        <p:txBody>
          <a:bodyPr/>
          <a:lstStyle/>
          <a:p>
            <a:pPr marL="514350" indent="-514350">
              <a:buFontTx/>
              <a:buAutoNum type="arabicPeriod"/>
            </a:pPr>
            <a:r>
              <a:rPr lang="en-GB" altLang="zh-CN">
                <a:latin typeface="Arial" charset="0"/>
                <a:ea typeface="宋体" charset="0"/>
              </a:rPr>
              <a:t>Quality  </a:t>
            </a:r>
          </a:p>
          <a:p>
            <a:pPr marL="514350" indent="-514350">
              <a:buFontTx/>
              <a:buAutoNum type="arabicPeriod"/>
            </a:pPr>
            <a:r>
              <a:rPr lang="en-GB" altLang="zh-CN">
                <a:latin typeface="Arial" charset="0"/>
                <a:ea typeface="宋体" charset="0"/>
              </a:rPr>
              <a:t> Cost control </a:t>
            </a:r>
          </a:p>
          <a:p>
            <a:pPr marL="514350" indent="-514350">
              <a:buFontTx/>
              <a:buAutoNum type="arabicPeriod"/>
            </a:pPr>
            <a:r>
              <a:rPr lang="en-GB" altLang="zh-CN">
                <a:latin typeface="Arial" charset="0"/>
                <a:ea typeface="宋体" charset="0"/>
              </a:rPr>
              <a:t> Safety  </a:t>
            </a:r>
          </a:p>
          <a:p>
            <a:pPr marL="514350" indent="-514350">
              <a:buFontTx/>
              <a:buAutoNum type="arabicPeriod"/>
            </a:pPr>
            <a:r>
              <a:rPr lang="en-GB" altLang="zh-CN">
                <a:latin typeface="Arial" charset="0"/>
                <a:ea typeface="宋体" charset="0"/>
              </a:rPr>
              <a:t>Capability of making profit </a:t>
            </a:r>
          </a:p>
          <a:p>
            <a:pPr marL="514350" indent="-514350">
              <a:buFontTx/>
              <a:buAutoNum type="arabicPeriod"/>
            </a:pPr>
            <a:r>
              <a:rPr lang="en-GB" altLang="zh-CN">
                <a:latin typeface="Arial" charset="0"/>
                <a:ea typeface="宋体" charset="0"/>
              </a:rPr>
              <a:t> Financial </a:t>
            </a:r>
          </a:p>
          <a:p>
            <a:pPr marL="514350" indent="-514350">
              <a:buFontTx/>
              <a:buAutoNum type="arabicPeriod"/>
            </a:pPr>
            <a:r>
              <a:rPr lang="en-US" altLang="zh-CN">
                <a:latin typeface="Arial" charset="0"/>
                <a:ea typeface="宋体" charset="0"/>
              </a:rPr>
              <a:t>Reputation  </a:t>
            </a:r>
          </a:p>
          <a:p>
            <a:pPr marL="514350" indent="-514350">
              <a:buFontTx/>
              <a:buAutoNum type="arabicPeriod"/>
            </a:pPr>
            <a:r>
              <a:rPr lang="en-US" altLang="zh-CN">
                <a:latin typeface="Arial" charset="0"/>
                <a:ea typeface="宋体" charset="0"/>
              </a:rPr>
              <a:t> Claims and disputes </a:t>
            </a:r>
          </a:p>
          <a:p>
            <a:pPr marL="514350" indent="-514350">
              <a:buFontTx/>
              <a:buAutoNum type="arabicPeriod"/>
            </a:pPr>
            <a:r>
              <a:rPr lang="en-US" altLang="zh-CN">
                <a:latin typeface="Arial" charset="0"/>
                <a:ea typeface="宋体" charset="0"/>
              </a:rPr>
              <a:t> </a:t>
            </a:r>
            <a:r>
              <a:rPr lang="en-GB" altLang="zh-CN">
                <a:latin typeface="Arial" charset="0"/>
                <a:ea typeface="宋体" charset="0"/>
              </a:rPr>
              <a:t>Insufficient technology </a:t>
            </a:r>
          </a:p>
          <a:p>
            <a:pPr marL="514350" indent="-514350">
              <a:buFontTx/>
              <a:buAutoNum type="arabicPeriod"/>
            </a:pPr>
            <a:r>
              <a:rPr lang="en-GB" altLang="zh-CN">
                <a:latin typeface="Arial" charset="0"/>
                <a:ea typeface="宋体" charset="0"/>
              </a:rPr>
              <a:t> Incorrect market forecasting </a:t>
            </a:r>
          </a:p>
          <a:p>
            <a:pPr marL="514350" indent="-514350">
              <a:buFontTx/>
              <a:buAutoNum type="arabicPeriod"/>
            </a:pPr>
            <a:r>
              <a:rPr lang="en-GB" altLang="zh-CN">
                <a:latin typeface="Arial" charset="0"/>
                <a:ea typeface="宋体" charset="0"/>
              </a:rPr>
              <a:t> Incompetence of products </a:t>
            </a:r>
            <a:endParaRPr lang="zh-CN" altLang="en-US">
              <a:latin typeface="Arial" charset="0"/>
              <a:ea typeface="宋体" charset="0"/>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0" y="1016000"/>
          <a:ext cx="9144000" cy="5846768"/>
        </p:xfrm>
        <a:graphic>
          <a:graphicData uri="http://schemas.openxmlformats.org/drawingml/2006/table">
            <a:tbl>
              <a:tblPr/>
              <a:tblGrid>
                <a:gridCol w="5376863">
                  <a:extLst>
                    <a:ext uri="{9D8B030D-6E8A-4147-A177-3AD203B41FA5}">
                      <a16:colId xmlns:a16="http://schemas.microsoft.com/office/drawing/2014/main" val="20000"/>
                    </a:ext>
                  </a:extLst>
                </a:gridCol>
                <a:gridCol w="1962150">
                  <a:extLst>
                    <a:ext uri="{9D8B030D-6E8A-4147-A177-3AD203B41FA5}">
                      <a16:colId xmlns:a16="http://schemas.microsoft.com/office/drawing/2014/main" val="20001"/>
                    </a:ext>
                  </a:extLst>
                </a:gridCol>
                <a:gridCol w="1804987">
                  <a:extLst>
                    <a:ext uri="{9D8B030D-6E8A-4147-A177-3AD203B41FA5}">
                      <a16:colId xmlns:a16="http://schemas.microsoft.com/office/drawing/2014/main" val="20002"/>
                    </a:ext>
                  </a:extLst>
                </a:gridCol>
              </a:tblGrid>
              <a:tr h="973138">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endParaRPr kumimoji="0" lang="en-US" altLang="zh-CN" sz="2400" b="0" i="0" u="none" strike="noStrike" cap="none" normalizeH="0" baseline="0">
                        <a:ln>
                          <a:noFill/>
                        </a:ln>
                        <a:solidFill>
                          <a:srgbClr val="000000"/>
                        </a:solidFill>
                        <a:effectLst/>
                        <a:latin typeface="Times New Roman" charset="0"/>
                        <a:ea typeface="宋体" charset="0"/>
                        <a:cs typeface="Times New Roman" charset="0"/>
                      </a:endParaRPr>
                    </a:p>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Types of incidents</a:t>
                      </a:r>
                      <a:endParaRPr kumimoji="0" lang="zh-CN" sz="24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endParaRPr kumimoji="0" lang="en-US" altLang="zh-CN" sz="2400" b="0" i="0" u="none" strike="noStrike" cap="none" normalizeH="0" baseline="0">
                        <a:ln>
                          <a:noFill/>
                        </a:ln>
                        <a:solidFill>
                          <a:srgbClr val="000000"/>
                        </a:solidFill>
                        <a:effectLst/>
                        <a:latin typeface="Times New Roman" charset="0"/>
                        <a:ea typeface="宋体" charset="0"/>
                        <a:cs typeface="Times New Roman" charset="0"/>
                      </a:endParaRPr>
                    </a:p>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Frequency of incidents</a:t>
                      </a:r>
                      <a:endParaRPr kumimoji="0" lang="zh-CN" sz="24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endParaRPr kumimoji="0" lang="en-US" altLang="zh-CN" sz="2400" b="0" i="0" u="none" strike="noStrike" cap="none" normalizeH="0" baseline="0">
                        <a:ln>
                          <a:noFill/>
                        </a:ln>
                        <a:solidFill>
                          <a:srgbClr val="000000"/>
                        </a:solidFill>
                        <a:effectLst/>
                        <a:latin typeface="Times New Roman" charset="0"/>
                        <a:ea typeface="宋体" charset="0"/>
                        <a:cs typeface="Times New Roman" charset="0"/>
                      </a:endParaRPr>
                    </a:p>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Number of deaths</a:t>
                      </a:r>
                      <a:endParaRPr kumimoji="0" lang="zh-CN" sz="24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tabLst/>
                      </a:pPr>
                      <a:r>
                        <a:rPr kumimoji="0" lang="en-GB" altLang="zh-CN" sz="2400" b="0" i="0" u="none" strike="noStrike" cap="none" normalizeH="0" baseline="0">
                          <a:ln>
                            <a:noFill/>
                          </a:ln>
                          <a:solidFill>
                            <a:srgbClr val="800000"/>
                          </a:solidFill>
                          <a:effectLst/>
                          <a:latin typeface="Times New Roman" charset="0"/>
                          <a:ea typeface="宋体" charset="0"/>
                          <a:cs typeface="Times New Roman" charset="0"/>
                        </a:rPr>
                        <a:t>Premature failure of facilities</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8</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36</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Landslides</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6</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31</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Mudflows</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3</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75</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Lifting accidents</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3</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13</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Traffic accidents</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3</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13</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Hitting by falling objects</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2</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8</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Explosions</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2</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8</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Workers falling from high work places</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1</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3</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Collapses of working support systems</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1</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800000"/>
                          </a:solidFill>
                          <a:effectLst/>
                          <a:latin typeface="Times New Roman" charset="0"/>
                          <a:ea typeface="宋体" charset="0"/>
                          <a:cs typeface="Times New Roman" charset="0"/>
                        </a:rPr>
                        <a:t>3</a:t>
                      </a:r>
                      <a:endParaRPr kumimoji="0" lang="zh-CN" sz="2400" b="0" i="0" u="none" strike="noStrike" cap="none" normalizeH="0" baseline="0">
                        <a:ln>
                          <a:noFill/>
                        </a:ln>
                        <a:solidFill>
                          <a:srgbClr val="800000"/>
                        </a:solidFill>
                        <a:effectLst/>
                        <a:latin typeface="Times New Roman" charset="0"/>
                        <a:ea typeface="宋体" charset="0"/>
                        <a:cs typeface="Times New Roman" charset="0"/>
                      </a:endParaRPr>
                    </a:p>
                  </a:txBody>
                  <a:tcPr marL="68580" marR="6858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r h="487363">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Total</a:t>
                      </a:r>
                      <a:endParaRPr kumimoji="0" lang="zh-CN" sz="24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29</a:t>
                      </a:r>
                      <a:endParaRPr kumimoji="0" lang="zh-CN" sz="24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Times New Roman" charset="0"/>
                          <a:ea typeface="宋体" charset="0"/>
                          <a:cs typeface="Times New Roman" charset="0"/>
                        </a:rPr>
                        <a:t>190</a:t>
                      </a:r>
                      <a:endParaRPr kumimoji="0" lang="zh-CN" sz="24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5" name="标题 1"/>
          <p:cNvSpPr txBox="1">
            <a:spLocks/>
          </p:cNvSpPr>
          <p:nvPr/>
        </p:nvSpPr>
        <p:spPr>
          <a:xfrm>
            <a:off x="0" y="12700"/>
            <a:ext cx="8178800" cy="609600"/>
          </a:xfrm>
          <a:prstGeom prst="rect">
            <a:avLst/>
          </a:prstGeom>
        </p:spPr>
        <p:txBody>
          <a:bodyPr/>
          <a:lstStyle>
            <a:lvl1pPr>
              <a:defRPr sz="4000" b="1">
                <a:solidFill>
                  <a:srgbClr val="0000FF"/>
                </a:solidFill>
                <a:latin typeface="Arial" charset="0"/>
                <a:ea typeface="楷体_GB2312" charset="0"/>
                <a:cs typeface="楷体_GB2312" charset="0"/>
              </a:defRPr>
            </a:lvl1pPr>
            <a:lvl2pPr marL="742950" indent="-285750">
              <a:defRPr sz="4000" b="1">
                <a:solidFill>
                  <a:srgbClr val="0000FF"/>
                </a:solidFill>
                <a:latin typeface="Arial" charset="0"/>
                <a:ea typeface="楷体_GB2312" charset="0"/>
                <a:cs typeface="楷体_GB2312" charset="0"/>
              </a:defRPr>
            </a:lvl2pPr>
            <a:lvl3pPr marL="1143000" indent="-228600">
              <a:defRPr sz="4000" b="1">
                <a:solidFill>
                  <a:srgbClr val="0000FF"/>
                </a:solidFill>
                <a:latin typeface="Arial" charset="0"/>
                <a:ea typeface="楷体_GB2312" charset="0"/>
                <a:cs typeface="楷体_GB2312" charset="0"/>
              </a:defRPr>
            </a:lvl3pPr>
            <a:lvl4pPr marL="1600200" indent="-228600">
              <a:defRPr sz="4000" b="1">
                <a:solidFill>
                  <a:srgbClr val="0000FF"/>
                </a:solidFill>
                <a:latin typeface="Arial" charset="0"/>
                <a:ea typeface="楷体_GB2312" charset="0"/>
                <a:cs typeface="楷体_GB2312" charset="0"/>
              </a:defRPr>
            </a:lvl4pPr>
            <a:lvl5pPr marL="2057400" indent="-228600">
              <a:defRPr sz="4000" b="1">
                <a:solidFill>
                  <a:srgbClr val="0000FF"/>
                </a:solidFill>
                <a:latin typeface="Arial"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charset="0"/>
                <a:ea typeface="楷体_GB2312" charset="0"/>
                <a:cs typeface="楷体_GB2312" charset="0"/>
              </a:defRPr>
            </a:lvl9pPr>
          </a:lstStyle>
          <a:p>
            <a:r>
              <a:rPr lang="en-US" altLang="zh-CN" sz="3600">
                <a:solidFill>
                  <a:srgbClr val="990000"/>
                </a:solidFill>
              </a:rPr>
              <a:t> </a:t>
            </a:r>
            <a:r>
              <a:rPr lang="zh-CN" altLang="en-US" sz="3600">
                <a:solidFill>
                  <a:srgbClr val="990000"/>
                </a:solidFill>
              </a:rPr>
              <a:t>水电项目安全风险</a:t>
            </a: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4"/>
          <p:cNvSpPr>
            <a:spLocks noGrp="1" noRot="1" noChangeArrowheads="1"/>
          </p:cNvSpPr>
          <p:nvPr>
            <p:ph type="title"/>
          </p:nvPr>
        </p:nvSpPr>
        <p:spPr>
          <a:xfrm>
            <a:off x="301625" y="685800"/>
            <a:ext cx="8540750" cy="1143000"/>
          </a:xfrm>
          <a:noFill/>
          <a:extLst>
            <a:ext uri="{909E8E84-426E-40dd-AFC4-6F175D3DCCD1}">
              <a14:hiddenFill xmlns:a14="http://schemas.microsoft.com/office/drawing/2010/main" xmlns="">
                <a:solidFill>
                  <a:schemeClr val="tx2"/>
                </a:solidFill>
              </a14:hiddenFill>
            </a:ext>
          </a:extLst>
        </p:spPr>
        <p:txBody>
          <a:bodyPr/>
          <a:lstStyle/>
          <a:p>
            <a:pPr eaLnBrk="1" hangingPunct="1"/>
            <a:endParaRPr lang="zh-CN" altLang="en-US">
              <a:latin typeface="Arial" charset="0"/>
              <a:ea typeface="楷体_GB2312" charset="0"/>
              <a:cs typeface="楷体_GB2312" charset="0"/>
            </a:endParaRPr>
          </a:p>
        </p:txBody>
      </p:sp>
      <p:sp>
        <p:nvSpPr>
          <p:cNvPr id="121859" name="Rectangle 5"/>
          <p:cNvSpPr>
            <a:spLocks noGrp="1" noRot="1" noChangeArrowheads="1"/>
          </p:cNvSpPr>
          <p:nvPr>
            <p:ph type="body" idx="1"/>
          </p:nvPr>
        </p:nvSpPr>
        <p:spPr>
          <a:xfrm>
            <a:off x="304800" y="1981200"/>
            <a:ext cx="8540750" cy="3886200"/>
          </a:xfrm>
          <a:noFill/>
          <a:extLst>
            <a:ext uri="{909E8E84-426E-40dd-AFC4-6F175D3DCCD1}">
              <a14:hiddenFill xmlns:a14="http://schemas.microsoft.com/office/drawing/2010/main" xmlns="">
                <a:solidFill>
                  <a:srgbClr val="FFFFFF"/>
                </a:solidFill>
              </a14:hiddenFill>
            </a:ext>
          </a:extLst>
        </p:spPr>
        <p:txBody>
          <a:bodyPr/>
          <a:lstStyle/>
          <a:p>
            <a:pPr eaLnBrk="1" hangingPunct="1"/>
            <a:endParaRPr lang="zh-CN" altLang="en-US">
              <a:latin typeface="Arial" charset="0"/>
              <a:ea typeface="宋体" charset="0"/>
            </a:endParaRPr>
          </a:p>
        </p:txBody>
      </p:sp>
      <p:pic>
        <p:nvPicPr>
          <p:cNvPr id="121860" name="Picture 6"/>
          <p:cNvPicPr>
            <a:picLocks noChangeAspect="1" noChangeArrowheads="1"/>
          </p:cNvPicPr>
          <p:nvPr/>
        </p:nvPicPr>
        <p:blipFill>
          <a:blip r:embed="rId2">
            <a:extLst>
              <a:ext uri="{28A0092B-C50C-407E-A947-70E740481C1C}">
                <a14:useLocalDpi xmlns:a14="http://schemas.microsoft.com/office/drawing/2010/main" val="0"/>
              </a:ext>
            </a:extLst>
          </a:blip>
          <a:srcRect l="17422" t="14844" r="12877" b="9846"/>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pic>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0" y="317500"/>
            <a:ext cx="8178800" cy="609600"/>
          </a:xfrm>
        </p:spPr>
        <p:txBody>
          <a:bodyPr/>
          <a:lstStyle/>
          <a:p>
            <a:pPr eaLnBrk="1" hangingPunct="1"/>
            <a:r>
              <a:rPr lang="zh-CN" altLang="en-US" sz="3200">
                <a:latin typeface="Arial" charset="0"/>
                <a:ea typeface="楷体_GB2312" charset="0"/>
                <a:cs typeface="楷体_GB2312" charset="0"/>
              </a:rPr>
              <a:t>小结：</a:t>
            </a:r>
            <a:r>
              <a:rPr lang="zh-CN" altLang="en-US" sz="3200">
                <a:solidFill>
                  <a:srgbClr val="660066"/>
                </a:solidFill>
                <a:latin typeface="Arial" charset="0"/>
                <a:ea typeface="楷体_GB2312" charset="0"/>
                <a:cs typeface="楷体_GB2312" charset="0"/>
              </a:rPr>
              <a:t>风险与不确定性分析方法</a:t>
            </a:r>
            <a:br>
              <a:rPr lang="zh-CN" altLang="en-US" sz="3200">
                <a:solidFill>
                  <a:srgbClr val="660066"/>
                </a:solidFill>
                <a:latin typeface="Arial" charset="0"/>
                <a:ea typeface="楷体_GB2312" charset="0"/>
                <a:cs typeface="楷体_GB2312" charset="0"/>
              </a:rPr>
            </a:br>
            <a:endParaRPr lang="zh-CN" altLang="en-US" sz="3200">
              <a:solidFill>
                <a:srgbClr val="660066"/>
              </a:solidFill>
              <a:latin typeface="Arial" charset="0"/>
              <a:ea typeface="楷体_GB2312" charset="0"/>
              <a:cs typeface="楷体_GB2312" charset="0"/>
            </a:endParaRPr>
          </a:p>
        </p:txBody>
      </p:sp>
      <p:sp>
        <p:nvSpPr>
          <p:cNvPr id="122883" name="Rectangle 3"/>
          <p:cNvSpPr>
            <a:spLocks noGrp="1" noChangeArrowheads="1"/>
          </p:cNvSpPr>
          <p:nvPr>
            <p:ph type="body" idx="1"/>
          </p:nvPr>
        </p:nvSpPr>
        <p:spPr/>
        <p:txBody>
          <a:bodyPr/>
          <a:lstStyle/>
          <a:p>
            <a:pPr lvl="1" eaLnBrk="1" hangingPunct="1">
              <a:buFontTx/>
              <a:buNone/>
            </a:pPr>
            <a:r>
              <a:rPr lang="zh-CN" altLang="en-US">
                <a:solidFill>
                  <a:srgbClr val="0000FF"/>
                </a:solidFill>
                <a:latin typeface="Arial" charset="0"/>
                <a:ea typeface="宋体" charset="0"/>
              </a:rPr>
              <a:t>（一）盈亏平衡分析</a:t>
            </a:r>
          </a:p>
          <a:p>
            <a:pPr lvl="1" eaLnBrk="1" hangingPunct="1">
              <a:buFontTx/>
              <a:buNone/>
            </a:pPr>
            <a:r>
              <a:rPr lang="zh-CN" altLang="en-US">
                <a:solidFill>
                  <a:srgbClr val="0000FF"/>
                </a:solidFill>
                <a:latin typeface="Arial" charset="0"/>
                <a:ea typeface="宋体" charset="0"/>
              </a:rPr>
              <a:t>（二）敏感性分析</a:t>
            </a:r>
          </a:p>
          <a:p>
            <a:pPr lvl="1" eaLnBrk="1" hangingPunct="1">
              <a:buFontTx/>
              <a:buNone/>
            </a:pPr>
            <a:r>
              <a:rPr lang="zh-CN" altLang="en-US">
                <a:solidFill>
                  <a:srgbClr val="0000FF"/>
                </a:solidFill>
                <a:latin typeface="Arial" charset="0"/>
                <a:ea typeface="宋体" charset="0"/>
              </a:rPr>
              <a:t>（三）风险分析</a:t>
            </a:r>
          </a:p>
          <a:p>
            <a:pPr eaLnBrk="1" hangingPunct="1"/>
            <a:endParaRPr lang="zh-CN" altLang="en-US">
              <a:solidFill>
                <a:srgbClr val="0000FF"/>
              </a:solidFill>
              <a:latin typeface="Arial" charset="0"/>
              <a:ea typeface="宋体" charset="0"/>
            </a:endParaRPr>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endParaRPr lang="zh-CN" altLang="en-US">
              <a:latin typeface="Arial" charset="0"/>
              <a:ea typeface="楷体_GB2312" charset="0"/>
              <a:cs typeface="楷体_GB2312" charset="0"/>
            </a:endParaRPr>
          </a:p>
        </p:txBody>
      </p:sp>
      <p:sp>
        <p:nvSpPr>
          <p:cNvPr id="123907" name="Rectangle 3"/>
          <p:cNvSpPr>
            <a:spLocks noGrp="1" noChangeArrowheads="1"/>
          </p:cNvSpPr>
          <p:nvPr>
            <p:ph type="body" idx="1"/>
          </p:nvPr>
        </p:nvSpPr>
        <p:spPr/>
        <p:txBody>
          <a:bodyPr/>
          <a:lstStyle/>
          <a:p>
            <a:pPr algn="ctr" eaLnBrk="1" hangingPunct="1">
              <a:buFontTx/>
              <a:buNone/>
            </a:pPr>
            <a:r>
              <a:rPr lang="en-US" altLang="zh-CN" sz="4800">
                <a:latin typeface="Arial" charset="0"/>
                <a:ea typeface="宋体" charset="0"/>
              </a:rPr>
              <a:t>Question?</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Blank Presentation">
  <a:themeElements>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fontScheme name="Blank Presentation">
      <a:majorFont>
        <a:latin typeface="Arial"/>
        <a:ea typeface="楷体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90000"/>
          </a:lnSpc>
          <a:spcBef>
            <a:spcPct val="50000"/>
          </a:spcBef>
          <a:spcAft>
            <a:spcPct val="0"/>
          </a:spcAft>
          <a:buClrTx/>
          <a:buSzTx/>
          <a:buFontTx/>
          <a:buChar char="•"/>
          <a:tabLst/>
          <a:defRPr kumimoji="0" lang="en-US" sz="4000" b="1" i="0" u="none" strike="noStrike" cap="none" normalizeH="0" baseline="0" smtClean="0">
            <a:ln>
              <a:noFill/>
            </a:ln>
            <a:solidFill>
              <a:srgbClr val="0000FF"/>
            </a:solidFill>
            <a:effectLst/>
            <a:latin typeface="Arial"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90000"/>
          </a:lnSpc>
          <a:spcBef>
            <a:spcPct val="50000"/>
          </a:spcBef>
          <a:spcAft>
            <a:spcPct val="0"/>
          </a:spcAft>
          <a:buClrTx/>
          <a:buSzTx/>
          <a:buFontTx/>
          <a:buChar char="•"/>
          <a:tabLst/>
          <a:defRPr kumimoji="0" lang="en-US" sz="4000" b="1" i="0" u="none" strike="noStrike" cap="none" normalizeH="0" baseline="0" smtClean="0">
            <a:ln>
              <a:noFill/>
            </a:ln>
            <a:solidFill>
              <a:srgbClr val="0000FF"/>
            </a:solidFill>
            <a:effectLst/>
            <a:latin typeface="Arial" pitchFamily="34" charset="0"/>
            <a:ea typeface="楷体_GB2312" pitchFamily="49" charset="-122"/>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Presentation">
  <a:themeElements>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fontScheme name="Blank Presentation">
      <a:majorFont>
        <a:latin typeface="Arial"/>
        <a:ea typeface="楷体_GB2312"/>
        <a:cs typeface="楷体_GB2312"/>
      </a:majorFont>
      <a:minorFont>
        <a:latin typeface="Arial"/>
        <a:ea typeface="楷体_GB2312"/>
        <a:cs typeface="楷体_GB2312"/>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11064</TotalTime>
  <Words>5288</Words>
  <Application>Microsoft Office PowerPoint</Application>
  <PresentationFormat>全屏显示(4:3)</PresentationFormat>
  <Paragraphs>910</Paragraphs>
  <Slides>96</Slides>
  <Notes>24</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4</vt:i4>
      </vt:variant>
      <vt:variant>
        <vt:lpstr>幻灯片标题</vt:lpstr>
      </vt:variant>
      <vt:variant>
        <vt:i4>96</vt:i4>
      </vt:variant>
    </vt:vector>
  </HeadingPairs>
  <TitlesOfParts>
    <vt:vector size="117" baseType="lpstr">
      <vt:lpstr>方正舒体</vt:lpstr>
      <vt:lpstr>仿宋体</vt:lpstr>
      <vt:lpstr>黑体</vt:lpstr>
      <vt:lpstr>华文行楷</vt:lpstr>
      <vt:lpstr>华文楷体</vt:lpstr>
      <vt:lpstr>华文新魏</vt:lpstr>
      <vt:lpstr>楷体_GB2312</vt:lpstr>
      <vt:lpstr>宋体</vt:lpstr>
      <vt:lpstr>Arial</vt:lpstr>
      <vt:lpstr>Calibri</vt:lpstr>
      <vt:lpstr>Symbol</vt:lpstr>
      <vt:lpstr>Tahoma</vt:lpstr>
      <vt:lpstr>Times</vt:lpstr>
      <vt:lpstr>Times New Roman</vt:lpstr>
      <vt:lpstr>Wingdings</vt:lpstr>
      <vt:lpstr>Blank Presentation</vt:lpstr>
      <vt:lpstr>1_Blank Presentation</vt:lpstr>
      <vt:lpstr>Equation</vt:lpstr>
      <vt:lpstr>文档</vt:lpstr>
      <vt:lpstr>公式</vt:lpstr>
      <vt:lpstr>Picture</vt:lpstr>
      <vt:lpstr>无锡高架桥侧翻事件</vt:lpstr>
      <vt:lpstr>无锡高架桥侧翻事件</vt:lpstr>
      <vt:lpstr>类似事故之一</vt:lpstr>
      <vt:lpstr>类似事故之二</vt:lpstr>
      <vt:lpstr>类似事故之三</vt:lpstr>
      <vt:lpstr>无锡高架桥侧翻事件</vt:lpstr>
      <vt:lpstr>无锡高架桥侧翻事件</vt:lpstr>
      <vt:lpstr>PowerPoint 演示文稿</vt:lpstr>
      <vt:lpstr>本讲内容</vt:lpstr>
      <vt:lpstr>进行风险与不确定性分析的必要性</vt:lpstr>
      <vt:lpstr>本讲内容</vt:lpstr>
      <vt:lpstr>（一）盈亏平衡分析</vt:lpstr>
      <vt:lpstr>1. 单方案盈亏平衡分析</vt:lpstr>
      <vt:lpstr>1. 单方案盈亏平衡分析</vt:lpstr>
      <vt:lpstr>1. 单方案盈亏平衡分析</vt:lpstr>
      <vt:lpstr>清华园里的煎饼摊…</vt:lpstr>
      <vt:lpstr>清华园里的煎饼摊…</vt:lpstr>
      <vt:lpstr>2. 互斥方案的盈亏平衡分析</vt:lpstr>
      <vt:lpstr>2. 互斥方案的盈亏平衡分析</vt:lpstr>
      <vt:lpstr>盈亏平衡分析——图解法</vt:lpstr>
      <vt:lpstr>例子:</vt:lpstr>
      <vt:lpstr>计算</vt:lpstr>
      <vt:lpstr>内容回顾</vt:lpstr>
      <vt:lpstr>（二）敏感性分析</vt:lpstr>
      <vt:lpstr>敏感性分析目的</vt:lpstr>
      <vt:lpstr>敏感性分析步骤</vt:lpstr>
      <vt:lpstr>敏感性分析图</vt:lpstr>
      <vt:lpstr>敏感性评价</vt:lpstr>
      <vt:lpstr>1. 单因素敏感性分析实例</vt:lpstr>
      <vt:lpstr>1. 单因素敏感性分析实例</vt:lpstr>
      <vt:lpstr>敏感性分析例题</vt:lpstr>
      <vt:lpstr>敏感性分析例题</vt:lpstr>
      <vt:lpstr>敏感性分析例题</vt:lpstr>
      <vt:lpstr>敏感性分析例题</vt:lpstr>
      <vt:lpstr>单因素敏感性分析的局限</vt:lpstr>
      <vt:lpstr>2. 多因素敏感性分析</vt:lpstr>
      <vt:lpstr>2. 多因素敏感性分析实例</vt:lpstr>
      <vt:lpstr>更直观的图示法</vt:lpstr>
      <vt:lpstr> 公路项目财务敏感性分析 </vt:lpstr>
      <vt:lpstr>（三）风险分析</vt:lpstr>
      <vt:lpstr>1. 风险测度</vt:lpstr>
      <vt:lpstr>(1) 解析法</vt:lpstr>
      <vt:lpstr>(2) 图示法</vt:lpstr>
      <vt:lpstr>概率树分析 </vt:lpstr>
      <vt:lpstr>概率树分析步骤</vt:lpstr>
      <vt:lpstr>概率树分析步骤</vt:lpstr>
      <vt:lpstr>概率树分析 </vt:lpstr>
      <vt:lpstr>Delphi Technique</vt:lpstr>
      <vt:lpstr>PowerPoint 演示文稿</vt:lpstr>
      <vt:lpstr>PowerPoint 演示文稿</vt:lpstr>
      <vt:lpstr>PowerPoint 演示文稿</vt:lpstr>
      <vt:lpstr>Probability and impact matrix</vt:lpstr>
      <vt:lpstr>PowerPoint 演示文稿</vt:lpstr>
      <vt:lpstr>PowerPoint 演示文稿</vt:lpstr>
      <vt:lpstr>PowerPoint 演示文稿</vt:lpstr>
      <vt:lpstr>EMV and Decision Tree</vt:lpstr>
      <vt:lpstr>Possible Decisions Using Expected Monetary Value (EMV)</vt:lpstr>
      <vt:lpstr>Value of Decisions</vt:lpstr>
      <vt:lpstr>PowerPoint 演示文稿</vt:lpstr>
      <vt:lpstr>(3) 模拟法</vt:lpstr>
      <vt:lpstr>模拟法的实施步骤</vt:lpstr>
      <vt:lpstr>模拟法的例子</vt:lpstr>
      <vt:lpstr>Sample Monte Carlo simulation results for project schedule</vt:lpstr>
      <vt:lpstr>Sample Monte Carlo simulations results for project costs</vt:lpstr>
      <vt:lpstr>2. 风险决策</vt:lpstr>
      <vt:lpstr>选择哪个项目?</vt:lpstr>
      <vt:lpstr>风险决策的准则</vt:lpstr>
      <vt:lpstr>某产品生产的收益（单位：万元）</vt:lpstr>
      <vt:lpstr>PowerPoint 演示文稿</vt:lpstr>
      <vt:lpstr>PowerPoint 演示文稿</vt:lpstr>
      <vt:lpstr>PowerPoint 演示文稿</vt:lpstr>
      <vt:lpstr>PowerPoint 演示文稿</vt:lpstr>
      <vt:lpstr>PowerPoint 演示文稿</vt:lpstr>
      <vt:lpstr>风险</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项目风险</vt:lpstr>
      <vt:lpstr> 水电项目：业主风险</vt:lpstr>
      <vt:lpstr> 水电项目： 承包商风险</vt:lpstr>
      <vt:lpstr>PowerPoint 演示文稿</vt:lpstr>
      <vt:lpstr>PowerPoint 演示文稿</vt:lpstr>
      <vt:lpstr>小结：风险与不确定性分析方法 </vt:lpstr>
      <vt:lpstr>PowerPoint 演示文稿</vt:lpstr>
    </vt:vector>
  </TitlesOfParts>
  <Company>KAGAN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LESLIE KAGAN</dc:creator>
  <cp:lastModifiedBy>TWZ</cp:lastModifiedBy>
  <cp:revision>1952</cp:revision>
  <dcterms:created xsi:type="dcterms:W3CDTF">2006-03-30T18:33:07Z</dcterms:created>
  <dcterms:modified xsi:type="dcterms:W3CDTF">2019-11-15T10:15:11Z</dcterms:modified>
</cp:coreProperties>
</file>