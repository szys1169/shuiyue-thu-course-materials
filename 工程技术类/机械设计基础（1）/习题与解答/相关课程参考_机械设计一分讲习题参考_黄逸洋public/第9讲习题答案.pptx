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531" r:id="rId3"/>
    <p:sldId id="532" r:id="rId4"/>
    <p:sldId id="533" r:id="rId5"/>
    <p:sldId id="534" r:id="rId6"/>
    <p:sldId id="390" r:id="rId7"/>
    <p:sldId id="477" r:id="rId8"/>
    <p:sldId id="391" r:id="rId9"/>
    <p:sldId id="528" r:id="rId10"/>
    <p:sldId id="529" r:id="rId11"/>
    <p:sldId id="424" r:id="rId12"/>
    <p:sldId id="428" r:id="rId13"/>
    <p:sldId id="429" r:id="rId14"/>
    <p:sldId id="524" r:id="rId15"/>
    <p:sldId id="430" r:id="rId16"/>
    <p:sldId id="525" r:id="rId17"/>
    <p:sldId id="431" r:id="rId18"/>
    <p:sldId id="522" r:id="rId19"/>
    <p:sldId id="425" r:id="rId20"/>
    <p:sldId id="526" r:id="rId21"/>
    <p:sldId id="426" r:id="rId22"/>
    <p:sldId id="527" r:id="rId23"/>
    <p:sldId id="427" r:id="rId24"/>
    <p:sldId id="520" r:id="rId25"/>
    <p:sldId id="333" r:id="rId26"/>
    <p:sldId id="321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66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pos="2880">
          <p15:clr>
            <a:srgbClr val="A4A3A4"/>
          </p15:clr>
        </p15:guide>
        <p15:guide id="7" pos="1383">
          <p15:clr>
            <a:srgbClr val="A4A3A4"/>
          </p15:clr>
        </p15:guide>
        <p15:guide id="8" pos="4377">
          <p15:clr>
            <a:srgbClr val="A4A3A4"/>
          </p15:clr>
        </p15:guide>
        <p15:guide id="9" pos="839">
          <p15:clr>
            <a:srgbClr val="A4A3A4"/>
          </p15:clr>
        </p15:guide>
        <p15:guide id="10" pos="49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4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16BC9B5-7CA7-4741-9A07-7573A5B3DF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57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0B58B-15B9-47C3-84EF-7F27609DEF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43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8F507-691D-44BC-A2F9-24D8F77086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456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51DDE-643C-4E5F-92A9-B82FE1126F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123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00B35-E62D-41BD-899B-8B84FEF1CB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92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D93CFB-B4D4-421D-BFA7-09C813A31C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59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045512-F4C7-44FF-BF77-1449017C4C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88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296D6-9B7C-49C1-B722-691AE7B5E2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54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90BE87-F03E-4A41-9999-51C49DE476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63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4F09E-CB4A-4390-B025-2A1F765075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92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56D7F-A93E-49E1-A493-4549D3215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63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2D6B5FD-20E2-4337-B5A2-3E99521BB3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31838"/>
            <a:ext cx="9144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第九讲习题答案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 dirty="0">
              <a:latin typeface="Arial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4800" b="1" dirty="0">
                <a:latin typeface="Arial" charset="0"/>
                <a:ea typeface="黑体" pitchFamily="2" charset="-122"/>
              </a:rPr>
              <a:t>多形体相交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latin typeface="Arial" charset="0"/>
                <a:ea typeface="黑体" pitchFamily="2" charset="-122"/>
              </a:rPr>
              <a:t>轴测图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"/>
          <a:stretch>
            <a:fillRect/>
          </a:stretch>
        </p:blipFill>
        <p:spPr bwMode="auto">
          <a:xfrm>
            <a:off x="1382705" y="446088"/>
            <a:ext cx="4868862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3-3-3-1  作俯视图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27013" name="Oval 5"/>
          <p:cNvSpPr>
            <a:spLocks noChangeArrowheads="1"/>
          </p:cNvSpPr>
          <p:nvPr/>
        </p:nvSpPr>
        <p:spPr bwMode="auto">
          <a:xfrm>
            <a:off x="2108192" y="4365625"/>
            <a:ext cx="301625" cy="330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7014" name="Oval 6"/>
          <p:cNvSpPr>
            <a:spLocks noChangeArrowheads="1"/>
          </p:cNvSpPr>
          <p:nvPr/>
        </p:nvSpPr>
        <p:spPr bwMode="auto">
          <a:xfrm>
            <a:off x="2952742" y="4368800"/>
            <a:ext cx="301625" cy="330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7015" name="Oval 7"/>
          <p:cNvSpPr>
            <a:spLocks noChangeArrowheads="1"/>
          </p:cNvSpPr>
          <p:nvPr/>
        </p:nvSpPr>
        <p:spPr bwMode="auto">
          <a:xfrm>
            <a:off x="1644642" y="5075238"/>
            <a:ext cx="509588" cy="330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7016" name="Oval 8"/>
          <p:cNvSpPr>
            <a:spLocks noChangeArrowheads="1"/>
          </p:cNvSpPr>
          <p:nvPr/>
        </p:nvSpPr>
        <p:spPr bwMode="auto">
          <a:xfrm>
            <a:off x="3289292" y="5099050"/>
            <a:ext cx="509588" cy="330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04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75697" y="6021563"/>
            <a:ext cx="2784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注意交线的弯曲方向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 flipV="1">
            <a:off x="1943092" y="5218113"/>
            <a:ext cx="690562" cy="8034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V="1">
            <a:off x="2633655" y="5230813"/>
            <a:ext cx="820738" cy="7907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356569" y="3857793"/>
            <a:ext cx="364112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处理局部相交的问题：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latin typeface="宋体" pitchFamily="2" charset="-122"/>
              </a:rPr>
              <a:t>1</a:t>
            </a:r>
            <a:r>
              <a:rPr lang="zh-CN" altLang="en-US" sz="2000" b="1" dirty="0">
                <a:latin typeface="宋体" pitchFamily="2" charset="-122"/>
              </a:rPr>
              <a:t>、画出完整交线，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latin typeface="宋体" pitchFamily="2" charset="-122"/>
              </a:rPr>
              <a:t>   </a:t>
            </a:r>
            <a:r>
              <a:rPr lang="zh-CN" altLang="en-US" sz="2000" b="1" dirty="0">
                <a:latin typeface="宋体" pitchFamily="2" charset="-122"/>
              </a:rPr>
              <a:t>截取所求部分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2</a:t>
            </a:r>
            <a:r>
              <a:rPr lang="zh-CN" altLang="en-US" sz="2000" b="1" dirty="0">
                <a:latin typeface="宋体" pitchFamily="2" charset="-122"/>
              </a:rPr>
              <a:t>、面形分析法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   标特殊点，画类似形</a:t>
            </a:r>
            <a:r>
              <a:rPr lang="zh-CN" altLang="en-US" sz="2000" b="1" dirty="0" smtClean="0">
                <a:latin typeface="宋体" pitchFamily="2" charset="-122"/>
              </a:rPr>
              <a:t>。</a:t>
            </a:r>
            <a:endParaRPr lang="en-US" altLang="zh-CN" sz="20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算上中心线，也是类似形。</a:t>
            </a:r>
            <a:endParaRPr lang="zh-CN" altLang="en-US" sz="2000" b="1" dirty="0">
              <a:latin typeface="宋体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7E751860-C18B-E9F8-7C49-37201879BF41}"/>
              </a:ext>
            </a:extLst>
          </p:cNvPr>
          <p:cNvCxnSpPr>
            <a:cxnSpLocks/>
          </p:cNvCxnSpPr>
          <p:nvPr/>
        </p:nvCxnSpPr>
        <p:spPr>
          <a:xfrm>
            <a:off x="1382705" y="4104393"/>
            <a:ext cx="2675587" cy="0"/>
          </a:xfrm>
          <a:prstGeom prst="line">
            <a:avLst/>
          </a:prstGeom>
          <a:ln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0">
            <a:extLst>
              <a:ext uri="{FF2B5EF4-FFF2-40B4-BE49-F238E27FC236}">
                <a16:creationId xmlns:a16="http://schemas.microsoft.com/office/drawing/2014/main" xmlns="" id="{4C60FD83-A84B-5467-0D3A-1534DE3E4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97" y="6320719"/>
            <a:ext cx="4181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交线向直径较大的轴线弯曲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3" grpId="0" animBg="1"/>
      <p:bldP spid="427014" grpId="0" animBg="1"/>
      <p:bldP spid="427015" grpId="0" animBg="1"/>
      <p:bldP spid="427016" grpId="0" animBg="1"/>
      <p:bldP spid="9" grpId="0"/>
      <p:bldP spid="10" grpId="0" animBg="1"/>
      <p:bldP spid="11" grpId="0" animBg="1"/>
      <p:bldP spid="12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909" r="-42850"/>
          <a:stretch>
            <a:fillRect/>
          </a:stretch>
        </p:blipFill>
        <p:spPr bwMode="auto">
          <a:xfrm>
            <a:off x="848732" y="1295864"/>
            <a:ext cx="7446536" cy="402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3-3-3-1  作俯视图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"/>
          <a:stretch>
            <a:fillRect/>
          </a:stretch>
        </p:blipFill>
        <p:spPr bwMode="auto">
          <a:xfrm>
            <a:off x="3826205" y="446088"/>
            <a:ext cx="5024437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</a:t>
            </a:r>
            <a:r>
              <a:rPr lang="en-US" altLang="zh-CN" sz="1600" b="1">
                <a:latin typeface="宋体" pitchFamily="2" charset="-122"/>
              </a:rPr>
              <a:t>2</a:t>
            </a:r>
            <a:r>
              <a:rPr lang="en-US" altLang="en-US" sz="1600" b="1">
                <a:latin typeface="宋体" pitchFamily="2" charset="-122"/>
              </a:rPr>
              <a:t>  作俯视图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29061" name="Oval 5"/>
          <p:cNvSpPr>
            <a:spLocks noChangeArrowheads="1"/>
          </p:cNvSpPr>
          <p:nvPr/>
        </p:nvSpPr>
        <p:spPr bwMode="auto">
          <a:xfrm>
            <a:off x="5348617" y="4433888"/>
            <a:ext cx="166688" cy="496887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150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31C20DBC-D5AB-CE9C-F418-35C7AC95196A}"/>
              </a:ext>
            </a:extLst>
          </p:cNvPr>
          <p:cNvCxnSpPr>
            <a:cxnSpLocks/>
          </p:cNvCxnSpPr>
          <p:nvPr/>
        </p:nvCxnSpPr>
        <p:spPr>
          <a:xfrm>
            <a:off x="4006696" y="3542016"/>
            <a:ext cx="0" cy="2563269"/>
          </a:xfrm>
          <a:prstGeom prst="line">
            <a:avLst/>
          </a:prstGeom>
          <a:ln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2296" y="3857793"/>
            <a:ext cx="364112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处理局部相交的问题：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latin typeface="宋体" pitchFamily="2" charset="-122"/>
              </a:rPr>
              <a:t>1</a:t>
            </a:r>
            <a:r>
              <a:rPr lang="zh-CN" altLang="en-US" sz="2000" b="1" dirty="0">
                <a:latin typeface="宋体" pitchFamily="2" charset="-122"/>
              </a:rPr>
              <a:t>、画出完整交线，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latin typeface="宋体" pitchFamily="2" charset="-122"/>
              </a:rPr>
              <a:t>   </a:t>
            </a:r>
            <a:r>
              <a:rPr lang="zh-CN" altLang="en-US" sz="2000" b="1" dirty="0">
                <a:latin typeface="宋体" pitchFamily="2" charset="-122"/>
              </a:rPr>
              <a:t>截取所求部分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2</a:t>
            </a:r>
            <a:r>
              <a:rPr lang="zh-CN" altLang="en-US" sz="2000" b="1" dirty="0">
                <a:latin typeface="宋体" pitchFamily="2" charset="-122"/>
              </a:rPr>
              <a:t>、面形分析法</a:t>
            </a:r>
            <a:endParaRPr lang="en-US" altLang="zh-CN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   标特殊点，画类似形</a:t>
            </a:r>
            <a:r>
              <a:rPr lang="zh-CN" altLang="en-US" sz="2000" b="1" dirty="0" smtClean="0">
                <a:latin typeface="宋体" pitchFamily="2" charset="-122"/>
              </a:rPr>
              <a:t>。</a:t>
            </a:r>
            <a:endParaRPr lang="en-US" altLang="zh-CN" sz="20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算上中心线，也是类似形。</a:t>
            </a:r>
            <a:endParaRPr lang="zh-CN" altLang="en-US" sz="20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61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1" t="21159" r="12309" b="31442"/>
          <a:stretch>
            <a:fillRect/>
          </a:stretch>
        </p:blipFill>
        <p:spPr bwMode="auto">
          <a:xfrm>
            <a:off x="1492250" y="1176338"/>
            <a:ext cx="6065838" cy="305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</a:t>
            </a:r>
            <a:r>
              <a:rPr lang="en-US" altLang="zh-CN" sz="1600" b="1">
                <a:latin typeface="宋体" pitchFamily="2" charset="-122"/>
              </a:rPr>
              <a:t>2</a:t>
            </a:r>
            <a:r>
              <a:rPr lang="en-US" altLang="en-US" sz="1600" b="1">
                <a:latin typeface="宋体" pitchFamily="2" charset="-122"/>
              </a:rPr>
              <a:t>  作俯视图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3-3-3-3  补全主、俯视图中所缺的线。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819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384175"/>
            <a:ext cx="6354763" cy="579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3-3-3-3  补全主、俯视图中所缺的线。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2" t="17854" r="13750" b="20667"/>
          <a:stretch>
            <a:fillRect/>
          </a:stretch>
        </p:blipFill>
        <p:spPr bwMode="auto">
          <a:xfrm>
            <a:off x="1352550" y="793750"/>
            <a:ext cx="5784850" cy="395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0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9"/>
          <a:stretch>
            <a:fillRect/>
          </a:stretch>
        </p:blipFill>
        <p:spPr bwMode="auto">
          <a:xfrm>
            <a:off x="1331913" y="446088"/>
            <a:ext cx="6480175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*3-3-3-4  完成主、左视图。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0244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20850" r="20247" b="19531"/>
          <a:stretch>
            <a:fillRect/>
          </a:stretch>
        </p:blipFill>
        <p:spPr bwMode="auto">
          <a:xfrm>
            <a:off x="0" y="0"/>
            <a:ext cx="4432300" cy="320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7" t="17920" r="21054" b="23894"/>
          <a:stretch>
            <a:fillRect/>
          </a:stretch>
        </p:blipFill>
        <p:spPr bwMode="auto">
          <a:xfrm>
            <a:off x="4432300" y="1150938"/>
            <a:ext cx="4621213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4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7" t="26172" r="23125" b="23242"/>
          <a:stretch>
            <a:fillRect/>
          </a:stretch>
        </p:blipFill>
        <p:spPr bwMode="auto">
          <a:xfrm>
            <a:off x="125413" y="3517900"/>
            <a:ext cx="4117975" cy="285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*3-3-3-4  完成主、左视图。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2291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249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7" t="27132" r="31876" b="42839"/>
          <a:stretch>
            <a:fillRect/>
          </a:stretch>
        </p:blipFill>
        <p:spPr bwMode="auto">
          <a:xfrm>
            <a:off x="136525" y="979488"/>
            <a:ext cx="3862388" cy="213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496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6" t="27913" r="32382" b="42725"/>
          <a:stretch>
            <a:fillRect/>
          </a:stretch>
        </p:blipFill>
        <p:spPr bwMode="auto">
          <a:xfrm>
            <a:off x="122238" y="3824288"/>
            <a:ext cx="3883025" cy="218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496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3" t="29297" r="22670" b="34521"/>
          <a:stretch>
            <a:fillRect/>
          </a:stretch>
        </p:blipFill>
        <p:spPr bwMode="auto">
          <a:xfrm>
            <a:off x="4854575" y="1165225"/>
            <a:ext cx="3590925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497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3" t="26530" r="17982" b="31331"/>
          <a:stretch>
            <a:fillRect/>
          </a:stretch>
        </p:blipFill>
        <p:spPr bwMode="auto">
          <a:xfrm>
            <a:off x="4945063" y="3971925"/>
            <a:ext cx="3587750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"/>
          <a:stretch>
            <a:fillRect/>
          </a:stretch>
        </p:blipFill>
        <p:spPr bwMode="auto">
          <a:xfrm>
            <a:off x="2195513" y="446088"/>
            <a:ext cx="4770437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3-5-1  在正方体的正等轴测图上画其前、顶、左面的内切圆的轴测投影。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3316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64087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3-5-2  </a:t>
            </a:r>
            <a:r>
              <a:rPr lang="zh-CN" altLang="en-US" sz="1600" b="1">
                <a:latin typeface="宋体" pitchFamily="2" charset="-122"/>
              </a:rPr>
              <a:t>画以</a:t>
            </a:r>
            <a:r>
              <a:rPr lang="en-US" altLang="zh-CN" sz="1600" b="1">
                <a:latin typeface="宋体" pitchFamily="2" charset="-122"/>
              </a:rPr>
              <a:t>OZ</a:t>
            </a:r>
            <a:r>
              <a:rPr lang="zh-CN" altLang="en-US" sz="1600" b="1">
                <a:latin typeface="宋体" pitchFamily="2" charset="-122"/>
              </a:rPr>
              <a:t>轴为轴，底圆中心为</a:t>
            </a:r>
            <a:r>
              <a:rPr lang="en-US" altLang="zh-CN" sz="1600" b="1">
                <a:latin typeface="宋体" pitchFamily="2" charset="-122"/>
              </a:rPr>
              <a:t>O</a:t>
            </a:r>
            <a:r>
              <a:rPr lang="zh-CN" altLang="en-US" sz="1600" b="1">
                <a:latin typeface="宋体" pitchFamily="2" charset="-122"/>
              </a:rPr>
              <a:t>，直径</a:t>
            </a:r>
            <a:r>
              <a:rPr lang="en-US" altLang="zh-CN" sz="1600" b="1">
                <a:latin typeface="宋体" pitchFamily="2" charset="-122"/>
              </a:rPr>
              <a:t>40</a:t>
            </a:r>
            <a:r>
              <a:rPr lang="zh-CN" altLang="en-US" sz="1600" b="1">
                <a:latin typeface="宋体" pitchFamily="2" charset="-122"/>
              </a:rPr>
              <a:t>，顶圆直径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，高</a:t>
            </a:r>
            <a:r>
              <a:rPr lang="en-US" altLang="zh-CN" sz="1600" b="1">
                <a:latin typeface="宋体" pitchFamily="2" charset="-122"/>
              </a:rPr>
              <a:t>30</a:t>
            </a:r>
            <a:r>
              <a:rPr lang="zh-CN" altLang="en-US" sz="1600" b="1">
                <a:latin typeface="宋体" pitchFamily="2" charset="-122"/>
              </a:rPr>
              <a:t>的圆锥台的正等轴测图。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574675" y="446088"/>
            <a:ext cx="4789488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3-5-3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sp>
        <p:nvSpPr>
          <p:cNvPr id="15364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35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8" t="24434" r="42212" b="14720"/>
          <a:stretch>
            <a:fillRect/>
          </a:stretch>
        </p:blipFill>
        <p:spPr bwMode="auto">
          <a:xfrm>
            <a:off x="5514975" y="2898775"/>
            <a:ext cx="284003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3" t="13489" r="14993" b="29692"/>
          <a:stretch>
            <a:fillRect/>
          </a:stretch>
        </p:blipFill>
        <p:spPr bwMode="auto">
          <a:xfrm>
            <a:off x="1587500" y="868363"/>
            <a:ext cx="5402263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3-5-3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sp>
        <p:nvSpPr>
          <p:cNvPr id="16388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688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3-5-4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3-5-4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7" t="11319" r="20497" b="27644"/>
          <a:stretch>
            <a:fillRect/>
          </a:stretch>
        </p:blipFill>
        <p:spPr bwMode="auto">
          <a:xfrm>
            <a:off x="1624013" y="727075"/>
            <a:ext cx="4741862" cy="378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3-5-5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pic>
        <p:nvPicPr>
          <p:cNvPr id="1945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8" t="14717" r="24731" b="20503"/>
          <a:stretch>
            <a:fillRect/>
          </a:stretch>
        </p:blipFill>
        <p:spPr bwMode="auto">
          <a:xfrm>
            <a:off x="1609725" y="604838"/>
            <a:ext cx="494030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3-5-5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9" t="12035" r="19768" b="29124"/>
          <a:stretch>
            <a:fillRect/>
          </a:stretch>
        </p:blipFill>
        <p:spPr bwMode="auto">
          <a:xfrm>
            <a:off x="1689100" y="914400"/>
            <a:ext cx="4589463" cy="378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522288" y="446088"/>
            <a:ext cx="477361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3-5-6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sp>
        <p:nvSpPr>
          <p:cNvPr id="21508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84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975" y="2970213"/>
            <a:ext cx="3095625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5" name="Oval 9"/>
          <p:cNvSpPr>
            <a:spLocks noChangeArrowheads="1"/>
          </p:cNvSpPr>
          <p:nvPr/>
        </p:nvSpPr>
        <p:spPr bwMode="auto">
          <a:xfrm>
            <a:off x="3032125" y="4789488"/>
            <a:ext cx="574675" cy="3778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3128080" y="4208103"/>
            <a:ext cx="574675" cy="3778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5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3-5-6  </a:t>
            </a:r>
            <a:r>
              <a:rPr lang="zh-CN" altLang="en-US" sz="1600" b="1">
                <a:latin typeface="宋体" pitchFamily="2" charset="-122"/>
              </a:rPr>
              <a:t>画组合体的正等轴测图（放大</a:t>
            </a:r>
            <a:r>
              <a:rPr lang="en-US" altLang="zh-CN" sz="1600" b="1">
                <a:latin typeface="宋体" pitchFamily="2" charset="-122"/>
              </a:rPr>
              <a:t>1</a:t>
            </a:r>
            <a:r>
              <a:rPr lang="zh-CN" altLang="en-US" sz="1600" b="1">
                <a:latin typeface="宋体" pitchFamily="2" charset="-122"/>
              </a:rPr>
              <a:t>倍画）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8" t="11639" r="21739" b="29076"/>
          <a:stretch>
            <a:fillRect/>
          </a:stretch>
        </p:blipFill>
        <p:spPr bwMode="auto">
          <a:xfrm>
            <a:off x="1763713" y="700088"/>
            <a:ext cx="5000625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2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4"/>
          <a:stretch>
            <a:fillRect/>
          </a:stretch>
        </p:blipFill>
        <p:spPr bwMode="auto">
          <a:xfrm>
            <a:off x="1331913" y="1117600"/>
            <a:ext cx="648017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3-5-7  徒手画组合体的正等轴测图（数格画）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3556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 rot="19960632">
            <a:off x="5685014" y="1682044"/>
            <a:ext cx="1189920" cy="606604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6626569" y="3841219"/>
            <a:ext cx="722497" cy="617891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3-5-7  徒手画组合体的正等轴测图（数格画）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6" t="12083" r="20004" b="28632"/>
          <a:stretch>
            <a:fillRect/>
          </a:stretch>
        </p:blipFill>
        <p:spPr bwMode="auto">
          <a:xfrm>
            <a:off x="1790700" y="830263"/>
            <a:ext cx="4841875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0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5"/>
          <p:cNvGrpSpPr>
            <a:grpSpLocks/>
          </p:cNvGrpSpPr>
          <p:nvPr/>
        </p:nvGrpSpPr>
        <p:grpSpPr bwMode="auto">
          <a:xfrm>
            <a:off x="1331913" y="895350"/>
            <a:ext cx="6480175" cy="4754563"/>
            <a:chOff x="839" y="119"/>
            <a:chExt cx="4082" cy="2995"/>
          </a:xfrm>
        </p:grpSpPr>
        <p:pic>
          <p:nvPicPr>
            <p:cNvPr id="2560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119"/>
              <a:ext cx="4082" cy="2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6" name="Rectangle 4"/>
            <p:cNvSpPr>
              <a:spLocks noChangeArrowheads="1"/>
            </p:cNvSpPr>
            <p:nvPr/>
          </p:nvSpPr>
          <p:spPr bwMode="auto">
            <a:xfrm>
              <a:off x="839" y="119"/>
              <a:ext cx="239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3-5-8  徒手画组合体的正等轴测图（数格画）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5604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5591" y="4044421"/>
            <a:ext cx="574675" cy="527579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5340703" y="1995487"/>
            <a:ext cx="574675" cy="527579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 rot="1634725">
            <a:off x="5802488" y="1046515"/>
            <a:ext cx="1433689" cy="804863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3-5-8  徒手画组合体的正等轴测图（数格画）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6" t="13440" r="17322" b="27991"/>
          <a:stretch>
            <a:fillRect/>
          </a:stretch>
        </p:blipFill>
        <p:spPr bwMode="auto">
          <a:xfrm>
            <a:off x="1585913" y="585788"/>
            <a:ext cx="5216525" cy="397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8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606425" y="446088"/>
            <a:ext cx="47688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3-5-9  画组合体的斜二等轴测图（放大一倍画）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7652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011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2" t="17560" r="42549" b="12453"/>
          <a:stretch>
            <a:fillRect/>
          </a:stretch>
        </p:blipFill>
        <p:spPr bwMode="auto">
          <a:xfrm>
            <a:off x="5834063" y="2640013"/>
            <a:ext cx="2941637" cy="356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0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0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64087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3-5-10  画组合体的斜二等轴测图（放大一倍画）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" name="Tree"/>
          <p:cNvSpPr>
            <a:spLocks noEditPoints="1" noChangeArrowheads="1"/>
          </p:cNvSpPr>
          <p:nvPr/>
        </p:nvSpPr>
        <p:spPr bwMode="auto">
          <a:xfrm>
            <a:off x="163513" y="560388"/>
            <a:ext cx="166687" cy="557212"/>
          </a:xfrm>
          <a:custGeom>
            <a:avLst/>
            <a:gdLst>
              <a:gd name="T0" fmla="*/ 38301725 w 21600"/>
              <a:gd name="T1" fmla="*/ 0 h 21600"/>
              <a:gd name="T2" fmla="*/ 21885278 w 21600"/>
              <a:gd name="T3" fmla="*/ 2147483647 h 21600"/>
              <a:gd name="T4" fmla="*/ 10944460 w 21600"/>
              <a:gd name="T5" fmla="*/ 2147483647 h 21600"/>
              <a:gd name="T6" fmla="*/ 0 w 21600"/>
              <a:gd name="T7" fmla="*/ 2147483647 h 21600"/>
              <a:gd name="T8" fmla="*/ 54717755 w 21600"/>
              <a:gd name="T9" fmla="*/ 2147483647 h 21600"/>
              <a:gd name="T10" fmla="*/ 65658519 w 21600"/>
              <a:gd name="T11" fmla="*/ 2147483647 h 21600"/>
              <a:gd name="T12" fmla="*/ 76602979 w 21600"/>
              <a:gd name="T13" fmla="*/ 2147483647 h 21600"/>
              <a:gd name="T14" fmla="*/ 17694720 60000 65536"/>
              <a:gd name="T15" fmla="*/ 11796480 60000 65536"/>
              <a:gd name="T16" fmla="*/ 11796480 60000 65536"/>
              <a:gd name="T17" fmla="*/ 11796480 60000 65536"/>
              <a:gd name="T18" fmla="*/ 0 60000 65536"/>
              <a:gd name="T19" fmla="*/ 0 60000 65536"/>
              <a:gd name="T20" fmla="*/ 0 60000 65536"/>
              <a:gd name="T21" fmla="*/ 761 w 21600"/>
              <a:gd name="T22" fmla="*/ 22454 h 21600"/>
              <a:gd name="T23" fmla="*/ 21069 w 21600"/>
              <a:gd name="T24" fmla="*/ 28282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0" y="18900"/>
                </a:moveTo>
                <a:lnTo>
                  <a:pt x="9257" y="18900"/>
                </a:lnTo>
                <a:lnTo>
                  <a:pt x="9257" y="21600"/>
                </a:lnTo>
                <a:lnTo>
                  <a:pt x="12343" y="21600"/>
                </a:lnTo>
                <a:lnTo>
                  <a:pt x="12343" y="18900"/>
                </a:lnTo>
                <a:lnTo>
                  <a:pt x="21600" y="18900"/>
                </a:lnTo>
                <a:lnTo>
                  <a:pt x="12343" y="12600"/>
                </a:lnTo>
                <a:lnTo>
                  <a:pt x="18514" y="12600"/>
                </a:lnTo>
                <a:lnTo>
                  <a:pt x="12343" y="6300"/>
                </a:lnTo>
                <a:lnTo>
                  <a:pt x="15429" y="6300"/>
                </a:lnTo>
                <a:lnTo>
                  <a:pt x="10800" y="0"/>
                </a:lnTo>
                <a:lnTo>
                  <a:pt x="6171" y="6300"/>
                </a:lnTo>
                <a:lnTo>
                  <a:pt x="9257" y="6300"/>
                </a:lnTo>
                <a:lnTo>
                  <a:pt x="3086" y="12600"/>
                </a:lnTo>
                <a:lnTo>
                  <a:pt x="9257" y="12600"/>
                </a:lnTo>
                <a:lnTo>
                  <a:pt x="0" y="18900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3833637" y="4112154"/>
            <a:ext cx="574675" cy="685624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 rot="2685430">
            <a:off x="4265183" y="3243403"/>
            <a:ext cx="1135052" cy="687344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267200" y="6157031"/>
            <a:ext cx="39736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注意：</a:t>
            </a:r>
            <a:r>
              <a:rPr lang="en-US" altLang="zh-CN" sz="2000" b="1" dirty="0">
                <a:latin typeface="宋体" pitchFamily="2" charset="-122"/>
              </a:rPr>
              <a:t>Y</a:t>
            </a:r>
            <a:r>
              <a:rPr lang="zh-CN" altLang="en-US" sz="2000" b="1" dirty="0">
                <a:latin typeface="宋体" pitchFamily="2" charset="-122"/>
              </a:rPr>
              <a:t>向伸缩系数为</a:t>
            </a:r>
            <a:r>
              <a:rPr lang="en-US" altLang="zh-CN" sz="2000" b="1" dirty="0">
                <a:latin typeface="宋体" pitchFamily="2" charset="-122"/>
              </a:rPr>
              <a:t>0.5</a:t>
            </a:r>
            <a:endParaRPr lang="zh-CN" altLang="en-US" sz="20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4350</TotalTime>
  <Words>314</Words>
  <Application>Microsoft Office PowerPoint</Application>
  <PresentationFormat>全屏显示(4:3)</PresentationFormat>
  <Paragraphs>43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303</cp:revision>
  <dcterms:created xsi:type="dcterms:W3CDTF">2006-04-04T11:38:05Z</dcterms:created>
  <dcterms:modified xsi:type="dcterms:W3CDTF">2023-11-26T08:25:47Z</dcterms:modified>
</cp:coreProperties>
</file>