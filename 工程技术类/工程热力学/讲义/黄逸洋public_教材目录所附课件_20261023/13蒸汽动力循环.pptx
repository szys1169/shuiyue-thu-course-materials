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257" r:id="rId2"/>
    <p:sldId id="258" r:id="rId3"/>
    <p:sldId id="259" r:id="rId4"/>
    <p:sldId id="268" r:id="rId5"/>
    <p:sldId id="269" r:id="rId6"/>
    <p:sldId id="261" r:id="rId7"/>
    <p:sldId id="324" r:id="rId8"/>
    <p:sldId id="263" r:id="rId9"/>
    <p:sldId id="264" r:id="rId10"/>
    <p:sldId id="265" r:id="rId11"/>
    <p:sldId id="266" r:id="rId12"/>
    <p:sldId id="267" r:id="rId13"/>
    <p:sldId id="270" r:id="rId14"/>
    <p:sldId id="325" r:id="rId15"/>
    <p:sldId id="326" r:id="rId16"/>
    <p:sldId id="273" r:id="rId17"/>
    <p:sldId id="327" r:id="rId18"/>
    <p:sldId id="275" r:id="rId19"/>
    <p:sldId id="276" r:id="rId20"/>
    <p:sldId id="277" r:id="rId21"/>
    <p:sldId id="278" r:id="rId22"/>
    <p:sldId id="279" r:id="rId23"/>
    <p:sldId id="280" r:id="rId24"/>
    <p:sldId id="281" r:id="rId25"/>
    <p:sldId id="328" r:id="rId26"/>
    <p:sldId id="283" r:id="rId27"/>
    <p:sldId id="329" r:id="rId28"/>
    <p:sldId id="330" r:id="rId29"/>
    <p:sldId id="331" r:id="rId30"/>
    <p:sldId id="287" r:id="rId31"/>
    <p:sldId id="288" r:id="rId32"/>
    <p:sldId id="289" r:id="rId33"/>
    <p:sldId id="290" r:id="rId34"/>
    <p:sldId id="291" r:id="rId35"/>
    <p:sldId id="292" r:id="rId36"/>
    <p:sldId id="293" r:id="rId37"/>
    <p:sldId id="332" r:id="rId38"/>
    <p:sldId id="333" r:id="rId39"/>
    <p:sldId id="296" r:id="rId40"/>
    <p:sldId id="297" r:id="rId41"/>
    <p:sldId id="298" r:id="rId42"/>
    <p:sldId id="299" r:id="rId43"/>
    <p:sldId id="300" r:id="rId44"/>
    <p:sldId id="334" r:id="rId45"/>
    <p:sldId id="335" r:id="rId46"/>
    <p:sldId id="336" r:id="rId47"/>
    <p:sldId id="337" r:id="rId48"/>
    <p:sldId id="338" r:id="rId49"/>
    <p:sldId id="339" r:id="rId50"/>
    <p:sldId id="307" r:id="rId51"/>
    <p:sldId id="308" r:id="rId52"/>
    <p:sldId id="340" r:id="rId53"/>
    <p:sldId id="341" r:id="rId54"/>
    <p:sldId id="342" r:id="rId55"/>
    <p:sldId id="343" r:id="rId56"/>
    <p:sldId id="344" r:id="rId57"/>
    <p:sldId id="345" r:id="rId58"/>
    <p:sldId id="346" r:id="rId59"/>
    <p:sldId id="316" r:id="rId60"/>
    <p:sldId id="317" r:id="rId61"/>
    <p:sldId id="318" r:id="rId62"/>
    <p:sldId id="347" r:id="rId63"/>
    <p:sldId id="348" r:id="rId64"/>
    <p:sldId id="349" r:id="rId65"/>
    <p:sldId id="322" r:id="rId66"/>
    <p:sldId id="323" r:id="rId67"/>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6" d="100"/>
          <a:sy n="96" d="100"/>
        </p:scale>
        <p:origin x="808" y="60"/>
      </p:cViewPr>
      <p:guideLst/>
    </p:cSldViewPr>
  </p:slideViewPr>
  <p:notesTextViewPr>
    <p:cViewPr>
      <p:scale>
        <a:sx n="1" d="1"/>
        <a:sy n="1" d="1"/>
      </p:scale>
      <p:origin x="0" y="0"/>
    </p:cViewPr>
  </p:notesTextViewPr>
  <p:notesViewPr>
    <p:cSldViewPr snapToGrid="0">
      <p:cViewPr varScale="1">
        <p:scale>
          <a:sx n="73" d="100"/>
          <a:sy n="73" d="100"/>
        </p:scale>
        <p:origin x="2692" y="40"/>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image" Target="../media/image22.w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7.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3.emf"/><Relationship Id="rId2" Type="http://schemas.openxmlformats.org/officeDocument/2006/relationships/image" Target="../media/image42.emf"/><Relationship Id="rId1" Type="http://schemas.openxmlformats.org/officeDocument/2006/relationships/image" Target="../media/image4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4"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6.wmf"/><Relationship Id="rId7" Type="http://schemas.openxmlformats.org/officeDocument/2006/relationships/image" Target="../media/image60.wmf"/><Relationship Id="rId2" Type="http://schemas.openxmlformats.org/officeDocument/2006/relationships/image" Target="../media/image55.wmf"/><Relationship Id="rId1" Type="http://schemas.openxmlformats.org/officeDocument/2006/relationships/image" Target="../media/image54.wmf"/><Relationship Id="rId6" Type="http://schemas.openxmlformats.org/officeDocument/2006/relationships/image" Target="../media/image59.wmf"/><Relationship Id="rId5" Type="http://schemas.openxmlformats.org/officeDocument/2006/relationships/image" Target="../media/image58.wmf"/><Relationship Id="rId4" Type="http://schemas.openxmlformats.org/officeDocument/2006/relationships/image" Target="../media/image57.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68.wmf"/><Relationship Id="rId7" Type="http://schemas.openxmlformats.org/officeDocument/2006/relationships/image" Target="../media/image72.wmf"/><Relationship Id="rId2" Type="http://schemas.openxmlformats.org/officeDocument/2006/relationships/image" Target="../media/image67.wmf"/><Relationship Id="rId1" Type="http://schemas.openxmlformats.org/officeDocument/2006/relationships/image" Target="../media/image66.wmf"/><Relationship Id="rId6" Type="http://schemas.openxmlformats.org/officeDocument/2006/relationships/image" Target="../media/image71.wmf"/><Relationship Id="rId5" Type="http://schemas.openxmlformats.org/officeDocument/2006/relationships/image" Target="../media/image70.wmf"/><Relationship Id="rId4" Type="http://schemas.openxmlformats.org/officeDocument/2006/relationships/image" Target="../media/image69.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76.wmf"/><Relationship Id="rId2" Type="http://schemas.openxmlformats.org/officeDocument/2006/relationships/image" Target="../media/image75.wmf"/><Relationship Id="rId1" Type="http://schemas.openxmlformats.org/officeDocument/2006/relationships/image" Target="../media/image74.wmf"/><Relationship Id="rId4" Type="http://schemas.openxmlformats.org/officeDocument/2006/relationships/image" Target="../media/image77.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8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90.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93.wmf"/><Relationship Id="rId1" Type="http://schemas.openxmlformats.org/officeDocument/2006/relationships/image" Target="../media/image9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E7D198-22C7-4A9F-B526-B703665E239F}" type="datetimeFigureOut">
              <a:rPr lang="zh-CN" altLang="en-US" smtClean="0"/>
              <a:t>2020/9/29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8B2007-F705-438C-8663-BAD3872480F8}" type="slidenum">
              <a:rPr lang="zh-CN" altLang="en-US" smtClean="0"/>
              <a:t>‹#›</a:t>
            </a:fld>
            <a:endParaRPr lang="zh-CN" altLang="en-US"/>
          </a:p>
        </p:txBody>
      </p:sp>
    </p:spTree>
    <p:extLst>
      <p:ext uri="{BB962C8B-B14F-4D97-AF65-F5344CB8AC3E}">
        <p14:creationId xmlns:p14="http://schemas.microsoft.com/office/powerpoint/2010/main" val="39239443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灯片编号占位符 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0" compatLnSpc="1">
            <a:prstTxWarp prst="textNoShape">
              <a:avLst/>
            </a:prstTxWarp>
          </a:bodyPr>
          <a:lstStyle/>
          <a:p>
            <a:fld id="{BADC2E6B-71A1-4E5D-8F69-3B0DFD1809E2}" type="slidenum">
              <a:rPr lang="zh-CN" altLang="en-US" smtClean="0"/>
              <a:pPr/>
              <a:t>23</a:t>
            </a:fld>
            <a:endParaRPr lang="zh-CN" altLang="en-US" smtClean="0"/>
          </a:p>
        </p:txBody>
      </p:sp>
      <p:sp>
        <p:nvSpPr>
          <p:cNvPr id="44034" name="Rectangle 2"/>
          <p:cNvSpPr txBox="1">
            <a:spLocks noGrp="1" noChangeArrowheads="1"/>
          </p:cNvSpPr>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200" dirty="0">
                <a:latin typeface="Times New Roman" panose="02020603050405020304" pitchFamily="18" charset="0"/>
              </a:rPr>
              <a:t>工程热力学</a:t>
            </a:r>
            <a:r>
              <a:rPr lang="en-US" altLang="zh-CN" sz="1200" dirty="0">
                <a:latin typeface="Times New Roman" panose="02020603050405020304" pitchFamily="18" charset="0"/>
              </a:rPr>
              <a:t>2                </a:t>
            </a:r>
            <a:r>
              <a:rPr lang="zh-CN" altLang="en-US" sz="1200" dirty="0">
                <a:latin typeface="Times New Roman" panose="02020603050405020304" pitchFamily="18" charset="0"/>
              </a:rPr>
              <a:t>第</a:t>
            </a:r>
            <a:r>
              <a:rPr lang="en-US" altLang="zh-CN" sz="1200" dirty="0">
                <a:latin typeface="Times New Roman" panose="02020603050405020304" pitchFamily="18" charset="0"/>
              </a:rPr>
              <a:t>5</a:t>
            </a:r>
            <a:r>
              <a:rPr lang="zh-CN" altLang="en-US" sz="1200" dirty="0">
                <a:latin typeface="Times New Roman" panose="02020603050405020304" pitchFamily="18" charset="0"/>
              </a:rPr>
              <a:t>章 蒸汽动力循环</a:t>
            </a:r>
          </a:p>
        </p:txBody>
      </p:sp>
      <p:sp>
        <p:nvSpPr>
          <p:cNvPr id="44035" name="Rectangle 3"/>
          <p:cNvSpPr txBox="1">
            <a:spLocks noGrp="1" noChangeArrowheads="1"/>
          </p:cNvSpPr>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r"/>
            <a:fld id="{79B08494-F390-447F-9E3E-0CE093F4EB6C}" type="datetime1">
              <a:rPr lang="zh-CN" altLang="en-US" sz="1200">
                <a:latin typeface="Times New Roman" panose="02020603050405020304" pitchFamily="18" charset="0"/>
              </a:rPr>
              <a:pPr algn="r"/>
              <a:t>2020/9/29</a:t>
            </a:fld>
            <a:endParaRPr lang="zh-CN" altLang="en-US" sz="1200">
              <a:latin typeface="Times New Roman" panose="02020603050405020304" pitchFamily="18" charset="0"/>
            </a:endParaRPr>
          </a:p>
        </p:txBody>
      </p:sp>
      <p:sp>
        <p:nvSpPr>
          <p:cNvPr id="44036" name="Rectangle 7"/>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p>
            <a:pPr algn="r"/>
            <a:fld id="{BA192B94-91F9-43E9-A0B5-3854F883BE2F}" type="slidenum">
              <a:rPr lang="zh-CN" altLang="en-US" sz="1200">
                <a:latin typeface="Times New Roman" panose="02020603050405020304" pitchFamily="18" charset="0"/>
              </a:rPr>
              <a:pPr algn="r"/>
              <a:t>23</a:t>
            </a:fld>
            <a:endParaRPr lang="zh-CN" altLang="en-US" sz="1200">
              <a:latin typeface="Times New Roman" panose="02020603050405020304" pitchFamily="18" charset="0"/>
            </a:endParaRPr>
          </a:p>
        </p:txBody>
      </p:sp>
      <p:sp>
        <p:nvSpPr>
          <p:cNvPr id="44037" name="Rectangle 2"/>
          <p:cNvSpPr>
            <a:spLocks noGrp="1" noRot="1" noChangeAspect="1" noChangeArrowheads="1" noTextEdit="1"/>
          </p:cNvSpPr>
          <p:nvPr>
            <p:ph type="sldImg" idx="4294967295"/>
          </p:nvPr>
        </p:nvSpPr>
        <p:spPr>
          <a:ln/>
        </p:spPr>
      </p:sp>
      <p:sp>
        <p:nvSpPr>
          <p:cNvPr id="44038" name="Rectangle 3"/>
          <p:cNvSpPr>
            <a:spLocks noGrp="1" noChangeArrowheads="1"/>
          </p:cNvSpPr>
          <p:nvPr>
            <p:ph type="body" idx="4294967295"/>
          </p:nvPr>
        </p:nvSpPr>
        <p:spPr/>
        <p:txBody>
          <a:bodyPr/>
          <a:lstStyle/>
          <a:p>
            <a:endParaRPr lang="zh-CN" altLang="en-US" smtClean="0"/>
          </a:p>
        </p:txBody>
      </p:sp>
    </p:spTree>
    <p:extLst>
      <p:ext uri="{BB962C8B-B14F-4D97-AF65-F5344CB8AC3E}">
        <p14:creationId xmlns:p14="http://schemas.microsoft.com/office/powerpoint/2010/main" val="2017724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034611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3269040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9430634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55245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72031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7134615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937141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442327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808335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885395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4038342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3" name="日期占位符 1027"/>
          <p:cNvSpPr>
            <a:spLocks noGrp="1"/>
          </p:cNvSpPr>
          <p:nvPr>
            <p:ph type="dt" sz="half" idx="10"/>
          </p:nvPr>
        </p:nvSpPr>
        <p:spPr>
          <a:ln/>
        </p:spPr>
        <p:txBody>
          <a:bodyPr/>
          <a:lstStyle>
            <a:lvl1pPr>
              <a:defRPr/>
            </a:lvl1pPr>
          </a:lstStyle>
          <a:p>
            <a:fld id="{BB962C8B-B14F-4D97-AF65-F5344CB8AC3E}" type="datetime1">
              <a:rPr lang="zh-CN" altLang="en-US"/>
              <a:pPr/>
              <a:t>2020/9/29</a:t>
            </a:fld>
            <a:endParaRPr lang="zh-CN" altLang="en-US"/>
          </a:p>
        </p:txBody>
      </p:sp>
      <p:sp>
        <p:nvSpPr>
          <p:cNvPr id="4" name="页脚占位符 1028"/>
          <p:cNvSpPr>
            <a:spLocks noGrp="1"/>
          </p:cNvSpPr>
          <p:nvPr>
            <p:ph type="ftr" sz="quarter" idx="11"/>
          </p:nvPr>
        </p:nvSpPr>
        <p:spPr>
          <a:ln/>
        </p:spPr>
        <p:txBody>
          <a:bodyPr/>
          <a:lstStyle>
            <a:lvl1pPr>
              <a:defRPr/>
            </a:lvl1pPr>
          </a:lstStyle>
          <a:p>
            <a:endParaRPr lang="zh-CN" altLang="en-US"/>
          </a:p>
        </p:txBody>
      </p:sp>
      <p:sp>
        <p:nvSpPr>
          <p:cNvPr id="5" name="灯片编号占位符 1029"/>
          <p:cNvSpPr>
            <a:spLocks noGrp="1"/>
          </p:cNvSpPr>
          <p:nvPr>
            <p:ph type="sldNum" sz="quarter" idx="12"/>
          </p:nvPr>
        </p:nvSpPr>
        <p:spPr>
          <a:ln/>
        </p:spPr>
        <p:txBody>
          <a:bodyPr/>
          <a:lstStyle>
            <a:lvl1pPr>
              <a:defRPr/>
            </a:lvl1pPr>
          </a:lstStyle>
          <a:p>
            <a:fld id="{0318A2DA-67E1-4A24-92D1-37462B580C4B}" type="slidenum">
              <a:rPr lang="zh-CN" altLang="en-US"/>
              <a:pPr/>
              <a:t>‹#›</a:t>
            </a:fld>
            <a:endParaRPr lang="zh-CN" altLang="en-US"/>
          </a:p>
        </p:txBody>
      </p:sp>
    </p:spTree>
    <p:extLst>
      <p:ext uri="{BB962C8B-B14F-4D97-AF65-F5344CB8AC3E}">
        <p14:creationId xmlns:p14="http://schemas.microsoft.com/office/powerpoint/2010/main" val="182584544"/>
      </p:ext>
    </p:extLst>
  </p:cSld>
  <p:clrMapOvr>
    <a:masterClrMapping/>
  </p:clrMapOvr>
  <p:transition spd="slow"/>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文本占位符 2"/>
          <p:cNvSpPr>
            <a:spLocks noGrp="1"/>
          </p:cNvSpPr>
          <p:nvPr>
            <p:ph type="body" sz="half" idx="1"/>
          </p:nvPr>
        </p:nvSpPr>
        <p:spPr>
          <a:xfrm>
            <a:off x="628650" y="1825625"/>
            <a:ext cx="7886700" cy="2098675"/>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628650" y="4076700"/>
            <a:ext cx="7886700" cy="2100263"/>
          </a:xfr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日期占位符 1027"/>
          <p:cNvSpPr>
            <a:spLocks noGrp="1"/>
          </p:cNvSpPr>
          <p:nvPr>
            <p:ph type="dt" sz="half" idx="10"/>
          </p:nvPr>
        </p:nvSpPr>
        <p:spPr>
          <a:ln/>
        </p:spPr>
        <p:txBody>
          <a:bodyPr/>
          <a:lstStyle>
            <a:lvl1pPr>
              <a:defRPr/>
            </a:lvl1pPr>
          </a:lstStyle>
          <a:p>
            <a:fld id="{BB962C8B-B14F-4D97-AF65-F5344CB8AC3E}" type="datetime1">
              <a:rPr lang="zh-CN" altLang="en-US"/>
              <a:pPr/>
              <a:t>2020/9/29</a:t>
            </a:fld>
            <a:endParaRPr lang="zh-CN" altLang="en-US"/>
          </a:p>
        </p:txBody>
      </p:sp>
      <p:sp>
        <p:nvSpPr>
          <p:cNvPr id="6" name="页脚占位符 1028"/>
          <p:cNvSpPr>
            <a:spLocks noGrp="1"/>
          </p:cNvSpPr>
          <p:nvPr>
            <p:ph type="ftr" sz="quarter" idx="11"/>
          </p:nvPr>
        </p:nvSpPr>
        <p:spPr>
          <a:ln/>
        </p:spPr>
        <p:txBody>
          <a:bodyPr/>
          <a:lstStyle>
            <a:lvl1pPr>
              <a:defRPr/>
            </a:lvl1pPr>
          </a:lstStyle>
          <a:p>
            <a:endParaRPr lang="zh-CN" altLang="en-US"/>
          </a:p>
        </p:txBody>
      </p:sp>
      <p:sp>
        <p:nvSpPr>
          <p:cNvPr id="7" name="灯片编号占位符 1029"/>
          <p:cNvSpPr>
            <a:spLocks noGrp="1"/>
          </p:cNvSpPr>
          <p:nvPr>
            <p:ph type="sldNum" sz="quarter" idx="12"/>
          </p:nvPr>
        </p:nvSpPr>
        <p:spPr>
          <a:ln/>
        </p:spPr>
        <p:txBody>
          <a:bodyPr/>
          <a:lstStyle>
            <a:lvl1pPr>
              <a:defRPr/>
            </a:lvl1pPr>
          </a:lstStyle>
          <a:p>
            <a:fld id="{3A9FC838-ED9E-4F90-BB83-8C43E3CB0248}" type="slidenum">
              <a:rPr lang="zh-CN" altLang="en-US"/>
              <a:pPr/>
              <a:t>‹#›</a:t>
            </a:fld>
            <a:endParaRPr lang="zh-CN" altLang="en-US"/>
          </a:p>
        </p:txBody>
      </p:sp>
    </p:spTree>
    <p:extLst>
      <p:ext uri="{BB962C8B-B14F-4D97-AF65-F5344CB8AC3E}">
        <p14:creationId xmlns:p14="http://schemas.microsoft.com/office/powerpoint/2010/main" val="3399434102"/>
      </p:ext>
    </p:extLst>
  </p:cSld>
  <p:clrMapOvr>
    <a:masterClrMapping/>
  </p:clrMapOvr>
  <p:transition spd="slow"/>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2020/9/29</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66788753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vmlDrawing" Target="../drawings/vmlDrawing1.vml"/><Relationship Id="rId6" Type="http://schemas.openxmlformats.org/officeDocument/2006/relationships/image" Target="../media/image4.wmf"/><Relationship Id="rId5" Type="http://schemas.openxmlformats.org/officeDocument/2006/relationships/oleObject" Target="../embeddings/oleObject1.bin"/><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oleObject" Target="../embeddings/oleObject2.bin"/><Relationship Id="rId7" Type="http://schemas.openxmlformats.org/officeDocument/2006/relationships/image" Target="../media/image10.e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wmf"/></Relationships>
</file>

<file path=ppt/slides/_rels/slide17.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12.xml"/><Relationship Id="rId1" Type="http://schemas.openxmlformats.org/officeDocument/2006/relationships/vmlDrawing" Target="../drawings/vmlDrawing3.vml"/><Relationship Id="rId6" Type="http://schemas.openxmlformats.org/officeDocument/2006/relationships/image" Target="../media/image13.wmf"/><Relationship Id="rId11" Type="http://schemas.openxmlformats.org/officeDocument/2006/relationships/image" Target="../media/image17.png"/><Relationship Id="rId5" Type="http://schemas.openxmlformats.org/officeDocument/2006/relationships/oleObject" Target="../embeddings/oleObject5.bin"/><Relationship Id="rId10" Type="http://schemas.openxmlformats.org/officeDocument/2006/relationships/image" Target="../media/image16.emf"/><Relationship Id="rId4" Type="http://schemas.openxmlformats.org/officeDocument/2006/relationships/image" Target="../media/image12.emf"/><Relationship Id="rId9" Type="http://schemas.openxmlformats.org/officeDocument/2006/relationships/image" Target="../media/image15.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2.xml"/><Relationship Id="rId1" Type="http://schemas.openxmlformats.org/officeDocument/2006/relationships/vmlDrawing" Target="../drawings/vmlDrawing4.vml"/><Relationship Id="rId4" Type="http://schemas.openxmlformats.org/officeDocument/2006/relationships/image" Target="../media/image1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2.xml"/><Relationship Id="rId1" Type="http://schemas.openxmlformats.org/officeDocument/2006/relationships/vmlDrawing" Target="../drawings/vmlDrawing5.vml"/><Relationship Id="rId6" Type="http://schemas.openxmlformats.org/officeDocument/2006/relationships/image" Target="../media/image20.wmf"/><Relationship Id="rId5" Type="http://schemas.openxmlformats.org/officeDocument/2006/relationships/oleObject" Target="../embeddings/oleObject9.bin"/><Relationship Id="rId4" Type="http://schemas.openxmlformats.org/officeDocument/2006/relationships/image" Target="../media/image19.wmf"/></Relationships>
</file>

<file path=ppt/slides/_rels/slide20.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0.bin"/><Relationship Id="rId7" Type="http://schemas.openxmlformats.org/officeDocument/2006/relationships/oleObject" Target="../embeddings/oleObject12.bin"/><Relationship Id="rId2" Type="http://schemas.openxmlformats.org/officeDocument/2006/relationships/slideLayout" Target="../slideLayouts/slideLayout12.xml"/><Relationship Id="rId1" Type="http://schemas.openxmlformats.org/officeDocument/2006/relationships/vmlDrawing" Target="../drawings/vmlDrawing6.vml"/><Relationship Id="rId6" Type="http://schemas.openxmlformats.org/officeDocument/2006/relationships/image" Target="../media/image22.wmf"/><Relationship Id="rId5" Type="http://schemas.openxmlformats.org/officeDocument/2006/relationships/oleObject" Target="../embeddings/oleObject11.bin"/><Relationship Id="rId4" Type="http://schemas.openxmlformats.org/officeDocument/2006/relationships/image" Target="../media/image21.wmf"/><Relationship Id="rId9" Type="http://schemas.openxmlformats.org/officeDocument/2006/relationships/image" Target="../media/image24.png"/></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5.bin"/><Relationship Id="rId3" Type="http://schemas.openxmlformats.org/officeDocument/2006/relationships/image" Target="../media/image10.emf"/><Relationship Id="rId7" Type="http://schemas.openxmlformats.org/officeDocument/2006/relationships/image" Target="../media/image26.wmf"/><Relationship Id="rId2" Type="http://schemas.openxmlformats.org/officeDocument/2006/relationships/slideLayout" Target="../slideLayouts/slideLayout12.xml"/><Relationship Id="rId1" Type="http://schemas.openxmlformats.org/officeDocument/2006/relationships/vmlDrawing" Target="../drawings/vmlDrawing7.vml"/><Relationship Id="rId6" Type="http://schemas.openxmlformats.org/officeDocument/2006/relationships/oleObject" Target="../embeddings/oleObject14.bin"/><Relationship Id="rId5" Type="http://schemas.openxmlformats.org/officeDocument/2006/relationships/image" Target="../media/image25.wmf"/><Relationship Id="rId4" Type="http://schemas.openxmlformats.org/officeDocument/2006/relationships/oleObject" Target="../embeddings/oleObject13.bin"/><Relationship Id="rId9" Type="http://schemas.openxmlformats.org/officeDocument/2006/relationships/image" Target="../media/image27.wmf"/></Relationships>
</file>

<file path=ppt/slides/_rels/slide22.xml.rels><?xml version="1.0" encoding="UTF-8" standalone="yes"?>
<Relationships xmlns="http://schemas.openxmlformats.org/package/2006/relationships"><Relationship Id="rId3" Type="http://schemas.openxmlformats.org/officeDocument/2006/relationships/image" Target="../media/image11.emf"/><Relationship Id="rId7" Type="http://schemas.openxmlformats.org/officeDocument/2006/relationships/image" Target="../media/image29.wmf"/><Relationship Id="rId2" Type="http://schemas.openxmlformats.org/officeDocument/2006/relationships/slideLayout" Target="../slideLayouts/slideLayout12.xml"/><Relationship Id="rId1" Type="http://schemas.openxmlformats.org/officeDocument/2006/relationships/vmlDrawing" Target="../drawings/vmlDrawing8.vml"/><Relationship Id="rId6" Type="http://schemas.openxmlformats.org/officeDocument/2006/relationships/oleObject" Target="../embeddings/oleObject17.bin"/><Relationship Id="rId5" Type="http://schemas.openxmlformats.org/officeDocument/2006/relationships/image" Target="../media/image28.wmf"/><Relationship Id="rId4" Type="http://schemas.openxmlformats.org/officeDocument/2006/relationships/oleObject" Target="../embeddings/oleObject16.bin"/></Relationships>
</file>

<file path=ppt/slides/_rels/slide23.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1.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36.png"/><Relationship Id="rId4" Type="http://schemas.openxmlformats.org/officeDocument/2006/relationships/image" Target="../media/image35.w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36.png"/><Relationship Id="rId4" Type="http://schemas.openxmlformats.org/officeDocument/2006/relationships/image" Target="../media/image37.wmf"/></Relationships>
</file>

<file path=ppt/slides/_rels/slide29.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20.bin"/><Relationship Id="rId7" Type="http://schemas.openxmlformats.org/officeDocument/2006/relationships/oleObject" Target="../embeddings/oleObject2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39.wmf"/><Relationship Id="rId5" Type="http://schemas.openxmlformats.org/officeDocument/2006/relationships/oleObject" Target="../embeddings/oleObject21.bin"/><Relationship Id="rId4" Type="http://schemas.openxmlformats.org/officeDocument/2006/relationships/image" Target="../media/image38.wmf"/><Relationship Id="rId9" Type="http://schemas.openxmlformats.org/officeDocument/2006/relationships/image" Target="../media/image3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slideLayout" Target="../slideLayouts/slideLayout2.xml"/><Relationship Id="rId7" Type="http://schemas.openxmlformats.org/officeDocument/2006/relationships/oleObject" Target="../embeddings/oleObject24.bin"/><Relationship Id="rId2" Type="http://schemas.openxmlformats.org/officeDocument/2006/relationships/tags" Target="../tags/tag4.xml"/><Relationship Id="rId1" Type="http://schemas.openxmlformats.org/officeDocument/2006/relationships/vmlDrawing" Target="../drawings/vmlDrawing12.vml"/><Relationship Id="rId6" Type="http://schemas.openxmlformats.org/officeDocument/2006/relationships/image" Target="../media/image41.emf"/><Relationship Id="rId5" Type="http://schemas.openxmlformats.org/officeDocument/2006/relationships/oleObject" Target="../embeddings/oleObject23.bin"/><Relationship Id="rId10" Type="http://schemas.openxmlformats.org/officeDocument/2006/relationships/image" Target="../media/image43.emf"/><Relationship Id="rId4" Type="http://schemas.openxmlformats.org/officeDocument/2006/relationships/image" Target="../media/image44.emf"/><Relationship Id="rId9" Type="http://schemas.openxmlformats.org/officeDocument/2006/relationships/oleObject" Target="../embeddings/oleObject25.bin"/></Relationships>
</file>

<file path=ppt/slides/_rels/slide33.xml.rels><?xml version="1.0" encoding="UTF-8" standalone="yes"?>
<Relationships xmlns="http://schemas.openxmlformats.org/package/2006/relationships"><Relationship Id="rId2" Type="http://schemas.openxmlformats.org/officeDocument/2006/relationships/image" Target="../media/image45.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emf"/><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image" Target="../media/image50.wmf"/><Relationship Id="rId11" Type="http://schemas.openxmlformats.org/officeDocument/2006/relationships/image" Target="../media/image53.png"/><Relationship Id="rId5" Type="http://schemas.openxmlformats.org/officeDocument/2006/relationships/oleObject" Target="../embeddings/oleObject27.bin"/><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2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58.wmf"/><Relationship Id="rId3" Type="http://schemas.openxmlformats.org/officeDocument/2006/relationships/slideLayout" Target="../slideLayouts/slideLayout7.xml"/><Relationship Id="rId7" Type="http://schemas.openxmlformats.org/officeDocument/2006/relationships/image" Target="../media/image55.wmf"/><Relationship Id="rId12" Type="http://schemas.openxmlformats.org/officeDocument/2006/relationships/oleObject" Target="../embeddings/oleObject34.bin"/><Relationship Id="rId17" Type="http://schemas.openxmlformats.org/officeDocument/2006/relationships/image" Target="../media/image60.wmf"/><Relationship Id="rId2" Type="http://schemas.openxmlformats.org/officeDocument/2006/relationships/tags" Target="../tags/tag5.xml"/><Relationship Id="rId16" Type="http://schemas.openxmlformats.org/officeDocument/2006/relationships/oleObject" Target="../embeddings/oleObject36.bin"/><Relationship Id="rId1" Type="http://schemas.openxmlformats.org/officeDocument/2006/relationships/vmlDrawing" Target="../drawings/vmlDrawing14.vml"/><Relationship Id="rId6" Type="http://schemas.openxmlformats.org/officeDocument/2006/relationships/oleObject" Target="../embeddings/oleObject31.bin"/><Relationship Id="rId11" Type="http://schemas.openxmlformats.org/officeDocument/2006/relationships/image" Target="../media/image57.wmf"/><Relationship Id="rId5" Type="http://schemas.openxmlformats.org/officeDocument/2006/relationships/image" Target="../media/image54.wmf"/><Relationship Id="rId15" Type="http://schemas.openxmlformats.org/officeDocument/2006/relationships/image" Target="../media/image59.w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56.wmf"/><Relationship Id="rId14" Type="http://schemas.openxmlformats.org/officeDocument/2006/relationships/oleObject" Target="../embeddings/oleObject35.bin"/></Relationships>
</file>

<file path=ppt/slides/_rels/slide40.xml.rels><?xml version="1.0" encoding="UTF-8" standalone="yes"?>
<Relationships xmlns="http://schemas.openxmlformats.org/package/2006/relationships"><Relationship Id="rId8" Type="http://schemas.openxmlformats.org/officeDocument/2006/relationships/image" Target="../media/image56.wmf"/><Relationship Id="rId13"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58.wmf"/><Relationship Id="rId2" Type="http://schemas.openxmlformats.org/officeDocument/2006/relationships/slideLayout" Target="../slideLayouts/slideLayout2.xml"/><Relationship Id="rId16" Type="http://schemas.openxmlformats.org/officeDocument/2006/relationships/image" Target="../media/image60.wmf"/><Relationship Id="rId1" Type="http://schemas.openxmlformats.org/officeDocument/2006/relationships/vmlDrawing" Target="../drawings/vmlDrawing15.vml"/><Relationship Id="rId6" Type="http://schemas.openxmlformats.org/officeDocument/2006/relationships/image" Target="../media/image55.wmf"/><Relationship Id="rId11" Type="http://schemas.openxmlformats.org/officeDocument/2006/relationships/oleObject" Target="../embeddings/oleObject41.bin"/><Relationship Id="rId5" Type="http://schemas.openxmlformats.org/officeDocument/2006/relationships/oleObject" Target="../embeddings/oleObject38.bin"/><Relationship Id="rId15" Type="http://schemas.openxmlformats.org/officeDocument/2006/relationships/oleObject" Target="../embeddings/oleObject43.bin"/><Relationship Id="rId10" Type="http://schemas.openxmlformats.org/officeDocument/2006/relationships/image" Target="../media/image57.wmf"/><Relationship Id="rId4" Type="http://schemas.openxmlformats.org/officeDocument/2006/relationships/image" Target="../media/image54.wmf"/><Relationship Id="rId9" Type="http://schemas.openxmlformats.org/officeDocument/2006/relationships/oleObject" Target="../embeddings/oleObject40.bin"/><Relationship Id="rId14" Type="http://schemas.openxmlformats.org/officeDocument/2006/relationships/image" Target="../media/image59.wm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emf"/><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8" Type="http://schemas.openxmlformats.org/officeDocument/2006/relationships/image" Target="../media/image68.wmf"/><Relationship Id="rId13" Type="http://schemas.openxmlformats.org/officeDocument/2006/relationships/oleObject" Target="../embeddings/oleObject49.bin"/><Relationship Id="rId18" Type="http://schemas.openxmlformats.org/officeDocument/2006/relationships/image" Target="../media/image73.png"/><Relationship Id="rId3" Type="http://schemas.openxmlformats.org/officeDocument/2006/relationships/oleObject" Target="../embeddings/oleObject44.bin"/><Relationship Id="rId7" Type="http://schemas.openxmlformats.org/officeDocument/2006/relationships/oleObject" Target="../embeddings/oleObject46.bin"/><Relationship Id="rId12" Type="http://schemas.openxmlformats.org/officeDocument/2006/relationships/image" Target="../media/image70.wmf"/><Relationship Id="rId17" Type="http://schemas.openxmlformats.org/officeDocument/2006/relationships/image" Target="../media/image64.emf"/><Relationship Id="rId2" Type="http://schemas.openxmlformats.org/officeDocument/2006/relationships/slideLayout" Target="../slideLayouts/slideLayout7.xml"/><Relationship Id="rId16" Type="http://schemas.openxmlformats.org/officeDocument/2006/relationships/image" Target="../media/image72.wmf"/><Relationship Id="rId1" Type="http://schemas.openxmlformats.org/officeDocument/2006/relationships/vmlDrawing" Target="../drawings/vmlDrawing16.vml"/><Relationship Id="rId6" Type="http://schemas.openxmlformats.org/officeDocument/2006/relationships/image" Target="../media/image67.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69.wmf"/><Relationship Id="rId4" Type="http://schemas.openxmlformats.org/officeDocument/2006/relationships/image" Target="../media/image66.wmf"/><Relationship Id="rId9" Type="http://schemas.openxmlformats.org/officeDocument/2006/relationships/oleObject" Target="../embeddings/oleObject47.bin"/><Relationship Id="rId14" Type="http://schemas.openxmlformats.org/officeDocument/2006/relationships/image" Target="../media/image71.wmf"/></Relationships>
</file>

<file path=ppt/slides/_rels/slide48.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image" Target="../media/image79.png"/><Relationship Id="rId3" Type="http://schemas.openxmlformats.org/officeDocument/2006/relationships/slideLayout" Target="../slideLayouts/slideLayout7.xml"/><Relationship Id="rId7" Type="http://schemas.openxmlformats.org/officeDocument/2006/relationships/oleObject" Target="../embeddings/oleObject52.bin"/><Relationship Id="rId12" Type="http://schemas.openxmlformats.org/officeDocument/2006/relationships/image" Target="../media/image77.wmf"/><Relationship Id="rId2" Type="http://schemas.openxmlformats.org/officeDocument/2006/relationships/tags" Target="../tags/tag6.xml"/><Relationship Id="rId1" Type="http://schemas.openxmlformats.org/officeDocument/2006/relationships/vmlDrawing" Target="../drawings/vmlDrawing17.vml"/><Relationship Id="rId6" Type="http://schemas.openxmlformats.org/officeDocument/2006/relationships/image" Target="../media/image74.wmf"/><Relationship Id="rId11" Type="http://schemas.openxmlformats.org/officeDocument/2006/relationships/oleObject" Target="../embeddings/oleObject54.bin"/><Relationship Id="rId5" Type="http://schemas.openxmlformats.org/officeDocument/2006/relationships/oleObject" Target="../embeddings/oleObject51.bin"/><Relationship Id="rId10" Type="http://schemas.openxmlformats.org/officeDocument/2006/relationships/image" Target="../media/image76.wmf"/><Relationship Id="rId4" Type="http://schemas.openxmlformats.org/officeDocument/2006/relationships/image" Target="../media/image78.png"/><Relationship Id="rId9" Type="http://schemas.openxmlformats.org/officeDocument/2006/relationships/oleObject" Target="../embeddings/oleObject53.bin"/></Relationships>
</file>

<file path=ppt/slides/_rels/slide4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7.xml"/><Relationship Id="rId1" Type="http://schemas.openxmlformats.org/officeDocument/2006/relationships/vmlDrawing" Target="../drawings/vmlDrawing18.vml"/><Relationship Id="rId4" Type="http://schemas.openxmlformats.org/officeDocument/2006/relationships/image" Target="../media/image87.e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image" Target="../media/image91.png"/><Relationship Id="rId4" Type="http://schemas.openxmlformats.org/officeDocument/2006/relationships/image" Target="../media/image90.wmf"/></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57.bin"/><Relationship Id="rId7" Type="http://schemas.openxmlformats.org/officeDocument/2006/relationships/image" Target="../media/image91.png"/><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93.wmf"/><Relationship Id="rId5" Type="http://schemas.openxmlformats.org/officeDocument/2006/relationships/oleObject" Target="../embeddings/oleObject58.bin"/><Relationship Id="rId4" Type="http://schemas.openxmlformats.org/officeDocument/2006/relationships/image" Target="../media/image92.em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标题 5121"/>
          <p:cNvSpPr>
            <a:spLocks noGrp="1" noChangeArrowheads="1"/>
          </p:cNvSpPr>
          <p:nvPr>
            <p:ph type="ctrTitle"/>
          </p:nvPr>
        </p:nvSpPr>
        <p:spPr>
          <a:xfrm>
            <a:off x="659296" y="2070653"/>
            <a:ext cx="7772400" cy="1470025"/>
          </a:xfrm>
        </p:spPr>
        <p:txBody>
          <a:bodyPr anchor="ctr"/>
          <a:lstStyle/>
          <a:p>
            <a:r>
              <a:rPr lang="en-US" altLang="zh-CN" sz="4400" b="1" dirty="0" smtClean="0">
                <a:latin typeface="Times New Roman" panose="02020603050405020304" pitchFamily="18" charset="0"/>
              </a:rPr>
              <a:t>13</a:t>
            </a:r>
            <a:r>
              <a:rPr lang="zh-CN" altLang="en-US" sz="4400" b="1" dirty="0" smtClean="0">
                <a:latin typeface="Times New Roman" panose="02020603050405020304" pitchFamily="18" charset="0"/>
              </a:rPr>
              <a:t>   </a:t>
            </a:r>
            <a:r>
              <a:rPr lang="zh-CN" altLang="en-US" sz="4400" b="1" dirty="0" smtClean="0"/>
              <a:t>蒸汽动力循环</a:t>
            </a:r>
          </a:p>
        </p:txBody>
      </p:sp>
    </p:spTree>
    <p:custDataLst>
      <p:tags r:id="rId1"/>
    </p:custDataLst>
    <p:extLst>
      <p:ext uri="{BB962C8B-B14F-4D97-AF65-F5344CB8AC3E}">
        <p14:creationId xmlns:p14="http://schemas.microsoft.com/office/powerpoint/2010/main" val="498972996"/>
      </p:ext>
    </p:extLst>
  </p:cSld>
  <p:clrMapOvr>
    <a:masterClrMapping/>
  </p:clrMapOvr>
  <p:transition spd="slow"/>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文本框 38915"/>
          <p:cNvSpPr txBox="1">
            <a:spLocks noChangeArrowheads="1"/>
          </p:cNvSpPr>
          <p:nvPr/>
        </p:nvSpPr>
        <p:spPr bwMode="auto">
          <a:xfrm>
            <a:off x="2923347" y="2020542"/>
            <a:ext cx="368948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400" b="1" dirty="0">
                <a:solidFill>
                  <a:srgbClr val="000000"/>
                </a:solidFill>
                <a:latin typeface="+mn-ea"/>
              </a:rPr>
              <a:t>13-1  </a:t>
            </a:r>
            <a:r>
              <a:rPr lang="zh-CN" altLang="en-US" sz="4400" b="1" dirty="0">
                <a:solidFill>
                  <a:srgbClr val="000000"/>
                </a:solidFill>
                <a:latin typeface="+mn-ea"/>
              </a:rPr>
              <a:t>概述</a:t>
            </a:r>
          </a:p>
        </p:txBody>
      </p:sp>
    </p:spTree>
    <p:extLst>
      <p:ext uri="{BB962C8B-B14F-4D97-AF65-F5344CB8AC3E}">
        <p14:creationId xmlns:p14="http://schemas.microsoft.com/office/powerpoint/2010/main" val="1436550507"/>
      </p:ext>
    </p:extLst>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63659" y="665553"/>
            <a:ext cx="8109475" cy="3108543"/>
          </a:xfrm>
          <a:prstGeom prst="rect">
            <a:avLst/>
          </a:prstGeom>
          <a:noFill/>
        </p:spPr>
        <p:txBody>
          <a:bodyPr wrap="square" rtlCol="0">
            <a:spAutoFit/>
          </a:bodyPr>
          <a:lstStyle/>
          <a:p>
            <a:pPr marL="457200" indent="-457200">
              <a:buFont typeface="Arial" panose="020B0604020202020204" pitchFamily="34" charset="0"/>
              <a:buChar char="•"/>
            </a:pPr>
            <a:r>
              <a:rPr lang="zh-CN" altLang="en-US" sz="2800" b="1" dirty="0" smtClean="0"/>
              <a:t>蒸汽</a:t>
            </a:r>
            <a:r>
              <a:rPr lang="zh-CN" altLang="en-US" sz="2800" b="1" dirty="0"/>
              <a:t>动力循环是指以</a:t>
            </a:r>
            <a:r>
              <a:rPr lang="zh-CN" altLang="en-US" sz="2800" b="1" dirty="0">
                <a:solidFill>
                  <a:srgbClr val="FF0000"/>
                </a:solidFill>
              </a:rPr>
              <a:t>蒸汽</a:t>
            </a:r>
            <a:r>
              <a:rPr lang="zh-CN" altLang="en-US" sz="2800" b="1" dirty="0"/>
              <a:t>作为工质的动力</a:t>
            </a:r>
            <a:r>
              <a:rPr lang="zh-CN" altLang="en-US" sz="2800" b="1" dirty="0" smtClean="0"/>
              <a:t>循环</a:t>
            </a:r>
            <a:endParaRPr lang="en-US" altLang="zh-CN" sz="2800" b="1" dirty="0" smtClean="0"/>
          </a:p>
          <a:p>
            <a:pPr marL="457200" indent="-457200">
              <a:buFont typeface="Arial" panose="020B0604020202020204" pitchFamily="34" charset="0"/>
              <a:buChar char="•"/>
            </a:pPr>
            <a:r>
              <a:rPr lang="zh-CN" altLang="en-US" sz="2800" b="1" dirty="0" smtClean="0"/>
              <a:t>实现</a:t>
            </a:r>
            <a:r>
              <a:rPr lang="zh-CN" altLang="en-US" sz="2800" b="1" dirty="0"/>
              <a:t>蒸汽动力循环的装置称为蒸汽</a:t>
            </a:r>
            <a:r>
              <a:rPr lang="zh-CN" altLang="en-US" sz="2800" b="1" dirty="0" smtClean="0"/>
              <a:t>动力装置</a:t>
            </a:r>
            <a:endParaRPr lang="en-US" altLang="zh-CN" sz="2800" b="1" dirty="0" smtClean="0"/>
          </a:p>
          <a:p>
            <a:pPr marL="457200" indent="-457200">
              <a:buFont typeface="Arial" panose="020B0604020202020204" pitchFamily="34" charset="0"/>
              <a:buChar char="•"/>
            </a:pPr>
            <a:r>
              <a:rPr lang="zh-CN" altLang="en-US" sz="2800" b="1" dirty="0" smtClean="0"/>
              <a:t>在</a:t>
            </a:r>
            <a:r>
              <a:rPr lang="zh-CN" altLang="en-US" sz="2800" b="1" dirty="0"/>
              <a:t>蒸汽动力装置中，水时而处于液态，时而处于</a:t>
            </a:r>
            <a:r>
              <a:rPr lang="zh-CN" altLang="en-US" sz="2800" b="1" dirty="0" smtClean="0"/>
              <a:t>气态</a:t>
            </a:r>
            <a:endParaRPr lang="en-US" altLang="zh-CN" sz="2800" b="1" dirty="0" smtClean="0"/>
          </a:p>
          <a:p>
            <a:pPr marL="457200" indent="-457200">
              <a:buFont typeface="Arial" panose="020B0604020202020204" pitchFamily="34" charset="0"/>
              <a:buChar char="•"/>
            </a:pPr>
            <a:r>
              <a:rPr lang="zh-CN" altLang="en-US" sz="2800" b="1" dirty="0" smtClean="0"/>
              <a:t>由于</a:t>
            </a:r>
            <a:r>
              <a:rPr lang="zh-CN" altLang="en-US" sz="2800" b="1" dirty="0"/>
              <a:t>水和水蒸气本身不能燃烧而只能从外界吸热，蒸汽动力装置需要配备制备蒸汽的</a:t>
            </a:r>
            <a:r>
              <a:rPr lang="zh-CN" altLang="en-US" sz="2800" b="1" dirty="0" smtClean="0"/>
              <a:t>锅炉</a:t>
            </a:r>
            <a:endParaRPr lang="zh-CN" altLang="en-US" sz="2800" b="1" dirty="0"/>
          </a:p>
          <a:p>
            <a:endParaRPr lang="zh-CN" altLang="en-US" sz="2800" b="1" dirty="0"/>
          </a:p>
        </p:txBody>
      </p:sp>
    </p:spTree>
    <p:custDataLst>
      <p:tags r:id="rId1"/>
    </p:custDataLst>
    <p:extLst>
      <p:ext uri="{BB962C8B-B14F-4D97-AF65-F5344CB8AC3E}">
        <p14:creationId xmlns:p14="http://schemas.microsoft.com/office/powerpoint/2010/main" val="4226736847"/>
      </p:ext>
    </p:extLst>
  </p:cSld>
  <p:clrMapOvr>
    <a:masterClrMapping/>
  </p:clrMapOvr>
  <p:transition spd="slow"/>
  <p:timing>
    <p:tnLst>
      <p:par>
        <p:cTn id="1" dur="indefinite" restart="never" nodeType="tmRoot"/>
      </p:par>
    </p:tnLst>
  </p:timing>
  <p:extLst mod="1"/>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543338" y="530087"/>
            <a:ext cx="8024191" cy="2246769"/>
          </a:xfrm>
          <a:prstGeom prst="rect">
            <a:avLst/>
          </a:prstGeom>
          <a:noFill/>
        </p:spPr>
        <p:txBody>
          <a:bodyPr wrap="square" rtlCol="0">
            <a:spAutoFit/>
          </a:bodyPr>
          <a:lstStyle/>
          <a:p>
            <a:r>
              <a:rPr lang="zh-CN" altLang="en-US" sz="2800" b="1" dirty="0" smtClean="0"/>
              <a:t>对于</a:t>
            </a:r>
            <a:r>
              <a:rPr lang="zh-CN" altLang="en-US" sz="2800" b="1" dirty="0"/>
              <a:t>内燃机（上</a:t>
            </a:r>
            <a:r>
              <a:rPr lang="zh-CN" altLang="en-US" sz="2800" b="1" dirty="0" smtClean="0"/>
              <a:t>一章），</a:t>
            </a:r>
            <a:r>
              <a:rPr lang="zh-CN" altLang="en-US" sz="2800" b="1" dirty="0"/>
              <a:t>工质吸收的热量来自于系统边界内燃料的燃烧放热，因此它属于内燃式动力装置。而对于蒸汽动力装置，它需要通过外部热源向工质传递热量，因此</a:t>
            </a:r>
            <a:r>
              <a:rPr lang="zh-CN" altLang="en-US" sz="2800" b="1" dirty="0">
                <a:solidFill>
                  <a:srgbClr val="FF0000"/>
                </a:solidFill>
              </a:rPr>
              <a:t>蒸汽动力装置又</a:t>
            </a:r>
            <a:r>
              <a:rPr lang="zh-CN" altLang="en-US" sz="2800" b="1" dirty="0" smtClean="0">
                <a:solidFill>
                  <a:srgbClr val="FF0000"/>
                </a:solidFill>
              </a:rPr>
              <a:t>称为外</a:t>
            </a:r>
            <a:r>
              <a:rPr lang="zh-CN" altLang="en-US" sz="2800" b="1" dirty="0">
                <a:solidFill>
                  <a:srgbClr val="FF0000"/>
                </a:solidFill>
              </a:rPr>
              <a:t>燃</a:t>
            </a:r>
            <a:r>
              <a:rPr lang="zh-CN" altLang="en-US" sz="2800" b="1" dirty="0" smtClean="0">
                <a:solidFill>
                  <a:srgbClr val="FF0000"/>
                </a:solidFill>
              </a:rPr>
              <a:t>式动力装置。</a:t>
            </a:r>
            <a:endParaRPr lang="zh-CN" altLang="en-US" sz="2800" b="1" dirty="0">
              <a:solidFill>
                <a:srgbClr val="FF0000"/>
              </a:solidFill>
            </a:endParaRPr>
          </a:p>
        </p:txBody>
      </p:sp>
      <p:sp>
        <p:nvSpPr>
          <p:cNvPr id="3" name="文本框 1"/>
          <p:cNvSpPr txBox="1">
            <a:spLocks noChangeArrowheads="1"/>
          </p:cNvSpPr>
          <p:nvPr/>
        </p:nvSpPr>
        <p:spPr bwMode="auto">
          <a:xfrm>
            <a:off x="526635" y="3351558"/>
            <a:ext cx="8040894"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2400" b="1" dirty="0">
                <a:solidFill>
                  <a:srgbClr val="0070C0"/>
                </a:solidFill>
              </a:rPr>
              <a:t>外燃式优点</a:t>
            </a:r>
            <a:r>
              <a:rPr lang="zh-CN" altLang="en-US" sz="2400" b="1" dirty="0"/>
              <a:t>：</a:t>
            </a:r>
          </a:p>
          <a:p>
            <a:r>
              <a:rPr lang="en-US" altLang="zh-CN" sz="2400" b="1" dirty="0"/>
              <a:t>1</a:t>
            </a:r>
            <a:r>
              <a:rPr lang="zh-CN" altLang="en-US" sz="2400" b="1" dirty="0"/>
              <a:t>、因为燃烧产物不参与循环，所以蒸汽动力装置既可以利用各种常规的固体、液体、气体燃料及核燃料，又可以利用劣质煤和工业废热，还可以利用太阳能和地热等能源。</a:t>
            </a:r>
          </a:p>
          <a:p>
            <a:r>
              <a:rPr lang="en-US" altLang="zh-CN" sz="2400" b="1" dirty="0"/>
              <a:t>2</a:t>
            </a:r>
            <a:r>
              <a:rPr lang="zh-CN" altLang="en-US" sz="2400" b="1" dirty="0"/>
              <a:t>、与内部燃烧相比，外部燃烧有更长的燃烧时间，这使得燃烧过程更加充分，可提高能源利用率并减少污染物的排放。</a:t>
            </a:r>
          </a:p>
        </p:txBody>
      </p:sp>
    </p:spTree>
    <p:extLst>
      <p:ext uri="{BB962C8B-B14F-4D97-AF65-F5344CB8AC3E}">
        <p14:creationId xmlns:p14="http://schemas.microsoft.com/office/powerpoint/2010/main" val="3478873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28869" y="987287"/>
            <a:ext cx="7653130"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b="1" dirty="0" smtClean="0"/>
              <a:t>本章将根据热力学基本定律和水蒸气的热力性质，分析水蒸气动力循环中热功转换过程的</a:t>
            </a:r>
            <a:r>
              <a:rPr lang="zh-CN" altLang="en-US" sz="2800" b="1" dirty="0" smtClean="0">
                <a:solidFill>
                  <a:srgbClr val="FF0000"/>
                </a:solidFill>
              </a:rPr>
              <a:t>热效率</a:t>
            </a:r>
            <a:r>
              <a:rPr lang="zh-CN" altLang="en-US" sz="2800" b="1" dirty="0" smtClean="0"/>
              <a:t>，研究提高热效率的方法和途径</a:t>
            </a:r>
            <a:endParaRPr lang="en-US" altLang="zh-CN" sz="2800" b="1" dirty="0" smtClean="0"/>
          </a:p>
          <a:p>
            <a:pPr marL="457200" indent="-457200">
              <a:buFont typeface="Arial" panose="020B0604020202020204" pitchFamily="34" charset="0"/>
              <a:buChar char="•"/>
            </a:pPr>
            <a:r>
              <a:rPr lang="zh-CN" altLang="en-US" sz="2800" b="1" dirty="0" smtClean="0"/>
              <a:t>在实际的工程设计中，对蒸汽动力装置的技术和经济分析还应考虑装置的成本、重量、尺寸、运行费用及环保等指标</a:t>
            </a:r>
            <a:endParaRPr lang="zh-CN" altLang="en-US" sz="2800" b="1" dirty="0"/>
          </a:p>
        </p:txBody>
      </p:sp>
    </p:spTree>
    <p:extLst>
      <p:ext uri="{BB962C8B-B14F-4D97-AF65-F5344CB8AC3E}">
        <p14:creationId xmlns:p14="http://schemas.microsoft.com/office/powerpoint/2010/main" val="32337228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文本框 38915"/>
          <p:cNvSpPr txBox="1">
            <a:spLocks noChangeArrowheads="1"/>
          </p:cNvSpPr>
          <p:nvPr/>
        </p:nvSpPr>
        <p:spPr bwMode="auto">
          <a:xfrm>
            <a:off x="1843432" y="1918736"/>
            <a:ext cx="590246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400" b="1" dirty="0">
                <a:solidFill>
                  <a:srgbClr val="000000"/>
                </a:solidFill>
                <a:latin typeface="+mn-ea"/>
              </a:rPr>
              <a:t>13-2  </a:t>
            </a:r>
            <a:r>
              <a:rPr lang="zh-CN" altLang="en-US" sz="4400" b="1" dirty="0">
                <a:solidFill>
                  <a:srgbClr val="000000"/>
                </a:solidFill>
                <a:latin typeface="+mn-ea"/>
              </a:rPr>
              <a:t>蒸汽卡诺循环</a:t>
            </a:r>
          </a:p>
        </p:txBody>
      </p:sp>
    </p:spTree>
    <p:extLst>
      <p:ext uri="{BB962C8B-B14F-4D97-AF65-F5344CB8AC3E}">
        <p14:creationId xmlns:p14="http://schemas.microsoft.com/office/powerpoint/2010/main" val="2372639893"/>
      </p:ext>
    </p:extLst>
  </p:cSld>
  <p:clrMapOvr>
    <a:masterClrMapping/>
  </p:clrMapOvr>
  <p:transition spd="slow"/>
  <p:timing>
    <p:tnLst>
      <p:par>
        <p:cTn id="1" dur="indefinite" restart="never" nodeType="tmRoot"/>
      </p:par>
    </p:tnLst>
  </p:timing>
  <p:extLst mod="1"/>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0375" y="1768475"/>
            <a:ext cx="3596952" cy="2895851"/>
          </a:xfrm>
          <a:prstGeom prst="rect">
            <a:avLst/>
          </a:prstGeom>
        </p:spPr>
      </p:pic>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5070" y="1768475"/>
            <a:ext cx="3243353" cy="2871465"/>
          </a:xfrm>
          <a:prstGeom prst="rect">
            <a:avLst/>
          </a:prstGeom>
        </p:spPr>
      </p:pic>
      <p:sp>
        <p:nvSpPr>
          <p:cNvPr id="29699" name="文本框 37898"/>
          <p:cNvSpPr txBox="1">
            <a:spLocks noChangeArrowheads="1"/>
          </p:cNvSpPr>
          <p:nvPr/>
        </p:nvSpPr>
        <p:spPr bwMode="auto">
          <a:xfrm>
            <a:off x="712305" y="536000"/>
            <a:ext cx="81534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dirty="0"/>
              <a:t>在相同温限内，卡诺循环的热效率最高</a:t>
            </a:r>
          </a:p>
        </p:txBody>
      </p:sp>
      <p:sp>
        <p:nvSpPr>
          <p:cNvPr id="29701" name="直接连接符 37900"/>
          <p:cNvSpPr>
            <a:spLocks noChangeShapeType="1"/>
          </p:cNvSpPr>
          <p:nvPr/>
        </p:nvSpPr>
        <p:spPr bwMode="auto">
          <a:xfrm>
            <a:off x="1274763" y="2073275"/>
            <a:ext cx="73914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702" name="直接连接符 37901"/>
          <p:cNvSpPr>
            <a:spLocks noChangeShapeType="1"/>
          </p:cNvSpPr>
          <p:nvPr/>
        </p:nvSpPr>
        <p:spPr bwMode="auto">
          <a:xfrm>
            <a:off x="360363" y="3821113"/>
            <a:ext cx="8382000"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712592677"/>
      </p:ext>
    </p:extLst>
  </p:cSld>
  <p:clrMapOvr>
    <a:masterClrMapping/>
  </p:clrMapOvr>
  <p:transition spd="slow"/>
  <p:timing>
    <p:tnLst>
      <p:par>
        <p:cTn id="1" dur="indefinite" restart="never" nodeType="tmRoot"/>
      </p:par>
    </p:tnLst>
  </p:timing>
  <p:extLst mod="1"/>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文本框 30721"/>
          <p:cNvSpPr txBox="1">
            <a:spLocks noChangeArrowheads="1"/>
          </p:cNvSpPr>
          <p:nvPr/>
        </p:nvSpPr>
        <p:spPr bwMode="auto">
          <a:xfrm>
            <a:off x="3105150" y="5634383"/>
            <a:ext cx="308610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楷体_GB2312" pitchFamily="49" charset="-122"/>
              </a:rPr>
              <a:t>水蒸气的卡诺循环</a:t>
            </a:r>
          </a:p>
        </p:txBody>
      </p:sp>
      <p:sp>
        <p:nvSpPr>
          <p:cNvPr id="30722" name="文本框 30733"/>
          <p:cNvSpPr txBox="1">
            <a:spLocks noChangeArrowheads="1"/>
          </p:cNvSpPr>
          <p:nvPr/>
        </p:nvSpPr>
        <p:spPr bwMode="auto">
          <a:xfrm>
            <a:off x="533400" y="428625"/>
            <a:ext cx="8229600"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solidFill>
                  <a:srgbClr val="FF0000"/>
                </a:solidFill>
              </a:rPr>
              <a:t>水蒸气卡诺循环有可能实现</a:t>
            </a:r>
            <a:r>
              <a:rPr lang="zh-CN" altLang="en-US" sz="2800" b="1" dirty="0"/>
              <a:t>：压力不变时，在液体汽化和蒸汽凝结时温度不变，因此有定温加热和放热的可能。</a:t>
            </a:r>
          </a:p>
        </p:txBody>
      </p:sp>
      <p:pic>
        <p:nvPicPr>
          <p:cNvPr id="30723"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6902" y="2107717"/>
            <a:ext cx="3816350" cy="337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12051415"/>
      </p:ext>
    </p:extLst>
  </p:cSld>
  <p:clrMapOvr>
    <a:masterClrMapping/>
  </p:clrMapOvr>
  <p:transition spd="slow"/>
  <p:timing>
    <p:tnLst>
      <p:par>
        <p:cTn id="1" dur="indefinite" restart="never" nodeType="tmRoot"/>
      </p:par>
    </p:tnLst>
  </p:timing>
  <p:extLst mod="1"/>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文本框 1"/>
          <p:cNvSpPr txBox="1">
            <a:spLocks noChangeArrowheads="1"/>
          </p:cNvSpPr>
          <p:nvPr/>
        </p:nvSpPr>
        <p:spPr bwMode="auto">
          <a:xfrm>
            <a:off x="412750" y="331788"/>
            <a:ext cx="8318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t>但在实际的蒸汽动力装置中仍然并不采用卡诺循环，其主要原因是：</a:t>
            </a:r>
          </a:p>
        </p:txBody>
      </p:sp>
      <p:sp>
        <p:nvSpPr>
          <p:cNvPr id="31746" name="文本框 2"/>
          <p:cNvSpPr txBox="1">
            <a:spLocks noChangeArrowheads="1"/>
          </p:cNvSpPr>
          <p:nvPr/>
        </p:nvSpPr>
        <p:spPr bwMode="auto">
          <a:xfrm>
            <a:off x="412750" y="1500188"/>
            <a:ext cx="7743825"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pitchFamily="18" charset="0"/>
              </a:rPr>
              <a:t>1</a:t>
            </a:r>
            <a:r>
              <a:rPr lang="zh-CN" altLang="en-US" sz="2400" b="1">
                <a:latin typeface="Times New Roman" panose="02020603050405020304" pitchFamily="18" charset="0"/>
              </a:rPr>
              <a:t>、压气机中的绝热压缩过程</a:t>
            </a:r>
            <a:r>
              <a:rPr lang="en-US" altLang="zh-CN" sz="2400" b="1">
                <a:latin typeface="Times New Roman" panose="02020603050405020304" pitchFamily="18" charset="0"/>
              </a:rPr>
              <a:t>1-2</a:t>
            </a:r>
            <a:r>
              <a:rPr lang="zh-CN" altLang="en-US" sz="2400" b="1">
                <a:latin typeface="Times New Roman" panose="02020603050405020304" pitchFamily="18" charset="0"/>
              </a:rPr>
              <a:t>是难以实现的，这是因为，</a:t>
            </a:r>
            <a:r>
              <a:rPr lang="en-US" altLang="zh-CN" sz="2400" b="1">
                <a:latin typeface="Times New Roman" panose="02020603050405020304" pitchFamily="18" charset="0"/>
              </a:rPr>
              <a:t>1-2</a:t>
            </a:r>
            <a:r>
              <a:rPr lang="zh-CN" altLang="en-US" sz="2400" b="1">
                <a:latin typeface="Times New Roman" panose="02020603050405020304" pitchFamily="18" charset="0"/>
              </a:rPr>
              <a:t>过程中工质处于低干度的湿蒸汽状态，而对于汽、水混合物的压缩，不仅需要耗费很大的压缩功，而且也会使压缩机工作不稳定</a:t>
            </a:r>
          </a:p>
        </p:txBody>
      </p:sp>
      <p:pic>
        <p:nvPicPr>
          <p:cNvPr id="31750" name="图片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04768" y="3301794"/>
            <a:ext cx="3194050"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组合 3"/>
          <p:cNvGrpSpPr/>
          <p:nvPr/>
        </p:nvGrpSpPr>
        <p:grpSpPr>
          <a:xfrm>
            <a:off x="3840093" y="2663687"/>
            <a:ext cx="4724400" cy="2352261"/>
            <a:chOff x="3840093" y="2663687"/>
            <a:chExt cx="4724400" cy="2352261"/>
          </a:xfrm>
        </p:grpSpPr>
        <p:graphicFrame>
          <p:nvGraphicFramePr>
            <p:cNvPr id="31747" name="对象 3"/>
            <p:cNvGraphicFramePr>
              <a:graphicFrameLocks noChangeAspect="1"/>
            </p:cNvGraphicFramePr>
            <p:nvPr>
              <p:extLst>
                <p:ext uri="{D42A27DB-BD31-4B8C-83A1-F6EECF244321}">
                  <p14:modId xmlns:p14="http://schemas.microsoft.com/office/powerpoint/2010/main" val="1724294165"/>
                </p:ext>
              </p:extLst>
            </p:nvPr>
          </p:nvGraphicFramePr>
          <p:xfrm>
            <a:off x="7116693" y="3379305"/>
            <a:ext cx="1066800" cy="609600"/>
          </p:xfrm>
          <a:graphic>
            <a:graphicData uri="http://schemas.openxmlformats.org/presentationml/2006/ole">
              <mc:AlternateContent xmlns:mc="http://schemas.openxmlformats.org/markup-compatibility/2006">
                <mc:Choice xmlns:v="urn:schemas-microsoft-com:vml" Requires="v">
                  <p:oleObj spid="_x0000_s2072" r:id="rId5" imgW="1237680" imgH="734760" progId="Equation.DSMT4">
                    <p:embed/>
                  </p:oleObj>
                </mc:Choice>
                <mc:Fallback>
                  <p:oleObj r:id="rId5" imgW="1237680" imgH="734760" progId="Equation.DSMT4">
                    <p:embed/>
                    <p:pic>
                      <p:nvPicPr>
                        <p:cNvPr id="31747" name="对象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16693" y="3379305"/>
                          <a:ext cx="10668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1748" name="文本框 5"/>
            <p:cNvSpPr txBox="1">
              <a:spLocks noChangeArrowheads="1"/>
            </p:cNvSpPr>
            <p:nvPr/>
          </p:nvSpPr>
          <p:spPr bwMode="auto">
            <a:xfrm>
              <a:off x="3840093" y="3379305"/>
              <a:ext cx="4189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a:t>压缩过程耗功的表达式</a:t>
              </a:r>
            </a:p>
          </p:txBody>
        </p:sp>
        <p:sp>
          <p:nvSpPr>
            <p:cNvPr id="31749" name="文本框 6"/>
            <p:cNvSpPr txBox="1">
              <a:spLocks noChangeArrowheads="1"/>
            </p:cNvSpPr>
            <p:nvPr/>
          </p:nvSpPr>
          <p:spPr bwMode="auto">
            <a:xfrm>
              <a:off x="3840093" y="4088296"/>
              <a:ext cx="47244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t>被压缩工质的</a:t>
              </a:r>
              <a:r>
                <a:rPr lang="zh-CN" altLang="en-US" sz="2400" b="1" i="1" dirty="0">
                  <a:latin typeface="Times New Roman" panose="02020603050405020304" pitchFamily="18" charset="0"/>
                </a:rPr>
                <a:t>v</a:t>
              </a:r>
              <a:r>
                <a:rPr lang="zh-CN" altLang="en-US" sz="2400" b="1" dirty="0"/>
                <a:t>越大，耗功量越大，显然，湿蒸汽的</a:t>
              </a:r>
              <a:r>
                <a:rPr lang="zh-CN" altLang="en-US" sz="2400" b="1" i="1" dirty="0">
                  <a:latin typeface="Times New Roman" panose="02020603050405020304" pitchFamily="18" charset="0"/>
                </a:rPr>
                <a:t>v</a:t>
              </a:r>
              <a:r>
                <a:rPr lang="zh-CN" altLang="en-US" sz="2400" b="1" dirty="0"/>
                <a:t>比较大</a:t>
              </a:r>
            </a:p>
          </p:txBody>
        </p:sp>
        <p:sp>
          <p:nvSpPr>
            <p:cNvPr id="2" name="矩形 1"/>
            <p:cNvSpPr/>
            <p:nvPr/>
          </p:nvSpPr>
          <p:spPr>
            <a:xfrm>
              <a:off x="3840093" y="3319670"/>
              <a:ext cx="4724400" cy="1696278"/>
            </a:xfrm>
            <a:prstGeom prst="rect">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下箭头 2"/>
            <p:cNvSpPr/>
            <p:nvPr/>
          </p:nvSpPr>
          <p:spPr>
            <a:xfrm>
              <a:off x="5963478" y="2663687"/>
              <a:ext cx="192157" cy="53671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2"/>
    </p:custDataLst>
    <p:extLst>
      <p:ext uri="{BB962C8B-B14F-4D97-AF65-F5344CB8AC3E}">
        <p14:creationId xmlns:p14="http://schemas.microsoft.com/office/powerpoint/2010/main" val="3561652664"/>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文本框 1"/>
          <p:cNvSpPr txBox="1">
            <a:spLocks noChangeArrowheads="1"/>
          </p:cNvSpPr>
          <p:nvPr/>
        </p:nvSpPr>
        <p:spPr bwMode="auto">
          <a:xfrm>
            <a:off x="412750" y="331788"/>
            <a:ext cx="8318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t>但在实际的蒸汽动力装置中仍然并不采用卡诺循环，其主要原因</a:t>
            </a:r>
            <a:r>
              <a:rPr lang="zh-CN" altLang="en-US" sz="2800" b="1" dirty="0" smtClean="0"/>
              <a:t>是（续）：</a:t>
            </a:r>
            <a:endParaRPr lang="zh-CN" altLang="en-US" sz="2800" b="1" dirty="0"/>
          </a:p>
        </p:txBody>
      </p:sp>
      <p:sp>
        <p:nvSpPr>
          <p:cNvPr id="32770" name="文本框 2"/>
          <p:cNvSpPr txBox="1">
            <a:spLocks noChangeArrowheads="1"/>
          </p:cNvSpPr>
          <p:nvPr/>
        </p:nvSpPr>
        <p:spPr bwMode="auto">
          <a:xfrm>
            <a:off x="577850" y="1484313"/>
            <a:ext cx="7743825"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pitchFamily="18" charset="0"/>
              </a:rPr>
              <a:t>2</a:t>
            </a:r>
            <a:r>
              <a:rPr lang="zh-CN" altLang="en-US" sz="2400" b="1">
                <a:latin typeface="Times New Roman" panose="02020603050405020304" pitchFamily="18" charset="0"/>
              </a:rPr>
              <a:t>、循环局限于饱和区，循环的上限温度受制于临界温度。例如，对于水来说，其临界温度为</a:t>
            </a:r>
            <a:r>
              <a:rPr lang="en-US" altLang="zh-CN" sz="2400" b="1">
                <a:latin typeface="Times New Roman" panose="02020603050405020304" pitchFamily="18" charset="0"/>
              </a:rPr>
              <a:t>374℃</a:t>
            </a:r>
            <a:r>
              <a:rPr lang="zh-CN" altLang="en-US" sz="2400" b="1">
                <a:latin typeface="Times New Roman" panose="02020603050405020304" pitchFamily="18" charset="0"/>
              </a:rPr>
              <a:t>，远低于目前金属材料所容许的</a:t>
            </a:r>
            <a:r>
              <a:rPr lang="en-US" altLang="zh-CN" sz="2400" b="1">
                <a:latin typeface="Times New Roman" panose="02020603050405020304" pitchFamily="18" charset="0"/>
              </a:rPr>
              <a:t>600℃</a:t>
            </a:r>
            <a:r>
              <a:rPr lang="zh-CN" altLang="en-US" sz="2400" b="1">
                <a:latin typeface="Times New Roman" panose="02020603050405020304" pitchFamily="18" charset="0"/>
              </a:rPr>
              <a:t>左右的工作温度，因此即使实现了蒸汽的卡诺循环，其循环热效率也不高（因其平均吸热温度不高）。</a:t>
            </a:r>
          </a:p>
        </p:txBody>
      </p:sp>
      <p:pic>
        <p:nvPicPr>
          <p:cNvPr id="32771"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3505200"/>
            <a:ext cx="3194050"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3290300"/>
      </p:ext>
    </p:extLst>
  </p:cSld>
  <p:clrMapOvr>
    <a:masterClrMapping/>
  </p:clrMapOvr>
  <p:transition spd="slow"/>
  <p:timing>
    <p:tnLst>
      <p:par>
        <p:cTn id="1" dur="indefinite" restart="never" nodeType="tmRoot"/>
      </p:par>
    </p:tnLst>
  </p:timing>
  <p:extLst mod="1"/>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文本框 1"/>
          <p:cNvSpPr txBox="1">
            <a:spLocks noChangeArrowheads="1"/>
          </p:cNvSpPr>
          <p:nvPr/>
        </p:nvSpPr>
        <p:spPr bwMode="auto">
          <a:xfrm>
            <a:off x="412750" y="331788"/>
            <a:ext cx="83185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dirty="0"/>
              <a:t>但在实际的蒸汽动力装置中仍然并不采用卡诺循环，其主要原因</a:t>
            </a:r>
            <a:r>
              <a:rPr lang="zh-CN" altLang="en-US" sz="2800" b="1" dirty="0" smtClean="0"/>
              <a:t>是（续）：</a:t>
            </a:r>
            <a:endParaRPr lang="zh-CN" altLang="en-US" sz="2800" b="1" dirty="0"/>
          </a:p>
        </p:txBody>
      </p:sp>
      <p:sp>
        <p:nvSpPr>
          <p:cNvPr id="33794" name="文本框 2"/>
          <p:cNvSpPr txBox="1">
            <a:spLocks noChangeArrowheads="1"/>
          </p:cNvSpPr>
          <p:nvPr/>
        </p:nvSpPr>
        <p:spPr bwMode="auto">
          <a:xfrm>
            <a:off x="577850" y="1484313"/>
            <a:ext cx="774382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a:latin typeface="Times New Roman" panose="02020603050405020304" pitchFamily="18" charset="0"/>
              </a:rPr>
              <a:t>3</a:t>
            </a:r>
            <a:r>
              <a:rPr lang="zh-CN" altLang="en-US" sz="2400" b="1">
                <a:latin typeface="Times New Roman" panose="02020603050405020304" pitchFamily="18" charset="0"/>
              </a:rPr>
              <a:t>、膨胀过程</a:t>
            </a:r>
            <a:r>
              <a:rPr lang="en-US" altLang="zh-CN" sz="2400" b="1">
                <a:latin typeface="Times New Roman" panose="02020603050405020304" pitchFamily="18" charset="0"/>
              </a:rPr>
              <a:t>3-4</a:t>
            </a:r>
            <a:r>
              <a:rPr lang="zh-CN" altLang="en-US" sz="2400" b="1">
                <a:latin typeface="Times New Roman" panose="02020603050405020304" pitchFamily="18" charset="0"/>
              </a:rPr>
              <a:t>末期，湿蒸汽的干度过小，含水量多，水滴将侵蚀汽轮机的叶片，不利于汽轮机的安全（一般来说，乏汽干度不宜低于0.88）</a:t>
            </a:r>
          </a:p>
        </p:txBody>
      </p:sp>
      <p:pic>
        <p:nvPicPr>
          <p:cNvPr id="3379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3200" y="2895600"/>
            <a:ext cx="3194050" cy="282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53733592"/>
      </p:ext>
    </p:extLst>
  </p:cSld>
  <p:clrMapOvr>
    <a:masterClrMapping/>
  </p:clrMapOvr>
  <p:transition spd="slow"/>
  <p:timing>
    <p:tnLst>
      <p:par>
        <p:cTn id="1" dur="indefinite" restart="never" nodeType="tmRoot"/>
      </p:par>
    </p:tnLst>
  </p:timing>
  <p:extLst mod="1"/>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文本框 3"/>
          <p:cNvSpPr txBox="1">
            <a:spLocks noChangeArrowheads="1"/>
          </p:cNvSpPr>
          <p:nvPr/>
        </p:nvSpPr>
        <p:spPr bwMode="auto">
          <a:xfrm>
            <a:off x="437322" y="437323"/>
            <a:ext cx="8037443" cy="2677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buFont typeface="Arial" panose="020B0604020202020204" pitchFamily="34" charset="0"/>
              <a:buChar char="•"/>
            </a:pPr>
            <a:r>
              <a:rPr lang="zh-CN" altLang="en-US" sz="2800" b="1" dirty="0">
                <a:latin typeface="Times New Roman" panose="02020603050405020304" pitchFamily="18" charset="0"/>
              </a:rPr>
              <a:t>综上所述，蒸汽卡诺循环难以被工程</a:t>
            </a:r>
            <a:r>
              <a:rPr lang="zh-CN" altLang="en-US" sz="2800" b="1" dirty="0" smtClean="0">
                <a:latin typeface="Times New Roman" panose="02020603050405020304" pitchFamily="18" charset="0"/>
              </a:rPr>
              <a:t>采用</a:t>
            </a:r>
            <a:endParaRPr lang="en-US" altLang="zh-CN" sz="2800" b="1" dirty="0" smtClean="0">
              <a:latin typeface="Times New Roman" panose="02020603050405020304" pitchFamily="18" charset="0"/>
            </a:endParaRPr>
          </a:p>
          <a:p>
            <a:pPr marL="457200" indent="-457200">
              <a:buFont typeface="Arial" panose="020B0604020202020204" pitchFamily="34" charset="0"/>
              <a:buChar char="•"/>
            </a:pPr>
            <a:r>
              <a:rPr lang="zh-CN" altLang="en-US" sz="2800" b="1" dirty="0" smtClean="0">
                <a:latin typeface="Times New Roman" panose="02020603050405020304" pitchFamily="18" charset="0"/>
              </a:rPr>
              <a:t>为了</a:t>
            </a:r>
            <a:r>
              <a:rPr lang="zh-CN" altLang="en-US" sz="2800" b="1" dirty="0">
                <a:latin typeface="Times New Roman" panose="02020603050405020304" pitchFamily="18" charset="0"/>
              </a:rPr>
              <a:t>改进上述压缩过程，可将乏汽完全凝结为水，以便使用水泵来完成压缩过程；同时为了提高平均吸热温度进而提高热效率，水被加热为过热蒸汽后再进入汽轮中</a:t>
            </a:r>
            <a:r>
              <a:rPr lang="zh-CN" altLang="en-US" sz="2800" b="1" dirty="0" smtClean="0">
                <a:latin typeface="Times New Roman" panose="02020603050405020304" pitchFamily="18" charset="0"/>
              </a:rPr>
              <a:t>作功</a:t>
            </a:r>
            <a:endParaRPr lang="en-US" altLang="zh-CN" sz="2800" b="1" dirty="0" smtClean="0">
              <a:latin typeface="Times New Roman" panose="02020603050405020304" pitchFamily="18" charset="0"/>
            </a:endParaRPr>
          </a:p>
          <a:p>
            <a:pPr marL="457200" indent="-457200">
              <a:buFont typeface="Arial" panose="020B0604020202020204" pitchFamily="34" charset="0"/>
              <a:buChar char="•"/>
            </a:pPr>
            <a:r>
              <a:rPr lang="zh-CN" altLang="en-US" sz="2800" b="1" dirty="0" smtClean="0">
                <a:latin typeface="Times New Roman" panose="02020603050405020304" pitchFamily="18" charset="0"/>
              </a:rPr>
              <a:t>这样</a:t>
            </a:r>
            <a:r>
              <a:rPr lang="zh-CN" altLang="en-US" sz="2800" b="1" dirty="0">
                <a:latin typeface="Times New Roman" panose="02020603050405020304" pitchFamily="18" charset="0"/>
              </a:rPr>
              <a:t>改进后的循环称为朗肯（Rankine）循环</a:t>
            </a:r>
          </a:p>
        </p:txBody>
      </p:sp>
      <p:pic>
        <p:nvPicPr>
          <p:cNvPr id="34818" name="图片 829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6148" y="3760304"/>
            <a:ext cx="2879725" cy="2263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02014490"/>
      </p:ext>
    </p:extLst>
  </p:cSld>
  <p:clrMapOvr>
    <a:masterClrMapping/>
  </p:clrMapOvr>
  <p:transition spd="slow"/>
  <p:timing>
    <p:tnLst>
      <p:par>
        <p:cTn id="1" dur="indefinite" restart="never" nodeType="tmRoot"/>
      </p:par>
    </p:tnLst>
  </p:timing>
  <p:extLst mod="1"/>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文本框 38915"/>
          <p:cNvSpPr txBox="1">
            <a:spLocks noChangeArrowheads="1"/>
          </p:cNvSpPr>
          <p:nvPr/>
        </p:nvSpPr>
        <p:spPr bwMode="auto">
          <a:xfrm>
            <a:off x="498198" y="2080177"/>
            <a:ext cx="879820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3200" b="1" dirty="0" smtClean="0">
                <a:solidFill>
                  <a:srgbClr val="000000"/>
                </a:solidFill>
                <a:latin typeface="+mn-ea"/>
              </a:rPr>
              <a:t>13-3  </a:t>
            </a:r>
            <a:r>
              <a:rPr lang="zh-CN" altLang="en-US" sz="3200" b="1" dirty="0" smtClean="0">
                <a:solidFill>
                  <a:srgbClr val="000000"/>
                </a:solidFill>
                <a:latin typeface="+mn-ea"/>
              </a:rPr>
              <a:t>简单蒸汽动力循环装置</a:t>
            </a:r>
            <a:r>
              <a:rPr lang="en-US" altLang="zh-CN" sz="3200" b="1" dirty="0" smtClean="0">
                <a:solidFill>
                  <a:srgbClr val="000000"/>
                </a:solidFill>
                <a:latin typeface="+mn-ea"/>
              </a:rPr>
              <a:t>——</a:t>
            </a:r>
            <a:r>
              <a:rPr lang="zh-CN" altLang="en-US" sz="3200" b="1" dirty="0" smtClean="0">
                <a:solidFill>
                  <a:srgbClr val="000000"/>
                </a:solidFill>
                <a:latin typeface="+mn-ea"/>
              </a:rPr>
              <a:t>朗肯循环</a:t>
            </a:r>
            <a:endParaRPr lang="zh-CN" altLang="en-US" sz="3200" b="1" dirty="0">
              <a:solidFill>
                <a:srgbClr val="000000"/>
              </a:solidFill>
              <a:latin typeface="+mn-ea"/>
            </a:endParaRPr>
          </a:p>
        </p:txBody>
      </p:sp>
    </p:spTree>
    <p:extLst>
      <p:ext uri="{BB962C8B-B14F-4D97-AF65-F5344CB8AC3E}">
        <p14:creationId xmlns:p14="http://schemas.microsoft.com/office/powerpoint/2010/main" val="2855190029"/>
      </p:ext>
    </p:extLst>
  </p:cSld>
  <p:clrMapOvr>
    <a:masterClrMapping/>
  </p:clrMapOvr>
  <p:transition spd="slow"/>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文本框 31746"/>
          <p:cNvSpPr txBox="1">
            <a:spLocks noChangeArrowheads="1"/>
          </p:cNvSpPr>
          <p:nvPr/>
        </p:nvSpPr>
        <p:spPr bwMode="auto">
          <a:xfrm>
            <a:off x="6389136" y="4554537"/>
            <a:ext cx="91281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2000" b="1" i="1" dirty="0" smtClean="0">
                <a:solidFill>
                  <a:srgbClr val="0070C0"/>
                </a:solidFill>
                <a:latin typeface="Times New Roman" panose="02020603050405020304" pitchFamily="18" charset="0"/>
                <a:ea typeface="楷体_GB2312" pitchFamily="49" charset="-122"/>
              </a:rPr>
              <a:t>T-s</a:t>
            </a:r>
            <a:r>
              <a:rPr lang="zh-CN" altLang="en-US" sz="2000" b="1" dirty="0">
                <a:solidFill>
                  <a:srgbClr val="0070C0"/>
                </a:solidFill>
                <a:latin typeface="Times New Roman" panose="02020603050405020304" pitchFamily="18" charset="0"/>
                <a:ea typeface="楷体_GB2312" pitchFamily="49" charset="-122"/>
              </a:rPr>
              <a:t>图  </a:t>
            </a:r>
          </a:p>
        </p:txBody>
      </p:sp>
      <p:pic>
        <p:nvPicPr>
          <p:cNvPr id="36868"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90" y="771007"/>
            <a:ext cx="4860925"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9" name="文本框 4"/>
          <p:cNvSpPr txBox="1">
            <a:spLocks noChangeArrowheads="1"/>
          </p:cNvSpPr>
          <p:nvPr/>
        </p:nvSpPr>
        <p:spPr bwMode="auto">
          <a:xfrm>
            <a:off x="673237" y="5198494"/>
            <a:ext cx="7483475" cy="132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dirty="0"/>
              <a:t>1-2过程  水泵中的定熵压缩过程；</a:t>
            </a:r>
          </a:p>
          <a:p>
            <a:r>
              <a:rPr lang="zh-CN" altLang="en-US" sz="2000" b="1" dirty="0"/>
              <a:t>2-3过程  加热器（包括锅炉和过热器）中的定压吸热过程；</a:t>
            </a:r>
          </a:p>
          <a:p>
            <a:r>
              <a:rPr lang="zh-CN" altLang="en-US" sz="2000" b="1" dirty="0"/>
              <a:t>3-4过程  汽轮机中的定熵膨胀过程；</a:t>
            </a:r>
          </a:p>
          <a:p>
            <a:r>
              <a:rPr lang="zh-CN" altLang="en-US" sz="2000" b="1" dirty="0"/>
              <a:t>4-1过程  冷凝器中的定压放热过程。</a:t>
            </a:r>
          </a:p>
        </p:txBody>
      </p:sp>
      <p:sp>
        <p:nvSpPr>
          <p:cNvPr id="2" name="矩形 1"/>
          <p:cNvSpPr/>
          <p:nvPr/>
        </p:nvSpPr>
        <p:spPr>
          <a:xfrm>
            <a:off x="1818965" y="4660822"/>
            <a:ext cx="2292626" cy="400110"/>
          </a:xfrm>
          <a:prstGeom prst="rect">
            <a:avLst/>
          </a:prstGeom>
        </p:spPr>
        <p:txBody>
          <a:bodyPr wrap="square">
            <a:spAutoFit/>
          </a:bodyPr>
          <a:lstStyle/>
          <a:p>
            <a:r>
              <a:rPr lang="zh-CN" altLang="en-US" sz="2000" b="1" dirty="0" smtClean="0">
                <a:solidFill>
                  <a:srgbClr val="0070C0"/>
                </a:solidFill>
                <a:latin typeface="Times New Roman" panose="02020603050405020304" pitchFamily="18" charset="0"/>
                <a:ea typeface="楷体_GB2312" pitchFamily="49" charset="-122"/>
              </a:rPr>
              <a:t>流程图</a:t>
            </a:r>
            <a:endParaRPr lang="zh-CN" altLang="en-US" sz="2000" b="1" dirty="0">
              <a:solidFill>
                <a:srgbClr val="0070C0"/>
              </a:solidFill>
              <a:latin typeface="Times New Roman" panose="02020603050405020304" pitchFamily="18" charset="0"/>
              <a:ea typeface="楷体_GB2312" pitchFamily="49" charset="-122"/>
            </a:endParaRPr>
          </a:p>
        </p:txBody>
      </p:sp>
      <p:sp>
        <p:nvSpPr>
          <p:cNvPr id="3" name="矩形 2"/>
          <p:cNvSpPr/>
          <p:nvPr/>
        </p:nvSpPr>
        <p:spPr>
          <a:xfrm>
            <a:off x="488950" y="172025"/>
            <a:ext cx="4572000" cy="523220"/>
          </a:xfrm>
          <a:prstGeom prst="rect">
            <a:avLst/>
          </a:prstGeom>
        </p:spPr>
        <p:txBody>
          <a:bodyPr>
            <a:spAutoFit/>
          </a:bodyPr>
          <a:lstStyle/>
          <a:p>
            <a:r>
              <a:rPr lang="zh-CN" altLang="en-US" sz="2800" b="1" dirty="0"/>
              <a:t>一、工作</a:t>
            </a:r>
            <a:r>
              <a:rPr lang="zh-CN" altLang="en-US" sz="2800" b="1" dirty="0" smtClean="0"/>
              <a:t>原理</a:t>
            </a:r>
            <a:endParaRPr lang="zh-CN" altLang="en-US" sz="2800" b="1" dirty="0"/>
          </a:p>
        </p:txBody>
      </p:sp>
      <p:pic>
        <p:nvPicPr>
          <p:cNvPr id="4" name="图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42181" y="1337157"/>
            <a:ext cx="3779848" cy="3359187"/>
          </a:xfrm>
          <a:prstGeom prst="rect">
            <a:avLst/>
          </a:prstGeom>
        </p:spPr>
      </p:pic>
    </p:spTree>
    <p:extLst>
      <p:ext uri="{BB962C8B-B14F-4D97-AF65-F5344CB8AC3E}">
        <p14:creationId xmlns:p14="http://schemas.microsoft.com/office/powerpoint/2010/main" val="3963655594"/>
      </p:ext>
    </p:extLst>
  </p:cSld>
  <p:clrMapOvr>
    <a:masterClrMapping/>
  </p:clrMapOvr>
  <p:transition spd="slow"/>
  <p:timing>
    <p:tnLst>
      <p:par>
        <p:cTn id="1" dur="indefinite" restart="never" nodeType="tmRoot"/>
      </p:par>
    </p:tnLst>
  </p:timing>
  <p:extLst mod="1"/>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文本占位符 45058"/>
          <p:cNvSpPr>
            <a:spLocks noGrp="1" noChangeArrowheads="1"/>
          </p:cNvSpPr>
          <p:nvPr>
            <p:ph idx="1"/>
          </p:nvPr>
        </p:nvSpPr>
        <p:spPr>
          <a:xfrm>
            <a:off x="457200" y="3904836"/>
            <a:ext cx="8229600" cy="2461591"/>
          </a:xfrm>
        </p:spPr>
        <p:txBody>
          <a:bodyPr>
            <a:noAutofit/>
          </a:bodyPr>
          <a:lstStyle/>
          <a:p>
            <a:pPr>
              <a:lnSpc>
                <a:spcPct val="100000"/>
              </a:lnSpc>
              <a:spcBef>
                <a:spcPts val="0"/>
              </a:spcBef>
            </a:pPr>
            <a:r>
              <a:rPr lang="zh-CN" altLang="en-US" sz="2400" b="1" dirty="0" smtClean="0"/>
              <a:t>加热器（由锅炉</a:t>
            </a:r>
            <a:r>
              <a:rPr lang="en-US" altLang="zh-CN" sz="2400" b="1" dirty="0" smtClean="0"/>
              <a:t>+</a:t>
            </a:r>
            <a:r>
              <a:rPr lang="zh-CN" altLang="en-US" sz="2400" b="1" dirty="0" smtClean="0"/>
              <a:t>过热器构成）和冷凝器</a:t>
            </a:r>
            <a:r>
              <a:rPr lang="zh-CN" altLang="en-US" sz="2400" b="1" dirty="0" smtClean="0">
                <a:solidFill>
                  <a:srgbClr val="FF0000"/>
                </a:solidFill>
              </a:rPr>
              <a:t>实际上就是换热器</a:t>
            </a:r>
            <a:r>
              <a:rPr lang="zh-CN" altLang="en-US" sz="2400" b="1" dirty="0" smtClean="0"/>
              <a:t>，通过它们实现了工质与热源和冷源的热量交换</a:t>
            </a:r>
          </a:p>
          <a:p>
            <a:pPr>
              <a:lnSpc>
                <a:spcPct val="100000"/>
              </a:lnSpc>
              <a:spcBef>
                <a:spcPts val="0"/>
              </a:spcBef>
            </a:pPr>
            <a:r>
              <a:rPr lang="zh-CN" altLang="en-US" sz="2400" b="1" dirty="0" smtClean="0"/>
              <a:t>加热器中，热源的热量通常来自于</a:t>
            </a:r>
            <a:r>
              <a:rPr lang="zh-CN" altLang="en-US" sz="2400" b="1" dirty="0" smtClean="0">
                <a:solidFill>
                  <a:srgbClr val="FF0000"/>
                </a:solidFill>
              </a:rPr>
              <a:t>燃料的化学能</a:t>
            </a:r>
            <a:r>
              <a:rPr lang="zh-CN" altLang="en-US" sz="2400" b="1" dirty="0" smtClean="0"/>
              <a:t>，也可以是</a:t>
            </a:r>
            <a:r>
              <a:rPr lang="zh-CN" altLang="en-US" sz="2400" b="1" dirty="0" smtClean="0">
                <a:solidFill>
                  <a:srgbClr val="FF0000"/>
                </a:solidFill>
              </a:rPr>
              <a:t>原子能、太阳能、地热能</a:t>
            </a:r>
            <a:r>
              <a:rPr lang="zh-CN" altLang="en-US" sz="2400" b="1" dirty="0" smtClean="0"/>
              <a:t>等</a:t>
            </a:r>
          </a:p>
          <a:p>
            <a:pPr>
              <a:lnSpc>
                <a:spcPct val="100000"/>
              </a:lnSpc>
              <a:spcBef>
                <a:spcPts val="0"/>
              </a:spcBef>
            </a:pPr>
            <a:r>
              <a:rPr lang="zh-CN" altLang="en-US" sz="2400" b="1" dirty="0" smtClean="0"/>
              <a:t>冷凝器中的冷却介质</a:t>
            </a:r>
            <a:r>
              <a:rPr lang="zh-CN" altLang="en-US" sz="2400" b="1" dirty="0" smtClean="0">
                <a:solidFill>
                  <a:srgbClr val="FF0000"/>
                </a:solidFill>
              </a:rPr>
              <a:t>通常为水</a:t>
            </a:r>
            <a:r>
              <a:rPr lang="zh-CN" altLang="en-US" sz="2400" b="1" dirty="0" smtClean="0"/>
              <a:t>，但在一些水资源匮乏的地区，有时也用空气作为冷却介质</a:t>
            </a:r>
          </a:p>
        </p:txBody>
      </p:sp>
      <p:sp>
        <p:nvSpPr>
          <p:cNvPr id="40962" name="矩形 45060"/>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5" name="图片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0250" y="-112644"/>
            <a:ext cx="4860925" cy="3787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92293337"/>
      </p:ext>
    </p:extLst>
  </p:cSld>
  <p:clrMapOvr>
    <a:masterClrMapping/>
  </p:clrMapOvr>
  <p:transition spd="slow"/>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47"/>
          <p:cNvSpPr>
            <a:spLocks noChangeArrowheads="1"/>
          </p:cNvSpPr>
          <p:nvPr/>
        </p:nvSpPr>
        <p:spPr bwMode="auto">
          <a:xfrm>
            <a:off x="212725" y="144463"/>
            <a:ext cx="7026275"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2800" b="1" dirty="0">
                <a:latin typeface="+mj-lt"/>
                <a:ea typeface="楷体_GB2312" pitchFamily="49" charset="-122"/>
              </a:rPr>
              <a:t>朗肯循环的</a:t>
            </a:r>
            <a:r>
              <a:rPr lang="en-US" altLang="zh-CN" sz="2800" b="1" i="1" dirty="0">
                <a:latin typeface="Times New Roman" panose="02020603050405020304" pitchFamily="18" charset="0"/>
                <a:ea typeface="楷体_GB2312" pitchFamily="49" charset="-122"/>
              </a:rPr>
              <a:t>p</a:t>
            </a:r>
            <a:r>
              <a:rPr lang="en-US" altLang="zh-CN" sz="2800" b="1" dirty="0">
                <a:latin typeface="Times New Roman" panose="02020603050405020304" pitchFamily="18" charset="0"/>
                <a:ea typeface="楷体_GB2312" pitchFamily="49" charset="-122"/>
              </a:rPr>
              <a:t>-</a:t>
            </a:r>
            <a:r>
              <a:rPr lang="en-US" altLang="zh-CN" sz="2800" b="1" i="1" dirty="0">
                <a:latin typeface="Times New Roman" panose="02020603050405020304" pitchFamily="18" charset="0"/>
                <a:ea typeface="楷体_GB2312" pitchFamily="49" charset="-122"/>
              </a:rPr>
              <a:t>v</a:t>
            </a:r>
            <a:r>
              <a:rPr lang="zh-CN" altLang="en-US" sz="2800" b="1" dirty="0">
                <a:latin typeface="Times New Roman" panose="02020603050405020304" pitchFamily="18" charset="0"/>
                <a:ea typeface="楷体_GB2312" pitchFamily="49" charset="-122"/>
              </a:rPr>
              <a:t>图和</a:t>
            </a:r>
            <a:r>
              <a:rPr lang="en-US" altLang="zh-CN" sz="2800" b="1" i="1" dirty="0">
                <a:latin typeface="Times New Roman" panose="02020603050405020304" pitchFamily="18" charset="0"/>
                <a:ea typeface="楷体_GB2312" pitchFamily="49" charset="-122"/>
              </a:rPr>
              <a:t>h</a:t>
            </a:r>
            <a:r>
              <a:rPr lang="en-US" altLang="zh-CN" sz="2800" b="1" dirty="0">
                <a:latin typeface="Times New Roman" panose="02020603050405020304" pitchFamily="18" charset="0"/>
                <a:ea typeface="楷体_GB2312" pitchFamily="49" charset="-122"/>
              </a:rPr>
              <a:t>-</a:t>
            </a:r>
            <a:r>
              <a:rPr lang="en-US" altLang="zh-CN" sz="2800" b="1" i="1" dirty="0">
                <a:latin typeface="Times New Roman" panose="02020603050405020304" pitchFamily="18" charset="0"/>
                <a:ea typeface="楷体_GB2312" pitchFamily="49" charset="-122"/>
              </a:rPr>
              <a:t>s</a:t>
            </a:r>
            <a:r>
              <a:rPr lang="zh-CN" altLang="en-US" sz="2800" b="1" dirty="0">
                <a:latin typeface="Times New Roman" panose="02020603050405020304" pitchFamily="18" charset="0"/>
                <a:ea typeface="楷体_GB2312" pitchFamily="49" charset="-122"/>
              </a:rPr>
              <a:t>图</a:t>
            </a:r>
          </a:p>
        </p:txBody>
      </p:sp>
      <p:graphicFrame>
        <p:nvGraphicFramePr>
          <p:cNvPr id="61500" name="对象 61499"/>
          <p:cNvGraphicFramePr>
            <a:graphicFrameLocks/>
          </p:cNvGraphicFramePr>
          <p:nvPr/>
        </p:nvGraphicFramePr>
        <p:xfrm>
          <a:off x="2095500" y="4541838"/>
          <a:ext cx="2133600" cy="461962"/>
        </p:xfrm>
        <a:graphic>
          <a:graphicData uri="http://schemas.openxmlformats.org/presentationml/2006/ole">
            <mc:AlternateContent xmlns:mc="http://schemas.openxmlformats.org/markup-compatibility/2006">
              <mc:Choice xmlns:v="urn:schemas-microsoft-com:vml" Requires="v">
                <p:oleObj spid="_x0000_s5136" r:id="rId3" imgW="926698" imgH="203112" progId="Equation.DSMT4">
                  <p:embed/>
                </p:oleObj>
              </mc:Choice>
              <mc:Fallback>
                <p:oleObj r:id="rId3" imgW="926698" imgH="203112" progId="Equation.DSMT4">
                  <p:embed/>
                  <p:pic>
                    <p:nvPicPr>
                      <p:cNvPr id="61500" name="对象 61499"/>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95500" y="4541838"/>
                        <a:ext cx="2133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1502" name="对象 61501"/>
          <p:cNvGraphicFramePr>
            <a:graphicFrameLocks/>
          </p:cNvGraphicFramePr>
          <p:nvPr/>
        </p:nvGraphicFramePr>
        <p:xfrm>
          <a:off x="5337175" y="4271963"/>
          <a:ext cx="1524000" cy="1001712"/>
        </p:xfrm>
        <a:graphic>
          <a:graphicData uri="http://schemas.openxmlformats.org/presentationml/2006/ole">
            <mc:AlternateContent xmlns:mc="http://schemas.openxmlformats.org/markup-compatibility/2006">
              <mc:Choice xmlns:v="urn:schemas-microsoft-com:vml" Requires="v">
                <p:oleObj spid="_x0000_s5137" r:id="rId5" imgW="698500" imgH="457200" progId="Equation.DSMT4">
                  <p:embed/>
                </p:oleObj>
              </mc:Choice>
              <mc:Fallback>
                <p:oleObj r:id="rId5" imgW="698500" imgH="457200" progId="Equation.DSMT4">
                  <p:embed/>
                  <p:pic>
                    <p:nvPicPr>
                      <p:cNvPr id="61502" name="对象 61501"/>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7175" y="4271963"/>
                        <a:ext cx="1524000" cy="1001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1504" name="矩形 61503"/>
          <p:cNvSpPr>
            <a:spLocks noChangeArrowheads="1"/>
          </p:cNvSpPr>
          <p:nvPr/>
        </p:nvSpPr>
        <p:spPr bwMode="auto">
          <a:xfrm>
            <a:off x="638175" y="5638800"/>
            <a:ext cx="81978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dirty="0">
                <a:latin typeface="Times New Roman" panose="02020603050405020304" pitchFamily="18" charset="0"/>
              </a:rPr>
              <a:t>在湿蒸气区定压线也就是定温线，它是斜率为对应饱和温度</a:t>
            </a:r>
            <a:r>
              <a:rPr lang="en-US" altLang="zh-CN" sz="2400" b="1" i="1" dirty="0" err="1" smtClean="0">
                <a:latin typeface="Times New Roman" panose="02020603050405020304" pitchFamily="18" charset="0"/>
              </a:rPr>
              <a:t>T</a:t>
            </a:r>
            <a:r>
              <a:rPr lang="en-US" altLang="zh-CN" sz="2400" b="1" baseline="-25000" dirty="0" err="1" smtClean="0">
                <a:latin typeface="Times New Roman" panose="02020603050405020304" pitchFamily="18" charset="0"/>
              </a:rPr>
              <a:t>sat</a:t>
            </a:r>
            <a:r>
              <a:rPr lang="zh-CN" altLang="en-US" sz="2400" b="1" dirty="0" smtClean="0">
                <a:latin typeface="Times New Roman" panose="02020603050405020304" pitchFamily="18" charset="0"/>
              </a:rPr>
              <a:t>的</a:t>
            </a:r>
            <a:r>
              <a:rPr lang="zh-CN" altLang="en-US" sz="2400" b="1" dirty="0">
                <a:latin typeface="Times New Roman" panose="02020603050405020304" pitchFamily="18" charset="0"/>
              </a:rPr>
              <a:t>斜直线。压力越高，</a:t>
            </a:r>
            <a:r>
              <a:rPr lang="en-US" altLang="zh-CN" sz="2400" b="1" i="1" dirty="0" err="1" smtClean="0">
                <a:latin typeface="Times New Roman" panose="02020603050405020304" pitchFamily="18" charset="0"/>
              </a:rPr>
              <a:t>T</a:t>
            </a:r>
            <a:r>
              <a:rPr lang="en-US" altLang="zh-CN" sz="2400" b="1" baseline="-25000" dirty="0" err="1" smtClean="0">
                <a:latin typeface="Times New Roman" panose="02020603050405020304" pitchFamily="18" charset="0"/>
              </a:rPr>
              <a:t>sat</a:t>
            </a:r>
            <a:r>
              <a:rPr lang="zh-CN" altLang="en-US" sz="2400" b="1" dirty="0" smtClean="0">
                <a:latin typeface="Times New Roman" panose="02020603050405020304" pitchFamily="18" charset="0"/>
              </a:rPr>
              <a:t>越</a:t>
            </a:r>
            <a:r>
              <a:rPr lang="zh-CN" altLang="en-US" sz="2400" b="1" dirty="0">
                <a:latin typeface="Times New Roman" panose="02020603050405020304" pitchFamily="18" charset="0"/>
              </a:rPr>
              <a:t>高，直线也就越陡。 </a:t>
            </a:r>
          </a:p>
        </p:txBody>
      </p:sp>
      <p:pic>
        <p:nvPicPr>
          <p:cNvPr id="39941" name="图片 2"/>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693738" y="752475"/>
            <a:ext cx="3821112" cy="3152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右箭头 3"/>
          <p:cNvSpPr/>
          <p:nvPr/>
        </p:nvSpPr>
        <p:spPr>
          <a:xfrm>
            <a:off x="4284663" y="4695825"/>
            <a:ext cx="762000" cy="15398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pic>
        <p:nvPicPr>
          <p:cNvPr id="39943" name="图片 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5053013" y="752475"/>
            <a:ext cx="3687762"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0816901"/>
      </p:ext>
    </p:extLst>
  </p:cSld>
  <p:clrMapOvr>
    <a:masterClrMapping/>
  </p:clrMapOvr>
  <p:transition spd="slow"/>
  <p:timing>
    <p:tnLst>
      <p:par>
        <p:cTn id="1" dur="indefinite" restart="never" nodeType="tmRoot"/>
      </p:par>
    </p:tnLst>
  </p:timing>
  <p:extLst mod="1"/>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8196"/>
          <p:cNvSpPr txBox="1">
            <a:spLocks noChangeArrowheads="1"/>
          </p:cNvSpPr>
          <p:nvPr/>
        </p:nvSpPr>
        <p:spPr bwMode="auto">
          <a:xfrm>
            <a:off x="500063" y="2849563"/>
            <a:ext cx="23669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2800" b="1" dirty="0">
                <a:latin typeface="Tahoma" panose="020B0604030504040204" pitchFamily="34" charset="0"/>
              </a:rPr>
              <a:t>水泵消耗功</a:t>
            </a:r>
          </a:p>
        </p:txBody>
      </p:sp>
      <p:graphicFrame>
        <p:nvGraphicFramePr>
          <p:cNvPr id="41986" name="对象 8197"/>
          <p:cNvGraphicFramePr>
            <a:graphicFrameLocks/>
          </p:cNvGraphicFramePr>
          <p:nvPr>
            <p:extLst/>
          </p:nvPr>
        </p:nvGraphicFramePr>
        <p:xfrm>
          <a:off x="3845719" y="3707365"/>
          <a:ext cx="1841500" cy="571500"/>
        </p:xfrm>
        <a:graphic>
          <a:graphicData uri="http://schemas.openxmlformats.org/presentationml/2006/ole">
            <mc:AlternateContent xmlns:mc="http://schemas.openxmlformats.org/markup-compatibility/2006">
              <mc:Choice xmlns:v="urn:schemas-microsoft-com:vml" Requires="v">
                <p:oleObj spid="_x0000_s38926" r:id="rId3" imgW="736600" imgH="228600" progId="Equation.DSMT4">
                  <p:embed/>
                </p:oleObj>
              </mc:Choice>
              <mc:Fallback>
                <p:oleObj r:id="rId3" imgW="736600" imgH="228600" progId="Equation.DSMT4">
                  <p:embed/>
                  <p:pic>
                    <p:nvPicPr>
                      <p:cNvPr id="41986" name="对象 819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5719" y="3707365"/>
                        <a:ext cx="184150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41987" name="文本框 8198"/>
          <p:cNvSpPr txBox="1">
            <a:spLocks noChangeArrowheads="1"/>
          </p:cNvSpPr>
          <p:nvPr/>
        </p:nvSpPr>
        <p:spPr bwMode="auto">
          <a:xfrm>
            <a:off x="575469" y="3696253"/>
            <a:ext cx="4191000" cy="58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2800" b="1" dirty="0">
                <a:latin typeface="Tahoma" panose="020B0604030504040204" pitchFamily="34" charset="0"/>
              </a:rPr>
              <a:t>汽轮机对外作功</a:t>
            </a:r>
          </a:p>
        </p:txBody>
      </p:sp>
      <p:graphicFrame>
        <p:nvGraphicFramePr>
          <p:cNvPr id="41988" name="对象 8199"/>
          <p:cNvGraphicFramePr>
            <a:graphicFrameLocks/>
          </p:cNvGraphicFramePr>
          <p:nvPr>
            <p:extLst/>
          </p:nvPr>
        </p:nvGraphicFramePr>
        <p:xfrm>
          <a:off x="3030538" y="2873375"/>
          <a:ext cx="1809750" cy="571500"/>
        </p:xfrm>
        <a:graphic>
          <a:graphicData uri="http://schemas.openxmlformats.org/presentationml/2006/ole">
            <mc:AlternateContent xmlns:mc="http://schemas.openxmlformats.org/markup-compatibility/2006">
              <mc:Choice xmlns:v="urn:schemas-microsoft-com:vml" Requires="v">
                <p:oleObj spid="_x0000_s38927" name="Equation" r:id="rId5" imgW="723600" imgH="228600" progId="Equation.DSMT4">
                  <p:embed/>
                </p:oleObj>
              </mc:Choice>
              <mc:Fallback>
                <p:oleObj name="Equation" r:id="rId5" imgW="723600" imgH="228600" progId="Equation.DSMT4">
                  <p:embed/>
                  <p:pic>
                    <p:nvPicPr>
                      <p:cNvPr id="41988" name="对象 8199"/>
                      <p:cNvPicPr>
                        <a:picLocks noChangeArrowheads="1"/>
                      </p:cNvPicPr>
                      <p:nvPr/>
                    </p:nvPicPr>
                    <p:blipFill>
                      <a:blip r:embed="rId6"/>
                      <a:srcRect/>
                      <a:stretch>
                        <a:fillRect/>
                      </a:stretch>
                    </p:blipFill>
                    <p:spPr bwMode="auto">
                      <a:xfrm>
                        <a:off x="3030538" y="2873375"/>
                        <a:ext cx="1809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nvGrpSpPr>
          <p:cNvPr id="41989" name="组合 8202"/>
          <p:cNvGrpSpPr>
            <a:grpSpLocks/>
          </p:cNvGrpSpPr>
          <p:nvPr/>
        </p:nvGrpSpPr>
        <p:grpSpPr bwMode="auto">
          <a:xfrm>
            <a:off x="376238" y="4568825"/>
            <a:ext cx="7158037" cy="1677988"/>
            <a:chOff x="237" y="2878"/>
            <a:chExt cx="4509" cy="1057"/>
          </a:xfrm>
        </p:grpSpPr>
        <p:sp>
          <p:nvSpPr>
            <p:cNvPr id="41990" name="文本框 8200"/>
            <p:cNvSpPr txBox="1">
              <a:spLocks noChangeArrowheads="1"/>
            </p:cNvSpPr>
            <p:nvPr/>
          </p:nvSpPr>
          <p:spPr bwMode="auto">
            <a:xfrm>
              <a:off x="237" y="2878"/>
              <a:ext cx="2208"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2800" b="1" dirty="0">
                  <a:latin typeface="Tahoma" panose="020B0604030504040204" pitchFamily="34" charset="0"/>
                </a:rPr>
                <a:t>循环热效率：</a:t>
              </a:r>
            </a:p>
          </p:txBody>
        </p:sp>
        <p:graphicFrame>
          <p:nvGraphicFramePr>
            <p:cNvPr id="41991" name="对象 8201"/>
            <p:cNvGraphicFramePr>
              <a:graphicFrameLocks/>
            </p:cNvGraphicFramePr>
            <p:nvPr/>
          </p:nvGraphicFramePr>
          <p:xfrm>
            <a:off x="608" y="3344"/>
            <a:ext cx="4138" cy="591"/>
          </p:xfrm>
          <a:graphic>
            <a:graphicData uri="http://schemas.openxmlformats.org/presentationml/2006/ole">
              <mc:AlternateContent xmlns:mc="http://schemas.openxmlformats.org/markup-compatibility/2006">
                <mc:Choice xmlns:v="urn:schemas-microsoft-com:vml" Requires="v">
                  <p:oleObj spid="_x0000_s38928" r:id="rId7" imgW="3022560" imgH="431640" progId="Equation.DSMT4">
                    <p:embed/>
                  </p:oleObj>
                </mc:Choice>
                <mc:Fallback>
                  <p:oleObj r:id="rId7" imgW="3022560" imgH="431640" progId="Equation.DSMT4">
                    <p:embed/>
                    <p:pic>
                      <p:nvPicPr>
                        <p:cNvPr id="41991" name="对象 8201"/>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 y="3344"/>
                          <a:ext cx="4138" cy="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pSp>
      <p:pic>
        <p:nvPicPr>
          <p:cNvPr id="41994" name="图片 2"/>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52763" y="1256679"/>
            <a:ext cx="1657350" cy="55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5" name="图片 4"/>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2996407" y="2021854"/>
            <a:ext cx="1770062" cy="58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6" name="文本框 1"/>
          <p:cNvSpPr txBox="1">
            <a:spLocks noChangeArrowheads="1"/>
          </p:cNvSpPr>
          <p:nvPr/>
        </p:nvSpPr>
        <p:spPr bwMode="auto">
          <a:xfrm>
            <a:off x="517525" y="1216024"/>
            <a:ext cx="2332038" cy="582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2800" b="1" dirty="0">
                <a:latin typeface="Tahoma" panose="020B0604030504040204" pitchFamily="34" charset="0"/>
              </a:rPr>
              <a:t>循环吸热量</a:t>
            </a:r>
          </a:p>
        </p:txBody>
      </p:sp>
      <p:sp>
        <p:nvSpPr>
          <p:cNvPr id="41997" name="文本框 3"/>
          <p:cNvSpPr txBox="1">
            <a:spLocks noChangeArrowheads="1"/>
          </p:cNvSpPr>
          <p:nvPr/>
        </p:nvSpPr>
        <p:spPr bwMode="auto">
          <a:xfrm>
            <a:off x="517525" y="2014537"/>
            <a:ext cx="22891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2800" b="1" dirty="0">
                <a:latin typeface="Tahoma" panose="020B0604030504040204" pitchFamily="34" charset="0"/>
              </a:rPr>
              <a:t>循环放热量</a:t>
            </a:r>
          </a:p>
        </p:txBody>
      </p:sp>
      <p:sp>
        <p:nvSpPr>
          <p:cNvPr id="15" name="文本框 1"/>
          <p:cNvSpPr txBox="1">
            <a:spLocks noChangeArrowheads="1"/>
          </p:cNvSpPr>
          <p:nvPr/>
        </p:nvSpPr>
        <p:spPr bwMode="auto">
          <a:xfrm>
            <a:off x="205857" y="210562"/>
            <a:ext cx="553188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en-US" altLang="zh-CN" sz="3200" dirty="0">
                <a:latin typeface="Tahoma" panose="020B0604030504040204" pitchFamily="34" charset="0"/>
              </a:rPr>
              <a:t> </a:t>
            </a:r>
            <a:r>
              <a:rPr lang="zh-CN" altLang="en-US" sz="3200" b="1" dirty="0">
                <a:latin typeface="Tahoma" panose="020B0604030504040204" pitchFamily="34" charset="0"/>
              </a:rPr>
              <a:t>二、理想朗肯循环的热效率</a:t>
            </a:r>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474346" y="1011124"/>
            <a:ext cx="2926334" cy="2591025"/>
          </a:xfrm>
          <a:prstGeom prst="rect">
            <a:avLst/>
          </a:prstGeom>
        </p:spPr>
      </p:pic>
    </p:spTree>
    <p:extLst>
      <p:ext uri="{BB962C8B-B14F-4D97-AF65-F5344CB8AC3E}">
        <p14:creationId xmlns:p14="http://schemas.microsoft.com/office/powerpoint/2010/main" val="2429521998"/>
      </p:ext>
    </p:extLst>
  </p:cSld>
  <p:clrMapOvr>
    <a:masterClrMapping/>
  </p:clrMapOvr>
  <p:transition spd="slow"/>
  <p:timing>
    <p:tnLst>
      <p:par>
        <p:cTn id="1" dur="indefinite" restart="never" nodeType="tmRoot"/>
      </p:par>
    </p:tnLst>
  </p:timing>
  <p:extLst mod="1"/>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1"/>
          <p:cNvSpPr txBox="1">
            <a:spLocks noGrp="1" noChangeArrowheads="1"/>
          </p:cNvSpPr>
          <p:nvPr>
            <p:ph/>
          </p:nvPr>
        </p:nvSpPr>
        <p:spPr bwMode="auto">
          <a:xfrm>
            <a:off x="549965" y="963752"/>
            <a:ext cx="8229600" cy="27515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0" indent="0">
              <a:lnSpc>
                <a:spcPct val="100000"/>
              </a:lnSpc>
              <a:spcBef>
                <a:spcPts val="0"/>
              </a:spcBef>
              <a:buClr>
                <a:schemeClr val="folHlink"/>
              </a:buClr>
              <a:buFont typeface="Wingdings" panose="05000000000000000000" pitchFamily="2" charset="2"/>
              <a:buNone/>
            </a:pPr>
            <a:r>
              <a:rPr lang="zh-CN" altLang="en-US" sz="3200" b="1" dirty="0" smtClean="0">
                <a:latin typeface="Tahoma" panose="020B0604030504040204" pitchFamily="34" charset="0"/>
              </a:rPr>
              <a:t>需要</a:t>
            </a:r>
            <a:r>
              <a:rPr lang="zh-CN" altLang="en-US" sz="3200" b="1" dirty="0">
                <a:latin typeface="Tahoma" panose="020B0604030504040204" pitchFamily="34" charset="0"/>
              </a:rPr>
              <a:t>指出，对于蒸汽动力循环，不能使用气体动力循环的空气标准假设，因此对于以上各式的计算，不能</a:t>
            </a:r>
            <a:r>
              <a:rPr lang="zh-CN" altLang="en-US" sz="3200" b="1" dirty="0" smtClean="0">
                <a:latin typeface="Tahoma" panose="020B0604030504040204" pitchFamily="34" charset="0"/>
              </a:rPr>
              <a:t>使用              的</a:t>
            </a:r>
            <a:r>
              <a:rPr lang="zh-CN" altLang="en-US" sz="3200" b="1" dirty="0">
                <a:latin typeface="Tahoma" panose="020B0604030504040204" pitchFamily="34" charset="0"/>
              </a:rPr>
              <a:t>关系式，而是需要查取水和水蒸气的热力性质图表。</a:t>
            </a:r>
          </a:p>
          <a:p>
            <a:pPr>
              <a:spcBef>
                <a:spcPct val="50000"/>
              </a:spcBef>
              <a:buClr>
                <a:schemeClr val="folHlink"/>
              </a:buClr>
              <a:buFont typeface="Wingdings" panose="05000000000000000000" pitchFamily="2" charset="2"/>
              <a:buNone/>
            </a:pPr>
            <a:endParaRPr lang="zh-CN" altLang="en-US" sz="3200" b="1" dirty="0">
              <a:latin typeface="Tahoma" panose="020B0604030504040204" pitchFamily="34" charset="0"/>
            </a:endParaRPr>
          </a:p>
        </p:txBody>
      </p:sp>
      <p:graphicFrame>
        <p:nvGraphicFramePr>
          <p:cNvPr id="5" name="对象 4"/>
          <p:cNvGraphicFramePr>
            <a:graphicFrameLocks noChangeAspect="1"/>
          </p:cNvGraphicFramePr>
          <p:nvPr>
            <p:extLst/>
          </p:nvPr>
        </p:nvGraphicFramePr>
        <p:xfrm>
          <a:off x="4664765" y="1974574"/>
          <a:ext cx="1746250" cy="603250"/>
        </p:xfrm>
        <a:graphic>
          <a:graphicData uri="http://schemas.openxmlformats.org/presentationml/2006/ole">
            <mc:AlternateContent xmlns:mc="http://schemas.openxmlformats.org/markup-compatibility/2006">
              <mc:Choice xmlns:v="urn:schemas-microsoft-com:vml" Requires="v">
                <p:oleObj spid="_x0000_s7176" name="Equation" r:id="rId3" imgW="698500" imgH="241300" progId="Equation.DSMT4">
                  <p:embed/>
                </p:oleObj>
              </mc:Choice>
              <mc:Fallback>
                <p:oleObj name="Equation" r:id="rId3" imgW="698500" imgH="241300" progId="Equation.DSMT4">
                  <p:embed/>
                  <p:pic>
                    <p:nvPicPr>
                      <p:cNvPr id="5" name="对象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64765" y="1974574"/>
                        <a:ext cx="1746250" cy="603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162161734"/>
      </p:ext>
    </p:extLst>
  </p:cSld>
  <p:clrMapOvr>
    <a:masterClrMapping/>
  </p:clrMapOvr>
  <p:transition spd="slow"/>
  <p:timing>
    <p:tnLst>
      <p:par>
        <p:cTn id="1" dur="indefinite" restart="never" nodeType="tmRoot"/>
      </p:par>
    </p:tnLst>
  </p:timing>
  <p:extLst mod="1"/>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1"/>
          <p:cNvSpPr txBox="1">
            <a:spLocks noChangeArrowheads="1"/>
          </p:cNvSpPr>
          <p:nvPr/>
        </p:nvSpPr>
        <p:spPr bwMode="auto">
          <a:xfrm>
            <a:off x="291996" y="290075"/>
            <a:ext cx="824903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zh-CN" altLang="zh-CN" sz="2800" b="1" dirty="0" smtClean="0">
                <a:latin typeface="Tahoma" panose="020B0604030504040204" pitchFamily="34" charset="0"/>
              </a:rPr>
              <a:t>在计算泵</a:t>
            </a:r>
            <a:r>
              <a:rPr lang="zh-CN" altLang="zh-CN" sz="2800" b="1" dirty="0">
                <a:latin typeface="Tahoma" panose="020B0604030504040204" pitchFamily="34" charset="0"/>
              </a:rPr>
              <a:t>功和循环热效率时，可作如下</a:t>
            </a:r>
            <a:r>
              <a:rPr lang="zh-CN" altLang="zh-CN" sz="2800" b="1" dirty="0" smtClean="0">
                <a:latin typeface="Tahoma" panose="020B0604030504040204" pitchFamily="34" charset="0"/>
              </a:rPr>
              <a:t>近似</a:t>
            </a:r>
            <a:endParaRPr lang="zh-CN" altLang="en-US" sz="2800" b="1" dirty="0">
              <a:latin typeface="Tahoma" panose="020B0604030504040204" pitchFamily="34" charset="0"/>
            </a:endParaRPr>
          </a:p>
        </p:txBody>
      </p:sp>
      <p:sp>
        <p:nvSpPr>
          <p:cNvPr id="5" name="文本框 1"/>
          <p:cNvSpPr txBox="1">
            <a:spLocks noChangeArrowheads="1"/>
          </p:cNvSpPr>
          <p:nvPr/>
        </p:nvSpPr>
        <p:spPr bwMode="auto">
          <a:xfrm>
            <a:off x="404640" y="1038822"/>
            <a:ext cx="824903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spcBef>
                <a:spcPct val="50000"/>
              </a:spcBef>
              <a:buClr>
                <a:schemeClr val="folHlink"/>
              </a:buClr>
              <a:buFont typeface="Wingdings" panose="05000000000000000000" pitchFamily="2" charset="2"/>
              <a:buNone/>
            </a:pPr>
            <a:r>
              <a:rPr lang="zh-CN" altLang="en-US" sz="2600" b="1" dirty="0" smtClean="0"/>
              <a:t>（</a:t>
            </a:r>
            <a:r>
              <a:rPr lang="en-US" altLang="zh-CN" sz="2600" b="1" dirty="0" smtClean="0"/>
              <a:t>1</a:t>
            </a:r>
            <a:r>
              <a:rPr lang="zh-CN" altLang="en-US" sz="2600" b="1" dirty="0" smtClean="0"/>
              <a:t>）</a:t>
            </a:r>
            <a:r>
              <a:rPr lang="zh-CN" altLang="zh-CN" sz="2600" b="1" dirty="0"/>
              <a:t>水在水泵中经历可逆绝热压缩时，消耗的泵功</a:t>
            </a:r>
            <a:endParaRPr lang="zh-CN" altLang="en-US" sz="2600" b="1" dirty="0"/>
          </a:p>
        </p:txBody>
      </p:sp>
      <p:graphicFrame>
        <p:nvGraphicFramePr>
          <p:cNvPr id="7" name="对象 6"/>
          <p:cNvGraphicFramePr>
            <a:graphicFrameLocks noChangeAspect="1"/>
          </p:cNvGraphicFramePr>
          <p:nvPr>
            <p:extLst/>
          </p:nvPr>
        </p:nvGraphicFramePr>
        <p:xfrm>
          <a:off x="1225827" y="3064877"/>
          <a:ext cx="3492500" cy="952500"/>
        </p:xfrm>
        <a:graphic>
          <a:graphicData uri="http://schemas.openxmlformats.org/presentationml/2006/ole">
            <mc:AlternateContent xmlns:mc="http://schemas.openxmlformats.org/markup-compatibility/2006">
              <mc:Choice xmlns:v="urn:schemas-microsoft-com:vml" Requires="v">
                <p:oleObj spid="_x0000_s8206" name="Equation" r:id="rId3" imgW="1397000" imgH="381000" progId="Equation.DSMT4">
                  <p:embed/>
                </p:oleObj>
              </mc:Choice>
              <mc:Fallback>
                <p:oleObj name="Equation" r:id="rId3" imgW="1397000" imgH="381000"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5827" y="3064877"/>
                        <a:ext cx="3492500"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文本框 1"/>
          <p:cNvSpPr txBox="1">
            <a:spLocks noChangeArrowheads="1"/>
          </p:cNvSpPr>
          <p:nvPr/>
        </p:nvSpPr>
        <p:spPr bwMode="auto">
          <a:xfrm>
            <a:off x="4348594" y="4585093"/>
            <a:ext cx="2355125" cy="1200329"/>
          </a:xfrm>
          <a:prstGeom prst="rect">
            <a:avLst/>
          </a:prstGeom>
          <a:noFill/>
          <a:ln w="25400">
            <a:solidFill>
              <a:srgbClr val="0070C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buClr>
                <a:schemeClr val="folHlink"/>
              </a:buClr>
              <a:buFont typeface="Wingdings" panose="05000000000000000000" pitchFamily="2" charset="2"/>
              <a:buNone/>
            </a:pPr>
            <a:r>
              <a:rPr lang="zh-CN" altLang="zh-CN" sz="2400" b="1" dirty="0" smtClean="0">
                <a:solidFill>
                  <a:srgbClr val="0070C0"/>
                </a:solidFill>
              </a:rPr>
              <a:t>水</a:t>
            </a:r>
            <a:r>
              <a:rPr lang="zh-CN" altLang="en-US" sz="2400" b="1" dirty="0" smtClean="0">
                <a:solidFill>
                  <a:srgbClr val="0070C0"/>
                </a:solidFill>
              </a:rPr>
              <a:t>的压缩性很小，</a:t>
            </a:r>
            <a:r>
              <a:rPr lang="en-US" altLang="zh-CN" sz="2400" b="1" i="1" dirty="0" smtClean="0">
                <a:solidFill>
                  <a:srgbClr val="0070C0"/>
                </a:solidFill>
                <a:latin typeface="Times New Roman" panose="02020603050405020304" pitchFamily="18" charset="0"/>
                <a:cs typeface="Times New Roman" panose="02020603050405020304" pitchFamily="18" charset="0"/>
              </a:rPr>
              <a:t>v</a:t>
            </a:r>
            <a:r>
              <a:rPr lang="zh-CN" altLang="en-US" sz="2400" b="1" dirty="0" smtClean="0">
                <a:solidFill>
                  <a:srgbClr val="0070C0"/>
                </a:solidFill>
              </a:rPr>
              <a:t>变化很小，可置于积分号之外</a:t>
            </a:r>
            <a:endParaRPr lang="zh-CN" altLang="en-US" sz="2400" b="1" dirty="0">
              <a:solidFill>
                <a:srgbClr val="0070C0"/>
              </a:solidFill>
            </a:endParaRPr>
          </a:p>
        </p:txBody>
      </p:sp>
      <p:graphicFrame>
        <p:nvGraphicFramePr>
          <p:cNvPr id="11" name="对象 10"/>
          <p:cNvGraphicFramePr>
            <a:graphicFrameLocks noChangeAspect="1"/>
          </p:cNvGraphicFramePr>
          <p:nvPr>
            <p:extLst/>
          </p:nvPr>
        </p:nvGraphicFramePr>
        <p:xfrm>
          <a:off x="4807451" y="3128377"/>
          <a:ext cx="3429000" cy="825500"/>
        </p:xfrm>
        <a:graphic>
          <a:graphicData uri="http://schemas.openxmlformats.org/presentationml/2006/ole">
            <mc:AlternateContent xmlns:mc="http://schemas.openxmlformats.org/markup-compatibility/2006">
              <mc:Choice xmlns:v="urn:schemas-microsoft-com:vml" Requires="v">
                <p:oleObj spid="_x0000_s8207" name="Equation" r:id="rId5" imgW="1371600" imgH="330120" progId="Equation.DSMT4">
                  <p:embed/>
                </p:oleObj>
              </mc:Choice>
              <mc:Fallback>
                <p:oleObj name="Equation" r:id="rId5" imgW="1371600" imgH="330120" progId="Equation.DSMT4">
                  <p:embed/>
                  <p:pic>
                    <p:nvPicPr>
                      <p:cNvPr id="11" name="对象 10"/>
                      <p:cNvPicPr>
                        <a:picLocks noChangeAspect="1" noChangeArrowheads="1"/>
                      </p:cNvPicPr>
                      <p:nvPr/>
                    </p:nvPicPr>
                    <p:blipFill>
                      <a:blip r:embed="rId6"/>
                      <a:srcRect/>
                      <a:stretch>
                        <a:fillRect/>
                      </a:stretch>
                    </p:blipFill>
                    <p:spPr bwMode="auto">
                      <a:xfrm>
                        <a:off x="4807451" y="3128377"/>
                        <a:ext cx="342900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 name="上箭头 11"/>
          <p:cNvSpPr/>
          <p:nvPr/>
        </p:nvSpPr>
        <p:spPr>
          <a:xfrm rot="19964705">
            <a:off x="4982606" y="3881774"/>
            <a:ext cx="307889" cy="72385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上箭头 12"/>
          <p:cNvSpPr/>
          <p:nvPr/>
        </p:nvSpPr>
        <p:spPr>
          <a:xfrm rot="1565586">
            <a:off x="2818132" y="3881269"/>
            <a:ext cx="307889" cy="723851"/>
          </a:xfrm>
          <a:prstGeom prst="upArrow">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
          <p:cNvSpPr txBox="1">
            <a:spLocks noChangeArrowheads="1"/>
          </p:cNvSpPr>
          <p:nvPr/>
        </p:nvSpPr>
        <p:spPr bwMode="auto">
          <a:xfrm>
            <a:off x="1018528" y="1790776"/>
            <a:ext cx="2181872" cy="830997"/>
          </a:xfrm>
          <a:prstGeom prst="rect">
            <a:avLst/>
          </a:prstGeom>
          <a:noFill/>
          <a:ln w="25400">
            <a:solidFill>
              <a:schemeClr val="accent6">
                <a:lumMod val="75000"/>
              </a:schemeClr>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buClr>
                <a:schemeClr val="folHlink"/>
              </a:buClr>
              <a:buFont typeface="Wingdings" panose="05000000000000000000" pitchFamily="2" charset="2"/>
              <a:buNone/>
            </a:pPr>
            <a:r>
              <a:rPr lang="zh-CN" altLang="en-US" sz="2400" b="1" dirty="0" smtClean="0">
                <a:solidFill>
                  <a:schemeClr val="accent6">
                    <a:lumMod val="75000"/>
                  </a:schemeClr>
                </a:solidFill>
              </a:rPr>
              <a:t>稳定流动能量守恒关系式</a:t>
            </a:r>
            <a:endParaRPr lang="zh-CN" altLang="en-US" sz="2400" b="1" dirty="0">
              <a:solidFill>
                <a:schemeClr val="accent6">
                  <a:lumMod val="75000"/>
                </a:schemeClr>
              </a:solidFill>
            </a:endParaRPr>
          </a:p>
        </p:txBody>
      </p:sp>
      <p:sp>
        <p:nvSpPr>
          <p:cNvPr id="15" name="下箭头 14"/>
          <p:cNvSpPr/>
          <p:nvPr/>
        </p:nvSpPr>
        <p:spPr>
          <a:xfrm>
            <a:off x="1762539" y="2723322"/>
            <a:ext cx="284922" cy="653533"/>
          </a:xfrm>
          <a:prstGeom prst="downArrow">
            <a:avLst/>
          </a:prstGeom>
          <a:solidFill>
            <a:schemeClr val="accent6">
              <a:lumMod val="60000"/>
              <a:lumOff val="4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
          <p:cNvSpPr txBox="1">
            <a:spLocks noChangeArrowheads="1"/>
          </p:cNvSpPr>
          <p:nvPr/>
        </p:nvSpPr>
        <p:spPr bwMode="auto">
          <a:xfrm>
            <a:off x="1767068" y="4585092"/>
            <a:ext cx="2410016" cy="1200329"/>
          </a:xfrm>
          <a:prstGeom prst="rect">
            <a:avLst/>
          </a:prstGeom>
          <a:noFill/>
          <a:ln w="25400">
            <a:solidFill>
              <a:schemeClr val="accent2"/>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spcBef>
                <a:spcPct val="50000"/>
              </a:spcBef>
              <a:buClr>
                <a:schemeClr val="folHlink"/>
              </a:buClr>
              <a:buFont typeface="Wingdings" panose="05000000000000000000" pitchFamily="2" charset="2"/>
              <a:buNone/>
            </a:pPr>
            <a:r>
              <a:rPr lang="zh-CN" altLang="en-US" sz="2400" b="1" dirty="0" smtClean="0">
                <a:solidFill>
                  <a:schemeClr val="accent2">
                    <a:lumMod val="75000"/>
                  </a:schemeClr>
                </a:solidFill>
              </a:rPr>
              <a:t>与</a:t>
            </a:r>
            <a:r>
              <a:rPr lang="en-US" altLang="zh-CN" sz="2400" b="1" dirty="0" smtClean="0">
                <a:solidFill>
                  <a:schemeClr val="accent2">
                    <a:lumMod val="75000"/>
                  </a:schemeClr>
                </a:solidFill>
              </a:rPr>
              <a:t>11-3</a:t>
            </a:r>
            <a:r>
              <a:rPr lang="zh-CN" altLang="en-US" sz="2400" b="1" dirty="0" smtClean="0">
                <a:solidFill>
                  <a:schemeClr val="accent2">
                    <a:lumMod val="75000"/>
                  </a:schemeClr>
                </a:solidFill>
              </a:rPr>
              <a:t>节“压气机的理想耗功量”推导相同</a:t>
            </a:r>
            <a:endParaRPr lang="zh-CN" altLang="en-US" sz="2400" b="1" dirty="0">
              <a:solidFill>
                <a:schemeClr val="accent2">
                  <a:lumMod val="75000"/>
                </a:schemeClr>
              </a:solidFill>
            </a:endParaRPr>
          </a:p>
        </p:txBody>
      </p:sp>
    </p:spTree>
    <p:extLst>
      <p:ext uri="{BB962C8B-B14F-4D97-AF65-F5344CB8AC3E}">
        <p14:creationId xmlns:p14="http://schemas.microsoft.com/office/powerpoint/2010/main" val="2298736421"/>
      </p:ext>
    </p:extLst>
  </p:cSld>
  <p:clrMapOvr>
    <a:masterClrMapping/>
  </p:clrMapOvr>
  <p:transition spd="slow"/>
  <p:timing>
    <p:tnLst>
      <p:par>
        <p:cTn id="1" dur="indefinite" restart="never" nodeType="tmRoot"/>
      </p:par>
    </p:tnLst>
  </p:timing>
  <p:extLst mod="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79512" y="313774"/>
            <a:ext cx="7871791" cy="492443"/>
          </a:xfrm>
          <a:prstGeom prst="rect">
            <a:avLst/>
          </a:prstGeom>
        </p:spPr>
        <p:txBody>
          <a:bodyPr wrap="square">
            <a:spAutoFit/>
          </a:bodyPr>
          <a:lstStyle/>
          <a:p>
            <a:pPr lvl="0">
              <a:spcBef>
                <a:spcPct val="50000"/>
              </a:spcBef>
              <a:buClr>
                <a:srgbClr val="954F72"/>
              </a:buClr>
            </a:pPr>
            <a:r>
              <a:rPr lang="zh-CN" altLang="en-US" sz="2600" b="1" dirty="0" smtClean="0">
                <a:solidFill>
                  <a:prstClr val="black"/>
                </a:solidFill>
              </a:rPr>
              <a:t>（</a:t>
            </a:r>
            <a:r>
              <a:rPr lang="en-US" altLang="zh-CN" sz="2600" b="1" dirty="0" smtClean="0">
                <a:solidFill>
                  <a:prstClr val="black"/>
                </a:solidFill>
              </a:rPr>
              <a:t>2</a:t>
            </a:r>
            <a:r>
              <a:rPr lang="zh-CN" altLang="en-US" sz="2600" b="1" dirty="0" smtClean="0">
                <a:solidFill>
                  <a:prstClr val="black"/>
                </a:solidFill>
              </a:rPr>
              <a:t>）</a:t>
            </a:r>
            <a:r>
              <a:rPr lang="en-US" altLang="zh-CN" sz="2600" b="1" i="1" dirty="0" smtClean="0">
                <a:solidFill>
                  <a:prstClr val="black"/>
                </a:solidFill>
                <a:latin typeface="Times New Roman" panose="02020603050405020304" pitchFamily="18" charset="0"/>
                <a:cs typeface="Times New Roman" panose="02020603050405020304" pitchFamily="18" charset="0"/>
              </a:rPr>
              <a:t>T-s</a:t>
            </a:r>
            <a:r>
              <a:rPr lang="zh-CN" altLang="en-US" sz="2600" b="1" dirty="0" smtClean="0">
                <a:solidFill>
                  <a:prstClr val="black"/>
                </a:solidFill>
              </a:rPr>
              <a:t>图上点</a:t>
            </a:r>
            <a:r>
              <a:rPr lang="en-US" altLang="zh-CN" sz="2600" b="1" dirty="0" smtClean="0">
                <a:solidFill>
                  <a:prstClr val="black"/>
                </a:solidFill>
              </a:rPr>
              <a:t>1</a:t>
            </a:r>
            <a:r>
              <a:rPr lang="zh-CN" altLang="en-US" sz="2600" b="1" dirty="0" smtClean="0">
                <a:solidFill>
                  <a:prstClr val="black"/>
                </a:solidFill>
              </a:rPr>
              <a:t>和点</a:t>
            </a:r>
            <a:r>
              <a:rPr lang="en-US" altLang="zh-CN" sz="2600" b="1" dirty="0" smtClean="0">
                <a:solidFill>
                  <a:prstClr val="black"/>
                </a:solidFill>
              </a:rPr>
              <a:t>2</a:t>
            </a:r>
            <a:r>
              <a:rPr lang="zh-CN" altLang="en-US" sz="2600" b="1" dirty="0" smtClean="0">
                <a:solidFill>
                  <a:prstClr val="black"/>
                </a:solidFill>
              </a:rPr>
              <a:t>几乎重合</a:t>
            </a:r>
            <a:endParaRPr lang="zh-CN" altLang="en-US" sz="2600" b="1" dirty="0">
              <a:solidFill>
                <a:prstClr val="black"/>
              </a:solidFill>
            </a:endParaRPr>
          </a:p>
        </p:txBody>
      </p:sp>
      <p:graphicFrame>
        <p:nvGraphicFramePr>
          <p:cNvPr id="6" name="对象 5"/>
          <p:cNvGraphicFramePr>
            <a:graphicFrameLocks noChangeAspect="1"/>
          </p:cNvGraphicFramePr>
          <p:nvPr>
            <p:extLst/>
          </p:nvPr>
        </p:nvGraphicFramePr>
        <p:xfrm>
          <a:off x="2617165" y="1267137"/>
          <a:ext cx="2380218" cy="507780"/>
        </p:xfrm>
        <a:graphic>
          <a:graphicData uri="http://schemas.openxmlformats.org/presentationml/2006/ole">
            <mc:AlternateContent xmlns:mc="http://schemas.openxmlformats.org/markup-compatibility/2006">
              <mc:Choice xmlns:v="urn:schemas-microsoft-com:vml" Requires="v">
                <p:oleObj spid="_x0000_s9242" name="Equation" r:id="rId3" imgW="952087" imgH="203112" progId="Equation.DSMT4">
                  <p:embed/>
                </p:oleObj>
              </mc:Choice>
              <mc:Fallback>
                <p:oleObj name="Equation" r:id="rId3" imgW="952087" imgH="203112"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17165" y="1267137"/>
                        <a:ext cx="2380218" cy="5077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矩形 6"/>
          <p:cNvSpPr/>
          <p:nvPr/>
        </p:nvSpPr>
        <p:spPr>
          <a:xfrm>
            <a:off x="604989" y="1647894"/>
            <a:ext cx="1855444" cy="892552"/>
          </a:xfrm>
          <a:prstGeom prst="rect">
            <a:avLst/>
          </a:prstGeom>
          <a:ln w="25400">
            <a:solidFill>
              <a:schemeClr val="accent4">
                <a:lumMod val="75000"/>
              </a:schemeClr>
            </a:solidFill>
          </a:ln>
        </p:spPr>
        <p:txBody>
          <a:bodyPr wrap="square">
            <a:spAutoFit/>
          </a:bodyPr>
          <a:lstStyle/>
          <a:p>
            <a:pPr lvl="0">
              <a:spcBef>
                <a:spcPct val="50000"/>
              </a:spcBef>
              <a:buClr>
                <a:srgbClr val="954F72"/>
              </a:buClr>
            </a:pPr>
            <a:r>
              <a:rPr lang="zh-CN" altLang="en-US" sz="2600" b="1" dirty="0">
                <a:solidFill>
                  <a:prstClr val="black"/>
                </a:solidFill>
              </a:rPr>
              <a:t>水泵</a:t>
            </a:r>
            <a:r>
              <a:rPr lang="zh-CN" altLang="en-US" sz="2600" b="1" dirty="0" smtClean="0">
                <a:solidFill>
                  <a:prstClr val="black"/>
                </a:solidFill>
              </a:rPr>
              <a:t>内定熵压缩</a:t>
            </a:r>
            <a:r>
              <a:rPr lang="en-US" altLang="zh-CN" sz="2600" b="1" dirty="0" smtClean="0">
                <a:solidFill>
                  <a:prstClr val="black"/>
                </a:solidFill>
                <a:latin typeface="Times New Roman" panose="02020603050405020304" pitchFamily="18" charset="0"/>
                <a:cs typeface="Times New Roman" panose="02020603050405020304" pitchFamily="18" charset="0"/>
              </a:rPr>
              <a:t>d</a:t>
            </a:r>
            <a:r>
              <a:rPr lang="en-US" altLang="zh-CN" sz="2600" b="1" i="1" dirty="0" smtClean="0">
                <a:solidFill>
                  <a:prstClr val="black"/>
                </a:solidFill>
                <a:latin typeface="Times New Roman" panose="02020603050405020304" pitchFamily="18" charset="0"/>
                <a:cs typeface="Times New Roman" panose="02020603050405020304" pitchFamily="18" charset="0"/>
              </a:rPr>
              <a:t>s</a:t>
            </a:r>
            <a:r>
              <a:rPr lang="en-US" altLang="zh-CN" sz="2600" b="1" dirty="0" smtClean="0">
                <a:solidFill>
                  <a:prstClr val="black"/>
                </a:solidFill>
                <a:latin typeface="Times New Roman" panose="02020603050405020304" pitchFamily="18" charset="0"/>
                <a:cs typeface="Times New Roman" panose="02020603050405020304" pitchFamily="18" charset="0"/>
              </a:rPr>
              <a:t>=0</a:t>
            </a:r>
            <a:endParaRPr lang="zh-CN" altLang="en-US" sz="2600" b="1" dirty="0">
              <a:solidFill>
                <a:prstClr val="black"/>
              </a:solidFill>
              <a:latin typeface="Times New Roman" panose="02020603050405020304" pitchFamily="18" charset="0"/>
              <a:cs typeface="Times New Roman" panose="02020603050405020304" pitchFamily="18" charset="0"/>
            </a:endParaRPr>
          </a:p>
        </p:txBody>
      </p:sp>
      <p:sp>
        <p:nvSpPr>
          <p:cNvPr id="8" name="上箭头 7"/>
          <p:cNvSpPr/>
          <p:nvPr/>
        </p:nvSpPr>
        <p:spPr>
          <a:xfrm rot="2680492">
            <a:off x="2601533" y="1681891"/>
            <a:ext cx="307889" cy="723851"/>
          </a:xfrm>
          <a:prstGeom prst="upArrow">
            <a:avLst/>
          </a:prstGeom>
          <a:solidFill>
            <a:schemeClr val="accent2">
              <a:lumMod val="60000"/>
              <a:lumOff val="40000"/>
            </a:schemeClr>
          </a:solid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右弧形箭头 8"/>
          <p:cNvSpPr/>
          <p:nvPr/>
        </p:nvSpPr>
        <p:spPr>
          <a:xfrm>
            <a:off x="5027484" y="1411379"/>
            <a:ext cx="740670" cy="1579222"/>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10" name="对象 9"/>
          <p:cNvGraphicFramePr>
            <a:graphicFrameLocks noChangeAspect="1"/>
          </p:cNvGraphicFramePr>
          <p:nvPr>
            <p:extLst/>
          </p:nvPr>
        </p:nvGraphicFramePr>
        <p:xfrm>
          <a:off x="3024340" y="2544592"/>
          <a:ext cx="1714500" cy="508000"/>
        </p:xfrm>
        <a:graphic>
          <a:graphicData uri="http://schemas.openxmlformats.org/presentationml/2006/ole">
            <mc:AlternateContent xmlns:mc="http://schemas.openxmlformats.org/markup-compatibility/2006">
              <mc:Choice xmlns:v="urn:schemas-microsoft-com:vml" Requires="v">
                <p:oleObj spid="_x0000_s9243" name="Equation" r:id="rId5" imgW="685800" imgH="203040" progId="Equation.DSMT4">
                  <p:embed/>
                </p:oleObj>
              </mc:Choice>
              <mc:Fallback>
                <p:oleObj name="Equation" r:id="rId5" imgW="685800" imgH="203040" progId="Equation.DSMT4">
                  <p:embed/>
                  <p:pic>
                    <p:nvPicPr>
                      <p:cNvPr id="10" name="对象 9"/>
                      <p:cNvPicPr>
                        <a:picLocks noChangeAspect="1" noChangeArrowheads="1"/>
                      </p:cNvPicPr>
                      <p:nvPr/>
                    </p:nvPicPr>
                    <p:blipFill>
                      <a:blip r:embed="rId6"/>
                      <a:srcRect/>
                      <a:stretch>
                        <a:fillRect/>
                      </a:stretch>
                    </p:blipFill>
                    <p:spPr bwMode="auto">
                      <a:xfrm>
                        <a:off x="3024340" y="2544592"/>
                        <a:ext cx="17145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矩形 10"/>
          <p:cNvSpPr/>
          <p:nvPr/>
        </p:nvSpPr>
        <p:spPr>
          <a:xfrm>
            <a:off x="463824" y="3572979"/>
            <a:ext cx="8110333" cy="1692771"/>
          </a:xfrm>
          <a:prstGeom prst="rect">
            <a:avLst/>
          </a:prstGeom>
        </p:spPr>
        <p:txBody>
          <a:bodyPr wrap="square">
            <a:spAutoFit/>
          </a:bodyPr>
          <a:lstStyle/>
          <a:p>
            <a:pPr lvl="0">
              <a:buClr>
                <a:srgbClr val="954F72"/>
              </a:buClr>
            </a:pPr>
            <a:r>
              <a:rPr lang="zh-CN" altLang="en-US" sz="2600" b="1" dirty="0" smtClean="0">
                <a:solidFill>
                  <a:prstClr val="black"/>
                </a:solidFill>
              </a:rPr>
              <a:t>水的压缩性很小，比体积略有减小，则水的热力学能略有提高，根据固</a:t>
            </a:r>
            <a:r>
              <a:rPr lang="en-US" altLang="zh-CN" sz="2600" b="1" dirty="0" smtClean="0">
                <a:solidFill>
                  <a:prstClr val="black"/>
                </a:solidFill>
              </a:rPr>
              <a:t>/</a:t>
            </a:r>
            <a:r>
              <a:rPr lang="zh-CN" altLang="en-US" sz="2600" b="1" dirty="0" smtClean="0">
                <a:solidFill>
                  <a:prstClr val="black"/>
                </a:solidFill>
              </a:rPr>
              <a:t>液体比热力学能的关系式</a:t>
            </a:r>
            <a:endParaRPr lang="en-US" altLang="zh-CN" sz="2600" b="1" dirty="0" smtClean="0">
              <a:solidFill>
                <a:prstClr val="black"/>
              </a:solidFill>
            </a:endParaRPr>
          </a:p>
          <a:p>
            <a:pPr lvl="0">
              <a:buClr>
                <a:srgbClr val="954F72"/>
              </a:buClr>
            </a:pPr>
            <a:r>
              <a:rPr lang="zh-CN" altLang="en-US" sz="2600" b="1" dirty="0" smtClean="0">
                <a:solidFill>
                  <a:prstClr val="black"/>
                </a:solidFill>
              </a:rPr>
              <a:t>可知，水的温度也仅是略有提高，这意味着在朗肯循环的</a:t>
            </a:r>
            <a:r>
              <a:rPr lang="en-US" altLang="zh-CN" sz="2600" b="1" i="1" dirty="0" smtClean="0">
                <a:solidFill>
                  <a:prstClr val="black"/>
                </a:solidFill>
                <a:latin typeface="Times New Roman" panose="02020603050405020304" pitchFamily="18" charset="0"/>
                <a:cs typeface="Times New Roman" panose="02020603050405020304" pitchFamily="18" charset="0"/>
              </a:rPr>
              <a:t>T-s</a:t>
            </a:r>
            <a:r>
              <a:rPr lang="zh-CN" altLang="en-US" sz="2600" b="1" dirty="0" smtClean="0">
                <a:solidFill>
                  <a:prstClr val="black"/>
                </a:solidFill>
              </a:rPr>
              <a:t>图上</a:t>
            </a:r>
            <a:r>
              <a:rPr lang="zh-CN" altLang="en-US" sz="2600" b="1" dirty="0" smtClean="0">
                <a:solidFill>
                  <a:srgbClr val="FF0000"/>
                </a:solidFill>
              </a:rPr>
              <a:t>点</a:t>
            </a:r>
            <a:r>
              <a:rPr lang="en-US" altLang="zh-CN" sz="2600" b="1" dirty="0">
                <a:solidFill>
                  <a:srgbClr val="FF0000"/>
                </a:solidFill>
                <a:latin typeface="Times New Roman" panose="02020603050405020304" pitchFamily="18" charset="0"/>
                <a:cs typeface="Times New Roman" panose="02020603050405020304" pitchFamily="18" charset="0"/>
              </a:rPr>
              <a:t>1</a:t>
            </a:r>
            <a:r>
              <a:rPr lang="zh-CN" altLang="en-US" sz="2600" b="1" dirty="0" smtClean="0">
                <a:solidFill>
                  <a:srgbClr val="FF0000"/>
                </a:solidFill>
              </a:rPr>
              <a:t>和点</a:t>
            </a:r>
            <a:r>
              <a:rPr lang="en-US" altLang="zh-CN" sz="2600" b="1" dirty="0" smtClean="0">
                <a:solidFill>
                  <a:srgbClr val="FF0000"/>
                </a:solidFill>
                <a:latin typeface="Times New Roman" panose="02020603050405020304" pitchFamily="18" charset="0"/>
                <a:cs typeface="Times New Roman" panose="02020603050405020304" pitchFamily="18" charset="0"/>
              </a:rPr>
              <a:t>2</a:t>
            </a:r>
            <a:r>
              <a:rPr lang="zh-CN" altLang="en-US" sz="2600" b="1" dirty="0" smtClean="0">
                <a:solidFill>
                  <a:srgbClr val="FF0000"/>
                </a:solidFill>
              </a:rPr>
              <a:t>几乎重合</a:t>
            </a:r>
            <a:r>
              <a:rPr lang="zh-CN" altLang="en-US" sz="2600" b="1" dirty="0" smtClean="0">
                <a:solidFill>
                  <a:prstClr val="black"/>
                </a:solidFill>
              </a:rPr>
              <a:t>，图上是夸大了的画法。</a:t>
            </a:r>
            <a:endParaRPr lang="zh-CN" altLang="en-US" sz="2600" b="1" dirty="0">
              <a:solidFill>
                <a:prstClr val="black"/>
              </a:solidFill>
            </a:endParaRPr>
          </a:p>
        </p:txBody>
      </p:sp>
      <p:graphicFrame>
        <p:nvGraphicFramePr>
          <p:cNvPr id="12" name="对象 11"/>
          <p:cNvGraphicFramePr>
            <a:graphicFrameLocks noChangeAspect="1"/>
          </p:cNvGraphicFramePr>
          <p:nvPr>
            <p:extLst/>
          </p:nvPr>
        </p:nvGraphicFramePr>
        <p:xfrm>
          <a:off x="6990380" y="3981473"/>
          <a:ext cx="1452528" cy="502920"/>
        </p:xfrm>
        <a:graphic>
          <a:graphicData uri="http://schemas.openxmlformats.org/presentationml/2006/ole">
            <mc:AlternateContent xmlns:mc="http://schemas.openxmlformats.org/markup-compatibility/2006">
              <mc:Choice xmlns:v="urn:schemas-microsoft-com:vml" Requires="v">
                <p:oleObj spid="_x0000_s9244" name="Equation" r:id="rId7" imgW="660240" imgH="228600" progId="Equation.DSMT4">
                  <p:embed/>
                </p:oleObj>
              </mc:Choice>
              <mc:Fallback>
                <p:oleObj name="Equation" r:id="rId7" imgW="660240" imgH="228600" progId="Equation.DSMT4">
                  <p:embed/>
                  <p:pic>
                    <p:nvPicPr>
                      <p:cNvPr id="12" name="对象 11"/>
                      <p:cNvPicPr>
                        <a:picLocks noChangeAspect="1" noChangeArrowheads="1"/>
                      </p:cNvPicPr>
                      <p:nvPr/>
                    </p:nvPicPr>
                    <p:blipFill>
                      <a:blip r:embed="rId8"/>
                      <a:srcRect/>
                      <a:stretch>
                        <a:fillRect/>
                      </a:stretch>
                    </p:blipFill>
                    <p:spPr bwMode="auto">
                      <a:xfrm>
                        <a:off x="6990380" y="3981473"/>
                        <a:ext cx="1452528" cy="502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68154" y="412343"/>
            <a:ext cx="3072650" cy="2725148"/>
          </a:xfrm>
          <a:prstGeom prst="rect">
            <a:avLst/>
          </a:prstGeom>
        </p:spPr>
      </p:pic>
    </p:spTree>
    <p:extLst>
      <p:ext uri="{BB962C8B-B14F-4D97-AF65-F5344CB8AC3E}">
        <p14:creationId xmlns:p14="http://schemas.microsoft.com/office/powerpoint/2010/main" val="4226255205"/>
      </p:ext>
    </p:extLst>
  </p:cSld>
  <p:clrMapOvr>
    <a:masterClrMapping/>
  </p:clrMapOvr>
  <p:transition spd="slow"/>
  <p:timing>
    <p:tnLst>
      <p:par>
        <p:cTn id="1" dur="indefinite" restart="never" nodeType="tmRoot"/>
      </p:par>
    </p:tnLst>
  </p:timing>
  <p:extLst mod="1"/>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619" y="954489"/>
            <a:ext cx="3335756" cy="275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79512" y="313774"/>
            <a:ext cx="4896679" cy="492443"/>
          </a:xfrm>
          <a:prstGeom prst="rect">
            <a:avLst/>
          </a:prstGeom>
        </p:spPr>
        <p:txBody>
          <a:bodyPr wrap="square">
            <a:spAutoFit/>
          </a:bodyPr>
          <a:lstStyle/>
          <a:p>
            <a:pPr lvl="0">
              <a:spcBef>
                <a:spcPct val="50000"/>
              </a:spcBef>
              <a:buClr>
                <a:srgbClr val="954F72"/>
              </a:buClr>
            </a:pPr>
            <a:r>
              <a:rPr lang="zh-CN" altLang="en-US" sz="2600" b="1" dirty="0" smtClean="0">
                <a:solidFill>
                  <a:prstClr val="black"/>
                </a:solidFill>
              </a:rPr>
              <a:t>（</a:t>
            </a:r>
            <a:r>
              <a:rPr lang="en-US" altLang="zh-CN" sz="2600" b="1" dirty="0" smtClean="0">
                <a:solidFill>
                  <a:prstClr val="black"/>
                </a:solidFill>
              </a:rPr>
              <a:t>3</a:t>
            </a:r>
            <a:r>
              <a:rPr lang="zh-CN" altLang="en-US" sz="2600" b="1" dirty="0" smtClean="0">
                <a:solidFill>
                  <a:prstClr val="black"/>
                </a:solidFill>
              </a:rPr>
              <a:t>）</a:t>
            </a:r>
            <a:r>
              <a:rPr lang="zh-CN" altLang="en-US" sz="2600" b="1" dirty="0">
                <a:solidFill>
                  <a:prstClr val="black"/>
                </a:solidFill>
                <a:latin typeface="Times New Roman" panose="02020603050405020304" pitchFamily="18" charset="0"/>
                <a:cs typeface="Times New Roman" panose="02020603050405020304" pitchFamily="18" charset="0"/>
              </a:rPr>
              <a:t>泵</a:t>
            </a:r>
            <a:r>
              <a:rPr lang="zh-CN" altLang="en-US" sz="2600" b="1" dirty="0" smtClean="0">
                <a:solidFill>
                  <a:prstClr val="black"/>
                </a:solidFill>
                <a:latin typeface="Times New Roman" panose="02020603050405020304" pitchFamily="18" charset="0"/>
                <a:cs typeface="Times New Roman" panose="02020603050405020304" pitchFamily="18" charset="0"/>
              </a:rPr>
              <a:t>功</a:t>
            </a:r>
            <a:r>
              <a:rPr lang="en-US" altLang="zh-CN" sz="2600" b="1" i="1" dirty="0" err="1" smtClean="0">
                <a:solidFill>
                  <a:prstClr val="black"/>
                </a:solidFill>
                <a:latin typeface="Times New Roman" panose="02020603050405020304" pitchFamily="18" charset="0"/>
                <a:cs typeface="Times New Roman" panose="02020603050405020304" pitchFamily="18" charset="0"/>
              </a:rPr>
              <a:t>w</a:t>
            </a:r>
            <a:r>
              <a:rPr lang="en-US" altLang="zh-CN" sz="2600" b="1" baseline="-25000" dirty="0" err="1" smtClean="0">
                <a:solidFill>
                  <a:prstClr val="black"/>
                </a:solidFill>
                <a:latin typeface="Times New Roman" panose="02020603050405020304" pitchFamily="18" charset="0"/>
                <a:cs typeface="Times New Roman" panose="02020603050405020304" pitchFamily="18" charset="0"/>
              </a:rPr>
              <a:t>P</a:t>
            </a:r>
            <a:r>
              <a:rPr lang="zh-CN" altLang="en-US" sz="2600" b="1" dirty="0">
                <a:solidFill>
                  <a:prstClr val="black"/>
                </a:solidFill>
                <a:latin typeface="Times New Roman" panose="02020603050405020304" pitchFamily="18" charset="0"/>
                <a:cs typeface="Times New Roman" panose="02020603050405020304" pitchFamily="18" charset="0"/>
              </a:rPr>
              <a:t>通常</a:t>
            </a:r>
            <a:r>
              <a:rPr lang="zh-CN" altLang="en-US" sz="2600" b="1" dirty="0" smtClean="0">
                <a:solidFill>
                  <a:prstClr val="black"/>
                </a:solidFill>
                <a:latin typeface="Times New Roman" panose="02020603050405020304" pitchFamily="18" charset="0"/>
                <a:cs typeface="Times New Roman" panose="02020603050405020304" pitchFamily="18" charset="0"/>
              </a:rPr>
              <a:t>可忽略</a:t>
            </a:r>
            <a:endParaRPr lang="en-US" altLang="zh-CN" sz="2600" b="1" dirty="0" smtClean="0">
              <a:solidFill>
                <a:prstClr val="black"/>
              </a:solidFill>
            </a:endParaRPr>
          </a:p>
        </p:txBody>
      </p:sp>
      <p:sp>
        <p:nvSpPr>
          <p:cNvPr id="5" name="矩形 4"/>
          <p:cNvSpPr/>
          <p:nvPr/>
        </p:nvSpPr>
        <p:spPr>
          <a:xfrm>
            <a:off x="3796748" y="806217"/>
            <a:ext cx="4572000" cy="1697901"/>
          </a:xfrm>
          <a:prstGeom prst="rect">
            <a:avLst/>
          </a:prstGeom>
        </p:spPr>
        <p:txBody>
          <a:bodyPr>
            <a:spAutoFit/>
          </a:bodyPr>
          <a:lstStyle/>
          <a:p>
            <a:pPr marL="342900" indent="-342900">
              <a:spcBef>
                <a:spcPts val="1000"/>
              </a:spcBef>
              <a:buFont typeface="Arial" panose="020B0604020202020204" pitchFamily="34" charset="0"/>
              <a:buChar char="•"/>
            </a:pPr>
            <a:r>
              <a:rPr lang="zh-CN" altLang="en-US" sz="2400" b="1" dirty="0">
                <a:latin typeface="Times New Roman" panose="02020603050405020304" pitchFamily="18" charset="0"/>
                <a:cs typeface="Times New Roman" panose="02020603050405020304" pitchFamily="18" charset="0"/>
              </a:rPr>
              <a:t>水泵的耗功</a:t>
            </a:r>
            <a:r>
              <a:rPr lang="zh-CN" altLang="en-US" sz="2400" b="1" dirty="0" smtClean="0">
                <a:latin typeface="Times New Roman" panose="02020603050405020304" pitchFamily="18" charset="0"/>
                <a:cs typeface="Times New Roman" panose="02020603050405020304" pitchFamily="18" charset="0"/>
              </a:rPr>
              <a:t>量：</a:t>
            </a:r>
            <a:r>
              <a:rPr lang="zh-CN" altLang="en-US" sz="2400" b="1" i="1" dirty="0">
                <a:latin typeface="Times New Roman" panose="02020603050405020304" pitchFamily="18" charset="0"/>
                <a:cs typeface="Times New Roman" panose="02020603050405020304" pitchFamily="18" charset="0"/>
              </a:rPr>
              <a:t>p-v</a:t>
            </a:r>
            <a:r>
              <a:rPr lang="zh-CN" altLang="en-US" sz="2400" b="1" dirty="0">
                <a:latin typeface="Times New Roman" panose="02020603050405020304" pitchFamily="18" charset="0"/>
                <a:cs typeface="Times New Roman" panose="02020603050405020304" pitchFamily="18" charset="0"/>
              </a:rPr>
              <a:t>图上1-2</a:t>
            </a:r>
            <a:r>
              <a:rPr lang="zh-CN" altLang="en-US" sz="2400" b="1" dirty="0" smtClean="0">
                <a:latin typeface="Times New Roman" panose="02020603050405020304" pitchFamily="18" charset="0"/>
                <a:cs typeface="Times New Roman" panose="02020603050405020304" pitchFamily="18" charset="0"/>
              </a:rPr>
              <a:t>过程线</a:t>
            </a:r>
            <a:r>
              <a:rPr lang="zh-CN" altLang="en-US" sz="2400" b="1" dirty="0">
                <a:latin typeface="Times New Roman" panose="02020603050405020304" pitchFamily="18" charset="0"/>
                <a:cs typeface="Times New Roman" panose="02020603050405020304" pitchFamily="18" charset="0"/>
              </a:rPr>
              <a:t>在</a:t>
            </a:r>
            <a:r>
              <a:rPr lang="zh-CN" altLang="en-US" sz="2400" b="1" i="1" dirty="0">
                <a:latin typeface="Times New Roman" panose="02020603050405020304" pitchFamily="18" charset="0"/>
                <a:cs typeface="Times New Roman" panose="02020603050405020304" pitchFamily="18" charset="0"/>
              </a:rPr>
              <a:t>p</a:t>
            </a:r>
            <a:r>
              <a:rPr lang="zh-CN" altLang="en-US" sz="2400" b="1" dirty="0">
                <a:latin typeface="Times New Roman" panose="02020603050405020304" pitchFamily="18" charset="0"/>
                <a:cs typeface="Times New Roman" panose="02020603050405020304" pitchFamily="18" charset="0"/>
              </a:rPr>
              <a:t>轴上的投影</a:t>
            </a:r>
            <a:r>
              <a:rPr lang="zh-CN" altLang="en-US" sz="2400" b="1" dirty="0" smtClean="0">
                <a:latin typeface="Times New Roman" panose="02020603050405020304" pitchFamily="18" charset="0"/>
                <a:cs typeface="Times New Roman" panose="02020603050405020304" pitchFamily="18" charset="0"/>
              </a:rPr>
              <a:t>面积</a:t>
            </a:r>
            <a:endParaRPr lang="en-US" altLang="zh-CN" sz="2400" b="1" dirty="0" smtClean="0">
              <a:latin typeface="Times New Roman" panose="02020603050405020304" pitchFamily="18" charset="0"/>
              <a:cs typeface="Times New Roman" panose="02020603050405020304" pitchFamily="18" charset="0"/>
            </a:endParaRPr>
          </a:p>
          <a:p>
            <a:pPr marL="342900" indent="-342900">
              <a:spcBef>
                <a:spcPts val="1000"/>
              </a:spcBef>
              <a:buFont typeface="Arial" panose="020B0604020202020204" pitchFamily="34" charset="0"/>
              <a:buChar char="•"/>
            </a:pPr>
            <a:r>
              <a:rPr lang="zh-CN" altLang="en-US" sz="2400" b="1" dirty="0" smtClean="0">
                <a:latin typeface="Times New Roman" panose="02020603050405020304" pitchFamily="18" charset="0"/>
                <a:cs typeface="Times New Roman" panose="02020603050405020304" pitchFamily="18" charset="0"/>
              </a:rPr>
              <a:t>汽轮机</a:t>
            </a:r>
            <a:r>
              <a:rPr lang="zh-CN" altLang="en-US" sz="2400" b="1" dirty="0">
                <a:latin typeface="Times New Roman" panose="02020603050405020304" pitchFamily="18" charset="0"/>
                <a:cs typeface="Times New Roman" panose="02020603050405020304" pitchFamily="18" charset="0"/>
              </a:rPr>
              <a:t>的作功</a:t>
            </a:r>
            <a:r>
              <a:rPr lang="zh-CN" altLang="en-US" sz="2400" b="1" dirty="0" smtClean="0">
                <a:latin typeface="Times New Roman" panose="02020603050405020304" pitchFamily="18" charset="0"/>
                <a:cs typeface="Times New Roman" panose="02020603050405020304" pitchFamily="18" charset="0"/>
              </a:rPr>
              <a:t>量：3</a:t>
            </a:r>
            <a:r>
              <a:rPr lang="zh-CN" altLang="en-US" sz="2400" b="1" dirty="0">
                <a:latin typeface="Times New Roman" panose="02020603050405020304" pitchFamily="18" charset="0"/>
                <a:cs typeface="Times New Roman" panose="02020603050405020304" pitchFamily="18" charset="0"/>
              </a:rPr>
              <a:t>-4过程线在</a:t>
            </a:r>
            <a:r>
              <a:rPr lang="zh-CN" altLang="en-US" sz="2400" b="1" i="1" dirty="0">
                <a:latin typeface="Times New Roman" panose="02020603050405020304" pitchFamily="18" charset="0"/>
                <a:cs typeface="Times New Roman" panose="02020603050405020304" pitchFamily="18" charset="0"/>
              </a:rPr>
              <a:t>p</a:t>
            </a:r>
            <a:r>
              <a:rPr lang="zh-CN" altLang="en-US" sz="2400" b="1" dirty="0">
                <a:latin typeface="Times New Roman" panose="02020603050405020304" pitchFamily="18" charset="0"/>
                <a:cs typeface="Times New Roman" panose="02020603050405020304" pitchFamily="18" charset="0"/>
              </a:rPr>
              <a:t>轴上的投影面积</a:t>
            </a:r>
          </a:p>
        </p:txBody>
      </p:sp>
      <p:graphicFrame>
        <p:nvGraphicFramePr>
          <p:cNvPr id="7" name="对象 6"/>
          <p:cNvGraphicFramePr>
            <a:graphicFrameLocks noChangeAspect="1"/>
          </p:cNvGraphicFramePr>
          <p:nvPr>
            <p:extLst/>
          </p:nvPr>
        </p:nvGraphicFramePr>
        <p:xfrm>
          <a:off x="880856" y="3855072"/>
          <a:ext cx="1752480" cy="761760"/>
        </p:xfrm>
        <a:graphic>
          <a:graphicData uri="http://schemas.openxmlformats.org/presentationml/2006/ole">
            <mc:AlternateContent xmlns:mc="http://schemas.openxmlformats.org/markup-compatibility/2006">
              <mc:Choice xmlns:v="urn:schemas-microsoft-com:vml" Requires="v">
                <p:oleObj spid="_x0000_s10260" name="Equation" r:id="rId4" imgW="876240" imgH="380880" progId="Equation.DSMT4">
                  <p:embed/>
                </p:oleObj>
              </mc:Choice>
              <mc:Fallback>
                <p:oleObj name="Equation" r:id="rId4" imgW="876240" imgH="380880" progId="Equation.DSMT4">
                  <p:embed/>
                  <p:pic>
                    <p:nvPicPr>
                      <p:cNvPr id="7" name="对象 6"/>
                      <p:cNvPicPr>
                        <a:picLocks noChangeAspect="1" noChangeArrowheads="1"/>
                      </p:cNvPicPr>
                      <p:nvPr/>
                    </p:nvPicPr>
                    <p:blipFill>
                      <a:blip r:embed="rId5"/>
                      <a:srcRect/>
                      <a:stretch>
                        <a:fillRect/>
                      </a:stretch>
                    </p:blipFill>
                    <p:spPr bwMode="auto">
                      <a:xfrm>
                        <a:off x="880856" y="3855072"/>
                        <a:ext cx="1752480" cy="7617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对象 8"/>
          <p:cNvGraphicFramePr>
            <a:graphicFrameLocks noChangeAspect="1"/>
          </p:cNvGraphicFramePr>
          <p:nvPr>
            <p:extLst/>
          </p:nvPr>
        </p:nvGraphicFramePr>
        <p:xfrm>
          <a:off x="880856" y="4812699"/>
          <a:ext cx="1752600" cy="762000"/>
        </p:xfrm>
        <a:graphic>
          <a:graphicData uri="http://schemas.openxmlformats.org/presentationml/2006/ole">
            <mc:AlternateContent xmlns:mc="http://schemas.openxmlformats.org/markup-compatibility/2006">
              <mc:Choice xmlns:v="urn:schemas-microsoft-com:vml" Requires="v">
                <p:oleObj spid="_x0000_s10261" name="Equation" r:id="rId6" imgW="876300" imgH="381000" progId="Equation.DSMT4">
                  <p:embed/>
                </p:oleObj>
              </mc:Choice>
              <mc:Fallback>
                <p:oleObj name="Equation" r:id="rId6" imgW="876300" imgH="381000" progId="Equation.DSMT4">
                  <p:embed/>
                  <p:pic>
                    <p:nvPicPr>
                      <p:cNvPr id="9" name="对象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0856" y="4812699"/>
                        <a:ext cx="1752600"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矩形 9"/>
          <p:cNvSpPr/>
          <p:nvPr/>
        </p:nvSpPr>
        <p:spPr>
          <a:xfrm>
            <a:off x="3796748" y="2757352"/>
            <a:ext cx="4572000" cy="2677656"/>
          </a:xfrm>
          <a:prstGeom prst="rect">
            <a:avLst/>
          </a:prstGeom>
        </p:spPr>
        <p:txBody>
          <a:bodyPr>
            <a:spAutoFit/>
          </a:bodyPr>
          <a:lstStyle/>
          <a:p>
            <a:pPr marL="342900" indent="-342900">
              <a:buFont typeface="Arial" panose="020B0604020202020204" pitchFamily="34" charset="0"/>
              <a:buChar char="•"/>
            </a:pPr>
            <a:r>
              <a:rPr lang="zh-CN" altLang="en-US" sz="2400" b="1" dirty="0" smtClean="0">
                <a:solidFill>
                  <a:srgbClr val="0070C0"/>
                </a:solidFill>
              </a:rPr>
              <a:t>两式</a:t>
            </a:r>
            <a:r>
              <a:rPr lang="zh-CN" altLang="en-US" sz="2400" b="1" dirty="0">
                <a:solidFill>
                  <a:srgbClr val="0070C0"/>
                </a:solidFill>
              </a:rPr>
              <a:t>的积分范围均</a:t>
            </a:r>
            <a:r>
              <a:rPr lang="zh-CN" altLang="en-US" sz="2400" b="1" dirty="0" smtClean="0">
                <a:solidFill>
                  <a:srgbClr val="0070C0"/>
                </a:solidFill>
              </a:rPr>
              <a:t>为</a:t>
            </a:r>
            <a:r>
              <a:rPr lang="en-US" altLang="zh-CN" sz="2400" b="1" i="1" dirty="0" smtClean="0">
                <a:solidFill>
                  <a:srgbClr val="0070C0"/>
                </a:solidFill>
                <a:latin typeface="Times New Roman" panose="02020603050405020304" pitchFamily="18" charset="0"/>
                <a:cs typeface="Times New Roman" panose="02020603050405020304" pitchFamily="18" charset="0"/>
              </a:rPr>
              <a:t>p</a:t>
            </a:r>
            <a:r>
              <a:rPr lang="en-US" altLang="zh-CN" sz="2400" b="1" baseline="-25000" dirty="0" smtClean="0">
                <a:solidFill>
                  <a:srgbClr val="0070C0"/>
                </a:solidFill>
                <a:latin typeface="Times New Roman" panose="02020603050405020304" pitchFamily="18" charset="0"/>
                <a:cs typeface="Times New Roman" panose="02020603050405020304" pitchFamily="18" charset="0"/>
              </a:rPr>
              <a:t>1</a:t>
            </a:r>
            <a:r>
              <a:rPr lang="zh-CN" altLang="en-US" sz="2400" b="1" dirty="0" smtClean="0">
                <a:solidFill>
                  <a:srgbClr val="0070C0"/>
                </a:solidFill>
              </a:rPr>
              <a:t>到</a:t>
            </a:r>
            <a:r>
              <a:rPr lang="en-US" altLang="zh-CN" sz="2400" b="1" i="1" dirty="0" smtClean="0">
                <a:solidFill>
                  <a:srgbClr val="0070C0"/>
                </a:solidFill>
                <a:latin typeface="Times New Roman" panose="02020603050405020304" pitchFamily="18" charset="0"/>
                <a:cs typeface="Times New Roman" panose="02020603050405020304" pitchFamily="18" charset="0"/>
              </a:rPr>
              <a:t>p</a:t>
            </a:r>
            <a:r>
              <a:rPr lang="en-US" altLang="zh-CN" sz="2400" b="1" baseline="-25000" dirty="0" smtClean="0">
                <a:solidFill>
                  <a:srgbClr val="0070C0"/>
                </a:solidFill>
                <a:latin typeface="Times New Roman" panose="02020603050405020304" pitchFamily="18" charset="0"/>
                <a:cs typeface="Times New Roman" panose="02020603050405020304" pitchFamily="18" charset="0"/>
              </a:rPr>
              <a:t>2</a:t>
            </a:r>
            <a:r>
              <a:rPr lang="zh-CN" altLang="en-US" sz="2400" b="1" dirty="0" smtClean="0">
                <a:solidFill>
                  <a:srgbClr val="0070C0"/>
                </a:solidFill>
              </a:rPr>
              <a:t>，但</a:t>
            </a:r>
            <a:r>
              <a:rPr lang="en-US" altLang="zh-CN" sz="2400" b="1" i="1" dirty="0" err="1">
                <a:solidFill>
                  <a:srgbClr val="0070C0"/>
                </a:solidFill>
                <a:latin typeface="Times New Roman" panose="02020603050405020304" pitchFamily="18" charset="0"/>
                <a:cs typeface="Times New Roman" panose="02020603050405020304" pitchFamily="18" charset="0"/>
              </a:rPr>
              <a:t>w</a:t>
            </a:r>
            <a:r>
              <a:rPr lang="en-US" altLang="zh-CN" sz="2400" b="1" baseline="-25000" dirty="0" err="1">
                <a:solidFill>
                  <a:srgbClr val="0070C0"/>
                </a:solidFill>
                <a:latin typeface="Times New Roman" panose="02020603050405020304" pitchFamily="18" charset="0"/>
                <a:cs typeface="Times New Roman" panose="02020603050405020304" pitchFamily="18" charset="0"/>
              </a:rPr>
              <a:t>P</a:t>
            </a:r>
            <a:r>
              <a:rPr lang="zh-CN" altLang="en-US" sz="2400" b="1" dirty="0" smtClean="0">
                <a:solidFill>
                  <a:srgbClr val="0070C0"/>
                </a:solidFill>
              </a:rPr>
              <a:t>中的</a:t>
            </a:r>
            <a:r>
              <a:rPr lang="en-US" altLang="zh-CN" sz="2400" b="1" i="1" dirty="0" smtClean="0">
                <a:solidFill>
                  <a:srgbClr val="0070C0"/>
                </a:solidFill>
                <a:latin typeface="Times New Roman" panose="02020603050405020304" pitchFamily="18" charset="0"/>
                <a:cs typeface="Times New Roman" panose="02020603050405020304" pitchFamily="18" charset="0"/>
              </a:rPr>
              <a:t>v</a:t>
            </a:r>
            <a:r>
              <a:rPr lang="zh-CN" altLang="en-US" sz="2400" b="1" dirty="0" smtClean="0">
                <a:solidFill>
                  <a:srgbClr val="0070C0"/>
                </a:solidFill>
              </a:rPr>
              <a:t>远小于</a:t>
            </a:r>
            <a:r>
              <a:rPr lang="en-US" altLang="zh-CN" sz="2400" b="1" i="1" dirty="0" err="1" smtClean="0">
                <a:solidFill>
                  <a:srgbClr val="0070C0"/>
                </a:solidFill>
                <a:latin typeface="Times New Roman" panose="02020603050405020304" pitchFamily="18" charset="0"/>
                <a:cs typeface="Times New Roman" panose="02020603050405020304" pitchFamily="18" charset="0"/>
              </a:rPr>
              <a:t>w</a:t>
            </a:r>
            <a:r>
              <a:rPr lang="en-US" altLang="zh-CN" sz="2400" b="1" baseline="-25000" dirty="0" err="1" smtClean="0">
                <a:solidFill>
                  <a:srgbClr val="0070C0"/>
                </a:solidFill>
                <a:latin typeface="Times New Roman" panose="02020603050405020304" pitchFamily="18" charset="0"/>
                <a:cs typeface="Times New Roman" panose="02020603050405020304" pitchFamily="18" charset="0"/>
              </a:rPr>
              <a:t>T</a:t>
            </a:r>
            <a:r>
              <a:rPr lang="zh-CN" altLang="en-US" sz="2400" b="1" dirty="0" smtClean="0">
                <a:solidFill>
                  <a:srgbClr val="0070C0"/>
                </a:solidFill>
              </a:rPr>
              <a:t>中的</a:t>
            </a:r>
            <a:r>
              <a:rPr lang="en-US" altLang="zh-CN" sz="2400" b="1" i="1" dirty="0" smtClean="0">
                <a:solidFill>
                  <a:srgbClr val="0070C0"/>
                </a:solidFill>
                <a:latin typeface="Times New Roman" panose="02020603050405020304" pitchFamily="18" charset="0"/>
                <a:cs typeface="Times New Roman" panose="02020603050405020304" pitchFamily="18" charset="0"/>
              </a:rPr>
              <a:t>v </a:t>
            </a:r>
            <a:r>
              <a:rPr lang="zh-CN" altLang="en-US" sz="2400" b="1" dirty="0" smtClean="0">
                <a:solidFill>
                  <a:srgbClr val="0070C0"/>
                </a:solidFill>
              </a:rPr>
              <a:t>（前者</a:t>
            </a:r>
            <a:r>
              <a:rPr lang="zh-CN" altLang="en-US" sz="2400" b="1" dirty="0">
                <a:solidFill>
                  <a:srgbClr val="0070C0"/>
                </a:solidFill>
              </a:rPr>
              <a:t>是液体的比体积，后者是气体或干度较大的水蒸气的比体积），</a:t>
            </a:r>
            <a:r>
              <a:rPr lang="zh-CN" altLang="en-US" sz="2400" b="1" dirty="0" smtClean="0">
                <a:solidFill>
                  <a:srgbClr val="0070C0"/>
                </a:solidFill>
              </a:rPr>
              <a:t>故</a:t>
            </a:r>
            <a:r>
              <a:rPr lang="en-US" altLang="zh-CN" sz="2400" b="1" i="1" dirty="0" err="1" smtClean="0">
                <a:solidFill>
                  <a:srgbClr val="0070C0"/>
                </a:solidFill>
                <a:latin typeface="Times New Roman" panose="02020603050405020304" pitchFamily="18" charset="0"/>
                <a:cs typeface="Times New Roman" panose="02020603050405020304" pitchFamily="18" charset="0"/>
              </a:rPr>
              <a:t>w</a:t>
            </a:r>
            <a:r>
              <a:rPr lang="en-US" altLang="zh-CN" sz="2400" b="1" baseline="-25000" dirty="0" err="1" smtClean="0">
                <a:solidFill>
                  <a:srgbClr val="0070C0"/>
                </a:solidFill>
                <a:latin typeface="Times New Roman" panose="02020603050405020304" pitchFamily="18" charset="0"/>
                <a:cs typeface="Times New Roman" panose="02020603050405020304" pitchFamily="18" charset="0"/>
              </a:rPr>
              <a:t>P</a:t>
            </a:r>
            <a:r>
              <a:rPr lang="en-US" altLang="zh-CN" sz="2400" b="1" dirty="0" smtClean="0">
                <a:solidFill>
                  <a:srgbClr val="0070C0"/>
                </a:solidFill>
              </a:rPr>
              <a:t>&lt;&lt;</a:t>
            </a:r>
            <a:r>
              <a:rPr lang="en-US" altLang="zh-CN" sz="2400" b="1" i="1" dirty="0">
                <a:solidFill>
                  <a:srgbClr val="0070C0"/>
                </a:solidFill>
                <a:latin typeface="Times New Roman" panose="02020603050405020304" pitchFamily="18" charset="0"/>
                <a:cs typeface="Times New Roman" panose="02020603050405020304" pitchFamily="18" charset="0"/>
              </a:rPr>
              <a:t> </a:t>
            </a:r>
            <a:r>
              <a:rPr lang="en-US" altLang="zh-CN" sz="2400" b="1" i="1" dirty="0" err="1" smtClean="0">
                <a:solidFill>
                  <a:srgbClr val="0070C0"/>
                </a:solidFill>
                <a:latin typeface="Times New Roman" panose="02020603050405020304" pitchFamily="18" charset="0"/>
                <a:cs typeface="Times New Roman" panose="02020603050405020304" pitchFamily="18" charset="0"/>
              </a:rPr>
              <a:t>w</a:t>
            </a:r>
            <a:r>
              <a:rPr lang="en-US" altLang="zh-CN" sz="2400" b="1" baseline="-25000" dirty="0" err="1" smtClean="0">
                <a:solidFill>
                  <a:srgbClr val="0070C0"/>
                </a:solidFill>
                <a:latin typeface="Times New Roman" panose="02020603050405020304" pitchFamily="18" charset="0"/>
                <a:cs typeface="Times New Roman" panose="02020603050405020304" pitchFamily="18" charset="0"/>
              </a:rPr>
              <a:t>T</a:t>
            </a:r>
            <a:endParaRPr lang="en-US" altLang="zh-CN" sz="2400" b="1" dirty="0" smtClean="0">
              <a:solidFill>
                <a:srgbClr val="0070C0"/>
              </a:solidFill>
            </a:endParaRPr>
          </a:p>
          <a:p>
            <a:pPr marL="342900" indent="-342900">
              <a:buFont typeface="Arial" panose="020B0604020202020204" pitchFamily="34" charset="0"/>
              <a:buChar char="•"/>
            </a:pPr>
            <a:r>
              <a:rPr lang="zh-CN" altLang="en-US" sz="2400" b="1" dirty="0" smtClean="0">
                <a:solidFill>
                  <a:srgbClr val="0070C0"/>
                </a:solidFill>
              </a:rPr>
              <a:t>在</a:t>
            </a:r>
            <a:r>
              <a:rPr lang="zh-CN" altLang="en-US" sz="2400" b="1" dirty="0">
                <a:solidFill>
                  <a:srgbClr val="0070C0"/>
                </a:solidFill>
              </a:rPr>
              <a:t>粗略计算中常可忽略泵</a:t>
            </a:r>
            <a:r>
              <a:rPr lang="zh-CN" altLang="en-US" sz="2400" b="1" dirty="0" smtClean="0">
                <a:solidFill>
                  <a:srgbClr val="0070C0"/>
                </a:solidFill>
              </a:rPr>
              <a:t>功</a:t>
            </a:r>
            <a:r>
              <a:rPr lang="en-US" altLang="zh-CN" sz="2400" b="1" i="1" dirty="0" err="1">
                <a:solidFill>
                  <a:srgbClr val="0070C0"/>
                </a:solidFill>
                <a:latin typeface="Times New Roman" panose="02020603050405020304" pitchFamily="18" charset="0"/>
                <a:cs typeface="Times New Roman" panose="02020603050405020304" pitchFamily="18" charset="0"/>
              </a:rPr>
              <a:t>w</a:t>
            </a:r>
            <a:r>
              <a:rPr lang="en-US" altLang="zh-CN" sz="2400" b="1" baseline="-25000" dirty="0" err="1">
                <a:solidFill>
                  <a:srgbClr val="0070C0"/>
                </a:solidFill>
                <a:latin typeface="Times New Roman" panose="02020603050405020304" pitchFamily="18" charset="0"/>
                <a:cs typeface="Times New Roman" panose="02020603050405020304" pitchFamily="18" charset="0"/>
              </a:rPr>
              <a:t>P</a:t>
            </a:r>
            <a:r>
              <a:rPr lang="en-US" altLang="zh-CN" sz="2400" b="1" baseline="-25000" dirty="0">
                <a:solidFill>
                  <a:srgbClr val="0070C0"/>
                </a:solidFill>
                <a:latin typeface="Times New Roman" panose="02020603050405020304" pitchFamily="18" charset="0"/>
                <a:cs typeface="Times New Roman" panose="02020603050405020304" pitchFamily="18" charset="0"/>
              </a:rPr>
              <a:t> </a:t>
            </a:r>
            <a:r>
              <a:rPr lang="zh-CN" altLang="en-US" sz="2400" b="1" dirty="0" smtClean="0">
                <a:solidFill>
                  <a:srgbClr val="0070C0"/>
                </a:solidFill>
              </a:rPr>
              <a:t>，</a:t>
            </a:r>
            <a:r>
              <a:rPr lang="zh-CN" altLang="en-US" sz="2400" b="1" dirty="0">
                <a:solidFill>
                  <a:srgbClr val="0070C0"/>
                </a:solidFill>
              </a:rPr>
              <a:t>此时循环热效率近似为</a:t>
            </a:r>
          </a:p>
        </p:txBody>
      </p:sp>
      <p:graphicFrame>
        <p:nvGraphicFramePr>
          <p:cNvPr id="12" name="对象 11"/>
          <p:cNvGraphicFramePr>
            <a:graphicFrameLocks noChangeAspect="1"/>
          </p:cNvGraphicFramePr>
          <p:nvPr>
            <p:extLst/>
          </p:nvPr>
        </p:nvGraphicFramePr>
        <p:xfrm>
          <a:off x="4634948" y="5495186"/>
          <a:ext cx="2895600" cy="863600"/>
        </p:xfrm>
        <a:graphic>
          <a:graphicData uri="http://schemas.openxmlformats.org/presentationml/2006/ole">
            <mc:AlternateContent xmlns:mc="http://schemas.openxmlformats.org/markup-compatibility/2006">
              <mc:Choice xmlns:v="urn:schemas-microsoft-com:vml" Requires="v">
                <p:oleObj spid="_x0000_s10262" name="Equation" r:id="rId8" imgW="1447800" imgH="431800" progId="Equation.DSMT4">
                  <p:embed/>
                </p:oleObj>
              </mc:Choice>
              <mc:Fallback>
                <p:oleObj name="Equation" r:id="rId8" imgW="1447800" imgH="431800" progId="Equation.DSMT4">
                  <p:embed/>
                  <p:pic>
                    <p:nvPicPr>
                      <p:cNvPr id="12" name="对象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34948" y="5495186"/>
                        <a:ext cx="2895600"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34556209"/>
      </p:ext>
    </p:extLst>
  </p:cSld>
  <p:clrMapOvr>
    <a:masterClrMapping/>
  </p:clrMapOvr>
  <p:transition spd="slow"/>
  <p:timing>
    <p:tnLst>
      <p:par>
        <p:cTn id="1" dur="indefinite" restart="never" nodeType="tmRoot"/>
      </p:par>
    </p:tnLst>
  </p:timing>
  <p:extLst mod="1"/>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2119" y="513936"/>
            <a:ext cx="3687762" cy="329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矩形 3"/>
          <p:cNvSpPr/>
          <p:nvPr/>
        </p:nvSpPr>
        <p:spPr>
          <a:xfrm>
            <a:off x="3823252" y="833735"/>
            <a:ext cx="4572000" cy="1200329"/>
          </a:xfrm>
          <a:prstGeom prst="rect">
            <a:avLst/>
          </a:prstGeom>
        </p:spPr>
        <p:txBody>
          <a:bodyPr>
            <a:spAutoFit/>
          </a:bodyPr>
          <a:lstStyle/>
          <a:p>
            <a:r>
              <a:rPr lang="zh-CN" altLang="en-US" sz="2400" b="1" dirty="0"/>
              <a:t>由于水泵的耗功</a:t>
            </a:r>
            <a:r>
              <a:rPr lang="zh-CN" altLang="en-US" sz="2400" b="1" dirty="0" smtClean="0"/>
              <a:t>量</a:t>
            </a:r>
            <a:r>
              <a:rPr lang="en-US" altLang="zh-CN" sz="2400" b="1" i="1" dirty="0" err="1">
                <a:latin typeface="Times New Roman" panose="02020603050405020304" pitchFamily="18" charset="0"/>
                <a:cs typeface="Times New Roman" panose="02020603050405020304" pitchFamily="18" charset="0"/>
              </a:rPr>
              <a:t>w</a:t>
            </a:r>
            <a:r>
              <a:rPr lang="en-US" altLang="zh-CN" sz="2400" b="1" baseline="-25000" dirty="0" err="1">
                <a:latin typeface="Times New Roman" panose="02020603050405020304" pitchFamily="18" charset="0"/>
                <a:cs typeface="Times New Roman" panose="02020603050405020304" pitchFamily="18" charset="0"/>
              </a:rPr>
              <a:t>P</a:t>
            </a:r>
            <a:r>
              <a:rPr lang="zh-CN" altLang="en-US" sz="2400" b="1" dirty="0" smtClean="0"/>
              <a:t>相对</a:t>
            </a:r>
            <a:r>
              <a:rPr lang="zh-CN" altLang="en-US" sz="2400" b="1" dirty="0"/>
              <a:t>很小，</a:t>
            </a:r>
            <a:r>
              <a:rPr lang="zh-CN" altLang="en-US" sz="2400" b="1" dirty="0" smtClean="0"/>
              <a:t>由            可知      ，</a:t>
            </a:r>
            <a:r>
              <a:rPr lang="zh-CN" altLang="en-US" sz="2400" b="1" dirty="0"/>
              <a:t>这</a:t>
            </a:r>
            <a:r>
              <a:rPr lang="zh-CN" altLang="en-US" sz="2400" b="1" dirty="0" smtClean="0"/>
              <a:t>意味着</a:t>
            </a:r>
            <a:r>
              <a:rPr lang="zh-CN" altLang="en-US" sz="2400" b="1" i="1" dirty="0" smtClean="0">
                <a:latin typeface="Times New Roman" panose="02020603050405020304" pitchFamily="18" charset="0"/>
                <a:cs typeface="Times New Roman" panose="02020603050405020304" pitchFamily="18" charset="0"/>
              </a:rPr>
              <a:t>h-s</a:t>
            </a:r>
            <a:r>
              <a:rPr lang="zh-CN" altLang="en-US" sz="2400" b="1" dirty="0" smtClean="0"/>
              <a:t>图上点1和点2几乎重合。</a:t>
            </a:r>
            <a:endParaRPr lang="zh-CN" altLang="en-US" sz="2400" b="1" dirty="0"/>
          </a:p>
        </p:txBody>
      </p:sp>
      <p:graphicFrame>
        <p:nvGraphicFramePr>
          <p:cNvPr id="6" name="对象 5"/>
          <p:cNvGraphicFramePr>
            <a:graphicFrameLocks noChangeAspect="1"/>
          </p:cNvGraphicFramePr>
          <p:nvPr>
            <p:extLst/>
          </p:nvPr>
        </p:nvGraphicFramePr>
        <p:xfrm>
          <a:off x="4227444" y="1245704"/>
          <a:ext cx="1833880" cy="434340"/>
        </p:xfrm>
        <a:graphic>
          <a:graphicData uri="http://schemas.openxmlformats.org/presentationml/2006/ole">
            <mc:AlternateContent xmlns:mc="http://schemas.openxmlformats.org/markup-compatibility/2006">
              <mc:Choice xmlns:v="urn:schemas-microsoft-com:vml" Requires="v">
                <p:oleObj spid="_x0000_s11278" name="Equation" r:id="rId4" imgW="965200" imgH="228600" progId="Equation.DSMT4">
                  <p:embed/>
                </p:oleObj>
              </mc:Choice>
              <mc:Fallback>
                <p:oleObj name="Equation" r:id="rId4" imgW="965200" imgH="228600" progId="Equation.DSMT4">
                  <p:embed/>
                  <p:pic>
                    <p:nvPicPr>
                      <p:cNvPr id="6"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27444" y="1245704"/>
                        <a:ext cx="1833880" cy="434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对象 6"/>
          <p:cNvGraphicFramePr>
            <a:graphicFrameLocks noChangeAspect="1"/>
          </p:cNvGraphicFramePr>
          <p:nvPr>
            <p:extLst/>
          </p:nvPr>
        </p:nvGraphicFramePr>
        <p:xfrm>
          <a:off x="6787875" y="1245704"/>
          <a:ext cx="820116" cy="434340"/>
        </p:xfrm>
        <a:graphic>
          <a:graphicData uri="http://schemas.openxmlformats.org/presentationml/2006/ole">
            <mc:AlternateContent xmlns:mc="http://schemas.openxmlformats.org/markup-compatibility/2006">
              <mc:Choice xmlns:v="urn:schemas-microsoft-com:vml" Requires="v">
                <p:oleObj spid="_x0000_s11279" name="Equation" r:id="rId6" imgW="431640" imgH="228600" progId="Equation.DSMT4">
                  <p:embed/>
                </p:oleObj>
              </mc:Choice>
              <mc:Fallback>
                <p:oleObj name="Equation" r:id="rId6" imgW="431640" imgH="228600" progId="Equation.DSMT4">
                  <p:embed/>
                  <p:pic>
                    <p:nvPicPr>
                      <p:cNvPr id="7" name="对象 6"/>
                      <p:cNvPicPr>
                        <a:picLocks noChangeAspect="1" noChangeArrowheads="1"/>
                      </p:cNvPicPr>
                      <p:nvPr/>
                    </p:nvPicPr>
                    <p:blipFill>
                      <a:blip r:embed="rId7"/>
                      <a:srcRect/>
                      <a:stretch>
                        <a:fillRect/>
                      </a:stretch>
                    </p:blipFill>
                    <p:spPr bwMode="auto">
                      <a:xfrm>
                        <a:off x="6787875" y="1245704"/>
                        <a:ext cx="820116" cy="4343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38514149"/>
      </p:ext>
    </p:extLst>
  </p:cSld>
  <p:clrMapOvr>
    <a:masterClrMapping/>
  </p:clrMapOvr>
  <p:transition spd="slow"/>
  <p:timing>
    <p:tnLst>
      <p:par>
        <p:cTn id="1" dur="indefinite" restart="never" nodeType="tmRoot"/>
      </p:par>
    </p:tnLst>
  </p:timing>
  <p:extLst mod="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6"/>
          <p:cNvSpPr>
            <a:spLocks noChangeArrowheads="1"/>
          </p:cNvSpPr>
          <p:nvPr/>
        </p:nvSpPr>
        <p:spPr bwMode="auto">
          <a:xfrm>
            <a:off x="304800" y="323850"/>
            <a:ext cx="44196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lgn="just"/>
            <a:r>
              <a:rPr lang="zh-CN" altLang="en-US" sz="3200" b="1"/>
              <a:t>三、汽耗率</a:t>
            </a:r>
          </a:p>
        </p:txBody>
      </p:sp>
      <p:sp>
        <p:nvSpPr>
          <p:cNvPr id="43013" name="Rectangle 6"/>
          <p:cNvSpPr>
            <a:spLocks noChangeArrowheads="1"/>
          </p:cNvSpPr>
          <p:nvPr/>
        </p:nvSpPr>
        <p:spPr bwMode="auto">
          <a:xfrm>
            <a:off x="304800" y="1222792"/>
            <a:ext cx="8216900" cy="34470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457200" indent="-457200" algn="just">
              <a:buFont typeface="Arial" panose="020B0604020202020204" pitchFamily="34" charset="0"/>
              <a:buChar char="•"/>
            </a:pPr>
            <a:r>
              <a:rPr lang="zh-CN" altLang="en-US" sz="2800" b="1" dirty="0"/>
              <a:t>评价蒸汽动力循环的另一个重要</a:t>
            </a:r>
            <a:r>
              <a:rPr lang="zh-CN" altLang="en-US" sz="2800" b="1" dirty="0" smtClean="0"/>
              <a:t>指标，定义</a:t>
            </a:r>
            <a:r>
              <a:rPr lang="zh-CN" altLang="en-US" sz="2800" b="1" dirty="0"/>
              <a:t>为装置每输出</a:t>
            </a:r>
            <a:r>
              <a:rPr lang="en-US" altLang="zh-CN" sz="2800" b="1" dirty="0">
                <a:latin typeface="Times New Roman" panose="02020603050405020304" pitchFamily="18" charset="0"/>
                <a:cs typeface="Times New Roman" panose="02020603050405020304" pitchFamily="18" charset="0"/>
              </a:rPr>
              <a:t>1kW∙h</a:t>
            </a:r>
            <a:r>
              <a:rPr lang="zh-CN" altLang="en-US" sz="2800" b="1" dirty="0">
                <a:latin typeface="Times New Roman" panose="02020603050405020304" pitchFamily="18" charset="0"/>
                <a:cs typeface="Times New Roman" panose="02020603050405020304" pitchFamily="18" charset="0"/>
              </a:rPr>
              <a:t>（等于</a:t>
            </a:r>
            <a:r>
              <a:rPr lang="en-US" altLang="zh-CN" sz="2800" b="1" dirty="0">
                <a:latin typeface="Times New Roman" panose="02020603050405020304" pitchFamily="18" charset="0"/>
                <a:cs typeface="Times New Roman" panose="02020603050405020304" pitchFamily="18" charset="0"/>
              </a:rPr>
              <a:t>3600kJ</a:t>
            </a:r>
            <a:r>
              <a:rPr lang="zh-CN" altLang="en-US" sz="2800" b="1" dirty="0">
                <a:latin typeface="Times New Roman" panose="02020603050405020304" pitchFamily="18" charset="0"/>
                <a:cs typeface="Times New Roman" panose="02020603050405020304" pitchFamily="18" charset="0"/>
              </a:rPr>
              <a:t>）</a:t>
            </a:r>
            <a:r>
              <a:rPr lang="zh-CN" altLang="en-US" sz="2800" b="1" dirty="0"/>
              <a:t>功量所消耗的蒸汽</a:t>
            </a:r>
            <a:r>
              <a:rPr lang="zh-CN" altLang="en-US" sz="2800" b="1" dirty="0" smtClean="0"/>
              <a:t>量，用</a:t>
            </a:r>
            <a:r>
              <a:rPr lang="en-US" altLang="zh-CN" sz="2800" b="1" i="1" dirty="0" smtClean="0">
                <a:latin typeface="Times New Roman" panose="02020603050405020304" pitchFamily="18" charset="0"/>
                <a:cs typeface="Times New Roman" panose="02020603050405020304" pitchFamily="18" charset="0"/>
              </a:rPr>
              <a:t>d</a:t>
            </a:r>
            <a:r>
              <a:rPr lang="zh-CN" altLang="en-US" sz="2800" b="1" dirty="0" smtClean="0"/>
              <a:t>表示</a:t>
            </a:r>
            <a:endParaRPr lang="en-US" altLang="zh-CN" sz="2800" b="1" dirty="0" smtClean="0"/>
          </a:p>
          <a:p>
            <a:pPr marL="457200" indent="-457200" algn="just">
              <a:buFont typeface="Arial" panose="020B0604020202020204" pitchFamily="34" charset="0"/>
              <a:buChar char="•"/>
            </a:pPr>
            <a:r>
              <a:rPr lang="zh-CN" altLang="en-US" sz="2800" b="1" dirty="0">
                <a:latin typeface="Times New Roman" panose="02020603050405020304" pitchFamily="18" charset="0"/>
              </a:rPr>
              <a:t>单位为</a:t>
            </a:r>
            <a:r>
              <a:rPr lang="en-US" altLang="zh-CN" sz="2800" b="1" dirty="0">
                <a:solidFill>
                  <a:srgbClr val="FF0000"/>
                </a:solidFill>
                <a:latin typeface="Times New Roman" panose="02020603050405020304" pitchFamily="18" charset="0"/>
              </a:rPr>
              <a:t>kg/J</a:t>
            </a:r>
            <a:r>
              <a:rPr lang="zh-CN" altLang="en-US" sz="2800" b="1" dirty="0">
                <a:latin typeface="Times New Roman" panose="02020603050405020304" pitchFamily="18" charset="0"/>
              </a:rPr>
              <a:t>，</a:t>
            </a:r>
            <a:r>
              <a:rPr lang="en-US" altLang="zh-CN" sz="2800" b="1" dirty="0">
                <a:solidFill>
                  <a:srgbClr val="FF0000"/>
                </a:solidFill>
                <a:latin typeface="Times New Roman" panose="02020603050405020304" pitchFamily="18" charset="0"/>
              </a:rPr>
              <a:t>kg/kJ</a:t>
            </a:r>
            <a:r>
              <a:rPr lang="zh-CN" altLang="en-US" sz="2800" b="1" dirty="0">
                <a:latin typeface="Times New Roman" panose="02020603050405020304" pitchFamily="18" charset="0"/>
              </a:rPr>
              <a:t>，也使用</a:t>
            </a:r>
            <a:r>
              <a:rPr lang="en-US" altLang="zh-CN" sz="2800" b="1" dirty="0">
                <a:solidFill>
                  <a:srgbClr val="FF0000"/>
                </a:solidFill>
                <a:latin typeface="Times New Roman" panose="02020603050405020304" pitchFamily="18" charset="0"/>
              </a:rPr>
              <a:t>kg/(</a:t>
            </a:r>
            <a:r>
              <a:rPr lang="en-US" altLang="zh-CN" sz="2800" b="1" dirty="0" err="1">
                <a:solidFill>
                  <a:srgbClr val="FF0000"/>
                </a:solidFill>
                <a:latin typeface="Times New Roman" panose="02020603050405020304" pitchFamily="18" charset="0"/>
              </a:rPr>
              <a:t>kW</a:t>
            </a:r>
            <a:r>
              <a:rPr lang="en-US" altLang="zh-CN" sz="2800" b="1" dirty="0" err="1">
                <a:solidFill>
                  <a:srgbClr val="FF0000"/>
                </a:solidFill>
                <a:latin typeface="Times New Roman" panose="02020603050405020304" pitchFamily="18" charset="0"/>
                <a:sym typeface="Symbol" panose="05050102010706020507" pitchFamily="18" charset="2"/>
              </a:rPr>
              <a:t></a:t>
            </a:r>
            <a:r>
              <a:rPr lang="en-US" altLang="zh-CN" sz="2800" b="1" dirty="0" err="1">
                <a:solidFill>
                  <a:srgbClr val="FF0000"/>
                </a:solidFill>
                <a:latin typeface="Times New Roman" panose="02020603050405020304" pitchFamily="18" charset="0"/>
              </a:rPr>
              <a:t>h</a:t>
            </a:r>
            <a:r>
              <a:rPr lang="en-US" altLang="zh-CN" sz="2800" b="1" dirty="0" smtClean="0">
                <a:solidFill>
                  <a:srgbClr val="FF0000"/>
                </a:solidFill>
                <a:latin typeface="Times New Roman" panose="02020603050405020304" pitchFamily="18" charset="0"/>
              </a:rPr>
              <a:t>)</a:t>
            </a:r>
          </a:p>
          <a:p>
            <a:pPr marL="457200" indent="-457200" algn="just">
              <a:buFont typeface="Arial" panose="020B0604020202020204" pitchFamily="34" charset="0"/>
              <a:buChar char="•"/>
            </a:pPr>
            <a:r>
              <a:rPr lang="zh-CN" altLang="en-US" sz="2800" b="1" dirty="0" smtClean="0">
                <a:latin typeface="Times New Roman" panose="02020603050405020304" pitchFamily="18" charset="0"/>
                <a:sym typeface="Symbol" panose="05050102010706020507" pitchFamily="18" charset="2"/>
              </a:rPr>
              <a:t>忽略</a:t>
            </a:r>
            <a:r>
              <a:rPr lang="zh-CN" altLang="en-US" sz="2800" b="1" dirty="0">
                <a:latin typeface="Times New Roman" panose="02020603050405020304" pitchFamily="18" charset="0"/>
                <a:sym typeface="Symbol" panose="05050102010706020507" pitchFamily="18" charset="2"/>
              </a:rPr>
              <a:t>泵功时，若理想朗肯循环的输出功率</a:t>
            </a:r>
            <a:r>
              <a:rPr lang="zh-CN" altLang="en-US" sz="2800" b="1" dirty="0" smtClean="0">
                <a:latin typeface="Times New Roman" panose="02020603050405020304" pitchFamily="18" charset="0"/>
                <a:sym typeface="Symbol" panose="05050102010706020507" pitchFamily="18" charset="2"/>
              </a:rPr>
              <a:t>为         </a:t>
            </a:r>
            <a:r>
              <a:rPr lang="zh-CN" altLang="en-US" sz="2800" b="1" dirty="0">
                <a:latin typeface="Times New Roman" panose="02020603050405020304" pitchFamily="18" charset="0"/>
              </a:rPr>
              <a:t>，</a:t>
            </a:r>
            <a:endParaRPr lang="zh-CN" altLang="en-US" sz="2800" b="1" dirty="0">
              <a:latin typeface="+mj-lt"/>
              <a:sym typeface="Symbol" panose="05050102010706020507" pitchFamily="18" charset="2"/>
            </a:endParaRPr>
          </a:p>
          <a:p>
            <a:pPr algn="just"/>
            <a:r>
              <a:rPr lang="zh-CN" altLang="en-US" sz="2800" b="1" dirty="0" smtClean="0">
                <a:latin typeface="Times New Roman" panose="02020603050405020304" pitchFamily="18" charset="0"/>
                <a:sym typeface="Symbol" panose="05050102010706020507" pitchFamily="18" charset="2"/>
              </a:rPr>
              <a:t>      蒸汽</a:t>
            </a:r>
            <a:r>
              <a:rPr lang="zh-CN" altLang="en-US" sz="2800" b="1" dirty="0">
                <a:latin typeface="Times New Roman" panose="02020603050405020304" pitchFamily="18" charset="0"/>
                <a:sym typeface="Symbol" panose="05050102010706020507" pitchFamily="18" charset="2"/>
              </a:rPr>
              <a:t>流量为</a:t>
            </a:r>
            <a:r>
              <a:rPr lang="en-US" altLang="zh-CN" sz="2800" b="1" i="1" dirty="0" err="1">
                <a:latin typeface="Times New Roman" panose="02020603050405020304" pitchFamily="18" charset="0"/>
                <a:sym typeface="Symbol" panose="05050102010706020507" pitchFamily="18" charset="2"/>
              </a:rPr>
              <a:t>q</a:t>
            </a:r>
            <a:r>
              <a:rPr lang="en-US" altLang="zh-CN" sz="2800" b="1" i="1" baseline="-25000" dirty="0" err="1">
                <a:latin typeface="Times New Roman" panose="02020603050405020304" pitchFamily="18" charset="0"/>
                <a:sym typeface="Symbol" panose="05050102010706020507" pitchFamily="18" charset="2"/>
              </a:rPr>
              <a:t>m</a:t>
            </a:r>
            <a:r>
              <a:rPr lang="zh-CN" altLang="en-US" sz="2800" b="1" baseline="-25000" dirty="0">
                <a:latin typeface="Times New Roman" panose="02020603050405020304" pitchFamily="18" charset="0"/>
                <a:sym typeface="Symbol" panose="05050102010706020507" pitchFamily="18" charset="2"/>
              </a:rPr>
              <a:t> </a:t>
            </a:r>
            <a:r>
              <a:rPr lang="en-US" altLang="zh-CN" sz="2800" b="1" dirty="0" smtClean="0">
                <a:latin typeface="Times New Roman" panose="02020603050405020304" pitchFamily="18" charset="0"/>
                <a:sym typeface="Symbol" panose="05050102010706020507" pitchFamily="18" charset="2"/>
              </a:rPr>
              <a:t>kg/s</a:t>
            </a:r>
            <a:r>
              <a:rPr lang="zh-CN" altLang="en-US" sz="2800" b="1" dirty="0">
                <a:latin typeface="Times New Roman" panose="02020603050405020304" pitchFamily="18" charset="0"/>
                <a:sym typeface="Symbol" panose="05050102010706020507" pitchFamily="18" charset="2"/>
              </a:rPr>
              <a:t>，则</a:t>
            </a:r>
            <a:r>
              <a:rPr lang="zh-CN" altLang="en-US" sz="2800" b="1" dirty="0">
                <a:solidFill>
                  <a:srgbClr val="FF0000"/>
                </a:solidFill>
                <a:latin typeface="Times New Roman" panose="02020603050405020304" pitchFamily="18" charset="0"/>
                <a:sym typeface="Symbol" panose="05050102010706020507" pitchFamily="18" charset="2"/>
              </a:rPr>
              <a:t>理想汽耗率</a:t>
            </a:r>
            <a:r>
              <a:rPr lang="zh-CN" altLang="en-US" sz="2800" b="1" dirty="0">
                <a:latin typeface="Times New Roman" panose="02020603050405020304" pitchFamily="18" charset="0"/>
                <a:sym typeface="Symbol" panose="05050102010706020507" pitchFamily="18" charset="2"/>
              </a:rPr>
              <a:t>为</a:t>
            </a:r>
          </a:p>
          <a:p>
            <a:pPr marL="457200" indent="-457200" algn="just">
              <a:buFont typeface="Arial" panose="020B0604020202020204" pitchFamily="34" charset="0"/>
              <a:buChar char="•"/>
            </a:pPr>
            <a:endParaRPr lang="en-US" altLang="zh-CN" sz="2800" b="1" dirty="0">
              <a:solidFill>
                <a:srgbClr val="FF0000"/>
              </a:solidFill>
              <a:latin typeface="Times New Roman" panose="02020603050405020304" pitchFamily="18" charset="0"/>
              <a:sym typeface="Symbol" panose="05050102010706020507" pitchFamily="18" charset="2"/>
            </a:endParaRPr>
          </a:p>
          <a:p>
            <a:pPr marL="457200" indent="-457200" algn="just">
              <a:buFont typeface="Arial" panose="020B0604020202020204" pitchFamily="34" charset="0"/>
              <a:buChar char="•"/>
            </a:pPr>
            <a:endParaRPr lang="zh-CN" altLang="en-US" sz="2800" b="1" dirty="0"/>
          </a:p>
        </p:txBody>
      </p:sp>
      <p:pic>
        <p:nvPicPr>
          <p:cNvPr id="43014" name="图片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6655" y="2946341"/>
            <a:ext cx="844234" cy="512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3015" name="图片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81375" y="3994032"/>
            <a:ext cx="5580062" cy="1082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34884319"/>
      </p:ext>
    </p:extLst>
  </p:cSld>
  <p:clrMapOvr>
    <a:masterClrMapping/>
  </p:clrMapOvr>
  <p:transition spd="slow"/>
  <p:timing>
    <p:tnLst>
      <p:par>
        <p:cTn id="1" dur="indefinite" restart="never" nodeType="tmRoot"/>
      </p:par>
    </p:tnLst>
  </p:timing>
  <p:extLst mod="1"/>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框 38915"/>
          <p:cNvSpPr txBox="1">
            <a:spLocks noChangeArrowheads="1"/>
          </p:cNvSpPr>
          <p:nvPr/>
        </p:nvSpPr>
        <p:spPr bwMode="auto">
          <a:xfrm>
            <a:off x="533400" y="182880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3200" b="1">
                <a:solidFill>
                  <a:srgbClr val="000000"/>
                </a:solidFill>
                <a:latin typeface="Times New Roman" panose="02020603050405020304" pitchFamily="18" charset="0"/>
              </a:rPr>
              <a:t>13-4  </a:t>
            </a:r>
            <a:r>
              <a:rPr lang="zh-CN" altLang="en-US" sz="3200" b="1">
                <a:solidFill>
                  <a:srgbClr val="000000"/>
                </a:solidFill>
                <a:latin typeface="Times New Roman" panose="02020603050405020304" pitchFamily="18" charset="0"/>
              </a:rPr>
              <a:t>考虑不可逆损失时的实际蒸汽动力循环</a:t>
            </a:r>
          </a:p>
        </p:txBody>
      </p:sp>
    </p:spTree>
    <p:extLst>
      <p:ext uri="{BB962C8B-B14F-4D97-AF65-F5344CB8AC3E}">
        <p14:creationId xmlns:p14="http://schemas.microsoft.com/office/powerpoint/2010/main" val="4106580229"/>
      </p:ext>
    </p:extLst>
  </p:cSld>
  <p:clrMapOvr>
    <a:masterClrMapping/>
  </p:clrMapOvr>
  <p:transition spd="slow"/>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矩形 46084"/>
          <p:cNvSpPr>
            <a:spLocks noChangeArrowheads="1"/>
          </p:cNvSpPr>
          <p:nvPr/>
        </p:nvSpPr>
        <p:spPr bwMode="auto">
          <a:xfrm>
            <a:off x="0" y="22145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6083" name="矩形 46085"/>
          <p:cNvSpPr>
            <a:spLocks noChangeArrowheads="1"/>
          </p:cNvSpPr>
          <p:nvPr/>
        </p:nvSpPr>
        <p:spPr bwMode="auto">
          <a:xfrm>
            <a:off x="358775" y="363057"/>
            <a:ext cx="84264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a:t>考虑不可逆因素的蒸汽轮机循环</a:t>
            </a:r>
            <a:r>
              <a:rPr lang="en-US" altLang="zh-CN" sz="2800" b="1" i="1" dirty="0">
                <a:latin typeface="Times New Roman" panose="02020603050405020304" pitchFamily="18" charset="0"/>
                <a:cs typeface="Times New Roman" panose="02020603050405020304" pitchFamily="18" charset="0"/>
              </a:rPr>
              <a:t>T-s</a:t>
            </a:r>
            <a:r>
              <a:rPr lang="zh-CN" altLang="en-US" sz="2800" b="1" dirty="0"/>
              <a:t>图，其中实线为可逆循环，虚线为实际不可逆循环</a:t>
            </a:r>
            <a:r>
              <a:rPr lang="zh-CN" altLang="en-US" dirty="0"/>
              <a:t> </a:t>
            </a:r>
          </a:p>
        </p:txBody>
      </p:sp>
      <p:sp>
        <p:nvSpPr>
          <p:cNvPr id="5" name="矩形 4"/>
          <p:cNvSpPr/>
          <p:nvPr/>
        </p:nvSpPr>
        <p:spPr>
          <a:xfrm>
            <a:off x="482205" y="5437513"/>
            <a:ext cx="7873291" cy="830997"/>
          </a:xfrm>
          <a:prstGeom prst="rect">
            <a:avLst/>
          </a:prstGeom>
        </p:spPr>
        <p:txBody>
          <a:bodyPr wrap="square">
            <a:spAutoFit/>
          </a:bodyPr>
          <a:lstStyle/>
          <a:p>
            <a:r>
              <a:rPr lang="zh-CN" altLang="en-US" sz="2400" b="1" dirty="0">
                <a:latin typeface="+mj-lt"/>
              </a:rPr>
              <a:t>水泵和汽轮机中的不可逆性与其他过程中的不可逆性相比，往往更为显著</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025" y="1628282"/>
            <a:ext cx="4346825" cy="3371380"/>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27696" y="1399662"/>
            <a:ext cx="4596782" cy="3828620"/>
          </a:xfrm>
          <a:prstGeom prst="rect">
            <a:avLst/>
          </a:prstGeom>
        </p:spPr>
      </p:pic>
    </p:spTree>
    <p:extLst>
      <p:ext uri="{BB962C8B-B14F-4D97-AF65-F5344CB8AC3E}">
        <p14:creationId xmlns:p14="http://schemas.microsoft.com/office/powerpoint/2010/main" val="2217500871"/>
      </p:ext>
    </p:extLst>
  </p:cSld>
  <p:clrMapOvr>
    <a:masterClrMapping/>
  </p:clrMapOvr>
  <p:transition spd="slow"/>
  <p:timing>
    <p:tnLst>
      <p:par>
        <p:cTn id="1" dur="indefinite" restart="never" nodeType="tmRoot"/>
      </p:par>
    </p:tnLst>
  </p:timing>
  <p:extLst mod="1"/>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矩形 48132"/>
          <p:cNvSpPr>
            <a:spLocks noChangeArrowheads="1"/>
          </p:cNvSpPr>
          <p:nvPr/>
        </p:nvSpPr>
        <p:spPr bwMode="auto">
          <a:xfrm>
            <a:off x="0" y="22002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7" name="矩形 48136"/>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08" name="矩形 48139"/>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47110" name="矩形 1"/>
          <p:cNvSpPr>
            <a:spLocks noChangeArrowheads="1"/>
          </p:cNvSpPr>
          <p:nvPr/>
        </p:nvSpPr>
        <p:spPr bwMode="auto">
          <a:xfrm>
            <a:off x="228600" y="304800"/>
            <a:ext cx="85439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800" b="1" dirty="0" smtClean="0"/>
              <a:t>本节重点</a:t>
            </a:r>
            <a:r>
              <a:rPr lang="zh-CN" altLang="en-US" sz="2800" b="1" dirty="0"/>
              <a:t>考虑</a:t>
            </a:r>
            <a:r>
              <a:rPr lang="zh-CN" altLang="en-US" sz="2800" b="1" dirty="0">
                <a:solidFill>
                  <a:srgbClr val="FF0000"/>
                </a:solidFill>
              </a:rPr>
              <a:t>水泵内的不可逆压缩过程</a:t>
            </a:r>
            <a:r>
              <a:rPr lang="zh-CN" altLang="en-US" sz="2800" b="1" dirty="0"/>
              <a:t>和</a:t>
            </a:r>
            <a:r>
              <a:rPr lang="zh-CN" altLang="en-US" sz="2800" b="1" dirty="0">
                <a:solidFill>
                  <a:srgbClr val="FF0000"/>
                </a:solidFill>
              </a:rPr>
              <a:t>汽轮机内的不可逆膨胀过程</a:t>
            </a:r>
            <a:r>
              <a:rPr lang="zh-CN" altLang="en-US" sz="2800" b="1" dirty="0"/>
              <a:t>对循环热效率的影响</a:t>
            </a:r>
            <a:r>
              <a:rPr lang="zh-CN" altLang="en-US" sz="2800" b="1" dirty="0">
                <a:solidFill>
                  <a:srgbClr val="0000CC"/>
                </a:solidFill>
              </a:rPr>
              <a:t> </a:t>
            </a:r>
          </a:p>
        </p:txBody>
      </p:sp>
      <p:sp>
        <p:nvSpPr>
          <p:cNvPr id="5" name="矩形 4"/>
          <p:cNvSpPr/>
          <p:nvPr/>
        </p:nvSpPr>
        <p:spPr>
          <a:xfrm>
            <a:off x="4095473" y="2200275"/>
            <a:ext cx="4629427" cy="2308324"/>
          </a:xfrm>
          <a:prstGeom prst="rect">
            <a:avLst/>
          </a:prstGeom>
        </p:spPr>
        <p:txBody>
          <a:bodyPr wrap="square">
            <a:spAutoFit/>
          </a:bodyPr>
          <a:lstStyle/>
          <a:p>
            <a:pPr marL="342900" indent="-342900">
              <a:buFont typeface="Arial" panose="020B0604020202020204" pitchFamily="34" charset="0"/>
              <a:buChar char="•"/>
            </a:pPr>
            <a:r>
              <a:rPr lang="zh-CN" altLang="en-US" sz="2400" b="1" dirty="0"/>
              <a:t>1-</a:t>
            </a:r>
            <a:r>
              <a:rPr lang="zh-CN" altLang="en-US" sz="2400" b="1" dirty="0" smtClean="0"/>
              <a:t>2</a:t>
            </a:r>
            <a:r>
              <a:rPr lang="en-US" altLang="zh-CN" sz="2400" b="1" dirty="0" smtClean="0"/>
              <a:t>:</a:t>
            </a:r>
            <a:r>
              <a:rPr lang="zh-CN" altLang="en-US" sz="2400" b="1" dirty="0" smtClean="0"/>
              <a:t>水泵</a:t>
            </a:r>
            <a:r>
              <a:rPr lang="zh-CN" altLang="en-US" sz="2400" b="1" dirty="0"/>
              <a:t>中的不可逆绝热压缩过程；</a:t>
            </a:r>
          </a:p>
          <a:p>
            <a:pPr marL="342900" indent="-342900">
              <a:buFont typeface="Arial" panose="020B0604020202020204" pitchFamily="34" charset="0"/>
              <a:buChar char="•"/>
            </a:pPr>
            <a:r>
              <a:rPr lang="zh-CN" altLang="en-US" sz="2400" b="1" dirty="0"/>
              <a:t>2-</a:t>
            </a:r>
            <a:r>
              <a:rPr lang="zh-CN" altLang="en-US" sz="2400" b="1" dirty="0" smtClean="0"/>
              <a:t>3</a:t>
            </a:r>
            <a:r>
              <a:rPr lang="en-US" altLang="zh-CN" sz="2400" b="1" dirty="0" smtClean="0"/>
              <a:t>:</a:t>
            </a:r>
            <a:r>
              <a:rPr lang="zh-CN" altLang="en-US" sz="2400" b="1" dirty="0" smtClean="0"/>
              <a:t>加热器</a:t>
            </a:r>
            <a:r>
              <a:rPr lang="zh-CN" altLang="en-US" sz="2400" b="1" dirty="0"/>
              <a:t>中的定压吸热过程；</a:t>
            </a:r>
          </a:p>
          <a:p>
            <a:pPr marL="342900" indent="-342900">
              <a:buFont typeface="Arial" panose="020B0604020202020204" pitchFamily="34" charset="0"/>
              <a:buChar char="•"/>
            </a:pPr>
            <a:r>
              <a:rPr lang="zh-CN" altLang="en-US" sz="2400" b="1" dirty="0"/>
              <a:t>3-</a:t>
            </a:r>
            <a:r>
              <a:rPr lang="zh-CN" altLang="en-US" sz="2400" b="1" dirty="0" smtClean="0"/>
              <a:t>4</a:t>
            </a:r>
            <a:r>
              <a:rPr lang="en-US" altLang="zh-CN" sz="2400" b="1" dirty="0" smtClean="0"/>
              <a:t>:</a:t>
            </a:r>
            <a:r>
              <a:rPr lang="zh-CN" altLang="en-US" sz="2400" b="1" dirty="0" smtClean="0"/>
              <a:t>汽轮机</a:t>
            </a:r>
            <a:r>
              <a:rPr lang="zh-CN" altLang="en-US" sz="2400" b="1" dirty="0"/>
              <a:t>中的不可逆绝热膨胀过程；</a:t>
            </a:r>
          </a:p>
          <a:p>
            <a:pPr marL="342900" indent="-342900">
              <a:buFont typeface="Arial" panose="020B0604020202020204" pitchFamily="34" charset="0"/>
              <a:buChar char="•"/>
            </a:pPr>
            <a:r>
              <a:rPr lang="zh-CN" altLang="en-US" sz="2400" b="1" dirty="0"/>
              <a:t>4-</a:t>
            </a:r>
            <a:r>
              <a:rPr lang="zh-CN" altLang="en-US" sz="2400" b="1" dirty="0" smtClean="0"/>
              <a:t>1</a:t>
            </a:r>
            <a:r>
              <a:rPr lang="en-US" altLang="zh-CN" sz="2400" b="1" dirty="0" smtClean="0"/>
              <a:t>:</a:t>
            </a:r>
            <a:r>
              <a:rPr lang="zh-CN" altLang="en-US" sz="2400" b="1" dirty="0" smtClean="0"/>
              <a:t>冷凝器</a:t>
            </a:r>
            <a:r>
              <a:rPr lang="zh-CN" altLang="en-US" sz="2400" b="1" dirty="0"/>
              <a:t>中的定压放热</a:t>
            </a:r>
            <a:r>
              <a:rPr lang="zh-CN" altLang="en-US" sz="2400" b="1" dirty="0" smtClean="0"/>
              <a:t>过程</a:t>
            </a:r>
            <a:endParaRPr lang="zh-CN" altLang="en-US" sz="2400" b="1"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6298" y="1557631"/>
            <a:ext cx="4176122" cy="4035902"/>
          </a:xfrm>
          <a:prstGeom prst="rect">
            <a:avLst/>
          </a:prstGeom>
        </p:spPr>
      </p:pic>
    </p:spTree>
    <p:extLst>
      <p:ext uri="{BB962C8B-B14F-4D97-AF65-F5344CB8AC3E}">
        <p14:creationId xmlns:p14="http://schemas.microsoft.com/office/powerpoint/2010/main" val="463065175"/>
      </p:ext>
    </p:extLst>
  </p:cSld>
  <p:clrMapOvr>
    <a:masterClrMapping/>
  </p:clrMapOvr>
  <p:transition spd="slow"/>
  <p:timing>
    <p:tnLst>
      <p:par>
        <p:cTn id="1" dur="indefinite" restart="never" nodeType="tmRoot"/>
      </p:par>
    </p:tnLst>
  </p:timing>
  <p:extLst mod="1"/>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1"/>
          <p:cNvSpPr>
            <a:spLocks noChangeArrowheads="1"/>
          </p:cNvSpPr>
          <p:nvPr/>
        </p:nvSpPr>
        <p:spPr bwMode="auto">
          <a:xfrm>
            <a:off x="389915" y="345000"/>
            <a:ext cx="8336641" cy="8925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600" b="1" dirty="0" smtClean="0"/>
              <a:t>类似于</a:t>
            </a:r>
            <a:r>
              <a:rPr lang="en-US" altLang="zh-CN" sz="2600" b="1" dirty="0" smtClean="0"/>
              <a:t>12-6</a:t>
            </a:r>
            <a:r>
              <a:rPr lang="zh-CN" altLang="en-US" sz="2600" b="1" dirty="0" smtClean="0"/>
              <a:t>节中压气机的绝热效率和燃气轮机的相对内效率，</a:t>
            </a:r>
            <a:r>
              <a:rPr lang="zh-CN" altLang="en-US" sz="2600" b="1" dirty="0"/>
              <a:t>可定义水泵的绝热</a:t>
            </a:r>
            <a:r>
              <a:rPr lang="zh-CN" altLang="en-US" sz="2600" b="1" dirty="0" smtClean="0"/>
              <a:t>效率和</a:t>
            </a:r>
            <a:r>
              <a:rPr lang="zh-CN" altLang="en-US" sz="2600" b="1" dirty="0"/>
              <a:t>汽轮机的相对内效率 </a:t>
            </a:r>
          </a:p>
        </p:txBody>
      </p:sp>
      <p:sp>
        <p:nvSpPr>
          <p:cNvPr id="8" name="矩形 7"/>
          <p:cNvSpPr/>
          <p:nvPr/>
        </p:nvSpPr>
        <p:spPr>
          <a:xfrm>
            <a:off x="535292" y="1571821"/>
            <a:ext cx="8191264" cy="2000548"/>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lvl="0" defTabSz="914400"/>
            <a:r>
              <a:rPr lang="en-US" altLang="zh-CN" sz="2400" b="1" dirty="0" smtClean="0">
                <a:solidFill>
                  <a:prstClr val="black"/>
                </a:solidFill>
                <a:ea typeface="黑体" panose="02010609060101010101" pitchFamily="49" charset="-122"/>
              </a:rPr>
              <a:t>1</a:t>
            </a:r>
            <a:r>
              <a:rPr lang="zh-CN" altLang="en-US" sz="2400" b="1" dirty="0" smtClean="0">
                <a:solidFill>
                  <a:prstClr val="black"/>
                </a:solidFill>
                <a:ea typeface="黑体" panose="02010609060101010101" pitchFamily="49" charset="-122"/>
              </a:rPr>
              <a:t>、</a:t>
            </a:r>
            <a:r>
              <a:rPr lang="zh-CN" altLang="en-US" sz="2400" b="1" dirty="0" smtClean="0">
                <a:solidFill>
                  <a:srgbClr val="FF0000"/>
                </a:solidFill>
                <a:ea typeface="黑体" panose="02010609060101010101" pitchFamily="49" charset="-122"/>
              </a:rPr>
              <a:t>水泵的绝热效率</a:t>
            </a:r>
            <a:r>
              <a:rPr lang="zh-CN" altLang="en-US" sz="2400" b="1" dirty="0" smtClean="0">
                <a:solidFill>
                  <a:prstClr val="black"/>
                </a:solidFill>
                <a:ea typeface="黑体" panose="02010609060101010101" pitchFamily="49" charset="-122"/>
              </a:rPr>
              <a:t>：</a:t>
            </a:r>
            <a:r>
              <a:rPr lang="zh-CN" altLang="zh-CN" sz="2400" b="1" dirty="0">
                <a:solidFill>
                  <a:prstClr val="black"/>
                </a:solidFill>
              </a:rPr>
              <a:t>在</a:t>
            </a:r>
            <a:r>
              <a:rPr lang="zh-CN" altLang="en-US" sz="2400" b="1" dirty="0">
                <a:solidFill>
                  <a:prstClr val="black"/>
                </a:solidFill>
              </a:rPr>
              <a:t>水泵</a:t>
            </a:r>
            <a:r>
              <a:rPr lang="zh-CN" altLang="zh-CN" sz="2400" b="1" dirty="0">
                <a:solidFill>
                  <a:prstClr val="black"/>
                </a:solidFill>
              </a:rPr>
              <a:t>中，在压缩前</a:t>
            </a:r>
            <a:r>
              <a:rPr lang="zh-CN" altLang="en-US" sz="2400" b="1" dirty="0">
                <a:solidFill>
                  <a:prstClr val="black"/>
                </a:solidFill>
              </a:rPr>
              <a:t>工质</a:t>
            </a:r>
            <a:r>
              <a:rPr lang="zh-CN" altLang="zh-CN" sz="2400" b="1" dirty="0">
                <a:solidFill>
                  <a:prstClr val="black"/>
                </a:solidFill>
              </a:rPr>
              <a:t>的状态相同、压缩后</a:t>
            </a:r>
            <a:r>
              <a:rPr lang="zh-CN" altLang="en-US" sz="2400" b="1" dirty="0">
                <a:solidFill>
                  <a:prstClr val="black"/>
                </a:solidFill>
              </a:rPr>
              <a:t>工质</a:t>
            </a:r>
            <a:r>
              <a:rPr lang="zh-CN" altLang="zh-CN" sz="2400" b="1" dirty="0">
                <a:solidFill>
                  <a:prstClr val="black"/>
                </a:solidFill>
              </a:rPr>
              <a:t>的压力也相同的情况下，对</a:t>
            </a:r>
            <a:r>
              <a:rPr lang="zh-CN" altLang="en-US" sz="2400" b="1" dirty="0">
                <a:solidFill>
                  <a:prstClr val="black"/>
                </a:solidFill>
              </a:rPr>
              <a:t>工质</a:t>
            </a:r>
            <a:r>
              <a:rPr lang="zh-CN" altLang="zh-CN" sz="2400" b="1" dirty="0">
                <a:solidFill>
                  <a:prstClr val="black"/>
                </a:solidFill>
              </a:rPr>
              <a:t>进行可逆绝热压缩时的耗功量</a:t>
            </a:r>
            <a:r>
              <a:rPr lang="en-US" altLang="zh-CN" sz="2400" b="1" i="1" dirty="0" err="1">
                <a:solidFill>
                  <a:prstClr val="black"/>
                </a:solidFill>
                <a:latin typeface="Times New Roman" panose="02020603050405020304" pitchFamily="18" charset="0"/>
                <a:cs typeface="Times New Roman" panose="02020603050405020304" pitchFamily="18" charset="0"/>
              </a:rPr>
              <a:t>w</a:t>
            </a:r>
            <a:r>
              <a:rPr lang="en-US" altLang="zh-CN" sz="2400" b="1" baseline="-25000" dirty="0" err="1">
                <a:solidFill>
                  <a:prstClr val="black"/>
                </a:solidFill>
                <a:latin typeface="Times New Roman" panose="02020603050405020304" pitchFamily="18" charset="0"/>
                <a:cs typeface="Times New Roman" panose="02020603050405020304" pitchFamily="18" charset="0"/>
              </a:rPr>
              <a:t>P,</a:t>
            </a:r>
            <a:r>
              <a:rPr lang="en-US" altLang="zh-CN" sz="2400" b="1" i="1" baseline="-25000" dirty="0" err="1">
                <a:solidFill>
                  <a:prstClr val="black"/>
                </a:solidFill>
                <a:latin typeface="Times New Roman" panose="02020603050405020304" pitchFamily="18" charset="0"/>
                <a:cs typeface="Times New Roman" panose="02020603050405020304" pitchFamily="18" charset="0"/>
              </a:rPr>
              <a:t>s</a:t>
            </a:r>
            <a:r>
              <a:rPr lang="zh-CN" altLang="zh-CN" sz="2400" b="1" dirty="0">
                <a:solidFill>
                  <a:prstClr val="black"/>
                </a:solidFill>
              </a:rPr>
              <a:t>与实际不可逆</a:t>
            </a:r>
            <a:r>
              <a:rPr lang="zh-CN" altLang="en-US" sz="2400" b="1" dirty="0">
                <a:solidFill>
                  <a:prstClr val="black"/>
                </a:solidFill>
              </a:rPr>
              <a:t>绝热</a:t>
            </a:r>
            <a:r>
              <a:rPr lang="zh-CN" altLang="zh-CN" sz="2400" b="1" dirty="0">
                <a:solidFill>
                  <a:prstClr val="black"/>
                </a:solidFill>
              </a:rPr>
              <a:t>压缩时的耗功量</a:t>
            </a:r>
            <a:r>
              <a:rPr lang="en-US" altLang="zh-CN" sz="2400" b="1" i="1" dirty="0" err="1">
                <a:solidFill>
                  <a:prstClr val="black"/>
                </a:solidFill>
                <a:latin typeface="Times New Roman" panose="02020603050405020304" pitchFamily="18" charset="0"/>
                <a:cs typeface="Times New Roman" panose="02020603050405020304" pitchFamily="18" charset="0"/>
              </a:rPr>
              <a:t>w</a:t>
            </a:r>
            <a:r>
              <a:rPr lang="en-US" altLang="zh-CN" sz="2400" b="1" baseline="-25000" dirty="0" err="1">
                <a:solidFill>
                  <a:prstClr val="black"/>
                </a:solidFill>
                <a:latin typeface="Times New Roman" panose="02020603050405020304" pitchFamily="18" charset="0"/>
                <a:cs typeface="Times New Roman" panose="02020603050405020304" pitchFamily="18" charset="0"/>
              </a:rPr>
              <a:t>P</a:t>
            </a:r>
            <a:r>
              <a:rPr lang="zh-CN" altLang="zh-CN" sz="2400" b="1" dirty="0">
                <a:solidFill>
                  <a:prstClr val="black"/>
                </a:solidFill>
              </a:rPr>
              <a:t>的比值</a:t>
            </a:r>
            <a:endParaRPr lang="zh-CN" altLang="en-US" sz="2400" b="1" dirty="0">
              <a:solidFill>
                <a:prstClr val="black"/>
              </a:solidFill>
            </a:endParaRPr>
          </a:p>
          <a:p>
            <a:endParaRPr lang="zh-CN" altLang="en-US" sz="2600" dirty="0"/>
          </a:p>
        </p:txBody>
      </p:sp>
      <p:graphicFrame>
        <p:nvGraphicFramePr>
          <p:cNvPr id="6" name="对象 5"/>
          <p:cNvGraphicFramePr>
            <a:graphicFrameLocks noChangeAspect="1"/>
          </p:cNvGraphicFramePr>
          <p:nvPr>
            <p:extLst/>
          </p:nvPr>
        </p:nvGraphicFramePr>
        <p:xfrm>
          <a:off x="1186069" y="3906638"/>
          <a:ext cx="3017520" cy="1097280"/>
        </p:xfrm>
        <a:graphic>
          <a:graphicData uri="http://schemas.openxmlformats.org/presentationml/2006/ole">
            <mc:AlternateContent xmlns:mc="http://schemas.openxmlformats.org/markup-compatibility/2006">
              <mc:Choice xmlns:v="urn:schemas-microsoft-com:vml" Requires="v">
                <p:oleObj spid="_x0000_s39942" name="Equation" r:id="rId3" imgW="1257300" imgH="457200" progId="Equation.DSMT4">
                  <p:embed/>
                </p:oleObj>
              </mc:Choice>
              <mc:Fallback>
                <p:oleObj name="Equation" r:id="rId3" imgW="1257300" imgH="457200" progId="Equation.DSMT4">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6069" y="3906638"/>
                        <a:ext cx="3017520" cy="1097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4159" y="3015002"/>
            <a:ext cx="3164098" cy="3054361"/>
          </a:xfrm>
          <a:prstGeom prst="rect">
            <a:avLst/>
          </a:prstGeom>
        </p:spPr>
      </p:pic>
    </p:spTree>
    <p:extLst>
      <p:ext uri="{BB962C8B-B14F-4D97-AF65-F5344CB8AC3E}">
        <p14:creationId xmlns:p14="http://schemas.microsoft.com/office/powerpoint/2010/main" val="1532626977"/>
      </p:ext>
    </p:extLst>
  </p:cSld>
  <p:clrMapOvr>
    <a:masterClrMapping/>
  </p:clrMapOvr>
  <p:transition spd="slow"/>
  <p:timing>
    <p:tnLst>
      <p:par>
        <p:cTn id="1" dur="indefinite" restart="never" nodeType="tmRoot"/>
      </p:par>
    </p:tnLst>
  </p:timing>
  <p:extLst mod="1"/>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7"/>
          <p:cNvSpPr/>
          <p:nvPr/>
        </p:nvSpPr>
        <p:spPr>
          <a:xfrm>
            <a:off x="455779" y="458639"/>
            <a:ext cx="8191264" cy="1969770"/>
          </a:xfrm>
          <a:prstGeom prst="rect">
            <a:avLst/>
          </a:prstGeom>
        </p:spPr>
        <p:txBody>
          <a:bodyPr wrap="square">
            <a:spAutoFit/>
          </a:bodyPr>
          <a:lst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defTabSz="914400"/>
            <a:r>
              <a:rPr lang="en-US" altLang="zh-CN" sz="2400" b="1" dirty="0" smtClean="0">
                <a:solidFill>
                  <a:prstClr val="black"/>
                </a:solidFill>
                <a:ea typeface="黑体" panose="02010609060101010101" pitchFamily="49" charset="-122"/>
              </a:rPr>
              <a:t>2</a:t>
            </a:r>
            <a:r>
              <a:rPr lang="zh-CN" altLang="en-US" sz="2400" b="1" dirty="0" smtClean="0">
                <a:solidFill>
                  <a:prstClr val="black"/>
                </a:solidFill>
                <a:ea typeface="黑体" panose="02010609060101010101" pitchFamily="49" charset="-122"/>
              </a:rPr>
              <a:t>、</a:t>
            </a:r>
            <a:r>
              <a:rPr lang="zh-CN" altLang="en-US" sz="2400" b="1" dirty="0">
                <a:solidFill>
                  <a:srgbClr val="FF0000"/>
                </a:solidFill>
              </a:rPr>
              <a:t>汽轮机的相对</a:t>
            </a:r>
            <a:r>
              <a:rPr lang="zh-CN" altLang="en-US" sz="2400" b="1" dirty="0" smtClean="0">
                <a:solidFill>
                  <a:srgbClr val="FF0000"/>
                </a:solidFill>
              </a:rPr>
              <a:t>内效率</a:t>
            </a:r>
            <a:r>
              <a:rPr lang="zh-CN" altLang="en-US" sz="2400" b="1" dirty="0" smtClean="0">
                <a:solidFill>
                  <a:prstClr val="black"/>
                </a:solidFill>
                <a:ea typeface="黑体" panose="02010609060101010101" pitchFamily="49" charset="-122"/>
              </a:rPr>
              <a:t>：</a:t>
            </a:r>
            <a:r>
              <a:rPr lang="zh-CN" altLang="zh-CN" sz="2400" b="1" dirty="0" smtClean="0">
                <a:solidFill>
                  <a:prstClr val="black"/>
                </a:solidFill>
              </a:rPr>
              <a:t>在</a:t>
            </a:r>
            <a:r>
              <a:rPr lang="zh-CN" altLang="en-US" sz="2400" b="1" dirty="0" smtClean="0">
                <a:solidFill>
                  <a:prstClr val="black"/>
                </a:solidFill>
              </a:rPr>
              <a:t>汽轮机</a:t>
            </a:r>
            <a:r>
              <a:rPr lang="zh-CN" altLang="zh-CN" sz="2400" b="1" dirty="0" smtClean="0">
                <a:solidFill>
                  <a:prstClr val="black"/>
                </a:solidFill>
              </a:rPr>
              <a:t>中</a:t>
            </a:r>
            <a:r>
              <a:rPr lang="zh-CN" altLang="zh-CN" sz="2400" b="1" dirty="0">
                <a:solidFill>
                  <a:prstClr val="black"/>
                </a:solidFill>
              </a:rPr>
              <a:t>，</a:t>
            </a:r>
            <a:r>
              <a:rPr lang="zh-CN" altLang="zh-CN" sz="2400" b="1" dirty="0" smtClean="0">
                <a:solidFill>
                  <a:prstClr val="black"/>
                </a:solidFill>
              </a:rPr>
              <a:t>在</a:t>
            </a:r>
            <a:r>
              <a:rPr lang="zh-CN" altLang="en-US" sz="2400" b="1" dirty="0" smtClean="0">
                <a:solidFill>
                  <a:prstClr val="black"/>
                </a:solidFill>
              </a:rPr>
              <a:t>膨胀前工质</a:t>
            </a:r>
            <a:r>
              <a:rPr lang="zh-CN" altLang="zh-CN" sz="2400" b="1" dirty="0">
                <a:solidFill>
                  <a:prstClr val="black"/>
                </a:solidFill>
              </a:rPr>
              <a:t>的状态相同</a:t>
            </a:r>
            <a:r>
              <a:rPr lang="zh-CN" altLang="zh-CN" sz="2400" b="1" dirty="0" smtClean="0">
                <a:solidFill>
                  <a:prstClr val="black"/>
                </a:solidFill>
              </a:rPr>
              <a:t>、</a:t>
            </a:r>
            <a:r>
              <a:rPr lang="zh-CN" altLang="en-US" sz="2400" b="1" dirty="0">
                <a:solidFill>
                  <a:prstClr val="black"/>
                </a:solidFill>
              </a:rPr>
              <a:t>膨胀</a:t>
            </a:r>
            <a:r>
              <a:rPr lang="zh-CN" altLang="zh-CN" sz="2400" b="1" dirty="0" smtClean="0">
                <a:solidFill>
                  <a:prstClr val="black"/>
                </a:solidFill>
              </a:rPr>
              <a:t>后</a:t>
            </a:r>
            <a:r>
              <a:rPr lang="zh-CN" altLang="en-US" sz="2400" b="1" dirty="0">
                <a:solidFill>
                  <a:prstClr val="black"/>
                </a:solidFill>
              </a:rPr>
              <a:t>工质</a:t>
            </a:r>
            <a:r>
              <a:rPr lang="zh-CN" altLang="zh-CN" sz="2400" b="1" dirty="0">
                <a:solidFill>
                  <a:prstClr val="black"/>
                </a:solidFill>
              </a:rPr>
              <a:t>的压力也相同的情况下</a:t>
            </a:r>
            <a:r>
              <a:rPr lang="zh-CN" altLang="zh-CN" sz="2400" b="1" dirty="0" smtClean="0">
                <a:solidFill>
                  <a:prstClr val="black"/>
                </a:solidFill>
              </a:rPr>
              <a:t>，</a:t>
            </a:r>
            <a:r>
              <a:rPr lang="zh-CN" altLang="en-US" sz="2400" b="1" dirty="0" smtClean="0">
                <a:solidFill>
                  <a:prstClr val="black"/>
                </a:solidFill>
              </a:rPr>
              <a:t>工质在不可逆</a:t>
            </a:r>
            <a:r>
              <a:rPr lang="zh-CN" altLang="en-US" sz="2400" b="1" dirty="0">
                <a:solidFill>
                  <a:prstClr val="black"/>
                </a:solidFill>
              </a:rPr>
              <a:t>绝热</a:t>
            </a:r>
            <a:r>
              <a:rPr lang="zh-CN" altLang="en-US" sz="2400" b="1" dirty="0" smtClean="0">
                <a:solidFill>
                  <a:prstClr val="black"/>
                </a:solidFill>
              </a:rPr>
              <a:t>膨胀过程中做出的功量</a:t>
            </a:r>
            <a:r>
              <a:rPr lang="en-US" altLang="zh-CN" sz="2400" b="1" i="1" dirty="0" err="1" smtClean="0">
                <a:solidFill>
                  <a:prstClr val="black"/>
                </a:solidFill>
                <a:latin typeface="Times New Roman" panose="02020603050405020304" pitchFamily="18" charset="0"/>
                <a:cs typeface="Times New Roman" panose="02020603050405020304" pitchFamily="18" charset="0"/>
              </a:rPr>
              <a:t>w</a:t>
            </a:r>
            <a:r>
              <a:rPr lang="en-US" altLang="zh-CN" sz="2400" b="1" baseline="-25000" dirty="0" err="1" smtClean="0">
                <a:solidFill>
                  <a:prstClr val="black"/>
                </a:solidFill>
                <a:latin typeface="Times New Roman" panose="02020603050405020304" pitchFamily="18" charset="0"/>
                <a:cs typeface="Times New Roman" panose="02020603050405020304" pitchFamily="18" charset="0"/>
              </a:rPr>
              <a:t>T</a:t>
            </a:r>
            <a:r>
              <a:rPr lang="zh-CN" altLang="en-US" sz="2400" b="1" dirty="0" smtClean="0">
                <a:solidFill>
                  <a:prstClr val="black"/>
                </a:solidFill>
              </a:rPr>
              <a:t>与</a:t>
            </a:r>
            <a:r>
              <a:rPr lang="zh-CN" altLang="zh-CN" sz="2400" b="1" dirty="0" smtClean="0">
                <a:solidFill>
                  <a:prstClr val="black"/>
                </a:solidFill>
              </a:rPr>
              <a:t>可逆绝热</a:t>
            </a:r>
            <a:r>
              <a:rPr lang="zh-CN" altLang="en-US" sz="2400" b="1" dirty="0" smtClean="0">
                <a:solidFill>
                  <a:prstClr val="black"/>
                </a:solidFill>
              </a:rPr>
              <a:t>膨胀过程中做出的功</a:t>
            </a:r>
            <a:r>
              <a:rPr lang="zh-CN" altLang="zh-CN" sz="2400" b="1" dirty="0" smtClean="0">
                <a:solidFill>
                  <a:prstClr val="black"/>
                </a:solidFill>
              </a:rPr>
              <a:t>量</a:t>
            </a:r>
            <a:r>
              <a:rPr lang="en-US" altLang="zh-CN" sz="2400" b="1" i="1" dirty="0" err="1" smtClean="0">
                <a:solidFill>
                  <a:prstClr val="black"/>
                </a:solidFill>
                <a:latin typeface="Times New Roman" panose="02020603050405020304" pitchFamily="18" charset="0"/>
                <a:cs typeface="Times New Roman" panose="02020603050405020304" pitchFamily="18" charset="0"/>
              </a:rPr>
              <a:t>w</a:t>
            </a:r>
            <a:r>
              <a:rPr lang="en-US" altLang="zh-CN" sz="2400" b="1" baseline="-25000" dirty="0" err="1" smtClean="0">
                <a:solidFill>
                  <a:prstClr val="black"/>
                </a:solidFill>
                <a:latin typeface="Times New Roman" panose="02020603050405020304" pitchFamily="18" charset="0"/>
                <a:cs typeface="Times New Roman" panose="02020603050405020304" pitchFamily="18" charset="0"/>
              </a:rPr>
              <a:t>T,</a:t>
            </a:r>
            <a:r>
              <a:rPr lang="en-US" altLang="zh-CN" sz="2400" b="1" i="1" baseline="-25000" dirty="0" err="1" smtClean="0">
                <a:solidFill>
                  <a:prstClr val="black"/>
                </a:solidFill>
                <a:latin typeface="Times New Roman" panose="02020603050405020304" pitchFamily="18" charset="0"/>
                <a:cs typeface="Times New Roman" panose="02020603050405020304" pitchFamily="18" charset="0"/>
              </a:rPr>
              <a:t>s</a:t>
            </a:r>
            <a:r>
              <a:rPr lang="zh-CN" altLang="zh-CN" sz="2400" b="1" dirty="0" smtClean="0">
                <a:solidFill>
                  <a:prstClr val="black"/>
                </a:solidFill>
              </a:rPr>
              <a:t>的</a:t>
            </a:r>
            <a:r>
              <a:rPr lang="zh-CN" altLang="zh-CN" sz="2400" b="1" dirty="0">
                <a:solidFill>
                  <a:prstClr val="black"/>
                </a:solidFill>
              </a:rPr>
              <a:t>比值</a:t>
            </a:r>
            <a:endParaRPr lang="zh-CN" altLang="en-US" sz="2400" b="1" dirty="0">
              <a:solidFill>
                <a:prstClr val="black"/>
              </a:solidFill>
            </a:endParaRPr>
          </a:p>
          <a:p>
            <a:endParaRPr lang="zh-CN" altLang="en-US" sz="2600" dirty="0"/>
          </a:p>
        </p:txBody>
      </p:sp>
      <p:sp>
        <p:nvSpPr>
          <p:cNvPr id="9" name="矩形 1"/>
          <p:cNvSpPr>
            <a:spLocks noChangeArrowheads="1"/>
          </p:cNvSpPr>
          <p:nvPr/>
        </p:nvSpPr>
        <p:spPr bwMode="auto">
          <a:xfrm>
            <a:off x="448917" y="5177016"/>
            <a:ext cx="8275983" cy="1261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en-US" sz="2400" b="1" dirty="0" smtClean="0"/>
              <a:t>水泵</a:t>
            </a:r>
            <a:r>
              <a:rPr lang="zh-CN" altLang="en-US" sz="2400" b="1" dirty="0"/>
              <a:t>的绝热</a:t>
            </a:r>
            <a:r>
              <a:rPr lang="zh-CN" altLang="en-US" sz="2400" b="1" dirty="0" smtClean="0"/>
              <a:t>效率和</a:t>
            </a:r>
            <a:r>
              <a:rPr lang="zh-CN" altLang="en-US" sz="2400" b="1" dirty="0"/>
              <a:t>汽轮机的相对</a:t>
            </a:r>
            <a:r>
              <a:rPr lang="zh-CN" altLang="en-US" sz="2400" b="1" dirty="0" smtClean="0"/>
              <a:t>内效率</a:t>
            </a:r>
            <a:r>
              <a:rPr lang="zh-CN" altLang="en-US" sz="2400" b="1" dirty="0"/>
              <a:t>的</a:t>
            </a:r>
            <a:r>
              <a:rPr lang="zh-CN" altLang="en-US" sz="2400" b="1" dirty="0" smtClean="0"/>
              <a:t>数值</a:t>
            </a:r>
            <a:r>
              <a:rPr lang="zh-CN" altLang="en-US" sz="2400" b="1" dirty="0">
                <a:solidFill>
                  <a:srgbClr val="FF0000"/>
                </a:solidFill>
              </a:rPr>
              <a:t>总是小于</a:t>
            </a:r>
            <a:r>
              <a:rPr lang="en-US" altLang="zh-CN" sz="2400" b="1" dirty="0">
                <a:solidFill>
                  <a:srgbClr val="FF0000"/>
                </a:solidFill>
              </a:rPr>
              <a:t>1</a:t>
            </a:r>
            <a:r>
              <a:rPr lang="zh-CN" altLang="en-US" sz="2400" b="1" dirty="0"/>
              <a:t>，分别反映了水泵内压缩过程和汽轮机内膨胀过程的理想程度。</a:t>
            </a:r>
          </a:p>
          <a:p>
            <a:r>
              <a:rPr lang="zh-CN" altLang="en-US" sz="2800" b="1" dirty="0" smtClean="0"/>
              <a:t> </a:t>
            </a:r>
            <a:endParaRPr lang="zh-CN" altLang="en-US" sz="2800" b="1" dirty="0"/>
          </a:p>
        </p:txBody>
      </p:sp>
      <p:graphicFrame>
        <p:nvGraphicFramePr>
          <p:cNvPr id="4" name="对象 3"/>
          <p:cNvGraphicFramePr>
            <a:graphicFrameLocks noChangeAspect="1"/>
          </p:cNvGraphicFramePr>
          <p:nvPr>
            <p:extLst/>
          </p:nvPr>
        </p:nvGraphicFramePr>
        <p:xfrm>
          <a:off x="1127967" y="2853053"/>
          <a:ext cx="2895600" cy="1097280"/>
        </p:xfrm>
        <a:graphic>
          <a:graphicData uri="http://schemas.openxmlformats.org/presentationml/2006/ole">
            <mc:AlternateContent xmlns:mc="http://schemas.openxmlformats.org/markup-compatibility/2006">
              <mc:Choice xmlns:v="urn:schemas-microsoft-com:vml" Requires="v">
                <p:oleObj spid="_x0000_s40966" name="Equation" r:id="rId3" imgW="1206500" imgH="457200" progId="Equation.DSMT4">
                  <p:embed/>
                </p:oleObj>
              </mc:Choice>
              <mc:Fallback>
                <p:oleObj name="Equation" r:id="rId3" imgW="1206500" imgH="457200" progId="Equation.DSMT4">
                  <p:embed/>
                  <p:pic>
                    <p:nvPicPr>
                      <p:cNvPr id="4"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7967" y="2853053"/>
                        <a:ext cx="2895600" cy="10972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图片 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65133" y="1948202"/>
            <a:ext cx="3164098" cy="3054361"/>
          </a:xfrm>
          <a:prstGeom prst="rect">
            <a:avLst/>
          </a:prstGeom>
        </p:spPr>
      </p:pic>
    </p:spTree>
    <p:extLst>
      <p:ext uri="{BB962C8B-B14F-4D97-AF65-F5344CB8AC3E}">
        <p14:creationId xmlns:p14="http://schemas.microsoft.com/office/powerpoint/2010/main" val="862703698"/>
      </p:ext>
    </p:extLst>
  </p:cSld>
  <p:clrMapOvr>
    <a:masterClrMapping/>
  </p:clrMapOvr>
  <p:transition spd="slow"/>
  <p:timing>
    <p:tnLst>
      <p:par>
        <p:cTn id="1" dur="indefinite" restart="never" nodeType="tmRoot"/>
      </p:par>
    </p:tnLst>
  </p:timing>
  <p:extLst mod="1"/>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154" name="Object 5"/>
          <p:cNvGraphicFramePr>
            <a:graphicFrameLocks/>
          </p:cNvGraphicFramePr>
          <p:nvPr>
            <p:extLst/>
          </p:nvPr>
        </p:nvGraphicFramePr>
        <p:xfrm>
          <a:off x="1141413" y="3865769"/>
          <a:ext cx="2876550" cy="819150"/>
        </p:xfrm>
        <a:graphic>
          <a:graphicData uri="http://schemas.openxmlformats.org/presentationml/2006/ole">
            <mc:AlternateContent xmlns:mc="http://schemas.openxmlformats.org/markup-compatibility/2006">
              <mc:Choice xmlns:v="urn:schemas-microsoft-com:vml" Requires="v">
                <p:oleObj spid="_x0000_s41998" r:id="rId3" imgW="1384200" imgH="431640" progId="Equation.DSMT4">
                  <p:embed/>
                </p:oleObj>
              </mc:Choice>
              <mc:Fallback>
                <p:oleObj r:id="rId3" imgW="1384200" imgH="431640" progId="Equation.DSMT4">
                  <p:embed/>
                  <p:pic>
                    <p:nvPicPr>
                      <p:cNvPr id="49154" name="Object 5"/>
                      <p:cNvPicPr>
                        <a:picLocks noChangeArrowheads="1"/>
                      </p:cNvPicPr>
                      <p:nvPr/>
                    </p:nvPicPr>
                    <p:blipFill>
                      <a:blip r:embed="rId4">
                        <a:extLst>
                          <a:ext uri="{28A0092B-C50C-407E-A947-70E740481C1C}">
                            <a14:useLocalDpi xmlns:a14="http://schemas.microsoft.com/office/drawing/2010/main" val="0"/>
                          </a:ext>
                        </a:extLst>
                      </a:blip>
                      <a:srcRect t="9749"/>
                      <a:stretch>
                        <a:fillRect/>
                      </a:stretch>
                    </p:blipFill>
                    <p:spPr bwMode="auto">
                      <a:xfrm>
                        <a:off x="1141413" y="3865769"/>
                        <a:ext cx="287655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49157" name="Object 11"/>
          <p:cNvGraphicFramePr>
            <a:graphicFrameLocks/>
          </p:cNvGraphicFramePr>
          <p:nvPr>
            <p:extLst/>
          </p:nvPr>
        </p:nvGraphicFramePr>
        <p:xfrm>
          <a:off x="915988" y="1466850"/>
          <a:ext cx="3327400" cy="868363"/>
        </p:xfrm>
        <a:graphic>
          <a:graphicData uri="http://schemas.openxmlformats.org/presentationml/2006/ole">
            <mc:AlternateContent xmlns:mc="http://schemas.openxmlformats.org/markup-compatibility/2006">
              <mc:Choice xmlns:v="urn:schemas-microsoft-com:vml" Requires="v">
                <p:oleObj spid="_x0000_s41999" name="Equation" r:id="rId5" imgW="1600200" imgH="457200" progId="Equation.DSMT4">
                  <p:embed/>
                </p:oleObj>
              </mc:Choice>
              <mc:Fallback>
                <p:oleObj name="Equation" r:id="rId5" imgW="1600200" imgH="457200" progId="Equation.DSMT4">
                  <p:embed/>
                  <p:pic>
                    <p:nvPicPr>
                      <p:cNvPr id="49157" name="Object 11"/>
                      <p:cNvPicPr>
                        <a:picLocks noChangeArrowheads="1"/>
                      </p:cNvPicPr>
                      <p:nvPr/>
                    </p:nvPicPr>
                    <p:blipFill>
                      <a:blip r:embed="rId6"/>
                      <a:srcRect t="9749"/>
                      <a:stretch>
                        <a:fillRect/>
                      </a:stretch>
                    </p:blipFill>
                    <p:spPr bwMode="auto">
                      <a:xfrm>
                        <a:off x="915988" y="1466850"/>
                        <a:ext cx="3327400" cy="868363"/>
                      </a:xfrm>
                      <a:prstGeom prst="rect">
                        <a:avLst/>
                      </a:prstGeom>
                      <a:noFill/>
                      <a:ln>
                        <a:noFill/>
                      </a:ln>
                      <a:extLst/>
                    </p:spPr>
                  </p:pic>
                </p:oleObj>
              </mc:Fallback>
            </mc:AlternateContent>
          </a:graphicData>
        </a:graphic>
      </p:graphicFrame>
      <p:graphicFrame>
        <p:nvGraphicFramePr>
          <p:cNvPr id="49158" name="Object 5"/>
          <p:cNvGraphicFramePr>
            <a:graphicFrameLocks/>
          </p:cNvGraphicFramePr>
          <p:nvPr>
            <p:extLst/>
          </p:nvPr>
        </p:nvGraphicFramePr>
        <p:xfrm>
          <a:off x="1627188" y="5292725"/>
          <a:ext cx="1746250" cy="1104900"/>
        </p:xfrm>
        <a:graphic>
          <a:graphicData uri="http://schemas.openxmlformats.org/presentationml/2006/ole">
            <mc:AlternateContent xmlns:mc="http://schemas.openxmlformats.org/markup-compatibility/2006">
              <mc:Choice xmlns:v="urn:schemas-microsoft-com:vml" Requires="v">
                <p:oleObj spid="_x0000_s42000" name="Equation" r:id="rId7" imgW="698400" imgH="482400" progId="Equation.DSMT4">
                  <p:embed/>
                </p:oleObj>
              </mc:Choice>
              <mc:Fallback>
                <p:oleObj name="Equation" r:id="rId7" imgW="698400" imgH="482400" progId="Equation.DSMT4">
                  <p:embed/>
                  <p:pic>
                    <p:nvPicPr>
                      <p:cNvPr id="49158" name="Object 5"/>
                      <p:cNvPicPr>
                        <a:picLocks noChangeArrowheads="1"/>
                      </p:cNvPicPr>
                      <p:nvPr/>
                    </p:nvPicPr>
                    <p:blipFill>
                      <a:blip r:embed="rId8"/>
                      <a:srcRect t="9749"/>
                      <a:stretch>
                        <a:fillRect/>
                      </a:stretch>
                    </p:blipFill>
                    <p:spPr bwMode="auto">
                      <a:xfrm>
                        <a:off x="1627188" y="5292725"/>
                        <a:ext cx="174625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3" name="矩形 2"/>
          <p:cNvSpPr/>
          <p:nvPr/>
        </p:nvSpPr>
        <p:spPr>
          <a:xfrm>
            <a:off x="535284" y="572183"/>
            <a:ext cx="1859805" cy="492443"/>
          </a:xfrm>
          <a:prstGeom prst="rect">
            <a:avLst/>
          </a:prstGeom>
        </p:spPr>
        <p:txBody>
          <a:bodyPr wrap="none">
            <a:spAutoFit/>
          </a:bodyPr>
          <a:lstStyle/>
          <a:p>
            <a:r>
              <a:rPr lang="zh-CN" altLang="en-US" sz="2600" b="1" dirty="0" smtClean="0">
                <a:solidFill>
                  <a:srgbClr val="FF0000"/>
                </a:solidFill>
              </a:rPr>
              <a:t>理想汽耗率</a:t>
            </a:r>
            <a:endParaRPr lang="zh-CN" altLang="en-US" dirty="0">
              <a:solidFill>
                <a:srgbClr val="FF0000"/>
              </a:solidFill>
            </a:endParaRPr>
          </a:p>
        </p:txBody>
      </p:sp>
      <p:sp>
        <p:nvSpPr>
          <p:cNvPr id="10" name="矩形 9"/>
          <p:cNvSpPr/>
          <p:nvPr/>
        </p:nvSpPr>
        <p:spPr>
          <a:xfrm>
            <a:off x="641301" y="2736262"/>
            <a:ext cx="1859805" cy="492443"/>
          </a:xfrm>
          <a:prstGeom prst="rect">
            <a:avLst/>
          </a:prstGeom>
        </p:spPr>
        <p:txBody>
          <a:bodyPr wrap="none">
            <a:spAutoFit/>
          </a:bodyPr>
          <a:lstStyle/>
          <a:p>
            <a:r>
              <a:rPr lang="zh-CN" altLang="en-US" sz="2600" b="1" dirty="0" smtClean="0">
                <a:solidFill>
                  <a:srgbClr val="FF0000"/>
                </a:solidFill>
              </a:rPr>
              <a:t>实际汽耗率</a:t>
            </a:r>
            <a:endParaRPr lang="zh-CN" altLang="en-US" dirty="0">
              <a:solidFill>
                <a:srgbClr val="FF0000"/>
              </a:solidFill>
            </a:endParaRPr>
          </a:p>
        </p:txBody>
      </p:sp>
      <p:pic>
        <p:nvPicPr>
          <p:cNvPr id="8" name="图片 7"/>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50663" y="1701524"/>
            <a:ext cx="3164098" cy="3054361"/>
          </a:xfrm>
          <a:prstGeom prst="rect">
            <a:avLst/>
          </a:prstGeom>
        </p:spPr>
      </p:pic>
    </p:spTree>
    <p:extLst>
      <p:ext uri="{BB962C8B-B14F-4D97-AF65-F5344CB8AC3E}">
        <p14:creationId xmlns:p14="http://schemas.microsoft.com/office/powerpoint/2010/main" val="2766820837"/>
      </p:ext>
    </p:extLst>
  </p:cSld>
  <p:clrMapOvr>
    <a:masterClrMapping/>
  </p:clrMapOvr>
  <p:transition spd="slow"/>
  <p:timing>
    <p:tnLst>
      <p:par>
        <p:cTn id="1" dur="indefinite" restart="never" nodeType="tmRoot"/>
      </p:par>
    </p:tnLst>
  </p:timing>
  <p:extLst mod="1"/>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文本框 38915"/>
          <p:cNvSpPr txBox="1">
            <a:spLocks noChangeArrowheads="1"/>
          </p:cNvSpPr>
          <p:nvPr/>
        </p:nvSpPr>
        <p:spPr bwMode="auto">
          <a:xfrm>
            <a:off x="274982" y="1782417"/>
            <a:ext cx="8511209"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3200" b="1" dirty="0" smtClean="0">
                <a:solidFill>
                  <a:srgbClr val="000000"/>
                </a:solidFill>
                <a:latin typeface="Times New Roman" panose="02020603050405020304" pitchFamily="18" charset="0"/>
              </a:rPr>
              <a:t>13-5  </a:t>
            </a:r>
            <a:r>
              <a:rPr lang="zh-CN" altLang="en-US" sz="3200" b="1" dirty="0" smtClean="0">
                <a:solidFill>
                  <a:srgbClr val="000000"/>
                </a:solidFill>
                <a:latin typeface="Times New Roman" panose="02020603050405020304" pitchFamily="18" charset="0"/>
              </a:rPr>
              <a:t>通过改变蒸汽参数提高朗肯循环的热效率</a:t>
            </a:r>
            <a:endParaRPr lang="zh-CN" altLang="en-US" sz="3200" b="1" dirty="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2067865485"/>
      </p:ext>
    </p:extLst>
  </p:cSld>
  <p:clrMapOvr>
    <a:masterClrMapping/>
  </p:clrMapOvr>
  <p:transition spd="slow"/>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82" name="文本框 11281"/>
          <p:cNvSpPr txBox="1">
            <a:spLocks noChangeArrowheads="1"/>
          </p:cNvSpPr>
          <p:nvPr/>
        </p:nvSpPr>
        <p:spPr bwMode="auto">
          <a:xfrm>
            <a:off x="531813" y="904875"/>
            <a:ext cx="80803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2400" b="1" dirty="0">
                <a:latin typeface="Times New Roman" panose="02020603050405020304" pitchFamily="18" charset="0"/>
                <a:ea typeface="楷体_GB2312" pitchFamily="49" charset="-122"/>
              </a:rPr>
              <a:t>        </a:t>
            </a:r>
            <a:endParaRPr lang="zh-CN" altLang="en-US" sz="2400" b="1" dirty="0">
              <a:latin typeface="Times New Roman" panose="02020603050405020304" pitchFamily="18" charset="0"/>
              <a:ea typeface="楷体_GB2312" pitchFamily="49" charset="-122"/>
            </a:endParaRPr>
          </a:p>
        </p:txBody>
      </p:sp>
      <p:sp>
        <p:nvSpPr>
          <p:cNvPr id="4" name="矩形 3"/>
          <p:cNvSpPr/>
          <p:nvPr/>
        </p:nvSpPr>
        <p:spPr>
          <a:xfrm>
            <a:off x="554866" y="573571"/>
            <a:ext cx="8057322" cy="5909310"/>
          </a:xfrm>
          <a:prstGeom prst="rect">
            <a:avLst/>
          </a:prstGeom>
        </p:spPr>
        <p:txBody>
          <a:bodyPr wrap="square">
            <a:spAutoFit/>
          </a:bodyPr>
          <a:lstStyle/>
          <a:p>
            <a:pPr marL="342900" indent="-342900">
              <a:spcBef>
                <a:spcPts val="600"/>
              </a:spcBef>
              <a:buFont typeface="Arial" panose="020B0604020202020204" pitchFamily="34" charset="0"/>
              <a:buChar char="•"/>
            </a:pPr>
            <a:r>
              <a:rPr lang="zh-CN" altLang="en-US" sz="2400" b="1" dirty="0"/>
              <a:t>目前，世界上大部分的电力来自于蒸汽动力装置，只要蒸汽动力循环的热效率稍有提高，所能节省的燃料数量是十分巨大</a:t>
            </a:r>
            <a:r>
              <a:rPr lang="zh-CN" altLang="en-US" sz="2400" b="1" dirty="0" smtClean="0"/>
              <a:t>的</a:t>
            </a:r>
            <a:endParaRPr lang="zh-CN" altLang="en-US" sz="2400" b="1" dirty="0"/>
          </a:p>
          <a:p>
            <a:pPr marL="342900" indent="-342900">
              <a:spcBef>
                <a:spcPts val="600"/>
              </a:spcBef>
              <a:buFont typeface="Arial" panose="020B0604020202020204" pitchFamily="34" charset="0"/>
              <a:buChar char="•"/>
            </a:pPr>
            <a:r>
              <a:rPr lang="zh-CN" altLang="en-US" sz="2400" b="1" dirty="0"/>
              <a:t>提高蒸汽动力循环的热效率的方法主要分为两种：</a:t>
            </a:r>
          </a:p>
          <a:p>
            <a:pPr marL="800100" lvl="1" indent="-342900">
              <a:spcBef>
                <a:spcPts val="600"/>
              </a:spcBef>
              <a:buFont typeface="Wingdings" panose="05000000000000000000" pitchFamily="2" charset="2"/>
              <a:buChar char="Ø"/>
            </a:pPr>
            <a:r>
              <a:rPr lang="zh-CN" altLang="en-US" sz="2400" b="1" dirty="0" smtClean="0">
                <a:solidFill>
                  <a:srgbClr val="0070C0"/>
                </a:solidFill>
              </a:rPr>
              <a:t>从</a:t>
            </a:r>
            <a:r>
              <a:rPr lang="zh-CN" altLang="en-US" sz="2400" b="1" dirty="0">
                <a:solidFill>
                  <a:srgbClr val="0070C0"/>
                </a:solidFill>
              </a:rPr>
              <a:t>改变循环特性参数入手，如改变蒸汽的初参数和终</a:t>
            </a:r>
            <a:r>
              <a:rPr lang="zh-CN" altLang="en-US" sz="2400" b="1" dirty="0" smtClean="0">
                <a:solidFill>
                  <a:srgbClr val="0070C0"/>
                </a:solidFill>
              </a:rPr>
              <a:t>参数</a:t>
            </a:r>
            <a:endParaRPr lang="zh-CN" altLang="en-US" sz="2400" b="1" dirty="0">
              <a:solidFill>
                <a:srgbClr val="0070C0"/>
              </a:solidFill>
            </a:endParaRPr>
          </a:p>
          <a:p>
            <a:pPr marL="800100" lvl="1" indent="-342900">
              <a:spcBef>
                <a:spcPts val="600"/>
              </a:spcBef>
              <a:buFont typeface="Wingdings" panose="05000000000000000000" pitchFamily="2" charset="2"/>
              <a:buChar char="Ø"/>
            </a:pPr>
            <a:r>
              <a:rPr lang="zh-CN" altLang="en-US" sz="2400" b="1" dirty="0" smtClean="0">
                <a:solidFill>
                  <a:srgbClr val="0070C0"/>
                </a:solidFill>
              </a:rPr>
              <a:t>从</a:t>
            </a:r>
            <a:r>
              <a:rPr lang="zh-CN" altLang="en-US" sz="2400" b="1" dirty="0">
                <a:solidFill>
                  <a:srgbClr val="0070C0"/>
                </a:solidFill>
              </a:rPr>
              <a:t>改进循环方式入手，如在简单蒸汽动力循环装置的基础上采用再热循环、回热循环、热电循环、蒸汽-燃气联合循环</a:t>
            </a:r>
            <a:r>
              <a:rPr lang="zh-CN" altLang="en-US" sz="2400" b="1" dirty="0" smtClean="0">
                <a:solidFill>
                  <a:srgbClr val="0070C0"/>
                </a:solidFill>
              </a:rPr>
              <a:t>等</a:t>
            </a:r>
            <a:endParaRPr lang="zh-CN" altLang="en-US" sz="2400" b="1" dirty="0">
              <a:solidFill>
                <a:srgbClr val="0070C0"/>
              </a:solidFill>
            </a:endParaRPr>
          </a:p>
          <a:p>
            <a:pPr marL="342900" indent="-342900">
              <a:spcBef>
                <a:spcPts val="600"/>
              </a:spcBef>
              <a:buFont typeface="Arial" panose="020B0604020202020204" pitchFamily="34" charset="0"/>
              <a:buChar char="•"/>
            </a:pPr>
            <a:r>
              <a:rPr lang="zh-CN" altLang="en-US" sz="2400" b="1" dirty="0" smtClean="0"/>
              <a:t>无论</a:t>
            </a:r>
            <a:r>
              <a:rPr lang="zh-CN" altLang="en-US" sz="2400" b="1" dirty="0"/>
              <a:t>采用哪种方法，其核心思想——提高循环的平均吸热温度和降低循环的平均放热</a:t>
            </a:r>
            <a:r>
              <a:rPr lang="zh-CN" altLang="en-US" sz="2400" b="1" dirty="0" smtClean="0"/>
              <a:t>温度</a:t>
            </a:r>
            <a:endParaRPr lang="zh-CN" altLang="en-US" sz="2400" b="1" dirty="0"/>
          </a:p>
          <a:p>
            <a:pPr marL="342900" indent="-342900">
              <a:spcBef>
                <a:spcPts val="600"/>
              </a:spcBef>
              <a:buFont typeface="Arial" panose="020B0604020202020204" pitchFamily="34" charset="0"/>
              <a:buChar char="•"/>
            </a:pPr>
            <a:r>
              <a:rPr lang="zh-CN" altLang="en-US" sz="2400" b="1" dirty="0" smtClean="0"/>
              <a:t>本</a:t>
            </a:r>
            <a:r>
              <a:rPr lang="zh-CN" altLang="en-US" sz="2400" b="1" dirty="0"/>
              <a:t>节以简单朗肯循环为例讨论前一种</a:t>
            </a:r>
            <a:r>
              <a:rPr lang="zh-CN" altLang="en-US" sz="2400" b="1" dirty="0" smtClean="0"/>
              <a:t>方法</a:t>
            </a:r>
            <a:r>
              <a:rPr lang="zh-CN" altLang="en-US" sz="2000" b="1" dirty="0" smtClean="0">
                <a:solidFill>
                  <a:srgbClr val="FF0000"/>
                </a:solidFill>
              </a:rPr>
              <a:t>（改变参数）</a:t>
            </a:r>
            <a:r>
              <a:rPr lang="zh-CN" altLang="en-US" sz="2400" b="1" dirty="0" smtClean="0"/>
              <a:t>；后</a:t>
            </a:r>
            <a:r>
              <a:rPr lang="zh-CN" altLang="en-US" sz="2400" b="1" dirty="0"/>
              <a:t>一种方法分别在后面几节</a:t>
            </a:r>
            <a:r>
              <a:rPr lang="zh-CN" altLang="en-US" sz="2400" b="1" dirty="0" smtClean="0"/>
              <a:t>讨论</a:t>
            </a:r>
            <a:r>
              <a:rPr lang="zh-CN" altLang="en-US" sz="2000" b="1" dirty="0" smtClean="0">
                <a:solidFill>
                  <a:srgbClr val="FF0000"/>
                </a:solidFill>
              </a:rPr>
              <a:t>（改变循环）</a:t>
            </a:r>
            <a:endParaRPr lang="zh-CN" altLang="en-US" sz="2000" b="1" dirty="0">
              <a:solidFill>
                <a:srgbClr val="FF0000"/>
              </a:solidFill>
            </a:endParaRPr>
          </a:p>
          <a:p>
            <a:pPr marL="285750" indent="-285750">
              <a:spcBef>
                <a:spcPts val="600"/>
              </a:spcBef>
              <a:buFont typeface="Arial" panose="020B0604020202020204" pitchFamily="34" charset="0"/>
              <a:buChar char="•"/>
            </a:pPr>
            <a:endParaRPr lang="zh-CN" altLang="en-US" dirty="0"/>
          </a:p>
          <a:p>
            <a:pPr marL="285750" indent="-285750">
              <a:buFont typeface="Arial" panose="020B0604020202020204" pitchFamily="34" charset="0"/>
              <a:buChar char="•"/>
            </a:pPr>
            <a:endParaRPr lang="zh-CN" altLang="en-US" dirty="0"/>
          </a:p>
        </p:txBody>
      </p:sp>
    </p:spTree>
    <p:extLst>
      <p:ext uri="{BB962C8B-B14F-4D97-AF65-F5344CB8AC3E}">
        <p14:creationId xmlns:p14="http://schemas.microsoft.com/office/powerpoint/2010/main" val="1506168888"/>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82"/>
                                        </p:tgtEl>
                                        <p:attrNameLst>
                                          <p:attrName>style.visibility</p:attrName>
                                        </p:attrNameLst>
                                      </p:cBhvr>
                                      <p:to>
                                        <p:strVal val="visible"/>
                                      </p:to>
                                    </p:set>
                                    <p:animEffect transition="in" filter="blinds(horizontal)">
                                      <p:cBhvr>
                                        <p:cTn id="7" dur="500"/>
                                        <p:tgtEl>
                                          <p:spTgt spid="112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82" grpId="0"/>
    </p:bldLst>
  </p:timing>
  <p:extLst mod="1"/>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2225"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28388" y="1199183"/>
            <a:ext cx="4343612" cy="4294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6" name="标题 11265"/>
          <p:cNvSpPr>
            <a:spLocks noGrp="1" noChangeArrowheads="1"/>
          </p:cNvSpPr>
          <p:nvPr>
            <p:ph type="title"/>
          </p:nvPr>
        </p:nvSpPr>
        <p:spPr>
          <a:xfrm>
            <a:off x="300038" y="52388"/>
            <a:ext cx="8229600" cy="1143000"/>
          </a:xfrm>
        </p:spPr>
        <p:txBody>
          <a:bodyPr/>
          <a:lstStyle/>
          <a:p>
            <a:pPr marL="838200" indent="-838200" algn="l">
              <a:buClr>
                <a:schemeClr val="folHlink"/>
              </a:buClr>
            </a:pPr>
            <a:r>
              <a:rPr lang="zh-CN" altLang="en-US" sz="3200" b="1" dirty="0" smtClean="0">
                <a:solidFill>
                  <a:srgbClr val="FF0000"/>
                </a:solidFill>
                <a:latin typeface="Times New Roman" panose="02020603050405020304" pitchFamily="18" charset="0"/>
              </a:rPr>
              <a:t>一、</a:t>
            </a:r>
            <a:r>
              <a:rPr lang="zh-CN" altLang="en-US" sz="3200" b="1" dirty="0" smtClean="0">
                <a:solidFill>
                  <a:srgbClr val="FF0000"/>
                </a:solidFill>
              </a:rPr>
              <a:t>提高蒸汽</a:t>
            </a:r>
            <a:r>
              <a:rPr lang="zh-CN" altLang="en-US" sz="3200" b="1" dirty="0" smtClean="0">
                <a:solidFill>
                  <a:srgbClr val="FF0000"/>
                </a:solidFill>
                <a:latin typeface="Times New Roman" panose="02020603050405020304" pitchFamily="18" charset="0"/>
              </a:rPr>
              <a:t>初温度</a:t>
            </a:r>
          </a:p>
        </p:txBody>
      </p:sp>
      <p:sp>
        <p:nvSpPr>
          <p:cNvPr id="11268" name="直接连接符 11267"/>
          <p:cNvSpPr>
            <a:spLocks noChangeShapeType="1"/>
          </p:cNvSpPr>
          <p:nvPr/>
        </p:nvSpPr>
        <p:spPr bwMode="auto">
          <a:xfrm>
            <a:off x="1295400" y="2667000"/>
            <a:ext cx="3124200" cy="0"/>
          </a:xfrm>
          <a:prstGeom prst="line">
            <a:avLst/>
          </a:prstGeom>
          <a:noFill/>
          <a:ln w="25400">
            <a:solidFill>
              <a:srgbClr val="FF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69" name="直接连接符 11268"/>
          <p:cNvSpPr>
            <a:spLocks noChangeShapeType="1"/>
          </p:cNvSpPr>
          <p:nvPr/>
        </p:nvSpPr>
        <p:spPr bwMode="auto">
          <a:xfrm>
            <a:off x="1290638" y="3068016"/>
            <a:ext cx="3124200" cy="0"/>
          </a:xfrm>
          <a:prstGeom prst="line">
            <a:avLst/>
          </a:prstGeom>
          <a:noFill/>
          <a:ln w="25400">
            <a:solidFill>
              <a:srgbClr val="0000FF"/>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70" name="直接连接符 11269"/>
          <p:cNvSpPr>
            <a:spLocks noChangeShapeType="1"/>
          </p:cNvSpPr>
          <p:nvPr/>
        </p:nvSpPr>
        <p:spPr bwMode="auto">
          <a:xfrm>
            <a:off x="3276600" y="4067175"/>
            <a:ext cx="1295400" cy="0"/>
          </a:xfrm>
          <a:prstGeom prst="line">
            <a:avLst/>
          </a:prstGeom>
          <a:noFill/>
          <a:ln w="25400">
            <a:solidFill>
              <a:srgbClr val="80008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273" name="对象 11272"/>
          <p:cNvGraphicFramePr>
            <a:graphicFrameLocks/>
          </p:cNvGraphicFramePr>
          <p:nvPr/>
        </p:nvGraphicFramePr>
        <p:xfrm>
          <a:off x="4638675" y="3765550"/>
          <a:ext cx="412750" cy="603250"/>
        </p:xfrm>
        <a:graphic>
          <a:graphicData uri="http://schemas.openxmlformats.org/presentationml/2006/ole">
            <mc:AlternateContent xmlns:mc="http://schemas.openxmlformats.org/markup-compatibility/2006">
              <mc:Choice xmlns:v="urn:schemas-microsoft-com:vml" Requires="v">
                <p:oleObj spid="_x0000_s17428" r:id="rId5" imgW="164885" imgH="240986" progId="Equation.DSMT4">
                  <p:embed/>
                </p:oleObj>
              </mc:Choice>
              <mc:Fallback>
                <p:oleObj r:id="rId5" imgW="164885" imgH="240986" progId="Equation.DSMT4">
                  <p:embed/>
                  <p:pic>
                    <p:nvPicPr>
                      <p:cNvPr id="11273" name="对象 11272"/>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38675" y="3765550"/>
                        <a:ext cx="4127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276" name="对象 11275"/>
          <p:cNvGraphicFramePr>
            <a:graphicFrameLocks/>
          </p:cNvGraphicFramePr>
          <p:nvPr/>
        </p:nvGraphicFramePr>
        <p:xfrm>
          <a:off x="4495800" y="2286000"/>
          <a:ext cx="381000" cy="603250"/>
        </p:xfrm>
        <a:graphic>
          <a:graphicData uri="http://schemas.openxmlformats.org/presentationml/2006/ole">
            <mc:AlternateContent xmlns:mc="http://schemas.openxmlformats.org/markup-compatibility/2006">
              <mc:Choice xmlns:v="urn:schemas-microsoft-com:vml" Requires="v">
                <p:oleObj spid="_x0000_s17429" r:id="rId7" imgW="152268" imgH="241091" progId="Equation.DSMT4">
                  <p:embed/>
                </p:oleObj>
              </mc:Choice>
              <mc:Fallback>
                <p:oleObj r:id="rId7" imgW="152268" imgH="241091" progId="Equation.DSMT4">
                  <p:embed/>
                  <p:pic>
                    <p:nvPicPr>
                      <p:cNvPr id="11276" name="对象 1127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95800" y="2286000"/>
                        <a:ext cx="3810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1279" name="对象 11278"/>
          <p:cNvGraphicFramePr>
            <a:graphicFrameLocks/>
          </p:cNvGraphicFramePr>
          <p:nvPr>
            <p:extLst/>
          </p:nvPr>
        </p:nvGraphicFramePr>
        <p:xfrm>
          <a:off x="4495800" y="2810669"/>
          <a:ext cx="381000" cy="603250"/>
        </p:xfrm>
        <a:graphic>
          <a:graphicData uri="http://schemas.openxmlformats.org/presentationml/2006/ole">
            <mc:AlternateContent xmlns:mc="http://schemas.openxmlformats.org/markup-compatibility/2006">
              <mc:Choice xmlns:v="urn:schemas-microsoft-com:vml" Requires="v">
                <p:oleObj spid="_x0000_s17430" r:id="rId9" imgW="152268" imgH="241091" progId="Equation.DSMT4">
                  <p:embed/>
                </p:oleObj>
              </mc:Choice>
              <mc:Fallback>
                <p:oleObj r:id="rId9" imgW="152268" imgH="241091" progId="Equation.DSMT4">
                  <p:embed/>
                  <p:pic>
                    <p:nvPicPr>
                      <p:cNvPr id="11279" name="对象 11278"/>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95800" y="2810669"/>
                        <a:ext cx="3810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2" name="矩形 1"/>
          <p:cNvSpPr/>
          <p:nvPr/>
        </p:nvSpPr>
        <p:spPr>
          <a:xfrm>
            <a:off x="5061226" y="967095"/>
            <a:ext cx="3866874" cy="4893647"/>
          </a:xfrm>
          <a:prstGeom prst="rect">
            <a:avLst/>
          </a:prstGeom>
        </p:spPr>
        <p:txBody>
          <a:bodyPr wrap="square">
            <a:spAutoFit/>
          </a:bodyPr>
          <a:lstStyle/>
          <a:p>
            <a:pPr marL="342900" indent="-342900">
              <a:buFont typeface="Arial" panose="020B0604020202020204" pitchFamily="34" charset="0"/>
              <a:buChar char="•"/>
            </a:pPr>
            <a:r>
              <a:rPr lang="zh-CN" altLang="en-US" sz="2400" b="1" dirty="0"/>
              <a:t>平均吸热温度提高，热效率</a:t>
            </a:r>
            <a:r>
              <a:rPr lang="zh-CN" altLang="en-US" sz="2400" b="1" dirty="0" smtClean="0"/>
              <a:t>提高</a:t>
            </a:r>
            <a:endParaRPr lang="en-US" altLang="zh-CN" sz="2400" b="1" dirty="0" smtClean="0"/>
          </a:p>
          <a:p>
            <a:pPr marL="342900" indent="-342900">
              <a:buFont typeface="Arial" panose="020B0604020202020204" pitchFamily="34" charset="0"/>
              <a:buChar char="•"/>
            </a:pPr>
            <a:r>
              <a:rPr lang="zh-CN" altLang="en-US" sz="2400" b="1" dirty="0"/>
              <a:t>提高乏汽的干度（点</a:t>
            </a:r>
            <a:r>
              <a:rPr lang="en-US" altLang="zh-CN" sz="2400" b="1" dirty="0" smtClean="0"/>
              <a:t>4’</a:t>
            </a:r>
            <a:r>
              <a:rPr lang="zh-CN" altLang="en-US" sz="2400" b="1" dirty="0" smtClean="0"/>
              <a:t>的干度大于</a:t>
            </a:r>
            <a:r>
              <a:rPr lang="en-US" altLang="zh-CN" sz="2400" b="1" dirty="0" smtClean="0"/>
              <a:t>4</a:t>
            </a:r>
            <a:r>
              <a:rPr lang="zh-CN" altLang="en-US" sz="2400" b="1" dirty="0" smtClean="0"/>
              <a:t>），</a:t>
            </a:r>
            <a:r>
              <a:rPr lang="zh-CN" altLang="en-US" sz="2400" b="1" dirty="0"/>
              <a:t>提高汽轮机的相对内效率并延长汽轮机</a:t>
            </a:r>
            <a:r>
              <a:rPr lang="zh-CN" altLang="en-US" sz="2400" b="1" dirty="0" smtClean="0"/>
              <a:t>使用寿命</a:t>
            </a:r>
            <a:endParaRPr lang="en-US" altLang="zh-CN" sz="2400" b="1" dirty="0" smtClean="0"/>
          </a:p>
          <a:p>
            <a:pPr marL="342900" indent="-342900">
              <a:buFont typeface="Arial" panose="020B0604020202020204" pitchFamily="34" charset="0"/>
              <a:buChar char="•"/>
            </a:pPr>
            <a:r>
              <a:rPr lang="zh-CN" altLang="en-US" sz="2400" b="1" dirty="0"/>
              <a:t>受材料耐热性能限制，目前允许的初温最高约为</a:t>
            </a:r>
            <a:r>
              <a:rPr lang="en-US" altLang="zh-CN" sz="2400" b="1" dirty="0"/>
              <a:t>600℃</a:t>
            </a:r>
            <a:r>
              <a:rPr lang="zh-CN" altLang="en-US" sz="2400" b="1" dirty="0"/>
              <a:t>。提高蒸汽初温度的方法很大程度上依赖于现有材料性能的改进以及耐热新材料的</a:t>
            </a:r>
            <a:r>
              <a:rPr lang="zh-CN" altLang="en-US" sz="2400" b="1" dirty="0" smtClean="0"/>
              <a:t>开发</a:t>
            </a:r>
            <a:endParaRPr lang="zh-CN" altLang="en-US" sz="2400" b="1" dirty="0"/>
          </a:p>
        </p:txBody>
      </p:sp>
    </p:spTree>
    <p:custDataLst>
      <p:tags r:id="rId2"/>
    </p:custDataLst>
    <p:extLst>
      <p:ext uri="{BB962C8B-B14F-4D97-AF65-F5344CB8AC3E}">
        <p14:creationId xmlns:p14="http://schemas.microsoft.com/office/powerpoint/2010/main" val="376009374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wipe(left)">
                                      <p:cBhvr>
                                        <p:cTn id="7" dur="500"/>
                                        <p:tgtEl>
                                          <p:spTgt spid="1126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nodeType="clickEffect">
                                  <p:stCondLst>
                                    <p:cond delay="0"/>
                                  </p:stCondLst>
                                  <p:childTnLst>
                                    <p:set>
                                      <p:cBhvr>
                                        <p:cTn id="11" dur="1" fill="hold">
                                          <p:stCondLst>
                                            <p:cond delay="0"/>
                                          </p:stCondLst>
                                        </p:cTn>
                                        <p:tgtEl>
                                          <p:spTgt spid="11279"/>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1268"/>
                                        </p:tgtEl>
                                        <p:attrNameLst>
                                          <p:attrName>style.visibility</p:attrName>
                                        </p:attrNameLst>
                                      </p:cBhvr>
                                      <p:to>
                                        <p:strVal val="visible"/>
                                      </p:to>
                                    </p:set>
                                    <p:animEffect transition="in" filter="wipe(left)">
                                      <p:cBhvr>
                                        <p:cTn id="16" dur="500"/>
                                        <p:tgtEl>
                                          <p:spTgt spid="1126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11276"/>
                                        </p:tgtEl>
                                        <p:attrNameLst>
                                          <p:attrName>style.visibility</p:attrName>
                                        </p:attrNameLst>
                                      </p:cBhvr>
                                      <p:to>
                                        <p:strVal val="visible"/>
                                      </p:to>
                                    </p:set>
                                    <p:animEffect transition="in" filter="blinds(horizontal)">
                                      <p:cBhvr>
                                        <p:cTn id="21" dur="500"/>
                                        <p:tgtEl>
                                          <p:spTgt spid="11276"/>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8" fill="hold" nodeType="clickEffect">
                                  <p:stCondLst>
                                    <p:cond delay="0"/>
                                  </p:stCondLst>
                                  <p:childTnLst>
                                    <p:set>
                                      <p:cBhvr>
                                        <p:cTn id="25" dur="1" fill="hold">
                                          <p:stCondLst>
                                            <p:cond delay="0"/>
                                          </p:stCondLst>
                                        </p:cTn>
                                        <p:tgtEl>
                                          <p:spTgt spid="11270"/>
                                        </p:tgtEl>
                                        <p:attrNameLst>
                                          <p:attrName>style.visibility</p:attrName>
                                        </p:attrNameLst>
                                      </p:cBhvr>
                                      <p:to>
                                        <p:strVal val="visible"/>
                                      </p:to>
                                    </p:set>
                                    <p:animEffect transition="in" filter="wipe(left)">
                                      <p:cBhvr>
                                        <p:cTn id="26" dur="500"/>
                                        <p:tgtEl>
                                          <p:spTgt spid="1127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2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extLst mod="1"/>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49" name="文本占位符 10241"/>
          <p:cNvSpPr>
            <a:spLocks noGrp="1" noChangeArrowheads="1"/>
          </p:cNvSpPr>
          <p:nvPr>
            <p:ph type="body" sz="half" idx="1"/>
          </p:nvPr>
        </p:nvSpPr>
        <p:spPr>
          <a:xfrm>
            <a:off x="266700" y="304800"/>
            <a:ext cx="4038600" cy="762000"/>
          </a:xfrm>
        </p:spPr>
        <p:txBody>
          <a:bodyPr>
            <a:normAutofit/>
          </a:bodyPr>
          <a:lstStyle/>
          <a:p>
            <a:pPr marL="533400" indent="-533400">
              <a:spcBef>
                <a:spcPct val="50000"/>
              </a:spcBef>
              <a:buFont typeface="Wingdings" panose="05000000000000000000" pitchFamily="2" charset="2"/>
              <a:buNone/>
            </a:pPr>
            <a:r>
              <a:rPr lang="zh-CN" altLang="en-US" sz="3200" b="1" dirty="0" smtClean="0">
                <a:solidFill>
                  <a:srgbClr val="FF0000"/>
                </a:solidFill>
                <a:latin typeface="Times New Roman" panose="02020603050405020304" pitchFamily="18" charset="0"/>
              </a:rPr>
              <a:t>二、提</a:t>
            </a:r>
            <a:r>
              <a:rPr lang="zh-CN" altLang="en-US" sz="3200" b="1" dirty="0" smtClean="0">
                <a:solidFill>
                  <a:srgbClr val="FF0000"/>
                </a:solidFill>
                <a:latin typeface="宋体" panose="02010600030101010101" pitchFamily="2" charset="-122"/>
              </a:rPr>
              <a:t>高蒸汽初压力</a:t>
            </a:r>
            <a:endParaRPr lang="en-US" altLang="zh-CN" sz="3200" b="1" dirty="0" smtClean="0">
              <a:solidFill>
                <a:srgbClr val="FF0000"/>
              </a:solidFill>
            </a:endParaRPr>
          </a:p>
        </p:txBody>
      </p:sp>
      <p:pic>
        <p:nvPicPr>
          <p:cNvPr id="53252" name="图片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5849" y="1369838"/>
            <a:ext cx="4021666" cy="402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728404" y="685800"/>
            <a:ext cx="4040516" cy="6001643"/>
          </a:xfrm>
          <a:prstGeom prst="rect">
            <a:avLst/>
          </a:prstGeom>
        </p:spPr>
        <p:txBody>
          <a:bodyPr wrap="square">
            <a:spAutoFit/>
          </a:bodyPr>
          <a:lstStyle/>
          <a:p>
            <a:pPr marL="342900" indent="-342900">
              <a:buFont typeface="Arial" panose="020B0604020202020204" pitchFamily="34" charset="0"/>
              <a:buChar char="•"/>
            </a:pPr>
            <a:r>
              <a:rPr lang="zh-CN" altLang="en-US" sz="2400" b="1" dirty="0"/>
              <a:t>平均吸热温度提高</a:t>
            </a:r>
            <a:r>
              <a:rPr lang="zh-CN" altLang="en-US" sz="2400" b="1" dirty="0" smtClean="0"/>
              <a:t>，循环的热效率提高</a:t>
            </a:r>
            <a:endParaRPr lang="en-US" altLang="zh-CN" sz="2400" b="1" dirty="0" smtClean="0"/>
          </a:p>
          <a:p>
            <a:pPr marL="342900" indent="-342900">
              <a:buFont typeface="Arial" panose="020B0604020202020204" pitchFamily="34" charset="0"/>
              <a:buChar char="•"/>
            </a:pPr>
            <a:r>
              <a:rPr lang="zh-CN" altLang="en-US" sz="2400" b="1" dirty="0"/>
              <a:t>单纯提高蒸汽初压力后，会使膨胀过程末期的湿蒸汽干度过小，含水量过多，危及汽轮机的安全，尤其会降低汽轮机最后几级的工作</a:t>
            </a:r>
            <a:r>
              <a:rPr lang="zh-CN" altLang="en-US" sz="2400" b="1" dirty="0" smtClean="0"/>
              <a:t>效果</a:t>
            </a:r>
            <a:endParaRPr lang="en-US" altLang="zh-CN" sz="2400" b="1" dirty="0" smtClean="0"/>
          </a:p>
          <a:p>
            <a:pPr marL="342900" indent="-342900">
              <a:buFont typeface="Arial" panose="020B0604020202020204" pitchFamily="34" charset="0"/>
              <a:buChar char="•"/>
            </a:pPr>
            <a:r>
              <a:rPr lang="zh-CN" altLang="en-US" sz="2400" b="1" dirty="0">
                <a:latin typeface="Times New Roman" panose="02020603050405020304" pitchFamily="18" charset="0"/>
              </a:rPr>
              <a:t>可以在提高蒸汽初压力的同时提高初温，以保证乏汽的干度不会过低，或是采用再热技术（下一节）。一般来说，乏汽干度不宜低于0.88</a:t>
            </a:r>
          </a:p>
          <a:p>
            <a:pPr marL="342900" indent="-342900">
              <a:buFont typeface="Arial" panose="020B0604020202020204" pitchFamily="34" charset="0"/>
              <a:buChar char="•"/>
            </a:pPr>
            <a:endParaRPr lang="zh-CN" altLang="en-US" sz="2400" b="1" dirty="0"/>
          </a:p>
          <a:p>
            <a:pPr marL="342900" indent="-342900">
              <a:buFont typeface="Arial" panose="020B0604020202020204" pitchFamily="34" charset="0"/>
              <a:buChar char="•"/>
            </a:pPr>
            <a:endParaRPr lang="zh-CN" altLang="en-US" sz="2400" b="1" dirty="0"/>
          </a:p>
        </p:txBody>
      </p:sp>
    </p:spTree>
    <p:extLst>
      <p:ext uri="{BB962C8B-B14F-4D97-AF65-F5344CB8AC3E}">
        <p14:creationId xmlns:p14="http://schemas.microsoft.com/office/powerpoint/2010/main" val="3766139036"/>
      </p:ext>
    </p:extLst>
  </p:cSld>
  <p:clrMapOvr>
    <a:masterClrMapping/>
  </p:clrMapOvr>
  <p:transition spd="slow"/>
  <p:timing>
    <p:tnLst>
      <p:par>
        <p:cTn id="1" dur="indefinite" restart="never" nodeType="tmRoot"/>
      </p:par>
    </p:tnLst>
  </p:timing>
  <p:extLst mod="1"/>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3" name="标题 12289"/>
          <p:cNvSpPr>
            <a:spLocks noGrp="1" noChangeArrowheads="1"/>
          </p:cNvSpPr>
          <p:nvPr>
            <p:ph type="title"/>
          </p:nvPr>
        </p:nvSpPr>
        <p:spPr>
          <a:xfrm>
            <a:off x="228600" y="153988"/>
            <a:ext cx="8229600" cy="1143000"/>
          </a:xfrm>
        </p:spPr>
        <p:txBody>
          <a:bodyPr/>
          <a:lstStyle/>
          <a:p>
            <a:pPr marL="838200" indent="-838200" algn="l">
              <a:buClr>
                <a:schemeClr val="folHlink"/>
              </a:buClr>
            </a:pPr>
            <a:r>
              <a:rPr lang="zh-CN" altLang="en-US" sz="3200" b="1" dirty="0" smtClean="0">
                <a:solidFill>
                  <a:srgbClr val="FF0000"/>
                </a:solidFill>
                <a:latin typeface="Times New Roman" panose="02020603050405020304" pitchFamily="18" charset="0"/>
              </a:rPr>
              <a:t>三、</a:t>
            </a:r>
            <a:r>
              <a:rPr lang="en-US" altLang="zh-CN" sz="3200" b="1" dirty="0" smtClean="0">
                <a:solidFill>
                  <a:srgbClr val="FF0000"/>
                </a:solidFill>
                <a:latin typeface="Times New Roman" panose="02020603050405020304" pitchFamily="18" charset="0"/>
              </a:rPr>
              <a:t> </a:t>
            </a:r>
            <a:r>
              <a:rPr lang="zh-CN" altLang="en-US" sz="3200" b="1" dirty="0" smtClean="0">
                <a:solidFill>
                  <a:srgbClr val="FF0000"/>
                </a:solidFill>
                <a:latin typeface="Times New Roman" panose="02020603050405020304" pitchFamily="18" charset="0"/>
              </a:rPr>
              <a:t>降低蒸汽终压力</a:t>
            </a:r>
            <a:endParaRPr lang="en-US" altLang="zh-CN" sz="3200" b="1" baseline="-25000" dirty="0" smtClean="0">
              <a:solidFill>
                <a:srgbClr val="FF0000"/>
              </a:solidFill>
              <a:latin typeface="Times New Roman" panose="02020603050405020304" pitchFamily="18" charset="0"/>
            </a:endParaRPr>
          </a:p>
        </p:txBody>
      </p:sp>
      <p:pic>
        <p:nvPicPr>
          <p:cNvPr id="54276" name="图片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050" y="1609725"/>
            <a:ext cx="4412566" cy="43113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4343400" y="1413445"/>
            <a:ext cx="4572000" cy="3416320"/>
          </a:xfrm>
          <a:prstGeom prst="rect">
            <a:avLst/>
          </a:prstGeom>
        </p:spPr>
        <p:txBody>
          <a:bodyPr>
            <a:spAutoFit/>
          </a:bodyPr>
          <a:lstStyle/>
          <a:p>
            <a:pPr marL="342900" indent="-342900">
              <a:buFont typeface="Arial" panose="020B0604020202020204" pitchFamily="34" charset="0"/>
              <a:buChar char="•"/>
            </a:pPr>
            <a:r>
              <a:rPr lang="zh-CN" altLang="en-US" sz="2400" b="1" dirty="0"/>
              <a:t>平均放热温度降低，平均吸热温度虽有所下降，但下降得很少，</a:t>
            </a:r>
            <a:r>
              <a:rPr lang="zh-CN" altLang="en-US" sz="2400" b="1" dirty="0" smtClean="0"/>
              <a:t>故</a:t>
            </a:r>
            <a:r>
              <a:rPr lang="zh-CN" altLang="en-US" sz="2400" b="1" dirty="0"/>
              <a:t>热</a:t>
            </a:r>
            <a:r>
              <a:rPr lang="zh-CN" altLang="en-US" sz="2400" b="1" dirty="0" smtClean="0"/>
              <a:t>效率提高</a:t>
            </a:r>
            <a:endParaRPr lang="en-US" altLang="zh-CN" sz="2400" b="1" dirty="0" smtClean="0"/>
          </a:p>
          <a:p>
            <a:pPr marL="342900" indent="-342900">
              <a:buFont typeface="Arial" panose="020B0604020202020204" pitchFamily="34" charset="0"/>
              <a:buChar char="•"/>
            </a:pPr>
            <a:r>
              <a:rPr lang="zh-CN" altLang="en-US" sz="2400" b="1" dirty="0"/>
              <a:t>但受制于环境温度，不能任意降低，同时，乏汽干度下降，不利于汽轮机的安全，可在降低蒸汽终压的同时提高蒸汽初温来抵消此不利影响 </a:t>
            </a:r>
            <a:r>
              <a:rPr lang="zh-CN" altLang="en-US" sz="2400" b="1" dirty="0" smtClean="0"/>
              <a:t> </a:t>
            </a:r>
            <a:endParaRPr lang="zh-CN" altLang="en-US" sz="2400" b="1" dirty="0"/>
          </a:p>
          <a:p>
            <a:pPr marL="342900" indent="-342900">
              <a:buFont typeface="Arial" panose="020B0604020202020204" pitchFamily="34" charset="0"/>
              <a:buChar char="•"/>
            </a:pPr>
            <a:endParaRPr lang="zh-CN" altLang="en-US" sz="2400" dirty="0"/>
          </a:p>
        </p:txBody>
      </p:sp>
    </p:spTree>
    <p:extLst>
      <p:ext uri="{BB962C8B-B14F-4D97-AF65-F5344CB8AC3E}">
        <p14:creationId xmlns:p14="http://schemas.microsoft.com/office/powerpoint/2010/main" val="495565861"/>
      </p:ext>
    </p:extLst>
  </p:cSld>
  <p:clrMapOvr>
    <a:masterClrMapping/>
  </p:clrMapOvr>
  <p:transition spd="slow"/>
  <p:timing>
    <p:tnLst>
      <p:par>
        <p:cTn id="1" dur="indefinite" restart="never" nodeType="tmRoot"/>
      </p:par>
    </p:tnLst>
  </p:timing>
  <p:extLst mod="1"/>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文本框 38915"/>
          <p:cNvSpPr txBox="1">
            <a:spLocks noChangeArrowheads="1"/>
          </p:cNvSpPr>
          <p:nvPr/>
        </p:nvSpPr>
        <p:spPr bwMode="auto">
          <a:xfrm>
            <a:off x="2465732" y="1925085"/>
            <a:ext cx="4816337"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800" b="1" dirty="0">
                <a:solidFill>
                  <a:srgbClr val="000000"/>
                </a:solidFill>
                <a:latin typeface="Times New Roman" panose="02020603050405020304" pitchFamily="18" charset="0"/>
              </a:rPr>
              <a:t>13-6  </a:t>
            </a:r>
            <a:r>
              <a:rPr lang="zh-CN" altLang="zh-CN" sz="4800" b="1" dirty="0">
                <a:solidFill>
                  <a:srgbClr val="000000"/>
                </a:solidFill>
                <a:latin typeface="Times New Roman" panose="02020603050405020304" pitchFamily="18" charset="0"/>
              </a:rPr>
              <a:t>再热</a:t>
            </a:r>
            <a:r>
              <a:rPr lang="zh-CN" altLang="en-US" sz="4800" b="1" dirty="0">
                <a:solidFill>
                  <a:srgbClr val="000000"/>
                </a:solidFill>
                <a:latin typeface="Times New Roman" panose="02020603050405020304" pitchFamily="18" charset="0"/>
              </a:rPr>
              <a:t>循环</a:t>
            </a:r>
          </a:p>
        </p:txBody>
      </p:sp>
    </p:spTree>
    <p:extLst>
      <p:ext uri="{BB962C8B-B14F-4D97-AF65-F5344CB8AC3E}">
        <p14:creationId xmlns:p14="http://schemas.microsoft.com/office/powerpoint/2010/main" val="3136041517"/>
      </p:ext>
    </p:extLst>
  </p:cSld>
  <p:clrMapOvr>
    <a:masterClrMapping/>
  </p:clrMapOvr>
  <p:transition spd="slow"/>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标题 54273"/>
          <p:cNvSpPr>
            <a:spLocks noGrp="1" noChangeArrowheads="1"/>
          </p:cNvSpPr>
          <p:nvPr>
            <p:ph type="title"/>
          </p:nvPr>
        </p:nvSpPr>
        <p:spPr/>
        <p:txBody>
          <a:bodyPr/>
          <a:lstStyle/>
          <a:p>
            <a:r>
              <a:rPr lang="zh-CN" altLang="en-US" b="1" smtClean="0">
                <a:ea typeface="黑体" panose="02010609060101010101" pitchFamily="49" charset="-122"/>
              </a:rPr>
              <a:t>为什么选择再热循环？</a:t>
            </a:r>
          </a:p>
        </p:txBody>
      </p:sp>
      <p:sp>
        <p:nvSpPr>
          <p:cNvPr id="56322" name="文本占位符 54274"/>
          <p:cNvSpPr>
            <a:spLocks noGrp="1" noChangeArrowheads="1"/>
          </p:cNvSpPr>
          <p:nvPr>
            <p:ph idx="1"/>
          </p:nvPr>
        </p:nvSpPr>
        <p:spPr/>
        <p:txBody>
          <a:bodyPr/>
          <a:lstStyle/>
          <a:p>
            <a:pPr>
              <a:lnSpc>
                <a:spcPct val="90000"/>
              </a:lnSpc>
            </a:pPr>
            <a:r>
              <a:rPr lang="zh-CN" altLang="en-US" sz="2800" b="1" dirty="0" smtClean="0"/>
              <a:t>为了提高蒸汽动力循环的热效率，一种方法是从改变循环特性参数入手，另一种方法是从改进循环入手。</a:t>
            </a:r>
          </a:p>
          <a:p>
            <a:pPr>
              <a:lnSpc>
                <a:spcPct val="90000"/>
              </a:lnSpc>
            </a:pPr>
            <a:r>
              <a:rPr lang="zh-CN" altLang="en-US" sz="2800" b="1" dirty="0" smtClean="0"/>
              <a:t>前一种方法在上一节进行了讨论，结果表明：朗肯循环中提高蒸汽的初压力可以提高循环热效率，但会引起乏汽干度减小，不利于汽轮机的安全运行。如何能够克服此不利影响呢？</a:t>
            </a:r>
          </a:p>
          <a:p>
            <a:pPr>
              <a:lnSpc>
                <a:spcPct val="90000"/>
              </a:lnSpc>
            </a:pPr>
            <a:r>
              <a:rPr lang="zh-CN" altLang="en-US" sz="2800" b="1" dirty="0" smtClean="0"/>
              <a:t>答：一是在提高蒸汽初压的同时提高初温，但此种方法会受到金属材料耐热性能的限制。二是从改进循环入手，</a:t>
            </a:r>
            <a:r>
              <a:rPr lang="zh-CN" altLang="en-US" sz="2800" b="1" dirty="0" smtClean="0">
                <a:solidFill>
                  <a:srgbClr val="0000CC"/>
                </a:solidFill>
              </a:rPr>
              <a:t>采用再热循环</a:t>
            </a:r>
            <a:r>
              <a:rPr lang="zh-CN" altLang="en-US" sz="2800" b="1" dirty="0" smtClean="0"/>
              <a:t>。 </a:t>
            </a:r>
          </a:p>
        </p:txBody>
      </p:sp>
    </p:spTree>
    <p:extLst>
      <p:ext uri="{BB962C8B-B14F-4D97-AF65-F5344CB8AC3E}">
        <p14:creationId xmlns:p14="http://schemas.microsoft.com/office/powerpoint/2010/main" val="2882992327"/>
      </p:ext>
    </p:extLst>
  </p:cSld>
  <p:clrMapOvr>
    <a:masterClrMapping/>
  </p:clrMapOvr>
  <p:transition spd="slow"/>
  <p:timing>
    <p:tnLst>
      <p:par>
        <p:cTn id="1" dur="indefinite" restart="never" nodeType="tmRoot"/>
      </p:par>
    </p:tnLst>
  </p:timing>
  <p:extLst mod="1"/>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文本占位符 13314"/>
          <p:cNvSpPr>
            <a:spLocks noGrp="1" noChangeArrowheads="1"/>
          </p:cNvSpPr>
          <p:nvPr>
            <p:ph type="body" sz="half" idx="1"/>
          </p:nvPr>
        </p:nvSpPr>
        <p:spPr>
          <a:xfrm>
            <a:off x="1231900" y="442913"/>
            <a:ext cx="6351588" cy="838200"/>
          </a:xfrm>
        </p:spPr>
        <p:txBody>
          <a:bodyPr/>
          <a:lstStyle/>
          <a:p>
            <a:pPr marL="533400" indent="-533400">
              <a:spcBef>
                <a:spcPct val="50000"/>
              </a:spcBef>
              <a:buFont typeface="Wingdings" panose="05000000000000000000" pitchFamily="2" charset="2"/>
              <a:buNone/>
            </a:pPr>
            <a:r>
              <a:rPr lang="zh-CN" altLang="en-US" b="1" smtClean="0">
                <a:solidFill>
                  <a:srgbClr val="FF0000"/>
                </a:solidFill>
              </a:rPr>
              <a:t>蒸</a:t>
            </a:r>
            <a:r>
              <a:rPr lang="zh-CN" altLang="en-US" b="1" smtClean="0">
                <a:solidFill>
                  <a:srgbClr val="FF0000"/>
                </a:solidFill>
                <a:latin typeface="Times New Roman" panose="02020603050405020304" pitchFamily="18" charset="0"/>
              </a:rPr>
              <a:t>汽再热动力装置示意图和</a:t>
            </a:r>
            <a:r>
              <a:rPr lang="zh-CN" altLang="en-US" b="1" i="1" smtClean="0">
                <a:solidFill>
                  <a:srgbClr val="FF0000"/>
                </a:solidFill>
                <a:latin typeface="Times New Roman" panose="02020603050405020304" pitchFamily="18" charset="0"/>
              </a:rPr>
              <a:t>T-s</a:t>
            </a:r>
            <a:r>
              <a:rPr lang="zh-CN" altLang="en-US" b="1" smtClean="0">
                <a:solidFill>
                  <a:srgbClr val="FF0000"/>
                </a:solidFill>
                <a:latin typeface="Times New Roman" panose="02020603050405020304" pitchFamily="18" charset="0"/>
              </a:rPr>
              <a:t>图</a:t>
            </a:r>
          </a:p>
        </p:txBody>
      </p:sp>
      <p:sp>
        <p:nvSpPr>
          <p:cNvPr id="57346" name="矩形 13322"/>
          <p:cNvSpPr>
            <a:spLocks noChangeArrowheads="1"/>
          </p:cNvSpPr>
          <p:nvPr/>
        </p:nvSpPr>
        <p:spPr bwMode="auto">
          <a:xfrm>
            <a:off x="0" y="20335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7347" name="矩形 13324"/>
          <p:cNvSpPr>
            <a:spLocks noChangeArrowheads="1"/>
          </p:cNvSpPr>
          <p:nvPr/>
        </p:nvSpPr>
        <p:spPr bwMode="auto">
          <a:xfrm>
            <a:off x="0" y="19859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57349"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73625" y="1600200"/>
            <a:ext cx="3906838"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824210" y="5547151"/>
            <a:ext cx="7495580" cy="830997"/>
          </a:xfrm>
          <a:prstGeom prst="rect">
            <a:avLst/>
          </a:prstGeom>
        </p:spPr>
        <p:txBody>
          <a:bodyPr wrap="square">
            <a:spAutoFit/>
          </a:bodyPr>
          <a:lstStyle/>
          <a:p>
            <a:r>
              <a:rPr lang="zh-CN" altLang="en-US" sz="2400" b="1" dirty="0" smtClean="0">
                <a:solidFill>
                  <a:prstClr val="black"/>
                </a:solidFill>
              </a:rPr>
              <a:t>从</a:t>
            </a:r>
            <a:r>
              <a:rPr lang="en-US" altLang="zh-CN" sz="2400" b="1" i="1" dirty="0" smtClean="0">
                <a:solidFill>
                  <a:prstClr val="black"/>
                </a:solidFill>
                <a:latin typeface="Times New Roman" panose="02020603050405020304" pitchFamily="18" charset="0"/>
                <a:cs typeface="Times New Roman" panose="02020603050405020304" pitchFamily="18" charset="0"/>
              </a:rPr>
              <a:t>T-s</a:t>
            </a:r>
            <a:r>
              <a:rPr lang="zh-CN" altLang="en-US" sz="2400" b="1" dirty="0" smtClean="0">
                <a:solidFill>
                  <a:prstClr val="black"/>
                </a:solidFill>
              </a:rPr>
              <a:t>图可以看到，由于再热，蒸汽膨胀终止时的干度有显著提高。</a:t>
            </a:r>
            <a:endParaRPr lang="zh-CN" altLang="en-US" sz="2400" dirty="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1858" y="1688169"/>
            <a:ext cx="4322439" cy="3627434"/>
          </a:xfrm>
          <a:prstGeom prst="rect">
            <a:avLst/>
          </a:prstGeom>
        </p:spPr>
      </p:pic>
    </p:spTree>
    <p:extLst>
      <p:ext uri="{BB962C8B-B14F-4D97-AF65-F5344CB8AC3E}">
        <p14:creationId xmlns:p14="http://schemas.microsoft.com/office/powerpoint/2010/main" val="77279897"/>
      </p:ext>
    </p:extLst>
  </p:cSld>
  <p:clrMapOvr>
    <a:masterClrMapping/>
  </p:clrMapOvr>
  <p:transition spd="slow"/>
  <p:timing>
    <p:tnLst>
      <p:par>
        <p:cTn id="1" dur="indefinite" restart="never" nodeType="tmRoot"/>
      </p:par>
    </p:tnLst>
  </p:timing>
  <p:extLst mod="1"/>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文本框 36868"/>
          <p:cNvSpPr txBox="1">
            <a:spLocks noChangeArrowheads="1"/>
          </p:cNvSpPr>
          <p:nvPr/>
        </p:nvSpPr>
        <p:spPr bwMode="auto">
          <a:xfrm>
            <a:off x="3108325" y="5797550"/>
            <a:ext cx="38183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800" b="1" i="1" dirty="0" smtClean="0">
                <a:latin typeface="Times New Roman" panose="02020603050405020304" pitchFamily="18" charset="0"/>
              </a:rPr>
              <a:t>η</a:t>
            </a:r>
            <a:endParaRPr lang="en-US" altLang="zh-CN" sz="2800" b="1" baseline="-25000" dirty="0">
              <a:latin typeface="Times New Roman" panose="02020603050405020304" pitchFamily="18" charset="0"/>
              <a:cs typeface="Times New Roman" panose="02020603050405020304" pitchFamily="18" charset="0"/>
            </a:endParaRPr>
          </a:p>
        </p:txBody>
      </p:sp>
      <p:sp>
        <p:nvSpPr>
          <p:cNvPr id="58371" name="上箭头 36869"/>
          <p:cNvSpPr>
            <a:spLocks noChangeArrowheads="1"/>
          </p:cNvSpPr>
          <p:nvPr/>
        </p:nvSpPr>
        <p:spPr bwMode="auto">
          <a:xfrm>
            <a:off x="3733800" y="5730875"/>
            <a:ext cx="152400" cy="671513"/>
          </a:xfrm>
          <a:prstGeom prst="upArrow">
            <a:avLst>
              <a:gd name="adj1" fmla="val 50000"/>
              <a:gd name="adj2" fmla="val 110116"/>
            </a:avLst>
          </a:prstGeom>
          <a:solidFill>
            <a:schemeClr val="bg1"/>
          </a:solidFill>
          <a:ln w="19050">
            <a:solidFill>
              <a:schemeClr val="tx1"/>
            </a:solidFill>
            <a:miter lim="800000"/>
            <a:headEnd/>
            <a:tailEnd/>
          </a:ln>
        </p:spPr>
        <p:txBody>
          <a:bodyPr/>
          <a:lstStyle/>
          <a:p>
            <a:endParaRPr lang="zh-CN" altLang="en-US"/>
          </a:p>
        </p:txBody>
      </p:sp>
      <p:sp>
        <p:nvSpPr>
          <p:cNvPr id="58372" name="文本框 36870"/>
          <p:cNvSpPr txBox="1">
            <a:spLocks noChangeArrowheads="1"/>
          </p:cNvSpPr>
          <p:nvPr/>
        </p:nvSpPr>
        <p:spPr bwMode="auto">
          <a:xfrm>
            <a:off x="3886200" y="5562600"/>
            <a:ext cx="946150"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6000">
                <a:solidFill>
                  <a:srgbClr val="FF3300"/>
                </a:solidFill>
                <a:latin typeface="Times New Roman" panose="02020603050405020304" pitchFamily="18" charset="0"/>
              </a:rPr>
              <a:t>？</a:t>
            </a:r>
          </a:p>
        </p:txBody>
      </p:sp>
      <p:sp>
        <p:nvSpPr>
          <p:cNvPr id="58373" name="下箭头 36871"/>
          <p:cNvSpPr>
            <a:spLocks noChangeArrowheads="1"/>
          </p:cNvSpPr>
          <p:nvPr/>
        </p:nvSpPr>
        <p:spPr bwMode="auto">
          <a:xfrm>
            <a:off x="4572000" y="5730875"/>
            <a:ext cx="152400" cy="747713"/>
          </a:xfrm>
          <a:prstGeom prst="downArrow">
            <a:avLst>
              <a:gd name="adj1" fmla="val 50000"/>
              <a:gd name="adj2" fmla="val 122611"/>
            </a:avLst>
          </a:prstGeom>
          <a:solidFill>
            <a:schemeClr val="bg1"/>
          </a:solidFill>
          <a:ln w="9525">
            <a:solidFill>
              <a:schemeClr val="tx1"/>
            </a:solidFill>
            <a:miter lim="800000"/>
            <a:headEnd/>
            <a:tailEnd/>
          </a:ln>
        </p:spPr>
        <p:txBody>
          <a:bodyPr/>
          <a:lstStyle/>
          <a:p>
            <a:endParaRPr lang="zh-CN" altLang="en-US"/>
          </a:p>
        </p:txBody>
      </p:sp>
      <p:sp>
        <p:nvSpPr>
          <p:cNvPr id="58375" name="矩形 36882"/>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6" name="对象 36881"/>
          <p:cNvGraphicFramePr>
            <a:graphicFrameLocks noChangeAspect="1"/>
          </p:cNvGraphicFramePr>
          <p:nvPr>
            <p:extLst/>
          </p:nvPr>
        </p:nvGraphicFramePr>
        <p:xfrm>
          <a:off x="381000" y="1295400"/>
          <a:ext cx="4427220" cy="533400"/>
        </p:xfrm>
        <a:graphic>
          <a:graphicData uri="http://schemas.openxmlformats.org/presentationml/2006/ole">
            <mc:AlternateContent xmlns:mc="http://schemas.openxmlformats.org/markup-compatibility/2006">
              <mc:Choice xmlns:v="urn:schemas-microsoft-com:vml" Requires="v">
                <p:oleObj spid="_x0000_s43026" r:id="rId3" imgW="2108200" imgH="254000" progId="Equation.DSMT4">
                  <p:embed/>
                </p:oleObj>
              </mc:Choice>
              <mc:Fallback>
                <p:oleObj r:id="rId3" imgW="2108200" imgH="254000" progId="Equation.DSMT4">
                  <p:embed/>
                  <p:pic>
                    <p:nvPicPr>
                      <p:cNvPr id="58376" name="对象 3688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1295400"/>
                        <a:ext cx="442722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7" name="矩形 36884"/>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78" name="对象 36883"/>
          <p:cNvGraphicFramePr>
            <a:graphicFrameLocks noChangeAspect="1"/>
          </p:cNvGraphicFramePr>
          <p:nvPr>
            <p:extLst/>
          </p:nvPr>
        </p:nvGraphicFramePr>
        <p:xfrm>
          <a:off x="381000" y="2081213"/>
          <a:ext cx="4960620" cy="533400"/>
        </p:xfrm>
        <a:graphic>
          <a:graphicData uri="http://schemas.openxmlformats.org/presentationml/2006/ole">
            <mc:AlternateContent xmlns:mc="http://schemas.openxmlformats.org/markup-compatibility/2006">
              <mc:Choice xmlns:v="urn:schemas-microsoft-com:vml" Requires="v">
                <p:oleObj spid="_x0000_s43027" r:id="rId5" imgW="2362200" imgH="254000" progId="Equation.DSMT4">
                  <p:embed/>
                </p:oleObj>
              </mc:Choice>
              <mc:Fallback>
                <p:oleObj r:id="rId5" imgW="2362200" imgH="254000" progId="Equation.DSMT4">
                  <p:embed/>
                  <p:pic>
                    <p:nvPicPr>
                      <p:cNvPr id="58378" name="对象 36883"/>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 y="2081213"/>
                        <a:ext cx="496062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79" name="矩形 36886"/>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80" name="对象 36885"/>
          <p:cNvGraphicFramePr>
            <a:graphicFrameLocks/>
          </p:cNvGraphicFramePr>
          <p:nvPr>
            <p:extLst/>
          </p:nvPr>
        </p:nvGraphicFramePr>
        <p:xfrm>
          <a:off x="381000" y="2809460"/>
          <a:ext cx="1524000" cy="481013"/>
        </p:xfrm>
        <a:graphic>
          <a:graphicData uri="http://schemas.openxmlformats.org/presentationml/2006/ole">
            <mc:AlternateContent xmlns:mc="http://schemas.openxmlformats.org/markup-compatibility/2006">
              <mc:Choice xmlns:v="urn:schemas-microsoft-com:vml" Requires="v">
                <p:oleObj spid="_x0000_s43028" r:id="rId7" imgW="723586" imgH="228501" progId="Equation.DSMT4">
                  <p:embed/>
                </p:oleObj>
              </mc:Choice>
              <mc:Fallback>
                <p:oleObj r:id="rId7" imgW="723586" imgH="228501" progId="Equation.DSMT4">
                  <p:embed/>
                  <p:pic>
                    <p:nvPicPr>
                      <p:cNvPr id="58380" name="对象 3688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1000" y="2809460"/>
                        <a:ext cx="1524000" cy="481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58381" name="矩形 36888"/>
          <p:cNvSpPr>
            <a:spLocks noChangeArrowheads="1"/>
          </p:cNvSpPr>
          <p:nvPr/>
        </p:nvSpPr>
        <p:spPr bwMode="auto">
          <a:xfrm>
            <a:off x="0" y="31956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58382" name="对象 36887"/>
          <p:cNvGraphicFramePr>
            <a:graphicFrameLocks/>
          </p:cNvGraphicFramePr>
          <p:nvPr/>
        </p:nvGraphicFramePr>
        <p:xfrm>
          <a:off x="2057400" y="3657600"/>
          <a:ext cx="4189413" cy="1908175"/>
        </p:xfrm>
        <a:graphic>
          <a:graphicData uri="http://schemas.openxmlformats.org/presentationml/2006/ole">
            <mc:AlternateContent xmlns:mc="http://schemas.openxmlformats.org/markup-compatibility/2006">
              <mc:Choice xmlns:v="urn:schemas-microsoft-com:vml" Requires="v">
                <p:oleObj spid="_x0000_s43029" r:id="rId9" imgW="1993900" imgH="914400" progId="Equation.DSMT4">
                  <p:embed/>
                </p:oleObj>
              </mc:Choice>
              <mc:Fallback>
                <p:oleObj r:id="rId9" imgW="1993900" imgH="914400" progId="Equation.DSMT4">
                  <p:embed/>
                  <p:pic>
                    <p:nvPicPr>
                      <p:cNvPr id="58382" name="对象 3688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7400" y="3657600"/>
                        <a:ext cx="4189413" cy="190817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286843" y="332822"/>
            <a:ext cx="3070071" cy="523220"/>
          </a:xfrm>
          <a:prstGeom prst="rect">
            <a:avLst/>
          </a:prstGeom>
        </p:spPr>
        <p:txBody>
          <a:bodyPr wrap="none">
            <a:spAutoFit/>
          </a:bodyPr>
          <a:lstStyle/>
          <a:p>
            <a:r>
              <a:rPr lang="zh-CN" altLang="en-US" sz="2800" b="1" dirty="0" smtClean="0">
                <a:solidFill>
                  <a:prstClr val="black"/>
                </a:solidFill>
              </a:rPr>
              <a:t>再热循环</a:t>
            </a:r>
            <a:r>
              <a:rPr lang="zh-CN" altLang="en-US" sz="2800" b="1" dirty="0">
                <a:solidFill>
                  <a:prstClr val="black"/>
                </a:solidFill>
              </a:rPr>
              <a:t>的</a:t>
            </a:r>
            <a:r>
              <a:rPr lang="zh-CN" altLang="en-US" sz="2800" b="1" dirty="0" smtClean="0">
                <a:solidFill>
                  <a:prstClr val="black"/>
                </a:solidFill>
              </a:rPr>
              <a:t>热效率</a:t>
            </a:r>
            <a:endParaRPr lang="zh-CN" altLang="en-US" dirty="0"/>
          </a:p>
        </p:txBody>
      </p:sp>
      <p:pic>
        <p:nvPicPr>
          <p:cNvPr id="2" name="图片 1"/>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147455" y="237448"/>
            <a:ext cx="3657917" cy="3420152"/>
          </a:xfrm>
          <a:prstGeom prst="rect">
            <a:avLst/>
          </a:prstGeom>
        </p:spPr>
      </p:pic>
    </p:spTree>
    <p:extLst>
      <p:ext uri="{BB962C8B-B14F-4D97-AF65-F5344CB8AC3E}">
        <p14:creationId xmlns:p14="http://schemas.microsoft.com/office/powerpoint/2010/main" val="561314340"/>
      </p:ext>
    </p:extLst>
  </p:cSld>
  <p:clrMapOvr>
    <a:masterClrMapping/>
  </p:clrMapOvr>
  <p:transition spd="slow"/>
  <p:timing>
    <p:tnLst>
      <p:par>
        <p:cTn id="1" dur="indefinite" restart="never" nodeType="tmRoot"/>
      </p:par>
    </p:tnLst>
  </p:timing>
  <p:extLst mod="1"/>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文本框 72705"/>
          <p:cNvSpPr txBox="1">
            <a:spLocks noChangeArrowheads="1"/>
          </p:cNvSpPr>
          <p:nvPr/>
        </p:nvSpPr>
        <p:spPr bwMode="auto">
          <a:xfrm>
            <a:off x="1371600" y="228600"/>
            <a:ext cx="63039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3200" b="1">
                <a:latin typeface="黑体" panose="02010609060101010101" pitchFamily="49" charset="-122"/>
                <a:ea typeface="黑体" panose="02010609060101010101" pitchFamily="49" charset="-122"/>
              </a:rPr>
              <a:t>再热压力对循环热效率大小的影响</a:t>
            </a:r>
          </a:p>
        </p:txBody>
      </p:sp>
      <p:sp>
        <p:nvSpPr>
          <p:cNvPr id="59394" name="直接连接符 72706"/>
          <p:cNvSpPr>
            <a:spLocks noChangeShapeType="1"/>
          </p:cNvSpPr>
          <p:nvPr/>
        </p:nvSpPr>
        <p:spPr bwMode="auto">
          <a:xfrm flipH="1">
            <a:off x="2286000" y="4608513"/>
            <a:ext cx="762000" cy="0"/>
          </a:xfrm>
          <a:prstGeom prst="line">
            <a:avLst/>
          </a:prstGeom>
          <a:noFill/>
          <a:ln w="9525">
            <a:solidFill>
              <a:srgbClr val="0033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08" name="任意多边形 72707"/>
          <p:cNvSpPr>
            <a:spLocks noChangeArrowheads="1"/>
          </p:cNvSpPr>
          <p:nvPr/>
        </p:nvSpPr>
        <p:spPr bwMode="auto">
          <a:xfrm>
            <a:off x="5181600" y="4608513"/>
            <a:ext cx="304800" cy="76200"/>
          </a:xfrm>
          <a:custGeom>
            <a:avLst/>
            <a:gdLst>
              <a:gd name="T0" fmla="*/ 0 w 96"/>
              <a:gd name="T1" fmla="*/ 0 h 1"/>
              <a:gd name="T2" fmla="*/ 96 w 96"/>
              <a:gd name="T3" fmla="*/ 0 h 1"/>
            </a:gdLst>
            <a:ahLst/>
            <a:cxnLst>
              <a:cxn ang="0">
                <a:pos x="T0" y="T1"/>
              </a:cxn>
              <a:cxn ang="0">
                <a:pos x="T2" y="T3"/>
              </a:cxn>
            </a:cxnLst>
            <a:rect l="0" t="0" r="r" b="b"/>
            <a:pathLst>
              <a:path w="96" h="1">
                <a:moveTo>
                  <a:pt x="0" y="0"/>
                </a:moveTo>
                <a:cubicBezTo>
                  <a:pt x="0" y="0"/>
                  <a:pt x="48" y="0"/>
                  <a:pt x="96" y="0"/>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396" name="任意多边形 72708"/>
          <p:cNvSpPr>
            <a:spLocks noChangeArrowheads="1"/>
          </p:cNvSpPr>
          <p:nvPr/>
        </p:nvSpPr>
        <p:spPr bwMode="auto">
          <a:xfrm>
            <a:off x="2743200" y="2741613"/>
            <a:ext cx="3581400" cy="2095500"/>
          </a:xfrm>
          <a:custGeom>
            <a:avLst/>
            <a:gdLst>
              <a:gd name="T0" fmla="*/ 0 w 2256"/>
              <a:gd name="T1" fmla="*/ 1320 h 1320"/>
              <a:gd name="T2" fmla="*/ 912 w 2256"/>
              <a:gd name="T3" fmla="*/ 24 h 1320"/>
              <a:gd name="T4" fmla="*/ 2256 w 2256"/>
              <a:gd name="T5" fmla="*/ 1176 h 1320"/>
            </a:gdLst>
            <a:ahLst/>
            <a:cxnLst>
              <a:cxn ang="0">
                <a:pos x="T0" y="T1"/>
              </a:cxn>
              <a:cxn ang="0">
                <a:pos x="T2" y="T3"/>
              </a:cxn>
              <a:cxn ang="0">
                <a:pos x="T4" y="T5"/>
              </a:cxn>
            </a:cxnLst>
            <a:rect l="0" t="0" r="r" b="b"/>
            <a:pathLst>
              <a:path w="2256" h="1320">
                <a:moveTo>
                  <a:pt x="0" y="1320"/>
                </a:moveTo>
                <a:cubicBezTo>
                  <a:pt x="268" y="684"/>
                  <a:pt x="536" y="48"/>
                  <a:pt x="912" y="24"/>
                </a:cubicBezTo>
                <a:cubicBezTo>
                  <a:pt x="1288" y="0"/>
                  <a:pt x="1772" y="588"/>
                  <a:pt x="2256" y="1176"/>
                </a:cubicBezTo>
              </a:path>
            </a:pathLst>
          </a:custGeom>
          <a:noFill/>
          <a:ln w="28575">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10" name="直接连接符 72709"/>
          <p:cNvSpPr>
            <a:spLocks noChangeShapeType="1"/>
          </p:cNvSpPr>
          <p:nvPr/>
        </p:nvSpPr>
        <p:spPr bwMode="auto">
          <a:xfrm>
            <a:off x="5181600" y="4075113"/>
            <a:ext cx="685800" cy="0"/>
          </a:xfrm>
          <a:prstGeom prst="line">
            <a:avLst/>
          </a:prstGeom>
          <a:noFill/>
          <a:ln w="38100">
            <a:solidFill>
              <a:srgbClr val="00CC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11" name="任意多边形 72710"/>
          <p:cNvSpPr>
            <a:spLocks noChangeArrowheads="1"/>
          </p:cNvSpPr>
          <p:nvPr/>
        </p:nvSpPr>
        <p:spPr bwMode="auto">
          <a:xfrm>
            <a:off x="5445125" y="4606925"/>
            <a:ext cx="727075" cy="77788"/>
          </a:xfrm>
          <a:custGeom>
            <a:avLst/>
            <a:gdLst>
              <a:gd name="T0" fmla="*/ 0 w 96"/>
              <a:gd name="T1" fmla="*/ 0 h 1"/>
              <a:gd name="T2" fmla="*/ 96 w 96"/>
              <a:gd name="T3" fmla="*/ 0 h 1"/>
            </a:gdLst>
            <a:ahLst/>
            <a:cxnLst>
              <a:cxn ang="0">
                <a:pos x="T0" y="T1"/>
              </a:cxn>
              <a:cxn ang="0">
                <a:pos x="T2" y="T3"/>
              </a:cxn>
            </a:cxnLst>
            <a:rect l="0" t="0" r="r" b="b"/>
            <a:pathLst>
              <a:path w="96" h="1">
                <a:moveTo>
                  <a:pt x="0" y="0"/>
                </a:moveTo>
                <a:cubicBezTo>
                  <a:pt x="0" y="0"/>
                  <a:pt x="48" y="0"/>
                  <a:pt x="96" y="0"/>
                </a:cubicBezTo>
              </a:path>
            </a:pathLst>
          </a:custGeom>
          <a:noFill/>
          <a:ln w="38100">
            <a:solidFill>
              <a:srgbClr val="00CC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399" name="任意多边形 72711"/>
          <p:cNvSpPr>
            <a:spLocks noChangeArrowheads="1"/>
          </p:cNvSpPr>
          <p:nvPr/>
        </p:nvSpPr>
        <p:spPr bwMode="auto">
          <a:xfrm>
            <a:off x="2895600" y="3160713"/>
            <a:ext cx="685800" cy="533400"/>
          </a:xfrm>
          <a:custGeom>
            <a:avLst/>
            <a:gdLst>
              <a:gd name="T0" fmla="*/ 0 w 624"/>
              <a:gd name="T1" fmla="*/ 480 h 480"/>
              <a:gd name="T2" fmla="*/ 624 w 624"/>
              <a:gd name="T3" fmla="*/ 0 h 480"/>
            </a:gdLst>
            <a:ahLst/>
            <a:cxnLst>
              <a:cxn ang="0">
                <a:pos x="T0" y="T1"/>
              </a:cxn>
              <a:cxn ang="0">
                <a:pos x="T2" y="T3"/>
              </a:cxn>
            </a:cxnLst>
            <a:rect l="0" t="0" r="r" b="b"/>
            <a:pathLst>
              <a:path w="624" h="480">
                <a:moveTo>
                  <a:pt x="0" y="480"/>
                </a:moveTo>
                <a:cubicBezTo>
                  <a:pt x="0" y="480"/>
                  <a:pt x="312" y="240"/>
                  <a:pt x="624"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00" name="直接连接符 72712"/>
          <p:cNvSpPr>
            <a:spLocks noChangeShapeType="1"/>
          </p:cNvSpPr>
          <p:nvPr/>
        </p:nvSpPr>
        <p:spPr bwMode="auto">
          <a:xfrm flipV="1">
            <a:off x="2286000" y="5707063"/>
            <a:ext cx="4648200" cy="0"/>
          </a:xfrm>
          <a:prstGeom prst="line">
            <a:avLst/>
          </a:prstGeom>
          <a:noFill/>
          <a:ln w="28575">
            <a:solidFill>
              <a:srgbClr val="0033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9401" name="直接连接符 72713"/>
          <p:cNvSpPr>
            <a:spLocks noChangeShapeType="1"/>
          </p:cNvSpPr>
          <p:nvPr/>
        </p:nvSpPr>
        <p:spPr bwMode="auto">
          <a:xfrm flipV="1">
            <a:off x="2286000" y="1187450"/>
            <a:ext cx="0" cy="4519613"/>
          </a:xfrm>
          <a:prstGeom prst="line">
            <a:avLst/>
          </a:prstGeom>
          <a:noFill/>
          <a:ln w="28575">
            <a:solidFill>
              <a:srgbClr val="0033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9402" name="直接连接符 72714"/>
          <p:cNvSpPr>
            <a:spLocks noChangeShapeType="1"/>
          </p:cNvSpPr>
          <p:nvPr/>
        </p:nvSpPr>
        <p:spPr bwMode="auto">
          <a:xfrm>
            <a:off x="2286000" y="2246313"/>
            <a:ext cx="4114800" cy="0"/>
          </a:xfrm>
          <a:prstGeom prst="line">
            <a:avLst/>
          </a:prstGeom>
          <a:noFill/>
          <a:ln w="12700">
            <a:solidFill>
              <a:srgbClr val="2D5B89"/>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3" name="直接连接符 72715"/>
          <p:cNvSpPr>
            <a:spLocks noChangeShapeType="1"/>
          </p:cNvSpPr>
          <p:nvPr/>
        </p:nvSpPr>
        <p:spPr bwMode="auto">
          <a:xfrm flipV="1">
            <a:off x="2916238" y="4608513"/>
            <a:ext cx="2265362"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4" name="直接连接符 72716"/>
          <p:cNvSpPr>
            <a:spLocks noChangeShapeType="1"/>
          </p:cNvSpPr>
          <p:nvPr/>
        </p:nvSpPr>
        <p:spPr bwMode="auto">
          <a:xfrm>
            <a:off x="5181600" y="2246313"/>
            <a:ext cx="1588" cy="2357437"/>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9405" name="直接连接符 72717"/>
          <p:cNvSpPr>
            <a:spLocks noChangeShapeType="1"/>
          </p:cNvSpPr>
          <p:nvPr/>
        </p:nvSpPr>
        <p:spPr bwMode="auto">
          <a:xfrm flipV="1">
            <a:off x="2874963" y="3694113"/>
            <a:ext cx="0" cy="9144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06" name="文本框 72718"/>
          <p:cNvSpPr txBox="1">
            <a:spLocks noChangeArrowheads="1"/>
          </p:cNvSpPr>
          <p:nvPr/>
        </p:nvSpPr>
        <p:spPr bwMode="auto">
          <a:xfrm>
            <a:off x="5029200" y="1812925"/>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660066"/>
                </a:solidFill>
                <a:latin typeface="华文新魏" panose="02010800040101010101" pitchFamily="2" charset="-122"/>
                <a:ea typeface="华文新魏" panose="02010800040101010101" pitchFamily="2" charset="-122"/>
              </a:rPr>
              <a:t>1</a:t>
            </a:r>
          </a:p>
        </p:txBody>
      </p:sp>
      <p:sp>
        <p:nvSpPr>
          <p:cNvPr id="72720" name="矩形 72719"/>
          <p:cNvSpPr>
            <a:spLocks noChangeArrowheads="1"/>
          </p:cNvSpPr>
          <p:nvPr/>
        </p:nvSpPr>
        <p:spPr bwMode="auto">
          <a:xfrm>
            <a:off x="4906963" y="394811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CC"/>
                </a:solidFill>
                <a:latin typeface="华文新魏" panose="02010800040101010101" pitchFamily="2" charset="-122"/>
                <a:ea typeface="华文新魏" panose="02010800040101010101" pitchFamily="2" charset="-122"/>
              </a:rPr>
              <a:t>6</a:t>
            </a:r>
          </a:p>
        </p:txBody>
      </p:sp>
      <p:sp>
        <p:nvSpPr>
          <p:cNvPr id="59408" name="矩形 72720"/>
          <p:cNvSpPr>
            <a:spLocks noChangeArrowheads="1"/>
          </p:cNvSpPr>
          <p:nvPr/>
        </p:nvSpPr>
        <p:spPr bwMode="auto">
          <a:xfrm>
            <a:off x="2590800" y="3441700"/>
            <a:ext cx="328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4</a:t>
            </a:r>
          </a:p>
        </p:txBody>
      </p:sp>
      <p:sp>
        <p:nvSpPr>
          <p:cNvPr id="59409" name="矩形 72721"/>
          <p:cNvSpPr>
            <a:spLocks noChangeArrowheads="1"/>
          </p:cNvSpPr>
          <p:nvPr/>
        </p:nvSpPr>
        <p:spPr bwMode="auto">
          <a:xfrm>
            <a:off x="2608263" y="4267200"/>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3</a:t>
            </a:r>
          </a:p>
        </p:txBody>
      </p:sp>
      <p:sp>
        <p:nvSpPr>
          <p:cNvPr id="59410" name="矩形 72722"/>
          <p:cNvSpPr>
            <a:spLocks noChangeArrowheads="1"/>
          </p:cNvSpPr>
          <p:nvPr/>
        </p:nvSpPr>
        <p:spPr bwMode="auto">
          <a:xfrm>
            <a:off x="4953000" y="4708525"/>
            <a:ext cx="328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2</a:t>
            </a:r>
          </a:p>
        </p:txBody>
      </p:sp>
      <p:sp>
        <p:nvSpPr>
          <p:cNvPr id="59411" name="矩形 72723"/>
          <p:cNvSpPr>
            <a:spLocks noChangeArrowheads="1"/>
          </p:cNvSpPr>
          <p:nvPr/>
        </p:nvSpPr>
        <p:spPr bwMode="auto">
          <a:xfrm>
            <a:off x="6553200" y="5699125"/>
            <a:ext cx="2714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dirty="0">
                <a:solidFill>
                  <a:srgbClr val="660066"/>
                </a:solidFill>
                <a:latin typeface="华文新魏" panose="02010800040101010101" pitchFamily="2" charset="-122"/>
                <a:ea typeface="华文新魏" panose="02010800040101010101" pitchFamily="2" charset="-122"/>
              </a:rPr>
              <a:t>s</a:t>
            </a:r>
          </a:p>
        </p:txBody>
      </p:sp>
      <p:sp>
        <p:nvSpPr>
          <p:cNvPr id="59412" name="矩形 72724"/>
          <p:cNvSpPr>
            <a:spLocks noChangeArrowheads="1"/>
          </p:cNvSpPr>
          <p:nvPr/>
        </p:nvSpPr>
        <p:spPr bwMode="auto">
          <a:xfrm>
            <a:off x="1828800" y="1127125"/>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p>
        </p:txBody>
      </p:sp>
      <p:sp>
        <p:nvSpPr>
          <p:cNvPr id="59413" name="椭圆 72725"/>
          <p:cNvSpPr>
            <a:spLocks noChangeArrowheads="1"/>
          </p:cNvSpPr>
          <p:nvPr/>
        </p:nvSpPr>
        <p:spPr bwMode="auto">
          <a:xfrm>
            <a:off x="5116513" y="4551363"/>
            <a:ext cx="115887" cy="115887"/>
          </a:xfrm>
          <a:prstGeom prst="ellipse">
            <a:avLst/>
          </a:prstGeom>
          <a:solidFill>
            <a:schemeClr val="bg1"/>
          </a:solidFill>
          <a:ln w="9525">
            <a:solidFill>
              <a:srgbClr val="FF3300"/>
            </a:solidFill>
            <a:round/>
            <a:headEnd/>
            <a:tailEnd/>
          </a:ln>
        </p:spPr>
        <p:txBody>
          <a:bodyPr/>
          <a:lstStyle/>
          <a:p>
            <a:endParaRPr lang="zh-CN" altLang="en-US"/>
          </a:p>
        </p:txBody>
      </p:sp>
      <p:sp>
        <p:nvSpPr>
          <p:cNvPr id="59414" name="椭圆 72726"/>
          <p:cNvSpPr>
            <a:spLocks noChangeArrowheads="1"/>
          </p:cNvSpPr>
          <p:nvPr/>
        </p:nvSpPr>
        <p:spPr bwMode="auto">
          <a:xfrm>
            <a:off x="2819400" y="4548188"/>
            <a:ext cx="115888" cy="115887"/>
          </a:xfrm>
          <a:prstGeom prst="ellipse">
            <a:avLst/>
          </a:prstGeom>
          <a:solidFill>
            <a:schemeClr val="bg1"/>
          </a:solidFill>
          <a:ln w="9525">
            <a:solidFill>
              <a:srgbClr val="FF3300"/>
            </a:solidFill>
            <a:round/>
            <a:headEnd/>
            <a:tailEnd/>
          </a:ln>
        </p:spPr>
        <p:txBody>
          <a:bodyPr/>
          <a:lstStyle/>
          <a:p>
            <a:endParaRPr lang="zh-CN" altLang="en-US"/>
          </a:p>
        </p:txBody>
      </p:sp>
      <p:sp>
        <p:nvSpPr>
          <p:cNvPr id="72728" name="直接连接符 72727"/>
          <p:cNvSpPr>
            <a:spLocks noChangeShapeType="1"/>
          </p:cNvSpPr>
          <p:nvPr/>
        </p:nvSpPr>
        <p:spPr bwMode="auto">
          <a:xfrm flipH="1">
            <a:off x="5181600" y="2239963"/>
            <a:ext cx="0" cy="1835150"/>
          </a:xfrm>
          <a:prstGeom prst="line">
            <a:avLst/>
          </a:prstGeom>
          <a:noFill/>
          <a:ln w="38100">
            <a:solidFill>
              <a:srgbClr val="00CC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59416" name="椭圆 72728"/>
          <p:cNvSpPr>
            <a:spLocks noChangeArrowheads="1"/>
          </p:cNvSpPr>
          <p:nvPr/>
        </p:nvSpPr>
        <p:spPr bwMode="auto">
          <a:xfrm>
            <a:off x="2817813" y="3617913"/>
            <a:ext cx="115887" cy="115887"/>
          </a:xfrm>
          <a:prstGeom prst="ellipse">
            <a:avLst/>
          </a:prstGeom>
          <a:solidFill>
            <a:schemeClr val="bg1"/>
          </a:solidFill>
          <a:ln w="9525">
            <a:solidFill>
              <a:srgbClr val="FF3300"/>
            </a:solidFill>
            <a:round/>
            <a:headEnd/>
            <a:tailEnd/>
          </a:ln>
        </p:spPr>
        <p:txBody>
          <a:bodyPr/>
          <a:lstStyle/>
          <a:p>
            <a:endParaRPr lang="zh-CN" altLang="en-US"/>
          </a:p>
        </p:txBody>
      </p:sp>
      <p:sp>
        <p:nvSpPr>
          <p:cNvPr id="59417" name="直接连接符 72729"/>
          <p:cNvSpPr>
            <a:spLocks noChangeShapeType="1"/>
          </p:cNvSpPr>
          <p:nvPr/>
        </p:nvSpPr>
        <p:spPr bwMode="auto">
          <a:xfrm>
            <a:off x="3581400" y="3160713"/>
            <a:ext cx="1447800" cy="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8" name="直接连接符 72730"/>
          <p:cNvSpPr>
            <a:spLocks noChangeShapeType="1"/>
          </p:cNvSpPr>
          <p:nvPr/>
        </p:nvSpPr>
        <p:spPr bwMode="auto">
          <a:xfrm>
            <a:off x="3581400" y="3160713"/>
            <a:ext cx="1447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19" name="任意多边形 72731"/>
          <p:cNvSpPr>
            <a:spLocks noChangeArrowheads="1"/>
          </p:cNvSpPr>
          <p:nvPr/>
        </p:nvSpPr>
        <p:spPr bwMode="auto">
          <a:xfrm>
            <a:off x="5029200" y="2246313"/>
            <a:ext cx="152400" cy="914400"/>
          </a:xfrm>
          <a:custGeom>
            <a:avLst/>
            <a:gdLst>
              <a:gd name="T0" fmla="*/ 0 w 192"/>
              <a:gd name="T1" fmla="*/ 576 h 576"/>
              <a:gd name="T2" fmla="*/ 192 w 192"/>
              <a:gd name="T3" fmla="*/ 0 h 576"/>
            </a:gdLst>
            <a:ahLst/>
            <a:cxnLst>
              <a:cxn ang="0">
                <a:pos x="T0" y="T1"/>
              </a:cxn>
              <a:cxn ang="0">
                <a:pos x="T2" y="T3"/>
              </a:cxn>
            </a:cxnLst>
            <a:rect l="0" t="0" r="r" b="b"/>
            <a:pathLst>
              <a:path w="192" h="576">
                <a:moveTo>
                  <a:pt x="0" y="576"/>
                </a:moveTo>
                <a:cubicBezTo>
                  <a:pt x="80" y="336"/>
                  <a:pt x="160" y="96"/>
                  <a:pt x="192"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59420" name="椭圆 72732"/>
          <p:cNvSpPr>
            <a:spLocks noChangeArrowheads="1"/>
          </p:cNvSpPr>
          <p:nvPr/>
        </p:nvSpPr>
        <p:spPr bwMode="auto">
          <a:xfrm>
            <a:off x="5110163" y="2206625"/>
            <a:ext cx="115887" cy="125413"/>
          </a:xfrm>
          <a:prstGeom prst="ellipse">
            <a:avLst/>
          </a:prstGeom>
          <a:solidFill>
            <a:schemeClr val="bg1"/>
          </a:solidFill>
          <a:ln w="9525">
            <a:solidFill>
              <a:srgbClr val="FF3300"/>
            </a:solidFill>
            <a:round/>
            <a:headEnd/>
            <a:tailEnd/>
          </a:ln>
        </p:spPr>
        <p:txBody>
          <a:bodyPr/>
          <a:lstStyle/>
          <a:p>
            <a:endParaRPr lang="zh-CN" altLang="en-US"/>
          </a:p>
        </p:txBody>
      </p:sp>
      <p:sp>
        <p:nvSpPr>
          <p:cNvPr id="72734" name="任意多边形 72733"/>
          <p:cNvSpPr>
            <a:spLocks noChangeArrowheads="1"/>
          </p:cNvSpPr>
          <p:nvPr/>
        </p:nvSpPr>
        <p:spPr bwMode="auto">
          <a:xfrm>
            <a:off x="5181600" y="2246313"/>
            <a:ext cx="304800" cy="990600"/>
          </a:xfrm>
          <a:custGeom>
            <a:avLst/>
            <a:gdLst>
              <a:gd name="T0" fmla="*/ 0 w 192"/>
              <a:gd name="T1" fmla="*/ 720 h 720"/>
              <a:gd name="T2" fmla="*/ 192 w 192"/>
              <a:gd name="T3" fmla="*/ 0 h 720"/>
            </a:gdLst>
            <a:ahLst/>
            <a:cxnLst>
              <a:cxn ang="0">
                <a:pos x="T0" y="T1"/>
              </a:cxn>
              <a:cxn ang="0">
                <a:pos x="T2" y="T3"/>
              </a:cxn>
            </a:cxnLst>
            <a:rect l="0" t="0" r="r" b="b"/>
            <a:pathLst>
              <a:path w="192" h="720">
                <a:moveTo>
                  <a:pt x="0" y="720"/>
                </a:moveTo>
                <a:cubicBezTo>
                  <a:pt x="80" y="420"/>
                  <a:pt x="160" y="120"/>
                  <a:pt x="192" y="0"/>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35" name="直接连接符 72734"/>
          <p:cNvSpPr>
            <a:spLocks noChangeShapeType="1"/>
          </p:cNvSpPr>
          <p:nvPr/>
        </p:nvSpPr>
        <p:spPr bwMode="auto">
          <a:xfrm>
            <a:off x="5486400" y="2246313"/>
            <a:ext cx="1588" cy="2357437"/>
          </a:xfrm>
          <a:prstGeom prst="line">
            <a:avLst/>
          </a:prstGeom>
          <a:noFill/>
          <a:ln w="381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2736" name="任意多边形 72735"/>
          <p:cNvSpPr>
            <a:spLocks noChangeArrowheads="1"/>
          </p:cNvSpPr>
          <p:nvPr/>
        </p:nvSpPr>
        <p:spPr bwMode="auto">
          <a:xfrm>
            <a:off x="5867400" y="2246313"/>
            <a:ext cx="304800" cy="1828800"/>
          </a:xfrm>
          <a:custGeom>
            <a:avLst/>
            <a:gdLst>
              <a:gd name="T0" fmla="*/ 0 w 432"/>
              <a:gd name="T1" fmla="*/ 1344 h 1344"/>
              <a:gd name="T2" fmla="*/ 432 w 432"/>
              <a:gd name="T3" fmla="*/ 0 h 1344"/>
            </a:gdLst>
            <a:ahLst/>
            <a:cxnLst>
              <a:cxn ang="0">
                <a:pos x="T0" y="T1"/>
              </a:cxn>
              <a:cxn ang="0">
                <a:pos x="T2" y="T3"/>
              </a:cxn>
            </a:cxnLst>
            <a:rect l="0" t="0" r="r" b="b"/>
            <a:pathLst>
              <a:path w="432" h="1344">
                <a:moveTo>
                  <a:pt x="0" y="1344"/>
                </a:moveTo>
                <a:cubicBezTo>
                  <a:pt x="180" y="784"/>
                  <a:pt x="360" y="224"/>
                  <a:pt x="432" y="0"/>
                </a:cubicBezTo>
              </a:path>
            </a:pathLst>
          </a:custGeom>
          <a:noFill/>
          <a:ln w="38100">
            <a:solidFill>
              <a:srgbClr val="00CC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72737" name="直接连接符 72736"/>
          <p:cNvSpPr>
            <a:spLocks noChangeShapeType="1"/>
          </p:cNvSpPr>
          <p:nvPr/>
        </p:nvSpPr>
        <p:spPr bwMode="auto">
          <a:xfrm>
            <a:off x="6170613" y="2246313"/>
            <a:ext cx="1587" cy="2357437"/>
          </a:xfrm>
          <a:prstGeom prst="line">
            <a:avLst/>
          </a:prstGeom>
          <a:noFill/>
          <a:ln w="38100">
            <a:solidFill>
              <a:srgbClr val="00CC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72738" name="椭圆 72737"/>
          <p:cNvSpPr>
            <a:spLocks noChangeArrowheads="1"/>
          </p:cNvSpPr>
          <p:nvPr/>
        </p:nvSpPr>
        <p:spPr bwMode="auto">
          <a:xfrm>
            <a:off x="6107113" y="2206625"/>
            <a:ext cx="115887" cy="115888"/>
          </a:xfrm>
          <a:prstGeom prst="ellipse">
            <a:avLst/>
          </a:prstGeom>
          <a:solidFill>
            <a:schemeClr val="bg1"/>
          </a:solidFill>
          <a:ln w="9525">
            <a:solidFill>
              <a:srgbClr val="00CC66"/>
            </a:solidFill>
            <a:round/>
            <a:headEnd/>
            <a:tailEnd/>
          </a:ln>
        </p:spPr>
        <p:txBody>
          <a:bodyPr/>
          <a:lstStyle/>
          <a:p>
            <a:endParaRPr lang="zh-CN" altLang="en-US"/>
          </a:p>
        </p:txBody>
      </p:sp>
      <p:sp>
        <p:nvSpPr>
          <p:cNvPr id="72739" name="椭圆 72738"/>
          <p:cNvSpPr>
            <a:spLocks noChangeArrowheads="1"/>
          </p:cNvSpPr>
          <p:nvPr/>
        </p:nvSpPr>
        <p:spPr bwMode="auto">
          <a:xfrm>
            <a:off x="5410200" y="2206625"/>
            <a:ext cx="115888" cy="115888"/>
          </a:xfrm>
          <a:prstGeom prst="ellipse">
            <a:avLst/>
          </a:prstGeom>
          <a:solidFill>
            <a:schemeClr val="bg1"/>
          </a:solidFill>
          <a:ln w="9525">
            <a:solidFill>
              <a:srgbClr val="660033"/>
            </a:solidFill>
            <a:round/>
            <a:headEnd/>
            <a:tailEnd/>
          </a:ln>
        </p:spPr>
        <p:txBody>
          <a:bodyPr/>
          <a:lstStyle/>
          <a:p>
            <a:endParaRPr lang="zh-CN" altLang="en-US"/>
          </a:p>
        </p:txBody>
      </p:sp>
      <p:sp>
        <p:nvSpPr>
          <p:cNvPr id="72740" name="椭圆 72739"/>
          <p:cNvSpPr>
            <a:spLocks noChangeArrowheads="1"/>
          </p:cNvSpPr>
          <p:nvPr/>
        </p:nvSpPr>
        <p:spPr bwMode="auto">
          <a:xfrm>
            <a:off x="6110288" y="4537075"/>
            <a:ext cx="115887" cy="115888"/>
          </a:xfrm>
          <a:prstGeom prst="ellipse">
            <a:avLst/>
          </a:prstGeom>
          <a:solidFill>
            <a:schemeClr val="bg1"/>
          </a:solidFill>
          <a:ln w="9525">
            <a:solidFill>
              <a:srgbClr val="00CC66"/>
            </a:solidFill>
            <a:round/>
            <a:headEnd/>
            <a:tailEnd/>
          </a:ln>
        </p:spPr>
        <p:txBody>
          <a:bodyPr/>
          <a:lstStyle/>
          <a:p>
            <a:endParaRPr lang="zh-CN" altLang="en-US"/>
          </a:p>
        </p:txBody>
      </p:sp>
      <p:sp>
        <p:nvSpPr>
          <p:cNvPr id="72741" name="椭圆 72740"/>
          <p:cNvSpPr>
            <a:spLocks noChangeArrowheads="1"/>
          </p:cNvSpPr>
          <p:nvPr/>
        </p:nvSpPr>
        <p:spPr bwMode="auto">
          <a:xfrm>
            <a:off x="5422900" y="4537075"/>
            <a:ext cx="115888" cy="115888"/>
          </a:xfrm>
          <a:prstGeom prst="ellipse">
            <a:avLst/>
          </a:prstGeom>
          <a:solidFill>
            <a:schemeClr val="bg1"/>
          </a:solidFill>
          <a:ln w="9525">
            <a:solidFill>
              <a:srgbClr val="660033"/>
            </a:solidFill>
            <a:round/>
            <a:headEnd/>
            <a:tailEnd/>
          </a:ln>
        </p:spPr>
        <p:txBody>
          <a:bodyPr/>
          <a:lstStyle/>
          <a:p>
            <a:endParaRPr lang="zh-CN" altLang="en-US"/>
          </a:p>
        </p:txBody>
      </p:sp>
      <p:sp>
        <p:nvSpPr>
          <p:cNvPr id="72742" name="椭圆 72741"/>
          <p:cNvSpPr>
            <a:spLocks noChangeArrowheads="1"/>
          </p:cNvSpPr>
          <p:nvPr/>
        </p:nvSpPr>
        <p:spPr bwMode="auto">
          <a:xfrm>
            <a:off x="5124450" y="3998913"/>
            <a:ext cx="115888" cy="115887"/>
          </a:xfrm>
          <a:prstGeom prst="ellipse">
            <a:avLst/>
          </a:prstGeom>
          <a:solidFill>
            <a:schemeClr val="bg1"/>
          </a:solidFill>
          <a:ln w="9525">
            <a:solidFill>
              <a:srgbClr val="00CC66"/>
            </a:solidFill>
            <a:round/>
            <a:headEnd/>
            <a:tailEnd/>
          </a:ln>
        </p:spPr>
        <p:txBody>
          <a:bodyPr/>
          <a:lstStyle/>
          <a:p>
            <a:endParaRPr lang="zh-CN" altLang="en-US"/>
          </a:p>
        </p:txBody>
      </p:sp>
      <p:sp>
        <p:nvSpPr>
          <p:cNvPr id="72743" name="椭圆 72742"/>
          <p:cNvSpPr>
            <a:spLocks noChangeArrowheads="1"/>
          </p:cNvSpPr>
          <p:nvPr/>
        </p:nvSpPr>
        <p:spPr bwMode="auto">
          <a:xfrm>
            <a:off x="5116513" y="3160713"/>
            <a:ext cx="115887" cy="115887"/>
          </a:xfrm>
          <a:prstGeom prst="ellipse">
            <a:avLst/>
          </a:prstGeom>
          <a:solidFill>
            <a:schemeClr val="bg1"/>
          </a:solidFill>
          <a:ln w="9525">
            <a:solidFill>
              <a:srgbClr val="003366"/>
            </a:solidFill>
            <a:round/>
            <a:headEnd/>
            <a:tailEnd/>
          </a:ln>
        </p:spPr>
        <p:txBody>
          <a:bodyPr/>
          <a:lstStyle/>
          <a:p>
            <a:endParaRPr lang="zh-CN" altLang="en-US"/>
          </a:p>
        </p:txBody>
      </p:sp>
      <p:sp>
        <p:nvSpPr>
          <p:cNvPr id="59431" name="直接连接符 72743"/>
          <p:cNvSpPr>
            <a:spLocks noChangeShapeType="1"/>
          </p:cNvSpPr>
          <p:nvPr/>
        </p:nvSpPr>
        <p:spPr bwMode="auto">
          <a:xfrm flipV="1">
            <a:off x="1828800" y="3541713"/>
            <a:ext cx="3505200"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745" name="直接连接符 72744"/>
          <p:cNvSpPr>
            <a:spLocks noChangeShapeType="1"/>
          </p:cNvSpPr>
          <p:nvPr/>
        </p:nvSpPr>
        <p:spPr bwMode="auto">
          <a:xfrm flipV="1">
            <a:off x="2286000" y="3313113"/>
            <a:ext cx="3276600"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33" name="矩形 72745"/>
          <p:cNvSpPr>
            <a:spLocks noChangeArrowheads="1"/>
          </p:cNvSpPr>
          <p:nvPr/>
        </p:nvSpPr>
        <p:spPr bwMode="auto">
          <a:xfrm>
            <a:off x="1752600" y="2041525"/>
            <a:ext cx="401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r>
              <a:rPr lang="en-US" altLang="zh-CN" sz="2000" b="1" baseline="-25000">
                <a:solidFill>
                  <a:srgbClr val="660066"/>
                </a:solidFill>
                <a:latin typeface="华文新魏" panose="02010800040101010101" pitchFamily="2" charset="-122"/>
                <a:ea typeface="华文新魏" panose="02010800040101010101" pitchFamily="2" charset="-122"/>
              </a:rPr>
              <a:t>1</a:t>
            </a:r>
          </a:p>
        </p:txBody>
      </p:sp>
      <p:graphicFrame>
        <p:nvGraphicFramePr>
          <p:cNvPr id="72747" name="对象 72746"/>
          <p:cNvGraphicFramePr>
            <a:graphicFrameLocks/>
          </p:cNvGraphicFramePr>
          <p:nvPr/>
        </p:nvGraphicFramePr>
        <p:xfrm>
          <a:off x="5465763" y="1889125"/>
          <a:ext cx="261937" cy="341313"/>
        </p:xfrm>
        <a:graphic>
          <a:graphicData uri="http://schemas.openxmlformats.org/presentationml/2006/ole">
            <mc:AlternateContent xmlns:mc="http://schemas.openxmlformats.org/markup-compatibility/2006">
              <mc:Choice xmlns:v="urn:schemas-microsoft-com:vml" Requires="v">
                <p:oleObj spid="_x0000_s20524" r:id="rId4" imgW="126725" imgH="164742" progId="Equation.DSMT4">
                  <p:embed/>
                </p:oleObj>
              </mc:Choice>
              <mc:Fallback>
                <p:oleObj r:id="rId4" imgW="126725" imgH="164742" progId="Equation.DSMT4">
                  <p:embed/>
                  <p:pic>
                    <p:nvPicPr>
                      <p:cNvPr id="72747" name="对象 7274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65763" y="1889125"/>
                        <a:ext cx="261937" cy="341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48" name="对象 72747"/>
          <p:cNvGraphicFramePr>
            <a:graphicFrameLocks/>
          </p:cNvGraphicFramePr>
          <p:nvPr/>
        </p:nvGraphicFramePr>
        <p:xfrm>
          <a:off x="6196013" y="1889125"/>
          <a:ext cx="320675" cy="349250"/>
        </p:xfrm>
        <a:graphic>
          <a:graphicData uri="http://schemas.openxmlformats.org/presentationml/2006/ole">
            <mc:AlternateContent xmlns:mc="http://schemas.openxmlformats.org/markup-compatibility/2006">
              <mc:Choice xmlns:v="urn:schemas-microsoft-com:vml" Requires="v">
                <p:oleObj spid="_x0000_s20525" r:id="rId6" imgW="152202" imgH="164885" progId="Equation.DSMT4">
                  <p:embed/>
                </p:oleObj>
              </mc:Choice>
              <mc:Fallback>
                <p:oleObj r:id="rId6" imgW="152202" imgH="164885" progId="Equation.DSMT4">
                  <p:embed/>
                  <p:pic>
                    <p:nvPicPr>
                      <p:cNvPr id="72748" name="对象 7274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96013" y="1889125"/>
                        <a:ext cx="3206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49" name="对象 72748"/>
          <p:cNvGraphicFramePr>
            <a:graphicFrameLocks/>
          </p:cNvGraphicFramePr>
          <p:nvPr/>
        </p:nvGraphicFramePr>
        <p:xfrm>
          <a:off x="5334000" y="4672013"/>
          <a:ext cx="304800" cy="303212"/>
        </p:xfrm>
        <a:graphic>
          <a:graphicData uri="http://schemas.openxmlformats.org/presentationml/2006/ole">
            <mc:AlternateContent xmlns:mc="http://schemas.openxmlformats.org/markup-compatibility/2006">
              <mc:Choice xmlns:v="urn:schemas-microsoft-com:vml" Requires="v">
                <p:oleObj spid="_x0000_s20526" r:id="rId8" imgW="164885" imgH="164885" progId="Equation.DSMT4">
                  <p:embed/>
                </p:oleObj>
              </mc:Choice>
              <mc:Fallback>
                <p:oleObj r:id="rId8" imgW="164885" imgH="164885" progId="Equation.DSMT4">
                  <p:embed/>
                  <p:pic>
                    <p:nvPicPr>
                      <p:cNvPr id="72749" name="对象 72748"/>
                      <p:cNvPicPr>
                        <a:picLocks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34000" y="4672013"/>
                        <a:ext cx="304800" cy="303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50" name="对象 72749"/>
          <p:cNvGraphicFramePr>
            <a:graphicFrameLocks/>
          </p:cNvGraphicFramePr>
          <p:nvPr/>
        </p:nvGraphicFramePr>
        <p:xfrm>
          <a:off x="6096000" y="4632325"/>
          <a:ext cx="330200" cy="304800"/>
        </p:xfrm>
        <a:graphic>
          <a:graphicData uri="http://schemas.openxmlformats.org/presentationml/2006/ole">
            <mc:AlternateContent xmlns:mc="http://schemas.openxmlformats.org/markup-compatibility/2006">
              <mc:Choice xmlns:v="urn:schemas-microsoft-com:vml" Requires="v">
                <p:oleObj spid="_x0000_s20527" r:id="rId10" imgW="177492" imgH="164814" progId="Equation.DSMT4">
                  <p:embed/>
                </p:oleObj>
              </mc:Choice>
              <mc:Fallback>
                <p:oleObj r:id="rId10" imgW="177492" imgH="164814" progId="Equation.DSMT4">
                  <p:embed/>
                  <p:pic>
                    <p:nvPicPr>
                      <p:cNvPr id="72750" name="对象 72749"/>
                      <p:cNvPicPr>
                        <a:picLocks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96000" y="4632325"/>
                        <a:ext cx="33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72751" name="对象 72750"/>
          <p:cNvGraphicFramePr>
            <a:graphicFrameLocks/>
          </p:cNvGraphicFramePr>
          <p:nvPr/>
        </p:nvGraphicFramePr>
        <p:xfrm>
          <a:off x="1946275" y="3032125"/>
          <a:ext cx="339725" cy="357188"/>
        </p:xfrm>
        <a:graphic>
          <a:graphicData uri="http://schemas.openxmlformats.org/presentationml/2006/ole">
            <mc:AlternateContent xmlns:mc="http://schemas.openxmlformats.org/markup-compatibility/2006">
              <mc:Choice xmlns:v="urn:schemas-microsoft-com:vml" Requires="v">
                <p:oleObj spid="_x0000_s20528" r:id="rId12" imgW="202936" imgH="215619" progId="Equation.DSMT4">
                  <p:embed/>
                </p:oleObj>
              </mc:Choice>
              <mc:Fallback>
                <p:oleObj r:id="rId12" imgW="202936" imgH="215619" progId="Equation.DSMT4">
                  <p:embed/>
                  <p:pic>
                    <p:nvPicPr>
                      <p:cNvPr id="72751" name="对象 72750"/>
                      <p:cNvPicPr>
                        <a:picLocks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46275" y="3032125"/>
                        <a:ext cx="339725"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59439" name="对象 72751"/>
          <p:cNvGraphicFramePr>
            <a:graphicFrameLocks/>
          </p:cNvGraphicFramePr>
          <p:nvPr/>
        </p:nvGraphicFramePr>
        <p:xfrm>
          <a:off x="1524000" y="3336925"/>
          <a:ext cx="298450" cy="357188"/>
        </p:xfrm>
        <a:graphic>
          <a:graphicData uri="http://schemas.openxmlformats.org/presentationml/2006/ole">
            <mc:AlternateContent xmlns:mc="http://schemas.openxmlformats.org/markup-compatibility/2006">
              <mc:Choice xmlns:v="urn:schemas-microsoft-com:vml" Requires="v">
                <p:oleObj spid="_x0000_s20529" r:id="rId14" imgW="177492" imgH="215526" progId="Equation.DSMT4">
                  <p:embed/>
                </p:oleObj>
              </mc:Choice>
              <mc:Fallback>
                <p:oleObj r:id="rId14" imgW="177492" imgH="215526" progId="Equation.DSMT4">
                  <p:embed/>
                  <p:pic>
                    <p:nvPicPr>
                      <p:cNvPr id="59439" name="对象 72751"/>
                      <p:cNvPicPr>
                        <a:picLocks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24000" y="3336925"/>
                        <a:ext cx="298450" cy="357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53" name="直接连接符 72752"/>
          <p:cNvSpPr>
            <a:spLocks noChangeShapeType="1"/>
          </p:cNvSpPr>
          <p:nvPr/>
        </p:nvSpPr>
        <p:spPr bwMode="auto">
          <a:xfrm flipV="1">
            <a:off x="2286000" y="3846513"/>
            <a:ext cx="3886200"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2754" name="对象 72753"/>
          <p:cNvGraphicFramePr>
            <a:graphicFrameLocks/>
          </p:cNvGraphicFramePr>
          <p:nvPr/>
        </p:nvGraphicFramePr>
        <p:xfrm>
          <a:off x="1905000" y="3621088"/>
          <a:ext cx="381000" cy="377825"/>
        </p:xfrm>
        <a:graphic>
          <a:graphicData uri="http://schemas.openxmlformats.org/presentationml/2006/ole">
            <mc:AlternateContent xmlns:mc="http://schemas.openxmlformats.org/markup-compatibility/2006">
              <mc:Choice xmlns:v="urn:schemas-microsoft-com:vml" Requires="v">
                <p:oleObj spid="_x0000_s20530" r:id="rId16" imgW="215619" imgH="215619" progId="Equation.DSMT4">
                  <p:embed/>
                </p:oleObj>
              </mc:Choice>
              <mc:Fallback>
                <p:oleObj r:id="rId16" imgW="215619" imgH="215619" progId="Equation.DSMT4">
                  <p:embed/>
                  <p:pic>
                    <p:nvPicPr>
                      <p:cNvPr id="72754" name="对象 72753"/>
                      <p:cNvPicPr>
                        <a:picLocks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905000" y="3621088"/>
                        <a:ext cx="381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2755" name="文本框 72754"/>
          <p:cNvSpPr txBox="1">
            <a:spLocks noChangeArrowheads="1"/>
          </p:cNvSpPr>
          <p:nvPr/>
        </p:nvSpPr>
        <p:spPr bwMode="auto">
          <a:xfrm>
            <a:off x="5181600" y="3032125"/>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000CC"/>
                </a:solidFill>
                <a:latin typeface="华文新魏" panose="02010800040101010101" pitchFamily="2" charset="-122"/>
                <a:ea typeface="华文新魏" panose="02010800040101010101" pitchFamily="2" charset="-122"/>
              </a:rPr>
              <a:t>5</a:t>
            </a:r>
          </a:p>
        </p:txBody>
      </p:sp>
      <p:sp>
        <p:nvSpPr>
          <p:cNvPr id="59443" name="直接连接符 72755"/>
          <p:cNvSpPr>
            <a:spLocks noChangeShapeType="1"/>
          </p:cNvSpPr>
          <p:nvPr/>
        </p:nvSpPr>
        <p:spPr bwMode="auto">
          <a:xfrm rot="487458">
            <a:off x="6291263" y="4608513"/>
            <a:ext cx="304800" cy="304800"/>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9444" name="矩形 72756"/>
          <p:cNvSpPr>
            <a:spLocks noChangeArrowheads="1"/>
          </p:cNvSpPr>
          <p:nvPr/>
        </p:nvSpPr>
        <p:spPr bwMode="auto">
          <a:xfrm>
            <a:off x="1752600" y="4367213"/>
            <a:ext cx="4302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r>
              <a:rPr lang="en-US" altLang="zh-CN" sz="2000" b="1" baseline="-25000">
                <a:solidFill>
                  <a:srgbClr val="660066"/>
                </a:solidFill>
                <a:latin typeface="华文新魏" panose="02010800040101010101" pitchFamily="2" charset="-122"/>
                <a:ea typeface="华文新魏" panose="02010800040101010101" pitchFamily="2" charset="-122"/>
              </a:rPr>
              <a:t>2</a:t>
            </a:r>
          </a:p>
        </p:txBody>
      </p:sp>
      <p:sp>
        <p:nvSpPr>
          <p:cNvPr id="59445" name="直接连接符 72757"/>
          <p:cNvSpPr>
            <a:spLocks noChangeShapeType="1"/>
          </p:cNvSpPr>
          <p:nvPr/>
        </p:nvSpPr>
        <p:spPr bwMode="auto">
          <a:xfrm flipH="1">
            <a:off x="2667000" y="4837113"/>
            <a:ext cx="76200" cy="152400"/>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custDataLst>
      <p:tags r:id="rId2"/>
    </p:custDataLst>
    <p:extLst>
      <p:ext uri="{BB962C8B-B14F-4D97-AF65-F5344CB8AC3E}">
        <p14:creationId xmlns:p14="http://schemas.microsoft.com/office/powerpoint/2010/main" val="1251613831"/>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274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275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4" fill="hold" nodeType="clickEffect">
                                  <p:stCondLst>
                                    <p:cond delay="0"/>
                                  </p:stCondLst>
                                  <p:childTnLst>
                                    <p:set>
                                      <p:cBhvr>
                                        <p:cTn id="14" dur="1" fill="hold">
                                          <p:stCondLst>
                                            <p:cond delay="0"/>
                                          </p:stCondLst>
                                        </p:cTn>
                                        <p:tgtEl>
                                          <p:spTgt spid="72734"/>
                                        </p:tgtEl>
                                        <p:attrNameLst>
                                          <p:attrName>style.visibility</p:attrName>
                                        </p:attrNameLst>
                                      </p:cBhvr>
                                      <p:to>
                                        <p:strVal val="visible"/>
                                      </p:to>
                                    </p:set>
                                    <p:animEffect transition="in" filter="wipe(down)">
                                      <p:cBhvr>
                                        <p:cTn id="15" dur="500"/>
                                        <p:tgtEl>
                                          <p:spTgt spid="7273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72739"/>
                                        </p:tgtEl>
                                        <p:attrNameLst>
                                          <p:attrName>style.visibility</p:attrName>
                                        </p:attrNameLst>
                                      </p:cBhvr>
                                      <p:to>
                                        <p:strVal val="visible"/>
                                      </p:to>
                                    </p:set>
                                    <p:animEffect transition="in" filter="blinds(horizontal)">
                                      <p:cBhvr>
                                        <p:cTn id="20" dur="500"/>
                                        <p:tgtEl>
                                          <p:spTgt spid="7273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2747"/>
                                        </p:tgtEl>
                                        <p:attrNameLst>
                                          <p:attrName>style.visibility</p:attrName>
                                        </p:attrNameLst>
                                      </p:cBhvr>
                                      <p:to>
                                        <p:strVal val="visible"/>
                                      </p:to>
                                    </p:set>
                                    <p:animEffect transition="in" filter="blinds(horizontal)">
                                      <p:cBhvr>
                                        <p:cTn id="25" dur="500"/>
                                        <p:tgtEl>
                                          <p:spTgt spid="7274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1" fill="hold" nodeType="clickEffect">
                                  <p:stCondLst>
                                    <p:cond delay="0"/>
                                  </p:stCondLst>
                                  <p:childTnLst>
                                    <p:set>
                                      <p:cBhvr>
                                        <p:cTn id="29" dur="1" fill="hold">
                                          <p:stCondLst>
                                            <p:cond delay="0"/>
                                          </p:stCondLst>
                                        </p:cTn>
                                        <p:tgtEl>
                                          <p:spTgt spid="72735"/>
                                        </p:tgtEl>
                                        <p:attrNameLst>
                                          <p:attrName>style.visibility</p:attrName>
                                        </p:attrNameLst>
                                      </p:cBhvr>
                                      <p:to>
                                        <p:strVal val="visible"/>
                                      </p:to>
                                    </p:set>
                                    <p:animEffect transition="in" filter="wipe(up)">
                                      <p:cBhvr>
                                        <p:cTn id="30" dur="500"/>
                                        <p:tgtEl>
                                          <p:spTgt spid="7273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72741"/>
                                        </p:tgtEl>
                                        <p:attrNameLst>
                                          <p:attrName>style.visibility</p:attrName>
                                        </p:attrNameLst>
                                      </p:cBhvr>
                                      <p:to>
                                        <p:strVal val="visible"/>
                                      </p:to>
                                    </p:set>
                                    <p:animEffect transition="in" filter="blinds(horizontal)">
                                      <p:cBhvr>
                                        <p:cTn id="35" dur="500"/>
                                        <p:tgtEl>
                                          <p:spTgt spid="72741"/>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72749"/>
                                        </p:tgtEl>
                                        <p:attrNameLst>
                                          <p:attrName>style.visibility</p:attrName>
                                        </p:attrNameLst>
                                      </p:cBhvr>
                                      <p:to>
                                        <p:strVal val="visible"/>
                                      </p:to>
                                    </p:set>
                                    <p:animEffect transition="in" filter="blinds(horizontal)">
                                      <p:cBhvr>
                                        <p:cTn id="40" dur="500"/>
                                        <p:tgtEl>
                                          <p:spTgt spid="7274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2" fill="hold" nodeType="clickEffect">
                                  <p:stCondLst>
                                    <p:cond delay="0"/>
                                  </p:stCondLst>
                                  <p:childTnLst>
                                    <p:set>
                                      <p:cBhvr>
                                        <p:cTn id="44" dur="1" fill="hold">
                                          <p:stCondLst>
                                            <p:cond delay="0"/>
                                          </p:stCondLst>
                                        </p:cTn>
                                        <p:tgtEl>
                                          <p:spTgt spid="72708"/>
                                        </p:tgtEl>
                                        <p:attrNameLst>
                                          <p:attrName>style.visibility</p:attrName>
                                        </p:attrNameLst>
                                      </p:cBhvr>
                                      <p:to>
                                        <p:strVal val="visible"/>
                                      </p:to>
                                    </p:set>
                                    <p:animEffect transition="in" filter="wipe(right)">
                                      <p:cBhvr>
                                        <p:cTn id="45" dur="500"/>
                                        <p:tgtEl>
                                          <p:spTgt spid="7270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72745"/>
                                        </p:tgtEl>
                                        <p:attrNameLst>
                                          <p:attrName>style.visibility</p:attrName>
                                        </p:attrNameLst>
                                      </p:cBhvr>
                                      <p:to>
                                        <p:strVal val="visible"/>
                                      </p:to>
                                    </p:set>
                                    <p:animEffect transition="in" filter="wipe(left)">
                                      <p:cBhvr>
                                        <p:cTn id="50" dur="500"/>
                                        <p:tgtEl>
                                          <p:spTgt spid="72745"/>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3" presetClass="entr" presetSubtype="10" fill="hold" nodeType="clickEffect">
                                  <p:stCondLst>
                                    <p:cond delay="0"/>
                                  </p:stCondLst>
                                  <p:childTnLst>
                                    <p:set>
                                      <p:cBhvr>
                                        <p:cTn id="54" dur="1" fill="hold">
                                          <p:stCondLst>
                                            <p:cond delay="0"/>
                                          </p:stCondLst>
                                        </p:cTn>
                                        <p:tgtEl>
                                          <p:spTgt spid="72751"/>
                                        </p:tgtEl>
                                        <p:attrNameLst>
                                          <p:attrName>style.visibility</p:attrName>
                                        </p:attrNameLst>
                                      </p:cBhvr>
                                      <p:to>
                                        <p:strVal val="visible"/>
                                      </p:to>
                                    </p:set>
                                    <p:animEffect transition="in" filter="blinds(horizontal)">
                                      <p:cBhvr>
                                        <p:cTn id="55" dur="500"/>
                                        <p:tgtEl>
                                          <p:spTgt spid="72751"/>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1" fill="hold" nodeType="clickEffect">
                                  <p:stCondLst>
                                    <p:cond delay="0"/>
                                  </p:stCondLst>
                                  <p:childTnLst>
                                    <p:set>
                                      <p:cBhvr>
                                        <p:cTn id="59" dur="1" fill="hold">
                                          <p:stCondLst>
                                            <p:cond delay="0"/>
                                          </p:stCondLst>
                                        </p:cTn>
                                        <p:tgtEl>
                                          <p:spTgt spid="72728"/>
                                        </p:tgtEl>
                                        <p:attrNameLst>
                                          <p:attrName>style.visibility</p:attrName>
                                        </p:attrNameLst>
                                      </p:cBhvr>
                                      <p:to>
                                        <p:strVal val="visible"/>
                                      </p:to>
                                    </p:set>
                                    <p:animEffect transition="in" filter="wipe(up)">
                                      <p:cBhvr>
                                        <p:cTn id="60" dur="500"/>
                                        <p:tgtEl>
                                          <p:spTgt spid="72728"/>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1" presetClass="entr" presetSubtype="0" fill="hold" nodeType="clickEffect">
                                  <p:stCondLst>
                                    <p:cond delay="0"/>
                                  </p:stCondLst>
                                  <p:childTnLst>
                                    <p:set>
                                      <p:cBhvr>
                                        <p:cTn id="64" dur="1" fill="hold">
                                          <p:stCondLst>
                                            <p:cond delay="0"/>
                                          </p:stCondLst>
                                        </p:cTn>
                                        <p:tgtEl>
                                          <p:spTgt spid="72742"/>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3" presetClass="entr" presetSubtype="10" fill="hold" grpId="0" nodeType="clickEffect">
                                  <p:stCondLst>
                                    <p:cond delay="0"/>
                                  </p:stCondLst>
                                  <p:childTnLst>
                                    <p:set>
                                      <p:cBhvr>
                                        <p:cTn id="68" dur="1" fill="hold">
                                          <p:stCondLst>
                                            <p:cond delay="0"/>
                                          </p:stCondLst>
                                        </p:cTn>
                                        <p:tgtEl>
                                          <p:spTgt spid="72720"/>
                                        </p:tgtEl>
                                        <p:attrNameLst>
                                          <p:attrName>style.visibility</p:attrName>
                                        </p:attrNameLst>
                                      </p:cBhvr>
                                      <p:to>
                                        <p:strVal val="visible"/>
                                      </p:to>
                                    </p:set>
                                    <p:animEffect transition="in" filter="blinds(horizontal)">
                                      <p:cBhvr>
                                        <p:cTn id="69" dur="500"/>
                                        <p:tgtEl>
                                          <p:spTgt spid="72720"/>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22" presetClass="entr" presetSubtype="8" fill="hold" nodeType="clickEffect">
                                  <p:stCondLst>
                                    <p:cond delay="0"/>
                                  </p:stCondLst>
                                  <p:childTnLst>
                                    <p:set>
                                      <p:cBhvr>
                                        <p:cTn id="73" dur="1" fill="hold">
                                          <p:stCondLst>
                                            <p:cond delay="0"/>
                                          </p:stCondLst>
                                        </p:cTn>
                                        <p:tgtEl>
                                          <p:spTgt spid="72710"/>
                                        </p:tgtEl>
                                        <p:attrNameLst>
                                          <p:attrName>style.visibility</p:attrName>
                                        </p:attrNameLst>
                                      </p:cBhvr>
                                      <p:to>
                                        <p:strVal val="visible"/>
                                      </p:to>
                                    </p:set>
                                    <p:animEffect transition="in" filter="wipe(left)">
                                      <p:cBhvr>
                                        <p:cTn id="74" dur="500"/>
                                        <p:tgtEl>
                                          <p:spTgt spid="72710"/>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4" fill="hold" nodeType="clickEffect">
                                  <p:stCondLst>
                                    <p:cond delay="0"/>
                                  </p:stCondLst>
                                  <p:childTnLst>
                                    <p:set>
                                      <p:cBhvr>
                                        <p:cTn id="78" dur="1" fill="hold">
                                          <p:stCondLst>
                                            <p:cond delay="0"/>
                                          </p:stCondLst>
                                        </p:cTn>
                                        <p:tgtEl>
                                          <p:spTgt spid="72736"/>
                                        </p:tgtEl>
                                        <p:attrNameLst>
                                          <p:attrName>style.visibility</p:attrName>
                                        </p:attrNameLst>
                                      </p:cBhvr>
                                      <p:to>
                                        <p:strVal val="visible"/>
                                      </p:to>
                                    </p:set>
                                    <p:animEffect transition="in" filter="wipe(down)">
                                      <p:cBhvr>
                                        <p:cTn id="79" dur="500"/>
                                        <p:tgtEl>
                                          <p:spTgt spid="72736"/>
                                        </p:tgtEl>
                                      </p:cBhvr>
                                    </p:animEffect>
                                  </p:childTnLst>
                                </p:cTn>
                              </p:par>
                            </p:childTnLst>
                          </p:cTn>
                        </p:par>
                      </p:childTnLst>
                    </p:cTn>
                  </p:par>
                  <p:par>
                    <p:cTn id="80" fill="hold" nodeType="clickPar">
                      <p:stCondLst>
                        <p:cond delay="indefinite"/>
                      </p:stCondLst>
                      <p:childTnLst>
                        <p:par>
                          <p:cTn id="81" fill="hold" nodeType="withGroup">
                            <p:stCondLst>
                              <p:cond delay="0"/>
                            </p:stCondLst>
                            <p:childTnLst>
                              <p:par>
                                <p:cTn id="82" presetID="1" presetClass="entr" presetSubtype="0" fill="hold" nodeType="clickEffect">
                                  <p:stCondLst>
                                    <p:cond delay="0"/>
                                  </p:stCondLst>
                                  <p:childTnLst>
                                    <p:set>
                                      <p:cBhvr>
                                        <p:cTn id="83" dur="1" fill="hold">
                                          <p:stCondLst>
                                            <p:cond delay="0"/>
                                          </p:stCondLst>
                                        </p:cTn>
                                        <p:tgtEl>
                                          <p:spTgt spid="72738"/>
                                        </p:tgtEl>
                                        <p:attrNameLst>
                                          <p:attrName>style.visibility</p:attrName>
                                        </p:attrNameLst>
                                      </p:cBhvr>
                                      <p:to>
                                        <p:strVal val="visible"/>
                                      </p:to>
                                    </p:set>
                                  </p:childTnLst>
                                </p:cTn>
                              </p:par>
                            </p:childTnLst>
                          </p:cTn>
                        </p:par>
                      </p:childTnLst>
                    </p:cTn>
                  </p:par>
                  <p:par>
                    <p:cTn id="84" fill="hold" nodeType="clickPar">
                      <p:stCondLst>
                        <p:cond delay="indefinite"/>
                      </p:stCondLst>
                      <p:childTnLst>
                        <p:par>
                          <p:cTn id="85" fill="hold" nodeType="withGroup">
                            <p:stCondLst>
                              <p:cond delay="0"/>
                            </p:stCondLst>
                            <p:childTnLst>
                              <p:par>
                                <p:cTn id="86" presetID="1" presetClass="entr" presetSubtype="0" fill="hold" nodeType="clickEffect">
                                  <p:stCondLst>
                                    <p:cond delay="0"/>
                                  </p:stCondLst>
                                  <p:childTnLst>
                                    <p:set>
                                      <p:cBhvr>
                                        <p:cTn id="87" dur="1" fill="hold">
                                          <p:stCondLst>
                                            <p:cond delay="0"/>
                                          </p:stCondLst>
                                        </p:cTn>
                                        <p:tgtEl>
                                          <p:spTgt spid="72748"/>
                                        </p:tgtEl>
                                        <p:attrNameLst>
                                          <p:attrName>style.visibility</p:attrName>
                                        </p:attrNameLst>
                                      </p:cBhvr>
                                      <p:to>
                                        <p:strVal val="visible"/>
                                      </p:to>
                                    </p:se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1" fill="hold" nodeType="clickEffect">
                                  <p:stCondLst>
                                    <p:cond delay="0"/>
                                  </p:stCondLst>
                                  <p:childTnLst>
                                    <p:set>
                                      <p:cBhvr>
                                        <p:cTn id="91" dur="1" fill="hold">
                                          <p:stCondLst>
                                            <p:cond delay="0"/>
                                          </p:stCondLst>
                                        </p:cTn>
                                        <p:tgtEl>
                                          <p:spTgt spid="72737"/>
                                        </p:tgtEl>
                                        <p:attrNameLst>
                                          <p:attrName>style.visibility</p:attrName>
                                        </p:attrNameLst>
                                      </p:cBhvr>
                                      <p:to>
                                        <p:strVal val="visible"/>
                                      </p:to>
                                    </p:set>
                                    <p:animEffect transition="in" filter="wipe(up)">
                                      <p:cBhvr>
                                        <p:cTn id="92" dur="500"/>
                                        <p:tgtEl>
                                          <p:spTgt spid="72737"/>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3" presetClass="entr" presetSubtype="10" fill="hold" nodeType="clickEffect">
                                  <p:stCondLst>
                                    <p:cond delay="0"/>
                                  </p:stCondLst>
                                  <p:childTnLst>
                                    <p:set>
                                      <p:cBhvr>
                                        <p:cTn id="96" dur="1" fill="hold">
                                          <p:stCondLst>
                                            <p:cond delay="0"/>
                                          </p:stCondLst>
                                        </p:cTn>
                                        <p:tgtEl>
                                          <p:spTgt spid="72740"/>
                                        </p:tgtEl>
                                        <p:attrNameLst>
                                          <p:attrName>style.visibility</p:attrName>
                                        </p:attrNameLst>
                                      </p:cBhvr>
                                      <p:to>
                                        <p:strVal val="visible"/>
                                      </p:to>
                                    </p:set>
                                    <p:animEffect transition="in" filter="blinds(horizontal)">
                                      <p:cBhvr>
                                        <p:cTn id="97" dur="500"/>
                                        <p:tgtEl>
                                          <p:spTgt spid="72740"/>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3" presetClass="entr" presetSubtype="10" fill="hold" nodeType="clickEffect">
                                  <p:stCondLst>
                                    <p:cond delay="0"/>
                                  </p:stCondLst>
                                  <p:childTnLst>
                                    <p:set>
                                      <p:cBhvr>
                                        <p:cTn id="101" dur="1" fill="hold">
                                          <p:stCondLst>
                                            <p:cond delay="0"/>
                                          </p:stCondLst>
                                        </p:cTn>
                                        <p:tgtEl>
                                          <p:spTgt spid="72750"/>
                                        </p:tgtEl>
                                        <p:attrNameLst>
                                          <p:attrName>style.visibility</p:attrName>
                                        </p:attrNameLst>
                                      </p:cBhvr>
                                      <p:to>
                                        <p:strVal val="visible"/>
                                      </p:to>
                                    </p:set>
                                    <p:animEffect transition="in" filter="blinds(horizontal)">
                                      <p:cBhvr>
                                        <p:cTn id="102" dur="500"/>
                                        <p:tgtEl>
                                          <p:spTgt spid="72750"/>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2" fill="hold" nodeType="clickEffect">
                                  <p:stCondLst>
                                    <p:cond delay="0"/>
                                  </p:stCondLst>
                                  <p:childTnLst>
                                    <p:set>
                                      <p:cBhvr>
                                        <p:cTn id="106" dur="1" fill="hold">
                                          <p:stCondLst>
                                            <p:cond delay="0"/>
                                          </p:stCondLst>
                                        </p:cTn>
                                        <p:tgtEl>
                                          <p:spTgt spid="72711"/>
                                        </p:tgtEl>
                                        <p:attrNameLst>
                                          <p:attrName>style.visibility</p:attrName>
                                        </p:attrNameLst>
                                      </p:cBhvr>
                                      <p:to>
                                        <p:strVal val="visible"/>
                                      </p:to>
                                    </p:set>
                                    <p:animEffect transition="in" filter="wipe(right)">
                                      <p:cBhvr>
                                        <p:cTn id="107" dur="500"/>
                                        <p:tgtEl>
                                          <p:spTgt spid="72711"/>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8" fill="hold" nodeType="clickEffect">
                                  <p:stCondLst>
                                    <p:cond delay="0"/>
                                  </p:stCondLst>
                                  <p:childTnLst>
                                    <p:set>
                                      <p:cBhvr>
                                        <p:cTn id="111" dur="1" fill="hold">
                                          <p:stCondLst>
                                            <p:cond delay="0"/>
                                          </p:stCondLst>
                                        </p:cTn>
                                        <p:tgtEl>
                                          <p:spTgt spid="72753"/>
                                        </p:tgtEl>
                                        <p:attrNameLst>
                                          <p:attrName>style.visibility</p:attrName>
                                        </p:attrNameLst>
                                      </p:cBhvr>
                                      <p:to>
                                        <p:strVal val="visible"/>
                                      </p:to>
                                    </p:set>
                                    <p:animEffect transition="in" filter="wipe(left)">
                                      <p:cBhvr>
                                        <p:cTn id="112" dur="500"/>
                                        <p:tgtEl>
                                          <p:spTgt spid="72753"/>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3" presetClass="entr" presetSubtype="10" fill="hold" nodeType="clickEffect">
                                  <p:stCondLst>
                                    <p:cond delay="0"/>
                                  </p:stCondLst>
                                  <p:childTnLst>
                                    <p:set>
                                      <p:cBhvr>
                                        <p:cTn id="116" dur="1" fill="hold">
                                          <p:stCondLst>
                                            <p:cond delay="0"/>
                                          </p:stCondLst>
                                        </p:cTn>
                                        <p:tgtEl>
                                          <p:spTgt spid="72754"/>
                                        </p:tgtEl>
                                        <p:attrNameLst>
                                          <p:attrName>style.visibility</p:attrName>
                                        </p:attrNameLst>
                                      </p:cBhvr>
                                      <p:to>
                                        <p:strVal val="visible"/>
                                      </p:to>
                                    </p:set>
                                    <p:animEffect transition="in" filter="blinds(horizontal)">
                                      <p:cBhvr>
                                        <p:cTn id="117" dur="500"/>
                                        <p:tgtEl>
                                          <p:spTgt spid="72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20" grpId="0"/>
      <p:bldP spid="72755" grpId="0"/>
    </p:bldLst>
  </p:timing>
  <p:extLst mod="1"/>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文本占位符 55298"/>
          <p:cNvSpPr>
            <a:spLocks noGrp="1" noChangeArrowheads="1"/>
          </p:cNvSpPr>
          <p:nvPr>
            <p:ph idx="1"/>
          </p:nvPr>
        </p:nvSpPr>
        <p:spPr>
          <a:xfrm>
            <a:off x="104461" y="762000"/>
            <a:ext cx="3810000" cy="5943600"/>
          </a:xfrm>
        </p:spPr>
        <p:txBody>
          <a:bodyPr>
            <a:normAutofit/>
          </a:bodyPr>
          <a:lstStyle/>
          <a:p>
            <a:pPr>
              <a:lnSpc>
                <a:spcPct val="80000"/>
              </a:lnSpc>
            </a:pPr>
            <a:r>
              <a:rPr lang="zh-CN" altLang="en-US" sz="2600" b="1" dirty="0" smtClean="0"/>
              <a:t>只要再热压力选得不太低，再热循环的平均吸热温度较原有基本循环要高，平均放热温度不变，循环热效率高于原有基本循环（提高</a:t>
            </a:r>
            <a:r>
              <a:rPr lang="en-US" altLang="zh-CN" sz="2600" b="1" dirty="0" smtClean="0">
                <a:latin typeface="Times New Roman" panose="02020603050405020304" pitchFamily="18" charset="0"/>
                <a:cs typeface="Times New Roman" panose="02020603050405020304" pitchFamily="18" charset="0"/>
              </a:rPr>
              <a:t>2%~4%</a:t>
            </a:r>
            <a:r>
              <a:rPr lang="zh-CN" altLang="en-US" sz="2600" b="1" dirty="0" smtClean="0"/>
              <a:t>）</a:t>
            </a:r>
          </a:p>
          <a:p>
            <a:pPr>
              <a:lnSpc>
                <a:spcPct val="80000"/>
              </a:lnSpc>
            </a:pPr>
            <a:r>
              <a:rPr lang="zh-CN" altLang="en-US" sz="2600" b="1" dirty="0" smtClean="0"/>
              <a:t>再热压力选得过低会降低平均吸热温度，使得循环热效率较原有基本循环低。</a:t>
            </a:r>
          </a:p>
          <a:p>
            <a:pPr>
              <a:lnSpc>
                <a:spcPct val="80000"/>
              </a:lnSpc>
            </a:pPr>
            <a:r>
              <a:rPr lang="zh-CN" altLang="en-US" sz="2600" b="1" dirty="0" smtClean="0"/>
              <a:t>但如果再热压力选择过高，对乏汽干度的改善较少</a:t>
            </a:r>
          </a:p>
        </p:txBody>
      </p:sp>
      <p:sp>
        <p:nvSpPr>
          <p:cNvPr id="60418" name="直接连接符 55303"/>
          <p:cNvSpPr>
            <a:spLocks noChangeShapeType="1"/>
          </p:cNvSpPr>
          <p:nvPr/>
        </p:nvSpPr>
        <p:spPr bwMode="auto">
          <a:xfrm flipH="1">
            <a:off x="4497388" y="4343400"/>
            <a:ext cx="762000" cy="0"/>
          </a:xfrm>
          <a:prstGeom prst="line">
            <a:avLst/>
          </a:prstGeom>
          <a:noFill/>
          <a:ln w="9525">
            <a:solidFill>
              <a:srgbClr val="0033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19" name="任意多边形 55304"/>
          <p:cNvSpPr>
            <a:spLocks noChangeArrowheads="1"/>
          </p:cNvSpPr>
          <p:nvPr/>
        </p:nvSpPr>
        <p:spPr bwMode="auto">
          <a:xfrm>
            <a:off x="7392988" y="4343400"/>
            <a:ext cx="304800" cy="76200"/>
          </a:xfrm>
          <a:custGeom>
            <a:avLst/>
            <a:gdLst>
              <a:gd name="T0" fmla="*/ 0 w 96"/>
              <a:gd name="T1" fmla="*/ 0 h 1"/>
              <a:gd name="T2" fmla="*/ 96 w 96"/>
              <a:gd name="T3" fmla="*/ 0 h 1"/>
            </a:gdLst>
            <a:ahLst/>
            <a:cxnLst>
              <a:cxn ang="0">
                <a:pos x="T0" y="T1"/>
              </a:cxn>
              <a:cxn ang="0">
                <a:pos x="T2" y="T3"/>
              </a:cxn>
            </a:cxnLst>
            <a:rect l="0" t="0" r="r" b="b"/>
            <a:pathLst>
              <a:path w="96" h="1">
                <a:moveTo>
                  <a:pt x="0" y="0"/>
                </a:moveTo>
                <a:cubicBezTo>
                  <a:pt x="0" y="0"/>
                  <a:pt x="48" y="0"/>
                  <a:pt x="96" y="0"/>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0" name="任意多边形 55305"/>
          <p:cNvSpPr>
            <a:spLocks noChangeArrowheads="1"/>
          </p:cNvSpPr>
          <p:nvPr/>
        </p:nvSpPr>
        <p:spPr bwMode="auto">
          <a:xfrm>
            <a:off x="4954588" y="2476500"/>
            <a:ext cx="3581400" cy="2095500"/>
          </a:xfrm>
          <a:custGeom>
            <a:avLst/>
            <a:gdLst>
              <a:gd name="T0" fmla="*/ 0 w 2256"/>
              <a:gd name="T1" fmla="*/ 1320 h 1320"/>
              <a:gd name="T2" fmla="*/ 912 w 2256"/>
              <a:gd name="T3" fmla="*/ 24 h 1320"/>
              <a:gd name="T4" fmla="*/ 2256 w 2256"/>
              <a:gd name="T5" fmla="*/ 1176 h 1320"/>
            </a:gdLst>
            <a:ahLst/>
            <a:cxnLst>
              <a:cxn ang="0">
                <a:pos x="T0" y="T1"/>
              </a:cxn>
              <a:cxn ang="0">
                <a:pos x="T2" y="T3"/>
              </a:cxn>
              <a:cxn ang="0">
                <a:pos x="T4" y="T5"/>
              </a:cxn>
            </a:cxnLst>
            <a:rect l="0" t="0" r="r" b="b"/>
            <a:pathLst>
              <a:path w="2256" h="1320">
                <a:moveTo>
                  <a:pt x="0" y="1320"/>
                </a:moveTo>
                <a:cubicBezTo>
                  <a:pt x="268" y="684"/>
                  <a:pt x="536" y="48"/>
                  <a:pt x="912" y="24"/>
                </a:cubicBezTo>
                <a:cubicBezTo>
                  <a:pt x="1288" y="0"/>
                  <a:pt x="1772" y="588"/>
                  <a:pt x="2256" y="1176"/>
                </a:cubicBezTo>
              </a:path>
            </a:pathLst>
          </a:custGeom>
          <a:noFill/>
          <a:ln w="28575">
            <a:solidFill>
              <a:srgbClr val="0033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1" name="直接连接符 55306"/>
          <p:cNvSpPr>
            <a:spLocks noChangeShapeType="1"/>
          </p:cNvSpPr>
          <p:nvPr/>
        </p:nvSpPr>
        <p:spPr bwMode="auto">
          <a:xfrm>
            <a:off x="7392988" y="3810000"/>
            <a:ext cx="685800" cy="0"/>
          </a:xfrm>
          <a:prstGeom prst="line">
            <a:avLst/>
          </a:prstGeom>
          <a:noFill/>
          <a:ln w="38100">
            <a:solidFill>
              <a:srgbClr val="00CC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2" name="任意多边形 55307"/>
          <p:cNvSpPr>
            <a:spLocks noChangeArrowheads="1"/>
          </p:cNvSpPr>
          <p:nvPr/>
        </p:nvSpPr>
        <p:spPr bwMode="auto">
          <a:xfrm>
            <a:off x="7656513" y="4341813"/>
            <a:ext cx="727075" cy="77787"/>
          </a:xfrm>
          <a:custGeom>
            <a:avLst/>
            <a:gdLst>
              <a:gd name="T0" fmla="*/ 0 w 96"/>
              <a:gd name="T1" fmla="*/ 0 h 1"/>
              <a:gd name="T2" fmla="*/ 96 w 96"/>
              <a:gd name="T3" fmla="*/ 0 h 1"/>
            </a:gdLst>
            <a:ahLst/>
            <a:cxnLst>
              <a:cxn ang="0">
                <a:pos x="T0" y="T1"/>
              </a:cxn>
              <a:cxn ang="0">
                <a:pos x="T2" y="T3"/>
              </a:cxn>
            </a:cxnLst>
            <a:rect l="0" t="0" r="r" b="b"/>
            <a:pathLst>
              <a:path w="96" h="1">
                <a:moveTo>
                  <a:pt x="0" y="0"/>
                </a:moveTo>
                <a:cubicBezTo>
                  <a:pt x="0" y="0"/>
                  <a:pt x="48" y="0"/>
                  <a:pt x="96" y="0"/>
                </a:cubicBezTo>
              </a:path>
            </a:pathLst>
          </a:custGeom>
          <a:noFill/>
          <a:ln w="38100">
            <a:solidFill>
              <a:srgbClr val="00CC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3" name="任意多边形 55308"/>
          <p:cNvSpPr>
            <a:spLocks noChangeArrowheads="1"/>
          </p:cNvSpPr>
          <p:nvPr/>
        </p:nvSpPr>
        <p:spPr bwMode="auto">
          <a:xfrm>
            <a:off x="5106988" y="2895600"/>
            <a:ext cx="685800" cy="533400"/>
          </a:xfrm>
          <a:custGeom>
            <a:avLst/>
            <a:gdLst>
              <a:gd name="T0" fmla="*/ 0 w 624"/>
              <a:gd name="T1" fmla="*/ 480 h 480"/>
              <a:gd name="T2" fmla="*/ 624 w 624"/>
              <a:gd name="T3" fmla="*/ 0 h 480"/>
            </a:gdLst>
            <a:ahLst/>
            <a:cxnLst>
              <a:cxn ang="0">
                <a:pos x="T0" y="T1"/>
              </a:cxn>
              <a:cxn ang="0">
                <a:pos x="T2" y="T3"/>
              </a:cxn>
            </a:cxnLst>
            <a:rect l="0" t="0" r="r" b="b"/>
            <a:pathLst>
              <a:path w="624" h="480">
                <a:moveTo>
                  <a:pt x="0" y="480"/>
                </a:moveTo>
                <a:cubicBezTo>
                  <a:pt x="0" y="480"/>
                  <a:pt x="312" y="240"/>
                  <a:pt x="624"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24" name="直接连接符 55309"/>
          <p:cNvSpPr>
            <a:spLocks noChangeShapeType="1"/>
          </p:cNvSpPr>
          <p:nvPr/>
        </p:nvSpPr>
        <p:spPr bwMode="auto">
          <a:xfrm flipV="1">
            <a:off x="4497388" y="5441950"/>
            <a:ext cx="4648200" cy="0"/>
          </a:xfrm>
          <a:prstGeom prst="line">
            <a:avLst/>
          </a:prstGeom>
          <a:noFill/>
          <a:ln w="28575">
            <a:solidFill>
              <a:srgbClr val="0033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25" name="直接连接符 55310"/>
          <p:cNvSpPr>
            <a:spLocks noChangeShapeType="1"/>
          </p:cNvSpPr>
          <p:nvPr/>
        </p:nvSpPr>
        <p:spPr bwMode="auto">
          <a:xfrm flipV="1">
            <a:off x="4497388" y="922338"/>
            <a:ext cx="0" cy="4519612"/>
          </a:xfrm>
          <a:prstGeom prst="line">
            <a:avLst/>
          </a:prstGeom>
          <a:noFill/>
          <a:ln w="28575">
            <a:solidFill>
              <a:srgbClr val="0033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26" name="直接连接符 55311"/>
          <p:cNvSpPr>
            <a:spLocks noChangeShapeType="1"/>
          </p:cNvSpPr>
          <p:nvPr/>
        </p:nvSpPr>
        <p:spPr bwMode="auto">
          <a:xfrm>
            <a:off x="4497388" y="1981200"/>
            <a:ext cx="4114800" cy="0"/>
          </a:xfrm>
          <a:prstGeom prst="line">
            <a:avLst/>
          </a:prstGeom>
          <a:noFill/>
          <a:ln w="12700">
            <a:solidFill>
              <a:srgbClr val="2D5B89"/>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7" name="直接连接符 55312"/>
          <p:cNvSpPr>
            <a:spLocks noChangeShapeType="1"/>
          </p:cNvSpPr>
          <p:nvPr/>
        </p:nvSpPr>
        <p:spPr bwMode="auto">
          <a:xfrm flipV="1">
            <a:off x="5127625" y="4343400"/>
            <a:ext cx="2265363"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28" name="直接连接符 55313"/>
          <p:cNvSpPr>
            <a:spLocks noChangeShapeType="1"/>
          </p:cNvSpPr>
          <p:nvPr/>
        </p:nvSpPr>
        <p:spPr bwMode="auto">
          <a:xfrm>
            <a:off x="7392988" y="1981200"/>
            <a:ext cx="1587" cy="2357438"/>
          </a:xfrm>
          <a:prstGeom prst="line">
            <a:avLst/>
          </a:prstGeom>
          <a:noFill/>
          <a:ln w="38100">
            <a:solidFill>
              <a:srgbClr val="FF3300"/>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29" name="直接连接符 55314"/>
          <p:cNvSpPr>
            <a:spLocks noChangeShapeType="1"/>
          </p:cNvSpPr>
          <p:nvPr/>
        </p:nvSpPr>
        <p:spPr bwMode="auto">
          <a:xfrm flipV="1">
            <a:off x="5086350" y="3429000"/>
            <a:ext cx="0" cy="91440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30" name="文本框 55315"/>
          <p:cNvSpPr txBox="1">
            <a:spLocks noChangeArrowheads="1"/>
          </p:cNvSpPr>
          <p:nvPr/>
        </p:nvSpPr>
        <p:spPr bwMode="auto">
          <a:xfrm>
            <a:off x="7240588" y="1547813"/>
            <a:ext cx="381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660066"/>
                </a:solidFill>
                <a:latin typeface="华文新魏" panose="02010800040101010101" pitchFamily="2" charset="-122"/>
                <a:ea typeface="华文新魏" panose="02010800040101010101" pitchFamily="2" charset="-122"/>
              </a:rPr>
              <a:t>1</a:t>
            </a:r>
          </a:p>
        </p:txBody>
      </p:sp>
      <p:sp>
        <p:nvSpPr>
          <p:cNvPr id="60431" name="矩形 55316"/>
          <p:cNvSpPr>
            <a:spLocks noChangeArrowheads="1"/>
          </p:cNvSpPr>
          <p:nvPr/>
        </p:nvSpPr>
        <p:spPr bwMode="auto">
          <a:xfrm>
            <a:off x="7118350" y="3683000"/>
            <a:ext cx="328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CC"/>
                </a:solidFill>
                <a:latin typeface="华文新魏" panose="02010800040101010101" pitchFamily="2" charset="-122"/>
                <a:ea typeface="华文新魏" panose="02010800040101010101" pitchFamily="2" charset="-122"/>
              </a:rPr>
              <a:t>6</a:t>
            </a:r>
          </a:p>
        </p:txBody>
      </p:sp>
      <p:sp>
        <p:nvSpPr>
          <p:cNvPr id="60432" name="矩形 55317"/>
          <p:cNvSpPr>
            <a:spLocks noChangeArrowheads="1"/>
          </p:cNvSpPr>
          <p:nvPr/>
        </p:nvSpPr>
        <p:spPr bwMode="auto">
          <a:xfrm>
            <a:off x="4802188" y="3176588"/>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4</a:t>
            </a:r>
          </a:p>
        </p:txBody>
      </p:sp>
      <p:sp>
        <p:nvSpPr>
          <p:cNvPr id="60433" name="矩形 55318"/>
          <p:cNvSpPr>
            <a:spLocks noChangeArrowheads="1"/>
          </p:cNvSpPr>
          <p:nvPr/>
        </p:nvSpPr>
        <p:spPr bwMode="auto">
          <a:xfrm>
            <a:off x="4819650" y="4002088"/>
            <a:ext cx="3286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3</a:t>
            </a:r>
          </a:p>
        </p:txBody>
      </p:sp>
      <p:sp>
        <p:nvSpPr>
          <p:cNvPr id="60434" name="矩形 55319"/>
          <p:cNvSpPr>
            <a:spLocks noChangeArrowheads="1"/>
          </p:cNvSpPr>
          <p:nvPr/>
        </p:nvSpPr>
        <p:spPr bwMode="auto">
          <a:xfrm>
            <a:off x="7164388" y="4443413"/>
            <a:ext cx="3286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660066"/>
                </a:solidFill>
                <a:latin typeface="华文新魏" panose="02010800040101010101" pitchFamily="2" charset="-122"/>
                <a:ea typeface="华文新魏" panose="02010800040101010101" pitchFamily="2" charset="-122"/>
              </a:rPr>
              <a:t>2</a:t>
            </a:r>
          </a:p>
        </p:txBody>
      </p:sp>
      <p:sp>
        <p:nvSpPr>
          <p:cNvPr id="60435" name="矩形 55320"/>
          <p:cNvSpPr>
            <a:spLocks noChangeArrowheads="1"/>
          </p:cNvSpPr>
          <p:nvPr/>
        </p:nvSpPr>
        <p:spPr bwMode="auto">
          <a:xfrm>
            <a:off x="8764588" y="5434013"/>
            <a:ext cx="27146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s</a:t>
            </a:r>
          </a:p>
        </p:txBody>
      </p:sp>
      <p:sp>
        <p:nvSpPr>
          <p:cNvPr id="60436" name="矩形 55321"/>
          <p:cNvSpPr>
            <a:spLocks noChangeArrowheads="1"/>
          </p:cNvSpPr>
          <p:nvPr/>
        </p:nvSpPr>
        <p:spPr bwMode="auto">
          <a:xfrm>
            <a:off x="4040188" y="862013"/>
            <a:ext cx="3365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p>
        </p:txBody>
      </p:sp>
      <p:sp>
        <p:nvSpPr>
          <p:cNvPr id="60437" name="椭圆 55322"/>
          <p:cNvSpPr>
            <a:spLocks noChangeArrowheads="1"/>
          </p:cNvSpPr>
          <p:nvPr/>
        </p:nvSpPr>
        <p:spPr bwMode="auto">
          <a:xfrm>
            <a:off x="7327900" y="4286250"/>
            <a:ext cx="115888" cy="115888"/>
          </a:xfrm>
          <a:prstGeom prst="ellipse">
            <a:avLst/>
          </a:prstGeom>
          <a:solidFill>
            <a:schemeClr val="bg1"/>
          </a:solidFill>
          <a:ln w="9525">
            <a:solidFill>
              <a:srgbClr val="FF3300"/>
            </a:solidFill>
            <a:round/>
            <a:headEnd/>
            <a:tailEnd/>
          </a:ln>
        </p:spPr>
        <p:txBody>
          <a:bodyPr/>
          <a:lstStyle/>
          <a:p>
            <a:endParaRPr lang="zh-CN" altLang="en-US"/>
          </a:p>
        </p:txBody>
      </p:sp>
      <p:sp>
        <p:nvSpPr>
          <p:cNvPr id="60438" name="椭圆 55323"/>
          <p:cNvSpPr>
            <a:spLocks noChangeArrowheads="1"/>
          </p:cNvSpPr>
          <p:nvPr/>
        </p:nvSpPr>
        <p:spPr bwMode="auto">
          <a:xfrm>
            <a:off x="5030788" y="4283075"/>
            <a:ext cx="115887" cy="115888"/>
          </a:xfrm>
          <a:prstGeom prst="ellipse">
            <a:avLst/>
          </a:prstGeom>
          <a:solidFill>
            <a:schemeClr val="bg1"/>
          </a:solidFill>
          <a:ln w="9525">
            <a:solidFill>
              <a:srgbClr val="FF3300"/>
            </a:solidFill>
            <a:round/>
            <a:headEnd/>
            <a:tailEnd/>
          </a:ln>
        </p:spPr>
        <p:txBody>
          <a:bodyPr/>
          <a:lstStyle/>
          <a:p>
            <a:endParaRPr lang="zh-CN" altLang="en-US"/>
          </a:p>
        </p:txBody>
      </p:sp>
      <p:sp>
        <p:nvSpPr>
          <p:cNvPr id="60439" name="直接连接符 55324"/>
          <p:cNvSpPr>
            <a:spLocks noChangeShapeType="1"/>
          </p:cNvSpPr>
          <p:nvPr/>
        </p:nvSpPr>
        <p:spPr bwMode="auto">
          <a:xfrm flipH="1">
            <a:off x="7392988" y="1974850"/>
            <a:ext cx="0" cy="1835150"/>
          </a:xfrm>
          <a:prstGeom prst="line">
            <a:avLst/>
          </a:prstGeom>
          <a:noFill/>
          <a:ln w="38100">
            <a:solidFill>
              <a:srgbClr val="00CC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40" name="椭圆 55325"/>
          <p:cNvSpPr>
            <a:spLocks noChangeArrowheads="1"/>
          </p:cNvSpPr>
          <p:nvPr/>
        </p:nvSpPr>
        <p:spPr bwMode="auto">
          <a:xfrm>
            <a:off x="5029200" y="3352800"/>
            <a:ext cx="115888" cy="115888"/>
          </a:xfrm>
          <a:prstGeom prst="ellipse">
            <a:avLst/>
          </a:prstGeom>
          <a:solidFill>
            <a:schemeClr val="bg1"/>
          </a:solidFill>
          <a:ln w="9525">
            <a:solidFill>
              <a:srgbClr val="FF3300"/>
            </a:solidFill>
            <a:round/>
            <a:headEnd/>
            <a:tailEnd/>
          </a:ln>
        </p:spPr>
        <p:txBody>
          <a:bodyPr/>
          <a:lstStyle/>
          <a:p>
            <a:endParaRPr lang="zh-CN" altLang="en-US"/>
          </a:p>
        </p:txBody>
      </p:sp>
      <p:sp>
        <p:nvSpPr>
          <p:cNvPr id="60441" name="直接连接符 55326"/>
          <p:cNvSpPr>
            <a:spLocks noChangeShapeType="1"/>
          </p:cNvSpPr>
          <p:nvPr/>
        </p:nvSpPr>
        <p:spPr bwMode="auto">
          <a:xfrm>
            <a:off x="5792788" y="2895600"/>
            <a:ext cx="1447800" cy="0"/>
          </a:xfrm>
          <a:prstGeom prst="line">
            <a:avLst/>
          </a:prstGeom>
          <a:noFill/>
          <a:ln w="38100">
            <a:solidFill>
              <a:srgbClr val="0066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2" name="直接连接符 55327"/>
          <p:cNvSpPr>
            <a:spLocks noChangeShapeType="1"/>
          </p:cNvSpPr>
          <p:nvPr/>
        </p:nvSpPr>
        <p:spPr bwMode="auto">
          <a:xfrm>
            <a:off x="5792788" y="2895600"/>
            <a:ext cx="1447800"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43" name="任意多边形 55328"/>
          <p:cNvSpPr>
            <a:spLocks noChangeArrowheads="1"/>
          </p:cNvSpPr>
          <p:nvPr/>
        </p:nvSpPr>
        <p:spPr bwMode="auto">
          <a:xfrm>
            <a:off x="7240588" y="1981200"/>
            <a:ext cx="152400" cy="914400"/>
          </a:xfrm>
          <a:custGeom>
            <a:avLst/>
            <a:gdLst>
              <a:gd name="T0" fmla="*/ 0 w 192"/>
              <a:gd name="T1" fmla="*/ 576 h 576"/>
              <a:gd name="T2" fmla="*/ 192 w 192"/>
              <a:gd name="T3" fmla="*/ 0 h 576"/>
            </a:gdLst>
            <a:ahLst/>
            <a:cxnLst>
              <a:cxn ang="0">
                <a:pos x="T0" y="T1"/>
              </a:cxn>
              <a:cxn ang="0">
                <a:pos x="T2" y="T3"/>
              </a:cxn>
            </a:cxnLst>
            <a:rect l="0" t="0" r="r" b="b"/>
            <a:pathLst>
              <a:path w="192" h="576">
                <a:moveTo>
                  <a:pt x="0" y="576"/>
                </a:moveTo>
                <a:cubicBezTo>
                  <a:pt x="80" y="336"/>
                  <a:pt x="160" y="96"/>
                  <a:pt x="192" y="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4" name="椭圆 55329"/>
          <p:cNvSpPr>
            <a:spLocks noChangeArrowheads="1"/>
          </p:cNvSpPr>
          <p:nvPr/>
        </p:nvSpPr>
        <p:spPr bwMode="auto">
          <a:xfrm>
            <a:off x="7321550" y="1941513"/>
            <a:ext cx="115888" cy="125412"/>
          </a:xfrm>
          <a:prstGeom prst="ellipse">
            <a:avLst/>
          </a:prstGeom>
          <a:solidFill>
            <a:schemeClr val="bg1"/>
          </a:solidFill>
          <a:ln w="9525">
            <a:solidFill>
              <a:srgbClr val="FF3300"/>
            </a:solidFill>
            <a:round/>
            <a:headEnd/>
            <a:tailEnd/>
          </a:ln>
        </p:spPr>
        <p:txBody>
          <a:bodyPr/>
          <a:lstStyle/>
          <a:p>
            <a:endParaRPr lang="zh-CN" altLang="en-US"/>
          </a:p>
        </p:txBody>
      </p:sp>
      <p:sp>
        <p:nvSpPr>
          <p:cNvPr id="60445" name="任意多边形 55330"/>
          <p:cNvSpPr>
            <a:spLocks noChangeArrowheads="1"/>
          </p:cNvSpPr>
          <p:nvPr/>
        </p:nvSpPr>
        <p:spPr bwMode="auto">
          <a:xfrm>
            <a:off x="7392988" y="1981200"/>
            <a:ext cx="304800" cy="990600"/>
          </a:xfrm>
          <a:custGeom>
            <a:avLst/>
            <a:gdLst>
              <a:gd name="T0" fmla="*/ 0 w 192"/>
              <a:gd name="T1" fmla="*/ 720 h 720"/>
              <a:gd name="T2" fmla="*/ 192 w 192"/>
              <a:gd name="T3" fmla="*/ 0 h 720"/>
            </a:gdLst>
            <a:ahLst/>
            <a:cxnLst>
              <a:cxn ang="0">
                <a:pos x="T0" y="T1"/>
              </a:cxn>
              <a:cxn ang="0">
                <a:pos x="T2" y="T3"/>
              </a:cxn>
            </a:cxnLst>
            <a:rect l="0" t="0" r="r" b="b"/>
            <a:pathLst>
              <a:path w="192" h="720">
                <a:moveTo>
                  <a:pt x="0" y="720"/>
                </a:moveTo>
                <a:cubicBezTo>
                  <a:pt x="80" y="420"/>
                  <a:pt x="160" y="120"/>
                  <a:pt x="192" y="0"/>
                </a:cubicBezTo>
              </a:path>
            </a:pathLst>
          </a:custGeom>
          <a:noFill/>
          <a:ln w="38100">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6" name="直接连接符 55331"/>
          <p:cNvSpPr>
            <a:spLocks noChangeShapeType="1"/>
          </p:cNvSpPr>
          <p:nvPr/>
        </p:nvSpPr>
        <p:spPr bwMode="auto">
          <a:xfrm>
            <a:off x="7697788" y="1981200"/>
            <a:ext cx="1587" cy="2357438"/>
          </a:xfrm>
          <a:prstGeom prst="line">
            <a:avLst/>
          </a:prstGeom>
          <a:noFill/>
          <a:ln w="38100">
            <a:solidFill>
              <a:srgbClr val="0000FF"/>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47" name="任意多边形 55332"/>
          <p:cNvSpPr>
            <a:spLocks noChangeArrowheads="1"/>
          </p:cNvSpPr>
          <p:nvPr/>
        </p:nvSpPr>
        <p:spPr bwMode="auto">
          <a:xfrm>
            <a:off x="8078788" y="1981200"/>
            <a:ext cx="304800" cy="1828800"/>
          </a:xfrm>
          <a:custGeom>
            <a:avLst/>
            <a:gdLst>
              <a:gd name="T0" fmla="*/ 0 w 432"/>
              <a:gd name="T1" fmla="*/ 1344 h 1344"/>
              <a:gd name="T2" fmla="*/ 432 w 432"/>
              <a:gd name="T3" fmla="*/ 0 h 1344"/>
            </a:gdLst>
            <a:ahLst/>
            <a:cxnLst>
              <a:cxn ang="0">
                <a:pos x="T0" y="T1"/>
              </a:cxn>
              <a:cxn ang="0">
                <a:pos x="T2" y="T3"/>
              </a:cxn>
            </a:cxnLst>
            <a:rect l="0" t="0" r="r" b="b"/>
            <a:pathLst>
              <a:path w="432" h="1344">
                <a:moveTo>
                  <a:pt x="0" y="1344"/>
                </a:moveTo>
                <a:cubicBezTo>
                  <a:pt x="180" y="784"/>
                  <a:pt x="360" y="224"/>
                  <a:pt x="432" y="0"/>
                </a:cubicBezTo>
              </a:path>
            </a:pathLst>
          </a:custGeom>
          <a:noFill/>
          <a:ln w="38100">
            <a:solidFill>
              <a:srgbClr val="00CC66"/>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0448" name="直接连接符 55333"/>
          <p:cNvSpPr>
            <a:spLocks noChangeShapeType="1"/>
          </p:cNvSpPr>
          <p:nvPr/>
        </p:nvSpPr>
        <p:spPr bwMode="auto">
          <a:xfrm>
            <a:off x="8382000" y="1981200"/>
            <a:ext cx="1588" cy="2357438"/>
          </a:xfrm>
          <a:prstGeom prst="line">
            <a:avLst/>
          </a:prstGeom>
          <a:noFill/>
          <a:ln w="38100">
            <a:solidFill>
              <a:srgbClr val="00CC66"/>
            </a:solidFill>
            <a:round/>
            <a:headEnd/>
            <a:tailEnd type="triangle" w="sm" len="lg"/>
          </a:ln>
          <a:extLst>
            <a:ext uri="{909E8E84-426E-40DD-AFC4-6F175D3DCCD1}">
              <a14:hiddenFill xmlns:a14="http://schemas.microsoft.com/office/drawing/2010/main">
                <a:noFill/>
              </a14:hiddenFill>
            </a:ext>
          </a:extLst>
        </p:spPr>
        <p:txBody>
          <a:bodyPr/>
          <a:lstStyle/>
          <a:p>
            <a:endParaRPr lang="zh-CN" altLang="en-US"/>
          </a:p>
        </p:txBody>
      </p:sp>
      <p:sp>
        <p:nvSpPr>
          <p:cNvPr id="60449" name="椭圆 55334"/>
          <p:cNvSpPr>
            <a:spLocks noChangeArrowheads="1"/>
          </p:cNvSpPr>
          <p:nvPr/>
        </p:nvSpPr>
        <p:spPr bwMode="auto">
          <a:xfrm>
            <a:off x="8318500" y="1941513"/>
            <a:ext cx="115888" cy="115887"/>
          </a:xfrm>
          <a:prstGeom prst="ellipse">
            <a:avLst/>
          </a:prstGeom>
          <a:solidFill>
            <a:schemeClr val="bg1"/>
          </a:solidFill>
          <a:ln w="9525">
            <a:solidFill>
              <a:srgbClr val="00CC66"/>
            </a:solidFill>
            <a:round/>
            <a:headEnd/>
            <a:tailEnd/>
          </a:ln>
        </p:spPr>
        <p:txBody>
          <a:bodyPr/>
          <a:lstStyle/>
          <a:p>
            <a:endParaRPr lang="zh-CN" altLang="en-US"/>
          </a:p>
        </p:txBody>
      </p:sp>
      <p:sp>
        <p:nvSpPr>
          <p:cNvPr id="60450" name="椭圆 55335"/>
          <p:cNvSpPr>
            <a:spLocks noChangeArrowheads="1"/>
          </p:cNvSpPr>
          <p:nvPr/>
        </p:nvSpPr>
        <p:spPr bwMode="auto">
          <a:xfrm>
            <a:off x="7621588" y="1941513"/>
            <a:ext cx="115887" cy="115887"/>
          </a:xfrm>
          <a:prstGeom prst="ellipse">
            <a:avLst/>
          </a:prstGeom>
          <a:solidFill>
            <a:schemeClr val="bg1"/>
          </a:solidFill>
          <a:ln w="9525">
            <a:solidFill>
              <a:srgbClr val="660033"/>
            </a:solidFill>
            <a:round/>
            <a:headEnd/>
            <a:tailEnd/>
          </a:ln>
        </p:spPr>
        <p:txBody>
          <a:bodyPr/>
          <a:lstStyle/>
          <a:p>
            <a:endParaRPr lang="zh-CN" altLang="en-US"/>
          </a:p>
        </p:txBody>
      </p:sp>
      <p:sp>
        <p:nvSpPr>
          <p:cNvPr id="60451" name="椭圆 55336"/>
          <p:cNvSpPr>
            <a:spLocks noChangeArrowheads="1"/>
          </p:cNvSpPr>
          <p:nvPr/>
        </p:nvSpPr>
        <p:spPr bwMode="auto">
          <a:xfrm>
            <a:off x="8321675" y="4271963"/>
            <a:ext cx="115888" cy="115887"/>
          </a:xfrm>
          <a:prstGeom prst="ellipse">
            <a:avLst/>
          </a:prstGeom>
          <a:solidFill>
            <a:schemeClr val="bg1"/>
          </a:solidFill>
          <a:ln w="9525">
            <a:solidFill>
              <a:srgbClr val="00CC66"/>
            </a:solidFill>
            <a:round/>
            <a:headEnd/>
            <a:tailEnd/>
          </a:ln>
        </p:spPr>
        <p:txBody>
          <a:bodyPr/>
          <a:lstStyle/>
          <a:p>
            <a:endParaRPr lang="zh-CN" altLang="en-US"/>
          </a:p>
        </p:txBody>
      </p:sp>
      <p:sp>
        <p:nvSpPr>
          <p:cNvPr id="60452" name="椭圆 55337"/>
          <p:cNvSpPr>
            <a:spLocks noChangeArrowheads="1"/>
          </p:cNvSpPr>
          <p:nvPr/>
        </p:nvSpPr>
        <p:spPr bwMode="auto">
          <a:xfrm>
            <a:off x="7634288" y="4271963"/>
            <a:ext cx="115887" cy="115887"/>
          </a:xfrm>
          <a:prstGeom prst="ellipse">
            <a:avLst/>
          </a:prstGeom>
          <a:solidFill>
            <a:schemeClr val="bg1"/>
          </a:solidFill>
          <a:ln w="9525">
            <a:solidFill>
              <a:srgbClr val="660033"/>
            </a:solidFill>
            <a:round/>
            <a:headEnd/>
            <a:tailEnd/>
          </a:ln>
        </p:spPr>
        <p:txBody>
          <a:bodyPr/>
          <a:lstStyle/>
          <a:p>
            <a:endParaRPr lang="zh-CN" altLang="en-US"/>
          </a:p>
        </p:txBody>
      </p:sp>
      <p:sp>
        <p:nvSpPr>
          <p:cNvPr id="60453" name="椭圆 55338"/>
          <p:cNvSpPr>
            <a:spLocks noChangeArrowheads="1"/>
          </p:cNvSpPr>
          <p:nvPr/>
        </p:nvSpPr>
        <p:spPr bwMode="auto">
          <a:xfrm>
            <a:off x="7335838" y="3733800"/>
            <a:ext cx="115887" cy="115888"/>
          </a:xfrm>
          <a:prstGeom prst="ellipse">
            <a:avLst/>
          </a:prstGeom>
          <a:solidFill>
            <a:schemeClr val="bg1"/>
          </a:solidFill>
          <a:ln w="9525">
            <a:solidFill>
              <a:srgbClr val="00CC66"/>
            </a:solidFill>
            <a:round/>
            <a:headEnd/>
            <a:tailEnd/>
          </a:ln>
        </p:spPr>
        <p:txBody>
          <a:bodyPr/>
          <a:lstStyle/>
          <a:p>
            <a:endParaRPr lang="zh-CN" altLang="en-US"/>
          </a:p>
        </p:txBody>
      </p:sp>
      <p:sp>
        <p:nvSpPr>
          <p:cNvPr id="60454" name="椭圆 55339"/>
          <p:cNvSpPr>
            <a:spLocks noChangeArrowheads="1"/>
          </p:cNvSpPr>
          <p:nvPr/>
        </p:nvSpPr>
        <p:spPr bwMode="auto">
          <a:xfrm>
            <a:off x="7327900" y="2895600"/>
            <a:ext cx="115888" cy="115888"/>
          </a:xfrm>
          <a:prstGeom prst="ellipse">
            <a:avLst/>
          </a:prstGeom>
          <a:solidFill>
            <a:schemeClr val="bg1"/>
          </a:solidFill>
          <a:ln w="9525">
            <a:solidFill>
              <a:srgbClr val="003366"/>
            </a:solidFill>
            <a:round/>
            <a:headEnd/>
            <a:tailEnd/>
          </a:ln>
        </p:spPr>
        <p:txBody>
          <a:bodyPr/>
          <a:lstStyle/>
          <a:p>
            <a:endParaRPr lang="zh-CN" altLang="en-US"/>
          </a:p>
        </p:txBody>
      </p:sp>
      <p:sp>
        <p:nvSpPr>
          <p:cNvPr id="60455" name="直接连接符 55340"/>
          <p:cNvSpPr>
            <a:spLocks noChangeShapeType="1"/>
          </p:cNvSpPr>
          <p:nvPr/>
        </p:nvSpPr>
        <p:spPr bwMode="auto">
          <a:xfrm flipV="1">
            <a:off x="4343400" y="3276600"/>
            <a:ext cx="3201988"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6" name="直接连接符 55341"/>
          <p:cNvSpPr>
            <a:spLocks noChangeShapeType="1"/>
          </p:cNvSpPr>
          <p:nvPr/>
        </p:nvSpPr>
        <p:spPr bwMode="auto">
          <a:xfrm flipV="1">
            <a:off x="4497388" y="3048000"/>
            <a:ext cx="3276600"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57" name="矩形 55342"/>
          <p:cNvSpPr>
            <a:spLocks noChangeArrowheads="1"/>
          </p:cNvSpPr>
          <p:nvPr/>
        </p:nvSpPr>
        <p:spPr bwMode="auto">
          <a:xfrm>
            <a:off x="3963988" y="1776413"/>
            <a:ext cx="40163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r>
              <a:rPr lang="en-US" altLang="zh-CN" sz="2000" b="1" baseline="-25000">
                <a:solidFill>
                  <a:srgbClr val="660066"/>
                </a:solidFill>
                <a:latin typeface="华文新魏" panose="02010800040101010101" pitchFamily="2" charset="-122"/>
                <a:ea typeface="华文新魏" panose="02010800040101010101" pitchFamily="2" charset="-122"/>
              </a:rPr>
              <a:t>1</a:t>
            </a:r>
          </a:p>
        </p:txBody>
      </p:sp>
      <p:graphicFrame>
        <p:nvGraphicFramePr>
          <p:cNvPr id="60458" name="对象 55343"/>
          <p:cNvGraphicFramePr>
            <a:graphicFrameLocks/>
          </p:cNvGraphicFramePr>
          <p:nvPr/>
        </p:nvGraphicFramePr>
        <p:xfrm>
          <a:off x="7677150" y="1624013"/>
          <a:ext cx="261938" cy="341312"/>
        </p:xfrm>
        <a:graphic>
          <a:graphicData uri="http://schemas.openxmlformats.org/presentationml/2006/ole">
            <mc:AlternateContent xmlns:mc="http://schemas.openxmlformats.org/markup-compatibility/2006">
              <mc:Choice xmlns:v="urn:schemas-microsoft-com:vml" Requires="v">
                <p:oleObj spid="_x0000_s21548" r:id="rId3" imgW="126725" imgH="164742" progId="Equation.DSMT4">
                  <p:embed/>
                </p:oleObj>
              </mc:Choice>
              <mc:Fallback>
                <p:oleObj r:id="rId3" imgW="126725" imgH="164742" progId="Equation.DSMT4">
                  <p:embed/>
                  <p:pic>
                    <p:nvPicPr>
                      <p:cNvPr id="60458" name="对象 5534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7150" y="1624013"/>
                        <a:ext cx="261938" cy="341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59" name="对象 55344"/>
          <p:cNvGraphicFramePr>
            <a:graphicFrameLocks/>
          </p:cNvGraphicFramePr>
          <p:nvPr/>
        </p:nvGraphicFramePr>
        <p:xfrm>
          <a:off x="8407400" y="1624013"/>
          <a:ext cx="320675" cy="349250"/>
        </p:xfrm>
        <a:graphic>
          <a:graphicData uri="http://schemas.openxmlformats.org/presentationml/2006/ole">
            <mc:AlternateContent xmlns:mc="http://schemas.openxmlformats.org/markup-compatibility/2006">
              <mc:Choice xmlns:v="urn:schemas-microsoft-com:vml" Requires="v">
                <p:oleObj spid="_x0000_s21549" r:id="rId5" imgW="152202" imgH="164885" progId="Equation.DSMT4">
                  <p:embed/>
                </p:oleObj>
              </mc:Choice>
              <mc:Fallback>
                <p:oleObj r:id="rId5" imgW="152202" imgH="164885" progId="Equation.DSMT4">
                  <p:embed/>
                  <p:pic>
                    <p:nvPicPr>
                      <p:cNvPr id="60459" name="对象 5534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07400" y="1624013"/>
                        <a:ext cx="320675" cy="34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60" name="对象 55345"/>
          <p:cNvGraphicFramePr>
            <a:graphicFrameLocks/>
          </p:cNvGraphicFramePr>
          <p:nvPr/>
        </p:nvGraphicFramePr>
        <p:xfrm>
          <a:off x="7545388" y="4406900"/>
          <a:ext cx="304800" cy="303213"/>
        </p:xfrm>
        <a:graphic>
          <a:graphicData uri="http://schemas.openxmlformats.org/presentationml/2006/ole">
            <mc:AlternateContent xmlns:mc="http://schemas.openxmlformats.org/markup-compatibility/2006">
              <mc:Choice xmlns:v="urn:schemas-microsoft-com:vml" Requires="v">
                <p:oleObj spid="_x0000_s21550" r:id="rId7" imgW="164885" imgH="164885" progId="Equation.DSMT4">
                  <p:embed/>
                </p:oleObj>
              </mc:Choice>
              <mc:Fallback>
                <p:oleObj r:id="rId7" imgW="164885" imgH="164885" progId="Equation.DSMT4">
                  <p:embed/>
                  <p:pic>
                    <p:nvPicPr>
                      <p:cNvPr id="60460" name="对象 55345"/>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45388" y="4406900"/>
                        <a:ext cx="304800"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61" name="对象 55346"/>
          <p:cNvGraphicFramePr>
            <a:graphicFrameLocks/>
          </p:cNvGraphicFramePr>
          <p:nvPr/>
        </p:nvGraphicFramePr>
        <p:xfrm>
          <a:off x="8307388" y="4367213"/>
          <a:ext cx="330200" cy="304800"/>
        </p:xfrm>
        <a:graphic>
          <a:graphicData uri="http://schemas.openxmlformats.org/presentationml/2006/ole">
            <mc:AlternateContent xmlns:mc="http://schemas.openxmlformats.org/markup-compatibility/2006">
              <mc:Choice xmlns:v="urn:schemas-microsoft-com:vml" Requires="v">
                <p:oleObj spid="_x0000_s21551" r:id="rId9" imgW="177492" imgH="164814" progId="Equation.DSMT4">
                  <p:embed/>
                </p:oleObj>
              </mc:Choice>
              <mc:Fallback>
                <p:oleObj r:id="rId9" imgW="177492" imgH="164814" progId="Equation.DSMT4">
                  <p:embed/>
                  <p:pic>
                    <p:nvPicPr>
                      <p:cNvPr id="60461" name="对象 5534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07388" y="4367213"/>
                        <a:ext cx="330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62" name="对象 55347"/>
          <p:cNvGraphicFramePr>
            <a:graphicFrameLocks/>
          </p:cNvGraphicFramePr>
          <p:nvPr/>
        </p:nvGraphicFramePr>
        <p:xfrm>
          <a:off x="4157663" y="2767013"/>
          <a:ext cx="339725" cy="357187"/>
        </p:xfrm>
        <a:graphic>
          <a:graphicData uri="http://schemas.openxmlformats.org/presentationml/2006/ole">
            <mc:AlternateContent xmlns:mc="http://schemas.openxmlformats.org/markup-compatibility/2006">
              <mc:Choice xmlns:v="urn:schemas-microsoft-com:vml" Requires="v">
                <p:oleObj spid="_x0000_s21552" r:id="rId11" imgW="202936" imgH="215619" progId="Equation.DSMT4">
                  <p:embed/>
                </p:oleObj>
              </mc:Choice>
              <mc:Fallback>
                <p:oleObj r:id="rId11" imgW="202936" imgH="215619" progId="Equation.DSMT4">
                  <p:embed/>
                  <p:pic>
                    <p:nvPicPr>
                      <p:cNvPr id="60462" name="对象 5534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157663" y="2767013"/>
                        <a:ext cx="339725"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60463" name="对象 55348"/>
          <p:cNvGraphicFramePr>
            <a:graphicFrameLocks/>
          </p:cNvGraphicFramePr>
          <p:nvPr/>
        </p:nvGraphicFramePr>
        <p:xfrm>
          <a:off x="4038600" y="3071813"/>
          <a:ext cx="298450" cy="357187"/>
        </p:xfrm>
        <a:graphic>
          <a:graphicData uri="http://schemas.openxmlformats.org/presentationml/2006/ole">
            <mc:AlternateContent xmlns:mc="http://schemas.openxmlformats.org/markup-compatibility/2006">
              <mc:Choice xmlns:v="urn:schemas-microsoft-com:vml" Requires="v">
                <p:oleObj spid="_x0000_s21553" r:id="rId13" imgW="177492" imgH="215526" progId="Equation.DSMT4">
                  <p:embed/>
                </p:oleObj>
              </mc:Choice>
              <mc:Fallback>
                <p:oleObj r:id="rId13" imgW="177492" imgH="215526" progId="Equation.DSMT4">
                  <p:embed/>
                  <p:pic>
                    <p:nvPicPr>
                      <p:cNvPr id="60463" name="对象 55348"/>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038600" y="3071813"/>
                        <a:ext cx="29845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64" name="直接连接符 55349"/>
          <p:cNvSpPr>
            <a:spLocks noChangeShapeType="1"/>
          </p:cNvSpPr>
          <p:nvPr/>
        </p:nvSpPr>
        <p:spPr bwMode="auto">
          <a:xfrm flipV="1">
            <a:off x="4497388" y="3581400"/>
            <a:ext cx="3886200" cy="0"/>
          </a:xfrm>
          <a:prstGeom prst="line">
            <a:avLst/>
          </a:prstGeom>
          <a:noFill/>
          <a:ln w="9525">
            <a:solidFill>
              <a:srgbClr val="006666"/>
            </a:solidFill>
            <a:prstDash val="lg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60465" name="对象 55350"/>
          <p:cNvGraphicFramePr>
            <a:graphicFrameLocks/>
          </p:cNvGraphicFramePr>
          <p:nvPr/>
        </p:nvGraphicFramePr>
        <p:xfrm>
          <a:off x="4116388" y="3355975"/>
          <a:ext cx="381000" cy="377825"/>
        </p:xfrm>
        <a:graphic>
          <a:graphicData uri="http://schemas.openxmlformats.org/presentationml/2006/ole">
            <mc:AlternateContent xmlns:mc="http://schemas.openxmlformats.org/markup-compatibility/2006">
              <mc:Choice xmlns:v="urn:schemas-microsoft-com:vml" Requires="v">
                <p:oleObj spid="_x0000_s21554" r:id="rId15" imgW="215619" imgH="215619" progId="Equation.DSMT4">
                  <p:embed/>
                </p:oleObj>
              </mc:Choice>
              <mc:Fallback>
                <p:oleObj r:id="rId15" imgW="215619" imgH="215619" progId="Equation.DSMT4">
                  <p:embed/>
                  <p:pic>
                    <p:nvPicPr>
                      <p:cNvPr id="60465" name="对象 55350"/>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16388" y="3355975"/>
                        <a:ext cx="381000" cy="37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0466" name="文本框 55351"/>
          <p:cNvSpPr txBox="1">
            <a:spLocks noChangeArrowheads="1"/>
          </p:cNvSpPr>
          <p:nvPr/>
        </p:nvSpPr>
        <p:spPr bwMode="auto">
          <a:xfrm>
            <a:off x="7392988" y="2767013"/>
            <a:ext cx="304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000" b="1">
                <a:solidFill>
                  <a:srgbClr val="0000CC"/>
                </a:solidFill>
                <a:latin typeface="华文新魏" panose="02010800040101010101" pitchFamily="2" charset="-122"/>
                <a:ea typeface="华文新魏" panose="02010800040101010101" pitchFamily="2" charset="-122"/>
              </a:rPr>
              <a:t>5</a:t>
            </a:r>
          </a:p>
        </p:txBody>
      </p:sp>
      <p:sp>
        <p:nvSpPr>
          <p:cNvPr id="60467" name="直接连接符 55352"/>
          <p:cNvSpPr>
            <a:spLocks noChangeShapeType="1"/>
          </p:cNvSpPr>
          <p:nvPr/>
        </p:nvSpPr>
        <p:spPr bwMode="auto">
          <a:xfrm rot="487458">
            <a:off x="8502650" y="4343400"/>
            <a:ext cx="304800" cy="304800"/>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468" name="矩形 55353"/>
          <p:cNvSpPr>
            <a:spLocks noChangeArrowheads="1"/>
          </p:cNvSpPr>
          <p:nvPr/>
        </p:nvSpPr>
        <p:spPr bwMode="auto">
          <a:xfrm>
            <a:off x="3963988" y="4102100"/>
            <a:ext cx="430212"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i="1">
                <a:solidFill>
                  <a:srgbClr val="660066"/>
                </a:solidFill>
                <a:latin typeface="华文新魏" panose="02010800040101010101" pitchFamily="2" charset="-122"/>
                <a:ea typeface="华文新魏" panose="02010800040101010101" pitchFamily="2" charset="-122"/>
              </a:rPr>
              <a:t>T</a:t>
            </a:r>
            <a:r>
              <a:rPr lang="en-US" altLang="zh-CN" sz="2000" b="1" baseline="-25000">
                <a:solidFill>
                  <a:srgbClr val="660066"/>
                </a:solidFill>
                <a:latin typeface="华文新魏" panose="02010800040101010101" pitchFamily="2" charset="-122"/>
                <a:ea typeface="华文新魏" panose="02010800040101010101" pitchFamily="2" charset="-122"/>
              </a:rPr>
              <a:t>2</a:t>
            </a:r>
          </a:p>
        </p:txBody>
      </p:sp>
      <p:sp>
        <p:nvSpPr>
          <p:cNvPr id="60469" name="直接连接符 55354"/>
          <p:cNvSpPr>
            <a:spLocks noChangeShapeType="1"/>
          </p:cNvSpPr>
          <p:nvPr/>
        </p:nvSpPr>
        <p:spPr bwMode="auto">
          <a:xfrm flipH="1">
            <a:off x="4878388" y="4572000"/>
            <a:ext cx="76200" cy="152400"/>
          </a:xfrm>
          <a:prstGeom prst="line">
            <a:avLst/>
          </a:prstGeom>
          <a:noFill/>
          <a:ln w="28575">
            <a:solidFill>
              <a:srgbClr val="003366"/>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1127173235"/>
      </p:ext>
    </p:extLst>
  </p:cSld>
  <p:clrMapOvr>
    <a:masterClrMapping/>
  </p:clrMapOvr>
  <p:transition spd="slow"/>
  <p:timing>
    <p:tnLst>
      <p:par>
        <p:cTn id="1" dur="indefinite" restart="never" nodeType="tmRoot"/>
      </p:par>
    </p:tnLst>
  </p:timing>
  <p:extLst mod="1"/>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595827" y="1031175"/>
            <a:ext cx="7607268" cy="4678204"/>
          </a:xfrm>
          <a:prstGeom prst="rect">
            <a:avLst/>
          </a:prstGeom>
        </p:spPr>
        <p:txBody>
          <a:bodyPr wrap="square">
            <a:spAutoFit/>
          </a:bodyPr>
          <a:lstStyle/>
          <a:p>
            <a:pPr marL="457200" indent="-457200">
              <a:buFont typeface="Arial" panose="020B0604020202020204" pitchFamily="34" charset="0"/>
              <a:buChar char="•"/>
            </a:pPr>
            <a:r>
              <a:rPr lang="zh-CN" altLang="en-US" sz="2800" b="1" dirty="0" smtClean="0">
                <a:solidFill>
                  <a:srgbClr val="FF0000"/>
                </a:solidFill>
              </a:rPr>
              <a:t>特别注意</a:t>
            </a:r>
            <a:r>
              <a:rPr lang="zh-CN" altLang="en-US" sz="2800" b="1" dirty="0" smtClean="0">
                <a:solidFill>
                  <a:prstClr val="black"/>
                </a:solidFill>
              </a:rPr>
              <a:t>，</a:t>
            </a:r>
            <a:r>
              <a:rPr lang="zh-CN" altLang="en-US" sz="2800" b="1" dirty="0">
                <a:solidFill>
                  <a:prstClr val="black"/>
                </a:solidFill>
              </a:rPr>
              <a:t>提高乏汽干度使之在允许的范围内是再热之根本目的，切不可只考虑提高热效率而忘记根本</a:t>
            </a:r>
            <a:r>
              <a:rPr lang="zh-CN" altLang="en-US" sz="2800" b="1" dirty="0" smtClean="0">
                <a:solidFill>
                  <a:prstClr val="black"/>
                </a:solidFill>
              </a:rPr>
              <a:t>目的</a:t>
            </a:r>
            <a:endParaRPr lang="en-US" altLang="zh-CN" sz="2800" b="1" dirty="0" smtClean="0">
              <a:solidFill>
                <a:prstClr val="black"/>
              </a:solidFill>
            </a:endParaRPr>
          </a:p>
          <a:p>
            <a:pPr marL="457200" indent="-457200" algn="just">
              <a:buFont typeface="Arial" panose="020B0604020202020204" pitchFamily="34" charset="0"/>
              <a:buChar char="•"/>
            </a:pPr>
            <a:r>
              <a:rPr lang="zh-CN" altLang="en-US" sz="2800" b="1" kern="0" dirty="0">
                <a:latin typeface="Times New Roman" panose="02020603050405020304" pitchFamily="18" charset="0"/>
              </a:rPr>
              <a:t>若综合考虑再热压力对热效率和干度的影响，应存在一个最佳的再热压力，此最佳压力使得干度位于允许的范围内，同时热效率达到最大值</a:t>
            </a:r>
          </a:p>
          <a:p>
            <a:pPr marL="457200" indent="-457200" algn="just">
              <a:buFont typeface="Arial" panose="020B0604020202020204" pitchFamily="34" charset="0"/>
              <a:buChar char="•"/>
            </a:pPr>
            <a:r>
              <a:rPr lang="zh-CN" altLang="en-US" sz="2800" b="1" kern="0" dirty="0">
                <a:latin typeface="Times New Roman" panose="02020603050405020304" pitchFamily="18" charset="0"/>
              </a:rPr>
              <a:t>在工程实际中，再热压力的选择还应根据设备投资等经济性指标综合考虑，一般为蒸汽初压力的</a:t>
            </a:r>
            <a:r>
              <a:rPr lang="en-US" altLang="zh-CN" sz="2800" b="1" kern="0" dirty="0">
                <a:latin typeface="Times New Roman" panose="02020603050405020304" pitchFamily="18" charset="0"/>
              </a:rPr>
              <a:t>20%</a:t>
            </a:r>
            <a:r>
              <a:rPr lang="zh-CN" altLang="en-US" sz="2800" b="1" kern="0" dirty="0">
                <a:latin typeface="Times New Roman" panose="02020603050405020304" pitchFamily="18" charset="0"/>
              </a:rPr>
              <a:t>～</a:t>
            </a:r>
            <a:r>
              <a:rPr lang="en-US" altLang="zh-CN" sz="2800" b="1" kern="0" dirty="0" smtClean="0">
                <a:latin typeface="Times New Roman" panose="02020603050405020304" pitchFamily="18" charset="0"/>
              </a:rPr>
              <a:t>30%</a:t>
            </a:r>
            <a:endParaRPr lang="en-US" altLang="zh-CN" sz="2800" b="1" dirty="0">
              <a:solidFill>
                <a:prstClr val="black"/>
              </a:solidFill>
            </a:endParaRPr>
          </a:p>
          <a:p>
            <a:endParaRPr lang="zh-CN" altLang="en-US" dirty="0"/>
          </a:p>
        </p:txBody>
      </p:sp>
    </p:spTree>
    <p:extLst>
      <p:ext uri="{BB962C8B-B14F-4D97-AF65-F5344CB8AC3E}">
        <p14:creationId xmlns:p14="http://schemas.microsoft.com/office/powerpoint/2010/main" val="1486576810"/>
      </p:ext>
    </p:extLst>
  </p:cSld>
  <p:clrMapOvr>
    <a:masterClrMapping/>
  </p:clrMapOvr>
  <p:transition spd="slow"/>
  <p:timing>
    <p:tnLst>
      <p:par>
        <p:cTn id="1" dur="indefinite" restart="never" nodeType="tmRoot"/>
      </p:par>
    </p:tnLst>
  </p:timing>
  <p:extLst mod="1"/>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文本占位符 57346"/>
          <p:cNvSpPr>
            <a:spLocks noGrp="1" noChangeArrowheads="1"/>
          </p:cNvSpPr>
          <p:nvPr>
            <p:ph idx="1"/>
          </p:nvPr>
        </p:nvSpPr>
        <p:spPr>
          <a:xfrm>
            <a:off x="704426" y="1257300"/>
            <a:ext cx="7543800" cy="5181600"/>
          </a:xfrm>
        </p:spPr>
        <p:txBody>
          <a:bodyPr/>
          <a:lstStyle/>
          <a:p>
            <a:r>
              <a:rPr lang="zh-CN" altLang="en-US" b="1" dirty="0" smtClean="0"/>
              <a:t>再热次数的选择也很重要。通常，</a:t>
            </a:r>
            <a:r>
              <a:rPr lang="zh-CN" altLang="en-US" b="1" dirty="0"/>
              <a:t>一次再热可使循环热效率提高</a:t>
            </a:r>
            <a:r>
              <a:rPr lang="en-US" altLang="zh-CN" b="1" dirty="0">
                <a:latin typeface="Times New Roman" panose="02020603050405020304" pitchFamily="18" charset="0"/>
                <a:cs typeface="Times New Roman" panose="02020603050405020304" pitchFamily="18" charset="0"/>
              </a:rPr>
              <a:t>2%~4</a:t>
            </a:r>
            <a:r>
              <a:rPr lang="en-US" altLang="zh-CN" b="1" dirty="0" smtClean="0">
                <a:latin typeface="Times New Roman" panose="02020603050405020304" pitchFamily="18" charset="0"/>
                <a:cs typeface="Times New Roman" panose="02020603050405020304" pitchFamily="18" charset="0"/>
              </a:rPr>
              <a:t>%</a:t>
            </a:r>
            <a:endParaRPr lang="en-US" altLang="zh-CN" b="1" dirty="0">
              <a:latin typeface="Times New Roman" panose="02020603050405020304" pitchFamily="18" charset="0"/>
              <a:cs typeface="Times New Roman" panose="02020603050405020304" pitchFamily="18" charset="0"/>
            </a:endParaRPr>
          </a:p>
          <a:p>
            <a:r>
              <a:rPr lang="zh-CN" altLang="en-US" b="1" dirty="0" smtClean="0"/>
              <a:t>若增加再热次数，虽然热效率有所提高</a:t>
            </a:r>
            <a:r>
              <a:rPr lang="zh-CN" altLang="en-US" b="1" dirty="0"/>
              <a:t>，但次数多，系统复杂，投资增加，不利于管理</a:t>
            </a:r>
          </a:p>
          <a:p>
            <a:r>
              <a:rPr lang="zh-CN" altLang="en-US" b="1" dirty="0" smtClean="0"/>
              <a:t>实际应用中，再热次数很少超过两次。超临界参数的机组一般才考虑二次再热</a:t>
            </a:r>
          </a:p>
          <a:p>
            <a:r>
              <a:rPr lang="zh-CN" altLang="en-US" b="1" dirty="0" smtClean="0">
                <a:solidFill>
                  <a:srgbClr val="FF0000"/>
                </a:solidFill>
              </a:rPr>
              <a:t>再次强调：再热目的是为了提高乏汽的干度</a:t>
            </a:r>
            <a:r>
              <a:rPr lang="zh-CN" altLang="en-US" b="1" dirty="0" smtClean="0"/>
              <a:t>，若研发出或有条件使用具有更高耐热性能的材料，则没必要采用再热 </a:t>
            </a:r>
          </a:p>
        </p:txBody>
      </p:sp>
      <p:sp>
        <p:nvSpPr>
          <p:cNvPr id="62466" name="矩形 57348"/>
          <p:cNvSpPr>
            <a:spLocks noChangeArrowheads="1"/>
          </p:cNvSpPr>
          <p:nvPr/>
        </p:nvSpPr>
        <p:spPr bwMode="auto">
          <a:xfrm>
            <a:off x="0" y="22812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Tree>
    <p:extLst>
      <p:ext uri="{BB962C8B-B14F-4D97-AF65-F5344CB8AC3E}">
        <p14:creationId xmlns:p14="http://schemas.microsoft.com/office/powerpoint/2010/main" val="1519000529"/>
      </p:ext>
    </p:extLst>
  </p:cSld>
  <p:clrMapOvr>
    <a:masterClrMapping/>
  </p:clrMapOvr>
  <p:transition spd="slow"/>
  <p:timing>
    <p:tnLst>
      <p:par>
        <p:cTn id="1" dur="indefinite" restart="never" nodeType="tmRoot"/>
      </p:par>
    </p:tnLst>
  </p:timing>
  <p:extLst mod="1"/>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文本框 38915"/>
          <p:cNvSpPr txBox="1">
            <a:spLocks noChangeArrowheads="1"/>
          </p:cNvSpPr>
          <p:nvPr/>
        </p:nvSpPr>
        <p:spPr bwMode="auto">
          <a:xfrm>
            <a:off x="2545246" y="2137121"/>
            <a:ext cx="49952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400" b="1" dirty="0">
                <a:solidFill>
                  <a:srgbClr val="000000"/>
                </a:solidFill>
                <a:latin typeface="Times New Roman" panose="02020603050405020304" pitchFamily="18" charset="0"/>
              </a:rPr>
              <a:t>13-7  </a:t>
            </a:r>
            <a:r>
              <a:rPr lang="zh-CN" altLang="zh-CN" sz="4400" b="1" dirty="0">
                <a:solidFill>
                  <a:srgbClr val="000000"/>
                </a:solidFill>
                <a:latin typeface="Times New Roman" panose="02020603050405020304" pitchFamily="18" charset="0"/>
              </a:rPr>
              <a:t>回热</a:t>
            </a:r>
            <a:r>
              <a:rPr lang="zh-CN" altLang="en-US" sz="4400" b="1" dirty="0">
                <a:solidFill>
                  <a:srgbClr val="000000"/>
                </a:solidFill>
                <a:latin typeface="Times New Roman" panose="02020603050405020304" pitchFamily="18" charset="0"/>
              </a:rPr>
              <a:t>循环</a:t>
            </a:r>
          </a:p>
        </p:txBody>
      </p:sp>
    </p:spTree>
    <p:extLst>
      <p:ext uri="{BB962C8B-B14F-4D97-AF65-F5344CB8AC3E}">
        <p14:creationId xmlns:p14="http://schemas.microsoft.com/office/powerpoint/2010/main" val="3888047524"/>
      </p:ext>
    </p:extLst>
  </p:cSld>
  <p:clrMapOvr>
    <a:masterClrMapping/>
  </p:clrMapOvr>
  <p:transition spd="slow"/>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标题 74755"/>
          <p:cNvSpPr>
            <a:spLocks noGrp="1" noChangeArrowheads="1"/>
          </p:cNvSpPr>
          <p:nvPr>
            <p:ph type="title"/>
          </p:nvPr>
        </p:nvSpPr>
        <p:spPr/>
        <p:txBody>
          <a:bodyPr/>
          <a:lstStyle/>
          <a:p>
            <a:r>
              <a:rPr lang="zh-CN" altLang="en-US" b="1" dirty="0" smtClean="0">
                <a:ea typeface="黑体" panose="02010609060101010101" pitchFamily="49" charset="-122"/>
              </a:rPr>
              <a:t>为什么选择回热循环？</a:t>
            </a:r>
          </a:p>
        </p:txBody>
      </p:sp>
      <p:sp>
        <p:nvSpPr>
          <p:cNvPr id="64514" name="矩形 74757"/>
          <p:cNvSpPr>
            <a:spLocks noChangeArrowheads="1"/>
          </p:cNvSpPr>
          <p:nvPr/>
        </p:nvSpPr>
        <p:spPr bwMode="auto">
          <a:xfrm>
            <a:off x="0" y="21193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4516" name="矩形 74758"/>
          <p:cNvSpPr>
            <a:spLocks noChangeArrowheads="1"/>
          </p:cNvSpPr>
          <p:nvPr/>
        </p:nvSpPr>
        <p:spPr bwMode="auto">
          <a:xfrm>
            <a:off x="4194313" y="2246233"/>
            <a:ext cx="44958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buFont typeface="Arial" panose="020B0604020202020204" pitchFamily="34" charset="0"/>
              <a:buChar char="•"/>
            </a:pPr>
            <a:r>
              <a:rPr lang="zh-CN" altLang="en-US" sz="2800" b="1" dirty="0"/>
              <a:t>水的吸热低温段拉低了循环的平均吸热温度，使热效率不</a:t>
            </a:r>
            <a:r>
              <a:rPr lang="zh-CN" altLang="en-US" sz="2800" b="1" dirty="0" smtClean="0"/>
              <a:t>高</a:t>
            </a:r>
            <a:endParaRPr lang="zh-CN" altLang="en-US" sz="2800" b="1" dirty="0"/>
          </a:p>
          <a:p>
            <a:pPr marL="457200" indent="-457200">
              <a:buFont typeface="Arial" panose="020B0604020202020204" pitchFamily="34" charset="0"/>
              <a:buChar char="•"/>
            </a:pPr>
            <a:r>
              <a:rPr lang="zh-CN" altLang="en-US" sz="2800" b="1" dirty="0"/>
              <a:t>若能改善此低温吸热段，提升平均吸热温度，可能会较大程度地提高循环</a:t>
            </a:r>
            <a:r>
              <a:rPr lang="zh-CN" altLang="en-US" sz="2800" b="1" dirty="0" smtClean="0"/>
              <a:t>热效率</a:t>
            </a:r>
            <a:endParaRPr lang="zh-CN" altLang="en-US" sz="2800" b="1"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052" y="2062651"/>
            <a:ext cx="3578662" cy="3292125"/>
          </a:xfrm>
          <a:prstGeom prst="rect">
            <a:avLst/>
          </a:prstGeom>
        </p:spPr>
      </p:pic>
    </p:spTree>
    <p:extLst>
      <p:ext uri="{BB962C8B-B14F-4D97-AF65-F5344CB8AC3E}">
        <p14:creationId xmlns:p14="http://schemas.microsoft.com/office/powerpoint/2010/main" val="989865491"/>
      </p:ext>
    </p:extLst>
  </p:cSld>
  <p:clrMapOvr>
    <a:masterClrMapping/>
  </p:clrMapOvr>
  <p:transition spd="slow"/>
  <p:timing>
    <p:tnLst>
      <p:par>
        <p:cTn id="1" dur="indefinite" restart="never" nodeType="tmRoot"/>
      </p:par>
    </p:tnLst>
  </p:timing>
  <p:extLst mod="1"/>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Text Box 4"/>
          <p:cNvSpPr txBox="1">
            <a:spLocks noChangeArrowheads="1"/>
          </p:cNvSpPr>
          <p:nvPr/>
        </p:nvSpPr>
        <p:spPr bwMode="auto">
          <a:xfrm>
            <a:off x="257589" y="5468938"/>
            <a:ext cx="8820150"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p>
            <a:pPr>
              <a:lnSpc>
                <a:spcPct val="120000"/>
              </a:lnSpc>
              <a:spcBef>
                <a:spcPct val="50000"/>
              </a:spcBef>
            </a:pPr>
            <a:r>
              <a:rPr lang="en-US" altLang="zh-CN" sz="2400" b="1" dirty="0">
                <a:latin typeface="黑体" panose="02010609060101010101" pitchFamily="49" charset="-122"/>
                <a:ea typeface="黑体" panose="02010609060101010101" pitchFamily="49" charset="-122"/>
              </a:rPr>
              <a:t>①</a:t>
            </a:r>
            <a:r>
              <a:rPr lang="zh-CN" altLang="en-US" sz="2400" b="1" dirty="0">
                <a:latin typeface="黑体" panose="02010609060101010101" pitchFamily="49" charset="-122"/>
                <a:ea typeface="黑体" panose="02010609060101010101" pitchFamily="49" charset="-122"/>
              </a:rPr>
              <a:t>难以在汽轮机缸外设计回热水套来实现蒸汽和给水之间的换热</a:t>
            </a:r>
            <a:r>
              <a:rPr lang="zh-CN" altLang="en-US" b="1" dirty="0"/>
              <a:t> </a:t>
            </a:r>
            <a:r>
              <a:rPr lang="en-US" altLang="zh-CN" sz="2400" b="1" dirty="0" smtClean="0">
                <a:latin typeface="黑体" panose="02010609060101010101" pitchFamily="49" charset="-122"/>
                <a:ea typeface="黑体" panose="02010609060101010101" pitchFamily="49" charset="-122"/>
              </a:rPr>
              <a:t>②</a:t>
            </a:r>
            <a:r>
              <a:rPr lang="zh-CN" altLang="en-US" sz="2400" b="1" dirty="0" smtClean="0">
                <a:latin typeface="黑体" panose="02010609060101010101" pitchFamily="49" charset="-122"/>
                <a:ea typeface="黑体" panose="02010609060101010101" pitchFamily="49" charset="-122"/>
              </a:rPr>
              <a:t>膨胀段</a:t>
            </a:r>
            <a:r>
              <a:rPr lang="en-US" altLang="zh-CN" sz="2400" b="1" dirty="0" smtClean="0">
                <a:latin typeface="黑体" panose="02010609060101010101" pitchFamily="49" charset="-122"/>
                <a:ea typeface="黑体" panose="02010609060101010101" pitchFamily="49" charset="-122"/>
              </a:rPr>
              <a:t>5-6</a:t>
            </a:r>
            <a:r>
              <a:rPr lang="zh-CN" altLang="en-US" sz="2400" b="1" dirty="0" smtClean="0">
                <a:latin typeface="黑体" panose="02010609060101010101" pitchFamily="49" charset="-122"/>
                <a:ea typeface="黑体" panose="02010609060101010101" pitchFamily="49" charset="-122"/>
              </a:rPr>
              <a:t>后期，蒸汽干度大大下降，不利于汽轮机的安全 </a:t>
            </a:r>
            <a:endParaRPr lang="zh-CN" altLang="en-US" sz="2400" b="1" dirty="0">
              <a:latin typeface="黑体" panose="02010609060101010101" pitchFamily="49" charset="-122"/>
              <a:ea typeface="黑体" panose="02010609060101010101" pitchFamily="49" charset="-122"/>
            </a:endParaRPr>
          </a:p>
        </p:txBody>
      </p:sp>
      <p:sp>
        <p:nvSpPr>
          <p:cNvPr id="65539" name="矩形 75783"/>
          <p:cNvSpPr>
            <a:spLocks noChangeArrowheads="1"/>
          </p:cNvSpPr>
          <p:nvPr/>
        </p:nvSpPr>
        <p:spPr bwMode="auto">
          <a:xfrm>
            <a:off x="0" y="21812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1" name="矩形 75785"/>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5542" name="矩形 75786"/>
          <p:cNvSpPr>
            <a:spLocks noChangeArrowheads="1"/>
          </p:cNvSpPr>
          <p:nvPr/>
        </p:nvSpPr>
        <p:spPr bwMode="auto">
          <a:xfrm>
            <a:off x="3352800" y="427038"/>
            <a:ext cx="35052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000"/>
              <a:t>蒸汽边膨胀边放热，以加热汽轮机缸外回热水套内的给水 </a:t>
            </a:r>
          </a:p>
        </p:txBody>
      </p:sp>
      <p:sp>
        <p:nvSpPr>
          <p:cNvPr id="65543" name="矩形标注 75787"/>
          <p:cNvSpPr>
            <a:spLocks noChangeArrowheads="1"/>
          </p:cNvSpPr>
          <p:nvPr/>
        </p:nvSpPr>
        <p:spPr bwMode="auto">
          <a:xfrm>
            <a:off x="3276600" y="304800"/>
            <a:ext cx="3657600" cy="914400"/>
          </a:xfrm>
          <a:prstGeom prst="wedgeRectCallout">
            <a:avLst>
              <a:gd name="adj1" fmla="val -43315"/>
              <a:gd name="adj2" fmla="val 133162"/>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ctr"/>
            <a:endParaRPr lang="zh-CN" altLang="en-US"/>
          </a:p>
        </p:txBody>
      </p:sp>
      <p:sp>
        <p:nvSpPr>
          <p:cNvPr id="65544" name="矩形 75789"/>
          <p:cNvSpPr>
            <a:spLocks noChangeArrowheads="1"/>
          </p:cNvSpPr>
          <p:nvPr/>
        </p:nvSpPr>
        <p:spPr bwMode="auto">
          <a:xfrm>
            <a:off x="0" y="24384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5" name="矩形 4"/>
          <p:cNvSpPr/>
          <p:nvPr/>
        </p:nvSpPr>
        <p:spPr>
          <a:xfrm>
            <a:off x="327991" y="412015"/>
            <a:ext cx="2656496" cy="584775"/>
          </a:xfrm>
          <a:prstGeom prst="rect">
            <a:avLst/>
          </a:prstGeom>
        </p:spPr>
        <p:txBody>
          <a:bodyPr wrap="none">
            <a:spAutoFit/>
          </a:bodyPr>
          <a:lstStyle/>
          <a:p>
            <a:r>
              <a:rPr lang="zh-CN" altLang="en-US" sz="3200" b="1" dirty="0" smtClean="0">
                <a:ea typeface="黑体" panose="02010609060101010101" pitchFamily="49" charset="-122"/>
              </a:rPr>
              <a:t>理想回热装置</a:t>
            </a:r>
            <a:endParaRPr lang="zh-CN" altLang="en-US" sz="3200" dirty="0"/>
          </a:p>
        </p:txBody>
      </p:sp>
      <p:sp>
        <p:nvSpPr>
          <p:cNvPr id="15" name="矩形 14"/>
          <p:cNvSpPr/>
          <p:nvPr/>
        </p:nvSpPr>
        <p:spPr>
          <a:xfrm>
            <a:off x="327991" y="4832649"/>
            <a:ext cx="5444119" cy="461665"/>
          </a:xfrm>
          <a:prstGeom prst="rect">
            <a:avLst/>
          </a:prstGeom>
        </p:spPr>
        <p:txBody>
          <a:bodyPr wrap="none">
            <a:spAutoFit/>
          </a:bodyPr>
          <a:lstStyle/>
          <a:p>
            <a:r>
              <a:rPr lang="zh-CN" altLang="en-US" sz="2400" b="1" dirty="0" smtClean="0">
                <a:ea typeface="黑体" panose="02010609060101010101" pitchFamily="49" charset="-122"/>
              </a:rPr>
              <a:t>理想回热装置在工程应用中存在困难：</a:t>
            </a:r>
            <a:endParaRPr lang="zh-CN" altLang="en-US" sz="2400"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8866" y="1371600"/>
            <a:ext cx="4035902" cy="3084843"/>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28930" y="1413983"/>
            <a:ext cx="3810330" cy="3286029"/>
          </a:xfrm>
          <a:prstGeom prst="rect">
            <a:avLst/>
          </a:prstGeom>
        </p:spPr>
      </p:pic>
    </p:spTree>
    <p:extLst>
      <p:ext uri="{BB962C8B-B14F-4D97-AF65-F5344CB8AC3E}">
        <p14:creationId xmlns:p14="http://schemas.microsoft.com/office/powerpoint/2010/main" val="3821563220"/>
      </p:ext>
    </p:extLst>
  </p:cSld>
  <p:clrMapOvr>
    <a:masterClrMapping/>
  </p:clrMapOvr>
  <p:transition spd="slow"/>
  <p:timing>
    <p:tnLst>
      <p:par>
        <p:cTn id="1" dur="indefinite" restart="never" nodeType="tmRoot"/>
      </p:par>
    </p:tnLst>
  </p:timing>
  <p:extLst mod="1"/>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文本框 15384"/>
          <p:cNvSpPr txBox="1">
            <a:spLocks noChangeArrowheads="1"/>
          </p:cNvSpPr>
          <p:nvPr/>
        </p:nvSpPr>
        <p:spPr bwMode="auto">
          <a:xfrm>
            <a:off x="5410200" y="3962400"/>
            <a:ext cx="3421063"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400" b="1" dirty="0">
                <a:latin typeface="Times New Roman" panose="02020603050405020304" pitchFamily="18" charset="0"/>
                <a:ea typeface="楷体_GB2312" pitchFamily="49" charset="-122"/>
              </a:rPr>
              <a:t>注意：对于抽汽式回热循环，工质经历不同过程时</a:t>
            </a:r>
            <a:r>
              <a:rPr lang="zh-CN" altLang="en-US" sz="2400" b="1" dirty="0">
                <a:solidFill>
                  <a:srgbClr val="FF0000"/>
                </a:solidFill>
                <a:latin typeface="Times New Roman" panose="02020603050405020304" pitchFamily="18" charset="0"/>
                <a:ea typeface="楷体_GB2312" pitchFamily="49" charset="-122"/>
              </a:rPr>
              <a:t>有质量的变化</a:t>
            </a:r>
            <a:r>
              <a:rPr lang="zh-CN" altLang="en-US" sz="2400" b="1" dirty="0">
                <a:latin typeface="Times New Roman" panose="02020603050405020304" pitchFamily="18" charset="0"/>
                <a:ea typeface="楷体_GB2312" pitchFamily="49" charset="-122"/>
              </a:rPr>
              <a:t>，因此</a:t>
            </a:r>
            <a:r>
              <a:rPr lang="en-US" altLang="zh-CN" sz="2400" b="1" i="1" dirty="0">
                <a:latin typeface="Times New Roman" panose="02020603050405020304" pitchFamily="18" charset="0"/>
                <a:ea typeface="楷体_GB2312" pitchFamily="49" charset="-122"/>
              </a:rPr>
              <a:t>T-s</a:t>
            </a:r>
            <a:r>
              <a:rPr lang="zh-CN" altLang="en-US" sz="2400" b="1" dirty="0">
                <a:latin typeface="Times New Roman" panose="02020603050405020304" pitchFamily="18" charset="0"/>
                <a:ea typeface="楷体_GB2312" pitchFamily="49" charset="-122"/>
              </a:rPr>
              <a:t>图上的</a:t>
            </a:r>
            <a:r>
              <a:rPr lang="zh-CN" altLang="en-US" sz="2400" b="1" dirty="0">
                <a:solidFill>
                  <a:srgbClr val="FF0000"/>
                </a:solidFill>
                <a:latin typeface="Times New Roman" panose="02020603050405020304" pitchFamily="18" charset="0"/>
                <a:ea typeface="楷体_GB2312" pitchFamily="49" charset="-122"/>
              </a:rPr>
              <a:t>面积不能直接代表热量</a:t>
            </a:r>
            <a:r>
              <a:rPr lang="zh-CN" altLang="en-US" sz="2400" b="1" dirty="0">
                <a:latin typeface="Times New Roman" panose="02020603050405020304" pitchFamily="18" charset="0"/>
                <a:ea typeface="楷体_GB2312" pitchFamily="49" charset="-122"/>
              </a:rPr>
              <a:t>。但用</a:t>
            </a:r>
            <a:r>
              <a:rPr lang="en-US" altLang="zh-CN" sz="2400" b="1" i="1" dirty="0">
                <a:latin typeface="Times New Roman" panose="02020603050405020304" pitchFamily="18" charset="0"/>
                <a:ea typeface="楷体_GB2312" pitchFamily="49" charset="-122"/>
              </a:rPr>
              <a:t>T-s</a:t>
            </a:r>
            <a:r>
              <a:rPr lang="zh-CN" altLang="en-US" sz="2400" b="1" dirty="0">
                <a:latin typeface="Times New Roman" panose="02020603050405020304" pitchFamily="18" charset="0"/>
                <a:ea typeface="楷体_GB2312" pitchFamily="49" charset="-122"/>
              </a:rPr>
              <a:t>图分析仍然很有帮助。 </a:t>
            </a:r>
          </a:p>
        </p:txBody>
      </p:sp>
      <p:sp>
        <p:nvSpPr>
          <p:cNvPr id="66563" name="矩形 15393"/>
          <p:cNvSpPr>
            <a:spLocks noChangeArrowheads="1"/>
          </p:cNvSpPr>
          <p:nvPr/>
        </p:nvSpPr>
        <p:spPr bwMode="auto">
          <a:xfrm>
            <a:off x="0" y="18716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4" name="矩形 15395"/>
          <p:cNvSpPr>
            <a:spLocks noChangeArrowheads="1"/>
          </p:cNvSpPr>
          <p:nvPr/>
        </p:nvSpPr>
        <p:spPr bwMode="auto">
          <a:xfrm>
            <a:off x="0" y="21669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6" name="矩形 15397"/>
          <p:cNvSpPr>
            <a:spLocks noChangeArrowheads="1"/>
          </p:cNvSpPr>
          <p:nvPr/>
        </p:nvSpPr>
        <p:spPr bwMode="auto">
          <a:xfrm>
            <a:off x="0" y="1766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6567" name="矩形 15399"/>
          <p:cNvSpPr>
            <a:spLocks noChangeArrowheads="1"/>
          </p:cNvSpPr>
          <p:nvPr/>
        </p:nvSpPr>
        <p:spPr bwMode="auto">
          <a:xfrm>
            <a:off x="0" y="1743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6568" name="图片 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9173" y="1479550"/>
            <a:ext cx="4781550" cy="379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9"/>
          <p:cNvSpPr/>
          <p:nvPr/>
        </p:nvSpPr>
        <p:spPr>
          <a:xfrm>
            <a:off x="179036" y="418377"/>
            <a:ext cx="4512774" cy="523220"/>
          </a:xfrm>
          <a:prstGeom prst="rect">
            <a:avLst/>
          </a:prstGeom>
        </p:spPr>
        <p:txBody>
          <a:bodyPr wrap="none">
            <a:spAutoFit/>
          </a:bodyPr>
          <a:lstStyle/>
          <a:p>
            <a:r>
              <a:rPr lang="zh-CN" altLang="en-US" sz="2800" b="1" dirty="0" smtClean="0">
                <a:ea typeface="黑体" panose="02010609060101010101" pitchFamily="49" charset="-122"/>
              </a:rPr>
              <a:t>带抽汽回热的蒸汽动力装置</a:t>
            </a:r>
            <a:endParaRPr lang="zh-CN" altLang="en-US" sz="2800" dirty="0"/>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16106" y="444703"/>
            <a:ext cx="4115157" cy="3517697"/>
          </a:xfrm>
          <a:prstGeom prst="rect">
            <a:avLst/>
          </a:prstGeom>
        </p:spPr>
      </p:pic>
    </p:spTree>
    <p:extLst>
      <p:ext uri="{BB962C8B-B14F-4D97-AF65-F5344CB8AC3E}">
        <p14:creationId xmlns:p14="http://schemas.microsoft.com/office/powerpoint/2010/main" val="2172943302"/>
      </p:ext>
    </p:extLst>
  </p:cSld>
  <p:clrMapOvr>
    <a:masterClrMapping/>
  </p:clrMapOvr>
  <p:transition spd="slow"/>
  <p:timing>
    <p:tnLst>
      <p:par>
        <p:cTn id="1" dur="indefinite" restart="never" nodeType="tmRoot"/>
      </p:par>
    </p:tnLst>
  </p:timing>
  <p:extLst mod="1"/>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矩形 76803"/>
          <p:cNvSpPr>
            <a:spLocks noChangeArrowheads="1"/>
          </p:cNvSpPr>
          <p:nvPr/>
        </p:nvSpPr>
        <p:spPr bwMode="auto">
          <a:xfrm>
            <a:off x="457200" y="3155950"/>
            <a:ext cx="5170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t>循环中工质从外部热源吸收的热量为 </a:t>
            </a:r>
          </a:p>
        </p:txBody>
      </p:sp>
      <p:sp>
        <p:nvSpPr>
          <p:cNvPr id="67586" name="矩形 76805"/>
          <p:cNvSpPr>
            <a:spLocks noChangeArrowheads="1"/>
          </p:cNvSpPr>
          <p:nvPr/>
        </p:nvSpPr>
        <p:spPr bwMode="auto">
          <a:xfrm>
            <a:off x="0" y="33147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587" name="对象 76804"/>
          <p:cNvGraphicFramePr>
            <a:graphicFrameLocks noChangeAspect="1"/>
          </p:cNvGraphicFramePr>
          <p:nvPr>
            <p:extLst/>
          </p:nvPr>
        </p:nvGraphicFramePr>
        <p:xfrm>
          <a:off x="5568950" y="3204211"/>
          <a:ext cx="1327150" cy="434340"/>
        </p:xfrm>
        <a:graphic>
          <a:graphicData uri="http://schemas.openxmlformats.org/presentationml/2006/ole">
            <mc:AlternateContent xmlns:mc="http://schemas.openxmlformats.org/markup-compatibility/2006">
              <mc:Choice xmlns:v="urn:schemas-microsoft-com:vml" Requires="v">
                <p:oleObj spid="_x0000_s44055" r:id="rId3" imgW="698500" imgH="228600" progId="Equation.DSMT4">
                  <p:embed/>
                </p:oleObj>
              </mc:Choice>
              <mc:Fallback>
                <p:oleObj r:id="rId3" imgW="698500" imgH="228600" progId="Equation.DSMT4">
                  <p:embed/>
                  <p:pic>
                    <p:nvPicPr>
                      <p:cNvPr id="67587" name="对象 7680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68950" y="3204211"/>
                        <a:ext cx="1327150" cy="4343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89" name="矩形 76808"/>
          <p:cNvSpPr>
            <a:spLocks noChangeArrowheads="1"/>
          </p:cNvSpPr>
          <p:nvPr/>
        </p:nvSpPr>
        <p:spPr bwMode="auto">
          <a:xfrm>
            <a:off x="457200" y="3783496"/>
            <a:ext cx="42306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t>工质向外部冷源放出的热量为</a:t>
            </a:r>
            <a:r>
              <a:rPr lang="zh-CN" altLang="en-US" dirty="0"/>
              <a:t> </a:t>
            </a:r>
          </a:p>
        </p:txBody>
      </p:sp>
      <p:sp>
        <p:nvSpPr>
          <p:cNvPr id="67590" name="矩形 7681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591" name="对象 76809"/>
          <p:cNvGraphicFramePr>
            <a:graphicFrameLocks/>
          </p:cNvGraphicFramePr>
          <p:nvPr>
            <p:extLst/>
          </p:nvPr>
        </p:nvGraphicFramePr>
        <p:xfrm>
          <a:off x="4724400" y="3776870"/>
          <a:ext cx="2362200" cy="487363"/>
        </p:xfrm>
        <a:graphic>
          <a:graphicData uri="http://schemas.openxmlformats.org/presentationml/2006/ole">
            <mc:AlternateContent xmlns:mc="http://schemas.openxmlformats.org/markup-compatibility/2006">
              <mc:Choice xmlns:v="urn:schemas-microsoft-com:vml" Requires="v">
                <p:oleObj spid="_x0000_s44056" r:id="rId5" imgW="1244600" imgH="254000" progId="Equation.DSMT4">
                  <p:embed/>
                </p:oleObj>
              </mc:Choice>
              <mc:Fallback>
                <p:oleObj r:id="rId5" imgW="1244600" imgH="254000" progId="Equation.DSMT4">
                  <p:embed/>
                  <p:pic>
                    <p:nvPicPr>
                      <p:cNvPr id="67591" name="对象 7680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24400" y="3776870"/>
                        <a:ext cx="2362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2" name="矩形 76811"/>
          <p:cNvSpPr>
            <a:spLocks noChangeArrowheads="1"/>
          </p:cNvSpPr>
          <p:nvPr/>
        </p:nvSpPr>
        <p:spPr bwMode="auto">
          <a:xfrm>
            <a:off x="457200" y="4387849"/>
            <a:ext cx="269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t>汽轮机的作功量为</a:t>
            </a:r>
            <a:r>
              <a:rPr lang="zh-CN" altLang="en-US" dirty="0"/>
              <a:t> </a:t>
            </a:r>
          </a:p>
        </p:txBody>
      </p:sp>
      <p:sp>
        <p:nvSpPr>
          <p:cNvPr id="67593" name="矩形 76813"/>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594" name="对象 76812"/>
          <p:cNvGraphicFramePr>
            <a:graphicFrameLocks noChangeAspect="1"/>
          </p:cNvGraphicFramePr>
          <p:nvPr>
            <p:extLst/>
          </p:nvPr>
        </p:nvGraphicFramePr>
        <p:xfrm>
          <a:off x="3223011" y="4386462"/>
          <a:ext cx="3691890" cy="482600"/>
        </p:xfrm>
        <a:graphic>
          <a:graphicData uri="http://schemas.openxmlformats.org/presentationml/2006/ole">
            <mc:AlternateContent xmlns:mc="http://schemas.openxmlformats.org/markup-compatibility/2006">
              <mc:Choice xmlns:v="urn:schemas-microsoft-com:vml" Requires="v">
                <p:oleObj spid="_x0000_s44057" r:id="rId7" imgW="1943100" imgH="254000" progId="Equation.DSMT4">
                  <p:embed/>
                </p:oleObj>
              </mc:Choice>
              <mc:Fallback>
                <p:oleObj r:id="rId7" imgW="1943100" imgH="254000" progId="Equation.DSMT4">
                  <p:embed/>
                  <p:pic>
                    <p:nvPicPr>
                      <p:cNvPr id="67594" name="对象 76812"/>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23011" y="4386462"/>
                        <a:ext cx="3691890"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5" name="矩形 76814"/>
          <p:cNvSpPr>
            <a:spLocks noChangeArrowheads="1"/>
          </p:cNvSpPr>
          <p:nvPr/>
        </p:nvSpPr>
        <p:spPr bwMode="auto">
          <a:xfrm>
            <a:off x="457200" y="4984750"/>
            <a:ext cx="18002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a:t>消耗的泵功 </a:t>
            </a:r>
          </a:p>
        </p:txBody>
      </p:sp>
      <p:sp>
        <p:nvSpPr>
          <p:cNvPr id="67596" name="矩形 76816"/>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597" name="对象 76815"/>
          <p:cNvGraphicFramePr>
            <a:graphicFrameLocks noChangeAspect="1"/>
          </p:cNvGraphicFramePr>
          <p:nvPr>
            <p:extLst/>
          </p:nvPr>
        </p:nvGraphicFramePr>
        <p:xfrm>
          <a:off x="2344738" y="4984750"/>
          <a:ext cx="2579687" cy="482600"/>
        </p:xfrm>
        <a:graphic>
          <a:graphicData uri="http://schemas.openxmlformats.org/presentationml/2006/ole">
            <mc:AlternateContent xmlns:mc="http://schemas.openxmlformats.org/markup-compatibility/2006">
              <mc:Choice xmlns:v="urn:schemas-microsoft-com:vml" Requires="v">
                <p:oleObj spid="_x0000_s44058" name="Equation" r:id="rId9" imgW="1358640" imgH="253800" progId="Equation.DSMT4">
                  <p:embed/>
                </p:oleObj>
              </mc:Choice>
              <mc:Fallback>
                <p:oleObj name="Equation" r:id="rId9" imgW="1358640" imgH="253800" progId="Equation.DSMT4">
                  <p:embed/>
                  <p:pic>
                    <p:nvPicPr>
                      <p:cNvPr id="67597" name="对象 76815"/>
                      <p:cNvPicPr>
                        <a:picLocks noChangeArrowheads="1"/>
                      </p:cNvPicPr>
                      <p:nvPr/>
                    </p:nvPicPr>
                    <p:blipFill>
                      <a:blip r:embed="rId10"/>
                      <a:srcRect/>
                      <a:stretch>
                        <a:fillRect/>
                      </a:stretch>
                    </p:blipFill>
                    <p:spPr bwMode="auto">
                      <a:xfrm>
                        <a:off x="2344738" y="4984750"/>
                        <a:ext cx="257968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598" name="矩形 76818"/>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599" name="对象 76817"/>
          <p:cNvGraphicFramePr>
            <a:graphicFrameLocks/>
          </p:cNvGraphicFramePr>
          <p:nvPr/>
        </p:nvGraphicFramePr>
        <p:xfrm>
          <a:off x="5943600" y="5029200"/>
          <a:ext cx="1752600" cy="419100"/>
        </p:xfrm>
        <a:graphic>
          <a:graphicData uri="http://schemas.openxmlformats.org/presentationml/2006/ole">
            <mc:AlternateContent xmlns:mc="http://schemas.openxmlformats.org/markup-compatibility/2006">
              <mc:Choice xmlns:v="urn:schemas-microsoft-com:vml" Requires="v">
                <p:oleObj spid="_x0000_s44059" r:id="rId11" imgW="1079032" imgH="253890" progId="Equation.DSMT4">
                  <p:embed/>
                </p:oleObj>
              </mc:Choice>
              <mc:Fallback>
                <p:oleObj r:id="rId11" imgW="1079032" imgH="253890" progId="Equation.DSMT4">
                  <p:embed/>
                  <p:pic>
                    <p:nvPicPr>
                      <p:cNvPr id="67599" name="对象 7681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943600" y="5029200"/>
                        <a:ext cx="1752600"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600" name="矩形 76820"/>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601" name="对象 76819"/>
          <p:cNvGraphicFramePr>
            <a:graphicFrameLocks/>
          </p:cNvGraphicFramePr>
          <p:nvPr/>
        </p:nvGraphicFramePr>
        <p:xfrm>
          <a:off x="5943600" y="5486400"/>
          <a:ext cx="1905000" cy="431800"/>
        </p:xfrm>
        <a:graphic>
          <a:graphicData uri="http://schemas.openxmlformats.org/presentationml/2006/ole">
            <mc:AlternateContent xmlns:mc="http://schemas.openxmlformats.org/markup-compatibility/2006">
              <mc:Choice xmlns:v="urn:schemas-microsoft-com:vml" Requires="v">
                <p:oleObj spid="_x0000_s44060" r:id="rId13" imgW="1129810" imgH="253890" progId="Equation.DSMT4">
                  <p:embed/>
                </p:oleObj>
              </mc:Choice>
              <mc:Fallback>
                <p:oleObj r:id="rId13" imgW="1129810" imgH="253890" progId="Equation.DSMT4">
                  <p:embed/>
                  <p:pic>
                    <p:nvPicPr>
                      <p:cNvPr id="67601" name="对象 76819"/>
                      <p:cNvPicPr>
                        <a:picLocks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943600" y="5486400"/>
                        <a:ext cx="19050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602" name="矩形 76822"/>
          <p:cNvSpPr>
            <a:spLocks noChangeArrowheads="1"/>
          </p:cNvSpPr>
          <p:nvPr/>
        </p:nvSpPr>
        <p:spPr bwMode="auto">
          <a:xfrm>
            <a:off x="0" y="32146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67603" name="对象 76821"/>
          <p:cNvGraphicFramePr>
            <a:graphicFrameLocks noChangeAspect="1"/>
          </p:cNvGraphicFramePr>
          <p:nvPr>
            <p:extLst/>
          </p:nvPr>
        </p:nvGraphicFramePr>
        <p:xfrm>
          <a:off x="1333708" y="5645149"/>
          <a:ext cx="3352800" cy="863600"/>
        </p:xfrm>
        <a:graphic>
          <a:graphicData uri="http://schemas.openxmlformats.org/presentationml/2006/ole">
            <mc:AlternateContent xmlns:mc="http://schemas.openxmlformats.org/markup-compatibility/2006">
              <mc:Choice xmlns:v="urn:schemas-microsoft-com:vml" Requires="v">
                <p:oleObj spid="_x0000_s44061" r:id="rId15" imgW="1676400" imgH="431800" progId="Equation.DSMT4">
                  <p:embed/>
                </p:oleObj>
              </mc:Choice>
              <mc:Fallback>
                <p:oleObj r:id="rId15" imgW="1676400" imgH="431800" progId="Equation.DSMT4">
                  <p:embed/>
                  <p:pic>
                    <p:nvPicPr>
                      <p:cNvPr id="67603" name="对象 76821"/>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33708" y="5645149"/>
                        <a:ext cx="33528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67604" name="矩形 76823"/>
          <p:cNvSpPr>
            <a:spLocks noChangeArrowheads="1"/>
          </p:cNvSpPr>
          <p:nvPr/>
        </p:nvSpPr>
        <p:spPr bwMode="auto">
          <a:xfrm>
            <a:off x="5825490" y="5006339"/>
            <a:ext cx="2178823" cy="1003522"/>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7605" name="矩形 76825"/>
          <p:cNvSpPr>
            <a:spLocks noChangeArrowheads="1"/>
          </p:cNvSpPr>
          <p:nvPr/>
        </p:nvSpPr>
        <p:spPr bwMode="auto">
          <a:xfrm>
            <a:off x="0" y="17668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7606" name="矩形 76827"/>
          <p:cNvSpPr>
            <a:spLocks noChangeArrowheads="1"/>
          </p:cNvSpPr>
          <p:nvPr/>
        </p:nvSpPr>
        <p:spPr bwMode="auto">
          <a:xfrm>
            <a:off x="0" y="1743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67607" name="图片 3"/>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750888" y="120650"/>
            <a:ext cx="3894137" cy="3092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左箭头 3"/>
          <p:cNvSpPr/>
          <p:nvPr/>
        </p:nvSpPr>
        <p:spPr>
          <a:xfrm rot="1076173">
            <a:off x="4950991" y="5225677"/>
            <a:ext cx="835679" cy="280295"/>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4772348" y="111369"/>
            <a:ext cx="3578662" cy="3060457"/>
          </a:xfrm>
          <a:prstGeom prst="rect">
            <a:avLst/>
          </a:prstGeom>
        </p:spPr>
      </p:pic>
    </p:spTree>
    <p:extLst>
      <p:ext uri="{BB962C8B-B14F-4D97-AF65-F5344CB8AC3E}">
        <p14:creationId xmlns:p14="http://schemas.microsoft.com/office/powerpoint/2010/main" val="613237537"/>
      </p:ext>
    </p:extLst>
  </p:cSld>
  <p:clrMapOvr>
    <a:masterClrMapping/>
  </p:clrMapOvr>
  <p:transition spd="slow"/>
  <p:timing>
    <p:tnLst>
      <p:par>
        <p:cTn id="1" dur="indefinite" restart="never" nodeType="tmRoot"/>
      </p:par>
    </p:tnLst>
  </p:timing>
  <p:extLst mod="1"/>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917" y="741284"/>
            <a:ext cx="5145470" cy="4078577"/>
          </a:xfrm>
          <a:prstGeom prst="rect">
            <a:avLst/>
          </a:prstGeom>
        </p:spPr>
      </p:pic>
      <p:sp>
        <p:nvSpPr>
          <p:cNvPr id="68611" name="椭圆 77829"/>
          <p:cNvSpPr>
            <a:spLocks noChangeArrowheads="1"/>
          </p:cNvSpPr>
          <p:nvPr/>
        </p:nvSpPr>
        <p:spPr bwMode="auto">
          <a:xfrm>
            <a:off x="3473726" y="2001838"/>
            <a:ext cx="533400" cy="381000"/>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68612" name="矩形 77831"/>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33" name="矩形 77832"/>
          <p:cNvSpPr>
            <a:spLocks noChangeArrowheads="1"/>
          </p:cNvSpPr>
          <p:nvPr/>
        </p:nvSpPr>
        <p:spPr bwMode="auto">
          <a:xfrm>
            <a:off x="228600" y="4572000"/>
            <a:ext cx="71628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400" b="1"/>
              <a:t>在回热器的混合换热过程中，不涉及作功，若假设无热损失，根据稳定流动开口系统能量守恒方程式 </a:t>
            </a:r>
          </a:p>
        </p:txBody>
      </p:sp>
      <p:sp>
        <p:nvSpPr>
          <p:cNvPr id="68614" name="矩形 77834"/>
          <p:cNvSpPr>
            <a:spLocks noChangeArrowheads="1"/>
          </p:cNvSpPr>
          <p:nvPr/>
        </p:nvSpPr>
        <p:spPr bwMode="auto">
          <a:xfrm>
            <a:off x="0" y="26955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68616" name="矩形 77836"/>
          <p:cNvSpPr>
            <a:spLocks noChangeArrowheads="1"/>
          </p:cNvSpPr>
          <p:nvPr/>
        </p:nvSpPr>
        <p:spPr bwMode="auto">
          <a:xfrm>
            <a:off x="0" y="32051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7836" name="对象 77835"/>
          <p:cNvGraphicFramePr>
            <a:graphicFrameLocks/>
          </p:cNvGraphicFramePr>
          <p:nvPr>
            <p:extLst/>
          </p:nvPr>
        </p:nvGraphicFramePr>
        <p:xfrm>
          <a:off x="130312" y="5638800"/>
          <a:ext cx="5843588" cy="717550"/>
        </p:xfrm>
        <a:graphic>
          <a:graphicData uri="http://schemas.openxmlformats.org/presentationml/2006/ole">
            <mc:AlternateContent xmlns:mc="http://schemas.openxmlformats.org/markup-compatibility/2006">
              <mc:Choice xmlns:v="urn:schemas-microsoft-com:vml" Requires="v">
                <p:oleObj spid="_x0000_s45070" name="Equation" r:id="rId5" imgW="3644640" imgH="444240" progId="Equation.DSMT4">
                  <p:embed/>
                </p:oleObj>
              </mc:Choice>
              <mc:Fallback>
                <p:oleObj name="Equation" r:id="rId5" imgW="3644640" imgH="444240" progId="Equation.DSMT4">
                  <p:embed/>
                  <p:pic>
                    <p:nvPicPr>
                      <p:cNvPr id="77836" name="对象 77835"/>
                      <p:cNvPicPr>
                        <a:picLocks noChangeArrowheads="1"/>
                      </p:cNvPicPr>
                      <p:nvPr/>
                    </p:nvPicPr>
                    <p:blipFill>
                      <a:blip r:embed="rId6"/>
                      <a:srcRect/>
                      <a:stretch>
                        <a:fillRect/>
                      </a:stretch>
                    </p:blipFill>
                    <p:spPr bwMode="auto">
                      <a:xfrm>
                        <a:off x="130312" y="5638800"/>
                        <a:ext cx="5843588"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7838" name="右箭头 77837"/>
          <p:cNvSpPr>
            <a:spLocks noChangeArrowheads="1"/>
          </p:cNvSpPr>
          <p:nvPr/>
        </p:nvSpPr>
        <p:spPr bwMode="auto">
          <a:xfrm>
            <a:off x="5989982" y="5867400"/>
            <a:ext cx="381000" cy="228600"/>
          </a:xfrm>
          <a:prstGeom prst="rightArrow">
            <a:avLst>
              <a:gd name="adj1" fmla="val 50000"/>
              <a:gd name="adj2" fmla="val 41651"/>
            </a:avLst>
          </a:prstGeom>
          <a:solidFill>
            <a:schemeClr val="accent1"/>
          </a:solidFill>
          <a:ln w="9525">
            <a:solidFill>
              <a:schemeClr val="tx1"/>
            </a:solidFill>
            <a:miter lim="800000"/>
            <a:headEnd/>
            <a:tailEnd/>
          </a:ln>
        </p:spPr>
        <p:txBody>
          <a:bodyPr/>
          <a:lstStyle/>
          <a:p>
            <a:endParaRPr lang="zh-CN" altLang="en-US"/>
          </a:p>
        </p:txBody>
      </p:sp>
      <p:sp>
        <p:nvSpPr>
          <p:cNvPr id="68619" name="矩形 77839"/>
          <p:cNvSpPr>
            <a:spLocks noChangeArrowheads="1"/>
          </p:cNvSpPr>
          <p:nvPr/>
        </p:nvSpPr>
        <p:spPr bwMode="auto">
          <a:xfrm>
            <a:off x="0" y="33004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graphicFrame>
        <p:nvGraphicFramePr>
          <p:cNvPr id="77839" name="对象 77838"/>
          <p:cNvGraphicFramePr>
            <a:graphicFrameLocks/>
          </p:cNvGraphicFramePr>
          <p:nvPr/>
        </p:nvGraphicFramePr>
        <p:xfrm>
          <a:off x="6553200" y="5715000"/>
          <a:ext cx="2286000" cy="482600"/>
        </p:xfrm>
        <a:graphic>
          <a:graphicData uri="http://schemas.openxmlformats.org/presentationml/2006/ole">
            <mc:AlternateContent xmlns:mc="http://schemas.openxmlformats.org/markup-compatibility/2006">
              <mc:Choice xmlns:v="urn:schemas-microsoft-com:vml" Requires="v">
                <p:oleObj spid="_x0000_s45071" r:id="rId7" imgW="1218671" imgH="253890" progId="Equation.DSMT4">
                  <p:embed/>
                </p:oleObj>
              </mc:Choice>
              <mc:Fallback>
                <p:oleObj r:id="rId7" imgW="1218671" imgH="253890" progId="Equation.DSMT4">
                  <p:embed/>
                  <p:pic>
                    <p:nvPicPr>
                      <p:cNvPr id="77839" name="对象 77838"/>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53200" y="5715000"/>
                        <a:ext cx="2286000" cy="4826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7841" name="直接连接符 77840"/>
          <p:cNvSpPr>
            <a:spLocks noChangeShapeType="1"/>
          </p:cNvSpPr>
          <p:nvPr/>
        </p:nvSpPr>
        <p:spPr bwMode="auto">
          <a:xfrm flipH="1">
            <a:off x="152400" y="5638800"/>
            <a:ext cx="304800" cy="6096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2" name="直接连接符 77841"/>
          <p:cNvSpPr>
            <a:spLocks noChangeShapeType="1"/>
          </p:cNvSpPr>
          <p:nvPr/>
        </p:nvSpPr>
        <p:spPr bwMode="auto">
          <a:xfrm flipH="1">
            <a:off x="457200" y="5715000"/>
            <a:ext cx="381000" cy="5334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3" name="直接连接符 77842"/>
          <p:cNvSpPr>
            <a:spLocks noChangeShapeType="1"/>
          </p:cNvSpPr>
          <p:nvPr/>
        </p:nvSpPr>
        <p:spPr bwMode="auto">
          <a:xfrm flipH="1">
            <a:off x="2286000" y="5638800"/>
            <a:ext cx="609600" cy="6858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4" name="直接连接符 77843"/>
          <p:cNvSpPr>
            <a:spLocks noChangeShapeType="1"/>
          </p:cNvSpPr>
          <p:nvPr/>
        </p:nvSpPr>
        <p:spPr bwMode="auto">
          <a:xfrm flipH="1">
            <a:off x="2985052" y="5860774"/>
            <a:ext cx="228600" cy="3810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6" name="直接连接符 77845"/>
          <p:cNvSpPr>
            <a:spLocks noChangeShapeType="1"/>
          </p:cNvSpPr>
          <p:nvPr/>
        </p:nvSpPr>
        <p:spPr bwMode="auto">
          <a:xfrm flipH="1">
            <a:off x="5542718" y="5791200"/>
            <a:ext cx="381000" cy="4572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7847" name="直接连接符 77846"/>
          <p:cNvSpPr>
            <a:spLocks noChangeShapeType="1"/>
          </p:cNvSpPr>
          <p:nvPr/>
        </p:nvSpPr>
        <p:spPr bwMode="auto">
          <a:xfrm flipH="1">
            <a:off x="4572000" y="5638800"/>
            <a:ext cx="533400" cy="685800"/>
          </a:xfrm>
          <a:prstGeom prst="line">
            <a:avLst/>
          </a:prstGeom>
          <a:noFill/>
          <a:ln w="127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77848" name="对象 77847"/>
          <p:cNvGraphicFramePr>
            <a:graphicFrameLocks/>
          </p:cNvGraphicFramePr>
          <p:nvPr/>
        </p:nvGraphicFramePr>
        <p:xfrm>
          <a:off x="7467600" y="4343400"/>
          <a:ext cx="1295400" cy="765175"/>
        </p:xfrm>
        <a:graphic>
          <a:graphicData uri="http://schemas.openxmlformats.org/presentationml/2006/ole">
            <mc:AlternateContent xmlns:mc="http://schemas.openxmlformats.org/markup-compatibility/2006">
              <mc:Choice xmlns:v="urn:schemas-microsoft-com:vml" Requires="v">
                <p:oleObj spid="_x0000_s45072" r:id="rId9" imgW="723586" imgH="431613" progId="Equation.DSMT4">
                  <p:embed/>
                </p:oleObj>
              </mc:Choice>
              <mc:Fallback>
                <p:oleObj r:id="rId9" imgW="723586" imgH="431613" progId="Equation.DSMT4">
                  <p:embed/>
                  <p:pic>
                    <p:nvPicPr>
                      <p:cNvPr id="77848" name="对象 77847"/>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467600" y="4343400"/>
                        <a:ext cx="12954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
        <p:nvSpPr>
          <p:cNvPr id="77850" name="上箭头 77849"/>
          <p:cNvSpPr>
            <a:spLocks noChangeArrowheads="1"/>
          </p:cNvSpPr>
          <p:nvPr/>
        </p:nvSpPr>
        <p:spPr bwMode="auto">
          <a:xfrm>
            <a:off x="8077200" y="5181600"/>
            <a:ext cx="152400" cy="381000"/>
          </a:xfrm>
          <a:prstGeom prst="upArrow">
            <a:avLst>
              <a:gd name="adj1" fmla="val 50000"/>
              <a:gd name="adj2" fmla="val 62500"/>
            </a:avLst>
          </a:prstGeom>
          <a:solidFill>
            <a:schemeClr val="accent1"/>
          </a:solidFill>
          <a:ln w="9525">
            <a:solidFill>
              <a:schemeClr val="tx1"/>
            </a:solidFill>
            <a:miter lim="800000"/>
            <a:headEnd/>
            <a:tailEnd/>
          </a:ln>
        </p:spPr>
        <p:txBody>
          <a:bodyPr/>
          <a:lstStyle/>
          <a:p>
            <a:endParaRPr lang="zh-CN" altLang="en-US"/>
          </a:p>
        </p:txBody>
      </p:sp>
      <p:sp>
        <p:nvSpPr>
          <p:cNvPr id="68629" name="矩形 77851"/>
          <p:cNvSpPr>
            <a:spLocks noChangeArrowheads="1"/>
          </p:cNvSpPr>
          <p:nvPr/>
        </p:nvSpPr>
        <p:spPr bwMode="auto">
          <a:xfrm>
            <a:off x="0" y="17430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23" name="矩形 76803"/>
          <p:cNvSpPr>
            <a:spLocks noChangeArrowheads="1"/>
          </p:cNvSpPr>
          <p:nvPr/>
        </p:nvSpPr>
        <p:spPr bwMode="auto">
          <a:xfrm>
            <a:off x="385206" y="176915"/>
            <a:ext cx="57534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p>
            <a:r>
              <a:rPr lang="zh-CN" altLang="en-US" sz="2400" b="1" dirty="0" smtClean="0"/>
              <a:t>为了计算热效率，需要确定回热的抽汽量</a:t>
            </a:r>
            <a:endParaRPr lang="zh-CN" altLang="en-US" sz="2400" b="1" dirty="0"/>
          </a:p>
        </p:txBody>
      </p:sp>
      <p:graphicFrame>
        <p:nvGraphicFramePr>
          <p:cNvPr id="24" name="对象 23"/>
          <p:cNvGraphicFramePr>
            <a:graphicFrameLocks/>
          </p:cNvGraphicFramePr>
          <p:nvPr>
            <p:extLst/>
          </p:nvPr>
        </p:nvGraphicFramePr>
        <p:xfrm>
          <a:off x="5997575" y="327535"/>
          <a:ext cx="273050" cy="247650"/>
        </p:xfrm>
        <a:graphic>
          <a:graphicData uri="http://schemas.openxmlformats.org/presentationml/2006/ole">
            <mc:AlternateContent xmlns:mc="http://schemas.openxmlformats.org/markup-compatibility/2006">
              <mc:Choice xmlns:v="urn:schemas-microsoft-com:vml" Requires="v">
                <p:oleObj spid="_x0000_s45073" name="Equation" r:id="rId11" imgW="152280" imgH="139680" progId="Equation.DSMT4">
                  <p:embed/>
                </p:oleObj>
              </mc:Choice>
              <mc:Fallback>
                <p:oleObj name="Equation" r:id="rId11" imgW="152280" imgH="139680" progId="Equation.DSMT4">
                  <p:embed/>
                  <p:pic>
                    <p:nvPicPr>
                      <p:cNvPr id="24" name="对象 23"/>
                      <p:cNvPicPr>
                        <a:picLocks noChangeArrowheads="1"/>
                      </p:cNvPicPr>
                      <p:nvPr/>
                    </p:nvPicPr>
                    <p:blipFill>
                      <a:blip r:embed="rId12"/>
                      <a:srcRect/>
                      <a:stretch>
                        <a:fillRect/>
                      </a:stretch>
                    </p:blipFill>
                    <p:spPr bwMode="auto">
                      <a:xfrm>
                        <a:off x="5997575" y="327535"/>
                        <a:ext cx="27305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3" name="图片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5882437" y="1331721"/>
            <a:ext cx="2347163" cy="1956986"/>
          </a:xfrm>
          <a:prstGeom prst="rect">
            <a:avLst/>
          </a:prstGeom>
        </p:spPr>
      </p:pic>
    </p:spTree>
    <p:custDataLst>
      <p:tags r:id="rId2"/>
    </p:custDataLst>
    <p:extLst>
      <p:ext uri="{BB962C8B-B14F-4D97-AF65-F5344CB8AC3E}">
        <p14:creationId xmlns:p14="http://schemas.microsoft.com/office/powerpoint/2010/main" val="36092543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7836"/>
                                        </p:tgtEl>
                                        <p:attrNameLst>
                                          <p:attrName>style.visibility</p:attrName>
                                        </p:attrNameLst>
                                      </p:cBhvr>
                                      <p:to>
                                        <p:strVal val="visible"/>
                                      </p:to>
                                    </p:set>
                                    <p:animEffect transition="in" filter="blinds(horizontal)">
                                      <p:cBhvr>
                                        <p:cTn id="7" dur="500"/>
                                        <p:tgtEl>
                                          <p:spTgt spid="7783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77833"/>
                                        </p:tgtEl>
                                        <p:attrNameLst>
                                          <p:attrName>style.visibility</p:attrName>
                                        </p:attrNameLst>
                                      </p:cBhvr>
                                      <p:to>
                                        <p:strVal val="visible"/>
                                      </p:to>
                                    </p:set>
                                    <p:animEffect transition="in" filter="blinds(horizontal)">
                                      <p:cBhvr>
                                        <p:cTn id="10" dur="500"/>
                                        <p:tgtEl>
                                          <p:spTgt spid="7783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77841"/>
                                        </p:tgtEl>
                                        <p:attrNameLst>
                                          <p:attrName>style.visibility</p:attrName>
                                        </p:attrNameLst>
                                      </p:cBhvr>
                                      <p:to>
                                        <p:strVal val="visible"/>
                                      </p:to>
                                    </p:set>
                                    <p:animEffect transition="in" filter="wipe(left)">
                                      <p:cBhvr>
                                        <p:cTn id="15" dur="500"/>
                                        <p:tgtEl>
                                          <p:spTgt spid="77841"/>
                                        </p:tgtEl>
                                      </p:cBhvr>
                                    </p:animEffect>
                                  </p:childTnLst>
                                </p:cTn>
                              </p:par>
                              <p:par>
                                <p:cTn id="16" presetID="22" presetClass="entr" presetSubtype="8" fill="hold" nodeType="withEffect">
                                  <p:stCondLst>
                                    <p:cond delay="0"/>
                                  </p:stCondLst>
                                  <p:childTnLst>
                                    <p:set>
                                      <p:cBhvr>
                                        <p:cTn id="17" dur="1" fill="hold">
                                          <p:stCondLst>
                                            <p:cond delay="0"/>
                                          </p:stCondLst>
                                        </p:cTn>
                                        <p:tgtEl>
                                          <p:spTgt spid="77842"/>
                                        </p:tgtEl>
                                        <p:attrNameLst>
                                          <p:attrName>style.visibility</p:attrName>
                                        </p:attrNameLst>
                                      </p:cBhvr>
                                      <p:to>
                                        <p:strVal val="visible"/>
                                      </p:to>
                                    </p:set>
                                    <p:animEffect transition="in" filter="wipe(left)">
                                      <p:cBhvr>
                                        <p:cTn id="18" dur="500"/>
                                        <p:tgtEl>
                                          <p:spTgt spid="77842"/>
                                        </p:tgtEl>
                                      </p:cBhvr>
                                    </p:animEffect>
                                  </p:childTnLst>
                                </p:cTn>
                              </p:par>
                              <p:par>
                                <p:cTn id="19" presetID="22" presetClass="entr" presetSubtype="8" fill="hold" nodeType="withEffect">
                                  <p:stCondLst>
                                    <p:cond delay="0"/>
                                  </p:stCondLst>
                                  <p:childTnLst>
                                    <p:set>
                                      <p:cBhvr>
                                        <p:cTn id="20" dur="1" fill="hold">
                                          <p:stCondLst>
                                            <p:cond delay="0"/>
                                          </p:stCondLst>
                                        </p:cTn>
                                        <p:tgtEl>
                                          <p:spTgt spid="77843"/>
                                        </p:tgtEl>
                                        <p:attrNameLst>
                                          <p:attrName>style.visibility</p:attrName>
                                        </p:attrNameLst>
                                      </p:cBhvr>
                                      <p:to>
                                        <p:strVal val="visible"/>
                                      </p:to>
                                    </p:set>
                                    <p:animEffect transition="in" filter="wipe(left)">
                                      <p:cBhvr>
                                        <p:cTn id="21" dur="500"/>
                                        <p:tgtEl>
                                          <p:spTgt spid="77843"/>
                                        </p:tgtEl>
                                      </p:cBhvr>
                                    </p:animEffect>
                                  </p:childTnLst>
                                </p:cTn>
                              </p:par>
                              <p:par>
                                <p:cTn id="22" presetID="22" presetClass="entr" presetSubtype="8" fill="hold" nodeType="withEffect">
                                  <p:stCondLst>
                                    <p:cond delay="0"/>
                                  </p:stCondLst>
                                  <p:childTnLst>
                                    <p:set>
                                      <p:cBhvr>
                                        <p:cTn id="23" dur="1" fill="hold">
                                          <p:stCondLst>
                                            <p:cond delay="0"/>
                                          </p:stCondLst>
                                        </p:cTn>
                                        <p:tgtEl>
                                          <p:spTgt spid="77844"/>
                                        </p:tgtEl>
                                        <p:attrNameLst>
                                          <p:attrName>style.visibility</p:attrName>
                                        </p:attrNameLst>
                                      </p:cBhvr>
                                      <p:to>
                                        <p:strVal val="visible"/>
                                      </p:to>
                                    </p:set>
                                    <p:animEffect transition="in" filter="wipe(left)">
                                      <p:cBhvr>
                                        <p:cTn id="24" dur="500"/>
                                        <p:tgtEl>
                                          <p:spTgt spid="77844"/>
                                        </p:tgtEl>
                                      </p:cBhvr>
                                    </p:animEffect>
                                  </p:childTnLst>
                                </p:cTn>
                              </p:par>
                              <p:par>
                                <p:cTn id="25" presetID="22" presetClass="entr" presetSubtype="8" fill="hold" nodeType="withEffect">
                                  <p:stCondLst>
                                    <p:cond delay="0"/>
                                  </p:stCondLst>
                                  <p:childTnLst>
                                    <p:set>
                                      <p:cBhvr>
                                        <p:cTn id="26" dur="1" fill="hold">
                                          <p:stCondLst>
                                            <p:cond delay="0"/>
                                          </p:stCondLst>
                                        </p:cTn>
                                        <p:tgtEl>
                                          <p:spTgt spid="77847"/>
                                        </p:tgtEl>
                                        <p:attrNameLst>
                                          <p:attrName>style.visibility</p:attrName>
                                        </p:attrNameLst>
                                      </p:cBhvr>
                                      <p:to>
                                        <p:strVal val="visible"/>
                                      </p:to>
                                    </p:set>
                                    <p:animEffect transition="in" filter="wipe(left)">
                                      <p:cBhvr>
                                        <p:cTn id="27" dur="500"/>
                                        <p:tgtEl>
                                          <p:spTgt spid="77847"/>
                                        </p:tgtEl>
                                      </p:cBhvr>
                                    </p:animEffect>
                                  </p:childTnLst>
                                </p:cTn>
                              </p:par>
                              <p:par>
                                <p:cTn id="28" presetID="22" presetClass="entr" presetSubtype="8" fill="hold" nodeType="withEffect">
                                  <p:stCondLst>
                                    <p:cond delay="0"/>
                                  </p:stCondLst>
                                  <p:childTnLst>
                                    <p:set>
                                      <p:cBhvr>
                                        <p:cTn id="29" dur="1" fill="hold">
                                          <p:stCondLst>
                                            <p:cond delay="0"/>
                                          </p:stCondLst>
                                        </p:cTn>
                                        <p:tgtEl>
                                          <p:spTgt spid="77846"/>
                                        </p:tgtEl>
                                        <p:attrNameLst>
                                          <p:attrName>style.visibility</p:attrName>
                                        </p:attrNameLst>
                                      </p:cBhvr>
                                      <p:to>
                                        <p:strVal val="visible"/>
                                      </p:to>
                                    </p:set>
                                    <p:animEffect transition="in" filter="wipe(left)">
                                      <p:cBhvr>
                                        <p:cTn id="30" dur="500"/>
                                        <p:tgtEl>
                                          <p:spTgt spid="77846"/>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77838"/>
                                        </p:tgtEl>
                                        <p:attrNameLst>
                                          <p:attrName>style.visibility</p:attrName>
                                        </p:attrNameLst>
                                      </p:cBhvr>
                                      <p:to>
                                        <p:strVal val="visible"/>
                                      </p:to>
                                    </p:set>
                                    <p:animEffect transition="in" filter="wipe(left)">
                                      <p:cBhvr>
                                        <p:cTn id="35" dur="500"/>
                                        <p:tgtEl>
                                          <p:spTgt spid="77838"/>
                                        </p:tgtEl>
                                      </p:cBhvr>
                                    </p:animEffect>
                                  </p:childTnLst>
                                </p:cTn>
                              </p:par>
                              <p:par>
                                <p:cTn id="36" presetID="22" presetClass="entr" presetSubtype="8" fill="hold" nodeType="withEffect">
                                  <p:stCondLst>
                                    <p:cond delay="0"/>
                                  </p:stCondLst>
                                  <p:childTnLst>
                                    <p:set>
                                      <p:cBhvr>
                                        <p:cTn id="37" dur="1" fill="hold">
                                          <p:stCondLst>
                                            <p:cond delay="0"/>
                                          </p:stCondLst>
                                        </p:cTn>
                                        <p:tgtEl>
                                          <p:spTgt spid="77839"/>
                                        </p:tgtEl>
                                        <p:attrNameLst>
                                          <p:attrName>style.visibility</p:attrName>
                                        </p:attrNameLst>
                                      </p:cBhvr>
                                      <p:to>
                                        <p:strVal val="visible"/>
                                      </p:to>
                                    </p:set>
                                    <p:animEffect transition="in" filter="wipe(left)">
                                      <p:cBhvr>
                                        <p:cTn id="38" dur="500"/>
                                        <p:tgtEl>
                                          <p:spTgt spid="77839"/>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4" fill="hold" nodeType="clickEffect">
                                  <p:stCondLst>
                                    <p:cond delay="0"/>
                                  </p:stCondLst>
                                  <p:childTnLst>
                                    <p:set>
                                      <p:cBhvr>
                                        <p:cTn id="42" dur="1" fill="hold">
                                          <p:stCondLst>
                                            <p:cond delay="0"/>
                                          </p:stCondLst>
                                        </p:cTn>
                                        <p:tgtEl>
                                          <p:spTgt spid="77850"/>
                                        </p:tgtEl>
                                        <p:attrNameLst>
                                          <p:attrName>style.visibility</p:attrName>
                                        </p:attrNameLst>
                                      </p:cBhvr>
                                      <p:to>
                                        <p:strVal val="visible"/>
                                      </p:to>
                                    </p:set>
                                    <p:animEffect transition="in" filter="wipe(down)">
                                      <p:cBhvr>
                                        <p:cTn id="43" dur="500"/>
                                        <p:tgtEl>
                                          <p:spTgt spid="77850"/>
                                        </p:tgtEl>
                                      </p:cBhvr>
                                    </p:animEffect>
                                  </p:childTnLst>
                                </p:cTn>
                              </p:par>
                              <p:par>
                                <p:cTn id="44" presetID="22" presetClass="entr" presetSubtype="4" fill="hold" nodeType="withEffect">
                                  <p:stCondLst>
                                    <p:cond delay="0"/>
                                  </p:stCondLst>
                                  <p:childTnLst>
                                    <p:set>
                                      <p:cBhvr>
                                        <p:cTn id="45" dur="1" fill="hold">
                                          <p:stCondLst>
                                            <p:cond delay="0"/>
                                          </p:stCondLst>
                                        </p:cTn>
                                        <p:tgtEl>
                                          <p:spTgt spid="77848"/>
                                        </p:tgtEl>
                                        <p:attrNameLst>
                                          <p:attrName>style.visibility</p:attrName>
                                        </p:attrNameLst>
                                      </p:cBhvr>
                                      <p:to>
                                        <p:strVal val="visible"/>
                                      </p:to>
                                    </p:set>
                                    <p:animEffect transition="in" filter="wipe(down)">
                                      <p:cBhvr>
                                        <p:cTn id="46" dur="500"/>
                                        <p:tgtEl>
                                          <p:spTgt spid="77848"/>
                                        </p:tgtEl>
                                      </p:cBhvr>
                                    </p:animEffect>
                                  </p:childTnLst>
                                </p:cTn>
                              </p:par>
                              <p:par>
                                <p:cTn id="47" presetID="22" presetClass="entr" presetSubtype="4" fill="hold" nodeType="withEffect">
                                  <p:stCondLst>
                                    <p:cond delay="0"/>
                                  </p:stCondLst>
                                  <p:childTnLst>
                                    <p:set>
                                      <p:cBhvr>
                                        <p:cTn id="48" dur="1" fill="hold">
                                          <p:stCondLst>
                                            <p:cond delay="0"/>
                                          </p:stCondLst>
                                        </p:cTn>
                                        <p:tgtEl>
                                          <p:spTgt spid="24"/>
                                        </p:tgtEl>
                                        <p:attrNameLst>
                                          <p:attrName>style.visibility</p:attrName>
                                        </p:attrNameLst>
                                      </p:cBhvr>
                                      <p:to>
                                        <p:strVal val="visible"/>
                                      </p:to>
                                    </p:set>
                                    <p:animEffect transition="in" filter="wipe(down)">
                                      <p:cBhvr>
                                        <p:cTn id="49"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833" grpId="0"/>
    </p:bldLst>
  </p:timing>
  <p:extLst mod="1"/>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6" name="Rectangle 66"/>
          <p:cNvSpPr>
            <a:spLocks noChangeArrowheads="1"/>
          </p:cNvSpPr>
          <p:nvPr/>
        </p:nvSpPr>
        <p:spPr bwMode="auto">
          <a:xfrm>
            <a:off x="304800" y="4267200"/>
            <a:ext cx="3810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endParaRPr lang="zh-CN" altLang="en-US" sz="2800" b="1">
              <a:latin typeface="Times New Roman" panose="02020603050405020304" pitchFamily="18" charset="0"/>
              <a:ea typeface="楷体_GB2312" pitchFamily="49" charset="-122"/>
            </a:endParaRPr>
          </a:p>
        </p:txBody>
      </p:sp>
      <p:sp>
        <p:nvSpPr>
          <p:cNvPr id="2" name="矩形 1"/>
          <p:cNvSpPr/>
          <p:nvPr/>
        </p:nvSpPr>
        <p:spPr>
          <a:xfrm>
            <a:off x="304800" y="4052570"/>
            <a:ext cx="3810000" cy="1200329"/>
          </a:xfrm>
          <a:prstGeom prst="rect">
            <a:avLst/>
          </a:prstGeom>
        </p:spPr>
        <p:txBody>
          <a:bodyPr wrap="square">
            <a:spAutoFit/>
          </a:bodyPr>
          <a:lstStyle/>
          <a:p>
            <a:pPr algn="ctr"/>
            <a:r>
              <a:rPr lang="zh-CN" altLang="en-US" sz="2400" b="1" dirty="0"/>
              <a:t>无回热的蒸汽动力循环</a:t>
            </a:r>
          </a:p>
          <a:p>
            <a:pPr algn="ctr"/>
            <a:r>
              <a:rPr lang="zh-CN" altLang="en-US" sz="2400" b="1" dirty="0"/>
              <a:t>从外部热源的吸热段</a:t>
            </a:r>
            <a:r>
              <a:rPr lang="zh-CN" altLang="en-US" sz="2400" b="1" dirty="0" smtClean="0"/>
              <a:t>：</a:t>
            </a:r>
            <a:r>
              <a:rPr lang="en-US" altLang="zh-CN" sz="2400" b="1" dirty="0">
                <a:solidFill>
                  <a:srgbClr val="FF0000"/>
                </a:solidFill>
                <a:latin typeface="Times New Roman" panose="02020603050405020304" pitchFamily="18" charset="0"/>
                <a:ea typeface="楷体_GB2312" pitchFamily="49" charset="-122"/>
              </a:rPr>
              <a:t>2-3</a:t>
            </a:r>
          </a:p>
          <a:p>
            <a:r>
              <a:rPr lang="zh-CN" altLang="en-US" sz="2400" b="1" dirty="0" smtClean="0"/>
              <a:t> </a:t>
            </a:r>
            <a:endParaRPr lang="zh-CN" altLang="en-US" sz="2400" b="1" dirty="0"/>
          </a:p>
        </p:txBody>
      </p:sp>
      <p:sp>
        <p:nvSpPr>
          <p:cNvPr id="3" name="矩形 2"/>
          <p:cNvSpPr/>
          <p:nvPr/>
        </p:nvSpPr>
        <p:spPr>
          <a:xfrm>
            <a:off x="4572000" y="4052570"/>
            <a:ext cx="4572000" cy="830997"/>
          </a:xfrm>
          <a:prstGeom prst="rect">
            <a:avLst/>
          </a:prstGeom>
        </p:spPr>
        <p:txBody>
          <a:bodyPr>
            <a:spAutoFit/>
          </a:bodyPr>
          <a:lstStyle/>
          <a:p>
            <a:pPr algn="ctr"/>
            <a:r>
              <a:rPr lang="zh-CN" altLang="en-US" sz="2400" b="1" dirty="0"/>
              <a:t>带抽汽回热的蒸汽动力循环</a:t>
            </a:r>
          </a:p>
          <a:p>
            <a:pPr algn="ctr"/>
            <a:r>
              <a:rPr lang="zh-CN" altLang="en-US" sz="2400" b="1" dirty="0"/>
              <a:t>从外部热源的吸热段：</a:t>
            </a:r>
            <a:r>
              <a:rPr lang="zh-CN" altLang="en-US" sz="2400" b="1" dirty="0">
                <a:solidFill>
                  <a:srgbClr val="FF0000"/>
                </a:solidFill>
                <a:latin typeface="Times New Roman" panose="02020603050405020304" pitchFamily="18" charset="0"/>
                <a:ea typeface="楷体_GB2312" pitchFamily="49" charset="-122"/>
              </a:rPr>
              <a:t>4-5</a:t>
            </a:r>
          </a:p>
        </p:txBody>
      </p:sp>
      <p:sp>
        <p:nvSpPr>
          <p:cNvPr id="4" name="矩形 3"/>
          <p:cNvSpPr/>
          <p:nvPr/>
        </p:nvSpPr>
        <p:spPr>
          <a:xfrm>
            <a:off x="789093" y="5352382"/>
            <a:ext cx="7718214" cy="954107"/>
          </a:xfrm>
          <a:prstGeom prst="rect">
            <a:avLst/>
          </a:prstGeom>
        </p:spPr>
        <p:txBody>
          <a:bodyPr wrap="square">
            <a:spAutoFit/>
          </a:bodyPr>
          <a:lstStyle/>
          <a:p>
            <a:r>
              <a:rPr lang="zh-CN" altLang="en-US" sz="2800" b="1" dirty="0"/>
              <a:t>工质从外部热源吸热的平均温度提高了，因此循环的热效率也相应提高。 </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1849" y="254393"/>
            <a:ext cx="4035902" cy="3712786"/>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8690" y="581626"/>
            <a:ext cx="3883489" cy="3322608"/>
          </a:xfrm>
          <a:prstGeom prst="rect">
            <a:avLst/>
          </a:prstGeom>
        </p:spPr>
      </p:pic>
    </p:spTree>
    <p:extLst>
      <p:ext uri="{BB962C8B-B14F-4D97-AF65-F5344CB8AC3E}">
        <p14:creationId xmlns:p14="http://schemas.microsoft.com/office/powerpoint/2010/main" val="558285773"/>
      </p:ext>
    </p:extLst>
  </p:cSld>
  <p:clrMapOvr>
    <a:masterClrMapping/>
  </p:clrMapOvr>
  <p:transition spd="slow"/>
  <p:timing>
    <p:tnLst>
      <p:par>
        <p:cTn id="1" dur="indefinite" restart="never" nodeType="tmRoot"/>
      </p:par>
    </p:tnLst>
  </p:timing>
  <p:extLst mod="1"/>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13"/>
          <p:cNvSpPr>
            <a:spLocks noChangeArrowheads="1"/>
          </p:cNvSpPr>
          <p:nvPr/>
        </p:nvSpPr>
        <p:spPr bwMode="auto">
          <a:xfrm>
            <a:off x="545254" y="984332"/>
            <a:ext cx="7906279"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pPr marL="457200" indent="-457200" algn="just">
              <a:buFont typeface="Arial" panose="020B0604020202020204" pitchFamily="34" charset="0"/>
              <a:buChar char="•"/>
            </a:pPr>
            <a:r>
              <a:rPr lang="zh-CN" altLang="en-US" sz="2800" b="1" dirty="0" smtClean="0">
                <a:latin typeface="宋体" panose="02010600030101010101" pitchFamily="2" charset="-122"/>
              </a:rPr>
              <a:t>现代大中型蒸汽轮机装置都采用回热循环，抽汽的级数根据需要，</a:t>
            </a:r>
            <a:r>
              <a:rPr lang="zh-CN" altLang="en-US" sz="2800" b="1" dirty="0" smtClean="0">
                <a:latin typeface="Times New Roman" panose="02020603050405020304" pitchFamily="18" charset="0"/>
                <a:cs typeface="Times New Roman" panose="02020603050405020304" pitchFamily="18" charset="0"/>
              </a:rPr>
              <a:t>从</a:t>
            </a:r>
            <a:r>
              <a:rPr lang="en-US" altLang="zh-CN" sz="2800" b="1" dirty="0" smtClean="0">
                <a:latin typeface="Times New Roman" panose="02020603050405020304" pitchFamily="18" charset="0"/>
                <a:cs typeface="Times New Roman" panose="02020603050405020304" pitchFamily="18" charset="0"/>
              </a:rPr>
              <a:t>2~3</a:t>
            </a:r>
            <a:r>
              <a:rPr lang="zh-CN" altLang="en-US" sz="2800" b="1" dirty="0" smtClean="0">
                <a:latin typeface="Times New Roman" panose="02020603050405020304" pitchFamily="18" charset="0"/>
                <a:cs typeface="Times New Roman" panose="02020603050405020304" pitchFamily="18" charset="0"/>
              </a:rPr>
              <a:t>级到</a:t>
            </a:r>
            <a:r>
              <a:rPr lang="en-US" altLang="zh-CN" sz="2800" b="1" dirty="0" smtClean="0">
                <a:latin typeface="Times New Roman" panose="02020603050405020304" pitchFamily="18" charset="0"/>
                <a:cs typeface="Times New Roman" panose="02020603050405020304" pitchFamily="18" charset="0"/>
              </a:rPr>
              <a:t>7~8</a:t>
            </a:r>
            <a:r>
              <a:rPr lang="zh-CN" altLang="en-US" sz="2800" b="1" dirty="0" smtClean="0">
                <a:latin typeface="Times New Roman" panose="02020603050405020304" pitchFamily="18" charset="0"/>
                <a:cs typeface="Times New Roman" panose="02020603050405020304" pitchFamily="18" charset="0"/>
              </a:rPr>
              <a:t>级，参数越高、容量越大的机组，回热级数一般越多</a:t>
            </a:r>
            <a:endParaRPr lang="en-US" altLang="zh-CN" sz="2800" b="1" dirty="0" smtClean="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zh-CN" altLang="en-US" sz="2800" b="1" dirty="0" smtClean="0">
                <a:latin typeface="Times New Roman" panose="02020603050405020304" pitchFamily="18" charset="0"/>
                <a:cs typeface="Times New Roman" panose="02020603050405020304" pitchFamily="18" charset="0"/>
              </a:rPr>
              <a:t>但考虑到抽汽级数过多会使得系统过于复杂，增加投资和运行费用，一般很少超过</a:t>
            </a:r>
            <a:r>
              <a:rPr lang="en-US" altLang="zh-CN" sz="2800" b="1" dirty="0" smtClean="0">
                <a:latin typeface="Times New Roman" panose="02020603050405020304" pitchFamily="18" charset="0"/>
                <a:cs typeface="Times New Roman" panose="02020603050405020304" pitchFamily="18" charset="0"/>
              </a:rPr>
              <a:t>8</a:t>
            </a:r>
            <a:r>
              <a:rPr lang="zh-CN" altLang="en-US" sz="2800" b="1" dirty="0" smtClean="0">
                <a:latin typeface="Times New Roman" panose="02020603050405020304" pitchFamily="18" charset="0"/>
                <a:cs typeface="Times New Roman" panose="02020603050405020304" pitchFamily="18" charset="0"/>
              </a:rPr>
              <a:t>级</a:t>
            </a:r>
            <a:endParaRPr lang="en-US" altLang="zh-CN" sz="2800" b="1" dirty="0" smtClean="0">
              <a:latin typeface="Times New Roman" panose="02020603050405020304" pitchFamily="18" charset="0"/>
              <a:cs typeface="Times New Roman" panose="02020603050405020304" pitchFamily="18" charset="0"/>
            </a:endParaRPr>
          </a:p>
          <a:p>
            <a:pPr marL="457200" indent="-457200" algn="just">
              <a:buFont typeface="Arial" panose="020B0604020202020204" pitchFamily="34" charset="0"/>
              <a:buChar char="•"/>
            </a:pPr>
            <a:r>
              <a:rPr lang="zh-CN" altLang="en-US" sz="2800" b="1" dirty="0" smtClean="0">
                <a:latin typeface="宋体" panose="02010600030101010101" pitchFamily="2" charset="-122"/>
              </a:rPr>
              <a:t>在采用大型机组的现代蒸汽厂中，广泛采用一次再热与多级回热的循环</a:t>
            </a:r>
            <a:endParaRPr lang="zh-CN" altLang="en-US" sz="2800" b="1" dirty="0">
              <a:latin typeface="Times New Roman" panose="02020603050405020304" pitchFamily="18" charset="0"/>
              <a:cs typeface="Times New Roman" panose="02020603050405020304" pitchFamily="18" charset="0"/>
            </a:endParaRPr>
          </a:p>
        </p:txBody>
      </p:sp>
      <p:sp>
        <p:nvSpPr>
          <p:cNvPr id="70658" name="Rectangle 14"/>
          <p:cNvSpPr>
            <a:spLocks noChangeArrowheads="1"/>
          </p:cNvSpPr>
          <p:nvPr/>
        </p:nvSpPr>
        <p:spPr bwMode="auto">
          <a:xfrm>
            <a:off x="430107" y="5289637"/>
            <a:ext cx="8807450" cy="430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pPr algn="just"/>
            <a:r>
              <a:rPr lang="en-US" altLang="zh-CN" sz="2800" b="1" dirty="0">
                <a:latin typeface="宋体" panose="02010600030101010101" pitchFamily="2" charset="-122"/>
              </a:rPr>
              <a:t>    </a:t>
            </a:r>
            <a:endParaRPr lang="zh-CN" altLang="en-US" sz="2800" b="1" dirty="0">
              <a:latin typeface="宋体" panose="02010600030101010101" pitchFamily="2" charset="-122"/>
            </a:endParaRPr>
          </a:p>
        </p:txBody>
      </p:sp>
    </p:spTree>
    <p:extLst>
      <p:ext uri="{BB962C8B-B14F-4D97-AF65-F5344CB8AC3E}">
        <p14:creationId xmlns:p14="http://schemas.microsoft.com/office/powerpoint/2010/main" val="419989845"/>
      </p:ext>
    </p:extLst>
  </p:cSld>
  <p:clrMapOvr>
    <a:masterClrMapping/>
  </p:clrMapOvr>
  <p:transition spd="slow"/>
  <p:timing>
    <p:tnLst>
      <p:par>
        <p:cTn id="1" dur="indefinite" restart="never" nodeType="tmRoot"/>
      </p:par>
    </p:tnLst>
  </p:timing>
  <p:extLst mod="1"/>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文本框 38915"/>
          <p:cNvSpPr txBox="1">
            <a:spLocks noChangeArrowheads="1"/>
          </p:cNvSpPr>
          <p:nvPr/>
        </p:nvSpPr>
        <p:spPr bwMode="auto">
          <a:xfrm>
            <a:off x="2134428" y="2044355"/>
            <a:ext cx="491572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000" b="1" dirty="0">
                <a:solidFill>
                  <a:srgbClr val="000000"/>
                </a:solidFill>
                <a:latin typeface="Times New Roman" panose="02020603050405020304" pitchFamily="18" charset="0"/>
              </a:rPr>
              <a:t>13-8  </a:t>
            </a:r>
            <a:r>
              <a:rPr lang="zh-CN" altLang="zh-CN" sz="4000" b="1" dirty="0">
                <a:solidFill>
                  <a:srgbClr val="000000"/>
                </a:solidFill>
                <a:latin typeface="Times New Roman" panose="02020603050405020304" pitchFamily="18" charset="0"/>
              </a:rPr>
              <a:t>热电合供</a:t>
            </a:r>
            <a:r>
              <a:rPr lang="zh-CN" altLang="en-US" sz="4000" b="1" dirty="0">
                <a:solidFill>
                  <a:srgbClr val="000000"/>
                </a:solidFill>
                <a:latin typeface="Times New Roman" panose="02020603050405020304" pitchFamily="18" charset="0"/>
              </a:rPr>
              <a:t>循环</a:t>
            </a:r>
          </a:p>
        </p:txBody>
      </p:sp>
    </p:spTree>
    <p:extLst>
      <p:ext uri="{BB962C8B-B14F-4D97-AF65-F5344CB8AC3E}">
        <p14:creationId xmlns:p14="http://schemas.microsoft.com/office/powerpoint/2010/main" val="2150021474"/>
      </p:ext>
    </p:extLst>
  </p:cSld>
  <p:clrMapOvr>
    <a:masterClrMapping/>
  </p:clrMapOvr>
  <p:transition spd="slow"/>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06165" y="2379414"/>
            <a:ext cx="4340728" cy="3371380"/>
          </a:xfrm>
          <a:prstGeom prst="rect">
            <a:avLst/>
          </a:prstGeom>
        </p:spPr>
      </p:pic>
      <p:sp>
        <p:nvSpPr>
          <p:cNvPr id="72705" name="文本框 93187"/>
          <p:cNvSpPr txBox="1">
            <a:spLocks noChangeArrowheads="1"/>
          </p:cNvSpPr>
          <p:nvPr/>
        </p:nvSpPr>
        <p:spPr bwMode="auto">
          <a:xfrm>
            <a:off x="301486" y="314738"/>
            <a:ext cx="7315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600" b="1" dirty="0">
                <a:latin typeface="黑体" panose="02010609060101010101" pitchFamily="49" charset="-122"/>
                <a:ea typeface="黑体" panose="02010609060101010101" pitchFamily="49" charset="-122"/>
              </a:rPr>
              <a:t>一</a:t>
            </a:r>
            <a:r>
              <a:rPr lang="zh-CN" altLang="en-US" sz="3600" b="1" dirty="0" smtClean="0">
                <a:latin typeface="黑体" panose="02010609060101010101" pitchFamily="49" charset="-122"/>
                <a:ea typeface="黑体" panose="02010609060101010101" pitchFamily="49" charset="-122"/>
              </a:rPr>
              <a:t>、热电合供</a:t>
            </a:r>
            <a:r>
              <a:rPr lang="zh-CN" altLang="en-US" sz="3600" b="1" dirty="0">
                <a:latin typeface="Times New Roman" panose="02020603050405020304" pitchFamily="18" charset="0"/>
                <a:ea typeface="黑体" panose="02010609060101010101" pitchFamily="49" charset="-122"/>
              </a:rPr>
              <a:t>的概念</a:t>
            </a:r>
            <a:endParaRPr lang="zh-CN" altLang="en-US" sz="3600" b="1" dirty="0">
              <a:latin typeface="黑体" panose="02010609060101010101" pitchFamily="49" charset="-122"/>
              <a:ea typeface="黑体" panose="02010609060101010101" pitchFamily="49" charset="-122"/>
            </a:endParaRPr>
          </a:p>
        </p:txBody>
      </p:sp>
      <p:sp>
        <p:nvSpPr>
          <p:cNvPr id="2" name="矩形 1"/>
          <p:cNvSpPr/>
          <p:nvPr/>
        </p:nvSpPr>
        <p:spPr>
          <a:xfrm>
            <a:off x="549964" y="1238575"/>
            <a:ext cx="7653131" cy="1200329"/>
          </a:xfrm>
          <a:prstGeom prst="rect">
            <a:avLst/>
          </a:prstGeom>
        </p:spPr>
        <p:txBody>
          <a:bodyPr wrap="square">
            <a:spAutoFit/>
          </a:bodyPr>
          <a:lstStyle/>
          <a:p>
            <a:r>
              <a:rPr lang="zh-CN" altLang="en-US" sz="2400" b="1" dirty="0"/>
              <a:t>尽管采用了高参数以及回热等措施，现代蒸汽动力循环的热效率一般仍</a:t>
            </a:r>
            <a:r>
              <a:rPr lang="zh-CN" altLang="en-US" sz="2400" b="1" dirty="0" smtClean="0"/>
              <a:t>低于</a:t>
            </a:r>
            <a:r>
              <a:rPr lang="en-US" altLang="zh-CN" sz="2400" b="1" dirty="0" smtClean="0"/>
              <a:t>50%</a:t>
            </a:r>
            <a:r>
              <a:rPr lang="zh-CN" altLang="en-US" sz="2400" b="1" dirty="0" smtClean="0"/>
              <a:t>，</a:t>
            </a:r>
            <a:r>
              <a:rPr lang="zh-CN" altLang="en-US" sz="2400" b="1" dirty="0"/>
              <a:t>也就是说，燃料燃烧释放出的热量中</a:t>
            </a:r>
            <a:r>
              <a:rPr lang="zh-CN" altLang="en-US" sz="2400" b="1" dirty="0" smtClean="0"/>
              <a:t>有</a:t>
            </a:r>
            <a:r>
              <a:rPr lang="en-US" altLang="zh-CN" sz="2400" b="1" dirty="0" smtClean="0"/>
              <a:t>50%</a:t>
            </a:r>
            <a:r>
              <a:rPr lang="zh-CN" altLang="en-US" sz="2400" b="1" dirty="0" smtClean="0"/>
              <a:t>以上</a:t>
            </a:r>
            <a:r>
              <a:rPr lang="zh-CN" altLang="en-US" sz="2400" b="1" dirty="0"/>
              <a:t>被冷凝器中的冷却水带走。</a:t>
            </a:r>
          </a:p>
        </p:txBody>
      </p:sp>
      <p:sp>
        <p:nvSpPr>
          <p:cNvPr id="5" name="闪电形 4"/>
          <p:cNvSpPr/>
          <p:nvPr/>
        </p:nvSpPr>
        <p:spPr>
          <a:xfrm>
            <a:off x="5360504" y="4821561"/>
            <a:ext cx="1298712" cy="1022333"/>
          </a:xfrm>
          <a:prstGeom prst="lightningBol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6408050" y="5046846"/>
            <a:ext cx="444352" cy="461665"/>
          </a:xfrm>
          <a:prstGeom prst="rect">
            <a:avLst/>
          </a:prstGeom>
        </p:spPr>
        <p:txBody>
          <a:bodyPr wrap="none">
            <a:spAutoFit/>
          </a:bodyPr>
          <a:lstStyle/>
          <a:p>
            <a:r>
              <a:rPr lang="en-US" altLang="zh-CN" sz="2400" b="1" i="1" dirty="0" smtClean="0">
                <a:solidFill>
                  <a:prstClr val="black"/>
                </a:solidFill>
                <a:latin typeface="times" panose="02020603050405020304" pitchFamily="18" charset="0"/>
                <a:cs typeface="times" panose="02020603050405020304" pitchFamily="18" charset="0"/>
              </a:rPr>
              <a:t>q</a:t>
            </a:r>
            <a:r>
              <a:rPr lang="en-US" altLang="zh-CN" sz="2400" b="1" baseline="-25000" dirty="0" smtClean="0">
                <a:solidFill>
                  <a:prstClr val="black"/>
                </a:solidFill>
                <a:latin typeface="times" panose="02020603050405020304" pitchFamily="18" charset="0"/>
                <a:cs typeface="times" panose="02020603050405020304" pitchFamily="18" charset="0"/>
              </a:rPr>
              <a:t>2</a:t>
            </a:r>
            <a:endParaRPr lang="zh-CN" altLang="en-US" baseline="-25000" dirty="0">
              <a:latin typeface="times" panose="02020603050405020304" pitchFamily="18" charset="0"/>
              <a:cs typeface="times" panose="02020603050405020304" pitchFamily="18" charset="0"/>
            </a:endParaRPr>
          </a:p>
        </p:txBody>
      </p:sp>
    </p:spTree>
    <p:extLst>
      <p:ext uri="{BB962C8B-B14F-4D97-AF65-F5344CB8AC3E}">
        <p14:creationId xmlns:p14="http://schemas.microsoft.com/office/powerpoint/2010/main" val="17208114"/>
      </p:ext>
    </p:extLst>
  </p:cSld>
  <p:clrMapOvr>
    <a:masterClrMapping/>
  </p:clrMapOvr>
  <p:transition spd="slow"/>
  <p:timing>
    <p:tnLst>
      <p:par>
        <p:cTn id="1" dur="indefinite" restart="never" nodeType="tmRoot"/>
      </p:par>
    </p:tnLst>
  </p:timing>
  <p:extLst mod="1"/>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655982" y="659369"/>
            <a:ext cx="7878417" cy="4401205"/>
          </a:xfrm>
          <a:prstGeom prst="rect">
            <a:avLst/>
          </a:prstGeom>
        </p:spPr>
        <p:txBody>
          <a:bodyPr wrap="square">
            <a:spAutoFit/>
          </a:bodyPr>
          <a:lstStyle/>
          <a:p>
            <a:pPr marL="457200" indent="-457200">
              <a:buFont typeface="Arial" panose="020B0604020202020204" pitchFamily="34" charset="0"/>
              <a:buChar char="•"/>
            </a:pPr>
            <a:r>
              <a:rPr lang="zh-CN" altLang="en-US" sz="2800" b="1" dirty="0"/>
              <a:t>如此大量的热可否有利用价值</a:t>
            </a:r>
            <a:r>
              <a:rPr lang="zh-CN" altLang="en-US" sz="2800" b="1" dirty="0" smtClean="0"/>
              <a:t>？</a:t>
            </a:r>
            <a:endParaRPr lang="en-US" altLang="zh-CN" sz="2800" b="1" dirty="0" smtClean="0"/>
          </a:p>
          <a:p>
            <a:pPr marL="457200" indent="-457200">
              <a:buFont typeface="Arial" panose="020B0604020202020204" pitchFamily="34" charset="0"/>
              <a:buChar char="•"/>
            </a:pPr>
            <a:r>
              <a:rPr lang="zh-CN" altLang="en-US" sz="2800" b="1" dirty="0" smtClean="0"/>
              <a:t>汽轮机</a:t>
            </a:r>
            <a:r>
              <a:rPr lang="zh-CN" altLang="en-US" sz="2800" b="1" dirty="0"/>
              <a:t>的</a:t>
            </a:r>
            <a:r>
              <a:rPr lang="zh-CN" altLang="en-US" sz="2800" b="1" dirty="0" smtClean="0"/>
              <a:t>排气压力通常</a:t>
            </a:r>
            <a:r>
              <a:rPr lang="zh-CN" altLang="en-US" sz="2800" b="1" dirty="0"/>
              <a:t>只有</a:t>
            </a:r>
            <a:r>
              <a:rPr lang="zh-CN" altLang="en-US" sz="2800" b="1" dirty="0">
                <a:latin typeface="times" panose="02020603050405020304" pitchFamily="18" charset="0"/>
                <a:cs typeface="times" panose="02020603050405020304" pitchFamily="18" charset="0"/>
              </a:rPr>
              <a:t>0.003～0.004 MPa，对应的饱和温度为 </a:t>
            </a:r>
            <a:r>
              <a:rPr lang="en-US" altLang="zh-CN" sz="2800" b="1" dirty="0" smtClean="0">
                <a:latin typeface="times" panose="02020603050405020304" pitchFamily="18" charset="0"/>
                <a:cs typeface="times" panose="02020603050405020304" pitchFamily="18" charset="0"/>
              </a:rPr>
              <a:t>24.11</a:t>
            </a:r>
            <a:r>
              <a:rPr lang="zh-CN" altLang="en-US" sz="2800" b="1" dirty="0" smtClean="0">
                <a:latin typeface="times" panose="02020603050405020304" pitchFamily="18" charset="0"/>
                <a:cs typeface="times" panose="02020603050405020304" pitchFamily="18" charset="0"/>
              </a:rPr>
              <a:t>℃～</a:t>
            </a:r>
            <a:r>
              <a:rPr lang="en-US" altLang="zh-CN" sz="2800" b="1" dirty="0">
                <a:latin typeface="times" panose="02020603050405020304" pitchFamily="18" charset="0"/>
                <a:cs typeface="times" panose="02020603050405020304" pitchFamily="18" charset="0"/>
              </a:rPr>
              <a:t> </a:t>
            </a:r>
            <a:r>
              <a:rPr lang="en-US" altLang="zh-CN" sz="2800" b="1" dirty="0" smtClean="0">
                <a:latin typeface="times" panose="02020603050405020304" pitchFamily="18" charset="0"/>
                <a:cs typeface="times" panose="02020603050405020304" pitchFamily="18" charset="0"/>
              </a:rPr>
              <a:t>28.95</a:t>
            </a:r>
            <a:r>
              <a:rPr lang="zh-CN" altLang="en-US" sz="2800" b="1" dirty="0" smtClean="0">
                <a:latin typeface="times" panose="02020603050405020304" pitchFamily="18" charset="0"/>
                <a:cs typeface="times" panose="02020603050405020304" pitchFamily="18" charset="0"/>
              </a:rPr>
              <a:t>℃</a:t>
            </a:r>
            <a:r>
              <a:rPr lang="zh-CN" altLang="en-US" sz="2800" b="1" dirty="0" smtClean="0"/>
              <a:t>，</a:t>
            </a:r>
            <a:r>
              <a:rPr lang="zh-CN" altLang="en-US" sz="2800" b="1" dirty="0"/>
              <a:t>这说明乏汽的温度已经接近环境温度，其㶲值很小，没有什么作功</a:t>
            </a:r>
            <a:r>
              <a:rPr lang="zh-CN" altLang="en-US" sz="2800" b="1" dirty="0" smtClean="0"/>
              <a:t>能力</a:t>
            </a:r>
            <a:endParaRPr lang="en-US" altLang="zh-CN" sz="2800" b="1" dirty="0" smtClean="0"/>
          </a:p>
          <a:p>
            <a:pPr marL="457200" indent="-457200">
              <a:buFont typeface="Arial" panose="020B0604020202020204" pitchFamily="34" charset="0"/>
              <a:buChar char="•"/>
            </a:pPr>
            <a:r>
              <a:rPr lang="zh-CN" altLang="en-US" sz="2800" b="1" dirty="0" smtClean="0"/>
              <a:t>因此</a:t>
            </a:r>
            <a:r>
              <a:rPr lang="zh-CN" altLang="en-US" sz="2800" b="1" dirty="0"/>
              <a:t>，这些数量可观的热量通常是由冷凝器中的冷却水带入电厂附近的水体或通过冷却塔排入自然环境</a:t>
            </a:r>
            <a:r>
              <a:rPr lang="zh-CN" altLang="en-US" sz="2800" b="1" dirty="0" smtClean="0"/>
              <a:t>中</a:t>
            </a:r>
            <a:endParaRPr lang="en-US" altLang="zh-CN" sz="2800" b="1" dirty="0" smtClean="0"/>
          </a:p>
          <a:p>
            <a:pPr marL="457200" indent="-457200">
              <a:buFont typeface="Arial" panose="020B0604020202020204" pitchFamily="34" charset="0"/>
              <a:buChar char="•"/>
            </a:pPr>
            <a:r>
              <a:rPr lang="zh-CN" altLang="en-US" sz="2800" b="1" dirty="0" smtClean="0"/>
              <a:t>但</a:t>
            </a:r>
            <a:r>
              <a:rPr lang="zh-CN" altLang="en-US" sz="2800" b="1" dirty="0"/>
              <a:t>这种做法会破坏电厂周围的自然生态平衡，使得电厂下游的水体变暖，造成水系的</a:t>
            </a:r>
            <a:r>
              <a:rPr lang="zh-CN" altLang="en-US" sz="2800" b="1" dirty="0" smtClean="0"/>
              <a:t>热污染</a:t>
            </a:r>
            <a:endParaRPr lang="zh-CN" altLang="en-US" sz="2800" b="1" dirty="0"/>
          </a:p>
        </p:txBody>
      </p:sp>
    </p:spTree>
    <p:extLst>
      <p:ext uri="{BB962C8B-B14F-4D97-AF65-F5344CB8AC3E}">
        <p14:creationId xmlns:p14="http://schemas.microsoft.com/office/powerpoint/2010/main" val="831785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矩形 89092"/>
          <p:cNvSpPr>
            <a:spLocks noChangeArrowheads="1"/>
          </p:cNvSpPr>
          <p:nvPr/>
        </p:nvSpPr>
        <p:spPr bwMode="auto">
          <a:xfrm>
            <a:off x="465832" y="160430"/>
            <a:ext cx="8388626" cy="1292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p>
            <a:r>
              <a:rPr lang="zh-CN" altLang="zh-CN" sz="2600" b="1" dirty="0" smtClean="0"/>
              <a:t>另一方面</a:t>
            </a:r>
            <a:r>
              <a:rPr lang="zh-CN" altLang="zh-CN" sz="2600" b="1" dirty="0"/>
              <a:t>，很多生产工艺（如印染、造纸、炼油、食品加工等）和居民生活（如居住区、宾馆等）都有大量的用热需求。</a:t>
            </a:r>
            <a:r>
              <a:rPr lang="zh-CN" altLang="en-US" sz="2600" b="1" dirty="0" smtClean="0">
                <a:latin typeface="黑体" panose="02010609060101010101" pitchFamily="49" charset="-122"/>
                <a:ea typeface="黑体" panose="02010609060101010101" pitchFamily="49" charset="-122"/>
              </a:rPr>
              <a:t> </a:t>
            </a:r>
            <a:endParaRPr lang="zh-CN" altLang="en-US" sz="2600" b="1" dirty="0">
              <a:latin typeface="黑体" panose="02010609060101010101" pitchFamily="49" charset="-122"/>
              <a:ea typeface="黑体" panose="02010609060101010101" pitchFamily="49" charset="-122"/>
            </a:endParaRPr>
          </a:p>
        </p:txBody>
      </p:sp>
      <p:sp>
        <p:nvSpPr>
          <p:cNvPr id="73731" name="矩形 89093"/>
          <p:cNvSpPr>
            <a:spLocks noChangeArrowheads="1"/>
          </p:cNvSpPr>
          <p:nvPr/>
        </p:nvSpPr>
        <p:spPr bwMode="auto">
          <a:xfrm>
            <a:off x="1976577" y="2317253"/>
            <a:ext cx="106680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b="1" dirty="0">
                <a:solidFill>
                  <a:srgbClr val="FF0000"/>
                </a:solidFill>
              </a:rPr>
              <a:t>燃料燃烧温度</a:t>
            </a:r>
            <a:r>
              <a:rPr lang="en-US" altLang="zh-CN" b="1" dirty="0">
                <a:solidFill>
                  <a:srgbClr val="FF0000"/>
                </a:solidFill>
              </a:rPr>
              <a:t>1400℃</a:t>
            </a:r>
          </a:p>
        </p:txBody>
      </p:sp>
      <p:sp>
        <p:nvSpPr>
          <p:cNvPr id="73732" name="矩形 89095"/>
          <p:cNvSpPr>
            <a:spLocks noChangeArrowheads="1"/>
          </p:cNvSpPr>
          <p:nvPr/>
        </p:nvSpPr>
        <p:spPr bwMode="auto">
          <a:xfrm>
            <a:off x="761999" y="5218612"/>
            <a:ext cx="7848600"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r>
              <a:rPr lang="zh-CN" altLang="en-US" sz="2600" b="1" dirty="0">
                <a:solidFill>
                  <a:srgbClr val="FF0000"/>
                </a:solidFill>
                <a:ea typeface="黑体" panose="02010609060101010101" pitchFamily="49" charset="-122"/>
              </a:rPr>
              <a:t>热力学第一定律</a:t>
            </a:r>
            <a:r>
              <a:rPr lang="zh-CN" altLang="en-US" sz="2600" b="1" dirty="0">
                <a:ea typeface="黑体" panose="02010609060101010101" pitchFamily="49" charset="-122"/>
              </a:rPr>
              <a:t>：燃料燃烧产生的热量全部被热用户所利用（满足能量守恒）</a:t>
            </a:r>
          </a:p>
          <a:p>
            <a:r>
              <a:rPr lang="zh-CN" altLang="en-US" sz="2600" b="1" dirty="0">
                <a:solidFill>
                  <a:srgbClr val="FF0000"/>
                </a:solidFill>
                <a:ea typeface="黑体" panose="02010609060101010101" pitchFamily="49" charset="-122"/>
              </a:rPr>
              <a:t>热力学第二定律</a:t>
            </a:r>
            <a:r>
              <a:rPr lang="zh-CN" altLang="en-US" sz="2600" b="1" dirty="0">
                <a:ea typeface="黑体" panose="02010609060101010101" pitchFamily="49" charset="-122"/>
              </a:rPr>
              <a:t>：</a:t>
            </a:r>
            <a:r>
              <a:rPr lang="zh-CN" altLang="en-US" sz="2600" b="1" dirty="0">
                <a:latin typeface="Times New Roman" panose="02020603050405020304" pitchFamily="18" charset="0"/>
                <a:ea typeface="黑体" panose="02010609060101010101" pitchFamily="49" charset="-122"/>
              </a:rPr>
              <a:t>不可逆</a:t>
            </a:r>
            <a:r>
              <a:rPr lang="zh-CN" altLang="en-US" sz="2600" b="1" dirty="0" smtClean="0">
                <a:latin typeface="Times New Roman" panose="02020603050405020304" pitchFamily="18" charset="0"/>
                <a:ea typeface="黑体" panose="02010609060101010101" pitchFamily="49" charset="-122"/>
              </a:rPr>
              <a:t>损失（</a:t>
            </a:r>
            <a:r>
              <a:rPr lang="zh-CN" altLang="en-US" sz="2600" b="1" dirty="0"/>
              <a:t>㶲</a:t>
            </a:r>
            <a:r>
              <a:rPr lang="zh-CN" altLang="en-US" sz="2600" b="1" dirty="0" smtClean="0">
                <a:latin typeface="Times New Roman" panose="02020603050405020304" pitchFamily="18" charset="0"/>
                <a:ea typeface="黑体" panose="02010609060101010101" pitchFamily="49" charset="-122"/>
              </a:rPr>
              <a:t>损失）太</a:t>
            </a:r>
            <a:r>
              <a:rPr lang="zh-CN" altLang="en-US" sz="2600" b="1" dirty="0">
                <a:latin typeface="Times New Roman" panose="02020603050405020304" pitchFamily="18" charset="0"/>
                <a:ea typeface="黑体" panose="02010609060101010101" pitchFamily="49" charset="-122"/>
              </a:rPr>
              <a:t>大！</a:t>
            </a:r>
          </a:p>
        </p:txBody>
      </p:sp>
      <p:sp>
        <p:nvSpPr>
          <p:cNvPr id="73736" name="矩形 89093"/>
          <p:cNvSpPr>
            <a:spLocks noChangeArrowheads="1"/>
          </p:cNvSpPr>
          <p:nvPr/>
        </p:nvSpPr>
        <p:spPr bwMode="auto">
          <a:xfrm>
            <a:off x="2438237" y="1371382"/>
            <a:ext cx="1576388"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b="1" dirty="0">
                <a:solidFill>
                  <a:srgbClr val="0000FF"/>
                </a:solidFill>
              </a:rPr>
              <a:t>水蒸气温度150~200℃</a:t>
            </a:r>
            <a:endParaRPr lang="en-US" altLang="zh-CN" b="1" dirty="0">
              <a:solidFill>
                <a:srgbClr val="FF0000"/>
              </a:solidFill>
            </a:endParaRPr>
          </a:p>
        </p:txBody>
      </p:sp>
      <p:sp>
        <p:nvSpPr>
          <p:cNvPr id="2" name="Rectangle 8"/>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sp>
        <p:nvSpPr>
          <p:cNvPr id="4" name="矩形 3"/>
          <p:cNvSpPr/>
          <p:nvPr/>
        </p:nvSpPr>
        <p:spPr>
          <a:xfrm>
            <a:off x="3083135" y="4725769"/>
            <a:ext cx="3206327" cy="369332"/>
          </a:xfrm>
          <a:prstGeom prst="rect">
            <a:avLst/>
          </a:prstGeom>
        </p:spPr>
        <p:txBody>
          <a:bodyPr wrap="none">
            <a:spAutoFit/>
          </a:bodyPr>
          <a:lstStyle/>
          <a:p>
            <a:r>
              <a:rPr lang="zh-CN" altLang="en-US" b="1" dirty="0">
                <a:latin typeface="黑体" panose="02010609060101010101" pitchFamily="49" charset="-122"/>
                <a:ea typeface="黑体" panose="02010609060101010101" pitchFamily="49" charset="-122"/>
              </a:rPr>
              <a:t>燃烧燃料以实现向热用户供热</a:t>
            </a: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2076" y="1593084"/>
            <a:ext cx="4267570" cy="3359187"/>
          </a:xfrm>
          <a:prstGeom prst="rect">
            <a:avLst/>
          </a:prstGeom>
        </p:spPr>
      </p:pic>
    </p:spTree>
    <p:extLst>
      <p:ext uri="{BB962C8B-B14F-4D97-AF65-F5344CB8AC3E}">
        <p14:creationId xmlns:p14="http://schemas.microsoft.com/office/powerpoint/2010/main" val="3601080883"/>
      </p:ext>
    </p:extLst>
  </p:cSld>
  <p:clrMapOvr>
    <a:masterClrMapping/>
  </p:clrMapOvr>
  <p:transition spd="slow"/>
  <p:timing>
    <p:tnLst>
      <p:par>
        <p:cTn id="1" dur="indefinite" restart="never" nodeType="tmRoot"/>
      </p:par>
    </p:tnLst>
  </p:timing>
  <p:extLst mod="1"/>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16942" y="1374535"/>
            <a:ext cx="2914141" cy="2584928"/>
          </a:xfrm>
          <a:prstGeom prst="rect">
            <a:avLst/>
          </a:prstGeom>
        </p:spPr>
      </p:pic>
      <p:sp>
        <p:nvSpPr>
          <p:cNvPr id="74753" name="矩形 87042"/>
          <p:cNvSpPr>
            <a:spLocks noChangeArrowheads="1"/>
          </p:cNvSpPr>
          <p:nvPr/>
        </p:nvSpPr>
        <p:spPr bwMode="auto">
          <a:xfrm>
            <a:off x="7454135" y="3854739"/>
            <a:ext cx="53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a:spcBef>
                <a:spcPct val="50000"/>
              </a:spcBef>
            </a:pPr>
            <a:r>
              <a:rPr lang="en-US" altLang="zh-CN" sz="2800" b="1" i="1" dirty="0">
                <a:solidFill>
                  <a:srgbClr val="FF0000"/>
                </a:solidFill>
                <a:latin typeface="Times New Roman" panose="02020603050405020304" pitchFamily="18" charset="0"/>
                <a:ea typeface="黑体" panose="02010609060101010101" pitchFamily="49" charset="-122"/>
              </a:rPr>
              <a:t>Q</a:t>
            </a:r>
            <a:endParaRPr lang="en-US" altLang="zh-CN" sz="2800" b="1" i="1" dirty="0">
              <a:latin typeface="Times New Roman" panose="02020603050405020304" pitchFamily="18" charset="0"/>
              <a:ea typeface="黑体" panose="02010609060101010101" pitchFamily="49" charset="-122"/>
            </a:endParaRPr>
          </a:p>
        </p:txBody>
      </p:sp>
      <p:sp>
        <p:nvSpPr>
          <p:cNvPr id="74756" name="直接连接符 87046"/>
          <p:cNvSpPr>
            <a:spLocks noChangeShapeType="1"/>
          </p:cNvSpPr>
          <p:nvPr/>
        </p:nvSpPr>
        <p:spPr bwMode="auto">
          <a:xfrm flipH="1">
            <a:off x="6633821" y="3112347"/>
            <a:ext cx="1640628" cy="0"/>
          </a:xfrm>
          <a:prstGeom prst="line">
            <a:avLst/>
          </a:prstGeom>
          <a:noFill/>
          <a:ln w="317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7" name="矩形 87052"/>
          <p:cNvSpPr>
            <a:spLocks noChangeArrowheads="1"/>
          </p:cNvSpPr>
          <p:nvPr/>
        </p:nvSpPr>
        <p:spPr bwMode="auto">
          <a:xfrm>
            <a:off x="149849" y="2225943"/>
            <a:ext cx="5562600" cy="40934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p>
            <a:pPr marL="457200" indent="-457200">
              <a:spcBef>
                <a:spcPct val="50000"/>
              </a:spcBef>
              <a:buFont typeface="Arial" panose="020B0604020202020204" pitchFamily="34" charset="0"/>
              <a:buChar char="•"/>
            </a:pPr>
            <a:r>
              <a:rPr lang="zh-CN" altLang="en-US" sz="2600" b="1" dirty="0" smtClean="0">
                <a:latin typeface="times" panose="02020603050405020304" pitchFamily="18" charset="0"/>
                <a:ea typeface="黑体" panose="02010609060101010101" pitchFamily="49" charset="-122"/>
                <a:cs typeface="times" panose="02020603050405020304" pitchFamily="18" charset="0"/>
              </a:rPr>
              <a:t>前面提到，乏</a:t>
            </a:r>
            <a:r>
              <a:rPr lang="zh-CN" altLang="en-US" sz="2600" b="1" dirty="0">
                <a:latin typeface="times" panose="02020603050405020304" pitchFamily="18" charset="0"/>
                <a:ea typeface="黑体" panose="02010609060101010101" pitchFamily="49" charset="-122"/>
                <a:cs typeface="times" panose="02020603050405020304" pitchFamily="18" charset="0"/>
              </a:rPr>
              <a:t>汽压力只有</a:t>
            </a:r>
            <a:r>
              <a:rPr lang="en-US" altLang="zh-CN" sz="2600" b="1" dirty="0">
                <a:latin typeface="times" panose="02020603050405020304" pitchFamily="18" charset="0"/>
                <a:ea typeface="黑体" panose="02010609060101010101" pitchFamily="49" charset="-122"/>
                <a:cs typeface="times" panose="02020603050405020304" pitchFamily="18" charset="0"/>
              </a:rPr>
              <a:t>3</a:t>
            </a:r>
            <a:r>
              <a:rPr lang="zh-CN" altLang="en-US" sz="2600" b="1" dirty="0">
                <a:latin typeface="times" panose="02020603050405020304" pitchFamily="18" charset="0"/>
                <a:ea typeface="黑体" panose="02010609060101010101" pitchFamily="49" charset="-122"/>
                <a:cs typeface="times" panose="02020603050405020304" pitchFamily="18" charset="0"/>
              </a:rPr>
              <a:t>～</a:t>
            </a:r>
            <a:r>
              <a:rPr lang="en-US" altLang="zh-CN" sz="2600" b="1" dirty="0">
                <a:latin typeface="times" panose="02020603050405020304" pitchFamily="18" charset="0"/>
                <a:ea typeface="黑体" panose="02010609060101010101" pitchFamily="49" charset="-122"/>
                <a:cs typeface="times" panose="02020603050405020304" pitchFamily="18" charset="0"/>
              </a:rPr>
              <a:t>5kPa</a:t>
            </a:r>
            <a:r>
              <a:rPr lang="zh-CN" altLang="en-US" sz="2600" b="1" dirty="0">
                <a:latin typeface="times" panose="02020603050405020304" pitchFamily="18" charset="0"/>
                <a:ea typeface="黑体" panose="02010609060101010101" pitchFamily="49" charset="-122"/>
                <a:cs typeface="times" panose="02020603050405020304" pitchFamily="18" charset="0"/>
              </a:rPr>
              <a:t>，对应的饱和温度</a:t>
            </a:r>
            <a:r>
              <a:rPr lang="en-US" altLang="zh-CN" sz="2600" b="1" dirty="0">
                <a:latin typeface="times" panose="02020603050405020304" pitchFamily="18" charset="0"/>
                <a:ea typeface="黑体" panose="02010609060101010101" pitchFamily="49" charset="-122"/>
                <a:cs typeface="times" panose="02020603050405020304" pitchFamily="18" charset="0"/>
              </a:rPr>
              <a:t>24.11~28.95℃</a:t>
            </a:r>
            <a:r>
              <a:rPr lang="zh-CN" altLang="en-US" sz="2600" b="1" dirty="0" smtClean="0">
                <a:latin typeface="times" panose="02020603050405020304" pitchFamily="18" charset="0"/>
                <a:ea typeface="黑体" panose="02010609060101010101" pitchFamily="49" charset="-122"/>
                <a:cs typeface="times" panose="02020603050405020304" pitchFamily="18" charset="0"/>
              </a:rPr>
              <a:t>，其</a:t>
            </a:r>
            <a:r>
              <a:rPr lang="zh-CN" altLang="en-US" sz="2600" b="1" dirty="0" smtClean="0">
                <a:latin typeface="times" panose="02020603050405020304" pitchFamily="18" charset="0"/>
                <a:cs typeface="times" panose="02020603050405020304" pitchFamily="18" charset="0"/>
              </a:rPr>
              <a:t>㶲值很小没什么利用价值</a:t>
            </a:r>
            <a:endParaRPr lang="en-US" altLang="zh-CN" sz="2600" b="1" dirty="0" smtClean="0">
              <a:latin typeface="times" panose="02020603050405020304" pitchFamily="18" charset="0"/>
              <a:cs typeface="times" panose="02020603050405020304" pitchFamily="18" charset="0"/>
            </a:endParaRPr>
          </a:p>
          <a:p>
            <a:pPr marL="457200" indent="-457200">
              <a:spcBef>
                <a:spcPct val="50000"/>
              </a:spcBef>
              <a:buFont typeface="Arial" panose="020B0604020202020204" pitchFamily="34" charset="0"/>
              <a:buChar char="•"/>
            </a:pPr>
            <a:r>
              <a:rPr lang="zh-CN" altLang="en-US"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如果提高</a:t>
            </a:r>
            <a:r>
              <a:rPr lang="zh-CN" altLang="en-US" sz="2600" b="1" dirty="0">
                <a:solidFill>
                  <a:srgbClr val="0070C0"/>
                </a:solidFill>
                <a:latin typeface="times" panose="02020603050405020304" pitchFamily="18" charset="0"/>
                <a:ea typeface="黑体" panose="02010609060101010101" pitchFamily="49" charset="-122"/>
                <a:cs typeface="times" panose="02020603050405020304" pitchFamily="18" charset="0"/>
              </a:rPr>
              <a:t>汽轮机</a:t>
            </a:r>
            <a:r>
              <a:rPr lang="zh-CN" altLang="en-US"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排气压力至</a:t>
            </a:r>
            <a:r>
              <a:rPr lang="en-US" altLang="zh-CN"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0.3 MPa</a:t>
            </a:r>
            <a:r>
              <a:rPr lang="zh-CN" altLang="en-US"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，其对应的饱和温度可达</a:t>
            </a:r>
            <a:r>
              <a:rPr lang="en-US" altLang="zh-CN"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133.56</a:t>
            </a:r>
            <a:r>
              <a:rPr lang="zh-CN" altLang="en-US"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rPr>
              <a:t>℃，这样温度的热量就能够用于很多生产工艺和居民生活</a:t>
            </a:r>
            <a:endParaRPr lang="en-US" altLang="zh-CN" sz="2600" b="1" dirty="0" smtClean="0">
              <a:solidFill>
                <a:srgbClr val="0070C0"/>
              </a:solidFill>
              <a:latin typeface="times" panose="02020603050405020304" pitchFamily="18" charset="0"/>
              <a:ea typeface="黑体" panose="02010609060101010101" pitchFamily="49" charset="-122"/>
              <a:cs typeface="times" panose="02020603050405020304" pitchFamily="18" charset="0"/>
            </a:endParaRPr>
          </a:p>
          <a:p>
            <a:pPr marL="457200" indent="-457200">
              <a:spcBef>
                <a:spcPct val="50000"/>
              </a:spcBef>
              <a:buFont typeface="Arial" panose="020B0604020202020204" pitchFamily="34" charset="0"/>
              <a:buChar char="•"/>
            </a:pPr>
            <a:r>
              <a:rPr lang="zh-CN" altLang="en-US" sz="2600" b="1" dirty="0" smtClean="0">
                <a:solidFill>
                  <a:srgbClr val="FF0000"/>
                </a:solidFill>
                <a:latin typeface="times" panose="02020603050405020304" pitchFamily="18" charset="0"/>
                <a:ea typeface="黑体" panose="02010609060101010101" pitchFamily="49" charset="-122"/>
                <a:cs typeface="times" panose="02020603050405020304" pitchFamily="18" charset="0"/>
              </a:rPr>
              <a:t>这种可同时供热和供电的循环称为热电合供循环</a:t>
            </a:r>
            <a:endParaRPr lang="zh-CN" altLang="en-US" sz="2600" b="1" dirty="0">
              <a:solidFill>
                <a:srgbClr val="FF0000"/>
              </a:solidFill>
              <a:latin typeface="times" panose="02020603050405020304" pitchFamily="18" charset="0"/>
              <a:ea typeface="黑体" panose="02010609060101010101" pitchFamily="49" charset="-122"/>
              <a:cs typeface="times" panose="02020603050405020304" pitchFamily="18" charset="0"/>
            </a:endParaRPr>
          </a:p>
        </p:txBody>
      </p:sp>
      <p:sp>
        <p:nvSpPr>
          <p:cNvPr id="74758" name="直接连接符 87053"/>
          <p:cNvSpPr>
            <a:spLocks noChangeShapeType="1"/>
          </p:cNvSpPr>
          <p:nvPr/>
        </p:nvSpPr>
        <p:spPr bwMode="auto">
          <a:xfrm>
            <a:off x="5747397" y="4884103"/>
            <a:ext cx="1739770" cy="0"/>
          </a:xfrm>
          <a:prstGeom prst="line">
            <a:avLst/>
          </a:prstGeom>
          <a:noFill/>
          <a:ln w="254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759" name="直接连接符 87054"/>
          <p:cNvSpPr>
            <a:spLocks noChangeShapeType="1"/>
          </p:cNvSpPr>
          <p:nvPr/>
        </p:nvSpPr>
        <p:spPr bwMode="auto">
          <a:xfrm flipV="1">
            <a:off x="7487167" y="3112347"/>
            <a:ext cx="0" cy="1779693"/>
          </a:xfrm>
          <a:prstGeom prst="line">
            <a:avLst/>
          </a:prstGeom>
          <a:noFill/>
          <a:ln w="25400">
            <a:solidFill>
              <a:srgbClr val="FF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矩形 11"/>
          <p:cNvSpPr/>
          <p:nvPr/>
        </p:nvSpPr>
        <p:spPr>
          <a:xfrm>
            <a:off x="396032" y="227482"/>
            <a:ext cx="8125668" cy="1815882"/>
          </a:xfrm>
          <a:prstGeom prst="rect">
            <a:avLst/>
          </a:prstGeom>
        </p:spPr>
        <p:txBody>
          <a:bodyPr wrap="square">
            <a:spAutoFit/>
          </a:bodyPr>
          <a:lstStyle/>
          <a:p>
            <a:r>
              <a:rPr lang="en-US" altLang="zh-CN" sz="2800" b="1" dirty="0" smtClean="0"/>
              <a:t>Q</a:t>
            </a:r>
            <a:r>
              <a:rPr lang="zh-CN" altLang="en-US" sz="2800" b="1" dirty="0" smtClean="0"/>
              <a:t>：如何</a:t>
            </a:r>
            <a:r>
              <a:rPr lang="zh-CN" altLang="en-US" sz="2800" b="1" dirty="0"/>
              <a:t>才能更好地解决以上两个问题呢？是否可以找到一个合适的方法，既能够不浪费热量，又能够不浪费㶲量？</a:t>
            </a:r>
          </a:p>
          <a:p>
            <a:pPr marL="457200" indent="-457200">
              <a:buFont typeface="Arial" panose="020B0604020202020204" pitchFamily="34" charset="0"/>
              <a:buChar char="•"/>
            </a:pPr>
            <a:endParaRPr lang="zh-CN" altLang="en-US" sz="2800" b="1" dirty="0"/>
          </a:p>
        </p:txBody>
      </p:sp>
    </p:spTree>
    <p:extLst>
      <p:ext uri="{BB962C8B-B14F-4D97-AF65-F5344CB8AC3E}">
        <p14:creationId xmlns:p14="http://schemas.microsoft.com/office/powerpoint/2010/main" val="1656246231"/>
      </p:ext>
    </p:extLst>
  </p:cSld>
  <p:clrMapOvr>
    <a:masterClrMapping/>
  </p:clrMapOvr>
  <p:transition spd="slow"/>
  <p:timing>
    <p:tnLst>
      <p:par>
        <p:cTn id="1" dur="indefinite" restart="never" nodeType="tmRoot"/>
      </p:par>
    </p:tnLst>
  </p:timing>
  <p:extLst mod="1"/>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p:cNvSpPr>
            <a:spLocks noChangeArrowheads="1"/>
          </p:cNvSpPr>
          <p:nvPr/>
        </p:nvSpPr>
        <p:spPr bwMode="auto">
          <a:xfrm>
            <a:off x="305766" y="457200"/>
            <a:ext cx="5329237"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200" b="1" dirty="0" smtClean="0">
                <a:latin typeface="黑体" panose="02010609060101010101" pitchFamily="49" charset="-122"/>
                <a:ea typeface="黑体" panose="02010609060101010101" pitchFamily="49" charset="-122"/>
              </a:rPr>
              <a:t>二、背压式热电合供循环</a:t>
            </a:r>
            <a:endParaRPr lang="zh-CN" altLang="en-US" sz="3200" b="1" dirty="0">
              <a:latin typeface="黑体" panose="02010609060101010101" pitchFamily="49" charset="-122"/>
              <a:ea typeface="黑体" panose="02010609060101010101" pitchFamily="49" charset="-122"/>
            </a:endParaRPr>
          </a:p>
        </p:txBody>
      </p:sp>
      <p:sp>
        <p:nvSpPr>
          <p:cNvPr id="75778" name="Text Box 8"/>
          <p:cNvSpPr txBox="1">
            <a:spLocks noChangeArrowheads="1"/>
          </p:cNvSpPr>
          <p:nvPr/>
        </p:nvSpPr>
        <p:spPr bwMode="auto">
          <a:xfrm>
            <a:off x="122929" y="1724922"/>
            <a:ext cx="4968875"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r>
              <a:rPr lang="en-US" altLang="zh-CN" sz="2800" b="1" dirty="0">
                <a:solidFill>
                  <a:srgbClr val="0369FF"/>
                </a:solidFill>
                <a:latin typeface="楷体_GB2312" pitchFamily="49" charset="-122"/>
                <a:ea typeface="楷体_GB2312" pitchFamily="49" charset="-122"/>
              </a:rPr>
              <a:t>  </a:t>
            </a:r>
            <a:r>
              <a:rPr lang="zh-CN" altLang="en-US" sz="2800" b="1" dirty="0">
                <a:latin typeface="黑体" panose="02010609060101010101" pitchFamily="49" charset="-122"/>
                <a:ea typeface="黑体" panose="02010609060101010101" pitchFamily="49" charset="-122"/>
              </a:rPr>
              <a:t>背压</a:t>
            </a:r>
            <a:r>
              <a:rPr lang="zh-CN" altLang="en-US" sz="2800" b="1" dirty="0" smtClean="0">
                <a:latin typeface="黑体" panose="02010609060101010101" pitchFamily="49" charset="-122"/>
                <a:ea typeface="黑体" panose="02010609060101010101" pitchFamily="49" charset="-122"/>
              </a:rPr>
              <a:t>式汽轮机</a:t>
            </a:r>
            <a:r>
              <a:rPr lang="en-US" altLang="zh-CN" sz="2800" b="1" dirty="0">
                <a:latin typeface="Times New Roman" panose="02020603050405020304" pitchFamily="18" charset="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为适应供热需要而有较高排气压力的汽轮机</a:t>
            </a:r>
            <a:r>
              <a:rPr lang="en-US" altLang="zh-CN" sz="2400" b="1" dirty="0" smtClean="0">
                <a:latin typeface="黑体" panose="02010609060101010101" pitchFamily="49" charset="-122"/>
                <a:ea typeface="黑体" panose="02010609060101010101" pitchFamily="49" charset="-122"/>
              </a:rPr>
              <a:t>(</a:t>
            </a:r>
            <a:r>
              <a:rPr lang="zh-CN" altLang="en-US" sz="2400" b="1" dirty="0" smtClean="0">
                <a:latin typeface="黑体" panose="02010609060101010101" pitchFamily="49" charset="-122"/>
                <a:ea typeface="黑体" panose="02010609060101010101" pitchFamily="49" charset="-122"/>
              </a:rPr>
              <a:t>排气压力</a:t>
            </a:r>
            <a:r>
              <a:rPr lang="en-US" altLang="zh-CN" sz="2400" b="1" dirty="0" smtClean="0">
                <a:latin typeface="times" panose="02020603050405020304" pitchFamily="18" charset="0"/>
                <a:ea typeface="黑体" panose="02010609060101010101" pitchFamily="49" charset="-122"/>
                <a:cs typeface="times" panose="02020603050405020304" pitchFamily="18" charset="0"/>
              </a:rPr>
              <a:t>&gt;0.1MPa</a:t>
            </a:r>
            <a:r>
              <a:rPr lang="en-US" altLang="zh-CN" sz="2400" b="1" dirty="0">
                <a:latin typeface="黑体" panose="02010609060101010101" pitchFamily="49" charset="-122"/>
                <a:ea typeface="黑体" panose="02010609060101010101" pitchFamily="49" charset="-122"/>
              </a:rPr>
              <a:t>)</a:t>
            </a:r>
          </a:p>
        </p:txBody>
      </p:sp>
      <p:sp>
        <p:nvSpPr>
          <p:cNvPr id="75780" name="Text Box 45"/>
          <p:cNvSpPr txBox="1">
            <a:spLocks noChangeArrowheads="1"/>
          </p:cNvSpPr>
          <p:nvPr/>
        </p:nvSpPr>
        <p:spPr bwMode="auto">
          <a:xfrm>
            <a:off x="358775" y="4467225"/>
            <a:ext cx="50403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dirty="0">
                <a:latin typeface="黑体" panose="02010609060101010101" pitchFamily="49" charset="-122"/>
                <a:ea typeface="黑体" panose="02010609060101010101" pitchFamily="49" charset="-122"/>
              </a:rPr>
              <a:t>2-3</a:t>
            </a:r>
            <a:r>
              <a:rPr lang="en-US" altLang="zh-CN" sz="2800" b="1" dirty="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锅炉中定压加热过程</a:t>
            </a:r>
          </a:p>
        </p:txBody>
      </p:sp>
      <p:sp>
        <p:nvSpPr>
          <p:cNvPr id="75781" name="Text Box 46"/>
          <p:cNvSpPr txBox="1">
            <a:spLocks noChangeArrowheads="1"/>
          </p:cNvSpPr>
          <p:nvPr/>
        </p:nvSpPr>
        <p:spPr bwMode="auto">
          <a:xfrm>
            <a:off x="358775" y="4899025"/>
            <a:ext cx="51133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a:latin typeface="黑体" panose="02010609060101010101" pitchFamily="49" charset="-122"/>
                <a:ea typeface="黑体" panose="02010609060101010101" pitchFamily="49" charset="-122"/>
              </a:rPr>
              <a:t>3-4</a:t>
            </a:r>
            <a:r>
              <a:rPr lang="en-US" altLang="zh-CN" sz="2800" b="1">
                <a:ea typeface="黑体" panose="02010609060101010101" pitchFamily="49" charset="-122"/>
              </a:rPr>
              <a:t>——</a:t>
            </a:r>
            <a:r>
              <a:rPr lang="zh-CN" altLang="en-US" sz="2800" b="1">
                <a:latin typeface="黑体" panose="02010609060101010101" pitchFamily="49" charset="-122"/>
                <a:ea typeface="黑体" panose="02010609060101010101" pitchFamily="49" charset="-122"/>
              </a:rPr>
              <a:t>汽机中绝热膨胀过程</a:t>
            </a:r>
          </a:p>
        </p:txBody>
      </p:sp>
      <p:sp>
        <p:nvSpPr>
          <p:cNvPr id="75782" name="Text Box 47"/>
          <p:cNvSpPr txBox="1">
            <a:spLocks noChangeArrowheads="1"/>
          </p:cNvSpPr>
          <p:nvPr/>
        </p:nvSpPr>
        <p:spPr bwMode="auto">
          <a:xfrm>
            <a:off x="358775" y="5330825"/>
            <a:ext cx="87852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dirty="0">
                <a:latin typeface="黑体" panose="02010609060101010101" pitchFamily="49" charset="-122"/>
                <a:ea typeface="黑体" panose="02010609060101010101" pitchFamily="49" charset="-122"/>
              </a:rPr>
              <a:t>4-1</a:t>
            </a:r>
            <a:r>
              <a:rPr lang="en-US" altLang="zh-CN" sz="2800" b="1" dirty="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热用户（加热器）中定压凝结放热过程</a:t>
            </a:r>
          </a:p>
        </p:txBody>
      </p:sp>
      <p:sp>
        <p:nvSpPr>
          <p:cNvPr id="75783" name="Text Box 48"/>
          <p:cNvSpPr txBox="1">
            <a:spLocks noChangeArrowheads="1"/>
          </p:cNvSpPr>
          <p:nvPr/>
        </p:nvSpPr>
        <p:spPr bwMode="auto">
          <a:xfrm>
            <a:off x="305766" y="3964782"/>
            <a:ext cx="8748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en-US" altLang="zh-CN" sz="2800" b="1" dirty="0">
                <a:latin typeface="黑体" panose="02010609060101010101" pitchFamily="49" charset="-122"/>
                <a:ea typeface="黑体" panose="02010609060101010101" pitchFamily="49" charset="-122"/>
              </a:rPr>
              <a:t>1-2</a:t>
            </a:r>
            <a:r>
              <a:rPr lang="en-US" altLang="zh-CN" sz="2800" b="1" dirty="0">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回水在给水泵中绝热压缩过程</a:t>
            </a:r>
          </a:p>
        </p:txBody>
      </p:sp>
      <p:sp>
        <p:nvSpPr>
          <p:cNvPr id="75784" name="矩形 80954"/>
          <p:cNvSpPr>
            <a:spLocks noChangeArrowheads="1"/>
          </p:cNvSpPr>
          <p:nvPr/>
        </p:nvSpPr>
        <p:spPr bwMode="auto">
          <a:xfrm>
            <a:off x="0" y="2100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5" name="矩形 80956"/>
          <p:cNvSpPr>
            <a:spLocks noChangeArrowheads="1"/>
          </p:cNvSpPr>
          <p:nvPr/>
        </p:nvSpPr>
        <p:spPr bwMode="auto">
          <a:xfrm>
            <a:off x="0" y="210026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14733" y="389135"/>
            <a:ext cx="3706689" cy="3231160"/>
          </a:xfrm>
          <a:prstGeom prst="rect">
            <a:avLst/>
          </a:prstGeom>
        </p:spPr>
      </p:pic>
    </p:spTree>
    <p:extLst>
      <p:ext uri="{BB962C8B-B14F-4D97-AF65-F5344CB8AC3E}">
        <p14:creationId xmlns:p14="http://schemas.microsoft.com/office/powerpoint/2010/main" val="551810460"/>
      </p:ext>
    </p:extLst>
  </p:cSld>
  <p:clrMapOvr>
    <a:masterClrMapping/>
  </p:clrMapOvr>
  <p:transition spd="slow"/>
  <p:timing>
    <p:tnLst>
      <p:par>
        <p:cTn id="1" dur="indefinite" restart="never" nodeType="tmRoot"/>
      </p:par>
    </p:tnLst>
  </p:timing>
  <p:extLst mod="1"/>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ext Box 43"/>
          <p:cNvSpPr txBox="1">
            <a:spLocks noChangeArrowheads="1"/>
          </p:cNvSpPr>
          <p:nvPr/>
        </p:nvSpPr>
        <p:spPr bwMode="auto">
          <a:xfrm>
            <a:off x="402466" y="2018153"/>
            <a:ext cx="397233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marL="457200" indent="-457200">
              <a:spcBef>
                <a:spcPct val="50000"/>
              </a:spcBef>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rPr>
              <a:t>优点</a:t>
            </a:r>
            <a:r>
              <a:rPr lang="zh-CN" altLang="en-US" sz="2800" b="1" dirty="0" smtClean="0">
                <a:ea typeface="黑体" panose="02010609060101010101" pitchFamily="49" charset="-122"/>
              </a:rPr>
              <a:t>：</a:t>
            </a:r>
            <a:r>
              <a:rPr lang="zh-CN" altLang="en-US" sz="2800" b="1" dirty="0" smtClean="0">
                <a:latin typeface="Times New Roman" panose="02020603050405020304" pitchFamily="18" charset="0"/>
                <a:ea typeface="黑体" panose="02010609060101010101" pitchFamily="49" charset="-122"/>
              </a:rPr>
              <a:t>系统</a:t>
            </a:r>
            <a:r>
              <a:rPr lang="zh-CN" altLang="en-US" sz="2800" b="1" dirty="0">
                <a:latin typeface="Times New Roman" panose="02020603050405020304" pitchFamily="18" charset="0"/>
                <a:ea typeface="黑体" panose="02010609060101010101" pitchFamily="49" charset="-122"/>
              </a:rPr>
              <a:t>简单</a:t>
            </a:r>
          </a:p>
        </p:txBody>
      </p:sp>
      <p:sp>
        <p:nvSpPr>
          <p:cNvPr id="76802" name="Text Box 39"/>
          <p:cNvSpPr txBox="1">
            <a:spLocks noChangeArrowheads="1"/>
          </p:cNvSpPr>
          <p:nvPr/>
        </p:nvSpPr>
        <p:spPr bwMode="auto">
          <a:xfrm>
            <a:off x="447262" y="2886290"/>
            <a:ext cx="8001000" cy="3108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marL="457200" indent="-457200">
              <a:spcBef>
                <a:spcPct val="50000"/>
              </a:spcBef>
              <a:buFont typeface="Arial" panose="020B0604020202020204" pitchFamily="34" charset="0"/>
              <a:buChar char="•"/>
            </a:pPr>
            <a:r>
              <a:rPr lang="zh-CN" altLang="en-US" sz="2800" b="1" dirty="0" smtClean="0">
                <a:latin typeface="Times New Roman" panose="02020603050405020304" pitchFamily="18" charset="0"/>
                <a:ea typeface="黑体" panose="02010609060101010101" pitchFamily="49" charset="-122"/>
              </a:rPr>
              <a:t>缺点</a:t>
            </a:r>
            <a:endParaRPr lang="en-US" altLang="zh-CN" sz="2800" b="1" dirty="0" smtClean="0">
              <a:ea typeface="黑体" panose="02010609060101010101" pitchFamily="49" charset="-122"/>
            </a:endParaRPr>
          </a:p>
          <a:p>
            <a:pPr marL="914400" lvl="1" indent="-457200">
              <a:spcBef>
                <a:spcPct val="50000"/>
              </a:spcBef>
              <a:buFont typeface="Wingdings" panose="05000000000000000000" pitchFamily="2" charset="2"/>
              <a:buChar char="Ø"/>
            </a:pPr>
            <a:r>
              <a:rPr lang="zh-CN" altLang="en-US" sz="2800" b="1" dirty="0" smtClean="0">
                <a:latin typeface="黑体" panose="02010609060101010101" pitchFamily="49" charset="-122"/>
                <a:ea typeface="黑体" panose="02010609060101010101" pitchFamily="49" charset="-122"/>
              </a:rPr>
              <a:t>电负荷</a:t>
            </a:r>
            <a:r>
              <a:rPr lang="zh-CN" altLang="en-US" sz="2800" b="1" dirty="0">
                <a:latin typeface="黑体" panose="02010609060101010101" pitchFamily="49" charset="-122"/>
                <a:ea typeface="黑体" panose="02010609060101010101" pitchFamily="49" charset="-122"/>
              </a:rPr>
              <a:t>和热负荷互相影响，即当热能的供应量增加或减少时，电能的生产量也随着增加或</a:t>
            </a:r>
            <a:r>
              <a:rPr lang="zh-CN" altLang="en-US" sz="2800" b="1" dirty="0" smtClean="0">
                <a:latin typeface="黑体" panose="02010609060101010101" pitchFamily="49" charset="-122"/>
                <a:ea typeface="黑体" panose="02010609060101010101" pitchFamily="49" charset="-122"/>
              </a:rPr>
              <a:t>减少</a:t>
            </a:r>
            <a:endParaRPr lang="en-US" altLang="zh-CN" sz="2800" b="1" dirty="0" smtClean="0">
              <a:latin typeface="黑体" panose="02010609060101010101" pitchFamily="49" charset="-122"/>
              <a:ea typeface="黑体" panose="02010609060101010101" pitchFamily="49" charset="-122"/>
            </a:endParaRPr>
          </a:p>
          <a:p>
            <a:pPr marL="914400" lvl="1" indent="-457200">
              <a:spcBef>
                <a:spcPct val="50000"/>
              </a:spcBef>
              <a:buFont typeface="Wingdings" panose="05000000000000000000" pitchFamily="2" charset="2"/>
              <a:buChar char="Ø"/>
            </a:pPr>
            <a:r>
              <a:rPr lang="zh-CN" altLang="en-US" sz="2800" b="1" dirty="0" smtClean="0">
                <a:latin typeface="Times New Roman" panose="02020603050405020304" pitchFamily="18" charset="0"/>
                <a:ea typeface="黑体" panose="02010609060101010101" pitchFamily="49" charset="-122"/>
              </a:rPr>
              <a:t>它</a:t>
            </a:r>
            <a:r>
              <a:rPr lang="zh-CN" altLang="en-US" sz="2800" b="1" dirty="0">
                <a:latin typeface="Times New Roman" panose="02020603050405020304" pitchFamily="18" charset="0"/>
                <a:ea typeface="黑体" panose="02010609060101010101" pitchFamily="49" charset="-122"/>
              </a:rPr>
              <a:t>不能同时满足对热力参数有不同要求的热用户 </a:t>
            </a:r>
          </a:p>
        </p:txBody>
      </p:sp>
      <p:sp>
        <p:nvSpPr>
          <p:cNvPr id="6" name="Rectangle 7"/>
          <p:cNvSpPr>
            <a:spLocks noChangeArrowheads="1"/>
          </p:cNvSpPr>
          <p:nvPr/>
        </p:nvSpPr>
        <p:spPr bwMode="auto">
          <a:xfrm>
            <a:off x="402466" y="424069"/>
            <a:ext cx="3998913"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spAutoFit/>
          </a:bodyPr>
          <a:lstStyle/>
          <a:p>
            <a:r>
              <a:rPr lang="zh-CN" altLang="en-US" sz="3200" b="1" dirty="0" smtClean="0">
                <a:latin typeface="黑体" panose="02010609060101010101" pitchFamily="49" charset="-122"/>
                <a:ea typeface="黑体" panose="02010609060101010101" pitchFamily="49" charset="-122"/>
              </a:rPr>
              <a:t>背压式热电合供循环的优缺点：</a:t>
            </a:r>
            <a:endParaRPr lang="zh-CN" altLang="en-US" sz="3200" b="1" dirty="0">
              <a:latin typeface="黑体" panose="02010609060101010101" pitchFamily="49" charset="-122"/>
              <a:ea typeface="黑体" panose="02010609060101010101" pitchFamily="49"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56315" y="223483"/>
            <a:ext cx="3706689" cy="3231160"/>
          </a:xfrm>
          <a:prstGeom prst="rect">
            <a:avLst/>
          </a:prstGeom>
        </p:spPr>
      </p:pic>
    </p:spTree>
    <p:extLst>
      <p:ext uri="{BB962C8B-B14F-4D97-AF65-F5344CB8AC3E}">
        <p14:creationId xmlns:p14="http://schemas.microsoft.com/office/powerpoint/2010/main" val="168940288"/>
      </p:ext>
    </p:extLst>
  </p:cSld>
  <p:clrMapOvr>
    <a:masterClrMapping/>
  </p:clrMapOvr>
  <p:transition spd="slow"/>
  <p:timing>
    <p:tnLst>
      <p:par>
        <p:cTn id="1" dur="indefinite" restart="never" nodeType="tmRoot"/>
      </p:par>
    </p:tnLst>
  </p:timing>
  <p:extLst mod="1"/>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ext Box 117"/>
          <p:cNvSpPr txBox="1">
            <a:spLocks noChangeArrowheads="1"/>
          </p:cNvSpPr>
          <p:nvPr/>
        </p:nvSpPr>
        <p:spPr bwMode="auto">
          <a:xfrm>
            <a:off x="177800" y="188913"/>
            <a:ext cx="5834063"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200" b="1" dirty="0">
                <a:latin typeface="黑体" panose="02010609060101010101" pitchFamily="49" charset="-122"/>
                <a:ea typeface="黑体" panose="02010609060101010101" pitchFamily="49" charset="-122"/>
              </a:rPr>
              <a:t>三、可调节抽汽式热电合供循环</a:t>
            </a:r>
          </a:p>
        </p:txBody>
      </p:sp>
      <p:sp>
        <p:nvSpPr>
          <p:cNvPr id="77826" name="矩形 81999"/>
          <p:cNvSpPr>
            <a:spLocks noChangeArrowheads="1"/>
          </p:cNvSpPr>
          <p:nvPr/>
        </p:nvSpPr>
        <p:spPr bwMode="auto">
          <a:xfrm>
            <a:off x="0" y="2005013"/>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9" name="矩形 82003"/>
          <p:cNvSpPr>
            <a:spLocks noChangeArrowheads="1"/>
          </p:cNvSpPr>
          <p:nvPr/>
        </p:nvSpPr>
        <p:spPr bwMode="auto">
          <a:xfrm>
            <a:off x="3886200" y="914400"/>
            <a:ext cx="49530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20000"/>
              </a:spcBef>
              <a:buFontTx/>
              <a:buChar char="•"/>
            </a:pPr>
            <a:r>
              <a:rPr lang="zh-CN" altLang="en-US" sz="2800" b="1" dirty="0">
                <a:latin typeface="黑体" panose="02010609060101010101" pitchFamily="49" charset="-122"/>
                <a:ea typeface="黑体" panose="02010609060101010101" pitchFamily="49" charset="-122"/>
              </a:rPr>
              <a:t>汽轮机采用中间抽汽式，在适当位置从汽轮机中抽出一部分已经作功但尚有一定压力的蒸汽供给热用户（压力的大小根据热用户的需求确定）</a:t>
            </a:r>
          </a:p>
          <a:p>
            <a:pPr>
              <a:spcBef>
                <a:spcPct val="20000"/>
              </a:spcBef>
              <a:buFontTx/>
              <a:buChar char="•"/>
            </a:pPr>
            <a:r>
              <a:rPr lang="zh-CN" altLang="en-US" sz="2800" b="1" dirty="0">
                <a:latin typeface="黑体" panose="02010609060101010101" pitchFamily="49" charset="-122"/>
                <a:ea typeface="黑体" panose="02010609060101010101" pitchFamily="49" charset="-122"/>
              </a:rPr>
              <a:t>其余部分继续在汽轮机中膨胀至低压</a:t>
            </a:r>
            <a:r>
              <a:rPr lang="en-US" altLang="zh-CN" sz="2800" b="1" dirty="0">
                <a:latin typeface="黑体" panose="02010609060101010101" pitchFamily="49" charset="-122"/>
                <a:ea typeface="黑体" panose="02010609060101010101" pitchFamily="49" charset="-122"/>
              </a:rPr>
              <a:t>(</a:t>
            </a:r>
            <a:r>
              <a:rPr lang="zh-CN" altLang="en-US" sz="2800" b="1" dirty="0">
                <a:latin typeface="黑体" panose="02010609060101010101" pitchFamily="49" charset="-122"/>
                <a:ea typeface="黑体" panose="02010609060101010101" pitchFamily="49" charset="-122"/>
              </a:rPr>
              <a:t>低于</a:t>
            </a:r>
            <a:r>
              <a:rPr lang="en-US" altLang="zh-CN" sz="2800" b="1" dirty="0">
                <a:latin typeface="times" panose="02020603050405020304" pitchFamily="18" charset="0"/>
                <a:ea typeface="黑体" panose="02010609060101010101" pitchFamily="49" charset="-122"/>
                <a:cs typeface="times" panose="02020603050405020304" pitchFamily="18" charset="0"/>
              </a:rPr>
              <a:t>0.1 MPa)</a:t>
            </a:r>
            <a:r>
              <a:rPr lang="zh-CN" altLang="en-US" sz="2800" b="1" dirty="0">
                <a:latin typeface="黑体" panose="02010609060101010101" pitchFamily="49" charset="-122"/>
                <a:ea typeface="黑体" panose="02010609060101010101" pitchFamily="49" charset="-122"/>
              </a:rPr>
              <a:t>，然后在冷凝器中冷凝成水</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447" y="1285875"/>
            <a:ext cx="3761558" cy="3432345"/>
          </a:xfrm>
          <a:prstGeom prst="rect">
            <a:avLst/>
          </a:prstGeom>
        </p:spPr>
      </p:pic>
      <p:sp>
        <p:nvSpPr>
          <p:cNvPr id="7" name="矩形 82002"/>
          <p:cNvSpPr>
            <a:spLocks noChangeArrowheads="1"/>
          </p:cNvSpPr>
          <p:nvPr/>
        </p:nvSpPr>
        <p:spPr bwMode="auto">
          <a:xfrm>
            <a:off x="533400" y="5486400"/>
            <a:ext cx="82296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pPr>
            <a:r>
              <a:rPr lang="en-US" altLang="zh-CN" sz="2400" b="1" dirty="0">
                <a:solidFill>
                  <a:srgbClr val="FF0000"/>
                </a:solidFill>
                <a:latin typeface="黑体" panose="02010609060101010101" pitchFamily="49" charset="-122"/>
                <a:ea typeface="黑体" panose="02010609060101010101" pitchFamily="49" charset="-122"/>
              </a:rPr>
              <a:t>  </a:t>
            </a:r>
            <a:r>
              <a:rPr lang="zh-CN" altLang="en-US" sz="2800" b="1" dirty="0">
                <a:solidFill>
                  <a:srgbClr val="FF0000"/>
                </a:solidFill>
                <a:latin typeface="黑体" panose="02010609060101010101" pitchFamily="49" charset="-122"/>
                <a:ea typeface="黑体" panose="02010609060101010101" pitchFamily="49" charset="-122"/>
              </a:rPr>
              <a:t>优点：热电生产相互影响较小，同时还可以用不同压力的抽汽来满足各种热用户的不同需求  </a:t>
            </a:r>
          </a:p>
        </p:txBody>
      </p:sp>
    </p:spTree>
    <p:extLst>
      <p:ext uri="{BB962C8B-B14F-4D97-AF65-F5344CB8AC3E}">
        <p14:creationId xmlns:p14="http://schemas.microsoft.com/office/powerpoint/2010/main" val="2538412103"/>
      </p:ext>
    </p:extLst>
  </p:cSld>
  <p:clrMapOvr>
    <a:masterClrMapping/>
  </p:clrMapOvr>
  <p:transition spd="slow"/>
  <p:timing>
    <p:tnLst>
      <p:par>
        <p:cTn id="1" dur="indefinite" restart="never" nodeType="tmRoot"/>
      </p:par>
    </p:tnLst>
  </p:timing>
  <p:extLst mod="1"/>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ext Box 122"/>
          <p:cNvSpPr txBox="1">
            <a:spLocks noChangeArrowheads="1"/>
          </p:cNvSpPr>
          <p:nvPr/>
        </p:nvSpPr>
        <p:spPr bwMode="auto">
          <a:xfrm>
            <a:off x="533400" y="457200"/>
            <a:ext cx="769620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p>
            <a:r>
              <a:rPr lang="zh-CN" altLang="en-US" sz="3600" b="1" dirty="0">
                <a:latin typeface="楷体_GB2312" pitchFamily="49" charset="-122"/>
                <a:ea typeface="黑体" panose="02010609060101010101" pitchFamily="49" charset="-122"/>
              </a:rPr>
              <a:t>四、</a:t>
            </a:r>
            <a:r>
              <a:rPr lang="zh-CN" altLang="en-US" sz="3600" b="1" dirty="0">
                <a:latin typeface="Times New Roman" panose="02020603050405020304" pitchFamily="18" charset="0"/>
                <a:ea typeface="黑体" panose="02010609060101010101" pitchFamily="49" charset="-122"/>
              </a:rPr>
              <a:t>热电合供循环的</a:t>
            </a:r>
            <a:r>
              <a:rPr lang="zh-CN" altLang="en-US" sz="3600" b="1" dirty="0" smtClean="0">
                <a:latin typeface="Times New Roman" panose="02020603050405020304" pitchFamily="18" charset="0"/>
                <a:ea typeface="黑体" panose="02010609060101010101" pitchFamily="49" charset="-122"/>
              </a:rPr>
              <a:t>经济性指标</a:t>
            </a:r>
            <a:endParaRPr lang="zh-CN" altLang="en-US" sz="3600" b="1" dirty="0">
              <a:latin typeface="Times New Roman" panose="02020603050405020304" pitchFamily="18" charset="0"/>
              <a:ea typeface="黑体" panose="02010609060101010101" pitchFamily="49" charset="-122"/>
            </a:endParaRPr>
          </a:p>
        </p:txBody>
      </p:sp>
      <p:sp>
        <p:nvSpPr>
          <p:cNvPr id="78850" name="Text Box 123"/>
          <p:cNvSpPr txBox="1">
            <a:spLocks noChangeArrowheads="1"/>
          </p:cNvSpPr>
          <p:nvPr/>
        </p:nvSpPr>
        <p:spPr bwMode="auto">
          <a:xfrm>
            <a:off x="838200" y="1524000"/>
            <a:ext cx="266541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pPr>
            <a:r>
              <a:rPr lang="zh-CN" altLang="en-US" sz="3200" b="1">
                <a:solidFill>
                  <a:srgbClr val="FF0000"/>
                </a:solidFill>
                <a:latin typeface="Times New Roman" panose="02020603050405020304" pitchFamily="18" charset="0"/>
                <a:ea typeface="黑体" panose="02010609060101010101" pitchFamily="49" charset="-122"/>
              </a:rPr>
              <a:t>能量利用系数</a:t>
            </a:r>
          </a:p>
        </p:txBody>
      </p:sp>
      <p:graphicFrame>
        <p:nvGraphicFramePr>
          <p:cNvPr id="78851" name="Object 124"/>
          <p:cNvGraphicFramePr>
            <a:graphicFrameLocks/>
          </p:cNvGraphicFramePr>
          <p:nvPr/>
        </p:nvGraphicFramePr>
        <p:xfrm>
          <a:off x="1524000" y="2819400"/>
          <a:ext cx="6465888" cy="1125538"/>
        </p:xfrm>
        <a:graphic>
          <a:graphicData uri="http://schemas.openxmlformats.org/presentationml/2006/ole">
            <mc:AlternateContent xmlns:mc="http://schemas.openxmlformats.org/markup-compatibility/2006">
              <mc:Choice xmlns:v="urn:schemas-microsoft-com:vml" Requires="v">
                <p:oleObj spid="_x0000_s34824" r:id="rId3" imgW="2653148" imgH="444307" progId="Equation.DSMT4">
                  <p:embed/>
                </p:oleObj>
              </mc:Choice>
              <mc:Fallback>
                <p:oleObj r:id="rId3" imgW="2653148" imgH="444307" progId="Equation.DSMT4">
                  <p:embed/>
                  <p:pic>
                    <p:nvPicPr>
                      <p:cNvPr id="78851" name="Object 12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2819400"/>
                        <a:ext cx="6465888" cy="112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71303388"/>
      </p:ext>
    </p:extLst>
  </p:cSld>
  <p:clrMapOvr>
    <a:masterClrMapping/>
  </p:clrMapOvr>
  <p:transition spd="slow"/>
  <p:timing>
    <p:tnLst>
      <p:par>
        <p:cTn id="1" dur="indefinite" restart="never" nodeType="tmRoot"/>
      </p:par>
    </p:tnLst>
  </p:timing>
  <p:extLst mod="1"/>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文本框 38915"/>
          <p:cNvSpPr txBox="1">
            <a:spLocks noChangeArrowheads="1"/>
          </p:cNvSpPr>
          <p:nvPr/>
        </p:nvSpPr>
        <p:spPr bwMode="auto">
          <a:xfrm>
            <a:off x="1918735" y="2064234"/>
            <a:ext cx="578740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p>
            <a:r>
              <a:rPr lang="en-US" altLang="zh-CN" sz="4000" b="1" dirty="0">
                <a:solidFill>
                  <a:srgbClr val="000000"/>
                </a:solidFill>
                <a:latin typeface="Times New Roman" panose="02020603050405020304" pitchFamily="18" charset="0"/>
              </a:rPr>
              <a:t>13-9  </a:t>
            </a:r>
            <a:r>
              <a:rPr lang="zh-CN" altLang="zh-CN" sz="4000" b="1" dirty="0">
                <a:solidFill>
                  <a:srgbClr val="000000"/>
                </a:solidFill>
                <a:latin typeface="Times New Roman" panose="02020603050405020304" pitchFamily="18" charset="0"/>
              </a:rPr>
              <a:t>蒸汽</a:t>
            </a:r>
            <a:r>
              <a:rPr lang="en-US" altLang="zh-CN" sz="4000" b="1" dirty="0">
                <a:solidFill>
                  <a:srgbClr val="000000"/>
                </a:solidFill>
                <a:latin typeface="Times New Roman" panose="02020603050405020304" pitchFamily="18" charset="0"/>
              </a:rPr>
              <a:t>-</a:t>
            </a:r>
            <a:r>
              <a:rPr lang="zh-CN" altLang="en-US" sz="4000" b="1" dirty="0">
                <a:solidFill>
                  <a:srgbClr val="000000"/>
                </a:solidFill>
                <a:latin typeface="Times New Roman" panose="02020603050405020304" pitchFamily="18" charset="0"/>
              </a:rPr>
              <a:t>燃气联合循环</a:t>
            </a:r>
          </a:p>
        </p:txBody>
      </p:sp>
    </p:spTree>
    <p:extLst>
      <p:ext uri="{BB962C8B-B14F-4D97-AF65-F5344CB8AC3E}">
        <p14:creationId xmlns:p14="http://schemas.microsoft.com/office/powerpoint/2010/main" val="1039050439"/>
      </p:ext>
    </p:extLst>
  </p:cSld>
  <p:clrMapOvr>
    <a:masterClrMapping/>
  </p:clrMapOvr>
  <p:transition spd="slow"/>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标题 96257"/>
          <p:cNvSpPr>
            <a:spLocks noGrp="1" noChangeArrowheads="1"/>
          </p:cNvSpPr>
          <p:nvPr>
            <p:ph type="title"/>
          </p:nvPr>
        </p:nvSpPr>
        <p:spPr/>
        <p:txBody>
          <a:bodyPr/>
          <a:lstStyle/>
          <a:p>
            <a:r>
              <a:rPr lang="zh-CN" altLang="en-US" sz="4000" b="1" smtClean="0">
                <a:ea typeface="黑体" panose="02010609060101010101" pitchFamily="49" charset="-122"/>
              </a:rPr>
              <a:t>为什么选择蒸汽</a:t>
            </a:r>
            <a:r>
              <a:rPr lang="en-US" altLang="zh-CN" sz="4000" b="1" smtClean="0">
                <a:ea typeface="黑体" panose="02010609060101010101" pitchFamily="49" charset="-122"/>
              </a:rPr>
              <a:t>-</a:t>
            </a:r>
            <a:r>
              <a:rPr lang="zh-CN" altLang="en-US" sz="4000" b="1" smtClean="0">
                <a:ea typeface="黑体" panose="02010609060101010101" pitchFamily="49" charset="-122"/>
              </a:rPr>
              <a:t>燃气联合循环？</a:t>
            </a:r>
          </a:p>
        </p:txBody>
      </p:sp>
      <p:sp>
        <p:nvSpPr>
          <p:cNvPr id="80898" name="文本占位符 96258"/>
          <p:cNvSpPr>
            <a:spLocks noGrp="1" noChangeArrowheads="1"/>
          </p:cNvSpPr>
          <p:nvPr>
            <p:ph idx="1"/>
          </p:nvPr>
        </p:nvSpPr>
        <p:spPr>
          <a:xfrm>
            <a:off x="457200" y="1676400"/>
            <a:ext cx="8229600" cy="4525963"/>
          </a:xfrm>
        </p:spPr>
        <p:txBody>
          <a:bodyPr/>
          <a:lstStyle/>
          <a:p>
            <a:pPr>
              <a:lnSpc>
                <a:spcPct val="90000"/>
              </a:lnSpc>
            </a:pPr>
            <a:r>
              <a:rPr lang="zh-CN" altLang="en-US" b="1" dirty="0" smtClean="0">
                <a:latin typeface="黑体" panose="02010609060101010101" pitchFamily="49" charset="-122"/>
                <a:ea typeface="黑体" panose="02010609060101010101" pitchFamily="49" charset="-122"/>
              </a:rPr>
              <a:t>传统的蒸汽动力循环中液体吸热段的平均温度较低，从而影响了循环的热效率</a:t>
            </a:r>
          </a:p>
          <a:p>
            <a:pPr>
              <a:lnSpc>
                <a:spcPct val="90000"/>
              </a:lnSpc>
            </a:pPr>
            <a:r>
              <a:rPr lang="zh-CN" altLang="en-US" b="1" dirty="0" smtClean="0">
                <a:latin typeface="黑体" panose="02010609060101010101" pitchFamily="49" charset="-122"/>
                <a:ea typeface="黑体" panose="02010609060101010101" pitchFamily="49" charset="-122"/>
              </a:rPr>
              <a:t>上一章提到，燃气轮机装置的排气温度较高，若直接排入环境，则损失较大</a:t>
            </a:r>
          </a:p>
          <a:p>
            <a:pPr>
              <a:lnSpc>
                <a:spcPct val="90000"/>
              </a:lnSpc>
            </a:pPr>
            <a:r>
              <a:rPr lang="zh-CN" altLang="en-US" b="1" dirty="0" smtClean="0">
                <a:latin typeface="黑体" panose="02010609060101010101" pitchFamily="49" charset="-122"/>
                <a:ea typeface="黑体" panose="02010609060101010101" pitchFamily="49" charset="-122"/>
              </a:rPr>
              <a:t>人们想到：利用燃气轮机装置排气的余热来加热蒸汽轮机装置的工质，则可充分利用燃气轮机装置排出的热量</a:t>
            </a:r>
          </a:p>
          <a:p>
            <a:pPr>
              <a:lnSpc>
                <a:spcPct val="90000"/>
              </a:lnSpc>
            </a:pPr>
            <a:r>
              <a:rPr lang="zh-CN" altLang="en-US" b="1" dirty="0" smtClean="0">
                <a:latin typeface="黑体" panose="02010609060101010101" pitchFamily="49" charset="-122"/>
                <a:ea typeface="黑体" panose="02010609060101010101" pitchFamily="49" charset="-122"/>
              </a:rPr>
              <a:t>这种循环称为蒸汽</a:t>
            </a:r>
            <a:r>
              <a:rPr lang="en-US" altLang="zh-CN" b="1" dirty="0" smtClean="0">
                <a:latin typeface="黑体" panose="02010609060101010101" pitchFamily="49" charset="-122"/>
                <a:ea typeface="黑体" panose="02010609060101010101" pitchFamily="49" charset="-122"/>
              </a:rPr>
              <a:t>-</a:t>
            </a:r>
            <a:r>
              <a:rPr lang="zh-CN" altLang="en-US" b="1" dirty="0" smtClean="0">
                <a:latin typeface="黑体" panose="02010609060101010101" pitchFamily="49" charset="-122"/>
                <a:ea typeface="黑体" panose="02010609060101010101" pitchFamily="49" charset="-122"/>
              </a:rPr>
              <a:t>燃气联合循环，简称联合循环 </a:t>
            </a:r>
          </a:p>
        </p:txBody>
      </p:sp>
    </p:spTree>
    <p:extLst>
      <p:ext uri="{BB962C8B-B14F-4D97-AF65-F5344CB8AC3E}">
        <p14:creationId xmlns:p14="http://schemas.microsoft.com/office/powerpoint/2010/main" val="3173543320"/>
      </p:ext>
    </p:extLst>
  </p:cSld>
  <p:clrMapOvr>
    <a:masterClrMapping/>
  </p:clrMapOvr>
  <p:transition spd="slow"/>
  <p:timing>
    <p:tnLst>
      <p:par>
        <p:cTn id="1" dur="indefinite" restart="never" nodeType="tmRoot"/>
      </p:par>
    </p:tnLst>
  </p:timing>
  <p:extLst mod="1"/>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0200" y="325750"/>
            <a:ext cx="4419983" cy="5822185"/>
          </a:xfrm>
          <a:prstGeom prst="rect">
            <a:avLst/>
          </a:prstGeom>
        </p:spPr>
      </p:pic>
      <p:pic>
        <p:nvPicPr>
          <p:cNvPr id="3" name="图片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8931" y="983491"/>
            <a:ext cx="3798137" cy="5023539"/>
          </a:xfrm>
          <a:prstGeom prst="rect">
            <a:avLst/>
          </a:prstGeom>
        </p:spPr>
      </p:pic>
    </p:spTree>
    <p:extLst>
      <p:ext uri="{BB962C8B-B14F-4D97-AF65-F5344CB8AC3E}">
        <p14:creationId xmlns:p14="http://schemas.microsoft.com/office/powerpoint/2010/main" val="6107871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008783" y="545430"/>
            <a:ext cx="4572000" cy="4524315"/>
          </a:xfrm>
          <a:prstGeom prst="rect">
            <a:avLst/>
          </a:prstGeom>
        </p:spPr>
        <p:txBody>
          <a:bodyPr>
            <a:spAutoFit/>
          </a:bodyPr>
          <a:lstStyle/>
          <a:p>
            <a:pPr marL="342900" indent="-342900">
              <a:buFont typeface="Arial" panose="020B0604020202020204" pitchFamily="34" charset="0"/>
              <a:buChar char="•"/>
            </a:pPr>
            <a:r>
              <a:rPr lang="zh-CN" altLang="en-US" sz="2400" b="1" dirty="0" smtClean="0"/>
              <a:t>理想</a:t>
            </a:r>
            <a:r>
              <a:rPr lang="zh-CN" altLang="en-US" sz="2400" b="1" dirty="0"/>
              <a:t>情况下，燃气轮机装置的定压放热</a:t>
            </a:r>
            <a:r>
              <a:rPr lang="zh-CN" altLang="en-US" sz="2400" b="1" dirty="0" smtClean="0"/>
              <a:t>量</a:t>
            </a:r>
            <a:r>
              <a:rPr lang="en-US" altLang="zh-CN" sz="2400" b="1" i="1" dirty="0" smtClean="0">
                <a:latin typeface="times" panose="02020603050405020304" pitchFamily="18" charset="0"/>
                <a:cs typeface="times" panose="02020603050405020304" pitchFamily="18" charset="0"/>
              </a:rPr>
              <a:t>Q</a:t>
            </a:r>
            <a:r>
              <a:rPr lang="en-US" altLang="zh-CN" sz="2400" b="1" baseline="-25000" dirty="0" smtClean="0">
                <a:latin typeface="times" panose="02020603050405020304" pitchFamily="18" charset="0"/>
                <a:cs typeface="times" panose="02020603050405020304" pitchFamily="18" charset="0"/>
              </a:rPr>
              <a:t>8-5</a:t>
            </a:r>
            <a:r>
              <a:rPr lang="zh-CN" altLang="en-US" sz="2400" b="1" dirty="0" smtClean="0"/>
              <a:t>可</a:t>
            </a:r>
            <a:r>
              <a:rPr lang="zh-CN" altLang="en-US" sz="2400" b="1" dirty="0"/>
              <a:t>全部被蒸汽轮机装置利用而产生水蒸气，</a:t>
            </a:r>
            <a:r>
              <a:rPr lang="zh-CN" altLang="en-US" sz="2400" b="1" dirty="0" smtClean="0"/>
              <a:t>即</a:t>
            </a:r>
            <a:r>
              <a:rPr lang="en-US" altLang="zh-CN" sz="2400" b="1" i="1" dirty="0">
                <a:latin typeface="times" panose="02020603050405020304" pitchFamily="18" charset="0"/>
                <a:cs typeface="times" panose="02020603050405020304" pitchFamily="18" charset="0"/>
              </a:rPr>
              <a:t>Q</a:t>
            </a:r>
            <a:r>
              <a:rPr lang="en-US" altLang="zh-CN" sz="2400" b="1" baseline="-25000" dirty="0">
                <a:latin typeface="times" panose="02020603050405020304" pitchFamily="18" charset="0"/>
                <a:cs typeface="times" panose="02020603050405020304" pitchFamily="18" charset="0"/>
              </a:rPr>
              <a:t>8-5 </a:t>
            </a:r>
            <a:r>
              <a:rPr lang="en-US" altLang="zh-CN" sz="2400" b="1" dirty="0" smtClean="0"/>
              <a:t>=</a:t>
            </a:r>
            <a:r>
              <a:rPr lang="en-US" altLang="zh-CN" sz="2400" b="1" i="1" dirty="0">
                <a:latin typeface="times" panose="02020603050405020304" pitchFamily="18" charset="0"/>
                <a:cs typeface="times" panose="02020603050405020304" pitchFamily="18" charset="0"/>
              </a:rPr>
              <a:t> </a:t>
            </a:r>
            <a:r>
              <a:rPr lang="en-US" altLang="zh-CN" sz="2400" b="1" i="1" dirty="0" smtClean="0">
                <a:latin typeface="times" panose="02020603050405020304" pitchFamily="18" charset="0"/>
                <a:cs typeface="times" panose="02020603050405020304" pitchFamily="18" charset="0"/>
              </a:rPr>
              <a:t>Q</a:t>
            </a:r>
            <a:r>
              <a:rPr lang="en-US" altLang="zh-CN" sz="2400" b="1" baseline="-25000" dirty="0" smtClean="0">
                <a:latin typeface="times" panose="02020603050405020304" pitchFamily="18" charset="0"/>
                <a:cs typeface="times" panose="02020603050405020304" pitchFamily="18" charset="0"/>
              </a:rPr>
              <a:t>2-3 </a:t>
            </a:r>
            <a:r>
              <a:rPr lang="zh-CN" altLang="en-US" sz="2400" b="1" dirty="0" smtClean="0"/>
              <a:t>。</a:t>
            </a:r>
            <a:endParaRPr lang="en-US" altLang="zh-CN" sz="2400" b="1" dirty="0" smtClean="0"/>
          </a:p>
          <a:p>
            <a:pPr marL="342900" indent="-342900">
              <a:buFont typeface="Arial" panose="020B0604020202020204" pitchFamily="34" charset="0"/>
              <a:buChar char="•"/>
            </a:pPr>
            <a:r>
              <a:rPr lang="zh-CN" altLang="en-US" sz="2400" b="1" dirty="0" smtClean="0"/>
              <a:t>此时</a:t>
            </a:r>
            <a:r>
              <a:rPr lang="zh-CN" altLang="en-US" sz="2400" b="1" dirty="0"/>
              <a:t>，整个联合循环从外部</a:t>
            </a:r>
            <a:r>
              <a:rPr lang="zh-CN" altLang="en-US" sz="2400" b="1" dirty="0" smtClean="0"/>
              <a:t>热源</a:t>
            </a:r>
            <a:r>
              <a:rPr lang="zh-CN" altLang="en-US" sz="2400" b="1" dirty="0"/>
              <a:t>的</a:t>
            </a:r>
            <a:r>
              <a:rPr lang="zh-CN" altLang="en-US" sz="2400" b="1" dirty="0" smtClean="0"/>
              <a:t>吸热量为</a:t>
            </a:r>
            <a:r>
              <a:rPr lang="zh-CN" altLang="en-US" sz="2400" b="1" dirty="0"/>
              <a:t>燃气轮机装置的加热</a:t>
            </a:r>
            <a:r>
              <a:rPr lang="zh-CN" altLang="en-US" sz="2400" b="1" dirty="0" smtClean="0"/>
              <a:t>量</a:t>
            </a:r>
            <a:r>
              <a:rPr lang="en-US" altLang="zh-CN" sz="2400" b="1" i="1" dirty="0" smtClean="0">
                <a:latin typeface="times" panose="02020603050405020304" pitchFamily="18" charset="0"/>
                <a:cs typeface="times" panose="02020603050405020304" pitchFamily="18" charset="0"/>
              </a:rPr>
              <a:t>q</a:t>
            </a:r>
            <a:r>
              <a:rPr lang="en-US" altLang="zh-CN" sz="2400" b="1" baseline="-25000" dirty="0" smtClean="0">
                <a:latin typeface="times" panose="02020603050405020304" pitchFamily="18" charset="0"/>
                <a:cs typeface="times" panose="02020603050405020304" pitchFamily="18" charset="0"/>
              </a:rPr>
              <a:t>1</a:t>
            </a:r>
            <a:r>
              <a:rPr lang="zh-CN" altLang="en-US" sz="2400" b="1" dirty="0" smtClean="0"/>
              <a:t>（过程线</a:t>
            </a:r>
            <a:r>
              <a:rPr lang="zh-CN" altLang="en-US" sz="2400" b="1" dirty="0">
                <a:latin typeface="times" panose="02020603050405020304" pitchFamily="18" charset="0"/>
                <a:cs typeface="times" panose="02020603050405020304" pitchFamily="18" charset="0"/>
              </a:rPr>
              <a:t>6-7</a:t>
            </a:r>
            <a:r>
              <a:rPr lang="zh-CN" altLang="en-US" sz="2400" b="1" dirty="0"/>
              <a:t>向</a:t>
            </a:r>
            <a:r>
              <a:rPr lang="zh-CN" altLang="en-US" sz="2400" b="1" i="1" dirty="0">
                <a:latin typeface="times" panose="02020603050405020304" pitchFamily="18" charset="0"/>
                <a:cs typeface="times" panose="02020603050405020304" pitchFamily="18" charset="0"/>
              </a:rPr>
              <a:t>s</a:t>
            </a:r>
            <a:r>
              <a:rPr lang="zh-CN" altLang="en-US" sz="2400" b="1" dirty="0"/>
              <a:t>轴的投影面积），向外部冷</a:t>
            </a:r>
            <a:r>
              <a:rPr lang="zh-CN" altLang="en-US" sz="2400" b="1" dirty="0" smtClean="0"/>
              <a:t>源的放热量为</a:t>
            </a:r>
            <a:r>
              <a:rPr lang="zh-CN" altLang="en-US" sz="2400" b="1" dirty="0"/>
              <a:t>蒸汽轮机装置的放热</a:t>
            </a:r>
            <a:r>
              <a:rPr lang="zh-CN" altLang="en-US" sz="2400" b="1" dirty="0" smtClean="0"/>
              <a:t>量</a:t>
            </a:r>
            <a:r>
              <a:rPr lang="en-US" altLang="zh-CN" sz="2400" b="1" i="1" dirty="0" smtClean="0">
                <a:latin typeface="times" panose="02020603050405020304" pitchFamily="18" charset="0"/>
                <a:cs typeface="times" panose="02020603050405020304" pitchFamily="18" charset="0"/>
              </a:rPr>
              <a:t>q</a:t>
            </a:r>
            <a:r>
              <a:rPr lang="en-US" altLang="zh-CN" sz="2400" b="1" baseline="-25000" dirty="0" smtClean="0">
                <a:latin typeface="times" panose="02020603050405020304" pitchFamily="18" charset="0"/>
                <a:cs typeface="times" panose="02020603050405020304" pitchFamily="18" charset="0"/>
              </a:rPr>
              <a:t>2</a:t>
            </a:r>
            <a:r>
              <a:rPr lang="zh-CN" altLang="en-US" sz="2400" b="1" dirty="0" smtClean="0"/>
              <a:t>（过程线</a:t>
            </a:r>
            <a:r>
              <a:rPr lang="zh-CN" altLang="en-US" sz="2400" b="1" dirty="0">
                <a:latin typeface="times" panose="02020603050405020304" pitchFamily="18" charset="0"/>
                <a:cs typeface="times" panose="02020603050405020304" pitchFamily="18" charset="0"/>
              </a:rPr>
              <a:t>4-1</a:t>
            </a:r>
            <a:r>
              <a:rPr lang="zh-CN" altLang="en-US" sz="2400" b="1" dirty="0" smtClean="0"/>
              <a:t>向</a:t>
            </a:r>
            <a:r>
              <a:rPr lang="zh-CN" altLang="en-US" sz="2400" b="1" i="1" dirty="0">
                <a:latin typeface="times" panose="02020603050405020304" pitchFamily="18" charset="0"/>
                <a:cs typeface="times" panose="02020603050405020304" pitchFamily="18" charset="0"/>
              </a:rPr>
              <a:t>s</a:t>
            </a:r>
            <a:r>
              <a:rPr lang="zh-CN" altLang="en-US" sz="2400" b="1" dirty="0" smtClean="0"/>
              <a:t>轴</a:t>
            </a:r>
            <a:r>
              <a:rPr lang="zh-CN" altLang="en-US" sz="2400" b="1" dirty="0"/>
              <a:t>的投影面积</a:t>
            </a:r>
            <a:r>
              <a:rPr lang="zh-CN" altLang="en-US" sz="2400" b="1" dirty="0" smtClean="0"/>
              <a:t>）</a:t>
            </a:r>
            <a:endParaRPr lang="en-US" altLang="zh-CN" sz="2400" b="1" dirty="0" smtClean="0"/>
          </a:p>
          <a:p>
            <a:pPr marL="342900" indent="-342900">
              <a:buFont typeface="Arial" panose="020B0604020202020204" pitchFamily="34" charset="0"/>
              <a:buChar char="•"/>
            </a:pPr>
            <a:r>
              <a:rPr lang="zh-CN" altLang="en-US" sz="2400" b="1" dirty="0" smtClean="0"/>
              <a:t>因此</a:t>
            </a:r>
            <a:r>
              <a:rPr lang="zh-CN" altLang="en-US" sz="2400" b="1" dirty="0"/>
              <a:t>，联合循环的热效率为</a:t>
            </a:r>
          </a:p>
        </p:txBody>
      </p:sp>
      <p:graphicFrame>
        <p:nvGraphicFramePr>
          <p:cNvPr id="7" name="对象 6"/>
          <p:cNvGraphicFramePr>
            <a:graphicFrameLocks noChangeAspect="1"/>
          </p:cNvGraphicFramePr>
          <p:nvPr>
            <p:extLst/>
          </p:nvPr>
        </p:nvGraphicFramePr>
        <p:xfrm>
          <a:off x="5672753" y="5211985"/>
          <a:ext cx="1244060" cy="863226"/>
        </p:xfrm>
        <a:graphic>
          <a:graphicData uri="http://schemas.openxmlformats.org/presentationml/2006/ole">
            <mc:AlternateContent xmlns:mc="http://schemas.openxmlformats.org/markup-compatibility/2006">
              <mc:Choice xmlns:v="urn:schemas-microsoft-com:vml" Requires="v">
                <p:oleObj spid="_x0000_s46084" name="Equation" r:id="rId3" imgW="622030" imgH="431613" progId="Equation.DSMT4">
                  <p:embed/>
                </p:oleObj>
              </mc:Choice>
              <mc:Fallback>
                <p:oleObj name="Equation" r:id="rId3" imgW="622030" imgH="431613" progId="Equation.DSMT4">
                  <p:embed/>
                  <p:pic>
                    <p:nvPicPr>
                      <p:cNvPr id="7" name="对象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2753" y="5211985"/>
                        <a:ext cx="1244060" cy="86322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3557" y="613962"/>
            <a:ext cx="3798137" cy="5029636"/>
          </a:xfrm>
          <a:prstGeom prst="rect">
            <a:avLst/>
          </a:prstGeom>
        </p:spPr>
      </p:pic>
    </p:spTree>
    <p:extLst>
      <p:ext uri="{BB962C8B-B14F-4D97-AF65-F5344CB8AC3E}">
        <p14:creationId xmlns:p14="http://schemas.microsoft.com/office/powerpoint/2010/main" val="14490696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4215158" y="1749670"/>
            <a:ext cx="4572000" cy="1569660"/>
          </a:xfrm>
          <a:prstGeom prst="rect">
            <a:avLst/>
          </a:prstGeom>
        </p:spPr>
        <p:txBody>
          <a:bodyPr>
            <a:spAutoFit/>
          </a:bodyPr>
          <a:lstStyle/>
          <a:p>
            <a:r>
              <a:rPr lang="zh-CN" altLang="en-US" sz="2400" b="1" dirty="0"/>
              <a:t>与单一的蒸汽或燃气动力循环相比，蒸汽</a:t>
            </a:r>
            <a:r>
              <a:rPr lang="en-US" altLang="zh-CN" sz="2400" b="1" dirty="0"/>
              <a:t>-</a:t>
            </a:r>
            <a:r>
              <a:rPr lang="zh-CN" altLang="en-US" sz="2400" b="1" dirty="0"/>
              <a:t>燃气联合循环具有更高的平均吸热温度和更低的平均放热温度</a:t>
            </a:r>
            <a:r>
              <a:rPr lang="zh-CN" altLang="en-US" sz="2400" b="1" dirty="0" smtClean="0"/>
              <a:t>，热效率更高</a:t>
            </a:r>
            <a:endParaRPr lang="en-US" altLang="zh-CN" sz="2400" b="1" dirty="0" smtClean="0"/>
          </a:p>
        </p:txBody>
      </p:sp>
      <p:cxnSp>
        <p:nvCxnSpPr>
          <p:cNvPr id="3" name="直接连接符 2"/>
          <p:cNvCxnSpPr/>
          <p:nvPr/>
        </p:nvCxnSpPr>
        <p:spPr>
          <a:xfrm>
            <a:off x="873759" y="2411307"/>
            <a:ext cx="2532050" cy="0"/>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3274723" y="5063067"/>
            <a:ext cx="667357" cy="0"/>
          </a:xfrm>
          <a:prstGeom prst="line">
            <a:avLst/>
          </a:prstGeom>
          <a:ln w="25400">
            <a:prstDash val="dash"/>
          </a:ln>
        </p:spPr>
        <p:style>
          <a:lnRef idx="1">
            <a:schemeClr val="accent1"/>
          </a:lnRef>
          <a:fillRef idx="0">
            <a:schemeClr val="accent1"/>
          </a:fillRef>
          <a:effectRef idx="0">
            <a:schemeClr val="accent1"/>
          </a:effectRef>
          <a:fontRef idx="minor">
            <a:schemeClr val="tx1"/>
          </a:fontRef>
        </p:style>
      </p:cxnSp>
      <p:graphicFrame>
        <p:nvGraphicFramePr>
          <p:cNvPr id="12" name="对象 11"/>
          <p:cNvGraphicFramePr>
            <a:graphicFrameLocks/>
          </p:cNvGraphicFramePr>
          <p:nvPr>
            <p:extLst/>
          </p:nvPr>
        </p:nvGraphicFramePr>
        <p:xfrm>
          <a:off x="3429483" y="2109682"/>
          <a:ext cx="381000" cy="603250"/>
        </p:xfrm>
        <a:graphic>
          <a:graphicData uri="http://schemas.openxmlformats.org/presentationml/2006/ole">
            <mc:AlternateContent xmlns:mc="http://schemas.openxmlformats.org/markup-compatibility/2006">
              <mc:Choice xmlns:v="urn:schemas-microsoft-com:vml" Requires="v">
                <p:oleObj spid="_x0000_s47110" name="Equation" r:id="rId3" imgW="152268" imgH="241091" progId="Equation.DSMT4">
                  <p:embed/>
                </p:oleObj>
              </mc:Choice>
              <mc:Fallback>
                <p:oleObj name="Equation" r:id="rId3" imgW="152268" imgH="241091" progId="Equation.DSMT4">
                  <p:embed/>
                  <p:pic>
                    <p:nvPicPr>
                      <p:cNvPr id="12" name="对象 1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483" y="2109682"/>
                        <a:ext cx="38100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graphicFrame>
        <p:nvGraphicFramePr>
          <p:cNvPr id="13" name="对象 12"/>
          <p:cNvGraphicFramePr>
            <a:graphicFrameLocks/>
          </p:cNvGraphicFramePr>
          <p:nvPr>
            <p:extLst/>
          </p:nvPr>
        </p:nvGraphicFramePr>
        <p:xfrm>
          <a:off x="4008783" y="4761442"/>
          <a:ext cx="412750" cy="603250"/>
        </p:xfrm>
        <a:graphic>
          <a:graphicData uri="http://schemas.openxmlformats.org/presentationml/2006/ole">
            <mc:AlternateContent xmlns:mc="http://schemas.openxmlformats.org/markup-compatibility/2006">
              <mc:Choice xmlns:v="urn:schemas-microsoft-com:vml" Requires="v">
                <p:oleObj spid="_x0000_s47111" name="Equation" r:id="rId5" imgW="164880" imgH="241200" progId="Equation.DSMT4">
                  <p:embed/>
                </p:oleObj>
              </mc:Choice>
              <mc:Fallback>
                <p:oleObj name="Equation" r:id="rId5" imgW="164880" imgH="241200" progId="Equation.DSMT4">
                  <p:embed/>
                  <p:pic>
                    <p:nvPicPr>
                      <p:cNvPr id="13" name="对象 12"/>
                      <p:cNvPicPr>
                        <a:picLocks noChangeArrowheads="1"/>
                      </p:cNvPicPr>
                      <p:nvPr/>
                    </p:nvPicPr>
                    <p:blipFill>
                      <a:blip r:embed="rId6"/>
                      <a:srcRect/>
                      <a:stretch>
                        <a:fillRect/>
                      </a:stretch>
                    </p:blipFill>
                    <p:spPr bwMode="auto">
                      <a:xfrm>
                        <a:off x="4008783" y="4761442"/>
                        <a:ext cx="412750" cy="603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pic>
                </p:oleObj>
              </mc:Fallback>
            </mc:AlternateContent>
          </a:graphicData>
        </a:graphic>
      </p:graphicFrame>
      <p:pic>
        <p:nvPicPr>
          <p:cNvPr id="2" name="图片 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40715" y="804512"/>
            <a:ext cx="3798137" cy="5029636"/>
          </a:xfrm>
          <a:prstGeom prst="rect">
            <a:avLst/>
          </a:prstGeom>
        </p:spPr>
      </p:pic>
    </p:spTree>
    <p:extLst>
      <p:ext uri="{BB962C8B-B14F-4D97-AF65-F5344CB8AC3E}">
        <p14:creationId xmlns:p14="http://schemas.microsoft.com/office/powerpoint/2010/main" val="156328720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695739" y="1107998"/>
            <a:ext cx="7712765" cy="2954655"/>
          </a:xfrm>
          <a:prstGeom prst="rect">
            <a:avLst/>
          </a:prstGeom>
        </p:spPr>
        <p:txBody>
          <a:bodyPr wrap="square">
            <a:spAutoFit/>
          </a:bodyPr>
          <a:lstStyle/>
          <a:p>
            <a:pPr marL="342900" indent="-342900">
              <a:buFont typeface="Arial" panose="020B0604020202020204" pitchFamily="34" charset="0"/>
              <a:buChar char="•"/>
            </a:pPr>
            <a:r>
              <a:rPr lang="zh-CN" altLang="en-US" sz="2800" b="1" dirty="0"/>
              <a:t>实际过程中，燃气轮机装置的定压放热量不一定正好等于蒸汽轮机装置的吸热</a:t>
            </a:r>
            <a:r>
              <a:rPr lang="zh-CN" altLang="en-US" sz="2800" b="1" dirty="0" smtClean="0"/>
              <a:t>量</a:t>
            </a:r>
            <a:endParaRPr lang="en-US" altLang="zh-CN" sz="2800" b="1" dirty="0" smtClean="0"/>
          </a:p>
          <a:p>
            <a:pPr marL="914400" lvl="1" indent="-457200">
              <a:buFont typeface="Wingdings" panose="05000000000000000000" pitchFamily="2" charset="2"/>
              <a:buChar char="Ø"/>
            </a:pPr>
            <a:r>
              <a:rPr lang="zh-CN" altLang="en-US" sz="2600" b="1" dirty="0" smtClean="0"/>
              <a:t>一</a:t>
            </a:r>
            <a:r>
              <a:rPr lang="zh-CN" altLang="en-US" sz="2600" b="1" dirty="0"/>
              <a:t>种情况是燃气的放热量中仅有一部分被蒸汽轮机装置利用，其余部分排向</a:t>
            </a:r>
            <a:r>
              <a:rPr lang="zh-CN" altLang="en-US" sz="2600" b="1" dirty="0" smtClean="0"/>
              <a:t>大气</a:t>
            </a:r>
            <a:endParaRPr lang="en-US" altLang="zh-CN" sz="2600" b="1" dirty="0" smtClean="0"/>
          </a:p>
          <a:p>
            <a:pPr marL="914400" lvl="1" indent="-457200">
              <a:buFont typeface="Wingdings" panose="05000000000000000000" pitchFamily="2" charset="2"/>
              <a:buChar char="Ø"/>
            </a:pPr>
            <a:r>
              <a:rPr lang="zh-CN" altLang="en-US" sz="2600" b="1" dirty="0" smtClean="0"/>
              <a:t>另</a:t>
            </a:r>
            <a:r>
              <a:rPr lang="zh-CN" altLang="en-US" sz="2600" b="1" dirty="0"/>
              <a:t>一种情况是燃气的放热量不足以提供蒸汽轮机装置的热量要求，此时还需要加装锅炉装置辅助加热</a:t>
            </a:r>
            <a:endParaRPr lang="en-US" altLang="zh-CN" sz="2600" b="1" dirty="0"/>
          </a:p>
        </p:txBody>
      </p:sp>
    </p:spTree>
    <p:extLst>
      <p:ext uri="{BB962C8B-B14F-4D97-AF65-F5344CB8AC3E}">
        <p14:creationId xmlns:p14="http://schemas.microsoft.com/office/powerpoint/2010/main" val="353540329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extLst mod="1"/>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Rectangle 2"/>
          <p:cNvSpPr>
            <a:spLocks noGrp="1" noChangeArrowheads="1"/>
          </p:cNvSpPr>
          <p:nvPr>
            <p:ph type="title" idx="4294967295"/>
          </p:nvPr>
        </p:nvSpPr>
        <p:spPr>
          <a:xfrm>
            <a:off x="228600" y="228600"/>
            <a:ext cx="8456613" cy="762000"/>
          </a:xfrm>
        </p:spPr>
        <p:txBody>
          <a:bodyPr/>
          <a:lstStyle/>
          <a:p>
            <a:r>
              <a:rPr lang="zh-CN" altLang="en-US" sz="4000" b="1" smtClean="0">
                <a:solidFill>
                  <a:schemeClr val="tx1"/>
                </a:solidFill>
                <a:ea typeface="黑体" panose="02010609060101010101" pitchFamily="49" charset="-122"/>
              </a:rPr>
              <a:t>提高蒸汽动力循环热效率的途径小结</a:t>
            </a:r>
          </a:p>
        </p:txBody>
      </p:sp>
      <p:sp>
        <p:nvSpPr>
          <p:cNvPr id="82946" name="Text Box 3"/>
          <p:cNvSpPr txBox="1">
            <a:spLocks noChangeArrowheads="1"/>
          </p:cNvSpPr>
          <p:nvPr/>
        </p:nvSpPr>
        <p:spPr bwMode="auto">
          <a:xfrm>
            <a:off x="554866" y="1736586"/>
            <a:ext cx="29575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Times New Roman" panose="02020603050405020304" pitchFamily="18" charset="0"/>
                <a:ea typeface="黑体" panose="02010609060101010101" pitchFamily="49" charset="-122"/>
              </a:rPr>
              <a:t>改变循环参数</a:t>
            </a:r>
          </a:p>
        </p:txBody>
      </p:sp>
      <p:sp>
        <p:nvSpPr>
          <p:cNvPr id="82947" name="Text Box 4"/>
          <p:cNvSpPr txBox="1">
            <a:spLocks noChangeArrowheads="1"/>
          </p:cNvSpPr>
          <p:nvPr/>
        </p:nvSpPr>
        <p:spPr bwMode="auto">
          <a:xfrm>
            <a:off x="4380741" y="1211055"/>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smtClean="0">
                <a:latin typeface="Times New Roman" panose="02020603050405020304" pitchFamily="18" charset="0"/>
              </a:rPr>
              <a:t>提高蒸汽初</a:t>
            </a:r>
            <a:r>
              <a:rPr lang="zh-CN" altLang="en-US" sz="2800" b="1" dirty="0">
                <a:latin typeface="Times New Roman" panose="02020603050405020304" pitchFamily="18" charset="0"/>
              </a:rPr>
              <a:t>温度</a:t>
            </a:r>
          </a:p>
        </p:txBody>
      </p:sp>
      <p:sp>
        <p:nvSpPr>
          <p:cNvPr id="82948" name="Text Box 5"/>
          <p:cNvSpPr txBox="1">
            <a:spLocks noChangeArrowheads="1"/>
          </p:cNvSpPr>
          <p:nvPr/>
        </p:nvSpPr>
        <p:spPr bwMode="auto">
          <a:xfrm>
            <a:off x="4380741" y="1728649"/>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smtClean="0">
                <a:latin typeface="Times New Roman" panose="02020603050405020304" pitchFamily="18" charset="0"/>
              </a:rPr>
              <a:t>提高蒸汽初</a:t>
            </a:r>
            <a:r>
              <a:rPr lang="zh-CN" altLang="en-US" sz="2800" b="1" dirty="0">
                <a:latin typeface="Times New Roman" panose="02020603050405020304" pitchFamily="18" charset="0"/>
              </a:rPr>
              <a:t>压力</a:t>
            </a:r>
          </a:p>
        </p:txBody>
      </p:sp>
      <p:sp>
        <p:nvSpPr>
          <p:cNvPr id="82949" name="Text Box 6"/>
          <p:cNvSpPr txBox="1">
            <a:spLocks noChangeArrowheads="1"/>
          </p:cNvSpPr>
          <p:nvPr/>
        </p:nvSpPr>
        <p:spPr bwMode="auto">
          <a:xfrm>
            <a:off x="4380741" y="2245483"/>
            <a:ext cx="270939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dirty="0" smtClean="0">
                <a:latin typeface="Times New Roman" panose="02020603050405020304" pitchFamily="18" charset="0"/>
              </a:rPr>
              <a:t>降低蒸汽终压力</a:t>
            </a:r>
            <a:endParaRPr lang="zh-CN" altLang="en-US" sz="2800" b="1" dirty="0">
              <a:latin typeface="Times New Roman" panose="02020603050405020304" pitchFamily="18" charset="0"/>
            </a:endParaRPr>
          </a:p>
        </p:txBody>
      </p:sp>
      <p:sp>
        <p:nvSpPr>
          <p:cNvPr id="82950" name="AutoShape 7"/>
          <p:cNvSpPr>
            <a:spLocks/>
          </p:cNvSpPr>
          <p:nvPr/>
        </p:nvSpPr>
        <p:spPr bwMode="auto">
          <a:xfrm>
            <a:off x="4228341" y="1455599"/>
            <a:ext cx="147637" cy="1133475"/>
          </a:xfrm>
          <a:prstGeom prst="leftBrace">
            <a:avLst>
              <a:gd name="adj1" fmla="val 63908"/>
              <a:gd name="adj2" fmla="val 50000"/>
            </a:avLst>
          </a:prstGeom>
          <a:noFill/>
          <a:ln w="254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Times New Roman" panose="02020603050405020304" pitchFamily="18" charset="0"/>
            </a:endParaRPr>
          </a:p>
        </p:txBody>
      </p:sp>
      <p:cxnSp>
        <p:nvCxnSpPr>
          <p:cNvPr id="82951" name="AutoShape 8"/>
          <p:cNvCxnSpPr>
            <a:cxnSpLocks noChangeShapeType="1"/>
            <a:stCxn id="82946" idx="3"/>
            <a:endCxn id="82950" idx="1"/>
          </p:cNvCxnSpPr>
          <p:nvPr/>
        </p:nvCxnSpPr>
        <p:spPr bwMode="auto">
          <a:xfrm flipV="1">
            <a:off x="3512378" y="2022336"/>
            <a:ext cx="715963" cy="6350"/>
          </a:xfrm>
          <a:prstGeom prst="straightConnector1">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cxnSp>
      <p:sp>
        <p:nvSpPr>
          <p:cNvPr id="82952" name="Text Box 9"/>
          <p:cNvSpPr txBox="1">
            <a:spLocks noChangeArrowheads="1"/>
          </p:cNvSpPr>
          <p:nvPr/>
        </p:nvSpPr>
        <p:spPr bwMode="auto">
          <a:xfrm>
            <a:off x="622300" y="4302126"/>
            <a:ext cx="3276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3200" b="1">
                <a:latin typeface="Times New Roman" panose="02020603050405020304" pitchFamily="18" charset="0"/>
                <a:ea typeface="黑体" panose="02010609060101010101" pitchFamily="49" charset="-122"/>
              </a:rPr>
              <a:t>改变循环形式</a:t>
            </a:r>
          </a:p>
        </p:txBody>
      </p:sp>
      <p:sp>
        <p:nvSpPr>
          <p:cNvPr id="82953" name="Text Box 10"/>
          <p:cNvSpPr txBox="1">
            <a:spLocks noChangeArrowheads="1"/>
          </p:cNvSpPr>
          <p:nvPr/>
        </p:nvSpPr>
        <p:spPr bwMode="auto">
          <a:xfrm>
            <a:off x="4449763" y="3754438"/>
            <a:ext cx="3487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回热循环</a:t>
            </a:r>
          </a:p>
        </p:txBody>
      </p:sp>
      <p:sp>
        <p:nvSpPr>
          <p:cNvPr id="82954" name="Text Box 11"/>
          <p:cNvSpPr txBox="1">
            <a:spLocks noChangeArrowheads="1"/>
          </p:cNvSpPr>
          <p:nvPr/>
        </p:nvSpPr>
        <p:spPr bwMode="auto">
          <a:xfrm>
            <a:off x="4449763" y="3195638"/>
            <a:ext cx="3106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再热循环</a:t>
            </a:r>
          </a:p>
        </p:txBody>
      </p:sp>
      <p:sp>
        <p:nvSpPr>
          <p:cNvPr id="82955" name="AutoShape 12"/>
          <p:cNvSpPr>
            <a:spLocks/>
          </p:cNvSpPr>
          <p:nvPr/>
        </p:nvSpPr>
        <p:spPr bwMode="auto">
          <a:xfrm>
            <a:off x="4300538" y="3476626"/>
            <a:ext cx="144462" cy="2236787"/>
          </a:xfrm>
          <a:prstGeom prst="leftBrace">
            <a:avLst>
              <a:gd name="adj1" fmla="val 128886"/>
              <a:gd name="adj2" fmla="val 50000"/>
            </a:avLst>
          </a:prstGeom>
          <a:noFill/>
          <a:ln w="254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sz="2400">
              <a:latin typeface="Times New Roman" panose="02020603050405020304" pitchFamily="18" charset="0"/>
            </a:endParaRPr>
          </a:p>
        </p:txBody>
      </p:sp>
      <p:cxnSp>
        <p:nvCxnSpPr>
          <p:cNvPr id="82956" name="AutoShape 13"/>
          <p:cNvCxnSpPr>
            <a:cxnSpLocks noChangeShapeType="1"/>
            <a:endCxn id="82955" idx="1"/>
          </p:cNvCxnSpPr>
          <p:nvPr/>
        </p:nvCxnSpPr>
        <p:spPr bwMode="auto">
          <a:xfrm flipV="1">
            <a:off x="3594100" y="4595813"/>
            <a:ext cx="706438" cy="12700"/>
          </a:xfrm>
          <a:prstGeom prst="straightConnector1">
            <a:avLst/>
          </a:prstGeom>
          <a:noFill/>
          <a:ln w="38100">
            <a:solidFill>
              <a:schemeClr val="tx1"/>
            </a:solidFill>
            <a:round/>
            <a:headEnd/>
            <a:tailEnd type="stealth" w="lg" len="lg"/>
          </a:ln>
          <a:extLst>
            <a:ext uri="{909E8E84-426E-40DD-AFC4-6F175D3DCCD1}">
              <a14:hiddenFill xmlns:a14="http://schemas.microsoft.com/office/drawing/2010/main">
                <a:noFill/>
              </a14:hiddenFill>
            </a:ext>
          </a:extLst>
        </p:spPr>
      </p:cxnSp>
      <p:sp>
        <p:nvSpPr>
          <p:cNvPr id="82957" name="Text Box 16"/>
          <p:cNvSpPr txBox="1">
            <a:spLocks noChangeArrowheads="1"/>
          </p:cNvSpPr>
          <p:nvPr/>
        </p:nvSpPr>
        <p:spPr bwMode="auto">
          <a:xfrm>
            <a:off x="4449763" y="4311651"/>
            <a:ext cx="38687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热电合供</a:t>
            </a:r>
          </a:p>
        </p:txBody>
      </p:sp>
      <p:sp>
        <p:nvSpPr>
          <p:cNvPr id="82958" name="Text Box 17"/>
          <p:cNvSpPr txBox="1">
            <a:spLocks noChangeArrowheads="1"/>
          </p:cNvSpPr>
          <p:nvPr/>
        </p:nvSpPr>
        <p:spPr bwMode="auto">
          <a:xfrm>
            <a:off x="4449763" y="4864101"/>
            <a:ext cx="44783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蒸汽</a:t>
            </a:r>
            <a:r>
              <a:rPr lang="en-US" altLang="zh-CN" sz="2800" b="1">
                <a:latin typeface="Times New Roman" panose="02020603050405020304" pitchFamily="18" charset="0"/>
              </a:rPr>
              <a:t>-</a:t>
            </a:r>
            <a:r>
              <a:rPr lang="zh-CN" altLang="en-US" sz="2800" b="1">
                <a:latin typeface="Times New Roman" panose="02020603050405020304" pitchFamily="18" charset="0"/>
              </a:rPr>
              <a:t>燃气联合循环</a:t>
            </a:r>
          </a:p>
        </p:txBody>
      </p:sp>
      <p:sp>
        <p:nvSpPr>
          <p:cNvPr id="82959" name="Text Box 18"/>
          <p:cNvSpPr txBox="1">
            <a:spLocks noChangeArrowheads="1"/>
          </p:cNvSpPr>
          <p:nvPr/>
        </p:nvSpPr>
        <p:spPr bwMode="auto">
          <a:xfrm>
            <a:off x="4449763" y="5426076"/>
            <a:ext cx="3792537"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b="1">
                <a:latin typeface="Times New Roman" panose="02020603050405020304" pitchFamily="18" charset="0"/>
              </a:rPr>
              <a:t>新型动力循环</a:t>
            </a:r>
          </a:p>
        </p:txBody>
      </p:sp>
    </p:spTree>
    <p:extLst>
      <p:ext uri="{BB962C8B-B14F-4D97-AF65-F5344CB8AC3E}">
        <p14:creationId xmlns:p14="http://schemas.microsoft.com/office/powerpoint/2010/main" val="915562352"/>
      </p:ext>
    </p:extLst>
  </p:cSld>
  <p:clrMapOvr>
    <a:masterClrMapping/>
  </p:clrMapOvr>
  <p:transition spd="slow"/>
  <p:timing>
    <p:tnLst>
      <p:par>
        <p:cTn id="1" dur="indefinite" restart="never" nodeType="tmRoot"/>
      </p:par>
    </p:tnLst>
  </p:timing>
  <p:extLst mod="1"/>
</p:sld>
</file>

<file path=ppt/tags/tag1.xml><?xml version="1.0" encoding="utf-8"?>
<p:tagLst xmlns:a="http://schemas.openxmlformats.org/drawingml/2006/main" xmlns:r="http://schemas.openxmlformats.org/officeDocument/2006/relationships" xmlns:p="http://schemas.openxmlformats.org/presentationml/2006/main">
  <p:tag name="KSO_WM_SLIDE_MODEL_TYPE" val="cover"/>
</p:tagLst>
</file>

<file path=ppt/tags/tag2.xml><?xml version="1.0" encoding="utf-8"?>
<p:tagLst xmlns:a="http://schemas.openxmlformats.org/drawingml/2006/main" xmlns:r="http://schemas.openxmlformats.org/officeDocument/2006/relationships" xmlns:p="http://schemas.openxmlformats.org/presentationml/2006/main">
  <p:tag name="KSO_WM_SLIDE_MODEL_TYPE" val="numdgm"/>
</p:tagLst>
</file>

<file path=ppt/tags/tag3.xml><?xml version="1.0" encoding="utf-8"?>
<p:tagLst xmlns:a="http://schemas.openxmlformats.org/drawingml/2006/main" xmlns:r="http://schemas.openxmlformats.org/officeDocument/2006/relationships" xmlns:p="http://schemas.openxmlformats.org/presentationml/2006/main">
  <p:tag name="TIMING" val="|96.8"/>
</p:tagLst>
</file>

<file path=ppt/tags/tag4.xml><?xml version="1.0" encoding="utf-8"?>
<p:tagLst xmlns:a="http://schemas.openxmlformats.org/drawingml/2006/main" xmlns:r="http://schemas.openxmlformats.org/officeDocument/2006/relationships" xmlns:p="http://schemas.openxmlformats.org/presentationml/2006/main">
  <p:tag name="TIMING" val="|199.6|5.3|6.5|6.6|5.3|1.3"/>
</p:tagLst>
</file>

<file path=ppt/tags/tag5.xml><?xml version="1.0" encoding="utf-8"?>
<p:tagLst xmlns:a="http://schemas.openxmlformats.org/drawingml/2006/main" xmlns:r="http://schemas.openxmlformats.org/officeDocument/2006/relationships" xmlns:p="http://schemas.openxmlformats.org/presentationml/2006/main">
  <p:tag name="TIMING" val="|67|7.7|0.3|0.6|0.7|4.8|1.1|0.7|5|0.6|32.7|0.9|22.5|3.3|1.9|3.5|4|0.5|0.7|2|0.8|0.7|48.3|0.7"/>
</p:tagLst>
</file>

<file path=ppt/tags/tag6.xml><?xml version="1.0" encoding="utf-8"?>
<p:tagLst xmlns:a="http://schemas.openxmlformats.org/drawingml/2006/main" xmlns:r="http://schemas.openxmlformats.org/officeDocument/2006/relationships" xmlns:p="http://schemas.openxmlformats.org/presentationml/2006/main">
  <p:tag name="TIMING" val="|38.2|8.5|58.3|27|29.8"/>
</p:tagLst>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2">
      <a:majorFont>
        <a:latin typeface="黑体"/>
        <a:ea typeface="黑体"/>
        <a:cs typeface=""/>
      </a:majorFont>
      <a:minorFont>
        <a:latin typeface="黑体"/>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111</TotalTime>
  <Words>3666</Words>
  <Application>Microsoft Office PowerPoint</Application>
  <PresentationFormat>全屏显示(4:3)</PresentationFormat>
  <Paragraphs>232</Paragraphs>
  <Slides>66</Slides>
  <Notes>1</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2</vt:i4>
      </vt:variant>
      <vt:variant>
        <vt:lpstr>幻灯片标题</vt:lpstr>
      </vt:variant>
      <vt:variant>
        <vt:i4>66</vt:i4>
      </vt:variant>
    </vt:vector>
  </HeadingPairs>
  <TitlesOfParts>
    <vt:vector size="80" baseType="lpstr">
      <vt:lpstr>等线</vt:lpstr>
      <vt:lpstr>黑体</vt:lpstr>
      <vt:lpstr>华文新魏</vt:lpstr>
      <vt:lpstr>楷体_GB2312</vt:lpstr>
      <vt:lpstr>宋体</vt:lpstr>
      <vt:lpstr>Arial</vt:lpstr>
      <vt:lpstr>Symbol</vt:lpstr>
      <vt:lpstr>Tahoma</vt:lpstr>
      <vt:lpstr>times</vt:lpstr>
      <vt:lpstr>Times New Roman</vt:lpstr>
      <vt:lpstr>Wingdings</vt:lpstr>
      <vt:lpstr>Office 主题</vt:lpstr>
      <vt:lpstr>Equation</vt:lpstr>
      <vt:lpstr>MathType 5.0 Equation</vt:lpstr>
      <vt:lpstr>13   蒸汽动力循环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一、提高蒸汽初温度</vt:lpstr>
      <vt:lpstr>PowerPoint 演示文稿</vt:lpstr>
      <vt:lpstr>三、 降低蒸汽终压力</vt:lpstr>
      <vt:lpstr>PowerPoint 演示文稿</vt:lpstr>
      <vt:lpstr>为什么选择再热循环？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为什么选择回热循环？</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为什么选择蒸汽-燃气联合循环？</vt:lpstr>
      <vt:lpstr>PowerPoint 演示文稿</vt:lpstr>
      <vt:lpstr>PowerPoint 演示文稿</vt:lpstr>
      <vt:lpstr>PowerPoint 演示文稿</vt:lpstr>
      <vt:lpstr>PowerPoint 演示文稿</vt:lpstr>
      <vt:lpstr>提高蒸汽动力循环热效率的途径小结</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第13讲 蒸汽动力循环</dc:title>
  <dc:creator>jing wu</dc:creator>
  <cp:lastModifiedBy>jingwu</cp:lastModifiedBy>
  <cp:revision>21</cp:revision>
  <dcterms:created xsi:type="dcterms:W3CDTF">2020-05-17T01:43:18Z</dcterms:created>
  <dcterms:modified xsi:type="dcterms:W3CDTF">2020-09-29T14:07:41Z</dcterms:modified>
</cp:coreProperties>
</file>