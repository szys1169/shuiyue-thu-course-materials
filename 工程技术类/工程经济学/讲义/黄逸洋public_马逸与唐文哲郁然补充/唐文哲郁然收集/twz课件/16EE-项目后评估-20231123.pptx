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45"/>
  </p:handoutMasterIdLst>
  <p:sldIdLst>
    <p:sldId id="335" r:id="rId3"/>
    <p:sldId id="450" r:id="rId5"/>
    <p:sldId id="451" r:id="rId6"/>
    <p:sldId id="452" r:id="rId7"/>
    <p:sldId id="453" r:id="rId8"/>
    <p:sldId id="434" r:id="rId9"/>
    <p:sldId id="454" r:id="rId10"/>
    <p:sldId id="455" r:id="rId11"/>
    <p:sldId id="456" r:id="rId12"/>
    <p:sldId id="435" r:id="rId13"/>
    <p:sldId id="436" r:id="rId14"/>
    <p:sldId id="437" r:id="rId15"/>
    <p:sldId id="457" r:id="rId16"/>
    <p:sldId id="438" r:id="rId17"/>
    <p:sldId id="439" r:id="rId18"/>
    <p:sldId id="441" r:id="rId19"/>
    <p:sldId id="458" r:id="rId20"/>
    <p:sldId id="462" r:id="rId21"/>
    <p:sldId id="461" r:id="rId22"/>
    <p:sldId id="440" r:id="rId23"/>
    <p:sldId id="460" r:id="rId24"/>
    <p:sldId id="442" r:id="rId25"/>
    <p:sldId id="459" r:id="rId26"/>
    <p:sldId id="443" r:id="rId27"/>
    <p:sldId id="444" r:id="rId28"/>
    <p:sldId id="463" r:id="rId29"/>
    <p:sldId id="464" r:id="rId30"/>
    <p:sldId id="445" r:id="rId31"/>
    <p:sldId id="446" r:id="rId32"/>
    <p:sldId id="447" r:id="rId33"/>
    <p:sldId id="465" r:id="rId34"/>
    <p:sldId id="466" r:id="rId35"/>
    <p:sldId id="448" r:id="rId36"/>
    <p:sldId id="467" r:id="rId37"/>
    <p:sldId id="468" r:id="rId38"/>
    <p:sldId id="469" r:id="rId39"/>
    <p:sldId id="470" r:id="rId40"/>
    <p:sldId id="471" r:id="rId41"/>
    <p:sldId id="472" r:id="rId42"/>
    <p:sldId id="449" r:id="rId43"/>
    <p:sldId id="410" r:id="rId44"/>
  </p:sldIdLst>
  <p:sldSz cx="9144000" cy="6858000" type="screen4x3"/>
  <p:notesSz cx="7099300" cy="10234295"/>
  <p:custDataLst>
    <p:tags r:id="rId49"/>
  </p:custDataLst>
  <p:defaultTextStyle>
    <a:defPPr>
      <a:defRPr lang="en-US"/>
    </a:defPPr>
    <a:lvl1pPr algn="l" rtl="0" eaLnBrk="0" fontAlgn="base" hangingPunct="0">
      <a:spcBef>
        <a:spcPct val="0"/>
      </a:spcBef>
      <a:spcAft>
        <a:spcPct val="0"/>
      </a:spcAft>
      <a:defRPr sz="4000" b="1" kern="1200">
        <a:solidFill>
          <a:srgbClr val="0000FF"/>
        </a:solidFill>
        <a:latin typeface="Arial" panose="020B0604020202020204" pitchFamily="34" charset="0"/>
        <a:ea typeface="楷体_GB2312" charset="0"/>
        <a:cs typeface="楷体_GB2312" charset="0"/>
      </a:defRPr>
    </a:lvl1pPr>
    <a:lvl2pPr marL="4572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0"/>
        <a:cs typeface="楷体_GB2312" charset="0"/>
      </a:defRPr>
    </a:lvl2pPr>
    <a:lvl3pPr marL="9144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0"/>
        <a:cs typeface="楷体_GB2312" charset="0"/>
      </a:defRPr>
    </a:lvl3pPr>
    <a:lvl4pPr marL="13716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0"/>
        <a:cs typeface="楷体_GB2312" charset="0"/>
      </a:defRPr>
    </a:lvl4pPr>
    <a:lvl5pPr marL="18288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0"/>
        <a:cs typeface="楷体_GB2312" charset="0"/>
      </a:defRPr>
    </a:lvl5pPr>
    <a:lvl6pPr marL="2286000" algn="l" defTabSz="457200" rtl="0" eaLnBrk="1" latinLnBrk="0" hangingPunct="1">
      <a:defRPr sz="4000" b="1" kern="1200">
        <a:solidFill>
          <a:srgbClr val="0000FF"/>
        </a:solidFill>
        <a:latin typeface="Arial" panose="020B0604020202020204" pitchFamily="34" charset="0"/>
        <a:ea typeface="楷体_GB2312" charset="0"/>
        <a:cs typeface="楷体_GB2312" charset="0"/>
      </a:defRPr>
    </a:lvl6pPr>
    <a:lvl7pPr marL="2743200" algn="l" defTabSz="457200" rtl="0" eaLnBrk="1" latinLnBrk="0" hangingPunct="1">
      <a:defRPr sz="4000" b="1" kern="1200">
        <a:solidFill>
          <a:srgbClr val="0000FF"/>
        </a:solidFill>
        <a:latin typeface="Arial" panose="020B0604020202020204" pitchFamily="34" charset="0"/>
        <a:ea typeface="楷体_GB2312" charset="0"/>
        <a:cs typeface="楷体_GB2312" charset="0"/>
      </a:defRPr>
    </a:lvl7pPr>
    <a:lvl8pPr marL="3200400" algn="l" defTabSz="457200" rtl="0" eaLnBrk="1" latinLnBrk="0" hangingPunct="1">
      <a:defRPr sz="4000" b="1" kern="1200">
        <a:solidFill>
          <a:srgbClr val="0000FF"/>
        </a:solidFill>
        <a:latin typeface="Arial" panose="020B0604020202020204" pitchFamily="34" charset="0"/>
        <a:ea typeface="楷体_GB2312" charset="0"/>
        <a:cs typeface="楷体_GB2312" charset="0"/>
      </a:defRPr>
    </a:lvl8pPr>
    <a:lvl9pPr marL="3657600" algn="l" defTabSz="457200" rtl="0" eaLnBrk="1" latinLnBrk="0" hangingPunct="1">
      <a:defRPr sz="4000" b="1" kern="1200">
        <a:solidFill>
          <a:srgbClr val="0000FF"/>
        </a:solidFill>
        <a:latin typeface="Arial" panose="020B0604020202020204" pitchFamily="34" charset="0"/>
        <a:ea typeface="楷体_GB2312" charset="0"/>
        <a:cs typeface="楷体_GB2312"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000000"/>
    <a:srgbClr val="40BFD9"/>
    <a:srgbClr val="7BC3F7"/>
    <a:srgbClr val="F4BA4A"/>
    <a:srgbClr val="CD5134"/>
    <a:srgbClr val="0000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8" autoAdjust="0"/>
    <p:restoredTop sz="86151" autoAdjust="0"/>
  </p:normalViewPr>
  <p:slideViewPr>
    <p:cSldViewPr snapToGrid="0" snapToObjects="1" showGuides="1">
      <p:cViewPr varScale="1">
        <p:scale>
          <a:sx n="72" d="100"/>
          <a:sy n="72" d="100"/>
        </p:scale>
        <p:origin x="1047" y="36"/>
      </p:cViewPr>
      <p:guideLst>
        <p:guide orient="horz" pos="2160"/>
        <p:guide pos="2880"/>
      </p:guideLst>
    </p:cSldViewPr>
  </p:slideViewPr>
  <p:outlineViewPr>
    <p:cViewPr>
      <p:scale>
        <a:sx n="35" d="100"/>
        <a:sy n="35"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gs" Target="tags/tag1.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handoutMaster" Target="handoutMasters/handoutMaster1.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楷体_GB2312"/>
              </a:defRPr>
            </a:lvl1pPr>
          </a:lstStyle>
          <a:p>
            <a:pPr>
              <a:defRPr/>
            </a:pPr>
            <a:endParaRPr lang="zh-CN" altLang="en-US"/>
          </a:p>
        </p:txBody>
      </p:sp>
      <p:sp>
        <p:nvSpPr>
          <p:cNvPr id="232451"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楷体_GB2312"/>
              </a:defRPr>
            </a:lvl1pPr>
          </a:lstStyle>
          <a:p>
            <a:pPr>
              <a:defRPr/>
            </a:pPr>
            <a:endParaRPr lang="en-US" altLang="zh-CN"/>
          </a:p>
        </p:txBody>
      </p:sp>
      <p:sp>
        <p:nvSpPr>
          <p:cNvPr id="232452"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楷体_GB2312"/>
              </a:defRPr>
            </a:lvl1pPr>
          </a:lstStyle>
          <a:p>
            <a:pPr>
              <a:defRPr/>
            </a:pPr>
            <a:endParaRPr lang="en-US" altLang="zh-CN"/>
          </a:p>
        </p:txBody>
      </p:sp>
      <p:sp>
        <p:nvSpPr>
          <p:cNvPr id="232453"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a:defRPr sz="1300" b="0">
                <a:solidFill>
                  <a:schemeClr val="tx1"/>
                </a:solidFill>
                <a:latin typeface="Times" panose="02020603050405020304" pitchFamily="18" charset="0"/>
                <a:ea typeface="宋体" panose="02010600030101010101" pitchFamily="2" charset="-122"/>
              </a:defRPr>
            </a:lvl1pPr>
          </a:lstStyle>
          <a:p>
            <a:fld id="{15081B1F-1790-E740-8B8E-C4E552DC2A3E}"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楷体_GB2312"/>
              </a:defRPr>
            </a:lvl1pPr>
          </a:lstStyle>
          <a:p>
            <a:pPr>
              <a:defRPr/>
            </a:pPr>
            <a:endParaRPr lang="zh-CN" altLang="en-US"/>
          </a:p>
        </p:txBody>
      </p:sp>
      <p:sp>
        <p:nvSpPr>
          <p:cNvPr id="7680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楷体_GB231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ln>
        </p:spPr>
      </p:sp>
      <p:sp>
        <p:nvSpPr>
          <p:cNvPr id="7680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37" tIns="49519" rIns="99037" bIns="49519"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680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楷体_GB2312"/>
              </a:defRPr>
            </a:lvl1pPr>
          </a:lstStyle>
          <a:p>
            <a:pPr>
              <a:defRPr/>
            </a:pPr>
            <a:endParaRPr lang="en-US" altLang="zh-CN"/>
          </a:p>
        </p:txBody>
      </p:sp>
      <p:sp>
        <p:nvSpPr>
          <p:cNvPr id="7680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a:defRPr sz="1300" b="0">
                <a:solidFill>
                  <a:schemeClr val="tx1"/>
                </a:solidFill>
                <a:latin typeface="Times" panose="02020603050405020304" pitchFamily="18" charset="0"/>
                <a:ea typeface="宋体" panose="02010600030101010101" pitchFamily="2" charset="-122"/>
              </a:defRPr>
            </a:lvl1pPr>
          </a:lstStyle>
          <a:p>
            <a:fld id="{D5FDB8CA-C359-2141-8371-C520B75C939B}"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90600">
              <a:defRPr sz="1200">
                <a:solidFill>
                  <a:schemeClr val="tx1"/>
                </a:solidFill>
                <a:latin typeface="Times" panose="02020603050405020304" pitchFamily="18" charset="0"/>
                <a:ea typeface="宋体" panose="02010600030101010101" pitchFamily="2" charset="-122"/>
              </a:defRPr>
            </a:lvl1pPr>
            <a:lvl2pPr marL="742950" indent="-285750" defTabSz="990600">
              <a:defRPr sz="1200">
                <a:solidFill>
                  <a:schemeClr val="tx1"/>
                </a:solidFill>
                <a:latin typeface="Times" panose="02020603050405020304" pitchFamily="18" charset="0"/>
                <a:ea typeface="宋体" panose="02010600030101010101" pitchFamily="2" charset="-122"/>
              </a:defRPr>
            </a:lvl2pPr>
            <a:lvl3pPr marL="1143000" indent="-228600" defTabSz="990600">
              <a:defRPr sz="1200">
                <a:solidFill>
                  <a:schemeClr val="tx1"/>
                </a:solidFill>
                <a:latin typeface="Times" panose="02020603050405020304" pitchFamily="18" charset="0"/>
                <a:ea typeface="宋体" panose="02010600030101010101" pitchFamily="2" charset="-122"/>
              </a:defRPr>
            </a:lvl3pPr>
            <a:lvl4pPr marL="1600200" indent="-228600" defTabSz="990600">
              <a:defRPr sz="1200">
                <a:solidFill>
                  <a:schemeClr val="tx1"/>
                </a:solidFill>
                <a:latin typeface="Times" panose="02020603050405020304" pitchFamily="18" charset="0"/>
                <a:ea typeface="宋体" panose="02010600030101010101" pitchFamily="2" charset="-122"/>
              </a:defRPr>
            </a:lvl4pPr>
            <a:lvl5pPr marL="2057400" indent="-228600" defTabSz="990600">
              <a:defRPr sz="1200">
                <a:solidFill>
                  <a:schemeClr val="tx1"/>
                </a:solidFill>
                <a:latin typeface="Times"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ea typeface="宋体" panose="02010600030101010101" pitchFamily="2" charset="-122"/>
              </a:defRPr>
            </a:lvl9pPr>
          </a:lstStyle>
          <a:p>
            <a:fld id="{61B501F6-94B6-5A4D-9752-A38F1FEA7E9D}" type="slidenum">
              <a:rPr lang="zh-CN" altLang="en-US" sz="1300"/>
            </a:fld>
            <a:endParaRPr lang="en-US" altLang="zh-CN" sz="1300"/>
          </a:p>
        </p:txBody>
      </p:sp>
      <p:sp>
        <p:nvSpPr>
          <p:cNvPr id="6147" name="Rectangle 2"/>
          <p:cNvSpPr>
            <a:spLocks noGrp="1" noRot="1" noChangeAspect="1" noChangeArrowheads="1" noTextEdit="1"/>
          </p:cNvSpPr>
          <p:nvPr>
            <p:ph type="sldImg"/>
          </p:nvPr>
        </p:nvSpPr>
        <p:spPr>
          <a:xfrm>
            <a:off x="992188" y="768350"/>
            <a:ext cx="5114925" cy="3836988"/>
          </a:xfrm>
        </p:spPr>
      </p:sp>
      <p:sp>
        <p:nvSpPr>
          <p:cNvPr id="6148"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cs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4"/>
          <p:cNvSpPr>
            <a:spLocks noChangeArrowheads="1"/>
          </p:cNvSpPr>
          <p:nvPr userDrawn="1"/>
        </p:nvSpPr>
        <p:spPr bwMode="auto">
          <a:xfrm>
            <a:off x="4371975" y="0"/>
            <a:ext cx="184150" cy="457200"/>
          </a:xfrm>
          <a:prstGeom prst="rect">
            <a:avLst/>
          </a:prstGeom>
          <a:noFill/>
          <a:ln>
            <a:noFill/>
          </a:ln>
        </p:spPr>
        <p:txBody>
          <a:bodyPr wrap="none">
            <a:spAutoFit/>
          </a:bodyPr>
          <a:lstStyle>
            <a:lvl1pPr eaLnBrk="0" hangingPunct="0">
              <a:defRPr sz="4000" b="1">
                <a:solidFill>
                  <a:srgbClr val="0000FF"/>
                </a:solidFill>
                <a:latin typeface="Arial" panose="020B0604020202020204" pitchFamily="34" charset="0"/>
                <a:ea typeface="楷体_GB2312" charset="-122"/>
              </a:defRPr>
            </a:lvl1pPr>
            <a:lvl2pPr marL="742950" indent="-285750" eaLnBrk="0" hangingPunct="0">
              <a:defRPr sz="4000" b="1">
                <a:solidFill>
                  <a:srgbClr val="0000FF"/>
                </a:solidFill>
                <a:latin typeface="Arial" panose="020B0604020202020204" pitchFamily="34" charset="0"/>
                <a:ea typeface="楷体_GB2312" charset="-122"/>
              </a:defRPr>
            </a:lvl2pPr>
            <a:lvl3pPr marL="1143000" indent="-228600" eaLnBrk="0" hangingPunct="0">
              <a:defRPr sz="4000" b="1">
                <a:solidFill>
                  <a:srgbClr val="0000FF"/>
                </a:solidFill>
                <a:latin typeface="Arial" panose="020B0604020202020204" pitchFamily="34" charset="0"/>
                <a:ea typeface="楷体_GB2312" charset="-122"/>
              </a:defRPr>
            </a:lvl3pPr>
            <a:lvl4pPr marL="1600200" indent="-228600" eaLnBrk="0" hangingPunct="0">
              <a:defRPr sz="4000" b="1">
                <a:solidFill>
                  <a:srgbClr val="0000FF"/>
                </a:solidFill>
                <a:latin typeface="Arial" panose="020B0604020202020204" pitchFamily="34" charset="0"/>
                <a:ea typeface="楷体_GB2312" charset="-122"/>
              </a:defRPr>
            </a:lvl4pPr>
            <a:lvl5pPr marL="2057400" indent="-228600" eaLnBrk="0" hangingPunct="0">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a:defRPr/>
            </a:pPr>
            <a:endParaRPr lang="zh-CN" altLang="en-US" sz="2400" b="0">
              <a:solidFill>
                <a:schemeClr val="tx1"/>
              </a:solidFill>
              <a:latin typeface="Times" panose="02020603050405020304" pitchFamily="18" charset="0"/>
              <a:ea typeface="宋体" panose="02010600030101010101" pitchFamily="2" charset="-122"/>
              <a:cs typeface="楷体_GB2312" charset="-122"/>
            </a:endParaRPr>
          </a:p>
        </p:txBody>
      </p:sp>
      <p:sp>
        <p:nvSpPr>
          <p:cNvPr id="5" name="Rectangle 5"/>
          <p:cNvSpPr>
            <a:spLocks noChangeArrowheads="1"/>
          </p:cNvSpPr>
          <p:nvPr userDrawn="1"/>
        </p:nvSpPr>
        <p:spPr bwMode="auto">
          <a:xfrm>
            <a:off x="0" y="6400800"/>
            <a:ext cx="9144000" cy="457200"/>
          </a:xfrm>
          <a:prstGeom prst="rect">
            <a:avLst/>
          </a:prstGeom>
          <a:solidFill>
            <a:srgbClr val="FF9900"/>
          </a:solidFill>
          <a:ln>
            <a:noFill/>
          </a:ln>
        </p:spPr>
        <p:txBody>
          <a:bodyPr>
            <a:spAutoFit/>
          </a:bodyPr>
          <a:lstStyle>
            <a:lvl1pPr eaLnBrk="0" hangingPunct="0">
              <a:defRPr sz="4000" b="1">
                <a:solidFill>
                  <a:srgbClr val="0000FF"/>
                </a:solidFill>
                <a:latin typeface="Arial" panose="020B0604020202020204" pitchFamily="34" charset="0"/>
                <a:ea typeface="楷体_GB2312" charset="-122"/>
              </a:defRPr>
            </a:lvl1pPr>
            <a:lvl2pPr marL="742950" indent="-285750" eaLnBrk="0" hangingPunct="0">
              <a:defRPr sz="4000" b="1">
                <a:solidFill>
                  <a:srgbClr val="0000FF"/>
                </a:solidFill>
                <a:latin typeface="Arial" panose="020B0604020202020204" pitchFamily="34" charset="0"/>
                <a:ea typeface="楷体_GB2312" charset="-122"/>
              </a:defRPr>
            </a:lvl2pPr>
            <a:lvl3pPr marL="1143000" indent="-228600" eaLnBrk="0" hangingPunct="0">
              <a:defRPr sz="4000" b="1">
                <a:solidFill>
                  <a:srgbClr val="0000FF"/>
                </a:solidFill>
                <a:latin typeface="Arial" panose="020B0604020202020204" pitchFamily="34" charset="0"/>
                <a:ea typeface="楷体_GB2312" charset="-122"/>
              </a:defRPr>
            </a:lvl3pPr>
            <a:lvl4pPr marL="1600200" indent="-228600" eaLnBrk="0" hangingPunct="0">
              <a:defRPr sz="4000" b="1">
                <a:solidFill>
                  <a:srgbClr val="0000FF"/>
                </a:solidFill>
                <a:latin typeface="Arial" panose="020B0604020202020204" pitchFamily="34" charset="0"/>
                <a:ea typeface="楷体_GB2312" charset="-122"/>
              </a:defRPr>
            </a:lvl4pPr>
            <a:lvl5pPr marL="2057400" indent="-228600" eaLnBrk="0" hangingPunct="0">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a:defRPr/>
            </a:pPr>
            <a:endParaRPr lang="zh-CN" altLang="en-US" sz="2400" b="0">
              <a:solidFill>
                <a:schemeClr val="tx1"/>
              </a:solidFill>
              <a:latin typeface="Times" panose="02020603050405020304" pitchFamily="18" charset="0"/>
              <a:ea typeface="宋体" panose="02010600030101010101" pitchFamily="2" charset="-122"/>
              <a:cs typeface="楷体_GB2312" charset="-122"/>
            </a:endParaRPr>
          </a:p>
        </p:txBody>
      </p:sp>
      <p:sp>
        <p:nvSpPr>
          <p:cNvPr id="6" name="Rectangle 10"/>
          <p:cNvSpPr>
            <a:spLocks noChangeArrowheads="1"/>
          </p:cNvSpPr>
          <p:nvPr userDrawn="1"/>
        </p:nvSpPr>
        <p:spPr bwMode="auto">
          <a:xfrm>
            <a:off x="0" y="0"/>
            <a:ext cx="9144000" cy="725488"/>
          </a:xfrm>
          <a:prstGeom prst="rect">
            <a:avLst/>
          </a:prstGeom>
          <a:solidFill>
            <a:srgbClr val="990000"/>
          </a:solidFill>
          <a:ln w="9525">
            <a:solidFill>
              <a:srgbClr val="990000"/>
            </a:solidFill>
            <a:miter lim="800000"/>
          </a:ln>
        </p:spPr>
        <p:txBody>
          <a:bodyPr wrap="none" anchor="ctr"/>
          <a:lstStyle>
            <a:lvl1pPr eaLnBrk="0" hangingPunct="0">
              <a:defRPr sz="4000" b="1">
                <a:solidFill>
                  <a:srgbClr val="0000FF"/>
                </a:solidFill>
                <a:latin typeface="Arial" panose="020B0604020202020204" pitchFamily="34" charset="0"/>
                <a:ea typeface="楷体_GB2312" charset="-122"/>
              </a:defRPr>
            </a:lvl1pPr>
            <a:lvl2pPr marL="742950" indent="-285750" eaLnBrk="0" hangingPunct="0">
              <a:defRPr sz="4000" b="1">
                <a:solidFill>
                  <a:srgbClr val="0000FF"/>
                </a:solidFill>
                <a:latin typeface="Arial" panose="020B0604020202020204" pitchFamily="34" charset="0"/>
                <a:ea typeface="楷体_GB2312" charset="-122"/>
              </a:defRPr>
            </a:lvl2pPr>
            <a:lvl3pPr marL="1143000" indent="-228600" eaLnBrk="0" hangingPunct="0">
              <a:defRPr sz="4000" b="1">
                <a:solidFill>
                  <a:srgbClr val="0000FF"/>
                </a:solidFill>
                <a:latin typeface="Arial" panose="020B0604020202020204" pitchFamily="34" charset="0"/>
                <a:ea typeface="楷体_GB2312" charset="-122"/>
              </a:defRPr>
            </a:lvl3pPr>
            <a:lvl4pPr marL="1600200" indent="-228600" eaLnBrk="0" hangingPunct="0">
              <a:defRPr sz="4000" b="1">
                <a:solidFill>
                  <a:srgbClr val="0000FF"/>
                </a:solidFill>
                <a:latin typeface="Arial" panose="020B0604020202020204" pitchFamily="34" charset="0"/>
                <a:ea typeface="楷体_GB2312" charset="-122"/>
              </a:defRPr>
            </a:lvl4pPr>
            <a:lvl5pPr marL="2057400" indent="-228600" eaLnBrk="0" hangingPunct="0">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eaLnBrk="1" hangingPunct="1">
              <a:lnSpc>
                <a:spcPct val="90000"/>
              </a:lnSpc>
              <a:spcBef>
                <a:spcPct val="50000"/>
              </a:spcBef>
              <a:buFontTx/>
              <a:buChar char="•"/>
              <a:defRPr/>
            </a:pPr>
            <a:endParaRPr lang="zh-CN" altLang="en-US">
              <a:cs typeface="+mn-cs"/>
            </a:endParaRPr>
          </a:p>
        </p:txBody>
      </p:sp>
      <p:sp>
        <p:nvSpPr>
          <p:cNvPr id="7" name="Rectangle 14"/>
          <p:cNvSpPr>
            <a:spLocks noChangeArrowheads="1"/>
          </p:cNvSpPr>
          <p:nvPr userDrawn="1"/>
        </p:nvSpPr>
        <p:spPr bwMode="auto">
          <a:xfrm>
            <a:off x="0" y="6400800"/>
            <a:ext cx="9144000" cy="457200"/>
          </a:xfrm>
          <a:prstGeom prst="rect">
            <a:avLst/>
          </a:prstGeom>
          <a:solidFill>
            <a:srgbClr val="800000"/>
          </a:solidFill>
          <a:ln>
            <a:noFill/>
          </a:ln>
        </p:spPr>
        <p:txBody>
          <a:bodyPr>
            <a:spAutoFit/>
          </a:bodyPr>
          <a:lstStyle>
            <a:lvl1pPr eaLnBrk="0" hangingPunct="0">
              <a:defRPr sz="4000" b="1">
                <a:solidFill>
                  <a:srgbClr val="0000FF"/>
                </a:solidFill>
                <a:latin typeface="Arial" panose="020B0604020202020204" pitchFamily="34" charset="0"/>
                <a:ea typeface="楷体_GB2312" charset="-122"/>
              </a:defRPr>
            </a:lvl1pPr>
            <a:lvl2pPr marL="742950" indent="-285750" eaLnBrk="0" hangingPunct="0">
              <a:defRPr sz="4000" b="1">
                <a:solidFill>
                  <a:srgbClr val="0000FF"/>
                </a:solidFill>
                <a:latin typeface="Arial" panose="020B0604020202020204" pitchFamily="34" charset="0"/>
                <a:ea typeface="楷体_GB2312" charset="-122"/>
              </a:defRPr>
            </a:lvl2pPr>
            <a:lvl3pPr marL="1143000" indent="-228600" eaLnBrk="0" hangingPunct="0">
              <a:defRPr sz="4000" b="1">
                <a:solidFill>
                  <a:srgbClr val="0000FF"/>
                </a:solidFill>
                <a:latin typeface="Arial" panose="020B0604020202020204" pitchFamily="34" charset="0"/>
                <a:ea typeface="楷体_GB2312" charset="-122"/>
              </a:defRPr>
            </a:lvl3pPr>
            <a:lvl4pPr marL="1600200" indent="-228600" eaLnBrk="0" hangingPunct="0">
              <a:defRPr sz="4000" b="1">
                <a:solidFill>
                  <a:srgbClr val="0000FF"/>
                </a:solidFill>
                <a:latin typeface="Arial" panose="020B0604020202020204" pitchFamily="34" charset="0"/>
                <a:ea typeface="楷体_GB2312" charset="-122"/>
              </a:defRPr>
            </a:lvl4pPr>
            <a:lvl5pPr marL="2057400" indent="-228600" eaLnBrk="0" hangingPunct="0">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a:defRPr/>
            </a:pPr>
            <a:endParaRPr lang="zh-CN" altLang="en-US" sz="2400" b="0">
              <a:solidFill>
                <a:schemeClr val="tx1"/>
              </a:solidFill>
              <a:latin typeface="Times" panose="02020603050405020304" pitchFamily="18" charset="0"/>
              <a:ea typeface="宋体" panose="02010600030101010101" pitchFamily="2" charset="-122"/>
              <a:cs typeface="楷体_GB2312" charset="-122"/>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endParaRPr lang="en-US" altLang="zh-CN"/>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8453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12700"/>
            <a:ext cx="6705600" cy="68453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0" y="977900"/>
            <a:ext cx="9144000" cy="5880100"/>
          </a:xfrm>
        </p:spPr>
        <p:txBody>
          <a:bodyPr/>
          <a:lstStyle/>
          <a:p>
            <a:pPr lvl="0"/>
            <a:endParaRPr lang="zh-CN" altLang="en-US" noProof="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a:t>单击此处编辑母版标题样式</a:t>
            </a:r>
            <a:endParaRPr lang="zh-CN" altLang="en-US"/>
          </a:p>
        </p:txBody>
      </p:sp>
      <p:sp>
        <p:nvSpPr>
          <p:cNvPr id="3" name="SmartArt 占位符 2"/>
          <p:cNvSpPr>
            <a:spLocks noGrp="1"/>
          </p:cNvSpPr>
          <p:nvPr>
            <p:ph type="pic" idx="1"/>
          </p:nvPr>
        </p:nvSpPr>
        <p:spPr>
          <a:xfrm>
            <a:off x="0" y="977900"/>
            <a:ext cx="9144000" cy="5880100"/>
          </a:xfrm>
        </p:spPr>
        <p:txBody>
          <a:bodyPr/>
          <a:lstStyle/>
          <a:p>
            <a:pPr lvl="0"/>
            <a:endParaRPr lang="zh-CN" altLang="en-US" noProof="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0" y="977900"/>
            <a:ext cx="4495800" cy="58801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77900"/>
            <a:ext cx="4495800" cy="58801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0" y="977900"/>
            <a:ext cx="9144000" cy="5880100"/>
          </a:xfrm>
          <a:prstGeom prst="rect">
            <a:avLst/>
          </a:prstGeom>
          <a:solidFill>
            <a:srgbClr val="FFFFFF"/>
          </a:solidFill>
          <a:ln>
            <a:noFill/>
          </a:ln>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7" name="Rectangle 7"/>
          <p:cNvSpPr>
            <a:spLocks noChangeArrowheads="1"/>
          </p:cNvSpPr>
          <p:nvPr userDrawn="1"/>
        </p:nvSpPr>
        <p:spPr bwMode="auto">
          <a:xfrm>
            <a:off x="4371975" y="0"/>
            <a:ext cx="184150" cy="457200"/>
          </a:xfrm>
          <a:prstGeom prst="rect">
            <a:avLst/>
          </a:prstGeom>
          <a:noFill/>
          <a:ln>
            <a:noFill/>
          </a:ln>
        </p:spPr>
        <p:txBody>
          <a:bodyPr wrap="none">
            <a:spAutoFit/>
          </a:bodyPr>
          <a:lstStyle>
            <a:lvl1pPr eaLnBrk="0" hangingPunct="0">
              <a:defRPr sz="4000" b="1">
                <a:solidFill>
                  <a:srgbClr val="0000FF"/>
                </a:solidFill>
                <a:latin typeface="Arial" panose="020B0604020202020204" pitchFamily="34" charset="0"/>
                <a:ea typeface="楷体_GB2312" charset="-122"/>
              </a:defRPr>
            </a:lvl1pPr>
            <a:lvl2pPr marL="742950" indent="-285750" eaLnBrk="0" hangingPunct="0">
              <a:defRPr sz="4000" b="1">
                <a:solidFill>
                  <a:srgbClr val="0000FF"/>
                </a:solidFill>
                <a:latin typeface="Arial" panose="020B0604020202020204" pitchFamily="34" charset="0"/>
                <a:ea typeface="楷体_GB2312" charset="-122"/>
              </a:defRPr>
            </a:lvl2pPr>
            <a:lvl3pPr marL="1143000" indent="-228600" eaLnBrk="0" hangingPunct="0">
              <a:defRPr sz="4000" b="1">
                <a:solidFill>
                  <a:srgbClr val="0000FF"/>
                </a:solidFill>
                <a:latin typeface="Arial" panose="020B0604020202020204" pitchFamily="34" charset="0"/>
                <a:ea typeface="楷体_GB2312" charset="-122"/>
              </a:defRPr>
            </a:lvl3pPr>
            <a:lvl4pPr marL="1600200" indent="-228600" eaLnBrk="0" hangingPunct="0">
              <a:defRPr sz="4000" b="1">
                <a:solidFill>
                  <a:srgbClr val="0000FF"/>
                </a:solidFill>
                <a:latin typeface="Arial" panose="020B0604020202020204" pitchFamily="34" charset="0"/>
                <a:ea typeface="楷体_GB2312" charset="-122"/>
              </a:defRPr>
            </a:lvl4pPr>
            <a:lvl5pPr marL="2057400" indent="-228600" eaLnBrk="0" hangingPunct="0">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a:defRPr/>
            </a:pPr>
            <a:endParaRPr lang="zh-CN" altLang="en-US" sz="2400" b="0">
              <a:solidFill>
                <a:schemeClr val="tx1"/>
              </a:solidFill>
              <a:latin typeface="Times" panose="02020603050405020304" pitchFamily="18" charset="0"/>
              <a:ea typeface="宋体" panose="02010600030101010101" pitchFamily="2" charset="-122"/>
              <a:cs typeface="楷体_GB2312" charset="-122"/>
            </a:endParaRPr>
          </a:p>
        </p:txBody>
      </p:sp>
      <p:sp>
        <p:nvSpPr>
          <p:cNvPr id="1028" name="Rectangle 14"/>
          <p:cNvSpPr>
            <a:spLocks noChangeArrowheads="1"/>
          </p:cNvSpPr>
          <p:nvPr userDrawn="1"/>
        </p:nvSpPr>
        <p:spPr bwMode="auto">
          <a:xfrm>
            <a:off x="-12700" y="774700"/>
            <a:ext cx="3467100" cy="42863"/>
          </a:xfrm>
          <a:prstGeom prst="rect">
            <a:avLst/>
          </a:prstGeom>
          <a:solidFill>
            <a:srgbClr val="800000"/>
          </a:solidFill>
          <a:ln w="9525">
            <a:solidFill>
              <a:srgbClr val="800000"/>
            </a:solidFill>
            <a:miter lim="800000"/>
          </a:ln>
        </p:spPr>
        <p:txBody>
          <a:bodyPr wrap="none" anchor="ctr"/>
          <a:lstStyle>
            <a:lvl1pPr eaLnBrk="0" hangingPunct="0">
              <a:defRPr sz="4000" b="1">
                <a:solidFill>
                  <a:srgbClr val="0000FF"/>
                </a:solidFill>
                <a:latin typeface="Arial" panose="020B0604020202020204" pitchFamily="34" charset="0"/>
                <a:ea typeface="楷体_GB2312" charset="-122"/>
              </a:defRPr>
            </a:lvl1pPr>
            <a:lvl2pPr marL="742950" indent="-285750" eaLnBrk="0" hangingPunct="0">
              <a:defRPr sz="4000" b="1">
                <a:solidFill>
                  <a:srgbClr val="0000FF"/>
                </a:solidFill>
                <a:latin typeface="Arial" panose="020B0604020202020204" pitchFamily="34" charset="0"/>
                <a:ea typeface="楷体_GB2312" charset="-122"/>
              </a:defRPr>
            </a:lvl2pPr>
            <a:lvl3pPr marL="1143000" indent="-228600" eaLnBrk="0" hangingPunct="0">
              <a:defRPr sz="4000" b="1">
                <a:solidFill>
                  <a:srgbClr val="0000FF"/>
                </a:solidFill>
                <a:latin typeface="Arial" panose="020B0604020202020204" pitchFamily="34" charset="0"/>
                <a:ea typeface="楷体_GB2312" charset="-122"/>
              </a:defRPr>
            </a:lvl3pPr>
            <a:lvl4pPr marL="1600200" indent="-228600" eaLnBrk="0" hangingPunct="0">
              <a:defRPr sz="4000" b="1">
                <a:solidFill>
                  <a:srgbClr val="0000FF"/>
                </a:solidFill>
                <a:latin typeface="Arial" panose="020B0604020202020204" pitchFamily="34" charset="0"/>
                <a:ea typeface="楷体_GB2312" charset="-122"/>
              </a:defRPr>
            </a:lvl4pPr>
            <a:lvl5pPr marL="2057400" indent="-228600" eaLnBrk="0" hangingPunct="0">
              <a:defRPr sz="4000" b="1">
                <a:solidFill>
                  <a:srgbClr val="0000FF"/>
                </a:solidFill>
                <a:latin typeface="Arial" panose="020B0604020202020204" pitchFamily="34" charset="0"/>
                <a:ea typeface="楷体_GB2312" charset="-12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charset="-122"/>
              </a:defRPr>
            </a:lvl9pPr>
          </a:lstStyle>
          <a:p>
            <a:pPr eaLnBrk="1" hangingPunct="1">
              <a:lnSpc>
                <a:spcPct val="90000"/>
              </a:lnSpc>
              <a:spcBef>
                <a:spcPct val="50000"/>
              </a:spcBef>
              <a:buFontTx/>
              <a:buChar char="•"/>
              <a:defRPr/>
            </a:pPr>
            <a:endParaRPr lang="zh-CN" altLang="en-US">
              <a:cs typeface="+mn-cs"/>
            </a:endParaRPr>
          </a:p>
        </p:txBody>
      </p:sp>
      <p:sp>
        <p:nvSpPr>
          <p:cNvPr id="1029" name="Rectangle 2"/>
          <p:cNvSpPr>
            <a:spLocks noGrp="1" noChangeArrowheads="1"/>
          </p:cNvSpPr>
          <p:nvPr>
            <p:ph type="title"/>
          </p:nvPr>
        </p:nvSpPr>
        <p:spPr bwMode="auto">
          <a:xfrm>
            <a:off x="0" y="12700"/>
            <a:ext cx="8178800" cy="609600"/>
          </a:xfrm>
          <a:prstGeom prst="rect">
            <a:avLst/>
          </a:prstGeom>
          <a:solidFill>
            <a:schemeClr val="tx2"/>
          </a:solidFill>
          <a:ln>
            <a:noFill/>
          </a:ln>
        </p:spPr>
        <p:txBody>
          <a:bodyPr vert="horz" wrap="square" lIns="91440" tIns="45720" rIns="91440" bIns="45720" numCol="1" anchor="ctr" anchorCtr="0" compatLnSpc="1"/>
          <a:lstStyle/>
          <a:p>
            <a:pPr lvl="0"/>
            <a:r>
              <a:rPr lang="en-US" altLang="zh-CN"/>
              <a:t>Click to edit Master title style</a:t>
            </a:r>
            <a:endParaRPr lang="en-US"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txStyles>
    <p:titleStyle>
      <a:lvl1pPr algn="l" rtl="0" eaLnBrk="0" fontAlgn="base" hangingPunct="0">
        <a:spcBef>
          <a:spcPct val="0"/>
        </a:spcBef>
        <a:spcAft>
          <a:spcPct val="0"/>
        </a:spcAft>
        <a:defRPr sz="3600" b="1">
          <a:solidFill>
            <a:srgbClr val="990000"/>
          </a:solidFill>
          <a:latin typeface="+mj-lt"/>
          <a:ea typeface="+mj-ea"/>
          <a:cs typeface="+mj-cs"/>
        </a:defRPr>
      </a:lvl1pPr>
      <a:lvl2pPr algn="l" rtl="0" eaLnBrk="0" fontAlgn="base" hangingPunct="0">
        <a:spcBef>
          <a:spcPct val="0"/>
        </a:spcBef>
        <a:spcAft>
          <a:spcPct val="0"/>
        </a:spcAft>
        <a:defRPr sz="3600" b="1">
          <a:solidFill>
            <a:srgbClr val="990000"/>
          </a:solidFill>
          <a:latin typeface="Arial" panose="020B0604020202020204" pitchFamily="34" charset="0"/>
          <a:ea typeface="楷体_GB2312"/>
          <a:cs typeface="楷体_GB2312"/>
        </a:defRPr>
      </a:lvl2pPr>
      <a:lvl3pPr algn="l" rtl="0" eaLnBrk="0" fontAlgn="base" hangingPunct="0">
        <a:spcBef>
          <a:spcPct val="0"/>
        </a:spcBef>
        <a:spcAft>
          <a:spcPct val="0"/>
        </a:spcAft>
        <a:defRPr sz="3600" b="1">
          <a:solidFill>
            <a:srgbClr val="990000"/>
          </a:solidFill>
          <a:latin typeface="Arial" panose="020B0604020202020204" pitchFamily="34" charset="0"/>
          <a:ea typeface="楷体_GB2312"/>
          <a:cs typeface="楷体_GB2312"/>
        </a:defRPr>
      </a:lvl3pPr>
      <a:lvl4pPr algn="l" rtl="0" eaLnBrk="0" fontAlgn="base" hangingPunct="0">
        <a:spcBef>
          <a:spcPct val="0"/>
        </a:spcBef>
        <a:spcAft>
          <a:spcPct val="0"/>
        </a:spcAft>
        <a:defRPr sz="3600" b="1">
          <a:solidFill>
            <a:srgbClr val="990000"/>
          </a:solidFill>
          <a:latin typeface="Arial" panose="020B0604020202020204" pitchFamily="34" charset="0"/>
          <a:ea typeface="楷体_GB2312"/>
          <a:cs typeface="楷体_GB2312"/>
        </a:defRPr>
      </a:lvl4pPr>
      <a:lvl5pPr algn="l" rtl="0" eaLnBrk="0" fontAlgn="base" hangingPunct="0">
        <a:spcBef>
          <a:spcPct val="0"/>
        </a:spcBef>
        <a:spcAft>
          <a:spcPct val="0"/>
        </a:spcAft>
        <a:defRPr sz="3600" b="1">
          <a:solidFill>
            <a:srgbClr val="990000"/>
          </a:solidFill>
          <a:latin typeface="Arial" panose="020B0604020202020204" pitchFamily="34" charset="0"/>
          <a:ea typeface="楷体_GB2312"/>
          <a:cs typeface="楷体_GB2312"/>
        </a:defRPr>
      </a:lvl5pPr>
      <a:lvl6pPr marL="457200" algn="l" rtl="0" fontAlgn="base">
        <a:spcBef>
          <a:spcPct val="0"/>
        </a:spcBef>
        <a:spcAft>
          <a:spcPct val="0"/>
        </a:spcAft>
        <a:defRPr sz="3600" b="1">
          <a:solidFill>
            <a:srgbClr val="990000"/>
          </a:solidFill>
          <a:latin typeface="Arial" panose="020B0604020202020204" pitchFamily="34" charset="0"/>
          <a:ea typeface="楷体_GB2312"/>
          <a:cs typeface="楷体_GB2312"/>
        </a:defRPr>
      </a:lvl6pPr>
      <a:lvl7pPr marL="914400" algn="l" rtl="0" fontAlgn="base">
        <a:spcBef>
          <a:spcPct val="0"/>
        </a:spcBef>
        <a:spcAft>
          <a:spcPct val="0"/>
        </a:spcAft>
        <a:defRPr sz="3600" b="1">
          <a:solidFill>
            <a:srgbClr val="990000"/>
          </a:solidFill>
          <a:latin typeface="Arial" panose="020B0604020202020204" pitchFamily="34" charset="0"/>
          <a:ea typeface="楷体_GB2312"/>
          <a:cs typeface="楷体_GB2312"/>
        </a:defRPr>
      </a:lvl7pPr>
      <a:lvl8pPr marL="1371600" algn="l" rtl="0" fontAlgn="base">
        <a:spcBef>
          <a:spcPct val="0"/>
        </a:spcBef>
        <a:spcAft>
          <a:spcPct val="0"/>
        </a:spcAft>
        <a:defRPr sz="3600" b="1">
          <a:solidFill>
            <a:srgbClr val="990000"/>
          </a:solidFill>
          <a:latin typeface="Arial" panose="020B0604020202020204" pitchFamily="34" charset="0"/>
          <a:ea typeface="楷体_GB2312"/>
          <a:cs typeface="楷体_GB2312"/>
        </a:defRPr>
      </a:lvl8pPr>
      <a:lvl9pPr marL="1828800" algn="l" rtl="0" fontAlgn="base">
        <a:spcBef>
          <a:spcPct val="0"/>
        </a:spcBef>
        <a:spcAft>
          <a:spcPct val="0"/>
        </a:spcAft>
        <a:defRPr sz="3600" b="1">
          <a:solidFill>
            <a:srgbClr val="990000"/>
          </a:solidFill>
          <a:latin typeface="Arial" panose="020B0604020202020204" pitchFamily="34" charset="0"/>
          <a:ea typeface="楷体_GB2312"/>
          <a:cs typeface="楷体_GB2312"/>
        </a:defRPr>
      </a:lvl9pPr>
    </p:titleStyle>
    <p:bodyStyle>
      <a:lvl1pPr marL="342900" indent="-342900" algn="l" rtl="0" eaLnBrk="0" fontAlgn="base" hangingPunct="0">
        <a:spcBef>
          <a:spcPct val="20000"/>
        </a:spcBef>
        <a:spcAft>
          <a:spcPct val="0"/>
        </a:spcAft>
        <a:buChar char="•"/>
        <a:defRPr sz="3200" b="1">
          <a:solidFill>
            <a:srgbClr val="000000"/>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har char="–"/>
        <a:defRPr sz="2800" b="1">
          <a:solidFill>
            <a:srgbClr val="000000"/>
          </a:solidFill>
          <a:latin typeface="+mn-lt"/>
          <a:ea typeface="+mn-ea"/>
        </a:defRPr>
      </a:lvl2pPr>
      <a:lvl3pPr marL="1143000" indent="-228600" algn="l" rtl="0" eaLnBrk="0" fontAlgn="base" hangingPunct="0">
        <a:spcBef>
          <a:spcPct val="20000"/>
        </a:spcBef>
        <a:spcAft>
          <a:spcPct val="0"/>
        </a:spcAft>
        <a:buChar char="•"/>
        <a:defRPr sz="24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6.emf"/><Relationship Id="rId1"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file://localhost/http/::www.ctgpc.com.cn:news:imgs:003000:487.jpg" TargetMode="External"/><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7.xml"/><Relationship Id="rId3" Type="http://schemas.openxmlformats.org/officeDocument/2006/relationships/image" Target="../media/image11.jpeg"/><Relationship Id="rId2" Type="http://schemas.openxmlformats.org/officeDocument/2006/relationships/image" Target="../media/image10.emf"/><Relationship Id="rId1" Type="http://schemas.openxmlformats.org/officeDocument/2006/relationships/oleObject" Target="../embeddings/oleObject3.bin"/></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7.jpeg"/><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1.jpeg"/><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39.xml.rels><?xml version="1.0" encoding="UTF-8" standalone="yes"?>
<Relationships xmlns="http://schemas.openxmlformats.org/package/2006/relationships"><Relationship Id="rId9" Type="http://schemas.openxmlformats.org/officeDocument/2006/relationships/image" Target="../media/image32.jpeg"/><Relationship Id="rId8" Type="http://schemas.openxmlformats.org/officeDocument/2006/relationships/image" Target="../media/image31.png"/><Relationship Id="rId7" Type="http://schemas.openxmlformats.org/officeDocument/2006/relationships/oleObject" Target="../embeddings/oleObject6.bin"/><Relationship Id="rId6" Type="http://schemas.openxmlformats.org/officeDocument/2006/relationships/image" Target="../media/image30.png"/><Relationship Id="rId5" Type="http://schemas.openxmlformats.org/officeDocument/2006/relationships/oleObject" Target="../embeddings/oleObject5.bin"/><Relationship Id="rId4" Type="http://schemas.openxmlformats.org/officeDocument/2006/relationships/image" Target="../media/image29.png"/><Relationship Id="rId3" Type="http://schemas.openxmlformats.org/officeDocument/2006/relationships/oleObject" Target="../embeddings/oleObject4.bin"/><Relationship Id="rId2" Type="http://schemas.openxmlformats.org/officeDocument/2006/relationships/image" Target="../media/image28.jpeg"/><Relationship Id="rId11" Type="http://schemas.openxmlformats.org/officeDocument/2006/relationships/vmlDrawing" Target="../drawings/vmlDrawing4.vml"/><Relationship Id="rId10" Type="http://schemas.openxmlformats.org/officeDocument/2006/relationships/slideLayout" Target="../slideLayouts/slideLayout7.xml"/><Relationship Id="rId1" Type="http://schemas.openxmlformats.org/officeDocument/2006/relationships/image" Target="../media/image27.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798513"/>
            <a:ext cx="9186863" cy="3163887"/>
          </a:xfrm>
          <a:noFill/>
        </p:spPr>
        <p:txBody>
          <a:bodyPr/>
          <a:lstStyle/>
          <a:p>
            <a:pPr eaLnBrk="1" hangingPunct="1"/>
            <a:r>
              <a:rPr lang="zh-CN" altLang="en-US" sz="6000">
                <a:solidFill>
                  <a:srgbClr val="000000"/>
                </a:solidFill>
                <a:latin typeface="Arial" panose="020B0604020202020204" pitchFamily="34" charset="0"/>
                <a:ea typeface="楷体_GB2312" charset="0"/>
                <a:cs typeface="楷体_GB2312" charset="0"/>
              </a:rPr>
              <a:t>工程经济学</a:t>
            </a:r>
            <a:br>
              <a:rPr lang="zh-CN" altLang="en-US" sz="5400">
                <a:solidFill>
                  <a:srgbClr val="000000"/>
                </a:solidFill>
                <a:latin typeface="Arial" panose="020B0604020202020204" pitchFamily="34" charset="0"/>
                <a:ea typeface="楷体_GB2312" charset="0"/>
                <a:cs typeface="楷体_GB2312" charset="0"/>
              </a:rPr>
            </a:br>
            <a:br>
              <a:rPr lang="zh-CN" altLang="en-US">
                <a:solidFill>
                  <a:srgbClr val="000000"/>
                </a:solidFill>
                <a:latin typeface="Arial" panose="020B0604020202020204" pitchFamily="34" charset="0"/>
                <a:ea typeface="楷体_GB2312" charset="0"/>
                <a:cs typeface="楷体_GB2312" charset="0"/>
              </a:rPr>
            </a:br>
            <a:r>
              <a:rPr lang="zh-CN" altLang="en-US" sz="4400">
                <a:solidFill>
                  <a:srgbClr val="800000"/>
                </a:solidFill>
                <a:latin typeface="Arial" panose="020B0604020202020204" pitchFamily="34" charset="0"/>
                <a:ea typeface="楷体_GB2312" charset="0"/>
                <a:cs typeface="楷体_GB2312" charset="0"/>
              </a:rPr>
              <a:t>项目后评估</a:t>
            </a:r>
            <a:endParaRPr lang="zh-CN" altLang="en-US" sz="4400">
              <a:solidFill>
                <a:srgbClr val="800000"/>
              </a:solidFill>
              <a:latin typeface="Arial" panose="020B0604020202020204" pitchFamily="34" charset="0"/>
              <a:ea typeface="楷体_GB2312" charset="0"/>
              <a:cs typeface="楷体_GB2312" charset="0"/>
            </a:endParaRPr>
          </a:p>
        </p:txBody>
      </p:sp>
      <p:sp>
        <p:nvSpPr>
          <p:cNvPr id="5123" name="Rectangle 3"/>
          <p:cNvSpPr>
            <a:spLocks noGrp="1" noChangeArrowheads="1"/>
          </p:cNvSpPr>
          <p:nvPr>
            <p:ph type="subTitle" idx="1"/>
          </p:nvPr>
        </p:nvSpPr>
        <p:spPr>
          <a:xfrm>
            <a:off x="725488" y="4368800"/>
            <a:ext cx="7634287" cy="1944688"/>
          </a:xfrm>
          <a:ln>
            <a:noFill/>
          </a:ln>
        </p:spPr>
        <p:txBody>
          <a:bodyPr/>
          <a:lstStyle/>
          <a:p>
            <a:pPr eaLnBrk="1" hangingPunct="1"/>
            <a:r>
              <a:rPr lang="zh-CN" altLang="en-US" sz="2800" dirty="0">
                <a:latin typeface="Arial" panose="020B0604020202020204" pitchFamily="34" charset="0"/>
                <a:ea typeface="宋体" panose="02010600030101010101" pitchFamily="2" charset="-122"/>
              </a:rPr>
              <a:t>唐文哲 教授</a:t>
            </a:r>
            <a:r>
              <a:rPr lang="en-US" altLang="zh-CN" sz="2800" dirty="0">
                <a:latin typeface="Arial" panose="020B0604020202020204" pitchFamily="34" charset="0"/>
                <a:ea typeface="宋体" panose="02010600030101010101" pitchFamily="2" charset="-122"/>
              </a:rPr>
              <a:t>/</a:t>
            </a:r>
            <a:r>
              <a:rPr lang="zh-CN" altLang="en-US" sz="2800" dirty="0">
                <a:latin typeface="Arial" panose="020B0604020202020204" pitchFamily="34" charset="0"/>
                <a:ea typeface="宋体" panose="02010600030101010101" pitchFamily="2" charset="-122"/>
              </a:rPr>
              <a:t>博导</a:t>
            </a:r>
            <a:endParaRPr lang="zh-CN" altLang="en-US" sz="2800" dirty="0">
              <a:latin typeface="Arial" panose="020B0604020202020204" pitchFamily="34" charset="0"/>
              <a:ea typeface="宋体" panose="02010600030101010101" pitchFamily="2" charset="-122"/>
            </a:endParaRPr>
          </a:p>
          <a:p>
            <a:pPr eaLnBrk="1" hangingPunct="1"/>
            <a:r>
              <a:rPr lang="zh-CN" altLang="en-US" sz="2800" dirty="0" smtClean="0">
                <a:latin typeface="Arial" panose="020B0604020202020204" pitchFamily="34" charset="0"/>
                <a:ea typeface="宋体" panose="02010600030101010101" pitchFamily="2" charset="-122"/>
              </a:rPr>
              <a:t>清华大学</a:t>
            </a:r>
            <a:endParaRPr lang="en-US" altLang="zh-CN" sz="2800" smtClean="0">
              <a:latin typeface="Arial" panose="020B0604020202020204" pitchFamily="34" charset="0"/>
              <a:ea typeface="宋体" panose="02010600030101010101" pitchFamily="2" charset="-122"/>
            </a:endParaRPr>
          </a:p>
          <a:p>
            <a:pPr eaLnBrk="1" hangingPunct="1"/>
            <a:r>
              <a:rPr lang="en-US" altLang="zh-CN" sz="2800" smtClean="0">
                <a:latin typeface="Arial" panose="020B0604020202020204" pitchFamily="34" charset="0"/>
                <a:ea typeface="宋体" panose="02010600030101010101" pitchFamily="2" charset="-122"/>
              </a:rPr>
              <a:t>2023</a:t>
            </a:r>
            <a:r>
              <a:rPr lang="zh-CN" altLang="en-US" sz="2800" dirty="0" smtClean="0">
                <a:latin typeface="Arial" panose="020B0604020202020204" pitchFamily="34" charset="0"/>
                <a:ea typeface="宋体" panose="02010600030101010101" pitchFamily="2" charset="-122"/>
              </a:rPr>
              <a:t>年</a:t>
            </a:r>
            <a:r>
              <a:rPr lang="en-US" altLang="zh-CN" sz="2800" dirty="0">
                <a:latin typeface="Arial" panose="020B0604020202020204" pitchFamily="34" charset="0"/>
                <a:ea typeface="宋体" panose="02010600030101010101" pitchFamily="2" charset="-122"/>
              </a:rPr>
              <a:t>11</a:t>
            </a:r>
            <a:r>
              <a:rPr lang="zh-CN" altLang="en-US" sz="2800" dirty="0">
                <a:latin typeface="Arial" panose="020B0604020202020204" pitchFamily="34" charset="0"/>
                <a:ea typeface="宋体" panose="02010600030101010101" pitchFamily="2" charset="-122"/>
              </a:rPr>
              <a:t>月</a:t>
            </a:r>
            <a:r>
              <a:rPr lang="en-US" altLang="zh-CN" sz="2800" dirty="0">
                <a:latin typeface="Arial" panose="020B0604020202020204" pitchFamily="34" charset="0"/>
                <a:ea typeface="宋体" panose="02010600030101010101" pitchFamily="2" charset="-122"/>
              </a:rPr>
              <a:t>23</a:t>
            </a:r>
            <a:r>
              <a:rPr lang="zh-CN" altLang="en-US" sz="2800" dirty="0" smtClean="0">
                <a:latin typeface="Arial" panose="020B0604020202020204" pitchFamily="34" charset="0"/>
                <a:ea typeface="宋体" panose="02010600030101010101" pitchFamily="2" charset="-122"/>
              </a:rPr>
              <a:t>日</a:t>
            </a:r>
            <a:endParaRPr lang="zh-CN" altLang="en-US" sz="2800" dirty="0">
              <a:latin typeface="Arial" panose="020B0604020202020204" pitchFamily="34" charset="0"/>
              <a:ea typeface="宋体" panose="02010600030101010101" pitchFamily="2" charset="-122"/>
            </a:endParaRPr>
          </a:p>
          <a:p>
            <a:pPr algn="l" eaLnBrk="1" hangingPunct="1"/>
            <a:endParaRPr lang="zh-CN" altLang="en-US" sz="2800" dirty="0">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12700"/>
            <a:ext cx="8178800" cy="609600"/>
          </a:xfrm>
          <a:prstGeom prst="rect">
            <a:avLst/>
          </a:prstGeom>
        </p:spPr>
        <p:txBody>
          <a:bodyPr/>
          <a:lstStyle>
            <a:lvl1pPr>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r>
              <a:rPr lang="zh-CN" altLang="en-US">
                <a:solidFill>
                  <a:srgbClr val="990000"/>
                </a:solidFill>
              </a:rPr>
              <a:t>项目后评估基本内容</a:t>
            </a:r>
            <a:endParaRPr lang="zh-CN" altLang="en-US">
              <a:solidFill>
                <a:srgbClr val="990000"/>
              </a:solidFill>
            </a:endParaRPr>
          </a:p>
        </p:txBody>
      </p:sp>
      <p:sp>
        <p:nvSpPr>
          <p:cNvPr id="3" name="Rectangle 3"/>
          <p:cNvSpPr txBox="1">
            <a:spLocks noChangeArrowheads="1"/>
          </p:cNvSpPr>
          <p:nvPr/>
        </p:nvSpPr>
        <p:spPr>
          <a:xfrm>
            <a:off x="736600" y="977900"/>
            <a:ext cx="9144000" cy="5880100"/>
          </a:xfrm>
          <a:prstGeom prst="rect">
            <a:avLst/>
          </a:prstGeom>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过程评估</a:t>
            </a:r>
            <a:endParaRPr lang="zh-CN" altLang="en-US" sz="4800">
              <a:solidFill>
                <a:srgbClr val="3333CC"/>
              </a:solidFill>
              <a:ea typeface="宋体" panose="02010600030101010101" pitchFamily="2" charset="-122"/>
              <a:cs typeface="宋体" panose="02010600030101010101" pitchFamily="2" charset="-122"/>
            </a:endParaRPr>
          </a:p>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效益评估</a:t>
            </a:r>
            <a:endParaRPr lang="zh-CN" altLang="en-US" sz="4800">
              <a:solidFill>
                <a:srgbClr val="3333CC"/>
              </a:solidFill>
              <a:ea typeface="宋体" panose="02010600030101010101" pitchFamily="2" charset="-122"/>
              <a:cs typeface="宋体" panose="02010600030101010101" pitchFamily="2" charset="-122"/>
            </a:endParaRPr>
          </a:p>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影响评估</a:t>
            </a:r>
            <a:endParaRPr lang="zh-CN" altLang="en-US" sz="4800">
              <a:solidFill>
                <a:srgbClr val="3333CC"/>
              </a:solidFill>
              <a:ea typeface="宋体" panose="02010600030101010101" pitchFamily="2" charset="-122"/>
              <a:cs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12700"/>
            <a:ext cx="8178800" cy="609600"/>
          </a:xfrm>
          <a:prstGeom prst="rect">
            <a:avLst/>
          </a:prstGeom>
        </p:spPr>
        <p:txBody>
          <a:bodyPr/>
          <a:lstStyle>
            <a:lvl1pPr>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r>
              <a:rPr lang="zh-CN" altLang="en-US">
                <a:solidFill>
                  <a:srgbClr val="990000"/>
                </a:solidFill>
              </a:rPr>
              <a:t>过程评估</a:t>
            </a:r>
            <a:endParaRPr lang="zh-CN" altLang="en-US">
              <a:solidFill>
                <a:srgbClr val="990000"/>
              </a:solidFill>
            </a:endParaRPr>
          </a:p>
        </p:txBody>
      </p:sp>
      <p:sp>
        <p:nvSpPr>
          <p:cNvPr id="3" name="Rectangle 3"/>
          <p:cNvSpPr txBox="1">
            <a:spLocks noChangeArrowheads="1"/>
          </p:cNvSpPr>
          <p:nvPr/>
        </p:nvSpPr>
        <p:spPr>
          <a:xfrm>
            <a:off x="1206500" y="1181100"/>
            <a:ext cx="9144000" cy="5880100"/>
          </a:xfrm>
          <a:prstGeom prst="rect">
            <a:avLst/>
          </a:prstGeom>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前期工作</a:t>
            </a:r>
            <a:endParaRPr lang="zh-CN" altLang="en-US" sz="4800">
              <a:solidFill>
                <a:srgbClr val="3333CC"/>
              </a:solidFill>
              <a:ea typeface="宋体" panose="02010600030101010101" pitchFamily="2" charset="-122"/>
              <a:cs typeface="宋体" panose="02010600030101010101" pitchFamily="2" charset="-122"/>
            </a:endParaRPr>
          </a:p>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实施</a:t>
            </a:r>
            <a:endParaRPr lang="zh-CN" altLang="en-US" sz="4800">
              <a:solidFill>
                <a:srgbClr val="3333CC"/>
              </a:solidFill>
              <a:ea typeface="宋体" panose="02010600030101010101" pitchFamily="2" charset="-122"/>
              <a:cs typeface="宋体" panose="02010600030101010101" pitchFamily="2" charset="-122"/>
            </a:endParaRPr>
          </a:p>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生产运营</a:t>
            </a:r>
            <a:endParaRPr lang="zh-CN" altLang="en-US" sz="4800">
              <a:solidFill>
                <a:srgbClr val="3333CC"/>
              </a:solidFill>
              <a:ea typeface="宋体" panose="02010600030101010101" pitchFamily="2" charset="-122"/>
              <a:cs typeface="宋体" panose="02010600030101010101" pitchFamily="2" charset="-122"/>
            </a:endParaRPr>
          </a:p>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管理</a:t>
            </a:r>
            <a:endParaRPr lang="zh-CN" altLang="en-US" sz="4800">
              <a:solidFill>
                <a:srgbClr val="3333CC"/>
              </a:solidFill>
              <a:ea typeface="宋体" panose="02010600030101010101" pitchFamily="2" charset="-122"/>
              <a:cs typeface="宋体"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12700"/>
            <a:ext cx="8178800" cy="609600"/>
          </a:xfrm>
          <a:prstGeom prst="rect">
            <a:avLst/>
          </a:prstGeom>
        </p:spPr>
        <p:txBody>
          <a:bodyPr/>
          <a:lstStyle>
            <a:lvl1pPr>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r>
              <a:rPr lang="zh-CN" altLang="en-US">
                <a:solidFill>
                  <a:srgbClr val="990000"/>
                </a:solidFill>
              </a:rPr>
              <a:t>效益评估</a:t>
            </a:r>
            <a:endParaRPr lang="zh-CN" altLang="en-US">
              <a:solidFill>
                <a:srgbClr val="990000"/>
              </a:solidFill>
            </a:endParaRPr>
          </a:p>
        </p:txBody>
      </p:sp>
      <p:sp>
        <p:nvSpPr>
          <p:cNvPr id="3" name="Rectangle 3"/>
          <p:cNvSpPr txBox="1">
            <a:spLocks noChangeArrowheads="1"/>
          </p:cNvSpPr>
          <p:nvPr/>
        </p:nvSpPr>
        <p:spPr>
          <a:xfrm>
            <a:off x="876300" y="1206500"/>
            <a:ext cx="9144000" cy="5880100"/>
          </a:xfrm>
          <a:prstGeom prst="rect">
            <a:avLst/>
          </a:prstGeom>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财务</a:t>
            </a:r>
            <a:endParaRPr lang="zh-CN" altLang="en-US" sz="4800">
              <a:solidFill>
                <a:srgbClr val="3333CC"/>
              </a:solidFill>
              <a:ea typeface="宋体" panose="02010600030101010101" pitchFamily="2" charset="-122"/>
              <a:cs typeface="宋体" panose="02010600030101010101" pitchFamily="2" charset="-122"/>
            </a:endParaRPr>
          </a:p>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国民经济</a:t>
            </a:r>
            <a:endParaRPr lang="zh-CN" altLang="en-US" sz="4800">
              <a:solidFill>
                <a:srgbClr val="3333CC"/>
              </a:solidFill>
              <a:ea typeface="宋体" panose="02010600030101010101" pitchFamily="2" charset="-122"/>
              <a:cs typeface="宋体" panose="02010600030101010101" pitchFamily="2" charset="-122"/>
            </a:endParaRPr>
          </a:p>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投资使用</a:t>
            </a:r>
            <a:endParaRPr lang="zh-CN" altLang="en-US" sz="4800">
              <a:solidFill>
                <a:srgbClr val="3333CC"/>
              </a:solidFill>
              <a:ea typeface="宋体" panose="02010600030101010101" pitchFamily="2" charset="-122"/>
              <a:cs typeface="宋体" panose="02010600030101010101" pitchFamily="2"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0" y="12700"/>
            <a:ext cx="8178800" cy="609600"/>
          </a:xfrm>
          <a:prstGeom prst="rect">
            <a:avLst/>
          </a:prstGeom>
        </p:spPr>
        <p:txBody>
          <a:bodyPr/>
          <a:lstStyle>
            <a:lvl1pPr>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r>
              <a:rPr lang="zh-CN" altLang="en-US">
                <a:solidFill>
                  <a:srgbClr val="990000"/>
                </a:solidFill>
              </a:rPr>
              <a:t>影响评估</a:t>
            </a:r>
            <a:endParaRPr lang="zh-CN" altLang="en-US">
              <a:solidFill>
                <a:srgbClr val="990000"/>
              </a:solidFill>
            </a:endParaRPr>
          </a:p>
        </p:txBody>
      </p:sp>
      <p:sp>
        <p:nvSpPr>
          <p:cNvPr id="3" name="Rectangle 3"/>
          <p:cNvSpPr txBox="1">
            <a:spLocks noChangeArrowheads="1"/>
          </p:cNvSpPr>
          <p:nvPr/>
        </p:nvSpPr>
        <p:spPr>
          <a:xfrm>
            <a:off x="825500" y="1168400"/>
            <a:ext cx="9144000" cy="5880100"/>
          </a:xfrm>
          <a:prstGeom prst="rect">
            <a:avLst/>
          </a:prstGeom>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经济影响</a:t>
            </a:r>
            <a:endParaRPr lang="zh-CN" altLang="en-US" sz="4800">
              <a:solidFill>
                <a:srgbClr val="3333CC"/>
              </a:solidFill>
              <a:ea typeface="宋体" panose="02010600030101010101" pitchFamily="2" charset="-122"/>
              <a:cs typeface="宋体" panose="02010600030101010101" pitchFamily="2" charset="-122"/>
            </a:endParaRPr>
          </a:p>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技术进步影响</a:t>
            </a:r>
            <a:endParaRPr lang="zh-CN" altLang="en-US" sz="4800">
              <a:solidFill>
                <a:srgbClr val="3333CC"/>
              </a:solidFill>
              <a:ea typeface="宋体" panose="02010600030101010101" pitchFamily="2" charset="-122"/>
              <a:cs typeface="宋体" panose="02010600030101010101" pitchFamily="2" charset="-122"/>
            </a:endParaRPr>
          </a:p>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环境影响</a:t>
            </a:r>
            <a:endParaRPr lang="zh-CN" altLang="en-US" sz="4800">
              <a:solidFill>
                <a:srgbClr val="3333CC"/>
              </a:solidFill>
              <a:ea typeface="宋体" panose="02010600030101010101" pitchFamily="2" charset="-122"/>
              <a:cs typeface="宋体" panose="02010600030101010101" pitchFamily="2" charset="-122"/>
            </a:endParaRPr>
          </a:p>
          <a:p>
            <a:pPr eaLnBrk="1" hangingPunct="1">
              <a:spcBef>
                <a:spcPct val="20000"/>
              </a:spcBef>
              <a:buFontTx/>
              <a:buChar char="•"/>
            </a:pPr>
            <a:r>
              <a:rPr lang="zh-CN" altLang="en-US" sz="4800">
                <a:solidFill>
                  <a:srgbClr val="3333CC"/>
                </a:solidFill>
                <a:ea typeface="宋体" panose="02010600030101010101" pitchFamily="2" charset="-122"/>
                <a:cs typeface="宋体" panose="02010600030101010101" pitchFamily="2" charset="-122"/>
              </a:rPr>
              <a:t>社会影响</a:t>
            </a:r>
            <a:endParaRPr lang="zh-CN" altLang="en-US" sz="4800">
              <a:solidFill>
                <a:srgbClr val="3333CC"/>
              </a:solidFill>
              <a:ea typeface="宋体" panose="02010600030101010101" pitchFamily="2" charset="-122"/>
              <a:cs typeface="宋体" panose="02010600030101010101" pitchFamily="2"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p:cNvSpPr>
            <a:spLocks noGrp="1" noChangeArrowheads="1"/>
          </p:cNvSpPr>
          <p:nvPr>
            <p:ph type="body" idx="1"/>
          </p:nvPr>
        </p:nvSpPr>
        <p:spPr/>
        <p:txBody>
          <a:bodyPr/>
          <a:lstStyle/>
          <a:p>
            <a:pPr algn="ctr" eaLnBrk="1" hangingPunct="1">
              <a:buFontTx/>
              <a:buNone/>
            </a:pPr>
            <a:r>
              <a:rPr lang="zh-CN" altLang="en-US" sz="5400">
                <a:solidFill>
                  <a:srgbClr val="800000"/>
                </a:solidFill>
                <a:latin typeface="Arial" panose="020B0604020202020204" pitchFamily="34" charset="0"/>
                <a:ea typeface="宋体" panose="02010600030101010101" pitchFamily="2" charset="-122"/>
              </a:rPr>
              <a:t>案例：三峡工程</a:t>
            </a:r>
            <a:endParaRPr lang="zh-CN" altLang="en-US" sz="5400">
              <a:solidFill>
                <a:srgbClr val="800000"/>
              </a:solidFill>
              <a:latin typeface="Arial" panose="020B0604020202020204" pitchFamily="34" charset="0"/>
              <a:ea typeface="宋体" panose="0201060003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838200" y="730250"/>
            <a:ext cx="7766050" cy="534988"/>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r>
              <a:rPr lang="zh-CN" altLang="en-US">
                <a:solidFill>
                  <a:srgbClr val="0000FF"/>
                </a:solidFill>
                <a:ea typeface="华文新魏" panose="02010800040101010101" charset="-122"/>
                <a:cs typeface="华文新魏" panose="02010800040101010101" charset="-122"/>
              </a:rPr>
              <a:t>三峡工程的施工</a:t>
            </a:r>
            <a:endParaRPr lang="en-US" altLang="zh-CN" sz="4000">
              <a:solidFill>
                <a:srgbClr val="0000FF"/>
              </a:solidFill>
              <a:ea typeface="楷体_GB2312" charset="0"/>
              <a:cs typeface="楷体_GB2312" charset="0"/>
            </a:endParaRPr>
          </a:p>
        </p:txBody>
      </p:sp>
      <p:sp>
        <p:nvSpPr>
          <p:cNvPr id="12291" name="Rectangle 5"/>
          <p:cNvSpPr>
            <a:spLocks noChangeArrowheads="1"/>
          </p:cNvSpPr>
          <p:nvPr/>
        </p:nvSpPr>
        <p:spPr bwMode="auto">
          <a:xfrm flipV="1">
            <a:off x="381000" y="1339850"/>
            <a:ext cx="8277225" cy="53975"/>
          </a:xfrm>
          <a:prstGeom prst="rect">
            <a:avLst/>
          </a:prstGeom>
          <a:gradFill rotWithShape="0">
            <a:gsLst>
              <a:gs pos="0">
                <a:srgbClr val="006000"/>
              </a:gs>
              <a:gs pos="100000">
                <a:schemeClr val="bg1"/>
              </a:gs>
            </a:gsLst>
            <a:lin ang="0" scaled="1"/>
          </a:gradFill>
          <a:ln>
            <a:noFill/>
          </a:ln>
        </p:spPr>
        <p:txBody>
          <a:bodyPr wrap="none" anchor="ctr"/>
          <a:lstStyle/>
          <a:p>
            <a:pPr eaLnBrk="1" hangingPunct="1">
              <a:lnSpc>
                <a:spcPct val="90000"/>
              </a:lnSpc>
              <a:spcBef>
                <a:spcPct val="50000"/>
              </a:spcBef>
              <a:buFontTx/>
              <a:buChar char="•"/>
            </a:pPr>
            <a:endParaRPr lang="zh-CN" altLang="en-US"/>
          </a:p>
        </p:txBody>
      </p:sp>
      <p:sp>
        <p:nvSpPr>
          <p:cNvPr id="12292" name="Line 6"/>
          <p:cNvSpPr>
            <a:spLocks noChangeShapeType="1"/>
          </p:cNvSpPr>
          <p:nvPr/>
        </p:nvSpPr>
        <p:spPr bwMode="auto">
          <a:xfrm>
            <a:off x="609600" y="654050"/>
            <a:ext cx="0" cy="914400"/>
          </a:xfrm>
          <a:prstGeom prst="line">
            <a:avLst/>
          </a:prstGeom>
          <a:noFill/>
          <a:ln w="38100">
            <a:solidFill>
              <a:srgbClr val="006000"/>
            </a:solidFill>
            <a:round/>
          </a:ln>
        </p:spPr>
        <p:txBody>
          <a:bodyPr/>
          <a:lstStyle/>
          <a:p>
            <a:endParaRPr lang="zh-CN" altLang="en-US"/>
          </a:p>
        </p:txBody>
      </p:sp>
      <p:pic>
        <p:nvPicPr>
          <p:cNvPr id="12293" name="Picture 7" descr="三峡坝址早期图片"/>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71800" y="1431925"/>
            <a:ext cx="5067300" cy="3441700"/>
          </a:xfrm>
          <a:prstGeom prst="rect">
            <a:avLst/>
          </a:prstGeom>
          <a:noFill/>
          <a:ln>
            <a:noFill/>
          </a:ln>
        </p:spPr>
      </p:pic>
      <p:sp>
        <p:nvSpPr>
          <p:cNvPr id="12294" name="Text Box 8"/>
          <p:cNvSpPr txBox="1">
            <a:spLocks noChangeArrowheads="1"/>
          </p:cNvSpPr>
          <p:nvPr/>
        </p:nvSpPr>
        <p:spPr bwMode="auto">
          <a:xfrm>
            <a:off x="900113" y="5589588"/>
            <a:ext cx="7391400" cy="1108075"/>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30000"/>
              </a:spcBef>
            </a:pPr>
            <a:r>
              <a:rPr lang="zh-CN" altLang="en-US" sz="2000">
                <a:solidFill>
                  <a:srgbClr val="0000FF"/>
                </a:solidFill>
                <a:latin typeface="楷体_GB2312" charset="0"/>
                <a:ea typeface="楷体_GB2312" charset="0"/>
                <a:cs typeface="楷体_GB2312" charset="0"/>
              </a:rPr>
              <a:t>三峡工程总工期</a:t>
            </a:r>
            <a:r>
              <a:rPr lang="en-US" altLang="zh-CN" sz="2000">
                <a:solidFill>
                  <a:srgbClr val="0000FF"/>
                </a:solidFill>
                <a:latin typeface="楷体_GB2312" charset="0"/>
                <a:ea typeface="楷体_GB2312" charset="0"/>
                <a:cs typeface="楷体_GB2312" charset="0"/>
              </a:rPr>
              <a:t>17</a:t>
            </a:r>
            <a:r>
              <a:rPr lang="zh-CN" altLang="en-US" sz="2000">
                <a:solidFill>
                  <a:srgbClr val="0000FF"/>
                </a:solidFill>
                <a:latin typeface="楷体_GB2312" charset="0"/>
                <a:ea typeface="楷体_GB2312" charset="0"/>
                <a:cs typeface="楷体_GB2312" charset="0"/>
              </a:rPr>
              <a:t>年，</a:t>
            </a:r>
            <a:r>
              <a:rPr lang="en-US" altLang="zh-CN" sz="2000">
                <a:solidFill>
                  <a:srgbClr val="0000FF"/>
                </a:solidFill>
                <a:latin typeface="楷体_GB2312" charset="0"/>
                <a:ea typeface="楷体_GB2312" charset="0"/>
                <a:cs typeface="楷体_GB2312" charset="0"/>
              </a:rPr>
              <a:t>1993</a:t>
            </a:r>
            <a:r>
              <a:rPr lang="zh-CN" altLang="en-US" sz="2000">
                <a:solidFill>
                  <a:srgbClr val="0000FF"/>
                </a:solidFill>
                <a:latin typeface="楷体_GB2312" charset="0"/>
                <a:ea typeface="楷体_GB2312" charset="0"/>
                <a:cs typeface="楷体_GB2312" charset="0"/>
              </a:rPr>
              <a:t>年开始施工准备，</a:t>
            </a:r>
            <a:r>
              <a:rPr lang="en-US" altLang="zh-CN" sz="2000">
                <a:solidFill>
                  <a:srgbClr val="0000FF"/>
                </a:solidFill>
                <a:latin typeface="楷体_GB2312" charset="0"/>
                <a:ea typeface="楷体_GB2312" charset="0"/>
                <a:cs typeface="楷体_GB2312" charset="0"/>
              </a:rPr>
              <a:t>2009</a:t>
            </a:r>
            <a:r>
              <a:rPr lang="zh-CN" altLang="en-US" sz="2000">
                <a:solidFill>
                  <a:srgbClr val="0000FF"/>
                </a:solidFill>
                <a:latin typeface="楷体_GB2312" charset="0"/>
                <a:ea typeface="楷体_GB2312" charset="0"/>
                <a:cs typeface="楷体_GB2312" charset="0"/>
              </a:rPr>
              <a:t>年基本完工。</a:t>
            </a:r>
            <a:endParaRPr lang="zh-CN" altLang="en-US" sz="2000">
              <a:solidFill>
                <a:srgbClr val="0000FF"/>
              </a:solidFill>
              <a:latin typeface="楷体_GB2312" charset="0"/>
              <a:ea typeface="楷体_GB2312" charset="0"/>
              <a:cs typeface="楷体_GB2312" charset="0"/>
            </a:endParaRPr>
          </a:p>
          <a:p>
            <a:pPr eaLnBrk="1" hangingPunct="1">
              <a:lnSpc>
                <a:spcPct val="90000"/>
              </a:lnSpc>
              <a:spcBef>
                <a:spcPct val="30000"/>
              </a:spcBef>
              <a:buFontTx/>
              <a:buChar char="•"/>
            </a:pPr>
            <a:endParaRPr lang="en-US" altLang="zh-CN" sz="4000">
              <a:solidFill>
                <a:srgbClr val="0000FF"/>
              </a:solidFill>
              <a:ea typeface="楷体_GB2312" charset="0"/>
              <a:cs typeface="楷体_GB2312" charset="0"/>
            </a:endParaRPr>
          </a:p>
        </p:txBody>
      </p:sp>
      <p:sp>
        <p:nvSpPr>
          <p:cNvPr id="12295" name="AutoShape 9"/>
          <p:cNvSpPr>
            <a:spLocks noChangeArrowheads="1"/>
          </p:cNvSpPr>
          <p:nvPr/>
        </p:nvSpPr>
        <p:spPr bwMode="auto">
          <a:xfrm>
            <a:off x="2386013" y="3352800"/>
            <a:ext cx="533400" cy="152400"/>
          </a:xfrm>
          <a:prstGeom prst="rightArrow">
            <a:avLst>
              <a:gd name="adj1" fmla="val 50000"/>
              <a:gd name="adj2" fmla="val 87500"/>
            </a:avLst>
          </a:prstGeom>
          <a:solidFill>
            <a:schemeClr val="accent1"/>
          </a:solidFill>
          <a:ln w="9525">
            <a:solidFill>
              <a:schemeClr val="tx1"/>
            </a:solidFill>
            <a:miter lim="800000"/>
          </a:ln>
        </p:spPr>
        <p:txBody>
          <a:bodyPr wrap="none" anchor="ctr"/>
          <a:lstStyle/>
          <a:p>
            <a:pPr eaLnBrk="1" hangingPunct="1">
              <a:lnSpc>
                <a:spcPct val="90000"/>
              </a:lnSpc>
              <a:spcBef>
                <a:spcPct val="50000"/>
              </a:spcBef>
              <a:buFontTx/>
              <a:buChar char="•"/>
            </a:pPr>
            <a:endParaRPr lang="zh-CN" altLang="en-US"/>
          </a:p>
        </p:txBody>
      </p:sp>
      <p:sp>
        <p:nvSpPr>
          <p:cNvPr id="12296" name="Text Box 10"/>
          <p:cNvSpPr txBox="1">
            <a:spLocks noChangeArrowheads="1"/>
          </p:cNvSpPr>
          <p:nvPr/>
        </p:nvSpPr>
        <p:spPr bwMode="auto">
          <a:xfrm>
            <a:off x="250825" y="3214688"/>
            <a:ext cx="2449513" cy="120015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r>
              <a:rPr lang="zh-CN" altLang="en-US" sz="4000">
                <a:solidFill>
                  <a:srgbClr val="0000FF"/>
                </a:solidFill>
                <a:ea typeface="楷体_GB2312" charset="0"/>
                <a:cs typeface="楷体_GB2312" charset="0"/>
              </a:rPr>
              <a:t>三峡坝址原貌</a:t>
            </a:r>
            <a:endParaRPr lang="zh-CN" altLang="en-US" sz="4000">
              <a:solidFill>
                <a:srgbClr val="0000FF"/>
              </a:solidFill>
              <a:ea typeface="楷体_GB2312" charset="0"/>
              <a:cs typeface="楷体_GB2312" charset="0"/>
            </a:endParaRPr>
          </a:p>
        </p:txBody>
      </p:sp>
      <p:sp>
        <p:nvSpPr>
          <p:cNvPr id="12297" name="AutoShape 11"/>
          <p:cNvSpPr>
            <a:spLocks noChangeArrowheads="1"/>
          </p:cNvSpPr>
          <p:nvPr/>
        </p:nvSpPr>
        <p:spPr bwMode="auto">
          <a:xfrm>
            <a:off x="5791200" y="2514600"/>
            <a:ext cx="1517650" cy="985838"/>
          </a:xfrm>
          <a:prstGeom prst="wedgeRectCallout">
            <a:avLst>
              <a:gd name="adj1" fmla="val -63181"/>
              <a:gd name="adj2" fmla="val 22463"/>
            </a:avLst>
          </a:prstGeom>
          <a:solidFill>
            <a:srgbClr val="CCFF99"/>
          </a:solidFill>
          <a:ln w="9525">
            <a:solidFill>
              <a:schemeClr val="tx1"/>
            </a:solidFill>
            <a:miter lim="800000"/>
          </a:ln>
        </p:spPr>
        <p:txBody>
          <a:bodyPr/>
          <a:lstStyle/>
          <a:p>
            <a:pPr algn="ctr" eaLnBrk="1" hangingPunct="1">
              <a:lnSpc>
                <a:spcPct val="90000"/>
              </a:lnSpc>
              <a:spcBef>
                <a:spcPct val="50000"/>
              </a:spcBef>
            </a:pPr>
            <a:r>
              <a:rPr lang="zh-CN" altLang="en-US" sz="2800">
                <a:solidFill>
                  <a:schemeClr val="accent2"/>
                </a:solidFill>
                <a:ea typeface="华文新魏" panose="02010800040101010101" charset="-122"/>
                <a:cs typeface="华文新魏" panose="02010800040101010101" charset="-122"/>
              </a:rPr>
              <a:t>中堡岛</a:t>
            </a:r>
            <a:endParaRPr lang="zh-CN" altLang="en-US" sz="2800">
              <a:solidFill>
                <a:schemeClr val="accent2"/>
              </a:solidFill>
              <a:ea typeface="华文新魏" panose="02010800040101010101" charset="-122"/>
              <a:cs typeface="华文新魏" panose="02010800040101010101"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txBox="1">
            <a:spLocks noChangeArrowheads="1"/>
          </p:cNvSpPr>
          <p:nvPr/>
        </p:nvSpPr>
        <p:spPr>
          <a:xfrm>
            <a:off x="900113" y="260350"/>
            <a:ext cx="7775575" cy="1944688"/>
          </a:xfrm>
          <a:prstGeom prst="rect">
            <a:avLst/>
          </a:prstGeom>
        </p:spPr>
        <p:txBody>
          <a:bodyPr/>
          <a:lstStyle>
            <a:lvl1pPr>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r>
              <a:rPr lang="en-US" altLang="zh-CN" sz="3600">
                <a:solidFill>
                  <a:schemeClr val="tx1"/>
                </a:solidFill>
                <a:latin typeface="华文新魏" panose="02010800040101010101" charset="-122"/>
                <a:ea typeface="华文新魏" panose="02010800040101010101" charset="-122"/>
              </a:rPr>
              <a:t> </a:t>
            </a:r>
            <a:r>
              <a:rPr lang="en-US" altLang="zh-CN" sz="3600">
                <a:solidFill>
                  <a:srgbClr val="C00000"/>
                </a:solidFill>
                <a:latin typeface="华文新魏" panose="02010800040101010101" charset="-122"/>
                <a:ea typeface="华文新魏" panose="02010800040101010101" charset="-122"/>
              </a:rPr>
              <a:t>2003</a:t>
            </a:r>
            <a:r>
              <a:rPr lang="zh-CN" altLang="en-US" sz="3600">
                <a:solidFill>
                  <a:srgbClr val="C00000"/>
                </a:solidFill>
                <a:latin typeface="华文新魏" panose="02010800040101010101" charset="-122"/>
                <a:ea typeface="华文新魏" panose="02010800040101010101" charset="-122"/>
              </a:rPr>
              <a:t>年</a:t>
            </a:r>
            <a:r>
              <a:rPr lang="en-US" altLang="zh-CN" sz="3600">
                <a:solidFill>
                  <a:srgbClr val="C00000"/>
                </a:solidFill>
                <a:latin typeface="华文新魏" panose="02010800040101010101" charset="-122"/>
                <a:ea typeface="华文新魏" panose="02010800040101010101" charset="-122"/>
              </a:rPr>
              <a:t>6</a:t>
            </a:r>
            <a:r>
              <a:rPr lang="zh-CN" altLang="en-US" sz="3600">
                <a:solidFill>
                  <a:srgbClr val="C00000"/>
                </a:solidFill>
                <a:latin typeface="华文新魏" panose="02010800040101010101" charset="-122"/>
                <a:ea typeface="华文新魏" panose="02010800040101010101" charset="-122"/>
              </a:rPr>
              <a:t>月水库蓄水至</a:t>
            </a:r>
            <a:r>
              <a:rPr lang="en-US" altLang="zh-CN" sz="3600">
                <a:solidFill>
                  <a:srgbClr val="C00000"/>
                </a:solidFill>
                <a:latin typeface="华文新魏" panose="02010800040101010101" charset="-122"/>
                <a:ea typeface="华文新魏" panose="02010800040101010101" charset="-122"/>
              </a:rPr>
              <a:t>135</a:t>
            </a:r>
            <a:r>
              <a:rPr lang="zh-CN" altLang="en-US" sz="3600">
                <a:solidFill>
                  <a:srgbClr val="C00000"/>
                </a:solidFill>
                <a:latin typeface="华文新魏" panose="02010800040101010101" charset="-122"/>
                <a:ea typeface="华文新魏" panose="02010800040101010101" charset="-122"/>
              </a:rPr>
              <a:t>米</a:t>
            </a:r>
            <a:br>
              <a:rPr lang="zh-CN" altLang="en-US" sz="3600">
                <a:solidFill>
                  <a:srgbClr val="C00000"/>
                </a:solidFill>
                <a:latin typeface="华文新魏" panose="02010800040101010101" charset="-122"/>
                <a:ea typeface="华文新魏" panose="02010800040101010101" charset="-122"/>
              </a:rPr>
            </a:br>
            <a:r>
              <a:rPr lang="en-US" altLang="zh-CN" sz="3600">
                <a:solidFill>
                  <a:schemeClr val="tx1"/>
                </a:solidFill>
                <a:ea typeface="华文新魏" panose="02010800040101010101" charset="-122"/>
              </a:rPr>
              <a:t>2003.</a:t>
            </a:r>
            <a:r>
              <a:rPr lang="en-US" altLang="zh-CN" sz="3600">
                <a:solidFill>
                  <a:srgbClr val="990000"/>
                </a:solidFill>
                <a:ea typeface="华文新魏" panose="02010800040101010101" charset="-122"/>
              </a:rPr>
              <a:t> </a:t>
            </a:r>
            <a:endParaRPr lang="en-US" altLang="zh-CN" sz="3600">
              <a:solidFill>
                <a:srgbClr val="990000"/>
              </a:solidFill>
              <a:ea typeface="华文新魏" panose="02010800040101010101" charset="-122"/>
            </a:endParaRPr>
          </a:p>
        </p:txBody>
      </p:sp>
      <p:pic>
        <p:nvPicPr>
          <p:cNvPr id="13315" name="Picture 6" descr="未命名2"/>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0" y="1206500"/>
            <a:ext cx="9144000" cy="3359150"/>
          </a:xfrm>
          <a:prstGeom prst="rect">
            <a:avLst/>
          </a:prstGeom>
          <a:noFill/>
          <a:ln>
            <a:noFill/>
          </a:ln>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0" y="0"/>
            <a:ext cx="9144000" cy="981075"/>
          </a:xfrm>
          <a:prstGeom prst="rect">
            <a:avLst/>
          </a:prstGeom>
          <a:solidFill>
            <a:srgbClr val="003366">
              <a:alpha val="70195"/>
            </a:srgbClr>
          </a:solidFill>
          <a:ln>
            <a:noFill/>
          </a:ln>
        </p:spPr>
        <p:txBody>
          <a:bodyPr wrap="none" anchor="ctr"/>
          <a:lstStyle/>
          <a:p>
            <a:pPr eaLnBrk="1" hangingPunct="1">
              <a:lnSpc>
                <a:spcPct val="90000"/>
              </a:lnSpc>
              <a:spcBef>
                <a:spcPct val="50000"/>
              </a:spcBef>
              <a:buFontTx/>
              <a:buChar char="•"/>
            </a:pPr>
            <a:endParaRPr lang="zh-CN" altLang="en-US"/>
          </a:p>
        </p:txBody>
      </p:sp>
      <p:sp>
        <p:nvSpPr>
          <p:cNvPr id="14339" name="Rectangle 3"/>
          <p:cNvSpPr txBox="1">
            <a:spLocks noChangeArrowheads="1"/>
          </p:cNvSpPr>
          <p:nvPr/>
        </p:nvSpPr>
        <p:spPr bwMode="auto">
          <a:xfrm>
            <a:off x="315913" y="166688"/>
            <a:ext cx="8675687" cy="1628775"/>
          </a:xfrm>
          <a:prstGeom prst="rect">
            <a:avLst/>
          </a:prstGeom>
          <a:noFill/>
          <a:ln>
            <a:noFill/>
          </a:ln>
        </p:spPr>
        <p:txBody>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en-US" altLang="zh-CN" sz="2400">
                <a:solidFill>
                  <a:schemeClr val="tx1"/>
                </a:solidFill>
                <a:latin typeface="华文新魏" panose="02010800040101010101" charset="-122"/>
                <a:ea typeface="华文新魏" panose="02010800040101010101" charset="-122"/>
                <a:cs typeface="楷体_GB2312" charset="0"/>
              </a:rPr>
              <a:t>      </a:t>
            </a:r>
            <a:r>
              <a:rPr lang="en-US" altLang="zh-CN">
                <a:solidFill>
                  <a:srgbClr val="C00000"/>
                </a:solidFill>
                <a:latin typeface="华文新魏" panose="02010800040101010101" charset="-122"/>
                <a:ea typeface="华文新魏" panose="02010800040101010101" charset="-122"/>
                <a:cs typeface="楷体_GB2312" charset="0"/>
              </a:rPr>
              <a:t>2003</a:t>
            </a:r>
            <a:r>
              <a:rPr lang="zh-CN" altLang="en-US">
                <a:solidFill>
                  <a:srgbClr val="C00000"/>
                </a:solidFill>
                <a:latin typeface="华文新魏" panose="02010800040101010101" charset="-122"/>
                <a:ea typeface="华文新魏" panose="02010800040101010101" charset="-122"/>
                <a:cs typeface="楷体_GB2312" charset="0"/>
              </a:rPr>
              <a:t>年</a:t>
            </a:r>
            <a:r>
              <a:rPr lang="en-US" altLang="zh-CN">
                <a:solidFill>
                  <a:srgbClr val="C00000"/>
                </a:solidFill>
                <a:latin typeface="华文新魏" panose="02010800040101010101" charset="-122"/>
                <a:ea typeface="华文新魏" panose="02010800040101010101" charset="-122"/>
                <a:cs typeface="楷体_GB2312" charset="0"/>
              </a:rPr>
              <a:t>6</a:t>
            </a:r>
            <a:r>
              <a:rPr lang="zh-CN" altLang="en-US">
                <a:solidFill>
                  <a:srgbClr val="C00000"/>
                </a:solidFill>
                <a:latin typeface="华文新魏" panose="02010800040101010101" charset="-122"/>
                <a:ea typeface="华文新魏" panose="02010800040101010101" charset="-122"/>
                <a:cs typeface="楷体_GB2312" charset="0"/>
              </a:rPr>
              <a:t>月三峡船闸试通航</a:t>
            </a:r>
            <a:r>
              <a:rPr lang="en-US" altLang="zh-CN">
                <a:solidFill>
                  <a:srgbClr val="C00000"/>
                </a:solidFill>
                <a:latin typeface="华文新魏" panose="02010800040101010101" charset="-122"/>
                <a:ea typeface="华文新魏" panose="02010800040101010101" charset="-122"/>
                <a:cs typeface="楷体_GB2312" charset="0"/>
              </a:rPr>
              <a:t>,7</a:t>
            </a:r>
            <a:r>
              <a:rPr lang="zh-CN" altLang="en-US">
                <a:solidFill>
                  <a:srgbClr val="C00000"/>
                </a:solidFill>
                <a:latin typeface="华文新魏" panose="02010800040101010101" charset="-122"/>
                <a:ea typeface="华文新魏" panose="02010800040101010101" charset="-122"/>
                <a:cs typeface="楷体_GB2312" charset="0"/>
              </a:rPr>
              <a:t>月首台机组发电</a:t>
            </a:r>
            <a:br>
              <a:rPr lang="zh-CN" altLang="en-US">
                <a:solidFill>
                  <a:srgbClr val="C00000"/>
                </a:solidFill>
                <a:latin typeface="华文新魏" panose="02010800040101010101" charset="-122"/>
                <a:ea typeface="华文新魏" panose="02010800040101010101" charset="-122"/>
                <a:cs typeface="楷体_GB2312" charset="0"/>
              </a:rPr>
            </a:br>
            <a:endParaRPr lang="en-US" altLang="zh-CN">
              <a:solidFill>
                <a:srgbClr val="C00000"/>
              </a:solidFill>
              <a:ea typeface="华文新魏" panose="02010800040101010101" charset="-122"/>
              <a:cs typeface="楷体_GB2312" charset="0"/>
            </a:endParaRPr>
          </a:p>
        </p:txBody>
      </p:sp>
      <p:pic>
        <p:nvPicPr>
          <p:cNvPr id="14340" name="Picture 4" descr="标志+中英文全称"/>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6443663" y="6237288"/>
            <a:ext cx="2363787" cy="330200"/>
          </a:xfrm>
          <a:prstGeom prst="rect">
            <a:avLst/>
          </a:prstGeom>
          <a:noFill/>
          <a:ln>
            <a:noFill/>
          </a:ln>
        </p:spPr>
      </p:pic>
      <p:pic>
        <p:nvPicPr>
          <p:cNvPr id="14341" name="Picture 6" descr="未命名3"/>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76375" y="1484313"/>
            <a:ext cx="6048375" cy="4537075"/>
          </a:xfrm>
          <a:prstGeom prst="rect">
            <a:avLst/>
          </a:prstGeom>
          <a:noFill/>
          <a:ln>
            <a:noFill/>
          </a:ln>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财务评价</a:t>
            </a:r>
            <a:r>
              <a:rPr lang="en-US" altLang="zh-CN" sz="3200">
                <a:latin typeface="Arial" panose="020B0604020202020204" pitchFamily="34" charset="0"/>
                <a:ea typeface="楷体_GB2312" charset="0"/>
                <a:cs typeface="楷体_GB2312" charset="0"/>
              </a:rPr>
              <a:t>:</a:t>
            </a:r>
            <a:endParaRPr lang="zh-CN" altLang="en-US" sz="3200">
              <a:latin typeface="Arial" panose="020B0604020202020204" pitchFamily="34" charset="0"/>
              <a:ea typeface="楷体_GB2312" charset="0"/>
              <a:cs typeface="楷体_GB2312" charset="0"/>
            </a:endParaRPr>
          </a:p>
        </p:txBody>
      </p:sp>
      <p:sp>
        <p:nvSpPr>
          <p:cNvPr id="15363" name="Rectangle 3"/>
          <p:cNvSpPr>
            <a:spLocks noGrp="1" noChangeArrowheads="1"/>
          </p:cNvSpPr>
          <p:nvPr>
            <p:ph type="body" idx="1"/>
          </p:nvPr>
        </p:nvSpPr>
        <p:spPr/>
        <p:txBody>
          <a:bodyPr/>
          <a:lstStyle/>
          <a:p>
            <a:pPr eaLnBrk="1" hangingPunct="1">
              <a:buFontTx/>
              <a:buNone/>
            </a:pP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）所需资金。按</a:t>
            </a:r>
            <a:r>
              <a:rPr lang="en-US" altLang="zh-CN">
                <a:latin typeface="Arial" panose="020B0604020202020204" pitchFamily="34" charset="0"/>
                <a:ea typeface="宋体" panose="02010600030101010101" pitchFamily="2" charset="-122"/>
              </a:rPr>
              <a:t>1993</a:t>
            </a:r>
            <a:r>
              <a:rPr lang="zh-CN" altLang="en-US">
                <a:latin typeface="Arial" panose="020B0604020202020204" pitchFamily="34" charset="0"/>
                <a:ea typeface="宋体" panose="02010600030101010101" pitchFamily="2" charset="-122"/>
              </a:rPr>
              <a:t>年价格水平计算，其静态投资额为</a:t>
            </a:r>
            <a:r>
              <a:rPr lang="en-US" altLang="zh-CN">
                <a:latin typeface="Arial" panose="020B0604020202020204" pitchFamily="34" charset="0"/>
                <a:ea typeface="宋体" panose="02010600030101010101" pitchFamily="2" charset="-122"/>
              </a:rPr>
              <a:t>900.9</a:t>
            </a:r>
            <a:r>
              <a:rPr lang="zh-CN" altLang="en-US">
                <a:latin typeface="Arial" panose="020B0604020202020204" pitchFamily="34" charset="0"/>
                <a:ea typeface="宋体" panose="02010600030101010101" pitchFamily="2" charset="-122"/>
              </a:rPr>
              <a:t>亿元，</a:t>
            </a:r>
            <a:endParaRPr lang="zh-CN" altLang="en-US">
              <a:latin typeface="Arial" panose="020B0604020202020204" pitchFamily="34" charset="0"/>
              <a:ea typeface="宋体" panose="02010600030101010101" pitchFamily="2" charset="-122"/>
            </a:endParaRPr>
          </a:p>
          <a:p>
            <a:pPr eaLnBrk="1" hangingPunct="1">
              <a:buFontTx/>
              <a:buNone/>
            </a:pP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）通货膨胀附加。</a:t>
            </a:r>
            <a:r>
              <a:rPr lang="en-US" altLang="zh-CN">
                <a:latin typeface="Arial" panose="020B0604020202020204" pitchFamily="34" charset="0"/>
                <a:ea typeface="宋体" panose="02010600030101010101" pitchFamily="2" charset="-122"/>
              </a:rPr>
              <a:t>1994</a:t>
            </a:r>
            <a:r>
              <a:rPr lang="zh-CN" altLang="en-US">
                <a:latin typeface="Arial" panose="020B0604020202020204" pitchFamily="34" charset="0"/>
                <a:ea typeface="宋体" panose="02010600030101010101" pitchFamily="2" charset="-122"/>
              </a:rPr>
              <a:t>年的物价增长率为</a:t>
            </a:r>
            <a:r>
              <a:rPr lang="en-US" altLang="zh-CN">
                <a:latin typeface="Arial" panose="020B0604020202020204" pitchFamily="34" charset="0"/>
                <a:ea typeface="宋体" panose="02010600030101010101" pitchFamily="2" charset="-122"/>
              </a:rPr>
              <a:t>10</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1995</a:t>
            </a:r>
            <a:r>
              <a:rPr lang="zh-CN" altLang="en-US">
                <a:latin typeface="Arial" panose="020B0604020202020204" pitchFamily="34" charset="0"/>
                <a:ea typeface="宋体" panose="02010600030101010101" pitchFamily="2" charset="-122"/>
              </a:rPr>
              <a:t>年、</a:t>
            </a:r>
            <a:r>
              <a:rPr lang="en-US" altLang="zh-CN">
                <a:latin typeface="Arial" panose="020B0604020202020204" pitchFamily="34" charset="0"/>
                <a:ea typeface="宋体" panose="02010600030101010101" pitchFamily="2" charset="-122"/>
              </a:rPr>
              <a:t>1996</a:t>
            </a:r>
            <a:r>
              <a:rPr lang="zh-CN" altLang="en-US">
                <a:latin typeface="Arial" panose="020B0604020202020204" pitchFamily="34" charset="0"/>
                <a:ea typeface="宋体" panose="02010600030101010101" pitchFamily="2" charset="-122"/>
              </a:rPr>
              <a:t>年为</a:t>
            </a:r>
            <a:r>
              <a:rPr lang="en-US" altLang="zh-CN">
                <a:latin typeface="Arial" panose="020B0604020202020204" pitchFamily="34" charset="0"/>
                <a:ea typeface="宋体" panose="02010600030101010101" pitchFamily="2" charset="-122"/>
              </a:rPr>
              <a:t>8%</a:t>
            </a:r>
            <a:r>
              <a:rPr lang="zh-CN" altLang="en-US">
                <a:latin typeface="Arial" panose="020B0604020202020204" pitchFamily="34" charset="0"/>
                <a:ea typeface="宋体" panose="02010600030101010101" pitchFamily="2" charset="-122"/>
              </a:rPr>
              <a:t>，以后每年为</a:t>
            </a:r>
            <a:r>
              <a:rPr lang="en-US" altLang="zh-CN">
                <a:latin typeface="Arial" panose="020B0604020202020204" pitchFamily="34" charset="0"/>
                <a:ea typeface="宋体" panose="02010600030101010101" pitchFamily="2" charset="-122"/>
              </a:rPr>
              <a:t>6%</a:t>
            </a:r>
            <a:r>
              <a:rPr lang="zh-CN" altLang="en-US">
                <a:latin typeface="Arial" panose="020B0604020202020204" pitchFamily="34" charset="0"/>
                <a:ea typeface="宋体" panose="02010600030101010101" pitchFamily="2" charset="-122"/>
              </a:rPr>
              <a:t>。在此基础上，计算每年的通货膨胀溢价。</a:t>
            </a:r>
            <a:endParaRPr lang="zh-CN" altLang="en-US">
              <a:latin typeface="Arial" panose="020B0604020202020204" pitchFamily="34" charset="0"/>
              <a:ea typeface="宋体" panose="02010600030101010101" pitchFamily="2" charset="-122"/>
            </a:endParaRPr>
          </a:p>
          <a:p>
            <a:pPr eaLnBrk="1" hangingPunct="1">
              <a:buFontTx/>
              <a:buNone/>
            </a:pP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）建设期贷款利息。国家发展银行贷款</a:t>
            </a:r>
            <a:r>
              <a:rPr lang="en-US" altLang="zh-CN">
                <a:latin typeface="Arial" panose="020B0604020202020204" pitchFamily="34" charset="0"/>
                <a:ea typeface="宋体" panose="02010600030101010101" pitchFamily="2" charset="-122"/>
              </a:rPr>
              <a:t>300</a:t>
            </a:r>
            <a:r>
              <a:rPr lang="zh-CN" altLang="en-US">
                <a:latin typeface="Arial" panose="020B0604020202020204" pitchFamily="34" charset="0"/>
                <a:ea typeface="宋体" panose="02010600030101010101" pitchFamily="2" charset="-122"/>
              </a:rPr>
              <a:t>亿元，年利率为</a:t>
            </a:r>
            <a:r>
              <a:rPr lang="en-US" altLang="zh-CN">
                <a:latin typeface="Arial" panose="020B0604020202020204" pitchFamily="34" charset="0"/>
                <a:ea typeface="宋体" panose="02010600030101010101" pitchFamily="2" charset="-122"/>
              </a:rPr>
              <a:t>9.35</a:t>
            </a:r>
            <a:r>
              <a:rPr lang="zh-CN" altLang="en-US">
                <a:latin typeface="Arial" panose="020B0604020202020204" pitchFamily="34" charset="0"/>
                <a:ea typeface="宋体" panose="02010600030101010101" pitchFamily="2" charset="-122"/>
              </a:rPr>
              <a:t>％；国外商业银行贷款</a:t>
            </a:r>
            <a:r>
              <a:rPr lang="en-US" altLang="zh-CN">
                <a:latin typeface="Arial" panose="020B0604020202020204" pitchFamily="34" charset="0"/>
                <a:ea typeface="宋体" panose="02010600030101010101" pitchFamily="2" charset="-122"/>
              </a:rPr>
              <a:t>114.4</a:t>
            </a:r>
            <a:r>
              <a:rPr lang="zh-CN" altLang="en-US">
                <a:latin typeface="Arial" panose="020B0604020202020204" pitchFamily="34" charset="0"/>
                <a:ea typeface="宋体" panose="02010600030101010101" pitchFamily="2" charset="-122"/>
              </a:rPr>
              <a:t>亿元，年利率为</a:t>
            </a:r>
            <a:r>
              <a:rPr lang="en-US" altLang="zh-CN">
                <a:latin typeface="Arial" panose="020B0604020202020204" pitchFamily="34" charset="0"/>
                <a:ea typeface="宋体" panose="02010600030101010101" pitchFamily="2" charset="-122"/>
              </a:rPr>
              <a:t>8.5</a:t>
            </a:r>
            <a:r>
              <a:rPr lang="zh-CN" altLang="en-US">
                <a:latin typeface="Arial" panose="020B0604020202020204" pitchFamily="34" charset="0"/>
                <a:ea typeface="宋体" panose="02010600030101010101" pitchFamily="2" charset="-122"/>
              </a:rPr>
              <a:t>％；机电设备可用出口信贷</a:t>
            </a:r>
            <a:r>
              <a:rPr lang="en-US" altLang="zh-CN">
                <a:latin typeface="Arial" panose="020B0604020202020204" pitchFamily="34" charset="0"/>
                <a:ea typeface="宋体" panose="02010600030101010101" pitchFamily="2" charset="-122"/>
              </a:rPr>
              <a:t>34.3</a:t>
            </a:r>
            <a:r>
              <a:rPr lang="zh-CN" altLang="en-US">
                <a:latin typeface="Arial" panose="020B0604020202020204" pitchFamily="34" charset="0"/>
                <a:ea typeface="宋体" panose="02010600030101010101" pitchFamily="2" charset="-122"/>
              </a:rPr>
              <a:t>亿元，年利率为</a:t>
            </a:r>
            <a:r>
              <a:rPr lang="en-US" altLang="zh-CN">
                <a:latin typeface="Arial" panose="020B0604020202020204" pitchFamily="34" charset="0"/>
                <a:ea typeface="宋体" panose="02010600030101010101" pitchFamily="2" charset="-122"/>
              </a:rPr>
              <a:t>6</a:t>
            </a:r>
            <a:r>
              <a:rPr lang="zh-CN" altLang="en-US">
                <a:latin typeface="Arial" panose="020B0604020202020204" pitchFamily="34" charset="0"/>
                <a:ea typeface="宋体" panose="02010600030101010101" pitchFamily="2" charset="-122"/>
              </a:rPr>
              <a:t>％。</a:t>
            </a:r>
            <a:endParaRPr lang="zh-CN" altLang="en-US">
              <a:latin typeface="Arial" panose="020B0604020202020204" pitchFamily="34" charset="0"/>
              <a:ea typeface="宋体" panose="02010600030101010101" pitchFamily="2"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资金流出</a:t>
            </a:r>
            <a:endParaRPr lang="zh-CN" altLang="en-US" sz="3200">
              <a:latin typeface="Arial" panose="020B0604020202020204" pitchFamily="34" charset="0"/>
              <a:ea typeface="楷体_GB2312" charset="0"/>
              <a:cs typeface="楷体_GB2312" charset="0"/>
            </a:endParaRPr>
          </a:p>
        </p:txBody>
      </p:sp>
      <p:graphicFrame>
        <p:nvGraphicFramePr>
          <p:cNvPr id="16387" name="Object 4"/>
          <p:cNvGraphicFramePr>
            <a:graphicFrameLocks noGrp="1" noChangeAspect="1"/>
          </p:cNvGraphicFramePr>
          <p:nvPr>
            <p:ph idx="1"/>
          </p:nvPr>
        </p:nvGraphicFramePr>
        <p:xfrm>
          <a:off x="330200" y="1096963"/>
          <a:ext cx="8483600" cy="5641975"/>
        </p:xfrm>
        <a:graphic>
          <a:graphicData uri="http://schemas.openxmlformats.org/presentationml/2006/ole">
            <mc:AlternateContent xmlns:mc="http://schemas.openxmlformats.org/markup-compatibility/2006">
              <mc:Choice xmlns:v="urn:schemas-microsoft-com:vml" Requires="v">
                <p:oleObj spid="_x0000_s16391" name="文档" r:id="rId1" imgW="8484235" imgH="5641975" progId="Word.Document.8">
                  <p:embed/>
                </p:oleObj>
              </mc:Choice>
              <mc:Fallback>
                <p:oleObj name="文档" r:id="rId1" imgW="8484235" imgH="5641975" progId="Word.Documen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 y="1096963"/>
                        <a:ext cx="8483600" cy="5641975"/>
                      </a:xfrm>
                      <a:prstGeom prst="rect">
                        <a:avLst/>
                      </a:prstGeom>
                      <a:noFill/>
                      <a:ln>
                        <a:noFill/>
                      </a:ln>
                      <a:effectLst/>
                    </p:spPr>
                  </p:pic>
                </p:oleObj>
              </mc:Fallback>
            </mc:AlternateContent>
          </a:graphicData>
        </a:graphic>
      </p:graphicFrame>
      <p:sp>
        <p:nvSpPr>
          <p:cNvPr id="16388" name="矩形 3"/>
          <p:cNvSpPr>
            <a:spLocks noChangeArrowheads="1"/>
          </p:cNvSpPr>
          <p:nvPr/>
        </p:nvSpPr>
        <p:spPr bwMode="auto">
          <a:xfrm>
            <a:off x="0" y="6032500"/>
            <a:ext cx="9144000" cy="479425"/>
          </a:xfrm>
          <a:prstGeom prst="rect">
            <a:avLst/>
          </a:prstGeom>
          <a:noFill/>
          <a:ln>
            <a:noFill/>
          </a:ln>
        </p:spPr>
        <p:txBody>
          <a:bodyPr>
            <a:spAutoFit/>
          </a:bodyPr>
          <a:lstStyle/>
          <a:p>
            <a:pPr eaLnBrk="1" hangingPunct="1">
              <a:lnSpc>
                <a:spcPct val="90000"/>
              </a:lnSpc>
              <a:spcBef>
                <a:spcPct val="50000"/>
              </a:spcBef>
            </a:pPr>
            <a:r>
              <a:rPr lang="zh-CN" altLang="en-US" sz="2800">
                <a:solidFill>
                  <a:srgbClr val="000066"/>
                </a:solidFill>
                <a:latin typeface="楷体_GB2312" charset="0"/>
              </a:rPr>
              <a:t>动态管理：考虑价差和利息，实际动态总投资</a:t>
            </a:r>
            <a:r>
              <a:rPr lang="en-US" altLang="zh-CN" sz="2800">
                <a:solidFill>
                  <a:srgbClr val="000066"/>
                </a:solidFill>
                <a:latin typeface="楷体_GB2312" charset="0"/>
              </a:rPr>
              <a:t>1731</a:t>
            </a:r>
            <a:r>
              <a:rPr lang="zh-CN" altLang="en-US" sz="2800">
                <a:solidFill>
                  <a:srgbClr val="000066"/>
                </a:solidFill>
                <a:latin typeface="楷体_GB2312" charset="0"/>
              </a:rPr>
              <a:t>亿元</a:t>
            </a:r>
            <a:endParaRPr lang="zh-CN" altLang="en-US" sz="2800">
              <a:solidFill>
                <a:srgbClr val="000066"/>
              </a:solidFill>
              <a:latin typeface="楷体_GB2312"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资金流入</a:t>
            </a:r>
            <a:endParaRPr lang="zh-CN" altLang="en-US" sz="3200">
              <a:latin typeface="Arial" panose="020B0604020202020204" pitchFamily="34" charset="0"/>
              <a:ea typeface="楷体_GB2312" charset="0"/>
              <a:cs typeface="楷体_GB2312" charset="0"/>
            </a:endParaRPr>
          </a:p>
        </p:txBody>
      </p:sp>
      <p:sp>
        <p:nvSpPr>
          <p:cNvPr id="17411" name="Rectangle 3"/>
          <p:cNvSpPr>
            <a:spLocks noGrp="1" noChangeArrowheads="1"/>
          </p:cNvSpPr>
          <p:nvPr>
            <p:ph type="body" idx="1"/>
          </p:nvPr>
        </p:nvSpPr>
        <p:spPr/>
        <p:txBody>
          <a:bodyPr/>
          <a:lstStyle/>
          <a:p>
            <a:pPr eaLnBrk="1" hangingPunct="1">
              <a:lnSpc>
                <a:spcPct val="90000"/>
              </a:lnSpc>
              <a:buFontTx/>
              <a:buNone/>
            </a:pPr>
            <a:r>
              <a:rPr lang="zh-CN" altLang="en-US" sz="2800">
                <a:latin typeface="Arial" panose="020B0604020202020204" pitchFamily="34" charset="0"/>
                <a:ea typeface="宋体" panose="02010600030101010101" pitchFamily="2" charset="-122"/>
              </a:rPr>
              <a:t>（</a:t>
            </a:r>
            <a:r>
              <a:rPr lang="en-US" altLang="zh-CN" sz="2800">
                <a:latin typeface="Arial" panose="020B0604020202020204" pitchFamily="34" charset="0"/>
                <a:ea typeface="宋体" panose="02010600030101010101" pitchFamily="2" charset="-122"/>
              </a:rPr>
              <a:t>1</a:t>
            </a:r>
            <a:r>
              <a:rPr lang="zh-CN" altLang="en-US" sz="2800">
                <a:latin typeface="Arial" panose="020B0604020202020204" pitchFamily="34" charset="0"/>
                <a:ea typeface="宋体" panose="02010600030101010101" pitchFamily="2" charset="-122"/>
              </a:rPr>
              <a:t>）国家建设基金。</a:t>
            </a:r>
            <a:r>
              <a:rPr lang="en-US" altLang="zh-CN" sz="2800">
                <a:latin typeface="Arial" panose="020B0604020202020204" pitchFamily="34" charset="0"/>
                <a:ea typeface="宋体" panose="02010600030101010101" pitchFamily="2" charset="-122"/>
              </a:rPr>
              <a:t>1993</a:t>
            </a:r>
            <a:r>
              <a:rPr lang="zh-CN" altLang="en-US" sz="2800">
                <a:latin typeface="Arial" panose="020B0604020202020204" pitchFamily="34" charset="0"/>
                <a:ea typeface="宋体" panose="02010600030101010101" pitchFamily="2" charset="-122"/>
              </a:rPr>
              <a:t>年全国发电量为</a:t>
            </a:r>
            <a:r>
              <a:rPr lang="en-US" altLang="zh-CN" sz="2800">
                <a:latin typeface="Arial" panose="020B0604020202020204" pitchFamily="34" charset="0"/>
                <a:ea typeface="宋体" panose="02010600030101010101" pitchFamily="2" charset="-122"/>
              </a:rPr>
              <a:t>8200</a:t>
            </a:r>
            <a:r>
              <a:rPr lang="zh-CN" altLang="en-US" sz="2800">
                <a:latin typeface="Arial" panose="020B0604020202020204" pitchFamily="34" charset="0"/>
                <a:ea typeface="宋体" panose="02010600030101010101" pitchFamily="2" charset="-122"/>
              </a:rPr>
              <a:t>亿千瓦时，建设基金按总发电量的</a:t>
            </a:r>
            <a:r>
              <a:rPr lang="en-US" altLang="zh-CN" sz="2800">
                <a:latin typeface="Arial" panose="020B0604020202020204" pitchFamily="34" charset="0"/>
                <a:ea typeface="宋体" panose="02010600030101010101" pitchFamily="2" charset="-122"/>
              </a:rPr>
              <a:t>67%</a:t>
            </a:r>
            <a:r>
              <a:rPr lang="zh-CN" altLang="en-US" sz="2800">
                <a:latin typeface="Arial" panose="020B0604020202020204" pitchFamily="34" charset="0"/>
                <a:ea typeface="宋体" panose="02010600030101010101" pitchFamily="2" charset="-122"/>
              </a:rPr>
              <a:t>征收，并考虑</a:t>
            </a:r>
            <a:r>
              <a:rPr lang="en-US" altLang="zh-CN" sz="2800">
                <a:latin typeface="Arial" panose="020B0604020202020204" pitchFamily="34" charset="0"/>
                <a:ea typeface="宋体" panose="02010600030101010101" pitchFamily="2" charset="-122"/>
              </a:rPr>
              <a:t>8%</a:t>
            </a:r>
            <a:r>
              <a:rPr lang="zh-CN" altLang="en-US" sz="2800">
                <a:latin typeface="Arial" panose="020B0604020202020204" pitchFamily="34" charset="0"/>
                <a:ea typeface="宋体" panose="02010600030101010101" pitchFamily="2" charset="-122"/>
              </a:rPr>
              <a:t>的年递增率，每度电的加价为</a:t>
            </a:r>
            <a:r>
              <a:rPr lang="en-US" altLang="zh-CN" sz="2800">
                <a:latin typeface="Arial" panose="020B0604020202020204" pitchFamily="34" charset="0"/>
                <a:ea typeface="宋体" panose="02010600030101010101" pitchFamily="2" charset="-122"/>
              </a:rPr>
              <a:t>0.55</a:t>
            </a:r>
            <a:r>
              <a:rPr lang="zh-CN" altLang="en-US" sz="2800">
                <a:latin typeface="Arial" panose="020B0604020202020204" pitchFamily="34" charset="0"/>
                <a:ea typeface="宋体" panose="02010600030101010101" pitchFamily="2" charset="-122"/>
              </a:rPr>
              <a:t>分。</a:t>
            </a:r>
            <a:endParaRPr lang="zh-CN" altLang="en-US" sz="2800">
              <a:latin typeface="Arial" panose="020B0604020202020204" pitchFamily="34" charset="0"/>
              <a:ea typeface="宋体" panose="02010600030101010101" pitchFamily="2" charset="-122"/>
            </a:endParaRPr>
          </a:p>
          <a:p>
            <a:pPr eaLnBrk="1" hangingPunct="1">
              <a:lnSpc>
                <a:spcPct val="90000"/>
              </a:lnSpc>
              <a:buFontTx/>
              <a:buNone/>
            </a:pPr>
            <a:r>
              <a:rPr lang="zh-CN" altLang="en-US" sz="2800">
                <a:latin typeface="Arial" panose="020B0604020202020204" pitchFamily="34" charset="0"/>
                <a:ea typeface="宋体" panose="02010600030101010101" pitchFamily="2" charset="-122"/>
              </a:rPr>
              <a:t>（</a:t>
            </a:r>
            <a:r>
              <a:rPr lang="en-US" altLang="zh-CN" sz="2800">
                <a:latin typeface="Arial" panose="020B0604020202020204" pitchFamily="34" charset="0"/>
                <a:ea typeface="宋体" panose="02010600030101010101" pitchFamily="2" charset="-122"/>
              </a:rPr>
              <a:t>2</a:t>
            </a:r>
            <a:r>
              <a:rPr lang="zh-CN" altLang="en-US" sz="2800">
                <a:latin typeface="Arial" panose="020B0604020202020204" pitchFamily="34" charset="0"/>
                <a:ea typeface="宋体" panose="02010600030101010101" pitchFamily="2" charset="-122"/>
              </a:rPr>
              <a:t>）葛洲坝电厂收入。葛洲坝水利枢纽工程的年平均发电量达到</a:t>
            </a:r>
            <a:r>
              <a:rPr lang="en-US" altLang="zh-CN" sz="2800">
                <a:latin typeface="Arial" panose="020B0604020202020204" pitchFamily="34" charset="0"/>
                <a:ea typeface="宋体" panose="02010600030101010101" pitchFamily="2" charset="-122"/>
              </a:rPr>
              <a:t>157</a:t>
            </a:r>
            <a:r>
              <a:rPr lang="zh-CN" altLang="en-US" sz="2800">
                <a:latin typeface="Arial" panose="020B0604020202020204" pitchFamily="34" charset="0"/>
                <a:ea typeface="宋体" panose="02010600030101010101" pitchFamily="2" charset="-122"/>
              </a:rPr>
              <a:t>亿千瓦时，原电价为</a:t>
            </a:r>
            <a:r>
              <a:rPr lang="en-US" altLang="zh-CN" sz="2800">
                <a:latin typeface="Arial" panose="020B0604020202020204" pitchFamily="34" charset="0"/>
                <a:ea typeface="宋体" panose="02010600030101010101" pitchFamily="2" charset="-122"/>
              </a:rPr>
              <a:t>3.9</a:t>
            </a:r>
            <a:r>
              <a:rPr lang="zh-CN" altLang="en-US" sz="2800">
                <a:latin typeface="Arial" panose="020B0604020202020204" pitchFamily="34" charset="0"/>
                <a:ea typeface="宋体" panose="02010600030101010101" pitchFamily="2" charset="-122"/>
              </a:rPr>
              <a:t>分／千瓦时，从</a:t>
            </a:r>
            <a:r>
              <a:rPr lang="en-US" altLang="zh-CN" sz="2800">
                <a:latin typeface="Arial" panose="020B0604020202020204" pitchFamily="34" charset="0"/>
                <a:ea typeface="宋体" panose="02010600030101010101" pitchFamily="2" charset="-122"/>
              </a:rPr>
              <a:t>1993</a:t>
            </a:r>
            <a:r>
              <a:rPr lang="zh-CN" altLang="en-US" sz="2800">
                <a:latin typeface="Arial" panose="020B0604020202020204" pitchFamily="34" charset="0"/>
                <a:ea typeface="宋体" panose="02010600030101010101" pitchFamily="2" charset="-122"/>
              </a:rPr>
              <a:t>年起，上网电价每年提高</a:t>
            </a:r>
            <a:r>
              <a:rPr lang="en-US" altLang="zh-CN" sz="2800">
                <a:latin typeface="Arial" panose="020B0604020202020204" pitchFamily="34" charset="0"/>
                <a:ea typeface="宋体" panose="02010600030101010101" pitchFamily="2" charset="-122"/>
              </a:rPr>
              <a:t>1</a:t>
            </a:r>
            <a:r>
              <a:rPr lang="zh-CN" altLang="en-US" sz="2800">
                <a:latin typeface="Arial" panose="020B0604020202020204" pitchFamily="34" charset="0"/>
                <a:ea typeface="宋体" panose="02010600030101010101" pitchFamily="2" charset="-122"/>
              </a:rPr>
              <a:t>分。</a:t>
            </a:r>
            <a:endParaRPr lang="zh-CN" altLang="en-US" sz="2800">
              <a:latin typeface="Arial" panose="020B0604020202020204" pitchFamily="34" charset="0"/>
              <a:ea typeface="宋体" panose="02010600030101010101" pitchFamily="2" charset="-122"/>
            </a:endParaRPr>
          </a:p>
          <a:p>
            <a:pPr eaLnBrk="1" hangingPunct="1">
              <a:lnSpc>
                <a:spcPct val="90000"/>
              </a:lnSpc>
              <a:buFontTx/>
              <a:buNone/>
            </a:pPr>
            <a:r>
              <a:rPr lang="zh-CN" altLang="en-US" sz="2800">
                <a:latin typeface="Arial" panose="020B0604020202020204" pitchFamily="34" charset="0"/>
                <a:ea typeface="宋体" panose="02010600030101010101" pitchFamily="2" charset="-122"/>
              </a:rPr>
              <a:t>（</a:t>
            </a:r>
            <a:r>
              <a:rPr lang="en-US" altLang="zh-CN" sz="2800">
                <a:latin typeface="Arial" panose="020B0604020202020204" pitchFamily="34" charset="0"/>
                <a:ea typeface="宋体" panose="02010600030101010101" pitchFamily="2" charset="-122"/>
              </a:rPr>
              <a:t>3</a:t>
            </a:r>
            <a:r>
              <a:rPr lang="zh-CN" altLang="en-US" sz="2800">
                <a:latin typeface="Arial" panose="020B0604020202020204" pitchFamily="34" charset="0"/>
                <a:ea typeface="宋体" panose="02010600030101010101" pitchFamily="2" charset="-122"/>
              </a:rPr>
              <a:t>）三峡电厂发电收入。</a:t>
            </a:r>
            <a:r>
              <a:rPr lang="en-US" altLang="zh-CN" sz="2800">
                <a:latin typeface="Arial" panose="020B0604020202020204" pitchFamily="34" charset="0"/>
                <a:ea typeface="宋体" panose="02010600030101010101" pitchFamily="2" charset="-122"/>
              </a:rPr>
              <a:t>2009</a:t>
            </a:r>
            <a:r>
              <a:rPr lang="zh-CN" altLang="en-US" sz="2800">
                <a:latin typeface="Arial" panose="020B0604020202020204" pitchFamily="34" charset="0"/>
                <a:ea typeface="宋体" panose="02010600030101010101" pitchFamily="2" charset="-122"/>
              </a:rPr>
              <a:t>年全部机电组投入运行后，三峡水电站的年平均发电量</a:t>
            </a:r>
            <a:r>
              <a:rPr lang="en-US" altLang="zh-CN" sz="2800">
                <a:latin typeface="Arial" panose="020B0604020202020204" pitchFamily="34" charset="0"/>
                <a:ea typeface="宋体" panose="02010600030101010101" pitchFamily="2" charset="-122"/>
              </a:rPr>
              <a:t>846.8</a:t>
            </a:r>
            <a:r>
              <a:rPr lang="zh-CN" altLang="en-US" sz="2800">
                <a:latin typeface="Arial" panose="020B0604020202020204" pitchFamily="34" charset="0"/>
                <a:ea typeface="宋体" panose="02010600030101010101" pitchFamily="2" charset="-122"/>
              </a:rPr>
              <a:t>亿千瓦时；三峡水电站的平均上网电价为</a:t>
            </a:r>
            <a:r>
              <a:rPr lang="en-US" altLang="zh-CN" sz="2800">
                <a:latin typeface="Arial" panose="020B0604020202020204" pitchFamily="34" charset="0"/>
                <a:ea typeface="宋体" panose="02010600030101010101" pitchFamily="2" charset="-122"/>
              </a:rPr>
              <a:t>0.25</a:t>
            </a:r>
            <a:r>
              <a:rPr lang="zh-CN" altLang="en-US" sz="2800">
                <a:latin typeface="Arial" panose="020B0604020202020204" pitchFamily="34" charset="0"/>
                <a:ea typeface="宋体" panose="02010600030101010101" pitchFamily="2" charset="-122"/>
              </a:rPr>
              <a:t>元。</a:t>
            </a:r>
            <a:endParaRPr lang="en-US" altLang="zh-CN" sz="2800">
              <a:latin typeface="Arial" panose="020B0604020202020204" pitchFamily="34" charset="0"/>
              <a:ea typeface="宋体" panose="02010600030101010101" pitchFamily="2" charset="-122"/>
            </a:endParaRPr>
          </a:p>
          <a:p>
            <a:pPr eaLnBrk="1" hangingPunct="1">
              <a:lnSpc>
                <a:spcPct val="90000"/>
              </a:lnSpc>
              <a:buFontTx/>
              <a:buNone/>
            </a:pPr>
            <a:r>
              <a:rPr lang="en-US" altLang="zh-CN" sz="2800">
                <a:latin typeface="Arial" panose="020B0604020202020204" pitchFamily="34" charset="0"/>
                <a:ea typeface="宋体" panose="02010600030101010101" pitchFamily="2" charset="-122"/>
              </a:rPr>
              <a:t> </a:t>
            </a:r>
            <a:r>
              <a:rPr lang="zh-CN" altLang="en-US" sz="2800">
                <a:latin typeface="Arial" panose="020B0604020202020204" pitchFamily="34" charset="0"/>
                <a:ea typeface="宋体" panose="02010600030101010101" pitchFamily="2" charset="-122"/>
              </a:rPr>
              <a:t>（</a:t>
            </a:r>
            <a:r>
              <a:rPr lang="en-US" altLang="zh-CN" sz="2800">
                <a:latin typeface="Arial" panose="020B0604020202020204" pitchFamily="34" charset="0"/>
                <a:ea typeface="宋体" panose="02010600030101010101" pitchFamily="2" charset="-122"/>
              </a:rPr>
              <a:t>4</a:t>
            </a:r>
            <a:r>
              <a:rPr lang="zh-CN" altLang="en-US" sz="2800">
                <a:latin typeface="Arial" panose="020B0604020202020204" pitchFamily="34" charset="0"/>
                <a:ea typeface="宋体" panose="02010600030101010101" pitchFamily="2" charset="-122"/>
              </a:rPr>
              <a:t>）三峡电站资本金内部收益率为</a:t>
            </a:r>
            <a:r>
              <a:rPr lang="en-US" altLang="zh-CN" sz="2800">
                <a:latin typeface="Arial" panose="020B0604020202020204" pitchFamily="34" charset="0"/>
                <a:ea typeface="宋体" panose="02010600030101010101" pitchFamily="2" charset="-122"/>
              </a:rPr>
              <a:t>8.47%</a:t>
            </a:r>
            <a:r>
              <a:rPr lang="zh-CN" altLang="en-US" sz="2800">
                <a:latin typeface="Arial" panose="020B0604020202020204" pitchFamily="34" charset="0"/>
                <a:ea typeface="宋体" panose="02010600030101010101" pitchFamily="2" charset="-122"/>
              </a:rPr>
              <a:t>，每年可实现税后利润约</a:t>
            </a:r>
            <a:r>
              <a:rPr lang="en-US" altLang="zh-CN" sz="2800">
                <a:latin typeface="Arial" panose="020B0604020202020204" pitchFamily="34" charset="0"/>
                <a:ea typeface="宋体" panose="02010600030101010101" pitchFamily="2" charset="-122"/>
              </a:rPr>
              <a:t>50</a:t>
            </a:r>
            <a:r>
              <a:rPr lang="zh-CN" altLang="en-US" sz="2800">
                <a:latin typeface="Arial" panose="020B0604020202020204" pitchFamily="34" charset="0"/>
                <a:ea typeface="宋体" panose="02010600030101010101" pitchFamily="2" charset="-122"/>
              </a:rPr>
              <a:t>亿元。</a:t>
            </a:r>
            <a:endParaRPr lang="zh-CN" altLang="en-US" sz="2800">
              <a:latin typeface="Arial" panose="020B0604020202020204" pitchFamily="34" charset="0"/>
              <a:ea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0" y="0"/>
            <a:ext cx="9144000" cy="981075"/>
          </a:xfrm>
          <a:prstGeom prst="rect">
            <a:avLst/>
          </a:prstGeom>
          <a:solidFill>
            <a:srgbClr val="003366">
              <a:alpha val="70195"/>
            </a:srgbClr>
          </a:solidFill>
          <a:ln>
            <a:noFill/>
          </a:ln>
        </p:spPr>
        <p:txBody>
          <a:bodyPr wrap="none" anchor="ctr"/>
          <a:lstStyle/>
          <a:p>
            <a:pPr eaLnBrk="1" hangingPunct="1">
              <a:lnSpc>
                <a:spcPct val="90000"/>
              </a:lnSpc>
              <a:spcBef>
                <a:spcPct val="50000"/>
              </a:spcBef>
              <a:buFontTx/>
              <a:buChar char="•"/>
            </a:pPr>
            <a:endParaRPr lang="zh-CN" altLang="en-US"/>
          </a:p>
        </p:txBody>
      </p:sp>
      <p:sp>
        <p:nvSpPr>
          <p:cNvPr id="3" name="Rectangle 3"/>
          <p:cNvSpPr txBox="1">
            <a:spLocks noChangeArrowheads="1"/>
          </p:cNvSpPr>
          <p:nvPr/>
        </p:nvSpPr>
        <p:spPr>
          <a:xfrm>
            <a:off x="827088" y="0"/>
            <a:ext cx="8316912" cy="981075"/>
          </a:xfrm>
          <a:prstGeom prst="rect">
            <a:avLst/>
          </a:prstGeom>
        </p:spPr>
        <p:txBody>
          <a:bodyPr/>
          <a:lstStyle>
            <a:lvl1pPr>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r>
              <a:rPr lang="zh-CN" altLang="en-US" sz="3600">
                <a:solidFill>
                  <a:srgbClr val="990000"/>
                </a:solidFill>
                <a:latin typeface="华文新魏" panose="02010800040101010101" charset="-122"/>
                <a:ea typeface="华文新魏" panose="02010800040101010101" charset="-122"/>
              </a:rPr>
              <a:t>投资收回 </a:t>
            </a:r>
            <a:r>
              <a:rPr lang="en-US" altLang="zh-CN" sz="3600">
                <a:solidFill>
                  <a:srgbClr val="990000"/>
                </a:solidFill>
                <a:ea typeface="华文新魏" panose="02010800040101010101" charset="-122"/>
              </a:rPr>
              <a:t>Investment Recovery:</a:t>
            </a:r>
            <a:endParaRPr lang="en-US" altLang="zh-CN" sz="3600">
              <a:solidFill>
                <a:srgbClr val="990000"/>
              </a:solidFill>
              <a:ea typeface="华文新魏" panose="02010800040101010101" charset="-122"/>
            </a:endParaRPr>
          </a:p>
        </p:txBody>
      </p:sp>
      <p:graphicFrame>
        <p:nvGraphicFramePr>
          <p:cNvPr id="18436" name="Object 5"/>
          <p:cNvGraphicFramePr>
            <a:graphicFrameLocks noChangeAspect="1"/>
          </p:cNvGraphicFramePr>
          <p:nvPr/>
        </p:nvGraphicFramePr>
        <p:xfrm>
          <a:off x="755650" y="2997200"/>
          <a:ext cx="7596188" cy="2949575"/>
        </p:xfrm>
        <a:graphic>
          <a:graphicData uri="http://schemas.openxmlformats.org/presentationml/2006/ole">
            <mc:AlternateContent xmlns:mc="http://schemas.openxmlformats.org/markup-compatibility/2006">
              <mc:Choice xmlns:v="urn:schemas-microsoft-com:vml" Requires="v">
                <p:oleObj spid="_x0000_s18440" name="工作表" r:id="rId1" imgW="4865370" imgH="1896745" progId="Excel.Sheet.8">
                  <p:embed/>
                </p:oleObj>
              </mc:Choice>
              <mc:Fallback>
                <p:oleObj name="工作表" r:id="rId1" imgW="4865370" imgH="1896745" progId="Excel.Sheet.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l="5045" t="3511" r="19624" b="15733"/>
                      <a:stretch>
                        <a:fillRect/>
                      </a:stretch>
                    </p:blipFill>
                    <p:spPr bwMode="auto">
                      <a:xfrm>
                        <a:off x="755650" y="2997200"/>
                        <a:ext cx="7596188" cy="2949575"/>
                      </a:xfrm>
                      <a:prstGeom prst="rect">
                        <a:avLst/>
                      </a:prstGeom>
                      <a:noFill/>
                      <a:ln>
                        <a:noFill/>
                      </a:ln>
                    </p:spPr>
                  </p:pic>
                </p:oleObj>
              </mc:Fallback>
            </mc:AlternateContent>
          </a:graphicData>
        </a:graphic>
      </p:graphicFrame>
      <p:sp>
        <p:nvSpPr>
          <p:cNvPr id="18437" name="Text Box 7"/>
          <p:cNvSpPr txBox="1">
            <a:spLocks noChangeArrowheads="1"/>
          </p:cNvSpPr>
          <p:nvPr/>
        </p:nvSpPr>
        <p:spPr bwMode="auto">
          <a:xfrm>
            <a:off x="900113" y="1196975"/>
            <a:ext cx="7345362" cy="142240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r>
              <a:rPr lang="en-US" altLang="zh-CN">
                <a:solidFill>
                  <a:srgbClr val="000068"/>
                </a:solidFill>
                <a:latin typeface="楷体_GB2312" charset="0"/>
                <a:ea typeface="楷体_GB2312" charset="0"/>
                <a:cs typeface="楷体_GB2312" charset="0"/>
              </a:rPr>
              <a:t>2005</a:t>
            </a:r>
            <a:r>
              <a:rPr lang="zh-CN" altLang="en-US">
                <a:solidFill>
                  <a:srgbClr val="000068"/>
                </a:solidFill>
                <a:latin typeface="楷体_GB2312" charset="0"/>
                <a:ea typeface="楷体_GB2312" charset="0"/>
                <a:cs typeface="楷体_GB2312" charset="0"/>
              </a:rPr>
              <a:t>年实现资金平衡。预计累计发电量达到</a:t>
            </a:r>
            <a:r>
              <a:rPr lang="en-US" altLang="zh-CN">
                <a:solidFill>
                  <a:srgbClr val="000068"/>
                </a:solidFill>
                <a:latin typeface="楷体_GB2312" charset="0"/>
                <a:ea typeface="楷体_GB2312" charset="0"/>
                <a:cs typeface="楷体_GB2312" charset="0"/>
              </a:rPr>
              <a:t>1</a:t>
            </a:r>
            <a:r>
              <a:rPr lang="zh-CN" altLang="en-US">
                <a:solidFill>
                  <a:srgbClr val="000068"/>
                </a:solidFill>
                <a:latin typeface="楷体_GB2312" charset="0"/>
                <a:ea typeface="楷体_GB2312" charset="0"/>
                <a:cs typeface="楷体_GB2312" charset="0"/>
              </a:rPr>
              <a:t>万亿度时，三峡工程的投资将基本收回（</a:t>
            </a:r>
            <a:r>
              <a:rPr lang="en-US" altLang="zh-CN">
                <a:solidFill>
                  <a:srgbClr val="000068"/>
                </a:solidFill>
                <a:latin typeface="楷体_GB2312" charset="0"/>
                <a:ea typeface="楷体_GB2312" charset="0"/>
                <a:cs typeface="楷体_GB2312" charset="0"/>
              </a:rPr>
              <a:t>2015</a:t>
            </a:r>
            <a:r>
              <a:rPr lang="zh-CN" altLang="en-US">
                <a:solidFill>
                  <a:srgbClr val="000068"/>
                </a:solidFill>
                <a:latin typeface="楷体_GB2312" charset="0"/>
                <a:ea typeface="楷体_GB2312" charset="0"/>
                <a:cs typeface="楷体_GB2312" charset="0"/>
              </a:rPr>
              <a:t>年到</a:t>
            </a:r>
            <a:r>
              <a:rPr lang="en-US" altLang="zh-CN">
                <a:solidFill>
                  <a:srgbClr val="000068"/>
                </a:solidFill>
                <a:latin typeface="楷体_GB2312" charset="0"/>
                <a:ea typeface="楷体_GB2312" charset="0"/>
                <a:cs typeface="楷体_GB2312" charset="0"/>
              </a:rPr>
              <a:t>2017</a:t>
            </a:r>
            <a:r>
              <a:rPr lang="zh-CN" altLang="en-US">
                <a:solidFill>
                  <a:srgbClr val="000068"/>
                </a:solidFill>
                <a:latin typeface="楷体_GB2312" charset="0"/>
                <a:ea typeface="楷体_GB2312" charset="0"/>
                <a:cs typeface="楷体_GB2312" charset="0"/>
              </a:rPr>
              <a:t>年之间</a:t>
            </a:r>
            <a:r>
              <a:rPr lang="en-US" altLang="zh-CN">
                <a:solidFill>
                  <a:srgbClr val="000068"/>
                </a:solidFill>
                <a:latin typeface="楷体_GB2312" charset="0"/>
                <a:ea typeface="楷体_GB2312" charset="0"/>
                <a:cs typeface="楷体_GB2312" charset="0"/>
              </a:rPr>
              <a:t>)</a:t>
            </a:r>
            <a:r>
              <a:rPr lang="zh-CN" altLang="en-US">
                <a:solidFill>
                  <a:srgbClr val="000068"/>
                </a:solidFill>
                <a:latin typeface="楷体_GB2312" charset="0"/>
                <a:ea typeface="楷体_GB2312" charset="0"/>
                <a:cs typeface="楷体_GB2312" charset="0"/>
              </a:rPr>
              <a:t>。</a:t>
            </a:r>
            <a:endParaRPr lang="zh-CN" altLang="en-US">
              <a:solidFill>
                <a:srgbClr val="000068"/>
              </a:solidFill>
              <a:latin typeface="楷体_GB2312" charset="0"/>
              <a:ea typeface="楷体_GB2312" charset="0"/>
              <a:cs typeface="楷体_GB2312"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国民经济评价 </a:t>
            </a:r>
            <a:endParaRPr lang="zh-CN" altLang="en-US" sz="3200">
              <a:latin typeface="Arial" panose="020B0604020202020204" pitchFamily="34" charset="0"/>
              <a:ea typeface="楷体_GB2312" charset="0"/>
              <a:cs typeface="楷体_GB2312" charset="0"/>
            </a:endParaRPr>
          </a:p>
        </p:txBody>
      </p:sp>
      <p:sp>
        <p:nvSpPr>
          <p:cNvPr id="19459" name="Rectangle 3"/>
          <p:cNvSpPr>
            <a:spLocks noGrp="1" noChangeArrowheads="1"/>
          </p:cNvSpPr>
          <p:nvPr>
            <p:ph type="body" idx="1"/>
          </p:nvPr>
        </p:nvSpPr>
        <p:spPr/>
        <p:txBody>
          <a:bodyPr/>
          <a:lstStyle/>
          <a:p>
            <a:pPr eaLnBrk="1" hangingPunct="1">
              <a:buFontTx/>
              <a:buNone/>
            </a:pP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）对国家经济发展目标的影响</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根据</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国民经济宏观模型</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及其他模型分析结果，认为在工程发挥效益前的</a:t>
            </a:r>
            <a:r>
              <a:rPr lang="en-US" altLang="zh-CN">
                <a:latin typeface="Arial" panose="020B0604020202020204" pitchFamily="34" charset="0"/>
                <a:ea typeface="宋体" panose="02010600030101010101" pitchFamily="2" charset="-122"/>
              </a:rPr>
              <a:t>10</a:t>
            </a:r>
            <a:r>
              <a:rPr lang="zh-CN" altLang="en-US">
                <a:latin typeface="Arial" panose="020B0604020202020204" pitchFamily="34" charset="0"/>
                <a:ea typeface="宋体" panose="02010600030101010101" pitchFamily="2" charset="-122"/>
              </a:rPr>
              <a:t>年（</a:t>
            </a:r>
            <a:r>
              <a:rPr lang="en-US" altLang="zh-CN">
                <a:latin typeface="Arial" panose="020B0604020202020204" pitchFamily="34" charset="0"/>
                <a:ea typeface="宋体" panose="02010600030101010101" pitchFamily="2" charset="-122"/>
              </a:rPr>
              <a:t>1993</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2002</a:t>
            </a:r>
            <a:r>
              <a:rPr lang="zh-CN" altLang="en-US">
                <a:latin typeface="Arial" panose="020B0604020202020204" pitchFamily="34" charset="0"/>
                <a:ea typeface="宋体" panose="02010600030101010101" pitchFamily="2" charset="-122"/>
              </a:rPr>
              <a:t>年），只有投入，没有产出，对国民经济发展产生不利影响，对国民生产总值的不利影响程度在</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以内；</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工程建成后其巨大的综合效益对实现国家中长期经济发展目标十分有利，其有利程度在</a:t>
            </a: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以上。</a:t>
            </a:r>
            <a:endParaRPr lang="zh-CN" altLang="en-US">
              <a:latin typeface="Arial" panose="020B0604020202020204" pitchFamily="34" charset="0"/>
              <a:ea typeface="宋体" panose="02010600030101010101" pitchFamily="2"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a:t>
            </a:r>
            <a:r>
              <a:rPr lang="en-US" altLang="zh-CN" sz="3200">
                <a:latin typeface="Arial" panose="020B0604020202020204" pitchFamily="34" charset="0"/>
                <a:ea typeface="楷体_GB2312" charset="0"/>
                <a:cs typeface="楷体_GB2312" charset="0"/>
              </a:rPr>
              <a:t>2</a:t>
            </a:r>
            <a:r>
              <a:rPr lang="zh-CN" altLang="en-US" sz="3200">
                <a:latin typeface="Arial" panose="020B0604020202020204" pitchFamily="34" charset="0"/>
                <a:ea typeface="楷体_GB2312" charset="0"/>
                <a:cs typeface="楷体_GB2312" charset="0"/>
              </a:rPr>
              <a:t>）防洪、发电、航运等综合效益</a:t>
            </a:r>
            <a:endParaRPr lang="zh-CN" altLang="en-US" sz="3200">
              <a:latin typeface="Arial" panose="020B0604020202020204" pitchFamily="34" charset="0"/>
              <a:ea typeface="楷体_GB2312" charset="0"/>
              <a:cs typeface="楷体_GB2312" charset="0"/>
            </a:endParaRPr>
          </a:p>
        </p:txBody>
      </p:sp>
      <p:sp>
        <p:nvSpPr>
          <p:cNvPr id="20483"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三峡工程的建设，将减轻长江洪水对长江中下游地区的威胁，为中游地区的经济发展创造安全的环境；</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向华东、华中等地区提供大量电力，可缓解制约国民经济发展的缺电被动局面；</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可根本改善川江航运条件，促进三峡库区经济发展，从而使长江经济带布局更加合理有利。</a:t>
            </a:r>
            <a:endParaRPr lang="zh-CN" altLang="en-US">
              <a:latin typeface="Arial" panose="020B0604020202020204" pitchFamily="34" charset="0"/>
              <a:ea typeface="宋体" panose="0201060003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防洪</a:t>
            </a:r>
            <a:endParaRPr lang="zh-CN" altLang="en-US" sz="3200">
              <a:latin typeface="Arial" panose="020B0604020202020204" pitchFamily="34" charset="0"/>
              <a:ea typeface="楷体_GB2312" charset="0"/>
              <a:cs typeface="楷体_GB2312" charset="0"/>
            </a:endParaRPr>
          </a:p>
        </p:txBody>
      </p:sp>
      <p:sp>
        <p:nvSpPr>
          <p:cNvPr id="21507"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三峡水利枢纽是长江中下游防洪体系中的关键性骨干工程。其地理位置优越，可有效地控制长江上游洪水。</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经三峡水库调蓄，可使荆江河段防洪标准由现在的约十年一遇提高到百年一遇。</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遇千年一遇或类似于</a:t>
            </a:r>
            <a:r>
              <a:rPr lang="en-US" altLang="zh-CN">
                <a:latin typeface="Arial" panose="020B0604020202020204" pitchFamily="34" charset="0"/>
                <a:ea typeface="宋体" panose="02010600030101010101" pitchFamily="2" charset="-122"/>
              </a:rPr>
              <a:t>1870</a:t>
            </a:r>
            <a:r>
              <a:rPr lang="zh-CN" altLang="en-US">
                <a:latin typeface="Arial" panose="020B0604020202020204" pitchFamily="34" charset="0"/>
                <a:ea typeface="宋体" panose="02010600030101010101" pitchFamily="2" charset="-122"/>
              </a:rPr>
              <a:t>年曾发生过的特大洪水，可配合荆江分洪等分蓄洪工程的运用，防止荆江河段两岸发生干堤溃决的毁灭性灾害，减轻中下游洪灾损失和对武汉市的洪水威胁，并可为洞庭湖区的治理创造条件。</a:t>
            </a:r>
            <a:endParaRPr lang="zh-CN" altLang="en-US">
              <a:latin typeface="Arial" panose="020B0604020202020204" pitchFamily="34" charset="0"/>
              <a:ea typeface="宋体" panose="02010600030101010101"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9688" y="0"/>
            <a:ext cx="8229600" cy="1144588"/>
          </a:xfrm>
          <a:prstGeom prst="rect">
            <a:avLst/>
          </a:prstGeom>
        </p:spPr>
        <p:txBody>
          <a:bodyPr/>
          <a:lstStyle/>
          <a:p>
            <a:pPr eaLnBrk="1" hangingPunct="1">
              <a:defRPr/>
            </a:pPr>
            <a:r>
              <a:rPr lang="zh-CN" altLang="en-US" sz="3600" kern="0" dirty="0">
                <a:solidFill>
                  <a:srgbClr val="990000"/>
                </a:solidFill>
                <a:latin typeface="黑体" panose="02010609060101010101" pitchFamily="49" charset="-122"/>
                <a:ea typeface="黑体" panose="02010609060101010101" pitchFamily="49" charset="-122"/>
                <a:cs typeface="+mj-cs"/>
              </a:rPr>
              <a:t>防洪</a:t>
            </a:r>
            <a:endParaRPr lang="zh-CN" altLang="en-US" sz="3600" kern="0" dirty="0">
              <a:solidFill>
                <a:srgbClr val="990000"/>
              </a:solidFill>
              <a:latin typeface="黑体" panose="02010609060101010101" pitchFamily="49" charset="-122"/>
              <a:ea typeface="黑体" panose="02010609060101010101" pitchFamily="49" charset="-122"/>
              <a:cs typeface="+mj-cs"/>
            </a:endParaRPr>
          </a:p>
        </p:txBody>
      </p:sp>
      <p:sp>
        <p:nvSpPr>
          <p:cNvPr id="3" name="Rectangle 3"/>
          <p:cNvSpPr txBox="1">
            <a:spLocks noChangeArrowheads="1"/>
          </p:cNvSpPr>
          <p:nvPr/>
        </p:nvSpPr>
        <p:spPr>
          <a:xfrm>
            <a:off x="-101600" y="852488"/>
            <a:ext cx="9144000" cy="6191250"/>
          </a:xfrm>
          <a:prstGeom prst="rect">
            <a:avLst/>
          </a:prstGeom>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20000"/>
              </a:spcBef>
            </a:pPr>
            <a:r>
              <a:rPr lang="zh-CN" altLang="en-US" sz="2400" b="0">
                <a:solidFill>
                  <a:srgbClr val="000068"/>
                </a:solidFill>
                <a:ea typeface="宋体" panose="02010600030101010101" pitchFamily="2" charset="-122"/>
                <a:cs typeface="宋体" panose="02010600030101010101" pitchFamily="2" charset="-122"/>
              </a:rPr>
              <a:t>    枢纽建筑物按千年一遇洪水（</a:t>
            </a:r>
            <a:r>
              <a:rPr lang="en-US" altLang="zh-CN" sz="2400" b="0">
                <a:solidFill>
                  <a:srgbClr val="000068"/>
                </a:solidFill>
                <a:ea typeface="宋体" panose="02010600030101010101" pitchFamily="2" charset="-122"/>
                <a:cs typeface="宋体" panose="02010600030101010101" pitchFamily="2" charset="-122"/>
              </a:rPr>
              <a:t>Q=98800</a:t>
            </a:r>
            <a:r>
              <a:rPr lang="zh-CN" altLang="en-US" sz="2400" b="0">
                <a:solidFill>
                  <a:srgbClr val="000068"/>
                </a:solidFill>
                <a:ea typeface="宋体" panose="02010600030101010101" pitchFamily="2" charset="-122"/>
                <a:cs typeface="宋体" panose="02010600030101010101" pitchFamily="2" charset="-122"/>
              </a:rPr>
              <a:t>立方米</a:t>
            </a:r>
            <a:r>
              <a:rPr lang="en-US" altLang="zh-CN" sz="2400" b="0">
                <a:solidFill>
                  <a:srgbClr val="000068"/>
                </a:solidFill>
                <a:ea typeface="宋体" panose="02010600030101010101" pitchFamily="2" charset="-122"/>
                <a:cs typeface="宋体" panose="02010600030101010101" pitchFamily="2" charset="-122"/>
              </a:rPr>
              <a:t>/</a:t>
            </a:r>
            <a:r>
              <a:rPr lang="zh-CN" altLang="en-US" sz="2400" b="0">
                <a:solidFill>
                  <a:srgbClr val="000068"/>
                </a:solidFill>
                <a:ea typeface="宋体" panose="02010600030101010101" pitchFamily="2" charset="-122"/>
                <a:cs typeface="宋体" panose="02010600030101010101" pitchFamily="2" charset="-122"/>
              </a:rPr>
              <a:t>秒）设计，对应</a:t>
            </a:r>
            <a:r>
              <a:rPr lang="zh-CN" altLang="en-US" sz="2400" b="0">
                <a:solidFill>
                  <a:srgbClr val="000000"/>
                </a:solidFill>
                <a:ea typeface="宋体" panose="02010600030101010101" pitchFamily="2" charset="-122"/>
                <a:cs typeface="宋体" panose="02010600030101010101" pitchFamily="2" charset="-122"/>
              </a:rPr>
              <a:t>蓄水位</a:t>
            </a:r>
            <a:r>
              <a:rPr lang="en-US" altLang="zh-CN" sz="2400" b="0">
                <a:solidFill>
                  <a:srgbClr val="000000"/>
                </a:solidFill>
                <a:ea typeface="宋体" panose="02010600030101010101" pitchFamily="2" charset="-122"/>
                <a:cs typeface="宋体" panose="02010600030101010101" pitchFamily="2" charset="-122"/>
              </a:rPr>
              <a:t>175m</a:t>
            </a:r>
            <a:r>
              <a:rPr lang="zh-CN" altLang="en-US" sz="2400" b="0">
                <a:solidFill>
                  <a:srgbClr val="000000"/>
                </a:solidFill>
                <a:ea typeface="宋体" panose="02010600030101010101" pitchFamily="2" charset="-122"/>
                <a:cs typeface="宋体" panose="02010600030101010101" pitchFamily="2" charset="-122"/>
              </a:rPr>
              <a:t>，</a:t>
            </a:r>
            <a:r>
              <a:rPr lang="zh-CN" altLang="en-US" sz="2400" b="0">
                <a:solidFill>
                  <a:srgbClr val="000068"/>
                </a:solidFill>
                <a:ea typeface="宋体" panose="02010600030101010101" pitchFamily="2" charset="-122"/>
                <a:cs typeface="宋体" panose="02010600030101010101" pitchFamily="2" charset="-122"/>
              </a:rPr>
              <a:t>总库容</a:t>
            </a:r>
            <a:r>
              <a:rPr lang="en-US" altLang="zh-CN" sz="2400" b="0">
                <a:solidFill>
                  <a:srgbClr val="000068"/>
                </a:solidFill>
                <a:ea typeface="宋体" panose="02010600030101010101" pitchFamily="2" charset="-122"/>
                <a:cs typeface="宋体" panose="02010600030101010101" pitchFamily="2" charset="-122"/>
              </a:rPr>
              <a:t>393</a:t>
            </a:r>
            <a:r>
              <a:rPr lang="zh-CN" altLang="en-US" sz="2400" b="0">
                <a:solidFill>
                  <a:srgbClr val="000068"/>
                </a:solidFill>
                <a:ea typeface="宋体" panose="02010600030101010101" pitchFamily="2" charset="-122"/>
                <a:cs typeface="宋体" panose="02010600030101010101" pitchFamily="2" charset="-122"/>
              </a:rPr>
              <a:t>亿立方米</a:t>
            </a:r>
            <a:r>
              <a:rPr lang="zh-CN" altLang="en-US" sz="2400" b="0">
                <a:solidFill>
                  <a:srgbClr val="000000"/>
                </a:solidFill>
                <a:ea typeface="宋体" panose="02010600030101010101" pitchFamily="2" charset="-122"/>
                <a:cs typeface="宋体" panose="02010600030101010101" pitchFamily="2" charset="-122"/>
              </a:rPr>
              <a:t>；</a:t>
            </a:r>
            <a:r>
              <a:rPr lang="zh-CN" altLang="en-US" sz="2400" b="0">
                <a:solidFill>
                  <a:srgbClr val="000068"/>
                </a:solidFill>
                <a:ea typeface="宋体" panose="02010600030101010101" pitchFamily="2" charset="-122"/>
                <a:cs typeface="宋体" panose="02010600030101010101" pitchFamily="2" charset="-122"/>
              </a:rPr>
              <a:t>万年一遇洪水加</a:t>
            </a:r>
            <a:r>
              <a:rPr lang="en-US" altLang="zh-CN" sz="2400" b="0">
                <a:solidFill>
                  <a:srgbClr val="000068"/>
                </a:solidFill>
                <a:ea typeface="宋体" panose="02010600030101010101" pitchFamily="2" charset="-122"/>
                <a:cs typeface="宋体" panose="02010600030101010101" pitchFamily="2" charset="-122"/>
              </a:rPr>
              <a:t>10%</a:t>
            </a:r>
            <a:r>
              <a:rPr lang="zh-CN" altLang="en-US" sz="2400" b="0">
                <a:solidFill>
                  <a:srgbClr val="000068"/>
                </a:solidFill>
                <a:ea typeface="宋体" panose="02010600030101010101" pitchFamily="2" charset="-122"/>
                <a:cs typeface="宋体" panose="02010600030101010101" pitchFamily="2" charset="-122"/>
              </a:rPr>
              <a:t>（</a:t>
            </a:r>
            <a:r>
              <a:rPr lang="en-US" altLang="zh-CN" sz="2400" b="0">
                <a:solidFill>
                  <a:srgbClr val="000068"/>
                </a:solidFill>
                <a:ea typeface="宋体" panose="02010600030101010101" pitchFamily="2" charset="-122"/>
                <a:cs typeface="宋体" panose="02010600030101010101" pitchFamily="2" charset="-122"/>
              </a:rPr>
              <a:t>Q=124000</a:t>
            </a:r>
            <a:r>
              <a:rPr lang="zh-CN" altLang="en-US" sz="2400" b="0">
                <a:solidFill>
                  <a:srgbClr val="000068"/>
                </a:solidFill>
                <a:ea typeface="宋体" panose="02010600030101010101" pitchFamily="2" charset="-122"/>
                <a:cs typeface="宋体" panose="02010600030101010101" pitchFamily="2" charset="-122"/>
              </a:rPr>
              <a:t>立方米</a:t>
            </a:r>
            <a:r>
              <a:rPr lang="en-US" altLang="zh-CN" sz="2400" b="0">
                <a:solidFill>
                  <a:srgbClr val="000068"/>
                </a:solidFill>
                <a:ea typeface="宋体" panose="02010600030101010101" pitchFamily="2" charset="-122"/>
                <a:cs typeface="宋体" panose="02010600030101010101" pitchFamily="2" charset="-122"/>
              </a:rPr>
              <a:t>/</a:t>
            </a:r>
            <a:r>
              <a:rPr lang="zh-CN" altLang="en-US" sz="2400" b="0">
                <a:solidFill>
                  <a:srgbClr val="000068"/>
                </a:solidFill>
                <a:ea typeface="宋体" panose="02010600030101010101" pitchFamily="2" charset="-122"/>
                <a:cs typeface="宋体" panose="02010600030101010101" pitchFamily="2" charset="-122"/>
              </a:rPr>
              <a:t>秒）校核，校核洪水位</a:t>
            </a:r>
            <a:r>
              <a:rPr lang="en-US" altLang="zh-CN" sz="2400" b="0">
                <a:solidFill>
                  <a:srgbClr val="000068"/>
                </a:solidFill>
                <a:ea typeface="宋体" panose="02010600030101010101" pitchFamily="2" charset="-122"/>
                <a:cs typeface="宋体" panose="02010600030101010101" pitchFamily="2" charset="-122"/>
              </a:rPr>
              <a:t>180.4</a:t>
            </a:r>
            <a:r>
              <a:rPr lang="zh-CN" altLang="en-US" sz="2400" b="0">
                <a:solidFill>
                  <a:srgbClr val="000068"/>
                </a:solidFill>
                <a:ea typeface="宋体" panose="02010600030101010101" pitchFamily="2" charset="-122"/>
                <a:cs typeface="宋体" panose="02010600030101010101" pitchFamily="2" charset="-122"/>
              </a:rPr>
              <a:t>米。 </a:t>
            </a:r>
            <a:br>
              <a:rPr lang="zh-CN" altLang="en-US" sz="2400" b="0">
                <a:solidFill>
                  <a:srgbClr val="000068"/>
                </a:solidFill>
                <a:ea typeface="宋体" panose="02010600030101010101" pitchFamily="2" charset="-122"/>
                <a:cs typeface="宋体" panose="02010600030101010101" pitchFamily="2" charset="-122"/>
              </a:rPr>
            </a:br>
            <a:r>
              <a:rPr lang="en-US" altLang="zh-CN" sz="2400" b="0">
                <a:solidFill>
                  <a:srgbClr val="000000"/>
                </a:solidFill>
                <a:ea typeface="宋体" panose="02010600030101010101" pitchFamily="2" charset="-122"/>
                <a:cs typeface="宋体" panose="02010600030101010101" pitchFamily="2" charset="-122"/>
              </a:rPr>
              <a:t>. </a:t>
            </a:r>
            <a:r>
              <a:rPr lang="zh-CN" altLang="en-US" sz="2400" b="0">
                <a:solidFill>
                  <a:srgbClr val="000000"/>
                </a:solidFill>
                <a:ea typeface="宋体" panose="02010600030101010101" pitchFamily="2" charset="-122"/>
                <a:cs typeface="宋体" panose="02010600030101010101" pitchFamily="2" charset="-122"/>
              </a:rPr>
              <a:t>防洪限制水位</a:t>
            </a:r>
            <a:r>
              <a:rPr lang="en-US" altLang="zh-CN" sz="2400" b="0">
                <a:solidFill>
                  <a:srgbClr val="000000"/>
                </a:solidFill>
                <a:ea typeface="宋体" panose="02010600030101010101" pitchFamily="2" charset="-122"/>
                <a:cs typeface="宋体" panose="02010600030101010101" pitchFamily="2" charset="-122"/>
              </a:rPr>
              <a:t>145m</a:t>
            </a:r>
            <a:r>
              <a:rPr lang="zh-CN" altLang="en-US" sz="2400" b="0">
                <a:solidFill>
                  <a:srgbClr val="000000"/>
                </a:solidFill>
                <a:ea typeface="宋体" panose="02010600030101010101" pitchFamily="2" charset="-122"/>
                <a:cs typeface="宋体" panose="02010600030101010101" pitchFamily="2" charset="-122"/>
              </a:rPr>
              <a:t>，防洪库容</a:t>
            </a:r>
            <a:r>
              <a:rPr lang="en-US" altLang="zh-CN" sz="2400" b="0">
                <a:solidFill>
                  <a:srgbClr val="000000"/>
                </a:solidFill>
                <a:ea typeface="宋体" panose="02010600030101010101" pitchFamily="2" charset="-122"/>
                <a:cs typeface="宋体" panose="02010600030101010101" pitchFamily="2" charset="-122"/>
              </a:rPr>
              <a:t>221.5</a:t>
            </a:r>
            <a:r>
              <a:rPr lang="zh-CN" altLang="en-US" sz="2400" b="0">
                <a:solidFill>
                  <a:srgbClr val="000000"/>
                </a:solidFill>
                <a:ea typeface="宋体" panose="02010600030101010101" pitchFamily="2" charset="-122"/>
                <a:cs typeface="宋体" panose="02010600030101010101" pitchFamily="2" charset="-122"/>
              </a:rPr>
              <a:t>亿</a:t>
            </a:r>
            <a:r>
              <a:rPr lang="en-US" altLang="zh-CN" sz="2400" b="0">
                <a:solidFill>
                  <a:srgbClr val="000000"/>
                </a:solidFill>
                <a:ea typeface="宋体" panose="02010600030101010101" pitchFamily="2" charset="-122"/>
                <a:cs typeface="宋体" panose="02010600030101010101" pitchFamily="2" charset="-122"/>
              </a:rPr>
              <a:t>m</a:t>
            </a:r>
            <a:r>
              <a:rPr lang="en-US" altLang="zh-CN" sz="2400" b="0" baseline="30000">
                <a:solidFill>
                  <a:srgbClr val="000000"/>
                </a:solidFill>
                <a:ea typeface="宋体" panose="02010600030101010101" pitchFamily="2" charset="-122"/>
                <a:cs typeface="宋体" panose="02010600030101010101" pitchFamily="2" charset="-122"/>
              </a:rPr>
              <a:t>3</a:t>
            </a:r>
            <a:r>
              <a:rPr lang="zh-CN" altLang="en-US" sz="2400" b="0">
                <a:solidFill>
                  <a:srgbClr val="000068"/>
                </a:solidFill>
                <a:ea typeface="宋体" panose="02010600030101010101" pitchFamily="2" charset="-122"/>
                <a:cs typeface="宋体" panose="02010600030101010101" pitchFamily="2" charset="-122"/>
              </a:rPr>
              <a:t>。</a:t>
            </a:r>
            <a:br>
              <a:rPr lang="zh-CN" altLang="en-US" sz="2400" b="0">
                <a:solidFill>
                  <a:srgbClr val="000068"/>
                </a:solidFill>
                <a:ea typeface="宋体" panose="02010600030101010101" pitchFamily="2" charset="-122"/>
                <a:cs typeface="宋体" panose="02010600030101010101" pitchFamily="2" charset="-122"/>
              </a:rPr>
            </a:br>
            <a:endParaRPr lang="en-US" altLang="zh-CN" sz="2400" b="0">
              <a:solidFill>
                <a:srgbClr val="000068"/>
              </a:solidFill>
              <a:ea typeface="宋体" panose="02010600030101010101" pitchFamily="2" charset="-122"/>
              <a:cs typeface="宋体" panose="02010600030101010101" pitchFamily="2" charset="-122"/>
            </a:endParaRPr>
          </a:p>
          <a:p>
            <a:pPr eaLnBrk="1" hangingPunct="1">
              <a:spcBef>
                <a:spcPct val="50000"/>
              </a:spcBef>
            </a:pPr>
            <a:endParaRPr lang="en-US" altLang="zh-CN" sz="1500">
              <a:solidFill>
                <a:srgbClr val="000000"/>
              </a:solidFill>
              <a:ea typeface="宋体" panose="02010600030101010101" pitchFamily="2" charset="-122"/>
              <a:cs typeface="宋体" panose="02010600030101010101" pitchFamily="2" charset="-122"/>
            </a:endParaRPr>
          </a:p>
        </p:txBody>
      </p:sp>
      <p:grpSp>
        <p:nvGrpSpPr>
          <p:cNvPr id="22532" name="Group 4"/>
          <p:cNvGrpSpPr/>
          <p:nvPr/>
        </p:nvGrpSpPr>
        <p:grpSpPr bwMode="auto">
          <a:xfrm>
            <a:off x="0" y="2492375"/>
            <a:ext cx="8629650" cy="4797425"/>
            <a:chOff x="229" y="1536"/>
            <a:chExt cx="5436" cy="2688"/>
          </a:xfrm>
        </p:grpSpPr>
        <p:sp>
          <p:nvSpPr>
            <p:cNvPr id="22533" name="Rectangle 5"/>
            <p:cNvSpPr>
              <a:spLocks noChangeArrowheads="1"/>
            </p:cNvSpPr>
            <p:nvPr/>
          </p:nvSpPr>
          <p:spPr bwMode="auto">
            <a:xfrm>
              <a:off x="229" y="1536"/>
              <a:ext cx="5422" cy="2686"/>
            </a:xfrm>
            <a:prstGeom prst="rect">
              <a:avLst/>
            </a:prstGeom>
            <a:solidFill>
              <a:schemeClr val="bg1"/>
            </a:solidFill>
            <a:ln w="12700">
              <a:solidFill>
                <a:schemeClr val="bg2"/>
              </a:solidFill>
              <a:miter lim="800000"/>
            </a:ln>
          </p:spPr>
          <p:txBody>
            <a:bodyPr wrap="none" anchor="ctr"/>
            <a:lstStyle/>
            <a:p>
              <a:pPr eaLnBrk="1" hangingPunct="1">
                <a:lnSpc>
                  <a:spcPct val="90000"/>
                </a:lnSpc>
                <a:spcBef>
                  <a:spcPct val="50000"/>
                </a:spcBef>
                <a:buFontTx/>
                <a:buChar char="•"/>
              </a:pPr>
              <a:endParaRPr lang="zh-CN" altLang="en-US"/>
            </a:p>
          </p:txBody>
        </p:sp>
        <p:sp>
          <p:nvSpPr>
            <p:cNvPr id="22534" name="Freeform 6"/>
            <p:cNvSpPr/>
            <p:nvPr/>
          </p:nvSpPr>
          <p:spPr bwMode="auto">
            <a:xfrm>
              <a:off x="229" y="1536"/>
              <a:ext cx="5436" cy="2688"/>
            </a:xfrm>
            <a:custGeom>
              <a:avLst/>
              <a:gdLst>
                <a:gd name="T0" fmla="*/ 992 w 5436"/>
                <a:gd name="T1" fmla="*/ 363 h 2689"/>
                <a:gd name="T2" fmla="*/ 1513 w 5436"/>
                <a:gd name="T3" fmla="*/ 702 h 2689"/>
                <a:gd name="T4" fmla="*/ 3844 w 5436"/>
                <a:gd name="T5" fmla="*/ 2205 h 2689"/>
                <a:gd name="T6" fmla="*/ 4715 w 5436"/>
                <a:gd name="T7" fmla="*/ 2338 h 2689"/>
                <a:gd name="T8" fmla="*/ 5435 w 5436"/>
                <a:gd name="T9" fmla="*/ 2434 h 2689"/>
                <a:gd name="T10" fmla="*/ 5435 w 5436"/>
                <a:gd name="T11" fmla="*/ 2674 h 2689"/>
                <a:gd name="T12" fmla="*/ 11 w 5436"/>
                <a:gd name="T13" fmla="*/ 2674 h 2689"/>
                <a:gd name="T14" fmla="*/ 0 w 5436"/>
                <a:gd name="T15" fmla="*/ 0 h 2689"/>
                <a:gd name="T16" fmla="*/ 356 w 5436"/>
                <a:gd name="T17" fmla="*/ 0 h 26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436"/>
                <a:gd name="T28" fmla="*/ 0 h 2689"/>
                <a:gd name="T29" fmla="*/ 5436 w 5436"/>
                <a:gd name="T30" fmla="*/ 2689 h 26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436" h="2689">
                  <a:moveTo>
                    <a:pt x="992" y="363"/>
                  </a:moveTo>
                  <a:lnTo>
                    <a:pt x="1513" y="702"/>
                  </a:lnTo>
                  <a:lnTo>
                    <a:pt x="3844" y="2219"/>
                  </a:lnTo>
                  <a:lnTo>
                    <a:pt x="4715" y="2352"/>
                  </a:lnTo>
                  <a:lnTo>
                    <a:pt x="5435" y="2448"/>
                  </a:lnTo>
                  <a:lnTo>
                    <a:pt x="5435" y="2688"/>
                  </a:lnTo>
                  <a:lnTo>
                    <a:pt x="11" y="2688"/>
                  </a:lnTo>
                  <a:lnTo>
                    <a:pt x="0" y="0"/>
                  </a:lnTo>
                  <a:lnTo>
                    <a:pt x="356" y="0"/>
                  </a:lnTo>
                </a:path>
              </a:pathLst>
            </a:custGeom>
            <a:solidFill>
              <a:srgbClr val="CC99FF">
                <a:alpha val="43921"/>
              </a:srgbClr>
            </a:solidFill>
            <a:ln w="12700" cap="rnd">
              <a:solidFill>
                <a:schemeClr val="bg2"/>
              </a:solidFill>
              <a:round/>
              <a:headEnd type="none" w="sm" len="sm"/>
              <a:tailEnd type="none" w="sm" len="sm"/>
            </a:ln>
          </p:spPr>
          <p:txBody>
            <a:bodyPr/>
            <a:lstStyle/>
            <a:p>
              <a:endParaRPr lang="zh-CN" altLang="en-US"/>
            </a:p>
          </p:txBody>
        </p:sp>
        <p:sp>
          <p:nvSpPr>
            <p:cNvPr id="22535" name="Freeform 7"/>
            <p:cNvSpPr/>
            <p:nvPr/>
          </p:nvSpPr>
          <p:spPr bwMode="auto">
            <a:xfrm>
              <a:off x="3761" y="2082"/>
              <a:ext cx="577" cy="1711"/>
            </a:xfrm>
            <a:custGeom>
              <a:avLst/>
              <a:gdLst>
                <a:gd name="T0" fmla="*/ 0 w 577"/>
                <a:gd name="T1" fmla="*/ 0 h 1711"/>
                <a:gd name="T2" fmla="*/ 228 w 577"/>
                <a:gd name="T3" fmla="*/ 0 h 1711"/>
                <a:gd name="T4" fmla="*/ 576 w 577"/>
                <a:gd name="T5" fmla="*/ 1710 h 1711"/>
                <a:gd name="T6" fmla="*/ 348 w 577"/>
                <a:gd name="T7" fmla="*/ 1680 h 1711"/>
                <a:gd name="T8" fmla="*/ 324 w 577"/>
                <a:gd name="T9" fmla="*/ 1668 h 1711"/>
                <a:gd name="T10" fmla="*/ 0 w 577"/>
                <a:gd name="T11" fmla="*/ 1458 h 1711"/>
                <a:gd name="T12" fmla="*/ 0 w 577"/>
                <a:gd name="T13" fmla="*/ 0 h 1711"/>
                <a:gd name="T14" fmla="*/ 0 60000 65536"/>
                <a:gd name="T15" fmla="*/ 0 60000 65536"/>
                <a:gd name="T16" fmla="*/ 0 60000 65536"/>
                <a:gd name="T17" fmla="*/ 0 60000 65536"/>
                <a:gd name="T18" fmla="*/ 0 60000 65536"/>
                <a:gd name="T19" fmla="*/ 0 60000 65536"/>
                <a:gd name="T20" fmla="*/ 0 60000 65536"/>
                <a:gd name="T21" fmla="*/ 0 w 577"/>
                <a:gd name="T22" fmla="*/ 0 h 1711"/>
                <a:gd name="T23" fmla="*/ 577 w 577"/>
                <a:gd name="T24" fmla="*/ 1711 h 17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7" h="1711">
                  <a:moveTo>
                    <a:pt x="0" y="0"/>
                  </a:moveTo>
                  <a:lnTo>
                    <a:pt x="228" y="0"/>
                  </a:lnTo>
                  <a:lnTo>
                    <a:pt x="576" y="1710"/>
                  </a:lnTo>
                  <a:lnTo>
                    <a:pt x="348" y="1680"/>
                  </a:lnTo>
                  <a:lnTo>
                    <a:pt x="324" y="1668"/>
                  </a:lnTo>
                  <a:lnTo>
                    <a:pt x="0" y="1458"/>
                  </a:lnTo>
                  <a:lnTo>
                    <a:pt x="0" y="0"/>
                  </a:lnTo>
                </a:path>
              </a:pathLst>
            </a:custGeom>
            <a:pattFill prst="pct10">
              <a:fgClr>
                <a:srgbClr val="000000"/>
              </a:fgClr>
              <a:bgClr>
                <a:srgbClr val="FFFFFF"/>
              </a:bgClr>
            </a:pattFill>
            <a:ln w="12700" cap="rnd">
              <a:solidFill>
                <a:schemeClr val="bg2"/>
              </a:solidFill>
              <a:round/>
            </a:ln>
          </p:spPr>
          <p:txBody>
            <a:bodyPr/>
            <a:lstStyle/>
            <a:p>
              <a:endParaRPr lang="zh-CN" altLang="en-US"/>
            </a:p>
          </p:txBody>
        </p:sp>
        <p:sp>
          <p:nvSpPr>
            <p:cNvPr id="22536" name="Freeform 8"/>
            <p:cNvSpPr/>
            <p:nvPr/>
          </p:nvSpPr>
          <p:spPr bwMode="auto">
            <a:xfrm>
              <a:off x="3755" y="2076"/>
              <a:ext cx="592" cy="1730"/>
            </a:xfrm>
            <a:custGeom>
              <a:avLst/>
              <a:gdLst>
                <a:gd name="T0" fmla="*/ 0 w 592"/>
                <a:gd name="T1" fmla="*/ 0 h 1730"/>
                <a:gd name="T2" fmla="*/ 16 w 592"/>
                <a:gd name="T3" fmla="*/ 0 h 1730"/>
                <a:gd name="T4" fmla="*/ 30 w 592"/>
                <a:gd name="T5" fmla="*/ 3 h 1730"/>
                <a:gd name="T6" fmla="*/ 44 w 592"/>
                <a:gd name="T7" fmla="*/ 3 h 1730"/>
                <a:gd name="T8" fmla="*/ 56 w 592"/>
                <a:gd name="T9" fmla="*/ 3 h 1730"/>
                <a:gd name="T10" fmla="*/ 66 w 592"/>
                <a:gd name="T11" fmla="*/ 3 h 1730"/>
                <a:gd name="T12" fmla="*/ 77 w 592"/>
                <a:gd name="T13" fmla="*/ 3 h 1730"/>
                <a:gd name="T14" fmla="*/ 85 w 592"/>
                <a:gd name="T15" fmla="*/ 3 h 1730"/>
                <a:gd name="T16" fmla="*/ 93 w 592"/>
                <a:gd name="T17" fmla="*/ 6 h 1730"/>
                <a:gd name="T18" fmla="*/ 107 w 592"/>
                <a:gd name="T19" fmla="*/ 6 h 1730"/>
                <a:gd name="T20" fmla="*/ 117 w 592"/>
                <a:gd name="T21" fmla="*/ 6 h 1730"/>
                <a:gd name="T22" fmla="*/ 126 w 592"/>
                <a:gd name="T23" fmla="*/ 6 h 1730"/>
                <a:gd name="T24" fmla="*/ 134 w 592"/>
                <a:gd name="T25" fmla="*/ 6 h 1730"/>
                <a:gd name="T26" fmla="*/ 147 w 592"/>
                <a:gd name="T27" fmla="*/ 6 h 1730"/>
                <a:gd name="T28" fmla="*/ 154 w 592"/>
                <a:gd name="T29" fmla="*/ 6 h 1730"/>
                <a:gd name="T30" fmla="*/ 163 w 592"/>
                <a:gd name="T31" fmla="*/ 6 h 1730"/>
                <a:gd name="T32" fmla="*/ 173 w 592"/>
                <a:gd name="T33" fmla="*/ 6 h 1730"/>
                <a:gd name="T34" fmla="*/ 186 w 592"/>
                <a:gd name="T35" fmla="*/ 6 h 1730"/>
                <a:gd name="T36" fmla="*/ 193 w 592"/>
                <a:gd name="T37" fmla="*/ 6 h 1730"/>
                <a:gd name="T38" fmla="*/ 202 w 592"/>
                <a:gd name="T39" fmla="*/ 6 h 1730"/>
                <a:gd name="T40" fmla="*/ 211 w 592"/>
                <a:gd name="T41" fmla="*/ 6 h 1730"/>
                <a:gd name="T42" fmla="*/ 222 w 592"/>
                <a:gd name="T43" fmla="*/ 6 h 1730"/>
                <a:gd name="T44" fmla="*/ 591 w 592"/>
                <a:gd name="T45" fmla="*/ 1729 h 1730"/>
                <a:gd name="T46" fmla="*/ 319 w 592"/>
                <a:gd name="T47" fmla="*/ 1682 h 1730"/>
                <a:gd name="T48" fmla="*/ 1 w 592"/>
                <a:gd name="T49" fmla="*/ 1455 h 1730"/>
                <a:gd name="T50" fmla="*/ 0 w 592"/>
                <a:gd name="T51" fmla="*/ 0 h 173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92"/>
                <a:gd name="T79" fmla="*/ 0 h 1730"/>
                <a:gd name="T80" fmla="*/ 592 w 592"/>
                <a:gd name="T81" fmla="*/ 1730 h 173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92" h="1730">
                  <a:moveTo>
                    <a:pt x="0" y="0"/>
                  </a:moveTo>
                  <a:lnTo>
                    <a:pt x="16" y="0"/>
                  </a:lnTo>
                  <a:lnTo>
                    <a:pt x="30" y="3"/>
                  </a:lnTo>
                  <a:lnTo>
                    <a:pt x="44" y="3"/>
                  </a:lnTo>
                  <a:lnTo>
                    <a:pt x="56" y="3"/>
                  </a:lnTo>
                  <a:lnTo>
                    <a:pt x="66" y="3"/>
                  </a:lnTo>
                  <a:lnTo>
                    <a:pt x="77" y="3"/>
                  </a:lnTo>
                  <a:lnTo>
                    <a:pt x="85" y="3"/>
                  </a:lnTo>
                  <a:lnTo>
                    <a:pt x="93" y="6"/>
                  </a:lnTo>
                  <a:lnTo>
                    <a:pt x="107" y="6"/>
                  </a:lnTo>
                  <a:lnTo>
                    <a:pt x="117" y="6"/>
                  </a:lnTo>
                  <a:lnTo>
                    <a:pt x="126" y="6"/>
                  </a:lnTo>
                  <a:lnTo>
                    <a:pt x="134" y="6"/>
                  </a:lnTo>
                  <a:lnTo>
                    <a:pt x="147" y="6"/>
                  </a:lnTo>
                  <a:lnTo>
                    <a:pt x="154" y="6"/>
                  </a:lnTo>
                  <a:lnTo>
                    <a:pt x="163" y="6"/>
                  </a:lnTo>
                  <a:lnTo>
                    <a:pt x="173" y="6"/>
                  </a:lnTo>
                  <a:lnTo>
                    <a:pt x="186" y="6"/>
                  </a:lnTo>
                  <a:lnTo>
                    <a:pt x="193" y="6"/>
                  </a:lnTo>
                  <a:lnTo>
                    <a:pt x="202" y="6"/>
                  </a:lnTo>
                  <a:lnTo>
                    <a:pt x="211" y="6"/>
                  </a:lnTo>
                  <a:lnTo>
                    <a:pt x="222" y="6"/>
                  </a:lnTo>
                  <a:lnTo>
                    <a:pt x="591" y="1729"/>
                  </a:lnTo>
                  <a:lnTo>
                    <a:pt x="319" y="1682"/>
                  </a:lnTo>
                  <a:lnTo>
                    <a:pt x="1" y="1455"/>
                  </a:lnTo>
                  <a:lnTo>
                    <a:pt x="0" y="0"/>
                  </a:lnTo>
                </a:path>
              </a:pathLst>
            </a:custGeom>
            <a:noFill/>
            <a:ln w="12700" cap="rnd">
              <a:solidFill>
                <a:schemeClr val="bg2"/>
              </a:solidFill>
              <a:round/>
            </a:ln>
          </p:spPr>
          <p:txBody>
            <a:bodyPr/>
            <a:lstStyle/>
            <a:p>
              <a:endParaRPr lang="zh-CN" altLang="en-US"/>
            </a:p>
          </p:txBody>
        </p:sp>
        <p:sp>
          <p:nvSpPr>
            <p:cNvPr id="22537" name="Line 9"/>
            <p:cNvSpPr>
              <a:spLocks noChangeShapeType="1"/>
            </p:cNvSpPr>
            <p:nvPr/>
          </p:nvSpPr>
          <p:spPr bwMode="auto">
            <a:xfrm flipH="1">
              <a:off x="3756" y="2079"/>
              <a:ext cx="1" cy="1452"/>
            </a:xfrm>
            <a:prstGeom prst="line">
              <a:avLst/>
            </a:prstGeom>
            <a:noFill/>
            <a:ln w="12700">
              <a:solidFill>
                <a:schemeClr val="bg2"/>
              </a:solidFill>
              <a:round/>
              <a:headEnd type="none" w="sm" len="sm"/>
              <a:tailEnd type="none" w="sm" len="sm"/>
            </a:ln>
          </p:spPr>
          <p:txBody>
            <a:bodyPr/>
            <a:lstStyle/>
            <a:p>
              <a:endParaRPr lang="zh-CN" altLang="en-US"/>
            </a:p>
          </p:txBody>
        </p:sp>
        <p:sp>
          <p:nvSpPr>
            <p:cNvPr id="22538" name="Line 10"/>
            <p:cNvSpPr>
              <a:spLocks noChangeShapeType="1"/>
            </p:cNvSpPr>
            <p:nvPr/>
          </p:nvSpPr>
          <p:spPr bwMode="auto">
            <a:xfrm>
              <a:off x="1715" y="2216"/>
              <a:ext cx="2039" cy="2"/>
            </a:xfrm>
            <a:prstGeom prst="line">
              <a:avLst/>
            </a:prstGeom>
            <a:noFill/>
            <a:ln w="12700">
              <a:solidFill>
                <a:schemeClr val="bg2"/>
              </a:solidFill>
              <a:round/>
              <a:headEnd type="none" w="sm" len="sm"/>
              <a:tailEnd type="none" w="sm" len="sm"/>
            </a:ln>
          </p:spPr>
          <p:txBody>
            <a:bodyPr/>
            <a:lstStyle/>
            <a:p>
              <a:endParaRPr lang="zh-CN" altLang="en-US"/>
            </a:p>
          </p:txBody>
        </p:sp>
        <p:sp>
          <p:nvSpPr>
            <p:cNvPr id="22539" name="Freeform 11"/>
            <p:cNvSpPr/>
            <p:nvPr/>
          </p:nvSpPr>
          <p:spPr bwMode="auto">
            <a:xfrm>
              <a:off x="1715" y="2216"/>
              <a:ext cx="2041" cy="320"/>
            </a:xfrm>
            <a:custGeom>
              <a:avLst/>
              <a:gdLst>
                <a:gd name="T0" fmla="*/ 499 w 2041"/>
                <a:gd name="T1" fmla="*/ 319 h 320"/>
                <a:gd name="T2" fmla="*/ 0 w 2041"/>
                <a:gd name="T3" fmla="*/ 0 h 320"/>
                <a:gd name="T4" fmla="*/ 2040 w 2041"/>
                <a:gd name="T5" fmla="*/ 0 h 320"/>
                <a:gd name="T6" fmla="*/ 2040 w 2041"/>
                <a:gd name="T7" fmla="*/ 318 h 320"/>
                <a:gd name="T8" fmla="*/ 499 w 2041"/>
                <a:gd name="T9" fmla="*/ 319 h 320"/>
                <a:gd name="T10" fmla="*/ 0 60000 65536"/>
                <a:gd name="T11" fmla="*/ 0 60000 65536"/>
                <a:gd name="T12" fmla="*/ 0 60000 65536"/>
                <a:gd name="T13" fmla="*/ 0 60000 65536"/>
                <a:gd name="T14" fmla="*/ 0 60000 65536"/>
                <a:gd name="T15" fmla="*/ 0 w 2041"/>
                <a:gd name="T16" fmla="*/ 0 h 320"/>
                <a:gd name="T17" fmla="*/ 2041 w 2041"/>
                <a:gd name="T18" fmla="*/ 320 h 320"/>
              </a:gdLst>
              <a:ahLst/>
              <a:cxnLst>
                <a:cxn ang="T10">
                  <a:pos x="T0" y="T1"/>
                </a:cxn>
                <a:cxn ang="T11">
                  <a:pos x="T2" y="T3"/>
                </a:cxn>
                <a:cxn ang="T12">
                  <a:pos x="T4" y="T5"/>
                </a:cxn>
                <a:cxn ang="T13">
                  <a:pos x="T6" y="T7"/>
                </a:cxn>
                <a:cxn ang="T14">
                  <a:pos x="T8" y="T9"/>
                </a:cxn>
              </a:cxnLst>
              <a:rect l="T15" t="T16" r="T17" b="T18"/>
              <a:pathLst>
                <a:path w="2041" h="320">
                  <a:moveTo>
                    <a:pt x="499" y="319"/>
                  </a:moveTo>
                  <a:lnTo>
                    <a:pt x="0" y="0"/>
                  </a:lnTo>
                  <a:lnTo>
                    <a:pt x="2040" y="0"/>
                  </a:lnTo>
                  <a:lnTo>
                    <a:pt x="2040" y="318"/>
                  </a:lnTo>
                  <a:lnTo>
                    <a:pt x="499" y="319"/>
                  </a:lnTo>
                </a:path>
              </a:pathLst>
            </a:custGeom>
            <a:solidFill>
              <a:srgbClr val="000080"/>
            </a:solidFill>
            <a:ln w="12700" cap="rnd">
              <a:solidFill>
                <a:schemeClr val="bg2"/>
              </a:solidFill>
              <a:round/>
            </a:ln>
          </p:spPr>
          <p:txBody>
            <a:bodyPr/>
            <a:lstStyle/>
            <a:p>
              <a:endParaRPr lang="zh-CN" altLang="en-US"/>
            </a:p>
          </p:txBody>
        </p:sp>
        <p:sp>
          <p:nvSpPr>
            <p:cNvPr id="22540" name="Line 12"/>
            <p:cNvSpPr>
              <a:spLocks noChangeShapeType="1"/>
            </p:cNvSpPr>
            <p:nvPr/>
          </p:nvSpPr>
          <p:spPr bwMode="auto">
            <a:xfrm flipH="1">
              <a:off x="672" y="2760"/>
              <a:ext cx="1029" cy="1"/>
            </a:xfrm>
            <a:prstGeom prst="line">
              <a:avLst/>
            </a:prstGeom>
            <a:noFill/>
            <a:ln w="25400">
              <a:solidFill>
                <a:schemeClr val="bg2"/>
              </a:solidFill>
              <a:round/>
              <a:headEnd type="none" w="sm" len="sm"/>
              <a:tailEnd type="none" w="sm" len="sm"/>
            </a:ln>
          </p:spPr>
          <p:txBody>
            <a:bodyPr/>
            <a:lstStyle/>
            <a:p>
              <a:endParaRPr lang="zh-CN" altLang="en-US"/>
            </a:p>
          </p:txBody>
        </p:sp>
        <p:sp>
          <p:nvSpPr>
            <p:cNvPr id="22541" name="Freeform 13"/>
            <p:cNvSpPr/>
            <p:nvPr/>
          </p:nvSpPr>
          <p:spPr bwMode="auto">
            <a:xfrm>
              <a:off x="2207" y="2544"/>
              <a:ext cx="1550" cy="1000"/>
            </a:xfrm>
            <a:custGeom>
              <a:avLst/>
              <a:gdLst>
                <a:gd name="T0" fmla="*/ 1549 w 1550"/>
                <a:gd name="T1" fmla="*/ 999 h 1000"/>
                <a:gd name="T2" fmla="*/ 0 w 1550"/>
                <a:gd name="T3" fmla="*/ 0 h 1000"/>
                <a:gd name="T4" fmla="*/ 1548 w 1550"/>
                <a:gd name="T5" fmla="*/ 0 h 1000"/>
                <a:gd name="T6" fmla="*/ 1549 w 1550"/>
                <a:gd name="T7" fmla="*/ 999 h 1000"/>
                <a:gd name="T8" fmla="*/ 0 60000 65536"/>
                <a:gd name="T9" fmla="*/ 0 60000 65536"/>
                <a:gd name="T10" fmla="*/ 0 60000 65536"/>
                <a:gd name="T11" fmla="*/ 0 60000 65536"/>
                <a:gd name="T12" fmla="*/ 0 w 1550"/>
                <a:gd name="T13" fmla="*/ 0 h 1000"/>
                <a:gd name="T14" fmla="*/ 1550 w 1550"/>
                <a:gd name="T15" fmla="*/ 1000 h 1000"/>
              </a:gdLst>
              <a:ahLst/>
              <a:cxnLst>
                <a:cxn ang="T8">
                  <a:pos x="T0" y="T1"/>
                </a:cxn>
                <a:cxn ang="T9">
                  <a:pos x="T2" y="T3"/>
                </a:cxn>
                <a:cxn ang="T10">
                  <a:pos x="T4" y="T5"/>
                </a:cxn>
                <a:cxn ang="T11">
                  <a:pos x="T6" y="T7"/>
                </a:cxn>
              </a:cxnLst>
              <a:rect l="T12" t="T13" r="T14" b="T15"/>
              <a:pathLst>
                <a:path w="1550" h="1000">
                  <a:moveTo>
                    <a:pt x="1549" y="999"/>
                  </a:moveTo>
                  <a:lnTo>
                    <a:pt x="0" y="0"/>
                  </a:lnTo>
                  <a:lnTo>
                    <a:pt x="1548" y="0"/>
                  </a:lnTo>
                  <a:lnTo>
                    <a:pt x="1549" y="999"/>
                  </a:lnTo>
                </a:path>
              </a:pathLst>
            </a:custGeom>
            <a:solidFill>
              <a:srgbClr val="CC99FF"/>
            </a:solidFill>
            <a:ln w="12700" cap="rnd">
              <a:solidFill>
                <a:schemeClr val="bg2"/>
              </a:solidFill>
              <a:round/>
            </a:ln>
          </p:spPr>
          <p:txBody>
            <a:bodyPr/>
            <a:lstStyle/>
            <a:p>
              <a:endParaRPr lang="zh-CN" altLang="en-US"/>
            </a:p>
          </p:txBody>
        </p:sp>
        <p:sp>
          <p:nvSpPr>
            <p:cNvPr id="22542" name="Freeform 14"/>
            <p:cNvSpPr/>
            <p:nvPr/>
          </p:nvSpPr>
          <p:spPr bwMode="auto">
            <a:xfrm>
              <a:off x="2486" y="2125"/>
              <a:ext cx="92" cy="94"/>
            </a:xfrm>
            <a:custGeom>
              <a:avLst/>
              <a:gdLst>
                <a:gd name="T0" fmla="*/ 0 w 92"/>
                <a:gd name="T1" fmla="*/ 0 h 94"/>
                <a:gd name="T2" fmla="*/ 91 w 92"/>
                <a:gd name="T3" fmla="*/ 0 h 94"/>
                <a:gd name="T4" fmla="*/ 45 w 92"/>
                <a:gd name="T5" fmla="*/ 93 h 94"/>
                <a:gd name="T6" fmla="*/ 0 w 92"/>
                <a:gd name="T7" fmla="*/ 0 h 94"/>
                <a:gd name="T8" fmla="*/ 0 60000 65536"/>
                <a:gd name="T9" fmla="*/ 0 60000 65536"/>
                <a:gd name="T10" fmla="*/ 0 60000 65536"/>
                <a:gd name="T11" fmla="*/ 0 60000 65536"/>
                <a:gd name="T12" fmla="*/ 0 w 92"/>
                <a:gd name="T13" fmla="*/ 0 h 94"/>
                <a:gd name="T14" fmla="*/ 92 w 92"/>
                <a:gd name="T15" fmla="*/ 94 h 94"/>
              </a:gdLst>
              <a:ahLst/>
              <a:cxnLst>
                <a:cxn ang="T8">
                  <a:pos x="T0" y="T1"/>
                </a:cxn>
                <a:cxn ang="T9">
                  <a:pos x="T2" y="T3"/>
                </a:cxn>
                <a:cxn ang="T10">
                  <a:pos x="T4" y="T5"/>
                </a:cxn>
                <a:cxn ang="T11">
                  <a:pos x="T6" y="T7"/>
                </a:cxn>
              </a:cxnLst>
              <a:rect l="T12" t="T13" r="T14" b="T15"/>
              <a:pathLst>
                <a:path w="92" h="94">
                  <a:moveTo>
                    <a:pt x="0" y="0"/>
                  </a:moveTo>
                  <a:lnTo>
                    <a:pt x="91" y="0"/>
                  </a:lnTo>
                  <a:lnTo>
                    <a:pt x="45" y="93"/>
                  </a:lnTo>
                  <a:lnTo>
                    <a:pt x="0" y="0"/>
                  </a:lnTo>
                </a:path>
              </a:pathLst>
            </a:custGeom>
            <a:noFill/>
            <a:ln w="12700" cap="rnd">
              <a:solidFill>
                <a:schemeClr val="bg2"/>
              </a:solidFill>
              <a:round/>
            </a:ln>
          </p:spPr>
          <p:txBody>
            <a:bodyPr/>
            <a:lstStyle/>
            <a:p>
              <a:endParaRPr lang="zh-CN" altLang="en-US"/>
            </a:p>
          </p:txBody>
        </p:sp>
        <p:grpSp>
          <p:nvGrpSpPr>
            <p:cNvPr id="22543" name="Group 15"/>
            <p:cNvGrpSpPr/>
            <p:nvPr/>
          </p:nvGrpSpPr>
          <p:grpSpPr bwMode="auto">
            <a:xfrm>
              <a:off x="2350" y="2261"/>
              <a:ext cx="408" cy="91"/>
              <a:chOff x="2350" y="2261"/>
              <a:chExt cx="408" cy="91"/>
            </a:xfrm>
          </p:grpSpPr>
          <p:sp>
            <p:nvSpPr>
              <p:cNvPr id="22577" name="Line 16"/>
              <p:cNvSpPr>
                <a:spLocks noChangeShapeType="1"/>
              </p:cNvSpPr>
              <p:nvPr/>
            </p:nvSpPr>
            <p:spPr bwMode="auto">
              <a:xfrm>
                <a:off x="2350" y="2261"/>
                <a:ext cx="408" cy="0"/>
              </a:xfrm>
              <a:prstGeom prst="line">
                <a:avLst/>
              </a:prstGeom>
              <a:noFill/>
              <a:ln w="12700">
                <a:solidFill>
                  <a:schemeClr val="bg2"/>
                </a:solidFill>
                <a:round/>
                <a:headEnd type="none" w="sm" len="sm"/>
                <a:tailEnd type="none" w="sm" len="sm"/>
              </a:ln>
            </p:spPr>
            <p:txBody>
              <a:bodyPr/>
              <a:lstStyle/>
              <a:p>
                <a:endParaRPr lang="zh-CN" altLang="en-US"/>
              </a:p>
            </p:txBody>
          </p:sp>
          <p:sp>
            <p:nvSpPr>
              <p:cNvPr id="22578" name="Line 17"/>
              <p:cNvSpPr>
                <a:spLocks noChangeShapeType="1"/>
              </p:cNvSpPr>
              <p:nvPr/>
            </p:nvSpPr>
            <p:spPr bwMode="auto">
              <a:xfrm>
                <a:off x="2440" y="2306"/>
                <a:ext cx="272" cy="0"/>
              </a:xfrm>
              <a:prstGeom prst="line">
                <a:avLst/>
              </a:prstGeom>
              <a:noFill/>
              <a:ln w="12700">
                <a:solidFill>
                  <a:schemeClr val="bg2"/>
                </a:solidFill>
                <a:round/>
                <a:headEnd type="none" w="sm" len="sm"/>
                <a:tailEnd type="none" w="sm" len="sm"/>
              </a:ln>
            </p:spPr>
            <p:txBody>
              <a:bodyPr/>
              <a:lstStyle/>
              <a:p>
                <a:endParaRPr lang="zh-CN" altLang="en-US"/>
              </a:p>
            </p:txBody>
          </p:sp>
          <p:sp>
            <p:nvSpPr>
              <p:cNvPr id="22579" name="Line 18"/>
              <p:cNvSpPr>
                <a:spLocks noChangeShapeType="1"/>
              </p:cNvSpPr>
              <p:nvPr/>
            </p:nvSpPr>
            <p:spPr bwMode="auto">
              <a:xfrm>
                <a:off x="2486" y="2352"/>
                <a:ext cx="136" cy="0"/>
              </a:xfrm>
              <a:prstGeom prst="line">
                <a:avLst/>
              </a:prstGeom>
              <a:noFill/>
              <a:ln w="12700">
                <a:solidFill>
                  <a:schemeClr val="bg2"/>
                </a:solidFill>
                <a:round/>
                <a:headEnd type="none" w="sm" len="sm"/>
                <a:tailEnd type="none" w="sm" len="sm"/>
              </a:ln>
            </p:spPr>
            <p:txBody>
              <a:bodyPr/>
              <a:lstStyle/>
              <a:p>
                <a:endParaRPr lang="zh-CN" altLang="en-US"/>
              </a:p>
            </p:txBody>
          </p:sp>
        </p:grpSp>
        <p:grpSp>
          <p:nvGrpSpPr>
            <p:cNvPr id="22544" name="Group 19"/>
            <p:cNvGrpSpPr/>
            <p:nvPr/>
          </p:nvGrpSpPr>
          <p:grpSpPr bwMode="auto">
            <a:xfrm>
              <a:off x="3080" y="2581"/>
              <a:ext cx="408" cy="136"/>
              <a:chOff x="3080" y="2581"/>
              <a:chExt cx="408" cy="136"/>
            </a:xfrm>
          </p:grpSpPr>
          <p:sp>
            <p:nvSpPr>
              <p:cNvPr id="22574" name="Line 20"/>
              <p:cNvSpPr>
                <a:spLocks noChangeShapeType="1"/>
              </p:cNvSpPr>
              <p:nvPr/>
            </p:nvSpPr>
            <p:spPr bwMode="auto">
              <a:xfrm>
                <a:off x="3080" y="2581"/>
                <a:ext cx="408" cy="0"/>
              </a:xfrm>
              <a:prstGeom prst="line">
                <a:avLst/>
              </a:prstGeom>
              <a:noFill/>
              <a:ln w="12700">
                <a:solidFill>
                  <a:schemeClr val="bg2"/>
                </a:solidFill>
                <a:round/>
                <a:headEnd type="none" w="sm" len="sm"/>
                <a:tailEnd type="none" w="sm" len="sm"/>
              </a:ln>
            </p:spPr>
            <p:txBody>
              <a:bodyPr/>
              <a:lstStyle/>
              <a:p>
                <a:endParaRPr lang="zh-CN" altLang="en-US"/>
              </a:p>
            </p:txBody>
          </p:sp>
          <p:sp>
            <p:nvSpPr>
              <p:cNvPr id="22575" name="Line 21"/>
              <p:cNvSpPr>
                <a:spLocks noChangeShapeType="1"/>
              </p:cNvSpPr>
              <p:nvPr/>
            </p:nvSpPr>
            <p:spPr bwMode="auto">
              <a:xfrm>
                <a:off x="3170" y="2648"/>
                <a:ext cx="272" cy="0"/>
              </a:xfrm>
              <a:prstGeom prst="line">
                <a:avLst/>
              </a:prstGeom>
              <a:noFill/>
              <a:ln w="12700">
                <a:solidFill>
                  <a:schemeClr val="bg2"/>
                </a:solidFill>
                <a:round/>
                <a:headEnd type="none" w="sm" len="sm"/>
                <a:tailEnd type="none" w="sm" len="sm"/>
              </a:ln>
            </p:spPr>
            <p:txBody>
              <a:bodyPr/>
              <a:lstStyle/>
              <a:p>
                <a:endParaRPr lang="zh-CN" altLang="en-US"/>
              </a:p>
            </p:txBody>
          </p:sp>
          <p:sp>
            <p:nvSpPr>
              <p:cNvPr id="22576" name="Line 22"/>
              <p:cNvSpPr>
                <a:spLocks noChangeShapeType="1"/>
              </p:cNvSpPr>
              <p:nvPr/>
            </p:nvSpPr>
            <p:spPr bwMode="auto">
              <a:xfrm>
                <a:off x="3216" y="2717"/>
                <a:ext cx="136" cy="0"/>
              </a:xfrm>
              <a:prstGeom prst="line">
                <a:avLst/>
              </a:prstGeom>
              <a:noFill/>
              <a:ln w="12700">
                <a:solidFill>
                  <a:schemeClr val="bg2"/>
                </a:solidFill>
                <a:round/>
                <a:headEnd type="none" w="sm" len="sm"/>
                <a:tailEnd type="none" w="sm" len="sm"/>
              </a:ln>
            </p:spPr>
            <p:txBody>
              <a:bodyPr/>
              <a:lstStyle/>
              <a:p>
                <a:endParaRPr lang="zh-CN" altLang="en-US"/>
              </a:p>
            </p:txBody>
          </p:sp>
        </p:grpSp>
        <p:sp>
          <p:nvSpPr>
            <p:cNvPr id="22545" name="Line 23"/>
            <p:cNvSpPr>
              <a:spLocks noChangeShapeType="1"/>
            </p:cNvSpPr>
            <p:nvPr/>
          </p:nvSpPr>
          <p:spPr bwMode="auto">
            <a:xfrm>
              <a:off x="2304" y="2216"/>
              <a:ext cx="8" cy="301"/>
            </a:xfrm>
            <a:prstGeom prst="line">
              <a:avLst/>
            </a:prstGeom>
            <a:noFill/>
            <a:ln w="12700">
              <a:solidFill>
                <a:schemeClr val="bg2"/>
              </a:solidFill>
              <a:round/>
              <a:headEnd type="stealth" w="med" len="med"/>
              <a:tailEnd type="stealth" w="med" len="med"/>
            </a:ln>
          </p:spPr>
          <p:txBody>
            <a:bodyPr/>
            <a:lstStyle/>
            <a:p>
              <a:endParaRPr lang="zh-CN" altLang="en-US"/>
            </a:p>
          </p:txBody>
        </p:sp>
        <p:sp>
          <p:nvSpPr>
            <p:cNvPr id="18" name="Rectangle 24"/>
            <p:cNvSpPr>
              <a:spLocks noChangeArrowheads="1"/>
            </p:cNvSpPr>
            <p:nvPr/>
          </p:nvSpPr>
          <p:spPr bwMode="auto">
            <a:xfrm>
              <a:off x="2474" y="1899"/>
              <a:ext cx="1089" cy="274"/>
            </a:xfrm>
            <a:prstGeom prst="rect">
              <a:avLst/>
            </a:prstGeom>
            <a:noFill/>
            <a:ln w="9525">
              <a:noFill/>
              <a:miter lim="800000"/>
            </a:ln>
            <a:effectLst/>
          </p:spPr>
          <p:txBody>
            <a:bodyPr wrap="none" lIns="0" tIns="0" rIns="0" bIns="0"/>
            <a:lstStyle/>
            <a:p>
              <a:pPr algn="ctr">
                <a:lnSpc>
                  <a:spcPct val="90000"/>
                </a:lnSpc>
                <a:spcBef>
                  <a:spcPct val="50000"/>
                </a:spcBef>
                <a:buFontTx/>
                <a:buChar char="•"/>
              </a:pPr>
              <a:r>
                <a:rPr lang="zh-CN" altLang="en-US" sz="1600">
                  <a:solidFill>
                    <a:srgbClr val="000000"/>
                  </a:solidFill>
                  <a:effectLst>
                    <a:outerShdw blurRad="38100" dist="38100" dir="2700000" algn="tl">
                      <a:srgbClr val="DDDDDD"/>
                    </a:outerShdw>
                  </a:effectLst>
                  <a:latin typeface="Times New Roman" panose="02020603050405020304" charset="0"/>
                </a:rPr>
                <a:t>正常蓄水位</a:t>
              </a:r>
              <a:r>
                <a:rPr lang="en-US" altLang="zh-CN" sz="1600" u="sng">
                  <a:solidFill>
                    <a:srgbClr val="000000"/>
                  </a:solidFill>
                  <a:effectLst>
                    <a:outerShdw blurRad="38100" dist="38100" dir="2700000" algn="tl">
                      <a:srgbClr val="DDDDDD"/>
                    </a:outerShdw>
                  </a:effectLst>
                  <a:latin typeface="Times New Roman" panose="02020603050405020304" charset="0"/>
                </a:rPr>
                <a:t>175m</a:t>
              </a:r>
              <a:endParaRPr lang="en-US" altLang="zh-CN" sz="1600" u="sng">
                <a:solidFill>
                  <a:srgbClr val="000000"/>
                </a:solidFill>
                <a:effectLst>
                  <a:outerShdw blurRad="38100" dist="38100" dir="2700000" algn="tl">
                    <a:srgbClr val="DDDDDD"/>
                  </a:outerShdw>
                </a:effectLst>
                <a:latin typeface="Times New Roman" panose="02020603050405020304" charset="0"/>
              </a:endParaRPr>
            </a:p>
          </p:txBody>
        </p:sp>
        <p:sp>
          <p:nvSpPr>
            <p:cNvPr id="19" name="Rectangle 25"/>
            <p:cNvSpPr>
              <a:spLocks noChangeArrowheads="1"/>
            </p:cNvSpPr>
            <p:nvPr/>
          </p:nvSpPr>
          <p:spPr bwMode="auto">
            <a:xfrm>
              <a:off x="4210" y="2987"/>
              <a:ext cx="1220" cy="181"/>
            </a:xfrm>
            <a:prstGeom prst="rect">
              <a:avLst/>
            </a:prstGeom>
            <a:noFill/>
            <a:ln w="9525">
              <a:noFill/>
              <a:miter lim="800000"/>
            </a:ln>
            <a:effectLst/>
          </p:spPr>
          <p:txBody>
            <a:bodyPr wrap="none" lIns="0" tIns="0" rIns="0" bIns="0"/>
            <a:lstStyle/>
            <a:p>
              <a:pPr algn="ctr">
                <a:lnSpc>
                  <a:spcPct val="90000"/>
                </a:lnSpc>
                <a:spcBef>
                  <a:spcPct val="50000"/>
                </a:spcBef>
                <a:buFontTx/>
                <a:buChar char="•"/>
              </a:pPr>
              <a:r>
                <a:rPr lang="zh-CN" altLang="en-US" sz="1600">
                  <a:solidFill>
                    <a:srgbClr val="000000"/>
                  </a:solidFill>
                  <a:effectLst>
                    <a:outerShdw blurRad="38100" dist="38100" dir="2700000" algn="tl">
                      <a:srgbClr val="DDDDDD"/>
                    </a:outerShdw>
                  </a:effectLst>
                  <a:latin typeface="Times New Roman" panose="02020603050405020304" charset="0"/>
                </a:rPr>
                <a:t>汛限水位</a:t>
              </a:r>
              <a:r>
                <a:rPr lang="en-US" altLang="zh-CN" sz="1600" u="sng">
                  <a:solidFill>
                    <a:srgbClr val="000000"/>
                  </a:solidFill>
                  <a:effectLst>
                    <a:outerShdw blurRad="38100" dist="38100" dir="2700000" algn="tl">
                      <a:srgbClr val="DDDDDD"/>
                    </a:outerShdw>
                  </a:effectLst>
                  <a:latin typeface="Times New Roman" panose="02020603050405020304" charset="0"/>
                </a:rPr>
                <a:t>145.0m</a:t>
              </a:r>
              <a:endParaRPr lang="en-US" altLang="zh-CN" sz="1600" u="sng">
                <a:solidFill>
                  <a:srgbClr val="000000"/>
                </a:solidFill>
                <a:effectLst>
                  <a:outerShdw blurRad="38100" dist="38100" dir="2700000" algn="tl">
                    <a:srgbClr val="DDDDDD"/>
                  </a:outerShdw>
                </a:effectLst>
                <a:latin typeface="Times New Roman" panose="02020603050405020304" charset="0"/>
              </a:endParaRPr>
            </a:p>
          </p:txBody>
        </p:sp>
        <p:sp>
          <p:nvSpPr>
            <p:cNvPr id="20" name="Rectangle 26"/>
            <p:cNvSpPr>
              <a:spLocks noChangeArrowheads="1"/>
            </p:cNvSpPr>
            <p:nvPr/>
          </p:nvSpPr>
          <p:spPr bwMode="auto">
            <a:xfrm>
              <a:off x="717" y="2533"/>
              <a:ext cx="907" cy="193"/>
            </a:xfrm>
            <a:prstGeom prst="rect">
              <a:avLst/>
            </a:prstGeom>
            <a:noFill/>
            <a:ln w="9525">
              <a:noFill/>
              <a:miter lim="800000"/>
            </a:ln>
            <a:effectLst/>
          </p:spPr>
          <p:txBody>
            <a:bodyPr wrap="none" lIns="0" tIns="0" rIns="0" bIns="0"/>
            <a:lstStyle/>
            <a:p>
              <a:pPr algn="ctr">
                <a:lnSpc>
                  <a:spcPct val="90000"/>
                </a:lnSpc>
                <a:spcBef>
                  <a:spcPct val="50000"/>
                </a:spcBef>
                <a:buFontTx/>
                <a:buChar char="•"/>
              </a:pPr>
              <a:r>
                <a:rPr lang="zh-CN" altLang="en-US" sz="1600">
                  <a:solidFill>
                    <a:srgbClr val="000000"/>
                  </a:solidFill>
                  <a:effectLst>
                    <a:outerShdw blurRad="38100" dist="38100" dir="2700000" algn="tl">
                      <a:srgbClr val="DDDDDD"/>
                    </a:outerShdw>
                  </a:effectLst>
                  <a:latin typeface="Times New Roman" panose="02020603050405020304" charset="0"/>
                </a:rPr>
                <a:t>防洪库容</a:t>
              </a:r>
              <a:r>
                <a:rPr lang="en-US" altLang="zh-CN" sz="1600" u="sng">
                  <a:solidFill>
                    <a:srgbClr val="000000"/>
                  </a:solidFill>
                  <a:effectLst>
                    <a:outerShdw blurRad="38100" dist="38100" dir="2700000" algn="tl">
                      <a:srgbClr val="DDDDDD"/>
                    </a:outerShdw>
                  </a:effectLst>
                  <a:latin typeface="Times New Roman" panose="02020603050405020304" charset="0"/>
                </a:rPr>
                <a:t>221.5</a:t>
              </a:r>
              <a:r>
                <a:rPr lang="zh-CN" altLang="en-US" sz="1600" u="sng">
                  <a:solidFill>
                    <a:srgbClr val="000000"/>
                  </a:solidFill>
                  <a:effectLst>
                    <a:outerShdw blurRad="38100" dist="38100" dir="2700000" algn="tl">
                      <a:srgbClr val="DDDDDD"/>
                    </a:outerShdw>
                  </a:effectLst>
                  <a:latin typeface="Times New Roman" panose="02020603050405020304" charset="0"/>
                </a:rPr>
                <a:t>亿</a:t>
              </a:r>
              <a:r>
                <a:rPr lang="en-US" altLang="zh-CN" sz="1600" u="sng">
                  <a:solidFill>
                    <a:srgbClr val="000000"/>
                  </a:solidFill>
                  <a:effectLst>
                    <a:outerShdw blurRad="38100" dist="38100" dir="2700000" algn="tl">
                      <a:srgbClr val="DDDDDD"/>
                    </a:outerShdw>
                  </a:effectLst>
                  <a:latin typeface="Times New Roman" panose="02020603050405020304" charset="0"/>
                </a:rPr>
                <a:t>m</a:t>
              </a:r>
              <a:r>
                <a:rPr lang="en-US" altLang="zh-CN" sz="1600" u="sng" baseline="30000">
                  <a:solidFill>
                    <a:srgbClr val="000000"/>
                  </a:solidFill>
                  <a:effectLst>
                    <a:outerShdw blurRad="38100" dist="38100" dir="2700000" algn="tl">
                      <a:srgbClr val="DDDDDD"/>
                    </a:outerShdw>
                  </a:effectLst>
                  <a:latin typeface="Times New Roman" panose="02020603050405020304" charset="0"/>
                </a:rPr>
                <a:t>3</a:t>
              </a:r>
              <a:endParaRPr lang="en-US" altLang="zh-CN" sz="1600" u="sng" baseline="30000">
                <a:solidFill>
                  <a:srgbClr val="000000"/>
                </a:solidFill>
                <a:effectLst>
                  <a:outerShdw blurRad="38100" dist="38100" dir="2700000" algn="tl">
                    <a:srgbClr val="DDDDDD"/>
                  </a:outerShdw>
                </a:effectLst>
                <a:latin typeface="Times New Roman" panose="02020603050405020304" charset="0"/>
              </a:endParaRPr>
            </a:p>
          </p:txBody>
        </p:sp>
        <p:sp>
          <p:nvSpPr>
            <p:cNvPr id="22549" name="Line 27"/>
            <p:cNvSpPr>
              <a:spLocks noChangeShapeType="1"/>
            </p:cNvSpPr>
            <p:nvPr/>
          </p:nvSpPr>
          <p:spPr bwMode="auto">
            <a:xfrm flipV="1">
              <a:off x="1668" y="2306"/>
              <a:ext cx="643" cy="454"/>
            </a:xfrm>
            <a:prstGeom prst="line">
              <a:avLst/>
            </a:prstGeom>
            <a:noFill/>
            <a:ln w="12700">
              <a:solidFill>
                <a:schemeClr val="bg2"/>
              </a:solidFill>
              <a:round/>
              <a:headEnd type="none" w="sm" len="sm"/>
              <a:tailEnd type="stealth" w="med" len="med"/>
            </a:ln>
          </p:spPr>
          <p:txBody>
            <a:bodyPr/>
            <a:lstStyle/>
            <a:p>
              <a:endParaRPr lang="zh-CN" altLang="en-US"/>
            </a:p>
          </p:txBody>
        </p:sp>
        <p:sp>
          <p:nvSpPr>
            <p:cNvPr id="22550" name="Line 28"/>
            <p:cNvSpPr>
              <a:spLocks noChangeShapeType="1"/>
            </p:cNvSpPr>
            <p:nvPr/>
          </p:nvSpPr>
          <p:spPr bwMode="auto">
            <a:xfrm>
              <a:off x="4073" y="3758"/>
              <a:ext cx="49" cy="151"/>
            </a:xfrm>
            <a:prstGeom prst="line">
              <a:avLst/>
            </a:prstGeom>
            <a:noFill/>
            <a:ln w="12700">
              <a:solidFill>
                <a:schemeClr val="bg2"/>
              </a:solidFill>
              <a:round/>
              <a:headEnd type="none" w="sm" len="sm"/>
              <a:tailEnd type="none" w="sm" len="sm"/>
            </a:ln>
          </p:spPr>
          <p:txBody>
            <a:bodyPr/>
            <a:lstStyle/>
            <a:p>
              <a:endParaRPr lang="zh-CN" altLang="en-US"/>
            </a:p>
          </p:txBody>
        </p:sp>
        <p:sp>
          <p:nvSpPr>
            <p:cNvPr id="22551" name="Line 29"/>
            <p:cNvSpPr>
              <a:spLocks noChangeShapeType="1"/>
            </p:cNvSpPr>
            <p:nvPr/>
          </p:nvSpPr>
          <p:spPr bwMode="auto">
            <a:xfrm>
              <a:off x="1216" y="1898"/>
              <a:ext cx="2860" cy="1848"/>
            </a:xfrm>
            <a:prstGeom prst="line">
              <a:avLst/>
            </a:prstGeom>
            <a:noFill/>
            <a:ln w="12700">
              <a:solidFill>
                <a:schemeClr val="bg2"/>
              </a:solidFill>
              <a:round/>
              <a:headEnd type="none" w="sm" len="sm"/>
              <a:tailEnd type="none" w="sm" len="sm"/>
            </a:ln>
          </p:spPr>
          <p:txBody>
            <a:bodyPr/>
            <a:lstStyle/>
            <a:p>
              <a:endParaRPr lang="zh-CN" altLang="en-US"/>
            </a:p>
          </p:txBody>
        </p:sp>
        <p:sp>
          <p:nvSpPr>
            <p:cNvPr id="22552" name="Line 30"/>
            <p:cNvSpPr>
              <a:spLocks noChangeShapeType="1"/>
            </p:cNvSpPr>
            <p:nvPr/>
          </p:nvSpPr>
          <p:spPr bwMode="auto">
            <a:xfrm>
              <a:off x="2120" y="2467"/>
              <a:ext cx="51" cy="162"/>
            </a:xfrm>
            <a:prstGeom prst="line">
              <a:avLst/>
            </a:prstGeom>
            <a:noFill/>
            <a:ln w="12700">
              <a:solidFill>
                <a:schemeClr val="bg2"/>
              </a:solidFill>
              <a:round/>
              <a:headEnd type="none" w="sm" len="sm"/>
              <a:tailEnd type="none" w="sm" len="sm"/>
            </a:ln>
          </p:spPr>
          <p:txBody>
            <a:bodyPr/>
            <a:lstStyle/>
            <a:p>
              <a:endParaRPr lang="zh-CN" altLang="en-US"/>
            </a:p>
          </p:txBody>
        </p:sp>
        <p:sp>
          <p:nvSpPr>
            <p:cNvPr id="22553" name="Line 31"/>
            <p:cNvSpPr>
              <a:spLocks noChangeShapeType="1"/>
            </p:cNvSpPr>
            <p:nvPr/>
          </p:nvSpPr>
          <p:spPr bwMode="auto">
            <a:xfrm>
              <a:off x="1862" y="2304"/>
              <a:ext cx="52" cy="163"/>
            </a:xfrm>
            <a:prstGeom prst="line">
              <a:avLst/>
            </a:prstGeom>
            <a:noFill/>
            <a:ln w="12700">
              <a:solidFill>
                <a:schemeClr val="bg2"/>
              </a:solidFill>
              <a:round/>
              <a:headEnd type="none" w="sm" len="sm"/>
              <a:tailEnd type="none" w="sm" len="sm"/>
            </a:ln>
          </p:spPr>
          <p:txBody>
            <a:bodyPr/>
            <a:lstStyle/>
            <a:p>
              <a:endParaRPr lang="zh-CN" altLang="en-US"/>
            </a:p>
          </p:txBody>
        </p:sp>
        <p:sp>
          <p:nvSpPr>
            <p:cNvPr id="22554" name="Line 32"/>
            <p:cNvSpPr>
              <a:spLocks noChangeShapeType="1"/>
            </p:cNvSpPr>
            <p:nvPr/>
          </p:nvSpPr>
          <p:spPr bwMode="auto">
            <a:xfrm>
              <a:off x="1657" y="2183"/>
              <a:ext cx="51" cy="162"/>
            </a:xfrm>
            <a:prstGeom prst="line">
              <a:avLst/>
            </a:prstGeom>
            <a:noFill/>
            <a:ln w="12700">
              <a:solidFill>
                <a:schemeClr val="bg2"/>
              </a:solidFill>
              <a:round/>
              <a:headEnd type="none" w="sm" len="sm"/>
              <a:tailEnd type="none" w="sm" len="sm"/>
            </a:ln>
          </p:spPr>
          <p:txBody>
            <a:bodyPr/>
            <a:lstStyle/>
            <a:p>
              <a:endParaRPr lang="zh-CN" altLang="en-US"/>
            </a:p>
          </p:txBody>
        </p:sp>
        <p:sp>
          <p:nvSpPr>
            <p:cNvPr id="22555" name="Line 33"/>
            <p:cNvSpPr>
              <a:spLocks noChangeShapeType="1"/>
            </p:cNvSpPr>
            <p:nvPr/>
          </p:nvSpPr>
          <p:spPr bwMode="auto">
            <a:xfrm>
              <a:off x="1451" y="2061"/>
              <a:ext cx="51" cy="162"/>
            </a:xfrm>
            <a:prstGeom prst="line">
              <a:avLst/>
            </a:prstGeom>
            <a:noFill/>
            <a:ln w="12700">
              <a:solidFill>
                <a:schemeClr val="bg2"/>
              </a:solidFill>
              <a:round/>
              <a:headEnd type="none" w="sm" len="sm"/>
              <a:tailEnd type="none" w="sm" len="sm"/>
            </a:ln>
          </p:spPr>
          <p:txBody>
            <a:bodyPr/>
            <a:lstStyle/>
            <a:p>
              <a:endParaRPr lang="zh-CN" altLang="en-US"/>
            </a:p>
          </p:txBody>
        </p:sp>
        <p:sp>
          <p:nvSpPr>
            <p:cNvPr id="22556" name="Line 34"/>
            <p:cNvSpPr>
              <a:spLocks noChangeShapeType="1"/>
            </p:cNvSpPr>
            <p:nvPr/>
          </p:nvSpPr>
          <p:spPr bwMode="auto">
            <a:xfrm>
              <a:off x="3405" y="3319"/>
              <a:ext cx="52" cy="162"/>
            </a:xfrm>
            <a:prstGeom prst="line">
              <a:avLst/>
            </a:prstGeom>
            <a:noFill/>
            <a:ln w="12700">
              <a:solidFill>
                <a:schemeClr val="bg2"/>
              </a:solidFill>
              <a:round/>
              <a:headEnd type="none" w="sm" len="sm"/>
              <a:tailEnd type="none" w="sm" len="sm"/>
            </a:ln>
          </p:spPr>
          <p:txBody>
            <a:bodyPr/>
            <a:lstStyle/>
            <a:p>
              <a:endParaRPr lang="zh-CN" altLang="en-US"/>
            </a:p>
          </p:txBody>
        </p:sp>
        <p:sp>
          <p:nvSpPr>
            <p:cNvPr id="22557" name="Line 35"/>
            <p:cNvSpPr>
              <a:spLocks noChangeShapeType="1"/>
            </p:cNvSpPr>
            <p:nvPr/>
          </p:nvSpPr>
          <p:spPr bwMode="auto">
            <a:xfrm>
              <a:off x="3200" y="3156"/>
              <a:ext cx="51" cy="163"/>
            </a:xfrm>
            <a:prstGeom prst="line">
              <a:avLst/>
            </a:prstGeom>
            <a:noFill/>
            <a:ln w="12700">
              <a:solidFill>
                <a:schemeClr val="bg2"/>
              </a:solidFill>
              <a:round/>
              <a:headEnd type="none" w="sm" len="sm"/>
              <a:tailEnd type="none" w="sm" len="sm"/>
            </a:ln>
          </p:spPr>
          <p:txBody>
            <a:bodyPr/>
            <a:lstStyle/>
            <a:p>
              <a:endParaRPr lang="zh-CN" altLang="en-US"/>
            </a:p>
          </p:txBody>
        </p:sp>
        <p:sp>
          <p:nvSpPr>
            <p:cNvPr id="22558" name="Line 36"/>
            <p:cNvSpPr>
              <a:spLocks noChangeShapeType="1"/>
            </p:cNvSpPr>
            <p:nvPr/>
          </p:nvSpPr>
          <p:spPr bwMode="auto">
            <a:xfrm>
              <a:off x="2994" y="3035"/>
              <a:ext cx="51" cy="162"/>
            </a:xfrm>
            <a:prstGeom prst="line">
              <a:avLst/>
            </a:prstGeom>
            <a:noFill/>
            <a:ln w="12700">
              <a:solidFill>
                <a:schemeClr val="bg2"/>
              </a:solidFill>
              <a:round/>
              <a:headEnd type="none" w="sm" len="sm"/>
              <a:tailEnd type="none" w="sm" len="sm"/>
            </a:ln>
          </p:spPr>
          <p:txBody>
            <a:bodyPr/>
            <a:lstStyle/>
            <a:p>
              <a:endParaRPr lang="zh-CN" altLang="en-US"/>
            </a:p>
          </p:txBody>
        </p:sp>
        <p:sp>
          <p:nvSpPr>
            <p:cNvPr id="22559" name="Line 37"/>
            <p:cNvSpPr>
              <a:spLocks noChangeShapeType="1"/>
            </p:cNvSpPr>
            <p:nvPr/>
          </p:nvSpPr>
          <p:spPr bwMode="auto">
            <a:xfrm>
              <a:off x="2788" y="2913"/>
              <a:ext cx="52" cy="162"/>
            </a:xfrm>
            <a:prstGeom prst="line">
              <a:avLst/>
            </a:prstGeom>
            <a:noFill/>
            <a:ln w="12700">
              <a:solidFill>
                <a:schemeClr val="bg2"/>
              </a:solidFill>
              <a:round/>
              <a:headEnd type="none" w="sm" len="sm"/>
              <a:tailEnd type="none" w="sm" len="sm"/>
            </a:ln>
          </p:spPr>
          <p:txBody>
            <a:bodyPr/>
            <a:lstStyle/>
            <a:p>
              <a:endParaRPr lang="zh-CN" altLang="en-US"/>
            </a:p>
          </p:txBody>
        </p:sp>
        <p:sp>
          <p:nvSpPr>
            <p:cNvPr id="22560" name="Line 38"/>
            <p:cNvSpPr>
              <a:spLocks noChangeShapeType="1"/>
            </p:cNvSpPr>
            <p:nvPr/>
          </p:nvSpPr>
          <p:spPr bwMode="auto">
            <a:xfrm>
              <a:off x="2582" y="2791"/>
              <a:ext cx="52" cy="162"/>
            </a:xfrm>
            <a:prstGeom prst="line">
              <a:avLst/>
            </a:prstGeom>
            <a:noFill/>
            <a:ln w="12700">
              <a:solidFill>
                <a:schemeClr val="bg2"/>
              </a:solidFill>
              <a:round/>
              <a:headEnd type="none" w="sm" len="sm"/>
              <a:tailEnd type="none" w="sm" len="sm"/>
            </a:ln>
          </p:spPr>
          <p:txBody>
            <a:bodyPr/>
            <a:lstStyle/>
            <a:p>
              <a:endParaRPr lang="zh-CN" altLang="en-US"/>
            </a:p>
          </p:txBody>
        </p:sp>
        <p:sp>
          <p:nvSpPr>
            <p:cNvPr id="22561" name="Line 39"/>
            <p:cNvSpPr>
              <a:spLocks noChangeShapeType="1"/>
            </p:cNvSpPr>
            <p:nvPr/>
          </p:nvSpPr>
          <p:spPr bwMode="auto">
            <a:xfrm>
              <a:off x="2325" y="2629"/>
              <a:ext cx="52" cy="162"/>
            </a:xfrm>
            <a:prstGeom prst="line">
              <a:avLst/>
            </a:prstGeom>
            <a:noFill/>
            <a:ln w="12700">
              <a:solidFill>
                <a:schemeClr val="bg2"/>
              </a:solidFill>
              <a:round/>
              <a:headEnd type="none" w="sm" len="sm"/>
              <a:tailEnd type="none" w="sm" len="sm"/>
            </a:ln>
          </p:spPr>
          <p:txBody>
            <a:bodyPr/>
            <a:lstStyle/>
            <a:p>
              <a:endParaRPr lang="zh-CN" altLang="en-US"/>
            </a:p>
          </p:txBody>
        </p:sp>
        <p:sp>
          <p:nvSpPr>
            <p:cNvPr id="22562" name="Line 40"/>
            <p:cNvSpPr>
              <a:spLocks noChangeShapeType="1"/>
            </p:cNvSpPr>
            <p:nvPr/>
          </p:nvSpPr>
          <p:spPr bwMode="auto">
            <a:xfrm>
              <a:off x="3868" y="3603"/>
              <a:ext cx="52" cy="162"/>
            </a:xfrm>
            <a:prstGeom prst="line">
              <a:avLst/>
            </a:prstGeom>
            <a:noFill/>
            <a:ln w="12700">
              <a:solidFill>
                <a:schemeClr val="bg2"/>
              </a:solidFill>
              <a:round/>
              <a:headEnd type="none" w="sm" len="sm"/>
              <a:tailEnd type="none" w="sm" len="sm"/>
            </a:ln>
          </p:spPr>
          <p:txBody>
            <a:bodyPr/>
            <a:lstStyle/>
            <a:p>
              <a:endParaRPr lang="zh-CN" altLang="en-US"/>
            </a:p>
          </p:txBody>
        </p:sp>
        <p:sp>
          <p:nvSpPr>
            <p:cNvPr id="22563" name="Line 41"/>
            <p:cNvSpPr>
              <a:spLocks noChangeShapeType="1"/>
            </p:cNvSpPr>
            <p:nvPr/>
          </p:nvSpPr>
          <p:spPr bwMode="auto">
            <a:xfrm>
              <a:off x="3611" y="3440"/>
              <a:ext cx="51" cy="163"/>
            </a:xfrm>
            <a:prstGeom prst="line">
              <a:avLst/>
            </a:prstGeom>
            <a:noFill/>
            <a:ln w="12700">
              <a:solidFill>
                <a:schemeClr val="bg2"/>
              </a:solidFill>
              <a:round/>
              <a:headEnd type="none" w="sm" len="sm"/>
              <a:tailEnd type="none" w="sm" len="sm"/>
            </a:ln>
          </p:spPr>
          <p:txBody>
            <a:bodyPr/>
            <a:lstStyle/>
            <a:p>
              <a:endParaRPr lang="zh-CN" altLang="en-US"/>
            </a:p>
          </p:txBody>
        </p:sp>
        <p:sp>
          <p:nvSpPr>
            <p:cNvPr id="22564" name="Line 42"/>
            <p:cNvSpPr>
              <a:spLocks noChangeShapeType="1"/>
            </p:cNvSpPr>
            <p:nvPr/>
          </p:nvSpPr>
          <p:spPr bwMode="auto">
            <a:xfrm>
              <a:off x="3987" y="3216"/>
              <a:ext cx="1451" cy="1"/>
            </a:xfrm>
            <a:prstGeom prst="line">
              <a:avLst/>
            </a:prstGeom>
            <a:noFill/>
            <a:ln w="25400">
              <a:solidFill>
                <a:schemeClr val="bg2"/>
              </a:solidFill>
              <a:round/>
              <a:headEnd type="none" w="sm" len="sm"/>
              <a:tailEnd type="none" w="sm" len="sm"/>
            </a:ln>
          </p:spPr>
          <p:txBody>
            <a:bodyPr/>
            <a:lstStyle/>
            <a:p>
              <a:endParaRPr lang="zh-CN" altLang="en-US"/>
            </a:p>
          </p:txBody>
        </p:sp>
        <p:sp>
          <p:nvSpPr>
            <p:cNvPr id="22565" name="Line 43"/>
            <p:cNvSpPr>
              <a:spLocks noChangeShapeType="1"/>
            </p:cNvSpPr>
            <p:nvPr/>
          </p:nvSpPr>
          <p:spPr bwMode="auto">
            <a:xfrm flipH="1" flipV="1">
              <a:off x="3443" y="2536"/>
              <a:ext cx="544" cy="680"/>
            </a:xfrm>
            <a:prstGeom prst="line">
              <a:avLst/>
            </a:prstGeom>
            <a:noFill/>
            <a:ln w="12700">
              <a:solidFill>
                <a:schemeClr val="bg2"/>
              </a:solidFill>
              <a:round/>
              <a:headEnd type="none" w="sm" len="sm"/>
              <a:tailEnd type="stealth" w="med" len="med"/>
            </a:ln>
          </p:spPr>
          <p:txBody>
            <a:bodyPr/>
            <a:lstStyle/>
            <a:p>
              <a:endParaRPr lang="zh-CN" altLang="en-US"/>
            </a:p>
          </p:txBody>
        </p:sp>
        <p:sp>
          <p:nvSpPr>
            <p:cNvPr id="22566" name="Line 44"/>
            <p:cNvSpPr>
              <a:spLocks noChangeShapeType="1"/>
            </p:cNvSpPr>
            <p:nvPr/>
          </p:nvSpPr>
          <p:spPr bwMode="auto">
            <a:xfrm flipH="1" flipV="1">
              <a:off x="3755" y="2078"/>
              <a:ext cx="1225" cy="1"/>
            </a:xfrm>
            <a:prstGeom prst="line">
              <a:avLst/>
            </a:prstGeom>
            <a:noFill/>
            <a:ln w="12700">
              <a:solidFill>
                <a:schemeClr val="bg2"/>
              </a:solidFill>
              <a:round/>
              <a:headEnd type="none" w="sm" len="sm"/>
              <a:tailEnd type="none" w="sm" len="sm"/>
            </a:ln>
          </p:spPr>
          <p:txBody>
            <a:bodyPr/>
            <a:lstStyle/>
            <a:p>
              <a:endParaRPr lang="zh-CN" altLang="en-US"/>
            </a:p>
          </p:txBody>
        </p:sp>
        <p:sp>
          <p:nvSpPr>
            <p:cNvPr id="22567" name="Line 45"/>
            <p:cNvSpPr>
              <a:spLocks noChangeShapeType="1"/>
            </p:cNvSpPr>
            <p:nvPr/>
          </p:nvSpPr>
          <p:spPr bwMode="auto">
            <a:xfrm flipH="1" flipV="1">
              <a:off x="3982" y="2078"/>
              <a:ext cx="353" cy="1701"/>
            </a:xfrm>
            <a:prstGeom prst="line">
              <a:avLst/>
            </a:prstGeom>
            <a:noFill/>
            <a:ln w="12700">
              <a:solidFill>
                <a:schemeClr val="bg2"/>
              </a:solidFill>
              <a:round/>
              <a:headEnd type="none" w="sm" len="sm"/>
              <a:tailEnd type="none" w="sm" len="sm"/>
            </a:ln>
          </p:spPr>
          <p:txBody>
            <a:bodyPr/>
            <a:lstStyle/>
            <a:p>
              <a:endParaRPr lang="zh-CN" altLang="en-US"/>
            </a:p>
          </p:txBody>
        </p:sp>
        <p:sp>
          <p:nvSpPr>
            <p:cNvPr id="22568" name="Line 46"/>
            <p:cNvSpPr>
              <a:spLocks noChangeShapeType="1"/>
            </p:cNvSpPr>
            <p:nvPr/>
          </p:nvSpPr>
          <p:spPr bwMode="auto">
            <a:xfrm>
              <a:off x="4074" y="3758"/>
              <a:ext cx="907" cy="136"/>
            </a:xfrm>
            <a:prstGeom prst="line">
              <a:avLst/>
            </a:prstGeom>
            <a:noFill/>
            <a:ln w="12700">
              <a:solidFill>
                <a:schemeClr val="bg2"/>
              </a:solidFill>
              <a:round/>
              <a:headEnd type="none" w="sm" len="sm"/>
              <a:tailEnd type="none" w="sm" len="sm"/>
            </a:ln>
          </p:spPr>
          <p:txBody>
            <a:bodyPr/>
            <a:lstStyle/>
            <a:p>
              <a:endParaRPr lang="zh-CN" altLang="en-US"/>
            </a:p>
          </p:txBody>
        </p:sp>
        <p:sp>
          <p:nvSpPr>
            <p:cNvPr id="22569" name="Line 47"/>
            <p:cNvSpPr>
              <a:spLocks noChangeShapeType="1"/>
            </p:cNvSpPr>
            <p:nvPr/>
          </p:nvSpPr>
          <p:spPr bwMode="auto">
            <a:xfrm>
              <a:off x="4346" y="3804"/>
              <a:ext cx="91" cy="181"/>
            </a:xfrm>
            <a:prstGeom prst="line">
              <a:avLst/>
            </a:prstGeom>
            <a:noFill/>
            <a:ln w="12700">
              <a:solidFill>
                <a:schemeClr val="bg2"/>
              </a:solidFill>
              <a:round/>
              <a:headEnd type="none" w="sm" len="sm"/>
              <a:tailEnd type="none" w="sm" len="sm"/>
            </a:ln>
          </p:spPr>
          <p:txBody>
            <a:bodyPr/>
            <a:lstStyle/>
            <a:p>
              <a:endParaRPr lang="zh-CN" altLang="en-US"/>
            </a:p>
          </p:txBody>
        </p:sp>
        <p:sp>
          <p:nvSpPr>
            <p:cNvPr id="22570" name="Freeform 48"/>
            <p:cNvSpPr/>
            <p:nvPr/>
          </p:nvSpPr>
          <p:spPr bwMode="auto">
            <a:xfrm>
              <a:off x="3257" y="2443"/>
              <a:ext cx="92" cy="91"/>
            </a:xfrm>
            <a:custGeom>
              <a:avLst/>
              <a:gdLst>
                <a:gd name="T0" fmla="*/ 0 w 92"/>
                <a:gd name="T1" fmla="*/ 0 h 91"/>
                <a:gd name="T2" fmla="*/ 91 w 92"/>
                <a:gd name="T3" fmla="*/ 0 h 91"/>
                <a:gd name="T4" fmla="*/ 45 w 92"/>
                <a:gd name="T5" fmla="*/ 90 h 91"/>
                <a:gd name="T6" fmla="*/ 0 w 92"/>
                <a:gd name="T7" fmla="*/ 0 h 91"/>
                <a:gd name="T8" fmla="*/ 0 60000 65536"/>
                <a:gd name="T9" fmla="*/ 0 60000 65536"/>
                <a:gd name="T10" fmla="*/ 0 60000 65536"/>
                <a:gd name="T11" fmla="*/ 0 60000 65536"/>
                <a:gd name="T12" fmla="*/ 0 w 92"/>
                <a:gd name="T13" fmla="*/ 0 h 91"/>
                <a:gd name="T14" fmla="*/ 92 w 92"/>
                <a:gd name="T15" fmla="*/ 91 h 91"/>
              </a:gdLst>
              <a:ahLst/>
              <a:cxnLst>
                <a:cxn ang="T8">
                  <a:pos x="T0" y="T1"/>
                </a:cxn>
                <a:cxn ang="T9">
                  <a:pos x="T2" y="T3"/>
                </a:cxn>
                <a:cxn ang="T10">
                  <a:pos x="T4" y="T5"/>
                </a:cxn>
                <a:cxn ang="T11">
                  <a:pos x="T6" y="T7"/>
                </a:cxn>
              </a:cxnLst>
              <a:rect l="T12" t="T13" r="T14" b="T15"/>
              <a:pathLst>
                <a:path w="92" h="91">
                  <a:moveTo>
                    <a:pt x="0" y="0"/>
                  </a:moveTo>
                  <a:lnTo>
                    <a:pt x="91" y="0"/>
                  </a:lnTo>
                  <a:lnTo>
                    <a:pt x="45" y="90"/>
                  </a:lnTo>
                  <a:lnTo>
                    <a:pt x="0" y="0"/>
                  </a:lnTo>
                </a:path>
              </a:pathLst>
            </a:custGeom>
            <a:noFill/>
            <a:ln w="12700" cap="rnd">
              <a:solidFill>
                <a:schemeClr val="bg2"/>
              </a:solidFill>
              <a:round/>
            </a:ln>
          </p:spPr>
          <p:txBody>
            <a:bodyPr/>
            <a:lstStyle/>
            <a:p>
              <a:endParaRPr lang="zh-CN" altLang="en-US"/>
            </a:p>
          </p:txBody>
        </p:sp>
        <p:sp>
          <p:nvSpPr>
            <p:cNvPr id="22571" name="Freeform 49"/>
            <p:cNvSpPr/>
            <p:nvPr/>
          </p:nvSpPr>
          <p:spPr bwMode="auto">
            <a:xfrm>
              <a:off x="3983" y="1944"/>
              <a:ext cx="92" cy="116"/>
            </a:xfrm>
            <a:custGeom>
              <a:avLst/>
              <a:gdLst>
                <a:gd name="T0" fmla="*/ 0 w 92"/>
                <a:gd name="T1" fmla="*/ 0 h 116"/>
                <a:gd name="T2" fmla="*/ 91 w 92"/>
                <a:gd name="T3" fmla="*/ 0 h 116"/>
                <a:gd name="T4" fmla="*/ 45 w 92"/>
                <a:gd name="T5" fmla="*/ 115 h 116"/>
                <a:gd name="T6" fmla="*/ 0 w 92"/>
                <a:gd name="T7" fmla="*/ 0 h 116"/>
                <a:gd name="T8" fmla="*/ 0 60000 65536"/>
                <a:gd name="T9" fmla="*/ 0 60000 65536"/>
                <a:gd name="T10" fmla="*/ 0 60000 65536"/>
                <a:gd name="T11" fmla="*/ 0 60000 65536"/>
                <a:gd name="T12" fmla="*/ 0 w 92"/>
                <a:gd name="T13" fmla="*/ 0 h 116"/>
                <a:gd name="T14" fmla="*/ 92 w 92"/>
                <a:gd name="T15" fmla="*/ 116 h 116"/>
              </a:gdLst>
              <a:ahLst/>
              <a:cxnLst>
                <a:cxn ang="T8">
                  <a:pos x="T0" y="T1"/>
                </a:cxn>
                <a:cxn ang="T9">
                  <a:pos x="T2" y="T3"/>
                </a:cxn>
                <a:cxn ang="T10">
                  <a:pos x="T4" y="T5"/>
                </a:cxn>
                <a:cxn ang="T11">
                  <a:pos x="T6" y="T7"/>
                </a:cxn>
              </a:cxnLst>
              <a:rect l="T12" t="T13" r="T14" b="T15"/>
              <a:pathLst>
                <a:path w="92" h="116">
                  <a:moveTo>
                    <a:pt x="0" y="0"/>
                  </a:moveTo>
                  <a:lnTo>
                    <a:pt x="91" y="0"/>
                  </a:lnTo>
                  <a:lnTo>
                    <a:pt x="45" y="115"/>
                  </a:lnTo>
                  <a:lnTo>
                    <a:pt x="0" y="0"/>
                  </a:lnTo>
                </a:path>
              </a:pathLst>
            </a:custGeom>
            <a:noFill/>
            <a:ln w="12700" cap="rnd">
              <a:solidFill>
                <a:schemeClr val="bg2"/>
              </a:solidFill>
              <a:round/>
            </a:ln>
          </p:spPr>
          <p:txBody>
            <a:bodyPr/>
            <a:lstStyle/>
            <a:p>
              <a:endParaRPr lang="zh-CN" altLang="en-US"/>
            </a:p>
          </p:txBody>
        </p:sp>
        <p:sp>
          <p:nvSpPr>
            <p:cNvPr id="44" name="Rectangle 50"/>
            <p:cNvSpPr>
              <a:spLocks noChangeArrowheads="1"/>
            </p:cNvSpPr>
            <p:nvPr/>
          </p:nvSpPr>
          <p:spPr bwMode="auto">
            <a:xfrm>
              <a:off x="4119" y="1853"/>
              <a:ext cx="862" cy="181"/>
            </a:xfrm>
            <a:prstGeom prst="rect">
              <a:avLst/>
            </a:prstGeom>
            <a:noFill/>
            <a:ln w="9525">
              <a:noFill/>
              <a:miter lim="800000"/>
            </a:ln>
            <a:effectLst/>
          </p:spPr>
          <p:txBody>
            <a:bodyPr lIns="92075" tIns="46038" rIns="92075" bIns="46038"/>
            <a:lstStyle/>
            <a:p>
              <a:pPr algn="ctr" eaLnBrk="1" hangingPunct="1">
                <a:lnSpc>
                  <a:spcPct val="90000"/>
                </a:lnSpc>
                <a:spcBef>
                  <a:spcPct val="50000"/>
                </a:spcBef>
                <a:buFontTx/>
                <a:buChar char="•"/>
              </a:pPr>
              <a:r>
                <a:rPr lang="zh-CN" altLang="en-US" sz="1600" u="sng">
                  <a:solidFill>
                    <a:srgbClr val="000000"/>
                  </a:solidFill>
                  <a:effectLst>
                    <a:outerShdw blurRad="38100" dist="38100" dir="2700000" algn="tl">
                      <a:srgbClr val="DDDDDD"/>
                    </a:outerShdw>
                  </a:effectLst>
                  <a:latin typeface="Times New Roman" panose="02020603050405020304" charset="0"/>
                </a:rPr>
                <a:t>坝顶高</a:t>
              </a:r>
              <a:r>
                <a:rPr lang="en-US" altLang="zh-CN" sz="1600" u="sng">
                  <a:solidFill>
                    <a:srgbClr val="000000"/>
                  </a:solidFill>
                  <a:effectLst>
                    <a:outerShdw blurRad="38100" dist="38100" dir="2700000" algn="tl">
                      <a:srgbClr val="DDDDDD"/>
                    </a:outerShdw>
                  </a:effectLst>
                  <a:latin typeface="Times New Roman" panose="02020603050405020304" charset="0"/>
                </a:rPr>
                <a:t>185m</a:t>
              </a:r>
              <a:endParaRPr lang="en-US" altLang="zh-CN" sz="1600" u="sng">
                <a:solidFill>
                  <a:srgbClr val="000000"/>
                </a:solidFill>
                <a:effectLst>
                  <a:outerShdw blurRad="38100" dist="38100" dir="2700000" algn="tl">
                    <a:srgbClr val="DDDDDD"/>
                  </a:outerShdw>
                </a:effectLst>
                <a:latin typeface="Times New Roman" panose="02020603050405020304" charset="0"/>
              </a:endParaRPr>
            </a:p>
          </p:txBody>
        </p:sp>
        <p:sp>
          <p:nvSpPr>
            <p:cNvPr id="22573" name="Line 51"/>
            <p:cNvSpPr>
              <a:spLocks noChangeShapeType="1"/>
            </p:cNvSpPr>
            <p:nvPr/>
          </p:nvSpPr>
          <p:spPr bwMode="auto">
            <a:xfrm>
              <a:off x="4074" y="2080"/>
              <a:ext cx="907" cy="1"/>
            </a:xfrm>
            <a:prstGeom prst="line">
              <a:avLst/>
            </a:prstGeom>
            <a:noFill/>
            <a:ln w="25400">
              <a:solidFill>
                <a:schemeClr val="bg2"/>
              </a:solidFill>
              <a:round/>
              <a:headEnd type="none" w="sm" len="sm"/>
              <a:tailEnd type="none" w="sm" len="sm"/>
            </a:ln>
          </p:spPr>
          <p:txBody>
            <a:bodyPr/>
            <a:lstStyle/>
            <a:p>
              <a:endParaRPr lang="zh-CN" altLang="en-US"/>
            </a:p>
          </p:txBody>
        </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descr="图片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774700"/>
            <a:ext cx="8953500" cy="541337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73"/>
          <p:cNvGraphicFramePr>
            <a:graphicFrameLocks noGrp="1"/>
          </p:cNvGraphicFramePr>
          <p:nvPr/>
        </p:nvGraphicFramePr>
        <p:xfrm>
          <a:off x="395288" y="1484313"/>
          <a:ext cx="8424862" cy="4103550"/>
        </p:xfrm>
        <a:graphic>
          <a:graphicData uri="http://schemas.openxmlformats.org/drawingml/2006/table">
            <a:tbl>
              <a:tblPr/>
              <a:tblGrid>
                <a:gridCol w="647700"/>
                <a:gridCol w="1223962"/>
                <a:gridCol w="1368425"/>
                <a:gridCol w="1257300"/>
                <a:gridCol w="1211263"/>
                <a:gridCol w="1185862"/>
                <a:gridCol w="1530350"/>
              </a:tblGrid>
              <a:tr h="2011363">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年份</a:t>
                      </a:r>
                      <a:endPar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Year </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洪水次数</a:t>
                      </a:r>
                      <a:endPar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Number of Floods </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最高洪峰</a:t>
                      </a:r>
                      <a:endPar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a:t>
                      </a: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m</a:t>
                      </a:r>
                      <a:r>
                        <a:rPr kumimoji="0" lang="en-US" altLang="zh-CN" sz="1400" b="1" i="0" u="none" strike="noStrike" cap="none" normalizeH="0" baseline="30000">
                          <a:ln>
                            <a:noFill/>
                          </a:ln>
                          <a:solidFill>
                            <a:srgbClr val="000066"/>
                          </a:solidFill>
                          <a:effectLst/>
                          <a:latin typeface="Times New Roman" panose="02020603050405020304" charset="0"/>
                          <a:ea typeface="楷体_GB2312" charset="0"/>
                          <a:cs typeface="Times New Roman" panose="02020603050405020304" charset="0"/>
                        </a:rPr>
                        <a:t>3</a:t>
                      </a: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/s</a:t>
                      </a: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a:t>
                      </a:r>
                      <a:endPar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Highest Flood Crest</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 (m3/s)</a:t>
                      </a:r>
                      <a:r>
                        <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rPr>
                        <a:t> </a:t>
                      </a:r>
                      <a:endPar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出现时间</a:t>
                      </a:r>
                      <a:endPar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Date of Occurrence</a:t>
                      </a:r>
                      <a:r>
                        <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rPr>
                        <a:t> </a:t>
                      </a:r>
                      <a:endPar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最高水位</a:t>
                      </a:r>
                      <a:b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b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(m)</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Highest Water Level (m)</a:t>
                      </a:r>
                      <a:r>
                        <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rPr>
                        <a:t> </a:t>
                      </a:r>
                      <a:endPar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拦蓄洪量</a:t>
                      </a:r>
                      <a:b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b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a:t>
                      </a: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亿</a:t>
                      </a: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m</a:t>
                      </a:r>
                      <a:r>
                        <a:rPr kumimoji="0" lang="en-US" altLang="zh-CN" sz="1400" b="1" i="0" u="none" strike="noStrike" cap="none" normalizeH="0" baseline="30000">
                          <a:ln>
                            <a:noFill/>
                          </a:ln>
                          <a:solidFill>
                            <a:srgbClr val="000066"/>
                          </a:solidFill>
                          <a:effectLst/>
                          <a:latin typeface="Times New Roman" panose="02020603050405020304" charset="0"/>
                          <a:ea typeface="楷体_GB2312" charset="0"/>
                          <a:cs typeface="Times New Roman" panose="02020603050405020304" charset="0"/>
                        </a:rPr>
                        <a:t>3</a:t>
                      </a: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Amount of Floodwaters Impounded (billion m3)</a:t>
                      </a:r>
                      <a:r>
                        <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rPr>
                        <a:t> </a:t>
                      </a:r>
                      <a:endPar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最大削减</a:t>
                      </a:r>
                      <a:endPar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 洪峰</a:t>
                      </a:r>
                      <a:endPar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a:t>
                      </a: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m</a:t>
                      </a:r>
                      <a:r>
                        <a:rPr kumimoji="0" lang="en-US" altLang="zh-CN" sz="1400" b="1" i="0" u="none" strike="noStrike" cap="none" normalizeH="0" baseline="30000">
                          <a:ln>
                            <a:noFill/>
                          </a:ln>
                          <a:solidFill>
                            <a:srgbClr val="000066"/>
                          </a:solidFill>
                          <a:effectLst/>
                          <a:latin typeface="Times New Roman" panose="02020603050405020304" charset="0"/>
                          <a:ea typeface="楷体_GB2312" charset="0"/>
                          <a:cs typeface="Times New Roman" panose="02020603050405020304" charset="0"/>
                        </a:rPr>
                        <a:t>3</a:t>
                      </a: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/s</a:t>
                      </a: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a:t>
                      </a:r>
                      <a:endPar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Highest Flood Crest Reduced (m3/s)</a:t>
                      </a:r>
                      <a:r>
                        <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rPr>
                        <a:t> </a:t>
                      </a:r>
                      <a:endPar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752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2004</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60500</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9</a:t>
                      </a: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月</a:t>
                      </a: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8</a:t>
                      </a: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日</a:t>
                      </a:r>
                      <a:r>
                        <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rPr>
                        <a:t>Sept. 8 </a:t>
                      </a:r>
                      <a:endPar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136.42</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4.95</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3700</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81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2007</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52500</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7</a:t>
                      </a: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月</a:t>
                      </a: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30</a:t>
                      </a: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日</a:t>
                      </a:r>
                      <a:r>
                        <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rPr>
                        <a:t>Jul. 30 </a:t>
                      </a:r>
                      <a:endPar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146.13</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10.43</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5100</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752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2009</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55000</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8</a:t>
                      </a: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月</a:t>
                      </a: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6</a:t>
                      </a:r>
                      <a:r>
                        <a:rPr kumimoji="0" lang="zh-CN" altLang="en-US"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日</a:t>
                      </a:r>
                      <a:r>
                        <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rPr>
                        <a:t>Aug. 6 </a:t>
                      </a:r>
                      <a:endPar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152.89</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42.7</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15000</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752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2010</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7</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70000</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7</a:t>
                      </a:r>
                      <a:r>
                        <a:rPr kumimoji="0" lang="zh-CN" altLang="en-US" sz="14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月</a:t>
                      </a:r>
                      <a:r>
                        <a:rPr kumimoji="0" lang="en-US" altLang="zh-CN" sz="14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20</a:t>
                      </a:r>
                      <a:r>
                        <a:rPr kumimoji="0" lang="zh-CN" altLang="en-US" sz="14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日</a:t>
                      </a:r>
                      <a:r>
                        <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rPr>
                        <a:t>Jul. 26 </a:t>
                      </a:r>
                      <a:endParaRPr kumimoji="0" lang="en-US" altLang="zh-CN" sz="1400" b="1" i="0" u="none" strike="noStrike" cap="none" normalizeH="0" baseline="0">
                        <a:ln>
                          <a:noFill/>
                        </a:ln>
                        <a:solidFill>
                          <a:srgbClr val="000066"/>
                        </a:solidFill>
                        <a:effectLst/>
                        <a:latin typeface="Arial" panose="020B0604020202020204" pitchFamily="34" charset="0"/>
                        <a:ea typeface="楷体_GB2312" charset="0"/>
                        <a:cs typeface="Times New Roman" panose="02020603050405020304" charset="0"/>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161.02</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264.3</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30000</a:t>
                      </a:r>
                      <a:endParaRPr kumimoji="0" lang="en-US" altLang="zh-CN" sz="14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marT="45697" marB="4569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 name="Text Box 53"/>
          <p:cNvSpPr txBox="1">
            <a:spLocks noChangeArrowheads="1"/>
          </p:cNvSpPr>
          <p:nvPr/>
        </p:nvSpPr>
        <p:spPr bwMode="auto">
          <a:xfrm>
            <a:off x="698500" y="876300"/>
            <a:ext cx="7597775" cy="479425"/>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lvl1pPr>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algn="ctr" eaLnBrk="1" hangingPunct="1">
              <a:lnSpc>
                <a:spcPct val="90000"/>
              </a:lnSpc>
              <a:spcBef>
                <a:spcPct val="50000"/>
              </a:spcBef>
            </a:pPr>
            <a:r>
              <a:rPr lang="zh-CN" altLang="en-US" sz="2800">
                <a:latin typeface="Times New Roman" panose="02020603050405020304" charset="0"/>
                <a:cs typeface="Times New Roman" panose="02020603050405020304" charset="0"/>
              </a:rPr>
              <a:t>三峡枢纽</a:t>
            </a:r>
            <a:r>
              <a:rPr lang="en-US" altLang="zh-CN" sz="2800">
                <a:latin typeface="Times New Roman" panose="02020603050405020304" charset="0"/>
                <a:cs typeface="Times New Roman" panose="02020603050405020304" charset="0"/>
              </a:rPr>
              <a:t>2003</a:t>
            </a:r>
            <a:r>
              <a:rPr lang="zh-CN" altLang="en-US" sz="2800">
                <a:latin typeface="Times New Roman" panose="02020603050405020304" charset="0"/>
                <a:cs typeface="Times New Roman" panose="02020603050405020304" charset="0"/>
              </a:rPr>
              <a:t>年蓄水运用以来防洪运用情况</a:t>
            </a:r>
            <a:endParaRPr lang="zh-CN" altLang="en-US" sz="2800">
              <a:latin typeface="Times New Roman" panose="02020603050405020304" charset="0"/>
              <a:cs typeface="Times New Roman" panose="02020603050405020304" charset="0"/>
            </a:endParaRPr>
          </a:p>
        </p:txBody>
      </p:sp>
      <p:sp>
        <p:nvSpPr>
          <p:cNvPr id="4" name="Text Box 54"/>
          <p:cNvSpPr txBox="1">
            <a:spLocks noChangeArrowheads="1"/>
          </p:cNvSpPr>
          <p:nvPr/>
        </p:nvSpPr>
        <p:spPr bwMode="auto">
          <a:xfrm>
            <a:off x="323850" y="5588000"/>
            <a:ext cx="8353425" cy="1006475"/>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lvl1pPr>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lnSpc>
                <a:spcPct val="130000"/>
              </a:lnSpc>
              <a:spcBef>
                <a:spcPct val="50000"/>
              </a:spcBef>
              <a:buFontTx/>
              <a:buChar char="•"/>
            </a:pPr>
            <a:r>
              <a:rPr lang="en-US" altLang="zh-CN" sz="2400">
                <a:latin typeface="楷体_GB2312" charset="0"/>
              </a:rPr>
              <a:t>   </a:t>
            </a:r>
            <a:r>
              <a:rPr lang="zh-CN" altLang="en-US" sz="2400">
                <a:latin typeface="楷体_GB2312" charset="0"/>
              </a:rPr>
              <a:t>据长江防总办公室估算，</a:t>
            </a:r>
            <a:r>
              <a:rPr lang="en-US" altLang="zh-CN" sz="2400">
                <a:latin typeface="楷体_GB2312" charset="0"/>
              </a:rPr>
              <a:t>2010</a:t>
            </a:r>
            <a:r>
              <a:rPr lang="zh-CN" altLang="en-US" sz="2400">
                <a:latin typeface="楷体_GB2312" charset="0"/>
              </a:rPr>
              <a:t>年汛期三峡枢纽产生的防洪经济效益为</a:t>
            </a:r>
            <a:r>
              <a:rPr lang="en-US" altLang="zh-CN" sz="2400">
                <a:latin typeface="楷体_GB2312" charset="0"/>
              </a:rPr>
              <a:t>266.3</a:t>
            </a:r>
            <a:r>
              <a:rPr lang="zh-CN" altLang="en-US" sz="2400">
                <a:latin typeface="楷体_GB2312" charset="0"/>
              </a:rPr>
              <a:t>亿元。</a:t>
            </a:r>
            <a:endParaRPr lang="en-US" altLang="zh-CN" sz="2400"/>
          </a:p>
        </p:txBody>
      </p:sp>
      <p:sp>
        <p:nvSpPr>
          <p:cNvPr id="24630" name="Text Box 55"/>
          <p:cNvSpPr txBox="1">
            <a:spLocks noChangeArrowheads="1"/>
          </p:cNvSpPr>
          <p:nvPr/>
        </p:nvSpPr>
        <p:spPr bwMode="auto">
          <a:xfrm>
            <a:off x="179388" y="0"/>
            <a:ext cx="1211262" cy="646113"/>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pPr>
            <a:r>
              <a:rPr lang="zh-CN" altLang="en-US" sz="4000">
                <a:solidFill>
                  <a:srgbClr val="C00000"/>
                </a:solidFill>
                <a:latin typeface="楷体_GB2312" charset="0"/>
                <a:ea typeface="楷体_GB2312" charset="0"/>
                <a:cs typeface="楷体_GB2312" charset="0"/>
              </a:rPr>
              <a:t>防洪</a:t>
            </a:r>
            <a:endParaRPr lang="en-US" altLang="zh-CN" sz="4000">
              <a:solidFill>
                <a:srgbClr val="C00000"/>
              </a:solidFill>
              <a:ea typeface="楷体_GB2312" charset="0"/>
              <a:cs typeface="楷体_GB2312"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发电预测</a:t>
            </a:r>
            <a:endParaRPr lang="zh-CN" altLang="en-US" sz="3200">
              <a:latin typeface="Arial" panose="020B0604020202020204" pitchFamily="34" charset="0"/>
              <a:ea typeface="楷体_GB2312" charset="0"/>
              <a:cs typeface="楷体_GB2312" charset="0"/>
            </a:endParaRPr>
          </a:p>
        </p:txBody>
      </p:sp>
      <p:pic>
        <p:nvPicPr>
          <p:cNvPr id="25603" name="Picture 4" descr="http://www.ctgpc.com.cn/news/imgs/003000/487.jpg"/>
          <p:cNvPicPr>
            <a:picLocks noChangeAspect="1" noChangeArrowheads="1"/>
          </p:cNvPicPr>
          <p:nvPr/>
        </p:nvPicPr>
        <p:blipFill>
          <a:blip r:embed="rId1" r:link="rId2">
            <a:extLst>
              <a:ext uri="{28A0092B-C50C-407E-A947-70E740481C1C}">
                <a14:useLocalDpi xmlns:a14="http://schemas.microsoft.com/office/drawing/2010/main" val="0"/>
              </a:ext>
            </a:extLst>
          </a:blip>
          <a:srcRect/>
          <a:stretch>
            <a:fillRect/>
          </a:stretch>
        </p:blipFill>
        <p:spPr bwMode="auto">
          <a:xfrm>
            <a:off x="0" y="904875"/>
            <a:ext cx="9144000" cy="5940425"/>
          </a:xfrm>
          <a:prstGeom prst="rect">
            <a:avLst/>
          </a:prstGeom>
          <a:noFill/>
          <a:ln>
            <a:noFill/>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2806700"/>
            <a:ext cx="7704138" cy="3960813"/>
          </a:xfrm>
          <a:prstGeom prst="rect">
            <a:avLst/>
          </a:prstGeom>
          <a:noFill/>
          <a:ln>
            <a:noFill/>
          </a:ln>
        </p:spPr>
      </p:pic>
      <p:sp>
        <p:nvSpPr>
          <p:cNvPr id="3" name="Rectangle 2"/>
          <p:cNvSpPr txBox="1">
            <a:spLocks noChangeArrowheads="1"/>
          </p:cNvSpPr>
          <p:nvPr/>
        </p:nvSpPr>
        <p:spPr>
          <a:xfrm>
            <a:off x="323850" y="260350"/>
            <a:ext cx="8229600" cy="4525963"/>
          </a:xfrm>
          <a:prstGeom prst="rect">
            <a:avLst/>
          </a:prstGeom>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20000"/>
              </a:spcBef>
              <a:buFont typeface="Wingdings" panose="05000000000000000000" charset="0"/>
              <a:buNone/>
            </a:pPr>
            <a:r>
              <a:rPr lang="zh-CN" altLang="en-US" sz="3200">
                <a:solidFill>
                  <a:srgbClr val="C00000"/>
                </a:solidFill>
                <a:latin typeface="楷体_GB2312" charset="0"/>
                <a:ea typeface="宋体" panose="02010600030101010101" pitchFamily="2" charset="-122"/>
                <a:cs typeface="宋体" panose="02010600030101010101" pitchFamily="2" charset="-122"/>
              </a:rPr>
              <a:t>实际发电</a:t>
            </a:r>
            <a:endParaRPr lang="en-US" altLang="zh-CN" sz="3200">
              <a:solidFill>
                <a:srgbClr val="C00000"/>
              </a:solidFill>
              <a:latin typeface="楷体_GB2312" charset="0"/>
              <a:ea typeface="宋体" panose="02010600030101010101" pitchFamily="2" charset="-122"/>
              <a:cs typeface="宋体" panose="02010600030101010101" pitchFamily="2" charset="-122"/>
            </a:endParaRPr>
          </a:p>
          <a:p>
            <a:pPr eaLnBrk="1" hangingPunct="1">
              <a:lnSpc>
                <a:spcPct val="130000"/>
              </a:lnSpc>
              <a:spcBef>
                <a:spcPct val="20000"/>
              </a:spcBef>
              <a:buFont typeface="Wingdings" panose="05000000000000000000" charset="0"/>
              <a:buNone/>
            </a:pPr>
            <a:r>
              <a:rPr lang="zh-CN" altLang="en-US" sz="2000" b="0">
                <a:solidFill>
                  <a:srgbClr val="000000"/>
                </a:solidFill>
                <a:ea typeface="宋体" panose="02010600030101010101" pitchFamily="2" charset="-122"/>
                <a:cs typeface="宋体" panose="02010600030101010101" pitchFamily="2" charset="-122"/>
              </a:rPr>
              <a:t>电站装机：左岸</a:t>
            </a:r>
            <a:r>
              <a:rPr lang="en-US" altLang="zh-CN" sz="2000" b="0">
                <a:solidFill>
                  <a:srgbClr val="000000"/>
                </a:solidFill>
                <a:ea typeface="宋体" panose="02010600030101010101" pitchFamily="2" charset="-122"/>
                <a:cs typeface="宋体" panose="02010600030101010101" pitchFamily="2" charset="-122"/>
              </a:rPr>
              <a:t>700×14=9800 MW</a:t>
            </a:r>
            <a:r>
              <a:rPr lang="zh-CN" altLang="en-US" sz="2000" b="0">
                <a:solidFill>
                  <a:srgbClr val="000000"/>
                </a:solidFill>
                <a:ea typeface="宋体" panose="02010600030101010101" pitchFamily="2" charset="-122"/>
                <a:cs typeface="宋体" panose="02010600030101010101" pitchFamily="2" charset="-122"/>
              </a:rPr>
              <a:t>；右岸</a:t>
            </a:r>
            <a:r>
              <a:rPr lang="en-US" altLang="zh-CN" sz="2000" b="0">
                <a:solidFill>
                  <a:srgbClr val="000000"/>
                </a:solidFill>
                <a:ea typeface="宋体" panose="02010600030101010101" pitchFamily="2" charset="-122"/>
                <a:cs typeface="宋体" panose="02010600030101010101" pitchFamily="2" charset="-122"/>
              </a:rPr>
              <a:t>700×12=8400 MW</a:t>
            </a:r>
            <a:r>
              <a:rPr lang="zh-CN" altLang="en-US" sz="2000" b="0">
                <a:solidFill>
                  <a:srgbClr val="000000"/>
                </a:solidFill>
                <a:ea typeface="宋体" panose="02010600030101010101" pitchFamily="2" charset="-122"/>
                <a:cs typeface="宋体" panose="02010600030101010101" pitchFamily="2" charset="-122"/>
              </a:rPr>
              <a:t>；</a:t>
            </a:r>
            <a:endParaRPr lang="zh-CN" altLang="en-US" sz="2000" b="0">
              <a:solidFill>
                <a:srgbClr val="000000"/>
              </a:solidFill>
              <a:ea typeface="宋体" panose="02010600030101010101" pitchFamily="2" charset="-122"/>
              <a:cs typeface="宋体" panose="02010600030101010101" pitchFamily="2" charset="-122"/>
            </a:endParaRPr>
          </a:p>
          <a:p>
            <a:pPr eaLnBrk="1" hangingPunct="1">
              <a:lnSpc>
                <a:spcPct val="130000"/>
              </a:lnSpc>
              <a:spcBef>
                <a:spcPct val="20000"/>
              </a:spcBef>
              <a:buFont typeface="Wingdings" panose="05000000000000000000" charset="0"/>
              <a:buNone/>
            </a:pPr>
            <a:r>
              <a:rPr lang="zh-CN" altLang="en-US" sz="2000" b="0">
                <a:solidFill>
                  <a:srgbClr val="000000"/>
                </a:solidFill>
                <a:ea typeface="宋体" panose="02010600030101010101" pitchFamily="2" charset="-122"/>
                <a:cs typeface="宋体" panose="02010600030101010101" pitchFamily="2" charset="-122"/>
              </a:rPr>
              <a:t>          地下电站</a:t>
            </a:r>
            <a:r>
              <a:rPr lang="en-US" altLang="zh-CN" sz="2000" b="0">
                <a:solidFill>
                  <a:srgbClr val="000000"/>
                </a:solidFill>
                <a:ea typeface="宋体" panose="02010600030101010101" pitchFamily="2" charset="-122"/>
                <a:cs typeface="宋体" panose="02010600030101010101" pitchFamily="2" charset="-122"/>
              </a:rPr>
              <a:t>700×6=4200 MW</a:t>
            </a:r>
            <a:r>
              <a:rPr lang="zh-CN" altLang="en-US" sz="2000" b="0">
                <a:solidFill>
                  <a:srgbClr val="000000"/>
                </a:solidFill>
                <a:ea typeface="宋体" panose="02010600030101010101" pitchFamily="2" charset="-122"/>
                <a:cs typeface="宋体" panose="02010600030101010101" pitchFamily="2" charset="-122"/>
              </a:rPr>
              <a:t>； 总计</a:t>
            </a:r>
            <a:r>
              <a:rPr lang="en-US" altLang="zh-CN" sz="2000" b="0">
                <a:solidFill>
                  <a:srgbClr val="000000"/>
                </a:solidFill>
                <a:ea typeface="宋体" panose="02010600030101010101" pitchFamily="2" charset="-122"/>
                <a:cs typeface="宋体" panose="02010600030101010101" pitchFamily="2" charset="-122"/>
              </a:rPr>
              <a:t>22400 MW</a:t>
            </a:r>
            <a:r>
              <a:rPr lang="zh-CN" altLang="en-US" sz="2000" b="0">
                <a:solidFill>
                  <a:srgbClr val="000000"/>
                </a:solidFill>
                <a:ea typeface="宋体" panose="02010600030101010101" pitchFamily="2" charset="-122"/>
                <a:cs typeface="宋体" panose="02010600030101010101" pitchFamily="2" charset="-122"/>
              </a:rPr>
              <a:t>。</a:t>
            </a:r>
            <a:endParaRPr lang="zh-CN" altLang="en-US" sz="2000" b="0">
              <a:solidFill>
                <a:srgbClr val="000000"/>
              </a:solidFill>
              <a:ea typeface="宋体" panose="02010600030101010101" pitchFamily="2" charset="-122"/>
              <a:cs typeface="宋体" panose="02010600030101010101" pitchFamily="2" charset="-122"/>
            </a:endParaRPr>
          </a:p>
          <a:p>
            <a:pPr eaLnBrk="1" hangingPunct="1">
              <a:lnSpc>
                <a:spcPct val="130000"/>
              </a:lnSpc>
              <a:spcBef>
                <a:spcPct val="20000"/>
              </a:spcBef>
            </a:pPr>
            <a:r>
              <a:rPr lang="zh-CN" altLang="en-US" sz="2000" b="0">
                <a:solidFill>
                  <a:srgbClr val="000000"/>
                </a:solidFill>
                <a:ea typeface="宋体" panose="02010600030101010101" pitchFamily="2" charset="-122"/>
                <a:cs typeface="宋体" panose="02010600030101010101" pitchFamily="2" charset="-122"/>
              </a:rPr>
              <a:t>发电量：</a:t>
            </a:r>
            <a:r>
              <a:rPr lang="en-US" altLang="zh-CN" sz="2000" b="0">
                <a:solidFill>
                  <a:srgbClr val="000000"/>
                </a:solidFill>
                <a:ea typeface="宋体" panose="02010600030101010101" pitchFamily="2" charset="-122"/>
                <a:cs typeface="宋体" panose="02010600030101010101" pitchFamily="2" charset="-122"/>
              </a:rPr>
              <a:t>2003.7-2011.9: 5129</a:t>
            </a:r>
            <a:r>
              <a:rPr lang="zh-CN" altLang="en-US" sz="2000" b="0">
                <a:solidFill>
                  <a:srgbClr val="000000"/>
                </a:solidFill>
                <a:ea typeface="宋体" panose="02010600030101010101" pitchFamily="2" charset="-122"/>
                <a:cs typeface="宋体" panose="02010600030101010101" pitchFamily="2" charset="-122"/>
              </a:rPr>
              <a:t>亿</a:t>
            </a:r>
            <a:r>
              <a:rPr lang="en-US" altLang="zh-CN" sz="2000" b="0">
                <a:solidFill>
                  <a:srgbClr val="000000"/>
                </a:solidFill>
                <a:ea typeface="宋体" panose="02010600030101010101" pitchFamily="2" charset="-122"/>
                <a:cs typeface="宋体" panose="02010600030101010101" pitchFamily="2" charset="-122"/>
              </a:rPr>
              <a:t>kw.h</a:t>
            </a:r>
            <a:r>
              <a:rPr lang="zh-CN" altLang="en-US" sz="2000" b="0">
                <a:solidFill>
                  <a:srgbClr val="000000"/>
                </a:solidFill>
                <a:ea typeface="宋体" panose="02010600030101010101" pitchFamily="2" charset="-122"/>
                <a:cs typeface="宋体" panose="02010600030101010101" pitchFamily="2" charset="-122"/>
              </a:rPr>
              <a:t>，相当于燃烧</a:t>
            </a:r>
            <a:r>
              <a:rPr lang="en-US" altLang="zh-CN" sz="2000" b="0">
                <a:solidFill>
                  <a:srgbClr val="000000"/>
                </a:solidFill>
                <a:ea typeface="宋体" panose="02010600030101010101" pitchFamily="2" charset="-122"/>
                <a:cs typeface="宋体" panose="02010600030101010101" pitchFamily="2" charset="-122"/>
              </a:rPr>
              <a:t>1.8</a:t>
            </a:r>
            <a:r>
              <a:rPr lang="zh-CN" altLang="en-US" sz="2000" b="0">
                <a:solidFill>
                  <a:srgbClr val="000000"/>
                </a:solidFill>
                <a:ea typeface="宋体" panose="02010600030101010101" pitchFamily="2" charset="-122"/>
                <a:cs typeface="宋体" panose="02010600030101010101" pitchFamily="2" charset="-122"/>
              </a:rPr>
              <a:t>亿吨标准煤发出的电量。</a:t>
            </a:r>
            <a:r>
              <a:rPr lang="en-US" altLang="zh-CN" sz="2000"/>
              <a:t> </a:t>
            </a:r>
            <a:r>
              <a:rPr lang="zh-CN" altLang="en-US" sz="2000"/>
              <a:t>（预计年发电：</a:t>
            </a:r>
            <a:r>
              <a:rPr lang="en-US" altLang="zh-CN" sz="2000"/>
              <a:t>846.8</a:t>
            </a:r>
            <a:r>
              <a:rPr lang="zh-CN" altLang="en-US" sz="2000"/>
              <a:t>亿千瓦时）</a:t>
            </a:r>
            <a:endParaRPr lang="zh-CN" altLang="en-US" sz="2000" b="0">
              <a:solidFill>
                <a:srgbClr val="000000"/>
              </a:solidFill>
              <a:ea typeface="宋体" panose="02010600030101010101" pitchFamily="2" charset="-122"/>
              <a:cs typeface="宋体" panose="02010600030101010101" pitchFamily="2" charset="-122"/>
            </a:endParaRPr>
          </a:p>
          <a:p>
            <a:pPr eaLnBrk="1" hangingPunct="1">
              <a:spcBef>
                <a:spcPct val="20000"/>
              </a:spcBef>
              <a:buFont typeface="Wingdings" panose="05000000000000000000" charset="0"/>
              <a:buNone/>
            </a:pPr>
            <a:endParaRPr lang="en-US" altLang="zh-CN" sz="1800" b="0">
              <a:solidFill>
                <a:srgbClr val="000000"/>
              </a:solidFill>
              <a:latin typeface="楷体_GB2312" charset="0"/>
              <a:ea typeface="宋体" panose="02010600030101010101" pitchFamily="2" charset="-122"/>
              <a:cs typeface="宋体" panose="0201060003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航运预测</a:t>
            </a:r>
            <a:endParaRPr lang="zh-CN" altLang="en-US" sz="3200">
              <a:latin typeface="Arial" panose="020B0604020202020204" pitchFamily="34" charset="0"/>
              <a:ea typeface="楷体_GB2312" charset="0"/>
              <a:cs typeface="楷体_GB2312" charset="0"/>
            </a:endParaRPr>
          </a:p>
        </p:txBody>
      </p:sp>
      <p:sp>
        <p:nvSpPr>
          <p:cNvPr id="27651"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三峡水库将显著改善宜昌至重庆</a:t>
            </a:r>
            <a:r>
              <a:rPr lang="en-US" altLang="zh-CN">
                <a:latin typeface="Arial" panose="020B0604020202020204" pitchFamily="34" charset="0"/>
                <a:ea typeface="宋体" panose="02010600030101010101" pitchFamily="2" charset="-122"/>
              </a:rPr>
              <a:t>660</a:t>
            </a:r>
            <a:r>
              <a:rPr lang="zh-CN" altLang="en-US">
                <a:latin typeface="Arial" panose="020B0604020202020204" pitchFamily="34" charset="0"/>
                <a:ea typeface="宋体" panose="02010600030101010101" pitchFamily="2" charset="-122"/>
              </a:rPr>
              <a:t>公里的长江航道，万吨级船队可直达重庆港。</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航道单向年通过能力可由现在的约</a:t>
            </a:r>
            <a:r>
              <a:rPr lang="en-US" altLang="zh-CN">
                <a:latin typeface="Arial" panose="020B0604020202020204" pitchFamily="34" charset="0"/>
                <a:ea typeface="宋体" panose="02010600030101010101" pitchFamily="2" charset="-122"/>
              </a:rPr>
              <a:t>1000</a:t>
            </a:r>
            <a:r>
              <a:rPr lang="zh-CN" altLang="en-US">
                <a:latin typeface="Arial" panose="020B0604020202020204" pitchFamily="34" charset="0"/>
                <a:ea typeface="宋体" panose="02010600030101010101" pitchFamily="2" charset="-122"/>
              </a:rPr>
              <a:t>万吨提高到</a:t>
            </a:r>
            <a:r>
              <a:rPr lang="en-US" altLang="zh-CN">
                <a:solidFill>
                  <a:srgbClr val="C00000"/>
                </a:solidFill>
                <a:latin typeface="Arial" panose="020B0604020202020204" pitchFamily="34" charset="0"/>
                <a:ea typeface="宋体" panose="02010600030101010101" pitchFamily="2" charset="-122"/>
              </a:rPr>
              <a:t>5000</a:t>
            </a:r>
            <a:r>
              <a:rPr lang="zh-CN" altLang="en-US">
                <a:solidFill>
                  <a:srgbClr val="C00000"/>
                </a:solidFill>
                <a:latin typeface="Arial" panose="020B0604020202020204" pitchFamily="34" charset="0"/>
                <a:ea typeface="宋体" panose="02010600030101010101" pitchFamily="2" charset="-122"/>
              </a:rPr>
              <a:t>万吨</a:t>
            </a:r>
            <a:r>
              <a:rPr lang="zh-CN" altLang="en-US">
                <a:latin typeface="Arial" panose="020B0604020202020204" pitchFamily="34" charset="0"/>
                <a:ea typeface="宋体" panose="02010600030101010101" pitchFamily="2" charset="-122"/>
              </a:rPr>
              <a:t>，运输成本可降低</a:t>
            </a:r>
            <a:r>
              <a:rPr lang="en-US" altLang="zh-CN">
                <a:latin typeface="Arial" panose="020B0604020202020204" pitchFamily="34" charset="0"/>
                <a:ea typeface="宋体" panose="02010600030101010101" pitchFamily="2" charset="-122"/>
              </a:rPr>
              <a:t>35-37%</a:t>
            </a:r>
            <a:r>
              <a:rPr lang="zh-CN" altLang="en-US">
                <a:latin typeface="Arial" panose="020B0604020202020204" pitchFamily="34" charset="0"/>
                <a:ea typeface="宋体" panose="02010600030101010101" pitchFamily="2" charset="-122"/>
              </a:rPr>
              <a:t>。</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经水库调节，宜昌下游枯水季最小流量，可从现在的</a:t>
            </a:r>
            <a:r>
              <a:rPr lang="en-US" altLang="zh-CN">
                <a:latin typeface="Arial" panose="020B0604020202020204" pitchFamily="34" charset="0"/>
                <a:ea typeface="宋体" panose="02010600030101010101" pitchFamily="2" charset="-122"/>
              </a:rPr>
              <a:t>3000</a:t>
            </a:r>
            <a:r>
              <a:rPr lang="zh-CN" altLang="en-US">
                <a:latin typeface="Arial" panose="020B0604020202020204" pitchFamily="34" charset="0"/>
                <a:ea typeface="宋体" panose="02010600030101010101" pitchFamily="2" charset="-122"/>
              </a:rPr>
              <a:t>立方米</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秒提高到</a:t>
            </a:r>
            <a:r>
              <a:rPr lang="en-US" altLang="zh-CN">
                <a:latin typeface="Arial" panose="020B0604020202020204" pitchFamily="34" charset="0"/>
                <a:ea typeface="宋体" panose="02010600030101010101" pitchFamily="2" charset="-122"/>
              </a:rPr>
              <a:t>5000</a:t>
            </a:r>
            <a:r>
              <a:rPr lang="zh-CN" altLang="en-US">
                <a:latin typeface="Arial" panose="020B0604020202020204" pitchFamily="34" charset="0"/>
                <a:ea typeface="宋体" panose="02010600030101010101" pitchFamily="2" charset="-122"/>
              </a:rPr>
              <a:t>立方米</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秒以上，使长江中下游枯水季航运条件也得到较大的改善。</a:t>
            </a:r>
            <a:endParaRPr lang="zh-CN" altLang="en-US">
              <a:latin typeface="Arial" panose="020B0604020202020204" pitchFamily="34" charset="0"/>
              <a:ea typeface="宋体" panose="02010600030101010101"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4"/>
          <p:cNvGraphicFramePr>
            <a:graphicFrameLocks noChangeAspect="1"/>
          </p:cNvGraphicFramePr>
          <p:nvPr/>
        </p:nvGraphicFramePr>
        <p:xfrm>
          <a:off x="539750" y="2924175"/>
          <a:ext cx="7775575" cy="3789363"/>
        </p:xfrm>
        <a:graphic>
          <a:graphicData uri="http://schemas.openxmlformats.org/presentationml/2006/ole">
            <mc:AlternateContent xmlns:mc="http://schemas.openxmlformats.org/markup-compatibility/2006">
              <mc:Choice xmlns:v="urn:schemas-microsoft-com:vml" Requires="v">
                <p:oleObj spid="_x0000_s28679" name="图表" r:id="rId1" imgW="5531485" imgH="3568065" progId="Excel.Chart.8">
                  <p:embed/>
                </p:oleObj>
              </mc:Choice>
              <mc:Fallback>
                <p:oleObj name="图表" r:id="rId1" imgW="5531485" imgH="3568065" progId="Excel.Char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924175"/>
                        <a:ext cx="7775575" cy="3789363"/>
                      </a:xfrm>
                      <a:prstGeom prst="rect">
                        <a:avLst/>
                      </a:prstGeom>
                      <a:noFill/>
                      <a:ln>
                        <a:noFill/>
                      </a:ln>
                    </p:spPr>
                  </p:pic>
                </p:oleObj>
              </mc:Fallback>
            </mc:AlternateContent>
          </a:graphicData>
        </a:graphic>
      </p:graphicFrame>
      <p:pic>
        <p:nvPicPr>
          <p:cNvPr id="28675" name="Picture 1033" descr="船闸正面"/>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84888" y="-171450"/>
            <a:ext cx="2635250" cy="3357563"/>
          </a:xfrm>
          <a:prstGeom prst="rect">
            <a:avLst/>
          </a:prstGeom>
          <a:noFill/>
          <a:ln>
            <a:noFill/>
          </a:ln>
        </p:spPr>
      </p:pic>
      <p:sp>
        <p:nvSpPr>
          <p:cNvPr id="4" name="Rectangle 2"/>
          <p:cNvSpPr txBox="1">
            <a:spLocks noChangeArrowheads="1"/>
          </p:cNvSpPr>
          <p:nvPr/>
        </p:nvSpPr>
        <p:spPr>
          <a:xfrm>
            <a:off x="0" y="188913"/>
            <a:ext cx="4067175" cy="2447925"/>
          </a:xfrm>
          <a:prstGeom prst="rect">
            <a:avLst/>
          </a:prstGeom>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spcBef>
                <a:spcPct val="20000"/>
              </a:spcBef>
              <a:buFont typeface="Wingdings" panose="05000000000000000000" charset="0"/>
              <a:buNone/>
            </a:pPr>
            <a:r>
              <a:rPr lang="en-US" altLang="zh-CN" sz="3200">
                <a:solidFill>
                  <a:srgbClr val="000000"/>
                </a:solidFill>
                <a:latin typeface="楷体_GB2312" charset="0"/>
                <a:ea typeface="宋体" panose="02010600030101010101" pitchFamily="2" charset="-122"/>
                <a:cs typeface="宋体" panose="02010600030101010101" pitchFamily="2" charset="-122"/>
              </a:rPr>
              <a:t>    </a:t>
            </a:r>
            <a:r>
              <a:rPr lang="zh-CN" altLang="en-US" sz="3200">
                <a:solidFill>
                  <a:srgbClr val="C00000"/>
                </a:solidFill>
                <a:latin typeface="楷体_GB2312" charset="0"/>
                <a:ea typeface="宋体" panose="02010600030101010101" pitchFamily="2" charset="-122"/>
                <a:cs typeface="宋体" panose="02010600030101010101" pitchFamily="2" charset="-122"/>
              </a:rPr>
              <a:t>航运</a:t>
            </a:r>
            <a:r>
              <a:rPr lang="zh-CN" altLang="en-US" sz="3200" b="0">
                <a:solidFill>
                  <a:srgbClr val="C00000"/>
                </a:solidFill>
                <a:latin typeface="楷体_GB2312" charset="0"/>
                <a:ea typeface="宋体" panose="02010600030101010101" pitchFamily="2" charset="-122"/>
                <a:cs typeface="宋体" panose="02010600030101010101" pitchFamily="2" charset="-122"/>
              </a:rPr>
              <a:t> </a:t>
            </a:r>
            <a:endParaRPr lang="en-US" altLang="zh-CN" sz="3200" b="0">
              <a:solidFill>
                <a:srgbClr val="C00000"/>
              </a:solidFill>
              <a:latin typeface="楷体_GB2312" charset="0"/>
              <a:ea typeface="宋体" panose="02010600030101010101" pitchFamily="2" charset="-122"/>
              <a:cs typeface="宋体" panose="02010600030101010101" pitchFamily="2" charset="-122"/>
            </a:endParaRPr>
          </a:p>
          <a:p>
            <a:pPr eaLnBrk="1" hangingPunct="1">
              <a:spcBef>
                <a:spcPct val="20000"/>
              </a:spcBef>
              <a:buFont typeface="Wingdings" panose="05000000000000000000" charset="0"/>
              <a:buNone/>
            </a:pPr>
            <a:r>
              <a:rPr lang="en-US" altLang="zh-CN" sz="1200" b="0">
                <a:solidFill>
                  <a:srgbClr val="000000"/>
                </a:solidFill>
                <a:latin typeface="楷体_GB2312" charset="0"/>
                <a:ea typeface="宋体" panose="02010600030101010101" pitchFamily="2" charset="-122"/>
                <a:cs typeface="宋体" panose="02010600030101010101" pitchFamily="2" charset="-122"/>
              </a:rPr>
              <a:t>     </a:t>
            </a:r>
            <a:r>
              <a:rPr lang="zh-CN" altLang="en-US" sz="2400" b="0">
                <a:solidFill>
                  <a:srgbClr val="000000"/>
                </a:solidFill>
                <a:latin typeface="楷体_GB2312" charset="0"/>
                <a:ea typeface="宋体" panose="02010600030101010101" pitchFamily="2" charset="-122"/>
                <a:cs typeface="宋体" panose="02010600030101010101" pitchFamily="2" charset="-122"/>
              </a:rPr>
              <a:t>上游改善</a:t>
            </a:r>
            <a:r>
              <a:rPr lang="en-US" altLang="zh-CN" sz="2400" b="0">
                <a:solidFill>
                  <a:srgbClr val="000000"/>
                </a:solidFill>
                <a:latin typeface="楷体_GB2312" charset="0"/>
                <a:ea typeface="宋体" panose="02010600030101010101" pitchFamily="2" charset="-122"/>
                <a:cs typeface="宋体" panose="02010600030101010101" pitchFamily="2" charset="-122"/>
              </a:rPr>
              <a:t>660km</a:t>
            </a:r>
            <a:r>
              <a:rPr lang="zh-CN" altLang="en-US" sz="2400" b="0">
                <a:solidFill>
                  <a:srgbClr val="000000"/>
                </a:solidFill>
                <a:latin typeface="楷体_GB2312" charset="0"/>
                <a:ea typeface="宋体" panose="02010600030101010101" pitchFamily="2" charset="-122"/>
                <a:cs typeface="宋体" panose="02010600030101010101" pitchFamily="2" charset="-122"/>
              </a:rPr>
              <a:t>航道</a:t>
            </a:r>
            <a:r>
              <a:rPr lang="en-US" altLang="zh-CN" sz="2400" b="0">
                <a:solidFill>
                  <a:srgbClr val="000000"/>
                </a:solidFill>
                <a:latin typeface="楷体_GB2312" charset="0"/>
                <a:ea typeface="宋体" panose="02010600030101010101" pitchFamily="2" charset="-122"/>
                <a:cs typeface="宋体" panose="02010600030101010101" pitchFamily="2" charset="-122"/>
              </a:rPr>
              <a:t>; </a:t>
            </a:r>
            <a:r>
              <a:rPr lang="zh-CN" altLang="en-US" sz="2400" b="0">
                <a:solidFill>
                  <a:srgbClr val="000000"/>
                </a:solidFill>
                <a:latin typeface="楷体_GB2312" charset="0"/>
                <a:ea typeface="宋体" panose="02010600030101010101" pitchFamily="2" charset="-122"/>
                <a:cs typeface="宋体" panose="02010600030101010101" pitchFamily="2" charset="-122"/>
              </a:rPr>
              <a:t>下游增加枯水期航深</a:t>
            </a:r>
            <a:r>
              <a:rPr lang="en-US" altLang="zh-CN" sz="2400" b="0">
                <a:solidFill>
                  <a:srgbClr val="000000"/>
                </a:solidFill>
                <a:latin typeface="楷体_GB2312" charset="0"/>
                <a:ea typeface="宋体" panose="02010600030101010101" pitchFamily="2" charset="-122"/>
                <a:cs typeface="宋体" panose="02010600030101010101" pitchFamily="2" charset="-122"/>
              </a:rPr>
              <a:t>1m</a:t>
            </a:r>
            <a:r>
              <a:rPr lang="zh-CN" altLang="en-US" sz="2400" b="0">
                <a:solidFill>
                  <a:srgbClr val="000000"/>
                </a:solidFill>
                <a:latin typeface="楷体_GB2312" charset="0"/>
                <a:ea typeface="宋体" panose="02010600030101010101" pitchFamily="2" charset="-122"/>
                <a:cs typeface="宋体" panose="02010600030101010101" pitchFamily="2" charset="-122"/>
              </a:rPr>
              <a:t>左右；</a:t>
            </a:r>
            <a:endParaRPr lang="zh-CN" altLang="en-US" sz="2400" b="0">
              <a:solidFill>
                <a:srgbClr val="000000"/>
              </a:solidFill>
              <a:latin typeface="楷体_GB2312" charset="0"/>
              <a:ea typeface="宋体" panose="02010600030101010101" pitchFamily="2" charset="-122"/>
              <a:cs typeface="宋体" panose="02010600030101010101" pitchFamily="2" charset="-122"/>
            </a:endParaRPr>
          </a:p>
          <a:p>
            <a:pPr eaLnBrk="1" hangingPunct="1">
              <a:spcBef>
                <a:spcPct val="20000"/>
              </a:spcBef>
              <a:buFont typeface="Wingdings" panose="05000000000000000000" charset="0"/>
              <a:buNone/>
            </a:pPr>
            <a:r>
              <a:rPr lang="zh-CN" altLang="en-US" sz="2400" b="0">
                <a:solidFill>
                  <a:srgbClr val="000000"/>
                </a:solidFill>
                <a:latin typeface="楷体_GB2312" charset="0"/>
                <a:ea typeface="宋体" panose="02010600030101010101" pitchFamily="2" charset="-122"/>
                <a:cs typeface="宋体" panose="02010600030101010101" pitchFamily="2" charset="-122"/>
              </a:rPr>
              <a:t>     万吨级船队汉渝直达。截至</a:t>
            </a:r>
            <a:r>
              <a:rPr lang="en-US" altLang="zh-CN" sz="2400" b="0">
                <a:solidFill>
                  <a:srgbClr val="000000"/>
                </a:solidFill>
                <a:latin typeface="楷体_GB2312" charset="0"/>
                <a:ea typeface="宋体" panose="02010600030101010101" pitchFamily="2" charset="-122"/>
                <a:cs typeface="宋体" panose="02010600030101010101" pitchFamily="2" charset="-122"/>
              </a:rPr>
              <a:t>2010</a:t>
            </a:r>
            <a:r>
              <a:rPr lang="zh-CN" altLang="en-US" sz="2400" b="0">
                <a:solidFill>
                  <a:srgbClr val="000000"/>
                </a:solidFill>
                <a:latin typeface="楷体_GB2312" charset="0"/>
                <a:ea typeface="宋体" panose="02010600030101010101" pitchFamily="2" charset="-122"/>
                <a:cs typeface="宋体" panose="02010600030101010101" pitchFamily="2" charset="-122"/>
              </a:rPr>
              <a:t>年，通过三峡枢纽货运总量超过</a:t>
            </a:r>
            <a:r>
              <a:rPr lang="en-US" altLang="zh-CN" sz="2400" b="0">
                <a:solidFill>
                  <a:srgbClr val="000000"/>
                </a:solidFill>
                <a:latin typeface="楷体_GB2312" charset="0"/>
                <a:ea typeface="宋体" panose="02010600030101010101" pitchFamily="2" charset="-122"/>
                <a:cs typeface="宋体" panose="02010600030101010101" pitchFamily="2" charset="-122"/>
              </a:rPr>
              <a:t>4.4</a:t>
            </a:r>
            <a:r>
              <a:rPr lang="zh-CN" altLang="en-US" sz="2400" b="0">
                <a:solidFill>
                  <a:srgbClr val="000000"/>
                </a:solidFill>
                <a:latin typeface="楷体_GB2312" charset="0"/>
                <a:ea typeface="宋体" panose="02010600030101010101" pitchFamily="2" charset="-122"/>
                <a:cs typeface="宋体" panose="02010600030101010101" pitchFamily="2" charset="-122"/>
              </a:rPr>
              <a:t>亿吨。</a:t>
            </a:r>
            <a:endParaRPr lang="zh-CN" altLang="en-US" sz="2400" b="0">
              <a:solidFill>
                <a:srgbClr val="000000"/>
              </a:solidFill>
              <a:latin typeface="楷体_GB2312" charset="0"/>
              <a:ea typeface="宋体" panose="02010600030101010101" pitchFamily="2" charset="-122"/>
              <a:cs typeface="宋体" panose="02010600030101010101" pitchFamily="2" charset="-122"/>
            </a:endParaRPr>
          </a:p>
          <a:p>
            <a:pPr eaLnBrk="1" hangingPunct="1">
              <a:spcBef>
                <a:spcPct val="20000"/>
              </a:spcBef>
              <a:buFont typeface="Wingdings" panose="05000000000000000000" charset="0"/>
              <a:buNone/>
            </a:pPr>
            <a:r>
              <a:rPr lang="en-US" altLang="zh-CN" sz="1200" b="0">
                <a:solidFill>
                  <a:srgbClr val="000000"/>
                </a:solidFill>
                <a:ea typeface="宋体" panose="02010600030101010101" pitchFamily="2" charset="-122"/>
                <a:cs typeface="宋体" panose="02010600030101010101" pitchFamily="2" charset="-122"/>
              </a:rPr>
              <a:t>.</a:t>
            </a:r>
            <a:r>
              <a:rPr lang="en-US" altLang="zh-CN" sz="1200">
                <a:solidFill>
                  <a:srgbClr val="000000"/>
                </a:solidFill>
                <a:ea typeface="宋体" panose="02010600030101010101" pitchFamily="2" charset="-122"/>
                <a:cs typeface="宋体" panose="02010600030101010101" pitchFamily="2" charset="-122"/>
              </a:rPr>
              <a:t> </a:t>
            </a:r>
            <a:endParaRPr lang="en-US" altLang="zh-CN" sz="1200">
              <a:solidFill>
                <a:srgbClr val="000000"/>
              </a:solidFill>
              <a:ea typeface="宋体" panose="02010600030101010101" pitchFamily="2" charset="-122"/>
              <a:cs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社会成本</a:t>
            </a:r>
            <a:endParaRPr lang="zh-CN" altLang="en-US" sz="3200">
              <a:latin typeface="Arial" panose="020B0604020202020204" pitchFamily="34" charset="0"/>
              <a:ea typeface="楷体_GB2312" charset="0"/>
              <a:cs typeface="楷体_GB2312" charset="0"/>
            </a:endParaRPr>
          </a:p>
        </p:txBody>
      </p:sp>
      <p:sp>
        <p:nvSpPr>
          <p:cNvPr id="29699" name="Rectangle 3"/>
          <p:cNvSpPr>
            <a:spLocks noGrp="1" noChangeArrowheads="1"/>
          </p:cNvSpPr>
          <p:nvPr>
            <p:ph type="body" idx="1"/>
          </p:nvPr>
        </p:nvSpPr>
        <p:spPr/>
        <p:txBody>
          <a:bodyPr/>
          <a:lstStyle/>
          <a:p>
            <a:pPr eaLnBrk="1" hangingPunct="1">
              <a:buFontTx/>
              <a:buNone/>
            </a:pPr>
            <a:endParaRPr lang="zh-CN" altLang="en-US">
              <a:solidFill>
                <a:srgbClr val="800000"/>
              </a:solidFill>
              <a:latin typeface="Arial" panose="020B0604020202020204" pitchFamily="34" charset="0"/>
              <a:ea typeface="宋体" panose="02010600030101010101" pitchFamily="2" charset="-122"/>
            </a:endParaRPr>
          </a:p>
          <a:p>
            <a:pPr eaLnBrk="1" hangingPunct="1"/>
            <a:endParaRPr lang="zh-CN" altLang="en-US">
              <a:solidFill>
                <a:srgbClr val="800000"/>
              </a:solidFill>
              <a:latin typeface="Arial" panose="020B0604020202020204" pitchFamily="34" charset="0"/>
              <a:ea typeface="宋体" panose="02010600030101010101" pitchFamily="2" charset="-122"/>
            </a:endParaRPr>
          </a:p>
        </p:txBody>
      </p:sp>
      <p:pic>
        <p:nvPicPr>
          <p:cNvPr id="2970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5738" y="977900"/>
            <a:ext cx="8462962" cy="5375275"/>
          </a:xfrm>
          <a:prstGeom prst="rect">
            <a:avLst/>
          </a:prstGeom>
          <a:noFill/>
          <a:ln>
            <a:noFill/>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移民预测</a:t>
            </a:r>
            <a:endParaRPr lang="zh-CN" altLang="en-US" sz="3200">
              <a:latin typeface="Arial" panose="020B0604020202020204" pitchFamily="34" charset="0"/>
              <a:ea typeface="楷体_GB2312" charset="0"/>
              <a:cs typeface="楷体_GB2312" charset="0"/>
            </a:endParaRPr>
          </a:p>
        </p:txBody>
      </p:sp>
      <p:sp>
        <p:nvSpPr>
          <p:cNvPr id="30723"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三峡工程正常蓄水至</a:t>
            </a:r>
            <a:r>
              <a:rPr lang="en-US" altLang="zh-CN">
                <a:latin typeface="Arial" panose="020B0604020202020204" pitchFamily="34" charset="0"/>
                <a:ea typeface="宋体" panose="02010600030101010101" pitchFamily="2" charset="-122"/>
              </a:rPr>
              <a:t>175</a:t>
            </a:r>
            <a:r>
              <a:rPr lang="zh-CN" altLang="en-US">
                <a:latin typeface="Arial" panose="020B0604020202020204" pitchFamily="34" charset="0"/>
                <a:ea typeface="宋体" panose="02010600030101010101" pitchFamily="2" charset="-122"/>
              </a:rPr>
              <a:t>米时，三峡大坝前会形成一个世界上最大的水库淹没区</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三峡库区。三峡水库将淹没陆地面积</a:t>
            </a:r>
            <a:r>
              <a:rPr lang="en-US" altLang="zh-CN">
                <a:latin typeface="Arial" panose="020B0604020202020204" pitchFamily="34" charset="0"/>
                <a:ea typeface="宋体" panose="02010600030101010101" pitchFamily="2" charset="-122"/>
              </a:rPr>
              <a:t>632</a:t>
            </a:r>
            <a:r>
              <a:rPr lang="zh-CN" altLang="en-US">
                <a:latin typeface="Arial" panose="020B0604020202020204" pitchFamily="34" charset="0"/>
                <a:ea typeface="宋体" panose="02010600030101010101" pitchFamily="2" charset="-122"/>
              </a:rPr>
              <a:t>平方公里，淹没城市</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座、县城</a:t>
            </a:r>
            <a:r>
              <a:rPr lang="en-US" altLang="zh-CN">
                <a:latin typeface="Arial" panose="020B0604020202020204" pitchFamily="34" charset="0"/>
                <a:ea typeface="宋体" panose="02010600030101010101" pitchFamily="2" charset="-122"/>
              </a:rPr>
              <a:t>11</a:t>
            </a:r>
            <a:r>
              <a:rPr lang="zh-CN" altLang="en-US">
                <a:latin typeface="Arial" panose="020B0604020202020204" pitchFamily="34" charset="0"/>
                <a:ea typeface="宋体" panose="02010600030101010101" pitchFamily="2" charset="-122"/>
              </a:rPr>
              <a:t>座、集镇</a:t>
            </a:r>
            <a:r>
              <a:rPr lang="en-US" altLang="zh-CN">
                <a:latin typeface="Arial" panose="020B0604020202020204" pitchFamily="34" charset="0"/>
                <a:ea typeface="宋体" panose="02010600030101010101" pitchFamily="2" charset="-122"/>
              </a:rPr>
              <a:t>116</a:t>
            </a:r>
            <a:r>
              <a:rPr lang="zh-CN" altLang="en-US">
                <a:latin typeface="Arial" panose="020B0604020202020204" pitchFamily="34" charset="0"/>
                <a:ea typeface="宋体" panose="02010600030101010101" pitchFamily="2" charset="-122"/>
              </a:rPr>
              <a:t>个</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三峡工程水库淹没损失很大，移民安置任务艰巨。</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水库淹没区共计有耕地</a:t>
            </a:r>
            <a:r>
              <a:rPr lang="en-US" altLang="zh-CN">
                <a:latin typeface="Arial" panose="020B0604020202020204" pitchFamily="34" charset="0"/>
                <a:ea typeface="宋体" panose="02010600030101010101" pitchFamily="2" charset="-122"/>
              </a:rPr>
              <a:t>36</a:t>
            </a:r>
            <a:r>
              <a:rPr lang="zh-CN" altLang="en-US">
                <a:latin typeface="Arial" panose="020B0604020202020204" pitchFamily="34" charset="0"/>
                <a:ea typeface="宋体" panose="02010600030101010101" pitchFamily="2" charset="-122"/>
              </a:rPr>
              <a:t>万亩，柑橘地</a:t>
            </a:r>
            <a:r>
              <a:rPr lang="en-US" altLang="zh-CN">
                <a:latin typeface="Arial" panose="020B0604020202020204" pitchFamily="34" charset="0"/>
                <a:ea typeface="宋体" panose="02010600030101010101" pitchFamily="2" charset="-122"/>
              </a:rPr>
              <a:t>7</a:t>
            </a:r>
            <a:r>
              <a:rPr lang="zh-CN" altLang="en-US">
                <a:latin typeface="Arial" panose="020B0604020202020204" pitchFamily="34" charset="0"/>
                <a:ea typeface="宋体" panose="02010600030101010101" pitchFamily="2" charset="-122"/>
              </a:rPr>
              <a:t>万亩，人口</a:t>
            </a:r>
            <a:r>
              <a:rPr lang="en-US" altLang="zh-CN">
                <a:latin typeface="Arial" panose="020B0604020202020204" pitchFamily="34" charset="0"/>
                <a:ea typeface="宋体" panose="02010600030101010101" pitchFamily="2" charset="-122"/>
              </a:rPr>
              <a:t>72.6</a:t>
            </a:r>
            <a:r>
              <a:rPr lang="zh-CN" altLang="en-US">
                <a:latin typeface="Arial" panose="020B0604020202020204" pitchFamily="34" charset="0"/>
                <a:ea typeface="宋体" panose="02010600030101010101" pitchFamily="2" charset="-122"/>
              </a:rPr>
              <a:t>万人，考虑人口自然增长及其他因素，规划最终迁移安置人口约</a:t>
            </a:r>
            <a:r>
              <a:rPr lang="en-US" altLang="zh-CN">
                <a:latin typeface="Arial" panose="020B0604020202020204" pitchFamily="34" charset="0"/>
                <a:ea typeface="宋体" panose="02010600030101010101" pitchFamily="2" charset="-122"/>
              </a:rPr>
              <a:t>113</a:t>
            </a:r>
            <a:r>
              <a:rPr lang="zh-CN" altLang="en-US">
                <a:latin typeface="Arial" panose="020B0604020202020204" pitchFamily="34" charset="0"/>
                <a:ea typeface="宋体" panose="02010600030101010101" pitchFamily="2" charset="-122"/>
              </a:rPr>
              <a:t>万人 </a:t>
            </a:r>
            <a:endParaRPr lang="zh-CN" altLang="en-US">
              <a:latin typeface="Arial" panose="020B0604020202020204" pitchFamily="34" charset="0"/>
              <a:ea typeface="宋体" panose="02010600030101010101" pitchFamily="2"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txBox="1">
            <a:spLocks noChangeArrowheads="1"/>
          </p:cNvSpPr>
          <p:nvPr/>
        </p:nvSpPr>
        <p:spPr bwMode="auto">
          <a:xfrm>
            <a:off x="971550" y="0"/>
            <a:ext cx="8172450" cy="981075"/>
          </a:xfrm>
          <a:prstGeom prst="rect">
            <a:avLst/>
          </a:prstGeom>
          <a:noFill/>
          <a:ln>
            <a:noFill/>
          </a:ln>
        </p:spPr>
        <p:txBody>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sz="4000">
                <a:solidFill>
                  <a:srgbClr val="990000"/>
                </a:solidFill>
                <a:latin typeface="华文新魏" panose="02010800040101010101" charset="-122"/>
                <a:ea typeface="华文新魏" panose="02010800040101010101" charset="-122"/>
                <a:cs typeface="楷体_GB2312" charset="0"/>
              </a:rPr>
              <a:t>水库移民实际规模</a:t>
            </a:r>
            <a:endParaRPr lang="en-US" altLang="zh-CN" sz="4000">
              <a:solidFill>
                <a:srgbClr val="990000"/>
              </a:solidFill>
              <a:ea typeface="华文新魏" panose="02010800040101010101" charset="-122"/>
              <a:cs typeface="楷体_GB2312" charset="0"/>
            </a:endParaRPr>
          </a:p>
        </p:txBody>
      </p:sp>
      <p:sp>
        <p:nvSpPr>
          <p:cNvPr id="31747" name="Text Box 7"/>
          <p:cNvSpPr txBox="1">
            <a:spLocks noChangeArrowheads="1"/>
          </p:cNvSpPr>
          <p:nvPr/>
        </p:nvSpPr>
        <p:spPr bwMode="auto">
          <a:xfrm>
            <a:off x="971550" y="1125538"/>
            <a:ext cx="7127875" cy="5176837"/>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120000"/>
              </a:lnSpc>
              <a:spcBef>
                <a:spcPct val="50000"/>
              </a:spcBef>
              <a:buFontTx/>
              <a:buChar char="•"/>
            </a:pPr>
            <a:r>
              <a:rPr lang="en-US" altLang="zh-CN" sz="2800">
                <a:solidFill>
                  <a:srgbClr val="000068"/>
                </a:solidFill>
                <a:latin typeface="楷体_GB2312" charset="0"/>
                <a:ea typeface="楷体_GB2312" charset="0"/>
                <a:cs typeface="楷体_GB2312" charset="0"/>
              </a:rPr>
              <a:t>175</a:t>
            </a:r>
            <a:r>
              <a:rPr lang="zh-CN" altLang="en-US" sz="2800">
                <a:solidFill>
                  <a:srgbClr val="000068"/>
                </a:solidFill>
                <a:latin typeface="楷体_GB2312" charset="0"/>
                <a:ea typeface="楷体_GB2312" charset="0"/>
                <a:cs typeface="楷体_GB2312" charset="0"/>
              </a:rPr>
              <a:t>米蓄水位时水库回水末端在重庆市，全长</a:t>
            </a:r>
            <a:r>
              <a:rPr lang="en-US" altLang="zh-CN" sz="2800">
                <a:solidFill>
                  <a:srgbClr val="000068"/>
                </a:solidFill>
                <a:latin typeface="楷体_GB2312" charset="0"/>
                <a:ea typeface="楷体_GB2312" charset="0"/>
                <a:cs typeface="楷体_GB2312" charset="0"/>
              </a:rPr>
              <a:t>660</a:t>
            </a:r>
            <a:r>
              <a:rPr lang="zh-CN" altLang="en-US" sz="2800">
                <a:solidFill>
                  <a:srgbClr val="000068"/>
                </a:solidFill>
                <a:latin typeface="楷体_GB2312" charset="0"/>
                <a:ea typeface="楷体_GB2312" charset="0"/>
                <a:cs typeface="楷体_GB2312" charset="0"/>
              </a:rPr>
              <a:t>公里，水库面积</a:t>
            </a:r>
            <a:r>
              <a:rPr lang="en-US" altLang="zh-CN" sz="2800">
                <a:solidFill>
                  <a:srgbClr val="000068"/>
                </a:solidFill>
                <a:latin typeface="楷体_GB2312" charset="0"/>
                <a:ea typeface="楷体_GB2312" charset="0"/>
                <a:cs typeface="楷体_GB2312" charset="0"/>
              </a:rPr>
              <a:t>1084</a:t>
            </a:r>
            <a:r>
              <a:rPr lang="zh-CN" altLang="en-US" sz="2800">
                <a:solidFill>
                  <a:srgbClr val="000068"/>
                </a:solidFill>
                <a:latin typeface="楷体_GB2312" charset="0"/>
                <a:ea typeface="楷体_GB2312" charset="0"/>
                <a:cs typeface="楷体_GB2312" charset="0"/>
              </a:rPr>
              <a:t>平方公里，平均水面宽度仅</a:t>
            </a:r>
            <a:r>
              <a:rPr lang="en-US" altLang="zh-CN" sz="2800">
                <a:solidFill>
                  <a:srgbClr val="000068"/>
                </a:solidFill>
                <a:latin typeface="楷体_GB2312" charset="0"/>
                <a:ea typeface="楷体_GB2312" charset="0"/>
                <a:cs typeface="楷体_GB2312" charset="0"/>
              </a:rPr>
              <a:t>1.1</a:t>
            </a:r>
            <a:r>
              <a:rPr lang="zh-CN" altLang="en-US" sz="2800">
                <a:solidFill>
                  <a:srgbClr val="000068"/>
                </a:solidFill>
                <a:latin typeface="楷体_GB2312" charset="0"/>
                <a:ea typeface="楷体_GB2312" charset="0"/>
                <a:cs typeface="楷体_GB2312" charset="0"/>
              </a:rPr>
              <a:t>公里。</a:t>
            </a:r>
            <a:r>
              <a:rPr lang="en-US" altLang="zh-CN" sz="2800">
                <a:solidFill>
                  <a:srgbClr val="0000FF"/>
                </a:solidFill>
                <a:ea typeface="楷体_GB2312" charset="0"/>
                <a:cs typeface="楷体_GB2312" charset="0"/>
              </a:rPr>
              <a:t> </a:t>
            </a:r>
            <a:endParaRPr lang="en-US" altLang="zh-CN" sz="2800">
              <a:solidFill>
                <a:srgbClr val="000068"/>
              </a:solidFill>
              <a:latin typeface="楷体_GB2312" charset="0"/>
              <a:ea typeface="楷体_GB2312" charset="0"/>
              <a:cs typeface="楷体_GB2312" charset="0"/>
            </a:endParaRPr>
          </a:p>
          <a:p>
            <a:pPr eaLnBrk="1" hangingPunct="1">
              <a:lnSpc>
                <a:spcPct val="120000"/>
              </a:lnSpc>
              <a:spcBef>
                <a:spcPct val="50000"/>
              </a:spcBef>
              <a:buFontTx/>
              <a:buChar char="•"/>
            </a:pPr>
            <a:r>
              <a:rPr lang="zh-CN" altLang="en-US" sz="2800">
                <a:solidFill>
                  <a:srgbClr val="000068"/>
                </a:solidFill>
                <a:latin typeface="楷体_GB2312" charset="0"/>
                <a:ea typeface="楷体_GB2312" charset="0"/>
                <a:cs typeface="楷体_GB2312" charset="0"/>
              </a:rPr>
              <a:t>水库淹没陆地面积</a:t>
            </a:r>
            <a:r>
              <a:rPr lang="en-US" altLang="zh-CN" sz="2800">
                <a:solidFill>
                  <a:srgbClr val="000068"/>
                </a:solidFill>
                <a:latin typeface="楷体_GB2312" charset="0"/>
                <a:ea typeface="楷体_GB2312" charset="0"/>
                <a:cs typeface="楷体_GB2312" charset="0"/>
              </a:rPr>
              <a:t>632</a:t>
            </a:r>
            <a:r>
              <a:rPr lang="zh-CN" altLang="en-US" sz="2800">
                <a:solidFill>
                  <a:srgbClr val="000068"/>
                </a:solidFill>
                <a:latin typeface="楷体_GB2312" charset="0"/>
                <a:ea typeface="楷体_GB2312" charset="0"/>
                <a:cs typeface="楷体_GB2312" charset="0"/>
              </a:rPr>
              <a:t>平方公里，涉及湖北省、重庆市</a:t>
            </a:r>
            <a:r>
              <a:rPr lang="en-US" altLang="zh-CN" sz="2800">
                <a:solidFill>
                  <a:srgbClr val="000068"/>
                </a:solidFill>
                <a:latin typeface="楷体_GB2312" charset="0"/>
                <a:ea typeface="楷体_GB2312" charset="0"/>
                <a:cs typeface="楷体_GB2312" charset="0"/>
              </a:rPr>
              <a:t>20</a:t>
            </a:r>
            <a:r>
              <a:rPr lang="zh-CN" altLang="en-US" sz="2800">
                <a:solidFill>
                  <a:srgbClr val="000068"/>
                </a:solidFill>
                <a:latin typeface="楷体_GB2312" charset="0"/>
                <a:ea typeface="楷体_GB2312" charset="0"/>
                <a:cs typeface="楷体_GB2312" charset="0"/>
              </a:rPr>
              <a:t>个县市、</a:t>
            </a:r>
            <a:r>
              <a:rPr lang="en-US" altLang="zh-CN" sz="2800">
                <a:solidFill>
                  <a:srgbClr val="000068"/>
                </a:solidFill>
                <a:latin typeface="楷体_GB2312" charset="0"/>
                <a:ea typeface="楷体_GB2312" charset="0"/>
                <a:cs typeface="楷体_GB2312" charset="0"/>
              </a:rPr>
              <a:t>84</a:t>
            </a:r>
            <a:r>
              <a:rPr lang="zh-CN" altLang="en-US" sz="2800">
                <a:solidFill>
                  <a:srgbClr val="000068"/>
                </a:solidFill>
                <a:latin typeface="楷体_GB2312" charset="0"/>
                <a:ea typeface="楷体_GB2312" charset="0"/>
                <a:cs typeface="楷体_GB2312" charset="0"/>
              </a:rPr>
              <a:t>万人口（</a:t>
            </a:r>
            <a:r>
              <a:rPr lang="en-US" altLang="zh-CN" sz="2800">
                <a:solidFill>
                  <a:srgbClr val="000068"/>
                </a:solidFill>
                <a:latin typeface="楷体_GB2312" charset="0"/>
                <a:ea typeface="楷体_GB2312" charset="0"/>
                <a:cs typeface="楷体_GB2312" charset="0"/>
              </a:rPr>
              <a:t>1984</a:t>
            </a:r>
            <a:r>
              <a:rPr lang="zh-CN" altLang="en-US" sz="2800">
                <a:solidFill>
                  <a:srgbClr val="000068"/>
                </a:solidFill>
                <a:latin typeface="楷体_GB2312" charset="0"/>
                <a:ea typeface="楷体_GB2312" charset="0"/>
                <a:cs typeface="楷体_GB2312" charset="0"/>
              </a:rPr>
              <a:t>年调查统计）。</a:t>
            </a:r>
            <a:endParaRPr lang="zh-CN" altLang="en-US" sz="2800">
              <a:solidFill>
                <a:srgbClr val="000068"/>
              </a:solidFill>
              <a:latin typeface="楷体_GB2312" charset="0"/>
              <a:ea typeface="楷体_GB2312" charset="0"/>
              <a:cs typeface="楷体_GB2312" charset="0"/>
            </a:endParaRPr>
          </a:p>
          <a:p>
            <a:pPr eaLnBrk="1" hangingPunct="1">
              <a:lnSpc>
                <a:spcPct val="120000"/>
              </a:lnSpc>
              <a:spcBef>
                <a:spcPct val="50000"/>
              </a:spcBef>
              <a:buFontTx/>
              <a:buChar char="•"/>
            </a:pPr>
            <a:r>
              <a:rPr lang="zh-CN" altLang="en-US" sz="2800">
                <a:solidFill>
                  <a:srgbClr val="000068"/>
                </a:solidFill>
                <a:latin typeface="楷体_GB2312" charset="0"/>
                <a:ea typeface="楷体_GB2312" charset="0"/>
                <a:cs typeface="楷体_GB2312" charset="0"/>
              </a:rPr>
              <a:t>由于水库移民在</a:t>
            </a:r>
            <a:r>
              <a:rPr lang="en-US" altLang="zh-CN" sz="2800">
                <a:solidFill>
                  <a:srgbClr val="000068"/>
                </a:solidFill>
                <a:latin typeface="楷体_GB2312" charset="0"/>
                <a:ea typeface="楷体_GB2312" charset="0"/>
                <a:cs typeface="楷体_GB2312" charset="0"/>
              </a:rPr>
              <a:t>17</a:t>
            </a:r>
            <a:r>
              <a:rPr lang="zh-CN" altLang="en-US" sz="2800">
                <a:solidFill>
                  <a:srgbClr val="000068"/>
                </a:solidFill>
                <a:latin typeface="楷体_GB2312" charset="0"/>
                <a:ea typeface="楷体_GB2312" charset="0"/>
                <a:cs typeface="楷体_GB2312" charset="0"/>
              </a:rPr>
              <a:t>年中是逐年搬迁，加上人口自然增长和其它因素增长，总迁移人口约</a:t>
            </a:r>
            <a:r>
              <a:rPr lang="en-US" altLang="zh-CN" sz="2800">
                <a:solidFill>
                  <a:srgbClr val="000068"/>
                </a:solidFill>
                <a:latin typeface="楷体_GB2312" charset="0"/>
                <a:ea typeface="楷体_GB2312" charset="0"/>
                <a:cs typeface="楷体_GB2312" charset="0"/>
              </a:rPr>
              <a:t>125</a:t>
            </a:r>
            <a:r>
              <a:rPr lang="zh-CN" altLang="en-US" sz="2800">
                <a:solidFill>
                  <a:srgbClr val="000068"/>
                </a:solidFill>
                <a:latin typeface="楷体_GB2312" charset="0"/>
                <a:ea typeface="楷体_GB2312" charset="0"/>
                <a:cs typeface="楷体_GB2312" charset="0"/>
              </a:rPr>
              <a:t>万人，坝区移民</a:t>
            </a:r>
            <a:r>
              <a:rPr lang="en-US" altLang="zh-CN" sz="2800">
                <a:solidFill>
                  <a:srgbClr val="000068"/>
                </a:solidFill>
                <a:latin typeface="楷体_GB2312" charset="0"/>
                <a:ea typeface="楷体_GB2312" charset="0"/>
                <a:cs typeface="楷体_GB2312" charset="0"/>
              </a:rPr>
              <a:t>1.35</a:t>
            </a:r>
            <a:r>
              <a:rPr lang="zh-CN" altLang="en-US" sz="2800">
                <a:solidFill>
                  <a:srgbClr val="000068"/>
                </a:solidFill>
                <a:latin typeface="楷体_GB2312" charset="0"/>
                <a:ea typeface="楷体_GB2312" charset="0"/>
                <a:cs typeface="楷体_GB2312" charset="0"/>
              </a:rPr>
              <a:t>万人。</a:t>
            </a:r>
            <a:endParaRPr lang="zh-CN" altLang="en-US" sz="2800">
              <a:solidFill>
                <a:srgbClr val="000068"/>
              </a:solidFill>
              <a:latin typeface="楷体_GB2312" charset="0"/>
              <a:ea typeface="楷体_GB2312" charset="0"/>
              <a:cs typeface="楷体_GB2312"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6" descr="p91_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1628775"/>
            <a:ext cx="7143750" cy="3714750"/>
          </a:xfrm>
          <a:prstGeom prst="rect">
            <a:avLst/>
          </a:prstGeom>
          <a:noFill/>
          <a:ln>
            <a:noFill/>
          </a:ln>
        </p:spPr>
      </p:pic>
      <p:sp>
        <p:nvSpPr>
          <p:cNvPr id="32771" name="矩形 2"/>
          <p:cNvSpPr>
            <a:spLocks noChangeArrowheads="1"/>
          </p:cNvSpPr>
          <p:nvPr/>
        </p:nvSpPr>
        <p:spPr bwMode="auto">
          <a:xfrm>
            <a:off x="644525" y="203200"/>
            <a:ext cx="2362200" cy="646113"/>
          </a:xfrm>
          <a:prstGeom prst="rect">
            <a:avLst/>
          </a:prstGeom>
          <a:noFill/>
          <a:ln>
            <a:noFill/>
          </a:ln>
        </p:spPr>
        <p:txBody>
          <a:bodyPr wrap="none">
            <a:spAutoFit/>
          </a:bodyPr>
          <a:lstStyle/>
          <a:p>
            <a:pPr eaLnBrk="1" hangingPunct="1">
              <a:lnSpc>
                <a:spcPct val="90000"/>
              </a:lnSpc>
              <a:spcBef>
                <a:spcPct val="50000"/>
              </a:spcBef>
            </a:pPr>
            <a:r>
              <a:rPr lang="zh-CN" altLang="en-US">
                <a:solidFill>
                  <a:srgbClr val="C00000"/>
                </a:solidFill>
                <a:latin typeface="华文新魏" panose="02010800040101010101" charset="-122"/>
                <a:ea typeface="华文新魏" panose="02010800040101010101" charset="-122"/>
                <a:cs typeface="华文新魏" panose="02010800040101010101" charset="-122"/>
              </a:rPr>
              <a:t>库区新城 </a:t>
            </a:r>
            <a:endParaRPr lang="zh-CN" altLang="en-US">
              <a:solidFill>
                <a:srgbClr val="C00000"/>
              </a:solidFill>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对经济的影响 </a:t>
            </a:r>
            <a:endParaRPr lang="zh-CN" altLang="en-US" sz="3200">
              <a:latin typeface="Arial" panose="020B0604020202020204" pitchFamily="34" charset="0"/>
              <a:ea typeface="楷体_GB2312" charset="0"/>
              <a:cs typeface="楷体_GB2312" charset="0"/>
            </a:endParaRPr>
          </a:p>
        </p:txBody>
      </p:sp>
      <p:sp>
        <p:nvSpPr>
          <p:cNvPr id="33795"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由于历史和交通的原因，境内工业集中布局于长江沿岸的城市和集镇。所以三峡工程淹没的工厂多，损失也大。</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虽然受淹厂可重新搬迁新建，但是因停产必将打乱相互协作配套的原有系统，对经济发展会造成较大的损失。</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此外，三峡工程的建设将使</a:t>
            </a:r>
            <a:r>
              <a:rPr lang="en-US" altLang="zh-CN">
                <a:latin typeface="Arial" panose="020B0604020202020204" pitchFamily="34" charset="0"/>
                <a:ea typeface="宋体" panose="02010600030101010101" pitchFamily="2" charset="-122"/>
              </a:rPr>
              <a:t>140</a:t>
            </a:r>
            <a:r>
              <a:rPr lang="zh-CN" altLang="en-US">
                <a:latin typeface="Arial" panose="020B0604020202020204" pitchFamily="34" charset="0"/>
                <a:ea typeface="宋体" panose="02010600030101010101" pitchFamily="2" charset="-122"/>
              </a:rPr>
              <a:t>万平方米肥沃农田没入水底，对农业造成严重损失。</a:t>
            </a:r>
            <a:endParaRPr lang="zh-CN" altLang="en-US">
              <a:latin typeface="Arial" panose="020B0604020202020204" pitchFamily="34" charset="0"/>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对文化的影响 </a:t>
            </a:r>
            <a:endParaRPr lang="zh-CN" altLang="en-US" sz="3200">
              <a:latin typeface="Arial" panose="020B0604020202020204" pitchFamily="34" charset="0"/>
              <a:ea typeface="楷体_GB2312" charset="0"/>
              <a:cs typeface="楷体_GB2312" charset="0"/>
            </a:endParaRPr>
          </a:p>
        </p:txBody>
      </p:sp>
      <p:sp>
        <p:nvSpPr>
          <p:cNvPr id="34819"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从宜昌到重庆的长江沿岸，坐落着很多历史悠久的城市。凝固了从春秋时代以来，几千年的中国古代文化。像屈原和昭君的故乡秭归、还有巴东、云阳、奉节、巫山这些旅游名胜所在地的城市，以及具有</a:t>
            </a:r>
            <a:r>
              <a:rPr lang="en-US" altLang="zh-CN">
                <a:latin typeface="Arial" panose="020B0604020202020204" pitchFamily="34" charset="0"/>
                <a:ea typeface="宋体" panose="02010600030101010101" pitchFamily="2" charset="-122"/>
              </a:rPr>
              <a:t>3000</a:t>
            </a:r>
            <a:r>
              <a:rPr lang="zh-CN" altLang="en-US">
                <a:latin typeface="Arial" panose="020B0604020202020204" pitchFamily="34" charset="0"/>
                <a:ea typeface="宋体" panose="02010600030101010101" pitchFamily="2" charset="-122"/>
              </a:rPr>
              <a:t>年以上历史的大西古镇都将被三峡工程所淹没。</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此外，长江沿岸的千年古镇人文遗失。那些古调古歌等非物质文化遗产失去了赖以发展的土壤，尤其是那些方言和地方戏曲无法再发展传承。</a:t>
            </a:r>
            <a:endParaRPr lang="zh-CN" altLang="en-US">
              <a:latin typeface="Arial" panose="020B0604020202020204" pitchFamily="34" charset="0"/>
              <a:ea typeface="宋体" panose="0201060003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0" y="317500"/>
            <a:ext cx="8178800" cy="609600"/>
          </a:xfrm>
        </p:spPr>
        <p:txBody>
          <a:bodyPr/>
          <a:lstStyle/>
          <a:p>
            <a:pPr eaLnBrk="1" hangingPunct="1"/>
            <a:r>
              <a:rPr lang="zh-CN" altLang="en-US" sz="3200">
                <a:latin typeface="Arial" panose="020B0604020202020204" pitchFamily="34" charset="0"/>
                <a:ea typeface="楷体_GB2312" charset="0"/>
                <a:cs typeface="楷体_GB2312" charset="0"/>
              </a:rPr>
              <a:t>水生生态资源变化</a:t>
            </a:r>
            <a:br>
              <a:rPr lang="zh-CN" altLang="en-US" sz="3200">
                <a:latin typeface="Arial" panose="020B0604020202020204" pitchFamily="34" charset="0"/>
                <a:ea typeface="楷体_GB2312" charset="0"/>
                <a:cs typeface="楷体_GB2312" charset="0"/>
              </a:rPr>
            </a:br>
            <a:endParaRPr lang="zh-CN" altLang="en-US" sz="3200">
              <a:latin typeface="Arial" panose="020B0604020202020204" pitchFamily="34" charset="0"/>
              <a:ea typeface="楷体_GB2312" charset="0"/>
              <a:cs typeface="楷体_GB2312" charset="0"/>
            </a:endParaRPr>
          </a:p>
        </p:txBody>
      </p:sp>
      <p:sp>
        <p:nvSpPr>
          <p:cNvPr id="35843"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长江的鱼类资源丰富且易受破坏。由于河流的动态，河水的温度和化学组成的变化，以及符合这些鱼类生活特性的自然生活环境和食物来源的改变，都有可能对鱼的种类、数量产生影响，某些鱼种有可能因无法适应新的环境而数目骤减。</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特别是工程将会严重影响到生活在长江中游的鱼类，而这一水域恰恰是中国特有的千种珍稀鱼类的主要栖息地，其中仅仅只生活在长江中下游的中华鲟和白鳍豚更令人关注。</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植物</a:t>
            </a:r>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2133600" y="1466850"/>
            <a:ext cx="6192838" cy="1254125"/>
          </a:xfrm>
          <a:prstGeom prst="rect">
            <a:avLst/>
          </a:prstGeom>
          <a:noFill/>
        </p:spPr>
        <p:txBody>
          <a:bodyPr>
            <a:spAutoFit/>
          </a:bodyPr>
          <a:lstStyle/>
          <a:p>
            <a:pPr marL="342900" indent="-342900" algn="just" eaLnBrk="1" hangingPunct="1">
              <a:lnSpc>
                <a:spcPct val="140000"/>
              </a:lnSpc>
              <a:spcBef>
                <a:spcPct val="50000"/>
              </a:spcBef>
              <a:buClr>
                <a:srgbClr val="0872C2"/>
              </a:buClr>
              <a:buFont typeface="Wingdings" panose="05000000000000000000" pitchFamily="2" charset="2"/>
              <a:buChar char="Ø"/>
              <a:defRPr/>
            </a:pPr>
            <a:endParaRPr lang="en-US" altLang="zh-CN" sz="2100" b="0" kern="0">
              <a:solidFill>
                <a:schemeClr val="accent2"/>
              </a:solidFill>
              <a:latin typeface="宋体" panose="02010600030101010101" pitchFamily="2" charset="-122"/>
              <a:ea typeface="+mn-ea"/>
              <a:cs typeface="+mn-cs"/>
            </a:endParaRPr>
          </a:p>
          <a:p>
            <a:pPr marL="342900" indent="-342900" algn="just" eaLnBrk="1" hangingPunct="1">
              <a:spcBef>
                <a:spcPct val="50000"/>
              </a:spcBef>
              <a:buClr>
                <a:srgbClr val="0872C2"/>
              </a:buClr>
              <a:buFont typeface="Wingdings" panose="05000000000000000000" pitchFamily="2" charset="2"/>
              <a:buChar char="Ø"/>
              <a:defRPr/>
            </a:pPr>
            <a:endParaRPr lang="en-US" altLang="zh-CN" sz="1900" b="0" kern="0">
              <a:solidFill>
                <a:srgbClr val="000000"/>
              </a:solidFill>
              <a:latin typeface="楷体_GB2312"/>
              <a:ea typeface="+mn-ea"/>
              <a:cs typeface="+mn-cs"/>
            </a:endParaRPr>
          </a:p>
        </p:txBody>
      </p:sp>
      <p:sp>
        <p:nvSpPr>
          <p:cNvPr id="36867" name="Rectangle 3"/>
          <p:cNvSpPr>
            <a:spLocks noChangeArrowheads="1"/>
          </p:cNvSpPr>
          <p:nvPr/>
        </p:nvSpPr>
        <p:spPr bwMode="auto">
          <a:xfrm>
            <a:off x="611188" y="1447800"/>
            <a:ext cx="8532812" cy="71438"/>
          </a:xfrm>
          <a:prstGeom prst="rect">
            <a:avLst/>
          </a:prstGeom>
          <a:gradFill rotWithShape="1">
            <a:gsLst>
              <a:gs pos="0">
                <a:srgbClr val="3366CC"/>
              </a:gs>
              <a:gs pos="100000">
                <a:schemeClr val="bg1"/>
              </a:gs>
            </a:gsLst>
            <a:lin ang="0" scaled="1"/>
          </a:gradFill>
          <a:ln>
            <a:noFill/>
          </a:ln>
        </p:spPr>
        <p:txBody>
          <a:bodyPr wrap="none" lIns="88412" tIns="44206" rIns="88412" bIns="44206" anchor="ctr"/>
          <a:lstStyle/>
          <a:p>
            <a:pPr eaLnBrk="1" hangingPunct="1">
              <a:lnSpc>
                <a:spcPct val="90000"/>
              </a:lnSpc>
              <a:spcBef>
                <a:spcPct val="50000"/>
              </a:spcBef>
              <a:buFontTx/>
              <a:buChar char="•"/>
            </a:pPr>
            <a:endParaRPr lang="zh-CN" altLang="en-US"/>
          </a:p>
        </p:txBody>
      </p:sp>
      <p:pic>
        <p:nvPicPr>
          <p:cNvPr id="36868" name="Picture 4"/>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6858000" y="0"/>
            <a:ext cx="2286000" cy="1566863"/>
          </a:xfrm>
          <a:prstGeom prst="rect">
            <a:avLst/>
          </a:prstGeom>
          <a:noFill/>
          <a:ln>
            <a:noFill/>
          </a:ln>
        </p:spPr>
      </p:pic>
      <p:sp>
        <p:nvSpPr>
          <p:cNvPr id="36869" name="Text Box 5"/>
          <p:cNvSpPr txBox="1">
            <a:spLocks noChangeArrowheads="1"/>
          </p:cNvSpPr>
          <p:nvPr/>
        </p:nvSpPr>
        <p:spPr bwMode="auto">
          <a:xfrm>
            <a:off x="838200" y="838200"/>
            <a:ext cx="177800" cy="561975"/>
          </a:xfrm>
          <a:prstGeom prst="rect">
            <a:avLst/>
          </a:prstGeom>
          <a:noFill/>
          <a:ln>
            <a:noFill/>
          </a:ln>
        </p:spPr>
        <p:txBody>
          <a:bodyPr wrap="none" lIns="88412" tIns="44206" rIns="88412" bIns="44206">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30000"/>
              </a:spcBef>
              <a:buFontTx/>
              <a:buChar char="•"/>
            </a:pPr>
            <a:endParaRPr lang="zh-CN" sz="3100">
              <a:solidFill>
                <a:srgbClr val="FF0000"/>
              </a:solidFill>
              <a:latin typeface="黑体" panose="02010609060101010101" pitchFamily="49" charset="-122"/>
              <a:ea typeface="黑体" panose="02010609060101010101" pitchFamily="49" charset="-122"/>
              <a:cs typeface="黑体" panose="02010609060101010101" pitchFamily="49" charset="-122"/>
            </a:endParaRPr>
          </a:p>
        </p:txBody>
      </p:sp>
      <p:sp>
        <p:nvSpPr>
          <p:cNvPr id="36870" name="Text Box 6"/>
          <p:cNvSpPr txBox="1">
            <a:spLocks noChangeArrowheads="1"/>
          </p:cNvSpPr>
          <p:nvPr/>
        </p:nvSpPr>
        <p:spPr bwMode="auto">
          <a:xfrm>
            <a:off x="381000" y="195263"/>
            <a:ext cx="3265488" cy="642937"/>
          </a:xfrm>
          <a:prstGeom prst="rect">
            <a:avLst/>
          </a:prstGeom>
          <a:noFill/>
          <a:ln>
            <a:noFill/>
          </a:ln>
        </p:spPr>
        <p:txBody>
          <a:bodyPr wrap="none" lIns="88412" tIns="44206" rIns="88412" bIns="44206">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30000"/>
              </a:spcBef>
            </a:pPr>
            <a:r>
              <a:rPr lang="zh-CN" altLang="en-US" sz="4000">
                <a:solidFill>
                  <a:srgbClr val="C00000"/>
                </a:solidFill>
                <a:latin typeface="黑体" panose="02010609060101010101" pitchFamily="49" charset="-122"/>
                <a:ea typeface="黑体" panose="02010609060101010101" pitchFamily="49" charset="-122"/>
                <a:cs typeface="黑体" panose="02010609060101010101" pitchFamily="49" charset="-122"/>
              </a:rPr>
              <a:t>水生生物保护</a:t>
            </a:r>
            <a:endParaRPr lang="en-US" altLang="zh-CN" sz="4000">
              <a:solidFill>
                <a:srgbClr val="C00000"/>
              </a:solidFill>
              <a:ea typeface="楷体_GB2312" charset="0"/>
              <a:cs typeface="楷体_GB2312" charset="0"/>
            </a:endParaRPr>
          </a:p>
        </p:txBody>
      </p:sp>
      <p:pic>
        <p:nvPicPr>
          <p:cNvPr id="36871" name="Picture 7" descr="19中华鲟放流3-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33400" y="4343400"/>
            <a:ext cx="2819400" cy="1870075"/>
          </a:xfrm>
          <a:prstGeom prst="rect">
            <a:avLst/>
          </a:prstGeom>
          <a:noFill/>
          <a:ln>
            <a:noFill/>
          </a:ln>
        </p:spPr>
      </p:pic>
      <p:pic>
        <p:nvPicPr>
          <p:cNvPr id="36872" name="Picture 8" descr="研究所全景"/>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81000" y="1752600"/>
            <a:ext cx="8458200" cy="2220913"/>
          </a:xfrm>
          <a:prstGeom prst="rect">
            <a:avLst/>
          </a:prstGeom>
          <a:noFill/>
          <a:ln>
            <a:noFill/>
          </a:ln>
        </p:spPr>
      </p:pic>
      <p:pic>
        <p:nvPicPr>
          <p:cNvPr id="36873" name="Picture 9" descr="活体采卵"/>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495800" y="4038600"/>
            <a:ext cx="2582863" cy="2384425"/>
          </a:xfrm>
          <a:prstGeom prst="rect">
            <a:avLst/>
          </a:prstGeom>
          <a:noFill/>
          <a:ln>
            <a:noFill/>
          </a:ln>
        </p:spPr>
      </p:pic>
      <p:sp>
        <p:nvSpPr>
          <p:cNvPr id="36874" name="Text Box 10"/>
          <p:cNvSpPr txBox="1">
            <a:spLocks noChangeArrowheads="1"/>
          </p:cNvSpPr>
          <p:nvPr/>
        </p:nvSpPr>
        <p:spPr bwMode="auto">
          <a:xfrm>
            <a:off x="5076825" y="3141663"/>
            <a:ext cx="2112963" cy="366712"/>
          </a:xfrm>
          <a:prstGeom prst="rect">
            <a:avLst/>
          </a:prstGeom>
          <a:noFill/>
          <a:ln w="9525">
            <a:solidFill>
              <a:schemeClr val="bg1"/>
            </a:solidFill>
            <a:miter lim="800000"/>
          </a:ln>
        </p:spPr>
        <p:txBody>
          <a:bodyPr wrap="none" lIns="88412" tIns="44206" rIns="88412" bIns="44206">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30000"/>
              </a:spcBef>
              <a:buFontTx/>
              <a:buChar char="•"/>
            </a:pPr>
            <a:r>
              <a:rPr lang="zh-CN" altLang="en-US" sz="2000">
                <a:solidFill>
                  <a:srgbClr val="CC0099"/>
                </a:solidFill>
                <a:latin typeface="黑体" panose="02010609060101010101" pitchFamily="49" charset="-122"/>
                <a:ea typeface="黑体" panose="02010609060101010101" pitchFamily="49" charset="-122"/>
                <a:cs typeface="黑体" panose="02010609060101010101" pitchFamily="49" charset="-122"/>
              </a:rPr>
              <a:t>中华鲟养殖基地</a:t>
            </a:r>
            <a:endParaRPr lang="zh-CN" altLang="en-US" sz="2000">
              <a:solidFill>
                <a:srgbClr val="CC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36875" name="Text Box 11"/>
          <p:cNvSpPr txBox="1">
            <a:spLocks noChangeArrowheads="1"/>
          </p:cNvSpPr>
          <p:nvPr/>
        </p:nvSpPr>
        <p:spPr bwMode="auto">
          <a:xfrm>
            <a:off x="1143000" y="6184900"/>
            <a:ext cx="822325" cy="366713"/>
          </a:xfrm>
          <a:prstGeom prst="rect">
            <a:avLst/>
          </a:prstGeom>
          <a:noFill/>
          <a:ln>
            <a:noFill/>
          </a:ln>
        </p:spPr>
        <p:txBody>
          <a:bodyPr wrap="none" lIns="88412" tIns="44206" rIns="88412" bIns="44206">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30000"/>
              </a:spcBef>
              <a:buFontTx/>
              <a:buChar char="•"/>
            </a:pPr>
            <a:r>
              <a:rPr lang="zh-CN" altLang="en-US" sz="2000">
                <a:solidFill>
                  <a:srgbClr val="CC0099"/>
                </a:solidFill>
                <a:latin typeface="黑体" panose="02010609060101010101" pitchFamily="49" charset="-122"/>
                <a:ea typeface="黑体" panose="02010609060101010101" pitchFamily="49" charset="-122"/>
                <a:cs typeface="黑体" panose="02010609060101010101" pitchFamily="49" charset="-122"/>
              </a:rPr>
              <a:t>放流</a:t>
            </a:r>
            <a:endParaRPr lang="en-US" altLang="zh-CN" sz="4000">
              <a:solidFill>
                <a:srgbClr val="0000FF"/>
              </a:solidFill>
              <a:ea typeface="楷体_GB2312" charset="0"/>
              <a:cs typeface="楷体_GB2312" charset="0"/>
            </a:endParaRPr>
          </a:p>
        </p:txBody>
      </p:sp>
      <p:sp>
        <p:nvSpPr>
          <p:cNvPr id="36876" name="Text Box 12"/>
          <p:cNvSpPr txBox="1">
            <a:spLocks noChangeArrowheads="1"/>
          </p:cNvSpPr>
          <p:nvPr/>
        </p:nvSpPr>
        <p:spPr bwMode="auto">
          <a:xfrm>
            <a:off x="7086600" y="5791200"/>
            <a:ext cx="1806575" cy="366713"/>
          </a:xfrm>
          <a:prstGeom prst="rect">
            <a:avLst/>
          </a:prstGeom>
          <a:noFill/>
          <a:ln>
            <a:noFill/>
          </a:ln>
        </p:spPr>
        <p:txBody>
          <a:bodyPr lIns="88412" tIns="44206" rIns="88412" bIns="44206">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30000"/>
              </a:spcBef>
              <a:buFontTx/>
              <a:buChar char="•"/>
            </a:pPr>
            <a:r>
              <a:rPr lang="zh-CN" altLang="en-US" sz="2000">
                <a:solidFill>
                  <a:srgbClr val="CC0099"/>
                </a:solidFill>
                <a:latin typeface="黑体" panose="02010609060101010101" pitchFamily="49" charset="-122"/>
                <a:ea typeface="黑体" panose="02010609060101010101" pitchFamily="49" charset="-122"/>
                <a:cs typeface="黑体" panose="02010609060101010101" pitchFamily="49" charset="-122"/>
              </a:rPr>
              <a:t>繁殖</a:t>
            </a:r>
            <a:endParaRPr lang="en-US" altLang="zh-CN" sz="4000">
              <a:solidFill>
                <a:srgbClr val="0000FF"/>
              </a:solidFill>
              <a:ea typeface="楷体_GB2312" charset="0"/>
              <a:cs typeface="楷体_GB2312"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468313" y="1196975"/>
            <a:ext cx="8229600" cy="3529013"/>
          </a:xfrm>
          <a:prstGeom prst="rect">
            <a:avLst/>
          </a:prstGeom>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lvl="1" eaLnBrk="1" hangingPunct="1">
              <a:lnSpc>
                <a:spcPct val="105000"/>
              </a:lnSpc>
              <a:spcBef>
                <a:spcPct val="20000"/>
              </a:spcBef>
              <a:buSzPct val="75000"/>
              <a:buFont typeface="Wingdings" panose="05000000000000000000" charset="0"/>
              <a:buChar char="l"/>
            </a:pPr>
            <a:r>
              <a:rPr lang="zh-CN" altLang="en-US" sz="2400">
                <a:solidFill>
                  <a:srgbClr val="000000"/>
                </a:solidFill>
              </a:rPr>
              <a:t>对植物的影响主要集中于两种国家保护植物，即荷叶铁线蕨（部分被淹），疏花水柏枝（将全部被淹，特有，现在宜昌江段发现较大范围的野生群落）。</a:t>
            </a:r>
            <a:endParaRPr lang="en-US" altLang="zh-CN" sz="2400">
              <a:solidFill>
                <a:srgbClr val="000000"/>
              </a:solidFill>
              <a:cs typeface="Arial" panose="020B0604020202020204" pitchFamily="34" charset="0"/>
            </a:endParaRPr>
          </a:p>
          <a:p>
            <a:pPr lvl="1" eaLnBrk="1" hangingPunct="1">
              <a:lnSpc>
                <a:spcPct val="105000"/>
              </a:lnSpc>
              <a:spcBef>
                <a:spcPct val="20000"/>
              </a:spcBef>
              <a:buSzPct val="75000"/>
              <a:buFont typeface="Wingdings" panose="05000000000000000000" charset="0"/>
              <a:buChar char="l"/>
            </a:pPr>
            <a:r>
              <a:rPr lang="zh-CN" altLang="en-US" sz="2400">
                <a:solidFill>
                  <a:srgbClr val="000000"/>
                </a:solidFill>
              </a:rPr>
              <a:t>疏花水柏枝和荷叶铁线蕨抢救性保护工程（种质资源的保存、植物园保存、野外迁地保存、就地保护等等）</a:t>
            </a:r>
            <a:endParaRPr lang="en-US" altLang="zh-CN" sz="2400">
              <a:solidFill>
                <a:srgbClr val="000000"/>
              </a:solidFill>
            </a:endParaRPr>
          </a:p>
          <a:p>
            <a:pPr lvl="1" eaLnBrk="1" hangingPunct="1">
              <a:lnSpc>
                <a:spcPct val="105000"/>
              </a:lnSpc>
              <a:spcBef>
                <a:spcPct val="20000"/>
              </a:spcBef>
              <a:buSzPct val="75000"/>
              <a:buFont typeface="Wingdings" panose="05000000000000000000" charset="0"/>
              <a:buChar char="l"/>
            </a:pPr>
            <a:r>
              <a:rPr lang="zh-CN" altLang="en-US" sz="2400">
                <a:solidFill>
                  <a:srgbClr val="000000"/>
                </a:solidFill>
              </a:rPr>
              <a:t>宜昌大老岭植物多样性保护工程和兴山龙门河常绿阔叶林保护工程。</a:t>
            </a:r>
            <a:endParaRPr lang="en-US" altLang="zh-CN" sz="2400">
              <a:solidFill>
                <a:srgbClr val="000000"/>
              </a:solidFill>
              <a:ea typeface="宋体" panose="02010600030101010101" pitchFamily="2" charset="-122"/>
              <a:cs typeface="Arial" panose="020B0604020202020204" pitchFamily="34" charset="0"/>
            </a:endParaRPr>
          </a:p>
        </p:txBody>
      </p:sp>
      <p:pic>
        <p:nvPicPr>
          <p:cNvPr id="37891" name="Picture 4" descr="兴山龙门河国家森林公园"/>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4953000"/>
            <a:ext cx="2555875" cy="1905000"/>
          </a:xfrm>
          <a:prstGeom prst="rect">
            <a:avLst/>
          </a:prstGeom>
          <a:noFill/>
          <a:ln>
            <a:noFill/>
          </a:ln>
        </p:spPr>
      </p:pic>
      <p:pic>
        <p:nvPicPr>
          <p:cNvPr id="37892" name="Picture 5" descr="大老岭国家森林公园3"/>
          <p:cNvPicPr>
            <a:picLocks noChangeAspect="1" noChangeArrowheads="1"/>
          </p:cNvPicPr>
          <p:nvPr/>
        </p:nvPicPr>
        <p:blipFill>
          <a:blip r:embed="rId2" cstate="email">
            <a:extLst>
              <a:ext uri="{28A0092B-C50C-407E-A947-70E740481C1C}">
                <a14:useLocalDpi xmlns:a14="http://schemas.microsoft.com/office/drawing/2010/main" val="0"/>
              </a:ext>
            </a:extLst>
          </a:blip>
          <a:srcRect l="1797" b="5206"/>
          <a:stretch>
            <a:fillRect/>
          </a:stretch>
        </p:blipFill>
        <p:spPr bwMode="auto">
          <a:xfrm>
            <a:off x="2555875" y="4935538"/>
            <a:ext cx="2447925" cy="1922462"/>
          </a:xfrm>
          <a:prstGeom prst="rect">
            <a:avLst/>
          </a:prstGeom>
          <a:noFill/>
          <a:ln>
            <a:noFill/>
          </a:ln>
        </p:spPr>
      </p:pic>
      <p:grpSp>
        <p:nvGrpSpPr>
          <p:cNvPr id="37893" name="Group 6"/>
          <p:cNvGrpSpPr/>
          <p:nvPr/>
        </p:nvGrpSpPr>
        <p:grpSpPr bwMode="auto">
          <a:xfrm>
            <a:off x="5076825" y="4829175"/>
            <a:ext cx="1670050" cy="1947863"/>
            <a:chOff x="4576" y="890"/>
            <a:chExt cx="1052" cy="1406"/>
          </a:xfrm>
        </p:grpSpPr>
        <p:pic>
          <p:nvPicPr>
            <p:cNvPr id="37896" name="Picture 7" descr="u=1252986795,3142930997&amp;gp=2">
              <a:hlinkClick r:id="" action="ppaction://noaction"/>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6" y="890"/>
              <a:ext cx="1052" cy="1406"/>
            </a:xfrm>
            <a:prstGeom prst="rect">
              <a:avLst/>
            </a:prstGeom>
            <a:noFill/>
            <a:ln>
              <a:noFill/>
            </a:ln>
          </p:spPr>
        </p:pic>
        <p:sp>
          <p:nvSpPr>
            <p:cNvPr id="37897" name="Text Box 8"/>
            <p:cNvSpPr txBox="1">
              <a:spLocks noChangeArrowheads="1"/>
            </p:cNvSpPr>
            <p:nvPr/>
          </p:nvSpPr>
          <p:spPr bwMode="auto">
            <a:xfrm>
              <a:off x="4650" y="2024"/>
              <a:ext cx="952" cy="247"/>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Char char="•"/>
              </a:pPr>
              <a:r>
                <a:rPr kumimoji="1" lang="zh-CN" altLang="en-US" sz="1800">
                  <a:solidFill>
                    <a:srgbClr val="C00000"/>
                  </a:solidFill>
                  <a:latin typeface="Times New Roman" panose="02020603050405020304" charset="0"/>
                  <a:ea typeface="楷体_GB2312" charset="0"/>
                  <a:cs typeface="楷体_GB2312" charset="0"/>
                </a:rPr>
                <a:t>荷叶铁线蕨 </a:t>
              </a:r>
              <a:endParaRPr kumimoji="1" lang="zh-CN" altLang="en-US" sz="1800">
                <a:solidFill>
                  <a:srgbClr val="C00000"/>
                </a:solidFill>
                <a:latin typeface="Times New Roman" panose="02020603050405020304" charset="0"/>
                <a:ea typeface="楷体_GB2312" charset="0"/>
                <a:cs typeface="楷体_GB2312" charset="0"/>
              </a:endParaRPr>
            </a:p>
          </p:txBody>
        </p:sp>
      </p:grpSp>
      <p:pic>
        <p:nvPicPr>
          <p:cNvPr id="37894" name="Picture 9" descr="疏花水柏枝"/>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881813" y="4156075"/>
            <a:ext cx="2262187" cy="2701925"/>
          </a:xfrm>
          <a:prstGeom prst="rect">
            <a:avLst/>
          </a:prstGeom>
          <a:noFill/>
          <a:ln>
            <a:noFill/>
          </a:ln>
        </p:spPr>
      </p:pic>
      <p:sp>
        <p:nvSpPr>
          <p:cNvPr id="37895" name="Text Box 10"/>
          <p:cNvSpPr txBox="1">
            <a:spLocks noChangeArrowheads="1"/>
          </p:cNvSpPr>
          <p:nvPr/>
        </p:nvSpPr>
        <p:spPr bwMode="auto">
          <a:xfrm>
            <a:off x="447675" y="207963"/>
            <a:ext cx="3775075" cy="646112"/>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r>
              <a:rPr lang="zh-CN" altLang="en-US" sz="4000">
                <a:solidFill>
                  <a:srgbClr val="C00000"/>
                </a:solidFill>
                <a:ea typeface="楷体_GB2312" charset="0"/>
                <a:cs typeface="楷体_GB2312" charset="0"/>
              </a:rPr>
              <a:t>陆生动植物保护</a:t>
            </a:r>
            <a:endParaRPr lang="en-US" altLang="zh-CN" sz="4000">
              <a:solidFill>
                <a:srgbClr val="C00000"/>
              </a:solidFill>
              <a:ea typeface="楷体_GB2312" charset="0"/>
              <a:cs typeface="楷体_GB2312"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泥沙沉积问题 </a:t>
            </a:r>
            <a:endParaRPr lang="zh-CN" altLang="en-US" sz="3200">
              <a:latin typeface="Arial" panose="020B0604020202020204" pitchFamily="34" charset="0"/>
              <a:ea typeface="楷体_GB2312" charset="0"/>
              <a:cs typeface="楷体_GB2312" charset="0"/>
            </a:endParaRPr>
          </a:p>
        </p:txBody>
      </p:sp>
      <p:sp>
        <p:nvSpPr>
          <p:cNvPr id="38915"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河流的泥沙会带来一系列错综复杂的后果。长江是世界上泥沙量最大的河流之一，每年都会带走</a:t>
            </a:r>
            <a:r>
              <a:rPr lang="en-US" altLang="zh-CN">
                <a:latin typeface="Arial" panose="020B0604020202020204" pitchFamily="34" charset="0"/>
                <a:ea typeface="宋体" panose="02010600030101010101" pitchFamily="2" charset="-122"/>
              </a:rPr>
              <a:t>5</a:t>
            </a:r>
            <a:r>
              <a:rPr lang="zh-CN" altLang="en-US">
                <a:latin typeface="Arial" panose="020B0604020202020204" pitchFamily="34" charset="0"/>
                <a:ea typeface="宋体" panose="02010600030101010101" pitchFamily="2" charset="-122"/>
              </a:rPr>
              <a:t>到</a:t>
            </a:r>
            <a:r>
              <a:rPr lang="en-US" altLang="zh-CN">
                <a:latin typeface="Arial" panose="020B0604020202020204" pitchFamily="34" charset="0"/>
                <a:ea typeface="宋体" panose="02010600030101010101" pitchFamily="2" charset="-122"/>
              </a:rPr>
              <a:t>10</a:t>
            </a:r>
            <a:r>
              <a:rPr lang="zh-CN" altLang="en-US">
                <a:latin typeface="Arial" panose="020B0604020202020204" pitchFamily="34" charset="0"/>
                <a:ea typeface="宋体" panose="02010600030101010101" pitchFamily="2" charset="-122"/>
              </a:rPr>
              <a:t>亿吨的泥沙</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水库中的泥沙沉积会对下游造成影响。几千年来，长江三角洲地带一直把这些泥沙作为农田和渔业的营养源泉。</a:t>
            </a:r>
            <a:endParaRPr lang="zh-CN" altLang="en-US">
              <a:latin typeface="Arial" panose="020B0604020202020204" pitchFamily="34" charset="0"/>
              <a:ea typeface="宋体" panose="02010600030101010101" pitchFamily="2"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684213" y="836613"/>
            <a:ext cx="7559675" cy="647700"/>
          </a:xfrm>
          <a:prstGeom prst="rect">
            <a:avLst/>
          </a:prstGeom>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algn="ctr" eaLnBrk="1" hangingPunct="1">
              <a:spcBef>
                <a:spcPct val="20000"/>
              </a:spcBef>
              <a:buClr>
                <a:srgbClr val="FF00FF"/>
              </a:buClr>
              <a:buFont typeface="Wingdings" panose="05000000000000000000" charset="0"/>
              <a:buNone/>
            </a:pPr>
            <a:r>
              <a:rPr lang="zh-CN" altLang="en-US" sz="3200" b="0">
                <a:solidFill>
                  <a:srgbClr val="000000"/>
                </a:solidFill>
                <a:latin typeface="黑体" panose="02010609060101010101" pitchFamily="49" charset="-122"/>
                <a:ea typeface="黑体" panose="02010609060101010101" pitchFamily="49" charset="-122"/>
                <a:cs typeface="黑体" panose="02010609060101010101" pitchFamily="49" charset="-122"/>
              </a:rPr>
              <a:t>三峡水库进出库泥沙与水库淤积</a:t>
            </a:r>
            <a:endParaRPr lang="en-US" altLang="zh-CN" sz="3200" b="0">
              <a:solidFill>
                <a:srgbClr val="000000"/>
              </a:solidFill>
              <a:ea typeface="宋体" panose="02010600030101010101" pitchFamily="2" charset="-122"/>
              <a:cs typeface="宋体" panose="02010600030101010101" pitchFamily="2" charset="-122"/>
            </a:endParaRPr>
          </a:p>
        </p:txBody>
      </p:sp>
      <p:graphicFrame>
        <p:nvGraphicFramePr>
          <p:cNvPr id="3" name="Group 98"/>
          <p:cNvGraphicFramePr>
            <a:graphicFrameLocks noGrp="1"/>
          </p:cNvGraphicFramePr>
          <p:nvPr/>
        </p:nvGraphicFramePr>
        <p:xfrm>
          <a:off x="-396875" y="2060575"/>
          <a:ext cx="9540875" cy="4559304"/>
        </p:xfrm>
        <a:graphic>
          <a:graphicData uri="http://schemas.openxmlformats.org/drawingml/2006/table">
            <a:tbl>
              <a:tblPr/>
              <a:tblGrid>
                <a:gridCol w="2760663"/>
                <a:gridCol w="1208087"/>
                <a:gridCol w="1414463"/>
                <a:gridCol w="1355725"/>
                <a:gridCol w="1076325"/>
                <a:gridCol w="1725612"/>
              </a:tblGrid>
              <a:tr h="334963">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年份</a:t>
                      </a: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时期</a:t>
                      </a: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 </a:t>
                      </a: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Year (Period) </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入  库</a:t>
                      </a: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Incoming </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出  库</a:t>
                      </a: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Outgoing </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水库淤积量</a:t>
                      </a:r>
                      <a:endParaRPr kumimoji="0" lang="zh-CN" altLang="en-US"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（亿</a:t>
                      </a: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t</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a:t>
                      </a: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Reservoir Sedimentation (million tons) </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14400">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水量</a:t>
                      </a:r>
                      <a:endParaRPr kumimoji="0" lang="zh-CN" altLang="en-US"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None/>
                      </a:pP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（亿</a:t>
                      </a: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m</a:t>
                      </a:r>
                      <a:r>
                        <a:rPr kumimoji="0" lang="en-US" altLang="zh-CN" sz="1000" b="1" i="0" u="none" strike="noStrike" cap="none" normalizeH="0" baseline="30000">
                          <a:ln>
                            <a:noFill/>
                          </a:ln>
                          <a:solidFill>
                            <a:srgbClr val="000000"/>
                          </a:solidFill>
                          <a:effectLst/>
                          <a:latin typeface="Times New Roman" panose="02020603050405020304" charset="0"/>
                          <a:ea typeface="楷体_GB2312" charset="0"/>
                          <a:cs typeface="Times New Roman" panose="02020603050405020304" charset="0"/>
                        </a:rPr>
                        <a:t>3</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a:t>
                      </a: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Water</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None/>
                      </a:pP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(billion m3) </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沙量</a:t>
                      </a:r>
                      <a:endParaRPr kumimoji="0" lang="zh-CN" altLang="en-US"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None/>
                      </a:pP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（亿</a:t>
                      </a: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t</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a:t>
                      </a: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Sediments </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None/>
                      </a:pP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(million tons) </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水量</a:t>
                      </a:r>
                      <a:endParaRPr kumimoji="0" lang="zh-CN" altLang="en-US"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None/>
                      </a:pP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（亿</a:t>
                      </a: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m</a:t>
                      </a:r>
                      <a:r>
                        <a:rPr kumimoji="0" lang="en-US" altLang="zh-CN" sz="1000" b="1" i="0" u="none" strike="noStrike" cap="none" normalizeH="0" baseline="30000">
                          <a:ln>
                            <a:noFill/>
                          </a:ln>
                          <a:solidFill>
                            <a:srgbClr val="000000"/>
                          </a:solidFill>
                          <a:effectLst/>
                          <a:latin typeface="Times New Roman" panose="02020603050405020304" charset="0"/>
                          <a:ea typeface="楷体_GB2312" charset="0"/>
                          <a:cs typeface="Times New Roman" panose="02020603050405020304" charset="0"/>
                        </a:rPr>
                        <a:t>3</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a:t>
                      </a: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Water</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None/>
                      </a:pP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(billion m3) </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沙量</a:t>
                      </a:r>
                      <a:endParaRPr kumimoji="0" lang="zh-CN" altLang="en-US"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None/>
                      </a:pP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（亿</a:t>
                      </a: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t</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a:t>
                      </a: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Sediments </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charset="0"/>
                        <a:buNone/>
                      </a:pP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(million tons) </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3349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2003</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年</a:t>
                      </a: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6</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a:t>
                      </a: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12</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月</a:t>
                      </a: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Jun. – Dec. 2003 </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3254</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2.08</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3386</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0.84</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1.24</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2004</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年 </a:t>
                      </a: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2004 </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3898</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1.66</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4126</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0.64</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1.02</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2005</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年 </a:t>
                      </a: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2005</a:t>
                      </a:r>
                      <a:endPar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4297</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2.54</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4590</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1.03</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1.51</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2006</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年 </a:t>
                      </a: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2006</a:t>
                      </a:r>
                      <a:endPar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2790</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1.021</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2842</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0.0891</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0.932</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1751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2007</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年 </a:t>
                      </a: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2007</a:t>
                      </a:r>
                      <a:endPar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3649</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2.204</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3980</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0.507</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1.697</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2008</a:t>
                      </a:r>
                      <a:r>
                        <a:rPr kumimoji="0" lang="zh-CN" altLang="en-US"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年 </a:t>
                      </a: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2008</a:t>
                      </a:r>
                      <a:endPar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3877</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2.178</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4182</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0.322</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00"/>
                          </a:solidFill>
                          <a:effectLst/>
                          <a:latin typeface="Times New Roman" panose="02020603050405020304" charset="0"/>
                          <a:ea typeface="楷体_GB2312" charset="0"/>
                          <a:cs typeface="Times New Roman" panose="02020603050405020304" charset="0"/>
                        </a:rPr>
                        <a:t>1.856</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2009</a:t>
                      </a:r>
                      <a:r>
                        <a:rPr kumimoji="0" lang="zh-CN" altLang="en-US"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年 </a:t>
                      </a: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2009</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3464</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1.83</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3817</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0.36</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1.47</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2010</a:t>
                      </a:r>
                      <a:r>
                        <a:rPr kumimoji="0" lang="zh-CN" altLang="en-US"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年 </a:t>
                      </a: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2010</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4067</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2.288</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4011</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0.328</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1.96</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61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2003</a:t>
                      </a:r>
                      <a:r>
                        <a:rPr kumimoji="0" lang="zh-CN" altLang="en-US"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年</a:t>
                      </a: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6</a:t>
                      </a:r>
                      <a:r>
                        <a:rPr kumimoji="0" lang="zh-CN" altLang="en-US"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月～</a:t>
                      </a:r>
                      <a:endParaRPr kumimoji="0" lang="zh-CN" altLang="en-US"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2010</a:t>
                      </a:r>
                      <a:r>
                        <a:rPr kumimoji="0" lang="zh-CN" altLang="en-US"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年</a:t>
                      </a: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12</a:t>
                      </a:r>
                      <a:r>
                        <a:rPr kumimoji="0" lang="zh-CN" altLang="en-US"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月 </a:t>
                      </a:r>
                      <a:r>
                        <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rPr>
                        <a:t>Jun. 2003 – Dec. 2010 </a:t>
                      </a:r>
                      <a:endParaRPr kumimoji="0" lang="en-US" altLang="zh-CN" sz="1000" b="1" i="0" u="none" strike="noStrike" cap="none" normalizeH="0" baseline="0">
                        <a:ln>
                          <a:noFill/>
                        </a:ln>
                        <a:solidFill>
                          <a:srgbClr val="000066"/>
                        </a:solidFill>
                        <a:effectLst/>
                        <a:latin typeface="Arial" panose="020B0604020202020204" pitchFamily="34" charset="0"/>
                        <a:ea typeface="楷体_GB2312" charset="0"/>
                        <a:cs typeface="楷体_GB2312"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28950</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15.801</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30964</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4.118</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rPr>
                        <a:t>11.683</a:t>
                      </a:r>
                      <a:endParaRPr kumimoji="0" lang="en-US" altLang="zh-CN" sz="1000" b="1" i="0" u="none" strike="noStrike" cap="none" normalizeH="0" baseline="0">
                        <a:ln>
                          <a:noFill/>
                        </a:ln>
                        <a:solidFill>
                          <a:srgbClr val="000066"/>
                        </a:solidFill>
                        <a:effectLst/>
                        <a:latin typeface="Times New Roman" panose="02020603050405020304" charset="0"/>
                        <a:ea typeface="楷体_GB2312" charset="0"/>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0021" name="Text Box 86"/>
          <p:cNvSpPr txBox="1">
            <a:spLocks noChangeArrowheads="1"/>
          </p:cNvSpPr>
          <p:nvPr/>
        </p:nvSpPr>
        <p:spPr bwMode="auto">
          <a:xfrm>
            <a:off x="179388" y="188913"/>
            <a:ext cx="2236787" cy="646112"/>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pPr>
            <a:r>
              <a:rPr lang="zh-CN" altLang="en-US" sz="4000">
                <a:solidFill>
                  <a:srgbClr val="C00000"/>
                </a:solidFill>
                <a:ea typeface="楷体_GB2312" charset="0"/>
                <a:cs typeface="楷体_GB2312" charset="0"/>
              </a:rPr>
              <a:t>泥沙监测</a:t>
            </a:r>
            <a:endParaRPr lang="en-US" altLang="zh-CN" sz="4000">
              <a:solidFill>
                <a:srgbClr val="C00000"/>
              </a:solidFill>
              <a:ea typeface="楷体_GB2312" charset="0"/>
              <a:cs typeface="楷体_GB2312"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4" descr="砼桩群"/>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0" y="2636838"/>
            <a:ext cx="2776538" cy="3024187"/>
          </a:xfrm>
          <a:prstGeom prst="rect">
            <a:avLst/>
          </a:prstGeom>
          <a:noFill/>
          <a:ln>
            <a:noFill/>
          </a:ln>
        </p:spPr>
      </p:pic>
      <p:sp>
        <p:nvSpPr>
          <p:cNvPr id="3" name="Text Box 8"/>
          <p:cNvSpPr txBox="1">
            <a:spLocks noChangeArrowheads="1"/>
          </p:cNvSpPr>
          <p:nvPr/>
        </p:nvSpPr>
        <p:spPr bwMode="auto">
          <a:xfrm>
            <a:off x="0" y="4365625"/>
            <a:ext cx="1266825" cy="425450"/>
          </a:xfrm>
          <a:prstGeom prst="rect">
            <a:avLst/>
          </a:prstGeom>
          <a:noFill/>
          <a:ln w="9525">
            <a:noFill/>
            <a:miter lim="800000"/>
          </a:ln>
          <a:effectLst/>
        </p:spPr>
        <p:txBody>
          <a:bodyPr wrap="none">
            <a:spAutoFit/>
          </a:bodyPr>
          <a:lstStyle>
            <a:lvl1pPr>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algn="ctr" eaLnBrk="1" hangingPunct="1">
              <a:lnSpc>
                <a:spcPct val="90000"/>
              </a:lnSpc>
              <a:spcBef>
                <a:spcPct val="50000"/>
              </a:spcBef>
              <a:buFontTx/>
              <a:buChar char="•"/>
            </a:pPr>
            <a:r>
              <a:rPr lang="zh-CN" altLang="en-US" sz="2400">
                <a:solidFill>
                  <a:srgbClr val="FFFF00"/>
                </a:solidFill>
                <a:effectLst>
                  <a:outerShdw blurRad="38100" dist="38100" dir="2700000" algn="tl">
                    <a:srgbClr val="DDDDDD"/>
                  </a:outerShdw>
                </a:effectLst>
                <a:latin typeface="隶书" panose="02010509060101010101" charset="-122"/>
                <a:ea typeface="隶书" panose="02010509060101010101" charset="-122"/>
              </a:rPr>
              <a:t>抗滑桩</a:t>
            </a:r>
            <a:endParaRPr lang="zh-CN" altLang="en-US" sz="2400">
              <a:solidFill>
                <a:srgbClr val="FFFF00"/>
              </a:solidFill>
              <a:effectLst>
                <a:outerShdw blurRad="38100" dist="38100" dir="2700000" algn="tl">
                  <a:srgbClr val="DDDDDD"/>
                </a:outerShdw>
              </a:effectLst>
              <a:latin typeface="隶书" panose="02010509060101010101" charset="-122"/>
              <a:ea typeface="隶书" panose="02010509060101010101" charset="-122"/>
            </a:endParaRPr>
          </a:p>
        </p:txBody>
      </p:sp>
      <p:pic>
        <p:nvPicPr>
          <p:cNvPr id="40964" name="Picture 10" descr="3"/>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148263" y="2060575"/>
            <a:ext cx="3744912" cy="2881313"/>
          </a:xfrm>
          <a:prstGeom prst="rect">
            <a:avLst/>
          </a:prstGeom>
          <a:noFill/>
          <a:ln>
            <a:noFill/>
          </a:ln>
        </p:spPr>
      </p:pic>
      <p:pic>
        <p:nvPicPr>
          <p:cNvPr id="40965" name="Picture 11" descr="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484438" y="4076700"/>
            <a:ext cx="3240087" cy="2428875"/>
          </a:xfrm>
          <a:prstGeom prst="rect">
            <a:avLst/>
          </a:prstGeom>
          <a:noFill/>
          <a:ln>
            <a:noFill/>
          </a:ln>
        </p:spPr>
      </p:pic>
      <p:sp>
        <p:nvSpPr>
          <p:cNvPr id="40966" name="Text Box 12"/>
          <p:cNvSpPr txBox="1">
            <a:spLocks noChangeArrowheads="1"/>
          </p:cNvSpPr>
          <p:nvPr/>
        </p:nvSpPr>
        <p:spPr bwMode="auto">
          <a:xfrm>
            <a:off x="6156325" y="5013325"/>
            <a:ext cx="2736850" cy="314325"/>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Char char="•"/>
            </a:pPr>
            <a:r>
              <a:rPr lang="zh-CN" altLang="en-US" sz="1600">
                <a:solidFill>
                  <a:srgbClr val="000066"/>
                </a:solidFill>
                <a:ea typeface="楷体_GB2312" charset="0"/>
                <a:cs typeface="楷体_GB2312" charset="0"/>
              </a:rPr>
              <a:t>奉节县城猴子石滑坡体治理</a:t>
            </a:r>
            <a:endParaRPr lang="zh-CN" altLang="en-US" sz="1600">
              <a:solidFill>
                <a:srgbClr val="000066"/>
              </a:solidFill>
              <a:ea typeface="楷体_GB2312" charset="0"/>
              <a:cs typeface="楷体_GB2312" charset="0"/>
            </a:endParaRPr>
          </a:p>
        </p:txBody>
      </p:sp>
      <p:sp>
        <p:nvSpPr>
          <p:cNvPr id="40967" name="Text Box 13"/>
          <p:cNvSpPr txBox="1">
            <a:spLocks noChangeArrowheads="1"/>
          </p:cNvSpPr>
          <p:nvPr/>
        </p:nvSpPr>
        <p:spPr bwMode="auto">
          <a:xfrm>
            <a:off x="2627313" y="5805488"/>
            <a:ext cx="2952750" cy="369887"/>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r>
              <a:rPr lang="zh-CN" altLang="en-US" sz="2000">
                <a:solidFill>
                  <a:srgbClr val="0000FF"/>
                </a:solidFill>
                <a:ea typeface="楷体_GB2312" charset="0"/>
                <a:cs typeface="楷体_GB2312" charset="0"/>
              </a:rPr>
              <a:t>巴东营盘包滑坡体治理</a:t>
            </a:r>
            <a:endParaRPr lang="zh-CN" altLang="en-US" sz="2000">
              <a:solidFill>
                <a:srgbClr val="0000FF"/>
              </a:solidFill>
              <a:ea typeface="楷体_GB2312" charset="0"/>
              <a:cs typeface="楷体_GB2312" charset="0"/>
            </a:endParaRPr>
          </a:p>
        </p:txBody>
      </p:sp>
      <p:sp>
        <p:nvSpPr>
          <p:cNvPr id="40968" name="Text Box 14"/>
          <p:cNvSpPr txBox="1">
            <a:spLocks noChangeArrowheads="1"/>
          </p:cNvSpPr>
          <p:nvPr/>
        </p:nvSpPr>
        <p:spPr bwMode="auto">
          <a:xfrm>
            <a:off x="3563938" y="4508500"/>
            <a:ext cx="911225" cy="425450"/>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Char char="•"/>
            </a:pPr>
            <a:r>
              <a:rPr lang="zh-CN" altLang="en-US" sz="2400">
                <a:solidFill>
                  <a:srgbClr val="FFFF00"/>
                </a:solidFill>
                <a:ea typeface="隶书" panose="02010509060101010101" charset="-122"/>
                <a:cs typeface="隶书" panose="02010509060101010101" charset="-122"/>
              </a:rPr>
              <a:t>护坡</a:t>
            </a:r>
            <a:endParaRPr lang="zh-CN" altLang="en-US" sz="2400">
              <a:solidFill>
                <a:srgbClr val="FFFF00"/>
              </a:solidFill>
              <a:ea typeface="隶书" panose="02010509060101010101" charset="-122"/>
              <a:cs typeface="隶书" panose="02010509060101010101" charset="-122"/>
            </a:endParaRPr>
          </a:p>
        </p:txBody>
      </p:sp>
      <p:sp>
        <p:nvSpPr>
          <p:cNvPr id="9" name="Rectangle 2"/>
          <p:cNvSpPr txBox="1">
            <a:spLocks noChangeArrowheads="1"/>
          </p:cNvSpPr>
          <p:nvPr/>
        </p:nvSpPr>
        <p:spPr>
          <a:xfrm>
            <a:off x="395288" y="260350"/>
            <a:ext cx="8229600" cy="1655763"/>
          </a:xfrm>
          <a:prstGeom prst="rect">
            <a:avLst/>
          </a:prstGeom>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lnSpc>
                <a:spcPct val="130000"/>
              </a:lnSpc>
              <a:spcBef>
                <a:spcPct val="20000"/>
              </a:spcBef>
              <a:buFont typeface="Wingdings" panose="05000000000000000000" charset="0"/>
              <a:buNone/>
            </a:pPr>
            <a:r>
              <a:rPr lang="zh-CN" altLang="en-US" sz="3200">
                <a:solidFill>
                  <a:srgbClr val="C00000"/>
                </a:solidFill>
                <a:latin typeface="楷体_GB2312" charset="0"/>
                <a:ea typeface="宋体" panose="02010600030101010101" pitchFamily="2" charset="-122"/>
                <a:cs typeface="宋体" panose="02010600030101010101" pitchFamily="2" charset="-122"/>
              </a:rPr>
              <a:t>地质灾害治理</a:t>
            </a:r>
            <a:endParaRPr lang="en-US" altLang="zh-CN" sz="1800">
              <a:solidFill>
                <a:srgbClr val="C00000"/>
              </a:solidFill>
              <a:latin typeface="楷体_GB2312" charset="0"/>
              <a:ea typeface="宋体" panose="02010600030101010101" pitchFamily="2" charset="-122"/>
              <a:cs typeface="宋体" panose="02010600030101010101" pitchFamily="2" charset="-122"/>
            </a:endParaRPr>
          </a:p>
          <a:p>
            <a:pPr eaLnBrk="1" hangingPunct="1">
              <a:lnSpc>
                <a:spcPct val="130000"/>
              </a:lnSpc>
              <a:spcBef>
                <a:spcPct val="20000"/>
              </a:spcBef>
              <a:buFont typeface="Wingdings" panose="05000000000000000000" charset="0"/>
              <a:buNone/>
            </a:pPr>
            <a:r>
              <a:rPr lang="en-US" altLang="zh-CN" sz="1800" b="0">
                <a:solidFill>
                  <a:srgbClr val="000000"/>
                </a:solidFill>
                <a:latin typeface="楷体_GB2312" charset="0"/>
                <a:ea typeface="宋体" panose="02010600030101010101" pitchFamily="2" charset="-122"/>
                <a:cs typeface="宋体" panose="02010600030101010101" pitchFamily="2" charset="-122"/>
              </a:rPr>
              <a:t>      </a:t>
            </a:r>
            <a:r>
              <a:rPr lang="zh-CN" altLang="en-US" sz="2000">
                <a:solidFill>
                  <a:srgbClr val="000000"/>
                </a:solidFill>
                <a:ea typeface="宋体" panose="02010600030101010101" pitchFamily="2" charset="-122"/>
                <a:cs typeface="宋体" panose="02010600030101010101" pitchFamily="2" charset="-122"/>
              </a:rPr>
              <a:t>蓄水前，共投资</a:t>
            </a:r>
            <a:r>
              <a:rPr lang="en-US" altLang="zh-CN" sz="2000">
                <a:solidFill>
                  <a:srgbClr val="000000"/>
                </a:solidFill>
                <a:ea typeface="宋体" panose="02010600030101010101" pitchFamily="2" charset="-122"/>
                <a:cs typeface="宋体" panose="02010600030101010101" pitchFamily="2" charset="-122"/>
              </a:rPr>
              <a:t>113</a:t>
            </a:r>
            <a:r>
              <a:rPr lang="zh-CN" altLang="en-US" sz="2000">
                <a:solidFill>
                  <a:srgbClr val="000000"/>
                </a:solidFill>
                <a:ea typeface="宋体" panose="02010600030101010101" pitchFamily="2" charset="-122"/>
                <a:cs typeface="宋体" panose="02010600030101010101" pitchFamily="2" charset="-122"/>
              </a:rPr>
              <a:t>亿元用于库区地质灾害防治，搬迁避让</a:t>
            </a:r>
            <a:r>
              <a:rPr lang="en-US" altLang="zh-CN" sz="2000">
                <a:solidFill>
                  <a:srgbClr val="000000"/>
                </a:solidFill>
                <a:ea typeface="宋体" panose="02010600030101010101" pitchFamily="2" charset="-122"/>
                <a:cs typeface="宋体" panose="02010600030101010101" pitchFamily="2" charset="-122"/>
              </a:rPr>
              <a:t>646</a:t>
            </a:r>
            <a:r>
              <a:rPr lang="zh-CN" altLang="en-US" sz="2000">
                <a:solidFill>
                  <a:srgbClr val="000000"/>
                </a:solidFill>
                <a:ea typeface="宋体" panose="02010600030101010101" pitchFamily="2" charset="-122"/>
                <a:cs typeface="宋体" panose="02010600030101010101" pitchFamily="2" charset="-122"/>
              </a:rPr>
              <a:t>处（</a:t>
            </a:r>
            <a:r>
              <a:rPr lang="en-US" altLang="zh-CN" sz="2000">
                <a:solidFill>
                  <a:srgbClr val="000000"/>
                </a:solidFill>
                <a:ea typeface="宋体" panose="02010600030101010101" pitchFamily="2" charset="-122"/>
                <a:cs typeface="宋体" panose="02010600030101010101" pitchFamily="2" charset="-122"/>
              </a:rPr>
              <a:t>6.99</a:t>
            </a:r>
            <a:r>
              <a:rPr lang="zh-CN" altLang="en-US" sz="2000">
                <a:solidFill>
                  <a:srgbClr val="000000"/>
                </a:solidFill>
                <a:ea typeface="宋体" panose="02010600030101010101" pitchFamily="2" charset="-122"/>
                <a:cs typeface="宋体" panose="02010600030101010101" pitchFamily="2" charset="-122"/>
              </a:rPr>
              <a:t>万人）；治理滑坡</a:t>
            </a:r>
            <a:r>
              <a:rPr lang="en-US" altLang="zh-CN" sz="2000">
                <a:solidFill>
                  <a:srgbClr val="000000"/>
                </a:solidFill>
                <a:ea typeface="宋体" panose="02010600030101010101" pitchFamily="2" charset="-122"/>
                <a:cs typeface="宋体" panose="02010600030101010101" pitchFamily="2" charset="-122"/>
              </a:rPr>
              <a:t>441</a:t>
            </a:r>
            <a:r>
              <a:rPr lang="zh-CN" altLang="en-US" sz="2000">
                <a:solidFill>
                  <a:srgbClr val="000000"/>
                </a:solidFill>
                <a:ea typeface="宋体" panose="02010600030101010101" pitchFamily="2" charset="-122"/>
                <a:cs typeface="宋体" panose="02010600030101010101" pitchFamily="2" charset="-122"/>
              </a:rPr>
              <a:t>处，高切坡</a:t>
            </a:r>
            <a:r>
              <a:rPr lang="en-US" altLang="zh-CN" sz="2000">
                <a:solidFill>
                  <a:srgbClr val="000000"/>
                </a:solidFill>
                <a:ea typeface="宋体" panose="02010600030101010101" pitchFamily="2" charset="-122"/>
                <a:cs typeface="宋体" panose="02010600030101010101" pitchFamily="2" charset="-122"/>
              </a:rPr>
              <a:t>2874</a:t>
            </a:r>
            <a:r>
              <a:rPr lang="zh-CN" altLang="en-US" sz="2000">
                <a:solidFill>
                  <a:srgbClr val="000000"/>
                </a:solidFill>
                <a:ea typeface="宋体" panose="02010600030101010101" pitchFamily="2" charset="-122"/>
                <a:cs typeface="宋体" panose="02010600030101010101" pitchFamily="2" charset="-122"/>
              </a:rPr>
              <a:t>处，库岸防护</a:t>
            </a:r>
            <a:r>
              <a:rPr lang="en-US" altLang="zh-CN" sz="2000">
                <a:solidFill>
                  <a:srgbClr val="000000"/>
                </a:solidFill>
                <a:ea typeface="宋体" panose="02010600030101010101" pitchFamily="2" charset="-122"/>
                <a:cs typeface="宋体" panose="02010600030101010101" pitchFamily="2" charset="-122"/>
              </a:rPr>
              <a:t>175km</a:t>
            </a:r>
            <a:r>
              <a:rPr lang="zh-CN" altLang="en-US" sz="2000">
                <a:solidFill>
                  <a:srgbClr val="000000"/>
                </a:solidFill>
                <a:ea typeface="宋体" panose="02010600030101010101" pitchFamily="2" charset="-122"/>
                <a:cs typeface="宋体" panose="02010600030101010101" pitchFamily="2" charset="-122"/>
              </a:rPr>
              <a:t>；群测群防监测点</a:t>
            </a:r>
            <a:r>
              <a:rPr lang="en-US" altLang="zh-CN" sz="2000">
                <a:solidFill>
                  <a:srgbClr val="000000"/>
                </a:solidFill>
                <a:ea typeface="宋体" panose="02010600030101010101" pitchFamily="2" charset="-122"/>
                <a:cs typeface="宋体" panose="02010600030101010101" pitchFamily="2" charset="-122"/>
              </a:rPr>
              <a:t>3113</a:t>
            </a:r>
            <a:r>
              <a:rPr lang="zh-CN" altLang="en-US" sz="2000">
                <a:solidFill>
                  <a:srgbClr val="000000"/>
                </a:solidFill>
                <a:ea typeface="宋体" panose="02010600030101010101" pitchFamily="2" charset="-122"/>
                <a:cs typeface="宋体" panose="02010600030101010101" pitchFamily="2" charset="-122"/>
              </a:rPr>
              <a:t>处（</a:t>
            </a:r>
            <a:r>
              <a:rPr lang="en-US" altLang="zh-CN" sz="2000">
                <a:solidFill>
                  <a:srgbClr val="000000"/>
                </a:solidFill>
                <a:ea typeface="宋体" panose="02010600030101010101" pitchFamily="2" charset="-122"/>
                <a:cs typeface="宋体" panose="02010600030101010101" pitchFamily="2" charset="-122"/>
              </a:rPr>
              <a:t>60</a:t>
            </a:r>
            <a:r>
              <a:rPr lang="zh-CN" altLang="en-US" sz="2000">
                <a:solidFill>
                  <a:srgbClr val="000000"/>
                </a:solidFill>
                <a:ea typeface="宋体" panose="02010600030101010101" pitchFamily="2" charset="-122"/>
                <a:cs typeface="宋体" panose="02010600030101010101" pitchFamily="2" charset="-122"/>
              </a:rPr>
              <a:t>万人），其中专业监测点</a:t>
            </a:r>
            <a:r>
              <a:rPr lang="en-US" altLang="zh-CN" sz="2000">
                <a:solidFill>
                  <a:srgbClr val="000000"/>
                </a:solidFill>
                <a:ea typeface="宋体" panose="02010600030101010101" pitchFamily="2" charset="-122"/>
                <a:cs typeface="宋体" panose="02010600030101010101" pitchFamily="2" charset="-122"/>
              </a:rPr>
              <a:t>254</a:t>
            </a:r>
            <a:r>
              <a:rPr lang="zh-CN" altLang="en-US" sz="2000">
                <a:solidFill>
                  <a:srgbClr val="000000"/>
                </a:solidFill>
                <a:ea typeface="宋体" panose="02010600030101010101" pitchFamily="2" charset="-122"/>
                <a:cs typeface="宋体" panose="02010600030101010101" pitchFamily="2" charset="-122"/>
              </a:rPr>
              <a:t>处。</a:t>
            </a:r>
            <a:endParaRPr lang="en-US" altLang="zh-CN" sz="2000">
              <a:solidFill>
                <a:srgbClr val="000000"/>
              </a:solidFill>
              <a:latin typeface="楷体_GB2312" charset="0"/>
              <a:ea typeface="宋体" panose="02010600030101010101" pitchFamily="2" charset="-122"/>
              <a:cs typeface="宋体" panose="02010600030101010101" pitchFamily="2"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68313" y="692150"/>
            <a:ext cx="8229600" cy="4525963"/>
          </a:xfrm>
          <a:prstGeom prst="rect">
            <a:avLst/>
          </a:prstGeom>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lnSpc>
                <a:spcPct val="130000"/>
              </a:lnSpc>
              <a:spcBef>
                <a:spcPct val="20000"/>
              </a:spcBef>
              <a:buFont typeface="Wingdings" panose="05000000000000000000" charset="0"/>
              <a:buNone/>
            </a:pPr>
            <a:r>
              <a:rPr lang="en-US" altLang="zh-CN" sz="1800">
                <a:solidFill>
                  <a:srgbClr val="000000"/>
                </a:solidFill>
                <a:latin typeface="楷体_GB2312" charset="0"/>
                <a:ea typeface="宋体" panose="02010600030101010101" pitchFamily="2" charset="-122"/>
                <a:cs typeface="宋体" panose="02010600030101010101" pitchFamily="2" charset="-122"/>
              </a:rPr>
              <a:t>       </a:t>
            </a:r>
            <a:r>
              <a:rPr lang="zh-CN" altLang="en-US" sz="2400">
                <a:solidFill>
                  <a:srgbClr val="000000"/>
                </a:solidFill>
                <a:latin typeface="楷体_GB2312" charset="0"/>
                <a:ea typeface="宋体" panose="02010600030101010101" pitchFamily="2" charset="-122"/>
                <a:cs typeface="宋体" panose="02010600030101010101" pitchFamily="2" charset="-122"/>
              </a:rPr>
              <a:t>蓄水后干流主要以变形为主，仅巫山龚家坊滑坡体变形破坏。其中，</a:t>
            </a:r>
            <a:r>
              <a:rPr lang="en-US" altLang="zh-CN" sz="2400">
                <a:solidFill>
                  <a:srgbClr val="000000"/>
                </a:solidFill>
                <a:latin typeface="楷体_GB2312" charset="0"/>
                <a:ea typeface="宋体" panose="02010600030101010101" pitchFamily="2" charset="-122"/>
                <a:cs typeface="宋体" panose="02010600030101010101" pitchFamily="2" charset="-122"/>
              </a:rPr>
              <a:t>2008</a:t>
            </a:r>
            <a:r>
              <a:rPr lang="zh-CN" altLang="en-US" sz="2400">
                <a:solidFill>
                  <a:srgbClr val="000000"/>
                </a:solidFill>
                <a:latin typeface="楷体_GB2312" charset="0"/>
                <a:ea typeface="宋体" panose="02010600030101010101" pitchFamily="2" charset="-122"/>
                <a:cs typeface="宋体" panose="02010600030101010101" pitchFamily="2" charset="-122"/>
              </a:rPr>
              <a:t>年</a:t>
            </a:r>
            <a:r>
              <a:rPr lang="en-US" altLang="zh-CN" sz="2400">
                <a:solidFill>
                  <a:srgbClr val="000000"/>
                </a:solidFill>
                <a:latin typeface="楷体_GB2312" charset="0"/>
                <a:ea typeface="宋体" panose="02010600030101010101" pitchFamily="2" charset="-122"/>
                <a:cs typeface="宋体" panose="02010600030101010101" pitchFamily="2" charset="-122"/>
              </a:rPr>
              <a:t>11</a:t>
            </a:r>
            <a:r>
              <a:rPr lang="zh-CN" altLang="en-US" sz="2400">
                <a:solidFill>
                  <a:srgbClr val="000000"/>
                </a:solidFill>
                <a:latin typeface="楷体_GB2312" charset="0"/>
                <a:ea typeface="宋体" panose="02010600030101010101" pitchFamily="2" charset="-122"/>
                <a:cs typeface="宋体" panose="02010600030101010101" pitchFamily="2" charset="-122"/>
              </a:rPr>
              <a:t>月</a:t>
            </a:r>
            <a:r>
              <a:rPr lang="en-US" altLang="zh-CN" sz="2400">
                <a:solidFill>
                  <a:srgbClr val="000000"/>
                </a:solidFill>
                <a:latin typeface="楷体_GB2312" charset="0"/>
                <a:ea typeface="宋体" panose="02010600030101010101" pitchFamily="2" charset="-122"/>
                <a:cs typeface="宋体" panose="02010600030101010101" pitchFamily="2" charset="-122"/>
              </a:rPr>
              <a:t>23</a:t>
            </a:r>
            <a:r>
              <a:rPr lang="zh-CN" altLang="en-US" sz="2400">
                <a:solidFill>
                  <a:srgbClr val="000000"/>
                </a:solidFill>
                <a:latin typeface="楷体_GB2312" charset="0"/>
                <a:ea typeface="宋体" panose="02010600030101010101" pitchFamily="2" charset="-122"/>
                <a:cs typeface="宋体" panose="02010600030101010101" pitchFamily="2" charset="-122"/>
              </a:rPr>
              <a:t>日崩塌入江</a:t>
            </a:r>
            <a:r>
              <a:rPr lang="en-US" altLang="zh-CN" sz="2400">
                <a:solidFill>
                  <a:srgbClr val="000000"/>
                </a:solidFill>
                <a:latin typeface="楷体_GB2312" charset="0"/>
                <a:ea typeface="宋体" panose="02010600030101010101" pitchFamily="2" charset="-122"/>
                <a:cs typeface="宋体" panose="02010600030101010101" pitchFamily="2" charset="-122"/>
              </a:rPr>
              <a:t>20</a:t>
            </a:r>
            <a:r>
              <a:rPr lang="zh-CN" altLang="en-US" sz="2400">
                <a:solidFill>
                  <a:srgbClr val="000000"/>
                </a:solidFill>
                <a:latin typeface="楷体_GB2312" charset="0"/>
                <a:ea typeface="宋体" panose="02010600030101010101" pitchFamily="2" charset="-122"/>
                <a:cs typeface="宋体" panose="02010600030101010101" pitchFamily="2" charset="-122"/>
              </a:rPr>
              <a:t>万</a:t>
            </a:r>
            <a:r>
              <a:rPr lang="en-US" altLang="zh-CN" sz="2400">
                <a:solidFill>
                  <a:srgbClr val="000000"/>
                </a:solidFill>
                <a:latin typeface="楷体_GB2312" charset="0"/>
                <a:ea typeface="宋体" panose="02010600030101010101" pitchFamily="2" charset="-122"/>
                <a:cs typeface="宋体" panose="02010600030101010101" pitchFamily="2" charset="-122"/>
              </a:rPr>
              <a:t>m</a:t>
            </a:r>
            <a:r>
              <a:rPr lang="en-US" altLang="zh-CN" sz="2400" baseline="30000">
                <a:solidFill>
                  <a:srgbClr val="000000"/>
                </a:solidFill>
                <a:latin typeface="楷体_GB2312" charset="0"/>
                <a:ea typeface="宋体" panose="02010600030101010101" pitchFamily="2" charset="-122"/>
                <a:cs typeface="宋体" panose="02010600030101010101" pitchFamily="2" charset="-122"/>
              </a:rPr>
              <a:t>3</a:t>
            </a:r>
            <a:r>
              <a:rPr lang="zh-CN" altLang="en-US" sz="2400">
                <a:solidFill>
                  <a:srgbClr val="000000"/>
                </a:solidFill>
                <a:latin typeface="楷体_GB2312" charset="0"/>
                <a:ea typeface="宋体" panose="02010600030101010101" pitchFamily="2" charset="-122"/>
                <a:cs typeface="宋体" panose="02010600030101010101" pitchFamily="2" charset="-122"/>
              </a:rPr>
              <a:t>，</a:t>
            </a:r>
            <a:r>
              <a:rPr lang="en-US" altLang="zh-CN" sz="2400">
                <a:solidFill>
                  <a:srgbClr val="000000"/>
                </a:solidFill>
                <a:latin typeface="楷体_GB2312" charset="0"/>
                <a:ea typeface="宋体" panose="02010600030101010101" pitchFamily="2" charset="-122"/>
                <a:cs typeface="宋体" panose="02010600030101010101" pitchFamily="2" charset="-122"/>
              </a:rPr>
              <a:t>2009</a:t>
            </a:r>
            <a:r>
              <a:rPr lang="zh-CN" altLang="en-US" sz="2400">
                <a:solidFill>
                  <a:srgbClr val="000000"/>
                </a:solidFill>
                <a:latin typeface="楷体_GB2312" charset="0"/>
                <a:ea typeface="宋体" panose="02010600030101010101" pitchFamily="2" charset="-122"/>
                <a:cs typeface="宋体" panose="02010600030101010101" pitchFamily="2" charset="-122"/>
              </a:rPr>
              <a:t>年</a:t>
            </a:r>
            <a:r>
              <a:rPr lang="en-US" altLang="zh-CN" sz="2400">
                <a:solidFill>
                  <a:srgbClr val="000000"/>
                </a:solidFill>
                <a:latin typeface="楷体_GB2312" charset="0"/>
                <a:ea typeface="宋体" panose="02010600030101010101" pitchFamily="2" charset="-122"/>
                <a:cs typeface="宋体" panose="02010600030101010101" pitchFamily="2" charset="-122"/>
              </a:rPr>
              <a:t>5</a:t>
            </a:r>
            <a:r>
              <a:rPr lang="zh-CN" altLang="en-US" sz="2400">
                <a:solidFill>
                  <a:srgbClr val="000000"/>
                </a:solidFill>
                <a:latin typeface="楷体_GB2312" charset="0"/>
                <a:ea typeface="宋体" panose="02010600030101010101" pitchFamily="2" charset="-122"/>
                <a:cs typeface="宋体" panose="02010600030101010101" pitchFamily="2" charset="-122"/>
              </a:rPr>
              <a:t>月</a:t>
            </a:r>
            <a:r>
              <a:rPr lang="en-US" altLang="zh-CN" sz="2400">
                <a:solidFill>
                  <a:srgbClr val="000000"/>
                </a:solidFill>
                <a:latin typeface="楷体_GB2312" charset="0"/>
                <a:ea typeface="宋体" panose="02010600030101010101" pitchFamily="2" charset="-122"/>
                <a:cs typeface="宋体" panose="02010600030101010101" pitchFamily="2" charset="-122"/>
              </a:rPr>
              <a:t>18</a:t>
            </a:r>
            <a:r>
              <a:rPr lang="zh-CN" altLang="en-US" sz="2400">
                <a:solidFill>
                  <a:srgbClr val="000000"/>
                </a:solidFill>
                <a:latin typeface="楷体_GB2312" charset="0"/>
                <a:ea typeface="宋体" panose="02010600030101010101" pitchFamily="2" charset="-122"/>
                <a:cs typeface="宋体" panose="02010600030101010101" pitchFamily="2" charset="-122"/>
              </a:rPr>
              <a:t>日崩塌入江</a:t>
            </a:r>
            <a:r>
              <a:rPr lang="en-US" altLang="zh-CN" sz="2400">
                <a:solidFill>
                  <a:srgbClr val="000000"/>
                </a:solidFill>
                <a:latin typeface="楷体_GB2312" charset="0"/>
                <a:ea typeface="宋体" panose="02010600030101010101" pitchFamily="2" charset="-122"/>
                <a:cs typeface="宋体" panose="02010600030101010101" pitchFamily="2" charset="-122"/>
              </a:rPr>
              <a:t>5</a:t>
            </a:r>
            <a:r>
              <a:rPr lang="zh-CN" altLang="en-US" sz="2400">
                <a:solidFill>
                  <a:srgbClr val="000000"/>
                </a:solidFill>
                <a:latin typeface="楷体_GB2312" charset="0"/>
                <a:ea typeface="宋体" panose="02010600030101010101" pitchFamily="2" charset="-122"/>
                <a:cs typeface="宋体" panose="02010600030101010101" pitchFamily="2" charset="-122"/>
              </a:rPr>
              <a:t>万</a:t>
            </a:r>
            <a:r>
              <a:rPr lang="en-US" altLang="zh-CN" sz="2400">
                <a:solidFill>
                  <a:srgbClr val="000000"/>
                </a:solidFill>
                <a:latin typeface="楷体_GB2312" charset="0"/>
                <a:ea typeface="宋体" panose="02010600030101010101" pitchFamily="2" charset="-122"/>
                <a:cs typeface="宋体" panose="02010600030101010101" pitchFamily="2" charset="-122"/>
              </a:rPr>
              <a:t>m</a:t>
            </a:r>
            <a:r>
              <a:rPr lang="en-US" altLang="zh-CN" sz="2400" baseline="30000">
                <a:solidFill>
                  <a:srgbClr val="000000"/>
                </a:solidFill>
                <a:latin typeface="楷体_GB2312" charset="0"/>
                <a:ea typeface="宋体" panose="02010600030101010101" pitchFamily="2" charset="-122"/>
                <a:cs typeface="宋体" panose="02010600030101010101" pitchFamily="2" charset="-122"/>
              </a:rPr>
              <a:t>3</a:t>
            </a:r>
            <a:r>
              <a:rPr lang="zh-CN" altLang="en-US" sz="2400">
                <a:solidFill>
                  <a:srgbClr val="000000"/>
                </a:solidFill>
                <a:latin typeface="楷体_GB2312" charset="0"/>
                <a:ea typeface="宋体" panose="02010600030101010101" pitchFamily="2" charset="-122"/>
                <a:cs typeface="宋体" panose="02010600030101010101" pitchFamily="2" charset="-122"/>
              </a:rPr>
              <a:t>。</a:t>
            </a:r>
            <a:endParaRPr lang="en-US" altLang="zh-CN" sz="2400">
              <a:solidFill>
                <a:srgbClr val="000000"/>
              </a:solidFill>
              <a:latin typeface="楷体_GB2312" charset="0"/>
              <a:ea typeface="宋体" panose="02010600030101010101" pitchFamily="2" charset="-122"/>
              <a:cs typeface="宋体" panose="02010600030101010101" pitchFamily="2" charset="-122"/>
            </a:endParaRPr>
          </a:p>
        </p:txBody>
      </p:sp>
      <p:sp>
        <p:nvSpPr>
          <p:cNvPr id="41987" name="TextBox 7"/>
          <p:cNvSpPr txBox="1">
            <a:spLocks noChangeArrowheads="1"/>
          </p:cNvSpPr>
          <p:nvPr/>
        </p:nvSpPr>
        <p:spPr bwMode="auto">
          <a:xfrm>
            <a:off x="468313" y="266700"/>
            <a:ext cx="1416050" cy="425450"/>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algn="r" eaLnBrk="1" hangingPunct="1">
              <a:lnSpc>
                <a:spcPct val="90000"/>
              </a:lnSpc>
              <a:spcBef>
                <a:spcPct val="50000"/>
              </a:spcBef>
            </a:pPr>
            <a:r>
              <a:rPr lang="zh-CN" altLang="en-US" sz="2400">
                <a:solidFill>
                  <a:srgbClr val="C00000"/>
                </a:solidFill>
                <a:latin typeface="Times New Roman" panose="02020603050405020304" charset="0"/>
                <a:ea typeface="楷体_GB2312" charset="0"/>
                <a:cs typeface="Times New Roman" panose="02020603050405020304" charset="0"/>
              </a:rPr>
              <a:t>地质灾害</a:t>
            </a:r>
            <a:endParaRPr lang="en-US" altLang="zh-CN" sz="4000">
              <a:solidFill>
                <a:srgbClr val="C00000"/>
              </a:solidFill>
              <a:ea typeface="楷体_GB2312" charset="0"/>
              <a:cs typeface="Times New Roman" panose="02020603050405020304" charset="0"/>
            </a:endParaRPr>
          </a:p>
        </p:txBody>
      </p:sp>
      <p:pic>
        <p:nvPicPr>
          <p:cNvPr id="41988" name="对象 2"/>
          <p:cNvPicPr>
            <a:picLocks noChangeArrowheads="1"/>
          </p:cNvPicPr>
          <p:nvPr/>
        </p:nvPicPr>
        <p:blipFill>
          <a:blip r:embed="rId1" cstate="email">
            <a:extLst>
              <a:ext uri="{28A0092B-C50C-407E-A947-70E740481C1C}">
                <a14:useLocalDpi xmlns:a14="http://schemas.microsoft.com/office/drawing/2010/main" val="0"/>
              </a:ext>
            </a:extLst>
          </a:blip>
          <a:srcRect t="-174" b="-1566"/>
          <a:stretch>
            <a:fillRect/>
          </a:stretch>
        </p:blipFill>
        <p:spPr bwMode="auto">
          <a:xfrm>
            <a:off x="971550" y="2565400"/>
            <a:ext cx="6121400" cy="4032250"/>
          </a:xfrm>
          <a:prstGeom prst="rect">
            <a:avLst/>
          </a:prstGeom>
          <a:noFill/>
          <a:ln>
            <a:noFill/>
          </a:ln>
        </p:spPr>
      </p:pic>
      <p:sp>
        <p:nvSpPr>
          <p:cNvPr id="5" name="Text Box 5"/>
          <p:cNvSpPr txBox="1">
            <a:spLocks noChangeArrowheads="1"/>
          </p:cNvSpPr>
          <p:nvPr/>
        </p:nvSpPr>
        <p:spPr bwMode="auto">
          <a:xfrm>
            <a:off x="2268538" y="2636838"/>
            <a:ext cx="4102100" cy="1200150"/>
          </a:xfrm>
          <a:prstGeom prst="rect">
            <a:avLst/>
          </a:prstGeom>
          <a:noFill/>
          <a:ln w="9525">
            <a:noFill/>
            <a:miter lim="800000"/>
          </a:ln>
          <a:effectLst>
            <a:prstShdw prst="shdw18" dist="17961" dir="13500000">
              <a:schemeClr val="accent1">
                <a:gamma/>
                <a:shade val="60000"/>
                <a:invGamma/>
              </a:schemeClr>
            </a:prstShdw>
          </a:effectLst>
        </p:spPr>
        <p:txBody>
          <a:bodyPr>
            <a:spAutoFit/>
          </a:bodyPr>
          <a:lstStyle>
            <a:lvl1pPr>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lnSpc>
                <a:spcPct val="90000"/>
              </a:lnSpc>
              <a:spcBef>
                <a:spcPct val="50000"/>
              </a:spcBef>
            </a:pPr>
            <a:r>
              <a:rPr lang="en-US" altLang="zh-CN">
                <a:solidFill>
                  <a:srgbClr val="FF0000"/>
                </a:solidFill>
                <a:latin typeface="Times New Roman" panose="02020603050405020304" charset="0"/>
                <a:cs typeface="Times New Roman" panose="02020603050405020304" charset="0"/>
              </a:rPr>
              <a:t>2009</a:t>
            </a:r>
            <a:r>
              <a:rPr lang="zh-CN" altLang="en-US">
                <a:solidFill>
                  <a:srgbClr val="FF0000"/>
                </a:solidFill>
                <a:latin typeface="Times New Roman" panose="02020603050405020304" charset="0"/>
                <a:cs typeface="Times New Roman" panose="02020603050405020304" charset="0"/>
              </a:rPr>
              <a:t>年崩塌入江</a:t>
            </a:r>
            <a:r>
              <a:rPr lang="en-US" altLang="zh-CN">
                <a:solidFill>
                  <a:srgbClr val="FF0000"/>
                </a:solidFill>
                <a:latin typeface="Times New Roman" panose="02020603050405020304" charset="0"/>
                <a:cs typeface="Times New Roman" panose="02020603050405020304" charset="0"/>
              </a:rPr>
              <a:t>5</a:t>
            </a:r>
            <a:r>
              <a:rPr lang="zh-CN" altLang="en-US">
                <a:solidFill>
                  <a:srgbClr val="FF0000"/>
                </a:solidFill>
                <a:latin typeface="Times New Roman" panose="02020603050405020304" charset="0"/>
                <a:cs typeface="Times New Roman" panose="02020603050405020304" charset="0"/>
              </a:rPr>
              <a:t>万方</a:t>
            </a:r>
            <a:endParaRPr lang="zh-CN" altLang="en-US">
              <a:solidFill>
                <a:srgbClr val="FF0000"/>
              </a:solidFill>
              <a:latin typeface="Times New Roman" panose="02020603050405020304" charset="0"/>
              <a:cs typeface="Times New Roman" panose="02020603050405020304"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79388" y="908050"/>
            <a:ext cx="4824412" cy="4525963"/>
          </a:xfrm>
          <a:prstGeom prst="rect">
            <a:avLst/>
          </a:prstGeom>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lnSpc>
                <a:spcPct val="90000"/>
              </a:lnSpc>
              <a:spcBef>
                <a:spcPct val="20000"/>
              </a:spcBef>
              <a:buFont typeface="Wingdings" panose="05000000000000000000" charset="0"/>
              <a:buNone/>
            </a:pPr>
            <a:endParaRPr lang="en-US" altLang="zh-CN" sz="2000" b="0">
              <a:solidFill>
                <a:srgbClr val="000000"/>
              </a:solidFill>
              <a:latin typeface="楷体_GB2312" charset="0"/>
              <a:ea typeface="宋体" panose="02010600030101010101" pitchFamily="2" charset="-122"/>
              <a:cs typeface="宋体" panose="02010600030101010101" pitchFamily="2" charset="-122"/>
            </a:endParaRPr>
          </a:p>
          <a:p>
            <a:pPr eaLnBrk="1" hangingPunct="1">
              <a:lnSpc>
                <a:spcPct val="90000"/>
              </a:lnSpc>
              <a:spcBef>
                <a:spcPct val="20000"/>
              </a:spcBef>
              <a:buClr>
                <a:srgbClr val="FF00FF"/>
              </a:buClr>
              <a:buFont typeface="Wingdings" panose="05000000000000000000" charset="0"/>
              <a:buChar char="u"/>
            </a:pPr>
            <a:r>
              <a:rPr lang="en-US" altLang="zh-CN" sz="1800">
                <a:solidFill>
                  <a:srgbClr val="000000"/>
                </a:solidFill>
                <a:latin typeface="楷体_GB2312" charset="0"/>
                <a:ea typeface="宋体" panose="02010600030101010101" pitchFamily="2" charset="-122"/>
                <a:cs typeface="宋体" panose="02010600030101010101" pitchFamily="2" charset="-122"/>
              </a:rPr>
              <a:t> </a:t>
            </a:r>
            <a:r>
              <a:rPr lang="zh-CN" altLang="en-US" sz="2800" b="0">
                <a:solidFill>
                  <a:srgbClr val="000000"/>
                </a:solidFill>
                <a:latin typeface="楷体_GB2312" charset="0"/>
                <a:ea typeface="宋体" panose="02010600030101010101" pitchFamily="2" charset="-122"/>
                <a:cs typeface="宋体" panose="02010600030101010101" pitchFamily="2" charset="-122"/>
              </a:rPr>
              <a:t>干流水质总体稳定，主要断面的年度水质类别为</a:t>
            </a:r>
            <a:r>
              <a:rPr lang="en-US" altLang="zh-CN" sz="2800" b="0">
                <a:solidFill>
                  <a:srgbClr val="000000"/>
                </a:solidFill>
                <a:latin typeface="楷体_GB2312" charset="0"/>
                <a:ea typeface="宋体" panose="02010600030101010101" pitchFamily="2" charset="-122"/>
                <a:cs typeface="宋体" panose="02010600030101010101" pitchFamily="2" charset="-122"/>
              </a:rPr>
              <a:t>II-III</a:t>
            </a:r>
            <a:r>
              <a:rPr lang="zh-CN" altLang="en-US" sz="2800" b="0">
                <a:solidFill>
                  <a:srgbClr val="000000"/>
                </a:solidFill>
                <a:latin typeface="楷体_GB2312" charset="0"/>
                <a:ea typeface="宋体" panose="02010600030101010101" pitchFamily="2" charset="-122"/>
                <a:cs typeface="宋体" panose="02010600030101010101" pitchFamily="2" charset="-122"/>
              </a:rPr>
              <a:t>类。丰水期水质明显劣于平水期和枯水期。随着蓄水位的抬高，由库尾至库首，水库蓄水产生的澄清作用逐渐增加。 </a:t>
            </a:r>
            <a:endParaRPr lang="zh-CN" altLang="en-US" sz="2800" b="0">
              <a:solidFill>
                <a:srgbClr val="000000"/>
              </a:solidFill>
              <a:latin typeface="楷体_GB2312" charset="0"/>
              <a:ea typeface="宋体" panose="02010600030101010101" pitchFamily="2" charset="-122"/>
              <a:cs typeface="宋体" panose="02010600030101010101" pitchFamily="2" charset="-122"/>
            </a:endParaRPr>
          </a:p>
          <a:p>
            <a:pPr eaLnBrk="1" hangingPunct="1">
              <a:lnSpc>
                <a:spcPct val="90000"/>
              </a:lnSpc>
              <a:spcBef>
                <a:spcPct val="20000"/>
              </a:spcBef>
              <a:buClr>
                <a:srgbClr val="FF00FF"/>
              </a:buClr>
              <a:buFont typeface="Wingdings" panose="05000000000000000000" charset="0"/>
              <a:buChar char="u"/>
            </a:pPr>
            <a:endParaRPr lang="en-US" altLang="zh-CN" sz="2800" b="0">
              <a:solidFill>
                <a:srgbClr val="000000"/>
              </a:solidFill>
              <a:latin typeface="楷体_GB2312" charset="0"/>
              <a:ea typeface="宋体" panose="02010600030101010101" pitchFamily="2" charset="-122"/>
              <a:cs typeface="宋体" panose="02010600030101010101" pitchFamily="2" charset="-122"/>
            </a:endParaRPr>
          </a:p>
          <a:p>
            <a:pPr eaLnBrk="1" hangingPunct="1">
              <a:lnSpc>
                <a:spcPct val="90000"/>
              </a:lnSpc>
              <a:spcBef>
                <a:spcPct val="20000"/>
              </a:spcBef>
              <a:buClr>
                <a:srgbClr val="FF00FF"/>
              </a:buClr>
              <a:buFont typeface="Wingdings" panose="05000000000000000000" charset="0"/>
              <a:buChar char="u"/>
            </a:pPr>
            <a:r>
              <a:rPr lang="en-US" altLang="zh-CN" sz="2800" b="0">
                <a:solidFill>
                  <a:srgbClr val="000000"/>
                </a:solidFill>
                <a:latin typeface="楷体_GB2312" charset="0"/>
                <a:ea typeface="宋体" panose="02010600030101010101" pitchFamily="2" charset="-122"/>
                <a:cs typeface="宋体" panose="02010600030101010101" pitchFamily="2" charset="-122"/>
              </a:rPr>
              <a:t> </a:t>
            </a:r>
            <a:r>
              <a:rPr lang="zh-CN" altLang="en-US" sz="2800" b="0">
                <a:solidFill>
                  <a:srgbClr val="000000"/>
                </a:solidFill>
                <a:latin typeface="楷体_GB2312" charset="0"/>
                <a:ea typeface="宋体" panose="02010600030101010101" pitchFamily="2" charset="-122"/>
                <a:cs typeface="宋体" panose="02010600030101010101" pitchFamily="2" charset="-122"/>
              </a:rPr>
              <a:t>支流水质总体较差，支流各断面水质以</a:t>
            </a:r>
            <a:r>
              <a:rPr lang="en-US" altLang="zh-CN" sz="2800" b="0">
                <a:solidFill>
                  <a:srgbClr val="000000"/>
                </a:solidFill>
                <a:latin typeface="楷体_GB2312" charset="0"/>
                <a:ea typeface="宋体" panose="02010600030101010101" pitchFamily="2" charset="-122"/>
                <a:cs typeface="宋体" panose="02010600030101010101" pitchFamily="2" charset="-122"/>
              </a:rPr>
              <a:t>Ⅳ</a:t>
            </a:r>
            <a:r>
              <a:rPr lang="zh-CN" altLang="en-US" sz="2800" b="0">
                <a:solidFill>
                  <a:srgbClr val="000000"/>
                </a:solidFill>
                <a:latin typeface="楷体_GB2312" charset="0"/>
                <a:ea typeface="宋体" panose="02010600030101010101" pitchFamily="2" charset="-122"/>
                <a:cs typeface="宋体" panose="02010600030101010101" pitchFamily="2" charset="-122"/>
              </a:rPr>
              <a:t>类为主。农业面源污染和工业点源污染等是影响支流水质的主要原因。</a:t>
            </a:r>
            <a:endParaRPr lang="zh-CN" altLang="en-US" sz="2800" b="0">
              <a:solidFill>
                <a:srgbClr val="000000"/>
              </a:solidFill>
              <a:latin typeface="楷体_GB2312" charset="0"/>
              <a:ea typeface="宋体" panose="02010600030101010101" pitchFamily="2" charset="-122"/>
              <a:cs typeface="宋体" panose="02010600030101010101" pitchFamily="2" charset="-122"/>
            </a:endParaRPr>
          </a:p>
        </p:txBody>
      </p:sp>
      <p:sp>
        <p:nvSpPr>
          <p:cNvPr id="43011" name="TextBox 7"/>
          <p:cNvSpPr txBox="1">
            <a:spLocks noChangeArrowheads="1"/>
          </p:cNvSpPr>
          <p:nvPr/>
        </p:nvSpPr>
        <p:spPr bwMode="auto">
          <a:xfrm>
            <a:off x="179388" y="188913"/>
            <a:ext cx="5040312" cy="425450"/>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r>
              <a:rPr lang="zh-CN" altLang="en-US" sz="2400">
                <a:solidFill>
                  <a:srgbClr val="C00000"/>
                </a:solidFill>
                <a:latin typeface="Times New Roman" panose="02020603050405020304" charset="0"/>
                <a:ea typeface="楷体_GB2312" charset="0"/>
                <a:cs typeface="Times New Roman" panose="02020603050405020304" charset="0"/>
              </a:rPr>
              <a:t>水质水环境</a:t>
            </a:r>
            <a:endParaRPr lang="en-US" altLang="zh-CN" sz="4000">
              <a:solidFill>
                <a:srgbClr val="C00000"/>
              </a:solidFill>
              <a:ea typeface="楷体_GB2312" charset="0"/>
              <a:cs typeface="Times New Roman" panose="02020603050405020304" charset="0"/>
            </a:endParaRPr>
          </a:p>
        </p:txBody>
      </p:sp>
      <p:sp>
        <p:nvSpPr>
          <p:cNvPr id="4" name="Rectangle 4"/>
          <p:cNvSpPr>
            <a:spLocks noChangeArrowheads="1"/>
          </p:cNvSpPr>
          <p:nvPr/>
        </p:nvSpPr>
        <p:spPr bwMode="auto">
          <a:xfrm>
            <a:off x="0" y="1076325"/>
            <a:ext cx="9144000" cy="0"/>
          </a:xfrm>
          <a:prstGeom prst="rect">
            <a:avLst/>
          </a:prstGeom>
          <a:noFill/>
          <a:ln w="9525">
            <a:noFill/>
            <a:miter lim="800000"/>
          </a:ln>
          <a:effectLst>
            <a:prstShdw prst="shdw18" dist="17961" dir="13500000">
              <a:schemeClr val="accent1">
                <a:gamma/>
                <a:shade val="60000"/>
                <a:invGamma/>
              </a:schemeClr>
            </a:prstShdw>
          </a:effectLst>
        </p:spPr>
        <p:txBody>
          <a:bodyPr wrap="none" anchor="ctr">
            <a:spAutoFit/>
          </a:bodyPr>
          <a:lstStyle/>
          <a:p>
            <a:pPr eaLnBrk="1" hangingPunct="1">
              <a:lnSpc>
                <a:spcPct val="90000"/>
              </a:lnSpc>
              <a:spcBef>
                <a:spcPct val="50000"/>
              </a:spcBef>
              <a:buFontTx/>
              <a:buChar char="•"/>
              <a:defRPr/>
            </a:pPr>
            <a:endParaRPr lang="zh-CN" altLang="en-US">
              <a:ea typeface="楷体_GB2312"/>
              <a:cs typeface="楷体_GB2312"/>
            </a:endParaRPr>
          </a:p>
        </p:txBody>
      </p:sp>
      <p:pic>
        <p:nvPicPr>
          <p:cNvPr id="43013" name="Picture 5" descr="%u4E09%u5CE1%u65BD%u5DE5%u533A%u53E4%u6811%u5CAD%u6C61%u6C34%u5904%u7406%u8BBE%u65BD2"/>
          <p:cNvPicPr>
            <a:picLocks noChangeAspect="1" noChangeArrowheads="1"/>
          </p:cNvPicPr>
          <p:nvPr/>
        </p:nvPicPr>
        <p:blipFill>
          <a:blip/>
          <a:srcRect/>
          <a:stretch>
            <a:fillRect/>
          </a:stretch>
        </p:blipFill>
        <p:spPr bwMode="auto">
          <a:xfrm>
            <a:off x="5562600" y="333375"/>
            <a:ext cx="3581400" cy="2057400"/>
          </a:xfrm>
          <a:prstGeom prst="rect">
            <a:avLst/>
          </a:prstGeom>
          <a:noFill/>
          <a:ln>
            <a:noFill/>
          </a:ln>
        </p:spPr>
      </p:pic>
      <p:grpSp>
        <p:nvGrpSpPr>
          <p:cNvPr id="43014" name="Group 6"/>
          <p:cNvGrpSpPr/>
          <p:nvPr/>
        </p:nvGrpSpPr>
        <p:grpSpPr bwMode="auto">
          <a:xfrm>
            <a:off x="5149850" y="3213100"/>
            <a:ext cx="3800475" cy="2962275"/>
            <a:chOff x="3030" y="2208"/>
            <a:chExt cx="2394" cy="1866"/>
          </a:xfrm>
        </p:grpSpPr>
        <p:pic>
          <p:nvPicPr>
            <p:cNvPr id="43017" name="Picture 7" descr="%u65BD%u5DE5%u533A%u751F%u6D3B%u533A%u5783%u573E%u586B%u57CB%u573A"/>
            <p:cNvPicPr>
              <a:picLocks noChangeAspect="1" noChangeArrowheads="1"/>
            </p:cNvPicPr>
            <p:nvPr/>
          </p:nvPicPr>
          <p:blipFill>
            <a:blip/>
            <a:srcRect/>
            <a:stretch>
              <a:fillRect/>
            </a:stretch>
          </p:blipFill>
          <p:spPr bwMode="auto">
            <a:xfrm>
              <a:off x="3120" y="2208"/>
              <a:ext cx="2304" cy="1510"/>
            </a:xfrm>
            <a:prstGeom prst="rect">
              <a:avLst/>
            </a:prstGeom>
            <a:noFill/>
            <a:ln>
              <a:noFill/>
            </a:ln>
          </p:spPr>
        </p:pic>
        <p:sp>
          <p:nvSpPr>
            <p:cNvPr id="43018" name="Rectangle 8"/>
            <p:cNvSpPr>
              <a:spLocks noChangeArrowheads="1"/>
            </p:cNvSpPr>
            <p:nvPr/>
          </p:nvSpPr>
          <p:spPr bwMode="auto">
            <a:xfrm>
              <a:off x="3030" y="3841"/>
              <a:ext cx="1311" cy="233"/>
            </a:xfrm>
            <a:prstGeom prst="rect">
              <a:avLst/>
            </a:prstGeom>
            <a:noFill/>
            <a:ln>
              <a:noFill/>
            </a:ln>
          </p:spPr>
          <p:txBody>
            <a:bodyPr wrap="none">
              <a:spAutoFit/>
            </a:bodyPr>
            <a:lstStyle/>
            <a:p>
              <a:pPr eaLnBrk="1" hangingPunct="1">
                <a:lnSpc>
                  <a:spcPct val="90000"/>
                </a:lnSpc>
                <a:spcBef>
                  <a:spcPct val="50000"/>
                </a:spcBef>
                <a:buFontTx/>
                <a:buChar char="•"/>
              </a:pPr>
              <a:r>
                <a:rPr lang="zh-CN" altLang="en-US" sz="2000">
                  <a:ea typeface="黑体" panose="02010609060101010101" pitchFamily="49" charset="-122"/>
                  <a:cs typeface="黑体" panose="02010609060101010101" pitchFamily="49" charset="-122"/>
                </a:rPr>
                <a:t>生活垃圾处理场</a:t>
              </a:r>
              <a:endParaRPr lang="zh-CN" altLang="en-US" sz="2000">
                <a:ea typeface="黑体" panose="02010609060101010101" pitchFamily="49" charset="-122"/>
                <a:cs typeface="黑体" panose="02010609060101010101" pitchFamily="49" charset="-122"/>
              </a:endParaRPr>
            </a:p>
          </p:txBody>
        </p:sp>
      </p:grpSp>
      <p:sp>
        <p:nvSpPr>
          <p:cNvPr id="43015" name="Text Box 9"/>
          <p:cNvSpPr txBox="1">
            <a:spLocks noChangeArrowheads="1"/>
          </p:cNvSpPr>
          <p:nvPr/>
        </p:nvSpPr>
        <p:spPr bwMode="auto">
          <a:xfrm>
            <a:off x="5867400" y="188913"/>
            <a:ext cx="1557338" cy="369887"/>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Char char="•"/>
            </a:pPr>
            <a:r>
              <a:rPr lang="zh-CN" altLang="en-US" sz="2000">
                <a:solidFill>
                  <a:srgbClr val="FFFF00"/>
                </a:solidFill>
                <a:ea typeface="楷体_GB2312" charset="0"/>
                <a:cs typeface="楷体_GB2312" charset="0"/>
              </a:rPr>
              <a:t>污水处理场</a:t>
            </a:r>
            <a:endParaRPr lang="zh-CN" altLang="en-US" sz="2000">
              <a:solidFill>
                <a:srgbClr val="FFFF00"/>
              </a:solidFill>
              <a:ea typeface="楷体_GB2312" charset="0"/>
              <a:cs typeface="楷体_GB2312" charset="0"/>
            </a:endParaRPr>
          </a:p>
        </p:txBody>
      </p:sp>
      <p:sp>
        <p:nvSpPr>
          <p:cNvPr id="43016" name="Text Box 10"/>
          <p:cNvSpPr txBox="1">
            <a:spLocks noChangeArrowheads="1"/>
          </p:cNvSpPr>
          <p:nvPr/>
        </p:nvSpPr>
        <p:spPr bwMode="auto">
          <a:xfrm>
            <a:off x="6394450" y="3573463"/>
            <a:ext cx="1557338" cy="369887"/>
          </a:xfrm>
          <a:prstGeom prst="rect">
            <a:avLst/>
          </a:prstGeom>
          <a:noFill/>
          <a:ln>
            <a:noFill/>
          </a:ln>
        </p:spPr>
        <p:txBody>
          <a:bodyPr wrap="none">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Char char="•"/>
            </a:pPr>
            <a:r>
              <a:rPr lang="zh-CN" altLang="en-US" sz="2000">
                <a:solidFill>
                  <a:srgbClr val="FFFF00"/>
                </a:solidFill>
                <a:ea typeface="楷体_GB2312" charset="0"/>
                <a:cs typeface="楷体_GB2312" charset="0"/>
              </a:rPr>
              <a:t>垃圾处理场</a:t>
            </a:r>
            <a:endParaRPr lang="zh-CN" altLang="en-US" sz="2000">
              <a:solidFill>
                <a:srgbClr val="FFFF00"/>
              </a:solidFill>
              <a:ea typeface="楷体_GB2312" charset="0"/>
              <a:cs typeface="楷体_GB2312"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95288" y="765175"/>
            <a:ext cx="8229600" cy="2159000"/>
          </a:xfrm>
          <a:prstGeom prst="rect">
            <a:avLst/>
          </a:prstGeom>
        </p:spPr>
        <p:txBody>
          <a:bodyPr/>
          <a:lstStyle>
            <a:lvl1pPr marL="342900" indent="-342900">
              <a:defRPr sz="4000" b="1">
                <a:solidFill>
                  <a:srgbClr val="0000FF"/>
                </a:solidFill>
                <a:latin typeface="Arial" panose="020B0604020202020204" pitchFamily="34" charset="0"/>
                <a:ea typeface="楷体_GB2312" charset="0"/>
                <a:cs typeface="楷体_GB2312" charset="0"/>
              </a:defRPr>
            </a:lvl1pPr>
            <a:lvl2pPr marL="742950" indent="-285750">
              <a:defRPr sz="4000" b="1">
                <a:solidFill>
                  <a:srgbClr val="0000FF"/>
                </a:solidFill>
                <a:latin typeface="Arial" panose="020B0604020202020204" pitchFamily="34" charset="0"/>
                <a:ea typeface="楷体_GB2312" charset="0"/>
                <a:cs typeface="楷体_GB2312" charset="0"/>
              </a:defRPr>
            </a:lvl2pPr>
            <a:lvl3pPr marL="1143000" indent="-228600">
              <a:defRPr sz="4000" b="1">
                <a:solidFill>
                  <a:srgbClr val="0000FF"/>
                </a:solidFill>
                <a:latin typeface="Arial" panose="020B0604020202020204" pitchFamily="34" charset="0"/>
                <a:ea typeface="楷体_GB2312" charset="0"/>
                <a:cs typeface="楷体_GB2312" charset="0"/>
              </a:defRPr>
            </a:lvl3pPr>
            <a:lvl4pPr marL="1600200" indent="-228600">
              <a:defRPr sz="4000" b="1">
                <a:solidFill>
                  <a:srgbClr val="0000FF"/>
                </a:solidFill>
                <a:latin typeface="Arial" panose="020B0604020202020204" pitchFamily="34" charset="0"/>
                <a:ea typeface="楷体_GB2312" charset="0"/>
                <a:cs typeface="楷体_GB2312" charset="0"/>
              </a:defRPr>
            </a:lvl4pPr>
            <a:lvl5pPr marL="2057400" indent="-228600">
              <a:defRPr sz="4000" b="1">
                <a:solidFill>
                  <a:srgbClr val="0000FF"/>
                </a:solidFill>
                <a:latin typeface="Arial" panose="020B0604020202020204" pitchFamily="34" charset="0"/>
                <a:ea typeface="楷体_GB2312" charset="0"/>
                <a:cs typeface="楷体_GB2312" charset="0"/>
              </a:defRPr>
            </a:lvl5pPr>
            <a:lvl6pPr marL="25146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6pPr>
            <a:lvl7pPr marL="29718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7pPr>
            <a:lvl8pPr marL="34290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8pPr>
            <a:lvl9pPr marL="3886200" indent="-228600" eaLnBrk="0" fontAlgn="base" hangingPunct="0">
              <a:spcBef>
                <a:spcPct val="0"/>
              </a:spcBef>
              <a:spcAft>
                <a:spcPct val="0"/>
              </a:spcAft>
              <a:defRPr sz="4000" b="1">
                <a:solidFill>
                  <a:srgbClr val="0000FF"/>
                </a:solidFill>
                <a:latin typeface="Arial" panose="020B0604020202020204" pitchFamily="34" charset="0"/>
                <a:ea typeface="楷体_GB2312" charset="0"/>
                <a:cs typeface="楷体_GB2312" charset="0"/>
              </a:defRPr>
            </a:lvl9pPr>
          </a:lstStyle>
          <a:p>
            <a:pPr eaLnBrk="1" hangingPunct="1">
              <a:lnSpc>
                <a:spcPct val="130000"/>
              </a:lnSpc>
              <a:spcBef>
                <a:spcPct val="20000"/>
              </a:spcBef>
              <a:buClr>
                <a:srgbClr val="FF00FF"/>
              </a:buClr>
            </a:pPr>
            <a:r>
              <a:rPr lang="zh-CN" altLang="en-US" sz="3600">
                <a:solidFill>
                  <a:srgbClr val="3333CC"/>
                </a:solidFill>
                <a:latin typeface="楷体_GB2312" charset="0"/>
                <a:ea typeface="宋体" panose="02010600030101010101" pitchFamily="2" charset="-122"/>
                <a:cs typeface="宋体" panose="02010600030101010101" pitchFamily="2" charset="-122"/>
              </a:rPr>
              <a:t>水华</a:t>
            </a:r>
            <a:endParaRPr lang="en-US" altLang="zh-CN" sz="3600">
              <a:solidFill>
                <a:srgbClr val="3333CC"/>
              </a:solidFill>
              <a:latin typeface="楷体_GB2312" charset="0"/>
              <a:ea typeface="宋体" panose="02010600030101010101" pitchFamily="2" charset="-122"/>
              <a:cs typeface="宋体" panose="02010600030101010101" pitchFamily="2" charset="-122"/>
            </a:endParaRPr>
          </a:p>
          <a:p>
            <a:pPr eaLnBrk="1" hangingPunct="1">
              <a:lnSpc>
                <a:spcPct val="130000"/>
              </a:lnSpc>
              <a:spcBef>
                <a:spcPct val="20000"/>
              </a:spcBef>
              <a:buClr>
                <a:srgbClr val="FF00FF"/>
              </a:buClr>
              <a:buFont typeface="Wingdings" panose="05000000000000000000" charset="0"/>
              <a:buNone/>
            </a:pPr>
            <a:r>
              <a:rPr lang="en-US" altLang="zh-CN" sz="2400">
                <a:solidFill>
                  <a:srgbClr val="000000"/>
                </a:solidFill>
                <a:latin typeface="楷体_GB2312" charset="0"/>
                <a:ea typeface="宋体" panose="02010600030101010101" pitchFamily="2" charset="-122"/>
                <a:cs typeface="宋体" panose="02010600030101010101" pitchFamily="2" charset="-122"/>
              </a:rPr>
              <a:t>      </a:t>
            </a:r>
            <a:r>
              <a:rPr lang="zh-CN" altLang="en-US" sz="2400">
                <a:solidFill>
                  <a:srgbClr val="000000"/>
                </a:solidFill>
                <a:latin typeface="楷体_GB2312" charset="0"/>
                <a:ea typeface="宋体" panose="02010600030101010101" pitchFamily="2" charset="-122"/>
                <a:cs typeface="宋体" panose="02010600030101010101" pitchFamily="2" charset="-122"/>
              </a:rPr>
              <a:t>随着蓄水运行的逐步正常化，三峡水库水华暴发频率开始由高走低，水华频次趋于缓和。</a:t>
            </a:r>
            <a:endParaRPr lang="en-US" altLang="zh-CN" sz="2400">
              <a:solidFill>
                <a:srgbClr val="000000"/>
              </a:solidFill>
              <a:latin typeface="楷体_GB2312" charset="0"/>
              <a:ea typeface="宋体" panose="02010600030101010101" pitchFamily="2" charset="-122"/>
              <a:cs typeface="宋体" panose="02010600030101010101" pitchFamily="2" charset="-122"/>
            </a:endParaRPr>
          </a:p>
          <a:p>
            <a:pPr eaLnBrk="1" hangingPunct="1">
              <a:spcBef>
                <a:spcPct val="20000"/>
              </a:spcBef>
              <a:buClr>
                <a:srgbClr val="FF00FF"/>
              </a:buClr>
              <a:buFont typeface="Wingdings" panose="05000000000000000000" charset="0"/>
              <a:buNone/>
            </a:pPr>
            <a:r>
              <a:rPr lang="en-US" altLang="zh-CN" sz="2000">
                <a:solidFill>
                  <a:srgbClr val="000000"/>
                </a:solidFill>
                <a:latin typeface="楷体_GB2312" charset="0"/>
                <a:ea typeface="宋体" panose="02010600030101010101" pitchFamily="2" charset="-122"/>
                <a:cs typeface="宋体" panose="02010600030101010101" pitchFamily="2" charset="-122"/>
              </a:rPr>
              <a:t> </a:t>
            </a:r>
            <a:endParaRPr lang="en-US" altLang="zh-CN" sz="2000">
              <a:solidFill>
                <a:srgbClr val="000000"/>
              </a:solidFill>
              <a:latin typeface="楷体_GB2312" charset="0"/>
              <a:ea typeface="宋体" panose="02010600030101010101" pitchFamily="2" charset="-122"/>
              <a:cs typeface="宋体" panose="02010600030101010101" pitchFamily="2" charset="-122"/>
            </a:endParaRPr>
          </a:p>
          <a:p>
            <a:pPr eaLnBrk="1" hangingPunct="1">
              <a:spcBef>
                <a:spcPct val="20000"/>
              </a:spcBef>
              <a:buClr>
                <a:srgbClr val="FF00FF"/>
              </a:buClr>
              <a:buFont typeface="Wingdings" panose="05000000000000000000" charset="0"/>
              <a:buNone/>
            </a:pPr>
            <a:endParaRPr lang="en-US" altLang="zh-CN" sz="2000">
              <a:solidFill>
                <a:srgbClr val="000000"/>
              </a:solidFill>
              <a:latin typeface="楷体_GB2312" charset="0"/>
              <a:ea typeface="宋体" panose="02010600030101010101" pitchFamily="2" charset="-122"/>
              <a:cs typeface="宋体" panose="02010600030101010101" pitchFamily="2" charset="-122"/>
            </a:endParaRPr>
          </a:p>
        </p:txBody>
      </p:sp>
      <p:sp>
        <p:nvSpPr>
          <p:cNvPr id="44035" name="TextBox 7"/>
          <p:cNvSpPr txBox="1">
            <a:spLocks noChangeArrowheads="1"/>
          </p:cNvSpPr>
          <p:nvPr/>
        </p:nvSpPr>
        <p:spPr bwMode="auto">
          <a:xfrm>
            <a:off x="250825" y="260350"/>
            <a:ext cx="6264275" cy="534988"/>
          </a:xfrm>
          <a:prstGeom prst="rect">
            <a:avLst/>
          </a:prstGeom>
          <a:noFill/>
          <a:ln>
            <a:noFill/>
          </a:ln>
        </p:spPr>
        <p:txBody>
          <a:bodyPr>
            <a:spAutoFit/>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r>
              <a:rPr lang="zh-CN" altLang="en-US">
                <a:solidFill>
                  <a:srgbClr val="C00000"/>
                </a:solidFill>
                <a:latin typeface="Times New Roman" panose="02020603050405020304" charset="0"/>
                <a:ea typeface="楷体_GB2312" charset="0"/>
                <a:cs typeface="Times New Roman" panose="02020603050405020304" charset="0"/>
              </a:rPr>
              <a:t>水质水环境</a:t>
            </a:r>
            <a:endParaRPr lang="en-US" altLang="zh-CN">
              <a:solidFill>
                <a:srgbClr val="C00000"/>
              </a:solidFill>
              <a:ea typeface="楷体_GB2312" charset="0"/>
              <a:cs typeface="Times New Roman" panose="02020603050405020304" charset="0"/>
            </a:endParaRPr>
          </a:p>
        </p:txBody>
      </p:sp>
      <p:pic>
        <p:nvPicPr>
          <p:cNvPr id="44036" name="Picture 4"/>
          <p:cNvPicPr>
            <a:picLocks noChangeAspect="1" noChangeArrowheads="1"/>
          </p:cNvPicPr>
          <p:nvPr/>
        </p:nvPicPr>
        <p:blipFill>
          <a:blip r:embed="rId1">
            <a:extLst>
              <a:ext uri="{28A0092B-C50C-407E-A947-70E740481C1C}">
                <a14:useLocalDpi xmlns:a14="http://schemas.microsoft.com/office/drawing/2010/main" val="0"/>
              </a:ext>
            </a:extLst>
          </a:blip>
          <a:srcRect r="24368" b="12833"/>
          <a:stretch>
            <a:fillRect/>
          </a:stretch>
        </p:blipFill>
        <p:spPr bwMode="auto">
          <a:xfrm>
            <a:off x="900113" y="3141663"/>
            <a:ext cx="7273925" cy="3313112"/>
          </a:xfrm>
          <a:prstGeom prst="rect">
            <a:avLst/>
          </a:prstGeom>
          <a:noFill/>
          <a:ln>
            <a:noFill/>
          </a:ln>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txBox="1">
            <a:spLocks noChangeArrowheads="1"/>
          </p:cNvSpPr>
          <p:nvPr/>
        </p:nvSpPr>
        <p:spPr bwMode="auto">
          <a:xfrm>
            <a:off x="630238" y="173038"/>
            <a:ext cx="7872412" cy="196850"/>
          </a:xfrm>
          <a:prstGeom prst="rect">
            <a:avLst/>
          </a:prstGeom>
          <a:noFill/>
          <a:ln>
            <a:noFill/>
          </a:ln>
        </p:spPr>
        <p:txBody>
          <a:bodyPr/>
          <a:lstStyle>
            <a:lvl1pPr>
              <a:defRPr sz="3200" b="1">
                <a:solidFill>
                  <a:srgbClr val="000000"/>
                </a:solidFill>
                <a:latin typeface="Arial" panose="020B0604020202020204" pitchFamily="34" charset="0"/>
                <a:ea typeface="宋体" panose="02010600030101010101" pitchFamily="2" charset="-122"/>
                <a:cs typeface="宋体" panose="02010600030101010101" pitchFamily="2" charset="-122"/>
              </a:defRPr>
            </a:lvl1pPr>
            <a:lvl2pPr>
              <a:defRPr sz="2800" b="1">
                <a:solidFill>
                  <a:srgbClr val="000000"/>
                </a:solidFill>
                <a:latin typeface="Arial" panose="020B0604020202020204" pitchFamily="34" charset="0"/>
                <a:ea typeface="宋体" panose="02010600030101010101" pitchFamily="2" charset="-122"/>
              </a:defRPr>
            </a:lvl2pPr>
            <a:lvl3pPr>
              <a:defRPr sz="2400" b="1">
                <a:solidFill>
                  <a:srgbClr val="000000"/>
                </a:solidFill>
                <a:latin typeface="Arial" panose="020B0604020202020204" pitchFamily="34" charset="0"/>
                <a:ea typeface="宋体" panose="02010600030101010101" pitchFamily="2" charset="-122"/>
              </a:defRPr>
            </a:lvl3pPr>
            <a:lvl4pPr>
              <a:defRPr sz="2000" b="1">
                <a:solidFill>
                  <a:srgbClr val="000000"/>
                </a:solidFill>
                <a:latin typeface="Arial" panose="020B0604020202020204" pitchFamily="34" charset="0"/>
                <a:ea typeface="宋体" panose="02010600030101010101" pitchFamily="2" charset="-122"/>
              </a:defRPr>
            </a:lvl4pPr>
            <a:lvl5pPr>
              <a:defRPr sz="2000" b="1">
                <a:solidFill>
                  <a:srgbClr val="000000"/>
                </a:solidFill>
                <a:latin typeface="Arial" panose="020B0604020202020204" pitchFamily="34" charset="0"/>
                <a:ea typeface="宋体" panose="02010600030101010101" pitchFamily="2" charset="-122"/>
              </a:defRPr>
            </a:lvl5pPr>
            <a:lvl6pPr eaLnBrk="0" hangingPunct="0">
              <a:defRPr sz="2000" b="1">
                <a:solidFill>
                  <a:srgbClr val="000000"/>
                </a:solidFill>
                <a:latin typeface="Arial" panose="020B0604020202020204" pitchFamily="34" charset="0"/>
                <a:ea typeface="宋体" panose="02010600030101010101" pitchFamily="2" charset="-122"/>
              </a:defRPr>
            </a:lvl6pPr>
            <a:lvl7pPr eaLnBrk="0" hangingPunct="0">
              <a:defRPr sz="2000" b="1">
                <a:solidFill>
                  <a:srgbClr val="000000"/>
                </a:solidFill>
                <a:latin typeface="Arial" panose="020B0604020202020204" pitchFamily="34" charset="0"/>
                <a:ea typeface="宋体" panose="02010600030101010101" pitchFamily="2" charset="-122"/>
              </a:defRPr>
            </a:lvl7pPr>
            <a:lvl8pPr eaLnBrk="0" hangingPunct="0">
              <a:defRPr sz="2000" b="1">
                <a:solidFill>
                  <a:srgbClr val="000000"/>
                </a:solidFill>
                <a:latin typeface="Arial" panose="020B0604020202020204" pitchFamily="34" charset="0"/>
                <a:ea typeface="宋体" panose="02010600030101010101" pitchFamily="2" charset="-122"/>
              </a:defRPr>
            </a:lvl8pPr>
            <a:lvl9pPr eaLnBrk="0" hangingPunct="0">
              <a:defRPr sz="2000" b="1">
                <a:solidFill>
                  <a:srgbClr val="000000"/>
                </a:solidFill>
                <a:latin typeface="Arial" panose="020B0604020202020204" pitchFamily="34" charset="0"/>
                <a:ea typeface="宋体" panose="02010600030101010101" pitchFamily="2" charset="-122"/>
              </a:defRPr>
            </a:lvl9pPr>
          </a:lstStyle>
          <a:p>
            <a:pPr eaLnBrk="1" hangingPunct="1"/>
            <a:br>
              <a:rPr lang="en-US" altLang="zh-CN" sz="4700">
                <a:solidFill>
                  <a:srgbClr val="990000"/>
                </a:solidFill>
                <a:latin typeface="黑体" panose="02010609060101010101" pitchFamily="49" charset="-122"/>
                <a:ea typeface="黑体" panose="02010609060101010101" pitchFamily="49" charset="-122"/>
                <a:cs typeface="楷体_GB2312" charset="0"/>
              </a:rPr>
            </a:br>
            <a:endParaRPr lang="en-US" altLang="zh-CN" sz="2500">
              <a:solidFill>
                <a:srgbClr val="990000"/>
              </a:solidFill>
              <a:latin typeface="宋体" panose="02010600030101010101" pitchFamily="2" charset="-122"/>
              <a:ea typeface="黑体" panose="02010609060101010101" pitchFamily="49" charset="-122"/>
              <a:cs typeface="楷体_GB2312" charset="0"/>
            </a:endParaRPr>
          </a:p>
        </p:txBody>
      </p:sp>
      <p:sp>
        <p:nvSpPr>
          <p:cNvPr id="3" name="Rectangle 3"/>
          <p:cNvSpPr txBox="1">
            <a:spLocks noChangeArrowheads="1"/>
          </p:cNvSpPr>
          <p:nvPr/>
        </p:nvSpPr>
        <p:spPr>
          <a:xfrm>
            <a:off x="838200" y="1524000"/>
            <a:ext cx="7543800" cy="1254125"/>
          </a:xfrm>
          <a:prstGeom prst="rect">
            <a:avLst/>
          </a:prstGeom>
          <a:noFill/>
        </p:spPr>
        <p:txBody>
          <a:bodyPr>
            <a:spAutoFit/>
          </a:bodyPr>
          <a:lstStyle/>
          <a:p>
            <a:pPr marL="342900" indent="-342900" algn="just" eaLnBrk="1" hangingPunct="1">
              <a:lnSpc>
                <a:spcPct val="140000"/>
              </a:lnSpc>
              <a:spcBef>
                <a:spcPct val="50000"/>
              </a:spcBef>
              <a:buClr>
                <a:srgbClr val="0872C2"/>
              </a:buClr>
              <a:buFont typeface="Wingdings" panose="05000000000000000000" pitchFamily="2" charset="2"/>
              <a:buChar char="Ø"/>
              <a:defRPr/>
            </a:pPr>
            <a:endParaRPr lang="en-US" altLang="zh-CN" sz="2100" b="0" kern="0">
              <a:solidFill>
                <a:srgbClr val="000000"/>
              </a:solidFill>
              <a:latin typeface="宋体" panose="02010600030101010101" pitchFamily="2" charset="-122"/>
              <a:ea typeface="+mn-ea"/>
              <a:cs typeface="+mn-cs"/>
            </a:endParaRPr>
          </a:p>
          <a:p>
            <a:pPr marL="342900" indent="-342900" algn="just" eaLnBrk="1" hangingPunct="1">
              <a:spcBef>
                <a:spcPct val="50000"/>
              </a:spcBef>
              <a:buClr>
                <a:srgbClr val="0872C2"/>
              </a:buClr>
              <a:buFont typeface="Wingdings" panose="05000000000000000000" pitchFamily="2" charset="2"/>
              <a:buChar char="Ø"/>
              <a:defRPr/>
            </a:pPr>
            <a:endParaRPr lang="en-US" altLang="zh-CN" sz="1900" b="0" kern="0">
              <a:solidFill>
                <a:srgbClr val="000000"/>
              </a:solidFill>
              <a:latin typeface="楷体_GB2312"/>
              <a:ea typeface="+mn-ea"/>
              <a:cs typeface="+mn-cs"/>
            </a:endParaRPr>
          </a:p>
        </p:txBody>
      </p:sp>
      <p:sp>
        <p:nvSpPr>
          <p:cNvPr id="45060" name="Rectangle 4"/>
          <p:cNvSpPr>
            <a:spLocks noChangeArrowheads="1"/>
          </p:cNvSpPr>
          <p:nvPr/>
        </p:nvSpPr>
        <p:spPr bwMode="auto">
          <a:xfrm>
            <a:off x="611188" y="1447800"/>
            <a:ext cx="8532812" cy="71438"/>
          </a:xfrm>
          <a:prstGeom prst="rect">
            <a:avLst/>
          </a:prstGeom>
          <a:gradFill rotWithShape="1">
            <a:gsLst>
              <a:gs pos="0">
                <a:srgbClr val="3366CC"/>
              </a:gs>
              <a:gs pos="100000">
                <a:schemeClr val="bg1"/>
              </a:gs>
            </a:gsLst>
            <a:lin ang="0" scaled="1"/>
          </a:gradFill>
          <a:ln>
            <a:noFill/>
          </a:ln>
        </p:spPr>
        <p:txBody>
          <a:bodyPr wrap="none" lIns="88412" tIns="44206" rIns="88412" bIns="44206" anchor="ctr"/>
          <a:lstStyle/>
          <a:p>
            <a:pPr eaLnBrk="1" hangingPunct="1">
              <a:lnSpc>
                <a:spcPct val="90000"/>
              </a:lnSpc>
              <a:spcBef>
                <a:spcPct val="50000"/>
              </a:spcBef>
              <a:buFontTx/>
              <a:buChar char="•"/>
            </a:pPr>
            <a:endParaRPr lang="zh-CN" altLang="en-US"/>
          </a:p>
        </p:txBody>
      </p:sp>
      <p:pic>
        <p:nvPicPr>
          <p:cNvPr id="45061" name="Picture 5"/>
          <p:cNvPicPr>
            <a:picLocks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0" y="4114800"/>
            <a:ext cx="2971800" cy="2743200"/>
          </a:xfrm>
          <a:prstGeom prst="rect">
            <a:avLst/>
          </a:prstGeom>
          <a:noFill/>
          <a:ln>
            <a:noFill/>
          </a:ln>
        </p:spPr>
      </p:pic>
      <p:pic>
        <p:nvPicPr>
          <p:cNvPr id="45062" name="Picture 6"/>
          <p:cNvPicPr>
            <a:picLocks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971800" y="4338638"/>
            <a:ext cx="2700338" cy="2519362"/>
          </a:xfrm>
          <a:prstGeom prst="rect">
            <a:avLst/>
          </a:prstGeom>
          <a:noFill/>
          <a:ln>
            <a:noFill/>
          </a:ln>
        </p:spPr>
      </p:pic>
      <p:graphicFrame>
        <p:nvGraphicFramePr>
          <p:cNvPr id="45063" name="Object 7"/>
          <p:cNvGraphicFramePr>
            <a:graphicFrameLocks noChangeAspect="1"/>
          </p:cNvGraphicFramePr>
          <p:nvPr/>
        </p:nvGraphicFramePr>
        <p:xfrm>
          <a:off x="-685800" y="0"/>
          <a:ext cx="3838575" cy="3124200"/>
        </p:xfrm>
        <a:graphic>
          <a:graphicData uri="http://schemas.openxmlformats.org/presentationml/2006/ole">
            <mc:AlternateContent xmlns:mc="http://schemas.openxmlformats.org/markup-compatibility/2006">
              <mc:Choice xmlns:v="urn:schemas-microsoft-com:vml" Requires="v">
                <p:oleObj spid="_x0000_s45073" name="位图图像" r:id="rId3" imgW="3838575" imgH="3124200" progId="Paint.Picture">
                  <p:embed/>
                </p:oleObj>
              </mc:Choice>
              <mc:Fallback>
                <p:oleObj name="位图图像" r:id="rId3" imgW="3838575" imgH="3124200" progId="Paint.Picture">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0"/>
                        <a:ext cx="3838575" cy="3124200"/>
                      </a:xfrm>
                      <a:prstGeom prst="rect">
                        <a:avLst/>
                      </a:prstGeom>
                      <a:noFill/>
                      <a:ln>
                        <a:noFill/>
                      </a:ln>
                      <a:effectLst/>
                    </p:spPr>
                  </p:pic>
                </p:oleObj>
              </mc:Fallback>
            </mc:AlternateContent>
          </a:graphicData>
        </a:graphic>
      </p:graphicFrame>
      <p:graphicFrame>
        <p:nvGraphicFramePr>
          <p:cNvPr id="45064" name="Object 8"/>
          <p:cNvGraphicFramePr>
            <a:graphicFrameLocks noChangeAspect="1"/>
          </p:cNvGraphicFramePr>
          <p:nvPr/>
        </p:nvGraphicFramePr>
        <p:xfrm>
          <a:off x="2743200" y="0"/>
          <a:ext cx="3276600" cy="3124200"/>
        </p:xfrm>
        <a:graphic>
          <a:graphicData uri="http://schemas.openxmlformats.org/presentationml/2006/ole">
            <mc:AlternateContent xmlns:mc="http://schemas.openxmlformats.org/markup-compatibility/2006">
              <mc:Choice xmlns:v="urn:schemas-microsoft-com:vml" Requires="v">
                <p:oleObj spid="_x0000_s45074" name="位图图像" r:id="rId5" imgW="3876675" imgH="2943225" progId="Paint.Picture">
                  <p:embed/>
                </p:oleObj>
              </mc:Choice>
              <mc:Fallback>
                <p:oleObj name="位图图像" r:id="rId5" imgW="3876675" imgH="2943225" progId="Paint.Picture">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0"/>
                        <a:ext cx="3276600" cy="3124200"/>
                      </a:xfrm>
                      <a:prstGeom prst="rect">
                        <a:avLst/>
                      </a:prstGeom>
                      <a:noFill/>
                      <a:ln>
                        <a:noFill/>
                      </a:ln>
                      <a:effectLst/>
                    </p:spPr>
                  </p:pic>
                </p:oleObj>
              </mc:Fallback>
            </mc:AlternateContent>
          </a:graphicData>
        </a:graphic>
      </p:graphicFrame>
      <p:graphicFrame>
        <p:nvGraphicFramePr>
          <p:cNvPr id="45065" name="Object 9"/>
          <p:cNvGraphicFramePr>
            <a:graphicFrameLocks noChangeAspect="1"/>
          </p:cNvGraphicFramePr>
          <p:nvPr/>
        </p:nvGraphicFramePr>
        <p:xfrm>
          <a:off x="6019800" y="0"/>
          <a:ext cx="3124200" cy="3048000"/>
        </p:xfrm>
        <a:graphic>
          <a:graphicData uri="http://schemas.openxmlformats.org/presentationml/2006/ole">
            <mc:AlternateContent xmlns:mc="http://schemas.openxmlformats.org/markup-compatibility/2006">
              <mc:Choice xmlns:v="urn:schemas-microsoft-com:vml" Requires="v">
                <p:oleObj spid="_x0000_s45075" name="位图图像" r:id="rId7" imgW="2209800" imgH="2962275" progId="Paint.Picture">
                  <p:embed/>
                </p:oleObj>
              </mc:Choice>
              <mc:Fallback>
                <p:oleObj name="位图图像" r:id="rId7" imgW="2209800" imgH="2962275" progId="Paint.Picture">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19800" y="0"/>
                        <a:ext cx="3124200" cy="3048000"/>
                      </a:xfrm>
                      <a:prstGeom prst="rect">
                        <a:avLst/>
                      </a:prstGeom>
                      <a:noFill/>
                      <a:ln>
                        <a:noFill/>
                      </a:ln>
                      <a:effectLst/>
                    </p:spPr>
                  </p:pic>
                </p:oleObj>
              </mc:Fallback>
            </mc:AlternateContent>
          </a:graphicData>
        </a:graphic>
      </p:graphicFrame>
      <p:pic>
        <p:nvPicPr>
          <p:cNvPr id="45066" name="Picture 10" descr="3"/>
          <p:cNvPicPr>
            <a:picLocks noChangeAspect="1" noChangeArrowheads="1"/>
          </p:cNvPicPr>
          <p:nvPr/>
        </p:nvPicPr>
        <p:blipFill>
          <a:blip r:embed="rId9" cstate="email">
            <a:extLst>
              <a:ext uri="{28A0092B-C50C-407E-A947-70E740481C1C}">
                <a14:useLocalDpi xmlns:a14="http://schemas.microsoft.com/office/drawing/2010/main" val="0"/>
              </a:ext>
            </a:extLst>
          </a:blip>
          <a:srcRect t="11839" r="17134"/>
          <a:stretch>
            <a:fillRect/>
          </a:stretch>
        </p:blipFill>
        <p:spPr bwMode="auto">
          <a:xfrm>
            <a:off x="5562600" y="3998913"/>
            <a:ext cx="3581400" cy="2859087"/>
          </a:xfrm>
          <a:prstGeom prst="rect">
            <a:avLst/>
          </a:prstGeom>
          <a:noFill/>
          <a:ln>
            <a:noFill/>
          </a:ln>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zh-CN" altLang="en-US" sz="3200">
                <a:latin typeface="Arial" panose="020B0604020202020204" pitchFamily="34" charset="0"/>
                <a:ea typeface="楷体_GB2312" charset="0"/>
                <a:cs typeface="楷体_GB2312" charset="0"/>
              </a:rPr>
              <a:t>环境影响</a:t>
            </a:r>
            <a:endParaRPr lang="zh-CN" altLang="en-US" sz="3200">
              <a:latin typeface="Arial" panose="020B0604020202020204" pitchFamily="34" charset="0"/>
              <a:ea typeface="楷体_GB2312" charset="0"/>
              <a:cs typeface="楷体_GB2312" charset="0"/>
            </a:endParaRPr>
          </a:p>
        </p:txBody>
      </p:sp>
      <p:sp>
        <p:nvSpPr>
          <p:cNvPr id="46083" name="Rectangle 3"/>
          <p:cNvSpPr>
            <a:spLocks noGrp="1" noChangeArrowheads="1"/>
          </p:cNvSpPr>
          <p:nvPr>
            <p:ph type="body" idx="1"/>
          </p:nvPr>
        </p:nvSpPr>
        <p:spPr/>
        <p:txBody>
          <a:bodyPr/>
          <a:lstStyle/>
          <a:p>
            <a:pPr eaLnBrk="1" hangingPunct="1"/>
            <a:r>
              <a:rPr lang="zh-CN" altLang="en-US">
                <a:latin typeface="Arial" panose="020B0604020202020204" pitchFamily="34" charset="0"/>
                <a:ea typeface="宋体" panose="02010600030101010101" pitchFamily="2" charset="-122"/>
              </a:rPr>
              <a:t>流域水文</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水质变化</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水土流失</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土壤侵蚀与淤积</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引发气候变化</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引发地质灾害</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地震</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滑坡</a:t>
            </a:r>
            <a:r>
              <a:rPr lang="en-US" altLang="zh-CN">
                <a:latin typeface="Arial" panose="020B0604020202020204" pitchFamily="34" charset="0"/>
                <a:ea typeface="宋体" panose="02010600030101010101" pitchFamily="2" charset="-122"/>
              </a:rPr>
              <a:t>…)</a:t>
            </a:r>
            <a:endParaRPr lang="en-US" altLang="zh-CN">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对上下游供水</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农业</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航运</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防洪</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矿业和土地利用的影响</a:t>
            </a:r>
            <a:endParaRPr lang="zh-CN" altLang="en-US">
              <a:latin typeface="Arial" panose="020B0604020202020204" pitchFamily="34" charset="0"/>
              <a:ea typeface="宋体" panose="02010600030101010101" pitchFamily="2" charset="-122"/>
            </a:endParaRPr>
          </a:p>
          <a:p>
            <a:pPr eaLnBrk="1" hangingPunct="1"/>
            <a:r>
              <a:rPr lang="zh-CN" altLang="en-US">
                <a:latin typeface="Arial" panose="020B0604020202020204" pitchFamily="34" charset="0"/>
                <a:ea typeface="宋体" panose="02010600030101010101" pitchFamily="2" charset="-122"/>
              </a:rPr>
              <a:t>水库旅游带来的环境影响</a:t>
            </a:r>
            <a:endParaRPr lang="zh-CN" altLang="en-US">
              <a:latin typeface="Arial" panose="020B0604020202020204" pitchFamily="34" charset="0"/>
              <a:ea typeface="宋体" panose="02010600030101010101" pitchFamily="2"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endParaRPr lang="zh-CN" altLang="en-US">
              <a:latin typeface="Arial" panose="020B0604020202020204" pitchFamily="34" charset="0"/>
              <a:ea typeface="楷体_GB2312" charset="0"/>
              <a:cs typeface="楷体_GB2312" charset="0"/>
            </a:endParaRPr>
          </a:p>
        </p:txBody>
      </p:sp>
      <p:sp>
        <p:nvSpPr>
          <p:cNvPr id="47107" name="Rectangle 3"/>
          <p:cNvSpPr>
            <a:spLocks noGrp="1" noChangeArrowheads="1"/>
          </p:cNvSpPr>
          <p:nvPr>
            <p:ph type="body" idx="1"/>
          </p:nvPr>
        </p:nvSpPr>
        <p:spPr/>
        <p:txBody>
          <a:bodyPr/>
          <a:lstStyle/>
          <a:p>
            <a:pPr algn="ctr" eaLnBrk="1" hangingPunct="1">
              <a:buFontTx/>
              <a:buNone/>
            </a:pPr>
            <a:r>
              <a:rPr lang="en-US" altLang="zh-CN" sz="8800">
                <a:solidFill>
                  <a:srgbClr val="800000"/>
                </a:solidFill>
                <a:latin typeface="Arial" panose="020B0604020202020204" pitchFamily="34" charset="0"/>
                <a:ea typeface="宋体" panose="02010600030101010101" pitchFamily="2" charset="-122"/>
              </a:rPr>
              <a:t>QUESTION?</a:t>
            </a:r>
            <a:endParaRPr lang="en-US" altLang="zh-CN" sz="8800">
              <a:solidFill>
                <a:srgbClr val="800000"/>
              </a:solidFill>
              <a:latin typeface="Arial" panose="020B0604020202020204" pitchFamily="34" charset="0"/>
              <a:ea typeface="宋体" panose="02010600030101010101" pitchFamily="2" charset="-122"/>
            </a:endParaRPr>
          </a:p>
        </p:txBody>
      </p:sp>
    </p:spTree>
  </p:cSld>
  <p:clrMapOvr>
    <a:masterClrMapping/>
  </p:clrMapOvr>
  <p:transition/>
</p:sld>
</file>

<file path=ppt/tags/tag1.xml><?xml version="1.0" encoding="utf-8"?>
<p:tagLst xmlns:p="http://schemas.openxmlformats.org/presentationml/2006/main">
  <p:tag name="COMMONDATA" val="eyJoZGlkIjoiOTI0OWQxZGJjNDE2MzIxNDlmMGQ4ZDUyYzcyZTE1MzkifQ=="/>
  <p:tag name="commondata" val="eyJoZGlkIjoiMDUyNTk2M2IyMzU4MzVkNTcwMTc5ZTNjMDhlZjc2NjkifQ=="/>
</p:tagLst>
</file>

<file path=ppt/theme/theme1.xml><?xml version="1.0" encoding="utf-8"?>
<a:theme xmlns:a="http://schemas.openxmlformats.org/drawingml/2006/main" name="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Arial"/>
        <a:ea typeface="楷体_GB2312"/>
        <a:cs typeface="楷体_GB2312"/>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50000"/>
          </a:spcBef>
          <a:spcAft>
            <a:spcPct val="0"/>
          </a:spcAft>
          <a:buClrTx/>
          <a:buSzTx/>
          <a:buFontTx/>
          <a:buChar char="•"/>
          <a:defRPr kumimoji="0" lang="en-US" sz="4000" b="1" i="0" u="none" strike="noStrike" cap="none" normalizeH="0" baseline="0" smtClean="0">
            <a:ln>
              <a:noFill/>
            </a:ln>
            <a:solidFill>
              <a:srgbClr val="0000FF"/>
            </a:solidFill>
            <a:effectLst/>
            <a:latin typeface="Arial" panose="020B0604020202020204" pitchFamily="34" charset="0"/>
            <a:ea typeface="楷体_GB2312"/>
            <a:cs typeface="楷体_GB231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50000"/>
          </a:spcBef>
          <a:spcAft>
            <a:spcPct val="0"/>
          </a:spcAft>
          <a:buClrTx/>
          <a:buSzTx/>
          <a:buFontTx/>
          <a:buChar char="•"/>
          <a:defRPr kumimoji="0" lang="en-US" sz="4000" b="1" i="0" u="none" strike="noStrike" cap="none" normalizeH="0" baseline="0" smtClean="0">
            <a:ln>
              <a:noFill/>
            </a:ln>
            <a:solidFill>
              <a:srgbClr val="0000FF"/>
            </a:solidFill>
            <a:effectLst/>
            <a:latin typeface="Arial" panose="020B0604020202020204" pitchFamily="34" charset="0"/>
            <a:ea typeface="楷体_GB2312"/>
            <a:cs typeface="楷体_GB2312"/>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4567</Words>
  <Application>WPS 演示</Application>
  <PresentationFormat>全屏显示(4:3)</PresentationFormat>
  <Paragraphs>463</Paragraphs>
  <Slides>41</Slides>
  <Notes>1</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6</vt:i4>
      </vt:variant>
      <vt:variant>
        <vt:lpstr>幻灯片标题</vt:lpstr>
      </vt:variant>
      <vt:variant>
        <vt:i4>41</vt:i4>
      </vt:variant>
    </vt:vector>
  </HeadingPairs>
  <TitlesOfParts>
    <vt:vector size="64" baseType="lpstr">
      <vt:lpstr>Arial</vt:lpstr>
      <vt:lpstr>宋体</vt:lpstr>
      <vt:lpstr>Wingdings</vt:lpstr>
      <vt:lpstr>楷体_GB2312</vt:lpstr>
      <vt:lpstr>新宋体</vt:lpstr>
      <vt:lpstr>楷体_GB2312</vt:lpstr>
      <vt:lpstr>楷体_GB2312</vt:lpstr>
      <vt:lpstr>Times</vt:lpstr>
      <vt:lpstr>Times</vt:lpstr>
      <vt:lpstr>Times New Roman</vt:lpstr>
      <vt:lpstr>华文新魏</vt:lpstr>
      <vt:lpstr>微软雅黑</vt:lpstr>
      <vt:lpstr>Arial Unicode MS</vt:lpstr>
      <vt:lpstr>黑体</vt:lpstr>
      <vt:lpstr>Wingdings</vt:lpstr>
      <vt:lpstr>隶书</vt:lpstr>
      <vt:lpstr>Blank Presentation</vt:lpstr>
      <vt:lpstr>Word.Document.8</vt:lpstr>
      <vt:lpstr>Excel.Sheet.8</vt:lpstr>
      <vt:lpstr>Excel.Chart.8</vt:lpstr>
      <vt:lpstr>Paint.Picture</vt:lpstr>
      <vt:lpstr>Paint.Picture</vt:lpstr>
      <vt:lpstr>Paint.Picture</vt:lpstr>
      <vt:lpstr>工程经济学  项目后评估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财务评价:</vt:lpstr>
      <vt:lpstr>资金流出</vt:lpstr>
      <vt:lpstr>资金流入</vt:lpstr>
      <vt:lpstr>PowerPoint 演示文稿</vt:lpstr>
      <vt:lpstr>国民经济评价 </vt:lpstr>
      <vt:lpstr>（2）防洪、发电、航运等综合效益</vt:lpstr>
      <vt:lpstr>防洪</vt:lpstr>
      <vt:lpstr>PowerPoint 演示文稿</vt:lpstr>
      <vt:lpstr>PowerPoint 演示文稿</vt:lpstr>
      <vt:lpstr>PowerPoint 演示文稿</vt:lpstr>
      <vt:lpstr>发电预测</vt:lpstr>
      <vt:lpstr>PowerPoint 演示文稿</vt:lpstr>
      <vt:lpstr>航运预测</vt:lpstr>
      <vt:lpstr>PowerPoint 演示文稿</vt:lpstr>
      <vt:lpstr>社会成本</vt:lpstr>
      <vt:lpstr>移民预测</vt:lpstr>
      <vt:lpstr>PowerPoint 演示文稿</vt:lpstr>
      <vt:lpstr>PowerPoint 演示文稿</vt:lpstr>
      <vt:lpstr>对经济的影响 </vt:lpstr>
      <vt:lpstr>对文化的影响 </vt:lpstr>
      <vt:lpstr>水生生态资源变化 </vt:lpstr>
      <vt:lpstr>PowerPoint 演示文稿</vt:lpstr>
      <vt:lpstr>PowerPoint 演示文稿</vt:lpstr>
      <vt:lpstr>泥沙沉积问题 </vt:lpstr>
      <vt:lpstr>PowerPoint 演示文稿</vt:lpstr>
      <vt:lpstr>PowerPoint 演示文稿</vt:lpstr>
      <vt:lpstr>PowerPoint 演示文稿</vt:lpstr>
      <vt:lpstr>PowerPoint 演示文稿</vt:lpstr>
      <vt:lpstr>PowerPoint 演示文稿</vt:lpstr>
      <vt:lpstr>PowerPoint 演示文稿</vt:lpstr>
      <vt:lpstr>环境影响</vt:lpstr>
      <vt:lpstr>PowerPoint 演示文稿</vt:lpstr>
    </vt:vector>
  </TitlesOfParts>
  <Company>KAGAN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LESLIE KAGAN</dc:creator>
  <cp:lastModifiedBy>飞光</cp:lastModifiedBy>
  <cp:revision>1958</cp:revision>
  <dcterms:created xsi:type="dcterms:W3CDTF">2006-03-30T18:33:00Z</dcterms:created>
  <dcterms:modified xsi:type="dcterms:W3CDTF">2023-11-22T11:34:32Z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B4EA5682D12A4D129A41E18010907D34</vt:lpwstr>
  </property>
  <property fmtid="{D5CDD505-2E9C-101B-9397-08002B2CF9AE}" pid="3" name="KSOProductBuildVer">
    <vt:lpwstr>2052-12.1.0.15712</vt:lpwstr>
  </property>
</Properties>
</file>