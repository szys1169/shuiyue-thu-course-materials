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gif" ContentType="image/gif"/>
  <Default Extension="png" ContentType="image/png"/>
  <Default Extension="wmf" ContentType="image/x-wm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4"/>
  </p:notesMasterIdLst>
  <p:handoutMasterIdLst>
    <p:handoutMasterId r:id="rId116"/>
  </p:handoutMasterIdLst>
  <p:sldIdLst>
    <p:sldId id="259" r:id="rId3"/>
    <p:sldId id="279" r:id="rId5"/>
    <p:sldId id="277" r:id="rId6"/>
    <p:sldId id="286" r:id="rId7"/>
    <p:sldId id="308" r:id="rId8"/>
    <p:sldId id="333" r:id="rId9"/>
    <p:sldId id="371" r:id="rId10"/>
    <p:sldId id="278" r:id="rId11"/>
    <p:sldId id="319" r:id="rId12"/>
    <p:sldId id="328" r:id="rId13"/>
    <p:sldId id="752" r:id="rId14"/>
    <p:sldId id="357" r:id="rId15"/>
    <p:sldId id="358" r:id="rId16"/>
    <p:sldId id="359" r:id="rId17"/>
    <p:sldId id="360" r:id="rId18"/>
    <p:sldId id="361" r:id="rId19"/>
    <p:sldId id="362" r:id="rId20"/>
    <p:sldId id="363" r:id="rId21"/>
    <p:sldId id="364" r:id="rId22"/>
    <p:sldId id="365" r:id="rId23"/>
    <p:sldId id="366" r:id="rId24"/>
    <p:sldId id="382" r:id="rId25"/>
    <p:sldId id="379" r:id="rId26"/>
    <p:sldId id="387" r:id="rId27"/>
    <p:sldId id="381" r:id="rId28"/>
    <p:sldId id="367" r:id="rId29"/>
    <p:sldId id="368" r:id="rId30"/>
    <p:sldId id="332" r:id="rId31"/>
    <p:sldId id="392" r:id="rId32"/>
    <p:sldId id="395" r:id="rId33"/>
    <p:sldId id="394" r:id="rId34"/>
    <p:sldId id="396" r:id="rId35"/>
    <p:sldId id="340" r:id="rId36"/>
    <p:sldId id="388" r:id="rId37"/>
    <p:sldId id="407" r:id="rId38"/>
    <p:sldId id="341" r:id="rId39"/>
    <p:sldId id="399" r:id="rId40"/>
    <p:sldId id="400" r:id="rId41"/>
    <p:sldId id="401" r:id="rId42"/>
    <p:sldId id="402" r:id="rId43"/>
    <p:sldId id="403" r:id="rId44"/>
    <p:sldId id="404" r:id="rId45"/>
    <p:sldId id="405" r:id="rId46"/>
    <p:sldId id="406" r:id="rId47"/>
    <p:sldId id="342" r:id="rId48"/>
    <p:sldId id="398" r:id="rId49"/>
    <p:sldId id="397" r:id="rId50"/>
    <p:sldId id="344" r:id="rId51"/>
    <p:sldId id="345" r:id="rId52"/>
    <p:sldId id="746" r:id="rId53"/>
    <p:sldId id="754" r:id="rId54"/>
    <p:sldId id="747" r:id="rId55"/>
    <p:sldId id="748" r:id="rId56"/>
    <p:sldId id="749" r:id="rId57"/>
    <p:sldId id="750" r:id="rId58"/>
    <p:sldId id="751" r:id="rId59"/>
    <p:sldId id="753" r:id="rId60"/>
    <p:sldId id="348" r:id="rId61"/>
    <p:sldId id="349" r:id="rId62"/>
    <p:sldId id="350" r:id="rId63"/>
    <p:sldId id="352" r:id="rId64"/>
    <p:sldId id="353" r:id="rId65"/>
    <p:sldId id="351" r:id="rId66"/>
    <p:sldId id="354" r:id="rId67"/>
    <p:sldId id="736" r:id="rId68"/>
    <p:sldId id="737" r:id="rId69"/>
    <p:sldId id="738" r:id="rId70"/>
    <p:sldId id="739" r:id="rId71"/>
    <p:sldId id="740" r:id="rId72"/>
    <p:sldId id="741" r:id="rId73"/>
    <p:sldId id="742" r:id="rId74"/>
    <p:sldId id="743" r:id="rId75"/>
    <p:sldId id="744" r:id="rId76"/>
    <p:sldId id="745" r:id="rId77"/>
    <p:sldId id="295" r:id="rId78"/>
    <p:sldId id="335" r:id="rId79"/>
    <p:sldId id="380" r:id="rId80"/>
    <p:sldId id="336" r:id="rId81"/>
    <p:sldId id="280" r:id="rId82"/>
    <p:sldId id="296" r:id="rId83"/>
    <p:sldId id="301" r:id="rId84"/>
    <p:sldId id="300" r:id="rId85"/>
    <p:sldId id="302" r:id="rId86"/>
    <p:sldId id="321" r:id="rId87"/>
    <p:sldId id="372" r:id="rId88"/>
    <p:sldId id="722" r:id="rId89"/>
    <p:sldId id="723" r:id="rId90"/>
    <p:sldId id="724" r:id="rId91"/>
    <p:sldId id="725" r:id="rId92"/>
    <p:sldId id="726" r:id="rId93"/>
    <p:sldId id="727" r:id="rId94"/>
    <p:sldId id="728" r:id="rId95"/>
    <p:sldId id="539" r:id="rId96"/>
    <p:sldId id="540" r:id="rId97"/>
    <p:sldId id="598" r:id="rId98"/>
    <p:sldId id="541" r:id="rId99"/>
    <p:sldId id="542" r:id="rId100"/>
    <p:sldId id="544" r:id="rId101"/>
    <p:sldId id="599" r:id="rId102"/>
    <p:sldId id="390" r:id="rId103"/>
    <p:sldId id="384" r:id="rId104"/>
    <p:sldId id="385" r:id="rId105"/>
    <p:sldId id="386" r:id="rId106"/>
    <p:sldId id="391" r:id="rId107"/>
    <p:sldId id="322" r:id="rId108"/>
    <p:sldId id="378" r:id="rId109"/>
    <p:sldId id="374" r:id="rId110"/>
    <p:sldId id="376" r:id="rId111"/>
    <p:sldId id="373" r:id="rId112"/>
    <p:sldId id="377" r:id="rId113"/>
    <p:sldId id="756" r:id="rId114"/>
    <p:sldId id="375" r:id="rId115"/>
  </p:sldIdLst>
  <p:sldSz cx="9144000" cy="6858000" type="screen4x3"/>
  <p:notesSz cx="7099300" cy="10234295"/>
  <p:custDataLst>
    <p:tags r:id="rId120"/>
  </p:custDataLst>
  <p:defaultTextStyle>
    <a:defPPr>
      <a:defRPr lang="en-US"/>
    </a:defPPr>
    <a:lvl1pPr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楷体_GB2312" charset="-122"/>
        <a:cs typeface="+mn-cs"/>
      </a:defRPr>
    </a:lvl5pPr>
    <a:lvl6pPr marL="2286000" algn="l" defTabSz="914400" rtl="0" eaLnBrk="1" latinLnBrk="0" hangingPunct="1">
      <a:defRPr sz="2400" kern="1200">
        <a:solidFill>
          <a:schemeClr val="tx1"/>
        </a:solidFill>
        <a:latin typeface="Arial" panose="020B0604020202020204" pitchFamily="34" charset="0"/>
        <a:ea typeface="楷体_GB2312" charset="-122"/>
        <a:cs typeface="+mn-cs"/>
      </a:defRPr>
    </a:lvl6pPr>
    <a:lvl7pPr marL="2743200" algn="l" defTabSz="914400" rtl="0" eaLnBrk="1" latinLnBrk="0" hangingPunct="1">
      <a:defRPr sz="2400" kern="1200">
        <a:solidFill>
          <a:schemeClr val="tx1"/>
        </a:solidFill>
        <a:latin typeface="Arial" panose="020B0604020202020204" pitchFamily="34" charset="0"/>
        <a:ea typeface="楷体_GB2312" charset="-122"/>
        <a:cs typeface="+mn-cs"/>
      </a:defRPr>
    </a:lvl7pPr>
    <a:lvl8pPr marL="3200400" algn="l" defTabSz="914400" rtl="0" eaLnBrk="1" latinLnBrk="0" hangingPunct="1">
      <a:defRPr sz="2400" kern="1200">
        <a:solidFill>
          <a:schemeClr val="tx1"/>
        </a:solidFill>
        <a:latin typeface="Arial" panose="020B0604020202020204" pitchFamily="34" charset="0"/>
        <a:ea typeface="楷体_GB2312" charset="-122"/>
        <a:cs typeface="+mn-cs"/>
      </a:defRPr>
    </a:lvl8pPr>
    <a:lvl9pPr marL="3657600" algn="l" defTabSz="914400" rtl="0" eaLnBrk="1" latinLnBrk="0" hangingPunct="1">
      <a:defRPr sz="2400" kern="1200">
        <a:solidFill>
          <a:schemeClr val="tx1"/>
        </a:solidFill>
        <a:latin typeface="Arial" panose="020B0604020202020204" pitchFamily="34" charset="0"/>
        <a:ea typeface="楷体_GB231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0000"/>
    <a:srgbClr val="000000"/>
    <a:srgbClr val="0000FF"/>
    <a:srgbClr val="40BFD9"/>
    <a:srgbClr val="7BC3F7"/>
    <a:srgbClr val="F4BA4A"/>
    <a:srgbClr val="CD5134"/>
    <a:srgbClr val="E0A5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44" autoAdjust="0"/>
    <p:restoredTop sz="94040" autoAdjust="0"/>
  </p:normalViewPr>
  <p:slideViewPr>
    <p:cSldViewPr snapToGrid="0" snapToObjects="1" showGuides="1">
      <p:cViewPr varScale="1">
        <p:scale>
          <a:sx n="58" d="100"/>
          <a:sy n="58" d="100"/>
        </p:scale>
        <p:origin x="1365" y="27"/>
      </p:cViewPr>
      <p:guideLst>
        <p:guide orient="horz" pos="2160"/>
        <p:guide pos="2880"/>
      </p:guideLst>
    </p:cSldViewPr>
  </p:slideViewPr>
  <p:outlineViewPr>
    <p:cViewPr>
      <p:scale>
        <a:sx n="35" d="100"/>
        <a:sy n="35"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0" Type="http://schemas.openxmlformats.org/officeDocument/2006/relationships/tags" Target="tags/tag1.xml"/><Relationship Id="rId12" Type="http://schemas.openxmlformats.org/officeDocument/2006/relationships/slide" Target="slides/slide9.xml"/><Relationship Id="rId119" Type="http://schemas.openxmlformats.org/officeDocument/2006/relationships/tableStyles" Target="tableStyles.xml"/><Relationship Id="rId118" Type="http://schemas.openxmlformats.org/officeDocument/2006/relationships/viewProps" Target="viewProps.xml"/><Relationship Id="rId117" Type="http://schemas.openxmlformats.org/officeDocument/2006/relationships/presProps" Target="presProps.xml"/><Relationship Id="rId116" Type="http://schemas.openxmlformats.org/officeDocument/2006/relationships/handoutMaster" Target="handoutMasters/handoutMaster1.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2450"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a:defRPr sz="1300">
                <a:latin typeface="Times"/>
                <a:ea typeface="+mn-ea"/>
                <a:cs typeface="+mn-cs"/>
              </a:defRPr>
            </a:lvl1pPr>
          </a:lstStyle>
          <a:p>
            <a:pPr>
              <a:defRPr/>
            </a:pPr>
            <a:endParaRPr lang="zh-CN" altLang="en-US"/>
          </a:p>
        </p:txBody>
      </p:sp>
      <p:sp>
        <p:nvSpPr>
          <p:cNvPr id="232451" name="Rectangle 3"/>
          <p:cNvSpPr>
            <a:spLocks noGrp="1" noChangeArrowheads="1"/>
          </p:cNvSpPr>
          <p:nvPr>
            <p:ph type="dt" sz="quarter"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a:defRPr sz="1300">
                <a:latin typeface="Times"/>
                <a:ea typeface="+mn-ea"/>
                <a:cs typeface="+mn-cs"/>
              </a:defRPr>
            </a:lvl1pPr>
          </a:lstStyle>
          <a:p>
            <a:pPr>
              <a:defRPr/>
            </a:pPr>
            <a:endParaRPr lang="en-US" altLang="zh-CN"/>
          </a:p>
        </p:txBody>
      </p:sp>
      <p:sp>
        <p:nvSpPr>
          <p:cNvPr id="232452" name="Rectangle 4"/>
          <p:cNvSpPr>
            <a:spLocks noGrp="1" noChangeArrowheads="1"/>
          </p:cNvSpPr>
          <p:nvPr>
            <p:ph type="ftr" sz="quarter" idx="2"/>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a:defRPr sz="1300">
                <a:latin typeface="Times"/>
                <a:ea typeface="+mn-ea"/>
                <a:cs typeface="+mn-cs"/>
              </a:defRPr>
            </a:lvl1pPr>
          </a:lstStyle>
          <a:p>
            <a:pPr>
              <a:defRPr/>
            </a:pPr>
            <a:endParaRPr lang="en-US" altLang="zh-CN"/>
          </a:p>
        </p:txBody>
      </p:sp>
      <p:sp>
        <p:nvSpPr>
          <p:cNvPr id="232453" name="Rectangle 5"/>
          <p:cNvSpPr>
            <a:spLocks noGrp="1" noChangeArrowheads="1"/>
          </p:cNvSpPr>
          <p:nvPr>
            <p:ph type="sldNum" sz="quarter" idx="3"/>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a:defRPr sz="1300">
                <a:latin typeface="Times" panose="02020603050405020304" pitchFamily="18" charset="0"/>
                <a:ea typeface="宋体" panose="02010600030101010101" pitchFamily="2" charset="-122"/>
              </a:defRPr>
            </a:lvl1pPr>
          </a:lstStyle>
          <a:p>
            <a:pPr>
              <a:defRPr/>
            </a:pPr>
            <a:fld id="{951D76E6-468E-40B5-B7BC-ACBA7FD4F215}"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xfrm>
            <a:off x="0" y="0"/>
            <a:ext cx="3076575" cy="511175"/>
          </a:xfrm>
          <a:prstGeom prst="rect">
            <a:avLst/>
          </a:prstGeom>
          <a:noFill/>
          <a:ln w="9525">
            <a:noFill/>
            <a:miter lim="800000"/>
          </a:ln>
          <a:effectLst/>
        </p:spPr>
        <p:txBody>
          <a:bodyPr vert="horz" wrap="square" lIns="99037" tIns="49519" rIns="99037" bIns="49519" numCol="1" anchor="t" anchorCtr="0" compatLnSpc="1"/>
          <a:lstStyle>
            <a:lvl1pPr defTabSz="990600">
              <a:defRPr sz="1300">
                <a:latin typeface="Times"/>
                <a:ea typeface="+mn-ea"/>
                <a:cs typeface="+mn-cs"/>
              </a:defRPr>
            </a:lvl1pPr>
          </a:lstStyle>
          <a:p>
            <a:pPr>
              <a:defRPr/>
            </a:pPr>
            <a:endParaRPr lang="zh-CN" altLang="en-US"/>
          </a:p>
        </p:txBody>
      </p:sp>
      <p:sp>
        <p:nvSpPr>
          <p:cNvPr id="76803" name="Rectangle 3"/>
          <p:cNvSpPr>
            <a:spLocks noGrp="1" noChangeArrowheads="1"/>
          </p:cNvSpPr>
          <p:nvPr>
            <p:ph type="dt" idx="1"/>
          </p:nvPr>
        </p:nvSpPr>
        <p:spPr bwMode="auto">
          <a:xfrm>
            <a:off x="4021138" y="0"/>
            <a:ext cx="3076575" cy="511175"/>
          </a:xfrm>
          <a:prstGeom prst="rect">
            <a:avLst/>
          </a:prstGeom>
          <a:noFill/>
          <a:ln w="9525">
            <a:noFill/>
            <a:miter lim="800000"/>
          </a:ln>
          <a:effectLst/>
        </p:spPr>
        <p:txBody>
          <a:bodyPr vert="horz" wrap="square" lIns="99037" tIns="49519" rIns="99037" bIns="49519" numCol="1" anchor="t" anchorCtr="0" compatLnSpc="1"/>
          <a:lstStyle>
            <a:lvl1pPr algn="r" defTabSz="990600">
              <a:defRPr sz="1300">
                <a:latin typeface="Times"/>
                <a:ea typeface="+mn-ea"/>
                <a:cs typeface="+mn-cs"/>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990600" y="768350"/>
            <a:ext cx="5118100" cy="38369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76805" name="Rectangle 5"/>
          <p:cNvSpPr>
            <a:spLocks noGrp="1" noChangeArrowheads="1"/>
          </p:cNvSpPr>
          <p:nvPr>
            <p:ph type="body" sz="quarter" idx="3"/>
          </p:nvPr>
        </p:nvSpPr>
        <p:spPr bwMode="auto">
          <a:xfrm>
            <a:off x="709613" y="4860925"/>
            <a:ext cx="5680075" cy="4605338"/>
          </a:xfrm>
          <a:prstGeom prst="rect">
            <a:avLst/>
          </a:prstGeom>
          <a:noFill/>
          <a:ln w="9525">
            <a:noFill/>
            <a:miter lim="800000"/>
          </a:ln>
          <a:effectLst/>
        </p:spPr>
        <p:txBody>
          <a:bodyPr vert="horz" wrap="square" lIns="99037" tIns="49519" rIns="99037" bIns="49519"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76806" name="Rectangle 6"/>
          <p:cNvSpPr>
            <a:spLocks noGrp="1" noChangeArrowheads="1"/>
          </p:cNvSpPr>
          <p:nvPr>
            <p:ph type="ftr" sz="quarter" idx="4"/>
          </p:nvPr>
        </p:nvSpPr>
        <p:spPr bwMode="auto">
          <a:xfrm>
            <a:off x="0" y="9721850"/>
            <a:ext cx="3076575" cy="511175"/>
          </a:xfrm>
          <a:prstGeom prst="rect">
            <a:avLst/>
          </a:prstGeom>
          <a:noFill/>
          <a:ln w="9525">
            <a:noFill/>
            <a:miter lim="800000"/>
          </a:ln>
          <a:effectLst/>
        </p:spPr>
        <p:txBody>
          <a:bodyPr vert="horz" wrap="square" lIns="99037" tIns="49519" rIns="99037" bIns="49519" numCol="1" anchor="b" anchorCtr="0" compatLnSpc="1"/>
          <a:lstStyle>
            <a:lvl1pPr defTabSz="990600">
              <a:defRPr sz="1300">
                <a:latin typeface="Times"/>
                <a:ea typeface="+mn-ea"/>
                <a:cs typeface="+mn-cs"/>
              </a:defRPr>
            </a:lvl1pPr>
          </a:lstStyle>
          <a:p>
            <a:pPr>
              <a:defRPr/>
            </a:pPr>
            <a:endParaRPr lang="en-US" altLang="zh-CN"/>
          </a:p>
        </p:txBody>
      </p:sp>
      <p:sp>
        <p:nvSpPr>
          <p:cNvPr id="76807" name="Rectangle 7"/>
          <p:cNvSpPr>
            <a:spLocks noGrp="1" noChangeArrowheads="1"/>
          </p:cNvSpPr>
          <p:nvPr>
            <p:ph type="sldNum" sz="quarter" idx="5"/>
          </p:nvPr>
        </p:nvSpPr>
        <p:spPr bwMode="auto">
          <a:xfrm>
            <a:off x="4021138" y="9721850"/>
            <a:ext cx="3076575" cy="511175"/>
          </a:xfrm>
          <a:prstGeom prst="rect">
            <a:avLst/>
          </a:prstGeom>
          <a:noFill/>
          <a:ln w="9525">
            <a:noFill/>
            <a:miter lim="800000"/>
          </a:ln>
          <a:effectLst/>
        </p:spPr>
        <p:txBody>
          <a:bodyPr vert="horz" wrap="square" lIns="99037" tIns="49519" rIns="99037" bIns="49519" numCol="1" anchor="b" anchorCtr="0" compatLnSpc="1"/>
          <a:lstStyle>
            <a:lvl1pPr algn="r" defTabSz="990600">
              <a:defRPr sz="1300">
                <a:latin typeface="Times" panose="02020603050405020304" pitchFamily="18" charset="0"/>
                <a:ea typeface="宋体" panose="02010600030101010101" pitchFamily="2" charset="-122"/>
              </a:defRPr>
            </a:lvl1pPr>
          </a:lstStyle>
          <a:p>
            <a:pPr>
              <a:defRPr/>
            </a:pPr>
            <a:fld id="{124EF06F-7CA2-454B-AB9A-DC723BA5ACDE}"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a:ea typeface="+mn-ea"/>
        <a:cs typeface="+mn-cs"/>
      </a:defRPr>
    </a:lvl1pPr>
    <a:lvl2pPr marL="457200" algn="l" rtl="0" eaLnBrk="0" fontAlgn="base" hangingPunct="0">
      <a:spcBef>
        <a:spcPct val="30000"/>
      </a:spcBef>
      <a:spcAft>
        <a:spcPct val="0"/>
      </a:spcAft>
      <a:defRPr sz="1200" kern="1200">
        <a:solidFill>
          <a:schemeClr val="tx1"/>
        </a:solidFill>
        <a:latin typeface="Times"/>
        <a:ea typeface="+mn-ea"/>
        <a:cs typeface="+mn-cs"/>
      </a:defRPr>
    </a:lvl2pPr>
    <a:lvl3pPr marL="914400" algn="l" rtl="0" eaLnBrk="0" fontAlgn="base" hangingPunct="0">
      <a:spcBef>
        <a:spcPct val="30000"/>
      </a:spcBef>
      <a:spcAft>
        <a:spcPct val="0"/>
      </a:spcAft>
      <a:defRPr sz="1200" kern="1200">
        <a:solidFill>
          <a:schemeClr val="tx1"/>
        </a:solidFill>
        <a:latin typeface="Times"/>
        <a:ea typeface="+mn-ea"/>
        <a:cs typeface="+mn-cs"/>
      </a:defRPr>
    </a:lvl3pPr>
    <a:lvl4pPr marL="1371600" algn="l" rtl="0" eaLnBrk="0" fontAlgn="base" hangingPunct="0">
      <a:spcBef>
        <a:spcPct val="30000"/>
      </a:spcBef>
      <a:spcAft>
        <a:spcPct val="0"/>
      </a:spcAft>
      <a:defRPr sz="1200" kern="1200">
        <a:solidFill>
          <a:schemeClr val="tx1"/>
        </a:solidFill>
        <a:latin typeface="Times"/>
        <a:ea typeface="+mn-ea"/>
        <a:cs typeface="+mn-cs"/>
      </a:defRPr>
    </a:lvl4pPr>
    <a:lvl5pPr marL="1828800" algn="l" rtl="0" eaLnBrk="0" fontAlgn="base" hangingPunct="0">
      <a:spcBef>
        <a:spcPct val="30000"/>
      </a:spcBef>
      <a:spcAft>
        <a:spcPct val="0"/>
      </a:spcAft>
      <a:defRPr sz="1200" kern="1200">
        <a:solidFill>
          <a:schemeClr val="tx1"/>
        </a:solidFill>
        <a:latin typeface="Times"/>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F68C4260-8AB6-4878-BF9C-BBE2A73D10EE}"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6147" name="Rectangle 2"/>
          <p:cNvSpPr>
            <a:spLocks noGrp="1" noRot="1" noChangeAspect="1" noChangeArrowheads="1" noTextEdit="1"/>
          </p:cNvSpPr>
          <p:nvPr>
            <p:ph type="sldImg"/>
          </p:nvPr>
        </p:nvSpPr>
        <p:spPr>
          <a:xfrm>
            <a:off x="992188" y="768350"/>
            <a:ext cx="5114925" cy="3836988"/>
          </a:xfrm>
        </p:spPr>
      </p:sp>
      <p:sp>
        <p:nvSpPr>
          <p:cNvPr id="6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7EE42872-922E-4199-AE68-C15BEA5E599F}"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8195" name="Rectangle 2"/>
          <p:cNvSpPr>
            <a:spLocks noGrp="1" noRot="1" noChangeAspect="1" noChangeArrowheads="1" noTextEdit="1"/>
          </p:cNvSpPr>
          <p:nvPr>
            <p:ph type="sldImg"/>
          </p:nvPr>
        </p:nvSpPr>
        <p:spPr>
          <a:xfrm>
            <a:off x="992188" y="768350"/>
            <a:ext cx="5114925" cy="3836988"/>
          </a:xfrm>
        </p:spPr>
      </p:sp>
      <p:sp>
        <p:nvSpPr>
          <p:cNvPr id="819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5B7F8C-569E-43F1-8C08-41BA95CD0F75}"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10243" name="Rectangle 2"/>
          <p:cNvSpPr>
            <a:spLocks noGrp="1" noRot="1" noChangeAspect="1" noChangeArrowheads="1" noTextEdit="1"/>
          </p:cNvSpPr>
          <p:nvPr>
            <p:ph type="sldImg"/>
          </p:nvPr>
        </p:nvSpPr>
        <p:spPr>
          <a:xfrm>
            <a:off x="992188" y="768350"/>
            <a:ext cx="5114925" cy="3836988"/>
          </a:xfrm>
        </p:spPr>
      </p:sp>
      <p:sp>
        <p:nvSpPr>
          <p:cNvPr id="102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82183B78-CCA1-44BB-AC0A-E18030BF287B}"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12291" name="Rectangle 2"/>
          <p:cNvSpPr>
            <a:spLocks noGrp="1" noRot="1" noChangeAspect="1" noChangeArrowheads="1" noTextEdit="1"/>
          </p:cNvSpPr>
          <p:nvPr>
            <p:ph type="sldImg"/>
          </p:nvPr>
        </p:nvSpPr>
        <p:spPr>
          <a:xfrm>
            <a:off x="992188" y="768350"/>
            <a:ext cx="5114925" cy="3836988"/>
          </a:xfrm>
        </p:spPr>
      </p:sp>
      <p:sp>
        <p:nvSpPr>
          <p:cNvPr id="1229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06E9EE45-6ABA-4B39-B702-9F5EC9B707F2}"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14339" name="Rectangle 2"/>
          <p:cNvSpPr>
            <a:spLocks noGrp="1" noRot="1" noChangeAspect="1" noChangeArrowheads="1" noTextEdit="1"/>
          </p:cNvSpPr>
          <p:nvPr>
            <p:ph type="sldImg"/>
          </p:nvPr>
        </p:nvSpPr>
        <p:spPr>
          <a:xfrm>
            <a:off x="992188" y="768350"/>
            <a:ext cx="5114925" cy="3836988"/>
          </a:xfrm>
        </p:spPr>
      </p:sp>
      <p:sp>
        <p:nvSpPr>
          <p:cNvPr id="1434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7C5A8376-8BE9-4130-88D9-DC575071A725}"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16387" name="Rectangle 2"/>
          <p:cNvSpPr>
            <a:spLocks noGrp="1" noRot="1" noChangeAspect="1" noChangeArrowheads="1" noTextEdit="1"/>
          </p:cNvSpPr>
          <p:nvPr>
            <p:ph type="sldImg"/>
          </p:nvPr>
        </p:nvSpPr>
        <p:spPr>
          <a:xfrm>
            <a:off x="992188" y="768350"/>
            <a:ext cx="5114925" cy="3836988"/>
          </a:xfrm>
        </p:spPr>
      </p:sp>
      <p:sp>
        <p:nvSpPr>
          <p:cNvPr id="16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EBFEA0AE-1B9F-4B05-97EE-896DE71149E8}"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19459" name="Rectangle 2"/>
          <p:cNvSpPr>
            <a:spLocks noGrp="1" noRot="1" noChangeAspect="1" noChangeArrowheads="1" noTextEdit="1"/>
          </p:cNvSpPr>
          <p:nvPr>
            <p:ph type="sldImg"/>
          </p:nvPr>
        </p:nvSpPr>
        <p:spPr>
          <a:xfrm>
            <a:off x="992188" y="768350"/>
            <a:ext cx="5114925" cy="3836988"/>
          </a:xfrm>
        </p:spPr>
      </p:sp>
      <p:sp>
        <p:nvSpPr>
          <p:cNvPr id="194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86AAE347-CFC7-4902-992E-80641D7BB9D6}"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21507" name="Rectangle 2"/>
          <p:cNvSpPr>
            <a:spLocks noGrp="1" noRot="1" noChangeAspect="1" noChangeArrowheads="1" noTextEdit="1"/>
          </p:cNvSpPr>
          <p:nvPr>
            <p:ph type="sldImg"/>
          </p:nvPr>
        </p:nvSpPr>
        <p:spPr>
          <a:xfrm>
            <a:off x="992188" y="768350"/>
            <a:ext cx="5114925" cy="3836988"/>
          </a:xfrm>
        </p:spPr>
      </p:sp>
      <p:sp>
        <p:nvSpPr>
          <p:cNvPr id="21508" name="Rectangle 3"/>
          <p:cNvSpPr>
            <a:spLocks noGrp="1" noChangeArrowheads="1"/>
          </p:cNvSpPr>
          <p:nvPr>
            <p:ph type="body" idx="1"/>
          </p:nvPr>
        </p:nvSpPr>
        <p:spPr>
          <a:xfrm>
            <a:off x="946150" y="4860925"/>
            <a:ext cx="5207000"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ADA56A-70C6-40FB-B295-7BED91B71785}"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fld>
            <a:endParaRPr lang="en-US" altLang="zh-CN" sz="1300">
              <a:solidFill>
                <a:srgbClr val="000000"/>
              </a:solidFill>
              <a:latin typeface="Times" panose="02020603050405020304" pitchFamily="18"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fld>
            <a:endParaRPr lang="en-US" altLang="zh-CN" sz="1300">
              <a:solidFill>
                <a:srgbClr val="000000"/>
              </a:solidFill>
              <a:latin typeface="Times" panose="02020603050405020304" pitchFamily="18"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fld>
            <a:endParaRPr lang="en-US" altLang="zh-CN" sz="1300">
              <a:solidFill>
                <a:srgbClr val="000000"/>
              </a:solidFill>
              <a:latin typeface="Times" panose="02020603050405020304" pitchFamily="18"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fld>
            <a:endParaRPr lang="en-US" altLang="zh-CN" sz="1300">
              <a:solidFill>
                <a:srgbClr val="000000"/>
              </a:solidFill>
              <a:latin typeface="Times" panose="02020603050405020304" pitchFamily="18"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fld>
            <a:endParaRPr lang="en-US" altLang="zh-CN" sz="1300">
              <a:solidFill>
                <a:srgbClr val="000000"/>
              </a:solidFill>
              <a:latin typeface="Times" panose="02020603050405020304" pitchFamily="18"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fld>
            <a:endParaRPr lang="en-US" altLang="zh-CN" sz="1300">
              <a:solidFill>
                <a:srgbClr val="000000"/>
              </a:solidFill>
              <a:latin typeface="Times" panose="02020603050405020304" pitchFamily="18"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fld>
            <a:endParaRPr lang="en-US" altLang="zh-CN" sz="1300">
              <a:solidFill>
                <a:srgbClr val="000000"/>
              </a:solidFill>
              <a:latin typeface="Times" panose="02020603050405020304" pitchFamily="18"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fld>
            <a:endParaRPr lang="en-US" altLang="zh-CN" sz="1300">
              <a:solidFill>
                <a:srgbClr val="000000"/>
              </a:solidFill>
              <a:latin typeface="Times" panose="02020603050405020304" pitchFamily="18"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ChangeArrowheads="1" noTextEdit="1"/>
          </p:cNvSpPr>
          <p:nvPr>
            <p:ph type="sldImg"/>
          </p:nvPr>
        </p:nvSpPr>
        <p:spPr>
          <a:xfrm>
            <a:off x="992188" y="768350"/>
            <a:ext cx="5114925" cy="3836988"/>
          </a:xfrm>
        </p:spPr>
      </p:sp>
      <p:sp>
        <p:nvSpPr>
          <p:cNvPr id="53251" name="备注占位符 2"/>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Times" panose="02020603050405020304" pitchFamily="18" charset="0"/>
            </a:endParaRPr>
          </a:p>
        </p:txBody>
      </p:sp>
      <p:sp>
        <p:nvSpPr>
          <p:cNvPr id="53252" name="灯片编号占位符 3"/>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A9ADA56A-70C6-40FB-B295-7BED91B71785}" type="slidenum">
              <a:rPr lang="zh-CN" altLang="en-US" sz="1300" smtClean="0">
                <a:solidFill>
                  <a:srgbClr val="000000"/>
                </a:solidFill>
                <a:latin typeface="Times" panose="02020603050405020304" pitchFamily="18" charset="0"/>
                <a:ea typeface="宋体" panose="02010600030101010101" pitchFamily="2" charset="-122"/>
              </a:rPr>
            </a:fld>
            <a:endParaRPr lang="en-US" altLang="zh-CN" sz="1300">
              <a:solidFill>
                <a:srgbClr val="000000"/>
              </a:solidFill>
              <a:latin typeface="Times" panose="02020603050405020304" pitchFamily="18" charset="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CBA76469-3CA0-44E8-82C1-3E8CB5D3EB9B}"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72707" name="Rectangle 2"/>
          <p:cNvSpPr>
            <a:spLocks noGrp="1" noRot="1" noChangeAspect="1" noChangeArrowheads="1" noTextEdit="1"/>
          </p:cNvSpPr>
          <p:nvPr>
            <p:ph type="sldImg"/>
          </p:nvPr>
        </p:nvSpPr>
        <p:spPr>
          <a:xfrm>
            <a:off x="992188" y="768350"/>
            <a:ext cx="5114925" cy="3836988"/>
          </a:xfrm>
        </p:spPr>
      </p:sp>
      <p:sp>
        <p:nvSpPr>
          <p:cNvPr id="727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62ECC8E0-08CC-4FF7-BC38-F282D622B497}"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74755" name="Rectangle 2"/>
          <p:cNvSpPr>
            <a:spLocks noGrp="1" noRot="1" noChangeAspect="1" noChangeArrowheads="1" noTextEdit="1"/>
          </p:cNvSpPr>
          <p:nvPr>
            <p:ph type="sldImg"/>
          </p:nvPr>
        </p:nvSpPr>
        <p:spPr>
          <a:xfrm>
            <a:off x="992188" y="768350"/>
            <a:ext cx="5114925" cy="3836988"/>
          </a:xfrm>
        </p:spPr>
      </p:sp>
      <p:sp>
        <p:nvSpPr>
          <p:cNvPr id="747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438151CB-B2F8-4DDD-A669-713E1B849032}"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77827" name="Rectangle 2"/>
          <p:cNvSpPr>
            <a:spLocks noGrp="1" noRot="1" noChangeAspect="1" noChangeArrowheads="1" noTextEdit="1"/>
          </p:cNvSpPr>
          <p:nvPr>
            <p:ph type="sldImg"/>
          </p:nvPr>
        </p:nvSpPr>
        <p:spPr>
          <a:xfrm>
            <a:off x="992188" y="768350"/>
            <a:ext cx="5114925" cy="3836988"/>
          </a:xfrm>
        </p:spPr>
      </p:sp>
      <p:sp>
        <p:nvSpPr>
          <p:cNvPr id="77828" name="Rectangle 3"/>
          <p:cNvSpPr>
            <a:spLocks noGrp="1" noChangeArrowheads="1"/>
          </p:cNvSpPr>
          <p:nvPr>
            <p:ph type="body" idx="1"/>
          </p:nvPr>
        </p:nvSpPr>
        <p:spPr>
          <a:xfrm>
            <a:off x="946150" y="4860925"/>
            <a:ext cx="5207000" cy="460533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6B148720-D97A-44D9-A017-D21F441B5A07}"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79875" name="Rectangle 2"/>
          <p:cNvSpPr>
            <a:spLocks noGrp="1" noRot="1" noChangeAspect="1" noChangeArrowheads="1" noTextEdit="1"/>
          </p:cNvSpPr>
          <p:nvPr>
            <p:ph type="sldImg"/>
          </p:nvPr>
        </p:nvSpPr>
        <p:spPr>
          <a:xfrm>
            <a:off x="992188" y="768350"/>
            <a:ext cx="5114925" cy="3836988"/>
          </a:xfrm>
        </p:spPr>
      </p:sp>
      <p:sp>
        <p:nvSpPr>
          <p:cNvPr id="798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DB48F455-FA5D-4809-9D8E-CB3C6F8AB8FA}"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81923" name="Rectangle 2"/>
          <p:cNvSpPr>
            <a:spLocks noGrp="1" noRot="1" noChangeAspect="1" noChangeArrowheads="1" noTextEdit="1"/>
          </p:cNvSpPr>
          <p:nvPr>
            <p:ph type="sldImg"/>
          </p:nvPr>
        </p:nvSpPr>
        <p:spPr>
          <a:xfrm>
            <a:off x="992188" y="768350"/>
            <a:ext cx="5114925" cy="3836988"/>
          </a:xfrm>
        </p:spPr>
      </p:sp>
      <p:sp>
        <p:nvSpPr>
          <p:cNvPr id="8192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2DE428D2-D6B0-44EB-B97C-291E6DD6EA72}"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83971" name="Rectangle 2"/>
          <p:cNvSpPr>
            <a:spLocks noGrp="1" noRot="1" noChangeAspect="1" noChangeArrowheads="1" noTextEdit="1"/>
          </p:cNvSpPr>
          <p:nvPr>
            <p:ph type="sldImg"/>
          </p:nvPr>
        </p:nvSpPr>
        <p:spPr>
          <a:xfrm>
            <a:off x="992188" y="768350"/>
            <a:ext cx="5114925" cy="3836988"/>
          </a:xfrm>
        </p:spPr>
      </p:sp>
      <p:sp>
        <p:nvSpPr>
          <p:cNvPr id="8397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C8863CF7-7ECE-4C7A-91AB-D405DB4B042C}"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86019" name="Rectangle 2"/>
          <p:cNvSpPr>
            <a:spLocks noGrp="1" noRot="1" noChangeAspect="1" noChangeArrowheads="1" noTextEdit="1"/>
          </p:cNvSpPr>
          <p:nvPr>
            <p:ph type="sldImg"/>
          </p:nvPr>
        </p:nvSpPr>
        <p:spPr>
          <a:xfrm>
            <a:off x="992188" y="768350"/>
            <a:ext cx="5114925" cy="3836988"/>
          </a:xfrm>
        </p:spPr>
      </p:sp>
      <p:sp>
        <p:nvSpPr>
          <p:cNvPr id="8602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B805E771-FDE1-418C-A068-6B73C23A016D}"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88067" name="Rectangle 2"/>
          <p:cNvSpPr>
            <a:spLocks noGrp="1" noRot="1" noChangeAspect="1" noChangeArrowheads="1" noTextEdit="1"/>
          </p:cNvSpPr>
          <p:nvPr>
            <p:ph type="sldImg"/>
          </p:nvPr>
        </p:nvSpPr>
        <p:spPr>
          <a:xfrm>
            <a:off x="992188" y="768350"/>
            <a:ext cx="5114925" cy="3836988"/>
          </a:xfrm>
        </p:spPr>
      </p:sp>
      <p:sp>
        <p:nvSpPr>
          <p:cNvPr id="8806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D8193B52-E531-4F05-AA54-4CF75E53CE4A}"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90115" name="Rectangle 2"/>
          <p:cNvSpPr>
            <a:spLocks noGrp="1" noRot="1" noChangeAspect="1" noChangeArrowheads="1" noTextEdit="1"/>
          </p:cNvSpPr>
          <p:nvPr>
            <p:ph type="sldImg"/>
          </p:nvPr>
        </p:nvSpPr>
        <p:spPr>
          <a:xfrm>
            <a:off x="992188" y="768350"/>
            <a:ext cx="5114925" cy="3836988"/>
          </a:xfrm>
        </p:spPr>
      </p:sp>
      <p:sp>
        <p:nvSpPr>
          <p:cNvPr id="9011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xfrm>
            <a:off x="992188" y="768350"/>
            <a:ext cx="5114925" cy="3836988"/>
          </a:xfrm>
        </p:spPr>
      </p:sp>
      <p:sp>
        <p:nvSpPr>
          <p:cNvPr id="931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panose="02020603050405020304" pitchFamily="18" charset="0"/>
            </a:endParaRPr>
          </a:p>
        </p:txBody>
      </p:sp>
      <p:sp>
        <p:nvSpPr>
          <p:cNvPr id="931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97F39D52-396E-425D-BBA2-5DF1BDC01D5D}" type="slidenum">
              <a:rPr lang="zh-CN" altLang="en-US" sz="1200" smtClean="0">
                <a:ea typeface="宋体" panose="02010600030101010101" pitchFamily="2" charset="-122"/>
              </a:rPr>
            </a:fld>
            <a:endParaRPr lang="zh-CN" altLang="en-US" sz="1200" smtClean="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幻灯片图像占位符 1"/>
          <p:cNvSpPr>
            <a:spLocks noGrp="1" noRot="1" noChangeAspect="1" noTextEdit="1"/>
          </p:cNvSpPr>
          <p:nvPr>
            <p:ph type="sldImg"/>
          </p:nvPr>
        </p:nvSpPr>
        <p:spPr>
          <a:xfrm>
            <a:off x="992188" y="768350"/>
            <a:ext cx="5114925" cy="3836988"/>
          </a:xfrm>
        </p:spPr>
      </p:sp>
      <p:sp>
        <p:nvSpPr>
          <p:cNvPr id="9523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panose="02020603050405020304" pitchFamily="18" charset="0"/>
            </a:endParaRPr>
          </a:p>
        </p:txBody>
      </p:sp>
      <p:sp>
        <p:nvSpPr>
          <p:cNvPr id="9523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DA262741-46F4-469D-9F40-A63A5F0446F0}" type="slidenum">
              <a:rPr lang="zh-CN" altLang="en-US" sz="1200" smtClean="0">
                <a:ea typeface="宋体" panose="02010600030101010101" pitchFamily="2" charset="-122"/>
              </a:rPr>
            </a:fld>
            <a:endParaRPr lang="zh-CN" altLang="en-US" sz="1200" smtClean="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a:xfrm>
            <a:off x="992188" y="768350"/>
            <a:ext cx="5114925" cy="3836988"/>
          </a:xfrm>
        </p:spPr>
      </p:sp>
      <p:sp>
        <p:nvSpPr>
          <p:cNvPr id="983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panose="02020603050405020304" pitchFamily="18" charset="0"/>
            </a:endParaRPr>
          </a:p>
        </p:txBody>
      </p:sp>
      <p:sp>
        <p:nvSpPr>
          <p:cNvPr id="983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2EB89C56-171D-49E1-B7EC-82E1CE7C7637}" type="slidenum">
              <a:rPr lang="zh-CN" altLang="en-US" sz="1200" smtClean="0">
                <a:ea typeface="宋体" panose="02010600030101010101" pitchFamily="2" charset="-122"/>
              </a:rPr>
            </a:fld>
            <a:endParaRPr lang="zh-CN" altLang="en-US" sz="1200" smtClean="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幻灯片图像占位符 1"/>
          <p:cNvSpPr>
            <a:spLocks noGrp="1" noRot="1" noChangeAspect="1" noTextEdit="1"/>
          </p:cNvSpPr>
          <p:nvPr>
            <p:ph type="sldImg"/>
          </p:nvPr>
        </p:nvSpPr>
        <p:spPr>
          <a:xfrm>
            <a:off x="992188" y="768350"/>
            <a:ext cx="5114925" cy="3836988"/>
          </a:xfrm>
        </p:spPr>
      </p:sp>
      <p:sp>
        <p:nvSpPr>
          <p:cNvPr id="1044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mtClean="0">
              <a:latin typeface="Times" panose="02020603050405020304" pitchFamily="18" charset="0"/>
            </a:endParaRPr>
          </a:p>
        </p:txBody>
      </p:sp>
      <p:sp>
        <p:nvSpPr>
          <p:cNvPr id="1044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spcBef>
                <a:spcPct val="30000"/>
              </a:spcBef>
              <a:defRPr sz="1200">
                <a:solidFill>
                  <a:schemeClr val="tx1"/>
                </a:solidFill>
                <a:latin typeface="Times" panose="02020603050405020304" pitchFamily="18" charset="0"/>
              </a:defRPr>
            </a:lvl1pPr>
            <a:lvl2pPr marL="742950" indent="-285750" defTabSz="990600">
              <a:spcBef>
                <a:spcPct val="30000"/>
              </a:spcBef>
              <a:defRPr sz="1200">
                <a:solidFill>
                  <a:schemeClr val="tx1"/>
                </a:solidFill>
                <a:latin typeface="Times" panose="02020603050405020304" pitchFamily="18" charset="0"/>
              </a:defRPr>
            </a:lvl2pPr>
            <a:lvl3pPr marL="1143000" indent="-228600" defTabSz="990600">
              <a:spcBef>
                <a:spcPct val="30000"/>
              </a:spcBef>
              <a:defRPr sz="1200">
                <a:solidFill>
                  <a:schemeClr val="tx1"/>
                </a:solidFill>
                <a:latin typeface="Times" panose="02020603050405020304" pitchFamily="18" charset="0"/>
              </a:defRPr>
            </a:lvl3pPr>
            <a:lvl4pPr marL="1600200" indent="-228600" defTabSz="990600">
              <a:spcBef>
                <a:spcPct val="30000"/>
              </a:spcBef>
              <a:defRPr sz="1200">
                <a:solidFill>
                  <a:schemeClr val="tx1"/>
                </a:solidFill>
                <a:latin typeface="Times" panose="02020603050405020304" pitchFamily="18" charset="0"/>
              </a:defRPr>
            </a:lvl4pPr>
            <a:lvl5pPr marL="2057400" indent="-228600" defTabSz="990600">
              <a:spcBef>
                <a:spcPct val="30000"/>
              </a:spcBef>
              <a:defRPr sz="1200">
                <a:solidFill>
                  <a:schemeClr val="tx1"/>
                </a:solidFill>
                <a:latin typeface="Times" panose="02020603050405020304" pitchFamily="18" charset="0"/>
              </a:defRPr>
            </a:lvl5pPr>
            <a:lvl6pPr marL="2514600" indent="-228600" defTabSz="990600" eaLnBrk="0" fontAlgn="base" hangingPunct="0">
              <a:spcBef>
                <a:spcPct val="30000"/>
              </a:spcBef>
              <a:spcAft>
                <a:spcPct val="0"/>
              </a:spcAft>
              <a:defRPr sz="1200">
                <a:solidFill>
                  <a:schemeClr val="tx1"/>
                </a:solidFill>
                <a:latin typeface="Times" panose="02020603050405020304" pitchFamily="18" charset="0"/>
              </a:defRPr>
            </a:lvl6pPr>
            <a:lvl7pPr marL="2971800" indent="-228600" defTabSz="990600" eaLnBrk="0" fontAlgn="base" hangingPunct="0">
              <a:spcBef>
                <a:spcPct val="30000"/>
              </a:spcBef>
              <a:spcAft>
                <a:spcPct val="0"/>
              </a:spcAft>
              <a:defRPr sz="1200">
                <a:solidFill>
                  <a:schemeClr val="tx1"/>
                </a:solidFill>
                <a:latin typeface="Times" panose="02020603050405020304" pitchFamily="18" charset="0"/>
              </a:defRPr>
            </a:lvl7pPr>
            <a:lvl8pPr marL="3429000" indent="-228600" defTabSz="990600" eaLnBrk="0" fontAlgn="base" hangingPunct="0">
              <a:spcBef>
                <a:spcPct val="30000"/>
              </a:spcBef>
              <a:spcAft>
                <a:spcPct val="0"/>
              </a:spcAft>
              <a:defRPr sz="1200">
                <a:solidFill>
                  <a:schemeClr val="tx1"/>
                </a:solidFill>
                <a:latin typeface="Times" panose="02020603050405020304" pitchFamily="18" charset="0"/>
              </a:defRPr>
            </a:lvl8pPr>
            <a:lvl9pPr marL="3886200" indent="-22860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4ECA8E4A-C98C-4125-835B-F5C406897DC7}" type="slidenum">
              <a:rPr lang="zh-CN" altLang="en-US" smtClean="0">
                <a:latin typeface="Arial" panose="020B0604020202020204" pitchFamily="34" charset="0"/>
              </a:rPr>
            </a:fld>
            <a:endParaRPr lang="zh-CN" altLang="en-US" smtClean="0">
              <a:latin typeface="Arial" panose="020B0604020202020204" pitchFamily="34"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幻灯片图像占位符 1"/>
          <p:cNvSpPr>
            <a:spLocks noGrp="1" noRot="1" noChangeAspect="1" noChangeArrowheads="1" noTextEdit="1"/>
          </p:cNvSpPr>
          <p:nvPr>
            <p:ph type="sldImg"/>
          </p:nvPr>
        </p:nvSpPr>
        <p:spPr>
          <a:xfrm>
            <a:off x="992188" y="768350"/>
            <a:ext cx="5114925" cy="3836988"/>
          </a:xfrm>
        </p:spPr>
      </p:sp>
      <p:sp>
        <p:nvSpPr>
          <p:cNvPr id="11161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p>
            <a:r>
              <a:rPr lang="en-US" altLang="zh-CN" smtClean="0">
                <a:latin typeface="Times" panose="02020603050405020304" pitchFamily="18" charset="0"/>
              </a:rPr>
              <a:t>A series of explosions that killed over one hundred people and injured hundreds of others occurred at a container storage station at the Port of Tianjin on Wednesday, 12 August 2015. The first two explosions occurred within 30 seconds of each other at the facility, which is located in the Binhai New Area of Tianjin, China.[4][5] Fires caused by the initial explosions continued to burn uncontrolled throughout the weekend, repeatedly causing secondary explosions, with eight additional explosions occurring on Saturday, 15 August.</a:t>
            </a:r>
            <a:endParaRPr lang="zh-CN" altLang="zh-CN" smtClean="0">
              <a:latin typeface="Times" panose="02020603050405020304" pitchFamily="18" charset="0"/>
            </a:endParaRPr>
          </a:p>
          <a:p>
            <a:r>
              <a:rPr lang="en-US" altLang="zh-CN" smtClean="0">
                <a:latin typeface="Times" panose="02020603050405020304" pitchFamily="18" charset="0"/>
              </a:rPr>
              <a:t> </a:t>
            </a:r>
            <a:endParaRPr lang="zh-CN" altLang="zh-CN" smtClean="0">
              <a:latin typeface="Times" panose="02020603050405020304" pitchFamily="18" charset="0"/>
            </a:endParaRPr>
          </a:p>
          <a:p>
            <a:r>
              <a:rPr lang="en-US" altLang="zh-CN" smtClean="0">
                <a:latin typeface="Times" panose="02020603050405020304" pitchFamily="18" charset="0"/>
              </a:rPr>
              <a:t>The cause of the explosions was not immediately known,[5] but Chinese state media reported that at least the initial blast was from unknown hazardous materials in shipping containers at a plant warehouse owned by Ruihai Logistics,[6] a firm specializing in handling hazardous materials.[4]</a:t>
            </a:r>
            <a:endParaRPr lang="zh-CN" altLang="zh-CN" smtClean="0">
              <a:latin typeface="Times" panose="02020603050405020304" pitchFamily="18" charset="0"/>
            </a:endParaRPr>
          </a:p>
          <a:p>
            <a:endParaRPr lang="zh-CN" altLang="en-US" smtClean="0">
              <a:latin typeface="Times" panose="02020603050405020304" pitchFamily="18" charset="0"/>
            </a:endParaRPr>
          </a:p>
        </p:txBody>
      </p:sp>
      <p:sp>
        <p:nvSpPr>
          <p:cNvPr id="11162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lstStyle>
            <a:lvl1pPr defTabSz="990600">
              <a:spcBef>
                <a:spcPct val="30000"/>
              </a:spcBef>
              <a:defRPr sz="1200">
                <a:solidFill>
                  <a:schemeClr val="tx1"/>
                </a:solidFill>
                <a:latin typeface="Times" panose="02020603050405020304" pitchFamily="18" charset="0"/>
              </a:defRPr>
            </a:lvl1pPr>
            <a:lvl2pPr marL="803275" indent="-307975" defTabSz="990600">
              <a:spcBef>
                <a:spcPct val="30000"/>
              </a:spcBef>
              <a:defRPr sz="1200">
                <a:solidFill>
                  <a:schemeClr val="tx1"/>
                </a:solidFill>
                <a:latin typeface="Times" panose="02020603050405020304" pitchFamily="18" charset="0"/>
              </a:defRPr>
            </a:lvl2pPr>
            <a:lvl3pPr marL="1236980" indent="-246380" defTabSz="990600">
              <a:spcBef>
                <a:spcPct val="30000"/>
              </a:spcBef>
              <a:defRPr sz="1200">
                <a:solidFill>
                  <a:schemeClr val="tx1"/>
                </a:solidFill>
                <a:latin typeface="Times" panose="02020603050405020304" pitchFamily="18" charset="0"/>
              </a:defRPr>
            </a:lvl3pPr>
            <a:lvl4pPr marL="1732280" indent="-246380" defTabSz="990600">
              <a:spcBef>
                <a:spcPct val="30000"/>
              </a:spcBef>
              <a:defRPr sz="1200">
                <a:solidFill>
                  <a:schemeClr val="tx1"/>
                </a:solidFill>
                <a:latin typeface="Times" panose="02020603050405020304" pitchFamily="18" charset="0"/>
              </a:defRPr>
            </a:lvl4pPr>
            <a:lvl5pPr marL="2227580" indent="-246380" defTabSz="990600">
              <a:spcBef>
                <a:spcPct val="30000"/>
              </a:spcBef>
              <a:defRPr sz="1200">
                <a:solidFill>
                  <a:schemeClr val="tx1"/>
                </a:solidFill>
                <a:latin typeface="Times" panose="02020603050405020304" pitchFamily="18" charset="0"/>
              </a:defRPr>
            </a:lvl5pPr>
            <a:lvl6pPr marL="2684780" indent="-246380" defTabSz="990600" eaLnBrk="0" fontAlgn="base" hangingPunct="0">
              <a:spcBef>
                <a:spcPct val="30000"/>
              </a:spcBef>
              <a:spcAft>
                <a:spcPct val="0"/>
              </a:spcAft>
              <a:defRPr sz="1200">
                <a:solidFill>
                  <a:schemeClr val="tx1"/>
                </a:solidFill>
                <a:latin typeface="Times" panose="02020603050405020304" pitchFamily="18" charset="0"/>
              </a:defRPr>
            </a:lvl6pPr>
            <a:lvl7pPr marL="3141980" indent="-246380" defTabSz="990600" eaLnBrk="0" fontAlgn="base" hangingPunct="0">
              <a:spcBef>
                <a:spcPct val="30000"/>
              </a:spcBef>
              <a:spcAft>
                <a:spcPct val="0"/>
              </a:spcAft>
              <a:defRPr sz="1200">
                <a:solidFill>
                  <a:schemeClr val="tx1"/>
                </a:solidFill>
                <a:latin typeface="Times" panose="02020603050405020304" pitchFamily="18" charset="0"/>
              </a:defRPr>
            </a:lvl7pPr>
            <a:lvl8pPr marL="3599180" indent="-246380" defTabSz="990600" eaLnBrk="0" fontAlgn="base" hangingPunct="0">
              <a:spcBef>
                <a:spcPct val="30000"/>
              </a:spcBef>
              <a:spcAft>
                <a:spcPct val="0"/>
              </a:spcAft>
              <a:defRPr sz="1200">
                <a:solidFill>
                  <a:schemeClr val="tx1"/>
                </a:solidFill>
                <a:latin typeface="Times" panose="02020603050405020304" pitchFamily="18" charset="0"/>
              </a:defRPr>
            </a:lvl8pPr>
            <a:lvl9pPr marL="4056380" indent="-246380" defTabSz="990600" eaLnBrk="0" fontAlgn="base" hangingPunct="0">
              <a:spcBef>
                <a:spcPct val="30000"/>
              </a:spcBef>
              <a:spcAft>
                <a:spcPct val="0"/>
              </a:spcAft>
              <a:defRPr sz="1200">
                <a:solidFill>
                  <a:schemeClr val="tx1"/>
                </a:solidFill>
                <a:latin typeface="Times" panose="02020603050405020304" pitchFamily="18" charset="0"/>
              </a:defRPr>
            </a:lvl9pPr>
          </a:lstStyle>
          <a:p>
            <a:pPr>
              <a:spcBef>
                <a:spcPct val="0"/>
              </a:spcBef>
            </a:pPr>
            <a:fld id="{461D9277-F9F1-4B6F-8ED9-A188FFD9F94A}" type="slidenum">
              <a:rPr lang="zh-CN" altLang="en-AU" sz="1300" smtClean="0">
                <a:latin typeface="Times New Roman" panose="02020603050405020304" charset="0"/>
              </a:rPr>
            </a:fld>
            <a:endParaRPr lang="en-AU" altLang="zh-CN" sz="1300" smtClean="0">
              <a:latin typeface="Times New Roman" panose="0202060305040502030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Arial" panose="020B0604020202020204" pitchFamily="34" charset="0"/>
                <a:ea typeface="楷体_GB2312" charset="-122"/>
              </a:defRPr>
            </a:lvl1pPr>
            <a:lvl2pPr marL="742950" indent="-285750" defTabSz="990600">
              <a:defRPr sz="2400">
                <a:solidFill>
                  <a:schemeClr val="tx1"/>
                </a:solidFill>
                <a:latin typeface="Arial" panose="020B0604020202020204" pitchFamily="34" charset="0"/>
                <a:ea typeface="楷体_GB2312" charset="-122"/>
              </a:defRPr>
            </a:lvl2pPr>
            <a:lvl3pPr marL="1143000" indent="-228600" defTabSz="990600">
              <a:defRPr sz="2400">
                <a:solidFill>
                  <a:schemeClr val="tx1"/>
                </a:solidFill>
                <a:latin typeface="Arial" panose="020B0604020202020204" pitchFamily="34" charset="0"/>
                <a:ea typeface="楷体_GB2312" charset="-122"/>
              </a:defRPr>
            </a:lvl3pPr>
            <a:lvl4pPr marL="1600200" indent="-228600" defTabSz="990600">
              <a:defRPr sz="2400">
                <a:solidFill>
                  <a:schemeClr val="tx1"/>
                </a:solidFill>
                <a:latin typeface="Arial" panose="020B0604020202020204" pitchFamily="34" charset="0"/>
                <a:ea typeface="楷体_GB2312" charset="-122"/>
              </a:defRPr>
            </a:lvl4pPr>
            <a:lvl5pPr marL="2057400" indent="-228600" defTabSz="990600">
              <a:defRPr sz="2400">
                <a:solidFill>
                  <a:schemeClr val="tx1"/>
                </a:solidFill>
                <a:latin typeface="Arial" panose="020B0604020202020204" pitchFamily="34" charset="0"/>
                <a:ea typeface="楷体_GB2312" charset="-122"/>
              </a:defRPr>
            </a:lvl5pPr>
            <a:lvl6pPr marL="25146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defTabSz="990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fld id="{C9508845-3B6F-4E06-B9BE-6457D3846985}" type="slidenum">
              <a:rPr lang="zh-CN" altLang="en-US" sz="1300" smtClean="0">
                <a:latin typeface="Times" panose="02020603050405020304" pitchFamily="18" charset="0"/>
                <a:ea typeface="宋体" panose="02010600030101010101" pitchFamily="2" charset="-122"/>
              </a:rPr>
            </a:fld>
            <a:endParaRPr lang="en-US" altLang="zh-CN" sz="1300" smtClean="0">
              <a:latin typeface="Times" panose="02020603050405020304" pitchFamily="18" charset="0"/>
              <a:ea typeface="宋体" panose="02010600030101010101" pitchFamily="2" charset="-122"/>
            </a:endParaRPr>
          </a:p>
        </p:txBody>
      </p:sp>
      <p:sp>
        <p:nvSpPr>
          <p:cNvPr id="117763" name="Rectangle 2"/>
          <p:cNvSpPr>
            <a:spLocks noGrp="1" noRot="1" noChangeAspect="1" noChangeArrowheads="1" noTextEdit="1"/>
          </p:cNvSpPr>
          <p:nvPr>
            <p:ph type="sldImg"/>
          </p:nvPr>
        </p:nvSpPr>
        <p:spPr>
          <a:xfrm>
            <a:off x="992188" y="768350"/>
            <a:ext cx="5114925" cy="3836988"/>
          </a:xfrm>
        </p:spPr>
      </p:sp>
      <p:sp>
        <p:nvSpPr>
          <p:cNvPr id="11776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Times"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sp>
        <p:nvSpPr>
          <p:cNvPr id="4" name="Rectangle 4"/>
          <p:cNvSpPr>
            <a:spLocks noChangeArrowheads="1"/>
          </p:cNvSpPr>
          <p:nvPr userDrawn="1"/>
        </p:nvSpPr>
        <p:spPr bwMode="auto">
          <a:xfrm>
            <a:off x="4371975" y="0"/>
            <a:ext cx="184150" cy="457200"/>
          </a:xfrm>
          <a:prstGeom prst="rect">
            <a:avLst/>
          </a:prstGeom>
          <a:noFill/>
          <a:ln>
            <a:noFill/>
          </a:ln>
        </p:spPr>
        <p:txBody>
          <a:bodyPr wrap="none">
            <a:spAutoFit/>
          </a:bodyPr>
          <a:lstStyle>
            <a:lvl1pPr>
              <a:defRPr sz="2400">
                <a:solidFill>
                  <a:schemeClr val="tx1"/>
                </a:solidFill>
                <a:latin typeface="Arial" panose="020B0604020202020204" pitchFamily="34" charset="0"/>
                <a:ea typeface="楷体_GB2312" charset="-122"/>
              </a:defRPr>
            </a:lvl1pPr>
            <a:lvl2pPr marL="742950" indent="-285750">
              <a:defRPr sz="2400">
                <a:solidFill>
                  <a:schemeClr val="tx1"/>
                </a:solidFill>
                <a:latin typeface="Arial" panose="020B0604020202020204" pitchFamily="34" charset="0"/>
                <a:ea typeface="楷体_GB2312" charset="-122"/>
              </a:defRPr>
            </a:lvl2pPr>
            <a:lvl3pPr marL="1143000" indent="-228600">
              <a:defRPr sz="2400">
                <a:solidFill>
                  <a:schemeClr val="tx1"/>
                </a:solidFill>
                <a:latin typeface="Arial" panose="020B0604020202020204" pitchFamily="34" charset="0"/>
                <a:ea typeface="楷体_GB2312" charset="-122"/>
              </a:defRPr>
            </a:lvl3pPr>
            <a:lvl4pPr marL="1600200" indent="-228600">
              <a:defRPr sz="2400">
                <a:solidFill>
                  <a:schemeClr val="tx1"/>
                </a:solidFill>
                <a:latin typeface="Arial" panose="020B0604020202020204" pitchFamily="34" charset="0"/>
                <a:ea typeface="楷体_GB2312" charset="-122"/>
              </a:defRPr>
            </a:lvl4pPr>
            <a:lvl5pPr marL="2057400" indent="-228600">
              <a:defRPr sz="2400">
                <a:solidFill>
                  <a:schemeClr val="tx1"/>
                </a:solidFill>
                <a:latin typeface="Arial" panose="020B0604020202020204" pitchFamily="34" charset="0"/>
                <a:ea typeface="楷体_GB231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pPr>
              <a:defRPr/>
            </a:pPr>
            <a:endParaRPr lang="zh-CN" altLang="en-US">
              <a:latin typeface="Times"/>
              <a:ea typeface="宋体" panose="02010600030101010101" pitchFamily="2" charset="-122"/>
            </a:endParaRPr>
          </a:p>
        </p:txBody>
      </p:sp>
      <p:sp>
        <p:nvSpPr>
          <p:cNvPr id="5" name="Rectangle 5"/>
          <p:cNvSpPr>
            <a:spLocks noChangeArrowheads="1"/>
          </p:cNvSpPr>
          <p:nvPr userDrawn="1"/>
        </p:nvSpPr>
        <p:spPr bwMode="auto">
          <a:xfrm>
            <a:off x="0" y="6400800"/>
            <a:ext cx="9144000" cy="457200"/>
          </a:xfrm>
          <a:prstGeom prst="rect">
            <a:avLst/>
          </a:prstGeom>
          <a:solidFill>
            <a:srgbClr val="FF9900"/>
          </a:solidFill>
          <a:ln>
            <a:noFill/>
          </a:ln>
        </p:spPr>
        <p:txBody>
          <a:bodyPr>
            <a:spAutoFit/>
          </a:bodyPr>
          <a:lstStyle>
            <a:lvl1pPr>
              <a:defRPr sz="2400">
                <a:solidFill>
                  <a:schemeClr val="tx1"/>
                </a:solidFill>
                <a:latin typeface="Arial" panose="020B0604020202020204" pitchFamily="34" charset="0"/>
                <a:ea typeface="楷体_GB2312" charset="-122"/>
              </a:defRPr>
            </a:lvl1pPr>
            <a:lvl2pPr marL="742950" indent="-285750">
              <a:defRPr sz="2400">
                <a:solidFill>
                  <a:schemeClr val="tx1"/>
                </a:solidFill>
                <a:latin typeface="Arial" panose="020B0604020202020204" pitchFamily="34" charset="0"/>
                <a:ea typeface="楷体_GB2312" charset="-122"/>
              </a:defRPr>
            </a:lvl2pPr>
            <a:lvl3pPr marL="1143000" indent="-228600">
              <a:defRPr sz="2400">
                <a:solidFill>
                  <a:schemeClr val="tx1"/>
                </a:solidFill>
                <a:latin typeface="Arial" panose="020B0604020202020204" pitchFamily="34" charset="0"/>
                <a:ea typeface="楷体_GB2312" charset="-122"/>
              </a:defRPr>
            </a:lvl3pPr>
            <a:lvl4pPr marL="1600200" indent="-228600">
              <a:defRPr sz="2400">
                <a:solidFill>
                  <a:schemeClr val="tx1"/>
                </a:solidFill>
                <a:latin typeface="Arial" panose="020B0604020202020204" pitchFamily="34" charset="0"/>
                <a:ea typeface="楷体_GB2312" charset="-122"/>
              </a:defRPr>
            </a:lvl4pPr>
            <a:lvl5pPr marL="2057400" indent="-228600">
              <a:defRPr sz="2400">
                <a:solidFill>
                  <a:schemeClr val="tx1"/>
                </a:solidFill>
                <a:latin typeface="Arial" panose="020B0604020202020204" pitchFamily="34" charset="0"/>
                <a:ea typeface="楷体_GB231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pPr>
              <a:defRPr/>
            </a:pPr>
            <a:endParaRPr lang="zh-CN" altLang="en-US">
              <a:latin typeface="Times"/>
              <a:ea typeface="宋体" panose="02010600030101010101" pitchFamily="2" charset="-122"/>
            </a:endParaRPr>
          </a:p>
        </p:txBody>
      </p:sp>
      <p:sp>
        <p:nvSpPr>
          <p:cNvPr id="6" name="Rectangle 10"/>
          <p:cNvSpPr>
            <a:spLocks noChangeArrowheads="1"/>
          </p:cNvSpPr>
          <p:nvPr userDrawn="1"/>
        </p:nvSpPr>
        <p:spPr bwMode="auto">
          <a:xfrm>
            <a:off x="0" y="0"/>
            <a:ext cx="9144000" cy="725488"/>
          </a:xfrm>
          <a:prstGeom prst="rect">
            <a:avLst/>
          </a:prstGeom>
          <a:solidFill>
            <a:srgbClr val="990000"/>
          </a:solidFill>
          <a:ln w="9525">
            <a:solidFill>
              <a:srgbClr val="990000"/>
            </a:solidFill>
            <a:miter lim="800000"/>
          </a:ln>
        </p:spPr>
        <p:txBody>
          <a:bodyPr wrap="none" anchor="ctr"/>
          <a:lstStyle>
            <a:lvl1pPr>
              <a:defRPr sz="2400">
                <a:solidFill>
                  <a:schemeClr val="tx1"/>
                </a:solidFill>
                <a:latin typeface="Arial" panose="020B0604020202020204" pitchFamily="34" charset="0"/>
                <a:ea typeface="楷体_GB2312" charset="-122"/>
              </a:defRPr>
            </a:lvl1pPr>
            <a:lvl2pPr marL="742950" indent="-285750">
              <a:defRPr sz="2400">
                <a:solidFill>
                  <a:schemeClr val="tx1"/>
                </a:solidFill>
                <a:latin typeface="Arial" panose="020B0604020202020204" pitchFamily="34" charset="0"/>
                <a:ea typeface="楷体_GB2312" charset="-122"/>
              </a:defRPr>
            </a:lvl2pPr>
            <a:lvl3pPr marL="1143000" indent="-228600">
              <a:defRPr sz="2400">
                <a:solidFill>
                  <a:schemeClr val="tx1"/>
                </a:solidFill>
                <a:latin typeface="Arial" panose="020B0604020202020204" pitchFamily="34" charset="0"/>
                <a:ea typeface="楷体_GB2312" charset="-122"/>
              </a:defRPr>
            </a:lvl3pPr>
            <a:lvl4pPr marL="1600200" indent="-228600">
              <a:defRPr sz="2400">
                <a:solidFill>
                  <a:schemeClr val="tx1"/>
                </a:solidFill>
                <a:latin typeface="Arial" panose="020B0604020202020204" pitchFamily="34" charset="0"/>
                <a:ea typeface="楷体_GB2312" charset="-122"/>
              </a:defRPr>
            </a:lvl4pPr>
            <a:lvl5pPr marL="2057400" indent="-228600">
              <a:defRPr sz="2400">
                <a:solidFill>
                  <a:schemeClr val="tx1"/>
                </a:solidFill>
                <a:latin typeface="Arial" panose="020B0604020202020204" pitchFamily="34" charset="0"/>
                <a:ea typeface="楷体_GB231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pPr>
              <a:defRPr/>
            </a:pPr>
            <a:endParaRPr lang="zh-CN" altLang="en-US"/>
          </a:p>
        </p:txBody>
      </p:sp>
      <p:sp>
        <p:nvSpPr>
          <p:cNvPr id="7" name="Rectangle 14"/>
          <p:cNvSpPr>
            <a:spLocks noChangeArrowheads="1"/>
          </p:cNvSpPr>
          <p:nvPr userDrawn="1"/>
        </p:nvSpPr>
        <p:spPr bwMode="auto">
          <a:xfrm>
            <a:off x="0" y="6400800"/>
            <a:ext cx="9144000" cy="457200"/>
          </a:xfrm>
          <a:prstGeom prst="rect">
            <a:avLst/>
          </a:prstGeom>
          <a:solidFill>
            <a:srgbClr val="800000"/>
          </a:solidFill>
          <a:ln>
            <a:noFill/>
          </a:ln>
        </p:spPr>
        <p:txBody>
          <a:bodyPr>
            <a:spAutoFit/>
          </a:bodyPr>
          <a:lstStyle>
            <a:lvl1pPr>
              <a:defRPr sz="2400">
                <a:solidFill>
                  <a:schemeClr val="tx1"/>
                </a:solidFill>
                <a:latin typeface="Arial" panose="020B0604020202020204" pitchFamily="34" charset="0"/>
                <a:ea typeface="楷体_GB2312" charset="-122"/>
              </a:defRPr>
            </a:lvl1pPr>
            <a:lvl2pPr marL="742950" indent="-285750">
              <a:defRPr sz="2400">
                <a:solidFill>
                  <a:schemeClr val="tx1"/>
                </a:solidFill>
                <a:latin typeface="Arial" panose="020B0604020202020204" pitchFamily="34" charset="0"/>
                <a:ea typeface="楷体_GB2312" charset="-122"/>
              </a:defRPr>
            </a:lvl2pPr>
            <a:lvl3pPr marL="1143000" indent="-228600">
              <a:defRPr sz="2400">
                <a:solidFill>
                  <a:schemeClr val="tx1"/>
                </a:solidFill>
                <a:latin typeface="Arial" panose="020B0604020202020204" pitchFamily="34" charset="0"/>
                <a:ea typeface="楷体_GB2312" charset="-122"/>
              </a:defRPr>
            </a:lvl3pPr>
            <a:lvl4pPr marL="1600200" indent="-228600">
              <a:defRPr sz="2400">
                <a:solidFill>
                  <a:schemeClr val="tx1"/>
                </a:solidFill>
                <a:latin typeface="Arial" panose="020B0604020202020204" pitchFamily="34" charset="0"/>
                <a:ea typeface="楷体_GB2312" charset="-122"/>
              </a:defRPr>
            </a:lvl4pPr>
            <a:lvl5pPr marL="2057400" indent="-228600">
              <a:defRPr sz="2400">
                <a:solidFill>
                  <a:schemeClr val="tx1"/>
                </a:solidFill>
                <a:latin typeface="Arial" panose="020B0604020202020204" pitchFamily="34" charset="0"/>
                <a:ea typeface="楷体_GB231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pPr>
              <a:defRPr/>
            </a:pPr>
            <a:endParaRPr lang="zh-CN" altLang="en-US">
              <a:latin typeface="Times"/>
              <a:ea typeface="宋体" panose="02010600030101010101" pitchFamily="2" charset="-122"/>
            </a:endParaRPr>
          </a:p>
        </p:txBody>
      </p:sp>
      <p:sp>
        <p:nvSpPr>
          <p:cNvPr id="3074" name="Rectangle 2"/>
          <p:cNvSpPr>
            <a:spLocks noGrp="1" noChangeArrowheads="1"/>
          </p:cNvSpPr>
          <p:nvPr>
            <p:ph type="ctrTitle"/>
          </p:nvPr>
        </p:nvSpPr>
        <p:spPr>
          <a:xfrm>
            <a:off x="685800" y="2286000"/>
            <a:ext cx="7772400" cy="1143000"/>
          </a:xfrm>
        </p:spPr>
        <p:txBody>
          <a:bodyPr/>
          <a:lstStyle>
            <a:lvl1pPr algn="ctr">
              <a:defRPr/>
            </a:lvl1pPr>
          </a:lstStyle>
          <a:p>
            <a:r>
              <a:rPr lang="en-US" altLang="zh-CN"/>
              <a:t>Click to edit Master title style</a:t>
            </a:r>
            <a:endParaRPr lang="en-US" altLang="zh-CN"/>
          </a:p>
        </p:txBody>
      </p:sp>
      <p:sp>
        <p:nvSpPr>
          <p:cNvPr id="3075" name="Rectangle 3"/>
          <p:cNvSpPr>
            <a:spLocks noGrp="1" noChangeArrowheads="1"/>
          </p:cNvSpPr>
          <p:nvPr>
            <p:ph type="subTitle" idx="1"/>
          </p:nvPr>
        </p:nvSpPr>
        <p:spPr>
          <a:xfrm>
            <a:off x="1371600" y="3886200"/>
            <a:ext cx="6400800" cy="1752600"/>
          </a:xfrm>
          <a:ln>
            <a:solidFill>
              <a:schemeClr val="bg2"/>
            </a:solidFill>
          </a:ln>
        </p:spPr>
        <p:txBody>
          <a:bodyPr/>
          <a:lstStyle>
            <a:lvl1pPr marL="0" indent="0" algn="ctr">
              <a:buFontTx/>
              <a:buNone/>
              <a:defRPr/>
            </a:lvl1pPr>
          </a:lstStyle>
          <a:p>
            <a:r>
              <a:rPr lang="en-US" altLang="zh-CN"/>
              <a:t>Click to edit Master subtitle style</a:t>
            </a:r>
            <a:endParaRPr lang="en-US" alt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346200"/>
            <a:ext cx="449580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858000" y="12700"/>
            <a:ext cx="2286000" cy="6540500"/>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12700"/>
            <a:ext cx="6705600" cy="6540500"/>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0" y="12700"/>
            <a:ext cx="8461375" cy="1181100"/>
          </a:xfrm>
        </p:spPr>
        <p:txBody>
          <a:bodyPr/>
          <a:lstStyle/>
          <a:p>
            <a:r>
              <a:rPr lang="zh-CN" altLang="en-US"/>
              <a:t>单击此处编辑母版标题样式</a:t>
            </a:r>
            <a:endParaRPr lang="zh-CN" altLang="en-US"/>
          </a:p>
        </p:txBody>
      </p:sp>
      <p:sp>
        <p:nvSpPr>
          <p:cNvPr id="3" name="表格占位符 2"/>
          <p:cNvSpPr>
            <a:spLocks noGrp="1"/>
          </p:cNvSpPr>
          <p:nvPr>
            <p:ph type="tbl" idx="1"/>
          </p:nvPr>
        </p:nvSpPr>
        <p:spPr>
          <a:xfrm>
            <a:off x="0" y="1346200"/>
            <a:ext cx="9144000" cy="5207000"/>
          </a:xfrm>
        </p:spPr>
        <p:txBody>
          <a:bodyPr/>
          <a:lstStyle/>
          <a:p>
            <a:pPr lvl="0"/>
            <a:endParaRPr lang="zh-CN" altLang="en-US" noProof="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p:txBody>
          <a:bodyPr lIns="0" tIns="0" rIns="0" bIns="0"/>
          <a:lstStyle>
            <a:lvl1pPr>
              <a:defRPr sz="3300" b="1" i="0">
                <a:solidFill>
                  <a:schemeClr val="tx1"/>
                </a:solidFill>
                <a:latin typeface="微软雅黑" panose="020B0503020204020204" charset="-122"/>
                <a:cs typeface="微软雅黑" panose="020B0503020204020204" charset="-122"/>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
        <p:nvSpPr>
          <p:cNvPr id="7" name="标题 6"/>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body" idx="1"/>
          </p:nvPr>
        </p:nvSpPr>
        <p:spPr bwMode="auto">
          <a:xfrm>
            <a:off x="0" y="1346200"/>
            <a:ext cx="9144000" cy="5207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zh-CN" smtClean="0"/>
              <a:t>Click to edit Master text styles</a:t>
            </a:r>
            <a:endParaRPr lang="en-US" altLang="zh-CN" smtClean="0"/>
          </a:p>
          <a:p>
            <a:pPr lvl="1"/>
            <a:r>
              <a:rPr lang="en-US" altLang="zh-CN" smtClean="0"/>
              <a:t>Second level</a:t>
            </a:r>
            <a:endParaRPr lang="en-US" altLang="zh-CN" smtClean="0"/>
          </a:p>
          <a:p>
            <a:pPr lvl="2"/>
            <a:r>
              <a:rPr lang="en-US" altLang="zh-CN" smtClean="0"/>
              <a:t>Third level</a:t>
            </a:r>
            <a:endParaRPr lang="en-US" altLang="zh-CN" smtClean="0"/>
          </a:p>
          <a:p>
            <a:pPr lvl="3"/>
            <a:r>
              <a:rPr lang="en-US" altLang="zh-CN" smtClean="0"/>
              <a:t>Fourth level</a:t>
            </a:r>
            <a:endParaRPr lang="en-US" altLang="zh-CN" smtClean="0"/>
          </a:p>
          <a:p>
            <a:pPr lvl="4"/>
            <a:r>
              <a:rPr lang="en-US" altLang="zh-CN" smtClean="0"/>
              <a:t>Fifth level</a:t>
            </a:r>
            <a:endParaRPr lang="en-US" altLang="zh-CN" smtClean="0"/>
          </a:p>
        </p:txBody>
      </p:sp>
      <p:sp>
        <p:nvSpPr>
          <p:cNvPr id="1027" name="Rectangle 7"/>
          <p:cNvSpPr>
            <a:spLocks noChangeArrowheads="1"/>
          </p:cNvSpPr>
          <p:nvPr userDrawn="1"/>
        </p:nvSpPr>
        <p:spPr bwMode="auto">
          <a:xfrm>
            <a:off x="4371975" y="0"/>
            <a:ext cx="184150" cy="457200"/>
          </a:xfrm>
          <a:prstGeom prst="rect">
            <a:avLst/>
          </a:prstGeom>
          <a:noFill/>
          <a:ln>
            <a:noFill/>
          </a:ln>
        </p:spPr>
        <p:txBody>
          <a:bodyPr wrap="none">
            <a:spAutoFit/>
          </a:bodyPr>
          <a:lstStyle>
            <a:lvl1pPr>
              <a:defRPr sz="2400">
                <a:solidFill>
                  <a:schemeClr val="tx1"/>
                </a:solidFill>
                <a:latin typeface="Arial" panose="020B0604020202020204" pitchFamily="34" charset="0"/>
                <a:ea typeface="楷体_GB2312" charset="-122"/>
              </a:defRPr>
            </a:lvl1pPr>
            <a:lvl2pPr marL="742950" indent="-285750">
              <a:defRPr sz="2400">
                <a:solidFill>
                  <a:schemeClr val="tx1"/>
                </a:solidFill>
                <a:latin typeface="Arial" panose="020B0604020202020204" pitchFamily="34" charset="0"/>
                <a:ea typeface="楷体_GB2312" charset="-122"/>
              </a:defRPr>
            </a:lvl2pPr>
            <a:lvl3pPr marL="1143000" indent="-228600">
              <a:defRPr sz="2400">
                <a:solidFill>
                  <a:schemeClr val="tx1"/>
                </a:solidFill>
                <a:latin typeface="Arial" panose="020B0604020202020204" pitchFamily="34" charset="0"/>
                <a:ea typeface="楷体_GB2312" charset="-122"/>
              </a:defRPr>
            </a:lvl3pPr>
            <a:lvl4pPr marL="1600200" indent="-228600">
              <a:defRPr sz="2400">
                <a:solidFill>
                  <a:schemeClr val="tx1"/>
                </a:solidFill>
                <a:latin typeface="Arial" panose="020B0604020202020204" pitchFamily="34" charset="0"/>
                <a:ea typeface="楷体_GB2312" charset="-122"/>
              </a:defRPr>
            </a:lvl4pPr>
            <a:lvl5pPr marL="2057400" indent="-228600">
              <a:defRPr sz="2400">
                <a:solidFill>
                  <a:schemeClr val="tx1"/>
                </a:solidFill>
                <a:latin typeface="Arial" panose="020B0604020202020204" pitchFamily="34" charset="0"/>
                <a:ea typeface="楷体_GB231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pPr>
              <a:defRPr/>
            </a:pPr>
            <a:endParaRPr lang="zh-CN" altLang="en-US">
              <a:latin typeface="Times"/>
              <a:ea typeface="宋体" panose="02010600030101010101" pitchFamily="2" charset="-122"/>
            </a:endParaRPr>
          </a:p>
        </p:txBody>
      </p:sp>
      <p:sp>
        <p:nvSpPr>
          <p:cNvPr id="1028" name="Rectangle 11"/>
          <p:cNvSpPr>
            <a:spLocks noChangeArrowheads="1"/>
          </p:cNvSpPr>
          <p:nvPr userDrawn="1"/>
        </p:nvSpPr>
        <p:spPr bwMode="auto">
          <a:xfrm>
            <a:off x="0" y="6400800"/>
            <a:ext cx="9144000" cy="457200"/>
          </a:xfrm>
          <a:prstGeom prst="rect">
            <a:avLst/>
          </a:prstGeom>
          <a:solidFill>
            <a:srgbClr val="800000"/>
          </a:solidFill>
          <a:ln>
            <a:noFill/>
          </a:ln>
        </p:spPr>
        <p:txBody>
          <a:bodyPr>
            <a:spAutoFit/>
          </a:bodyPr>
          <a:lstStyle>
            <a:lvl1pPr>
              <a:defRPr sz="2400">
                <a:solidFill>
                  <a:schemeClr val="tx1"/>
                </a:solidFill>
                <a:latin typeface="Arial" panose="020B0604020202020204" pitchFamily="34" charset="0"/>
                <a:ea typeface="楷体_GB2312" charset="-122"/>
              </a:defRPr>
            </a:lvl1pPr>
            <a:lvl2pPr marL="742950" indent="-285750">
              <a:defRPr sz="2400">
                <a:solidFill>
                  <a:schemeClr val="tx1"/>
                </a:solidFill>
                <a:latin typeface="Arial" panose="020B0604020202020204" pitchFamily="34" charset="0"/>
                <a:ea typeface="楷体_GB2312" charset="-122"/>
              </a:defRPr>
            </a:lvl2pPr>
            <a:lvl3pPr marL="1143000" indent="-228600">
              <a:defRPr sz="2400">
                <a:solidFill>
                  <a:schemeClr val="tx1"/>
                </a:solidFill>
                <a:latin typeface="Arial" panose="020B0604020202020204" pitchFamily="34" charset="0"/>
                <a:ea typeface="楷体_GB2312" charset="-122"/>
              </a:defRPr>
            </a:lvl3pPr>
            <a:lvl4pPr marL="1600200" indent="-228600">
              <a:defRPr sz="2400">
                <a:solidFill>
                  <a:schemeClr val="tx1"/>
                </a:solidFill>
                <a:latin typeface="Arial" panose="020B0604020202020204" pitchFamily="34" charset="0"/>
                <a:ea typeface="楷体_GB2312" charset="-122"/>
              </a:defRPr>
            </a:lvl4pPr>
            <a:lvl5pPr marL="2057400" indent="-228600">
              <a:defRPr sz="2400">
                <a:solidFill>
                  <a:schemeClr val="tx1"/>
                </a:solidFill>
                <a:latin typeface="Arial" panose="020B0604020202020204" pitchFamily="34" charset="0"/>
                <a:ea typeface="楷体_GB231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pPr>
              <a:defRPr/>
            </a:pPr>
            <a:endParaRPr lang="zh-CN" altLang="en-US">
              <a:latin typeface="Times"/>
              <a:ea typeface="宋体" panose="02010600030101010101" pitchFamily="2" charset="-122"/>
            </a:endParaRPr>
          </a:p>
        </p:txBody>
      </p:sp>
      <p:sp>
        <p:nvSpPr>
          <p:cNvPr id="1029" name="Rectangle 14"/>
          <p:cNvSpPr>
            <a:spLocks noChangeArrowheads="1"/>
          </p:cNvSpPr>
          <p:nvPr userDrawn="1"/>
        </p:nvSpPr>
        <p:spPr bwMode="auto">
          <a:xfrm>
            <a:off x="-12700" y="1193800"/>
            <a:ext cx="9144000" cy="152400"/>
          </a:xfrm>
          <a:prstGeom prst="rect">
            <a:avLst/>
          </a:prstGeom>
          <a:solidFill>
            <a:srgbClr val="800000"/>
          </a:solidFill>
          <a:ln w="9525">
            <a:solidFill>
              <a:srgbClr val="800000"/>
            </a:solidFill>
            <a:miter lim="800000"/>
          </a:ln>
        </p:spPr>
        <p:txBody>
          <a:bodyPr wrap="none" anchor="ctr"/>
          <a:lstStyle>
            <a:lvl1pPr>
              <a:defRPr sz="2400">
                <a:solidFill>
                  <a:schemeClr val="tx1"/>
                </a:solidFill>
                <a:latin typeface="Arial" panose="020B0604020202020204" pitchFamily="34" charset="0"/>
                <a:ea typeface="楷体_GB2312" charset="-122"/>
              </a:defRPr>
            </a:lvl1pPr>
            <a:lvl2pPr marL="742950" indent="-285750">
              <a:defRPr sz="2400">
                <a:solidFill>
                  <a:schemeClr val="tx1"/>
                </a:solidFill>
                <a:latin typeface="Arial" panose="020B0604020202020204" pitchFamily="34" charset="0"/>
                <a:ea typeface="楷体_GB2312" charset="-122"/>
              </a:defRPr>
            </a:lvl2pPr>
            <a:lvl3pPr marL="1143000" indent="-228600">
              <a:defRPr sz="2400">
                <a:solidFill>
                  <a:schemeClr val="tx1"/>
                </a:solidFill>
                <a:latin typeface="Arial" panose="020B0604020202020204" pitchFamily="34" charset="0"/>
                <a:ea typeface="楷体_GB2312" charset="-122"/>
              </a:defRPr>
            </a:lvl3pPr>
            <a:lvl4pPr marL="1600200" indent="-228600">
              <a:defRPr sz="2400">
                <a:solidFill>
                  <a:schemeClr val="tx1"/>
                </a:solidFill>
                <a:latin typeface="Arial" panose="020B0604020202020204" pitchFamily="34" charset="0"/>
                <a:ea typeface="楷体_GB2312" charset="-122"/>
              </a:defRPr>
            </a:lvl4pPr>
            <a:lvl5pPr marL="2057400" indent="-228600">
              <a:defRPr sz="2400">
                <a:solidFill>
                  <a:schemeClr val="tx1"/>
                </a:solidFill>
                <a:latin typeface="Arial" panose="020B0604020202020204" pitchFamily="34" charset="0"/>
                <a:ea typeface="楷体_GB231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pPr>
              <a:defRPr/>
            </a:pPr>
            <a:endParaRPr lang="zh-CN" altLang="en-US"/>
          </a:p>
        </p:txBody>
      </p:sp>
      <p:sp>
        <p:nvSpPr>
          <p:cNvPr id="1030" name="Rectangle 16"/>
          <p:cNvSpPr>
            <a:spLocks noChangeArrowheads="1"/>
          </p:cNvSpPr>
          <p:nvPr userDrawn="1"/>
        </p:nvSpPr>
        <p:spPr bwMode="auto">
          <a:xfrm>
            <a:off x="-15875" y="12700"/>
            <a:ext cx="9144000" cy="1193800"/>
          </a:xfrm>
          <a:prstGeom prst="rect">
            <a:avLst/>
          </a:prstGeom>
          <a:solidFill>
            <a:schemeClr val="tx1"/>
          </a:solidFill>
          <a:ln w="9525">
            <a:solidFill>
              <a:schemeClr val="tx1"/>
            </a:solidFill>
            <a:miter lim="800000"/>
          </a:ln>
        </p:spPr>
        <p:txBody>
          <a:bodyPr wrap="none" anchor="ctr"/>
          <a:lstStyle>
            <a:lvl1pPr>
              <a:defRPr sz="2400">
                <a:solidFill>
                  <a:schemeClr val="tx1"/>
                </a:solidFill>
                <a:latin typeface="Arial" panose="020B0604020202020204" pitchFamily="34" charset="0"/>
                <a:ea typeface="楷体_GB2312" charset="-122"/>
              </a:defRPr>
            </a:lvl1pPr>
            <a:lvl2pPr marL="742950" indent="-285750">
              <a:defRPr sz="2400">
                <a:solidFill>
                  <a:schemeClr val="tx1"/>
                </a:solidFill>
                <a:latin typeface="Arial" panose="020B0604020202020204" pitchFamily="34" charset="0"/>
                <a:ea typeface="楷体_GB2312" charset="-122"/>
              </a:defRPr>
            </a:lvl2pPr>
            <a:lvl3pPr marL="1143000" indent="-228600">
              <a:defRPr sz="2400">
                <a:solidFill>
                  <a:schemeClr val="tx1"/>
                </a:solidFill>
                <a:latin typeface="Arial" panose="020B0604020202020204" pitchFamily="34" charset="0"/>
                <a:ea typeface="楷体_GB2312" charset="-122"/>
              </a:defRPr>
            </a:lvl3pPr>
            <a:lvl4pPr marL="1600200" indent="-228600">
              <a:defRPr sz="2400">
                <a:solidFill>
                  <a:schemeClr val="tx1"/>
                </a:solidFill>
                <a:latin typeface="Arial" panose="020B0604020202020204" pitchFamily="34" charset="0"/>
                <a:ea typeface="楷体_GB2312" charset="-122"/>
              </a:defRPr>
            </a:lvl4pPr>
            <a:lvl5pPr marL="2057400" indent="-228600">
              <a:defRPr sz="2400">
                <a:solidFill>
                  <a:schemeClr val="tx1"/>
                </a:solidFill>
                <a:latin typeface="Arial" panose="020B0604020202020204" pitchFamily="34" charset="0"/>
                <a:ea typeface="楷体_GB231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楷体_GB2312" charset="-122"/>
              </a:defRPr>
            </a:lvl9pPr>
          </a:lstStyle>
          <a:p>
            <a:pPr>
              <a:defRPr/>
            </a:pPr>
            <a:endParaRPr lang="zh-CN" altLang="en-US"/>
          </a:p>
        </p:txBody>
      </p:sp>
      <p:sp>
        <p:nvSpPr>
          <p:cNvPr id="1031" name="Rectangle 2"/>
          <p:cNvSpPr>
            <a:spLocks noGrp="1" noChangeArrowheads="1"/>
          </p:cNvSpPr>
          <p:nvPr>
            <p:ph type="title"/>
          </p:nvPr>
        </p:nvSpPr>
        <p:spPr bwMode="auto">
          <a:xfrm>
            <a:off x="0" y="12700"/>
            <a:ext cx="8461375" cy="11811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zh-CN" smtClean="0"/>
              <a:t>Click to edit Master title style</a:t>
            </a:r>
            <a:endParaRPr lang="en-US" altLang="zh-CN" smtClean="0"/>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txStyles>
    <p:titleStyle>
      <a:lvl1pPr algn="l" rtl="0" eaLnBrk="0" fontAlgn="base" hangingPunct="0">
        <a:spcBef>
          <a:spcPct val="0"/>
        </a:spcBef>
        <a:spcAft>
          <a:spcPct val="0"/>
        </a:spcAft>
        <a:defRPr sz="4400" b="1">
          <a:solidFill>
            <a:srgbClr val="990000"/>
          </a:solidFill>
          <a:latin typeface="+mj-lt"/>
          <a:ea typeface="+mj-ea"/>
          <a:cs typeface="楷体_GB2312"/>
        </a:defRPr>
      </a:lvl1pPr>
      <a:lvl2pPr algn="l" rtl="0" eaLnBrk="0" fontAlgn="base" hangingPunct="0">
        <a:spcBef>
          <a:spcPct val="0"/>
        </a:spcBef>
        <a:spcAft>
          <a:spcPct val="0"/>
        </a:spcAft>
        <a:defRPr sz="4400" b="1">
          <a:solidFill>
            <a:srgbClr val="990000"/>
          </a:solidFill>
          <a:latin typeface="Arial" panose="020B0604020202020204" pitchFamily="34" charset="0"/>
          <a:ea typeface="楷体_GB2312" charset="-122"/>
          <a:cs typeface="楷体_GB2312"/>
        </a:defRPr>
      </a:lvl2pPr>
      <a:lvl3pPr algn="l" rtl="0" eaLnBrk="0" fontAlgn="base" hangingPunct="0">
        <a:spcBef>
          <a:spcPct val="0"/>
        </a:spcBef>
        <a:spcAft>
          <a:spcPct val="0"/>
        </a:spcAft>
        <a:defRPr sz="4400" b="1">
          <a:solidFill>
            <a:srgbClr val="990000"/>
          </a:solidFill>
          <a:latin typeface="Arial" panose="020B0604020202020204" pitchFamily="34" charset="0"/>
          <a:ea typeface="楷体_GB2312" charset="-122"/>
          <a:cs typeface="楷体_GB2312"/>
        </a:defRPr>
      </a:lvl3pPr>
      <a:lvl4pPr algn="l" rtl="0" eaLnBrk="0" fontAlgn="base" hangingPunct="0">
        <a:spcBef>
          <a:spcPct val="0"/>
        </a:spcBef>
        <a:spcAft>
          <a:spcPct val="0"/>
        </a:spcAft>
        <a:defRPr sz="4400" b="1">
          <a:solidFill>
            <a:srgbClr val="990000"/>
          </a:solidFill>
          <a:latin typeface="Arial" panose="020B0604020202020204" pitchFamily="34" charset="0"/>
          <a:ea typeface="楷体_GB2312" charset="-122"/>
          <a:cs typeface="楷体_GB2312"/>
        </a:defRPr>
      </a:lvl4pPr>
      <a:lvl5pPr algn="l" rtl="0" eaLnBrk="0" fontAlgn="base" hangingPunct="0">
        <a:spcBef>
          <a:spcPct val="0"/>
        </a:spcBef>
        <a:spcAft>
          <a:spcPct val="0"/>
        </a:spcAft>
        <a:defRPr sz="4400" b="1">
          <a:solidFill>
            <a:srgbClr val="990000"/>
          </a:solidFill>
          <a:latin typeface="Arial" panose="020B0604020202020204" pitchFamily="34" charset="0"/>
          <a:ea typeface="楷体_GB2312" charset="-122"/>
          <a:cs typeface="楷体_GB2312"/>
        </a:defRPr>
      </a:lvl5pPr>
      <a:lvl6pPr marL="457200" algn="l" rtl="0" fontAlgn="base">
        <a:spcBef>
          <a:spcPct val="0"/>
        </a:spcBef>
        <a:spcAft>
          <a:spcPct val="0"/>
        </a:spcAft>
        <a:defRPr sz="4400" b="1">
          <a:solidFill>
            <a:srgbClr val="990000"/>
          </a:solidFill>
          <a:latin typeface="Arial" panose="020B0604020202020204" pitchFamily="34" charset="0"/>
          <a:ea typeface="楷体_GB2312" charset="-122"/>
        </a:defRPr>
      </a:lvl6pPr>
      <a:lvl7pPr marL="914400" algn="l" rtl="0" fontAlgn="base">
        <a:spcBef>
          <a:spcPct val="0"/>
        </a:spcBef>
        <a:spcAft>
          <a:spcPct val="0"/>
        </a:spcAft>
        <a:defRPr sz="4400" b="1">
          <a:solidFill>
            <a:srgbClr val="990000"/>
          </a:solidFill>
          <a:latin typeface="Arial" panose="020B0604020202020204" pitchFamily="34" charset="0"/>
          <a:ea typeface="楷体_GB2312" charset="-122"/>
        </a:defRPr>
      </a:lvl7pPr>
      <a:lvl8pPr marL="1371600" algn="l" rtl="0" fontAlgn="base">
        <a:spcBef>
          <a:spcPct val="0"/>
        </a:spcBef>
        <a:spcAft>
          <a:spcPct val="0"/>
        </a:spcAft>
        <a:defRPr sz="4400" b="1">
          <a:solidFill>
            <a:srgbClr val="990000"/>
          </a:solidFill>
          <a:latin typeface="Arial" panose="020B0604020202020204" pitchFamily="34" charset="0"/>
          <a:ea typeface="楷体_GB2312" charset="-122"/>
        </a:defRPr>
      </a:lvl8pPr>
      <a:lvl9pPr marL="1828800" algn="l" rtl="0" fontAlgn="base">
        <a:spcBef>
          <a:spcPct val="0"/>
        </a:spcBef>
        <a:spcAft>
          <a:spcPct val="0"/>
        </a:spcAft>
        <a:defRPr sz="4400" b="1">
          <a:solidFill>
            <a:srgbClr val="990000"/>
          </a:solidFill>
          <a:latin typeface="Arial" panose="020B0604020202020204" pitchFamily="34" charset="0"/>
          <a:ea typeface="楷体_GB2312" charset="-122"/>
        </a:defRPr>
      </a:lvl9pPr>
    </p:titleStyle>
    <p:bodyStyle>
      <a:lvl1pPr marL="342900" indent="-342900" algn="l" rtl="0" eaLnBrk="0" fontAlgn="base" hangingPunct="0">
        <a:spcBef>
          <a:spcPct val="20000"/>
        </a:spcBef>
        <a:spcAft>
          <a:spcPct val="0"/>
        </a:spcAft>
        <a:buChar char="•"/>
        <a:defRPr sz="3600" b="1">
          <a:solidFill>
            <a:srgbClr val="000000"/>
          </a:solidFill>
          <a:latin typeface="+mn-lt"/>
          <a:ea typeface="+mn-ea"/>
          <a:cs typeface="楷体_GB2312"/>
        </a:defRPr>
      </a:lvl1pPr>
      <a:lvl2pPr marL="742950" indent="-285750" algn="l" rtl="0" eaLnBrk="0" fontAlgn="base" hangingPunct="0">
        <a:spcBef>
          <a:spcPct val="20000"/>
        </a:spcBef>
        <a:spcAft>
          <a:spcPct val="0"/>
        </a:spcAft>
        <a:buChar char="–"/>
        <a:defRPr sz="3200" b="1">
          <a:solidFill>
            <a:srgbClr val="000000"/>
          </a:solidFill>
          <a:latin typeface="+mn-lt"/>
          <a:ea typeface="+mn-ea"/>
          <a:cs typeface="楷体_GB2312"/>
        </a:defRPr>
      </a:lvl2pPr>
      <a:lvl3pPr marL="1143000" indent="-228600" algn="l" rtl="0" eaLnBrk="0" fontAlgn="base" hangingPunct="0">
        <a:spcBef>
          <a:spcPct val="20000"/>
        </a:spcBef>
        <a:spcAft>
          <a:spcPct val="0"/>
        </a:spcAft>
        <a:buChar char="•"/>
        <a:defRPr sz="2800" b="1">
          <a:solidFill>
            <a:srgbClr val="000000"/>
          </a:solidFill>
          <a:latin typeface="+mn-lt"/>
          <a:ea typeface="+mn-ea"/>
          <a:cs typeface="楷体_GB2312"/>
        </a:defRPr>
      </a:lvl3pPr>
      <a:lvl4pPr marL="1600200" indent="-228600" algn="l" rtl="0" eaLnBrk="0" fontAlgn="base" hangingPunct="0">
        <a:spcBef>
          <a:spcPct val="20000"/>
        </a:spcBef>
        <a:spcAft>
          <a:spcPct val="0"/>
        </a:spcAft>
        <a:buChar char="–"/>
        <a:defRPr sz="2000" b="1">
          <a:solidFill>
            <a:srgbClr val="000000"/>
          </a:solidFill>
          <a:latin typeface="+mn-lt"/>
          <a:ea typeface="+mn-ea"/>
          <a:cs typeface="楷体_GB2312"/>
        </a:defRPr>
      </a:lvl4pPr>
      <a:lvl5pPr marL="2057400" indent="-228600" algn="l" rtl="0" eaLnBrk="0" fontAlgn="base" hangingPunct="0">
        <a:spcBef>
          <a:spcPct val="20000"/>
        </a:spcBef>
        <a:spcAft>
          <a:spcPct val="0"/>
        </a:spcAft>
        <a:buChar char="»"/>
        <a:defRPr sz="2000" b="1">
          <a:solidFill>
            <a:srgbClr val="000000"/>
          </a:solidFill>
          <a:latin typeface="+mn-lt"/>
          <a:ea typeface="+mn-ea"/>
          <a:cs typeface="楷体_GB2312"/>
        </a:defRPr>
      </a:lvl5pPr>
      <a:lvl6pPr marL="2514600" indent="-228600" algn="l" rtl="0" fontAlgn="base">
        <a:spcBef>
          <a:spcPct val="20000"/>
        </a:spcBef>
        <a:spcAft>
          <a:spcPct val="0"/>
        </a:spcAft>
        <a:buChar char="»"/>
        <a:defRPr sz="2000" b="1">
          <a:solidFill>
            <a:srgbClr val="000000"/>
          </a:solidFill>
          <a:latin typeface="+mn-lt"/>
          <a:ea typeface="+mn-ea"/>
        </a:defRPr>
      </a:lvl6pPr>
      <a:lvl7pPr marL="2971800" indent="-228600" algn="l" rtl="0" fontAlgn="base">
        <a:spcBef>
          <a:spcPct val="20000"/>
        </a:spcBef>
        <a:spcAft>
          <a:spcPct val="0"/>
        </a:spcAft>
        <a:buChar char="»"/>
        <a:defRPr sz="2000" b="1">
          <a:solidFill>
            <a:srgbClr val="000000"/>
          </a:solidFill>
          <a:latin typeface="+mn-lt"/>
          <a:ea typeface="+mn-ea"/>
        </a:defRPr>
      </a:lvl7pPr>
      <a:lvl8pPr marL="3429000" indent="-228600" algn="l" rtl="0" fontAlgn="base">
        <a:spcBef>
          <a:spcPct val="20000"/>
        </a:spcBef>
        <a:spcAft>
          <a:spcPct val="0"/>
        </a:spcAft>
        <a:buChar char="»"/>
        <a:defRPr sz="2000" b="1">
          <a:solidFill>
            <a:srgbClr val="000000"/>
          </a:solidFill>
          <a:latin typeface="+mn-lt"/>
          <a:ea typeface="+mn-ea"/>
        </a:defRPr>
      </a:lvl8pPr>
      <a:lvl9pPr marL="3886200" indent="-228600" algn="l" rtl="0" fontAlgn="base">
        <a:spcBef>
          <a:spcPct val="20000"/>
        </a:spcBef>
        <a:spcAft>
          <a:spcPct val="0"/>
        </a:spcAft>
        <a:buChar char="»"/>
        <a:defRPr sz="2000" b="1">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1.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20.png"/><Relationship Id="rId2" Type="http://schemas.microsoft.com/office/2007/relationships/media" Target="../media/media1.mp4"/><Relationship Id="rId1" Type="http://schemas.openxmlformats.org/officeDocument/2006/relationships/video" Target="../media/media1.mp4"/></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7.jpeg"/><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image" Target="../media/image24.jpe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9.png"/><Relationship Id="rId2" Type="http://schemas.microsoft.com/office/2007/relationships/media" Target="../media/media2.mp4"/><Relationship Id="rId1" Type="http://schemas.openxmlformats.org/officeDocument/2006/relationships/video" Target="../media/media2.mp4"/></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33.wmf"/><Relationship Id="rId1" Type="http://schemas.openxmlformats.org/officeDocument/2006/relationships/oleObject" Target="../embeddings/oleObject2.bin"/></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4.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5.jpeg"/></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9.jpe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41.jpeg"/></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42.jpe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43.jpe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44.png"/></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jpeg"/><Relationship Id="rId1" Type="http://schemas.openxmlformats.org/officeDocument/2006/relationships/image" Target="../media/image45.jpeg"/></Relationships>
</file>

<file path=ppt/slides/_rels/slide86.xml.rels><?xml version="1.0" encoding="UTF-8" standalone="yes"?>
<Relationships xmlns="http://schemas.openxmlformats.org/package/2006/relationships"><Relationship Id="rId5" Type="http://schemas.openxmlformats.org/officeDocument/2006/relationships/notesSlide" Target="../notesSlides/notesSlide28.xml"/><Relationship Id="rId4" Type="http://schemas.openxmlformats.org/officeDocument/2006/relationships/slideLayout" Target="../slideLayouts/slideLayout7.xml"/><Relationship Id="rId3" Type="http://schemas.openxmlformats.org/officeDocument/2006/relationships/image" Target="../media/image49.jpeg"/><Relationship Id="rId2" Type="http://schemas.openxmlformats.org/officeDocument/2006/relationships/image" Target="../media/image48.jpeg"/><Relationship Id="rId1" Type="http://schemas.openxmlformats.org/officeDocument/2006/relationships/image" Target="../media/image47.jpe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7.xml"/><Relationship Id="rId1" Type="http://schemas.openxmlformats.org/officeDocument/2006/relationships/image" Target="../media/image50.png"/></Relationships>
</file>

<file path=ppt/slides/_rels/slide8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1.jpeg"/></Relationships>
</file>

<file path=ppt/slides/_rels/slide89.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7.xml"/><Relationship Id="rId1" Type="http://schemas.openxmlformats.org/officeDocument/2006/relationships/image" Target="../media/image52.jpe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3.jpeg"/></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4.jpe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jpeg"/><Relationship Id="rId1" Type="http://schemas.openxmlformats.org/officeDocument/2006/relationships/image" Target="../media/image45.jpe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5.jpeg"/><Relationship Id="rId1" Type="http://schemas.openxmlformats.org/officeDocument/2006/relationships/hyperlink" Target="http://www.eurotunnelgroup.com/uploadedFiles/assets-uk/the-channel-tunnel/IllustrationUK2012.pdf" TargetMode="External"/></Relationships>
</file>

<file path=ppt/slides/_rels/slide94.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2.xml"/><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image" Target="../media/image56.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62.png"/><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image" Target="../media/image59.png"/></Relationships>
</file>

<file path=ppt/slides/_rels/slide9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3.jpeg"/></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5" Type="http://schemas.openxmlformats.org/officeDocument/2006/relationships/notesSlide" Target="../notesSlides/notesSlide32.xml"/><Relationship Id="rId4" Type="http://schemas.openxmlformats.org/officeDocument/2006/relationships/slideLayout" Target="../slideLayouts/slideLayout7.xml"/><Relationship Id="rId3" Type="http://schemas.openxmlformats.org/officeDocument/2006/relationships/image" Target="../media/image67.jpeg"/><Relationship Id="rId2" Type="http://schemas.openxmlformats.org/officeDocument/2006/relationships/image" Target="../media/image66.jpeg"/><Relationship Id="rId1" Type="http://schemas.openxmlformats.org/officeDocument/2006/relationships/image" Target="../media/image65.jpe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9.jpeg"/><Relationship Id="rId1" Type="http://schemas.openxmlformats.org/officeDocument/2006/relationships/image" Target="../media/image68.jpe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0.jpe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2.png"/><Relationship Id="rId1" Type="http://schemas.openxmlformats.org/officeDocument/2006/relationships/image" Target="../media/image71.jpe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3.bin"/></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73.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0" y="798513"/>
            <a:ext cx="9186863" cy="3163887"/>
          </a:xfrm>
          <a:noFill/>
          <a:extLst>
            <a:ext uri="{909E8E84-426E-40DD-AFC4-6F175D3DCCD1}">
              <a14:hiddenFill xmlns:a14="http://schemas.microsoft.com/office/drawing/2010/main">
                <a:solidFill>
                  <a:schemeClr val="tx2"/>
                </a:solidFill>
              </a14:hiddenFill>
            </a:ext>
          </a:extLst>
        </p:spPr>
        <p:txBody>
          <a:bodyPr/>
          <a:lstStyle/>
          <a:p>
            <a:pPr eaLnBrk="1" hangingPunct="1"/>
            <a:r>
              <a:rPr lang="zh-CN" altLang="en-US" sz="7200" dirty="0" smtClean="0">
                <a:solidFill>
                  <a:srgbClr val="000000"/>
                </a:solidFill>
              </a:rPr>
              <a:t>工程经济学</a:t>
            </a:r>
            <a:br>
              <a:rPr lang="zh-CN" altLang="en-US" sz="6600" dirty="0" smtClean="0">
                <a:solidFill>
                  <a:srgbClr val="000000"/>
                </a:solidFill>
              </a:rPr>
            </a:br>
            <a:br>
              <a:rPr lang="zh-CN" altLang="en-US" dirty="0" smtClean="0">
                <a:solidFill>
                  <a:srgbClr val="000000"/>
                </a:solidFill>
              </a:rPr>
            </a:br>
            <a:r>
              <a:rPr lang="zh-CN" altLang="en-US" sz="6000" dirty="0" smtClean="0"/>
              <a:t>绪论</a:t>
            </a:r>
            <a:endParaRPr lang="zh-CN" altLang="en-US" sz="6000" dirty="0" smtClean="0"/>
          </a:p>
        </p:txBody>
      </p:sp>
      <p:sp>
        <p:nvSpPr>
          <p:cNvPr id="5123" name="Rectangle 3"/>
          <p:cNvSpPr>
            <a:spLocks noGrp="1" noChangeArrowheads="1"/>
          </p:cNvSpPr>
          <p:nvPr>
            <p:ph type="subTitle" idx="1"/>
          </p:nvPr>
        </p:nvSpPr>
        <p:spPr>
          <a:xfrm>
            <a:off x="725488" y="4368800"/>
            <a:ext cx="7634287" cy="1944688"/>
          </a:xfrm>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80000"/>
              </a:lnSpc>
            </a:pPr>
            <a:r>
              <a:rPr lang="en-US" altLang="zh-CN" sz="2400" b="0" dirty="0" smtClean="0"/>
              <a:t> </a:t>
            </a:r>
            <a:r>
              <a:rPr lang="zh-CN" altLang="en-US" dirty="0" smtClean="0">
                <a:solidFill>
                  <a:srgbClr val="990000"/>
                </a:solidFill>
              </a:rPr>
              <a:t>唐文哲  教授</a:t>
            </a:r>
            <a:endParaRPr lang="zh-CN" altLang="en-US" dirty="0" smtClean="0"/>
          </a:p>
          <a:p>
            <a:pPr eaLnBrk="1" hangingPunct="1">
              <a:lnSpc>
                <a:spcPct val="80000"/>
              </a:lnSpc>
            </a:pPr>
            <a:r>
              <a:rPr lang="zh-CN" altLang="en-US" dirty="0" smtClean="0"/>
              <a:t>清华大学土木水利学院</a:t>
            </a:r>
            <a:endParaRPr lang="zh-CN" altLang="en-US" dirty="0" smtClean="0"/>
          </a:p>
          <a:p>
            <a:pPr eaLnBrk="1" hangingPunct="1">
              <a:lnSpc>
                <a:spcPct val="80000"/>
              </a:lnSpc>
            </a:pPr>
            <a:r>
              <a:rPr lang="en-US" altLang="zh-CN" b="0" dirty="0" smtClean="0"/>
              <a:t>2023</a:t>
            </a:r>
            <a:r>
              <a:rPr lang="zh-CN" altLang="en-US" b="0" dirty="0" smtClean="0"/>
              <a:t>年</a:t>
            </a:r>
            <a:r>
              <a:rPr lang="en-US" altLang="zh-CN" b="0" dirty="0" smtClean="0"/>
              <a:t>9</a:t>
            </a:r>
            <a:r>
              <a:rPr lang="zh-CN" altLang="en-US" b="0" dirty="0" smtClean="0"/>
              <a:t>月</a:t>
            </a:r>
            <a:r>
              <a:rPr lang="en-US" altLang="zh-CN" b="0" dirty="0" smtClean="0"/>
              <a:t>21</a:t>
            </a:r>
            <a:r>
              <a:rPr lang="zh-CN" altLang="en-US" b="0" dirty="0" smtClean="0"/>
              <a:t>日</a:t>
            </a:r>
            <a:endParaRPr lang="zh-CN" altLang="en-US" b="0" dirty="0" smtClean="0"/>
          </a:p>
          <a:p>
            <a:pPr algn="l" eaLnBrk="1" hangingPunct="1">
              <a:lnSpc>
                <a:spcPct val="80000"/>
              </a:lnSpc>
            </a:pPr>
            <a:endParaRPr lang="zh-CN" altLang="en-US" b="0" dirty="0" smtClean="0"/>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eaLnBrk="1" hangingPunct="1"/>
            <a:r>
              <a:rPr lang="zh-CN" altLang="en-US" dirty="0" smtClean="0"/>
              <a:t>  联系方式</a:t>
            </a:r>
            <a:endParaRPr lang="zh-CN" altLang="en-US" dirty="0" smtClean="0"/>
          </a:p>
        </p:txBody>
      </p:sp>
      <p:sp>
        <p:nvSpPr>
          <p:cNvPr id="7171" name="Rectangle 3"/>
          <p:cNvSpPr>
            <a:spLocks noGrp="1" noChangeArrowheads="1"/>
          </p:cNvSpPr>
          <p:nvPr>
            <p:ph type="body" idx="1"/>
          </p:nvPr>
        </p:nvSpPr>
        <p:spPr>
          <a:xfrm>
            <a:off x="0" y="1346200"/>
            <a:ext cx="9144000" cy="5091113"/>
          </a:xfrm>
        </p:spPr>
        <p:txBody>
          <a:bodyPr/>
          <a:lstStyle/>
          <a:p>
            <a:pPr eaLnBrk="1" hangingPunct="1">
              <a:lnSpc>
                <a:spcPct val="90000"/>
              </a:lnSpc>
              <a:defRPr/>
            </a:pPr>
            <a:r>
              <a:rPr lang="zh-CN" altLang="en-US" sz="2800" dirty="0">
                <a:solidFill>
                  <a:srgbClr val="990000"/>
                </a:solidFill>
              </a:rPr>
              <a:t>唐文哲</a:t>
            </a:r>
            <a:endParaRPr lang="zh-CN" altLang="en-US" sz="2800" dirty="0">
              <a:solidFill>
                <a:srgbClr val="990000"/>
              </a:solidFill>
            </a:endParaRPr>
          </a:p>
          <a:p>
            <a:pPr lvl="1" eaLnBrk="1" hangingPunct="1">
              <a:lnSpc>
                <a:spcPct val="90000"/>
              </a:lnSpc>
              <a:defRPr/>
            </a:pPr>
            <a:r>
              <a:rPr lang="zh-CN" altLang="en-US" sz="2400" dirty="0"/>
              <a:t>清华大学土木水利学院</a:t>
            </a:r>
            <a:endParaRPr lang="zh-CN" altLang="en-US" sz="2400" dirty="0"/>
          </a:p>
          <a:p>
            <a:pPr lvl="1" eaLnBrk="1" hangingPunct="1">
              <a:lnSpc>
                <a:spcPct val="90000"/>
              </a:lnSpc>
              <a:defRPr/>
            </a:pPr>
            <a:r>
              <a:rPr lang="zh-CN" altLang="en-US" sz="2400" dirty="0"/>
              <a:t>地址</a:t>
            </a:r>
            <a:r>
              <a:rPr lang="en-US" altLang="zh-CN" sz="2400" dirty="0"/>
              <a:t>:</a:t>
            </a:r>
            <a:r>
              <a:rPr lang="zh-CN" altLang="en-US" sz="2400" dirty="0"/>
              <a:t>清华大学新水</a:t>
            </a:r>
            <a:r>
              <a:rPr lang="en-US" altLang="zh-CN" sz="2400" dirty="0"/>
              <a:t>208</a:t>
            </a:r>
            <a:endParaRPr lang="en-US" altLang="zh-CN" sz="2400" dirty="0"/>
          </a:p>
          <a:p>
            <a:pPr lvl="1" eaLnBrk="1" hangingPunct="1">
              <a:lnSpc>
                <a:spcPct val="90000"/>
              </a:lnSpc>
              <a:defRPr/>
            </a:pPr>
            <a:r>
              <a:rPr lang="zh-CN" altLang="en-US" sz="2400" dirty="0"/>
              <a:t>电话</a:t>
            </a:r>
            <a:r>
              <a:rPr lang="en-US" altLang="zh-CN" sz="2400" dirty="0"/>
              <a:t>: 62794324, 13718052768</a:t>
            </a:r>
            <a:r>
              <a:rPr lang="zh-CN" altLang="en-US" sz="2400" dirty="0"/>
              <a:t> </a:t>
            </a:r>
            <a:endParaRPr lang="zh-CN" altLang="en-US" sz="2400" dirty="0"/>
          </a:p>
          <a:p>
            <a:pPr lvl="1" eaLnBrk="1" hangingPunct="1">
              <a:lnSpc>
                <a:spcPct val="90000"/>
              </a:lnSpc>
              <a:defRPr/>
            </a:pPr>
            <a:r>
              <a:rPr lang="en-US" altLang="zh-CN" sz="2400" dirty="0"/>
              <a:t>Email: </a:t>
            </a:r>
            <a:r>
              <a:rPr lang="en-US" altLang="zh-CN" sz="2400" b="0" dirty="0"/>
              <a:t>twz@tsinghua.edu.cn</a:t>
            </a:r>
            <a:endParaRPr lang="en-US" altLang="zh-CN" sz="2400" b="0" dirty="0"/>
          </a:p>
          <a:p>
            <a:pPr lvl="1" eaLnBrk="1" hangingPunct="1">
              <a:lnSpc>
                <a:spcPct val="90000"/>
              </a:lnSpc>
              <a:defRPr/>
            </a:pPr>
            <a:endParaRPr lang="en-US" altLang="zh-CN" sz="2000" b="0" dirty="0"/>
          </a:p>
          <a:p>
            <a:pPr marL="342900" lvl="1" indent="-342900" eaLnBrk="1" hangingPunct="1">
              <a:lnSpc>
                <a:spcPct val="90000"/>
              </a:lnSpc>
              <a:buFontTx/>
              <a:buChar char="•"/>
              <a:defRPr/>
            </a:pPr>
            <a:r>
              <a:rPr lang="zh-CN" altLang="en-US" sz="2800" dirty="0">
                <a:solidFill>
                  <a:srgbClr val="990000"/>
                </a:solidFill>
              </a:rPr>
              <a:t>助教</a:t>
            </a:r>
            <a:r>
              <a:rPr lang="zh-CN" altLang="en-US" sz="2800" dirty="0" smtClean="0">
                <a:solidFill>
                  <a:srgbClr val="990000"/>
                </a:solidFill>
              </a:rPr>
              <a:t>：王衡</a:t>
            </a:r>
            <a:endParaRPr lang="en-US" altLang="zh-CN" sz="2800" dirty="0">
              <a:solidFill>
                <a:srgbClr val="990000"/>
              </a:solidFill>
            </a:endParaRPr>
          </a:p>
          <a:p>
            <a:pPr lvl="1" eaLnBrk="1" hangingPunct="1">
              <a:lnSpc>
                <a:spcPct val="90000"/>
              </a:lnSpc>
              <a:defRPr/>
            </a:pPr>
            <a:r>
              <a:rPr lang="zh-CN" altLang="en-US" sz="2400" dirty="0"/>
              <a:t>清华大学水利系</a:t>
            </a:r>
            <a:endParaRPr lang="en-US" altLang="zh-CN" sz="2400" dirty="0"/>
          </a:p>
          <a:p>
            <a:pPr lvl="1" eaLnBrk="1" hangingPunct="1">
              <a:lnSpc>
                <a:spcPct val="90000"/>
              </a:lnSpc>
              <a:defRPr/>
            </a:pPr>
            <a:r>
              <a:rPr lang="zh-CN" altLang="en-US" sz="2400" dirty="0"/>
              <a:t>地址：</a:t>
            </a:r>
            <a:r>
              <a:rPr lang="zh-CN" altLang="en-US" sz="2400" dirty="0" smtClean="0"/>
              <a:t>清华大学新水利馆</a:t>
            </a:r>
            <a:r>
              <a:rPr lang="en-US" altLang="zh-CN" sz="2400" dirty="0" smtClean="0"/>
              <a:t>210</a:t>
            </a:r>
            <a:endParaRPr lang="en-US" altLang="zh-CN" sz="2400" dirty="0"/>
          </a:p>
          <a:p>
            <a:pPr lvl="1" eaLnBrk="1" hangingPunct="1">
              <a:lnSpc>
                <a:spcPct val="90000"/>
              </a:lnSpc>
              <a:defRPr/>
            </a:pPr>
            <a:r>
              <a:rPr lang="en-US" altLang="zh-CN" sz="2800" dirty="0" smtClean="0"/>
              <a:t>Email</a:t>
            </a:r>
            <a:r>
              <a:rPr lang="zh-CN" altLang="en-US" sz="2800" dirty="0" smtClean="0"/>
              <a:t>：</a:t>
            </a:r>
            <a:r>
              <a:rPr lang="en-US" altLang="zh-CN" sz="2800" b="0" dirty="0" smtClean="0">
                <a:solidFill>
                  <a:schemeClr val="bg2"/>
                </a:solidFill>
              </a:rPr>
              <a:t> wh23@mails.tsinghua.edu.cn</a:t>
            </a:r>
            <a:r>
              <a:rPr lang="zh-CN" altLang="en-US" sz="2800" dirty="0" smtClean="0"/>
              <a:t>；</a:t>
            </a:r>
            <a:endParaRPr lang="en-US" altLang="zh-CN" sz="2800" dirty="0" smtClean="0"/>
          </a:p>
          <a:p>
            <a:pPr lvl="1" eaLnBrk="1" hangingPunct="1">
              <a:lnSpc>
                <a:spcPct val="90000"/>
              </a:lnSpc>
              <a:defRPr/>
            </a:pPr>
            <a:r>
              <a:rPr lang="en-US" altLang="zh-CN" sz="2800" dirty="0" smtClean="0"/>
              <a:t>Tel</a:t>
            </a:r>
            <a:r>
              <a:rPr lang="zh-CN" altLang="en-US" sz="2800" dirty="0" smtClean="0"/>
              <a:t>：</a:t>
            </a:r>
            <a:r>
              <a:rPr lang="en-US" altLang="zh-CN" sz="2800" dirty="0" smtClean="0"/>
              <a:t>19826221490</a:t>
            </a:r>
            <a:endParaRPr lang="en-US" altLang="zh-CN" sz="2800" b="0" dirty="0"/>
          </a:p>
          <a:p>
            <a:pPr marL="342900" lvl="1" indent="-342900" eaLnBrk="1" hangingPunct="1">
              <a:lnSpc>
                <a:spcPct val="90000"/>
              </a:lnSpc>
              <a:buFontTx/>
              <a:buChar char="•"/>
              <a:defRPr/>
            </a:pPr>
            <a:endParaRPr lang="en-US" altLang="zh-CN" dirty="0">
              <a:solidFill>
                <a:srgbClr val="990000"/>
              </a:solidFill>
            </a:endParaRP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0" y="217488"/>
            <a:ext cx="8461375" cy="973137"/>
          </a:xfrm>
        </p:spPr>
        <p:txBody>
          <a:bodyPr/>
          <a:lstStyle/>
          <a:p>
            <a:pPr eaLnBrk="1" hangingPunct="1"/>
            <a:r>
              <a:rPr lang="zh-CN" altLang="en-US" smtClean="0"/>
              <a:t>本讲的内容</a:t>
            </a:r>
            <a:endParaRPr lang="zh-CN" altLang="en-US" smtClean="0"/>
          </a:p>
        </p:txBody>
      </p:sp>
      <p:sp>
        <p:nvSpPr>
          <p:cNvPr id="9219" name="Rectangle 3"/>
          <p:cNvSpPr>
            <a:spLocks noGrp="1" noChangeArrowheads="1"/>
          </p:cNvSpPr>
          <p:nvPr>
            <p:ph type="body" idx="1"/>
          </p:nvPr>
        </p:nvSpPr>
        <p:spPr>
          <a:xfrm>
            <a:off x="0" y="1379538"/>
            <a:ext cx="9144000" cy="5000625"/>
          </a:xfrm>
        </p:spPr>
        <p:txBody>
          <a:bodyPr/>
          <a:lstStyle/>
          <a:p>
            <a:pPr eaLnBrk="1" hangingPunct="1">
              <a:lnSpc>
                <a:spcPct val="150000"/>
              </a:lnSpc>
            </a:pPr>
            <a:r>
              <a:rPr lang="zh-CN" altLang="en-US" smtClean="0">
                <a:solidFill>
                  <a:srgbClr val="990000"/>
                </a:solidFill>
              </a:rPr>
              <a:t>课程基本信息</a:t>
            </a:r>
            <a:endParaRPr lang="zh-CN" altLang="en-US" smtClean="0">
              <a:solidFill>
                <a:srgbClr val="990000"/>
              </a:solidFill>
            </a:endParaRPr>
          </a:p>
          <a:p>
            <a:pPr eaLnBrk="1" hangingPunct="1">
              <a:lnSpc>
                <a:spcPct val="150000"/>
              </a:lnSpc>
            </a:pPr>
            <a:r>
              <a:rPr lang="zh-CN" altLang="en-US" smtClean="0"/>
              <a:t>什么是</a:t>
            </a:r>
            <a:r>
              <a:rPr lang="en-US" altLang="zh-CN" smtClean="0"/>
              <a:t>《</a:t>
            </a:r>
            <a:r>
              <a:rPr lang="zh-CN" altLang="en-US" smtClean="0"/>
              <a:t>工程经济学</a:t>
            </a:r>
            <a:r>
              <a:rPr lang="en-US" altLang="zh-CN" smtClean="0"/>
              <a:t>》</a:t>
            </a:r>
            <a:r>
              <a:rPr lang="zh-CN" altLang="en-US" smtClean="0"/>
              <a:t>？</a:t>
            </a:r>
            <a:endParaRPr lang="zh-CN" altLang="en-US" smtClean="0"/>
          </a:p>
          <a:p>
            <a:pPr eaLnBrk="1" hangingPunct="1">
              <a:lnSpc>
                <a:spcPct val="150000"/>
              </a:lnSpc>
            </a:pPr>
            <a:r>
              <a:rPr lang="zh-CN" altLang="en-US" smtClean="0"/>
              <a:t>为什么要学？</a:t>
            </a:r>
            <a:endParaRPr lang="zh-CN" altLang="en-US" smtClean="0"/>
          </a:p>
          <a:p>
            <a:pPr eaLnBrk="1" hangingPunct="1">
              <a:lnSpc>
                <a:spcPct val="150000"/>
              </a:lnSpc>
            </a:pPr>
            <a:r>
              <a:rPr lang="zh-CN" altLang="en-US" smtClean="0"/>
              <a:t>基本的方法论是什么？</a:t>
            </a:r>
            <a:endParaRPr lang="zh-CN" altLang="en-US" smtClean="0"/>
          </a:p>
          <a:p>
            <a:pPr eaLnBrk="1" hangingPunct="1">
              <a:lnSpc>
                <a:spcPct val="150000"/>
              </a:lnSpc>
            </a:pPr>
            <a:endParaRPr lang="zh-CN" altLang="en-US" smtClean="0"/>
          </a:p>
          <a:p>
            <a:pPr eaLnBrk="1" hangingPunct="1"/>
            <a:endParaRPr lang="zh-CN" altLang="en-US" smtClean="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r>
              <a:rPr lang="zh-CN" altLang="en-US" smtClean="0"/>
              <a:t>考核方式</a:t>
            </a:r>
            <a:endParaRPr lang="zh-CN" altLang="en-US" smtClean="0"/>
          </a:p>
        </p:txBody>
      </p:sp>
      <p:sp>
        <p:nvSpPr>
          <p:cNvPr id="11267" name="Rectangle 3"/>
          <p:cNvSpPr>
            <a:spLocks noGrp="1" noChangeArrowheads="1"/>
          </p:cNvSpPr>
          <p:nvPr>
            <p:ph type="body" idx="1"/>
          </p:nvPr>
        </p:nvSpPr>
        <p:spPr/>
        <p:txBody>
          <a:bodyPr/>
          <a:lstStyle/>
          <a:p>
            <a:pPr eaLnBrk="1" hangingPunct="1">
              <a:defRPr/>
            </a:pPr>
            <a:r>
              <a:rPr lang="zh-CN" altLang="en-US" dirty="0"/>
              <a:t>考核方式</a:t>
            </a:r>
            <a:endParaRPr lang="zh-CN" altLang="en-US" dirty="0"/>
          </a:p>
          <a:p>
            <a:pPr marL="1428750" lvl="2" indent="-514350" eaLnBrk="1" hangingPunct="1">
              <a:buFontTx/>
              <a:buAutoNum type="arabicPeriod"/>
              <a:defRPr/>
            </a:pPr>
            <a:r>
              <a:rPr lang="zh-CN" altLang="zh-CN" dirty="0"/>
              <a:t>课堂表现</a:t>
            </a:r>
            <a:r>
              <a:rPr lang="zh-CN" altLang="en-US" dirty="0"/>
              <a:t>：</a:t>
            </a:r>
            <a:r>
              <a:rPr lang="en-US" altLang="zh-CN" dirty="0"/>
              <a:t>10%</a:t>
            </a:r>
            <a:endParaRPr lang="en-US" altLang="zh-CN" dirty="0"/>
          </a:p>
          <a:p>
            <a:pPr marL="1428750" lvl="2" indent="-514350" eaLnBrk="1" hangingPunct="1">
              <a:buFontTx/>
              <a:buAutoNum type="arabicPeriod"/>
              <a:defRPr/>
            </a:pPr>
            <a:r>
              <a:rPr lang="zh-CN" altLang="zh-CN" dirty="0"/>
              <a:t>作业</a:t>
            </a:r>
            <a:r>
              <a:rPr lang="zh-CN" altLang="en-US" dirty="0"/>
              <a:t>：</a:t>
            </a:r>
            <a:r>
              <a:rPr lang="en-US" altLang="zh-CN" dirty="0"/>
              <a:t>40%</a:t>
            </a:r>
            <a:r>
              <a:rPr lang="zh-CN" altLang="en-US" dirty="0"/>
              <a:t>，包含：</a:t>
            </a:r>
            <a:endParaRPr lang="en-US" altLang="zh-CN" dirty="0"/>
          </a:p>
          <a:p>
            <a:pPr marL="2160270" lvl="2" indent="-612140" eaLnBrk="1" hangingPunct="1">
              <a:defRPr/>
            </a:pPr>
            <a:r>
              <a:rPr lang="zh-CN" altLang="en-US" dirty="0"/>
              <a:t>平时作业</a:t>
            </a:r>
            <a:r>
              <a:rPr lang="zh-CN" altLang="en-US" dirty="0" smtClean="0"/>
              <a:t>（</a:t>
            </a:r>
            <a:r>
              <a:rPr lang="en-US" altLang="zh-CN" dirty="0" smtClean="0"/>
              <a:t>2</a:t>
            </a:r>
            <a:r>
              <a:rPr lang="zh-CN" altLang="en-US" dirty="0" smtClean="0"/>
              <a:t>次</a:t>
            </a:r>
            <a:r>
              <a:rPr lang="zh-CN" altLang="en-US" dirty="0"/>
              <a:t>）：</a:t>
            </a:r>
            <a:r>
              <a:rPr lang="en-US" altLang="zh-CN" dirty="0" smtClean="0"/>
              <a:t>16%</a:t>
            </a:r>
            <a:endParaRPr lang="en-US" altLang="zh-CN" dirty="0"/>
          </a:p>
          <a:p>
            <a:pPr marL="2160270" lvl="2" indent="-612140" eaLnBrk="1" hangingPunct="1">
              <a:defRPr/>
            </a:pPr>
            <a:r>
              <a:rPr lang="zh-CN" altLang="en-US" dirty="0"/>
              <a:t>个人文献综述与分析：</a:t>
            </a:r>
            <a:r>
              <a:rPr lang="en-US" altLang="zh-CN" dirty="0" smtClean="0"/>
              <a:t>12%</a:t>
            </a:r>
            <a:endParaRPr lang="en-US" altLang="zh-CN" dirty="0"/>
          </a:p>
          <a:p>
            <a:pPr marL="2160270" lvl="2" indent="-612140" eaLnBrk="1" hangingPunct="1">
              <a:defRPr/>
            </a:pPr>
            <a:r>
              <a:rPr lang="zh-CN" altLang="en-US" dirty="0"/>
              <a:t>期末小组作业：</a:t>
            </a:r>
            <a:r>
              <a:rPr lang="en-US" altLang="zh-CN" dirty="0" smtClean="0"/>
              <a:t>12%</a:t>
            </a:r>
            <a:endParaRPr lang="en-US" altLang="zh-CN" dirty="0"/>
          </a:p>
          <a:p>
            <a:pPr marL="1428750" lvl="2" indent="-514350" eaLnBrk="1" hangingPunct="1">
              <a:buFontTx/>
              <a:buAutoNum type="arabicPeriod" startAt="3"/>
              <a:defRPr/>
            </a:pPr>
            <a:r>
              <a:rPr lang="zh-CN" altLang="en-US" dirty="0"/>
              <a:t>考试：</a:t>
            </a:r>
            <a:r>
              <a:rPr lang="en-US" altLang="zh-CN" dirty="0"/>
              <a:t>50%</a:t>
            </a:r>
            <a:endParaRPr lang="en-US" altLang="zh-CN" dirty="0"/>
          </a:p>
          <a:p>
            <a:pPr marL="1428750" lvl="2" indent="-514350" eaLnBrk="1" hangingPunct="1">
              <a:buFontTx/>
              <a:buNone/>
              <a:defRPr/>
            </a:pPr>
            <a:endParaRPr lang="zh-CN" altLang="en-US" dirty="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zh-CN" altLang="en-US" smtClean="0"/>
              <a:t>教科书和参考书</a:t>
            </a:r>
            <a:endParaRPr lang="zh-CN" altLang="en-US" smtClean="0"/>
          </a:p>
        </p:txBody>
      </p:sp>
      <p:sp>
        <p:nvSpPr>
          <p:cNvPr id="13315" name="Rectangle 3"/>
          <p:cNvSpPr>
            <a:spLocks noGrp="1" noChangeArrowheads="1"/>
          </p:cNvSpPr>
          <p:nvPr>
            <p:ph type="body" idx="1"/>
          </p:nvPr>
        </p:nvSpPr>
        <p:spPr>
          <a:xfrm>
            <a:off x="0" y="1466850"/>
            <a:ext cx="9144000" cy="4933950"/>
          </a:xfrm>
        </p:spPr>
        <p:txBody>
          <a:bodyPr/>
          <a:lstStyle/>
          <a:p>
            <a:pPr eaLnBrk="1" hangingPunct="1">
              <a:lnSpc>
                <a:spcPct val="90000"/>
              </a:lnSpc>
            </a:pPr>
            <a:r>
              <a:rPr lang="zh-CN" altLang="en-US" sz="3200" smtClean="0"/>
              <a:t>教科书</a:t>
            </a:r>
            <a:endParaRPr lang="zh-CN" altLang="en-US" sz="3200" smtClean="0"/>
          </a:p>
          <a:p>
            <a:pPr lvl="1" eaLnBrk="1" hangingPunct="1">
              <a:lnSpc>
                <a:spcPct val="90000"/>
              </a:lnSpc>
            </a:pPr>
            <a:r>
              <a:rPr lang="zh-CN" altLang="en-US" sz="2200" smtClean="0"/>
              <a:t>讲义</a:t>
            </a:r>
            <a:endParaRPr lang="zh-CN" altLang="en-US" sz="2200" smtClean="0"/>
          </a:p>
          <a:p>
            <a:pPr lvl="1" eaLnBrk="1" hangingPunct="1">
              <a:lnSpc>
                <a:spcPct val="90000"/>
              </a:lnSpc>
            </a:pPr>
            <a:r>
              <a:rPr lang="en-US" altLang="zh-CN" sz="2200" smtClean="0"/>
              <a:t>《</a:t>
            </a:r>
            <a:r>
              <a:rPr lang="zh-CN" altLang="en-US" sz="2200" smtClean="0"/>
              <a:t>工程经济学</a:t>
            </a:r>
            <a:r>
              <a:rPr lang="en-US" altLang="zh-CN" sz="2200" smtClean="0"/>
              <a:t>》 </a:t>
            </a:r>
            <a:r>
              <a:rPr lang="zh-CN" altLang="en-US" sz="2200" smtClean="0"/>
              <a:t>魏法杰 王玉灵  郑筠  电子工业出版社  </a:t>
            </a:r>
            <a:r>
              <a:rPr lang="en-US" altLang="zh-CN" sz="2200" smtClean="0"/>
              <a:t>2013</a:t>
            </a:r>
            <a:endParaRPr lang="zh-CN" altLang="en-US" sz="2200" smtClean="0"/>
          </a:p>
          <a:p>
            <a:pPr eaLnBrk="1" hangingPunct="1">
              <a:lnSpc>
                <a:spcPct val="90000"/>
              </a:lnSpc>
            </a:pPr>
            <a:endParaRPr lang="zh-CN" altLang="en-US" sz="3200" smtClean="0"/>
          </a:p>
          <a:p>
            <a:pPr eaLnBrk="1" hangingPunct="1">
              <a:lnSpc>
                <a:spcPct val="90000"/>
              </a:lnSpc>
            </a:pPr>
            <a:r>
              <a:rPr lang="zh-CN" altLang="en-US" sz="3200" smtClean="0"/>
              <a:t>参考书</a:t>
            </a:r>
            <a:endParaRPr lang="zh-CN" altLang="en-US" sz="3200" smtClean="0"/>
          </a:p>
          <a:p>
            <a:pPr lvl="1" eaLnBrk="1" hangingPunct="1">
              <a:lnSpc>
                <a:spcPct val="90000"/>
              </a:lnSpc>
            </a:pPr>
            <a:r>
              <a:rPr lang="en-US" altLang="zh-CN" sz="2200" smtClean="0"/>
              <a:t>《</a:t>
            </a:r>
            <a:r>
              <a:rPr lang="zh-CN" altLang="en-US" sz="2200" smtClean="0"/>
              <a:t>工程经济学</a:t>
            </a:r>
            <a:r>
              <a:rPr lang="en-US" altLang="zh-CN" sz="2200" smtClean="0"/>
              <a:t>》 </a:t>
            </a:r>
            <a:r>
              <a:rPr lang="en-US" altLang="zh-CN" sz="2200" b="0" smtClean="0"/>
              <a:t>Engineering Economics(13th Edition), William G. Sullivan, Elin M. Wicks, James T. Luxhoj.</a:t>
            </a:r>
            <a:r>
              <a:rPr lang="en-US" altLang="zh-CN" sz="2800" b="0" smtClean="0"/>
              <a:t> </a:t>
            </a:r>
            <a:r>
              <a:rPr lang="zh-CN" altLang="en-US" sz="2200" smtClean="0"/>
              <a:t>清华大学出版社，</a:t>
            </a:r>
            <a:r>
              <a:rPr lang="en-US" altLang="zh-CN" sz="2200" smtClean="0"/>
              <a:t>2006 (</a:t>
            </a:r>
            <a:r>
              <a:rPr lang="zh-CN" altLang="en-US" sz="2200" smtClean="0"/>
              <a:t>邵颖红等译</a:t>
            </a:r>
            <a:r>
              <a:rPr lang="en-US" altLang="zh-CN" sz="2200" smtClean="0"/>
              <a:t>)</a:t>
            </a:r>
            <a:endParaRPr lang="en-US" altLang="zh-CN" sz="2200" smtClean="0"/>
          </a:p>
          <a:p>
            <a:pPr lvl="1" eaLnBrk="1" hangingPunct="1">
              <a:lnSpc>
                <a:spcPct val="90000"/>
              </a:lnSpc>
            </a:pPr>
            <a:r>
              <a:rPr lang="en-US" altLang="zh-CN" sz="2200" smtClean="0"/>
              <a:t>《</a:t>
            </a:r>
            <a:r>
              <a:rPr lang="zh-CN" altLang="en-US" sz="2200" smtClean="0"/>
              <a:t>水利工程经济学</a:t>
            </a:r>
            <a:r>
              <a:rPr lang="en-US" altLang="zh-CN" sz="2200" smtClean="0"/>
              <a:t>》</a:t>
            </a:r>
            <a:r>
              <a:rPr lang="zh-CN" altLang="en-US" sz="2200" smtClean="0"/>
              <a:t>王丽萍主编  中国水利水电出版社 </a:t>
            </a:r>
            <a:r>
              <a:rPr lang="en-US" altLang="zh-CN" sz="2200" smtClean="0"/>
              <a:t>2008</a:t>
            </a:r>
            <a:endParaRPr lang="en-US" altLang="zh-CN" sz="2200" smtClean="0"/>
          </a:p>
          <a:p>
            <a:pPr lvl="1" eaLnBrk="1" hangingPunct="1">
              <a:lnSpc>
                <a:spcPct val="90000"/>
              </a:lnSpc>
            </a:pPr>
            <a:r>
              <a:rPr lang="zh-CN" altLang="en-US" sz="2200" smtClean="0"/>
              <a:t>项目可行性研究</a:t>
            </a:r>
            <a:endParaRPr lang="zh-CN" altLang="en-US" sz="2200" smtClean="0"/>
          </a:p>
          <a:p>
            <a:pPr lvl="1" eaLnBrk="1" hangingPunct="1">
              <a:lnSpc>
                <a:spcPct val="90000"/>
              </a:lnSpc>
            </a:pPr>
            <a:r>
              <a:rPr lang="zh-CN" altLang="en-US" sz="2200" smtClean="0"/>
              <a:t>技术经济学</a:t>
            </a:r>
            <a:endParaRPr lang="zh-CN" altLang="en-US" sz="2200" smtClean="0"/>
          </a:p>
          <a:p>
            <a:pPr lvl="1" eaLnBrk="1" hangingPunct="1">
              <a:lnSpc>
                <a:spcPct val="90000"/>
              </a:lnSpc>
            </a:pPr>
            <a:r>
              <a:rPr lang="zh-CN" altLang="en-US" sz="2200" smtClean="0"/>
              <a:t>项目评价理论与方法</a:t>
            </a:r>
            <a:endParaRPr lang="zh-CN" altLang="en-US" sz="2200" smtClean="0"/>
          </a:p>
          <a:p>
            <a:pPr lvl="1" eaLnBrk="1" hangingPunct="1">
              <a:lnSpc>
                <a:spcPct val="90000"/>
              </a:lnSpc>
            </a:pPr>
            <a:endParaRPr lang="zh-CN" altLang="en-US" sz="2200" smtClean="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0" y="217488"/>
            <a:ext cx="8461375" cy="973137"/>
          </a:xfrm>
        </p:spPr>
        <p:txBody>
          <a:bodyPr/>
          <a:lstStyle/>
          <a:p>
            <a:pPr eaLnBrk="1" hangingPunct="1"/>
            <a:r>
              <a:rPr lang="zh-CN" altLang="en-US" smtClean="0"/>
              <a:t>本讲的内容</a:t>
            </a:r>
            <a:endParaRPr lang="zh-CN" altLang="en-US" smtClean="0"/>
          </a:p>
        </p:txBody>
      </p:sp>
      <p:sp>
        <p:nvSpPr>
          <p:cNvPr id="15363" name="Rectangle 3"/>
          <p:cNvSpPr>
            <a:spLocks noGrp="1" noChangeArrowheads="1"/>
          </p:cNvSpPr>
          <p:nvPr>
            <p:ph type="body" idx="1"/>
          </p:nvPr>
        </p:nvSpPr>
        <p:spPr>
          <a:xfrm>
            <a:off x="0" y="1379538"/>
            <a:ext cx="9144000" cy="5000625"/>
          </a:xfrm>
        </p:spPr>
        <p:txBody>
          <a:bodyPr/>
          <a:lstStyle/>
          <a:p>
            <a:pPr eaLnBrk="1" hangingPunct="1">
              <a:lnSpc>
                <a:spcPct val="150000"/>
              </a:lnSpc>
            </a:pPr>
            <a:r>
              <a:rPr lang="zh-CN" altLang="en-US" smtClean="0"/>
              <a:t>课程基本信息</a:t>
            </a:r>
            <a:endParaRPr lang="zh-CN" altLang="en-US" smtClean="0"/>
          </a:p>
          <a:p>
            <a:pPr eaLnBrk="1" hangingPunct="1">
              <a:lnSpc>
                <a:spcPct val="150000"/>
              </a:lnSpc>
            </a:pPr>
            <a:r>
              <a:rPr lang="zh-CN" altLang="en-US" smtClean="0">
                <a:solidFill>
                  <a:srgbClr val="990000"/>
                </a:solidFill>
              </a:rPr>
              <a:t>什么是</a:t>
            </a:r>
            <a:r>
              <a:rPr lang="en-US" altLang="zh-CN" smtClean="0">
                <a:solidFill>
                  <a:srgbClr val="990000"/>
                </a:solidFill>
              </a:rPr>
              <a:t>《</a:t>
            </a:r>
            <a:r>
              <a:rPr lang="zh-CN" altLang="en-US" smtClean="0">
                <a:solidFill>
                  <a:srgbClr val="990000"/>
                </a:solidFill>
              </a:rPr>
              <a:t>工程经济学</a:t>
            </a:r>
            <a:r>
              <a:rPr lang="en-US" altLang="zh-CN" smtClean="0">
                <a:solidFill>
                  <a:srgbClr val="990000"/>
                </a:solidFill>
              </a:rPr>
              <a:t>》</a:t>
            </a:r>
            <a:r>
              <a:rPr lang="zh-CN" altLang="en-US" smtClean="0">
                <a:solidFill>
                  <a:srgbClr val="990000"/>
                </a:solidFill>
              </a:rPr>
              <a:t>？</a:t>
            </a:r>
            <a:endParaRPr lang="zh-CN" altLang="en-US" smtClean="0">
              <a:solidFill>
                <a:srgbClr val="990000"/>
              </a:solidFill>
            </a:endParaRPr>
          </a:p>
          <a:p>
            <a:pPr eaLnBrk="1" hangingPunct="1">
              <a:lnSpc>
                <a:spcPct val="150000"/>
              </a:lnSpc>
            </a:pPr>
            <a:r>
              <a:rPr lang="zh-CN" altLang="en-US" smtClean="0"/>
              <a:t>为什么要学？</a:t>
            </a:r>
            <a:endParaRPr lang="zh-CN" altLang="en-US" smtClean="0"/>
          </a:p>
          <a:p>
            <a:pPr eaLnBrk="1" hangingPunct="1">
              <a:lnSpc>
                <a:spcPct val="150000"/>
              </a:lnSpc>
            </a:pPr>
            <a:r>
              <a:rPr lang="zh-CN" altLang="en-US" smtClean="0"/>
              <a:t>基本的方法论是什么？</a:t>
            </a:r>
            <a:endParaRPr lang="zh-CN" altLang="en-US" smtClean="0"/>
          </a:p>
          <a:p>
            <a:pPr eaLnBrk="1" hangingPunct="1">
              <a:lnSpc>
                <a:spcPct val="150000"/>
              </a:lnSpc>
            </a:pPr>
            <a:endParaRPr lang="zh-CN" altLang="en-US" smtClean="0"/>
          </a:p>
          <a:p>
            <a:pPr eaLnBrk="1" hangingPunct="1"/>
            <a:endParaRPr lang="zh-CN" altLang="en-US" smtClean="0"/>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zh-CN" altLang="en-US" smtClean="0"/>
              <a:t>工程经济学起源</a:t>
            </a:r>
            <a:endParaRPr lang="zh-CN" altLang="en-US" smtClean="0"/>
          </a:p>
        </p:txBody>
      </p:sp>
      <p:sp>
        <p:nvSpPr>
          <p:cNvPr id="17411" name="Rectangle 3"/>
          <p:cNvSpPr>
            <a:spLocks noGrp="1" noChangeArrowheads="1"/>
          </p:cNvSpPr>
          <p:nvPr>
            <p:ph type="body" idx="1"/>
          </p:nvPr>
        </p:nvSpPr>
        <p:spPr/>
        <p:txBody>
          <a:bodyPr/>
          <a:lstStyle/>
          <a:p>
            <a:pPr eaLnBrk="1" hangingPunct="1">
              <a:lnSpc>
                <a:spcPct val="80000"/>
              </a:lnSpc>
            </a:pPr>
            <a:r>
              <a:rPr kumimoji="1" lang="zh-CN" altLang="en-US" sz="2400" b="0" smtClean="0"/>
              <a:t>最早在工程领域开展经济评价工作的是美国的惠灵顿（</a:t>
            </a:r>
            <a:r>
              <a:rPr kumimoji="1" lang="en-US" altLang="zh-CN" sz="2400" b="0" smtClean="0"/>
              <a:t>A. M. Wellington</a:t>
            </a:r>
            <a:r>
              <a:rPr kumimoji="1" lang="zh-CN" altLang="en-US" sz="2400" b="0" smtClean="0"/>
              <a:t>），他用资本化的成本分析方法来选择铁路的最佳长度或路线的曲率，他在</a:t>
            </a:r>
            <a:r>
              <a:rPr kumimoji="1" lang="en-US" altLang="zh-CN" sz="2400" b="0" smtClean="0"/>
              <a:t>《The Economic Theory of Railway Location/</a:t>
            </a:r>
            <a:r>
              <a:rPr kumimoji="1" lang="zh-CN" altLang="en-US" sz="2400" b="0" smtClean="0"/>
              <a:t>铁路布局的经济理论</a:t>
            </a:r>
            <a:r>
              <a:rPr kumimoji="1" lang="en-US" altLang="zh-CN" sz="2400" b="0" smtClean="0"/>
              <a:t>》</a:t>
            </a:r>
            <a:r>
              <a:rPr kumimoji="1" lang="zh-CN" altLang="en-US" sz="2400" b="0" smtClean="0"/>
              <a:t>（</a:t>
            </a:r>
            <a:r>
              <a:rPr kumimoji="1" lang="en-US" altLang="zh-CN" sz="2400" b="0" smtClean="0"/>
              <a:t>1887</a:t>
            </a:r>
            <a:r>
              <a:rPr kumimoji="1" lang="zh-CN" altLang="en-US" sz="2400" b="0" smtClean="0"/>
              <a:t>年）一书中，对工程经济下了第一个简明的定义：“一门少花钱多办事的艺术”。</a:t>
            </a:r>
            <a:endParaRPr kumimoji="1" lang="zh-CN" altLang="en-US" sz="2400" b="0" smtClean="0"/>
          </a:p>
          <a:p>
            <a:pPr eaLnBrk="1" hangingPunct="1">
              <a:lnSpc>
                <a:spcPct val="80000"/>
              </a:lnSpc>
            </a:pPr>
            <a:r>
              <a:rPr kumimoji="1" lang="en-US" altLang="zh-CN" sz="2400" b="0" smtClean="0"/>
              <a:t>20</a:t>
            </a:r>
            <a:r>
              <a:rPr kumimoji="1" lang="zh-CN" altLang="en-US" sz="2400" b="0" smtClean="0"/>
              <a:t>世纪</a:t>
            </a:r>
            <a:r>
              <a:rPr kumimoji="1" lang="en-US" altLang="zh-CN" sz="2400" b="0" smtClean="0"/>
              <a:t>20</a:t>
            </a:r>
            <a:r>
              <a:rPr kumimoji="1" lang="zh-CN" altLang="en-US" sz="2400" b="0" smtClean="0"/>
              <a:t>年代，戈尔德曼在（</a:t>
            </a:r>
            <a:r>
              <a:rPr kumimoji="1" lang="en-US" altLang="zh-CN" sz="2400" b="0" smtClean="0"/>
              <a:t>O. B. Goldman</a:t>
            </a:r>
            <a:r>
              <a:rPr kumimoji="1" lang="zh-CN" altLang="en-US" sz="2400" b="0" smtClean="0"/>
              <a:t>）</a:t>
            </a:r>
            <a:r>
              <a:rPr kumimoji="1" lang="en-US" altLang="zh-CN" sz="2400" b="0" smtClean="0"/>
              <a:t>《</a:t>
            </a:r>
            <a:r>
              <a:rPr kumimoji="1" lang="zh-CN" altLang="en-US" sz="2400" b="0" smtClean="0"/>
              <a:t>财务工程学</a:t>
            </a:r>
            <a:r>
              <a:rPr kumimoji="1" lang="en-US" altLang="zh-CN" sz="2400" b="0" smtClean="0"/>
              <a:t>》</a:t>
            </a:r>
            <a:r>
              <a:rPr kumimoji="1" lang="zh-CN" altLang="en-US" sz="2400" b="0" smtClean="0"/>
              <a:t>中指出：“这是一种奇怪而遗憾的现象，</a:t>
            </a:r>
            <a:r>
              <a:rPr kumimoji="1" lang="en-US" altLang="zh-CN" sz="2400" b="0" smtClean="0"/>
              <a:t>…</a:t>
            </a:r>
            <a:r>
              <a:rPr kumimoji="1" lang="zh-CN" altLang="en-US" sz="2400" b="0" smtClean="0"/>
              <a:t>在工程学书籍中，没用或很少考虑</a:t>
            </a:r>
            <a:r>
              <a:rPr kumimoji="1" lang="en-US" altLang="zh-CN" sz="2400" b="0" smtClean="0"/>
              <a:t>…</a:t>
            </a:r>
            <a:r>
              <a:rPr kumimoji="1" lang="zh-CN" altLang="en-US" sz="2400" b="0" smtClean="0"/>
              <a:t>分析成本以达到真正的经济性</a:t>
            </a:r>
            <a:r>
              <a:rPr kumimoji="1" lang="en-US" altLang="zh-CN" sz="2400" b="0" smtClean="0"/>
              <a:t>…”</a:t>
            </a:r>
            <a:r>
              <a:rPr kumimoji="1" lang="zh-CN" altLang="en-US" sz="2400" b="0" smtClean="0"/>
              <a:t>。也是他提出了复利计算方法。</a:t>
            </a:r>
            <a:endParaRPr kumimoji="1" lang="zh-CN" altLang="en-US" sz="2400" b="0" smtClean="0"/>
          </a:p>
          <a:p>
            <a:pPr eaLnBrk="1" hangingPunct="1">
              <a:lnSpc>
                <a:spcPct val="80000"/>
              </a:lnSpc>
            </a:pPr>
            <a:r>
              <a:rPr kumimoji="1" lang="en-US" altLang="zh-CN" sz="2400" b="0" smtClean="0"/>
              <a:t>20</a:t>
            </a:r>
            <a:r>
              <a:rPr kumimoji="1" lang="zh-CN" altLang="en-US" sz="2400" b="0" smtClean="0"/>
              <a:t>世纪</a:t>
            </a:r>
            <a:r>
              <a:rPr kumimoji="1" lang="en-US" altLang="zh-CN" sz="2400" b="0" smtClean="0"/>
              <a:t>30</a:t>
            </a:r>
            <a:r>
              <a:rPr kumimoji="1" lang="zh-CN" altLang="en-US" sz="2400" b="0" smtClean="0"/>
              <a:t>年代，经济学家们注意到了科学技术对经济的重大影响，技术经济的研究也随之展开，逐渐形成一门独立的学科。</a:t>
            </a:r>
            <a:r>
              <a:rPr kumimoji="1" lang="en-US" altLang="zh-CN" sz="2400" b="0" smtClean="0"/>
              <a:t>1930</a:t>
            </a:r>
            <a:r>
              <a:rPr kumimoji="1" lang="zh-CN" altLang="en-US" sz="2400" b="0" smtClean="0"/>
              <a:t>年格兰特（</a:t>
            </a:r>
            <a:r>
              <a:rPr kumimoji="1" lang="en-US" altLang="zh-CN" sz="2400" b="0" smtClean="0"/>
              <a:t>E. L. Grant</a:t>
            </a:r>
            <a:r>
              <a:rPr kumimoji="1" lang="zh-CN" altLang="en-US" sz="2400" b="0" smtClean="0"/>
              <a:t>）出版了</a:t>
            </a:r>
            <a:r>
              <a:rPr kumimoji="1" lang="en-US" altLang="zh-CN" sz="2400" b="0" smtClean="0"/>
              <a:t>《Principles of Engineering Economy/</a:t>
            </a:r>
            <a:r>
              <a:rPr kumimoji="1" lang="zh-CN" altLang="en-US" sz="2400" b="0" smtClean="0"/>
              <a:t>工程经济原理</a:t>
            </a:r>
            <a:r>
              <a:rPr kumimoji="1" lang="en-US" altLang="zh-CN" sz="2400" b="0" smtClean="0"/>
              <a:t>》</a:t>
            </a:r>
            <a:r>
              <a:rPr kumimoji="1" lang="zh-CN" altLang="en-US" sz="2400" b="0" smtClean="0"/>
              <a:t>，他以复利为基础讨论了投资决策的理论和方法。这本书作为教材被广为引用，他的贡献也得到了社会的承认，被誉为“工程经济学之父”。</a:t>
            </a:r>
            <a:endParaRPr kumimoji="1" lang="zh-CN" altLang="en-US" sz="2400" b="0" smtClean="0"/>
          </a:p>
          <a:p>
            <a:pPr eaLnBrk="1" hangingPunct="1">
              <a:lnSpc>
                <a:spcPct val="80000"/>
              </a:lnSpc>
            </a:pPr>
            <a:endParaRPr lang="zh-CN" altLang="en-US" sz="2400" smtClean="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zh-CN" altLang="en-US" smtClean="0"/>
              <a:t>学什么？</a:t>
            </a:r>
            <a:endParaRPr lang="zh-CN" altLang="en-US" smtClean="0"/>
          </a:p>
        </p:txBody>
      </p:sp>
      <p:sp>
        <p:nvSpPr>
          <p:cNvPr id="242691" name="Rectangle 3"/>
          <p:cNvSpPr>
            <a:spLocks noGrp="1" noChangeArrowheads="1"/>
          </p:cNvSpPr>
          <p:nvPr>
            <p:ph type="body" idx="1"/>
          </p:nvPr>
        </p:nvSpPr>
        <p:spPr>
          <a:xfrm>
            <a:off x="12700" y="1346200"/>
            <a:ext cx="9144000" cy="5207000"/>
          </a:xfrm>
        </p:spPr>
        <p:txBody>
          <a:bodyPr/>
          <a:lstStyle/>
          <a:p>
            <a:pPr eaLnBrk="1" hangingPunct="1"/>
            <a:r>
              <a:rPr lang="zh-CN" altLang="en-US" smtClean="0"/>
              <a:t>运用</a:t>
            </a:r>
            <a:r>
              <a:rPr lang="zh-CN" altLang="en-US" u="sng" smtClean="0"/>
              <a:t>经济学</a:t>
            </a:r>
            <a:r>
              <a:rPr lang="zh-CN" altLang="en-US" smtClean="0"/>
              <a:t>的原理和方法，研究</a:t>
            </a:r>
            <a:r>
              <a:rPr lang="zh-CN" altLang="en-US" u="sng" smtClean="0"/>
              <a:t>工程经济活动</a:t>
            </a:r>
            <a:r>
              <a:rPr lang="zh-CN" altLang="en-US" smtClean="0"/>
              <a:t>中的决策问题。</a:t>
            </a:r>
            <a:endParaRPr lang="zh-CN" altLang="en-US" smtClean="0"/>
          </a:p>
          <a:p>
            <a:pPr eaLnBrk="1" hangingPunct="1"/>
            <a:endParaRPr lang="zh-CN" altLang="en-US" smtClean="0"/>
          </a:p>
          <a:p>
            <a:pPr eaLnBrk="1" hangingPunct="1">
              <a:buFontTx/>
              <a:buNone/>
            </a:pPr>
            <a:r>
              <a:rPr lang="zh-CN" altLang="en-US" sz="4400" smtClean="0">
                <a:solidFill>
                  <a:srgbClr val="990000"/>
                </a:solidFill>
              </a:rPr>
              <a:t>		做这件“事儿” 值不值得？</a:t>
            </a:r>
            <a:endParaRPr lang="zh-CN" altLang="en-US" sz="4400" smtClean="0">
              <a:solidFill>
                <a:srgbClr val="990000"/>
              </a:solidFill>
            </a:endParaRPr>
          </a:p>
        </p:txBody>
      </p:sp>
      <p:sp>
        <p:nvSpPr>
          <p:cNvPr id="242694" name="AutoShape 6"/>
          <p:cNvSpPr>
            <a:spLocks noChangeArrowheads="1"/>
          </p:cNvSpPr>
          <p:nvPr/>
        </p:nvSpPr>
        <p:spPr bwMode="auto">
          <a:xfrm>
            <a:off x="0" y="4316413"/>
            <a:ext cx="4764088" cy="2236787"/>
          </a:xfrm>
          <a:prstGeom prst="wedgeEllipseCallout">
            <a:avLst>
              <a:gd name="adj1" fmla="val 28880"/>
              <a:gd name="adj2" fmla="val -62704"/>
            </a:avLst>
          </a:prstGeom>
          <a:noFill/>
          <a:ln w="9525">
            <a:solidFill>
              <a:srgbClr val="800000"/>
            </a:solidFill>
            <a:miter lim="800000"/>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2400">
                <a:ea typeface="宋体" panose="02010600030101010101" pitchFamily="2" charset="-122"/>
              </a:rPr>
              <a:t>大型土木水利工程；</a:t>
            </a:r>
            <a:endParaRPr lang="zh-CN" altLang="en-US" sz="2400">
              <a:ea typeface="宋体" panose="02010600030101010101" pitchFamily="2" charset="-122"/>
            </a:endParaRPr>
          </a:p>
          <a:p>
            <a:pPr algn="ctr">
              <a:spcBef>
                <a:spcPct val="0"/>
              </a:spcBef>
              <a:buFontTx/>
              <a:buNone/>
            </a:pPr>
            <a:r>
              <a:rPr lang="zh-CN" altLang="en-US" sz="2400">
                <a:ea typeface="宋体" panose="02010600030101010101" pitchFamily="2" charset="-122"/>
              </a:rPr>
              <a:t>民用建筑和市政设施；</a:t>
            </a:r>
            <a:endParaRPr lang="zh-CN" altLang="en-US" sz="2400">
              <a:ea typeface="宋体" panose="02010600030101010101" pitchFamily="2" charset="-122"/>
            </a:endParaRPr>
          </a:p>
          <a:p>
            <a:pPr algn="ctr">
              <a:spcBef>
                <a:spcPct val="0"/>
              </a:spcBef>
              <a:buFontTx/>
              <a:buNone/>
            </a:pPr>
            <a:r>
              <a:rPr lang="zh-CN" altLang="en-US" sz="2400">
                <a:ea typeface="宋体" panose="02010600030101010101" pitchFamily="2" charset="-122"/>
              </a:rPr>
              <a:t>各类投资项目；</a:t>
            </a:r>
            <a:endParaRPr lang="zh-CN" altLang="en-US" sz="2400">
              <a:ea typeface="宋体" panose="02010600030101010101" pitchFamily="2" charset="-122"/>
            </a:endParaRPr>
          </a:p>
          <a:p>
            <a:pPr algn="ctr">
              <a:spcBef>
                <a:spcPct val="0"/>
              </a:spcBef>
              <a:buFontTx/>
              <a:buNone/>
            </a:pPr>
            <a:r>
              <a:rPr lang="zh-CN" altLang="en-US" sz="2400">
                <a:ea typeface="宋体" panose="02010600030101010101" pitchFamily="2" charset="-122"/>
              </a:rPr>
              <a:t>日常生活中的决策；</a:t>
            </a:r>
            <a:endParaRPr lang="zh-CN" altLang="en-US" sz="2400">
              <a:ea typeface="宋体" panose="02010600030101010101" pitchFamily="2" charset="-122"/>
            </a:endParaRPr>
          </a:p>
          <a:p>
            <a:pPr algn="ctr">
              <a:spcBef>
                <a:spcPct val="0"/>
              </a:spcBef>
              <a:buFontTx/>
              <a:buNone/>
            </a:pPr>
            <a:r>
              <a:rPr lang="en-US" altLang="zh-CN" sz="2400">
                <a:ea typeface="宋体" panose="02010600030101010101" pitchFamily="2" charset="-122"/>
              </a:rPr>
              <a:t>……</a:t>
            </a:r>
            <a:endParaRPr lang="en-US" altLang="zh-CN" sz="2400">
              <a:ea typeface="宋体" panose="02010600030101010101" pitchFamily="2" charset="-122"/>
            </a:endParaRPr>
          </a:p>
        </p:txBody>
      </p:sp>
      <p:sp>
        <p:nvSpPr>
          <p:cNvPr id="242695" name="AutoShape 7"/>
          <p:cNvSpPr>
            <a:spLocks noChangeArrowheads="1"/>
          </p:cNvSpPr>
          <p:nvPr/>
        </p:nvSpPr>
        <p:spPr bwMode="auto">
          <a:xfrm>
            <a:off x="4864100" y="5314950"/>
            <a:ext cx="762000" cy="165100"/>
          </a:xfrm>
          <a:prstGeom prst="rightArrow">
            <a:avLst>
              <a:gd name="adj1" fmla="val 50000"/>
              <a:gd name="adj2" fmla="val 115385"/>
            </a:avLst>
          </a:prstGeom>
          <a:solidFill>
            <a:schemeClr val="accent1"/>
          </a:solidFill>
          <a:ln w="9525">
            <a:solidFill>
              <a:schemeClr val="tx1"/>
            </a:solidFill>
            <a:miter lim="800000"/>
          </a:ln>
        </p:spPr>
        <p:txBody>
          <a:bodyPr wrap="none"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endParaRPr lang="zh-CN" altLang="en-US" sz="2400" b="0">
              <a:solidFill>
                <a:schemeClr val="tx1"/>
              </a:solidFill>
            </a:endParaRPr>
          </a:p>
        </p:txBody>
      </p:sp>
      <p:sp>
        <p:nvSpPr>
          <p:cNvPr id="242696" name="Text Box 8"/>
          <p:cNvSpPr txBox="1">
            <a:spLocks noChangeArrowheads="1"/>
          </p:cNvSpPr>
          <p:nvPr/>
        </p:nvSpPr>
        <p:spPr bwMode="auto">
          <a:xfrm>
            <a:off x="5753100" y="4381500"/>
            <a:ext cx="2895600" cy="210978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50000"/>
              </a:spcBef>
              <a:buFontTx/>
              <a:buNone/>
            </a:pPr>
            <a:r>
              <a:rPr lang="zh-CN" altLang="en-US" sz="2400">
                <a:latin typeface="楷体_GB2312" charset="-122"/>
              </a:rPr>
              <a:t>共同的特点：</a:t>
            </a:r>
            <a:endParaRPr lang="zh-CN" altLang="en-US" sz="2400">
              <a:latin typeface="楷体_GB2312" charset="-122"/>
            </a:endParaRPr>
          </a:p>
          <a:p>
            <a:pPr>
              <a:spcBef>
                <a:spcPct val="50000"/>
              </a:spcBef>
              <a:buFont typeface="Wingdings" panose="05000000000000000000" pitchFamily="2" charset="2"/>
              <a:buChar char="l"/>
            </a:pPr>
            <a:r>
              <a:rPr lang="zh-CN" altLang="en-US" sz="2400">
                <a:latin typeface="楷体_GB2312" charset="-122"/>
              </a:rPr>
              <a:t>有投入（成本）</a:t>
            </a:r>
            <a:endParaRPr lang="zh-CN" altLang="en-US" sz="2400">
              <a:latin typeface="楷体_GB2312" charset="-122"/>
            </a:endParaRPr>
          </a:p>
          <a:p>
            <a:pPr>
              <a:spcBef>
                <a:spcPct val="50000"/>
              </a:spcBef>
              <a:buFont typeface="Wingdings" panose="05000000000000000000" pitchFamily="2" charset="2"/>
              <a:buChar char="l"/>
            </a:pPr>
            <a:r>
              <a:rPr lang="zh-CN" altLang="en-US" sz="2400">
                <a:latin typeface="楷体_GB2312" charset="-122"/>
              </a:rPr>
              <a:t>有产出（收益）</a:t>
            </a:r>
            <a:endParaRPr lang="zh-CN" altLang="en-US" sz="2400">
              <a:latin typeface="楷体_GB2312" charset="-122"/>
            </a:endParaRPr>
          </a:p>
          <a:p>
            <a:pPr>
              <a:spcBef>
                <a:spcPct val="50000"/>
              </a:spcBef>
              <a:buFont typeface="Wingdings" panose="05000000000000000000" pitchFamily="2" charset="2"/>
              <a:buChar char="l"/>
            </a:pPr>
            <a:r>
              <a:rPr lang="zh-CN" altLang="en-US" sz="2400">
                <a:latin typeface="楷体_GB2312" charset="-122"/>
              </a:rPr>
              <a:t>持续一段时间</a:t>
            </a:r>
            <a:endParaRPr lang="zh-CN" altLang="en-US" sz="2400">
              <a:latin typeface="楷体_GB231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2691">
                                            <p:txEl>
                                              <p:pRg st="2" end="2"/>
                                            </p:txEl>
                                          </p:spTgt>
                                        </p:tgtEl>
                                        <p:attrNameLst>
                                          <p:attrName>style.visibility</p:attrName>
                                        </p:attrNameLst>
                                      </p:cBhvr>
                                      <p:to>
                                        <p:strVal val="visible"/>
                                      </p:to>
                                    </p:set>
                                    <p:anim calcmode="lin" valueType="num">
                                      <p:cBhvr additive="base">
                                        <p:cTn id="7" dur="500" fill="hold"/>
                                        <p:tgtEl>
                                          <p:spTgt spid="24269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26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2694"/>
                                        </p:tgtEl>
                                        <p:attrNameLst>
                                          <p:attrName>style.visibility</p:attrName>
                                        </p:attrNameLst>
                                      </p:cBhvr>
                                      <p:to>
                                        <p:strVal val="visible"/>
                                      </p:to>
                                    </p:set>
                                    <p:anim calcmode="lin" valueType="num">
                                      <p:cBhvr additive="base">
                                        <p:cTn id="13" dur="500" fill="hold"/>
                                        <p:tgtEl>
                                          <p:spTgt spid="242694"/>
                                        </p:tgtEl>
                                        <p:attrNameLst>
                                          <p:attrName>ppt_x</p:attrName>
                                        </p:attrNameLst>
                                      </p:cBhvr>
                                      <p:tavLst>
                                        <p:tav tm="0">
                                          <p:val>
                                            <p:strVal val="#ppt_x"/>
                                          </p:val>
                                        </p:tav>
                                        <p:tav tm="100000">
                                          <p:val>
                                            <p:strVal val="#ppt_x"/>
                                          </p:val>
                                        </p:tav>
                                      </p:tavLst>
                                    </p:anim>
                                    <p:anim calcmode="lin" valueType="num">
                                      <p:cBhvr additive="base">
                                        <p:cTn id="14" dur="500" fill="hold"/>
                                        <p:tgtEl>
                                          <p:spTgt spid="24269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42695"/>
                                        </p:tgtEl>
                                        <p:attrNameLst>
                                          <p:attrName>style.visibility</p:attrName>
                                        </p:attrNameLst>
                                      </p:cBhvr>
                                      <p:to>
                                        <p:strVal val="visible"/>
                                      </p:to>
                                    </p:set>
                                    <p:anim calcmode="lin" valueType="num">
                                      <p:cBhvr additive="base">
                                        <p:cTn id="19" dur="500" fill="hold"/>
                                        <p:tgtEl>
                                          <p:spTgt spid="242695"/>
                                        </p:tgtEl>
                                        <p:attrNameLst>
                                          <p:attrName>ppt_x</p:attrName>
                                        </p:attrNameLst>
                                      </p:cBhvr>
                                      <p:tavLst>
                                        <p:tav tm="0">
                                          <p:val>
                                            <p:strVal val="#ppt_x"/>
                                          </p:val>
                                        </p:tav>
                                        <p:tav tm="100000">
                                          <p:val>
                                            <p:strVal val="#ppt_x"/>
                                          </p:val>
                                        </p:tav>
                                      </p:tavLst>
                                    </p:anim>
                                    <p:anim calcmode="lin" valueType="num">
                                      <p:cBhvr additive="base">
                                        <p:cTn id="20" dur="500" fill="hold"/>
                                        <p:tgtEl>
                                          <p:spTgt spid="24269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242696"/>
                                        </p:tgtEl>
                                        <p:attrNameLst>
                                          <p:attrName>style.visibility</p:attrName>
                                        </p:attrNameLst>
                                      </p:cBhvr>
                                      <p:to>
                                        <p:strVal val="visible"/>
                                      </p:to>
                                    </p:set>
                                    <p:anim calcmode="lin" valueType="num">
                                      <p:cBhvr additive="base">
                                        <p:cTn id="23" dur="500" fill="hold"/>
                                        <p:tgtEl>
                                          <p:spTgt spid="242696"/>
                                        </p:tgtEl>
                                        <p:attrNameLst>
                                          <p:attrName>ppt_x</p:attrName>
                                        </p:attrNameLst>
                                      </p:cBhvr>
                                      <p:tavLst>
                                        <p:tav tm="0">
                                          <p:val>
                                            <p:strVal val="#ppt_x"/>
                                          </p:val>
                                        </p:tav>
                                        <p:tav tm="100000">
                                          <p:val>
                                            <p:strVal val="#ppt_x"/>
                                          </p:val>
                                        </p:tav>
                                      </p:tavLst>
                                    </p:anim>
                                    <p:anim calcmode="lin" valueType="num">
                                      <p:cBhvr additive="base">
                                        <p:cTn id="24" dur="500" fill="hold"/>
                                        <p:tgtEl>
                                          <p:spTgt spid="2426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694" grpId="0" animBg="1"/>
      <p:bldP spid="242695" grpId="0" animBg="1"/>
      <p:bldP spid="24269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zh-CN" altLang="en-US" smtClean="0"/>
              <a:t>“工程经济活动”的概念</a:t>
            </a:r>
            <a:endParaRPr lang="zh-CN" altLang="en-US" smtClean="0"/>
          </a:p>
        </p:txBody>
      </p:sp>
      <p:sp>
        <p:nvSpPr>
          <p:cNvPr id="20483" name="Rectangle 3"/>
          <p:cNvSpPr>
            <a:spLocks noGrp="1" noChangeArrowheads="1"/>
          </p:cNvSpPr>
          <p:nvPr>
            <p:ph type="body" idx="1"/>
          </p:nvPr>
        </p:nvSpPr>
        <p:spPr>
          <a:xfrm>
            <a:off x="457200" y="1719263"/>
            <a:ext cx="8229600" cy="4414837"/>
          </a:xfrm>
        </p:spPr>
        <p:txBody>
          <a:bodyPr/>
          <a:lstStyle/>
          <a:p>
            <a:pPr eaLnBrk="1" hangingPunct="1"/>
            <a:r>
              <a:rPr lang="zh-CN" altLang="en-US" sz="4400" b="0" smtClean="0"/>
              <a:t>工程经济活动：</a:t>
            </a:r>
            <a:r>
              <a:rPr lang="zh-CN" altLang="en-US" sz="3900" smtClean="0"/>
              <a:t>把科学研究、生产实践和经验积累所得到的</a:t>
            </a:r>
            <a:r>
              <a:rPr lang="zh-CN" altLang="en-US" sz="3900" u="sng" smtClean="0"/>
              <a:t>科学知识</a:t>
            </a:r>
            <a:r>
              <a:rPr lang="zh-CN" altLang="en-US" sz="3900" smtClean="0"/>
              <a:t>有选择地、创造性地</a:t>
            </a:r>
            <a:r>
              <a:rPr lang="zh-CN" altLang="en-US" sz="3900" u="sng" smtClean="0"/>
              <a:t>应用到</a:t>
            </a:r>
            <a:r>
              <a:rPr lang="zh-CN" altLang="en-US" sz="3900" smtClean="0">
                <a:solidFill>
                  <a:srgbClr val="FF0000"/>
                </a:solidFill>
              </a:rPr>
              <a:t>最经济地</a:t>
            </a:r>
            <a:r>
              <a:rPr lang="zh-CN" altLang="en-US" sz="3900" smtClean="0"/>
              <a:t>利用自然资源和其他资源来满足人类需要的</a:t>
            </a:r>
            <a:r>
              <a:rPr lang="zh-CN" altLang="en-US" sz="3900" u="sng" smtClean="0"/>
              <a:t>经济和社会活动</a:t>
            </a:r>
            <a:r>
              <a:rPr lang="zh-CN" altLang="en-US" sz="3900" smtClean="0"/>
              <a:t>中。</a:t>
            </a:r>
            <a:endParaRPr lang="zh-CN" altLang="en-US" sz="3900" smtClean="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0" y="238124"/>
            <a:ext cx="8461375" cy="955675"/>
          </a:xfrm>
        </p:spPr>
        <p:txBody>
          <a:bodyPr/>
          <a:lstStyle/>
          <a:p>
            <a:pPr eaLnBrk="1" hangingPunct="1"/>
            <a:r>
              <a:rPr lang="zh-CN" altLang="en-US" dirty="0" smtClean="0"/>
              <a:t>更多的感性认识</a:t>
            </a:r>
            <a:r>
              <a:rPr lang="en-US" altLang="zh-CN" dirty="0" smtClean="0"/>
              <a:t>…</a:t>
            </a:r>
            <a:endParaRPr lang="en-US" altLang="zh-CN" dirty="0" smtClean="0"/>
          </a:p>
        </p:txBody>
      </p:sp>
      <p:sp>
        <p:nvSpPr>
          <p:cNvPr id="22531" name="Rectangle 3"/>
          <p:cNvSpPr>
            <a:spLocks noGrp="1" noChangeArrowheads="1"/>
          </p:cNvSpPr>
          <p:nvPr>
            <p:ph type="body" idx="1"/>
          </p:nvPr>
        </p:nvSpPr>
        <p:spPr/>
        <p:txBody>
          <a:bodyPr/>
          <a:lstStyle/>
          <a:p>
            <a:pPr eaLnBrk="1" hangingPunct="1"/>
            <a:r>
              <a:rPr lang="zh-CN" altLang="en-US" sz="4000" dirty="0" smtClean="0"/>
              <a:t>工程中的经济评价问题</a:t>
            </a:r>
            <a:endParaRPr lang="zh-CN" altLang="en-US" sz="4000" dirty="0" smtClean="0"/>
          </a:p>
          <a:p>
            <a:pPr lvl="1" eaLnBrk="1" hangingPunct="1"/>
            <a:r>
              <a:rPr lang="zh-CN" altLang="en-US" dirty="0" smtClean="0"/>
              <a:t>三峡工程</a:t>
            </a:r>
            <a:endParaRPr lang="zh-CN" altLang="en-US" dirty="0" smtClean="0"/>
          </a:p>
          <a:p>
            <a:pPr lvl="1" eaLnBrk="1" hangingPunct="1"/>
            <a:r>
              <a:rPr lang="zh-CN" altLang="en-US" dirty="0" smtClean="0"/>
              <a:t>南水北调工程</a:t>
            </a:r>
            <a:endParaRPr lang="zh-CN" altLang="en-US" dirty="0" smtClean="0"/>
          </a:p>
          <a:p>
            <a:pPr lvl="1" eaLnBrk="1" hangingPunct="1"/>
            <a:r>
              <a:rPr lang="zh-CN" altLang="en-US" dirty="0" smtClean="0"/>
              <a:t>城市地铁工程</a:t>
            </a:r>
            <a:endParaRPr lang="zh-CN" altLang="en-US" dirty="0" smtClean="0"/>
          </a:p>
          <a:p>
            <a:pPr eaLnBrk="1" hangingPunct="1"/>
            <a:r>
              <a:rPr lang="zh-CN" altLang="en-US" sz="4000" dirty="0" smtClean="0"/>
              <a:t>生活中的经济评价问题</a:t>
            </a:r>
            <a:endParaRPr lang="zh-CN" altLang="en-US" sz="4000" dirty="0" smtClean="0"/>
          </a:p>
          <a:p>
            <a:pPr lvl="1" eaLnBrk="1" hangingPunct="1"/>
            <a:r>
              <a:rPr lang="zh-CN" altLang="en-US" dirty="0" smtClean="0"/>
              <a:t>家庭投资决策</a:t>
            </a:r>
            <a:endParaRPr lang="zh-CN" altLang="en-US" dirty="0" smtClean="0"/>
          </a:p>
          <a:p>
            <a:pPr lvl="1" eaLnBrk="1" hangingPunct="1"/>
            <a:r>
              <a:rPr lang="zh-CN" altLang="en-US" dirty="0" smtClean="0"/>
              <a:t>个人道路选择</a:t>
            </a:r>
            <a:endParaRPr lang="zh-CN" altLang="en-US" dirty="0" smtClean="0"/>
          </a:p>
          <a:p>
            <a:pPr lvl="1" eaLnBrk="1" hangingPunct="1"/>
            <a:endParaRPr lang="zh-CN" altLang="en-US" sz="3600" dirty="0" smtClean="0"/>
          </a:p>
          <a:p>
            <a:pPr eaLnBrk="1" hangingPunct="1"/>
            <a:endParaRPr lang="en-US" altLang="zh-CN" sz="4000" dirty="0" smtClean="0"/>
          </a:p>
          <a:p>
            <a:pPr eaLnBrk="1" hangingPunct="1"/>
            <a:endParaRPr lang="en-US" altLang="zh-CN" dirty="0" smtClean="0"/>
          </a:p>
          <a:p>
            <a:pPr eaLnBrk="1" hangingPunct="1"/>
            <a:endParaRPr lang="zh-CN" altLang="en-US" dirty="0" smtClean="0"/>
          </a:p>
        </p:txBody>
      </p:sp>
      <p:sp>
        <p:nvSpPr>
          <p:cNvPr id="22532" name="Text Box 4"/>
          <p:cNvSpPr txBox="1">
            <a:spLocks noChangeArrowheads="1"/>
          </p:cNvSpPr>
          <p:nvPr/>
        </p:nvSpPr>
        <p:spPr bwMode="auto">
          <a:xfrm>
            <a:off x="5791200" y="2322513"/>
            <a:ext cx="3106738" cy="3122612"/>
          </a:xfrm>
          <a:prstGeom prst="rect">
            <a:avLst/>
          </a:prstGeom>
          <a:noFill/>
          <a:ln w="38100" cmpd="dbl">
            <a:solidFill>
              <a:srgbClr val="8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50000"/>
              </a:spcBef>
              <a:buFontTx/>
              <a:buNone/>
            </a:pPr>
            <a:r>
              <a:rPr lang="zh-CN" altLang="en-US" sz="2800">
                <a:solidFill>
                  <a:srgbClr val="990000"/>
                </a:solidFill>
                <a:latin typeface="楷体_GB2312" charset="-122"/>
              </a:rPr>
              <a:t>投入多少钱？</a:t>
            </a:r>
            <a:endParaRPr lang="zh-CN" altLang="en-US" sz="2800">
              <a:solidFill>
                <a:srgbClr val="990000"/>
              </a:solidFill>
              <a:latin typeface="楷体_GB2312" charset="-122"/>
            </a:endParaRPr>
          </a:p>
          <a:p>
            <a:pPr>
              <a:spcBef>
                <a:spcPct val="50000"/>
              </a:spcBef>
              <a:buFontTx/>
              <a:buNone/>
            </a:pPr>
            <a:r>
              <a:rPr lang="zh-CN" altLang="en-US" sz="2800">
                <a:solidFill>
                  <a:srgbClr val="990000"/>
                </a:solidFill>
                <a:latin typeface="楷体_GB2312" charset="-122"/>
              </a:rPr>
              <a:t>回收多少钱？</a:t>
            </a:r>
            <a:endParaRPr lang="zh-CN" altLang="en-US" sz="2800">
              <a:solidFill>
                <a:srgbClr val="990000"/>
              </a:solidFill>
              <a:latin typeface="楷体_GB2312" charset="-122"/>
            </a:endParaRPr>
          </a:p>
          <a:p>
            <a:pPr>
              <a:spcBef>
                <a:spcPct val="50000"/>
              </a:spcBef>
              <a:buFontTx/>
              <a:buNone/>
            </a:pPr>
            <a:r>
              <a:rPr lang="zh-CN" altLang="en-US" sz="2800">
                <a:solidFill>
                  <a:srgbClr val="990000"/>
                </a:solidFill>
                <a:latin typeface="楷体_GB2312" charset="-122"/>
              </a:rPr>
              <a:t>赚了多少钱？</a:t>
            </a:r>
            <a:endParaRPr lang="zh-CN" altLang="en-US" sz="2800">
              <a:solidFill>
                <a:srgbClr val="990000"/>
              </a:solidFill>
              <a:latin typeface="楷体_GB2312" charset="-122"/>
            </a:endParaRPr>
          </a:p>
          <a:p>
            <a:pPr>
              <a:spcBef>
                <a:spcPct val="50000"/>
              </a:spcBef>
              <a:buFontTx/>
              <a:buNone/>
            </a:pPr>
            <a:r>
              <a:rPr lang="zh-CN" altLang="en-US" sz="2800">
                <a:solidFill>
                  <a:srgbClr val="990000"/>
                </a:solidFill>
                <a:latin typeface="楷体_GB2312" charset="-122"/>
              </a:rPr>
              <a:t>钱从哪来？</a:t>
            </a:r>
            <a:endParaRPr lang="zh-CN" altLang="en-US" sz="2800">
              <a:solidFill>
                <a:srgbClr val="990000"/>
              </a:solidFill>
              <a:latin typeface="楷体_GB2312" charset="-122"/>
            </a:endParaRPr>
          </a:p>
          <a:p>
            <a:pPr>
              <a:spcBef>
                <a:spcPct val="50000"/>
              </a:spcBef>
              <a:buFontTx/>
              <a:buNone/>
            </a:pPr>
            <a:r>
              <a:rPr lang="zh-CN" altLang="en-US" sz="2800">
                <a:solidFill>
                  <a:srgbClr val="990000"/>
                </a:solidFill>
                <a:latin typeface="楷体_GB2312" charset="-122"/>
              </a:rPr>
              <a:t>哪个方案更合算？</a:t>
            </a:r>
            <a:endParaRPr lang="zh-CN" altLang="en-US" sz="2800">
              <a:solidFill>
                <a:srgbClr val="990000"/>
              </a:solidFill>
              <a:latin typeface="楷体_GB2312" charset="-122"/>
            </a:endParaRPr>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0" y="665628"/>
            <a:ext cx="8461375" cy="528171"/>
          </a:xfrm>
        </p:spPr>
        <p:txBody>
          <a:bodyPr/>
          <a:lstStyle/>
          <a:p>
            <a:pPr eaLnBrk="1" hangingPunct="1"/>
            <a:r>
              <a:rPr lang="zh-CN" altLang="en-US" dirty="0" smtClean="0">
                <a:solidFill>
                  <a:srgbClr val="660066"/>
                </a:solidFill>
              </a:rPr>
              <a:t>三峡工程</a:t>
            </a:r>
            <a:br>
              <a:rPr lang="zh-CN" altLang="en-US" dirty="0" smtClean="0">
                <a:solidFill>
                  <a:srgbClr val="660066"/>
                </a:solidFill>
              </a:rPr>
            </a:br>
            <a:endParaRPr lang="zh-CN" altLang="en-US" dirty="0" smtClean="0">
              <a:solidFill>
                <a:srgbClr val="660066"/>
              </a:solidFill>
            </a:endParaRPr>
          </a:p>
        </p:txBody>
      </p:sp>
      <p:sp>
        <p:nvSpPr>
          <p:cNvPr id="23555" name="Rectangle 3"/>
          <p:cNvSpPr>
            <a:spLocks noGrp="1" noChangeArrowheads="1"/>
          </p:cNvSpPr>
          <p:nvPr>
            <p:ph type="body" idx="1"/>
          </p:nvPr>
        </p:nvSpPr>
        <p:spPr/>
        <p:txBody>
          <a:bodyPr/>
          <a:lstStyle/>
          <a:p>
            <a:pPr eaLnBrk="1" hangingPunct="1"/>
            <a:r>
              <a:rPr kumimoji="1" lang="zh-CN" altLang="en-US" dirty="0">
                <a:solidFill>
                  <a:srgbClr val="0000FF"/>
                </a:solidFill>
              </a:rPr>
              <a:t>三峡</a:t>
            </a:r>
            <a:r>
              <a:rPr kumimoji="1" lang="zh-CN" altLang="en-US" dirty="0" smtClean="0">
                <a:solidFill>
                  <a:srgbClr val="0000FF"/>
                </a:solidFill>
              </a:rPr>
              <a:t>大坝迎接</a:t>
            </a:r>
            <a:r>
              <a:rPr kumimoji="1" lang="zh-CN" altLang="en-US" dirty="0">
                <a:solidFill>
                  <a:srgbClr val="0000FF"/>
                </a:solidFill>
              </a:rPr>
              <a:t>建成以来最大</a:t>
            </a:r>
            <a:r>
              <a:rPr kumimoji="1" lang="zh-CN" altLang="en-US" dirty="0" smtClean="0">
                <a:solidFill>
                  <a:srgbClr val="0000FF"/>
                </a:solidFill>
              </a:rPr>
              <a:t>洪峰</a:t>
            </a:r>
            <a:endParaRPr kumimoji="1" lang="en-US" altLang="zh-CN" dirty="0" smtClean="0">
              <a:solidFill>
                <a:srgbClr val="0000FF"/>
              </a:solidFill>
            </a:endParaRPr>
          </a:p>
          <a:p>
            <a:pPr lvl="1" eaLnBrk="1" hangingPunct="1"/>
            <a:r>
              <a:rPr kumimoji="1" lang="zh-CN" altLang="en-US" dirty="0">
                <a:solidFill>
                  <a:srgbClr val="0000FF"/>
                </a:solidFill>
              </a:rPr>
              <a:t>入库流量达到</a:t>
            </a:r>
            <a:r>
              <a:rPr kumimoji="1" lang="en-US" altLang="zh-CN" dirty="0">
                <a:solidFill>
                  <a:srgbClr val="0000FF"/>
                </a:solidFill>
              </a:rPr>
              <a:t>75000</a:t>
            </a:r>
            <a:r>
              <a:rPr kumimoji="1" lang="zh-CN" altLang="en-US" dirty="0">
                <a:solidFill>
                  <a:srgbClr val="0000FF"/>
                </a:solidFill>
              </a:rPr>
              <a:t>立方米</a:t>
            </a:r>
            <a:r>
              <a:rPr kumimoji="1" lang="zh-CN" altLang="en-US" dirty="0" smtClean="0">
                <a:solidFill>
                  <a:srgbClr val="0000FF"/>
                </a:solidFill>
              </a:rPr>
              <a:t>每秒</a:t>
            </a:r>
            <a:endParaRPr kumimoji="1" lang="en-US" altLang="zh-CN" dirty="0" smtClean="0">
              <a:solidFill>
                <a:srgbClr val="0000FF"/>
              </a:solidFill>
            </a:endParaRPr>
          </a:p>
          <a:p>
            <a:pPr lvl="1" eaLnBrk="1" hangingPunct="1"/>
            <a:r>
              <a:rPr kumimoji="1" lang="zh-CN" altLang="en-US" dirty="0" smtClean="0">
                <a:solidFill>
                  <a:srgbClr val="0000FF"/>
                </a:solidFill>
              </a:rPr>
              <a:t>下泄</a:t>
            </a:r>
            <a:r>
              <a:rPr kumimoji="1" lang="zh-CN" altLang="en-US" dirty="0">
                <a:solidFill>
                  <a:srgbClr val="0000FF"/>
                </a:solidFill>
              </a:rPr>
              <a:t>流量达</a:t>
            </a:r>
            <a:r>
              <a:rPr kumimoji="1" lang="en-US" altLang="zh-CN" dirty="0">
                <a:solidFill>
                  <a:srgbClr val="0000FF"/>
                </a:solidFill>
              </a:rPr>
              <a:t>49200</a:t>
            </a:r>
            <a:r>
              <a:rPr kumimoji="1" lang="zh-CN" altLang="en-US" dirty="0">
                <a:solidFill>
                  <a:srgbClr val="0000FF"/>
                </a:solidFill>
              </a:rPr>
              <a:t>立方</a:t>
            </a:r>
            <a:r>
              <a:rPr kumimoji="1" lang="zh-CN" altLang="en-US" dirty="0" smtClean="0">
                <a:solidFill>
                  <a:srgbClr val="0000FF"/>
                </a:solidFill>
              </a:rPr>
              <a:t>每秒</a:t>
            </a:r>
            <a:endParaRPr kumimoji="1" lang="zh-CN" altLang="en-US" dirty="0" smtClean="0">
              <a:solidFill>
                <a:srgbClr val="0000FF"/>
              </a:solidFill>
            </a:endParaRPr>
          </a:p>
        </p:txBody>
      </p:sp>
      <p:pic>
        <p:nvPicPr>
          <p:cNvPr id="2" name="图片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30750" y="3229588"/>
            <a:ext cx="5882500" cy="3323612"/>
          </a:xfrm>
          <a:prstGeom prst="rect">
            <a:avLst/>
          </a:prstGeom>
        </p:spPr>
      </p:pic>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0" y="954740"/>
            <a:ext cx="8461375" cy="239059"/>
          </a:xfrm>
        </p:spPr>
        <p:txBody>
          <a:bodyPr/>
          <a:lstStyle/>
          <a:p>
            <a:pPr eaLnBrk="1" hangingPunct="1"/>
            <a:r>
              <a:rPr lang="zh-CN" altLang="en-US" dirty="0" smtClean="0">
                <a:solidFill>
                  <a:srgbClr val="660066"/>
                </a:solidFill>
              </a:rPr>
              <a:t>三峡工程概况</a:t>
            </a:r>
            <a:br>
              <a:rPr lang="zh-CN" altLang="en-US" dirty="0" smtClean="0">
                <a:solidFill>
                  <a:srgbClr val="660066"/>
                </a:solidFill>
              </a:rPr>
            </a:br>
            <a:endParaRPr lang="zh-CN" altLang="en-US" dirty="0" smtClean="0">
              <a:solidFill>
                <a:srgbClr val="660066"/>
              </a:solidFill>
            </a:endParaRPr>
          </a:p>
        </p:txBody>
      </p:sp>
      <p:sp>
        <p:nvSpPr>
          <p:cNvPr id="23555" name="Rectangle 3"/>
          <p:cNvSpPr>
            <a:spLocks noGrp="1" noChangeArrowheads="1"/>
          </p:cNvSpPr>
          <p:nvPr>
            <p:ph type="body" idx="1"/>
          </p:nvPr>
        </p:nvSpPr>
        <p:spPr/>
        <p:txBody>
          <a:bodyPr/>
          <a:lstStyle/>
          <a:p>
            <a:pPr eaLnBrk="1" hangingPunct="1"/>
            <a:r>
              <a:rPr kumimoji="1" lang="zh-CN" altLang="en-US" smtClean="0">
                <a:solidFill>
                  <a:srgbClr val="0000FF"/>
                </a:solidFill>
              </a:rPr>
              <a:t>三峡工程大坝坝址位于宜昌市三斗坪，在葛洲坝水利枢纽上游约</a:t>
            </a:r>
            <a:r>
              <a:rPr kumimoji="1" lang="en-US" altLang="zh-CN" smtClean="0">
                <a:solidFill>
                  <a:srgbClr val="0000FF"/>
                </a:solidFill>
              </a:rPr>
              <a:t>40</a:t>
            </a:r>
            <a:r>
              <a:rPr kumimoji="1" lang="zh-CN" altLang="en-US" smtClean="0">
                <a:solidFill>
                  <a:srgbClr val="0000FF"/>
                </a:solidFill>
              </a:rPr>
              <a:t>公里处；</a:t>
            </a:r>
            <a:endParaRPr kumimoji="1" lang="zh-CN" altLang="en-US" b="0" smtClean="0">
              <a:solidFill>
                <a:srgbClr val="0000FF"/>
              </a:solidFill>
            </a:endParaRPr>
          </a:p>
          <a:p>
            <a:pPr eaLnBrk="1" hangingPunct="1"/>
            <a:r>
              <a:rPr kumimoji="1" lang="zh-CN" altLang="en-US" smtClean="0">
                <a:solidFill>
                  <a:srgbClr val="0000FF"/>
                </a:solidFill>
              </a:rPr>
              <a:t>枢纽主要建筑物由大坝、水电站、通航建筑物等</a:t>
            </a:r>
            <a:r>
              <a:rPr kumimoji="1" lang="en-US" altLang="zh-CN" smtClean="0">
                <a:solidFill>
                  <a:srgbClr val="0000FF"/>
                </a:solidFill>
              </a:rPr>
              <a:t>3</a:t>
            </a:r>
            <a:r>
              <a:rPr kumimoji="1" lang="zh-CN" altLang="en-US" smtClean="0">
                <a:solidFill>
                  <a:srgbClr val="0000FF"/>
                </a:solidFill>
              </a:rPr>
              <a:t>大部分组成；</a:t>
            </a:r>
            <a:endParaRPr kumimoji="1" lang="zh-CN" altLang="en-US" smtClean="0">
              <a:solidFill>
                <a:srgbClr val="0000FF"/>
              </a:solidFill>
            </a:endParaRPr>
          </a:p>
          <a:p>
            <a:pPr eaLnBrk="1" hangingPunct="1"/>
            <a:r>
              <a:rPr kumimoji="1" lang="zh-CN" altLang="en-US" smtClean="0">
                <a:solidFill>
                  <a:srgbClr val="0000FF"/>
                </a:solidFill>
              </a:rPr>
              <a:t>主要效益在于防洪、 发电和航运</a:t>
            </a:r>
            <a:endParaRPr kumimoji="1" lang="zh-CN" altLang="en-US" smtClean="0">
              <a:solidFill>
                <a:srgbClr val="0000FF"/>
              </a:solidFill>
            </a:endParaRPr>
          </a:p>
        </p:txBody>
      </p:sp>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endParaRPr lang="zh-CN" altLang="en-US" smtClean="0"/>
          </a:p>
        </p:txBody>
      </p:sp>
      <p:pic>
        <p:nvPicPr>
          <p:cNvPr id="24579" name="Picture 4" descr="505"/>
          <p:cNvPicPr>
            <a:picLocks noGrp="1" noChangeAspect="1" noChangeArrowheads="1"/>
          </p:cNvPicPr>
          <p:nvPr>
            <p:ph type="body" idx="1"/>
          </p:nvPr>
        </p:nvPicPr>
        <p:blipFill>
          <a:blip r:embed="rId1">
            <a:extLst>
              <a:ext uri="{28A0092B-C50C-407E-A947-70E740481C1C}">
                <a14:useLocalDpi xmlns:a14="http://schemas.microsoft.com/office/drawing/2010/main" val="0"/>
              </a:ext>
            </a:extLst>
          </a:blip>
          <a:srcRect/>
          <a:stretch>
            <a:fillRect/>
          </a:stretch>
        </p:blipFill>
        <p:spPr>
          <a:xfrm>
            <a:off x="0" y="12700"/>
            <a:ext cx="9144000" cy="5759450"/>
          </a:xfrm>
        </p:spPr>
      </p:pic>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endParaRPr lang="zh-CN" altLang="en-US" smtClean="0"/>
          </a:p>
        </p:txBody>
      </p:sp>
      <p:sp>
        <p:nvSpPr>
          <p:cNvPr id="25603" name="Rectangle 3"/>
          <p:cNvSpPr>
            <a:spLocks noGrp="1" noChangeArrowheads="1"/>
          </p:cNvSpPr>
          <p:nvPr>
            <p:ph type="body" idx="1"/>
          </p:nvPr>
        </p:nvSpPr>
        <p:spPr/>
        <p:txBody>
          <a:bodyPr/>
          <a:lstStyle/>
          <a:p>
            <a:pPr eaLnBrk="1" hangingPunct="1"/>
            <a:endParaRPr lang="zh-CN" altLang="en-US" smtClean="0"/>
          </a:p>
        </p:txBody>
      </p:sp>
      <p:pic>
        <p:nvPicPr>
          <p:cNvPr id="25604" name="Picture 4" descr="50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649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pPr eaLnBrk="1" hangingPunct="1"/>
            <a:endParaRPr lang="zh-CN" altLang="en-US" smtClean="0"/>
          </a:p>
        </p:txBody>
      </p:sp>
      <p:sp>
        <p:nvSpPr>
          <p:cNvPr id="26627" name="Rectangle 3"/>
          <p:cNvSpPr>
            <a:spLocks noGrp="1" noChangeArrowheads="1"/>
          </p:cNvSpPr>
          <p:nvPr>
            <p:ph type="body" idx="1"/>
          </p:nvPr>
        </p:nvSpPr>
        <p:spPr/>
        <p:txBody>
          <a:bodyPr/>
          <a:lstStyle/>
          <a:p>
            <a:pPr eaLnBrk="1" hangingPunct="1"/>
            <a:endParaRPr lang="zh-CN" altLang="en-US" smtClean="0"/>
          </a:p>
        </p:txBody>
      </p:sp>
      <p:pic>
        <p:nvPicPr>
          <p:cNvPr id="26628" name="Picture 4" descr="49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662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5"/>
          <p:cNvSpPr>
            <a:spLocks noGrp="1" noChangeArrowheads="1"/>
          </p:cNvSpPr>
          <p:nvPr>
            <p:ph type="title"/>
          </p:nvPr>
        </p:nvSpPr>
        <p:spPr>
          <a:xfrm>
            <a:off x="457200" y="274638"/>
            <a:ext cx="8229600" cy="1143000"/>
          </a:xfrm>
          <a:noFill/>
          <a:extLst>
            <a:ext uri="{909E8E84-426E-40DD-AFC4-6F175D3DCCD1}">
              <a14:hiddenFill xmlns:a14="http://schemas.microsoft.com/office/drawing/2010/main">
                <a:solidFill>
                  <a:schemeClr val="tx2"/>
                </a:solidFill>
              </a14:hiddenFill>
            </a:ext>
          </a:extLst>
        </p:spPr>
        <p:txBody>
          <a:bodyPr/>
          <a:lstStyle/>
          <a:p>
            <a:pPr eaLnBrk="1" hangingPunct="1"/>
            <a:endParaRPr lang="zh-CN" altLang="en-US" smtClean="0"/>
          </a:p>
        </p:txBody>
      </p:sp>
      <p:sp>
        <p:nvSpPr>
          <p:cNvPr id="27651" name="Rectangle 6"/>
          <p:cNvSpPr>
            <a:spLocks noGrp="1" noChangeArrowheads="1"/>
          </p:cNvSpPr>
          <p:nvPr>
            <p:ph type="body" idx="1"/>
          </p:nvPr>
        </p:nvSpPr>
        <p:spPr>
          <a:xfrm>
            <a:off x="457200" y="1600200"/>
            <a:ext cx="8229600" cy="4525963"/>
          </a:xfrm>
          <a:noFill/>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mtClean="0"/>
          </a:p>
        </p:txBody>
      </p:sp>
      <p:sp>
        <p:nvSpPr>
          <p:cNvPr id="27652" name="Rectangle 7"/>
          <p:cNvSpPr>
            <a:spLocks noChangeArrowheads="1"/>
          </p:cNvSpPr>
          <p:nvPr/>
        </p:nvSpPr>
        <p:spPr bwMode="auto">
          <a:xfrm>
            <a:off x="1187450" y="5589588"/>
            <a:ext cx="71628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6" tIns="45719" rIns="91436" bIns="45719"/>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1" hangingPunct="1">
              <a:spcBef>
                <a:spcPct val="0"/>
              </a:spcBef>
              <a:buFontTx/>
              <a:buNone/>
            </a:pPr>
            <a:r>
              <a:rPr kumimoji="1" lang="en-US" altLang="zh-CN" sz="2800" b="0" i="1">
                <a:solidFill>
                  <a:srgbClr val="CC3399"/>
                </a:solidFill>
                <a:latin typeface="Times New Roman" panose="02020603050405020304" charset="0"/>
              </a:rPr>
              <a:t>Layout of the 1st Stage Diversion </a:t>
            </a:r>
            <a:r>
              <a:rPr kumimoji="1" lang="en-US" altLang="zh-CN" sz="2800" b="0">
                <a:solidFill>
                  <a:srgbClr val="3333FF"/>
                </a:solidFill>
              </a:rPr>
              <a:t>(1993-1997)</a:t>
            </a:r>
            <a:r>
              <a:rPr kumimoji="1" lang="en-US" altLang="zh-CN" b="0" i="1">
                <a:solidFill>
                  <a:srgbClr val="CC3399"/>
                </a:solidFill>
                <a:latin typeface="楷体_GB2312" charset="-122"/>
              </a:rPr>
              <a:t> </a:t>
            </a:r>
            <a:endParaRPr kumimoji="1" lang="en-US" altLang="zh-CN" b="0" i="1">
              <a:solidFill>
                <a:srgbClr val="CC3399"/>
              </a:solidFill>
              <a:latin typeface="楷体_GB2312" charset="-122"/>
            </a:endParaRPr>
          </a:p>
        </p:txBody>
      </p:sp>
      <p:pic>
        <p:nvPicPr>
          <p:cNvPr id="27653" name="Picture 8" descr="017"/>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71450"/>
            <a:ext cx="9144000" cy="578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p:cNvSpPr>
            <a:spLocks noGrp="1" noChangeArrowheads="1"/>
          </p:cNvSpPr>
          <p:nvPr>
            <p:ph type="title"/>
          </p:nvPr>
        </p:nvSpPr>
        <p:spPr>
          <a:xfrm>
            <a:off x="457200" y="274638"/>
            <a:ext cx="8229600" cy="1143000"/>
          </a:xfrm>
          <a:noFill/>
          <a:extLst>
            <a:ext uri="{909E8E84-426E-40DD-AFC4-6F175D3DCCD1}">
              <a14:hiddenFill xmlns:a14="http://schemas.microsoft.com/office/drawing/2010/main">
                <a:solidFill>
                  <a:schemeClr val="tx2"/>
                </a:solidFill>
              </a14:hiddenFill>
            </a:ext>
          </a:extLst>
        </p:spPr>
        <p:txBody>
          <a:bodyPr/>
          <a:lstStyle/>
          <a:p>
            <a:pPr eaLnBrk="1" hangingPunct="1"/>
            <a:endParaRPr lang="zh-CN" altLang="en-US" smtClean="0"/>
          </a:p>
        </p:txBody>
      </p:sp>
      <p:sp>
        <p:nvSpPr>
          <p:cNvPr id="28675" name="Rectangle 7"/>
          <p:cNvSpPr>
            <a:spLocks noGrp="1" noChangeArrowheads="1"/>
          </p:cNvSpPr>
          <p:nvPr>
            <p:ph type="body" idx="1"/>
          </p:nvPr>
        </p:nvSpPr>
        <p:spPr>
          <a:xfrm>
            <a:off x="457200" y="1600200"/>
            <a:ext cx="8229600" cy="4525963"/>
          </a:xfrm>
          <a:noFill/>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mtClean="0"/>
          </a:p>
        </p:txBody>
      </p:sp>
      <p:sp>
        <p:nvSpPr>
          <p:cNvPr id="28676" name="Rectangle 8"/>
          <p:cNvSpPr>
            <a:spLocks noChangeArrowheads="1"/>
          </p:cNvSpPr>
          <p:nvPr/>
        </p:nvSpPr>
        <p:spPr bwMode="auto">
          <a:xfrm>
            <a:off x="755650" y="5734050"/>
            <a:ext cx="7772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6" tIns="45719" rIns="91436" bIns="45719"/>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1" hangingPunct="1">
              <a:spcBef>
                <a:spcPct val="0"/>
              </a:spcBef>
              <a:buFontTx/>
              <a:buNone/>
            </a:pPr>
            <a:r>
              <a:rPr kumimoji="1" lang="en-US" altLang="zh-CN" sz="2800" b="0" i="1">
                <a:solidFill>
                  <a:srgbClr val="CC3399"/>
                </a:solidFill>
                <a:latin typeface="Times New Roman" panose="02020603050405020304" charset="0"/>
              </a:rPr>
              <a:t>Layout of the 2nd Stage Diversion </a:t>
            </a:r>
            <a:r>
              <a:rPr kumimoji="1" lang="en-US" altLang="zh-CN" sz="2800">
                <a:solidFill>
                  <a:srgbClr val="3333FF"/>
                </a:solidFill>
              </a:rPr>
              <a:t>(1998-2003)</a:t>
            </a:r>
            <a:r>
              <a:rPr kumimoji="1" lang="en-US" altLang="zh-CN" sz="2400" i="1">
                <a:solidFill>
                  <a:srgbClr val="CC3399"/>
                </a:solidFill>
                <a:latin typeface="楷体_GB2312" charset="-122"/>
              </a:rPr>
              <a:t> </a:t>
            </a:r>
            <a:endParaRPr kumimoji="1" lang="en-US" altLang="zh-CN" sz="2400" i="1">
              <a:solidFill>
                <a:srgbClr val="CC3399"/>
              </a:solidFill>
              <a:latin typeface="楷体_GB2312" charset="-122"/>
            </a:endParaRPr>
          </a:p>
        </p:txBody>
      </p:sp>
      <p:pic>
        <p:nvPicPr>
          <p:cNvPr id="28677" name="Picture 9" descr="01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578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4"/>
          <p:cNvSpPr>
            <a:spLocks noGrp="1" noChangeArrowheads="1"/>
          </p:cNvSpPr>
          <p:nvPr>
            <p:ph type="title"/>
          </p:nvPr>
        </p:nvSpPr>
        <p:spPr>
          <a:xfrm>
            <a:off x="457200" y="274638"/>
            <a:ext cx="8229600" cy="1143000"/>
          </a:xfrm>
          <a:noFill/>
          <a:extLst>
            <a:ext uri="{909E8E84-426E-40DD-AFC4-6F175D3DCCD1}">
              <a14:hiddenFill xmlns:a14="http://schemas.microsoft.com/office/drawing/2010/main">
                <a:solidFill>
                  <a:schemeClr val="tx2"/>
                </a:solidFill>
              </a14:hiddenFill>
            </a:ext>
          </a:extLst>
        </p:spPr>
        <p:txBody>
          <a:bodyPr/>
          <a:lstStyle/>
          <a:p>
            <a:pPr eaLnBrk="1" hangingPunct="1"/>
            <a:endParaRPr lang="zh-CN" altLang="en-US" smtClean="0"/>
          </a:p>
        </p:txBody>
      </p:sp>
      <p:sp>
        <p:nvSpPr>
          <p:cNvPr id="29699" name="Rectangle 5"/>
          <p:cNvSpPr>
            <a:spLocks noGrp="1" noChangeArrowheads="1"/>
          </p:cNvSpPr>
          <p:nvPr>
            <p:ph type="body" idx="1"/>
          </p:nvPr>
        </p:nvSpPr>
        <p:spPr>
          <a:xfrm>
            <a:off x="457200" y="1600200"/>
            <a:ext cx="8229600" cy="4525963"/>
          </a:xfrm>
          <a:noFill/>
          <a:extLst>
            <a:ext uri="{909E8E84-426E-40DD-AFC4-6F175D3DCCD1}">
              <a14:hiddenFill xmlns:a14="http://schemas.microsoft.com/office/drawing/2010/main">
                <a:solidFill>
                  <a:srgbClr val="FFFFFF"/>
                </a:solidFill>
              </a14:hiddenFill>
            </a:ext>
          </a:extLst>
        </p:spPr>
        <p:txBody>
          <a:bodyPr/>
          <a:lstStyle/>
          <a:p>
            <a:pPr eaLnBrk="1" hangingPunct="1"/>
            <a:endParaRPr lang="zh-CN" altLang="en-US" smtClean="0"/>
          </a:p>
        </p:txBody>
      </p:sp>
      <p:pic>
        <p:nvPicPr>
          <p:cNvPr id="29700" name="Picture 6" descr="019"/>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562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1" name="Rectangle 7"/>
          <p:cNvSpPr>
            <a:spLocks noChangeArrowheads="1"/>
          </p:cNvSpPr>
          <p:nvPr/>
        </p:nvSpPr>
        <p:spPr bwMode="auto">
          <a:xfrm>
            <a:off x="827088" y="5589588"/>
            <a:ext cx="80835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1" hangingPunct="1">
              <a:spcBef>
                <a:spcPct val="0"/>
              </a:spcBef>
              <a:buFontTx/>
              <a:buNone/>
            </a:pPr>
            <a:r>
              <a:rPr kumimoji="1" lang="en-US" altLang="zh-CN" sz="2800" i="1">
                <a:solidFill>
                  <a:srgbClr val="CC3399"/>
                </a:solidFill>
                <a:ea typeface="宋体" panose="02010600030101010101" pitchFamily="2" charset="-122"/>
              </a:rPr>
              <a:t>Layout of the 2nd Stage Diversion </a:t>
            </a:r>
            <a:r>
              <a:rPr kumimoji="1" lang="en-US" altLang="zh-CN" sz="2800" b="0">
                <a:solidFill>
                  <a:srgbClr val="3333FF"/>
                </a:solidFill>
                <a:ea typeface="宋体" panose="02010600030101010101" pitchFamily="2" charset="-122"/>
              </a:rPr>
              <a:t>(</a:t>
            </a:r>
            <a:r>
              <a:rPr kumimoji="1" lang="en-US" altLang="zh-CN" sz="2800">
                <a:solidFill>
                  <a:srgbClr val="3333FF"/>
                </a:solidFill>
                <a:ea typeface="宋体" panose="02010600030101010101" pitchFamily="2" charset="-122"/>
              </a:rPr>
              <a:t>2004-2009</a:t>
            </a:r>
            <a:r>
              <a:rPr kumimoji="1" lang="en-US" altLang="zh-CN" sz="2800" b="0">
                <a:solidFill>
                  <a:schemeClr val="tx1"/>
                </a:solidFill>
                <a:ea typeface="宋体" panose="02010600030101010101" pitchFamily="2" charset="-122"/>
              </a:rPr>
              <a:t> </a:t>
            </a:r>
            <a:r>
              <a:rPr kumimoji="1" lang="en-US" altLang="zh-CN" sz="2800" b="0">
                <a:solidFill>
                  <a:srgbClr val="3333FF"/>
                </a:solidFill>
                <a:ea typeface="宋体" panose="02010600030101010101" pitchFamily="2" charset="-122"/>
              </a:rPr>
              <a:t>)</a:t>
            </a:r>
            <a:endParaRPr kumimoji="1" lang="en-US" altLang="zh-CN" sz="2800" b="0">
              <a:solidFill>
                <a:srgbClr val="3333FF"/>
              </a:solidFill>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0" y="712694"/>
            <a:ext cx="8461375" cy="481106"/>
          </a:xfrm>
        </p:spPr>
        <p:txBody>
          <a:bodyPr/>
          <a:lstStyle/>
          <a:p>
            <a:pPr eaLnBrk="1" hangingPunct="1"/>
            <a:r>
              <a:rPr lang="zh-CN" altLang="en-US" b="0" dirty="0" smtClean="0">
                <a:solidFill>
                  <a:srgbClr val="660066"/>
                </a:solidFill>
              </a:rPr>
              <a:t>世界之最</a:t>
            </a:r>
            <a:br>
              <a:rPr lang="zh-CN" altLang="en-US" sz="3200" b="0" dirty="0" smtClean="0">
                <a:solidFill>
                  <a:srgbClr val="660066"/>
                </a:solidFill>
              </a:rPr>
            </a:br>
            <a:endParaRPr lang="zh-CN" altLang="en-US" sz="3200" b="0" dirty="0" smtClean="0">
              <a:solidFill>
                <a:srgbClr val="660066"/>
              </a:solidFill>
            </a:endParaRPr>
          </a:p>
        </p:txBody>
      </p:sp>
      <p:sp>
        <p:nvSpPr>
          <p:cNvPr id="30723" name="Rectangle 3"/>
          <p:cNvSpPr>
            <a:spLocks noGrp="1" noChangeArrowheads="1"/>
          </p:cNvSpPr>
          <p:nvPr>
            <p:ph type="body" idx="1"/>
          </p:nvPr>
        </p:nvSpPr>
        <p:spPr/>
        <p:txBody>
          <a:bodyPr/>
          <a:lstStyle/>
          <a:p>
            <a:pPr eaLnBrk="1" hangingPunct="1">
              <a:lnSpc>
                <a:spcPct val="80000"/>
              </a:lnSpc>
            </a:pPr>
            <a:r>
              <a:rPr lang="zh-CN" altLang="en-US" sz="2800" smtClean="0">
                <a:solidFill>
                  <a:srgbClr val="0000FF"/>
                </a:solidFill>
              </a:rPr>
              <a:t>三峡水电站总装机</a:t>
            </a:r>
            <a:r>
              <a:rPr lang="en-US" altLang="zh-CN" sz="2800" smtClean="0">
                <a:solidFill>
                  <a:srgbClr val="0000FF"/>
                </a:solidFill>
              </a:rPr>
              <a:t>1820</a:t>
            </a:r>
            <a:r>
              <a:rPr lang="zh-CN" altLang="en-US" sz="2800" smtClean="0">
                <a:solidFill>
                  <a:srgbClr val="0000FF"/>
                </a:solidFill>
              </a:rPr>
              <a:t>万千瓦</a:t>
            </a:r>
            <a:r>
              <a:rPr lang="en-US" altLang="zh-CN" sz="2800" smtClean="0">
                <a:solidFill>
                  <a:srgbClr val="0000FF"/>
                </a:solidFill>
              </a:rPr>
              <a:t>.</a:t>
            </a:r>
            <a:endParaRPr lang="en-US" altLang="zh-CN" sz="2800" smtClean="0">
              <a:solidFill>
                <a:srgbClr val="0000FF"/>
              </a:solidFill>
            </a:endParaRPr>
          </a:p>
          <a:p>
            <a:pPr eaLnBrk="1" hangingPunct="1">
              <a:lnSpc>
                <a:spcPct val="80000"/>
              </a:lnSpc>
            </a:pPr>
            <a:r>
              <a:rPr lang="zh-CN" altLang="en-US" sz="2800" smtClean="0">
                <a:solidFill>
                  <a:srgbClr val="0000FF"/>
                </a:solidFill>
              </a:rPr>
              <a:t>建筑规模最大</a:t>
            </a:r>
            <a:endParaRPr lang="zh-CN" altLang="en-US" sz="2800" smtClean="0">
              <a:solidFill>
                <a:srgbClr val="0000FF"/>
              </a:solidFill>
            </a:endParaRPr>
          </a:p>
          <a:p>
            <a:pPr eaLnBrk="1" hangingPunct="1">
              <a:lnSpc>
                <a:spcPct val="80000"/>
              </a:lnSpc>
            </a:pPr>
            <a:r>
              <a:rPr lang="zh-CN" altLang="en-US" sz="2800" smtClean="0">
                <a:solidFill>
                  <a:srgbClr val="0000FF"/>
                </a:solidFill>
              </a:rPr>
              <a:t>施工难度最大</a:t>
            </a:r>
            <a:endParaRPr lang="zh-CN" altLang="en-US" sz="2800" smtClean="0">
              <a:solidFill>
                <a:srgbClr val="0000FF"/>
              </a:solidFill>
            </a:endParaRPr>
          </a:p>
          <a:p>
            <a:pPr eaLnBrk="1" hangingPunct="1">
              <a:lnSpc>
                <a:spcPct val="80000"/>
              </a:lnSpc>
            </a:pPr>
            <a:r>
              <a:rPr lang="zh-CN" altLang="en-US" sz="2800" smtClean="0">
                <a:solidFill>
                  <a:srgbClr val="0000FF"/>
                </a:solidFill>
              </a:rPr>
              <a:t>施工导流最大洪峰流量</a:t>
            </a:r>
            <a:r>
              <a:rPr lang="en-US" altLang="zh-CN" sz="2800" smtClean="0">
                <a:solidFill>
                  <a:srgbClr val="0000FF"/>
                </a:solidFill>
              </a:rPr>
              <a:t>79000</a:t>
            </a:r>
            <a:r>
              <a:rPr lang="zh-CN" altLang="en-US" sz="2800" smtClean="0">
                <a:solidFill>
                  <a:srgbClr val="0000FF"/>
                </a:solidFill>
              </a:rPr>
              <a:t>立方米</a:t>
            </a:r>
            <a:r>
              <a:rPr lang="en-US" altLang="zh-CN" sz="2800" smtClean="0">
                <a:solidFill>
                  <a:srgbClr val="0000FF"/>
                </a:solidFill>
              </a:rPr>
              <a:t>/</a:t>
            </a:r>
            <a:r>
              <a:rPr lang="zh-CN" altLang="en-US" sz="2800" smtClean="0">
                <a:solidFill>
                  <a:srgbClr val="0000FF"/>
                </a:solidFill>
              </a:rPr>
              <a:t>秒，施工期流量最大 </a:t>
            </a:r>
            <a:r>
              <a:rPr lang="en-US" altLang="zh-CN" sz="2800" smtClean="0">
                <a:solidFill>
                  <a:srgbClr val="0000FF"/>
                </a:solidFill>
              </a:rPr>
              <a:t>.</a:t>
            </a:r>
            <a:endParaRPr lang="en-US" altLang="zh-CN" sz="2800" smtClean="0">
              <a:solidFill>
                <a:srgbClr val="0000FF"/>
              </a:solidFill>
            </a:endParaRPr>
          </a:p>
          <a:p>
            <a:pPr eaLnBrk="1" hangingPunct="1">
              <a:lnSpc>
                <a:spcPct val="80000"/>
              </a:lnSpc>
            </a:pPr>
            <a:r>
              <a:rPr lang="zh-CN" altLang="en-US" sz="2800" smtClean="0">
                <a:solidFill>
                  <a:srgbClr val="0000FF"/>
                </a:solidFill>
              </a:rPr>
              <a:t>三峡工程泄洪闸最大泄洪能力</a:t>
            </a:r>
            <a:r>
              <a:rPr lang="en-US" altLang="zh-CN" sz="2800" smtClean="0">
                <a:solidFill>
                  <a:srgbClr val="0000FF"/>
                </a:solidFill>
              </a:rPr>
              <a:t>10.25</a:t>
            </a:r>
            <a:r>
              <a:rPr lang="zh-CN" altLang="en-US" sz="2800" smtClean="0">
                <a:solidFill>
                  <a:srgbClr val="0000FF"/>
                </a:solidFill>
              </a:rPr>
              <a:t>万立方米</a:t>
            </a:r>
            <a:r>
              <a:rPr lang="en-US" altLang="zh-CN" sz="2800" smtClean="0">
                <a:solidFill>
                  <a:srgbClr val="0000FF"/>
                </a:solidFill>
              </a:rPr>
              <a:t>/</a:t>
            </a:r>
            <a:r>
              <a:rPr lang="zh-CN" altLang="en-US" sz="2800" smtClean="0">
                <a:solidFill>
                  <a:srgbClr val="0000FF"/>
                </a:solidFill>
              </a:rPr>
              <a:t>秒，是世界上泄洪能力最大的泄洪闸</a:t>
            </a:r>
            <a:r>
              <a:rPr lang="en-US" altLang="zh-CN" sz="2800" smtClean="0">
                <a:solidFill>
                  <a:srgbClr val="0000FF"/>
                </a:solidFill>
              </a:rPr>
              <a:t>.</a:t>
            </a:r>
            <a:endParaRPr lang="en-US" altLang="zh-CN" sz="2800" smtClean="0">
              <a:solidFill>
                <a:srgbClr val="0000FF"/>
              </a:solidFill>
            </a:endParaRPr>
          </a:p>
          <a:p>
            <a:pPr eaLnBrk="1" hangingPunct="1">
              <a:lnSpc>
                <a:spcPct val="80000"/>
              </a:lnSpc>
            </a:pPr>
            <a:r>
              <a:rPr lang="zh-CN" altLang="en-US" sz="2800" smtClean="0">
                <a:solidFill>
                  <a:srgbClr val="0000FF"/>
                </a:solidFill>
              </a:rPr>
              <a:t>总水头</a:t>
            </a:r>
            <a:r>
              <a:rPr lang="en-US" altLang="zh-CN" sz="2800" smtClean="0">
                <a:solidFill>
                  <a:srgbClr val="0000FF"/>
                </a:solidFill>
              </a:rPr>
              <a:t>113</a:t>
            </a:r>
            <a:r>
              <a:rPr lang="zh-CN" altLang="en-US" sz="2800" smtClean="0">
                <a:solidFill>
                  <a:srgbClr val="0000FF"/>
                </a:solidFill>
              </a:rPr>
              <a:t>米的船闸，是世界上级数最多、总水头最高的内河船闸  </a:t>
            </a:r>
            <a:endParaRPr lang="zh-CN" altLang="en-US" sz="2800" smtClean="0">
              <a:solidFill>
                <a:srgbClr val="0000FF"/>
              </a:solidFill>
            </a:endParaRPr>
          </a:p>
          <a:p>
            <a:pPr eaLnBrk="1" hangingPunct="1">
              <a:lnSpc>
                <a:spcPct val="80000"/>
              </a:lnSpc>
            </a:pPr>
            <a:r>
              <a:rPr lang="zh-CN" altLang="en-US" sz="2800" smtClean="0">
                <a:solidFill>
                  <a:srgbClr val="0000FF"/>
                </a:solidFill>
              </a:rPr>
              <a:t>升船机过船吨位</a:t>
            </a:r>
            <a:r>
              <a:rPr lang="en-US" altLang="zh-CN" sz="2800" smtClean="0">
                <a:solidFill>
                  <a:srgbClr val="0000FF"/>
                </a:solidFill>
              </a:rPr>
              <a:t>3000</a:t>
            </a:r>
            <a:r>
              <a:rPr lang="zh-CN" altLang="en-US" sz="2800" smtClean="0">
                <a:solidFill>
                  <a:srgbClr val="0000FF"/>
                </a:solidFill>
              </a:rPr>
              <a:t>吨，是世界上规模最大、难度最高</a:t>
            </a:r>
            <a:endParaRPr lang="zh-CN" altLang="en-US" sz="2800" smtClean="0">
              <a:solidFill>
                <a:srgbClr val="0000FF"/>
              </a:solidFill>
            </a:endParaRPr>
          </a:p>
          <a:p>
            <a:pPr eaLnBrk="1" hangingPunct="1">
              <a:lnSpc>
                <a:spcPct val="80000"/>
              </a:lnSpc>
            </a:pPr>
            <a:r>
              <a:rPr lang="zh-CN" altLang="en-US" sz="2800" smtClean="0">
                <a:solidFill>
                  <a:srgbClr val="0000FF"/>
                </a:solidFill>
              </a:rPr>
              <a:t>移民</a:t>
            </a:r>
            <a:r>
              <a:rPr lang="en-US" altLang="zh-CN" sz="2800" smtClean="0">
                <a:solidFill>
                  <a:srgbClr val="0000FF"/>
                </a:solidFill>
              </a:rPr>
              <a:t>113</a:t>
            </a:r>
            <a:r>
              <a:rPr lang="zh-CN" altLang="en-US" sz="2800" smtClean="0">
                <a:solidFill>
                  <a:srgbClr val="0000FF"/>
                </a:solidFill>
              </a:rPr>
              <a:t>万，是世界上水库移民最多 </a:t>
            </a:r>
            <a:endParaRPr lang="zh-CN" altLang="en-US" sz="2800" smtClean="0">
              <a:solidFill>
                <a:srgbClr val="0000FF"/>
              </a:solidFill>
            </a:endParaRPr>
          </a:p>
          <a:p>
            <a:pPr eaLnBrk="1" hangingPunct="1">
              <a:lnSpc>
                <a:spcPct val="80000"/>
              </a:lnSpc>
            </a:pPr>
            <a:endParaRPr lang="zh-CN" altLang="en-US" sz="2800" smtClean="0"/>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zh-CN" altLang="en-US" b="0" dirty="0" smtClean="0">
                <a:solidFill>
                  <a:srgbClr val="660066"/>
                </a:solidFill>
              </a:rPr>
              <a:t>三峡总公司成立</a:t>
            </a:r>
            <a:endParaRPr lang="zh-CN" altLang="en-US" b="0" dirty="0" smtClean="0">
              <a:solidFill>
                <a:srgbClr val="660066"/>
              </a:solidFill>
            </a:endParaRPr>
          </a:p>
        </p:txBody>
      </p:sp>
      <p:sp>
        <p:nvSpPr>
          <p:cNvPr id="31747" name="Rectangle 3"/>
          <p:cNvSpPr>
            <a:spLocks noGrp="1" noChangeArrowheads="1"/>
          </p:cNvSpPr>
          <p:nvPr>
            <p:ph type="body" idx="1"/>
          </p:nvPr>
        </p:nvSpPr>
        <p:spPr/>
        <p:txBody>
          <a:bodyPr/>
          <a:lstStyle/>
          <a:p>
            <a:pPr eaLnBrk="1" hangingPunct="1"/>
            <a:r>
              <a:rPr lang="zh-CN" altLang="en-US" b="0" smtClean="0">
                <a:solidFill>
                  <a:srgbClr val="0000FF"/>
                </a:solidFill>
              </a:rPr>
              <a:t>  为建设三峡、开发长江，经国务院批准，中国长江三峡工程开发总公司（以下简称中国三峡总公司）于</a:t>
            </a:r>
            <a:r>
              <a:rPr lang="en-US" altLang="zh-CN" b="0" smtClean="0">
                <a:solidFill>
                  <a:srgbClr val="0000FF"/>
                </a:solidFill>
              </a:rPr>
              <a:t>1993</a:t>
            </a:r>
            <a:r>
              <a:rPr lang="zh-CN" altLang="en-US" b="0" smtClean="0">
                <a:solidFill>
                  <a:srgbClr val="0000FF"/>
                </a:solidFill>
              </a:rPr>
              <a:t>年</a:t>
            </a:r>
            <a:r>
              <a:rPr lang="en-US" altLang="zh-CN" b="0" smtClean="0">
                <a:solidFill>
                  <a:srgbClr val="0000FF"/>
                </a:solidFill>
              </a:rPr>
              <a:t>9</a:t>
            </a:r>
            <a:r>
              <a:rPr lang="zh-CN" altLang="en-US" b="0" smtClean="0">
                <a:solidFill>
                  <a:srgbClr val="0000FF"/>
                </a:solidFill>
              </a:rPr>
              <a:t>月</a:t>
            </a:r>
            <a:r>
              <a:rPr lang="en-US" altLang="zh-CN" b="0" smtClean="0">
                <a:solidFill>
                  <a:srgbClr val="0000FF"/>
                </a:solidFill>
              </a:rPr>
              <a:t>27</a:t>
            </a:r>
            <a:r>
              <a:rPr lang="zh-CN" altLang="en-US" b="0" smtClean="0">
                <a:solidFill>
                  <a:srgbClr val="0000FF"/>
                </a:solidFill>
              </a:rPr>
              <a:t>日成立。中国三峡总公司为国有独资企业，注册资本金</a:t>
            </a:r>
            <a:r>
              <a:rPr lang="en-US" altLang="zh-CN" b="0" smtClean="0">
                <a:solidFill>
                  <a:srgbClr val="0000FF"/>
                </a:solidFill>
              </a:rPr>
              <a:t>39.36</a:t>
            </a:r>
            <a:r>
              <a:rPr lang="zh-CN" altLang="en-US" b="0" smtClean="0">
                <a:solidFill>
                  <a:srgbClr val="0000FF"/>
                </a:solidFill>
              </a:rPr>
              <a:t>亿元。</a:t>
            </a:r>
            <a:endParaRPr lang="zh-CN" altLang="en-US" b="0" smtClean="0">
              <a:solidFill>
                <a:srgbClr val="0000FF"/>
              </a:solidFill>
            </a:endParaRPr>
          </a:p>
          <a:p>
            <a:pPr eaLnBrk="1" hangingPunct="1"/>
            <a:r>
              <a:rPr lang="zh-CN" altLang="en-US" b="0" smtClean="0">
                <a:solidFill>
                  <a:srgbClr val="0000FF"/>
                </a:solidFill>
              </a:rPr>
              <a:t>   为三峡工程的项目法人，全面承担三峡工程项目的筹划、筹资、建设、经营、还贷、资产保值和增值，全面负责三峡枢纽工程的建设和经营管理。</a:t>
            </a:r>
            <a:endParaRPr lang="zh-CN" altLang="en-US" b="0" smtClean="0">
              <a:solidFill>
                <a:srgbClr val="0000FF"/>
              </a:solidFill>
            </a:endParaRPr>
          </a:p>
          <a:p>
            <a:pPr eaLnBrk="1" hangingPunct="1"/>
            <a:endParaRPr lang="zh-CN" altLang="en-US" smtClean="0"/>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5"/>
          <p:cNvSpPr>
            <a:spLocks noGrp="1" noChangeArrowheads="1"/>
          </p:cNvSpPr>
          <p:nvPr>
            <p:ph type="title"/>
          </p:nvPr>
        </p:nvSpPr>
        <p:spPr/>
        <p:txBody>
          <a:bodyPr/>
          <a:lstStyle/>
          <a:p>
            <a:pPr eaLnBrk="1" hangingPunct="1"/>
            <a:r>
              <a:rPr lang="zh-CN" altLang="en-US" smtClean="0">
                <a:solidFill>
                  <a:srgbClr val="660066"/>
                </a:solidFill>
              </a:rPr>
              <a:t>投资概算</a:t>
            </a:r>
            <a:endParaRPr lang="zh-CN" altLang="en-US" smtClean="0">
              <a:solidFill>
                <a:srgbClr val="660066"/>
              </a:solidFill>
            </a:endParaRPr>
          </a:p>
        </p:txBody>
      </p:sp>
      <p:graphicFrame>
        <p:nvGraphicFramePr>
          <p:cNvPr id="32771" name="Object 4"/>
          <p:cNvGraphicFramePr>
            <a:graphicFrameLocks noGrp="1" noChangeAspect="1"/>
          </p:cNvGraphicFramePr>
          <p:nvPr>
            <p:ph idx="1"/>
          </p:nvPr>
        </p:nvGraphicFramePr>
        <p:xfrm>
          <a:off x="657225" y="1346200"/>
          <a:ext cx="7829550" cy="5207000"/>
        </p:xfrm>
        <a:graphic>
          <a:graphicData uri="http://schemas.openxmlformats.org/presentationml/2006/ole">
            <mc:AlternateContent xmlns:mc="http://schemas.openxmlformats.org/markup-compatibility/2006">
              <mc:Choice xmlns:v="urn:schemas-microsoft-com:vml" Requires="v">
                <p:oleObj spid="_x0000_s32814" name="文档" r:id="rId1" imgW="8484235" imgH="5641975" progId="Word.Document.8">
                  <p:embed/>
                </p:oleObj>
              </mc:Choice>
              <mc:Fallback>
                <p:oleObj name="文档" r:id="rId1" imgW="8484235" imgH="5641975" progId="Word.Document.8">
                  <p:embed/>
                  <p:pic>
                    <p:nvPicPr>
                      <p:cNvPr id="0" name="Object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1346200"/>
                        <a:ext cx="7829550" cy="520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zh-CN" altLang="en-US" b="0" smtClean="0"/>
              <a:t>三峡总公司战略定位</a:t>
            </a:r>
            <a:endParaRPr lang="zh-CN" altLang="en-US" b="0" smtClean="0"/>
          </a:p>
        </p:txBody>
      </p:sp>
      <p:sp>
        <p:nvSpPr>
          <p:cNvPr id="33795" name="Rectangle 3"/>
          <p:cNvSpPr>
            <a:spLocks noGrp="1" noChangeArrowheads="1"/>
          </p:cNvSpPr>
          <p:nvPr>
            <p:ph type="body" idx="1"/>
          </p:nvPr>
        </p:nvSpPr>
        <p:spPr/>
        <p:txBody>
          <a:bodyPr/>
          <a:lstStyle/>
          <a:p>
            <a:pPr eaLnBrk="1" hangingPunct="1"/>
            <a:r>
              <a:rPr lang="zh-CN" altLang="en-US" b="0" smtClean="0">
                <a:solidFill>
                  <a:srgbClr val="0000FF"/>
                </a:solidFill>
              </a:rPr>
              <a:t>是以大型水电开发与运营为主的清洁能源集团</a:t>
            </a:r>
            <a:endParaRPr lang="zh-CN" altLang="en-US" b="0" smtClean="0">
              <a:solidFill>
                <a:srgbClr val="0000FF"/>
              </a:solidFill>
            </a:endParaRPr>
          </a:p>
          <a:p>
            <a:pPr eaLnBrk="1" hangingPunct="1"/>
            <a:r>
              <a:rPr lang="zh-CN" altLang="en-US" b="0" smtClean="0">
                <a:solidFill>
                  <a:srgbClr val="0000FF"/>
                </a:solidFill>
              </a:rPr>
              <a:t>主要经营范围是水利工程建设与管理、电力生产、相关专业技术服务</a:t>
            </a:r>
            <a:endParaRPr lang="zh-CN" altLang="en-US" b="0" smtClean="0">
              <a:solidFill>
                <a:srgbClr val="0000FF"/>
              </a:solidFill>
            </a:endParaRP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zh-CN" altLang="en-US" smtClean="0">
                <a:solidFill>
                  <a:srgbClr val="660066"/>
                </a:solidFill>
              </a:rPr>
              <a:t>三峡总公司理念</a:t>
            </a:r>
            <a:endParaRPr lang="zh-CN" altLang="en-US" smtClean="0">
              <a:solidFill>
                <a:srgbClr val="660066"/>
              </a:solidFill>
            </a:endParaRPr>
          </a:p>
        </p:txBody>
      </p:sp>
      <p:sp>
        <p:nvSpPr>
          <p:cNvPr id="34819" name="Rectangle 3"/>
          <p:cNvSpPr>
            <a:spLocks noGrp="1" noChangeArrowheads="1"/>
          </p:cNvSpPr>
          <p:nvPr>
            <p:ph type="body" idx="1"/>
          </p:nvPr>
        </p:nvSpPr>
        <p:spPr/>
        <p:txBody>
          <a:bodyPr/>
          <a:lstStyle/>
          <a:p>
            <a:pPr eaLnBrk="1" hangingPunct="1"/>
            <a:r>
              <a:rPr lang="zh-CN" altLang="en-US" sz="4400" smtClean="0">
                <a:solidFill>
                  <a:srgbClr val="0000FF"/>
                </a:solidFill>
              </a:rPr>
              <a:t>建好一座电站</a:t>
            </a:r>
            <a:endParaRPr lang="zh-CN" altLang="en-US" sz="4400" smtClean="0">
              <a:solidFill>
                <a:srgbClr val="0000FF"/>
              </a:solidFill>
            </a:endParaRPr>
          </a:p>
          <a:p>
            <a:pPr eaLnBrk="1" hangingPunct="1"/>
            <a:r>
              <a:rPr lang="zh-CN" altLang="en-US" sz="4400" smtClean="0">
                <a:solidFill>
                  <a:srgbClr val="0000FF"/>
                </a:solidFill>
              </a:rPr>
              <a:t>带动一方经济</a:t>
            </a:r>
            <a:endParaRPr lang="zh-CN" altLang="en-US" sz="4400" smtClean="0">
              <a:solidFill>
                <a:srgbClr val="0000FF"/>
              </a:solidFill>
            </a:endParaRPr>
          </a:p>
          <a:p>
            <a:pPr eaLnBrk="1" hangingPunct="1"/>
            <a:r>
              <a:rPr lang="zh-CN" altLang="en-US" sz="4400" smtClean="0">
                <a:solidFill>
                  <a:srgbClr val="0000FF"/>
                </a:solidFill>
              </a:rPr>
              <a:t>改善一片环境</a:t>
            </a:r>
            <a:endParaRPr lang="zh-CN" altLang="en-US" sz="4400" smtClean="0">
              <a:solidFill>
                <a:srgbClr val="0000FF"/>
              </a:solidFill>
            </a:endParaRPr>
          </a:p>
          <a:p>
            <a:pPr eaLnBrk="1" hangingPunct="1"/>
            <a:r>
              <a:rPr lang="zh-CN" altLang="en-US" sz="4400" smtClean="0">
                <a:solidFill>
                  <a:srgbClr val="0000FF"/>
                </a:solidFill>
              </a:rPr>
              <a:t>造福一批移民</a:t>
            </a:r>
            <a:r>
              <a:rPr lang="zh-CN" altLang="en-US" smtClean="0"/>
              <a:t> </a:t>
            </a:r>
            <a:endParaRPr lang="zh-CN" altLang="en-US" smtClean="0"/>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1323975"/>
            <a:ext cx="4457700" cy="3087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584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7725" y="1323975"/>
            <a:ext cx="4464050" cy="30876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2"/>
          <p:cNvSpPr txBox="1">
            <a:spLocks noChangeArrowheads="1"/>
          </p:cNvSpPr>
          <p:nvPr/>
        </p:nvSpPr>
        <p:spPr>
          <a:xfrm>
            <a:off x="0" y="298450"/>
            <a:ext cx="9144000" cy="796925"/>
          </a:xfrm>
          <a:prstGeom prst="rect">
            <a:avLst/>
          </a:prstGeom>
        </p:spPr>
        <p:txBody>
          <a:bodyPr/>
          <a:lstStyle>
            <a:lvl1pPr algn="l" rtl="0" eaLnBrk="0" fontAlgn="base" hangingPunct="0">
              <a:spcBef>
                <a:spcPct val="0"/>
              </a:spcBef>
              <a:spcAft>
                <a:spcPct val="0"/>
              </a:spcAft>
              <a:defRPr sz="4400" b="1">
                <a:solidFill>
                  <a:srgbClr val="990000"/>
                </a:solidFill>
                <a:latin typeface="+mj-lt"/>
                <a:ea typeface="+mj-ea"/>
                <a:cs typeface="楷体_GB2312"/>
              </a:defRPr>
            </a:lvl1pPr>
            <a:lvl2pPr algn="l" rtl="0" eaLnBrk="0" fontAlgn="base" hangingPunct="0">
              <a:spcBef>
                <a:spcPct val="0"/>
              </a:spcBef>
              <a:spcAft>
                <a:spcPct val="0"/>
              </a:spcAft>
              <a:defRPr sz="4400" b="1">
                <a:solidFill>
                  <a:srgbClr val="990000"/>
                </a:solidFill>
                <a:latin typeface="Arial" panose="020B0604020202020204" pitchFamily="34" charset="0"/>
                <a:ea typeface="楷体_GB2312" charset="-122"/>
                <a:cs typeface="楷体_GB2312"/>
              </a:defRPr>
            </a:lvl2pPr>
            <a:lvl3pPr algn="l" rtl="0" eaLnBrk="0" fontAlgn="base" hangingPunct="0">
              <a:spcBef>
                <a:spcPct val="0"/>
              </a:spcBef>
              <a:spcAft>
                <a:spcPct val="0"/>
              </a:spcAft>
              <a:defRPr sz="4400" b="1">
                <a:solidFill>
                  <a:srgbClr val="990000"/>
                </a:solidFill>
                <a:latin typeface="Arial" panose="020B0604020202020204" pitchFamily="34" charset="0"/>
                <a:ea typeface="楷体_GB2312" charset="-122"/>
                <a:cs typeface="楷体_GB2312"/>
              </a:defRPr>
            </a:lvl3pPr>
            <a:lvl4pPr algn="l" rtl="0" eaLnBrk="0" fontAlgn="base" hangingPunct="0">
              <a:spcBef>
                <a:spcPct val="0"/>
              </a:spcBef>
              <a:spcAft>
                <a:spcPct val="0"/>
              </a:spcAft>
              <a:defRPr sz="4400" b="1">
                <a:solidFill>
                  <a:srgbClr val="990000"/>
                </a:solidFill>
                <a:latin typeface="Arial" panose="020B0604020202020204" pitchFamily="34" charset="0"/>
                <a:ea typeface="楷体_GB2312" charset="-122"/>
                <a:cs typeface="楷体_GB2312"/>
              </a:defRPr>
            </a:lvl4pPr>
            <a:lvl5pPr algn="l" rtl="0" eaLnBrk="0" fontAlgn="base" hangingPunct="0">
              <a:spcBef>
                <a:spcPct val="0"/>
              </a:spcBef>
              <a:spcAft>
                <a:spcPct val="0"/>
              </a:spcAft>
              <a:defRPr sz="4400" b="1">
                <a:solidFill>
                  <a:srgbClr val="990000"/>
                </a:solidFill>
                <a:latin typeface="Arial" panose="020B0604020202020204" pitchFamily="34" charset="0"/>
                <a:ea typeface="楷体_GB2312" charset="-122"/>
                <a:cs typeface="楷体_GB2312"/>
              </a:defRPr>
            </a:lvl5pPr>
            <a:lvl6pPr marL="457200" algn="l" rtl="0" fontAlgn="base">
              <a:spcBef>
                <a:spcPct val="0"/>
              </a:spcBef>
              <a:spcAft>
                <a:spcPct val="0"/>
              </a:spcAft>
              <a:defRPr sz="4400" b="1">
                <a:solidFill>
                  <a:srgbClr val="990000"/>
                </a:solidFill>
                <a:latin typeface="Arial" panose="020B0604020202020204" pitchFamily="34" charset="0"/>
                <a:ea typeface="楷体_GB2312" charset="-122"/>
              </a:defRPr>
            </a:lvl6pPr>
            <a:lvl7pPr marL="914400" algn="l" rtl="0" fontAlgn="base">
              <a:spcBef>
                <a:spcPct val="0"/>
              </a:spcBef>
              <a:spcAft>
                <a:spcPct val="0"/>
              </a:spcAft>
              <a:defRPr sz="4400" b="1">
                <a:solidFill>
                  <a:srgbClr val="990000"/>
                </a:solidFill>
                <a:latin typeface="Arial" panose="020B0604020202020204" pitchFamily="34" charset="0"/>
                <a:ea typeface="楷体_GB2312" charset="-122"/>
              </a:defRPr>
            </a:lvl7pPr>
            <a:lvl8pPr marL="1371600" algn="l" rtl="0" fontAlgn="base">
              <a:spcBef>
                <a:spcPct val="0"/>
              </a:spcBef>
              <a:spcAft>
                <a:spcPct val="0"/>
              </a:spcAft>
              <a:defRPr sz="4400" b="1">
                <a:solidFill>
                  <a:srgbClr val="990000"/>
                </a:solidFill>
                <a:latin typeface="Arial" panose="020B0604020202020204" pitchFamily="34" charset="0"/>
                <a:ea typeface="楷体_GB2312" charset="-122"/>
              </a:defRPr>
            </a:lvl8pPr>
            <a:lvl9pPr marL="1828800" algn="l" rtl="0" fontAlgn="base">
              <a:spcBef>
                <a:spcPct val="0"/>
              </a:spcBef>
              <a:spcAft>
                <a:spcPct val="0"/>
              </a:spcAft>
              <a:defRPr sz="4400" b="1">
                <a:solidFill>
                  <a:srgbClr val="990000"/>
                </a:solidFill>
                <a:latin typeface="Arial" panose="020B0604020202020204" pitchFamily="34" charset="0"/>
                <a:ea typeface="楷体_GB2312" charset="-122"/>
              </a:defRPr>
            </a:lvl9pPr>
          </a:lstStyle>
          <a:p>
            <a:pPr eaLnBrk="1" hangingPunct="1">
              <a:defRPr/>
            </a:pPr>
            <a:r>
              <a:rPr lang="zh-CN" altLang="en-US" sz="3200" kern="0" dirty="0">
                <a:solidFill>
                  <a:srgbClr val="660066"/>
                </a:solidFill>
              </a:rPr>
              <a:t>三峡大坝旅游景点门票免费首日</a:t>
            </a:r>
            <a:r>
              <a:rPr lang="en-US" altLang="zh-CN" sz="3200" kern="0" dirty="0">
                <a:solidFill>
                  <a:srgbClr val="660066"/>
                </a:solidFill>
              </a:rPr>
              <a:t>5510</a:t>
            </a:r>
            <a:r>
              <a:rPr lang="zh-CN" altLang="en-US" sz="3200" kern="0" dirty="0">
                <a:solidFill>
                  <a:srgbClr val="660066"/>
                </a:solidFill>
              </a:rPr>
              <a:t>人入园游览</a:t>
            </a:r>
            <a:endParaRPr lang="zh-CN" altLang="en-US" sz="3200" kern="0" dirty="0">
              <a:solidFill>
                <a:srgbClr val="660066"/>
              </a:solidFill>
            </a:endParaRPr>
          </a:p>
        </p:txBody>
      </p:sp>
      <p:sp>
        <p:nvSpPr>
          <p:cNvPr id="35845" name="矩形 1"/>
          <p:cNvSpPr>
            <a:spLocks noChangeArrowheads="1"/>
          </p:cNvSpPr>
          <p:nvPr/>
        </p:nvSpPr>
        <p:spPr bwMode="auto">
          <a:xfrm>
            <a:off x="295275" y="4857750"/>
            <a:ext cx="8724900"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zh-CN" altLang="en-US" sz="3200" b="0">
                <a:solidFill>
                  <a:srgbClr val="0000FF"/>
                </a:solidFill>
              </a:rPr>
              <a:t>杭州西湖自</a:t>
            </a:r>
            <a:r>
              <a:rPr lang="en-US" altLang="zh-CN" sz="3200" b="0">
                <a:solidFill>
                  <a:srgbClr val="0000FF"/>
                </a:solidFill>
              </a:rPr>
              <a:t>2003</a:t>
            </a:r>
            <a:r>
              <a:rPr lang="zh-CN" altLang="en-US" sz="3200" b="0">
                <a:solidFill>
                  <a:srgbClr val="0000FF"/>
                </a:solidFill>
              </a:rPr>
              <a:t>年开始实行免费政策，</a:t>
            </a:r>
            <a:endParaRPr lang="en-US" altLang="zh-CN" sz="3200" b="0">
              <a:solidFill>
                <a:srgbClr val="0000FF"/>
              </a:solidFill>
            </a:endParaRPr>
          </a:p>
          <a:p>
            <a:pPr>
              <a:spcBef>
                <a:spcPct val="0"/>
              </a:spcBef>
              <a:buFontTx/>
              <a:buNone/>
            </a:pPr>
            <a:r>
              <a:rPr lang="zh-CN" altLang="en-US" sz="3200" b="0">
                <a:solidFill>
                  <a:srgbClr val="0000FF"/>
                </a:solidFill>
              </a:rPr>
              <a:t>由此带动当地旅游产业新增经济效益超百亿元</a:t>
            </a:r>
            <a:endParaRPr lang="zh-CN" altLang="en-US" sz="3200" b="0">
              <a:solidFill>
                <a:srgbClr val="0000FF"/>
              </a:solidFill>
            </a:endParaRP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zh-CN" altLang="en-US" smtClean="0"/>
              <a:t>核心竞争力 </a:t>
            </a:r>
            <a:endParaRPr lang="zh-CN" altLang="en-US" smtClean="0"/>
          </a:p>
        </p:txBody>
      </p:sp>
      <p:sp>
        <p:nvSpPr>
          <p:cNvPr id="36867" name="Rectangle 3"/>
          <p:cNvSpPr>
            <a:spLocks noGrp="1" noChangeArrowheads="1"/>
          </p:cNvSpPr>
          <p:nvPr>
            <p:ph type="body" idx="1"/>
          </p:nvPr>
        </p:nvSpPr>
        <p:spPr/>
        <p:txBody>
          <a:bodyPr/>
          <a:lstStyle/>
          <a:p>
            <a:pPr eaLnBrk="1" hangingPunct="1"/>
            <a:r>
              <a:rPr lang="zh-CN" altLang="en-US" smtClean="0">
                <a:solidFill>
                  <a:srgbClr val="0000FF"/>
                </a:solidFill>
              </a:rPr>
              <a:t>建设和管理大型水电工程能力</a:t>
            </a:r>
            <a:endParaRPr lang="zh-CN" altLang="en-US" smtClean="0">
              <a:solidFill>
                <a:srgbClr val="0000FF"/>
              </a:solidFill>
            </a:endParaRPr>
          </a:p>
          <a:p>
            <a:pPr eaLnBrk="1" hangingPunct="1"/>
            <a:r>
              <a:rPr lang="zh-CN" altLang="en-US" smtClean="0">
                <a:solidFill>
                  <a:srgbClr val="0000FF"/>
                </a:solidFill>
              </a:rPr>
              <a:t>大型水电工程融资和资本运作能力</a:t>
            </a:r>
            <a:endParaRPr lang="zh-CN" altLang="en-US" smtClean="0">
              <a:solidFill>
                <a:srgbClr val="0000FF"/>
              </a:solidFill>
            </a:endParaRPr>
          </a:p>
          <a:p>
            <a:pPr eaLnBrk="1" hangingPunct="1"/>
            <a:r>
              <a:rPr lang="zh-CN" altLang="en-US" smtClean="0">
                <a:solidFill>
                  <a:srgbClr val="0000FF"/>
                </a:solidFill>
              </a:rPr>
              <a:t>大型水电生产运营和市场营销能力</a:t>
            </a:r>
            <a:endParaRPr lang="zh-CN" altLang="en-US" smtClean="0">
              <a:solidFill>
                <a:srgbClr val="0000FF"/>
              </a:solidFill>
            </a:endParaRPr>
          </a:p>
          <a:p>
            <a:pPr eaLnBrk="1" hangingPunct="1"/>
            <a:r>
              <a:rPr lang="zh-CN" altLang="en-US" smtClean="0">
                <a:solidFill>
                  <a:srgbClr val="0000FF"/>
                </a:solidFill>
              </a:rPr>
              <a:t>梯级水利枢纽统一联合调度能力</a:t>
            </a:r>
            <a:r>
              <a:rPr lang="zh-CN" altLang="en-US" smtClean="0"/>
              <a:t> </a:t>
            </a:r>
            <a:endParaRPr lang="zh-CN" altLang="en-US" smtClean="0"/>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zh-CN" altLang="en-US" smtClean="0"/>
              <a:t>三峡总公司资产</a:t>
            </a:r>
            <a:endParaRPr lang="zh-CN" altLang="en-US" smtClean="0"/>
          </a:p>
        </p:txBody>
      </p:sp>
      <p:sp>
        <p:nvSpPr>
          <p:cNvPr id="37891" name="Rectangle 3"/>
          <p:cNvSpPr>
            <a:spLocks noGrp="1" noChangeArrowheads="1"/>
          </p:cNvSpPr>
          <p:nvPr>
            <p:ph type="body" idx="1"/>
          </p:nvPr>
        </p:nvSpPr>
        <p:spPr/>
        <p:txBody>
          <a:bodyPr/>
          <a:lstStyle/>
          <a:p>
            <a:pPr eaLnBrk="1" hangingPunct="1"/>
            <a:r>
              <a:rPr lang="zh-CN" altLang="en-US" b="0" smtClean="0">
                <a:solidFill>
                  <a:srgbClr val="0000FF"/>
                </a:solidFill>
              </a:rPr>
              <a:t>三峡总公司</a:t>
            </a:r>
            <a:r>
              <a:rPr lang="en-US" altLang="zh-CN" b="0" smtClean="0">
                <a:solidFill>
                  <a:srgbClr val="0000FF"/>
                </a:solidFill>
              </a:rPr>
              <a:t>1993</a:t>
            </a:r>
            <a:r>
              <a:rPr lang="zh-CN" altLang="en-US" b="0" smtClean="0">
                <a:solidFill>
                  <a:srgbClr val="0000FF"/>
                </a:solidFill>
              </a:rPr>
              <a:t>年成立</a:t>
            </a:r>
            <a:r>
              <a:rPr lang="en-US" altLang="zh-CN" b="0" smtClean="0">
                <a:solidFill>
                  <a:srgbClr val="0000FF"/>
                </a:solidFill>
              </a:rPr>
              <a:t>, </a:t>
            </a:r>
            <a:r>
              <a:rPr lang="zh-CN" altLang="en-US" b="0" smtClean="0">
                <a:solidFill>
                  <a:srgbClr val="0000FF"/>
                </a:solidFill>
              </a:rPr>
              <a:t>注册资本金</a:t>
            </a:r>
            <a:r>
              <a:rPr lang="en-US" altLang="zh-CN" b="0" smtClean="0">
                <a:solidFill>
                  <a:srgbClr val="0000FF"/>
                </a:solidFill>
              </a:rPr>
              <a:t>39.36</a:t>
            </a:r>
            <a:r>
              <a:rPr lang="zh-CN" altLang="en-US" b="0" smtClean="0">
                <a:solidFill>
                  <a:srgbClr val="0000FF"/>
                </a:solidFill>
              </a:rPr>
              <a:t>亿元。 </a:t>
            </a:r>
            <a:endParaRPr lang="zh-CN" altLang="en-US" b="0" smtClean="0">
              <a:solidFill>
                <a:srgbClr val="0000FF"/>
              </a:solidFill>
            </a:endParaRPr>
          </a:p>
          <a:p>
            <a:pPr eaLnBrk="1" hangingPunct="1"/>
            <a:r>
              <a:rPr lang="zh-CN" altLang="en-US" b="0" smtClean="0">
                <a:solidFill>
                  <a:srgbClr val="0000FF"/>
                </a:solidFill>
              </a:rPr>
              <a:t>至</a:t>
            </a:r>
            <a:r>
              <a:rPr lang="en-US" altLang="zh-CN" b="0" smtClean="0">
                <a:solidFill>
                  <a:srgbClr val="0000FF"/>
                </a:solidFill>
              </a:rPr>
              <a:t>截止2009年12月31日，集团资产总额</a:t>
            </a:r>
            <a:r>
              <a:rPr lang="en-US" altLang="zh-CN" smtClean="0">
                <a:solidFill>
                  <a:srgbClr val="FF0000"/>
                </a:solidFill>
              </a:rPr>
              <a:t>2810</a:t>
            </a:r>
            <a:r>
              <a:rPr lang="en-US" altLang="zh-CN" b="0" smtClean="0">
                <a:solidFill>
                  <a:srgbClr val="0000FF"/>
                </a:solidFill>
              </a:rPr>
              <a:t>亿元，</a:t>
            </a:r>
            <a:r>
              <a:rPr lang="zh-CN" altLang="en-US" b="0" smtClean="0">
                <a:solidFill>
                  <a:srgbClr val="0000FF"/>
                </a:solidFill>
              </a:rPr>
              <a:t>净资产</a:t>
            </a:r>
            <a:r>
              <a:rPr lang="en-US" altLang="zh-CN" smtClean="0">
                <a:solidFill>
                  <a:srgbClr val="FF0000"/>
                </a:solidFill>
              </a:rPr>
              <a:t>1699</a:t>
            </a:r>
            <a:r>
              <a:rPr lang="en-US" altLang="zh-CN" b="0" smtClean="0">
                <a:solidFill>
                  <a:srgbClr val="0000FF"/>
                </a:solidFill>
              </a:rPr>
              <a:t>亿元</a:t>
            </a:r>
            <a:r>
              <a:rPr lang="zh-CN" altLang="en-US" b="0" smtClean="0">
                <a:solidFill>
                  <a:srgbClr val="0000FF"/>
                </a:solidFill>
              </a:rPr>
              <a:t>。</a:t>
            </a:r>
            <a:endParaRPr lang="en-US" altLang="zh-CN" b="0" smtClean="0">
              <a:solidFill>
                <a:srgbClr val="0000FF"/>
              </a:solidFill>
            </a:endParaRPr>
          </a:p>
          <a:p>
            <a:pPr eaLnBrk="1" hangingPunct="1"/>
            <a:r>
              <a:rPr lang="zh-CN" altLang="en-US" b="0" smtClean="0">
                <a:solidFill>
                  <a:srgbClr val="0000FF"/>
                </a:solidFill>
              </a:rPr>
              <a:t>至</a:t>
            </a:r>
            <a:r>
              <a:rPr lang="en-US" altLang="zh-CN" b="0" smtClean="0">
                <a:solidFill>
                  <a:srgbClr val="0000FF"/>
                </a:solidFill>
              </a:rPr>
              <a:t>截止2012年12月31日，集团资产总额</a:t>
            </a:r>
            <a:r>
              <a:rPr lang="en-US" altLang="zh-CN" smtClean="0">
                <a:solidFill>
                  <a:srgbClr val="FF0000"/>
                </a:solidFill>
              </a:rPr>
              <a:t>3749</a:t>
            </a:r>
            <a:r>
              <a:rPr lang="en-US" altLang="zh-CN" b="0" smtClean="0">
                <a:solidFill>
                  <a:srgbClr val="0000FF"/>
                </a:solidFill>
              </a:rPr>
              <a:t>亿元，</a:t>
            </a:r>
            <a:r>
              <a:rPr lang="zh-CN" altLang="en-US" b="0" smtClean="0">
                <a:solidFill>
                  <a:srgbClr val="0000FF"/>
                </a:solidFill>
              </a:rPr>
              <a:t>净资产</a:t>
            </a:r>
            <a:r>
              <a:rPr lang="en-US" altLang="zh-CN" smtClean="0">
                <a:solidFill>
                  <a:srgbClr val="FF0000"/>
                </a:solidFill>
              </a:rPr>
              <a:t>2250</a:t>
            </a:r>
            <a:r>
              <a:rPr lang="en-US" altLang="zh-CN" b="0" smtClean="0">
                <a:solidFill>
                  <a:srgbClr val="0000FF"/>
                </a:solidFill>
              </a:rPr>
              <a:t>亿元</a:t>
            </a:r>
            <a:r>
              <a:rPr lang="zh-CN" altLang="en-US" b="0" smtClean="0">
                <a:solidFill>
                  <a:srgbClr val="0000FF"/>
                </a:solidFill>
              </a:rPr>
              <a:t>。</a:t>
            </a:r>
            <a:endParaRPr lang="en-US" altLang="zh-CN" b="0" smtClean="0">
              <a:solidFill>
                <a:srgbClr val="0000FF"/>
              </a:solidFill>
            </a:endParaRPr>
          </a:p>
          <a:p>
            <a:pPr eaLnBrk="1" hangingPunct="1"/>
            <a:r>
              <a:rPr lang="zh-CN" altLang="en-US" b="0" smtClean="0">
                <a:solidFill>
                  <a:srgbClr val="0000FF"/>
                </a:solidFill>
              </a:rPr>
              <a:t>至截止</a:t>
            </a:r>
            <a:r>
              <a:rPr lang="en-US" altLang="zh-CN" b="0" smtClean="0">
                <a:solidFill>
                  <a:srgbClr val="0000FF"/>
                </a:solidFill>
              </a:rPr>
              <a:t>2013</a:t>
            </a:r>
            <a:r>
              <a:rPr lang="zh-CN" altLang="en-US" b="0" smtClean="0">
                <a:solidFill>
                  <a:srgbClr val="0000FF"/>
                </a:solidFill>
              </a:rPr>
              <a:t>年</a:t>
            </a:r>
            <a:r>
              <a:rPr lang="en-US" altLang="zh-CN" b="0" smtClean="0">
                <a:solidFill>
                  <a:srgbClr val="0000FF"/>
                </a:solidFill>
              </a:rPr>
              <a:t>12</a:t>
            </a:r>
            <a:r>
              <a:rPr lang="zh-CN" altLang="en-US" b="0" smtClean="0">
                <a:solidFill>
                  <a:srgbClr val="0000FF"/>
                </a:solidFill>
              </a:rPr>
              <a:t>月</a:t>
            </a:r>
            <a:r>
              <a:rPr lang="en-US" altLang="zh-CN" b="0" smtClean="0">
                <a:solidFill>
                  <a:srgbClr val="0000FF"/>
                </a:solidFill>
              </a:rPr>
              <a:t>31</a:t>
            </a:r>
            <a:r>
              <a:rPr lang="zh-CN" altLang="en-US" b="0" smtClean="0">
                <a:solidFill>
                  <a:srgbClr val="0000FF"/>
                </a:solidFill>
              </a:rPr>
              <a:t>日，集团资产总额</a:t>
            </a:r>
            <a:r>
              <a:rPr lang="en-US" altLang="zh-CN" b="0" smtClean="0">
                <a:solidFill>
                  <a:srgbClr val="FF0000"/>
                </a:solidFill>
              </a:rPr>
              <a:t>4331</a:t>
            </a:r>
            <a:r>
              <a:rPr lang="zh-CN" altLang="en-US" b="0" smtClean="0">
                <a:solidFill>
                  <a:srgbClr val="0000FF"/>
                </a:solidFill>
              </a:rPr>
              <a:t>亿元，净资产</a:t>
            </a:r>
            <a:r>
              <a:rPr lang="en-US" altLang="zh-CN" b="0" smtClean="0">
                <a:solidFill>
                  <a:srgbClr val="FF0000"/>
                </a:solidFill>
              </a:rPr>
              <a:t>2466</a:t>
            </a:r>
            <a:r>
              <a:rPr lang="zh-CN" altLang="en-US" b="0" smtClean="0">
                <a:solidFill>
                  <a:srgbClr val="0000FF"/>
                </a:solidFill>
              </a:rPr>
              <a:t>亿元。</a:t>
            </a:r>
            <a:endParaRPr lang="zh-CN" altLang="en-US" b="0" smtClean="0">
              <a:solidFill>
                <a:srgbClr val="0000FF"/>
              </a:solidFill>
            </a:endParaRPr>
          </a:p>
          <a:p>
            <a:pPr eaLnBrk="1" hangingPunct="1"/>
            <a:endParaRPr lang="en-US" altLang="zh-CN" b="0" smtClean="0">
              <a:solidFill>
                <a:srgbClr val="0000FF"/>
              </a:solidFill>
            </a:endParaRPr>
          </a:p>
          <a:p>
            <a:pPr eaLnBrk="1" hangingPunct="1"/>
            <a:endParaRPr lang="zh-CN" altLang="en-US" b="0" smtClean="0">
              <a:solidFill>
                <a:srgbClr val="0000FF"/>
              </a:solidFill>
            </a:endParaRPr>
          </a:p>
          <a:p>
            <a:pPr eaLnBrk="1" hangingPunct="1"/>
            <a:endParaRPr lang="zh-CN" altLang="en-US" b="0" smtClean="0">
              <a:solidFill>
                <a:srgbClr val="0000FF"/>
              </a:solidFill>
            </a:endParaRPr>
          </a:p>
          <a:p>
            <a:pPr eaLnBrk="1" hangingPunct="1"/>
            <a:endParaRPr lang="zh-CN" altLang="en-US" smtClean="0"/>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zh-CN" altLang="en-US" smtClean="0"/>
              <a:t>三峡总公司规模</a:t>
            </a:r>
            <a:endParaRPr lang="zh-CN" altLang="en-US" smtClean="0"/>
          </a:p>
        </p:txBody>
      </p:sp>
      <p:sp>
        <p:nvSpPr>
          <p:cNvPr id="38915" name="Rectangle 3"/>
          <p:cNvSpPr>
            <a:spLocks noGrp="1" noChangeArrowheads="1"/>
          </p:cNvSpPr>
          <p:nvPr>
            <p:ph type="body" idx="1"/>
          </p:nvPr>
        </p:nvSpPr>
        <p:spPr/>
        <p:txBody>
          <a:bodyPr/>
          <a:lstStyle/>
          <a:p>
            <a:pPr eaLnBrk="1" hangingPunct="1"/>
            <a:endParaRPr lang="zh-CN" altLang="en-US" smtClean="0"/>
          </a:p>
        </p:txBody>
      </p:sp>
      <p:grpSp>
        <p:nvGrpSpPr>
          <p:cNvPr id="38916" name="Group 4"/>
          <p:cNvGrpSpPr/>
          <p:nvPr/>
        </p:nvGrpSpPr>
        <p:grpSpPr bwMode="auto">
          <a:xfrm>
            <a:off x="611188" y="1425575"/>
            <a:ext cx="7993062" cy="4956175"/>
            <a:chOff x="1800" y="2215"/>
            <a:chExt cx="8280" cy="7805"/>
          </a:xfrm>
        </p:grpSpPr>
        <p:sp>
          <p:nvSpPr>
            <p:cNvPr id="38917" name="Text Box 5"/>
            <p:cNvSpPr txBox="1">
              <a:spLocks noChangeArrowheads="1"/>
            </p:cNvSpPr>
            <p:nvPr/>
          </p:nvSpPr>
          <p:spPr bwMode="auto">
            <a:xfrm>
              <a:off x="5391" y="2215"/>
              <a:ext cx="997" cy="425"/>
            </a:xfrm>
            <a:prstGeom prst="rect">
              <a:avLst/>
            </a:prstGeom>
            <a:solidFill>
              <a:srgbClr val="FFFFFF"/>
            </a:solidFill>
            <a:ln w="9525">
              <a:solidFill>
                <a:srgbClr val="000000"/>
              </a:solidFill>
              <a:miter lim="800000"/>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总经理</a:t>
              </a:r>
              <a:endParaRPr lang="zh-CN" altLang="en-US" sz="1800">
                <a:solidFill>
                  <a:srgbClr val="0000FF"/>
                </a:solidFill>
                <a:ea typeface="宋体" panose="02010600030101010101" pitchFamily="2" charset="-122"/>
              </a:endParaRPr>
            </a:p>
          </p:txBody>
        </p:sp>
        <p:sp>
          <p:nvSpPr>
            <p:cNvPr id="38918" name="Text Box 6"/>
            <p:cNvSpPr txBox="1">
              <a:spLocks noChangeArrowheads="1"/>
            </p:cNvSpPr>
            <p:nvPr/>
          </p:nvSpPr>
          <p:spPr bwMode="auto">
            <a:xfrm>
              <a:off x="3695" y="2782"/>
              <a:ext cx="1099" cy="427"/>
            </a:xfrm>
            <a:prstGeom prst="rect">
              <a:avLst/>
            </a:prstGeom>
            <a:solidFill>
              <a:srgbClr val="FFFFFF"/>
            </a:solidFill>
            <a:ln w="9525">
              <a:solidFill>
                <a:srgbClr val="000000"/>
              </a:solidFill>
              <a:miter lim="800000"/>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副总经理</a:t>
              </a:r>
              <a:endParaRPr lang="zh-CN" altLang="en-US" sz="1800">
                <a:solidFill>
                  <a:srgbClr val="0000FF"/>
                </a:solidFill>
                <a:ea typeface="宋体" panose="02010600030101010101" pitchFamily="2" charset="-122"/>
              </a:endParaRPr>
            </a:p>
          </p:txBody>
        </p:sp>
        <p:sp>
          <p:nvSpPr>
            <p:cNvPr id="38919" name="Text Box 7"/>
            <p:cNvSpPr txBox="1">
              <a:spLocks noChangeArrowheads="1"/>
            </p:cNvSpPr>
            <p:nvPr/>
          </p:nvSpPr>
          <p:spPr bwMode="auto">
            <a:xfrm>
              <a:off x="6289" y="3634"/>
              <a:ext cx="398" cy="1417"/>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科学技术委员会</a:t>
              </a:r>
              <a:endParaRPr lang="zh-CN" altLang="en-US" sz="1800">
                <a:solidFill>
                  <a:srgbClr val="0000FF"/>
                </a:solidFill>
                <a:ea typeface="宋体" panose="02010600030101010101" pitchFamily="2" charset="-122"/>
              </a:endParaRPr>
            </a:p>
          </p:txBody>
        </p:sp>
        <p:sp>
          <p:nvSpPr>
            <p:cNvPr id="38920" name="Text Box 8"/>
            <p:cNvSpPr txBox="1">
              <a:spLocks noChangeArrowheads="1"/>
            </p:cNvSpPr>
            <p:nvPr/>
          </p:nvSpPr>
          <p:spPr bwMode="auto">
            <a:xfrm>
              <a:off x="8685" y="3634"/>
              <a:ext cx="397" cy="1419"/>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经济、法律顾问</a:t>
              </a:r>
              <a:endParaRPr lang="zh-CN" altLang="en-US" sz="1800">
                <a:solidFill>
                  <a:srgbClr val="0000FF"/>
                </a:solidFill>
                <a:ea typeface="宋体" panose="02010600030101010101" pitchFamily="2" charset="-122"/>
              </a:endParaRPr>
            </a:p>
          </p:txBody>
        </p:sp>
        <p:sp>
          <p:nvSpPr>
            <p:cNvPr id="38921" name="Text Box 9"/>
            <p:cNvSpPr txBox="1">
              <a:spLocks noChangeArrowheads="1"/>
            </p:cNvSpPr>
            <p:nvPr/>
          </p:nvSpPr>
          <p:spPr bwMode="auto">
            <a:xfrm>
              <a:off x="7087" y="3634"/>
              <a:ext cx="399" cy="1415"/>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投资委员会</a:t>
              </a:r>
              <a:endParaRPr lang="zh-CN" altLang="en-US" sz="1800">
                <a:solidFill>
                  <a:srgbClr val="0000FF"/>
                </a:solidFill>
                <a:ea typeface="宋体" panose="02010600030101010101" pitchFamily="2" charset="-122"/>
              </a:endParaRPr>
            </a:p>
          </p:txBody>
        </p:sp>
        <p:sp>
          <p:nvSpPr>
            <p:cNvPr id="38922" name="Text Box 10"/>
            <p:cNvSpPr txBox="1">
              <a:spLocks noChangeArrowheads="1"/>
            </p:cNvSpPr>
            <p:nvPr/>
          </p:nvSpPr>
          <p:spPr bwMode="auto">
            <a:xfrm>
              <a:off x="7886" y="3634"/>
              <a:ext cx="398" cy="1417"/>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预算委员会</a:t>
              </a:r>
              <a:endParaRPr lang="zh-CN" altLang="en-US" sz="1800">
                <a:solidFill>
                  <a:srgbClr val="0000FF"/>
                </a:solidFill>
                <a:ea typeface="宋体" panose="02010600030101010101" pitchFamily="2" charset="-122"/>
              </a:endParaRPr>
            </a:p>
          </p:txBody>
        </p:sp>
        <p:sp>
          <p:nvSpPr>
            <p:cNvPr id="38923" name="Text Box 11"/>
            <p:cNvSpPr txBox="1">
              <a:spLocks noChangeArrowheads="1"/>
            </p:cNvSpPr>
            <p:nvPr/>
          </p:nvSpPr>
          <p:spPr bwMode="auto">
            <a:xfrm>
              <a:off x="2598" y="7462"/>
              <a:ext cx="392" cy="2556"/>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向家坝工程建设部</a:t>
              </a:r>
              <a:endParaRPr lang="zh-CN" altLang="en-US" sz="1800">
                <a:solidFill>
                  <a:srgbClr val="0000FF"/>
                </a:solidFill>
                <a:ea typeface="宋体" panose="02010600030101010101" pitchFamily="2" charset="-122"/>
              </a:endParaRPr>
            </a:p>
          </p:txBody>
        </p:sp>
        <p:sp>
          <p:nvSpPr>
            <p:cNvPr id="38924" name="Text Box 12"/>
            <p:cNvSpPr txBox="1">
              <a:spLocks noChangeArrowheads="1"/>
            </p:cNvSpPr>
            <p:nvPr/>
          </p:nvSpPr>
          <p:spPr bwMode="auto">
            <a:xfrm>
              <a:off x="2198" y="7462"/>
              <a:ext cx="399" cy="2556"/>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溪洛渡工程建设部</a:t>
              </a:r>
              <a:endParaRPr lang="zh-CN" altLang="en-US" sz="1800">
                <a:solidFill>
                  <a:srgbClr val="0000FF"/>
                </a:solidFill>
                <a:ea typeface="宋体" panose="02010600030101010101" pitchFamily="2" charset="-122"/>
              </a:endParaRPr>
            </a:p>
          </p:txBody>
        </p:sp>
        <p:sp>
          <p:nvSpPr>
            <p:cNvPr id="38925" name="Text Box 13"/>
            <p:cNvSpPr txBox="1">
              <a:spLocks noChangeArrowheads="1"/>
            </p:cNvSpPr>
            <p:nvPr/>
          </p:nvSpPr>
          <p:spPr bwMode="auto">
            <a:xfrm>
              <a:off x="1800" y="7462"/>
              <a:ext cx="395" cy="2556"/>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工程建设部</a:t>
              </a:r>
              <a:endParaRPr lang="zh-CN" altLang="en-US" sz="1800">
                <a:solidFill>
                  <a:srgbClr val="0000FF"/>
                </a:solidFill>
                <a:ea typeface="宋体" panose="02010600030101010101" pitchFamily="2" charset="-122"/>
              </a:endParaRPr>
            </a:p>
          </p:txBody>
        </p:sp>
        <p:sp>
          <p:nvSpPr>
            <p:cNvPr id="38926" name="Text Box 14"/>
            <p:cNvSpPr txBox="1">
              <a:spLocks noChangeArrowheads="1"/>
            </p:cNvSpPr>
            <p:nvPr/>
          </p:nvSpPr>
          <p:spPr bwMode="auto">
            <a:xfrm>
              <a:off x="6090" y="5478"/>
              <a:ext cx="401" cy="1542"/>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机电工程部</a:t>
              </a:r>
              <a:endParaRPr lang="zh-CN" altLang="en-US" sz="1800">
                <a:solidFill>
                  <a:srgbClr val="0000FF"/>
                </a:solidFill>
                <a:ea typeface="宋体" panose="02010600030101010101" pitchFamily="2" charset="-122"/>
              </a:endParaRPr>
            </a:p>
          </p:txBody>
        </p:sp>
        <p:sp>
          <p:nvSpPr>
            <p:cNvPr id="38927" name="Text Box 15"/>
            <p:cNvSpPr txBox="1">
              <a:spLocks noChangeArrowheads="1"/>
            </p:cNvSpPr>
            <p:nvPr/>
          </p:nvSpPr>
          <p:spPr bwMode="auto">
            <a:xfrm>
              <a:off x="3799" y="5478"/>
              <a:ext cx="394" cy="1542"/>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计划发展部</a:t>
              </a:r>
              <a:endParaRPr lang="zh-CN" altLang="en-US" sz="1800">
                <a:solidFill>
                  <a:srgbClr val="0000FF"/>
                </a:solidFill>
                <a:ea typeface="宋体" panose="02010600030101010101" pitchFamily="2" charset="-122"/>
              </a:endParaRPr>
            </a:p>
          </p:txBody>
        </p:sp>
        <p:sp>
          <p:nvSpPr>
            <p:cNvPr id="38928" name="Text Box 16"/>
            <p:cNvSpPr txBox="1">
              <a:spLocks noChangeArrowheads="1"/>
            </p:cNvSpPr>
            <p:nvPr/>
          </p:nvSpPr>
          <p:spPr bwMode="auto">
            <a:xfrm>
              <a:off x="8088" y="5478"/>
              <a:ext cx="397" cy="1544"/>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审计室</a:t>
              </a:r>
              <a:endParaRPr lang="zh-CN" altLang="en-US" sz="1800">
                <a:solidFill>
                  <a:srgbClr val="0000FF"/>
                </a:solidFill>
                <a:ea typeface="宋体" panose="02010600030101010101" pitchFamily="2" charset="-122"/>
              </a:endParaRPr>
            </a:p>
          </p:txBody>
        </p:sp>
        <p:sp>
          <p:nvSpPr>
            <p:cNvPr id="38929" name="Text Box 17"/>
            <p:cNvSpPr txBox="1">
              <a:spLocks noChangeArrowheads="1"/>
            </p:cNvSpPr>
            <p:nvPr/>
          </p:nvSpPr>
          <p:spPr bwMode="auto">
            <a:xfrm>
              <a:off x="4296" y="5478"/>
              <a:ext cx="395" cy="1542"/>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资产财务部</a:t>
              </a:r>
              <a:endParaRPr lang="zh-CN" altLang="en-US" sz="1800">
                <a:solidFill>
                  <a:srgbClr val="0000FF"/>
                </a:solidFill>
                <a:ea typeface="宋体" panose="02010600030101010101" pitchFamily="2" charset="-122"/>
              </a:endParaRPr>
            </a:p>
          </p:txBody>
        </p:sp>
        <p:sp>
          <p:nvSpPr>
            <p:cNvPr id="38930" name="Text Box 18"/>
            <p:cNvSpPr txBox="1">
              <a:spLocks noChangeArrowheads="1"/>
            </p:cNvSpPr>
            <p:nvPr/>
          </p:nvSpPr>
          <p:spPr bwMode="auto">
            <a:xfrm>
              <a:off x="7090" y="5478"/>
              <a:ext cx="395" cy="1544"/>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国际合作部</a:t>
              </a:r>
              <a:endParaRPr lang="zh-CN" altLang="en-US" sz="1800">
                <a:solidFill>
                  <a:srgbClr val="0000FF"/>
                </a:solidFill>
                <a:ea typeface="宋体" panose="02010600030101010101" pitchFamily="2" charset="-122"/>
              </a:endParaRPr>
            </a:p>
          </p:txBody>
        </p:sp>
        <p:sp>
          <p:nvSpPr>
            <p:cNvPr id="38931" name="Text Box 19"/>
            <p:cNvSpPr txBox="1">
              <a:spLocks noChangeArrowheads="1"/>
            </p:cNvSpPr>
            <p:nvPr/>
          </p:nvSpPr>
          <p:spPr bwMode="auto">
            <a:xfrm>
              <a:off x="6591" y="5478"/>
              <a:ext cx="392" cy="1542"/>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科技与环境保护部</a:t>
              </a:r>
              <a:endParaRPr lang="zh-CN" altLang="en-US" sz="1800">
                <a:solidFill>
                  <a:srgbClr val="0000FF"/>
                </a:solidFill>
                <a:ea typeface="宋体" panose="02010600030101010101" pitchFamily="2" charset="-122"/>
              </a:endParaRPr>
            </a:p>
          </p:txBody>
        </p:sp>
        <p:sp>
          <p:nvSpPr>
            <p:cNvPr id="38932" name="Text Box 20"/>
            <p:cNvSpPr txBox="1">
              <a:spLocks noChangeArrowheads="1"/>
            </p:cNvSpPr>
            <p:nvPr/>
          </p:nvSpPr>
          <p:spPr bwMode="auto">
            <a:xfrm>
              <a:off x="2800" y="5478"/>
              <a:ext cx="397" cy="1542"/>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总经理工作部</a:t>
              </a:r>
              <a:endParaRPr lang="zh-CN" altLang="en-US" sz="1800">
                <a:solidFill>
                  <a:srgbClr val="0000FF"/>
                </a:solidFill>
                <a:ea typeface="宋体" panose="02010600030101010101" pitchFamily="2" charset="-122"/>
              </a:endParaRPr>
            </a:p>
          </p:txBody>
        </p:sp>
        <p:sp>
          <p:nvSpPr>
            <p:cNvPr id="38933" name="Text Box 21"/>
            <p:cNvSpPr txBox="1">
              <a:spLocks noChangeArrowheads="1"/>
            </p:cNvSpPr>
            <p:nvPr/>
          </p:nvSpPr>
          <p:spPr bwMode="auto">
            <a:xfrm>
              <a:off x="3299" y="5478"/>
              <a:ext cx="395" cy="1542"/>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信息中心</a:t>
              </a:r>
              <a:endParaRPr lang="zh-CN" altLang="en-US" sz="1800">
                <a:solidFill>
                  <a:srgbClr val="0000FF"/>
                </a:solidFill>
                <a:ea typeface="宋体" panose="02010600030101010101" pitchFamily="2" charset="-122"/>
              </a:endParaRPr>
            </a:p>
          </p:txBody>
        </p:sp>
        <p:sp>
          <p:nvSpPr>
            <p:cNvPr id="38934" name="Text Box 22"/>
            <p:cNvSpPr txBox="1">
              <a:spLocks noChangeArrowheads="1"/>
            </p:cNvSpPr>
            <p:nvPr/>
          </p:nvSpPr>
          <p:spPr bwMode="auto">
            <a:xfrm>
              <a:off x="8585" y="5478"/>
              <a:ext cx="398" cy="1543"/>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党群工作部</a:t>
              </a:r>
              <a:endParaRPr lang="zh-CN" altLang="en-US" sz="1800">
                <a:solidFill>
                  <a:srgbClr val="0000FF"/>
                </a:solidFill>
                <a:ea typeface="宋体" panose="02010600030101010101" pitchFamily="2" charset="-122"/>
              </a:endParaRPr>
            </a:p>
          </p:txBody>
        </p:sp>
        <p:sp>
          <p:nvSpPr>
            <p:cNvPr id="38935" name="Text Box 23"/>
            <p:cNvSpPr txBox="1">
              <a:spLocks noChangeArrowheads="1"/>
            </p:cNvSpPr>
            <p:nvPr/>
          </p:nvSpPr>
          <p:spPr bwMode="auto">
            <a:xfrm>
              <a:off x="4794" y="5478"/>
              <a:ext cx="393" cy="1542"/>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人力资源部</a:t>
              </a:r>
              <a:endParaRPr lang="zh-CN" altLang="en-US" sz="1800">
                <a:solidFill>
                  <a:srgbClr val="0000FF"/>
                </a:solidFill>
                <a:ea typeface="宋体" panose="02010600030101010101" pitchFamily="2" charset="-122"/>
              </a:endParaRPr>
            </a:p>
          </p:txBody>
        </p:sp>
        <p:sp>
          <p:nvSpPr>
            <p:cNvPr id="38936" name="Text Box 24"/>
            <p:cNvSpPr txBox="1">
              <a:spLocks noChangeArrowheads="1"/>
            </p:cNvSpPr>
            <p:nvPr/>
          </p:nvSpPr>
          <p:spPr bwMode="auto">
            <a:xfrm>
              <a:off x="5291" y="5478"/>
              <a:ext cx="406" cy="1542"/>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枢纽管理部</a:t>
              </a:r>
              <a:endParaRPr lang="zh-CN" altLang="en-US" sz="1800">
                <a:solidFill>
                  <a:srgbClr val="0000FF"/>
                </a:solidFill>
                <a:ea typeface="宋体" panose="02010600030101010101" pitchFamily="2" charset="-122"/>
              </a:endParaRPr>
            </a:p>
          </p:txBody>
        </p:sp>
        <p:sp>
          <p:nvSpPr>
            <p:cNvPr id="38937" name="Text Box 25"/>
            <p:cNvSpPr txBox="1">
              <a:spLocks noChangeArrowheads="1"/>
            </p:cNvSpPr>
            <p:nvPr/>
          </p:nvSpPr>
          <p:spPr bwMode="auto">
            <a:xfrm>
              <a:off x="9083" y="5478"/>
              <a:ext cx="400" cy="1542"/>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北京代表处</a:t>
              </a:r>
              <a:endParaRPr lang="zh-CN" altLang="en-US" sz="1800">
                <a:solidFill>
                  <a:srgbClr val="0000FF"/>
                </a:solidFill>
                <a:ea typeface="宋体" panose="02010600030101010101" pitchFamily="2" charset="-122"/>
              </a:endParaRPr>
            </a:p>
          </p:txBody>
        </p:sp>
        <p:sp>
          <p:nvSpPr>
            <p:cNvPr id="38938" name="Text Box 26"/>
            <p:cNvSpPr txBox="1">
              <a:spLocks noChangeArrowheads="1"/>
            </p:cNvSpPr>
            <p:nvPr/>
          </p:nvSpPr>
          <p:spPr bwMode="auto">
            <a:xfrm>
              <a:off x="7588" y="5478"/>
              <a:ext cx="395" cy="1545"/>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新闻宣传中心</a:t>
              </a:r>
              <a:endParaRPr lang="zh-CN" altLang="en-US" sz="1800">
                <a:solidFill>
                  <a:srgbClr val="0000FF"/>
                </a:solidFill>
                <a:ea typeface="宋体" panose="02010600030101010101" pitchFamily="2" charset="-122"/>
              </a:endParaRPr>
            </a:p>
          </p:txBody>
        </p:sp>
        <p:sp>
          <p:nvSpPr>
            <p:cNvPr id="38939" name="Text Box 27"/>
            <p:cNvSpPr txBox="1">
              <a:spLocks noChangeArrowheads="1"/>
            </p:cNvSpPr>
            <p:nvPr/>
          </p:nvSpPr>
          <p:spPr bwMode="auto">
            <a:xfrm>
              <a:off x="2301" y="5478"/>
              <a:ext cx="396" cy="1542"/>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监察室</a:t>
              </a:r>
              <a:endParaRPr lang="zh-CN" altLang="en-US" sz="1800">
                <a:solidFill>
                  <a:srgbClr val="0000FF"/>
                </a:solidFill>
                <a:ea typeface="宋体" panose="02010600030101010101" pitchFamily="2" charset="-122"/>
              </a:endParaRPr>
            </a:p>
          </p:txBody>
        </p:sp>
        <p:sp>
          <p:nvSpPr>
            <p:cNvPr id="38940" name="Text Box 28"/>
            <p:cNvSpPr txBox="1">
              <a:spLocks noChangeArrowheads="1"/>
            </p:cNvSpPr>
            <p:nvPr/>
          </p:nvSpPr>
          <p:spPr bwMode="auto">
            <a:xfrm>
              <a:off x="2997" y="7462"/>
              <a:ext cx="396" cy="2556"/>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金沙江开发有限公司筹建处</a:t>
              </a:r>
              <a:endParaRPr lang="zh-CN" altLang="en-US" sz="1800">
                <a:solidFill>
                  <a:srgbClr val="0000FF"/>
                </a:solidFill>
                <a:ea typeface="宋体" panose="02010600030101010101" pitchFamily="2" charset="-122"/>
              </a:endParaRPr>
            </a:p>
          </p:txBody>
        </p:sp>
        <p:sp>
          <p:nvSpPr>
            <p:cNvPr id="38941" name="Text Box 29"/>
            <p:cNvSpPr txBox="1">
              <a:spLocks noChangeArrowheads="1"/>
            </p:cNvSpPr>
            <p:nvPr/>
          </p:nvSpPr>
          <p:spPr bwMode="auto">
            <a:xfrm>
              <a:off x="7685" y="7462"/>
              <a:ext cx="397" cy="2556"/>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长江三峡旅游发展有限公司</a:t>
              </a:r>
              <a:endParaRPr lang="zh-CN" altLang="en-US" sz="1800">
                <a:solidFill>
                  <a:srgbClr val="0000FF"/>
                </a:solidFill>
                <a:ea typeface="宋体" panose="02010600030101010101" pitchFamily="2" charset="-122"/>
              </a:endParaRPr>
            </a:p>
          </p:txBody>
        </p:sp>
        <p:sp>
          <p:nvSpPr>
            <p:cNvPr id="38942" name="Text Box 30"/>
            <p:cNvSpPr txBox="1">
              <a:spLocks noChangeArrowheads="1"/>
            </p:cNvSpPr>
            <p:nvPr/>
          </p:nvSpPr>
          <p:spPr bwMode="auto">
            <a:xfrm>
              <a:off x="7186" y="7462"/>
              <a:ext cx="396" cy="2556"/>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中国长江电力股份有限公司</a:t>
              </a:r>
              <a:endParaRPr lang="zh-CN" altLang="en-US" sz="1800">
                <a:solidFill>
                  <a:srgbClr val="0000FF"/>
                </a:solidFill>
                <a:ea typeface="宋体" panose="02010600030101010101" pitchFamily="2" charset="-122"/>
              </a:endParaRPr>
            </a:p>
          </p:txBody>
        </p:sp>
        <p:sp>
          <p:nvSpPr>
            <p:cNvPr id="38943" name="Text Box 31"/>
            <p:cNvSpPr txBox="1">
              <a:spLocks noChangeArrowheads="1"/>
            </p:cNvSpPr>
            <p:nvPr/>
          </p:nvSpPr>
          <p:spPr bwMode="auto">
            <a:xfrm>
              <a:off x="6688" y="7462"/>
              <a:ext cx="394" cy="2556"/>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长江三峡水电工程公司</a:t>
              </a:r>
              <a:endParaRPr lang="zh-CN" altLang="en-US" sz="1800">
                <a:solidFill>
                  <a:srgbClr val="0000FF"/>
                </a:solidFill>
                <a:ea typeface="宋体" panose="02010600030101010101" pitchFamily="2" charset="-122"/>
              </a:endParaRPr>
            </a:p>
          </p:txBody>
        </p:sp>
        <p:sp>
          <p:nvSpPr>
            <p:cNvPr id="38944" name="Text Box 32"/>
            <p:cNvSpPr txBox="1">
              <a:spLocks noChangeArrowheads="1"/>
            </p:cNvSpPr>
            <p:nvPr/>
          </p:nvSpPr>
          <p:spPr bwMode="auto">
            <a:xfrm>
              <a:off x="6189" y="7462"/>
              <a:ext cx="395" cy="2556"/>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宜昌三峡工程设备有限公司</a:t>
              </a:r>
              <a:endParaRPr lang="zh-CN" altLang="en-US" sz="1800">
                <a:solidFill>
                  <a:srgbClr val="0000FF"/>
                </a:solidFill>
                <a:ea typeface="宋体" panose="02010600030101010101" pitchFamily="2" charset="-122"/>
              </a:endParaRPr>
            </a:p>
          </p:txBody>
        </p:sp>
        <p:sp>
          <p:nvSpPr>
            <p:cNvPr id="38945" name="Text Box 33"/>
            <p:cNvSpPr txBox="1">
              <a:spLocks noChangeArrowheads="1"/>
            </p:cNvSpPr>
            <p:nvPr/>
          </p:nvSpPr>
          <p:spPr bwMode="auto">
            <a:xfrm>
              <a:off x="3694" y="7462"/>
              <a:ext cx="401" cy="2558"/>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宜昌三峡多能公司</a:t>
              </a:r>
              <a:endParaRPr lang="zh-CN" altLang="en-US" sz="1800">
                <a:solidFill>
                  <a:srgbClr val="0000FF"/>
                </a:solidFill>
                <a:ea typeface="宋体" panose="02010600030101010101" pitchFamily="2" charset="-122"/>
              </a:endParaRPr>
            </a:p>
          </p:txBody>
        </p:sp>
        <p:sp>
          <p:nvSpPr>
            <p:cNvPr id="38946" name="Text Box 34"/>
            <p:cNvSpPr txBox="1">
              <a:spLocks noChangeArrowheads="1"/>
            </p:cNvSpPr>
            <p:nvPr/>
          </p:nvSpPr>
          <p:spPr bwMode="auto">
            <a:xfrm>
              <a:off x="5690" y="7462"/>
              <a:ext cx="398" cy="2556"/>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长江三峡实业有限公司</a:t>
              </a:r>
              <a:endParaRPr lang="zh-CN" altLang="en-US" sz="1800">
                <a:solidFill>
                  <a:srgbClr val="0000FF"/>
                </a:solidFill>
                <a:ea typeface="宋体" panose="02010600030101010101" pitchFamily="2" charset="-122"/>
              </a:endParaRPr>
            </a:p>
          </p:txBody>
        </p:sp>
        <p:sp>
          <p:nvSpPr>
            <p:cNvPr id="38947" name="Text Box 35"/>
            <p:cNvSpPr txBox="1">
              <a:spLocks noChangeArrowheads="1"/>
            </p:cNvSpPr>
            <p:nvPr/>
          </p:nvSpPr>
          <p:spPr bwMode="auto">
            <a:xfrm>
              <a:off x="4693" y="7462"/>
              <a:ext cx="398" cy="2557"/>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长江三峡技术经济发展有限公司</a:t>
              </a:r>
              <a:endParaRPr lang="zh-CN" altLang="en-US" sz="1800">
                <a:solidFill>
                  <a:srgbClr val="0000FF"/>
                </a:solidFill>
                <a:ea typeface="宋体" panose="02010600030101010101" pitchFamily="2" charset="-122"/>
              </a:endParaRPr>
            </a:p>
          </p:txBody>
        </p:sp>
        <p:sp>
          <p:nvSpPr>
            <p:cNvPr id="38948" name="Text Box 36"/>
            <p:cNvSpPr txBox="1">
              <a:spLocks noChangeArrowheads="1"/>
            </p:cNvSpPr>
            <p:nvPr/>
          </p:nvSpPr>
          <p:spPr bwMode="auto">
            <a:xfrm>
              <a:off x="4194" y="7462"/>
              <a:ext cx="399" cy="2558"/>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长江三峡投资发展有限责任公司</a:t>
              </a:r>
              <a:endParaRPr lang="zh-CN" altLang="en-US" sz="1800">
                <a:solidFill>
                  <a:srgbClr val="0000FF"/>
                </a:solidFill>
                <a:ea typeface="宋体" panose="02010600030101010101" pitchFamily="2" charset="-122"/>
              </a:endParaRPr>
            </a:p>
          </p:txBody>
        </p:sp>
        <p:sp>
          <p:nvSpPr>
            <p:cNvPr id="38949" name="Text Box 37"/>
            <p:cNvSpPr txBox="1">
              <a:spLocks noChangeArrowheads="1"/>
            </p:cNvSpPr>
            <p:nvPr/>
          </p:nvSpPr>
          <p:spPr bwMode="auto">
            <a:xfrm>
              <a:off x="8184" y="7462"/>
              <a:ext cx="399" cy="2556"/>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三峡财务有限责任公司</a:t>
              </a:r>
              <a:endParaRPr lang="zh-CN" altLang="en-US" sz="1800">
                <a:solidFill>
                  <a:srgbClr val="0000FF"/>
                </a:solidFill>
                <a:ea typeface="宋体" panose="02010600030101010101" pitchFamily="2" charset="-122"/>
              </a:endParaRPr>
            </a:p>
          </p:txBody>
        </p:sp>
        <p:sp>
          <p:nvSpPr>
            <p:cNvPr id="38950" name="Text Box 38"/>
            <p:cNvSpPr txBox="1">
              <a:spLocks noChangeArrowheads="1"/>
            </p:cNvSpPr>
            <p:nvPr/>
          </p:nvSpPr>
          <p:spPr bwMode="auto">
            <a:xfrm>
              <a:off x="8684" y="7462"/>
              <a:ext cx="397" cy="2556"/>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三峡国际招标有限责任公司</a:t>
              </a:r>
              <a:endParaRPr lang="zh-CN" altLang="en-US" sz="1800">
                <a:solidFill>
                  <a:srgbClr val="0000FF"/>
                </a:solidFill>
                <a:ea typeface="宋体" panose="02010600030101010101" pitchFamily="2" charset="-122"/>
              </a:endParaRPr>
            </a:p>
          </p:txBody>
        </p:sp>
        <p:sp>
          <p:nvSpPr>
            <p:cNvPr id="38951" name="Text Box 39"/>
            <p:cNvSpPr txBox="1">
              <a:spLocks noChangeArrowheads="1"/>
            </p:cNvSpPr>
            <p:nvPr/>
          </p:nvSpPr>
          <p:spPr bwMode="auto">
            <a:xfrm>
              <a:off x="9183" y="7462"/>
              <a:ext cx="397" cy="2556"/>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宜昌能达通用电器股份合作公司</a:t>
              </a:r>
              <a:endParaRPr lang="zh-CN" altLang="en-US" sz="1800">
                <a:solidFill>
                  <a:srgbClr val="0000FF"/>
                </a:solidFill>
                <a:ea typeface="宋体" panose="02010600030101010101" pitchFamily="2" charset="-122"/>
              </a:endParaRPr>
            </a:p>
          </p:txBody>
        </p:sp>
        <p:sp>
          <p:nvSpPr>
            <p:cNvPr id="38952" name="Text Box 40"/>
            <p:cNvSpPr txBox="1">
              <a:spLocks noChangeArrowheads="1"/>
            </p:cNvSpPr>
            <p:nvPr/>
          </p:nvSpPr>
          <p:spPr bwMode="auto">
            <a:xfrm>
              <a:off x="9680" y="7462"/>
              <a:ext cx="400" cy="2556"/>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三峡高科信息技术有限公司</a:t>
              </a:r>
              <a:endParaRPr lang="zh-CN" altLang="en-US" sz="1800">
                <a:solidFill>
                  <a:srgbClr val="0000FF"/>
                </a:solidFill>
                <a:ea typeface="宋体" panose="02010600030101010101" pitchFamily="2" charset="-122"/>
              </a:endParaRPr>
            </a:p>
          </p:txBody>
        </p:sp>
        <p:sp>
          <p:nvSpPr>
            <p:cNvPr id="38953" name="Text Box 41"/>
            <p:cNvSpPr txBox="1">
              <a:spLocks noChangeArrowheads="1"/>
            </p:cNvSpPr>
            <p:nvPr/>
          </p:nvSpPr>
          <p:spPr bwMode="auto">
            <a:xfrm>
              <a:off x="3297" y="3634"/>
              <a:ext cx="396" cy="1418"/>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总工程师</a:t>
              </a:r>
              <a:endParaRPr lang="zh-CN" altLang="en-US" sz="1800">
                <a:solidFill>
                  <a:srgbClr val="0000FF"/>
                </a:solidFill>
                <a:ea typeface="宋体" panose="02010600030101010101" pitchFamily="2" charset="-122"/>
              </a:endParaRPr>
            </a:p>
          </p:txBody>
        </p:sp>
        <p:sp>
          <p:nvSpPr>
            <p:cNvPr id="38954" name="Text Box 42"/>
            <p:cNvSpPr txBox="1">
              <a:spLocks noChangeArrowheads="1"/>
            </p:cNvSpPr>
            <p:nvPr/>
          </p:nvSpPr>
          <p:spPr bwMode="auto">
            <a:xfrm>
              <a:off x="4194" y="3634"/>
              <a:ext cx="399" cy="1417"/>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总会计师</a:t>
              </a:r>
              <a:endParaRPr lang="zh-CN" altLang="en-US" sz="1800">
                <a:solidFill>
                  <a:srgbClr val="0000FF"/>
                </a:solidFill>
                <a:ea typeface="宋体" panose="02010600030101010101" pitchFamily="2" charset="-122"/>
              </a:endParaRPr>
            </a:p>
          </p:txBody>
        </p:sp>
        <p:sp>
          <p:nvSpPr>
            <p:cNvPr id="38955" name="Text Box 43"/>
            <p:cNvSpPr txBox="1">
              <a:spLocks noChangeArrowheads="1"/>
            </p:cNvSpPr>
            <p:nvPr/>
          </p:nvSpPr>
          <p:spPr bwMode="auto">
            <a:xfrm>
              <a:off x="5092" y="3634"/>
              <a:ext cx="401" cy="1418"/>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总经济师</a:t>
              </a:r>
              <a:endParaRPr lang="zh-CN" altLang="en-US" sz="1800">
                <a:solidFill>
                  <a:srgbClr val="0000FF"/>
                </a:solidFill>
                <a:ea typeface="宋体" panose="02010600030101010101" pitchFamily="2" charset="-122"/>
              </a:endParaRPr>
            </a:p>
          </p:txBody>
        </p:sp>
        <p:sp>
          <p:nvSpPr>
            <p:cNvPr id="38956" name="Text Box 44"/>
            <p:cNvSpPr txBox="1">
              <a:spLocks noChangeArrowheads="1"/>
            </p:cNvSpPr>
            <p:nvPr/>
          </p:nvSpPr>
          <p:spPr bwMode="auto">
            <a:xfrm>
              <a:off x="7087" y="2782"/>
              <a:ext cx="1373" cy="427"/>
            </a:xfrm>
            <a:prstGeom prst="rect">
              <a:avLst/>
            </a:prstGeom>
            <a:solidFill>
              <a:srgbClr val="FFFFFF"/>
            </a:solidFill>
            <a:ln w="9525">
              <a:solidFill>
                <a:srgbClr val="000000"/>
              </a:solidFill>
              <a:miter lim="800000"/>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总经理助理</a:t>
              </a:r>
              <a:endParaRPr lang="zh-CN" altLang="en-US" sz="1800">
                <a:solidFill>
                  <a:srgbClr val="0000FF"/>
                </a:solidFill>
                <a:ea typeface="宋体" panose="02010600030101010101" pitchFamily="2" charset="-122"/>
              </a:endParaRPr>
            </a:p>
          </p:txBody>
        </p:sp>
        <p:sp>
          <p:nvSpPr>
            <p:cNvPr id="38957" name="Line 45"/>
            <p:cNvSpPr>
              <a:spLocks noChangeShapeType="1"/>
            </p:cNvSpPr>
            <p:nvPr/>
          </p:nvSpPr>
          <p:spPr bwMode="auto">
            <a:xfrm>
              <a:off x="5890" y="2641"/>
              <a:ext cx="1" cy="45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8" name="Line 46"/>
            <p:cNvSpPr>
              <a:spLocks noChangeShapeType="1"/>
            </p:cNvSpPr>
            <p:nvPr/>
          </p:nvSpPr>
          <p:spPr bwMode="auto">
            <a:xfrm>
              <a:off x="4793" y="2924"/>
              <a:ext cx="2294"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59" name="Line 47"/>
            <p:cNvSpPr>
              <a:spLocks noChangeShapeType="1"/>
            </p:cNvSpPr>
            <p:nvPr/>
          </p:nvSpPr>
          <p:spPr bwMode="auto">
            <a:xfrm>
              <a:off x="3496" y="3350"/>
              <a:ext cx="5387"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0" name="Line 48"/>
            <p:cNvSpPr>
              <a:spLocks noChangeShapeType="1"/>
            </p:cNvSpPr>
            <p:nvPr/>
          </p:nvSpPr>
          <p:spPr bwMode="auto">
            <a:xfrm>
              <a:off x="3496" y="3350"/>
              <a:ext cx="1"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1" name="Line 49"/>
            <p:cNvSpPr>
              <a:spLocks noChangeShapeType="1"/>
            </p:cNvSpPr>
            <p:nvPr/>
          </p:nvSpPr>
          <p:spPr bwMode="auto">
            <a:xfrm>
              <a:off x="4394" y="3350"/>
              <a:ext cx="1"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2" name="Line 50"/>
            <p:cNvSpPr>
              <a:spLocks noChangeShapeType="1"/>
            </p:cNvSpPr>
            <p:nvPr/>
          </p:nvSpPr>
          <p:spPr bwMode="auto">
            <a:xfrm>
              <a:off x="5291" y="3350"/>
              <a:ext cx="2"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3" name="Line 51"/>
            <p:cNvSpPr>
              <a:spLocks noChangeShapeType="1"/>
            </p:cNvSpPr>
            <p:nvPr/>
          </p:nvSpPr>
          <p:spPr bwMode="auto">
            <a:xfrm>
              <a:off x="6489" y="3350"/>
              <a:ext cx="1"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4" name="Line 52"/>
            <p:cNvSpPr>
              <a:spLocks noChangeShapeType="1"/>
            </p:cNvSpPr>
            <p:nvPr/>
          </p:nvSpPr>
          <p:spPr bwMode="auto">
            <a:xfrm>
              <a:off x="7287" y="3350"/>
              <a:ext cx="1"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5" name="Line 53"/>
            <p:cNvSpPr>
              <a:spLocks noChangeShapeType="1"/>
            </p:cNvSpPr>
            <p:nvPr/>
          </p:nvSpPr>
          <p:spPr bwMode="auto">
            <a:xfrm>
              <a:off x="8085" y="3350"/>
              <a:ext cx="1"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6" name="Line 54"/>
            <p:cNvSpPr>
              <a:spLocks noChangeShapeType="1"/>
            </p:cNvSpPr>
            <p:nvPr/>
          </p:nvSpPr>
          <p:spPr bwMode="auto">
            <a:xfrm>
              <a:off x="8883" y="3350"/>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7" name="Line 55"/>
            <p:cNvSpPr>
              <a:spLocks noChangeShapeType="1"/>
            </p:cNvSpPr>
            <p:nvPr/>
          </p:nvSpPr>
          <p:spPr bwMode="auto">
            <a:xfrm>
              <a:off x="2499" y="5194"/>
              <a:ext cx="678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8" name="Line 56"/>
            <p:cNvSpPr>
              <a:spLocks noChangeShapeType="1"/>
            </p:cNvSpPr>
            <p:nvPr/>
          </p:nvSpPr>
          <p:spPr bwMode="auto">
            <a:xfrm>
              <a:off x="2499"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69" name="Line 57"/>
            <p:cNvSpPr>
              <a:spLocks noChangeShapeType="1"/>
            </p:cNvSpPr>
            <p:nvPr/>
          </p:nvSpPr>
          <p:spPr bwMode="auto">
            <a:xfrm>
              <a:off x="2997"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0" name="Line 58"/>
            <p:cNvSpPr>
              <a:spLocks noChangeShapeType="1"/>
            </p:cNvSpPr>
            <p:nvPr/>
          </p:nvSpPr>
          <p:spPr bwMode="auto">
            <a:xfrm>
              <a:off x="3496"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1" name="Line 59"/>
            <p:cNvSpPr>
              <a:spLocks noChangeShapeType="1"/>
            </p:cNvSpPr>
            <p:nvPr/>
          </p:nvSpPr>
          <p:spPr bwMode="auto">
            <a:xfrm>
              <a:off x="3994"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2" name="Line 60"/>
            <p:cNvSpPr>
              <a:spLocks noChangeShapeType="1"/>
            </p:cNvSpPr>
            <p:nvPr/>
          </p:nvSpPr>
          <p:spPr bwMode="auto">
            <a:xfrm>
              <a:off x="4493"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3" name="Line 61"/>
            <p:cNvSpPr>
              <a:spLocks noChangeShapeType="1"/>
            </p:cNvSpPr>
            <p:nvPr/>
          </p:nvSpPr>
          <p:spPr bwMode="auto">
            <a:xfrm>
              <a:off x="4992"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4" name="Line 62"/>
            <p:cNvSpPr>
              <a:spLocks noChangeShapeType="1"/>
            </p:cNvSpPr>
            <p:nvPr/>
          </p:nvSpPr>
          <p:spPr bwMode="auto">
            <a:xfrm>
              <a:off x="5491"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5" name="Line 63"/>
            <p:cNvSpPr>
              <a:spLocks noChangeShapeType="1"/>
            </p:cNvSpPr>
            <p:nvPr/>
          </p:nvSpPr>
          <p:spPr bwMode="auto">
            <a:xfrm>
              <a:off x="6289"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6" name="Line 64"/>
            <p:cNvSpPr>
              <a:spLocks noChangeShapeType="1"/>
            </p:cNvSpPr>
            <p:nvPr/>
          </p:nvSpPr>
          <p:spPr bwMode="auto">
            <a:xfrm>
              <a:off x="6788"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7" name="Line 65"/>
            <p:cNvSpPr>
              <a:spLocks noChangeShapeType="1"/>
            </p:cNvSpPr>
            <p:nvPr/>
          </p:nvSpPr>
          <p:spPr bwMode="auto">
            <a:xfrm>
              <a:off x="7287"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8" name="Line 66"/>
            <p:cNvSpPr>
              <a:spLocks noChangeShapeType="1"/>
            </p:cNvSpPr>
            <p:nvPr/>
          </p:nvSpPr>
          <p:spPr bwMode="auto">
            <a:xfrm>
              <a:off x="7785"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79" name="Line 67"/>
            <p:cNvSpPr>
              <a:spLocks noChangeShapeType="1"/>
            </p:cNvSpPr>
            <p:nvPr/>
          </p:nvSpPr>
          <p:spPr bwMode="auto">
            <a:xfrm>
              <a:off x="8284"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80" name="Line 68"/>
            <p:cNvSpPr>
              <a:spLocks noChangeShapeType="1"/>
            </p:cNvSpPr>
            <p:nvPr/>
          </p:nvSpPr>
          <p:spPr bwMode="auto">
            <a:xfrm>
              <a:off x="8783"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81" name="Line 69"/>
            <p:cNvSpPr>
              <a:spLocks noChangeShapeType="1"/>
            </p:cNvSpPr>
            <p:nvPr/>
          </p:nvSpPr>
          <p:spPr bwMode="auto">
            <a:xfrm>
              <a:off x="9282" y="5194"/>
              <a:ext cx="0" cy="284"/>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82" name="Line 70"/>
            <p:cNvSpPr>
              <a:spLocks noChangeShapeType="1"/>
            </p:cNvSpPr>
            <p:nvPr/>
          </p:nvSpPr>
          <p:spPr bwMode="auto">
            <a:xfrm>
              <a:off x="2000" y="7179"/>
              <a:ext cx="7880" cy="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83" name="Line 71"/>
            <p:cNvSpPr>
              <a:spLocks noChangeShapeType="1"/>
            </p:cNvSpPr>
            <p:nvPr/>
          </p:nvSpPr>
          <p:spPr bwMode="auto">
            <a:xfrm>
              <a:off x="1999" y="7181"/>
              <a:ext cx="1" cy="2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84" name="Line 72"/>
            <p:cNvSpPr>
              <a:spLocks noChangeShapeType="1"/>
            </p:cNvSpPr>
            <p:nvPr/>
          </p:nvSpPr>
          <p:spPr bwMode="auto">
            <a:xfrm>
              <a:off x="2397" y="7181"/>
              <a:ext cx="2" cy="2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85" name="Line 73"/>
            <p:cNvSpPr>
              <a:spLocks noChangeShapeType="1"/>
            </p:cNvSpPr>
            <p:nvPr/>
          </p:nvSpPr>
          <p:spPr bwMode="auto">
            <a:xfrm>
              <a:off x="2797" y="7181"/>
              <a:ext cx="1" cy="2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86" name="Line 74"/>
            <p:cNvSpPr>
              <a:spLocks noChangeShapeType="1"/>
            </p:cNvSpPr>
            <p:nvPr/>
          </p:nvSpPr>
          <p:spPr bwMode="auto">
            <a:xfrm>
              <a:off x="3195" y="7181"/>
              <a:ext cx="2" cy="2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87" name="Line 75"/>
            <p:cNvSpPr>
              <a:spLocks noChangeShapeType="1"/>
            </p:cNvSpPr>
            <p:nvPr/>
          </p:nvSpPr>
          <p:spPr bwMode="auto">
            <a:xfrm>
              <a:off x="3895" y="7183"/>
              <a:ext cx="2" cy="27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88" name="Line 76"/>
            <p:cNvSpPr>
              <a:spLocks noChangeShapeType="1"/>
            </p:cNvSpPr>
            <p:nvPr/>
          </p:nvSpPr>
          <p:spPr bwMode="auto">
            <a:xfrm>
              <a:off x="4393" y="7183"/>
              <a:ext cx="2" cy="27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89" name="Line 77"/>
            <p:cNvSpPr>
              <a:spLocks noChangeShapeType="1"/>
            </p:cNvSpPr>
            <p:nvPr/>
          </p:nvSpPr>
          <p:spPr bwMode="auto">
            <a:xfrm>
              <a:off x="4893" y="7183"/>
              <a:ext cx="1" cy="27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90" name="Line 78"/>
            <p:cNvSpPr>
              <a:spLocks noChangeShapeType="1"/>
            </p:cNvSpPr>
            <p:nvPr/>
          </p:nvSpPr>
          <p:spPr bwMode="auto">
            <a:xfrm>
              <a:off x="5889" y="7181"/>
              <a:ext cx="1" cy="2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91" name="Line 79"/>
            <p:cNvSpPr>
              <a:spLocks noChangeShapeType="1"/>
            </p:cNvSpPr>
            <p:nvPr/>
          </p:nvSpPr>
          <p:spPr bwMode="auto">
            <a:xfrm>
              <a:off x="6387" y="7181"/>
              <a:ext cx="1" cy="2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92" name="Line 80"/>
            <p:cNvSpPr>
              <a:spLocks noChangeShapeType="1"/>
            </p:cNvSpPr>
            <p:nvPr/>
          </p:nvSpPr>
          <p:spPr bwMode="auto">
            <a:xfrm>
              <a:off x="6885" y="7181"/>
              <a:ext cx="2" cy="2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93" name="Line 81"/>
            <p:cNvSpPr>
              <a:spLocks noChangeShapeType="1"/>
            </p:cNvSpPr>
            <p:nvPr/>
          </p:nvSpPr>
          <p:spPr bwMode="auto">
            <a:xfrm>
              <a:off x="7384" y="7181"/>
              <a:ext cx="1" cy="2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94" name="Line 82"/>
            <p:cNvSpPr>
              <a:spLocks noChangeShapeType="1"/>
            </p:cNvSpPr>
            <p:nvPr/>
          </p:nvSpPr>
          <p:spPr bwMode="auto">
            <a:xfrm>
              <a:off x="7883" y="7181"/>
              <a:ext cx="3" cy="2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95" name="Line 83"/>
            <p:cNvSpPr>
              <a:spLocks noChangeShapeType="1"/>
            </p:cNvSpPr>
            <p:nvPr/>
          </p:nvSpPr>
          <p:spPr bwMode="auto">
            <a:xfrm>
              <a:off x="8383" y="7181"/>
              <a:ext cx="1" cy="2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96" name="Line 84"/>
            <p:cNvSpPr>
              <a:spLocks noChangeShapeType="1"/>
            </p:cNvSpPr>
            <p:nvPr/>
          </p:nvSpPr>
          <p:spPr bwMode="auto">
            <a:xfrm>
              <a:off x="8881" y="7181"/>
              <a:ext cx="1" cy="2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97" name="Line 85"/>
            <p:cNvSpPr>
              <a:spLocks noChangeShapeType="1"/>
            </p:cNvSpPr>
            <p:nvPr/>
          </p:nvSpPr>
          <p:spPr bwMode="auto">
            <a:xfrm>
              <a:off x="9380" y="7181"/>
              <a:ext cx="1" cy="2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98" name="Line 86"/>
            <p:cNvSpPr>
              <a:spLocks noChangeShapeType="1"/>
            </p:cNvSpPr>
            <p:nvPr/>
          </p:nvSpPr>
          <p:spPr bwMode="auto">
            <a:xfrm>
              <a:off x="9879" y="7181"/>
              <a:ext cx="1" cy="281"/>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38999" name="Text Box 87"/>
            <p:cNvSpPr txBox="1">
              <a:spLocks noChangeArrowheads="1"/>
            </p:cNvSpPr>
            <p:nvPr/>
          </p:nvSpPr>
          <p:spPr bwMode="auto">
            <a:xfrm>
              <a:off x="5192" y="7462"/>
              <a:ext cx="398" cy="2557"/>
            </a:xfrm>
            <a:prstGeom prst="rect">
              <a:avLst/>
            </a:prstGeom>
            <a:solidFill>
              <a:srgbClr val="FFFFFF"/>
            </a:solidFill>
            <a:ln w="9525">
              <a:solidFill>
                <a:srgbClr val="000000"/>
              </a:solidFill>
              <a:miter lim="800000"/>
            </a:ln>
          </p:spPr>
          <p:txBody>
            <a:bodyPr vert="eaVert" lIns="36000" rIns="36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900">
                  <a:solidFill>
                    <a:srgbClr val="0000FF"/>
                  </a:solidFill>
                  <a:latin typeface="Times New Roman" panose="02020603050405020304" charset="0"/>
                  <a:ea typeface="宋体" panose="02010600030101010101" pitchFamily="2" charset="-122"/>
                </a:rPr>
                <a:t>长江新能源开发有限公司</a:t>
              </a:r>
              <a:endParaRPr lang="zh-CN" altLang="en-US" sz="1800">
                <a:solidFill>
                  <a:srgbClr val="0000FF"/>
                </a:solidFill>
                <a:ea typeface="宋体" panose="02010600030101010101" pitchFamily="2" charset="-122"/>
              </a:endParaRPr>
            </a:p>
          </p:txBody>
        </p:sp>
        <p:sp>
          <p:nvSpPr>
            <p:cNvPr id="39000" name="Line 88"/>
            <p:cNvSpPr>
              <a:spLocks noChangeShapeType="1"/>
            </p:cNvSpPr>
            <p:nvPr/>
          </p:nvSpPr>
          <p:spPr bwMode="auto">
            <a:xfrm>
              <a:off x="5392" y="7183"/>
              <a:ext cx="1" cy="279"/>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gr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0" y="12700"/>
            <a:ext cx="9144000" cy="1181100"/>
          </a:xfrm>
        </p:spPr>
        <p:txBody>
          <a:bodyPr/>
          <a:lstStyle/>
          <a:p>
            <a:pPr eaLnBrk="1" hangingPunct="1"/>
            <a:r>
              <a:rPr lang="zh-CN" altLang="en-US" sz="3600" smtClean="0"/>
              <a:t>“南方水多，北方水少，如有可能，借一点来是可以的。</a:t>
            </a:r>
            <a:r>
              <a:rPr lang="en-US" altLang="zh-CN" sz="3600" smtClean="0"/>
              <a:t>”              </a:t>
            </a:r>
            <a:r>
              <a:rPr lang="en-US" altLang="zh-CN" sz="3200" smtClean="0"/>
              <a:t>——</a:t>
            </a:r>
            <a:r>
              <a:rPr lang="zh-CN" altLang="en-US" sz="3200" smtClean="0"/>
              <a:t>毛泽东（</a:t>
            </a:r>
            <a:r>
              <a:rPr lang="en-US" altLang="zh-CN" sz="3200" smtClean="0"/>
              <a:t>1952</a:t>
            </a:r>
            <a:r>
              <a:rPr lang="zh-CN" altLang="en-US" sz="3200" smtClean="0"/>
              <a:t>）</a:t>
            </a:r>
            <a:endParaRPr lang="zh-CN" altLang="en-US" sz="3200" smtClean="0"/>
          </a:p>
        </p:txBody>
      </p:sp>
      <p:sp>
        <p:nvSpPr>
          <p:cNvPr id="39939" name="Rectangle 3"/>
          <p:cNvSpPr>
            <a:spLocks noGrp="1" noChangeArrowheads="1"/>
          </p:cNvSpPr>
          <p:nvPr>
            <p:ph type="body" idx="1"/>
          </p:nvPr>
        </p:nvSpPr>
        <p:spPr/>
        <p:txBody>
          <a:bodyPr/>
          <a:lstStyle/>
          <a:p>
            <a:pPr eaLnBrk="1" hangingPunct="1"/>
            <a:endParaRPr lang="zh-CN" altLang="en-US" smtClean="0"/>
          </a:p>
        </p:txBody>
      </p:sp>
      <p:pic>
        <p:nvPicPr>
          <p:cNvPr id="39940" name="Picture 13" descr="Image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932113" y="1193800"/>
            <a:ext cx="2967037" cy="566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1" name="Picture 14" descr="Image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161088" y="1193800"/>
            <a:ext cx="3009900" cy="566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42" name="Picture 15" descr="Image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405313"/>
            <a:ext cx="2752725" cy="193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3" name="Text Box 16"/>
          <p:cNvSpPr txBox="1">
            <a:spLocks noChangeArrowheads="1"/>
          </p:cNvSpPr>
          <p:nvPr/>
        </p:nvSpPr>
        <p:spPr bwMode="auto">
          <a:xfrm>
            <a:off x="1016000" y="3716338"/>
            <a:ext cx="928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50000"/>
              </a:spcBef>
              <a:buFontTx/>
              <a:buNone/>
            </a:pPr>
            <a:r>
              <a:rPr lang="zh-CN" altLang="en-US" sz="2400">
                <a:solidFill>
                  <a:srgbClr val="990000"/>
                </a:solidFill>
                <a:latin typeface="楷体_GB2312" charset="-122"/>
              </a:rPr>
              <a:t>西线</a:t>
            </a:r>
            <a:endParaRPr lang="zh-CN" altLang="en-US" sz="2400">
              <a:solidFill>
                <a:srgbClr val="990000"/>
              </a:solidFill>
              <a:latin typeface="楷体_GB2312" charset="-122"/>
            </a:endParaRPr>
          </a:p>
        </p:txBody>
      </p:sp>
      <p:sp>
        <p:nvSpPr>
          <p:cNvPr id="39944" name="Text Box 17"/>
          <p:cNvSpPr txBox="1">
            <a:spLocks noChangeArrowheads="1"/>
          </p:cNvSpPr>
          <p:nvPr/>
        </p:nvSpPr>
        <p:spPr bwMode="auto">
          <a:xfrm>
            <a:off x="2932113" y="2330450"/>
            <a:ext cx="928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50000"/>
              </a:spcBef>
              <a:buFontTx/>
              <a:buNone/>
            </a:pPr>
            <a:r>
              <a:rPr lang="zh-CN" altLang="en-US" sz="2400">
                <a:solidFill>
                  <a:srgbClr val="990000"/>
                </a:solidFill>
                <a:latin typeface="楷体_GB2312" charset="-122"/>
              </a:rPr>
              <a:t>中线</a:t>
            </a:r>
            <a:endParaRPr lang="zh-CN" altLang="en-US" sz="2400">
              <a:solidFill>
                <a:srgbClr val="990000"/>
              </a:solidFill>
              <a:latin typeface="楷体_GB2312" charset="-122"/>
            </a:endParaRPr>
          </a:p>
        </p:txBody>
      </p:sp>
      <p:sp>
        <p:nvSpPr>
          <p:cNvPr id="39945" name="Text Box 19"/>
          <p:cNvSpPr txBox="1">
            <a:spLocks noChangeArrowheads="1"/>
          </p:cNvSpPr>
          <p:nvPr/>
        </p:nvSpPr>
        <p:spPr bwMode="auto">
          <a:xfrm>
            <a:off x="8215313" y="1193800"/>
            <a:ext cx="928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50000"/>
              </a:spcBef>
              <a:buFontTx/>
              <a:buNone/>
            </a:pPr>
            <a:r>
              <a:rPr lang="zh-CN" altLang="en-US" sz="2400">
                <a:solidFill>
                  <a:srgbClr val="990000"/>
                </a:solidFill>
                <a:latin typeface="楷体_GB2312" charset="-122"/>
              </a:rPr>
              <a:t>东线</a:t>
            </a:r>
            <a:endParaRPr lang="zh-CN" altLang="en-US" sz="2400">
              <a:solidFill>
                <a:srgbClr val="990000"/>
              </a:solidFill>
              <a:latin typeface="楷体_GB2312" charset="-122"/>
            </a:endParaRP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zh-CN" altLang="en-US" smtClean="0"/>
              <a:t>中线工程</a:t>
            </a:r>
            <a:endParaRPr lang="zh-CN" altLang="en-US" smtClean="0"/>
          </a:p>
        </p:txBody>
      </p:sp>
      <p:sp>
        <p:nvSpPr>
          <p:cNvPr id="40963" name="Rectangle 3"/>
          <p:cNvSpPr>
            <a:spLocks noGrp="1" noChangeArrowheads="1"/>
          </p:cNvSpPr>
          <p:nvPr>
            <p:ph type="body" idx="1"/>
          </p:nvPr>
        </p:nvSpPr>
        <p:spPr>
          <a:xfrm>
            <a:off x="0" y="1481138"/>
            <a:ext cx="6356350" cy="4919662"/>
          </a:xfrm>
        </p:spPr>
        <p:txBody>
          <a:bodyPr/>
          <a:lstStyle/>
          <a:p>
            <a:pPr lvl="1" eaLnBrk="1" hangingPunct="1"/>
            <a:r>
              <a:rPr lang="zh-CN" altLang="en-US" smtClean="0"/>
              <a:t>总干渠</a:t>
            </a:r>
            <a:r>
              <a:rPr lang="en-US" altLang="zh-CN" smtClean="0"/>
              <a:t>1432</a:t>
            </a:r>
            <a:r>
              <a:rPr lang="zh-CN" altLang="en-US" smtClean="0"/>
              <a:t>公里</a:t>
            </a:r>
            <a:endParaRPr lang="en-US" altLang="zh-CN" smtClean="0"/>
          </a:p>
          <a:p>
            <a:pPr lvl="1" eaLnBrk="1" hangingPunct="1"/>
            <a:r>
              <a:rPr lang="zh-CN" altLang="en-US" smtClean="0"/>
              <a:t>丹江口水库蓄水位从</a:t>
            </a:r>
            <a:r>
              <a:rPr lang="en-US" altLang="zh-CN" smtClean="0"/>
              <a:t>157</a:t>
            </a:r>
            <a:r>
              <a:rPr lang="zh-CN" altLang="en-US" smtClean="0"/>
              <a:t>米提高到</a:t>
            </a:r>
            <a:r>
              <a:rPr lang="en-US" altLang="zh-CN" smtClean="0"/>
              <a:t>170</a:t>
            </a:r>
            <a:r>
              <a:rPr lang="zh-CN" altLang="en-US" smtClean="0"/>
              <a:t>米，与北京形成</a:t>
            </a:r>
            <a:r>
              <a:rPr lang="en-US" altLang="zh-CN" smtClean="0"/>
              <a:t>98.8</a:t>
            </a:r>
            <a:r>
              <a:rPr lang="zh-CN" altLang="en-US" smtClean="0"/>
              <a:t>米落差，全程自流。</a:t>
            </a:r>
            <a:endParaRPr lang="en-US" altLang="zh-CN" smtClean="0"/>
          </a:p>
          <a:p>
            <a:pPr lvl="1" eaLnBrk="1" hangingPunct="1"/>
            <a:r>
              <a:rPr lang="en-US" altLang="zh-CN" smtClean="0"/>
              <a:t>2014</a:t>
            </a:r>
            <a:r>
              <a:rPr lang="zh-CN" altLang="en-US" smtClean="0"/>
              <a:t>年</a:t>
            </a:r>
            <a:r>
              <a:rPr lang="en-US" altLang="zh-CN" smtClean="0"/>
              <a:t>12</a:t>
            </a:r>
            <a:r>
              <a:rPr lang="zh-CN" altLang="en-US" smtClean="0"/>
              <a:t>月</a:t>
            </a:r>
            <a:r>
              <a:rPr lang="en-US" altLang="zh-CN" smtClean="0"/>
              <a:t>12</a:t>
            </a:r>
            <a:r>
              <a:rPr lang="zh-CN" altLang="en-US" smtClean="0"/>
              <a:t>日开始通水</a:t>
            </a:r>
            <a:endParaRPr lang="zh-CN" altLang="en-US" smtClean="0"/>
          </a:p>
          <a:p>
            <a:pPr lvl="1" eaLnBrk="1" hangingPunct="1"/>
            <a:r>
              <a:rPr lang="zh-CN" altLang="en-US" smtClean="0"/>
              <a:t>供水总面积约</a:t>
            </a:r>
            <a:r>
              <a:rPr lang="en-US" altLang="zh-CN" smtClean="0"/>
              <a:t>15.5</a:t>
            </a:r>
            <a:r>
              <a:rPr lang="zh-CN" altLang="en-US" smtClean="0"/>
              <a:t>万平方千米</a:t>
            </a:r>
            <a:endParaRPr lang="en-US" altLang="zh-CN" smtClean="0"/>
          </a:p>
          <a:p>
            <a:pPr lvl="1" eaLnBrk="1" hangingPunct="1"/>
            <a:r>
              <a:rPr lang="zh-CN" altLang="en-US" smtClean="0"/>
              <a:t>调水规模：近期</a:t>
            </a:r>
            <a:r>
              <a:rPr lang="en-US" altLang="zh-CN" smtClean="0"/>
              <a:t>95</a:t>
            </a:r>
            <a:r>
              <a:rPr lang="zh-CN" altLang="en-US" smtClean="0"/>
              <a:t>亿优质水（工业供水</a:t>
            </a:r>
            <a:r>
              <a:rPr lang="en-US" altLang="zh-CN" smtClean="0"/>
              <a:t>64</a:t>
            </a:r>
            <a:r>
              <a:rPr lang="zh-CN" altLang="en-US" smtClean="0"/>
              <a:t>亿，农业供水</a:t>
            </a:r>
            <a:r>
              <a:rPr lang="en-US" altLang="zh-CN" smtClean="0"/>
              <a:t>30</a:t>
            </a:r>
            <a:r>
              <a:rPr lang="zh-CN" altLang="en-US" smtClean="0"/>
              <a:t>亿），远期</a:t>
            </a:r>
            <a:r>
              <a:rPr lang="en-US" altLang="zh-CN" smtClean="0"/>
              <a:t>130</a:t>
            </a:r>
            <a:r>
              <a:rPr lang="zh-CN" altLang="en-US" smtClean="0"/>
              <a:t>亿立方米</a:t>
            </a:r>
            <a:r>
              <a:rPr lang="en-US" altLang="zh-CN" smtClean="0"/>
              <a:t>/</a:t>
            </a:r>
            <a:r>
              <a:rPr lang="zh-CN" altLang="en-US" smtClean="0"/>
              <a:t>年</a:t>
            </a:r>
            <a:endParaRPr lang="en-US" altLang="zh-CN" smtClean="0"/>
          </a:p>
        </p:txBody>
      </p:sp>
      <p:pic>
        <p:nvPicPr>
          <p:cNvPr id="40964" name="Picture 4" descr="Image1"/>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459538" y="1468438"/>
            <a:ext cx="2584450" cy="493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zh-CN" altLang="en-US" smtClean="0"/>
              <a:t>中线工程</a:t>
            </a:r>
            <a:endParaRPr lang="zh-CN" altLang="en-US" smtClean="0"/>
          </a:p>
        </p:txBody>
      </p:sp>
      <p:sp>
        <p:nvSpPr>
          <p:cNvPr id="40963" name="Rectangle 3"/>
          <p:cNvSpPr>
            <a:spLocks noGrp="1" noChangeArrowheads="1"/>
          </p:cNvSpPr>
          <p:nvPr>
            <p:ph type="body" idx="1"/>
          </p:nvPr>
        </p:nvSpPr>
        <p:spPr>
          <a:xfrm>
            <a:off x="0" y="1381125"/>
            <a:ext cx="8886825" cy="4919663"/>
          </a:xfrm>
        </p:spPr>
        <p:txBody>
          <a:bodyPr/>
          <a:lstStyle/>
          <a:p>
            <a:pPr marL="457200" lvl="1" indent="0" eaLnBrk="1" hangingPunct="1">
              <a:buFontTx/>
              <a:buNone/>
              <a:defRPr/>
            </a:pPr>
            <a:r>
              <a:rPr lang="zh-CN" altLang="en-US" dirty="0"/>
              <a:t>生态环境：</a:t>
            </a:r>
            <a:endParaRPr lang="en-US" altLang="zh-CN" dirty="0"/>
          </a:p>
          <a:p>
            <a:pPr lvl="1" algn="just" eaLnBrk="1" hangingPunct="1">
              <a:defRPr/>
            </a:pPr>
            <a:r>
              <a:rPr lang="zh-CN" altLang="en-US" dirty="0"/>
              <a:t>沿线河流与总干渠立体交叉，保证水质。</a:t>
            </a:r>
            <a:endParaRPr lang="zh-CN" altLang="en-US" dirty="0"/>
          </a:p>
          <a:p>
            <a:pPr lvl="1" algn="just" eaLnBrk="1" hangingPunct="1">
              <a:defRPr/>
            </a:pPr>
            <a:r>
              <a:rPr lang="zh-CN" altLang="en-US" dirty="0"/>
              <a:t>全线累计生态补水量已达</a:t>
            </a:r>
            <a:r>
              <a:rPr lang="en-US" altLang="zh-CN" dirty="0"/>
              <a:t>21</a:t>
            </a:r>
            <a:r>
              <a:rPr lang="zh-CN" altLang="en-US" dirty="0"/>
              <a:t>亿立方米，生态补水效益果显著，河渠水面大幅增加，受水区地下水超采得到遏制，地下水位止跌回升。</a:t>
            </a:r>
            <a:endParaRPr lang="en-US" altLang="zh-CN" dirty="0"/>
          </a:p>
        </p:txBody>
      </p:sp>
      <p:pic>
        <p:nvPicPr>
          <p:cNvPr id="41988" name="图片 2"/>
          <p:cNvPicPr>
            <a:picLocks noChangeAspect="1"/>
          </p:cNvPicPr>
          <p:nvPr/>
        </p:nvPicPr>
        <p:blipFill>
          <a:blip r:embed="rId1">
            <a:extLst>
              <a:ext uri="{28A0092B-C50C-407E-A947-70E740481C1C}">
                <a14:useLocalDpi xmlns:a14="http://schemas.microsoft.com/office/drawing/2010/main" val="0"/>
              </a:ext>
            </a:extLst>
          </a:blip>
          <a:srcRect t="28130" b="11382"/>
          <a:stretch>
            <a:fillRect/>
          </a:stretch>
        </p:blipFill>
        <p:spPr bwMode="auto">
          <a:xfrm>
            <a:off x="588963" y="4225925"/>
            <a:ext cx="6096000"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9" name="矩形 4"/>
          <p:cNvSpPr>
            <a:spLocks noChangeArrowheads="1"/>
          </p:cNvSpPr>
          <p:nvPr/>
        </p:nvSpPr>
        <p:spPr bwMode="auto">
          <a:xfrm>
            <a:off x="7029450" y="4537075"/>
            <a:ext cx="1857375" cy="163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2000">
                <a:solidFill>
                  <a:srgbClr val="800000"/>
                </a:solidFill>
              </a:rPr>
              <a:t>陶岔渠首枢纽工程（丹江口水库副坝）：中线输水总干渠的引水渠道</a:t>
            </a:r>
            <a:endParaRPr lang="zh-CN" altLang="en-US" sz="2000">
              <a:solidFill>
                <a:srgbClr val="800000"/>
              </a:solidFill>
            </a:endParaRPr>
          </a:p>
        </p:txBody>
      </p:sp>
      <p:sp>
        <p:nvSpPr>
          <p:cNvPr id="41990" name="左箭头 5"/>
          <p:cNvSpPr>
            <a:spLocks noChangeArrowheads="1"/>
          </p:cNvSpPr>
          <p:nvPr/>
        </p:nvSpPr>
        <p:spPr bwMode="auto">
          <a:xfrm>
            <a:off x="6684963" y="5051425"/>
            <a:ext cx="466725" cy="423863"/>
          </a:xfrm>
          <a:prstGeom prst="leftArrow">
            <a:avLst>
              <a:gd name="adj1" fmla="val 50000"/>
              <a:gd name="adj2" fmla="val 49999"/>
            </a:avLst>
          </a:prstGeom>
          <a:solidFill>
            <a:srgbClr val="800000"/>
          </a:solidFill>
          <a:ln w="9525" algn="ctr">
            <a:solidFill>
              <a:schemeClr val="tx1"/>
            </a:solidFill>
            <a:round/>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endParaRPr lang="zh-CN" altLang="en-US" sz="2400" b="0">
              <a:solidFill>
                <a:schemeClr val="tx1"/>
              </a:solidFill>
            </a:endParaRPr>
          </a:p>
        </p:txBody>
      </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zh-CN" altLang="en-US" smtClean="0"/>
              <a:t>中线工程</a:t>
            </a:r>
            <a:endParaRPr lang="zh-CN" altLang="en-US" smtClean="0"/>
          </a:p>
        </p:txBody>
      </p:sp>
      <p:sp>
        <p:nvSpPr>
          <p:cNvPr id="40963" name="Rectangle 3"/>
          <p:cNvSpPr>
            <a:spLocks noGrp="1" noChangeArrowheads="1"/>
          </p:cNvSpPr>
          <p:nvPr>
            <p:ph type="body" idx="1"/>
          </p:nvPr>
        </p:nvSpPr>
        <p:spPr>
          <a:xfrm>
            <a:off x="0" y="1481138"/>
            <a:ext cx="5073650" cy="4919662"/>
          </a:xfrm>
        </p:spPr>
        <p:txBody>
          <a:bodyPr/>
          <a:lstStyle/>
          <a:p>
            <a:pPr marL="457200" lvl="1" indent="0" eaLnBrk="1" hangingPunct="1">
              <a:buFontTx/>
              <a:buNone/>
              <a:defRPr/>
            </a:pPr>
            <a:r>
              <a:rPr lang="zh-CN" altLang="en-US" dirty="0"/>
              <a:t>经济发展：</a:t>
            </a:r>
            <a:endParaRPr lang="en-US" altLang="zh-CN" dirty="0"/>
          </a:p>
          <a:p>
            <a:pPr lvl="1" eaLnBrk="1" hangingPunct="1">
              <a:defRPr/>
            </a:pPr>
            <a:r>
              <a:rPr lang="zh-CN" altLang="en-US" dirty="0"/>
              <a:t>中线总投资约</a:t>
            </a:r>
            <a:r>
              <a:rPr lang="en-US" altLang="zh-CN" dirty="0"/>
              <a:t>920</a:t>
            </a:r>
            <a:r>
              <a:rPr lang="zh-CN" altLang="en-US" dirty="0"/>
              <a:t>亿元（</a:t>
            </a:r>
            <a:r>
              <a:rPr lang="en-US" altLang="zh-CN" dirty="0"/>
              <a:t>2000</a:t>
            </a:r>
            <a:r>
              <a:rPr lang="zh-CN" altLang="en-US" dirty="0"/>
              <a:t>年价格）</a:t>
            </a:r>
            <a:endParaRPr lang="en-US" altLang="zh-CN" dirty="0"/>
          </a:p>
          <a:p>
            <a:pPr lvl="1" eaLnBrk="1" hangingPunct="1">
              <a:defRPr/>
            </a:pPr>
            <a:r>
              <a:rPr lang="zh-CN" altLang="en-US" dirty="0"/>
              <a:t>拉动建材业、制造业、交通运输业以及第三产业的发展</a:t>
            </a:r>
            <a:endParaRPr lang="en-US" altLang="zh-CN" dirty="0"/>
          </a:p>
          <a:p>
            <a:pPr lvl="1" eaLnBrk="1" hangingPunct="1">
              <a:defRPr/>
            </a:pPr>
            <a:r>
              <a:rPr lang="zh-CN" altLang="en-US" dirty="0"/>
              <a:t>带动调水区、调水沿线地区、受水区经济结构调整。</a:t>
            </a:r>
            <a:endParaRPr lang="en-US" altLang="zh-CN" dirty="0"/>
          </a:p>
        </p:txBody>
      </p:sp>
      <p:pic>
        <p:nvPicPr>
          <p:cNvPr id="43012"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954588" y="1647825"/>
            <a:ext cx="4090987"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zh-CN" altLang="en-US" smtClean="0"/>
              <a:t>中线工程</a:t>
            </a:r>
            <a:endParaRPr lang="zh-CN" altLang="en-US" smtClean="0"/>
          </a:p>
        </p:txBody>
      </p:sp>
      <p:sp>
        <p:nvSpPr>
          <p:cNvPr id="40963" name="Rectangle 3"/>
          <p:cNvSpPr>
            <a:spLocks noGrp="1" noChangeArrowheads="1"/>
          </p:cNvSpPr>
          <p:nvPr>
            <p:ph type="body" idx="1"/>
          </p:nvPr>
        </p:nvSpPr>
        <p:spPr>
          <a:xfrm>
            <a:off x="0" y="1363663"/>
            <a:ext cx="8461375" cy="4919662"/>
          </a:xfrm>
        </p:spPr>
        <p:txBody>
          <a:bodyPr/>
          <a:lstStyle/>
          <a:p>
            <a:pPr marL="457200" lvl="1" indent="0" eaLnBrk="1" hangingPunct="1">
              <a:buFontTx/>
              <a:buNone/>
              <a:defRPr/>
            </a:pPr>
            <a:r>
              <a:rPr lang="zh-CN" altLang="en-US" dirty="0"/>
              <a:t>社会民生</a:t>
            </a:r>
            <a:endParaRPr lang="en-US" altLang="zh-CN" dirty="0"/>
          </a:p>
          <a:p>
            <a:pPr lvl="1" eaLnBrk="1" hangingPunct="1">
              <a:defRPr/>
            </a:pPr>
            <a:r>
              <a:rPr lang="zh-CN" altLang="en-US" sz="2800" dirty="0"/>
              <a:t>需搬迁移民</a:t>
            </a:r>
            <a:r>
              <a:rPr lang="en-US" altLang="zh-CN" sz="2800" dirty="0"/>
              <a:t>34.5</a:t>
            </a:r>
            <a:r>
              <a:rPr lang="zh-CN" altLang="en-US" sz="2800" dirty="0"/>
              <a:t>万人；</a:t>
            </a:r>
            <a:endParaRPr lang="en-US" altLang="zh-CN" sz="2800" dirty="0"/>
          </a:p>
          <a:p>
            <a:pPr lvl="1" eaLnBrk="1" hangingPunct="1">
              <a:defRPr/>
            </a:pPr>
            <a:r>
              <a:rPr lang="zh-CN" altLang="en-US" sz="2800" dirty="0"/>
              <a:t>改善沿线城市长期饮用高氟水、苦咸水和含有害物质的深层地下水的居民饮水质量。</a:t>
            </a:r>
            <a:endParaRPr lang="en-US" altLang="zh-CN" sz="2800" dirty="0"/>
          </a:p>
          <a:p>
            <a:pPr lvl="1" eaLnBrk="1" hangingPunct="1">
              <a:defRPr/>
            </a:pPr>
            <a:endParaRPr lang="zh-CN" altLang="en-US" dirty="0"/>
          </a:p>
        </p:txBody>
      </p:sp>
      <p:pic>
        <p:nvPicPr>
          <p:cNvPr id="44036" name="图片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5033963" y="3588499"/>
            <a:ext cx="4016375" cy="225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矩形 5"/>
          <p:cNvSpPr/>
          <p:nvPr/>
        </p:nvSpPr>
        <p:spPr>
          <a:xfrm>
            <a:off x="0" y="3332913"/>
            <a:ext cx="4881563" cy="2763834"/>
          </a:xfrm>
          <a:prstGeom prst="rect">
            <a:avLst/>
          </a:prstGeom>
        </p:spPr>
        <p:txBody>
          <a:bodyPr>
            <a:spAutoFit/>
          </a:bodyPr>
          <a:lstStyle/>
          <a:p>
            <a:pPr marL="742950" lvl="1" indent="-285750" algn="just" eaLnBrk="1" hangingPunct="1">
              <a:spcBef>
                <a:spcPct val="20000"/>
              </a:spcBef>
              <a:buFontTx/>
              <a:buChar char="–"/>
              <a:defRPr/>
            </a:pPr>
            <a:r>
              <a:rPr lang="zh-CN" altLang="en-US" sz="2800" b="1" kern="0" dirty="0">
                <a:solidFill>
                  <a:srgbClr val="000000"/>
                </a:solidFill>
                <a:latin typeface="Arial" panose="020B0604020202020204"/>
                <a:ea typeface="楷体_GB2312"/>
              </a:rPr>
              <a:t>惠及京津冀豫，累计供水量超</a:t>
            </a:r>
            <a:r>
              <a:rPr lang="en-US" altLang="zh-CN" sz="2800" b="1" kern="0" dirty="0">
                <a:solidFill>
                  <a:srgbClr val="000000"/>
                </a:solidFill>
                <a:latin typeface="Arial" panose="020B0604020202020204"/>
                <a:ea typeface="楷体_GB2312"/>
              </a:rPr>
              <a:t>237</a:t>
            </a:r>
            <a:r>
              <a:rPr lang="zh-CN" altLang="en-US" sz="2800" b="1" kern="0" dirty="0">
                <a:solidFill>
                  <a:srgbClr val="000000"/>
                </a:solidFill>
                <a:latin typeface="Arial" panose="020B0604020202020204"/>
                <a:ea typeface="楷体_GB2312"/>
              </a:rPr>
              <a:t>亿立方米，直接受益人口超</a:t>
            </a:r>
            <a:r>
              <a:rPr lang="en-US" altLang="zh-CN" sz="2800" b="1" kern="0" dirty="0">
                <a:solidFill>
                  <a:srgbClr val="000000"/>
                </a:solidFill>
                <a:latin typeface="Arial" panose="020B0604020202020204"/>
                <a:ea typeface="楷体_GB2312"/>
              </a:rPr>
              <a:t>5300</a:t>
            </a:r>
            <a:r>
              <a:rPr lang="zh-CN" altLang="en-US" sz="2800" b="1" kern="0" dirty="0">
                <a:solidFill>
                  <a:srgbClr val="000000"/>
                </a:solidFill>
                <a:latin typeface="Arial" panose="020B0604020202020204"/>
                <a:ea typeface="楷体_GB2312"/>
              </a:rPr>
              <a:t>万</a:t>
            </a:r>
            <a:r>
              <a:rPr lang="zh-CN" altLang="en-US" sz="2800" b="1" kern="0" dirty="0" smtClean="0">
                <a:solidFill>
                  <a:srgbClr val="000000"/>
                </a:solidFill>
                <a:latin typeface="Arial" panose="020B0604020202020204"/>
                <a:ea typeface="楷体_GB2312"/>
              </a:rPr>
              <a:t>人</a:t>
            </a:r>
            <a:endParaRPr lang="en-US" altLang="zh-CN" sz="2800" b="1" kern="0" dirty="0">
              <a:solidFill>
                <a:srgbClr val="000000"/>
              </a:solidFill>
              <a:latin typeface="Arial" panose="020B0604020202020204"/>
              <a:ea typeface="楷体_GB2312"/>
            </a:endParaRPr>
          </a:p>
          <a:p>
            <a:pPr marL="742950" lvl="1" indent="-285750" algn="just" eaLnBrk="1" hangingPunct="1">
              <a:spcBef>
                <a:spcPct val="20000"/>
              </a:spcBef>
              <a:buFontTx/>
              <a:buChar char="–"/>
              <a:defRPr/>
            </a:pPr>
            <a:r>
              <a:rPr lang="zh-CN" altLang="en-US" sz="2800" b="1" kern="0" dirty="0" smtClean="0">
                <a:solidFill>
                  <a:srgbClr val="000000"/>
                </a:solidFill>
                <a:latin typeface="Arial" panose="020B0604020202020204"/>
                <a:ea typeface="楷体_GB2312"/>
              </a:rPr>
              <a:t>累计</a:t>
            </a:r>
            <a:r>
              <a:rPr lang="zh-CN" altLang="en-US" sz="2800" b="1" kern="0" dirty="0">
                <a:solidFill>
                  <a:srgbClr val="000000"/>
                </a:solidFill>
                <a:latin typeface="Arial" panose="020B0604020202020204"/>
                <a:ea typeface="楷体_GB2312"/>
              </a:rPr>
              <a:t>向北京输水</a:t>
            </a:r>
            <a:r>
              <a:rPr lang="en-US" altLang="zh-CN" sz="2800" b="1" kern="0" dirty="0">
                <a:solidFill>
                  <a:srgbClr val="000000"/>
                </a:solidFill>
                <a:latin typeface="Arial" panose="020B0604020202020204"/>
                <a:ea typeface="楷体_GB2312"/>
              </a:rPr>
              <a:t>43</a:t>
            </a:r>
            <a:r>
              <a:rPr lang="zh-CN" altLang="en-US" sz="2800" b="1" kern="0" dirty="0">
                <a:solidFill>
                  <a:srgbClr val="000000"/>
                </a:solidFill>
                <a:latin typeface="Arial" panose="020B0604020202020204"/>
                <a:ea typeface="楷体_GB2312"/>
              </a:rPr>
              <a:t>亿立方米，约为</a:t>
            </a:r>
            <a:r>
              <a:rPr lang="en-US" altLang="zh-CN" sz="2800" b="1" kern="0" dirty="0">
                <a:solidFill>
                  <a:srgbClr val="000000"/>
                </a:solidFill>
                <a:latin typeface="Arial" panose="020B0604020202020204"/>
                <a:ea typeface="楷体_GB2312"/>
              </a:rPr>
              <a:t>1</a:t>
            </a:r>
            <a:r>
              <a:rPr lang="zh-CN" altLang="en-US" sz="2800" b="1" kern="0" dirty="0">
                <a:solidFill>
                  <a:srgbClr val="000000"/>
                </a:solidFill>
                <a:latin typeface="Arial" panose="020B0604020202020204"/>
                <a:ea typeface="楷体_GB2312"/>
              </a:rPr>
              <a:t>个密云水库库容量。</a:t>
            </a:r>
            <a:endParaRPr lang="en-US" altLang="zh-CN" sz="2800" b="1" kern="0" dirty="0">
              <a:solidFill>
                <a:srgbClr val="000000"/>
              </a:solidFill>
              <a:latin typeface="Arial" panose="020B0604020202020204"/>
              <a:ea typeface="楷体_GB2312"/>
            </a:endParaRPr>
          </a:p>
        </p:txBody>
      </p:sp>
      <p:sp>
        <p:nvSpPr>
          <p:cNvPr id="44038" name="TextBox 5"/>
          <p:cNvSpPr txBox="1">
            <a:spLocks noChangeArrowheads="1"/>
          </p:cNvSpPr>
          <p:nvPr/>
        </p:nvSpPr>
        <p:spPr bwMode="auto">
          <a:xfrm>
            <a:off x="5319152" y="3623469"/>
            <a:ext cx="35639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2000" dirty="0">
                <a:solidFill>
                  <a:srgbClr val="C00000"/>
                </a:solidFill>
              </a:rPr>
              <a:t>南水北调工程北京段渠道</a:t>
            </a:r>
            <a:endParaRPr lang="zh-CN" altLang="en-US" sz="2000" dirty="0">
              <a:solidFill>
                <a:srgbClr val="C00000"/>
              </a:solidFill>
            </a:endParaRPr>
          </a:p>
        </p:txBody>
      </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zh-CN" altLang="en-US" smtClean="0"/>
              <a:t>中线工程（技术问题）</a:t>
            </a:r>
            <a:endParaRPr lang="zh-CN" altLang="en-US" smtClean="0"/>
          </a:p>
        </p:txBody>
      </p:sp>
      <p:sp>
        <p:nvSpPr>
          <p:cNvPr id="45059" name="Rectangle 3"/>
          <p:cNvSpPr>
            <a:spLocks noGrp="1" noChangeArrowheads="1"/>
          </p:cNvSpPr>
          <p:nvPr>
            <p:ph type="body" idx="1"/>
          </p:nvPr>
        </p:nvSpPr>
        <p:spPr>
          <a:xfrm>
            <a:off x="0" y="1481138"/>
            <a:ext cx="5630863" cy="4919662"/>
          </a:xfrm>
        </p:spPr>
        <p:txBody>
          <a:bodyPr/>
          <a:lstStyle/>
          <a:p>
            <a:pPr lvl="1" eaLnBrk="1" hangingPunct="1"/>
            <a:r>
              <a:rPr lang="zh-CN" altLang="en-US" smtClean="0"/>
              <a:t>技术难关“穿黄工程”（黄河下</a:t>
            </a:r>
            <a:r>
              <a:rPr lang="en-US" altLang="zh-CN" smtClean="0"/>
              <a:t>23</a:t>
            </a:r>
            <a:r>
              <a:rPr lang="zh-CN" altLang="en-US" smtClean="0"/>
              <a:t>米，</a:t>
            </a:r>
            <a:r>
              <a:rPr lang="en-US" altLang="zh-CN" smtClean="0"/>
              <a:t>2</a:t>
            </a:r>
            <a:r>
              <a:rPr lang="zh-CN" altLang="en-US" smtClean="0"/>
              <a:t>个直径</a:t>
            </a:r>
            <a:r>
              <a:rPr lang="en-US" altLang="zh-CN" smtClean="0"/>
              <a:t>7</a:t>
            </a:r>
            <a:r>
              <a:rPr lang="zh-CN" altLang="en-US" smtClean="0"/>
              <a:t>米、长</a:t>
            </a:r>
            <a:r>
              <a:rPr lang="en-US" altLang="zh-CN" smtClean="0"/>
              <a:t>4.25</a:t>
            </a:r>
            <a:r>
              <a:rPr lang="zh-CN" altLang="en-US" smtClean="0"/>
              <a:t>公里多的隧道）</a:t>
            </a:r>
            <a:endParaRPr lang="en-US" altLang="zh-CN" smtClean="0"/>
          </a:p>
          <a:p>
            <a:pPr lvl="1" eaLnBrk="1" hangingPunct="1"/>
            <a:r>
              <a:rPr lang="zh-CN" altLang="en-US" smtClean="0"/>
              <a:t>整个南水北调中线的标志性、控制性工程。</a:t>
            </a:r>
            <a:endParaRPr lang="en-US" altLang="zh-CN" smtClean="0"/>
          </a:p>
          <a:p>
            <a:pPr lvl="1" eaLnBrk="1" hangingPunct="1"/>
            <a:r>
              <a:rPr lang="zh-CN" altLang="en-US" smtClean="0"/>
              <a:t>其任务是将中线调水从黄河南岸输送到黄河北岸，之后向黄河以北地区供水</a:t>
            </a:r>
            <a:endParaRPr lang="zh-CN" altLang="en-US" smtClean="0"/>
          </a:p>
        </p:txBody>
      </p:sp>
      <p:pic>
        <p:nvPicPr>
          <p:cNvPr id="45060"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630863" y="1531938"/>
            <a:ext cx="3336925" cy="4449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TextBox 5"/>
          <p:cNvSpPr txBox="1">
            <a:spLocks noChangeArrowheads="1"/>
          </p:cNvSpPr>
          <p:nvPr/>
        </p:nvSpPr>
        <p:spPr bwMode="auto">
          <a:xfrm>
            <a:off x="5630863" y="5981700"/>
            <a:ext cx="35639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2000">
                <a:solidFill>
                  <a:srgbClr val="C00000"/>
                </a:solidFill>
              </a:rPr>
              <a:t>穿黄工程</a:t>
            </a:r>
            <a:endParaRPr lang="zh-CN" altLang="en-US" sz="2000">
              <a:solidFill>
                <a:srgbClr val="C00000"/>
              </a:solidFill>
            </a:endParaRP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5725" y="1323975"/>
            <a:ext cx="4524375" cy="32273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60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1550" y="1336675"/>
            <a:ext cx="4267200" cy="3200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6084" name="矩形 1"/>
          <p:cNvSpPr>
            <a:spLocks noChangeArrowheads="1"/>
          </p:cNvSpPr>
          <p:nvPr/>
        </p:nvSpPr>
        <p:spPr bwMode="auto">
          <a:xfrm>
            <a:off x="190500" y="4551363"/>
            <a:ext cx="885825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 typeface="Wingdings" panose="05000000000000000000" pitchFamily="2" charset="2"/>
              <a:buChar char="Ø"/>
            </a:pPr>
            <a:r>
              <a:rPr lang="zh-CN" altLang="en-US" sz="2400"/>
              <a:t>穿黄隧洞是南水北调工程中规模最大、单项工期最长、技术含量最高、施工难度最复杂的交叉建筑物。</a:t>
            </a:r>
            <a:endParaRPr lang="en-US" altLang="zh-CN" sz="2400"/>
          </a:p>
          <a:p>
            <a:pPr>
              <a:spcBef>
                <a:spcPct val="0"/>
              </a:spcBef>
              <a:buFont typeface="Wingdings" panose="05000000000000000000" pitchFamily="2" charset="2"/>
              <a:buChar char="Ø"/>
            </a:pPr>
            <a:r>
              <a:rPr lang="zh-CN" altLang="en-US" sz="2400"/>
              <a:t>全长</a:t>
            </a:r>
            <a:r>
              <a:rPr lang="en-US" altLang="zh-CN" sz="2400"/>
              <a:t>19.3</a:t>
            </a:r>
            <a:r>
              <a:rPr lang="zh-CN" altLang="en-US" sz="2400"/>
              <a:t>公里。其中，隧洞段长</a:t>
            </a:r>
            <a:r>
              <a:rPr lang="en-US" altLang="zh-CN" sz="2400"/>
              <a:t>4.25</a:t>
            </a:r>
            <a:r>
              <a:rPr lang="zh-CN" altLang="en-US" sz="2400"/>
              <a:t>公里，双洞线布置，单洞输水直径</a:t>
            </a:r>
            <a:r>
              <a:rPr lang="en-US" altLang="zh-CN" sz="2400"/>
              <a:t>7</a:t>
            </a:r>
            <a:r>
              <a:rPr lang="zh-CN" altLang="en-US" sz="2400"/>
              <a:t>米，最小埋深</a:t>
            </a:r>
            <a:r>
              <a:rPr lang="en-US" altLang="zh-CN" sz="2400"/>
              <a:t>23</a:t>
            </a:r>
            <a:r>
              <a:rPr lang="zh-CN" altLang="en-US" sz="2400"/>
              <a:t>米，采用泥水平衡盾构工艺成洞。</a:t>
            </a:r>
            <a:endParaRPr lang="en-US" altLang="zh-CN" sz="2400"/>
          </a:p>
          <a:p>
            <a:pPr>
              <a:spcBef>
                <a:spcPct val="0"/>
              </a:spcBef>
              <a:buFont typeface="Wingdings" panose="05000000000000000000" pitchFamily="2" charset="2"/>
              <a:buChar char="Ø"/>
            </a:pPr>
            <a:r>
              <a:rPr lang="zh-CN" altLang="en-US" sz="2400"/>
              <a:t>设计流量每秒</a:t>
            </a:r>
            <a:r>
              <a:rPr lang="en-US" altLang="zh-CN" sz="2400"/>
              <a:t>265</a:t>
            </a:r>
            <a:r>
              <a:rPr lang="zh-CN" altLang="en-US" sz="2400"/>
              <a:t>立方米，加大流量每秒</a:t>
            </a:r>
            <a:r>
              <a:rPr lang="en-US" altLang="zh-CN" sz="2400"/>
              <a:t>320</a:t>
            </a:r>
            <a:r>
              <a:rPr lang="zh-CN" altLang="en-US" sz="2400"/>
              <a:t>立方米。</a:t>
            </a:r>
            <a:endParaRPr lang="zh-CN" altLang="en-US" sz="2400"/>
          </a:p>
        </p:txBody>
      </p:sp>
      <p:sp>
        <p:nvSpPr>
          <p:cNvPr id="41989" name="矩形 2"/>
          <p:cNvSpPr>
            <a:spLocks noChangeArrowheads="1"/>
          </p:cNvSpPr>
          <p:nvPr/>
        </p:nvSpPr>
        <p:spPr bwMode="auto">
          <a:xfrm>
            <a:off x="190500" y="350838"/>
            <a:ext cx="7848600" cy="769937"/>
          </a:xfrm>
          <a:prstGeom prst="rect">
            <a:avLst/>
          </a:prstGeom>
          <a:noFill/>
          <a:ln>
            <a:noFill/>
          </a:ln>
        </p:spPr>
        <p:txBody>
          <a:bodyPr wrap="non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defRPr/>
            </a:pPr>
            <a:r>
              <a:rPr lang="zh-CN" altLang="en-US" sz="4400" dirty="0">
                <a:solidFill>
                  <a:srgbClr val="990000"/>
                </a:solidFill>
                <a:latin typeface="+mj-lt"/>
                <a:ea typeface="+mj-ea"/>
                <a:cs typeface="楷体_GB2312"/>
              </a:rPr>
              <a:t>中线工程重点工程：穿黄隧洞</a:t>
            </a:r>
            <a:r>
              <a:rPr lang="zh-CN" altLang="en-US" sz="2400" b="0" dirty="0">
                <a:solidFill>
                  <a:schemeClr val="tx1"/>
                </a:solidFill>
              </a:rPr>
              <a:t>）</a:t>
            </a:r>
            <a:endParaRPr lang="zh-CN" altLang="en-US" sz="2400" b="0" dirty="0">
              <a:solidFill>
                <a:schemeClr val="tx1"/>
              </a:solidFill>
            </a:endParaRPr>
          </a:p>
        </p:txBody>
      </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9" name="矩形 2"/>
          <p:cNvSpPr>
            <a:spLocks noChangeArrowheads="1"/>
          </p:cNvSpPr>
          <p:nvPr/>
        </p:nvSpPr>
        <p:spPr bwMode="auto">
          <a:xfrm>
            <a:off x="190500" y="350838"/>
            <a:ext cx="7848600" cy="769937"/>
          </a:xfrm>
          <a:prstGeom prst="rect">
            <a:avLst/>
          </a:prstGeom>
          <a:noFill/>
          <a:ln>
            <a:noFill/>
          </a:ln>
        </p:spPr>
        <p:txBody>
          <a:bodyPr wrap="non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defRPr/>
            </a:pPr>
            <a:r>
              <a:rPr lang="zh-CN" altLang="en-US" sz="4400" dirty="0">
                <a:solidFill>
                  <a:srgbClr val="990000"/>
                </a:solidFill>
                <a:latin typeface="+mj-lt"/>
                <a:ea typeface="+mj-ea"/>
                <a:cs typeface="楷体_GB2312"/>
              </a:rPr>
              <a:t>中线工程重点工程：穿黄隧洞</a:t>
            </a:r>
            <a:r>
              <a:rPr lang="zh-CN" altLang="en-US" sz="2400" b="0" dirty="0">
                <a:solidFill>
                  <a:schemeClr val="tx1"/>
                </a:solidFill>
              </a:rPr>
              <a:t>）</a:t>
            </a:r>
            <a:endParaRPr lang="zh-CN" altLang="en-US" sz="2400" b="0" dirty="0">
              <a:solidFill>
                <a:schemeClr val="tx1"/>
              </a:solidFill>
            </a:endParaRPr>
          </a:p>
        </p:txBody>
      </p:sp>
      <p:pic>
        <p:nvPicPr>
          <p:cNvPr id="4" name="[朝闻天下]新闻背景 穿黄工程：汉江黄河在这里“相会”">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236708" y="1376221"/>
            <a:ext cx="6708964" cy="5031723"/>
          </a:xfrm>
          <a:prstGeom prst="rect">
            <a:avLst/>
          </a:prstGeom>
        </p:spPr>
      </p:pic>
    </p:spTree>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r>
              <a:rPr lang="zh-CN" altLang="en-US" smtClean="0"/>
              <a:t>东线工程（环境问题）</a:t>
            </a:r>
            <a:endParaRPr lang="zh-CN" altLang="en-US" smtClean="0"/>
          </a:p>
        </p:txBody>
      </p:sp>
      <p:sp>
        <p:nvSpPr>
          <p:cNvPr id="48131" name="Rectangle 3"/>
          <p:cNvSpPr>
            <a:spLocks noGrp="1" noChangeArrowheads="1"/>
          </p:cNvSpPr>
          <p:nvPr>
            <p:ph type="body" idx="1"/>
          </p:nvPr>
        </p:nvSpPr>
        <p:spPr>
          <a:xfrm>
            <a:off x="0" y="1346200"/>
            <a:ext cx="5756275" cy="5207000"/>
          </a:xfrm>
        </p:spPr>
        <p:txBody>
          <a:bodyPr/>
          <a:lstStyle/>
          <a:p>
            <a:pPr eaLnBrk="1" hangingPunct="1"/>
            <a:r>
              <a:rPr lang="zh-CN" altLang="en-US" smtClean="0"/>
              <a:t>“一江污水向北流”</a:t>
            </a:r>
            <a:endParaRPr lang="zh-CN" altLang="en-US" smtClean="0"/>
          </a:p>
          <a:p>
            <a:pPr lvl="1" eaLnBrk="1" hangingPunct="1"/>
            <a:r>
              <a:rPr lang="zh-CN" altLang="en-US" sz="2800" smtClean="0"/>
              <a:t>干线全长</a:t>
            </a:r>
            <a:r>
              <a:rPr lang="en-US" altLang="zh-CN" sz="2800" smtClean="0"/>
              <a:t>1191</a:t>
            </a:r>
            <a:r>
              <a:rPr lang="zh-CN" altLang="en-US" sz="2800" smtClean="0"/>
              <a:t>公里</a:t>
            </a:r>
            <a:endParaRPr lang="zh-CN" altLang="en-US" sz="2800" smtClean="0"/>
          </a:p>
          <a:p>
            <a:pPr lvl="1" eaLnBrk="1" hangingPunct="1"/>
            <a:r>
              <a:rPr lang="zh-CN" altLang="en-US" sz="2800" smtClean="0"/>
              <a:t>东线几大湖污染严重</a:t>
            </a:r>
            <a:endParaRPr lang="zh-CN" altLang="en-US" sz="2800" smtClean="0"/>
          </a:p>
          <a:p>
            <a:pPr lvl="2" eaLnBrk="1" hangingPunct="1"/>
            <a:r>
              <a:rPr lang="zh-CN" altLang="en-US" sz="2400" smtClean="0"/>
              <a:t>高油湖、洪泽湖、南四湖、东平湖</a:t>
            </a:r>
            <a:endParaRPr lang="zh-CN" altLang="en-US" sz="2400" smtClean="0"/>
          </a:p>
          <a:p>
            <a:pPr lvl="2" eaLnBrk="1" hangingPunct="1"/>
            <a:r>
              <a:rPr lang="en-US" altLang="zh-CN" sz="2400" smtClean="0"/>
              <a:t>43</a:t>
            </a:r>
            <a:r>
              <a:rPr lang="zh-CN" altLang="en-US" sz="2400" smtClean="0"/>
              <a:t>个断面中，</a:t>
            </a:r>
            <a:r>
              <a:rPr lang="en-US" altLang="zh-CN" sz="2400" smtClean="0"/>
              <a:t>42</a:t>
            </a:r>
            <a:r>
              <a:rPr lang="zh-CN" altLang="en-US" sz="2400" smtClean="0"/>
              <a:t>个为劣五类（不可用于农业灌溉）</a:t>
            </a:r>
            <a:endParaRPr lang="zh-CN" altLang="en-US" sz="2400" smtClean="0"/>
          </a:p>
          <a:p>
            <a:pPr lvl="2" eaLnBrk="1" hangingPunct="1"/>
            <a:r>
              <a:rPr lang="zh-CN" altLang="en-US" sz="2400" smtClean="0"/>
              <a:t>东线成了不同地区之间排污纠纷的产生地</a:t>
            </a:r>
            <a:r>
              <a:rPr lang="zh-CN" altLang="en-US" sz="3200" smtClean="0"/>
              <a:t>。 </a:t>
            </a:r>
            <a:endParaRPr lang="zh-CN" altLang="en-US" sz="3200" smtClean="0"/>
          </a:p>
          <a:p>
            <a:pPr eaLnBrk="1" hangingPunct="1"/>
            <a:endParaRPr lang="zh-CN" altLang="en-US" smtClean="0"/>
          </a:p>
        </p:txBody>
      </p:sp>
      <p:pic>
        <p:nvPicPr>
          <p:cNvPr id="48132" name="Picture 4" descr="Image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756275" y="152400"/>
            <a:ext cx="3387725" cy="637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smtClean="0"/>
              <a:t>南水北调东线工程</a:t>
            </a:r>
            <a:endParaRPr lang="zh-CN" altLang="en-US" smtClean="0"/>
          </a:p>
        </p:txBody>
      </p:sp>
      <p:sp>
        <p:nvSpPr>
          <p:cNvPr id="49155" name="内容占位符 2"/>
          <p:cNvSpPr>
            <a:spLocks noGrp="1" noChangeArrowheads="1"/>
          </p:cNvSpPr>
          <p:nvPr>
            <p:ph idx="1"/>
          </p:nvPr>
        </p:nvSpPr>
        <p:spPr/>
        <p:txBody>
          <a:bodyPr/>
          <a:lstStyle/>
          <a:p>
            <a:r>
              <a:rPr lang="zh-CN" altLang="en-US" sz="3400" smtClean="0"/>
              <a:t>南水北调东线工程，是指从江苏扬州江都水利枢纽提水，途径江苏、山东、河北三省，向华北地区输送生产生活用水的国家级跨省界区域工程。东线工程调水规模为</a:t>
            </a:r>
            <a:r>
              <a:rPr lang="en-US" altLang="zh-CN" sz="3400" smtClean="0"/>
              <a:t>148</a:t>
            </a:r>
            <a:r>
              <a:rPr lang="zh-CN" altLang="en-US" sz="3400" smtClean="0"/>
              <a:t>亿立方米，规划分三期建设。</a:t>
            </a:r>
            <a:endParaRPr lang="en-US" altLang="zh-CN" sz="3400" smtClean="0"/>
          </a:p>
          <a:p>
            <a:pPr lvl="1"/>
            <a:r>
              <a:rPr lang="zh-CN" altLang="en-US" sz="2800" smtClean="0"/>
              <a:t>起始点：三江口</a:t>
            </a:r>
            <a:endParaRPr lang="en-US" altLang="zh-CN" sz="2800" smtClean="0"/>
          </a:p>
          <a:p>
            <a:pPr lvl="1"/>
            <a:r>
              <a:rPr lang="zh-CN" altLang="en-US" sz="2800" smtClean="0"/>
              <a:t>途径：江苏、山东、河北</a:t>
            </a:r>
            <a:endParaRPr lang="en-US" altLang="zh-CN" sz="2800" smtClean="0"/>
          </a:p>
          <a:p>
            <a:pPr lvl="1"/>
            <a:r>
              <a:rPr lang="zh-CN" altLang="en-US" sz="2800" smtClean="0"/>
              <a:t>目标点：华北地区</a:t>
            </a:r>
            <a:endParaRPr lang="en-US" altLang="zh-CN" sz="2800" smtClean="0"/>
          </a:p>
          <a:p>
            <a:pPr lvl="1"/>
            <a:r>
              <a:rPr lang="zh-CN" altLang="en-US" sz="2800" smtClean="0"/>
              <a:t>供水范围：黄淮海平原东部和胶东地区</a:t>
            </a:r>
            <a:endParaRPr lang="en-US" altLang="zh-CN" sz="2800" smtClean="0"/>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78" name="组合 11"/>
          <p:cNvGrpSpPr/>
          <p:nvPr/>
        </p:nvGrpSpPr>
        <p:grpSpPr bwMode="auto">
          <a:xfrm>
            <a:off x="617538" y="1403350"/>
            <a:ext cx="4098925" cy="2530475"/>
            <a:chOff x="617984" y="1403484"/>
            <a:chExt cx="4098032" cy="2530535"/>
          </a:xfrm>
        </p:grpSpPr>
        <p:pic>
          <p:nvPicPr>
            <p:cNvPr id="5018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7984" y="1403484"/>
              <a:ext cx="4098032" cy="25305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3" name="TextBox 5"/>
            <p:cNvSpPr txBox="1">
              <a:spLocks noChangeArrowheads="1"/>
            </p:cNvSpPr>
            <p:nvPr/>
          </p:nvSpPr>
          <p:spPr bwMode="auto">
            <a:xfrm>
              <a:off x="971600" y="1412776"/>
              <a:ext cx="35638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2400">
                  <a:solidFill>
                    <a:srgbClr val="C00000"/>
                  </a:solidFill>
                </a:rPr>
                <a:t>江苏扬州江都水利枢纽</a:t>
              </a:r>
              <a:endParaRPr lang="zh-CN" altLang="en-US" sz="2400">
                <a:solidFill>
                  <a:srgbClr val="C00000"/>
                </a:solidFill>
              </a:endParaRPr>
            </a:p>
          </p:txBody>
        </p:sp>
      </p:grpSp>
      <p:sp>
        <p:nvSpPr>
          <p:cNvPr id="50179" name="标题 1"/>
          <p:cNvSpPr>
            <a:spLocks noGrp="1" noChangeArrowheads="1"/>
          </p:cNvSpPr>
          <p:nvPr>
            <p:ph type="title"/>
          </p:nvPr>
        </p:nvSpPr>
        <p:spPr/>
        <p:txBody>
          <a:bodyPr/>
          <a:lstStyle/>
          <a:p>
            <a:r>
              <a:rPr lang="zh-CN" altLang="en-US" smtClean="0"/>
              <a:t>南水北调东线工程</a:t>
            </a:r>
            <a:endParaRPr lang="zh-CN" altLang="en-US" smtClean="0"/>
          </a:p>
        </p:txBody>
      </p:sp>
      <p:pic>
        <p:nvPicPr>
          <p:cNvPr id="5018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29238" y="1412875"/>
            <a:ext cx="3563937" cy="49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181"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638" y="4005263"/>
            <a:ext cx="4802187" cy="229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标题 1"/>
          <p:cNvSpPr>
            <a:spLocks noGrp="1" noChangeArrowheads="1"/>
          </p:cNvSpPr>
          <p:nvPr>
            <p:ph type="title"/>
          </p:nvPr>
        </p:nvSpPr>
        <p:spPr/>
        <p:txBody>
          <a:bodyPr/>
          <a:lstStyle/>
          <a:p>
            <a:r>
              <a:rPr lang="zh-CN" altLang="en-US" smtClean="0"/>
              <a:t>南水北调东线工程</a:t>
            </a:r>
            <a:endParaRPr lang="zh-CN" altLang="en-US" smtClean="0"/>
          </a:p>
        </p:txBody>
      </p:sp>
      <p:sp>
        <p:nvSpPr>
          <p:cNvPr id="3" name="内容占位符 2"/>
          <p:cNvSpPr>
            <a:spLocks noGrp="1"/>
          </p:cNvSpPr>
          <p:nvPr>
            <p:ph idx="1"/>
          </p:nvPr>
        </p:nvSpPr>
        <p:spPr/>
        <p:txBody>
          <a:bodyPr/>
          <a:lstStyle/>
          <a:p>
            <a:pPr>
              <a:defRPr/>
            </a:pPr>
            <a:r>
              <a:rPr lang="zh-CN" altLang="en-US" sz="3800" dirty="0">
                <a:solidFill>
                  <a:srgbClr val="990000"/>
                </a:solidFill>
                <a:latin typeface="+mj-lt"/>
                <a:ea typeface="+mj-ea"/>
              </a:rPr>
              <a:t>第一期工程</a:t>
            </a:r>
            <a:endParaRPr lang="en-US" altLang="zh-CN" sz="3800" dirty="0">
              <a:solidFill>
                <a:srgbClr val="990000"/>
              </a:solidFill>
              <a:latin typeface="+mj-lt"/>
              <a:ea typeface="+mj-ea"/>
            </a:endParaRPr>
          </a:p>
          <a:p>
            <a:pPr lvl="1">
              <a:defRPr/>
            </a:pPr>
            <a:r>
              <a:rPr lang="zh-CN" altLang="en-US" dirty="0"/>
              <a:t>输水干线长</a:t>
            </a:r>
            <a:r>
              <a:rPr lang="en-US" altLang="zh-CN" dirty="0"/>
              <a:t>1467</a:t>
            </a:r>
            <a:r>
              <a:rPr lang="zh-CN" altLang="en-US" dirty="0"/>
              <a:t>公里。</a:t>
            </a:r>
            <a:endParaRPr lang="en-US" altLang="zh-CN" dirty="0"/>
          </a:p>
          <a:p>
            <a:pPr lvl="1">
              <a:defRPr/>
            </a:pPr>
            <a:r>
              <a:rPr lang="zh-CN" altLang="en-US" dirty="0"/>
              <a:t>主要向江苏和山东两省供水，改善苏北、鲁西南农业用水条件。</a:t>
            </a:r>
            <a:endParaRPr lang="en-US" altLang="zh-CN" dirty="0"/>
          </a:p>
          <a:p>
            <a:pPr lvl="1">
              <a:defRPr/>
            </a:pPr>
            <a:r>
              <a:rPr lang="zh-CN" altLang="en-US" dirty="0"/>
              <a:t>静态总投资</a:t>
            </a:r>
            <a:r>
              <a:rPr lang="en-US" altLang="zh-CN" dirty="0"/>
              <a:t>383</a:t>
            </a:r>
            <a:r>
              <a:rPr lang="zh-CN" altLang="en-US" dirty="0"/>
              <a:t>亿元，其中主体工程静态投资</a:t>
            </a:r>
            <a:r>
              <a:rPr lang="en-US" altLang="zh-CN" dirty="0"/>
              <a:t>260</a:t>
            </a:r>
            <a:r>
              <a:rPr lang="zh-CN" altLang="en-US" dirty="0"/>
              <a:t>亿元，治污工程投资</a:t>
            </a:r>
            <a:r>
              <a:rPr lang="en-US" altLang="zh-CN" dirty="0"/>
              <a:t>123</a:t>
            </a:r>
            <a:r>
              <a:rPr lang="zh-CN" altLang="en-US" dirty="0"/>
              <a:t>亿元。</a:t>
            </a:r>
            <a:endParaRPr lang="en-US" altLang="zh-CN" dirty="0"/>
          </a:p>
          <a:p>
            <a:pPr lvl="1">
              <a:defRPr/>
            </a:pPr>
            <a:r>
              <a:rPr lang="en-US" altLang="zh-CN" dirty="0"/>
              <a:t>2013</a:t>
            </a:r>
            <a:r>
              <a:rPr lang="zh-CN" altLang="en-US" dirty="0"/>
              <a:t>年</a:t>
            </a:r>
            <a:r>
              <a:rPr lang="en-US" altLang="zh-CN" dirty="0"/>
              <a:t>11</a:t>
            </a:r>
            <a:r>
              <a:rPr lang="zh-CN" altLang="en-US" dirty="0"/>
              <a:t>月</a:t>
            </a:r>
            <a:r>
              <a:rPr lang="en-US" altLang="zh-CN" dirty="0"/>
              <a:t>15</a:t>
            </a:r>
            <a:r>
              <a:rPr lang="zh-CN" altLang="en-US" dirty="0"/>
              <a:t>日正式通水，累计抽江水量</a:t>
            </a:r>
            <a:r>
              <a:rPr lang="en-US" altLang="zh-CN" dirty="0"/>
              <a:t>169.69</a:t>
            </a:r>
            <a:r>
              <a:rPr lang="zh-CN" altLang="en-US" dirty="0"/>
              <a:t>亿立方米，工程运行安全平稳。</a:t>
            </a:r>
            <a:endParaRPr lang="en-US" altLang="zh-CN" dirty="0"/>
          </a:p>
          <a:p>
            <a:pPr lvl="1">
              <a:defRPr/>
            </a:pPr>
            <a:r>
              <a:rPr lang="zh-CN" altLang="en-US" dirty="0"/>
              <a:t>调水水质持续稳定达到地表水</a:t>
            </a:r>
            <a:r>
              <a:rPr lang="en-US" altLang="zh-CN" dirty="0"/>
              <a:t>Ⅲ</a:t>
            </a:r>
            <a:r>
              <a:rPr lang="zh-CN" altLang="en-US" dirty="0"/>
              <a:t>类标准。</a:t>
            </a:r>
            <a:endParaRPr lang="zh-CN" altLang="en-US" dirty="0"/>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noChangeArrowheads="1"/>
          </p:cNvSpPr>
          <p:nvPr>
            <p:ph type="title"/>
          </p:nvPr>
        </p:nvSpPr>
        <p:spPr/>
        <p:txBody>
          <a:bodyPr/>
          <a:lstStyle/>
          <a:p>
            <a:r>
              <a:rPr lang="zh-CN" altLang="en-US" smtClean="0"/>
              <a:t>南水北调东线工程</a:t>
            </a:r>
            <a:endParaRPr lang="zh-CN" altLang="en-US" smtClean="0"/>
          </a:p>
        </p:txBody>
      </p:sp>
      <p:sp>
        <p:nvSpPr>
          <p:cNvPr id="3" name="内容占位符 2"/>
          <p:cNvSpPr>
            <a:spLocks noGrp="1"/>
          </p:cNvSpPr>
          <p:nvPr>
            <p:ph idx="1"/>
          </p:nvPr>
        </p:nvSpPr>
        <p:spPr/>
        <p:txBody>
          <a:bodyPr/>
          <a:lstStyle/>
          <a:p>
            <a:pPr>
              <a:defRPr/>
            </a:pPr>
            <a:r>
              <a:rPr lang="zh-CN" altLang="en-US" sz="3800" dirty="0">
                <a:solidFill>
                  <a:srgbClr val="990000"/>
                </a:solidFill>
                <a:latin typeface="+mj-lt"/>
                <a:ea typeface="+mj-ea"/>
              </a:rPr>
              <a:t>第二期工程</a:t>
            </a:r>
            <a:endParaRPr lang="en-US" altLang="zh-CN" sz="3800" dirty="0">
              <a:solidFill>
                <a:srgbClr val="990000"/>
              </a:solidFill>
              <a:latin typeface="+mj-lt"/>
              <a:ea typeface="+mj-ea"/>
            </a:endParaRPr>
          </a:p>
          <a:p>
            <a:pPr lvl="1">
              <a:defRPr/>
            </a:pPr>
            <a:r>
              <a:rPr lang="zh-CN" altLang="en-US" dirty="0"/>
              <a:t>供水范围扩大至河北、天津。</a:t>
            </a:r>
            <a:endParaRPr lang="en-US" altLang="zh-CN" dirty="0"/>
          </a:p>
          <a:p>
            <a:pPr lvl="1">
              <a:defRPr/>
            </a:pPr>
            <a:r>
              <a:rPr lang="zh-CN" altLang="en-US" dirty="0"/>
              <a:t>主体工程投资</a:t>
            </a:r>
            <a:r>
              <a:rPr lang="en-US" altLang="zh-CN" dirty="0"/>
              <a:t>124</a:t>
            </a:r>
            <a:r>
              <a:rPr lang="zh-CN" altLang="en-US" dirty="0"/>
              <a:t>亿元，治污工程投资</a:t>
            </a:r>
            <a:r>
              <a:rPr lang="en-US" altLang="zh-CN" dirty="0"/>
              <a:t>100</a:t>
            </a:r>
            <a:r>
              <a:rPr lang="zh-CN" altLang="en-US" dirty="0"/>
              <a:t>亿元，共计</a:t>
            </a:r>
            <a:r>
              <a:rPr lang="en-US" altLang="zh-CN" dirty="0"/>
              <a:t>224</a:t>
            </a:r>
            <a:r>
              <a:rPr lang="zh-CN" altLang="en-US" dirty="0"/>
              <a:t>亿元。</a:t>
            </a:r>
            <a:endParaRPr lang="en-US" altLang="zh-CN" dirty="0"/>
          </a:p>
          <a:p>
            <a:pPr marL="342900" lvl="1" indent="-342900">
              <a:buFontTx/>
              <a:buChar char="•"/>
              <a:defRPr/>
            </a:pPr>
            <a:r>
              <a:rPr lang="zh-CN" altLang="en-US" sz="3800" dirty="0">
                <a:solidFill>
                  <a:srgbClr val="990000"/>
                </a:solidFill>
                <a:latin typeface="+mj-lt"/>
                <a:ea typeface="+mj-ea"/>
              </a:rPr>
              <a:t>第三期工程</a:t>
            </a:r>
            <a:endParaRPr lang="en-US" altLang="zh-CN" sz="3800" dirty="0">
              <a:solidFill>
                <a:srgbClr val="990000"/>
              </a:solidFill>
              <a:latin typeface="+mj-lt"/>
              <a:ea typeface="+mj-ea"/>
            </a:endParaRPr>
          </a:p>
          <a:p>
            <a:pPr lvl="1">
              <a:defRPr/>
            </a:pPr>
            <a:r>
              <a:rPr lang="zh-CN" altLang="en-US" dirty="0"/>
              <a:t>增加北调水量，以满足供水范围内</a:t>
            </a:r>
            <a:r>
              <a:rPr lang="en-US" altLang="zh-CN" dirty="0"/>
              <a:t>2030</a:t>
            </a:r>
            <a:r>
              <a:rPr lang="zh-CN" altLang="en-US" dirty="0"/>
              <a:t>年水平国民经济发展对水的需求。</a:t>
            </a:r>
            <a:endParaRPr lang="en-US" altLang="zh-CN" dirty="0"/>
          </a:p>
          <a:p>
            <a:pPr lvl="1">
              <a:defRPr/>
            </a:pPr>
            <a:r>
              <a:rPr lang="zh-CN" altLang="en-US" dirty="0"/>
              <a:t>主体工程投资</a:t>
            </a:r>
            <a:r>
              <a:rPr lang="en-US" altLang="zh-CN" dirty="0"/>
              <a:t>116</a:t>
            </a:r>
            <a:r>
              <a:rPr lang="zh-CN" altLang="en-US" dirty="0"/>
              <a:t>亿元。</a:t>
            </a:r>
            <a:endParaRPr lang="zh-CN" altLang="en-US" dirty="0"/>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noChangeArrowheads="1"/>
          </p:cNvSpPr>
          <p:nvPr>
            <p:ph type="title"/>
          </p:nvPr>
        </p:nvSpPr>
        <p:spPr/>
        <p:txBody>
          <a:bodyPr/>
          <a:lstStyle/>
          <a:p>
            <a:r>
              <a:rPr lang="zh-CN" altLang="en-US" smtClean="0"/>
              <a:t>南水北调东线工程</a:t>
            </a:r>
            <a:endParaRPr lang="zh-CN" altLang="en-US" smtClean="0"/>
          </a:p>
        </p:txBody>
      </p:sp>
      <p:sp>
        <p:nvSpPr>
          <p:cNvPr id="3" name="内容占位符 2"/>
          <p:cNvSpPr>
            <a:spLocks noGrp="1"/>
          </p:cNvSpPr>
          <p:nvPr>
            <p:ph idx="1"/>
          </p:nvPr>
        </p:nvSpPr>
        <p:spPr/>
        <p:txBody>
          <a:bodyPr/>
          <a:lstStyle/>
          <a:p>
            <a:pPr>
              <a:defRPr/>
            </a:pPr>
            <a:r>
              <a:rPr lang="zh-CN" altLang="en-US" sz="3300" dirty="0">
                <a:solidFill>
                  <a:srgbClr val="990000"/>
                </a:solidFill>
                <a:latin typeface="+mj-lt"/>
                <a:ea typeface="+mj-ea"/>
              </a:rPr>
              <a:t>世界上规模最大的泵站群</a:t>
            </a:r>
            <a:r>
              <a:rPr lang="en-US" altLang="zh-CN" sz="3300" dirty="0">
                <a:solidFill>
                  <a:srgbClr val="990000"/>
                </a:solidFill>
                <a:latin typeface="+mj-lt"/>
                <a:ea typeface="+mj-ea"/>
              </a:rPr>
              <a:t>——</a:t>
            </a:r>
            <a:r>
              <a:rPr lang="zh-CN" altLang="en-US" sz="3300" dirty="0">
                <a:solidFill>
                  <a:srgbClr val="990000"/>
                </a:solidFill>
                <a:latin typeface="+mj-lt"/>
                <a:ea typeface="+mj-ea"/>
              </a:rPr>
              <a:t>东线泵站群工程</a:t>
            </a:r>
            <a:endParaRPr lang="zh-CN" altLang="en-US" sz="3300" dirty="0">
              <a:solidFill>
                <a:srgbClr val="990000"/>
              </a:solidFill>
              <a:latin typeface="+mj-lt"/>
              <a:ea typeface="+mj-ea"/>
            </a:endParaRPr>
          </a:p>
          <a:p>
            <a:pPr lvl="1">
              <a:defRPr/>
            </a:pPr>
            <a:r>
              <a:rPr lang="zh-CN" altLang="en-US" dirty="0"/>
              <a:t>全线设立</a:t>
            </a:r>
            <a:r>
              <a:rPr lang="en-US" altLang="zh-CN" dirty="0"/>
              <a:t>13</a:t>
            </a:r>
            <a:r>
              <a:rPr lang="zh-CN" altLang="en-US" dirty="0"/>
              <a:t>个梯级泵站，共</a:t>
            </a:r>
            <a:r>
              <a:rPr lang="en-US" altLang="zh-CN" dirty="0"/>
              <a:t>22</a:t>
            </a:r>
            <a:r>
              <a:rPr lang="zh-CN" altLang="en-US" dirty="0"/>
              <a:t>处枢纽、</a:t>
            </a:r>
            <a:r>
              <a:rPr lang="en-US" altLang="zh-CN" dirty="0"/>
              <a:t>34</a:t>
            </a:r>
            <a:r>
              <a:rPr lang="zh-CN" altLang="en-US" dirty="0"/>
              <a:t>座泵站，总扬程</a:t>
            </a:r>
            <a:r>
              <a:rPr lang="en-US" altLang="zh-CN" dirty="0"/>
              <a:t>65</a:t>
            </a:r>
            <a:r>
              <a:rPr lang="zh-CN" altLang="en-US" dirty="0"/>
              <a:t>米，总装机台数</a:t>
            </a:r>
            <a:r>
              <a:rPr lang="en-US" altLang="zh-CN" dirty="0"/>
              <a:t>160</a:t>
            </a:r>
            <a:r>
              <a:rPr lang="zh-CN" altLang="en-US" dirty="0"/>
              <a:t>台，总装机容量</a:t>
            </a:r>
            <a:r>
              <a:rPr lang="en-US" altLang="zh-CN" dirty="0"/>
              <a:t>36.62</a:t>
            </a:r>
            <a:r>
              <a:rPr lang="zh-CN" altLang="en-US" dirty="0"/>
              <a:t>万千瓦，总装机流量</a:t>
            </a:r>
            <a:r>
              <a:rPr lang="en-US" altLang="zh-CN" dirty="0"/>
              <a:t>4447.6</a:t>
            </a:r>
            <a:r>
              <a:rPr lang="zh-CN" altLang="en-US" dirty="0"/>
              <a:t>立方米每秒，具有规模大、泵型多、扬程低、流量大、年利用小时数高等特点。</a:t>
            </a:r>
            <a:endParaRPr lang="en-US" altLang="zh-CN" dirty="0"/>
          </a:p>
          <a:p>
            <a:pPr lvl="1">
              <a:defRPr/>
            </a:pPr>
            <a:r>
              <a:rPr lang="zh-CN" altLang="en-US" dirty="0"/>
              <a:t>工程建成后将成为亚洲乃至世界大型泵站数量最集中的现代化泵站群，其中水泵水力模型以及水泵制造水平均达到国际先进水平。</a:t>
            </a:r>
            <a:endParaRPr lang="zh-CN" altLang="en-US" dirty="0"/>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noChangeArrowheads="1"/>
          </p:cNvSpPr>
          <p:nvPr>
            <p:ph type="title"/>
          </p:nvPr>
        </p:nvSpPr>
        <p:spPr/>
        <p:txBody>
          <a:bodyPr/>
          <a:lstStyle/>
          <a:p>
            <a:r>
              <a:rPr lang="zh-CN" altLang="en-US" smtClean="0"/>
              <a:t>南水北调东线工程</a:t>
            </a:r>
            <a:endParaRPr lang="zh-CN" altLang="en-US" smtClean="0"/>
          </a:p>
        </p:txBody>
      </p:sp>
      <p:sp>
        <p:nvSpPr>
          <p:cNvPr id="3" name="内容占位符 2"/>
          <p:cNvSpPr>
            <a:spLocks noGrp="1"/>
          </p:cNvSpPr>
          <p:nvPr>
            <p:ph idx="1"/>
          </p:nvPr>
        </p:nvSpPr>
        <p:spPr>
          <a:xfrm>
            <a:off x="0" y="1346200"/>
            <a:ext cx="9144000" cy="642938"/>
          </a:xfrm>
        </p:spPr>
        <p:txBody>
          <a:bodyPr/>
          <a:lstStyle/>
          <a:p>
            <a:pPr>
              <a:defRPr/>
            </a:pPr>
            <a:r>
              <a:rPr lang="zh-CN" altLang="en-US" sz="3300" dirty="0">
                <a:solidFill>
                  <a:srgbClr val="990000"/>
                </a:solidFill>
                <a:latin typeface="+mj-lt"/>
                <a:ea typeface="+mj-ea"/>
              </a:rPr>
              <a:t>世界上规模最大的泵站群</a:t>
            </a:r>
            <a:r>
              <a:rPr lang="en-US" altLang="zh-CN" sz="3300" dirty="0">
                <a:solidFill>
                  <a:srgbClr val="990000"/>
                </a:solidFill>
                <a:latin typeface="+mj-lt"/>
                <a:ea typeface="+mj-ea"/>
              </a:rPr>
              <a:t>——</a:t>
            </a:r>
            <a:r>
              <a:rPr lang="zh-CN" altLang="en-US" sz="3300" dirty="0">
                <a:solidFill>
                  <a:srgbClr val="990000"/>
                </a:solidFill>
                <a:latin typeface="+mj-lt"/>
                <a:ea typeface="+mj-ea"/>
              </a:rPr>
              <a:t>东线泵站群工程</a:t>
            </a:r>
            <a:endParaRPr lang="zh-CN" altLang="en-US" sz="3300" dirty="0">
              <a:solidFill>
                <a:srgbClr val="990000"/>
              </a:solidFill>
              <a:latin typeface="+mj-lt"/>
              <a:ea typeface="+mj-ea"/>
            </a:endParaRPr>
          </a:p>
        </p:txBody>
      </p:sp>
      <p:pic>
        <p:nvPicPr>
          <p:cNvPr id="5530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35038" y="1982788"/>
            <a:ext cx="3059112" cy="187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1" name="TextBox 4"/>
          <p:cNvSpPr txBox="1">
            <a:spLocks noChangeArrowheads="1"/>
          </p:cNvSpPr>
          <p:nvPr/>
        </p:nvSpPr>
        <p:spPr bwMode="auto">
          <a:xfrm>
            <a:off x="684213" y="3860800"/>
            <a:ext cx="35639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2400" b="0">
                <a:solidFill>
                  <a:srgbClr val="002060"/>
                </a:solidFill>
              </a:rPr>
              <a:t>东线第一梯级泵站宝应站</a:t>
            </a:r>
            <a:endParaRPr lang="zh-CN" altLang="en-US" sz="2400" b="0">
              <a:solidFill>
                <a:srgbClr val="002060"/>
              </a:solidFill>
            </a:endParaRPr>
          </a:p>
        </p:txBody>
      </p:sp>
      <p:pic>
        <p:nvPicPr>
          <p:cNvPr id="5530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5863" y="1955800"/>
            <a:ext cx="285750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3" name="TextBox 6"/>
          <p:cNvSpPr txBox="1">
            <a:spLocks noChangeArrowheads="1"/>
          </p:cNvSpPr>
          <p:nvPr/>
        </p:nvSpPr>
        <p:spPr bwMode="auto">
          <a:xfrm>
            <a:off x="4560888" y="3851275"/>
            <a:ext cx="4454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2400" b="0">
                <a:solidFill>
                  <a:srgbClr val="002060"/>
                </a:solidFill>
              </a:rPr>
              <a:t>东线第五梯级泵站刘老涧二站</a:t>
            </a:r>
            <a:endParaRPr lang="zh-CN" altLang="en-US" sz="2400" b="0">
              <a:solidFill>
                <a:srgbClr val="002060"/>
              </a:solidFill>
            </a:endParaRPr>
          </a:p>
        </p:txBody>
      </p:sp>
      <p:pic>
        <p:nvPicPr>
          <p:cNvPr id="5530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4384675"/>
            <a:ext cx="3132138" cy="156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5" name="TextBox 8"/>
          <p:cNvSpPr txBox="1">
            <a:spLocks noChangeArrowheads="1"/>
          </p:cNvSpPr>
          <p:nvPr/>
        </p:nvSpPr>
        <p:spPr bwMode="auto">
          <a:xfrm>
            <a:off x="474663" y="5973763"/>
            <a:ext cx="43068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2400" b="0">
                <a:solidFill>
                  <a:srgbClr val="002060"/>
                </a:solidFill>
              </a:rPr>
              <a:t>东线第九梯级泵站蔺家坝站</a:t>
            </a:r>
            <a:endParaRPr lang="zh-CN" altLang="en-US" sz="2400" b="0">
              <a:solidFill>
                <a:srgbClr val="002060"/>
              </a:solidFill>
            </a:endParaRPr>
          </a:p>
        </p:txBody>
      </p:sp>
      <p:sp>
        <p:nvSpPr>
          <p:cNvPr id="55306" name="AutoShape 8"/>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endParaRPr lang="zh-CN" altLang="en-US" sz="2400" b="0">
              <a:solidFill>
                <a:schemeClr val="tx1"/>
              </a:solidFill>
            </a:endParaRPr>
          </a:p>
        </p:txBody>
      </p:sp>
      <p:sp>
        <p:nvSpPr>
          <p:cNvPr id="55307" name="AutoShape 10"/>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endParaRPr lang="zh-CN" altLang="en-US" sz="2400" b="0">
              <a:solidFill>
                <a:schemeClr val="tx1"/>
              </a:solidFill>
            </a:endParaRPr>
          </a:p>
        </p:txBody>
      </p:sp>
      <p:sp>
        <p:nvSpPr>
          <p:cNvPr id="55308" name="AutoShape 12"/>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endParaRPr lang="zh-CN" altLang="en-US" sz="2400" b="0">
              <a:solidFill>
                <a:schemeClr val="tx1"/>
              </a:solidFill>
            </a:endParaRPr>
          </a:p>
        </p:txBody>
      </p:sp>
      <p:sp>
        <p:nvSpPr>
          <p:cNvPr id="55309" name="AutoShape 14"/>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endParaRPr lang="zh-CN" altLang="en-US" sz="2400" b="0">
              <a:solidFill>
                <a:schemeClr val="tx1"/>
              </a:solidFill>
            </a:endParaRPr>
          </a:p>
        </p:txBody>
      </p:sp>
      <p:sp>
        <p:nvSpPr>
          <p:cNvPr id="55310" name="AutoShape 16"/>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endParaRPr lang="zh-CN" altLang="en-US" sz="2400" b="0">
              <a:solidFill>
                <a:schemeClr val="tx1"/>
              </a:solidFill>
            </a:endParaRPr>
          </a:p>
        </p:txBody>
      </p:sp>
      <p:pic>
        <p:nvPicPr>
          <p:cNvPr id="55311" name="Picture 1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92688" y="4365625"/>
            <a:ext cx="2860675" cy="160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12" name="TextBox 16"/>
          <p:cNvSpPr txBox="1">
            <a:spLocks noChangeArrowheads="1"/>
          </p:cNvSpPr>
          <p:nvPr/>
        </p:nvSpPr>
        <p:spPr bwMode="auto">
          <a:xfrm>
            <a:off x="4572000" y="5973763"/>
            <a:ext cx="44545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2400" b="0">
                <a:solidFill>
                  <a:srgbClr val="002060"/>
                </a:solidFill>
              </a:rPr>
              <a:t>东线第十三梯级泵站八里湾站</a:t>
            </a:r>
            <a:endParaRPr lang="zh-CN" altLang="en-US" sz="2400" b="0">
              <a:solidFill>
                <a:srgbClr val="002060"/>
              </a:solidFill>
            </a:endParaRP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noChangeArrowheads="1"/>
          </p:cNvSpPr>
          <p:nvPr>
            <p:ph type="title"/>
          </p:nvPr>
        </p:nvSpPr>
        <p:spPr/>
        <p:txBody>
          <a:bodyPr/>
          <a:lstStyle/>
          <a:p>
            <a:r>
              <a:rPr lang="zh-CN" altLang="en-US" smtClean="0"/>
              <a:t>南水北调东线工程</a:t>
            </a:r>
            <a:endParaRPr lang="zh-CN" altLang="en-US" smtClean="0"/>
          </a:p>
        </p:txBody>
      </p:sp>
      <p:sp>
        <p:nvSpPr>
          <p:cNvPr id="3" name="内容占位符 2"/>
          <p:cNvSpPr>
            <a:spLocks noGrp="1"/>
          </p:cNvSpPr>
          <p:nvPr>
            <p:ph idx="1"/>
          </p:nvPr>
        </p:nvSpPr>
        <p:spPr/>
        <p:txBody>
          <a:bodyPr/>
          <a:lstStyle/>
          <a:p>
            <a:pPr>
              <a:defRPr/>
            </a:pPr>
            <a:r>
              <a:rPr lang="zh-CN" altLang="en-US" sz="3300" dirty="0">
                <a:solidFill>
                  <a:srgbClr val="990000"/>
                </a:solidFill>
                <a:latin typeface="+mj-lt"/>
                <a:ea typeface="+mj-ea"/>
              </a:rPr>
              <a:t>工程效益</a:t>
            </a:r>
            <a:endParaRPr lang="zh-CN" altLang="en-US" sz="3300" dirty="0">
              <a:solidFill>
                <a:srgbClr val="990000"/>
              </a:solidFill>
              <a:latin typeface="+mj-lt"/>
              <a:ea typeface="+mj-ea"/>
            </a:endParaRPr>
          </a:p>
          <a:p>
            <a:pPr lvl="1">
              <a:defRPr/>
            </a:pPr>
            <a:r>
              <a:rPr lang="zh-CN" altLang="en-US" dirty="0"/>
              <a:t>直接效益主要有工业供水、农业供水、除涝和航运供水等。</a:t>
            </a:r>
            <a:endParaRPr lang="en-US" altLang="zh-CN" dirty="0"/>
          </a:p>
          <a:p>
            <a:pPr lvl="1">
              <a:defRPr/>
            </a:pPr>
            <a:r>
              <a:rPr lang="zh-CN" altLang="en-US" dirty="0"/>
              <a:t>东线工程的实施将促进地区经济发展和社会进步，改善人民生活质量。</a:t>
            </a:r>
            <a:endParaRPr lang="en-US" altLang="zh-CN" dirty="0"/>
          </a:p>
          <a:p>
            <a:pPr lvl="1">
              <a:defRPr/>
            </a:pPr>
            <a:r>
              <a:rPr lang="zh-CN" altLang="en-US" dirty="0"/>
              <a:t>东线工程疏浚和治理河道、湖泊，将改善防洪、航运和生态环境条件，有效扼制生态环境不断恶化的状况，有着巨大的综合效益。</a:t>
            </a:r>
            <a:endParaRPr lang="zh-CN" altLang="en-US" dirty="0"/>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标题 1"/>
          <p:cNvSpPr>
            <a:spLocks noGrp="1" noChangeArrowheads="1"/>
          </p:cNvSpPr>
          <p:nvPr>
            <p:ph type="title"/>
          </p:nvPr>
        </p:nvSpPr>
        <p:spPr/>
        <p:txBody>
          <a:bodyPr/>
          <a:lstStyle/>
          <a:p>
            <a:r>
              <a:rPr lang="zh-CN" altLang="en-US" smtClean="0"/>
              <a:t>南水北调东线工程</a:t>
            </a:r>
            <a:endParaRPr lang="zh-CN" altLang="en-US" smtClean="0"/>
          </a:p>
        </p:txBody>
      </p:sp>
      <p:sp>
        <p:nvSpPr>
          <p:cNvPr id="3" name="内容占位符 2"/>
          <p:cNvSpPr>
            <a:spLocks noGrp="1"/>
          </p:cNvSpPr>
          <p:nvPr>
            <p:ph idx="1"/>
          </p:nvPr>
        </p:nvSpPr>
        <p:spPr/>
        <p:txBody>
          <a:bodyPr/>
          <a:lstStyle/>
          <a:p>
            <a:pPr>
              <a:defRPr/>
            </a:pPr>
            <a:r>
              <a:rPr lang="zh-CN" altLang="en-US" sz="3300" dirty="0">
                <a:solidFill>
                  <a:srgbClr val="990000"/>
                </a:solidFill>
                <a:latin typeface="+mj-lt"/>
                <a:ea typeface="+mj-ea"/>
              </a:rPr>
              <a:t>治污规划</a:t>
            </a:r>
            <a:endParaRPr lang="zh-CN" altLang="en-US" sz="3300" dirty="0">
              <a:solidFill>
                <a:srgbClr val="990000"/>
              </a:solidFill>
              <a:latin typeface="+mj-lt"/>
              <a:ea typeface="+mj-ea"/>
            </a:endParaRPr>
          </a:p>
          <a:p>
            <a:pPr lvl="1">
              <a:defRPr/>
            </a:pPr>
            <a:r>
              <a:rPr lang="zh-CN" altLang="en-US" dirty="0"/>
              <a:t>治污工程总投资</a:t>
            </a:r>
            <a:r>
              <a:rPr lang="en-US" altLang="zh-CN" dirty="0"/>
              <a:t>240</a:t>
            </a:r>
            <a:r>
              <a:rPr lang="zh-CN" altLang="en-US" dirty="0"/>
              <a:t>亿元。</a:t>
            </a:r>
            <a:endParaRPr lang="en-US" altLang="zh-CN" dirty="0"/>
          </a:p>
          <a:p>
            <a:pPr lvl="1">
              <a:defRPr/>
            </a:pPr>
            <a:r>
              <a:rPr lang="zh-CN" altLang="en-US" dirty="0"/>
              <a:t>治污规划划分为输水干线规划区、山东天津用水保证规划区和河南安徽水质改善规划区。</a:t>
            </a:r>
            <a:endParaRPr lang="en-US" altLang="zh-CN" dirty="0"/>
          </a:p>
          <a:p>
            <a:pPr lvl="1">
              <a:defRPr/>
            </a:pPr>
            <a:r>
              <a:rPr lang="zh-CN" altLang="en-US" dirty="0"/>
              <a:t>主要治污措施为城市污水处理厂建设、截污导流、工业结构调整、工业综合治理、流域综合整治工程</a:t>
            </a:r>
            <a:r>
              <a:rPr lang="en-US" altLang="zh-CN" dirty="0"/>
              <a:t>5</a:t>
            </a:r>
            <a:r>
              <a:rPr lang="zh-CN" altLang="en-US" dirty="0"/>
              <a:t>类项目。</a:t>
            </a:r>
            <a:endParaRPr lang="zh-CN" altLang="en-US" dirty="0"/>
          </a:p>
          <a:p>
            <a:pPr lvl="1">
              <a:defRPr/>
            </a:pPr>
            <a:endParaRPr lang="zh-CN" altLang="en-US" dirty="0"/>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zh-CN" altLang="en-US" smtClean="0"/>
              <a:t>西线工程（生态问题）</a:t>
            </a:r>
            <a:endParaRPr lang="en-US" altLang="zh-CN" smtClean="0"/>
          </a:p>
        </p:txBody>
      </p:sp>
      <p:sp>
        <p:nvSpPr>
          <p:cNvPr id="44035" name="Rectangle 3"/>
          <p:cNvSpPr>
            <a:spLocks noGrp="1" noChangeArrowheads="1"/>
          </p:cNvSpPr>
          <p:nvPr>
            <p:ph type="body" idx="1"/>
          </p:nvPr>
        </p:nvSpPr>
        <p:spPr/>
        <p:txBody>
          <a:bodyPr/>
          <a:lstStyle/>
          <a:p>
            <a:pPr eaLnBrk="1" hangingPunct="1">
              <a:defRPr/>
            </a:pPr>
            <a:r>
              <a:rPr lang="zh-CN" altLang="en-US" dirty="0"/>
              <a:t>将水从长江源头引至黄河源头</a:t>
            </a:r>
            <a:endParaRPr lang="zh-CN" altLang="en-US" dirty="0"/>
          </a:p>
          <a:p>
            <a:pPr lvl="1" eaLnBrk="1" hangingPunct="1">
              <a:defRPr/>
            </a:pPr>
            <a:r>
              <a:rPr lang="zh-CN" altLang="en-US" dirty="0"/>
              <a:t>生态及其脆弱的三江源区</a:t>
            </a:r>
            <a:endParaRPr lang="zh-CN" altLang="en-US" dirty="0"/>
          </a:p>
          <a:p>
            <a:pPr lvl="2" eaLnBrk="1" hangingPunct="1">
              <a:defRPr/>
            </a:pPr>
            <a:r>
              <a:rPr lang="zh-CN" altLang="en-US" sz="2400" dirty="0"/>
              <a:t>长江上游大渡河、雅砻江支流、金沙江上游通天河</a:t>
            </a:r>
            <a:endParaRPr lang="zh-CN" altLang="en-US" sz="2400" dirty="0"/>
          </a:p>
          <a:p>
            <a:pPr lvl="2" eaLnBrk="1" hangingPunct="1">
              <a:defRPr/>
            </a:pPr>
            <a:r>
              <a:rPr lang="zh-CN" altLang="en-US" sz="2400" dirty="0"/>
              <a:t>调水量占年平均流量的</a:t>
            </a:r>
            <a:r>
              <a:rPr lang="en-US" altLang="zh-CN" sz="2400" dirty="0"/>
              <a:t>70%</a:t>
            </a:r>
            <a:r>
              <a:rPr lang="zh-CN" altLang="en-US" sz="2400" dirty="0"/>
              <a:t>（国际高限：</a:t>
            </a:r>
            <a:r>
              <a:rPr lang="en-US" altLang="zh-CN" sz="2400" dirty="0"/>
              <a:t>40%</a:t>
            </a:r>
            <a:r>
              <a:rPr lang="zh-CN" altLang="en-US" sz="2400" dirty="0"/>
              <a:t>）</a:t>
            </a:r>
            <a:endParaRPr lang="zh-CN" altLang="en-US" sz="2400" dirty="0"/>
          </a:p>
          <a:p>
            <a:pPr lvl="1" eaLnBrk="1" hangingPunct="1">
              <a:defRPr/>
            </a:pPr>
            <a:r>
              <a:rPr lang="zh-CN" altLang="en-US" dirty="0"/>
              <a:t>很可能打破这一区域的生态平衡</a:t>
            </a:r>
            <a:endParaRPr lang="zh-CN" altLang="en-US" dirty="0"/>
          </a:p>
          <a:p>
            <a:pPr lvl="1" eaLnBrk="1" hangingPunct="1">
              <a:defRPr/>
            </a:pPr>
            <a:r>
              <a:rPr lang="en-US" altLang="zh-CN" dirty="0"/>
              <a:t>2050</a:t>
            </a:r>
            <a:r>
              <a:rPr lang="zh-CN" altLang="en-US" dirty="0"/>
              <a:t>年完工</a:t>
            </a:r>
            <a:endParaRPr lang="zh-CN" altLang="en-US" dirty="0"/>
          </a:p>
          <a:p>
            <a:pPr lvl="1" eaLnBrk="1" hangingPunct="1">
              <a:defRPr/>
            </a:pPr>
            <a:r>
              <a:rPr lang="zh-CN" altLang="en-US" dirty="0"/>
              <a:t>目前暂时搁浅：造价、</a:t>
            </a:r>
            <a:endParaRPr lang="en-US" altLang="zh-CN" dirty="0"/>
          </a:p>
          <a:p>
            <a:pPr marL="457200" lvl="1" indent="0" eaLnBrk="1" hangingPunct="1">
              <a:buFontTx/>
              <a:buNone/>
              <a:defRPr/>
            </a:pPr>
            <a:r>
              <a:rPr lang="zh-CN" altLang="en-US" dirty="0"/>
              <a:t>生态、环境方面均有压力</a:t>
            </a:r>
            <a:endParaRPr lang="zh-CN" altLang="en-US" dirty="0"/>
          </a:p>
          <a:p>
            <a:pPr lvl="1" eaLnBrk="1" hangingPunct="1">
              <a:defRPr/>
            </a:pPr>
            <a:endParaRPr lang="zh-CN" altLang="en-US" dirty="0"/>
          </a:p>
          <a:p>
            <a:pPr lvl="1" eaLnBrk="1" hangingPunct="1">
              <a:defRPr/>
            </a:pPr>
            <a:endParaRPr lang="zh-CN" altLang="en-US" dirty="0"/>
          </a:p>
        </p:txBody>
      </p:sp>
      <p:pic>
        <p:nvPicPr>
          <p:cNvPr id="58372" name="Picture 4" descr="Image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18113" y="3990975"/>
            <a:ext cx="3773487" cy="2562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p:txBody>
          <a:bodyPr/>
          <a:lstStyle/>
          <a:p>
            <a:pPr eaLnBrk="1" hangingPunct="1"/>
            <a:r>
              <a:rPr lang="zh-CN" altLang="en-US" smtClean="0"/>
              <a:t>天河工程</a:t>
            </a:r>
            <a:endParaRPr lang="en-US" altLang="zh-CN" smtClean="0"/>
          </a:p>
        </p:txBody>
      </p:sp>
      <p:sp>
        <p:nvSpPr>
          <p:cNvPr id="5" name="矩形 4"/>
          <p:cNvSpPr/>
          <p:nvPr/>
        </p:nvSpPr>
        <p:spPr>
          <a:xfrm>
            <a:off x="-246063" y="1443038"/>
            <a:ext cx="9096376" cy="4919662"/>
          </a:xfrm>
          <a:prstGeom prst="rect">
            <a:avLst/>
          </a:prstGeom>
        </p:spPr>
        <p:txBody>
          <a:bodyPr>
            <a:spAutoFit/>
          </a:bodyPr>
          <a:lstStyle/>
          <a:p>
            <a:pPr marL="742950" lvl="1" indent="-285750" eaLnBrk="1" hangingPunct="1">
              <a:spcBef>
                <a:spcPct val="20000"/>
              </a:spcBef>
              <a:buFontTx/>
              <a:buChar char="–"/>
              <a:defRPr/>
            </a:pPr>
            <a:r>
              <a:rPr lang="zh-CN" altLang="en-US" sz="3200" b="1" kern="0" dirty="0">
                <a:solidFill>
                  <a:srgbClr val="000000"/>
                </a:solidFill>
                <a:latin typeface="Arial" panose="020B0604020202020204"/>
                <a:ea typeface="楷体_GB2312"/>
              </a:rPr>
              <a:t>基于大气空间的跨区域调水模式</a:t>
            </a:r>
            <a:endParaRPr lang="en-US" altLang="zh-CN" sz="3200" b="1" kern="0" dirty="0">
              <a:solidFill>
                <a:srgbClr val="000000"/>
              </a:solidFill>
              <a:latin typeface="Arial" panose="020B0604020202020204"/>
              <a:ea typeface="楷体_GB2312"/>
            </a:endParaRPr>
          </a:p>
          <a:p>
            <a:pPr marL="742950" lvl="1" indent="-285750" eaLnBrk="1" hangingPunct="1">
              <a:spcBef>
                <a:spcPct val="20000"/>
              </a:spcBef>
              <a:buFontTx/>
              <a:buChar char="–"/>
              <a:defRPr/>
            </a:pPr>
            <a:r>
              <a:rPr lang="zh-CN" altLang="en-US" sz="3200" b="1" kern="0" dirty="0">
                <a:solidFill>
                  <a:srgbClr val="000000"/>
                </a:solidFill>
                <a:latin typeface="Arial" panose="020B0604020202020204"/>
                <a:ea typeface="楷体_GB2312"/>
              </a:rPr>
              <a:t>目的：解决黄河缺水问题</a:t>
            </a:r>
            <a:endParaRPr lang="en-US" altLang="zh-CN" sz="3200" b="1" kern="0" dirty="0">
              <a:solidFill>
                <a:srgbClr val="000000"/>
              </a:solidFill>
              <a:latin typeface="Arial" panose="020B0604020202020204"/>
              <a:ea typeface="楷体_GB2312"/>
            </a:endParaRPr>
          </a:p>
          <a:p>
            <a:pPr marL="742950" lvl="1" indent="-285750" eaLnBrk="1" hangingPunct="1">
              <a:spcBef>
                <a:spcPct val="20000"/>
              </a:spcBef>
              <a:buFontTx/>
              <a:buChar char="–"/>
              <a:defRPr/>
            </a:pPr>
            <a:r>
              <a:rPr lang="zh-CN" altLang="en-US" sz="3200" b="1" kern="0" dirty="0">
                <a:solidFill>
                  <a:srgbClr val="000000"/>
                </a:solidFill>
                <a:latin typeface="Arial" panose="020B0604020202020204"/>
                <a:ea typeface="楷体_GB2312"/>
              </a:rPr>
              <a:t>设想：用三江源区天然的水汽输送格局，采用人工影响天气技术，把一部分天然落入长江流域的降水截留在或诱导到黄河流域，实现空</a:t>
            </a:r>
            <a:r>
              <a:rPr lang="en-US" altLang="zh-CN" sz="3200" b="1" kern="0" dirty="0">
                <a:solidFill>
                  <a:srgbClr val="000000"/>
                </a:solidFill>
                <a:latin typeface="Arial" panose="020B0604020202020204"/>
                <a:ea typeface="楷体_GB2312"/>
              </a:rPr>
              <a:t>-</a:t>
            </a:r>
            <a:r>
              <a:rPr lang="zh-CN" altLang="en-US" sz="3200" b="1" kern="0" dirty="0">
                <a:solidFill>
                  <a:srgbClr val="000000"/>
                </a:solidFill>
                <a:latin typeface="Arial" panose="020B0604020202020204"/>
                <a:ea typeface="楷体_GB2312"/>
              </a:rPr>
              <a:t>地耦合的水资源时空调节。</a:t>
            </a:r>
            <a:endParaRPr lang="en-US" altLang="zh-CN" sz="3200" b="1" kern="0" dirty="0">
              <a:solidFill>
                <a:srgbClr val="000000"/>
              </a:solidFill>
              <a:latin typeface="Arial" panose="020B0604020202020204"/>
              <a:ea typeface="楷体_GB2312"/>
            </a:endParaRPr>
          </a:p>
          <a:p>
            <a:pPr marL="742950" lvl="1" indent="-285750" eaLnBrk="1" hangingPunct="1">
              <a:spcBef>
                <a:spcPct val="20000"/>
              </a:spcBef>
              <a:buFontTx/>
              <a:buChar char="–"/>
              <a:defRPr/>
            </a:pPr>
            <a:r>
              <a:rPr lang="en-US" altLang="zh-CN" sz="3200" b="1" kern="0" dirty="0">
                <a:solidFill>
                  <a:srgbClr val="000000"/>
                </a:solidFill>
                <a:latin typeface="Arial" panose="020B0604020202020204"/>
                <a:ea typeface="楷体_GB2312"/>
              </a:rPr>
              <a:t>2018</a:t>
            </a:r>
            <a:r>
              <a:rPr lang="zh-CN" altLang="en-US" sz="3200" b="1" kern="0" dirty="0">
                <a:solidFill>
                  <a:srgbClr val="000000"/>
                </a:solidFill>
                <a:latin typeface="Arial" panose="020B0604020202020204"/>
                <a:ea typeface="楷体_GB2312"/>
              </a:rPr>
              <a:t>年</a:t>
            </a:r>
            <a:r>
              <a:rPr lang="en-US" altLang="zh-CN" sz="3200" b="1" kern="0" dirty="0">
                <a:solidFill>
                  <a:srgbClr val="000000"/>
                </a:solidFill>
                <a:latin typeface="Arial" panose="020B0604020202020204"/>
                <a:ea typeface="楷体_GB2312"/>
              </a:rPr>
              <a:t>11</a:t>
            </a:r>
            <a:r>
              <a:rPr lang="zh-CN" altLang="en-US" sz="3200" b="1" kern="0" dirty="0">
                <a:solidFill>
                  <a:srgbClr val="000000"/>
                </a:solidFill>
                <a:latin typeface="Arial" panose="020B0604020202020204"/>
                <a:ea typeface="楷体_GB2312"/>
              </a:rPr>
              <a:t>月</a:t>
            </a:r>
            <a:r>
              <a:rPr lang="en-US" altLang="zh-CN" sz="3200" b="1" kern="0" dirty="0">
                <a:solidFill>
                  <a:srgbClr val="000000"/>
                </a:solidFill>
                <a:latin typeface="Arial" panose="020B0604020202020204"/>
                <a:ea typeface="楷体_GB2312"/>
              </a:rPr>
              <a:t>5</a:t>
            </a:r>
            <a:r>
              <a:rPr lang="zh-CN" altLang="en-US" sz="3200" b="1" kern="0" dirty="0">
                <a:solidFill>
                  <a:srgbClr val="000000"/>
                </a:solidFill>
                <a:latin typeface="Arial" panose="020B0604020202020204"/>
                <a:ea typeface="楷体_GB2312"/>
              </a:rPr>
              <a:t>日，已正式启动“天河工程”卫星和火箭工程研制。</a:t>
            </a:r>
            <a:endParaRPr lang="en-US" altLang="zh-CN" sz="3200" b="1" kern="0" dirty="0">
              <a:solidFill>
                <a:srgbClr val="000000"/>
              </a:solidFill>
              <a:latin typeface="Arial" panose="020B0604020202020204"/>
              <a:ea typeface="楷体_GB2312"/>
            </a:endParaRPr>
          </a:p>
          <a:p>
            <a:pPr marL="742950" lvl="1" indent="-285750" eaLnBrk="1" hangingPunct="1">
              <a:spcBef>
                <a:spcPct val="20000"/>
              </a:spcBef>
              <a:buFontTx/>
              <a:buChar char="–"/>
              <a:defRPr/>
            </a:pPr>
            <a:endParaRPr lang="en-US" altLang="zh-CN" sz="3200" b="1" kern="0" dirty="0">
              <a:solidFill>
                <a:srgbClr val="000000"/>
              </a:solidFill>
              <a:latin typeface="Arial" panose="020B0604020202020204"/>
              <a:ea typeface="楷体_GB2312"/>
            </a:endParaRP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pPr eaLnBrk="1" hangingPunct="1"/>
            <a:r>
              <a:rPr lang="zh-CN" altLang="en-US" smtClean="0"/>
              <a:t>“红旗河”西部调水工程</a:t>
            </a:r>
            <a:endParaRPr lang="en-US" altLang="zh-CN" smtClean="0"/>
          </a:p>
        </p:txBody>
      </p:sp>
      <p:sp>
        <p:nvSpPr>
          <p:cNvPr id="60419" name="Rectangle 3"/>
          <p:cNvSpPr>
            <a:spLocks noGrp="1" noChangeArrowheads="1"/>
          </p:cNvSpPr>
          <p:nvPr>
            <p:ph type="body" idx="1"/>
          </p:nvPr>
        </p:nvSpPr>
        <p:spPr>
          <a:xfrm>
            <a:off x="0" y="1331913"/>
            <a:ext cx="8945563" cy="2546350"/>
          </a:xfrm>
        </p:spPr>
        <p:txBody>
          <a:bodyPr/>
          <a:lstStyle/>
          <a:p>
            <a:pPr lvl="1" eaLnBrk="1" hangingPunct="1"/>
            <a:r>
              <a:rPr lang="zh-CN" altLang="en-US" sz="2400" smtClean="0"/>
              <a:t>从雅鲁藏布江“大拐弯”附近开始，经怒江、澜沧江、金沙江、雅砻江、大渡河、岷江、渭河、黄河以及河西走廊全程自流进入新疆</a:t>
            </a:r>
            <a:endParaRPr lang="zh-CN" altLang="en-US" sz="2400" smtClean="0"/>
          </a:p>
          <a:p>
            <a:pPr lvl="1" eaLnBrk="1" hangingPunct="1"/>
            <a:r>
              <a:rPr lang="zh-CN" altLang="en-US" sz="2400" smtClean="0"/>
              <a:t>全程</a:t>
            </a:r>
            <a:r>
              <a:rPr lang="en-US" altLang="zh-CN" sz="2400" smtClean="0"/>
              <a:t>6188</a:t>
            </a:r>
            <a:r>
              <a:rPr lang="zh-CN" altLang="en-US" sz="2400" smtClean="0"/>
              <a:t>公里</a:t>
            </a:r>
            <a:endParaRPr lang="en-US" altLang="zh-CN" sz="2400" smtClean="0"/>
          </a:p>
          <a:p>
            <a:pPr lvl="1" eaLnBrk="1" hangingPunct="1"/>
            <a:r>
              <a:rPr lang="zh-CN" altLang="en-US" sz="2400" smtClean="0"/>
              <a:t>落差</a:t>
            </a:r>
            <a:r>
              <a:rPr lang="en-US" altLang="zh-CN" sz="2400" smtClean="0"/>
              <a:t>1258</a:t>
            </a:r>
            <a:r>
              <a:rPr lang="zh-CN" altLang="en-US" sz="2400" smtClean="0"/>
              <a:t>米</a:t>
            </a:r>
            <a:endParaRPr lang="en-US" altLang="zh-CN" sz="2400" smtClean="0"/>
          </a:p>
        </p:txBody>
      </p:sp>
      <p:sp>
        <p:nvSpPr>
          <p:cNvPr id="2" name="矩形 1"/>
          <p:cNvSpPr/>
          <p:nvPr/>
        </p:nvSpPr>
        <p:spPr>
          <a:xfrm>
            <a:off x="0" y="3305175"/>
            <a:ext cx="3317875" cy="3121025"/>
          </a:xfrm>
          <a:prstGeom prst="rect">
            <a:avLst/>
          </a:prstGeom>
        </p:spPr>
        <p:txBody>
          <a:bodyPr>
            <a:spAutoFit/>
          </a:bodyPr>
          <a:lstStyle/>
          <a:p>
            <a:pPr marL="742950" lvl="1" indent="-285750" eaLnBrk="1" hangingPunct="1">
              <a:spcBef>
                <a:spcPct val="20000"/>
              </a:spcBef>
              <a:buFontTx/>
              <a:buChar char="–"/>
              <a:defRPr/>
            </a:pPr>
            <a:r>
              <a:rPr lang="zh-CN" altLang="en-US" b="1" dirty="0">
                <a:solidFill>
                  <a:srgbClr val="000000"/>
                </a:solidFill>
                <a:latin typeface="+mn-lt"/>
                <a:ea typeface="+mn-ea"/>
                <a:cs typeface="楷体_GB2312"/>
              </a:rPr>
              <a:t>辐射影响</a:t>
            </a:r>
            <a:r>
              <a:rPr lang="en-US" altLang="zh-CN" b="1" dirty="0">
                <a:solidFill>
                  <a:srgbClr val="000000"/>
                </a:solidFill>
                <a:latin typeface="+mn-lt"/>
                <a:ea typeface="+mn-ea"/>
                <a:cs typeface="楷体_GB2312"/>
              </a:rPr>
              <a:t>70%</a:t>
            </a:r>
            <a:r>
              <a:rPr lang="zh-CN" altLang="en-US" b="1" dirty="0">
                <a:solidFill>
                  <a:srgbClr val="000000"/>
                </a:solidFill>
                <a:latin typeface="+mn-lt"/>
                <a:ea typeface="+mn-ea"/>
                <a:cs typeface="楷体_GB2312"/>
              </a:rPr>
              <a:t>以上国土面积</a:t>
            </a:r>
            <a:endParaRPr lang="en-US" altLang="zh-CN" b="1" dirty="0">
              <a:solidFill>
                <a:srgbClr val="000000"/>
              </a:solidFill>
              <a:latin typeface="+mn-lt"/>
              <a:ea typeface="+mn-ea"/>
              <a:cs typeface="楷体_GB2312"/>
            </a:endParaRPr>
          </a:p>
          <a:p>
            <a:pPr marL="742950" lvl="1" indent="-285750" eaLnBrk="1" hangingPunct="1">
              <a:spcBef>
                <a:spcPct val="20000"/>
              </a:spcBef>
              <a:buFontTx/>
              <a:buChar char="–"/>
              <a:defRPr/>
            </a:pPr>
            <a:r>
              <a:rPr lang="zh-CN" altLang="en-US" b="1" dirty="0">
                <a:solidFill>
                  <a:srgbClr val="000000"/>
                </a:solidFill>
                <a:latin typeface="+mn-lt"/>
                <a:ea typeface="+mn-ea"/>
                <a:cs typeface="楷体_GB2312"/>
              </a:rPr>
              <a:t>三条支线：通向延安的“红延河”，通向内蒙古北京的“漠北河”，通向吐哈地区的“春风河”</a:t>
            </a:r>
            <a:endParaRPr lang="en-US" altLang="zh-CN" b="1" dirty="0">
              <a:solidFill>
                <a:srgbClr val="000000"/>
              </a:solidFill>
              <a:latin typeface="+mn-lt"/>
              <a:ea typeface="+mn-ea"/>
              <a:cs typeface="楷体_GB2312"/>
            </a:endParaRPr>
          </a:p>
        </p:txBody>
      </p:sp>
      <p:pic>
        <p:nvPicPr>
          <p:cNvPr id="60421"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28988" y="2317750"/>
            <a:ext cx="5638800" cy="399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zh-CN" altLang="en-US" smtClean="0"/>
              <a:t>成本投入：谁来承担？</a:t>
            </a:r>
            <a:endParaRPr lang="zh-CN" altLang="en-US" smtClean="0"/>
          </a:p>
        </p:txBody>
      </p:sp>
      <p:sp>
        <p:nvSpPr>
          <p:cNvPr id="381955" name="Rectangle 3"/>
          <p:cNvSpPr>
            <a:spLocks noGrp="1" noChangeArrowheads="1"/>
          </p:cNvSpPr>
          <p:nvPr>
            <p:ph type="body" idx="1"/>
          </p:nvPr>
        </p:nvSpPr>
        <p:spPr/>
        <p:txBody>
          <a:bodyPr/>
          <a:lstStyle/>
          <a:p>
            <a:pPr eaLnBrk="1" hangingPunct="1">
              <a:lnSpc>
                <a:spcPct val="90000"/>
              </a:lnSpc>
            </a:pPr>
            <a:r>
              <a:rPr lang="zh-CN" altLang="en-US" sz="3200" dirty="0" smtClean="0"/>
              <a:t>成本构成</a:t>
            </a:r>
            <a:endParaRPr lang="zh-CN" altLang="en-US" sz="3200" dirty="0" smtClean="0"/>
          </a:p>
          <a:p>
            <a:pPr lvl="1" eaLnBrk="1" hangingPunct="1">
              <a:lnSpc>
                <a:spcPct val="90000"/>
              </a:lnSpc>
            </a:pPr>
            <a:r>
              <a:rPr lang="zh-CN" altLang="en-US" sz="2800" dirty="0" smtClean="0"/>
              <a:t>基建投资（动态）</a:t>
            </a:r>
            <a:endParaRPr lang="en-US" altLang="zh-CN" sz="2800" dirty="0" smtClean="0"/>
          </a:p>
          <a:p>
            <a:pPr lvl="2" eaLnBrk="1" hangingPunct="1">
              <a:lnSpc>
                <a:spcPct val="90000"/>
              </a:lnSpc>
            </a:pPr>
            <a:r>
              <a:rPr lang="zh-CN" altLang="en-US" sz="2400" dirty="0" smtClean="0"/>
              <a:t>中线：</a:t>
            </a:r>
            <a:r>
              <a:rPr lang="en-US" altLang="zh-CN" sz="2400" dirty="0" smtClean="0"/>
              <a:t>1367</a:t>
            </a:r>
            <a:r>
              <a:rPr lang="zh-CN" altLang="en-US" sz="2400" dirty="0" smtClean="0"/>
              <a:t>亿元；东线：</a:t>
            </a:r>
            <a:r>
              <a:rPr lang="en-US" altLang="zh-CN" sz="2400" dirty="0" smtClean="0"/>
              <a:t>400</a:t>
            </a:r>
            <a:r>
              <a:rPr lang="zh-CN" altLang="en-US" sz="2400" dirty="0" smtClean="0"/>
              <a:t>亿；西线：</a:t>
            </a:r>
            <a:r>
              <a:rPr lang="en-US" altLang="zh-CN" sz="2400" dirty="0" smtClean="0"/>
              <a:t>6000</a:t>
            </a:r>
            <a:r>
              <a:rPr lang="zh-CN" altLang="en-US" sz="2400" dirty="0" smtClean="0"/>
              <a:t>亿。</a:t>
            </a:r>
            <a:endParaRPr lang="zh-CN" altLang="en-US" sz="2400" dirty="0" smtClean="0"/>
          </a:p>
          <a:p>
            <a:pPr lvl="1" eaLnBrk="1" hangingPunct="1">
              <a:lnSpc>
                <a:spcPct val="90000"/>
              </a:lnSpc>
            </a:pPr>
            <a:r>
              <a:rPr lang="zh-CN" altLang="en-US" sz="2800" dirty="0" smtClean="0"/>
              <a:t>建成运营后的日常运营成本（泵站、人员、维护）</a:t>
            </a:r>
            <a:endParaRPr lang="zh-CN" altLang="en-US" sz="2800" dirty="0" smtClean="0"/>
          </a:p>
          <a:p>
            <a:pPr eaLnBrk="1" hangingPunct="1">
              <a:lnSpc>
                <a:spcPct val="90000"/>
              </a:lnSpc>
            </a:pPr>
            <a:r>
              <a:rPr lang="zh-CN" altLang="en-US" sz="3200" dirty="0" smtClean="0"/>
              <a:t>建设投资来源</a:t>
            </a:r>
            <a:endParaRPr lang="zh-CN" altLang="en-US" sz="3200" dirty="0" smtClean="0"/>
          </a:p>
          <a:p>
            <a:pPr lvl="1" eaLnBrk="1" hangingPunct="1">
              <a:lnSpc>
                <a:spcPct val="90000"/>
              </a:lnSpc>
            </a:pPr>
            <a:r>
              <a:rPr lang="en-US" altLang="zh-CN" sz="2800" dirty="0" smtClean="0"/>
              <a:t>1. </a:t>
            </a:r>
            <a:r>
              <a:rPr lang="zh-CN" altLang="en-US" sz="2800" dirty="0" smtClean="0"/>
              <a:t>国家投资</a:t>
            </a:r>
            <a:endParaRPr lang="zh-CN" altLang="en-US" sz="2800" dirty="0" smtClean="0"/>
          </a:p>
          <a:p>
            <a:pPr lvl="2" eaLnBrk="1" hangingPunct="1">
              <a:lnSpc>
                <a:spcPct val="90000"/>
              </a:lnSpc>
            </a:pPr>
            <a:r>
              <a:rPr lang="zh-CN" altLang="en-US" sz="2000" dirty="0" smtClean="0"/>
              <a:t>对地方的补偿（例如汉江下游治理工作）</a:t>
            </a:r>
            <a:endParaRPr lang="zh-CN" altLang="en-US" sz="2000" dirty="0" smtClean="0"/>
          </a:p>
          <a:p>
            <a:pPr lvl="1" eaLnBrk="1" hangingPunct="1">
              <a:lnSpc>
                <a:spcPct val="90000"/>
              </a:lnSpc>
            </a:pPr>
            <a:r>
              <a:rPr lang="en-US" altLang="zh-CN" sz="2800" dirty="0" smtClean="0"/>
              <a:t>2. </a:t>
            </a:r>
            <a:r>
              <a:rPr lang="zh-CN" altLang="en-US" sz="2800" dirty="0" smtClean="0"/>
              <a:t>银行贷款</a:t>
            </a:r>
            <a:endParaRPr lang="zh-CN" altLang="en-US" sz="2800" dirty="0" smtClean="0"/>
          </a:p>
          <a:p>
            <a:pPr lvl="1" eaLnBrk="1" hangingPunct="1">
              <a:lnSpc>
                <a:spcPct val="90000"/>
              </a:lnSpc>
            </a:pPr>
            <a:r>
              <a:rPr lang="en-US" altLang="zh-CN" sz="2800" dirty="0" smtClean="0"/>
              <a:t>3. </a:t>
            </a:r>
            <a:r>
              <a:rPr lang="zh-CN" altLang="en-US" sz="2800" dirty="0" smtClean="0"/>
              <a:t>地方政府</a:t>
            </a:r>
            <a:endParaRPr lang="zh-CN" altLang="en-US" sz="2800" dirty="0" smtClean="0"/>
          </a:p>
          <a:p>
            <a:pPr lvl="2" eaLnBrk="1" hangingPunct="1">
              <a:lnSpc>
                <a:spcPct val="90000"/>
              </a:lnSpc>
            </a:pPr>
            <a:r>
              <a:rPr lang="zh-CN" altLang="en-US" sz="2000" dirty="0" smtClean="0"/>
              <a:t>各省市需水量与出资比例挂钩</a:t>
            </a:r>
            <a:endParaRPr lang="zh-CN" altLang="en-US" sz="2000" dirty="0" smtClean="0"/>
          </a:p>
          <a:p>
            <a:pPr lvl="2" eaLnBrk="1" hangingPunct="1">
              <a:lnSpc>
                <a:spcPct val="90000"/>
              </a:lnSpc>
            </a:pPr>
            <a:r>
              <a:rPr lang="zh-CN" altLang="en-US" sz="2000" dirty="0" smtClean="0"/>
              <a:t>地方政府搞工程基金（向老百姓集资）</a:t>
            </a:r>
            <a:endParaRPr lang="zh-CN" altLang="en-US" sz="2000" dirty="0" smtClean="0"/>
          </a:p>
          <a:p>
            <a:pPr lvl="3" eaLnBrk="1" hangingPunct="1">
              <a:lnSpc>
                <a:spcPct val="90000"/>
              </a:lnSpc>
            </a:pPr>
            <a:r>
              <a:rPr lang="zh-CN" altLang="en-US" sz="1600" dirty="0" smtClean="0"/>
              <a:t>郑州市民吃</a:t>
            </a:r>
            <a:r>
              <a:rPr lang="en-US" altLang="zh-CN" sz="1600" dirty="0" smtClean="0"/>
              <a:t>1</a:t>
            </a:r>
            <a:r>
              <a:rPr lang="zh-CN" altLang="zh-CN" sz="1600" dirty="0" smtClean="0"/>
              <a:t>m3</a:t>
            </a:r>
            <a:r>
              <a:rPr lang="zh-CN" altLang="en-US" sz="1600" dirty="0" smtClean="0"/>
              <a:t>水：</a:t>
            </a:r>
            <a:r>
              <a:rPr lang="en-US" altLang="zh-CN" sz="1600" dirty="0" smtClean="0"/>
              <a:t>0.15+0.15</a:t>
            </a:r>
            <a:endParaRPr lang="en-US" altLang="zh-CN" sz="160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1955">
                                            <p:txEl>
                                              <p:pRg st="4" end="4"/>
                                            </p:txEl>
                                          </p:spTgt>
                                        </p:tgtEl>
                                        <p:attrNameLst>
                                          <p:attrName>style.visibility</p:attrName>
                                        </p:attrNameLst>
                                      </p:cBhvr>
                                      <p:to>
                                        <p:strVal val="visible"/>
                                      </p:to>
                                    </p:set>
                                    <p:anim calcmode="lin" valueType="num">
                                      <p:cBhvr additive="base">
                                        <p:cTn id="7" dur="500" fill="hold"/>
                                        <p:tgtEl>
                                          <p:spTgt spid="381955">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1955">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1955">
                                            <p:txEl>
                                              <p:pRg st="5" end="5"/>
                                            </p:txEl>
                                          </p:spTgt>
                                        </p:tgtEl>
                                        <p:attrNameLst>
                                          <p:attrName>style.visibility</p:attrName>
                                        </p:attrNameLst>
                                      </p:cBhvr>
                                      <p:to>
                                        <p:strVal val="visible"/>
                                      </p:to>
                                    </p:set>
                                    <p:anim calcmode="lin" valueType="num">
                                      <p:cBhvr additive="base">
                                        <p:cTn id="11" dur="500" fill="hold"/>
                                        <p:tgtEl>
                                          <p:spTgt spid="381955">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1955">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81955">
                                            <p:txEl>
                                              <p:pRg st="6" end="6"/>
                                            </p:txEl>
                                          </p:spTgt>
                                        </p:tgtEl>
                                        <p:attrNameLst>
                                          <p:attrName>style.visibility</p:attrName>
                                        </p:attrNameLst>
                                      </p:cBhvr>
                                      <p:to>
                                        <p:strVal val="visible"/>
                                      </p:to>
                                    </p:set>
                                    <p:anim calcmode="lin" valueType="num">
                                      <p:cBhvr additive="base">
                                        <p:cTn id="15" dur="500" fill="hold"/>
                                        <p:tgtEl>
                                          <p:spTgt spid="381955">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81955">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81955">
                                            <p:txEl>
                                              <p:pRg st="7" end="7"/>
                                            </p:txEl>
                                          </p:spTgt>
                                        </p:tgtEl>
                                        <p:attrNameLst>
                                          <p:attrName>style.visibility</p:attrName>
                                        </p:attrNameLst>
                                      </p:cBhvr>
                                      <p:to>
                                        <p:strVal val="visible"/>
                                      </p:to>
                                    </p:set>
                                    <p:anim calcmode="lin" valueType="num">
                                      <p:cBhvr additive="base">
                                        <p:cTn id="19" dur="500" fill="hold"/>
                                        <p:tgtEl>
                                          <p:spTgt spid="381955">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1955">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81955">
                                            <p:txEl>
                                              <p:pRg st="8" end="8"/>
                                            </p:txEl>
                                          </p:spTgt>
                                        </p:tgtEl>
                                        <p:attrNameLst>
                                          <p:attrName>style.visibility</p:attrName>
                                        </p:attrNameLst>
                                      </p:cBhvr>
                                      <p:to>
                                        <p:strVal val="visible"/>
                                      </p:to>
                                    </p:set>
                                    <p:anim calcmode="lin" valueType="num">
                                      <p:cBhvr additive="base">
                                        <p:cTn id="23" dur="500" fill="hold"/>
                                        <p:tgtEl>
                                          <p:spTgt spid="381955">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81955">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81955">
                                            <p:txEl>
                                              <p:pRg st="9" end="9"/>
                                            </p:txEl>
                                          </p:spTgt>
                                        </p:tgtEl>
                                        <p:attrNameLst>
                                          <p:attrName>style.visibility</p:attrName>
                                        </p:attrNameLst>
                                      </p:cBhvr>
                                      <p:to>
                                        <p:strVal val="visible"/>
                                      </p:to>
                                    </p:set>
                                    <p:anim calcmode="lin" valueType="num">
                                      <p:cBhvr additive="base">
                                        <p:cTn id="27" dur="500" fill="hold"/>
                                        <p:tgtEl>
                                          <p:spTgt spid="381955">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81955">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81955">
                                            <p:txEl>
                                              <p:pRg st="10" end="10"/>
                                            </p:txEl>
                                          </p:spTgt>
                                        </p:tgtEl>
                                        <p:attrNameLst>
                                          <p:attrName>style.visibility</p:attrName>
                                        </p:attrNameLst>
                                      </p:cBhvr>
                                      <p:to>
                                        <p:strVal val="visible"/>
                                      </p:to>
                                    </p:set>
                                    <p:anim calcmode="lin" valueType="num">
                                      <p:cBhvr additive="base">
                                        <p:cTn id="31" dur="500" fill="hold"/>
                                        <p:tgtEl>
                                          <p:spTgt spid="381955">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81955">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81955">
                                            <p:txEl>
                                              <p:pRg st="11" end="11"/>
                                            </p:txEl>
                                          </p:spTgt>
                                        </p:tgtEl>
                                        <p:attrNameLst>
                                          <p:attrName>style.visibility</p:attrName>
                                        </p:attrNameLst>
                                      </p:cBhvr>
                                      <p:to>
                                        <p:strVal val="visible"/>
                                      </p:to>
                                    </p:set>
                                    <p:anim calcmode="lin" valueType="num">
                                      <p:cBhvr additive="base">
                                        <p:cTn id="35" dur="500" fill="hold"/>
                                        <p:tgtEl>
                                          <p:spTgt spid="381955">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81955">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zh-CN" altLang="en-US" smtClean="0"/>
              <a:t>水价：远来之水，谁用？</a:t>
            </a:r>
            <a:endParaRPr lang="zh-CN" altLang="en-US" smtClean="0"/>
          </a:p>
        </p:txBody>
      </p:sp>
      <p:sp>
        <p:nvSpPr>
          <p:cNvPr id="382979" name="Rectangle 3"/>
          <p:cNvSpPr>
            <a:spLocks noGrp="1" noChangeArrowheads="1"/>
          </p:cNvSpPr>
          <p:nvPr>
            <p:ph type="body" idx="1"/>
          </p:nvPr>
        </p:nvSpPr>
        <p:spPr/>
        <p:txBody>
          <a:bodyPr/>
          <a:lstStyle/>
          <a:p>
            <a:pPr eaLnBrk="1" hangingPunct="1"/>
            <a:r>
              <a:rPr lang="zh-CN" altLang="en-US" smtClean="0"/>
              <a:t>千辛万苦调来的水，到底值多少钱？</a:t>
            </a:r>
            <a:endParaRPr lang="zh-CN" altLang="en-US" smtClean="0"/>
          </a:p>
          <a:p>
            <a:pPr lvl="1" eaLnBrk="1" hangingPunct="1"/>
            <a:r>
              <a:rPr lang="zh-CN" altLang="en-US" sz="2800" smtClean="0"/>
              <a:t>调水成本将远高于受水区开发当地水资源的成本（北京</a:t>
            </a:r>
            <a:r>
              <a:rPr lang="en-US" altLang="zh-CN" sz="2800" smtClean="0"/>
              <a:t>3.7</a:t>
            </a:r>
            <a:r>
              <a:rPr lang="zh-CN" altLang="en-US" sz="2800" smtClean="0"/>
              <a:t>元</a:t>
            </a:r>
            <a:r>
              <a:rPr lang="en-US" altLang="zh-CN" sz="2800" smtClean="0"/>
              <a:t>/</a:t>
            </a:r>
            <a:r>
              <a:rPr lang="en-US" altLang="zh-CN" b="0" smtClean="0"/>
              <a:t>m3</a:t>
            </a:r>
            <a:r>
              <a:rPr lang="en-US" altLang="zh-CN" smtClean="0"/>
              <a:t> </a:t>
            </a:r>
            <a:r>
              <a:rPr lang="zh-CN" altLang="en-US" sz="2800" smtClean="0"/>
              <a:t>，郑州</a:t>
            </a:r>
            <a:r>
              <a:rPr lang="en-US" altLang="zh-CN" sz="2800" smtClean="0"/>
              <a:t>0.15</a:t>
            </a:r>
            <a:r>
              <a:rPr lang="zh-CN" altLang="en-US" sz="2800" smtClean="0"/>
              <a:t>元</a:t>
            </a:r>
            <a:r>
              <a:rPr lang="en-US" altLang="zh-CN" sz="2800" smtClean="0"/>
              <a:t>/</a:t>
            </a:r>
            <a:r>
              <a:rPr lang="en-US" altLang="zh-CN" b="0" smtClean="0"/>
              <a:t>m3</a:t>
            </a:r>
            <a:r>
              <a:rPr lang="en-US" altLang="zh-CN" smtClean="0"/>
              <a:t> </a:t>
            </a:r>
            <a:r>
              <a:rPr lang="zh-CN" altLang="en-US" sz="2800" smtClean="0"/>
              <a:t>）</a:t>
            </a:r>
            <a:endParaRPr lang="zh-CN" altLang="en-US" sz="2800" smtClean="0"/>
          </a:p>
          <a:p>
            <a:pPr lvl="1" eaLnBrk="1" hangingPunct="1"/>
            <a:r>
              <a:rPr lang="zh-CN" altLang="en-US" sz="2800" smtClean="0"/>
              <a:t>各省还愿不愿意用？</a:t>
            </a:r>
            <a:endParaRPr lang="zh-CN" altLang="en-US" sz="2800" smtClean="0"/>
          </a:p>
          <a:p>
            <a:pPr eaLnBrk="1" hangingPunct="1"/>
            <a:r>
              <a:rPr lang="zh-CN" altLang="en-US" smtClean="0"/>
              <a:t>投资如何回收？</a:t>
            </a:r>
            <a:endParaRPr lang="zh-CN" altLang="en-US" smtClean="0"/>
          </a:p>
          <a:p>
            <a:pPr lvl="1" eaLnBrk="1" hangingPunct="1"/>
            <a:r>
              <a:rPr lang="zh-CN" altLang="en-US" sz="2800" smtClean="0"/>
              <a:t>国家的钱</a:t>
            </a:r>
            <a:r>
              <a:rPr lang="en-US" altLang="zh-CN" sz="2800" smtClean="0"/>
              <a:t>——</a:t>
            </a:r>
            <a:r>
              <a:rPr lang="zh-CN" altLang="en-US" sz="2800" smtClean="0"/>
              <a:t>不回收了</a:t>
            </a:r>
            <a:endParaRPr lang="zh-CN" altLang="en-US" sz="2800" smtClean="0"/>
          </a:p>
          <a:p>
            <a:pPr lvl="1" eaLnBrk="1" hangingPunct="1"/>
            <a:r>
              <a:rPr lang="zh-CN" altLang="en-US" sz="2800" smtClean="0"/>
              <a:t>工程基金</a:t>
            </a:r>
            <a:r>
              <a:rPr lang="en-US" altLang="zh-CN" sz="2800" smtClean="0"/>
              <a:t>——</a:t>
            </a:r>
            <a:r>
              <a:rPr lang="zh-CN" altLang="en-US" sz="2800" smtClean="0"/>
              <a:t>不回收了</a:t>
            </a:r>
            <a:endParaRPr lang="zh-CN" altLang="en-US" sz="2800" smtClean="0"/>
          </a:p>
          <a:p>
            <a:pPr lvl="1" eaLnBrk="1" hangingPunct="1"/>
            <a:r>
              <a:rPr lang="zh-CN" altLang="en-US" sz="2800" smtClean="0"/>
              <a:t>贷款</a:t>
            </a:r>
            <a:r>
              <a:rPr lang="en-US" altLang="zh-CN" sz="2800" smtClean="0"/>
              <a:t>——</a:t>
            </a:r>
            <a:r>
              <a:rPr lang="zh-CN" altLang="en-US" sz="2800" smtClean="0"/>
              <a:t>还本付息</a:t>
            </a:r>
            <a:endParaRPr lang="zh-CN" altLang="en-US" sz="2800" smtClean="0"/>
          </a:p>
          <a:p>
            <a:pPr eaLnBrk="1" hangingPunct="1"/>
            <a:r>
              <a:rPr lang="zh-CN" altLang="en-US" smtClean="0"/>
              <a:t>如何评价投资效益？</a:t>
            </a:r>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82979">
                                            <p:txEl>
                                              <p:pRg st="3" end="3"/>
                                            </p:txEl>
                                          </p:spTgt>
                                        </p:tgtEl>
                                        <p:attrNameLst>
                                          <p:attrName>style.visibility</p:attrName>
                                        </p:attrNameLst>
                                      </p:cBhvr>
                                      <p:to>
                                        <p:strVal val="visible"/>
                                      </p:to>
                                    </p:set>
                                    <p:anim calcmode="lin" valueType="num">
                                      <p:cBhvr additive="base">
                                        <p:cTn id="7" dur="500" fill="hold"/>
                                        <p:tgtEl>
                                          <p:spTgt spid="382979">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82979">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82979">
                                            <p:txEl>
                                              <p:pRg st="4" end="4"/>
                                            </p:txEl>
                                          </p:spTgt>
                                        </p:tgtEl>
                                        <p:attrNameLst>
                                          <p:attrName>style.visibility</p:attrName>
                                        </p:attrNameLst>
                                      </p:cBhvr>
                                      <p:to>
                                        <p:strVal val="visible"/>
                                      </p:to>
                                    </p:set>
                                    <p:anim calcmode="lin" valueType="num">
                                      <p:cBhvr additive="base">
                                        <p:cTn id="11" dur="500" fill="hold"/>
                                        <p:tgtEl>
                                          <p:spTgt spid="382979">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82979">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82979">
                                            <p:txEl>
                                              <p:pRg st="5" end="5"/>
                                            </p:txEl>
                                          </p:spTgt>
                                        </p:tgtEl>
                                        <p:attrNameLst>
                                          <p:attrName>style.visibility</p:attrName>
                                        </p:attrNameLst>
                                      </p:cBhvr>
                                      <p:to>
                                        <p:strVal val="visible"/>
                                      </p:to>
                                    </p:set>
                                    <p:anim calcmode="lin" valueType="num">
                                      <p:cBhvr additive="base">
                                        <p:cTn id="15" dur="500" fill="hold"/>
                                        <p:tgtEl>
                                          <p:spTgt spid="382979">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82979">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82979">
                                            <p:txEl>
                                              <p:pRg st="6" end="6"/>
                                            </p:txEl>
                                          </p:spTgt>
                                        </p:tgtEl>
                                        <p:attrNameLst>
                                          <p:attrName>style.visibility</p:attrName>
                                        </p:attrNameLst>
                                      </p:cBhvr>
                                      <p:to>
                                        <p:strVal val="visible"/>
                                      </p:to>
                                    </p:set>
                                    <p:anim calcmode="lin" valueType="num">
                                      <p:cBhvr additive="base">
                                        <p:cTn id="19" dur="500" fill="hold"/>
                                        <p:tgtEl>
                                          <p:spTgt spid="382979">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297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82979">
                                            <p:txEl>
                                              <p:pRg st="7" end="7"/>
                                            </p:txEl>
                                          </p:spTgt>
                                        </p:tgtEl>
                                        <p:attrNameLst>
                                          <p:attrName>style.visibility</p:attrName>
                                        </p:attrNameLst>
                                      </p:cBhvr>
                                      <p:to>
                                        <p:strVal val="visible"/>
                                      </p:to>
                                    </p:set>
                                    <p:anim calcmode="lin" valueType="num">
                                      <p:cBhvr additive="base">
                                        <p:cTn id="25" dur="500" fill="hold"/>
                                        <p:tgtEl>
                                          <p:spTgt spid="382979">
                                            <p:txEl>
                                              <p:pRg st="7" end="7"/>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8297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川藏铁路</a:t>
            </a:r>
            <a:endParaRPr kumimoji="1" lang="zh-CN" altLang="en-US" dirty="0"/>
          </a:p>
        </p:txBody>
      </p:sp>
      <p:sp>
        <p:nvSpPr>
          <p:cNvPr id="3" name="内容占位符 2"/>
          <p:cNvSpPr>
            <a:spLocks noGrp="1"/>
          </p:cNvSpPr>
          <p:nvPr>
            <p:ph idx="1"/>
          </p:nvPr>
        </p:nvSpPr>
        <p:spPr/>
        <p:txBody>
          <a:bodyPr/>
          <a:lstStyle/>
          <a:p>
            <a:r>
              <a:rPr lang="zh-CN" altLang="zh-CN" sz="2800" dirty="0"/>
              <a:t>中国境内一条连接四川省与西藏自治区的快速铁路</a:t>
            </a:r>
            <a:endParaRPr lang="zh-CN" altLang="zh-CN" sz="2800" dirty="0"/>
          </a:p>
          <a:p>
            <a:r>
              <a:rPr lang="zh-CN" altLang="zh-CN" sz="2800" dirty="0"/>
              <a:t>中国国内第二条进藏铁路 </a:t>
            </a:r>
            <a:endParaRPr lang="en-US" altLang="zh-CN" sz="2800" dirty="0" smtClean="0"/>
          </a:p>
          <a:p>
            <a:r>
              <a:rPr lang="zh-CN" altLang="zh-CN" sz="2800" dirty="0"/>
              <a:t>项目总投资</a:t>
            </a:r>
            <a:r>
              <a:rPr lang="en-US" altLang="zh-CN" sz="2800" dirty="0">
                <a:solidFill>
                  <a:srgbClr val="FF0000"/>
                </a:solidFill>
              </a:rPr>
              <a:t>2700</a:t>
            </a:r>
            <a:r>
              <a:rPr lang="zh-CN" altLang="zh-CN" sz="2800" dirty="0"/>
              <a:t>亿元，考虑价差预备费后全线预估算投资总额为</a:t>
            </a:r>
            <a:r>
              <a:rPr lang="en-US" altLang="zh-CN" sz="2800" dirty="0">
                <a:solidFill>
                  <a:srgbClr val="FF0000"/>
                </a:solidFill>
              </a:rPr>
              <a:t>3045</a:t>
            </a:r>
            <a:r>
              <a:rPr lang="zh-CN" altLang="zh-CN" sz="2800" dirty="0"/>
              <a:t>亿元。 </a:t>
            </a:r>
            <a:endParaRPr lang="en-US" altLang="zh-CN" sz="2800" dirty="0" smtClean="0"/>
          </a:p>
          <a:p>
            <a:r>
              <a:rPr lang="zh-CN" altLang="zh-CN" sz="2800" dirty="0"/>
              <a:t>建成通车后，从成都到拉萨的铁路通行时间将从</a:t>
            </a:r>
            <a:r>
              <a:rPr lang="en-US" altLang="zh-CN" sz="2800" dirty="0"/>
              <a:t>36</a:t>
            </a:r>
            <a:r>
              <a:rPr lang="zh-CN" altLang="zh-CN" sz="2800" dirty="0"/>
              <a:t>小时缩短到</a:t>
            </a:r>
            <a:r>
              <a:rPr lang="en-US" altLang="zh-CN" sz="2800" dirty="0"/>
              <a:t>12</a:t>
            </a:r>
            <a:r>
              <a:rPr lang="zh-CN" altLang="zh-CN" sz="2800" dirty="0"/>
              <a:t>小时左右。</a:t>
            </a:r>
            <a:endParaRPr lang="zh-CN" altLang="zh-CN" sz="2800" dirty="0"/>
          </a:p>
          <a:p>
            <a:endParaRPr lang="en-US" altLang="zh-CN" dirty="0" smtClean="0"/>
          </a:p>
          <a:p>
            <a:endParaRPr kumimoji="1" lang="zh-CN" altLang="en-US" dirty="0"/>
          </a:p>
        </p:txBody>
      </p:sp>
    </p:spTree>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川藏铁路</a:t>
            </a:r>
            <a:endParaRPr kumimoji="1" lang="zh-CN" altLang="en-US" dirty="0"/>
          </a:p>
        </p:txBody>
      </p:sp>
      <p:sp>
        <p:nvSpPr>
          <p:cNvPr id="3" name="内容占位符 2"/>
          <p:cNvSpPr>
            <a:spLocks noGrp="1"/>
          </p:cNvSpPr>
          <p:nvPr>
            <p:ph idx="1"/>
          </p:nvPr>
        </p:nvSpPr>
        <p:spPr/>
        <p:txBody>
          <a:bodyPr/>
          <a:lstStyle/>
          <a:p>
            <a:endParaRPr lang="en-US" altLang="zh-CN" dirty="0" smtClean="0"/>
          </a:p>
          <a:p>
            <a:endParaRPr kumimoji="1" lang="zh-CN" altLang="en-US" dirty="0"/>
          </a:p>
        </p:txBody>
      </p:sp>
      <p:pic>
        <p:nvPicPr>
          <p:cNvPr id="4" name="0001.中国网络电视台-[新闻直播间]新春走基层 千里走川藏 川藏铁路：雪域高原上第二条天路">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1004886" y="1346200"/>
            <a:ext cx="6942667" cy="5207000"/>
          </a:xfrm>
          <a:prstGeom prst="rect">
            <a:avLst/>
          </a:prstGeom>
        </p:spPr>
      </p:pic>
    </p:spTree>
  </p:cSld>
  <p:clrMapOvr>
    <a:masterClrMapping/>
  </p:clrMapOvr>
  <p:transition/>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4"/>
                                        </p:tgtEl>
                                      </p:cBhvr>
                                    </p:cmd>
                                  </p:childTnLst>
                                </p:cTn>
                              </p:par>
                            </p:childTnLst>
                          </p:cTn>
                        </p:par>
                      </p:childTnLst>
                    </p:cTn>
                  </p:par>
                </p:childTnLst>
              </p:cTn>
              <p:nextCondLst>
                <p:cond evt="onClick" delay="0">
                  <p:tgtEl>
                    <p:spTgt spid="4"/>
                  </p:tgtEl>
                </p:cond>
              </p:nextCondLst>
            </p:seq>
            <p:video>
              <p:cMediaNode vol="80000">
                <p:cTn id="7" fill="hold" display="0">
                  <p:stCondLst>
                    <p:cond delay="indefinite"/>
                  </p:stCondLst>
                </p:cTn>
                <p:tgtEl>
                  <p:spTgt spid="4"/>
                </p:tgtEl>
              </p:cMediaNode>
            </p:video>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川藏铁路</a:t>
            </a:r>
            <a:endParaRPr kumimoji="1" lang="zh-CN" altLang="en-US" dirty="0"/>
          </a:p>
        </p:txBody>
      </p:sp>
      <p:sp>
        <p:nvSpPr>
          <p:cNvPr id="3" name="内容占位符 2"/>
          <p:cNvSpPr>
            <a:spLocks noGrp="1"/>
          </p:cNvSpPr>
          <p:nvPr>
            <p:ph idx="1"/>
          </p:nvPr>
        </p:nvSpPr>
        <p:spPr/>
        <p:txBody>
          <a:bodyPr/>
          <a:lstStyle/>
          <a:p>
            <a:endParaRPr lang="en-US" altLang="zh-CN" dirty="0" smtClean="0"/>
          </a:p>
          <a:p>
            <a:endParaRPr kumimoji="1"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6477" y="1623469"/>
            <a:ext cx="8728860" cy="3597459"/>
          </a:xfrm>
          <a:prstGeom prst="rect">
            <a:avLst/>
          </a:prstGeom>
        </p:spPr>
      </p:pic>
      <p:sp>
        <p:nvSpPr>
          <p:cNvPr id="5" name="文本框 4"/>
          <p:cNvSpPr txBox="1"/>
          <p:nvPr/>
        </p:nvSpPr>
        <p:spPr>
          <a:xfrm>
            <a:off x="3510116" y="5505796"/>
            <a:ext cx="2339102" cy="461665"/>
          </a:xfrm>
          <a:prstGeom prst="rect">
            <a:avLst/>
          </a:prstGeom>
          <a:noFill/>
        </p:spPr>
        <p:txBody>
          <a:bodyPr wrap="none" rtlCol="0">
            <a:spAutoFit/>
          </a:bodyPr>
          <a:lstStyle/>
          <a:p>
            <a:r>
              <a:rPr kumimoji="1" lang="zh-CN" altLang="en-US" b="1" dirty="0" smtClean="0">
                <a:solidFill>
                  <a:schemeClr val="bg2"/>
                </a:solidFill>
              </a:rPr>
              <a:t>川</a:t>
            </a:r>
            <a:r>
              <a:rPr kumimoji="1" lang="zh-CN" altLang="en-US" b="1" smtClean="0">
                <a:solidFill>
                  <a:schemeClr val="bg2"/>
                </a:solidFill>
              </a:rPr>
              <a:t>藏铁路示意图</a:t>
            </a:r>
            <a:endParaRPr kumimoji="1" lang="zh-CN" altLang="en-US" b="1">
              <a:solidFill>
                <a:schemeClr val="bg2"/>
              </a:solidFill>
            </a:endParaRPr>
          </a:p>
        </p:txBody>
      </p:sp>
    </p:spTree>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川藏铁路</a:t>
            </a:r>
            <a:endParaRPr kumimoji="1" lang="zh-CN" altLang="en-US" dirty="0"/>
          </a:p>
        </p:txBody>
      </p:sp>
      <p:sp>
        <p:nvSpPr>
          <p:cNvPr id="3" name="内容占位符 2"/>
          <p:cNvSpPr>
            <a:spLocks noGrp="1"/>
          </p:cNvSpPr>
          <p:nvPr>
            <p:ph idx="1"/>
          </p:nvPr>
        </p:nvSpPr>
        <p:spPr/>
        <p:txBody>
          <a:bodyPr/>
          <a:lstStyle/>
          <a:p>
            <a:endParaRPr lang="en-US" altLang="zh-CN" dirty="0" smtClean="0"/>
          </a:p>
          <a:p>
            <a:endParaRPr kumimoji="1"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61883" y="1631477"/>
            <a:ext cx="6887497" cy="3533465"/>
          </a:xfrm>
          <a:prstGeom prst="rect">
            <a:avLst/>
          </a:prstGeom>
        </p:spPr>
      </p:pic>
      <p:sp>
        <p:nvSpPr>
          <p:cNvPr id="5" name="文本框 4"/>
          <p:cNvSpPr txBox="1"/>
          <p:nvPr/>
        </p:nvSpPr>
        <p:spPr>
          <a:xfrm>
            <a:off x="3716593" y="5589638"/>
            <a:ext cx="1107996" cy="461665"/>
          </a:xfrm>
          <a:prstGeom prst="rect">
            <a:avLst/>
          </a:prstGeom>
          <a:noFill/>
        </p:spPr>
        <p:txBody>
          <a:bodyPr wrap="none" rtlCol="0">
            <a:spAutoFit/>
          </a:bodyPr>
          <a:lstStyle/>
          <a:p>
            <a:r>
              <a:rPr kumimoji="1" lang="zh-CN" altLang="en-US" b="1" dirty="0" smtClean="0">
                <a:solidFill>
                  <a:schemeClr val="bg2"/>
                </a:solidFill>
              </a:rPr>
              <a:t>成雅段</a:t>
            </a:r>
            <a:endParaRPr kumimoji="1" lang="zh-CN" altLang="en-US" b="1" dirty="0">
              <a:solidFill>
                <a:schemeClr val="bg2"/>
              </a:solidFill>
            </a:endParaRPr>
          </a:p>
        </p:txBody>
      </p:sp>
    </p:spTree>
  </p:cSld>
  <p:clrMapOvr>
    <a:masterClrMapping/>
  </p:clrMapOvr>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川藏铁路</a:t>
            </a:r>
            <a:endParaRPr kumimoji="1" lang="zh-CN" altLang="en-US" dirty="0"/>
          </a:p>
        </p:txBody>
      </p:sp>
      <p:sp>
        <p:nvSpPr>
          <p:cNvPr id="3" name="内容占位符 2"/>
          <p:cNvSpPr>
            <a:spLocks noGrp="1"/>
          </p:cNvSpPr>
          <p:nvPr>
            <p:ph idx="1"/>
          </p:nvPr>
        </p:nvSpPr>
        <p:spPr/>
        <p:txBody>
          <a:bodyPr/>
          <a:lstStyle/>
          <a:p>
            <a:endParaRPr lang="en-US" altLang="zh-CN" dirty="0" smtClean="0"/>
          </a:p>
          <a:p>
            <a:endParaRPr kumimoji="1" lang="zh-CN" altLang="en-US" dirty="0"/>
          </a:p>
        </p:txBody>
      </p:sp>
      <p:pic>
        <p:nvPicPr>
          <p:cNvPr id="4" name="图片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49400" y="1866900"/>
            <a:ext cx="6045200" cy="3124200"/>
          </a:xfrm>
          <a:prstGeom prst="rect">
            <a:avLst/>
          </a:prstGeom>
        </p:spPr>
      </p:pic>
      <p:sp>
        <p:nvSpPr>
          <p:cNvPr id="5" name="文本框 4"/>
          <p:cNvSpPr txBox="1"/>
          <p:nvPr/>
        </p:nvSpPr>
        <p:spPr>
          <a:xfrm>
            <a:off x="3710225" y="5511800"/>
            <a:ext cx="1723549" cy="461665"/>
          </a:xfrm>
          <a:prstGeom prst="rect">
            <a:avLst/>
          </a:prstGeom>
          <a:noFill/>
        </p:spPr>
        <p:txBody>
          <a:bodyPr wrap="none" rtlCol="0">
            <a:spAutoFit/>
          </a:bodyPr>
          <a:lstStyle/>
          <a:p>
            <a:r>
              <a:rPr kumimoji="1" lang="zh-CN" altLang="en-US" b="1" dirty="0" smtClean="0">
                <a:solidFill>
                  <a:schemeClr val="bg2"/>
                </a:solidFill>
              </a:rPr>
              <a:t>拉</a:t>
            </a:r>
            <a:r>
              <a:rPr kumimoji="1" lang="zh-CN" altLang="en-US" b="1" smtClean="0">
                <a:solidFill>
                  <a:schemeClr val="bg2"/>
                </a:solidFill>
              </a:rPr>
              <a:t>林段施工</a:t>
            </a:r>
            <a:endParaRPr kumimoji="1" lang="zh-CN" altLang="en-US" b="1">
              <a:solidFill>
                <a:schemeClr val="bg2"/>
              </a:solidFill>
            </a:endParaRPr>
          </a:p>
        </p:txBody>
      </p:sp>
    </p:spTree>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川藏铁路</a:t>
            </a:r>
            <a:endParaRPr kumimoji="1" lang="zh-CN" altLang="en-US" dirty="0"/>
          </a:p>
        </p:txBody>
      </p:sp>
      <p:sp>
        <p:nvSpPr>
          <p:cNvPr id="3" name="内容占位符 2"/>
          <p:cNvSpPr>
            <a:spLocks noGrp="1"/>
          </p:cNvSpPr>
          <p:nvPr>
            <p:ph idx="1"/>
          </p:nvPr>
        </p:nvSpPr>
        <p:spPr/>
        <p:txBody>
          <a:bodyPr/>
          <a:lstStyle/>
          <a:p>
            <a:r>
              <a:rPr lang="zh-CN" altLang="en-US" sz="2400" b="0" dirty="0" smtClean="0"/>
              <a:t>三段</a:t>
            </a:r>
            <a:endParaRPr lang="en-US" altLang="zh-CN" sz="2400" b="0" dirty="0" smtClean="0"/>
          </a:p>
          <a:p>
            <a:pPr lvl="1"/>
            <a:r>
              <a:rPr lang="zh-CN" altLang="zh-CN" sz="2000" dirty="0" smtClean="0"/>
              <a:t>成</a:t>
            </a:r>
            <a:r>
              <a:rPr lang="zh-CN" altLang="en-US" sz="2000" dirty="0" smtClean="0"/>
              <a:t>雅段</a:t>
            </a:r>
            <a:r>
              <a:rPr lang="zh-CN" altLang="en-US" sz="2000" b="0" dirty="0" smtClean="0"/>
              <a:t>（</a:t>
            </a:r>
            <a:r>
              <a:rPr lang="zh-CN" altLang="zh-CN" sz="2000" b="0" dirty="0" smtClean="0"/>
              <a:t>成都</a:t>
            </a:r>
            <a:r>
              <a:rPr lang="en-US" altLang="zh-CN" sz="2000" b="0" dirty="0" smtClean="0"/>
              <a:t>——</a:t>
            </a:r>
            <a:r>
              <a:rPr lang="zh-CN" altLang="en-US" sz="2000" b="0" dirty="0" smtClean="0"/>
              <a:t>雅安</a:t>
            </a:r>
            <a:r>
              <a:rPr lang="zh-CN" altLang="zh-CN" sz="2000" b="0" dirty="0" smtClean="0"/>
              <a:t>）</a:t>
            </a:r>
            <a:r>
              <a:rPr lang="zh-CN" altLang="zh-CN" sz="2000" dirty="0"/>
              <a:t>　</a:t>
            </a:r>
            <a:endParaRPr lang="zh-CN" altLang="zh-CN" sz="2000" dirty="0"/>
          </a:p>
          <a:p>
            <a:pPr lvl="1"/>
            <a:r>
              <a:rPr lang="zh-CN" altLang="en-US" sz="2000" dirty="0" smtClean="0"/>
              <a:t>雅</a:t>
            </a:r>
            <a:r>
              <a:rPr lang="zh-CN" altLang="zh-CN" sz="2000" dirty="0" smtClean="0"/>
              <a:t>林</a:t>
            </a:r>
            <a:r>
              <a:rPr lang="zh-CN" altLang="en-US" sz="2000" dirty="0" smtClean="0"/>
              <a:t>段</a:t>
            </a:r>
            <a:r>
              <a:rPr lang="zh-CN" altLang="zh-CN" sz="2000" b="0" dirty="0" smtClean="0"/>
              <a:t>（</a:t>
            </a:r>
            <a:r>
              <a:rPr lang="zh-CN" altLang="en-US" sz="2000" b="0" dirty="0" smtClean="0"/>
              <a:t>雅安</a:t>
            </a:r>
            <a:r>
              <a:rPr lang="en-US" altLang="zh-CN" sz="2000" b="0" dirty="0" smtClean="0"/>
              <a:t>——</a:t>
            </a:r>
            <a:r>
              <a:rPr lang="zh-CN" altLang="zh-CN" sz="2000" b="0" dirty="0"/>
              <a:t>林芝）</a:t>
            </a:r>
            <a:endParaRPr lang="zh-CN" altLang="zh-CN" sz="2000" b="0" dirty="0"/>
          </a:p>
          <a:p>
            <a:pPr lvl="1"/>
            <a:r>
              <a:rPr lang="zh-CN" altLang="zh-CN" sz="2000" dirty="0"/>
              <a:t>拉</a:t>
            </a:r>
            <a:r>
              <a:rPr lang="zh-CN" altLang="zh-CN" sz="2000" dirty="0" smtClean="0"/>
              <a:t>林</a:t>
            </a:r>
            <a:r>
              <a:rPr lang="zh-CN" altLang="en-US" sz="2000" dirty="0" smtClean="0"/>
              <a:t>段</a:t>
            </a:r>
            <a:r>
              <a:rPr lang="zh-CN" altLang="zh-CN" sz="2000" b="0" dirty="0" smtClean="0"/>
              <a:t>（</a:t>
            </a:r>
            <a:r>
              <a:rPr lang="zh-CN" altLang="zh-CN" sz="2000" b="0" dirty="0"/>
              <a:t>拉萨</a:t>
            </a:r>
            <a:r>
              <a:rPr lang="en-US" altLang="zh-CN" sz="2000" b="0" dirty="0"/>
              <a:t>——</a:t>
            </a:r>
            <a:r>
              <a:rPr lang="zh-CN" altLang="zh-CN" sz="2000" b="0" dirty="0"/>
              <a:t>林</a:t>
            </a:r>
            <a:r>
              <a:rPr lang="zh-CN" altLang="zh-CN" sz="2000" b="0" dirty="0" smtClean="0"/>
              <a:t>芝</a:t>
            </a:r>
            <a:r>
              <a:rPr lang="zh-CN" altLang="en-US" sz="2000" b="0" dirty="0"/>
              <a:t>）</a:t>
            </a:r>
            <a:endParaRPr lang="en-US" altLang="zh-CN" sz="2000" b="0" dirty="0" smtClean="0"/>
          </a:p>
          <a:p>
            <a:r>
              <a:rPr lang="zh-CN" altLang="zh-CN" sz="2400" b="0" dirty="0"/>
              <a:t>成都至雅安段于</a:t>
            </a:r>
            <a:r>
              <a:rPr lang="en-US" altLang="zh-CN" sz="2400" b="0" dirty="0"/>
              <a:t>2014</a:t>
            </a:r>
            <a:r>
              <a:rPr lang="zh-CN" altLang="zh-CN" sz="2400" b="0" dirty="0"/>
              <a:t>年</a:t>
            </a:r>
            <a:r>
              <a:rPr lang="en-US" altLang="zh-CN" sz="2400" b="0" dirty="0"/>
              <a:t>12</a:t>
            </a:r>
            <a:r>
              <a:rPr lang="zh-CN" altLang="zh-CN" sz="2400" b="0" dirty="0"/>
              <a:t>月</a:t>
            </a:r>
            <a:r>
              <a:rPr lang="en-US" altLang="zh-CN" sz="2400" b="0" dirty="0"/>
              <a:t>6</a:t>
            </a:r>
            <a:r>
              <a:rPr lang="zh-CN" altLang="zh-CN" sz="2400" b="0" dirty="0"/>
              <a:t>日开工，</a:t>
            </a:r>
            <a:r>
              <a:rPr lang="en-US" altLang="zh-CN" sz="2400" b="0" dirty="0"/>
              <a:t>2018</a:t>
            </a:r>
            <a:r>
              <a:rPr lang="zh-CN" altLang="zh-CN" sz="2400" b="0" dirty="0"/>
              <a:t>年</a:t>
            </a:r>
            <a:r>
              <a:rPr lang="en-US" altLang="zh-CN" sz="2400" b="0" dirty="0"/>
              <a:t>12</a:t>
            </a:r>
            <a:r>
              <a:rPr lang="zh-CN" altLang="zh-CN" sz="2400" b="0" dirty="0"/>
              <a:t>月</a:t>
            </a:r>
            <a:r>
              <a:rPr lang="en-US" altLang="zh-CN" sz="2400" b="0" dirty="0"/>
              <a:t>28</a:t>
            </a:r>
            <a:r>
              <a:rPr lang="zh-CN" altLang="zh-CN" sz="2400" b="0" dirty="0"/>
              <a:t>日正式开通运营。</a:t>
            </a:r>
            <a:endParaRPr lang="zh-CN" altLang="zh-CN" sz="2400" b="0" dirty="0"/>
          </a:p>
          <a:p>
            <a:r>
              <a:rPr lang="zh-CN" altLang="zh-CN" sz="2400" b="0" dirty="0"/>
              <a:t>拉萨至林芝段先期开工段控制性工程于</a:t>
            </a:r>
            <a:r>
              <a:rPr lang="en-US" altLang="zh-CN" sz="2400" b="0" dirty="0"/>
              <a:t>2014</a:t>
            </a:r>
            <a:r>
              <a:rPr lang="zh-CN" altLang="zh-CN" sz="2400" b="0" dirty="0"/>
              <a:t>年</a:t>
            </a:r>
            <a:r>
              <a:rPr lang="en-US" altLang="zh-CN" sz="2400" b="0" dirty="0"/>
              <a:t>12</a:t>
            </a:r>
            <a:r>
              <a:rPr lang="zh-CN" altLang="zh-CN" sz="2400" b="0" dirty="0"/>
              <a:t>月</a:t>
            </a:r>
            <a:r>
              <a:rPr lang="en-US" altLang="zh-CN" sz="2400" b="0" dirty="0"/>
              <a:t>19</a:t>
            </a:r>
            <a:r>
              <a:rPr lang="zh-CN" altLang="zh-CN" sz="2400" b="0" dirty="0"/>
              <a:t>日动工，预计</a:t>
            </a:r>
            <a:r>
              <a:rPr lang="en-US" altLang="zh-CN" sz="2400" b="0" dirty="0"/>
              <a:t>2020</a:t>
            </a:r>
            <a:r>
              <a:rPr lang="zh-CN" altLang="zh-CN" sz="2400" b="0" dirty="0"/>
              <a:t>年底全线铺轨完成，</a:t>
            </a:r>
            <a:r>
              <a:rPr lang="en-US" altLang="zh-CN" sz="2400" b="0" dirty="0"/>
              <a:t>2021</a:t>
            </a:r>
            <a:r>
              <a:rPr lang="zh-CN" altLang="zh-CN" sz="2400" b="0" dirty="0"/>
              <a:t>年开通运营</a:t>
            </a:r>
            <a:r>
              <a:rPr lang="zh-CN" altLang="zh-CN" sz="2400" b="0" dirty="0" smtClean="0"/>
              <a:t>。</a:t>
            </a:r>
            <a:endParaRPr lang="en-US" altLang="zh-CN" sz="2400" b="0" dirty="0" smtClean="0"/>
          </a:p>
          <a:p>
            <a:r>
              <a:rPr lang="zh-CN" altLang="zh-CN" sz="2400" b="0" dirty="0"/>
              <a:t>雅安至林芝段，全长</a:t>
            </a:r>
            <a:r>
              <a:rPr lang="en-US" altLang="zh-CN" sz="2400" b="0" dirty="0"/>
              <a:t>1008</a:t>
            </a:r>
            <a:r>
              <a:rPr lang="zh-CN" altLang="zh-CN" sz="2400" b="0" dirty="0"/>
              <a:t>公里，沿线经过四川盆地、川西高山峡谷区、川西高山原区、藏东南横断山区、藏南谷底区等</a:t>
            </a:r>
            <a:r>
              <a:rPr lang="en-US" altLang="zh-CN" sz="2400" b="0" dirty="0"/>
              <a:t>5</a:t>
            </a:r>
            <a:r>
              <a:rPr lang="zh-CN" altLang="zh-CN" sz="2400" b="0" dirty="0"/>
              <a:t>个地貌单元，地形地质极其复杂，</a:t>
            </a:r>
            <a:r>
              <a:rPr lang="zh-CN" altLang="zh-CN" sz="2400" b="0" dirty="0" smtClean="0"/>
              <a:t>环境脆弱，基础</a:t>
            </a:r>
            <a:r>
              <a:rPr lang="zh-CN" altLang="en-US" sz="2400" b="0" dirty="0" smtClean="0"/>
              <a:t>设施</a:t>
            </a:r>
            <a:r>
              <a:rPr lang="zh-CN" altLang="zh-CN" sz="2400" b="0" dirty="0" smtClean="0"/>
              <a:t>配套薄弱</a:t>
            </a:r>
            <a:r>
              <a:rPr lang="zh-CN" altLang="zh-CN" sz="2400" b="0" dirty="0"/>
              <a:t>，工程</a:t>
            </a:r>
            <a:r>
              <a:rPr lang="zh-CN" altLang="zh-CN" sz="2400" b="0" dirty="0" smtClean="0"/>
              <a:t>建设</a:t>
            </a:r>
            <a:r>
              <a:rPr lang="zh-CN" altLang="en-US" sz="2400" b="0" dirty="0" smtClean="0"/>
              <a:t>难度大</a:t>
            </a:r>
            <a:r>
              <a:rPr lang="zh-CN" altLang="zh-CN" sz="2400" b="0" dirty="0" smtClean="0"/>
              <a:t>。仍</a:t>
            </a:r>
            <a:r>
              <a:rPr lang="zh-CN" altLang="zh-CN" sz="2400" b="0" dirty="0"/>
              <a:t>在前期工作的准备，</a:t>
            </a:r>
            <a:r>
              <a:rPr lang="zh-CN" altLang="zh-CN" sz="2400" b="0" dirty="0" smtClean="0"/>
              <a:t>未动工。</a:t>
            </a:r>
            <a:endParaRPr lang="en-US" altLang="zh-CN" sz="2400" b="0" dirty="0" smtClean="0"/>
          </a:p>
          <a:p>
            <a:r>
              <a:rPr lang="zh-CN" altLang="en-US" sz="2400" b="0" dirty="0" smtClean="0">
                <a:solidFill>
                  <a:srgbClr val="FF0000"/>
                </a:solidFill>
              </a:rPr>
              <a:t>技术难度有哪些？</a:t>
            </a:r>
            <a:endParaRPr lang="zh-CN" altLang="zh-CN" sz="2400" b="0" dirty="0">
              <a:solidFill>
                <a:srgbClr val="FF0000"/>
              </a:solidFill>
            </a:endParaRPr>
          </a:p>
          <a:p>
            <a:endParaRPr lang="zh-CN" altLang="zh-CN" sz="2400" dirty="0"/>
          </a:p>
          <a:p>
            <a:endParaRPr lang="en-US" altLang="zh-CN" dirty="0"/>
          </a:p>
          <a:p>
            <a:pPr lvl="1">
              <a:buFont typeface="Wingdings" panose="05000000000000000000" pitchFamily="2" charset="2"/>
              <a:buChar char="l"/>
            </a:pPr>
            <a:endParaRPr lang="zh-CN" altLang="zh-CN" dirty="0" smtClean="0"/>
          </a:p>
          <a:p>
            <a:pPr lvl="1">
              <a:buFont typeface="Arial" panose="020B0604020202020204" pitchFamily="34" charset="0"/>
              <a:buChar char="•"/>
            </a:pPr>
            <a:endParaRPr lang="en-US" altLang="zh-CN" dirty="0" smtClean="0"/>
          </a:p>
          <a:p>
            <a:endParaRPr kumimoji="1" lang="zh-CN" altLang="en-US" dirty="0"/>
          </a:p>
        </p:txBody>
      </p:sp>
    </p:spTree>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a:t>川藏铁路</a:t>
            </a:r>
            <a:endParaRPr kumimoji="1" lang="zh-CN" altLang="en-US" dirty="0"/>
          </a:p>
        </p:txBody>
      </p:sp>
      <p:sp>
        <p:nvSpPr>
          <p:cNvPr id="3" name="内容占位符 2"/>
          <p:cNvSpPr>
            <a:spLocks noGrp="1"/>
          </p:cNvSpPr>
          <p:nvPr>
            <p:ph idx="1"/>
          </p:nvPr>
        </p:nvSpPr>
        <p:spPr/>
        <p:txBody>
          <a:bodyPr/>
          <a:lstStyle/>
          <a:p>
            <a:r>
              <a:rPr lang="zh-CN" altLang="en-US" sz="3200" dirty="0" smtClean="0"/>
              <a:t>自然条件</a:t>
            </a:r>
            <a:endParaRPr lang="en-US" altLang="zh-CN" sz="3200" dirty="0" smtClean="0"/>
          </a:p>
          <a:p>
            <a:pPr lvl="1"/>
            <a:r>
              <a:rPr lang="zh-CN" altLang="zh-CN" sz="2800" dirty="0" smtClean="0"/>
              <a:t>山川</a:t>
            </a:r>
            <a:r>
              <a:rPr lang="zh-CN" altLang="zh-CN" sz="2800" dirty="0"/>
              <a:t>河谷多</a:t>
            </a:r>
            <a:endParaRPr lang="zh-CN" altLang="zh-CN" sz="2800" dirty="0"/>
          </a:p>
          <a:p>
            <a:pPr lvl="1"/>
            <a:r>
              <a:rPr lang="zh-CN" altLang="zh-CN" sz="2800" dirty="0"/>
              <a:t>地形落差大</a:t>
            </a:r>
            <a:endParaRPr lang="zh-CN" altLang="zh-CN" sz="2800" dirty="0"/>
          </a:p>
          <a:p>
            <a:pPr lvl="1"/>
            <a:r>
              <a:rPr lang="zh-CN" altLang="zh-CN" sz="2800" dirty="0"/>
              <a:t>板块运动剧烈</a:t>
            </a:r>
            <a:endParaRPr lang="zh-CN" altLang="zh-CN" sz="2800" dirty="0"/>
          </a:p>
          <a:p>
            <a:pPr lvl="1"/>
            <a:r>
              <a:rPr lang="zh-CN" altLang="zh-CN" sz="2800" dirty="0"/>
              <a:t>复杂地质环境</a:t>
            </a:r>
            <a:endParaRPr lang="zh-CN" altLang="zh-CN" sz="2800" dirty="0"/>
          </a:p>
          <a:p>
            <a:pPr lvl="1"/>
            <a:r>
              <a:rPr lang="zh-CN" altLang="zh-CN" sz="2800" dirty="0"/>
              <a:t>高原高寒 风沙气候</a:t>
            </a:r>
            <a:endParaRPr lang="zh-CN" altLang="zh-CN" sz="2800" dirty="0"/>
          </a:p>
          <a:p>
            <a:pPr lvl="1"/>
            <a:r>
              <a:rPr lang="zh-CN" altLang="zh-CN" sz="2800" dirty="0"/>
              <a:t>当地生态脆弱环境</a:t>
            </a:r>
            <a:r>
              <a:rPr lang="zh-CN" altLang="zh-CN" sz="2800" dirty="0" smtClean="0"/>
              <a:t>敏感</a:t>
            </a:r>
            <a:endParaRPr lang="en-US" altLang="zh-CN" sz="2800" dirty="0" smtClean="0"/>
          </a:p>
          <a:p>
            <a:pPr lvl="1"/>
            <a:r>
              <a:rPr lang="en-US" altLang="zh-CN" sz="2800" dirty="0" smtClean="0"/>
              <a:t>……</a:t>
            </a:r>
            <a:endParaRPr lang="zh-CN" altLang="zh-CN" sz="2800" dirty="0"/>
          </a:p>
          <a:p>
            <a:endParaRPr kumimoji="1" lang="zh-CN" altLang="en-US" dirty="0"/>
          </a:p>
        </p:txBody>
      </p:sp>
    </p:spTree>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川藏铁路</a:t>
            </a:r>
            <a:endParaRPr kumimoji="1" lang="zh-CN" altLang="en-US" dirty="0"/>
          </a:p>
        </p:txBody>
      </p:sp>
      <p:sp>
        <p:nvSpPr>
          <p:cNvPr id="3" name="内容占位符 2"/>
          <p:cNvSpPr>
            <a:spLocks noGrp="1"/>
          </p:cNvSpPr>
          <p:nvPr>
            <p:ph idx="1"/>
          </p:nvPr>
        </p:nvSpPr>
        <p:spPr/>
        <p:txBody>
          <a:bodyPr/>
          <a:lstStyle/>
          <a:p>
            <a:pPr>
              <a:lnSpc>
                <a:spcPct val="150000"/>
              </a:lnSpc>
            </a:pPr>
            <a:r>
              <a:rPr lang="zh-CN" altLang="en-US" sz="2800" dirty="0" smtClean="0"/>
              <a:t>社会效益</a:t>
            </a:r>
            <a:endParaRPr lang="en-US" altLang="zh-CN" sz="2800" dirty="0" smtClean="0"/>
          </a:p>
          <a:p>
            <a:pPr lvl="1">
              <a:lnSpc>
                <a:spcPct val="150000"/>
              </a:lnSpc>
            </a:pPr>
            <a:r>
              <a:rPr lang="zh-CN" altLang="en-US" sz="2400" b="0" dirty="0" smtClean="0"/>
              <a:t>川</a:t>
            </a:r>
            <a:r>
              <a:rPr lang="zh-CN" altLang="en-US" sz="2400" b="0" dirty="0"/>
              <a:t>藏铁路是西藏自治区对外运输通道的重要组成部分；对于完善西藏铁路网结构、改善沿线交通基础设施条件、促进西藏经济社会发展、增进中华民族团结具有重要意义</a:t>
            </a:r>
            <a:r>
              <a:rPr lang="zh-CN" altLang="en-US" sz="2400" b="0" dirty="0" smtClean="0"/>
              <a:t>。</a:t>
            </a:r>
            <a:endParaRPr lang="en-US" altLang="zh-CN" sz="2400" b="0" dirty="0" smtClean="0"/>
          </a:p>
          <a:p>
            <a:pPr lvl="1">
              <a:lnSpc>
                <a:spcPct val="150000"/>
              </a:lnSpc>
            </a:pPr>
            <a:r>
              <a:rPr lang="zh-CN" altLang="en-US" sz="2400" b="0" dirty="0" smtClean="0"/>
              <a:t>川藏铁路是世界</a:t>
            </a:r>
            <a:r>
              <a:rPr lang="zh-CN" altLang="en-US" sz="2400" b="0" dirty="0"/>
              <a:t>铁路建设史上地形地质条件最为复杂的工程</a:t>
            </a:r>
            <a:r>
              <a:rPr lang="zh-CN" altLang="en-US" sz="2400" b="0" dirty="0" smtClean="0"/>
              <a:t>，铁路</a:t>
            </a:r>
            <a:r>
              <a:rPr lang="zh-CN" altLang="en-US" sz="2400" b="0" dirty="0"/>
              <a:t>建设本身也能起到加强生态保护、防止水土流失、实施道路绿化等配套提升</a:t>
            </a:r>
            <a:r>
              <a:rPr lang="zh-CN" altLang="en-US" sz="2400" b="0" dirty="0" smtClean="0"/>
              <a:t>。</a:t>
            </a:r>
            <a:endParaRPr lang="en-US" altLang="zh-CN" sz="2400" b="0" dirty="0" smtClean="0"/>
          </a:p>
        </p:txBody>
      </p:sp>
    </p:spTree>
  </p:cSld>
  <p:clrMapOvr>
    <a:masterClrMapping/>
  </p:clrMapOvr>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p:txBody>
          <a:bodyPr/>
          <a:lstStyle/>
          <a:p>
            <a:pPr eaLnBrk="1" hangingPunct="1"/>
            <a:r>
              <a:rPr lang="zh-CN" altLang="en-US" smtClean="0"/>
              <a:t>深圳地铁一期工程</a:t>
            </a:r>
            <a:endParaRPr lang="zh-CN" altLang="en-US" smtClean="0"/>
          </a:p>
        </p:txBody>
      </p:sp>
      <p:graphicFrame>
        <p:nvGraphicFramePr>
          <p:cNvPr id="64515" name="Object 3"/>
          <p:cNvGraphicFramePr>
            <a:graphicFrameLocks noGrp="1" noChangeAspect="1"/>
          </p:cNvGraphicFramePr>
          <p:nvPr>
            <p:ph idx="1"/>
          </p:nvPr>
        </p:nvGraphicFramePr>
        <p:xfrm>
          <a:off x="727075" y="1468438"/>
          <a:ext cx="7458075" cy="4960937"/>
        </p:xfrm>
        <a:graphic>
          <a:graphicData uri="http://schemas.openxmlformats.org/presentationml/2006/ole">
            <mc:AlternateContent xmlns:mc="http://schemas.openxmlformats.org/markup-compatibility/2006">
              <mc:Choice xmlns:v="urn:schemas-microsoft-com:vml" Requires="v">
                <p:oleObj spid="_x0000_s64558" name="图片" r:id="rId1" imgW="5806440" imgH="3862705" progId="Word.Picture.8">
                  <p:embed/>
                </p:oleObj>
              </mc:Choice>
              <mc:Fallback>
                <p:oleObj name="图片" r:id="rId1" imgW="5806440" imgH="3862705" progId="Word.Picture.8">
                  <p:embed/>
                  <p:pic>
                    <p:nvPicPr>
                      <p:cNvPr id="0" name="Object 3"/>
                      <p:cNvPicPr>
                        <a:picLocks noChangeAspect="1" noChangeArrowheads="1"/>
                      </p:cNvPicPr>
                      <p:nvPr/>
                    </p:nvPicPr>
                    <p:blipFill>
                      <a:blip r:embed="rId2">
                        <a:lum bright="6000"/>
                        <a:extLst>
                          <a:ext uri="{28A0092B-C50C-407E-A947-70E740481C1C}">
                            <a14:useLocalDpi xmlns:a14="http://schemas.microsoft.com/office/drawing/2010/main" val="0"/>
                          </a:ext>
                        </a:extLst>
                      </a:blip>
                      <a:srcRect t="6340"/>
                      <a:stretch>
                        <a:fillRect/>
                      </a:stretch>
                    </p:blipFill>
                    <p:spPr bwMode="auto">
                      <a:xfrm>
                        <a:off x="727075" y="1468438"/>
                        <a:ext cx="7458075" cy="4960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p:txBody>
          <a:bodyPr/>
          <a:lstStyle/>
          <a:p>
            <a:pPr eaLnBrk="1" hangingPunct="1"/>
            <a:r>
              <a:rPr lang="zh-CN" altLang="en-US" smtClean="0"/>
              <a:t>深圳地铁一期工程</a:t>
            </a:r>
            <a:endParaRPr lang="zh-CN" altLang="en-US" smtClean="0"/>
          </a:p>
        </p:txBody>
      </p:sp>
      <p:sp>
        <p:nvSpPr>
          <p:cNvPr id="65539" name="Rectangle 3"/>
          <p:cNvSpPr>
            <a:spLocks noGrp="1" noChangeArrowheads="1"/>
          </p:cNvSpPr>
          <p:nvPr>
            <p:ph type="body" idx="1"/>
          </p:nvPr>
        </p:nvSpPr>
        <p:spPr/>
        <p:txBody>
          <a:bodyPr/>
          <a:lstStyle/>
          <a:p>
            <a:pPr eaLnBrk="1" hangingPunct="1"/>
            <a:endParaRPr lang="zh-CN" altLang="en-US" smtClean="0"/>
          </a:p>
        </p:txBody>
      </p:sp>
      <p:pic>
        <p:nvPicPr>
          <p:cNvPr id="65540" name="Picture 1"/>
          <p:cNvPicPr>
            <a:picLocks noChangeAspect="1" noChangeArrowheads="1"/>
          </p:cNvPicPr>
          <p:nvPr/>
        </p:nvPicPr>
        <p:blipFill>
          <a:blip r:embed="rId1">
            <a:extLst>
              <a:ext uri="{28A0092B-C50C-407E-A947-70E740481C1C}">
                <a14:useLocalDpi xmlns:a14="http://schemas.microsoft.com/office/drawing/2010/main" val="0"/>
              </a:ext>
            </a:extLst>
          </a:blip>
          <a:srcRect l="12115" t="33253" r="11754" b="31084"/>
          <a:stretch>
            <a:fillRect/>
          </a:stretch>
        </p:blipFill>
        <p:spPr bwMode="auto">
          <a:xfrm>
            <a:off x="0" y="2043113"/>
            <a:ext cx="9144000" cy="368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zh-CN" altLang="en-US" smtClean="0"/>
              <a:t>城市轨道交通</a:t>
            </a:r>
            <a:endParaRPr lang="zh-CN" altLang="en-US" smtClean="0"/>
          </a:p>
        </p:txBody>
      </p:sp>
      <p:sp>
        <p:nvSpPr>
          <p:cNvPr id="390147" name="Rectangle 3"/>
          <p:cNvSpPr>
            <a:spLocks noGrp="1" noChangeArrowheads="1"/>
          </p:cNvSpPr>
          <p:nvPr>
            <p:ph type="body" idx="1"/>
          </p:nvPr>
        </p:nvSpPr>
        <p:spPr/>
        <p:txBody>
          <a:bodyPr/>
          <a:lstStyle/>
          <a:p>
            <a:pPr eaLnBrk="1" hangingPunct="1">
              <a:lnSpc>
                <a:spcPct val="90000"/>
              </a:lnSpc>
            </a:pPr>
            <a:r>
              <a:rPr lang="zh-CN" altLang="en-US" sz="3200" smtClean="0"/>
              <a:t>地铁：好！</a:t>
            </a:r>
            <a:endParaRPr lang="zh-CN" altLang="en-US" sz="3200" smtClean="0"/>
          </a:p>
          <a:p>
            <a:pPr lvl="1" eaLnBrk="1" hangingPunct="1">
              <a:lnSpc>
                <a:spcPct val="90000"/>
              </a:lnSpc>
            </a:pPr>
            <a:r>
              <a:rPr lang="zh-CN" altLang="en-US" sz="2800" smtClean="0"/>
              <a:t>安全舒适、快捷高效、节能环保、大容量公共交通</a:t>
            </a:r>
            <a:endParaRPr lang="zh-CN" altLang="en-US" sz="2800" smtClean="0"/>
          </a:p>
          <a:p>
            <a:pPr eaLnBrk="1" hangingPunct="1">
              <a:lnSpc>
                <a:spcPct val="90000"/>
              </a:lnSpc>
            </a:pPr>
            <a:r>
              <a:rPr lang="zh-CN" altLang="en-US" sz="3200" smtClean="0"/>
              <a:t>地铁：难！</a:t>
            </a:r>
            <a:endParaRPr lang="zh-CN" altLang="en-US" sz="3200" smtClean="0"/>
          </a:p>
          <a:p>
            <a:pPr lvl="1" eaLnBrk="1" hangingPunct="1">
              <a:lnSpc>
                <a:spcPct val="90000"/>
              </a:lnSpc>
            </a:pPr>
            <a:r>
              <a:rPr lang="zh-CN" altLang="en-US" smtClean="0"/>
              <a:t>建造成本昂贵</a:t>
            </a:r>
            <a:endParaRPr lang="zh-CN" altLang="en-US" smtClean="0"/>
          </a:p>
          <a:p>
            <a:pPr lvl="2" eaLnBrk="1" hangingPunct="1">
              <a:lnSpc>
                <a:spcPct val="90000"/>
              </a:lnSpc>
            </a:pPr>
            <a:r>
              <a:rPr lang="zh-CN" altLang="en-US" sz="2200" smtClean="0"/>
              <a:t>以每</a:t>
            </a:r>
            <a:r>
              <a:rPr lang="en-US" altLang="zh-CN" sz="2200" smtClean="0"/>
              <a:t>15km</a:t>
            </a:r>
            <a:r>
              <a:rPr lang="zh-CN" altLang="en-US" sz="2200" smtClean="0"/>
              <a:t>地铁线路费用为例：地面</a:t>
            </a:r>
            <a:r>
              <a:rPr lang="en-US" altLang="zh-CN" sz="2200" smtClean="0"/>
              <a:t>3.3</a:t>
            </a:r>
            <a:r>
              <a:rPr lang="zh-CN" altLang="en-US" sz="2200" smtClean="0"/>
              <a:t>亿美元，高架</a:t>
            </a:r>
            <a:r>
              <a:rPr lang="en-US" altLang="zh-CN" sz="2200" smtClean="0"/>
              <a:t>6.6</a:t>
            </a:r>
            <a:r>
              <a:rPr lang="zh-CN" altLang="en-US" sz="2200" smtClean="0"/>
              <a:t>亿美元，地下</a:t>
            </a:r>
            <a:r>
              <a:rPr lang="en-US" altLang="zh-CN" sz="2200" smtClean="0"/>
              <a:t>20.0</a:t>
            </a:r>
            <a:r>
              <a:rPr lang="zh-CN" altLang="en-US" sz="2200" smtClean="0"/>
              <a:t>亿美元</a:t>
            </a:r>
            <a:endParaRPr lang="en-US" altLang="zh-CN" sz="2200" smtClean="0"/>
          </a:p>
          <a:p>
            <a:pPr lvl="1" eaLnBrk="1" hangingPunct="1">
              <a:lnSpc>
                <a:spcPct val="90000"/>
              </a:lnSpc>
            </a:pPr>
            <a:r>
              <a:rPr lang="zh-CN" altLang="en-US" smtClean="0"/>
              <a:t>运营收入相对很低</a:t>
            </a:r>
            <a:endParaRPr lang="zh-CN" altLang="en-US" smtClean="0"/>
          </a:p>
          <a:p>
            <a:pPr lvl="2" eaLnBrk="1" hangingPunct="1">
              <a:lnSpc>
                <a:spcPct val="90000"/>
              </a:lnSpc>
            </a:pPr>
            <a:r>
              <a:rPr lang="zh-CN" altLang="en-US" sz="2200" smtClean="0"/>
              <a:t>纽约地铁的票价收入只够支付</a:t>
            </a:r>
            <a:r>
              <a:rPr lang="en-US" altLang="zh-CN" sz="2200" smtClean="0"/>
              <a:t>1/3</a:t>
            </a:r>
            <a:r>
              <a:rPr lang="zh-CN" altLang="en-US" sz="2200" smtClean="0"/>
              <a:t>的运营费用 </a:t>
            </a:r>
            <a:endParaRPr lang="zh-CN" altLang="en-US" sz="2200" smtClean="0"/>
          </a:p>
          <a:p>
            <a:pPr lvl="2" eaLnBrk="1" hangingPunct="1">
              <a:lnSpc>
                <a:spcPct val="90000"/>
              </a:lnSpc>
            </a:pPr>
            <a:r>
              <a:rPr lang="zh-CN" altLang="en-US" sz="2200" smtClean="0"/>
              <a:t>北京地铁的票价收入只相当于直接运营费用的</a:t>
            </a:r>
            <a:r>
              <a:rPr lang="en-US" altLang="zh-CN" sz="2200" smtClean="0"/>
              <a:t>30</a:t>
            </a:r>
            <a:r>
              <a:rPr lang="zh-CN" altLang="en-US" sz="2200" smtClean="0"/>
              <a:t>％</a:t>
            </a:r>
            <a:endParaRPr lang="zh-CN" altLang="en-US" sz="2200" smtClean="0"/>
          </a:p>
          <a:p>
            <a:pPr lvl="2" eaLnBrk="1" hangingPunct="1">
              <a:lnSpc>
                <a:spcPct val="90000"/>
              </a:lnSpc>
            </a:pPr>
            <a:r>
              <a:rPr lang="zh-CN" altLang="en-US" sz="2200" smtClean="0"/>
              <a:t>深圳地铁一期：全长</a:t>
            </a:r>
            <a:r>
              <a:rPr lang="en-US" altLang="zh-CN" sz="2200" smtClean="0"/>
              <a:t>21.866</a:t>
            </a:r>
            <a:r>
              <a:rPr lang="zh-CN" altLang="en-US" sz="2200" smtClean="0"/>
              <a:t>公里，总投资</a:t>
            </a:r>
            <a:r>
              <a:rPr lang="en-US" altLang="zh-CN" sz="2200" smtClean="0"/>
              <a:t>115.53</a:t>
            </a:r>
            <a:r>
              <a:rPr lang="zh-CN" altLang="en-US" sz="2200" smtClean="0"/>
              <a:t>亿元人民币</a:t>
            </a:r>
            <a:endParaRPr lang="zh-CN" altLang="en-US" sz="2200" smtClean="0"/>
          </a:p>
          <a:p>
            <a:pPr lvl="2" eaLnBrk="1" hangingPunct="1">
              <a:lnSpc>
                <a:spcPct val="90000"/>
              </a:lnSpc>
            </a:pPr>
            <a:r>
              <a:rPr lang="zh-CN" altLang="en-US" sz="3600" smtClean="0">
                <a:solidFill>
                  <a:srgbClr val="990000"/>
                </a:solidFill>
              </a:rPr>
              <a:t>怎么办？</a:t>
            </a:r>
            <a:endParaRPr lang="zh-CN" altLang="en-US" sz="3600" smtClean="0">
              <a:solidFill>
                <a:srgbClr val="99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0147">
                                            <p:txEl>
                                              <p:pRg st="2" end="2"/>
                                            </p:txEl>
                                          </p:spTgt>
                                        </p:tgtEl>
                                        <p:attrNameLst>
                                          <p:attrName>style.visibility</p:attrName>
                                        </p:attrNameLst>
                                      </p:cBhvr>
                                      <p:to>
                                        <p:strVal val="visible"/>
                                      </p:to>
                                    </p:set>
                                    <p:anim calcmode="lin" valueType="num">
                                      <p:cBhvr additive="base">
                                        <p:cTn id="7" dur="500" fill="hold"/>
                                        <p:tgtEl>
                                          <p:spTgt spid="39014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90147">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90147">
                                            <p:txEl>
                                              <p:pRg st="3" end="3"/>
                                            </p:txEl>
                                          </p:spTgt>
                                        </p:tgtEl>
                                        <p:attrNameLst>
                                          <p:attrName>style.visibility</p:attrName>
                                        </p:attrNameLst>
                                      </p:cBhvr>
                                      <p:to>
                                        <p:strVal val="visible"/>
                                      </p:to>
                                    </p:set>
                                    <p:anim calcmode="lin" valueType="num">
                                      <p:cBhvr additive="base">
                                        <p:cTn id="11" dur="500" fill="hold"/>
                                        <p:tgtEl>
                                          <p:spTgt spid="390147">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90147">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90147">
                                            <p:txEl>
                                              <p:pRg st="4" end="4"/>
                                            </p:txEl>
                                          </p:spTgt>
                                        </p:tgtEl>
                                        <p:attrNameLst>
                                          <p:attrName>style.visibility</p:attrName>
                                        </p:attrNameLst>
                                      </p:cBhvr>
                                      <p:to>
                                        <p:strVal val="visible"/>
                                      </p:to>
                                    </p:set>
                                    <p:anim calcmode="lin" valueType="num">
                                      <p:cBhvr additive="base">
                                        <p:cTn id="15" dur="500" fill="hold"/>
                                        <p:tgtEl>
                                          <p:spTgt spid="390147">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9014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390147">
                                            <p:txEl>
                                              <p:pRg st="5" end="5"/>
                                            </p:txEl>
                                          </p:spTgt>
                                        </p:tgtEl>
                                        <p:attrNameLst>
                                          <p:attrName>style.visibility</p:attrName>
                                        </p:attrNameLst>
                                      </p:cBhvr>
                                      <p:to>
                                        <p:strVal val="visible"/>
                                      </p:to>
                                    </p:set>
                                    <p:anim calcmode="lin" valueType="num">
                                      <p:cBhvr additive="base">
                                        <p:cTn id="21" dur="500" fill="hold"/>
                                        <p:tgtEl>
                                          <p:spTgt spid="390147">
                                            <p:txEl>
                                              <p:pRg st="5" end="5"/>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90147">
                                            <p:txEl>
                                              <p:pRg st="5" end="5"/>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90147">
                                            <p:txEl>
                                              <p:pRg st="6" end="6"/>
                                            </p:txEl>
                                          </p:spTgt>
                                        </p:tgtEl>
                                        <p:attrNameLst>
                                          <p:attrName>style.visibility</p:attrName>
                                        </p:attrNameLst>
                                      </p:cBhvr>
                                      <p:to>
                                        <p:strVal val="visible"/>
                                      </p:to>
                                    </p:set>
                                    <p:anim calcmode="lin" valueType="num">
                                      <p:cBhvr additive="base">
                                        <p:cTn id="25" dur="500" fill="hold"/>
                                        <p:tgtEl>
                                          <p:spTgt spid="390147">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90147">
                                            <p:txEl>
                                              <p:pRg st="6" end="6"/>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90147">
                                            <p:txEl>
                                              <p:pRg st="7" end="7"/>
                                            </p:txEl>
                                          </p:spTgt>
                                        </p:tgtEl>
                                        <p:attrNameLst>
                                          <p:attrName>style.visibility</p:attrName>
                                        </p:attrNameLst>
                                      </p:cBhvr>
                                      <p:to>
                                        <p:strVal val="visible"/>
                                      </p:to>
                                    </p:set>
                                    <p:anim calcmode="lin" valueType="num">
                                      <p:cBhvr additive="base">
                                        <p:cTn id="29" dur="500" fill="hold"/>
                                        <p:tgtEl>
                                          <p:spTgt spid="390147">
                                            <p:txEl>
                                              <p:pRg st="7" end="7"/>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90147">
                                            <p:txEl>
                                              <p:pRg st="7" end="7"/>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390147">
                                            <p:txEl>
                                              <p:pRg st="8" end="8"/>
                                            </p:txEl>
                                          </p:spTgt>
                                        </p:tgtEl>
                                        <p:attrNameLst>
                                          <p:attrName>style.visibility</p:attrName>
                                        </p:attrNameLst>
                                      </p:cBhvr>
                                      <p:to>
                                        <p:strVal val="visible"/>
                                      </p:to>
                                    </p:set>
                                    <p:anim calcmode="lin" valueType="num">
                                      <p:cBhvr additive="base">
                                        <p:cTn id="33" dur="500" fill="hold"/>
                                        <p:tgtEl>
                                          <p:spTgt spid="390147">
                                            <p:txEl>
                                              <p:pRg st="8" end="8"/>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90147">
                                            <p:txEl>
                                              <p:pRg st="8" end="8"/>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90147">
                                            <p:txEl>
                                              <p:pRg st="9" end="9"/>
                                            </p:txEl>
                                          </p:spTgt>
                                        </p:tgtEl>
                                        <p:attrNameLst>
                                          <p:attrName>style.visibility</p:attrName>
                                        </p:attrNameLst>
                                      </p:cBhvr>
                                      <p:to>
                                        <p:strVal val="visible"/>
                                      </p:to>
                                    </p:set>
                                    <p:anim calcmode="lin" valueType="num">
                                      <p:cBhvr additive="base">
                                        <p:cTn id="37" dur="500" fill="hold"/>
                                        <p:tgtEl>
                                          <p:spTgt spid="390147">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9014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p:txBody>
          <a:bodyPr/>
          <a:lstStyle/>
          <a:p>
            <a:pPr eaLnBrk="1" hangingPunct="1"/>
            <a:r>
              <a:rPr lang="zh-CN" altLang="en-US" smtClean="0"/>
              <a:t>不能只靠门票收入！</a:t>
            </a:r>
            <a:endParaRPr lang="zh-CN" altLang="en-US" smtClean="0"/>
          </a:p>
        </p:txBody>
      </p:sp>
      <p:sp>
        <p:nvSpPr>
          <p:cNvPr id="67587" name="Rectangle 3"/>
          <p:cNvSpPr>
            <a:spLocks noGrp="1" noChangeArrowheads="1"/>
          </p:cNvSpPr>
          <p:nvPr>
            <p:ph type="body" idx="1"/>
          </p:nvPr>
        </p:nvSpPr>
        <p:spPr/>
        <p:txBody>
          <a:bodyPr/>
          <a:lstStyle/>
          <a:p>
            <a:pPr eaLnBrk="1" hangingPunct="1"/>
            <a:r>
              <a:rPr lang="zh-CN" altLang="en-US" smtClean="0"/>
              <a:t>轨道交通能够给沿线土地（房地产）带来显著的增值效益。 </a:t>
            </a:r>
            <a:endParaRPr lang="zh-CN" altLang="en-US" smtClean="0"/>
          </a:p>
        </p:txBody>
      </p:sp>
      <p:pic>
        <p:nvPicPr>
          <p:cNvPr id="67588" name="Picture 4" descr="model"/>
          <p:cNvPicPr>
            <a:picLocks noChangeAspect="1" noChangeArrowheads="1"/>
          </p:cNvPicPr>
          <p:nvPr/>
        </p:nvPicPr>
        <p:blipFill>
          <a:blip r:embed="rId1" cstate="print">
            <a:extLst>
              <a:ext uri="{28A0092B-C50C-407E-A947-70E740481C1C}">
                <a14:useLocalDpi xmlns:a14="http://schemas.microsoft.com/office/drawing/2010/main" val="0"/>
              </a:ext>
            </a:extLst>
          </a:blip>
          <a:srcRect l="8754" t="7945"/>
          <a:stretch>
            <a:fillRect/>
          </a:stretch>
        </p:blipFill>
        <p:spPr bwMode="auto">
          <a:xfrm>
            <a:off x="5137150" y="2263775"/>
            <a:ext cx="3338513" cy="459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9" name="Rectangle 5"/>
          <p:cNvSpPr>
            <a:spLocks noChangeArrowheads="1"/>
          </p:cNvSpPr>
          <p:nvPr/>
        </p:nvSpPr>
        <p:spPr bwMode="auto">
          <a:xfrm rot="10800000" flipV="1">
            <a:off x="1147763" y="3128963"/>
            <a:ext cx="3455987" cy="301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1" hangingPunct="1">
              <a:buClr>
                <a:schemeClr val="folHlink"/>
              </a:buClr>
              <a:buSzPct val="60000"/>
              <a:buFont typeface="Wingdings" panose="05000000000000000000" pitchFamily="2" charset="2"/>
              <a:buNone/>
            </a:pPr>
            <a:r>
              <a:rPr kumimoji="1" lang="zh-CN" altLang="en-US" sz="2400" b="0">
                <a:latin typeface="楷体_GB2312" charset="-122"/>
              </a:rPr>
              <a:t> 香港机场地铁线全长</a:t>
            </a:r>
            <a:r>
              <a:rPr kumimoji="1" lang="en-US" altLang="zh-CN" sz="2400" b="0">
                <a:latin typeface="楷体_GB2312" charset="-122"/>
              </a:rPr>
              <a:t>34km</a:t>
            </a:r>
            <a:r>
              <a:rPr kumimoji="1" lang="zh-CN" altLang="en-US" sz="2400" b="0">
                <a:latin typeface="楷体_GB2312" charset="-122"/>
              </a:rPr>
              <a:t>，建设成本为</a:t>
            </a:r>
            <a:r>
              <a:rPr kumimoji="1" lang="en-US" altLang="zh-CN" sz="2400" b="0">
                <a:latin typeface="楷体_GB2312" charset="-122"/>
              </a:rPr>
              <a:t>351</a:t>
            </a:r>
            <a:r>
              <a:rPr kumimoji="1" lang="zh-CN" altLang="en-US" sz="2400" b="0">
                <a:latin typeface="楷体_GB2312" charset="-122"/>
              </a:rPr>
              <a:t>亿港元。</a:t>
            </a:r>
            <a:r>
              <a:rPr kumimoji="1" lang="en-US" altLang="zh-CN" sz="2400" b="0">
                <a:latin typeface="楷体_GB2312" charset="-122"/>
              </a:rPr>
              <a:t>5</a:t>
            </a:r>
            <a:r>
              <a:rPr kumimoji="1" lang="zh-CN" altLang="en-US" sz="2400" b="0">
                <a:latin typeface="楷体_GB2312" charset="-122"/>
              </a:rPr>
              <a:t>个联合开发的房地产项目，总建筑面积</a:t>
            </a:r>
            <a:r>
              <a:rPr kumimoji="1" lang="en-US" altLang="zh-CN" sz="2400" b="0">
                <a:latin typeface="楷体_GB2312" charset="-122"/>
              </a:rPr>
              <a:t>360</a:t>
            </a:r>
            <a:r>
              <a:rPr kumimoji="1" lang="zh-CN" altLang="en-US" sz="2400" b="0">
                <a:latin typeface="楷体_GB2312" charset="-122"/>
              </a:rPr>
              <a:t>万</a:t>
            </a:r>
            <a:r>
              <a:rPr kumimoji="1" lang="en-US" altLang="zh-CN" sz="2400" b="0">
                <a:latin typeface="楷体_GB2312" charset="-122"/>
              </a:rPr>
              <a:t>m</a:t>
            </a:r>
            <a:r>
              <a:rPr kumimoji="1" lang="en-US" altLang="zh-CN" sz="2400" b="0" baseline="30000">
                <a:latin typeface="楷体_GB2312" charset="-122"/>
              </a:rPr>
              <a:t>2</a:t>
            </a:r>
            <a:r>
              <a:rPr kumimoji="1" lang="zh-CN" altLang="en-US" sz="2400" b="0">
                <a:latin typeface="楷体_GB2312" charset="-122"/>
              </a:rPr>
              <a:t>，将为地铁公司带来</a:t>
            </a:r>
            <a:r>
              <a:rPr kumimoji="1" lang="en-US" altLang="zh-CN" sz="2400" b="0">
                <a:latin typeface="楷体_GB2312" charset="-122"/>
              </a:rPr>
              <a:t>180-200</a:t>
            </a:r>
            <a:r>
              <a:rPr kumimoji="1" lang="zh-CN" altLang="en-US" sz="2400" b="0">
                <a:latin typeface="楷体_GB2312" charset="-122"/>
              </a:rPr>
              <a:t>亿港元的收益，超过机场地铁线建设成本的</a:t>
            </a:r>
            <a:r>
              <a:rPr kumimoji="1" lang="en-US" altLang="zh-CN" sz="2400" b="0">
                <a:latin typeface="楷体_GB2312" charset="-122"/>
              </a:rPr>
              <a:t>50%</a:t>
            </a:r>
            <a:r>
              <a:rPr kumimoji="1" lang="zh-CN" altLang="en-US" sz="2400" b="0">
                <a:latin typeface="楷体_GB2312" charset="-122"/>
              </a:rPr>
              <a:t>。 </a:t>
            </a:r>
            <a:endParaRPr kumimoji="1" lang="zh-CN" altLang="en-US" sz="2400" b="0">
              <a:latin typeface="楷体_GB2312" charset="-122"/>
            </a:endParaRPr>
          </a:p>
        </p:txBody>
      </p:sp>
    </p:spTree>
  </p:cSld>
  <p:clrMapOvr>
    <a:masterClrMapping/>
  </p:clrMapOvr>
  <p:transition/>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p:txBody>
          <a:bodyPr/>
          <a:lstStyle/>
          <a:p>
            <a:pPr eaLnBrk="1" hangingPunct="1"/>
            <a:r>
              <a:rPr lang="zh-CN" altLang="en-US" sz="4000" smtClean="0"/>
              <a:t>城市轨道交通与沿线土地的联合开发</a:t>
            </a:r>
            <a:endParaRPr lang="zh-CN" altLang="en-US" sz="4000" smtClean="0"/>
          </a:p>
        </p:txBody>
      </p:sp>
      <p:sp>
        <p:nvSpPr>
          <p:cNvPr id="68611" name="Rectangle 3"/>
          <p:cNvSpPr>
            <a:spLocks noGrp="1" noChangeArrowheads="1"/>
          </p:cNvSpPr>
          <p:nvPr>
            <p:ph type="body" idx="1"/>
          </p:nvPr>
        </p:nvSpPr>
        <p:spPr/>
        <p:txBody>
          <a:bodyPr/>
          <a:lstStyle/>
          <a:p>
            <a:pPr eaLnBrk="1" hangingPunct="1"/>
            <a:endParaRPr lang="zh-CN" altLang="en-US" smtClean="0"/>
          </a:p>
        </p:txBody>
      </p:sp>
      <p:pic>
        <p:nvPicPr>
          <p:cNvPr id="68612" name="Picture 4"/>
          <p:cNvPicPr>
            <a:picLocks noChangeArrowheads="1"/>
          </p:cNvPicPr>
          <p:nvPr/>
        </p:nvPicPr>
        <p:blipFill>
          <a:blip r:embed="rId1">
            <a:extLst>
              <a:ext uri="{28A0092B-C50C-407E-A947-70E740481C1C}">
                <a14:useLocalDpi xmlns:a14="http://schemas.microsoft.com/office/drawing/2010/main" val="0"/>
              </a:ext>
            </a:extLst>
          </a:blip>
          <a:srcRect t="5922" b="7497"/>
          <a:stretch>
            <a:fillRect/>
          </a:stretch>
        </p:blipFill>
        <p:spPr bwMode="auto">
          <a:xfrm>
            <a:off x="4932363" y="2133600"/>
            <a:ext cx="4211637" cy="3933825"/>
          </a:xfrm>
          <a:prstGeom prst="rect">
            <a:avLst/>
          </a:prstGeom>
          <a:noFill/>
          <a:ln w="12700">
            <a:solidFill>
              <a:srgbClr val="FFCC99"/>
            </a:solidFill>
            <a:miter lim="800000"/>
            <a:headEnd/>
            <a:tailEnd/>
          </a:ln>
          <a:extLst>
            <a:ext uri="{909E8E84-426E-40DD-AFC4-6F175D3DCCD1}">
              <a14:hiddenFill xmlns:a14="http://schemas.microsoft.com/office/drawing/2010/main">
                <a:solidFill>
                  <a:srgbClr val="FFFFFF"/>
                </a:solidFill>
              </a14:hiddenFill>
            </a:ext>
          </a:extLst>
        </p:spPr>
      </p:pic>
      <p:sp>
        <p:nvSpPr>
          <p:cNvPr id="68613" name="Rectangle 5"/>
          <p:cNvSpPr>
            <a:spLocks noChangeArrowheads="1"/>
          </p:cNvSpPr>
          <p:nvPr/>
        </p:nvSpPr>
        <p:spPr bwMode="auto">
          <a:xfrm>
            <a:off x="228600" y="2057400"/>
            <a:ext cx="4572000"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kumimoji="1" lang="zh-CN" altLang="en-US" sz="2400" b="0" dirty="0">
                <a:latin typeface="楷体_GB2312" charset="-122"/>
              </a:rPr>
              <a:t>   在建于</a:t>
            </a:r>
            <a:r>
              <a:rPr kumimoji="1" lang="en-US" altLang="zh-CN" sz="2400" b="0" dirty="0">
                <a:latin typeface="楷体_GB2312" charset="-122"/>
              </a:rPr>
              <a:t>1975-1986</a:t>
            </a:r>
            <a:r>
              <a:rPr kumimoji="1" lang="zh-CN" altLang="en-US" sz="2400" b="0" dirty="0">
                <a:latin typeface="楷体_GB2312" charset="-122"/>
              </a:rPr>
              <a:t>年的</a:t>
            </a:r>
            <a:r>
              <a:rPr kumimoji="1" lang="en-US" altLang="zh-CN" sz="2400" b="0" dirty="0">
                <a:latin typeface="楷体_GB2312" charset="-122"/>
              </a:rPr>
              <a:t>3</a:t>
            </a:r>
            <a:r>
              <a:rPr kumimoji="1" lang="zh-CN" altLang="en-US" sz="2400" b="0" dirty="0">
                <a:latin typeface="楷体_GB2312" charset="-122"/>
              </a:rPr>
              <a:t>条铁路线上，香港地铁公司开发了</a:t>
            </a:r>
            <a:r>
              <a:rPr kumimoji="1" lang="en-US" altLang="zh-CN" sz="2400" b="0" dirty="0">
                <a:latin typeface="楷体_GB2312" charset="-122"/>
              </a:rPr>
              <a:t>18</a:t>
            </a:r>
            <a:r>
              <a:rPr kumimoji="1" lang="zh-CN" altLang="en-US" sz="2400" b="0" dirty="0">
                <a:latin typeface="楷体_GB2312" charset="-122"/>
              </a:rPr>
              <a:t>处房地产，其中</a:t>
            </a:r>
            <a:r>
              <a:rPr kumimoji="1" lang="en-US" altLang="zh-CN" sz="2400" b="0" dirty="0">
                <a:latin typeface="楷体_GB2312" charset="-122"/>
              </a:rPr>
              <a:t>10</a:t>
            </a:r>
            <a:r>
              <a:rPr kumimoji="1" lang="zh-CN" altLang="en-US" sz="2400" b="0" dirty="0">
                <a:latin typeface="楷体_GB2312" charset="-122"/>
              </a:rPr>
              <a:t>处不动产由香港地铁公司自行管理，包括</a:t>
            </a:r>
            <a:r>
              <a:rPr kumimoji="1" lang="en-US" altLang="zh-CN" sz="2400" b="0" dirty="0">
                <a:latin typeface="楷体_GB2312" charset="-122"/>
              </a:rPr>
              <a:t>28000</a:t>
            </a:r>
            <a:r>
              <a:rPr kumimoji="1" lang="zh-CN" altLang="en-US" sz="2400" b="0" dirty="0">
                <a:latin typeface="楷体_GB2312" charset="-122"/>
              </a:rPr>
              <a:t>套公寓、</a:t>
            </a:r>
            <a:r>
              <a:rPr kumimoji="1" lang="en-US" altLang="zh-CN" sz="2400" b="0" dirty="0">
                <a:latin typeface="楷体_GB2312" charset="-122"/>
              </a:rPr>
              <a:t>3</a:t>
            </a:r>
            <a:r>
              <a:rPr kumimoji="1" lang="zh-CN" altLang="en-US" sz="2400" b="0" dirty="0">
                <a:latin typeface="楷体_GB2312" charset="-122"/>
              </a:rPr>
              <a:t>个购物中心的</a:t>
            </a:r>
            <a:r>
              <a:rPr kumimoji="1" lang="en-US" altLang="zh-CN" sz="2400" b="0" dirty="0">
                <a:latin typeface="楷体_GB2312" charset="-122"/>
              </a:rPr>
              <a:t>150500㎡</a:t>
            </a:r>
            <a:r>
              <a:rPr kumimoji="1" lang="zh-CN" altLang="en-US" sz="2400" b="0" dirty="0">
                <a:latin typeface="楷体_GB2312" charset="-122"/>
              </a:rPr>
              <a:t>零售店及</a:t>
            </a:r>
            <a:r>
              <a:rPr kumimoji="1" lang="en-US" altLang="zh-CN" sz="2400" b="0" dirty="0">
                <a:latin typeface="楷体_GB2312" charset="-122"/>
              </a:rPr>
              <a:t>128500㎡</a:t>
            </a:r>
            <a:r>
              <a:rPr kumimoji="1" lang="zh-CN" altLang="en-US" sz="2400" b="0" dirty="0">
                <a:latin typeface="楷体_GB2312" charset="-122"/>
              </a:rPr>
              <a:t>写字楼。 </a:t>
            </a:r>
            <a:endParaRPr kumimoji="1" lang="zh-CN" altLang="en-US" sz="2400" b="0" dirty="0">
              <a:latin typeface="楷体_GB2312" charset="-122"/>
            </a:endParaRPr>
          </a:p>
          <a:p>
            <a:pPr>
              <a:spcBef>
                <a:spcPct val="0"/>
              </a:spcBef>
              <a:buFontTx/>
              <a:buNone/>
            </a:pPr>
            <a:r>
              <a:rPr kumimoji="1" lang="en-US" altLang="zh-CN" sz="2400" b="0" dirty="0">
                <a:latin typeface="楷体_GB2312" charset="-122"/>
              </a:rPr>
              <a:t>   3</a:t>
            </a:r>
            <a:r>
              <a:rPr kumimoji="1" lang="zh-CN" altLang="en-US" sz="2400" b="0" dirty="0">
                <a:latin typeface="楷体_GB2312" charset="-122"/>
              </a:rPr>
              <a:t>条城市地铁线的总建设成本为</a:t>
            </a:r>
            <a:r>
              <a:rPr kumimoji="1" lang="en-US" altLang="zh-CN" sz="2400" b="0" dirty="0">
                <a:latin typeface="楷体_GB2312" charset="-122"/>
              </a:rPr>
              <a:t>250</a:t>
            </a:r>
            <a:r>
              <a:rPr kumimoji="1" lang="zh-CN" altLang="en-US" sz="2400" b="0" dirty="0">
                <a:latin typeface="楷体_GB2312" charset="-122"/>
              </a:rPr>
              <a:t>亿港元，而</a:t>
            </a:r>
            <a:r>
              <a:rPr kumimoji="1" lang="en-US" altLang="zh-CN" sz="2400" b="0" dirty="0">
                <a:latin typeface="楷体_GB2312" charset="-122"/>
              </a:rPr>
              <a:t>18</a:t>
            </a:r>
            <a:r>
              <a:rPr kumimoji="1" lang="zh-CN" altLang="en-US" sz="2400" b="0" dirty="0">
                <a:latin typeface="楷体_GB2312" charset="-122"/>
              </a:rPr>
              <a:t>个房地产开发项目的收益为</a:t>
            </a:r>
            <a:r>
              <a:rPr kumimoji="1" lang="en-US" altLang="zh-CN" sz="2400" b="0" dirty="0">
                <a:latin typeface="楷体_GB2312" charset="-122"/>
              </a:rPr>
              <a:t>40</a:t>
            </a:r>
            <a:r>
              <a:rPr kumimoji="1" lang="zh-CN" altLang="en-US" sz="2400" b="0" dirty="0">
                <a:latin typeface="楷体_GB2312" charset="-122"/>
              </a:rPr>
              <a:t>亿港元，约占总建设成本的</a:t>
            </a:r>
            <a:r>
              <a:rPr kumimoji="1" lang="en-US" altLang="zh-CN" sz="2400" b="0" dirty="0">
                <a:latin typeface="楷体_GB2312" charset="-122"/>
              </a:rPr>
              <a:t>16%</a:t>
            </a:r>
            <a:r>
              <a:rPr kumimoji="1" lang="zh-CN" altLang="en-US" sz="2400" b="0" dirty="0">
                <a:latin typeface="楷体_GB2312" charset="-122"/>
              </a:rPr>
              <a:t>。 </a:t>
            </a:r>
            <a:endParaRPr kumimoji="1" lang="zh-CN" altLang="en-US" sz="2400" b="0" dirty="0">
              <a:latin typeface="楷体_GB2312" charset="-122"/>
            </a:endParaRPr>
          </a:p>
        </p:txBody>
      </p:sp>
    </p:spTree>
  </p:cSld>
  <p:clrMapOvr>
    <a:masterClrMapping/>
  </p:clrMapOvr>
  <p:transition/>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p:txBody>
          <a:bodyPr/>
          <a:lstStyle/>
          <a:p>
            <a:pPr eaLnBrk="1" hangingPunct="1"/>
            <a:r>
              <a:rPr lang="zh-CN" altLang="en-US" smtClean="0"/>
              <a:t>对深圳地铁一期工程的测算</a:t>
            </a:r>
            <a:endParaRPr lang="zh-CN" altLang="en-US" smtClean="0"/>
          </a:p>
        </p:txBody>
      </p:sp>
      <p:graphicFrame>
        <p:nvGraphicFramePr>
          <p:cNvPr id="392327" name="Group 135"/>
          <p:cNvGraphicFramePr>
            <a:graphicFrameLocks noGrp="1"/>
          </p:cNvGraphicFramePr>
          <p:nvPr>
            <p:ph idx="1"/>
          </p:nvPr>
        </p:nvGraphicFramePr>
        <p:xfrm>
          <a:off x="601663" y="1330325"/>
          <a:ext cx="7859712" cy="2735264"/>
        </p:xfrm>
        <a:graphic>
          <a:graphicData uri="http://schemas.openxmlformats.org/drawingml/2006/table">
            <a:tbl>
              <a:tblPr/>
              <a:tblGrid>
                <a:gridCol w="639762"/>
                <a:gridCol w="1400175"/>
                <a:gridCol w="1008063"/>
                <a:gridCol w="1379537"/>
                <a:gridCol w="1023938"/>
                <a:gridCol w="1382712"/>
                <a:gridCol w="1025525"/>
              </a:tblGrid>
              <a:tr h="547688">
                <a:tc row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物业</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性质</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最大增值区</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显著增值区</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c gridSpan="2">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增值区</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cPr/>
                </a:tc>
              </a:tr>
              <a:tr h="546100">
                <a:tc vMerge="1">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距离地铁站</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增值幅度</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距离地铁站</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增值幅度</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距离地铁站</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增值幅度</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768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住宅</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100 m ~200m </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30.62%</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100 m ~400m </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23.03%</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100 m ~600m </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16.95%</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6100">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商业</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100 m</a:t>
                      </a: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内</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26.47%</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100 m ~300m </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20.22%</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100 m ~500m </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14.70%</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r h="54768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办公</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100 m</a:t>
                      </a:r>
                      <a:r>
                        <a:rPr kumimoji="0" lang="zh-CN" altLang="en-US"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内</a:t>
                      </a:r>
                      <a:endParaRPr kumimoji="0" lang="zh-CN" altLang="en-US"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20.43%</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100 m ~300m </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15.40%</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100 m ~600m </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Times New Roman" panose="02020603050405020304" charset="0"/>
                          <a:ea typeface="楷体_GB2312" charset="-122"/>
                          <a:cs typeface="Times New Roman" panose="02020603050405020304" charset="0"/>
                        </a:rPr>
                        <a:t>10.11%</a:t>
                      </a:r>
                      <a:endParaRPr kumimoji="0" lang="en-US" altLang="zh-CN" sz="1600" b="1" i="0" u="none" strike="noStrike" cap="none" normalizeH="0" baseline="0">
                        <a:ln>
                          <a:noFill/>
                        </a:ln>
                        <a:solidFill>
                          <a:srgbClr val="000000"/>
                        </a:solidFill>
                        <a:effectLst/>
                        <a:latin typeface="Times New Roman" panose="02020603050405020304" charset="0"/>
                        <a:ea typeface="楷体_GB231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r>
            </a:tbl>
          </a:graphicData>
        </a:graphic>
      </p:graphicFrame>
      <p:pic>
        <p:nvPicPr>
          <p:cNvPr id="392374" name="Picture 4"/>
          <p:cNvPicPr>
            <a:picLocks noChangeAspect="1" noChangeArrowheads="1"/>
          </p:cNvPicPr>
          <p:nvPr/>
        </p:nvPicPr>
        <p:blipFill>
          <a:blip r:embed="rId1">
            <a:extLst>
              <a:ext uri="{28A0092B-C50C-407E-A947-70E740481C1C}">
                <a14:useLocalDpi xmlns:a14="http://schemas.microsoft.com/office/drawing/2010/main" val="0"/>
              </a:ext>
            </a:extLst>
          </a:blip>
          <a:srcRect l="10193"/>
          <a:stretch>
            <a:fillRect/>
          </a:stretch>
        </p:blipFill>
        <p:spPr bwMode="auto">
          <a:xfrm>
            <a:off x="601663" y="4283075"/>
            <a:ext cx="3973512" cy="259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2375" name="Text Box 183"/>
          <p:cNvSpPr txBox="1">
            <a:spLocks noChangeArrowheads="1"/>
          </p:cNvSpPr>
          <p:nvPr/>
        </p:nvSpPr>
        <p:spPr bwMode="auto">
          <a:xfrm>
            <a:off x="5029200" y="4414838"/>
            <a:ext cx="3643313"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50000"/>
              </a:spcBef>
              <a:buFontTx/>
              <a:buNone/>
            </a:pPr>
            <a:r>
              <a:rPr lang="zh-CN" altLang="en-US" sz="2400" b="0">
                <a:ea typeface="宋体" panose="02010600030101010101" pitchFamily="2" charset="-122"/>
              </a:rPr>
              <a:t>增值收益：</a:t>
            </a:r>
            <a:r>
              <a:rPr lang="en-US" altLang="zh-CN" sz="2400" b="0">
                <a:ea typeface="宋体" panose="02010600030101010101" pitchFamily="2" charset="-122"/>
              </a:rPr>
              <a:t>335.36</a:t>
            </a:r>
            <a:r>
              <a:rPr lang="zh-CN" altLang="en-US" sz="2400" b="0">
                <a:ea typeface="宋体" panose="02010600030101010101" pitchFamily="2" charset="-122"/>
              </a:rPr>
              <a:t>亿元</a:t>
            </a:r>
            <a:endParaRPr lang="zh-CN" altLang="en-US" sz="2400" b="0">
              <a:ea typeface="宋体" panose="02010600030101010101" pitchFamily="2" charset="-122"/>
            </a:endParaRPr>
          </a:p>
          <a:p>
            <a:pPr>
              <a:spcBef>
                <a:spcPct val="50000"/>
              </a:spcBef>
              <a:buFontTx/>
              <a:buNone/>
            </a:pPr>
            <a:r>
              <a:rPr lang="zh-CN" altLang="en-US" sz="2400" b="0">
                <a:ea typeface="宋体" panose="02010600030101010101" pitchFamily="2" charset="-122"/>
              </a:rPr>
              <a:t>是总投资的</a:t>
            </a:r>
            <a:r>
              <a:rPr lang="en-US" altLang="zh-CN" sz="2400" b="0">
                <a:solidFill>
                  <a:srgbClr val="990000"/>
                </a:solidFill>
                <a:ea typeface="宋体" panose="02010600030101010101" pitchFamily="2" charset="-122"/>
              </a:rPr>
              <a:t>2.92</a:t>
            </a:r>
            <a:r>
              <a:rPr lang="zh-CN" altLang="en-US" sz="2400" b="0">
                <a:ea typeface="宋体" panose="02010600030101010101" pitchFamily="2" charset="-122"/>
              </a:rPr>
              <a:t>倍！</a:t>
            </a:r>
            <a:endParaRPr lang="zh-CN" altLang="en-US" sz="2400" b="0">
              <a:ea typeface="宋体" panose="02010600030101010101" pitchFamily="2" charset="-122"/>
            </a:endParaRPr>
          </a:p>
          <a:p>
            <a:pPr>
              <a:spcBef>
                <a:spcPct val="50000"/>
              </a:spcBef>
              <a:buFontTx/>
              <a:buNone/>
            </a:pPr>
            <a:r>
              <a:rPr lang="zh-CN" altLang="en-US">
                <a:solidFill>
                  <a:srgbClr val="990000"/>
                </a:solidFill>
                <a:ea typeface="宋体" panose="02010600030101010101" pitchFamily="2" charset="-122"/>
              </a:rPr>
              <a:t>还有效益吗</a:t>
            </a:r>
            <a:r>
              <a:rPr lang="en-US" altLang="zh-CN">
                <a:solidFill>
                  <a:srgbClr val="990000"/>
                </a:solidFill>
                <a:ea typeface="宋体" panose="02010600030101010101" pitchFamily="2" charset="-122"/>
              </a:rPr>
              <a:t>?</a:t>
            </a:r>
            <a:endParaRPr lang="en-US" altLang="zh-CN">
              <a:solidFill>
                <a:srgbClr val="990000"/>
              </a:solidFill>
              <a:ea typeface="宋体" panose="0201060003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2374"/>
                                        </p:tgtEl>
                                        <p:attrNameLst>
                                          <p:attrName>style.visibility</p:attrName>
                                        </p:attrNameLst>
                                      </p:cBhvr>
                                      <p:to>
                                        <p:strVal val="visible"/>
                                      </p:to>
                                    </p:set>
                                    <p:animEffect transition="in" filter="blinds(horizontal)">
                                      <p:cBhvr>
                                        <p:cTn id="7" dur="500"/>
                                        <p:tgtEl>
                                          <p:spTgt spid="392374"/>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92375"/>
                                        </p:tgtEl>
                                        <p:attrNameLst>
                                          <p:attrName>style.visibility</p:attrName>
                                        </p:attrNameLst>
                                      </p:cBhvr>
                                      <p:to>
                                        <p:strVal val="visible"/>
                                      </p:to>
                                    </p:set>
                                    <p:animEffect transition="in" filter="blinds(horizontal)">
                                      <p:cBhvr>
                                        <p:cTn id="10" dur="500"/>
                                        <p:tgtEl>
                                          <p:spTgt spid="3923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2375"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pPr eaLnBrk="1" hangingPunct="1"/>
            <a:r>
              <a:rPr lang="zh-CN" altLang="en-US" sz="4000" smtClean="0"/>
              <a:t>“工程经济学”怎么分析这个问题？</a:t>
            </a:r>
            <a:endParaRPr lang="zh-CN" altLang="en-US" sz="4000" smtClean="0"/>
          </a:p>
        </p:txBody>
      </p:sp>
      <p:sp>
        <p:nvSpPr>
          <p:cNvPr id="396291" name="Rectangle 3"/>
          <p:cNvSpPr>
            <a:spLocks noGrp="1" noChangeArrowheads="1"/>
          </p:cNvSpPr>
          <p:nvPr>
            <p:ph type="body" idx="1"/>
          </p:nvPr>
        </p:nvSpPr>
        <p:spPr/>
        <p:txBody>
          <a:bodyPr/>
          <a:lstStyle/>
          <a:p>
            <a:pPr eaLnBrk="1" hangingPunct="1">
              <a:lnSpc>
                <a:spcPct val="90000"/>
              </a:lnSpc>
            </a:pPr>
            <a:r>
              <a:rPr lang="zh-CN" altLang="en-US" sz="3200" dirty="0" smtClean="0"/>
              <a:t>建设期（</a:t>
            </a:r>
            <a:r>
              <a:rPr lang="en-US" altLang="zh-CN" sz="3200" dirty="0" smtClean="0"/>
              <a:t>3</a:t>
            </a:r>
            <a:r>
              <a:rPr lang="zh-CN" altLang="en-US" sz="3200" dirty="0" smtClean="0"/>
              <a:t>年）</a:t>
            </a:r>
            <a:endParaRPr lang="zh-CN" altLang="en-US" sz="3200" dirty="0" smtClean="0"/>
          </a:p>
          <a:p>
            <a:pPr lvl="1" eaLnBrk="1" hangingPunct="1">
              <a:lnSpc>
                <a:spcPct val="90000"/>
              </a:lnSpc>
            </a:pPr>
            <a:r>
              <a:rPr lang="zh-CN" altLang="en-US" sz="2800" dirty="0" smtClean="0"/>
              <a:t>总投资：</a:t>
            </a:r>
            <a:r>
              <a:rPr lang="en-US" altLang="zh-CN" sz="2800" dirty="0" smtClean="0"/>
              <a:t>$$$$$$$$$</a:t>
            </a:r>
            <a:endParaRPr lang="en-US" altLang="zh-CN" sz="2800" dirty="0" smtClean="0"/>
          </a:p>
          <a:p>
            <a:pPr eaLnBrk="1" hangingPunct="1">
              <a:lnSpc>
                <a:spcPct val="90000"/>
              </a:lnSpc>
            </a:pPr>
            <a:r>
              <a:rPr lang="zh-CN" altLang="en-US" sz="3200" dirty="0" smtClean="0"/>
              <a:t>运营期（</a:t>
            </a:r>
            <a:r>
              <a:rPr lang="en-US" altLang="zh-CN" sz="3200" dirty="0" smtClean="0"/>
              <a:t>50</a:t>
            </a:r>
            <a:r>
              <a:rPr lang="zh-CN" altLang="en-US" sz="3200" dirty="0" smtClean="0"/>
              <a:t>年）</a:t>
            </a:r>
            <a:endParaRPr lang="zh-CN" altLang="en-US" sz="3200" dirty="0" smtClean="0"/>
          </a:p>
          <a:p>
            <a:pPr lvl="1" eaLnBrk="1" hangingPunct="1">
              <a:lnSpc>
                <a:spcPct val="90000"/>
              </a:lnSpc>
            </a:pPr>
            <a:r>
              <a:rPr lang="zh-CN" altLang="en-US" sz="2800" dirty="0" smtClean="0"/>
              <a:t>年运营成本：</a:t>
            </a:r>
            <a:r>
              <a:rPr lang="en-US" altLang="zh-CN" sz="2800" dirty="0" smtClean="0"/>
              <a:t>$$$</a:t>
            </a:r>
            <a:endParaRPr lang="en-US" altLang="zh-CN" sz="2800" dirty="0" smtClean="0"/>
          </a:p>
          <a:p>
            <a:pPr lvl="1" eaLnBrk="1" hangingPunct="1">
              <a:lnSpc>
                <a:spcPct val="90000"/>
              </a:lnSpc>
            </a:pPr>
            <a:r>
              <a:rPr lang="zh-CN" altLang="en-US" sz="2800" dirty="0" smtClean="0"/>
              <a:t>年运营收入：</a:t>
            </a:r>
            <a:r>
              <a:rPr lang="en-US" altLang="zh-CN" sz="2800" dirty="0" smtClean="0"/>
              <a:t>$$$$$$</a:t>
            </a:r>
            <a:endParaRPr lang="en-US" altLang="zh-CN" sz="2800" dirty="0" smtClean="0"/>
          </a:p>
          <a:p>
            <a:pPr lvl="2" eaLnBrk="1" hangingPunct="1">
              <a:lnSpc>
                <a:spcPct val="90000"/>
              </a:lnSpc>
            </a:pPr>
            <a:r>
              <a:rPr lang="zh-CN" altLang="en-US" sz="2400" dirty="0" smtClean="0"/>
              <a:t>票价收入：</a:t>
            </a:r>
            <a:r>
              <a:rPr lang="en-US" altLang="zh-CN" sz="2400" dirty="0" smtClean="0"/>
              <a:t>$</a:t>
            </a:r>
            <a:endParaRPr lang="en-US" altLang="zh-CN" sz="2400" dirty="0" smtClean="0"/>
          </a:p>
          <a:p>
            <a:pPr lvl="2" eaLnBrk="1" hangingPunct="1">
              <a:lnSpc>
                <a:spcPct val="90000"/>
              </a:lnSpc>
            </a:pPr>
            <a:r>
              <a:rPr lang="zh-CN" altLang="en-US" sz="2400" dirty="0" smtClean="0"/>
              <a:t>广告收入：</a:t>
            </a:r>
            <a:r>
              <a:rPr lang="en-US" altLang="zh-CN" sz="2400" dirty="0" smtClean="0"/>
              <a:t>$$</a:t>
            </a:r>
            <a:endParaRPr lang="en-US" altLang="zh-CN" sz="2400" dirty="0" smtClean="0"/>
          </a:p>
          <a:p>
            <a:pPr lvl="2" eaLnBrk="1" hangingPunct="1">
              <a:lnSpc>
                <a:spcPct val="90000"/>
              </a:lnSpc>
            </a:pPr>
            <a:r>
              <a:rPr lang="zh-CN" altLang="en-US" sz="2400" dirty="0" smtClean="0"/>
              <a:t>房地产收入：</a:t>
            </a:r>
            <a:r>
              <a:rPr lang="en-US" altLang="zh-CN" sz="2400" dirty="0" smtClean="0"/>
              <a:t>$$$$</a:t>
            </a:r>
            <a:endParaRPr lang="en-US" altLang="zh-CN" sz="2400" dirty="0" smtClean="0"/>
          </a:p>
          <a:p>
            <a:pPr eaLnBrk="1" hangingPunct="1">
              <a:lnSpc>
                <a:spcPct val="90000"/>
              </a:lnSpc>
            </a:pPr>
            <a:r>
              <a:rPr lang="zh-CN" altLang="en-US" sz="3200" dirty="0" smtClean="0"/>
              <a:t>求解：</a:t>
            </a:r>
            <a:endParaRPr lang="zh-CN" altLang="en-US" sz="3200" dirty="0" smtClean="0"/>
          </a:p>
          <a:p>
            <a:pPr lvl="1" eaLnBrk="1" hangingPunct="1">
              <a:lnSpc>
                <a:spcPct val="90000"/>
              </a:lnSpc>
            </a:pPr>
            <a:r>
              <a:rPr lang="zh-CN" altLang="en-US" sz="2800" dirty="0" smtClean="0"/>
              <a:t>这项投资值得吗？</a:t>
            </a:r>
            <a:endParaRPr lang="zh-CN" altLang="en-US" sz="2800" dirty="0" smtClean="0"/>
          </a:p>
          <a:p>
            <a:pPr lvl="2" eaLnBrk="1" hangingPunct="1">
              <a:lnSpc>
                <a:spcPct val="90000"/>
              </a:lnSpc>
            </a:pPr>
            <a:r>
              <a:rPr lang="zh-CN" altLang="en-US" sz="2400" dirty="0" smtClean="0"/>
              <a:t>收益率是多少？多少年收回投资？净赚多少？</a:t>
            </a:r>
            <a:endParaRPr lang="zh-CN" altLang="en-US" sz="2400" dirty="0"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96291">
                                            <p:txEl>
                                              <p:pRg st="2" end="2"/>
                                            </p:txEl>
                                          </p:spTgt>
                                        </p:tgtEl>
                                        <p:attrNameLst>
                                          <p:attrName>style.visibility</p:attrName>
                                        </p:attrNameLst>
                                      </p:cBhvr>
                                      <p:to>
                                        <p:strVal val="visible"/>
                                      </p:to>
                                    </p:set>
                                    <p:animEffect transition="in" filter="blinds(horizontal)">
                                      <p:cBhvr>
                                        <p:cTn id="7" dur="500"/>
                                        <p:tgtEl>
                                          <p:spTgt spid="396291">
                                            <p:txEl>
                                              <p:pRg st="2" end="2"/>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96291">
                                            <p:txEl>
                                              <p:pRg st="3" end="3"/>
                                            </p:txEl>
                                          </p:spTgt>
                                        </p:tgtEl>
                                        <p:attrNameLst>
                                          <p:attrName>style.visibility</p:attrName>
                                        </p:attrNameLst>
                                      </p:cBhvr>
                                      <p:to>
                                        <p:strVal val="visible"/>
                                      </p:to>
                                    </p:set>
                                    <p:animEffect transition="in" filter="blinds(horizontal)">
                                      <p:cBhvr>
                                        <p:cTn id="10" dur="500"/>
                                        <p:tgtEl>
                                          <p:spTgt spid="396291">
                                            <p:txEl>
                                              <p:pRg st="3" end="3"/>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96291">
                                            <p:txEl>
                                              <p:pRg st="4" end="4"/>
                                            </p:txEl>
                                          </p:spTgt>
                                        </p:tgtEl>
                                        <p:attrNameLst>
                                          <p:attrName>style.visibility</p:attrName>
                                        </p:attrNameLst>
                                      </p:cBhvr>
                                      <p:to>
                                        <p:strVal val="visible"/>
                                      </p:to>
                                    </p:set>
                                    <p:animEffect transition="in" filter="blinds(horizontal)">
                                      <p:cBhvr>
                                        <p:cTn id="13" dur="500"/>
                                        <p:tgtEl>
                                          <p:spTgt spid="396291">
                                            <p:txEl>
                                              <p:pRg st="4" end="4"/>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96291">
                                            <p:txEl>
                                              <p:pRg st="5" end="5"/>
                                            </p:txEl>
                                          </p:spTgt>
                                        </p:tgtEl>
                                        <p:attrNameLst>
                                          <p:attrName>style.visibility</p:attrName>
                                        </p:attrNameLst>
                                      </p:cBhvr>
                                      <p:to>
                                        <p:strVal val="visible"/>
                                      </p:to>
                                    </p:set>
                                    <p:animEffect transition="in" filter="blinds(horizontal)">
                                      <p:cBhvr>
                                        <p:cTn id="16" dur="500"/>
                                        <p:tgtEl>
                                          <p:spTgt spid="396291">
                                            <p:txEl>
                                              <p:pRg st="5" end="5"/>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396291">
                                            <p:txEl>
                                              <p:pRg st="6" end="6"/>
                                            </p:txEl>
                                          </p:spTgt>
                                        </p:tgtEl>
                                        <p:attrNameLst>
                                          <p:attrName>style.visibility</p:attrName>
                                        </p:attrNameLst>
                                      </p:cBhvr>
                                      <p:to>
                                        <p:strVal val="visible"/>
                                      </p:to>
                                    </p:set>
                                    <p:animEffect transition="in" filter="blinds(horizontal)">
                                      <p:cBhvr>
                                        <p:cTn id="19" dur="500"/>
                                        <p:tgtEl>
                                          <p:spTgt spid="396291">
                                            <p:txEl>
                                              <p:pRg st="6" end="6"/>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396291">
                                            <p:txEl>
                                              <p:pRg st="7" end="7"/>
                                            </p:txEl>
                                          </p:spTgt>
                                        </p:tgtEl>
                                        <p:attrNameLst>
                                          <p:attrName>style.visibility</p:attrName>
                                        </p:attrNameLst>
                                      </p:cBhvr>
                                      <p:to>
                                        <p:strVal val="visible"/>
                                      </p:to>
                                    </p:set>
                                    <p:animEffect transition="in" filter="blinds(horizontal)">
                                      <p:cBhvr>
                                        <p:cTn id="22" dur="500"/>
                                        <p:tgtEl>
                                          <p:spTgt spid="396291">
                                            <p:txEl>
                                              <p:pRg st="7" end="7"/>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96291">
                                            <p:txEl>
                                              <p:pRg st="8" end="8"/>
                                            </p:txEl>
                                          </p:spTgt>
                                        </p:tgtEl>
                                        <p:attrNameLst>
                                          <p:attrName>style.visibility</p:attrName>
                                        </p:attrNameLst>
                                      </p:cBhvr>
                                      <p:to>
                                        <p:strVal val="visible"/>
                                      </p:to>
                                    </p:set>
                                    <p:animEffect transition="in" filter="blinds(horizontal)">
                                      <p:cBhvr>
                                        <p:cTn id="27" dur="500"/>
                                        <p:tgtEl>
                                          <p:spTgt spid="396291">
                                            <p:txEl>
                                              <p:pRg st="8" end="8"/>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396291">
                                            <p:txEl>
                                              <p:pRg st="9" end="9"/>
                                            </p:txEl>
                                          </p:spTgt>
                                        </p:tgtEl>
                                        <p:attrNameLst>
                                          <p:attrName>style.visibility</p:attrName>
                                        </p:attrNameLst>
                                      </p:cBhvr>
                                      <p:to>
                                        <p:strVal val="visible"/>
                                      </p:to>
                                    </p:set>
                                    <p:animEffect transition="in" filter="blinds(horizontal)">
                                      <p:cBhvr>
                                        <p:cTn id="30" dur="500"/>
                                        <p:tgtEl>
                                          <p:spTgt spid="396291">
                                            <p:txEl>
                                              <p:pRg st="9" end="9"/>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396291">
                                            <p:txEl>
                                              <p:pRg st="10" end="10"/>
                                            </p:txEl>
                                          </p:spTgt>
                                        </p:tgtEl>
                                        <p:attrNameLst>
                                          <p:attrName>style.visibility</p:attrName>
                                        </p:attrNameLst>
                                      </p:cBhvr>
                                      <p:to>
                                        <p:strVal val="visible"/>
                                      </p:to>
                                    </p:set>
                                    <p:animEffect transition="in" filter="blinds(horizontal)">
                                      <p:cBhvr>
                                        <p:cTn id="33" dur="500"/>
                                        <p:tgtEl>
                                          <p:spTgt spid="396291">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noChangeArrowheads="1"/>
          </p:cNvSpPr>
          <p:nvPr>
            <p:ph type="title"/>
          </p:nvPr>
        </p:nvSpPr>
        <p:spPr/>
        <p:txBody>
          <a:bodyPr/>
          <a:lstStyle/>
          <a:p>
            <a:pPr eaLnBrk="1" hangingPunct="1"/>
            <a:r>
              <a:rPr lang="zh-CN" altLang="en-US" dirty="0"/>
              <a:t>火神山医院</a:t>
            </a:r>
            <a:endParaRPr lang="zh-CN" altLang="en-US" dirty="0"/>
          </a:p>
        </p:txBody>
      </p:sp>
      <p:sp>
        <p:nvSpPr>
          <p:cNvPr id="49155" name="内容占位符 2"/>
          <p:cNvSpPr>
            <a:spLocks noGrp="1" noChangeArrowheads="1"/>
          </p:cNvSpPr>
          <p:nvPr>
            <p:ph idx="1"/>
          </p:nvPr>
        </p:nvSpPr>
        <p:spPr/>
        <p:txBody>
          <a:bodyPr/>
          <a:lstStyle/>
          <a:p>
            <a:r>
              <a:rPr lang="zh-CN" altLang="en-US" sz="2550" dirty="0"/>
              <a:t>火神山</a:t>
            </a:r>
            <a:r>
              <a:rPr lang="zh-CN" altLang="en-US" sz="2550" dirty="0" smtClean="0"/>
              <a:t>医院位于</a:t>
            </a:r>
            <a:r>
              <a:rPr lang="zh-CN" altLang="en-US" sz="2550" dirty="0"/>
              <a:t>武汉市蔡甸区知音湖大道，是参照</a:t>
            </a:r>
            <a:r>
              <a:rPr lang="en-US" altLang="zh-CN" sz="2550" dirty="0"/>
              <a:t>2003</a:t>
            </a:r>
            <a:r>
              <a:rPr lang="zh-CN" altLang="en-US" sz="2550" dirty="0"/>
              <a:t>年抗击非典期间“北京小汤山医院”模式，在武汉职工疗养院，建设一座专门医院，集中收治新型冠状病毒肺炎患者。</a:t>
            </a:r>
            <a:endParaRPr lang="en-US" altLang="zh-CN" sz="2550" dirty="0"/>
          </a:p>
          <a:p>
            <a:pPr lvl="1"/>
            <a:r>
              <a:rPr lang="zh-CN" altLang="en-US" sz="2100" dirty="0"/>
              <a:t>医院等级：三级</a:t>
            </a:r>
            <a:endParaRPr lang="en-US" altLang="zh-CN" sz="2100" dirty="0"/>
          </a:p>
          <a:p>
            <a:pPr lvl="1"/>
            <a:r>
              <a:rPr lang="zh-CN" altLang="en-US" sz="2100" dirty="0"/>
              <a:t>总建筑面积：</a:t>
            </a:r>
            <a:r>
              <a:rPr lang="en-US" altLang="zh-CN" sz="2100" dirty="0"/>
              <a:t>3.39</a:t>
            </a:r>
            <a:r>
              <a:rPr lang="zh-CN" altLang="en-US" sz="2100" dirty="0"/>
              <a:t>万</a:t>
            </a:r>
            <a:r>
              <a:rPr lang="en-US" altLang="zh-CN" sz="2100" dirty="0"/>
              <a:t>m²</a:t>
            </a:r>
            <a:endParaRPr lang="en-US" altLang="zh-CN" sz="2100" dirty="0"/>
          </a:p>
          <a:p>
            <a:pPr lvl="1"/>
            <a:r>
              <a:rPr lang="zh-CN" altLang="en-US" sz="2100" dirty="0"/>
              <a:t>病床数量：</a:t>
            </a:r>
            <a:r>
              <a:rPr lang="en-US" altLang="zh-CN" sz="2100" dirty="0"/>
              <a:t>1000</a:t>
            </a:r>
            <a:r>
              <a:rPr lang="zh-CN" altLang="en-US" sz="2100" dirty="0"/>
              <a:t>张</a:t>
            </a:r>
            <a:endParaRPr lang="en-US" altLang="zh-CN" sz="2100" dirty="0"/>
          </a:p>
          <a:p>
            <a:pPr lvl="1"/>
            <a:r>
              <a:rPr lang="zh-CN" altLang="en-US" sz="2100" dirty="0"/>
              <a:t>占地面积约： </a:t>
            </a:r>
            <a:r>
              <a:rPr lang="en-US" altLang="zh-CN" sz="2100" dirty="0"/>
              <a:t>5</a:t>
            </a:r>
            <a:r>
              <a:rPr lang="zh-CN" altLang="en-US" sz="2100" dirty="0"/>
              <a:t>万</a:t>
            </a:r>
            <a:r>
              <a:rPr lang="en-US" altLang="zh-CN" sz="2100" dirty="0"/>
              <a:t>m²</a:t>
            </a:r>
            <a:endParaRPr lang="en-US" altLang="zh-CN" sz="2100" dirty="0"/>
          </a:p>
          <a:p>
            <a:pPr lvl="1"/>
            <a:r>
              <a:rPr lang="zh-CN" altLang="en-US" sz="2100" dirty="0"/>
              <a:t>始建时间：</a:t>
            </a:r>
            <a:r>
              <a:rPr lang="en-US" altLang="zh-CN" sz="2100" dirty="0"/>
              <a:t>2020</a:t>
            </a:r>
            <a:r>
              <a:rPr lang="zh-CN" altLang="en-US" sz="2100" dirty="0"/>
              <a:t>年</a:t>
            </a:r>
            <a:r>
              <a:rPr lang="en-US" altLang="zh-CN" sz="2100" dirty="0"/>
              <a:t>1</a:t>
            </a:r>
            <a:r>
              <a:rPr lang="zh-CN" altLang="en-US" sz="2100" dirty="0"/>
              <a:t>月</a:t>
            </a:r>
            <a:r>
              <a:rPr lang="en-US" altLang="zh-CN" sz="2100" dirty="0"/>
              <a:t>23</a:t>
            </a:r>
            <a:r>
              <a:rPr lang="zh-CN" altLang="en-US" sz="2100" dirty="0"/>
              <a:t>日</a:t>
            </a:r>
            <a:endParaRPr lang="en-US" altLang="zh-CN" sz="2100" dirty="0"/>
          </a:p>
          <a:p>
            <a:pPr lvl="1"/>
            <a:r>
              <a:rPr lang="zh-CN" altLang="en-US" sz="2100" dirty="0"/>
              <a:t>交付时间：</a:t>
            </a:r>
            <a:r>
              <a:rPr lang="en-US" altLang="zh-CN" sz="2100" dirty="0"/>
              <a:t>2020</a:t>
            </a:r>
            <a:r>
              <a:rPr lang="zh-CN" altLang="en-US" sz="2100" dirty="0"/>
              <a:t>年</a:t>
            </a:r>
            <a:r>
              <a:rPr lang="en-US" altLang="zh-CN" sz="2100" dirty="0"/>
              <a:t>2</a:t>
            </a:r>
            <a:r>
              <a:rPr lang="zh-CN" altLang="en-US" sz="2100" dirty="0"/>
              <a:t>月</a:t>
            </a:r>
            <a:r>
              <a:rPr lang="en-US" altLang="zh-CN" sz="2100" dirty="0"/>
              <a:t>2</a:t>
            </a:r>
            <a:r>
              <a:rPr lang="zh-CN" altLang="en-US" sz="2100" dirty="0"/>
              <a:t>日</a:t>
            </a:r>
            <a:endParaRPr lang="en-US" altLang="zh-CN" sz="2100" dirty="0"/>
          </a:p>
          <a:p>
            <a:pPr lvl="1"/>
            <a:r>
              <a:rPr lang="zh-CN" altLang="en-US" sz="2100" dirty="0"/>
              <a:t>开放时间：</a:t>
            </a:r>
            <a:r>
              <a:rPr lang="en-US" altLang="zh-CN" sz="2100" dirty="0"/>
              <a:t>2020</a:t>
            </a:r>
            <a:r>
              <a:rPr lang="zh-CN" altLang="en-US" sz="2100" dirty="0"/>
              <a:t>年</a:t>
            </a:r>
            <a:r>
              <a:rPr lang="en-US" altLang="zh-CN" sz="2100" dirty="0"/>
              <a:t>2</a:t>
            </a:r>
            <a:r>
              <a:rPr lang="zh-CN" altLang="en-US" sz="2100" dirty="0"/>
              <a:t>月</a:t>
            </a:r>
            <a:r>
              <a:rPr lang="en-US" altLang="zh-CN" sz="2100" dirty="0"/>
              <a:t>4</a:t>
            </a:r>
            <a:r>
              <a:rPr lang="zh-CN" altLang="en-US" sz="2100" dirty="0"/>
              <a:t>日</a:t>
            </a:r>
            <a:endParaRPr lang="en-US" altLang="zh-CN" sz="2100" dirty="0"/>
          </a:p>
        </p:txBody>
      </p:sp>
      <p:pic>
        <p:nvPicPr>
          <p:cNvPr id="5" name="图片 4"/>
          <p:cNvPicPr>
            <a:picLocks noChangeAspect="1"/>
          </p:cNvPicPr>
          <p:nvPr/>
        </p:nvPicPr>
        <p:blipFill>
          <a:blip r:embed="rId1"/>
          <a:stretch>
            <a:fillRect/>
          </a:stretch>
        </p:blipFill>
        <p:spPr>
          <a:xfrm>
            <a:off x="4572000" y="3172968"/>
            <a:ext cx="4256532" cy="2837688"/>
          </a:xfrm>
          <a:prstGeom prst="rect">
            <a:avLst/>
          </a:prstGeom>
        </p:spPr>
      </p:pic>
    </p:spTree>
  </p:cSld>
  <p:clrMapOvr>
    <a:masterClrMapping/>
  </p:clrMapOvr>
  <p:transition/>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defRPr/>
            </a:pPr>
            <a:r>
              <a:rPr lang="zh-CN" altLang="en-US" sz="2850" dirty="0">
                <a:solidFill>
                  <a:srgbClr val="990000"/>
                </a:solidFill>
                <a:latin typeface="+mj-lt"/>
                <a:ea typeface="+mj-ea"/>
              </a:rPr>
              <a:t>中国速度</a:t>
            </a:r>
            <a:endParaRPr lang="en-US" altLang="zh-CN" sz="2850" dirty="0">
              <a:solidFill>
                <a:srgbClr val="990000"/>
              </a:solidFill>
              <a:latin typeface="+mj-lt"/>
              <a:ea typeface="+mj-ea"/>
            </a:endParaRPr>
          </a:p>
          <a:p>
            <a:pPr lvl="1">
              <a:defRPr/>
            </a:pPr>
            <a:r>
              <a:rPr lang="zh-CN" altLang="en-US" sz="2250" dirty="0"/>
              <a:t>设计：</a:t>
            </a:r>
            <a:r>
              <a:rPr lang="en-US" altLang="zh-CN" sz="2250" dirty="0">
                <a:solidFill>
                  <a:srgbClr val="FF0000"/>
                </a:solidFill>
              </a:rPr>
              <a:t>2020</a:t>
            </a:r>
            <a:r>
              <a:rPr lang="zh-CN" altLang="en-US" sz="2250" dirty="0">
                <a:solidFill>
                  <a:srgbClr val="FF0000"/>
                </a:solidFill>
              </a:rPr>
              <a:t>年</a:t>
            </a:r>
            <a:r>
              <a:rPr lang="en-US" altLang="zh-CN" sz="2250" dirty="0">
                <a:solidFill>
                  <a:srgbClr val="FF0000"/>
                </a:solidFill>
              </a:rPr>
              <a:t>1</a:t>
            </a:r>
            <a:r>
              <a:rPr lang="zh-CN" altLang="en-US" sz="2250" dirty="0">
                <a:solidFill>
                  <a:srgbClr val="FF0000"/>
                </a:solidFill>
              </a:rPr>
              <a:t>月</a:t>
            </a:r>
            <a:r>
              <a:rPr lang="en-US" altLang="zh-CN" sz="2250" dirty="0">
                <a:solidFill>
                  <a:srgbClr val="FF0000"/>
                </a:solidFill>
              </a:rPr>
              <a:t>23</a:t>
            </a:r>
            <a:r>
              <a:rPr lang="zh-CN" altLang="en-US" sz="2250" dirty="0">
                <a:solidFill>
                  <a:srgbClr val="FF0000"/>
                </a:solidFill>
              </a:rPr>
              <a:t>日下午</a:t>
            </a:r>
            <a:r>
              <a:rPr lang="zh-CN" altLang="en-US" sz="2250" dirty="0"/>
              <a:t>，中信建筑设计研究总院接到武汉火神山医院的紧急设计任务，迅速组建起</a:t>
            </a:r>
            <a:r>
              <a:rPr lang="en-US" altLang="zh-CN" sz="2250" dirty="0"/>
              <a:t>60</a:t>
            </a:r>
            <a:r>
              <a:rPr lang="zh-CN" altLang="en-US" sz="2250" dirty="0"/>
              <a:t>余人的项目组，</a:t>
            </a:r>
            <a:r>
              <a:rPr lang="en-US" altLang="zh-CN" sz="2250" dirty="0">
                <a:solidFill>
                  <a:srgbClr val="FF0000"/>
                </a:solidFill>
              </a:rPr>
              <a:t>5</a:t>
            </a:r>
            <a:r>
              <a:rPr lang="zh-CN" altLang="en-US" sz="2250" dirty="0">
                <a:solidFill>
                  <a:srgbClr val="FF0000"/>
                </a:solidFill>
              </a:rPr>
              <a:t>小时</a:t>
            </a:r>
            <a:r>
              <a:rPr lang="zh-CN" altLang="en-US" sz="2250" dirty="0"/>
              <a:t>内完成场地平整设计图，</a:t>
            </a:r>
            <a:r>
              <a:rPr lang="en-US" altLang="zh-CN" sz="2250" dirty="0">
                <a:solidFill>
                  <a:srgbClr val="FF0000"/>
                </a:solidFill>
              </a:rPr>
              <a:t>24</a:t>
            </a:r>
            <a:r>
              <a:rPr lang="zh-CN" altLang="en-US" sz="2250" dirty="0">
                <a:solidFill>
                  <a:srgbClr val="FF0000"/>
                </a:solidFill>
              </a:rPr>
              <a:t>小时内</a:t>
            </a:r>
            <a:r>
              <a:rPr lang="zh-CN" altLang="en-US" sz="2250" dirty="0"/>
              <a:t>完成方案设计图，获武汉市政府认可，经</a:t>
            </a:r>
            <a:r>
              <a:rPr lang="en-US" altLang="zh-CN" sz="2250" dirty="0">
                <a:solidFill>
                  <a:srgbClr val="FF0000"/>
                </a:solidFill>
              </a:rPr>
              <a:t>60</a:t>
            </a:r>
            <a:r>
              <a:rPr lang="zh-CN" altLang="en-US" sz="2250" dirty="0">
                <a:solidFill>
                  <a:srgbClr val="FF0000"/>
                </a:solidFill>
              </a:rPr>
              <a:t>小时</a:t>
            </a:r>
            <a:r>
              <a:rPr lang="zh-CN" altLang="en-US" sz="2250" dirty="0"/>
              <a:t>连续奋战，至</a:t>
            </a:r>
            <a:r>
              <a:rPr lang="en-US" altLang="zh-CN" sz="2250" dirty="0">
                <a:solidFill>
                  <a:srgbClr val="FF0000"/>
                </a:solidFill>
              </a:rPr>
              <a:t>1</a:t>
            </a:r>
            <a:r>
              <a:rPr lang="zh-CN" altLang="en-US" sz="2250" dirty="0">
                <a:solidFill>
                  <a:srgbClr val="FF0000"/>
                </a:solidFill>
              </a:rPr>
              <a:t>月</a:t>
            </a:r>
            <a:r>
              <a:rPr lang="en-US" altLang="zh-CN" sz="2250" dirty="0">
                <a:solidFill>
                  <a:srgbClr val="FF0000"/>
                </a:solidFill>
              </a:rPr>
              <a:t>26</a:t>
            </a:r>
            <a:r>
              <a:rPr lang="zh-CN" altLang="en-US" sz="2250" dirty="0">
                <a:solidFill>
                  <a:srgbClr val="FF0000"/>
                </a:solidFill>
              </a:rPr>
              <a:t>日凌晨</a:t>
            </a:r>
            <a:r>
              <a:rPr lang="zh-CN" altLang="en-US" sz="2250" dirty="0"/>
              <a:t>交付全部施工图。</a:t>
            </a:r>
            <a:endParaRPr lang="en-US" altLang="zh-CN" sz="2250" dirty="0"/>
          </a:p>
          <a:p>
            <a:pPr lvl="1">
              <a:defRPr/>
            </a:pPr>
            <a:r>
              <a:rPr lang="zh-CN" altLang="en-US" sz="2250" dirty="0"/>
              <a:t>施工：</a:t>
            </a:r>
            <a:r>
              <a:rPr lang="en-US" altLang="zh-CN" sz="2250" dirty="0">
                <a:solidFill>
                  <a:srgbClr val="FF0000"/>
                </a:solidFill>
              </a:rPr>
              <a:t>1</a:t>
            </a:r>
            <a:r>
              <a:rPr lang="zh-CN" altLang="en-US" sz="2250" dirty="0">
                <a:solidFill>
                  <a:srgbClr val="FF0000"/>
                </a:solidFill>
              </a:rPr>
              <a:t>月</a:t>
            </a:r>
            <a:r>
              <a:rPr lang="en-US" altLang="zh-CN" sz="2250" dirty="0">
                <a:solidFill>
                  <a:srgbClr val="FF0000"/>
                </a:solidFill>
              </a:rPr>
              <a:t>23</a:t>
            </a:r>
            <a:r>
              <a:rPr lang="zh-CN" altLang="en-US" sz="2250" dirty="0">
                <a:solidFill>
                  <a:srgbClr val="FF0000"/>
                </a:solidFill>
              </a:rPr>
              <a:t>日</a:t>
            </a:r>
            <a:r>
              <a:rPr lang="en-US" altLang="zh-CN" sz="2250" dirty="0">
                <a:solidFill>
                  <a:srgbClr val="FF0000"/>
                </a:solidFill>
              </a:rPr>
              <a:t>17</a:t>
            </a:r>
            <a:r>
              <a:rPr lang="zh-CN" altLang="en-US" sz="2250" dirty="0">
                <a:solidFill>
                  <a:srgbClr val="FF0000"/>
                </a:solidFill>
              </a:rPr>
              <a:t>时</a:t>
            </a:r>
            <a:r>
              <a:rPr lang="zh-CN" altLang="en-US" sz="2250" dirty="0"/>
              <a:t>，中建三局召开应急医院施工筹备会，即刻筹备各项施工资源。</a:t>
            </a:r>
            <a:r>
              <a:rPr lang="en-US" altLang="zh-CN" sz="2250" dirty="0">
                <a:solidFill>
                  <a:srgbClr val="FF0000"/>
                </a:solidFill>
              </a:rPr>
              <a:t>22</a:t>
            </a:r>
            <a:r>
              <a:rPr lang="zh-CN" altLang="en-US" sz="2250" dirty="0">
                <a:solidFill>
                  <a:srgbClr val="FF0000"/>
                </a:solidFill>
              </a:rPr>
              <a:t>时</a:t>
            </a:r>
            <a:r>
              <a:rPr lang="zh-CN" altLang="en-US" sz="2250" dirty="0"/>
              <a:t>，上百台挖掘机、推土机等施工机械紧急集合，通宵进行场平、回填等施工。</a:t>
            </a:r>
            <a:r>
              <a:rPr lang="en-US" altLang="zh-CN" sz="2250" dirty="0">
                <a:solidFill>
                  <a:srgbClr val="FF0000"/>
                </a:solidFill>
              </a:rPr>
              <a:t>1</a:t>
            </a:r>
            <a:r>
              <a:rPr lang="zh-CN" altLang="en-US" sz="2250" dirty="0">
                <a:solidFill>
                  <a:srgbClr val="FF0000"/>
                </a:solidFill>
              </a:rPr>
              <a:t>月</a:t>
            </a:r>
            <a:r>
              <a:rPr lang="en-US" altLang="zh-CN" sz="2250" dirty="0">
                <a:solidFill>
                  <a:srgbClr val="FF0000"/>
                </a:solidFill>
              </a:rPr>
              <a:t>29</a:t>
            </a:r>
            <a:r>
              <a:rPr lang="zh-CN" altLang="en-US" sz="2250" dirty="0">
                <a:solidFill>
                  <a:srgbClr val="FF0000"/>
                </a:solidFill>
              </a:rPr>
              <a:t>日</a:t>
            </a:r>
            <a:r>
              <a:rPr lang="zh-CN" altLang="en-US" sz="2250" dirty="0"/>
              <a:t>，场地平整和回填全部完成，板房基础混凝土浇筑完成约</a:t>
            </a:r>
            <a:r>
              <a:rPr lang="en-US" altLang="zh-CN" sz="2250" dirty="0"/>
              <a:t>90%</a:t>
            </a:r>
            <a:r>
              <a:rPr lang="zh-CN" altLang="en-US" sz="2250" dirty="0"/>
              <a:t>；</a:t>
            </a:r>
            <a:r>
              <a:rPr lang="en-US" altLang="zh-CN" sz="2250" dirty="0"/>
              <a:t>300</a:t>
            </a:r>
            <a:r>
              <a:rPr lang="zh-CN" altLang="en-US" sz="2250" dirty="0"/>
              <a:t>多个箱式板房骨架安装已经完成，约</a:t>
            </a:r>
            <a:r>
              <a:rPr lang="en-US" altLang="zh-CN" sz="2250" dirty="0"/>
              <a:t>400</a:t>
            </a:r>
            <a:r>
              <a:rPr lang="zh-CN" altLang="en-US" sz="2250" dirty="0"/>
              <a:t>个场外板房完成拼装；水电暖通、机电设备等材料全面到位，已同步开始作业 。</a:t>
            </a:r>
            <a:r>
              <a:rPr lang="en-US" altLang="zh-CN" sz="2250" dirty="0">
                <a:solidFill>
                  <a:srgbClr val="FF0000"/>
                </a:solidFill>
              </a:rPr>
              <a:t>2</a:t>
            </a:r>
            <a:r>
              <a:rPr lang="zh-CN" altLang="en-US" sz="2250" dirty="0">
                <a:solidFill>
                  <a:srgbClr val="FF0000"/>
                </a:solidFill>
              </a:rPr>
              <a:t>月</a:t>
            </a:r>
            <a:r>
              <a:rPr lang="en-US" altLang="zh-CN" sz="2250" dirty="0">
                <a:solidFill>
                  <a:srgbClr val="FF0000"/>
                </a:solidFill>
              </a:rPr>
              <a:t>1</a:t>
            </a:r>
            <a:r>
              <a:rPr lang="zh-CN" altLang="en-US" sz="2250" dirty="0">
                <a:solidFill>
                  <a:srgbClr val="FF0000"/>
                </a:solidFill>
              </a:rPr>
              <a:t>日</a:t>
            </a:r>
            <a:r>
              <a:rPr lang="zh-CN" altLang="en-US" sz="2250" dirty="0"/>
              <a:t>，武汉火神山医院完成电力工程施工，顺利通电。</a:t>
            </a:r>
            <a:endParaRPr lang="en-US" altLang="zh-CN" sz="2250" dirty="0"/>
          </a:p>
          <a:p>
            <a:pPr lvl="1">
              <a:defRPr/>
            </a:pPr>
            <a:r>
              <a:rPr lang="zh-CN" altLang="en-US" sz="2250" dirty="0"/>
              <a:t>交付：</a:t>
            </a:r>
            <a:r>
              <a:rPr lang="en-US" altLang="zh-CN" sz="2250" dirty="0">
                <a:solidFill>
                  <a:srgbClr val="FF0000"/>
                </a:solidFill>
              </a:rPr>
              <a:t>2</a:t>
            </a:r>
            <a:r>
              <a:rPr lang="zh-CN" altLang="en-US" sz="2250" dirty="0">
                <a:solidFill>
                  <a:srgbClr val="FF0000"/>
                </a:solidFill>
              </a:rPr>
              <a:t>日</a:t>
            </a:r>
            <a:r>
              <a:rPr lang="en-US" altLang="zh-CN" sz="2250" dirty="0">
                <a:solidFill>
                  <a:srgbClr val="FF0000"/>
                </a:solidFill>
              </a:rPr>
              <a:t>2</a:t>
            </a:r>
            <a:r>
              <a:rPr lang="zh-CN" altLang="en-US" sz="2250" dirty="0">
                <a:solidFill>
                  <a:srgbClr val="FF0000"/>
                </a:solidFill>
              </a:rPr>
              <a:t>日上午</a:t>
            </a:r>
            <a:r>
              <a:rPr lang="zh-CN" altLang="en-US" sz="2250" dirty="0"/>
              <a:t>，武汉火神山医院举行交付仪式。</a:t>
            </a:r>
            <a:endParaRPr lang="en-US" altLang="zh-CN" sz="2250" dirty="0"/>
          </a:p>
        </p:txBody>
      </p:sp>
      <p:sp>
        <p:nvSpPr>
          <p:cNvPr id="5" name="标题 1"/>
          <p:cNvSpPr>
            <a:spLocks noGrp="1" noChangeArrowheads="1"/>
          </p:cNvSpPr>
          <p:nvPr>
            <p:ph type="title"/>
          </p:nvPr>
        </p:nvSpPr>
        <p:spPr>
          <a:xfrm>
            <a:off x="1" y="329843"/>
            <a:ext cx="8461375" cy="885825"/>
          </a:xfrm>
        </p:spPr>
        <p:txBody>
          <a:bodyPr/>
          <a:lstStyle/>
          <a:p>
            <a:pPr eaLnBrk="1" hangingPunct="1"/>
            <a:r>
              <a:rPr lang="zh-CN" altLang="en-US" dirty="0"/>
              <a:t>火神山医院</a:t>
            </a:r>
            <a:endParaRPr lang="zh-CN" altLang="en-US" dirty="0"/>
          </a:p>
        </p:txBody>
      </p:sp>
    </p:spTree>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noChangeArrowheads="1"/>
          </p:cNvSpPr>
          <p:nvPr>
            <p:ph type="title"/>
          </p:nvPr>
        </p:nvSpPr>
        <p:spPr>
          <a:xfrm>
            <a:off x="1" y="329843"/>
            <a:ext cx="8461375" cy="885825"/>
          </a:xfrm>
        </p:spPr>
        <p:txBody>
          <a:bodyPr/>
          <a:lstStyle/>
          <a:p>
            <a:pPr eaLnBrk="1" hangingPunct="1"/>
            <a:r>
              <a:rPr lang="zh-CN" altLang="en-US" dirty="0"/>
              <a:t>火神山医院</a:t>
            </a:r>
            <a:endParaRPr lang="zh-CN" altLang="en-US" dirty="0"/>
          </a:p>
        </p:txBody>
      </p:sp>
      <p:pic>
        <p:nvPicPr>
          <p:cNvPr id="38914" name="Picture 2" descr="http://5b0988e595225.cdn.sohucs.com/images/20200127/a06a2889c47a4258ac6b2788891fbd83.jpeg"/>
          <p:cNvPicPr>
            <a:picLocks noGrp="1" noChangeAspect="1" noChangeArrowheads="1"/>
          </p:cNvPicPr>
          <p:nvPr>
            <p:ph idx="1"/>
          </p:nvPr>
        </p:nvPicPr>
        <p:blipFill>
          <a:blip r:embed="rId1" cstate="print">
            <a:extLst>
              <a:ext uri="{28A0092B-C50C-407E-A947-70E740481C1C}">
                <a14:useLocalDpi xmlns:a14="http://schemas.microsoft.com/office/drawing/2010/main" val="0"/>
              </a:ext>
            </a:extLst>
          </a:blip>
          <a:srcRect/>
          <a:stretch>
            <a:fillRect/>
          </a:stretch>
        </p:blipFill>
        <p:spPr bwMode="auto">
          <a:xfrm>
            <a:off x="1244980" y="1544798"/>
            <a:ext cx="6654039" cy="431752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2892693" y="5902368"/>
            <a:ext cx="3358612" cy="438582"/>
          </a:xfrm>
          <a:prstGeom prst="rect">
            <a:avLst/>
          </a:prstGeom>
        </p:spPr>
        <p:txBody>
          <a:bodyPr wrap="none">
            <a:spAutoFit/>
          </a:bodyPr>
          <a:lstStyle/>
          <a:p>
            <a:r>
              <a:rPr lang="zh-CN" altLang="en-US" sz="2250" b="1" dirty="0">
                <a:solidFill>
                  <a:srgbClr val="000000"/>
                </a:solidFill>
                <a:latin typeface="+mn-lt"/>
                <a:ea typeface="+mn-ea"/>
              </a:rPr>
              <a:t>武汉火神山医院建设工地</a:t>
            </a:r>
            <a:endParaRPr lang="zh-CN" altLang="en-US" sz="2250" b="1" dirty="0">
              <a:solidFill>
                <a:srgbClr val="000000"/>
              </a:solidFill>
              <a:latin typeface="+mn-lt"/>
              <a:ea typeface="+mn-ea"/>
            </a:endParaRPr>
          </a:p>
        </p:txBody>
      </p:sp>
    </p:spTree>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346200"/>
            <a:ext cx="9144000" cy="4404360"/>
          </a:xfrm>
        </p:spPr>
        <p:txBody>
          <a:bodyPr/>
          <a:lstStyle/>
          <a:p>
            <a:pPr>
              <a:defRPr/>
            </a:pPr>
            <a:r>
              <a:rPr lang="zh-CN" altLang="en-US" sz="2850" dirty="0">
                <a:solidFill>
                  <a:srgbClr val="990000"/>
                </a:solidFill>
                <a:latin typeface="+mj-lt"/>
                <a:ea typeface="+mj-ea"/>
              </a:rPr>
              <a:t>工程难题</a:t>
            </a:r>
            <a:endParaRPr lang="en-US" altLang="zh-CN" sz="2850" dirty="0">
              <a:solidFill>
                <a:srgbClr val="990000"/>
              </a:solidFill>
              <a:latin typeface="+mj-lt"/>
              <a:ea typeface="+mj-ea"/>
            </a:endParaRPr>
          </a:p>
          <a:p>
            <a:pPr lvl="1">
              <a:defRPr/>
            </a:pPr>
            <a:r>
              <a:rPr lang="zh-CN" altLang="en-US" sz="2250" dirty="0">
                <a:solidFill>
                  <a:srgbClr val="FF0000"/>
                </a:solidFill>
              </a:rPr>
              <a:t>工期极限</a:t>
            </a:r>
            <a:r>
              <a:rPr lang="zh-CN" altLang="en-US" sz="2250" dirty="0"/>
              <a:t>：从设计到交付仅用</a:t>
            </a:r>
            <a:r>
              <a:rPr lang="en-US" altLang="zh-CN" sz="2250" dirty="0"/>
              <a:t>10</a:t>
            </a:r>
            <a:r>
              <a:rPr lang="zh-CN" altLang="en-US" sz="2250" dirty="0"/>
              <a:t>天。</a:t>
            </a:r>
            <a:endParaRPr lang="en-US" altLang="zh-CN" sz="2250" dirty="0"/>
          </a:p>
          <a:p>
            <a:pPr lvl="1">
              <a:defRPr/>
            </a:pPr>
            <a:r>
              <a:rPr lang="zh-CN" altLang="en-US" sz="2250" dirty="0">
                <a:solidFill>
                  <a:srgbClr val="FF0000"/>
                </a:solidFill>
              </a:rPr>
              <a:t>标准严苛</a:t>
            </a:r>
            <a:r>
              <a:rPr lang="zh-CN" altLang="en-US" sz="2250" dirty="0"/>
              <a:t>：高于现有传染病医院的防护隔离标准，医患隔离、通道分离、安全环保。</a:t>
            </a:r>
            <a:endParaRPr lang="en-US" altLang="zh-CN" sz="2250" dirty="0"/>
          </a:p>
          <a:p>
            <a:pPr lvl="1">
              <a:defRPr/>
            </a:pPr>
            <a:r>
              <a:rPr lang="zh-CN" altLang="en-US" sz="2250" dirty="0">
                <a:solidFill>
                  <a:srgbClr val="FF0000"/>
                </a:solidFill>
              </a:rPr>
              <a:t>施工复杂</a:t>
            </a:r>
            <a:r>
              <a:rPr lang="zh-CN" altLang="en-US" sz="2250" dirty="0"/>
              <a:t>：施工内容覆盖场地平整、基础工程、管道预埋、防渗膜施工、混凝土浇筑、机电安装、室内装修等十几道工序，涉及基础工程、土建及装饰工程、给排水及消防系统、供配电系统、照明与监控、污水处理设施等十几个专业。</a:t>
            </a:r>
            <a:endParaRPr lang="en-US" altLang="zh-CN" sz="2250" dirty="0"/>
          </a:p>
          <a:p>
            <a:pPr lvl="1">
              <a:defRPr/>
            </a:pPr>
            <a:r>
              <a:rPr lang="zh-CN" altLang="en-US" sz="2250" dirty="0">
                <a:solidFill>
                  <a:srgbClr val="FF0000"/>
                </a:solidFill>
              </a:rPr>
              <a:t>多方协调</a:t>
            </a:r>
            <a:r>
              <a:rPr lang="zh-CN" altLang="en-US" sz="2250" dirty="0"/>
              <a:t>：中信设计、中建三局、武汉建工、国家电网、三峡集团、中国铁建、三一重工、徐工机械、中粮集团、华为、电信、联通、移动、阿里巴巴、各建材企业、各物流公司、各医疗设备企业</a:t>
            </a:r>
            <a:r>
              <a:rPr lang="en-US" altLang="zh-CN" sz="2250" dirty="0"/>
              <a:t>……</a:t>
            </a:r>
            <a:endParaRPr lang="en-US" altLang="zh-CN" sz="2250" dirty="0"/>
          </a:p>
        </p:txBody>
      </p:sp>
      <p:sp>
        <p:nvSpPr>
          <p:cNvPr id="5" name="标题 1"/>
          <p:cNvSpPr>
            <a:spLocks noGrp="1" noChangeArrowheads="1"/>
          </p:cNvSpPr>
          <p:nvPr>
            <p:ph type="title"/>
          </p:nvPr>
        </p:nvSpPr>
        <p:spPr>
          <a:xfrm>
            <a:off x="0" y="299564"/>
            <a:ext cx="8461375" cy="885825"/>
          </a:xfrm>
        </p:spPr>
        <p:txBody>
          <a:bodyPr/>
          <a:lstStyle/>
          <a:p>
            <a:pPr eaLnBrk="1" hangingPunct="1"/>
            <a:r>
              <a:rPr lang="zh-CN" altLang="en-US" dirty="0"/>
              <a:t>火神山医院</a:t>
            </a:r>
            <a:endParaRPr lang="zh-CN" altLang="en-US" dirty="0"/>
          </a:p>
        </p:txBody>
      </p:sp>
      <p:sp>
        <p:nvSpPr>
          <p:cNvPr id="7" name="矩形 6"/>
          <p:cNvSpPr/>
          <p:nvPr/>
        </p:nvSpPr>
        <p:spPr>
          <a:xfrm>
            <a:off x="3222912" y="5750560"/>
            <a:ext cx="2698175" cy="523220"/>
          </a:xfrm>
          <a:prstGeom prst="rect">
            <a:avLst/>
          </a:prstGeom>
        </p:spPr>
        <p:txBody>
          <a:bodyPr wrap="none">
            <a:spAutoFit/>
          </a:bodyPr>
          <a:lstStyle/>
          <a:p>
            <a:r>
              <a:rPr lang="zh-CN" altLang="en-US" sz="2800" b="1" dirty="0">
                <a:solidFill>
                  <a:srgbClr val="FF0000"/>
                </a:solidFill>
                <a:latin typeface="+mn-lt"/>
                <a:ea typeface="+mn-ea"/>
              </a:rPr>
              <a:t>资源调度和管理</a:t>
            </a:r>
            <a:endParaRPr lang="zh-CN" altLang="en-US" sz="2800" b="1" dirty="0">
              <a:solidFill>
                <a:srgbClr val="FF0000"/>
              </a:solidFill>
              <a:latin typeface="+mn-lt"/>
              <a:ea typeface="+mn-ea"/>
            </a:endParaRPr>
          </a:p>
        </p:txBody>
      </p:sp>
    </p:spTree>
  </p:cSld>
  <p:clrMapOvr>
    <a:masterClrMapping/>
  </p:clrMapOvr>
  <p:transition/>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noChangeArrowheads="1"/>
          </p:cNvSpPr>
          <p:nvPr>
            <p:ph type="title"/>
          </p:nvPr>
        </p:nvSpPr>
        <p:spPr>
          <a:xfrm>
            <a:off x="1" y="329843"/>
            <a:ext cx="8461375" cy="885825"/>
          </a:xfrm>
        </p:spPr>
        <p:txBody>
          <a:bodyPr/>
          <a:lstStyle/>
          <a:p>
            <a:pPr eaLnBrk="1" hangingPunct="1"/>
            <a:r>
              <a:rPr lang="zh-CN" altLang="en-US" dirty="0"/>
              <a:t>火神山医院</a:t>
            </a:r>
            <a:endParaRPr lang="zh-CN" altLang="en-US" dirty="0"/>
          </a:p>
        </p:txBody>
      </p:sp>
      <p:sp>
        <p:nvSpPr>
          <p:cNvPr id="6" name="矩形 5"/>
          <p:cNvSpPr/>
          <p:nvPr/>
        </p:nvSpPr>
        <p:spPr>
          <a:xfrm>
            <a:off x="2608213" y="5730397"/>
            <a:ext cx="4224233" cy="438582"/>
          </a:xfrm>
          <a:prstGeom prst="rect">
            <a:avLst/>
          </a:prstGeom>
        </p:spPr>
        <p:txBody>
          <a:bodyPr wrap="none">
            <a:spAutoFit/>
          </a:bodyPr>
          <a:lstStyle/>
          <a:p>
            <a:r>
              <a:rPr lang="zh-CN" altLang="en-US" sz="2250" b="1" dirty="0">
                <a:solidFill>
                  <a:srgbClr val="000000"/>
                </a:solidFill>
                <a:latin typeface="+mn-lt"/>
                <a:ea typeface="+mn-ea"/>
              </a:rPr>
              <a:t>火神山医院使用的污水处理设备</a:t>
            </a:r>
            <a:endParaRPr lang="zh-CN" altLang="en-US" sz="2250" b="1" dirty="0">
              <a:solidFill>
                <a:srgbClr val="000000"/>
              </a:solidFill>
              <a:latin typeface="+mn-lt"/>
              <a:ea typeface="+mn-ea"/>
            </a:endParaRPr>
          </a:p>
        </p:txBody>
      </p:sp>
      <p:pic>
        <p:nvPicPr>
          <p:cNvPr id="7" name="Picture 2" descr="https://picb.zhimg.com/80/v2-e86347667935b960af54ae64751d1c1c_720w.jp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143000" y="1611312"/>
            <a:ext cx="6858000" cy="4067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defRPr/>
            </a:pPr>
            <a:r>
              <a:rPr lang="zh-CN" altLang="en-US" sz="2850" dirty="0">
                <a:solidFill>
                  <a:srgbClr val="990000"/>
                </a:solidFill>
                <a:latin typeface="+mj-lt"/>
                <a:ea typeface="+mj-ea"/>
              </a:rPr>
              <a:t>工程特色</a:t>
            </a:r>
            <a:endParaRPr lang="en-US" altLang="zh-CN" sz="2850" dirty="0">
              <a:solidFill>
                <a:srgbClr val="990000"/>
              </a:solidFill>
              <a:latin typeface="+mj-lt"/>
              <a:ea typeface="+mj-ea"/>
            </a:endParaRPr>
          </a:p>
          <a:p>
            <a:pPr lvl="1">
              <a:defRPr/>
            </a:pPr>
            <a:r>
              <a:rPr lang="zh-CN" altLang="en-US" sz="2250" dirty="0">
                <a:solidFill>
                  <a:srgbClr val="FF0000"/>
                </a:solidFill>
              </a:rPr>
              <a:t>模块化设计</a:t>
            </a:r>
            <a:r>
              <a:rPr lang="zh-CN" altLang="en-US" sz="2250" dirty="0"/>
              <a:t>：呈现独特的“鱼骨状”布局，严格划分污染区和洁净区。全过程</a:t>
            </a:r>
            <a:r>
              <a:rPr lang="en-US" altLang="zh-CN" sz="2250" dirty="0"/>
              <a:t>BIM</a:t>
            </a:r>
            <a:r>
              <a:rPr lang="zh-CN" altLang="en-US" sz="2250" dirty="0"/>
              <a:t>技术辅助施工，利用</a:t>
            </a:r>
            <a:r>
              <a:rPr lang="en-US" altLang="zh-CN" sz="2250" dirty="0"/>
              <a:t>BIM</a:t>
            </a:r>
            <a:r>
              <a:rPr lang="zh-CN" altLang="en-US" sz="2250" dirty="0"/>
              <a:t>实现</a:t>
            </a:r>
            <a:r>
              <a:rPr lang="en-US" altLang="zh-CN" sz="2250" dirty="0"/>
              <a:t>6</a:t>
            </a:r>
            <a:r>
              <a:rPr lang="zh-CN" altLang="en-US" sz="2250" dirty="0"/>
              <a:t>项施工优化，节约</a:t>
            </a:r>
            <a:r>
              <a:rPr lang="en-US" altLang="zh-CN" sz="2250" dirty="0"/>
              <a:t>18</a:t>
            </a:r>
            <a:r>
              <a:rPr lang="zh-CN" altLang="en-US" sz="2250" dirty="0"/>
              <a:t>天建设周期。</a:t>
            </a:r>
            <a:endParaRPr lang="en-US" altLang="zh-CN" sz="2250" dirty="0"/>
          </a:p>
          <a:p>
            <a:pPr lvl="1">
              <a:defRPr/>
            </a:pPr>
            <a:r>
              <a:rPr lang="zh-CN" altLang="en-US" sz="2250" dirty="0">
                <a:solidFill>
                  <a:srgbClr val="FF0000"/>
                </a:solidFill>
              </a:rPr>
              <a:t>装配式施工</a:t>
            </a:r>
            <a:r>
              <a:rPr lang="zh-CN" altLang="en-US" sz="2250" dirty="0"/>
              <a:t>：工业化装配式建筑建造技术，所有的病房都使用具备防火性能的环保材料的集装箱式构造，像搭积木一样盖房子。施工工期比传统模式缩短</a:t>
            </a:r>
            <a:r>
              <a:rPr lang="en-US" altLang="zh-CN" sz="2250" dirty="0"/>
              <a:t>40%</a:t>
            </a:r>
            <a:r>
              <a:rPr lang="zh-CN" altLang="en-US" sz="2250" dirty="0"/>
              <a:t>，建筑垃圾比传统建筑项目减少</a:t>
            </a:r>
            <a:r>
              <a:rPr lang="en-US" altLang="zh-CN" sz="2250" dirty="0"/>
              <a:t>80%</a:t>
            </a:r>
            <a:r>
              <a:rPr lang="zh-CN" altLang="en-US" sz="2250" dirty="0"/>
              <a:t>以上。</a:t>
            </a:r>
            <a:endParaRPr lang="en-US" altLang="zh-CN" sz="2250" dirty="0"/>
          </a:p>
          <a:p>
            <a:pPr lvl="1">
              <a:defRPr/>
            </a:pPr>
            <a:r>
              <a:rPr lang="zh-CN" altLang="en-US" sz="2250" dirty="0">
                <a:solidFill>
                  <a:srgbClr val="FF0000"/>
                </a:solidFill>
              </a:rPr>
              <a:t>智能化系统</a:t>
            </a:r>
            <a:r>
              <a:rPr lang="zh-CN" altLang="en-US" sz="2250" dirty="0"/>
              <a:t>：在</a:t>
            </a:r>
            <a:r>
              <a:rPr lang="en-US" altLang="zh-CN" sz="2250" dirty="0"/>
              <a:t>5G</a:t>
            </a:r>
            <a:r>
              <a:rPr lang="zh-CN" altLang="en-US" sz="2250" dirty="0"/>
              <a:t>和云计算等先进技术的支持下，实现智慧医疗 。外地优质医疗专家资源，可通过远程视频连线方式，与一线医务人员一同对病患进行远程会诊，大大提高医院救治能力。</a:t>
            </a:r>
            <a:endParaRPr lang="en-US" altLang="zh-CN" sz="2250" dirty="0"/>
          </a:p>
        </p:txBody>
      </p:sp>
      <p:sp>
        <p:nvSpPr>
          <p:cNvPr id="5" name="标题 1"/>
          <p:cNvSpPr>
            <a:spLocks noGrp="1" noChangeArrowheads="1"/>
          </p:cNvSpPr>
          <p:nvPr>
            <p:ph type="title"/>
          </p:nvPr>
        </p:nvSpPr>
        <p:spPr>
          <a:xfrm>
            <a:off x="0" y="299564"/>
            <a:ext cx="8461375" cy="885825"/>
          </a:xfrm>
        </p:spPr>
        <p:txBody>
          <a:bodyPr/>
          <a:lstStyle/>
          <a:p>
            <a:pPr eaLnBrk="1" hangingPunct="1"/>
            <a:r>
              <a:rPr lang="zh-CN" altLang="en-US" dirty="0"/>
              <a:t>火神山医院</a:t>
            </a:r>
            <a:endParaRPr lang="zh-CN" altLang="en-US" dirty="0"/>
          </a:p>
        </p:txBody>
      </p:sp>
    </p:spTree>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noChangeArrowheads="1"/>
          </p:cNvSpPr>
          <p:nvPr>
            <p:ph type="title"/>
          </p:nvPr>
        </p:nvSpPr>
        <p:spPr>
          <a:xfrm>
            <a:off x="1" y="329843"/>
            <a:ext cx="8461375" cy="885825"/>
          </a:xfrm>
        </p:spPr>
        <p:txBody>
          <a:bodyPr/>
          <a:lstStyle/>
          <a:p>
            <a:pPr eaLnBrk="1" hangingPunct="1"/>
            <a:r>
              <a:rPr lang="zh-CN" altLang="en-US" dirty="0"/>
              <a:t>火神山医院</a:t>
            </a:r>
            <a:endParaRPr lang="zh-CN" altLang="en-US" dirty="0"/>
          </a:p>
        </p:txBody>
      </p:sp>
      <p:sp>
        <p:nvSpPr>
          <p:cNvPr id="6" name="矩形 5"/>
          <p:cNvSpPr/>
          <p:nvPr/>
        </p:nvSpPr>
        <p:spPr>
          <a:xfrm>
            <a:off x="2892693" y="5902368"/>
            <a:ext cx="3647152" cy="438582"/>
          </a:xfrm>
          <a:prstGeom prst="rect">
            <a:avLst/>
          </a:prstGeom>
        </p:spPr>
        <p:txBody>
          <a:bodyPr wrap="none">
            <a:spAutoFit/>
          </a:bodyPr>
          <a:lstStyle/>
          <a:p>
            <a:r>
              <a:rPr lang="zh-CN" altLang="en-US" sz="2250" b="1" dirty="0">
                <a:solidFill>
                  <a:srgbClr val="000000"/>
                </a:solidFill>
                <a:latin typeface="+mn-lt"/>
                <a:ea typeface="+mn-ea"/>
              </a:rPr>
              <a:t>火神山医院“鱼骨状”布局</a:t>
            </a:r>
            <a:endParaRPr lang="zh-CN" altLang="en-US" sz="2250" b="1" dirty="0">
              <a:solidFill>
                <a:srgbClr val="000000"/>
              </a:solidFill>
              <a:latin typeface="+mn-lt"/>
              <a:ea typeface="+mn-ea"/>
            </a:endParaRPr>
          </a:p>
        </p:txBody>
      </p:sp>
      <p:pic>
        <p:nvPicPr>
          <p:cNvPr id="8" name="Picture 2" descr="https://pic2.zhimg.com/80/v2-e86e2fc4131a69830655e755cf8032fb_720w.jp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807983" y="1657393"/>
            <a:ext cx="7528034" cy="42449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noChangeArrowheads="1"/>
          </p:cNvSpPr>
          <p:nvPr>
            <p:ph type="title"/>
          </p:nvPr>
        </p:nvSpPr>
        <p:spPr>
          <a:xfrm>
            <a:off x="1" y="329843"/>
            <a:ext cx="8461375" cy="885825"/>
          </a:xfrm>
        </p:spPr>
        <p:txBody>
          <a:bodyPr/>
          <a:lstStyle/>
          <a:p>
            <a:pPr eaLnBrk="1" hangingPunct="1"/>
            <a:r>
              <a:rPr lang="zh-CN" altLang="en-US" dirty="0"/>
              <a:t>火神山医院</a:t>
            </a:r>
            <a:endParaRPr lang="zh-CN" altLang="en-US" dirty="0"/>
          </a:p>
        </p:txBody>
      </p:sp>
      <p:sp>
        <p:nvSpPr>
          <p:cNvPr id="6" name="矩形 5"/>
          <p:cNvSpPr/>
          <p:nvPr/>
        </p:nvSpPr>
        <p:spPr>
          <a:xfrm>
            <a:off x="2892693" y="5902368"/>
            <a:ext cx="4224233" cy="438582"/>
          </a:xfrm>
          <a:prstGeom prst="rect">
            <a:avLst/>
          </a:prstGeom>
        </p:spPr>
        <p:txBody>
          <a:bodyPr wrap="none">
            <a:spAutoFit/>
          </a:bodyPr>
          <a:lstStyle/>
          <a:p>
            <a:r>
              <a:rPr lang="zh-CN" altLang="en-US" sz="2250" b="1" dirty="0">
                <a:solidFill>
                  <a:srgbClr val="000000"/>
                </a:solidFill>
                <a:latin typeface="+mn-lt"/>
                <a:ea typeface="+mn-ea"/>
              </a:rPr>
              <a:t>火神山医院装配式建筑建造技术</a:t>
            </a:r>
            <a:endParaRPr lang="zh-CN" altLang="en-US" sz="2250" b="1" dirty="0">
              <a:solidFill>
                <a:srgbClr val="000000"/>
              </a:solidFill>
              <a:latin typeface="+mn-lt"/>
              <a:ea typeface="+mn-ea"/>
            </a:endParaRPr>
          </a:p>
        </p:txBody>
      </p:sp>
      <p:pic>
        <p:nvPicPr>
          <p:cNvPr id="9" name="Picture 4" descr="https://pic2.zhimg.com/80/v2-c767124d24a09be384771a6362deb8e9_720w.jpg"/>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713579" y="1501053"/>
            <a:ext cx="7716839" cy="42871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noChangeArrowheads="1"/>
          </p:cNvSpPr>
          <p:nvPr>
            <p:ph type="title"/>
          </p:nvPr>
        </p:nvSpPr>
        <p:spPr>
          <a:xfrm>
            <a:off x="1" y="329843"/>
            <a:ext cx="8461375" cy="885825"/>
          </a:xfrm>
        </p:spPr>
        <p:txBody>
          <a:bodyPr/>
          <a:lstStyle/>
          <a:p>
            <a:pPr eaLnBrk="1" hangingPunct="1"/>
            <a:r>
              <a:rPr lang="zh-CN" altLang="en-US" dirty="0"/>
              <a:t>火神山医院</a:t>
            </a:r>
            <a:endParaRPr lang="zh-CN" altLang="en-US" dirty="0"/>
          </a:p>
        </p:txBody>
      </p:sp>
      <p:sp>
        <p:nvSpPr>
          <p:cNvPr id="6" name="矩形 5"/>
          <p:cNvSpPr/>
          <p:nvPr/>
        </p:nvSpPr>
        <p:spPr>
          <a:xfrm>
            <a:off x="2892693" y="5902368"/>
            <a:ext cx="3358612" cy="438582"/>
          </a:xfrm>
          <a:prstGeom prst="rect">
            <a:avLst/>
          </a:prstGeom>
        </p:spPr>
        <p:txBody>
          <a:bodyPr wrap="none">
            <a:spAutoFit/>
          </a:bodyPr>
          <a:lstStyle/>
          <a:p>
            <a:r>
              <a:rPr lang="zh-CN" altLang="en-US" sz="2250" b="1" dirty="0">
                <a:solidFill>
                  <a:srgbClr val="000000"/>
                </a:solidFill>
                <a:latin typeface="+mn-lt"/>
                <a:ea typeface="+mn-ea"/>
              </a:rPr>
              <a:t>火神山医院远程会诊平台</a:t>
            </a:r>
            <a:endParaRPr lang="zh-CN" altLang="en-US" sz="2250" b="1" dirty="0">
              <a:solidFill>
                <a:srgbClr val="000000"/>
              </a:solidFill>
              <a:latin typeface="+mn-lt"/>
              <a:ea typeface="+mn-ea"/>
            </a:endParaRPr>
          </a:p>
        </p:txBody>
      </p:sp>
      <p:pic>
        <p:nvPicPr>
          <p:cNvPr id="9" name="Picture 6" descr="https://pics1.baidu.com/feed/7dd98d1001e939019650c920541471e137d19658.jpeg?token=787f8f9717607d8951ab359917b7adbf&amp;s=25D65984CC5323DE00E07C8F030070C0"/>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1501879" y="1464828"/>
            <a:ext cx="5916719" cy="443754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defRPr/>
            </a:pPr>
            <a:r>
              <a:rPr lang="zh-CN" altLang="en-US" sz="2850" dirty="0">
                <a:solidFill>
                  <a:srgbClr val="990000"/>
                </a:solidFill>
                <a:latin typeface="+mj-lt"/>
                <a:ea typeface="+mj-ea"/>
              </a:rPr>
              <a:t>舆论</a:t>
            </a:r>
            <a:r>
              <a:rPr lang="zh-CN" altLang="en-US" sz="2850" dirty="0" smtClean="0">
                <a:solidFill>
                  <a:srgbClr val="990000"/>
                </a:solidFill>
                <a:latin typeface="+mj-lt"/>
                <a:ea typeface="+mj-ea"/>
              </a:rPr>
              <a:t>评价</a:t>
            </a:r>
            <a:endParaRPr lang="en-US" altLang="zh-CN" sz="2850" dirty="0">
              <a:solidFill>
                <a:srgbClr val="990000"/>
              </a:solidFill>
              <a:latin typeface="+mj-lt"/>
              <a:ea typeface="+mj-ea"/>
            </a:endParaRPr>
          </a:p>
          <a:p>
            <a:pPr lvl="1">
              <a:defRPr/>
            </a:pPr>
            <a:r>
              <a:rPr lang="zh-CN" altLang="en-US" sz="2250" dirty="0"/>
              <a:t>新华网：火神山医院是首个接诊治疗新型冠状病毒感染的肺炎患者的专门医院，也是凝聚多方力量、诠释“中国速度”的一座医院。它的投入使用，将拯救更多人的宝贵生命，有利于尽快遏制疫情，增强我们战胜疫魔的信心。</a:t>
            </a:r>
            <a:endParaRPr lang="en-US" altLang="zh-CN" sz="2250" dirty="0"/>
          </a:p>
          <a:p>
            <a:pPr lvl="1">
              <a:defRPr/>
            </a:pPr>
            <a:r>
              <a:rPr lang="zh-CN" altLang="en-US" sz="2250" dirty="0"/>
              <a:t>新加坡</a:t>
            </a:r>
            <a:r>
              <a:rPr lang="en-US" altLang="zh-CN" sz="2250" dirty="0"/>
              <a:t>《</a:t>
            </a:r>
            <a:r>
              <a:rPr lang="zh-CN" altLang="en-US" sz="2250" dirty="0"/>
              <a:t>联合早报</a:t>
            </a:r>
            <a:r>
              <a:rPr lang="en-US" altLang="zh-CN" sz="2250" dirty="0"/>
              <a:t>》</a:t>
            </a:r>
            <a:r>
              <a:rPr lang="zh-CN" altLang="en-US" sz="2250" dirty="0"/>
              <a:t>：疫情快速扩散，工程刻不容缓</a:t>
            </a:r>
            <a:r>
              <a:rPr lang="en-US" altLang="zh-CN" sz="2250" dirty="0"/>
              <a:t>……</a:t>
            </a:r>
            <a:r>
              <a:rPr lang="zh-CN" altLang="en-US" sz="2250" dirty="0"/>
              <a:t>完成这一切只有</a:t>
            </a:r>
            <a:r>
              <a:rPr lang="en-US" altLang="zh-CN" sz="2250" dirty="0"/>
              <a:t>10</a:t>
            </a:r>
            <a:r>
              <a:rPr lang="zh-CN" altLang="en-US" sz="2250" dirty="0"/>
              <a:t>天时间，考验的不仅是建筑技术，更是危难当前中国人民的韧性与凝聚力。</a:t>
            </a:r>
            <a:endParaRPr lang="en-US" altLang="zh-CN" sz="2250" dirty="0"/>
          </a:p>
          <a:p>
            <a:pPr lvl="1">
              <a:defRPr/>
            </a:pPr>
            <a:r>
              <a:rPr lang="zh-CN" altLang="en-US" sz="2250" dirty="0"/>
              <a:t>德国之声：中国在建设武汉火神山医院和雷神山医院的过程中展现了惊人的组织力，能在如此短的时间内调动这么多建筑工人，并将所需建材运到武汉，是不可思议的。</a:t>
            </a:r>
            <a:endParaRPr lang="en-US" altLang="zh-CN" sz="2250" dirty="0"/>
          </a:p>
        </p:txBody>
      </p:sp>
      <p:sp>
        <p:nvSpPr>
          <p:cNvPr id="5" name="标题 1"/>
          <p:cNvSpPr>
            <a:spLocks noGrp="1" noChangeArrowheads="1"/>
          </p:cNvSpPr>
          <p:nvPr>
            <p:ph type="title"/>
          </p:nvPr>
        </p:nvSpPr>
        <p:spPr>
          <a:xfrm>
            <a:off x="0" y="299564"/>
            <a:ext cx="8461375" cy="885825"/>
          </a:xfrm>
        </p:spPr>
        <p:txBody>
          <a:bodyPr/>
          <a:lstStyle/>
          <a:p>
            <a:pPr eaLnBrk="1" hangingPunct="1"/>
            <a:r>
              <a:rPr lang="zh-CN" altLang="en-US" dirty="0"/>
              <a:t>火神山医院</a:t>
            </a:r>
            <a:endParaRPr lang="zh-CN" altLang="en-US" dirty="0"/>
          </a:p>
        </p:txBody>
      </p:sp>
    </p:spTree>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pPr eaLnBrk="1" hangingPunct="1"/>
            <a:r>
              <a:rPr lang="zh-CN" altLang="en-US" smtClean="0"/>
              <a:t>生活中的经济评价问题</a:t>
            </a:r>
            <a:endParaRPr lang="zh-CN" altLang="en-US" smtClean="0"/>
          </a:p>
        </p:txBody>
      </p:sp>
      <p:sp>
        <p:nvSpPr>
          <p:cNvPr id="277507" name="Rectangle 3"/>
          <p:cNvSpPr>
            <a:spLocks noGrp="1" noChangeArrowheads="1"/>
          </p:cNvSpPr>
          <p:nvPr>
            <p:ph type="body" idx="1"/>
          </p:nvPr>
        </p:nvSpPr>
        <p:spPr/>
        <p:txBody>
          <a:bodyPr/>
          <a:lstStyle/>
          <a:p>
            <a:pPr eaLnBrk="1" hangingPunct="1"/>
            <a:r>
              <a:rPr lang="en-US" altLang="zh-CN" smtClean="0"/>
              <a:t>1. </a:t>
            </a:r>
            <a:r>
              <a:rPr lang="zh-CN" altLang="en-US" smtClean="0"/>
              <a:t>毕业后的选择：继续读研 </a:t>
            </a:r>
            <a:r>
              <a:rPr lang="en-US" altLang="zh-CN" smtClean="0"/>
              <a:t>vs. </a:t>
            </a:r>
            <a:r>
              <a:rPr lang="zh-CN" altLang="en-US" smtClean="0"/>
              <a:t>马上工作</a:t>
            </a:r>
            <a:endParaRPr lang="zh-CN" altLang="en-US" smtClean="0"/>
          </a:p>
          <a:p>
            <a:pPr lvl="1" eaLnBrk="1" hangingPunct="1"/>
            <a:r>
              <a:rPr lang="zh-CN" altLang="en-US" smtClean="0"/>
              <a:t>互斥方案</a:t>
            </a:r>
            <a:endParaRPr lang="zh-CN" altLang="en-US" smtClean="0"/>
          </a:p>
          <a:p>
            <a:pPr lvl="1" eaLnBrk="1" hangingPunct="1"/>
            <a:r>
              <a:rPr lang="zh-CN" altLang="en-US" smtClean="0"/>
              <a:t>各自的成本与收益</a:t>
            </a:r>
            <a:endParaRPr lang="zh-CN" altLang="en-US" smtClean="0"/>
          </a:p>
          <a:p>
            <a:pPr eaLnBrk="1" hangingPunct="1"/>
            <a:endParaRPr lang="zh-CN" altLang="en-US" smtClean="0"/>
          </a:p>
          <a:p>
            <a:pPr eaLnBrk="1" hangingPunct="1"/>
            <a:r>
              <a:rPr lang="en-US" altLang="zh-CN" smtClean="0"/>
              <a:t>2. </a:t>
            </a:r>
            <a:r>
              <a:rPr lang="zh-CN" altLang="en-US" smtClean="0"/>
              <a:t>家庭的投资决策</a:t>
            </a:r>
            <a:endParaRPr lang="zh-CN" altLang="en-US" smtClean="0"/>
          </a:p>
          <a:p>
            <a:pPr lvl="1" eaLnBrk="1" hangingPunct="1"/>
            <a:r>
              <a:rPr lang="zh-CN" altLang="en-US" smtClean="0"/>
              <a:t>存入银行</a:t>
            </a:r>
            <a:endParaRPr lang="zh-CN" altLang="en-US" smtClean="0"/>
          </a:p>
          <a:p>
            <a:pPr lvl="1" eaLnBrk="1" hangingPunct="1"/>
            <a:r>
              <a:rPr lang="zh-CN" altLang="en-US" smtClean="0"/>
              <a:t>买房投资</a:t>
            </a:r>
            <a:endParaRPr lang="zh-CN" altLang="en-US" smtClean="0"/>
          </a:p>
          <a:p>
            <a:pPr lvl="1" eaLnBrk="1" hangingPunct="1"/>
            <a:r>
              <a:rPr lang="zh-CN" altLang="en-US" smtClean="0"/>
              <a:t>股票基金</a:t>
            </a:r>
            <a:endParaRPr lang="zh-CN" altLang="en-US" smtClean="0"/>
          </a:p>
          <a:p>
            <a:pPr eaLnBrk="1" hangingPunct="1"/>
            <a:endParaRPr lang="zh-CN" altLang="en-US" smtClean="0"/>
          </a:p>
          <a:p>
            <a:pPr eaLnBrk="1" hangingPunct="1"/>
            <a:endParaRPr lang="zh-CN" altLang="en-US" smtClean="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7507">
                                            <p:txEl>
                                              <p:pRg st="4" end="4"/>
                                            </p:txEl>
                                          </p:spTgt>
                                        </p:tgtEl>
                                        <p:attrNameLst>
                                          <p:attrName>style.visibility</p:attrName>
                                        </p:attrNameLst>
                                      </p:cBhvr>
                                      <p:to>
                                        <p:strVal val="visible"/>
                                      </p:to>
                                    </p:set>
                                    <p:anim calcmode="lin" valueType="num">
                                      <p:cBhvr additive="base">
                                        <p:cTn id="7" dur="500" fill="hold"/>
                                        <p:tgtEl>
                                          <p:spTgt spid="277507">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7507">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7507">
                                            <p:txEl>
                                              <p:pRg st="5" end="5"/>
                                            </p:txEl>
                                          </p:spTgt>
                                        </p:tgtEl>
                                        <p:attrNameLst>
                                          <p:attrName>style.visibility</p:attrName>
                                        </p:attrNameLst>
                                      </p:cBhvr>
                                      <p:to>
                                        <p:strVal val="visible"/>
                                      </p:to>
                                    </p:set>
                                    <p:anim calcmode="lin" valueType="num">
                                      <p:cBhvr additive="base">
                                        <p:cTn id="11" dur="500" fill="hold"/>
                                        <p:tgtEl>
                                          <p:spTgt spid="277507">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77507">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277507">
                                            <p:txEl>
                                              <p:pRg st="6" end="6"/>
                                            </p:txEl>
                                          </p:spTgt>
                                        </p:tgtEl>
                                        <p:attrNameLst>
                                          <p:attrName>style.visibility</p:attrName>
                                        </p:attrNameLst>
                                      </p:cBhvr>
                                      <p:to>
                                        <p:strVal val="visible"/>
                                      </p:to>
                                    </p:set>
                                    <p:anim calcmode="lin" valueType="num">
                                      <p:cBhvr additive="base">
                                        <p:cTn id="15" dur="500" fill="hold"/>
                                        <p:tgtEl>
                                          <p:spTgt spid="277507">
                                            <p:txEl>
                                              <p:pRg st="6" end="6"/>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77507">
                                            <p:txEl>
                                              <p:pRg st="6" end="6"/>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77507">
                                            <p:txEl>
                                              <p:pRg st="7" end="7"/>
                                            </p:txEl>
                                          </p:spTgt>
                                        </p:tgtEl>
                                        <p:attrNameLst>
                                          <p:attrName>style.visibility</p:attrName>
                                        </p:attrNameLst>
                                      </p:cBhvr>
                                      <p:to>
                                        <p:strVal val="visible"/>
                                      </p:to>
                                    </p:set>
                                    <p:anim calcmode="lin" valueType="num">
                                      <p:cBhvr additive="base">
                                        <p:cTn id="19" dur="500" fill="hold"/>
                                        <p:tgtEl>
                                          <p:spTgt spid="277507">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750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0" y="12700"/>
            <a:ext cx="9144000" cy="1181100"/>
          </a:xfrm>
        </p:spPr>
        <p:txBody>
          <a:bodyPr/>
          <a:lstStyle/>
          <a:p>
            <a:pPr eaLnBrk="1" hangingPunct="1"/>
            <a:r>
              <a:rPr lang="zh-CN" altLang="en-US" sz="3600" smtClean="0"/>
              <a:t>为什么要学：我们在工程中的角色是什么？</a:t>
            </a:r>
            <a:endParaRPr lang="zh-CN" altLang="en-US" sz="3600" smtClean="0"/>
          </a:p>
        </p:txBody>
      </p:sp>
      <p:sp>
        <p:nvSpPr>
          <p:cNvPr id="73731" name="Rectangle 3"/>
          <p:cNvSpPr>
            <a:spLocks noGrp="1" noChangeArrowheads="1"/>
          </p:cNvSpPr>
          <p:nvPr>
            <p:ph type="body" idx="1"/>
          </p:nvPr>
        </p:nvSpPr>
        <p:spPr/>
        <p:txBody>
          <a:bodyPr/>
          <a:lstStyle/>
          <a:p>
            <a:pPr eaLnBrk="1" hangingPunct="1"/>
            <a:r>
              <a:rPr lang="zh-CN" altLang="en-US" smtClean="0">
                <a:solidFill>
                  <a:srgbClr val="990000"/>
                </a:solidFill>
              </a:rPr>
              <a:t>界定要解决的问题  </a:t>
            </a:r>
            <a:r>
              <a:rPr lang="en-US" altLang="zh-CN" smtClean="0">
                <a:solidFill>
                  <a:srgbClr val="990000"/>
                </a:solidFill>
              </a:rPr>
              <a:t>Define</a:t>
            </a:r>
            <a:endParaRPr lang="en-US" altLang="zh-CN" smtClean="0">
              <a:solidFill>
                <a:srgbClr val="990000"/>
              </a:solidFill>
            </a:endParaRPr>
          </a:p>
          <a:p>
            <a:pPr eaLnBrk="1" hangingPunct="1"/>
            <a:r>
              <a:rPr lang="zh-CN" altLang="en-US" smtClean="0">
                <a:solidFill>
                  <a:srgbClr val="990000"/>
                </a:solidFill>
              </a:rPr>
              <a:t>提出项目建议         </a:t>
            </a:r>
            <a:r>
              <a:rPr lang="en-US" altLang="zh-CN" smtClean="0">
                <a:solidFill>
                  <a:srgbClr val="990000"/>
                </a:solidFill>
              </a:rPr>
              <a:t>Propose</a:t>
            </a:r>
            <a:endParaRPr lang="zh-CN" altLang="en-US" smtClean="0"/>
          </a:p>
          <a:p>
            <a:pPr eaLnBrk="1" hangingPunct="1"/>
            <a:r>
              <a:rPr lang="zh-CN" altLang="en-US" smtClean="0">
                <a:solidFill>
                  <a:srgbClr val="990000"/>
                </a:solidFill>
              </a:rPr>
              <a:t>评价和决策项目     </a:t>
            </a:r>
            <a:r>
              <a:rPr lang="en-US" altLang="zh-CN" smtClean="0">
                <a:solidFill>
                  <a:srgbClr val="990000"/>
                </a:solidFill>
              </a:rPr>
              <a:t>Evaluate</a:t>
            </a:r>
            <a:endParaRPr lang="en-US" altLang="zh-CN" smtClean="0">
              <a:solidFill>
                <a:srgbClr val="990000"/>
              </a:solidFill>
            </a:endParaRPr>
          </a:p>
          <a:p>
            <a:pPr eaLnBrk="1" hangingPunct="1"/>
            <a:r>
              <a:rPr lang="zh-CN" altLang="en-US" smtClean="0"/>
              <a:t>设计项目                </a:t>
            </a:r>
            <a:r>
              <a:rPr lang="en-US" altLang="zh-CN" smtClean="0"/>
              <a:t>Design</a:t>
            </a:r>
            <a:endParaRPr lang="en-US" altLang="zh-CN" smtClean="0"/>
          </a:p>
          <a:p>
            <a:pPr eaLnBrk="1" hangingPunct="1"/>
            <a:r>
              <a:rPr lang="zh-CN" altLang="en-US" smtClean="0"/>
              <a:t>实施（建设）项目  </a:t>
            </a:r>
            <a:r>
              <a:rPr lang="en-US" altLang="zh-CN" smtClean="0"/>
              <a:t>Build</a:t>
            </a:r>
            <a:endParaRPr lang="en-US" altLang="zh-CN" smtClean="0"/>
          </a:p>
          <a:p>
            <a:pPr eaLnBrk="1" hangingPunct="1"/>
            <a:endParaRPr lang="en-US" altLang="zh-CN" smtClean="0"/>
          </a:p>
          <a:p>
            <a:pPr eaLnBrk="1" hangingPunct="1"/>
            <a:endParaRPr lang="en-US" altLang="zh-CN" smtClean="0">
              <a:solidFill>
                <a:srgbClr val="990000"/>
              </a:solidFill>
            </a:endParaRPr>
          </a:p>
        </p:txBody>
      </p:sp>
      <p:sp>
        <p:nvSpPr>
          <p:cNvPr id="73732" name="Line 4"/>
          <p:cNvSpPr>
            <a:spLocks noChangeShapeType="1"/>
          </p:cNvSpPr>
          <p:nvPr/>
        </p:nvSpPr>
        <p:spPr bwMode="auto">
          <a:xfrm>
            <a:off x="6416675" y="1517650"/>
            <a:ext cx="0" cy="3440113"/>
          </a:xfrm>
          <a:prstGeom prst="line">
            <a:avLst/>
          </a:prstGeom>
          <a:noFill/>
          <a:ln w="31750">
            <a:solidFill>
              <a:srgbClr val="000066"/>
            </a:solidFill>
            <a:round/>
            <a:headEnd type="stealth" w="lg" len="lg"/>
            <a:tailEnd type="none" w="lg" len="lg"/>
          </a:ln>
          <a:extLst>
            <a:ext uri="{909E8E84-426E-40DD-AFC4-6F175D3DCCD1}">
              <a14:hiddenFill xmlns:a14="http://schemas.microsoft.com/office/drawing/2010/main">
                <a:noFill/>
              </a14:hiddenFill>
            </a:ext>
          </a:extLst>
        </p:spPr>
        <p:txBody>
          <a:bodyPr/>
          <a:lstStyle/>
          <a:p>
            <a:endParaRPr lang="zh-CN" altLang="en-US"/>
          </a:p>
        </p:txBody>
      </p:sp>
      <p:sp>
        <p:nvSpPr>
          <p:cNvPr id="73733" name="Text Box 5"/>
          <p:cNvSpPr txBox="1">
            <a:spLocks noChangeArrowheads="1"/>
          </p:cNvSpPr>
          <p:nvPr/>
        </p:nvSpPr>
        <p:spPr bwMode="auto">
          <a:xfrm>
            <a:off x="6415088" y="2176463"/>
            <a:ext cx="2728912" cy="246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50000"/>
              </a:spcBef>
              <a:buFontTx/>
              <a:buNone/>
            </a:pPr>
            <a:r>
              <a:rPr lang="zh-CN" altLang="en-US" sz="2400">
                <a:solidFill>
                  <a:srgbClr val="000066"/>
                </a:solidFill>
                <a:ea typeface="宋体" panose="02010600030101010101" pitchFamily="2" charset="-122"/>
              </a:rPr>
              <a:t>复杂性增强</a:t>
            </a:r>
            <a:endParaRPr lang="zh-CN" altLang="en-US" sz="2400">
              <a:solidFill>
                <a:srgbClr val="000066"/>
              </a:solidFill>
              <a:ea typeface="宋体" panose="02010600030101010101" pitchFamily="2" charset="-122"/>
            </a:endParaRPr>
          </a:p>
          <a:p>
            <a:pPr>
              <a:spcBef>
                <a:spcPct val="50000"/>
              </a:spcBef>
              <a:buFontTx/>
              <a:buNone/>
            </a:pPr>
            <a:r>
              <a:rPr lang="zh-CN" altLang="en-US" sz="2400">
                <a:solidFill>
                  <a:srgbClr val="000066"/>
                </a:solidFill>
                <a:ea typeface="宋体" panose="02010600030101010101" pitchFamily="2" charset="-122"/>
              </a:rPr>
              <a:t>不确定性增大</a:t>
            </a:r>
            <a:endParaRPr lang="zh-CN" altLang="en-US" sz="2400">
              <a:solidFill>
                <a:srgbClr val="000066"/>
              </a:solidFill>
              <a:ea typeface="宋体" panose="02010600030101010101" pitchFamily="2" charset="-122"/>
            </a:endParaRPr>
          </a:p>
          <a:p>
            <a:pPr>
              <a:spcBef>
                <a:spcPct val="50000"/>
              </a:spcBef>
              <a:buFontTx/>
              <a:buNone/>
            </a:pPr>
            <a:r>
              <a:rPr lang="zh-CN" altLang="en-US" sz="2400">
                <a:solidFill>
                  <a:srgbClr val="000066"/>
                </a:solidFill>
                <a:ea typeface="宋体" panose="02010600030101010101" pitchFamily="2" charset="-122"/>
              </a:rPr>
              <a:t>可能性增多</a:t>
            </a:r>
            <a:endParaRPr lang="zh-CN" altLang="en-US" sz="2400">
              <a:solidFill>
                <a:srgbClr val="000066"/>
              </a:solidFill>
              <a:ea typeface="宋体" panose="02010600030101010101" pitchFamily="2" charset="-122"/>
            </a:endParaRPr>
          </a:p>
          <a:p>
            <a:pPr>
              <a:spcBef>
                <a:spcPct val="50000"/>
              </a:spcBef>
              <a:buFontTx/>
              <a:buNone/>
            </a:pPr>
            <a:r>
              <a:rPr lang="zh-CN" altLang="en-US" sz="2400">
                <a:solidFill>
                  <a:srgbClr val="000066"/>
                </a:solidFill>
                <a:ea typeface="宋体" panose="02010600030101010101" pitchFamily="2" charset="-122"/>
              </a:rPr>
              <a:t>对创造性和领导力的要求增加</a:t>
            </a:r>
            <a:endParaRPr lang="zh-CN" altLang="en-US" sz="2400">
              <a:solidFill>
                <a:srgbClr val="000066"/>
              </a:solidFill>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p:nvPr>
        </p:nvSpPr>
        <p:spPr/>
        <p:txBody>
          <a:bodyPr/>
          <a:lstStyle/>
          <a:p>
            <a:pPr eaLnBrk="1" hangingPunct="1"/>
            <a:r>
              <a:rPr lang="zh-CN" altLang="en-US" smtClean="0"/>
              <a:t>三峡工程论证 </a:t>
            </a:r>
            <a:endParaRPr lang="zh-CN" altLang="en-US" smtClean="0"/>
          </a:p>
        </p:txBody>
      </p:sp>
      <p:sp>
        <p:nvSpPr>
          <p:cNvPr id="75779" name="Rectangle 85"/>
          <p:cNvSpPr>
            <a:spLocks noChangeArrowheads="1"/>
          </p:cNvSpPr>
          <p:nvPr/>
        </p:nvSpPr>
        <p:spPr bwMode="auto">
          <a:xfrm>
            <a:off x="5600700" y="2068513"/>
            <a:ext cx="901700" cy="266700"/>
          </a:xfrm>
          <a:prstGeom prst="rect">
            <a:avLst/>
          </a:prstGeom>
          <a:solidFill>
            <a:srgbClr val="00FF00"/>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泥沙</a:t>
            </a:r>
            <a:endParaRPr lang="zh-CN" altLang="en-US" sz="2400" b="0">
              <a:solidFill>
                <a:schemeClr val="tx1"/>
              </a:solidFill>
              <a:latin typeface="Times" panose="02020603050405020304" pitchFamily="18" charset="0"/>
              <a:cs typeface="Times New Roman" panose="02020603050405020304" charset="0"/>
            </a:endParaRPr>
          </a:p>
        </p:txBody>
      </p:sp>
      <p:sp>
        <p:nvSpPr>
          <p:cNvPr id="75780" name="Rectangle 84"/>
          <p:cNvSpPr>
            <a:spLocks noChangeArrowheads="1"/>
          </p:cNvSpPr>
          <p:nvPr/>
        </p:nvSpPr>
        <p:spPr bwMode="auto">
          <a:xfrm>
            <a:off x="4079875" y="2068513"/>
            <a:ext cx="835025" cy="266700"/>
          </a:xfrm>
          <a:prstGeom prst="rect">
            <a:avLst/>
          </a:prstGeom>
          <a:solidFill>
            <a:srgbClr val="00CCFF"/>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水文</a:t>
            </a:r>
            <a:endParaRPr lang="zh-CN" altLang="en-US" sz="2400" b="0">
              <a:solidFill>
                <a:schemeClr val="tx1"/>
              </a:solidFill>
              <a:latin typeface="Times" panose="02020603050405020304" pitchFamily="18" charset="0"/>
              <a:cs typeface="Times New Roman" panose="02020603050405020304" charset="0"/>
            </a:endParaRPr>
          </a:p>
        </p:txBody>
      </p:sp>
      <p:sp>
        <p:nvSpPr>
          <p:cNvPr id="75781" name="Rectangle 83"/>
          <p:cNvSpPr>
            <a:spLocks noChangeArrowheads="1"/>
          </p:cNvSpPr>
          <p:nvPr/>
        </p:nvSpPr>
        <p:spPr bwMode="auto">
          <a:xfrm>
            <a:off x="2606675" y="2068513"/>
            <a:ext cx="936625" cy="266700"/>
          </a:xfrm>
          <a:prstGeom prst="rect">
            <a:avLst/>
          </a:prstGeom>
          <a:solidFill>
            <a:srgbClr val="FF99CC"/>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地质地震</a:t>
            </a:r>
            <a:endParaRPr lang="zh-CN" altLang="en-US" sz="2400" b="0">
              <a:solidFill>
                <a:schemeClr val="tx1"/>
              </a:solidFill>
              <a:latin typeface="Times" panose="02020603050405020304" pitchFamily="18" charset="0"/>
              <a:cs typeface="Times New Roman" panose="02020603050405020304" charset="0"/>
            </a:endParaRPr>
          </a:p>
        </p:txBody>
      </p:sp>
      <p:sp>
        <p:nvSpPr>
          <p:cNvPr id="75782" name="Rectangle 82"/>
          <p:cNvSpPr>
            <a:spLocks noChangeArrowheads="1"/>
          </p:cNvSpPr>
          <p:nvPr/>
        </p:nvSpPr>
        <p:spPr bwMode="auto">
          <a:xfrm>
            <a:off x="1143000" y="2808288"/>
            <a:ext cx="914400" cy="265112"/>
          </a:xfrm>
          <a:prstGeom prst="rect">
            <a:avLst/>
          </a:prstGeom>
          <a:solidFill>
            <a:srgbClr val="99CC00"/>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机电设备</a:t>
            </a:r>
            <a:endParaRPr lang="zh-CN" altLang="en-US" sz="2400" b="0">
              <a:solidFill>
                <a:schemeClr val="tx1"/>
              </a:solidFill>
              <a:latin typeface="Times" panose="02020603050405020304" pitchFamily="18" charset="0"/>
              <a:cs typeface="Times New Roman" panose="02020603050405020304" charset="0"/>
            </a:endParaRPr>
          </a:p>
        </p:txBody>
      </p:sp>
      <p:sp>
        <p:nvSpPr>
          <p:cNvPr id="75783" name="Rectangle 81"/>
          <p:cNvSpPr>
            <a:spLocks noChangeArrowheads="1"/>
          </p:cNvSpPr>
          <p:nvPr/>
        </p:nvSpPr>
        <p:spPr bwMode="auto">
          <a:xfrm>
            <a:off x="2606675" y="2808288"/>
            <a:ext cx="936625" cy="265112"/>
          </a:xfrm>
          <a:prstGeom prst="rect">
            <a:avLst/>
          </a:prstGeom>
          <a:solidFill>
            <a:srgbClr val="FFCC00"/>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电力系统</a:t>
            </a:r>
            <a:endParaRPr lang="zh-CN" altLang="en-US" sz="2400" b="0">
              <a:solidFill>
                <a:schemeClr val="tx1"/>
              </a:solidFill>
              <a:latin typeface="Times" panose="02020603050405020304" pitchFamily="18" charset="0"/>
              <a:cs typeface="Times New Roman" panose="02020603050405020304" charset="0"/>
            </a:endParaRPr>
          </a:p>
        </p:txBody>
      </p:sp>
      <p:sp>
        <p:nvSpPr>
          <p:cNvPr id="75784" name="Rectangle 80"/>
          <p:cNvSpPr>
            <a:spLocks noChangeArrowheads="1"/>
          </p:cNvSpPr>
          <p:nvPr/>
        </p:nvSpPr>
        <p:spPr bwMode="auto">
          <a:xfrm>
            <a:off x="4079875" y="2808288"/>
            <a:ext cx="949325" cy="265112"/>
          </a:xfrm>
          <a:prstGeom prst="rect">
            <a:avLst/>
          </a:prstGeom>
          <a:solidFill>
            <a:srgbClr val="FFFF99"/>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防洪</a:t>
            </a:r>
            <a:endParaRPr lang="zh-CN" altLang="en-US" sz="2400" b="0">
              <a:solidFill>
                <a:schemeClr val="tx1"/>
              </a:solidFill>
              <a:latin typeface="Times" panose="02020603050405020304" pitchFamily="18" charset="0"/>
              <a:cs typeface="Times New Roman" panose="02020603050405020304" charset="0"/>
            </a:endParaRPr>
          </a:p>
        </p:txBody>
      </p:sp>
      <p:sp>
        <p:nvSpPr>
          <p:cNvPr id="75785" name="Rectangle 79"/>
          <p:cNvSpPr>
            <a:spLocks noChangeArrowheads="1"/>
          </p:cNvSpPr>
          <p:nvPr/>
        </p:nvSpPr>
        <p:spPr bwMode="auto">
          <a:xfrm>
            <a:off x="5499100" y="2808288"/>
            <a:ext cx="901700" cy="265112"/>
          </a:xfrm>
          <a:prstGeom prst="rect">
            <a:avLst/>
          </a:prstGeom>
          <a:solidFill>
            <a:srgbClr val="FFCC99"/>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航运</a:t>
            </a:r>
            <a:endParaRPr lang="zh-CN" altLang="en-US" sz="2400" b="0">
              <a:solidFill>
                <a:schemeClr val="tx1"/>
              </a:solidFill>
              <a:latin typeface="Times" panose="02020603050405020304" pitchFamily="18" charset="0"/>
              <a:cs typeface="Times New Roman" panose="02020603050405020304" charset="0"/>
            </a:endParaRPr>
          </a:p>
        </p:txBody>
      </p:sp>
      <p:sp>
        <p:nvSpPr>
          <p:cNvPr id="75786" name="Rectangle 78"/>
          <p:cNvSpPr>
            <a:spLocks noChangeArrowheads="1"/>
          </p:cNvSpPr>
          <p:nvPr/>
        </p:nvSpPr>
        <p:spPr bwMode="auto">
          <a:xfrm>
            <a:off x="1143000" y="3571875"/>
            <a:ext cx="914400" cy="265113"/>
          </a:xfrm>
          <a:prstGeom prst="rect">
            <a:avLst/>
          </a:prstGeom>
          <a:solidFill>
            <a:srgbClr val="99CCFF"/>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施工</a:t>
            </a:r>
            <a:endParaRPr lang="zh-CN" altLang="en-US" sz="2400" b="0">
              <a:solidFill>
                <a:schemeClr val="tx1"/>
              </a:solidFill>
              <a:latin typeface="Times" panose="02020603050405020304" pitchFamily="18" charset="0"/>
              <a:cs typeface="Times New Roman" panose="02020603050405020304" charset="0"/>
            </a:endParaRPr>
          </a:p>
        </p:txBody>
      </p:sp>
      <p:sp>
        <p:nvSpPr>
          <p:cNvPr id="75787" name="Rectangle 77"/>
          <p:cNvSpPr>
            <a:spLocks noChangeArrowheads="1"/>
          </p:cNvSpPr>
          <p:nvPr/>
        </p:nvSpPr>
        <p:spPr bwMode="auto">
          <a:xfrm>
            <a:off x="2606675" y="3546475"/>
            <a:ext cx="936625" cy="265113"/>
          </a:xfrm>
          <a:prstGeom prst="rect">
            <a:avLst/>
          </a:prstGeom>
          <a:solidFill>
            <a:srgbClr val="FF00FF"/>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枢纽建筑物</a:t>
            </a:r>
            <a:endParaRPr lang="zh-CN" altLang="en-US" sz="2400" b="0">
              <a:solidFill>
                <a:schemeClr val="tx1"/>
              </a:solidFill>
              <a:latin typeface="Times" panose="02020603050405020304" pitchFamily="18" charset="0"/>
              <a:cs typeface="Times New Roman" panose="02020603050405020304" charset="0"/>
            </a:endParaRPr>
          </a:p>
        </p:txBody>
      </p:sp>
      <p:sp>
        <p:nvSpPr>
          <p:cNvPr id="75788" name="Rectangle 76"/>
          <p:cNvSpPr>
            <a:spLocks noChangeArrowheads="1"/>
          </p:cNvSpPr>
          <p:nvPr/>
        </p:nvSpPr>
        <p:spPr bwMode="auto">
          <a:xfrm>
            <a:off x="4079875" y="3546475"/>
            <a:ext cx="992188" cy="265113"/>
          </a:xfrm>
          <a:prstGeom prst="rect">
            <a:avLst/>
          </a:prstGeom>
          <a:solidFill>
            <a:srgbClr val="CCFFCC"/>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综合规划与水位</a:t>
            </a:r>
            <a:endParaRPr lang="zh-CN" altLang="en-US" sz="2400" b="0">
              <a:solidFill>
                <a:schemeClr val="tx1"/>
              </a:solidFill>
              <a:latin typeface="Times" panose="02020603050405020304" pitchFamily="18" charset="0"/>
              <a:cs typeface="Times New Roman" panose="02020603050405020304" charset="0"/>
            </a:endParaRPr>
          </a:p>
        </p:txBody>
      </p:sp>
      <p:sp>
        <p:nvSpPr>
          <p:cNvPr id="75789" name="Rectangle 75"/>
          <p:cNvSpPr>
            <a:spLocks noChangeArrowheads="1"/>
          </p:cNvSpPr>
          <p:nvPr/>
        </p:nvSpPr>
        <p:spPr bwMode="auto">
          <a:xfrm>
            <a:off x="5499100" y="4343400"/>
            <a:ext cx="1016000" cy="265113"/>
          </a:xfrm>
          <a:prstGeom prst="rect">
            <a:avLst/>
          </a:prstGeom>
          <a:solidFill>
            <a:srgbClr val="CCFFFF"/>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生态与环境</a:t>
            </a:r>
            <a:endParaRPr lang="zh-CN" altLang="en-US" sz="2400" b="0">
              <a:solidFill>
                <a:schemeClr val="tx1"/>
              </a:solidFill>
              <a:latin typeface="Times" panose="02020603050405020304" pitchFamily="18" charset="0"/>
              <a:cs typeface="Times New Roman" panose="02020603050405020304" charset="0"/>
            </a:endParaRPr>
          </a:p>
        </p:txBody>
      </p:sp>
      <p:sp>
        <p:nvSpPr>
          <p:cNvPr id="75790" name="Rectangle 74"/>
          <p:cNvSpPr>
            <a:spLocks noChangeArrowheads="1"/>
          </p:cNvSpPr>
          <p:nvPr/>
        </p:nvSpPr>
        <p:spPr bwMode="auto">
          <a:xfrm>
            <a:off x="4079875" y="4343400"/>
            <a:ext cx="949325" cy="265113"/>
          </a:xfrm>
          <a:prstGeom prst="rect">
            <a:avLst/>
          </a:prstGeom>
          <a:solidFill>
            <a:srgbClr val="FFFFCC"/>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移民</a:t>
            </a:r>
            <a:endParaRPr lang="zh-CN" altLang="en-US" sz="2400" b="0">
              <a:solidFill>
                <a:schemeClr val="tx1"/>
              </a:solidFill>
              <a:latin typeface="Times" panose="02020603050405020304" pitchFamily="18" charset="0"/>
              <a:cs typeface="Times New Roman" panose="02020603050405020304" charset="0"/>
            </a:endParaRPr>
          </a:p>
        </p:txBody>
      </p:sp>
      <p:sp>
        <p:nvSpPr>
          <p:cNvPr id="75791" name="Rectangle 73"/>
          <p:cNvSpPr>
            <a:spLocks noChangeArrowheads="1"/>
          </p:cNvSpPr>
          <p:nvPr/>
        </p:nvSpPr>
        <p:spPr bwMode="auto">
          <a:xfrm>
            <a:off x="2606675" y="4343400"/>
            <a:ext cx="936625" cy="265113"/>
          </a:xfrm>
          <a:prstGeom prst="rect">
            <a:avLst/>
          </a:prstGeom>
          <a:solidFill>
            <a:srgbClr val="33CCCC"/>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投资估算</a:t>
            </a:r>
            <a:endParaRPr lang="zh-CN" altLang="en-US" sz="2400" b="0">
              <a:solidFill>
                <a:schemeClr val="tx1"/>
              </a:solidFill>
              <a:latin typeface="Times" panose="02020603050405020304" pitchFamily="18" charset="0"/>
              <a:cs typeface="Times New Roman" panose="02020603050405020304" charset="0"/>
            </a:endParaRPr>
          </a:p>
        </p:txBody>
      </p:sp>
      <p:sp>
        <p:nvSpPr>
          <p:cNvPr id="75792" name="Rectangle 72"/>
          <p:cNvSpPr>
            <a:spLocks noChangeArrowheads="1"/>
          </p:cNvSpPr>
          <p:nvPr/>
        </p:nvSpPr>
        <p:spPr bwMode="auto">
          <a:xfrm>
            <a:off x="4079875" y="5026025"/>
            <a:ext cx="949325" cy="265113"/>
          </a:xfrm>
          <a:prstGeom prst="rect">
            <a:avLst/>
          </a:prstGeom>
          <a:solidFill>
            <a:srgbClr val="CCFFCC"/>
          </a:solidFill>
          <a:ln w="9525">
            <a:solidFill>
              <a:srgbClr val="000000"/>
            </a:solidFill>
            <a:miter lim="800000"/>
          </a:ln>
        </p:spPr>
        <p:txBody>
          <a:bodyPr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zh-CN" altLang="en-US" sz="900" b="0">
                <a:latin typeface="Times New Roman" panose="02020603050405020304" charset="0"/>
                <a:cs typeface="Times New Roman" panose="02020603050405020304" charset="0"/>
              </a:rPr>
              <a:t>综合经济评估</a:t>
            </a:r>
            <a:endParaRPr lang="zh-CN" altLang="en-US" sz="2400" b="0">
              <a:solidFill>
                <a:schemeClr val="tx1"/>
              </a:solidFill>
              <a:latin typeface="Times" panose="02020603050405020304" pitchFamily="18" charset="0"/>
              <a:cs typeface="Times New Roman" panose="02020603050405020304" charset="0"/>
            </a:endParaRPr>
          </a:p>
        </p:txBody>
      </p:sp>
      <p:sp>
        <p:nvSpPr>
          <p:cNvPr id="75793" name="Line 71"/>
          <p:cNvSpPr>
            <a:spLocks noChangeShapeType="1"/>
          </p:cNvSpPr>
          <p:nvPr/>
        </p:nvSpPr>
        <p:spPr bwMode="auto">
          <a:xfrm>
            <a:off x="4914900" y="2168525"/>
            <a:ext cx="6858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794" name="Line 70"/>
          <p:cNvSpPr>
            <a:spLocks noChangeShapeType="1"/>
          </p:cNvSpPr>
          <p:nvPr/>
        </p:nvSpPr>
        <p:spPr bwMode="auto">
          <a:xfrm>
            <a:off x="4914900" y="2370138"/>
            <a:ext cx="584200" cy="43497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795" name="Line 69"/>
          <p:cNvSpPr>
            <a:spLocks noChangeShapeType="1"/>
          </p:cNvSpPr>
          <p:nvPr/>
        </p:nvSpPr>
        <p:spPr bwMode="auto">
          <a:xfrm>
            <a:off x="4552950" y="2355850"/>
            <a:ext cx="0" cy="44926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796" name="Line 68"/>
          <p:cNvSpPr>
            <a:spLocks noChangeShapeType="1"/>
          </p:cNvSpPr>
          <p:nvPr/>
        </p:nvSpPr>
        <p:spPr bwMode="auto">
          <a:xfrm flipH="1">
            <a:off x="3543300" y="2355850"/>
            <a:ext cx="536575" cy="50958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797" name="Line 67"/>
          <p:cNvSpPr>
            <a:spLocks noChangeShapeType="1"/>
          </p:cNvSpPr>
          <p:nvPr/>
        </p:nvSpPr>
        <p:spPr bwMode="auto">
          <a:xfrm>
            <a:off x="4394200" y="3092450"/>
            <a:ext cx="0" cy="447675"/>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798" name="Line 66"/>
          <p:cNvSpPr>
            <a:spLocks noChangeShapeType="1"/>
          </p:cNvSpPr>
          <p:nvPr/>
        </p:nvSpPr>
        <p:spPr bwMode="auto">
          <a:xfrm>
            <a:off x="4710113" y="3092450"/>
            <a:ext cx="0" cy="44767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799" name="Line 65"/>
          <p:cNvSpPr>
            <a:spLocks noChangeShapeType="1"/>
          </p:cNvSpPr>
          <p:nvPr/>
        </p:nvSpPr>
        <p:spPr bwMode="auto">
          <a:xfrm>
            <a:off x="4394200" y="3830638"/>
            <a:ext cx="0" cy="506412"/>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00" name="Line 64"/>
          <p:cNvSpPr>
            <a:spLocks noChangeShapeType="1"/>
          </p:cNvSpPr>
          <p:nvPr/>
        </p:nvSpPr>
        <p:spPr bwMode="auto">
          <a:xfrm>
            <a:off x="4710113" y="3830638"/>
            <a:ext cx="0" cy="5064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01" name="Line 63"/>
          <p:cNvSpPr>
            <a:spLocks noChangeShapeType="1"/>
          </p:cNvSpPr>
          <p:nvPr/>
        </p:nvSpPr>
        <p:spPr bwMode="auto">
          <a:xfrm>
            <a:off x="4552950" y="4625975"/>
            <a:ext cx="0" cy="39370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02" name="Line 62"/>
          <p:cNvSpPr>
            <a:spLocks noChangeShapeType="1"/>
          </p:cNvSpPr>
          <p:nvPr/>
        </p:nvSpPr>
        <p:spPr bwMode="auto">
          <a:xfrm>
            <a:off x="6130925" y="2355850"/>
            <a:ext cx="0" cy="44926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03" name="Line 61"/>
          <p:cNvSpPr>
            <a:spLocks noChangeShapeType="1"/>
          </p:cNvSpPr>
          <p:nvPr/>
        </p:nvSpPr>
        <p:spPr bwMode="auto">
          <a:xfrm>
            <a:off x="6235700" y="2355850"/>
            <a:ext cx="0" cy="449263"/>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04" name="Line 60"/>
          <p:cNvSpPr>
            <a:spLocks noChangeShapeType="1"/>
          </p:cNvSpPr>
          <p:nvPr/>
        </p:nvSpPr>
        <p:spPr bwMode="auto">
          <a:xfrm>
            <a:off x="3543300" y="2971800"/>
            <a:ext cx="536575" cy="56832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05" name="Line 59"/>
          <p:cNvSpPr>
            <a:spLocks noChangeShapeType="1"/>
          </p:cNvSpPr>
          <p:nvPr/>
        </p:nvSpPr>
        <p:spPr bwMode="auto">
          <a:xfrm flipH="1">
            <a:off x="5078413" y="3092450"/>
            <a:ext cx="473075" cy="50482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06" name="Line 58"/>
          <p:cNvSpPr>
            <a:spLocks noChangeShapeType="1"/>
          </p:cNvSpPr>
          <p:nvPr/>
        </p:nvSpPr>
        <p:spPr bwMode="auto">
          <a:xfrm flipH="1">
            <a:off x="3605213" y="3830638"/>
            <a:ext cx="474662" cy="506412"/>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07" name="Line 57"/>
          <p:cNvSpPr>
            <a:spLocks noChangeShapeType="1"/>
          </p:cNvSpPr>
          <p:nvPr/>
        </p:nvSpPr>
        <p:spPr bwMode="auto">
          <a:xfrm flipH="1">
            <a:off x="3605213" y="3830638"/>
            <a:ext cx="579437" cy="61753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08" name="Line 56"/>
          <p:cNvSpPr>
            <a:spLocks noChangeShapeType="1"/>
          </p:cNvSpPr>
          <p:nvPr/>
        </p:nvSpPr>
        <p:spPr bwMode="auto">
          <a:xfrm>
            <a:off x="3552825" y="3092450"/>
            <a:ext cx="527050" cy="560388"/>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09" name="Line 55"/>
          <p:cNvSpPr>
            <a:spLocks noChangeShapeType="1"/>
          </p:cNvSpPr>
          <p:nvPr/>
        </p:nvSpPr>
        <p:spPr bwMode="auto">
          <a:xfrm flipH="1">
            <a:off x="4973638" y="2979738"/>
            <a:ext cx="525462" cy="560387"/>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10" name="Line 54"/>
          <p:cNvSpPr>
            <a:spLocks noChangeShapeType="1"/>
          </p:cNvSpPr>
          <p:nvPr/>
        </p:nvSpPr>
        <p:spPr bwMode="auto">
          <a:xfrm>
            <a:off x="3605213" y="4514850"/>
            <a:ext cx="474662" cy="0"/>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11" name="Line 53"/>
          <p:cNvSpPr>
            <a:spLocks noChangeShapeType="1"/>
          </p:cNvSpPr>
          <p:nvPr/>
        </p:nvSpPr>
        <p:spPr bwMode="auto">
          <a:xfrm>
            <a:off x="5078413" y="4570413"/>
            <a:ext cx="420687" cy="0"/>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12" name="Line 52"/>
          <p:cNvSpPr>
            <a:spLocks noChangeShapeType="1"/>
          </p:cNvSpPr>
          <p:nvPr/>
        </p:nvSpPr>
        <p:spPr bwMode="auto">
          <a:xfrm>
            <a:off x="5078413" y="4457700"/>
            <a:ext cx="420687"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13" name="Line 51"/>
          <p:cNvSpPr>
            <a:spLocks noChangeShapeType="1"/>
          </p:cNvSpPr>
          <p:nvPr/>
        </p:nvSpPr>
        <p:spPr bwMode="auto">
          <a:xfrm>
            <a:off x="3079750" y="3830638"/>
            <a:ext cx="0" cy="5064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14" name="Line 50"/>
          <p:cNvSpPr>
            <a:spLocks noChangeShapeType="1"/>
          </p:cNvSpPr>
          <p:nvPr/>
        </p:nvSpPr>
        <p:spPr bwMode="auto">
          <a:xfrm flipV="1">
            <a:off x="3543300" y="3662363"/>
            <a:ext cx="536575" cy="11112"/>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15" name="Line 49"/>
          <p:cNvSpPr>
            <a:spLocks noChangeShapeType="1"/>
          </p:cNvSpPr>
          <p:nvPr/>
        </p:nvSpPr>
        <p:spPr bwMode="auto">
          <a:xfrm>
            <a:off x="3543300" y="3773488"/>
            <a:ext cx="536575" cy="1587"/>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16" name="Line 48"/>
          <p:cNvSpPr>
            <a:spLocks noChangeShapeType="1"/>
          </p:cNvSpPr>
          <p:nvPr/>
        </p:nvSpPr>
        <p:spPr bwMode="auto">
          <a:xfrm>
            <a:off x="2079625" y="2867025"/>
            <a:ext cx="52705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17" name="Line 47"/>
          <p:cNvSpPr>
            <a:spLocks noChangeShapeType="1"/>
          </p:cNvSpPr>
          <p:nvPr/>
        </p:nvSpPr>
        <p:spPr bwMode="auto">
          <a:xfrm>
            <a:off x="2079625" y="2924175"/>
            <a:ext cx="527050" cy="0"/>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18" name="Line 46"/>
          <p:cNvSpPr>
            <a:spLocks noChangeShapeType="1"/>
          </p:cNvSpPr>
          <p:nvPr/>
        </p:nvSpPr>
        <p:spPr bwMode="auto">
          <a:xfrm>
            <a:off x="5078413" y="3775075"/>
            <a:ext cx="525462" cy="56197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19" name="Line 45"/>
          <p:cNvSpPr>
            <a:spLocks noChangeShapeType="1"/>
          </p:cNvSpPr>
          <p:nvPr/>
        </p:nvSpPr>
        <p:spPr bwMode="auto">
          <a:xfrm>
            <a:off x="5026025" y="3830638"/>
            <a:ext cx="473075" cy="506412"/>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20" name="Line 44"/>
          <p:cNvSpPr>
            <a:spLocks noChangeShapeType="1"/>
          </p:cNvSpPr>
          <p:nvPr/>
        </p:nvSpPr>
        <p:spPr bwMode="auto">
          <a:xfrm>
            <a:off x="1343025" y="3092450"/>
            <a:ext cx="0" cy="44767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21" name="Line 43"/>
          <p:cNvSpPr>
            <a:spLocks noChangeShapeType="1"/>
          </p:cNvSpPr>
          <p:nvPr/>
        </p:nvSpPr>
        <p:spPr bwMode="auto">
          <a:xfrm>
            <a:off x="1765300" y="3092450"/>
            <a:ext cx="0" cy="447675"/>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22" name="Line 42"/>
          <p:cNvSpPr>
            <a:spLocks noChangeShapeType="1"/>
          </p:cNvSpPr>
          <p:nvPr/>
        </p:nvSpPr>
        <p:spPr bwMode="auto">
          <a:xfrm>
            <a:off x="3079750" y="4625975"/>
            <a:ext cx="0" cy="5064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23" name="Line 41"/>
          <p:cNvSpPr>
            <a:spLocks noChangeShapeType="1"/>
          </p:cNvSpPr>
          <p:nvPr/>
        </p:nvSpPr>
        <p:spPr bwMode="auto">
          <a:xfrm>
            <a:off x="3079750" y="5138738"/>
            <a:ext cx="100012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24" name="Line 40"/>
          <p:cNvSpPr>
            <a:spLocks noChangeShapeType="1"/>
          </p:cNvSpPr>
          <p:nvPr/>
        </p:nvSpPr>
        <p:spPr bwMode="auto">
          <a:xfrm>
            <a:off x="2079625" y="3717925"/>
            <a:ext cx="527050" cy="0"/>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25" name="Line 39"/>
          <p:cNvSpPr>
            <a:spLocks noChangeShapeType="1"/>
          </p:cNvSpPr>
          <p:nvPr/>
        </p:nvSpPr>
        <p:spPr bwMode="auto">
          <a:xfrm>
            <a:off x="2079625" y="3775075"/>
            <a:ext cx="52705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26" name="Line 38"/>
          <p:cNvSpPr>
            <a:spLocks noChangeShapeType="1"/>
          </p:cNvSpPr>
          <p:nvPr/>
        </p:nvSpPr>
        <p:spPr bwMode="auto">
          <a:xfrm flipH="1">
            <a:off x="2290763" y="3035300"/>
            <a:ext cx="3159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27" name="Line 37"/>
          <p:cNvSpPr>
            <a:spLocks noChangeShapeType="1"/>
          </p:cNvSpPr>
          <p:nvPr/>
        </p:nvSpPr>
        <p:spPr bwMode="auto">
          <a:xfrm>
            <a:off x="2290763" y="3035300"/>
            <a:ext cx="0" cy="140335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28" name="Line 36"/>
          <p:cNvSpPr>
            <a:spLocks noChangeShapeType="1"/>
          </p:cNvSpPr>
          <p:nvPr/>
        </p:nvSpPr>
        <p:spPr bwMode="auto">
          <a:xfrm>
            <a:off x="2290763" y="4457700"/>
            <a:ext cx="315912"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29" name="Line 35"/>
          <p:cNvSpPr>
            <a:spLocks noChangeShapeType="1"/>
          </p:cNvSpPr>
          <p:nvPr/>
        </p:nvSpPr>
        <p:spPr bwMode="auto">
          <a:xfrm flipH="1">
            <a:off x="2447925" y="2184400"/>
            <a:ext cx="15875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30" name="Line 34"/>
          <p:cNvSpPr>
            <a:spLocks noChangeShapeType="1"/>
          </p:cNvSpPr>
          <p:nvPr/>
        </p:nvSpPr>
        <p:spPr bwMode="auto">
          <a:xfrm>
            <a:off x="2447925" y="2184400"/>
            <a:ext cx="0" cy="14589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31" name="Line 33"/>
          <p:cNvSpPr>
            <a:spLocks noChangeShapeType="1"/>
          </p:cNvSpPr>
          <p:nvPr/>
        </p:nvSpPr>
        <p:spPr bwMode="auto">
          <a:xfrm>
            <a:off x="2447925" y="3662363"/>
            <a:ext cx="15875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32" name="Line 32"/>
          <p:cNvSpPr>
            <a:spLocks noChangeShapeType="1"/>
          </p:cNvSpPr>
          <p:nvPr/>
        </p:nvSpPr>
        <p:spPr bwMode="auto">
          <a:xfrm flipH="1">
            <a:off x="5078413" y="5197475"/>
            <a:ext cx="893762"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33" name="Line 31"/>
          <p:cNvSpPr>
            <a:spLocks noChangeShapeType="1"/>
          </p:cNvSpPr>
          <p:nvPr/>
        </p:nvSpPr>
        <p:spPr bwMode="auto">
          <a:xfrm>
            <a:off x="5078413" y="3775075"/>
            <a:ext cx="211137"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34" name="Line 30"/>
          <p:cNvSpPr>
            <a:spLocks noChangeShapeType="1"/>
          </p:cNvSpPr>
          <p:nvPr/>
        </p:nvSpPr>
        <p:spPr bwMode="auto">
          <a:xfrm>
            <a:off x="5289550" y="3775075"/>
            <a:ext cx="0" cy="12906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35" name="Line 29"/>
          <p:cNvSpPr>
            <a:spLocks noChangeShapeType="1"/>
          </p:cNvSpPr>
          <p:nvPr/>
        </p:nvSpPr>
        <p:spPr bwMode="auto">
          <a:xfrm flipH="1">
            <a:off x="5078413" y="5081588"/>
            <a:ext cx="211137"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36" name="Line 28"/>
          <p:cNvSpPr>
            <a:spLocks noChangeShapeType="1"/>
          </p:cNvSpPr>
          <p:nvPr/>
        </p:nvSpPr>
        <p:spPr bwMode="auto">
          <a:xfrm>
            <a:off x="6578600" y="2295525"/>
            <a:ext cx="0" cy="13477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37" name="Line 27"/>
          <p:cNvSpPr>
            <a:spLocks noChangeShapeType="1"/>
          </p:cNvSpPr>
          <p:nvPr/>
        </p:nvSpPr>
        <p:spPr bwMode="auto">
          <a:xfrm flipH="1">
            <a:off x="5078413" y="3662363"/>
            <a:ext cx="1497012"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38" name="Line 26"/>
          <p:cNvSpPr>
            <a:spLocks noChangeShapeType="1"/>
          </p:cNvSpPr>
          <p:nvPr/>
        </p:nvSpPr>
        <p:spPr bwMode="auto">
          <a:xfrm>
            <a:off x="5078413" y="3717925"/>
            <a:ext cx="157797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39" name="Line 25"/>
          <p:cNvSpPr>
            <a:spLocks noChangeShapeType="1"/>
          </p:cNvSpPr>
          <p:nvPr/>
        </p:nvSpPr>
        <p:spPr bwMode="auto">
          <a:xfrm flipV="1">
            <a:off x="6656388" y="2184400"/>
            <a:ext cx="0" cy="15144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0" name="Line 24"/>
          <p:cNvSpPr>
            <a:spLocks noChangeShapeType="1"/>
          </p:cNvSpPr>
          <p:nvPr/>
        </p:nvSpPr>
        <p:spPr bwMode="auto">
          <a:xfrm>
            <a:off x="6499225" y="2184400"/>
            <a:ext cx="157163" cy="0"/>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41" name="Line 23"/>
          <p:cNvSpPr>
            <a:spLocks noChangeShapeType="1"/>
          </p:cNvSpPr>
          <p:nvPr/>
        </p:nvSpPr>
        <p:spPr bwMode="auto">
          <a:xfrm flipV="1">
            <a:off x="6078538" y="1955800"/>
            <a:ext cx="0" cy="112713"/>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2" name="Line 22"/>
          <p:cNvSpPr>
            <a:spLocks noChangeShapeType="1"/>
          </p:cNvSpPr>
          <p:nvPr/>
        </p:nvSpPr>
        <p:spPr bwMode="auto">
          <a:xfrm>
            <a:off x="6078538" y="1955800"/>
            <a:ext cx="6842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3" name="Line 21"/>
          <p:cNvSpPr>
            <a:spLocks noChangeShapeType="1"/>
          </p:cNvSpPr>
          <p:nvPr/>
        </p:nvSpPr>
        <p:spPr bwMode="auto">
          <a:xfrm>
            <a:off x="6762750" y="1955800"/>
            <a:ext cx="0" cy="24145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4" name="Line 20"/>
          <p:cNvSpPr>
            <a:spLocks noChangeShapeType="1"/>
          </p:cNvSpPr>
          <p:nvPr/>
        </p:nvSpPr>
        <p:spPr bwMode="auto">
          <a:xfrm flipH="1">
            <a:off x="6499225" y="4402138"/>
            <a:ext cx="26352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45" name="Line 19"/>
          <p:cNvSpPr>
            <a:spLocks noChangeShapeType="1"/>
          </p:cNvSpPr>
          <p:nvPr/>
        </p:nvSpPr>
        <p:spPr bwMode="auto">
          <a:xfrm flipV="1">
            <a:off x="4552950" y="1844675"/>
            <a:ext cx="0" cy="2238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6" name="Line 18"/>
          <p:cNvSpPr>
            <a:spLocks noChangeShapeType="1"/>
          </p:cNvSpPr>
          <p:nvPr/>
        </p:nvSpPr>
        <p:spPr bwMode="auto">
          <a:xfrm>
            <a:off x="4552950" y="1844675"/>
            <a:ext cx="231457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7" name="Line 17"/>
          <p:cNvSpPr>
            <a:spLocks noChangeShapeType="1"/>
          </p:cNvSpPr>
          <p:nvPr/>
        </p:nvSpPr>
        <p:spPr bwMode="auto">
          <a:xfrm flipV="1">
            <a:off x="3079750" y="1728788"/>
            <a:ext cx="0" cy="336550"/>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48" name="Line 16"/>
          <p:cNvSpPr>
            <a:spLocks noChangeShapeType="1"/>
          </p:cNvSpPr>
          <p:nvPr/>
        </p:nvSpPr>
        <p:spPr bwMode="auto">
          <a:xfrm>
            <a:off x="3079750" y="1728788"/>
            <a:ext cx="389255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49" name="Line 15"/>
          <p:cNvSpPr>
            <a:spLocks noChangeShapeType="1"/>
          </p:cNvSpPr>
          <p:nvPr/>
        </p:nvSpPr>
        <p:spPr bwMode="auto">
          <a:xfrm>
            <a:off x="6972300" y="1728788"/>
            <a:ext cx="0" cy="280670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0" name="Line 14"/>
          <p:cNvSpPr>
            <a:spLocks noChangeShapeType="1"/>
          </p:cNvSpPr>
          <p:nvPr/>
        </p:nvSpPr>
        <p:spPr bwMode="auto">
          <a:xfrm flipH="1">
            <a:off x="6499225" y="4570413"/>
            <a:ext cx="473075"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51" name="Line 13"/>
          <p:cNvSpPr>
            <a:spLocks noChangeShapeType="1"/>
          </p:cNvSpPr>
          <p:nvPr/>
        </p:nvSpPr>
        <p:spPr bwMode="auto">
          <a:xfrm>
            <a:off x="6867525" y="1844675"/>
            <a:ext cx="0" cy="261143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2" name="Line 12"/>
          <p:cNvSpPr>
            <a:spLocks noChangeShapeType="1"/>
          </p:cNvSpPr>
          <p:nvPr/>
        </p:nvSpPr>
        <p:spPr bwMode="auto">
          <a:xfrm flipH="1">
            <a:off x="6499225" y="4483100"/>
            <a:ext cx="36830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53" name="Line 11"/>
          <p:cNvSpPr>
            <a:spLocks noChangeShapeType="1"/>
          </p:cNvSpPr>
          <p:nvPr/>
        </p:nvSpPr>
        <p:spPr bwMode="auto">
          <a:xfrm flipV="1">
            <a:off x="1343025" y="2524125"/>
            <a:ext cx="0" cy="280988"/>
          </a:xfrm>
          <a:prstGeom prst="line">
            <a:avLst/>
          </a:prstGeom>
          <a:noFill/>
          <a:ln w="9525">
            <a:solidFill>
              <a:srgbClr val="000000"/>
            </a:solidFill>
            <a:round/>
            <a:head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54" name="Line 10"/>
          <p:cNvSpPr>
            <a:spLocks noChangeShapeType="1"/>
          </p:cNvSpPr>
          <p:nvPr/>
        </p:nvSpPr>
        <p:spPr bwMode="auto">
          <a:xfrm>
            <a:off x="1343025" y="2524125"/>
            <a:ext cx="4576763"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5" name="Line 9"/>
          <p:cNvSpPr>
            <a:spLocks noChangeShapeType="1"/>
          </p:cNvSpPr>
          <p:nvPr/>
        </p:nvSpPr>
        <p:spPr bwMode="auto">
          <a:xfrm>
            <a:off x="5919788" y="2524125"/>
            <a:ext cx="0" cy="280988"/>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6" name="Line 8"/>
          <p:cNvSpPr>
            <a:spLocks noChangeShapeType="1"/>
          </p:cNvSpPr>
          <p:nvPr/>
        </p:nvSpPr>
        <p:spPr bwMode="auto">
          <a:xfrm flipV="1">
            <a:off x="1765300" y="2640013"/>
            <a:ext cx="0" cy="1682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7" name="Line 7"/>
          <p:cNvSpPr>
            <a:spLocks noChangeShapeType="1"/>
          </p:cNvSpPr>
          <p:nvPr/>
        </p:nvSpPr>
        <p:spPr bwMode="auto">
          <a:xfrm>
            <a:off x="1765300" y="2640013"/>
            <a:ext cx="3997325"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58" name="Line 6"/>
          <p:cNvSpPr>
            <a:spLocks noChangeShapeType="1"/>
          </p:cNvSpPr>
          <p:nvPr/>
        </p:nvSpPr>
        <p:spPr bwMode="auto">
          <a:xfrm>
            <a:off x="5762625" y="2640013"/>
            <a:ext cx="0" cy="16827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nchor="ctr"/>
          <a:lstStyle/>
          <a:p>
            <a:endParaRPr lang="zh-CN" altLang="en-US"/>
          </a:p>
        </p:txBody>
      </p:sp>
      <p:sp>
        <p:nvSpPr>
          <p:cNvPr id="75859" name="Line 5"/>
          <p:cNvSpPr>
            <a:spLocks noChangeShapeType="1"/>
          </p:cNvSpPr>
          <p:nvPr/>
        </p:nvSpPr>
        <p:spPr bwMode="auto">
          <a:xfrm flipV="1">
            <a:off x="5972175" y="4625975"/>
            <a:ext cx="0" cy="561975"/>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60" name="Line 4"/>
          <p:cNvSpPr>
            <a:spLocks noChangeShapeType="1"/>
          </p:cNvSpPr>
          <p:nvPr/>
        </p:nvSpPr>
        <p:spPr bwMode="auto">
          <a:xfrm flipH="1">
            <a:off x="6491288" y="2295525"/>
            <a:ext cx="87312"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nchor="ctr"/>
          <a:lstStyle/>
          <a:p>
            <a:endParaRPr lang="zh-CN" altLang="en-US"/>
          </a:p>
        </p:txBody>
      </p:sp>
      <p:sp>
        <p:nvSpPr>
          <p:cNvPr id="75861" name="Rectangle 86"/>
          <p:cNvSpPr>
            <a:spLocks noChangeArrowheads="1"/>
          </p:cNvSpPr>
          <p:nvPr/>
        </p:nvSpPr>
        <p:spPr bwMode="auto">
          <a:xfrm>
            <a:off x="0" y="15684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endParaRPr lang="zh-CN" altLang="en-US" sz="2400" b="0">
              <a:solidFill>
                <a:schemeClr val="tx1"/>
              </a:solidFill>
            </a:endParaRPr>
          </a:p>
        </p:txBody>
      </p:sp>
    </p:spTree>
  </p:cSld>
  <p:clrMapOvr>
    <a:masterClrMapping/>
  </p:clrMapOvr>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3175" y="0"/>
            <a:ext cx="8461375" cy="1181100"/>
          </a:xfrm>
        </p:spPr>
        <p:txBody>
          <a:bodyPr/>
          <a:lstStyle/>
          <a:p>
            <a:pPr eaLnBrk="1" hangingPunct="1"/>
            <a:r>
              <a:rPr lang="zh-CN" altLang="en-US" smtClean="0"/>
              <a:t>技术 </a:t>
            </a:r>
            <a:r>
              <a:rPr lang="en-US" altLang="zh-CN" smtClean="0"/>
              <a:t>vs. </a:t>
            </a:r>
            <a:r>
              <a:rPr lang="zh-CN" altLang="en-US" smtClean="0"/>
              <a:t>经济</a:t>
            </a:r>
            <a:endParaRPr lang="zh-CN" altLang="en-US" smtClean="0"/>
          </a:p>
        </p:txBody>
      </p:sp>
      <p:sp>
        <p:nvSpPr>
          <p:cNvPr id="76803" name="Rectangle 3"/>
          <p:cNvSpPr>
            <a:spLocks noGrp="1" noChangeArrowheads="1"/>
          </p:cNvSpPr>
          <p:nvPr>
            <p:ph type="body" idx="1"/>
          </p:nvPr>
        </p:nvSpPr>
        <p:spPr>
          <a:xfrm>
            <a:off x="228600" y="1371600"/>
            <a:ext cx="8229600" cy="4411663"/>
          </a:xfrm>
        </p:spPr>
        <p:txBody>
          <a:bodyPr/>
          <a:lstStyle/>
          <a:p>
            <a:pPr eaLnBrk="1" hangingPunct="1"/>
            <a:r>
              <a:rPr lang="zh-CN" altLang="en-US" sz="3200" smtClean="0"/>
              <a:t>在工程活动中，不仅要关注</a:t>
            </a:r>
            <a:r>
              <a:rPr lang="zh-CN" altLang="en-US" sz="3200" u="sng" smtClean="0">
                <a:solidFill>
                  <a:srgbClr val="FF0000"/>
                </a:solidFill>
              </a:rPr>
              <a:t>技术</a:t>
            </a:r>
            <a:r>
              <a:rPr lang="zh-CN" altLang="en-US" sz="3200" u="sng" smtClean="0"/>
              <a:t>层面</a:t>
            </a:r>
            <a:r>
              <a:rPr lang="zh-CN" altLang="en-US" sz="3200" smtClean="0"/>
              <a:t>的问题，还要关注</a:t>
            </a:r>
            <a:r>
              <a:rPr lang="zh-CN" altLang="en-US" sz="3200" u="sng" smtClean="0">
                <a:solidFill>
                  <a:srgbClr val="FF0000"/>
                </a:solidFill>
              </a:rPr>
              <a:t>经济</a:t>
            </a:r>
            <a:r>
              <a:rPr lang="zh-CN" altLang="en-US" sz="3200" u="sng" smtClean="0"/>
              <a:t>层面</a:t>
            </a:r>
            <a:r>
              <a:rPr lang="zh-CN" altLang="en-US" sz="3200" smtClean="0"/>
              <a:t>的问题。</a:t>
            </a:r>
            <a:endParaRPr lang="zh-CN" altLang="en-US" sz="3200" smtClean="0"/>
          </a:p>
        </p:txBody>
      </p:sp>
      <p:sp>
        <p:nvSpPr>
          <p:cNvPr id="76804" name="Text Box 4"/>
          <p:cNvSpPr txBox="1">
            <a:spLocks noChangeArrowheads="1"/>
          </p:cNvSpPr>
          <p:nvPr/>
        </p:nvSpPr>
        <p:spPr bwMode="auto">
          <a:xfrm>
            <a:off x="719138" y="3284538"/>
            <a:ext cx="1800225" cy="2027237"/>
          </a:xfrm>
          <a:prstGeom prst="rect">
            <a:avLst/>
          </a:prstGeom>
          <a:noFill/>
          <a:ln w="9525">
            <a:solidFill>
              <a:schemeClr val="tx1"/>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1" hangingPunct="1">
              <a:spcBef>
                <a:spcPct val="50000"/>
              </a:spcBef>
              <a:buFontTx/>
              <a:buNone/>
            </a:pPr>
            <a:r>
              <a:rPr lang="zh-CN" altLang="en-US" sz="1800" b="0">
                <a:solidFill>
                  <a:schemeClr val="tx1"/>
                </a:solidFill>
                <a:ea typeface="宋体" panose="02010600030101010101" pitchFamily="2" charset="-122"/>
              </a:rPr>
              <a:t>微观经济学</a:t>
            </a:r>
            <a:endParaRPr lang="zh-CN" altLang="en-US" sz="1800" b="0">
              <a:solidFill>
                <a:schemeClr val="tx1"/>
              </a:solidFill>
              <a:ea typeface="宋体" panose="02010600030101010101" pitchFamily="2" charset="-122"/>
            </a:endParaRPr>
          </a:p>
          <a:p>
            <a:pPr eaLnBrk="1" hangingPunct="1">
              <a:spcBef>
                <a:spcPct val="50000"/>
              </a:spcBef>
              <a:buFontTx/>
              <a:buNone/>
            </a:pPr>
            <a:r>
              <a:rPr lang="zh-CN" altLang="en-US" sz="1800" b="0">
                <a:solidFill>
                  <a:schemeClr val="tx1"/>
                </a:solidFill>
                <a:ea typeface="宋体" panose="02010600030101010101" pitchFamily="2" charset="-122"/>
              </a:rPr>
              <a:t>宏观经济学</a:t>
            </a:r>
            <a:endParaRPr lang="zh-CN" altLang="en-US" sz="1800" b="0">
              <a:solidFill>
                <a:schemeClr val="tx1"/>
              </a:solidFill>
              <a:ea typeface="宋体" panose="02010600030101010101" pitchFamily="2" charset="-122"/>
            </a:endParaRPr>
          </a:p>
          <a:p>
            <a:pPr eaLnBrk="1" hangingPunct="1">
              <a:spcBef>
                <a:spcPct val="50000"/>
              </a:spcBef>
              <a:buFontTx/>
              <a:buNone/>
            </a:pPr>
            <a:r>
              <a:rPr lang="zh-CN" altLang="en-US" sz="1800" b="0">
                <a:solidFill>
                  <a:schemeClr val="tx1"/>
                </a:solidFill>
                <a:ea typeface="宋体" panose="02010600030101010101" pitchFamily="2" charset="-122"/>
              </a:rPr>
              <a:t>会计学</a:t>
            </a:r>
            <a:endParaRPr lang="zh-CN" altLang="en-US" sz="1800" b="0">
              <a:solidFill>
                <a:schemeClr val="tx1"/>
              </a:solidFill>
              <a:ea typeface="宋体" panose="02010600030101010101" pitchFamily="2" charset="-122"/>
            </a:endParaRPr>
          </a:p>
          <a:p>
            <a:pPr eaLnBrk="1" hangingPunct="1">
              <a:spcBef>
                <a:spcPct val="50000"/>
              </a:spcBef>
              <a:buFontTx/>
              <a:buNone/>
            </a:pPr>
            <a:r>
              <a:rPr lang="zh-CN" altLang="en-US" sz="1800" b="0">
                <a:solidFill>
                  <a:schemeClr val="tx1"/>
                </a:solidFill>
                <a:ea typeface="宋体" panose="02010600030101010101" pitchFamily="2" charset="-122"/>
              </a:rPr>
              <a:t>金融与投资学</a:t>
            </a:r>
            <a:endParaRPr lang="zh-CN" altLang="en-US" sz="1800" b="0">
              <a:solidFill>
                <a:schemeClr val="tx1"/>
              </a:solidFill>
              <a:ea typeface="宋体" panose="02010600030101010101" pitchFamily="2" charset="-122"/>
            </a:endParaRPr>
          </a:p>
          <a:p>
            <a:pPr eaLnBrk="1" hangingPunct="1">
              <a:spcBef>
                <a:spcPct val="50000"/>
              </a:spcBef>
              <a:buFontTx/>
              <a:buNone/>
            </a:pPr>
            <a:r>
              <a:rPr lang="en-US" altLang="zh-CN" sz="1800" b="0">
                <a:solidFill>
                  <a:schemeClr val="tx1"/>
                </a:solidFill>
                <a:ea typeface="宋体" panose="02010600030101010101" pitchFamily="2" charset="-122"/>
              </a:rPr>
              <a:t>……</a:t>
            </a:r>
            <a:endParaRPr lang="en-US" altLang="zh-CN" sz="1800" b="0">
              <a:solidFill>
                <a:schemeClr val="tx1"/>
              </a:solidFill>
              <a:ea typeface="宋体" panose="02010600030101010101" pitchFamily="2" charset="-122"/>
            </a:endParaRPr>
          </a:p>
        </p:txBody>
      </p:sp>
      <p:sp>
        <p:nvSpPr>
          <p:cNvPr id="76805" name="AutoShape 5"/>
          <p:cNvSpPr>
            <a:spLocks noChangeArrowheads="1"/>
          </p:cNvSpPr>
          <p:nvPr/>
        </p:nvSpPr>
        <p:spPr bwMode="auto">
          <a:xfrm>
            <a:off x="6408738" y="1989138"/>
            <a:ext cx="215900" cy="719137"/>
          </a:xfrm>
          <a:prstGeom prst="downArrow">
            <a:avLst>
              <a:gd name="adj1" fmla="val 50000"/>
              <a:gd name="adj2" fmla="val 83272"/>
            </a:avLst>
          </a:prstGeom>
          <a:solidFill>
            <a:schemeClr val="accent1"/>
          </a:solidFill>
          <a:ln w="9525">
            <a:solidFill>
              <a:srgbClr val="000000"/>
            </a:solidFill>
            <a:miter lim="800000"/>
          </a:ln>
        </p:spPr>
        <p:txBody>
          <a:bodyPr vert="eaVert" wrap="none"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endParaRPr lang="zh-CN" altLang="en-US" sz="2400" b="0">
              <a:solidFill>
                <a:schemeClr val="tx1"/>
              </a:solidFill>
            </a:endParaRPr>
          </a:p>
        </p:txBody>
      </p:sp>
      <p:sp>
        <p:nvSpPr>
          <p:cNvPr id="76806" name="Text Box 6"/>
          <p:cNvSpPr txBox="1">
            <a:spLocks noChangeArrowheads="1"/>
          </p:cNvSpPr>
          <p:nvPr/>
        </p:nvSpPr>
        <p:spPr bwMode="auto">
          <a:xfrm>
            <a:off x="5903913" y="2708275"/>
            <a:ext cx="1800225" cy="202723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1" hangingPunct="1">
              <a:spcBef>
                <a:spcPct val="50000"/>
              </a:spcBef>
              <a:buFontTx/>
              <a:buNone/>
            </a:pPr>
            <a:r>
              <a:rPr lang="zh-CN" altLang="en-US" sz="1800" b="0">
                <a:ea typeface="宋体" panose="02010600030101010101" pitchFamily="2" charset="-122"/>
              </a:rPr>
              <a:t>结构力学</a:t>
            </a:r>
            <a:endParaRPr lang="zh-CN" altLang="en-US" sz="1800" b="0">
              <a:ea typeface="宋体" panose="02010600030101010101" pitchFamily="2" charset="-122"/>
            </a:endParaRPr>
          </a:p>
          <a:p>
            <a:pPr eaLnBrk="1" hangingPunct="1">
              <a:spcBef>
                <a:spcPct val="50000"/>
              </a:spcBef>
              <a:buFontTx/>
              <a:buNone/>
            </a:pPr>
            <a:r>
              <a:rPr lang="zh-CN" altLang="en-US" sz="1800" b="0">
                <a:ea typeface="宋体" panose="02010600030101010101" pitchFamily="2" charset="-122"/>
              </a:rPr>
              <a:t>材料力学</a:t>
            </a:r>
            <a:endParaRPr lang="zh-CN" altLang="en-US" sz="1800" b="0">
              <a:ea typeface="宋体" panose="02010600030101010101" pitchFamily="2" charset="-122"/>
            </a:endParaRPr>
          </a:p>
          <a:p>
            <a:pPr eaLnBrk="1" hangingPunct="1">
              <a:spcBef>
                <a:spcPct val="50000"/>
              </a:spcBef>
              <a:buFontTx/>
              <a:buNone/>
            </a:pPr>
            <a:r>
              <a:rPr lang="zh-CN" altLang="en-US" sz="1800" b="0">
                <a:ea typeface="宋体" panose="02010600030101010101" pitchFamily="2" charset="-122"/>
              </a:rPr>
              <a:t>钢筋混凝土结构</a:t>
            </a:r>
            <a:endParaRPr lang="zh-CN" altLang="en-US" sz="1800" b="0">
              <a:ea typeface="宋体" panose="02010600030101010101" pitchFamily="2" charset="-122"/>
            </a:endParaRPr>
          </a:p>
          <a:p>
            <a:pPr eaLnBrk="1" hangingPunct="1">
              <a:spcBef>
                <a:spcPct val="50000"/>
              </a:spcBef>
              <a:buFontTx/>
              <a:buNone/>
            </a:pPr>
            <a:r>
              <a:rPr lang="zh-CN" altLang="en-US" sz="1800" b="0">
                <a:ea typeface="宋体" panose="02010600030101010101" pitchFamily="2" charset="-122"/>
              </a:rPr>
              <a:t>钢结构</a:t>
            </a:r>
            <a:endParaRPr lang="zh-CN" altLang="en-US" sz="1800" b="0">
              <a:ea typeface="宋体" panose="02010600030101010101" pitchFamily="2" charset="-122"/>
            </a:endParaRPr>
          </a:p>
          <a:p>
            <a:pPr eaLnBrk="1" hangingPunct="1">
              <a:spcBef>
                <a:spcPct val="50000"/>
              </a:spcBef>
              <a:buFontTx/>
              <a:buNone/>
            </a:pPr>
            <a:r>
              <a:rPr lang="zh-CN" altLang="en-US" sz="1800" b="0">
                <a:ea typeface="宋体" panose="02010600030101010101" pitchFamily="2" charset="-122"/>
              </a:rPr>
              <a:t>高层结构</a:t>
            </a:r>
            <a:r>
              <a:rPr lang="en-US" altLang="zh-CN" sz="1800" b="0">
                <a:ea typeface="宋体" panose="02010600030101010101" pitchFamily="2" charset="-122"/>
              </a:rPr>
              <a:t>……</a:t>
            </a:r>
            <a:endParaRPr lang="en-US" altLang="zh-CN" sz="1800" b="0">
              <a:ea typeface="宋体" panose="02010600030101010101" pitchFamily="2" charset="-122"/>
            </a:endParaRPr>
          </a:p>
        </p:txBody>
      </p:sp>
      <p:sp>
        <p:nvSpPr>
          <p:cNvPr id="76807" name="AutoShape 7"/>
          <p:cNvSpPr>
            <a:spLocks noChangeArrowheads="1"/>
          </p:cNvSpPr>
          <p:nvPr/>
        </p:nvSpPr>
        <p:spPr bwMode="auto">
          <a:xfrm>
            <a:off x="3671888" y="2420938"/>
            <a:ext cx="215900" cy="1150937"/>
          </a:xfrm>
          <a:prstGeom prst="downArrow">
            <a:avLst>
              <a:gd name="adj1" fmla="val 50000"/>
              <a:gd name="adj2" fmla="val 133272"/>
            </a:avLst>
          </a:prstGeom>
          <a:solidFill>
            <a:schemeClr val="accent1"/>
          </a:solidFill>
          <a:ln w="9525">
            <a:solidFill>
              <a:srgbClr val="000000"/>
            </a:solidFill>
            <a:miter lim="800000"/>
          </a:ln>
        </p:spPr>
        <p:txBody>
          <a:bodyPr vert="eaVert" wrap="none"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endParaRPr lang="zh-CN" altLang="en-US" sz="2400" b="0">
              <a:solidFill>
                <a:schemeClr val="tx1"/>
              </a:solidFill>
            </a:endParaRPr>
          </a:p>
        </p:txBody>
      </p:sp>
      <p:sp>
        <p:nvSpPr>
          <p:cNvPr id="76808" name="Text Box 8"/>
          <p:cNvSpPr txBox="1">
            <a:spLocks noChangeArrowheads="1"/>
          </p:cNvSpPr>
          <p:nvPr/>
        </p:nvSpPr>
        <p:spPr bwMode="auto">
          <a:xfrm>
            <a:off x="3095625" y="3573463"/>
            <a:ext cx="1800225" cy="4667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1" hangingPunct="1">
              <a:spcBef>
                <a:spcPct val="50000"/>
              </a:spcBef>
              <a:buFontTx/>
              <a:buNone/>
            </a:pPr>
            <a:r>
              <a:rPr lang="zh-CN" altLang="en-US" sz="2400">
                <a:ea typeface="宋体" panose="02010600030101010101" pitchFamily="2" charset="-122"/>
              </a:rPr>
              <a:t>工程经济学</a:t>
            </a:r>
            <a:endParaRPr lang="zh-CN" altLang="en-US" sz="1800">
              <a:ea typeface="宋体" panose="02010600030101010101" pitchFamily="2" charset="-122"/>
            </a:endParaRPr>
          </a:p>
        </p:txBody>
      </p:sp>
      <p:sp>
        <p:nvSpPr>
          <p:cNvPr id="76809" name="Line 9"/>
          <p:cNvSpPr>
            <a:spLocks noChangeShapeType="1"/>
          </p:cNvSpPr>
          <p:nvPr/>
        </p:nvSpPr>
        <p:spPr bwMode="auto">
          <a:xfrm flipV="1">
            <a:off x="4895850" y="3789363"/>
            <a:ext cx="1008063" cy="0"/>
          </a:xfrm>
          <a:prstGeom prst="line">
            <a:avLst/>
          </a:prstGeom>
          <a:noFill/>
          <a:ln w="285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76810" name="Text Box 10"/>
          <p:cNvSpPr txBox="1">
            <a:spLocks noChangeArrowheads="1"/>
          </p:cNvSpPr>
          <p:nvPr/>
        </p:nvSpPr>
        <p:spPr bwMode="auto">
          <a:xfrm>
            <a:off x="719138" y="2420938"/>
            <a:ext cx="1800225" cy="4090987"/>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1" hangingPunct="1">
              <a:spcBef>
                <a:spcPct val="50000"/>
              </a:spcBef>
              <a:buFontTx/>
              <a:buNone/>
            </a:pPr>
            <a:r>
              <a:rPr lang="zh-CN" altLang="en-US" sz="1800" b="0">
                <a:ea typeface="宋体" panose="02010600030101010101" pitchFamily="2" charset="-122"/>
              </a:rPr>
              <a:t>微观经济学</a:t>
            </a:r>
            <a:endParaRPr lang="zh-CN" altLang="en-US" sz="1800" b="0">
              <a:ea typeface="宋体" panose="02010600030101010101" pitchFamily="2" charset="-122"/>
            </a:endParaRPr>
          </a:p>
          <a:p>
            <a:pPr eaLnBrk="1" hangingPunct="1">
              <a:spcBef>
                <a:spcPct val="50000"/>
              </a:spcBef>
              <a:buFontTx/>
              <a:buNone/>
            </a:pPr>
            <a:r>
              <a:rPr lang="zh-CN" altLang="en-US" sz="1800" b="0">
                <a:ea typeface="宋体" panose="02010600030101010101" pitchFamily="2" charset="-122"/>
              </a:rPr>
              <a:t>宏观经济学</a:t>
            </a:r>
            <a:endParaRPr lang="zh-CN" altLang="en-US" sz="1800" b="0">
              <a:ea typeface="宋体" panose="02010600030101010101" pitchFamily="2" charset="-122"/>
            </a:endParaRPr>
          </a:p>
          <a:p>
            <a:pPr eaLnBrk="1" hangingPunct="1">
              <a:spcBef>
                <a:spcPct val="50000"/>
              </a:spcBef>
              <a:buFontTx/>
              <a:buNone/>
            </a:pPr>
            <a:r>
              <a:rPr lang="zh-CN" altLang="en-US" sz="1800" b="0">
                <a:ea typeface="宋体" panose="02010600030101010101" pitchFamily="2" charset="-122"/>
              </a:rPr>
              <a:t>会计学</a:t>
            </a:r>
            <a:endParaRPr lang="zh-CN" altLang="en-US" sz="1800" b="0">
              <a:ea typeface="宋体" panose="02010600030101010101" pitchFamily="2" charset="-122"/>
            </a:endParaRPr>
          </a:p>
          <a:p>
            <a:pPr eaLnBrk="1" hangingPunct="1">
              <a:spcBef>
                <a:spcPct val="50000"/>
              </a:spcBef>
              <a:buFontTx/>
              <a:buNone/>
            </a:pPr>
            <a:r>
              <a:rPr lang="zh-CN" altLang="en-US" sz="1800" b="0">
                <a:ea typeface="宋体" panose="02010600030101010101" pitchFamily="2" charset="-122"/>
              </a:rPr>
              <a:t>金融与投资学</a:t>
            </a:r>
            <a:endParaRPr lang="zh-CN" altLang="en-US" sz="1800" b="0">
              <a:ea typeface="宋体" panose="02010600030101010101" pitchFamily="2" charset="-122"/>
            </a:endParaRPr>
          </a:p>
          <a:p>
            <a:pPr eaLnBrk="1" hangingPunct="1">
              <a:spcBef>
                <a:spcPct val="50000"/>
              </a:spcBef>
              <a:buFontTx/>
              <a:buNone/>
            </a:pPr>
            <a:r>
              <a:rPr lang="zh-CN" altLang="en-US" sz="1800" b="0">
                <a:ea typeface="宋体" panose="02010600030101010101" pitchFamily="2" charset="-122"/>
              </a:rPr>
              <a:t>社会学</a:t>
            </a:r>
            <a:endParaRPr lang="zh-CN" altLang="en-US" sz="1800" b="0">
              <a:ea typeface="宋体" panose="02010600030101010101" pitchFamily="2" charset="-122"/>
            </a:endParaRPr>
          </a:p>
          <a:p>
            <a:pPr eaLnBrk="1" hangingPunct="1">
              <a:spcBef>
                <a:spcPct val="50000"/>
              </a:spcBef>
              <a:buFontTx/>
              <a:buNone/>
            </a:pPr>
            <a:r>
              <a:rPr lang="zh-CN" altLang="en-US" sz="1800" b="0">
                <a:ea typeface="宋体" panose="02010600030101010101" pitchFamily="2" charset="-122"/>
              </a:rPr>
              <a:t>生态学</a:t>
            </a:r>
            <a:endParaRPr lang="zh-CN" altLang="en-US" sz="1800" b="0">
              <a:ea typeface="宋体" panose="02010600030101010101" pitchFamily="2" charset="-122"/>
            </a:endParaRPr>
          </a:p>
          <a:p>
            <a:pPr eaLnBrk="1" hangingPunct="1">
              <a:spcBef>
                <a:spcPct val="50000"/>
              </a:spcBef>
              <a:buFontTx/>
              <a:buNone/>
            </a:pPr>
            <a:r>
              <a:rPr lang="zh-CN" altLang="en-US" sz="1800" b="0">
                <a:ea typeface="宋体" panose="02010600030101010101" pitchFamily="2" charset="-122"/>
              </a:rPr>
              <a:t>环境学</a:t>
            </a:r>
            <a:endParaRPr lang="zh-CN" altLang="en-US" sz="1800" b="0">
              <a:ea typeface="宋体" panose="02010600030101010101" pitchFamily="2" charset="-122"/>
            </a:endParaRPr>
          </a:p>
          <a:p>
            <a:pPr eaLnBrk="1" hangingPunct="1">
              <a:spcBef>
                <a:spcPct val="50000"/>
              </a:spcBef>
              <a:buFontTx/>
              <a:buNone/>
            </a:pPr>
            <a:r>
              <a:rPr lang="zh-CN" altLang="en-US" sz="1800" b="0">
                <a:ea typeface="宋体" panose="02010600030101010101" pitchFamily="2" charset="-122"/>
              </a:rPr>
              <a:t>水科学</a:t>
            </a:r>
            <a:endParaRPr lang="zh-CN" altLang="en-US" sz="1800" b="0">
              <a:ea typeface="宋体" panose="02010600030101010101" pitchFamily="2" charset="-122"/>
            </a:endParaRPr>
          </a:p>
          <a:p>
            <a:pPr eaLnBrk="1" hangingPunct="1">
              <a:spcBef>
                <a:spcPct val="50000"/>
              </a:spcBef>
              <a:buFontTx/>
              <a:buNone/>
            </a:pPr>
            <a:r>
              <a:rPr lang="zh-CN" altLang="en-US" sz="1800" b="0">
                <a:ea typeface="宋体" panose="02010600030101010101" pitchFamily="2" charset="-122"/>
              </a:rPr>
              <a:t>能源科学</a:t>
            </a:r>
            <a:endParaRPr lang="zh-CN" altLang="en-US" sz="1800" b="0">
              <a:ea typeface="宋体" panose="02010600030101010101" pitchFamily="2" charset="-122"/>
            </a:endParaRPr>
          </a:p>
          <a:p>
            <a:pPr eaLnBrk="1" hangingPunct="1">
              <a:spcBef>
                <a:spcPct val="50000"/>
              </a:spcBef>
              <a:buFontTx/>
              <a:buNone/>
            </a:pPr>
            <a:r>
              <a:rPr lang="zh-CN" altLang="en-US" sz="1800" b="0">
                <a:ea typeface="宋体" panose="02010600030101010101" pitchFamily="2" charset="-122"/>
              </a:rPr>
              <a:t>地学</a:t>
            </a:r>
            <a:r>
              <a:rPr lang="en-US" altLang="zh-CN" sz="1800" b="0">
                <a:ea typeface="宋体" panose="02010600030101010101" pitchFamily="2" charset="-122"/>
              </a:rPr>
              <a:t>……</a:t>
            </a:r>
            <a:endParaRPr lang="en-US" altLang="zh-CN" sz="1800" b="0">
              <a:ea typeface="宋体" panose="02010600030101010101" pitchFamily="2" charset="-122"/>
            </a:endParaRPr>
          </a:p>
        </p:txBody>
      </p:sp>
      <p:sp>
        <p:nvSpPr>
          <p:cNvPr id="76811" name="AutoShape 11"/>
          <p:cNvSpPr>
            <a:spLocks noChangeArrowheads="1"/>
          </p:cNvSpPr>
          <p:nvPr/>
        </p:nvSpPr>
        <p:spPr bwMode="auto">
          <a:xfrm>
            <a:off x="2519363" y="3789363"/>
            <a:ext cx="576262" cy="71437"/>
          </a:xfrm>
          <a:prstGeom prst="rightArrow">
            <a:avLst>
              <a:gd name="adj1" fmla="val 50000"/>
              <a:gd name="adj2" fmla="val 201668"/>
            </a:avLst>
          </a:prstGeom>
          <a:solidFill>
            <a:schemeClr val="accent1"/>
          </a:solidFill>
          <a:ln w="9525">
            <a:solidFill>
              <a:srgbClr val="000000"/>
            </a:solidFill>
            <a:miter lim="800000"/>
          </a:ln>
        </p:spPr>
        <p:txBody>
          <a:bodyPr wrap="none"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endParaRPr lang="zh-CN" altLang="en-US" sz="2400" b="0">
              <a:solidFill>
                <a:schemeClr val="tx1"/>
              </a:solidFill>
            </a:endParaRPr>
          </a:p>
        </p:txBody>
      </p:sp>
      <p:sp>
        <p:nvSpPr>
          <p:cNvPr id="76812" name="AutoShape 12"/>
          <p:cNvSpPr>
            <a:spLocks noChangeArrowheads="1"/>
          </p:cNvSpPr>
          <p:nvPr/>
        </p:nvSpPr>
        <p:spPr bwMode="auto">
          <a:xfrm rot="10800000">
            <a:off x="5616575" y="5207000"/>
            <a:ext cx="2663825" cy="1152525"/>
          </a:xfrm>
          <a:prstGeom prst="cloudCallout">
            <a:avLst>
              <a:gd name="adj1" fmla="val 16685"/>
              <a:gd name="adj2" fmla="val 85537"/>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rot="10800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1800" b="0">
                <a:ea typeface="宋体" panose="02010600030101010101" pitchFamily="2" charset="-122"/>
              </a:rPr>
              <a:t>钢结构厂房、混凝土大坝的设计</a:t>
            </a:r>
            <a:endParaRPr lang="zh-CN" altLang="en-US" sz="1800" b="0">
              <a:ea typeface="宋体" panose="02010600030101010101" pitchFamily="2" charset="-122"/>
            </a:endParaRPr>
          </a:p>
        </p:txBody>
      </p:sp>
      <p:sp>
        <p:nvSpPr>
          <p:cNvPr id="76813" name="AutoShape 13"/>
          <p:cNvSpPr>
            <a:spLocks noChangeArrowheads="1"/>
          </p:cNvSpPr>
          <p:nvPr/>
        </p:nvSpPr>
        <p:spPr bwMode="auto">
          <a:xfrm rot="10800000">
            <a:off x="2555875" y="4735513"/>
            <a:ext cx="2663825" cy="1368425"/>
          </a:xfrm>
          <a:prstGeom prst="cloudCallout">
            <a:avLst>
              <a:gd name="adj1" fmla="val 14301"/>
              <a:gd name="adj2" fmla="val 94431"/>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rot="10800000"/>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r>
              <a:rPr lang="zh-CN" altLang="en-US" sz="1800" b="0">
                <a:ea typeface="宋体" panose="02010600030101010101" pitchFamily="2" charset="-122"/>
              </a:rPr>
              <a:t>这个项目的产出是否能超过投入？值得做吗？</a:t>
            </a:r>
            <a:endParaRPr lang="zh-CN" altLang="en-US" sz="1800" b="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p:txBody>
          <a:bodyPr/>
          <a:lstStyle/>
          <a:p>
            <a:pPr eaLnBrk="1" hangingPunct="1"/>
            <a:r>
              <a:rPr lang="zh-CN" altLang="en-US" smtClean="0"/>
              <a:t>基本方法论：两个核心问题</a:t>
            </a:r>
            <a:endParaRPr lang="zh-CN" altLang="en-US" smtClean="0"/>
          </a:p>
        </p:txBody>
      </p:sp>
      <p:sp>
        <p:nvSpPr>
          <p:cNvPr id="78851" name="Rectangle 3"/>
          <p:cNvSpPr>
            <a:spLocks noGrp="1" noChangeArrowheads="1"/>
          </p:cNvSpPr>
          <p:nvPr>
            <p:ph type="body" idx="1"/>
          </p:nvPr>
        </p:nvSpPr>
        <p:spPr/>
        <p:txBody>
          <a:bodyPr/>
          <a:lstStyle/>
          <a:p>
            <a:pPr eaLnBrk="1" hangingPunct="1"/>
            <a:r>
              <a:rPr lang="zh-CN" altLang="en-US" smtClean="0"/>
              <a:t>核心问题</a:t>
            </a:r>
            <a:r>
              <a:rPr lang="en-US" altLang="zh-CN" smtClean="0"/>
              <a:t>1</a:t>
            </a:r>
            <a:r>
              <a:rPr lang="zh-CN" altLang="en-US" smtClean="0"/>
              <a:t>：项目的收益是否超过成本？</a:t>
            </a:r>
            <a:endParaRPr lang="zh-CN" altLang="en-US" smtClean="0"/>
          </a:p>
          <a:p>
            <a:pPr eaLnBrk="1" hangingPunct="1">
              <a:buFontTx/>
              <a:buNone/>
            </a:pPr>
            <a:r>
              <a:rPr lang="en-US" altLang="zh-CN" smtClean="0"/>
              <a:t>	</a:t>
            </a:r>
            <a:r>
              <a:rPr lang="en-US" altLang="zh-CN" sz="3200" smtClean="0"/>
              <a:t>Do its benefits exceed its costs?</a:t>
            </a:r>
            <a:endParaRPr lang="en-US" altLang="zh-CN" sz="3200" smtClean="0"/>
          </a:p>
          <a:p>
            <a:pPr lvl="1" eaLnBrk="1" hangingPunct="1"/>
            <a:r>
              <a:rPr lang="zh-CN" altLang="en-US" smtClean="0"/>
              <a:t>什么是收益（效益）？什么是成本？</a:t>
            </a:r>
            <a:endParaRPr lang="zh-CN" altLang="en-US" smtClean="0"/>
          </a:p>
          <a:p>
            <a:pPr lvl="1" eaLnBrk="1" hangingPunct="1"/>
            <a:endParaRPr lang="zh-CN" altLang="en-US" smtClean="0"/>
          </a:p>
          <a:p>
            <a:pPr eaLnBrk="1" hangingPunct="1"/>
            <a:r>
              <a:rPr lang="zh-CN" altLang="en-US" smtClean="0"/>
              <a:t>核心问题</a:t>
            </a:r>
            <a:r>
              <a:rPr lang="en-US" altLang="zh-CN" smtClean="0"/>
              <a:t>2</a:t>
            </a:r>
            <a:r>
              <a:rPr lang="zh-CN" altLang="en-US" smtClean="0"/>
              <a:t>：这个方案是所有可能方案中最好的吗？</a:t>
            </a:r>
            <a:endParaRPr lang="zh-CN" altLang="en-US" smtClean="0"/>
          </a:p>
          <a:p>
            <a:pPr lvl="2" eaLnBrk="1" hangingPunct="1">
              <a:buFontTx/>
              <a:buNone/>
            </a:pPr>
            <a:r>
              <a:rPr lang="en-US" altLang="zh-CN" sz="3200" smtClean="0"/>
              <a:t>Is this the best possible alternative?</a:t>
            </a:r>
            <a:endParaRPr lang="en-US" altLang="zh-CN" sz="3200" smtClean="0"/>
          </a:p>
          <a:p>
            <a:pPr lvl="1" eaLnBrk="1" hangingPunct="1"/>
            <a:r>
              <a:rPr lang="zh-CN" altLang="en-US" smtClean="0"/>
              <a:t>评价“最好”的准则是什么 ？</a:t>
            </a:r>
            <a:endParaRPr lang="zh-CN" altLang="en-US" smtClean="0"/>
          </a:p>
          <a:p>
            <a:pPr lvl="1" eaLnBrk="1" hangingPunct="1"/>
            <a:endParaRPr lang="zh-CN" altLang="en-US" smtClean="0"/>
          </a:p>
        </p:txBody>
      </p:sp>
    </p:spTree>
  </p:cSld>
  <p:clrMapOvr>
    <a:masterClrMapping/>
  </p:clrMapOvr>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0" y="12700"/>
            <a:ext cx="8763000" cy="1181100"/>
          </a:xfrm>
        </p:spPr>
        <p:txBody>
          <a:bodyPr/>
          <a:lstStyle/>
          <a:p>
            <a:pPr eaLnBrk="1" hangingPunct="1"/>
            <a:r>
              <a:rPr lang="zh-CN" altLang="en-US" smtClean="0"/>
              <a:t>基本方法论：什么是“好”的项目？</a:t>
            </a:r>
            <a:endParaRPr lang="en-US" altLang="zh-CN" smtClean="0"/>
          </a:p>
        </p:txBody>
      </p:sp>
      <p:sp>
        <p:nvSpPr>
          <p:cNvPr id="80899" name="Rectangle 3"/>
          <p:cNvSpPr>
            <a:spLocks noGrp="1" noChangeArrowheads="1"/>
          </p:cNvSpPr>
          <p:nvPr>
            <p:ph type="body" idx="1"/>
          </p:nvPr>
        </p:nvSpPr>
        <p:spPr/>
        <p:txBody>
          <a:bodyPr/>
          <a:lstStyle/>
          <a:p>
            <a:pPr eaLnBrk="1" hangingPunct="1">
              <a:lnSpc>
                <a:spcPct val="150000"/>
              </a:lnSpc>
            </a:pPr>
            <a:r>
              <a:rPr lang="zh-CN" altLang="en-US" smtClean="0"/>
              <a:t>这个项目的建设是基于：</a:t>
            </a:r>
            <a:endParaRPr lang="zh-CN" altLang="en-US" smtClean="0"/>
          </a:p>
          <a:p>
            <a:pPr lvl="1" eaLnBrk="1" hangingPunct="1">
              <a:lnSpc>
                <a:spcPct val="150000"/>
              </a:lnSpc>
            </a:pPr>
            <a:r>
              <a:rPr lang="zh-CN" altLang="en-US" smtClean="0"/>
              <a:t>工程可行性</a:t>
            </a:r>
            <a:endParaRPr lang="zh-CN" altLang="en-US" smtClean="0"/>
          </a:p>
          <a:p>
            <a:pPr lvl="1" eaLnBrk="1" hangingPunct="1">
              <a:lnSpc>
                <a:spcPct val="150000"/>
              </a:lnSpc>
            </a:pPr>
            <a:r>
              <a:rPr lang="zh-CN" altLang="en-US" smtClean="0">
                <a:solidFill>
                  <a:srgbClr val="990000"/>
                </a:solidFill>
              </a:rPr>
              <a:t>财务可行性</a:t>
            </a:r>
            <a:endParaRPr lang="zh-CN" altLang="en-US" smtClean="0">
              <a:solidFill>
                <a:srgbClr val="990000"/>
              </a:solidFill>
            </a:endParaRPr>
          </a:p>
          <a:p>
            <a:pPr lvl="1" eaLnBrk="1" hangingPunct="1">
              <a:lnSpc>
                <a:spcPct val="150000"/>
              </a:lnSpc>
            </a:pPr>
            <a:r>
              <a:rPr lang="zh-CN" altLang="en-US" smtClean="0">
                <a:solidFill>
                  <a:srgbClr val="990000"/>
                </a:solidFill>
              </a:rPr>
              <a:t>国民经济可行性</a:t>
            </a:r>
            <a:endParaRPr lang="zh-CN" altLang="en-US" smtClean="0">
              <a:solidFill>
                <a:srgbClr val="990000"/>
              </a:solidFill>
            </a:endParaRPr>
          </a:p>
          <a:p>
            <a:pPr lvl="1" eaLnBrk="1" hangingPunct="1">
              <a:lnSpc>
                <a:spcPct val="150000"/>
              </a:lnSpc>
              <a:buFontTx/>
              <a:buNone/>
            </a:pPr>
            <a:r>
              <a:rPr lang="zh-CN" altLang="en-US" smtClean="0">
                <a:solidFill>
                  <a:srgbClr val="990000"/>
                </a:solidFill>
              </a:rPr>
              <a:t>  （全面考虑社会</a:t>
            </a:r>
            <a:r>
              <a:rPr lang="en-US" altLang="zh-CN" smtClean="0">
                <a:solidFill>
                  <a:srgbClr val="990000"/>
                </a:solidFill>
              </a:rPr>
              <a:t>/</a:t>
            </a:r>
            <a:r>
              <a:rPr lang="zh-CN" altLang="en-US" smtClean="0">
                <a:solidFill>
                  <a:srgbClr val="990000"/>
                </a:solidFill>
              </a:rPr>
              <a:t>环境）</a:t>
            </a:r>
            <a:endParaRPr lang="zh-CN" altLang="en-US" smtClean="0">
              <a:solidFill>
                <a:srgbClr val="990000"/>
              </a:solidFill>
            </a:endParaRPr>
          </a:p>
          <a:p>
            <a:pPr eaLnBrk="1" hangingPunct="1"/>
            <a:endParaRPr lang="zh-CN" altLang="en-US" sz="3200" smtClean="0"/>
          </a:p>
        </p:txBody>
      </p:sp>
      <p:sp>
        <p:nvSpPr>
          <p:cNvPr id="80900" name="AutoShape 4"/>
          <p:cNvSpPr/>
          <p:nvPr/>
        </p:nvSpPr>
        <p:spPr bwMode="auto">
          <a:xfrm>
            <a:off x="5613400" y="2743200"/>
            <a:ext cx="285750" cy="2654300"/>
          </a:xfrm>
          <a:prstGeom prst="rightBrace">
            <a:avLst>
              <a:gd name="adj1" fmla="val 77407"/>
              <a:gd name="adj2" fmla="val 50000"/>
            </a:avLst>
          </a:prstGeom>
          <a:noFill/>
          <a:ln w="9525">
            <a:solidFill>
              <a:srgbClr val="000000"/>
            </a:solidFill>
            <a:rou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endParaRPr lang="zh-CN" altLang="en-US" sz="2400" b="0">
              <a:solidFill>
                <a:srgbClr val="000066"/>
              </a:solidFill>
              <a:ea typeface="宋体" panose="02010600030101010101" pitchFamily="2" charset="-122"/>
            </a:endParaRPr>
          </a:p>
        </p:txBody>
      </p:sp>
      <p:sp>
        <p:nvSpPr>
          <p:cNvPr id="80901" name="Text Box 5"/>
          <p:cNvSpPr txBox="1">
            <a:spLocks noChangeArrowheads="1"/>
          </p:cNvSpPr>
          <p:nvPr/>
        </p:nvSpPr>
        <p:spPr bwMode="auto">
          <a:xfrm>
            <a:off x="6134100" y="3576638"/>
            <a:ext cx="23749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50000"/>
              </a:spcBef>
              <a:buFontTx/>
              <a:buNone/>
            </a:pPr>
            <a:r>
              <a:rPr lang="zh-CN" altLang="en-US" sz="2400">
                <a:solidFill>
                  <a:srgbClr val="000066"/>
                </a:solidFill>
                <a:ea typeface="宋体" panose="02010600030101010101" pitchFamily="2" charset="-122"/>
              </a:rPr>
              <a:t>对收益和成本的考虑角度不同</a:t>
            </a:r>
            <a:endParaRPr lang="zh-CN" altLang="en-US" sz="2400">
              <a:solidFill>
                <a:srgbClr val="000066"/>
              </a:solidFill>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zh-CN" altLang="en-US" smtClean="0"/>
              <a:t>财务可行性</a:t>
            </a:r>
            <a:endParaRPr lang="zh-CN" altLang="en-US" smtClean="0"/>
          </a:p>
        </p:txBody>
      </p:sp>
      <p:sp>
        <p:nvSpPr>
          <p:cNvPr id="82947" name="Rectangle 3"/>
          <p:cNvSpPr>
            <a:spLocks noGrp="1" noChangeArrowheads="1"/>
          </p:cNvSpPr>
          <p:nvPr>
            <p:ph type="body" idx="1"/>
          </p:nvPr>
        </p:nvSpPr>
        <p:spPr/>
        <p:txBody>
          <a:bodyPr/>
          <a:lstStyle/>
          <a:p>
            <a:pPr eaLnBrk="1" hangingPunct="1"/>
            <a:r>
              <a:rPr lang="zh-CN" altLang="en-US" smtClean="0"/>
              <a:t>典型建设项目的现金流</a:t>
            </a:r>
            <a:endParaRPr lang="zh-CN" altLang="en-US" smtClean="0"/>
          </a:p>
        </p:txBody>
      </p:sp>
      <p:pic>
        <p:nvPicPr>
          <p:cNvPr id="82948" name="Picture 4"/>
          <p:cNvPicPr>
            <a:picLocks noChangeAspect="1" noChangeArrowheads="1"/>
          </p:cNvPicPr>
          <p:nvPr/>
        </p:nvPicPr>
        <p:blipFill>
          <a:blip r:embed="rId1">
            <a:extLst>
              <a:ext uri="{28A0092B-C50C-407E-A947-70E740481C1C}">
                <a14:useLocalDpi xmlns:a14="http://schemas.microsoft.com/office/drawing/2010/main" val="0"/>
              </a:ext>
            </a:extLst>
          </a:blip>
          <a:srcRect l="12109" t="21701" r="10124" b="19444"/>
          <a:stretch>
            <a:fillRect/>
          </a:stretch>
        </p:blipFill>
        <p:spPr bwMode="auto">
          <a:xfrm>
            <a:off x="1917700" y="2051050"/>
            <a:ext cx="6924675" cy="393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9" name="Text Box 5"/>
          <p:cNvSpPr txBox="1">
            <a:spLocks noChangeArrowheads="1"/>
          </p:cNvSpPr>
          <p:nvPr/>
        </p:nvSpPr>
        <p:spPr bwMode="auto">
          <a:xfrm>
            <a:off x="4610100" y="5981700"/>
            <a:ext cx="10096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50000"/>
              </a:spcBef>
              <a:buFontTx/>
              <a:buNone/>
            </a:pPr>
            <a:r>
              <a:rPr lang="zh-CN" altLang="en-US" sz="2400">
                <a:solidFill>
                  <a:srgbClr val="000066"/>
                </a:solidFill>
                <a:ea typeface="宋体" panose="02010600030101010101" pitchFamily="2" charset="-122"/>
              </a:rPr>
              <a:t>年份</a:t>
            </a:r>
            <a:endParaRPr lang="zh-CN" altLang="en-US" sz="2400">
              <a:solidFill>
                <a:srgbClr val="000066"/>
              </a:solidFill>
              <a:ea typeface="宋体" panose="02010600030101010101" pitchFamily="2" charset="-122"/>
            </a:endParaRPr>
          </a:p>
        </p:txBody>
      </p:sp>
      <p:sp>
        <p:nvSpPr>
          <p:cNvPr id="82950" name="Text Box 6"/>
          <p:cNvSpPr txBox="1">
            <a:spLocks noChangeArrowheads="1"/>
          </p:cNvSpPr>
          <p:nvPr/>
        </p:nvSpPr>
        <p:spPr bwMode="auto">
          <a:xfrm>
            <a:off x="393700" y="2628900"/>
            <a:ext cx="131445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50000"/>
              </a:spcBef>
              <a:buFontTx/>
              <a:buNone/>
            </a:pPr>
            <a:r>
              <a:rPr lang="zh-CN" altLang="en-US" sz="2000">
                <a:solidFill>
                  <a:srgbClr val="000066"/>
                </a:solidFill>
                <a:ea typeface="宋体" panose="02010600030101010101" pitchFamily="2" charset="-122"/>
              </a:rPr>
              <a:t>现金流入</a:t>
            </a:r>
            <a:endParaRPr lang="zh-CN" altLang="en-US" sz="2000">
              <a:solidFill>
                <a:srgbClr val="000066"/>
              </a:solidFill>
              <a:ea typeface="宋体" panose="02010600030101010101" pitchFamily="2" charset="-122"/>
            </a:endParaRPr>
          </a:p>
          <a:p>
            <a:pPr>
              <a:spcBef>
                <a:spcPct val="50000"/>
              </a:spcBef>
              <a:buFontTx/>
              <a:buNone/>
            </a:pPr>
            <a:r>
              <a:rPr lang="zh-CN" altLang="en-US" sz="2000">
                <a:solidFill>
                  <a:srgbClr val="000066"/>
                </a:solidFill>
                <a:ea typeface="宋体" panose="02010600030101010101" pitchFamily="2" charset="-122"/>
              </a:rPr>
              <a:t>（收益）</a:t>
            </a:r>
            <a:endParaRPr lang="zh-CN" altLang="en-US" sz="2000">
              <a:solidFill>
                <a:srgbClr val="000066"/>
              </a:solidFill>
              <a:ea typeface="宋体" panose="02010600030101010101" pitchFamily="2" charset="-122"/>
            </a:endParaRPr>
          </a:p>
        </p:txBody>
      </p:sp>
      <p:sp>
        <p:nvSpPr>
          <p:cNvPr id="82951" name="Text Box 7"/>
          <p:cNvSpPr txBox="1">
            <a:spLocks noChangeArrowheads="1"/>
          </p:cNvSpPr>
          <p:nvPr/>
        </p:nvSpPr>
        <p:spPr bwMode="auto">
          <a:xfrm>
            <a:off x="393700" y="4662488"/>
            <a:ext cx="1257300"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50000"/>
              </a:spcBef>
              <a:buFontTx/>
              <a:buNone/>
            </a:pPr>
            <a:r>
              <a:rPr lang="zh-CN" altLang="en-US" sz="2000">
                <a:solidFill>
                  <a:srgbClr val="000066"/>
                </a:solidFill>
                <a:ea typeface="宋体" panose="02010600030101010101" pitchFamily="2" charset="-122"/>
              </a:rPr>
              <a:t>现金流出</a:t>
            </a:r>
            <a:endParaRPr lang="zh-CN" altLang="en-US" sz="2000">
              <a:solidFill>
                <a:srgbClr val="000066"/>
              </a:solidFill>
              <a:ea typeface="宋体" panose="02010600030101010101" pitchFamily="2" charset="-122"/>
            </a:endParaRPr>
          </a:p>
          <a:p>
            <a:pPr>
              <a:spcBef>
                <a:spcPct val="50000"/>
              </a:spcBef>
              <a:buFontTx/>
              <a:buNone/>
            </a:pPr>
            <a:r>
              <a:rPr lang="zh-CN" altLang="en-US" sz="2000">
                <a:solidFill>
                  <a:srgbClr val="000066"/>
                </a:solidFill>
                <a:ea typeface="宋体" panose="02010600030101010101" pitchFamily="2" charset="-122"/>
              </a:rPr>
              <a:t>（成本）</a:t>
            </a:r>
            <a:endParaRPr lang="zh-CN" altLang="en-US" sz="2000">
              <a:solidFill>
                <a:srgbClr val="000066"/>
              </a:solidFill>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r>
              <a:rPr lang="zh-CN" altLang="en-US" smtClean="0"/>
              <a:t>财务可行性</a:t>
            </a:r>
            <a:endParaRPr lang="en-US" altLang="zh-CN" smtClean="0"/>
          </a:p>
        </p:txBody>
      </p:sp>
      <p:sp>
        <p:nvSpPr>
          <p:cNvPr id="84995" name="Rectangle 3"/>
          <p:cNvSpPr>
            <a:spLocks noGrp="1" noChangeArrowheads="1"/>
          </p:cNvSpPr>
          <p:nvPr>
            <p:ph type="body" idx="1"/>
          </p:nvPr>
        </p:nvSpPr>
        <p:spPr/>
        <p:txBody>
          <a:bodyPr/>
          <a:lstStyle/>
          <a:p>
            <a:pPr eaLnBrk="1" hangingPunct="1"/>
            <a:r>
              <a:rPr lang="zh-CN" altLang="en-US" smtClean="0"/>
              <a:t>财务评价</a:t>
            </a:r>
            <a:endParaRPr lang="zh-CN" altLang="en-US" smtClean="0"/>
          </a:p>
          <a:p>
            <a:pPr lvl="1" eaLnBrk="1" hangingPunct="1"/>
            <a:r>
              <a:rPr lang="zh-CN" altLang="en-US" smtClean="0"/>
              <a:t>钱从哪里来？够不够支付成本？</a:t>
            </a:r>
            <a:endParaRPr lang="zh-CN" altLang="en-US" smtClean="0"/>
          </a:p>
          <a:p>
            <a:pPr lvl="1" eaLnBrk="1" hangingPunct="1"/>
            <a:r>
              <a:rPr lang="zh-CN" altLang="en-US" smtClean="0"/>
              <a:t>收益从哪里来，投资回报率有多大？</a:t>
            </a:r>
            <a:endParaRPr lang="zh-CN" altLang="en-US" smtClean="0"/>
          </a:p>
          <a:p>
            <a:pPr lvl="1" eaLnBrk="1" hangingPunct="1"/>
            <a:r>
              <a:rPr lang="zh-CN" altLang="en-US" smtClean="0"/>
              <a:t>这个回报率能不能吸引到资金？</a:t>
            </a:r>
            <a:endParaRPr lang="zh-CN" altLang="en-US" smtClean="0"/>
          </a:p>
          <a:p>
            <a:pPr lvl="1" eaLnBrk="1" hangingPunct="1"/>
            <a:r>
              <a:rPr lang="zh-CN" altLang="en-US" smtClean="0"/>
              <a:t>我们能赚多少钱？</a:t>
            </a:r>
            <a:endParaRPr lang="zh-CN" altLang="en-US" smtClean="0"/>
          </a:p>
          <a:p>
            <a:pPr lvl="1" eaLnBrk="1" hangingPunct="1"/>
            <a:endParaRPr lang="zh-CN" altLang="en-US" smtClean="0"/>
          </a:p>
        </p:txBody>
      </p:sp>
    </p:spTree>
  </p:cSld>
  <p:clrMapOvr>
    <a:masterClrMapping/>
  </p:clrMapOvr>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r>
              <a:rPr lang="zh-CN" altLang="en-US" smtClean="0"/>
              <a:t>国民经济可行性</a:t>
            </a:r>
            <a:endParaRPr lang="zh-CN" altLang="en-US" smtClean="0"/>
          </a:p>
        </p:txBody>
      </p:sp>
      <p:sp>
        <p:nvSpPr>
          <p:cNvPr id="87043" name="Rectangle 3"/>
          <p:cNvSpPr>
            <a:spLocks noGrp="1" noChangeArrowheads="1"/>
          </p:cNvSpPr>
          <p:nvPr>
            <p:ph type="body" idx="1"/>
          </p:nvPr>
        </p:nvSpPr>
        <p:spPr/>
        <p:txBody>
          <a:bodyPr/>
          <a:lstStyle/>
          <a:p>
            <a:pPr eaLnBrk="1" hangingPunct="1"/>
            <a:r>
              <a:rPr lang="zh-CN" altLang="en-US" smtClean="0"/>
              <a:t>经济评价（国民经济评价）</a:t>
            </a:r>
            <a:endParaRPr lang="zh-CN" altLang="en-US" smtClean="0"/>
          </a:p>
          <a:p>
            <a:pPr lvl="1" eaLnBrk="1" hangingPunct="1"/>
            <a:r>
              <a:rPr lang="zh-CN" altLang="en-US" sz="2800" smtClean="0"/>
              <a:t>当项目对整个经济体系有较为重要的影响时，需要做国民经济评价。</a:t>
            </a:r>
            <a:endParaRPr lang="zh-CN" altLang="en-US" sz="2800" smtClean="0"/>
          </a:p>
          <a:p>
            <a:pPr lvl="1" eaLnBrk="1" hangingPunct="1"/>
            <a:r>
              <a:rPr lang="zh-CN" altLang="en-US" sz="2800" smtClean="0"/>
              <a:t>与财务评价相比，国民经济评价还需要考虑：</a:t>
            </a:r>
            <a:endParaRPr lang="zh-CN" altLang="en-US" sz="2800" smtClean="0"/>
          </a:p>
          <a:p>
            <a:pPr lvl="2" eaLnBrk="1" hangingPunct="1"/>
            <a:r>
              <a:rPr lang="zh-CN" altLang="en-US" sz="2400" smtClean="0"/>
              <a:t>这个项目对社会的就业、税收、社会保障、环境是否有贡献（或损害）？</a:t>
            </a:r>
            <a:endParaRPr lang="zh-CN" altLang="en-US" sz="2400" smtClean="0"/>
          </a:p>
          <a:p>
            <a:pPr lvl="2" eaLnBrk="1" hangingPunct="1"/>
            <a:r>
              <a:rPr lang="zh-CN" altLang="en-US" sz="2400" smtClean="0"/>
              <a:t>考虑间接效益和间接成本</a:t>
            </a:r>
            <a:r>
              <a:rPr lang="en-US" altLang="zh-CN" sz="2400" smtClean="0"/>
              <a:t>——</a:t>
            </a:r>
            <a:r>
              <a:rPr lang="zh-CN" altLang="en-US" sz="2400" smtClean="0">
                <a:solidFill>
                  <a:srgbClr val="990000"/>
                </a:solidFill>
              </a:rPr>
              <a:t>外部效应</a:t>
            </a:r>
            <a:r>
              <a:rPr lang="zh-CN" altLang="en-US" sz="2400" smtClean="0"/>
              <a:t>。</a:t>
            </a:r>
            <a:endParaRPr lang="zh-CN" altLang="en-US" sz="2400" smtClean="0"/>
          </a:p>
          <a:p>
            <a:pPr lvl="2" eaLnBrk="1" hangingPunct="1"/>
            <a:r>
              <a:rPr lang="zh-CN" altLang="en-US" sz="2400" smtClean="0"/>
              <a:t>财务评价中的价格明显不合理或无法反映其对国民经济的真实贡献的，采用影子价格（机会成本）。</a:t>
            </a:r>
            <a:endParaRPr lang="zh-CN" altLang="en-US" sz="2400" smtClean="0"/>
          </a:p>
          <a:p>
            <a:pPr lvl="2" eaLnBrk="1" hangingPunct="1"/>
            <a:endParaRPr lang="zh-CN" altLang="en-US" sz="2400" smtClean="0"/>
          </a:p>
          <a:p>
            <a:pPr eaLnBrk="1" hangingPunct="1"/>
            <a:endParaRPr lang="zh-CN" altLang="en-US" sz="2800" smtClean="0"/>
          </a:p>
        </p:txBody>
      </p:sp>
    </p:spTree>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a:xfrm>
            <a:off x="0" y="12700"/>
            <a:ext cx="9144000" cy="1181100"/>
          </a:xfrm>
        </p:spPr>
        <p:txBody>
          <a:bodyPr/>
          <a:lstStyle/>
          <a:p>
            <a:pPr eaLnBrk="1" hangingPunct="1"/>
            <a:r>
              <a:rPr lang="zh-CN" altLang="en-US" sz="3800" smtClean="0"/>
              <a:t>外部效应</a:t>
            </a:r>
            <a:r>
              <a:rPr lang="en-US" altLang="zh-CN" sz="3800" smtClean="0"/>
              <a:t>——</a:t>
            </a:r>
            <a:r>
              <a:rPr lang="zh-CN" altLang="en-US" sz="3800" smtClean="0"/>
              <a:t>进行多角度评价的逻辑基础</a:t>
            </a:r>
            <a:endParaRPr lang="zh-CN" altLang="en-US" sz="3800" smtClean="0"/>
          </a:p>
        </p:txBody>
      </p:sp>
      <p:sp>
        <p:nvSpPr>
          <p:cNvPr id="89091" name="Rectangle 3"/>
          <p:cNvSpPr>
            <a:spLocks noGrp="1" noChangeArrowheads="1"/>
          </p:cNvSpPr>
          <p:nvPr>
            <p:ph type="body" idx="1"/>
          </p:nvPr>
        </p:nvSpPr>
        <p:spPr/>
        <p:txBody>
          <a:bodyPr/>
          <a:lstStyle/>
          <a:p>
            <a:pPr eaLnBrk="1" hangingPunct="1"/>
            <a:r>
              <a:rPr lang="zh-CN" altLang="en-US" sz="4000" smtClean="0"/>
              <a:t>外部效应 </a:t>
            </a:r>
            <a:r>
              <a:rPr lang="en-US" altLang="zh-CN" sz="4000" smtClean="0"/>
              <a:t>Externalities</a:t>
            </a:r>
            <a:endParaRPr lang="en-US" altLang="zh-CN" sz="4000" smtClean="0"/>
          </a:p>
          <a:p>
            <a:pPr lvl="1" eaLnBrk="1" hangingPunct="1"/>
            <a:r>
              <a:rPr lang="zh-CN" altLang="en-US" smtClean="0"/>
              <a:t>给消费者或生产者带来损益的行为在市场价格中得不到反映，则称这些损益为</a:t>
            </a:r>
            <a:r>
              <a:rPr lang="zh-CN" altLang="en-US" u="sng" smtClean="0"/>
              <a:t>外部效应</a:t>
            </a:r>
            <a:r>
              <a:rPr lang="zh-CN" altLang="en-US" smtClean="0"/>
              <a:t>（对于市场来说是“外在”的）。</a:t>
            </a:r>
            <a:endParaRPr lang="zh-CN" altLang="en-US" smtClean="0"/>
          </a:p>
          <a:p>
            <a:pPr lvl="1" eaLnBrk="1" hangingPunct="1"/>
            <a:r>
              <a:rPr lang="zh-CN" altLang="en-US" smtClean="0"/>
              <a:t>例子</a:t>
            </a:r>
            <a:endParaRPr lang="zh-CN" altLang="en-US" smtClean="0"/>
          </a:p>
          <a:p>
            <a:pPr lvl="2" eaLnBrk="1" hangingPunct="1"/>
            <a:r>
              <a:rPr lang="zh-CN" altLang="en-US" sz="3000" smtClean="0"/>
              <a:t>负的外部效应：清华校河中的废弃化学废料来自于西门外的化工研究院</a:t>
            </a:r>
            <a:endParaRPr lang="en-US" altLang="zh-CN" sz="3000" smtClean="0">
              <a:solidFill>
                <a:srgbClr val="990000"/>
              </a:solidFill>
            </a:endParaRPr>
          </a:p>
          <a:p>
            <a:pPr lvl="2" eaLnBrk="1" hangingPunct="1"/>
            <a:r>
              <a:rPr lang="zh-CN" altLang="en-US" sz="3000" smtClean="0"/>
              <a:t>正的外部效应：轨道交通能够给沿线土地（房地产）带来显著的增值效益</a:t>
            </a:r>
            <a:endParaRPr lang="zh-CN" altLang="en-US" sz="3000" smtClean="0">
              <a:solidFill>
                <a:srgbClr val="990000"/>
              </a:solidFill>
            </a:endParaRPr>
          </a:p>
          <a:p>
            <a:pPr lvl="1" eaLnBrk="1" hangingPunct="1"/>
            <a:endParaRPr lang="en-US" altLang="zh-CN" sz="3400" smtClean="0"/>
          </a:p>
        </p:txBody>
      </p:sp>
    </p:spTree>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4"/>
          <p:cNvSpPr txBox="1">
            <a:spLocks noChangeArrowheads="1"/>
          </p:cNvSpPr>
          <p:nvPr/>
        </p:nvSpPr>
        <p:spPr bwMode="auto">
          <a:xfrm>
            <a:off x="317500" y="233363"/>
            <a:ext cx="6934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4000" b="0">
                <a:solidFill>
                  <a:srgbClr val="990000"/>
                </a:solidFill>
                <a:latin typeface="Times New Roman" panose="02020603050405020304" charset="0"/>
                <a:ea typeface="宋体" panose="02010600030101010101" pitchFamily="2" charset="-122"/>
              </a:rPr>
              <a:t>Sydney Opera House</a:t>
            </a:r>
            <a:endParaRPr lang="en-US" altLang="zh-CN" sz="4000" b="0">
              <a:solidFill>
                <a:srgbClr val="990000"/>
              </a:solidFill>
              <a:latin typeface="Times New Roman" panose="02020603050405020304" charset="0"/>
              <a:ea typeface="宋体" panose="02010600030101010101" pitchFamily="2" charset="-122"/>
            </a:endParaRPr>
          </a:p>
        </p:txBody>
      </p:sp>
      <p:sp>
        <p:nvSpPr>
          <p:cNvPr id="91139" name="Text Box 5"/>
          <p:cNvSpPr txBox="1">
            <a:spLocks noChangeArrowheads="1"/>
          </p:cNvSpPr>
          <p:nvPr/>
        </p:nvSpPr>
        <p:spPr bwMode="auto">
          <a:xfrm>
            <a:off x="3941763" y="2008188"/>
            <a:ext cx="3411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2000" b="0">
                <a:solidFill>
                  <a:srgbClr val="000099"/>
                </a:solidFill>
                <a:latin typeface="Times New Roman" panose="02020603050405020304" charset="0"/>
                <a:ea typeface="宋体" panose="02010600030101010101" pitchFamily="2" charset="-122"/>
              </a:rPr>
              <a:t>Many projects are truly unique</a:t>
            </a:r>
            <a:r>
              <a:rPr lang="en-US" altLang="zh-CN" sz="2400" b="0">
                <a:solidFill>
                  <a:srgbClr val="000099"/>
                </a:solidFill>
                <a:latin typeface="Times New Roman" panose="02020603050405020304" charset="0"/>
                <a:ea typeface="宋体" panose="02010600030101010101" pitchFamily="2" charset="-122"/>
              </a:rPr>
              <a:t>!</a:t>
            </a:r>
            <a:endParaRPr lang="en-US" altLang="zh-CN" sz="2400" b="0">
              <a:solidFill>
                <a:srgbClr val="000099"/>
              </a:solidFill>
              <a:latin typeface="Times New Roman" panose="02020603050405020304" charset="0"/>
              <a:ea typeface="宋体" panose="02010600030101010101" pitchFamily="2" charset="-122"/>
            </a:endParaRPr>
          </a:p>
        </p:txBody>
      </p:sp>
      <p:pic>
        <p:nvPicPr>
          <p:cNvPr id="91140" name="Picture 6" descr="opera-house"/>
          <p:cNvPicPr>
            <a:picLocks noChangeAspect="1" noChangeArrowheads="1"/>
          </p:cNvPicPr>
          <p:nvPr/>
        </p:nvPicPr>
        <p:blipFill>
          <a:blip r:embed="rId1">
            <a:extLst>
              <a:ext uri="{28A0092B-C50C-407E-A947-70E740481C1C}">
                <a14:useLocalDpi xmlns:a14="http://schemas.microsoft.com/office/drawing/2010/main" val="0"/>
              </a:ext>
            </a:extLst>
          </a:blip>
          <a:srcRect t="28470"/>
          <a:stretch>
            <a:fillRect/>
          </a:stretch>
        </p:blipFill>
        <p:spPr bwMode="auto">
          <a:xfrm>
            <a:off x="3857625" y="2530475"/>
            <a:ext cx="4637088"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1" name="Picture 7" descr="j_utzon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85050" y="186213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2" name="Text Box 8"/>
          <p:cNvSpPr txBox="1">
            <a:spLocks noChangeArrowheads="1"/>
          </p:cNvSpPr>
          <p:nvPr/>
        </p:nvSpPr>
        <p:spPr bwMode="auto">
          <a:xfrm>
            <a:off x="427038" y="1628775"/>
            <a:ext cx="331152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2000" b="0" i="1">
                <a:solidFill>
                  <a:srgbClr val="000099"/>
                </a:solidFill>
                <a:latin typeface="Times New Roman" panose="02020603050405020304" charset="0"/>
                <a:ea typeface="宋体" panose="02010600030101010101" pitchFamily="2" charset="-122"/>
              </a:rPr>
              <a:t>The opera house was heavily criticized for the construction cost and time compared to the original estimates.</a:t>
            </a:r>
            <a:endParaRPr lang="en-US" altLang="zh-CN" sz="2000" b="0" i="1">
              <a:solidFill>
                <a:srgbClr val="000099"/>
              </a:solidFill>
              <a:latin typeface="Times New Roman" panose="02020603050405020304" charset="0"/>
              <a:ea typeface="宋体" panose="02010600030101010101" pitchFamily="2" charset="-122"/>
            </a:endParaRPr>
          </a:p>
        </p:txBody>
      </p:sp>
      <p:sp>
        <p:nvSpPr>
          <p:cNvPr id="91143" name="Text Box 9"/>
          <p:cNvSpPr txBox="1">
            <a:spLocks noChangeArrowheads="1"/>
          </p:cNvSpPr>
          <p:nvPr/>
        </p:nvSpPr>
        <p:spPr bwMode="auto">
          <a:xfrm>
            <a:off x="7362825" y="2922588"/>
            <a:ext cx="1193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1800" b="0">
                <a:solidFill>
                  <a:srgbClr val="000099"/>
                </a:solidFill>
                <a:latin typeface="Times New Roman" panose="02020603050405020304" charset="0"/>
                <a:ea typeface="宋体" panose="02010600030101010101" pitchFamily="2" charset="-122"/>
              </a:rPr>
              <a:t>Jorn Utzon</a:t>
            </a:r>
            <a:endParaRPr lang="en-US" altLang="zh-CN" sz="1800" b="0">
              <a:solidFill>
                <a:srgbClr val="000099"/>
              </a:solidFill>
              <a:latin typeface="Times New Roman" panose="02020603050405020304" charset="0"/>
              <a:ea typeface="宋体" panose="02010600030101010101" pitchFamily="2" charset="-122"/>
            </a:endParaRPr>
          </a:p>
        </p:txBody>
      </p:sp>
      <p:sp>
        <p:nvSpPr>
          <p:cNvPr id="91144" name="Text Box 10"/>
          <p:cNvSpPr txBox="1">
            <a:spLocks noChangeArrowheads="1"/>
          </p:cNvSpPr>
          <p:nvPr/>
        </p:nvSpPr>
        <p:spPr bwMode="auto">
          <a:xfrm>
            <a:off x="393700" y="5159375"/>
            <a:ext cx="80025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2000" b="0" i="1">
                <a:solidFill>
                  <a:srgbClr val="000099"/>
                </a:solidFill>
                <a:latin typeface="Times New Roman" panose="02020603050405020304" charset="0"/>
                <a:ea typeface="宋体" panose="02010600030101010101" pitchFamily="2" charset="-122"/>
              </a:rPr>
              <a:t>- Initial cost estimate: $6M</a:t>
            </a:r>
            <a:endParaRPr lang="en-US" altLang="zh-CN" sz="2000" b="0" i="1">
              <a:solidFill>
                <a:srgbClr val="000099"/>
              </a:solidFill>
              <a:latin typeface="Times New Roman" panose="02020603050405020304" charset="0"/>
              <a:ea typeface="宋体" panose="02010600030101010101" pitchFamily="2" charset="-122"/>
            </a:endParaRPr>
          </a:p>
          <a:p>
            <a:pPr>
              <a:spcBef>
                <a:spcPct val="0"/>
              </a:spcBef>
              <a:buFontTx/>
              <a:buNone/>
            </a:pPr>
            <a:r>
              <a:rPr lang="en-US" altLang="zh-CN" sz="2000" b="0" i="1">
                <a:solidFill>
                  <a:srgbClr val="000099"/>
                </a:solidFill>
                <a:latin typeface="Times New Roman" panose="02020603050405020304" charset="0"/>
                <a:ea typeface="宋体" panose="02010600030101010101" pitchFamily="2" charset="-122"/>
              </a:rPr>
              <a:t>- Final cost at completion in 1973: $106M</a:t>
            </a:r>
            <a:endParaRPr lang="en-US" altLang="zh-CN" sz="2000" b="0" i="1">
              <a:solidFill>
                <a:srgbClr val="000099"/>
              </a:solidFill>
              <a:latin typeface="Times New Roman" panose="02020603050405020304" charset="0"/>
              <a:ea typeface="宋体" panose="02010600030101010101" pitchFamily="2" charset="-122"/>
            </a:endParaRPr>
          </a:p>
        </p:txBody>
      </p:sp>
      <p:sp>
        <p:nvSpPr>
          <p:cNvPr id="91145" name="Rectangle 11"/>
          <p:cNvSpPr>
            <a:spLocks noChangeArrowheads="1"/>
          </p:cNvSpPr>
          <p:nvPr/>
        </p:nvSpPr>
        <p:spPr bwMode="auto">
          <a:xfrm>
            <a:off x="285750" y="2967038"/>
            <a:ext cx="3392488"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225425" indent="-225425">
              <a:spcBef>
                <a:spcPct val="20000"/>
              </a:spcBef>
              <a:buChar char="•"/>
              <a:tabLst>
                <a:tab pos="225425" algn="l"/>
              </a:tabLst>
              <a:defRPr sz="3600" b="1">
                <a:solidFill>
                  <a:srgbClr val="000000"/>
                </a:solidFill>
                <a:latin typeface="Arial" panose="020B0604020202020204" pitchFamily="34" charset="0"/>
                <a:ea typeface="楷体_GB2312" charset="-122"/>
              </a:defRPr>
            </a:lvl1pPr>
            <a:lvl2pPr marL="742950" indent="-285750">
              <a:spcBef>
                <a:spcPct val="20000"/>
              </a:spcBef>
              <a:buChar char="–"/>
              <a:tabLst>
                <a:tab pos="225425" algn="l"/>
              </a:tabLst>
              <a:defRPr sz="3200" b="1">
                <a:solidFill>
                  <a:srgbClr val="000000"/>
                </a:solidFill>
                <a:latin typeface="Arial" panose="020B0604020202020204" pitchFamily="34" charset="0"/>
                <a:ea typeface="楷体_GB2312" charset="-122"/>
              </a:defRPr>
            </a:lvl2pPr>
            <a:lvl3pPr marL="1143000" indent="-228600">
              <a:spcBef>
                <a:spcPct val="20000"/>
              </a:spcBef>
              <a:buChar char="•"/>
              <a:tabLst>
                <a:tab pos="225425" algn="l"/>
              </a:tabLst>
              <a:defRPr sz="2800" b="1">
                <a:solidFill>
                  <a:srgbClr val="000000"/>
                </a:solidFill>
                <a:latin typeface="Arial" panose="020B0604020202020204" pitchFamily="34" charset="0"/>
                <a:ea typeface="楷体_GB2312" charset="-122"/>
              </a:defRPr>
            </a:lvl3pPr>
            <a:lvl4pPr marL="1600200" indent="-228600">
              <a:spcBef>
                <a:spcPct val="20000"/>
              </a:spcBef>
              <a:buChar char="–"/>
              <a:tabLst>
                <a:tab pos="225425" algn="l"/>
              </a:tabLst>
              <a:defRPr sz="2000" b="1">
                <a:solidFill>
                  <a:srgbClr val="000000"/>
                </a:solidFill>
                <a:latin typeface="Arial" panose="020B0604020202020204" pitchFamily="34" charset="0"/>
                <a:ea typeface="楷体_GB2312" charset="-122"/>
              </a:defRPr>
            </a:lvl4pPr>
            <a:lvl5pPr marL="2057400" indent="-228600">
              <a:spcBef>
                <a:spcPct val="20000"/>
              </a:spcBef>
              <a:buChar char="»"/>
              <a:tabLst>
                <a:tab pos="225425" algn="l"/>
              </a:tabLst>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tabLst>
                <a:tab pos="225425" algn="l"/>
              </a:tabLst>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tabLst>
                <a:tab pos="225425" algn="l"/>
              </a:tabLst>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tabLst>
                <a:tab pos="225425" algn="l"/>
              </a:tabLst>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tabLst>
                <a:tab pos="225425" algn="l"/>
              </a:tabLst>
              <a:defRPr sz="2000" b="1">
                <a:solidFill>
                  <a:srgbClr val="000000"/>
                </a:solidFill>
                <a:latin typeface="Arial" panose="020B0604020202020204" pitchFamily="34" charset="0"/>
                <a:ea typeface="楷体_GB2312" charset="-122"/>
              </a:defRPr>
            </a:lvl9pPr>
          </a:lstStyle>
          <a:p>
            <a:pPr>
              <a:spcBef>
                <a:spcPct val="0"/>
              </a:spcBef>
              <a:buFontTx/>
              <a:buChar char="-"/>
            </a:pPr>
            <a:r>
              <a:rPr lang="en-US" altLang="zh-CN" sz="2000" b="0" i="1">
                <a:solidFill>
                  <a:srgbClr val="000099"/>
                </a:solidFill>
                <a:latin typeface="Times New Roman" panose="02020603050405020304" charset="0"/>
                <a:ea typeface="宋体" panose="02010600030101010101" pitchFamily="2" charset="-122"/>
              </a:rPr>
              <a:t>Utzon won the competition in 1957 from 200 entries</a:t>
            </a:r>
            <a:endParaRPr lang="en-US" altLang="zh-CN" sz="2000" b="0" i="1">
              <a:solidFill>
                <a:srgbClr val="000099"/>
              </a:solidFill>
              <a:latin typeface="Times New Roman" panose="02020603050405020304" charset="0"/>
              <a:ea typeface="宋体" panose="02010600030101010101" pitchFamily="2" charset="-122"/>
            </a:endParaRPr>
          </a:p>
          <a:p>
            <a:pPr>
              <a:spcBef>
                <a:spcPct val="0"/>
              </a:spcBef>
              <a:buFontTx/>
              <a:buChar char="-"/>
            </a:pPr>
            <a:r>
              <a:rPr lang="en-US" altLang="zh-CN" sz="2000" b="0" i="1">
                <a:solidFill>
                  <a:srgbClr val="000099"/>
                </a:solidFill>
                <a:latin typeface="Times New Roman" panose="02020603050405020304" charset="0"/>
                <a:ea typeface="宋体" panose="02010600030101010101" pitchFamily="2" charset="-122"/>
              </a:rPr>
              <a:t>Due government interference and heavy criticism of costs and time, Utzon resigned in 1966. He never returned to Australia.</a:t>
            </a:r>
            <a:endParaRPr lang="en-US" altLang="zh-CN" sz="2000" b="0" i="1">
              <a:solidFill>
                <a:srgbClr val="000099"/>
              </a:solidFill>
              <a:latin typeface="Times New Roman" panose="02020603050405020304" charset="0"/>
              <a:ea typeface="宋体" panose="02010600030101010101" pitchFamily="2" charset="-122"/>
            </a:endParaRPr>
          </a:p>
        </p:txBody>
      </p:sp>
      <p:sp>
        <p:nvSpPr>
          <p:cNvPr id="91146" name="Text Box 13"/>
          <p:cNvSpPr txBox="1">
            <a:spLocks noChangeArrowheads="1"/>
          </p:cNvSpPr>
          <p:nvPr/>
        </p:nvSpPr>
        <p:spPr bwMode="auto">
          <a:xfrm>
            <a:off x="4246563" y="4811713"/>
            <a:ext cx="4014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2000" b="0">
                <a:solidFill>
                  <a:srgbClr val="000099"/>
                </a:solidFill>
                <a:latin typeface="Times New Roman" panose="02020603050405020304" charset="0"/>
                <a:ea typeface="宋体" panose="02010600030101010101" pitchFamily="2" charset="-122"/>
              </a:rPr>
              <a:t>Consider development time and cost  </a:t>
            </a:r>
            <a:endParaRPr lang="en-US" altLang="zh-CN" sz="2000" b="0">
              <a:solidFill>
                <a:srgbClr val="000099"/>
              </a:solidFill>
              <a:latin typeface="Times New Roman" panose="0202060305040502030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1"/>
          <p:cNvSpPr>
            <a:spLocks noGrp="1"/>
          </p:cNvSpPr>
          <p:nvPr>
            <p:ph type="sldNum" sz="quarter" idx="4294967295"/>
          </p:nvPr>
        </p:nvSpPr>
        <p:spPr bwMode="auto">
          <a:xfrm>
            <a:off x="8101013" y="6453188"/>
            <a:ext cx="561975"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fld id="{8FC28FC5-D318-4304-89E9-D884EB0D12A7}" type="slidenum">
              <a:rPr lang="en-US" altLang="zh-CN" sz="1400" b="0">
                <a:solidFill>
                  <a:schemeClr val="tx1"/>
                </a:solidFill>
                <a:latin typeface="Verdana" panose="020B0604030504040204" pitchFamily="34" charset="0"/>
                <a:ea typeface="宋体" panose="02010600030101010101" pitchFamily="2" charset="-122"/>
              </a:rPr>
            </a:fld>
            <a:endParaRPr lang="en-US" altLang="zh-CN" sz="1400" b="0">
              <a:solidFill>
                <a:schemeClr val="tx1"/>
              </a:solidFill>
              <a:latin typeface="Verdana" panose="020B0604030504040204" pitchFamily="34" charset="0"/>
              <a:ea typeface="宋体" panose="02010600030101010101" pitchFamily="2" charset="-122"/>
            </a:endParaRPr>
          </a:p>
        </p:txBody>
      </p:sp>
      <p:pic>
        <p:nvPicPr>
          <p:cNvPr id="92163" name="图片 2"/>
          <p:cNvPicPr>
            <a:picLocks noChangeAspect="1"/>
          </p:cNvPicPr>
          <p:nvPr/>
        </p:nvPicPr>
        <p:blipFill>
          <a:blip r:embed="rId1">
            <a:extLst>
              <a:ext uri="{28A0092B-C50C-407E-A947-70E740481C1C}">
                <a14:useLocalDpi xmlns:a14="http://schemas.microsoft.com/office/drawing/2010/main" val="0"/>
              </a:ext>
            </a:extLst>
          </a:blip>
          <a:srcRect l="22833" t="8400" r="7001" b="11801"/>
          <a:stretch>
            <a:fillRect/>
          </a:stretch>
        </p:blipFill>
        <p:spPr bwMode="auto">
          <a:xfrm>
            <a:off x="5076825" y="188913"/>
            <a:ext cx="4067175" cy="616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4" name="图片 3"/>
          <p:cNvPicPr>
            <a:picLocks noChangeAspect="1"/>
          </p:cNvPicPr>
          <p:nvPr/>
        </p:nvPicPr>
        <p:blipFill>
          <a:blip r:embed="rId2">
            <a:extLst>
              <a:ext uri="{28A0092B-C50C-407E-A947-70E740481C1C}">
                <a14:useLocalDpi xmlns:a14="http://schemas.microsoft.com/office/drawing/2010/main" val="0"/>
              </a:ext>
            </a:extLst>
          </a:blip>
          <a:srcRect l="8292" t="1050" r="38576" b="56950"/>
          <a:stretch>
            <a:fillRect/>
          </a:stretch>
        </p:blipFill>
        <p:spPr bwMode="auto">
          <a:xfrm>
            <a:off x="0" y="188913"/>
            <a:ext cx="4886325" cy="289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65" name="图片 4"/>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050" y="3159125"/>
            <a:ext cx="4913313"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1"/>
          <p:cNvSpPr>
            <a:spLocks noGrp="1"/>
          </p:cNvSpPr>
          <p:nvPr>
            <p:ph type="sldNum" sz="quarter" idx="4294967295"/>
          </p:nvPr>
        </p:nvSpPr>
        <p:spPr bwMode="auto">
          <a:xfrm>
            <a:off x="8101013" y="6453188"/>
            <a:ext cx="561975"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fld id="{3EBD6400-3F88-420C-856D-495DCBCDB5CA}" type="slidenum">
              <a:rPr lang="en-US" altLang="zh-CN" sz="1400" b="0">
                <a:solidFill>
                  <a:schemeClr val="tx1"/>
                </a:solidFill>
                <a:latin typeface="Verdana" panose="020B0604030504040204" pitchFamily="34" charset="0"/>
                <a:ea typeface="宋体" panose="02010600030101010101" pitchFamily="2" charset="-122"/>
              </a:rPr>
            </a:fld>
            <a:endParaRPr lang="en-US" altLang="zh-CN" sz="1400" b="0">
              <a:solidFill>
                <a:schemeClr val="tx1"/>
              </a:solidFill>
              <a:latin typeface="Verdana" panose="020B0604030504040204" pitchFamily="34" charset="0"/>
              <a:ea typeface="宋体" panose="02010600030101010101" pitchFamily="2" charset="-122"/>
            </a:endParaRPr>
          </a:p>
        </p:txBody>
      </p:sp>
      <p:pic>
        <p:nvPicPr>
          <p:cNvPr id="94211"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0" y="-2667000"/>
            <a:ext cx="9144000" cy="1219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灯片编号占位符 1"/>
          <p:cNvSpPr>
            <a:spLocks noGrp="1"/>
          </p:cNvSpPr>
          <p:nvPr>
            <p:ph type="sldNum" sz="quarter" idx="4294967295"/>
          </p:nvPr>
        </p:nvSpPr>
        <p:spPr bwMode="auto">
          <a:xfrm>
            <a:off x="8101013" y="6453188"/>
            <a:ext cx="561975"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fld id="{F7311D44-B6E1-44D8-83B2-CFDAB35EA9E9}" type="slidenum">
              <a:rPr lang="en-US" altLang="zh-CN" sz="1400" b="0">
                <a:solidFill>
                  <a:schemeClr val="tx1"/>
                </a:solidFill>
                <a:latin typeface="Verdana" panose="020B0604030504040204" pitchFamily="34" charset="0"/>
                <a:ea typeface="宋体" panose="02010600030101010101" pitchFamily="2" charset="-122"/>
              </a:rPr>
            </a:fld>
            <a:endParaRPr lang="en-US" altLang="zh-CN" sz="1400" b="0">
              <a:solidFill>
                <a:schemeClr val="tx1"/>
              </a:solidFill>
              <a:latin typeface="Verdana" panose="020B0604030504040204" pitchFamily="34" charset="0"/>
              <a:ea typeface="宋体" panose="02010600030101010101" pitchFamily="2" charset="-122"/>
            </a:endParaRPr>
          </a:p>
        </p:txBody>
      </p:sp>
      <p:pic>
        <p:nvPicPr>
          <p:cNvPr id="96259"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979613" y="34925"/>
            <a:ext cx="51435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灯片编号占位符 1"/>
          <p:cNvSpPr>
            <a:spLocks noGrp="1"/>
          </p:cNvSpPr>
          <p:nvPr>
            <p:ph type="sldNum" sz="quarter" idx="4294967295"/>
          </p:nvPr>
        </p:nvSpPr>
        <p:spPr bwMode="auto">
          <a:xfrm>
            <a:off x="8101013" y="6453188"/>
            <a:ext cx="561975"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fld id="{C3D7847D-2602-472A-83A6-BCC22967F294}" type="slidenum">
              <a:rPr lang="en-US" altLang="zh-CN" sz="1400" b="0">
                <a:solidFill>
                  <a:schemeClr val="tx1"/>
                </a:solidFill>
                <a:latin typeface="Verdana" panose="020B0604030504040204" pitchFamily="34" charset="0"/>
                <a:ea typeface="宋体" panose="02010600030101010101" pitchFamily="2" charset="-122"/>
              </a:rPr>
            </a:fld>
            <a:endParaRPr lang="en-US" altLang="zh-CN" sz="1400" b="0">
              <a:solidFill>
                <a:schemeClr val="tx1"/>
              </a:solidFill>
              <a:latin typeface="Verdana" panose="020B0604030504040204" pitchFamily="34" charset="0"/>
              <a:ea typeface="宋体" panose="02010600030101010101" pitchFamily="2" charset="-122"/>
            </a:endParaRPr>
          </a:p>
        </p:txBody>
      </p:sp>
      <p:pic>
        <p:nvPicPr>
          <p:cNvPr id="97283"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灯片编号占位符 1"/>
          <p:cNvSpPr>
            <a:spLocks noGrp="1"/>
          </p:cNvSpPr>
          <p:nvPr>
            <p:ph type="sldNum" sz="quarter" idx="4294967295"/>
          </p:nvPr>
        </p:nvSpPr>
        <p:spPr bwMode="auto">
          <a:xfrm>
            <a:off x="8101013" y="6453188"/>
            <a:ext cx="561975"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fld id="{79B62AAD-4A1B-4F11-BA04-5821B8153EE8}" type="slidenum">
              <a:rPr lang="en-US" altLang="zh-CN" sz="1400" b="0">
                <a:solidFill>
                  <a:schemeClr val="tx1"/>
                </a:solidFill>
                <a:latin typeface="Verdana" panose="020B0604030504040204" pitchFamily="34" charset="0"/>
                <a:ea typeface="宋体" panose="02010600030101010101" pitchFamily="2" charset="-122"/>
              </a:rPr>
            </a:fld>
            <a:endParaRPr lang="en-US" altLang="zh-CN" sz="1400" b="0">
              <a:solidFill>
                <a:schemeClr val="tx1"/>
              </a:solidFill>
              <a:latin typeface="Verdana" panose="020B0604030504040204" pitchFamily="34" charset="0"/>
              <a:ea typeface="宋体" panose="02010600030101010101" pitchFamily="2" charset="-122"/>
            </a:endParaRPr>
          </a:p>
        </p:txBody>
      </p:sp>
      <p:pic>
        <p:nvPicPr>
          <p:cNvPr id="99331"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1"/>
          <p:cNvSpPr>
            <a:spLocks noGrp="1"/>
          </p:cNvSpPr>
          <p:nvPr>
            <p:ph type="sldNum" sz="quarter" idx="4294967295"/>
          </p:nvPr>
        </p:nvSpPr>
        <p:spPr bwMode="auto">
          <a:xfrm>
            <a:off x="8101013" y="6453188"/>
            <a:ext cx="561975"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fld id="{E94298D5-4E49-4AB8-BD1E-32E9F669024D}" type="slidenum">
              <a:rPr lang="en-US" altLang="zh-CN" sz="1400" b="0">
                <a:solidFill>
                  <a:schemeClr val="tx1"/>
                </a:solidFill>
                <a:latin typeface="Verdana" panose="020B0604030504040204" pitchFamily="34" charset="0"/>
                <a:ea typeface="宋体" panose="02010600030101010101" pitchFamily="2" charset="-122"/>
              </a:rPr>
            </a:fld>
            <a:endParaRPr lang="en-US" altLang="zh-CN" sz="1400" b="0">
              <a:solidFill>
                <a:schemeClr val="tx1"/>
              </a:solidFill>
              <a:latin typeface="Verdana" panose="020B0604030504040204" pitchFamily="34" charset="0"/>
              <a:ea typeface="宋体" panose="02010600030101010101" pitchFamily="2" charset="-122"/>
            </a:endParaRPr>
          </a:p>
        </p:txBody>
      </p:sp>
      <p:pic>
        <p:nvPicPr>
          <p:cNvPr id="100355" name="图片 2"/>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000250" y="0"/>
            <a:ext cx="51435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4"/>
          <p:cNvSpPr txBox="1">
            <a:spLocks noChangeArrowheads="1"/>
          </p:cNvSpPr>
          <p:nvPr/>
        </p:nvSpPr>
        <p:spPr bwMode="auto">
          <a:xfrm>
            <a:off x="317500" y="233363"/>
            <a:ext cx="6934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4000" b="0">
                <a:solidFill>
                  <a:srgbClr val="990000"/>
                </a:solidFill>
                <a:latin typeface="Times New Roman" panose="02020603050405020304" charset="0"/>
                <a:ea typeface="宋体" panose="02010600030101010101" pitchFamily="2" charset="-122"/>
              </a:rPr>
              <a:t>Sydney Opera House</a:t>
            </a:r>
            <a:endParaRPr lang="en-US" altLang="zh-CN" sz="4000" b="0">
              <a:solidFill>
                <a:srgbClr val="990000"/>
              </a:solidFill>
              <a:latin typeface="Times New Roman" panose="02020603050405020304" charset="0"/>
              <a:ea typeface="宋体" panose="02010600030101010101" pitchFamily="2" charset="-122"/>
            </a:endParaRPr>
          </a:p>
        </p:txBody>
      </p:sp>
      <p:sp>
        <p:nvSpPr>
          <p:cNvPr id="101379" name="Text Box 5"/>
          <p:cNvSpPr txBox="1">
            <a:spLocks noChangeArrowheads="1"/>
          </p:cNvSpPr>
          <p:nvPr/>
        </p:nvSpPr>
        <p:spPr bwMode="auto">
          <a:xfrm>
            <a:off x="3875088" y="1792288"/>
            <a:ext cx="34115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2000" b="0">
                <a:solidFill>
                  <a:srgbClr val="000099"/>
                </a:solidFill>
                <a:latin typeface="Times New Roman" panose="02020603050405020304" charset="0"/>
                <a:ea typeface="宋体" panose="02010600030101010101" pitchFamily="2" charset="-122"/>
              </a:rPr>
              <a:t>Many projects are truly unique</a:t>
            </a:r>
            <a:r>
              <a:rPr lang="en-US" altLang="zh-CN" sz="2400" b="0">
                <a:solidFill>
                  <a:srgbClr val="000099"/>
                </a:solidFill>
                <a:latin typeface="Times New Roman" panose="02020603050405020304" charset="0"/>
                <a:ea typeface="宋体" panose="02010600030101010101" pitchFamily="2" charset="-122"/>
              </a:rPr>
              <a:t>!</a:t>
            </a:r>
            <a:endParaRPr lang="en-US" altLang="zh-CN" sz="2400" b="0">
              <a:solidFill>
                <a:srgbClr val="000099"/>
              </a:solidFill>
              <a:latin typeface="Times New Roman" panose="02020603050405020304" charset="0"/>
              <a:ea typeface="宋体" panose="02010600030101010101" pitchFamily="2" charset="-122"/>
            </a:endParaRPr>
          </a:p>
        </p:txBody>
      </p:sp>
      <p:pic>
        <p:nvPicPr>
          <p:cNvPr id="101380" name="Picture 6" descr="opera-house"/>
          <p:cNvPicPr>
            <a:picLocks noChangeAspect="1" noChangeArrowheads="1"/>
          </p:cNvPicPr>
          <p:nvPr/>
        </p:nvPicPr>
        <p:blipFill>
          <a:blip r:embed="rId1">
            <a:extLst>
              <a:ext uri="{28A0092B-C50C-407E-A947-70E740481C1C}">
                <a14:useLocalDpi xmlns:a14="http://schemas.microsoft.com/office/drawing/2010/main" val="0"/>
              </a:ext>
            </a:extLst>
          </a:blip>
          <a:srcRect t="28470"/>
          <a:stretch>
            <a:fillRect/>
          </a:stretch>
        </p:blipFill>
        <p:spPr bwMode="auto">
          <a:xfrm>
            <a:off x="3790950" y="2314575"/>
            <a:ext cx="4637088" cy="229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1" name="Picture 7" descr="j_utzon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8375" y="1646238"/>
            <a:ext cx="1143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2" name="Text Box 8"/>
          <p:cNvSpPr txBox="1">
            <a:spLocks noChangeArrowheads="1"/>
          </p:cNvSpPr>
          <p:nvPr/>
        </p:nvSpPr>
        <p:spPr bwMode="auto">
          <a:xfrm>
            <a:off x="360363" y="1412875"/>
            <a:ext cx="3311525"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2000" b="0" i="1">
                <a:solidFill>
                  <a:srgbClr val="000099"/>
                </a:solidFill>
                <a:latin typeface="Times New Roman" panose="02020603050405020304" charset="0"/>
                <a:ea typeface="宋体" panose="02010600030101010101" pitchFamily="2" charset="-122"/>
              </a:rPr>
              <a:t>The opera house was heavily criticized for the construction cost and time compared to the original estimates.</a:t>
            </a:r>
            <a:endParaRPr lang="en-US" altLang="zh-CN" sz="2000" b="0" i="1">
              <a:solidFill>
                <a:srgbClr val="000099"/>
              </a:solidFill>
              <a:latin typeface="Times New Roman" panose="02020603050405020304" charset="0"/>
              <a:ea typeface="宋体" panose="02010600030101010101" pitchFamily="2" charset="-122"/>
            </a:endParaRPr>
          </a:p>
        </p:txBody>
      </p:sp>
      <p:sp>
        <p:nvSpPr>
          <p:cNvPr id="101383" name="Text Box 9"/>
          <p:cNvSpPr txBox="1">
            <a:spLocks noChangeArrowheads="1"/>
          </p:cNvSpPr>
          <p:nvPr/>
        </p:nvSpPr>
        <p:spPr bwMode="auto">
          <a:xfrm>
            <a:off x="7296150" y="2706688"/>
            <a:ext cx="11938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1800" b="0">
                <a:solidFill>
                  <a:srgbClr val="000099"/>
                </a:solidFill>
                <a:latin typeface="Times New Roman" panose="02020603050405020304" charset="0"/>
                <a:ea typeface="宋体" panose="02010600030101010101" pitchFamily="2" charset="-122"/>
              </a:rPr>
              <a:t>Jorn Utzon</a:t>
            </a:r>
            <a:endParaRPr lang="en-US" altLang="zh-CN" sz="1800" b="0">
              <a:solidFill>
                <a:srgbClr val="000099"/>
              </a:solidFill>
              <a:latin typeface="Times New Roman" panose="02020603050405020304" charset="0"/>
              <a:ea typeface="宋体" panose="02010600030101010101" pitchFamily="2" charset="-122"/>
            </a:endParaRPr>
          </a:p>
        </p:txBody>
      </p:sp>
      <p:sp>
        <p:nvSpPr>
          <p:cNvPr id="101384" name="Text Box 10"/>
          <p:cNvSpPr txBox="1">
            <a:spLocks noChangeArrowheads="1"/>
          </p:cNvSpPr>
          <p:nvPr/>
        </p:nvSpPr>
        <p:spPr bwMode="auto">
          <a:xfrm>
            <a:off x="327025" y="4943475"/>
            <a:ext cx="8002588"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2000" b="0" i="1">
                <a:solidFill>
                  <a:srgbClr val="000099"/>
                </a:solidFill>
                <a:latin typeface="Times New Roman" panose="02020603050405020304" charset="0"/>
                <a:ea typeface="宋体" panose="02010600030101010101" pitchFamily="2" charset="-122"/>
              </a:rPr>
              <a:t>- Initial cost estimate: $6M</a:t>
            </a:r>
            <a:endParaRPr lang="en-US" altLang="zh-CN" sz="2000" b="0" i="1">
              <a:solidFill>
                <a:srgbClr val="000099"/>
              </a:solidFill>
              <a:latin typeface="Times New Roman" panose="02020603050405020304" charset="0"/>
              <a:ea typeface="宋体" panose="02010600030101010101" pitchFamily="2" charset="-122"/>
            </a:endParaRPr>
          </a:p>
          <a:p>
            <a:pPr>
              <a:spcBef>
                <a:spcPct val="0"/>
              </a:spcBef>
              <a:buFontTx/>
              <a:buNone/>
            </a:pPr>
            <a:r>
              <a:rPr lang="en-US" altLang="zh-CN" sz="2000" b="0" i="1">
                <a:solidFill>
                  <a:srgbClr val="000099"/>
                </a:solidFill>
                <a:latin typeface="Times New Roman" panose="02020603050405020304" charset="0"/>
                <a:ea typeface="宋体" panose="02010600030101010101" pitchFamily="2" charset="-122"/>
              </a:rPr>
              <a:t>- Final cost at completion in 1973: $106M</a:t>
            </a:r>
            <a:endParaRPr lang="en-US" altLang="zh-CN" sz="2000" b="0" i="1">
              <a:solidFill>
                <a:srgbClr val="000099"/>
              </a:solidFill>
              <a:latin typeface="Times New Roman" panose="02020603050405020304" charset="0"/>
              <a:ea typeface="宋体" panose="02010600030101010101" pitchFamily="2" charset="-122"/>
            </a:endParaRPr>
          </a:p>
        </p:txBody>
      </p:sp>
      <p:sp>
        <p:nvSpPr>
          <p:cNvPr id="101385" name="Rectangle 11"/>
          <p:cNvSpPr>
            <a:spLocks noChangeArrowheads="1"/>
          </p:cNvSpPr>
          <p:nvPr/>
        </p:nvSpPr>
        <p:spPr bwMode="auto">
          <a:xfrm>
            <a:off x="219075" y="2751138"/>
            <a:ext cx="3392488" cy="222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marL="225425" indent="-225425">
              <a:spcBef>
                <a:spcPct val="20000"/>
              </a:spcBef>
              <a:buChar char="•"/>
              <a:tabLst>
                <a:tab pos="225425" algn="l"/>
              </a:tabLst>
              <a:defRPr sz="3600" b="1">
                <a:solidFill>
                  <a:srgbClr val="000000"/>
                </a:solidFill>
                <a:latin typeface="Arial" panose="020B0604020202020204" pitchFamily="34" charset="0"/>
                <a:ea typeface="楷体_GB2312" charset="-122"/>
              </a:defRPr>
            </a:lvl1pPr>
            <a:lvl2pPr marL="742950" indent="-285750">
              <a:spcBef>
                <a:spcPct val="20000"/>
              </a:spcBef>
              <a:buChar char="–"/>
              <a:tabLst>
                <a:tab pos="225425" algn="l"/>
              </a:tabLst>
              <a:defRPr sz="3200" b="1">
                <a:solidFill>
                  <a:srgbClr val="000000"/>
                </a:solidFill>
                <a:latin typeface="Arial" panose="020B0604020202020204" pitchFamily="34" charset="0"/>
                <a:ea typeface="楷体_GB2312" charset="-122"/>
              </a:defRPr>
            </a:lvl2pPr>
            <a:lvl3pPr marL="1143000" indent="-228600">
              <a:spcBef>
                <a:spcPct val="20000"/>
              </a:spcBef>
              <a:buChar char="•"/>
              <a:tabLst>
                <a:tab pos="225425" algn="l"/>
              </a:tabLst>
              <a:defRPr sz="2800" b="1">
                <a:solidFill>
                  <a:srgbClr val="000000"/>
                </a:solidFill>
                <a:latin typeface="Arial" panose="020B0604020202020204" pitchFamily="34" charset="0"/>
                <a:ea typeface="楷体_GB2312" charset="-122"/>
              </a:defRPr>
            </a:lvl3pPr>
            <a:lvl4pPr marL="1600200" indent="-228600">
              <a:spcBef>
                <a:spcPct val="20000"/>
              </a:spcBef>
              <a:buChar char="–"/>
              <a:tabLst>
                <a:tab pos="225425" algn="l"/>
              </a:tabLst>
              <a:defRPr sz="2000" b="1">
                <a:solidFill>
                  <a:srgbClr val="000000"/>
                </a:solidFill>
                <a:latin typeface="Arial" panose="020B0604020202020204" pitchFamily="34" charset="0"/>
                <a:ea typeface="楷体_GB2312" charset="-122"/>
              </a:defRPr>
            </a:lvl4pPr>
            <a:lvl5pPr marL="2057400" indent="-228600">
              <a:spcBef>
                <a:spcPct val="20000"/>
              </a:spcBef>
              <a:buChar char="»"/>
              <a:tabLst>
                <a:tab pos="225425" algn="l"/>
              </a:tabLst>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tabLst>
                <a:tab pos="225425" algn="l"/>
              </a:tabLst>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tabLst>
                <a:tab pos="225425" algn="l"/>
              </a:tabLst>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tabLst>
                <a:tab pos="225425" algn="l"/>
              </a:tabLst>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tabLst>
                <a:tab pos="225425" algn="l"/>
              </a:tabLst>
              <a:defRPr sz="2000" b="1">
                <a:solidFill>
                  <a:srgbClr val="000000"/>
                </a:solidFill>
                <a:latin typeface="Arial" panose="020B0604020202020204" pitchFamily="34" charset="0"/>
                <a:ea typeface="楷体_GB2312" charset="-122"/>
              </a:defRPr>
            </a:lvl9pPr>
          </a:lstStyle>
          <a:p>
            <a:pPr>
              <a:spcBef>
                <a:spcPct val="0"/>
              </a:spcBef>
              <a:buFontTx/>
              <a:buChar char="-"/>
            </a:pPr>
            <a:r>
              <a:rPr lang="en-US" altLang="zh-CN" sz="2000" b="0" i="1">
                <a:solidFill>
                  <a:srgbClr val="000099"/>
                </a:solidFill>
                <a:latin typeface="Times New Roman" panose="02020603050405020304" charset="0"/>
                <a:ea typeface="宋体" panose="02010600030101010101" pitchFamily="2" charset="-122"/>
              </a:rPr>
              <a:t>Utzon won the competition in 1957 from 200 entries</a:t>
            </a:r>
            <a:endParaRPr lang="en-US" altLang="zh-CN" sz="2000" b="0" i="1">
              <a:solidFill>
                <a:srgbClr val="000099"/>
              </a:solidFill>
              <a:latin typeface="Times New Roman" panose="02020603050405020304" charset="0"/>
              <a:ea typeface="宋体" panose="02010600030101010101" pitchFamily="2" charset="-122"/>
            </a:endParaRPr>
          </a:p>
          <a:p>
            <a:pPr>
              <a:spcBef>
                <a:spcPct val="0"/>
              </a:spcBef>
              <a:buFontTx/>
              <a:buChar char="-"/>
            </a:pPr>
            <a:r>
              <a:rPr lang="en-US" altLang="zh-CN" sz="2000" b="0" i="1">
                <a:solidFill>
                  <a:srgbClr val="000099"/>
                </a:solidFill>
                <a:latin typeface="Times New Roman" panose="02020603050405020304" charset="0"/>
                <a:ea typeface="宋体" panose="02010600030101010101" pitchFamily="2" charset="-122"/>
              </a:rPr>
              <a:t>Due government interference and heavy criticism of costs and time, Utzon resigned in 1966. He never returned to Australia.</a:t>
            </a:r>
            <a:endParaRPr lang="en-US" altLang="zh-CN" sz="2000" b="0" i="1">
              <a:solidFill>
                <a:srgbClr val="000099"/>
              </a:solidFill>
              <a:latin typeface="Times New Roman" panose="02020603050405020304" charset="0"/>
              <a:ea typeface="宋体" panose="02010600030101010101" pitchFamily="2" charset="-122"/>
            </a:endParaRPr>
          </a:p>
        </p:txBody>
      </p:sp>
      <p:sp>
        <p:nvSpPr>
          <p:cNvPr id="101386" name="Text Box 12"/>
          <p:cNvSpPr txBox="1">
            <a:spLocks noChangeArrowheads="1"/>
          </p:cNvSpPr>
          <p:nvPr/>
        </p:nvSpPr>
        <p:spPr bwMode="auto">
          <a:xfrm>
            <a:off x="360363" y="5745163"/>
            <a:ext cx="7694612"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zh-CN" altLang="en-US" sz="3200">
                <a:solidFill>
                  <a:srgbClr val="800000"/>
                </a:solidFill>
                <a:latin typeface="Times New Roman" panose="02020603050405020304" charset="0"/>
                <a:ea typeface="宋体" panose="02010600030101010101" pitchFamily="2" charset="-122"/>
              </a:rPr>
              <a:t>国家大剧院、长城、京杭大运河</a:t>
            </a:r>
            <a:r>
              <a:rPr lang="en-US" altLang="zh-CN" sz="3200">
                <a:solidFill>
                  <a:srgbClr val="800000"/>
                </a:solidFill>
                <a:latin typeface="Times New Roman" panose="02020603050405020304" charset="0"/>
                <a:ea typeface="宋体" panose="02010600030101010101" pitchFamily="2" charset="-122"/>
              </a:rPr>
              <a:t>…?</a:t>
            </a:r>
            <a:endParaRPr lang="en-US" altLang="zh-CN" sz="3200">
              <a:solidFill>
                <a:srgbClr val="800000"/>
              </a:solidFill>
              <a:latin typeface="Times New Roman" panose="02020603050405020304" charset="0"/>
              <a:ea typeface="宋体" panose="02010600030101010101" pitchFamily="2" charset="-122"/>
            </a:endParaRPr>
          </a:p>
        </p:txBody>
      </p:sp>
      <p:sp>
        <p:nvSpPr>
          <p:cNvPr id="101387" name="Text Box 13"/>
          <p:cNvSpPr txBox="1">
            <a:spLocks noChangeArrowheads="1"/>
          </p:cNvSpPr>
          <p:nvPr/>
        </p:nvSpPr>
        <p:spPr bwMode="auto">
          <a:xfrm>
            <a:off x="4179888" y="4595813"/>
            <a:ext cx="401478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2000" b="0">
                <a:solidFill>
                  <a:srgbClr val="000099"/>
                </a:solidFill>
                <a:latin typeface="Times New Roman" panose="02020603050405020304" charset="0"/>
                <a:ea typeface="宋体" panose="02010600030101010101" pitchFamily="2" charset="-122"/>
              </a:rPr>
              <a:t>Consider development time and cost  </a:t>
            </a:r>
            <a:endParaRPr lang="en-US" altLang="zh-CN" sz="2000" b="0">
              <a:solidFill>
                <a:srgbClr val="000099"/>
              </a:solidFill>
              <a:latin typeface="Times New Roman" panose="0202060305040502030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4" descr="The Tunnel how does it work?">
            <a:hlinkClick r:id="rId1"/>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8888" y="1196975"/>
            <a:ext cx="7048500" cy="500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3" name="Text Box 4"/>
          <p:cNvSpPr txBox="1">
            <a:spLocks noChangeArrowheads="1"/>
          </p:cNvSpPr>
          <p:nvPr/>
        </p:nvSpPr>
        <p:spPr bwMode="auto">
          <a:xfrm>
            <a:off x="317500" y="233363"/>
            <a:ext cx="6934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4000" b="0">
                <a:solidFill>
                  <a:srgbClr val="990000"/>
                </a:solidFill>
                <a:latin typeface="Times New Roman" panose="02020603050405020304" charset="0"/>
                <a:ea typeface="宋体" panose="02010600030101010101" pitchFamily="2" charset="-122"/>
              </a:rPr>
              <a:t>Eurotunnel</a:t>
            </a:r>
            <a:endParaRPr lang="en-US" altLang="zh-CN" sz="4000" b="0">
              <a:solidFill>
                <a:srgbClr val="990000"/>
              </a:solidFill>
              <a:latin typeface="Times New Roman" panose="0202060305040502030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a:xfrm>
            <a:off x="179388" y="261938"/>
            <a:ext cx="8589962" cy="828675"/>
          </a:xfrm>
        </p:spPr>
        <p:txBody>
          <a:bodyPr/>
          <a:lstStyle/>
          <a:p>
            <a:pPr>
              <a:defRPr/>
            </a:pPr>
            <a:r>
              <a:rPr lang="en-US" altLang="zh-CN" sz="4000" b="0" kern="1200" dirty="0">
                <a:latin typeface="Times New Roman" panose="02020603050405020304" charset="0"/>
                <a:ea typeface="宋体" panose="02010600030101010101" pitchFamily="2" charset="-122"/>
                <a:cs typeface="+mn-cs"/>
              </a:rPr>
              <a:t>Eurotunnel project delivery</a:t>
            </a:r>
            <a:endParaRPr lang="zh-CN" altLang="en-US" sz="4000" b="0" kern="1200" dirty="0">
              <a:latin typeface="Times New Roman" panose="02020603050405020304" charset="0"/>
              <a:ea typeface="宋体" panose="02010600030101010101" pitchFamily="2" charset="-122"/>
              <a:cs typeface="+mn-cs"/>
            </a:endParaRPr>
          </a:p>
        </p:txBody>
      </p:sp>
      <p:pic>
        <p:nvPicPr>
          <p:cNvPr id="103427"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067175" y="1341438"/>
            <a:ext cx="4824413" cy="530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2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268413"/>
            <a:ext cx="3455987" cy="2678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29" name="Picture 6" descr="English and French tunnels join u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4149725"/>
            <a:ext cx="3635375" cy="244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标题 1"/>
          <p:cNvSpPr>
            <a:spLocks noGrp="1" noChangeArrowheads="1"/>
          </p:cNvSpPr>
          <p:nvPr>
            <p:ph type="title"/>
          </p:nvPr>
        </p:nvSpPr>
        <p:spPr/>
        <p:txBody>
          <a:bodyPr/>
          <a:lstStyle/>
          <a:p>
            <a:r>
              <a:rPr lang="en-US" altLang="zh-CN" smtClean="0">
                <a:ea typeface="宋体" panose="02010600030101010101" pitchFamily="2" charset="-122"/>
              </a:rPr>
              <a:t>Eurotunnel</a:t>
            </a:r>
            <a:r>
              <a:rPr lang="zh-CN" altLang="en-US" smtClean="0">
                <a:ea typeface="宋体" panose="02010600030101010101" pitchFamily="2" charset="-122"/>
              </a:rPr>
              <a:t>项目实施结果</a:t>
            </a:r>
            <a:endParaRPr lang="zh-CN" altLang="en-US" smtClean="0">
              <a:ea typeface="宋体" panose="02010600030101010101" pitchFamily="2" charset="-122"/>
            </a:endParaRPr>
          </a:p>
        </p:txBody>
      </p:sp>
      <p:sp>
        <p:nvSpPr>
          <p:cNvPr id="105475" name="内容占位符 2"/>
          <p:cNvSpPr>
            <a:spLocks noGrp="1" noChangeArrowheads="1"/>
          </p:cNvSpPr>
          <p:nvPr>
            <p:ph idx="1"/>
          </p:nvPr>
        </p:nvSpPr>
        <p:spPr/>
        <p:txBody>
          <a:bodyPr/>
          <a:lstStyle/>
          <a:p>
            <a:r>
              <a:rPr lang="zh-CN" altLang="en-US" sz="2800" smtClean="0">
                <a:ea typeface="宋体" panose="02010600030101010101" pitchFamily="2" charset="-122"/>
              </a:rPr>
              <a:t>隧道端部这一带地质结构松散，岩层出现裂缝，而且渗水严重</a:t>
            </a:r>
            <a:endParaRPr lang="en-US" altLang="zh-CN" sz="2800" smtClean="0">
              <a:ea typeface="宋体" panose="02010600030101010101" pitchFamily="2" charset="-122"/>
            </a:endParaRPr>
          </a:p>
          <a:p>
            <a:r>
              <a:rPr lang="zh-CN" altLang="en-US" sz="2800" smtClean="0">
                <a:ea typeface="宋体" panose="02010600030101010101" pitchFamily="2" charset="-122"/>
              </a:rPr>
              <a:t>为解决岩层渗水条件下的施工问题，承包商向日本专业厂家订购了</a:t>
            </a:r>
            <a:r>
              <a:rPr lang="en-US" altLang="zh-CN" sz="2800" smtClean="0">
                <a:ea typeface="宋体" panose="02010600030101010101" pitchFamily="2" charset="-122"/>
              </a:rPr>
              <a:t>5</a:t>
            </a:r>
            <a:r>
              <a:rPr lang="zh-CN" altLang="en-US" sz="2800" smtClean="0">
                <a:ea typeface="宋体" panose="02010600030101010101" pitchFamily="2" charset="-122"/>
              </a:rPr>
              <a:t>台适于在渗水岩层中作业的隧道掘进机；掘进机每台长</a:t>
            </a:r>
            <a:r>
              <a:rPr lang="en-US" altLang="zh-CN" sz="2800" smtClean="0">
                <a:ea typeface="宋体" panose="02010600030101010101" pitchFamily="2" charset="-122"/>
              </a:rPr>
              <a:t>250</a:t>
            </a:r>
            <a:r>
              <a:rPr lang="zh-CN" altLang="en-US" sz="2800" smtClean="0">
                <a:ea typeface="宋体" panose="02010600030101010101" pitchFamily="2" charset="-122"/>
              </a:rPr>
              <a:t>米，其中最大的一台重</a:t>
            </a:r>
            <a:r>
              <a:rPr lang="en-US" altLang="zh-CN" sz="2800" smtClean="0">
                <a:ea typeface="宋体" panose="02010600030101010101" pitchFamily="2" charset="-122"/>
              </a:rPr>
              <a:t>1200</a:t>
            </a:r>
            <a:r>
              <a:rPr lang="zh-CN" altLang="en-US" sz="2800" smtClean="0">
                <a:ea typeface="宋体" panose="02010600030101010101" pitchFamily="2" charset="-122"/>
              </a:rPr>
              <a:t>吨，价值</a:t>
            </a:r>
            <a:r>
              <a:rPr lang="en-US" altLang="zh-CN" sz="2800" smtClean="0">
                <a:ea typeface="宋体" panose="02010600030101010101" pitchFamily="2" charset="-122"/>
              </a:rPr>
              <a:t>1.3</a:t>
            </a:r>
            <a:r>
              <a:rPr lang="zh-CN" altLang="en-US" sz="2800" smtClean="0">
                <a:ea typeface="宋体" panose="02010600030101010101" pitchFamily="2" charset="-122"/>
              </a:rPr>
              <a:t>亿法郎。</a:t>
            </a:r>
            <a:endParaRPr lang="en-US" altLang="zh-CN" sz="2800" smtClean="0">
              <a:ea typeface="宋体" panose="02010600030101010101" pitchFamily="2" charset="-122"/>
            </a:endParaRPr>
          </a:p>
          <a:p>
            <a:r>
              <a:rPr lang="zh-CN" altLang="en-US" sz="2800" smtClean="0">
                <a:ea typeface="宋体" panose="02010600030101010101" pitchFamily="2" charset="-122"/>
              </a:rPr>
              <a:t>设计方案变更，和</a:t>
            </a:r>
            <a:r>
              <a:rPr lang="en-US" altLang="zh-CN" sz="2800" smtClean="0">
                <a:ea typeface="宋体" panose="02010600030101010101" pitchFamily="2" charset="-122"/>
              </a:rPr>
              <a:t>HSE</a:t>
            </a:r>
            <a:r>
              <a:rPr lang="zh-CN" altLang="en-US" sz="2800" smtClean="0">
                <a:ea typeface="宋体" panose="02010600030101010101" pitchFamily="2" charset="-122"/>
              </a:rPr>
              <a:t>问题（恶劣条件下施工保护和施工对海洋环境的影响）等原因也造成成本上升。</a:t>
            </a:r>
            <a:endParaRPr lang="en-US" altLang="zh-CN" sz="2800" smtClean="0">
              <a:ea typeface="宋体" panose="02010600030101010101" pitchFamily="2" charset="-122"/>
            </a:endParaRPr>
          </a:p>
          <a:p>
            <a:r>
              <a:rPr lang="zh-CN" altLang="en-US" sz="2800" smtClean="0">
                <a:ea typeface="宋体" panose="02010600030101010101" pitchFamily="2" charset="-122"/>
              </a:rPr>
              <a:t>项目预算为</a:t>
            </a:r>
            <a:r>
              <a:rPr lang="en-US" altLang="zh-CN" sz="2800" smtClean="0">
                <a:ea typeface="宋体" panose="02010600030101010101" pitchFamily="2" charset="-122"/>
              </a:rPr>
              <a:t>48</a:t>
            </a:r>
            <a:r>
              <a:rPr lang="zh-CN" altLang="en-US" sz="2800" smtClean="0">
                <a:ea typeface="宋体" panose="02010600030101010101" pitchFamily="2" charset="-122"/>
              </a:rPr>
              <a:t>亿英镑，最终工程费用为</a:t>
            </a:r>
            <a:r>
              <a:rPr lang="en-US" altLang="zh-CN" sz="2800" smtClean="0">
                <a:ea typeface="宋体" panose="02010600030101010101" pitchFamily="2" charset="-122"/>
              </a:rPr>
              <a:t>106</a:t>
            </a:r>
            <a:r>
              <a:rPr lang="zh-CN" altLang="en-US" sz="2800" smtClean="0">
                <a:ea typeface="宋体" panose="02010600030101010101" pitchFamily="2" charset="-122"/>
              </a:rPr>
              <a:t>亿英镑，超出预算的</a:t>
            </a:r>
            <a:r>
              <a:rPr lang="en-US" altLang="zh-CN" sz="2800" smtClean="0">
                <a:ea typeface="宋体" panose="02010600030101010101" pitchFamily="2" charset="-122"/>
              </a:rPr>
              <a:t>120%</a:t>
            </a:r>
            <a:endParaRPr lang="zh-CN" altLang="en-US" sz="2800" smtClean="0">
              <a:ea typeface="宋体" panose="02010600030101010101" pitchFamily="2" charset="-122"/>
            </a:endParaRPr>
          </a:p>
        </p:txBody>
      </p:sp>
      <p:sp>
        <p:nvSpPr>
          <p:cNvPr id="105476" name="灯片编号占位符 3"/>
          <p:cNvSpPr>
            <a:spLocks noGrp="1"/>
          </p:cNvSpPr>
          <p:nvPr>
            <p:ph type="sldNum" sz="quarter" idx="4294967295"/>
          </p:nvPr>
        </p:nvSpPr>
        <p:spPr bwMode="auto">
          <a:xfrm>
            <a:off x="8101013" y="6453188"/>
            <a:ext cx="561975"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fld id="{903D24CA-4689-4215-8F3D-4832942AAC51}" type="slidenum">
              <a:rPr lang="en-US" altLang="zh-CN" sz="1400" b="0">
                <a:solidFill>
                  <a:schemeClr val="tx1"/>
                </a:solidFill>
                <a:latin typeface="Verdana" panose="020B0604030504040204" pitchFamily="34" charset="0"/>
                <a:ea typeface="宋体" panose="02010600030101010101" pitchFamily="2" charset="-122"/>
              </a:rPr>
            </a:fld>
            <a:endParaRPr lang="en-US" altLang="zh-CN" sz="1400" b="0">
              <a:solidFill>
                <a:schemeClr val="tx1"/>
              </a:solidFill>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标题 1"/>
          <p:cNvSpPr>
            <a:spLocks noGrp="1" noChangeArrowheads="1"/>
          </p:cNvSpPr>
          <p:nvPr>
            <p:ph type="title"/>
          </p:nvPr>
        </p:nvSpPr>
        <p:spPr>
          <a:xfrm>
            <a:off x="334963" y="158750"/>
            <a:ext cx="8485187" cy="1143000"/>
          </a:xfrm>
        </p:spPr>
        <p:txBody>
          <a:bodyPr/>
          <a:lstStyle/>
          <a:p>
            <a:r>
              <a:rPr lang="zh-CN" altLang="en-US" smtClean="0">
                <a:latin typeface="黑体" panose="02010609060101010101" pitchFamily="49" charset="-122"/>
                <a:ea typeface="黑体" panose="02010609060101010101" pitchFamily="49" charset="-122"/>
              </a:rPr>
              <a:t>沙特麦加萨法至穆戈达莎轻轨</a:t>
            </a:r>
            <a:endParaRPr lang="zh-CN" altLang="en-US" smtClean="0">
              <a:latin typeface="黑体" panose="02010609060101010101" pitchFamily="49" charset="-122"/>
              <a:ea typeface="黑体" panose="02010609060101010101" pitchFamily="49" charset="-122"/>
            </a:endParaRPr>
          </a:p>
        </p:txBody>
      </p:sp>
      <p:sp>
        <p:nvSpPr>
          <p:cNvPr id="106499" name="内容占位符 2"/>
          <p:cNvSpPr>
            <a:spLocks noGrp="1" noChangeArrowheads="1"/>
          </p:cNvSpPr>
          <p:nvPr>
            <p:ph sz="quarter" idx="1"/>
          </p:nvPr>
        </p:nvSpPr>
        <p:spPr/>
        <p:txBody>
          <a:bodyPr/>
          <a:lstStyle/>
          <a:p>
            <a:pPr>
              <a:buFont typeface="Wingdings" panose="05000000000000000000" pitchFamily="2" charset="2"/>
              <a:buNone/>
            </a:pPr>
            <a:endParaRPr lang="zh-CN" altLang="en-US" smtClean="0">
              <a:ea typeface="宋体" panose="02010600030101010101" pitchFamily="2" charset="-122"/>
            </a:endParaRPr>
          </a:p>
        </p:txBody>
      </p:sp>
      <p:pic>
        <p:nvPicPr>
          <p:cNvPr id="10650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9750" y="1125538"/>
            <a:ext cx="3600450" cy="2865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1" name="AutoShape 4"/>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endParaRPr lang="zh-CN" altLang="en-US" sz="4800" b="0">
              <a:solidFill>
                <a:schemeClr val="accent2"/>
              </a:solidFill>
              <a:latin typeface="隶书" panose="02010509060101010101" pitchFamily="49" charset="-122"/>
            </a:endParaRPr>
          </a:p>
        </p:txBody>
      </p:sp>
      <p:pic>
        <p:nvPicPr>
          <p:cNvPr id="10650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00563" y="1125538"/>
            <a:ext cx="4032250"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3" name="Picture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1800" y="4151313"/>
            <a:ext cx="3779838" cy="251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4"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0563" y="4149725"/>
            <a:ext cx="4192587" cy="2519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内容占位符 2"/>
          <p:cNvSpPr>
            <a:spLocks noGrp="1" noChangeArrowheads="1"/>
          </p:cNvSpPr>
          <p:nvPr>
            <p:ph sz="quarter" idx="1"/>
          </p:nvPr>
        </p:nvSpPr>
        <p:spPr>
          <a:xfrm>
            <a:off x="0" y="1268413"/>
            <a:ext cx="4500563" cy="4968875"/>
          </a:xfrm>
        </p:spPr>
        <p:txBody>
          <a:bodyPr/>
          <a:lstStyle/>
          <a:p>
            <a:r>
              <a:rPr lang="zh-CN" altLang="en-US" sz="2200" smtClean="0">
                <a:solidFill>
                  <a:schemeClr val="bg2"/>
                </a:solidFill>
                <a:ea typeface="宋体" panose="02010600030101010101" pitchFamily="2" charset="-122"/>
              </a:rPr>
              <a:t>决策过程中过于自信于低廉施工成本；</a:t>
            </a:r>
            <a:endParaRPr lang="en-US" altLang="zh-CN" sz="2200" smtClean="0">
              <a:solidFill>
                <a:schemeClr val="bg2"/>
              </a:solidFill>
              <a:ea typeface="宋体" panose="02010600030101010101" pitchFamily="2" charset="-122"/>
            </a:endParaRPr>
          </a:p>
          <a:p>
            <a:r>
              <a:rPr lang="zh-CN" altLang="en-US" sz="2200" smtClean="0">
                <a:solidFill>
                  <a:schemeClr val="bg2"/>
                </a:solidFill>
                <a:ea typeface="宋体" panose="02010600030101010101" pitchFamily="2" charset="-122"/>
              </a:rPr>
              <a:t>投标报价：当地公司报价</a:t>
            </a:r>
            <a:r>
              <a:rPr lang="en-US" altLang="zh-CN" sz="2200" smtClean="0">
                <a:solidFill>
                  <a:schemeClr val="bg2"/>
                </a:solidFill>
                <a:ea typeface="宋体" panose="02010600030101010101" pitchFamily="2" charset="-122"/>
              </a:rPr>
              <a:t>27</a:t>
            </a:r>
            <a:r>
              <a:rPr lang="zh-CN" altLang="en-US" sz="2200" smtClean="0">
                <a:solidFill>
                  <a:schemeClr val="bg2"/>
                </a:solidFill>
                <a:ea typeface="宋体" panose="02010600030101010101" pitchFamily="2" charset="-122"/>
              </a:rPr>
              <a:t>亿美元，中铁建初始报价</a:t>
            </a:r>
            <a:r>
              <a:rPr lang="en-US" altLang="zh-CN" sz="2200" smtClean="0">
                <a:solidFill>
                  <a:schemeClr val="bg2"/>
                </a:solidFill>
                <a:ea typeface="宋体" panose="02010600030101010101" pitchFamily="2" charset="-122"/>
              </a:rPr>
              <a:t>22</a:t>
            </a:r>
            <a:r>
              <a:rPr lang="zh-CN" altLang="en-US" sz="2200" smtClean="0">
                <a:solidFill>
                  <a:schemeClr val="bg2"/>
                </a:solidFill>
                <a:ea typeface="宋体" panose="02010600030101010101" pitchFamily="2" charset="-122"/>
              </a:rPr>
              <a:t>亿，协商后签约为</a:t>
            </a:r>
            <a:r>
              <a:rPr lang="en-US" altLang="zh-CN" sz="2200" smtClean="0">
                <a:solidFill>
                  <a:schemeClr val="bg2"/>
                </a:solidFill>
                <a:ea typeface="宋体" panose="02010600030101010101" pitchFamily="2" charset="-122"/>
              </a:rPr>
              <a:t>17.7</a:t>
            </a:r>
            <a:r>
              <a:rPr lang="zh-CN" altLang="en-US" sz="2200" smtClean="0">
                <a:solidFill>
                  <a:schemeClr val="bg2"/>
                </a:solidFill>
                <a:ea typeface="宋体" panose="02010600030101010101" pitchFamily="2" charset="-122"/>
              </a:rPr>
              <a:t>亿美元；</a:t>
            </a:r>
            <a:endParaRPr lang="en-US" altLang="zh-CN" sz="2200" smtClean="0">
              <a:solidFill>
                <a:schemeClr val="bg2"/>
              </a:solidFill>
              <a:ea typeface="宋体" panose="02010600030101010101" pitchFamily="2" charset="-122"/>
            </a:endParaRPr>
          </a:p>
          <a:p>
            <a:r>
              <a:rPr lang="zh-CN" altLang="en-US" sz="2200" smtClean="0">
                <a:solidFill>
                  <a:schemeClr val="bg2"/>
                </a:solidFill>
                <a:ea typeface="宋体" panose="02010600030101010101" pitchFamily="2" charset="-122"/>
              </a:rPr>
              <a:t>项目范围不明确，实际工程数量比签约时预计工程数量大幅度增加；</a:t>
            </a:r>
            <a:endParaRPr lang="en-US" altLang="zh-CN" sz="2200" smtClean="0">
              <a:solidFill>
                <a:schemeClr val="bg2"/>
              </a:solidFill>
              <a:ea typeface="宋体" panose="02010600030101010101" pitchFamily="2" charset="-122"/>
            </a:endParaRPr>
          </a:p>
          <a:p>
            <a:r>
              <a:rPr lang="zh-CN" altLang="en-US" sz="2200" smtClean="0">
                <a:solidFill>
                  <a:schemeClr val="bg2"/>
                </a:solidFill>
                <a:ea typeface="宋体" panose="02010600030101010101" pitchFamily="2" charset="-122"/>
              </a:rPr>
              <a:t>设计标准差异：土建采用美国标准，系统采用欧洲标准；例如，空调设计最初是按照室外温度</a:t>
            </a:r>
            <a:r>
              <a:rPr lang="en-US" altLang="zh-CN" sz="2200" smtClean="0">
                <a:solidFill>
                  <a:schemeClr val="bg2"/>
                </a:solidFill>
                <a:ea typeface="宋体" panose="02010600030101010101" pitchFamily="2" charset="-122"/>
              </a:rPr>
              <a:t>38</a:t>
            </a:r>
            <a:r>
              <a:rPr lang="zh-CN" altLang="en-US" sz="2200" smtClean="0">
                <a:solidFill>
                  <a:schemeClr val="bg2"/>
                </a:solidFill>
                <a:ea typeface="宋体" panose="02010600030101010101" pitchFamily="2" charset="-122"/>
              </a:rPr>
              <a:t>度进行设计，最后提高到按照</a:t>
            </a:r>
            <a:r>
              <a:rPr lang="en-US" altLang="zh-CN" sz="2200" smtClean="0">
                <a:solidFill>
                  <a:schemeClr val="bg2"/>
                </a:solidFill>
                <a:ea typeface="宋体" panose="02010600030101010101" pitchFamily="2" charset="-122"/>
              </a:rPr>
              <a:t>46</a:t>
            </a:r>
            <a:r>
              <a:rPr lang="zh-CN" altLang="en-US" sz="2200" smtClean="0">
                <a:solidFill>
                  <a:schemeClr val="bg2"/>
                </a:solidFill>
                <a:ea typeface="宋体" panose="02010600030101010101" pitchFamily="2" charset="-122"/>
              </a:rPr>
              <a:t>度进行设计；</a:t>
            </a:r>
            <a:endParaRPr lang="en-US" altLang="zh-CN" sz="2200" smtClean="0">
              <a:solidFill>
                <a:schemeClr val="bg2"/>
              </a:solidFill>
              <a:ea typeface="宋体" panose="02010600030101010101" pitchFamily="2" charset="-122"/>
            </a:endParaRPr>
          </a:p>
          <a:p>
            <a:r>
              <a:rPr lang="zh-CN" altLang="en-US" sz="2200" smtClean="0">
                <a:solidFill>
                  <a:schemeClr val="bg2"/>
                </a:solidFill>
                <a:ea typeface="宋体" panose="02010600030101010101" pitchFamily="2" charset="-122"/>
              </a:rPr>
              <a:t>施工管理。</a:t>
            </a:r>
            <a:endParaRPr lang="zh-CN" altLang="en-US" sz="2200" smtClean="0">
              <a:solidFill>
                <a:schemeClr val="bg2"/>
              </a:solidFill>
              <a:ea typeface="宋体" panose="02010600030101010101" pitchFamily="2" charset="-122"/>
            </a:endParaRPr>
          </a:p>
        </p:txBody>
      </p:sp>
      <p:pic>
        <p:nvPicPr>
          <p:cNvPr id="107523" name="Picture 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643438" y="1196975"/>
            <a:ext cx="4176712"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4" name="标题 1"/>
          <p:cNvSpPr>
            <a:spLocks noGrp="1" noChangeArrowheads="1"/>
          </p:cNvSpPr>
          <p:nvPr>
            <p:ph type="title"/>
          </p:nvPr>
        </p:nvSpPr>
        <p:spPr>
          <a:xfrm>
            <a:off x="155575" y="261938"/>
            <a:ext cx="7962900" cy="709612"/>
          </a:xfrm>
        </p:spPr>
        <p:txBody>
          <a:bodyPr/>
          <a:lstStyle/>
          <a:p>
            <a:r>
              <a:rPr lang="zh-CN" altLang="en-US" smtClean="0">
                <a:ea typeface="宋体" panose="02010600030101010101" pitchFamily="2" charset="-122"/>
              </a:rPr>
              <a:t>沙特麦加萨法至穆戈达莎轻轨实施结果</a:t>
            </a:r>
            <a:endParaRPr lang="zh-CN" altLang="en-US" smtClean="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8546" name="内容占位符 3"/>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79388" y="1412875"/>
            <a:ext cx="6400800" cy="4319588"/>
          </a:xfrm>
        </p:spPr>
      </p:pic>
      <p:sp>
        <p:nvSpPr>
          <p:cNvPr id="108547" name="标题 2"/>
          <p:cNvSpPr>
            <a:spLocks noGrp="1" noChangeArrowheads="1"/>
          </p:cNvSpPr>
          <p:nvPr>
            <p:ph type="title"/>
          </p:nvPr>
        </p:nvSpPr>
        <p:spPr>
          <a:xfrm>
            <a:off x="87313" y="260350"/>
            <a:ext cx="8820150" cy="863600"/>
          </a:xfrm>
        </p:spPr>
        <p:txBody>
          <a:bodyPr/>
          <a:lstStyle/>
          <a:p>
            <a:r>
              <a:rPr lang="en-US" altLang="zh-CN" smtClean="0">
                <a:ea typeface="宋体" panose="02010600030101010101" pitchFamily="2" charset="-122"/>
              </a:rPr>
              <a:t>COVER </a:t>
            </a:r>
            <a:r>
              <a:rPr lang="zh-CN" altLang="en-US" smtClean="0">
                <a:ea typeface="宋体" panose="02010600030101010101" pitchFamily="2" charset="-122"/>
              </a:rPr>
              <a:t>波兰</a:t>
            </a:r>
            <a:r>
              <a:rPr lang="en-US" altLang="zh-CN" smtClean="0">
                <a:ea typeface="宋体" panose="02010600030101010101" pitchFamily="2" charset="-122"/>
              </a:rPr>
              <a:t>A2</a:t>
            </a:r>
            <a:r>
              <a:rPr lang="zh-CN" altLang="en-US" smtClean="0">
                <a:ea typeface="宋体" panose="02010600030101010101" pitchFamily="2" charset="-122"/>
              </a:rPr>
              <a:t>公路项目</a:t>
            </a:r>
            <a:endParaRPr lang="zh-CN" altLang="en-US" smtClean="0">
              <a:ea typeface="宋体" panose="02010600030101010101" pitchFamily="2" charset="-122"/>
            </a:endParaRPr>
          </a:p>
        </p:txBody>
      </p:sp>
      <p:sp>
        <p:nvSpPr>
          <p:cNvPr id="108548" name="矩形 4"/>
          <p:cNvSpPr>
            <a:spLocks noChangeArrowheads="1"/>
          </p:cNvSpPr>
          <p:nvPr/>
        </p:nvSpPr>
        <p:spPr bwMode="auto">
          <a:xfrm>
            <a:off x="6553200" y="1628775"/>
            <a:ext cx="2555875" cy="388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65125" indent="-255905">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ts val="400"/>
              </a:spcBef>
              <a:buClr>
                <a:srgbClr val="2DA2BF"/>
              </a:buClr>
              <a:buSzPct val="68000"/>
              <a:buFont typeface="Wingdings 3" panose="05040102010807070707" pitchFamily="18" charset="2"/>
              <a:buChar char=""/>
            </a:pPr>
            <a:r>
              <a:rPr lang="en-US" altLang="zh-CN" sz="2400">
                <a:latin typeface="仿宋" panose="02010609060101010101" pitchFamily="49" charset="-122"/>
                <a:ea typeface="仿宋" panose="02010609060101010101" pitchFamily="49" charset="-122"/>
              </a:rPr>
              <a:t>A</a:t>
            </a:r>
            <a:r>
              <a:rPr lang="zh-CN" altLang="en-US" sz="2400">
                <a:latin typeface="仿宋" panose="02010609060101010101" pitchFamily="49" charset="-122"/>
                <a:ea typeface="仿宋" panose="02010609060101010101" pitchFamily="49" charset="-122"/>
              </a:rPr>
              <a:t>、</a:t>
            </a:r>
            <a:r>
              <a:rPr lang="en-US" altLang="zh-CN" sz="2400">
                <a:latin typeface="仿宋" panose="02010609060101010101" pitchFamily="49" charset="-122"/>
                <a:ea typeface="仿宋" panose="02010609060101010101" pitchFamily="49" charset="-122"/>
              </a:rPr>
              <a:t>C</a:t>
            </a:r>
            <a:r>
              <a:rPr lang="zh-CN" altLang="en-US" sz="2400">
                <a:latin typeface="仿宋" panose="02010609060101010101" pitchFamily="49" charset="-122"/>
                <a:ea typeface="仿宋" panose="02010609060101010101" pitchFamily="49" charset="-122"/>
              </a:rPr>
              <a:t>两标段总共需投入资金</a:t>
            </a:r>
            <a:r>
              <a:rPr lang="en-US" altLang="zh-CN" sz="2400">
                <a:latin typeface="仿宋" panose="02010609060101010101" pitchFamily="49" charset="-122"/>
                <a:ea typeface="仿宋" panose="02010609060101010101" pitchFamily="49" charset="-122"/>
              </a:rPr>
              <a:t>7.86</a:t>
            </a:r>
            <a:r>
              <a:rPr lang="zh-CN" altLang="en-US" sz="2400">
                <a:latin typeface="仿宋" panose="02010609060101010101" pitchFamily="49" charset="-122"/>
                <a:ea typeface="仿宋" panose="02010609060101010101" pitchFamily="49" charset="-122"/>
              </a:rPr>
              <a:t>亿美元。</a:t>
            </a:r>
            <a:endParaRPr lang="en-US" altLang="zh-CN" sz="2400">
              <a:latin typeface="仿宋" panose="02010609060101010101" pitchFamily="49" charset="-122"/>
              <a:ea typeface="仿宋" panose="02010609060101010101" pitchFamily="49" charset="-122"/>
            </a:endParaRPr>
          </a:p>
          <a:p>
            <a:pPr algn="ctr" eaLnBrk="1" hangingPunct="1">
              <a:spcBef>
                <a:spcPts val="400"/>
              </a:spcBef>
              <a:buClr>
                <a:srgbClr val="2DA2BF"/>
              </a:buClr>
              <a:buSzPct val="68000"/>
              <a:buFont typeface="Wingdings 3" panose="05040102010807070707" pitchFamily="18" charset="2"/>
              <a:buChar char=""/>
            </a:pPr>
            <a:r>
              <a:rPr lang="zh-CN" altLang="en-US" sz="2400">
                <a:latin typeface="仿宋" panose="02010609060101010101" pitchFamily="49" charset="-122"/>
                <a:ea typeface="仿宋" panose="02010609060101010101" pitchFamily="49" charset="-122"/>
              </a:rPr>
              <a:t>相比于</a:t>
            </a:r>
            <a:r>
              <a:rPr lang="en-US" altLang="zh-CN" sz="2400">
                <a:latin typeface="仿宋" panose="02010609060101010101" pitchFamily="49" charset="-122"/>
                <a:ea typeface="仿宋" panose="02010609060101010101" pitchFamily="49" charset="-122"/>
              </a:rPr>
              <a:t>4.72</a:t>
            </a:r>
            <a:r>
              <a:rPr lang="zh-CN" altLang="en-US" sz="2400">
                <a:latin typeface="仿宋" panose="02010609060101010101" pitchFamily="49" charset="-122"/>
                <a:ea typeface="仿宋" panose="02010609060101010101" pitchFamily="49" charset="-122"/>
              </a:rPr>
              <a:t>亿美元的合同总价，预计收回合同款</a:t>
            </a:r>
            <a:r>
              <a:rPr lang="en-US" altLang="zh-CN" sz="2400">
                <a:latin typeface="仿宋" panose="02010609060101010101" pitchFamily="49" charset="-122"/>
                <a:ea typeface="仿宋" panose="02010609060101010101" pitchFamily="49" charset="-122"/>
              </a:rPr>
              <a:t>3.91</a:t>
            </a:r>
            <a:r>
              <a:rPr lang="zh-CN" altLang="en-US" sz="2400">
                <a:latin typeface="仿宋" panose="02010609060101010101" pitchFamily="49" charset="-122"/>
                <a:ea typeface="仿宋" panose="02010609060101010101" pitchFamily="49" charset="-122"/>
              </a:rPr>
              <a:t>亿美元。</a:t>
            </a:r>
            <a:endParaRPr lang="en-US" altLang="zh-CN" sz="2400">
              <a:latin typeface="仿宋" panose="02010609060101010101" pitchFamily="49" charset="-122"/>
              <a:ea typeface="仿宋" panose="02010609060101010101" pitchFamily="49" charset="-122"/>
            </a:endParaRPr>
          </a:p>
          <a:p>
            <a:pPr algn="ctr" eaLnBrk="1" hangingPunct="1">
              <a:spcBef>
                <a:spcPts val="400"/>
              </a:spcBef>
              <a:buClr>
                <a:srgbClr val="2DA2BF"/>
              </a:buClr>
              <a:buSzPct val="68000"/>
              <a:buFont typeface="Wingdings 3" panose="05040102010807070707" pitchFamily="18" charset="2"/>
              <a:buChar char=""/>
            </a:pPr>
            <a:r>
              <a:rPr lang="zh-CN" altLang="en-US" sz="2400">
                <a:latin typeface="仿宋" panose="02010609060101010101" pitchFamily="49" charset="-122"/>
                <a:ea typeface="仿宋" panose="02010609060101010101" pitchFamily="49" charset="-122"/>
              </a:rPr>
              <a:t>整个项目将亏损</a:t>
            </a:r>
            <a:r>
              <a:rPr lang="en-US" altLang="zh-CN" sz="2400">
                <a:latin typeface="仿宋" panose="02010609060101010101" pitchFamily="49" charset="-122"/>
                <a:ea typeface="仿宋" panose="02010609060101010101" pitchFamily="49" charset="-122"/>
              </a:rPr>
              <a:t>3.95</a:t>
            </a:r>
            <a:r>
              <a:rPr lang="zh-CN" altLang="en-US" sz="2400">
                <a:latin typeface="仿宋" panose="02010609060101010101" pitchFamily="49" charset="-122"/>
                <a:ea typeface="仿宋" panose="02010609060101010101" pitchFamily="49" charset="-122"/>
              </a:rPr>
              <a:t>亿美元。</a:t>
            </a:r>
            <a:endParaRPr lang="zh-CN" altLang="en-US" sz="2400">
              <a:latin typeface="仿宋" panose="02010609060101010101" pitchFamily="49" charset="-122"/>
              <a:ea typeface="仿宋" panose="02010609060101010101" pitchFamily="49" charset="-122"/>
            </a:endParaRPr>
          </a:p>
        </p:txBody>
      </p:sp>
    </p:spTree>
  </p:cSld>
  <p:clrMapOvr>
    <a:masterClrMapping/>
  </p:clrMapOvr>
  <p:transition/>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p:cNvSpPr>
            <a:spLocks noGrp="1" noChangeArrowheads="1"/>
          </p:cNvSpPr>
          <p:nvPr>
            <p:ph type="title"/>
          </p:nvPr>
        </p:nvSpPr>
        <p:spPr>
          <a:xfrm>
            <a:off x="0" y="12700"/>
            <a:ext cx="8662988" cy="1181100"/>
          </a:xfrm>
        </p:spPr>
        <p:txBody>
          <a:bodyPr/>
          <a:lstStyle/>
          <a:p>
            <a:r>
              <a:rPr lang="en-US" altLang="zh-CN" smtClean="0">
                <a:ea typeface="宋体" panose="02010600030101010101" pitchFamily="2" charset="-122"/>
              </a:rPr>
              <a:t>COVER </a:t>
            </a:r>
            <a:r>
              <a:rPr lang="zh-CN" altLang="en-US" smtClean="0">
                <a:ea typeface="宋体" panose="02010600030101010101" pitchFamily="2" charset="-122"/>
              </a:rPr>
              <a:t>波兰</a:t>
            </a:r>
            <a:r>
              <a:rPr lang="en-US" altLang="zh-CN" smtClean="0">
                <a:ea typeface="宋体" panose="02010600030101010101" pitchFamily="2" charset="-122"/>
              </a:rPr>
              <a:t>A2</a:t>
            </a:r>
            <a:r>
              <a:rPr lang="zh-CN" altLang="en-US" smtClean="0">
                <a:ea typeface="宋体" panose="02010600030101010101" pitchFamily="2" charset="-122"/>
              </a:rPr>
              <a:t>公路项目失败原因</a:t>
            </a:r>
            <a:endParaRPr lang="zh-CN" altLang="en-US" smtClean="0">
              <a:ea typeface="宋体" panose="02010600030101010101" pitchFamily="2" charset="-122"/>
            </a:endParaRPr>
          </a:p>
        </p:txBody>
      </p:sp>
      <p:sp>
        <p:nvSpPr>
          <p:cNvPr id="109571" name="内容占位符 2"/>
          <p:cNvSpPr>
            <a:spLocks noGrp="1" noChangeArrowheads="1"/>
          </p:cNvSpPr>
          <p:nvPr>
            <p:ph idx="1"/>
          </p:nvPr>
        </p:nvSpPr>
        <p:spPr>
          <a:xfrm>
            <a:off x="457200" y="1376363"/>
            <a:ext cx="8435975" cy="4860925"/>
          </a:xfrm>
        </p:spPr>
        <p:txBody>
          <a:bodyPr/>
          <a:lstStyle/>
          <a:p>
            <a:pPr>
              <a:buFont typeface="Wingdings" panose="05000000000000000000" pitchFamily="2" charset="2"/>
              <a:buNone/>
            </a:pPr>
            <a:r>
              <a:rPr lang="en-US" altLang="zh-CN" sz="2400" smtClean="0">
                <a:ea typeface="宋体" panose="02010600030101010101" pitchFamily="2" charset="-122"/>
              </a:rPr>
              <a:t>1</a:t>
            </a:r>
            <a:r>
              <a:rPr lang="zh-CN" altLang="zh-CN" sz="2400" smtClean="0">
                <a:ea typeface="宋体" panose="02010600030101010101" pitchFamily="2" charset="-122"/>
              </a:rPr>
              <a:t>）投标报价</a:t>
            </a:r>
            <a:r>
              <a:rPr lang="zh-CN" altLang="en-US" sz="2400" smtClean="0">
                <a:ea typeface="宋体" panose="02010600030101010101" pitchFamily="2" charset="-122"/>
              </a:rPr>
              <a:t>：</a:t>
            </a:r>
            <a:r>
              <a:rPr lang="zh-CN" altLang="zh-CN" sz="2400" smtClean="0">
                <a:ea typeface="宋体" panose="02010600030101010101" pitchFamily="2" charset="-122"/>
              </a:rPr>
              <a:t>盲目决策，报价时没有吃透技术规范以及业主提供的基础资料，对高端市场</a:t>
            </a:r>
            <a:r>
              <a:rPr lang="zh-CN" altLang="en-US" sz="2400" smtClean="0">
                <a:ea typeface="宋体" panose="02010600030101010101" pitchFamily="2" charset="-122"/>
              </a:rPr>
              <a:t>条件</a:t>
            </a:r>
            <a:r>
              <a:rPr lang="zh-CN" altLang="zh-CN" sz="2400" smtClean="0">
                <a:ea typeface="宋体" panose="02010600030101010101" pitchFamily="2" charset="-122"/>
              </a:rPr>
              <a:t>了解不全面，施工组织设计不够详细。</a:t>
            </a:r>
            <a:endParaRPr lang="zh-CN" altLang="zh-CN" sz="2400" smtClean="0">
              <a:ea typeface="宋体" panose="02010600030101010101" pitchFamily="2" charset="-122"/>
            </a:endParaRPr>
          </a:p>
          <a:p>
            <a:pPr>
              <a:buFont typeface="Wingdings" panose="05000000000000000000" pitchFamily="2" charset="2"/>
              <a:buNone/>
            </a:pPr>
            <a:r>
              <a:rPr lang="en-US" altLang="zh-CN" sz="2400" smtClean="0">
                <a:ea typeface="宋体" panose="02010600030101010101" pitchFamily="2" charset="-122"/>
              </a:rPr>
              <a:t>2</a:t>
            </a:r>
            <a:r>
              <a:rPr lang="zh-CN" altLang="zh-CN" sz="2400" smtClean="0">
                <a:ea typeface="宋体" panose="02010600030101010101" pitchFamily="2" charset="-122"/>
              </a:rPr>
              <a:t>）施工</a:t>
            </a:r>
            <a:r>
              <a:rPr lang="zh-CN" altLang="en-US" sz="2400" smtClean="0">
                <a:ea typeface="宋体" panose="02010600030101010101" pitchFamily="2" charset="-122"/>
              </a:rPr>
              <a:t>：</a:t>
            </a:r>
            <a:r>
              <a:rPr lang="zh-CN" altLang="zh-CN" sz="2400" smtClean="0">
                <a:ea typeface="宋体" panose="02010600030101010101" pitchFamily="2" charset="-122"/>
              </a:rPr>
              <a:t>按照波兰劳工法，海外劳工必须按当地工资水平</a:t>
            </a:r>
            <a:r>
              <a:rPr lang="zh-CN" altLang="en-US" sz="2400" smtClean="0">
                <a:ea typeface="宋体" panose="02010600030101010101" pitchFamily="2" charset="-122"/>
              </a:rPr>
              <a:t>，</a:t>
            </a:r>
            <a:r>
              <a:rPr lang="zh-CN" altLang="zh-CN" sz="2400" smtClean="0">
                <a:ea typeface="宋体" panose="02010600030101010101" pitchFamily="2" charset="-122"/>
              </a:rPr>
              <a:t>雇佣</a:t>
            </a:r>
            <a:r>
              <a:rPr lang="zh-CN" altLang="en-US" sz="2400" smtClean="0">
                <a:ea typeface="宋体" panose="02010600030101010101" pitchFamily="2" charset="-122"/>
              </a:rPr>
              <a:t>劳动力成本高</a:t>
            </a:r>
            <a:r>
              <a:rPr lang="zh-CN" altLang="zh-CN" sz="2400" smtClean="0">
                <a:ea typeface="宋体" panose="02010600030101010101" pitchFamily="2" charset="-122"/>
              </a:rPr>
              <a:t>。当中海外以原材料、人工、汇率等成本骤升，</a:t>
            </a:r>
            <a:r>
              <a:rPr lang="zh-CN" altLang="en-US" sz="2400" smtClean="0">
                <a:ea typeface="宋体" panose="02010600030101010101" pitchFamily="2" charset="-122"/>
              </a:rPr>
              <a:t>及</a:t>
            </a:r>
            <a:r>
              <a:rPr lang="zh-CN" altLang="zh-CN" sz="2400" smtClean="0">
                <a:ea typeface="宋体" panose="02010600030101010101" pitchFamily="2" charset="-122"/>
              </a:rPr>
              <a:t>施工过程中发生多项重大工程变更等为理由提出索赔时，但由于该项目是</a:t>
            </a:r>
            <a:r>
              <a:rPr lang="en-US" altLang="zh-CN" sz="2400" smtClean="0">
                <a:ea typeface="宋体" panose="02010600030101010101" pitchFamily="2" charset="-122"/>
              </a:rPr>
              <a:t>EPC</a:t>
            </a:r>
            <a:r>
              <a:rPr lang="zh-CN" altLang="zh-CN" sz="2400" smtClean="0">
                <a:ea typeface="宋体" panose="02010600030101010101" pitchFamily="2" charset="-122"/>
              </a:rPr>
              <a:t>合同，</a:t>
            </a:r>
            <a:r>
              <a:rPr lang="zh-CN" altLang="en-US" sz="2400" smtClean="0">
                <a:ea typeface="宋体" panose="02010600030101010101" pitchFamily="2" charset="-122"/>
              </a:rPr>
              <a:t>索赔难以实现</a:t>
            </a:r>
            <a:r>
              <a:rPr lang="zh-CN" altLang="zh-CN" sz="2400" smtClean="0">
                <a:ea typeface="宋体" panose="02010600030101010101" pitchFamily="2" charset="-122"/>
              </a:rPr>
              <a:t>。</a:t>
            </a:r>
            <a:endParaRPr lang="zh-CN" altLang="zh-CN" sz="2400" smtClean="0">
              <a:ea typeface="宋体" panose="02010600030101010101" pitchFamily="2" charset="-122"/>
            </a:endParaRPr>
          </a:p>
          <a:p>
            <a:pPr>
              <a:buFont typeface="Wingdings" panose="05000000000000000000" pitchFamily="2" charset="2"/>
              <a:buNone/>
            </a:pPr>
            <a:r>
              <a:rPr lang="en-US" altLang="zh-CN" sz="2400" smtClean="0">
                <a:ea typeface="宋体" panose="02010600030101010101" pitchFamily="2" charset="-122"/>
              </a:rPr>
              <a:t>3</a:t>
            </a:r>
            <a:r>
              <a:rPr lang="zh-CN" altLang="zh-CN" sz="2400" smtClean="0">
                <a:ea typeface="宋体" panose="02010600030101010101" pitchFamily="2" charset="-122"/>
              </a:rPr>
              <a:t>）风险管理</a:t>
            </a:r>
            <a:r>
              <a:rPr lang="zh-CN" altLang="en-US" sz="2400" smtClean="0">
                <a:ea typeface="宋体" panose="02010600030101010101" pitchFamily="2" charset="-122"/>
              </a:rPr>
              <a:t>：</a:t>
            </a:r>
            <a:r>
              <a:rPr lang="zh-CN" altLang="zh-CN" sz="2400" smtClean="0">
                <a:ea typeface="宋体" panose="02010600030101010101" pitchFamily="2" charset="-122"/>
              </a:rPr>
              <a:t>报价没有合理考虑各种风险和不确定因素</a:t>
            </a:r>
            <a:r>
              <a:rPr lang="zh-CN" altLang="en-US" sz="2400" smtClean="0">
                <a:ea typeface="宋体" panose="02010600030101010101" pitchFamily="2" charset="-122"/>
              </a:rPr>
              <a:t>；</a:t>
            </a:r>
            <a:r>
              <a:rPr lang="zh-CN" altLang="zh-CN" sz="2400" smtClean="0">
                <a:ea typeface="宋体" panose="02010600030101010101" pitchFamily="2" charset="-122"/>
              </a:rPr>
              <a:t>不了解波兰当地建筑行业操作流程，没有及时地与分包商签订分包合同、绑定利益，无从规避价格上涨带来的风险。</a:t>
            </a:r>
            <a:endParaRPr lang="zh-CN" altLang="zh-CN" sz="2400" smtClean="0">
              <a:ea typeface="宋体" panose="02010600030101010101" pitchFamily="2" charset="-122"/>
            </a:endParaRPr>
          </a:p>
          <a:p>
            <a:pPr>
              <a:buFont typeface="Wingdings" panose="05000000000000000000" pitchFamily="2" charset="2"/>
              <a:buNone/>
            </a:pPr>
            <a:r>
              <a:rPr lang="en-US" altLang="zh-CN" sz="2400" smtClean="0">
                <a:ea typeface="宋体" panose="02010600030101010101" pitchFamily="2" charset="-122"/>
              </a:rPr>
              <a:t>4</a:t>
            </a:r>
            <a:r>
              <a:rPr lang="zh-CN" altLang="zh-CN" sz="2400" smtClean="0">
                <a:ea typeface="宋体" panose="02010600030101010101" pitchFamily="2" charset="-122"/>
              </a:rPr>
              <a:t>）高端市场</a:t>
            </a:r>
            <a:r>
              <a:rPr lang="en-US" altLang="zh-CN" sz="2400" smtClean="0">
                <a:ea typeface="宋体" panose="02010600030101010101" pitchFamily="2" charset="-122"/>
              </a:rPr>
              <a:t>HSE</a:t>
            </a:r>
            <a:r>
              <a:rPr lang="zh-CN" altLang="zh-CN" sz="2400" smtClean="0">
                <a:ea typeface="宋体" panose="02010600030101010101" pitchFamily="2" charset="-122"/>
              </a:rPr>
              <a:t>管理</a:t>
            </a:r>
            <a:r>
              <a:rPr lang="zh-CN" altLang="en-US" sz="2400" smtClean="0">
                <a:ea typeface="宋体" panose="02010600030101010101" pitchFamily="2" charset="-122"/>
              </a:rPr>
              <a:t>：</a:t>
            </a:r>
            <a:r>
              <a:rPr lang="zh-CN" altLang="zh-CN" sz="2400" smtClean="0">
                <a:ea typeface="宋体" panose="02010600030101010101" pitchFamily="2" charset="-122"/>
              </a:rPr>
              <a:t>波兰很多基础设施项目建设资金都有欧盟机构的补贴，如果违反欧盟环境保护法律，波兰就可能拿不到补贴，所以波兰对环保问题非常重视。</a:t>
            </a:r>
            <a:endParaRPr lang="zh-CN" altLang="en-US" sz="2400" smtClean="0">
              <a:ea typeface="宋体" panose="02010600030101010101" pitchFamily="2" charset="-122"/>
            </a:endParaRPr>
          </a:p>
        </p:txBody>
      </p:sp>
      <p:sp>
        <p:nvSpPr>
          <p:cNvPr id="109572" name="灯片编号占位符 3"/>
          <p:cNvSpPr>
            <a:spLocks noGrp="1"/>
          </p:cNvSpPr>
          <p:nvPr>
            <p:ph type="sldNum" sz="quarter" idx="4294967295"/>
          </p:nvPr>
        </p:nvSpPr>
        <p:spPr bwMode="auto">
          <a:xfrm>
            <a:off x="8101013" y="6453188"/>
            <a:ext cx="561975" cy="32067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eaLnBrk="1" hangingPunct="1">
              <a:spcBef>
                <a:spcPct val="0"/>
              </a:spcBef>
              <a:buFontTx/>
              <a:buNone/>
            </a:pPr>
            <a:fld id="{FCD6731C-0354-4360-9530-633A0FB05641}" type="slidenum">
              <a:rPr lang="en-US" altLang="zh-CN" sz="1400" b="0">
                <a:solidFill>
                  <a:schemeClr val="tx1"/>
                </a:solidFill>
                <a:latin typeface="Verdana" panose="020B0604030504040204" pitchFamily="34" charset="0"/>
                <a:ea typeface="宋体" panose="02010600030101010101" pitchFamily="2" charset="-122"/>
              </a:rPr>
            </a:fld>
            <a:endParaRPr lang="en-US" altLang="zh-CN" sz="1400" b="0">
              <a:solidFill>
                <a:schemeClr val="tx1"/>
              </a:solidFill>
              <a:latin typeface="Verdana" panose="020B0604030504040204" pitchFamily="3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灯片编号占位符 1"/>
          <p:cNvSpPr>
            <a:spLocks noGrp="1"/>
          </p:cNvSpPr>
          <p:nvPr>
            <p:ph type="sldNum" sz="quarter" idx="4294967295"/>
          </p:nvPr>
        </p:nvSpPr>
        <p:spPr bwMode="auto">
          <a:xfrm>
            <a:off x="6553200" y="6019800"/>
            <a:ext cx="2289175" cy="4762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1" hangingPunct="1">
              <a:spcBef>
                <a:spcPct val="0"/>
              </a:spcBef>
              <a:buFontTx/>
              <a:buNone/>
            </a:pPr>
            <a:fld id="{CF02F6A4-C790-446C-88A7-0B6F9148317B}" type="slidenum">
              <a:rPr lang="zh-CN" altLang="en-US" sz="1400" b="0">
                <a:solidFill>
                  <a:schemeClr val="tx1"/>
                </a:solidFill>
                <a:ea typeface="宋体" panose="02010600030101010101" pitchFamily="2" charset="-122"/>
              </a:rPr>
            </a:fld>
            <a:endParaRPr lang="en-US" altLang="zh-CN" sz="1400" b="0">
              <a:solidFill>
                <a:schemeClr val="tx1"/>
              </a:solidFill>
              <a:ea typeface="宋体" panose="02010600030101010101" pitchFamily="2" charset="-122"/>
            </a:endParaRPr>
          </a:p>
        </p:txBody>
      </p:sp>
      <p:sp>
        <p:nvSpPr>
          <p:cNvPr id="6" name="标题 1"/>
          <p:cNvSpPr txBox="1"/>
          <p:nvPr/>
        </p:nvSpPr>
        <p:spPr>
          <a:xfrm>
            <a:off x="1066800" y="333375"/>
            <a:ext cx="6858000" cy="830263"/>
          </a:xfrm>
          <a:prstGeom prst="rect">
            <a:avLst/>
          </a:prstGeom>
        </p:spPr>
        <p:txBody>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a:lstStyle>
          <a:p>
            <a:pPr>
              <a:defRPr/>
            </a:pPr>
            <a:r>
              <a:rPr lang="en-US" altLang="zh-CN" b="1" kern="0" dirty="0">
                <a:solidFill>
                  <a:schemeClr val="bg2">
                    <a:lumMod val="50000"/>
                  </a:schemeClr>
                </a:solidFill>
              </a:rPr>
              <a:t>2015 Tianjin Explosions</a:t>
            </a:r>
            <a:endParaRPr lang="zh-CN" altLang="en-US" kern="0" dirty="0">
              <a:solidFill>
                <a:schemeClr val="bg2">
                  <a:lumMod val="50000"/>
                </a:schemeClr>
              </a:solidFill>
            </a:endParaRPr>
          </a:p>
        </p:txBody>
      </p:sp>
      <p:pic>
        <p:nvPicPr>
          <p:cNvPr id="110596" name="图片 6"/>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95288" y="3978275"/>
            <a:ext cx="3455987"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597" name="图片 9"/>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447800"/>
            <a:ext cx="3455987" cy="249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598" name="图片 10"/>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83100" y="3978275"/>
            <a:ext cx="4213225" cy="2335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7" name="文本框 6"/>
          <p:cNvSpPr txBox="1">
            <a:spLocks noChangeArrowheads="1"/>
          </p:cNvSpPr>
          <p:nvPr/>
        </p:nvSpPr>
        <p:spPr bwMode="auto">
          <a:xfrm>
            <a:off x="4346575" y="1301750"/>
            <a:ext cx="4356100" cy="2676525"/>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defRPr/>
            </a:pPr>
            <a:r>
              <a:rPr lang="en-US" altLang="zh-CN" dirty="0">
                <a:solidFill>
                  <a:schemeClr val="bg2">
                    <a:lumMod val="50000"/>
                  </a:schemeClr>
                </a:solidFill>
              </a:rPr>
              <a:t>A series of explosions that killed over one hundred people and injured hundreds of others occurred at a container storage station at the Port of Tianjin on Wednesday, 12 August 2015. </a:t>
            </a:r>
            <a:endParaRPr lang="zh-CN" altLang="en-US" dirty="0">
              <a:solidFill>
                <a:schemeClr val="bg2">
                  <a:lumMod val="50000"/>
                </a:schemeClr>
              </a:solidFill>
            </a:endParaRPr>
          </a:p>
        </p:txBody>
      </p:sp>
    </p:spTree>
  </p:cSld>
  <p:clrMapOvr>
    <a:masterClrMapping/>
  </p:clrMapOvr>
  <p:transition/>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灯片编号占位符 1"/>
          <p:cNvSpPr txBox="1"/>
          <p:nvPr/>
        </p:nvSpPr>
        <p:spPr bwMode="auto">
          <a:xfrm>
            <a:off x="6465888" y="6019800"/>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fld id="{37ADD9E5-B12E-49F5-AB74-168F0F317FC2}" type="slidenum">
              <a:rPr lang="zh-CN" altLang="en-US" sz="2400" b="0">
                <a:solidFill>
                  <a:schemeClr val="tx1"/>
                </a:solidFill>
              </a:rPr>
            </a:fld>
            <a:endParaRPr lang="en-US" altLang="zh-CN" sz="2400" b="0">
              <a:solidFill>
                <a:schemeClr val="tx1"/>
              </a:solidFill>
            </a:endParaRPr>
          </a:p>
        </p:txBody>
      </p:sp>
      <p:sp>
        <p:nvSpPr>
          <p:cNvPr id="3" name="Rectangle 8"/>
          <p:cNvSpPr>
            <a:spLocks noRot="1" noChangeArrowheads="1"/>
          </p:cNvSpPr>
          <p:nvPr/>
        </p:nvSpPr>
        <p:spPr bwMode="auto">
          <a:xfrm>
            <a:off x="2181225" y="188913"/>
            <a:ext cx="4175125" cy="998537"/>
          </a:xfrm>
          <a:prstGeom prst="rect">
            <a:avLst/>
          </a:prstGeom>
          <a:noFill/>
          <a:ln w="9525">
            <a:noFill/>
            <a:miter lim="800000"/>
          </a:ln>
        </p:spPr>
        <p:txBody>
          <a:bodyPr anchor="ctr"/>
          <a:lstStyle/>
          <a:p>
            <a:pPr marL="631825" indent="-457200">
              <a:spcBef>
                <a:spcPct val="20000"/>
              </a:spcBef>
              <a:buClr>
                <a:schemeClr val="hlink"/>
              </a:buClr>
              <a:buSzPct val="70000"/>
              <a:defRPr/>
            </a:pPr>
            <a:r>
              <a:rPr lang="en-US" altLang="zh-CN" sz="4800" kern="0" dirty="0">
                <a:solidFill>
                  <a:srgbClr val="FF0000"/>
                </a:solidFill>
                <a:latin typeface="Arial" panose="020B0604020202020204" pitchFamily="34" charset="0"/>
                <a:ea typeface="楷体_GB2312"/>
                <a:cs typeface="楷体_GB2312"/>
              </a:rPr>
              <a:t>9.11</a:t>
            </a:r>
            <a:endParaRPr lang="en-US" altLang="zh-CN" sz="5400" kern="0" dirty="0">
              <a:solidFill>
                <a:srgbClr val="FF0000"/>
              </a:solidFill>
              <a:latin typeface="Arial" panose="020B0604020202020204" pitchFamily="34" charset="0"/>
              <a:ea typeface="楷体_GB2312"/>
              <a:cs typeface="楷体_GB2312"/>
            </a:endParaRPr>
          </a:p>
        </p:txBody>
      </p:sp>
      <p:pic>
        <p:nvPicPr>
          <p:cNvPr id="4" name="图片 5" descr="被撞击的世贸中心"/>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86375" y="1395413"/>
            <a:ext cx="3643313"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6" descr="被撞击的五角大楼"/>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 y="1778000"/>
            <a:ext cx="5000625" cy="3643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灯片编号占位符 1"/>
          <p:cNvSpPr txBox="1"/>
          <p:nvPr/>
        </p:nvSpPr>
        <p:spPr bwMode="auto">
          <a:xfrm>
            <a:off x="6553200" y="6019800"/>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fld id="{A67BB94F-D346-4582-A3A0-7512D10B1381}" type="slidenum">
              <a:rPr lang="zh-CN" altLang="en-US" sz="2400" b="0">
                <a:solidFill>
                  <a:schemeClr val="tx1"/>
                </a:solidFill>
              </a:rPr>
            </a:fld>
            <a:endParaRPr lang="en-US" altLang="zh-CN" sz="2400" b="0">
              <a:solidFill>
                <a:schemeClr val="tx1"/>
              </a:solidFill>
            </a:endParaRPr>
          </a:p>
        </p:txBody>
      </p:sp>
      <p:pic>
        <p:nvPicPr>
          <p:cNvPr id="3" name="图片 2" descr="重建后世贸中心，尚需5年"/>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0" y="1519238"/>
            <a:ext cx="3243263" cy="473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8"/>
          <p:cNvSpPr>
            <a:spLocks noRot="1" noChangeArrowheads="1"/>
          </p:cNvSpPr>
          <p:nvPr/>
        </p:nvSpPr>
        <p:spPr bwMode="auto">
          <a:xfrm>
            <a:off x="0" y="2000250"/>
            <a:ext cx="4071938" cy="998538"/>
          </a:xfrm>
          <a:prstGeom prst="rect">
            <a:avLst/>
          </a:prstGeom>
          <a:noFill/>
          <a:ln w="9525">
            <a:noFill/>
            <a:miter lim="800000"/>
          </a:ln>
        </p:spPr>
        <p:txBody>
          <a:bodyPr anchor="ctr"/>
          <a:lstStyle/>
          <a:p>
            <a:pPr marL="631825" indent="-457200">
              <a:spcBef>
                <a:spcPct val="20000"/>
              </a:spcBef>
              <a:buClr>
                <a:schemeClr val="hlink"/>
              </a:buClr>
              <a:buSzPct val="70000"/>
              <a:defRPr/>
            </a:pPr>
            <a:endParaRPr lang="en-US" altLang="zh-CN" sz="2800" kern="0" dirty="0">
              <a:latin typeface="Arial" panose="020B0604020202020204" pitchFamily="34" charset="0"/>
              <a:ea typeface="楷体_GB2312"/>
              <a:cs typeface="楷体_GB2312"/>
            </a:endParaRPr>
          </a:p>
          <a:p>
            <a:pPr marL="631825" indent="-457200">
              <a:spcBef>
                <a:spcPct val="20000"/>
              </a:spcBef>
              <a:buClr>
                <a:schemeClr val="hlink"/>
              </a:buClr>
              <a:buSzPct val="70000"/>
              <a:defRPr/>
            </a:pPr>
            <a:r>
              <a:rPr lang="en-US" altLang="zh-CN" sz="3600" kern="0" dirty="0">
                <a:solidFill>
                  <a:srgbClr val="0000FF"/>
                </a:solidFill>
                <a:latin typeface="Arial" panose="020B0604020202020204" pitchFamily="34" charset="0"/>
                <a:ea typeface="楷体_GB2312"/>
                <a:cs typeface="楷体_GB2312"/>
              </a:rPr>
              <a:t>Reconstruction:</a:t>
            </a:r>
            <a:endParaRPr lang="en-US" altLang="zh-CN" sz="3600" kern="0" dirty="0">
              <a:solidFill>
                <a:srgbClr val="0000FF"/>
              </a:solidFill>
              <a:latin typeface="Arial" panose="020B0604020202020204" pitchFamily="34" charset="0"/>
              <a:ea typeface="楷体_GB2312"/>
              <a:cs typeface="楷体_GB2312"/>
            </a:endParaRPr>
          </a:p>
          <a:p>
            <a:pPr marL="631825" indent="-457200">
              <a:spcBef>
                <a:spcPct val="20000"/>
              </a:spcBef>
              <a:buClr>
                <a:schemeClr val="hlink"/>
              </a:buClr>
              <a:buSzPct val="70000"/>
              <a:defRPr/>
            </a:pPr>
            <a:r>
              <a:rPr lang="en-US" altLang="zh-CN" sz="3600" kern="0" dirty="0">
                <a:solidFill>
                  <a:srgbClr val="0000FF"/>
                </a:solidFill>
                <a:latin typeface="Arial" panose="020B0604020202020204" pitchFamily="34" charset="0"/>
                <a:ea typeface="楷体_GB2312"/>
                <a:cs typeface="楷体_GB2312"/>
              </a:rPr>
              <a:t>to manage a new </a:t>
            </a:r>
            <a:r>
              <a:rPr lang="en-US" altLang="zh-CN" sz="3600" kern="0" dirty="0">
                <a:latin typeface="Arial" panose="020B0604020202020204" pitchFamily="34" charset="0"/>
                <a:ea typeface="楷体_GB2312"/>
                <a:cs typeface="楷体_GB2312"/>
              </a:rPr>
              <a:t>project</a:t>
            </a:r>
            <a:endParaRPr lang="en-US" altLang="zh-CN" sz="3600" kern="0" dirty="0">
              <a:latin typeface="Arial" panose="020B0604020202020204" pitchFamily="34" charset="0"/>
              <a:ea typeface="楷体_GB2312"/>
              <a:cs typeface="楷体_GB231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灯片编号占位符 1"/>
          <p:cNvSpPr txBox="1"/>
          <p:nvPr/>
        </p:nvSpPr>
        <p:spPr bwMode="auto">
          <a:xfrm>
            <a:off x="6553200" y="6019800"/>
            <a:ext cx="2289175"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fld id="{0BB681FE-490E-4D8A-ADA8-723CB1DF19E4}" type="slidenum">
              <a:rPr lang="zh-CN" altLang="en-US" sz="2400" b="0">
                <a:solidFill>
                  <a:schemeClr val="tx1"/>
                </a:solidFill>
              </a:rPr>
            </a:fld>
            <a:endParaRPr lang="en-US" altLang="zh-CN" sz="2400" b="0">
              <a:solidFill>
                <a:schemeClr val="tx1"/>
              </a:solidFill>
            </a:endParaRPr>
          </a:p>
        </p:txBody>
      </p:sp>
      <p:sp>
        <p:nvSpPr>
          <p:cNvPr id="3" name="Rectangle 9"/>
          <p:cNvSpPr txBox="1">
            <a:spLocks noRot="1" noChangeArrowheads="1"/>
          </p:cNvSpPr>
          <p:nvPr/>
        </p:nvSpPr>
        <p:spPr>
          <a:xfrm>
            <a:off x="142875" y="5072063"/>
            <a:ext cx="8785225" cy="944562"/>
          </a:xfrm>
          <a:prstGeom prst="rect">
            <a:avLst/>
          </a:prstGeom>
          <a:noFill/>
        </p:spPr>
        <p:txBody>
          <a:bodyPr/>
          <a:lstStyle/>
          <a:p>
            <a:pPr marL="631825" indent="-457200">
              <a:spcBef>
                <a:spcPct val="20000"/>
              </a:spcBef>
              <a:buClr>
                <a:schemeClr val="hlink"/>
              </a:buClr>
              <a:buSzPct val="70000"/>
              <a:defRPr/>
            </a:pPr>
            <a:r>
              <a:rPr lang="en-US" altLang="zh-CN" sz="3200" kern="0" dirty="0">
                <a:solidFill>
                  <a:srgbClr val="0000FF"/>
                </a:solidFill>
                <a:latin typeface="+mn-lt"/>
                <a:ea typeface="+mn-ea"/>
                <a:cs typeface="楷体_GB2312"/>
              </a:rPr>
              <a:t>2011 Japan earthquake</a:t>
            </a:r>
            <a:endParaRPr lang="en-US" altLang="zh-CN" sz="3200" kern="0" dirty="0">
              <a:solidFill>
                <a:srgbClr val="0000FF"/>
              </a:solidFill>
              <a:latin typeface="+mn-lt"/>
              <a:ea typeface="+mn-ea"/>
              <a:cs typeface="楷体_GB2312"/>
            </a:endParaRPr>
          </a:p>
        </p:txBody>
      </p:sp>
      <p:pic>
        <p:nvPicPr>
          <p:cNvPr id="114692" name="图片 1" descr="c80aa97281d30ee7efd00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6959600" cy="426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693" name="图片 2" descr="untitl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14875" y="4065588"/>
            <a:ext cx="4429125" cy="2792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5714" name="画布 26"/>
          <p:cNvGrpSpPr/>
          <p:nvPr/>
        </p:nvGrpSpPr>
        <p:grpSpPr bwMode="auto">
          <a:xfrm>
            <a:off x="1174750" y="1504950"/>
            <a:ext cx="6415088" cy="4843463"/>
            <a:chOff x="0" y="0"/>
            <a:chExt cx="52578" cy="46558"/>
          </a:xfrm>
        </p:grpSpPr>
        <p:sp>
          <p:nvSpPr>
            <p:cNvPr id="115716" name="AutoShape 30"/>
            <p:cNvSpPr>
              <a:spLocks noChangeAspect="1" noChangeArrowheads="1"/>
            </p:cNvSpPr>
            <p:nvPr/>
          </p:nvSpPr>
          <p:spPr bwMode="auto">
            <a:xfrm>
              <a:off x="0" y="0"/>
              <a:ext cx="52578" cy="465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1" hangingPunct="1">
                <a:spcBef>
                  <a:spcPct val="0"/>
                </a:spcBef>
                <a:buFontTx/>
                <a:buNone/>
              </a:pPr>
              <a:endParaRPr lang="zh-CN" altLang="en-US" sz="1200">
                <a:solidFill>
                  <a:schemeClr val="tx1"/>
                </a:solidFill>
                <a:ea typeface="宋体" panose="02010600030101010101" pitchFamily="2" charset="-122"/>
              </a:endParaRPr>
            </a:p>
          </p:txBody>
        </p:sp>
        <p:sp>
          <p:nvSpPr>
            <p:cNvPr id="115717" name="Oval 15"/>
            <p:cNvSpPr>
              <a:spLocks noChangeArrowheads="1"/>
            </p:cNvSpPr>
            <p:nvPr/>
          </p:nvSpPr>
          <p:spPr bwMode="auto">
            <a:xfrm rot="-1905832">
              <a:off x="25347" y="30457"/>
              <a:ext cx="26232" cy="12324"/>
            </a:xfrm>
            <a:prstGeom prst="ellipse">
              <a:avLst/>
            </a:prstGeom>
            <a:solidFill>
              <a:srgbClr val="993300"/>
            </a:solidFill>
            <a:ln w="28575">
              <a:solidFill>
                <a:srgbClr val="993366"/>
              </a:solidFill>
              <a:round/>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endParaRPr lang="zh-CN" altLang="zh-CN" sz="1200">
                <a:solidFill>
                  <a:schemeClr val="tx1"/>
                </a:solidFill>
                <a:ea typeface="宋体" panose="02010600030101010101" pitchFamily="2" charset="-122"/>
              </a:endParaRPr>
            </a:p>
          </p:txBody>
        </p:sp>
        <p:sp>
          <p:nvSpPr>
            <p:cNvPr id="115718" name="Text Box 4"/>
            <p:cNvSpPr txBox="1">
              <a:spLocks noChangeArrowheads="1"/>
            </p:cNvSpPr>
            <p:nvPr/>
          </p:nvSpPr>
          <p:spPr bwMode="auto">
            <a:xfrm>
              <a:off x="39052" y="17322"/>
              <a:ext cx="7419" cy="4953"/>
            </a:xfrm>
            <a:prstGeom prst="rect">
              <a:avLst/>
            </a:prstGeom>
            <a:solidFill>
              <a:srgbClr val="FFFFFF"/>
            </a:solidFill>
            <a:ln w="9525">
              <a:solidFill>
                <a:srgbClr val="FFFFFF"/>
              </a:solidFill>
              <a:miter lim="800000"/>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en-US" altLang="zh-CN" sz="1200">
                  <a:solidFill>
                    <a:srgbClr val="008000"/>
                  </a:solidFill>
                  <a:latin typeface="Times New Roman" panose="02020603050405020304" charset="0"/>
                  <a:ea typeface="宋体" panose="02010600030101010101" pitchFamily="2" charset="-122"/>
                  <a:cs typeface="Times New Roman" panose="02020603050405020304" charset="0"/>
                </a:rPr>
                <a:t>Functional</a:t>
              </a:r>
              <a:endParaRPr lang="en-AU" altLang="zh-CN" sz="1200">
                <a:solidFill>
                  <a:schemeClr val="tx1"/>
                </a:solidFill>
                <a:ea typeface="宋体" panose="02010600030101010101" pitchFamily="2" charset="-122"/>
                <a:cs typeface="Times New Roman" panose="02020603050405020304" charset="0"/>
              </a:endParaRPr>
            </a:p>
            <a:p>
              <a:pPr algn="ctr">
                <a:spcBef>
                  <a:spcPct val="0"/>
                </a:spcBef>
                <a:buFontTx/>
                <a:buNone/>
              </a:pPr>
              <a:r>
                <a:rPr lang="en-US" altLang="zh-CN" sz="1200">
                  <a:solidFill>
                    <a:srgbClr val="008000"/>
                  </a:solidFill>
                  <a:latin typeface="Times New Roman" panose="02020603050405020304" charset="0"/>
                  <a:ea typeface="宋体" panose="02010600030101010101" pitchFamily="2" charset="-122"/>
                  <a:cs typeface="Times New Roman" panose="02020603050405020304" charset="0"/>
                </a:rPr>
                <a:t>support</a:t>
              </a:r>
              <a:endParaRPr lang="en-US" altLang="zh-CN" sz="1200">
                <a:solidFill>
                  <a:schemeClr val="tx1"/>
                </a:solidFill>
                <a:ea typeface="宋体" panose="02010600030101010101" pitchFamily="2" charset="-122"/>
                <a:cs typeface="Times New Roman" panose="02020603050405020304" charset="0"/>
              </a:endParaRPr>
            </a:p>
          </p:txBody>
        </p:sp>
        <p:sp>
          <p:nvSpPr>
            <p:cNvPr id="115719" name="Text Box 5"/>
            <p:cNvSpPr txBox="1">
              <a:spLocks noChangeArrowheads="1"/>
            </p:cNvSpPr>
            <p:nvPr/>
          </p:nvSpPr>
          <p:spPr bwMode="auto">
            <a:xfrm>
              <a:off x="13906" y="35661"/>
              <a:ext cx="10442" cy="4953"/>
            </a:xfrm>
            <a:prstGeom prst="rect">
              <a:avLst/>
            </a:prstGeom>
            <a:solidFill>
              <a:srgbClr val="FFFFFF"/>
            </a:solidFill>
            <a:ln w="9525">
              <a:solidFill>
                <a:srgbClr val="FFFFFF"/>
              </a:solidFill>
              <a:miter lim="800000"/>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en-US" altLang="zh-CN" sz="1200">
                  <a:solidFill>
                    <a:srgbClr val="800000"/>
                  </a:solidFill>
                  <a:latin typeface="Times New Roman" panose="02020603050405020304" charset="0"/>
                  <a:ea typeface="宋体" panose="02010600030101010101" pitchFamily="2" charset="-122"/>
                  <a:cs typeface="Times New Roman" panose="02020603050405020304" charset="0"/>
                </a:rPr>
                <a:t>Environmental</a:t>
              </a:r>
              <a:endParaRPr lang="en-AU" altLang="zh-CN" sz="1200">
                <a:solidFill>
                  <a:schemeClr val="tx1"/>
                </a:solidFill>
                <a:ea typeface="宋体" panose="02010600030101010101" pitchFamily="2" charset="-122"/>
                <a:cs typeface="Times New Roman" panose="02020603050405020304" charset="0"/>
              </a:endParaRPr>
            </a:p>
            <a:p>
              <a:pPr algn="ctr">
                <a:spcBef>
                  <a:spcPct val="0"/>
                </a:spcBef>
                <a:buFontTx/>
                <a:buNone/>
              </a:pPr>
              <a:r>
                <a:rPr lang="en-US" altLang="zh-CN" sz="1200">
                  <a:solidFill>
                    <a:srgbClr val="800000"/>
                  </a:solidFill>
                  <a:latin typeface="Times New Roman" panose="02020603050405020304" charset="0"/>
                  <a:ea typeface="宋体" panose="02010600030101010101" pitchFamily="2" charset="-122"/>
                  <a:cs typeface="Times New Roman" panose="02020603050405020304" charset="0"/>
                </a:rPr>
                <a:t>influences</a:t>
              </a:r>
              <a:endParaRPr lang="en-US" altLang="zh-CN" sz="1200">
                <a:solidFill>
                  <a:schemeClr val="tx1"/>
                </a:solidFill>
                <a:ea typeface="宋体" panose="02010600030101010101" pitchFamily="2" charset="-122"/>
                <a:cs typeface="Times New Roman" panose="02020603050405020304" charset="0"/>
              </a:endParaRPr>
            </a:p>
          </p:txBody>
        </p:sp>
        <p:sp>
          <p:nvSpPr>
            <p:cNvPr id="115720" name="Text Box 6"/>
            <p:cNvSpPr txBox="1">
              <a:spLocks noChangeArrowheads="1"/>
            </p:cNvSpPr>
            <p:nvPr/>
          </p:nvSpPr>
          <p:spPr bwMode="auto">
            <a:xfrm>
              <a:off x="18796" y="29718"/>
              <a:ext cx="8128" cy="4953"/>
            </a:xfrm>
            <a:prstGeom prst="rect">
              <a:avLst/>
            </a:prstGeom>
            <a:solidFill>
              <a:srgbClr val="FFFFFF"/>
            </a:solidFill>
            <a:ln w="9525">
              <a:solidFill>
                <a:srgbClr val="FFFFFF"/>
              </a:solidFill>
              <a:miter lim="800000"/>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1200">
                  <a:solidFill>
                    <a:srgbClr val="008000"/>
                  </a:solidFill>
                  <a:latin typeface="Times New Roman" panose="02020603050405020304" charset="0"/>
                  <a:ea typeface="宋体" panose="02010600030101010101" pitchFamily="2" charset="-122"/>
                  <a:cs typeface="Times New Roman" panose="02020603050405020304" charset="0"/>
                </a:rPr>
                <a:t>Resource support</a:t>
              </a:r>
              <a:endParaRPr lang="en-US" altLang="zh-CN" sz="1200">
                <a:solidFill>
                  <a:schemeClr val="tx1"/>
                </a:solidFill>
                <a:ea typeface="宋体" panose="02010600030101010101" pitchFamily="2" charset="-122"/>
                <a:cs typeface="Times New Roman" panose="02020603050405020304" charset="0"/>
              </a:endParaRPr>
            </a:p>
          </p:txBody>
        </p:sp>
        <p:sp>
          <p:nvSpPr>
            <p:cNvPr id="115721" name="Text Box 7"/>
            <p:cNvSpPr txBox="1">
              <a:spLocks noChangeArrowheads="1"/>
            </p:cNvSpPr>
            <p:nvPr/>
          </p:nvSpPr>
          <p:spPr bwMode="auto">
            <a:xfrm>
              <a:off x="14859" y="8496"/>
              <a:ext cx="12573" cy="4953"/>
            </a:xfrm>
            <a:prstGeom prst="rect">
              <a:avLst/>
            </a:prstGeom>
            <a:solidFill>
              <a:srgbClr val="FFFFFF"/>
            </a:solidFill>
            <a:ln w="9525">
              <a:solidFill>
                <a:srgbClr val="FFFFFF"/>
              </a:solidFill>
              <a:miter lim="800000"/>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en-US" altLang="zh-CN" sz="1200">
                  <a:solidFill>
                    <a:srgbClr val="008000"/>
                  </a:solidFill>
                  <a:latin typeface="Times New Roman" panose="02020603050405020304" charset="0"/>
                  <a:ea typeface="宋体" panose="02010600030101010101" pitchFamily="2" charset="-122"/>
                  <a:cs typeface="Times New Roman" panose="02020603050405020304" charset="0"/>
                </a:rPr>
                <a:t>Resource </a:t>
              </a:r>
              <a:endParaRPr lang="en-AU" altLang="zh-CN" sz="1200">
                <a:solidFill>
                  <a:schemeClr val="tx1"/>
                </a:solidFill>
                <a:ea typeface="宋体" panose="02010600030101010101" pitchFamily="2" charset="-122"/>
                <a:cs typeface="Times New Roman" panose="02020603050405020304" charset="0"/>
              </a:endParaRPr>
            </a:p>
            <a:p>
              <a:pPr algn="ctr">
                <a:spcBef>
                  <a:spcPct val="0"/>
                </a:spcBef>
                <a:buFontTx/>
                <a:buNone/>
              </a:pPr>
              <a:r>
                <a:rPr lang="en-US" altLang="zh-CN" sz="1200">
                  <a:solidFill>
                    <a:srgbClr val="008000"/>
                  </a:solidFill>
                  <a:latin typeface="Times New Roman" panose="02020603050405020304" charset="0"/>
                  <a:ea typeface="宋体" panose="02010600030101010101" pitchFamily="2" charset="-122"/>
                  <a:cs typeface="Times New Roman" panose="02020603050405020304" charset="0"/>
                </a:rPr>
                <a:t>support</a:t>
              </a:r>
              <a:endParaRPr lang="en-US" altLang="zh-CN" sz="1200">
                <a:solidFill>
                  <a:schemeClr val="tx1"/>
                </a:solidFill>
                <a:ea typeface="宋体" panose="02010600030101010101" pitchFamily="2" charset="-122"/>
                <a:cs typeface="Times New Roman" panose="02020603050405020304" charset="0"/>
              </a:endParaRPr>
            </a:p>
          </p:txBody>
        </p:sp>
        <p:sp>
          <p:nvSpPr>
            <p:cNvPr id="115722" name="Text Box 8"/>
            <p:cNvSpPr txBox="1">
              <a:spLocks noChangeArrowheads="1"/>
            </p:cNvSpPr>
            <p:nvPr/>
          </p:nvSpPr>
          <p:spPr bwMode="auto">
            <a:xfrm>
              <a:off x="22288" y="14947"/>
              <a:ext cx="6287" cy="2979"/>
            </a:xfrm>
            <a:prstGeom prst="rect">
              <a:avLst/>
            </a:prstGeom>
            <a:solidFill>
              <a:srgbClr val="FFFFFF"/>
            </a:solidFill>
            <a:ln w="9525">
              <a:solidFill>
                <a:srgbClr val="FFFFFF"/>
              </a:solidFill>
              <a:miter lim="800000"/>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1200">
                  <a:solidFill>
                    <a:srgbClr val="FF0000"/>
                  </a:solidFill>
                  <a:latin typeface="Times New Roman" panose="02020603050405020304" charset="0"/>
                  <a:ea typeface="宋体" panose="02010600030101010101" pitchFamily="2" charset="-122"/>
                  <a:cs typeface="Times New Roman" panose="02020603050405020304" charset="0"/>
                </a:rPr>
                <a:t>Impacts</a:t>
              </a:r>
              <a:endParaRPr lang="en-US" altLang="zh-CN" sz="1200">
                <a:solidFill>
                  <a:schemeClr val="tx1"/>
                </a:solidFill>
                <a:ea typeface="宋体" panose="02010600030101010101" pitchFamily="2" charset="-122"/>
                <a:cs typeface="Times New Roman" panose="02020603050405020304" charset="0"/>
              </a:endParaRPr>
            </a:p>
          </p:txBody>
        </p:sp>
        <p:sp>
          <p:nvSpPr>
            <p:cNvPr id="115723" name="Text Box 9"/>
            <p:cNvSpPr txBox="1">
              <a:spLocks noChangeArrowheads="1"/>
            </p:cNvSpPr>
            <p:nvPr/>
          </p:nvSpPr>
          <p:spPr bwMode="auto">
            <a:xfrm>
              <a:off x="21717" y="26365"/>
              <a:ext cx="6858" cy="2978"/>
            </a:xfrm>
            <a:prstGeom prst="rect">
              <a:avLst/>
            </a:prstGeom>
            <a:solidFill>
              <a:srgbClr val="FFFFFF"/>
            </a:solidFill>
            <a:ln w="9525">
              <a:solidFill>
                <a:srgbClr val="FFFFFF"/>
              </a:solidFill>
              <a:miter lim="800000"/>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1200">
                  <a:solidFill>
                    <a:srgbClr val="FF0000"/>
                  </a:solidFill>
                  <a:latin typeface="Times New Roman" panose="02020603050405020304" charset="0"/>
                  <a:ea typeface="宋体" panose="02010600030101010101" pitchFamily="2" charset="-122"/>
                  <a:cs typeface="Times New Roman" panose="02020603050405020304" charset="0"/>
                </a:rPr>
                <a:t>Impacts</a:t>
              </a:r>
              <a:endParaRPr lang="en-US" altLang="zh-CN" sz="1200">
                <a:solidFill>
                  <a:schemeClr val="tx1"/>
                </a:solidFill>
                <a:ea typeface="宋体" panose="02010600030101010101" pitchFamily="2" charset="-122"/>
                <a:cs typeface="Times New Roman" panose="02020603050405020304" charset="0"/>
              </a:endParaRPr>
            </a:p>
          </p:txBody>
        </p:sp>
        <p:sp>
          <p:nvSpPr>
            <p:cNvPr id="115724" name="Text Box 10"/>
            <p:cNvSpPr txBox="1">
              <a:spLocks noChangeArrowheads="1"/>
            </p:cNvSpPr>
            <p:nvPr/>
          </p:nvSpPr>
          <p:spPr bwMode="auto">
            <a:xfrm>
              <a:off x="32956" y="19812"/>
              <a:ext cx="6033" cy="2978"/>
            </a:xfrm>
            <a:prstGeom prst="rect">
              <a:avLst/>
            </a:prstGeom>
            <a:solidFill>
              <a:srgbClr val="FFFFFF"/>
            </a:solidFill>
            <a:ln w="9525">
              <a:solidFill>
                <a:srgbClr val="FFFFFF"/>
              </a:solidFill>
              <a:miter lim="800000"/>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1200">
                  <a:solidFill>
                    <a:srgbClr val="FF0000"/>
                  </a:solidFill>
                  <a:latin typeface="Times New Roman" panose="02020603050405020304" charset="0"/>
                  <a:ea typeface="宋体" panose="02010600030101010101" pitchFamily="2" charset="-122"/>
                  <a:cs typeface="Times New Roman" panose="02020603050405020304" charset="0"/>
                </a:rPr>
                <a:t>Impacts</a:t>
              </a:r>
              <a:endParaRPr lang="en-US" altLang="zh-CN" sz="1200">
                <a:solidFill>
                  <a:schemeClr val="tx1"/>
                </a:solidFill>
                <a:ea typeface="宋体" panose="02010600030101010101" pitchFamily="2" charset="-122"/>
                <a:cs typeface="Times New Roman" panose="02020603050405020304" charset="0"/>
              </a:endParaRPr>
            </a:p>
          </p:txBody>
        </p:sp>
        <p:sp>
          <p:nvSpPr>
            <p:cNvPr id="115725" name="Text Box 11"/>
            <p:cNvSpPr txBox="1">
              <a:spLocks noChangeArrowheads="1"/>
            </p:cNvSpPr>
            <p:nvPr/>
          </p:nvSpPr>
          <p:spPr bwMode="auto">
            <a:xfrm>
              <a:off x="44513" y="21602"/>
              <a:ext cx="7487" cy="4953"/>
            </a:xfrm>
            <a:prstGeom prst="rect">
              <a:avLst/>
            </a:prstGeom>
            <a:solidFill>
              <a:srgbClr val="FFFFFF"/>
            </a:solidFill>
            <a:ln w="9525">
              <a:solidFill>
                <a:srgbClr val="FFFFFF"/>
              </a:solidFill>
              <a:miter lim="800000"/>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1200">
                  <a:solidFill>
                    <a:srgbClr val="800000"/>
                  </a:solidFill>
                  <a:latin typeface="Times New Roman" panose="02020603050405020304" charset="0"/>
                  <a:ea typeface="宋体" panose="02010600030101010101" pitchFamily="2" charset="-122"/>
                  <a:cs typeface="Times New Roman" panose="02020603050405020304" charset="0"/>
                </a:rPr>
                <a:t>Human</a:t>
              </a:r>
              <a:endParaRPr lang="en-AU" altLang="zh-CN" sz="1200">
                <a:solidFill>
                  <a:schemeClr val="tx1"/>
                </a:solidFill>
                <a:ea typeface="宋体" panose="02010600030101010101" pitchFamily="2" charset="-122"/>
                <a:cs typeface="Times New Roman" panose="02020603050405020304" charset="0"/>
              </a:endParaRPr>
            </a:p>
            <a:p>
              <a:pPr>
                <a:spcBef>
                  <a:spcPct val="0"/>
                </a:spcBef>
                <a:buFontTx/>
                <a:buNone/>
              </a:pPr>
              <a:r>
                <a:rPr lang="en-US" altLang="zh-CN" sz="1200">
                  <a:solidFill>
                    <a:srgbClr val="800000"/>
                  </a:solidFill>
                  <a:latin typeface="Times New Roman" panose="02020603050405020304" charset="0"/>
                  <a:ea typeface="宋体" panose="02010600030101010101" pitchFamily="2" charset="-122"/>
                  <a:cs typeface="Times New Roman" panose="02020603050405020304" charset="0"/>
                </a:rPr>
                <a:t>influences</a:t>
              </a:r>
              <a:endParaRPr lang="en-US" altLang="zh-CN" sz="1200">
                <a:solidFill>
                  <a:schemeClr val="tx1"/>
                </a:solidFill>
                <a:ea typeface="宋体" panose="02010600030101010101" pitchFamily="2" charset="-122"/>
                <a:cs typeface="Times New Roman" panose="02020603050405020304" charset="0"/>
              </a:endParaRPr>
            </a:p>
          </p:txBody>
        </p:sp>
        <p:sp>
          <p:nvSpPr>
            <p:cNvPr id="115726" name="Line 12"/>
            <p:cNvSpPr>
              <a:spLocks noChangeShapeType="1"/>
            </p:cNvSpPr>
            <p:nvPr/>
          </p:nvSpPr>
          <p:spPr bwMode="auto">
            <a:xfrm>
              <a:off x="13716" y="33680"/>
              <a:ext cx="13716" cy="4953"/>
            </a:xfrm>
            <a:prstGeom prst="line">
              <a:avLst/>
            </a:prstGeom>
            <a:noFill/>
            <a:ln w="9525">
              <a:solidFill>
                <a:srgbClr val="800000"/>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27" name="Oval 13"/>
            <p:cNvSpPr>
              <a:spLocks noChangeArrowheads="1"/>
            </p:cNvSpPr>
            <p:nvPr/>
          </p:nvSpPr>
          <p:spPr bwMode="auto">
            <a:xfrm>
              <a:off x="2286" y="8915"/>
              <a:ext cx="13716" cy="26746"/>
            </a:xfrm>
            <a:prstGeom prst="ellipse">
              <a:avLst/>
            </a:prstGeom>
            <a:solidFill>
              <a:srgbClr val="99CC00"/>
            </a:solidFill>
            <a:ln w="28575">
              <a:solidFill>
                <a:srgbClr val="99CC00"/>
              </a:solidFill>
              <a:round/>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en-US" altLang="zh-CN" sz="1200">
                  <a:solidFill>
                    <a:schemeClr val="bg2"/>
                  </a:solidFill>
                  <a:latin typeface="Times New Roman" panose="02020603050405020304" charset="0"/>
                  <a:ea typeface="宋体" panose="02010600030101010101" pitchFamily="2" charset="-122"/>
                  <a:cs typeface="Times New Roman" panose="02020603050405020304" charset="0"/>
                </a:rPr>
                <a:t>Natural</a:t>
              </a:r>
              <a:endParaRPr lang="en-AU" altLang="zh-CN" sz="1200">
                <a:solidFill>
                  <a:schemeClr val="bg2"/>
                </a:solidFill>
                <a:ea typeface="宋体" panose="02010600030101010101" pitchFamily="2" charset="-122"/>
                <a:cs typeface="Times New Roman" panose="02020603050405020304" charset="0"/>
              </a:endParaRPr>
            </a:p>
            <a:p>
              <a:pPr algn="ctr">
                <a:spcBef>
                  <a:spcPct val="0"/>
                </a:spcBef>
                <a:buFontTx/>
                <a:buNone/>
              </a:pPr>
              <a:r>
                <a:rPr lang="en-US" altLang="zh-CN" sz="1200">
                  <a:solidFill>
                    <a:schemeClr val="bg2"/>
                  </a:solidFill>
                  <a:latin typeface="Times New Roman" panose="02020603050405020304" charset="0"/>
                  <a:ea typeface="宋体" panose="02010600030101010101" pitchFamily="2" charset="-122"/>
                  <a:cs typeface="Times New Roman" panose="02020603050405020304" charset="0"/>
                </a:rPr>
                <a:t>environment</a:t>
              </a:r>
              <a:endParaRPr lang="en-US" altLang="zh-CN" sz="1200">
                <a:solidFill>
                  <a:schemeClr val="bg2"/>
                </a:solidFill>
                <a:ea typeface="宋体" panose="02010600030101010101" pitchFamily="2" charset="-122"/>
                <a:cs typeface="Times New Roman" panose="02020603050405020304" charset="0"/>
              </a:endParaRPr>
            </a:p>
          </p:txBody>
        </p:sp>
        <p:sp>
          <p:nvSpPr>
            <p:cNvPr id="115728" name="Oval 14"/>
            <p:cNvSpPr>
              <a:spLocks noChangeArrowheads="1"/>
            </p:cNvSpPr>
            <p:nvPr/>
          </p:nvSpPr>
          <p:spPr bwMode="auto">
            <a:xfrm rot="1080250">
              <a:off x="25146" y="1981"/>
              <a:ext cx="26263" cy="12884"/>
            </a:xfrm>
            <a:prstGeom prst="ellipse">
              <a:avLst/>
            </a:prstGeom>
            <a:solidFill>
              <a:srgbClr val="FFCC00"/>
            </a:solidFill>
            <a:ln w="28575">
              <a:solidFill>
                <a:srgbClr val="FFCC00"/>
              </a:solidFill>
              <a:round/>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1200">
                  <a:solidFill>
                    <a:schemeClr val="bg2"/>
                  </a:solidFill>
                  <a:latin typeface="Times New Roman" panose="02020603050405020304" charset="0"/>
                  <a:ea typeface="宋体" panose="02010600030101010101" pitchFamily="2" charset="-122"/>
                  <a:cs typeface="Times New Roman" panose="02020603050405020304" charset="0"/>
                </a:rPr>
                <a:t>Human </a:t>
              </a:r>
              <a:endParaRPr lang="en-AU" altLang="zh-CN" sz="1200">
                <a:solidFill>
                  <a:schemeClr val="bg2"/>
                </a:solidFill>
                <a:ea typeface="宋体" panose="02010600030101010101" pitchFamily="2" charset="-122"/>
                <a:cs typeface="Times New Roman" panose="02020603050405020304" charset="0"/>
              </a:endParaRPr>
            </a:p>
            <a:p>
              <a:pPr>
                <a:spcBef>
                  <a:spcPct val="0"/>
                </a:spcBef>
                <a:buFontTx/>
                <a:buNone/>
              </a:pPr>
              <a:r>
                <a:rPr lang="en-US" altLang="zh-CN" sz="1200">
                  <a:solidFill>
                    <a:schemeClr val="bg2"/>
                  </a:solidFill>
                  <a:latin typeface="Times New Roman" panose="02020603050405020304" charset="0"/>
                  <a:ea typeface="宋体" panose="02010600030101010101" pitchFamily="2" charset="-122"/>
                  <a:cs typeface="Times New Roman" panose="02020603050405020304" charset="0"/>
                </a:rPr>
                <a:t>societies</a:t>
              </a:r>
              <a:endParaRPr lang="en-AU" altLang="zh-CN" sz="1200">
                <a:solidFill>
                  <a:schemeClr val="bg2"/>
                </a:solidFill>
                <a:ea typeface="宋体" panose="02010600030101010101" pitchFamily="2" charset="-122"/>
                <a:cs typeface="Times New Roman" panose="02020603050405020304" charset="0"/>
              </a:endParaRPr>
            </a:p>
            <a:p>
              <a:pPr>
                <a:spcBef>
                  <a:spcPct val="0"/>
                </a:spcBef>
                <a:buFontTx/>
                <a:buNone/>
              </a:pPr>
              <a:endParaRPr lang="en-AU" altLang="zh-CN" sz="1200">
                <a:solidFill>
                  <a:schemeClr val="tx1"/>
                </a:solidFill>
                <a:ea typeface="宋体" panose="02010600030101010101" pitchFamily="2" charset="-122"/>
                <a:cs typeface="Times New Roman" panose="02020603050405020304" charset="0"/>
              </a:endParaRPr>
            </a:p>
          </p:txBody>
        </p:sp>
        <p:sp>
          <p:nvSpPr>
            <p:cNvPr id="115729" name="Line 16"/>
            <p:cNvSpPr>
              <a:spLocks noChangeShapeType="1"/>
            </p:cNvSpPr>
            <p:nvPr/>
          </p:nvSpPr>
          <p:spPr bwMode="auto">
            <a:xfrm>
              <a:off x="13716" y="24765"/>
              <a:ext cx="21717" cy="8915"/>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30" name="Line 17"/>
            <p:cNvSpPr>
              <a:spLocks noChangeShapeType="1"/>
            </p:cNvSpPr>
            <p:nvPr/>
          </p:nvSpPr>
          <p:spPr bwMode="auto">
            <a:xfrm flipH="1" flipV="1">
              <a:off x="14859" y="29718"/>
              <a:ext cx="14859" cy="5943"/>
            </a:xfrm>
            <a:prstGeom prst="line">
              <a:avLst/>
            </a:prstGeom>
            <a:noFill/>
            <a:ln w="9525">
              <a:solidFill>
                <a:srgbClr val="008000"/>
              </a:solidFill>
              <a:round/>
              <a:head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31" name="Line 18"/>
            <p:cNvSpPr>
              <a:spLocks noChangeShapeType="1"/>
            </p:cNvSpPr>
            <p:nvPr/>
          </p:nvSpPr>
          <p:spPr bwMode="auto">
            <a:xfrm>
              <a:off x="36576" y="27736"/>
              <a:ext cx="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32" name="Line 19"/>
            <p:cNvSpPr>
              <a:spLocks noChangeShapeType="1"/>
            </p:cNvSpPr>
            <p:nvPr/>
          </p:nvSpPr>
          <p:spPr bwMode="auto">
            <a:xfrm flipV="1">
              <a:off x="37719" y="12877"/>
              <a:ext cx="6" cy="21794"/>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33" name="Line 20"/>
            <p:cNvSpPr>
              <a:spLocks noChangeShapeType="1"/>
            </p:cNvSpPr>
            <p:nvPr/>
          </p:nvSpPr>
          <p:spPr bwMode="auto">
            <a:xfrm flipV="1">
              <a:off x="12573" y="10896"/>
              <a:ext cx="21717" cy="9906"/>
            </a:xfrm>
            <a:prstGeom prst="line">
              <a:avLst/>
            </a:prstGeom>
            <a:noFill/>
            <a:ln w="9525">
              <a:solidFill>
                <a:srgbClr val="FF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34" name="Line 21"/>
            <p:cNvSpPr>
              <a:spLocks noChangeShapeType="1"/>
            </p:cNvSpPr>
            <p:nvPr/>
          </p:nvSpPr>
          <p:spPr bwMode="auto">
            <a:xfrm flipV="1">
              <a:off x="42291" y="15849"/>
              <a:ext cx="6" cy="12433"/>
            </a:xfrm>
            <a:prstGeom prst="line">
              <a:avLst/>
            </a:prstGeom>
            <a:noFill/>
            <a:ln w="9525">
              <a:solidFill>
                <a:srgbClr val="008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35" name="Line 22"/>
            <p:cNvSpPr>
              <a:spLocks noChangeShapeType="1"/>
            </p:cNvSpPr>
            <p:nvPr/>
          </p:nvSpPr>
          <p:spPr bwMode="auto">
            <a:xfrm flipV="1">
              <a:off x="14859" y="8915"/>
              <a:ext cx="11430" cy="4953"/>
            </a:xfrm>
            <a:prstGeom prst="line">
              <a:avLst/>
            </a:prstGeom>
            <a:noFill/>
            <a:ln w="9525">
              <a:solidFill>
                <a:srgbClr val="008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3" name="AutoShape 23"/>
            <p:cNvSpPr>
              <a:spLocks noChangeArrowheads="1"/>
            </p:cNvSpPr>
            <p:nvPr/>
          </p:nvSpPr>
          <p:spPr bwMode="auto">
            <a:xfrm>
              <a:off x="33152" y="3968"/>
              <a:ext cx="15106" cy="8912"/>
            </a:xfrm>
            <a:prstGeom prst="star16">
              <a:avLst>
                <a:gd name="adj" fmla="val 37500"/>
              </a:avLst>
            </a:prstGeom>
            <a:solidFill>
              <a:srgbClr val="FFFFFF"/>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1200" b="1" dirty="0">
                  <a:solidFill>
                    <a:schemeClr val="bg2">
                      <a:lumMod val="50000"/>
                    </a:schemeClr>
                  </a:solidFill>
                  <a:latin typeface="Times New Roman" panose="02020603050405020304" charset="0"/>
                  <a:cs typeface="Times New Roman" panose="02020603050405020304" charset="0"/>
                </a:rPr>
                <a:t>Social</a:t>
              </a:r>
              <a:endParaRPr lang="en-AU" altLang="zh-CN" sz="1200" b="1" dirty="0">
                <a:solidFill>
                  <a:schemeClr val="bg2">
                    <a:lumMod val="50000"/>
                  </a:schemeClr>
                </a:solidFill>
              </a:endParaRPr>
            </a:p>
            <a:p>
              <a:pPr algn="ctr">
                <a:defRPr/>
              </a:pPr>
              <a:r>
                <a:rPr lang="en-US" altLang="zh-CN" sz="1200" b="1" dirty="0">
                  <a:solidFill>
                    <a:schemeClr val="bg2">
                      <a:lumMod val="50000"/>
                    </a:schemeClr>
                  </a:solidFill>
                  <a:latin typeface="Times New Roman" panose="02020603050405020304" charset="0"/>
                  <a:cs typeface="Times New Roman" panose="02020603050405020304" charset="0"/>
                </a:rPr>
                <a:t>disruptions</a:t>
              </a:r>
              <a:endParaRPr lang="en-US" altLang="zh-CN" sz="1200" b="1" dirty="0">
                <a:solidFill>
                  <a:schemeClr val="bg2">
                    <a:lumMod val="50000"/>
                  </a:schemeClr>
                </a:solidFill>
              </a:endParaRPr>
            </a:p>
          </p:txBody>
        </p:sp>
        <p:sp>
          <p:nvSpPr>
            <p:cNvPr id="24" name="AutoShape 24"/>
            <p:cNvSpPr>
              <a:spLocks noChangeArrowheads="1"/>
            </p:cNvSpPr>
            <p:nvPr/>
          </p:nvSpPr>
          <p:spPr bwMode="auto">
            <a:xfrm>
              <a:off x="30849" y="33328"/>
              <a:ext cx="13662" cy="8790"/>
            </a:xfrm>
            <a:prstGeom prst="star16">
              <a:avLst>
                <a:gd name="adj" fmla="val 37500"/>
              </a:avLst>
            </a:prstGeom>
            <a:solidFill>
              <a:srgbClr val="FFFFFF"/>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1200" b="1" dirty="0">
                  <a:solidFill>
                    <a:schemeClr val="bg2">
                      <a:lumMod val="50000"/>
                    </a:schemeClr>
                  </a:solidFill>
                  <a:latin typeface="Times New Roman" panose="02020603050405020304" charset="0"/>
                  <a:cs typeface="Times New Roman" panose="02020603050405020304" charset="0"/>
                </a:rPr>
                <a:t>Failure of built system</a:t>
              </a:r>
              <a:endParaRPr lang="en-US" altLang="zh-CN" sz="1200" b="1" dirty="0">
                <a:solidFill>
                  <a:schemeClr val="bg2">
                    <a:lumMod val="50000"/>
                  </a:schemeClr>
                </a:solidFill>
              </a:endParaRPr>
            </a:p>
          </p:txBody>
        </p:sp>
        <p:sp>
          <p:nvSpPr>
            <p:cNvPr id="115738" name="Text Box 25"/>
            <p:cNvSpPr txBox="1">
              <a:spLocks noChangeArrowheads="1"/>
            </p:cNvSpPr>
            <p:nvPr/>
          </p:nvSpPr>
          <p:spPr bwMode="auto">
            <a:xfrm>
              <a:off x="13716" y="2616"/>
              <a:ext cx="10375" cy="4953"/>
            </a:xfrm>
            <a:prstGeom prst="rect">
              <a:avLst/>
            </a:prstGeom>
            <a:solidFill>
              <a:srgbClr val="FFFFFF"/>
            </a:solidFill>
            <a:ln w="9525">
              <a:solidFill>
                <a:srgbClr val="FFFFFF"/>
              </a:solidFill>
              <a:miter lim="800000"/>
            </a:ln>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lgn="ctr">
                <a:spcBef>
                  <a:spcPct val="0"/>
                </a:spcBef>
                <a:buFontTx/>
                <a:buNone/>
              </a:pPr>
              <a:r>
                <a:rPr lang="en-US" altLang="zh-CN" sz="1200">
                  <a:solidFill>
                    <a:srgbClr val="800000"/>
                  </a:solidFill>
                  <a:latin typeface="Times New Roman" panose="02020603050405020304" charset="0"/>
                  <a:ea typeface="宋体" panose="02010600030101010101" pitchFamily="2" charset="-122"/>
                  <a:cs typeface="Times New Roman" panose="02020603050405020304" charset="0"/>
                </a:rPr>
                <a:t>Environmental</a:t>
              </a:r>
              <a:endParaRPr lang="en-AU" altLang="zh-CN" sz="1200">
                <a:solidFill>
                  <a:schemeClr val="tx1"/>
                </a:solidFill>
                <a:ea typeface="宋体" panose="02010600030101010101" pitchFamily="2" charset="-122"/>
                <a:cs typeface="Times New Roman" panose="02020603050405020304" charset="0"/>
              </a:endParaRPr>
            </a:p>
            <a:p>
              <a:pPr algn="ctr">
                <a:spcBef>
                  <a:spcPct val="0"/>
                </a:spcBef>
                <a:buFontTx/>
                <a:buNone/>
              </a:pPr>
              <a:r>
                <a:rPr lang="en-US" altLang="zh-CN" sz="1200">
                  <a:solidFill>
                    <a:srgbClr val="800000"/>
                  </a:solidFill>
                  <a:latin typeface="Times New Roman" panose="02020603050405020304" charset="0"/>
                  <a:ea typeface="宋体" panose="02010600030101010101" pitchFamily="2" charset="-122"/>
                  <a:cs typeface="Times New Roman" panose="02020603050405020304" charset="0"/>
                </a:rPr>
                <a:t>influences</a:t>
              </a:r>
              <a:endParaRPr lang="en-US" altLang="zh-CN" sz="1200">
                <a:solidFill>
                  <a:schemeClr val="tx1"/>
                </a:solidFill>
                <a:ea typeface="宋体" panose="02010600030101010101" pitchFamily="2" charset="-122"/>
                <a:cs typeface="Times New Roman" panose="02020603050405020304" charset="0"/>
              </a:endParaRPr>
            </a:p>
          </p:txBody>
        </p:sp>
        <p:sp>
          <p:nvSpPr>
            <p:cNvPr id="115739" name="Line 26"/>
            <p:cNvSpPr>
              <a:spLocks noChangeShapeType="1"/>
            </p:cNvSpPr>
            <p:nvPr/>
          </p:nvSpPr>
          <p:spPr bwMode="auto">
            <a:xfrm flipH="1">
              <a:off x="12573" y="4953"/>
              <a:ext cx="12573" cy="4946"/>
            </a:xfrm>
            <a:prstGeom prst="line">
              <a:avLst/>
            </a:prstGeom>
            <a:noFill/>
            <a:ln w="9525">
              <a:solidFill>
                <a:srgbClr val="8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7" name="AutoShape 27"/>
            <p:cNvSpPr>
              <a:spLocks noChangeArrowheads="1"/>
            </p:cNvSpPr>
            <p:nvPr/>
          </p:nvSpPr>
          <p:spPr bwMode="auto">
            <a:xfrm>
              <a:off x="3253" y="17824"/>
              <a:ext cx="11606" cy="11887"/>
            </a:xfrm>
            <a:prstGeom prst="star16">
              <a:avLst>
                <a:gd name="adj" fmla="val 37500"/>
              </a:avLst>
            </a:prstGeom>
            <a:solidFill>
              <a:srgbClr val="FFFFFF"/>
            </a:solidFill>
            <a:ln w="9525">
              <a:solidFill>
                <a:srgbClr val="000000"/>
              </a:solidFill>
              <a:miter lim="800000"/>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defRPr/>
              </a:pPr>
              <a:r>
                <a:rPr lang="en-US" altLang="zh-CN" sz="1200" b="1" dirty="0">
                  <a:solidFill>
                    <a:schemeClr val="bg2">
                      <a:lumMod val="50000"/>
                    </a:schemeClr>
                  </a:solidFill>
                  <a:latin typeface="Times New Roman" panose="02020603050405020304" charset="0"/>
                  <a:cs typeface="Times New Roman" panose="02020603050405020304" charset="0"/>
                </a:rPr>
                <a:t>Natural</a:t>
              </a:r>
              <a:endParaRPr lang="en-AU" altLang="zh-CN" sz="1200" b="1" dirty="0">
                <a:solidFill>
                  <a:schemeClr val="bg2">
                    <a:lumMod val="50000"/>
                  </a:schemeClr>
                </a:solidFill>
              </a:endParaRPr>
            </a:p>
            <a:p>
              <a:pPr algn="ctr">
                <a:defRPr/>
              </a:pPr>
              <a:r>
                <a:rPr lang="en-US" altLang="zh-CN" sz="1200" b="1" dirty="0">
                  <a:solidFill>
                    <a:schemeClr val="bg2">
                      <a:lumMod val="50000"/>
                    </a:schemeClr>
                  </a:solidFill>
                  <a:latin typeface="Times New Roman" panose="02020603050405020304" charset="0"/>
                  <a:cs typeface="Times New Roman" panose="02020603050405020304" charset="0"/>
                </a:rPr>
                <a:t>hazards</a:t>
              </a:r>
              <a:endParaRPr lang="en-US" altLang="zh-CN" sz="1200" b="1" dirty="0">
                <a:solidFill>
                  <a:schemeClr val="bg2">
                    <a:lumMod val="50000"/>
                  </a:schemeClr>
                </a:solidFill>
              </a:endParaRPr>
            </a:p>
          </p:txBody>
        </p:sp>
        <p:sp>
          <p:nvSpPr>
            <p:cNvPr id="115741" name="Line 28"/>
            <p:cNvSpPr>
              <a:spLocks noChangeShapeType="1"/>
            </p:cNvSpPr>
            <p:nvPr/>
          </p:nvSpPr>
          <p:spPr bwMode="auto">
            <a:xfrm>
              <a:off x="46863" y="15595"/>
              <a:ext cx="6" cy="12433"/>
            </a:xfrm>
            <a:prstGeom prst="line">
              <a:avLst/>
            </a:prstGeom>
            <a:noFill/>
            <a:ln w="9525">
              <a:solidFill>
                <a:srgbClr val="8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15742" name="文本框 27"/>
            <p:cNvSpPr txBox="1">
              <a:spLocks noChangeArrowheads="1"/>
            </p:cNvSpPr>
            <p:nvPr/>
          </p:nvSpPr>
          <p:spPr bwMode="auto">
            <a:xfrm>
              <a:off x="38310" y="30574"/>
              <a:ext cx="12624" cy="3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en-US" altLang="zh-CN" sz="1200">
                  <a:solidFill>
                    <a:srgbClr val="FFFFFF"/>
                  </a:solidFill>
                  <a:latin typeface="Times New Roman" panose="02020603050405020304" charset="0"/>
                  <a:ea typeface="宋体" panose="02010600030101010101" pitchFamily="2" charset="-122"/>
                  <a:cs typeface="Times New Roman" panose="02020603050405020304" charset="0"/>
                </a:rPr>
                <a:t>Built environment</a:t>
              </a:r>
              <a:endParaRPr lang="en-US" altLang="zh-CN" sz="1200">
                <a:solidFill>
                  <a:schemeClr val="tx1"/>
                </a:solidFill>
                <a:ea typeface="宋体" panose="02010600030101010101" pitchFamily="2" charset="-122"/>
                <a:cs typeface="Times New Roman" panose="02020603050405020304" charset="0"/>
              </a:endParaRPr>
            </a:p>
          </p:txBody>
        </p:sp>
      </p:grpSp>
      <p:sp>
        <p:nvSpPr>
          <p:cNvPr id="115715" name="矩形 83967"/>
          <p:cNvSpPr>
            <a:spLocks noChangeArrowheads="1"/>
          </p:cNvSpPr>
          <p:nvPr/>
        </p:nvSpPr>
        <p:spPr bwMode="auto">
          <a:xfrm>
            <a:off x="534988" y="142875"/>
            <a:ext cx="779938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eaLnBrk="1" hangingPunct="1">
              <a:spcBef>
                <a:spcPct val="0"/>
              </a:spcBef>
              <a:buFontTx/>
              <a:buNone/>
            </a:pPr>
            <a:r>
              <a:rPr lang="en-US" altLang="zh-CN" sz="2800">
                <a:solidFill>
                  <a:srgbClr val="800000"/>
                </a:solidFill>
                <a:ea typeface="宋体" panose="02010600030101010101" pitchFamily="2" charset="-122"/>
              </a:rPr>
              <a:t>Interactions among natural environment, built environment and human societies</a:t>
            </a:r>
            <a:endParaRPr lang="zh-CN" altLang="en-US" sz="2800">
              <a:solidFill>
                <a:srgbClr val="800000"/>
              </a:solidFill>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title"/>
          </p:nvPr>
        </p:nvSpPr>
        <p:spPr>
          <a:xfrm>
            <a:off x="0" y="12700"/>
            <a:ext cx="9144000" cy="1181100"/>
          </a:xfrm>
        </p:spPr>
        <p:txBody>
          <a:bodyPr/>
          <a:lstStyle/>
          <a:p>
            <a:pPr eaLnBrk="1" hangingPunct="1"/>
            <a:r>
              <a:rPr lang="zh-CN" altLang="en-US" sz="3800" smtClean="0"/>
              <a:t>外部效应</a:t>
            </a:r>
            <a:r>
              <a:rPr lang="en-US" altLang="zh-CN" sz="3800" smtClean="0"/>
              <a:t>——</a:t>
            </a:r>
            <a:r>
              <a:rPr lang="zh-CN" altLang="en-US" sz="3800" smtClean="0"/>
              <a:t>进行多角度评价的逻辑基础</a:t>
            </a:r>
            <a:endParaRPr lang="zh-CN" altLang="en-US" sz="3800" smtClean="0"/>
          </a:p>
        </p:txBody>
      </p:sp>
      <p:sp>
        <p:nvSpPr>
          <p:cNvPr id="116739" name="Rectangle 3"/>
          <p:cNvSpPr>
            <a:spLocks noGrp="1" noChangeArrowheads="1"/>
          </p:cNvSpPr>
          <p:nvPr>
            <p:ph type="body" idx="1"/>
          </p:nvPr>
        </p:nvSpPr>
        <p:spPr/>
        <p:txBody>
          <a:bodyPr/>
          <a:lstStyle/>
          <a:p>
            <a:pPr eaLnBrk="1" hangingPunct="1"/>
            <a:r>
              <a:rPr lang="zh-CN" altLang="en-US" sz="3400" smtClean="0"/>
              <a:t>外部效应的存在，意味着仅以价格体系作为基础的财务评价无法准确评估项目的社会成本和收益。</a:t>
            </a:r>
            <a:endParaRPr lang="zh-CN" altLang="en-US" sz="3400" smtClean="0"/>
          </a:p>
          <a:p>
            <a:pPr eaLnBrk="1" hangingPunct="1"/>
            <a:r>
              <a:rPr lang="zh-CN" altLang="en-US" sz="3400" smtClean="0"/>
              <a:t>需要进行：</a:t>
            </a:r>
            <a:endParaRPr lang="zh-CN" altLang="en-US" sz="3400" smtClean="0"/>
          </a:p>
          <a:p>
            <a:pPr lvl="1" eaLnBrk="1" hangingPunct="1"/>
            <a:r>
              <a:rPr lang="zh-CN" altLang="en-US" sz="2800" smtClean="0"/>
              <a:t>环境影响评价</a:t>
            </a:r>
            <a:r>
              <a:rPr lang="en-US" altLang="zh-CN" sz="2800" smtClean="0"/>
              <a:t>(Environmental Impact Assessment)</a:t>
            </a:r>
            <a:r>
              <a:rPr lang="zh-CN" altLang="en-US" sz="2800" smtClean="0"/>
              <a:t> </a:t>
            </a:r>
            <a:endParaRPr lang="zh-CN" altLang="en-US" sz="2800" smtClean="0"/>
          </a:p>
          <a:p>
            <a:pPr lvl="1" eaLnBrk="1" hangingPunct="1"/>
            <a:r>
              <a:rPr lang="zh-CN" altLang="en-US" sz="2800" smtClean="0"/>
              <a:t>社会影响评价</a:t>
            </a:r>
            <a:r>
              <a:rPr lang="en-US" altLang="zh-CN" sz="2800" smtClean="0"/>
              <a:t>(Social Impact Assessment)</a:t>
            </a:r>
            <a:r>
              <a:rPr lang="zh-CN" altLang="en-US" sz="2800" smtClean="0"/>
              <a:t> </a:t>
            </a:r>
            <a:endParaRPr lang="zh-CN" altLang="en-US" sz="2800" smtClean="0"/>
          </a:p>
          <a:p>
            <a:pPr lvl="1" eaLnBrk="1" hangingPunct="1"/>
            <a:r>
              <a:rPr lang="zh-CN" altLang="en-US" sz="2800" smtClean="0"/>
              <a:t>可持续性分析 </a:t>
            </a:r>
            <a:r>
              <a:rPr lang="en-US" altLang="zh-CN" sz="2800" smtClean="0"/>
              <a:t>(Sustainability)</a:t>
            </a:r>
            <a:endParaRPr lang="en-US" altLang="zh-CN" sz="2800" smtClean="0"/>
          </a:p>
          <a:p>
            <a:pPr lvl="2" eaLnBrk="1" hangingPunct="1"/>
            <a:r>
              <a:rPr lang="zh-CN" altLang="en-US" sz="2400" smtClean="0"/>
              <a:t>这个项目是否能够实现持续发展（一些收益和成本并非短期内发生，而只能在长期中体现）</a:t>
            </a:r>
            <a:endParaRPr lang="zh-CN" altLang="en-US" sz="2400" smtClean="0"/>
          </a:p>
          <a:p>
            <a:pPr lvl="1" eaLnBrk="1" hangingPunct="1"/>
            <a:endParaRPr lang="en-US" altLang="zh-CN" sz="2800" smtClean="0"/>
          </a:p>
        </p:txBody>
      </p:sp>
    </p:spTree>
  </p:cSld>
  <p:clrMapOvr>
    <a:masterClrMapping/>
  </p:clrMapOvr>
  <p:transition/>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4"/>
          <p:cNvSpPr>
            <a:spLocks noGrp="1" noChangeArrowheads="1"/>
          </p:cNvSpPr>
          <p:nvPr>
            <p:ph type="title"/>
          </p:nvPr>
        </p:nvSpPr>
        <p:spPr/>
        <p:txBody>
          <a:bodyPr/>
          <a:lstStyle/>
          <a:p>
            <a:pPr eaLnBrk="1" hangingPunct="1"/>
            <a:r>
              <a:rPr lang="zh-CN" altLang="en-US" smtClean="0"/>
              <a:t>三峡工程投资概算</a:t>
            </a:r>
            <a:endParaRPr lang="zh-CN" altLang="en-US" smtClean="0"/>
          </a:p>
        </p:txBody>
      </p:sp>
      <p:graphicFrame>
        <p:nvGraphicFramePr>
          <p:cNvPr id="118787" name="Object 5"/>
          <p:cNvGraphicFramePr>
            <a:graphicFrameLocks noChangeAspect="1"/>
          </p:cNvGraphicFramePr>
          <p:nvPr/>
        </p:nvGraphicFramePr>
        <p:xfrm>
          <a:off x="657225" y="1346200"/>
          <a:ext cx="7829550" cy="5207000"/>
        </p:xfrm>
        <a:graphic>
          <a:graphicData uri="http://schemas.openxmlformats.org/presentationml/2006/ole">
            <mc:AlternateContent xmlns:mc="http://schemas.openxmlformats.org/markup-compatibility/2006">
              <mc:Choice xmlns:v="urn:schemas-microsoft-com:vml" Requires="v">
                <p:oleObj spid="_x0000_s118831" name="文档" r:id="rId1" imgW="8484235" imgH="5641975" progId="Word.Document.8">
                  <p:embed/>
                </p:oleObj>
              </mc:Choice>
              <mc:Fallback>
                <p:oleObj name="文档" r:id="rId1" imgW="8484235" imgH="5641975" progId="Word.Document.8">
                  <p:embed/>
                  <p:pic>
                    <p:nvPicPr>
                      <p:cNvPr id="0" name="Object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1346200"/>
                        <a:ext cx="7829550" cy="520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sp>
        <p:nvSpPr>
          <p:cNvPr id="118788" name="Text Box 6"/>
          <p:cNvSpPr txBox="1">
            <a:spLocks noChangeArrowheads="1"/>
          </p:cNvSpPr>
          <p:nvPr/>
        </p:nvSpPr>
        <p:spPr bwMode="auto">
          <a:xfrm>
            <a:off x="657225" y="5264150"/>
            <a:ext cx="14827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600" b="1">
                <a:solidFill>
                  <a:srgbClr val="000000"/>
                </a:solidFill>
                <a:latin typeface="Arial" panose="020B0604020202020204" pitchFamily="34" charset="0"/>
                <a:ea typeface="楷体_GB2312" charset="-122"/>
              </a:defRPr>
            </a:lvl1pPr>
            <a:lvl2pPr marL="742950" indent="-285750">
              <a:spcBef>
                <a:spcPct val="20000"/>
              </a:spcBef>
              <a:buChar char="–"/>
              <a:defRPr sz="3200" b="1">
                <a:solidFill>
                  <a:srgbClr val="000000"/>
                </a:solidFill>
                <a:latin typeface="Arial" panose="020B0604020202020204" pitchFamily="34" charset="0"/>
                <a:ea typeface="楷体_GB2312" charset="-122"/>
              </a:defRPr>
            </a:lvl2pPr>
            <a:lvl3pPr marL="1143000" indent="-228600">
              <a:spcBef>
                <a:spcPct val="20000"/>
              </a:spcBef>
              <a:buChar char="•"/>
              <a:defRPr sz="2800" b="1">
                <a:solidFill>
                  <a:srgbClr val="000000"/>
                </a:solidFill>
                <a:latin typeface="Arial" panose="020B0604020202020204" pitchFamily="34" charset="0"/>
                <a:ea typeface="楷体_GB2312" charset="-122"/>
              </a:defRPr>
            </a:lvl3pPr>
            <a:lvl4pPr marL="1600200" indent="-228600">
              <a:spcBef>
                <a:spcPct val="20000"/>
              </a:spcBef>
              <a:buChar char="–"/>
              <a:defRPr sz="2000" b="1">
                <a:solidFill>
                  <a:srgbClr val="000000"/>
                </a:solidFill>
                <a:latin typeface="Arial" panose="020B0604020202020204" pitchFamily="34" charset="0"/>
                <a:ea typeface="楷体_GB2312" charset="-122"/>
              </a:defRPr>
            </a:lvl4pPr>
            <a:lvl5pPr marL="2057400" indent="-228600">
              <a:spcBef>
                <a:spcPct val="20000"/>
              </a:spcBef>
              <a:buChar char="»"/>
              <a:defRPr sz="2000" b="1">
                <a:solidFill>
                  <a:srgbClr val="000000"/>
                </a:solidFill>
                <a:latin typeface="Arial" panose="020B0604020202020204" pitchFamily="34" charset="0"/>
                <a:ea typeface="楷体_GB2312" charset="-122"/>
              </a:defRPr>
            </a:lvl5pPr>
            <a:lvl6pPr marL="25146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6pPr>
            <a:lvl7pPr marL="29718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7pPr>
            <a:lvl8pPr marL="34290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8pPr>
            <a:lvl9pPr marL="3886200" indent="-228600" eaLnBrk="0" fontAlgn="base" hangingPunct="0">
              <a:spcBef>
                <a:spcPct val="20000"/>
              </a:spcBef>
              <a:spcAft>
                <a:spcPct val="0"/>
              </a:spcAft>
              <a:buChar char="»"/>
              <a:defRPr sz="2000" b="1">
                <a:solidFill>
                  <a:srgbClr val="000000"/>
                </a:solidFill>
                <a:latin typeface="Arial" panose="020B0604020202020204" pitchFamily="34" charset="0"/>
                <a:ea typeface="楷体_GB2312" charset="-122"/>
              </a:defRPr>
            </a:lvl9pPr>
          </a:lstStyle>
          <a:p>
            <a:pPr>
              <a:spcBef>
                <a:spcPct val="0"/>
              </a:spcBef>
              <a:buFontTx/>
              <a:buNone/>
            </a:pPr>
            <a:r>
              <a:rPr lang="zh-CN" altLang="en-US" sz="4000" b="0">
                <a:solidFill>
                  <a:srgbClr val="990000"/>
                </a:solidFill>
                <a:ea typeface="宋体" panose="02010600030101010101" pitchFamily="2" charset="-122"/>
              </a:rPr>
              <a:t>对吗</a:t>
            </a:r>
            <a:r>
              <a:rPr lang="en-US" altLang="zh-CN" sz="4000" b="0">
                <a:solidFill>
                  <a:srgbClr val="990000"/>
                </a:solidFill>
                <a:ea typeface="宋体" panose="02010600030101010101" pitchFamily="2" charset="-122"/>
              </a:rPr>
              <a:t>?</a:t>
            </a:r>
            <a:endParaRPr lang="en-US" altLang="zh-CN" sz="4000" b="0">
              <a:solidFill>
                <a:srgbClr val="990000"/>
              </a:solidFill>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ChangeArrowheads="1"/>
          </p:cNvSpPr>
          <p:nvPr>
            <p:ph type="title"/>
          </p:nvPr>
        </p:nvSpPr>
        <p:spPr/>
        <p:txBody>
          <a:bodyPr/>
          <a:lstStyle/>
          <a:p>
            <a:pPr eaLnBrk="1" hangingPunct="1"/>
            <a:r>
              <a:rPr lang="zh-CN" altLang="en-US" smtClean="0"/>
              <a:t>工程经济学特点</a:t>
            </a:r>
            <a:endParaRPr lang="zh-CN" altLang="en-US" smtClean="0"/>
          </a:p>
        </p:txBody>
      </p:sp>
      <p:sp>
        <p:nvSpPr>
          <p:cNvPr id="119811" name="Rectangle 3"/>
          <p:cNvSpPr>
            <a:spLocks noGrp="1" noChangeArrowheads="1"/>
          </p:cNvSpPr>
          <p:nvPr>
            <p:ph type="body" idx="1"/>
          </p:nvPr>
        </p:nvSpPr>
        <p:spPr>
          <a:xfrm>
            <a:off x="1778000" y="1465263"/>
            <a:ext cx="6832600" cy="4856162"/>
          </a:xfrm>
        </p:spPr>
        <p:txBody>
          <a:bodyPr/>
          <a:lstStyle/>
          <a:p>
            <a:pPr eaLnBrk="1" hangingPunct="1"/>
            <a:r>
              <a:rPr lang="zh-CN" altLang="en-US" smtClean="0"/>
              <a:t>综合性</a:t>
            </a:r>
            <a:endParaRPr lang="zh-CN" altLang="en-US" smtClean="0"/>
          </a:p>
          <a:p>
            <a:pPr eaLnBrk="1" hangingPunct="1"/>
            <a:r>
              <a:rPr lang="zh-CN" altLang="en-US" smtClean="0"/>
              <a:t>系统性</a:t>
            </a:r>
            <a:endParaRPr lang="zh-CN" altLang="en-US" smtClean="0"/>
          </a:p>
          <a:p>
            <a:pPr eaLnBrk="1" hangingPunct="1"/>
            <a:r>
              <a:rPr lang="zh-CN" altLang="en-US" smtClean="0"/>
              <a:t>定量性</a:t>
            </a:r>
            <a:endParaRPr lang="zh-CN" altLang="en-US" smtClean="0"/>
          </a:p>
          <a:p>
            <a:pPr eaLnBrk="1" hangingPunct="1"/>
            <a:r>
              <a:rPr lang="zh-CN" altLang="en-US" smtClean="0"/>
              <a:t>比较性</a:t>
            </a:r>
            <a:endParaRPr lang="zh-CN" altLang="en-US" smtClean="0"/>
          </a:p>
          <a:p>
            <a:pPr eaLnBrk="1" hangingPunct="1"/>
            <a:r>
              <a:rPr lang="zh-CN" altLang="en-US" smtClean="0"/>
              <a:t>预测性</a:t>
            </a:r>
            <a:endParaRPr lang="zh-CN" altLang="en-US" smtClean="0"/>
          </a:p>
          <a:p>
            <a:pPr eaLnBrk="1" hangingPunct="1"/>
            <a:r>
              <a:rPr lang="zh-CN" altLang="en-US" smtClean="0"/>
              <a:t>决策性</a:t>
            </a:r>
            <a:endParaRPr lang="zh-CN" altLang="en-US" smtClean="0"/>
          </a:p>
          <a:p>
            <a:pPr eaLnBrk="1" hangingPunct="1"/>
            <a:r>
              <a:rPr lang="zh-CN" altLang="en-US" smtClean="0"/>
              <a:t>使用性</a:t>
            </a:r>
            <a:endParaRPr lang="zh-CN" altLang="en-US" smtClean="0"/>
          </a:p>
        </p:txBody>
      </p:sp>
    </p:spTree>
  </p:cSld>
  <p:clrMapOvr>
    <a:masterClrMapping/>
  </p:clrMapOvr>
  <p:transition/>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ChangeArrowheads="1"/>
          </p:cNvSpPr>
          <p:nvPr>
            <p:ph type="title"/>
          </p:nvPr>
        </p:nvSpPr>
        <p:spPr/>
        <p:txBody>
          <a:bodyPr/>
          <a:lstStyle/>
          <a:p>
            <a:pPr eaLnBrk="1" hangingPunct="1"/>
            <a:r>
              <a:rPr lang="zh-CN" altLang="en-US" smtClean="0"/>
              <a:t>工程经济学基本原理</a:t>
            </a:r>
            <a:endParaRPr lang="zh-CN" altLang="en-US" smtClean="0">
              <a:solidFill>
                <a:srgbClr val="000099"/>
              </a:solidFill>
            </a:endParaRPr>
          </a:p>
        </p:txBody>
      </p:sp>
      <p:sp>
        <p:nvSpPr>
          <p:cNvPr id="120835" name="Rectangle 3"/>
          <p:cNvSpPr>
            <a:spLocks noGrp="1" noChangeArrowheads="1"/>
          </p:cNvSpPr>
          <p:nvPr>
            <p:ph type="body" idx="1"/>
          </p:nvPr>
        </p:nvSpPr>
        <p:spPr>
          <a:xfrm>
            <a:off x="552450" y="1373188"/>
            <a:ext cx="8039100" cy="5035550"/>
          </a:xfrm>
        </p:spPr>
        <p:txBody>
          <a:bodyPr/>
          <a:lstStyle/>
          <a:p>
            <a:pPr marL="685800" indent="-685800" eaLnBrk="1" hangingPunct="1">
              <a:lnSpc>
                <a:spcPct val="90000"/>
              </a:lnSpc>
              <a:buFont typeface="Wingdings" panose="05000000000000000000" pitchFamily="2" charset="2"/>
              <a:buAutoNum type="circleNumDbPlain"/>
            </a:pPr>
            <a:r>
              <a:rPr lang="zh-CN" altLang="en-US" sz="2800" smtClean="0">
                <a:solidFill>
                  <a:srgbClr val="000099"/>
                </a:solidFill>
              </a:rPr>
              <a:t>提出备选方案</a:t>
            </a:r>
            <a:endParaRPr lang="zh-CN" altLang="en-US" sz="2800" smtClean="0">
              <a:solidFill>
                <a:srgbClr val="000099"/>
              </a:solidFill>
            </a:endParaRPr>
          </a:p>
          <a:p>
            <a:pPr marL="685800" indent="-685800" eaLnBrk="1" hangingPunct="1">
              <a:lnSpc>
                <a:spcPct val="90000"/>
              </a:lnSpc>
              <a:buFont typeface="Wingdings" panose="05000000000000000000" pitchFamily="2" charset="2"/>
              <a:buAutoNum type="circleNumDbPlain"/>
            </a:pPr>
            <a:r>
              <a:rPr lang="zh-CN" altLang="en-US" sz="2800" smtClean="0">
                <a:solidFill>
                  <a:srgbClr val="000099"/>
                </a:solidFill>
              </a:rPr>
              <a:t>资金的时间价值原则</a:t>
            </a:r>
            <a:r>
              <a:rPr lang="en-US" altLang="zh-CN" sz="2800" smtClean="0">
                <a:solidFill>
                  <a:srgbClr val="000099"/>
                </a:solidFill>
              </a:rPr>
              <a:t>:</a:t>
            </a:r>
            <a:r>
              <a:rPr lang="zh-CN" altLang="en-US" sz="2800" smtClean="0">
                <a:solidFill>
                  <a:srgbClr val="000099"/>
                </a:solidFill>
              </a:rPr>
              <a:t>今天的一元钱比未来的一元钱更值钱。</a:t>
            </a:r>
            <a:endParaRPr lang="zh-CN" altLang="en-US" sz="2800" smtClean="0">
              <a:solidFill>
                <a:srgbClr val="000099"/>
              </a:solidFill>
            </a:endParaRPr>
          </a:p>
          <a:p>
            <a:pPr marL="685800" indent="-685800" eaLnBrk="1" hangingPunct="1">
              <a:lnSpc>
                <a:spcPct val="90000"/>
              </a:lnSpc>
              <a:buFont typeface="Wingdings" panose="05000000000000000000" pitchFamily="2" charset="2"/>
              <a:buAutoNum type="circleNumDbPlain"/>
            </a:pPr>
            <a:r>
              <a:rPr lang="zh-CN" altLang="en-US" sz="2800" smtClean="0">
                <a:solidFill>
                  <a:srgbClr val="000099"/>
                </a:solidFill>
              </a:rPr>
              <a:t>关注差异</a:t>
            </a:r>
            <a:endParaRPr lang="zh-CN" altLang="en-US" sz="2800" smtClean="0">
              <a:solidFill>
                <a:srgbClr val="000099"/>
              </a:solidFill>
            </a:endParaRPr>
          </a:p>
          <a:p>
            <a:pPr marL="685800" indent="-685800" eaLnBrk="1" hangingPunct="1">
              <a:lnSpc>
                <a:spcPct val="90000"/>
              </a:lnSpc>
              <a:buFont typeface="Wingdings" panose="05000000000000000000" pitchFamily="2" charset="2"/>
              <a:buAutoNum type="circleNumDbPlain"/>
            </a:pPr>
            <a:r>
              <a:rPr lang="zh-CN" altLang="en-US" sz="2800" smtClean="0">
                <a:solidFill>
                  <a:srgbClr val="000099"/>
                </a:solidFill>
              </a:rPr>
              <a:t>采用一惯的立场</a:t>
            </a:r>
            <a:endParaRPr lang="zh-CN" altLang="en-US" sz="2800" smtClean="0">
              <a:solidFill>
                <a:srgbClr val="000099"/>
              </a:solidFill>
            </a:endParaRPr>
          </a:p>
          <a:p>
            <a:pPr marL="685800" indent="-685800" eaLnBrk="1" hangingPunct="1">
              <a:lnSpc>
                <a:spcPct val="90000"/>
              </a:lnSpc>
              <a:buFont typeface="Wingdings" panose="05000000000000000000" pitchFamily="2" charset="2"/>
              <a:buAutoNum type="circleNumDbPlain"/>
            </a:pPr>
            <a:r>
              <a:rPr lang="zh-CN" altLang="en-US" sz="2800" smtClean="0">
                <a:solidFill>
                  <a:srgbClr val="000099"/>
                </a:solidFill>
              </a:rPr>
              <a:t>可比性原则</a:t>
            </a:r>
            <a:endParaRPr lang="zh-CN" altLang="en-US" sz="2800" smtClean="0">
              <a:solidFill>
                <a:srgbClr val="000099"/>
              </a:solidFill>
            </a:endParaRPr>
          </a:p>
          <a:p>
            <a:pPr marL="685800" indent="-685800" eaLnBrk="1" hangingPunct="1">
              <a:lnSpc>
                <a:spcPct val="90000"/>
              </a:lnSpc>
              <a:buFont typeface="Wingdings" panose="05000000000000000000" pitchFamily="2" charset="2"/>
              <a:buAutoNum type="circleNumDbPlain"/>
            </a:pPr>
            <a:r>
              <a:rPr lang="zh-CN" altLang="en-US" sz="2800" smtClean="0">
                <a:solidFill>
                  <a:srgbClr val="000099"/>
                </a:solidFill>
              </a:rPr>
              <a:t>考虑所有相关标准</a:t>
            </a:r>
            <a:endParaRPr lang="zh-CN" altLang="en-US" sz="2800" i="1" smtClean="0">
              <a:solidFill>
                <a:srgbClr val="000099"/>
              </a:solidFill>
            </a:endParaRPr>
          </a:p>
          <a:p>
            <a:pPr marL="685800" indent="-685800" eaLnBrk="1" hangingPunct="1">
              <a:lnSpc>
                <a:spcPct val="90000"/>
              </a:lnSpc>
              <a:buFont typeface="Wingdings" panose="05000000000000000000" pitchFamily="2" charset="2"/>
              <a:buAutoNum type="circleNumDbPlain"/>
            </a:pPr>
            <a:r>
              <a:rPr lang="zh-CN" altLang="en-US" sz="2800" smtClean="0">
                <a:solidFill>
                  <a:srgbClr val="000099"/>
                </a:solidFill>
              </a:rPr>
              <a:t>增量分析原则</a:t>
            </a:r>
            <a:r>
              <a:rPr lang="en-US" altLang="zh-CN" sz="2800" smtClean="0">
                <a:solidFill>
                  <a:srgbClr val="000099"/>
                </a:solidFill>
              </a:rPr>
              <a:t>: </a:t>
            </a:r>
            <a:r>
              <a:rPr lang="zh-CN" altLang="en-US" sz="2800" i="1" smtClean="0">
                <a:solidFill>
                  <a:srgbClr val="000099"/>
                </a:solidFill>
              </a:rPr>
              <a:t>边际效益必须大于边际成本</a:t>
            </a:r>
            <a:endParaRPr lang="zh-CN" altLang="en-US" sz="2800" i="1" smtClean="0">
              <a:solidFill>
                <a:srgbClr val="000099"/>
              </a:solidFill>
            </a:endParaRPr>
          </a:p>
          <a:p>
            <a:pPr marL="685800" indent="-685800" eaLnBrk="1" hangingPunct="1">
              <a:lnSpc>
                <a:spcPct val="90000"/>
              </a:lnSpc>
              <a:buFont typeface="Wingdings" panose="05000000000000000000" pitchFamily="2" charset="2"/>
              <a:buAutoNum type="circleNumDbPlain"/>
            </a:pPr>
            <a:r>
              <a:rPr lang="zh-CN" altLang="en-US" sz="2800" smtClean="0">
                <a:solidFill>
                  <a:srgbClr val="000099"/>
                </a:solidFill>
              </a:rPr>
              <a:t>使不确定明晰化</a:t>
            </a:r>
            <a:endParaRPr lang="zh-CN" altLang="en-US" sz="2800" smtClean="0">
              <a:solidFill>
                <a:srgbClr val="000099"/>
              </a:solidFill>
            </a:endParaRPr>
          </a:p>
          <a:p>
            <a:pPr marL="685800" indent="-685800" eaLnBrk="1" hangingPunct="1">
              <a:lnSpc>
                <a:spcPct val="90000"/>
              </a:lnSpc>
              <a:buFont typeface="Wingdings" panose="05000000000000000000" pitchFamily="2" charset="2"/>
              <a:buAutoNum type="circleNumDbPlain"/>
            </a:pPr>
            <a:r>
              <a:rPr lang="zh-CN" altLang="en-US" sz="2800" smtClean="0">
                <a:solidFill>
                  <a:srgbClr val="000099"/>
                </a:solidFill>
              </a:rPr>
              <a:t>风险收益的权衡原则</a:t>
            </a:r>
            <a:endParaRPr lang="zh-CN" altLang="en-US" sz="2800" smtClean="0">
              <a:solidFill>
                <a:srgbClr val="000099"/>
              </a:solidFill>
            </a:endParaRPr>
          </a:p>
          <a:p>
            <a:pPr marL="685800" indent="-685800" eaLnBrk="1" hangingPunct="1">
              <a:lnSpc>
                <a:spcPct val="90000"/>
              </a:lnSpc>
              <a:buFont typeface="Wingdings" panose="05000000000000000000" pitchFamily="2" charset="2"/>
              <a:buAutoNum type="circleNumDbPlain"/>
            </a:pPr>
            <a:r>
              <a:rPr lang="en-US" altLang="zh-CN" sz="2800" smtClean="0">
                <a:solidFill>
                  <a:srgbClr val="000099"/>
                </a:solidFill>
              </a:rPr>
              <a:t> </a:t>
            </a:r>
            <a:r>
              <a:rPr lang="zh-CN" altLang="en-US" sz="2800" smtClean="0">
                <a:solidFill>
                  <a:srgbClr val="000099"/>
                </a:solidFill>
              </a:rPr>
              <a:t>项目后评估</a:t>
            </a:r>
            <a:endParaRPr lang="zh-CN" altLang="en-US" sz="2800" smtClean="0">
              <a:solidFill>
                <a:srgbClr val="000099"/>
              </a:solidFill>
            </a:endParaRPr>
          </a:p>
          <a:p>
            <a:pPr marL="685800" indent="-685800" eaLnBrk="1" hangingPunct="1">
              <a:lnSpc>
                <a:spcPct val="90000"/>
              </a:lnSpc>
            </a:pPr>
            <a:endParaRPr lang="zh-CN" altLang="en-US" sz="2800" smtClean="0">
              <a:solidFill>
                <a:srgbClr val="000099"/>
              </a:solidFill>
            </a:endParaRPr>
          </a:p>
        </p:txBody>
      </p:sp>
    </p:spTree>
  </p:cSld>
  <p:clrMapOvr>
    <a:masterClrMapping/>
  </p:clrMapOvr>
  <p:transition/>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ChangeArrowheads="1"/>
          </p:cNvSpPr>
          <p:nvPr>
            <p:ph type="title"/>
          </p:nvPr>
        </p:nvSpPr>
        <p:spPr/>
        <p:txBody>
          <a:bodyPr/>
          <a:lstStyle/>
          <a:p>
            <a:pPr eaLnBrk="1" hangingPunct="1"/>
            <a:r>
              <a:rPr lang="zh-CN" altLang="en-US" smtClean="0"/>
              <a:t>本课程的基本内容</a:t>
            </a:r>
            <a:endParaRPr lang="zh-CN" altLang="en-US" smtClean="0"/>
          </a:p>
        </p:txBody>
      </p:sp>
      <p:sp>
        <p:nvSpPr>
          <p:cNvPr id="101379" name="Rectangle 3"/>
          <p:cNvSpPr>
            <a:spLocks noGrp="1" noChangeArrowheads="1"/>
          </p:cNvSpPr>
          <p:nvPr>
            <p:ph type="body" idx="1"/>
          </p:nvPr>
        </p:nvSpPr>
        <p:spPr>
          <a:xfrm>
            <a:off x="317500" y="1397000"/>
            <a:ext cx="8556625" cy="4686300"/>
          </a:xfrm>
        </p:spPr>
        <p:txBody>
          <a:bodyPr/>
          <a:lstStyle/>
          <a:p>
            <a:pPr marL="0" indent="0" eaLnBrk="1" hangingPunct="1">
              <a:lnSpc>
                <a:spcPct val="90000"/>
              </a:lnSpc>
              <a:buFontTx/>
              <a:buNone/>
              <a:defRPr/>
            </a:pPr>
            <a:r>
              <a:rPr lang="en-US" altLang="zh-CN" sz="3500" dirty="0"/>
              <a:t>1. </a:t>
            </a:r>
            <a:r>
              <a:rPr lang="zh-CN" altLang="en-US" sz="3500" dirty="0"/>
              <a:t>成本和收益</a:t>
            </a:r>
            <a:endParaRPr lang="zh-CN" altLang="en-US" sz="3500" dirty="0"/>
          </a:p>
          <a:p>
            <a:pPr marL="0" indent="0" eaLnBrk="1" hangingPunct="1">
              <a:lnSpc>
                <a:spcPct val="90000"/>
              </a:lnSpc>
              <a:buFontTx/>
              <a:buNone/>
              <a:defRPr/>
            </a:pPr>
            <a:r>
              <a:rPr lang="en-US" altLang="zh-CN" sz="3500" dirty="0"/>
              <a:t>2. </a:t>
            </a:r>
            <a:r>
              <a:rPr lang="zh-CN" altLang="en-US" sz="3500" dirty="0"/>
              <a:t>资金的时间价值，现金流量计算</a:t>
            </a:r>
            <a:endParaRPr lang="zh-CN" altLang="en-US" sz="3500" dirty="0"/>
          </a:p>
          <a:p>
            <a:pPr marL="0" indent="0" eaLnBrk="1" hangingPunct="1">
              <a:lnSpc>
                <a:spcPct val="90000"/>
              </a:lnSpc>
              <a:buFontTx/>
              <a:buNone/>
              <a:defRPr/>
            </a:pPr>
            <a:r>
              <a:rPr lang="en-US" altLang="zh-CN" sz="3500" dirty="0"/>
              <a:t>3. </a:t>
            </a:r>
            <a:r>
              <a:rPr lang="zh-CN" altLang="en-US" sz="3500" dirty="0"/>
              <a:t>经济评价方法和准则</a:t>
            </a:r>
            <a:endParaRPr lang="zh-CN" altLang="en-US" sz="3500" dirty="0"/>
          </a:p>
          <a:p>
            <a:pPr marL="457200" lvl="1" indent="0" eaLnBrk="1" hangingPunct="1">
              <a:lnSpc>
                <a:spcPct val="90000"/>
              </a:lnSpc>
              <a:buFontTx/>
              <a:buNone/>
              <a:defRPr/>
            </a:pPr>
            <a:r>
              <a:rPr lang="zh-CN" altLang="en-US" sz="2800" dirty="0"/>
              <a:t>静态、动态</a:t>
            </a:r>
            <a:endParaRPr lang="zh-CN" altLang="en-US" sz="2800" dirty="0"/>
          </a:p>
          <a:p>
            <a:pPr marL="457200" lvl="1" indent="0" eaLnBrk="1" hangingPunct="1">
              <a:lnSpc>
                <a:spcPct val="90000"/>
              </a:lnSpc>
              <a:buFontTx/>
              <a:buNone/>
              <a:defRPr/>
            </a:pPr>
            <a:r>
              <a:rPr lang="zh-CN" altLang="en-US" sz="2800" dirty="0"/>
              <a:t>单方案、多方案</a:t>
            </a:r>
            <a:endParaRPr lang="zh-CN" altLang="en-US" sz="2800" dirty="0"/>
          </a:p>
          <a:p>
            <a:pPr marL="0" indent="0" eaLnBrk="1" hangingPunct="1">
              <a:lnSpc>
                <a:spcPct val="90000"/>
              </a:lnSpc>
              <a:buFontTx/>
              <a:buNone/>
              <a:defRPr/>
            </a:pPr>
            <a:r>
              <a:rPr lang="en-US" altLang="zh-CN" sz="3500" dirty="0"/>
              <a:t>4. </a:t>
            </a:r>
            <a:r>
              <a:rPr lang="zh-CN" altLang="en-US" sz="3500" dirty="0"/>
              <a:t>风险和不确定性分析</a:t>
            </a:r>
            <a:endParaRPr lang="zh-CN" altLang="en-US" sz="3500" dirty="0"/>
          </a:p>
          <a:p>
            <a:pPr marL="0" indent="0" eaLnBrk="1" hangingPunct="1">
              <a:lnSpc>
                <a:spcPct val="90000"/>
              </a:lnSpc>
              <a:buFontTx/>
              <a:buNone/>
              <a:defRPr/>
            </a:pPr>
            <a:r>
              <a:rPr lang="en-US" altLang="zh-CN" sz="3500" dirty="0"/>
              <a:t>5. </a:t>
            </a:r>
            <a:r>
              <a:rPr lang="zh-CN" altLang="en-US" sz="3500" dirty="0"/>
              <a:t>财务报表（以现金流量表为重点）</a:t>
            </a:r>
            <a:endParaRPr lang="zh-CN" altLang="en-US" sz="3500" dirty="0"/>
          </a:p>
          <a:p>
            <a:pPr marL="0" indent="0" eaLnBrk="1" hangingPunct="1">
              <a:lnSpc>
                <a:spcPct val="90000"/>
              </a:lnSpc>
              <a:buFontTx/>
              <a:buNone/>
              <a:defRPr/>
            </a:pPr>
            <a:r>
              <a:rPr lang="en-US" altLang="zh-CN" sz="3500" dirty="0"/>
              <a:t>6.</a:t>
            </a:r>
            <a:r>
              <a:rPr lang="zh-CN" altLang="en-US" sz="3500" dirty="0"/>
              <a:t>价值工程 </a:t>
            </a:r>
            <a:endParaRPr lang="zh-CN" altLang="en-US" sz="3500" dirty="0"/>
          </a:p>
          <a:p>
            <a:pPr marL="0" indent="0" eaLnBrk="1" hangingPunct="1">
              <a:lnSpc>
                <a:spcPct val="90000"/>
              </a:lnSpc>
              <a:buFontTx/>
              <a:buNone/>
              <a:defRPr/>
            </a:pPr>
            <a:r>
              <a:rPr lang="en-US" altLang="zh-CN" sz="3500" dirty="0"/>
              <a:t>7.</a:t>
            </a:r>
            <a:r>
              <a:rPr lang="zh-CN" altLang="en-US" sz="3500" dirty="0"/>
              <a:t>项目可行性研究</a:t>
            </a:r>
            <a:endParaRPr lang="zh-CN" altLang="en-US" sz="3500" dirty="0"/>
          </a:p>
          <a:p>
            <a:pPr eaLnBrk="1" hangingPunct="1">
              <a:lnSpc>
                <a:spcPct val="90000"/>
              </a:lnSpc>
              <a:defRPr/>
            </a:pPr>
            <a:endParaRPr lang="zh-CN" altLang="en-US" dirty="0"/>
          </a:p>
          <a:p>
            <a:pPr eaLnBrk="1" hangingPunct="1">
              <a:lnSpc>
                <a:spcPct val="90000"/>
              </a:lnSpc>
              <a:defRPr/>
            </a:pPr>
            <a:endParaRPr lang="zh-CN" altLang="en-US" sz="3200" dirty="0"/>
          </a:p>
        </p:txBody>
      </p:sp>
    </p:spTree>
  </p:cSld>
  <p:clrMapOvr>
    <a:masterClrMapping/>
  </p:clrMapOvr>
  <p:transition/>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ChangeArrowheads="1"/>
          </p:cNvSpPr>
          <p:nvPr>
            <p:ph type="title"/>
          </p:nvPr>
        </p:nvSpPr>
        <p:spPr/>
        <p:txBody>
          <a:bodyPr/>
          <a:lstStyle/>
          <a:p>
            <a:pPr algn="ctr" eaLnBrk="1" hangingPunct="1"/>
            <a:r>
              <a:rPr lang="zh-CN" altLang="en-US" sz="5400" smtClean="0"/>
              <a:t>结论</a:t>
            </a:r>
            <a:endParaRPr lang="zh-CN" altLang="en-US" sz="5400" smtClean="0"/>
          </a:p>
        </p:txBody>
      </p:sp>
      <p:sp>
        <p:nvSpPr>
          <p:cNvPr id="122883" name="Rectangle 3"/>
          <p:cNvSpPr>
            <a:spLocks noGrp="1" noChangeArrowheads="1"/>
          </p:cNvSpPr>
          <p:nvPr>
            <p:ph type="body" idx="1"/>
          </p:nvPr>
        </p:nvSpPr>
        <p:spPr>
          <a:xfrm>
            <a:off x="750888" y="1576388"/>
            <a:ext cx="7642225" cy="4491037"/>
          </a:xfrm>
        </p:spPr>
        <p:txBody>
          <a:bodyPr/>
          <a:lstStyle/>
          <a:p>
            <a:pPr marL="0" indent="0" eaLnBrk="1" hangingPunct="1">
              <a:buFontTx/>
              <a:buNone/>
            </a:pPr>
            <a:r>
              <a:rPr lang="zh-CN" altLang="en-US" sz="4400" smtClean="0">
                <a:solidFill>
                  <a:srgbClr val="CD5134"/>
                </a:solidFill>
              </a:rPr>
              <a:t>工程经济学是全球可持续发展问题研究基础：</a:t>
            </a:r>
            <a:endParaRPr lang="zh-CN" altLang="en-US" sz="4400" smtClean="0">
              <a:solidFill>
                <a:srgbClr val="CD5134"/>
              </a:solidFill>
            </a:endParaRPr>
          </a:p>
          <a:p>
            <a:pPr marL="0" indent="0" eaLnBrk="1" hangingPunct="1">
              <a:buFontTx/>
              <a:buNone/>
            </a:pPr>
            <a:r>
              <a:rPr lang="zh-CN" altLang="en-US" sz="4400" smtClean="0"/>
              <a:t>工程项目</a:t>
            </a:r>
            <a:r>
              <a:rPr lang="en-US" altLang="zh-CN" sz="4400" smtClean="0"/>
              <a:t>—</a:t>
            </a:r>
            <a:r>
              <a:rPr lang="zh-CN" altLang="en-US" sz="4400" smtClean="0"/>
              <a:t>经济</a:t>
            </a:r>
            <a:r>
              <a:rPr lang="en-US" altLang="zh-CN" sz="4400" smtClean="0"/>
              <a:t>—</a:t>
            </a:r>
            <a:r>
              <a:rPr lang="zh-CN" altLang="en-US" sz="4400" smtClean="0"/>
              <a:t>资源</a:t>
            </a:r>
            <a:r>
              <a:rPr lang="en-US" altLang="zh-CN" sz="4400" smtClean="0"/>
              <a:t>(</a:t>
            </a:r>
            <a:r>
              <a:rPr lang="zh-CN" altLang="en-US" sz="4400" smtClean="0"/>
              <a:t>土地</a:t>
            </a:r>
            <a:r>
              <a:rPr lang="en-US" altLang="zh-CN" sz="4400" smtClean="0"/>
              <a:t>/</a:t>
            </a:r>
            <a:r>
              <a:rPr lang="zh-CN" altLang="en-US" sz="4400" smtClean="0"/>
              <a:t>水</a:t>
            </a:r>
            <a:r>
              <a:rPr lang="en-US" altLang="zh-CN" sz="4400" smtClean="0"/>
              <a:t>/</a:t>
            </a:r>
            <a:r>
              <a:rPr lang="zh-CN" altLang="en-US" sz="4400" smtClean="0"/>
              <a:t>能源</a:t>
            </a:r>
            <a:r>
              <a:rPr lang="en-US" altLang="zh-CN" sz="4400" smtClean="0"/>
              <a:t>/</a:t>
            </a:r>
            <a:r>
              <a:rPr lang="zh-CN" altLang="en-US" sz="4400" smtClean="0"/>
              <a:t>原材料</a:t>
            </a:r>
            <a:r>
              <a:rPr lang="en-US" altLang="zh-CN" sz="4400" smtClean="0"/>
              <a:t>) —</a:t>
            </a:r>
            <a:r>
              <a:rPr lang="zh-CN" altLang="en-US" sz="4400" smtClean="0"/>
              <a:t>生态与环境</a:t>
            </a:r>
            <a:r>
              <a:rPr lang="en-US" altLang="zh-CN" sz="4400" smtClean="0"/>
              <a:t>—</a:t>
            </a:r>
            <a:r>
              <a:rPr lang="zh-CN" altLang="en-US" sz="4400" smtClean="0"/>
              <a:t>社会间关系</a:t>
            </a:r>
            <a:endParaRPr lang="zh-CN" altLang="en-US" sz="4400" smtClean="0"/>
          </a:p>
        </p:txBody>
      </p:sp>
    </p:spTree>
  </p:cSld>
  <p:clrMapOvr>
    <a:masterClrMapping/>
  </p:clrMapOvr>
  <p:transition/>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8561" y="243975"/>
            <a:ext cx="6993644" cy="686246"/>
          </a:xfrm>
          <a:prstGeom prst="rect">
            <a:avLst/>
          </a:prstGeom>
        </p:spPr>
        <p:txBody>
          <a:bodyPr vert="horz" wrap="square" lIns="0" tIns="9049" rIns="0" bIns="0" numCol="1" rtlCol="0" anchor="ctr" anchorCtr="0" compatLnSpc="1">
            <a:spAutoFit/>
          </a:bodyPr>
          <a:lstStyle/>
          <a:p>
            <a:pPr marL="9525">
              <a:spcBef>
                <a:spcPts val="70"/>
              </a:spcBef>
            </a:pPr>
            <a:r>
              <a:rPr lang="zh-CN" altLang="en-US" spc="-4" dirty="0" smtClean="0">
                <a:latin typeface="微软雅黑" panose="020B0503020204020204" charset="-122"/>
                <a:ea typeface="微软雅黑" panose="020B0503020204020204" charset="-122"/>
              </a:rPr>
              <a:t>碳</a:t>
            </a:r>
            <a:r>
              <a:rPr lang="zh-CN" altLang="en-US" spc="-4" dirty="0">
                <a:latin typeface="微软雅黑" panose="020B0503020204020204" charset="-122"/>
                <a:ea typeface="微软雅黑" panose="020B0503020204020204" charset="-122"/>
              </a:rPr>
              <a:t>达峰与碳中和</a:t>
            </a:r>
            <a:endParaRPr spc="-4" dirty="0">
              <a:latin typeface="微软雅黑" panose="020B0503020204020204" charset="-122"/>
              <a:ea typeface="微软雅黑" panose="020B0503020204020204" charset="-122"/>
            </a:endParaRPr>
          </a:p>
        </p:txBody>
      </p:sp>
      <p:grpSp>
        <p:nvGrpSpPr>
          <p:cNvPr id="7" name="组合 6"/>
          <p:cNvGrpSpPr/>
          <p:nvPr/>
        </p:nvGrpSpPr>
        <p:grpSpPr>
          <a:xfrm>
            <a:off x="857015" y="1467967"/>
            <a:ext cx="6611288" cy="3922065"/>
            <a:chOff x="73110" y="2425031"/>
            <a:chExt cx="6611288" cy="3922065"/>
          </a:xfrm>
        </p:grpSpPr>
        <p:pic>
          <p:nvPicPr>
            <p:cNvPr id="8" name="内容占位符 12"/>
            <p:cNvPicPr>
              <a:picLocks noChangeAspect="1"/>
            </p:cNvPicPr>
            <p:nvPr/>
          </p:nvPicPr>
          <p:blipFill>
            <a:blip r:embed="rId1"/>
            <a:stretch>
              <a:fillRect/>
            </a:stretch>
          </p:blipFill>
          <p:spPr>
            <a:xfrm>
              <a:off x="73110" y="2425031"/>
              <a:ext cx="6611288" cy="3922065"/>
            </a:xfrm>
            <a:prstGeom prst="rect">
              <a:avLst/>
            </a:prstGeom>
          </p:spPr>
        </p:pic>
        <p:sp>
          <p:nvSpPr>
            <p:cNvPr id="4" name="矩形 3"/>
            <p:cNvSpPr/>
            <p:nvPr/>
          </p:nvSpPr>
          <p:spPr bwMode="auto">
            <a:xfrm>
              <a:off x="3645383" y="3244678"/>
              <a:ext cx="881449" cy="368643"/>
            </a:xfrm>
            <a:prstGeom prst="rect">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0" fontAlgn="base" latinLnBrk="0" hangingPunct="0">
                <a:lnSpc>
                  <a:spcPct val="100000"/>
                </a:lnSpc>
                <a:spcBef>
                  <a:spcPct val="0"/>
                </a:spcBef>
                <a:spcAft>
                  <a:spcPct val="0"/>
                </a:spcAft>
                <a:buClrTx/>
                <a:buSzTx/>
                <a:buFontTx/>
                <a:buNone/>
              </a:pPr>
              <a:endParaRPr kumimoji="0" lang="zh-CN" altLang="en-US" sz="2400" b="0" i="0" u="none" strike="noStrike" cap="none" normalizeH="0" baseline="0" smtClean="0">
                <a:ln>
                  <a:noFill/>
                </a:ln>
                <a:solidFill>
                  <a:schemeClr val="tx1"/>
                </a:solidFill>
                <a:effectLst/>
                <a:latin typeface="Arial" panose="020B0604020202020204" pitchFamily="34" charset="0"/>
              </a:endParaRPr>
            </a:p>
          </p:txBody>
        </p:sp>
      </p:grpSp>
      <p:sp>
        <p:nvSpPr>
          <p:cNvPr id="6" name="矩形 5"/>
          <p:cNvSpPr/>
          <p:nvPr/>
        </p:nvSpPr>
        <p:spPr>
          <a:xfrm>
            <a:off x="469837" y="5577800"/>
            <a:ext cx="8484693" cy="707886"/>
          </a:xfrm>
          <a:prstGeom prst="rect">
            <a:avLst/>
          </a:prstGeom>
        </p:spPr>
        <p:txBody>
          <a:bodyPr wrap="square">
            <a:spAutoFit/>
          </a:bodyPr>
          <a:lstStyle/>
          <a:p>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rPr>
              <a:t>我国火电平均发电煤耗约</a:t>
            </a:r>
            <a:r>
              <a:rPr lang="en-US" altLang="zh-CN" sz="2000" b="1" dirty="0">
                <a:solidFill>
                  <a:srgbClr val="C00000"/>
                </a:solidFill>
                <a:latin typeface="微软雅黑" panose="020B0503020204020204" charset="-122"/>
                <a:ea typeface="微软雅黑" panose="020B0503020204020204" charset="-122"/>
                <a:cs typeface="微软雅黑" panose="020B0503020204020204" charset="-122"/>
              </a:rPr>
              <a:t>370g/ (kWh) </a:t>
            </a: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rPr>
              <a:t>，每吨标准煤产生</a:t>
            </a:r>
            <a:r>
              <a:rPr lang="en-US" altLang="zh-CN" sz="2000" b="1" dirty="0">
                <a:solidFill>
                  <a:srgbClr val="C00000"/>
                </a:solidFill>
                <a:latin typeface="微软雅黑" panose="020B0503020204020204" charset="-122"/>
                <a:ea typeface="微软雅黑" panose="020B0503020204020204" charset="-122"/>
                <a:cs typeface="微软雅黑" panose="020B0503020204020204" charset="-122"/>
              </a:rPr>
              <a:t>0.67t</a:t>
            </a:r>
            <a:r>
              <a:rPr lang="zh-CN" altLang="en-US" sz="2000" b="1" dirty="0">
                <a:solidFill>
                  <a:srgbClr val="C00000"/>
                </a:solidFill>
                <a:latin typeface="微软雅黑" panose="020B0503020204020204" charset="-122"/>
                <a:ea typeface="微软雅黑" panose="020B0503020204020204" charset="-122"/>
                <a:cs typeface="微软雅黑" panose="020B0503020204020204" charset="-122"/>
              </a:rPr>
              <a:t>碳，折合二氧化碳排放量约为</a:t>
            </a:r>
            <a:r>
              <a:rPr lang="en-US" altLang="zh-CN" sz="2000" b="1" dirty="0">
                <a:solidFill>
                  <a:srgbClr val="C00000"/>
                </a:solidFill>
                <a:latin typeface="微软雅黑" panose="020B0503020204020204" charset="-122"/>
                <a:ea typeface="微软雅黑" panose="020B0503020204020204" charset="-122"/>
                <a:cs typeface="微软雅黑" panose="020B0503020204020204" charset="-122"/>
              </a:rPr>
              <a:t>2.457t</a:t>
            </a:r>
            <a:r>
              <a:rPr lang="zh-CN" altLang="en-US" sz="2000" b="1" smtClean="0">
                <a:solidFill>
                  <a:srgbClr val="C00000"/>
                </a:solidFill>
                <a:latin typeface="微软雅黑" panose="020B0503020204020204" charset="-122"/>
                <a:ea typeface="微软雅黑" panose="020B0503020204020204" charset="-122"/>
                <a:cs typeface="微软雅黑" panose="020B0503020204020204" charset="-122"/>
              </a:rPr>
              <a:t>。水电将发挥关键减碳作用。</a:t>
            </a:r>
            <a:endParaRPr lang="zh-CN" altLang="en-US" sz="2000" dirty="0"/>
          </a:p>
        </p:txBody>
      </p:sp>
    </p:spTree>
  </p:cSld>
  <p:clrMapOvr>
    <a:masterClrMapping/>
  </p:clrMapOvr>
  <p:transition/>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3"/>
          <p:cNvSpPr>
            <a:spLocks noGrp="1" noChangeArrowheads="1"/>
          </p:cNvSpPr>
          <p:nvPr>
            <p:ph type="body" idx="1"/>
          </p:nvPr>
        </p:nvSpPr>
        <p:spPr/>
        <p:txBody>
          <a:bodyPr/>
          <a:lstStyle/>
          <a:p>
            <a:pPr algn="ctr" eaLnBrk="1" hangingPunct="1">
              <a:buFontTx/>
              <a:buNone/>
            </a:pPr>
            <a:r>
              <a:rPr lang="en-US" altLang="zh-CN" sz="9600" i="1" smtClean="0">
                <a:solidFill>
                  <a:schemeClr val="accent2"/>
                </a:solidFill>
              </a:rPr>
              <a:t>Question?</a:t>
            </a:r>
            <a:endParaRPr lang="en-US" altLang="zh-CN" sz="9600" i="1" smtClean="0">
              <a:solidFill>
                <a:schemeClr val="accent2"/>
              </a:solidFill>
            </a:endParaRPr>
          </a:p>
          <a:p>
            <a:pPr eaLnBrk="1" hangingPunct="1"/>
            <a:endParaRPr lang="zh-CN" altLang="en-US" smtClean="0"/>
          </a:p>
        </p:txBody>
      </p:sp>
    </p:spTree>
  </p:cSld>
  <p:clrMapOvr>
    <a:masterClrMapping/>
  </p:clrMapOvr>
  <p:transition/>
  <p:timing>
    <p:tnLst>
      <p:par>
        <p:cTn id="1" dur="indefinite" restart="never" nodeType="tmRoot"/>
      </p:par>
    </p:tnLst>
  </p:timing>
</p:sld>
</file>

<file path=ppt/tags/tag1.xml><?xml version="1.0" encoding="utf-8"?>
<p:tagLst xmlns:p="http://schemas.openxmlformats.org/presentationml/2006/main">
  <p:tag name="COMMONDATA" val="eyJoZGlkIjoiOTI0OWQxZGJjNDE2MzIxNDlmMGQ4ZDUyYzcyZTE1MzkifQ=="/>
</p:tagLst>
</file>

<file path=ppt/theme/theme1.xml><?xml version="1.0" encoding="utf-8"?>
<a:theme xmlns:a="http://schemas.openxmlformats.org/drawingml/2006/main" name="Blank Presentation">
  <a:themeElements>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fontScheme name="Blank Presentation">
      <a:majorFont>
        <a:latin typeface="Arial"/>
        <a:ea typeface="楷体_GB2312"/>
        <a:cs typeface=""/>
      </a:majorFont>
      <a:minorFont>
        <a:latin typeface="Arial"/>
        <a:ea typeface="楷体_GB2312"/>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11877</Words>
  <Application>WPS 演示</Application>
  <PresentationFormat>全屏显示(4:3)</PresentationFormat>
  <Paragraphs>1068</Paragraphs>
  <Slides>112</Slides>
  <Notes>33</Notes>
  <HiddenSlides>0</HiddenSlides>
  <MMClips>2</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3</vt:i4>
      </vt:variant>
      <vt:variant>
        <vt:lpstr>幻灯片标题</vt:lpstr>
      </vt:variant>
      <vt:variant>
        <vt:i4>112</vt:i4>
      </vt:variant>
    </vt:vector>
  </HeadingPairs>
  <TitlesOfParts>
    <vt:vector size="134" baseType="lpstr">
      <vt:lpstr>Arial</vt:lpstr>
      <vt:lpstr>宋体</vt:lpstr>
      <vt:lpstr>Wingdings</vt:lpstr>
      <vt:lpstr>楷体_GB2312</vt:lpstr>
      <vt:lpstr>新宋体</vt:lpstr>
      <vt:lpstr>Times</vt:lpstr>
      <vt:lpstr>楷体_GB2312</vt:lpstr>
      <vt:lpstr>微软雅黑</vt:lpstr>
      <vt:lpstr>Times New Roman</vt:lpstr>
      <vt:lpstr>Times</vt:lpstr>
      <vt:lpstr>Arial Unicode MS</vt:lpstr>
      <vt:lpstr>Arial</vt:lpstr>
      <vt:lpstr>Verdana</vt:lpstr>
      <vt:lpstr>黑体</vt:lpstr>
      <vt:lpstr>隶书</vt:lpstr>
      <vt:lpstr>Wingdings 3</vt:lpstr>
      <vt:lpstr>仿宋</vt:lpstr>
      <vt:lpstr>楷体_GB2312</vt:lpstr>
      <vt:lpstr>Blank Presentation</vt:lpstr>
      <vt:lpstr>Word.Document.8</vt:lpstr>
      <vt:lpstr>Word.Picture.8</vt:lpstr>
      <vt:lpstr>Word.Document.8</vt:lpstr>
      <vt:lpstr>工程经济学  绪论</vt:lpstr>
      <vt:lpstr>  联系方式</vt:lpstr>
      <vt:lpstr>本讲的内容</vt:lpstr>
      <vt:lpstr>考核方式</vt:lpstr>
      <vt:lpstr>教科书和参考书</vt:lpstr>
      <vt:lpstr>本讲的内容</vt:lpstr>
      <vt:lpstr>工程经济学起源</vt:lpstr>
      <vt:lpstr>学什么？</vt:lpstr>
      <vt:lpstr>“工程经济活动”的概念</vt:lpstr>
      <vt:lpstr>更多的感性认识…</vt:lpstr>
      <vt:lpstr>三峡工程 </vt:lpstr>
      <vt:lpstr>三峡工程概况 </vt:lpstr>
      <vt:lpstr>PowerPoint 演示文稿</vt:lpstr>
      <vt:lpstr>PowerPoint 演示文稿</vt:lpstr>
      <vt:lpstr>PowerPoint 演示文稿</vt:lpstr>
      <vt:lpstr>PowerPoint 演示文稿</vt:lpstr>
      <vt:lpstr>PowerPoint 演示文稿</vt:lpstr>
      <vt:lpstr>PowerPoint 演示文稿</vt:lpstr>
      <vt:lpstr>世界之最 </vt:lpstr>
      <vt:lpstr>三峡总公司成立</vt:lpstr>
      <vt:lpstr>投资概算</vt:lpstr>
      <vt:lpstr>三峡总公司战略定位</vt:lpstr>
      <vt:lpstr>三峡总公司理念</vt:lpstr>
      <vt:lpstr>PowerPoint 演示文稿</vt:lpstr>
      <vt:lpstr>核心竞争力 </vt:lpstr>
      <vt:lpstr>三峡总公司资产</vt:lpstr>
      <vt:lpstr>三峡总公司规模</vt:lpstr>
      <vt:lpstr>“南方水多，北方水少，如有可能，借一点来是可以的。”              ——毛泽东（1952）</vt:lpstr>
      <vt:lpstr>中线工程</vt:lpstr>
      <vt:lpstr>中线工程</vt:lpstr>
      <vt:lpstr>中线工程</vt:lpstr>
      <vt:lpstr>中线工程</vt:lpstr>
      <vt:lpstr>中线工程（技术问题）</vt:lpstr>
      <vt:lpstr>PowerPoint 演示文稿</vt:lpstr>
      <vt:lpstr>PowerPoint 演示文稿</vt:lpstr>
      <vt:lpstr>东线工程（环境问题）</vt:lpstr>
      <vt:lpstr>南水北调东线工程</vt:lpstr>
      <vt:lpstr>南水北调东线工程</vt:lpstr>
      <vt:lpstr>南水北调东线工程</vt:lpstr>
      <vt:lpstr>南水北调东线工程</vt:lpstr>
      <vt:lpstr>南水北调东线工程</vt:lpstr>
      <vt:lpstr>南水北调东线工程</vt:lpstr>
      <vt:lpstr>南水北调东线工程</vt:lpstr>
      <vt:lpstr>南水北调东线工程</vt:lpstr>
      <vt:lpstr>西线工程（生态问题）</vt:lpstr>
      <vt:lpstr>天河工程</vt:lpstr>
      <vt:lpstr>“红旗河”西部调水工程</vt:lpstr>
      <vt:lpstr>成本投入：谁来承担？</vt:lpstr>
      <vt:lpstr>水价：远来之水，谁用？</vt:lpstr>
      <vt:lpstr>川藏铁路</vt:lpstr>
      <vt:lpstr>川藏铁路</vt:lpstr>
      <vt:lpstr>川藏铁路</vt:lpstr>
      <vt:lpstr>川藏铁路</vt:lpstr>
      <vt:lpstr>川藏铁路</vt:lpstr>
      <vt:lpstr>川藏铁路</vt:lpstr>
      <vt:lpstr>川藏铁路</vt:lpstr>
      <vt:lpstr>川藏铁路</vt:lpstr>
      <vt:lpstr>深圳地铁一期工程</vt:lpstr>
      <vt:lpstr>深圳地铁一期工程</vt:lpstr>
      <vt:lpstr>城市轨道交通</vt:lpstr>
      <vt:lpstr>不能只靠门票收入！</vt:lpstr>
      <vt:lpstr>城市轨道交通与沿线土地的联合开发</vt:lpstr>
      <vt:lpstr>对深圳地铁一期工程的测算</vt:lpstr>
      <vt:lpstr>“工程经济学”怎么分析这个问题？</vt:lpstr>
      <vt:lpstr>火神山医院</vt:lpstr>
      <vt:lpstr>火神山医院</vt:lpstr>
      <vt:lpstr>火神山医院</vt:lpstr>
      <vt:lpstr>火神山医院</vt:lpstr>
      <vt:lpstr>火神山医院</vt:lpstr>
      <vt:lpstr>火神山医院</vt:lpstr>
      <vt:lpstr>火神山医院</vt:lpstr>
      <vt:lpstr>火神山医院</vt:lpstr>
      <vt:lpstr>火神山医院</vt:lpstr>
      <vt:lpstr>火神山医院</vt:lpstr>
      <vt:lpstr>生活中的经济评价问题</vt:lpstr>
      <vt:lpstr>为什么要学：我们在工程中的角色是什么？</vt:lpstr>
      <vt:lpstr>三峡工程论证 </vt:lpstr>
      <vt:lpstr>技术 vs. 经济</vt:lpstr>
      <vt:lpstr>基本方法论：两个核心问题</vt:lpstr>
      <vt:lpstr>基本方法论：什么是“好”的项目？</vt:lpstr>
      <vt:lpstr>财务可行性</vt:lpstr>
      <vt:lpstr>财务可行性</vt:lpstr>
      <vt:lpstr>国民经济可行性</vt:lpstr>
      <vt:lpstr>外部效应——进行多角度评价的逻辑基础</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Eurotunnel project delivery</vt:lpstr>
      <vt:lpstr>Eurotunnel项目实施结果</vt:lpstr>
      <vt:lpstr>沙特麦加萨法至穆戈达莎轻轨</vt:lpstr>
      <vt:lpstr>沙特麦加萨法至穆戈达莎轻轨实施结果</vt:lpstr>
      <vt:lpstr>COVER 波兰A2公路项目</vt:lpstr>
      <vt:lpstr>COVER 波兰A2公路项目失败原因</vt:lpstr>
      <vt:lpstr>PowerPoint 演示文稿</vt:lpstr>
      <vt:lpstr>PowerPoint 演示文稿</vt:lpstr>
      <vt:lpstr>PowerPoint 演示文稿</vt:lpstr>
      <vt:lpstr>PowerPoint 演示文稿</vt:lpstr>
      <vt:lpstr>PowerPoint 演示文稿</vt:lpstr>
      <vt:lpstr>外部效应——进行多角度评价的逻辑基础</vt:lpstr>
      <vt:lpstr>三峡工程投资概算</vt:lpstr>
      <vt:lpstr>工程经济学特点</vt:lpstr>
      <vt:lpstr>工程经济学基本原理</vt:lpstr>
      <vt:lpstr>本课程的基本内容</vt:lpstr>
      <vt:lpstr>结论</vt:lpstr>
      <vt:lpstr>碳达峰与碳中和</vt:lpstr>
      <vt:lpstr>PowerPoint 演示文稿</vt:lpstr>
    </vt:vector>
  </TitlesOfParts>
  <Company>KAGAN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LESLIE KAGAN</dc:creator>
  <cp:lastModifiedBy>飞光</cp:lastModifiedBy>
  <cp:revision>839</cp:revision>
  <dcterms:created xsi:type="dcterms:W3CDTF">2006-03-30T18:33:00Z</dcterms:created>
  <dcterms:modified xsi:type="dcterms:W3CDTF">2023-09-20T03:48:14Z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9CF2364AE27B415AA88E339710FD8039</vt:lpwstr>
  </property>
  <property fmtid="{D5CDD505-2E9C-101B-9397-08002B2CF9AE}" pid="3" name="KSOProductBuildVer">
    <vt:lpwstr>2052-12.1.0.15358</vt:lpwstr>
  </property>
</Properties>
</file>