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diagrams/colors1.xml" ContentType="application/vnd.openxmlformats-officedocument.drawingml.diagramColors+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diagrams/quickStyle2.xml" ContentType="application/vnd.openxmlformats-officedocument.drawingml.diagramStyle+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18.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slideLayouts/slideLayout10.xml" ContentType="application/vnd.openxmlformats-officedocument.presentationml.slideLayout+xml"/>
  <Override PartName="/ppt/diagrams/layout2.xml" ContentType="application/vnd.openxmlformats-officedocument.drawingml.diagram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layout1.xml" ContentType="application/vnd.openxmlformats-officedocument.drawingml.diagramLayout+xml"/>
  <Override PartName="/ppt/diagrams/data2.xml" ContentType="application/vnd.openxmlformats-officedocument.drawingml.diagramData+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diagrams/data1.xml" ContentType="application/vnd.openxmlformats-officedocument.drawingml.diagramData+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Override PartName="/ppt/diagrams/colors2.xml" ContentType="application/vnd.openxmlformats-officedocument.drawingml.diagramColors+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Default Extension="jpeg" ContentType="image/jpeg"/>
  <Override PartName="/ppt/diagrams/quickStyle1.xml" ContentType="application/vnd.openxmlformats-officedocument.drawingml.diagramStyle+xml"/>
  <Override PartName="/ppt/notesSlides/notesSlide1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61" r:id="rId2"/>
    <p:sldId id="266" r:id="rId3"/>
    <p:sldId id="291" r:id="rId4"/>
    <p:sldId id="265" r:id="rId5"/>
    <p:sldId id="267" r:id="rId6"/>
    <p:sldId id="280" r:id="rId7"/>
    <p:sldId id="268" r:id="rId8"/>
    <p:sldId id="269" r:id="rId9"/>
    <p:sldId id="281" r:id="rId10"/>
    <p:sldId id="282" r:id="rId11"/>
    <p:sldId id="283" r:id="rId12"/>
    <p:sldId id="284" r:id="rId13"/>
    <p:sldId id="287" r:id="rId14"/>
    <p:sldId id="285" r:id="rId15"/>
    <p:sldId id="286" r:id="rId16"/>
    <p:sldId id="290" r:id="rId17"/>
    <p:sldId id="292" r:id="rId18"/>
    <p:sldId id="293" r:id="rId19"/>
    <p:sldId id="294" r:id="rId20"/>
    <p:sldId id="279" r:id="rId21"/>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3333"/>
    <a:srgbClr val="777777"/>
    <a:srgbClr val="F4F1EC"/>
    <a:srgbClr val="E9E4DB"/>
    <a:srgbClr val="42372C"/>
  </p:clrMru>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89286" autoAdjust="0"/>
  </p:normalViewPr>
  <p:slideViewPr>
    <p:cSldViewPr>
      <p:cViewPr varScale="1">
        <p:scale>
          <a:sx n="46" d="100"/>
          <a:sy n="46" d="100"/>
        </p:scale>
        <p:origin x="-1387" y="-91"/>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15F922F-5A8F-444D-B166-330EECDF9356}" type="doc">
      <dgm:prSet loTypeId="urn:microsoft.com/office/officeart/2005/8/layout/radial6" loCatId="cycle" qsTypeId="urn:microsoft.com/office/officeart/2005/8/quickstyle/simple1" qsCatId="simple" csTypeId="urn:microsoft.com/office/officeart/2005/8/colors/accent1_1" csCatId="accent1" phldr="1"/>
      <dgm:spPr/>
      <dgm:t>
        <a:bodyPr/>
        <a:lstStyle/>
        <a:p>
          <a:endParaRPr lang="zh-CN" altLang="en-US"/>
        </a:p>
      </dgm:t>
    </dgm:pt>
    <dgm:pt modelId="{CD5E7701-15B2-47F1-B09D-1591D0CF76D8}">
      <dgm:prSet phldrT="[文本]" custT="1"/>
      <dgm:spPr/>
      <dgm:t>
        <a:bodyPr/>
        <a:lstStyle/>
        <a:p>
          <a:r>
            <a:rPr lang="zh-CN" altLang="en-US" sz="3200" b="1" dirty="0" smtClean="0"/>
            <a:t>混凝土实验用量</a:t>
          </a:r>
          <a:r>
            <a:rPr lang="en-US" altLang="zh-CN" sz="3200" b="1" dirty="0" smtClean="0">
              <a:latin typeface="宋体" panose="02010600030101010101" pitchFamily="2" charset="-122"/>
              <a:ea typeface="宋体" panose="02010600030101010101" pitchFamily="2" charset="-122"/>
            </a:rPr>
            <a:t>25L</a:t>
          </a:r>
          <a:endParaRPr lang="zh-CN" altLang="en-US" sz="3200" b="1" dirty="0">
            <a:latin typeface="宋体" panose="02010600030101010101" pitchFamily="2" charset="-122"/>
            <a:ea typeface="宋体" panose="02010600030101010101" pitchFamily="2" charset="-122"/>
          </a:endParaRPr>
        </a:p>
      </dgm:t>
    </dgm:pt>
    <dgm:pt modelId="{B7A8DDA7-F6ED-43B3-BF64-26B4C220332E}" type="parTrans" cxnId="{9367BEC0-7146-4B33-B592-4975A19CD6C8}">
      <dgm:prSet/>
      <dgm:spPr/>
      <dgm:t>
        <a:bodyPr/>
        <a:lstStyle/>
        <a:p>
          <a:endParaRPr lang="zh-CN" altLang="en-US"/>
        </a:p>
      </dgm:t>
    </dgm:pt>
    <dgm:pt modelId="{511FB62E-B027-4B66-ACF4-6397AFB53D5F}" type="sibTrans" cxnId="{9367BEC0-7146-4B33-B592-4975A19CD6C8}">
      <dgm:prSet/>
      <dgm:spPr/>
      <dgm:t>
        <a:bodyPr/>
        <a:lstStyle/>
        <a:p>
          <a:endParaRPr lang="zh-CN" altLang="en-US"/>
        </a:p>
      </dgm:t>
    </dgm:pt>
    <dgm:pt modelId="{A2A4D198-AC3C-47A2-A51C-4A02DFC49701}">
      <dgm:prSet phldrT="[文本]" custT="1"/>
      <dgm:spPr/>
      <dgm:t>
        <a:bodyPr/>
        <a:lstStyle/>
        <a:p>
          <a:r>
            <a:rPr lang="zh-CN" altLang="en-US" sz="2400" b="1" dirty="0" smtClean="0"/>
            <a:t>水</a:t>
          </a:r>
          <a:r>
            <a:rPr lang="en-US" altLang="zh-CN" sz="2400" b="1" dirty="0" smtClean="0">
              <a:latin typeface="宋体" panose="02010600030101010101" pitchFamily="2" charset="-122"/>
              <a:ea typeface="宋体" panose="02010600030101010101" pitchFamily="2" charset="-122"/>
            </a:rPr>
            <a:t>4.33125kg</a:t>
          </a:r>
          <a:endParaRPr lang="zh-CN" altLang="en-US" sz="2400" b="1" dirty="0">
            <a:latin typeface="宋体" panose="02010600030101010101" pitchFamily="2" charset="-122"/>
            <a:ea typeface="宋体" panose="02010600030101010101" pitchFamily="2" charset="-122"/>
          </a:endParaRPr>
        </a:p>
      </dgm:t>
    </dgm:pt>
    <dgm:pt modelId="{3D986DBE-F558-4673-BFD3-FC086D26DEE1}" type="parTrans" cxnId="{FC929355-5D45-4C7B-A7B0-E5137D380B8B}">
      <dgm:prSet/>
      <dgm:spPr/>
      <dgm:t>
        <a:bodyPr/>
        <a:lstStyle/>
        <a:p>
          <a:endParaRPr lang="zh-CN" altLang="en-US"/>
        </a:p>
      </dgm:t>
    </dgm:pt>
    <dgm:pt modelId="{7F2683B3-12F2-4E80-B12F-C943546E69BA}" type="sibTrans" cxnId="{FC929355-5D45-4C7B-A7B0-E5137D380B8B}">
      <dgm:prSet/>
      <dgm:spPr/>
      <dgm:t>
        <a:bodyPr/>
        <a:lstStyle/>
        <a:p>
          <a:endParaRPr lang="zh-CN" altLang="en-US"/>
        </a:p>
      </dgm:t>
    </dgm:pt>
    <dgm:pt modelId="{40375DE2-3857-4015-BA15-9210BBF4E1BE}">
      <dgm:prSet phldrT="[文本]" custT="1"/>
      <dgm:spPr/>
      <dgm:t>
        <a:bodyPr/>
        <a:lstStyle/>
        <a:p>
          <a:r>
            <a:rPr lang="zh-CN" altLang="en-US" sz="2400" b="1" dirty="0" smtClean="0">
              <a:latin typeface="宋体" pitchFamily="2" charset="-122"/>
              <a:ea typeface="宋体" pitchFamily="2" charset="-122"/>
            </a:rPr>
            <a:t>砂</a:t>
          </a:r>
          <a:r>
            <a:rPr lang="en-US" altLang="zh-CN" sz="2400" b="1" dirty="0" smtClean="0">
              <a:latin typeface="宋体" pitchFamily="2" charset="-122"/>
              <a:ea typeface="宋体" pitchFamily="2" charset="-122"/>
            </a:rPr>
            <a:t>16.7675kg</a:t>
          </a:r>
          <a:endParaRPr lang="zh-CN" altLang="en-US" sz="2400" b="1" dirty="0">
            <a:latin typeface="宋体" pitchFamily="2" charset="-122"/>
            <a:ea typeface="宋体" pitchFamily="2" charset="-122"/>
          </a:endParaRPr>
        </a:p>
      </dgm:t>
    </dgm:pt>
    <dgm:pt modelId="{F031A6F3-3747-40F0-BE0A-886B49E9CB1B}" type="parTrans" cxnId="{8A54D7F6-B94E-4644-AF66-251395E9EBF7}">
      <dgm:prSet/>
      <dgm:spPr/>
      <dgm:t>
        <a:bodyPr/>
        <a:lstStyle/>
        <a:p>
          <a:endParaRPr lang="zh-CN" altLang="en-US"/>
        </a:p>
      </dgm:t>
    </dgm:pt>
    <dgm:pt modelId="{18B7D694-F78F-4E2B-911A-C01465792328}" type="sibTrans" cxnId="{8A54D7F6-B94E-4644-AF66-251395E9EBF7}">
      <dgm:prSet/>
      <dgm:spPr/>
      <dgm:t>
        <a:bodyPr/>
        <a:lstStyle/>
        <a:p>
          <a:endParaRPr lang="zh-CN" altLang="en-US"/>
        </a:p>
      </dgm:t>
    </dgm:pt>
    <dgm:pt modelId="{A981FD85-0855-425D-BFD4-031F8DB3FAF3}">
      <dgm:prSet phldrT="[文本]" custT="1"/>
      <dgm:spPr/>
      <dgm:t>
        <a:bodyPr/>
        <a:lstStyle/>
        <a:p>
          <a:r>
            <a:rPr lang="zh-CN" altLang="en-US" sz="2400" b="1" dirty="0" smtClean="0"/>
            <a:t>粉煤灰</a:t>
          </a:r>
          <a:r>
            <a:rPr lang="en-US" altLang="zh-CN" sz="2400" b="1" dirty="0" smtClean="0">
              <a:latin typeface="宋体" panose="02010600030101010101" pitchFamily="2" charset="-122"/>
              <a:ea typeface="宋体" panose="02010600030101010101" pitchFamily="2" charset="-122"/>
            </a:rPr>
            <a:t>2.0625kg</a:t>
          </a:r>
          <a:endParaRPr lang="zh-CN" altLang="en-US" sz="2400" b="1" dirty="0"/>
        </a:p>
      </dgm:t>
    </dgm:pt>
    <dgm:pt modelId="{3845221F-2B0C-4FD0-BA61-028FDC757140}" type="parTrans" cxnId="{B7C03D40-3A2B-4BFF-9A02-C3A972E9DB89}">
      <dgm:prSet/>
      <dgm:spPr/>
      <dgm:t>
        <a:bodyPr/>
        <a:lstStyle/>
        <a:p>
          <a:endParaRPr lang="zh-CN" altLang="en-US"/>
        </a:p>
      </dgm:t>
    </dgm:pt>
    <dgm:pt modelId="{0D3DE692-12B5-4E11-934B-BAC57E3F9DB4}" type="sibTrans" cxnId="{B7C03D40-3A2B-4BFF-9A02-C3A972E9DB89}">
      <dgm:prSet/>
      <dgm:spPr/>
      <dgm:t>
        <a:bodyPr/>
        <a:lstStyle/>
        <a:p>
          <a:endParaRPr lang="zh-CN" altLang="en-US"/>
        </a:p>
      </dgm:t>
    </dgm:pt>
    <dgm:pt modelId="{4690802C-5B3F-4B00-B94E-9B3E88F95B72}">
      <dgm:prSet phldrT="[文本]" custT="1"/>
      <dgm:spPr/>
      <dgm:t>
        <a:bodyPr/>
        <a:lstStyle/>
        <a:p>
          <a:r>
            <a:rPr lang="zh-CN" altLang="en-US" sz="2400" b="1" dirty="0" smtClean="0">
              <a:latin typeface="宋体" pitchFamily="2" charset="-122"/>
              <a:ea typeface="宋体" pitchFamily="2" charset="-122"/>
            </a:rPr>
            <a:t>水泥</a:t>
          </a:r>
          <a:r>
            <a:rPr lang="en-US" altLang="zh-CN" sz="2400" b="1" dirty="0" smtClean="0">
              <a:latin typeface="宋体" pitchFamily="2" charset="-122"/>
              <a:ea typeface="宋体" pitchFamily="2" charset="-122"/>
            </a:rPr>
            <a:t>11.6875kg</a:t>
          </a:r>
          <a:endParaRPr lang="zh-CN" altLang="en-US" sz="2400" b="1" dirty="0">
            <a:latin typeface="宋体" pitchFamily="2" charset="-122"/>
            <a:ea typeface="宋体" pitchFamily="2" charset="-122"/>
          </a:endParaRPr>
        </a:p>
      </dgm:t>
    </dgm:pt>
    <dgm:pt modelId="{69065374-F898-422A-B9B3-17768A7A4D83}" type="parTrans" cxnId="{AA95293A-D290-4F5F-AE52-8A52EB654CA0}">
      <dgm:prSet/>
      <dgm:spPr/>
      <dgm:t>
        <a:bodyPr/>
        <a:lstStyle/>
        <a:p>
          <a:endParaRPr lang="zh-CN" altLang="en-US"/>
        </a:p>
      </dgm:t>
    </dgm:pt>
    <dgm:pt modelId="{AEF21ADE-1018-45F1-BB3B-284B9A8696F9}" type="sibTrans" cxnId="{AA95293A-D290-4F5F-AE52-8A52EB654CA0}">
      <dgm:prSet/>
      <dgm:spPr/>
      <dgm:t>
        <a:bodyPr/>
        <a:lstStyle/>
        <a:p>
          <a:endParaRPr lang="zh-CN" altLang="en-US"/>
        </a:p>
      </dgm:t>
    </dgm:pt>
    <dgm:pt modelId="{5C1C7DA4-07D7-423E-843D-F0CD2D182D4D}">
      <dgm:prSet phldrT="[文本]" custT="1"/>
      <dgm:spPr/>
      <dgm:t>
        <a:bodyPr/>
        <a:lstStyle/>
        <a:p>
          <a:r>
            <a:rPr lang="zh-CN" altLang="en-US" sz="2400" b="1" dirty="0" smtClean="0"/>
            <a:t>石</a:t>
          </a:r>
          <a:r>
            <a:rPr lang="en-US" altLang="zh-CN" sz="2400" b="1" dirty="0" smtClean="0">
              <a:latin typeface="宋体" panose="02010600030101010101" pitchFamily="2" charset="-122"/>
              <a:ea typeface="宋体" panose="02010600030101010101" pitchFamily="2" charset="-122"/>
            </a:rPr>
            <a:t>25.15125kg</a:t>
          </a:r>
          <a:endParaRPr lang="zh-CN" altLang="en-US" sz="2400" b="1" dirty="0"/>
        </a:p>
      </dgm:t>
    </dgm:pt>
    <dgm:pt modelId="{2D7A8AFF-A7F6-4F9C-BEBA-3737DCDD1118}" type="parTrans" cxnId="{88A6FB1A-1FFF-4EFC-AD67-9CDE42B19D08}">
      <dgm:prSet/>
      <dgm:spPr/>
      <dgm:t>
        <a:bodyPr/>
        <a:lstStyle/>
        <a:p>
          <a:endParaRPr lang="zh-CN" altLang="en-US"/>
        </a:p>
      </dgm:t>
    </dgm:pt>
    <dgm:pt modelId="{CF8473B0-173A-4EB6-97A4-559EEA473F0E}" type="sibTrans" cxnId="{88A6FB1A-1FFF-4EFC-AD67-9CDE42B19D08}">
      <dgm:prSet/>
      <dgm:spPr/>
      <dgm:t>
        <a:bodyPr/>
        <a:lstStyle/>
        <a:p>
          <a:endParaRPr lang="zh-CN" altLang="en-US"/>
        </a:p>
      </dgm:t>
    </dgm:pt>
    <dgm:pt modelId="{08955D5A-1FF6-4753-9076-2D522C59A5DE}">
      <dgm:prSet phldrT="[文本]" custT="1"/>
      <dgm:spPr/>
      <dgm:t>
        <a:bodyPr/>
        <a:lstStyle/>
        <a:p>
          <a:r>
            <a:rPr lang="zh-CN" altLang="en-US" sz="2400" b="1" dirty="0" smtClean="0">
              <a:latin typeface="+mn-ea"/>
              <a:ea typeface="+mn-ea"/>
            </a:rPr>
            <a:t>减水剂</a:t>
          </a:r>
          <a:r>
            <a:rPr lang="en-US" altLang="zh-CN" sz="2400" b="1" dirty="0" smtClean="0">
              <a:latin typeface="宋体" panose="02010600030101010101" pitchFamily="2" charset="-122"/>
              <a:ea typeface="宋体" panose="02010600030101010101" pitchFamily="2" charset="-122"/>
            </a:rPr>
            <a:t>0.22kg</a:t>
          </a:r>
          <a:endParaRPr lang="zh-CN" altLang="en-US" sz="2400" b="1" dirty="0"/>
        </a:p>
      </dgm:t>
    </dgm:pt>
    <dgm:pt modelId="{15477190-36B3-4514-9676-E928CC0F5E9D}" type="parTrans" cxnId="{9931492E-48C2-4761-BA9C-B0397A96F794}">
      <dgm:prSet/>
      <dgm:spPr/>
      <dgm:t>
        <a:bodyPr/>
        <a:lstStyle/>
        <a:p>
          <a:endParaRPr lang="zh-CN" altLang="en-US"/>
        </a:p>
      </dgm:t>
    </dgm:pt>
    <dgm:pt modelId="{F9A23500-8C54-4F89-9700-4EEA1EDE1992}" type="sibTrans" cxnId="{9931492E-48C2-4761-BA9C-B0397A96F794}">
      <dgm:prSet/>
      <dgm:spPr/>
      <dgm:t>
        <a:bodyPr/>
        <a:lstStyle/>
        <a:p>
          <a:endParaRPr lang="zh-CN" altLang="en-US"/>
        </a:p>
      </dgm:t>
    </dgm:pt>
    <dgm:pt modelId="{6F17745C-ABBA-457F-A81B-78FD4BC9EF32}" type="pres">
      <dgm:prSet presAssocID="{515F922F-5A8F-444D-B166-330EECDF9356}" presName="Name0" presStyleCnt="0">
        <dgm:presLayoutVars>
          <dgm:chMax val="1"/>
          <dgm:dir/>
          <dgm:animLvl val="ctr"/>
          <dgm:resizeHandles val="exact"/>
        </dgm:presLayoutVars>
      </dgm:prSet>
      <dgm:spPr/>
      <dgm:t>
        <a:bodyPr/>
        <a:lstStyle/>
        <a:p>
          <a:endParaRPr lang="zh-CN" altLang="en-US"/>
        </a:p>
      </dgm:t>
    </dgm:pt>
    <dgm:pt modelId="{07EFAC5B-03D0-4954-8C22-ADED4C758467}" type="pres">
      <dgm:prSet presAssocID="{CD5E7701-15B2-47F1-B09D-1591D0CF76D8}" presName="centerShape" presStyleLbl="node0" presStyleIdx="0" presStyleCnt="1" custScaleX="116959" custScaleY="116959"/>
      <dgm:spPr/>
      <dgm:t>
        <a:bodyPr/>
        <a:lstStyle/>
        <a:p>
          <a:endParaRPr lang="zh-CN" altLang="en-US"/>
        </a:p>
      </dgm:t>
    </dgm:pt>
    <dgm:pt modelId="{4E33D3F0-B495-4D55-9BE5-5E5E3AA726DD}" type="pres">
      <dgm:prSet presAssocID="{A2A4D198-AC3C-47A2-A51C-4A02DFC49701}" presName="node" presStyleLbl="node1" presStyleIdx="0" presStyleCnt="6" custScaleX="122453" custScaleY="122453">
        <dgm:presLayoutVars>
          <dgm:bulletEnabled val="1"/>
        </dgm:presLayoutVars>
      </dgm:prSet>
      <dgm:spPr/>
      <dgm:t>
        <a:bodyPr/>
        <a:lstStyle/>
        <a:p>
          <a:endParaRPr lang="zh-CN" altLang="en-US"/>
        </a:p>
      </dgm:t>
    </dgm:pt>
    <dgm:pt modelId="{3A7311FC-5C61-47AF-BA72-942BEC347099}" type="pres">
      <dgm:prSet presAssocID="{A2A4D198-AC3C-47A2-A51C-4A02DFC49701}" presName="dummy" presStyleCnt="0"/>
      <dgm:spPr/>
    </dgm:pt>
    <dgm:pt modelId="{EB9061D0-1C81-4128-8F71-00B5A0A1ABF4}" type="pres">
      <dgm:prSet presAssocID="{7F2683B3-12F2-4E80-B12F-C943546E69BA}" presName="sibTrans" presStyleLbl="sibTrans2D1" presStyleIdx="0" presStyleCnt="6"/>
      <dgm:spPr/>
      <dgm:t>
        <a:bodyPr/>
        <a:lstStyle/>
        <a:p>
          <a:endParaRPr lang="zh-CN" altLang="en-US"/>
        </a:p>
      </dgm:t>
    </dgm:pt>
    <dgm:pt modelId="{346D0268-AF47-47C9-B468-90A6E44A3B0C}" type="pres">
      <dgm:prSet presAssocID="{5C1C7DA4-07D7-423E-843D-F0CD2D182D4D}" presName="node" presStyleLbl="node1" presStyleIdx="1" presStyleCnt="6" custScaleX="122453" custScaleY="122453">
        <dgm:presLayoutVars>
          <dgm:bulletEnabled val="1"/>
        </dgm:presLayoutVars>
      </dgm:prSet>
      <dgm:spPr/>
      <dgm:t>
        <a:bodyPr/>
        <a:lstStyle/>
        <a:p>
          <a:endParaRPr lang="zh-CN" altLang="en-US"/>
        </a:p>
      </dgm:t>
    </dgm:pt>
    <dgm:pt modelId="{AF593E01-E0E8-4B1D-875B-C367DC8159F1}" type="pres">
      <dgm:prSet presAssocID="{5C1C7DA4-07D7-423E-843D-F0CD2D182D4D}" presName="dummy" presStyleCnt="0"/>
      <dgm:spPr/>
    </dgm:pt>
    <dgm:pt modelId="{19F8AE2C-515B-4A9F-B5C1-EA5048E3B304}" type="pres">
      <dgm:prSet presAssocID="{CF8473B0-173A-4EB6-97A4-559EEA473F0E}" presName="sibTrans" presStyleLbl="sibTrans2D1" presStyleIdx="1" presStyleCnt="6"/>
      <dgm:spPr/>
      <dgm:t>
        <a:bodyPr/>
        <a:lstStyle/>
        <a:p>
          <a:endParaRPr lang="zh-CN" altLang="en-US"/>
        </a:p>
      </dgm:t>
    </dgm:pt>
    <dgm:pt modelId="{6809EAC0-0A19-414F-8617-DF283EEB6C27}" type="pres">
      <dgm:prSet presAssocID="{08955D5A-1FF6-4753-9076-2D522C59A5DE}" presName="node" presStyleLbl="node1" presStyleIdx="2" presStyleCnt="6" custScaleX="122453" custScaleY="122453">
        <dgm:presLayoutVars>
          <dgm:bulletEnabled val="1"/>
        </dgm:presLayoutVars>
      </dgm:prSet>
      <dgm:spPr/>
      <dgm:t>
        <a:bodyPr/>
        <a:lstStyle/>
        <a:p>
          <a:endParaRPr lang="zh-CN" altLang="en-US"/>
        </a:p>
      </dgm:t>
    </dgm:pt>
    <dgm:pt modelId="{8D871788-2CC4-4B7B-A1B1-37F65BE908A0}" type="pres">
      <dgm:prSet presAssocID="{08955D5A-1FF6-4753-9076-2D522C59A5DE}" presName="dummy" presStyleCnt="0"/>
      <dgm:spPr/>
    </dgm:pt>
    <dgm:pt modelId="{66A97288-66A2-4249-9F34-94E73031D05D}" type="pres">
      <dgm:prSet presAssocID="{F9A23500-8C54-4F89-9700-4EEA1EDE1992}" presName="sibTrans" presStyleLbl="sibTrans2D1" presStyleIdx="2" presStyleCnt="6"/>
      <dgm:spPr/>
      <dgm:t>
        <a:bodyPr/>
        <a:lstStyle/>
        <a:p>
          <a:endParaRPr lang="zh-CN" altLang="en-US"/>
        </a:p>
      </dgm:t>
    </dgm:pt>
    <dgm:pt modelId="{319F3258-CF7D-4151-8F1A-FFB8124C01E3}" type="pres">
      <dgm:prSet presAssocID="{40375DE2-3857-4015-BA15-9210BBF4E1BE}" presName="node" presStyleLbl="node1" presStyleIdx="3" presStyleCnt="6" custScaleX="122453" custScaleY="122453">
        <dgm:presLayoutVars>
          <dgm:bulletEnabled val="1"/>
        </dgm:presLayoutVars>
      </dgm:prSet>
      <dgm:spPr/>
      <dgm:t>
        <a:bodyPr/>
        <a:lstStyle/>
        <a:p>
          <a:endParaRPr lang="zh-CN" altLang="en-US"/>
        </a:p>
      </dgm:t>
    </dgm:pt>
    <dgm:pt modelId="{D2017A6E-BD41-41A3-98EB-4621006CC6BB}" type="pres">
      <dgm:prSet presAssocID="{40375DE2-3857-4015-BA15-9210BBF4E1BE}" presName="dummy" presStyleCnt="0"/>
      <dgm:spPr/>
    </dgm:pt>
    <dgm:pt modelId="{8B29CCCC-95E0-4E26-885E-8EC28E986583}" type="pres">
      <dgm:prSet presAssocID="{18B7D694-F78F-4E2B-911A-C01465792328}" presName="sibTrans" presStyleLbl="sibTrans2D1" presStyleIdx="3" presStyleCnt="6"/>
      <dgm:spPr/>
      <dgm:t>
        <a:bodyPr/>
        <a:lstStyle/>
        <a:p>
          <a:endParaRPr lang="zh-CN" altLang="en-US"/>
        </a:p>
      </dgm:t>
    </dgm:pt>
    <dgm:pt modelId="{02A05821-F1FF-4EFF-98A5-F76A19A57485}" type="pres">
      <dgm:prSet presAssocID="{A981FD85-0855-425D-BFD4-031F8DB3FAF3}" presName="node" presStyleLbl="node1" presStyleIdx="4" presStyleCnt="6" custScaleX="122453" custScaleY="122453">
        <dgm:presLayoutVars>
          <dgm:bulletEnabled val="1"/>
        </dgm:presLayoutVars>
      </dgm:prSet>
      <dgm:spPr/>
      <dgm:t>
        <a:bodyPr/>
        <a:lstStyle/>
        <a:p>
          <a:endParaRPr lang="zh-CN" altLang="en-US"/>
        </a:p>
      </dgm:t>
    </dgm:pt>
    <dgm:pt modelId="{6112EBC5-9FB6-4CF3-B50B-F6B745558473}" type="pres">
      <dgm:prSet presAssocID="{A981FD85-0855-425D-BFD4-031F8DB3FAF3}" presName="dummy" presStyleCnt="0"/>
      <dgm:spPr/>
    </dgm:pt>
    <dgm:pt modelId="{359817EC-D1C3-42F9-9433-10C853C46232}" type="pres">
      <dgm:prSet presAssocID="{0D3DE692-12B5-4E11-934B-BAC57E3F9DB4}" presName="sibTrans" presStyleLbl="sibTrans2D1" presStyleIdx="4" presStyleCnt="6"/>
      <dgm:spPr/>
      <dgm:t>
        <a:bodyPr/>
        <a:lstStyle/>
        <a:p>
          <a:endParaRPr lang="zh-CN" altLang="en-US"/>
        </a:p>
      </dgm:t>
    </dgm:pt>
    <dgm:pt modelId="{68FCCD9A-6F63-4F35-937F-4B2A5A667EE5}" type="pres">
      <dgm:prSet presAssocID="{4690802C-5B3F-4B00-B94E-9B3E88F95B72}" presName="node" presStyleLbl="node1" presStyleIdx="5" presStyleCnt="6" custScaleX="122453" custScaleY="122453">
        <dgm:presLayoutVars>
          <dgm:bulletEnabled val="1"/>
        </dgm:presLayoutVars>
      </dgm:prSet>
      <dgm:spPr/>
      <dgm:t>
        <a:bodyPr/>
        <a:lstStyle/>
        <a:p>
          <a:endParaRPr lang="zh-CN" altLang="en-US"/>
        </a:p>
      </dgm:t>
    </dgm:pt>
    <dgm:pt modelId="{599F8B3E-0E55-4614-ABCB-02955726BF85}" type="pres">
      <dgm:prSet presAssocID="{4690802C-5B3F-4B00-B94E-9B3E88F95B72}" presName="dummy" presStyleCnt="0"/>
      <dgm:spPr/>
    </dgm:pt>
    <dgm:pt modelId="{4B7DA9EE-C273-44E4-9FA5-68A7B510FBED}" type="pres">
      <dgm:prSet presAssocID="{AEF21ADE-1018-45F1-BB3B-284B9A8696F9}" presName="sibTrans" presStyleLbl="sibTrans2D1" presStyleIdx="5" presStyleCnt="6"/>
      <dgm:spPr/>
      <dgm:t>
        <a:bodyPr/>
        <a:lstStyle/>
        <a:p>
          <a:endParaRPr lang="zh-CN" altLang="en-US"/>
        </a:p>
      </dgm:t>
    </dgm:pt>
  </dgm:ptLst>
  <dgm:cxnLst>
    <dgm:cxn modelId="{684A1A42-440D-4117-8CB2-987AC421A02B}" type="presOf" srcId="{40375DE2-3857-4015-BA15-9210BBF4E1BE}" destId="{319F3258-CF7D-4151-8F1A-FFB8124C01E3}" srcOrd="0" destOrd="0" presId="urn:microsoft.com/office/officeart/2005/8/layout/radial6"/>
    <dgm:cxn modelId="{3914E6F6-D1B2-40BE-A153-15A1C3CADC3C}" type="presOf" srcId="{08955D5A-1FF6-4753-9076-2D522C59A5DE}" destId="{6809EAC0-0A19-414F-8617-DF283EEB6C27}" srcOrd="0" destOrd="0" presId="urn:microsoft.com/office/officeart/2005/8/layout/radial6"/>
    <dgm:cxn modelId="{9931492E-48C2-4761-BA9C-B0397A96F794}" srcId="{CD5E7701-15B2-47F1-B09D-1591D0CF76D8}" destId="{08955D5A-1FF6-4753-9076-2D522C59A5DE}" srcOrd="2" destOrd="0" parTransId="{15477190-36B3-4514-9676-E928CC0F5E9D}" sibTransId="{F9A23500-8C54-4F89-9700-4EEA1EDE1992}"/>
    <dgm:cxn modelId="{B7C03D40-3A2B-4BFF-9A02-C3A972E9DB89}" srcId="{CD5E7701-15B2-47F1-B09D-1591D0CF76D8}" destId="{A981FD85-0855-425D-BFD4-031F8DB3FAF3}" srcOrd="4" destOrd="0" parTransId="{3845221F-2B0C-4FD0-BA61-028FDC757140}" sibTransId="{0D3DE692-12B5-4E11-934B-BAC57E3F9DB4}"/>
    <dgm:cxn modelId="{AA95293A-D290-4F5F-AE52-8A52EB654CA0}" srcId="{CD5E7701-15B2-47F1-B09D-1591D0CF76D8}" destId="{4690802C-5B3F-4B00-B94E-9B3E88F95B72}" srcOrd="5" destOrd="0" parTransId="{69065374-F898-422A-B9B3-17768A7A4D83}" sibTransId="{AEF21ADE-1018-45F1-BB3B-284B9A8696F9}"/>
    <dgm:cxn modelId="{8A54D7F6-B94E-4644-AF66-251395E9EBF7}" srcId="{CD5E7701-15B2-47F1-B09D-1591D0CF76D8}" destId="{40375DE2-3857-4015-BA15-9210BBF4E1BE}" srcOrd="3" destOrd="0" parTransId="{F031A6F3-3747-40F0-BE0A-886B49E9CB1B}" sibTransId="{18B7D694-F78F-4E2B-911A-C01465792328}"/>
    <dgm:cxn modelId="{673AF385-8B16-4F84-8EB7-B39ACEF43A7D}" type="presOf" srcId="{F9A23500-8C54-4F89-9700-4EEA1EDE1992}" destId="{66A97288-66A2-4249-9F34-94E73031D05D}" srcOrd="0" destOrd="0" presId="urn:microsoft.com/office/officeart/2005/8/layout/radial6"/>
    <dgm:cxn modelId="{2A8F6606-56A5-4C53-B036-803F461FE3FB}" type="presOf" srcId="{18B7D694-F78F-4E2B-911A-C01465792328}" destId="{8B29CCCC-95E0-4E26-885E-8EC28E986583}" srcOrd="0" destOrd="0" presId="urn:microsoft.com/office/officeart/2005/8/layout/radial6"/>
    <dgm:cxn modelId="{BD72AD5B-F141-4BB1-A0CC-7FDF256BE3FC}" type="presOf" srcId="{4690802C-5B3F-4B00-B94E-9B3E88F95B72}" destId="{68FCCD9A-6F63-4F35-937F-4B2A5A667EE5}" srcOrd="0" destOrd="0" presId="urn:microsoft.com/office/officeart/2005/8/layout/radial6"/>
    <dgm:cxn modelId="{8321375E-78A3-4230-9802-13F85712B9B1}" type="presOf" srcId="{7F2683B3-12F2-4E80-B12F-C943546E69BA}" destId="{EB9061D0-1C81-4128-8F71-00B5A0A1ABF4}" srcOrd="0" destOrd="0" presId="urn:microsoft.com/office/officeart/2005/8/layout/radial6"/>
    <dgm:cxn modelId="{FC929355-5D45-4C7B-A7B0-E5137D380B8B}" srcId="{CD5E7701-15B2-47F1-B09D-1591D0CF76D8}" destId="{A2A4D198-AC3C-47A2-A51C-4A02DFC49701}" srcOrd="0" destOrd="0" parTransId="{3D986DBE-F558-4673-BFD3-FC086D26DEE1}" sibTransId="{7F2683B3-12F2-4E80-B12F-C943546E69BA}"/>
    <dgm:cxn modelId="{5F0AA3D3-2D57-4380-942F-2162EF1E4C22}" type="presOf" srcId="{A2A4D198-AC3C-47A2-A51C-4A02DFC49701}" destId="{4E33D3F0-B495-4D55-9BE5-5E5E3AA726DD}" srcOrd="0" destOrd="0" presId="urn:microsoft.com/office/officeart/2005/8/layout/radial6"/>
    <dgm:cxn modelId="{970ECEA8-2FB6-4786-8726-F2112727862A}" type="presOf" srcId="{CD5E7701-15B2-47F1-B09D-1591D0CF76D8}" destId="{07EFAC5B-03D0-4954-8C22-ADED4C758467}" srcOrd="0" destOrd="0" presId="urn:microsoft.com/office/officeart/2005/8/layout/radial6"/>
    <dgm:cxn modelId="{C57A297F-213A-4A90-A9D2-8DE91C3FA743}" type="presOf" srcId="{AEF21ADE-1018-45F1-BB3B-284B9A8696F9}" destId="{4B7DA9EE-C273-44E4-9FA5-68A7B510FBED}" srcOrd="0" destOrd="0" presId="urn:microsoft.com/office/officeart/2005/8/layout/radial6"/>
    <dgm:cxn modelId="{9367BEC0-7146-4B33-B592-4975A19CD6C8}" srcId="{515F922F-5A8F-444D-B166-330EECDF9356}" destId="{CD5E7701-15B2-47F1-B09D-1591D0CF76D8}" srcOrd="0" destOrd="0" parTransId="{B7A8DDA7-F6ED-43B3-BF64-26B4C220332E}" sibTransId="{511FB62E-B027-4B66-ACF4-6397AFB53D5F}"/>
    <dgm:cxn modelId="{C7FB2CF8-9B03-4C78-95B1-5EBB4402D975}" type="presOf" srcId="{A981FD85-0855-425D-BFD4-031F8DB3FAF3}" destId="{02A05821-F1FF-4EFF-98A5-F76A19A57485}" srcOrd="0" destOrd="0" presId="urn:microsoft.com/office/officeart/2005/8/layout/radial6"/>
    <dgm:cxn modelId="{6DE182C0-1E04-422B-A87B-151D8D0B6529}" type="presOf" srcId="{515F922F-5A8F-444D-B166-330EECDF9356}" destId="{6F17745C-ABBA-457F-A81B-78FD4BC9EF32}" srcOrd="0" destOrd="0" presId="urn:microsoft.com/office/officeart/2005/8/layout/radial6"/>
    <dgm:cxn modelId="{88A6FB1A-1FFF-4EFC-AD67-9CDE42B19D08}" srcId="{CD5E7701-15B2-47F1-B09D-1591D0CF76D8}" destId="{5C1C7DA4-07D7-423E-843D-F0CD2D182D4D}" srcOrd="1" destOrd="0" parTransId="{2D7A8AFF-A7F6-4F9C-BEBA-3737DCDD1118}" sibTransId="{CF8473B0-173A-4EB6-97A4-559EEA473F0E}"/>
    <dgm:cxn modelId="{D0227A7A-51F3-4586-93E9-2F3ECDD3FD66}" type="presOf" srcId="{5C1C7DA4-07D7-423E-843D-F0CD2D182D4D}" destId="{346D0268-AF47-47C9-B468-90A6E44A3B0C}" srcOrd="0" destOrd="0" presId="urn:microsoft.com/office/officeart/2005/8/layout/radial6"/>
    <dgm:cxn modelId="{FDF8537C-5C8D-4672-A472-BB5507846E88}" type="presOf" srcId="{0D3DE692-12B5-4E11-934B-BAC57E3F9DB4}" destId="{359817EC-D1C3-42F9-9433-10C853C46232}" srcOrd="0" destOrd="0" presId="urn:microsoft.com/office/officeart/2005/8/layout/radial6"/>
    <dgm:cxn modelId="{D2CEF7DB-3246-4EAA-8480-845C44E60D6E}" type="presOf" srcId="{CF8473B0-173A-4EB6-97A4-559EEA473F0E}" destId="{19F8AE2C-515B-4A9F-B5C1-EA5048E3B304}" srcOrd="0" destOrd="0" presId="urn:microsoft.com/office/officeart/2005/8/layout/radial6"/>
    <dgm:cxn modelId="{754C9924-4E60-41A4-949D-2B6F1F581FD1}" type="presParOf" srcId="{6F17745C-ABBA-457F-A81B-78FD4BC9EF32}" destId="{07EFAC5B-03D0-4954-8C22-ADED4C758467}" srcOrd="0" destOrd="0" presId="urn:microsoft.com/office/officeart/2005/8/layout/radial6"/>
    <dgm:cxn modelId="{BBCA7909-EF35-4332-87D4-115B708A5989}" type="presParOf" srcId="{6F17745C-ABBA-457F-A81B-78FD4BC9EF32}" destId="{4E33D3F0-B495-4D55-9BE5-5E5E3AA726DD}" srcOrd="1" destOrd="0" presId="urn:microsoft.com/office/officeart/2005/8/layout/radial6"/>
    <dgm:cxn modelId="{F8E24C0D-C6AD-4721-A56E-70F7C4A91A0B}" type="presParOf" srcId="{6F17745C-ABBA-457F-A81B-78FD4BC9EF32}" destId="{3A7311FC-5C61-47AF-BA72-942BEC347099}" srcOrd="2" destOrd="0" presId="urn:microsoft.com/office/officeart/2005/8/layout/radial6"/>
    <dgm:cxn modelId="{2A3E9E2A-7211-486D-937E-71655D971FF7}" type="presParOf" srcId="{6F17745C-ABBA-457F-A81B-78FD4BC9EF32}" destId="{EB9061D0-1C81-4128-8F71-00B5A0A1ABF4}" srcOrd="3" destOrd="0" presId="urn:microsoft.com/office/officeart/2005/8/layout/radial6"/>
    <dgm:cxn modelId="{924F7FA8-659E-4DC2-B026-CE81BA4E01A6}" type="presParOf" srcId="{6F17745C-ABBA-457F-A81B-78FD4BC9EF32}" destId="{346D0268-AF47-47C9-B468-90A6E44A3B0C}" srcOrd="4" destOrd="0" presId="urn:microsoft.com/office/officeart/2005/8/layout/radial6"/>
    <dgm:cxn modelId="{5372096E-EA5C-41E7-BE9C-2803396928FF}" type="presParOf" srcId="{6F17745C-ABBA-457F-A81B-78FD4BC9EF32}" destId="{AF593E01-E0E8-4B1D-875B-C367DC8159F1}" srcOrd="5" destOrd="0" presId="urn:microsoft.com/office/officeart/2005/8/layout/radial6"/>
    <dgm:cxn modelId="{52892107-9C52-4508-B763-1411B96C1489}" type="presParOf" srcId="{6F17745C-ABBA-457F-A81B-78FD4BC9EF32}" destId="{19F8AE2C-515B-4A9F-B5C1-EA5048E3B304}" srcOrd="6" destOrd="0" presId="urn:microsoft.com/office/officeart/2005/8/layout/radial6"/>
    <dgm:cxn modelId="{B70770AA-70EE-40FE-943D-05D17442107B}" type="presParOf" srcId="{6F17745C-ABBA-457F-A81B-78FD4BC9EF32}" destId="{6809EAC0-0A19-414F-8617-DF283EEB6C27}" srcOrd="7" destOrd="0" presId="urn:microsoft.com/office/officeart/2005/8/layout/radial6"/>
    <dgm:cxn modelId="{A0585F6F-4C06-4CA0-BB89-55B154208B83}" type="presParOf" srcId="{6F17745C-ABBA-457F-A81B-78FD4BC9EF32}" destId="{8D871788-2CC4-4B7B-A1B1-37F65BE908A0}" srcOrd="8" destOrd="0" presId="urn:microsoft.com/office/officeart/2005/8/layout/radial6"/>
    <dgm:cxn modelId="{5C50E64F-CAA2-403B-8FE3-A148B62310B2}" type="presParOf" srcId="{6F17745C-ABBA-457F-A81B-78FD4BC9EF32}" destId="{66A97288-66A2-4249-9F34-94E73031D05D}" srcOrd="9" destOrd="0" presId="urn:microsoft.com/office/officeart/2005/8/layout/radial6"/>
    <dgm:cxn modelId="{6EA67658-0B28-4668-9E57-D675C8D64F0A}" type="presParOf" srcId="{6F17745C-ABBA-457F-A81B-78FD4BC9EF32}" destId="{319F3258-CF7D-4151-8F1A-FFB8124C01E3}" srcOrd="10" destOrd="0" presId="urn:microsoft.com/office/officeart/2005/8/layout/radial6"/>
    <dgm:cxn modelId="{23622EC2-FC46-4A54-BDB6-607143647167}" type="presParOf" srcId="{6F17745C-ABBA-457F-A81B-78FD4BC9EF32}" destId="{D2017A6E-BD41-41A3-98EB-4621006CC6BB}" srcOrd="11" destOrd="0" presId="urn:microsoft.com/office/officeart/2005/8/layout/radial6"/>
    <dgm:cxn modelId="{B994DF36-3625-4DC9-81FD-E467898492AE}" type="presParOf" srcId="{6F17745C-ABBA-457F-A81B-78FD4BC9EF32}" destId="{8B29CCCC-95E0-4E26-885E-8EC28E986583}" srcOrd="12" destOrd="0" presId="urn:microsoft.com/office/officeart/2005/8/layout/radial6"/>
    <dgm:cxn modelId="{BFA043BD-D434-4E8D-A287-FF917450A89F}" type="presParOf" srcId="{6F17745C-ABBA-457F-A81B-78FD4BC9EF32}" destId="{02A05821-F1FF-4EFF-98A5-F76A19A57485}" srcOrd="13" destOrd="0" presId="urn:microsoft.com/office/officeart/2005/8/layout/radial6"/>
    <dgm:cxn modelId="{6734F63B-4F9F-4A75-A120-0B28ACD52C90}" type="presParOf" srcId="{6F17745C-ABBA-457F-A81B-78FD4BC9EF32}" destId="{6112EBC5-9FB6-4CF3-B50B-F6B745558473}" srcOrd="14" destOrd="0" presId="urn:microsoft.com/office/officeart/2005/8/layout/radial6"/>
    <dgm:cxn modelId="{BBB992BE-D2CD-4E85-986F-C06D3D36E552}" type="presParOf" srcId="{6F17745C-ABBA-457F-A81B-78FD4BC9EF32}" destId="{359817EC-D1C3-42F9-9433-10C853C46232}" srcOrd="15" destOrd="0" presId="urn:microsoft.com/office/officeart/2005/8/layout/radial6"/>
    <dgm:cxn modelId="{29091F68-755F-4AD8-99DE-161822A3D196}" type="presParOf" srcId="{6F17745C-ABBA-457F-A81B-78FD4BC9EF32}" destId="{68FCCD9A-6F63-4F35-937F-4B2A5A667EE5}" srcOrd="16" destOrd="0" presId="urn:microsoft.com/office/officeart/2005/8/layout/radial6"/>
    <dgm:cxn modelId="{A3ED44F6-AC9D-44C7-AB72-416E686A87B1}" type="presParOf" srcId="{6F17745C-ABBA-457F-A81B-78FD4BC9EF32}" destId="{599F8B3E-0E55-4614-ABCB-02955726BF85}" srcOrd="17" destOrd="0" presId="urn:microsoft.com/office/officeart/2005/8/layout/radial6"/>
    <dgm:cxn modelId="{5D9CF360-11D5-431D-86CF-628FA9F0858C}" type="presParOf" srcId="{6F17745C-ABBA-457F-A81B-78FD4BC9EF32}" destId="{4B7DA9EE-C273-44E4-9FA5-68A7B510FBED}" srcOrd="18" destOrd="0" presId="urn:microsoft.com/office/officeart/2005/8/layout/radial6"/>
  </dgm:cxnLst>
  <dgm:bg/>
  <dgm:whole/>
</dgm:dataModel>
</file>

<file path=ppt/diagrams/data2.xml><?xml version="1.0" encoding="utf-8"?>
<dgm:dataModel xmlns:dgm="http://schemas.openxmlformats.org/drawingml/2006/diagram" xmlns:a="http://schemas.openxmlformats.org/drawingml/2006/main">
  <dgm:ptLst>
    <dgm:pt modelId="{515F922F-5A8F-444D-B166-330EECDF9356}" type="doc">
      <dgm:prSet loTypeId="urn:microsoft.com/office/officeart/2005/8/layout/radial6" loCatId="cycle" qsTypeId="urn:microsoft.com/office/officeart/2005/8/quickstyle/simple1" qsCatId="simple" csTypeId="urn:microsoft.com/office/officeart/2005/8/colors/accent1_1" csCatId="accent1" phldr="1"/>
      <dgm:spPr/>
      <dgm:t>
        <a:bodyPr/>
        <a:lstStyle/>
        <a:p>
          <a:endParaRPr lang="zh-CN" altLang="en-US"/>
        </a:p>
      </dgm:t>
    </dgm:pt>
    <dgm:pt modelId="{CD5E7701-15B2-47F1-B09D-1591D0CF76D8}">
      <dgm:prSet phldrT="[文本]" custT="1"/>
      <dgm:spPr/>
      <dgm:t>
        <a:bodyPr/>
        <a:lstStyle/>
        <a:p>
          <a:r>
            <a:rPr lang="zh-CN" altLang="en-US" sz="3200" b="1" dirty="0" smtClean="0"/>
            <a:t>混凝土实验用量</a:t>
          </a:r>
          <a:r>
            <a:rPr lang="en-US" altLang="zh-CN" sz="3200" b="1" dirty="0" smtClean="0">
              <a:latin typeface="宋体" panose="02010600030101010101" pitchFamily="2" charset="-122"/>
              <a:ea typeface="宋体" panose="02010600030101010101" pitchFamily="2" charset="-122"/>
            </a:rPr>
            <a:t>25L</a:t>
          </a:r>
          <a:endParaRPr lang="zh-CN" altLang="en-US" sz="3200" b="1" dirty="0">
            <a:latin typeface="宋体" panose="02010600030101010101" pitchFamily="2" charset="-122"/>
            <a:ea typeface="宋体" panose="02010600030101010101" pitchFamily="2" charset="-122"/>
          </a:endParaRPr>
        </a:p>
      </dgm:t>
    </dgm:pt>
    <dgm:pt modelId="{B7A8DDA7-F6ED-43B3-BF64-26B4C220332E}" type="parTrans" cxnId="{9367BEC0-7146-4B33-B592-4975A19CD6C8}">
      <dgm:prSet/>
      <dgm:spPr/>
      <dgm:t>
        <a:bodyPr/>
        <a:lstStyle/>
        <a:p>
          <a:endParaRPr lang="zh-CN" altLang="en-US"/>
        </a:p>
      </dgm:t>
    </dgm:pt>
    <dgm:pt modelId="{511FB62E-B027-4B66-ACF4-6397AFB53D5F}" type="sibTrans" cxnId="{9367BEC0-7146-4B33-B592-4975A19CD6C8}">
      <dgm:prSet/>
      <dgm:spPr/>
      <dgm:t>
        <a:bodyPr/>
        <a:lstStyle/>
        <a:p>
          <a:endParaRPr lang="zh-CN" altLang="en-US"/>
        </a:p>
      </dgm:t>
    </dgm:pt>
    <dgm:pt modelId="{A2A4D198-AC3C-47A2-A51C-4A02DFC49701}">
      <dgm:prSet phldrT="[文本]" custT="1"/>
      <dgm:spPr/>
      <dgm:t>
        <a:bodyPr/>
        <a:lstStyle/>
        <a:p>
          <a:r>
            <a:rPr lang="zh-CN" altLang="en-US" sz="2400" b="1" dirty="0" smtClean="0"/>
            <a:t>水</a:t>
          </a:r>
          <a:r>
            <a:rPr lang="en-US" altLang="zh-CN" sz="2400" b="1" dirty="0" smtClean="0">
              <a:latin typeface="宋体" panose="02010600030101010101" pitchFamily="2" charset="-122"/>
              <a:ea typeface="宋体" panose="02010600030101010101" pitchFamily="2" charset="-122"/>
            </a:rPr>
            <a:t>4.332kg</a:t>
          </a:r>
          <a:endParaRPr lang="zh-CN" altLang="en-US" sz="2400" b="1" dirty="0">
            <a:latin typeface="宋体" panose="02010600030101010101" pitchFamily="2" charset="-122"/>
            <a:ea typeface="宋体" panose="02010600030101010101" pitchFamily="2" charset="-122"/>
          </a:endParaRPr>
        </a:p>
      </dgm:t>
    </dgm:pt>
    <dgm:pt modelId="{3D986DBE-F558-4673-BFD3-FC086D26DEE1}" type="parTrans" cxnId="{FC929355-5D45-4C7B-A7B0-E5137D380B8B}">
      <dgm:prSet/>
      <dgm:spPr/>
      <dgm:t>
        <a:bodyPr/>
        <a:lstStyle/>
        <a:p>
          <a:endParaRPr lang="zh-CN" altLang="en-US"/>
        </a:p>
      </dgm:t>
    </dgm:pt>
    <dgm:pt modelId="{7F2683B3-12F2-4E80-B12F-C943546E69BA}" type="sibTrans" cxnId="{FC929355-5D45-4C7B-A7B0-E5137D380B8B}">
      <dgm:prSet/>
      <dgm:spPr/>
      <dgm:t>
        <a:bodyPr/>
        <a:lstStyle/>
        <a:p>
          <a:endParaRPr lang="zh-CN" altLang="en-US"/>
        </a:p>
      </dgm:t>
    </dgm:pt>
    <dgm:pt modelId="{40375DE2-3857-4015-BA15-9210BBF4E1BE}">
      <dgm:prSet phldrT="[文本]" custT="1"/>
      <dgm:spPr/>
      <dgm:t>
        <a:bodyPr/>
        <a:lstStyle/>
        <a:p>
          <a:r>
            <a:rPr lang="zh-CN" altLang="en-US" sz="2400" b="1" dirty="0" smtClean="0">
              <a:latin typeface="宋体" pitchFamily="2" charset="-122"/>
              <a:ea typeface="宋体" pitchFamily="2" charset="-122"/>
            </a:rPr>
            <a:t>砂</a:t>
          </a:r>
          <a:r>
            <a:rPr lang="en-US" altLang="zh-CN" sz="2400" b="1" dirty="0" smtClean="0">
              <a:latin typeface="宋体" pitchFamily="2" charset="-122"/>
              <a:ea typeface="宋体" pitchFamily="2" charset="-122"/>
            </a:rPr>
            <a:t>18.20kg</a:t>
          </a:r>
          <a:endParaRPr lang="zh-CN" altLang="en-US" sz="2400" b="1" dirty="0">
            <a:latin typeface="宋体" pitchFamily="2" charset="-122"/>
            <a:ea typeface="宋体" pitchFamily="2" charset="-122"/>
          </a:endParaRPr>
        </a:p>
      </dgm:t>
    </dgm:pt>
    <dgm:pt modelId="{F031A6F3-3747-40F0-BE0A-886B49E9CB1B}" type="parTrans" cxnId="{8A54D7F6-B94E-4644-AF66-251395E9EBF7}">
      <dgm:prSet/>
      <dgm:spPr/>
      <dgm:t>
        <a:bodyPr/>
        <a:lstStyle/>
        <a:p>
          <a:endParaRPr lang="zh-CN" altLang="en-US"/>
        </a:p>
      </dgm:t>
    </dgm:pt>
    <dgm:pt modelId="{18B7D694-F78F-4E2B-911A-C01465792328}" type="sibTrans" cxnId="{8A54D7F6-B94E-4644-AF66-251395E9EBF7}">
      <dgm:prSet/>
      <dgm:spPr/>
      <dgm:t>
        <a:bodyPr/>
        <a:lstStyle/>
        <a:p>
          <a:endParaRPr lang="zh-CN" altLang="en-US"/>
        </a:p>
      </dgm:t>
    </dgm:pt>
    <dgm:pt modelId="{A981FD85-0855-425D-BFD4-031F8DB3FAF3}">
      <dgm:prSet phldrT="[文本]" custT="1"/>
      <dgm:spPr/>
      <dgm:t>
        <a:bodyPr/>
        <a:lstStyle/>
        <a:p>
          <a:r>
            <a:rPr lang="zh-CN" altLang="en-US" sz="2400" b="1" dirty="0" smtClean="0"/>
            <a:t>粉煤灰</a:t>
          </a:r>
          <a:r>
            <a:rPr lang="en-US" altLang="zh-CN" sz="2400" b="1" dirty="0" smtClean="0">
              <a:latin typeface="宋体" panose="02010600030101010101" pitchFamily="2" charset="-122"/>
              <a:ea typeface="宋体" panose="02010600030101010101" pitchFamily="2" charset="-122"/>
            </a:rPr>
            <a:t>2.05kg</a:t>
          </a:r>
          <a:endParaRPr lang="zh-CN" altLang="en-US" sz="2400" b="1" dirty="0"/>
        </a:p>
      </dgm:t>
    </dgm:pt>
    <dgm:pt modelId="{3845221F-2B0C-4FD0-BA61-028FDC757140}" type="parTrans" cxnId="{B7C03D40-3A2B-4BFF-9A02-C3A972E9DB89}">
      <dgm:prSet/>
      <dgm:spPr/>
      <dgm:t>
        <a:bodyPr/>
        <a:lstStyle/>
        <a:p>
          <a:endParaRPr lang="zh-CN" altLang="en-US"/>
        </a:p>
      </dgm:t>
    </dgm:pt>
    <dgm:pt modelId="{0D3DE692-12B5-4E11-934B-BAC57E3F9DB4}" type="sibTrans" cxnId="{B7C03D40-3A2B-4BFF-9A02-C3A972E9DB89}">
      <dgm:prSet/>
      <dgm:spPr/>
      <dgm:t>
        <a:bodyPr/>
        <a:lstStyle/>
        <a:p>
          <a:endParaRPr lang="zh-CN" altLang="en-US"/>
        </a:p>
      </dgm:t>
    </dgm:pt>
    <dgm:pt modelId="{4690802C-5B3F-4B00-B94E-9B3E88F95B72}">
      <dgm:prSet phldrT="[文本]" custT="1"/>
      <dgm:spPr/>
      <dgm:t>
        <a:bodyPr/>
        <a:lstStyle/>
        <a:p>
          <a:r>
            <a:rPr lang="zh-CN" altLang="en-US" sz="2400" b="1" dirty="0" smtClean="0">
              <a:latin typeface="宋体" pitchFamily="2" charset="-122"/>
              <a:ea typeface="宋体" pitchFamily="2" charset="-122"/>
            </a:rPr>
            <a:t>水泥</a:t>
          </a:r>
          <a:r>
            <a:rPr lang="en-US" altLang="zh-CN" sz="2400" b="1" dirty="0" smtClean="0">
              <a:latin typeface="宋体" pitchFamily="2" charset="-122"/>
              <a:ea typeface="宋体" pitchFamily="2" charset="-122"/>
            </a:rPr>
            <a:t>11.70kg</a:t>
          </a:r>
          <a:endParaRPr lang="zh-CN" altLang="en-US" sz="2400" b="1" dirty="0">
            <a:latin typeface="宋体" pitchFamily="2" charset="-122"/>
            <a:ea typeface="宋体" pitchFamily="2" charset="-122"/>
          </a:endParaRPr>
        </a:p>
      </dgm:t>
    </dgm:pt>
    <dgm:pt modelId="{69065374-F898-422A-B9B3-17768A7A4D83}" type="parTrans" cxnId="{AA95293A-D290-4F5F-AE52-8A52EB654CA0}">
      <dgm:prSet/>
      <dgm:spPr/>
      <dgm:t>
        <a:bodyPr/>
        <a:lstStyle/>
        <a:p>
          <a:endParaRPr lang="zh-CN" altLang="en-US"/>
        </a:p>
      </dgm:t>
    </dgm:pt>
    <dgm:pt modelId="{AEF21ADE-1018-45F1-BB3B-284B9A8696F9}" type="sibTrans" cxnId="{AA95293A-D290-4F5F-AE52-8A52EB654CA0}">
      <dgm:prSet/>
      <dgm:spPr/>
      <dgm:t>
        <a:bodyPr/>
        <a:lstStyle/>
        <a:p>
          <a:endParaRPr lang="zh-CN" altLang="en-US"/>
        </a:p>
      </dgm:t>
    </dgm:pt>
    <dgm:pt modelId="{5C1C7DA4-07D7-423E-843D-F0CD2D182D4D}">
      <dgm:prSet phldrT="[文本]" custT="1"/>
      <dgm:spPr/>
      <dgm:t>
        <a:bodyPr/>
        <a:lstStyle/>
        <a:p>
          <a:r>
            <a:rPr lang="zh-CN" altLang="en-US" sz="2400" b="1" dirty="0" smtClean="0"/>
            <a:t>石</a:t>
          </a:r>
          <a:r>
            <a:rPr lang="en-US" altLang="zh-CN" sz="2400" b="1" dirty="0" smtClean="0">
              <a:latin typeface="宋体" panose="02010600030101010101" pitchFamily="2" charset="-122"/>
              <a:ea typeface="宋体" panose="02010600030101010101" pitchFamily="2" charset="-122"/>
            </a:rPr>
            <a:t>23.90kg</a:t>
          </a:r>
          <a:endParaRPr lang="zh-CN" altLang="en-US" sz="2400" b="1" dirty="0"/>
        </a:p>
      </dgm:t>
    </dgm:pt>
    <dgm:pt modelId="{2D7A8AFF-A7F6-4F9C-BEBA-3737DCDD1118}" type="parTrans" cxnId="{88A6FB1A-1FFF-4EFC-AD67-9CDE42B19D08}">
      <dgm:prSet/>
      <dgm:spPr/>
      <dgm:t>
        <a:bodyPr/>
        <a:lstStyle/>
        <a:p>
          <a:endParaRPr lang="zh-CN" altLang="en-US"/>
        </a:p>
      </dgm:t>
    </dgm:pt>
    <dgm:pt modelId="{CF8473B0-173A-4EB6-97A4-559EEA473F0E}" type="sibTrans" cxnId="{88A6FB1A-1FFF-4EFC-AD67-9CDE42B19D08}">
      <dgm:prSet/>
      <dgm:spPr/>
      <dgm:t>
        <a:bodyPr/>
        <a:lstStyle/>
        <a:p>
          <a:endParaRPr lang="zh-CN" altLang="en-US"/>
        </a:p>
      </dgm:t>
    </dgm:pt>
    <dgm:pt modelId="{08955D5A-1FF6-4753-9076-2D522C59A5DE}">
      <dgm:prSet phldrT="[文本]" custT="1"/>
      <dgm:spPr/>
      <dgm:t>
        <a:bodyPr/>
        <a:lstStyle/>
        <a:p>
          <a:r>
            <a:rPr lang="zh-CN" altLang="en-US" sz="2400" b="1" dirty="0" smtClean="0">
              <a:latin typeface="+mn-ea"/>
              <a:ea typeface="+mn-ea"/>
            </a:rPr>
            <a:t>减水剂</a:t>
          </a:r>
          <a:r>
            <a:rPr lang="en-US" altLang="zh-CN" sz="2400" b="1" dirty="0" smtClean="0">
              <a:latin typeface="宋体" panose="02010600030101010101" pitchFamily="2" charset="-122"/>
              <a:ea typeface="宋体" panose="02010600030101010101" pitchFamily="2" charset="-122"/>
            </a:rPr>
            <a:t>0.22kg</a:t>
          </a:r>
          <a:endParaRPr lang="zh-CN" altLang="en-US" sz="2400" b="1" dirty="0"/>
        </a:p>
      </dgm:t>
    </dgm:pt>
    <dgm:pt modelId="{15477190-36B3-4514-9676-E928CC0F5E9D}" type="parTrans" cxnId="{9931492E-48C2-4761-BA9C-B0397A96F794}">
      <dgm:prSet/>
      <dgm:spPr/>
      <dgm:t>
        <a:bodyPr/>
        <a:lstStyle/>
        <a:p>
          <a:endParaRPr lang="zh-CN" altLang="en-US"/>
        </a:p>
      </dgm:t>
    </dgm:pt>
    <dgm:pt modelId="{F9A23500-8C54-4F89-9700-4EEA1EDE1992}" type="sibTrans" cxnId="{9931492E-48C2-4761-BA9C-B0397A96F794}">
      <dgm:prSet/>
      <dgm:spPr/>
      <dgm:t>
        <a:bodyPr/>
        <a:lstStyle/>
        <a:p>
          <a:endParaRPr lang="zh-CN" altLang="en-US"/>
        </a:p>
      </dgm:t>
    </dgm:pt>
    <dgm:pt modelId="{6F17745C-ABBA-457F-A81B-78FD4BC9EF32}" type="pres">
      <dgm:prSet presAssocID="{515F922F-5A8F-444D-B166-330EECDF9356}" presName="Name0" presStyleCnt="0">
        <dgm:presLayoutVars>
          <dgm:chMax val="1"/>
          <dgm:dir/>
          <dgm:animLvl val="ctr"/>
          <dgm:resizeHandles val="exact"/>
        </dgm:presLayoutVars>
      </dgm:prSet>
      <dgm:spPr/>
      <dgm:t>
        <a:bodyPr/>
        <a:lstStyle/>
        <a:p>
          <a:endParaRPr lang="zh-CN" altLang="en-US"/>
        </a:p>
      </dgm:t>
    </dgm:pt>
    <dgm:pt modelId="{07EFAC5B-03D0-4954-8C22-ADED4C758467}" type="pres">
      <dgm:prSet presAssocID="{CD5E7701-15B2-47F1-B09D-1591D0CF76D8}" presName="centerShape" presStyleLbl="node0" presStyleIdx="0" presStyleCnt="1" custScaleX="116959" custScaleY="116959"/>
      <dgm:spPr/>
      <dgm:t>
        <a:bodyPr/>
        <a:lstStyle/>
        <a:p>
          <a:endParaRPr lang="zh-CN" altLang="en-US"/>
        </a:p>
      </dgm:t>
    </dgm:pt>
    <dgm:pt modelId="{4E33D3F0-B495-4D55-9BE5-5E5E3AA726DD}" type="pres">
      <dgm:prSet presAssocID="{A2A4D198-AC3C-47A2-A51C-4A02DFC49701}" presName="node" presStyleLbl="node1" presStyleIdx="0" presStyleCnt="6" custScaleX="122453" custScaleY="122453">
        <dgm:presLayoutVars>
          <dgm:bulletEnabled val="1"/>
        </dgm:presLayoutVars>
      </dgm:prSet>
      <dgm:spPr/>
      <dgm:t>
        <a:bodyPr/>
        <a:lstStyle/>
        <a:p>
          <a:endParaRPr lang="zh-CN" altLang="en-US"/>
        </a:p>
      </dgm:t>
    </dgm:pt>
    <dgm:pt modelId="{3A7311FC-5C61-47AF-BA72-942BEC347099}" type="pres">
      <dgm:prSet presAssocID="{A2A4D198-AC3C-47A2-A51C-4A02DFC49701}" presName="dummy" presStyleCnt="0"/>
      <dgm:spPr/>
    </dgm:pt>
    <dgm:pt modelId="{EB9061D0-1C81-4128-8F71-00B5A0A1ABF4}" type="pres">
      <dgm:prSet presAssocID="{7F2683B3-12F2-4E80-B12F-C943546E69BA}" presName="sibTrans" presStyleLbl="sibTrans2D1" presStyleIdx="0" presStyleCnt="6"/>
      <dgm:spPr/>
      <dgm:t>
        <a:bodyPr/>
        <a:lstStyle/>
        <a:p>
          <a:endParaRPr lang="zh-CN" altLang="en-US"/>
        </a:p>
      </dgm:t>
    </dgm:pt>
    <dgm:pt modelId="{346D0268-AF47-47C9-B468-90A6E44A3B0C}" type="pres">
      <dgm:prSet presAssocID="{5C1C7DA4-07D7-423E-843D-F0CD2D182D4D}" presName="node" presStyleLbl="node1" presStyleIdx="1" presStyleCnt="6" custScaleX="122453" custScaleY="122453">
        <dgm:presLayoutVars>
          <dgm:bulletEnabled val="1"/>
        </dgm:presLayoutVars>
      </dgm:prSet>
      <dgm:spPr/>
      <dgm:t>
        <a:bodyPr/>
        <a:lstStyle/>
        <a:p>
          <a:endParaRPr lang="zh-CN" altLang="en-US"/>
        </a:p>
      </dgm:t>
    </dgm:pt>
    <dgm:pt modelId="{AF593E01-E0E8-4B1D-875B-C367DC8159F1}" type="pres">
      <dgm:prSet presAssocID="{5C1C7DA4-07D7-423E-843D-F0CD2D182D4D}" presName="dummy" presStyleCnt="0"/>
      <dgm:spPr/>
    </dgm:pt>
    <dgm:pt modelId="{19F8AE2C-515B-4A9F-B5C1-EA5048E3B304}" type="pres">
      <dgm:prSet presAssocID="{CF8473B0-173A-4EB6-97A4-559EEA473F0E}" presName="sibTrans" presStyleLbl="sibTrans2D1" presStyleIdx="1" presStyleCnt="6"/>
      <dgm:spPr/>
      <dgm:t>
        <a:bodyPr/>
        <a:lstStyle/>
        <a:p>
          <a:endParaRPr lang="zh-CN" altLang="en-US"/>
        </a:p>
      </dgm:t>
    </dgm:pt>
    <dgm:pt modelId="{6809EAC0-0A19-414F-8617-DF283EEB6C27}" type="pres">
      <dgm:prSet presAssocID="{08955D5A-1FF6-4753-9076-2D522C59A5DE}" presName="node" presStyleLbl="node1" presStyleIdx="2" presStyleCnt="6" custScaleX="122453" custScaleY="122453">
        <dgm:presLayoutVars>
          <dgm:bulletEnabled val="1"/>
        </dgm:presLayoutVars>
      </dgm:prSet>
      <dgm:spPr/>
      <dgm:t>
        <a:bodyPr/>
        <a:lstStyle/>
        <a:p>
          <a:endParaRPr lang="zh-CN" altLang="en-US"/>
        </a:p>
      </dgm:t>
    </dgm:pt>
    <dgm:pt modelId="{8D871788-2CC4-4B7B-A1B1-37F65BE908A0}" type="pres">
      <dgm:prSet presAssocID="{08955D5A-1FF6-4753-9076-2D522C59A5DE}" presName="dummy" presStyleCnt="0"/>
      <dgm:spPr/>
    </dgm:pt>
    <dgm:pt modelId="{66A97288-66A2-4249-9F34-94E73031D05D}" type="pres">
      <dgm:prSet presAssocID="{F9A23500-8C54-4F89-9700-4EEA1EDE1992}" presName="sibTrans" presStyleLbl="sibTrans2D1" presStyleIdx="2" presStyleCnt="6"/>
      <dgm:spPr/>
      <dgm:t>
        <a:bodyPr/>
        <a:lstStyle/>
        <a:p>
          <a:endParaRPr lang="zh-CN" altLang="en-US"/>
        </a:p>
      </dgm:t>
    </dgm:pt>
    <dgm:pt modelId="{319F3258-CF7D-4151-8F1A-FFB8124C01E3}" type="pres">
      <dgm:prSet presAssocID="{40375DE2-3857-4015-BA15-9210BBF4E1BE}" presName="node" presStyleLbl="node1" presStyleIdx="3" presStyleCnt="6" custScaleX="122453" custScaleY="122453">
        <dgm:presLayoutVars>
          <dgm:bulletEnabled val="1"/>
        </dgm:presLayoutVars>
      </dgm:prSet>
      <dgm:spPr/>
      <dgm:t>
        <a:bodyPr/>
        <a:lstStyle/>
        <a:p>
          <a:endParaRPr lang="zh-CN" altLang="en-US"/>
        </a:p>
      </dgm:t>
    </dgm:pt>
    <dgm:pt modelId="{D2017A6E-BD41-41A3-98EB-4621006CC6BB}" type="pres">
      <dgm:prSet presAssocID="{40375DE2-3857-4015-BA15-9210BBF4E1BE}" presName="dummy" presStyleCnt="0"/>
      <dgm:spPr/>
    </dgm:pt>
    <dgm:pt modelId="{8B29CCCC-95E0-4E26-885E-8EC28E986583}" type="pres">
      <dgm:prSet presAssocID="{18B7D694-F78F-4E2B-911A-C01465792328}" presName="sibTrans" presStyleLbl="sibTrans2D1" presStyleIdx="3" presStyleCnt="6"/>
      <dgm:spPr/>
      <dgm:t>
        <a:bodyPr/>
        <a:lstStyle/>
        <a:p>
          <a:endParaRPr lang="zh-CN" altLang="en-US"/>
        </a:p>
      </dgm:t>
    </dgm:pt>
    <dgm:pt modelId="{02A05821-F1FF-4EFF-98A5-F76A19A57485}" type="pres">
      <dgm:prSet presAssocID="{A981FD85-0855-425D-BFD4-031F8DB3FAF3}" presName="node" presStyleLbl="node1" presStyleIdx="4" presStyleCnt="6" custScaleX="122453" custScaleY="122453">
        <dgm:presLayoutVars>
          <dgm:bulletEnabled val="1"/>
        </dgm:presLayoutVars>
      </dgm:prSet>
      <dgm:spPr/>
      <dgm:t>
        <a:bodyPr/>
        <a:lstStyle/>
        <a:p>
          <a:endParaRPr lang="zh-CN" altLang="en-US"/>
        </a:p>
      </dgm:t>
    </dgm:pt>
    <dgm:pt modelId="{6112EBC5-9FB6-4CF3-B50B-F6B745558473}" type="pres">
      <dgm:prSet presAssocID="{A981FD85-0855-425D-BFD4-031F8DB3FAF3}" presName="dummy" presStyleCnt="0"/>
      <dgm:spPr/>
    </dgm:pt>
    <dgm:pt modelId="{359817EC-D1C3-42F9-9433-10C853C46232}" type="pres">
      <dgm:prSet presAssocID="{0D3DE692-12B5-4E11-934B-BAC57E3F9DB4}" presName="sibTrans" presStyleLbl="sibTrans2D1" presStyleIdx="4" presStyleCnt="6"/>
      <dgm:spPr/>
      <dgm:t>
        <a:bodyPr/>
        <a:lstStyle/>
        <a:p>
          <a:endParaRPr lang="zh-CN" altLang="en-US"/>
        </a:p>
      </dgm:t>
    </dgm:pt>
    <dgm:pt modelId="{68FCCD9A-6F63-4F35-937F-4B2A5A667EE5}" type="pres">
      <dgm:prSet presAssocID="{4690802C-5B3F-4B00-B94E-9B3E88F95B72}" presName="node" presStyleLbl="node1" presStyleIdx="5" presStyleCnt="6" custScaleX="122453" custScaleY="122453">
        <dgm:presLayoutVars>
          <dgm:bulletEnabled val="1"/>
        </dgm:presLayoutVars>
      </dgm:prSet>
      <dgm:spPr/>
      <dgm:t>
        <a:bodyPr/>
        <a:lstStyle/>
        <a:p>
          <a:endParaRPr lang="zh-CN" altLang="en-US"/>
        </a:p>
      </dgm:t>
    </dgm:pt>
    <dgm:pt modelId="{599F8B3E-0E55-4614-ABCB-02955726BF85}" type="pres">
      <dgm:prSet presAssocID="{4690802C-5B3F-4B00-B94E-9B3E88F95B72}" presName="dummy" presStyleCnt="0"/>
      <dgm:spPr/>
    </dgm:pt>
    <dgm:pt modelId="{4B7DA9EE-C273-44E4-9FA5-68A7B510FBED}" type="pres">
      <dgm:prSet presAssocID="{AEF21ADE-1018-45F1-BB3B-284B9A8696F9}" presName="sibTrans" presStyleLbl="sibTrans2D1" presStyleIdx="5" presStyleCnt="6"/>
      <dgm:spPr/>
      <dgm:t>
        <a:bodyPr/>
        <a:lstStyle/>
        <a:p>
          <a:endParaRPr lang="zh-CN" altLang="en-US"/>
        </a:p>
      </dgm:t>
    </dgm:pt>
  </dgm:ptLst>
  <dgm:cxnLst>
    <dgm:cxn modelId="{9931492E-48C2-4761-BA9C-B0397A96F794}" srcId="{CD5E7701-15B2-47F1-B09D-1591D0CF76D8}" destId="{08955D5A-1FF6-4753-9076-2D522C59A5DE}" srcOrd="2" destOrd="0" parTransId="{15477190-36B3-4514-9676-E928CC0F5E9D}" sibTransId="{F9A23500-8C54-4F89-9700-4EEA1EDE1992}"/>
    <dgm:cxn modelId="{B7C03D40-3A2B-4BFF-9A02-C3A972E9DB89}" srcId="{CD5E7701-15B2-47F1-B09D-1591D0CF76D8}" destId="{A981FD85-0855-425D-BFD4-031F8DB3FAF3}" srcOrd="4" destOrd="0" parTransId="{3845221F-2B0C-4FD0-BA61-028FDC757140}" sibTransId="{0D3DE692-12B5-4E11-934B-BAC57E3F9DB4}"/>
    <dgm:cxn modelId="{C2828483-9FE4-4F3A-8AC0-22AF2E1BA94E}" type="presOf" srcId="{4690802C-5B3F-4B00-B94E-9B3E88F95B72}" destId="{68FCCD9A-6F63-4F35-937F-4B2A5A667EE5}" srcOrd="0" destOrd="0" presId="urn:microsoft.com/office/officeart/2005/8/layout/radial6"/>
    <dgm:cxn modelId="{AA95293A-D290-4F5F-AE52-8A52EB654CA0}" srcId="{CD5E7701-15B2-47F1-B09D-1591D0CF76D8}" destId="{4690802C-5B3F-4B00-B94E-9B3E88F95B72}" srcOrd="5" destOrd="0" parTransId="{69065374-F898-422A-B9B3-17768A7A4D83}" sibTransId="{AEF21ADE-1018-45F1-BB3B-284B9A8696F9}"/>
    <dgm:cxn modelId="{8A54D7F6-B94E-4644-AF66-251395E9EBF7}" srcId="{CD5E7701-15B2-47F1-B09D-1591D0CF76D8}" destId="{40375DE2-3857-4015-BA15-9210BBF4E1BE}" srcOrd="3" destOrd="0" parTransId="{F031A6F3-3747-40F0-BE0A-886B49E9CB1B}" sibTransId="{18B7D694-F78F-4E2B-911A-C01465792328}"/>
    <dgm:cxn modelId="{DEBDCC23-BDA7-4061-99AD-DCDF9B787E6E}" type="presOf" srcId="{CF8473B0-173A-4EB6-97A4-559EEA473F0E}" destId="{19F8AE2C-515B-4A9F-B5C1-EA5048E3B304}" srcOrd="0" destOrd="0" presId="urn:microsoft.com/office/officeart/2005/8/layout/radial6"/>
    <dgm:cxn modelId="{7C2D851E-B162-4C8B-B4BF-22B6FA163F10}" type="presOf" srcId="{AEF21ADE-1018-45F1-BB3B-284B9A8696F9}" destId="{4B7DA9EE-C273-44E4-9FA5-68A7B510FBED}" srcOrd="0" destOrd="0" presId="urn:microsoft.com/office/officeart/2005/8/layout/radial6"/>
    <dgm:cxn modelId="{FC929355-5D45-4C7B-A7B0-E5137D380B8B}" srcId="{CD5E7701-15B2-47F1-B09D-1591D0CF76D8}" destId="{A2A4D198-AC3C-47A2-A51C-4A02DFC49701}" srcOrd="0" destOrd="0" parTransId="{3D986DBE-F558-4673-BFD3-FC086D26DEE1}" sibTransId="{7F2683B3-12F2-4E80-B12F-C943546E69BA}"/>
    <dgm:cxn modelId="{151B8CD5-445C-42BC-96F0-B49DEBA65149}" type="presOf" srcId="{F9A23500-8C54-4F89-9700-4EEA1EDE1992}" destId="{66A97288-66A2-4249-9F34-94E73031D05D}" srcOrd="0" destOrd="0" presId="urn:microsoft.com/office/officeart/2005/8/layout/radial6"/>
    <dgm:cxn modelId="{E8BDB3AF-BB08-4501-9329-CB85D2D433DA}" type="presOf" srcId="{18B7D694-F78F-4E2B-911A-C01465792328}" destId="{8B29CCCC-95E0-4E26-885E-8EC28E986583}" srcOrd="0" destOrd="0" presId="urn:microsoft.com/office/officeart/2005/8/layout/radial6"/>
    <dgm:cxn modelId="{73CD58D7-E43C-4F7A-A0AF-90EF601B5ADE}" type="presOf" srcId="{A2A4D198-AC3C-47A2-A51C-4A02DFC49701}" destId="{4E33D3F0-B495-4D55-9BE5-5E5E3AA726DD}" srcOrd="0" destOrd="0" presId="urn:microsoft.com/office/officeart/2005/8/layout/radial6"/>
    <dgm:cxn modelId="{9367BEC0-7146-4B33-B592-4975A19CD6C8}" srcId="{515F922F-5A8F-444D-B166-330EECDF9356}" destId="{CD5E7701-15B2-47F1-B09D-1591D0CF76D8}" srcOrd="0" destOrd="0" parTransId="{B7A8DDA7-F6ED-43B3-BF64-26B4C220332E}" sibTransId="{511FB62E-B027-4B66-ACF4-6397AFB53D5F}"/>
    <dgm:cxn modelId="{91537BE5-C44D-4B6C-9C60-7BA6137807EE}" type="presOf" srcId="{CD5E7701-15B2-47F1-B09D-1591D0CF76D8}" destId="{07EFAC5B-03D0-4954-8C22-ADED4C758467}" srcOrd="0" destOrd="0" presId="urn:microsoft.com/office/officeart/2005/8/layout/radial6"/>
    <dgm:cxn modelId="{AFBCC3AF-5D88-496C-B24F-921632C599DC}" type="presOf" srcId="{515F922F-5A8F-444D-B166-330EECDF9356}" destId="{6F17745C-ABBA-457F-A81B-78FD4BC9EF32}" srcOrd="0" destOrd="0" presId="urn:microsoft.com/office/officeart/2005/8/layout/radial6"/>
    <dgm:cxn modelId="{91E5A90E-F8E1-4322-8147-E67ECB72DF16}" type="presOf" srcId="{0D3DE692-12B5-4E11-934B-BAC57E3F9DB4}" destId="{359817EC-D1C3-42F9-9433-10C853C46232}" srcOrd="0" destOrd="0" presId="urn:microsoft.com/office/officeart/2005/8/layout/radial6"/>
    <dgm:cxn modelId="{29585BA2-272E-4B4F-B2E1-D6C488895013}" type="presOf" srcId="{08955D5A-1FF6-4753-9076-2D522C59A5DE}" destId="{6809EAC0-0A19-414F-8617-DF283EEB6C27}" srcOrd="0" destOrd="0" presId="urn:microsoft.com/office/officeart/2005/8/layout/radial6"/>
    <dgm:cxn modelId="{FEF3A614-521B-449A-B5E0-44497CB45D10}" type="presOf" srcId="{A981FD85-0855-425D-BFD4-031F8DB3FAF3}" destId="{02A05821-F1FF-4EFF-98A5-F76A19A57485}" srcOrd="0" destOrd="0" presId="urn:microsoft.com/office/officeart/2005/8/layout/radial6"/>
    <dgm:cxn modelId="{88A6FB1A-1FFF-4EFC-AD67-9CDE42B19D08}" srcId="{CD5E7701-15B2-47F1-B09D-1591D0CF76D8}" destId="{5C1C7DA4-07D7-423E-843D-F0CD2D182D4D}" srcOrd="1" destOrd="0" parTransId="{2D7A8AFF-A7F6-4F9C-BEBA-3737DCDD1118}" sibTransId="{CF8473B0-173A-4EB6-97A4-559EEA473F0E}"/>
    <dgm:cxn modelId="{E58995CD-0032-4DA8-AC20-53C0EA8E5B08}" type="presOf" srcId="{7F2683B3-12F2-4E80-B12F-C943546E69BA}" destId="{EB9061D0-1C81-4128-8F71-00B5A0A1ABF4}" srcOrd="0" destOrd="0" presId="urn:microsoft.com/office/officeart/2005/8/layout/radial6"/>
    <dgm:cxn modelId="{7818E611-F2DE-48E5-BF8A-F4A545BC9BCE}" type="presOf" srcId="{40375DE2-3857-4015-BA15-9210BBF4E1BE}" destId="{319F3258-CF7D-4151-8F1A-FFB8124C01E3}" srcOrd="0" destOrd="0" presId="urn:microsoft.com/office/officeart/2005/8/layout/radial6"/>
    <dgm:cxn modelId="{4E3D5E49-5BD4-4FFC-BF1D-B1A2FD0E9BAB}" type="presOf" srcId="{5C1C7DA4-07D7-423E-843D-F0CD2D182D4D}" destId="{346D0268-AF47-47C9-B468-90A6E44A3B0C}" srcOrd="0" destOrd="0" presId="urn:microsoft.com/office/officeart/2005/8/layout/radial6"/>
    <dgm:cxn modelId="{6352FD18-6360-4AAD-A38F-BC611A6DC52A}" type="presParOf" srcId="{6F17745C-ABBA-457F-A81B-78FD4BC9EF32}" destId="{07EFAC5B-03D0-4954-8C22-ADED4C758467}" srcOrd="0" destOrd="0" presId="urn:microsoft.com/office/officeart/2005/8/layout/radial6"/>
    <dgm:cxn modelId="{7CC98894-8D84-48F7-9F2E-30EA5A3D5833}" type="presParOf" srcId="{6F17745C-ABBA-457F-A81B-78FD4BC9EF32}" destId="{4E33D3F0-B495-4D55-9BE5-5E5E3AA726DD}" srcOrd="1" destOrd="0" presId="urn:microsoft.com/office/officeart/2005/8/layout/radial6"/>
    <dgm:cxn modelId="{7EFC1878-2B2C-414C-B54D-9AFA811AA09E}" type="presParOf" srcId="{6F17745C-ABBA-457F-A81B-78FD4BC9EF32}" destId="{3A7311FC-5C61-47AF-BA72-942BEC347099}" srcOrd="2" destOrd="0" presId="urn:microsoft.com/office/officeart/2005/8/layout/radial6"/>
    <dgm:cxn modelId="{0DD709AD-1D2A-479B-A73B-A2E5748FABBA}" type="presParOf" srcId="{6F17745C-ABBA-457F-A81B-78FD4BC9EF32}" destId="{EB9061D0-1C81-4128-8F71-00B5A0A1ABF4}" srcOrd="3" destOrd="0" presId="urn:microsoft.com/office/officeart/2005/8/layout/radial6"/>
    <dgm:cxn modelId="{25E08FDA-71A7-4C6B-9B0D-7735A596DB06}" type="presParOf" srcId="{6F17745C-ABBA-457F-A81B-78FD4BC9EF32}" destId="{346D0268-AF47-47C9-B468-90A6E44A3B0C}" srcOrd="4" destOrd="0" presId="urn:microsoft.com/office/officeart/2005/8/layout/radial6"/>
    <dgm:cxn modelId="{0DA22144-9C2A-43CA-A1FF-000D65CD70BD}" type="presParOf" srcId="{6F17745C-ABBA-457F-A81B-78FD4BC9EF32}" destId="{AF593E01-E0E8-4B1D-875B-C367DC8159F1}" srcOrd="5" destOrd="0" presId="urn:microsoft.com/office/officeart/2005/8/layout/radial6"/>
    <dgm:cxn modelId="{6BDD2F7A-258F-4AEB-BFA4-B1E275BCDD59}" type="presParOf" srcId="{6F17745C-ABBA-457F-A81B-78FD4BC9EF32}" destId="{19F8AE2C-515B-4A9F-B5C1-EA5048E3B304}" srcOrd="6" destOrd="0" presId="urn:microsoft.com/office/officeart/2005/8/layout/radial6"/>
    <dgm:cxn modelId="{0CECD75B-D481-4DEF-8D21-3D3CBF135E17}" type="presParOf" srcId="{6F17745C-ABBA-457F-A81B-78FD4BC9EF32}" destId="{6809EAC0-0A19-414F-8617-DF283EEB6C27}" srcOrd="7" destOrd="0" presId="urn:microsoft.com/office/officeart/2005/8/layout/radial6"/>
    <dgm:cxn modelId="{4F0B9D46-0C56-4B76-B7D1-313723454413}" type="presParOf" srcId="{6F17745C-ABBA-457F-A81B-78FD4BC9EF32}" destId="{8D871788-2CC4-4B7B-A1B1-37F65BE908A0}" srcOrd="8" destOrd="0" presId="urn:microsoft.com/office/officeart/2005/8/layout/radial6"/>
    <dgm:cxn modelId="{14DEA29B-C1D9-4EEF-A536-BB7022DE6F6E}" type="presParOf" srcId="{6F17745C-ABBA-457F-A81B-78FD4BC9EF32}" destId="{66A97288-66A2-4249-9F34-94E73031D05D}" srcOrd="9" destOrd="0" presId="urn:microsoft.com/office/officeart/2005/8/layout/radial6"/>
    <dgm:cxn modelId="{6FA775FD-BC0E-4B9D-A653-1DE6E11F843E}" type="presParOf" srcId="{6F17745C-ABBA-457F-A81B-78FD4BC9EF32}" destId="{319F3258-CF7D-4151-8F1A-FFB8124C01E3}" srcOrd="10" destOrd="0" presId="urn:microsoft.com/office/officeart/2005/8/layout/radial6"/>
    <dgm:cxn modelId="{65149915-50C9-4DA8-B89A-A5D421F4F326}" type="presParOf" srcId="{6F17745C-ABBA-457F-A81B-78FD4BC9EF32}" destId="{D2017A6E-BD41-41A3-98EB-4621006CC6BB}" srcOrd="11" destOrd="0" presId="urn:microsoft.com/office/officeart/2005/8/layout/radial6"/>
    <dgm:cxn modelId="{7C76C0BB-D855-4370-87B8-D57914C05D6B}" type="presParOf" srcId="{6F17745C-ABBA-457F-A81B-78FD4BC9EF32}" destId="{8B29CCCC-95E0-4E26-885E-8EC28E986583}" srcOrd="12" destOrd="0" presId="urn:microsoft.com/office/officeart/2005/8/layout/radial6"/>
    <dgm:cxn modelId="{5D4E018E-C061-4FA3-A2B1-6B1E8E4EB157}" type="presParOf" srcId="{6F17745C-ABBA-457F-A81B-78FD4BC9EF32}" destId="{02A05821-F1FF-4EFF-98A5-F76A19A57485}" srcOrd="13" destOrd="0" presId="urn:microsoft.com/office/officeart/2005/8/layout/radial6"/>
    <dgm:cxn modelId="{010CA016-E46B-4E63-9627-F26AE30F62A6}" type="presParOf" srcId="{6F17745C-ABBA-457F-A81B-78FD4BC9EF32}" destId="{6112EBC5-9FB6-4CF3-B50B-F6B745558473}" srcOrd="14" destOrd="0" presId="urn:microsoft.com/office/officeart/2005/8/layout/radial6"/>
    <dgm:cxn modelId="{F86FFB46-5A25-49BB-A426-04F9EAC92421}" type="presParOf" srcId="{6F17745C-ABBA-457F-A81B-78FD4BC9EF32}" destId="{359817EC-D1C3-42F9-9433-10C853C46232}" srcOrd="15" destOrd="0" presId="urn:microsoft.com/office/officeart/2005/8/layout/radial6"/>
    <dgm:cxn modelId="{3D3F01A8-20A7-4707-AF72-F92413BCA14D}" type="presParOf" srcId="{6F17745C-ABBA-457F-A81B-78FD4BC9EF32}" destId="{68FCCD9A-6F63-4F35-937F-4B2A5A667EE5}" srcOrd="16" destOrd="0" presId="urn:microsoft.com/office/officeart/2005/8/layout/radial6"/>
    <dgm:cxn modelId="{246686AA-88FB-4E9B-B5F0-AAB49C242BCD}" type="presParOf" srcId="{6F17745C-ABBA-457F-A81B-78FD4BC9EF32}" destId="{599F8B3E-0E55-4614-ABCB-02955726BF85}" srcOrd="17" destOrd="0" presId="urn:microsoft.com/office/officeart/2005/8/layout/radial6"/>
    <dgm:cxn modelId="{8B3F4DF7-3B6D-4AE7-BCE6-CB267259E4AB}" type="presParOf" srcId="{6F17745C-ABBA-457F-A81B-78FD4BC9EF32}" destId="{4B7DA9EE-C273-44E4-9FA5-68A7B510FBED}" srcOrd="18" destOrd="0" presId="urn:microsoft.com/office/officeart/2005/8/layout/radial6"/>
  </dgm:cxnLst>
  <dgm:bg/>
  <dgm:whole/>
</dgm:dataModel>
</file>

<file path=ppt/diagrams/layout1.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0" hangingPunct="0">
              <a:defRPr sz="1200">
                <a:latin typeface="Arial" panose="020B0604020202020204" pitchFamily="34" charset="0"/>
              </a:defRPr>
            </a:lvl1pPr>
          </a:lstStyle>
          <a:p>
            <a:pPr>
              <a:defRPr/>
            </a:pPr>
            <a:endParaRPr lang="zh-CN" altLang="en-US"/>
          </a:p>
        </p:txBody>
      </p:sp>
      <p:sp>
        <p:nvSpPr>
          <p:cNvPr id="16387"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0" hangingPunct="0">
              <a:defRPr sz="1200">
                <a:latin typeface="Arial" panose="020B0604020202020204" pitchFamily="34" charset="0"/>
              </a:defRPr>
            </a:lvl1pPr>
          </a:lstStyle>
          <a:p>
            <a:pPr>
              <a:defRPr/>
            </a:pPr>
            <a:fld id="{57C7A0E0-CDB0-41C4-B004-992EB2624E71}" type="datetimeFigureOut">
              <a:rPr lang="zh-CN" altLang="en-US"/>
              <a:pPr>
                <a:defRPr/>
              </a:pPr>
              <a:t>2013/12/24</a:t>
            </a:fld>
            <a:endParaRPr lang="en-US" altLang="zh-CN"/>
          </a:p>
        </p:txBody>
      </p:sp>
      <p:sp>
        <p:nvSpPr>
          <p:cNvPr id="307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16389"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16390"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0" hangingPunct="0">
              <a:defRPr sz="1200">
                <a:latin typeface="Arial" panose="020B0604020202020204" pitchFamily="34" charset="0"/>
              </a:defRPr>
            </a:lvl1pPr>
          </a:lstStyle>
          <a:p>
            <a:pPr>
              <a:defRPr/>
            </a:pPr>
            <a:endParaRPr lang="en-US" altLang="zh-CN"/>
          </a:p>
        </p:txBody>
      </p:sp>
      <p:sp>
        <p:nvSpPr>
          <p:cNvPr id="16391"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783FE8AF-62FE-465F-932A-A52A8DDBB980}" type="slidenum">
              <a:rPr lang="zh-CN" altLang="en-US"/>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Rot="1" noChangeAspect="1" noChangeArrowheads="1" noTextEdit="1"/>
          </p:cNvSpPr>
          <p:nvPr>
            <p:ph type="sldImg"/>
          </p:nvPr>
        </p:nvSpPr>
        <p:spPr>
          <a:ln/>
        </p:spPr>
      </p:sp>
      <p:sp>
        <p:nvSpPr>
          <p:cNvPr id="5123" name="Rectangle 3"/>
          <p:cNvSpPr>
            <a:spLocks noGrp="1" noChangeArrowheads="1"/>
          </p:cNvSpPr>
          <p:nvPr>
            <p:ph type="body" idx="1"/>
          </p:nvPr>
        </p:nvSpPr>
        <p:spPr>
          <a:noFill/>
        </p:spPr>
        <p:txBody>
          <a:bodyPr/>
          <a:lstStyle/>
          <a:p>
            <a:pPr eaLnBrk="1" hangingPunct="1"/>
            <a:endParaRPr lang="zh-CN" alt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83FE8AF-62FE-465F-932A-A52A8DDBB980}" type="slidenum">
              <a:rPr lang="zh-CN" altLang="en-US" smtClean="0"/>
              <a:pPr/>
              <a:t>2</a:t>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83FE8AF-62FE-465F-932A-A52A8DDBB980}" type="slidenum">
              <a:rPr lang="zh-CN" altLang="en-US" smtClean="0"/>
              <a:pPr/>
              <a:t>3</a:t>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幻灯片图像占位符 1"/>
          <p:cNvSpPr>
            <a:spLocks noGrp="1" noRot="1" noChangeAspect="1" noTextEdit="1"/>
          </p:cNvSpPr>
          <p:nvPr>
            <p:ph type="sldImg"/>
          </p:nvPr>
        </p:nvSpPr>
        <p:spPr>
          <a:ln/>
        </p:spPr>
      </p:sp>
      <p:sp>
        <p:nvSpPr>
          <p:cNvPr id="9219" name="备注占位符 2"/>
          <p:cNvSpPr>
            <a:spLocks noGrp="1"/>
          </p:cNvSpPr>
          <p:nvPr>
            <p:ph type="body" idx="1"/>
          </p:nvPr>
        </p:nvSpPr>
        <p:spPr>
          <a:noFill/>
        </p:spPr>
        <p:txBody>
          <a:bodyPr/>
          <a:lstStyle/>
          <a:p>
            <a:pPr eaLnBrk="1" hangingPunct="1"/>
            <a:endParaRPr lang="zh-CN" altLang="en-US" dirty="0" smtClean="0"/>
          </a:p>
        </p:txBody>
      </p:sp>
      <p:sp>
        <p:nvSpPr>
          <p:cNvPr id="9220" name="灯片编号占位符 3"/>
          <p:cNvSpPr>
            <a:spLocks noGrp="1"/>
          </p:cNvSpPr>
          <p:nvPr>
            <p:ph type="sldNum" sz="quarter" idx="5"/>
          </p:nvPr>
        </p:nvSpPr>
        <p:spPr>
          <a:noFill/>
          <a:ln>
            <a:miter lim="800000"/>
            <a:headEnd/>
            <a:tailEnd/>
          </a:ln>
        </p:spPr>
        <p:txBody>
          <a:bodyPr/>
          <a:lstStyle/>
          <a:p>
            <a:fld id="{D142F3B8-197F-4A76-B2B5-ED8C62FB28CE}" type="slidenum">
              <a:rPr lang="zh-CN" altLang="en-US"/>
              <a:pPr/>
              <a:t>5</a:t>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幻灯片图像占位符 1"/>
          <p:cNvSpPr>
            <a:spLocks noGrp="1" noRot="1" noChangeAspect="1" noTextEdit="1"/>
          </p:cNvSpPr>
          <p:nvPr>
            <p:ph type="sldImg"/>
          </p:nvPr>
        </p:nvSpPr>
        <p:spPr>
          <a:ln/>
        </p:spPr>
      </p:sp>
      <p:sp>
        <p:nvSpPr>
          <p:cNvPr id="9219" name="备注占位符 2"/>
          <p:cNvSpPr>
            <a:spLocks noGrp="1"/>
          </p:cNvSpPr>
          <p:nvPr>
            <p:ph type="body" idx="1"/>
          </p:nvPr>
        </p:nvSpPr>
        <p:spPr>
          <a:noFill/>
        </p:spPr>
        <p:txBody>
          <a:bodyPr/>
          <a:lstStyle/>
          <a:p>
            <a:pPr eaLnBrk="1" hangingPunct="1"/>
            <a:endParaRPr lang="zh-CN" altLang="en-US" dirty="0" smtClean="0"/>
          </a:p>
        </p:txBody>
      </p:sp>
      <p:sp>
        <p:nvSpPr>
          <p:cNvPr id="9220" name="灯片编号占位符 3"/>
          <p:cNvSpPr>
            <a:spLocks noGrp="1"/>
          </p:cNvSpPr>
          <p:nvPr>
            <p:ph type="sldNum" sz="quarter" idx="5"/>
          </p:nvPr>
        </p:nvSpPr>
        <p:spPr>
          <a:noFill/>
          <a:ln>
            <a:miter lim="800000"/>
            <a:headEnd/>
            <a:tailEnd/>
          </a:ln>
        </p:spPr>
        <p:txBody>
          <a:bodyPr/>
          <a:lstStyle/>
          <a:p>
            <a:fld id="{D142F3B8-197F-4A76-B2B5-ED8C62FB28CE}" type="slidenum">
              <a:rPr lang="zh-CN" altLang="en-US"/>
              <a:pPr/>
              <a:t>6</a:t>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a:ln/>
        </p:spPr>
      </p:sp>
      <p:sp>
        <p:nvSpPr>
          <p:cNvPr id="11267" name="备注占位符 2"/>
          <p:cNvSpPr>
            <a:spLocks noGrp="1"/>
          </p:cNvSpPr>
          <p:nvPr>
            <p:ph type="body" idx="1"/>
          </p:nvPr>
        </p:nvSpPr>
        <p:spPr>
          <a:noFill/>
        </p:spPr>
        <p:txBody>
          <a:bodyPr/>
          <a:lstStyle/>
          <a:p>
            <a:pPr eaLnBrk="1" hangingPunct="1"/>
            <a:endParaRPr lang="zh-CN" altLang="en-US" smtClean="0"/>
          </a:p>
        </p:txBody>
      </p:sp>
      <p:sp>
        <p:nvSpPr>
          <p:cNvPr id="11268" name="灯片编号占位符 3"/>
          <p:cNvSpPr>
            <a:spLocks noGrp="1"/>
          </p:cNvSpPr>
          <p:nvPr>
            <p:ph type="sldNum" sz="quarter" idx="5"/>
          </p:nvPr>
        </p:nvSpPr>
        <p:spPr>
          <a:noFill/>
          <a:ln>
            <a:miter lim="800000"/>
            <a:headEnd/>
            <a:tailEnd/>
          </a:ln>
        </p:spPr>
        <p:txBody>
          <a:bodyPr/>
          <a:lstStyle/>
          <a:p>
            <a:fld id="{F21032DF-3B86-4527-B263-0C897E5AAF5B}" type="slidenum">
              <a:rPr lang="zh-CN" altLang="en-US"/>
              <a:pPr/>
              <a:t>7</a:t>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幻灯片图像占位符 1"/>
          <p:cNvSpPr>
            <a:spLocks noGrp="1" noRot="1" noChangeAspect="1" noTextEdit="1"/>
          </p:cNvSpPr>
          <p:nvPr>
            <p:ph type="sldImg"/>
          </p:nvPr>
        </p:nvSpPr>
        <p:spPr>
          <a:ln/>
        </p:spPr>
      </p:sp>
      <p:sp>
        <p:nvSpPr>
          <p:cNvPr id="13315" name="备注占位符 2"/>
          <p:cNvSpPr>
            <a:spLocks noGrp="1"/>
          </p:cNvSpPr>
          <p:nvPr>
            <p:ph type="body" idx="1"/>
          </p:nvPr>
        </p:nvSpPr>
        <p:spPr>
          <a:noFill/>
        </p:spPr>
        <p:txBody>
          <a:bodyPr/>
          <a:lstStyle/>
          <a:p>
            <a:pPr eaLnBrk="1" hangingPunct="1"/>
            <a:endParaRPr lang="zh-CN" altLang="en-US" dirty="0" smtClean="0"/>
          </a:p>
        </p:txBody>
      </p:sp>
      <p:sp>
        <p:nvSpPr>
          <p:cNvPr id="13316" name="灯片编号占位符 3"/>
          <p:cNvSpPr>
            <a:spLocks noGrp="1"/>
          </p:cNvSpPr>
          <p:nvPr>
            <p:ph type="sldNum" sz="quarter" idx="5"/>
          </p:nvPr>
        </p:nvSpPr>
        <p:spPr>
          <a:noFill/>
          <a:ln>
            <a:miter lim="800000"/>
            <a:headEnd/>
            <a:tailEnd/>
          </a:ln>
        </p:spPr>
        <p:txBody>
          <a:bodyPr/>
          <a:lstStyle/>
          <a:p>
            <a:fld id="{C00B3927-5A39-4720-89D2-61B6D681A1CA}" type="slidenum">
              <a:rPr lang="zh-CN" altLang="en-US"/>
              <a:pPr/>
              <a:t>8</a:t>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幻灯片图像占位符 1"/>
          <p:cNvSpPr>
            <a:spLocks noGrp="1" noRot="1" noChangeAspect="1" noTextEdit="1"/>
          </p:cNvSpPr>
          <p:nvPr>
            <p:ph type="sldImg"/>
          </p:nvPr>
        </p:nvSpPr>
        <p:spPr>
          <a:ln/>
        </p:spPr>
      </p:sp>
      <p:sp>
        <p:nvSpPr>
          <p:cNvPr id="13315" name="备注占位符 2"/>
          <p:cNvSpPr>
            <a:spLocks noGrp="1"/>
          </p:cNvSpPr>
          <p:nvPr>
            <p:ph type="body" idx="1"/>
          </p:nvPr>
        </p:nvSpPr>
        <p:spPr>
          <a:noFill/>
        </p:spPr>
        <p:txBody>
          <a:bodyPr/>
          <a:lstStyle/>
          <a:p>
            <a:r>
              <a:rPr lang="zh-CN" altLang="en-US" sz="1200" kern="1200" dirty="0" smtClean="0">
                <a:solidFill>
                  <a:schemeClr val="tx1"/>
                </a:solidFill>
                <a:latin typeface="Calibri" panose="020F0502020204030204" pitchFamily="34" charset="0"/>
                <a:ea typeface="+mn-ea"/>
                <a:cs typeface="+mn-cs"/>
              </a:rPr>
              <a:t>泵送混凝土普遍具有坍落度大的特点，这在一定程度上增加了混凝土的质量控制的难度，特别是混凝土的离析现象非常常见，严重影响了混凝土表现性能和结构功能。</a:t>
            </a:r>
          </a:p>
          <a:p>
            <a:r>
              <a:rPr lang="zh-CN" altLang="en-US" sz="1200" kern="1200" dirty="0" smtClean="0">
                <a:solidFill>
                  <a:schemeClr val="tx1"/>
                </a:solidFill>
                <a:latin typeface="Calibri" panose="020F0502020204030204" pitchFamily="34" charset="0"/>
                <a:ea typeface="+mn-ea"/>
                <a:cs typeface="+mn-cs"/>
              </a:rPr>
              <a:t>一般的混凝土拌合物用水量过大、碎石级配较差、减水剂掺量过大等都容易造成混凝土离析。但造成混凝土离析的原因远不止这些，其原因是多方面的，事实上如果不加强控制，所有混凝土的原材料变化都可能导致混凝士出现离析现象。</a:t>
            </a:r>
          </a:p>
          <a:p>
            <a:r>
              <a:rPr lang="zh-CN" altLang="en-US" sz="1200" kern="1200" dirty="0" smtClean="0">
                <a:solidFill>
                  <a:schemeClr val="tx1"/>
                </a:solidFill>
                <a:latin typeface="Calibri" panose="020F0502020204030204" pitchFamily="34" charset="0"/>
                <a:ea typeface="+mn-ea"/>
                <a:cs typeface="+mn-cs"/>
              </a:rPr>
              <a:t>针对本实验，我们小组分析认为，造成混凝土离析的原因有以下几个方面：</a:t>
            </a:r>
          </a:p>
          <a:p>
            <a:r>
              <a:rPr lang="en-US" sz="1200" kern="1200" dirty="0" smtClean="0">
                <a:solidFill>
                  <a:schemeClr val="tx1"/>
                </a:solidFill>
                <a:latin typeface="Calibri" panose="020F0502020204030204" pitchFamily="34" charset="0"/>
                <a:ea typeface="+mn-ea"/>
                <a:cs typeface="+mn-cs"/>
              </a:rPr>
              <a:t>1</a:t>
            </a:r>
            <a:r>
              <a:rPr lang="zh-CN" altLang="en-US" sz="1200" kern="1200" dirty="0" smtClean="0">
                <a:solidFill>
                  <a:schemeClr val="tx1"/>
                </a:solidFill>
                <a:latin typeface="Calibri" panose="020F0502020204030204" pitchFamily="34" charset="0"/>
                <a:ea typeface="+mn-ea"/>
                <a:cs typeface="+mn-cs"/>
              </a:rPr>
              <a:t>、砂石的含水率较高，将使混凝土的质量难以控制，容易出现混凝土离析现象。由于砂子中含水过大，处在过饱和状态，当混凝土拌合料在搅拌机中搅拌时，砂子表层毛细管中的含水不能及时的释放出来，因此在搅拌时容易使拌合水用量过大</a:t>
            </a:r>
          </a:p>
          <a:p>
            <a:r>
              <a:rPr lang="en-US" sz="1200" kern="1200" dirty="0" smtClean="0">
                <a:solidFill>
                  <a:schemeClr val="tx1"/>
                </a:solidFill>
                <a:latin typeface="Calibri" panose="020F0502020204030204" pitchFamily="34" charset="0"/>
                <a:ea typeface="+mn-ea"/>
                <a:cs typeface="+mn-cs"/>
              </a:rPr>
              <a:t>2</a:t>
            </a:r>
            <a:r>
              <a:rPr lang="zh-CN" altLang="en-US" sz="1200" kern="1200" dirty="0" smtClean="0">
                <a:solidFill>
                  <a:schemeClr val="tx1"/>
                </a:solidFill>
                <a:latin typeface="Calibri" panose="020F0502020204030204" pitchFamily="34" charset="0"/>
                <a:ea typeface="+mn-ea"/>
                <a:cs typeface="+mn-cs"/>
              </a:rPr>
              <a:t>、砂石级配较差</a:t>
            </a:r>
          </a:p>
          <a:p>
            <a:r>
              <a:rPr lang="en-US" sz="1200" kern="1200" dirty="0" smtClean="0">
                <a:solidFill>
                  <a:schemeClr val="tx1"/>
                </a:solidFill>
                <a:latin typeface="Calibri" panose="020F0502020204030204" pitchFamily="34" charset="0"/>
                <a:ea typeface="+mn-ea"/>
                <a:cs typeface="+mn-cs"/>
              </a:rPr>
              <a:t>3</a:t>
            </a:r>
            <a:r>
              <a:rPr lang="zh-CN" altLang="en-US" sz="1200" kern="1200" dirty="0" smtClean="0">
                <a:solidFill>
                  <a:schemeClr val="tx1"/>
                </a:solidFill>
                <a:latin typeface="Calibri" panose="020F0502020204030204" pitchFamily="34" charset="0"/>
                <a:ea typeface="+mn-ea"/>
                <a:cs typeface="+mn-cs"/>
              </a:rPr>
              <a:t>、减水剂掺量虽然在老师的指导下比原定配合比减少了，但可能还是比较多。</a:t>
            </a:r>
          </a:p>
          <a:p>
            <a:pPr eaLnBrk="1" hangingPunct="1"/>
            <a:endParaRPr lang="zh-CN" altLang="en-US" dirty="0" smtClean="0"/>
          </a:p>
        </p:txBody>
      </p:sp>
      <p:sp>
        <p:nvSpPr>
          <p:cNvPr id="13316" name="灯片编号占位符 3"/>
          <p:cNvSpPr>
            <a:spLocks noGrp="1"/>
          </p:cNvSpPr>
          <p:nvPr>
            <p:ph type="sldNum" sz="quarter" idx="5"/>
          </p:nvPr>
        </p:nvSpPr>
        <p:spPr>
          <a:noFill/>
          <a:ln>
            <a:miter lim="800000"/>
            <a:headEnd/>
            <a:tailEnd/>
          </a:ln>
        </p:spPr>
        <p:txBody>
          <a:bodyPr/>
          <a:lstStyle/>
          <a:p>
            <a:fld id="{C00B3927-5A39-4720-89D2-61B6D681A1CA}" type="slidenum">
              <a:rPr lang="zh-CN" altLang="en-US"/>
              <a:pPr/>
              <a:t>9</a:t>
            </a:fld>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幻灯片图像占位符 1"/>
          <p:cNvSpPr>
            <a:spLocks noGrp="1" noRot="1" noChangeAspect="1" noTextEdit="1"/>
          </p:cNvSpPr>
          <p:nvPr>
            <p:ph type="sldImg"/>
          </p:nvPr>
        </p:nvSpPr>
        <p:spPr>
          <a:ln/>
        </p:spPr>
      </p:sp>
      <p:sp>
        <p:nvSpPr>
          <p:cNvPr id="13315" name="备注占位符 2"/>
          <p:cNvSpPr>
            <a:spLocks noGrp="1"/>
          </p:cNvSpPr>
          <p:nvPr>
            <p:ph type="body" idx="1"/>
          </p:nvPr>
        </p:nvSpPr>
        <p:spPr>
          <a:noFill/>
        </p:spPr>
        <p:txBody>
          <a:bodyPr/>
          <a:lstStyle/>
          <a:p>
            <a:pPr eaLnBrk="1" hangingPunct="1"/>
            <a:endParaRPr lang="zh-CN" altLang="en-US" dirty="0" smtClean="0"/>
          </a:p>
        </p:txBody>
      </p:sp>
      <p:sp>
        <p:nvSpPr>
          <p:cNvPr id="13316" name="灯片编号占位符 3"/>
          <p:cNvSpPr>
            <a:spLocks noGrp="1"/>
          </p:cNvSpPr>
          <p:nvPr>
            <p:ph type="sldNum" sz="quarter" idx="5"/>
          </p:nvPr>
        </p:nvSpPr>
        <p:spPr>
          <a:noFill/>
          <a:ln>
            <a:miter lim="800000"/>
            <a:headEnd/>
            <a:tailEnd/>
          </a:ln>
        </p:spPr>
        <p:txBody>
          <a:bodyPr/>
          <a:lstStyle/>
          <a:p>
            <a:fld id="{C00B3927-5A39-4720-89D2-61B6D681A1CA}" type="slidenum">
              <a:rPr lang="zh-CN" altLang="en-US"/>
              <a:pPr/>
              <a:t>10</a:t>
            </a:fld>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幻灯片图像占位符 1"/>
          <p:cNvSpPr>
            <a:spLocks noGrp="1" noRot="1" noChangeAspect="1" noTextEdit="1"/>
          </p:cNvSpPr>
          <p:nvPr>
            <p:ph type="sldImg"/>
          </p:nvPr>
        </p:nvSpPr>
        <p:spPr>
          <a:ln/>
        </p:spPr>
      </p:sp>
      <p:sp>
        <p:nvSpPr>
          <p:cNvPr id="13315" name="备注占位符 2"/>
          <p:cNvSpPr>
            <a:spLocks noGrp="1"/>
          </p:cNvSpPr>
          <p:nvPr>
            <p:ph type="body" idx="1"/>
          </p:nvPr>
        </p:nvSpPr>
        <p:spPr>
          <a:noFill/>
        </p:spPr>
        <p:txBody>
          <a:bodyPr/>
          <a:lstStyle/>
          <a:p>
            <a:pPr eaLnBrk="1" hangingPunct="1"/>
            <a:endParaRPr lang="zh-CN" altLang="en-US" dirty="0" smtClean="0"/>
          </a:p>
        </p:txBody>
      </p:sp>
      <p:sp>
        <p:nvSpPr>
          <p:cNvPr id="13316" name="灯片编号占位符 3"/>
          <p:cNvSpPr>
            <a:spLocks noGrp="1"/>
          </p:cNvSpPr>
          <p:nvPr>
            <p:ph type="sldNum" sz="quarter" idx="5"/>
          </p:nvPr>
        </p:nvSpPr>
        <p:spPr>
          <a:noFill/>
          <a:ln>
            <a:miter lim="800000"/>
            <a:headEnd/>
            <a:tailEnd/>
          </a:ln>
        </p:spPr>
        <p:txBody>
          <a:bodyPr/>
          <a:lstStyle/>
          <a:p>
            <a:fld id="{C00B3927-5A39-4720-89D2-61B6D681A1CA}" type="slidenum">
              <a:rPr lang="zh-CN" altLang="en-US"/>
              <a:pPr/>
              <a:t>11</a:t>
            </a:fld>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幻灯片图像占位符 1"/>
          <p:cNvSpPr>
            <a:spLocks noGrp="1" noRot="1" noChangeAspect="1" noTextEdit="1"/>
          </p:cNvSpPr>
          <p:nvPr>
            <p:ph type="sldImg"/>
          </p:nvPr>
        </p:nvSpPr>
        <p:spPr>
          <a:ln/>
        </p:spPr>
      </p:sp>
      <p:sp>
        <p:nvSpPr>
          <p:cNvPr id="13315" name="备注占位符 2"/>
          <p:cNvSpPr>
            <a:spLocks noGrp="1"/>
          </p:cNvSpPr>
          <p:nvPr>
            <p:ph type="body" idx="1"/>
          </p:nvPr>
        </p:nvSpPr>
        <p:spPr>
          <a:noFill/>
        </p:spPr>
        <p:txBody>
          <a:bodyPr/>
          <a:lstStyle/>
          <a:p>
            <a:pPr eaLnBrk="1" hangingPunct="1"/>
            <a:endParaRPr lang="zh-CN" altLang="en-US" dirty="0" smtClean="0"/>
          </a:p>
        </p:txBody>
      </p:sp>
      <p:sp>
        <p:nvSpPr>
          <p:cNvPr id="13316" name="灯片编号占位符 3"/>
          <p:cNvSpPr>
            <a:spLocks noGrp="1"/>
          </p:cNvSpPr>
          <p:nvPr>
            <p:ph type="sldNum" sz="quarter" idx="5"/>
          </p:nvPr>
        </p:nvSpPr>
        <p:spPr>
          <a:noFill/>
          <a:ln>
            <a:miter lim="800000"/>
            <a:headEnd/>
            <a:tailEnd/>
          </a:ln>
        </p:spPr>
        <p:txBody>
          <a:bodyPr/>
          <a:lstStyle/>
          <a:p>
            <a:fld id="{C00B3927-5A39-4720-89D2-61B6D681A1CA}" type="slidenum">
              <a:rPr lang="zh-CN" altLang="en-US"/>
              <a:pPr/>
              <a:t>12</a:t>
            </a:fld>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幻灯片图像占位符 1"/>
          <p:cNvSpPr>
            <a:spLocks noGrp="1" noRot="1" noChangeAspect="1" noTextEdit="1"/>
          </p:cNvSpPr>
          <p:nvPr>
            <p:ph type="sldImg"/>
          </p:nvPr>
        </p:nvSpPr>
        <p:spPr>
          <a:ln/>
        </p:spPr>
      </p:sp>
      <p:sp>
        <p:nvSpPr>
          <p:cNvPr id="13315" name="备注占位符 2"/>
          <p:cNvSpPr>
            <a:spLocks noGrp="1"/>
          </p:cNvSpPr>
          <p:nvPr>
            <p:ph type="body" idx="1"/>
          </p:nvPr>
        </p:nvSpPr>
        <p:spPr>
          <a:noFill/>
        </p:spPr>
        <p:txBody>
          <a:bodyPr/>
          <a:lstStyle/>
          <a:p>
            <a:pPr eaLnBrk="1" hangingPunct="1"/>
            <a:endParaRPr lang="zh-CN" altLang="en-US" dirty="0" smtClean="0"/>
          </a:p>
        </p:txBody>
      </p:sp>
      <p:sp>
        <p:nvSpPr>
          <p:cNvPr id="13316" name="灯片编号占位符 3"/>
          <p:cNvSpPr>
            <a:spLocks noGrp="1"/>
          </p:cNvSpPr>
          <p:nvPr>
            <p:ph type="sldNum" sz="quarter" idx="5"/>
          </p:nvPr>
        </p:nvSpPr>
        <p:spPr>
          <a:noFill/>
          <a:ln>
            <a:miter lim="800000"/>
            <a:headEnd/>
            <a:tailEnd/>
          </a:ln>
        </p:spPr>
        <p:txBody>
          <a:bodyPr/>
          <a:lstStyle/>
          <a:p>
            <a:fld id="{C00B3927-5A39-4720-89D2-61B6D681A1CA}" type="slidenum">
              <a:rPr lang="zh-CN" altLang="en-US"/>
              <a:pPr/>
              <a:t>13</a:t>
            </a:fld>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幻灯片图像占位符 1"/>
          <p:cNvSpPr>
            <a:spLocks noGrp="1" noRot="1" noChangeAspect="1" noTextEdit="1"/>
          </p:cNvSpPr>
          <p:nvPr>
            <p:ph type="sldImg"/>
          </p:nvPr>
        </p:nvSpPr>
        <p:spPr>
          <a:ln/>
        </p:spPr>
      </p:sp>
      <p:sp>
        <p:nvSpPr>
          <p:cNvPr id="13315" name="备注占位符 2"/>
          <p:cNvSpPr>
            <a:spLocks noGrp="1"/>
          </p:cNvSpPr>
          <p:nvPr>
            <p:ph type="body" idx="1"/>
          </p:nvPr>
        </p:nvSpPr>
        <p:spPr>
          <a:noFill/>
        </p:spPr>
        <p:txBody>
          <a:bodyPr/>
          <a:lstStyle/>
          <a:p>
            <a:pPr eaLnBrk="1" hangingPunct="1"/>
            <a:endParaRPr lang="zh-CN" altLang="en-US" dirty="0" smtClean="0"/>
          </a:p>
        </p:txBody>
      </p:sp>
      <p:sp>
        <p:nvSpPr>
          <p:cNvPr id="13316" name="灯片编号占位符 3"/>
          <p:cNvSpPr>
            <a:spLocks noGrp="1"/>
          </p:cNvSpPr>
          <p:nvPr>
            <p:ph type="sldNum" sz="quarter" idx="5"/>
          </p:nvPr>
        </p:nvSpPr>
        <p:spPr>
          <a:noFill/>
          <a:ln>
            <a:miter lim="800000"/>
            <a:headEnd/>
            <a:tailEnd/>
          </a:ln>
        </p:spPr>
        <p:txBody>
          <a:bodyPr/>
          <a:lstStyle/>
          <a:p>
            <a:fld id="{C00B3927-5A39-4720-89D2-61B6D681A1CA}" type="slidenum">
              <a:rPr lang="zh-CN" altLang="en-US"/>
              <a:pPr/>
              <a:t>14</a:t>
            </a:fld>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幻灯片图像占位符 1"/>
          <p:cNvSpPr>
            <a:spLocks noGrp="1" noRot="1" noChangeAspect="1" noTextEdit="1"/>
          </p:cNvSpPr>
          <p:nvPr>
            <p:ph type="sldImg"/>
          </p:nvPr>
        </p:nvSpPr>
        <p:spPr>
          <a:ln/>
        </p:spPr>
      </p:sp>
      <p:sp>
        <p:nvSpPr>
          <p:cNvPr id="13315" name="备注占位符 2"/>
          <p:cNvSpPr>
            <a:spLocks noGrp="1"/>
          </p:cNvSpPr>
          <p:nvPr>
            <p:ph type="body" idx="1"/>
          </p:nvPr>
        </p:nvSpPr>
        <p:spPr>
          <a:noFill/>
        </p:spPr>
        <p:txBody>
          <a:bodyPr/>
          <a:lstStyle/>
          <a:p>
            <a:pPr eaLnBrk="1" hangingPunct="1"/>
            <a:endParaRPr lang="zh-CN" altLang="en-US" dirty="0" smtClean="0"/>
          </a:p>
        </p:txBody>
      </p:sp>
      <p:sp>
        <p:nvSpPr>
          <p:cNvPr id="13316" name="灯片编号占位符 3"/>
          <p:cNvSpPr>
            <a:spLocks noGrp="1"/>
          </p:cNvSpPr>
          <p:nvPr>
            <p:ph type="sldNum" sz="quarter" idx="5"/>
          </p:nvPr>
        </p:nvSpPr>
        <p:spPr>
          <a:noFill/>
          <a:ln>
            <a:miter lim="800000"/>
            <a:headEnd/>
            <a:tailEnd/>
          </a:ln>
        </p:spPr>
        <p:txBody>
          <a:bodyPr/>
          <a:lstStyle/>
          <a:p>
            <a:fld id="{C00B3927-5A39-4720-89D2-61B6D681A1CA}" type="slidenum">
              <a:rPr lang="zh-CN" altLang="en-US"/>
              <a:pPr/>
              <a:t>15</a:t>
            </a:fld>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幻灯片图像占位符 1"/>
          <p:cNvSpPr>
            <a:spLocks noGrp="1" noRot="1" noChangeAspect="1" noTextEdit="1"/>
          </p:cNvSpPr>
          <p:nvPr>
            <p:ph type="sldImg"/>
          </p:nvPr>
        </p:nvSpPr>
        <p:spPr>
          <a:ln/>
        </p:spPr>
      </p:sp>
      <p:sp>
        <p:nvSpPr>
          <p:cNvPr id="13315" name="备注占位符 2"/>
          <p:cNvSpPr>
            <a:spLocks noGrp="1"/>
          </p:cNvSpPr>
          <p:nvPr>
            <p:ph type="body" idx="1"/>
          </p:nvPr>
        </p:nvSpPr>
        <p:spPr>
          <a:noFill/>
        </p:spPr>
        <p:txBody>
          <a:bodyPr/>
          <a:lstStyle/>
          <a:p>
            <a:r>
              <a:rPr lang="zh-CN" altLang="en-US" sz="1200" kern="1200" dirty="0" smtClean="0">
                <a:solidFill>
                  <a:schemeClr val="tx1"/>
                </a:solidFill>
                <a:latin typeface="Calibri" panose="020F0502020204030204" pitchFamily="34" charset="0"/>
                <a:ea typeface="+mn-ea"/>
                <a:cs typeface="+mn-cs"/>
              </a:rPr>
              <a:t>氯离子扩散系数及影响因素分析</a:t>
            </a:r>
          </a:p>
          <a:p>
            <a:r>
              <a:rPr lang="en-US" sz="1200" kern="1200" dirty="0" smtClean="0">
                <a:solidFill>
                  <a:schemeClr val="tx1"/>
                </a:solidFill>
                <a:latin typeface="Calibri" panose="020F0502020204030204" pitchFamily="34" charset="0"/>
                <a:ea typeface="+mn-ea"/>
                <a:cs typeface="+mn-cs"/>
              </a:rPr>
              <a:t>1.</a:t>
            </a:r>
            <a:r>
              <a:rPr lang="zh-CN" altLang="en-US" sz="1200" kern="1200" dirty="0" smtClean="0">
                <a:solidFill>
                  <a:schemeClr val="tx1"/>
                </a:solidFill>
                <a:latin typeface="Calibri" panose="020F0502020204030204" pitchFamily="34" charset="0"/>
                <a:ea typeface="+mn-ea"/>
                <a:cs typeface="+mn-cs"/>
              </a:rPr>
              <a:t>水胶比对氯离子扩散系数的影响。</a:t>
            </a:r>
          </a:p>
          <a:p>
            <a:r>
              <a:rPr lang="zh-CN" altLang="en-US" sz="1200" kern="1200" dirty="0" smtClean="0">
                <a:solidFill>
                  <a:schemeClr val="tx1"/>
                </a:solidFill>
                <a:latin typeface="Calibri" panose="020F0502020204030204" pitchFamily="34" charset="0"/>
                <a:ea typeface="+mn-ea"/>
                <a:cs typeface="+mn-cs"/>
              </a:rPr>
              <a:t>水胶比是反映混凝土密实度的一个重要指标，水胶比的大小体现了混凝土抵抗氯离子侵入的能力氯离子扩散系数与水胶比基本呈正相关线性关系</a:t>
            </a:r>
          </a:p>
          <a:p>
            <a:r>
              <a:rPr lang="en-US" sz="1200" kern="1200" dirty="0" smtClean="0">
                <a:solidFill>
                  <a:schemeClr val="tx1"/>
                </a:solidFill>
                <a:latin typeface="Calibri" panose="020F0502020204030204" pitchFamily="34" charset="0"/>
                <a:ea typeface="+mn-ea"/>
                <a:cs typeface="+mn-cs"/>
              </a:rPr>
              <a:t>2.</a:t>
            </a:r>
            <a:r>
              <a:rPr lang="zh-CN" altLang="en-US" sz="1200" kern="1200" dirty="0" smtClean="0">
                <a:solidFill>
                  <a:schemeClr val="tx1"/>
                </a:solidFill>
                <a:latin typeface="Calibri" panose="020F0502020204030204" pitchFamily="34" charset="0"/>
                <a:ea typeface="+mn-ea"/>
                <a:cs typeface="+mn-cs"/>
              </a:rPr>
              <a:t>矿物掺合料对氯离子扩散系数的影响</a:t>
            </a:r>
          </a:p>
          <a:p>
            <a:r>
              <a:rPr lang="zh-CN" altLang="en-US" sz="1200" kern="1200" dirty="0" smtClean="0">
                <a:solidFill>
                  <a:schemeClr val="tx1"/>
                </a:solidFill>
                <a:latin typeface="Calibri" panose="020F0502020204030204" pitchFamily="34" charset="0"/>
                <a:ea typeface="+mn-ea"/>
                <a:cs typeface="+mn-cs"/>
              </a:rPr>
              <a:t>加入矿物掺合料后，混凝土氯离子扩散系数降。</a:t>
            </a:r>
          </a:p>
          <a:p>
            <a:r>
              <a:rPr lang="en-US" sz="1200" kern="1200" dirty="0" smtClean="0">
                <a:solidFill>
                  <a:schemeClr val="tx1"/>
                </a:solidFill>
                <a:latin typeface="Calibri" panose="020F0502020204030204" pitchFamily="34" charset="0"/>
                <a:ea typeface="+mn-ea"/>
                <a:cs typeface="+mn-cs"/>
              </a:rPr>
              <a:t>3.</a:t>
            </a:r>
            <a:r>
              <a:rPr lang="zh-CN" altLang="en-US" sz="1200" kern="1200" dirty="0" smtClean="0">
                <a:solidFill>
                  <a:schemeClr val="tx1"/>
                </a:solidFill>
                <a:latin typeface="Calibri" panose="020F0502020204030204" pitchFamily="34" charset="0"/>
                <a:ea typeface="+mn-ea"/>
                <a:cs typeface="+mn-cs"/>
              </a:rPr>
              <a:t>骨料对氯离子扩散系数的影响</a:t>
            </a:r>
          </a:p>
          <a:p>
            <a:r>
              <a:rPr lang="zh-CN" altLang="en-US" sz="1200" kern="1200" smtClean="0">
                <a:solidFill>
                  <a:schemeClr val="tx1"/>
                </a:solidFill>
                <a:latin typeface="Calibri" panose="020F0502020204030204" pitchFamily="34" charset="0"/>
                <a:ea typeface="+mn-ea"/>
                <a:cs typeface="+mn-cs"/>
              </a:rPr>
              <a:t>随着最大骨料直径的增大，氯离子扩散系数降低，因为随着最大骨料直径的增大，界面体积百分数减小，氯离子扩散系数降低。</a:t>
            </a:r>
            <a:endParaRPr lang="zh-CN" altLang="en-US" sz="1200" kern="1200">
              <a:solidFill>
                <a:schemeClr val="tx1"/>
              </a:solidFill>
              <a:latin typeface="Calibri" panose="020F0502020204030204" pitchFamily="34" charset="0"/>
              <a:ea typeface="+mn-ea"/>
              <a:cs typeface="+mn-cs"/>
            </a:endParaRPr>
          </a:p>
        </p:txBody>
      </p:sp>
      <p:sp>
        <p:nvSpPr>
          <p:cNvPr id="13316" name="灯片编号占位符 3"/>
          <p:cNvSpPr>
            <a:spLocks noGrp="1"/>
          </p:cNvSpPr>
          <p:nvPr>
            <p:ph type="sldNum" sz="quarter" idx="5"/>
          </p:nvPr>
        </p:nvSpPr>
        <p:spPr>
          <a:noFill/>
          <a:ln>
            <a:miter lim="800000"/>
            <a:headEnd/>
            <a:tailEnd/>
          </a:ln>
        </p:spPr>
        <p:txBody>
          <a:bodyPr/>
          <a:lstStyle/>
          <a:p>
            <a:fld id="{C00B3927-5A39-4720-89D2-61B6D681A1CA}" type="slidenum">
              <a:rPr lang="zh-CN" altLang="en-US"/>
              <a:pPr/>
              <a:t>16</a:t>
            </a:fld>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幻灯片图像占位符 1"/>
          <p:cNvSpPr>
            <a:spLocks noGrp="1" noRot="1" noChangeAspect="1" noTextEdit="1"/>
          </p:cNvSpPr>
          <p:nvPr>
            <p:ph type="sldImg"/>
          </p:nvPr>
        </p:nvSpPr>
        <p:spPr>
          <a:ln/>
        </p:spPr>
      </p:sp>
      <p:sp>
        <p:nvSpPr>
          <p:cNvPr id="13315" name="备注占位符 2"/>
          <p:cNvSpPr>
            <a:spLocks noGrp="1"/>
          </p:cNvSpPr>
          <p:nvPr>
            <p:ph type="body" idx="1"/>
          </p:nvPr>
        </p:nvSpPr>
        <p:spPr>
          <a:noFill/>
        </p:spPr>
        <p:txBody>
          <a:bodyPr/>
          <a:lstStyle/>
          <a:p>
            <a:r>
              <a:rPr lang="zh-CN" altLang="en-US" sz="1200" kern="1200" dirty="0" smtClean="0">
                <a:solidFill>
                  <a:schemeClr val="tx1"/>
                </a:solidFill>
                <a:latin typeface="Calibri" panose="020F0502020204030204" pitchFamily="34" charset="0"/>
                <a:ea typeface="+mn-ea"/>
                <a:cs typeface="+mn-cs"/>
              </a:rPr>
              <a:t>氯离子扩散系数及影响因素分析</a:t>
            </a:r>
          </a:p>
          <a:p>
            <a:r>
              <a:rPr lang="en-US" sz="1200" kern="1200" dirty="0" smtClean="0">
                <a:solidFill>
                  <a:schemeClr val="tx1"/>
                </a:solidFill>
                <a:latin typeface="Calibri" panose="020F0502020204030204" pitchFamily="34" charset="0"/>
                <a:ea typeface="+mn-ea"/>
                <a:cs typeface="+mn-cs"/>
              </a:rPr>
              <a:t>1.</a:t>
            </a:r>
            <a:r>
              <a:rPr lang="zh-CN" altLang="en-US" sz="1200" kern="1200" dirty="0" smtClean="0">
                <a:solidFill>
                  <a:schemeClr val="tx1"/>
                </a:solidFill>
                <a:latin typeface="Calibri" panose="020F0502020204030204" pitchFamily="34" charset="0"/>
                <a:ea typeface="+mn-ea"/>
                <a:cs typeface="+mn-cs"/>
              </a:rPr>
              <a:t>水胶比对氯离子扩散系数的影响。</a:t>
            </a:r>
          </a:p>
          <a:p>
            <a:r>
              <a:rPr lang="zh-CN" altLang="en-US" sz="1200" kern="1200" dirty="0" smtClean="0">
                <a:solidFill>
                  <a:schemeClr val="tx1"/>
                </a:solidFill>
                <a:latin typeface="Calibri" panose="020F0502020204030204" pitchFamily="34" charset="0"/>
                <a:ea typeface="+mn-ea"/>
                <a:cs typeface="+mn-cs"/>
              </a:rPr>
              <a:t>水胶比是反映混凝土密实度的一个重要指标，水胶比的大小体现了混凝土抵抗氯离子侵入的能力氯离子扩散系数与水胶比基本呈正相关线性关系</a:t>
            </a:r>
          </a:p>
          <a:p>
            <a:r>
              <a:rPr lang="en-US" sz="1200" kern="1200" dirty="0" smtClean="0">
                <a:solidFill>
                  <a:schemeClr val="tx1"/>
                </a:solidFill>
                <a:latin typeface="Calibri" panose="020F0502020204030204" pitchFamily="34" charset="0"/>
                <a:ea typeface="+mn-ea"/>
                <a:cs typeface="+mn-cs"/>
              </a:rPr>
              <a:t>2.</a:t>
            </a:r>
            <a:r>
              <a:rPr lang="zh-CN" altLang="en-US" sz="1200" kern="1200" dirty="0" smtClean="0">
                <a:solidFill>
                  <a:schemeClr val="tx1"/>
                </a:solidFill>
                <a:latin typeface="Calibri" panose="020F0502020204030204" pitchFamily="34" charset="0"/>
                <a:ea typeface="+mn-ea"/>
                <a:cs typeface="+mn-cs"/>
              </a:rPr>
              <a:t>矿物掺合料对氯离子扩散系数的影响</a:t>
            </a:r>
          </a:p>
          <a:p>
            <a:r>
              <a:rPr lang="zh-CN" altLang="en-US" sz="1200" kern="1200" dirty="0" smtClean="0">
                <a:solidFill>
                  <a:schemeClr val="tx1"/>
                </a:solidFill>
                <a:latin typeface="Calibri" panose="020F0502020204030204" pitchFamily="34" charset="0"/>
                <a:ea typeface="+mn-ea"/>
                <a:cs typeface="+mn-cs"/>
              </a:rPr>
              <a:t>加入矿物掺合料后，混凝土氯离子扩散系数降。</a:t>
            </a:r>
          </a:p>
          <a:p>
            <a:r>
              <a:rPr lang="en-US" sz="1200" kern="1200" dirty="0" smtClean="0">
                <a:solidFill>
                  <a:schemeClr val="tx1"/>
                </a:solidFill>
                <a:latin typeface="Calibri" panose="020F0502020204030204" pitchFamily="34" charset="0"/>
                <a:ea typeface="+mn-ea"/>
                <a:cs typeface="+mn-cs"/>
              </a:rPr>
              <a:t>3.</a:t>
            </a:r>
            <a:r>
              <a:rPr lang="zh-CN" altLang="en-US" sz="1200" kern="1200" dirty="0" smtClean="0">
                <a:solidFill>
                  <a:schemeClr val="tx1"/>
                </a:solidFill>
                <a:latin typeface="Calibri" panose="020F0502020204030204" pitchFamily="34" charset="0"/>
                <a:ea typeface="+mn-ea"/>
                <a:cs typeface="+mn-cs"/>
              </a:rPr>
              <a:t>骨料对氯离子扩散系数的影响</a:t>
            </a:r>
          </a:p>
          <a:p>
            <a:r>
              <a:rPr lang="zh-CN" altLang="en-US" sz="1200" kern="1200" dirty="0" smtClean="0">
                <a:solidFill>
                  <a:schemeClr val="tx1"/>
                </a:solidFill>
                <a:latin typeface="Calibri" panose="020F0502020204030204" pitchFamily="34" charset="0"/>
                <a:ea typeface="+mn-ea"/>
                <a:cs typeface="+mn-cs"/>
              </a:rPr>
              <a:t>随着最大骨料直径的增大，氯离子扩散系数降低，因为随着最大骨料直径的增大，界面体积百分数减小，氯离子扩散系数降低。</a:t>
            </a:r>
            <a:endParaRPr lang="zh-CN" altLang="en-US" sz="1200" kern="1200" dirty="0">
              <a:solidFill>
                <a:schemeClr val="tx1"/>
              </a:solidFill>
              <a:latin typeface="Calibri" panose="020F0502020204030204" pitchFamily="34" charset="0"/>
              <a:ea typeface="+mn-ea"/>
              <a:cs typeface="+mn-cs"/>
            </a:endParaRPr>
          </a:p>
        </p:txBody>
      </p:sp>
      <p:sp>
        <p:nvSpPr>
          <p:cNvPr id="13316" name="灯片编号占位符 3"/>
          <p:cNvSpPr>
            <a:spLocks noGrp="1"/>
          </p:cNvSpPr>
          <p:nvPr>
            <p:ph type="sldNum" sz="quarter" idx="5"/>
          </p:nvPr>
        </p:nvSpPr>
        <p:spPr>
          <a:noFill/>
          <a:ln>
            <a:miter lim="800000"/>
            <a:headEnd/>
            <a:tailEnd/>
          </a:ln>
        </p:spPr>
        <p:txBody>
          <a:bodyPr/>
          <a:lstStyle/>
          <a:p>
            <a:fld id="{C00B3927-5A39-4720-89D2-61B6D681A1CA}" type="slidenum">
              <a:rPr lang="zh-CN" altLang="en-US"/>
              <a:pPr/>
              <a:t>17</a:t>
            </a:fld>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幻灯片图像占位符 1"/>
          <p:cNvSpPr>
            <a:spLocks noGrp="1" noRot="1" noChangeAspect="1" noTextEdit="1"/>
          </p:cNvSpPr>
          <p:nvPr>
            <p:ph type="sldImg"/>
          </p:nvPr>
        </p:nvSpPr>
        <p:spPr>
          <a:ln/>
        </p:spPr>
      </p:sp>
      <p:sp>
        <p:nvSpPr>
          <p:cNvPr id="13315" name="备注占位符 2"/>
          <p:cNvSpPr>
            <a:spLocks noGrp="1"/>
          </p:cNvSpPr>
          <p:nvPr>
            <p:ph type="body" idx="1"/>
          </p:nvPr>
        </p:nvSpPr>
        <p:spPr>
          <a:noFill/>
        </p:spPr>
        <p:txBody>
          <a:bodyPr/>
          <a:lstStyle/>
          <a:p>
            <a:r>
              <a:rPr lang="zh-CN" altLang="en-US" sz="1200" kern="1200" dirty="0" smtClean="0">
                <a:solidFill>
                  <a:schemeClr val="tx1"/>
                </a:solidFill>
                <a:latin typeface="Calibri" panose="020F0502020204030204" pitchFamily="34" charset="0"/>
                <a:ea typeface="+mn-ea"/>
                <a:cs typeface="+mn-cs"/>
              </a:rPr>
              <a:t>氯离子扩散系数及影响因素分析</a:t>
            </a:r>
          </a:p>
          <a:p>
            <a:r>
              <a:rPr lang="en-US" sz="1200" kern="1200" dirty="0" smtClean="0">
                <a:solidFill>
                  <a:schemeClr val="tx1"/>
                </a:solidFill>
                <a:latin typeface="Calibri" panose="020F0502020204030204" pitchFamily="34" charset="0"/>
                <a:ea typeface="+mn-ea"/>
                <a:cs typeface="+mn-cs"/>
              </a:rPr>
              <a:t>1.</a:t>
            </a:r>
            <a:r>
              <a:rPr lang="zh-CN" altLang="en-US" sz="1200" kern="1200" dirty="0" smtClean="0">
                <a:solidFill>
                  <a:schemeClr val="tx1"/>
                </a:solidFill>
                <a:latin typeface="Calibri" panose="020F0502020204030204" pitchFamily="34" charset="0"/>
                <a:ea typeface="+mn-ea"/>
                <a:cs typeface="+mn-cs"/>
              </a:rPr>
              <a:t>水胶比对氯离子扩散系数的影响。</a:t>
            </a:r>
          </a:p>
          <a:p>
            <a:r>
              <a:rPr lang="zh-CN" altLang="en-US" sz="1200" kern="1200" dirty="0" smtClean="0">
                <a:solidFill>
                  <a:schemeClr val="tx1"/>
                </a:solidFill>
                <a:latin typeface="Calibri" panose="020F0502020204030204" pitchFamily="34" charset="0"/>
                <a:ea typeface="+mn-ea"/>
                <a:cs typeface="+mn-cs"/>
              </a:rPr>
              <a:t>水胶比是反映混凝土密实度的一个重要指标，水胶比的大小体现了混凝土抵抗氯离子侵入的能力氯离子扩散系数与水胶比基本呈正相关线性关系</a:t>
            </a:r>
          </a:p>
          <a:p>
            <a:r>
              <a:rPr lang="en-US" sz="1200" kern="1200" dirty="0" smtClean="0">
                <a:solidFill>
                  <a:schemeClr val="tx1"/>
                </a:solidFill>
                <a:latin typeface="Calibri" panose="020F0502020204030204" pitchFamily="34" charset="0"/>
                <a:ea typeface="+mn-ea"/>
                <a:cs typeface="+mn-cs"/>
              </a:rPr>
              <a:t>2.</a:t>
            </a:r>
            <a:r>
              <a:rPr lang="zh-CN" altLang="en-US" sz="1200" kern="1200" dirty="0" smtClean="0">
                <a:solidFill>
                  <a:schemeClr val="tx1"/>
                </a:solidFill>
                <a:latin typeface="Calibri" panose="020F0502020204030204" pitchFamily="34" charset="0"/>
                <a:ea typeface="+mn-ea"/>
                <a:cs typeface="+mn-cs"/>
              </a:rPr>
              <a:t>矿物掺合料对氯离子扩散系数的影响</a:t>
            </a:r>
          </a:p>
          <a:p>
            <a:r>
              <a:rPr lang="zh-CN" altLang="en-US" sz="1200" kern="1200" dirty="0" smtClean="0">
                <a:solidFill>
                  <a:schemeClr val="tx1"/>
                </a:solidFill>
                <a:latin typeface="Calibri" panose="020F0502020204030204" pitchFamily="34" charset="0"/>
                <a:ea typeface="+mn-ea"/>
                <a:cs typeface="+mn-cs"/>
              </a:rPr>
              <a:t>加入矿物掺合料后，混凝土氯离子扩散系数降。</a:t>
            </a:r>
          </a:p>
          <a:p>
            <a:r>
              <a:rPr lang="en-US" sz="1200" kern="1200" dirty="0" smtClean="0">
                <a:solidFill>
                  <a:schemeClr val="tx1"/>
                </a:solidFill>
                <a:latin typeface="Calibri" panose="020F0502020204030204" pitchFamily="34" charset="0"/>
                <a:ea typeface="+mn-ea"/>
                <a:cs typeface="+mn-cs"/>
              </a:rPr>
              <a:t>3.</a:t>
            </a:r>
            <a:r>
              <a:rPr lang="zh-CN" altLang="en-US" sz="1200" kern="1200" dirty="0" smtClean="0">
                <a:solidFill>
                  <a:schemeClr val="tx1"/>
                </a:solidFill>
                <a:latin typeface="Calibri" panose="020F0502020204030204" pitchFamily="34" charset="0"/>
                <a:ea typeface="+mn-ea"/>
                <a:cs typeface="+mn-cs"/>
              </a:rPr>
              <a:t>骨料对氯离子扩散系数的影响</a:t>
            </a:r>
          </a:p>
          <a:p>
            <a:r>
              <a:rPr lang="zh-CN" altLang="en-US" sz="1200" kern="1200" dirty="0" smtClean="0">
                <a:solidFill>
                  <a:schemeClr val="tx1"/>
                </a:solidFill>
                <a:latin typeface="Calibri" panose="020F0502020204030204" pitchFamily="34" charset="0"/>
                <a:ea typeface="+mn-ea"/>
                <a:cs typeface="+mn-cs"/>
              </a:rPr>
              <a:t>随着最大骨料直径的增大，氯离子扩散系数降低，因为随着最大骨料直径的增大，界面体积百分数减小，氯离子扩散系数降低。</a:t>
            </a:r>
            <a:endParaRPr lang="zh-CN" altLang="en-US" sz="1200" kern="1200" dirty="0">
              <a:solidFill>
                <a:schemeClr val="tx1"/>
              </a:solidFill>
              <a:latin typeface="Calibri" panose="020F0502020204030204" pitchFamily="34" charset="0"/>
              <a:ea typeface="+mn-ea"/>
              <a:cs typeface="+mn-cs"/>
            </a:endParaRPr>
          </a:p>
        </p:txBody>
      </p:sp>
      <p:sp>
        <p:nvSpPr>
          <p:cNvPr id="13316" name="灯片编号占位符 3"/>
          <p:cNvSpPr>
            <a:spLocks noGrp="1"/>
          </p:cNvSpPr>
          <p:nvPr>
            <p:ph type="sldNum" sz="quarter" idx="5"/>
          </p:nvPr>
        </p:nvSpPr>
        <p:spPr>
          <a:noFill/>
          <a:ln>
            <a:miter lim="800000"/>
            <a:headEnd/>
            <a:tailEnd/>
          </a:ln>
        </p:spPr>
        <p:txBody>
          <a:bodyPr/>
          <a:lstStyle/>
          <a:p>
            <a:fld id="{C00B3927-5A39-4720-89D2-61B6D681A1CA}" type="slidenum">
              <a:rPr lang="zh-CN" altLang="en-US"/>
              <a:pPr/>
              <a:t>18</a:t>
            </a:fld>
            <a:endParaRPr lang="en-US"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幻灯片图像占位符 1"/>
          <p:cNvSpPr>
            <a:spLocks noGrp="1" noRot="1" noChangeAspect="1" noTextEdit="1"/>
          </p:cNvSpPr>
          <p:nvPr>
            <p:ph type="sldImg"/>
          </p:nvPr>
        </p:nvSpPr>
        <p:spPr>
          <a:ln/>
        </p:spPr>
      </p:sp>
      <p:sp>
        <p:nvSpPr>
          <p:cNvPr id="13315" name="备注占位符 2"/>
          <p:cNvSpPr>
            <a:spLocks noGrp="1"/>
          </p:cNvSpPr>
          <p:nvPr>
            <p:ph type="body" idx="1"/>
          </p:nvPr>
        </p:nvSpPr>
        <p:spPr>
          <a:noFill/>
        </p:spPr>
        <p:txBody>
          <a:bodyPr/>
          <a:lstStyle/>
          <a:p>
            <a:r>
              <a:rPr lang="zh-CN" altLang="en-US" sz="1200" kern="1200" dirty="0" smtClean="0">
                <a:solidFill>
                  <a:schemeClr val="tx1"/>
                </a:solidFill>
                <a:latin typeface="Calibri" panose="020F0502020204030204" pitchFamily="34" charset="0"/>
                <a:ea typeface="+mn-ea"/>
                <a:cs typeface="+mn-cs"/>
              </a:rPr>
              <a:t>氯离子扩散系数及影响因素分析</a:t>
            </a:r>
          </a:p>
          <a:p>
            <a:r>
              <a:rPr lang="en-US" sz="1200" kern="1200" dirty="0" smtClean="0">
                <a:solidFill>
                  <a:schemeClr val="tx1"/>
                </a:solidFill>
                <a:latin typeface="Calibri" panose="020F0502020204030204" pitchFamily="34" charset="0"/>
                <a:ea typeface="+mn-ea"/>
                <a:cs typeface="+mn-cs"/>
              </a:rPr>
              <a:t>1.</a:t>
            </a:r>
            <a:r>
              <a:rPr lang="zh-CN" altLang="en-US" sz="1200" kern="1200" dirty="0" smtClean="0">
                <a:solidFill>
                  <a:schemeClr val="tx1"/>
                </a:solidFill>
                <a:latin typeface="Calibri" panose="020F0502020204030204" pitchFamily="34" charset="0"/>
                <a:ea typeface="+mn-ea"/>
                <a:cs typeface="+mn-cs"/>
              </a:rPr>
              <a:t>水胶比对氯离子扩散系数的影响。</a:t>
            </a:r>
          </a:p>
          <a:p>
            <a:r>
              <a:rPr lang="zh-CN" altLang="en-US" sz="1200" kern="1200" dirty="0" smtClean="0">
                <a:solidFill>
                  <a:schemeClr val="tx1"/>
                </a:solidFill>
                <a:latin typeface="Calibri" panose="020F0502020204030204" pitchFamily="34" charset="0"/>
                <a:ea typeface="+mn-ea"/>
                <a:cs typeface="+mn-cs"/>
              </a:rPr>
              <a:t>水胶比是反映混凝土密实度的一个重要指标，水胶比的大小体现了混凝土抵抗氯离子侵入的能力氯离子扩散系数与水胶比基本呈正相关线性关系</a:t>
            </a:r>
          </a:p>
          <a:p>
            <a:r>
              <a:rPr lang="en-US" sz="1200" kern="1200" dirty="0" smtClean="0">
                <a:solidFill>
                  <a:schemeClr val="tx1"/>
                </a:solidFill>
                <a:latin typeface="Calibri" panose="020F0502020204030204" pitchFamily="34" charset="0"/>
                <a:ea typeface="+mn-ea"/>
                <a:cs typeface="+mn-cs"/>
              </a:rPr>
              <a:t>2.</a:t>
            </a:r>
            <a:r>
              <a:rPr lang="zh-CN" altLang="en-US" sz="1200" kern="1200" dirty="0" smtClean="0">
                <a:solidFill>
                  <a:schemeClr val="tx1"/>
                </a:solidFill>
                <a:latin typeface="Calibri" panose="020F0502020204030204" pitchFamily="34" charset="0"/>
                <a:ea typeface="+mn-ea"/>
                <a:cs typeface="+mn-cs"/>
              </a:rPr>
              <a:t>矿物掺合料对氯离子扩散系数的影响</a:t>
            </a:r>
          </a:p>
          <a:p>
            <a:r>
              <a:rPr lang="zh-CN" altLang="en-US" sz="1200" kern="1200" dirty="0" smtClean="0">
                <a:solidFill>
                  <a:schemeClr val="tx1"/>
                </a:solidFill>
                <a:latin typeface="Calibri" panose="020F0502020204030204" pitchFamily="34" charset="0"/>
                <a:ea typeface="+mn-ea"/>
                <a:cs typeface="+mn-cs"/>
              </a:rPr>
              <a:t>加入矿物掺合料后，混凝土氯离子扩散系数降。</a:t>
            </a:r>
          </a:p>
          <a:p>
            <a:r>
              <a:rPr lang="en-US" sz="1200" kern="1200" dirty="0" smtClean="0">
                <a:solidFill>
                  <a:schemeClr val="tx1"/>
                </a:solidFill>
                <a:latin typeface="Calibri" panose="020F0502020204030204" pitchFamily="34" charset="0"/>
                <a:ea typeface="+mn-ea"/>
                <a:cs typeface="+mn-cs"/>
              </a:rPr>
              <a:t>3.</a:t>
            </a:r>
            <a:r>
              <a:rPr lang="zh-CN" altLang="en-US" sz="1200" kern="1200" dirty="0" smtClean="0">
                <a:solidFill>
                  <a:schemeClr val="tx1"/>
                </a:solidFill>
                <a:latin typeface="Calibri" panose="020F0502020204030204" pitchFamily="34" charset="0"/>
                <a:ea typeface="+mn-ea"/>
                <a:cs typeface="+mn-cs"/>
              </a:rPr>
              <a:t>骨料对氯离子扩散系数的影响</a:t>
            </a:r>
          </a:p>
          <a:p>
            <a:r>
              <a:rPr lang="zh-CN" altLang="en-US" sz="1200" kern="1200" dirty="0" smtClean="0">
                <a:solidFill>
                  <a:schemeClr val="tx1"/>
                </a:solidFill>
                <a:latin typeface="Calibri" panose="020F0502020204030204" pitchFamily="34" charset="0"/>
                <a:ea typeface="+mn-ea"/>
                <a:cs typeface="+mn-cs"/>
              </a:rPr>
              <a:t>随着最大骨料直径的增大，氯离子扩散系数降低，因为随着最大骨料直径的增大，界面体积百分数减小，氯离子扩散系数降低。</a:t>
            </a:r>
            <a:endParaRPr lang="zh-CN" altLang="en-US" sz="1200" kern="1200" dirty="0">
              <a:solidFill>
                <a:schemeClr val="tx1"/>
              </a:solidFill>
              <a:latin typeface="Calibri" panose="020F0502020204030204" pitchFamily="34" charset="0"/>
              <a:ea typeface="+mn-ea"/>
              <a:cs typeface="+mn-cs"/>
            </a:endParaRPr>
          </a:p>
        </p:txBody>
      </p:sp>
      <p:sp>
        <p:nvSpPr>
          <p:cNvPr id="13316" name="灯片编号占位符 3"/>
          <p:cNvSpPr>
            <a:spLocks noGrp="1"/>
          </p:cNvSpPr>
          <p:nvPr>
            <p:ph type="sldNum" sz="quarter" idx="5"/>
          </p:nvPr>
        </p:nvSpPr>
        <p:spPr>
          <a:noFill/>
          <a:ln>
            <a:miter lim="800000"/>
            <a:headEnd/>
            <a:tailEnd/>
          </a:ln>
        </p:spPr>
        <p:txBody>
          <a:bodyPr/>
          <a:lstStyle/>
          <a:p>
            <a:fld id="{C00B3927-5A39-4720-89D2-61B6D681A1CA}" type="slidenum">
              <a:rPr lang="zh-CN" altLang="en-US"/>
              <a:pPr/>
              <a:t>19</a:t>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7170" name="Rectangle 2"/>
          <p:cNvSpPr>
            <a:spLocks noGrp="1" noChangeArrowheads="1"/>
          </p:cNvSpPr>
          <p:nvPr>
            <p:ph type="ctrTitle"/>
          </p:nvPr>
        </p:nvSpPr>
        <p:spPr>
          <a:xfrm>
            <a:off x="304800" y="2438400"/>
            <a:ext cx="8153400" cy="762000"/>
          </a:xfrm>
        </p:spPr>
        <p:txBody>
          <a:bodyPr/>
          <a:lstStyle>
            <a:lvl1pPr>
              <a:defRPr>
                <a:solidFill>
                  <a:srgbClr val="333333"/>
                </a:solidFill>
              </a:defRPr>
            </a:lvl1pPr>
          </a:lstStyle>
          <a:p>
            <a:r>
              <a:rPr lang="zh-CN" altLang="en-US" smtClean="0"/>
              <a:t>单击此处编辑母版标题样式</a:t>
            </a:r>
            <a:endParaRPr lang="en-US" altLang="zh-CN"/>
          </a:p>
        </p:txBody>
      </p:sp>
      <p:sp>
        <p:nvSpPr>
          <p:cNvPr id="7171" name="Rectangle 3"/>
          <p:cNvSpPr>
            <a:spLocks noGrp="1" noChangeArrowheads="1"/>
          </p:cNvSpPr>
          <p:nvPr>
            <p:ph type="subTitle" idx="1"/>
          </p:nvPr>
        </p:nvSpPr>
        <p:spPr>
          <a:xfrm>
            <a:off x="2057400" y="4343400"/>
            <a:ext cx="6858000" cy="1219200"/>
          </a:xfrm>
        </p:spPr>
        <p:txBody>
          <a:bodyPr/>
          <a:lstStyle>
            <a:lvl1pPr marL="0" indent="0">
              <a:buFontTx/>
              <a:buNone/>
              <a:defRPr sz="1400" b="1">
                <a:solidFill>
                  <a:schemeClr val="tx1"/>
                </a:solidFill>
              </a:defRPr>
            </a:lvl1pPr>
          </a:lstStyle>
          <a:p>
            <a:r>
              <a:rPr lang="zh-CN" altLang="en-US" smtClean="0"/>
              <a:t>单击此处编辑母版副标题样式</a:t>
            </a:r>
            <a:endParaRPr lang="en-US" altLang="zh-CN"/>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fld id="{3BC9386A-3FFE-4B49-80F6-A4F7FECE1450}" type="slidenum">
              <a:rPr lang="en-US" altLang="zh-CN"/>
              <a:pPr/>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fld id="{5C556CB4-0BAF-49BA-BB13-BDB907536DC6}" type="slidenum">
              <a:rPr lang="en-US" altLang="zh-CN"/>
              <a:pPr/>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fld id="{A876FCB2-0F79-4899-8CC0-BA0FC6CD4313}" type="slidenum">
              <a:rPr lang="en-US" altLang="zh-CN"/>
              <a:pPr/>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1295400" y="1676400"/>
            <a:ext cx="3619500" cy="44497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5067300" y="1676400"/>
            <a:ext cx="3619500" cy="44497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fld id="{69A3083F-D3BD-4DFB-A925-1AFA8FB4C842}" type="slidenum">
              <a:rPr lang="en-US" altLang="zh-CN"/>
              <a:pPr/>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fld id="{8DD91964-BBFF-4934-8663-281C2552D948}" type="slidenum">
              <a:rPr lang="en-US" altLang="zh-CN"/>
              <a:pPr/>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fld id="{7DCC88B0-8427-4932-B470-95EB5EEF51C1}" type="slidenum">
              <a:rPr lang="en-US" altLang="zh-CN"/>
              <a:pPr/>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fld id="{53D2C1E0-8F04-476F-A706-AF30DF68A6AA}" type="slidenum">
              <a:rPr lang="en-US" altLang="zh-CN"/>
              <a:pPr/>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fld id="{94751684-E8D5-4C01-823F-D877B1F29CB2}" type="slidenum">
              <a:rPr lang="en-US" altLang="zh-CN"/>
              <a:pPr/>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smtClean="0"/>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fld id="{96449A40-D20B-42CC-B508-CDC5D4828B71}" type="slidenum">
              <a:rPr lang="en-US" altLang="zh-CN"/>
              <a:pPr/>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fld id="{21E222A9-CF10-4A0D-9CB4-4B16C0B564FE}" type="slidenum">
              <a:rPr lang="en-US" altLang="zh-CN"/>
              <a:pPr/>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38950" y="685800"/>
            <a:ext cx="1847850" cy="5440363"/>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1295400" y="685800"/>
            <a:ext cx="5391150" cy="5440363"/>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fld id="{845B882A-793A-4263-8C58-2A632383029A}" type="slidenum">
              <a:rPr lang="en-US" altLang="zh-CN"/>
              <a:pPr/>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295400" y="685800"/>
            <a:ext cx="7391400" cy="6096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endParaRPr lang="en-US" altLang="zh-CN" smtClean="0"/>
          </a:p>
        </p:txBody>
      </p:sp>
      <p:sp>
        <p:nvSpPr>
          <p:cNvPr id="1027" name="Rectangle 3"/>
          <p:cNvSpPr>
            <a:spLocks noGrp="1" noChangeArrowheads="1"/>
          </p:cNvSpPr>
          <p:nvPr>
            <p:ph type="body" idx="1"/>
          </p:nvPr>
        </p:nvSpPr>
        <p:spPr bwMode="auto">
          <a:xfrm>
            <a:off x="1295400" y="1676400"/>
            <a:ext cx="7391400" cy="44497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ltLang="zh-CN" smtClean="0"/>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latin typeface="Arial" charset="0"/>
                <a:ea typeface="宋体" charset="-122"/>
              </a:defRPr>
            </a:lvl1pPr>
          </a:lstStyle>
          <a:p>
            <a:pPr>
              <a:defRPr/>
            </a:pPr>
            <a:endParaRPr lang="en-US" altLang="zh-CN"/>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latin typeface="Arial" charset="0"/>
                <a:ea typeface="宋体" charset="-122"/>
              </a:defRPr>
            </a:lvl1pPr>
          </a:lstStyle>
          <a:p>
            <a:pPr>
              <a:defRPr/>
            </a:pPr>
            <a:endParaRPr lang="en-US" altLang="zh-CN"/>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ea typeface="宋体" pitchFamily="2" charset="-122"/>
              </a:defRPr>
            </a:lvl1pPr>
          </a:lstStyle>
          <a:p>
            <a:fld id="{00CE5F7D-DBC3-4C90-9BEF-AFF6629E238A}"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3695"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Lst>
  <p:txStyles>
    <p:titleStyle>
      <a:lvl1pPr algn="l" rtl="0" eaLnBrk="0" fontAlgn="base" hangingPunct="0">
        <a:spcBef>
          <a:spcPct val="0"/>
        </a:spcBef>
        <a:spcAft>
          <a:spcPct val="0"/>
        </a:spcAft>
        <a:defRPr sz="3600">
          <a:solidFill>
            <a:schemeClr val="tx2"/>
          </a:solidFill>
          <a:latin typeface="+mj-lt"/>
          <a:ea typeface="+mj-ea"/>
          <a:cs typeface="+mj-cs"/>
        </a:defRPr>
      </a:lvl1pPr>
      <a:lvl2pPr algn="l" rtl="0" eaLnBrk="0" fontAlgn="base" hangingPunct="0">
        <a:spcBef>
          <a:spcPct val="0"/>
        </a:spcBef>
        <a:spcAft>
          <a:spcPct val="0"/>
        </a:spcAft>
        <a:defRPr sz="3600">
          <a:solidFill>
            <a:schemeClr val="tx2"/>
          </a:solidFill>
          <a:latin typeface="Times New Roman" pitchFamily="18" charset="0"/>
        </a:defRPr>
      </a:lvl2pPr>
      <a:lvl3pPr algn="l" rtl="0" eaLnBrk="0" fontAlgn="base" hangingPunct="0">
        <a:spcBef>
          <a:spcPct val="0"/>
        </a:spcBef>
        <a:spcAft>
          <a:spcPct val="0"/>
        </a:spcAft>
        <a:defRPr sz="3600">
          <a:solidFill>
            <a:schemeClr val="tx2"/>
          </a:solidFill>
          <a:latin typeface="Times New Roman" pitchFamily="18" charset="0"/>
        </a:defRPr>
      </a:lvl3pPr>
      <a:lvl4pPr algn="l" rtl="0" eaLnBrk="0" fontAlgn="base" hangingPunct="0">
        <a:spcBef>
          <a:spcPct val="0"/>
        </a:spcBef>
        <a:spcAft>
          <a:spcPct val="0"/>
        </a:spcAft>
        <a:defRPr sz="3600">
          <a:solidFill>
            <a:schemeClr val="tx2"/>
          </a:solidFill>
          <a:latin typeface="Times New Roman" pitchFamily="18" charset="0"/>
        </a:defRPr>
      </a:lvl4pPr>
      <a:lvl5pPr algn="l" rtl="0" eaLnBrk="0" fontAlgn="base" hangingPunct="0">
        <a:spcBef>
          <a:spcPct val="0"/>
        </a:spcBef>
        <a:spcAft>
          <a:spcPct val="0"/>
        </a:spcAft>
        <a:defRPr sz="3600">
          <a:solidFill>
            <a:schemeClr val="tx2"/>
          </a:solidFill>
          <a:latin typeface="Times New Roman" pitchFamily="18" charset="0"/>
        </a:defRPr>
      </a:lvl5pPr>
      <a:lvl6pPr marL="457200" algn="l" rtl="0" eaLnBrk="1" fontAlgn="base" hangingPunct="1">
        <a:spcBef>
          <a:spcPct val="0"/>
        </a:spcBef>
        <a:spcAft>
          <a:spcPct val="0"/>
        </a:spcAft>
        <a:defRPr sz="3600">
          <a:solidFill>
            <a:schemeClr val="tx2"/>
          </a:solidFill>
          <a:latin typeface="Times New Roman" pitchFamily="18" charset="0"/>
        </a:defRPr>
      </a:lvl6pPr>
      <a:lvl7pPr marL="914400" algn="l" rtl="0" eaLnBrk="1" fontAlgn="base" hangingPunct="1">
        <a:spcBef>
          <a:spcPct val="0"/>
        </a:spcBef>
        <a:spcAft>
          <a:spcPct val="0"/>
        </a:spcAft>
        <a:defRPr sz="3600">
          <a:solidFill>
            <a:schemeClr val="tx2"/>
          </a:solidFill>
          <a:latin typeface="Times New Roman" pitchFamily="18" charset="0"/>
        </a:defRPr>
      </a:lvl7pPr>
      <a:lvl8pPr marL="1371600" algn="l" rtl="0" eaLnBrk="1" fontAlgn="base" hangingPunct="1">
        <a:spcBef>
          <a:spcPct val="0"/>
        </a:spcBef>
        <a:spcAft>
          <a:spcPct val="0"/>
        </a:spcAft>
        <a:defRPr sz="3600">
          <a:solidFill>
            <a:schemeClr val="tx2"/>
          </a:solidFill>
          <a:latin typeface="Times New Roman" pitchFamily="18" charset="0"/>
        </a:defRPr>
      </a:lvl8pPr>
      <a:lvl9pPr marL="1828800" algn="l" rtl="0" eaLnBrk="1" fontAlgn="base" hangingPunct="1">
        <a:spcBef>
          <a:spcPct val="0"/>
        </a:spcBef>
        <a:spcAft>
          <a:spcPct val="0"/>
        </a:spcAft>
        <a:defRPr sz="36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a:solidFill>
            <a:srgbClr val="42372C"/>
          </a:solidFill>
          <a:latin typeface="+mn-lt"/>
          <a:ea typeface="+mn-ea"/>
          <a:cs typeface="+mn-cs"/>
        </a:defRPr>
      </a:lvl1pPr>
      <a:lvl2pPr marL="742950" indent="-285750" algn="l" rtl="0" eaLnBrk="0" fontAlgn="base" hangingPunct="0">
        <a:spcBef>
          <a:spcPct val="20000"/>
        </a:spcBef>
        <a:spcAft>
          <a:spcPct val="0"/>
        </a:spcAft>
        <a:buChar char="–"/>
        <a:defRPr sz="1600">
          <a:solidFill>
            <a:srgbClr val="42372C"/>
          </a:solidFill>
          <a:latin typeface="+mn-lt"/>
        </a:defRPr>
      </a:lvl2pPr>
      <a:lvl3pPr marL="1143000" indent="-228600" algn="l" rtl="0" eaLnBrk="0" fontAlgn="base" hangingPunct="0">
        <a:spcBef>
          <a:spcPct val="20000"/>
        </a:spcBef>
        <a:spcAft>
          <a:spcPct val="0"/>
        </a:spcAft>
        <a:buChar char="•"/>
        <a:defRPr sz="1400">
          <a:solidFill>
            <a:srgbClr val="42372C"/>
          </a:solidFill>
          <a:latin typeface="+mn-lt"/>
        </a:defRPr>
      </a:lvl3pPr>
      <a:lvl4pPr marL="1600200" indent="-228600" algn="l" rtl="0" eaLnBrk="0" fontAlgn="base" hangingPunct="0">
        <a:spcBef>
          <a:spcPct val="20000"/>
        </a:spcBef>
        <a:spcAft>
          <a:spcPct val="0"/>
        </a:spcAft>
        <a:buChar char="–"/>
        <a:defRPr sz="1200">
          <a:solidFill>
            <a:srgbClr val="42372C"/>
          </a:solidFill>
          <a:latin typeface="+mn-lt"/>
        </a:defRPr>
      </a:lvl4pPr>
      <a:lvl5pPr marL="2057400" indent="-228600" algn="l" rtl="0" eaLnBrk="0" fontAlgn="base" hangingPunct="0">
        <a:spcBef>
          <a:spcPct val="20000"/>
        </a:spcBef>
        <a:spcAft>
          <a:spcPct val="0"/>
        </a:spcAft>
        <a:buChar char="»"/>
        <a:defRPr sz="1200">
          <a:solidFill>
            <a:srgbClr val="42372C"/>
          </a:solidFill>
          <a:latin typeface="+mn-lt"/>
        </a:defRPr>
      </a:lvl5pPr>
      <a:lvl6pPr marL="2514600" indent="-228600" algn="l" rtl="0" eaLnBrk="1" fontAlgn="base" hangingPunct="1">
        <a:spcBef>
          <a:spcPct val="20000"/>
        </a:spcBef>
        <a:spcAft>
          <a:spcPct val="0"/>
        </a:spcAft>
        <a:buChar char="»"/>
        <a:defRPr sz="1200">
          <a:solidFill>
            <a:srgbClr val="42372C"/>
          </a:solidFill>
          <a:latin typeface="+mn-lt"/>
        </a:defRPr>
      </a:lvl6pPr>
      <a:lvl7pPr marL="2971800" indent="-228600" algn="l" rtl="0" eaLnBrk="1" fontAlgn="base" hangingPunct="1">
        <a:spcBef>
          <a:spcPct val="20000"/>
        </a:spcBef>
        <a:spcAft>
          <a:spcPct val="0"/>
        </a:spcAft>
        <a:buChar char="»"/>
        <a:defRPr sz="1200">
          <a:solidFill>
            <a:srgbClr val="42372C"/>
          </a:solidFill>
          <a:latin typeface="+mn-lt"/>
        </a:defRPr>
      </a:lvl7pPr>
      <a:lvl8pPr marL="3429000" indent="-228600" algn="l" rtl="0" eaLnBrk="1" fontAlgn="base" hangingPunct="1">
        <a:spcBef>
          <a:spcPct val="20000"/>
        </a:spcBef>
        <a:spcAft>
          <a:spcPct val="0"/>
        </a:spcAft>
        <a:buChar char="»"/>
        <a:defRPr sz="1200">
          <a:solidFill>
            <a:srgbClr val="42372C"/>
          </a:solidFill>
          <a:latin typeface="+mn-lt"/>
        </a:defRPr>
      </a:lvl8pPr>
      <a:lvl9pPr marL="3886200" indent="-228600" algn="l" rtl="0" eaLnBrk="1" fontAlgn="base" hangingPunct="1">
        <a:spcBef>
          <a:spcPct val="20000"/>
        </a:spcBef>
        <a:spcAft>
          <a:spcPct val="0"/>
        </a:spcAft>
        <a:buChar char="»"/>
        <a:defRPr sz="1200">
          <a:solidFill>
            <a:srgbClr val="42372C"/>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2.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文本框 1"/>
          <p:cNvSpPr txBox="1">
            <a:spLocks noChangeArrowheads="1"/>
          </p:cNvSpPr>
          <p:nvPr/>
        </p:nvSpPr>
        <p:spPr bwMode="auto">
          <a:xfrm>
            <a:off x="900113" y="981075"/>
            <a:ext cx="7920037" cy="1754326"/>
          </a:xfrm>
          <a:prstGeom prst="rect">
            <a:avLst/>
          </a:prstGeom>
          <a:noFill/>
          <a:ln w="9525">
            <a:noFill/>
            <a:miter lim="800000"/>
            <a:headEnd/>
            <a:tailEnd/>
          </a:ln>
        </p:spPr>
        <p:txBody>
          <a:bodyPr>
            <a:spAutoFit/>
          </a:bodyPr>
          <a:lstStyle/>
          <a:p>
            <a:pPr eaLnBrk="1" hangingPunct="1"/>
            <a:r>
              <a:rPr lang="zh-CN" altLang="en-US" sz="6000" dirty="0" smtClean="0">
                <a:latin typeface="华文新魏" pitchFamily="2" charset="-122"/>
                <a:ea typeface="华文新魏" pitchFamily="2" charset="-122"/>
              </a:rPr>
              <a:t>混凝土性能评价</a:t>
            </a:r>
            <a:endParaRPr lang="en-US" altLang="zh-CN" sz="6000" dirty="0">
              <a:latin typeface="华文新魏" pitchFamily="2" charset="-122"/>
              <a:ea typeface="华文新魏" pitchFamily="2" charset="-122"/>
            </a:endParaRPr>
          </a:p>
          <a:p>
            <a:pPr eaLnBrk="1" hangingPunct="1"/>
            <a:r>
              <a:rPr lang="en-US" altLang="zh-CN" sz="4000" dirty="0">
                <a:latin typeface="华文新魏" pitchFamily="2" charset="-122"/>
                <a:ea typeface="华文新魏" pitchFamily="2" charset="-122"/>
              </a:rPr>
              <a:t>    </a:t>
            </a:r>
            <a:r>
              <a:rPr lang="en-US" altLang="zh-CN" sz="4000" dirty="0" smtClean="0">
                <a:latin typeface="华文新魏" pitchFamily="2" charset="-122"/>
                <a:ea typeface="华文新魏" pitchFamily="2" charset="-122"/>
              </a:rPr>
              <a:t> </a:t>
            </a:r>
            <a:r>
              <a:rPr lang="en-US" altLang="zh-CN" sz="4800" dirty="0">
                <a:latin typeface="华文新魏" pitchFamily="2" charset="-122"/>
                <a:ea typeface="华文新魏" pitchFamily="2" charset="-122"/>
              </a:rPr>
              <a:t>——C60</a:t>
            </a:r>
            <a:r>
              <a:rPr lang="zh-CN" altLang="en-US" sz="4800" dirty="0">
                <a:latin typeface="华文新魏" pitchFamily="2" charset="-122"/>
                <a:ea typeface="华文新魏" pitchFamily="2" charset="-122"/>
              </a:rPr>
              <a:t>高强泵送混凝土</a:t>
            </a:r>
            <a:endParaRPr lang="zh-CN" altLang="en-US" sz="4000" dirty="0">
              <a:latin typeface="华文新魏" pitchFamily="2" charset="-122"/>
              <a:ea typeface="华文新魏" pitchFamily="2" charset="-122"/>
            </a:endParaRPr>
          </a:p>
        </p:txBody>
      </p:sp>
      <p:sp>
        <p:nvSpPr>
          <p:cNvPr id="4099" name="文本框 2"/>
          <p:cNvSpPr txBox="1">
            <a:spLocks noChangeArrowheads="1"/>
          </p:cNvSpPr>
          <p:nvPr/>
        </p:nvSpPr>
        <p:spPr bwMode="auto">
          <a:xfrm>
            <a:off x="3714744" y="5084763"/>
            <a:ext cx="5040312" cy="646331"/>
          </a:xfrm>
          <a:prstGeom prst="rect">
            <a:avLst/>
          </a:prstGeom>
          <a:noFill/>
          <a:ln w="9525">
            <a:noFill/>
            <a:miter lim="800000"/>
            <a:headEnd/>
            <a:tailEnd/>
          </a:ln>
        </p:spPr>
        <p:txBody>
          <a:bodyPr>
            <a:spAutoFit/>
          </a:bodyPr>
          <a:lstStyle/>
          <a:p>
            <a:pPr eaLnBrk="1" hangingPunct="1"/>
            <a:r>
              <a:rPr lang="zh-CN" altLang="en-US" sz="3600" b="1" dirty="0" smtClean="0">
                <a:solidFill>
                  <a:schemeClr val="bg1"/>
                </a:solidFill>
                <a:latin typeface="华文楷体" pitchFamily="2" charset="-122"/>
                <a:ea typeface="华文楷体" pitchFamily="2" charset="-122"/>
              </a:rPr>
              <a:t>谢庄子  刘凯  刘策  维斯</a:t>
            </a:r>
            <a:endParaRPr lang="zh-CN" altLang="en-US" sz="3600" b="1" dirty="0">
              <a:solidFill>
                <a:schemeClr val="bg1"/>
              </a:solidFill>
              <a:latin typeface="华文楷体" pitchFamily="2" charset="-122"/>
              <a:ea typeface="华文楷体" pitchFamily="2"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2"/>
          <p:cNvSpPr txBox="1">
            <a:spLocks/>
          </p:cNvSpPr>
          <p:nvPr/>
        </p:nvSpPr>
        <p:spPr bwMode="auto">
          <a:xfrm>
            <a:off x="5643570" y="1857364"/>
            <a:ext cx="3214742" cy="4000528"/>
          </a:xfrm>
          <a:prstGeom prst="rect">
            <a:avLst/>
          </a:prstGeom>
          <a:ln w="25400" cap="flat" cmpd="sng" algn="ctr">
            <a:solidFill>
              <a:schemeClr val="dk1"/>
            </a:solidFill>
            <a:prstDash val="solid"/>
            <a:miter lim="800000"/>
            <a:headEnd/>
            <a:tailEnd/>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zh-CN" altLang="en-US" sz="3200" b="1" i="0" u="none" strike="noStrike" kern="0" cap="none" spc="0" normalizeH="0" baseline="0" noProof="0" dirty="0" smtClean="0">
                <a:ln>
                  <a:noFill/>
                </a:ln>
                <a:solidFill>
                  <a:schemeClr val="dk1"/>
                </a:solidFill>
                <a:effectLst/>
                <a:uLnTx/>
                <a:uFillTx/>
                <a:latin typeface="楷体" pitchFamily="49" charset="-122"/>
                <a:ea typeface="楷体" pitchFamily="49" charset="-122"/>
                <a:cs typeface="+mn-cs"/>
              </a:rPr>
              <a:t>混凝土其他性能指标：</a:t>
            </a:r>
            <a:endParaRPr lang="en-US" altLang="zh-CN" sz="3200" b="1" kern="0" dirty="0">
              <a:latin typeface="楷体" pitchFamily="49" charset="-122"/>
              <a:ea typeface="楷体" pitchFamily="49" charset="-122"/>
            </a:endParaRPr>
          </a:p>
          <a:p>
            <a:pPr marL="0" marR="0" lvl="0" indent="0" algn="l" defTabSz="914400" rtl="0" eaLnBrk="1" fontAlgn="base" latinLnBrk="0" hangingPunct="1">
              <a:lnSpc>
                <a:spcPct val="100000"/>
              </a:lnSpc>
              <a:spcBef>
                <a:spcPct val="20000"/>
              </a:spcBef>
              <a:spcAft>
                <a:spcPct val="0"/>
              </a:spcAft>
              <a:buClrTx/>
              <a:buSzTx/>
              <a:buFontTx/>
              <a:buNone/>
              <a:tabLst/>
              <a:defRPr/>
            </a:pPr>
            <a:r>
              <a:rPr lang="zh-CN" altLang="en-US" sz="3200" b="1" kern="0" dirty="0">
                <a:latin typeface="楷体" pitchFamily="49" charset="-122"/>
                <a:ea typeface="楷体" pitchFamily="49" charset="-122"/>
              </a:rPr>
              <a:t>耐久性</a:t>
            </a:r>
            <a:endParaRPr lang="en-US" altLang="zh-CN" sz="3200" b="1" kern="0" dirty="0">
              <a:latin typeface="楷体" pitchFamily="49" charset="-122"/>
              <a:ea typeface="楷体" pitchFamily="49" charset="-122"/>
            </a:endParaRPr>
          </a:p>
          <a:p>
            <a:pPr marL="0" marR="0" lvl="0" indent="0" algn="l" defTabSz="914400" rtl="0" eaLnBrk="1" fontAlgn="base" latinLnBrk="0" hangingPunct="1">
              <a:lnSpc>
                <a:spcPct val="100000"/>
              </a:lnSpc>
              <a:spcBef>
                <a:spcPct val="20000"/>
              </a:spcBef>
              <a:spcAft>
                <a:spcPct val="0"/>
              </a:spcAft>
              <a:buClrTx/>
              <a:buSzTx/>
              <a:buFontTx/>
              <a:buNone/>
              <a:tabLst/>
              <a:defRPr/>
            </a:pPr>
            <a:r>
              <a:rPr lang="zh-CN" altLang="en-US" sz="3200" b="1" kern="0" dirty="0">
                <a:latin typeface="楷体" pitchFamily="49" charset="-122"/>
                <a:ea typeface="楷体" pitchFamily="49" charset="-122"/>
              </a:rPr>
              <a:t>抗冻性</a:t>
            </a:r>
            <a:endParaRPr lang="en-US" altLang="zh-CN" sz="3200" b="1" kern="0" dirty="0">
              <a:latin typeface="楷体" pitchFamily="49" charset="-122"/>
              <a:ea typeface="楷体" pitchFamily="49" charset="-122"/>
            </a:endParaRPr>
          </a:p>
          <a:p>
            <a:pPr marL="0" marR="0" lvl="0" indent="0" algn="l" defTabSz="914400" rtl="0" eaLnBrk="1" fontAlgn="base" latinLnBrk="0" hangingPunct="1">
              <a:lnSpc>
                <a:spcPct val="100000"/>
              </a:lnSpc>
              <a:spcBef>
                <a:spcPct val="20000"/>
              </a:spcBef>
              <a:spcAft>
                <a:spcPct val="0"/>
              </a:spcAft>
              <a:buClrTx/>
              <a:buSzTx/>
              <a:buFontTx/>
              <a:buNone/>
              <a:tabLst/>
              <a:defRPr/>
            </a:pPr>
            <a:r>
              <a:rPr lang="zh-CN" altLang="en-US" sz="3200" b="1" kern="0" dirty="0">
                <a:solidFill>
                  <a:srgbClr val="0070C0"/>
                </a:solidFill>
                <a:latin typeface="楷体" pitchFamily="49" charset="-122"/>
                <a:ea typeface="楷体" pitchFamily="49" charset="-122"/>
              </a:rPr>
              <a:t>抗渗</a:t>
            </a:r>
            <a:r>
              <a:rPr lang="zh-CN" altLang="en-US" sz="3200" b="1" kern="0" dirty="0" smtClean="0">
                <a:solidFill>
                  <a:srgbClr val="0070C0"/>
                </a:solidFill>
                <a:latin typeface="楷体" pitchFamily="49" charset="-122"/>
                <a:ea typeface="楷体" pitchFamily="49" charset="-122"/>
              </a:rPr>
              <a:t>性</a:t>
            </a:r>
            <a:r>
              <a:rPr lang="zh-CN" altLang="en-US" sz="3200" b="1" kern="0" dirty="0" smtClean="0">
                <a:solidFill>
                  <a:schemeClr val="tx1"/>
                </a:solidFill>
                <a:latin typeface="楷体" pitchFamily="49" charset="-122"/>
                <a:ea typeface="楷体" pitchFamily="49" charset="-122"/>
              </a:rPr>
              <a:t>→氯离子扩散系数</a:t>
            </a:r>
            <a:endParaRPr lang="en-US" altLang="zh-CN" sz="3200" b="1" kern="0" dirty="0" smtClean="0">
              <a:solidFill>
                <a:schemeClr val="tx1"/>
              </a:solidFill>
              <a:latin typeface="楷体" pitchFamily="49" charset="-122"/>
              <a:ea typeface="楷体" pitchFamily="49" charset="-122"/>
            </a:endParaRPr>
          </a:p>
          <a:p>
            <a:pPr marL="0" marR="0" lvl="0" indent="0" algn="l" defTabSz="914400" rtl="0" eaLnBrk="1" fontAlgn="base" latinLnBrk="0" hangingPunct="1">
              <a:lnSpc>
                <a:spcPct val="100000"/>
              </a:lnSpc>
              <a:spcBef>
                <a:spcPct val="20000"/>
              </a:spcBef>
              <a:spcAft>
                <a:spcPct val="0"/>
              </a:spcAft>
              <a:buClrTx/>
              <a:buSzTx/>
              <a:buFontTx/>
              <a:buNone/>
              <a:tabLst/>
              <a:defRPr/>
            </a:pPr>
            <a:r>
              <a:rPr lang="en-US" altLang="zh-CN" sz="3200" b="1" kern="0" dirty="0">
                <a:solidFill>
                  <a:schemeClr val="tx1"/>
                </a:solidFill>
                <a:latin typeface="楷体" pitchFamily="49" charset="-122"/>
                <a:ea typeface="楷体" pitchFamily="49" charset="-122"/>
              </a:rPr>
              <a:t>……</a:t>
            </a:r>
            <a:endParaRPr lang="en-US" altLang="zh-CN" sz="3200" b="1" kern="0" dirty="0" smtClean="0">
              <a:solidFill>
                <a:schemeClr val="tx1"/>
              </a:solidFill>
              <a:latin typeface="楷体" pitchFamily="49" charset="-122"/>
              <a:ea typeface="楷体" pitchFamily="49" charset="-122"/>
            </a:endParaRPr>
          </a:p>
          <a:p>
            <a:pPr marL="0" marR="0" lvl="0" indent="0" algn="l" defTabSz="914400" rtl="0" eaLnBrk="1" fontAlgn="base" latinLnBrk="0" hangingPunct="1">
              <a:lnSpc>
                <a:spcPct val="100000"/>
              </a:lnSpc>
              <a:spcBef>
                <a:spcPct val="20000"/>
              </a:spcBef>
              <a:spcAft>
                <a:spcPct val="0"/>
              </a:spcAft>
              <a:buClrTx/>
              <a:buSzTx/>
              <a:buFontTx/>
              <a:buNone/>
              <a:tabLst/>
              <a:defRPr/>
            </a:pPr>
            <a:endParaRPr kumimoji="0" lang="en-US" altLang="zh-CN" sz="2800" b="0" i="0" u="none" strike="noStrike" kern="0" cap="none" spc="0" normalizeH="0" baseline="0" noProof="0" dirty="0" smtClean="0">
              <a:ln>
                <a:noFill/>
              </a:ln>
              <a:solidFill>
                <a:schemeClr val="dk1"/>
              </a:solidFill>
              <a:effectLst/>
              <a:uLnTx/>
              <a:uFillTx/>
              <a:latin typeface="宋体" pitchFamily="2" charset="-122"/>
              <a:ea typeface="宋体" pitchFamily="2" charset="-122"/>
              <a:cs typeface="+mn-cs"/>
            </a:endParaRPr>
          </a:p>
        </p:txBody>
      </p:sp>
      <p:sp>
        <p:nvSpPr>
          <p:cNvPr id="6146" name="标题 1"/>
          <p:cNvSpPr>
            <a:spLocks noGrp="1"/>
          </p:cNvSpPr>
          <p:nvPr>
            <p:ph type="title"/>
          </p:nvPr>
        </p:nvSpPr>
        <p:spPr/>
        <p:txBody>
          <a:bodyPr/>
          <a:lstStyle/>
          <a:p>
            <a:pPr eaLnBrk="1" hangingPunct="1"/>
            <a:r>
              <a:rPr lang="zh-CN" altLang="en-US" b="1" dirty="0" smtClean="0">
                <a:solidFill>
                  <a:schemeClr val="bg1"/>
                </a:solidFill>
                <a:latin typeface="微软雅黑" pitchFamily="34" charset="-122"/>
                <a:ea typeface="微软雅黑" pitchFamily="34" charset="-122"/>
              </a:rPr>
              <a:t>混凝土性能评价的指标</a:t>
            </a:r>
          </a:p>
        </p:txBody>
      </p:sp>
      <p:sp>
        <p:nvSpPr>
          <p:cNvPr id="6147" name="内容占位符 2"/>
          <p:cNvSpPr>
            <a:spLocks noGrp="1"/>
          </p:cNvSpPr>
          <p:nvPr>
            <p:ph idx="1"/>
          </p:nvPr>
        </p:nvSpPr>
        <p:spPr>
          <a:xfrm>
            <a:off x="1142976" y="2000240"/>
            <a:ext cx="4143404" cy="3643338"/>
          </a:xfrm>
        </p:spPr>
        <p:style>
          <a:lnRef idx="2">
            <a:schemeClr val="dk1"/>
          </a:lnRef>
          <a:fillRef idx="1">
            <a:schemeClr val="lt1"/>
          </a:fillRef>
          <a:effectRef idx="0">
            <a:schemeClr val="dk1"/>
          </a:effectRef>
          <a:fontRef idx="minor">
            <a:schemeClr val="dk1"/>
          </a:fontRef>
        </p:style>
        <p:txBody>
          <a:bodyPr/>
          <a:lstStyle/>
          <a:p>
            <a:pPr marL="0" indent="0" eaLnBrk="1" hangingPunct="1">
              <a:buFontTx/>
              <a:buNone/>
            </a:pPr>
            <a:r>
              <a:rPr lang="zh-CN" altLang="en-US" sz="3200" b="1" dirty="0" smtClean="0">
                <a:latin typeface="楷体" pitchFamily="49" charset="-122"/>
                <a:ea typeface="楷体" pitchFamily="49" charset="-122"/>
              </a:rPr>
              <a:t>新拌混凝土的工作性：</a:t>
            </a:r>
            <a:endParaRPr lang="en-US" altLang="zh-CN" sz="3200" b="1" dirty="0" smtClean="0">
              <a:latin typeface="楷体" pitchFamily="49" charset="-122"/>
              <a:ea typeface="楷体" pitchFamily="49" charset="-122"/>
            </a:endParaRPr>
          </a:p>
          <a:p>
            <a:pPr marL="0" indent="0" eaLnBrk="1" hangingPunct="1">
              <a:buFontTx/>
              <a:buNone/>
            </a:pPr>
            <a:r>
              <a:rPr lang="zh-CN" altLang="en-US" sz="3200" b="1" dirty="0" smtClean="0">
                <a:solidFill>
                  <a:srgbClr val="0070C0"/>
                </a:solidFill>
                <a:latin typeface="楷体" pitchFamily="49" charset="-122"/>
                <a:ea typeface="楷体" pitchFamily="49" charset="-122"/>
              </a:rPr>
              <a:t>流动性</a:t>
            </a:r>
            <a:r>
              <a:rPr lang="zh-CN" altLang="en-US" sz="3200" b="1" dirty="0" smtClean="0">
                <a:latin typeface="楷体" pitchFamily="49" charset="-122"/>
                <a:ea typeface="楷体" pitchFamily="49" charset="-122"/>
              </a:rPr>
              <a:t>→坍落度</a:t>
            </a:r>
            <a:endParaRPr lang="en-US" altLang="zh-CN" sz="3200" b="1" dirty="0" smtClean="0">
              <a:latin typeface="楷体" pitchFamily="49" charset="-122"/>
              <a:ea typeface="楷体" pitchFamily="49" charset="-122"/>
            </a:endParaRPr>
          </a:p>
          <a:p>
            <a:pPr marL="0" indent="0" eaLnBrk="1" hangingPunct="1">
              <a:buFontTx/>
              <a:buNone/>
            </a:pPr>
            <a:r>
              <a:rPr lang="zh-CN" altLang="en-US" sz="3200" b="1" dirty="0" smtClean="0">
                <a:solidFill>
                  <a:srgbClr val="0070C0"/>
                </a:solidFill>
                <a:latin typeface="楷体" pitchFamily="49" charset="-122"/>
                <a:ea typeface="楷体" pitchFamily="49" charset="-122"/>
              </a:rPr>
              <a:t>稳定性</a:t>
            </a:r>
            <a:r>
              <a:rPr lang="zh-CN" altLang="en-US" sz="3200" b="1" dirty="0" smtClean="0">
                <a:latin typeface="楷体" pitchFamily="49" charset="-122"/>
                <a:ea typeface="楷体" pitchFamily="49" charset="-122"/>
              </a:rPr>
              <a:t>→是否离析</a:t>
            </a:r>
            <a:endParaRPr lang="en-US" altLang="zh-CN" sz="3200" b="1" dirty="0" smtClean="0">
              <a:latin typeface="楷体" pitchFamily="49" charset="-122"/>
              <a:ea typeface="楷体" pitchFamily="49" charset="-122"/>
            </a:endParaRPr>
          </a:p>
          <a:p>
            <a:pPr marL="0" indent="0" eaLnBrk="1" hangingPunct="1">
              <a:buFontTx/>
              <a:buNone/>
            </a:pPr>
            <a:r>
              <a:rPr lang="zh-CN" altLang="en-US" sz="3200" b="1" dirty="0" smtClean="0">
                <a:latin typeface="楷体" pitchFamily="49" charset="-122"/>
                <a:ea typeface="楷体" pitchFamily="49" charset="-122"/>
              </a:rPr>
              <a:t>可塑性</a:t>
            </a:r>
            <a:endParaRPr lang="en-US" altLang="zh-CN" sz="3200" b="1" dirty="0" smtClean="0">
              <a:latin typeface="楷体" pitchFamily="49" charset="-122"/>
              <a:ea typeface="楷体" pitchFamily="49" charset="-122"/>
            </a:endParaRPr>
          </a:p>
          <a:p>
            <a:pPr marL="0" indent="0" eaLnBrk="1" hangingPunct="1">
              <a:buFontTx/>
              <a:buNone/>
            </a:pPr>
            <a:r>
              <a:rPr lang="zh-CN" altLang="en-US" sz="3200" b="1" dirty="0" smtClean="0">
                <a:latin typeface="楷体" pitchFamily="49" charset="-122"/>
                <a:ea typeface="楷体" pitchFamily="49" charset="-122"/>
              </a:rPr>
              <a:t>易密性</a:t>
            </a:r>
            <a:endParaRPr lang="en-US" altLang="zh-CN" sz="3200" b="1" dirty="0" smtClean="0">
              <a:latin typeface="楷体" pitchFamily="49" charset="-122"/>
              <a:ea typeface="楷体" pitchFamily="49" charset="-122"/>
            </a:endParaRPr>
          </a:p>
          <a:p>
            <a:pPr marL="0" indent="0" eaLnBrk="1" hangingPunct="1">
              <a:buFontTx/>
              <a:buNone/>
            </a:pPr>
            <a:r>
              <a:rPr lang="en-US" altLang="zh-CN" sz="3200" b="1" dirty="0" smtClean="0">
                <a:latin typeface="楷体" pitchFamily="49" charset="-122"/>
                <a:ea typeface="楷体" pitchFamily="49" charset="-122"/>
              </a:rPr>
              <a:t>……</a:t>
            </a:r>
          </a:p>
          <a:p>
            <a:pPr marL="0" indent="0" eaLnBrk="1" hangingPunct="1">
              <a:buFontTx/>
              <a:buNone/>
            </a:pPr>
            <a:endParaRPr lang="en-US" altLang="zh-CN" sz="2800" dirty="0" smtClean="0">
              <a:latin typeface="宋体" pitchFamily="2" charset="-122"/>
              <a:ea typeface="宋体" pitchFamily="2" charset="-122"/>
            </a:endParaRPr>
          </a:p>
          <a:p>
            <a:pPr marL="0" indent="0" eaLnBrk="1" hangingPunct="1">
              <a:buFontTx/>
              <a:buNone/>
            </a:pPr>
            <a:endParaRPr lang="en-US" altLang="zh-CN" sz="2800" dirty="0" smtClean="0">
              <a:latin typeface="宋体" pitchFamily="2" charset="-122"/>
              <a:ea typeface="宋体" pitchFamily="2" charset="-122"/>
            </a:endParaRPr>
          </a:p>
        </p:txBody>
      </p:sp>
      <p:sp>
        <p:nvSpPr>
          <p:cNvPr id="4" name="内容占位符 2"/>
          <p:cNvSpPr txBox="1">
            <a:spLocks/>
          </p:cNvSpPr>
          <p:nvPr/>
        </p:nvSpPr>
        <p:spPr bwMode="auto">
          <a:xfrm>
            <a:off x="2571736" y="4143380"/>
            <a:ext cx="3143272" cy="2286016"/>
          </a:xfrm>
          <a:prstGeom prst="rect">
            <a:avLst/>
          </a:prstGeom>
          <a:ln w="25400" cap="flat" cmpd="sng" algn="ctr">
            <a:solidFill>
              <a:schemeClr val="dk1"/>
            </a:solidFill>
            <a:prstDash val="solid"/>
            <a:miter lim="800000"/>
            <a:headEnd/>
            <a:tailEnd/>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zh-CN" altLang="en-US" sz="3200" b="1" i="0" u="none" strike="noStrike" kern="0" cap="none" spc="0" normalizeH="0" baseline="0" noProof="0" dirty="0" smtClean="0">
                <a:ln>
                  <a:noFill/>
                </a:ln>
                <a:solidFill>
                  <a:schemeClr val="dk1"/>
                </a:solidFill>
                <a:effectLst/>
                <a:uLnTx/>
                <a:uFillTx/>
                <a:latin typeface="楷体" pitchFamily="49" charset="-122"/>
                <a:ea typeface="楷体" pitchFamily="49" charset="-122"/>
                <a:cs typeface="+mn-cs"/>
              </a:rPr>
              <a:t>混凝土主要力学性能：</a:t>
            </a:r>
            <a:endParaRPr kumimoji="0" lang="en-US" altLang="zh-CN" sz="3200" b="1" i="0" u="none" strike="noStrike" kern="0" cap="none" spc="0" normalizeH="0" baseline="0" noProof="0" dirty="0" smtClean="0">
              <a:ln>
                <a:noFill/>
              </a:ln>
              <a:solidFill>
                <a:schemeClr val="dk1"/>
              </a:solidFill>
              <a:effectLst/>
              <a:uLnTx/>
              <a:uFillTx/>
              <a:latin typeface="楷体" pitchFamily="49" charset="-122"/>
              <a:ea typeface="楷体" pitchFamily="49" charset="-122"/>
              <a:cs typeface="+mn-cs"/>
            </a:endParaRPr>
          </a:p>
          <a:p>
            <a:pPr marL="0" marR="0" lvl="0" indent="0" algn="l" defTabSz="914400" rtl="0" eaLnBrk="1" fontAlgn="base" latinLnBrk="0" hangingPunct="1">
              <a:lnSpc>
                <a:spcPct val="100000"/>
              </a:lnSpc>
              <a:spcBef>
                <a:spcPct val="20000"/>
              </a:spcBef>
              <a:spcAft>
                <a:spcPct val="0"/>
              </a:spcAft>
              <a:buClrTx/>
              <a:buSzTx/>
              <a:buFontTx/>
              <a:buNone/>
              <a:tabLst/>
              <a:defRPr/>
            </a:pPr>
            <a:r>
              <a:rPr lang="zh-CN" altLang="en-US" sz="3200" b="1" dirty="0">
                <a:solidFill>
                  <a:srgbClr val="0070C0"/>
                </a:solidFill>
                <a:latin typeface="楷体" pitchFamily="49" charset="-122"/>
                <a:ea typeface="楷体" pitchFamily="49" charset="-122"/>
              </a:rPr>
              <a:t>抗压强度</a:t>
            </a:r>
            <a:endParaRPr lang="en-US" altLang="zh-CN" sz="3200" b="1" dirty="0">
              <a:solidFill>
                <a:srgbClr val="0070C0"/>
              </a:solidFill>
              <a:latin typeface="楷体" pitchFamily="49" charset="-122"/>
              <a:ea typeface="楷体" pitchFamily="49" charset="-122"/>
            </a:endParaRPr>
          </a:p>
          <a:p>
            <a:pPr marL="0" marR="0" lvl="0" indent="0" algn="l" defTabSz="914400" rtl="0" eaLnBrk="1" fontAlgn="base" latinLnBrk="0" hangingPunct="1">
              <a:lnSpc>
                <a:spcPct val="100000"/>
              </a:lnSpc>
              <a:spcBef>
                <a:spcPct val="20000"/>
              </a:spcBef>
              <a:spcAft>
                <a:spcPct val="0"/>
              </a:spcAft>
              <a:buClrTx/>
              <a:buSzTx/>
              <a:buFontTx/>
              <a:buNone/>
              <a:tabLst/>
              <a:defRPr/>
            </a:pPr>
            <a:r>
              <a:rPr lang="zh-CN" altLang="en-US" sz="3200" b="1" dirty="0">
                <a:solidFill>
                  <a:srgbClr val="0070C0"/>
                </a:solidFill>
                <a:latin typeface="楷体" pitchFamily="49" charset="-122"/>
                <a:ea typeface="楷体" pitchFamily="49" charset="-122"/>
              </a:rPr>
              <a:t>劈裂抗拉强度</a:t>
            </a:r>
            <a:endParaRPr lang="en-US" altLang="zh-CN" sz="3200" b="1" dirty="0">
              <a:solidFill>
                <a:srgbClr val="0070C0"/>
              </a:solidFill>
              <a:latin typeface="楷体" pitchFamily="49" charset="-122"/>
              <a:ea typeface="楷体" pitchFamily="49" charset="-122"/>
            </a:endParaRPr>
          </a:p>
          <a:p>
            <a:pPr marL="0" marR="0" lvl="0" indent="0" algn="l" defTabSz="914400" rtl="0" eaLnBrk="1" fontAlgn="base" latinLnBrk="0" hangingPunct="1">
              <a:lnSpc>
                <a:spcPct val="100000"/>
              </a:lnSpc>
              <a:spcBef>
                <a:spcPct val="20000"/>
              </a:spcBef>
              <a:spcAft>
                <a:spcPct val="0"/>
              </a:spcAft>
              <a:buClrTx/>
              <a:buSzTx/>
              <a:buFontTx/>
              <a:buNone/>
              <a:tabLst/>
              <a:defRPr/>
            </a:pPr>
            <a:endParaRPr kumimoji="0" lang="en-US" altLang="zh-CN" sz="2800" b="0" i="0" u="none" strike="noStrike" kern="0" cap="none" spc="0" normalizeH="0" baseline="0" noProof="0" dirty="0" smtClean="0">
              <a:ln>
                <a:noFill/>
              </a:ln>
              <a:solidFill>
                <a:schemeClr val="dk1"/>
              </a:solidFill>
              <a:effectLst/>
              <a:uLnTx/>
              <a:uFillTx/>
              <a:latin typeface="宋体" pitchFamily="2" charset="-122"/>
              <a:ea typeface="宋体" pitchFamily="2" charset="-122"/>
              <a:cs typeface="+mn-cs"/>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1"/>
          <p:cNvSpPr>
            <a:spLocks noGrp="1"/>
          </p:cNvSpPr>
          <p:nvPr>
            <p:ph type="title"/>
          </p:nvPr>
        </p:nvSpPr>
        <p:spPr/>
        <p:txBody>
          <a:bodyPr/>
          <a:lstStyle/>
          <a:p>
            <a:pPr eaLnBrk="1" hangingPunct="1"/>
            <a:r>
              <a:rPr lang="zh-CN" altLang="en-US" b="1" dirty="0" smtClean="0">
                <a:solidFill>
                  <a:schemeClr val="bg1"/>
                </a:solidFill>
                <a:latin typeface="微软雅黑" pitchFamily="34" charset="-122"/>
                <a:ea typeface="微软雅黑" pitchFamily="34" charset="-122"/>
              </a:rPr>
              <a:t>高性能混凝土</a:t>
            </a:r>
          </a:p>
        </p:txBody>
      </p:sp>
      <p:sp>
        <p:nvSpPr>
          <p:cNvPr id="6147" name="内容占位符 2"/>
          <p:cNvSpPr>
            <a:spLocks noGrp="1"/>
          </p:cNvSpPr>
          <p:nvPr>
            <p:ph idx="1"/>
          </p:nvPr>
        </p:nvSpPr>
        <p:spPr>
          <a:xfrm>
            <a:off x="1214414" y="2143116"/>
            <a:ext cx="7643866" cy="3643338"/>
          </a:xfrm>
          <a:noFill/>
          <a:ln>
            <a:noFill/>
          </a:ln>
        </p:spPr>
        <p:style>
          <a:lnRef idx="2">
            <a:schemeClr val="dk1"/>
          </a:lnRef>
          <a:fillRef idx="1">
            <a:schemeClr val="lt1"/>
          </a:fillRef>
          <a:effectRef idx="0">
            <a:schemeClr val="dk1"/>
          </a:effectRef>
          <a:fontRef idx="minor">
            <a:schemeClr val="dk1"/>
          </a:fontRef>
        </p:style>
        <p:txBody>
          <a:bodyPr/>
          <a:lstStyle/>
          <a:p>
            <a:r>
              <a:rPr lang="zh-CN" altLang="en-US" sz="3200" b="1" dirty="0" smtClean="0">
                <a:latin typeface="华文楷体" pitchFamily="2" charset="-122"/>
                <a:ea typeface="华文楷体" pitchFamily="2" charset="-122"/>
              </a:rPr>
              <a:t>各国对高性能混凝土提出的要求和涵义不同。</a:t>
            </a:r>
          </a:p>
          <a:p>
            <a:r>
              <a:rPr lang="zh-CN" altLang="en-US" sz="3200" b="1" dirty="0" smtClean="0">
                <a:latin typeface="华文楷体" pitchFamily="2" charset="-122"/>
                <a:ea typeface="华文楷体" pitchFamily="2" charset="-122"/>
              </a:rPr>
              <a:t>中国在</a:t>
            </a:r>
            <a:r>
              <a:rPr lang="en-US" altLang="zh-CN" sz="3200" b="1" dirty="0" smtClean="0">
                <a:latin typeface="华文楷体" pitchFamily="2" charset="-122"/>
                <a:ea typeface="华文楷体" pitchFamily="2" charset="-122"/>
              </a:rPr>
              <a:t>《</a:t>
            </a:r>
            <a:r>
              <a:rPr lang="zh-CN" altLang="en-US" sz="3200" b="1" dirty="0" smtClean="0">
                <a:latin typeface="华文楷体" pitchFamily="2" charset="-122"/>
                <a:ea typeface="华文楷体" pitchFamily="2" charset="-122"/>
              </a:rPr>
              <a:t>高性能混凝土应用技术规程</a:t>
            </a:r>
            <a:r>
              <a:rPr lang="en-US" altLang="zh-CN" sz="3200" b="1" dirty="0" smtClean="0">
                <a:latin typeface="华文楷体" pitchFamily="2" charset="-122"/>
                <a:ea typeface="华文楷体" pitchFamily="2" charset="-122"/>
              </a:rPr>
              <a:t>》</a:t>
            </a:r>
            <a:r>
              <a:rPr lang="zh-CN" altLang="en-US" sz="3200" b="1" dirty="0" smtClean="0">
                <a:latin typeface="华文楷体" pitchFamily="2" charset="-122"/>
                <a:ea typeface="华文楷体" pitchFamily="2" charset="-122"/>
              </a:rPr>
              <a:t>（</a:t>
            </a:r>
            <a:r>
              <a:rPr lang="en-US" sz="3200" b="1" dirty="0" smtClean="0">
                <a:latin typeface="华文楷体" pitchFamily="2" charset="-122"/>
                <a:ea typeface="华文楷体" pitchFamily="2" charset="-122"/>
              </a:rPr>
              <a:t>CECS207-2006</a:t>
            </a:r>
            <a:r>
              <a:rPr lang="zh-CN" altLang="en-US" sz="3200" b="1" dirty="0" smtClean="0">
                <a:latin typeface="华文楷体" pitchFamily="2" charset="-122"/>
                <a:ea typeface="华文楷体" pitchFamily="2" charset="-122"/>
              </a:rPr>
              <a:t>）对高性能混凝土定义为：采用常规材料和工艺生产，具有混凝土结构所要求各项力学性能，具有高耐久性、高工作性和高体积稳定性的混凝土。</a:t>
            </a:r>
          </a:p>
          <a:p>
            <a:pPr marL="0" indent="0" eaLnBrk="1" hangingPunct="1">
              <a:buFontTx/>
              <a:buNone/>
            </a:pPr>
            <a:endParaRPr lang="en-US" altLang="zh-CN" sz="2800" b="1" dirty="0" smtClean="0">
              <a:latin typeface="华文楷体" pitchFamily="2" charset="-122"/>
              <a:ea typeface="华文楷体" pitchFamily="2" charset="-122"/>
            </a:endParaRPr>
          </a:p>
          <a:p>
            <a:pPr marL="0" indent="0" eaLnBrk="1" hangingPunct="1">
              <a:buFontTx/>
              <a:buNone/>
            </a:pPr>
            <a:endParaRPr lang="en-US" altLang="zh-CN" sz="2800" b="1" dirty="0" smtClean="0">
              <a:latin typeface="华文楷体" pitchFamily="2" charset="-122"/>
              <a:ea typeface="华文楷体" pitchFamily="2" charset="-122"/>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1"/>
          <p:cNvSpPr>
            <a:spLocks noGrp="1"/>
          </p:cNvSpPr>
          <p:nvPr>
            <p:ph type="title"/>
          </p:nvPr>
        </p:nvSpPr>
        <p:spPr/>
        <p:txBody>
          <a:bodyPr/>
          <a:lstStyle/>
          <a:p>
            <a:pPr eaLnBrk="1" hangingPunct="1"/>
            <a:r>
              <a:rPr lang="zh-CN" altLang="en-US" b="1" dirty="0" smtClean="0">
                <a:solidFill>
                  <a:schemeClr val="bg1"/>
                </a:solidFill>
                <a:latin typeface="微软雅黑" pitchFamily="34" charset="-122"/>
                <a:ea typeface="微软雅黑" pitchFamily="34" charset="-122"/>
              </a:rPr>
              <a:t>回顾</a:t>
            </a:r>
            <a:r>
              <a:rPr lang="en-US" altLang="zh-CN" b="1" dirty="0" smtClean="0">
                <a:solidFill>
                  <a:schemeClr val="bg1"/>
                </a:solidFill>
                <a:latin typeface="微软雅黑" pitchFamily="34" charset="-122"/>
                <a:ea typeface="微软雅黑" pitchFamily="34" charset="-122"/>
              </a:rPr>
              <a:t>——</a:t>
            </a:r>
            <a:r>
              <a:rPr lang="zh-CN" altLang="en-US" b="1" dirty="0" smtClean="0">
                <a:solidFill>
                  <a:schemeClr val="bg1"/>
                </a:solidFill>
                <a:latin typeface="微软雅黑" pitchFamily="34" charset="-122"/>
                <a:ea typeface="微软雅黑" pitchFamily="34" charset="-122"/>
              </a:rPr>
              <a:t>混凝土配合比设计</a:t>
            </a:r>
          </a:p>
        </p:txBody>
      </p:sp>
      <p:graphicFrame>
        <p:nvGraphicFramePr>
          <p:cNvPr id="5" name="图示 4"/>
          <p:cNvGraphicFramePr/>
          <p:nvPr/>
        </p:nvGraphicFramePr>
        <p:xfrm>
          <a:off x="3685104" y="1643050"/>
          <a:ext cx="5673242" cy="48965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extBox 5"/>
          <p:cNvSpPr txBox="1"/>
          <p:nvPr/>
        </p:nvSpPr>
        <p:spPr>
          <a:xfrm>
            <a:off x="1142976" y="1907340"/>
            <a:ext cx="3429024" cy="4093428"/>
          </a:xfrm>
          <a:prstGeom prst="rect">
            <a:avLst/>
          </a:prstGeom>
          <a:noFill/>
        </p:spPr>
        <p:txBody>
          <a:bodyPr wrap="square" rtlCol="0">
            <a:spAutoFit/>
          </a:bodyPr>
          <a:lstStyle/>
          <a:p>
            <a:r>
              <a:rPr lang="en-US" altLang="zh-CN" sz="3600" dirty="0" smtClean="0">
                <a:latin typeface="微软雅黑" pitchFamily="34" charset="-122"/>
                <a:ea typeface="微软雅黑" pitchFamily="34" charset="-122"/>
              </a:rPr>
              <a:t>C60</a:t>
            </a:r>
            <a:r>
              <a:rPr lang="zh-CN" altLang="en-US" sz="3600" dirty="0" smtClean="0">
                <a:latin typeface="微软雅黑" pitchFamily="34" charset="-122"/>
                <a:ea typeface="微软雅黑" pitchFamily="34" charset="-122"/>
              </a:rPr>
              <a:t>泵送混凝土</a:t>
            </a:r>
            <a:endParaRPr lang="en-US" altLang="zh-CN" sz="3600" dirty="0" smtClean="0">
              <a:latin typeface="微软雅黑" pitchFamily="34" charset="-122"/>
              <a:ea typeface="微软雅黑" pitchFamily="34" charset="-122"/>
            </a:endParaRPr>
          </a:p>
          <a:p>
            <a:endParaRPr lang="en-US" altLang="zh-CN" sz="3200" dirty="0" smtClean="0"/>
          </a:p>
          <a:p>
            <a:pPr>
              <a:buFont typeface="Arial" pitchFamily="34" charset="0"/>
              <a:buChar char="•"/>
            </a:pPr>
            <a:r>
              <a:rPr lang="zh-CN" altLang="en-US" sz="3200" b="1" dirty="0" smtClean="0">
                <a:latin typeface="楷体" pitchFamily="49" charset="-122"/>
                <a:ea typeface="楷体" pitchFamily="49" charset="-122"/>
              </a:rPr>
              <a:t>设计坍落度：    </a:t>
            </a:r>
            <a:endParaRPr lang="en-US" altLang="zh-CN" sz="3200" b="1" dirty="0" smtClean="0">
              <a:latin typeface="楷体" pitchFamily="49" charset="-122"/>
              <a:ea typeface="楷体" pitchFamily="49" charset="-122"/>
            </a:endParaRPr>
          </a:p>
          <a:p>
            <a:r>
              <a:rPr lang="en-US" altLang="zh-CN" sz="3200" b="1" dirty="0">
                <a:latin typeface="楷体" pitchFamily="49" charset="-122"/>
                <a:ea typeface="楷体" pitchFamily="49" charset="-122"/>
              </a:rPr>
              <a:t> </a:t>
            </a:r>
            <a:r>
              <a:rPr lang="en-US" altLang="zh-CN" sz="3200" b="1" dirty="0" smtClean="0">
                <a:latin typeface="楷体" pitchFamily="49" charset="-122"/>
                <a:ea typeface="楷体" pitchFamily="49" charset="-122"/>
              </a:rPr>
              <a:t>200±20mm</a:t>
            </a:r>
          </a:p>
          <a:p>
            <a:pPr>
              <a:buFont typeface="Arial" pitchFamily="34" charset="0"/>
              <a:buChar char="•"/>
            </a:pPr>
            <a:r>
              <a:rPr lang="zh-CN" altLang="en-US" sz="3200" b="1" dirty="0">
                <a:latin typeface="楷体" pitchFamily="49" charset="-122"/>
                <a:ea typeface="楷体" pitchFamily="49" charset="-122"/>
              </a:rPr>
              <a:t>配置</a:t>
            </a:r>
            <a:r>
              <a:rPr lang="zh-CN" altLang="en-US" sz="3200" b="1" dirty="0" smtClean="0">
                <a:latin typeface="楷体" pitchFamily="49" charset="-122"/>
                <a:ea typeface="楷体" pitchFamily="49" charset="-122"/>
              </a:rPr>
              <a:t>强度：</a:t>
            </a:r>
            <a:endParaRPr lang="en-US" altLang="zh-CN" sz="3200" b="1" dirty="0" smtClean="0">
              <a:latin typeface="楷体" pitchFamily="49" charset="-122"/>
              <a:ea typeface="楷体" pitchFamily="49" charset="-122"/>
            </a:endParaRPr>
          </a:p>
          <a:p>
            <a:r>
              <a:rPr lang="en-US" altLang="zh-CN" sz="3200" b="1" dirty="0">
                <a:latin typeface="楷体" pitchFamily="49" charset="-122"/>
                <a:ea typeface="楷体" pitchFamily="49" charset="-122"/>
              </a:rPr>
              <a:t> </a:t>
            </a:r>
            <a:r>
              <a:rPr lang="en-US" altLang="zh-CN" sz="3200" b="1" dirty="0" smtClean="0">
                <a:latin typeface="楷体" pitchFamily="49" charset="-122"/>
                <a:ea typeface="楷体" pitchFamily="49" charset="-122"/>
              </a:rPr>
              <a:t>70MPa</a:t>
            </a:r>
          </a:p>
          <a:p>
            <a:pPr>
              <a:buFont typeface="Arial" pitchFamily="34" charset="0"/>
              <a:buChar char="•"/>
            </a:pPr>
            <a:r>
              <a:rPr lang="zh-CN" altLang="en-US" sz="3200" b="1" dirty="0">
                <a:latin typeface="楷体" pitchFamily="49" charset="-122"/>
                <a:ea typeface="楷体" pitchFamily="49" charset="-122"/>
              </a:rPr>
              <a:t>含</a:t>
            </a:r>
            <a:r>
              <a:rPr lang="zh-CN" altLang="en-US" sz="3200" b="1" dirty="0" smtClean="0">
                <a:latin typeface="楷体" pitchFamily="49" charset="-122"/>
                <a:ea typeface="楷体" pitchFamily="49" charset="-122"/>
              </a:rPr>
              <a:t>气量：</a:t>
            </a:r>
            <a:r>
              <a:rPr lang="en-US" altLang="zh-CN" sz="3200" b="1" dirty="0" smtClean="0">
                <a:latin typeface="楷体" pitchFamily="49" charset="-122"/>
                <a:ea typeface="楷体" pitchFamily="49" charset="-122"/>
              </a:rPr>
              <a:t>4%</a:t>
            </a:r>
          </a:p>
          <a:p>
            <a:pPr>
              <a:buFont typeface="Arial" pitchFamily="34" charset="0"/>
              <a:buChar char="•"/>
            </a:pPr>
            <a:r>
              <a:rPr lang="zh-CN" altLang="en-US" sz="3200" b="1" dirty="0" smtClean="0">
                <a:latin typeface="楷体" pitchFamily="49" charset="-122"/>
                <a:ea typeface="楷体" pitchFamily="49" charset="-122"/>
              </a:rPr>
              <a:t>水灰比：</a:t>
            </a:r>
            <a:r>
              <a:rPr lang="en-US" altLang="zh-CN" sz="3200" b="1" dirty="0" smtClean="0">
                <a:latin typeface="楷体" pitchFamily="49" charset="-122"/>
                <a:ea typeface="楷体" pitchFamily="49" charset="-122"/>
              </a:rPr>
              <a:t>0.45</a:t>
            </a:r>
            <a:endParaRPr lang="zh-CN" altLang="en-US" sz="3200" b="1" dirty="0">
              <a:latin typeface="楷体" pitchFamily="49" charset="-122"/>
              <a:ea typeface="楷体" pitchFamily="49" charset="-122"/>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p:nvPr>
        </p:nvSpPr>
        <p:spPr/>
        <p:txBody>
          <a:bodyPr/>
          <a:lstStyle/>
          <a:p>
            <a:pPr eaLnBrk="1" hangingPunct="1"/>
            <a:r>
              <a:rPr lang="zh-CN" altLang="en-US" b="1" dirty="0" smtClean="0">
                <a:solidFill>
                  <a:schemeClr val="bg1"/>
                </a:solidFill>
                <a:latin typeface="微软雅黑" pitchFamily="34" charset="-122"/>
                <a:ea typeface="微软雅黑" pitchFamily="34" charset="-122"/>
              </a:rPr>
              <a:t>混凝土组分的配制</a:t>
            </a:r>
          </a:p>
        </p:txBody>
      </p:sp>
      <p:sp>
        <p:nvSpPr>
          <p:cNvPr id="9" name="TextBox 8"/>
          <p:cNvSpPr txBox="1"/>
          <p:nvPr/>
        </p:nvSpPr>
        <p:spPr>
          <a:xfrm>
            <a:off x="1571604" y="1928802"/>
            <a:ext cx="6858048" cy="4401205"/>
          </a:xfrm>
          <a:prstGeom prst="rect">
            <a:avLst/>
          </a:prstGeom>
          <a:noFill/>
        </p:spPr>
        <p:txBody>
          <a:bodyPr wrap="square" rtlCol="0">
            <a:spAutoFit/>
          </a:bodyPr>
          <a:lstStyle/>
          <a:p>
            <a:r>
              <a:rPr lang="zh-CN" altLang="en-US" sz="3200" b="1" dirty="0" smtClean="0">
                <a:latin typeface="楷体" pitchFamily="49" charset="-122"/>
                <a:ea typeface="楷体" pitchFamily="49" charset="-122"/>
              </a:rPr>
              <a:t>∵中砂含石</a:t>
            </a:r>
            <a:r>
              <a:rPr lang="en-US" altLang="zh-CN" sz="3200" b="1" dirty="0" smtClean="0">
                <a:latin typeface="楷体" pitchFamily="49" charset="-122"/>
                <a:ea typeface="楷体" pitchFamily="49" charset="-122"/>
              </a:rPr>
              <a:t>7%</a:t>
            </a:r>
            <a:r>
              <a:rPr lang="zh-CN" altLang="en-US" sz="3200" b="1" dirty="0" smtClean="0">
                <a:latin typeface="楷体" pitchFamily="49" charset="-122"/>
                <a:ea typeface="楷体" pitchFamily="49" charset="-122"/>
              </a:rPr>
              <a:t>，含水</a:t>
            </a:r>
            <a:r>
              <a:rPr lang="en-US" altLang="zh-CN" sz="3200" b="1" dirty="0" smtClean="0">
                <a:latin typeface="楷体" pitchFamily="49" charset="-122"/>
                <a:ea typeface="楷体" pitchFamily="49" charset="-122"/>
              </a:rPr>
              <a:t>1%</a:t>
            </a:r>
            <a:endParaRPr lang="zh-CN" altLang="en-US" sz="3200" b="1" dirty="0" smtClean="0">
              <a:latin typeface="楷体" pitchFamily="49" charset="-122"/>
              <a:ea typeface="楷体" pitchFamily="49" charset="-122"/>
            </a:endParaRPr>
          </a:p>
          <a:p>
            <a:endParaRPr lang="en-US" altLang="zh-CN" sz="1200" b="1" dirty="0" smtClean="0">
              <a:latin typeface="楷体" pitchFamily="49" charset="-122"/>
              <a:ea typeface="楷体" pitchFamily="49" charset="-122"/>
            </a:endParaRPr>
          </a:p>
          <a:p>
            <a:r>
              <a:rPr lang="zh-CN" altLang="en-US" sz="3200" b="1" dirty="0" smtClean="0">
                <a:latin typeface="楷体" pitchFamily="49" charset="-122"/>
                <a:ea typeface="楷体" pitchFamily="49" charset="-122"/>
              </a:rPr>
              <a:t>∴砂称取质量修正：</a:t>
            </a:r>
            <a:endParaRPr lang="en-US" altLang="zh-CN" sz="3200" b="1" dirty="0">
              <a:latin typeface="楷体" pitchFamily="49" charset="-122"/>
              <a:ea typeface="楷体" pitchFamily="49" charset="-122"/>
            </a:endParaRPr>
          </a:p>
          <a:p>
            <a:r>
              <a:rPr lang="en-US" altLang="zh-CN" sz="3200" b="1" dirty="0" smtClean="0">
                <a:latin typeface="楷体" pitchFamily="49" charset="-122"/>
                <a:ea typeface="楷体" pitchFamily="49" charset="-122"/>
              </a:rPr>
              <a:t>16.7675÷(100-7-1)%=18.2255kg</a:t>
            </a:r>
          </a:p>
          <a:p>
            <a:r>
              <a:rPr lang="zh-CN" altLang="en-US" sz="3200" b="1" dirty="0" smtClean="0">
                <a:latin typeface="楷体" pitchFamily="49" charset="-122"/>
                <a:ea typeface="楷体" pitchFamily="49" charset="-122"/>
              </a:rPr>
              <a:t>石称取质量修正：</a:t>
            </a:r>
            <a:endParaRPr lang="en-US" altLang="zh-CN" sz="3200" b="1" dirty="0" smtClean="0">
              <a:latin typeface="楷体" pitchFamily="49" charset="-122"/>
              <a:ea typeface="楷体" pitchFamily="49" charset="-122"/>
            </a:endParaRPr>
          </a:p>
          <a:p>
            <a:r>
              <a:rPr lang="en-US" altLang="zh-CN" sz="3200" b="1" dirty="0" smtClean="0">
                <a:latin typeface="楷体" pitchFamily="49" charset="-122"/>
                <a:ea typeface="楷体" pitchFamily="49" charset="-122"/>
              </a:rPr>
              <a:t>25.15125-18.2255×7%=23.87546kg</a:t>
            </a:r>
          </a:p>
          <a:p>
            <a:r>
              <a:rPr lang="zh-CN" altLang="en-US" sz="3200" b="1" dirty="0" smtClean="0">
                <a:latin typeface="楷体" pitchFamily="49" charset="-122"/>
                <a:ea typeface="楷体" pitchFamily="49" charset="-122"/>
              </a:rPr>
              <a:t>水称取质量修正：</a:t>
            </a:r>
            <a:endParaRPr lang="en-US" altLang="zh-CN" sz="3200" b="1" dirty="0" smtClean="0">
              <a:latin typeface="楷体" pitchFamily="49" charset="-122"/>
              <a:ea typeface="楷体" pitchFamily="49" charset="-122"/>
            </a:endParaRPr>
          </a:p>
          <a:p>
            <a:r>
              <a:rPr lang="en-US" altLang="zh-CN" sz="3200" b="1" dirty="0" smtClean="0">
                <a:latin typeface="楷体" pitchFamily="49" charset="-122"/>
                <a:ea typeface="楷体" pitchFamily="49" charset="-122"/>
              </a:rPr>
              <a:t>4.33125-18.2255×1%=4.14899kg</a:t>
            </a:r>
          </a:p>
          <a:p>
            <a:endParaRPr lang="en-US" altLang="zh-CN" sz="1200" b="1" dirty="0" smtClean="0">
              <a:latin typeface="楷体" pitchFamily="49" charset="-122"/>
              <a:ea typeface="楷体" pitchFamily="49" charset="-122"/>
            </a:endParaRPr>
          </a:p>
          <a:p>
            <a:r>
              <a:rPr lang="zh-CN" altLang="en-US" sz="3200" b="1" dirty="0" smtClean="0">
                <a:latin typeface="楷体" pitchFamily="49" charset="-122"/>
                <a:ea typeface="楷体" pitchFamily="49" charset="-122"/>
              </a:rPr>
              <a:t>实验用电子秤精度为</a:t>
            </a:r>
            <a:r>
              <a:rPr lang="en-US" altLang="zh-CN" sz="3200" b="1" dirty="0" smtClean="0">
                <a:latin typeface="楷体" pitchFamily="49" charset="-122"/>
                <a:ea typeface="楷体" pitchFamily="49" charset="-122"/>
              </a:rPr>
              <a:t>0.05kg</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p:nvPr>
        </p:nvSpPr>
        <p:spPr/>
        <p:txBody>
          <a:bodyPr/>
          <a:lstStyle/>
          <a:p>
            <a:pPr eaLnBrk="1" hangingPunct="1"/>
            <a:r>
              <a:rPr lang="zh-CN" altLang="en-US" b="1" dirty="0" smtClean="0">
                <a:solidFill>
                  <a:schemeClr val="bg1"/>
                </a:solidFill>
                <a:latin typeface="微软雅黑" pitchFamily="34" charset="-122"/>
                <a:ea typeface="微软雅黑" pitchFamily="34" charset="-122"/>
              </a:rPr>
              <a:t>混凝土组分的配制</a:t>
            </a:r>
          </a:p>
        </p:txBody>
      </p:sp>
      <p:graphicFrame>
        <p:nvGraphicFramePr>
          <p:cNvPr id="4" name="图示 3"/>
          <p:cNvGraphicFramePr/>
          <p:nvPr/>
        </p:nvGraphicFramePr>
        <p:xfrm>
          <a:off x="2357422" y="1643050"/>
          <a:ext cx="5673242" cy="48965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
          <p:cNvSpPr>
            <a:spLocks noGrp="1"/>
          </p:cNvSpPr>
          <p:nvPr>
            <p:ph type="title"/>
          </p:nvPr>
        </p:nvSpPr>
        <p:spPr/>
        <p:txBody>
          <a:bodyPr/>
          <a:lstStyle/>
          <a:p>
            <a:pPr eaLnBrk="1" hangingPunct="1"/>
            <a:r>
              <a:rPr lang="zh-CN" altLang="en-US" b="1" dirty="0" smtClean="0">
                <a:solidFill>
                  <a:schemeClr val="bg1"/>
                </a:solidFill>
                <a:latin typeface="微软雅黑" pitchFamily="34" charset="-122"/>
                <a:ea typeface="微软雅黑" pitchFamily="34" charset="-122"/>
              </a:rPr>
              <a:t>坍落度与扩展度</a:t>
            </a:r>
          </a:p>
        </p:txBody>
      </p:sp>
      <p:pic>
        <p:nvPicPr>
          <p:cNvPr id="10248" name="Picture 8" descr="C:\Users\hp\Desktop\IMG_0320.JPG"/>
          <p:cNvPicPr>
            <a:picLocks noChangeAspect="1" noChangeArrowheads="1"/>
          </p:cNvPicPr>
          <p:nvPr/>
        </p:nvPicPr>
        <p:blipFill>
          <a:blip r:embed="rId3" cstate="print"/>
          <a:srcRect/>
          <a:stretch>
            <a:fillRect/>
          </a:stretch>
        </p:blipFill>
        <p:spPr bwMode="auto">
          <a:xfrm>
            <a:off x="1157620" y="2257892"/>
            <a:ext cx="4800000" cy="3600000"/>
          </a:xfrm>
          <a:prstGeom prst="rect">
            <a:avLst/>
          </a:prstGeom>
          <a:noFill/>
        </p:spPr>
      </p:pic>
      <p:pic>
        <p:nvPicPr>
          <p:cNvPr id="10249" name="Picture 9" descr="C:\Users\hp\Desktop\IMG_0322.JPG"/>
          <p:cNvPicPr>
            <a:picLocks noChangeAspect="1" noChangeArrowheads="1"/>
          </p:cNvPicPr>
          <p:nvPr/>
        </p:nvPicPr>
        <p:blipFill>
          <a:blip r:embed="rId4" cstate="print"/>
          <a:srcRect/>
          <a:stretch>
            <a:fillRect/>
          </a:stretch>
        </p:blipFill>
        <p:spPr bwMode="auto">
          <a:xfrm>
            <a:off x="6158280" y="2229792"/>
            <a:ext cx="2700000" cy="3600000"/>
          </a:xfrm>
          <a:prstGeom prst="rect">
            <a:avLst/>
          </a:prstGeom>
          <a:noFill/>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内容占位符 2"/>
          <p:cNvSpPr>
            <a:spLocks noGrp="1"/>
          </p:cNvSpPr>
          <p:nvPr>
            <p:ph idx="1"/>
          </p:nvPr>
        </p:nvSpPr>
        <p:spPr>
          <a:xfrm>
            <a:off x="1295400" y="2285992"/>
            <a:ext cx="7420004" cy="3752864"/>
          </a:xfrm>
        </p:spPr>
        <p:txBody>
          <a:bodyPr/>
          <a:lstStyle/>
          <a:p>
            <a:pPr marL="0" indent="0" eaLnBrk="1" hangingPunct="1">
              <a:buFontTx/>
              <a:buNone/>
            </a:pPr>
            <a:r>
              <a:rPr lang="zh-CN" altLang="en-US" sz="3200" b="1" kern="1200" dirty="0" smtClean="0">
                <a:solidFill>
                  <a:schemeClr val="tx1"/>
                </a:solidFill>
                <a:latin typeface="楷体" pitchFamily="49" charset="-122"/>
                <a:ea typeface="楷体" pitchFamily="49" charset="-122"/>
              </a:rPr>
              <a:t>设计坍落度：</a:t>
            </a:r>
            <a:r>
              <a:rPr lang="en-US" altLang="zh-CN" sz="3200" b="1" kern="1200" dirty="0" smtClean="0">
                <a:solidFill>
                  <a:schemeClr val="tx1"/>
                </a:solidFill>
                <a:latin typeface="楷体" pitchFamily="49" charset="-122"/>
                <a:ea typeface="楷体" pitchFamily="49" charset="-122"/>
              </a:rPr>
              <a:t>200±20mm</a:t>
            </a:r>
          </a:p>
          <a:p>
            <a:pPr marL="0" indent="0" eaLnBrk="1" hangingPunct="1">
              <a:buFontTx/>
              <a:buNone/>
            </a:pPr>
            <a:r>
              <a:rPr lang="zh-CN" altLang="en-US" sz="3200" b="1" kern="1200" dirty="0" smtClean="0">
                <a:solidFill>
                  <a:schemeClr val="tx1"/>
                </a:solidFill>
                <a:latin typeface="楷体" pitchFamily="49" charset="-122"/>
                <a:ea typeface="楷体" pitchFamily="49" charset="-122"/>
              </a:rPr>
              <a:t>实测坍落度：</a:t>
            </a:r>
            <a:r>
              <a:rPr lang="en-US" altLang="zh-CN" sz="3200" b="1" kern="1200" dirty="0" smtClean="0">
                <a:solidFill>
                  <a:schemeClr val="tx1"/>
                </a:solidFill>
                <a:latin typeface="楷体" pitchFamily="49" charset="-122"/>
                <a:ea typeface="楷体" pitchFamily="49" charset="-122"/>
              </a:rPr>
              <a:t>218mm</a:t>
            </a:r>
          </a:p>
          <a:p>
            <a:pPr marL="0" indent="0" eaLnBrk="1" hangingPunct="1">
              <a:buFontTx/>
              <a:buNone/>
            </a:pPr>
            <a:r>
              <a:rPr lang="zh-CN" altLang="en-US" sz="3200" b="1" kern="1200" dirty="0" smtClean="0">
                <a:solidFill>
                  <a:schemeClr val="tx1"/>
                </a:solidFill>
                <a:latin typeface="楷体" pitchFamily="49" charset="-122"/>
                <a:ea typeface="楷体" pitchFamily="49" charset="-122"/>
              </a:rPr>
              <a:t>符合设计要求，新拌混凝土流动性良好</a:t>
            </a:r>
            <a:endParaRPr lang="en-US" altLang="zh-CN" sz="3200" b="1" kern="1200" dirty="0" smtClean="0">
              <a:solidFill>
                <a:schemeClr val="tx1"/>
              </a:solidFill>
              <a:latin typeface="楷体" pitchFamily="49" charset="-122"/>
              <a:ea typeface="楷体" pitchFamily="49" charset="-122"/>
            </a:endParaRPr>
          </a:p>
          <a:p>
            <a:pPr marL="0" indent="0" eaLnBrk="1" hangingPunct="1">
              <a:buFontTx/>
              <a:buNone/>
            </a:pPr>
            <a:endParaRPr lang="en-US" altLang="zh-CN" sz="3200" b="1" kern="1200" dirty="0" smtClean="0">
              <a:solidFill>
                <a:schemeClr val="tx1"/>
              </a:solidFill>
              <a:latin typeface="楷体" pitchFamily="49" charset="-122"/>
              <a:ea typeface="楷体" pitchFamily="49" charset="-122"/>
            </a:endParaRPr>
          </a:p>
          <a:p>
            <a:pPr marL="0" indent="0" eaLnBrk="1" hangingPunct="1">
              <a:buFontTx/>
              <a:buNone/>
            </a:pPr>
            <a:r>
              <a:rPr lang="zh-CN" altLang="en-US" sz="3200" b="1" kern="1200" dirty="0" smtClean="0">
                <a:solidFill>
                  <a:schemeClr val="tx1"/>
                </a:solidFill>
                <a:latin typeface="楷体" pitchFamily="49" charset="-122"/>
                <a:ea typeface="楷体" pitchFamily="49" charset="-122"/>
              </a:rPr>
              <a:t>塌落扩展度：</a:t>
            </a:r>
            <a:r>
              <a:rPr lang="en-US" altLang="zh-CN" sz="3200" b="1" kern="1200" dirty="0" smtClean="0">
                <a:solidFill>
                  <a:schemeClr val="tx1"/>
                </a:solidFill>
                <a:latin typeface="楷体" pitchFamily="49" charset="-122"/>
                <a:ea typeface="楷体" pitchFamily="49" charset="-122"/>
              </a:rPr>
              <a:t>645mm</a:t>
            </a:r>
            <a:r>
              <a:rPr lang="zh-CN" altLang="en-US" sz="3200" b="1" kern="1200" dirty="0" smtClean="0">
                <a:solidFill>
                  <a:schemeClr val="tx1"/>
                </a:solidFill>
                <a:latin typeface="楷体" pitchFamily="49" charset="-122"/>
                <a:ea typeface="楷体" pitchFamily="49" charset="-122"/>
              </a:rPr>
              <a:t>＞</a:t>
            </a:r>
            <a:r>
              <a:rPr lang="en-US" altLang="zh-CN" sz="3200" b="1" kern="1200" dirty="0" smtClean="0">
                <a:solidFill>
                  <a:schemeClr val="tx1"/>
                </a:solidFill>
                <a:latin typeface="楷体" pitchFamily="49" charset="-122"/>
                <a:ea typeface="楷体" pitchFamily="49" charset="-122"/>
              </a:rPr>
              <a:t>500mm</a:t>
            </a:r>
          </a:p>
          <a:p>
            <a:pPr marL="0" indent="0" eaLnBrk="1" hangingPunct="1">
              <a:buFontTx/>
              <a:buNone/>
            </a:pPr>
            <a:r>
              <a:rPr lang="zh-CN" altLang="en-US" sz="3200" b="1" kern="1200" dirty="0" smtClean="0">
                <a:solidFill>
                  <a:schemeClr val="tx1"/>
                </a:solidFill>
                <a:latin typeface="楷体" pitchFamily="49" charset="-122"/>
                <a:ea typeface="楷体" pitchFamily="49" charset="-122"/>
              </a:rPr>
              <a:t>扩展度满足要求，混凝土填充性良好</a:t>
            </a:r>
            <a:endParaRPr lang="en-US" altLang="zh-CN" sz="3200" b="1" kern="1200" dirty="0" smtClean="0">
              <a:solidFill>
                <a:schemeClr val="tx1"/>
              </a:solidFill>
              <a:latin typeface="楷体" pitchFamily="49" charset="-122"/>
              <a:ea typeface="楷体" pitchFamily="49" charset="-122"/>
            </a:endParaRPr>
          </a:p>
          <a:p>
            <a:pPr marL="0" indent="0" eaLnBrk="1" hangingPunct="1">
              <a:buFontTx/>
              <a:buNone/>
            </a:pPr>
            <a:endParaRPr lang="en-US" altLang="zh-CN" sz="3200" b="1" kern="1200" dirty="0" smtClean="0">
              <a:solidFill>
                <a:schemeClr val="tx1"/>
              </a:solidFill>
              <a:latin typeface="楷体" pitchFamily="49" charset="-122"/>
              <a:ea typeface="楷体" pitchFamily="49" charset="-122"/>
            </a:endParaRPr>
          </a:p>
        </p:txBody>
      </p:sp>
      <p:sp>
        <p:nvSpPr>
          <p:cNvPr id="4" name="内容占位符 2"/>
          <p:cNvSpPr txBox="1">
            <a:spLocks/>
          </p:cNvSpPr>
          <p:nvPr/>
        </p:nvSpPr>
        <p:spPr bwMode="auto">
          <a:xfrm>
            <a:off x="1295400" y="3106738"/>
            <a:ext cx="5292725" cy="10318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marL="342900" indent="-342900" algn="l" rtl="0" fontAlgn="base">
              <a:spcBef>
                <a:spcPct val="20000"/>
              </a:spcBef>
              <a:spcAft>
                <a:spcPct val="0"/>
              </a:spcAft>
              <a:buChar char="•"/>
              <a:defRPr>
                <a:solidFill>
                  <a:srgbClr val="42372C"/>
                </a:solidFill>
                <a:latin typeface="+mn-lt"/>
                <a:ea typeface="+mn-ea"/>
                <a:cs typeface="+mn-cs"/>
              </a:defRPr>
            </a:lvl1pPr>
            <a:lvl2pPr marL="742950" indent="-285750" algn="l" rtl="0" fontAlgn="base">
              <a:spcBef>
                <a:spcPct val="20000"/>
              </a:spcBef>
              <a:spcAft>
                <a:spcPct val="0"/>
              </a:spcAft>
              <a:buChar char="–"/>
              <a:defRPr sz="1600">
                <a:solidFill>
                  <a:srgbClr val="42372C"/>
                </a:solidFill>
                <a:latin typeface="+mn-lt"/>
              </a:defRPr>
            </a:lvl2pPr>
            <a:lvl3pPr marL="1143000" indent="-228600" algn="l" rtl="0" fontAlgn="base">
              <a:spcBef>
                <a:spcPct val="20000"/>
              </a:spcBef>
              <a:spcAft>
                <a:spcPct val="0"/>
              </a:spcAft>
              <a:buChar char="•"/>
              <a:defRPr sz="1400">
                <a:solidFill>
                  <a:srgbClr val="42372C"/>
                </a:solidFill>
                <a:latin typeface="+mn-lt"/>
              </a:defRPr>
            </a:lvl3pPr>
            <a:lvl4pPr marL="1600200" indent="-228600" algn="l" rtl="0" fontAlgn="base">
              <a:spcBef>
                <a:spcPct val="20000"/>
              </a:spcBef>
              <a:spcAft>
                <a:spcPct val="0"/>
              </a:spcAft>
              <a:buChar char="–"/>
              <a:defRPr sz="1200">
                <a:solidFill>
                  <a:srgbClr val="42372C"/>
                </a:solidFill>
                <a:latin typeface="+mn-lt"/>
              </a:defRPr>
            </a:lvl4pPr>
            <a:lvl5pPr marL="2057400" indent="-228600" algn="l" rtl="0" fontAlgn="base">
              <a:spcBef>
                <a:spcPct val="20000"/>
              </a:spcBef>
              <a:spcAft>
                <a:spcPct val="0"/>
              </a:spcAft>
              <a:buChar char="»"/>
              <a:defRPr sz="1200">
                <a:solidFill>
                  <a:srgbClr val="42372C"/>
                </a:solidFill>
                <a:latin typeface="+mn-lt"/>
              </a:defRPr>
            </a:lvl5pPr>
            <a:lvl6pPr marL="2514600" indent="-228600" algn="l" rtl="0" eaLnBrk="1" fontAlgn="base" hangingPunct="1">
              <a:spcBef>
                <a:spcPct val="20000"/>
              </a:spcBef>
              <a:spcAft>
                <a:spcPct val="0"/>
              </a:spcAft>
              <a:buChar char="»"/>
              <a:defRPr sz="1200">
                <a:solidFill>
                  <a:srgbClr val="42372C"/>
                </a:solidFill>
                <a:latin typeface="+mn-lt"/>
              </a:defRPr>
            </a:lvl6pPr>
            <a:lvl7pPr marL="2971800" indent="-228600" algn="l" rtl="0" eaLnBrk="1" fontAlgn="base" hangingPunct="1">
              <a:spcBef>
                <a:spcPct val="20000"/>
              </a:spcBef>
              <a:spcAft>
                <a:spcPct val="0"/>
              </a:spcAft>
              <a:buChar char="»"/>
              <a:defRPr sz="1200">
                <a:solidFill>
                  <a:srgbClr val="42372C"/>
                </a:solidFill>
                <a:latin typeface="+mn-lt"/>
              </a:defRPr>
            </a:lvl7pPr>
            <a:lvl8pPr marL="3429000" indent="-228600" algn="l" rtl="0" eaLnBrk="1" fontAlgn="base" hangingPunct="1">
              <a:spcBef>
                <a:spcPct val="20000"/>
              </a:spcBef>
              <a:spcAft>
                <a:spcPct val="0"/>
              </a:spcAft>
              <a:buChar char="»"/>
              <a:defRPr sz="1200">
                <a:solidFill>
                  <a:srgbClr val="42372C"/>
                </a:solidFill>
                <a:latin typeface="+mn-lt"/>
              </a:defRPr>
            </a:lvl8pPr>
            <a:lvl9pPr marL="3886200" indent="-228600" algn="l" rtl="0" eaLnBrk="1" fontAlgn="base" hangingPunct="1">
              <a:spcBef>
                <a:spcPct val="20000"/>
              </a:spcBef>
              <a:spcAft>
                <a:spcPct val="0"/>
              </a:spcAft>
              <a:buChar char="»"/>
              <a:defRPr sz="1200">
                <a:solidFill>
                  <a:srgbClr val="42372C"/>
                </a:solidFill>
                <a:latin typeface="+mn-lt"/>
              </a:defRPr>
            </a:lvl9pPr>
          </a:lstStyle>
          <a:p>
            <a:pPr marL="0" indent="0" eaLnBrk="1" hangingPunct="1">
              <a:buFontTx/>
              <a:buNone/>
              <a:defRPr/>
            </a:pPr>
            <a:endParaRPr lang="en-US" altLang="zh-CN" sz="2800" kern="0" dirty="0" smtClean="0">
              <a:latin typeface="宋体" panose="02010600030101010101" pitchFamily="2" charset="-122"/>
              <a:ea typeface="宋体" panose="02010600030101010101" pitchFamily="2" charset="-122"/>
            </a:endParaRPr>
          </a:p>
        </p:txBody>
      </p:sp>
      <p:sp>
        <p:nvSpPr>
          <p:cNvPr id="10" name="标题 1"/>
          <p:cNvSpPr>
            <a:spLocks noGrp="1"/>
          </p:cNvSpPr>
          <p:nvPr>
            <p:ph type="title"/>
          </p:nvPr>
        </p:nvSpPr>
        <p:spPr>
          <a:xfrm>
            <a:off x="1295400" y="685800"/>
            <a:ext cx="7391400" cy="609600"/>
          </a:xfrm>
        </p:spPr>
        <p:txBody>
          <a:bodyPr/>
          <a:lstStyle/>
          <a:p>
            <a:pPr eaLnBrk="1" hangingPunct="1"/>
            <a:r>
              <a:rPr lang="zh-CN" altLang="en-US" b="1" dirty="0" smtClean="0">
                <a:solidFill>
                  <a:schemeClr val="bg1"/>
                </a:solidFill>
                <a:latin typeface="微软雅黑" pitchFamily="34" charset="-122"/>
                <a:ea typeface="微软雅黑" pitchFamily="34" charset="-122"/>
              </a:rPr>
              <a:t>坍落度与扩展度</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内容占位符 2"/>
          <p:cNvSpPr>
            <a:spLocks noGrp="1"/>
          </p:cNvSpPr>
          <p:nvPr>
            <p:ph idx="1"/>
          </p:nvPr>
        </p:nvSpPr>
        <p:spPr>
          <a:xfrm>
            <a:off x="5857884" y="2500306"/>
            <a:ext cx="2786082" cy="3143272"/>
          </a:xfrm>
        </p:spPr>
        <p:txBody>
          <a:bodyPr/>
          <a:lstStyle/>
          <a:p>
            <a:pPr marL="0" indent="0" eaLnBrk="1" hangingPunct="1">
              <a:buFontTx/>
              <a:buNone/>
            </a:pPr>
            <a:r>
              <a:rPr lang="zh-CN" altLang="en-US" sz="3200" b="1" kern="1200" dirty="0" smtClean="0">
                <a:solidFill>
                  <a:schemeClr val="tx1"/>
                </a:solidFill>
                <a:latin typeface="楷体" pitchFamily="49" charset="-122"/>
                <a:ea typeface="楷体" pitchFamily="49" charset="-122"/>
              </a:rPr>
              <a:t>部分粗骨料在中央堆积，混凝土发生一定程度离析，证明其抗离析性存在不足。</a:t>
            </a:r>
            <a:endParaRPr lang="en-US" altLang="zh-CN" sz="3200" b="1" kern="1200" dirty="0" smtClean="0">
              <a:solidFill>
                <a:schemeClr val="tx1"/>
              </a:solidFill>
              <a:latin typeface="楷体" pitchFamily="49" charset="-122"/>
              <a:ea typeface="楷体" pitchFamily="49" charset="-122"/>
            </a:endParaRPr>
          </a:p>
        </p:txBody>
      </p:sp>
      <p:sp>
        <p:nvSpPr>
          <p:cNvPr id="10" name="标题 1"/>
          <p:cNvSpPr>
            <a:spLocks noGrp="1"/>
          </p:cNvSpPr>
          <p:nvPr>
            <p:ph type="title"/>
          </p:nvPr>
        </p:nvSpPr>
        <p:spPr>
          <a:xfrm>
            <a:off x="1295400" y="685800"/>
            <a:ext cx="7391400" cy="609600"/>
          </a:xfrm>
        </p:spPr>
        <p:txBody>
          <a:bodyPr/>
          <a:lstStyle/>
          <a:p>
            <a:pPr eaLnBrk="1" hangingPunct="1"/>
            <a:r>
              <a:rPr lang="zh-CN" altLang="en-US" b="1" dirty="0" smtClean="0">
                <a:solidFill>
                  <a:schemeClr val="bg1"/>
                </a:solidFill>
                <a:latin typeface="微软雅黑" pitchFamily="34" charset="-122"/>
                <a:ea typeface="微软雅黑" pitchFamily="34" charset="-122"/>
              </a:rPr>
              <a:t>新拌混凝土的稳定性</a:t>
            </a:r>
          </a:p>
        </p:txBody>
      </p:sp>
      <p:pic>
        <p:nvPicPr>
          <p:cNvPr id="6" name="Picture 2" descr="C:\Users\hp\Desktop\IMG_0321.JPG"/>
          <p:cNvPicPr>
            <a:picLocks noChangeAspect="1" noChangeArrowheads="1"/>
          </p:cNvPicPr>
          <p:nvPr/>
        </p:nvPicPr>
        <p:blipFill>
          <a:blip r:embed="rId3" cstate="print"/>
          <a:srcRect l="18166" t="55859" r="18333" b="980"/>
          <a:stretch>
            <a:fillRect/>
          </a:stretch>
        </p:blipFill>
        <p:spPr bwMode="auto">
          <a:xfrm>
            <a:off x="1357290" y="2285992"/>
            <a:ext cx="3972414" cy="3600000"/>
          </a:xfrm>
          <a:prstGeom prst="rect">
            <a:avLst/>
          </a:prstGeom>
          <a:noFill/>
        </p:spPr>
      </p:pic>
      <p:sp>
        <p:nvSpPr>
          <p:cNvPr id="7" name="椭圆 6"/>
          <p:cNvSpPr/>
          <p:nvPr/>
        </p:nvSpPr>
        <p:spPr>
          <a:xfrm>
            <a:off x="2643174" y="3429000"/>
            <a:ext cx="1357322" cy="1357322"/>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内容占位符 2"/>
          <p:cNvSpPr>
            <a:spLocks noGrp="1"/>
          </p:cNvSpPr>
          <p:nvPr>
            <p:ph idx="1"/>
          </p:nvPr>
        </p:nvSpPr>
        <p:spPr>
          <a:xfrm>
            <a:off x="1285852" y="1928802"/>
            <a:ext cx="2928958" cy="714380"/>
          </a:xfrm>
        </p:spPr>
        <p:txBody>
          <a:bodyPr/>
          <a:lstStyle/>
          <a:p>
            <a:pPr marL="0" indent="0" eaLnBrk="1" hangingPunct="1">
              <a:buFontTx/>
              <a:buNone/>
            </a:pPr>
            <a:r>
              <a:rPr lang="en-US" altLang="zh-CN" sz="3200" b="1" kern="1200" dirty="0" smtClean="0">
                <a:solidFill>
                  <a:schemeClr val="tx1"/>
                </a:solidFill>
                <a:latin typeface="楷体" pitchFamily="49" charset="-122"/>
                <a:ea typeface="楷体" pitchFamily="49" charset="-122"/>
              </a:rPr>
              <a:t>7</a:t>
            </a:r>
            <a:r>
              <a:rPr lang="zh-CN" altLang="en-US" sz="3200" b="1" kern="1200" dirty="0" smtClean="0">
                <a:solidFill>
                  <a:schemeClr val="tx1"/>
                </a:solidFill>
                <a:latin typeface="楷体" pitchFamily="49" charset="-122"/>
                <a:ea typeface="楷体" pitchFamily="49" charset="-122"/>
              </a:rPr>
              <a:t>天抗压强度：</a:t>
            </a:r>
            <a:endParaRPr lang="en-US" altLang="zh-CN" sz="3200" b="1" kern="1200" dirty="0" smtClean="0">
              <a:solidFill>
                <a:schemeClr val="tx1"/>
              </a:solidFill>
              <a:latin typeface="楷体" pitchFamily="49" charset="-122"/>
              <a:ea typeface="楷体" pitchFamily="49" charset="-122"/>
            </a:endParaRPr>
          </a:p>
          <a:p>
            <a:pPr marL="0" indent="0" eaLnBrk="1" hangingPunct="1">
              <a:buFontTx/>
              <a:buNone/>
            </a:pPr>
            <a:endParaRPr lang="en-US" altLang="zh-CN" sz="3200" b="1" kern="1200" dirty="0" smtClean="0">
              <a:solidFill>
                <a:schemeClr val="tx1"/>
              </a:solidFill>
              <a:latin typeface="楷体" pitchFamily="49" charset="-122"/>
              <a:ea typeface="楷体" pitchFamily="49" charset="-122"/>
            </a:endParaRPr>
          </a:p>
        </p:txBody>
      </p:sp>
      <p:sp>
        <p:nvSpPr>
          <p:cNvPr id="10" name="标题 1"/>
          <p:cNvSpPr>
            <a:spLocks noGrp="1"/>
          </p:cNvSpPr>
          <p:nvPr>
            <p:ph type="title"/>
          </p:nvPr>
        </p:nvSpPr>
        <p:spPr>
          <a:xfrm>
            <a:off x="1295400" y="685800"/>
            <a:ext cx="7391400" cy="609600"/>
          </a:xfrm>
        </p:spPr>
        <p:txBody>
          <a:bodyPr/>
          <a:lstStyle/>
          <a:p>
            <a:pPr eaLnBrk="1" hangingPunct="1"/>
            <a:r>
              <a:rPr lang="zh-CN" altLang="en-US" b="1" dirty="0" smtClean="0">
                <a:solidFill>
                  <a:schemeClr val="bg1"/>
                </a:solidFill>
                <a:latin typeface="微软雅黑" pitchFamily="34" charset="-122"/>
                <a:ea typeface="微软雅黑" pitchFamily="34" charset="-122"/>
              </a:rPr>
              <a:t>抗压强度</a:t>
            </a:r>
          </a:p>
        </p:txBody>
      </p:sp>
      <p:graphicFrame>
        <p:nvGraphicFramePr>
          <p:cNvPr id="8" name="表格 7"/>
          <p:cNvGraphicFramePr>
            <a:graphicFrameLocks noGrp="1"/>
          </p:cNvGraphicFramePr>
          <p:nvPr/>
        </p:nvGraphicFramePr>
        <p:xfrm>
          <a:off x="1357290" y="2820370"/>
          <a:ext cx="7286676" cy="3108960"/>
        </p:xfrm>
        <a:graphic>
          <a:graphicData uri="http://schemas.openxmlformats.org/drawingml/2006/table">
            <a:tbl>
              <a:tblPr firstRow="1" bandRow="1">
                <a:tableStyleId>{5C22544A-7EE6-4342-B048-85BDC9FD1C3A}</a:tableStyleId>
              </a:tblPr>
              <a:tblGrid>
                <a:gridCol w="1821669"/>
                <a:gridCol w="1821669"/>
                <a:gridCol w="1821669"/>
                <a:gridCol w="1821669"/>
              </a:tblGrid>
              <a:tr h="640080">
                <a:tc>
                  <a:txBody>
                    <a:bodyPr/>
                    <a:lstStyle/>
                    <a:p>
                      <a:pPr algn="ctr"/>
                      <a:r>
                        <a:rPr lang="zh-CN" altLang="en-US" sz="2400" b="1" dirty="0" smtClean="0"/>
                        <a:t>序号</a:t>
                      </a:r>
                      <a:endParaRPr lang="zh-CN" altLang="en-US" sz="2400" b="1" dirty="0"/>
                    </a:p>
                  </a:txBody>
                  <a:tcPr anchor="ctr"/>
                </a:tc>
                <a:tc>
                  <a:txBody>
                    <a:bodyPr/>
                    <a:lstStyle/>
                    <a:p>
                      <a:pPr algn="ctr"/>
                      <a:r>
                        <a:rPr lang="en-US" altLang="zh-CN" sz="2400" b="1" dirty="0" smtClean="0"/>
                        <a:t>1</a:t>
                      </a:r>
                      <a:endParaRPr lang="zh-CN" altLang="en-US" sz="2400" b="1" dirty="0"/>
                    </a:p>
                  </a:txBody>
                  <a:tcPr anchor="ctr"/>
                </a:tc>
                <a:tc>
                  <a:txBody>
                    <a:bodyPr/>
                    <a:lstStyle/>
                    <a:p>
                      <a:pPr algn="ctr"/>
                      <a:r>
                        <a:rPr lang="en-US" altLang="zh-CN" sz="2400" b="1" dirty="0" smtClean="0"/>
                        <a:t>2</a:t>
                      </a:r>
                      <a:endParaRPr lang="zh-CN" altLang="en-US" sz="2400" b="1" dirty="0"/>
                    </a:p>
                  </a:txBody>
                  <a:tcPr anchor="ctr"/>
                </a:tc>
                <a:tc>
                  <a:txBody>
                    <a:bodyPr/>
                    <a:lstStyle/>
                    <a:p>
                      <a:pPr algn="ctr"/>
                      <a:r>
                        <a:rPr lang="en-US" altLang="zh-CN" sz="2400" b="1" dirty="0" smtClean="0"/>
                        <a:t>3</a:t>
                      </a:r>
                      <a:endParaRPr lang="zh-CN" altLang="en-US" sz="2400" b="1" dirty="0"/>
                    </a:p>
                  </a:txBody>
                  <a:tcPr anchor="ctr"/>
                </a:tc>
              </a:tr>
              <a:tr h="640080">
                <a:tc>
                  <a:txBody>
                    <a:bodyPr/>
                    <a:lstStyle/>
                    <a:p>
                      <a:pPr algn="ctr"/>
                      <a:r>
                        <a:rPr lang="zh-CN" altLang="en-US" sz="2400" b="1" dirty="0" smtClean="0"/>
                        <a:t>受压面面积</a:t>
                      </a:r>
                      <a:r>
                        <a:rPr lang="en-US" altLang="zh-CN" sz="2400" b="1" dirty="0" smtClean="0"/>
                        <a:t>(mm</a:t>
                      </a:r>
                      <a:r>
                        <a:rPr lang="en-US" altLang="zh-CN" sz="2400" b="1" baseline="30000" dirty="0" smtClean="0"/>
                        <a:t>2</a:t>
                      </a:r>
                      <a:r>
                        <a:rPr lang="en-US" altLang="zh-CN" sz="2400" b="1" dirty="0" smtClean="0"/>
                        <a:t>)</a:t>
                      </a:r>
                      <a:endParaRPr lang="zh-CN" altLang="en-US" sz="2400" b="1" dirty="0"/>
                    </a:p>
                  </a:txBody>
                  <a:tcPr anchor="ctr"/>
                </a:tc>
                <a:tc>
                  <a:txBody>
                    <a:bodyPr/>
                    <a:lstStyle/>
                    <a:p>
                      <a:pPr algn="ctr"/>
                      <a:r>
                        <a:rPr lang="en-US" altLang="zh-CN" sz="2400" b="1" dirty="0" smtClean="0"/>
                        <a:t>102×100</a:t>
                      </a:r>
                      <a:endParaRPr lang="zh-CN" altLang="en-US" sz="2400" b="1" dirty="0"/>
                    </a:p>
                  </a:txBody>
                  <a:tcPr anchor="ctr"/>
                </a:tc>
                <a:tc>
                  <a:txBody>
                    <a:bodyPr/>
                    <a:lstStyle/>
                    <a:p>
                      <a:pPr algn="ctr"/>
                      <a:r>
                        <a:rPr lang="en-US" altLang="zh-CN" sz="2400" b="1" dirty="0" smtClean="0"/>
                        <a:t>100×100</a:t>
                      </a:r>
                      <a:endParaRPr lang="zh-CN" altLang="en-US" sz="2400" b="1" dirty="0"/>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2400" b="1" dirty="0" smtClean="0"/>
                        <a:t>100×100</a:t>
                      </a:r>
                      <a:endParaRPr lang="zh-CN" altLang="en-US" sz="2400" b="1" dirty="0" smtClean="0"/>
                    </a:p>
                  </a:txBody>
                  <a:tcPr anchor="ctr"/>
                </a:tc>
              </a:tr>
              <a:tr h="640080">
                <a:tc>
                  <a:txBody>
                    <a:bodyPr/>
                    <a:lstStyle/>
                    <a:p>
                      <a:pPr algn="ctr"/>
                      <a:r>
                        <a:rPr lang="zh-CN" altLang="en-US" sz="2400" b="1" dirty="0" smtClean="0"/>
                        <a:t>破坏载荷</a:t>
                      </a:r>
                      <a:r>
                        <a:rPr lang="en-US" altLang="zh-CN" sz="2400" b="1" dirty="0" smtClean="0"/>
                        <a:t>(</a:t>
                      </a:r>
                      <a:r>
                        <a:rPr lang="en-US" altLang="zh-CN" sz="2400" b="1" dirty="0" err="1" smtClean="0"/>
                        <a:t>kN</a:t>
                      </a:r>
                      <a:r>
                        <a:rPr lang="en-US" altLang="zh-CN" sz="2400" b="1" dirty="0" smtClean="0"/>
                        <a:t>)</a:t>
                      </a:r>
                      <a:endParaRPr lang="zh-CN" altLang="en-US" sz="2400" b="1" dirty="0"/>
                    </a:p>
                  </a:txBody>
                  <a:tcPr anchor="ctr"/>
                </a:tc>
                <a:tc>
                  <a:txBody>
                    <a:bodyPr/>
                    <a:lstStyle/>
                    <a:p>
                      <a:pPr algn="ctr"/>
                      <a:r>
                        <a:rPr lang="en-US" altLang="zh-CN" sz="2400" b="1" dirty="0" smtClean="0"/>
                        <a:t>396</a:t>
                      </a:r>
                      <a:endParaRPr lang="zh-CN" altLang="en-US" sz="2400" b="1" dirty="0"/>
                    </a:p>
                  </a:txBody>
                  <a:tcPr anchor="ctr"/>
                </a:tc>
                <a:tc>
                  <a:txBody>
                    <a:bodyPr/>
                    <a:lstStyle/>
                    <a:p>
                      <a:pPr algn="ctr"/>
                      <a:r>
                        <a:rPr lang="en-US" altLang="zh-CN" sz="2400" b="1" dirty="0" smtClean="0"/>
                        <a:t>534</a:t>
                      </a:r>
                      <a:endParaRPr lang="zh-CN" altLang="en-US" sz="2400" b="1" dirty="0"/>
                    </a:p>
                  </a:txBody>
                  <a:tcPr anchor="ctr"/>
                </a:tc>
                <a:tc>
                  <a:txBody>
                    <a:bodyPr/>
                    <a:lstStyle/>
                    <a:p>
                      <a:pPr algn="ctr"/>
                      <a:r>
                        <a:rPr lang="en-US" altLang="zh-CN" sz="2400" b="1" dirty="0" smtClean="0"/>
                        <a:t>448</a:t>
                      </a:r>
                      <a:endParaRPr lang="zh-CN" altLang="en-US" sz="2400" b="1" dirty="0"/>
                    </a:p>
                  </a:txBody>
                  <a:tcPr anchor="ctr"/>
                </a:tc>
              </a:tr>
              <a:tr h="640080">
                <a:tc>
                  <a:txBody>
                    <a:bodyPr/>
                    <a:lstStyle/>
                    <a:p>
                      <a:pPr algn="ctr"/>
                      <a:r>
                        <a:rPr lang="zh-CN" altLang="en-US" sz="2400" b="1" dirty="0" smtClean="0"/>
                        <a:t>抗压强度</a:t>
                      </a:r>
                      <a:r>
                        <a:rPr lang="en-US" altLang="zh-CN" sz="2400" b="1" dirty="0" smtClean="0"/>
                        <a:t>(</a:t>
                      </a:r>
                      <a:r>
                        <a:rPr lang="en-US" altLang="zh-CN" sz="2400" b="1" dirty="0" err="1" smtClean="0"/>
                        <a:t>Mpa</a:t>
                      </a:r>
                      <a:r>
                        <a:rPr lang="en-US" altLang="zh-CN" sz="2400" b="1" dirty="0" smtClean="0"/>
                        <a:t>)</a:t>
                      </a:r>
                      <a:endParaRPr lang="zh-CN" altLang="en-US" sz="2400" b="1" dirty="0"/>
                    </a:p>
                  </a:txBody>
                  <a:tcPr anchor="ctr"/>
                </a:tc>
                <a:tc>
                  <a:txBody>
                    <a:bodyPr/>
                    <a:lstStyle/>
                    <a:p>
                      <a:pPr algn="ctr"/>
                      <a:r>
                        <a:rPr lang="en-US" altLang="zh-CN" sz="2400" b="1" dirty="0" smtClean="0"/>
                        <a:t>38.82</a:t>
                      </a:r>
                      <a:endParaRPr lang="zh-CN" altLang="en-US" sz="2400" b="1" dirty="0"/>
                    </a:p>
                  </a:txBody>
                  <a:tcPr anchor="ctr"/>
                </a:tc>
                <a:tc>
                  <a:txBody>
                    <a:bodyPr/>
                    <a:lstStyle/>
                    <a:p>
                      <a:pPr algn="ctr"/>
                      <a:r>
                        <a:rPr lang="en-US" altLang="zh-CN" sz="2400" b="1" dirty="0" smtClean="0"/>
                        <a:t>53.40</a:t>
                      </a:r>
                      <a:endParaRPr lang="zh-CN" altLang="en-US" sz="2400" b="1" dirty="0"/>
                    </a:p>
                  </a:txBody>
                  <a:tcPr anchor="ctr"/>
                </a:tc>
                <a:tc>
                  <a:txBody>
                    <a:bodyPr/>
                    <a:lstStyle/>
                    <a:p>
                      <a:pPr algn="ctr"/>
                      <a:r>
                        <a:rPr lang="en-US" altLang="zh-CN" sz="2400" b="1" dirty="0" smtClean="0"/>
                        <a:t>44.80</a:t>
                      </a:r>
                      <a:endParaRPr lang="zh-CN" altLang="en-US" sz="2400" b="1" dirty="0"/>
                    </a:p>
                  </a:txBody>
                  <a:tcPr anchor="ctr"/>
                </a:tc>
              </a:tr>
            </a:tbl>
          </a:graphicData>
        </a:graphic>
      </p:graphicFrame>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内容占位符 2"/>
          <p:cNvSpPr>
            <a:spLocks noGrp="1"/>
          </p:cNvSpPr>
          <p:nvPr>
            <p:ph idx="1"/>
          </p:nvPr>
        </p:nvSpPr>
        <p:spPr>
          <a:xfrm>
            <a:off x="1428728" y="2500306"/>
            <a:ext cx="7000924" cy="3500462"/>
          </a:xfrm>
        </p:spPr>
        <p:txBody>
          <a:bodyPr/>
          <a:lstStyle/>
          <a:p>
            <a:pPr marL="0" indent="0" eaLnBrk="1" hangingPunct="1">
              <a:buFontTx/>
              <a:buNone/>
            </a:pPr>
            <a:r>
              <a:rPr lang="zh-CN" altLang="en-US" sz="3200" b="1" kern="1200" dirty="0" smtClean="0">
                <a:solidFill>
                  <a:schemeClr val="tx1"/>
                </a:solidFill>
                <a:latin typeface="楷体" pitchFamily="49" charset="-122"/>
                <a:ea typeface="楷体" pitchFamily="49" charset="-122"/>
              </a:rPr>
              <a:t>第</a:t>
            </a:r>
            <a:r>
              <a:rPr lang="en-US" altLang="zh-CN" sz="3200" b="1" kern="1200" dirty="0" smtClean="0">
                <a:solidFill>
                  <a:schemeClr val="tx1"/>
                </a:solidFill>
                <a:latin typeface="楷体" pitchFamily="49" charset="-122"/>
                <a:ea typeface="楷体" pitchFamily="49" charset="-122"/>
              </a:rPr>
              <a:t>2</a:t>
            </a:r>
            <a:r>
              <a:rPr lang="zh-CN" altLang="en-US" sz="3200" b="1" kern="1200" dirty="0" smtClean="0">
                <a:solidFill>
                  <a:schemeClr val="tx1"/>
                </a:solidFill>
                <a:latin typeface="楷体" pitchFamily="49" charset="-122"/>
                <a:ea typeface="楷体" pitchFamily="49" charset="-122"/>
              </a:rPr>
              <a:t>组抗压强度测量值偏离第</a:t>
            </a:r>
            <a:r>
              <a:rPr lang="en-US" altLang="zh-CN" sz="3200" b="1" kern="1200" dirty="0" smtClean="0">
                <a:solidFill>
                  <a:schemeClr val="tx1"/>
                </a:solidFill>
                <a:latin typeface="楷体" pitchFamily="49" charset="-122"/>
                <a:ea typeface="楷体" pitchFamily="49" charset="-122"/>
              </a:rPr>
              <a:t>3</a:t>
            </a:r>
            <a:r>
              <a:rPr lang="zh-CN" altLang="en-US" sz="3200" b="1" kern="1200" dirty="0" smtClean="0">
                <a:solidFill>
                  <a:schemeClr val="tx1"/>
                </a:solidFill>
                <a:latin typeface="楷体" pitchFamily="49" charset="-122"/>
                <a:ea typeface="楷体" pitchFamily="49" charset="-122"/>
              </a:rPr>
              <a:t>组超过</a:t>
            </a:r>
            <a:r>
              <a:rPr lang="en-US" altLang="zh-CN" sz="3200" b="1" kern="1200" dirty="0" smtClean="0">
                <a:solidFill>
                  <a:schemeClr val="tx1"/>
                </a:solidFill>
                <a:latin typeface="楷体" pitchFamily="49" charset="-122"/>
                <a:ea typeface="楷体" pitchFamily="49" charset="-122"/>
              </a:rPr>
              <a:t>15%</a:t>
            </a:r>
            <a:r>
              <a:rPr lang="zh-CN" altLang="en-US" sz="3200" b="1" kern="1200" dirty="0" smtClean="0">
                <a:solidFill>
                  <a:schemeClr val="tx1"/>
                </a:solidFill>
                <a:latin typeface="楷体" pitchFamily="49" charset="-122"/>
                <a:ea typeface="楷体" pitchFamily="49" charset="-122"/>
              </a:rPr>
              <a:t>，故取中间值作为</a:t>
            </a:r>
            <a:r>
              <a:rPr lang="en-US" altLang="zh-CN" sz="3200" b="1" kern="1200" dirty="0" smtClean="0">
                <a:solidFill>
                  <a:schemeClr val="tx1"/>
                </a:solidFill>
                <a:latin typeface="楷体" pitchFamily="49" charset="-122"/>
                <a:ea typeface="楷体" pitchFamily="49" charset="-122"/>
              </a:rPr>
              <a:t>7</a:t>
            </a:r>
            <a:r>
              <a:rPr lang="zh-CN" altLang="en-US" sz="3200" b="1" kern="1200" dirty="0" smtClean="0">
                <a:solidFill>
                  <a:schemeClr val="tx1"/>
                </a:solidFill>
                <a:latin typeface="楷体" pitchFamily="49" charset="-122"/>
                <a:ea typeface="楷体" pitchFamily="49" charset="-122"/>
              </a:rPr>
              <a:t>天抗压强度（需换算为标准试件抗压强度值）。</a:t>
            </a:r>
            <a:endParaRPr lang="en-US" altLang="zh-CN" sz="3200" b="1" kern="1200" dirty="0" smtClean="0">
              <a:solidFill>
                <a:schemeClr val="tx1"/>
              </a:solidFill>
              <a:latin typeface="楷体" pitchFamily="49" charset="-122"/>
              <a:ea typeface="楷体" pitchFamily="49" charset="-122"/>
            </a:endParaRPr>
          </a:p>
          <a:p>
            <a:pPr marL="0" indent="0" eaLnBrk="1" hangingPunct="1">
              <a:buFontTx/>
              <a:buNone/>
            </a:pPr>
            <a:endParaRPr lang="en-US" altLang="zh-CN" sz="1200" b="1" kern="1200" dirty="0" smtClean="0">
              <a:solidFill>
                <a:schemeClr val="tx1"/>
              </a:solidFill>
              <a:latin typeface="楷体" pitchFamily="49" charset="-122"/>
              <a:ea typeface="楷体" pitchFamily="49" charset="-122"/>
            </a:endParaRPr>
          </a:p>
          <a:p>
            <a:pPr marL="0" indent="0" eaLnBrk="1" hangingPunct="1">
              <a:buFontTx/>
              <a:buNone/>
            </a:pPr>
            <a:r>
              <a:rPr lang="en-US" altLang="zh-CN" sz="3200" b="1" kern="1200" dirty="0" smtClean="0">
                <a:solidFill>
                  <a:schemeClr val="tx1"/>
                </a:solidFill>
                <a:latin typeface="楷体" pitchFamily="49" charset="-122"/>
                <a:ea typeface="楷体" pitchFamily="49" charset="-122"/>
              </a:rPr>
              <a:t>7</a:t>
            </a:r>
            <a:r>
              <a:rPr lang="zh-CN" altLang="en-US" sz="3200" b="1" kern="1200" dirty="0" smtClean="0">
                <a:solidFill>
                  <a:schemeClr val="tx1"/>
                </a:solidFill>
                <a:latin typeface="楷体" pitchFamily="49" charset="-122"/>
                <a:ea typeface="楷体" pitchFamily="49" charset="-122"/>
              </a:rPr>
              <a:t>天抗压强度：</a:t>
            </a:r>
            <a:r>
              <a:rPr lang="en-US" altLang="zh-CN" sz="3200" b="1" kern="1200" dirty="0" smtClean="0">
                <a:solidFill>
                  <a:schemeClr val="tx1"/>
                </a:solidFill>
                <a:latin typeface="楷体" pitchFamily="49" charset="-122"/>
                <a:ea typeface="楷体" pitchFamily="49" charset="-122"/>
              </a:rPr>
              <a:t>44.80MPa×0.95=42.56MPa</a:t>
            </a:r>
          </a:p>
          <a:p>
            <a:pPr marL="0" indent="0" eaLnBrk="1" hangingPunct="1">
              <a:buFontTx/>
              <a:buNone/>
            </a:pPr>
            <a:endParaRPr lang="en-US" altLang="zh-CN" sz="3200" b="1" kern="1200" dirty="0" smtClean="0">
              <a:solidFill>
                <a:schemeClr val="tx1"/>
              </a:solidFill>
              <a:latin typeface="楷体" pitchFamily="49" charset="-122"/>
              <a:ea typeface="楷体" pitchFamily="49" charset="-122"/>
            </a:endParaRPr>
          </a:p>
          <a:p>
            <a:pPr marL="0" indent="0" eaLnBrk="1" hangingPunct="1">
              <a:buFontTx/>
              <a:buNone/>
            </a:pPr>
            <a:endParaRPr lang="en-US" altLang="zh-CN" sz="3200" b="1" kern="1200" dirty="0" smtClean="0">
              <a:solidFill>
                <a:schemeClr val="tx1"/>
              </a:solidFill>
              <a:latin typeface="楷体" pitchFamily="49" charset="-122"/>
              <a:ea typeface="楷体" pitchFamily="49" charset="-122"/>
            </a:endParaRPr>
          </a:p>
        </p:txBody>
      </p:sp>
      <p:sp>
        <p:nvSpPr>
          <p:cNvPr id="10" name="标题 1"/>
          <p:cNvSpPr>
            <a:spLocks noGrp="1"/>
          </p:cNvSpPr>
          <p:nvPr>
            <p:ph type="title"/>
          </p:nvPr>
        </p:nvSpPr>
        <p:spPr>
          <a:xfrm>
            <a:off x="1295400" y="685800"/>
            <a:ext cx="7391400" cy="609600"/>
          </a:xfrm>
        </p:spPr>
        <p:txBody>
          <a:bodyPr/>
          <a:lstStyle/>
          <a:p>
            <a:pPr eaLnBrk="1" hangingPunct="1"/>
            <a:r>
              <a:rPr lang="zh-CN" altLang="en-US" b="1" dirty="0" smtClean="0">
                <a:solidFill>
                  <a:schemeClr val="bg1"/>
                </a:solidFill>
                <a:latin typeface="微软雅黑" pitchFamily="34" charset="-122"/>
                <a:ea typeface="微软雅黑" pitchFamily="34" charset="-122"/>
              </a:rPr>
              <a:t>抗压强度</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内容占位符 2"/>
          <p:cNvSpPr>
            <a:spLocks noGrp="1"/>
          </p:cNvSpPr>
          <p:nvPr>
            <p:ph idx="1"/>
          </p:nvPr>
        </p:nvSpPr>
        <p:spPr>
          <a:xfrm>
            <a:off x="1428728" y="2214554"/>
            <a:ext cx="7000924" cy="3857652"/>
          </a:xfrm>
        </p:spPr>
        <p:txBody>
          <a:bodyPr/>
          <a:lstStyle/>
          <a:p>
            <a:pPr marL="0" indent="0" eaLnBrk="1" hangingPunct="1"/>
            <a:r>
              <a:rPr lang="zh-CN" altLang="en-US" sz="3200" b="1" kern="1200" dirty="0" smtClean="0">
                <a:solidFill>
                  <a:schemeClr val="tx1"/>
                </a:solidFill>
                <a:latin typeface="楷体" pitchFamily="49" charset="-122"/>
                <a:ea typeface="楷体" pitchFamily="49" charset="-122"/>
              </a:rPr>
              <a:t>工程上一般要求混凝土的</a:t>
            </a:r>
            <a:r>
              <a:rPr lang="en-US" altLang="zh-CN" sz="3200" b="1" kern="1200" dirty="0" smtClean="0">
                <a:solidFill>
                  <a:schemeClr val="tx1"/>
                </a:solidFill>
                <a:latin typeface="楷体" pitchFamily="49" charset="-122"/>
                <a:ea typeface="楷体" pitchFamily="49" charset="-122"/>
              </a:rPr>
              <a:t>7</a:t>
            </a:r>
            <a:r>
              <a:rPr lang="zh-CN" altLang="en-US" sz="3200" b="1" kern="1200" dirty="0" smtClean="0">
                <a:solidFill>
                  <a:schemeClr val="tx1"/>
                </a:solidFill>
                <a:latin typeface="楷体" pitchFamily="49" charset="-122"/>
                <a:ea typeface="楷体" pitchFamily="49" charset="-122"/>
              </a:rPr>
              <a:t>天抗压强度达到设计强度的</a:t>
            </a:r>
            <a:r>
              <a:rPr lang="en-US" altLang="zh-CN" sz="3200" b="1" kern="1200" dirty="0" smtClean="0">
                <a:solidFill>
                  <a:schemeClr val="tx1"/>
                </a:solidFill>
                <a:latin typeface="楷体" pitchFamily="49" charset="-122"/>
                <a:ea typeface="楷体" pitchFamily="49" charset="-122"/>
              </a:rPr>
              <a:t>70%~80%</a:t>
            </a:r>
            <a:r>
              <a:rPr lang="zh-CN" altLang="en-US" sz="3200" b="1" kern="1200" dirty="0" smtClean="0">
                <a:solidFill>
                  <a:schemeClr val="tx1"/>
                </a:solidFill>
                <a:latin typeface="楷体" pitchFamily="49" charset="-122"/>
                <a:ea typeface="楷体" pitchFamily="49" charset="-122"/>
              </a:rPr>
              <a:t>（</a:t>
            </a:r>
            <a:r>
              <a:rPr lang="en-US" altLang="zh-CN" sz="3200" b="1" kern="1200" dirty="0" smtClean="0">
                <a:solidFill>
                  <a:schemeClr val="tx1"/>
                </a:solidFill>
                <a:latin typeface="楷体" pitchFamily="49" charset="-122"/>
                <a:ea typeface="楷体" pitchFamily="49" charset="-122"/>
              </a:rPr>
              <a:t>42~48MPa</a:t>
            </a:r>
            <a:r>
              <a:rPr lang="zh-CN" altLang="en-US" sz="3200" b="1" kern="1200" dirty="0" smtClean="0">
                <a:solidFill>
                  <a:schemeClr val="tx1"/>
                </a:solidFill>
                <a:latin typeface="楷体" pitchFamily="49" charset="-122"/>
                <a:ea typeface="楷体" pitchFamily="49" charset="-122"/>
              </a:rPr>
              <a:t>）</a:t>
            </a:r>
            <a:endParaRPr lang="en-US" altLang="zh-CN" sz="3200" b="1" kern="1200" dirty="0" smtClean="0">
              <a:solidFill>
                <a:schemeClr val="tx1"/>
              </a:solidFill>
              <a:latin typeface="楷体" pitchFamily="49" charset="-122"/>
              <a:ea typeface="楷体" pitchFamily="49" charset="-122"/>
            </a:endParaRPr>
          </a:p>
          <a:p>
            <a:pPr marL="0" indent="0" eaLnBrk="1" hangingPunct="1"/>
            <a:r>
              <a:rPr lang="zh-CN" altLang="en-US" sz="3200" b="1" kern="1200" dirty="0" smtClean="0">
                <a:solidFill>
                  <a:schemeClr val="tx1"/>
                </a:solidFill>
                <a:latin typeface="楷体" pitchFamily="49" charset="-122"/>
                <a:ea typeface="楷体" pitchFamily="49" charset="-122"/>
              </a:rPr>
              <a:t>实验测得抗压强度值（</a:t>
            </a:r>
            <a:r>
              <a:rPr lang="en-US" altLang="zh-CN" sz="3200" b="1" kern="1200" dirty="0" smtClean="0">
                <a:solidFill>
                  <a:schemeClr val="tx1"/>
                </a:solidFill>
                <a:latin typeface="楷体" pitchFamily="49" charset="-122"/>
                <a:ea typeface="楷体" pitchFamily="49" charset="-122"/>
              </a:rPr>
              <a:t>42.56MPa</a:t>
            </a:r>
            <a:r>
              <a:rPr lang="zh-CN" altLang="en-US" sz="3200" b="1" kern="1200" dirty="0" smtClean="0">
                <a:solidFill>
                  <a:schemeClr val="tx1"/>
                </a:solidFill>
                <a:latin typeface="楷体" pitchFamily="49" charset="-122"/>
                <a:ea typeface="楷体" pitchFamily="49" charset="-122"/>
              </a:rPr>
              <a:t>）符合工程要求，但处于偏低水平，需要检测强度的后期发展。</a:t>
            </a:r>
            <a:endParaRPr lang="en-US" altLang="zh-CN" sz="3200" b="1" kern="1200" dirty="0" smtClean="0">
              <a:solidFill>
                <a:schemeClr val="tx1"/>
              </a:solidFill>
              <a:latin typeface="楷体" pitchFamily="49" charset="-122"/>
              <a:ea typeface="楷体" pitchFamily="49" charset="-122"/>
            </a:endParaRPr>
          </a:p>
          <a:p>
            <a:pPr marL="0" indent="0" eaLnBrk="1" hangingPunct="1"/>
            <a:r>
              <a:rPr lang="zh-CN" altLang="en-US" sz="3200" b="1" kern="1200" dirty="0" smtClean="0">
                <a:solidFill>
                  <a:schemeClr val="tx1"/>
                </a:solidFill>
                <a:latin typeface="楷体" pitchFamily="49" charset="-122"/>
                <a:ea typeface="楷体" pitchFamily="49" charset="-122"/>
              </a:rPr>
              <a:t>同时，三块试件抗压强度差异较大，证明混凝土的均匀性不佳。</a:t>
            </a:r>
            <a:endParaRPr lang="en-US" altLang="zh-CN" sz="3200" b="1" kern="1200" dirty="0" smtClean="0">
              <a:solidFill>
                <a:schemeClr val="tx1"/>
              </a:solidFill>
              <a:latin typeface="楷体" pitchFamily="49" charset="-122"/>
              <a:ea typeface="楷体" pitchFamily="49" charset="-122"/>
            </a:endParaRPr>
          </a:p>
          <a:p>
            <a:pPr marL="0" indent="0" eaLnBrk="1" hangingPunct="1">
              <a:buFontTx/>
              <a:buNone/>
            </a:pPr>
            <a:endParaRPr lang="en-US" altLang="zh-CN" sz="3200" b="1" kern="1200" dirty="0" smtClean="0">
              <a:solidFill>
                <a:schemeClr val="tx1"/>
              </a:solidFill>
              <a:latin typeface="楷体" pitchFamily="49" charset="-122"/>
              <a:ea typeface="楷体" pitchFamily="49" charset="-122"/>
            </a:endParaRPr>
          </a:p>
        </p:txBody>
      </p:sp>
      <p:sp>
        <p:nvSpPr>
          <p:cNvPr id="10" name="标题 1"/>
          <p:cNvSpPr>
            <a:spLocks noGrp="1"/>
          </p:cNvSpPr>
          <p:nvPr>
            <p:ph type="title"/>
          </p:nvPr>
        </p:nvSpPr>
        <p:spPr>
          <a:xfrm>
            <a:off x="1295400" y="685800"/>
            <a:ext cx="2633658" cy="609600"/>
          </a:xfrm>
        </p:spPr>
        <p:txBody>
          <a:bodyPr/>
          <a:lstStyle/>
          <a:p>
            <a:pPr eaLnBrk="1" hangingPunct="1"/>
            <a:r>
              <a:rPr lang="zh-CN" altLang="en-US" b="1" dirty="0" smtClean="0">
                <a:solidFill>
                  <a:schemeClr val="bg1"/>
                </a:solidFill>
                <a:latin typeface="微软雅黑" pitchFamily="34" charset="-122"/>
                <a:ea typeface="微软雅黑" pitchFamily="34" charset="-122"/>
              </a:rPr>
              <a:t>抗压强度</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内容占位符 2"/>
          <p:cNvSpPr>
            <a:spLocks noGrp="1"/>
          </p:cNvSpPr>
          <p:nvPr>
            <p:ph idx="1"/>
          </p:nvPr>
        </p:nvSpPr>
        <p:spPr>
          <a:xfrm>
            <a:off x="1285852" y="1928802"/>
            <a:ext cx="4500594" cy="714380"/>
          </a:xfrm>
        </p:spPr>
        <p:txBody>
          <a:bodyPr/>
          <a:lstStyle/>
          <a:p>
            <a:pPr marL="0" indent="0" eaLnBrk="1" hangingPunct="1">
              <a:buFontTx/>
              <a:buNone/>
            </a:pPr>
            <a:r>
              <a:rPr lang="en-US" altLang="zh-CN" sz="3200" b="1" kern="1200" dirty="0" smtClean="0">
                <a:solidFill>
                  <a:schemeClr val="tx1"/>
                </a:solidFill>
                <a:latin typeface="楷体" pitchFamily="49" charset="-122"/>
                <a:ea typeface="楷体" pitchFamily="49" charset="-122"/>
              </a:rPr>
              <a:t>21</a:t>
            </a:r>
            <a:r>
              <a:rPr lang="zh-CN" altLang="en-US" sz="3200" b="1" kern="1200" dirty="0" smtClean="0">
                <a:solidFill>
                  <a:schemeClr val="tx1"/>
                </a:solidFill>
                <a:latin typeface="楷体" pitchFamily="49" charset="-122"/>
                <a:ea typeface="楷体" pitchFamily="49" charset="-122"/>
              </a:rPr>
              <a:t>天龄期劈裂抗拉强度：</a:t>
            </a:r>
            <a:endParaRPr lang="en-US" altLang="zh-CN" sz="3200" b="1" kern="1200" dirty="0" smtClean="0">
              <a:solidFill>
                <a:schemeClr val="tx1"/>
              </a:solidFill>
              <a:latin typeface="楷体" pitchFamily="49" charset="-122"/>
              <a:ea typeface="楷体" pitchFamily="49" charset="-122"/>
            </a:endParaRPr>
          </a:p>
          <a:p>
            <a:pPr marL="0" indent="0" eaLnBrk="1" hangingPunct="1">
              <a:buFontTx/>
              <a:buNone/>
            </a:pPr>
            <a:endParaRPr lang="en-US" altLang="zh-CN" sz="3200" b="1" kern="1200" dirty="0" smtClean="0">
              <a:solidFill>
                <a:schemeClr val="tx1"/>
              </a:solidFill>
              <a:latin typeface="楷体" pitchFamily="49" charset="-122"/>
              <a:ea typeface="楷体" pitchFamily="49" charset="-122"/>
            </a:endParaRPr>
          </a:p>
        </p:txBody>
      </p:sp>
      <p:sp>
        <p:nvSpPr>
          <p:cNvPr id="10" name="标题 1"/>
          <p:cNvSpPr>
            <a:spLocks noGrp="1"/>
          </p:cNvSpPr>
          <p:nvPr>
            <p:ph type="title"/>
          </p:nvPr>
        </p:nvSpPr>
        <p:spPr>
          <a:xfrm>
            <a:off x="1295400" y="685800"/>
            <a:ext cx="7391400" cy="609600"/>
          </a:xfrm>
        </p:spPr>
        <p:txBody>
          <a:bodyPr/>
          <a:lstStyle/>
          <a:p>
            <a:pPr eaLnBrk="1" hangingPunct="1"/>
            <a:r>
              <a:rPr lang="zh-CN" altLang="en-US" b="1" dirty="0" smtClean="0">
                <a:solidFill>
                  <a:schemeClr val="bg1"/>
                </a:solidFill>
                <a:latin typeface="微软雅黑" pitchFamily="34" charset="-122"/>
                <a:ea typeface="微软雅黑" pitchFamily="34" charset="-122"/>
              </a:rPr>
              <a:t>劈裂抗拉强度</a:t>
            </a:r>
          </a:p>
        </p:txBody>
      </p:sp>
      <p:graphicFrame>
        <p:nvGraphicFramePr>
          <p:cNvPr id="8" name="表格 7"/>
          <p:cNvGraphicFramePr>
            <a:graphicFrameLocks noGrp="1"/>
          </p:cNvGraphicFramePr>
          <p:nvPr/>
        </p:nvGraphicFramePr>
        <p:xfrm>
          <a:off x="1357290" y="2820370"/>
          <a:ext cx="7286676" cy="3108960"/>
        </p:xfrm>
        <a:graphic>
          <a:graphicData uri="http://schemas.openxmlformats.org/drawingml/2006/table">
            <a:tbl>
              <a:tblPr firstRow="1" bandRow="1">
                <a:tableStyleId>{5C22544A-7EE6-4342-B048-85BDC9FD1C3A}</a:tableStyleId>
              </a:tblPr>
              <a:tblGrid>
                <a:gridCol w="1821669"/>
                <a:gridCol w="1821669"/>
                <a:gridCol w="1821669"/>
                <a:gridCol w="1821669"/>
              </a:tblGrid>
              <a:tr h="640080">
                <a:tc>
                  <a:txBody>
                    <a:bodyPr/>
                    <a:lstStyle/>
                    <a:p>
                      <a:pPr algn="ctr"/>
                      <a:r>
                        <a:rPr lang="zh-CN" altLang="en-US" sz="2400" b="1" dirty="0" smtClean="0"/>
                        <a:t>序号</a:t>
                      </a:r>
                      <a:endParaRPr lang="zh-CN" altLang="en-US" sz="2400" b="1" dirty="0"/>
                    </a:p>
                  </a:txBody>
                  <a:tcPr anchor="ctr"/>
                </a:tc>
                <a:tc>
                  <a:txBody>
                    <a:bodyPr/>
                    <a:lstStyle/>
                    <a:p>
                      <a:pPr algn="ctr"/>
                      <a:r>
                        <a:rPr lang="en-US" altLang="zh-CN" sz="2400" b="1" dirty="0" smtClean="0"/>
                        <a:t>1</a:t>
                      </a:r>
                      <a:endParaRPr lang="zh-CN" altLang="en-US" sz="2400" b="1" dirty="0"/>
                    </a:p>
                  </a:txBody>
                  <a:tcPr anchor="ctr"/>
                </a:tc>
                <a:tc>
                  <a:txBody>
                    <a:bodyPr/>
                    <a:lstStyle/>
                    <a:p>
                      <a:pPr algn="ctr"/>
                      <a:r>
                        <a:rPr lang="en-US" altLang="zh-CN" sz="2400" b="1" dirty="0" smtClean="0"/>
                        <a:t>2</a:t>
                      </a:r>
                      <a:endParaRPr lang="zh-CN" altLang="en-US" sz="2400" b="1" dirty="0"/>
                    </a:p>
                  </a:txBody>
                  <a:tcPr anchor="ctr"/>
                </a:tc>
                <a:tc>
                  <a:txBody>
                    <a:bodyPr/>
                    <a:lstStyle/>
                    <a:p>
                      <a:pPr algn="ctr"/>
                      <a:r>
                        <a:rPr lang="en-US" altLang="zh-CN" sz="2400" b="1" dirty="0" smtClean="0"/>
                        <a:t>3</a:t>
                      </a:r>
                      <a:endParaRPr lang="zh-CN" altLang="en-US" sz="2400" b="1" dirty="0"/>
                    </a:p>
                  </a:txBody>
                  <a:tcPr anchor="ctr"/>
                </a:tc>
              </a:tr>
              <a:tr h="640080">
                <a:tc>
                  <a:txBody>
                    <a:bodyPr/>
                    <a:lstStyle/>
                    <a:p>
                      <a:pPr algn="ctr"/>
                      <a:r>
                        <a:rPr lang="zh-CN" altLang="en-US" sz="2400" b="1" dirty="0" smtClean="0"/>
                        <a:t>劈裂面面积</a:t>
                      </a:r>
                      <a:r>
                        <a:rPr lang="en-US" altLang="zh-CN" sz="2400" b="1" dirty="0" smtClean="0"/>
                        <a:t>(mm</a:t>
                      </a:r>
                      <a:r>
                        <a:rPr lang="en-US" altLang="zh-CN" sz="2400" b="1" baseline="30000" dirty="0" smtClean="0"/>
                        <a:t>2</a:t>
                      </a:r>
                      <a:r>
                        <a:rPr lang="en-US" altLang="zh-CN" sz="2400" b="1" dirty="0" smtClean="0"/>
                        <a:t>)</a:t>
                      </a:r>
                      <a:endParaRPr lang="zh-CN" altLang="en-US" sz="2400" b="1" dirty="0"/>
                    </a:p>
                  </a:txBody>
                  <a:tcPr anchor="ctr"/>
                </a:tc>
                <a:tc>
                  <a:txBody>
                    <a:bodyPr/>
                    <a:lstStyle/>
                    <a:p>
                      <a:pPr algn="ctr"/>
                      <a:r>
                        <a:rPr lang="en-US" altLang="zh-CN" sz="2400" b="1" dirty="0" smtClean="0"/>
                        <a:t>100×100</a:t>
                      </a:r>
                      <a:endParaRPr lang="zh-CN" altLang="en-US" sz="2400" b="1" dirty="0"/>
                    </a:p>
                  </a:txBody>
                  <a:tcPr anchor="ctr"/>
                </a:tc>
                <a:tc>
                  <a:txBody>
                    <a:bodyPr/>
                    <a:lstStyle/>
                    <a:p>
                      <a:pPr algn="ctr"/>
                      <a:r>
                        <a:rPr lang="en-US" altLang="zh-CN" sz="2400" b="1" dirty="0" smtClean="0"/>
                        <a:t>100×100</a:t>
                      </a:r>
                      <a:endParaRPr lang="zh-CN" altLang="en-US" sz="2400" b="1" dirty="0"/>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2400" b="1" dirty="0" smtClean="0"/>
                        <a:t>100×100</a:t>
                      </a:r>
                      <a:endParaRPr lang="zh-CN" altLang="en-US" sz="2400" b="1" dirty="0" smtClean="0"/>
                    </a:p>
                  </a:txBody>
                  <a:tcPr anchor="ctr"/>
                </a:tc>
              </a:tr>
              <a:tr h="640080">
                <a:tc>
                  <a:txBody>
                    <a:bodyPr/>
                    <a:lstStyle/>
                    <a:p>
                      <a:pPr algn="ctr"/>
                      <a:r>
                        <a:rPr lang="zh-CN" altLang="en-US" sz="2400" b="1" dirty="0" smtClean="0"/>
                        <a:t>破坏载荷</a:t>
                      </a:r>
                      <a:r>
                        <a:rPr lang="en-US" altLang="zh-CN" sz="2400" b="1" dirty="0" smtClean="0"/>
                        <a:t>(</a:t>
                      </a:r>
                      <a:r>
                        <a:rPr lang="en-US" altLang="zh-CN" sz="2400" b="1" dirty="0" err="1" smtClean="0"/>
                        <a:t>kN</a:t>
                      </a:r>
                      <a:r>
                        <a:rPr lang="en-US" altLang="zh-CN" sz="2400" b="1" dirty="0" smtClean="0"/>
                        <a:t>)</a:t>
                      </a:r>
                      <a:endParaRPr lang="zh-CN" altLang="en-US" sz="2400" b="1" dirty="0"/>
                    </a:p>
                  </a:txBody>
                  <a:tcPr anchor="ctr"/>
                </a:tc>
                <a:tc>
                  <a:txBody>
                    <a:bodyPr/>
                    <a:lstStyle/>
                    <a:p>
                      <a:pPr algn="ctr"/>
                      <a:r>
                        <a:rPr lang="en-US" altLang="zh-CN" sz="2400" b="1" dirty="0" smtClean="0"/>
                        <a:t>94</a:t>
                      </a:r>
                      <a:endParaRPr lang="zh-CN" altLang="en-US" sz="2400" b="1" dirty="0"/>
                    </a:p>
                  </a:txBody>
                  <a:tcPr anchor="ctr"/>
                </a:tc>
                <a:tc>
                  <a:txBody>
                    <a:bodyPr/>
                    <a:lstStyle/>
                    <a:p>
                      <a:pPr algn="ctr"/>
                      <a:r>
                        <a:rPr lang="en-US" altLang="zh-CN" sz="2400" b="1" dirty="0" smtClean="0"/>
                        <a:t>98</a:t>
                      </a:r>
                      <a:endParaRPr lang="zh-CN" altLang="en-US" sz="2400" b="1" dirty="0"/>
                    </a:p>
                  </a:txBody>
                  <a:tcPr anchor="ctr"/>
                </a:tc>
                <a:tc>
                  <a:txBody>
                    <a:bodyPr/>
                    <a:lstStyle/>
                    <a:p>
                      <a:pPr algn="ctr"/>
                      <a:r>
                        <a:rPr lang="en-US" altLang="zh-CN" sz="2400" b="1" dirty="0" smtClean="0"/>
                        <a:t>82</a:t>
                      </a:r>
                      <a:endParaRPr lang="zh-CN" altLang="en-US" sz="2400" b="1" dirty="0"/>
                    </a:p>
                  </a:txBody>
                  <a:tcPr anchor="ctr"/>
                </a:tc>
              </a:tr>
              <a:tr h="640080">
                <a:tc>
                  <a:txBody>
                    <a:bodyPr/>
                    <a:lstStyle/>
                    <a:p>
                      <a:pPr algn="ctr"/>
                      <a:r>
                        <a:rPr lang="zh-CN" altLang="en-US" sz="2400" b="1" dirty="0" smtClean="0"/>
                        <a:t>劈裂抗拉强度</a:t>
                      </a:r>
                      <a:r>
                        <a:rPr lang="en-US" altLang="zh-CN" sz="2400" b="1" dirty="0" smtClean="0"/>
                        <a:t>(</a:t>
                      </a:r>
                      <a:r>
                        <a:rPr lang="en-US" altLang="zh-CN" sz="2400" b="1" dirty="0" err="1" smtClean="0"/>
                        <a:t>Mpa</a:t>
                      </a:r>
                      <a:r>
                        <a:rPr lang="en-US" altLang="zh-CN" sz="2400" b="1" dirty="0" smtClean="0"/>
                        <a:t>)</a:t>
                      </a:r>
                      <a:endParaRPr lang="zh-CN" altLang="en-US" sz="2400" b="1" dirty="0"/>
                    </a:p>
                  </a:txBody>
                  <a:tcPr anchor="ctr"/>
                </a:tc>
                <a:tc>
                  <a:txBody>
                    <a:bodyPr/>
                    <a:lstStyle/>
                    <a:p>
                      <a:pPr algn="ctr"/>
                      <a:r>
                        <a:rPr lang="en-US" altLang="zh-CN" sz="2400" b="1" dirty="0" smtClean="0"/>
                        <a:t>5.99</a:t>
                      </a:r>
                      <a:endParaRPr lang="zh-CN" altLang="en-US" sz="2400" b="1" dirty="0"/>
                    </a:p>
                  </a:txBody>
                  <a:tcPr anchor="ctr"/>
                </a:tc>
                <a:tc>
                  <a:txBody>
                    <a:bodyPr/>
                    <a:lstStyle/>
                    <a:p>
                      <a:pPr algn="ctr"/>
                      <a:r>
                        <a:rPr lang="en-US" altLang="zh-CN" sz="2400" b="1" dirty="0" smtClean="0"/>
                        <a:t>6.24</a:t>
                      </a:r>
                      <a:endParaRPr lang="zh-CN" altLang="en-US" sz="2400" b="1" dirty="0"/>
                    </a:p>
                  </a:txBody>
                  <a:tcPr anchor="ctr"/>
                </a:tc>
                <a:tc>
                  <a:txBody>
                    <a:bodyPr/>
                    <a:lstStyle/>
                    <a:p>
                      <a:pPr algn="ctr"/>
                      <a:r>
                        <a:rPr lang="en-US" altLang="zh-CN" sz="2400" b="1" dirty="0" smtClean="0"/>
                        <a:t>5.22</a:t>
                      </a:r>
                      <a:endParaRPr lang="zh-CN" altLang="en-US" sz="2400" b="1" dirty="0"/>
                    </a:p>
                  </a:txBody>
                  <a:tcPr anchor="ctr"/>
                </a:tc>
              </a:tr>
            </a:tbl>
          </a:graphicData>
        </a:graphic>
      </p:graphicFrame>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内容占位符 2"/>
          <p:cNvSpPr>
            <a:spLocks noGrp="1"/>
          </p:cNvSpPr>
          <p:nvPr>
            <p:ph idx="1"/>
          </p:nvPr>
        </p:nvSpPr>
        <p:spPr>
          <a:xfrm>
            <a:off x="1428728" y="2500306"/>
            <a:ext cx="7000924" cy="3500462"/>
          </a:xfrm>
        </p:spPr>
        <p:txBody>
          <a:bodyPr/>
          <a:lstStyle/>
          <a:p>
            <a:pPr marL="0" indent="0" eaLnBrk="1" hangingPunct="1">
              <a:buFontTx/>
              <a:buNone/>
            </a:pPr>
            <a:r>
              <a:rPr lang="en-US" altLang="zh-CN" sz="3200" b="1" kern="1200" dirty="0" smtClean="0">
                <a:solidFill>
                  <a:schemeClr val="tx1"/>
                </a:solidFill>
                <a:latin typeface="楷体" pitchFamily="49" charset="-122"/>
                <a:ea typeface="楷体" pitchFamily="49" charset="-122"/>
              </a:rPr>
              <a:t>3</a:t>
            </a:r>
            <a:r>
              <a:rPr lang="zh-CN" altLang="en-US" sz="3200" b="1" kern="1200" dirty="0" smtClean="0">
                <a:solidFill>
                  <a:schemeClr val="tx1"/>
                </a:solidFill>
                <a:latin typeface="楷体" pitchFamily="49" charset="-122"/>
                <a:ea typeface="楷体" pitchFamily="49" charset="-122"/>
              </a:rPr>
              <a:t>组实验</a:t>
            </a:r>
            <a:r>
              <a:rPr lang="zh-CN" altLang="en-US" sz="3200" b="1" kern="1200" smtClean="0">
                <a:solidFill>
                  <a:schemeClr val="tx1"/>
                </a:solidFill>
                <a:latin typeface="楷体" pitchFamily="49" charset="-122"/>
                <a:ea typeface="楷体" pitchFamily="49" charset="-122"/>
              </a:rPr>
              <a:t>数据</a:t>
            </a:r>
            <a:r>
              <a:rPr lang="zh-CN" altLang="en-US" sz="3200" b="1" kern="1200" smtClean="0">
                <a:solidFill>
                  <a:schemeClr val="tx1"/>
                </a:solidFill>
                <a:latin typeface="楷体" pitchFamily="49" charset="-122"/>
                <a:ea typeface="楷体" pitchFamily="49" charset="-122"/>
              </a:rPr>
              <a:t>均未偏离</a:t>
            </a:r>
            <a:r>
              <a:rPr lang="zh-CN" altLang="en-US" sz="3200" b="1" kern="1200" dirty="0" smtClean="0">
                <a:solidFill>
                  <a:schemeClr val="tx1"/>
                </a:solidFill>
                <a:latin typeface="楷体" pitchFamily="49" charset="-122"/>
                <a:ea typeface="楷体" pitchFamily="49" charset="-122"/>
              </a:rPr>
              <a:t>中间值超过</a:t>
            </a:r>
            <a:r>
              <a:rPr lang="en-US" altLang="zh-CN" sz="3200" b="1" kern="1200" dirty="0" smtClean="0">
                <a:solidFill>
                  <a:schemeClr val="tx1"/>
                </a:solidFill>
                <a:latin typeface="楷体" pitchFamily="49" charset="-122"/>
                <a:ea typeface="楷体" pitchFamily="49" charset="-122"/>
              </a:rPr>
              <a:t>15%</a:t>
            </a:r>
            <a:r>
              <a:rPr lang="zh-CN" altLang="en-US" sz="3200" b="1" kern="1200" dirty="0" smtClean="0">
                <a:solidFill>
                  <a:schemeClr val="tx1"/>
                </a:solidFill>
                <a:latin typeface="楷体" pitchFamily="49" charset="-122"/>
                <a:ea typeface="楷体" pitchFamily="49" charset="-122"/>
              </a:rPr>
              <a:t>，故取平均值作为</a:t>
            </a:r>
            <a:r>
              <a:rPr lang="en-US" altLang="zh-CN" sz="3200" b="1" kern="1200" dirty="0" smtClean="0">
                <a:solidFill>
                  <a:schemeClr val="tx1"/>
                </a:solidFill>
                <a:latin typeface="楷体" pitchFamily="49" charset="-122"/>
                <a:ea typeface="楷体" pitchFamily="49" charset="-122"/>
              </a:rPr>
              <a:t>21</a:t>
            </a:r>
            <a:r>
              <a:rPr lang="zh-CN" altLang="en-US" sz="3200" b="1" kern="1200" dirty="0" smtClean="0">
                <a:solidFill>
                  <a:schemeClr val="tx1"/>
                </a:solidFill>
                <a:latin typeface="楷体" pitchFamily="49" charset="-122"/>
                <a:ea typeface="楷体" pitchFamily="49" charset="-122"/>
              </a:rPr>
              <a:t>天龄期劈裂抗拉强度（需换算为标准试件抗压强度值）。</a:t>
            </a:r>
            <a:endParaRPr lang="en-US" altLang="zh-CN" sz="3200" b="1" kern="1200" dirty="0" smtClean="0">
              <a:solidFill>
                <a:schemeClr val="tx1"/>
              </a:solidFill>
              <a:latin typeface="楷体" pitchFamily="49" charset="-122"/>
              <a:ea typeface="楷体" pitchFamily="49" charset="-122"/>
            </a:endParaRPr>
          </a:p>
          <a:p>
            <a:pPr marL="0" indent="0" eaLnBrk="1" hangingPunct="1">
              <a:buFontTx/>
              <a:buNone/>
            </a:pPr>
            <a:endParaRPr lang="en-US" altLang="zh-CN" sz="1200" b="1" kern="1200" dirty="0" smtClean="0">
              <a:solidFill>
                <a:schemeClr val="tx1"/>
              </a:solidFill>
              <a:latin typeface="楷体" pitchFamily="49" charset="-122"/>
              <a:ea typeface="楷体" pitchFamily="49" charset="-122"/>
            </a:endParaRPr>
          </a:p>
          <a:p>
            <a:pPr marL="0" indent="0" eaLnBrk="1" hangingPunct="1">
              <a:buFontTx/>
              <a:buNone/>
            </a:pPr>
            <a:r>
              <a:rPr lang="en-US" altLang="zh-CN" sz="3200" b="1" kern="1200" dirty="0" smtClean="0">
                <a:solidFill>
                  <a:schemeClr val="tx1"/>
                </a:solidFill>
                <a:latin typeface="楷体" pitchFamily="49" charset="-122"/>
                <a:ea typeface="楷体" pitchFamily="49" charset="-122"/>
              </a:rPr>
              <a:t>7</a:t>
            </a:r>
            <a:r>
              <a:rPr lang="zh-CN" altLang="en-US" sz="3200" b="1" kern="1200" dirty="0" smtClean="0">
                <a:solidFill>
                  <a:schemeClr val="tx1"/>
                </a:solidFill>
                <a:latin typeface="楷体" pitchFamily="49" charset="-122"/>
                <a:ea typeface="楷体" pitchFamily="49" charset="-122"/>
              </a:rPr>
              <a:t>天抗压强度：</a:t>
            </a:r>
            <a:r>
              <a:rPr lang="en-US" altLang="zh-CN" sz="3200" b="1" kern="1200" dirty="0" smtClean="0">
                <a:solidFill>
                  <a:schemeClr val="tx1"/>
                </a:solidFill>
                <a:latin typeface="楷体" pitchFamily="49" charset="-122"/>
                <a:ea typeface="楷体" pitchFamily="49" charset="-122"/>
              </a:rPr>
              <a:t>5.82MPa×0.85=4.95MPa</a:t>
            </a:r>
          </a:p>
          <a:p>
            <a:pPr marL="0" indent="0" eaLnBrk="1" hangingPunct="1">
              <a:buFontTx/>
              <a:buNone/>
            </a:pPr>
            <a:endParaRPr lang="en-US" altLang="zh-CN" sz="3200" b="1" kern="1200" dirty="0" smtClean="0">
              <a:solidFill>
                <a:schemeClr val="tx1"/>
              </a:solidFill>
              <a:latin typeface="楷体" pitchFamily="49" charset="-122"/>
              <a:ea typeface="楷体" pitchFamily="49" charset="-122"/>
            </a:endParaRPr>
          </a:p>
          <a:p>
            <a:pPr marL="0" indent="0" eaLnBrk="1" hangingPunct="1">
              <a:buFontTx/>
              <a:buNone/>
            </a:pPr>
            <a:endParaRPr lang="en-US" altLang="zh-CN" sz="3200" b="1" kern="1200" dirty="0" smtClean="0">
              <a:solidFill>
                <a:schemeClr val="tx1"/>
              </a:solidFill>
              <a:latin typeface="楷体" pitchFamily="49" charset="-122"/>
              <a:ea typeface="楷体" pitchFamily="49" charset="-122"/>
            </a:endParaRPr>
          </a:p>
        </p:txBody>
      </p:sp>
      <p:sp>
        <p:nvSpPr>
          <p:cNvPr id="10" name="标题 1"/>
          <p:cNvSpPr>
            <a:spLocks noGrp="1"/>
          </p:cNvSpPr>
          <p:nvPr>
            <p:ph type="title"/>
          </p:nvPr>
        </p:nvSpPr>
        <p:spPr>
          <a:xfrm>
            <a:off x="1295400" y="685800"/>
            <a:ext cx="7391400" cy="609600"/>
          </a:xfrm>
        </p:spPr>
        <p:txBody>
          <a:bodyPr/>
          <a:lstStyle/>
          <a:p>
            <a:pPr eaLnBrk="1" hangingPunct="1"/>
            <a:r>
              <a:rPr lang="zh-CN" altLang="en-US" b="1" dirty="0" smtClean="0">
                <a:solidFill>
                  <a:schemeClr val="bg1"/>
                </a:solidFill>
                <a:latin typeface="微软雅黑" pitchFamily="34" charset="-122"/>
                <a:ea typeface="微软雅黑" pitchFamily="34" charset="-122"/>
              </a:rPr>
              <a:t>劈裂抗拉强度</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p:cNvSpPr>
            <a:spLocks noGrp="1"/>
          </p:cNvSpPr>
          <p:nvPr>
            <p:ph type="title"/>
          </p:nvPr>
        </p:nvSpPr>
        <p:spPr>
          <a:xfrm>
            <a:off x="1295400" y="685800"/>
            <a:ext cx="3490914" cy="609600"/>
          </a:xfrm>
        </p:spPr>
        <p:txBody>
          <a:bodyPr/>
          <a:lstStyle/>
          <a:p>
            <a:pPr eaLnBrk="1" hangingPunct="1"/>
            <a:r>
              <a:rPr lang="zh-CN" altLang="en-US" b="1" dirty="0" smtClean="0">
                <a:solidFill>
                  <a:schemeClr val="bg1"/>
                </a:solidFill>
                <a:latin typeface="微软雅黑" pitchFamily="34" charset="-122"/>
                <a:ea typeface="微软雅黑" pitchFamily="34" charset="-122"/>
              </a:rPr>
              <a:t>劈裂抗拉强度</a:t>
            </a:r>
          </a:p>
        </p:txBody>
      </p:sp>
      <p:pic>
        <p:nvPicPr>
          <p:cNvPr id="45058" name="Picture 2" descr="C:\Users\hp\Desktop\IMG_0515.JPG"/>
          <p:cNvPicPr>
            <a:picLocks noChangeAspect="1" noChangeArrowheads="1"/>
          </p:cNvPicPr>
          <p:nvPr/>
        </p:nvPicPr>
        <p:blipFill>
          <a:blip r:embed="rId3" cstate="print"/>
          <a:srcRect t="15876" b="12687"/>
          <a:stretch>
            <a:fillRect/>
          </a:stretch>
        </p:blipFill>
        <p:spPr bwMode="auto">
          <a:xfrm>
            <a:off x="1106446" y="4071942"/>
            <a:ext cx="4680000" cy="2507450"/>
          </a:xfrm>
          <a:prstGeom prst="rect">
            <a:avLst/>
          </a:prstGeom>
          <a:noFill/>
        </p:spPr>
      </p:pic>
      <p:pic>
        <p:nvPicPr>
          <p:cNvPr id="45059" name="Picture 3" descr="C:\Users\hp\Desktop\IMG_0513.JPG"/>
          <p:cNvPicPr>
            <a:picLocks noChangeAspect="1" noChangeArrowheads="1"/>
          </p:cNvPicPr>
          <p:nvPr/>
        </p:nvPicPr>
        <p:blipFill>
          <a:blip r:embed="rId4" cstate="print"/>
          <a:srcRect l="1488" t="19844" b="10702"/>
          <a:stretch>
            <a:fillRect/>
          </a:stretch>
        </p:blipFill>
        <p:spPr bwMode="auto">
          <a:xfrm>
            <a:off x="1106446" y="1643050"/>
            <a:ext cx="4680000" cy="2474652"/>
          </a:xfrm>
          <a:prstGeom prst="rect">
            <a:avLst/>
          </a:prstGeom>
          <a:noFill/>
        </p:spPr>
      </p:pic>
      <p:sp>
        <p:nvSpPr>
          <p:cNvPr id="8" name="内容占位符 2"/>
          <p:cNvSpPr>
            <a:spLocks noGrp="1"/>
          </p:cNvSpPr>
          <p:nvPr>
            <p:ph idx="1"/>
          </p:nvPr>
        </p:nvSpPr>
        <p:spPr>
          <a:xfrm>
            <a:off x="5929322" y="2285992"/>
            <a:ext cx="3071834" cy="1214446"/>
          </a:xfrm>
        </p:spPr>
        <p:txBody>
          <a:bodyPr/>
          <a:lstStyle/>
          <a:p>
            <a:pPr marL="0" indent="0" eaLnBrk="1" hangingPunct="1">
              <a:buFontTx/>
              <a:buNone/>
            </a:pPr>
            <a:r>
              <a:rPr lang="en-US" altLang="zh-CN" sz="3200" b="1" kern="1200" dirty="0" smtClean="0">
                <a:solidFill>
                  <a:schemeClr val="tx1"/>
                </a:solidFill>
                <a:latin typeface="楷体" pitchFamily="49" charset="-122"/>
                <a:ea typeface="楷体" pitchFamily="49" charset="-122"/>
              </a:rPr>
              <a:t>C60</a:t>
            </a:r>
            <a:r>
              <a:rPr lang="zh-CN" altLang="en-US" sz="3200" b="1" kern="1200" dirty="0" smtClean="0">
                <a:solidFill>
                  <a:schemeClr val="tx1"/>
                </a:solidFill>
                <a:latin typeface="楷体" pitchFamily="49" charset="-122"/>
                <a:ea typeface="楷体" pitchFamily="49" charset="-122"/>
              </a:rPr>
              <a:t>混凝土</a:t>
            </a:r>
            <a:endParaRPr lang="en-US" altLang="zh-CN" sz="3200" b="1" kern="1200" dirty="0" smtClean="0">
              <a:solidFill>
                <a:schemeClr val="tx1"/>
              </a:solidFill>
              <a:latin typeface="楷体" pitchFamily="49" charset="-122"/>
              <a:ea typeface="楷体" pitchFamily="49" charset="-122"/>
            </a:endParaRPr>
          </a:p>
          <a:p>
            <a:pPr marL="0" indent="0" eaLnBrk="1" hangingPunct="1">
              <a:buFontTx/>
              <a:buNone/>
            </a:pPr>
            <a:r>
              <a:rPr lang="zh-CN" altLang="en-US" sz="3200" b="1" kern="1200" dirty="0" smtClean="0">
                <a:solidFill>
                  <a:schemeClr val="tx1"/>
                </a:solidFill>
                <a:latin typeface="楷体" pitchFamily="49" charset="-122"/>
                <a:ea typeface="楷体" pitchFamily="49" charset="-122"/>
              </a:rPr>
              <a:t>粗骨料发生破坏</a:t>
            </a:r>
            <a:endParaRPr lang="en-US" altLang="zh-CN" sz="3200" b="1" kern="1200" dirty="0" smtClean="0">
              <a:solidFill>
                <a:schemeClr val="tx1"/>
              </a:solidFill>
              <a:latin typeface="楷体" pitchFamily="49" charset="-122"/>
              <a:ea typeface="楷体" pitchFamily="49" charset="-122"/>
            </a:endParaRPr>
          </a:p>
        </p:txBody>
      </p:sp>
      <p:sp>
        <p:nvSpPr>
          <p:cNvPr id="9" name="内容占位符 2"/>
          <p:cNvSpPr txBox="1">
            <a:spLocks/>
          </p:cNvSpPr>
          <p:nvPr/>
        </p:nvSpPr>
        <p:spPr bwMode="auto">
          <a:xfrm>
            <a:off x="5929322" y="4786322"/>
            <a:ext cx="3071834" cy="121444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en-US" altLang="zh-CN" sz="3200" b="1" i="0" u="none" strike="noStrike" kern="1200" cap="none" spc="0" normalizeH="0" baseline="0" noProof="0" dirty="0" smtClean="0">
                <a:ln>
                  <a:noFill/>
                </a:ln>
                <a:solidFill>
                  <a:schemeClr val="tx1"/>
                </a:solidFill>
                <a:effectLst/>
                <a:uLnTx/>
                <a:uFillTx/>
                <a:latin typeface="楷体" pitchFamily="49" charset="-122"/>
                <a:ea typeface="楷体" pitchFamily="49" charset="-122"/>
                <a:cs typeface="+mn-cs"/>
              </a:rPr>
              <a:t>C30</a:t>
            </a:r>
            <a:r>
              <a:rPr kumimoji="0" lang="zh-CN" altLang="en-US" sz="3200" b="1" i="0" u="none" strike="noStrike" kern="1200" cap="none" spc="0" normalizeH="0" baseline="0" noProof="0" dirty="0" smtClean="0">
                <a:ln>
                  <a:noFill/>
                </a:ln>
                <a:solidFill>
                  <a:schemeClr val="tx1"/>
                </a:solidFill>
                <a:effectLst/>
                <a:uLnTx/>
                <a:uFillTx/>
                <a:latin typeface="楷体" pitchFamily="49" charset="-122"/>
                <a:ea typeface="楷体" pitchFamily="49" charset="-122"/>
                <a:cs typeface="+mn-cs"/>
              </a:rPr>
              <a:t>混凝土</a:t>
            </a:r>
            <a:endParaRPr kumimoji="0" lang="en-US" altLang="zh-CN" sz="3200" b="1" i="0" u="none" strike="noStrike" kern="1200" cap="none" spc="0" normalizeH="0" baseline="0" noProof="0" dirty="0" smtClean="0">
              <a:ln>
                <a:noFill/>
              </a:ln>
              <a:solidFill>
                <a:schemeClr val="tx1"/>
              </a:solidFill>
              <a:effectLst/>
              <a:uLnTx/>
              <a:uFillTx/>
              <a:latin typeface="楷体" pitchFamily="49" charset="-122"/>
              <a:ea typeface="楷体" pitchFamily="49" charset="-122"/>
              <a:cs typeface="+mn-cs"/>
            </a:endParaRPr>
          </a:p>
          <a:p>
            <a:pPr marL="0" marR="0" lvl="0" indent="0" algn="l" defTabSz="914400" rtl="0" eaLnBrk="1" fontAlgn="base" latinLnBrk="0" hangingPunct="1">
              <a:lnSpc>
                <a:spcPct val="100000"/>
              </a:lnSpc>
              <a:spcBef>
                <a:spcPct val="20000"/>
              </a:spcBef>
              <a:spcAft>
                <a:spcPct val="0"/>
              </a:spcAft>
              <a:buClrTx/>
              <a:buSzTx/>
              <a:buFontTx/>
              <a:buNone/>
              <a:tabLst/>
              <a:defRPr/>
            </a:pPr>
            <a:r>
              <a:rPr lang="zh-CN" altLang="en-US" sz="3200" b="1" dirty="0" smtClean="0">
                <a:latin typeface="楷体" pitchFamily="49" charset="-122"/>
                <a:ea typeface="楷体" pitchFamily="49" charset="-122"/>
              </a:rPr>
              <a:t>从水泥层破坏</a:t>
            </a:r>
            <a:endParaRPr kumimoji="0" lang="en-US" altLang="zh-CN" sz="3200" b="1" i="0" u="none" strike="noStrike" kern="1200" cap="none" spc="0" normalizeH="0" baseline="0" noProof="0" dirty="0" smtClean="0">
              <a:ln>
                <a:noFill/>
              </a:ln>
              <a:solidFill>
                <a:schemeClr val="tx1"/>
              </a:solidFill>
              <a:effectLst/>
              <a:uLnTx/>
              <a:uFillTx/>
              <a:latin typeface="楷体" pitchFamily="49" charset="-122"/>
              <a:ea typeface="楷体" pitchFamily="49" charset="-122"/>
              <a:cs typeface="+mn-cs"/>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内容占位符 2"/>
          <p:cNvSpPr>
            <a:spLocks noGrp="1"/>
          </p:cNvSpPr>
          <p:nvPr>
            <p:ph idx="1"/>
          </p:nvPr>
        </p:nvSpPr>
        <p:spPr>
          <a:xfrm>
            <a:off x="1285852" y="1928802"/>
            <a:ext cx="4500594" cy="714380"/>
          </a:xfrm>
        </p:spPr>
        <p:txBody>
          <a:bodyPr/>
          <a:lstStyle/>
          <a:p>
            <a:pPr marL="0" indent="0" eaLnBrk="1" hangingPunct="1">
              <a:buFontTx/>
              <a:buNone/>
            </a:pPr>
            <a:r>
              <a:rPr lang="zh-CN" altLang="en-US" sz="3200" b="1" kern="1200" dirty="0" smtClean="0">
                <a:solidFill>
                  <a:schemeClr val="tx1"/>
                </a:solidFill>
                <a:latin typeface="楷体" pitchFamily="49" charset="-122"/>
                <a:ea typeface="楷体" pitchFamily="49" charset="-122"/>
              </a:rPr>
              <a:t>氯离子扩散系数实验：</a:t>
            </a:r>
            <a:endParaRPr lang="en-US" altLang="zh-CN" sz="3200" b="1" kern="1200" dirty="0" smtClean="0">
              <a:solidFill>
                <a:schemeClr val="tx1"/>
              </a:solidFill>
              <a:latin typeface="楷体" pitchFamily="49" charset="-122"/>
              <a:ea typeface="楷体" pitchFamily="49" charset="-122"/>
            </a:endParaRPr>
          </a:p>
          <a:p>
            <a:pPr marL="0" indent="0" eaLnBrk="1" hangingPunct="1">
              <a:buFontTx/>
              <a:buNone/>
            </a:pPr>
            <a:endParaRPr lang="en-US" altLang="zh-CN" sz="3200" b="1" kern="1200" dirty="0" smtClean="0">
              <a:solidFill>
                <a:schemeClr val="tx1"/>
              </a:solidFill>
              <a:latin typeface="楷体" pitchFamily="49" charset="-122"/>
              <a:ea typeface="楷体" pitchFamily="49" charset="-122"/>
            </a:endParaRPr>
          </a:p>
        </p:txBody>
      </p:sp>
      <p:sp>
        <p:nvSpPr>
          <p:cNvPr id="10" name="标题 1"/>
          <p:cNvSpPr>
            <a:spLocks noGrp="1"/>
          </p:cNvSpPr>
          <p:nvPr>
            <p:ph type="title"/>
          </p:nvPr>
        </p:nvSpPr>
        <p:spPr>
          <a:xfrm>
            <a:off x="1295400" y="685800"/>
            <a:ext cx="7391400" cy="609600"/>
          </a:xfrm>
        </p:spPr>
        <p:txBody>
          <a:bodyPr/>
          <a:lstStyle/>
          <a:p>
            <a:pPr eaLnBrk="1" hangingPunct="1"/>
            <a:r>
              <a:rPr lang="zh-CN" altLang="en-US" b="1" dirty="0" smtClean="0">
                <a:solidFill>
                  <a:schemeClr val="bg1"/>
                </a:solidFill>
                <a:latin typeface="微软雅黑" pitchFamily="34" charset="-122"/>
                <a:ea typeface="微软雅黑" pitchFamily="34" charset="-122"/>
              </a:rPr>
              <a:t>抗渗性</a:t>
            </a:r>
          </a:p>
        </p:txBody>
      </p:sp>
      <p:graphicFrame>
        <p:nvGraphicFramePr>
          <p:cNvPr id="8" name="表格 7"/>
          <p:cNvGraphicFramePr>
            <a:graphicFrameLocks noGrp="1"/>
          </p:cNvGraphicFramePr>
          <p:nvPr/>
        </p:nvGraphicFramePr>
        <p:xfrm>
          <a:off x="1357290" y="2820370"/>
          <a:ext cx="7286676" cy="1463040"/>
        </p:xfrm>
        <a:graphic>
          <a:graphicData uri="http://schemas.openxmlformats.org/drawingml/2006/table">
            <a:tbl>
              <a:tblPr firstRow="1" bandRow="1">
                <a:tableStyleId>{5C22544A-7EE6-4342-B048-85BDC9FD1C3A}</a:tableStyleId>
              </a:tblPr>
              <a:tblGrid>
                <a:gridCol w="2428892"/>
                <a:gridCol w="2428892"/>
                <a:gridCol w="2428892"/>
              </a:tblGrid>
              <a:tr h="640080">
                <a:tc>
                  <a:txBody>
                    <a:bodyPr/>
                    <a:lstStyle/>
                    <a:p>
                      <a:pPr algn="ctr"/>
                      <a:r>
                        <a:rPr lang="zh-CN" altLang="en-US" sz="2400" b="1" dirty="0" smtClean="0"/>
                        <a:t>序号</a:t>
                      </a:r>
                      <a:endParaRPr lang="zh-CN" altLang="en-US" sz="2400" b="1" dirty="0"/>
                    </a:p>
                  </a:txBody>
                  <a:tcPr anchor="ctr"/>
                </a:tc>
                <a:tc>
                  <a:txBody>
                    <a:bodyPr/>
                    <a:lstStyle/>
                    <a:p>
                      <a:pPr algn="ctr"/>
                      <a:r>
                        <a:rPr lang="en-US" altLang="zh-CN" sz="2400" b="1" dirty="0" smtClean="0"/>
                        <a:t>1</a:t>
                      </a:r>
                      <a:endParaRPr lang="zh-CN" altLang="en-US" sz="2400" b="1" dirty="0"/>
                    </a:p>
                  </a:txBody>
                  <a:tcPr anchor="ctr"/>
                </a:tc>
                <a:tc>
                  <a:txBody>
                    <a:bodyPr/>
                    <a:lstStyle/>
                    <a:p>
                      <a:pPr algn="ctr"/>
                      <a:r>
                        <a:rPr lang="en-US" altLang="zh-CN" sz="2400" b="1" dirty="0" smtClean="0"/>
                        <a:t>2</a:t>
                      </a:r>
                      <a:endParaRPr lang="zh-CN" altLang="en-US" sz="2400" b="1" dirty="0"/>
                    </a:p>
                  </a:txBody>
                  <a:tcPr anchor="ctr"/>
                </a:tc>
              </a:tr>
              <a:tr h="640080">
                <a:tc>
                  <a:txBody>
                    <a:bodyPr/>
                    <a:lstStyle/>
                    <a:p>
                      <a:pPr algn="ctr"/>
                      <a:r>
                        <a:rPr lang="zh-CN" altLang="en-US" sz="2400" b="1" dirty="0" smtClean="0"/>
                        <a:t>氯离子扩散系数</a:t>
                      </a:r>
                      <a:r>
                        <a:rPr lang="en-US" altLang="zh-CN" sz="2400" b="1" dirty="0" smtClean="0"/>
                        <a:t>(cm</a:t>
                      </a:r>
                      <a:r>
                        <a:rPr lang="en-US" altLang="zh-CN" sz="2400" b="1" baseline="30000" dirty="0" smtClean="0"/>
                        <a:t>2</a:t>
                      </a:r>
                      <a:r>
                        <a:rPr lang="en-US" altLang="zh-CN" sz="2400" b="1" dirty="0" smtClean="0"/>
                        <a:t>/s)</a:t>
                      </a:r>
                      <a:endParaRPr lang="zh-CN" altLang="en-US" sz="2400" b="1" dirty="0"/>
                    </a:p>
                  </a:txBody>
                  <a:tcPr anchor="ctr"/>
                </a:tc>
                <a:tc>
                  <a:txBody>
                    <a:bodyPr/>
                    <a:lstStyle/>
                    <a:p>
                      <a:pPr algn="ctr"/>
                      <a:r>
                        <a:rPr lang="en-US" sz="2400" b="1" kern="1200" dirty="0" smtClean="0">
                          <a:solidFill>
                            <a:schemeClr val="dk1"/>
                          </a:solidFill>
                          <a:latin typeface="+mn-lt"/>
                          <a:ea typeface="+mn-ea"/>
                          <a:cs typeface="+mn-cs"/>
                        </a:rPr>
                        <a:t>1.57704x10</a:t>
                      </a:r>
                      <a:r>
                        <a:rPr lang="en-US" sz="2400" b="1" kern="1200" baseline="30000" dirty="0" smtClean="0">
                          <a:solidFill>
                            <a:schemeClr val="dk1"/>
                          </a:solidFill>
                          <a:latin typeface="+mn-lt"/>
                          <a:ea typeface="+mn-ea"/>
                          <a:cs typeface="+mn-cs"/>
                        </a:rPr>
                        <a:t>-8</a:t>
                      </a:r>
                      <a:endParaRPr lang="zh-CN" altLang="en-US" sz="2400" b="1" baseline="30000" dirty="0"/>
                    </a:p>
                  </a:txBody>
                  <a:tcPr anchor="ctr"/>
                </a:tc>
                <a:tc>
                  <a:txBody>
                    <a:bodyPr/>
                    <a:lstStyle/>
                    <a:p>
                      <a:pPr algn="ctr"/>
                      <a:r>
                        <a:rPr lang="en-US" sz="2400" b="1" kern="1200" dirty="0" smtClean="0">
                          <a:solidFill>
                            <a:schemeClr val="dk1"/>
                          </a:solidFill>
                          <a:latin typeface="+mn-lt"/>
                          <a:ea typeface="+mn-ea"/>
                          <a:cs typeface="+mn-cs"/>
                        </a:rPr>
                        <a:t>1.71984x10</a:t>
                      </a:r>
                      <a:r>
                        <a:rPr lang="en-US" altLang="zh-CN" sz="2400" b="1" kern="1200" baseline="30000" dirty="0" smtClean="0">
                          <a:solidFill>
                            <a:schemeClr val="dk1"/>
                          </a:solidFill>
                          <a:latin typeface="+mn-lt"/>
                          <a:ea typeface="+mn-ea"/>
                          <a:cs typeface="+mn-cs"/>
                        </a:rPr>
                        <a:t>-</a:t>
                      </a:r>
                      <a:r>
                        <a:rPr lang="en-US" sz="2400" b="1" kern="1200" baseline="30000" dirty="0" smtClean="0">
                          <a:solidFill>
                            <a:schemeClr val="dk1"/>
                          </a:solidFill>
                          <a:latin typeface="+mn-lt"/>
                          <a:ea typeface="+mn-ea"/>
                          <a:cs typeface="+mn-cs"/>
                        </a:rPr>
                        <a:t>8</a:t>
                      </a:r>
                      <a:endParaRPr lang="zh-CN" altLang="en-US" sz="2400" b="1" baseline="30000" dirty="0"/>
                    </a:p>
                  </a:txBody>
                  <a:tcPr anchor="ctr"/>
                </a:tc>
              </a:tr>
            </a:tbl>
          </a:graphicData>
        </a:graphic>
      </p:graphicFrame>
      <p:sp>
        <p:nvSpPr>
          <p:cNvPr id="6" name="内容占位符 2"/>
          <p:cNvSpPr txBox="1">
            <a:spLocks/>
          </p:cNvSpPr>
          <p:nvPr/>
        </p:nvSpPr>
        <p:spPr bwMode="auto">
          <a:xfrm>
            <a:off x="1285852" y="4714884"/>
            <a:ext cx="7358114" cy="164307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eaLnBrk="1" hangingPunct="1">
              <a:spcBef>
                <a:spcPct val="20000"/>
              </a:spcBef>
            </a:pPr>
            <a:r>
              <a:rPr lang="en-US" altLang="zh-CN" sz="3200" b="1" dirty="0">
                <a:latin typeface="楷体" pitchFamily="49" charset="-122"/>
                <a:ea typeface="楷体" pitchFamily="49" charset="-122"/>
              </a:rPr>
              <a:t>C60</a:t>
            </a:r>
            <a:r>
              <a:rPr lang="zh-CN" altLang="en-US" sz="3200" b="1" dirty="0">
                <a:latin typeface="楷体" pitchFamily="49" charset="-122"/>
                <a:ea typeface="楷体" pitchFamily="49" charset="-122"/>
              </a:rPr>
              <a:t>及以上混凝土要求氯离子</a:t>
            </a:r>
            <a:r>
              <a:rPr lang="zh-CN" altLang="en-US" sz="3200" b="1" dirty="0" smtClean="0">
                <a:latin typeface="楷体" pitchFamily="49" charset="-122"/>
                <a:ea typeface="楷体" pitchFamily="49" charset="-122"/>
              </a:rPr>
              <a:t>扩散系数范围为</a:t>
            </a:r>
            <a:r>
              <a:rPr lang="en-US" altLang="zh-CN" sz="3200" b="1" dirty="0" smtClean="0">
                <a:latin typeface="楷体" pitchFamily="49" charset="-122"/>
                <a:ea typeface="楷体" pitchFamily="49" charset="-122"/>
              </a:rPr>
              <a:t>0.9</a:t>
            </a:r>
            <a:r>
              <a:rPr lang="en-US" altLang="en-US" sz="3200" b="1" dirty="0" smtClean="0">
                <a:latin typeface="楷体" pitchFamily="49" charset="-122"/>
                <a:ea typeface="楷体" pitchFamily="49" charset="-122"/>
              </a:rPr>
              <a:t>x10</a:t>
            </a:r>
            <a:r>
              <a:rPr lang="en-US" altLang="en-US" sz="3200" b="1" baseline="30000" dirty="0" smtClean="0">
                <a:latin typeface="楷体" pitchFamily="49" charset="-122"/>
                <a:ea typeface="楷体" pitchFamily="49" charset="-122"/>
              </a:rPr>
              <a:t>-8</a:t>
            </a:r>
            <a:r>
              <a:rPr lang="en-US" altLang="zh-CN" sz="3200" b="1" dirty="0" smtClean="0">
                <a:latin typeface="微软雅黑" pitchFamily="34" charset="-122"/>
                <a:ea typeface="微软雅黑" pitchFamily="34" charset="-122"/>
              </a:rPr>
              <a:t>~</a:t>
            </a:r>
            <a:r>
              <a:rPr lang="en-US" altLang="zh-CN" sz="3200" b="1" dirty="0" smtClean="0">
                <a:latin typeface="楷体" pitchFamily="49" charset="-122"/>
                <a:ea typeface="楷体" pitchFamily="49" charset="-122"/>
              </a:rPr>
              <a:t>2.0</a:t>
            </a:r>
            <a:r>
              <a:rPr lang="en-US" altLang="en-US" sz="3200" b="1" dirty="0" smtClean="0">
                <a:latin typeface="楷体" pitchFamily="49" charset="-122"/>
                <a:ea typeface="楷体" pitchFamily="49" charset="-122"/>
              </a:rPr>
              <a:t>x10</a:t>
            </a:r>
            <a:r>
              <a:rPr lang="en-US" altLang="en-US" sz="3200" b="1" baseline="30000" dirty="0" smtClean="0">
                <a:latin typeface="楷体" pitchFamily="49" charset="-122"/>
                <a:ea typeface="楷体" pitchFamily="49" charset="-122"/>
              </a:rPr>
              <a:t>-8</a:t>
            </a:r>
            <a:r>
              <a:rPr lang="zh-CN" altLang="en-US" sz="3200" b="1" dirty="0" smtClean="0">
                <a:latin typeface="楷体" pitchFamily="49" charset="-122"/>
                <a:ea typeface="楷体" pitchFamily="49" charset="-122"/>
              </a:rPr>
              <a:t>，混凝土抗渗性符合设计要求。</a:t>
            </a:r>
            <a:endParaRPr lang="en-US" altLang="zh-CN" sz="3200" b="1" baseline="30000" dirty="0">
              <a:latin typeface="楷体" pitchFamily="49" charset="-122"/>
              <a:ea typeface="楷体" pitchFamily="49" charset="-122"/>
            </a:endParaRPr>
          </a:p>
          <a:p>
            <a:pPr marL="0" marR="0" lvl="0" indent="0" algn="l" defTabSz="914400" rtl="0" eaLnBrk="1" fontAlgn="base" latinLnBrk="0" hangingPunct="1">
              <a:lnSpc>
                <a:spcPct val="100000"/>
              </a:lnSpc>
              <a:spcBef>
                <a:spcPct val="20000"/>
              </a:spcBef>
              <a:spcAft>
                <a:spcPct val="0"/>
              </a:spcAft>
              <a:buClrTx/>
              <a:buSzTx/>
              <a:buFontTx/>
              <a:buNone/>
              <a:tabLst/>
              <a:defRPr/>
            </a:pPr>
            <a:endParaRPr kumimoji="0" lang="en-US" altLang="zh-CN" sz="3200" b="1" i="0" u="none" strike="noStrike" kern="1200" cap="none" spc="0" normalizeH="0" baseline="0" noProof="0" dirty="0" smtClean="0">
              <a:ln>
                <a:noFill/>
              </a:ln>
              <a:solidFill>
                <a:schemeClr val="tx1"/>
              </a:solidFill>
              <a:effectLst/>
              <a:uLnTx/>
              <a:uFillTx/>
              <a:latin typeface="楷体" pitchFamily="49" charset="-122"/>
              <a:ea typeface="楷体" pitchFamily="49" charset="-122"/>
              <a:cs typeface="+mn-cs"/>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内容占位符 2"/>
          <p:cNvSpPr>
            <a:spLocks noGrp="1"/>
          </p:cNvSpPr>
          <p:nvPr>
            <p:ph idx="1"/>
          </p:nvPr>
        </p:nvSpPr>
        <p:spPr>
          <a:xfrm>
            <a:off x="1214414" y="2643182"/>
            <a:ext cx="7786710" cy="3643338"/>
          </a:xfrm>
        </p:spPr>
        <p:txBody>
          <a:bodyPr/>
          <a:lstStyle/>
          <a:p>
            <a:pPr>
              <a:buNone/>
            </a:pPr>
            <a:r>
              <a:rPr lang="en-US" altLang="en-US" sz="3200" b="1" kern="1200" dirty="0" smtClean="0">
                <a:solidFill>
                  <a:schemeClr val="tx1"/>
                </a:solidFill>
                <a:latin typeface="楷体" pitchFamily="49" charset="-122"/>
                <a:ea typeface="楷体" pitchFamily="49" charset="-122"/>
              </a:rPr>
              <a:t>1.</a:t>
            </a:r>
            <a:r>
              <a:rPr lang="zh-CN" altLang="en-US" sz="3200" b="1" kern="1200" dirty="0" smtClean="0">
                <a:solidFill>
                  <a:schemeClr val="tx1"/>
                </a:solidFill>
                <a:latin typeface="楷体" pitchFamily="49" charset="-122"/>
                <a:ea typeface="楷体" pitchFamily="49" charset="-122"/>
              </a:rPr>
              <a:t>水胶比对氯离子扩散系数的</a:t>
            </a:r>
            <a:r>
              <a:rPr lang="zh-CN" altLang="en-US" sz="3200" b="1" kern="1200" dirty="0" smtClean="0">
                <a:solidFill>
                  <a:schemeClr val="tx1"/>
                </a:solidFill>
                <a:latin typeface="楷体" pitchFamily="49" charset="-122"/>
                <a:ea typeface="楷体" pitchFamily="49" charset="-122"/>
              </a:rPr>
              <a:t>影响</a:t>
            </a:r>
            <a:endParaRPr lang="en-US" altLang="zh-CN" sz="3200" b="1" kern="1200" dirty="0" smtClean="0">
              <a:solidFill>
                <a:schemeClr val="tx1"/>
              </a:solidFill>
              <a:latin typeface="楷体" pitchFamily="49" charset="-122"/>
              <a:ea typeface="楷体" pitchFamily="49" charset="-122"/>
            </a:endParaRPr>
          </a:p>
          <a:p>
            <a:pPr>
              <a:buNone/>
            </a:pPr>
            <a:r>
              <a:rPr lang="en-US" altLang="zh-CN" sz="3200" kern="1200" dirty="0" smtClean="0">
                <a:solidFill>
                  <a:schemeClr val="tx1"/>
                </a:solidFill>
                <a:latin typeface="楷体" pitchFamily="49" charset="-122"/>
                <a:ea typeface="楷体" pitchFamily="49" charset="-122"/>
              </a:rPr>
              <a:t>  </a:t>
            </a:r>
            <a:r>
              <a:rPr lang="zh-CN" altLang="en-US" sz="3200" kern="1200" dirty="0" smtClean="0">
                <a:solidFill>
                  <a:schemeClr val="tx1"/>
                </a:solidFill>
                <a:latin typeface="楷体" pitchFamily="49" charset="-122"/>
                <a:ea typeface="楷体" pitchFamily="49" charset="-122"/>
              </a:rPr>
              <a:t>水</a:t>
            </a:r>
            <a:r>
              <a:rPr lang="zh-CN" altLang="en-US" sz="3200" kern="1200" dirty="0" smtClean="0">
                <a:solidFill>
                  <a:schemeClr val="tx1"/>
                </a:solidFill>
                <a:latin typeface="楷体" pitchFamily="49" charset="-122"/>
                <a:ea typeface="楷体" pitchFamily="49" charset="-122"/>
              </a:rPr>
              <a:t>胶比是反映混凝土密实度的一个重要指标，水胶比的大小体现了混凝土抵抗氯离子侵入的</a:t>
            </a:r>
            <a:r>
              <a:rPr lang="zh-CN" altLang="en-US" sz="3200" kern="1200" dirty="0" smtClean="0">
                <a:solidFill>
                  <a:schemeClr val="tx1"/>
                </a:solidFill>
                <a:latin typeface="楷体" pitchFamily="49" charset="-122"/>
                <a:ea typeface="楷体" pitchFamily="49" charset="-122"/>
              </a:rPr>
              <a:t>能力，氯</a:t>
            </a:r>
            <a:r>
              <a:rPr lang="zh-CN" altLang="en-US" sz="3200" kern="1200" dirty="0" smtClean="0">
                <a:solidFill>
                  <a:schemeClr val="tx1"/>
                </a:solidFill>
                <a:latin typeface="楷体" pitchFamily="49" charset="-122"/>
                <a:ea typeface="楷体" pitchFamily="49" charset="-122"/>
              </a:rPr>
              <a:t>离子扩散系数与水胶比基本呈正相关</a:t>
            </a:r>
            <a:r>
              <a:rPr lang="zh-CN" altLang="en-US" sz="3200" kern="1200" dirty="0" smtClean="0">
                <a:solidFill>
                  <a:schemeClr val="tx1"/>
                </a:solidFill>
                <a:latin typeface="楷体" pitchFamily="49" charset="-122"/>
                <a:ea typeface="楷体" pitchFamily="49" charset="-122"/>
              </a:rPr>
              <a:t>线性关系。</a:t>
            </a:r>
            <a:endParaRPr lang="zh-CN" altLang="en-US" sz="3200" kern="1200" dirty="0" smtClean="0">
              <a:solidFill>
                <a:schemeClr val="tx1"/>
              </a:solidFill>
              <a:latin typeface="楷体" pitchFamily="49" charset="-122"/>
              <a:ea typeface="楷体" pitchFamily="49" charset="-122"/>
            </a:endParaRPr>
          </a:p>
        </p:txBody>
      </p:sp>
      <p:sp>
        <p:nvSpPr>
          <p:cNvPr id="10" name="标题 1"/>
          <p:cNvSpPr>
            <a:spLocks noGrp="1"/>
          </p:cNvSpPr>
          <p:nvPr>
            <p:ph type="title"/>
          </p:nvPr>
        </p:nvSpPr>
        <p:spPr>
          <a:xfrm>
            <a:off x="1295400" y="685800"/>
            <a:ext cx="7391400" cy="609600"/>
          </a:xfrm>
        </p:spPr>
        <p:txBody>
          <a:bodyPr/>
          <a:lstStyle/>
          <a:p>
            <a:pPr eaLnBrk="1" hangingPunct="1"/>
            <a:r>
              <a:rPr lang="zh-CN" altLang="en-US" b="1" dirty="0" smtClean="0">
                <a:solidFill>
                  <a:schemeClr val="bg1"/>
                </a:solidFill>
                <a:latin typeface="微软雅黑" pitchFamily="34" charset="-122"/>
                <a:ea typeface="微软雅黑" pitchFamily="34" charset="-122"/>
              </a:rPr>
              <a:t>氯</a:t>
            </a:r>
            <a:r>
              <a:rPr lang="zh-CN" altLang="en-US" b="1" dirty="0" smtClean="0">
                <a:solidFill>
                  <a:schemeClr val="bg1"/>
                </a:solidFill>
                <a:latin typeface="微软雅黑" pitchFamily="34" charset="-122"/>
                <a:ea typeface="微软雅黑" pitchFamily="34" charset="-122"/>
              </a:rPr>
              <a:t>离子</a:t>
            </a:r>
            <a:r>
              <a:rPr lang="zh-CN" altLang="en-US" b="1" dirty="0" smtClean="0">
                <a:solidFill>
                  <a:schemeClr val="bg1"/>
                </a:solidFill>
                <a:latin typeface="微软雅黑" pitchFamily="34" charset="-122"/>
                <a:ea typeface="微软雅黑" pitchFamily="34" charset="-122"/>
              </a:rPr>
              <a:t>扩散系数的影响因素</a:t>
            </a:r>
            <a:endParaRPr lang="zh-CN" altLang="en-US" b="1" dirty="0" smtClean="0">
              <a:solidFill>
                <a:schemeClr val="bg1"/>
              </a:solidFill>
              <a:latin typeface="微软雅黑" pitchFamily="34" charset="-122"/>
              <a:ea typeface="微软雅黑" pitchFamily="34" charset="-122"/>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内容占位符 2"/>
          <p:cNvSpPr>
            <a:spLocks noGrp="1"/>
          </p:cNvSpPr>
          <p:nvPr>
            <p:ph idx="1"/>
          </p:nvPr>
        </p:nvSpPr>
        <p:spPr>
          <a:xfrm>
            <a:off x="1285852" y="3000372"/>
            <a:ext cx="7286676" cy="1928826"/>
          </a:xfrm>
        </p:spPr>
        <p:txBody>
          <a:bodyPr/>
          <a:lstStyle/>
          <a:p>
            <a:pPr>
              <a:buNone/>
            </a:pPr>
            <a:r>
              <a:rPr lang="en-US" altLang="en-US" sz="3200" b="1" kern="1200" dirty="0" smtClean="0">
                <a:solidFill>
                  <a:schemeClr val="tx1"/>
                </a:solidFill>
                <a:latin typeface="楷体" pitchFamily="49" charset="-122"/>
                <a:ea typeface="楷体" pitchFamily="49" charset="-122"/>
              </a:rPr>
              <a:t>2.</a:t>
            </a:r>
            <a:r>
              <a:rPr lang="zh-CN" altLang="en-US" sz="3200" b="1" kern="1200" dirty="0" smtClean="0">
                <a:solidFill>
                  <a:schemeClr val="tx1"/>
                </a:solidFill>
                <a:latin typeface="楷体" pitchFamily="49" charset="-122"/>
                <a:ea typeface="楷体" pitchFamily="49" charset="-122"/>
              </a:rPr>
              <a:t>矿物掺合料对氯离子扩散系数的</a:t>
            </a:r>
            <a:r>
              <a:rPr lang="zh-CN" altLang="en-US" sz="3200" b="1" kern="1200" dirty="0" smtClean="0">
                <a:solidFill>
                  <a:schemeClr val="tx1"/>
                </a:solidFill>
                <a:latin typeface="楷体" pitchFamily="49" charset="-122"/>
                <a:ea typeface="楷体" pitchFamily="49" charset="-122"/>
              </a:rPr>
              <a:t>影响</a:t>
            </a:r>
            <a:endParaRPr lang="en-US" altLang="zh-CN" sz="3200" b="1" kern="1200" dirty="0" smtClean="0">
              <a:solidFill>
                <a:schemeClr val="tx1"/>
              </a:solidFill>
              <a:latin typeface="楷体" pitchFamily="49" charset="-122"/>
              <a:ea typeface="楷体" pitchFamily="49" charset="-122"/>
            </a:endParaRPr>
          </a:p>
          <a:p>
            <a:pPr>
              <a:buNone/>
            </a:pPr>
            <a:r>
              <a:rPr lang="zh-CN" altLang="en-US" sz="3200" kern="1200" dirty="0" smtClean="0">
                <a:solidFill>
                  <a:schemeClr val="tx1"/>
                </a:solidFill>
                <a:latin typeface="楷体" pitchFamily="49" charset="-122"/>
                <a:ea typeface="楷体" pitchFamily="49" charset="-122"/>
              </a:rPr>
              <a:t>  加入</a:t>
            </a:r>
            <a:r>
              <a:rPr lang="zh-CN" altLang="en-US" sz="3200" kern="1200" dirty="0" smtClean="0">
                <a:solidFill>
                  <a:schemeClr val="tx1"/>
                </a:solidFill>
                <a:latin typeface="楷体" pitchFamily="49" charset="-122"/>
                <a:ea typeface="楷体" pitchFamily="49" charset="-122"/>
              </a:rPr>
              <a:t>矿物掺合料后，混凝土氯离子</a:t>
            </a:r>
            <a:r>
              <a:rPr lang="zh-CN" altLang="en-US" sz="3200" kern="1200" dirty="0" smtClean="0">
                <a:solidFill>
                  <a:schemeClr val="tx1"/>
                </a:solidFill>
                <a:latin typeface="楷体" pitchFamily="49" charset="-122"/>
                <a:ea typeface="楷体" pitchFamily="49" charset="-122"/>
              </a:rPr>
              <a:t>扩散系数降低</a:t>
            </a:r>
            <a:r>
              <a:rPr lang="zh-CN" altLang="en-US" sz="3200" kern="1200" dirty="0" smtClean="0">
                <a:solidFill>
                  <a:schemeClr val="tx1"/>
                </a:solidFill>
                <a:latin typeface="Calibri" panose="020F0502020204030204" pitchFamily="34" charset="0"/>
              </a:rPr>
              <a:t>。</a:t>
            </a:r>
            <a:endParaRPr lang="zh-CN" altLang="en-US" sz="3200" kern="1200" dirty="0" smtClean="0">
              <a:solidFill>
                <a:schemeClr val="tx1"/>
              </a:solidFill>
              <a:latin typeface="Calibri" panose="020F0502020204030204" pitchFamily="34" charset="0"/>
            </a:endParaRPr>
          </a:p>
          <a:p>
            <a:pPr>
              <a:buNone/>
            </a:pPr>
            <a:endParaRPr lang="zh-CN" altLang="en-US" sz="3200" kern="1200" dirty="0" smtClean="0">
              <a:solidFill>
                <a:schemeClr val="tx1"/>
              </a:solidFill>
              <a:latin typeface="楷体" pitchFamily="49" charset="-122"/>
              <a:ea typeface="楷体" pitchFamily="49" charset="-122"/>
            </a:endParaRPr>
          </a:p>
        </p:txBody>
      </p:sp>
      <p:sp>
        <p:nvSpPr>
          <p:cNvPr id="10" name="标题 1"/>
          <p:cNvSpPr>
            <a:spLocks noGrp="1"/>
          </p:cNvSpPr>
          <p:nvPr>
            <p:ph type="title"/>
          </p:nvPr>
        </p:nvSpPr>
        <p:spPr>
          <a:xfrm>
            <a:off x="1295400" y="685800"/>
            <a:ext cx="7391400" cy="609600"/>
          </a:xfrm>
        </p:spPr>
        <p:txBody>
          <a:bodyPr/>
          <a:lstStyle/>
          <a:p>
            <a:pPr eaLnBrk="1" hangingPunct="1"/>
            <a:r>
              <a:rPr lang="zh-CN" altLang="en-US" b="1" dirty="0" smtClean="0">
                <a:solidFill>
                  <a:schemeClr val="bg1"/>
                </a:solidFill>
                <a:latin typeface="微软雅黑" pitchFamily="34" charset="-122"/>
                <a:ea typeface="微软雅黑" pitchFamily="34" charset="-122"/>
              </a:rPr>
              <a:t>氯</a:t>
            </a:r>
            <a:r>
              <a:rPr lang="zh-CN" altLang="en-US" b="1" dirty="0" smtClean="0">
                <a:solidFill>
                  <a:schemeClr val="bg1"/>
                </a:solidFill>
                <a:latin typeface="微软雅黑" pitchFamily="34" charset="-122"/>
                <a:ea typeface="微软雅黑" pitchFamily="34" charset="-122"/>
              </a:rPr>
              <a:t>离子</a:t>
            </a:r>
            <a:r>
              <a:rPr lang="zh-CN" altLang="en-US" b="1" dirty="0" smtClean="0">
                <a:solidFill>
                  <a:schemeClr val="bg1"/>
                </a:solidFill>
                <a:latin typeface="微软雅黑" pitchFamily="34" charset="-122"/>
                <a:ea typeface="微软雅黑" pitchFamily="34" charset="-122"/>
              </a:rPr>
              <a:t>扩散系数的影响因素</a:t>
            </a:r>
            <a:endParaRPr lang="zh-CN" altLang="en-US" b="1" dirty="0" smtClean="0">
              <a:solidFill>
                <a:schemeClr val="bg1"/>
              </a:solidFill>
              <a:latin typeface="微软雅黑" pitchFamily="34" charset="-122"/>
              <a:ea typeface="微软雅黑" pitchFamily="34" charset="-122"/>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内容占位符 2"/>
          <p:cNvSpPr>
            <a:spLocks noGrp="1"/>
          </p:cNvSpPr>
          <p:nvPr>
            <p:ph idx="1"/>
          </p:nvPr>
        </p:nvSpPr>
        <p:spPr>
          <a:xfrm>
            <a:off x="1214414" y="2643182"/>
            <a:ext cx="7786710" cy="3643338"/>
          </a:xfrm>
        </p:spPr>
        <p:txBody>
          <a:bodyPr/>
          <a:lstStyle/>
          <a:p>
            <a:pPr>
              <a:buNone/>
            </a:pPr>
            <a:r>
              <a:rPr lang="en-US" altLang="en-US" sz="3200" b="1" kern="1200" dirty="0" smtClean="0">
                <a:solidFill>
                  <a:schemeClr val="tx1"/>
                </a:solidFill>
                <a:latin typeface="楷体" pitchFamily="49" charset="-122"/>
                <a:ea typeface="楷体" pitchFamily="49" charset="-122"/>
              </a:rPr>
              <a:t>3.</a:t>
            </a:r>
            <a:r>
              <a:rPr lang="zh-CN" altLang="en-US" sz="3200" b="1" kern="1200" dirty="0" smtClean="0">
                <a:solidFill>
                  <a:schemeClr val="tx1"/>
                </a:solidFill>
                <a:latin typeface="楷体" pitchFamily="49" charset="-122"/>
                <a:ea typeface="楷体" pitchFamily="49" charset="-122"/>
              </a:rPr>
              <a:t>骨料</a:t>
            </a:r>
            <a:r>
              <a:rPr lang="zh-CN" altLang="en-US" sz="3200" b="1" kern="1200" dirty="0" smtClean="0">
                <a:solidFill>
                  <a:schemeClr val="tx1"/>
                </a:solidFill>
                <a:latin typeface="楷体" pitchFamily="49" charset="-122"/>
                <a:ea typeface="楷体" pitchFamily="49" charset="-122"/>
              </a:rPr>
              <a:t>对氯离子扩散系数的影响</a:t>
            </a:r>
            <a:endParaRPr lang="en-US" altLang="zh-CN" sz="3200" b="1" kern="1200" dirty="0" smtClean="0">
              <a:solidFill>
                <a:schemeClr val="tx1"/>
              </a:solidFill>
              <a:latin typeface="楷体" pitchFamily="49" charset="-122"/>
              <a:ea typeface="楷体" pitchFamily="49" charset="-122"/>
            </a:endParaRPr>
          </a:p>
          <a:p>
            <a:pPr>
              <a:buNone/>
            </a:pPr>
            <a:r>
              <a:rPr lang="en-US" altLang="zh-CN" sz="3200" kern="1200" dirty="0" smtClean="0">
                <a:solidFill>
                  <a:schemeClr val="tx1"/>
                </a:solidFill>
                <a:latin typeface="楷体" pitchFamily="49" charset="-122"/>
                <a:ea typeface="楷体" pitchFamily="49" charset="-122"/>
              </a:rPr>
              <a:t>  </a:t>
            </a:r>
            <a:r>
              <a:rPr lang="zh-CN" altLang="en-US" sz="3200" kern="1200" dirty="0" smtClean="0">
                <a:solidFill>
                  <a:schemeClr val="tx1"/>
                </a:solidFill>
                <a:latin typeface="楷体" pitchFamily="49" charset="-122"/>
                <a:ea typeface="楷体" pitchFamily="49" charset="-122"/>
              </a:rPr>
              <a:t>随着</a:t>
            </a:r>
            <a:r>
              <a:rPr lang="zh-CN" altLang="en-US" sz="3200" kern="1200" dirty="0" smtClean="0">
                <a:solidFill>
                  <a:schemeClr val="tx1"/>
                </a:solidFill>
                <a:latin typeface="楷体" pitchFamily="49" charset="-122"/>
                <a:ea typeface="楷体" pitchFamily="49" charset="-122"/>
              </a:rPr>
              <a:t>最大骨料直径的增大，氯离子扩散系数</a:t>
            </a:r>
            <a:r>
              <a:rPr lang="zh-CN" altLang="en-US" sz="3200" kern="1200" dirty="0" smtClean="0">
                <a:solidFill>
                  <a:schemeClr val="tx1"/>
                </a:solidFill>
                <a:latin typeface="楷体" pitchFamily="49" charset="-122"/>
                <a:ea typeface="楷体" pitchFamily="49" charset="-122"/>
              </a:rPr>
              <a:t>降低。因为</a:t>
            </a:r>
            <a:r>
              <a:rPr lang="zh-CN" altLang="en-US" sz="3200" kern="1200" dirty="0" smtClean="0">
                <a:solidFill>
                  <a:schemeClr val="tx1"/>
                </a:solidFill>
                <a:latin typeface="楷体" pitchFamily="49" charset="-122"/>
                <a:ea typeface="楷体" pitchFamily="49" charset="-122"/>
              </a:rPr>
              <a:t>随着最大骨料直径的增大，界面体积百分数减小，氯离子扩散系数降低。</a:t>
            </a:r>
          </a:p>
        </p:txBody>
      </p:sp>
      <p:sp>
        <p:nvSpPr>
          <p:cNvPr id="10" name="标题 1"/>
          <p:cNvSpPr>
            <a:spLocks noGrp="1"/>
          </p:cNvSpPr>
          <p:nvPr>
            <p:ph type="title"/>
          </p:nvPr>
        </p:nvSpPr>
        <p:spPr>
          <a:xfrm>
            <a:off x="1295400" y="685800"/>
            <a:ext cx="7391400" cy="609600"/>
          </a:xfrm>
        </p:spPr>
        <p:txBody>
          <a:bodyPr/>
          <a:lstStyle/>
          <a:p>
            <a:pPr eaLnBrk="1" hangingPunct="1"/>
            <a:r>
              <a:rPr lang="zh-CN" altLang="en-US" b="1" dirty="0" smtClean="0">
                <a:solidFill>
                  <a:schemeClr val="bg1"/>
                </a:solidFill>
                <a:latin typeface="微软雅黑" pitchFamily="34" charset="-122"/>
                <a:ea typeface="微软雅黑" pitchFamily="34" charset="-122"/>
              </a:rPr>
              <a:t>氯</a:t>
            </a:r>
            <a:r>
              <a:rPr lang="zh-CN" altLang="en-US" b="1" dirty="0" smtClean="0">
                <a:solidFill>
                  <a:schemeClr val="bg1"/>
                </a:solidFill>
                <a:latin typeface="微软雅黑" pitchFamily="34" charset="-122"/>
                <a:ea typeface="微软雅黑" pitchFamily="34" charset="-122"/>
              </a:rPr>
              <a:t>离子</a:t>
            </a:r>
            <a:r>
              <a:rPr lang="zh-CN" altLang="en-US" b="1" dirty="0" smtClean="0">
                <a:solidFill>
                  <a:schemeClr val="bg1"/>
                </a:solidFill>
                <a:latin typeface="微软雅黑" pitchFamily="34" charset="-122"/>
                <a:ea typeface="微软雅黑" pitchFamily="34" charset="-122"/>
              </a:rPr>
              <a:t>扩散系数的影响因素</a:t>
            </a:r>
            <a:endParaRPr lang="zh-CN" altLang="en-US" b="1" dirty="0" smtClean="0">
              <a:solidFill>
                <a:schemeClr val="bg1"/>
              </a:solidFill>
              <a:latin typeface="微软雅黑" pitchFamily="34" charset="-122"/>
              <a:ea typeface="微软雅黑" pitchFamily="34" charset="-122"/>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文本框 3"/>
          <p:cNvSpPr txBox="1">
            <a:spLocks noChangeArrowheads="1"/>
          </p:cNvSpPr>
          <p:nvPr/>
        </p:nvSpPr>
        <p:spPr bwMode="auto">
          <a:xfrm>
            <a:off x="3486155" y="3606809"/>
            <a:ext cx="2800357" cy="1108075"/>
          </a:xfrm>
          <a:prstGeom prst="rect">
            <a:avLst/>
          </a:prstGeom>
          <a:noFill/>
          <a:ln w="9525">
            <a:noFill/>
            <a:miter lim="800000"/>
            <a:headEnd/>
            <a:tailEnd/>
          </a:ln>
        </p:spPr>
        <p:txBody>
          <a:bodyPr wrap="square">
            <a:spAutoFit/>
          </a:bodyPr>
          <a:lstStyle/>
          <a:p>
            <a:pPr eaLnBrk="1" hangingPunct="1"/>
            <a:r>
              <a:rPr lang="zh-CN" altLang="en-US" sz="6600" b="1" dirty="0" smtClean="0">
                <a:latin typeface="微软雅黑" pitchFamily="34" charset="-122"/>
                <a:ea typeface="微软雅黑" pitchFamily="34" charset="-122"/>
              </a:rPr>
              <a:t>谢谢！</a:t>
            </a:r>
            <a:endParaRPr lang="zh-CN" altLang="en-US" sz="6600" b="1" dirty="0">
              <a:latin typeface="微软雅黑" pitchFamily="34" charset="-122"/>
              <a:ea typeface="微软雅黑" pitchFamily="34" charset="-122"/>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ppt569">
  <a:themeElements>
    <a:clrScheme name="structural_vis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structural_vision">
      <a:majorFont>
        <a:latin typeface="Times New Roman"/>
        <a:ea typeface=""/>
        <a:cs typeface=""/>
      </a:majorFont>
      <a:minorFont>
        <a:latin typeface="Arial Black"/>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tructural_vis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structural_vis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structural_vis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structural_vis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structural_vis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structural_vis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structural_visio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structural_vis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structural_vis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structural_vis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structural_vis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structural_vis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389</TotalTime>
  <Words>1423</Words>
  <Application>Microsoft Office PowerPoint</Application>
  <PresentationFormat>全屏显示(4:3)</PresentationFormat>
  <Paragraphs>189</Paragraphs>
  <Slides>20</Slides>
  <Notes>18</Notes>
  <HiddenSlides>0</HiddenSlides>
  <MMClips>0</MMClips>
  <ScaleCrop>false</ScaleCrop>
  <HeadingPairs>
    <vt:vector size="4" baseType="variant">
      <vt:variant>
        <vt:lpstr>主题</vt:lpstr>
      </vt:variant>
      <vt:variant>
        <vt:i4>1</vt:i4>
      </vt:variant>
      <vt:variant>
        <vt:lpstr>幻灯片标题</vt:lpstr>
      </vt:variant>
      <vt:variant>
        <vt:i4>20</vt:i4>
      </vt:variant>
    </vt:vector>
  </HeadingPairs>
  <TitlesOfParts>
    <vt:vector size="21" baseType="lpstr">
      <vt:lpstr>ppt569</vt:lpstr>
      <vt:lpstr>幻灯片 1</vt:lpstr>
      <vt:lpstr>混凝土性能评价的指标</vt:lpstr>
      <vt:lpstr>高性能混凝土</vt:lpstr>
      <vt:lpstr>回顾——混凝土配合比设计</vt:lpstr>
      <vt:lpstr>混凝土组分的配制</vt:lpstr>
      <vt:lpstr>混凝土组分的配制</vt:lpstr>
      <vt:lpstr>坍落度与扩展度</vt:lpstr>
      <vt:lpstr>坍落度与扩展度</vt:lpstr>
      <vt:lpstr>新拌混凝土的稳定性</vt:lpstr>
      <vt:lpstr>抗压强度</vt:lpstr>
      <vt:lpstr>抗压强度</vt:lpstr>
      <vt:lpstr>抗压强度</vt:lpstr>
      <vt:lpstr>劈裂抗拉强度</vt:lpstr>
      <vt:lpstr>劈裂抗拉强度</vt:lpstr>
      <vt:lpstr>劈裂抗拉强度</vt:lpstr>
      <vt:lpstr>抗渗性</vt:lpstr>
      <vt:lpstr>氯离子扩散系数的影响因素</vt:lpstr>
      <vt:lpstr>氯离子扩散系数的影响因素</vt:lpstr>
      <vt:lpstr>氯离子扩散系数的影响因素</vt:lpstr>
      <vt:lpstr>幻灯片 20</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ppt.glzy8.com提供海量PPT模板免费下载！</dc:title>
  <dc:creator>hp</dc:creator>
  <cp:lastModifiedBy>xzz</cp:lastModifiedBy>
  <cp:revision>28</cp:revision>
  <dcterms:created xsi:type="dcterms:W3CDTF">2010-09-14T06:53:11Z</dcterms:created>
  <dcterms:modified xsi:type="dcterms:W3CDTF">2013-12-24T00:37:45Z</dcterms:modified>
</cp:coreProperties>
</file>