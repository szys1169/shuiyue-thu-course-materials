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18" r:id="rId2"/>
    <p:sldId id="311" r:id="rId3"/>
    <p:sldId id="312" r:id="rId4"/>
    <p:sldId id="313" r:id="rId5"/>
    <p:sldId id="314" r:id="rId6"/>
    <p:sldId id="315" r:id="rId7"/>
    <p:sldId id="319" r:id="rId8"/>
    <p:sldId id="320" r:id="rId9"/>
    <p:sldId id="259" r:id="rId10"/>
    <p:sldId id="279" r:id="rId11"/>
    <p:sldId id="280" r:id="rId12"/>
    <p:sldId id="309" r:id="rId13"/>
    <p:sldId id="281" r:id="rId14"/>
    <p:sldId id="283" r:id="rId15"/>
    <p:sldId id="282" r:id="rId16"/>
    <p:sldId id="284" r:id="rId17"/>
    <p:sldId id="292" r:id="rId18"/>
    <p:sldId id="285" r:id="rId19"/>
    <p:sldId id="310" r:id="rId20"/>
    <p:sldId id="286" r:id="rId21"/>
    <p:sldId id="287" r:id="rId22"/>
    <p:sldId id="288" r:id="rId23"/>
    <p:sldId id="289" r:id="rId24"/>
    <p:sldId id="302" r:id="rId25"/>
    <p:sldId id="303" r:id="rId26"/>
    <p:sldId id="304" r:id="rId27"/>
    <p:sldId id="291" r:id="rId28"/>
    <p:sldId id="296" r:id="rId29"/>
    <p:sldId id="298" r:id="rId30"/>
    <p:sldId id="299" r:id="rId31"/>
    <p:sldId id="305" r:id="rId32"/>
    <p:sldId id="294" r:id="rId33"/>
    <p:sldId id="300" r:id="rId34"/>
    <p:sldId id="306" r:id="rId3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0BFD9"/>
    <a:srgbClr val="7BC3F7"/>
    <a:srgbClr val="F4BA4A"/>
    <a:srgbClr val="CD5134"/>
    <a:srgbClr val="006600"/>
    <a:srgbClr val="0000C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566" y="156"/>
      </p:cViewPr>
      <p:guideLst>
        <p:guide orient="horz" pos="2160"/>
        <p:guide pos="2880"/>
      </p:guideLst>
    </p:cSldViewPr>
  </p:slideViewPr>
  <p:outlineViewPr>
    <p:cViewPr>
      <p:scale>
        <a:sx n="35" d="100"/>
        <a:sy n="3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685DAD96-D8C5-41D2-8D6D-12CB8B6E413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68175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Times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Times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26CBED56-B60C-48EA-8FD8-7EDC973EC0E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4793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宋体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宋体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宋体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宋体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pitchFamily="18" charset="0"/>
        <a:ea typeface="宋体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0418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041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42758FE-B65F-402C-827B-6FAE0B91603A}" type="slidenum">
              <a:rPr kumimoji="0" lang="zh-CN" altLang="en-US" sz="1300">
                <a:solidFill>
                  <a:srgbClr val="000000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pPr/>
              <a:t>3</a:t>
            </a:fld>
            <a:endParaRPr kumimoji="0" lang="en-US" altLang="zh-CN" sz="1300">
              <a:solidFill>
                <a:srgbClr val="000000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3516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144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 smtClean="0">
              <a:ea typeface="宋体" panose="02010600030101010101" pitchFamily="2" charset="-122"/>
            </a:endParaRPr>
          </a:p>
        </p:txBody>
      </p:sp>
      <p:sp>
        <p:nvSpPr>
          <p:cNvPr id="6144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5FB58C9-2584-4447-9BCC-C25202A73E18}" type="slidenum">
              <a:rPr kumimoji="0" lang="zh-CN" altLang="en-US" sz="1300">
                <a:solidFill>
                  <a:srgbClr val="000000"/>
                </a:solidFill>
                <a:latin typeface="Times" panose="02020603050405020304" pitchFamily="18" charset="0"/>
                <a:ea typeface="宋体" panose="02010600030101010101" pitchFamily="2" charset="-122"/>
              </a:rPr>
              <a:pPr/>
              <a:t>4</a:t>
            </a:fld>
            <a:endParaRPr kumimoji="0" lang="en-US" altLang="zh-CN" sz="1300">
              <a:solidFill>
                <a:srgbClr val="000000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6510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76BA68F-DF57-4900-B583-AADAAD7468EA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9551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0149FA5-9DC8-4E7E-9EA8-0E445B169BF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10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5790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4E9BF64-27A1-4691-9B96-0902A696C4D0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11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9911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EEE293F-6C79-470A-8475-E667D3DA3E4C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13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1837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43B35CC-33BD-4472-93D2-5E054E3E22F5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14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8928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1BDE6CD-2BE3-4E96-A858-672D8B4F8724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15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2573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1F8A808-F40A-4E30-AB65-CBA3B6EF608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16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4175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AE24353-A6DE-470F-AE29-F1DB77D48FA0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17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2073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2E4DE83-7D88-4F9A-864D-3810C95654C5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18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841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B2149F5-FCD5-4BF6-A04D-C3FE3D94404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20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8426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74390F6-D899-44A5-8F7D-BB4B45A7D930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21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794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C43579F-2651-4FC6-902F-1D58EA0DB0CB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22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1287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083B874-0600-4BA3-A6DA-CBAF6BD1DFF7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23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9044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A772B99-DC06-4EAB-8D91-BBBD6C41F911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27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8223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CF08F57-78EE-43CA-8343-3FBBD2C80BD2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28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197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2CB5027-795A-4234-A302-7960ECD45E22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29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2186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EE412AF-B89F-4548-820F-B5ABC615825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30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796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93A0309-871E-4A90-99F9-BA620576CCE7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32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522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369C4C7-C733-4A2D-8D89-546988EE3F29}" type="slidenum">
              <a:rPr kumimoji="0" lang="zh-CN" altLang="en-US" sz="1300">
                <a:latin typeface="Times" panose="02020603050405020304" pitchFamily="18" charset="0"/>
                <a:ea typeface="宋体" panose="02010600030101010101" pitchFamily="2" charset="-122"/>
              </a:rPr>
              <a:pPr/>
              <a:t>33</a:t>
            </a:fld>
            <a:endParaRPr kumimoji="0" lang="en-US" altLang="zh-CN" sz="13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543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mtClean="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mtClean="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725488"/>
          </a:xfrm>
          <a:prstGeom prst="rect">
            <a:avLst/>
          </a:prstGeom>
          <a:solidFill>
            <a:srgbClr val="990000"/>
          </a:solidFill>
          <a:ln w="9525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mtClean="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>
            <a:solidFill>
              <a:schemeClr val="bg2"/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840531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9165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5862707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6200"/>
            <a:ext cx="449580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98945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21946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75605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56731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42867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2746888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11234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2700"/>
            <a:ext cx="2286000" cy="65405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2700"/>
            <a:ext cx="6705600" cy="65405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1270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6200"/>
            <a:ext cx="4495800" cy="5207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62958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46200"/>
            <a:ext cx="4495800" cy="25273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25900"/>
            <a:ext cx="4495800" cy="25273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211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346200"/>
            <a:ext cx="9144000" cy="5207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mtClean="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Rectangle 11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mtClean="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Rectangle 14"/>
          <p:cNvSpPr>
            <a:spLocks noChangeArrowheads="1"/>
          </p:cNvSpPr>
          <p:nvPr userDrawn="1"/>
        </p:nvSpPr>
        <p:spPr bwMode="auto">
          <a:xfrm>
            <a:off x="-12700" y="1193800"/>
            <a:ext cx="9144000" cy="152400"/>
          </a:xfrm>
          <a:prstGeom prst="rect">
            <a:avLst/>
          </a:prstGeom>
          <a:solidFill>
            <a:srgbClr val="800000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sp>
        <p:nvSpPr>
          <p:cNvPr id="1030" name="Rectangle 16"/>
          <p:cNvSpPr>
            <a:spLocks noChangeArrowheads="1"/>
          </p:cNvSpPr>
          <p:nvPr userDrawn="1"/>
        </p:nvSpPr>
        <p:spPr bwMode="auto">
          <a:xfrm>
            <a:off x="-15875" y="12700"/>
            <a:ext cx="9144000" cy="1193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87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+mj-lt"/>
          <a:ea typeface="+mj-ea"/>
          <a:cs typeface="楷体_GB2312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itchFamily="34" charset="0"/>
          <a:ea typeface="楷体_GB2312" pitchFamily="49" charset="-122"/>
          <a:cs typeface="楷体_GB231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itchFamily="34" charset="0"/>
          <a:ea typeface="楷体_GB2312" pitchFamily="49" charset="-122"/>
          <a:cs typeface="楷体_GB231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itchFamily="34" charset="0"/>
          <a:ea typeface="楷体_GB2312" pitchFamily="49" charset="-122"/>
          <a:cs typeface="楷体_GB231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itchFamily="34" charset="0"/>
          <a:ea typeface="楷体_GB2312" pitchFamily="49" charset="-122"/>
          <a:cs typeface="楷体_GB231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rgbClr val="000000"/>
          </a:solidFill>
          <a:latin typeface="+mn-lt"/>
          <a:ea typeface="+mn-ea"/>
          <a:cs typeface="楷体_GB2312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rgbClr val="000000"/>
          </a:solidFill>
          <a:latin typeface="+mn-lt"/>
          <a:ea typeface="+mn-ea"/>
          <a:cs typeface="楷体_GB2312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0000"/>
          </a:solidFill>
          <a:latin typeface="+mn-lt"/>
          <a:ea typeface="+mn-ea"/>
          <a:cs typeface="楷体_GB2312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00"/>
          </a:solidFill>
          <a:latin typeface="+mn-lt"/>
          <a:ea typeface="+mn-ea"/>
          <a:cs typeface="楷体_GB2312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  <a:cs typeface="楷体_GB2312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4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32.wmf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2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“校园贷”是什么？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5054"/>
            <a:ext cx="5498696" cy="234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907" y="1355054"/>
            <a:ext cx="3076093" cy="234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8593" t="11764" r="8282" b="7603"/>
          <a:stretch/>
        </p:blipFill>
        <p:spPr>
          <a:xfrm>
            <a:off x="282575" y="3695054"/>
            <a:ext cx="4990992" cy="25756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r="22242"/>
          <a:stretch/>
        </p:blipFill>
        <p:spPr>
          <a:xfrm>
            <a:off x="5274589" y="3695054"/>
            <a:ext cx="3869411" cy="26429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内容占位符 2"/>
          <p:cNvSpPr>
            <a:spLocks noGrp="1" noChangeArrowheads="1"/>
          </p:cNvSpPr>
          <p:nvPr>
            <p:ph idx="1"/>
          </p:nvPr>
        </p:nvSpPr>
        <p:spPr>
          <a:xfrm>
            <a:off x="0" y="1363663"/>
            <a:ext cx="9144000" cy="5062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CN" altLang="en-US" sz="3000" u="sng" smtClean="0"/>
              <a:t>校园贷是指在校学生向各类借贷平台借钱的行为。</a:t>
            </a:r>
            <a:endParaRPr lang="en-US" altLang="zh-CN" sz="3000" u="sng" smtClean="0"/>
          </a:p>
          <a:p>
            <a:r>
              <a:rPr lang="zh-CN" altLang="en-US" sz="3000" smtClean="0"/>
              <a:t>校园贷严格来说可以分为五类：</a:t>
            </a:r>
          </a:p>
          <a:p>
            <a:r>
              <a:rPr lang="zh-CN" altLang="en-US" sz="2400" smtClean="0"/>
              <a:t>（</a:t>
            </a:r>
            <a:r>
              <a:rPr lang="en-US" altLang="zh-CN" sz="2400" smtClean="0"/>
              <a:t>1</a:t>
            </a:r>
            <a:r>
              <a:rPr lang="zh-CN" altLang="en-US" sz="2400" smtClean="0"/>
              <a:t>）</a:t>
            </a:r>
            <a:r>
              <a:rPr lang="zh-CN" altLang="en-US" sz="2400" smtClean="0">
                <a:solidFill>
                  <a:srgbClr val="800000"/>
                </a:solidFill>
              </a:rPr>
              <a:t>电商平台</a:t>
            </a:r>
            <a:r>
              <a:rPr lang="en-US" altLang="zh-CN" sz="2400" smtClean="0"/>
              <a:t>——</a:t>
            </a:r>
            <a:r>
              <a:rPr lang="zh-CN" altLang="en-US" sz="2400" smtClean="0"/>
              <a:t>淘宝、京东等提供的信贷服务，如蚂蚁花呗借呗、备用金、京东校园白条等；</a:t>
            </a:r>
          </a:p>
          <a:p>
            <a:r>
              <a:rPr lang="zh-CN" altLang="en-US" sz="2400" smtClean="0"/>
              <a:t>（</a:t>
            </a:r>
            <a:r>
              <a:rPr lang="en-US" altLang="zh-CN" sz="2400" smtClean="0"/>
              <a:t>2</a:t>
            </a:r>
            <a:r>
              <a:rPr lang="zh-CN" altLang="en-US" sz="2400" smtClean="0"/>
              <a:t>）</a:t>
            </a:r>
            <a:r>
              <a:rPr lang="zh-CN" altLang="en-US" sz="2400" smtClean="0">
                <a:solidFill>
                  <a:srgbClr val="800000"/>
                </a:solidFill>
              </a:rPr>
              <a:t>消费金融公司 </a:t>
            </a:r>
            <a:r>
              <a:rPr lang="en-US" altLang="zh-CN" sz="2400" smtClean="0"/>
              <a:t>—— </a:t>
            </a:r>
            <a:r>
              <a:rPr lang="zh-CN" altLang="en-US" sz="2400" smtClean="0"/>
              <a:t>如趣分期、任分期等，部分还提供较低额度的现金提现；</a:t>
            </a:r>
          </a:p>
          <a:p>
            <a:r>
              <a:rPr lang="zh-CN" altLang="en-US" sz="2400" smtClean="0"/>
              <a:t>（</a:t>
            </a:r>
            <a:r>
              <a:rPr lang="en-US" altLang="zh-CN" sz="2400" smtClean="0"/>
              <a:t>3</a:t>
            </a:r>
            <a:r>
              <a:rPr lang="zh-CN" altLang="en-US" sz="2400" smtClean="0"/>
              <a:t>）</a:t>
            </a:r>
            <a:r>
              <a:rPr lang="en-US" altLang="zh-CN" sz="2400" smtClean="0">
                <a:solidFill>
                  <a:srgbClr val="800000"/>
                </a:solidFill>
              </a:rPr>
              <a:t>P2P</a:t>
            </a:r>
            <a:r>
              <a:rPr lang="zh-CN" altLang="en-US" sz="2400" smtClean="0">
                <a:solidFill>
                  <a:srgbClr val="800000"/>
                </a:solidFill>
              </a:rPr>
              <a:t>贷款平台（网贷平台）</a:t>
            </a:r>
            <a:r>
              <a:rPr lang="en-US" altLang="zh-CN" sz="2400" smtClean="0"/>
              <a:t>——</a:t>
            </a:r>
            <a:r>
              <a:rPr lang="zh-CN" altLang="en-US" sz="2400" smtClean="0"/>
              <a:t>用于大学生助学和创业，如名校贷等；</a:t>
            </a:r>
          </a:p>
          <a:p>
            <a:r>
              <a:rPr lang="zh-CN" altLang="en-US" sz="2400" smtClean="0"/>
              <a:t>（</a:t>
            </a:r>
            <a:r>
              <a:rPr lang="en-US" altLang="zh-CN" sz="2400" smtClean="0"/>
              <a:t>4</a:t>
            </a:r>
            <a:r>
              <a:rPr lang="zh-CN" altLang="en-US" sz="2400" smtClean="0"/>
              <a:t>）</a:t>
            </a:r>
            <a:r>
              <a:rPr lang="zh-CN" altLang="en-US" sz="2400" smtClean="0">
                <a:solidFill>
                  <a:srgbClr val="800000"/>
                </a:solidFill>
              </a:rPr>
              <a:t>线下私贷</a:t>
            </a:r>
            <a:r>
              <a:rPr lang="zh-CN" altLang="en-US" sz="2400" smtClean="0"/>
              <a:t> </a:t>
            </a:r>
            <a:r>
              <a:rPr lang="en-US" altLang="zh-CN" sz="2400" smtClean="0"/>
              <a:t>—— </a:t>
            </a:r>
            <a:r>
              <a:rPr lang="zh-CN" altLang="en-US" sz="2400" smtClean="0"/>
              <a:t>民间放贷机构和放贷人，俗称高利贷；</a:t>
            </a:r>
          </a:p>
          <a:p>
            <a:r>
              <a:rPr lang="zh-CN" altLang="en-US" sz="2400" smtClean="0"/>
              <a:t>（</a:t>
            </a:r>
            <a:r>
              <a:rPr lang="en-US" altLang="zh-CN" sz="2400" smtClean="0"/>
              <a:t>5</a:t>
            </a:r>
            <a:r>
              <a:rPr lang="zh-CN" altLang="en-US" sz="2400" smtClean="0"/>
              <a:t>）</a:t>
            </a:r>
            <a:r>
              <a:rPr lang="zh-CN" altLang="en-US" sz="2400" smtClean="0">
                <a:solidFill>
                  <a:srgbClr val="800000"/>
                </a:solidFill>
              </a:rPr>
              <a:t>银行机构</a:t>
            </a:r>
            <a:r>
              <a:rPr lang="en-US" altLang="zh-CN" sz="2400" smtClean="0"/>
              <a:t>——</a:t>
            </a:r>
            <a:r>
              <a:rPr lang="zh-CN" altLang="en-US" sz="2400" smtClean="0"/>
              <a:t>银行面向大学生提供的校园产品，如招商银行的“大学生闪电贷”、中国建设银行的“金蜜蜂校园快贷” 等。</a:t>
            </a:r>
            <a:endParaRPr lang="en-US" altLang="zh-CN" sz="2400" smtClean="0"/>
          </a:p>
        </p:txBody>
      </p:sp>
      <p:sp>
        <p:nvSpPr>
          <p:cNvPr id="5325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“校园贷”是什么？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zh-CN" altLang="en-US" sz="3000" smtClean="0">
                <a:solidFill>
                  <a:srgbClr val="990000"/>
                </a:solidFill>
              </a:rPr>
              <a:t>市场分布</a:t>
            </a:r>
            <a:endParaRPr lang="en-US" altLang="zh-CN" sz="3000" smtClean="0">
              <a:solidFill>
                <a:srgbClr val="990000"/>
              </a:solidFill>
            </a:endParaRPr>
          </a:p>
          <a:p>
            <a:pPr lvl="1"/>
            <a:r>
              <a:rPr lang="zh-CN" altLang="en-US" sz="2400" smtClean="0"/>
              <a:t>校园贷的市场主要分布在二、三线城市，当三、四线城市和农村的孩子考入大学，急速膨胀的消费欲望会促使部分学生通过各种途径寻找贷款平台，甚至是民间高利贷。</a:t>
            </a:r>
            <a:endParaRPr lang="en-US" altLang="zh-CN" sz="2400" smtClean="0"/>
          </a:p>
          <a:p>
            <a:pPr lvl="1">
              <a:buFontTx/>
              <a:buChar char="•"/>
            </a:pPr>
            <a:r>
              <a:rPr lang="zh-CN" altLang="en-US" sz="3000" smtClean="0">
                <a:solidFill>
                  <a:srgbClr val="990000"/>
                </a:solidFill>
              </a:rPr>
              <a:t>催款程序</a:t>
            </a:r>
            <a:endParaRPr lang="en-US" altLang="zh-CN" sz="3000" smtClean="0">
              <a:solidFill>
                <a:srgbClr val="990000"/>
              </a:solidFill>
            </a:endParaRPr>
          </a:p>
          <a:p>
            <a:pPr lvl="1"/>
            <a:r>
              <a:rPr lang="zh-CN" altLang="en-US" sz="2400" smtClean="0"/>
              <a:t>校园贷平台有整个催款程序，包含了“十步曲”：</a:t>
            </a:r>
            <a:endParaRPr lang="en-US" altLang="zh-CN" sz="2400" smtClean="0"/>
          </a:p>
          <a:p>
            <a:pPr lvl="1"/>
            <a:r>
              <a:rPr lang="en-US" altLang="zh-CN" sz="2400" smtClean="0"/>
              <a:t>1</a:t>
            </a:r>
            <a:r>
              <a:rPr lang="zh-CN" altLang="en-US" sz="2400" smtClean="0"/>
              <a:t>）发逾期短信；</a:t>
            </a:r>
            <a:r>
              <a:rPr lang="en-US" altLang="zh-CN" sz="2400" smtClean="0"/>
              <a:t>2</a:t>
            </a:r>
            <a:r>
              <a:rPr lang="zh-CN" altLang="en-US" sz="2400" smtClean="0"/>
              <a:t>）单独发短信；</a:t>
            </a:r>
            <a:r>
              <a:rPr lang="en-US" altLang="zh-CN" sz="2400" smtClean="0"/>
              <a:t>3</a:t>
            </a:r>
            <a:r>
              <a:rPr lang="zh-CN" altLang="en-US" sz="2400" smtClean="0"/>
              <a:t>）单独打电话；</a:t>
            </a:r>
            <a:endParaRPr lang="en-US" altLang="zh-CN" sz="2400" smtClean="0"/>
          </a:p>
          <a:p>
            <a:pPr lvl="1"/>
            <a:r>
              <a:rPr lang="en-US" altLang="zh-CN" sz="2400" smtClean="0"/>
              <a:t>4</a:t>
            </a:r>
            <a:r>
              <a:rPr lang="zh-CN" altLang="en-US" sz="2400" smtClean="0"/>
              <a:t>）联系贷款者室友；</a:t>
            </a:r>
            <a:r>
              <a:rPr lang="en-US" altLang="zh-CN" sz="2400" smtClean="0"/>
              <a:t>5</a:t>
            </a:r>
            <a:r>
              <a:rPr lang="zh-CN" altLang="en-US" sz="2400" smtClean="0"/>
              <a:t>）联系父母；</a:t>
            </a:r>
            <a:r>
              <a:rPr lang="en-US" altLang="zh-CN" sz="2400" smtClean="0"/>
              <a:t>6</a:t>
            </a:r>
            <a:r>
              <a:rPr lang="zh-CN" altLang="en-US" sz="2400" smtClean="0"/>
              <a:t>）再次警告本人；</a:t>
            </a:r>
            <a:endParaRPr lang="en-US" altLang="zh-CN" sz="2400" smtClean="0"/>
          </a:p>
          <a:p>
            <a:pPr lvl="1"/>
            <a:r>
              <a:rPr lang="en-US" altLang="zh-CN" sz="2400" smtClean="0"/>
              <a:t>7</a:t>
            </a:r>
            <a:r>
              <a:rPr lang="zh-CN" altLang="en-US" sz="2400" smtClean="0"/>
              <a:t>）发送律师函；</a:t>
            </a:r>
            <a:r>
              <a:rPr lang="en-US" altLang="zh-CN" sz="2400" smtClean="0"/>
              <a:t>8</a:t>
            </a:r>
            <a:r>
              <a:rPr lang="zh-CN" altLang="en-US" sz="2400" smtClean="0"/>
              <a:t>）给学校发通知；</a:t>
            </a:r>
            <a:endParaRPr lang="en-US" altLang="zh-CN" sz="2400" smtClean="0"/>
          </a:p>
          <a:p>
            <a:pPr lvl="1"/>
            <a:r>
              <a:rPr lang="en-US" altLang="zh-CN" sz="2400" smtClean="0"/>
              <a:t>9</a:t>
            </a:r>
            <a:r>
              <a:rPr lang="zh-CN" altLang="en-US" sz="2400" smtClean="0"/>
              <a:t>）在学校公共场合张贴大字报；</a:t>
            </a:r>
            <a:r>
              <a:rPr lang="en-US" altLang="zh-CN" sz="2400" smtClean="0"/>
              <a:t>10</a:t>
            </a:r>
            <a:r>
              <a:rPr lang="zh-CN" altLang="en-US" sz="2400" smtClean="0"/>
              <a:t>）群发短信。</a:t>
            </a:r>
          </a:p>
        </p:txBody>
      </p:sp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你了解“校园贷”吗？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000" smtClean="0">
                <a:solidFill>
                  <a:srgbClr val="990000"/>
                </a:solidFill>
              </a:rPr>
              <a:t>负面事件</a:t>
            </a:r>
            <a:endParaRPr lang="en-US" altLang="zh-CN" sz="3000" smtClean="0">
              <a:solidFill>
                <a:srgbClr val="990000"/>
              </a:solidFill>
            </a:endParaRPr>
          </a:p>
          <a:p>
            <a:pPr lvl="1"/>
            <a:r>
              <a:rPr lang="en-US" altLang="zh-CN" sz="2000" smtClean="0"/>
              <a:t>2016</a:t>
            </a:r>
            <a:r>
              <a:rPr lang="zh-CN" altLang="en-US" sz="2000" smtClean="0"/>
              <a:t>年</a:t>
            </a:r>
            <a:r>
              <a:rPr lang="en-US" altLang="zh-CN" sz="2000" smtClean="0"/>
              <a:t>3</a:t>
            </a:r>
            <a:r>
              <a:rPr lang="zh-CN" altLang="en-US" sz="2000" smtClean="0"/>
              <a:t>月，河南某高校一名在校大学生，用自己的身份以及冒用同学的身份，从不同校园金融平台获得无抵押信用贷款数十万元，无力偿还时跳楼自杀。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2017</a:t>
            </a:r>
            <a:r>
              <a:rPr lang="zh-CN" altLang="en-US" sz="2000" smtClean="0"/>
              <a:t>年</a:t>
            </a:r>
            <a:r>
              <a:rPr lang="en-US" altLang="zh-CN" sz="2000" smtClean="0"/>
              <a:t>4</a:t>
            </a:r>
            <a:r>
              <a:rPr lang="zh-CN" altLang="en-US" sz="2000" smtClean="0"/>
              <a:t>月，厦门华厦学院一名大二女生因陷“校园贷”，在泉州一宾馆自杀。该女生在校园贷平台累计借入</a:t>
            </a:r>
            <a:r>
              <a:rPr lang="en-US" altLang="zh-CN" sz="2000" smtClean="0"/>
              <a:t>57</a:t>
            </a:r>
            <a:r>
              <a:rPr lang="zh-CN" altLang="en-US" sz="2000" smtClean="0"/>
              <a:t>万多，累计笔数</a:t>
            </a:r>
            <a:r>
              <a:rPr lang="en-US" altLang="zh-CN" sz="2000" smtClean="0"/>
              <a:t>257</a:t>
            </a:r>
            <a:r>
              <a:rPr lang="zh-CN" altLang="en-US" sz="2000" smtClean="0"/>
              <a:t>笔，期间曾收到过“催款裸照”。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2018</a:t>
            </a:r>
            <a:r>
              <a:rPr lang="zh-CN" altLang="en-US" sz="2000" smtClean="0"/>
              <a:t>年</a:t>
            </a:r>
            <a:r>
              <a:rPr lang="zh-CN" altLang="zh-CN" sz="2000" smtClean="0"/>
              <a:t>6</a:t>
            </a:r>
            <a:r>
              <a:rPr lang="zh-CN" altLang="en-US" sz="2000" smtClean="0"/>
              <a:t>月，武汉某大学大三学生因欠下“校园贷”</a:t>
            </a:r>
            <a:r>
              <a:rPr lang="en-US" altLang="zh-CN" sz="2000" smtClean="0"/>
              <a:t>4000</a:t>
            </a:r>
            <a:r>
              <a:rPr lang="zh-CN" altLang="en-US" sz="2000" smtClean="0"/>
              <a:t>元，一年时间滚到</a:t>
            </a:r>
            <a:r>
              <a:rPr lang="en-US" altLang="zh-CN" sz="2000" smtClean="0"/>
              <a:t>50</a:t>
            </a:r>
            <a:r>
              <a:rPr lang="zh-CN" altLang="en-US" sz="2000" smtClean="0"/>
              <a:t>余万元。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2019</a:t>
            </a:r>
            <a:r>
              <a:rPr lang="zh-CN" altLang="en-US" sz="2000" smtClean="0"/>
              <a:t>年</a:t>
            </a:r>
            <a:r>
              <a:rPr lang="en-US" altLang="zh-CN" sz="2000" smtClean="0"/>
              <a:t>8</a:t>
            </a:r>
            <a:r>
              <a:rPr lang="zh-CN" altLang="en-US" sz="2000" smtClean="0"/>
              <a:t>月，北京某外国语高校大学生在吉林老家溺水而亡。家人发现他留下的遗书后，他的手机还不间断收到威胁恐吓其还款的信息。该学生此前曾在多个网络借贷平台借“高利贷”，已累计达</a:t>
            </a:r>
            <a:r>
              <a:rPr lang="en-US" altLang="zh-CN" sz="2000" smtClean="0"/>
              <a:t>13</a:t>
            </a:r>
            <a:r>
              <a:rPr lang="zh-CN" altLang="en-US" sz="2000" smtClean="0"/>
              <a:t>万余元，其中一笔借款数额为</a:t>
            </a:r>
            <a:r>
              <a:rPr lang="en-US" altLang="zh-CN" sz="2000" smtClean="0"/>
              <a:t>1100</a:t>
            </a:r>
            <a:r>
              <a:rPr lang="zh-CN" altLang="en-US" sz="2000" smtClean="0"/>
              <a:t>元，一周后需还</a:t>
            </a:r>
            <a:r>
              <a:rPr lang="en-US" altLang="zh-CN" sz="2000" smtClean="0"/>
              <a:t>1600</a:t>
            </a:r>
            <a:r>
              <a:rPr lang="zh-CN" altLang="en-US" sz="2000" smtClean="0"/>
              <a:t>元，周利息高达</a:t>
            </a:r>
            <a:r>
              <a:rPr lang="en-US" altLang="zh-CN" sz="2000" smtClean="0"/>
              <a:t>500</a:t>
            </a:r>
            <a:r>
              <a:rPr lang="zh-CN" altLang="en-US" sz="2000" smtClean="0"/>
              <a:t>元。</a:t>
            </a:r>
            <a:endParaRPr lang="en-US" altLang="zh-CN" sz="2000" smtClean="0"/>
          </a:p>
          <a:p>
            <a:pPr lvl="1"/>
            <a:r>
              <a:rPr lang="zh-CN" altLang="en-US" sz="2000" smtClean="0"/>
              <a:t>💔</a:t>
            </a:r>
            <a:r>
              <a:rPr lang="en-US" altLang="zh-CN" sz="2000" smtClean="0"/>
              <a:t>……</a:t>
            </a:r>
          </a:p>
        </p:txBody>
      </p:sp>
      <p:sp>
        <p:nvSpPr>
          <p:cNvPr id="55298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你了解“校园贷”吗？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AutoShape 8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2" name="AutoShape 10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3" name="AutoShape 12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4" name="AutoShape 14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5" name="AutoShape 16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63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“校园贷”的借款模式</a:t>
            </a:r>
          </a:p>
        </p:txBody>
      </p:sp>
      <p:pic>
        <p:nvPicPr>
          <p:cNvPr id="56327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5" t="5849" r="8578" b="5263"/>
          <a:stretch>
            <a:fillRect/>
          </a:stretch>
        </p:blipFill>
        <p:spPr bwMode="auto">
          <a:xfrm>
            <a:off x="4637088" y="1417638"/>
            <a:ext cx="4359275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8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9" b="38628"/>
          <a:stretch>
            <a:fillRect/>
          </a:stretch>
        </p:blipFill>
        <p:spPr bwMode="auto">
          <a:xfrm>
            <a:off x="0" y="1417638"/>
            <a:ext cx="4276725" cy="497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AutoShape 8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46" name="AutoShape 10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47" name="AutoShape 12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48" name="AutoShape 14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49" name="AutoShape 16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73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“校园贷”的利息有多高？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888" y="1431925"/>
            <a:ext cx="3044825" cy="26098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282575" y="1846263"/>
            <a:ext cx="5421313" cy="19383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Symbol" panose="05050102010706020507" pitchFamily="18" charset="2"/>
              <a:buChar char="-"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某某贷以月利率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0.99%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的噱头，造成利息不高的假象，但一推演，这款网贷的实际年利率达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21.25%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，再加上各种名目的手续费、中介费，利率可以达到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50%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甚至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200%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57353" name="文本框 7"/>
          <p:cNvSpPr txBox="1">
            <a:spLocks noChangeArrowheads="1"/>
          </p:cNvSpPr>
          <p:nvPr/>
        </p:nvSpPr>
        <p:spPr bwMode="auto">
          <a:xfrm>
            <a:off x="282575" y="4503738"/>
            <a:ext cx="87582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Symbol" panose="05050102010706020507" pitchFamily="18" charset="2"/>
              <a:buChar char="-"/>
            </a:pPr>
            <a:r>
              <a:rPr lang="zh-CN" altLang="en-US">
                <a:solidFill>
                  <a:srgbClr val="000000"/>
                </a:solidFill>
              </a:rPr>
              <a:t>“校园贷”表面上利率较低，但实际利率是银行的</a:t>
            </a:r>
            <a:r>
              <a:rPr lang="en-US" altLang="zh-CN">
                <a:solidFill>
                  <a:srgbClr val="000000"/>
                </a:solidFill>
              </a:rPr>
              <a:t>30-50</a:t>
            </a:r>
            <a:r>
              <a:rPr lang="zh-CN" altLang="en-US">
                <a:solidFill>
                  <a:srgbClr val="000000"/>
                </a:solidFill>
              </a:rPr>
              <a:t>倍，甚至达到</a:t>
            </a:r>
            <a:r>
              <a:rPr lang="en-US" altLang="zh-CN">
                <a:solidFill>
                  <a:srgbClr val="000000"/>
                </a:solidFill>
              </a:rPr>
              <a:t>100</a:t>
            </a:r>
            <a:r>
              <a:rPr lang="zh-CN" altLang="en-US">
                <a:solidFill>
                  <a:srgbClr val="000000"/>
                </a:solidFill>
              </a:rPr>
              <a:t>倍以上，有时，故意造成逾期，导致还款金额成倍增长，一旦借款就可能背上沉重的债务负担。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AutoShape 8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0" name="AutoShape 10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1" name="AutoShape 12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2" name="AutoShape 14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3" name="AutoShape 16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83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“校园贷”的利息有多高？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1" b="4604"/>
          <a:stretch>
            <a:fillRect/>
          </a:stretch>
        </p:blipFill>
        <p:spPr bwMode="auto">
          <a:xfrm>
            <a:off x="1744663" y="1390650"/>
            <a:ext cx="5513387" cy="49593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AutoShape 8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4" name="AutoShape 10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5" name="AutoShape 12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6" name="AutoShape 14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7" name="AutoShape 16"/>
          <p:cNvSpPr>
            <a:spLocks noChangeAspect="1" noChangeArrowheads="1"/>
          </p:cNvSpPr>
          <p:nvPr/>
        </p:nvSpPr>
        <p:spPr bwMode="auto">
          <a:xfrm>
            <a:off x="1258888" y="7493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1800">
              <a:solidFill>
                <a:srgbClr val="FFFFFF"/>
              </a:solidFill>
            </a:endParaRPr>
          </a:p>
        </p:txBody>
      </p:sp>
      <p:sp>
        <p:nvSpPr>
          <p:cNvPr id="593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认清不良“校园贷”</a:t>
            </a:r>
          </a:p>
        </p:txBody>
      </p:sp>
      <p:pic>
        <p:nvPicPr>
          <p:cNvPr id="59399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53" b="5466"/>
          <a:stretch>
            <a:fillRect/>
          </a:stretch>
        </p:blipFill>
        <p:spPr bwMode="auto">
          <a:xfrm>
            <a:off x="1289050" y="1371600"/>
            <a:ext cx="6197600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798513"/>
            <a:ext cx="9186863" cy="4141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sz="7200" smtClean="0">
                <a:solidFill>
                  <a:srgbClr val="000000"/>
                </a:solidFill>
              </a:rPr>
              <a:t>工程经济学</a:t>
            </a:r>
            <a:r>
              <a:rPr lang="zh-CN" altLang="en-US" sz="6600" smtClean="0">
                <a:solidFill>
                  <a:srgbClr val="000000"/>
                </a:solidFill>
              </a:rPr>
              <a:t/>
            </a:r>
            <a:br>
              <a:rPr lang="zh-CN" altLang="en-US" sz="6600" smtClean="0">
                <a:solidFill>
                  <a:srgbClr val="000000"/>
                </a:solidFill>
              </a:rPr>
            </a:br>
            <a:r>
              <a:rPr lang="zh-CN" altLang="en-US" smtClean="0">
                <a:solidFill>
                  <a:srgbClr val="000000"/>
                </a:solidFill>
              </a:rPr>
              <a:t/>
            </a:r>
            <a:br>
              <a:rPr lang="zh-CN" altLang="en-US" smtClean="0">
                <a:solidFill>
                  <a:srgbClr val="000000"/>
                </a:solidFill>
              </a:rPr>
            </a:br>
            <a:r>
              <a:rPr lang="zh-CN" altLang="en-US" sz="4000" smtClean="0">
                <a:solidFill>
                  <a:srgbClr val="000000"/>
                </a:solidFill>
              </a:rPr>
              <a:t>资金的时间价值和现金流量计算</a:t>
            </a:r>
            <a:endParaRPr lang="zh-CN" altLang="en-US" sz="4000" u="sng" smtClean="0">
              <a:solidFill>
                <a:srgbClr val="000000"/>
              </a:solidFill>
            </a:endParaRP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25488" y="4940300"/>
            <a:ext cx="7634287" cy="1373188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0" dirty="0" smtClean="0"/>
              <a:t>唐文哲 教授</a:t>
            </a:r>
            <a:r>
              <a:rPr lang="en-US" altLang="zh-CN" sz="2800" b="0" dirty="0" smtClean="0"/>
              <a:t>/</a:t>
            </a:r>
            <a:r>
              <a:rPr lang="zh-CN" altLang="en-US" sz="2800" b="0" dirty="0" smtClean="0"/>
              <a:t>博导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0" dirty="0" smtClean="0"/>
              <a:t>清华大学项目管理与建设技术研究所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0" dirty="0" smtClean="0"/>
              <a:t>2019</a:t>
            </a:r>
            <a:r>
              <a:rPr lang="zh-CN" altLang="en-US" sz="2800" b="0" dirty="0" smtClean="0"/>
              <a:t>年</a:t>
            </a:r>
            <a:r>
              <a:rPr lang="en-US" altLang="zh-CN" sz="2800" b="0" dirty="0" smtClean="0"/>
              <a:t>10</a:t>
            </a:r>
            <a:r>
              <a:rPr lang="zh-CN" altLang="en-US" sz="2800" b="0" dirty="0" smtClean="0"/>
              <a:t>月</a:t>
            </a:r>
            <a:r>
              <a:rPr lang="en-US" altLang="zh-CN" sz="2800" b="0" dirty="0" smtClean="0"/>
              <a:t>10</a:t>
            </a:r>
            <a:r>
              <a:rPr lang="zh-CN" altLang="en-US" sz="2800" b="0" dirty="0" smtClean="0"/>
              <a:t>日</a:t>
            </a:r>
          </a:p>
          <a:p>
            <a:pPr algn="l" eaLnBrk="1" hangingPunct="1">
              <a:lnSpc>
                <a:spcPct val="90000"/>
              </a:lnSpc>
            </a:pPr>
            <a:endParaRPr lang="zh-CN" altLang="en-US" sz="2800" b="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575675" cy="933450"/>
          </a:xfrm>
        </p:spPr>
        <p:txBody>
          <a:bodyPr/>
          <a:lstStyle/>
          <a:p>
            <a:pPr eaLnBrk="1" hangingPunct="1"/>
            <a:r>
              <a:rPr lang="zh-CN" altLang="en-US" sz="4000" smtClean="0"/>
              <a:t>本讲的内容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mtClean="0">
                <a:solidFill>
                  <a:srgbClr val="800000"/>
                </a:solidFill>
              </a:rPr>
              <a:t>1. “</a:t>
            </a:r>
            <a:r>
              <a:rPr lang="zh-CN" altLang="en-US" smtClean="0">
                <a:solidFill>
                  <a:srgbClr val="800000"/>
                </a:solidFill>
              </a:rPr>
              <a:t>资金的时间价值”的本质含义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mtClean="0"/>
              <a:t>2. </a:t>
            </a:r>
            <a:r>
              <a:rPr lang="zh-CN" altLang="en-US" smtClean="0"/>
              <a:t>现金流量图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mtClean="0"/>
              <a:t>3. </a:t>
            </a:r>
            <a:r>
              <a:rPr lang="zh-CN" altLang="en-US" smtClean="0"/>
              <a:t>单利和复利，名义利率和实际利率</a:t>
            </a:r>
            <a:r>
              <a:rPr lang="en-US" altLang="zh-CN" smtClean="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mtClean="0"/>
              <a:t>4. </a:t>
            </a:r>
            <a:r>
              <a:rPr lang="zh-CN" altLang="en-US" smtClean="0"/>
              <a:t>现金流量等值计算方法</a:t>
            </a:r>
          </a:p>
          <a:p>
            <a:pPr eaLnBrk="1" hangingPunct="1">
              <a:lnSpc>
                <a:spcPct val="120000"/>
              </a:lnSpc>
            </a:pPr>
            <a:endParaRPr lang="zh-CN" altLang="en-US" smtClean="0"/>
          </a:p>
          <a:p>
            <a:pPr eaLnBrk="1" hangingPunct="1">
              <a:lnSpc>
                <a:spcPct val="120000"/>
              </a:lnSpc>
            </a:pPr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2700"/>
            <a:ext cx="8861425" cy="1181100"/>
          </a:xfrm>
        </p:spPr>
        <p:txBody>
          <a:bodyPr/>
          <a:lstStyle/>
          <a:p>
            <a:pPr eaLnBrk="1" hangingPunct="1"/>
            <a:r>
              <a:rPr lang="zh-CN" altLang="en-US" sz="3600" smtClean="0"/>
              <a:t>资金的时间价值   </a:t>
            </a:r>
            <a:r>
              <a:rPr lang="en-US" altLang="zh-CN" sz="3600" smtClean="0"/>
              <a:t>Time value of Money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smtClean="0"/>
              <a:t>今天的</a:t>
            </a:r>
            <a:r>
              <a:rPr lang="en-US" altLang="zh-CN" sz="2800" smtClean="0"/>
              <a:t>100</a:t>
            </a:r>
            <a:r>
              <a:rPr lang="zh-CN" altLang="en-US" sz="2800" smtClean="0"/>
              <a:t>元和一年后的</a:t>
            </a:r>
            <a:r>
              <a:rPr lang="en-US" altLang="zh-CN" sz="2800" smtClean="0"/>
              <a:t>100</a:t>
            </a:r>
            <a:r>
              <a:rPr lang="zh-CN" altLang="en-US" sz="2800" smtClean="0"/>
              <a:t>元，哪个更值钱？</a:t>
            </a:r>
          </a:p>
          <a:p>
            <a:pPr eaLnBrk="1" hangingPunct="1"/>
            <a:endParaRPr lang="zh-CN" altLang="en-US" sz="2800" smtClean="0"/>
          </a:p>
          <a:p>
            <a:pPr eaLnBrk="1" hangingPunct="1"/>
            <a:r>
              <a:rPr lang="zh-CN" altLang="en-US" sz="2800" smtClean="0"/>
              <a:t>经济学和金融学中的基础概念</a:t>
            </a:r>
            <a:r>
              <a:rPr lang="en-US" altLang="zh-CN" sz="2800" smtClean="0"/>
              <a:t>——</a:t>
            </a:r>
            <a:r>
              <a:rPr lang="zh-CN" altLang="en-US" sz="2800" smtClean="0"/>
              <a:t>在时间轴上的不同点，货币的价值是不一样的。源于三点：</a:t>
            </a:r>
          </a:p>
          <a:p>
            <a:pPr lvl="1" eaLnBrk="1" hangingPunct="1"/>
            <a:r>
              <a:rPr lang="zh-CN" altLang="en-US" sz="2400" smtClean="0"/>
              <a:t>通货膨胀 </a:t>
            </a:r>
            <a:r>
              <a:rPr lang="en-US" altLang="zh-CN" sz="2400" smtClean="0"/>
              <a:t>(Inflation)</a:t>
            </a:r>
          </a:p>
          <a:p>
            <a:pPr lvl="1" eaLnBrk="1" hangingPunct="1"/>
            <a:r>
              <a:rPr lang="zh-CN" altLang="en-US" sz="2400" smtClean="0"/>
              <a:t>资本的真实生产能力（</a:t>
            </a:r>
            <a:r>
              <a:rPr lang="en-US" altLang="zh-CN" sz="2400" smtClean="0"/>
              <a:t>Real Productivity of capital</a:t>
            </a:r>
            <a:r>
              <a:rPr lang="zh-CN" altLang="en-US" sz="2400" smtClean="0"/>
              <a:t>）</a:t>
            </a:r>
          </a:p>
          <a:p>
            <a:pPr lvl="2" eaLnBrk="1" hangingPunct="1"/>
            <a:r>
              <a:rPr lang="zh-CN" altLang="en-US" sz="2200" smtClean="0"/>
              <a:t>现在的钱，可以立刻用于消费，获得效用；或者用于投资，在未来获得更多的钱。</a:t>
            </a:r>
          </a:p>
          <a:p>
            <a:pPr lvl="2" eaLnBrk="1" hangingPunct="1"/>
            <a:r>
              <a:rPr lang="zh-CN" altLang="en-US" sz="2200" smtClean="0"/>
              <a:t>也可以认为是放弃当前消费的机会成本。</a:t>
            </a:r>
          </a:p>
          <a:p>
            <a:pPr lvl="1" eaLnBrk="1" hangingPunct="1"/>
            <a:r>
              <a:rPr lang="zh-CN" altLang="en-US" sz="2400" smtClean="0"/>
              <a:t>风险（</a:t>
            </a:r>
            <a:r>
              <a:rPr lang="en-US" altLang="zh-CN" sz="2400" smtClean="0"/>
              <a:t>Risk</a:t>
            </a:r>
            <a:r>
              <a:rPr lang="zh-CN" altLang="en-US" sz="2400" smtClean="0"/>
              <a:t>）</a:t>
            </a:r>
          </a:p>
          <a:p>
            <a:pPr lvl="2" eaLnBrk="1" hangingPunct="1"/>
            <a:r>
              <a:rPr lang="zh-CN" altLang="en-US" sz="2200" smtClean="0"/>
              <a:t>未来总是不确定的，风险会使未来的钱变得不值钱。</a:t>
            </a:r>
          </a:p>
          <a:p>
            <a:pPr lvl="1" eaLnBrk="1" hangingPunct="1"/>
            <a:endParaRPr lang="zh-CN" altLang="en-US" sz="2200" smtClean="0"/>
          </a:p>
          <a:p>
            <a:pPr lvl="1" eaLnBrk="1" hangingPunct="1"/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8"/>
          <p:cNvSpPr>
            <a:spLocks noRot="1" noChangeArrowheads="1"/>
          </p:cNvSpPr>
          <p:nvPr/>
        </p:nvSpPr>
        <p:spPr bwMode="auto">
          <a:xfrm>
            <a:off x="2268538" y="188913"/>
            <a:ext cx="41751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dist" eaLnBrk="1" hangingPunct="1"/>
            <a:r>
              <a:rPr kumimoji="0" lang="zh-CN" altLang="en-US" sz="4800" b="1">
                <a:solidFill>
                  <a:srgbClr val="99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点击时事</a:t>
            </a:r>
            <a:endParaRPr kumimoji="0" lang="en-US" altLang="zh-CN" sz="4800" b="1">
              <a:solidFill>
                <a:srgbClr val="99000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1266" name="Rectangle 8"/>
          <p:cNvSpPr>
            <a:spLocks noRot="1" noChangeArrowheads="1"/>
          </p:cNvSpPr>
          <p:nvPr/>
        </p:nvSpPr>
        <p:spPr bwMode="auto">
          <a:xfrm>
            <a:off x="2268538" y="188913"/>
            <a:ext cx="41751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dist"/>
            <a:r>
              <a:rPr kumimoji="0" lang="zh-CN" altLang="en-US" sz="4800" b="1">
                <a:solidFill>
                  <a:srgbClr val="99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点击时事</a:t>
            </a:r>
            <a:endParaRPr kumimoji="0" lang="en-US" altLang="zh-CN" sz="4800" b="1">
              <a:solidFill>
                <a:srgbClr val="99000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1267" name="Rectangle 9"/>
          <p:cNvSpPr txBox="1">
            <a:spLocks noRot="1" noChangeArrowheads="1"/>
          </p:cNvSpPr>
          <p:nvPr/>
        </p:nvSpPr>
        <p:spPr bwMode="auto">
          <a:xfrm>
            <a:off x="285750" y="1484313"/>
            <a:ext cx="86788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31825" indent="-4572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kumimoji="0" lang="en-US" altLang="zh-CN" sz="2800" b="1">
                <a:solidFill>
                  <a:srgbClr val="000000"/>
                </a:solidFill>
              </a:rPr>
              <a:t>“</a:t>
            </a:r>
            <a:r>
              <a:rPr kumimoji="0" lang="zh-CN" altLang="en-US" sz="2800" b="1">
                <a:solidFill>
                  <a:srgbClr val="000000"/>
                </a:solidFill>
              </a:rPr>
              <a:t>十一”旅游产品价格普涨</a:t>
            </a:r>
            <a:endParaRPr kumimoji="0" lang="en-US" altLang="zh-CN" sz="3200" b="1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46050" y="3652838"/>
            <a:ext cx="87122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ts val="2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“十一”出境游价格比去年同期平均增幅为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15%-25%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en-US" altLang="zh-CN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2875" y="4330700"/>
            <a:ext cx="87122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54013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ts val="2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国内游价格同比涨幅为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5%-15%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，部分线路涨幅更大。</a:t>
            </a:r>
            <a:endParaRPr kumimoji="0" lang="en-US" altLang="zh-CN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2875" y="4935538"/>
            <a:ext cx="9001125" cy="120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54013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ts val="2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某旅行平台数据显示：</a:t>
            </a:r>
            <a:endParaRPr kumimoji="0" lang="en-US" altLang="zh-CN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黄金周航线普涨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30%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左右，热门城市机票涨幅超过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60%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0" lang="en-US" altLang="zh-CN" sz="260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酒店价格比平时高</a:t>
            </a:r>
            <a:r>
              <a:rPr kumimoji="0" lang="en-US" altLang="zh-CN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10%-20%</a:t>
            </a:r>
            <a:r>
              <a:rPr kumimoji="0" lang="zh-CN" altLang="en-US" sz="26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左右。</a:t>
            </a:r>
          </a:p>
        </p:txBody>
      </p:sp>
      <p:pic>
        <p:nvPicPr>
          <p:cNvPr id="14" name="Picture 2" descr="D:\学习\工程经济学助教\2011秋工程经济学\点击时事\十一北京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" t="5908" r="429" b="3360"/>
          <a:stretch>
            <a:fillRect/>
          </a:stretch>
        </p:blipFill>
        <p:spPr bwMode="auto">
          <a:xfrm>
            <a:off x="142875" y="1357313"/>
            <a:ext cx="84296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 descr="D:\学习\工程经济学助教\2011秋工程经济学\点击时事\十一长城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1071563"/>
            <a:ext cx="38100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 descr="D:\学习\工程经济学助教\2011秋工程经济学\点击时事\十一天安门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2071688"/>
            <a:ext cx="4910137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30000" y="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368 -0.1568 L -0.02378 0.21045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183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43000" y="43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29232E-6 L 0 -0.03538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2.17391E-6 L 0.26493 -0.14917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47" y="-74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700"/>
            <a:ext cx="9144000" cy="1181100"/>
          </a:xfrm>
        </p:spPr>
        <p:txBody>
          <a:bodyPr/>
          <a:lstStyle/>
          <a:p>
            <a:pPr eaLnBrk="1" hangingPunct="1"/>
            <a:r>
              <a:rPr lang="zh-CN" altLang="en-US" smtClean="0"/>
              <a:t>折现 </a:t>
            </a:r>
            <a:r>
              <a:rPr lang="en-US" altLang="zh-CN" smtClean="0"/>
              <a:t>Discounting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现金流量（</a:t>
            </a:r>
            <a:r>
              <a:rPr lang="en-US" altLang="zh-CN" sz="3200" smtClean="0"/>
              <a:t>Cash Flow</a:t>
            </a:r>
            <a:r>
              <a:rPr lang="zh-CN" altLang="en-US" sz="3200" smtClean="0"/>
              <a:t>）</a:t>
            </a:r>
          </a:p>
          <a:p>
            <a:pPr lvl="1" eaLnBrk="1" hangingPunct="1"/>
            <a:r>
              <a:rPr lang="zh-CN" altLang="en-US" sz="2400" smtClean="0"/>
              <a:t>对象在一定时期内各时点上实际发生的资金流入或资金流出</a:t>
            </a:r>
          </a:p>
          <a:p>
            <a:pPr lvl="1" eaLnBrk="1" hangingPunct="1"/>
            <a:r>
              <a:rPr lang="zh-CN" altLang="en-US" sz="2400" smtClean="0"/>
              <a:t>现金流入（＋）、现金流出（－）</a:t>
            </a:r>
          </a:p>
          <a:p>
            <a:pPr eaLnBrk="1" hangingPunct="1"/>
            <a:r>
              <a:rPr lang="zh-CN" altLang="en-US" sz="3200" smtClean="0"/>
              <a:t>同样一笔现金流量，现在的钱总是要比未来的钱值钱</a:t>
            </a:r>
          </a:p>
          <a:p>
            <a:pPr lvl="1" eaLnBrk="1" hangingPunct="1"/>
            <a:r>
              <a:rPr lang="zh-CN" altLang="en-US" sz="2400" smtClean="0"/>
              <a:t>投资者总是希望现在得到收入，而不是将来；希望将来进行支出，而不是现在。</a:t>
            </a:r>
          </a:p>
          <a:p>
            <a:pPr lvl="1" eaLnBrk="1" hangingPunct="1"/>
            <a:r>
              <a:rPr lang="zh-CN" altLang="en-US" sz="2400" smtClean="0"/>
              <a:t>在分析工程经济中的各类决策时，需要将现金流量在时间轴上进行各种换算。</a:t>
            </a:r>
            <a:endParaRPr lang="en-US" altLang="zh-CN" sz="2400" smtClean="0"/>
          </a:p>
          <a:p>
            <a:pPr lvl="1" eaLnBrk="1" hangingPunct="1"/>
            <a:r>
              <a:rPr lang="zh-CN" altLang="en-US" sz="2400" smtClean="0"/>
              <a:t>求未来现金流量在当前的价值，称为“折现”（</a:t>
            </a:r>
            <a:r>
              <a:rPr lang="en-US" altLang="zh-CN" sz="2400" smtClean="0"/>
              <a:t>Discounting</a:t>
            </a:r>
            <a:r>
              <a:rPr lang="zh-CN" altLang="en-US" sz="2400" smtClean="0"/>
              <a:t>）。</a:t>
            </a:r>
          </a:p>
          <a:p>
            <a:pPr eaLnBrk="1" hangingPunct="1"/>
            <a:endParaRPr lang="zh-CN" altLang="en-US" sz="2400" smtClean="0"/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现金流量图：我们的工具</a:t>
            </a:r>
          </a:p>
        </p:txBody>
      </p:sp>
      <p:sp>
        <p:nvSpPr>
          <p:cNvPr id="14338" name="Text Box 21"/>
          <p:cNvSpPr txBox="1">
            <a:spLocks noChangeArrowheads="1"/>
          </p:cNvSpPr>
          <p:nvPr/>
        </p:nvSpPr>
        <p:spPr bwMode="auto">
          <a:xfrm>
            <a:off x="2400300" y="2765425"/>
            <a:ext cx="584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140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期期末，第</a:t>
            </a:r>
            <a:r>
              <a:rPr kumimoji="0" lang="en-US" altLang="zh-CN" sz="14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期期初</a:t>
            </a:r>
          </a:p>
        </p:txBody>
      </p:sp>
      <p:sp>
        <p:nvSpPr>
          <p:cNvPr id="14339" name="Text Box 24"/>
          <p:cNvSpPr txBox="1">
            <a:spLocks noChangeArrowheads="1"/>
          </p:cNvSpPr>
          <p:nvPr/>
        </p:nvSpPr>
        <p:spPr bwMode="auto">
          <a:xfrm>
            <a:off x="3378200" y="2811463"/>
            <a:ext cx="584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第</a:t>
            </a:r>
            <a:r>
              <a:rPr kumimoji="0" lang="en-US" altLang="zh-CN" sz="14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期期末，第</a:t>
            </a:r>
            <a:r>
              <a:rPr kumimoji="0" lang="en-US" altLang="zh-CN" sz="14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kumimoji="0" lang="zh-CN" altLang="en-US" sz="1400">
                <a:solidFill>
                  <a:srgbClr val="000000"/>
                </a:solidFill>
                <a:ea typeface="宋体" panose="02010600030101010101" pitchFamily="2" charset="-122"/>
              </a:rPr>
              <a:t>期期初</a:t>
            </a:r>
          </a:p>
        </p:txBody>
      </p:sp>
      <p:grpSp>
        <p:nvGrpSpPr>
          <p:cNvPr id="14340" name="Group 67"/>
          <p:cNvGrpSpPr>
            <a:grpSpLocks/>
          </p:cNvGrpSpPr>
          <p:nvPr/>
        </p:nvGrpSpPr>
        <p:grpSpPr bwMode="auto">
          <a:xfrm>
            <a:off x="457200" y="1273175"/>
            <a:ext cx="7912100" cy="2022475"/>
            <a:chOff x="288" y="802"/>
            <a:chExt cx="4984" cy="1274"/>
          </a:xfrm>
        </p:grpSpPr>
        <p:sp>
          <p:nvSpPr>
            <p:cNvPr id="14364" name="Line 4"/>
            <p:cNvSpPr>
              <a:spLocks noChangeShapeType="1"/>
            </p:cNvSpPr>
            <p:nvPr/>
          </p:nvSpPr>
          <p:spPr bwMode="auto">
            <a:xfrm>
              <a:off x="928" y="1346"/>
              <a:ext cx="40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Text Box 5"/>
            <p:cNvSpPr txBox="1">
              <a:spLocks noChangeArrowheads="1"/>
            </p:cNvSpPr>
            <p:nvPr/>
          </p:nvSpPr>
          <p:spPr bwMode="auto">
            <a:xfrm>
              <a:off x="1404" y="1354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366" name="Line 6"/>
            <p:cNvSpPr>
              <a:spLocks noChangeShapeType="1"/>
            </p:cNvSpPr>
            <p:nvPr/>
          </p:nvSpPr>
          <p:spPr bwMode="auto">
            <a:xfrm>
              <a:off x="928" y="1346"/>
              <a:ext cx="0" cy="73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7" name="Line 7"/>
            <p:cNvSpPr>
              <a:spLocks noChangeShapeType="1"/>
            </p:cNvSpPr>
            <p:nvPr/>
          </p:nvSpPr>
          <p:spPr bwMode="auto">
            <a:xfrm flipV="1">
              <a:off x="1512" y="1018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8" name="Line 8"/>
            <p:cNvSpPr>
              <a:spLocks noChangeShapeType="1"/>
            </p:cNvSpPr>
            <p:nvPr/>
          </p:nvSpPr>
          <p:spPr bwMode="auto">
            <a:xfrm flipV="1">
              <a:off x="3392" y="1026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9" name="Line 9"/>
            <p:cNvSpPr>
              <a:spLocks noChangeShapeType="1"/>
            </p:cNvSpPr>
            <p:nvPr/>
          </p:nvSpPr>
          <p:spPr bwMode="auto">
            <a:xfrm flipV="1">
              <a:off x="4056" y="1026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0" name="Line 10"/>
            <p:cNvSpPr>
              <a:spLocks noChangeShapeType="1"/>
            </p:cNvSpPr>
            <p:nvPr/>
          </p:nvSpPr>
          <p:spPr bwMode="auto">
            <a:xfrm flipV="1">
              <a:off x="2752" y="1026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11"/>
            <p:cNvSpPr>
              <a:spLocks noChangeShapeType="1"/>
            </p:cNvSpPr>
            <p:nvPr/>
          </p:nvSpPr>
          <p:spPr bwMode="auto">
            <a:xfrm flipV="1">
              <a:off x="2128" y="1026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Text Box 12"/>
            <p:cNvSpPr txBox="1">
              <a:spLocks noChangeArrowheads="1"/>
            </p:cNvSpPr>
            <p:nvPr/>
          </p:nvSpPr>
          <p:spPr bwMode="auto">
            <a:xfrm>
              <a:off x="2016" y="1354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373" name="Text Box 13"/>
            <p:cNvSpPr txBox="1">
              <a:spLocks noChangeArrowheads="1"/>
            </p:cNvSpPr>
            <p:nvPr/>
          </p:nvSpPr>
          <p:spPr bwMode="auto">
            <a:xfrm>
              <a:off x="2644" y="1346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4374" name="Text Box 14"/>
            <p:cNvSpPr txBox="1">
              <a:spLocks noChangeArrowheads="1"/>
            </p:cNvSpPr>
            <p:nvPr/>
          </p:nvSpPr>
          <p:spPr bwMode="auto">
            <a:xfrm>
              <a:off x="3284" y="1346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4375" name="Text Box 15"/>
            <p:cNvSpPr txBox="1">
              <a:spLocks noChangeArrowheads="1"/>
            </p:cNvSpPr>
            <p:nvPr/>
          </p:nvSpPr>
          <p:spPr bwMode="auto">
            <a:xfrm>
              <a:off x="3964" y="1346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376" name="Text Box 16"/>
            <p:cNvSpPr txBox="1">
              <a:spLocks noChangeArrowheads="1"/>
            </p:cNvSpPr>
            <p:nvPr/>
          </p:nvSpPr>
          <p:spPr bwMode="auto">
            <a:xfrm>
              <a:off x="4612" y="1346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4377" name="Line 17"/>
            <p:cNvSpPr>
              <a:spLocks noChangeShapeType="1"/>
            </p:cNvSpPr>
            <p:nvPr/>
          </p:nvSpPr>
          <p:spPr bwMode="auto">
            <a:xfrm flipV="1">
              <a:off x="4704" y="802"/>
              <a:ext cx="0" cy="544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8" name="Text Box 19"/>
            <p:cNvSpPr txBox="1">
              <a:spLocks noChangeArrowheads="1"/>
            </p:cNvSpPr>
            <p:nvPr/>
          </p:nvSpPr>
          <p:spPr bwMode="auto">
            <a:xfrm>
              <a:off x="5024" y="1346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14379" name="Text Box 20"/>
            <p:cNvSpPr txBox="1">
              <a:spLocks noChangeArrowheads="1"/>
            </p:cNvSpPr>
            <p:nvPr/>
          </p:nvSpPr>
          <p:spPr bwMode="auto">
            <a:xfrm>
              <a:off x="992" y="1742"/>
              <a:ext cx="36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1400">
                  <a:solidFill>
                    <a:srgbClr val="000000"/>
                  </a:solidFill>
                  <a:ea typeface="宋体" panose="02010600030101010101" pitchFamily="2" charset="-122"/>
                </a:rPr>
                <a:t>第</a:t>
              </a:r>
              <a:r>
                <a:rPr kumimoji="0" lang="en-US" altLang="zh-CN" sz="14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r>
                <a:rPr kumimoji="0" lang="zh-CN" altLang="en-US" sz="1400">
                  <a:solidFill>
                    <a:srgbClr val="000000"/>
                  </a:solidFill>
                  <a:ea typeface="宋体" panose="02010600030101010101" pitchFamily="2" charset="-122"/>
                </a:rPr>
                <a:t>期期末</a:t>
              </a:r>
            </a:p>
          </p:txBody>
        </p:sp>
        <p:sp>
          <p:nvSpPr>
            <p:cNvPr id="14380" name="Line 22"/>
            <p:cNvSpPr>
              <a:spLocks noChangeShapeType="1"/>
            </p:cNvSpPr>
            <p:nvPr/>
          </p:nvSpPr>
          <p:spPr bwMode="auto">
            <a:xfrm flipH="1" flipV="1">
              <a:off x="928" y="1354"/>
              <a:ext cx="216" cy="3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Line 23"/>
            <p:cNvSpPr>
              <a:spLocks noChangeShapeType="1"/>
            </p:cNvSpPr>
            <p:nvPr/>
          </p:nvSpPr>
          <p:spPr bwMode="auto">
            <a:xfrm flipH="1" flipV="1">
              <a:off x="1512" y="1346"/>
              <a:ext cx="104" cy="3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2" name="Line 25"/>
            <p:cNvSpPr>
              <a:spLocks noChangeShapeType="1"/>
            </p:cNvSpPr>
            <p:nvPr/>
          </p:nvSpPr>
          <p:spPr bwMode="auto">
            <a:xfrm flipH="1" flipV="1">
              <a:off x="2128" y="1354"/>
              <a:ext cx="104" cy="3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3" name="Text Box 26"/>
            <p:cNvSpPr txBox="1">
              <a:spLocks noChangeArrowheads="1"/>
            </p:cNvSpPr>
            <p:nvPr/>
          </p:nvSpPr>
          <p:spPr bwMode="auto">
            <a:xfrm>
              <a:off x="820" y="1354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384" name="Text Box 27"/>
            <p:cNvSpPr txBox="1">
              <a:spLocks noChangeArrowheads="1"/>
            </p:cNvSpPr>
            <p:nvPr/>
          </p:nvSpPr>
          <p:spPr bwMode="auto">
            <a:xfrm>
              <a:off x="4704" y="1750"/>
              <a:ext cx="36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1400">
                  <a:solidFill>
                    <a:srgbClr val="000000"/>
                  </a:solidFill>
                  <a:ea typeface="宋体" panose="02010600030101010101" pitchFamily="2" charset="-122"/>
                </a:rPr>
                <a:t>第</a:t>
              </a:r>
              <a:r>
                <a:rPr kumimoji="0" lang="en-US" altLang="zh-CN" sz="14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r>
                <a:rPr kumimoji="0" lang="zh-CN" altLang="en-US" sz="1400">
                  <a:solidFill>
                    <a:srgbClr val="000000"/>
                  </a:solidFill>
                  <a:ea typeface="宋体" panose="02010600030101010101" pitchFamily="2" charset="-122"/>
                </a:rPr>
                <a:t>期期末</a:t>
              </a:r>
            </a:p>
          </p:txBody>
        </p:sp>
        <p:sp>
          <p:nvSpPr>
            <p:cNvPr id="14385" name="Line 28"/>
            <p:cNvSpPr>
              <a:spLocks noChangeShapeType="1"/>
            </p:cNvSpPr>
            <p:nvPr/>
          </p:nvSpPr>
          <p:spPr bwMode="auto">
            <a:xfrm flipH="1" flipV="1">
              <a:off x="4724" y="1375"/>
              <a:ext cx="104" cy="3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6" name="Text Box 62"/>
            <p:cNvSpPr txBox="1">
              <a:spLocks noChangeArrowheads="1"/>
            </p:cNvSpPr>
            <p:nvPr/>
          </p:nvSpPr>
          <p:spPr bwMode="auto">
            <a:xfrm>
              <a:off x="288" y="1596"/>
              <a:ext cx="5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000" b="1">
                  <a:solidFill>
                    <a:srgbClr val="FF0000"/>
                  </a:solidFill>
                  <a:ea typeface="宋体" panose="02010600030101010101" pitchFamily="2" charset="-122"/>
                </a:rPr>
                <a:t>现金流出</a:t>
              </a:r>
            </a:p>
          </p:txBody>
        </p:sp>
        <p:sp>
          <p:nvSpPr>
            <p:cNvPr id="14387" name="Text Box 63"/>
            <p:cNvSpPr txBox="1">
              <a:spLocks noChangeArrowheads="1"/>
            </p:cNvSpPr>
            <p:nvPr/>
          </p:nvSpPr>
          <p:spPr bwMode="auto">
            <a:xfrm>
              <a:off x="289" y="848"/>
              <a:ext cx="5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000" b="1">
                  <a:solidFill>
                    <a:srgbClr val="006600"/>
                  </a:solidFill>
                  <a:ea typeface="宋体" panose="02010600030101010101" pitchFamily="2" charset="-122"/>
                </a:rPr>
                <a:t>现金流入</a:t>
              </a:r>
            </a:p>
          </p:txBody>
        </p:sp>
      </p:grpSp>
      <p:grpSp>
        <p:nvGrpSpPr>
          <p:cNvPr id="14341" name="Group 69"/>
          <p:cNvGrpSpPr>
            <a:grpSpLocks/>
          </p:cNvGrpSpPr>
          <p:nvPr/>
        </p:nvGrpSpPr>
        <p:grpSpPr bwMode="auto">
          <a:xfrm>
            <a:off x="455613" y="3857625"/>
            <a:ext cx="7913687" cy="2690813"/>
            <a:chOff x="287" y="2430"/>
            <a:chExt cx="4985" cy="1695"/>
          </a:xfrm>
        </p:grpSpPr>
        <p:sp>
          <p:nvSpPr>
            <p:cNvPr id="14342" name="Line 31"/>
            <p:cNvSpPr>
              <a:spLocks noChangeShapeType="1"/>
            </p:cNvSpPr>
            <p:nvPr/>
          </p:nvSpPr>
          <p:spPr bwMode="auto">
            <a:xfrm>
              <a:off x="928" y="3387"/>
              <a:ext cx="40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3" name="Text Box 32"/>
            <p:cNvSpPr txBox="1">
              <a:spLocks noChangeArrowheads="1"/>
            </p:cNvSpPr>
            <p:nvPr/>
          </p:nvSpPr>
          <p:spPr bwMode="auto">
            <a:xfrm>
              <a:off x="1404" y="3395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344" name="Line 34"/>
            <p:cNvSpPr>
              <a:spLocks noChangeShapeType="1"/>
            </p:cNvSpPr>
            <p:nvPr/>
          </p:nvSpPr>
          <p:spPr bwMode="auto">
            <a:xfrm flipV="1">
              <a:off x="1512" y="3059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5" name="Line 35"/>
            <p:cNvSpPr>
              <a:spLocks noChangeShapeType="1"/>
            </p:cNvSpPr>
            <p:nvPr/>
          </p:nvSpPr>
          <p:spPr bwMode="auto">
            <a:xfrm flipV="1">
              <a:off x="3392" y="3067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6" name="Line 36"/>
            <p:cNvSpPr>
              <a:spLocks noChangeShapeType="1"/>
            </p:cNvSpPr>
            <p:nvPr/>
          </p:nvSpPr>
          <p:spPr bwMode="auto">
            <a:xfrm flipV="1">
              <a:off x="4056" y="3067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Line 37"/>
            <p:cNvSpPr>
              <a:spLocks noChangeShapeType="1"/>
            </p:cNvSpPr>
            <p:nvPr/>
          </p:nvSpPr>
          <p:spPr bwMode="auto">
            <a:xfrm flipV="1">
              <a:off x="2752" y="3067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Line 38"/>
            <p:cNvSpPr>
              <a:spLocks noChangeShapeType="1"/>
            </p:cNvSpPr>
            <p:nvPr/>
          </p:nvSpPr>
          <p:spPr bwMode="auto">
            <a:xfrm flipV="1">
              <a:off x="2128" y="3067"/>
              <a:ext cx="0" cy="328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9" name="Text Box 39"/>
            <p:cNvSpPr txBox="1">
              <a:spLocks noChangeArrowheads="1"/>
            </p:cNvSpPr>
            <p:nvPr/>
          </p:nvSpPr>
          <p:spPr bwMode="auto">
            <a:xfrm>
              <a:off x="2016" y="3395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350" name="Text Box 40"/>
            <p:cNvSpPr txBox="1">
              <a:spLocks noChangeArrowheads="1"/>
            </p:cNvSpPr>
            <p:nvPr/>
          </p:nvSpPr>
          <p:spPr bwMode="auto">
            <a:xfrm>
              <a:off x="2644" y="3387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4351" name="Text Box 41"/>
            <p:cNvSpPr txBox="1">
              <a:spLocks noChangeArrowheads="1"/>
            </p:cNvSpPr>
            <p:nvPr/>
          </p:nvSpPr>
          <p:spPr bwMode="auto">
            <a:xfrm>
              <a:off x="3284" y="3387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4352" name="Text Box 42"/>
            <p:cNvSpPr txBox="1">
              <a:spLocks noChangeArrowheads="1"/>
            </p:cNvSpPr>
            <p:nvPr/>
          </p:nvSpPr>
          <p:spPr bwMode="auto">
            <a:xfrm>
              <a:off x="3964" y="3387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353" name="Text Box 43"/>
            <p:cNvSpPr txBox="1">
              <a:spLocks noChangeArrowheads="1"/>
            </p:cNvSpPr>
            <p:nvPr/>
          </p:nvSpPr>
          <p:spPr bwMode="auto">
            <a:xfrm>
              <a:off x="4612" y="3387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4354" name="Line 44"/>
            <p:cNvSpPr>
              <a:spLocks noChangeShapeType="1"/>
            </p:cNvSpPr>
            <p:nvPr/>
          </p:nvSpPr>
          <p:spPr bwMode="auto">
            <a:xfrm flipV="1">
              <a:off x="4704" y="2843"/>
              <a:ext cx="0" cy="544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prstDash val="lg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5" name="Text Box 45"/>
            <p:cNvSpPr txBox="1">
              <a:spLocks noChangeArrowheads="1"/>
            </p:cNvSpPr>
            <p:nvPr/>
          </p:nvSpPr>
          <p:spPr bwMode="auto">
            <a:xfrm>
              <a:off x="5024" y="3387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14356" name="Text Box 52"/>
            <p:cNvSpPr txBox="1">
              <a:spLocks noChangeArrowheads="1"/>
            </p:cNvSpPr>
            <p:nvPr/>
          </p:nvSpPr>
          <p:spPr bwMode="auto">
            <a:xfrm>
              <a:off x="820" y="3395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4357" name="Oval 55"/>
            <p:cNvSpPr>
              <a:spLocks noChangeArrowheads="1"/>
            </p:cNvSpPr>
            <p:nvPr/>
          </p:nvSpPr>
          <p:spPr bwMode="auto">
            <a:xfrm>
              <a:off x="1200" y="2790"/>
              <a:ext cx="3928" cy="794"/>
            </a:xfrm>
            <a:prstGeom prst="ellipse">
              <a:avLst/>
            </a:prstGeom>
            <a:noFill/>
            <a:ln w="9525">
              <a:solidFill>
                <a:srgbClr val="008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endParaRPr kumimoji="0" lang="zh-CN" altLang="en-US"/>
            </a:p>
          </p:txBody>
        </p:sp>
        <p:sp>
          <p:nvSpPr>
            <p:cNvPr id="14358" name="AutoShape 56"/>
            <p:cNvSpPr>
              <a:spLocks noChangeArrowheads="1"/>
            </p:cNvSpPr>
            <p:nvPr/>
          </p:nvSpPr>
          <p:spPr bwMode="auto">
            <a:xfrm rot="-10553890">
              <a:off x="819" y="2667"/>
              <a:ext cx="796" cy="255"/>
            </a:xfrm>
            <a:prstGeom prst="curvedUpArrow">
              <a:avLst>
                <a:gd name="adj1" fmla="val 57778"/>
                <a:gd name="adj2" fmla="val 124314"/>
                <a:gd name="adj3" fmla="val 74236"/>
              </a:avLst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endParaRPr kumimoji="0" lang="zh-CN" altLang="en-US"/>
            </a:p>
          </p:txBody>
        </p:sp>
        <p:sp>
          <p:nvSpPr>
            <p:cNvPr id="14359" name="Line 57"/>
            <p:cNvSpPr>
              <a:spLocks noChangeShapeType="1"/>
            </p:cNvSpPr>
            <p:nvPr/>
          </p:nvSpPr>
          <p:spPr bwMode="auto">
            <a:xfrm flipV="1">
              <a:off x="928" y="2430"/>
              <a:ext cx="0" cy="957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Line 58"/>
            <p:cNvSpPr>
              <a:spLocks noChangeShapeType="1"/>
            </p:cNvSpPr>
            <p:nvPr/>
          </p:nvSpPr>
          <p:spPr bwMode="auto">
            <a:xfrm>
              <a:off x="928" y="3395"/>
              <a:ext cx="0" cy="73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Text Box 64"/>
            <p:cNvSpPr txBox="1">
              <a:spLocks noChangeArrowheads="1"/>
            </p:cNvSpPr>
            <p:nvPr/>
          </p:nvSpPr>
          <p:spPr bwMode="auto">
            <a:xfrm>
              <a:off x="287" y="3538"/>
              <a:ext cx="5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000" b="1">
                  <a:solidFill>
                    <a:srgbClr val="FF0000"/>
                  </a:solidFill>
                  <a:ea typeface="宋体" panose="02010600030101010101" pitchFamily="2" charset="-122"/>
                </a:rPr>
                <a:t>现金流出</a:t>
              </a:r>
            </a:p>
          </p:txBody>
        </p:sp>
        <p:sp>
          <p:nvSpPr>
            <p:cNvPr id="14362" name="Text Box 65"/>
            <p:cNvSpPr txBox="1">
              <a:spLocks noChangeArrowheads="1"/>
            </p:cNvSpPr>
            <p:nvPr/>
          </p:nvSpPr>
          <p:spPr bwMode="auto">
            <a:xfrm>
              <a:off x="288" y="2790"/>
              <a:ext cx="53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000" b="1">
                  <a:solidFill>
                    <a:srgbClr val="006600"/>
                  </a:solidFill>
                  <a:ea typeface="宋体" panose="02010600030101010101" pitchFamily="2" charset="-122"/>
                </a:rPr>
                <a:t>现金流入</a:t>
              </a:r>
            </a:p>
          </p:txBody>
        </p:sp>
        <p:sp>
          <p:nvSpPr>
            <p:cNvPr id="14363" name="Text Box 68"/>
            <p:cNvSpPr txBox="1">
              <a:spLocks noChangeArrowheads="1"/>
            </p:cNvSpPr>
            <p:nvPr/>
          </p:nvSpPr>
          <p:spPr bwMode="auto">
            <a:xfrm>
              <a:off x="1485" y="2461"/>
              <a:ext cx="13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 b="1" i="1">
                  <a:solidFill>
                    <a:srgbClr val="006600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一些术语	</a:t>
            </a:r>
            <a:r>
              <a:rPr lang="en-US" altLang="zh-CN" smtClean="0"/>
              <a:t>Terminology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现金流量 </a:t>
            </a:r>
            <a:r>
              <a:rPr lang="en-US" altLang="zh-CN" sz="3200" smtClean="0"/>
              <a:t>(cash flow)</a:t>
            </a:r>
          </a:p>
          <a:p>
            <a:pPr lvl="1" eaLnBrk="1" hangingPunct="1"/>
            <a:r>
              <a:rPr lang="zh-CN" altLang="en-US" sz="3000" smtClean="0"/>
              <a:t>年金 </a:t>
            </a:r>
            <a:r>
              <a:rPr lang="en-US" altLang="zh-CN" sz="3000" smtClean="0"/>
              <a:t>(annuity)</a:t>
            </a:r>
            <a:r>
              <a:rPr lang="zh-CN" altLang="en-US" sz="3000" smtClean="0"/>
              <a:t>，等值年金</a:t>
            </a:r>
          </a:p>
          <a:p>
            <a:pPr eaLnBrk="1" hangingPunct="1"/>
            <a:r>
              <a:rPr lang="zh-CN" altLang="en-US" sz="3200" smtClean="0"/>
              <a:t>现值 </a:t>
            </a:r>
            <a:r>
              <a:rPr lang="en-US" altLang="zh-CN" sz="3200" smtClean="0"/>
              <a:t>(present value)</a:t>
            </a:r>
          </a:p>
          <a:p>
            <a:pPr eaLnBrk="1" hangingPunct="1"/>
            <a:r>
              <a:rPr lang="zh-CN" altLang="en-US" sz="3200" smtClean="0"/>
              <a:t>终值 </a:t>
            </a:r>
            <a:r>
              <a:rPr lang="en-US" altLang="zh-CN" sz="3200" smtClean="0"/>
              <a:t>(future value)</a:t>
            </a:r>
          </a:p>
          <a:p>
            <a:pPr eaLnBrk="1" hangingPunct="1"/>
            <a:r>
              <a:rPr lang="zh-CN" altLang="en-US" sz="3200" smtClean="0"/>
              <a:t>各种率</a:t>
            </a:r>
          </a:p>
          <a:p>
            <a:pPr lvl="1" eaLnBrk="1" hangingPunct="1"/>
            <a:r>
              <a:rPr lang="zh-CN" altLang="en-US" sz="3000" smtClean="0"/>
              <a:t>折现率 </a:t>
            </a:r>
            <a:r>
              <a:rPr lang="en-US" altLang="zh-CN" sz="3000" smtClean="0"/>
              <a:t>(discount rate)</a:t>
            </a:r>
          </a:p>
          <a:p>
            <a:pPr lvl="2" eaLnBrk="1" hangingPunct="1"/>
            <a:r>
              <a:rPr lang="zh-CN" altLang="en-US" sz="2600" smtClean="0"/>
              <a:t>用在计算贷款的现金流量时，称为利率 </a:t>
            </a:r>
            <a:r>
              <a:rPr lang="en-US" altLang="zh-CN" sz="2600" smtClean="0"/>
              <a:t>(interest rate)</a:t>
            </a:r>
          </a:p>
          <a:p>
            <a:pPr lvl="2" eaLnBrk="1" hangingPunct="1"/>
            <a:r>
              <a:rPr lang="zh-CN" altLang="en-US" sz="2600" smtClean="0"/>
              <a:t>用在其他投资的现金流量时，通常称为收益率</a:t>
            </a:r>
            <a:r>
              <a:rPr lang="en-US" altLang="zh-CN" sz="2600" smtClean="0"/>
              <a:t>(rate of return)</a:t>
            </a:r>
          </a:p>
          <a:p>
            <a:pPr eaLnBrk="1" hangingPunct="1"/>
            <a:endParaRPr lang="zh-CN" altLang="en-US" sz="30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2700"/>
            <a:ext cx="8582025" cy="1181100"/>
          </a:xfrm>
        </p:spPr>
        <p:txBody>
          <a:bodyPr/>
          <a:lstStyle/>
          <a:p>
            <a:pPr eaLnBrk="1" hangingPunct="1"/>
            <a:r>
              <a:rPr lang="zh-CN" altLang="en-US" sz="4000" smtClean="0"/>
              <a:t>“现在”和“将来”现金流量之间的关系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200" smtClean="0"/>
              <a:t>以银行存款为例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第</a:t>
            </a:r>
            <a:r>
              <a:rPr lang="en-US" altLang="zh-CN" sz="2200" smtClean="0"/>
              <a:t>1</a:t>
            </a:r>
            <a:r>
              <a:rPr lang="zh-CN" altLang="en-US" sz="2200" smtClean="0"/>
              <a:t>年初存入本金</a:t>
            </a:r>
            <a:r>
              <a:rPr lang="en-US" altLang="zh-CN" sz="2200" smtClean="0"/>
              <a:t>P</a:t>
            </a:r>
            <a:r>
              <a:rPr lang="zh-CN" altLang="en-US" sz="2200" smtClean="0"/>
              <a:t>元，年利率为</a:t>
            </a:r>
            <a:r>
              <a:rPr lang="en-US" altLang="zh-CN" sz="2200" smtClean="0"/>
              <a:t>i</a:t>
            </a:r>
            <a:endParaRPr lang="zh-CN" altLang="en-US" sz="220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第</a:t>
            </a:r>
            <a:r>
              <a:rPr lang="en-US" altLang="zh-CN" sz="2200" smtClean="0"/>
              <a:t>1</a:t>
            </a:r>
            <a:r>
              <a:rPr lang="zh-CN" altLang="en-US" sz="2200" smtClean="0"/>
              <a:t>年底，这笔钱变为了</a:t>
            </a:r>
            <a:r>
              <a:rPr lang="en-US" altLang="zh-CN" sz="2200" smtClean="0"/>
              <a:t>P(1+i)</a:t>
            </a:r>
            <a:r>
              <a:rPr lang="zh-CN" altLang="en-US" sz="2200" smtClean="0"/>
              <a:t>元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第</a:t>
            </a:r>
            <a:r>
              <a:rPr lang="en-US" altLang="zh-CN" sz="2200" smtClean="0"/>
              <a:t>2</a:t>
            </a:r>
            <a:r>
              <a:rPr lang="zh-CN" altLang="en-US" sz="2200" smtClean="0"/>
              <a:t>年底，这笔钱变为了</a:t>
            </a:r>
            <a:r>
              <a:rPr lang="en-US" altLang="zh-CN" sz="2200" smtClean="0"/>
              <a:t>P(1+i)(1+i)=P(1+i)</a:t>
            </a:r>
            <a:r>
              <a:rPr lang="en-US" altLang="zh-CN" sz="2200" baseline="30000" smtClean="0"/>
              <a:t>2</a:t>
            </a:r>
            <a:r>
              <a:rPr lang="zh-CN" altLang="en-US" sz="2200" smtClean="0"/>
              <a:t>元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/>
              <a:t>……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smtClean="0"/>
              <a:t>第</a:t>
            </a:r>
            <a:r>
              <a:rPr lang="en-US" altLang="zh-CN" sz="2200" smtClean="0"/>
              <a:t>n</a:t>
            </a:r>
            <a:r>
              <a:rPr lang="zh-CN" altLang="en-US" sz="2200" smtClean="0"/>
              <a:t>年底，这笔钱变为了</a:t>
            </a:r>
            <a:r>
              <a:rPr lang="en-US" altLang="zh-CN" sz="2200" smtClean="0"/>
              <a:t>F=P(1+i)</a:t>
            </a:r>
            <a:r>
              <a:rPr lang="en-US" altLang="zh-CN" sz="2200" baseline="30000" smtClean="0"/>
              <a:t>n</a:t>
            </a:r>
            <a:r>
              <a:rPr lang="zh-CN" altLang="en-US" sz="2200" smtClean="0"/>
              <a:t>元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0" smtClean="0">
                <a:solidFill>
                  <a:srgbClr val="FF0000"/>
                </a:solidFill>
              </a:rPr>
              <a:t>F=P(1+i)</a:t>
            </a:r>
            <a:r>
              <a:rPr lang="en-US" altLang="zh-CN" sz="2800" b="0" baseline="30000" smtClean="0">
                <a:solidFill>
                  <a:srgbClr val="FF0000"/>
                </a:solidFill>
              </a:rPr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FF0000"/>
                </a:solidFill>
              </a:rPr>
              <a:t>(1+i)</a:t>
            </a:r>
            <a:r>
              <a:rPr lang="en-US" altLang="zh-CN" sz="2400" baseline="30000" smtClean="0">
                <a:solidFill>
                  <a:srgbClr val="FF0000"/>
                </a:solidFill>
              </a:rPr>
              <a:t>n</a:t>
            </a:r>
            <a:r>
              <a:rPr lang="zh-CN" altLang="en-US" sz="2400" smtClean="0"/>
              <a:t>为</a:t>
            </a:r>
            <a:r>
              <a:rPr lang="zh-CN" altLang="en-US" sz="2400" u="sng" smtClean="0"/>
              <a:t>一次支付终值系数</a:t>
            </a:r>
            <a:r>
              <a:rPr lang="zh-CN" altLang="en-US" sz="2400" smtClean="0"/>
              <a:t>，用</a:t>
            </a:r>
            <a:r>
              <a:rPr lang="zh-CN" altLang="en-US" sz="2400" smtClean="0">
                <a:solidFill>
                  <a:srgbClr val="FF0000"/>
                </a:solidFill>
              </a:rPr>
              <a:t>（</a:t>
            </a:r>
            <a:r>
              <a:rPr lang="en-US" altLang="zh-CN" sz="2400" smtClean="0">
                <a:solidFill>
                  <a:srgbClr val="FF0000"/>
                </a:solidFill>
              </a:rPr>
              <a:t>F/P, i, n</a:t>
            </a:r>
            <a:r>
              <a:rPr lang="zh-CN" altLang="en-US" sz="2400" smtClean="0">
                <a:solidFill>
                  <a:srgbClr val="FF0000"/>
                </a:solidFill>
              </a:rPr>
              <a:t>）</a:t>
            </a:r>
            <a:r>
              <a:rPr lang="zh-CN" altLang="en-US" sz="2400" smtClean="0"/>
              <a:t>表示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FF0000"/>
                </a:solidFill>
              </a:rPr>
              <a:t>F=P(F/P, i, 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0" smtClean="0">
                <a:solidFill>
                  <a:srgbClr val="0000CC"/>
                </a:solidFill>
              </a:rPr>
              <a:t>P=F(1+i)</a:t>
            </a:r>
            <a:r>
              <a:rPr lang="en-US" altLang="zh-CN" sz="2800" b="0" baseline="30000" smtClean="0">
                <a:solidFill>
                  <a:srgbClr val="0000CC"/>
                </a:solidFill>
              </a:rPr>
              <a:t>-n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0000CC"/>
                </a:solidFill>
              </a:rPr>
              <a:t>(1+i)</a:t>
            </a:r>
            <a:r>
              <a:rPr lang="en-US" altLang="zh-CN" sz="2400" baseline="30000" smtClean="0">
                <a:solidFill>
                  <a:srgbClr val="0000CC"/>
                </a:solidFill>
              </a:rPr>
              <a:t>-n</a:t>
            </a:r>
            <a:r>
              <a:rPr lang="zh-CN" altLang="en-US" sz="2400" smtClean="0"/>
              <a:t>为</a:t>
            </a:r>
            <a:r>
              <a:rPr lang="zh-CN" altLang="en-US" sz="2400" u="sng" smtClean="0"/>
              <a:t>一次支付现值系数</a:t>
            </a:r>
            <a:r>
              <a:rPr lang="zh-CN" altLang="en-US" sz="2400" smtClean="0"/>
              <a:t>，用</a:t>
            </a:r>
            <a:r>
              <a:rPr lang="zh-CN" altLang="en-US" sz="2400" smtClean="0">
                <a:solidFill>
                  <a:srgbClr val="0000CC"/>
                </a:solidFill>
              </a:rPr>
              <a:t>（</a:t>
            </a:r>
            <a:r>
              <a:rPr lang="en-US" altLang="zh-CN" sz="2400" smtClean="0">
                <a:solidFill>
                  <a:srgbClr val="0000CC"/>
                </a:solidFill>
              </a:rPr>
              <a:t>P/F, i, n</a:t>
            </a:r>
            <a:r>
              <a:rPr lang="zh-CN" altLang="en-US" sz="2400" smtClean="0">
                <a:solidFill>
                  <a:srgbClr val="0000CC"/>
                </a:solidFill>
              </a:rPr>
              <a:t>）</a:t>
            </a:r>
            <a:r>
              <a:rPr lang="zh-CN" altLang="en-US" sz="2400" smtClean="0"/>
              <a:t>表示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0000CC"/>
                </a:solidFill>
              </a:rPr>
              <a:t>P=F(P/F, i, n)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400" smtClean="0">
              <a:solidFill>
                <a:srgbClr val="0000CC"/>
              </a:solidFill>
            </a:endParaRPr>
          </a:p>
        </p:txBody>
      </p:sp>
      <p:grpSp>
        <p:nvGrpSpPr>
          <p:cNvPr id="18435" name="Group 11"/>
          <p:cNvGrpSpPr>
            <a:grpSpLocks/>
          </p:cNvGrpSpPr>
          <p:nvPr/>
        </p:nvGrpSpPr>
        <p:grpSpPr bwMode="auto">
          <a:xfrm>
            <a:off x="6426200" y="2211388"/>
            <a:ext cx="2717800" cy="1981200"/>
            <a:chOff x="3872" y="1000"/>
            <a:chExt cx="1712" cy="1248"/>
          </a:xfrm>
        </p:grpSpPr>
        <p:sp>
          <p:nvSpPr>
            <p:cNvPr id="18436" name="Line 4"/>
            <p:cNvSpPr>
              <a:spLocks noChangeShapeType="1"/>
            </p:cNvSpPr>
            <p:nvPr/>
          </p:nvSpPr>
          <p:spPr bwMode="auto">
            <a:xfrm>
              <a:off x="3872" y="1832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>
              <a:off x="3872" y="1832"/>
              <a:ext cx="0" cy="416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Line 7"/>
            <p:cNvSpPr>
              <a:spLocks noChangeShapeType="1"/>
            </p:cNvSpPr>
            <p:nvPr/>
          </p:nvSpPr>
          <p:spPr bwMode="auto">
            <a:xfrm flipV="1">
              <a:off x="5208" y="1000"/>
              <a:ext cx="0" cy="832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3872" y="1832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8440" name="Text Box 9"/>
            <p:cNvSpPr txBox="1">
              <a:spLocks noChangeArrowheads="1"/>
            </p:cNvSpPr>
            <p:nvPr/>
          </p:nvSpPr>
          <p:spPr bwMode="auto">
            <a:xfrm>
              <a:off x="5108" y="1832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18441" name="Text Box 10"/>
            <p:cNvSpPr txBox="1">
              <a:spLocks noChangeArrowheads="1"/>
            </p:cNvSpPr>
            <p:nvPr/>
          </p:nvSpPr>
          <p:spPr bwMode="auto">
            <a:xfrm>
              <a:off x="4468" y="1601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两个简单的例子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smtClean="0"/>
              <a:t>某人借款</a:t>
            </a:r>
            <a:r>
              <a:rPr lang="en-US" altLang="zh-CN" sz="2800" smtClean="0"/>
              <a:t>1</a:t>
            </a:r>
            <a:r>
              <a:rPr lang="zh-CN" altLang="en-US" sz="2800" smtClean="0"/>
              <a:t>万元，年利率为</a:t>
            </a:r>
            <a:r>
              <a:rPr lang="en-US" altLang="zh-CN" sz="2800" smtClean="0"/>
              <a:t>10%</a:t>
            </a:r>
            <a:r>
              <a:rPr lang="zh-CN" altLang="en-US" sz="2800" smtClean="0"/>
              <a:t>，</a:t>
            </a:r>
            <a:r>
              <a:rPr lang="en-US" altLang="zh-CN" sz="2800" smtClean="0"/>
              <a:t>5</a:t>
            </a:r>
            <a:r>
              <a:rPr lang="zh-CN" altLang="en-US" sz="2800" smtClean="0"/>
              <a:t>年后连本带利一次偿还所需支付的金额是多少？</a:t>
            </a:r>
          </a:p>
          <a:p>
            <a:pPr lvl="1" eaLnBrk="1" hangingPunct="1"/>
            <a:r>
              <a:rPr lang="en-US" altLang="zh-CN" sz="2400" smtClean="0"/>
              <a:t>F=P(F/P, i, n)=10,000(F/P, 10%, 5)</a:t>
            </a:r>
          </a:p>
          <a:p>
            <a:pPr lvl="1" eaLnBrk="1" hangingPunct="1">
              <a:buFontTx/>
              <a:buNone/>
            </a:pPr>
            <a:r>
              <a:rPr lang="en-US" altLang="zh-CN" sz="2400" smtClean="0"/>
              <a:t>                        = 10,000×1.6105</a:t>
            </a:r>
          </a:p>
          <a:p>
            <a:pPr lvl="1" eaLnBrk="1" hangingPunct="1">
              <a:buFontTx/>
              <a:buNone/>
            </a:pPr>
            <a:r>
              <a:rPr lang="en-US" altLang="zh-CN" sz="2400" smtClean="0"/>
              <a:t>                        = 16,105</a:t>
            </a:r>
            <a:r>
              <a:rPr lang="zh-CN" altLang="en-US" sz="2400" smtClean="0"/>
              <a:t>元</a:t>
            </a:r>
          </a:p>
          <a:p>
            <a:pPr eaLnBrk="1" hangingPunct="1"/>
            <a:endParaRPr lang="zh-CN" altLang="en-US" sz="2800" smtClean="0"/>
          </a:p>
          <a:p>
            <a:pPr eaLnBrk="1" hangingPunct="1"/>
            <a:r>
              <a:rPr lang="zh-CN" altLang="en-US" sz="2800" smtClean="0"/>
              <a:t>某人希望</a:t>
            </a:r>
            <a:r>
              <a:rPr lang="en-US" altLang="zh-CN" sz="2800" smtClean="0"/>
              <a:t>5</a:t>
            </a:r>
            <a:r>
              <a:rPr lang="zh-CN" altLang="en-US" sz="2800" smtClean="0"/>
              <a:t>年末得到</a:t>
            </a:r>
            <a:r>
              <a:rPr lang="en-US" altLang="zh-CN" sz="2800" smtClean="0"/>
              <a:t>1</a:t>
            </a:r>
            <a:r>
              <a:rPr lang="zh-CN" altLang="en-US" sz="2800" smtClean="0"/>
              <a:t>万元资金，年利率为</a:t>
            </a:r>
            <a:r>
              <a:rPr lang="en-US" altLang="zh-CN" sz="2800" smtClean="0"/>
              <a:t>10%</a:t>
            </a:r>
            <a:r>
              <a:rPr lang="zh-CN" altLang="en-US" sz="2800" smtClean="0"/>
              <a:t>，他现在必须一次性存款多少元？</a:t>
            </a:r>
          </a:p>
          <a:p>
            <a:pPr lvl="1" eaLnBrk="1" hangingPunct="1"/>
            <a:r>
              <a:rPr lang="en-US" altLang="zh-CN" sz="2400" smtClean="0"/>
              <a:t>P=F(P/F, i, n)=10,000(P/F, 10%, 5)</a:t>
            </a:r>
          </a:p>
          <a:p>
            <a:pPr lvl="1" eaLnBrk="1" hangingPunct="1">
              <a:buFontTx/>
              <a:buNone/>
            </a:pPr>
            <a:r>
              <a:rPr lang="en-US" altLang="zh-CN" sz="2400" smtClean="0"/>
              <a:t>                        = 10,000×0.6209</a:t>
            </a:r>
          </a:p>
          <a:p>
            <a:pPr lvl="1" eaLnBrk="1" hangingPunct="1">
              <a:buFontTx/>
              <a:buNone/>
            </a:pPr>
            <a:r>
              <a:rPr lang="en-US" altLang="zh-CN" sz="2400" smtClean="0"/>
              <a:t>                        = 6,209</a:t>
            </a:r>
            <a:r>
              <a:rPr lang="zh-CN" altLang="en-US" sz="2400" smtClean="0"/>
              <a:t>元</a:t>
            </a:r>
          </a:p>
          <a:p>
            <a:pPr eaLnBrk="1" hangingPunct="1"/>
            <a:endParaRPr lang="zh-CN" altLang="en-US" sz="2400" smtClean="0"/>
          </a:p>
          <a:p>
            <a:pPr eaLnBrk="1" hangingPunct="1"/>
            <a:endParaRPr lang="zh-CN" altLang="en-US" sz="32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2700"/>
            <a:ext cx="8861425" cy="1181100"/>
          </a:xfrm>
        </p:spPr>
        <p:txBody>
          <a:bodyPr/>
          <a:lstStyle/>
          <a:p>
            <a:pPr eaLnBrk="1" hangingPunct="1"/>
            <a:r>
              <a:rPr lang="zh-CN" altLang="en-US" smtClean="0"/>
              <a:t>单利 </a:t>
            </a:r>
            <a:r>
              <a:rPr lang="en-US" altLang="zh-CN" smtClean="0"/>
              <a:t>vs. </a:t>
            </a:r>
            <a:r>
              <a:rPr lang="zh-CN" altLang="en-US" smtClean="0"/>
              <a:t>复利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单利</a:t>
            </a:r>
            <a:r>
              <a:rPr lang="en-US" altLang="zh-CN" sz="3200" smtClean="0"/>
              <a:t>——“</a:t>
            </a:r>
            <a:r>
              <a:rPr lang="zh-CN" altLang="en-US" sz="3200" smtClean="0"/>
              <a:t>利不生利”</a:t>
            </a:r>
          </a:p>
          <a:p>
            <a:pPr lvl="1" eaLnBrk="1" hangingPunct="1"/>
            <a:r>
              <a:rPr lang="zh-CN" altLang="en-US" sz="2600" smtClean="0"/>
              <a:t>第一年初存入本金</a:t>
            </a:r>
            <a:r>
              <a:rPr lang="en-US" altLang="zh-CN" sz="2600" smtClean="0"/>
              <a:t>P</a:t>
            </a:r>
            <a:r>
              <a:rPr lang="zh-CN" altLang="en-US" sz="2600" smtClean="0"/>
              <a:t>，每年的利息都是</a:t>
            </a:r>
            <a:r>
              <a:rPr lang="en-US" altLang="zh-CN" sz="2600" smtClean="0"/>
              <a:t>P×i</a:t>
            </a:r>
            <a:r>
              <a:rPr lang="en-US" altLang="zh-CN" sz="2600" baseline="-25000" smtClean="0"/>
              <a:t>d</a:t>
            </a:r>
            <a:r>
              <a:rPr lang="zh-CN" altLang="en-US" sz="2600" smtClean="0"/>
              <a:t>，第</a:t>
            </a:r>
            <a:r>
              <a:rPr lang="en-US" altLang="zh-CN" sz="2600" smtClean="0"/>
              <a:t>n</a:t>
            </a:r>
            <a:r>
              <a:rPr lang="zh-CN" altLang="en-US" sz="2600" smtClean="0"/>
              <a:t>年末得到利息</a:t>
            </a:r>
            <a:r>
              <a:rPr lang="en-US" altLang="zh-CN" sz="2600" smtClean="0"/>
              <a:t>P×i</a:t>
            </a:r>
            <a:r>
              <a:rPr lang="en-US" altLang="zh-CN" sz="2600" baseline="-25000" smtClean="0"/>
              <a:t>d</a:t>
            </a:r>
            <a:r>
              <a:rPr lang="en-US" altLang="zh-CN" sz="2600" smtClean="0"/>
              <a:t>×n</a:t>
            </a:r>
            <a:r>
              <a:rPr lang="zh-CN" altLang="en-US" sz="2600" smtClean="0"/>
              <a:t>，本息合计为</a:t>
            </a:r>
            <a:r>
              <a:rPr lang="en-US" altLang="zh-CN" sz="2600" smtClean="0"/>
              <a:t>P(1+ni</a:t>
            </a:r>
            <a:r>
              <a:rPr lang="en-US" altLang="zh-CN" sz="2600" baseline="-25000" smtClean="0"/>
              <a:t>d</a:t>
            </a:r>
            <a:r>
              <a:rPr lang="en-US" altLang="zh-CN" sz="2600" smtClean="0"/>
              <a:t>)</a:t>
            </a:r>
          </a:p>
          <a:p>
            <a:pPr eaLnBrk="1" hangingPunct="1"/>
            <a:r>
              <a:rPr lang="zh-CN" altLang="en-US" sz="3200" smtClean="0"/>
              <a:t>复利</a:t>
            </a:r>
            <a:r>
              <a:rPr lang="en-US" altLang="zh-CN" sz="3200" smtClean="0"/>
              <a:t>——“</a:t>
            </a:r>
            <a:r>
              <a:rPr lang="zh-CN" altLang="en-US" sz="3200" smtClean="0"/>
              <a:t>利生利”，“利滚利”</a:t>
            </a:r>
          </a:p>
          <a:p>
            <a:pPr lvl="1" eaLnBrk="1" hangingPunct="1"/>
            <a:r>
              <a:rPr lang="zh-CN" altLang="en-US" sz="2600" smtClean="0"/>
              <a:t>刚才所说的</a:t>
            </a:r>
            <a:r>
              <a:rPr lang="en-US" altLang="zh-CN" sz="2600" smtClean="0"/>
              <a:t>F=P(1+i)</a:t>
            </a:r>
            <a:r>
              <a:rPr lang="en-US" altLang="zh-CN" sz="2600" baseline="30000" smtClean="0"/>
              <a:t>n</a:t>
            </a:r>
            <a:r>
              <a:rPr lang="zh-CN" altLang="en-US" sz="2600" smtClean="0"/>
              <a:t>就是复利的计算方法</a:t>
            </a:r>
          </a:p>
          <a:p>
            <a:pPr eaLnBrk="1" hangingPunct="1"/>
            <a:r>
              <a:rPr lang="zh-CN" altLang="en-US" sz="3200" smtClean="0"/>
              <a:t>在工程经济分析中，一般采用</a:t>
            </a:r>
            <a:r>
              <a:rPr lang="zh-CN" altLang="en-US" sz="3200" u="sng" smtClean="0"/>
              <a:t>复利</a:t>
            </a:r>
            <a:r>
              <a:rPr lang="zh-CN" altLang="en-US" sz="3200" smtClean="0"/>
              <a:t>计息</a:t>
            </a:r>
          </a:p>
          <a:p>
            <a:pPr eaLnBrk="1" hangingPunct="1"/>
            <a:r>
              <a:rPr lang="zh-CN" altLang="en-US" sz="3200" smtClean="0"/>
              <a:t>目前的银行存款是单利还是复利？</a:t>
            </a:r>
          </a:p>
          <a:p>
            <a:pPr lvl="1" eaLnBrk="1" hangingPunct="1"/>
            <a:r>
              <a:rPr lang="zh-CN" altLang="en-US" sz="2600" smtClean="0"/>
              <a:t>活期：三个月内计算单利，三个月结息一次，计入本金</a:t>
            </a:r>
          </a:p>
          <a:p>
            <a:pPr lvl="1" eaLnBrk="1" hangingPunct="1"/>
            <a:r>
              <a:rPr lang="zh-CN" altLang="en-US" sz="2600" smtClean="0"/>
              <a:t>定期：单利</a:t>
            </a:r>
          </a:p>
          <a:p>
            <a:pPr lvl="1" eaLnBrk="1" hangingPunct="1"/>
            <a:endParaRPr lang="zh-CN" altLang="en-US" smtClean="0"/>
          </a:p>
          <a:p>
            <a:pPr lvl="2" eaLnBrk="1" hangingPunct="1"/>
            <a:endParaRPr lang="zh-CN" altLang="en-US" sz="20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8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8"/>
          <p:cNvSpPr>
            <a:spLocks noRot="1" noChangeArrowheads="1"/>
          </p:cNvSpPr>
          <p:nvPr/>
        </p:nvSpPr>
        <p:spPr bwMode="auto">
          <a:xfrm>
            <a:off x="2268538" y="188913"/>
            <a:ext cx="4175125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dist"/>
            <a:r>
              <a:rPr kumimoji="0" lang="en-US" altLang="zh-CN" sz="4800" b="1">
                <a:solidFill>
                  <a:srgbClr val="99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</a:p>
        </p:txBody>
      </p:sp>
      <p:sp>
        <p:nvSpPr>
          <p:cNvPr id="3" name="Rectangle 9"/>
          <p:cNvSpPr txBox="1">
            <a:spLocks noRot="1" noChangeArrowheads="1"/>
          </p:cNvSpPr>
          <p:nvPr/>
        </p:nvSpPr>
        <p:spPr bwMode="auto">
          <a:xfrm>
            <a:off x="3143250" y="1357313"/>
            <a:ext cx="5500688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zh-CN" altLang="en-US" sz="1800" b="1">
                <a:solidFill>
                  <a:srgbClr val="000000"/>
                </a:solidFill>
              </a:rPr>
              <a:t>中国银行人民币存款利率表</a:t>
            </a:r>
            <a:endParaRPr kumimoji="0" lang="en-US" altLang="zh-CN" sz="1800" b="1">
              <a:solidFill>
                <a:srgbClr val="000000"/>
              </a:solidFill>
            </a:endParaRPr>
          </a:p>
        </p:txBody>
      </p:sp>
      <p:sp>
        <p:nvSpPr>
          <p:cNvPr id="24579" name="矩形 3"/>
          <p:cNvSpPr>
            <a:spLocks noChangeArrowheads="1"/>
          </p:cNvSpPr>
          <p:nvPr/>
        </p:nvSpPr>
        <p:spPr bwMode="auto">
          <a:xfrm>
            <a:off x="428625" y="2214563"/>
            <a:ext cx="80010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kumimoji="0" lang="zh-CN" altLang="en-US" sz="2800">
                <a:solidFill>
                  <a:srgbClr val="33334D"/>
                </a:solidFill>
              </a:rPr>
              <a:t>央行决定自</a:t>
            </a:r>
            <a:r>
              <a:rPr kumimoji="0" lang="en-US" altLang="zh-CN" sz="2800">
                <a:solidFill>
                  <a:srgbClr val="33334D"/>
                </a:solidFill>
              </a:rPr>
              <a:t>2012</a:t>
            </a:r>
            <a:r>
              <a:rPr kumimoji="0" lang="zh-CN" altLang="en-US" sz="2800">
                <a:solidFill>
                  <a:srgbClr val="33334D"/>
                </a:solidFill>
              </a:rPr>
              <a:t>年</a:t>
            </a:r>
            <a:r>
              <a:rPr kumimoji="0" lang="en-US" altLang="zh-CN" sz="2800">
                <a:solidFill>
                  <a:srgbClr val="33334D"/>
                </a:solidFill>
              </a:rPr>
              <a:t>6</a:t>
            </a:r>
            <a:r>
              <a:rPr kumimoji="0" lang="zh-CN" altLang="en-US" sz="2800">
                <a:solidFill>
                  <a:srgbClr val="33334D"/>
                </a:solidFill>
              </a:rPr>
              <a:t>月</a:t>
            </a:r>
            <a:r>
              <a:rPr kumimoji="0" lang="en-US" altLang="zh-CN" sz="2800">
                <a:solidFill>
                  <a:srgbClr val="33334D"/>
                </a:solidFill>
              </a:rPr>
              <a:t>8</a:t>
            </a:r>
            <a:r>
              <a:rPr kumimoji="0" lang="zh-CN" altLang="en-US" sz="2800">
                <a:solidFill>
                  <a:srgbClr val="33334D"/>
                </a:solidFill>
              </a:rPr>
              <a:t>日起降息。</a:t>
            </a:r>
            <a:endParaRPr kumimoji="0" lang="en-US" altLang="zh-CN" sz="2800">
              <a:solidFill>
                <a:srgbClr val="33334D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0" lang="zh-CN" altLang="en-US" sz="2800">
                <a:solidFill>
                  <a:srgbClr val="33334D"/>
                </a:solidFill>
              </a:rPr>
              <a:t>金融机构一年期存款基准利率下调</a:t>
            </a:r>
            <a:r>
              <a:rPr kumimoji="0" lang="en-US" altLang="zh-CN" sz="2800">
                <a:solidFill>
                  <a:srgbClr val="33334D"/>
                </a:solidFill>
              </a:rPr>
              <a:t>0.25</a:t>
            </a:r>
            <a:r>
              <a:rPr kumimoji="0" lang="zh-CN" altLang="en-US" sz="2800">
                <a:solidFill>
                  <a:srgbClr val="33334D"/>
                </a:solidFill>
              </a:rPr>
              <a:t>个百分点，一年期贷款基准利率下调</a:t>
            </a:r>
            <a:r>
              <a:rPr kumimoji="0" lang="en-US" altLang="zh-CN" sz="2800">
                <a:solidFill>
                  <a:srgbClr val="33334D"/>
                </a:solidFill>
              </a:rPr>
              <a:t>0.25</a:t>
            </a:r>
            <a:r>
              <a:rPr kumimoji="0" lang="zh-CN" altLang="en-US" sz="2800">
                <a:solidFill>
                  <a:srgbClr val="33334D"/>
                </a:solidFill>
              </a:rPr>
              <a:t>个百分点。</a:t>
            </a:r>
            <a:endParaRPr kumimoji="0" lang="en-US" altLang="zh-CN" sz="2800">
              <a:solidFill>
                <a:srgbClr val="33334D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0" lang="zh-CN" altLang="en-US" sz="2800">
                <a:solidFill>
                  <a:srgbClr val="33334D"/>
                </a:solidFill>
              </a:rPr>
              <a:t>这是近三年半以来央行首次降息</a:t>
            </a:r>
            <a:r>
              <a:rPr kumimoji="0" lang="en-US" altLang="zh-CN" sz="2800">
                <a:solidFill>
                  <a:srgbClr val="33334D"/>
                </a:solidFill>
              </a:rPr>
              <a:t>(</a:t>
            </a:r>
            <a:r>
              <a:rPr kumimoji="0" lang="zh-CN" altLang="en-US" sz="2800">
                <a:solidFill>
                  <a:srgbClr val="33334D"/>
                </a:solidFill>
              </a:rPr>
              <a:t>上次降息是</a:t>
            </a:r>
            <a:r>
              <a:rPr kumimoji="0" lang="en-US" altLang="zh-CN" sz="2800">
                <a:solidFill>
                  <a:srgbClr val="33334D"/>
                </a:solidFill>
              </a:rPr>
              <a:t>2008</a:t>
            </a:r>
            <a:r>
              <a:rPr kumimoji="0" lang="zh-CN" altLang="en-US" sz="2800">
                <a:solidFill>
                  <a:srgbClr val="33334D"/>
                </a:solidFill>
              </a:rPr>
              <a:t>年</a:t>
            </a:r>
            <a:r>
              <a:rPr kumimoji="0" lang="en-US" altLang="zh-CN" sz="2800">
                <a:solidFill>
                  <a:srgbClr val="33334D"/>
                </a:solidFill>
              </a:rPr>
              <a:t>12</a:t>
            </a:r>
            <a:r>
              <a:rPr kumimoji="0" lang="zh-CN" altLang="en-US" sz="2800">
                <a:solidFill>
                  <a:srgbClr val="33334D"/>
                </a:solidFill>
              </a:rPr>
              <a:t>月</a:t>
            </a:r>
            <a:r>
              <a:rPr kumimoji="0" lang="en-US" altLang="zh-CN" sz="2800">
                <a:solidFill>
                  <a:srgbClr val="33334D"/>
                </a:solidFill>
              </a:rPr>
              <a:t>23</a:t>
            </a:r>
            <a:r>
              <a:rPr kumimoji="0" lang="zh-CN" altLang="en-US" sz="2800">
                <a:solidFill>
                  <a:srgbClr val="33334D"/>
                </a:solidFill>
              </a:rPr>
              <a:t>日</a:t>
            </a:r>
            <a:r>
              <a:rPr kumimoji="0" lang="en-US" altLang="zh-CN" sz="2800">
                <a:solidFill>
                  <a:srgbClr val="33334D"/>
                </a:solidFill>
              </a:rPr>
              <a:t>)</a:t>
            </a:r>
            <a:endParaRPr kumimoji="0" lang="zh-CN" altLang="en-US" sz="2800">
              <a:solidFill>
                <a:srgbClr val="33334D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40285" r="40234" b="9180"/>
          <a:stretch>
            <a:fillRect/>
          </a:stretch>
        </p:blipFill>
        <p:spPr bwMode="auto">
          <a:xfrm>
            <a:off x="1500188" y="1187450"/>
            <a:ext cx="600075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500166" y="2571744"/>
            <a:ext cx="5929354" cy="1754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存入</a:t>
            </a:r>
            <a:r>
              <a:rPr lang="en-US" altLang="zh-CN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10000</a:t>
            </a:r>
            <a:r>
              <a:rPr lang="zh-CN" altLang="en-US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元，一年后取出    ？    元</a:t>
            </a:r>
            <a:endParaRPr lang="en-US" altLang="zh-CN" sz="54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86248" y="3357562"/>
            <a:ext cx="2428892" cy="9233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54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10325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143250" y="871538"/>
            <a:ext cx="2000250" cy="538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kumimoji="0" lang="zh-CN" altLang="en-US" sz="34400" b="1">
              <a:solidFill>
                <a:schemeClr val="bg2"/>
              </a:solidFill>
            </a:endParaRPr>
          </a:p>
        </p:txBody>
      </p:sp>
      <p:sp>
        <p:nvSpPr>
          <p:cNvPr id="24584" name="Rectangle 2"/>
          <p:cNvSpPr txBox="1">
            <a:spLocks noChangeArrowheads="1"/>
          </p:cNvSpPr>
          <p:nvPr/>
        </p:nvSpPr>
        <p:spPr bwMode="auto">
          <a:xfrm>
            <a:off x="282575" y="12700"/>
            <a:ext cx="8861425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 b="1">
                <a:solidFill>
                  <a:srgbClr val="990000"/>
                </a:solidFill>
              </a:rPr>
              <a:t>银行存款利率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7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770" decel="100000"/>
                                        <p:tgtEl>
                                          <p:spTgt spid="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7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9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名义利率 </a:t>
            </a:r>
            <a:r>
              <a:rPr lang="en-US" altLang="zh-CN" smtClean="0"/>
              <a:t>vs. </a:t>
            </a:r>
            <a:r>
              <a:rPr lang="zh-CN" altLang="en-US" smtClean="0"/>
              <a:t>实际利率</a:t>
            </a:r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4991100"/>
          </a:xfrm>
        </p:spPr>
        <p:txBody>
          <a:bodyPr/>
          <a:lstStyle/>
          <a:p>
            <a:pPr eaLnBrk="1" hangingPunct="1"/>
            <a:r>
              <a:rPr lang="zh-CN" altLang="en-US" sz="3200" smtClean="0"/>
              <a:t>名义利率</a:t>
            </a:r>
            <a:r>
              <a:rPr lang="en-US" altLang="zh-CN" sz="3200" smtClean="0"/>
              <a:t>r</a:t>
            </a:r>
          </a:p>
          <a:p>
            <a:pPr lvl="1" eaLnBrk="1" hangingPunct="1"/>
            <a:r>
              <a:rPr lang="zh-CN" altLang="en-US" sz="2400" u="sng" smtClean="0"/>
              <a:t>计息周期利率</a:t>
            </a:r>
            <a:r>
              <a:rPr lang="en-US" altLang="zh-CN" sz="2400" smtClean="0"/>
              <a:t>i</a:t>
            </a:r>
            <a:r>
              <a:rPr lang="zh-CN" altLang="en-US" sz="2400" smtClean="0"/>
              <a:t>乘以某</a:t>
            </a:r>
            <a:r>
              <a:rPr lang="zh-CN" altLang="en-US" sz="2400" u="sng" smtClean="0"/>
              <a:t>名义利率周期</a:t>
            </a:r>
            <a:r>
              <a:rPr lang="zh-CN" altLang="en-US" sz="2400" smtClean="0"/>
              <a:t>内的计息周期数</a:t>
            </a:r>
            <a:r>
              <a:rPr lang="en-US" altLang="zh-CN" sz="2400" smtClean="0"/>
              <a:t>m</a:t>
            </a:r>
            <a:r>
              <a:rPr lang="zh-CN" altLang="en-US" sz="2400" smtClean="0"/>
              <a:t>所得的利率  </a:t>
            </a:r>
            <a:r>
              <a:rPr lang="en-US" altLang="zh-CN" sz="2400" smtClean="0"/>
              <a:t>r=i×m</a:t>
            </a:r>
          </a:p>
          <a:p>
            <a:pPr lvl="2" eaLnBrk="1" hangingPunct="1"/>
            <a:r>
              <a:rPr lang="zh-CN" altLang="en-US" sz="2000" smtClean="0"/>
              <a:t>若月利率为</a:t>
            </a:r>
            <a:r>
              <a:rPr lang="en-US" altLang="zh-CN" sz="2000" smtClean="0"/>
              <a:t>1%</a:t>
            </a:r>
            <a:r>
              <a:rPr lang="zh-CN" altLang="en-US" sz="2000" smtClean="0"/>
              <a:t>，则年名义利率为</a:t>
            </a:r>
            <a:r>
              <a:rPr lang="en-US" altLang="zh-CN" sz="2000" smtClean="0"/>
              <a:t>12%</a:t>
            </a:r>
          </a:p>
          <a:p>
            <a:pPr lvl="2" eaLnBrk="1" hangingPunct="1"/>
            <a:r>
              <a:rPr lang="zh-CN" altLang="en-US" sz="2000" smtClean="0"/>
              <a:t>如说明“年利率为</a:t>
            </a:r>
            <a:r>
              <a:rPr lang="en-US" altLang="zh-CN" sz="2000" smtClean="0"/>
              <a:t>x%</a:t>
            </a:r>
            <a:r>
              <a:rPr lang="zh-CN" altLang="en-US" sz="2000" smtClean="0"/>
              <a:t>，按月计息”，则</a:t>
            </a:r>
            <a:r>
              <a:rPr lang="en-US" altLang="zh-CN" sz="2000" smtClean="0"/>
              <a:t>x</a:t>
            </a:r>
            <a:r>
              <a:rPr lang="zh-CN" altLang="en-US" sz="2000" smtClean="0"/>
              <a:t>为名义利率。</a:t>
            </a:r>
          </a:p>
          <a:p>
            <a:pPr eaLnBrk="1" hangingPunct="1"/>
            <a:r>
              <a:rPr lang="zh-CN" altLang="en-US" sz="2800" smtClean="0"/>
              <a:t>实际利率</a:t>
            </a:r>
            <a:r>
              <a:rPr lang="en-US" altLang="zh-CN" sz="2800" smtClean="0"/>
              <a:t>i</a:t>
            </a:r>
            <a:r>
              <a:rPr lang="en-US" altLang="zh-CN" sz="2800" baseline="-25000" smtClean="0"/>
              <a:t>eff</a:t>
            </a:r>
          </a:p>
          <a:p>
            <a:pPr lvl="1" eaLnBrk="1" hangingPunct="1"/>
            <a:r>
              <a:rPr lang="zh-CN" altLang="en-US" sz="2400" smtClean="0"/>
              <a:t>用计息周期利率来计算某名义利率周期利率，考虑利率再生</a:t>
            </a:r>
          </a:p>
          <a:p>
            <a:pPr lvl="2" eaLnBrk="1" hangingPunct="1"/>
            <a:endParaRPr lang="zh-CN" altLang="en-US" sz="2000" smtClean="0"/>
          </a:p>
        </p:txBody>
      </p:sp>
      <p:graphicFrame>
        <p:nvGraphicFramePr>
          <p:cNvPr id="42906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84200" y="4364038"/>
          <a:ext cx="4064000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4" imgW="3086100" imgH="1498600" progId="Equation.DSMT4">
                  <p:embed/>
                </p:oleObj>
              </mc:Choice>
              <mc:Fallback>
                <p:oleObj name="Equation" r:id="rId4" imgW="3086100" imgH="149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4364038"/>
                        <a:ext cx="4064000" cy="197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9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名义利率 </a:t>
            </a:r>
            <a:r>
              <a:rPr lang="en-US" altLang="zh-CN" smtClean="0"/>
              <a:t>vs. </a:t>
            </a:r>
            <a:r>
              <a:rPr lang="zh-CN" altLang="en-US" smtClean="0"/>
              <a:t>实际利率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49784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设年名义利率为</a:t>
            </a:r>
            <a:r>
              <a:rPr lang="en-US" altLang="zh-CN" sz="2800" smtClean="0"/>
              <a:t>r=10%</a:t>
            </a:r>
            <a:r>
              <a:rPr lang="zh-CN" altLang="en-US" sz="2800" smtClean="0"/>
              <a:t>，则半年、季度、月、日的年实际利率为：</a:t>
            </a:r>
          </a:p>
          <a:p>
            <a:pPr lvl="1" eaLnBrk="1" hangingPunct="1"/>
            <a:endParaRPr lang="zh-CN" altLang="en-US" sz="2400" smtClean="0"/>
          </a:p>
        </p:txBody>
      </p:sp>
      <p:graphicFrame>
        <p:nvGraphicFramePr>
          <p:cNvPr id="27651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69913" y="2349500"/>
          <a:ext cx="3709987" cy="373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公式" r:id="rId4" imgW="1892300" imgH="1905000" progId="Equation.3">
                  <p:embed/>
                </p:oleObj>
              </mc:Choice>
              <mc:Fallback>
                <p:oleObj name="公式" r:id="rId4" imgW="1892300" imgH="1905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2349500"/>
                        <a:ext cx="3709987" cy="373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86" name="Text Box 6"/>
          <p:cNvSpPr txBox="1">
            <a:spLocks noChangeArrowheads="1"/>
          </p:cNvSpPr>
          <p:nvPr/>
        </p:nvSpPr>
        <p:spPr bwMode="auto">
          <a:xfrm>
            <a:off x="5054600" y="3708400"/>
            <a:ext cx="3848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为什么每年的计息期越多，年实际利率就越高？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多次支付：年金、现值、终值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49911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年金</a:t>
            </a:r>
            <a:r>
              <a:rPr lang="en-US" altLang="zh-CN" sz="2800" smtClean="0"/>
              <a:t>A</a:t>
            </a:r>
            <a:r>
              <a:rPr lang="en-US" altLang="zh-CN" sz="2800" baseline="-25000" smtClean="0"/>
              <a:t>t</a:t>
            </a:r>
            <a:r>
              <a:rPr lang="zh-CN" altLang="en-US" sz="2800" smtClean="0"/>
              <a:t>为第</a:t>
            </a:r>
            <a:r>
              <a:rPr lang="en-US" altLang="zh-CN" sz="2800" smtClean="0"/>
              <a:t>t</a:t>
            </a:r>
            <a:r>
              <a:rPr lang="zh-CN" altLang="en-US" sz="2800" smtClean="0"/>
              <a:t>年</a:t>
            </a:r>
            <a:r>
              <a:rPr lang="zh-CN" altLang="en-US" sz="2800" u="sng" smtClean="0"/>
              <a:t>末</a:t>
            </a:r>
            <a:r>
              <a:rPr lang="zh-CN" altLang="en-US" sz="2800" smtClean="0"/>
              <a:t>发生的现金流量大小，可正可负</a:t>
            </a:r>
          </a:p>
          <a:p>
            <a:pPr eaLnBrk="1" hangingPunct="1"/>
            <a:r>
              <a:rPr lang="zh-CN" altLang="en-US" sz="2800" smtClean="0"/>
              <a:t>将多个年金转化为终值</a:t>
            </a:r>
          </a:p>
          <a:p>
            <a:pPr eaLnBrk="1" hangingPunct="1"/>
            <a:endParaRPr lang="zh-CN" altLang="en-US" sz="2800" smtClean="0"/>
          </a:p>
          <a:p>
            <a:pPr eaLnBrk="1" hangingPunct="1"/>
            <a:endParaRPr lang="zh-CN" altLang="en-US" sz="2800" smtClean="0"/>
          </a:p>
          <a:p>
            <a:pPr eaLnBrk="1" hangingPunct="1"/>
            <a:endParaRPr lang="zh-CN" altLang="en-US" sz="2800" smtClean="0"/>
          </a:p>
          <a:p>
            <a:pPr eaLnBrk="1" hangingPunct="1"/>
            <a:endParaRPr lang="zh-CN" altLang="en-US" sz="2800" smtClean="0"/>
          </a:p>
          <a:p>
            <a:pPr eaLnBrk="1" hangingPunct="1"/>
            <a:r>
              <a:rPr lang="zh-CN" altLang="en-US" sz="2800" smtClean="0"/>
              <a:t>将多个年金转化为现值</a:t>
            </a:r>
          </a:p>
        </p:txBody>
      </p:sp>
      <p:graphicFrame>
        <p:nvGraphicFramePr>
          <p:cNvPr id="29699" name="Object 4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38200" y="2578100"/>
          <a:ext cx="4576763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5" name="公式" r:id="rId4" imgW="2286000" imgH="685800" progId="Equation.3">
                  <p:embed/>
                </p:oleObj>
              </mc:Choice>
              <mc:Fallback>
                <p:oleObj name="公式" r:id="rId4" imgW="2286000" imgH="6858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78100"/>
                        <a:ext cx="4576763" cy="137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0" name="Group 80"/>
          <p:cNvGrpSpPr>
            <a:grpSpLocks/>
          </p:cNvGrpSpPr>
          <p:nvPr/>
        </p:nvGrpSpPr>
        <p:grpSpPr bwMode="auto">
          <a:xfrm>
            <a:off x="5959475" y="1917700"/>
            <a:ext cx="2809875" cy="1730375"/>
            <a:chOff x="3754" y="1208"/>
            <a:chExt cx="1770" cy="1090"/>
          </a:xfrm>
        </p:grpSpPr>
        <p:sp>
          <p:nvSpPr>
            <p:cNvPr id="29718" name="Line 43"/>
            <p:cNvSpPr>
              <a:spLocks noChangeShapeType="1"/>
            </p:cNvSpPr>
            <p:nvPr/>
          </p:nvSpPr>
          <p:spPr bwMode="auto">
            <a:xfrm>
              <a:off x="3812" y="1836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44"/>
            <p:cNvSpPr>
              <a:spLocks noChangeShapeType="1"/>
            </p:cNvSpPr>
            <p:nvPr/>
          </p:nvSpPr>
          <p:spPr bwMode="auto">
            <a:xfrm flipH="1">
              <a:off x="4012" y="1836"/>
              <a:ext cx="4" cy="3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45"/>
            <p:cNvSpPr>
              <a:spLocks noChangeShapeType="1"/>
            </p:cNvSpPr>
            <p:nvPr/>
          </p:nvSpPr>
          <p:spPr bwMode="auto">
            <a:xfrm flipV="1">
              <a:off x="5148" y="1208"/>
              <a:ext cx="0" cy="628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Text Box 46"/>
            <p:cNvSpPr txBox="1">
              <a:spLocks noChangeArrowheads="1"/>
            </p:cNvSpPr>
            <p:nvPr/>
          </p:nvSpPr>
          <p:spPr bwMode="auto">
            <a:xfrm>
              <a:off x="3754" y="160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9722" name="Text Box 47"/>
            <p:cNvSpPr txBox="1">
              <a:spLocks noChangeArrowheads="1"/>
            </p:cNvSpPr>
            <p:nvPr/>
          </p:nvSpPr>
          <p:spPr bwMode="auto">
            <a:xfrm>
              <a:off x="5048" y="1836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29723" name="Text Box 48"/>
            <p:cNvSpPr txBox="1">
              <a:spLocks noChangeArrowheads="1"/>
            </p:cNvSpPr>
            <p:nvPr/>
          </p:nvSpPr>
          <p:spPr bwMode="auto">
            <a:xfrm>
              <a:off x="4460" y="2067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29724" name="Line 49"/>
            <p:cNvSpPr>
              <a:spLocks noChangeShapeType="1"/>
            </p:cNvSpPr>
            <p:nvPr/>
          </p:nvSpPr>
          <p:spPr bwMode="auto">
            <a:xfrm flipH="1">
              <a:off x="4200" y="1836"/>
              <a:ext cx="4" cy="46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Line 50"/>
            <p:cNvSpPr>
              <a:spLocks noChangeShapeType="1"/>
            </p:cNvSpPr>
            <p:nvPr/>
          </p:nvSpPr>
          <p:spPr bwMode="auto">
            <a:xfrm>
              <a:off x="4396" y="1836"/>
              <a:ext cx="6" cy="3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51"/>
            <p:cNvSpPr>
              <a:spLocks noChangeShapeType="1"/>
            </p:cNvSpPr>
            <p:nvPr/>
          </p:nvSpPr>
          <p:spPr bwMode="auto">
            <a:xfrm flipH="1">
              <a:off x="4560" y="1829"/>
              <a:ext cx="4" cy="33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52"/>
            <p:cNvSpPr>
              <a:spLocks noChangeShapeType="1"/>
            </p:cNvSpPr>
            <p:nvPr/>
          </p:nvSpPr>
          <p:spPr bwMode="auto">
            <a:xfrm flipH="1">
              <a:off x="5148" y="1836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Text Box 54"/>
            <p:cNvSpPr txBox="1">
              <a:spLocks noChangeArrowheads="1"/>
            </p:cNvSpPr>
            <p:nvPr/>
          </p:nvSpPr>
          <p:spPr bwMode="auto">
            <a:xfrm>
              <a:off x="3954" y="160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9729" name="Text Box 55"/>
            <p:cNvSpPr txBox="1">
              <a:spLocks noChangeArrowheads="1"/>
            </p:cNvSpPr>
            <p:nvPr/>
          </p:nvSpPr>
          <p:spPr bwMode="auto">
            <a:xfrm>
              <a:off x="4158" y="1605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9730" name="Text Box 56"/>
            <p:cNvSpPr txBox="1">
              <a:spLocks noChangeArrowheads="1"/>
            </p:cNvSpPr>
            <p:nvPr/>
          </p:nvSpPr>
          <p:spPr bwMode="auto">
            <a:xfrm>
              <a:off x="4360" y="1613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9731" name="Text Box 57"/>
            <p:cNvSpPr txBox="1">
              <a:spLocks noChangeArrowheads="1"/>
            </p:cNvSpPr>
            <p:nvPr/>
          </p:nvSpPr>
          <p:spPr bwMode="auto">
            <a:xfrm>
              <a:off x="4530" y="1613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9732" name="Text Box 58"/>
            <p:cNvSpPr txBox="1">
              <a:spLocks noChangeArrowheads="1"/>
            </p:cNvSpPr>
            <p:nvPr/>
          </p:nvSpPr>
          <p:spPr bwMode="auto">
            <a:xfrm>
              <a:off x="4808" y="1613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</a:p>
          </p:txBody>
        </p:sp>
      </p:grpSp>
      <p:grpSp>
        <p:nvGrpSpPr>
          <p:cNvPr id="29701" name="Group 79"/>
          <p:cNvGrpSpPr>
            <a:grpSpLocks/>
          </p:cNvGrpSpPr>
          <p:nvPr/>
        </p:nvGrpSpPr>
        <p:grpSpPr bwMode="auto">
          <a:xfrm>
            <a:off x="6051550" y="4394200"/>
            <a:ext cx="2809875" cy="1587500"/>
            <a:chOff x="3812" y="2768"/>
            <a:chExt cx="1770" cy="1000"/>
          </a:xfrm>
        </p:grpSpPr>
        <p:sp>
          <p:nvSpPr>
            <p:cNvPr id="29703" name="Line 60"/>
            <p:cNvSpPr>
              <a:spLocks noChangeShapeType="1"/>
            </p:cNvSpPr>
            <p:nvPr/>
          </p:nvSpPr>
          <p:spPr bwMode="auto">
            <a:xfrm>
              <a:off x="3870" y="3230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4" name="Line 61"/>
            <p:cNvSpPr>
              <a:spLocks noChangeShapeType="1"/>
            </p:cNvSpPr>
            <p:nvPr/>
          </p:nvSpPr>
          <p:spPr bwMode="auto">
            <a:xfrm flipH="1">
              <a:off x="4070" y="2871"/>
              <a:ext cx="0" cy="36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Text Box 62"/>
            <p:cNvSpPr txBox="1">
              <a:spLocks noChangeArrowheads="1"/>
            </p:cNvSpPr>
            <p:nvPr/>
          </p:nvSpPr>
          <p:spPr bwMode="auto">
            <a:xfrm>
              <a:off x="3812" y="2999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9706" name="Text Box 63"/>
            <p:cNvSpPr txBox="1">
              <a:spLocks noChangeArrowheads="1"/>
            </p:cNvSpPr>
            <p:nvPr/>
          </p:nvSpPr>
          <p:spPr bwMode="auto">
            <a:xfrm>
              <a:off x="5106" y="3230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29707" name="Text Box 64"/>
            <p:cNvSpPr txBox="1">
              <a:spLocks noChangeArrowheads="1"/>
            </p:cNvSpPr>
            <p:nvPr/>
          </p:nvSpPr>
          <p:spPr bwMode="auto">
            <a:xfrm>
              <a:off x="4476" y="2768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29708" name="Line 65"/>
            <p:cNvSpPr>
              <a:spLocks noChangeShapeType="1"/>
            </p:cNvSpPr>
            <p:nvPr/>
          </p:nvSpPr>
          <p:spPr bwMode="auto">
            <a:xfrm flipH="1">
              <a:off x="4258" y="2768"/>
              <a:ext cx="0" cy="46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Line 66"/>
            <p:cNvSpPr>
              <a:spLocks noChangeShapeType="1"/>
            </p:cNvSpPr>
            <p:nvPr/>
          </p:nvSpPr>
          <p:spPr bwMode="auto">
            <a:xfrm flipH="1">
              <a:off x="4450" y="3006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Line 67"/>
            <p:cNvSpPr>
              <a:spLocks noChangeShapeType="1"/>
            </p:cNvSpPr>
            <p:nvPr/>
          </p:nvSpPr>
          <p:spPr bwMode="auto">
            <a:xfrm flipH="1">
              <a:off x="4618" y="3149"/>
              <a:ext cx="0" cy="8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68"/>
            <p:cNvSpPr>
              <a:spLocks noChangeShapeType="1"/>
            </p:cNvSpPr>
            <p:nvPr/>
          </p:nvSpPr>
          <p:spPr bwMode="auto">
            <a:xfrm flipH="1">
              <a:off x="5206" y="2999"/>
              <a:ext cx="4" cy="23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Text Box 70"/>
            <p:cNvSpPr txBox="1">
              <a:spLocks noChangeArrowheads="1"/>
            </p:cNvSpPr>
            <p:nvPr/>
          </p:nvSpPr>
          <p:spPr bwMode="auto">
            <a:xfrm>
              <a:off x="4016" y="3221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9713" name="Text Box 71"/>
            <p:cNvSpPr txBox="1">
              <a:spLocks noChangeArrowheads="1"/>
            </p:cNvSpPr>
            <p:nvPr/>
          </p:nvSpPr>
          <p:spPr bwMode="auto">
            <a:xfrm>
              <a:off x="4216" y="3221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9714" name="Text Box 72"/>
            <p:cNvSpPr txBox="1">
              <a:spLocks noChangeArrowheads="1"/>
            </p:cNvSpPr>
            <p:nvPr/>
          </p:nvSpPr>
          <p:spPr bwMode="auto">
            <a:xfrm>
              <a:off x="4402" y="3221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9715" name="Text Box 73"/>
            <p:cNvSpPr txBox="1">
              <a:spLocks noChangeArrowheads="1"/>
            </p:cNvSpPr>
            <p:nvPr/>
          </p:nvSpPr>
          <p:spPr bwMode="auto">
            <a:xfrm>
              <a:off x="4574" y="3221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9716" name="Text Box 74"/>
            <p:cNvSpPr txBox="1">
              <a:spLocks noChangeArrowheads="1"/>
            </p:cNvSpPr>
            <p:nvPr/>
          </p:nvSpPr>
          <p:spPr bwMode="auto">
            <a:xfrm>
              <a:off x="4866" y="3007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29717" name="Line 75"/>
            <p:cNvSpPr>
              <a:spLocks noChangeShapeType="1"/>
            </p:cNvSpPr>
            <p:nvPr/>
          </p:nvSpPr>
          <p:spPr bwMode="auto">
            <a:xfrm flipV="1">
              <a:off x="3900" y="3221"/>
              <a:ext cx="0" cy="547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702" name="Object 7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73100" y="4999038"/>
          <a:ext cx="5121275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6" name="公式" r:id="rId6" imgW="2628900" imgH="685800" progId="Equation.3">
                  <p:embed/>
                </p:oleObj>
              </mc:Choice>
              <mc:Fallback>
                <p:oleObj name="公式" r:id="rId6" imgW="2628900" imgH="68580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4999038"/>
                        <a:ext cx="5121275" cy="1338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等额系列现金流量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4965700"/>
          </a:xfrm>
        </p:spPr>
        <p:txBody>
          <a:bodyPr/>
          <a:lstStyle/>
          <a:p>
            <a:pPr eaLnBrk="1" hangingPunct="1"/>
            <a:r>
              <a:rPr lang="en-US" altLang="zh-CN" sz="3200" smtClean="0"/>
              <a:t>1. </a:t>
            </a:r>
            <a:r>
              <a:rPr lang="zh-CN" altLang="en-US" sz="3200" smtClean="0"/>
              <a:t>已知年金</a:t>
            </a:r>
            <a:r>
              <a:rPr lang="en-US" altLang="zh-CN" sz="3200" smtClean="0"/>
              <a:t>A</a:t>
            </a:r>
            <a:r>
              <a:rPr lang="zh-CN" altLang="en-US" sz="3200" smtClean="0"/>
              <a:t>，求终值</a:t>
            </a:r>
            <a:r>
              <a:rPr lang="en-US" altLang="zh-CN" sz="3200" smtClean="0"/>
              <a:t>F</a:t>
            </a:r>
          </a:p>
          <a:p>
            <a:pPr eaLnBrk="1" hangingPunct="1"/>
            <a:endParaRPr lang="zh-CN" altLang="en-US" sz="3200" smtClean="0"/>
          </a:p>
          <a:p>
            <a:pPr eaLnBrk="1" hangingPunct="1"/>
            <a:endParaRPr lang="zh-CN" altLang="en-US" sz="3200" smtClean="0"/>
          </a:p>
          <a:p>
            <a:pPr eaLnBrk="1" hangingPunct="1"/>
            <a:endParaRPr lang="en-US" altLang="zh-CN" sz="3200" smtClean="0"/>
          </a:p>
          <a:p>
            <a:pPr eaLnBrk="1" hangingPunct="1"/>
            <a:endParaRPr lang="en-US" altLang="zh-CN" sz="3200" smtClean="0"/>
          </a:p>
          <a:p>
            <a:pPr eaLnBrk="1" hangingPunct="1"/>
            <a:r>
              <a:rPr lang="en-US" altLang="zh-CN" sz="3200" smtClean="0"/>
              <a:t> </a:t>
            </a:r>
            <a:r>
              <a:rPr lang="zh-CN" altLang="en-US" sz="3200" smtClean="0"/>
              <a:t>你每年存</a:t>
            </a:r>
            <a:r>
              <a:rPr lang="en-US" altLang="zh-CN" sz="3200" smtClean="0"/>
              <a:t>1000</a:t>
            </a:r>
            <a:r>
              <a:rPr lang="zh-CN" altLang="en-US" sz="3200" smtClean="0"/>
              <a:t>元</a:t>
            </a:r>
            <a:r>
              <a:rPr lang="en-US" altLang="zh-CN" sz="3200" smtClean="0"/>
              <a:t>, 6%</a:t>
            </a:r>
            <a:r>
              <a:rPr lang="zh-CN" altLang="en-US" sz="3200" smtClean="0"/>
              <a:t>收益率</a:t>
            </a:r>
            <a:r>
              <a:rPr lang="en-US" altLang="zh-CN" sz="3200" smtClean="0"/>
              <a:t>,5</a:t>
            </a:r>
            <a:r>
              <a:rPr lang="zh-CN" altLang="en-US" sz="3200" smtClean="0"/>
              <a:t>年后你有多少钱</a:t>
            </a:r>
            <a:r>
              <a:rPr lang="en-US" altLang="zh-CN" sz="3200" smtClean="0"/>
              <a:t>?</a:t>
            </a:r>
          </a:p>
        </p:txBody>
      </p:sp>
      <p:graphicFrame>
        <p:nvGraphicFramePr>
          <p:cNvPr id="31747" name="Object 3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2400" y="2057400"/>
          <a:ext cx="5910263" cy="18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9" name="公式" r:id="rId4" imgW="3479800" imgH="1092200" progId="Equation.3">
                  <p:embed/>
                </p:oleObj>
              </mc:Choice>
              <mc:Fallback>
                <p:oleObj name="公式" r:id="rId4" imgW="3479800" imgH="10922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57400"/>
                        <a:ext cx="5910263" cy="185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6334125" y="1881188"/>
            <a:ext cx="2809875" cy="1430337"/>
            <a:chOff x="3754" y="1416"/>
            <a:chExt cx="1770" cy="901"/>
          </a:xfrm>
        </p:grpSpPr>
        <p:sp>
          <p:nvSpPr>
            <p:cNvPr id="31751" name="Line 5"/>
            <p:cNvSpPr>
              <a:spLocks noChangeShapeType="1"/>
            </p:cNvSpPr>
            <p:nvPr/>
          </p:nvSpPr>
          <p:spPr bwMode="auto">
            <a:xfrm>
              <a:off x="3812" y="1855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2" name="Line 6"/>
            <p:cNvSpPr>
              <a:spLocks noChangeShapeType="1"/>
            </p:cNvSpPr>
            <p:nvPr/>
          </p:nvSpPr>
          <p:spPr bwMode="auto">
            <a:xfrm flipH="1">
              <a:off x="4012" y="185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3" name="Line 7"/>
            <p:cNvSpPr>
              <a:spLocks noChangeShapeType="1"/>
            </p:cNvSpPr>
            <p:nvPr/>
          </p:nvSpPr>
          <p:spPr bwMode="auto">
            <a:xfrm flipV="1">
              <a:off x="5148" y="1416"/>
              <a:ext cx="0" cy="439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4" name="Text Box 8"/>
            <p:cNvSpPr txBox="1">
              <a:spLocks noChangeArrowheads="1"/>
            </p:cNvSpPr>
            <p:nvPr/>
          </p:nvSpPr>
          <p:spPr bwMode="auto">
            <a:xfrm>
              <a:off x="3754" y="162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1755" name="Text Box 9"/>
            <p:cNvSpPr txBox="1">
              <a:spLocks noChangeArrowheads="1"/>
            </p:cNvSpPr>
            <p:nvPr/>
          </p:nvSpPr>
          <p:spPr bwMode="auto">
            <a:xfrm>
              <a:off x="5048" y="1855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31756" name="Text Box 10"/>
            <p:cNvSpPr txBox="1">
              <a:spLocks noChangeArrowheads="1"/>
            </p:cNvSpPr>
            <p:nvPr/>
          </p:nvSpPr>
          <p:spPr bwMode="auto">
            <a:xfrm>
              <a:off x="4460" y="2086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1757" name="Line 11"/>
            <p:cNvSpPr>
              <a:spLocks noChangeShapeType="1"/>
            </p:cNvSpPr>
            <p:nvPr/>
          </p:nvSpPr>
          <p:spPr bwMode="auto">
            <a:xfrm flipH="1">
              <a:off x="4200" y="185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8" name="Line 12"/>
            <p:cNvSpPr>
              <a:spLocks noChangeShapeType="1"/>
            </p:cNvSpPr>
            <p:nvPr/>
          </p:nvSpPr>
          <p:spPr bwMode="auto">
            <a:xfrm flipH="1">
              <a:off x="4392" y="185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9" name="Line 13"/>
            <p:cNvSpPr>
              <a:spLocks noChangeShapeType="1"/>
            </p:cNvSpPr>
            <p:nvPr/>
          </p:nvSpPr>
          <p:spPr bwMode="auto">
            <a:xfrm flipH="1">
              <a:off x="4560" y="1848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0" name="Line 14"/>
            <p:cNvSpPr>
              <a:spLocks noChangeShapeType="1"/>
            </p:cNvSpPr>
            <p:nvPr/>
          </p:nvSpPr>
          <p:spPr bwMode="auto">
            <a:xfrm flipH="1">
              <a:off x="5148" y="185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1" name="Line 15"/>
            <p:cNvSpPr>
              <a:spLocks noChangeShapeType="1"/>
            </p:cNvSpPr>
            <p:nvPr/>
          </p:nvSpPr>
          <p:spPr bwMode="auto">
            <a:xfrm>
              <a:off x="4016" y="2079"/>
              <a:ext cx="11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2" name="Text Box 16"/>
            <p:cNvSpPr txBox="1">
              <a:spLocks noChangeArrowheads="1"/>
            </p:cNvSpPr>
            <p:nvPr/>
          </p:nvSpPr>
          <p:spPr bwMode="auto">
            <a:xfrm>
              <a:off x="3954" y="162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1763" name="Text Box 17"/>
            <p:cNvSpPr txBox="1">
              <a:spLocks noChangeArrowheads="1"/>
            </p:cNvSpPr>
            <p:nvPr/>
          </p:nvSpPr>
          <p:spPr bwMode="auto">
            <a:xfrm>
              <a:off x="4158" y="1624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764" name="Text Box 18"/>
            <p:cNvSpPr txBox="1">
              <a:spLocks noChangeArrowheads="1"/>
            </p:cNvSpPr>
            <p:nvPr/>
          </p:nvSpPr>
          <p:spPr bwMode="auto">
            <a:xfrm>
              <a:off x="4360" y="1632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1765" name="Text Box 19"/>
            <p:cNvSpPr txBox="1">
              <a:spLocks noChangeArrowheads="1"/>
            </p:cNvSpPr>
            <p:nvPr/>
          </p:nvSpPr>
          <p:spPr bwMode="auto">
            <a:xfrm>
              <a:off x="4530" y="1632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1766" name="Text Box 20"/>
            <p:cNvSpPr txBox="1">
              <a:spLocks noChangeArrowheads="1"/>
            </p:cNvSpPr>
            <p:nvPr/>
          </p:nvSpPr>
          <p:spPr bwMode="auto">
            <a:xfrm>
              <a:off x="4808" y="163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</a:p>
          </p:txBody>
        </p:sp>
      </p:grpSp>
      <p:graphicFrame>
        <p:nvGraphicFramePr>
          <p:cNvPr id="31749" name="Object 4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39800" y="4899025"/>
          <a:ext cx="557847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0" name="公式" r:id="rId6" imgW="2819400" imgH="635000" progId="Equation.3">
                  <p:embed/>
                </p:oleObj>
              </mc:Choice>
              <mc:Fallback>
                <p:oleObj name="公式" r:id="rId6" imgW="2819400" imgH="635000" progId="Equation.3">
                  <p:embed/>
                  <p:pic>
                    <p:nvPicPr>
                      <p:cNvPr id="0" name="Object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4899025"/>
                        <a:ext cx="557847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44"/>
          <p:cNvSpPr>
            <a:spLocks noChangeArrowheads="1"/>
          </p:cNvSpPr>
          <p:nvPr/>
        </p:nvSpPr>
        <p:spPr bwMode="auto">
          <a:xfrm>
            <a:off x="1654175" y="3017838"/>
            <a:ext cx="58356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b="1">
                <a:ea typeface="宋体" panose="02010600030101010101" pitchFamily="2" charset="-122"/>
              </a:rPr>
              <a:t>已知终值</a:t>
            </a:r>
            <a:r>
              <a:rPr kumimoji="0" lang="en-US" altLang="zh-CN" b="1">
                <a:ea typeface="宋体" panose="02010600030101010101" pitchFamily="2" charset="-122"/>
              </a:rPr>
              <a:t>F</a:t>
            </a:r>
            <a:r>
              <a:rPr kumimoji="0" lang="zh-CN" altLang="en-US" b="1">
                <a:ea typeface="宋体" panose="02010600030101010101" pitchFamily="2" charset="-122"/>
              </a:rPr>
              <a:t>，求年金</a:t>
            </a:r>
            <a:r>
              <a:rPr kumimoji="0" lang="en-US" altLang="zh-CN" b="1">
                <a:ea typeface="宋体" panose="02010600030101010101" pitchFamily="2" charset="-122"/>
              </a:rPr>
              <a:t>A</a:t>
            </a:r>
            <a:r>
              <a:rPr kumimoji="0" lang="zh-CN" altLang="en-US" b="1">
                <a:ea typeface="宋体" panose="02010600030101010101" pitchFamily="2" charset="-122"/>
              </a:rPr>
              <a:t>（偿债基金计算）</a:t>
            </a:r>
          </a:p>
          <a:p>
            <a:endParaRPr kumimoji="0" lang="zh-CN" altLang="en-US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 b="1">
                <a:solidFill>
                  <a:srgbClr val="990000"/>
                </a:solidFill>
              </a:rPr>
              <a:t>等额系列现金流量</a:t>
            </a:r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0" y="1346200"/>
            <a:ext cx="9144000" cy="4965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2.</a:t>
            </a:r>
            <a:r>
              <a:rPr kumimoji="0" lang="zh-CN" altLang="en-US" sz="3200" b="1">
                <a:solidFill>
                  <a:srgbClr val="000000"/>
                </a:solidFill>
              </a:rPr>
              <a:t>已知年金</a:t>
            </a:r>
            <a:r>
              <a:rPr kumimoji="0" lang="en-US" altLang="zh-CN" sz="3200" b="1">
                <a:solidFill>
                  <a:srgbClr val="000000"/>
                </a:solidFill>
              </a:rPr>
              <a:t>A</a:t>
            </a:r>
            <a:r>
              <a:rPr kumimoji="0" lang="zh-CN" altLang="en-US" sz="3200" b="1">
                <a:solidFill>
                  <a:srgbClr val="000000"/>
                </a:solidFill>
              </a:rPr>
              <a:t>，求现值</a:t>
            </a:r>
            <a:r>
              <a:rPr kumimoji="0" lang="en-US" altLang="zh-CN" sz="3200" b="1">
                <a:solidFill>
                  <a:srgbClr val="000000"/>
                </a:solidFill>
              </a:rPr>
              <a:t>P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en-US" altLang="zh-CN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en-US" altLang="zh-CN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 </a:t>
            </a:r>
            <a:r>
              <a:rPr kumimoji="0" lang="zh-CN" altLang="en-US" sz="3200" b="1">
                <a:solidFill>
                  <a:srgbClr val="000000"/>
                </a:solidFill>
              </a:rPr>
              <a:t>某项目投资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要求</a:t>
            </a:r>
            <a:r>
              <a:rPr kumimoji="0" lang="en-US" altLang="zh-CN" sz="3200" b="1">
                <a:solidFill>
                  <a:srgbClr val="000000"/>
                </a:solidFill>
              </a:rPr>
              <a:t>6</a:t>
            </a:r>
            <a:r>
              <a:rPr kumimoji="0" lang="zh-CN" altLang="en-US" sz="3200" b="1">
                <a:solidFill>
                  <a:srgbClr val="000000"/>
                </a:solidFill>
              </a:rPr>
              <a:t>年收回投资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每年</a:t>
            </a:r>
            <a:r>
              <a:rPr kumimoji="0" lang="en-US" altLang="zh-CN" sz="3200" b="1">
                <a:solidFill>
                  <a:srgbClr val="000000"/>
                </a:solidFill>
              </a:rPr>
              <a:t>100</a:t>
            </a:r>
            <a:r>
              <a:rPr kumimoji="0" lang="zh-CN" altLang="en-US" sz="3200" b="1">
                <a:solidFill>
                  <a:srgbClr val="000000"/>
                </a:solidFill>
              </a:rPr>
              <a:t>万元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年利率</a:t>
            </a:r>
            <a:r>
              <a:rPr kumimoji="0" lang="en-US" altLang="zh-CN" sz="3200" b="1">
                <a:solidFill>
                  <a:srgbClr val="000000"/>
                </a:solidFill>
              </a:rPr>
              <a:t>10%, </a:t>
            </a:r>
            <a:r>
              <a:rPr kumimoji="0" lang="zh-CN" altLang="en-US" sz="3200" b="1">
                <a:solidFill>
                  <a:srgbClr val="000000"/>
                </a:solidFill>
              </a:rPr>
              <a:t>问初始投资是多少</a:t>
            </a:r>
            <a:r>
              <a:rPr kumimoji="0" lang="en-US" altLang="zh-CN" sz="3200" b="1">
                <a:solidFill>
                  <a:srgbClr val="000000"/>
                </a:solidFill>
              </a:rPr>
              <a:t>?</a:t>
            </a:r>
          </a:p>
        </p:txBody>
      </p:sp>
      <p:grpSp>
        <p:nvGrpSpPr>
          <p:cNvPr id="33796" name="Group 24"/>
          <p:cNvGrpSpPr>
            <a:grpSpLocks/>
          </p:cNvGrpSpPr>
          <p:nvPr/>
        </p:nvGrpSpPr>
        <p:grpSpPr bwMode="auto">
          <a:xfrm>
            <a:off x="5686425" y="1727200"/>
            <a:ext cx="2809875" cy="1416050"/>
            <a:chOff x="3782" y="2537"/>
            <a:chExt cx="1770" cy="892"/>
          </a:xfrm>
        </p:grpSpPr>
        <p:sp>
          <p:nvSpPr>
            <p:cNvPr id="33799" name="Line 25"/>
            <p:cNvSpPr>
              <a:spLocks noChangeShapeType="1"/>
            </p:cNvSpPr>
            <p:nvPr/>
          </p:nvSpPr>
          <p:spPr bwMode="auto">
            <a:xfrm>
              <a:off x="3840" y="2999"/>
              <a:ext cx="17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0" name="Line 26"/>
            <p:cNvSpPr>
              <a:spLocks noChangeShapeType="1"/>
            </p:cNvSpPr>
            <p:nvPr/>
          </p:nvSpPr>
          <p:spPr bwMode="auto">
            <a:xfrm flipH="1">
              <a:off x="4040" y="277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Text Box 27"/>
            <p:cNvSpPr txBox="1">
              <a:spLocks noChangeArrowheads="1"/>
            </p:cNvSpPr>
            <p:nvPr/>
          </p:nvSpPr>
          <p:spPr bwMode="auto">
            <a:xfrm>
              <a:off x="3782" y="276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802" name="Text Box 28"/>
            <p:cNvSpPr txBox="1">
              <a:spLocks noChangeArrowheads="1"/>
            </p:cNvSpPr>
            <p:nvPr/>
          </p:nvSpPr>
          <p:spPr bwMode="auto">
            <a:xfrm>
              <a:off x="5076" y="2999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33803" name="Text Box 29"/>
            <p:cNvSpPr txBox="1">
              <a:spLocks noChangeArrowheads="1"/>
            </p:cNvSpPr>
            <p:nvPr/>
          </p:nvSpPr>
          <p:spPr bwMode="auto">
            <a:xfrm>
              <a:off x="4446" y="2537"/>
              <a:ext cx="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33804" name="Line 30"/>
            <p:cNvSpPr>
              <a:spLocks noChangeShapeType="1"/>
            </p:cNvSpPr>
            <p:nvPr/>
          </p:nvSpPr>
          <p:spPr bwMode="auto">
            <a:xfrm flipH="1">
              <a:off x="4228" y="277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5" name="Line 31"/>
            <p:cNvSpPr>
              <a:spLocks noChangeShapeType="1"/>
            </p:cNvSpPr>
            <p:nvPr/>
          </p:nvSpPr>
          <p:spPr bwMode="auto">
            <a:xfrm flipH="1">
              <a:off x="4420" y="277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6" name="Line 32"/>
            <p:cNvSpPr>
              <a:spLocks noChangeShapeType="1"/>
            </p:cNvSpPr>
            <p:nvPr/>
          </p:nvSpPr>
          <p:spPr bwMode="auto">
            <a:xfrm flipH="1">
              <a:off x="4588" y="2776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7" name="Line 33"/>
            <p:cNvSpPr>
              <a:spLocks noChangeShapeType="1"/>
            </p:cNvSpPr>
            <p:nvPr/>
          </p:nvSpPr>
          <p:spPr bwMode="auto">
            <a:xfrm flipH="1">
              <a:off x="5176" y="2775"/>
              <a:ext cx="4" cy="23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8" name="Line 34"/>
            <p:cNvSpPr>
              <a:spLocks noChangeShapeType="1"/>
            </p:cNvSpPr>
            <p:nvPr/>
          </p:nvSpPr>
          <p:spPr bwMode="auto">
            <a:xfrm>
              <a:off x="4040" y="2783"/>
              <a:ext cx="11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9" name="Text Box 35"/>
            <p:cNvSpPr txBox="1">
              <a:spLocks noChangeArrowheads="1"/>
            </p:cNvSpPr>
            <p:nvPr/>
          </p:nvSpPr>
          <p:spPr bwMode="auto">
            <a:xfrm>
              <a:off x="3986" y="299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3810" name="Text Box 36"/>
            <p:cNvSpPr txBox="1">
              <a:spLocks noChangeArrowheads="1"/>
            </p:cNvSpPr>
            <p:nvPr/>
          </p:nvSpPr>
          <p:spPr bwMode="auto">
            <a:xfrm>
              <a:off x="4186" y="299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3811" name="Text Box 37"/>
            <p:cNvSpPr txBox="1">
              <a:spLocks noChangeArrowheads="1"/>
            </p:cNvSpPr>
            <p:nvPr/>
          </p:nvSpPr>
          <p:spPr bwMode="auto">
            <a:xfrm>
              <a:off x="4372" y="299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3812" name="Text Box 38"/>
            <p:cNvSpPr txBox="1">
              <a:spLocks noChangeArrowheads="1"/>
            </p:cNvSpPr>
            <p:nvPr/>
          </p:nvSpPr>
          <p:spPr bwMode="auto">
            <a:xfrm>
              <a:off x="4544" y="299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3813" name="Text Box 39"/>
            <p:cNvSpPr txBox="1">
              <a:spLocks noChangeArrowheads="1"/>
            </p:cNvSpPr>
            <p:nvPr/>
          </p:nvSpPr>
          <p:spPr bwMode="auto">
            <a:xfrm>
              <a:off x="4836" y="277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18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33814" name="Line 40"/>
            <p:cNvSpPr>
              <a:spLocks noChangeShapeType="1"/>
            </p:cNvSpPr>
            <p:nvPr/>
          </p:nvSpPr>
          <p:spPr bwMode="auto">
            <a:xfrm flipV="1">
              <a:off x="3870" y="2990"/>
              <a:ext cx="0" cy="439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3797" name="Object 41"/>
          <p:cNvGraphicFramePr>
            <a:graphicFrameLocks noChangeAspect="1"/>
          </p:cNvGraphicFramePr>
          <p:nvPr/>
        </p:nvGraphicFramePr>
        <p:xfrm>
          <a:off x="473075" y="2119313"/>
          <a:ext cx="3724275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7" name="公式" r:id="rId3" imgW="1803400" imgH="685800" progId="Equation.3">
                  <p:embed/>
                </p:oleObj>
              </mc:Choice>
              <mc:Fallback>
                <p:oleObj name="公式" r:id="rId3" imgW="1803400" imgH="6858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2119313"/>
                        <a:ext cx="3724275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42"/>
          <p:cNvGraphicFramePr>
            <a:graphicFrameLocks noGrp="1" noChangeAspect="1"/>
          </p:cNvGraphicFramePr>
          <p:nvPr>
            <p:ph idx="1"/>
          </p:nvPr>
        </p:nvGraphicFramePr>
        <p:xfrm>
          <a:off x="787400" y="5237163"/>
          <a:ext cx="45974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8" name="公式" r:id="rId5" imgW="2616200" imgH="685800" progId="Equation.3">
                  <p:embed/>
                </p:oleObj>
              </mc:Choice>
              <mc:Fallback>
                <p:oleObj name="公式" r:id="rId5" imgW="2616200" imgH="6858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5237163"/>
                        <a:ext cx="45974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 b="1">
                <a:solidFill>
                  <a:srgbClr val="990000"/>
                </a:solidFill>
              </a:rPr>
              <a:t>等额系列现金流量</a:t>
            </a:r>
          </a:p>
        </p:txBody>
      </p:sp>
      <p:sp>
        <p:nvSpPr>
          <p:cNvPr id="34819" name="Rectangle 5"/>
          <p:cNvSpPr>
            <a:spLocks noChangeArrowheads="1"/>
          </p:cNvSpPr>
          <p:nvPr/>
        </p:nvSpPr>
        <p:spPr bwMode="auto">
          <a:xfrm>
            <a:off x="0" y="1346200"/>
            <a:ext cx="91440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3. </a:t>
            </a:r>
            <a:r>
              <a:rPr kumimoji="0" lang="zh-CN" altLang="en-US" sz="3200" b="1">
                <a:solidFill>
                  <a:srgbClr val="000000"/>
                </a:solidFill>
              </a:rPr>
              <a:t>已知现值</a:t>
            </a:r>
            <a:r>
              <a:rPr kumimoji="0" lang="en-US" altLang="zh-CN" sz="3200" b="1">
                <a:solidFill>
                  <a:srgbClr val="000000"/>
                </a:solidFill>
              </a:rPr>
              <a:t>P</a:t>
            </a:r>
            <a:r>
              <a:rPr kumimoji="0" lang="zh-CN" altLang="en-US" sz="3200" b="1">
                <a:solidFill>
                  <a:srgbClr val="000000"/>
                </a:solidFill>
              </a:rPr>
              <a:t>，求年金</a:t>
            </a:r>
            <a:r>
              <a:rPr kumimoji="0" lang="en-US" altLang="zh-CN" sz="3200" b="1">
                <a:solidFill>
                  <a:srgbClr val="000000"/>
                </a:solidFill>
              </a:rPr>
              <a:t>A</a:t>
            </a:r>
            <a:r>
              <a:rPr kumimoji="0" lang="zh-CN" altLang="en-US" sz="3200" b="1">
                <a:solidFill>
                  <a:srgbClr val="000000"/>
                </a:solidFill>
              </a:rPr>
              <a:t>（资金回收计算）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sz="3200" b="1">
                <a:solidFill>
                  <a:srgbClr val="000000"/>
                </a:solidFill>
              </a:rPr>
              <a:t>你以</a:t>
            </a:r>
            <a:r>
              <a:rPr kumimoji="0" lang="en-US" altLang="zh-CN" sz="3200" b="1">
                <a:solidFill>
                  <a:srgbClr val="000000"/>
                </a:solidFill>
              </a:rPr>
              <a:t>7%</a:t>
            </a:r>
            <a:r>
              <a:rPr kumimoji="0" lang="zh-CN" altLang="en-US" sz="3200" b="1">
                <a:solidFill>
                  <a:srgbClr val="000000"/>
                </a:solidFill>
              </a:rPr>
              <a:t>的利率借了</a:t>
            </a:r>
            <a:r>
              <a:rPr kumimoji="0" lang="en-US" altLang="zh-CN" sz="3200" b="1">
                <a:solidFill>
                  <a:srgbClr val="000000"/>
                </a:solidFill>
              </a:rPr>
              <a:t>2000</a:t>
            </a:r>
            <a:r>
              <a:rPr kumimoji="0" lang="zh-CN" altLang="en-US" sz="3200" b="1">
                <a:solidFill>
                  <a:srgbClr val="000000"/>
                </a:solidFill>
              </a:rPr>
              <a:t>元</a:t>
            </a:r>
            <a:r>
              <a:rPr kumimoji="0" lang="en-US" altLang="zh-CN" sz="3200" b="1">
                <a:solidFill>
                  <a:srgbClr val="000000"/>
                </a:solidFill>
              </a:rPr>
              <a:t>, 10</a:t>
            </a:r>
            <a:r>
              <a:rPr kumimoji="0" lang="zh-CN" altLang="en-US" sz="3200" b="1">
                <a:solidFill>
                  <a:srgbClr val="000000"/>
                </a:solidFill>
              </a:rPr>
              <a:t>年期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求每年的等额还贷数</a:t>
            </a:r>
            <a:r>
              <a:rPr kumimoji="0" lang="en-US" altLang="zh-CN" sz="3200" b="1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34820" name="Object 6"/>
          <p:cNvGraphicFramePr>
            <a:graphicFrameLocks noChangeAspect="1"/>
          </p:cNvGraphicFramePr>
          <p:nvPr/>
        </p:nvGraphicFramePr>
        <p:xfrm>
          <a:off x="1225550" y="1924050"/>
          <a:ext cx="2352675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公式" r:id="rId3" imgW="1028700" imgH="685800" progId="Equation.3">
                  <p:embed/>
                </p:oleObj>
              </mc:Choice>
              <mc:Fallback>
                <p:oleObj name="公式" r:id="rId3" imgW="1028700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1924050"/>
                        <a:ext cx="2352675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1225550" y="4762500"/>
          <a:ext cx="550862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公式" r:id="rId5" imgW="2641600" imgH="685800" progId="Equation.3">
                  <p:embed/>
                </p:oleObj>
              </mc:Choice>
              <mc:Fallback>
                <p:oleObj name="公式" r:id="rId5" imgW="2641600" imgH="685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762500"/>
                        <a:ext cx="550862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graphicFrame>
        <p:nvGraphicFramePr>
          <p:cNvPr id="35842" name="Object 8"/>
          <p:cNvGraphicFramePr>
            <a:graphicFrameLocks noGrp="1" noChangeAspect="1"/>
          </p:cNvGraphicFramePr>
          <p:nvPr>
            <p:ph sz="half" idx="1"/>
          </p:nvPr>
        </p:nvGraphicFramePr>
        <p:xfrm>
          <a:off x="1727200" y="3619500"/>
          <a:ext cx="1041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0" name="公式" r:id="rId3" imgW="1040948" imgH="660113" progId="Equation.3">
                  <p:embed/>
                </p:oleObj>
              </mc:Choice>
              <mc:Fallback>
                <p:oleObj name="公式" r:id="rId3" imgW="1040948" imgH="6601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3619500"/>
                        <a:ext cx="1041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4400" b="1">
                <a:solidFill>
                  <a:srgbClr val="990000"/>
                </a:solidFill>
              </a:rPr>
              <a:t>等额系列现金流量</a:t>
            </a: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0" y="1346200"/>
            <a:ext cx="914400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4.</a:t>
            </a:r>
            <a:r>
              <a:rPr kumimoji="0" lang="zh-CN" altLang="en-US" sz="3200" b="1">
                <a:solidFill>
                  <a:srgbClr val="000000"/>
                </a:solidFill>
              </a:rPr>
              <a:t>已知终值</a:t>
            </a:r>
            <a:r>
              <a:rPr kumimoji="0" lang="en-US" altLang="zh-CN" sz="3200" b="1">
                <a:solidFill>
                  <a:srgbClr val="000000"/>
                </a:solidFill>
              </a:rPr>
              <a:t>F</a:t>
            </a:r>
            <a:r>
              <a:rPr kumimoji="0" lang="zh-CN" altLang="en-US" sz="3200" b="1">
                <a:solidFill>
                  <a:srgbClr val="000000"/>
                </a:solidFill>
              </a:rPr>
              <a:t>，求年金</a:t>
            </a:r>
            <a:r>
              <a:rPr kumimoji="0" lang="en-US" altLang="zh-CN" sz="3200" b="1">
                <a:solidFill>
                  <a:srgbClr val="000000"/>
                </a:solidFill>
              </a:rPr>
              <a:t>A</a:t>
            </a:r>
            <a:r>
              <a:rPr kumimoji="0" lang="zh-CN" altLang="en-US" sz="3200" b="1">
                <a:solidFill>
                  <a:srgbClr val="000000"/>
                </a:solidFill>
              </a:rPr>
              <a:t>（偿债基金计算）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kumimoji="0" lang="zh-CN" altLang="en-US" sz="3200" b="1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en-US" altLang="zh-CN" sz="3200" b="1">
                <a:solidFill>
                  <a:srgbClr val="000000"/>
                </a:solidFill>
              </a:rPr>
              <a:t>10</a:t>
            </a:r>
            <a:r>
              <a:rPr kumimoji="0" lang="zh-CN" altLang="en-US" sz="3200" b="1">
                <a:solidFill>
                  <a:srgbClr val="000000"/>
                </a:solidFill>
              </a:rPr>
              <a:t>年后你要还学校</a:t>
            </a:r>
            <a:r>
              <a:rPr kumimoji="0" lang="en-US" altLang="zh-CN" sz="3200" b="1">
                <a:solidFill>
                  <a:srgbClr val="000000"/>
                </a:solidFill>
              </a:rPr>
              <a:t>10000</a:t>
            </a:r>
            <a:r>
              <a:rPr kumimoji="0" lang="zh-CN" altLang="en-US" sz="3200" b="1">
                <a:solidFill>
                  <a:srgbClr val="000000"/>
                </a:solidFill>
              </a:rPr>
              <a:t>元</a:t>
            </a:r>
            <a:r>
              <a:rPr kumimoji="0" lang="en-US" altLang="zh-CN" sz="3200" b="1">
                <a:solidFill>
                  <a:srgbClr val="000000"/>
                </a:solidFill>
              </a:rPr>
              <a:t>,</a:t>
            </a:r>
            <a:r>
              <a:rPr kumimoji="0" lang="zh-CN" altLang="en-US" sz="3200" b="1">
                <a:solidFill>
                  <a:srgbClr val="000000"/>
                </a:solidFill>
              </a:rPr>
              <a:t>利率</a:t>
            </a:r>
            <a:r>
              <a:rPr kumimoji="0" lang="en-US" altLang="zh-CN" sz="3200" b="1">
                <a:solidFill>
                  <a:srgbClr val="000000"/>
                </a:solidFill>
              </a:rPr>
              <a:t>7%, </a:t>
            </a:r>
            <a:r>
              <a:rPr kumimoji="0" lang="zh-CN" altLang="en-US" sz="3200" b="1">
                <a:solidFill>
                  <a:srgbClr val="000000"/>
                </a:solidFill>
              </a:rPr>
              <a:t>每年应等额存银行多少钱</a:t>
            </a:r>
            <a:r>
              <a:rPr kumimoji="0" lang="en-US" altLang="zh-CN" sz="3200" b="1">
                <a:solidFill>
                  <a:srgbClr val="000000"/>
                </a:solidFill>
              </a:rPr>
              <a:t>:</a:t>
            </a:r>
          </a:p>
        </p:txBody>
      </p:sp>
      <p:graphicFrame>
        <p:nvGraphicFramePr>
          <p:cNvPr id="35845" name="Object 7"/>
          <p:cNvGraphicFramePr>
            <a:graphicFrameLocks noChangeAspect="1"/>
          </p:cNvGraphicFramePr>
          <p:nvPr/>
        </p:nvGraphicFramePr>
        <p:xfrm>
          <a:off x="541338" y="4703763"/>
          <a:ext cx="5910262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1" name="公式" r:id="rId5" imgW="2616200" imgH="660400" progId="Equation.3">
                  <p:embed/>
                </p:oleObj>
              </mc:Choice>
              <mc:Fallback>
                <p:oleObj name="公式" r:id="rId5" imgW="2616200" imgH="660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4703763"/>
                        <a:ext cx="5910262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541338" y="1892300"/>
          <a:ext cx="2371725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" name="公式" r:id="rId7" imgW="1040948" imgH="660113" progId="Equation.3">
                  <p:embed/>
                </p:oleObj>
              </mc:Choice>
              <mc:Fallback>
                <p:oleObj name="公式" r:id="rId7" imgW="1040948" imgH="66011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1892300"/>
                        <a:ext cx="2371725" cy="150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例子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5029200"/>
          </a:xfrm>
        </p:spPr>
        <p:txBody>
          <a:bodyPr/>
          <a:lstStyle/>
          <a:p>
            <a:pPr eaLnBrk="1" hangingPunct="1"/>
            <a:r>
              <a:rPr lang="en-US" altLang="zh-CN" sz="2400" smtClean="0"/>
              <a:t>1. </a:t>
            </a:r>
            <a:r>
              <a:rPr lang="zh-CN" altLang="en-US" sz="2400" smtClean="0"/>
              <a:t>某人</a:t>
            </a:r>
            <a:r>
              <a:rPr lang="en-US" altLang="zh-CN" sz="2400" smtClean="0"/>
              <a:t>10</a:t>
            </a:r>
            <a:r>
              <a:rPr lang="zh-CN" altLang="en-US" sz="2400" smtClean="0"/>
              <a:t>年内，每年年末存入银行</a:t>
            </a:r>
            <a:r>
              <a:rPr lang="en-US" altLang="zh-CN" sz="2400" smtClean="0"/>
              <a:t>1000</a:t>
            </a:r>
            <a:r>
              <a:rPr lang="zh-CN" altLang="en-US" sz="2400" smtClean="0"/>
              <a:t>元，年利率</a:t>
            </a:r>
            <a:r>
              <a:rPr lang="en-US" altLang="zh-CN" sz="2400" smtClean="0"/>
              <a:t>8%</a:t>
            </a:r>
            <a:r>
              <a:rPr lang="zh-CN" altLang="en-US" sz="2400" smtClean="0"/>
              <a:t>，复利计息，则</a:t>
            </a:r>
            <a:r>
              <a:rPr lang="en-US" altLang="zh-CN" sz="2400" smtClean="0"/>
              <a:t>10</a:t>
            </a:r>
            <a:r>
              <a:rPr lang="zh-CN" altLang="en-US" sz="2400" smtClean="0"/>
              <a:t>年末可从银行连本带息取出多少钱？</a:t>
            </a:r>
          </a:p>
          <a:p>
            <a:pPr eaLnBrk="1" hangingPunct="1"/>
            <a:endParaRPr lang="zh-CN" altLang="en-US" sz="2400" smtClean="0"/>
          </a:p>
          <a:p>
            <a:pPr eaLnBrk="1" hangingPunct="1"/>
            <a:endParaRPr lang="zh-CN" altLang="en-US" sz="2400" smtClean="0"/>
          </a:p>
          <a:p>
            <a:pPr eaLnBrk="1" hangingPunct="1"/>
            <a:endParaRPr lang="en-US" altLang="zh-CN" sz="2400" smtClean="0"/>
          </a:p>
          <a:p>
            <a:pPr eaLnBrk="1" hangingPunct="1"/>
            <a:endParaRPr lang="en-US" altLang="zh-CN" sz="2400" smtClean="0"/>
          </a:p>
          <a:p>
            <a:pPr eaLnBrk="1" hangingPunct="1"/>
            <a:r>
              <a:rPr lang="en-US" altLang="zh-CN" sz="2400" smtClean="0"/>
              <a:t>2. </a:t>
            </a:r>
            <a:r>
              <a:rPr lang="zh-CN" altLang="en-US" sz="2400" smtClean="0"/>
              <a:t>若某人现在投资</a:t>
            </a:r>
            <a:r>
              <a:rPr lang="en-US" altLang="zh-CN" sz="2400" smtClean="0"/>
              <a:t>10000</a:t>
            </a:r>
            <a:r>
              <a:rPr lang="zh-CN" altLang="en-US" sz="2400" smtClean="0"/>
              <a:t>元，年收益率为</a:t>
            </a:r>
            <a:r>
              <a:rPr lang="en-US" altLang="zh-CN" sz="2400" smtClean="0"/>
              <a:t>8%</a:t>
            </a:r>
            <a:r>
              <a:rPr lang="zh-CN" altLang="en-US" sz="2400" smtClean="0"/>
              <a:t>，每年年末等额获得收益，</a:t>
            </a:r>
            <a:r>
              <a:rPr lang="en-US" altLang="zh-CN" sz="2400" smtClean="0"/>
              <a:t>10</a:t>
            </a:r>
            <a:r>
              <a:rPr lang="zh-CN" altLang="en-US" sz="2400" smtClean="0"/>
              <a:t>年内收回全部本利，则每年应收回多少元？</a:t>
            </a:r>
          </a:p>
          <a:p>
            <a:pPr eaLnBrk="1" hangingPunct="1"/>
            <a:endParaRPr lang="zh-CN" altLang="en-US" sz="2000" smtClean="0"/>
          </a:p>
        </p:txBody>
      </p:sp>
      <p:graphicFrame>
        <p:nvGraphicFramePr>
          <p:cNvPr id="43418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6725" y="2501900"/>
          <a:ext cx="84740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公式" r:id="rId4" imgW="4089400" imgH="215900" progId="Equation.3">
                  <p:embed/>
                </p:oleObj>
              </mc:Choice>
              <mc:Fallback>
                <p:oleObj name="公式" r:id="rId4" imgW="40894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2501900"/>
                        <a:ext cx="84740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8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66725" y="5529263"/>
          <a:ext cx="84740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2" name="公式" r:id="rId6" imgW="4025900" imgH="215900" progId="Equation.3">
                  <p:embed/>
                </p:oleObj>
              </mc:Choice>
              <mc:Fallback>
                <p:oleObj name="公式" r:id="rId6" imgW="40259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5529263"/>
                        <a:ext cx="84740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资金的等值计算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508635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影响资金等值的三个因素</a:t>
            </a:r>
          </a:p>
          <a:p>
            <a:pPr lvl="1" eaLnBrk="1" hangingPunct="1"/>
            <a:r>
              <a:rPr lang="zh-CN" altLang="en-US" sz="2400" smtClean="0"/>
              <a:t>金额的多少</a:t>
            </a:r>
            <a:r>
              <a:rPr lang="en-US" altLang="zh-CN" sz="2400" smtClean="0"/>
              <a:t>/</a:t>
            </a:r>
            <a:r>
              <a:rPr lang="zh-CN" altLang="en-US" sz="2400" smtClean="0"/>
              <a:t>正负</a:t>
            </a:r>
          </a:p>
          <a:p>
            <a:pPr lvl="1" eaLnBrk="1" hangingPunct="1"/>
            <a:r>
              <a:rPr lang="zh-CN" altLang="en-US" sz="2400" smtClean="0"/>
              <a:t>现金流发生的时间</a:t>
            </a:r>
          </a:p>
          <a:p>
            <a:pPr lvl="1" eaLnBrk="1" hangingPunct="1"/>
            <a:r>
              <a:rPr lang="zh-CN" altLang="en-US" sz="2400" smtClean="0"/>
              <a:t>折现率的大小</a:t>
            </a:r>
          </a:p>
          <a:p>
            <a:pPr lvl="1" eaLnBrk="1" hangingPunct="1"/>
            <a:endParaRPr lang="zh-CN" altLang="en-US" sz="2400" smtClean="0"/>
          </a:p>
        </p:txBody>
      </p:sp>
      <p:sp>
        <p:nvSpPr>
          <p:cNvPr id="38915" name="Text Box 44"/>
          <p:cNvSpPr txBox="1">
            <a:spLocks noChangeArrowheads="1"/>
          </p:cNvSpPr>
          <p:nvPr/>
        </p:nvSpPr>
        <p:spPr bwMode="auto">
          <a:xfrm>
            <a:off x="6280150" y="1803400"/>
            <a:ext cx="1706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endParaRPr kumimoji="0" lang="zh-CN" altLang="en-US">
              <a:ea typeface="宋体" panose="02010600030101010101" pitchFamily="2" charset="-122"/>
            </a:endParaRPr>
          </a:p>
        </p:txBody>
      </p:sp>
      <p:grpSp>
        <p:nvGrpSpPr>
          <p:cNvPr id="38916" name="Group 52"/>
          <p:cNvGrpSpPr>
            <a:grpSpLocks/>
          </p:cNvGrpSpPr>
          <p:nvPr/>
        </p:nvGrpSpPr>
        <p:grpSpPr bwMode="auto">
          <a:xfrm>
            <a:off x="946150" y="3292475"/>
            <a:ext cx="7067550" cy="3200400"/>
            <a:chOff x="596" y="2074"/>
            <a:chExt cx="4452" cy="2016"/>
          </a:xfrm>
        </p:grpSpPr>
        <p:graphicFrame>
          <p:nvGraphicFramePr>
            <p:cNvPr id="38917" name="Object 45"/>
            <p:cNvGraphicFramePr>
              <a:graphicFrameLocks noChangeAspect="1"/>
            </p:cNvGraphicFramePr>
            <p:nvPr/>
          </p:nvGraphicFramePr>
          <p:xfrm>
            <a:off x="3408" y="2770"/>
            <a:ext cx="61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4" name="公式" r:id="rId4" imgW="647419" imgH="215806" progId="Equation.3">
                    <p:embed/>
                  </p:oleObj>
                </mc:Choice>
                <mc:Fallback>
                  <p:oleObj name="公式" r:id="rId4" imgW="647419" imgH="215806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770"/>
                          <a:ext cx="61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8" name="Line 5"/>
            <p:cNvSpPr>
              <a:spLocks noChangeShapeType="1"/>
            </p:cNvSpPr>
            <p:nvPr/>
          </p:nvSpPr>
          <p:spPr bwMode="auto">
            <a:xfrm>
              <a:off x="704" y="3802"/>
              <a:ext cx="40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19" name="Text Box 6"/>
            <p:cNvSpPr txBox="1">
              <a:spLocks noChangeArrowheads="1"/>
            </p:cNvSpPr>
            <p:nvPr/>
          </p:nvSpPr>
          <p:spPr bwMode="auto">
            <a:xfrm>
              <a:off x="1180" y="3810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8920" name="Line 7"/>
            <p:cNvSpPr>
              <a:spLocks noChangeShapeType="1"/>
            </p:cNvSpPr>
            <p:nvPr/>
          </p:nvSpPr>
          <p:spPr bwMode="auto">
            <a:xfrm>
              <a:off x="704" y="2787"/>
              <a:ext cx="0" cy="1033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1" name="Line 8"/>
            <p:cNvSpPr>
              <a:spLocks noChangeShapeType="1"/>
            </p:cNvSpPr>
            <p:nvPr/>
          </p:nvSpPr>
          <p:spPr bwMode="auto">
            <a:xfrm flipV="1">
              <a:off x="1288" y="3474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2" name="Line 9"/>
            <p:cNvSpPr>
              <a:spLocks noChangeShapeType="1"/>
            </p:cNvSpPr>
            <p:nvPr/>
          </p:nvSpPr>
          <p:spPr bwMode="auto">
            <a:xfrm flipV="1">
              <a:off x="3168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3" name="Line 10"/>
            <p:cNvSpPr>
              <a:spLocks noChangeShapeType="1"/>
            </p:cNvSpPr>
            <p:nvPr/>
          </p:nvSpPr>
          <p:spPr bwMode="auto">
            <a:xfrm flipV="1">
              <a:off x="3832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4" name="Line 11"/>
            <p:cNvSpPr>
              <a:spLocks noChangeShapeType="1"/>
            </p:cNvSpPr>
            <p:nvPr/>
          </p:nvSpPr>
          <p:spPr bwMode="auto">
            <a:xfrm flipV="1">
              <a:off x="2528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5" name="Line 12"/>
            <p:cNvSpPr>
              <a:spLocks noChangeShapeType="1"/>
            </p:cNvSpPr>
            <p:nvPr/>
          </p:nvSpPr>
          <p:spPr bwMode="auto">
            <a:xfrm flipV="1">
              <a:off x="1904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6" name="Text Box 13"/>
            <p:cNvSpPr txBox="1">
              <a:spLocks noChangeArrowheads="1"/>
            </p:cNvSpPr>
            <p:nvPr/>
          </p:nvSpPr>
          <p:spPr bwMode="auto">
            <a:xfrm>
              <a:off x="1792" y="3810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8927" name="Text Box 14"/>
            <p:cNvSpPr txBox="1">
              <a:spLocks noChangeArrowheads="1"/>
            </p:cNvSpPr>
            <p:nvPr/>
          </p:nvSpPr>
          <p:spPr bwMode="auto">
            <a:xfrm>
              <a:off x="2420" y="3802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8928" name="Text Box 15"/>
            <p:cNvSpPr txBox="1">
              <a:spLocks noChangeArrowheads="1"/>
            </p:cNvSpPr>
            <p:nvPr/>
          </p:nvSpPr>
          <p:spPr bwMode="auto">
            <a:xfrm>
              <a:off x="3060" y="3802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8929" name="Text Box 16"/>
            <p:cNvSpPr txBox="1">
              <a:spLocks noChangeArrowheads="1"/>
            </p:cNvSpPr>
            <p:nvPr/>
          </p:nvSpPr>
          <p:spPr bwMode="auto">
            <a:xfrm>
              <a:off x="3740" y="3802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8930" name="Text Box 17"/>
            <p:cNvSpPr txBox="1">
              <a:spLocks noChangeArrowheads="1"/>
            </p:cNvSpPr>
            <p:nvPr/>
          </p:nvSpPr>
          <p:spPr bwMode="auto">
            <a:xfrm>
              <a:off x="4388" y="3802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38931" name="Line 18"/>
            <p:cNvSpPr>
              <a:spLocks noChangeShapeType="1"/>
            </p:cNvSpPr>
            <p:nvPr/>
          </p:nvSpPr>
          <p:spPr bwMode="auto">
            <a:xfrm flipV="1">
              <a:off x="4480" y="2312"/>
              <a:ext cx="0" cy="1490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2" name="Text Box 19"/>
            <p:cNvSpPr txBox="1">
              <a:spLocks noChangeArrowheads="1"/>
            </p:cNvSpPr>
            <p:nvPr/>
          </p:nvSpPr>
          <p:spPr bwMode="auto">
            <a:xfrm>
              <a:off x="4800" y="3802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8933" name="Text Box 24"/>
            <p:cNvSpPr txBox="1">
              <a:spLocks noChangeArrowheads="1"/>
            </p:cNvSpPr>
            <p:nvPr/>
          </p:nvSpPr>
          <p:spPr bwMode="auto">
            <a:xfrm>
              <a:off x="596" y="3810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8934" name="Line 29"/>
            <p:cNvSpPr>
              <a:spLocks noChangeShapeType="1"/>
            </p:cNvSpPr>
            <p:nvPr/>
          </p:nvSpPr>
          <p:spPr bwMode="auto">
            <a:xfrm>
              <a:off x="1288" y="3482"/>
              <a:ext cx="3192" cy="0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30"/>
            <p:cNvSpPr>
              <a:spLocks noChangeShapeType="1"/>
            </p:cNvSpPr>
            <p:nvPr/>
          </p:nvSpPr>
          <p:spPr bwMode="auto">
            <a:xfrm flipV="1">
              <a:off x="4480" y="3482"/>
              <a:ext cx="0" cy="328"/>
            </a:xfrm>
            <a:prstGeom prst="line">
              <a:avLst/>
            </a:prstGeom>
            <a:noFill/>
            <a:ln w="635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31"/>
            <p:cNvSpPr>
              <a:spLocks noChangeShapeType="1"/>
            </p:cNvSpPr>
            <p:nvPr/>
          </p:nvSpPr>
          <p:spPr bwMode="auto">
            <a:xfrm flipV="1">
              <a:off x="3060" y="2904"/>
              <a:ext cx="1308" cy="5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32"/>
            <p:cNvSpPr>
              <a:spLocks noChangeShapeType="1"/>
            </p:cNvSpPr>
            <p:nvPr/>
          </p:nvSpPr>
          <p:spPr bwMode="auto">
            <a:xfrm flipV="1">
              <a:off x="2904" y="2640"/>
              <a:ext cx="1464" cy="64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33"/>
            <p:cNvSpPr>
              <a:spLocks noChangeShapeType="1"/>
            </p:cNvSpPr>
            <p:nvPr/>
          </p:nvSpPr>
          <p:spPr bwMode="auto">
            <a:xfrm flipH="1" flipV="1">
              <a:off x="812" y="3090"/>
              <a:ext cx="1824" cy="3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9" name="Line 34"/>
            <p:cNvSpPr>
              <a:spLocks noChangeShapeType="1"/>
            </p:cNvSpPr>
            <p:nvPr/>
          </p:nvSpPr>
          <p:spPr bwMode="auto">
            <a:xfrm flipH="1" flipV="1">
              <a:off x="864" y="2856"/>
              <a:ext cx="1824" cy="3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Line 35"/>
            <p:cNvSpPr>
              <a:spLocks noChangeShapeType="1"/>
            </p:cNvSpPr>
            <p:nvPr/>
          </p:nvSpPr>
          <p:spPr bwMode="auto">
            <a:xfrm flipH="1">
              <a:off x="864" y="2312"/>
              <a:ext cx="3504" cy="4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Line 37"/>
            <p:cNvSpPr>
              <a:spLocks noChangeShapeType="1"/>
            </p:cNvSpPr>
            <p:nvPr/>
          </p:nvSpPr>
          <p:spPr bwMode="auto">
            <a:xfrm flipH="1">
              <a:off x="776" y="2074"/>
              <a:ext cx="3504" cy="4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2" name="Text Box 38"/>
            <p:cNvSpPr txBox="1">
              <a:spLocks noChangeArrowheads="1"/>
            </p:cNvSpPr>
            <p:nvPr/>
          </p:nvSpPr>
          <p:spPr bwMode="auto">
            <a:xfrm>
              <a:off x="3956" y="3820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…</a:t>
              </a:r>
            </a:p>
          </p:txBody>
        </p:sp>
        <p:graphicFrame>
          <p:nvGraphicFramePr>
            <p:cNvPr id="38943" name="Object 46"/>
            <p:cNvGraphicFramePr>
              <a:graphicFrameLocks noChangeAspect="1"/>
            </p:cNvGraphicFramePr>
            <p:nvPr/>
          </p:nvGraphicFramePr>
          <p:xfrm>
            <a:off x="3468" y="3090"/>
            <a:ext cx="61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5" name="公式" r:id="rId6" imgW="647419" imgH="215806" progId="Equation.3">
                    <p:embed/>
                  </p:oleObj>
                </mc:Choice>
                <mc:Fallback>
                  <p:oleObj name="公式" r:id="rId6" imgW="647419" imgH="215806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8" y="3090"/>
                          <a:ext cx="61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4" name="Object 48"/>
            <p:cNvGraphicFramePr>
              <a:graphicFrameLocks noChangeAspect="1"/>
            </p:cNvGraphicFramePr>
            <p:nvPr/>
          </p:nvGraphicFramePr>
          <p:xfrm>
            <a:off x="2314" y="2442"/>
            <a:ext cx="59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6" name="公式" r:id="rId8" imgW="647419" imgH="215806" progId="Equation.3">
                    <p:embed/>
                  </p:oleObj>
                </mc:Choice>
                <mc:Fallback>
                  <p:oleObj name="公式" r:id="rId8" imgW="647419" imgH="215806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4" y="2442"/>
                          <a:ext cx="59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5" name="Object 49"/>
            <p:cNvGraphicFramePr>
              <a:graphicFrameLocks noChangeAspect="1"/>
            </p:cNvGraphicFramePr>
            <p:nvPr/>
          </p:nvGraphicFramePr>
          <p:xfrm>
            <a:off x="2341" y="2116"/>
            <a:ext cx="59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7" name="公式" r:id="rId10" imgW="647419" imgH="215806" progId="Equation.3">
                    <p:embed/>
                  </p:oleObj>
                </mc:Choice>
                <mc:Fallback>
                  <p:oleObj name="公式" r:id="rId10" imgW="647419" imgH="215806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1" y="2116"/>
                          <a:ext cx="59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6" name="Object 50"/>
            <p:cNvGraphicFramePr>
              <a:graphicFrameLocks noChangeAspect="1"/>
            </p:cNvGraphicFramePr>
            <p:nvPr/>
          </p:nvGraphicFramePr>
          <p:xfrm>
            <a:off x="1506" y="2904"/>
            <a:ext cx="572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8" name="公式" r:id="rId12" imgW="634449" imgH="215713" progId="Equation.3">
                    <p:embed/>
                  </p:oleObj>
                </mc:Choice>
                <mc:Fallback>
                  <p:oleObj name="公式" r:id="rId12" imgW="634449" imgH="215713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2904"/>
                          <a:ext cx="572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7" name="Object 51"/>
            <p:cNvGraphicFramePr>
              <a:graphicFrameLocks noChangeAspect="1"/>
            </p:cNvGraphicFramePr>
            <p:nvPr/>
          </p:nvGraphicFramePr>
          <p:xfrm>
            <a:off x="1396" y="3167"/>
            <a:ext cx="612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9" name="公式" r:id="rId14" imgW="634449" imgH="215713" progId="Equation.3">
                    <p:embed/>
                  </p:oleObj>
                </mc:Choice>
                <mc:Fallback>
                  <p:oleObj name="公式" r:id="rId14" imgW="634449" imgH="215713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" y="3167"/>
                          <a:ext cx="612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无限年期</a:t>
            </a:r>
            <a:r>
              <a:rPr lang="en-US" altLang="zh-CN" smtClean="0"/>
              <a:t>(n)</a:t>
            </a:r>
            <a:r>
              <a:rPr lang="zh-CN" altLang="en-US" smtClean="0"/>
              <a:t>的公式</a:t>
            </a:r>
          </a:p>
        </p:txBody>
      </p:sp>
      <p:graphicFrame>
        <p:nvGraphicFramePr>
          <p:cNvPr id="4096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076450" y="1590675"/>
          <a:ext cx="5080000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公式" r:id="rId4" imgW="2235200" imgH="1320800" progId="Equation.3">
                  <p:embed/>
                </p:oleObj>
              </mc:Choice>
              <mc:Fallback>
                <p:oleObj name="公式" r:id="rId4" imgW="2235200" imgH="1320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590675"/>
                        <a:ext cx="5080000" cy="300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Text Box 6"/>
          <p:cNvSpPr txBox="1">
            <a:spLocks noChangeArrowheads="1"/>
          </p:cNvSpPr>
          <p:nvPr/>
        </p:nvSpPr>
        <p:spPr bwMode="auto">
          <a:xfrm>
            <a:off x="282575" y="4978400"/>
            <a:ext cx="8569325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</a:rPr>
              <a:t>什么是无穷？</a:t>
            </a:r>
          </a:p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  <a:latin typeface="楷体_GB2312" pitchFamily="49" charset="-122"/>
              </a:rPr>
              <a:t>    当</a:t>
            </a:r>
            <a:r>
              <a:rPr kumimoji="0" lang="en-US" altLang="zh-CN">
                <a:solidFill>
                  <a:srgbClr val="000000"/>
                </a:solidFill>
                <a:latin typeface="楷体_GB2312" pitchFamily="49" charset="-122"/>
              </a:rPr>
              <a:t>n</a:t>
            </a:r>
            <a:r>
              <a:rPr kumimoji="0" lang="zh-CN" altLang="en-US">
                <a:solidFill>
                  <a:srgbClr val="000000"/>
                </a:solidFill>
                <a:latin typeface="楷体_GB2312" pitchFamily="49" charset="-122"/>
              </a:rPr>
              <a:t>非常大时，可以近似为无穷大。例如</a:t>
            </a:r>
            <a:r>
              <a:rPr kumimoji="0" lang="en-US" altLang="zh-CN">
                <a:solidFill>
                  <a:srgbClr val="000000"/>
                </a:solidFill>
                <a:latin typeface="楷体_GB2312" pitchFamily="49" charset="-122"/>
              </a:rPr>
              <a:t>50</a:t>
            </a:r>
            <a:r>
              <a:rPr kumimoji="0" lang="zh-CN" altLang="en-US">
                <a:solidFill>
                  <a:srgbClr val="000000"/>
                </a:solidFill>
                <a:latin typeface="楷体_GB2312" pitchFamily="49" charset="-122"/>
              </a:rPr>
              <a:t>期，</a:t>
            </a:r>
            <a:r>
              <a:rPr kumimoji="0" lang="en-US" altLang="zh-CN">
                <a:solidFill>
                  <a:srgbClr val="000000"/>
                </a:solidFill>
                <a:latin typeface="楷体_GB2312" pitchFamily="49" charset="-122"/>
              </a:rPr>
              <a:t>100</a:t>
            </a:r>
            <a:r>
              <a:rPr kumimoji="0" lang="zh-CN" altLang="en-US">
                <a:solidFill>
                  <a:srgbClr val="000000"/>
                </a:solidFill>
                <a:latin typeface="楷体_GB2312" pitchFamily="49" charset="-122"/>
              </a:rPr>
              <a:t>期，上百期等。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无限年期的例子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9144000" cy="504190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一幢写字楼，正常的年租金为</a:t>
            </a:r>
            <a:r>
              <a:rPr lang="en-US" altLang="zh-CN" sz="2800" smtClean="0"/>
              <a:t>100</a:t>
            </a:r>
            <a:r>
              <a:rPr lang="zh-CN" altLang="en-US" sz="2800" smtClean="0"/>
              <a:t>万元，可以永续经营。目前市场上类似写字楼的收益率约为</a:t>
            </a:r>
            <a:r>
              <a:rPr lang="en-US" altLang="zh-CN" sz="2800" smtClean="0"/>
              <a:t>10%</a:t>
            </a:r>
            <a:r>
              <a:rPr lang="zh-CN" altLang="en-US" sz="2800" smtClean="0"/>
              <a:t>，则这幢楼的市场价格是多少？</a:t>
            </a:r>
          </a:p>
          <a:p>
            <a:pPr eaLnBrk="1" hangingPunct="1"/>
            <a:endParaRPr lang="zh-CN" altLang="en-US" sz="2800" smtClean="0"/>
          </a:p>
          <a:p>
            <a:pPr eaLnBrk="1" hangingPunct="1"/>
            <a:endParaRPr lang="zh-CN" altLang="en-US" sz="2800" smtClean="0"/>
          </a:p>
          <a:p>
            <a:pPr eaLnBrk="1" hangingPunct="1"/>
            <a:r>
              <a:rPr lang="zh-CN" altLang="en-US" sz="2800" smtClean="0"/>
              <a:t>一套住宅，目前的市场价格是</a:t>
            </a:r>
            <a:r>
              <a:rPr lang="en-US" altLang="zh-CN" sz="2800" smtClean="0"/>
              <a:t>60</a:t>
            </a:r>
            <a:r>
              <a:rPr lang="zh-CN" altLang="en-US" sz="2800" smtClean="0"/>
              <a:t>万，租金是每月</a:t>
            </a:r>
            <a:r>
              <a:rPr lang="en-US" altLang="zh-CN" sz="2800" smtClean="0"/>
              <a:t>4000</a:t>
            </a:r>
            <a:r>
              <a:rPr lang="zh-CN" altLang="en-US" sz="2800" smtClean="0"/>
              <a:t>元，在相当长的一段时间内会保持不变。则投资于该套住宅的年收益率是多少？</a:t>
            </a:r>
          </a:p>
        </p:txBody>
      </p:sp>
      <p:graphicFrame>
        <p:nvGraphicFramePr>
          <p:cNvPr id="47821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03550" y="2806700"/>
          <a:ext cx="27162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公式" r:id="rId4" imgW="1079032" imgH="393529" progId="Equation.3">
                  <p:embed/>
                </p:oleObj>
              </mc:Choice>
              <mc:Fallback>
                <p:oleObj name="公式" r:id="rId4" imgW="1079032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2806700"/>
                        <a:ext cx="271621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1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68650" y="5284788"/>
          <a:ext cx="227330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公式" r:id="rId6" imgW="850531" imgH="393529" progId="Equation.3">
                  <p:embed/>
                </p:oleObj>
              </mc:Choice>
              <mc:Fallback>
                <p:oleObj name="公式" r:id="rId6" imgW="850531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5284788"/>
                        <a:ext cx="227330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 </a:t>
            </a:r>
            <a:r>
              <a:rPr lang="zh-CN" altLang="en-US" smtClean="0"/>
              <a:t>讨论</a:t>
            </a:r>
            <a:r>
              <a:rPr lang="en-US" altLang="zh-CN" smtClean="0"/>
              <a:t>: </a:t>
            </a:r>
            <a:r>
              <a:rPr lang="zh-CN" altLang="en-US" smtClean="0"/>
              <a:t>移民问题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等比</a:t>
            </a:r>
            <a:r>
              <a:rPr lang="en-US" altLang="zh-CN" smtClean="0"/>
              <a:t>/</a:t>
            </a:r>
            <a:r>
              <a:rPr lang="zh-CN" altLang="en-US" smtClean="0"/>
              <a:t>等差系列现金流量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1. </a:t>
            </a:r>
            <a:r>
              <a:rPr lang="zh-CN" altLang="en-US" smtClean="0"/>
              <a:t>等比系列现金流量</a:t>
            </a:r>
          </a:p>
          <a:p>
            <a:pPr eaLnBrk="1" hangingPunct="1"/>
            <a:endParaRPr lang="zh-CN" altLang="en-US" smtClean="0"/>
          </a:p>
          <a:p>
            <a:pPr eaLnBrk="1" hangingPunct="1"/>
            <a:endParaRPr lang="zh-CN" altLang="en-US" smtClean="0"/>
          </a:p>
          <a:p>
            <a:pPr eaLnBrk="1" hangingPunct="1"/>
            <a:r>
              <a:rPr lang="en-US" altLang="zh-CN" smtClean="0"/>
              <a:t>2. </a:t>
            </a:r>
            <a:r>
              <a:rPr lang="zh-CN" altLang="en-US" smtClean="0"/>
              <a:t>等差系列现金流量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课后练习：在</a:t>
            </a:r>
            <a:r>
              <a:rPr lang="en-US" altLang="zh-CN" smtClean="0"/>
              <a:t>Excel</a:t>
            </a:r>
            <a:r>
              <a:rPr lang="zh-CN" altLang="en-US" smtClean="0"/>
              <a:t>软件中操作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函数→财务</a:t>
            </a:r>
          </a:p>
          <a:p>
            <a:pPr lvl="1" eaLnBrk="1" hangingPunct="1"/>
            <a:r>
              <a:rPr lang="zh-CN" altLang="en-US" smtClean="0"/>
              <a:t>求现值：</a:t>
            </a:r>
            <a:r>
              <a:rPr lang="en-US" altLang="zh-CN" smtClean="0">
                <a:solidFill>
                  <a:srgbClr val="FF0000"/>
                </a:solidFill>
              </a:rPr>
              <a:t>PV</a:t>
            </a:r>
          </a:p>
          <a:p>
            <a:pPr lvl="1" eaLnBrk="1" hangingPunct="1"/>
            <a:r>
              <a:rPr lang="zh-CN" altLang="en-US" smtClean="0"/>
              <a:t>求终值：</a:t>
            </a:r>
            <a:r>
              <a:rPr lang="en-US" altLang="zh-CN" smtClean="0">
                <a:solidFill>
                  <a:srgbClr val="FF0000"/>
                </a:solidFill>
              </a:rPr>
              <a:t>FV</a:t>
            </a:r>
          </a:p>
          <a:p>
            <a:pPr lvl="1" eaLnBrk="1" hangingPunct="1"/>
            <a:r>
              <a:rPr lang="zh-CN" altLang="en-US" smtClean="0"/>
              <a:t>求年金：</a:t>
            </a:r>
            <a:r>
              <a:rPr lang="en-US" altLang="zh-CN" smtClean="0"/>
              <a:t>PMT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注意：函数的默认情况（</a:t>
            </a:r>
            <a:r>
              <a:rPr lang="en-US" altLang="zh-CN" smtClean="0"/>
              <a:t>0/1)</a:t>
            </a:r>
            <a:endParaRPr lang="en-US" altLang="zh-CN" sz="3200" smtClean="0"/>
          </a:p>
          <a:p>
            <a:pPr lvl="1" eaLnBrk="1" hangingPunct="1"/>
            <a:endParaRPr lang="zh-CN" altLang="en-US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CN" sz="5400" smtClean="0"/>
              <a:t>Question?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1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Blank Presentation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6977</TotalTime>
  <Words>2130</Words>
  <Application>Microsoft Office PowerPoint</Application>
  <PresentationFormat>全屏显示(4:3)</PresentationFormat>
  <Paragraphs>285</Paragraphs>
  <Slides>34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方正舒体</vt:lpstr>
      <vt:lpstr>华文新魏</vt:lpstr>
      <vt:lpstr>楷体_GB2312</vt:lpstr>
      <vt:lpstr>宋体</vt:lpstr>
      <vt:lpstr>Arial</vt:lpstr>
      <vt:lpstr>Symbol</vt:lpstr>
      <vt:lpstr>Times</vt:lpstr>
      <vt:lpstr>Wingdings</vt:lpstr>
      <vt:lpstr>Blank Presentation</vt:lpstr>
      <vt:lpstr>Equation</vt:lpstr>
      <vt:lpstr>公式</vt:lpstr>
      <vt:lpstr>“校园贷”是什么？</vt:lpstr>
      <vt:lpstr>“校园贷”是什么？</vt:lpstr>
      <vt:lpstr>你了解“校园贷”吗？</vt:lpstr>
      <vt:lpstr>你了解“校园贷”吗？</vt:lpstr>
      <vt:lpstr>“校园贷”的借款模式</vt:lpstr>
      <vt:lpstr>“校园贷”的利息有多高？</vt:lpstr>
      <vt:lpstr>“校园贷”的利息有多高？</vt:lpstr>
      <vt:lpstr>认清不良“校园贷”</vt:lpstr>
      <vt:lpstr>工程经济学  资金的时间价值和现金流量计算</vt:lpstr>
      <vt:lpstr>本讲的内容</vt:lpstr>
      <vt:lpstr>资金的时间价值   Time value of Money</vt:lpstr>
      <vt:lpstr>PowerPoint 演示文稿</vt:lpstr>
      <vt:lpstr>折现 Discounting</vt:lpstr>
      <vt:lpstr>现金流量图：我们的工具</vt:lpstr>
      <vt:lpstr>一些术语 Terminology</vt:lpstr>
      <vt:lpstr>“现在”和“将来”现金流量之间的关系</vt:lpstr>
      <vt:lpstr>两个简单的例子</vt:lpstr>
      <vt:lpstr>单利 vs. 复利</vt:lpstr>
      <vt:lpstr>PowerPoint 演示文稿</vt:lpstr>
      <vt:lpstr>名义利率 vs. 实际利率</vt:lpstr>
      <vt:lpstr>名义利率 vs. 实际利率</vt:lpstr>
      <vt:lpstr>多次支付：年金、现值、终值</vt:lpstr>
      <vt:lpstr>等额系列现金流量</vt:lpstr>
      <vt:lpstr>PowerPoint 演示文稿</vt:lpstr>
      <vt:lpstr>PowerPoint 演示文稿</vt:lpstr>
      <vt:lpstr>PowerPoint 演示文稿</vt:lpstr>
      <vt:lpstr>例子</vt:lpstr>
      <vt:lpstr>资金的等值计算</vt:lpstr>
      <vt:lpstr>无限年期(n)的公式</vt:lpstr>
      <vt:lpstr>无限年期的例子</vt:lpstr>
      <vt:lpstr> 讨论: 移民问题</vt:lpstr>
      <vt:lpstr>等比/等差系列现金流量</vt:lpstr>
      <vt:lpstr>课后练习：在Excel软件中操作</vt:lpstr>
      <vt:lpstr>PowerPoint 演示文稿</vt:lpstr>
    </vt:vector>
  </TitlesOfParts>
  <Company>KAGAN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LESLIE KAGAN</dc:creator>
  <cp:lastModifiedBy>Zhang Yakun</cp:lastModifiedBy>
  <cp:revision>993</cp:revision>
  <dcterms:created xsi:type="dcterms:W3CDTF">2006-03-30T18:33:07Z</dcterms:created>
  <dcterms:modified xsi:type="dcterms:W3CDTF">2019-10-09T23:30:58Z</dcterms:modified>
</cp:coreProperties>
</file>