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97"/>
  </p:notesMasterIdLst>
  <p:handoutMasterIdLst>
    <p:handoutMasterId r:id="rId98"/>
  </p:handoutMasterIdLst>
  <p:sldIdLst>
    <p:sldId id="256" r:id="rId3"/>
    <p:sldId id="766" r:id="rId4"/>
    <p:sldId id="805" r:id="rId5"/>
    <p:sldId id="806" r:id="rId6"/>
    <p:sldId id="807" r:id="rId7"/>
    <p:sldId id="819" r:id="rId8"/>
    <p:sldId id="714" r:id="rId9"/>
    <p:sldId id="715" r:id="rId10"/>
    <p:sldId id="716" r:id="rId11"/>
    <p:sldId id="717" r:id="rId12"/>
    <p:sldId id="718" r:id="rId13"/>
    <p:sldId id="719" r:id="rId14"/>
    <p:sldId id="720" r:id="rId15"/>
    <p:sldId id="721" r:id="rId16"/>
    <p:sldId id="722" r:id="rId17"/>
    <p:sldId id="827" r:id="rId18"/>
    <p:sldId id="828" r:id="rId19"/>
    <p:sldId id="829" r:id="rId20"/>
    <p:sldId id="830" r:id="rId21"/>
    <p:sldId id="831" r:id="rId22"/>
    <p:sldId id="832" r:id="rId23"/>
    <p:sldId id="833" r:id="rId24"/>
    <p:sldId id="834" r:id="rId25"/>
    <p:sldId id="835" r:id="rId26"/>
    <p:sldId id="836" r:id="rId27"/>
    <p:sldId id="837" r:id="rId28"/>
    <p:sldId id="838" r:id="rId29"/>
    <p:sldId id="839" r:id="rId30"/>
    <p:sldId id="864" r:id="rId31"/>
    <p:sldId id="723" r:id="rId32"/>
    <p:sldId id="724" r:id="rId33"/>
    <p:sldId id="850" r:id="rId34"/>
    <p:sldId id="725" r:id="rId35"/>
    <p:sldId id="841" r:id="rId36"/>
    <p:sldId id="842" r:id="rId37"/>
    <p:sldId id="843" r:id="rId38"/>
    <p:sldId id="844" r:id="rId39"/>
    <p:sldId id="845" r:id="rId40"/>
    <p:sldId id="846" r:id="rId41"/>
    <p:sldId id="847" r:id="rId42"/>
    <p:sldId id="848" r:id="rId43"/>
    <p:sldId id="849" r:id="rId44"/>
    <p:sldId id="851" r:id="rId45"/>
    <p:sldId id="852" r:id="rId46"/>
    <p:sldId id="853" r:id="rId47"/>
    <p:sldId id="854" r:id="rId48"/>
    <p:sldId id="855" r:id="rId49"/>
    <p:sldId id="856" r:id="rId50"/>
    <p:sldId id="857" r:id="rId51"/>
    <p:sldId id="858" r:id="rId52"/>
    <p:sldId id="859" r:id="rId53"/>
    <p:sldId id="860" r:id="rId54"/>
    <p:sldId id="861" r:id="rId55"/>
    <p:sldId id="862" r:id="rId56"/>
    <p:sldId id="727" r:id="rId57"/>
    <p:sldId id="728" r:id="rId58"/>
    <p:sldId id="729" r:id="rId59"/>
    <p:sldId id="730" r:id="rId60"/>
    <p:sldId id="825" r:id="rId61"/>
    <p:sldId id="824" r:id="rId62"/>
    <p:sldId id="823" r:id="rId63"/>
    <p:sldId id="731" r:id="rId64"/>
    <p:sldId id="732" r:id="rId65"/>
    <p:sldId id="733" r:id="rId66"/>
    <p:sldId id="734" r:id="rId67"/>
    <p:sldId id="735" r:id="rId68"/>
    <p:sldId id="736" r:id="rId69"/>
    <p:sldId id="737" r:id="rId70"/>
    <p:sldId id="738" r:id="rId71"/>
    <p:sldId id="739" r:id="rId72"/>
    <p:sldId id="740" r:id="rId73"/>
    <p:sldId id="741" r:id="rId74"/>
    <p:sldId id="742" r:id="rId75"/>
    <p:sldId id="863" r:id="rId76"/>
    <p:sldId id="826" r:id="rId77"/>
    <p:sldId id="772" r:id="rId78"/>
    <p:sldId id="773" r:id="rId79"/>
    <p:sldId id="774" r:id="rId80"/>
    <p:sldId id="775" r:id="rId81"/>
    <p:sldId id="776" r:id="rId82"/>
    <p:sldId id="777" r:id="rId83"/>
    <p:sldId id="778" r:id="rId84"/>
    <p:sldId id="779" r:id="rId85"/>
    <p:sldId id="780" r:id="rId86"/>
    <p:sldId id="781" r:id="rId87"/>
    <p:sldId id="782" r:id="rId88"/>
    <p:sldId id="783" r:id="rId89"/>
    <p:sldId id="784" r:id="rId90"/>
    <p:sldId id="785" r:id="rId91"/>
    <p:sldId id="786" r:id="rId92"/>
    <p:sldId id="787" r:id="rId93"/>
    <p:sldId id="788" r:id="rId94"/>
    <p:sldId id="865" r:id="rId95"/>
    <p:sldId id="870" r:id="rId96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7">
          <p15:clr>
            <a:srgbClr val="A4A3A4"/>
          </p15:clr>
        </p15:guide>
        <p15:guide id="2" pos="16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C58B"/>
    <a:srgbClr val="FF7C80"/>
    <a:srgbClr val="FFD7AF"/>
    <a:srgbClr val="FFB469"/>
    <a:srgbClr val="0000FF"/>
    <a:srgbClr val="A50021"/>
    <a:srgbClr val="660066"/>
    <a:srgbClr val="FF99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4" autoAdjust="0"/>
    <p:restoredTop sz="91147" autoAdjust="0"/>
  </p:normalViewPr>
  <p:slideViewPr>
    <p:cSldViewPr snapToGrid="0" showGuides="1">
      <p:cViewPr varScale="1">
        <p:scale>
          <a:sx n="79" d="100"/>
          <a:sy n="79" d="100"/>
        </p:scale>
        <p:origin x="1172" y="64"/>
      </p:cViewPr>
      <p:guideLst>
        <p:guide orient="horz" pos="1407"/>
        <p:guide pos="16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4"/>
    </p:cViewPr>
  </p:sorterViewPr>
  <p:notesViewPr>
    <p:cSldViewPr snapToGrid="0" showGuides="1">
      <p:cViewPr>
        <p:scale>
          <a:sx n="75" d="100"/>
          <a:sy n="75" d="100"/>
        </p:scale>
        <p:origin x="-1027" y="264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wmf"/><Relationship Id="rId7" Type="http://schemas.openxmlformats.org/officeDocument/2006/relationships/image" Target="../media/image13.e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e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6.emf"/><Relationship Id="rId7" Type="http://schemas.openxmlformats.org/officeDocument/2006/relationships/image" Target="../media/image100.wmf"/><Relationship Id="rId2" Type="http://schemas.openxmlformats.org/officeDocument/2006/relationships/image" Target="../media/image95.emf"/><Relationship Id="rId1" Type="http://schemas.openxmlformats.org/officeDocument/2006/relationships/image" Target="../media/image94.emf"/><Relationship Id="rId6" Type="http://schemas.openxmlformats.org/officeDocument/2006/relationships/image" Target="../media/image99.emf"/><Relationship Id="rId11" Type="http://schemas.openxmlformats.org/officeDocument/2006/relationships/image" Target="../media/image104.wmf"/><Relationship Id="rId5" Type="http://schemas.openxmlformats.org/officeDocument/2006/relationships/image" Target="../media/image98.wmf"/><Relationship Id="rId10" Type="http://schemas.openxmlformats.org/officeDocument/2006/relationships/image" Target="../media/image103.wmf"/><Relationship Id="rId4" Type="http://schemas.openxmlformats.org/officeDocument/2006/relationships/image" Target="../media/image97.wmf"/><Relationship Id="rId9" Type="http://schemas.openxmlformats.org/officeDocument/2006/relationships/image" Target="../media/image102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emf"/><Relationship Id="rId7" Type="http://schemas.openxmlformats.org/officeDocument/2006/relationships/image" Target="../media/image113.emf"/><Relationship Id="rId2" Type="http://schemas.openxmlformats.org/officeDocument/2006/relationships/image" Target="../media/image108.e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emf"/><Relationship Id="rId9" Type="http://schemas.openxmlformats.org/officeDocument/2006/relationships/image" Target="../media/image11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10" Type="http://schemas.openxmlformats.org/officeDocument/2006/relationships/image" Target="../media/image130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4" Type="http://schemas.openxmlformats.org/officeDocument/2006/relationships/image" Target="../media/image152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wmf"/><Relationship Id="rId1" Type="http://schemas.openxmlformats.org/officeDocument/2006/relationships/image" Target="../media/image163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10" Type="http://schemas.openxmlformats.org/officeDocument/2006/relationships/image" Target="../media/image174.wmf"/><Relationship Id="rId4" Type="http://schemas.openxmlformats.org/officeDocument/2006/relationships/image" Target="../media/image168.wmf"/><Relationship Id="rId9" Type="http://schemas.openxmlformats.org/officeDocument/2006/relationships/image" Target="../media/image173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609E9AA9-5F9F-466E-87EA-B6E299C8CAE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821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5638C79D-0795-4353-9CD1-CDB896A0AAD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50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4C7CCF-ADA1-4FC7-BBCD-4519D62D410E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704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261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8390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550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202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081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127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4936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7292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411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538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7526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811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8C79D-0795-4353-9CD1-CDB896A0AAD6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704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663047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249706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3016980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47639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656492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35570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5260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22140431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86379055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368478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340626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313243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10930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5316402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9008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414598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451923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34289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21051475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06431439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271986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757629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865477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4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.e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6.e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0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7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9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2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image" Target="../media/image67.jpeg"/><Relationship Id="rId7" Type="http://schemas.openxmlformats.org/officeDocument/2006/relationships/image" Target="../media/image6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6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3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2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5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3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86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87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88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89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90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91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92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93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01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9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0.wmf"/><Relationship Id="rId20" Type="http://schemas.openxmlformats.org/officeDocument/2006/relationships/image" Target="../media/image102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5.e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04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9.emf"/><Relationship Id="rId22" Type="http://schemas.openxmlformats.org/officeDocument/2006/relationships/image" Target="../media/image103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5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0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3.e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10.e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15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2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24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31.bin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37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36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38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9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1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3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46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147.w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46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3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53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60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63.w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1.wmf"/><Relationship Id="rId20" Type="http://schemas.openxmlformats.org/officeDocument/2006/relationships/image" Target="../media/image173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68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70.wmf"/><Relationship Id="rId22" Type="http://schemas.openxmlformats.org/officeDocument/2006/relationships/image" Target="../media/image174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75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7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78.wmf"/><Relationship Id="rId4" Type="http://schemas.openxmlformats.org/officeDocument/2006/relationships/oleObject" Target="../embeddings/oleObject172.bin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-1080747" y="6327775"/>
            <a:ext cx="6594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17" name="Text Box 59"/>
          <p:cNvSpPr txBox="1">
            <a:spLocks noChangeArrowheads="1"/>
          </p:cNvSpPr>
          <p:nvPr/>
        </p:nvSpPr>
        <p:spPr bwMode="auto">
          <a:xfrm>
            <a:off x="2557565" y="832005"/>
            <a:ext cx="318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三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  <p:sp>
        <p:nvSpPr>
          <p:cNvPr id="19" name="Text Box 61"/>
          <p:cNvSpPr txBox="1">
            <a:spLocks noChangeArrowheads="1"/>
          </p:cNvSpPr>
          <p:nvPr/>
        </p:nvSpPr>
        <p:spPr bwMode="auto">
          <a:xfrm>
            <a:off x="1402215" y="1747114"/>
            <a:ext cx="65944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52538" indent="-12525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</a:t>
            </a:r>
            <a:r>
              <a:rPr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体中的应力</a:t>
            </a:r>
            <a:r>
              <a:rPr lang="zh-CN" altLang="en-US" sz="44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计算</a:t>
            </a:r>
            <a:endParaRPr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956" name="Text Box 4"/>
          <p:cNvSpPr txBox="1">
            <a:spLocks noChangeArrowheads="1"/>
          </p:cNvSpPr>
          <p:nvPr/>
        </p:nvSpPr>
        <p:spPr bwMode="auto">
          <a:xfrm>
            <a:off x="1096963" y="2508250"/>
            <a:ext cx="2651125" cy="245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本章提要</a:t>
            </a:r>
          </a:p>
          <a:p>
            <a:pPr>
              <a:lnSpc>
                <a:spcPct val="120000"/>
              </a:lnSpc>
              <a:spcBef>
                <a:spcPct val="45000"/>
              </a:spcBef>
              <a:spcAft>
                <a:spcPct val="45000"/>
              </a:spcAft>
              <a:buFont typeface="Wingdings" pitchFamily="2" charset="2"/>
              <a:buChar char="²"/>
            </a:pPr>
            <a:endParaRPr lang="zh-CN" altLang="en-US" sz="28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学习要点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05957" name="Text Box 5"/>
          <p:cNvSpPr txBox="1">
            <a:spLocks noChangeArrowheads="1"/>
          </p:cNvSpPr>
          <p:nvPr/>
        </p:nvSpPr>
        <p:spPr bwMode="auto">
          <a:xfrm>
            <a:off x="1179513" y="1031875"/>
            <a:ext cx="64373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05960" name="Text Box 8"/>
          <p:cNvSpPr txBox="1">
            <a:spLocks noChangeArrowheads="1"/>
          </p:cNvSpPr>
          <p:nvPr/>
        </p:nvSpPr>
        <p:spPr bwMode="auto">
          <a:xfrm>
            <a:off x="3881438" y="2203450"/>
            <a:ext cx="4538662" cy="3305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有效应力原理</a:t>
            </a:r>
            <a:endParaRPr lang="en-US" altLang="zh-CN" sz="24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土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体中的应力计算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土体中的孔隙水压力计</a:t>
            </a:r>
            <a:r>
              <a:rPr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算</a:t>
            </a:r>
            <a:endParaRPr lang="zh-CN" altLang="en-US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土体应力计算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弹性理论</a:t>
            </a:r>
            <a:endParaRPr lang="en-US" altLang="zh-CN" sz="24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有效应力原理与固结</a:t>
            </a:r>
            <a:b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</a:b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</a:t>
            </a:r>
            <a:r>
              <a:rPr lang="en-US" altLang="zh-CN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土水两相相互作用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第三章：本章概要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916" name="Text Box 4"/>
          <p:cNvSpPr txBox="1">
            <a:spLocks noChangeArrowheads="1"/>
          </p:cNvSpPr>
          <p:nvPr/>
        </p:nvSpPr>
        <p:spPr bwMode="auto">
          <a:xfrm>
            <a:off x="336550" y="595313"/>
            <a:ext cx="1554163" cy="10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强度问题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变形问题</a:t>
            </a:r>
          </a:p>
        </p:txBody>
      </p:sp>
      <p:sp>
        <p:nvSpPr>
          <p:cNvPr id="1446917" name="Text Box 5"/>
          <p:cNvSpPr txBox="1">
            <a:spLocks noChangeArrowheads="1"/>
          </p:cNvSpPr>
          <p:nvPr/>
        </p:nvSpPr>
        <p:spPr bwMode="auto">
          <a:xfrm>
            <a:off x="3000375" y="907413"/>
            <a:ext cx="4110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应力状态及应力应变关系</a:t>
            </a:r>
          </a:p>
        </p:txBody>
      </p:sp>
      <p:sp>
        <p:nvSpPr>
          <p:cNvPr id="1446918" name="Text Box 6"/>
          <p:cNvSpPr txBox="1">
            <a:spLocks noChangeArrowheads="1"/>
          </p:cNvSpPr>
          <p:nvPr/>
        </p:nvSpPr>
        <p:spPr bwMode="auto">
          <a:xfrm>
            <a:off x="2393949" y="2878738"/>
            <a:ext cx="1577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自重应力</a:t>
            </a:r>
          </a:p>
        </p:txBody>
      </p:sp>
      <p:sp>
        <p:nvSpPr>
          <p:cNvPr id="1446919" name="Text Box 7"/>
          <p:cNvSpPr txBox="1">
            <a:spLocks noChangeArrowheads="1"/>
          </p:cNvSpPr>
          <p:nvPr/>
        </p:nvSpPr>
        <p:spPr bwMode="auto">
          <a:xfrm>
            <a:off x="2393950" y="4730750"/>
            <a:ext cx="1577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附加应力</a:t>
            </a:r>
          </a:p>
        </p:txBody>
      </p:sp>
      <p:sp>
        <p:nvSpPr>
          <p:cNvPr id="1446920" name="Text Box 8"/>
          <p:cNvSpPr txBox="1">
            <a:spLocks noChangeArrowheads="1"/>
          </p:cNvSpPr>
          <p:nvPr/>
        </p:nvSpPr>
        <p:spPr bwMode="auto">
          <a:xfrm>
            <a:off x="2435225" y="3833091"/>
            <a:ext cx="2257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基底压力计算</a:t>
            </a:r>
          </a:p>
        </p:txBody>
      </p:sp>
      <p:sp>
        <p:nvSpPr>
          <p:cNvPr id="1446921" name="Text Box 9"/>
          <p:cNvSpPr txBox="1">
            <a:spLocks noChangeArrowheads="1"/>
          </p:cNvSpPr>
          <p:nvPr/>
        </p:nvSpPr>
        <p:spPr bwMode="auto">
          <a:xfrm>
            <a:off x="2379662" y="2047875"/>
            <a:ext cx="2270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有效应力原理</a:t>
            </a:r>
          </a:p>
        </p:txBody>
      </p:sp>
      <p:sp>
        <p:nvSpPr>
          <p:cNvPr id="1446922" name="Text Box 10"/>
          <p:cNvSpPr txBox="1">
            <a:spLocks noChangeArrowheads="1"/>
          </p:cNvSpPr>
          <p:nvPr/>
        </p:nvSpPr>
        <p:spPr bwMode="auto">
          <a:xfrm>
            <a:off x="5267324" y="2748563"/>
            <a:ext cx="3495675" cy="871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修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建筑物以前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，地基中由土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体重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量所产生的应力</a:t>
            </a:r>
          </a:p>
        </p:txBody>
      </p:sp>
      <p:sp>
        <p:nvSpPr>
          <p:cNvPr id="1446923" name="Text Box 11"/>
          <p:cNvSpPr txBox="1">
            <a:spLocks noChangeArrowheads="1"/>
          </p:cNvSpPr>
          <p:nvPr/>
        </p:nvSpPr>
        <p:spPr bwMode="auto">
          <a:xfrm>
            <a:off x="5251450" y="4597400"/>
            <a:ext cx="3482975" cy="83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建筑物重量等外荷载在地基中引起的应力增量</a:t>
            </a:r>
          </a:p>
        </p:txBody>
      </p:sp>
      <p:sp>
        <p:nvSpPr>
          <p:cNvPr id="1446924" name="Rectangle 12"/>
          <p:cNvSpPr>
            <a:spLocks noChangeArrowheads="1"/>
          </p:cNvSpPr>
          <p:nvPr/>
        </p:nvSpPr>
        <p:spPr bwMode="auto">
          <a:xfrm>
            <a:off x="2827338" y="5818188"/>
            <a:ext cx="43973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土体中的应力计算</a:t>
            </a:r>
          </a:p>
        </p:txBody>
      </p:sp>
      <p:sp>
        <p:nvSpPr>
          <p:cNvPr id="1446925" name="AutoShape 13"/>
          <p:cNvSpPr>
            <a:spLocks noChangeArrowheads="1"/>
          </p:cNvSpPr>
          <p:nvPr/>
        </p:nvSpPr>
        <p:spPr bwMode="auto">
          <a:xfrm>
            <a:off x="2163763" y="873438"/>
            <a:ext cx="519112" cy="495300"/>
          </a:xfrm>
          <a:prstGeom prst="homePlate">
            <a:avLst>
              <a:gd name="adj" fmla="val 262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6926" name="AutoShape 14"/>
          <p:cNvSpPr>
            <a:spLocks noChangeArrowheads="1"/>
          </p:cNvSpPr>
          <p:nvPr/>
        </p:nvSpPr>
        <p:spPr bwMode="auto">
          <a:xfrm>
            <a:off x="4421188" y="2845400"/>
            <a:ext cx="519112" cy="495300"/>
          </a:xfrm>
          <a:prstGeom prst="homePlate">
            <a:avLst>
              <a:gd name="adj" fmla="val 262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6927" name="AutoShape 15"/>
          <p:cNvSpPr>
            <a:spLocks noChangeArrowheads="1"/>
          </p:cNvSpPr>
          <p:nvPr/>
        </p:nvSpPr>
        <p:spPr bwMode="auto">
          <a:xfrm>
            <a:off x="4421188" y="4743450"/>
            <a:ext cx="519112" cy="495300"/>
          </a:xfrm>
          <a:prstGeom prst="homePlate">
            <a:avLst>
              <a:gd name="adj" fmla="val 262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第三章：本章概要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44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4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4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4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446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446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44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44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446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446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446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446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44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446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4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446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446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6916" grpId="0"/>
      <p:bldP spid="1446917" grpId="0"/>
      <p:bldP spid="1446918" grpId="0"/>
      <p:bldP spid="1446919" grpId="0"/>
      <p:bldP spid="1446920" grpId="0"/>
      <p:bldP spid="1446921" grpId="0"/>
      <p:bldP spid="1446922" grpId="0"/>
      <p:bldP spid="1446923" grpId="0"/>
      <p:bldP spid="1446925" grpId="0" animBg="1"/>
      <p:bldP spid="1446926" grpId="0" animBg="1"/>
      <p:bldP spid="14469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52524" y="1423193"/>
            <a:ext cx="1423988" cy="1516063"/>
            <a:chOff x="1152524" y="1423193"/>
            <a:chExt cx="1423988" cy="1516063"/>
          </a:xfrm>
        </p:grpSpPr>
        <p:sp>
          <p:nvSpPr>
            <p:cNvPr id="1447938" name="AutoShape 2"/>
            <p:cNvSpPr>
              <a:spLocks noChangeArrowheads="1"/>
            </p:cNvSpPr>
            <p:nvPr/>
          </p:nvSpPr>
          <p:spPr bwMode="auto">
            <a:xfrm>
              <a:off x="1658937" y="2089943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7939" name="Freeform 3"/>
            <p:cNvSpPr>
              <a:spLocks/>
            </p:cNvSpPr>
            <p:nvPr/>
          </p:nvSpPr>
          <p:spPr bwMode="auto">
            <a:xfrm flipH="1">
              <a:off x="1152524" y="1423193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7940" name="WordArt 4"/>
            <p:cNvSpPr>
              <a:spLocks noChangeArrowheads="1" noChangeShapeType="1" noTextEdit="1"/>
            </p:cNvSpPr>
            <p:nvPr/>
          </p:nvSpPr>
          <p:spPr bwMode="auto">
            <a:xfrm>
              <a:off x="1296987" y="1443831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80000"/>
                      </a:srgbClr>
                    </a:outerShdw>
                  </a:effectLst>
                  <a:latin typeface="华文新魏"/>
                  <a:ea typeface="华文新魏"/>
                </a:rPr>
                <a:t>作业</a:t>
              </a:r>
            </a:p>
          </p:txBody>
        </p:sp>
      </p:grpSp>
      <p:sp>
        <p:nvSpPr>
          <p:cNvPr id="1447941" name="Text Box 5"/>
          <p:cNvSpPr txBox="1">
            <a:spLocks noChangeArrowheads="1"/>
          </p:cNvSpPr>
          <p:nvPr/>
        </p:nvSpPr>
        <p:spPr bwMode="auto">
          <a:xfrm>
            <a:off x="3092832" y="1883247"/>
            <a:ext cx="448340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3-1</a:t>
            </a:r>
            <a:r>
              <a:rPr kumimoji="1" lang="zh-CN" altLang="en-US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（假定水位骤降后，黏土和粉质黏土</a:t>
            </a:r>
            <a:r>
              <a:rPr kumimoji="1" lang="en-US" altLang="zh-CN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kumimoji="1" lang="en-US" altLang="zh-CN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  </a:t>
            </a:r>
            <a:r>
              <a:rPr kumimoji="1" lang="zh-CN" altLang="en-US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层中孔隙水压力近似为</a:t>
            </a:r>
            <a:r>
              <a:rPr kumimoji="1" lang="en-US" altLang="zh-CN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1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endParaRPr kumimoji="1" lang="en-US" altLang="zh-CN" sz="1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3-2</a:t>
            </a:r>
            <a:endParaRPr kumimoji="1" lang="en-US" altLang="zh-CN" sz="3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3-3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3-6</a:t>
            </a:r>
            <a:endParaRPr kumimoji="1" lang="en-US" altLang="zh-CN" sz="3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47942" name="Rectangle 6"/>
          <p:cNvSpPr>
            <a:spLocks noChangeArrowheads="1"/>
          </p:cNvSpPr>
          <p:nvPr/>
        </p:nvSpPr>
        <p:spPr bwMode="auto">
          <a:xfrm>
            <a:off x="3559175" y="5663553"/>
            <a:ext cx="240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本章作业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447943" name="Text Box 7"/>
          <p:cNvSpPr txBox="1">
            <a:spLocks noChangeArrowheads="1"/>
          </p:cNvSpPr>
          <p:nvPr/>
        </p:nvSpPr>
        <p:spPr bwMode="auto">
          <a:xfrm>
            <a:off x="2071688" y="4865563"/>
            <a:ext cx="58769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本课程中所有计算均可取 </a:t>
            </a:r>
            <a:r>
              <a:rPr kumimoji="1" lang="en-US" altLang="zh-CN" sz="28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sz="28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=10m/s</a:t>
            </a:r>
            <a:r>
              <a:rPr kumimoji="1" lang="en-US" altLang="zh-CN" sz="2800" b="1" baseline="30000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第三章：本章概要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62" name="Text Box 2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48963" name="Text Box 3"/>
          <p:cNvSpPr txBox="1">
            <a:spLocks noChangeArrowheads="1"/>
          </p:cNvSpPr>
          <p:nvPr/>
        </p:nvSpPr>
        <p:spPr bwMode="auto">
          <a:xfrm>
            <a:off x="1912938" y="2105913"/>
            <a:ext cx="6450012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625475" indent="-6254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14463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20345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992438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781425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42386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46958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51530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56102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</a:t>
            </a:r>
            <a:endParaRPr lang="zh-CN" altLang="en-US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原理</a:t>
            </a:r>
            <a:endParaRPr lang="en-US" altLang="zh-CN" sz="30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</a:t>
            </a:r>
            <a:r>
              <a:rPr lang="zh-CN" altLang="en-US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</a:t>
            </a:r>
            <a:endParaRPr lang="en-US" altLang="zh-CN" sz="30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3.4  </a:t>
            </a:r>
            <a:r>
              <a:rPr lang="zh-CN" altLang="en-US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基底压力计算</a:t>
            </a:r>
            <a:endParaRPr lang="zh-CN" altLang="en-US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3.5  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附加应力计算</a:t>
            </a:r>
            <a:endParaRPr lang="zh-CN" altLang="en-US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3.6  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endParaRPr lang="en-US" altLang="zh-CN" sz="30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4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4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4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4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4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235" name="Rectangle 3"/>
          <p:cNvSpPr>
            <a:spLocks noChangeArrowheads="1"/>
          </p:cNvSpPr>
          <p:nvPr/>
        </p:nvSpPr>
        <p:spPr bwMode="auto">
          <a:xfrm>
            <a:off x="2198687" y="5764213"/>
            <a:ext cx="61737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应力正负号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规定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应力计算 </a:t>
            </a:r>
          </a:p>
        </p:txBody>
      </p:sp>
      <p:sp>
        <p:nvSpPr>
          <p:cNvPr id="1503247" name="Text Box 15"/>
          <p:cNvSpPr txBox="1">
            <a:spLocks noChangeArrowheads="1"/>
          </p:cNvSpPr>
          <p:nvPr/>
        </p:nvSpPr>
        <p:spPr bwMode="auto">
          <a:xfrm>
            <a:off x="328613" y="1217063"/>
            <a:ext cx="16557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弹性力学</a:t>
            </a:r>
          </a:p>
        </p:txBody>
      </p:sp>
      <p:sp>
        <p:nvSpPr>
          <p:cNvPr id="1503250" name="Text Box 18"/>
          <p:cNvSpPr txBox="1">
            <a:spLocks noChangeArrowheads="1"/>
          </p:cNvSpPr>
          <p:nvPr/>
        </p:nvSpPr>
        <p:spPr bwMode="auto">
          <a:xfrm>
            <a:off x="4895850" y="809075"/>
            <a:ext cx="3914775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263525" indent="-263525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外法线同坐标轴一致的面称</a:t>
            </a: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正面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，反之为</a:t>
            </a: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负面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正面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上，同坐标轴正向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一致为正</a:t>
            </a:r>
            <a:endParaRPr lang="zh-CN" altLang="en-US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负面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上，同坐标轴正向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相反为正</a:t>
            </a:r>
            <a:endParaRPr lang="zh-CN" altLang="en-US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03266" name="AutoShape 34"/>
          <p:cNvSpPr>
            <a:spLocks noChangeArrowheads="1"/>
          </p:cNvSpPr>
          <p:nvPr/>
        </p:nvSpPr>
        <p:spPr bwMode="auto">
          <a:xfrm>
            <a:off x="247650" y="3396701"/>
            <a:ext cx="1511300" cy="519351"/>
          </a:xfrm>
          <a:prstGeom prst="octagon">
            <a:avLst>
              <a:gd name="adj" fmla="val 2928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土力学</a:t>
            </a:r>
          </a:p>
        </p:txBody>
      </p:sp>
      <p:sp>
        <p:nvSpPr>
          <p:cNvPr id="1503274" name="Text Box 42"/>
          <p:cNvSpPr txBox="1">
            <a:spLocks noChangeArrowheads="1"/>
          </p:cNvSpPr>
          <p:nvPr/>
        </p:nvSpPr>
        <p:spPr bwMode="auto">
          <a:xfrm>
            <a:off x="4914900" y="3241126"/>
            <a:ext cx="399732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263525" indent="-263525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正面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上，同坐标轴正向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相反为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</a:t>
            </a:r>
          </a:p>
          <a:p>
            <a:pPr>
              <a:lnSpc>
                <a:spcPct val="120000"/>
              </a:lnSpc>
              <a:spcBef>
                <a:spcPct val="10000"/>
              </a:spcBef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负面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上，同坐标轴正向</a:t>
            </a:r>
            <a:r>
              <a:rPr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一致为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</a:t>
            </a:r>
          </a:p>
        </p:txBody>
      </p:sp>
      <p:sp>
        <p:nvSpPr>
          <p:cNvPr id="1503256" name="Rectangle 24"/>
          <p:cNvSpPr>
            <a:spLocks noChangeArrowheads="1"/>
          </p:cNvSpPr>
          <p:nvPr/>
        </p:nvSpPr>
        <p:spPr bwMode="auto">
          <a:xfrm>
            <a:off x="2591357" y="3322893"/>
            <a:ext cx="917914" cy="974810"/>
          </a:xfrm>
          <a:prstGeom prst="rect">
            <a:avLst/>
          </a:prstGeom>
          <a:solidFill>
            <a:srgbClr val="996633"/>
          </a:solidFill>
          <a:ln w="57150" algn="ctr">
            <a:solidFill>
              <a:srgbClr val="9966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03257" name="Line 25"/>
          <p:cNvSpPr>
            <a:spLocks noChangeShapeType="1"/>
          </p:cNvSpPr>
          <p:nvPr/>
        </p:nvSpPr>
        <p:spPr bwMode="auto">
          <a:xfrm flipH="1">
            <a:off x="2688712" y="3150942"/>
            <a:ext cx="745963" cy="0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03258" name="Freeform 26"/>
          <p:cNvSpPr>
            <a:spLocks/>
          </p:cNvSpPr>
          <p:nvPr/>
        </p:nvSpPr>
        <p:spPr bwMode="auto">
          <a:xfrm>
            <a:off x="3566168" y="3802080"/>
            <a:ext cx="571484" cy="3793"/>
          </a:xfrm>
          <a:custGeom>
            <a:avLst/>
            <a:gdLst>
              <a:gd name="T0" fmla="*/ 452 w 452"/>
              <a:gd name="T1" fmla="*/ 0 h 3"/>
              <a:gd name="T2" fmla="*/ 0 w 452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2" h="3">
                <a:moveTo>
                  <a:pt x="452" y="0"/>
                </a:moveTo>
                <a:lnTo>
                  <a:pt x="0" y="3"/>
                </a:lnTo>
              </a:path>
            </a:pathLst>
          </a:custGeom>
          <a:noFill/>
          <a:ln w="5715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03259" name="Line 27"/>
          <p:cNvSpPr>
            <a:spLocks noChangeShapeType="1"/>
          </p:cNvSpPr>
          <p:nvPr/>
        </p:nvSpPr>
        <p:spPr bwMode="auto">
          <a:xfrm>
            <a:off x="3679959" y="3437948"/>
            <a:ext cx="0" cy="745963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03260" name="Freeform 28"/>
          <p:cNvSpPr>
            <a:spLocks/>
          </p:cNvSpPr>
          <p:nvPr/>
        </p:nvSpPr>
        <p:spPr bwMode="auto">
          <a:xfrm>
            <a:off x="3084452" y="2762789"/>
            <a:ext cx="3793" cy="539875"/>
          </a:xfrm>
          <a:custGeom>
            <a:avLst/>
            <a:gdLst>
              <a:gd name="T0" fmla="*/ 0 w 3"/>
              <a:gd name="T1" fmla="*/ 0 h 427"/>
              <a:gd name="T2" fmla="*/ 3 w 3"/>
              <a:gd name="T3" fmla="*/ 427 h 42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427">
                <a:moveTo>
                  <a:pt x="0" y="0"/>
                </a:moveTo>
                <a:lnTo>
                  <a:pt x="3" y="427"/>
                </a:lnTo>
              </a:path>
            </a:pathLst>
          </a:custGeom>
          <a:noFill/>
          <a:ln w="5715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03264" name="Text Box 32"/>
          <p:cNvSpPr txBox="1">
            <a:spLocks noChangeArrowheads="1"/>
          </p:cNvSpPr>
          <p:nvPr/>
        </p:nvSpPr>
        <p:spPr bwMode="auto">
          <a:xfrm>
            <a:off x="3465020" y="2882901"/>
            <a:ext cx="212410" cy="43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chemeClr val="tx2"/>
                </a:solidFill>
                <a:latin typeface="Arial" charset="0"/>
                <a:ea typeface="幼圆" pitchFamily="49" charset="-122"/>
                <a:sym typeface="Symbol" pitchFamily="18" charset="2"/>
              </a:rPr>
              <a:t>+</a:t>
            </a:r>
          </a:p>
        </p:txBody>
      </p:sp>
      <p:sp>
        <p:nvSpPr>
          <p:cNvPr id="1503273" name="Text Box 41"/>
          <p:cNvSpPr txBox="1">
            <a:spLocks noChangeArrowheads="1"/>
          </p:cNvSpPr>
          <p:nvPr/>
        </p:nvSpPr>
        <p:spPr bwMode="auto">
          <a:xfrm>
            <a:off x="3758348" y="3126920"/>
            <a:ext cx="212410" cy="43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chemeClr val="tx2"/>
                </a:solidFill>
                <a:latin typeface="Arial" charset="0"/>
                <a:ea typeface="幼圆" pitchFamily="49" charset="-122"/>
                <a:sym typeface="Symbol" pitchFamily="18" charset="2"/>
              </a:rPr>
              <a:t>+</a:t>
            </a:r>
          </a:p>
        </p:txBody>
      </p:sp>
      <p:sp>
        <p:nvSpPr>
          <p:cNvPr id="1503278" name="Freeform 46"/>
          <p:cNvSpPr>
            <a:spLocks/>
          </p:cNvSpPr>
          <p:nvPr/>
        </p:nvSpPr>
        <p:spPr bwMode="auto">
          <a:xfrm>
            <a:off x="2863026" y="3559325"/>
            <a:ext cx="421027" cy="433671"/>
          </a:xfrm>
          <a:custGeom>
            <a:avLst/>
            <a:gdLst>
              <a:gd name="T0" fmla="*/ 0 w 387"/>
              <a:gd name="T1" fmla="*/ 0 h 343"/>
              <a:gd name="T2" fmla="*/ 0 w 387"/>
              <a:gd name="T3" fmla="*/ 343 h 343"/>
              <a:gd name="T4" fmla="*/ 387 w 387"/>
              <a:gd name="T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3">
                <a:moveTo>
                  <a:pt x="0" y="0"/>
                </a:moveTo>
                <a:lnTo>
                  <a:pt x="0" y="343"/>
                </a:lnTo>
                <a:lnTo>
                  <a:pt x="387" y="343"/>
                </a:lnTo>
              </a:path>
            </a:pathLst>
          </a:custGeom>
          <a:noFill/>
          <a:ln w="28575" cap="flat" cmpd="sng">
            <a:solidFill>
              <a:srgbClr val="000066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03279" name="Text Box 47"/>
          <p:cNvSpPr txBox="1">
            <a:spLocks noChangeArrowheads="1"/>
          </p:cNvSpPr>
          <p:nvPr/>
        </p:nvSpPr>
        <p:spPr bwMode="auto">
          <a:xfrm>
            <a:off x="3123434" y="3959490"/>
            <a:ext cx="311602" cy="3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b="1" dirty="0"/>
              <a:t>X</a:t>
            </a:r>
          </a:p>
        </p:txBody>
      </p:sp>
      <p:sp>
        <p:nvSpPr>
          <p:cNvPr id="1503280" name="Text Box 48"/>
          <p:cNvSpPr txBox="1">
            <a:spLocks noChangeArrowheads="1"/>
          </p:cNvSpPr>
          <p:nvPr/>
        </p:nvSpPr>
        <p:spPr bwMode="auto">
          <a:xfrm>
            <a:off x="2567505" y="3448653"/>
            <a:ext cx="301984" cy="3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b="1" dirty="0"/>
              <a:t>Z</a:t>
            </a:r>
          </a:p>
        </p:txBody>
      </p:sp>
      <p:sp>
        <p:nvSpPr>
          <p:cNvPr id="4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1" name="Rectangle 178"/>
          <p:cNvSpPr>
            <a:spLocks noChangeArrowheads="1"/>
          </p:cNvSpPr>
          <p:nvPr/>
        </p:nvSpPr>
        <p:spPr bwMode="auto">
          <a:xfrm>
            <a:off x="367475" y="4650674"/>
            <a:ext cx="8556625" cy="6740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marL="361950" indent="-361950">
              <a:lnSpc>
                <a:spcPct val="135000"/>
              </a:lnSpc>
              <a:spcBef>
                <a:spcPct val="50000"/>
              </a:spcBef>
              <a:spcAft>
                <a:spcPct val="5000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6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同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弹性力学相同，但正</a:t>
            </a:r>
            <a:r>
              <a:rPr kumimoji="1" lang="zh-CN" altLang="en-US" sz="26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负号相反 </a:t>
            </a:r>
            <a:r>
              <a:rPr kumimoji="1" lang="en-US" altLang="zh-CN" sz="26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(</a:t>
            </a:r>
            <a:r>
              <a:rPr kumimoji="1" lang="zh-CN" altLang="en-US" sz="20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注意：仅应力计算采用</a:t>
            </a:r>
            <a:r>
              <a:rPr kumimoji="1" lang="en-US" altLang="zh-CN" sz="26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)</a:t>
            </a:r>
            <a:endParaRPr kumimoji="1" lang="en-US" altLang="zh-CN" sz="26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2587574" y="1248210"/>
            <a:ext cx="886963" cy="941939"/>
          </a:xfrm>
          <a:prstGeom prst="rect">
            <a:avLst/>
          </a:prstGeom>
          <a:solidFill>
            <a:srgbClr val="996633"/>
          </a:solidFill>
          <a:ln w="57150" algn="ctr">
            <a:solidFill>
              <a:srgbClr val="9966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45" name="Line 8"/>
          <p:cNvSpPr>
            <a:spLocks noChangeShapeType="1"/>
          </p:cNvSpPr>
          <p:nvPr/>
        </p:nvSpPr>
        <p:spPr bwMode="auto">
          <a:xfrm rot="10800000" flipH="1">
            <a:off x="2681645" y="1082057"/>
            <a:ext cx="720810" cy="0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6" name="Freeform 9"/>
          <p:cNvSpPr>
            <a:spLocks/>
          </p:cNvSpPr>
          <p:nvPr/>
        </p:nvSpPr>
        <p:spPr bwMode="auto">
          <a:xfrm rot="10800000">
            <a:off x="3480644" y="1747890"/>
            <a:ext cx="552214" cy="3665"/>
          </a:xfrm>
          <a:custGeom>
            <a:avLst/>
            <a:gdLst>
              <a:gd name="T0" fmla="*/ 452 w 452"/>
              <a:gd name="T1" fmla="*/ 0 h 3"/>
              <a:gd name="T2" fmla="*/ 0 w 452"/>
              <a:gd name="T3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2" h="3">
                <a:moveTo>
                  <a:pt x="452" y="0"/>
                </a:moveTo>
                <a:lnTo>
                  <a:pt x="0" y="3"/>
                </a:lnTo>
              </a:path>
            </a:pathLst>
          </a:custGeom>
          <a:noFill/>
          <a:ln w="5715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7" name="Line 10"/>
          <p:cNvSpPr>
            <a:spLocks noChangeShapeType="1"/>
          </p:cNvSpPr>
          <p:nvPr/>
        </p:nvSpPr>
        <p:spPr bwMode="auto">
          <a:xfrm rot="10800000">
            <a:off x="3639467" y="1359386"/>
            <a:ext cx="0" cy="720810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8" name="Freeform 11"/>
          <p:cNvSpPr>
            <a:spLocks/>
          </p:cNvSpPr>
          <p:nvPr/>
        </p:nvSpPr>
        <p:spPr bwMode="auto">
          <a:xfrm rot="10800000">
            <a:off x="3002956" y="706992"/>
            <a:ext cx="3665" cy="521670"/>
          </a:xfrm>
          <a:custGeom>
            <a:avLst/>
            <a:gdLst>
              <a:gd name="T0" fmla="*/ 0 w 3"/>
              <a:gd name="T1" fmla="*/ 0 h 427"/>
              <a:gd name="T2" fmla="*/ 3 w 3"/>
              <a:gd name="T3" fmla="*/ 427 h 42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427">
                <a:moveTo>
                  <a:pt x="0" y="0"/>
                </a:moveTo>
                <a:lnTo>
                  <a:pt x="3" y="427"/>
                </a:lnTo>
              </a:path>
            </a:pathLst>
          </a:custGeom>
          <a:noFill/>
          <a:ln w="5715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2" name="Text Box 16"/>
          <p:cNvSpPr txBox="1">
            <a:spLocks noChangeArrowheads="1"/>
          </p:cNvSpPr>
          <p:nvPr/>
        </p:nvSpPr>
        <p:spPr bwMode="auto">
          <a:xfrm>
            <a:off x="3411007" y="785182"/>
            <a:ext cx="205248" cy="42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chemeClr val="tx2"/>
                </a:solidFill>
                <a:latin typeface="Arial" charset="0"/>
                <a:ea typeface="幼圆" pitchFamily="49" charset="-122"/>
                <a:sym typeface="Symbol" pitchFamily="18" charset="2"/>
              </a:rPr>
              <a:t>+</a:t>
            </a:r>
          </a:p>
        </p:txBody>
      </p:sp>
      <p:sp>
        <p:nvSpPr>
          <p:cNvPr id="53" name="Freeform 37"/>
          <p:cNvSpPr>
            <a:spLocks/>
          </p:cNvSpPr>
          <p:nvPr/>
        </p:nvSpPr>
        <p:spPr bwMode="auto">
          <a:xfrm>
            <a:off x="2875129" y="1465674"/>
            <a:ext cx="406830" cy="419047"/>
          </a:xfrm>
          <a:custGeom>
            <a:avLst/>
            <a:gdLst>
              <a:gd name="T0" fmla="*/ 0 w 387"/>
              <a:gd name="T1" fmla="*/ 0 h 343"/>
              <a:gd name="T2" fmla="*/ 0 w 387"/>
              <a:gd name="T3" fmla="*/ 343 h 343"/>
              <a:gd name="T4" fmla="*/ 387 w 387"/>
              <a:gd name="T5" fmla="*/ 343 h 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7" h="343">
                <a:moveTo>
                  <a:pt x="0" y="0"/>
                </a:moveTo>
                <a:lnTo>
                  <a:pt x="0" y="343"/>
                </a:lnTo>
                <a:lnTo>
                  <a:pt x="387" y="343"/>
                </a:lnTo>
              </a:path>
            </a:pathLst>
          </a:custGeom>
          <a:noFill/>
          <a:ln w="28575" cap="flat" cmpd="sng">
            <a:solidFill>
              <a:srgbClr val="000066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4" name="Text Box 38"/>
          <p:cNvSpPr txBox="1">
            <a:spLocks noChangeArrowheads="1"/>
          </p:cNvSpPr>
          <p:nvPr/>
        </p:nvSpPr>
        <p:spPr bwMode="auto">
          <a:xfrm>
            <a:off x="3105601" y="1864904"/>
            <a:ext cx="311602" cy="3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b="1" dirty="0"/>
              <a:t>X</a:t>
            </a:r>
          </a:p>
        </p:txBody>
      </p:sp>
      <p:sp>
        <p:nvSpPr>
          <p:cNvPr id="55" name="Text Box 39"/>
          <p:cNvSpPr txBox="1">
            <a:spLocks noChangeArrowheads="1"/>
          </p:cNvSpPr>
          <p:nvPr/>
        </p:nvSpPr>
        <p:spPr bwMode="auto">
          <a:xfrm>
            <a:off x="2606375" y="1367938"/>
            <a:ext cx="301984" cy="342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b="1" dirty="0"/>
              <a:t>Z</a:t>
            </a:r>
          </a:p>
        </p:txBody>
      </p:sp>
      <p:sp>
        <p:nvSpPr>
          <p:cNvPr id="56" name="Text Box 40"/>
          <p:cNvSpPr txBox="1">
            <a:spLocks noChangeArrowheads="1"/>
          </p:cNvSpPr>
          <p:nvPr/>
        </p:nvSpPr>
        <p:spPr bwMode="auto">
          <a:xfrm>
            <a:off x="3662680" y="1089387"/>
            <a:ext cx="205248" cy="42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chemeClr val="tx2"/>
                </a:solidFill>
                <a:latin typeface="Arial" charset="0"/>
                <a:ea typeface="幼圆" pitchFamily="49" charset="-122"/>
                <a:sym typeface="Symbol" pitchFamily="18" charset="2"/>
              </a:rPr>
              <a:t>+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393743"/>
              </p:ext>
            </p:extLst>
          </p:nvPr>
        </p:nvGraphicFramePr>
        <p:xfrm>
          <a:off x="4514850" y="23902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3532" name="公式" r:id="rId3" imgW="114120" imgH="215640" progId="Equation.3">
                  <p:embed/>
                </p:oleObj>
              </mc:Choice>
              <mc:Fallback>
                <p:oleObj name="公式" r:id="rId3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4850" y="2390225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76475" y="583650"/>
            <a:ext cx="502061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000066"/>
                </a:solidFill>
                <a:sym typeface="Symbol"/>
              </a:rPr>
              <a:t></a:t>
            </a:r>
            <a:r>
              <a:rPr lang="en-US" altLang="zh-CN" sz="2400" b="1" i="1" baseline="-25000" dirty="0" err="1" smtClean="0">
                <a:solidFill>
                  <a:srgbClr val="000066"/>
                </a:solidFill>
                <a:sym typeface="Symbol"/>
              </a:rPr>
              <a:t>zx</a:t>
            </a:r>
            <a:endParaRPr lang="zh-CN" altLang="en-US" sz="2400" b="1" i="1" baseline="-25000" dirty="0">
              <a:solidFill>
                <a:srgbClr val="000066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81400" y="1860000"/>
            <a:ext cx="513282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000066"/>
                </a:solidFill>
                <a:sym typeface="Symbol"/>
              </a:rPr>
              <a:t></a:t>
            </a:r>
            <a:r>
              <a:rPr lang="en-US" altLang="zh-CN" sz="2400" b="1" i="1" baseline="-25000" dirty="0" err="1" smtClean="0">
                <a:solidFill>
                  <a:srgbClr val="000066"/>
                </a:solidFill>
                <a:sym typeface="Symbol"/>
              </a:rPr>
              <a:t>x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sym typeface="Symbol"/>
              </a:rPr>
              <a:t>z</a:t>
            </a:r>
            <a:endParaRPr lang="zh-CN" altLang="en-US" sz="2400" b="1" baseline="-25000" dirty="0">
              <a:solidFill>
                <a:srgbClr val="000066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981325" y="393150"/>
            <a:ext cx="461986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C00000"/>
                </a:solidFill>
                <a:sym typeface="Symbol"/>
              </a:rPr>
              <a:t></a:t>
            </a:r>
            <a:r>
              <a:rPr lang="en-US" altLang="zh-CN" sz="2400" b="1" baseline="-25000" dirty="0" smtClean="0">
                <a:solidFill>
                  <a:srgbClr val="C00000"/>
                </a:solidFill>
                <a:sym typeface="Symbol"/>
              </a:rPr>
              <a:t>z</a:t>
            </a:r>
            <a:endParaRPr lang="zh-CN" altLang="en-US" sz="2400" b="1" baseline="-25000" dirty="0">
              <a:solidFill>
                <a:srgbClr val="C0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838575" y="1574250"/>
            <a:ext cx="473206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C00000"/>
                </a:solidFill>
                <a:sym typeface="Symbol"/>
              </a:rPr>
              <a:t>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sym typeface="Symbol"/>
              </a:rPr>
              <a:t>x</a:t>
            </a:r>
            <a:endParaRPr lang="zh-CN" altLang="en-US" sz="2400" b="1" i="1" baseline="-25000" dirty="0">
              <a:solidFill>
                <a:srgbClr val="C0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686175" y="3955500"/>
            <a:ext cx="513282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000066"/>
                </a:solidFill>
                <a:sym typeface="Symbol"/>
              </a:rPr>
              <a:t></a:t>
            </a:r>
            <a:r>
              <a:rPr lang="en-US" altLang="zh-CN" sz="2400" b="1" i="1" baseline="-25000" dirty="0" err="1" smtClean="0">
                <a:solidFill>
                  <a:srgbClr val="000066"/>
                </a:solidFill>
                <a:sym typeface="Symbol"/>
              </a:rPr>
              <a:t>x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sym typeface="Symbol"/>
              </a:rPr>
              <a:t>z</a:t>
            </a:r>
            <a:endParaRPr lang="zh-CN" altLang="en-US" sz="2400" b="1" baseline="-25000" dirty="0">
              <a:solidFill>
                <a:srgbClr val="000066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86100" y="2488650"/>
            <a:ext cx="461986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C00000"/>
                </a:solidFill>
                <a:sym typeface="Symbol"/>
              </a:rPr>
              <a:t></a:t>
            </a:r>
            <a:r>
              <a:rPr lang="en-US" altLang="zh-CN" sz="2400" b="1" baseline="-25000" dirty="0" smtClean="0">
                <a:solidFill>
                  <a:srgbClr val="C00000"/>
                </a:solidFill>
                <a:sym typeface="Symbol"/>
              </a:rPr>
              <a:t>z</a:t>
            </a:r>
            <a:endParaRPr lang="zh-CN" altLang="en-US" sz="2400" b="1" baseline="-25000" dirty="0">
              <a:solidFill>
                <a:srgbClr val="C0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43350" y="3669750"/>
            <a:ext cx="473206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C00000"/>
                </a:solidFill>
                <a:sym typeface="Symbol"/>
              </a:rPr>
              <a:t></a:t>
            </a:r>
            <a:r>
              <a:rPr lang="en-US" altLang="zh-CN" sz="2400" b="1" i="1" baseline="-25000" dirty="0" smtClean="0">
                <a:solidFill>
                  <a:srgbClr val="C00000"/>
                </a:solidFill>
                <a:sym typeface="Symbol"/>
              </a:rPr>
              <a:t>x</a:t>
            </a:r>
            <a:endParaRPr lang="zh-CN" altLang="en-US" sz="2400" b="1" i="1" baseline="-25000" dirty="0">
              <a:solidFill>
                <a:srgbClr val="C0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298289" y="2650575"/>
            <a:ext cx="502061" cy="477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rgbClr val="000066"/>
                </a:solidFill>
                <a:sym typeface="Symbol"/>
              </a:rPr>
              <a:t></a:t>
            </a:r>
            <a:r>
              <a:rPr lang="en-US" altLang="zh-CN" sz="2400" b="1" i="1" baseline="-25000" dirty="0" err="1" smtClean="0">
                <a:solidFill>
                  <a:srgbClr val="000066"/>
                </a:solidFill>
                <a:sym typeface="Symbol"/>
              </a:rPr>
              <a:t>zx</a:t>
            </a:r>
            <a:endParaRPr lang="zh-CN" altLang="en-US" sz="2400" b="1" i="1" baseline="-25000" dirty="0">
              <a:solidFill>
                <a:srgbClr val="000066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587" name="Text Box 27"/>
          <p:cNvSpPr txBox="1">
            <a:spLocks noChangeArrowheads="1"/>
          </p:cNvSpPr>
          <p:nvPr/>
        </p:nvSpPr>
        <p:spPr bwMode="auto">
          <a:xfrm>
            <a:off x="230188" y="665163"/>
            <a:ext cx="5640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三维应力状态（</a:t>
            </a: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</a:rPr>
              <a:t>一般应力状态）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46588" name="Rectangle 28"/>
          <p:cNvSpPr>
            <a:spLocks noChangeArrowheads="1"/>
          </p:cNvSpPr>
          <p:nvPr/>
        </p:nvSpPr>
        <p:spPr bwMode="auto">
          <a:xfrm>
            <a:off x="2559050" y="5699125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1346589" name="Group 29"/>
          <p:cNvGrpSpPr>
            <a:grpSpLocks/>
          </p:cNvGrpSpPr>
          <p:nvPr/>
        </p:nvGrpSpPr>
        <p:grpSpPr bwMode="auto">
          <a:xfrm>
            <a:off x="5464175" y="1381125"/>
            <a:ext cx="2501900" cy="2371725"/>
            <a:chOff x="3442" y="870"/>
            <a:chExt cx="1576" cy="1494"/>
          </a:xfrm>
        </p:grpSpPr>
        <p:sp>
          <p:nvSpPr>
            <p:cNvPr id="1346590" name="AutoShape 30"/>
            <p:cNvSpPr>
              <a:spLocks noChangeArrowheads="1"/>
            </p:cNvSpPr>
            <p:nvPr/>
          </p:nvSpPr>
          <p:spPr bwMode="auto">
            <a:xfrm>
              <a:off x="3512" y="1241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6591" name="Freeform 31"/>
            <p:cNvSpPr>
              <a:spLocks noChangeAspect="1"/>
            </p:cNvSpPr>
            <p:nvPr/>
          </p:nvSpPr>
          <p:spPr bwMode="auto">
            <a:xfrm>
              <a:off x="3672" y="1956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2" name="Line 32"/>
            <p:cNvSpPr>
              <a:spLocks noChangeAspect="1" noChangeShapeType="1"/>
            </p:cNvSpPr>
            <p:nvPr/>
          </p:nvSpPr>
          <p:spPr bwMode="auto">
            <a:xfrm flipH="1">
              <a:off x="3693" y="1964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3" name="Freeform 33"/>
            <p:cNvSpPr>
              <a:spLocks noChangeAspect="1"/>
            </p:cNvSpPr>
            <p:nvPr/>
          </p:nvSpPr>
          <p:spPr bwMode="auto">
            <a:xfrm rot="10800000">
              <a:off x="3904" y="1265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4" name="Line 34"/>
            <p:cNvSpPr>
              <a:spLocks noChangeAspect="1" noChangeShapeType="1"/>
            </p:cNvSpPr>
            <p:nvPr/>
          </p:nvSpPr>
          <p:spPr bwMode="auto">
            <a:xfrm rot="10800000" flipH="1">
              <a:off x="3866" y="1390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5" name="Freeform 35"/>
            <p:cNvSpPr>
              <a:spLocks noChangeAspect="1"/>
            </p:cNvSpPr>
            <p:nvPr/>
          </p:nvSpPr>
          <p:spPr bwMode="auto">
            <a:xfrm>
              <a:off x="4355" y="1676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6" name="Line 36"/>
            <p:cNvSpPr>
              <a:spLocks noChangeAspect="1" noChangeShapeType="1"/>
            </p:cNvSpPr>
            <p:nvPr/>
          </p:nvSpPr>
          <p:spPr bwMode="auto">
            <a:xfrm rot="10800000">
              <a:off x="4460" y="1587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7" name="Line 37"/>
            <p:cNvSpPr>
              <a:spLocks noChangeAspect="1" noChangeShapeType="1"/>
            </p:cNvSpPr>
            <p:nvPr/>
          </p:nvSpPr>
          <p:spPr bwMode="auto">
            <a:xfrm rot="10800000">
              <a:off x="3917" y="1699"/>
              <a:ext cx="0" cy="46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8" name="Line 38"/>
            <p:cNvSpPr>
              <a:spLocks noChangeAspect="1" noChangeShapeType="1"/>
            </p:cNvSpPr>
            <p:nvPr/>
          </p:nvSpPr>
          <p:spPr bwMode="auto">
            <a:xfrm>
              <a:off x="4072" y="946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6599" name="Text Box 39"/>
            <p:cNvSpPr txBox="1">
              <a:spLocks noChangeArrowheads="1"/>
            </p:cNvSpPr>
            <p:nvPr/>
          </p:nvSpPr>
          <p:spPr bwMode="auto">
            <a:xfrm>
              <a:off x="3442" y="2045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6600" name="Text Box 40"/>
            <p:cNvSpPr txBox="1">
              <a:spLocks noChangeArrowheads="1"/>
            </p:cNvSpPr>
            <p:nvPr/>
          </p:nvSpPr>
          <p:spPr bwMode="auto">
            <a:xfrm>
              <a:off x="3819" y="1411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46601" name="Text Box 41"/>
            <p:cNvSpPr txBox="1">
              <a:spLocks noChangeArrowheads="1"/>
            </p:cNvSpPr>
            <p:nvPr/>
          </p:nvSpPr>
          <p:spPr bwMode="auto">
            <a:xfrm>
              <a:off x="4126" y="1790"/>
              <a:ext cx="3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xy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6602" name="Text Box 42"/>
            <p:cNvSpPr txBox="1">
              <a:spLocks noChangeArrowheads="1"/>
            </p:cNvSpPr>
            <p:nvPr/>
          </p:nvSpPr>
          <p:spPr bwMode="auto">
            <a:xfrm>
              <a:off x="4268" y="1232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6603" name="Text Box 43"/>
            <p:cNvSpPr txBox="1">
              <a:spLocks noChangeArrowheads="1"/>
            </p:cNvSpPr>
            <p:nvPr/>
          </p:nvSpPr>
          <p:spPr bwMode="auto">
            <a:xfrm>
              <a:off x="4722" y="1762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6604" name="Text Box 44"/>
            <p:cNvSpPr txBox="1">
              <a:spLocks noChangeArrowheads="1"/>
            </p:cNvSpPr>
            <p:nvPr/>
          </p:nvSpPr>
          <p:spPr bwMode="auto">
            <a:xfrm>
              <a:off x="4075" y="870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6605" name="Line 45"/>
            <p:cNvSpPr>
              <a:spLocks noChangeAspect="1" noChangeShapeType="1"/>
            </p:cNvSpPr>
            <p:nvPr/>
          </p:nvSpPr>
          <p:spPr bwMode="auto">
            <a:xfrm flipH="1">
              <a:off x="4453" y="1819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34660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06197"/>
              </p:ext>
            </p:extLst>
          </p:nvPr>
        </p:nvGraphicFramePr>
        <p:xfrm>
          <a:off x="1503363" y="3986213"/>
          <a:ext cx="27432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841" name="公式" r:id="rId3" imgW="1371600" imgH="736560" progId="Equation.3">
                  <p:embed/>
                </p:oleObj>
              </mc:Choice>
              <mc:Fallback>
                <p:oleObj name="公式" r:id="rId3" imgW="1371600" imgH="73656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3986213"/>
                        <a:ext cx="2743200" cy="147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6607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415745"/>
              </p:ext>
            </p:extLst>
          </p:nvPr>
        </p:nvGraphicFramePr>
        <p:xfrm>
          <a:off x="4767263" y="4017963"/>
          <a:ext cx="3200400" cy="147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842" name="公式" r:id="rId5" imgW="1600200" imgH="736560" progId="Equation.3">
                  <p:embed/>
                </p:oleObj>
              </mc:Choice>
              <mc:Fallback>
                <p:oleObj name="公式" r:id="rId5" imgW="1600200" imgH="73656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4017963"/>
                        <a:ext cx="3200400" cy="1473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6608" name="Group 48"/>
          <p:cNvGrpSpPr>
            <a:grpSpLocks/>
          </p:cNvGrpSpPr>
          <p:nvPr/>
        </p:nvGrpSpPr>
        <p:grpSpPr bwMode="auto">
          <a:xfrm>
            <a:off x="844550" y="1470025"/>
            <a:ext cx="3308350" cy="2293938"/>
            <a:chOff x="532" y="926"/>
            <a:chExt cx="2084" cy="1445"/>
          </a:xfrm>
        </p:grpSpPr>
        <p:sp>
          <p:nvSpPr>
            <p:cNvPr id="1346609" name="Text Box 49"/>
            <p:cNvSpPr txBox="1">
              <a:spLocks noChangeArrowheads="1"/>
            </p:cNvSpPr>
            <p:nvPr/>
          </p:nvSpPr>
          <p:spPr bwMode="auto">
            <a:xfrm>
              <a:off x="532" y="1659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</a:p>
          </p:txBody>
        </p:sp>
        <p:sp>
          <p:nvSpPr>
            <p:cNvPr id="1346610" name="Text Box 50"/>
            <p:cNvSpPr txBox="1">
              <a:spLocks noChangeArrowheads="1"/>
            </p:cNvSpPr>
            <p:nvPr/>
          </p:nvSpPr>
          <p:spPr bwMode="auto">
            <a:xfrm>
              <a:off x="2504" y="926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1346611" name="Text Box 51"/>
            <p:cNvSpPr txBox="1">
              <a:spLocks noChangeArrowheads="1"/>
            </p:cNvSpPr>
            <p:nvPr/>
          </p:nvSpPr>
          <p:spPr bwMode="auto">
            <a:xfrm>
              <a:off x="1368" y="947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o</a:t>
              </a:r>
            </a:p>
          </p:txBody>
        </p:sp>
        <p:sp>
          <p:nvSpPr>
            <p:cNvPr id="1346612" name="AutoShape 52"/>
            <p:cNvSpPr>
              <a:spLocks noChangeArrowheads="1"/>
            </p:cNvSpPr>
            <p:nvPr/>
          </p:nvSpPr>
          <p:spPr bwMode="auto">
            <a:xfrm>
              <a:off x="796" y="1219"/>
              <a:ext cx="1622" cy="1152"/>
            </a:xfrm>
            <a:prstGeom prst="cube">
              <a:avLst>
                <a:gd name="adj" fmla="val 4804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6613" name="Line 53"/>
            <p:cNvSpPr>
              <a:spLocks noChangeShapeType="1"/>
            </p:cNvSpPr>
            <p:nvPr/>
          </p:nvSpPr>
          <p:spPr bwMode="auto">
            <a:xfrm>
              <a:off x="1349" y="1218"/>
              <a:ext cx="1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6614" name="Line 54"/>
            <p:cNvSpPr>
              <a:spLocks noChangeShapeType="1"/>
            </p:cNvSpPr>
            <p:nvPr/>
          </p:nvSpPr>
          <p:spPr bwMode="auto">
            <a:xfrm flipH="1">
              <a:off x="648" y="1218"/>
              <a:ext cx="701" cy="7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6615" name="Line 55"/>
            <p:cNvSpPr>
              <a:spLocks noChangeShapeType="1"/>
            </p:cNvSpPr>
            <p:nvPr/>
          </p:nvSpPr>
          <p:spPr bwMode="auto">
            <a:xfrm>
              <a:off x="1346" y="1218"/>
              <a:ext cx="0" cy="7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6616" name="Text Box 56"/>
            <p:cNvSpPr txBox="1">
              <a:spLocks noChangeArrowheads="1"/>
            </p:cNvSpPr>
            <p:nvPr/>
          </p:nvSpPr>
          <p:spPr bwMode="auto">
            <a:xfrm>
              <a:off x="1201" y="1886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</a:p>
          </p:txBody>
        </p:sp>
        <p:grpSp>
          <p:nvGrpSpPr>
            <p:cNvPr id="1346617" name="Group 57"/>
            <p:cNvGrpSpPr>
              <a:grpSpLocks/>
            </p:cNvGrpSpPr>
            <p:nvPr/>
          </p:nvGrpSpPr>
          <p:grpSpPr bwMode="auto">
            <a:xfrm>
              <a:off x="1313" y="1267"/>
              <a:ext cx="476" cy="356"/>
              <a:chOff x="1313" y="1267"/>
              <a:chExt cx="476" cy="356"/>
            </a:xfrm>
          </p:grpSpPr>
          <p:sp>
            <p:nvSpPr>
              <p:cNvPr id="1346618" name="Oval 58"/>
              <p:cNvSpPr>
                <a:spLocks noChangeArrowheads="1"/>
              </p:cNvSpPr>
              <p:nvPr/>
            </p:nvSpPr>
            <p:spPr bwMode="auto">
              <a:xfrm rot="196880">
                <a:off x="1314" y="1267"/>
                <a:ext cx="467" cy="2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619" name="Freeform 59"/>
              <p:cNvSpPr>
                <a:spLocks/>
              </p:cNvSpPr>
              <p:nvPr/>
            </p:nvSpPr>
            <p:spPr bwMode="auto">
              <a:xfrm>
                <a:off x="1318" y="1484"/>
                <a:ext cx="471" cy="137"/>
              </a:xfrm>
              <a:custGeom>
                <a:avLst/>
                <a:gdLst>
                  <a:gd name="T0" fmla="*/ 4 w 471"/>
                  <a:gd name="T1" fmla="*/ 20 h 137"/>
                  <a:gd name="T2" fmla="*/ 5 w 471"/>
                  <a:gd name="T3" fmla="*/ 61 h 137"/>
                  <a:gd name="T4" fmla="*/ 32 w 471"/>
                  <a:gd name="T5" fmla="*/ 96 h 137"/>
                  <a:gd name="T6" fmla="*/ 84 w 471"/>
                  <a:gd name="T7" fmla="*/ 123 h 137"/>
                  <a:gd name="T8" fmla="*/ 147 w 471"/>
                  <a:gd name="T9" fmla="*/ 134 h 137"/>
                  <a:gd name="T10" fmla="*/ 236 w 471"/>
                  <a:gd name="T11" fmla="*/ 134 h 137"/>
                  <a:gd name="T12" fmla="*/ 316 w 471"/>
                  <a:gd name="T13" fmla="*/ 117 h 137"/>
                  <a:gd name="T14" fmla="*/ 396 w 471"/>
                  <a:gd name="T15" fmla="*/ 80 h 137"/>
                  <a:gd name="T16" fmla="*/ 453 w 471"/>
                  <a:gd name="T17" fmla="*/ 33 h 137"/>
                  <a:gd name="T18" fmla="*/ 471 w 471"/>
                  <a:gd name="T19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1" h="137">
                    <a:moveTo>
                      <a:pt x="4" y="20"/>
                    </a:moveTo>
                    <a:cubicBezTo>
                      <a:pt x="4" y="27"/>
                      <a:pt x="0" y="48"/>
                      <a:pt x="5" y="61"/>
                    </a:cubicBezTo>
                    <a:cubicBezTo>
                      <a:pt x="10" y="74"/>
                      <a:pt x="19" y="86"/>
                      <a:pt x="32" y="96"/>
                    </a:cubicBezTo>
                    <a:cubicBezTo>
                      <a:pt x="45" y="107"/>
                      <a:pt x="65" y="117"/>
                      <a:pt x="84" y="123"/>
                    </a:cubicBezTo>
                    <a:cubicBezTo>
                      <a:pt x="103" y="129"/>
                      <a:pt x="122" y="132"/>
                      <a:pt x="147" y="134"/>
                    </a:cubicBezTo>
                    <a:cubicBezTo>
                      <a:pt x="172" y="137"/>
                      <a:pt x="208" y="137"/>
                      <a:pt x="236" y="134"/>
                    </a:cubicBezTo>
                    <a:cubicBezTo>
                      <a:pt x="264" y="132"/>
                      <a:pt x="289" y="126"/>
                      <a:pt x="316" y="117"/>
                    </a:cubicBezTo>
                    <a:cubicBezTo>
                      <a:pt x="343" y="108"/>
                      <a:pt x="373" y="94"/>
                      <a:pt x="396" y="80"/>
                    </a:cubicBezTo>
                    <a:cubicBezTo>
                      <a:pt x="419" y="66"/>
                      <a:pt x="441" y="46"/>
                      <a:pt x="453" y="33"/>
                    </a:cubicBezTo>
                    <a:cubicBezTo>
                      <a:pt x="465" y="20"/>
                      <a:pt x="467" y="7"/>
                      <a:pt x="471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0" name="Line 60"/>
              <p:cNvSpPr>
                <a:spLocks noChangeShapeType="1"/>
              </p:cNvSpPr>
              <p:nvPr/>
            </p:nvSpPr>
            <p:spPr bwMode="auto">
              <a:xfrm>
                <a:off x="1313" y="1379"/>
                <a:ext cx="11" cy="1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1" name="Line 61"/>
              <p:cNvSpPr>
                <a:spLocks noChangeShapeType="1"/>
              </p:cNvSpPr>
              <p:nvPr/>
            </p:nvSpPr>
            <p:spPr bwMode="auto">
              <a:xfrm>
                <a:off x="1347" y="1436"/>
                <a:ext cx="10" cy="1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2" name="Line 62"/>
              <p:cNvSpPr>
                <a:spLocks noChangeShapeType="1"/>
              </p:cNvSpPr>
              <p:nvPr/>
            </p:nvSpPr>
            <p:spPr bwMode="auto">
              <a:xfrm>
                <a:off x="1383" y="1458"/>
                <a:ext cx="11" cy="1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3" name="Line 63"/>
              <p:cNvSpPr>
                <a:spLocks noChangeShapeType="1"/>
              </p:cNvSpPr>
              <p:nvPr/>
            </p:nvSpPr>
            <p:spPr bwMode="auto">
              <a:xfrm>
                <a:off x="1422" y="1478"/>
                <a:ext cx="8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4" name="Freeform 64"/>
              <p:cNvSpPr>
                <a:spLocks/>
              </p:cNvSpPr>
              <p:nvPr/>
            </p:nvSpPr>
            <p:spPr bwMode="auto">
              <a:xfrm>
                <a:off x="1454" y="1488"/>
                <a:ext cx="12" cy="132"/>
              </a:xfrm>
              <a:custGeom>
                <a:avLst/>
                <a:gdLst>
                  <a:gd name="T0" fmla="*/ 0 w 12"/>
                  <a:gd name="T1" fmla="*/ 0 h 132"/>
                  <a:gd name="T2" fmla="*/ 12 w 12"/>
                  <a:gd name="T3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" h="132">
                    <a:moveTo>
                      <a:pt x="0" y="0"/>
                    </a:moveTo>
                    <a:lnTo>
                      <a:pt x="12" y="13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5" name="Line 65"/>
              <p:cNvSpPr>
                <a:spLocks noChangeShapeType="1"/>
              </p:cNvSpPr>
              <p:nvPr/>
            </p:nvSpPr>
            <p:spPr bwMode="auto">
              <a:xfrm>
                <a:off x="1492" y="1497"/>
                <a:ext cx="9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6" name="Freeform 66"/>
              <p:cNvSpPr>
                <a:spLocks/>
              </p:cNvSpPr>
              <p:nvPr/>
            </p:nvSpPr>
            <p:spPr bwMode="auto">
              <a:xfrm>
                <a:off x="1531" y="1502"/>
                <a:ext cx="7" cy="121"/>
              </a:xfrm>
              <a:custGeom>
                <a:avLst/>
                <a:gdLst>
                  <a:gd name="T0" fmla="*/ 0 w 7"/>
                  <a:gd name="T1" fmla="*/ 0 h 121"/>
                  <a:gd name="T2" fmla="*/ 7 w 7"/>
                  <a:gd name="T3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" h="121">
                    <a:moveTo>
                      <a:pt x="0" y="0"/>
                    </a:moveTo>
                    <a:lnTo>
                      <a:pt x="7" y="121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7" name="Freeform 67"/>
              <p:cNvSpPr>
                <a:spLocks/>
              </p:cNvSpPr>
              <p:nvPr/>
            </p:nvSpPr>
            <p:spPr bwMode="auto">
              <a:xfrm>
                <a:off x="1566" y="1500"/>
                <a:ext cx="6" cy="120"/>
              </a:xfrm>
              <a:custGeom>
                <a:avLst/>
                <a:gdLst>
                  <a:gd name="T0" fmla="*/ 0 w 6"/>
                  <a:gd name="T1" fmla="*/ 0 h 120"/>
                  <a:gd name="T2" fmla="*/ 6 w 6"/>
                  <a:gd name="T3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" h="120">
                    <a:moveTo>
                      <a:pt x="0" y="0"/>
                    </a:moveTo>
                    <a:lnTo>
                      <a:pt x="6" y="12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8" name="Line 68"/>
              <p:cNvSpPr>
                <a:spLocks noChangeShapeType="1"/>
              </p:cNvSpPr>
              <p:nvPr/>
            </p:nvSpPr>
            <p:spPr bwMode="auto">
              <a:xfrm>
                <a:off x="1600" y="1502"/>
                <a:ext cx="9" cy="1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29" name="Freeform 69"/>
              <p:cNvSpPr>
                <a:spLocks/>
              </p:cNvSpPr>
              <p:nvPr/>
            </p:nvSpPr>
            <p:spPr bwMode="auto">
              <a:xfrm>
                <a:off x="1636" y="1494"/>
                <a:ext cx="10" cy="104"/>
              </a:xfrm>
              <a:custGeom>
                <a:avLst/>
                <a:gdLst>
                  <a:gd name="T0" fmla="*/ 0 w 10"/>
                  <a:gd name="T1" fmla="*/ 0 h 104"/>
                  <a:gd name="T2" fmla="*/ 10 w 10"/>
                  <a:gd name="T3" fmla="*/ 10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104">
                    <a:moveTo>
                      <a:pt x="0" y="0"/>
                    </a:moveTo>
                    <a:lnTo>
                      <a:pt x="10" y="10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30" name="Line 70"/>
              <p:cNvSpPr>
                <a:spLocks noChangeShapeType="1"/>
              </p:cNvSpPr>
              <p:nvPr/>
            </p:nvSpPr>
            <p:spPr bwMode="auto">
              <a:xfrm>
                <a:off x="1676" y="1490"/>
                <a:ext cx="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31" name="Line 71"/>
              <p:cNvSpPr>
                <a:spLocks noChangeShapeType="1"/>
              </p:cNvSpPr>
              <p:nvPr/>
            </p:nvSpPr>
            <p:spPr bwMode="auto">
              <a:xfrm>
                <a:off x="1713" y="1475"/>
                <a:ext cx="6" cy="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32" name="Line 72"/>
              <p:cNvSpPr>
                <a:spLocks noChangeShapeType="1"/>
              </p:cNvSpPr>
              <p:nvPr/>
            </p:nvSpPr>
            <p:spPr bwMode="auto">
              <a:xfrm>
                <a:off x="1749" y="1453"/>
                <a:ext cx="3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633" name="Line 73"/>
              <p:cNvSpPr>
                <a:spLocks noChangeShapeType="1"/>
              </p:cNvSpPr>
              <p:nvPr/>
            </p:nvSpPr>
            <p:spPr bwMode="auto">
              <a:xfrm>
                <a:off x="1780" y="1402"/>
                <a:ext cx="7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46634" name="AutoShape 74"/>
          <p:cNvSpPr>
            <a:spLocks noChangeArrowheads="1"/>
          </p:cNvSpPr>
          <p:nvPr/>
        </p:nvSpPr>
        <p:spPr bwMode="auto">
          <a:xfrm>
            <a:off x="2438400" y="3032125"/>
            <a:ext cx="366713" cy="366713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6635" name="Line 75"/>
          <p:cNvSpPr>
            <a:spLocks noChangeShapeType="1"/>
          </p:cNvSpPr>
          <p:nvPr/>
        </p:nvSpPr>
        <p:spPr bwMode="auto">
          <a:xfrm flipV="1">
            <a:off x="2682875" y="3048000"/>
            <a:ext cx="2438400" cy="198438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6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46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46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4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346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46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4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4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4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4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6634" grpId="0" animBg="1"/>
      <p:bldP spid="13466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605" name="Rectangle 21"/>
          <p:cNvSpPr>
            <a:spLocks noChangeArrowheads="1"/>
          </p:cNvSpPr>
          <p:nvPr/>
        </p:nvSpPr>
        <p:spPr bwMode="auto">
          <a:xfrm>
            <a:off x="4837113" y="1254125"/>
            <a:ext cx="4121150" cy="29273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7606" name="Text Box 22"/>
          <p:cNvSpPr txBox="1">
            <a:spLocks noChangeArrowheads="1"/>
          </p:cNvSpPr>
          <p:nvPr/>
        </p:nvSpPr>
        <p:spPr bwMode="auto">
          <a:xfrm>
            <a:off x="230188" y="588963"/>
            <a:ext cx="5640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三维应力状态（三轴</a:t>
            </a: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</a:rPr>
              <a:t>应力状态）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47607" name="Rectangle 23"/>
          <p:cNvSpPr>
            <a:spLocks noChangeArrowheads="1"/>
          </p:cNvSpPr>
          <p:nvPr/>
        </p:nvSpPr>
        <p:spPr bwMode="auto">
          <a:xfrm>
            <a:off x="2559050" y="5886450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13476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349035"/>
              </p:ext>
            </p:extLst>
          </p:nvPr>
        </p:nvGraphicFramePr>
        <p:xfrm>
          <a:off x="4149725" y="4443413"/>
          <a:ext cx="2463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593" name="公式" r:id="rId3" imgW="1231560" imgH="698400" progId="Equation.3">
                  <p:embed/>
                </p:oleObj>
              </mc:Choice>
              <mc:Fallback>
                <p:oleObj name="公式" r:id="rId3" imgW="1231560" imgH="698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725" y="4443413"/>
                        <a:ext cx="24638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760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21643"/>
              </p:ext>
            </p:extLst>
          </p:nvPr>
        </p:nvGraphicFramePr>
        <p:xfrm>
          <a:off x="6707188" y="4441825"/>
          <a:ext cx="2336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594" name="公式" r:id="rId5" imgW="1168200" imgH="698400" progId="Equation.3">
                  <p:embed/>
                </p:oleObj>
              </mc:Choice>
              <mc:Fallback>
                <p:oleObj name="公式" r:id="rId5" imgW="1168200" imgH="6984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4441825"/>
                        <a:ext cx="2336800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7610" name="Group 26"/>
          <p:cNvGrpSpPr>
            <a:grpSpLocks/>
          </p:cNvGrpSpPr>
          <p:nvPr/>
        </p:nvGrpSpPr>
        <p:grpSpPr bwMode="auto">
          <a:xfrm>
            <a:off x="4741863" y="1370013"/>
            <a:ext cx="2439987" cy="2593975"/>
            <a:chOff x="2203" y="874"/>
            <a:chExt cx="2049" cy="2179"/>
          </a:xfrm>
        </p:grpSpPr>
        <p:sp>
          <p:nvSpPr>
            <p:cNvPr id="1347611" name="Rectangle 27"/>
            <p:cNvSpPr>
              <a:spLocks noChangeArrowheads="1"/>
            </p:cNvSpPr>
            <p:nvPr/>
          </p:nvSpPr>
          <p:spPr bwMode="auto">
            <a:xfrm>
              <a:off x="2922" y="1443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12" name="Rectangle 28" descr="大纸屑"/>
            <p:cNvSpPr>
              <a:spLocks noChangeArrowheads="1"/>
            </p:cNvSpPr>
            <p:nvPr/>
          </p:nvSpPr>
          <p:spPr bwMode="auto">
            <a:xfrm>
              <a:off x="3201" y="2580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13" name="Rectangle 29" descr="浅色上对角线"/>
            <p:cNvSpPr>
              <a:spLocks noChangeArrowheads="1"/>
            </p:cNvSpPr>
            <p:nvPr/>
          </p:nvSpPr>
          <p:spPr bwMode="auto">
            <a:xfrm>
              <a:off x="3192" y="1635"/>
              <a:ext cx="434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47614" name="Group 30"/>
            <p:cNvGrpSpPr>
              <a:grpSpLocks/>
            </p:cNvGrpSpPr>
            <p:nvPr/>
          </p:nvGrpSpPr>
          <p:grpSpPr bwMode="auto">
            <a:xfrm>
              <a:off x="3186" y="1677"/>
              <a:ext cx="452" cy="1025"/>
              <a:chOff x="3374" y="2353"/>
              <a:chExt cx="452" cy="1025"/>
            </a:xfrm>
          </p:grpSpPr>
          <p:sp>
            <p:nvSpPr>
              <p:cNvPr id="1347615" name="Line 31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16" name="Line 32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7617" name="Group 33"/>
            <p:cNvGrpSpPr>
              <a:grpSpLocks/>
            </p:cNvGrpSpPr>
            <p:nvPr/>
          </p:nvGrpSpPr>
          <p:grpSpPr bwMode="auto">
            <a:xfrm>
              <a:off x="3133" y="1695"/>
              <a:ext cx="549" cy="1001"/>
              <a:chOff x="3321" y="2371"/>
              <a:chExt cx="549" cy="1001"/>
            </a:xfrm>
          </p:grpSpPr>
          <p:sp>
            <p:nvSpPr>
              <p:cNvPr id="1347618" name="Oval 34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19" name="Oval 35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20" name="Oval 36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21" name="Oval 37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8580" tIns="34290" rIns="68580" bIns="34290" anchor="ctr"/>
              <a:lstStyle/>
              <a:p>
                <a:pPr algn="ctr" defTabSz="685800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18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1347622" name="Group 38"/>
            <p:cNvGrpSpPr>
              <a:grpSpLocks/>
            </p:cNvGrpSpPr>
            <p:nvPr/>
          </p:nvGrpSpPr>
          <p:grpSpPr bwMode="auto">
            <a:xfrm>
              <a:off x="2840" y="2653"/>
              <a:ext cx="1135" cy="400"/>
              <a:chOff x="3028" y="3329"/>
              <a:chExt cx="1135" cy="400"/>
            </a:xfrm>
          </p:grpSpPr>
          <p:sp>
            <p:nvSpPr>
              <p:cNvPr id="1347623" name="Rectangle 39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24" name="Rectangle 40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47625" name="Line 41" descr="30%"/>
            <p:cNvSpPr>
              <a:spLocks noChangeShapeType="1"/>
            </p:cNvSpPr>
            <p:nvPr/>
          </p:nvSpPr>
          <p:spPr bwMode="auto">
            <a:xfrm>
              <a:off x="2915" y="1453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26" name="Line 42" descr="30%"/>
            <p:cNvSpPr>
              <a:spLocks noChangeShapeType="1"/>
            </p:cNvSpPr>
            <p:nvPr/>
          </p:nvSpPr>
          <p:spPr bwMode="auto">
            <a:xfrm>
              <a:off x="3908" y="1453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27" name="Rectangle 43"/>
            <p:cNvSpPr>
              <a:spLocks noChangeArrowheads="1"/>
            </p:cNvSpPr>
            <p:nvPr/>
          </p:nvSpPr>
          <p:spPr bwMode="auto">
            <a:xfrm>
              <a:off x="2708" y="1350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28" name="Rectangle 44"/>
            <p:cNvSpPr>
              <a:spLocks noChangeArrowheads="1"/>
            </p:cNvSpPr>
            <p:nvPr/>
          </p:nvSpPr>
          <p:spPr bwMode="auto">
            <a:xfrm>
              <a:off x="3477" y="1350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7629" name="Rectangle 45" descr="浅色竖线"/>
            <p:cNvSpPr>
              <a:spLocks noChangeArrowheads="1"/>
            </p:cNvSpPr>
            <p:nvPr/>
          </p:nvSpPr>
          <p:spPr bwMode="auto">
            <a:xfrm>
              <a:off x="3350" y="1145"/>
              <a:ext cx="126" cy="486"/>
            </a:xfrm>
            <a:prstGeom prst="rect">
              <a:avLst/>
            </a:pr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47630" name="Group 46"/>
            <p:cNvGrpSpPr>
              <a:grpSpLocks/>
            </p:cNvGrpSpPr>
            <p:nvPr/>
          </p:nvGrpSpPr>
          <p:grpSpPr bwMode="auto">
            <a:xfrm>
              <a:off x="3195" y="1780"/>
              <a:ext cx="434" cy="800"/>
              <a:chOff x="3383" y="2456"/>
              <a:chExt cx="434" cy="800"/>
            </a:xfrm>
          </p:grpSpPr>
          <p:sp>
            <p:nvSpPr>
              <p:cNvPr id="1347631" name="Rectangle 47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32" name="Text Box 48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lIns="68580" tIns="34290" rIns="68580" bIns="34290">
                <a:spAutoFit/>
              </a:bodyPr>
              <a:lstStyle>
                <a:lvl1pPr defTabSz="685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42900" defTabSz="685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685800" defTabSz="685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028700" defTabSz="685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371600" defTabSz="685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828800" defTabSz="685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286000" defTabSz="685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743200" defTabSz="685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200400" defTabSz="685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kumimoji="0" lang="zh-CN" altLang="en-US" sz="15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1347633" name="Text Box 49"/>
            <p:cNvSpPr txBox="1">
              <a:spLocks noChangeArrowheads="1"/>
            </p:cNvSpPr>
            <p:nvPr/>
          </p:nvSpPr>
          <p:spPr bwMode="auto">
            <a:xfrm>
              <a:off x="2203" y="2447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5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水压</a:t>
              </a:r>
              <a:br>
                <a:rPr kumimoji="0" lang="zh-CN" altLang="en-US" sz="15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0" lang="zh-CN" altLang="en-US" sz="15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力</a:t>
              </a:r>
              <a:r>
                <a:rPr kumimoji="0" lang="zh-CN" altLang="en-US" sz="15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15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zh-CN" sz="15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7634" name="Freeform 50"/>
            <p:cNvSpPr>
              <a:spLocks/>
            </p:cNvSpPr>
            <p:nvPr/>
          </p:nvSpPr>
          <p:spPr bwMode="auto">
            <a:xfrm>
              <a:off x="2688" y="2863"/>
              <a:ext cx="359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7635" name="Line 51"/>
            <p:cNvSpPr>
              <a:spLocks noChangeShapeType="1"/>
            </p:cNvSpPr>
            <p:nvPr/>
          </p:nvSpPr>
          <p:spPr bwMode="auto">
            <a:xfrm>
              <a:off x="3410" y="952"/>
              <a:ext cx="0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7636" name="Line 52"/>
            <p:cNvSpPr>
              <a:spLocks noChangeShapeType="1"/>
            </p:cNvSpPr>
            <p:nvPr/>
          </p:nvSpPr>
          <p:spPr bwMode="auto">
            <a:xfrm rot="-5400000">
              <a:off x="2553" y="2845"/>
              <a:ext cx="0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47637" name="Group 53"/>
            <p:cNvGrpSpPr>
              <a:grpSpLocks/>
            </p:cNvGrpSpPr>
            <p:nvPr/>
          </p:nvGrpSpPr>
          <p:grpSpPr bwMode="auto">
            <a:xfrm>
              <a:off x="3019" y="1831"/>
              <a:ext cx="120" cy="728"/>
              <a:chOff x="3013" y="1831"/>
              <a:chExt cx="120" cy="728"/>
            </a:xfrm>
          </p:grpSpPr>
          <p:sp>
            <p:nvSpPr>
              <p:cNvPr id="1347638" name="Line 54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39" name="Line 55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0" name="Line 56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1" name="Line 57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2" name="Line 58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3" name="Line 59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4" name="Line 60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5" name="Line 61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7646" name="Group 62"/>
            <p:cNvGrpSpPr>
              <a:grpSpLocks/>
            </p:cNvGrpSpPr>
            <p:nvPr/>
          </p:nvGrpSpPr>
          <p:grpSpPr bwMode="auto">
            <a:xfrm flipH="1">
              <a:off x="3675" y="1831"/>
              <a:ext cx="120" cy="728"/>
              <a:chOff x="3013" y="1831"/>
              <a:chExt cx="120" cy="728"/>
            </a:xfrm>
          </p:grpSpPr>
          <p:sp>
            <p:nvSpPr>
              <p:cNvPr id="1347647" name="Line 63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8" name="Line 64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49" name="Line 65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50" name="Line 66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51" name="Line 67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52" name="Line 68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53" name="Line 69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654" name="Line 70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7655" name="Text Box 71"/>
            <p:cNvSpPr txBox="1">
              <a:spLocks noChangeArrowheads="1"/>
            </p:cNvSpPr>
            <p:nvPr/>
          </p:nvSpPr>
          <p:spPr bwMode="auto">
            <a:xfrm>
              <a:off x="3369" y="874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8580" tIns="34290" rIns="68580" bIns="34290">
              <a:spAutoFit/>
            </a:bodyPr>
            <a:lstStyle>
              <a:lvl1pPr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429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6858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0287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371600" defTabSz="685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8288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2860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7432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200400" defTabSz="685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kumimoji="0" lang="zh-CN" altLang="en-US" sz="15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轴向力</a:t>
              </a:r>
              <a:r>
                <a:rPr kumimoji="0" lang="en-US" altLang="zh-CN" sz="15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F</a:t>
              </a:r>
              <a:endParaRPr kumimoji="0" lang="zh-CN" altLang="zh-CN" sz="15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347656" name="Rectangle 72"/>
          <p:cNvSpPr>
            <a:spLocks noChangeArrowheads="1"/>
          </p:cNvSpPr>
          <p:nvPr/>
        </p:nvSpPr>
        <p:spPr bwMode="auto">
          <a:xfrm>
            <a:off x="292100" y="1484313"/>
            <a:ext cx="209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4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应变条件</a:t>
            </a:r>
          </a:p>
        </p:txBody>
      </p:sp>
      <p:sp>
        <p:nvSpPr>
          <p:cNvPr id="1347657" name="Rectangle 73"/>
          <p:cNvSpPr>
            <a:spLocks noChangeArrowheads="1"/>
          </p:cNvSpPr>
          <p:nvPr/>
        </p:nvSpPr>
        <p:spPr bwMode="auto">
          <a:xfrm>
            <a:off x="288925" y="2746375"/>
            <a:ext cx="209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4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应力条件</a:t>
            </a:r>
          </a:p>
        </p:txBody>
      </p:sp>
      <p:sp>
        <p:nvSpPr>
          <p:cNvPr id="1347658" name="Rectangle 74"/>
          <p:cNvSpPr>
            <a:spLocks noChangeArrowheads="1"/>
          </p:cNvSpPr>
          <p:nvPr/>
        </p:nvSpPr>
        <p:spPr bwMode="auto">
          <a:xfrm>
            <a:off x="274638" y="4111625"/>
            <a:ext cx="209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4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独立变量</a:t>
            </a:r>
          </a:p>
        </p:txBody>
      </p:sp>
      <p:graphicFrame>
        <p:nvGraphicFramePr>
          <p:cNvPr id="1347659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583327"/>
              </p:ext>
            </p:extLst>
          </p:nvPr>
        </p:nvGraphicFramePr>
        <p:xfrm>
          <a:off x="2073275" y="3775075"/>
          <a:ext cx="220968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595" name="公式" r:id="rId7" imgW="1104840" imgH="495000" progId="Equation.3">
                  <p:embed/>
                </p:oleObj>
              </mc:Choice>
              <mc:Fallback>
                <p:oleObj name="公式" r:id="rId7" imgW="1104840" imgH="4950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775075"/>
                        <a:ext cx="220968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766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476607"/>
              </p:ext>
            </p:extLst>
          </p:nvPr>
        </p:nvGraphicFramePr>
        <p:xfrm>
          <a:off x="2079625" y="1247775"/>
          <a:ext cx="228600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596" name="公式" r:id="rId9" imgW="1143000" imgH="495000" progId="Equation.3">
                  <p:embed/>
                </p:oleObj>
              </mc:Choice>
              <mc:Fallback>
                <p:oleObj name="公式" r:id="rId9" imgW="1143000" imgH="49500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1247775"/>
                        <a:ext cx="228600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7661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380555"/>
              </p:ext>
            </p:extLst>
          </p:nvPr>
        </p:nvGraphicFramePr>
        <p:xfrm>
          <a:off x="2016125" y="2519363"/>
          <a:ext cx="233640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597" name="公式" r:id="rId11" imgW="1168200" imgH="495000" progId="Equation.3">
                  <p:embed/>
                </p:oleObj>
              </mc:Choice>
              <mc:Fallback>
                <p:oleObj name="公式" r:id="rId11" imgW="1168200" imgH="49500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2519363"/>
                        <a:ext cx="233640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7662" name="Group 78"/>
          <p:cNvGrpSpPr>
            <a:grpSpLocks/>
          </p:cNvGrpSpPr>
          <p:nvPr/>
        </p:nvGrpSpPr>
        <p:grpSpPr bwMode="auto">
          <a:xfrm>
            <a:off x="6359525" y="1747838"/>
            <a:ext cx="2497138" cy="2281237"/>
            <a:chOff x="4006" y="1125"/>
            <a:chExt cx="1573" cy="1437"/>
          </a:xfrm>
        </p:grpSpPr>
        <p:grpSp>
          <p:nvGrpSpPr>
            <p:cNvPr id="1347663" name="Group 79"/>
            <p:cNvGrpSpPr>
              <a:grpSpLocks/>
            </p:cNvGrpSpPr>
            <p:nvPr/>
          </p:nvGrpSpPr>
          <p:grpSpPr bwMode="auto">
            <a:xfrm>
              <a:off x="4558" y="1125"/>
              <a:ext cx="1021" cy="1126"/>
              <a:chOff x="4354" y="62"/>
              <a:chExt cx="1276" cy="1407"/>
            </a:xfrm>
          </p:grpSpPr>
          <p:sp>
            <p:nvSpPr>
              <p:cNvPr id="1347664" name="AutoShape 80"/>
              <p:cNvSpPr>
                <a:spLocks noChangeArrowheads="1"/>
              </p:cNvSpPr>
              <p:nvPr/>
            </p:nvSpPr>
            <p:spPr bwMode="auto">
              <a:xfrm>
                <a:off x="4681" y="420"/>
                <a:ext cx="529" cy="1049"/>
              </a:xfrm>
              <a:prstGeom prst="flowChartMagneticDisk">
                <a:avLst/>
              </a:prstGeom>
              <a:solidFill>
                <a:srgbClr val="996633"/>
              </a:solidFill>
              <a:ln w="12700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47665" name="Object 81"/>
              <p:cNvGraphicFramePr>
                <a:graphicFrameLocks noChangeAspect="1"/>
              </p:cNvGraphicFramePr>
              <p:nvPr/>
            </p:nvGraphicFramePr>
            <p:xfrm>
              <a:off x="4354" y="816"/>
              <a:ext cx="273" cy="3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8598" name="Equation" r:id="rId13" imgW="203040" imgH="241200" progId="Equation.DSMT4">
                      <p:embed/>
                    </p:oleObj>
                  </mc:Choice>
                  <mc:Fallback>
                    <p:oleObj name="Equation" r:id="rId13" imgW="203040" imgH="241200" progId="Equation.DSMT4">
                      <p:embed/>
                      <p:pic>
                        <p:nvPicPr>
                          <p:cNvPr id="0" name="Object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4" y="816"/>
                            <a:ext cx="273" cy="3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47666" name="Object 82"/>
              <p:cNvGraphicFramePr>
                <a:graphicFrameLocks noChangeAspect="1"/>
              </p:cNvGraphicFramePr>
              <p:nvPr/>
            </p:nvGraphicFramePr>
            <p:xfrm>
              <a:off x="5334" y="986"/>
              <a:ext cx="296" cy="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8599" name="Equation" r:id="rId15" imgW="203040" imgH="228600" progId="Equation.DSMT4">
                      <p:embed/>
                    </p:oleObj>
                  </mc:Choice>
                  <mc:Fallback>
                    <p:oleObj name="Equation" r:id="rId15" imgW="203040" imgH="228600" progId="Equation.DSMT4">
                      <p:embed/>
                      <p:pic>
                        <p:nvPicPr>
                          <p:cNvPr id="0" name="Object 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4" y="986"/>
                            <a:ext cx="296" cy="3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47667" name="Object 83"/>
              <p:cNvGraphicFramePr>
                <a:graphicFrameLocks noChangeAspect="1"/>
              </p:cNvGraphicFramePr>
              <p:nvPr/>
            </p:nvGraphicFramePr>
            <p:xfrm>
              <a:off x="5031" y="62"/>
              <a:ext cx="287" cy="3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8600" name="Equation" r:id="rId17" imgW="190440" imgH="228600" progId="Equation.DSMT4">
                      <p:embed/>
                    </p:oleObj>
                  </mc:Choice>
                  <mc:Fallback>
                    <p:oleObj name="Equation" r:id="rId17" imgW="190440" imgH="228600" progId="Equation.DSMT4">
                      <p:embed/>
                      <p:pic>
                        <p:nvPicPr>
                          <p:cNvPr id="0" name="Object 8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31" y="62"/>
                            <a:ext cx="287" cy="3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47668" name="Line 84"/>
              <p:cNvSpPr>
                <a:spLocks noChangeShapeType="1"/>
              </p:cNvSpPr>
              <p:nvPr/>
            </p:nvSpPr>
            <p:spPr bwMode="auto">
              <a:xfrm flipV="1">
                <a:off x="4662" y="996"/>
                <a:ext cx="288" cy="225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47669" name="Line 85"/>
              <p:cNvSpPr>
                <a:spLocks noChangeShapeType="1"/>
              </p:cNvSpPr>
              <p:nvPr/>
            </p:nvSpPr>
            <p:spPr bwMode="auto">
              <a:xfrm flipH="1" flipV="1">
                <a:off x="5199" y="996"/>
                <a:ext cx="374" cy="0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47670" name="Freeform 86"/>
              <p:cNvSpPr>
                <a:spLocks/>
              </p:cNvSpPr>
              <p:nvPr/>
            </p:nvSpPr>
            <p:spPr bwMode="auto">
              <a:xfrm>
                <a:off x="4942" y="137"/>
                <a:ext cx="2" cy="456"/>
              </a:xfrm>
              <a:custGeom>
                <a:avLst/>
                <a:gdLst>
                  <a:gd name="T0" fmla="*/ 2 w 2"/>
                  <a:gd name="T1" fmla="*/ 0 h 456"/>
                  <a:gd name="T2" fmla="*/ 0 w 2"/>
                  <a:gd name="T3" fmla="*/ 456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456">
                    <a:moveTo>
                      <a:pt x="2" y="0"/>
                    </a:moveTo>
                    <a:lnTo>
                      <a:pt x="0" y="456"/>
                    </a:ln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47671" name="Line 87"/>
            <p:cNvSpPr>
              <a:spLocks noChangeShapeType="1"/>
            </p:cNvSpPr>
            <p:nvPr/>
          </p:nvSpPr>
          <p:spPr bwMode="auto">
            <a:xfrm flipV="1">
              <a:off x="4006" y="1730"/>
              <a:ext cx="746" cy="1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47672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6167749"/>
                </p:ext>
              </p:extLst>
            </p:nvPr>
          </p:nvGraphicFramePr>
          <p:xfrm>
            <a:off x="4637" y="2256"/>
            <a:ext cx="885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8601" name="公式" r:id="rId19" imgW="812520" imgH="241200" progId="Equation.3">
                    <p:embed/>
                  </p:oleObj>
                </mc:Choice>
                <mc:Fallback>
                  <p:oleObj name="公式" r:id="rId19" imgW="812520" imgH="2412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7" y="2256"/>
                          <a:ext cx="885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4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34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34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4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47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4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4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4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47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4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4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47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47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4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4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347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347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47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347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605" grpId="0" animBg="1"/>
      <p:bldP spid="1347656" grpId="0"/>
      <p:bldP spid="1347657" grpId="0"/>
      <p:bldP spid="13476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644" name="Rectangle 36"/>
          <p:cNvSpPr>
            <a:spLocks noChangeArrowheads="1"/>
          </p:cNvSpPr>
          <p:nvPr/>
        </p:nvSpPr>
        <p:spPr bwMode="auto">
          <a:xfrm>
            <a:off x="0" y="1311275"/>
            <a:ext cx="9144000" cy="264636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8645" name="Rectangle 37"/>
          <p:cNvSpPr>
            <a:spLocks noChangeArrowheads="1"/>
          </p:cNvSpPr>
          <p:nvPr/>
        </p:nvSpPr>
        <p:spPr bwMode="auto">
          <a:xfrm>
            <a:off x="2559050" y="5822950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48646" name="Text Box 38"/>
          <p:cNvSpPr txBox="1">
            <a:spLocks noChangeArrowheads="1"/>
          </p:cNvSpPr>
          <p:nvPr/>
        </p:nvSpPr>
        <p:spPr bwMode="auto">
          <a:xfrm>
            <a:off x="230188" y="665163"/>
            <a:ext cx="5640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</a:rPr>
              <a:t>二维应力状态（平面应变状态）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348647" name="Group 39"/>
          <p:cNvGrpSpPr>
            <a:grpSpLocks/>
          </p:cNvGrpSpPr>
          <p:nvPr/>
        </p:nvGrpSpPr>
        <p:grpSpPr bwMode="auto">
          <a:xfrm>
            <a:off x="3830638" y="1417638"/>
            <a:ext cx="2473325" cy="2343150"/>
            <a:chOff x="2413" y="893"/>
            <a:chExt cx="1558" cy="1476"/>
          </a:xfrm>
        </p:grpSpPr>
        <p:sp>
          <p:nvSpPr>
            <p:cNvPr id="1348648" name="AutoShape 40"/>
            <p:cNvSpPr>
              <a:spLocks noChangeArrowheads="1"/>
            </p:cNvSpPr>
            <p:nvPr/>
          </p:nvSpPr>
          <p:spPr bwMode="auto">
            <a:xfrm>
              <a:off x="2465" y="1246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8649" name="Freeform 41"/>
            <p:cNvSpPr>
              <a:spLocks noChangeAspect="1"/>
            </p:cNvSpPr>
            <p:nvPr/>
          </p:nvSpPr>
          <p:spPr bwMode="auto">
            <a:xfrm>
              <a:off x="2625" y="1961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0" name="Line 42"/>
            <p:cNvSpPr>
              <a:spLocks noChangeAspect="1" noChangeShapeType="1"/>
            </p:cNvSpPr>
            <p:nvPr/>
          </p:nvSpPr>
          <p:spPr bwMode="auto">
            <a:xfrm flipH="1">
              <a:off x="2646" y="1969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1" name="Freeform 43"/>
            <p:cNvSpPr>
              <a:spLocks noChangeAspect="1"/>
            </p:cNvSpPr>
            <p:nvPr/>
          </p:nvSpPr>
          <p:spPr bwMode="auto">
            <a:xfrm rot="10800000">
              <a:off x="2857" y="1270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2" name="Line 44"/>
            <p:cNvSpPr>
              <a:spLocks noChangeAspect="1" noChangeShapeType="1"/>
            </p:cNvSpPr>
            <p:nvPr/>
          </p:nvSpPr>
          <p:spPr bwMode="auto">
            <a:xfrm rot="10800000" flipH="1">
              <a:off x="2819" y="1395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3" name="Freeform 45"/>
            <p:cNvSpPr>
              <a:spLocks noChangeAspect="1"/>
            </p:cNvSpPr>
            <p:nvPr/>
          </p:nvSpPr>
          <p:spPr bwMode="auto">
            <a:xfrm>
              <a:off x="3308" y="1681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4" name="Line 46"/>
            <p:cNvSpPr>
              <a:spLocks noChangeAspect="1" noChangeShapeType="1"/>
            </p:cNvSpPr>
            <p:nvPr/>
          </p:nvSpPr>
          <p:spPr bwMode="auto">
            <a:xfrm rot="10800000">
              <a:off x="3413" y="1592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5" name="Line 47"/>
            <p:cNvSpPr>
              <a:spLocks noChangeAspect="1" noChangeShapeType="1"/>
            </p:cNvSpPr>
            <p:nvPr/>
          </p:nvSpPr>
          <p:spPr bwMode="auto">
            <a:xfrm rot="10800000">
              <a:off x="2870" y="1704"/>
              <a:ext cx="0" cy="46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6" name="Line 48"/>
            <p:cNvSpPr>
              <a:spLocks noChangeAspect="1" noChangeShapeType="1"/>
            </p:cNvSpPr>
            <p:nvPr/>
          </p:nvSpPr>
          <p:spPr bwMode="auto">
            <a:xfrm>
              <a:off x="3025" y="951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57" name="Text Box 49"/>
            <p:cNvSpPr txBox="1">
              <a:spLocks noChangeArrowheads="1"/>
            </p:cNvSpPr>
            <p:nvPr/>
          </p:nvSpPr>
          <p:spPr bwMode="auto">
            <a:xfrm>
              <a:off x="2413" y="2062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endParaRPr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58" name="Text Box 50"/>
            <p:cNvSpPr txBox="1">
              <a:spLocks noChangeArrowheads="1"/>
            </p:cNvSpPr>
            <p:nvPr/>
          </p:nvSpPr>
          <p:spPr bwMode="auto">
            <a:xfrm>
              <a:off x="2868" y="1572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</a:t>
              </a:r>
              <a:r>
                <a:rPr lang="en-US" altLang="zh-CN" sz="2400" b="1" baseline="-250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yz</a:t>
              </a:r>
            </a:p>
          </p:txBody>
        </p:sp>
        <p:sp>
          <p:nvSpPr>
            <p:cNvPr id="1348659" name="Text Box 51"/>
            <p:cNvSpPr txBox="1">
              <a:spLocks noChangeArrowheads="1"/>
            </p:cNvSpPr>
            <p:nvPr/>
          </p:nvSpPr>
          <p:spPr bwMode="auto">
            <a:xfrm>
              <a:off x="3445" y="1381"/>
              <a:ext cx="3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xy</a:t>
              </a:r>
            </a:p>
          </p:txBody>
        </p:sp>
        <p:sp>
          <p:nvSpPr>
            <p:cNvPr id="1348660" name="Text Box 52"/>
            <p:cNvSpPr txBox="1">
              <a:spLocks noChangeArrowheads="1"/>
            </p:cNvSpPr>
            <p:nvPr/>
          </p:nvSpPr>
          <p:spPr bwMode="auto">
            <a:xfrm>
              <a:off x="3179" y="1183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61" name="Text Box 53"/>
            <p:cNvSpPr txBox="1">
              <a:spLocks noChangeArrowheads="1"/>
            </p:cNvSpPr>
            <p:nvPr/>
          </p:nvSpPr>
          <p:spPr bwMode="auto">
            <a:xfrm>
              <a:off x="3675" y="1767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62" name="Text Box 54"/>
            <p:cNvSpPr txBox="1">
              <a:spLocks noChangeArrowheads="1"/>
            </p:cNvSpPr>
            <p:nvPr/>
          </p:nvSpPr>
          <p:spPr bwMode="auto">
            <a:xfrm>
              <a:off x="3034" y="893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63" name="Line 55"/>
            <p:cNvSpPr>
              <a:spLocks noChangeAspect="1" noChangeShapeType="1"/>
            </p:cNvSpPr>
            <p:nvPr/>
          </p:nvSpPr>
          <p:spPr bwMode="auto">
            <a:xfrm flipH="1">
              <a:off x="3406" y="1824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48664" name="Group 56"/>
          <p:cNvGrpSpPr>
            <a:grpSpLocks/>
          </p:cNvGrpSpPr>
          <p:nvPr/>
        </p:nvGrpSpPr>
        <p:grpSpPr bwMode="auto">
          <a:xfrm>
            <a:off x="434975" y="1484313"/>
            <a:ext cx="3213100" cy="2235199"/>
            <a:chOff x="274" y="935"/>
            <a:chExt cx="2024" cy="1408"/>
          </a:xfrm>
        </p:grpSpPr>
        <p:sp>
          <p:nvSpPr>
            <p:cNvPr id="1348665" name="Freeform 57"/>
            <p:cNvSpPr>
              <a:spLocks/>
            </p:cNvSpPr>
            <p:nvPr/>
          </p:nvSpPr>
          <p:spPr bwMode="auto">
            <a:xfrm>
              <a:off x="274" y="1013"/>
              <a:ext cx="1848" cy="950"/>
            </a:xfrm>
            <a:custGeom>
              <a:avLst/>
              <a:gdLst>
                <a:gd name="T0" fmla="*/ 1180 w 1848"/>
                <a:gd name="T1" fmla="*/ 950 h 950"/>
                <a:gd name="T2" fmla="*/ 1848 w 1848"/>
                <a:gd name="T3" fmla="*/ 282 h 950"/>
                <a:gd name="T4" fmla="*/ 1310 w 1848"/>
                <a:gd name="T5" fmla="*/ 5 h 950"/>
                <a:gd name="T6" fmla="*/ 1075 w 1848"/>
                <a:gd name="T7" fmla="*/ 0 h 950"/>
                <a:gd name="T8" fmla="*/ 686 w 1848"/>
                <a:gd name="T9" fmla="*/ 264 h 950"/>
                <a:gd name="T10" fmla="*/ 0 w 1848"/>
                <a:gd name="T11" fmla="*/ 945 h 950"/>
                <a:gd name="T12" fmla="*/ 412 w 1848"/>
                <a:gd name="T13" fmla="*/ 677 h 950"/>
                <a:gd name="T14" fmla="*/ 638 w 1848"/>
                <a:gd name="T15" fmla="*/ 677 h 950"/>
                <a:gd name="T16" fmla="*/ 1180 w 1848"/>
                <a:gd name="T17" fmla="*/ 95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8" h="950">
                  <a:moveTo>
                    <a:pt x="1180" y="950"/>
                  </a:moveTo>
                  <a:lnTo>
                    <a:pt x="1848" y="282"/>
                  </a:lnTo>
                  <a:lnTo>
                    <a:pt x="1310" y="5"/>
                  </a:lnTo>
                  <a:lnTo>
                    <a:pt x="1075" y="0"/>
                  </a:lnTo>
                  <a:lnTo>
                    <a:pt x="686" y="264"/>
                  </a:lnTo>
                  <a:lnTo>
                    <a:pt x="0" y="945"/>
                  </a:lnTo>
                  <a:lnTo>
                    <a:pt x="412" y="677"/>
                  </a:lnTo>
                  <a:lnTo>
                    <a:pt x="638" y="677"/>
                  </a:lnTo>
                  <a:lnTo>
                    <a:pt x="1180" y="95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8666" name="Text Box 58"/>
            <p:cNvSpPr txBox="1">
              <a:spLocks noChangeArrowheads="1"/>
            </p:cNvSpPr>
            <p:nvPr/>
          </p:nvSpPr>
          <p:spPr bwMode="auto">
            <a:xfrm>
              <a:off x="306" y="2072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</a:p>
          </p:txBody>
        </p:sp>
        <p:sp>
          <p:nvSpPr>
            <p:cNvPr id="1348667" name="Text Box 59"/>
            <p:cNvSpPr txBox="1">
              <a:spLocks noChangeArrowheads="1"/>
            </p:cNvSpPr>
            <p:nvPr/>
          </p:nvSpPr>
          <p:spPr bwMode="auto">
            <a:xfrm>
              <a:off x="2185" y="1150"/>
              <a:ext cx="11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1348668" name="Text Box 60"/>
            <p:cNvSpPr txBox="1">
              <a:spLocks noChangeArrowheads="1"/>
            </p:cNvSpPr>
            <p:nvPr/>
          </p:nvSpPr>
          <p:spPr bwMode="auto">
            <a:xfrm>
              <a:off x="1189" y="1500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o</a:t>
              </a:r>
            </a:p>
          </p:txBody>
        </p:sp>
        <p:sp>
          <p:nvSpPr>
            <p:cNvPr id="1348669" name="Line 61"/>
            <p:cNvSpPr>
              <a:spLocks noChangeShapeType="1"/>
            </p:cNvSpPr>
            <p:nvPr/>
          </p:nvSpPr>
          <p:spPr bwMode="auto">
            <a:xfrm>
              <a:off x="1165" y="1563"/>
              <a:ext cx="1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8670" name="Line 62"/>
            <p:cNvSpPr>
              <a:spLocks noChangeShapeType="1"/>
            </p:cNvSpPr>
            <p:nvPr/>
          </p:nvSpPr>
          <p:spPr bwMode="auto">
            <a:xfrm flipH="1">
              <a:off x="444" y="1946"/>
              <a:ext cx="313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8671" name="Line 63"/>
            <p:cNvSpPr>
              <a:spLocks noChangeShapeType="1"/>
            </p:cNvSpPr>
            <p:nvPr/>
          </p:nvSpPr>
          <p:spPr bwMode="auto">
            <a:xfrm>
              <a:off x="1162" y="1557"/>
              <a:ext cx="0" cy="7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8672" name="Text Box 64"/>
            <p:cNvSpPr txBox="1">
              <a:spLocks noChangeArrowheads="1"/>
            </p:cNvSpPr>
            <p:nvPr/>
          </p:nvSpPr>
          <p:spPr bwMode="auto">
            <a:xfrm>
              <a:off x="1248" y="2018"/>
              <a:ext cx="9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</a:p>
          </p:txBody>
        </p:sp>
        <p:grpSp>
          <p:nvGrpSpPr>
            <p:cNvPr id="1348673" name="Group 65"/>
            <p:cNvGrpSpPr>
              <a:grpSpLocks/>
            </p:cNvGrpSpPr>
            <p:nvPr/>
          </p:nvGrpSpPr>
          <p:grpSpPr bwMode="auto">
            <a:xfrm>
              <a:off x="276" y="1013"/>
              <a:ext cx="1858" cy="958"/>
              <a:chOff x="1456" y="1337"/>
              <a:chExt cx="1460" cy="753"/>
            </a:xfrm>
          </p:grpSpPr>
          <p:sp>
            <p:nvSpPr>
              <p:cNvPr id="1348674" name="Freeform 66"/>
              <p:cNvSpPr>
                <a:spLocks/>
              </p:cNvSpPr>
              <p:nvPr/>
            </p:nvSpPr>
            <p:spPr bwMode="auto">
              <a:xfrm>
                <a:off x="1456" y="1871"/>
                <a:ext cx="931" cy="218"/>
              </a:xfrm>
              <a:custGeom>
                <a:avLst/>
                <a:gdLst>
                  <a:gd name="T0" fmla="*/ 931 w 931"/>
                  <a:gd name="T1" fmla="*/ 218 h 218"/>
                  <a:gd name="T2" fmla="*/ 0 w 931"/>
                  <a:gd name="T3" fmla="*/ 218 h 218"/>
                  <a:gd name="T4" fmla="*/ 323 w 931"/>
                  <a:gd name="T5" fmla="*/ 0 h 218"/>
                  <a:gd name="T6" fmla="*/ 492 w 931"/>
                  <a:gd name="T7" fmla="*/ 0 h 218"/>
                  <a:gd name="T8" fmla="*/ 931 w 931"/>
                  <a:gd name="T9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1" h="218">
                    <a:moveTo>
                      <a:pt x="931" y="218"/>
                    </a:moveTo>
                    <a:lnTo>
                      <a:pt x="0" y="218"/>
                    </a:lnTo>
                    <a:lnTo>
                      <a:pt x="323" y="0"/>
                    </a:lnTo>
                    <a:lnTo>
                      <a:pt x="492" y="0"/>
                    </a:lnTo>
                    <a:lnTo>
                      <a:pt x="931" y="2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75" name="Freeform 67"/>
              <p:cNvSpPr>
                <a:spLocks/>
              </p:cNvSpPr>
              <p:nvPr/>
            </p:nvSpPr>
            <p:spPr bwMode="auto">
              <a:xfrm>
                <a:off x="1778" y="1548"/>
                <a:ext cx="931" cy="218"/>
              </a:xfrm>
              <a:custGeom>
                <a:avLst/>
                <a:gdLst>
                  <a:gd name="T0" fmla="*/ 931 w 931"/>
                  <a:gd name="T1" fmla="*/ 218 h 218"/>
                  <a:gd name="T2" fmla="*/ 0 w 931"/>
                  <a:gd name="T3" fmla="*/ 218 h 218"/>
                  <a:gd name="T4" fmla="*/ 323 w 931"/>
                  <a:gd name="T5" fmla="*/ 0 h 218"/>
                  <a:gd name="T6" fmla="*/ 492 w 931"/>
                  <a:gd name="T7" fmla="*/ 0 h 218"/>
                  <a:gd name="T8" fmla="*/ 931 w 931"/>
                  <a:gd name="T9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1" h="218">
                    <a:moveTo>
                      <a:pt x="931" y="218"/>
                    </a:moveTo>
                    <a:lnTo>
                      <a:pt x="0" y="218"/>
                    </a:lnTo>
                    <a:lnTo>
                      <a:pt x="323" y="0"/>
                    </a:lnTo>
                    <a:lnTo>
                      <a:pt x="492" y="0"/>
                    </a:lnTo>
                    <a:lnTo>
                      <a:pt x="931" y="21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76" name="Line 68"/>
              <p:cNvSpPr>
                <a:spLocks noChangeShapeType="1"/>
              </p:cNvSpPr>
              <p:nvPr/>
            </p:nvSpPr>
            <p:spPr bwMode="auto">
              <a:xfrm flipV="1">
                <a:off x="1456" y="1558"/>
                <a:ext cx="528" cy="5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77" name="Line 69"/>
              <p:cNvSpPr>
                <a:spLocks noChangeShapeType="1"/>
              </p:cNvSpPr>
              <p:nvPr/>
            </p:nvSpPr>
            <p:spPr bwMode="auto">
              <a:xfrm flipV="1">
                <a:off x="1781" y="1339"/>
                <a:ext cx="528" cy="5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78" name="Line 70"/>
              <p:cNvSpPr>
                <a:spLocks noChangeShapeType="1"/>
              </p:cNvSpPr>
              <p:nvPr/>
            </p:nvSpPr>
            <p:spPr bwMode="auto">
              <a:xfrm flipV="1">
                <a:off x="1946" y="1340"/>
                <a:ext cx="528" cy="5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79" name="Line 71"/>
              <p:cNvSpPr>
                <a:spLocks noChangeShapeType="1"/>
              </p:cNvSpPr>
              <p:nvPr/>
            </p:nvSpPr>
            <p:spPr bwMode="auto">
              <a:xfrm flipV="1">
                <a:off x="2388" y="1553"/>
                <a:ext cx="528" cy="5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80" name="Freeform 72"/>
              <p:cNvSpPr>
                <a:spLocks/>
              </p:cNvSpPr>
              <p:nvPr/>
            </p:nvSpPr>
            <p:spPr bwMode="auto">
              <a:xfrm>
                <a:off x="1985" y="1337"/>
                <a:ext cx="926" cy="218"/>
              </a:xfrm>
              <a:custGeom>
                <a:avLst/>
                <a:gdLst>
                  <a:gd name="T0" fmla="*/ 0 w 926"/>
                  <a:gd name="T1" fmla="*/ 218 h 218"/>
                  <a:gd name="T2" fmla="*/ 324 w 926"/>
                  <a:gd name="T3" fmla="*/ 0 h 218"/>
                  <a:gd name="T4" fmla="*/ 494 w 926"/>
                  <a:gd name="T5" fmla="*/ 0 h 218"/>
                  <a:gd name="T6" fmla="*/ 926 w 926"/>
                  <a:gd name="T7" fmla="*/ 218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26" h="218">
                    <a:moveTo>
                      <a:pt x="0" y="218"/>
                    </a:moveTo>
                    <a:lnTo>
                      <a:pt x="324" y="0"/>
                    </a:lnTo>
                    <a:lnTo>
                      <a:pt x="494" y="0"/>
                    </a:lnTo>
                    <a:lnTo>
                      <a:pt x="926" y="218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8681" name="Line 73"/>
            <p:cNvSpPr>
              <a:spLocks noChangeShapeType="1"/>
            </p:cNvSpPr>
            <p:nvPr/>
          </p:nvSpPr>
          <p:spPr bwMode="auto">
            <a:xfrm flipH="1">
              <a:off x="998" y="935"/>
              <a:ext cx="800" cy="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48682" name="Group 74"/>
          <p:cNvGrpSpPr>
            <a:grpSpLocks/>
          </p:cNvGrpSpPr>
          <p:nvPr/>
        </p:nvGrpSpPr>
        <p:grpSpPr bwMode="auto">
          <a:xfrm>
            <a:off x="6705600" y="1474788"/>
            <a:ext cx="2011363" cy="2159000"/>
            <a:chOff x="4224" y="929"/>
            <a:chExt cx="1267" cy="1360"/>
          </a:xfrm>
        </p:grpSpPr>
        <p:sp>
          <p:nvSpPr>
            <p:cNvPr id="1348683" name="Rectangle 75"/>
            <p:cNvSpPr>
              <a:spLocks noChangeArrowheads="1"/>
            </p:cNvSpPr>
            <p:nvPr/>
          </p:nvSpPr>
          <p:spPr bwMode="auto">
            <a:xfrm>
              <a:off x="4224" y="1518"/>
              <a:ext cx="726" cy="771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84" name="Line 76"/>
            <p:cNvSpPr>
              <a:spLocks noChangeAspect="1" noChangeShapeType="1"/>
            </p:cNvSpPr>
            <p:nvPr/>
          </p:nvSpPr>
          <p:spPr bwMode="auto">
            <a:xfrm rot="10800000" flipH="1">
              <a:off x="4377" y="1404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85" name="Line 77"/>
            <p:cNvSpPr>
              <a:spLocks noChangeAspect="1" noChangeShapeType="1"/>
            </p:cNvSpPr>
            <p:nvPr/>
          </p:nvSpPr>
          <p:spPr bwMode="auto">
            <a:xfrm>
              <a:off x="4583" y="1056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86" name="Text Box 78"/>
            <p:cNvSpPr txBox="1">
              <a:spLocks noChangeArrowheads="1"/>
            </p:cNvSpPr>
            <p:nvPr/>
          </p:nvSpPr>
          <p:spPr bwMode="auto">
            <a:xfrm>
              <a:off x="4821" y="1199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87" name="Text Box 79"/>
            <p:cNvSpPr txBox="1">
              <a:spLocks noChangeArrowheads="1"/>
            </p:cNvSpPr>
            <p:nvPr/>
          </p:nvSpPr>
          <p:spPr bwMode="auto">
            <a:xfrm>
              <a:off x="4586" y="929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88" name="Line 80"/>
            <p:cNvSpPr>
              <a:spLocks noChangeAspect="1" noChangeShapeType="1"/>
            </p:cNvSpPr>
            <p:nvPr/>
          </p:nvSpPr>
          <p:spPr bwMode="auto">
            <a:xfrm rot="10800000">
              <a:off x="5061" y="1646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89" name="Text Box 81"/>
            <p:cNvSpPr txBox="1">
              <a:spLocks noChangeArrowheads="1"/>
            </p:cNvSpPr>
            <p:nvPr/>
          </p:nvSpPr>
          <p:spPr bwMode="auto">
            <a:xfrm>
              <a:off x="5099" y="1473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48690" name="Line 82"/>
            <p:cNvSpPr>
              <a:spLocks noChangeAspect="1" noChangeShapeType="1"/>
            </p:cNvSpPr>
            <p:nvPr/>
          </p:nvSpPr>
          <p:spPr bwMode="auto">
            <a:xfrm flipH="1">
              <a:off x="4952" y="1935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48691" name="Text Box 83"/>
            <p:cNvSpPr txBox="1">
              <a:spLocks noChangeArrowheads="1"/>
            </p:cNvSpPr>
            <p:nvPr/>
          </p:nvSpPr>
          <p:spPr bwMode="auto">
            <a:xfrm>
              <a:off x="5195" y="1910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1348692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368171"/>
              </p:ext>
            </p:extLst>
          </p:nvPr>
        </p:nvGraphicFramePr>
        <p:xfrm>
          <a:off x="6916738" y="4216400"/>
          <a:ext cx="1884362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802" name="公式" r:id="rId3" imgW="812520" imgH="495000" progId="Equation.3">
                  <p:embed/>
                </p:oleObj>
              </mc:Choice>
              <mc:Fallback>
                <p:oleObj name="公式" r:id="rId3" imgW="812520" imgH="49500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738" y="4216400"/>
                        <a:ext cx="1884362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8693" name="Rectangle 85"/>
          <p:cNvSpPr>
            <a:spLocks noChangeArrowheads="1"/>
          </p:cNvSpPr>
          <p:nvPr/>
        </p:nvSpPr>
        <p:spPr bwMode="auto">
          <a:xfrm>
            <a:off x="539750" y="4214813"/>
            <a:ext cx="55689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 typeface="Wingdings" pitchFamily="2" charset="2"/>
              <a:buChar char="l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垂直于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轴断面的几何形状与应力状态相同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 typeface="Wingdings" pitchFamily="2" charset="2"/>
              <a:buChar char="l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沿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方向有足够长度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≧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10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 typeface="Wingdings" pitchFamily="2" charset="2"/>
              <a:buChar char="l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在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x, z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平面内可以变形，但在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方向没有变形</a:t>
            </a:r>
          </a:p>
        </p:txBody>
      </p:sp>
      <p:sp>
        <p:nvSpPr>
          <p:cNvPr id="1348694" name="AutoShape 86"/>
          <p:cNvSpPr>
            <a:spLocks noChangeArrowheads="1"/>
          </p:cNvSpPr>
          <p:nvPr/>
        </p:nvSpPr>
        <p:spPr bwMode="auto">
          <a:xfrm>
            <a:off x="6170613" y="4584700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8695" name="AutoShape 87"/>
          <p:cNvSpPr>
            <a:spLocks noChangeArrowheads="1"/>
          </p:cNvSpPr>
          <p:nvPr/>
        </p:nvSpPr>
        <p:spPr bwMode="auto">
          <a:xfrm>
            <a:off x="2209800" y="2520950"/>
            <a:ext cx="244475" cy="24447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8696" name="Line 88"/>
          <p:cNvSpPr>
            <a:spLocks noChangeShapeType="1"/>
          </p:cNvSpPr>
          <p:nvPr/>
        </p:nvSpPr>
        <p:spPr bwMode="auto">
          <a:xfrm>
            <a:off x="2324100" y="2706688"/>
            <a:ext cx="1455738" cy="220662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4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48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48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4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4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4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34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4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34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34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34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4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4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44" grpId="0" animBg="1"/>
      <p:bldP spid="1348693" grpId="0"/>
      <p:bldP spid="1348694" grpId="0" animBg="1"/>
      <p:bldP spid="1348695" grpId="0" animBg="1"/>
      <p:bldP spid="134869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63" name="Rectangle 31"/>
          <p:cNvSpPr>
            <a:spLocks noChangeArrowheads="1"/>
          </p:cNvSpPr>
          <p:nvPr/>
        </p:nvSpPr>
        <p:spPr bwMode="auto">
          <a:xfrm>
            <a:off x="2543175" y="5743575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49664" name="Text Box 32"/>
          <p:cNvSpPr txBox="1">
            <a:spLocks noChangeArrowheads="1"/>
          </p:cNvSpPr>
          <p:nvPr/>
        </p:nvSpPr>
        <p:spPr bwMode="auto">
          <a:xfrm>
            <a:off x="325438" y="760413"/>
            <a:ext cx="5640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</a:rPr>
              <a:t>二维应力状态（平面应变状态）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49665" name="Rectangle 33"/>
          <p:cNvSpPr>
            <a:spLocks noChangeArrowheads="1"/>
          </p:cNvSpPr>
          <p:nvPr/>
        </p:nvSpPr>
        <p:spPr bwMode="auto">
          <a:xfrm>
            <a:off x="400050" y="1646238"/>
            <a:ext cx="209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应变条件</a:t>
            </a:r>
          </a:p>
        </p:txBody>
      </p:sp>
      <p:sp>
        <p:nvSpPr>
          <p:cNvPr id="1349666" name="Rectangle 34"/>
          <p:cNvSpPr>
            <a:spLocks noChangeArrowheads="1"/>
          </p:cNvSpPr>
          <p:nvPr/>
        </p:nvSpPr>
        <p:spPr bwMode="auto">
          <a:xfrm>
            <a:off x="396875" y="3105150"/>
            <a:ext cx="209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应力条件</a:t>
            </a:r>
          </a:p>
        </p:txBody>
      </p:sp>
      <p:sp>
        <p:nvSpPr>
          <p:cNvPr id="1349667" name="Rectangle 35"/>
          <p:cNvSpPr>
            <a:spLocks noChangeArrowheads="1"/>
          </p:cNvSpPr>
          <p:nvPr/>
        </p:nvSpPr>
        <p:spPr bwMode="auto">
          <a:xfrm>
            <a:off x="382588" y="4667250"/>
            <a:ext cx="209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独立变量</a:t>
            </a:r>
          </a:p>
        </p:txBody>
      </p:sp>
      <p:graphicFrame>
        <p:nvGraphicFramePr>
          <p:cNvPr id="134966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897976"/>
              </p:ext>
            </p:extLst>
          </p:nvPr>
        </p:nvGraphicFramePr>
        <p:xfrm>
          <a:off x="2486024" y="2862263"/>
          <a:ext cx="3200400" cy="132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84" name="公式" r:id="rId3" imgW="1600200" imgH="660240" progId="Equation.3">
                  <p:embed/>
                </p:oleObj>
              </mc:Choice>
              <mc:Fallback>
                <p:oleObj name="公式" r:id="rId3" imgW="1600200" imgH="6602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4" y="2862263"/>
                        <a:ext cx="3200400" cy="1320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966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633199"/>
              </p:ext>
            </p:extLst>
          </p:nvPr>
        </p:nvGraphicFramePr>
        <p:xfrm>
          <a:off x="2552700" y="4700588"/>
          <a:ext cx="38347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85" name="公式" r:id="rId5" imgW="1917360" imgH="228600" progId="Equation.3">
                  <p:embed/>
                </p:oleObj>
              </mc:Choice>
              <mc:Fallback>
                <p:oleObj name="公式" r:id="rId5" imgW="1917360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700588"/>
                        <a:ext cx="383472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967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432795"/>
              </p:ext>
            </p:extLst>
          </p:nvPr>
        </p:nvGraphicFramePr>
        <p:xfrm>
          <a:off x="2559050" y="1579563"/>
          <a:ext cx="162504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86" name="公式" r:id="rId7" imgW="812520" imgH="495000" progId="Equation.3">
                  <p:embed/>
                </p:oleObj>
              </mc:Choice>
              <mc:Fallback>
                <p:oleObj name="公式" r:id="rId7" imgW="812520" imgH="4950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1579563"/>
                        <a:ext cx="162504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967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199979"/>
              </p:ext>
            </p:extLst>
          </p:nvPr>
        </p:nvGraphicFramePr>
        <p:xfrm>
          <a:off x="6081712" y="2922588"/>
          <a:ext cx="2640960" cy="142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87" name="公式" r:id="rId9" imgW="1320480" imgH="711000" progId="Equation.3">
                  <p:embed/>
                </p:oleObj>
              </mc:Choice>
              <mc:Fallback>
                <p:oleObj name="公式" r:id="rId9" imgW="1320480" imgH="711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2" y="2922588"/>
                        <a:ext cx="2640960" cy="142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967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338439"/>
              </p:ext>
            </p:extLst>
          </p:nvPr>
        </p:nvGraphicFramePr>
        <p:xfrm>
          <a:off x="6051550" y="1303337"/>
          <a:ext cx="2793600" cy="142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88" name="公式" r:id="rId11" imgW="1396800" imgH="711000" progId="Equation.3">
                  <p:embed/>
                </p:oleObj>
              </mc:Choice>
              <mc:Fallback>
                <p:oleObj name="公式" r:id="rId11" imgW="1396800" imgH="7110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550" y="1303337"/>
                        <a:ext cx="2793600" cy="142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49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49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4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49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49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49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49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49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49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49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4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34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34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4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49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49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49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49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9664" grpId="0"/>
      <p:bldP spid="1349665" grpId="0"/>
      <p:bldP spid="1349666" grpId="0"/>
      <p:bldP spid="13496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686" name="Rectangle 30"/>
          <p:cNvSpPr>
            <a:spLocks noChangeArrowheads="1"/>
          </p:cNvSpPr>
          <p:nvPr/>
        </p:nvSpPr>
        <p:spPr bwMode="auto">
          <a:xfrm>
            <a:off x="2543175" y="5743575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50687" name="Text Box 31"/>
          <p:cNvSpPr txBox="1">
            <a:spLocks noChangeArrowheads="1"/>
          </p:cNvSpPr>
          <p:nvPr/>
        </p:nvSpPr>
        <p:spPr bwMode="auto">
          <a:xfrm>
            <a:off x="407988" y="800100"/>
            <a:ext cx="844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 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</a:rPr>
              <a:t>侧限应力状态：指侧向应变为零的一种应力状态</a:t>
            </a:r>
            <a:endParaRPr lang="en-US" altLang="zh-CN" sz="2800" b="1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350689" name="Group 33"/>
          <p:cNvGrpSpPr>
            <a:grpSpLocks/>
          </p:cNvGrpSpPr>
          <p:nvPr/>
        </p:nvGrpSpPr>
        <p:grpSpPr bwMode="auto">
          <a:xfrm>
            <a:off x="4892675" y="1666875"/>
            <a:ext cx="4006850" cy="2797175"/>
            <a:chOff x="3082" y="990"/>
            <a:chExt cx="2524" cy="1762"/>
          </a:xfrm>
        </p:grpSpPr>
        <p:sp>
          <p:nvSpPr>
            <p:cNvPr id="1350690" name="Rectangle 34"/>
            <p:cNvSpPr>
              <a:spLocks noChangeArrowheads="1"/>
            </p:cNvSpPr>
            <p:nvPr/>
          </p:nvSpPr>
          <p:spPr bwMode="auto">
            <a:xfrm>
              <a:off x="3082" y="990"/>
              <a:ext cx="2524" cy="176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0691" name="Text Box 35"/>
            <p:cNvSpPr txBox="1">
              <a:spLocks noChangeArrowheads="1"/>
            </p:cNvSpPr>
            <p:nvPr/>
          </p:nvSpPr>
          <p:spPr bwMode="auto">
            <a:xfrm>
              <a:off x="3283" y="1892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</a:p>
          </p:txBody>
        </p:sp>
        <p:sp>
          <p:nvSpPr>
            <p:cNvPr id="1350692" name="Text Box 36"/>
            <p:cNvSpPr txBox="1">
              <a:spLocks noChangeArrowheads="1"/>
            </p:cNvSpPr>
            <p:nvPr/>
          </p:nvSpPr>
          <p:spPr bwMode="auto">
            <a:xfrm>
              <a:off x="5255" y="1159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1350693" name="Text Box 37"/>
            <p:cNvSpPr txBox="1">
              <a:spLocks noChangeArrowheads="1"/>
            </p:cNvSpPr>
            <p:nvPr/>
          </p:nvSpPr>
          <p:spPr bwMode="auto">
            <a:xfrm>
              <a:off x="4119" y="1180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o</a:t>
              </a:r>
            </a:p>
          </p:txBody>
        </p:sp>
        <p:sp>
          <p:nvSpPr>
            <p:cNvPr id="1350694" name="AutoShape 38"/>
            <p:cNvSpPr>
              <a:spLocks noChangeArrowheads="1"/>
            </p:cNvSpPr>
            <p:nvPr/>
          </p:nvSpPr>
          <p:spPr bwMode="auto">
            <a:xfrm>
              <a:off x="3547" y="1452"/>
              <a:ext cx="1833" cy="1152"/>
            </a:xfrm>
            <a:prstGeom prst="cube">
              <a:avLst>
                <a:gd name="adj" fmla="val 4804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0695" name="Line 39"/>
            <p:cNvSpPr>
              <a:spLocks noChangeShapeType="1"/>
            </p:cNvSpPr>
            <p:nvPr/>
          </p:nvSpPr>
          <p:spPr bwMode="auto">
            <a:xfrm>
              <a:off x="4100" y="1451"/>
              <a:ext cx="13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0696" name="Line 40"/>
            <p:cNvSpPr>
              <a:spLocks noChangeShapeType="1"/>
            </p:cNvSpPr>
            <p:nvPr/>
          </p:nvSpPr>
          <p:spPr bwMode="auto">
            <a:xfrm flipH="1">
              <a:off x="3399" y="1451"/>
              <a:ext cx="701" cy="7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0697" name="Line 41"/>
            <p:cNvSpPr>
              <a:spLocks noChangeShapeType="1"/>
            </p:cNvSpPr>
            <p:nvPr/>
          </p:nvSpPr>
          <p:spPr bwMode="auto">
            <a:xfrm>
              <a:off x="4097" y="1451"/>
              <a:ext cx="0" cy="7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0698" name="Text Box 42"/>
            <p:cNvSpPr txBox="1">
              <a:spLocks noChangeArrowheads="1"/>
            </p:cNvSpPr>
            <p:nvPr/>
          </p:nvSpPr>
          <p:spPr bwMode="auto">
            <a:xfrm>
              <a:off x="3952" y="2119"/>
              <a:ext cx="9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</a:p>
          </p:txBody>
        </p:sp>
        <p:sp>
          <p:nvSpPr>
            <p:cNvPr id="1350699" name="Line 43"/>
            <p:cNvSpPr>
              <a:spLocks noChangeShapeType="1"/>
            </p:cNvSpPr>
            <p:nvPr/>
          </p:nvSpPr>
          <p:spPr bwMode="auto">
            <a:xfrm>
              <a:off x="4546" y="1366"/>
              <a:ext cx="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0700" name="Line 44"/>
            <p:cNvSpPr>
              <a:spLocks noChangeShapeType="1"/>
            </p:cNvSpPr>
            <p:nvPr/>
          </p:nvSpPr>
          <p:spPr bwMode="auto">
            <a:xfrm flipH="1">
              <a:off x="3586" y="1567"/>
              <a:ext cx="259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0701" name="Text Box 45"/>
            <p:cNvSpPr txBox="1">
              <a:spLocks noChangeArrowheads="1"/>
            </p:cNvSpPr>
            <p:nvPr/>
          </p:nvSpPr>
          <p:spPr bwMode="auto">
            <a:xfrm>
              <a:off x="4698" y="1098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350702" name="Text Box 46"/>
            <p:cNvSpPr txBox="1">
              <a:spLocks noChangeArrowheads="1"/>
            </p:cNvSpPr>
            <p:nvPr/>
          </p:nvSpPr>
          <p:spPr bwMode="auto">
            <a:xfrm rot="-2572867">
              <a:off x="3462" y="1476"/>
              <a:ext cx="2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1350703" name="Rectangle 47"/>
          <p:cNvSpPr>
            <a:spLocks noChangeArrowheads="1"/>
          </p:cNvSpPr>
          <p:nvPr/>
        </p:nvSpPr>
        <p:spPr bwMode="auto">
          <a:xfrm>
            <a:off x="577850" y="1512888"/>
            <a:ext cx="4148138" cy="305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65125" indent="-365125">
              <a:lnSpc>
                <a:spcPct val="120000"/>
              </a:lnSpc>
              <a:buClr>
                <a:srgbClr val="A50021"/>
              </a:buClr>
              <a:buSzPct val="135000"/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水平地基半无限空间体</a:t>
            </a:r>
          </a:p>
          <a:p>
            <a:pPr marL="365125" indent="-365125">
              <a:lnSpc>
                <a:spcPct val="120000"/>
              </a:lnSpc>
              <a:buClr>
                <a:srgbClr val="A50021"/>
              </a:buClr>
              <a:buSzPct val="135000"/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半无限弹性地基内的自重应力只与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有关</a:t>
            </a:r>
          </a:p>
          <a:p>
            <a:pPr marL="365125" indent="-365125">
              <a:lnSpc>
                <a:spcPct val="120000"/>
              </a:lnSpc>
              <a:buClr>
                <a:srgbClr val="A50021"/>
              </a:buClr>
              <a:buSzPct val="135000"/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土质点或土单元不可能有侧向位移侧限应变条件</a:t>
            </a:r>
          </a:p>
          <a:p>
            <a:pPr marL="365125" indent="-365125">
              <a:lnSpc>
                <a:spcPct val="120000"/>
              </a:lnSpc>
              <a:buClr>
                <a:srgbClr val="A50021"/>
              </a:buClr>
              <a:buSzPct val="135000"/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任何竖直面都是对称面</a:t>
            </a:r>
          </a:p>
        </p:txBody>
      </p:sp>
      <p:sp>
        <p:nvSpPr>
          <p:cNvPr id="1350704" name="Rectangle 48"/>
          <p:cNvSpPr>
            <a:spLocks noChangeArrowheads="1"/>
          </p:cNvSpPr>
          <p:nvPr/>
        </p:nvSpPr>
        <p:spPr bwMode="auto">
          <a:xfrm>
            <a:off x="2617788" y="4933950"/>
            <a:ext cx="1719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应变条件</a:t>
            </a:r>
          </a:p>
        </p:txBody>
      </p:sp>
      <p:graphicFrame>
        <p:nvGraphicFramePr>
          <p:cNvPr id="135070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344895"/>
              </p:ext>
            </p:extLst>
          </p:nvPr>
        </p:nvGraphicFramePr>
        <p:xfrm>
          <a:off x="4535488" y="4660900"/>
          <a:ext cx="228600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10" name="公式" r:id="rId3" imgW="1143000" imgH="495000" progId="Equation.3">
                  <p:embed/>
                </p:oleObj>
              </mc:Choice>
              <mc:Fallback>
                <p:oleObj name="公式" r:id="rId3" imgW="1143000" imgH="495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4660900"/>
                        <a:ext cx="228600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0706" name="AutoShape 50"/>
          <p:cNvSpPr>
            <a:spLocks noChangeArrowheads="1"/>
          </p:cNvSpPr>
          <p:nvPr/>
        </p:nvSpPr>
        <p:spPr bwMode="auto">
          <a:xfrm>
            <a:off x="1935163" y="5032375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50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50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5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0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50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50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50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5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50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0687" grpId="0"/>
      <p:bldP spid="1350703" grpId="0" build="p" autoUpdateAnimBg="0"/>
      <p:bldP spid="1350704" grpId="0" build="p" autoUpdateAnimBg="0" advAuto="0"/>
      <p:bldP spid="13507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8" name="Rectangle 138"/>
          <p:cNvSpPr>
            <a:spLocks noChangeArrowheads="1"/>
          </p:cNvSpPr>
          <p:nvPr/>
        </p:nvSpPr>
        <p:spPr bwMode="auto">
          <a:xfrm>
            <a:off x="2543175" y="5743575"/>
            <a:ext cx="6018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地基中的应力状态（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351819" name="Text Box 139"/>
          <p:cNvSpPr txBox="1">
            <a:spLocks noChangeArrowheads="1"/>
          </p:cNvSpPr>
          <p:nvPr/>
        </p:nvSpPr>
        <p:spPr bwMode="auto">
          <a:xfrm>
            <a:off x="269759" y="667411"/>
            <a:ext cx="844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 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</a:rPr>
              <a:t>侧限应力状态：侧向应变为零的一种应力状态</a:t>
            </a:r>
            <a:endParaRPr lang="en-US" altLang="zh-CN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51820" name="Rectangle 140"/>
          <p:cNvSpPr>
            <a:spLocks noChangeArrowheads="1"/>
          </p:cNvSpPr>
          <p:nvPr/>
        </p:nvSpPr>
        <p:spPr bwMode="auto">
          <a:xfrm>
            <a:off x="304800" y="1646238"/>
            <a:ext cx="209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应变条件</a:t>
            </a:r>
          </a:p>
        </p:txBody>
      </p:sp>
      <p:sp>
        <p:nvSpPr>
          <p:cNvPr id="1351821" name="Rectangle 141"/>
          <p:cNvSpPr>
            <a:spLocks noChangeArrowheads="1"/>
          </p:cNvSpPr>
          <p:nvPr/>
        </p:nvSpPr>
        <p:spPr bwMode="auto">
          <a:xfrm>
            <a:off x="301625" y="3168287"/>
            <a:ext cx="209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应力条件</a:t>
            </a:r>
          </a:p>
        </p:txBody>
      </p:sp>
      <p:sp>
        <p:nvSpPr>
          <p:cNvPr id="1351822" name="Rectangle 142"/>
          <p:cNvSpPr>
            <a:spLocks noChangeArrowheads="1"/>
          </p:cNvSpPr>
          <p:nvPr/>
        </p:nvSpPr>
        <p:spPr bwMode="auto">
          <a:xfrm>
            <a:off x="287338" y="4861670"/>
            <a:ext cx="209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kumimoji="1" lang="zh-CN" altLang="en-US" sz="28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独立变量</a:t>
            </a:r>
          </a:p>
        </p:txBody>
      </p:sp>
      <p:graphicFrame>
        <p:nvGraphicFramePr>
          <p:cNvPr id="1351823" name="Object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60924"/>
              </p:ext>
            </p:extLst>
          </p:nvPr>
        </p:nvGraphicFramePr>
        <p:xfrm>
          <a:off x="2609850" y="4926013"/>
          <a:ext cx="190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42" name="公式" r:id="rId3" imgW="952200" imgH="215640" progId="Equation.3">
                  <p:embed/>
                </p:oleObj>
              </mc:Choice>
              <mc:Fallback>
                <p:oleObj name="公式" r:id="rId3" imgW="952200" imgH="215640" progId="Equation.3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4926013"/>
                        <a:ext cx="190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4" name="Object 1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278356"/>
              </p:ext>
            </p:extLst>
          </p:nvPr>
        </p:nvGraphicFramePr>
        <p:xfrm>
          <a:off x="6518274" y="2897965"/>
          <a:ext cx="2514240" cy="139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43" name="公式" r:id="rId5" imgW="1257120" imgH="698400" progId="Equation.3">
                  <p:embed/>
                </p:oleObj>
              </mc:Choice>
              <mc:Fallback>
                <p:oleObj name="公式" r:id="rId5" imgW="1257120" imgH="698400" progId="Equation.3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4" y="2897965"/>
                        <a:ext cx="2514240" cy="139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5" name="Object 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414142"/>
              </p:ext>
            </p:extLst>
          </p:nvPr>
        </p:nvGraphicFramePr>
        <p:xfrm>
          <a:off x="6527800" y="1343803"/>
          <a:ext cx="2082240" cy="139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44" name="公式" r:id="rId7" imgW="1041120" imgH="698400" progId="Equation.3">
                  <p:embed/>
                </p:oleObj>
              </mc:Choice>
              <mc:Fallback>
                <p:oleObj name="公式" r:id="rId7" imgW="1041120" imgH="698400" progId="Equation.3">
                  <p:embed/>
                  <p:pic>
                    <p:nvPicPr>
                      <p:cNvPr id="0" name="Object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343803"/>
                        <a:ext cx="2082240" cy="139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6" name="Object 1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861027"/>
              </p:ext>
            </p:extLst>
          </p:nvPr>
        </p:nvGraphicFramePr>
        <p:xfrm>
          <a:off x="2593975" y="1277938"/>
          <a:ext cx="2286000" cy="9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45" name="公式" r:id="rId9" imgW="1143000" imgH="495000" progId="Equation.3">
                  <p:embed/>
                </p:oleObj>
              </mc:Choice>
              <mc:Fallback>
                <p:oleObj name="公式" r:id="rId9" imgW="1143000" imgH="495000" progId="Equation.3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1277938"/>
                        <a:ext cx="2286000" cy="9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27" name="Object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453274"/>
              </p:ext>
            </p:extLst>
          </p:nvPr>
        </p:nvGraphicFramePr>
        <p:xfrm>
          <a:off x="2606675" y="2599962"/>
          <a:ext cx="32258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46" name="公式" r:id="rId11" imgW="1612800" imgH="1028520" progId="Equation.3">
                  <p:embed/>
                </p:oleObj>
              </mc:Choice>
              <mc:Fallback>
                <p:oleObj name="公式" r:id="rId11" imgW="1612800" imgH="1028520" progId="Equation.3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2599962"/>
                        <a:ext cx="32258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51828" name="Group 148"/>
          <p:cNvGrpSpPr>
            <a:grpSpLocks/>
          </p:cNvGrpSpPr>
          <p:nvPr/>
        </p:nvGrpSpPr>
        <p:grpSpPr bwMode="auto">
          <a:xfrm>
            <a:off x="5326063" y="4527187"/>
            <a:ext cx="2798762" cy="554038"/>
            <a:chOff x="3427" y="2746"/>
            <a:chExt cx="1763" cy="349"/>
          </a:xfrm>
        </p:grpSpPr>
        <p:sp>
          <p:nvSpPr>
            <p:cNvPr id="1351829" name="Freeform 149"/>
            <p:cNvSpPr>
              <a:spLocks/>
            </p:cNvSpPr>
            <p:nvPr/>
          </p:nvSpPr>
          <p:spPr bwMode="auto">
            <a:xfrm>
              <a:off x="3427" y="2746"/>
              <a:ext cx="509" cy="211"/>
            </a:xfrm>
            <a:custGeom>
              <a:avLst/>
              <a:gdLst>
                <a:gd name="T0" fmla="*/ 0 w 509"/>
                <a:gd name="T1" fmla="*/ 0 h 192"/>
                <a:gd name="T2" fmla="*/ 0 w 509"/>
                <a:gd name="T3" fmla="*/ 192 h 192"/>
                <a:gd name="T4" fmla="*/ 509 w 509"/>
                <a:gd name="T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9" h="192">
                  <a:moveTo>
                    <a:pt x="0" y="0"/>
                  </a:moveTo>
                  <a:lnTo>
                    <a:pt x="0" y="192"/>
                  </a:lnTo>
                  <a:lnTo>
                    <a:pt x="509" y="192"/>
                  </a:ln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830" name="Text Box 150"/>
            <p:cNvSpPr txBox="1">
              <a:spLocks noChangeArrowheads="1"/>
            </p:cNvSpPr>
            <p:nvPr/>
          </p:nvSpPr>
          <p:spPr bwMode="auto">
            <a:xfrm>
              <a:off x="4013" y="2807"/>
              <a:ext cx="11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A50021"/>
                  </a:solidFill>
                  <a:ea typeface="幼圆" pitchFamily="49" charset="-122"/>
                </a:rPr>
                <a:t>侧压力系数</a:t>
              </a:r>
              <a:endParaRPr lang="en-US" altLang="zh-CN" sz="2400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</p:grpSp>
      <p:sp>
        <p:nvSpPr>
          <p:cNvPr id="1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51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51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5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351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51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5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51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351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5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5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51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51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51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51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19" grpId="0"/>
      <p:bldP spid="1351820" grpId="0"/>
      <p:bldP spid="1351821" grpId="0"/>
      <p:bldP spid="13518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751" name="Rectangle 47"/>
          <p:cNvSpPr>
            <a:spLocks noChangeArrowheads="1"/>
          </p:cNvSpPr>
          <p:nvPr/>
        </p:nvSpPr>
        <p:spPr bwMode="auto">
          <a:xfrm>
            <a:off x="1058863" y="3714750"/>
            <a:ext cx="3446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E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、</a:t>
            </a:r>
            <a:r>
              <a:rPr kumimoji="1" lang="zh-CN" altLang="en-US" sz="2400" b="1" i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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与位置和方向无关</a:t>
            </a:r>
          </a:p>
        </p:txBody>
      </p:sp>
      <p:sp>
        <p:nvSpPr>
          <p:cNvPr id="1352752" name="Rectangle 48"/>
          <p:cNvSpPr>
            <a:spLocks noChangeArrowheads="1"/>
          </p:cNvSpPr>
          <p:nvPr/>
        </p:nvSpPr>
        <p:spPr bwMode="auto">
          <a:xfrm>
            <a:off x="1511300" y="4559300"/>
            <a:ext cx="712628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理论：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弹性力学解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求解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/>
                <a:ea typeface="幼圆" pitchFamily="49" charset="-122"/>
              </a:rPr>
              <a:t>“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弹性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/>
                <a:ea typeface="幼圆" pitchFamily="49" charset="-122"/>
              </a:rPr>
              <a:t>”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土体中的应力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方法：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解析方法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优点：简单，易于绘成图表等</a:t>
            </a:r>
          </a:p>
        </p:txBody>
      </p:sp>
      <p:sp>
        <p:nvSpPr>
          <p:cNvPr id="1352753" name="Text Box 49"/>
          <p:cNvSpPr txBox="1">
            <a:spLocks noChangeArrowheads="1"/>
          </p:cNvSpPr>
          <p:nvPr/>
        </p:nvSpPr>
        <p:spPr bwMode="auto">
          <a:xfrm>
            <a:off x="388938" y="868363"/>
            <a:ext cx="950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碎散体</a:t>
            </a:r>
          </a:p>
        </p:txBody>
      </p:sp>
      <p:sp>
        <p:nvSpPr>
          <p:cNvPr id="1352754" name="Text Box 50"/>
          <p:cNvSpPr txBox="1">
            <a:spLocks noChangeArrowheads="1"/>
          </p:cNvSpPr>
          <p:nvPr/>
        </p:nvSpPr>
        <p:spPr bwMode="auto">
          <a:xfrm>
            <a:off x="392113" y="1617663"/>
            <a:ext cx="95091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非线性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弹塑性</a:t>
            </a:r>
          </a:p>
        </p:txBody>
      </p:sp>
      <p:sp>
        <p:nvSpPr>
          <p:cNvPr id="1352755" name="Text Box 51"/>
          <p:cNvSpPr txBox="1">
            <a:spLocks noChangeArrowheads="1"/>
          </p:cNvSpPr>
          <p:nvPr/>
        </p:nvSpPr>
        <p:spPr bwMode="auto">
          <a:xfrm>
            <a:off x="203200" y="2601913"/>
            <a:ext cx="129698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成层土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各向异性</a:t>
            </a:r>
          </a:p>
        </p:txBody>
      </p:sp>
      <p:sp>
        <p:nvSpPr>
          <p:cNvPr id="1352756" name="Text Box 52"/>
          <p:cNvSpPr txBox="1">
            <a:spLocks noChangeArrowheads="1"/>
          </p:cNvSpPr>
          <p:nvPr/>
        </p:nvSpPr>
        <p:spPr bwMode="auto">
          <a:xfrm>
            <a:off x="1838325" y="5768975"/>
            <a:ext cx="65341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应力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计算中对土的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基本假定</a:t>
            </a:r>
          </a:p>
        </p:txBody>
      </p:sp>
      <p:grpSp>
        <p:nvGrpSpPr>
          <p:cNvPr id="1352758" name="Group 54"/>
          <p:cNvGrpSpPr>
            <a:grpSpLocks/>
          </p:cNvGrpSpPr>
          <p:nvPr/>
        </p:nvGrpSpPr>
        <p:grpSpPr bwMode="auto">
          <a:xfrm>
            <a:off x="4971256" y="723901"/>
            <a:ext cx="4010025" cy="3700463"/>
            <a:chOff x="3199" y="474"/>
            <a:chExt cx="2526" cy="2331"/>
          </a:xfrm>
        </p:grpSpPr>
        <p:sp>
          <p:nvSpPr>
            <p:cNvPr id="1352759" name="Rectangle 55"/>
            <p:cNvSpPr>
              <a:spLocks noChangeArrowheads="1"/>
            </p:cNvSpPr>
            <p:nvPr/>
          </p:nvSpPr>
          <p:spPr bwMode="auto">
            <a:xfrm>
              <a:off x="3199" y="474"/>
              <a:ext cx="2526" cy="23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760" name="Freeform 56"/>
            <p:cNvSpPr>
              <a:spLocks/>
            </p:cNvSpPr>
            <p:nvPr/>
          </p:nvSpPr>
          <p:spPr bwMode="auto">
            <a:xfrm>
              <a:off x="3333" y="959"/>
              <a:ext cx="2061" cy="1474"/>
            </a:xfrm>
            <a:custGeom>
              <a:avLst/>
              <a:gdLst>
                <a:gd name="T0" fmla="*/ 0 w 1217"/>
                <a:gd name="T1" fmla="*/ 909 h 909"/>
                <a:gd name="T2" fmla="*/ 155 w 1217"/>
                <a:gd name="T3" fmla="*/ 657 h 909"/>
                <a:gd name="T4" fmla="*/ 333 w 1217"/>
                <a:gd name="T5" fmla="*/ 430 h 909"/>
                <a:gd name="T6" fmla="*/ 544 w 1217"/>
                <a:gd name="T7" fmla="*/ 260 h 909"/>
                <a:gd name="T8" fmla="*/ 771 w 1217"/>
                <a:gd name="T9" fmla="*/ 138 h 909"/>
                <a:gd name="T10" fmla="*/ 998 w 1217"/>
                <a:gd name="T11" fmla="*/ 49 h 909"/>
                <a:gd name="T12" fmla="*/ 1217 w 1217"/>
                <a:gd name="T13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7" h="909">
                  <a:moveTo>
                    <a:pt x="0" y="909"/>
                  </a:moveTo>
                  <a:cubicBezTo>
                    <a:pt x="26" y="867"/>
                    <a:pt x="99" y="737"/>
                    <a:pt x="155" y="657"/>
                  </a:cubicBezTo>
                  <a:cubicBezTo>
                    <a:pt x="211" y="577"/>
                    <a:pt x="268" y="496"/>
                    <a:pt x="333" y="430"/>
                  </a:cubicBezTo>
                  <a:cubicBezTo>
                    <a:pt x="398" y="364"/>
                    <a:pt x="471" y="309"/>
                    <a:pt x="544" y="260"/>
                  </a:cubicBezTo>
                  <a:cubicBezTo>
                    <a:pt x="617" y="211"/>
                    <a:pt x="695" y="173"/>
                    <a:pt x="771" y="138"/>
                  </a:cubicBezTo>
                  <a:cubicBezTo>
                    <a:pt x="847" y="103"/>
                    <a:pt x="924" y="72"/>
                    <a:pt x="998" y="49"/>
                  </a:cubicBezTo>
                  <a:cubicBezTo>
                    <a:pt x="1072" y="26"/>
                    <a:pt x="1172" y="10"/>
                    <a:pt x="1217" y="0"/>
                  </a:cubicBezTo>
                </a:path>
              </a:pathLst>
            </a:custGeom>
            <a:noFill/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61" name="Freeform 57"/>
            <p:cNvSpPr>
              <a:spLocks/>
            </p:cNvSpPr>
            <p:nvPr/>
          </p:nvSpPr>
          <p:spPr bwMode="auto">
            <a:xfrm>
              <a:off x="3323" y="643"/>
              <a:ext cx="1130" cy="1788"/>
            </a:xfrm>
            <a:custGeom>
              <a:avLst/>
              <a:gdLst>
                <a:gd name="T0" fmla="*/ 0 w 761"/>
                <a:gd name="T1" fmla="*/ 1257 h 1257"/>
                <a:gd name="T2" fmla="*/ 761 w 761"/>
                <a:gd name="T3" fmla="*/ 0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1" h="1257">
                  <a:moveTo>
                    <a:pt x="0" y="1257"/>
                  </a:moveTo>
                  <a:lnTo>
                    <a:pt x="761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62" name="Freeform 58"/>
            <p:cNvSpPr>
              <a:spLocks/>
            </p:cNvSpPr>
            <p:nvPr/>
          </p:nvSpPr>
          <p:spPr bwMode="auto">
            <a:xfrm>
              <a:off x="4309" y="1129"/>
              <a:ext cx="473" cy="1291"/>
            </a:xfrm>
            <a:custGeom>
              <a:avLst/>
              <a:gdLst>
                <a:gd name="T0" fmla="*/ 280 w 280"/>
                <a:gd name="T1" fmla="*/ 0 h 796"/>
                <a:gd name="T2" fmla="*/ 0 w 280"/>
                <a:gd name="T3" fmla="*/ 796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0" h="796">
                  <a:moveTo>
                    <a:pt x="280" y="0"/>
                  </a:moveTo>
                  <a:lnTo>
                    <a:pt x="0" y="796"/>
                  </a:lnTo>
                </a:path>
              </a:pathLst>
            </a:custGeom>
            <a:noFill/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63" name="Line 59"/>
            <p:cNvSpPr>
              <a:spLocks noChangeShapeType="1"/>
            </p:cNvSpPr>
            <p:nvPr/>
          </p:nvSpPr>
          <p:spPr bwMode="auto">
            <a:xfrm>
              <a:off x="4782" y="1129"/>
              <a:ext cx="0" cy="1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64" name="Line 60"/>
            <p:cNvSpPr>
              <a:spLocks noChangeShapeType="1"/>
            </p:cNvSpPr>
            <p:nvPr/>
          </p:nvSpPr>
          <p:spPr bwMode="auto">
            <a:xfrm>
              <a:off x="4785" y="2488"/>
              <a:ext cx="0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65" name="Text Box 61"/>
            <p:cNvSpPr txBox="1">
              <a:spLocks noChangeArrowheads="1"/>
            </p:cNvSpPr>
            <p:nvPr/>
          </p:nvSpPr>
          <p:spPr bwMode="auto">
            <a:xfrm>
              <a:off x="3333" y="499"/>
              <a:ext cx="42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800" b="1" dirty="0">
                  <a:solidFill>
                    <a:srgbClr val="000066"/>
                  </a:solidFill>
                  <a:ea typeface="宋体-方正超大字符集" pitchFamily="65" charset="-122"/>
                  <a:sym typeface="Symbol" pitchFamily="18" charset="2"/>
                </a:rPr>
                <a:t></a:t>
              </a:r>
              <a:r>
                <a:rPr kumimoji="1" lang="el-GR" altLang="zh-CN" sz="2800" b="1" i="1" dirty="0">
                  <a:solidFill>
                    <a:srgbClr val="000066"/>
                  </a:solidFill>
                  <a:ea typeface="宋体-方正超大字符集" pitchFamily="65" charset="-122"/>
                  <a:sym typeface="Symbol" pitchFamily="18" charset="2"/>
                </a:rPr>
                <a:t></a:t>
              </a:r>
            </a:p>
          </p:txBody>
        </p:sp>
        <p:sp>
          <p:nvSpPr>
            <p:cNvPr id="1352766" name="Text Box 62"/>
            <p:cNvSpPr txBox="1">
              <a:spLocks noChangeArrowheads="1"/>
            </p:cNvSpPr>
            <p:nvPr/>
          </p:nvSpPr>
          <p:spPr bwMode="auto">
            <a:xfrm>
              <a:off x="5468" y="2450"/>
              <a:ext cx="16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800" b="1" i="1" dirty="0">
                  <a:solidFill>
                    <a:srgbClr val="000066"/>
                  </a:solidFill>
                  <a:ea typeface="宋体-方正超大字符集" pitchFamily="65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</a:p>
          </p:txBody>
        </p:sp>
        <p:sp>
          <p:nvSpPr>
            <p:cNvPr id="1352767" name="Text Box 63"/>
            <p:cNvSpPr txBox="1">
              <a:spLocks noChangeArrowheads="1"/>
            </p:cNvSpPr>
            <p:nvPr/>
          </p:nvSpPr>
          <p:spPr bwMode="auto">
            <a:xfrm>
              <a:off x="3766" y="2417"/>
              <a:ext cx="24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800" b="1" i="1" dirty="0">
                  <a:solidFill>
                    <a:srgbClr val="000066"/>
                  </a:solidFill>
                  <a:ea typeface="宋体-方正超大字符集" pitchFamily="65" charset="-122"/>
                  <a:cs typeface="Times New Roman" panose="02020603050405020304" pitchFamily="18" charset="0"/>
                  <a:sym typeface="Symbol" pitchFamily="18" charset="2"/>
                </a:rPr>
                <a:t>ε</a:t>
              </a:r>
              <a:r>
                <a:rPr kumimoji="1" lang="en-US" altLang="zh-CN" sz="2800" b="1" i="1" baseline="30000" dirty="0">
                  <a:solidFill>
                    <a:srgbClr val="000066"/>
                  </a:solidFill>
                  <a:ea typeface="宋体-方正超大字符集" pitchFamily="65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el-GR" altLang="zh-CN" sz="2800" b="1" i="1" baseline="30000" dirty="0">
                <a:solidFill>
                  <a:srgbClr val="000066"/>
                </a:solidFill>
                <a:ea typeface="宋体-方正超大字符集" pitchFamily="65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2768" name="Text Box 64"/>
            <p:cNvSpPr txBox="1">
              <a:spLocks noChangeArrowheads="1"/>
            </p:cNvSpPr>
            <p:nvPr/>
          </p:nvSpPr>
          <p:spPr bwMode="auto">
            <a:xfrm>
              <a:off x="4459" y="2421"/>
              <a:ext cx="20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800" b="1" i="1" dirty="0">
                  <a:solidFill>
                    <a:srgbClr val="000066"/>
                  </a:solidFill>
                  <a:ea typeface="宋体-方正超大字符集" pitchFamily="65" charset="-122"/>
                  <a:cs typeface="Times New Roman" panose="02020603050405020304" pitchFamily="18" charset="0"/>
                  <a:sym typeface="Symbol" pitchFamily="18" charset="2"/>
                </a:rPr>
                <a:t>ε</a:t>
              </a:r>
              <a:r>
                <a:rPr kumimoji="1" lang="en-US" altLang="zh-CN" sz="2800" b="1" i="1" baseline="30000" dirty="0">
                  <a:solidFill>
                    <a:srgbClr val="000066"/>
                  </a:solidFill>
                  <a:ea typeface="宋体-方正超大字符集" pitchFamily="65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kumimoji="1" lang="el-GR" altLang="zh-CN" sz="2800" b="1" i="1" baseline="30000" dirty="0">
                <a:solidFill>
                  <a:srgbClr val="000066"/>
                </a:solidFill>
                <a:ea typeface="宋体-方正超大字符集" pitchFamily="65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2769" name="Text Box 65"/>
            <p:cNvSpPr txBox="1">
              <a:spLocks noChangeArrowheads="1"/>
            </p:cNvSpPr>
            <p:nvPr/>
          </p:nvSpPr>
          <p:spPr bwMode="auto">
            <a:xfrm>
              <a:off x="4883" y="758"/>
              <a:ext cx="37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加载</a:t>
              </a:r>
            </a:p>
          </p:txBody>
        </p:sp>
        <p:sp>
          <p:nvSpPr>
            <p:cNvPr id="1352770" name="Text Box 66"/>
            <p:cNvSpPr txBox="1">
              <a:spLocks noChangeArrowheads="1"/>
            </p:cNvSpPr>
            <p:nvPr/>
          </p:nvSpPr>
          <p:spPr bwMode="auto">
            <a:xfrm>
              <a:off x="4081" y="1685"/>
              <a:ext cx="40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卸载</a:t>
              </a:r>
            </a:p>
          </p:txBody>
        </p:sp>
        <p:sp>
          <p:nvSpPr>
            <p:cNvPr id="1352771" name="Freeform 67"/>
            <p:cNvSpPr>
              <a:spLocks/>
            </p:cNvSpPr>
            <p:nvPr/>
          </p:nvSpPr>
          <p:spPr bwMode="auto">
            <a:xfrm>
              <a:off x="3325" y="576"/>
              <a:ext cx="2307" cy="1853"/>
            </a:xfrm>
            <a:custGeom>
              <a:avLst/>
              <a:gdLst>
                <a:gd name="T0" fmla="*/ 0 w 2767"/>
                <a:gd name="T1" fmla="*/ 0 h 2087"/>
                <a:gd name="T2" fmla="*/ 0 w 2767"/>
                <a:gd name="T3" fmla="*/ 2087 h 2087"/>
                <a:gd name="T4" fmla="*/ 2767 w 2767"/>
                <a:gd name="T5" fmla="*/ 2087 h 2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67" h="2087">
                  <a:moveTo>
                    <a:pt x="0" y="0"/>
                  </a:moveTo>
                  <a:lnTo>
                    <a:pt x="0" y="2087"/>
                  </a:lnTo>
                  <a:lnTo>
                    <a:pt x="2767" y="208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772" name="Text Box 68"/>
            <p:cNvSpPr txBox="1">
              <a:spLocks noChangeArrowheads="1"/>
            </p:cNvSpPr>
            <p:nvPr/>
          </p:nvSpPr>
          <p:spPr bwMode="auto">
            <a:xfrm>
              <a:off x="3434" y="949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Arial" charset="0"/>
                  <a:ea typeface="幼圆" pitchFamily="49" charset="-122"/>
                  <a:sym typeface="Symbol" pitchFamily="18" charset="2"/>
                </a:rPr>
                <a:t>线弹性</a:t>
              </a:r>
            </a:p>
          </p:txBody>
        </p:sp>
        <p:sp>
          <p:nvSpPr>
            <p:cNvPr id="1352773" name="Line 69"/>
            <p:cNvSpPr>
              <a:spLocks noChangeShapeType="1"/>
            </p:cNvSpPr>
            <p:nvPr/>
          </p:nvSpPr>
          <p:spPr bwMode="auto">
            <a:xfrm flipH="1" flipV="1">
              <a:off x="3677" y="1178"/>
              <a:ext cx="23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774" name="Line 70"/>
            <p:cNvSpPr>
              <a:spLocks noChangeShapeType="1"/>
            </p:cNvSpPr>
            <p:nvPr/>
          </p:nvSpPr>
          <p:spPr bwMode="auto">
            <a:xfrm>
              <a:off x="4327" y="2492"/>
              <a:ext cx="0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75" name="Line 71"/>
            <p:cNvSpPr>
              <a:spLocks noChangeShapeType="1"/>
            </p:cNvSpPr>
            <p:nvPr/>
          </p:nvSpPr>
          <p:spPr bwMode="auto">
            <a:xfrm>
              <a:off x="3333" y="2474"/>
              <a:ext cx="0" cy="2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52776" name="Line 72"/>
            <p:cNvSpPr>
              <a:spLocks noChangeShapeType="1"/>
            </p:cNvSpPr>
            <p:nvPr/>
          </p:nvSpPr>
          <p:spPr bwMode="auto">
            <a:xfrm>
              <a:off x="3335" y="2668"/>
              <a:ext cx="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777" name="Line 73"/>
            <p:cNvSpPr>
              <a:spLocks noChangeShapeType="1"/>
            </p:cNvSpPr>
            <p:nvPr/>
          </p:nvSpPr>
          <p:spPr bwMode="auto">
            <a:xfrm>
              <a:off x="4330" y="2668"/>
              <a:ext cx="4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52778" name="AutoShape 74"/>
          <p:cNvSpPr>
            <a:spLocks noChangeArrowheads="1"/>
          </p:cNvSpPr>
          <p:nvPr/>
        </p:nvSpPr>
        <p:spPr bwMode="auto">
          <a:xfrm>
            <a:off x="1587500" y="925513"/>
            <a:ext cx="468313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/>
          </a:p>
        </p:txBody>
      </p:sp>
      <p:sp>
        <p:nvSpPr>
          <p:cNvPr id="1352779" name="Text Box 75"/>
          <p:cNvSpPr txBox="1">
            <a:spLocks noChangeArrowheads="1"/>
          </p:cNvSpPr>
          <p:nvPr/>
        </p:nvSpPr>
        <p:spPr bwMode="auto">
          <a:xfrm>
            <a:off x="2229885" y="706438"/>
            <a:ext cx="188705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连续介质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（宏观平均）</a:t>
            </a:r>
          </a:p>
        </p:txBody>
      </p:sp>
      <p:sp>
        <p:nvSpPr>
          <p:cNvPr id="1352780" name="Text Box 76"/>
          <p:cNvSpPr txBox="1">
            <a:spLocks noChangeArrowheads="1"/>
          </p:cNvSpPr>
          <p:nvPr/>
        </p:nvSpPr>
        <p:spPr bwMode="auto">
          <a:xfrm>
            <a:off x="2099925" y="1643063"/>
            <a:ext cx="217078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线弹性体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（应力较小时）</a:t>
            </a:r>
          </a:p>
        </p:txBody>
      </p:sp>
      <p:sp>
        <p:nvSpPr>
          <p:cNvPr id="1352781" name="AutoShape 77"/>
          <p:cNvSpPr>
            <a:spLocks noChangeArrowheads="1"/>
          </p:cNvSpPr>
          <p:nvPr/>
        </p:nvSpPr>
        <p:spPr bwMode="auto">
          <a:xfrm>
            <a:off x="1587500" y="1814513"/>
            <a:ext cx="468313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/>
          </a:p>
        </p:txBody>
      </p:sp>
      <p:sp>
        <p:nvSpPr>
          <p:cNvPr id="1352782" name="Text Box 78"/>
          <p:cNvSpPr txBox="1">
            <a:spLocks noChangeArrowheads="1"/>
          </p:cNvSpPr>
          <p:nvPr/>
        </p:nvSpPr>
        <p:spPr bwMode="auto">
          <a:xfrm>
            <a:off x="2048185" y="2627313"/>
            <a:ext cx="302198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均质各向同性体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（土层性质变化不大）</a:t>
            </a:r>
          </a:p>
        </p:txBody>
      </p:sp>
      <p:sp>
        <p:nvSpPr>
          <p:cNvPr id="1352783" name="AutoShape 79"/>
          <p:cNvSpPr>
            <a:spLocks noChangeArrowheads="1"/>
          </p:cNvSpPr>
          <p:nvPr/>
        </p:nvSpPr>
        <p:spPr bwMode="auto">
          <a:xfrm>
            <a:off x="1587500" y="2811463"/>
            <a:ext cx="468313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/>
          </a:p>
        </p:txBody>
      </p:sp>
      <p:sp>
        <p:nvSpPr>
          <p:cNvPr id="3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1" y="0"/>
            <a:ext cx="4200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中的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5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5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52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35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527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5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5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5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527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5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5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withGroup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35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52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52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52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52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52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52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1352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1352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1352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751" grpId="0"/>
      <p:bldP spid="1352752" grpId="0"/>
      <p:bldP spid="1352753" grpId="0"/>
      <p:bldP spid="1352754" grpId="0"/>
      <p:bldP spid="1352755" grpId="0"/>
      <p:bldP spid="1352778" grpId="0" animBg="1"/>
      <p:bldP spid="1352779" grpId="0"/>
      <p:bldP spid="1352780" grpId="0"/>
      <p:bldP spid="1352781" grpId="0" animBg="1"/>
      <p:bldP spid="1352782" grpId="0"/>
      <p:bldP spid="135278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93" name="Rectangle 65"/>
          <p:cNvSpPr>
            <a:spLocks noChangeArrowheads="1"/>
          </p:cNvSpPr>
          <p:nvPr/>
        </p:nvSpPr>
        <p:spPr bwMode="auto">
          <a:xfrm>
            <a:off x="1154113" y="1192213"/>
            <a:ext cx="317023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533400" indent="-533400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应力计算时应力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正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负号规定</a:t>
            </a: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marL="533400" indent="-533400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地基中常见的应力状态</a:t>
            </a:r>
          </a:p>
          <a:p>
            <a:pPr marL="533400" indent="-533400">
              <a:lnSpc>
                <a:spcPct val="100000"/>
              </a:lnSpc>
              <a:spcBef>
                <a:spcPct val="50000"/>
              </a:spcBef>
              <a:spcAft>
                <a:spcPct val="5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应力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计算中土的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基本假定</a:t>
            </a:r>
          </a:p>
        </p:txBody>
      </p:sp>
      <p:sp>
        <p:nvSpPr>
          <p:cNvPr id="1353794" name="Text Box 66"/>
          <p:cNvSpPr txBox="1">
            <a:spLocks noChangeArrowheads="1"/>
          </p:cNvSpPr>
          <p:nvPr/>
        </p:nvSpPr>
        <p:spPr bwMode="auto">
          <a:xfrm>
            <a:off x="5354638" y="1591250"/>
            <a:ext cx="3462337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三维应力状态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三轴应力状态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平面应变状态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侧限应力状态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53795" name="Text Box 67"/>
          <p:cNvSpPr txBox="1">
            <a:spLocks noChangeArrowheads="1"/>
          </p:cNvSpPr>
          <p:nvPr/>
        </p:nvSpPr>
        <p:spPr bwMode="auto">
          <a:xfrm>
            <a:off x="5372100" y="3821688"/>
            <a:ext cx="269716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 连续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 弹性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 均质各向同性</a:t>
            </a:r>
            <a:endParaRPr lang="en-US" altLang="zh-CN" sz="28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53796" name="AutoShape 68"/>
          <p:cNvSpPr>
            <a:spLocks noChangeArrowheads="1"/>
          </p:cNvSpPr>
          <p:nvPr/>
        </p:nvSpPr>
        <p:spPr bwMode="auto">
          <a:xfrm>
            <a:off x="4640263" y="2658438"/>
            <a:ext cx="468312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3797" name="AutoShape 69"/>
          <p:cNvSpPr>
            <a:spLocks noChangeArrowheads="1"/>
          </p:cNvSpPr>
          <p:nvPr/>
        </p:nvSpPr>
        <p:spPr bwMode="auto">
          <a:xfrm>
            <a:off x="4656138" y="4097913"/>
            <a:ext cx="468312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3798" name="Text Box 70"/>
          <p:cNvSpPr txBox="1">
            <a:spLocks noChangeArrowheads="1"/>
          </p:cNvSpPr>
          <p:nvPr/>
        </p:nvSpPr>
        <p:spPr bwMode="auto">
          <a:xfrm>
            <a:off x="3992563" y="5767388"/>
            <a:ext cx="1714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小  结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1" y="0"/>
            <a:ext cx="464026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应力状态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及应力应变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关系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3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3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3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3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35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5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5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3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53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5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35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35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793" grpId="0" uiExpand="1" build="p"/>
      <p:bldP spid="1353794" grpId="0" uiExpand="1"/>
      <p:bldP spid="1353795" grpId="0"/>
      <p:bldP spid="1353796" grpId="0" animBg="1"/>
      <p:bldP spid="135379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23438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有效应力原理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自重应力计算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基底压力计算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附加应力计算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5"/>
          <p:cNvSpPr txBox="1">
            <a:spLocks noChangeArrowheads="1"/>
          </p:cNvSpPr>
          <p:nvPr/>
        </p:nvSpPr>
        <p:spPr bwMode="auto">
          <a:xfrm>
            <a:off x="1813048" y="1780896"/>
            <a:ext cx="63975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太沙基和有效应力</a:t>
            </a: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原理</a:t>
            </a:r>
            <a:endParaRPr kumimoji="1" lang="en-US" altLang="zh-CN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kumimoji="1" lang="zh-CN" altLang="en-US" sz="3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有效应力原理的要点</a:t>
            </a:r>
            <a:endParaRPr kumimoji="1" lang="en-US" altLang="zh-CN" sz="32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kumimoji="1" lang="zh-CN" altLang="en-US" sz="3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讨论：有效应力原理的本质</a:t>
            </a:r>
            <a:endParaRPr kumimoji="1" lang="zh-CN" altLang="en-US" sz="3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4" name="Text Box 42"/>
          <p:cNvSpPr txBox="1">
            <a:spLocks noChangeArrowheads="1"/>
          </p:cNvSpPr>
          <p:nvPr/>
        </p:nvSpPr>
        <p:spPr bwMode="auto">
          <a:xfrm>
            <a:off x="2175163" y="5708126"/>
            <a:ext cx="54276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有效应力原理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81672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610" name="Picture 9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" t="8633" r="3108" b="13527"/>
          <a:stretch>
            <a:fillRect/>
          </a:stretch>
        </p:blipFill>
        <p:spPr bwMode="auto">
          <a:xfrm>
            <a:off x="4135438" y="973138"/>
            <a:ext cx="4945062" cy="444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87611" name="Text Box 91"/>
          <p:cNvSpPr txBox="1">
            <a:spLocks noChangeArrowheads="1"/>
          </p:cNvSpPr>
          <p:nvPr/>
        </p:nvSpPr>
        <p:spPr bwMode="auto">
          <a:xfrm>
            <a:off x="514350" y="523875"/>
            <a:ext cx="3035300" cy="15414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A50021"/>
                </a:solidFill>
                <a:ea typeface="幼圆" pitchFamily="49" charset="-122"/>
              </a:rPr>
              <a:t>太沙基</a:t>
            </a:r>
            <a:br>
              <a:rPr kumimoji="1" lang="zh-CN" altLang="en-US" sz="4000" b="1">
                <a:solidFill>
                  <a:srgbClr val="A50021"/>
                </a:solidFill>
                <a:ea typeface="幼圆" pitchFamily="49" charset="-122"/>
              </a:rPr>
            </a:br>
            <a:r>
              <a:rPr kumimoji="1" lang="zh-CN" altLang="en-US" sz="2400">
                <a:solidFill>
                  <a:srgbClr val="A50021"/>
                </a:solidFill>
              </a:rPr>
              <a:t>（</a:t>
            </a:r>
            <a:r>
              <a:rPr kumimoji="1" lang="en-US" altLang="zh-CN" sz="2400">
                <a:solidFill>
                  <a:srgbClr val="A50021"/>
                </a:solidFill>
              </a:rPr>
              <a:t>Karl Terzaghi)</a:t>
            </a:r>
          </a:p>
          <a:p>
            <a:pPr algn="ctr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A50021"/>
                </a:solidFill>
              </a:rPr>
              <a:t>(1883-1963)</a:t>
            </a:r>
          </a:p>
        </p:txBody>
      </p:sp>
      <p:sp>
        <p:nvSpPr>
          <p:cNvPr id="1387612" name="Text Box 92"/>
          <p:cNvSpPr txBox="1">
            <a:spLocks noChangeArrowheads="1"/>
          </p:cNvSpPr>
          <p:nvPr/>
        </p:nvSpPr>
        <p:spPr bwMode="auto">
          <a:xfrm>
            <a:off x="2589213" y="5702300"/>
            <a:ext cx="6026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太沙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基</a:t>
            </a:r>
            <a:r>
              <a:rPr kumimoji="1" lang="en-US" altLang="zh-CN" sz="40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–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土力学</a:t>
            </a:r>
            <a:r>
              <a:rPr kumimoji="1" lang="zh-CN" altLang="en-US" sz="40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的奠基人</a:t>
            </a:r>
            <a:endParaRPr kumimoji="1" lang="en-US" altLang="zh-CN" sz="40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87613" name="Text Box 93"/>
          <p:cNvSpPr txBox="1">
            <a:spLocks noChangeArrowheads="1"/>
          </p:cNvSpPr>
          <p:nvPr/>
        </p:nvSpPr>
        <p:spPr bwMode="auto">
          <a:xfrm>
            <a:off x="346075" y="2132013"/>
            <a:ext cx="3624263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1921-1923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年提出土的有效应力原理和土的固结理论，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1925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年出版经典著作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《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土力学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》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，首次将各种土工问题归纳成为系统的有科学依据的计算理论，奠定了他作为土力学创始人的地位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01643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1387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1387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1387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138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72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138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7611" grpId="0" animBg="1"/>
      <p:bldP spid="13876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627" name="Rectangle 83"/>
          <p:cNvSpPr>
            <a:spLocks noChangeArrowheads="1"/>
          </p:cNvSpPr>
          <p:nvPr/>
        </p:nvSpPr>
        <p:spPr bwMode="auto">
          <a:xfrm>
            <a:off x="1004888" y="2871788"/>
            <a:ext cx="428625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365125" indent="-365125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对所受总应力，骨架和孔隙流体如何分担？</a:t>
            </a:r>
          </a:p>
          <a:p>
            <a:pPr marL="365125" indent="-365125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它们如何传递和相互转化？</a:t>
            </a:r>
          </a:p>
          <a:p>
            <a:pPr marL="365125" indent="-365125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>
                <a:srgbClr val="A50021"/>
              </a:buClr>
              <a:buFontTx/>
              <a:buChar char="•"/>
              <a:tabLst>
                <a:tab pos="365125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它们对土的变形和强度有何影响？</a:t>
            </a:r>
          </a:p>
        </p:txBody>
      </p:sp>
      <p:grpSp>
        <p:nvGrpSpPr>
          <p:cNvPr id="1388628" name="Group 84"/>
          <p:cNvGrpSpPr>
            <a:grpSpLocks/>
          </p:cNvGrpSpPr>
          <p:nvPr/>
        </p:nvGrpSpPr>
        <p:grpSpPr bwMode="auto">
          <a:xfrm>
            <a:off x="5530850" y="920750"/>
            <a:ext cx="3446463" cy="3711575"/>
            <a:chOff x="3484" y="580"/>
            <a:chExt cx="2171" cy="2338"/>
          </a:xfrm>
        </p:grpSpPr>
        <p:sp>
          <p:nvSpPr>
            <p:cNvPr id="1388629" name="Rectangle 85"/>
            <p:cNvSpPr>
              <a:spLocks noChangeArrowheads="1"/>
            </p:cNvSpPr>
            <p:nvPr/>
          </p:nvSpPr>
          <p:spPr bwMode="auto">
            <a:xfrm>
              <a:off x="3484" y="580"/>
              <a:ext cx="2171" cy="23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88630" name="Group 86"/>
            <p:cNvGrpSpPr>
              <a:grpSpLocks/>
            </p:cNvGrpSpPr>
            <p:nvPr/>
          </p:nvGrpSpPr>
          <p:grpSpPr bwMode="auto">
            <a:xfrm>
              <a:off x="3734" y="1001"/>
              <a:ext cx="1684" cy="246"/>
              <a:chOff x="3768" y="808"/>
              <a:chExt cx="1409" cy="314"/>
            </a:xfrm>
          </p:grpSpPr>
          <p:sp>
            <p:nvSpPr>
              <p:cNvPr id="1388631" name="Line 8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2" name="Line 8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3" name="Line 8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4" name="Line 9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5" name="Line 9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6" name="Line 9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7" name="Line 9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8" name="Line 9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39" name="Line 9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388640" name="Line 9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grpSp>
          <p:nvGrpSpPr>
            <p:cNvPr id="1388641" name="Group 97"/>
            <p:cNvGrpSpPr>
              <a:grpSpLocks/>
            </p:cNvGrpSpPr>
            <p:nvPr/>
          </p:nvGrpSpPr>
          <p:grpSpPr bwMode="auto">
            <a:xfrm>
              <a:off x="3602" y="1269"/>
              <a:ext cx="1846" cy="1563"/>
              <a:chOff x="3760" y="2390"/>
              <a:chExt cx="1846" cy="1563"/>
            </a:xfrm>
          </p:grpSpPr>
          <p:sp>
            <p:nvSpPr>
              <p:cNvPr id="1388642" name="Rectangle 98"/>
              <p:cNvSpPr>
                <a:spLocks noChangeArrowheads="1"/>
              </p:cNvSpPr>
              <p:nvPr/>
            </p:nvSpPr>
            <p:spPr bwMode="auto">
              <a:xfrm>
                <a:off x="3868" y="2390"/>
                <a:ext cx="1738" cy="1556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8643" name="Rectangle 99"/>
              <p:cNvSpPr>
                <a:spLocks noChangeArrowheads="1"/>
              </p:cNvSpPr>
              <p:nvPr/>
            </p:nvSpPr>
            <p:spPr bwMode="auto">
              <a:xfrm rot="5400000">
                <a:off x="4179" y="2586"/>
                <a:ext cx="1042" cy="11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8644" name="Freeform 100"/>
              <p:cNvSpPr>
                <a:spLocks/>
              </p:cNvSpPr>
              <p:nvPr/>
            </p:nvSpPr>
            <p:spPr bwMode="auto">
              <a:xfrm rot="5400000">
                <a:off x="4582" y="2969"/>
                <a:ext cx="795" cy="989"/>
              </a:xfrm>
              <a:custGeom>
                <a:avLst/>
                <a:gdLst>
                  <a:gd name="T0" fmla="*/ 668 w 851"/>
                  <a:gd name="T1" fmla="*/ 1031 h 1059"/>
                  <a:gd name="T2" fmla="*/ 600 w 851"/>
                  <a:gd name="T3" fmla="*/ 942 h 1059"/>
                  <a:gd name="T4" fmla="*/ 505 w 851"/>
                  <a:gd name="T5" fmla="*/ 901 h 1059"/>
                  <a:gd name="T6" fmla="*/ 441 w 851"/>
                  <a:gd name="T7" fmla="*/ 723 h 1059"/>
                  <a:gd name="T8" fmla="*/ 360 w 851"/>
                  <a:gd name="T9" fmla="*/ 572 h 1059"/>
                  <a:gd name="T10" fmla="*/ 219 w 851"/>
                  <a:gd name="T11" fmla="*/ 410 h 1059"/>
                  <a:gd name="T12" fmla="*/ 128 w 851"/>
                  <a:gd name="T13" fmla="*/ 384 h 1059"/>
                  <a:gd name="T14" fmla="*/ 15 w 851"/>
                  <a:gd name="T15" fmla="*/ 363 h 1059"/>
                  <a:gd name="T16" fmla="*/ 38 w 851"/>
                  <a:gd name="T17" fmla="*/ 290 h 1059"/>
                  <a:gd name="T18" fmla="*/ 42 w 851"/>
                  <a:gd name="T19" fmla="*/ 223 h 1059"/>
                  <a:gd name="T20" fmla="*/ 38 w 851"/>
                  <a:gd name="T21" fmla="*/ 155 h 1059"/>
                  <a:gd name="T22" fmla="*/ 6 w 851"/>
                  <a:gd name="T23" fmla="*/ 87 h 1059"/>
                  <a:gd name="T24" fmla="*/ 79 w 851"/>
                  <a:gd name="T25" fmla="*/ 61 h 1059"/>
                  <a:gd name="T26" fmla="*/ 292 w 851"/>
                  <a:gd name="T27" fmla="*/ 40 h 1059"/>
                  <a:gd name="T28" fmla="*/ 500 w 851"/>
                  <a:gd name="T29" fmla="*/ 9 h 1059"/>
                  <a:gd name="T30" fmla="*/ 595 w 851"/>
                  <a:gd name="T31" fmla="*/ 3 h 1059"/>
                  <a:gd name="T32" fmla="*/ 641 w 851"/>
                  <a:gd name="T33" fmla="*/ 30 h 1059"/>
                  <a:gd name="T34" fmla="*/ 654 w 851"/>
                  <a:gd name="T35" fmla="*/ 71 h 1059"/>
                  <a:gd name="T36" fmla="*/ 661 w 851"/>
                  <a:gd name="T37" fmla="*/ 135 h 1059"/>
                  <a:gd name="T38" fmla="*/ 703 w 851"/>
                  <a:gd name="T39" fmla="*/ 199 h 1059"/>
                  <a:gd name="T40" fmla="*/ 805 w 851"/>
                  <a:gd name="T41" fmla="*/ 253 h 1059"/>
                  <a:gd name="T42" fmla="*/ 844 w 851"/>
                  <a:gd name="T43" fmla="*/ 327 h 1059"/>
                  <a:gd name="T44" fmla="*/ 763 w 851"/>
                  <a:gd name="T45" fmla="*/ 770 h 1059"/>
                  <a:gd name="T46" fmla="*/ 668 w 851"/>
                  <a:gd name="T47" fmla="*/ 1031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51" h="1059">
                    <a:moveTo>
                      <a:pt x="668" y="1031"/>
                    </a:moveTo>
                    <a:cubicBezTo>
                      <a:pt x="641" y="1059"/>
                      <a:pt x="627" y="963"/>
                      <a:pt x="600" y="942"/>
                    </a:cubicBezTo>
                    <a:cubicBezTo>
                      <a:pt x="573" y="922"/>
                      <a:pt x="530" y="937"/>
                      <a:pt x="505" y="901"/>
                    </a:cubicBezTo>
                    <a:cubicBezTo>
                      <a:pt x="479" y="864"/>
                      <a:pt x="465" y="777"/>
                      <a:pt x="441" y="723"/>
                    </a:cubicBezTo>
                    <a:cubicBezTo>
                      <a:pt x="417" y="669"/>
                      <a:pt x="396" y="624"/>
                      <a:pt x="360" y="572"/>
                    </a:cubicBezTo>
                    <a:cubicBezTo>
                      <a:pt x="323" y="520"/>
                      <a:pt x="257" y="442"/>
                      <a:pt x="219" y="410"/>
                    </a:cubicBezTo>
                    <a:cubicBezTo>
                      <a:pt x="181" y="379"/>
                      <a:pt x="162" y="391"/>
                      <a:pt x="128" y="384"/>
                    </a:cubicBezTo>
                    <a:cubicBezTo>
                      <a:pt x="95" y="377"/>
                      <a:pt x="30" y="379"/>
                      <a:pt x="15" y="363"/>
                    </a:cubicBezTo>
                    <a:cubicBezTo>
                      <a:pt x="0" y="348"/>
                      <a:pt x="33" y="313"/>
                      <a:pt x="38" y="290"/>
                    </a:cubicBezTo>
                    <a:cubicBezTo>
                      <a:pt x="42" y="268"/>
                      <a:pt x="42" y="245"/>
                      <a:pt x="42" y="223"/>
                    </a:cubicBezTo>
                    <a:cubicBezTo>
                      <a:pt x="42" y="200"/>
                      <a:pt x="44" y="177"/>
                      <a:pt x="38" y="155"/>
                    </a:cubicBezTo>
                    <a:cubicBezTo>
                      <a:pt x="32" y="132"/>
                      <a:pt x="0" y="103"/>
                      <a:pt x="6" y="87"/>
                    </a:cubicBezTo>
                    <a:cubicBezTo>
                      <a:pt x="12" y="71"/>
                      <a:pt x="32" y="68"/>
                      <a:pt x="79" y="61"/>
                    </a:cubicBezTo>
                    <a:cubicBezTo>
                      <a:pt x="125" y="54"/>
                      <a:pt x="222" y="49"/>
                      <a:pt x="292" y="40"/>
                    </a:cubicBezTo>
                    <a:cubicBezTo>
                      <a:pt x="361" y="31"/>
                      <a:pt x="450" y="14"/>
                      <a:pt x="500" y="9"/>
                    </a:cubicBezTo>
                    <a:cubicBezTo>
                      <a:pt x="550" y="3"/>
                      <a:pt x="571" y="0"/>
                      <a:pt x="595" y="3"/>
                    </a:cubicBezTo>
                    <a:cubicBezTo>
                      <a:pt x="620" y="7"/>
                      <a:pt x="632" y="19"/>
                      <a:pt x="641" y="30"/>
                    </a:cubicBezTo>
                    <a:cubicBezTo>
                      <a:pt x="650" y="40"/>
                      <a:pt x="651" y="54"/>
                      <a:pt x="654" y="71"/>
                    </a:cubicBezTo>
                    <a:cubicBezTo>
                      <a:pt x="657" y="88"/>
                      <a:pt x="653" y="114"/>
                      <a:pt x="661" y="135"/>
                    </a:cubicBezTo>
                    <a:cubicBezTo>
                      <a:pt x="669" y="156"/>
                      <a:pt x="679" y="179"/>
                      <a:pt x="703" y="199"/>
                    </a:cubicBezTo>
                    <a:cubicBezTo>
                      <a:pt x="727" y="219"/>
                      <a:pt x="782" y="232"/>
                      <a:pt x="805" y="253"/>
                    </a:cubicBezTo>
                    <a:cubicBezTo>
                      <a:pt x="828" y="274"/>
                      <a:pt x="851" y="241"/>
                      <a:pt x="844" y="327"/>
                    </a:cubicBezTo>
                    <a:cubicBezTo>
                      <a:pt x="837" y="413"/>
                      <a:pt x="792" y="653"/>
                      <a:pt x="763" y="770"/>
                    </a:cubicBezTo>
                    <a:cubicBezTo>
                      <a:pt x="734" y="887"/>
                      <a:pt x="695" y="1003"/>
                      <a:pt x="668" y="1031"/>
                    </a:cubicBezTo>
                    <a:close/>
                  </a:path>
                </a:pathLst>
              </a:custGeom>
              <a:solidFill>
                <a:srgbClr val="0066FF"/>
              </a:solidFill>
              <a:ln w="9525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45" name="Freeform 101"/>
              <p:cNvSpPr>
                <a:spLocks/>
              </p:cNvSpPr>
              <p:nvPr/>
            </p:nvSpPr>
            <p:spPr bwMode="auto">
              <a:xfrm>
                <a:off x="4023" y="2415"/>
                <a:ext cx="1572" cy="801"/>
              </a:xfrm>
              <a:custGeom>
                <a:avLst/>
                <a:gdLst>
                  <a:gd name="T0" fmla="*/ 220 w 1572"/>
                  <a:gd name="T1" fmla="*/ 779 h 801"/>
                  <a:gd name="T2" fmla="*/ 227 w 1572"/>
                  <a:gd name="T3" fmla="*/ 655 h 801"/>
                  <a:gd name="T4" fmla="*/ 152 w 1572"/>
                  <a:gd name="T5" fmla="*/ 566 h 801"/>
                  <a:gd name="T6" fmla="*/ 137 w 1572"/>
                  <a:gd name="T7" fmla="*/ 548 h 801"/>
                  <a:gd name="T8" fmla="*/ 98 w 1572"/>
                  <a:gd name="T9" fmla="*/ 557 h 801"/>
                  <a:gd name="T10" fmla="*/ 52 w 1572"/>
                  <a:gd name="T11" fmla="*/ 475 h 801"/>
                  <a:gd name="T12" fmla="*/ 18 w 1572"/>
                  <a:gd name="T13" fmla="*/ 357 h 801"/>
                  <a:gd name="T14" fmla="*/ 3 w 1572"/>
                  <a:gd name="T15" fmla="*/ 309 h 801"/>
                  <a:gd name="T16" fmla="*/ 33 w 1572"/>
                  <a:gd name="T17" fmla="*/ 249 h 801"/>
                  <a:gd name="T18" fmla="*/ 71 w 1572"/>
                  <a:gd name="T19" fmla="*/ 166 h 801"/>
                  <a:gd name="T20" fmla="*/ 208 w 1572"/>
                  <a:gd name="T21" fmla="*/ 115 h 801"/>
                  <a:gd name="T22" fmla="*/ 308 w 1572"/>
                  <a:gd name="T23" fmla="*/ 82 h 801"/>
                  <a:gd name="T24" fmla="*/ 464 w 1572"/>
                  <a:gd name="T25" fmla="*/ 18 h 801"/>
                  <a:gd name="T26" fmla="*/ 527 w 1572"/>
                  <a:gd name="T27" fmla="*/ 10 h 801"/>
                  <a:gd name="T28" fmla="*/ 629 w 1572"/>
                  <a:gd name="T29" fmla="*/ 10 h 801"/>
                  <a:gd name="T30" fmla="*/ 1356 w 1572"/>
                  <a:gd name="T31" fmla="*/ 69 h 801"/>
                  <a:gd name="T32" fmla="*/ 1468 w 1572"/>
                  <a:gd name="T33" fmla="*/ 141 h 801"/>
                  <a:gd name="T34" fmla="*/ 1532 w 1572"/>
                  <a:gd name="T35" fmla="*/ 183 h 801"/>
                  <a:gd name="T36" fmla="*/ 1561 w 1572"/>
                  <a:gd name="T37" fmla="*/ 277 h 801"/>
                  <a:gd name="T38" fmla="*/ 1556 w 1572"/>
                  <a:gd name="T39" fmla="*/ 361 h 801"/>
                  <a:gd name="T40" fmla="*/ 1565 w 1572"/>
                  <a:gd name="T41" fmla="*/ 437 h 801"/>
                  <a:gd name="T42" fmla="*/ 1517 w 1572"/>
                  <a:gd name="T43" fmla="*/ 471 h 801"/>
                  <a:gd name="T44" fmla="*/ 1347 w 1572"/>
                  <a:gd name="T45" fmla="*/ 629 h 801"/>
                  <a:gd name="T46" fmla="*/ 1188 w 1572"/>
                  <a:gd name="T47" fmla="*/ 557 h 801"/>
                  <a:gd name="T48" fmla="*/ 1176 w 1572"/>
                  <a:gd name="T49" fmla="*/ 480 h 801"/>
                  <a:gd name="T50" fmla="*/ 1141 w 1572"/>
                  <a:gd name="T51" fmla="*/ 411 h 801"/>
                  <a:gd name="T52" fmla="*/ 1111 w 1572"/>
                  <a:gd name="T53" fmla="*/ 319 h 801"/>
                  <a:gd name="T54" fmla="*/ 1278 w 1572"/>
                  <a:gd name="T55" fmla="*/ 263 h 801"/>
                  <a:gd name="T56" fmla="*/ 1127 w 1572"/>
                  <a:gd name="T57" fmla="*/ 133 h 801"/>
                  <a:gd name="T58" fmla="*/ 956 w 1572"/>
                  <a:gd name="T59" fmla="*/ 73 h 801"/>
                  <a:gd name="T60" fmla="*/ 854 w 1572"/>
                  <a:gd name="T61" fmla="*/ 120 h 801"/>
                  <a:gd name="T62" fmla="*/ 994 w 1572"/>
                  <a:gd name="T63" fmla="*/ 312 h 801"/>
                  <a:gd name="T64" fmla="*/ 869 w 1572"/>
                  <a:gd name="T65" fmla="*/ 393 h 801"/>
                  <a:gd name="T66" fmla="*/ 805 w 1572"/>
                  <a:gd name="T67" fmla="*/ 598 h 801"/>
                  <a:gd name="T68" fmla="*/ 761 w 1572"/>
                  <a:gd name="T69" fmla="*/ 647 h 801"/>
                  <a:gd name="T70" fmla="*/ 701 w 1572"/>
                  <a:gd name="T71" fmla="*/ 644 h 801"/>
                  <a:gd name="T72" fmla="*/ 633 w 1572"/>
                  <a:gd name="T73" fmla="*/ 689 h 801"/>
                  <a:gd name="T74" fmla="*/ 489 w 1572"/>
                  <a:gd name="T75" fmla="*/ 680 h 801"/>
                  <a:gd name="T76" fmla="*/ 382 w 1572"/>
                  <a:gd name="T77" fmla="*/ 784 h 801"/>
                  <a:gd name="T78" fmla="*/ 220 w 1572"/>
                  <a:gd name="T79" fmla="*/ 779 h 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572" h="801">
                    <a:moveTo>
                      <a:pt x="220" y="779"/>
                    </a:moveTo>
                    <a:cubicBezTo>
                      <a:pt x="203" y="757"/>
                      <a:pt x="238" y="691"/>
                      <a:pt x="227" y="655"/>
                    </a:cubicBezTo>
                    <a:cubicBezTo>
                      <a:pt x="216" y="620"/>
                      <a:pt x="167" y="584"/>
                      <a:pt x="152" y="566"/>
                    </a:cubicBezTo>
                    <a:cubicBezTo>
                      <a:pt x="137" y="548"/>
                      <a:pt x="147" y="549"/>
                      <a:pt x="137" y="548"/>
                    </a:cubicBezTo>
                    <a:cubicBezTo>
                      <a:pt x="128" y="547"/>
                      <a:pt x="112" y="569"/>
                      <a:pt x="98" y="557"/>
                    </a:cubicBezTo>
                    <a:cubicBezTo>
                      <a:pt x="84" y="545"/>
                      <a:pt x="65" y="508"/>
                      <a:pt x="52" y="475"/>
                    </a:cubicBezTo>
                    <a:cubicBezTo>
                      <a:pt x="39" y="442"/>
                      <a:pt x="26" y="385"/>
                      <a:pt x="18" y="357"/>
                    </a:cubicBezTo>
                    <a:cubicBezTo>
                      <a:pt x="10" y="329"/>
                      <a:pt x="0" y="327"/>
                      <a:pt x="3" y="309"/>
                    </a:cubicBezTo>
                    <a:cubicBezTo>
                      <a:pt x="6" y="291"/>
                      <a:pt x="21" y="273"/>
                      <a:pt x="33" y="249"/>
                    </a:cubicBezTo>
                    <a:cubicBezTo>
                      <a:pt x="44" y="226"/>
                      <a:pt x="42" y="189"/>
                      <a:pt x="71" y="166"/>
                    </a:cubicBezTo>
                    <a:cubicBezTo>
                      <a:pt x="100" y="144"/>
                      <a:pt x="169" y="129"/>
                      <a:pt x="208" y="115"/>
                    </a:cubicBezTo>
                    <a:cubicBezTo>
                      <a:pt x="247" y="101"/>
                      <a:pt x="265" y="97"/>
                      <a:pt x="308" y="82"/>
                    </a:cubicBezTo>
                    <a:cubicBezTo>
                      <a:pt x="351" y="66"/>
                      <a:pt x="428" y="29"/>
                      <a:pt x="464" y="18"/>
                    </a:cubicBezTo>
                    <a:cubicBezTo>
                      <a:pt x="499" y="7"/>
                      <a:pt x="499" y="12"/>
                      <a:pt x="527" y="10"/>
                    </a:cubicBezTo>
                    <a:cubicBezTo>
                      <a:pt x="554" y="9"/>
                      <a:pt x="491" y="0"/>
                      <a:pt x="629" y="10"/>
                    </a:cubicBezTo>
                    <a:cubicBezTo>
                      <a:pt x="767" y="20"/>
                      <a:pt x="1216" y="47"/>
                      <a:pt x="1356" y="69"/>
                    </a:cubicBezTo>
                    <a:cubicBezTo>
                      <a:pt x="1496" y="91"/>
                      <a:pt x="1439" y="121"/>
                      <a:pt x="1468" y="141"/>
                    </a:cubicBezTo>
                    <a:cubicBezTo>
                      <a:pt x="1497" y="161"/>
                      <a:pt x="1517" y="161"/>
                      <a:pt x="1532" y="183"/>
                    </a:cubicBezTo>
                    <a:cubicBezTo>
                      <a:pt x="1547" y="206"/>
                      <a:pt x="1557" y="247"/>
                      <a:pt x="1561" y="277"/>
                    </a:cubicBezTo>
                    <a:cubicBezTo>
                      <a:pt x="1565" y="306"/>
                      <a:pt x="1554" y="334"/>
                      <a:pt x="1556" y="361"/>
                    </a:cubicBezTo>
                    <a:cubicBezTo>
                      <a:pt x="1557" y="388"/>
                      <a:pt x="1572" y="418"/>
                      <a:pt x="1565" y="437"/>
                    </a:cubicBezTo>
                    <a:cubicBezTo>
                      <a:pt x="1559" y="455"/>
                      <a:pt x="1553" y="439"/>
                      <a:pt x="1517" y="471"/>
                    </a:cubicBezTo>
                    <a:cubicBezTo>
                      <a:pt x="1481" y="502"/>
                      <a:pt x="1402" y="614"/>
                      <a:pt x="1347" y="629"/>
                    </a:cubicBezTo>
                    <a:cubicBezTo>
                      <a:pt x="1292" y="644"/>
                      <a:pt x="1216" y="583"/>
                      <a:pt x="1188" y="557"/>
                    </a:cubicBezTo>
                    <a:cubicBezTo>
                      <a:pt x="1160" y="532"/>
                      <a:pt x="1184" y="504"/>
                      <a:pt x="1176" y="480"/>
                    </a:cubicBezTo>
                    <a:cubicBezTo>
                      <a:pt x="1169" y="456"/>
                      <a:pt x="1152" y="438"/>
                      <a:pt x="1141" y="411"/>
                    </a:cubicBezTo>
                    <a:cubicBezTo>
                      <a:pt x="1130" y="384"/>
                      <a:pt x="1088" y="343"/>
                      <a:pt x="1111" y="319"/>
                    </a:cubicBezTo>
                    <a:cubicBezTo>
                      <a:pt x="1134" y="294"/>
                      <a:pt x="1275" y="294"/>
                      <a:pt x="1278" y="263"/>
                    </a:cubicBezTo>
                    <a:cubicBezTo>
                      <a:pt x="1281" y="233"/>
                      <a:pt x="1181" y="164"/>
                      <a:pt x="1127" y="133"/>
                    </a:cubicBezTo>
                    <a:cubicBezTo>
                      <a:pt x="1074" y="101"/>
                      <a:pt x="1002" y="76"/>
                      <a:pt x="956" y="73"/>
                    </a:cubicBezTo>
                    <a:cubicBezTo>
                      <a:pt x="911" y="70"/>
                      <a:pt x="848" y="80"/>
                      <a:pt x="854" y="120"/>
                    </a:cubicBezTo>
                    <a:cubicBezTo>
                      <a:pt x="861" y="160"/>
                      <a:pt x="991" y="266"/>
                      <a:pt x="994" y="312"/>
                    </a:cubicBezTo>
                    <a:cubicBezTo>
                      <a:pt x="997" y="358"/>
                      <a:pt x="901" y="346"/>
                      <a:pt x="869" y="393"/>
                    </a:cubicBezTo>
                    <a:cubicBezTo>
                      <a:pt x="837" y="441"/>
                      <a:pt x="822" y="556"/>
                      <a:pt x="805" y="598"/>
                    </a:cubicBezTo>
                    <a:cubicBezTo>
                      <a:pt x="787" y="640"/>
                      <a:pt x="778" y="640"/>
                      <a:pt x="761" y="647"/>
                    </a:cubicBezTo>
                    <a:cubicBezTo>
                      <a:pt x="744" y="654"/>
                      <a:pt x="723" y="638"/>
                      <a:pt x="701" y="644"/>
                    </a:cubicBezTo>
                    <a:cubicBezTo>
                      <a:pt x="680" y="651"/>
                      <a:pt x="668" y="683"/>
                      <a:pt x="633" y="689"/>
                    </a:cubicBezTo>
                    <a:cubicBezTo>
                      <a:pt x="597" y="695"/>
                      <a:pt x="531" y="664"/>
                      <a:pt x="489" y="680"/>
                    </a:cubicBezTo>
                    <a:cubicBezTo>
                      <a:pt x="447" y="696"/>
                      <a:pt x="427" y="767"/>
                      <a:pt x="382" y="784"/>
                    </a:cubicBezTo>
                    <a:cubicBezTo>
                      <a:pt x="337" y="801"/>
                      <a:pt x="254" y="780"/>
                      <a:pt x="220" y="779"/>
                    </a:cubicBez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46" name="Freeform 102" descr="宽上对角线"/>
              <p:cNvSpPr>
                <a:spLocks/>
              </p:cNvSpPr>
              <p:nvPr/>
            </p:nvSpPr>
            <p:spPr bwMode="auto">
              <a:xfrm rot="5400000" flipH="1">
                <a:off x="4616" y="3290"/>
                <a:ext cx="304" cy="1022"/>
              </a:xfrm>
              <a:custGeom>
                <a:avLst/>
                <a:gdLst>
                  <a:gd name="T0" fmla="*/ 107 w 216"/>
                  <a:gd name="T1" fmla="*/ 623 h 628"/>
                  <a:gd name="T2" fmla="*/ 199 w 216"/>
                  <a:gd name="T3" fmla="*/ 591 h 628"/>
                  <a:gd name="T4" fmla="*/ 207 w 216"/>
                  <a:gd name="T5" fmla="*/ 491 h 628"/>
                  <a:gd name="T6" fmla="*/ 187 w 216"/>
                  <a:gd name="T7" fmla="*/ 403 h 628"/>
                  <a:gd name="T8" fmla="*/ 159 w 216"/>
                  <a:gd name="T9" fmla="*/ 271 h 628"/>
                  <a:gd name="T10" fmla="*/ 159 w 216"/>
                  <a:gd name="T11" fmla="*/ 187 h 628"/>
                  <a:gd name="T12" fmla="*/ 167 w 216"/>
                  <a:gd name="T13" fmla="*/ 63 h 628"/>
                  <a:gd name="T14" fmla="*/ 143 w 216"/>
                  <a:gd name="T15" fmla="*/ 15 h 628"/>
                  <a:gd name="T16" fmla="*/ 87 w 216"/>
                  <a:gd name="T17" fmla="*/ 15 h 628"/>
                  <a:gd name="T18" fmla="*/ 31 w 216"/>
                  <a:gd name="T19" fmla="*/ 103 h 628"/>
                  <a:gd name="T20" fmla="*/ 3 w 216"/>
                  <a:gd name="T21" fmla="*/ 243 h 628"/>
                  <a:gd name="T22" fmla="*/ 15 w 216"/>
                  <a:gd name="T23" fmla="*/ 403 h 628"/>
                  <a:gd name="T24" fmla="*/ 47 w 216"/>
                  <a:gd name="T25" fmla="*/ 563 h 628"/>
                  <a:gd name="T26" fmla="*/ 107 w 216"/>
                  <a:gd name="T27" fmla="*/ 623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628">
                    <a:moveTo>
                      <a:pt x="107" y="623"/>
                    </a:moveTo>
                    <a:cubicBezTo>
                      <a:pt x="132" y="628"/>
                      <a:pt x="182" y="613"/>
                      <a:pt x="199" y="591"/>
                    </a:cubicBezTo>
                    <a:cubicBezTo>
                      <a:pt x="216" y="569"/>
                      <a:pt x="209" y="522"/>
                      <a:pt x="207" y="491"/>
                    </a:cubicBezTo>
                    <a:cubicBezTo>
                      <a:pt x="205" y="460"/>
                      <a:pt x="195" y="440"/>
                      <a:pt x="187" y="403"/>
                    </a:cubicBezTo>
                    <a:cubicBezTo>
                      <a:pt x="179" y="366"/>
                      <a:pt x="164" y="307"/>
                      <a:pt x="159" y="271"/>
                    </a:cubicBezTo>
                    <a:cubicBezTo>
                      <a:pt x="154" y="235"/>
                      <a:pt x="158" y="222"/>
                      <a:pt x="159" y="187"/>
                    </a:cubicBezTo>
                    <a:cubicBezTo>
                      <a:pt x="160" y="152"/>
                      <a:pt x="170" y="92"/>
                      <a:pt x="167" y="63"/>
                    </a:cubicBezTo>
                    <a:cubicBezTo>
                      <a:pt x="164" y="34"/>
                      <a:pt x="156" y="23"/>
                      <a:pt x="143" y="15"/>
                    </a:cubicBezTo>
                    <a:cubicBezTo>
                      <a:pt x="130" y="7"/>
                      <a:pt x="106" y="0"/>
                      <a:pt x="87" y="15"/>
                    </a:cubicBezTo>
                    <a:cubicBezTo>
                      <a:pt x="68" y="30"/>
                      <a:pt x="45" y="65"/>
                      <a:pt x="31" y="103"/>
                    </a:cubicBezTo>
                    <a:cubicBezTo>
                      <a:pt x="17" y="141"/>
                      <a:pt x="6" y="193"/>
                      <a:pt x="3" y="243"/>
                    </a:cubicBezTo>
                    <a:cubicBezTo>
                      <a:pt x="0" y="293"/>
                      <a:pt x="8" y="350"/>
                      <a:pt x="15" y="403"/>
                    </a:cubicBezTo>
                    <a:cubicBezTo>
                      <a:pt x="22" y="456"/>
                      <a:pt x="33" y="525"/>
                      <a:pt x="47" y="563"/>
                    </a:cubicBezTo>
                    <a:cubicBezTo>
                      <a:pt x="61" y="601"/>
                      <a:pt x="82" y="618"/>
                      <a:pt x="107" y="623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47" name="Freeform 103" descr="宽上对角线"/>
              <p:cNvSpPr>
                <a:spLocks/>
              </p:cNvSpPr>
              <p:nvPr/>
            </p:nvSpPr>
            <p:spPr bwMode="auto">
              <a:xfrm rot="5400000" flipH="1">
                <a:off x="4992" y="3087"/>
                <a:ext cx="868" cy="335"/>
              </a:xfrm>
              <a:custGeom>
                <a:avLst/>
                <a:gdLst>
                  <a:gd name="T0" fmla="*/ 292 w 616"/>
                  <a:gd name="T1" fmla="*/ 193 h 206"/>
                  <a:gd name="T2" fmla="*/ 452 w 616"/>
                  <a:gd name="T3" fmla="*/ 201 h 206"/>
                  <a:gd name="T4" fmla="*/ 592 w 616"/>
                  <a:gd name="T5" fmla="*/ 165 h 206"/>
                  <a:gd name="T6" fmla="*/ 596 w 616"/>
                  <a:gd name="T7" fmla="*/ 81 h 206"/>
                  <a:gd name="T8" fmla="*/ 548 w 616"/>
                  <a:gd name="T9" fmla="*/ 13 h 206"/>
                  <a:gd name="T10" fmla="*/ 444 w 616"/>
                  <a:gd name="T11" fmla="*/ 1 h 206"/>
                  <a:gd name="T12" fmla="*/ 284 w 616"/>
                  <a:gd name="T13" fmla="*/ 9 h 206"/>
                  <a:gd name="T14" fmla="*/ 128 w 616"/>
                  <a:gd name="T15" fmla="*/ 37 h 206"/>
                  <a:gd name="T16" fmla="*/ 28 w 616"/>
                  <a:gd name="T17" fmla="*/ 81 h 206"/>
                  <a:gd name="T18" fmla="*/ 44 w 616"/>
                  <a:gd name="T19" fmla="*/ 165 h 206"/>
                  <a:gd name="T20" fmla="*/ 292 w 616"/>
                  <a:gd name="T21" fmla="*/ 193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6" h="206">
                    <a:moveTo>
                      <a:pt x="292" y="193"/>
                    </a:moveTo>
                    <a:cubicBezTo>
                      <a:pt x="360" y="199"/>
                      <a:pt x="402" y="206"/>
                      <a:pt x="452" y="201"/>
                    </a:cubicBezTo>
                    <a:cubicBezTo>
                      <a:pt x="502" y="196"/>
                      <a:pt x="568" y="185"/>
                      <a:pt x="592" y="165"/>
                    </a:cubicBezTo>
                    <a:cubicBezTo>
                      <a:pt x="616" y="145"/>
                      <a:pt x="603" y="106"/>
                      <a:pt x="596" y="81"/>
                    </a:cubicBezTo>
                    <a:cubicBezTo>
                      <a:pt x="589" y="56"/>
                      <a:pt x="573" y="26"/>
                      <a:pt x="548" y="13"/>
                    </a:cubicBezTo>
                    <a:cubicBezTo>
                      <a:pt x="523" y="0"/>
                      <a:pt x="488" y="2"/>
                      <a:pt x="444" y="1"/>
                    </a:cubicBezTo>
                    <a:cubicBezTo>
                      <a:pt x="400" y="0"/>
                      <a:pt x="337" y="3"/>
                      <a:pt x="284" y="9"/>
                    </a:cubicBezTo>
                    <a:cubicBezTo>
                      <a:pt x="231" y="15"/>
                      <a:pt x="171" y="25"/>
                      <a:pt x="128" y="37"/>
                    </a:cubicBezTo>
                    <a:cubicBezTo>
                      <a:pt x="85" y="49"/>
                      <a:pt x="42" y="60"/>
                      <a:pt x="28" y="81"/>
                    </a:cubicBezTo>
                    <a:cubicBezTo>
                      <a:pt x="14" y="102"/>
                      <a:pt x="0" y="146"/>
                      <a:pt x="44" y="165"/>
                    </a:cubicBezTo>
                    <a:cubicBezTo>
                      <a:pt x="88" y="184"/>
                      <a:pt x="224" y="187"/>
                      <a:pt x="292" y="193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48" name="Freeform 104" descr="宽上对角线"/>
              <p:cNvSpPr>
                <a:spLocks/>
              </p:cNvSpPr>
              <p:nvPr/>
            </p:nvSpPr>
            <p:spPr bwMode="auto">
              <a:xfrm rot="5400000" flipH="1">
                <a:off x="4503" y="2920"/>
                <a:ext cx="742" cy="786"/>
              </a:xfrm>
              <a:custGeom>
                <a:avLst/>
                <a:gdLst>
                  <a:gd name="T0" fmla="*/ 93 w 386"/>
                  <a:gd name="T1" fmla="*/ 151 h 406"/>
                  <a:gd name="T2" fmla="*/ 29 w 386"/>
                  <a:gd name="T3" fmla="*/ 219 h 406"/>
                  <a:gd name="T4" fmla="*/ 1 w 386"/>
                  <a:gd name="T5" fmla="*/ 307 h 406"/>
                  <a:gd name="T6" fmla="*/ 25 w 386"/>
                  <a:gd name="T7" fmla="*/ 395 h 406"/>
                  <a:gd name="T8" fmla="*/ 129 w 386"/>
                  <a:gd name="T9" fmla="*/ 375 h 406"/>
                  <a:gd name="T10" fmla="*/ 293 w 386"/>
                  <a:gd name="T11" fmla="*/ 219 h 406"/>
                  <a:gd name="T12" fmla="*/ 373 w 386"/>
                  <a:gd name="T13" fmla="*/ 95 h 406"/>
                  <a:gd name="T14" fmla="*/ 373 w 386"/>
                  <a:gd name="T15" fmla="*/ 19 h 406"/>
                  <a:gd name="T16" fmla="*/ 305 w 386"/>
                  <a:gd name="T17" fmla="*/ 7 h 406"/>
                  <a:gd name="T18" fmla="*/ 177 w 386"/>
                  <a:gd name="T19" fmla="*/ 59 h 406"/>
                  <a:gd name="T20" fmla="*/ 93 w 386"/>
                  <a:gd name="T21" fmla="*/ 151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6" h="406">
                    <a:moveTo>
                      <a:pt x="93" y="151"/>
                    </a:moveTo>
                    <a:cubicBezTo>
                      <a:pt x="68" y="178"/>
                      <a:pt x="44" y="193"/>
                      <a:pt x="29" y="219"/>
                    </a:cubicBezTo>
                    <a:cubicBezTo>
                      <a:pt x="14" y="245"/>
                      <a:pt x="2" y="278"/>
                      <a:pt x="1" y="307"/>
                    </a:cubicBezTo>
                    <a:cubicBezTo>
                      <a:pt x="0" y="336"/>
                      <a:pt x="4" y="384"/>
                      <a:pt x="25" y="395"/>
                    </a:cubicBezTo>
                    <a:cubicBezTo>
                      <a:pt x="46" y="406"/>
                      <a:pt x="84" y="404"/>
                      <a:pt x="129" y="375"/>
                    </a:cubicBezTo>
                    <a:cubicBezTo>
                      <a:pt x="174" y="346"/>
                      <a:pt x="252" y="266"/>
                      <a:pt x="293" y="219"/>
                    </a:cubicBezTo>
                    <a:cubicBezTo>
                      <a:pt x="334" y="172"/>
                      <a:pt x="360" y="128"/>
                      <a:pt x="373" y="95"/>
                    </a:cubicBezTo>
                    <a:cubicBezTo>
                      <a:pt x="386" y="62"/>
                      <a:pt x="384" y="34"/>
                      <a:pt x="373" y="19"/>
                    </a:cubicBezTo>
                    <a:cubicBezTo>
                      <a:pt x="362" y="4"/>
                      <a:pt x="338" y="0"/>
                      <a:pt x="305" y="7"/>
                    </a:cubicBezTo>
                    <a:cubicBezTo>
                      <a:pt x="272" y="14"/>
                      <a:pt x="212" y="34"/>
                      <a:pt x="177" y="59"/>
                    </a:cubicBezTo>
                    <a:cubicBezTo>
                      <a:pt x="142" y="84"/>
                      <a:pt x="118" y="124"/>
                      <a:pt x="93" y="151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49" name="Freeform 105" descr="宽上对角线"/>
              <p:cNvSpPr>
                <a:spLocks/>
              </p:cNvSpPr>
              <p:nvPr/>
            </p:nvSpPr>
            <p:spPr bwMode="auto">
              <a:xfrm rot="5400000" flipH="1">
                <a:off x="4852" y="2266"/>
                <a:ext cx="449" cy="733"/>
              </a:xfrm>
              <a:custGeom>
                <a:avLst/>
                <a:gdLst>
                  <a:gd name="T0" fmla="*/ 210 w 319"/>
                  <a:gd name="T1" fmla="*/ 77 h 450"/>
                  <a:gd name="T2" fmla="*/ 130 w 319"/>
                  <a:gd name="T3" fmla="*/ 9 h 450"/>
                  <a:gd name="T4" fmla="*/ 54 w 319"/>
                  <a:gd name="T5" fmla="*/ 21 h 450"/>
                  <a:gd name="T6" fmla="*/ 10 w 319"/>
                  <a:gd name="T7" fmla="*/ 73 h 450"/>
                  <a:gd name="T8" fmla="*/ 6 w 319"/>
                  <a:gd name="T9" fmla="*/ 157 h 450"/>
                  <a:gd name="T10" fmla="*/ 46 w 319"/>
                  <a:gd name="T11" fmla="*/ 277 h 450"/>
                  <a:gd name="T12" fmla="*/ 122 w 319"/>
                  <a:gd name="T13" fmla="*/ 373 h 450"/>
                  <a:gd name="T14" fmla="*/ 218 w 319"/>
                  <a:gd name="T15" fmla="*/ 433 h 450"/>
                  <a:gd name="T16" fmla="*/ 298 w 319"/>
                  <a:gd name="T17" fmla="*/ 437 h 450"/>
                  <a:gd name="T18" fmla="*/ 318 w 319"/>
                  <a:gd name="T19" fmla="*/ 353 h 450"/>
                  <a:gd name="T20" fmla="*/ 302 w 319"/>
                  <a:gd name="T21" fmla="*/ 241 h 450"/>
                  <a:gd name="T22" fmla="*/ 258 w 319"/>
                  <a:gd name="T23" fmla="*/ 133 h 450"/>
                  <a:gd name="T24" fmla="*/ 210 w 319"/>
                  <a:gd name="T25" fmla="*/ 77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19" h="450">
                    <a:moveTo>
                      <a:pt x="210" y="77"/>
                    </a:moveTo>
                    <a:cubicBezTo>
                      <a:pt x="189" y="56"/>
                      <a:pt x="156" y="18"/>
                      <a:pt x="130" y="9"/>
                    </a:cubicBezTo>
                    <a:cubicBezTo>
                      <a:pt x="104" y="0"/>
                      <a:pt x="74" y="10"/>
                      <a:pt x="54" y="21"/>
                    </a:cubicBezTo>
                    <a:cubicBezTo>
                      <a:pt x="34" y="32"/>
                      <a:pt x="18" y="50"/>
                      <a:pt x="10" y="73"/>
                    </a:cubicBezTo>
                    <a:cubicBezTo>
                      <a:pt x="2" y="96"/>
                      <a:pt x="0" y="123"/>
                      <a:pt x="6" y="157"/>
                    </a:cubicBezTo>
                    <a:cubicBezTo>
                      <a:pt x="12" y="191"/>
                      <a:pt x="27" y="241"/>
                      <a:pt x="46" y="277"/>
                    </a:cubicBezTo>
                    <a:cubicBezTo>
                      <a:pt x="65" y="313"/>
                      <a:pt x="93" y="347"/>
                      <a:pt x="122" y="373"/>
                    </a:cubicBezTo>
                    <a:cubicBezTo>
                      <a:pt x="151" y="399"/>
                      <a:pt x="189" y="422"/>
                      <a:pt x="218" y="433"/>
                    </a:cubicBezTo>
                    <a:cubicBezTo>
                      <a:pt x="247" y="444"/>
                      <a:pt x="281" y="450"/>
                      <a:pt x="298" y="437"/>
                    </a:cubicBezTo>
                    <a:cubicBezTo>
                      <a:pt x="315" y="424"/>
                      <a:pt x="317" y="386"/>
                      <a:pt x="318" y="353"/>
                    </a:cubicBezTo>
                    <a:cubicBezTo>
                      <a:pt x="319" y="320"/>
                      <a:pt x="312" y="278"/>
                      <a:pt x="302" y="241"/>
                    </a:cubicBezTo>
                    <a:cubicBezTo>
                      <a:pt x="292" y="204"/>
                      <a:pt x="272" y="160"/>
                      <a:pt x="258" y="133"/>
                    </a:cubicBezTo>
                    <a:cubicBezTo>
                      <a:pt x="244" y="106"/>
                      <a:pt x="231" y="98"/>
                      <a:pt x="210" y="77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0" name="Freeform 106" descr="宽上对角线"/>
              <p:cNvSpPr>
                <a:spLocks/>
              </p:cNvSpPr>
              <p:nvPr/>
            </p:nvSpPr>
            <p:spPr bwMode="auto">
              <a:xfrm rot="5400000" flipH="1">
                <a:off x="3978" y="2845"/>
                <a:ext cx="653" cy="465"/>
              </a:xfrm>
              <a:custGeom>
                <a:avLst/>
                <a:gdLst>
                  <a:gd name="T0" fmla="*/ 170 w 463"/>
                  <a:gd name="T1" fmla="*/ 36 h 287"/>
                  <a:gd name="T2" fmla="*/ 42 w 463"/>
                  <a:gd name="T3" fmla="*/ 96 h 287"/>
                  <a:gd name="T4" fmla="*/ 10 w 463"/>
                  <a:gd name="T5" fmla="*/ 208 h 287"/>
                  <a:gd name="T6" fmla="*/ 102 w 463"/>
                  <a:gd name="T7" fmla="*/ 272 h 287"/>
                  <a:gd name="T8" fmla="*/ 266 w 463"/>
                  <a:gd name="T9" fmla="*/ 276 h 287"/>
                  <a:gd name="T10" fmla="*/ 430 w 463"/>
                  <a:gd name="T11" fmla="*/ 208 h 287"/>
                  <a:gd name="T12" fmla="*/ 462 w 463"/>
                  <a:gd name="T13" fmla="*/ 100 h 287"/>
                  <a:gd name="T14" fmla="*/ 426 w 463"/>
                  <a:gd name="T15" fmla="*/ 20 h 287"/>
                  <a:gd name="T16" fmla="*/ 338 w 463"/>
                  <a:gd name="T17" fmla="*/ 0 h 287"/>
                  <a:gd name="T18" fmla="*/ 222 w 463"/>
                  <a:gd name="T19" fmla="*/ 20 h 287"/>
                  <a:gd name="T20" fmla="*/ 170 w 463"/>
                  <a:gd name="T21" fmla="*/ 3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287">
                    <a:moveTo>
                      <a:pt x="170" y="36"/>
                    </a:moveTo>
                    <a:cubicBezTo>
                      <a:pt x="140" y="49"/>
                      <a:pt x="69" y="67"/>
                      <a:pt x="42" y="96"/>
                    </a:cubicBezTo>
                    <a:cubicBezTo>
                      <a:pt x="15" y="125"/>
                      <a:pt x="0" y="179"/>
                      <a:pt x="10" y="208"/>
                    </a:cubicBezTo>
                    <a:cubicBezTo>
                      <a:pt x="20" y="237"/>
                      <a:pt x="60" y="261"/>
                      <a:pt x="102" y="272"/>
                    </a:cubicBezTo>
                    <a:cubicBezTo>
                      <a:pt x="144" y="283"/>
                      <a:pt x="211" y="287"/>
                      <a:pt x="266" y="276"/>
                    </a:cubicBezTo>
                    <a:cubicBezTo>
                      <a:pt x="321" y="265"/>
                      <a:pt x="397" y="237"/>
                      <a:pt x="430" y="208"/>
                    </a:cubicBezTo>
                    <a:cubicBezTo>
                      <a:pt x="463" y="179"/>
                      <a:pt x="463" y="131"/>
                      <a:pt x="462" y="100"/>
                    </a:cubicBezTo>
                    <a:cubicBezTo>
                      <a:pt x="461" y="69"/>
                      <a:pt x="447" y="37"/>
                      <a:pt x="426" y="20"/>
                    </a:cubicBezTo>
                    <a:cubicBezTo>
                      <a:pt x="405" y="3"/>
                      <a:pt x="372" y="0"/>
                      <a:pt x="338" y="0"/>
                    </a:cubicBezTo>
                    <a:cubicBezTo>
                      <a:pt x="304" y="0"/>
                      <a:pt x="252" y="13"/>
                      <a:pt x="222" y="20"/>
                    </a:cubicBezTo>
                    <a:cubicBezTo>
                      <a:pt x="192" y="27"/>
                      <a:pt x="200" y="23"/>
                      <a:pt x="170" y="3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1" name="Freeform 107" descr="宽上对角线"/>
              <p:cNvSpPr>
                <a:spLocks/>
              </p:cNvSpPr>
              <p:nvPr/>
            </p:nvSpPr>
            <p:spPr bwMode="auto">
              <a:xfrm rot="13016966" flipH="1">
                <a:off x="3760" y="3274"/>
                <a:ext cx="640" cy="491"/>
              </a:xfrm>
              <a:custGeom>
                <a:avLst/>
                <a:gdLst>
                  <a:gd name="T0" fmla="*/ 225 w 443"/>
                  <a:gd name="T1" fmla="*/ 66 h 310"/>
                  <a:gd name="T2" fmla="*/ 77 w 443"/>
                  <a:gd name="T3" fmla="*/ 118 h 310"/>
                  <a:gd name="T4" fmla="*/ 5 w 443"/>
                  <a:gd name="T5" fmla="*/ 194 h 310"/>
                  <a:gd name="T6" fmla="*/ 45 w 443"/>
                  <a:gd name="T7" fmla="*/ 298 h 310"/>
                  <a:gd name="T8" fmla="*/ 157 w 443"/>
                  <a:gd name="T9" fmla="*/ 266 h 310"/>
                  <a:gd name="T10" fmla="*/ 325 w 443"/>
                  <a:gd name="T11" fmla="*/ 206 h 310"/>
                  <a:gd name="T12" fmla="*/ 429 w 443"/>
                  <a:gd name="T13" fmla="*/ 94 h 310"/>
                  <a:gd name="T14" fmla="*/ 409 w 443"/>
                  <a:gd name="T15" fmla="*/ 14 h 310"/>
                  <a:gd name="T16" fmla="*/ 361 w 443"/>
                  <a:gd name="T17" fmla="*/ 10 h 310"/>
                  <a:gd name="T18" fmla="*/ 265 w 443"/>
                  <a:gd name="T19" fmla="*/ 46 h 310"/>
                  <a:gd name="T20" fmla="*/ 225 w 443"/>
                  <a:gd name="T21" fmla="*/ 66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3" h="310">
                    <a:moveTo>
                      <a:pt x="225" y="66"/>
                    </a:moveTo>
                    <a:cubicBezTo>
                      <a:pt x="194" y="78"/>
                      <a:pt x="114" y="97"/>
                      <a:pt x="77" y="118"/>
                    </a:cubicBezTo>
                    <a:cubicBezTo>
                      <a:pt x="40" y="139"/>
                      <a:pt x="10" y="164"/>
                      <a:pt x="5" y="194"/>
                    </a:cubicBezTo>
                    <a:cubicBezTo>
                      <a:pt x="0" y="224"/>
                      <a:pt x="20" y="286"/>
                      <a:pt x="45" y="298"/>
                    </a:cubicBezTo>
                    <a:cubicBezTo>
                      <a:pt x="70" y="310"/>
                      <a:pt x="110" y="281"/>
                      <a:pt x="157" y="266"/>
                    </a:cubicBezTo>
                    <a:cubicBezTo>
                      <a:pt x="204" y="251"/>
                      <a:pt x="280" y="235"/>
                      <a:pt x="325" y="206"/>
                    </a:cubicBezTo>
                    <a:cubicBezTo>
                      <a:pt x="370" y="177"/>
                      <a:pt x="415" y="126"/>
                      <a:pt x="429" y="94"/>
                    </a:cubicBezTo>
                    <a:cubicBezTo>
                      <a:pt x="443" y="62"/>
                      <a:pt x="420" y="28"/>
                      <a:pt x="409" y="14"/>
                    </a:cubicBezTo>
                    <a:cubicBezTo>
                      <a:pt x="398" y="0"/>
                      <a:pt x="385" y="5"/>
                      <a:pt x="361" y="10"/>
                    </a:cubicBezTo>
                    <a:cubicBezTo>
                      <a:pt x="337" y="15"/>
                      <a:pt x="290" y="34"/>
                      <a:pt x="265" y="46"/>
                    </a:cubicBezTo>
                    <a:cubicBezTo>
                      <a:pt x="240" y="58"/>
                      <a:pt x="256" y="54"/>
                      <a:pt x="225" y="6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2" name="Freeform 108" descr="宽上对角线"/>
              <p:cNvSpPr>
                <a:spLocks/>
              </p:cNvSpPr>
              <p:nvPr/>
            </p:nvSpPr>
            <p:spPr bwMode="auto">
              <a:xfrm rot="5400000" flipH="1">
                <a:off x="4338" y="2604"/>
                <a:ext cx="689" cy="421"/>
              </a:xfrm>
              <a:custGeom>
                <a:avLst/>
                <a:gdLst>
                  <a:gd name="T0" fmla="*/ 268 w 367"/>
                  <a:gd name="T1" fmla="*/ 56 h 221"/>
                  <a:gd name="T2" fmla="*/ 148 w 367"/>
                  <a:gd name="T3" fmla="*/ 12 h 221"/>
                  <a:gd name="T4" fmla="*/ 48 w 367"/>
                  <a:gd name="T5" fmla="*/ 12 h 221"/>
                  <a:gd name="T6" fmla="*/ 0 w 367"/>
                  <a:gd name="T7" fmla="*/ 84 h 221"/>
                  <a:gd name="T8" fmla="*/ 48 w 367"/>
                  <a:gd name="T9" fmla="*/ 176 h 221"/>
                  <a:gd name="T10" fmla="*/ 168 w 367"/>
                  <a:gd name="T11" fmla="*/ 188 h 221"/>
                  <a:gd name="T12" fmla="*/ 276 w 367"/>
                  <a:gd name="T13" fmla="*/ 212 h 221"/>
                  <a:gd name="T14" fmla="*/ 344 w 367"/>
                  <a:gd name="T15" fmla="*/ 208 h 221"/>
                  <a:gd name="T16" fmla="*/ 364 w 367"/>
                  <a:gd name="T17" fmla="*/ 132 h 221"/>
                  <a:gd name="T18" fmla="*/ 324 w 367"/>
                  <a:gd name="T19" fmla="*/ 76 h 221"/>
                  <a:gd name="T20" fmla="*/ 268 w 367"/>
                  <a:gd name="T21" fmla="*/ 56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7" h="221">
                    <a:moveTo>
                      <a:pt x="268" y="56"/>
                    </a:moveTo>
                    <a:cubicBezTo>
                      <a:pt x="239" y="45"/>
                      <a:pt x="185" y="19"/>
                      <a:pt x="148" y="12"/>
                    </a:cubicBezTo>
                    <a:cubicBezTo>
                      <a:pt x="111" y="5"/>
                      <a:pt x="73" y="0"/>
                      <a:pt x="48" y="12"/>
                    </a:cubicBezTo>
                    <a:cubicBezTo>
                      <a:pt x="23" y="24"/>
                      <a:pt x="0" y="57"/>
                      <a:pt x="0" y="84"/>
                    </a:cubicBezTo>
                    <a:cubicBezTo>
                      <a:pt x="0" y="111"/>
                      <a:pt x="20" y="159"/>
                      <a:pt x="48" y="176"/>
                    </a:cubicBezTo>
                    <a:cubicBezTo>
                      <a:pt x="76" y="193"/>
                      <a:pt x="130" y="182"/>
                      <a:pt x="168" y="188"/>
                    </a:cubicBezTo>
                    <a:cubicBezTo>
                      <a:pt x="206" y="194"/>
                      <a:pt x="247" y="209"/>
                      <a:pt x="276" y="212"/>
                    </a:cubicBezTo>
                    <a:cubicBezTo>
                      <a:pt x="305" y="215"/>
                      <a:pt x="329" y="221"/>
                      <a:pt x="344" y="208"/>
                    </a:cubicBezTo>
                    <a:cubicBezTo>
                      <a:pt x="359" y="195"/>
                      <a:pt x="367" y="154"/>
                      <a:pt x="364" y="132"/>
                    </a:cubicBezTo>
                    <a:cubicBezTo>
                      <a:pt x="361" y="110"/>
                      <a:pt x="341" y="88"/>
                      <a:pt x="324" y="76"/>
                    </a:cubicBezTo>
                    <a:cubicBezTo>
                      <a:pt x="307" y="64"/>
                      <a:pt x="297" y="67"/>
                      <a:pt x="268" y="5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3" name="Freeform 109" descr="宽上对角线"/>
              <p:cNvSpPr>
                <a:spLocks/>
              </p:cNvSpPr>
              <p:nvPr/>
            </p:nvSpPr>
            <p:spPr bwMode="auto">
              <a:xfrm rot="5400000" flipH="1">
                <a:off x="4031" y="2339"/>
                <a:ext cx="390" cy="527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4" name="Freeform 110"/>
              <p:cNvSpPr>
                <a:spLocks/>
              </p:cNvSpPr>
              <p:nvPr/>
            </p:nvSpPr>
            <p:spPr bwMode="auto">
              <a:xfrm rot="5400000" flipH="1">
                <a:off x="5009" y="3385"/>
                <a:ext cx="152" cy="326"/>
              </a:xfrm>
              <a:custGeom>
                <a:avLst/>
                <a:gdLst>
                  <a:gd name="T0" fmla="*/ 104 w 108"/>
                  <a:gd name="T1" fmla="*/ 78 h 200"/>
                  <a:gd name="T2" fmla="*/ 89 w 108"/>
                  <a:gd name="T3" fmla="*/ 18 h 200"/>
                  <a:gd name="T4" fmla="*/ 41 w 108"/>
                  <a:gd name="T5" fmla="*/ 3 h 200"/>
                  <a:gd name="T6" fmla="*/ 5 w 108"/>
                  <a:gd name="T7" fmla="*/ 36 h 200"/>
                  <a:gd name="T8" fmla="*/ 11 w 108"/>
                  <a:gd name="T9" fmla="*/ 111 h 200"/>
                  <a:gd name="T10" fmla="*/ 26 w 108"/>
                  <a:gd name="T11" fmla="*/ 177 h 200"/>
                  <a:gd name="T12" fmla="*/ 62 w 108"/>
                  <a:gd name="T13" fmla="*/ 189 h 200"/>
                  <a:gd name="T14" fmla="*/ 101 w 108"/>
                  <a:gd name="T15" fmla="*/ 114 h 200"/>
                  <a:gd name="T16" fmla="*/ 104 w 108"/>
                  <a:gd name="T17" fmla="*/ 7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8" h="200">
                    <a:moveTo>
                      <a:pt x="104" y="78"/>
                    </a:moveTo>
                    <a:cubicBezTo>
                      <a:pt x="102" y="62"/>
                      <a:pt x="100" y="31"/>
                      <a:pt x="89" y="18"/>
                    </a:cubicBezTo>
                    <a:cubicBezTo>
                      <a:pt x="78" y="5"/>
                      <a:pt x="55" y="0"/>
                      <a:pt x="41" y="3"/>
                    </a:cubicBezTo>
                    <a:cubicBezTo>
                      <a:pt x="27" y="6"/>
                      <a:pt x="10" y="18"/>
                      <a:pt x="5" y="36"/>
                    </a:cubicBezTo>
                    <a:cubicBezTo>
                      <a:pt x="0" y="54"/>
                      <a:pt x="8" y="88"/>
                      <a:pt x="11" y="111"/>
                    </a:cubicBezTo>
                    <a:cubicBezTo>
                      <a:pt x="14" y="134"/>
                      <a:pt x="17" y="164"/>
                      <a:pt x="26" y="177"/>
                    </a:cubicBezTo>
                    <a:cubicBezTo>
                      <a:pt x="35" y="190"/>
                      <a:pt x="49" y="200"/>
                      <a:pt x="62" y="189"/>
                    </a:cubicBezTo>
                    <a:cubicBezTo>
                      <a:pt x="75" y="178"/>
                      <a:pt x="94" y="134"/>
                      <a:pt x="101" y="114"/>
                    </a:cubicBezTo>
                    <a:cubicBezTo>
                      <a:pt x="108" y="94"/>
                      <a:pt x="106" y="94"/>
                      <a:pt x="104" y="7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8655" name="Freeform 111"/>
              <p:cNvSpPr>
                <a:spLocks/>
              </p:cNvSpPr>
              <p:nvPr/>
            </p:nvSpPr>
            <p:spPr bwMode="auto">
              <a:xfrm rot="5400000" flipH="1">
                <a:off x="5392" y="2720"/>
                <a:ext cx="106" cy="172"/>
              </a:xfrm>
              <a:custGeom>
                <a:avLst/>
                <a:gdLst>
                  <a:gd name="T0" fmla="*/ 10 w 75"/>
                  <a:gd name="T1" fmla="*/ 105 h 106"/>
                  <a:gd name="T2" fmla="*/ 67 w 75"/>
                  <a:gd name="T3" fmla="*/ 63 h 106"/>
                  <a:gd name="T4" fmla="*/ 58 w 75"/>
                  <a:gd name="T5" fmla="*/ 9 h 106"/>
                  <a:gd name="T6" fmla="*/ 22 w 75"/>
                  <a:gd name="T7" fmla="*/ 9 h 106"/>
                  <a:gd name="T8" fmla="*/ 7 w 75"/>
                  <a:gd name="T9" fmla="*/ 39 h 106"/>
                  <a:gd name="T10" fmla="*/ 4 w 75"/>
                  <a:gd name="T11" fmla="*/ 69 h 106"/>
                  <a:gd name="T12" fmla="*/ 10 w 75"/>
                  <a:gd name="T13" fmla="*/ 10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106">
                    <a:moveTo>
                      <a:pt x="10" y="105"/>
                    </a:moveTo>
                    <a:cubicBezTo>
                      <a:pt x="20" y="104"/>
                      <a:pt x="59" y="79"/>
                      <a:pt x="67" y="63"/>
                    </a:cubicBezTo>
                    <a:cubicBezTo>
                      <a:pt x="75" y="47"/>
                      <a:pt x="66" y="18"/>
                      <a:pt x="58" y="9"/>
                    </a:cubicBezTo>
                    <a:cubicBezTo>
                      <a:pt x="50" y="0"/>
                      <a:pt x="30" y="4"/>
                      <a:pt x="22" y="9"/>
                    </a:cubicBezTo>
                    <a:cubicBezTo>
                      <a:pt x="14" y="14"/>
                      <a:pt x="10" y="29"/>
                      <a:pt x="7" y="39"/>
                    </a:cubicBezTo>
                    <a:cubicBezTo>
                      <a:pt x="4" y="49"/>
                      <a:pt x="5" y="58"/>
                      <a:pt x="4" y="69"/>
                    </a:cubicBezTo>
                    <a:cubicBezTo>
                      <a:pt x="3" y="80"/>
                      <a:pt x="0" y="106"/>
                      <a:pt x="10" y="10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8656" name="Text Box 112"/>
            <p:cNvSpPr txBox="1">
              <a:spLocks noChangeArrowheads="1"/>
            </p:cNvSpPr>
            <p:nvPr/>
          </p:nvSpPr>
          <p:spPr bwMode="auto">
            <a:xfrm>
              <a:off x="3800" y="631"/>
              <a:ext cx="14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外荷载  总应力 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</a:p>
          </p:txBody>
        </p:sp>
      </p:grpSp>
      <p:sp>
        <p:nvSpPr>
          <p:cNvPr id="1388657" name="Text Box 113"/>
          <p:cNvSpPr txBox="1">
            <a:spLocks noChangeArrowheads="1"/>
          </p:cNvSpPr>
          <p:nvPr/>
        </p:nvSpPr>
        <p:spPr bwMode="auto">
          <a:xfrm>
            <a:off x="293688" y="696913"/>
            <a:ext cx="4964112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土体是由固体颗粒骨架、孔隙流体（水和气）三相构成的碎散材料，受外力作用后，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总应力由土骨架和孔隙流体共同承受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88658" name="Text Box 114"/>
          <p:cNvSpPr txBox="1">
            <a:spLocks noChangeArrowheads="1"/>
          </p:cNvSpPr>
          <p:nvPr/>
        </p:nvSpPr>
        <p:spPr bwMode="auto">
          <a:xfrm>
            <a:off x="3308350" y="5200650"/>
            <a:ext cx="525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Terzaghi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的有效应力原理和固结理论</a:t>
            </a:r>
          </a:p>
        </p:txBody>
      </p:sp>
      <p:sp>
        <p:nvSpPr>
          <p:cNvPr id="1388659" name="Text Box 115"/>
          <p:cNvSpPr txBox="1">
            <a:spLocks noChangeArrowheads="1"/>
          </p:cNvSpPr>
          <p:nvPr/>
        </p:nvSpPr>
        <p:spPr bwMode="auto">
          <a:xfrm>
            <a:off x="3519488" y="5794375"/>
            <a:ext cx="3241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有效应力原理</a:t>
            </a:r>
          </a:p>
        </p:txBody>
      </p:sp>
      <p:sp>
        <p:nvSpPr>
          <p:cNvPr id="1388660" name="AutoShape 116"/>
          <p:cNvSpPr>
            <a:spLocks noChangeArrowheads="1"/>
          </p:cNvSpPr>
          <p:nvPr/>
        </p:nvSpPr>
        <p:spPr bwMode="auto">
          <a:xfrm>
            <a:off x="2522538" y="5186363"/>
            <a:ext cx="685800" cy="485775"/>
          </a:xfrm>
          <a:prstGeom prst="homePlate">
            <a:avLst>
              <a:gd name="adj" fmla="val 35294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169934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8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88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8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3886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3886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3886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8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38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8627" grpId="0"/>
      <p:bldP spid="1388657" grpId="0"/>
      <p:bldP spid="1388658" grpId="0"/>
      <p:bldP spid="138866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661" name="Group 93"/>
          <p:cNvGrpSpPr>
            <a:grpSpLocks/>
          </p:cNvGrpSpPr>
          <p:nvPr/>
        </p:nvGrpSpPr>
        <p:grpSpPr bwMode="auto">
          <a:xfrm>
            <a:off x="5394325" y="1077913"/>
            <a:ext cx="3676650" cy="4178300"/>
            <a:chOff x="3378" y="679"/>
            <a:chExt cx="2316" cy="2632"/>
          </a:xfrm>
        </p:grpSpPr>
        <p:sp>
          <p:nvSpPr>
            <p:cNvPr id="1389662" name="Rectangle 94"/>
            <p:cNvSpPr>
              <a:spLocks noChangeArrowheads="1"/>
            </p:cNvSpPr>
            <p:nvPr/>
          </p:nvSpPr>
          <p:spPr bwMode="auto">
            <a:xfrm>
              <a:off x="3378" y="679"/>
              <a:ext cx="2316" cy="26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89663" name="Group 95"/>
            <p:cNvGrpSpPr>
              <a:grpSpLocks/>
            </p:cNvGrpSpPr>
            <p:nvPr/>
          </p:nvGrpSpPr>
          <p:grpSpPr bwMode="auto">
            <a:xfrm>
              <a:off x="3756" y="1457"/>
              <a:ext cx="1792" cy="1531"/>
              <a:chOff x="3756" y="1457"/>
              <a:chExt cx="1792" cy="1531"/>
            </a:xfrm>
          </p:grpSpPr>
          <p:sp>
            <p:nvSpPr>
              <p:cNvPr id="1389664" name="Rectangle 96"/>
              <p:cNvSpPr>
                <a:spLocks noChangeArrowheads="1"/>
              </p:cNvSpPr>
              <p:nvPr/>
            </p:nvSpPr>
            <p:spPr bwMode="auto">
              <a:xfrm>
                <a:off x="3810" y="1457"/>
                <a:ext cx="1738" cy="1531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9665" name="Freeform 97"/>
              <p:cNvSpPr>
                <a:spLocks/>
              </p:cNvSpPr>
              <p:nvPr/>
            </p:nvSpPr>
            <p:spPr bwMode="auto">
              <a:xfrm rot="5400000">
                <a:off x="4393" y="1851"/>
                <a:ext cx="1058" cy="989"/>
              </a:xfrm>
              <a:custGeom>
                <a:avLst/>
                <a:gdLst>
                  <a:gd name="T0" fmla="*/ 668 w 851"/>
                  <a:gd name="T1" fmla="*/ 1031 h 1059"/>
                  <a:gd name="T2" fmla="*/ 600 w 851"/>
                  <a:gd name="T3" fmla="*/ 942 h 1059"/>
                  <a:gd name="T4" fmla="*/ 505 w 851"/>
                  <a:gd name="T5" fmla="*/ 901 h 1059"/>
                  <a:gd name="T6" fmla="*/ 441 w 851"/>
                  <a:gd name="T7" fmla="*/ 723 h 1059"/>
                  <a:gd name="T8" fmla="*/ 360 w 851"/>
                  <a:gd name="T9" fmla="*/ 572 h 1059"/>
                  <a:gd name="T10" fmla="*/ 219 w 851"/>
                  <a:gd name="T11" fmla="*/ 410 h 1059"/>
                  <a:gd name="T12" fmla="*/ 128 w 851"/>
                  <a:gd name="T13" fmla="*/ 384 h 1059"/>
                  <a:gd name="T14" fmla="*/ 15 w 851"/>
                  <a:gd name="T15" fmla="*/ 363 h 1059"/>
                  <a:gd name="T16" fmla="*/ 38 w 851"/>
                  <a:gd name="T17" fmla="*/ 290 h 1059"/>
                  <a:gd name="T18" fmla="*/ 42 w 851"/>
                  <a:gd name="T19" fmla="*/ 223 h 1059"/>
                  <a:gd name="T20" fmla="*/ 38 w 851"/>
                  <a:gd name="T21" fmla="*/ 155 h 1059"/>
                  <a:gd name="T22" fmla="*/ 6 w 851"/>
                  <a:gd name="T23" fmla="*/ 87 h 1059"/>
                  <a:gd name="T24" fmla="*/ 79 w 851"/>
                  <a:gd name="T25" fmla="*/ 61 h 1059"/>
                  <a:gd name="T26" fmla="*/ 292 w 851"/>
                  <a:gd name="T27" fmla="*/ 40 h 1059"/>
                  <a:gd name="T28" fmla="*/ 500 w 851"/>
                  <a:gd name="T29" fmla="*/ 9 h 1059"/>
                  <a:gd name="T30" fmla="*/ 595 w 851"/>
                  <a:gd name="T31" fmla="*/ 3 h 1059"/>
                  <a:gd name="T32" fmla="*/ 641 w 851"/>
                  <a:gd name="T33" fmla="*/ 30 h 1059"/>
                  <a:gd name="T34" fmla="*/ 654 w 851"/>
                  <a:gd name="T35" fmla="*/ 71 h 1059"/>
                  <a:gd name="T36" fmla="*/ 661 w 851"/>
                  <a:gd name="T37" fmla="*/ 135 h 1059"/>
                  <a:gd name="T38" fmla="*/ 703 w 851"/>
                  <a:gd name="T39" fmla="*/ 199 h 1059"/>
                  <a:gd name="T40" fmla="*/ 805 w 851"/>
                  <a:gd name="T41" fmla="*/ 253 h 1059"/>
                  <a:gd name="T42" fmla="*/ 844 w 851"/>
                  <a:gd name="T43" fmla="*/ 327 h 1059"/>
                  <a:gd name="T44" fmla="*/ 763 w 851"/>
                  <a:gd name="T45" fmla="*/ 770 h 1059"/>
                  <a:gd name="T46" fmla="*/ 668 w 851"/>
                  <a:gd name="T47" fmla="*/ 1031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51" h="1059">
                    <a:moveTo>
                      <a:pt x="668" y="1031"/>
                    </a:moveTo>
                    <a:cubicBezTo>
                      <a:pt x="641" y="1059"/>
                      <a:pt x="627" y="963"/>
                      <a:pt x="600" y="942"/>
                    </a:cubicBezTo>
                    <a:cubicBezTo>
                      <a:pt x="573" y="922"/>
                      <a:pt x="530" y="937"/>
                      <a:pt x="505" y="901"/>
                    </a:cubicBezTo>
                    <a:cubicBezTo>
                      <a:pt x="479" y="864"/>
                      <a:pt x="465" y="777"/>
                      <a:pt x="441" y="723"/>
                    </a:cubicBezTo>
                    <a:cubicBezTo>
                      <a:pt x="417" y="669"/>
                      <a:pt x="396" y="624"/>
                      <a:pt x="360" y="572"/>
                    </a:cubicBezTo>
                    <a:cubicBezTo>
                      <a:pt x="323" y="520"/>
                      <a:pt x="257" y="442"/>
                      <a:pt x="219" y="410"/>
                    </a:cubicBezTo>
                    <a:cubicBezTo>
                      <a:pt x="181" y="379"/>
                      <a:pt x="162" y="391"/>
                      <a:pt x="128" y="384"/>
                    </a:cubicBezTo>
                    <a:cubicBezTo>
                      <a:pt x="95" y="377"/>
                      <a:pt x="30" y="379"/>
                      <a:pt x="15" y="363"/>
                    </a:cubicBezTo>
                    <a:cubicBezTo>
                      <a:pt x="0" y="348"/>
                      <a:pt x="33" y="313"/>
                      <a:pt x="38" y="290"/>
                    </a:cubicBezTo>
                    <a:cubicBezTo>
                      <a:pt x="42" y="268"/>
                      <a:pt x="42" y="245"/>
                      <a:pt x="42" y="223"/>
                    </a:cubicBezTo>
                    <a:cubicBezTo>
                      <a:pt x="42" y="200"/>
                      <a:pt x="44" y="177"/>
                      <a:pt x="38" y="155"/>
                    </a:cubicBezTo>
                    <a:cubicBezTo>
                      <a:pt x="32" y="132"/>
                      <a:pt x="0" y="103"/>
                      <a:pt x="6" y="87"/>
                    </a:cubicBezTo>
                    <a:cubicBezTo>
                      <a:pt x="12" y="71"/>
                      <a:pt x="32" y="68"/>
                      <a:pt x="79" y="61"/>
                    </a:cubicBezTo>
                    <a:cubicBezTo>
                      <a:pt x="125" y="54"/>
                      <a:pt x="222" y="49"/>
                      <a:pt x="292" y="40"/>
                    </a:cubicBezTo>
                    <a:cubicBezTo>
                      <a:pt x="361" y="31"/>
                      <a:pt x="450" y="14"/>
                      <a:pt x="500" y="9"/>
                    </a:cubicBezTo>
                    <a:cubicBezTo>
                      <a:pt x="550" y="3"/>
                      <a:pt x="571" y="0"/>
                      <a:pt x="595" y="3"/>
                    </a:cubicBezTo>
                    <a:cubicBezTo>
                      <a:pt x="620" y="7"/>
                      <a:pt x="632" y="19"/>
                      <a:pt x="641" y="30"/>
                    </a:cubicBezTo>
                    <a:cubicBezTo>
                      <a:pt x="650" y="40"/>
                      <a:pt x="651" y="54"/>
                      <a:pt x="654" y="71"/>
                    </a:cubicBezTo>
                    <a:cubicBezTo>
                      <a:pt x="657" y="88"/>
                      <a:pt x="653" y="114"/>
                      <a:pt x="661" y="135"/>
                    </a:cubicBezTo>
                    <a:cubicBezTo>
                      <a:pt x="669" y="156"/>
                      <a:pt x="679" y="179"/>
                      <a:pt x="703" y="199"/>
                    </a:cubicBezTo>
                    <a:cubicBezTo>
                      <a:pt x="727" y="219"/>
                      <a:pt x="782" y="232"/>
                      <a:pt x="805" y="253"/>
                    </a:cubicBezTo>
                    <a:cubicBezTo>
                      <a:pt x="828" y="274"/>
                      <a:pt x="851" y="241"/>
                      <a:pt x="844" y="327"/>
                    </a:cubicBezTo>
                    <a:cubicBezTo>
                      <a:pt x="837" y="413"/>
                      <a:pt x="792" y="653"/>
                      <a:pt x="763" y="770"/>
                    </a:cubicBezTo>
                    <a:cubicBezTo>
                      <a:pt x="734" y="887"/>
                      <a:pt x="695" y="1003"/>
                      <a:pt x="668" y="1031"/>
                    </a:cubicBez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66" name="Freeform 98" descr="宽上对角线"/>
              <p:cNvSpPr>
                <a:spLocks/>
              </p:cNvSpPr>
              <p:nvPr/>
            </p:nvSpPr>
            <p:spPr bwMode="auto">
              <a:xfrm>
                <a:off x="4054" y="2636"/>
                <a:ext cx="490" cy="351"/>
              </a:xfrm>
              <a:custGeom>
                <a:avLst/>
                <a:gdLst>
                  <a:gd name="T0" fmla="*/ 3 w 490"/>
                  <a:gd name="T1" fmla="*/ 113 h 264"/>
                  <a:gd name="T2" fmla="*/ 31 w 490"/>
                  <a:gd name="T3" fmla="*/ 49 h 264"/>
                  <a:gd name="T4" fmla="*/ 107 w 490"/>
                  <a:gd name="T5" fmla="*/ 36 h 264"/>
                  <a:gd name="T6" fmla="*/ 175 w 490"/>
                  <a:gd name="T7" fmla="*/ 1 h 264"/>
                  <a:gd name="T8" fmla="*/ 278 w 490"/>
                  <a:gd name="T9" fmla="*/ 40 h 264"/>
                  <a:gd name="T10" fmla="*/ 344 w 490"/>
                  <a:gd name="T11" fmla="*/ 40 h 264"/>
                  <a:gd name="T12" fmla="*/ 441 w 490"/>
                  <a:gd name="T13" fmla="*/ 29 h 264"/>
                  <a:gd name="T14" fmla="*/ 478 w 490"/>
                  <a:gd name="T15" fmla="*/ 63 h 264"/>
                  <a:gd name="T16" fmla="*/ 478 w 490"/>
                  <a:gd name="T17" fmla="*/ 142 h 264"/>
                  <a:gd name="T18" fmla="*/ 409 w 490"/>
                  <a:gd name="T19" fmla="*/ 220 h 264"/>
                  <a:gd name="T20" fmla="*/ 300 w 490"/>
                  <a:gd name="T21" fmla="*/ 260 h 264"/>
                  <a:gd name="T22" fmla="*/ 175 w 490"/>
                  <a:gd name="T23" fmla="*/ 243 h 264"/>
                  <a:gd name="T24" fmla="*/ 50 w 490"/>
                  <a:gd name="T25" fmla="*/ 198 h 264"/>
                  <a:gd name="T26" fmla="*/ 3 w 490"/>
                  <a:gd name="T27" fmla="*/ 113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0" h="264">
                    <a:moveTo>
                      <a:pt x="3" y="113"/>
                    </a:moveTo>
                    <a:cubicBezTo>
                      <a:pt x="0" y="88"/>
                      <a:pt x="14" y="62"/>
                      <a:pt x="31" y="49"/>
                    </a:cubicBezTo>
                    <a:cubicBezTo>
                      <a:pt x="48" y="36"/>
                      <a:pt x="83" y="44"/>
                      <a:pt x="107" y="36"/>
                    </a:cubicBezTo>
                    <a:cubicBezTo>
                      <a:pt x="131" y="28"/>
                      <a:pt x="147" y="0"/>
                      <a:pt x="175" y="1"/>
                    </a:cubicBezTo>
                    <a:cubicBezTo>
                      <a:pt x="203" y="2"/>
                      <a:pt x="250" y="33"/>
                      <a:pt x="278" y="40"/>
                    </a:cubicBezTo>
                    <a:cubicBezTo>
                      <a:pt x="306" y="47"/>
                      <a:pt x="316" y="42"/>
                      <a:pt x="344" y="40"/>
                    </a:cubicBezTo>
                    <a:cubicBezTo>
                      <a:pt x="371" y="39"/>
                      <a:pt x="418" y="25"/>
                      <a:pt x="441" y="29"/>
                    </a:cubicBezTo>
                    <a:cubicBezTo>
                      <a:pt x="463" y="33"/>
                      <a:pt x="472" y="44"/>
                      <a:pt x="478" y="63"/>
                    </a:cubicBezTo>
                    <a:cubicBezTo>
                      <a:pt x="485" y="81"/>
                      <a:pt x="490" y="115"/>
                      <a:pt x="478" y="142"/>
                    </a:cubicBezTo>
                    <a:cubicBezTo>
                      <a:pt x="467" y="168"/>
                      <a:pt x="439" y="201"/>
                      <a:pt x="409" y="220"/>
                    </a:cubicBezTo>
                    <a:cubicBezTo>
                      <a:pt x="380" y="240"/>
                      <a:pt x="339" y="256"/>
                      <a:pt x="300" y="260"/>
                    </a:cubicBezTo>
                    <a:cubicBezTo>
                      <a:pt x="261" y="264"/>
                      <a:pt x="216" y="253"/>
                      <a:pt x="175" y="243"/>
                    </a:cubicBezTo>
                    <a:cubicBezTo>
                      <a:pt x="133" y="233"/>
                      <a:pt x="80" y="218"/>
                      <a:pt x="50" y="198"/>
                    </a:cubicBezTo>
                    <a:cubicBezTo>
                      <a:pt x="20" y="178"/>
                      <a:pt x="7" y="149"/>
                      <a:pt x="3" y="113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67" name="Freeform 99" descr="宽上对角线"/>
              <p:cNvSpPr>
                <a:spLocks/>
              </p:cNvSpPr>
              <p:nvPr/>
            </p:nvSpPr>
            <p:spPr bwMode="auto">
              <a:xfrm rot="5400000" flipH="1">
                <a:off x="5183" y="2627"/>
                <a:ext cx="398" cy="313"/>
              </a:xfrm>
              <a:custGeom>
                <a:avLst/>
                <a:gdLst>
                  <a:gd name="T0" fmla="*/ 292 w 616"/>
                  <a:gd name="T1" fmla="*/ 193 h 206"/>
                  <a:gd name="T2" fmla="*/ 452 w 616"/>
                  <a:gd name="T3" fmla="*/ 201 h 206"/>
                  <a:gd name="T4" fmla="*/ 592 w 616"/>
                  <a:gd name="T5" fmla="*/ 165 h 206"/>
                  <a:gd name="T6" fmla="*/ 596 w 616"/>
                  <a:gd name="T7" fmla="*/ 81 h 206"/>
                  <a:gd name="T8" fmla="*/ 548 w 616"/>
                  <a:gd name="T9" fmla="*/ 13 h 206"/>
                  <a:gd name="T10" fmla="*/ 444 w 616"/>
                  <a:gd name="T11" fmla="*/ 1 h 206"/>
                  <a:gd name="T12" fmla="*/ 284 w 616"/>
                  <a:gd name="T13" fmla="*/ 9 h 206"/>
                  <a:gd name="T14" fmla="*/ 128 w 616"/>
                  <a:gd name="T15" fmla="*/ 37 h 206"/>
                  <a:gd name="T16" fmla="*/ 28 w 616"/>
                  <a:gd name="T17" fmla="*/ 81 h 206"/>
                  <a:gd name="T18" fmla="*/ 44 w 616"/>
                  <a:gd name="T19" fmla="*/ 165 h 206"/>
                  <a:gd name="T20" fmla="*/ 292 w 616"/>
                  <a:gd name="T21" fmla="*/ 193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6" h="206">
                    <a:moveTo>
                      <a:pt x="292" y="193"/>
                    </a:moveTo>
                    <a:cubicBezTo>
                      <a:pt x="360" y="199"/>
                      <a:pt x="402" y="206"/>
                      <a:pt x="452" y="201"/>
                    </a:cubicBezTo>
                    <a:cubicBezTo>
                      <a:pt x="502" y="196"/>
                      <a:pt x="568" y="185"/>
                      <a:pt x="592" y="165"/>
                    </a:cubicBezTo>
                    <a:cubicBezTo>
                      <a:pt x="616" y="145"/>
                      <a:pt x="603" y="106"/>
                      <a:pt x="596" y="81"/>
                    </a:cubicBezTo>
                    <a:cubicBezTo>
                      <a:pt x="589" y="56"/>
                      <a:pt x="573" y="26"/>
                      <a:pt x="548" y="13"/>
                    </a:cubicBezTo>
                    <a:cubicBezTo>
                      <a:pt x="523" y="0"/>
                      <a:pt x="488" y="2"/>
                      <a:pt x="444" y="1"/>
                    </a:cubicBezTo>
                    <a:cubicBezTo>
                      <a:pt x="400" y="0"/>
                      <a:pt x="337" y="3"/>
                      <a:pt x="284" y="9"/>
                    </a:cubicBezTo>
                    <a:cubicBezTo>
                      <a:pt x="231" y="15"/>
                      <a:pt x="171" y="25"/>
                      <a:pt x="128" y="37"/>
                    </a:cubicBezTo>
                    <a:cubicBezTo>
                      <a:pt x="85" y="49"/>
                      <a:pt x="42" y="60"/>
                      <a:pt x="28" y="81"/>
                    </a:cubicBezTo>
                    <a:cubicBezTo>
                      <a:pt x="14" y="102"/>
                      <a:pt x="0" y="146"/>
                      <a:pt x="44" y="165"/>
                    </a:cubicBezTo>
                    <a:cubicBezTo>
                      <a:pt x="88" y="184"/>
                      <a:pt x="224" y="187"/>
                      <a:pt x="292" y="193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68" name="Freeform 100" descr="宽上对角线"/>
              <p:cNvSpPr>
                <a:spLocks/>
              </p:cNvSpPr>
              <p:nvPr/>
            </p:nvSpPr>
            <p:spPr bwMode="auto">
              <a:xfrm rot="1736741">
                <a:off x="4361" y="2380"/>
                <a:ext cx="264" cy="339"/>
              </a:xfrm>
              <a:custGeom>
                <a:avLst/>
                <a:gdLst>
                  <a:gd name="T0" fmla="*/ 282 w 440"/>
                  <a:gd name="T1" fmla="*/ 260 h 345"/>
                  <a:gd name="T2" fmla="*/ 211 w 440"/>
                  <a:gd name="T3" fmla="*/ 317 h 345"/>
                  <a:gd name="T4" fmla="*/ 119 w 440"/>
                  <a:gd name="T5" fmla="*/ 342 h 345"/>
                  <a:gd name="T6" fmla="*/ 27 w 440"/>
                  <a:gd name="T7" fmla="*/ 321 h 345"/>
                  <a:gd name="T8" fmla="*/ 21 w 440"/>
                  <a:gd name="T9" fmla="*/ 198 h 345"/>
                  <a:gd name="T10" fmla="*/ 152 w 440"/>
                  <a:gd name="T11" fmla="*/ 64 h 345"/>
                  <a:gd name="T12" fmla="*/ 341 w 440"/>
                  <a:gd name="T13" fmla="*/ 10 h 345"/>
                  <a:gd name="T14" fmla="*/ 420 w 440"/>
                  <a:gd name="T15" fmla="*/ 10 h 345"/>
                  <a:gd name="T16" fmla="*/ 433 w 440"/>
                  <a:gd name="T17" fmla="*/ 70 h 345"/>
                  <a:gd name="T18" fmla="*/ 378 w 440"/>
                  <a:gd name="T19" fmla="*/ 185 h 345"/>
                  <a:gd name="T20" fmla="*/ 282 w 440"/>
                  <a:gd name="T21" fmla="*/ 26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0" h="345">
                    <a:moveTo>
                      <a:pt x="282" y="260"/>
                    </a:moveTo>
                    <a:cubicBezTo>
                      <a:pt x="254" y="282"/>
                      <a:pt x="238" y="304"/>
                      <a:pt x="211" y="317"/>
                    </a:cubicBezTo>
                    <a:cubicBezTo>
                      <a:pt x="184" y="330"/>
                      <a:pt x="149" y="341"/>
                      <a:pt x="119" y="342"/>
                    </a:cubicBezTo>
                    <a:cubicBezTo>
                      <a:pt x="88" y="343"/>
                      <a:pt x="43" y="345"/>
                      <a:pt x="27" y="321"/>
                    </a:cubicBezTo>
                    <a:cubicBezTo>
                      <a:pt x="11" y="297"/>
                      <a:pt x="0" y="241"/>
                      <a:pt x="21" y="198"/>
                    </a:cubicBezTo>
                    <a:cubicBezTo>
                      <a:pt x="42" y="155"/>
                      <a:pt x="99" y="95"/>
                      <a:pt x="152" y="64"/>
                    </a:cubicBezTo>
                    <a:cubicBezTo>
                      <a:pt x="205" y="33"/>
                      <a:pt x="296" y="19"/>
                      <a:pt x="341" y="10"/>
                    </a:cubicBezTo>
                    <a:cubicBezTo>
                      <a:pt x="386" y="1"/>
                      <a:pt x="404" y="0"/>
                      <a:pt x="420" y="10"/>
                    </a:cubicBezTo>
                    <a:cubicBezTo>
                      <a:pt x="436" y="19"/>
                      <a:pt x="440" y="41"/>
                      <a:pt x="433" y="70"/>
                    </a:cubicBezTo>
                    <a:cubicBezTo>
                      <a:pt x="425" y="100"/>
                      <a:pt x="404" y="154"/>
                      <a:pt x="378" y="185"/>
                    </a:cubicBezTo>
                    <a:cubicBezTo>
                      <a:pt x="352" y="216"/>
                      <a:pt x="310" y="238"/>
                      <a:pt x="282" y="260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69" name="Freeform 101" descr="宽上对角线"/>
              <p:cNvSpPr>
                <a:spLocks/>
              </p:cNvSpPr>
              <p:nvPr/>
            </p:nvSpPr>
            <p:spPr bwMode="auto">
              <a:xfrm>
                <a:off x="4663" y="2359"/>
                <a:ext cx="390" cy="394"/>
              </a:xfrm>
              <a:custGeom>
                <a:avLst/>
                <a:gdLst>
                  <a:gd name="T0" fmla="*/ 317 w 390"/>
                  <a:gd name="T1" fmla="*/ 95 h 296"/>
                  <a:gd name="T2" fmla="*/ 381 w 390"/>
                  <a:gd name="T3" fmla="*/ 171 h 296"/>
                  <a:gd name="T4" fmla="*/ 370 w 390"/>
                  <a:gd name="T5" fmla="*/ 244 h 296"/>
                  <a:gd name="T6" fmla="*/ 320 w 390"/>
                  <a:gd name="T7" fmla="*/ 286 h 296"/>
                  <a:gd name="T8" fmla="*/ 240 w 390"/>
                  <a:gd name="T9" fmla="*/ 290 h 296"/>
                  <a:gd name="T10" fmla="*/ 126 w 390"/>
                  <a:gd name="T11" fmla="*/ 252 h 296"/>
                  <a:gd name="T12" fmla="*/ 34 w 390"/>
                  <a:gd name="T13" fmla="*/ 179 h 296"/>
                  <a:gd name="T14" fmla="*/ 1 w 390"/>
                  <a:gd name="T15" fmla="*/ 105 h 296"/>
                  <a:gd name="T16" fmla="*/ 26 w 390"/>
                  <a:gd name="T17" fmla="*/ 51 h 296"/>
                  <a:gd name="T18" fmla="*/ 78 w 390"/>
                  <a:gd name="T19" fmla="*/ 13 h 296"/>
                  <a:gd name="T20" fmla="*/ 160 w 390"/>
                  <a:gd name="T21" fmla="*/ 6 h 296"/>
                  <a:gd name="T22" fmla="*/ 263 w 390"/>
                  <a:gd name="T23" fmla="*/ 49 h 296"/>
                  <a:gd name="T24" fmla="*/ 317 w 390"/>
                  <a:gd name="T25" fmla="*/ 95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0" h="296">
                    <a:moveTo>
                      <a:pt x="317" y="95"/>
                    </a:moveTo>
                    <a:cubicBezTo>
                      <a:pt x="337" y="115"/>
                      <a:pt x="373" y="146"/>
                      <a:pt x="381" y="171"/>
                    </a:cubicBezTo>
                    <a:cubicBezTo>
                      <a:pt x="390" y="196"/>
                      <a:pt x="380" y="225"/>
                      <a:pt x="370" y="244"/>
                    </a:cubicBezTo>
                    <a:cubicBezTo>
                      <a:pt x="359" y="263"/>
                      <a:pt x="342" y="279"/>
                      <a:pt x="320" y="286"/>
                    </a:cubicBezTo>
                    <a:cubicBezTo>
                      <a:pt x="298" y="294"/>
                      <a:pt x="273" y="296"/>
                      <a:pt x="240" y="290"/>
                    </a:cubicBezTo>
                    <a:cubicBezTo>
                      <a:pt x="208" y="284"/>
                      <a:pt x="160" y="270"/>
                      <a:pt x="126" y="252"/>
                    </a:cubicBezTo>
                    <a:cubicBezTo>
                      <a:pt x="92" y="234"/>
                      <a:pt x="55" y="203"/>
                      <a:pt x="34" y="179"/>
                    </a:cubicBezTo>
                    <a:cubicBezTo>
                      <a:pt x="13" y="155"/>
                      <a:pt x="2" y="126"/>
                      <a:pt x="1" y="105"/>
                    </a:cubicBezTo>
                    <a:cubicBezTo>
                      <a:pt x="0" y="84"/>
                      <a:pt x="13" y="66"/>
                      <a:pt x="26" y="51"/>
                    </a:cubicBezTo>
                    <a:cubicBezTo>
                      <a:pt x="39" y="36"/>
                      <a:pt x="56" y="20"/>
                      <a:pt x="78" y="13"/>
                    </a:cubicBezTo>
                    <a:cubicBezTo>
                      <a:pt x="100" y="6"/>
                      <a:pt x="129" y="0"/>
                      <a:pt x="160" y="6"/>
                    </a:cubicBezTo>
                    <a:cubicBezTo>
                      <a:pt x="191" y="12"/>
                      <a:pt x="237" y="35"/>
                      <a:pt x="263" y="49"/>
                    </a:cubicBezTo>
                    <a:cubicBezTo>
                      <a:pt x="289" y="62"/>
                      <a:pt x="297" y="74"/>
                      <a:pt x="317" y="95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0" name="Freeform 102" descr="宽上对角线"/>
              <p:cNvSpPr>
                <a:spLocks/>
              </p:cNvSpPr>
              <p:nvPr/>
            </p:nvSpPr>
            <p:spPr bwMode="auto">
              <a:xfrm rot="10800000" flipH="1">
                <a:off x="4978" y="2307"/>
                <a:ext cx="326" cy="319"/>
              </a:xfrm>
              <a:custGeom>
                <a:avLst/>
                <a:gdLst>
                  <a:gd name="T0" fmla="*/ 170 w 463"/>
                  <a:gd name="T1" fmla="*/ 36 h 287"/>
                  <a:gd name="T2" fmla="*/ 42 w 463"/>
                  <a:gd name="T3" fmla="*/ 96 h 287"/>
                  <a:gd name="T4" fmla="*/ 10 w 463"/>
                  <a:gd name="T5" fmla="*/ 208 h 287"/>
                  <a:gd name="T6" fmla="*/ 102 w 463"/>
                  <a:gd name="T7" fmla="*/ 272 h 287"/>
                  <a:gd name="T8" fmla="*/ 266 w 463"/>
                  <a:gd name="T9" fmla="*/ 276 h 287"/>
                  <a:gd name="T10" fmla="*/ 430 w 463"/>
                  <a:gd name="T11" fmla="*/ 208 h 287"/>
                  <a:gd name="T12" fmla="*/ 462 w 463"/>
                  <a:gd name="T13" fmla="*/ 100 h 287"/>
                  <a:gd name="T14" fmla="*/ 426 w 463"/>
                  <a:gd name="T15" fmla="*/ 20 h 287"/>
                  <a:gd name="T16" fmla="*/ 338 w 463"/>
                  <a:gd name="T17" fmla="*/ 0 h 287"/>
                  <a:gd name="T18" fmla="*/ 222 w 463"/>
                  <a:gd name="T19" fmla="*/ 20 h 287"/>
                  <a:gd name="T20" fmla="*/ 170 w 463"/>
                  <a:gd name="T21" fmla="*/ 3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287">
                    <a:moveTo>
                      <a:pt x="170" y="36"/>
                    </a:moveTo>
                    <a:cubicBezTo>
                      <a:pt x="140" y="49"/>
                      <a:pt x="69" y="67"/>
                      <a:pt x="42" y="96"/>
                    </a:cubicBezTo>
                    <a:cubicBezTo>
                      <a:pt x="15" y="125"/>
                      <a:pt x="0" y="179"/>
                      <a:pt x="10" y="208"/>
                    </a:cubicBezTo>
                    <a:cubicBezTo>
                      <a:pt x="20" y="237"/>
                      <a:pt x="60" y="261"/>
                      <a:pt x="102" y="272"/>
                    </a:cubicBezTo>
                    <a:cubicBezTo>
                      <a:pt x="144" y="283"/>
                      <a:pt x="211" y="287"/>
                      <a:pt x="266" y="276"/>
                    </a:cubicBezTo>
                    <a:cubicBezTo>
                      <a:pt x="321" y="265"/>
                      <a:pt x="397" y="237"/>
                      <a:pt x="430" y="208"/>
                    </a:cubicBezTo>
                    <a:cubicBezTo>
                      <a:pt x="463" y="179"/>
                      <a:pt x="463" y="131"/>
                      <a:pt x="462" y="100"/>
                    </a:cubicBezTo>
                    <a:cubicBezTo>
                      <a:pt x="461" y="69"/>
                      <a:pt x="447" y="37"/>
                      <a:pt x="426" y="20"/>
                    </a:cubicBezTo>
                    <a:cubicBezTo>
                      <a:pt x="405" y="3"/>
                      <a:pt x="372" y="0"/>
                      <a:pt x="338" y="0"/>
                    </a:cubicBezTo>
                    <a:cubicBezTo>
                      <a:pt x="304" y="0"/>
                      <a:pt x="252" y="13"/>
                      <a:pt x="222" y="20"/>
                    </a:cubicBezTo>
                    <a:cubicBezTo>
                      <a:pt x="192" y="27"/>
                      <a:pt x="200" y="23"/>
                      <a:pt x="170" y="3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1" name="Freeform 103" descr="宽上对角线"/>
              <p:cNvSpPr>
                <a:spLocks/>
              </p:cNvSpPr>
              <p:nvPr/>
            </p:nvSpPr>
            <p:spPr bwMode="auto">
              <a:xfrm rot="13016966" flipH="1">
                <a:off x="3756" y="2444"/>
                <a:ext cx="371" cy="477"/>
              </a:xfrm>
              <a:custGeom>
                <a:avLst/>
                <a:gdLst>
                  <a:gd name="T0" fmla="*/ 225 w 443"/>
                  <a:gd name="T1" fmla="*/ 66 h 310"/>
                  <a:gd name="T2" fmla="*/ 77 w 443"/>
                  <a:gd name="T3" fmla="*/ 118 h 310"/>
                  <a:gd name="T4" fmla="*/ 5 w 443"/>
                  <a:gd name="T5" fmla="*/ 194 h 310"/>
                  <a:gd name="T6" fmla="*/ 45 w 443"/>
                  <a:gd name="T7" fmla="*/ 298 h 310"/>
                  <a:gd name="T8" fmla="*/ 157 w 443"/>
                  <a:gd name="T9" fmla="*/ 266 h 310"/>
                  <a:gd name="T10" fmla="*/ 325 w 443"/>
                  <a:gd name="T11" fmla="*/ 206 h 310"/>
                  <a:gd name="T12" fmla="*/ 429 w 443"/>
                  <a:gd name="T13" fmla="*/ 94 h 310"/>
                  <a:gd name="T14" fmla="*/ 409 w 443"/>
                  <a:gd name="T15" fmla="*/ 14 h 310"/>
                  <a:gd name="T16" fmla="*/ 361 w 443"/>
                  <a:gd name="T17" fmla="*/ 10 h 310"/>
                  <a:gd name="T18" fmla="*/ 265 w 443"/>
                  <a:gd name="T19" fmla="*/ 46 h 310"/>
                  <a:gd name="T20" fmla="*/ 225 w 443"/>
                  <a:gd name="T21" fmla="*/ 66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3" h="310">
                    <a:moveTo>
                      <a:pt x="225" y="66"/>
                    </a:moveTo>
                    <a:cubicBezTo>
                      <a:pt x="194" y="78"/>
                      <a:pt x="114" y="97"/>
                      <a:pt x="77" y="118"/>
                    </a:cubicBezTo>
                    <a:cubicBezTo>
                      <a:pt x="40" y="139"/>
                      <a:pt x="10" y="164"/>
                      <a:pt x="5" y="194"/>
                    </a:cubicBezTo>
                    <a:cubicBezTo>
                      <a:pt x="0" y="224"/>
                      <a:pt x="20" y="286"/>
                      <a:pt x="45" y="298"/>
                    </a:cubicBezTo>
                    <a:cubicBezTo>
                      <a:pt x="70" y="310"/>
                      <a:pt x="110" y="281"/>
                      <a:pt x="157" y="266"/>
                    </a:cubicBezTo>
                    <a:cubicBezTo>
                      <a:pt x="204" y="251"/>
                      <a:pt x="280" y="235"/>
                      <a:pt x="325" y="206"/>
                    </a:cubicBezTo>
                    <a:cubicBezTo>
                      <a:pt x="370" y="177"/>
                      <a:pt x="415" y="126"/>
                      <a:pt x="429" y="94"/>
                    </a:cubicBezTo>
                    <a:cubicBezTo>
                      <a:pt x="443" y="62"/>
                      <a:pt x="420" y="28"/>
                      <a:pt x="409" y="14"/>
                    </a:cubicBezTo>
                    <a:cubicBezTo>
                      <a:pt x="398" y="0"/>
                      <a:pt x="385" y="5"/>
                      <a:pt x="361" y="10"/>
                    </a:cubicBezTo>
                    <a:cubicBezTo>
                      <a:pt x="337" y="15"/>
                      <a:pt x="290" y="34"/>
                      <a:pt x="265" y="46"/>
                    </a:cubicBezTo>
                    <a:cubicBezTo>
                      <a:pt x="240" y="58"/>
                      <a:pt x="256" y="54"/>
                      <a:pt x="225" y="6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2" name="Freeform 104" descr="宽上对角线"/>
              <p:cNvSpPr>
                <a:spLocks/>
              </p:cNvSpPr>
              <p:nvPr/>
            </p:nvSpPr>
            <p:spPr bwMode="auto">
              <a:xfrm rot="5400000" flipH="1">
                <a:off x="4505" y="2638"/>
                <a:ext cx="368" cy="325"/>
              </a:xfrm>
              <a:custGeom>
                <a:avLst/>
                <a:gdLst>
                  <a:gd name="T0" fmla="*/ 268 w 367"/>
                  <a:gd name="T1" fmla="*/ 56 h 221"/>
                  <a:gd name="T2" fmla="*/ 148 w 367"/>
                  <a:gd name="T3" fmla="*/ 12 h 221"/>
                  <a:gd name="T4" fmla="*/ 48 w 367"/>
                  <a:gd name="T5" fmla="*/ 12 h 221"/>
                  <a:gd name="T6" fmla="*/ 0 w 367"/>
                  <a:gd name="T7" fmla="*/ 84 h 221"/>
                  <a:gd name="T8" fmla="*/ 48 w 367"/>
                  <a:gd name="T9" fmla="*/ 176 h 221"/>
                  <a:gd name="T10" fmla="*/ 168 w 367"/>
                  <a:gd name="T11" fmla="*/ 188 h 221"/>
                  <a:gd name="T12" fmla="*/ 276 w 367"/>
                  <a:gd name="T13" fmla="*/ 212 h 221"/>
                  <a:gd name="T14" fmla="*/ 344 w 367"/>
                  <a:gd name="T15" fmla="*/ 208 h 221"/>
                  <a:gd name="T16" fmla="*/ 364 w 367"/>
                  <a:gd name="T17" fmla="*/ 132 h 221"/>
                  <a:gd name="T18" fmla="*/ 324 w 367"/>
                  <a:gd name="T19" fmla="*/ 76 h 221"/>
                  <a:gd name="T20" fmla="*/ 268 w 367"/>
                  <a:gd name="T21" fmla="*/ 56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7" h="221">
                    <a:moveTo>
                      <a:pt x="268" y="56"/>
                    </a:moveTo>
                    <a:cubicBezTo>
                      <a:pt x="239" y="45"/>
                      <a:pt x="185" y="19"/>
                      <a:pt x="148" y="12"/>
                    </a:cubicBezTo>
                    <a:cubicBezTo>
                      <a:pt x="111" y="5"/>
                      <a:pt x="73" y="0"/>
                      <a:pt x="48" y="12"/>
                    </a:cubicBezTo>
                    <a:cubicBezTo>
                      <a:pt x="23" y="24"/>
                      <a:pt x="0" y="57"/>
                      <a:pt x="0" y="84"/>
                    </a:cubicBezTo>
                    <a:cubicBezTo>
                      <a:pt x="0" y="111"/>
                      <a:pt x="20" y="159"/>
                      <a:pt x="48" y="176"/>
                    </a:cubicBezTo>
                    <a:cubicBezTo>
                      <a:pt x="76" y="193"/>
                      <a:pt x="130" y="182"/>
                      <a:pt x="168" y="188"/>
                    </a:cubicBezTo>
                    <a:cubicBezTo>
                      <a:pt x="206" y="194"/>
                      <a:pt x="247" y="209"/>
                      <a:pt x="276" y="212"/>
                    </a:cubicBezTo>
                    <a:cubicBezTo>
                      <a:pt x="305" y="215"/>
                      <a:pt x="329" y="221"/>
                      <a:pt x="344" y="208"/>
                    </a:cubicBezTo>
                    <a:cubicBezTo>
                      <a:pt x="359" y="195"/>
                      <a:pt x="367" y="154"/>
                      <a:pt x="364" y="132"/>
                    </a:cubicBezTo>
                    <a:cubicBezTo>
                      <a:pt x="361" y="110"/>
                      <a:pt x="341" y="88"/>
                      <a:pt x="324" y="76"/>
                    </a:cubicBezTo>
                    <a:cubicBezTo>
                      <a:pt x="307" y="64"/>
                      <a:pt x="297" y="67"/>
                      <a:pt x="268" y="5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3" name="Freeform 105" descr="宽上对角线"/>
              <p:cNvSpPr>
                <a:spLocks/>
              </p:cNvSpPr>
              <p:nvPr/>
            </p:nvSpPr>
            <p:spPr bwMode="auto">
              <a:xfrm rot="5400000" flipH="1">
                <a:off x="4870" y="2614"/>
                <a:ext cx="335" cy="374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4" name="Freeform 106" descr="宽上对角线"/>
              <p:cNvSpPr>
                <a:spLocks/>
              </p:cNvSpPr>
              <p:nvPr/>
            </p:nvSpPr>
            <p:spPr bwMode="auto">
              <a:xfrm rot="5400000" flipH="1">
                <a:off x="4042" y="2325"/>
                <a:ext cx="285" cy="348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5" name="Freeform 107" descr="宽上对角线"/>
              <p:cNvSpPr>
                <a:spLocks/>
              </p:cNvSpPr>
              <p:nvPr/>
            </p:nvSpPr>
            <p:spPr bwMode="auto">
              <a:xfrm>
                <a:off x="5316" y="2347"/>
                <a:ext cx="228" cy="249"/>
              </a:xfrm>
              <a:custGeom>
                <a:avLst/>
                <a:gdLst>
                  <a:gd name="T0" fmla="*/ 72 w 228"/>
                  <a:gd name="T1" fmla="*/ 170 h 187"/>
                  <a:gd name="T2" fmla="*/ 129 w 228"/>
                  <a:gd name="T3" fmla="*/ 187 h 187"/>
                  <a:gd name="T4" fmla="*/ 187 w 228"/>
                  <a:gd name="T5" fmla="*/ 176 h 187"/>
                  <a:gd name="T6" fmla="*/ 228 w 228"/>
                  <a:gd name="T7" fmla="*/ 136 h 187"/>
                  <a:gd name="T8" fmla="*/ 186 w 228"/>
                  <a:gd name="T9" fmla="*/ 55 h 187"/>
                  <a:gd name="T10" fmla="*/ 70 w 228"/>
                  <a:gd name="T11" fmla="*/ 6 h 187"/>
                  <a:gd name="T12" fmla="*/ 0 w 228"/>
                  <a:gd name="T13" fmla="*/ 89 h 187"/>
                  <a:gd name="T14" fmla="*/ 72 w 228"/>
                  <a:gd name="T15" fmla="*/ 17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8" h="187">
                    <a:moveTo>
                      <a:pt x="72" y="170"/>
                    </a:moveTo>
                    <a:cubicBezTo>
                      <a:pt x="95" y="176"/>
                      <a:pt x="111" y="187"/>
                      <a:pt x="129" y="187"/>
                    </a:cubicBezTo>
                    <a:cubicBezTo>
                      <a:pt x="149" y="187"/>
                      <a:pt x="171" y="184"/>
                      <a:pt x="187" y="176"/>
                    </a:cubicBezTo>
                    <a:cubicBezTo>
                      <a:pt x="204" y="169"/>
                      <a:pt x="228" y="156"/>
                      <a:pt x="228" y="136"/>
                    </a:cubicBezTo>
                    <a:cubicBezTo>
                      <a:pt x="227" y="117"/>
                      <a:pt x="213" y="76"/>
                      <a:pt x="186" y="55"/>
                    </a:cubicBezTo>
                    <a:cubicBezTo>
                      <a:pt x="161" y="33"/>
                      <a:pt x="101" y="0"/>
                      <a:pt x="70" y="6"/>
                    </a:cubicBezTo>
                    <a:cubicBezTo>
                      <a:pt x="39" y="12"/>
                      <a:pt x="0" y="62"/>
                      <a:pt x="0" y="89"/>
                    </a:cubicBezTo>
                    <a:cubicBezTo>
                      <a:pt x="0" y="116"/>
                      <a:pt x="57" y="153"/>
                      <a:pt x="72" y="170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6" name="Freeform 108" descr="宽上对角线"/>
              <p:cNvSpPr>
                <a:spLocks/>
              </p:cNvSpPr>
              <p:nvPr/>
            </p:nvSpPr>
            <p:spPr bwMode="auto">
              <a:xfrm>
                <a:off x="5045" y="2020"/>
                <a:ext cx="491" cy="322"/>
              </a:xfrm>
              <a:custGeom>
                <a:avLst/>
                <a:gdLst>
                  <a:gd name="T0" fmla="*/ 7 w 491"/>
                  <a:gd name="T1" fmla="*/ 170 h 322"/>
                  <a:gd name="T2" fmla="*/ 25 w 491"/>
                  <a:gd name="T3" fmla="*/ 258 h 322"/>
                  <a:gd name="T4" fmla="*/ 99 w 491"/>
                  <a:gd name="T5" fmla="*/ 284 h 322"/>
                  <a:gd name="T6" fmla="*/ 186 w 491"/>
                  <a:gd name="T7" fmla="*/ 294 h 322"/>
                  <a:gd name="T8" fmla="*/ 269 w 491"/>
                  <a:gd name="T9" fmla="*/ 298 h 322"/>
                  <a:gd name="T10" fmla="*/ 340 w 491"/>
                  <a:gd name="T11" fmla="*/ 322 h 322"/>
                  <a:gd name="T12" fmla="*/ 429 w 491"/>
                  <a:gd name="T13" fmla="*/ 301 h 322"/>
                  <a:gd name="T14" fmla="*/ 467 w 491"/>
                  <a:gd name="T15" fmla="*/ 270 h 322"/>
                  <a:gd name="T16" fmla="*/ 484 w 491"/>
                  <a:gd name="T17" fmla="*/ 187 h 322"/>
                  <a:gd name="T18" fmla="*/ 427 w 491"/>
                  <a:gd name="T19" fmla="*/ 76 h 322"/>
                  <a:gd name="T20" fmla="*/ 325 w 491"/>
                  <a:gd name="T21" fmla="*/ 10 h 322"/>
                  <a:gd name="T22" fmla="*/ 198 w 491"/>
                  <a:gd name="T23" fmla="*/ 18 h 322"/>
                  <a:gd name="T24" fmla="*/ 67 w 491"/>
                  <a:gd name="T25" fmla="*/ 63 h 322"/>
                  <a:gd name="T26" fmla="*/ 7 w 491"/>
                  <a:gd name="T27" fmla="*/ 17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1" h="322">
                    <a:moveTo>
                      <a:pt x="7" y="170"/>
                    </a:moveTo>
                    <a:cubicBezTo>
                      <a:pt x="0" y="203"/>
                      <a:pt x="10" y="239"/>
                      <a:pt x="25" y="258"/>
                    </a:cubicBezTo>
                    <a:cubicBezTo>
                      <a:pt x="40" y="277"/>
                      <a:pt x="72" y="278"/>
                      <a:pt x="99" y="284"/>
                    </a:cubicBezTo>
                    <a:cubicBezTo>
                      <a:pt x="125" y="290"/>
                      <a:pt x="158" y="292"/>
                      <a:pt x="186" y="294"/>
                    </a:cubicBezTo>
                    <a:cubicBezTo>
                      <a:pt x="214" y="296"/>
                      <a:pt x="243" y="293"/>
                      <a:pt x="269" y="298"/>
                    </a:cubicBezTo>
                    <a:cubicBezTo>
                      <a:pt x="295" y="303"/>
                      <a:pt x="313" y="322"/>
                      <a:pt x="340" y="322"/>
                    </a:cubicBezTo>
                    <a:cubicBezTo>
                      <a:pt x="367" y="322"/>
                      <a:pt x="408" y="310"/>
                      <a:pt x="429" y="301"/>
                    </a:cubicBezTo>
                    <a:cubicBezTo>
                      <a:pt x="450" y="292"/>
                      <a:pt x="458" y="289"/>
                      <a:pt x="467" y="270"/>
                    </a:cubicBezTo>
                    <a:cubicBezTo>
                      <a:pt x="476" y="251"/>
                      <a:pt x="491" y="219"/>
                      <a:pt x="484" y="187"/>
                    </a:cubicBezTo>
                    <a:cubicBezTo>
                      <a:pt x="477" y="155"/>
                      <a:pt x="454" y="105"/>
                      <a:pt x="427" y="76"/>
                    </a:cubicBezTo>
                    <a:cubicBezTo>
                      <a:pt x="401" y="46"/>
                      <a:pt x="363" y="20"/>
                      <a:pt x="325" y="10"/>
                    </a:cubicBezTo>
                    <a:cubicBezTo>
                      <a:pt x="287" y="0"/>
                      <a:pt x="240" y="10"/>
                      <a:pt x="198" y="18"/>
                    </a:cubicBezTo>
                    <a:cubicBezTo>
                      <a:pt x="155" y="26"/>
                      <a:pt x="100" y="40"/>
                      <a:pt x="67" y="63"/>
                    </a:cubicBezTo>
                    <a:cubicBezTo>
                      <a:pt x="34" y="86"/>
                      <a:pt x="17" y="123"/>
                      <a:pt x="7" y="170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7" name="Freeform 109" descr="宽上对角线"/>
              <p:cNvSpPr>
                <a:spLocks/>
              </p:cNvSpPr>
              <p:nvPr/>
            </p:nvSpPr>
            <p:spPr bwMode="auto">
              <a:xfrm rot="5400000" flipH="1">
                <a:off x="4642" y="1928"/>
                <a:ext cx="398" cy="464"/>
              </a:xfrm>
              <a:custGeom>
                <a:avLst/>
                <a:gdLst>
                  <a:gd name="T0" fmla="*/ 292 w 616"/>
                  <a:gd name="T1" fmla="*/ 193 h 206"/>
                  <a:gd name="T2" fmla="*/ 452 w 616"/>
                  <a:gd name="T3" fmla="*/ 201 h 206"/>
                  <a:gd name="T4" fmla="*/ 592 w 616"/>
                  <a:gd name="T5" fmla="*/ 165 h 206"/>
                  <a:gd name="T6" fmla="*/ 596 w 616"/>
                  <a:gd name="T7" fmla="*/ 81 h 206"/>
                  <a:gd name="T8" fmla="*/ 548 w 616"/>
                  <a:gd name="T9" fmla="*/ 13 h 206"/>
                  <a:gd name="T10" fmla="*/ 444 w 616"/>
                  <a:gd name="T11" fmla="*/ 1 h 206"/>
                  <a:gd name="T12" fmla="*/ 284 w 616"/>
                  <a:gd name="T13" fmla="*/ 9 h 206"/>
                  <a:gd name="T14" fmla="*/ 128 w 616"/>
                  <a:gd name="T15" fmla="*/ 37 h 206"/>
                  <a:gd name="T16" fmla="*/ 28 w 616"/>
                  <a:gd name="T17" fmla="*/ 81 h 206"/>
                  <a:gd name="T18" fmla="*/ 44 w 616"/>
                  <a:gd name="T19" fmla="*/ 165 h 206"/>
                  <a:gd name="T20" fmla="*/ 292 w 616"/>
                  <a:gd name="T21" fmla="*/ 193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6" h="206">
                    <a:moveTo>
                      <a:pt x="292" y="193"/>
                    </a:moveTo>
                    <a:cubicBezTo>
                      <a:pt x="360" y="199"/>
                      <a:pt x="402" y="206"/>
                      <a:pt x="452" y="201"/>
                    </a:cubicBezTo>
                    <a:cubicBezTo>
                      <a:pt x="502" y="196"/>
                      <a:pt x="568" y="185"/>
                      <a:pt x="592" y="165"/>
                    </a:cubicBezTo>
                    <a:cubicBezTo>
                      <a:pt x="616" y="145"/>
                      <a:pt x="603" y="106"/>
                      <a:pt x="596" y="81"/>
                    </a:cubicBezTo>
                    <a:cubicBezTo>
                      <a:pt x="589" y="56"/>
                      <a:pt x="573" y="26"/>
                      <a:pt x="548" y="13"/>
                    </a:cubicBezTo>
                    <a:cubicBezTo>
                      <a:pt x="523" y="0"/>
                      <a:pt x="488" y="2"/>
                      <a:pt x="444" y="1"/>
                    </a:cubicBezTo>
                    <a:cubicBezTo>
                      <a:pt x="400" y="0"/>
                      <a:pt x="337" y="3"/>
                      <a:pt x="284" y="9"/>
                    </a:cubicBezTo>
                    <a:cubicBezTo>
                      <a:pt x="231" y="15"/>
                      <a:pt x="171" y="25"/>
                      <a:pt x="128" y="37"/>
                    </a:cubicBezTo>
                    <a:cubicBezTo>
                      <a:pt x="85" y="49"/>
                      <a:pt x="42" y="60"/>
                      <a:pt x="28" y="81"/>
                    </a:cubicBezTo>
                    <a:cubicBezTo>
                      <a:pt x="14" y="102"/>
                      <a:pt x="0" y="146"/>
                      <a:pt x="44" y="165"/>
                    </a:cubicBezTo>
                    <a:cubicBezTo>
                      <a:pt x="88" y="184"/>
                      <a:pt x="224" y="187"/>
                      <a:pt x="292" y="193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8" name="Freeform 110" descr="宽上对角线"/>
              <p:cNvSpPr>
                <a:spLocks/>
              </p:cNvSpPr>
              <p:nvPr/>
            </p:nvSpPr>
            <p:spPr bwMode="auto">
              <a:xfrm rot="5400000" flipH="1">
                <a:off x="4257" y="1994"/>
                <a:ext cx="335" cy="374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79" name="Freeform 111" descr="宽上对角线"/>
              <p:cNvSpPr>
                <a:spLocks/>
              </p:cNvSpPr>
              <p:nvPr/>
            </p:nvSpPr>
            <p:spPr bwMode="auto">
              <a:xfrm rot="5400000" flipH="1">
                <a:off x="3773" y="2065"/>
                <a:ext cx="369" cy="325"/>
              </a:xfrm>
              <a:custGeom>
                <a:avLst/>
                <a:gdLst>
                  <a:gd name="T0" fmla="*/ 268 w 367"/>
                  <a:gd name="T1" fmla="*/ 56 h 221"/>
                  <a:gd name="T2" fmla="*/ 148 w 367"/>
                  <a:gd name="T3" fmla="*/ 12 h 221"/>
                  <a:gd name="T4" fmla="*/ 48 w 367"/>
                  <a:gd name="T5" fmla="*/ 12 h 221"/>
                  <a:gd name="T6" fmla="*/ 0 w 367"/>
                  <a:gd name="T7" fmla="*/ 84 h 221"/>
                  <a:gd name="T8" fmla="*/ 48 w 367"/>
                  <a:gd name="T9" fmla="*/ 176 h 221"/>
                  <a:gd name="T10" fmla="*/ 168 w 367"/>
                  <a:gd name="T11" fmla="*/ 188 h 221"/>
                  <a:gd name="T12" fmla="*/ 276 w 367"/>
                  <a:gd name="T13" fmla="*/ 212 h 221"/>
                  <a:gd name="T14" fmla="*/ 344 w 367"/>
                  <a:gd name="T15" fmla="*/ 208 h 221"/>
                  <a:gd name="T16" fmla="*/ 364 w 367"/>
                  <a:gd name="T17" fmla="*/ 132 h 221"/>
                  <a:gd name="T18" fmla="*/ 324 w 367"/>
                  <a:gd name="T19" fmla="*/ 76 h 221"/>
                  <a:gd name="T20" fmla="*/ 268 w 367"/>
                  <a:gd name="T21" fmla="*/ 56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7" h="221">
                    <a:moveTo>
                      <a:pt x="268" y="56"/>
                    </a:moveTo>
                    <a:cubicBezTo>
                      <a:pt x="239" y="45"/>
                      <a:pt x="185" y="19"/>
                      <a:pt x="148" y="12"/>
                    </a:cubicBezTo>
                    <a:cubicBezTo>
                      <a:pt x="111" y="5"/>
                      <a:pt x="73" y="0"/>
                      <a:pt x="48" y="12"/>
                    </a:cubicBezTo>
                    <a:cubicBezTo>
                      <a:pt x="23" y="24"/>
                      <a:pt x="0" y="57"/>
                      <a:pt x="0" y="84"/>
                    </a:cubicBezTo>
                    <a:cubicBezTo>
                      <a:pt x="0" y="111"/>
                      <a:pt x="20" y="159"/>
                      <a:pt x="48" y="176"/>
                    </a:cubicBezTo>
                    <a:cubicBezTo>
                      <a:pt x="76" y="193"/>
                      <a:pt x="130" y="182"/>
                      <a:pt x="168" y="188"/>
                    </a:cubicBezTo>
                    <a:cubicBezTo>
                      <a:pt x="206" y="194"/>
                      <a:pt x="247" y="209"/>
                      <a:pt x="276" y="212"/>
                    </a:cubicBezTo>
                    <a:cubicBezTo>
                      <a:pt x="305" y="215"/>
                      <a:pt x="329" y="221"/>
                      <a:pt x="344" y="208"/>
                    </a:cubicBezTo>
                    <a:cubicBezTo>
                      <a:pt x="359" y="195"/>
                      <a:pt x="367" y="154"/>
                      <a:pt x="364" y="132"/>
                    </a:cubicBezTo>
                    <a:cubicBezTo>
                      <a:pt x="361" y="110"/>
                      <a:pt x="341" y="88"/>
                      <a:pt x="324" y="76"/>
                    </a:cubicBezTo>
                    <a:cubicBezTo>
                      <a:pt x="307" y="64"/>
                      <a:pt x="297" y="67"/>
                      <a:pt x="268" y="5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0" name="Freeform 112" descr="宽上对角线"/>
              <p:cNvSpPr>
                <a:spLocks/>
              </p:cNvSpPr>
              <p:nvPr/>
            </p:nvSpPr>
            <p:spPr bwMode="auto">
              <a:xfrm flipH="1">
                <a:off x="4006" y="1880"/>
                <a:ext cx="326" cy="319"/>
              </a:xfrm>
              <a:custGeom>
                <a:avLst/>
                <a:gdLst>
                  <a:gd name="T0" fmla="*/ 170 w 463"/>
                  <a:gd name="T1" fmla="*/ 36 h 287"/>
                  <a:gd name="T2" fmla="*/ 42 w 463"/>
                  <a:gd name="T3" fmla="*/ 96 h 287"/>
                  <a:gd name="T4" fmla="*/ 10 w 463"/>
                  <a:gd name="T5" fmla="*/ 208 h 287"/>
                  <a:gd name="T6" fmla="*/ 102 w 463"/>
                  <a:gd name="T7" fmla="*/ 272 h 287"/>
                  <a:gd name="T8" fmla="*/ 266 w 463"/>
                  <a:gd name="T9" fmla="*/ 276 h 287"/>
                  <a:gd name="T10" fmla="*/ 430 w 463"/>
                  <a:gd name="T11" fmla="*/ 208 h 287"/>
                  <a:gd name="T12" fmla="*/ 462 w 463"/>
                  <a:gd name="T13" fmla="*/ 100 h 287"/>
                  <a:gd name="T14" fmla="*/ 426 w 463"/>
                  <a:gd name="T15" fmla="*/ 20 h 287"/>
                  <a:gd name="T16" fmla="*/ 338 w 463"/>
                  <a:gd name="T17" fmla="*/ 0 h 287"/>
                  <a:gd name="T18" fmla="*/ 222 w 463"/>
                  <a:gd name="T19" fmla="*/ 20 h 287"/>
                  <a:gd name="T20" fmla="*/ 170 w 463"/>
                  <a:gd name="T21" fmla="*/ 3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287">
                    <a:moveTo>
                      <a:pt x="170" y="36"/>
                    </a:moveTo>
                    <a:cubicBezTo>
                      <a:pt x="140" y="49"/>
                      <a:pt x="69" y="67"/>
                      <a:pt x="42" y="96"/>
                    </a:cubicBezTo>
                    <a:cubicBezTo>
                      <a:pt x="15" y="125"/>
                      <a:pt x="0" y="179"/>
                      <a:pt x="10" y="208"/>
                    </a:cubicBezTo>
                    <a:cubicBezTo>
                      <a:pt x="20" y="237"/>
                      <a:pt x="60" y="261"/>
                      <a:pt x="102" y="272"/>
                    </a:cubicBezTo>
                    <a:cubicBezTo>
                      <a:pt x="144" y="283"/>
                      <a:pt x="211" y="287"/>
                      <a:pt x="266" y="276"/>
                    </a:cubicBezTo>
                    <a:cubicBezTo>
                      <a:pt x="321" y="265"/>
                      <a:pt x="397" y="237"/>
                      <a:pt x="430" y="208"/>
                    </a:cubicBezTo>
                    <a:cubicBezTo>
                      <a:pt x="463" y="179"/>
                      <a:pt x="463" y="131"/>
                      <a:pt x="462" y="100"/>
                    </a:cubicBezTo>
                    <a:cubicBezTo>
                      <a:pt x="461" y="69"/>
                      <a:pt x="447" y="37"/>
                      <a:pt x="426" y="20"/>
                    </a:cubicBezTo>
                    <a:cubicBezTo>
                      <a:pt x="405" y="3"/>
                      <a:pt x="372" y="0"/>
                      <a:pt x="338" y="0"/>
                    </a:cubicBezTo>
                    <a:cubicBezTo>
                      <a:pt x="304" y="0"/>
                      <a:pt x="252" y="13"/>
                      <a:pt x="222" y="20"/>
                    </a:cubicBezTo>
                    <a:cubicBezTo>
                      <a:pt x="192" y="27"/>
                      <a:pt x="200" y="23"/>
                      <a:pt x="170" y="3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1" name="Freeform 113" descr="宽上对角线"/>
              <p:cNvSpPr>
                <a:spLocks/>
              </p:cNvSpPr>
              <p:nvPr/>
            </p:nvSpPr>
            <p:spPr bwMode="auto">
              <a:xfrm>
                <a:off x="4024" y="1463"/>
                <a:ext cx="490" cy="339"/>
              </a:xfrm>
              <a:custGeom>
                <a:avLst/>
                <a:gdLst>
                  <a:gd name="T0" fmla="*/ 3 w 490"/>
                  <a:gd name="T1" fmla="*/ 184 h 339"/>
                  <a:gd name="T2" fmla="*/ 31 w 490"/>
                  <a:gd name="T3" fmla="*/ 269 h 339"/>
                  <a:gd name="T4" fmla="*/ 107 w 490"/>
                  <a:gd name="T5" fmla="*/ 286 h 339"/>
                  <a:gd name="T6" fmla="*/ 175 w 490"/>
                  <a:gd name="T7" fmla="*/ 333 h 339"/>
                  <a:gd name="T8" fmla="*/ 265 w 490"/>
                  <a:gd name="T9" fmla="*/ 322 h 339"/>
                  <a:gd name="T10" fmla="*/ 354 w 490"/>
                  <a:gd name="T11" fmla="*/ 312 h 339"/>
                  <a:gd name="T12" fmla="*/ 441 w 490"/>
                  <a:gd name="T13" fmla="*/ 295 h 339"/>
                  <a:gd name="T14" fmla="*/ 478 w 490"/>
                  <a:gd name="T15" fmla="*/ 250 h 339"/>
                  <a:gd name="T16" fmla="*/ 478 w 490"/>
                  <a:gd name="T17" fmla="*/ 145 h 339"/>
                  <a:gd name="T18" fmla="*/ 409 w 490"/>
                  <a:gd name="T19" fmla="*/ 41 h 339"/>
                  <a:gd name="T20" fmla="*/ 290 w 490"/>
                  <a:gd name="T21" fmla="*/ 5 h 339"/>
                  <a:gd name="T22" fmla="*/ 175 w 490"/>
                  <a:gd name="T23" fmla="*/ 11 h 339"/>
                  <a:gd name="T24" fmla="*/ 50 w 490"/>
                  <a:gd name="T25" fmla="*/ 71 h 339"/>
                  <a:gd name="T26" fmla="*/ 3 w 490"/>
                  <a:gd name="T27" fmla="*/ 184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0" h="339">
                    <a:moveTo>
                      <a:pt x="3" y="184"/>
                    </a:moveTo>
                    <a:cubicBezTo>
                      <a:pt x="0" y="217"/>
                      <a:pt x="14" y="252"/>
                      <a:pt x="31" y="269"/>
                    </a:cubicBezTo>
                    <a:cubicBezTo>
                      <a:pt x="48" y="286"/>
                      <a:pt x="83" y="275"/>
                      <a:pt x="107" y="286"/>
                    </a:cubicBezTo>
                    <a:cubicBezTo>
                      <a:pt x="131" y="297"/>
                      <a:pt x="149" y="327"/>
                      <a:pt x="175" y="333"/>
                    </a:cubicBezTo>
                    <a:cubicBezTo>
                      <a:pt x="201" y="339"/>
                      <a:pt x="235" y="325"/>
                      <a:pt x="265" y="322"/>
                    </a:cubicBezTo>
                    <a:cubicBezTo>
                      <a:pt x="295" y="319"/>
                      <a:pt x="325" y="317"/>
                      <a:pt x="354" y="312"/>
                    </a:cubicBezTo>
                    <a:cubicBezTo>
                      <a:pt x="383" y="307"/>
                      <a:pt x="420" y="305"/>
                      <a:pt x="441" y="295"/>
                    </a:cubicBezTo>
                    <a:cubicBezTo>
                      <a:pt x="462" y="285"/>
                      <a:pt x="472" y="275"/>
                      <a:pt x="478" y="250"/>
                    </a:cubicBezTo>
                    <a:cubicBezTo>
                      <a:pt x="485" y="226"/>
                      <a:pt x="490" y="181"/>
                      <a:pt x="478" y="145"/>
                    </a:cubicBezTo>
                    <a:cubicBezTo>
                      <a:pt x="467" y="111"/>
                      <a:pt x="440" y="64"/>
                      <a:pt x="409" y="41"/>
                    </a:cubicBezTo>
                    <a:cubicBezTo>
                      <a:pt x="378" y="18"/>
                      <a:pt x="329" y="10"/>
                      <a:pt x="290" y="5"/>
                    </a:cubicBezTo>
                    <a:cubicBezTo>
                      <a:pt x="251" y="0"/>
                      <a:pt x="215" y="0"/>
                      <a:pt x="175" y="11"/>
                    </a:cubicBezTo>
                    <a:cubicBezTo>
                      <a:pt x="135" y="22"/>
                      <a:pt x="80" y="44"/>
                      <a:pt x="50" y="71"/>
                    </a:cubicBezTo>
                    <a:cubicBezTo>
                      <a:pt x="20" y="97"/>
                      <a:pt x="7" y="136"/>
                      <a:pt x="3" y="184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2" name="Freeform 114" descr="宽上对角线"/>
              <p:cNvSpPr>
                <a:spLocks/>
              </p:cNvSpPr>
              <p:nvPr/>
            </p:nvSpPr>
            <p:spPr bwMode="auto">
              <a:xfrm>
                <a:off x="5231" y="1457"/>
                <a:ext cx="313" cy="315"/>
              </a:xfrm>
              <a:custGeom>
                <a:avLst/>
                <a:gdLst>
                  <a:gd name="T0" fmla="*/ 20 w 313"/>
                  <a:gd name="T1" fmla="*/ 79 h 237"/>
                  <a:gd name="T2" fmla="*/ 8 w 313"/>
                  <a:gd name="T3" fmla="*/ 156 h 237"/>
                  <a:gd name="T4" fmla="*/ 62 w 313"/>
                  <a:gd name="T5" fmla="*/ 225 h 237"/>
                  <a:gd name="T6" fmla="*/ 190 w 313"/>
                  <a:gd name="T7" fmla="*/ 227 h 237"/>
                  <a:gd name="T8" fmla="*/ 293 w 313"/>
                  <a:gd name="T9" fmla="*/ 204 h 237"/>
                  <a:gd name="T10" fmla="*/ 311 w 313"/>
                  <a:gd name="T11" fmla="*/ 154 h 237"/>
                  <a:gd name="T12" fmla="*/ 299 w 313"/>
                  <a:gd name="T13" fmla="*/ 76 h 237"/>
                  <a:gd name="T14" fmla="*/ 242 w 313"/>
                  <a:gd name="T15" fmla="*/ 35 h 237"/>
                  <a:gd name="T16" fmla="*/ 155 w 313"/>
                  <a:gd name="T17" fmla="*/ 6 h 237"/>
                  <a:gd name="T18" fmla="*/ 63 w 313"/>
                  <a:gd name="T19" fmla="*/ 12 h 237"/>
                  <a:gd name="T20" fmla="*/ 20 w 313"/>
                  <a:gd name="T21" fmla="*/ 79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3" h="237">
                    <a:moveTo>
                      <a:pt x="20" y="79"/>
                    </a:moveTo>
                    <a:cubicBezTo>
                      <a:pt x="11" y="112"/>
                      <a:pt x="0" y="132"/>
                      <a:pt x="8" y="156"/>
                    </a:cubicBezTo>
                    <a:cubicBezTo>
                      <a:pt x="15" y="181"/>
                      <a:pt x="32" y="213"/>
                      <a:pt x="62" y="225"/>
                    </a:cubicBezTo>
                    <a:cubicBezTo>
                      <a:pt x="93" y="237"/>
                      <a:pt x="152" y="231"/>
                      <a:pt x="190" y="227"/>
                    </a:cubicBezTo>
                    <a:cubicBezTo>
                      <a:pt x="228" y="224"/>
                      <a:pt x="273" y="216"/>
                      <a:pt x="293" y="204"/>
                    </a:cubicBezTo>
                    <a:cubicBezTo>
                      <a:pt x="313" y="192"/>
                      <a:pt x="310" y="175"/>
                      <a:pt x="311" y="154"/>
                    </a:cubicBezTo>
                    <a:cubicBezTo>
                      <a:pt x="313" y="132"/>
                      <a:pt x="310" y="96"/>
                      <a:pt x="299" y="76"/>
                    </a:cubicBezTo>
                    <a:cubicBezTo>
                      <a:pt x="288" y="56"/>
                      <a:pt x="266" y="47"/>
                      <a:pt x="242" y="35"/>
                    </a:cubicBezTo>
                    <a:cubicBezTo>
                      <a:pt x="218" y="23"/>
                      <a:pt x="185" y="10"/>
                      <a:pt x="155" y="6"/>
                    </a:cubicBezTo>
                    <a:cubicBezTo>
                      <a:pt x="125" y="2"/>
                      <a:pt x="85" y="0"/>
                      <a:pt x="63" y="12"/>
                    </a:cubicBezTo>
                    <a:cubicBezTo>
                      <a:pt x="41" y="24"/>
                      <a:pt x="29" y="65"/>
                      <a:pt x="20" y="7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3" name="Freeform 115" descr="宽上对角线"/>
              <p:cNvSpPr>
                <a:spLocks/>
              </p:cNvSpPr>
              <p:nvPr/>
            </p:nvSpPr>
            <p:spPr bwMode="auto">
              <a:xfrm>
                <a:off x="4251" y="1780"/>
                <a:ext cx="359" cy="247"/>
              </a:xfrm>
              <a:custGeom>
                <a:avLst/>
                <a:gdLst>
                  <a:gd name="T0" fmla="*/ 164 w 359"/>
                  <a:gd name="T1" fmla="*/ 32 h 247"/>
                  <a:gd name="T2" fmla="*/ 100 w 359"/>
                  <a:gd name="T3" fmla="*/ 4 h 247"/>
                  <a:gd name="T4" fmla="*/ 39 w 359"/>
                  <a:gd name="T5" fmla="*/ 9 h 247"/>
                  <a:gd name="T6" fmla="*/ 1 w 359"/>
                  <a:gd name="T7" fmla="*/ 54 h 247"/>
                  <a:gd name="T8" fmla="*/ 35 w 359"/>
                  <a:gd name="T9" fmla="*/ 174 h 247"/>
                  <a:gd name="T10" fmla="*/ 188 w 359"/>
                  <a:gd name="T11" fmla="*/ 238 h 247"/>
                  <a:gd name="T12" fmla="*/ 314 w 359"/>
                  <a:gd name="T13" fmla="*/ 229 h 247"/>
                  <a:gd name="T14" fmla="*/ 355 w 359"/>
                  <a:gd name="T15" fmla="*/ 206 h 247"/>
                  <a:gd name="T16" fmla="*/ 333 w 359"/>
                  <a:gd name="T17" fmla="*/ 151 h 247"/>
                  <a:gd name="T18" fmla="*/ 250 w 359"/>
                  <a:gd name="T19" fmla="*/ 68 h 247"/>
                  <a:gd name="T20" fmla="*/ 164 w 359"/>
                  <a:gd name="T21" fmla="*/ 32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9" h="247">
                    <a:moveTo>
                      <a:pt x="164" y="32"/>
                    </a:moveTo>
                    <a:cubicBezTo>
                      <a:pt x="138" y="21"/>
                      <a:pt x="120" y="6"/>
                      <a:pt x="100" y="4"/>
                    </a:cubicBezTo>
                    <a:cubicBezTo>
                      <a:pt x="79" y="0"/>
                      <a:pt x="55" y="1"/>
                      <a:pt x="39" y="9"/>
                    </a:cubicBezTo>
                    <a:cubicBezTo>
                      <a:pt x="23" y="17"/>
                      <a:pt x="2" y="27"/>
                      <a:pt x="1" y="54"/>
                    </a:cubicBezTo>
                    <a:cubicBezTo>
                      <a:pt x="0" y="81"/>
                      <a:pt x="4" y="143"/>
                      <a:pt x="35" y="174"/>
                    </a:cubicBezTo>
                    <a:cubicBezTo>
                      <a:pt x="66" y="205"/>
                      <a:pt x="142" y="229"/>
                      <a:pt x="188" y="238"/>
                    </a:cubicBezTo>
                    <a:cubicBezTo>
                      <a:pt x="234" y="247"/>
                      <a:pt x="286" y="234"/>
                      <a:pt x="314" y="229"/>
                    </a:cubicBezTo>
                    <a:cubicBezTo>
                      <a:pt x="342" y="224"/>
                      <a:pt x="351" y="220"/>
                      <a:pt x="355" y="206"/>
                    </a:cubicBezTo>
                    <a:cubicBezTo>
                      <a:pt x="359" y="194"/>
                      <a:pt x="351" y="174"/>
                      <a:pt x="333" y="151"/>
                    </a:cubicBezTo>
                    <a:cubicBezTo>
                      <a:pt x="315" y="128"/>
                      <a:pt x="278" y="88"/>
                      <a:pt x="250" y="68"/>
                    </a:cubicBezTo>
                    <a:cubicBezTo>
                      <a:pt x="221" y="50"/>
                      <a:pt x="189" y="42"/>
                      <a:pt x="164" y="32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4" name="Freeform 116" descr="宽上对角线"/>
              <p:cNvSpPr>
                <a:spLocks/>
              </p:cNvSpPr>
              <p:nvPr/>
            </p:nvSpPr>
            <p:spPr bwMode="auto">
              <a:xfrm rot="846441" flipV="1">
                <a:off x="4684" y="1715"/>
                <a:ext cx="277" cy="270"/>
              </a:xfrm>
              <a:custGeom>
                <a:avLst/>
                <a:gdLst>
                  <a:gd name="T0" fmla="*/ 317 w 390"/>
                  <a:gd name="T1" fmla="*/ 95 h 296"/>
                  <a:gd name="T2" fmla="*/ 381 w 390"/>
                  <a:gd name="T3" fmla="*/ 171 h 296"/>
                  <a:gd name="T4" fmla="*/ 370 w 390"/>
                  <a:gd name="T5" fmla="*/ 244 h 296"/>
                  <a:gd name="T6" fmla="*/ 320 w 390"/>
                  <a:gd name="T7" fmla="*/ 286 h 296"/>
                  <a:gd name="T8" fmla="*/ 240 w 390"/>
                  <a:gd name="T9" fmla="*/ 290 h 296"/>
                  <a:gd name="T10" fmla="*/ 126 w 390"/>
                  <a:gd name="T11" fmla="*/ 252 h 296"/>
                  <a:gd name="T12" fmla="*/ 34 w 390"/>
                  <a:gd name="T13" fmla="*/ 179 h 296"/>
                  <a:gd name="T14" fmla="*/ 1 w 390"/>
                  <a:gd name="T15" fmla="*/ 105 h 296"/>
                  <a:gd name="T16" fmla="*/ 26 w 390"/>
                  <a:gd name="T17" fmla="*/ 51 h 296"/>
                  <a:gd name="T18" fmla="*/ 78 w 390"/>
                  <a:gd name="T19" fmla="*/ 13 h 296"/>
                  <a:gd name="T20" fmla="*/ 160 w 390"/>
                  <a:gd name="T21" fmla="*/ 6 h 296"/>
                  <a:gd name="T22" fmla="*/ 263 w 390"/>
                  <a:gd name="T23" fmla="*/ 49 h 296"/>
                  <a:gd name="T24" fmla="*/ 317 w 390"/>
                  <a:gd name="T25" fmla="*/ 95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0" h="296">
                    <a:moveTo>
                      <a:pt x="317" y="95"/>
                    </a:moveTo>
                    <a:cubicBezTo>
                      <a:pt x="337" y="115"/>
                      <a:pt x="373" y="146"/>
                      <a:pt x="381" y="171"/>
                    </a:cubicBezTo>
                    <a:cubicBezTo>
                      <a:pt x="390" y="196"/>
                      <a:pt x="380" y="225"/>
                      <a:pt x="370" y="244"/>
                    </a:cubicBezTo>
                    <a:cubicBezTo>
                      <a:pt x="359" y="263"/>
                      <a:pt x="342" y="279"/>
                      <a:pt x="320" y="286"/>
                    </a:cubicBezTo>
                    <a:cubicBezTo>
                      <a:pt x="298" y="294"/>
                      <a:pt x="273" y="296"/>
                      <a:pt x="240" y="290"/>
                    </a:cubicBezTo>
                    <a:cubicBezTo>
                      <a:pt x="208" y="284"/>
                      <a:pt x="160" y="270"/>
                      <a:pt x="126" y="252"/>
                    </a:cubicBezTo>
                    <a:cubicBezTo>
                      <a:pt x="92" y="234"/>
                      <a:pt x="55" y="203"/>
                      <a:pt x="34" y="179"/>
                    </a:cubicBezTo>
                    <a:cubicBezTo>
                      <a:pt x="13" y="155"/>
                      <a:pt x="2" y="126"/>
                      <a:pt x="1" y="105"/>
                    </a:cubicBezTo>
                    <a:cubicBezTo>
                      <a:pt x="0" y="84"/>
                      <a:pt x="13" y="66"/>
                      <a:pt x="26" y="51"/>
                    </a:cubicBezTo>
                    <a:cubicBezTo>
                      <a:pt x="39" y="36"/>
                      <a:pt x="56" y="20"/>
                      <a:pt x="78" y="13"/>
                    </a:cubicBezTo>
                    <a:cubicBezTo>
                      <a:pt x="100" y="6"/>
                      <a:pt x="129" y="0"/>
                      <a:pt x="160" y="6"/>
                    </a:cubicBezTo>
                    <a:cubicBezTo>
                      <a:pt x="191" y="12"/>
                      <a:pt x="237" y="35"/>
                      <a:pt x="263" y="49"/>
                    </a:cubicBezTo>
                    <a:cubicBezTo>
                      <a:pt x="289" y="62"/>
                      <a:pt x="297" y="74"/>
                      <a:pt x="317" y="95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5" name="Freeform 117" descr="宽上对角线"/>
              <p:cNvSpPr>
                <a:spLocks/>
              </p:cNvSpPr>
              <p:nvPr/>
            </p:nvSpPr>
            <p:spPr bwMode="auto">
              <a:xfrm rot="-5400000" flipH="1" flipV="1">
                <a:off x="4468" y="1502"/>
                <a:ext cx="368" cy="325"/>
              </a:xfrm>
              <a:custGeom>
                <a:avLst/>
                <a:gdLst>
                  <a:gd name="T0" fmla="*/ 268 w 367"/>
                  <a:gd name="T1" fmla="*/ 56 h 221"/>
                  <a:gd name="T2" fmla="*/ 148 w 367"/>
                  <a:gd name="T3" fmla="*/ 12 h 221"/>
                  <a:gd name="T4" fmla="*/ 48 w 367"/>
                  <a:gd name="T5" fmla="*/ 12 h 221"/>
                  <a:gd name="T6" fmla="*/ 0 w 367"/>
                  <a:gd name="T7" fmla="*/ 84 h 221"/>
                  <a:gd name="T8" fmla="*/ 48 w 367"/>
                  <a:gd name="T9" fmla="*/ 176 h 221"/>
                  <a:gd name="T10" fmla="*/ 168 w 367"/>
                  <a:gd name="T11" fmla="*/ 188 h 221"/>
                  <a:gd name="T12" fmla="*/ 276 w 367"/>
                  <a:gd name="T13" fmla="*/ 212 h 221"/>
                  <a:gd name="T14" fmla="*/ 344 w 367"/>
                  <a:gd name="T15" fmla="*/ 208 h 221"/>
                  <a:gd name="T16" fmla="*/ 364 w 367"/>
                  <a:gd name="T17" fmla="*/ 132 h 221"/>
                  <a:gd name="T18" fmla="*/ 324 w 367"/>
                  <a:gd name="T19" fmla="*/ 76 h 221"/>
                  <a:gd name="T20" fmla="*/ 268 w 367"/>
                  <a:gd name="T21" fmla="*/ 56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7" h="221">
                    <a:moveTo>
                      <a:pt x="268" y="56"/>
                    </a:moveTo>
                    <a:cubicBezTo>
                      <a:pt x="239" y="45"/>
                      <a:pt x="185" y="19"/>
                      <a:pt x="148" y="12"/>
                    </a:cubicBezTo>
                    <a:cubicBezTo>
                      <a:pt x="111" y="5"/>
                      <a:pt x="73" y="0"/>
                      <a:pt x="48" y="12"/>
                    </a:cubicBezTo>
                    <a:cubicBezTo>
                      <a:pt x="23" y="24"/>
                      <a:pt x="0" y="57"/>
                      <a:pt x="0" y="84"/>
                    </a:cubicBezTo>
                    <a:cubicBezTo>
                      <a:pt x="0" y="111"/>
                      <a:pt x="20" y="159"/>
                      <a:pt x="48" y="176"/>
                    </a:cubicBezTo>
                    <a:cubicBezTo>
                      <a:pt x="76" y="193"/>
                      <a:pt x="130" y="182"/>
                      <a:pt x="168" y="188"/>
                    </a:cubicBezTo>
                    <a:cubicBezTo>
                      <a:pt x="206" y="194"/>
                      <a:pt x="247" y="209"/>
                      <a:pt x="276" y="212"/>
                    </a:cubicBezTo>
                    <a:cubicBezTo>
                      <a:pt x="305" y="215"/>
                      <a:pt x="329" y="221"/>
                      <a:pt x="344" y="208"/>
                    </a:cubicBezTo>
                    <a:cubicBezTo>
                      <a:pt x="359" y="195"/>
                      <a:pt x="367" y="154"/>
                      <a:pt x="364" y="132"/>
                    </a:cubicBezTo>
                    <a:cubicBezTo>
                      <a:pt x="361" y="110"/>
                      <a:pt x="341" y="88"/>
                      <a:pt x="324" y="76"/>
                    </a:cubicBezTo>
                    <a:cubicBezTo>
                      <a:pt x="307" y="64"/>
                      <a:pt x="297" y="67"/>
                      <a:pt x="268" y="56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6" name="Freeform 118" descr="宽上对角线"/>
              <p:cNvSpPr>
                <a:spLocks/>
              </p:cNvSpPr>
              <p:nvPr/>
            </p:nvSpPr>
            <p:spPr bwMode="auto">
              <a:xfrm rot="-5400000" flipH="1" flipV="1">
                <a:off x="4910" y="1566"/>
                <a:ext cx="335" cy="374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7" name="Freeform 119" descr="宽上对角线"/>
              <p:cNvSpPr>
                <a:spLocks/>
              </p:cNvSpPr>
              <p:nvPr/>
            </p:nvSpPr>
            <p:spPr bwMode="auto">
              <a:xfrm flipH="1" flipV="1">
                <a:off x="3817" y="1587"/>
                <a:ext cx="214" cy="463"/>
              </a:xfrm>
              <a:custGeom>
                <a:avLst/>
                <a:gdLst>
                  <a:gd name="T0" fmla="*/ 276 w 277"/>
                  <a:gd name="T1" fmla="*/ 39 h 324"/>
                  <a:gd name="T2" fmla="*/ 224 w 277"/>
                  <a:gd name="T3" fmla="*/ 3 h 324"/>
                  <a:gd name="T4" fmla="*/ 120 w 277"/>
                  <a:gd name="T5" fmla="*/ 19 h 324"/>
                  <a:gd name="T6" fmla="*/ 36 w 277"/>
                  <a:gd name="T7" fmla="*/ 63 h 324"/>
                  <a:gd name="T8" fmla="*/ 0 w 277"/>
                  <a:gd name="T9" fmla="*/ 227 h 324"/>
                  <a:gd name="T10" fmla="*/ 36 w 277"/>
                  <a:gd name="T11" fmla="*/ 315 h 324"/>
                  <a:gd name="T12" fmla="*/ 144 w 277"/>
                  <a:gd name="T13" fmla="*/ 283 h 324"/>
                  <a:gd name="T14" fmla="*/ 216 w 277"/>
                  <a:gd name="T15" fmla="*/ 139 h 324"/>
                  <a:gd name="T16" fmla="*/ 276 w 277"/>
                  <a:gd name="T17" fmla="*/ 39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324">
                    <a:moveTo>
                      <a:pt x="276" y="39"/>
                    </a:moveTo>
                    <a:cubicBezTo>
                      <a:pt x="277" y="16"/>
                      <a:pt x="250" y="6"/>
                      <a:pt x="224" y="3"/>
                    </a:cubicBezTo>
                    <a:cubicBezTo>
                      <a:pt x="198" y="0"/>
                      <a:pt x="151" y="9"/>
                      <a:pt x="120" y="19"/>
                    </a:cubicBezTo>
                    <a:cubicBezTo>
                      <a:pt x="89" y="29"/>
                      <a:pt x="56" y="28"/>
                      <a:pt x="36" y="63"/>
                    </a:cubicBezTo>
                    <a:cubicBezTo>
                      <a:pt x="16" y="98"/>
                      <a:pt x="0" y="185"/>
                      <a:pt x="0" y="227"/>
                    </a:cubicBezTo>
                    <a:cubicBezTo>
                      <a:pt x="0" y="269"/>
                      <a:pt x="12" y="306"/>
                      <a:pt x="36" y="315"/>
                    </a:cubicBezTo>
                    <a:cubicBezTo>
                      <a:pt x="60" y="324"/>
                      <a:pt x="114" y="312"/>
                      <a:pt x="144" y="283"/>
                    </a:cubicBezTo>
                    <a:cubicBezTo>
                      <a:pt x="174" y="254"/>
                      <a:pt x="193" y="180"/>
                      <a:pt x="216" y="139"/>
                    </a:cubicBezTo>
                    <a:cubicBezTo>
                      <a:pt x="239" y="98"/>
                      <a:pt x="275" y="62"/>
                      <a:pt x="276" y="39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9688" name="Freeform 120" descr="宽上对角线"/>
              <p:cNvSpPr>
                <a:spLocks/>
              </p:cNvSpPr>
              <p:nvPr/>
            </p:nvSpPr>
            <p:spPr bwMode="auto">
              <a:xfrm flipV="1">
                <a:off x="5286" y="1766"/>
                <a:ext cx="244" cy="274"/>
              </a:xfrm>
              <a:custGeom>
                <a:avLst/>
                <a:gdLst>
                  <a:gd name="T0" fmla="*/ 72 w 228"/>
                  <a:gd name="T1" fmla="*/ 170 h 187"/>
                  <a:gd name="T2" fmla="*/ 129 w 228"/>
                  <a:gd name="T3" fmla="*/ 187 h 187"/>
                  <a:gd name="T4" fmla="*/ 187 w 228"/>
                  <a:gd name="T5" fmla="*/ 176 h 187"/>
                  <a:gd name="T6" fmla="*/ 228 w 228"/>
                  <a:gd name="T7" fmla="*/ 136 h 187"/>
                  <a:gd name="T8" fmla="*/ 186 w 228"/>
                  <a:gd name="T9" fmla="*/ 55 h 187"/>
                  <a:gd name="T10" fmla="*/ 70 w 228"/>
                  <a:gd name="T11" fmla="*/ 6 h 187"/>
                  <a:gd name="T12" fmla="*/ 0 w 228"/>
                  <a:gd name="T13" fmla="*/ 89 h 187"/>
                  <a:gd name="T14" fmla="*/ 72 w 228"/>
                  <a:gd name="T15" fmla="*/ 170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8" h="187">
                    <a:moveTo>
                      <a:pt x="72" y="170"/>
                    </a:moveTo>
                    <a:cubicBezTo>
                      <a:pt x="95" y="176"/>
                      <a:pt x="111" y="187"/>
                      <a:pt x="129" y="187"/>
                    </a:cubicBezTo>
                    <a:cubicBezTo>
                      <a:pt x="149" y="187"/>
                      <a:pt x="171" y="184"/>
                      <a:pt x="187" y="176"/>
                    </a:cubicBezTo>
                    <a:cubicBezTo>
                      <a:pt x="204" y="169"/>
                      <a:pt x="228" y="156"/>
                      <a:pt x="228" y="136"/>
                    </a:cubicBezTo>
                    <a:cubicBezTo>
                      <a:pt x="227" y="117"/>
                      <a:pt x="213" y="76"/>
                      <a:pt x="186" y="55"/>
                    </a:cubicBezTo>
                    <a:cubicBezTo>
                      <a:pt x="161" y="33"/>
                      <a:pt x="101" y="0"/>
                      <a:pt x="70" y="6"/>
                    </a:cubicBezTo>
                    <a:cubicBezTo>
                      <a:pt x="39" y="12"/>
                      <a:pt x="0" y="62"/>
                      <a:pt x="0" y="89"/>
                    </a:cubicBezTo>
                    <a:cubicBezTo>
                      <a:pt x="0" y="116"/>
                      <a:pt x="57" y="153"/>
                      <a:pt x="72" y="170"/>
                    </a:cubicBezTo>
                    <a:close/>
                  </a:path>
                </a:pathLst>
              </a:custGeom>
              <a:pattFill prst="wdUpDiag">
                <a:fgClr>
                  <a:schemeClr val="tx1"/>
                </a:fgClr>
                <a:bgClr>
                  <a:srgbClr val="C89058"/>
                </a:bgClr>
              </a:patt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89689" name="Freeform 121"/>
          <p:cNvSpPr>
            <a:spLocks/>
          </p:cNvSpPr>
          <p:nvPr/>
        </p:nvSpPr>
        <p:spPr bwMode="auto">
          <a:xfrm>
            <a:off x="5613400" y="1562100"/>
            <a:ext cx="501650" cy="2365375"/>
          </a:xfrm>
          <a:custGeom>
            <a:avLst/>
            <a:gdLst>
              <a:gd name="T0" fmla="*/ 309 w 316"/>
              <a:gd name="T1" fmla="*/ 1445 h 1490"/>
              <a:gd name="T2" fmla="*/ 45 w 316"/>
              <a:gd name="T3" fmla="*/ 1445 h 1490"/>
              <a:gd name="T4" fmla="*/ 45 w 316"/>
              <a:gd name="T5" fmla="*/ 0 h 1490"/>
              <a:gd name="T6" fmla="*/ 2 w 316"/>
              <a:gd name="T7" fmla="*/ 0 h 1490"/>
              <a:gd name="T8" fmla="*/ 0 w 316"/>
              <a:gd name="T9" fmla="*/ 1488 h 1490"/>
              <a:gd name="T10" fmla="*/ 316 w 316"/>
              <a:gd name="T11" fmla="*/ 1490 h 1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6" h="1490">
                <a:moveTo>
                  <a:pt x="309" y="1445"/>
                </a:moveTo>
                <a:lnTo>
                  <a:pt x="45" y="1445"/>
                </a:lnTo>
                <a:lnTo>
                  <a:pt x="45" y="0"/>
                </a:lnTo>
                <a:lnTo>
                  <a:pt x="2" y="0"/>
                </a:lnTo>
                <a:lnTo>
                  <a:pt x="0" y="1488"/>
                </a:lnTo>
                <a:lnTo>
                  <a:pt x="316" y="1490"/>
                </a:lnTo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89690" name="Group 122"/>
          <p:cNvGrpSpPr>
            <a:grpSpLocks/>
          </p:cNvGrpSpPr>
          <p:nvPr/>
        </p:nvGrpSpPr>
        <p:grpSpPr bwMode="auto">
          <a:xfrm>
            <a:off x="6076950" y="1830388"/>
            <a:ext cx="2673350" cy="390525"/>
            <a:chOff x="3768" y="808"/>
            <a:chExt cx="1409" cy="314"/>
          </a:xfrm>
        </p:grpSpPr>
        <p:sp>
          <p:nvSpPr>
            <p:cNvPr id="1389691" name="Line 123"/>
            <p:cNvSpPr>
              <a:spLocks noChangeAspect="1" noChangeShapeType="1"/>
            </p:cNvSpPr>
            <p:nvPr/>
          </p:nvSpPr>
          <p:spPr bwMode="auto">
            <a:xfrm>
              <a:off x="3768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2" name="Line 124"/>
            <p:cNvSpPr>
              <a:spLocks noChangeAspect="1" noChangeShapeType="1"/>
            </p:cNvSpPr>
            <p:nvPr/>
          </p:nvSpPr>
          <p:spPr bwMode="auto">
            <a:xfrm>
              <a:off x="3924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3" name="Line 125"/>
            <p:cNvSpPr>
              <a:spLocks noChangeAspect="1" noChangeShapeType="1"/>
            </p:cNvSpPr>
            <p:nvPr/>
          </p:nvSpPr>
          <p:spPr bwMode="auto">
            <a:xfrm>
              <a:off x="4082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4" name="Line 126"/>
            <p:cNvSpPr>
              <a:spLocks noChangeAspect="1" noChangeShapeType="1"/>
            </p:cNvSpPr>
            <p:nvPr/>
          </p:nvSpPr>
          <p:spPr bwMode="auto">
            <a:xfrm>
              <a:off x="4238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5" name="Line 127"/>
            <p:cNvSpPr>
              <a:spLocks noChangeAspect="1" noChangeShapeType="1"/>
            </p:cNvSpPr>
            <p:nvPr/>
          </p:nvSpPr>
          <p:spPr bwMode="auto">
            <a:xfrm>
              <a:off x="4393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6" name="Line 128"/>
            <p:cNvSpPr>
              <a:spLocks noChangeAspect="1" noChangeShapeType="1"/>
            </p:cNvSpPr>
            <p:nvPr/>
          </p:nvSpPr>
          <p:spPr bwMode="auto">
            <a:xfrm>
              <a:off x="4551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7" name="Line 129"/>
            <p:cNvSpPr>
              <a:spLocks noChangeAspect="1" noChangeShapeType="1"/>
            </p:cNvSpPr>
            <p:nvPr/>
          </p:nvSpPr>
          <p:spPr bwMode="auto">
            <a:xfrm>
              <a:off x="4707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8" name="Line 130"/>
            <p:cNvSpPr>
              <a:spLocks noChangeAspect="1" noChangeShapeType="1"/>
            </p:cNvSpPr>
            <p:nvPr/>
          </p:nvSpPr>
          <p:spPr bwMode="auto">
            <a:xfrm>
              <a:off x="4865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699" name="Line 131"/>
            <p:cNvSpPr>
              <a:spLocks noChangeAspect="1" noChangeShapeType="1"/>
            </p:cNvSpPr>
            <p:nvPr/>
          </p:nvSpPr>
          <p:spPr bwMode="auto">
            <a:xfrm>
              <a:off x="5021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1389700" name="Line 132"/>
            <p:cNvSpPr>
              <a:spLocks noChangeAspect="1" noChangeShapeType="1"/>
            </p:cNvSpPr>
            <p:nvPr/>
          </p:nvSpPr>
          <p:spPr bwMode="auto">
            <a:xfrm>
              <a:off x="5177" y="808"/>
              <a:ext cx="0" cy="3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</p:grpSp>
      <p:sp>
        <p:nvSpPr>
          <p:cNvPr id="1389701" name="Text Box 133"/>
          <p:cNvSpPr txBox="1">
            <a:spLocks noChangeArrowheads="1"/>
          </p:cNvSpPr>
          <p:nvPr/>
        </p:nvSpPr>
        <p:spPr bwMode="auto">
          <a:xfrm>
            <a:off x="6251575" y="1243013"/>
            <a:ext cx="23129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ea typeface="幼圆" pitchFamily="49" charset="-122"/>
                <a:sym typeface="Symbol" pitchFamily="18" charset="2"/>
              </a:rPr>
              <a:t>外荷载  总应力 </a:t>
            </a:r>
            <a:r>
              <a:rPr kumimoji="1" lang="zh-CN" altLang="en-US" sz="2000" b="1" i="1" dirty="0">
                <a:ea typeface="幼圆" pitchFamily="49" charset="-122"/>
                <a:sym typeface="Symbol" pitchFamily="18" charset="2"/>
              </a:rPr>
              <a:t></a:t>
            </a:r>
          </a:p>
        </p:txBody>
      </p:sp>
      <p:sp>
        <p:nvSpPr>
          <p:cNvPr id="1389702" name="Rectangle 134"/>
          <p:cNvSpPr>
            <a:spLocks noChangeArrowheads="1"/>
          </p:cNvSpPr>
          <p:nvPr/>
        </p:nvSpPr>
        <p:spPr bwMode="auto">
          <a:xfrm>
            <a:off x="2879725" y="5762625"/>
            <a:ext cx="47990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饱和土中的应力形态</a:t>
            </a:r>
          </a:p>
        </p:txBody>
      </p:sp>
      <p:sp>
        <p:nvSpPr>
          <p:cNvPr id="1389704" name="Text Box 136"/>
          <p:cNvSpPr txBox="1">
            <a:spLocks noChangeArrowheads="1"/>
          </p:cNvSpPr>
          <p:nvPr/>
        </p:nvSpPr>
        <p:spPr bwMode="auto">
          <a:xfrm>
            <a:off x="254000" y="773113"/>
            <a:ext cx="496411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饱和土是由固体颗粒骨架和充满其间的水组成的两相体。受外力后，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总应力分为两部分承担：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89705" name="Text Box 137"/>
          <p:cNvSpPr txBox="1">
            <a:spLocks noChangeArrowheads="1"/>
          </p:cNvSpPr>
          <p:nvPr/>
        </p:nvSpPr>
        <p:spPr bwMode="auto">
          <a:xfrm>
            <a:off x="576263" y="2401888"/>
            <a:ext cx="4570412" cy="297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0850" indent="-4508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302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由土骨架承担，并通过颗粒之间的接触面进行应力的传递，称之为</a:t>
            </a:r>
            <a:r>
              <a:rPr lang="zh-CN" altLang="en-US" sz="22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粒间应力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由孔隙水来承担，通过连通的孔隙水传递，称之为</a:t>
            </a:r>
            <a:r>
              <a:rPr lang="zh-CN" altLang="en-US" sz="22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孔隙水压力</a:t>
            </a:r>
            <a:r>
              <a:rPr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。孔隙水不能承担剪应力，但能承受法向应力</a:t>
            </a:r>
            <a:endParaRPr lang="en-US" altLang="zh-CN" sz="22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389706" name="Group 138"/>
          <p:cNvGrpSpPr>
            <a:grpSpLocks/>
          </p:cNvGrpSpPr>
          <p:nvPr/>
        </p:nvGrpSpPr>
        <p:grpSpPr bwMode="auto">
          <a:xfrm>
            <a:off x="6083300" y="3405188"/>
            <a:ext cx="2759075" cy="671512"/>
            <a:chOff x="3812" y="2145"/>
            <a:chExt cx="1738" cy="423"/>
          </a:xfrm>
        </p:grpSpPr>
        <p:sp>
          <p:nvSpPr>
            <p:cNvPr id="1389707" name="Freeform 139"/>
            <p:cNvSpPr>
              <a:spLocks/>
            </p:cNvSpPr>
            <p:nvPr/>
          </p:nvSpPr>
          <p:spPr bwMode="auto">
            <a:xfrm>
              <a:off x="3812" y="2305"/>
              <a:ext cx="1738" cy="112"/>
            </a:xfrm>
            <a:custGeom>
              <a:avLst/>
              <a:gdLst>
                <a:gd name="T0" fmla="*/ 0 w 1738"/>
                <a:gd name="T1" fmla="*/ 67 h 112"/>
                <a:gd name="T2" fmla="*/ 138 w 1738"/>
                <a:gd name="T3" fmla="*/ 107 h 112"/>
                <a:gd name="T4" fmla="*/ 330 w 1738"/>
                <a:gd name="T5" fmla="*/ 97 h 112"/>
                <a:gd name="T6" fmla="*/ 512 w 1738"/>
                <a:gd name="T7" fmla="*/ 46 h 112"/>
                <a:gd name="T8" fmla="*/ 749 w 1738"/>
                <a:gd name="T9" fmla="*/ 62 h 112"/>
                <a:gd name="T10" fmla="*/ 954 w 1738"/>
                <a:gd name="T11" fmla="*/ 54 h 112"/>
                <a:gd name="T12" fmla="*/ 1130 w 1738"/>
                <a:gd name="T13" fmla="*/ 41 h 112"/>
                <a:gd name="T14" fmla="*/ 1318 w 1738"/>
                <a:gd name="T15" fmla="*/ 1 h 112"/>
                <a:gd name="T16" fmla="*/ 1438 w 1738"/>
                <a:gd name="T17" fmla="*/ 33 h 112"/>
                <a:gd name="T18" fmla="*/ 1604 w 1738"/>
                <a:gd name="T19" fmla="*/ 42 h 112"/>
                <a:gd name="T20" fmla="*/ 1738 w 1738"/>
                <a:gd name="T21" fmla="*/ 3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112">
                  <a:moveTo>
                    <a:pt x="0" y="67"/>
                  </a:moveTo>
                  <a:cubicBezTo>
                    <a:pt x="23" y="74"/>
                    <a:pt x="83" y="102"/>
                    <a:pt x="138" y="107"/>
                  </a:cubicBezTo>
                  <a:cubicBezTo>
                    <a:pt x="193" y="112"/>
                    <a:pt x="268" y="107"/>
                    <a:pt x="330" y="97"/>
                  </a:cubicBezTo>
                  <a:cubicBezTo>
                    <a:pt x="392" y="87"/>
                    <a:pt x="442" y="52"/>
                    <a:pt x="512" y="46"/>
                  </a:cubicBezTo>
                  <a:cubicBezTo>
                    <a:pt x="582" y="40"/>
                    <a:pt x="675" y="61"/>
                    <a:pt x="749" y="62"/>
                  </a:cubicBezTo>
                  <a:cubicBezTo>
                    <a:pt x="823" y="63"/>
                    <a:pt x="891" y="57"/>
                    <a:pt x="954" y="54"/>
                  </a:cubicBezTo>
                  <a:cubicBezTo>
                    <a:pt x="1017" y="51"/>
                    <a:pt x="1069" y="50"/>
                    <a:pt x="1130" y="41"/>
                  </a:cubicBezTo>
                  <a:cubicBezTo>
                    <a:pt x="1191" y="32"/>
                    <a:pt x="1267" y="2"/>
                    <a:pt x="1318" y="1"/>
                  </a:cubicBezTo>
                  <a:cubicBezTo>
                    <a:pt x="1369" y="0"/>
                    <a:pt x="1390" y="26"/>
                    <a:pt x="1438" y="33"/>
                  </a:cubicBezTo>
                  <a:cubicBezTo>
                    <a:pt x="1486" y="40"/>
                    <a:pt x="1554" y="42"/>
                    <a:pt x="1604" y="42"/>
                  </a:cubicBezTo>
                  <a:cubicBezTo>
                    <a:pt x="1654" y="42"/>
                    <a:pt x="1710" y="35"/>
                    <a:pt x="1738" y="33"/>
                  </a:cubicBezTo>
                </a:path>
              </a:pathLst>
            </a:custGeom>
            <a:noFill/>
            <a:ln w="28575" cmpd="sng">
              <a:solidFill>
                <a:srgbClr val="CC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08" name="Line 140"/>
            <p:cNvSpPr>
              <a:spLocks noChangeShapeType="1"/>
            </p:cNvSpPr>
            <p:nvPr/>
          </p:nvSpPr>
          <p:spPr bwMode="auto">
            <a:xfrm>
              <a:off x="3964" y="2265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09" name="Line 141"/>
            <p:cNvSpPr>
              <a:spLocks noChangeShapeType="1"/>
            </p:cNvSpPr>
            <p:nvPr/>
          </p:nvSpPr>
          <p:spPr bwMode="auto">
            <a:xfrm flipV="1">
              <a:off x="3960" y="2421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0" name="Line 142"/>
            <p:cNvSpPr>
              <a:spLocks noChangeShapeType="1"/>
            </p:cNvSpPr>
            <p:nvPr/>
          </p:nvSpPr>
          <p:spPr bwMode="auto">
            <a:xfrm flipH="1">
              <a:off x="4327" y="2202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1" name="Line 143"/>
            <p:cNvSpPr>
              <a:spLocks noChangeShapeType="1"/>
            </p:cNvSpPr>
            <p:nvPr/>
          </p:nvSpPr>
          <p:spPr bwMode="auto">
            <a:xfrm rot="10800000" flipH="1">
              <a:off x="4293" y="2364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2" name="Line 144"/>
            <p:cNvSpPr>
              <a:spLocks noChangeShapeType="1"/>
            </p:cNvSpPr>
            <p:nvPr/>
          </p:nvSpPr>
          <p:spPr bwMode="auto">
            <a:xfrm rot="10800000" flipH="1">
              <a:off x="4792" y="2361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3" name="Line 145"/>
            <p:cNvSpPr>
              <a:spLocks noChangeShapeType="1"/>
            </p:cNvSpPr>
            <p:nvPr/>
          </p:nvSpPr>
          <p:spPr bwMode="auto">
            <a:xfrm flipH="1">
              <a:off x="4799" y="2180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4" name="Line 146"/>
            <p:cNvSpPr>
              <a:spLocks noChangeShapeType="1"/>
            </p:cNvSpPr>
            <p:nvPr/>
          </p:nvSpPr>
          <p:spPr bwMode="auto">
            <a:xfrm flipH="1">
              <a:off x="5132" y="2145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5" name="Line 147"/>
            <p:cNvSpPr>
              <a:spLocks noChangeShapeType="1"/>
            </p:cNvSpPr>
            <p:nvPr/>
          </p:nvSpPr>
          <p:spPr bwMode="auto">
            <a:xfrm rot="10800000" flipH="1">
              <a:off x="5076" y="2310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6" name="Line 148"/>
            <p:cNvSpPr>
              <a:spLocks noChangeShapeType="1"/>
            </p:cNvSpPr>
            <p:nvPr/>
          </p:nvSpPr>
          <p:spPr bwMode="auto">
            <a:xfrm flipH="1">
              <a:off x="5393" y="2176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17" name="Line 149"/>
            <p:cNvSpPr>
              <a:spLocks noChangeShapeType="1"/>
            </p:cNvSpPr>
            <p:nvPr/>
          </p:nvSpPr>
          <p:spPr bwMode="auto">
            <a:xfrm rot="10800000" flipH="1">
              <a:off x="5385" y="2357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89718" name="Group 150"/>
          <p:cNvGrpSpPr>
            <a:grpSpLocks/>
          </p:cNvGrpSpPr>
          <p:nvPr/>
        </p:nvGrpSpPr>
        <p:grpSpPr bwMode="auto">
          <a:xfrm>
            <a:off x="5616575" y="1317625"/>
            <a:ext cx="503238" cy="2606675"/>
            <a:chOff x="3518" y="830"/>
            <a:chExt cx="317" cy="1642"/>
          </a:xfrm>
        </p:grpSpPr>
        <p:sp>
          <p:nvSpPr>
            <p:cNvPr id="1389719" name="Freeform 151"/>
            <p:cNvSpPr>
              <a:spLocks/>
            </p:cNvSpPr>
            <p:nvPr/>
          </p:nvSpPr>
          <p:spPr bwMode="auto">
            <a:xfrm>
              <a:off x="3518" y="835"/>
              <a:ext cx="317" cy="1637"/>
            </a:xfrm>
            <a:custGeom>
              <a:avLst/>
              <a:gdLst>
                <a:gd name="T0" fmla="*/ 317 w 317"/>
                <a:gd name="T1" fmla="*/ 1637 h 1637"/>
                <a:gd name="T2" fmla="*/ 0 w 317"/>
                <a:gd name="T3" fmla="*/ 1637 h 1637"/>
                <a:gd name="T4" fmla="*/ 0 w 317"/>
                <a:gd name="T5" fmla="*/ 0 h 1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7" h="1637">
                  <a:moveTo>
                    <a:pt x="317" y="1637"/>
                  </a:moveTo>
                  <a:lnTo>
                    <a:pt x="0" y="163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720" name="Freeform 152"/>
            <p:cNvSpPr>
              <a:spLocks/>
            </p:cNvSpPr>
            <p:nvPr/>
          </p:nvSpPr>
          <p:spPr bwMode="auto">
            <a:xfrm>
              <a:off x="3561" y="830"/>
              <a:ext cx="269" cy="1599"/>
            </a:xfrm>
            <a:custGeom>
              <a:avLst/>
              <a:gdLst>
                <a:gd name="T0" fmla="*/ 250 w 250"/>
                <a:gd name="T1" fmla="*/ 1599 h 1599"/>
                <a:gd name="T2" fmla="*/ 0 w 250"/>
                <a:gd name="T3" fmla="*/ 1599 h 1599"/>
                <a:gd name="T4" fmla="*/ 0 w 250"/>
                <a:gd name="T5" fmla="*/ 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0" h="1599">
                  <a:moveTo>
                    <a:pt x="250" y="1599"/>
                  </a:moveTo>
                  <a:lnTo>
                    <a:pt x="0" y="159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67323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8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8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8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89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89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89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8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8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38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8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89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000"/>
                                        <p:tgtEl>
                                          <p:spTgt spid="138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689" grpId="0" animBg="1"/>
      <p:bldP spid="1389701" grpId="0"/>
      <p:bldP spid="1389704" grpId="0"/>
      <p:bldP spid="138970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699" name="Rectangle 107"/>
          <p:cNvSpPr>
            <a:spLocks noChangeArrowheads="1"/>
          </p:cNvSpPr>
          <p:nvPr/>
        </p:nvSpPr>
        <p:spPr bwMode="auto">
          <a:xfrm>
            <a:off x="2501900" y="3074988"/>
            <a:ext cx="463550" cy="858837"/>
          </a:xfrm>
          <a:prstGeom prst="rect">
            <a:avLst/>
          </a:prstGeom>
          <a:solidFill>
            <a:srgbClr val="FFD7AF"/>
          </a:solidFill>
          <a:ln w="28575">
            <a:solidFill>
              <a:srgbClr val="0066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0700" name="Rectangle 108"/>
          <p:cNvSpPr>
            <a:spLocks noChangeArrowheads="1"/>
          </p:cNvSpPr>
          <p:nvPr/>
        </p:nvSpPr>
        <p:spPr bwMode="auto">
          <a:xfrm>
            <a:off x="1547813" y="3065463"/>
            <a:ext cx="730250" cy="858837"/>
          </a:xfrm>
          <a:prstGeom prst="rect">
            <a:avLst/>
          </a:prstGeom>
          <a:solidFill>
            <a:srgbClr val="CCECFF"/>
          </a:solidFill>
          <a:ln w="28575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0701" name="Rectangle 109"/>
          <p:cNvSpPr>
            <a:spLocks noChangeArrowheads="1"/>
          </p:cNvSpPr>
          <p:nvPr/>
        </p:nvSpPr>
        <p:spPr bwMode="auto">
          <a:xfrm>
            <a:off x="5362575" y="776288"/>
            <a:ext cx="3676650" cy="4705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0702" name="Group 110"/>
          <p:cNvGrpSpPr>
            <a:grpSpLocks/>
          </p:cNvGrpSpPr>
          <p:nvPr/>
        </p:nvGrpSpPr>
        <p:grpSpPr bwMode="auto">
          <a:xfrm>
            <a:off x="5545138" y="850900"/>
            <a:ext cx="3482975" cy="3314700"/>
            <a:chOff x="3493" y="536"/>
            <a:chExt cx="2194" cy="2088"/>
          </a:xfrm>
        </p:grpSpPr>
        <p:sp>
          <p:nvSpPr>
            <p:cNvPr id="1390703" name="Rectangle 111"/>
            <p:cNvSpPr>
              <a:spLocks noChangeArrowheads="1"/>
            </p:cNvSpPr>
            <p:nvPr/>
          </p:nvSpPr>
          <p:spPr bwMode="auto">
            <a:xfrm>
              <a:off x="3720" y="1093"/>
              <a:ext cx="1738" cy="1531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4" name="Freeform 112"/>
            <p:cNvSpPr>
              <a:spLocks/>
            </p:cNvSpPr>
            <p:nvPr/>
          </p:nvSpPr>
          <p:spPr bwMode="auto">
            <a:xfrm rot="5400000">
              <a:off x="4303" y="1487"/>
              <a:ext cx="1058" cy="989"/>
            </a:xfrm>
            <a:custGeom>
              <a:avLst/>
              <a:gdLst>
                <a:gd name="T0" fmla="*/ 668 w 851"/>
                <a:gd name="T1" fmla="*/ 1031 h 1059"/>
                <a:gd name="T2" fmla="*/ 600 w 851"/>
                <a:gd name="T3" fmla="*/ 942 h 1059"/>
                <a:gd name="T4" fmla="*/ 505 w 851"/>
                <a:gd name="T5" fmla="*/ 901 h 1059"/>
                <a:gd name="T6" fmla="*/ 441 w 851"/>
                <a:gd name="T7" fmla="*/ 723 h 1059"/>
                <a:gd name="T8" fmla="*/ 360 w 851"/>
                <a:gd name="T9" fmla="*/ 572 h 1059"/>
                <a:gd name="T10" fmla="*/ 219 w 851"/>
                <a:gd name="T11" fmla="*/ 410 h 1059"/>
                <a:gd name="T12" fmla="*/ 128 w 851"/>
                <a:gd name="T13" fmla="*/ 384 h 1059"/>
                <a:gd name="T14" fmla="*/ 15 w 851"/>
                <a:gd name="T15" fmla="*/ 363 h 1059"/>
                <a:gd name="T16" fmla="*/ 38 w 851"/>
                <a:gd name="T17" fmla="*/ 290 h 1059"/>
                <a:gd name="T18" fmla="*/ 42 w 851"/>
                <a:gd name="T19" fmla="*/ 223 h 1059"/>
                <a:gd name="T20" fmla="*/ 38 w 851"/>
                <a:gd name="T21" fmla="*/ 155 h 1059"/>
                <a:gd name="T22" fmla="*/ 6 w 851"/>
                <a:gd name="T23" fmla="*/ 87 h 1059"/>
                <a:gd name="T24" fmla="*/ 79 w 851"/>
                <a:gd name="T25" fmla="*/ 61 h 1059"/>
                <a:gd name="T26" fmla="*/ 292 w 851"/>
                <a:gd name="T27" fmla="*/ 40 h 1059"/>
                <a:gd name="T28" fmla="*/ 500 w 851"/>
                <a:gd name="T29" fmla="*/ 9 h 1059"/>
                <a:gd name="T30" fmla="*/ 595 w 851"/>
                <a:gd name="T31" fmla="*/ 3 h 1059"/>
                <a:gd name="T32" fmla="*/ 641 w 851"/>
                <a:gd name="T33" fmla="*/ 30 h 1059"/>
                <a:gd name="T34" fmla="*/ 654 w 851"/>
                <a:gd name="T35" fmla="*/ 71 h 1059"/>
                <a:gd name="T36" fmla="*/ 661 w 851"/>
                <a:gd name="T37" fmla="*/ 135 h 1059"/>
                <a:gd name="T38" fmla="*/ 703 w 851"/>
                <a:gd name="T39" fmla="*/ 199 h 1059"/>
                <a:gd name="T40" fmla="*/ 805 w 851"/>
                <a:gd name="T41" fmla="*/ 253 h 1059"/>
                <a:gd name="T42" fmla="*/ 844 w 851"/>
                <a:gd name="T43" fmla="*/ 327 h 1059"/>
                <a:gd name="T44" fmla="*/ 763 w 851"/>
                <a:gd name="T45" fmla="*/ 770 h 1059"/>
                <a:gd name="T46" fmla="*/ 668 w 851"/>
                <a:gd name="T47" fmla="*/ 1031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1" h="1059">
                  <a:moveTo>
                    <a:pt x="668" y="1031"/>
                  </a:moveTo>
                  <a:cubicBezTo>
                    <a:pt x="641" y="1059"/>
                    <a:pt x="627" y="963"/>
                    <a:pt x="600" y="942"/>
                  </a:cubicBezTo>
                  <a:cubicBezTo>
                    <a:pt x="573" y="922"/>
                    <a:pt x="530" y="937"/>
                    <a:pt x="505" y="901"/>
                  </a:cubicBezTo>
                  <a:cubicBezTo>
                    <a:pt x="479" y="864"/>
                    <a:pt x="465" y="777"/>
                    <a:pt x="441" y="723"/>
                  </a:cubicBezTo>
                  <a:cubicBezTo>
                    <a:pt x="417" y="669"/>
                    <a:pt x="396" y="624"/>
                    <a:pt x="360" y="572"/>
                  </a:cubicBezTo>
                  <a:cubicBezTo>
                    <a:pt x="323" y="520"/>
                    <a:pt x="257" y="442"/>
                    <a:pt x="219" y="410"/>
                  </a:cubicBezTo>
                  <a:cubicBezTo>
                    <a:pt x="181" y="379"/>
                    <a:pt x="162" y="391"/>
                    <a:pt x="128" y="384"/>
                  </a:cubicBezTo>
                  <a:cubicBezTo>
                    <a:pt x="95" y="377"/>
                    <a:pt x="30" y="379"/>
                    <a:pt x="15" y="363"/>
                  </a:cubicBezTo>
                  <a:cubicBezTo>
                    <a:pt x="0" y="348"/>
                    <a:pt x="33" y="313"/>
                    <a:pt x="38" y="290"/>
                  </a:cubicBezTo>
                  <a:cubicBezTo>
                    <a:pt x="42" y="268"/>
                    <a:pt x="42" y="245"/>
                    <a:pt x="42" y="223"/>
                  </a:cubicBezTo>
                  <a:cubicBezTo>
                    <a:pt x="42" y="200"/>
                    <a:pt x="44" y="177"/>
                    <a:pt x="38" y="155"/>
                  </a:cubicBezTo>
                  <a:cubicBezTo>
                    <a:pt x="32" y="132"/>
                    <a:pt x="0" y="103"/>
                    <a:pt x="6" y="87"/>
                  </a:cubicBezTo>
                  <a:cubicBezTo>
                    <a:pt x="12" y="71"/>
                    <a:pt x="32" y="68"/>
                    <a:pt x="79" y="61"/>
                  </a:cubicBezTo>
                  <a:cubicBezTo>
                    <a:pt x="125" y="54"/>
                    <a:pt x="222" y="49"/>
                    <a:pt x="292" y="40"/>
                  </a:cubicBezTo>
                  <a:cubicBezTo>
                    <a:pt x="361" y="31"/>
                    <a:pt x="450" y="14"/>
                    <a:pt x="500" y="9"/>
                  </a:cubicBezTo>
                  <a:cubicBezTo>
                    <a:pt x="550" y="3"/>
                    <a:pt x="571" y="0"/>
                    <a:pt x="595" y="3"/>
                  </a:cubicBezTo>
                  <a:cubicBezTo>
                    <a:pt x="620" y="7"/>
                    <a:pt x="632" y="19"/>
                    <a:pt x="641" y="30"/>
                  </a:cubicBezTo>
                  <a:cubicBezTo>
                    <a:pt x="650" y="40"/>
                    <a:pt x="651" y="54"/>
                    <a:pt x="654" y="71"/>
                  </a:cubicBezTo>
                  <a:cubicBezTo>
                    <a:pt x="657" y="88"/>
                    <a:pt x="653" y="114"/>
                    <a:pt x="661" y="135"/>
                  </a:cubicBezTo>
                  <a:cubicBezTo>
                    <a:pt x="669" y="156"/>
                    <a:pt x="679" y="179"/>
                    <a:pt x="703" y="199"/>
                  </a:cubicBezTo>
                  <a:cubicBezTo>
                    <a:pt x="727" y="219"/>
                    <a:pt x="782" y="232"/>
                    <a:pt x="805" y="253"/>
                  </a:cubicBezTo>
                  <a:cubicBezTo>
                    <a:pt x="828" y="274"/>
                    <a:pt x="851" y="241"/>
                    <a:pt x="844" y="327"/>
                  </a:cubicBezTo>
                  <a:cubicBezTo>
                    <a:pt x="837" y="413"/>
                    <a:pt x="792" y="653"/>
                    <a:pt x="763" y="770"/>
                  </a:cubicBezTo>
                  <a:cubicBezTo>
                    <a:pt x="734" y="887"/>
                    <a:pt x="695" y="1003"/>
                    <a:pt x="668" y="1031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5" name="Freeform 113" descr="宽上对角线"/>
            <p:cNvSpPr>
              <a:spLocks/>
            </p:cNvSpPr>
            <p:nvPr/>
          </p:nvSpPr>
          <p:spPr bwMode="auto">
            <a:xfrm>
              <a:off x="3964" y="2272"/>
              <a:ext cx="490" cy="351"/>
            </a:xfrm>
            <a:custGeom>
              <a:avLst/>
              <a:gdLst>
                <a:gd name="T0" fmla="*/ 3 w 490"/>
                <a:gd name="T1" fmla="*/ 113 h 264"/>
                <a:gd name="T2" fmla="*/ 31 w 490"/>
                <a:gd name="T3" fmla="*/ 49 h 264"/>
                <a:gd name="T4" fmla="*/ 107 w 490"/>
                <a:gd name="T5" fmla="*/ 36 h 264"/>
                <a:gd name="T6" fmla="*/ 175 w 490"/>
                <a:gd name="T7" fmla="*/ 1 h 264"/>
                <a:gd name="T8" fmla="*/ 278 w 490"/>
                <a:gd name="T9" fmla="*/ 40 h 264"/>
                <a:gd name="T10" fmla="*/ 344 w 490"/>
                <a:gd name="T11" fmla="*/ 40 h 264"/>
                <a:gd name="T12" fmla="*/ 441 w 490"/>
                <a:gd name="T13" fmla="*/ 29 h 264"/>
                <a:gd name="T14" fmla="*/ 478 w 490"/>
                <a:gd name="T15" fmla="*/ 63 h 264"/>
                <a:gd name="T16" fmla="*/ 478 w 490"/>
                <a:gd name="T17" fmla="*/ 142 h 264"/>
                <a:gd name="T18" fmla="*/ 409 w 490"/>
                <a:gd name="T19" fmla="*/ 220 h 264"/>
                <a:gd name="T20" fmla="*/ 300 w 490"/>
                <a:gd name="T21" fmla="*/ 260 h 264"/>
                <a:gd name="T22" fmla="*/ 175 w 490"/>
                <a:gd name="T23" fmla="*/ 243 h 264"/>
                <a:gd name="T24" fmla="*/ 50 w 490"/>
                <a:gd name="T25" fmla="*/ 198 h 264"/>
                <a:gd name="T26" fmla="*/ 3 w 490"/>
                <a:gd name="T27" fmla="*/ 113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64">
                  <a:moveTo>
                    <a:pt x="3" y="113"/>
                  </a:moveTo>
                  <a:cubicBezTo>
                    <a:pt x="0" y="88"/>
                    <a:pt x="14" y="62"/>
                    <a:pt x="31" y="49"/>
                  </a:cubicBezTo>
                  <a:cubicBezTo>
                    <a:pt x="48" y="36"/>
                    <a:pt x="83" y="44"/>
                    <a:pt x="107" y="36"/>
                  </a:cubicBezTo>
                  <a:cubicBezTo>
                    <a:pt x="131" y="28"/>
                    <a:pt x="147" y="0"/>
                    <a:pt x="175" y="1"/>
                  </a:cubicBezTo>
                  <a:cubicBezTo>
                    <a:pt x="203" y="2"/>
                    <a:pt x="250" y="33"/>
                    <a:pt x="278" y="40"/>
                  </a:cubicBezTo>
                  <a:cubicBezTo>
                    <a:pt x="306" y="47"/>
                    <a:pt x="316" y="42"/>
                    <a:pt x="344" y="40"/>
                  </a:cubicBezTo>
                  <a:cubicBezTo>
                    <a:pt x="371" y="39"/>
                    <a:pt x="418" y="25"/>
                    <a:pt x="441" y="29"/>
                  </a:cubicBezTo>
                  <a:cubicBezTo>
                    <a:pt x="463" y="33"/>
                    <a:pt x="472" y="44"/>
                    <a:pt x="478" y="63"/>
                  </a:cubicBezTo>
                  <a:cubicBezTo>
                    <a:pt x="485" y="81"/>
                    <a:pt x="490" y="115"/>
                    <a:pt x="478" y="142"/>
                  </a:cubicBezTo>
                  <a:cubicBezTo>
                    <a:pt x="467" y="168"/>
                    <a:pt x="439" y="201"/>
                    <a:pt x="409" y="220"/>
                  </a:cubicBezTo>
                  <a:cubicBezTo>
                    <a:pt x="380" y="240"/>
                    <a:pt x="339" y="256"/>
                    <a:pt x="300" y="260"/>
                  </a:cubicBezTo>
                  <a:cubicBezTo>
                    <a:pt x="261" y="264"/>
                    <a:pt x="216" y="253"/>
                    <a:pt x="175" y="243"/>
                  </a:cubicBezTo>
                  <a:cubicBezTo>
                    <a:pt x="133" y="233"/>
                    <a:pt x="80" y="218"/>
                    <a:pt x="50" y="198"/>
                  </a:cubicBezTo>
                  <a:cubicBezTo>
                    <a:pt x="20" y="178"/>
                    <a:pt x="7" y="149"/>
                    <a:pt x="3" y="11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6" name="Freeform 114" descr="宽上对角线"/>
            <p:cNvSpPr>
              <a:spLocks/>
            </p:cNvSpPr>
            <p:nvPr/>
          </p:nvSpPr>
          <p:spPr bwMode="auto">
            <a:xfrm rot="5400000" flipH="1">
              <a:off x="5093" y="2263"/>
              <a:ext cx="398" cy="313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7" name="Freeform 115" descr="宽上对角线"/>
            <p:cNvSpPr>
              <a:spLocks/>
            </p:cNvSpPr>
            <p:nvPr/>
          </p:nvSpPr>
          <p:spPr bwMode="auto">
            <a:xfrm rot="1736741">
              <a:off x="4271" y="2016"/>
              <a:ext cx="264" cy="339"/>
            </a:xfrm>
            <a:custGeom>
              <a:avLst/>
              <a:gdLst>
                <a:gd name="T0" fmla="*/ 282 w 440"/>
                <a:gd name="T1" fmla="*/ 260 h 345"/>
                <a:gd name="T2" fmla="*/ 211 w 440"/>
                <a:gd name="T3" fmla="*/ 317 h 345"/>
                <a:gd name="T4" fmla="*/ 119 w 440"/>
                <a:gd name="T5" fmla="*/ 342 h 345"/>
                <a:gd name="T6" fmla="*/ 27 w 440"/>
                <a:gd name="T7" fmla="*/ 321 h 345"/>
                <a:gd name="T8" fmla="*/ 21 w 440"/>
                <a:gd name="T9" fmla="*/ 198 h 345"/>
                <a:gd name="T10" fmla="*/ 152 w 440"/>
                <a:gd name="T11" fmla="*/ 64 h 345"/>
                <a:gd name="T12" fmla="*/ 341 w 440"/>
                <a:gd name="T13" fmla="*/ 10 h 345"/>
                <a:gd name="T14" fmla="*/ 420 w 440"/>
                <a:gd name="T15" fmla="*/ 10 h 345"/>
                <a:gd name="T16" fmla="*/ 433 w 440"/>
                <a:gd name="T17" fmla="*/ 70 h 345"/>
                <a:gd name="T18" fmla="*/ 378 w 440"/>
                <a:gd name="T19" fmla="*/ 185 h 345"/>
                <a:gd name="T20" fmla="*/ 282 w 440"/>
                <a:gd name="T21" fmla="*/ 26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0" h="345">
                  <a:moveTo>
                    <a:pt x="282" y="260"/>
                  </a:moveTo>
                  <a:cubicBezTo>
                    <a:pt x="254" y="282"/>
                    <a:pt x="238" y="304"/>
                    <a:pt x="211" y="317"/>
                  </a:cubicBezTo>
                  <a:cubicBezTo>
                    <a:pt x="184" y="330"/>
                    <a:pt x="149" y="341"/>
                    <a:pt x="119" y="342"/>
                  </a:cubicBezTo>
                  <a:cubicBezTo>
                    <a:pt x="88" y="343"/>
                    <a:pt x="43" y="345"/>
                    <a:pt x="27" y="321"/>
                  </a:cubicBezTo>
                  <a:cubicBezTo>
                    <a:pt x="11" y="297"/>
                    <a:pt x="0" y="241"/>
                    <a:pt x="21" y="198"/>
                  </a:cubicBezTo>
                  <a:cubicBezTo>
                    <a:pt x="42" y="155"/>
                    <a:pt x="99" y="95"/>
                    <a:pt x="152" y="64"/>
                  </a:cubicBezTo>
                  <a:cubicBezTo>
                    <a:pt x="205" y="33"/>
                    <a:pt x="296" y="19"/>
                    <a:pt x="341" y="10"/>
                  </a:cubicBezTo>
                  <a:cubicBezTo>
                    <a:pt x="386" y="1"/>
                    <a:pt x="404" y="0"/>
                    <a:pt x="420" y="10"/>
                  </a:cubicBezTo>
                  <a:cubicBezTo>
                    <a:pt x="436" y="19"/>
                    <a:pt x="440" y="41"/>
                    <a:pt x="433" y="70"/>
                  </a:cubicBezTo>
                  <a:cubicBezTo>
                    <a:pt x="425" y="100"/>
                    <a:pt x="404" y="154"/>
                    <a:pt x="378" y="185"/>
                  </a:cubicBezTo>
                  <a:cubicBezTo>
                    <a:pt x="352" y="216"/>
                    <a:pt x="310" y="238"/>
                    <a:pt x="282" y="26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8" name="Freeform 116" descr="宽上对角线"/>
            <p:cNvSpPr>
              <a:spLocks/>
            </p:cNvSpPr>
            <p:nvPr/>
          </p:nvSpPr>
          <p:spPr bwMode="auto">
            <a:xfrm>
              <a:off x="4573" y="1995"/>
              <a:ext cx="390" cy="394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09" name="Freeform 117" descr="宽上对角线"/>
            <p:cNvSpPr>
              <a:spLocks/>
            </p:cNvSpPr>
            <p:nvPr/>
          </p:nvSpPr>
          <p:spPr bwMode="auto">
            <a:xfrm rot="10800000" flipH="1">
              <a:off x="4888" y="1943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0" name="Freeform 118" descr="宽上对角线"/>
            <p:cNvSpPr>
              <a:spLocks/>
            </p:cNvSpPr>
            <p:nvPr/>
          </p:nvSpPr>
          <p:spPr bwMode="auto">
            <a:xfrm rot="13016966" flipH="1">
              <a:off x="3666" y="2080"/>
              <a:ext cx="371" cy="477"/>
            </a:xfrm>
            <a:custGeom>
              <a:avLst/>
              <a:gdLst>
                <a:gd name="T0" fmla="*/ 225 w 443"/>
                <a:gd name="T1" fmla="*/ 66 h 310"/>
                <a:gd name="T2" fmla="*/ 77 w 443"/>
                <a:gd name="T3" fmla="*/ 118 h 310"/>
                <a:gd name="T4" fmla="*/ 5 w 443"/>
                <a:gd name="T5" fmla="*/ 194 h 310"/>
                <a:gd name="T6" fmla="*/ 45 w 443"/>
                <a:gd name="T7" fmla="*/ 298 h 310"/>
                <a:gd name="T8" fmla="*/ 157 w 443"/>
                <a:gd name="T9" fmla="*/ 266 h 310"/>
                <a:gd name="T10" fmla="*/ 325 w 443"/>
                <a:gd name="T11" fmla="*/ 206 h 310"/>
                <a:gd name="T12" fmla="*/ 429 w 443"/>
                <a:gd name="T13" fmla="*/ 94 h 310"/>
                <a:gd name="T14" fmla="*/ 409 w 443"/>
                <a:gd name="T15" fmla="*/ 14 h 310"/>
                <a:gd name="T16" fmla="*/ 361 w 443"/>
                <a:gd name="T17" fmla="*/ 10 h 310"/>
                <a:gd name="T18" fmla="*/ 265 w 443"/>
                <a:gd name="T19" fmla="*/ 46 h 310"/>
                <a:gd name="T20" fmla="*/ 225 w 443"/>
                <a:gd name="T21" fmla="*/ 6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310">
                  <a:moveTo>
                    <a:pt x="225" y="66"/>
                  </a:moveTo>
                  <a:cubicBezTo>
                    <a:pt x="194" y="78"/>
                    <a:pt x="114" y="97"/>
                    <a:pt x="77" y="118"/>
                  </a:cubicBezTo>
                  <a:cubicBezTo>
                    <a:pt x="40" y="139"/>
                    <a:pt x="10" y="164"/>
                    <a:pt x="5" y="194"/>
                  </a:cubicBezTo>
                  <a:cubicBezTo>
                    <a:pt x="0" y="224"/>
                    <a:pt x="20" y="286"/>
                    <a:pt x="45" y="298"/>
                  </a:cubicBezTo>
                  <a:cubicBezTo>
                    <a:pt x="70" y="310"/>
                    <a:pt x="110" y="281"/>
                    <a:pt x="157" y="266"/>
                  </a:cubicBezTo>
                  <a:cubicBezTo>
                    <a:pt x="204" y="251"/>
                    <a:pt x="280" y="235"/>
                    <a:pt x="325" y="206"/>
                  </a:cubicBezTo>
                  <a:cubicBezTo>
                    <a:pt x="370" y="177"/>
                    <a:pt x="415" y="126"/>
                    <a:pt x="429" y="94"/>
                  </a:cubicBezTo>
                  <a:cubicBezTo>
                    <a:pt x="443" y="62"/>
                    <a:pt x="420" y="28"/>
                    <a:pt x="409" y="14"/>
                  </a:cubicBezTo>
                  <a:cubicBezTo>
                    <a:pt x="398" y="0"/>
                    <a:pt x="385" y="5"/>
                    <a:pt x="361" y="10"/>
                  </a:cubicBezTo>
                  <a:cubicBezTo>
                    <a:pt x="337" y="15"/>
                    <a:pt x="290" y="34"/>
                    <a:pt x="265" y="46"/>
                  </a:cubicBezTo>
                  <a:cubicBezTo>
                    <a:pt x="240" y="58"/>
                    <a:pt x="256" y="54"/>
                    <a:pt x="225" y="6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1" name="Freeform 119" descr="宽上对角线"/>
            <p:cNvSpPr>
              <a:spLocks/>
            </p:cNvSpPr>
            <p:nvPr/>
          </p:nvSpPr>
          <p:spPr bwMode="auto">
            <a:xfrm rot="5400000" flipH="1">
              <a:off x="4415" y="2274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2" name="Freeform 120" descr="宽上对角线"/>
            <p:cNvSpPr>
              <a:spLocks/>
            </p:cNvSpPr>
            <p:nvPr/>
          </p:nvSpPr>
          <p:spPr bwMode="auto">
            <a:xfrm rot="5400000" flipH="1">
              <a:off x="4780" y="225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3" name="Freeform 121" descr="宽上对角线"/>
            <p:cNvSpPr>
              <a:spLocks/>
            </p:cNvSpPr>
            <p:nvPr/>
          </p:nvSpPr>
          <p:spPr bwMode="auto">
            <a:xfrm rot="5400000" flipH="1">
              <a:off x="3952" y="1961"/>
              <a:ext cx="285" cy="348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4" name="Freeform 122" descr="宽上对角线"/>
            <p:cNvSpPr>
              <a:spLocks/>
            </p:cNvSpPr>
            <p:nvPr/>
          </p:nvSpPr>
          <p:spPr bwMode="auto">
            <a:xfrm>
              <a:off x="5226" y="1983"/>
              <a:ext cx="228" cy="249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5" name="Freeform 123" descr="宽上对角线"/>
            <p:cNvSpPr>
              <a:spLocks/>
            </p:cNvSpPr>
            <p:nvPr/>
          </p:nvSpPr>
          <p:spPr bwMode="auto">
            <a:xfrm>
              <a:off x="4955" y="1656"/>
              <a:ext cx="491" cy="322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6" name="Freeform 124" descr="宽上对角线"/>
            <p:cNvSpPr>
              <a:spLocks/>
            </p:cNvSpPr>
            <p:nvPr/>
          </p:nvSpPr>
          <p:spPr bwMode="auto">
            <a:xfrm rot="5400000" flipH="1">
              <a:off x="4552" y="1564"/>
              <a:ext cx="398" cy="464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7" name="Freeform 125" descr="宽上对角线"/>
            <p:cNvSpPr>
              <a:spLocks/>
            </p:cNvSpPr>
            <p:nvPr/>
          </p:nvSpPr>
          <p:spPr bwMode="auto">
            <a:xfrm rot="5400000" flipH="1">
              <a:off x="4167" y="163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8" name="Freeform 126" descr="宽上对角线"/>
            <p:cNvSpPr>
              <a:spLocks/>
            </p:cNvSpPr>
            <p:nvPr/>
          </p:nvSpPr>
          <p:spPr bwMode="auto">
            <a:xfrm rot="5400000" flipH="1">
              <a:off x="3683" y="1701"/>
              <a:ext cx="369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19" name="Freeform 127" descr="宽上对角线"/>
            <p:cNvSpPr>
              <a:spLocks/>
            </p:cNvSpPr>
            <p:nvPr/>
          </p:nvSpPr>
          <p:spPr bwMode="auto">
            <a:xfrm flipH="1">
              <a:off x="3916" y="1516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0" name="Freeform 128" descr="宽上对角线"/>
            <p:cNvSpPr>
              <a:spLocks/>
            </p:cNvSpPr>
            <p:nvPr/>
          </p:nvSpPr>
          <p:spPr bwMode="auto">
            <a:xfrm>
              <a:off x="3934" y="1099"/>
              <a:ext cx="490" cy="339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1" name="Freeform 129" descr="宽上对角线"/>
            <p:cNvSpPr>
              <a:spLocks/>
            </p:cNvSpPr>
            <p:nvPr/>
          </p:nvSpPr>
          <p:spPr bwMode="auto">
            <a:xfrm>
              <a:off x="5141" y="1093"/>
              <a:ext cx="313" cy="315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2" name="Freeform 130" descr="宽上对角线"/>
            <p:cNvSpPr>
              <a:spLocks/>
            </p:cNvSpPr>
            <p:nvPr/>
          </p:nvSpPr>
          <p:spPr bwMode="auto">
            <a:xfrm>
              <a:off x="4161" y="1416"/>
              <a:ext cx="359" cy="247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3" name="Freeform 131" descr="宽上对角线"/>
            <p:cNvSpPr>
              <a:spLocks/>
            </p:cNvSpPr>
            <p:nvPr/>
          </p:nvSpPr>
          <p:spPr bwMode="auto">
            <a:xfrm rot="846441" flipV="1">
              <a:off x="4594" y="1351"/>
              <a:ext cx="277" cy="270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4" name="Freeform 132" descr="宽上对角线"/>
            <p:cNvSpPr>
              <a:spLocks/>
            </p:cNvSpPr>
            <p:nvPr/>
          </p:nvSpPr>
          <p:spPr bwMode="auto">
            <a:xfrm rot="-5400000" flipH="1" flipV="1">
              <a:off x="4378" y="1138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5" name="Freeform 133" descr="宽上对角线"/>
            <p:cNvSpPr>
              <a:spLocks/>
            </p:cNvSpPr>
            <p:nvPr/>
          </p:nvSpPr>
          <p:spPr bwMode="auto">
            <a:xfrm rot="-5400000" flipH="1" flipV="1">
              <a:off x="4820" y="1202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6" name="Freeform 134" descr="宽上对角线"/>
            <p:cNvSpPr>
              <a:spLocks/>
            </p:cNvSpPr>
            <p:nvPr/>
          </p:nvSpPr>
          <p:spPr bwMode="auto">
            <a:xfrm flipH="1" flipV="1">
              <a:off x="3727" y="1223"/>
              <a:ext cx="214" cy="463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27" name="Freeform 135" descr="宽上对角线"/>
            <p:cNvSpPr>
              <a:spLocks/>
            </p:cNvSpPr>
            <p:nvPr/>
          </p:nvSpPr>
          <p:spPr bwMode="auto">
            <a:xfrm flipV="1">
              <a:off x="5196" y="1402"/>
              <a:ext cx="244" cy="274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1390728" name="Group 136"/>
            <p:cNvGrpSpPr>
              <a:grpSpLocks/>
            </p:cNvGrpSpPr>
            <p:nvPr/>
          </p:nvGrpSpPr>
          <p:grpSpPr bwMode="auto">
            <a:xfrm>
              <a:off x="3718" y="834"/>
              <a:ext cx="1684" cy="201"/>
              <a:chOff x="3768" y="808"/>
              <a:chExt cx="1409" cy="314"/>
            </a:xfrm>
          </p:grpSpPr>
          <p:sp>
            <p:nvSpPr>
              <p:cNvPr id="1390729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0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1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2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3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4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5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6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7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38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90739" name="Text Box 147"/>
            <p:cNvSpPr txBox="1">
              <a:spLocks noChangeArrowheads="1"/>
            </p:cNvSpPr>
            <p:nvPr/>
          </p:nvSpPr>
          <p:spPr bwMode="auto">
            <a:xfrm>
              <a:off x="3730" y="536"/>
              <a:ext cx="16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外荷载  总应力 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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1390740" name="Freeform 148"/>
            <p:cNvSpPr>
              <a:spLocks/>
            </p:cNvSpPr>
            <p:nvPr/>
          </p:nvSpPr>
          <p:spPr bwMode="auto">
            <a:xfrm>
              <a:off x="3722" y="1941"/>
              <a:ext cx="1738" cy="112"/>
            </a:xfrm>
            <a:custGeom>
              <a:avLst/>
              <a:gdLst>
                <a:gd name="T0" fmla="*/ 0 w 1738"/>
                <a:gd name="T1" fmla="*/ 67 h 112"/>
                <a:gd name="T2" fmla="*/ 138 w 1738"/>
                <a:gd name="T3" fmla="*/ 107 h 112"/>
                <a:gd name="T4" fmla="*/ 330 w 1738"/>
                <a:gd name="T5" fmla="*/ 97 h 112"/>
                <a:gd name="T6" fmla="*/ 512 w 1738"/>
                <a:gd name="T7" fmla="*/ 46 h 112"/>
                <a:gd name="T8" fmla="*/ 749 w 1738"/>
                <a:gd name="T9" fmla="*/ 62 h 112"/>
                <a:gd name="T10" fmla="*/ 954 w 1738"/>
                <a:gd name="T11" fmla="*/ 54 h 112"/>
                <a:gd name="T12" fmla="*/ 1130 w 1738"/>
                <a:gd name="T13" fmla="*/ 41 h 112"/>
                <a:gd name="T14" fmla="*/ 1318 w 1738"/>
                <a:gd name="T15" fmla="*/ 1 h 112"/>
                <a:gd name="T16" fmla="*/ 1438 w 1738"/>
                <a:gd name="T17" fmla="*/ 33 h 112"/>
                <a:gd name="T18" fmla="*/ 1604 w 1738"/>
                <a:gd name="T19" fmla="*/ 42 h 112"/>
                <a:gd name="T20" fmla="*/ 1738 w 1738"/>
                <a:gd name="T21" fmla="*/ 3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112">
                  <a:moveTo>
                    <a:pt x="0" y="67"/>
                  </a:moveTo>
                  <a:cubicBezTo>
                    <a:pt x="23" y="74"/>
                    <a:pt x="83" y="102"/>
                    <a:pt x="138" y="107"/>
                  </a:cubicBezTo>
                  <a:cubicBezTo>
                    <a:pt x="193" y="112"/>
                    <a:pt x="268" y="107"/>
                    <a:pt x="330" y="97"/>
                  </a:cubicBezTo>
                  <a:cubicBezTo>
                    <a:pt x="392" y="87"/>
                    <a:pt x="442" y="52"/>
                    <a:pt x="512" y="46"/>
                  </a:cubicBezTo>
                  <a:cubicBezTo>
                    <a:pt x="582" y="40"/>
                    <a:pt x="675" y="61"/>
                    <a:pt x="749" y="62"/>
                  </a:cubicBezTo>
                  <a:cubicBezTo>
                    <a:pt x="823" y="63"/>
                    <a:pt x="891" y="57"/>
                    <a:pt x="954" y="54"/>
                  </a:cubicBezTo>
                  <a:cubicBezTo>
                    <a:pt x="1017" y="51"/>
                    <a:pt x="1069" y="50"/>
                    <a:pt x="1130" y="41"/>
                  </a:cubicBezTo>
                  <a:cubicBezTo>
                    <a:pt x="1191" y="32"/>
                    <a:pt x="1267" y="2"/>
                    <a:pt x="1318" y="1"/>
                  </a:cubicBezTo>
                  <a:cubicBezTo>
                    <a:pt x="1369" y="0"/>
                    <a:pt x="1390" y="26"/>
                    <a:pt x="1438" y="33"/>
                  </a:cubicBezTo>
                  <a:cubicBezTo>
                    <a:pt x="1486" y="40"/>
                    <a:pt x="1554" y="42"/>
                    <a:pt x="1604" y="42"/>
                  </a:cubicBezTo>
                  <a:cubicBezTo>
                    <a:pt x="1654" y="42"/>
                    <a:pt x="1710" y="35"/>
                    <a:pt x="1738" y="33"/>
                  </a:cubicBezTo>
                </a:path>
              </a:pathLst>
            </a:custGeom>
            <a:noFill/>
            <a:ln w="28575" cmpd="sng">
              <a:solidFill>
                <a:srgbClr val="CC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1" name="Line 149"/>
            <p:cNvSpPr>
              <a:spLocks noChangeShapeType="1"/>
            </p:cNvSpPr>
            <p:nvPr/>
          </p:nvSpPr>
          <p:spPr bwMode="auto">
            <a:xfrm>
              <a:off x="3874" y="1901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2" name="Line 150"/>
            <p:cNvSpPr>
              <a:spLocks noChangeShapeType="1"/>
            </p:cNvSpPr>
            <p:nvPr/>
          </p:nvSpPr>
          <p:spPr bwMode="auto">
            <a:xfrm flipV="1">
              <a:off x="3870" y="2057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3" name="Line 151"/>
            <p:cNvSpPr>
              <a:spLocks noChangeShapeType="1"/>
            </p:cNvSpPr>
            <p:nvPr/>
          </p:nvSpPr>
          <p:spPr bwMode="auto">
            <a:xfrm flipH="1">
              <a:off x="4237" y="1838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4" name="Line 152"/>
            <p:cNvSpPr>
              <a:spLocks noChangeShapeType="1"/>
            </p:cNvSpPr>
            <p:nvPr/>
          </p:nvSpPr>
          <p:spPr bwMode="auto">
            <a:xfrm rot="10800000" flipH="1">
              <a:off x="4203" y="2000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5" name="Line 153"/>
            <p:cNvSpPr>
              <a:spLocks noChangeShapeType="1"/>
            </p:cNvSpPr>
            <p:nvPr/>
          </p:nvSpPr>
          <p:spPr bwMode="auto">
            <a:xfrm rot="10800000" flipH="1">
              <a:off x="4702" y="1997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6" name="Line 154"/>
            <p:cNvSpPr>
              <a:spLocks noChangeShapeType="1"/>
            </p:cNvSpPr>
            <p:nvPr/>
          </p:nvSpPr>
          <p:spPr bwMode="auto">
            <a:xfrm flipH="1">
              <a:off x="4709" y="1816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7" name="Line 155"/>
            <p:cNvSpPr>
              <a:spLocks noChangeShapeType="1"/>
            </p:cNvSpPr>
            <p:nvPr/>
          </p:nvSpPr>
          <p:spPr bwMode="auto">
            <a:xfrm flipH="1">
              <a:off x="5042" y="1781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8" name="Line 156"/>
            <p:cNvSpPr>
              <a:spLocks noChangeShapeType="1"/>
            </p:cNvSpPr>
            <p:nvPr/>
          </p:nvSpPr>
          <p:spPr bwMode="auto">
            <a:xfrm rot="10800000" flipH="1">
              <a:off x="4986" y="1946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49" name="Line 157"/>
            <p:cNvSpPr>
              <a:spLocks noChangeShapeType="1"/>
            </p:cNvSpPr>
            <p:nvPr/>
          </p:nvSpPr>
          <p:spPr bwMode="auto">
            <a:xfrm flipH="1">
              <a:off x="5303" y="1812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50" name="Line 158"/>
            <p:cNvSpPr>
              <a:spLocks noChangeShapeType="1"/>
            </p:cNvSpPr>
            <p:nvPr/>
          </p:nvSpPr>
          <p:spPr bwMode="auto">
            <a:xfrm rot="10800000" flipH="1">
              <a:off x="5295" y="1993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0751" name="Text Box 159"/>
            <p:cNvSpPr txBox="1">
              <a:spLocks noChangeArrowheads="1"/>
            </p:cNvSpPr>
            <p:nvPr/>
          </p:nvSpPr>
          <p:spPr bwMode="auto">
            <a:xfrm>
              <a:off x="3493" y="186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90752" name="Text Box 160"/>
            <p:cNvSpPr txBox="1">
              <a:spLocks noChangeArrowheads="1"/>
            </p:cNvSpPr>
            <p:nvPr/>
          </p:nvSpPr>
          <p:spPr bwMode="auto">
            <a:xfrm>
              <a:off x="5486" y="182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390753" name="Group 161"/>
          <p:cNvGrpSpPr>
            <a:grpSpLocks/>
          </p:cNvGrpSpPr>
          <p:nvPr/>
        </p:nvGrpSpPr>
        <p:grpSpPr bwMode="auto">
          <a:xfrm>
            <a:off x="6426200" y="2924175"/>
            <a:ext cx="1985963" cy="2390775"/>
            <a:chOff x="4048" y="1842"/>
            <a:chExt cx="1251" cy="1506"/>
          </a:xfrm>
        </p:grpSpPr>
        <p:grpSp>
          <p:nvGrpSpPr>
            <p:cNvPr id="1390755" name="Group 163"/>
            <p:cNvGrpSpPr>
              <a:grpSpLocks/>
            </p:cNvGrpSpPr>
            <p:nvPr/>
          </p:nvGrpSpPr>
          <p:grpSpPr bwMode="auto">
            <a:xfrm>
              <a:off x="4048" y="1842"/>
              <a:ext cx="1251" cy="1506"/>
              <a:chOff x="4048" y="1842"/>
              <a:chExt cx="1251" cy="1506"/>
            </a:xfrm>
          </p:grpSpPr>
          <p:sp>
            <p:nvSpPr>
              <p:cNvPr id="1390756" name="Line 164"/>
              <p:cNvSpPr>
                <a:spLocks noChangeShapeType="1"/>
              </p:cNvSpPr>
              <p:nvPr/>
            </p:nvSpPr>
            <p:spPr bwMode="auto">
              <a:xfrm flipH="1">
                <a:off x="4589" y="2052"/>
                <a:ext cx="377" cy="69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57" name="Oval 165"/>
              <p:cNvSpPr>
                <a:spLocks noChangeArrowheads="1"/>
              </p:cNvSpPr>
              <p:nvPr/>
            </p:nvSpPr>
            <p:spPr bwMode="auto">
              <a:xfrm>
                <a:off x="4922" y="1842"/>
                <a:ext cx="231" cy="23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58" name="Line 166"/>
              <p:cNvSpPr>
                <a:spLocks noChangeShapeType="1"/>
              </p:cNvSpPr>
              <p:nvPr/>
            </p:nvSpPr>
            <p:spPr bwMode="auto">
              <a:xfrm flipH="1">
                <a:off x="4366" y="2811"/>
                <a:ext cx="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59" name="Oval 167"/>
              <p:cNvSpPr>
                <a:spLocks noChangeArrowheads="1"/>
              </p:cNvSpPr>
              <p:nvPr/>
            </p:nvSpPr>
            <p:spPr bwMode="auto">
              <a:xfrm>
                <a:off x="4048" y="2743"/>
                <a:ext cx="605" cy="605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0" name="Oval 168"/>
              <p:cNvSpPr>
                <a:spLocks noChangeArrowheads="1"/>
              </p:cNvSpPr>
              <p:nvPr/>
            </p:nvSpPr>
            <p:spPr bwMode="auto">
              <a:xfrm>
                <a:off x="4338" y="3056"/>
                <a:ext cx="65" cy="65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1" name="Line 169"/>
              <p:cNvSpPr>
                <a:spLocks noChangeShapeType="1"/>
              </p:cNvSpPr>
              <p:nvPr/>
            </p:nvSpPr>
            <p:spPr bwMode="auto">
              <a:xfrm flipH="1">
                <a:off x="4371" y="2807"/>
                <a:ext cx="109" cy="2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2" name="Line 170"/>
              <p:cNvSpPr>
                <a:spLocks noChangeShapeType="1"/>
              </p:cNvSpPr>
              <p:nvPr/>
            </p:nvSpPr>
            <p:spPr bwMode="auto">
              <a:xfrm rot="10800000" flipH="1">
                <a:off x="4283" y="3094"/>
                <a:ext cx="91" cy="2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3" name="Line 171"/>
              <p:cNvSpPr>
                <a:spLocks noChangeShapeType="1"/>
              </p:cNvSpPr>
              <p:nvPr/>
            </p:nvSpPr>
            <p:spPr bwMode="auto">
              <a:xfrm rot="-21600000">
                <a:off x="4364" y="2816"/>
                <a:ext cx="3" cy="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4" name="Text Box 172"/>
              <p:cNvSpPr txBox="1">
                <a:spLocks noChangeArrowheads="1"/>
              </p:cNvSpPr>
              <p:nvPr/>
            </p:nvSpPr>
            <p:spPr bwMode="auto">
              <a:xfrm>
                <a:off x="4700" y="2978"/>
                <a:ext cx="5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接触点</a:t>
                </a:r>
              </a:p>
            </p:txBody>
          </p:sp>
          <p:sp>
            <p:nvSpPr>
              <p:cNvPr id="1390765" name="Text Box 173"/>
              <p:cNvSpPr txBox="1">
                <a:spLocks noChangeArrowheads="1"/>
              </p:cNvSpPr>
              <p:nvPr/>
            </p:nvSpPr>
            <p:spPr bwMode="auto">
              <a:xfrm>
                <a:off x="4474" y="2707"/>
                <a:ext cx="28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s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766" name="Line 174"/>
              <p:cNvSpPr>
                <a:spLocks noChangeShapeType="1"/>
              </p:cNvSpPr>
              <p:nvPr/>
            </p:nvSpPr>
            <p:spPr bwMode="auto">
              <a:xfrm>
                <a:off x="4451" y="3093"/>
                <a:ext cx="243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90754" name="Text Box 162"/>
            <p:cNvSpPr txBox="1">
              <a:spLocks noChangeArrowheads="1"/>
            </p:cNvSpPr>
            <p:nvPr/>
          </p:nvSpPr>
          <p:spPr bwMode="auto">
            <a:xfrm>
              <a:off x="4050" y="2705"/>
              <a:ext cx="34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sv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90767" name="Group 175"/>
          <p:cNvGrpSpPr>
            <a:grpSpLocks/>
          </p:cNvGrpSpPr>
          <p:nvPr/>
        </p:nvGrpSpPr>
        <p:grpSpPr bwMode="auto">
          <a:xfrm>
            <a:off x="411670" y="942975"/>
            <a:ext cx="3130999" cy="1173163"/>
            <a:chOff x="282" y="594"/>
            <a:chExt cx="1764" cy="739"/>
          </a:xfrm>
        </p:grpSpPr>
        <p:sp>
          <p:nvSpPr>
            <p:cNvPr id="1390768" name="Text Box 176"/>
            <p:cNvSpPr txBox="1">
              <a:spLocks noChangeArrowheads="1"/>
            </p:cNvSpPr>
            <p:nvPr/>
          </p:nvSpPr>
          <p:spPr bwMode="auto">
            <a:xfrm>
              <a:off x="282" y="595"/>
              <a:ext cx="2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A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：</a:t>
              </a:r>
            </a:p>
          </p:txBody>
        </p:sp>
        <p:sp>
          <p:nvSpPr>
            <p:cNvPr id="1390769" name="Text Box 177"/>
            <p:cNvSpPr txBox="1">
              <a:spLocks noChangeArrowheads="1"/>
            </p:cNvSpPr>
            <p:nvPr/>
          </p:nvSpPr>
          <p:spPr bwMode="auto">
            <a:xfrm>
              <a:off x="293" y="1139"/>
              <a:ext cx="29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A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w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：</a:t>
              </a:r>
            </a:p>
          </p:txBody>
        </p:sp>
        <p:sp>
          <p:nvSpPr>
            <p:cNvPr id="1390770" name="Text Box 178"/>
            <p:cNvSpPr txBox="1">
              <a:spLocks noChangeArrowheads="1"/>
            </p:cNvSpPr>
            <p:nvPr/>
          </p:nvSpPr>
          <p:spPr bwMode="auto">
            <a:xfrm>
              <a:off x="283" y="862"/>
              <a:ext cx="2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A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s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：</a:t>
              </a:r>
            </a:p>
          </p:txBody>
        </p:sp>
        <p:sp>
          <p:nvSpPr>
            <p:cNvPr id="1390771" name="Text Box 179"/>
            <p:cNvSpPr txBox="1">
              <a:spLocks noChangeArrowheads="1"/>
            </p:cNvSpPr>
            <p:nvPr/>
          </p:nvSpPr>
          <p:spPr bwMode="auto">
            <a:xfrm>
              <a:off x="554" y="594"/>
              <a:ext cx="917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土单元的断面积</a:t>
              </a:r>
            </a:p>
          </p:txBody>
        </p:sp>
        <p:sp>
          <p:nvSpPr>
            <p:cNvPr id="1390772" name="Text Box 180"/>
            <p:cNvSpPr txBox="1">
              <a:spLocks noChangeArrowheads="1"/>
            </p:cNvSpPr>
            <p:nvPr/>
          </p:nvSpPr>
          <p:spPr bwMode="auto">
            <a:xfrm>
              <a:off x="554" y="882"/>
              <a:ext cx="1492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颗粒接触点</a:t>
              </a:r>
              <a:r>
                <a:rPr kumimoji="1" lang="zh-CN" altLang="en-US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面积竖向投影</a:t>
              </a:r>
              <a:endPara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390773" name="Text Box 181"/>
            <p:cNvSpPr txBox="1">
              <a:spLocks noChangeArrowheads="1"/>
            </p:cNvSpPr>
            <p:nvPr/>
          </p:nvSpPr>
          <p:spPr bwMode="auto">
            <a:xfrm>
              <a:off x="559" y="1139"/>
              <a:ext cx="1310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孔隙水</a:t>
              </a:r>
              <a:r>
                <a:rPr kumimoji="1"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断面积竖向</a:t>
              </a:r>
              <a:r>
                <a:rPr kumimoji="1" lang="zh-CN" altLang="en-US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itchFamily="18" charset="0"/>
                  <a:sym typeface="Symbol" pitchFamily="18" charset="2"/>
                </a:rPr>
                <a:t>投影</a:t>
              </a:r>
              <a:endPara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1390774" name="Object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096455"/>
              </p:ext>
            </p:extLst>
          </p:nvPr>
        </p:nvGraphicFramePr>
        <p:xfrm>
          <a:off x="2498725" y="5138738"/>
          <a:ext cx="23098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958" name="公式" r:id="rId4" imgW="660240" imgH="177480" progId="Equation.3">
                  <p:embed/>
                </p:oleObj>
              </mc:Choice>
              <mc:Fallback>
                <p:oleObj name="公式" r:id="rId4" imgW="660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8444" r="-8444"/>
                      <a:stretch>
                        <a:fillRect/>
                      </a:stretch>
                    </p:blipFill>
                    <p:spPr bwMode="auto">
                      <a:xfrm>
                        <a:off x="2498725" y="5138738"/>
                        <a:ext cx="23098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0775" name="Object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76382"/>
              </p:ext>
            </p:extLst>
          </p:nvPr>
        </p:nvGraphicFramePr>
        <p:xfrm>
          <a:off x="2774950" y="2405063"/>
          <a:ext cx="26336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959" name="公式" r:id="rId6" imgW="1244520" imgH="253800" progId="Equation.3">
                  <p:embed/>
                </p:oleObj>
              </mc:Choice>
              <mc:Fallback>
                <p:oleObj name="公式" r:id="rId6" imgW="1244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 l="-8018" r="-8018"/>
                      <a:stretch>
                        <a:fillRect/>
                      </a:stretch>
                    </p:blipFill>
                    <p:spPr bwMode="auto">
                      <a:xfrm>
                        <a:off x="2774950" y="2405063"/>
                        <a:ext cx="263366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0776" name="Rectangle 184"/>
          <p:cNvSpPr>
            <a:spLocks noChangeArrowheads="1"/>
          </p:cNvSpPr>
          <p:nvPr/>
        </p:nvSpPr>
        <p:spPr bwMode="auto">
          <a:xfrm>
            <a:off x="403675" y="2425606"/>
            <a:ext cx="26548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a-a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断面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竖向力平衡：</a:t>
            </a:r>
          </a:p>
        </p:txBody>
      </p:sp>
      <p:graphicFrame>
        <p:nvGraphicFramePr>
          <p:cNvPr id="1390777" name="Object 1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476081"/>
              </p:ext>
            </p:extLst>
          </p:nvPr>
        </p:nvGraphicFramePr>
        <p:xfrm>
          <a:off x="3663950" y="1335088"/>
          <a:ext cx="18859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960" name="公式" r:id="rId8" imgW="812520" imgH="228600" progId="Equation.3">
                  <p:embed/>
                </p:oleObj>
              </mc:Choice>
              <mc:Fallback>
                <p:oleObj name="公式" r:id="rId8" imgW="812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 l="-8162" r="-8162"/>
                      <a:stretch>
                        <a:fillRect/>
                      </a:stretch>
                    </p:blipFill>
                    <p:spPr bwMode="auto">
                      <a:xfrm>
                        <a:off x="3663950" y="1335088"/>
                        <a:ext cx="18859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0778" name="AutoShape 186"/>
          <p:cNvSpPr>
            <a:spLocks/>
          </p:cNvSpPr>
          <p:nvPr/>
        </p:nvSpPr>
        <p:spPr bwMode="auto">
          <a:xfrm>
            <a:off x="3499336" y="1004888"/>
            <a:ext cx="179388" cy="1125537"/>
          </a:xfrm>
          <a:prstGeom prst="rightBrace">
            <a:avLst>
              <a:gd name="adj1" fmla="val 52286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90779" name="Object 1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292473"/>
              </p:ext>
            </p:extLst>
          </p:nvPr>
        </p:nvGraphicFramePr>
        <p:xfrm>
          <a:off x="882650" y="3128963"/>
          <a:ext cx="248602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961" name="公式" r:id="rId10" imgW="1180800" imgH="406080" progId="Equation.3">
                  <p:embed/>
                </p:oleObj>
              </mc:Choice>
              <mc:Fallback>
                <p:oleObj name="公式" r:id="rId10" imgW="1180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 l="-8099" r="-8099"/>
                      <a:stretch>
                        <a:fillRect/>
                      </a:stretch>
                    </p:blipFill>
                    <p:spPr bwMode="auto">
                      <a:xfrm>
                        <a:off x="882650" y="3128963"/>
                        <a:ext cx="248602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0780" name="Group 188"/>
          <p:cNvGrpSpPr>
            <a:grpSpLocks/>
          </p:cNvGrpSpPr>
          <p:nvPr/>
        </p:nvGrpSpPr>
        <p:grpSpPr bwMode="auto">
          <a:xfrm>
            <a:off x="1727200" y="3984627"/>
            <a:ext cx="2173288" cy="901701"/>
            <a:chOff x="1088" y="2510"/>
            <a:chExt cx="1369" cy="568"/>
          </a:xfrm>
        </p:grpSpPr>
        <p:sp>
          <p:nvSpPr>
            <p:cNvPr id="1390781" name="Text Box 189"/>
            <p:cNvSpPr txBox="1">
              <a:spLocks noChangeArrowheads="1"/>
            </p:cNvSpPr>
            <p:nvPr/>
          </p:nvSpPr>
          <p:spPr bwMode="auto">
            <a:xfrm>
              <a:off x="1408" y="2787"/>
              <a:ext cx="10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有效应力</a:t>
              </a:r>
              <a:r>
                <a:rPr kumimoji="1" lang="en-US" altLang="zh-CN" sz="2400" b="1" i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σ</a:t>
              </a:r>
              <a:r>
                <a:rPr kumimoji="1" lang="en-US" altLang="zh-CN" sz="24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endPara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90782" name="Freeform 190"/>
            <p:cNvSpPr>
              <a:spLocks/>
            </p:cNvSpPr>
            <p:nvPr/>
          </p:nvSpPr>
          <p:spPr bwMode="auto">
            <a:xfrm>
              <a:off x="1088" y="2510"/>
              <a:ext cx="269" cy="444"/>
            </a:xfrm>
            <a:custGeom>
              <a:avLst/>
              <a:gdLst>
                <a:gd name="T0" fmla="*/ 0 w 682"/>
                <a:gd name="T1" fmla="*/ 0 h 278"/>
                <a:gd name="T2" fmla="*/ 0 w 682"/>
                <a:gd name="T3" fmla="*/ 278 h 278"/>
                <a:gd name="T4" fmla="*/ 682 w 682"/>
                <a:gd name="T5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278">
                  <a:moveTo>
                    <a:pt x="0" y="0"/>
                  </a:moveTo>
                  <a:lnTo>
                    <a:pt x="0" y="278"/>
                  </a:lnTo>
                  <a:lnTo>
                    <a:pt x="682" y="278"/>
                  </a:ln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90783" name="Group 191"/>
          <p:cNvGrpSpPr>
            <a:grpSpLocks/>
          </p:cNvGrpSpPr>
          <p:nvPr/>
        </p:nvGrpSpPr>
        <p:grpSpPr bwMode="auto">
          <a:xfrm>
            <a:off x="2686050" y="3978275"/>
            <a:ext cx="1050925" cy="457200"/>
            <a:chOff x="1692" y="2506"/>
            <a:chExt cx="662" cy="288"/>
          </a:xfrm>
        </p:grpSpPr>
        <p:sp>
          <p:nvSpPr>
            <p:cNvPr id="1390784" name="Freeform 192"/>
            <p:cNvSpPr>
              <a:spLocks/>
            </p:cNvSpPr>
            <p:nvPr/>
          </p:nvSpPr>
          <p:spPr bwMode="auto">
            <a:xfrm>
              <a:off x="1692" y="2515"/>
              <a:ext cx="269" cy="145"/>
            </a:xfrm>
            <a:custGeom>
              <a:avLst/>
              <a:gdLst>
                <a:gd name="T0" fmla="*/ 0 w 682"/>
                <a:gd name="T1" fmla="*/ 0 h 278"/>
                <a:gd name="T2" fmla="*/ 0 w 682"/>
                <a:gd name="T3" fmla="*/ 278 h 278"/>
                <a:gd name="T4" fmla="*/ 682 w 682"/>
                <a:gd name="T5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278">
                  <a:moveTo>
                    <a:pt x="0" y="0"/>
                  </a:moveTo>
                  <a:lnTo>
                    <a:pt x="0" y="278"/>
                  </a:lnTo>
                  <a:lnTo>
                    <a:pt x="682" y="278"/>
                  </a:lnTo>
                </a:path>
              </a:pathLst>
            </a:custGeom>
            <a:noFill/>
            <a:ln w="38100" cmpd="sng">
              <a:solidFill>
                <a:srgbClr val="0066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0785" name="Text Box 193"/>
            <p:cNvSpPr txBox="1">
              <a:spLocks noChangeArrowheads="1"/>
            </p:cNvSpPr>
            <p:nvPr/>
          </p:nvSpPr>
          <p:spPr bwMode="auto">
            <a:xfrm>
              <a:off x="1989" y="2506"/>
              <a:ext cx="3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 </a:t>
              </a:r>
              <a:r>
                <a:rPr kumimoji="1" lang="en-US" altLang="zh-CN" sz="2400" b="1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1390786" name="Text Box 194"/>
          <p:cNvSpPr txBox="1">
            <a:spLocks noChangeArrowheads="1"/>
          </p:cNvSpPr>
          <p:nvPr/>
        </p:nvSpPr>
        <p:spPr bwMode="auto">
          <a:xfrm>
            <a:off x="2773363" y="582295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饱和土有效应力原理</a:t>
            </a:r>
          </a:p>
        </p:txBody>
      </p:sp>
      <p:sp>
        <p:nvSpPr>
          <p:cNvPr id="1390787" name="AutoShape 195"/>
          <p:cNvSpPr>
            <a:spLocks noChangeArrowheads="1"/>
          </p:cNvSpPr>
          <p:nvPr/>
        </p:nvSpPr>
        <p:spPr bwMode="auto">
          <a:xfrm>
            <a:off x="1958975" y="5194300"/>
            <a:ext cx="685800" cy="485775"/>
          </a:xfrm>
          <a:prstGeom prst="homePlate">
            <a:avLst>
              <a:gd name="adj" fmla="val 35294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4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160775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9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39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9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9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39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90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9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39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39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39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39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8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90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90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90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90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9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0699" grpId="0" animBg="1"/>
      <p:bldP spid="1390700" grpId="0" animBg="1"/>
      <p:bldP spid="1390776" grpId="0" build="p" autoUpdateAnimBg="0"/>
      <p:bldP spid="1390778" grpId="0" animBg="1"/>
      <p:bldP spid="139078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712" name="Rectangle 96"/>
          <p:cNvSpPr>
            <a:spLocks noChangeArrowheads="1"/>
          </p:cNvSpPr>
          <p:nvPr/>
        </p:nvSpPr>
        <p:spPr bwMode="auto">
          <a:xfrm>
            <a:off x="2790825" y="5802313"/>
            <a:ext cx="5197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饱和土的有效应力原理</a:t>
            </a:r>
          </a:p>
        </p:txBody>
      </p:sp>
      <p:sp>
        <p:nvSpPr>
          <p:cNvPr id="1391713" name="Text Box 97"/>
          <p:cNvSpPr txBox="1">
            <a:spLocks noChangeArrowheads="1"/>
          </p:cNvSpPr>
          <p:nvPr/>
        </p:nvSpPr>
        <p:spPr bwMode="auto">
          <a:xfrm>
            <a:off x="906463" y="676275"/>
            <a:ext cx="7227887" cy="150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饱和土体内任一平面上受到的总应力可分为两部分</a:t>
            </a:r>
            <a:r>
              <a:rPr lang="en-US" altLang="zh-CN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，并且：</a:t>
            </a:r>
          </a:p>
          <a:p>
            <a:pPr>
              <a:spcBef>
                <a:spcPts val="1800"/>
              </a:spcBef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土的变形与强度都只取决于有效应力</a:t>
            </a:r>
          </a:p>
        </p:txBody>
      </p:sp>
      <p:sp>
        <p:nvSpPr>
          <p:cNvPr id="1391714" name="Text Box 98"/>
          <p:cNvSpPr txBox="1">
            <a:spLocks noChangeArrowheads="1"/>
          </p:cNvSpPr>
          <p:nvPr/>
        </p:nvSpPr>
        <p:spPr bwMode="auto">
          <a:xfrm>
            <a:off x="1439863" y="23225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一般地，</a:t>
            </a:r>
          </a:p>
        </p:txBody>
      </p:sp>
      <p:graphicFrame>
        <p:nvGraphicFramePr>
          <p:cNvPr id="1391715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82888"/>
              </p:ext>
            </p:extLst>
          </p:nvPr>
        </p:nvGraphicFramePr>
        <p:xfrm>
          <a:off x="3576638" y="1123950"/>
          <a:ext cx="1320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982" name="公式" r:id="rId4" imgW="660240" imgH="177480" progId="Equation.3">
                  <p:embed/>
                </p:oleObj>
              </mc:Choice>
              <mc:Fallback>
                <p:oleObj name="公式" r:id="rId4" imgW="660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8444" r="-8444"/>
                      <a:stretch>
                        <a:fillRect/>
                      </a:stretch>
                    </p:blipFill>
                    <p:spPr bwMode="auto">
                      <a:xfrm>
                        <a:off x="3576638" y="1123950"/>
                        <a:ext cx="1320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1716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89345"/>
              </p:ext>
            </p:extLst>
          </p:nvPr>
        </p:nvGraphicFramePr>
        <p:xfrm>
          <a:off x="2873375" y="2363788"/>
          <a:ext cx="1777680" cy="43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983" name="公式" r:id="rId6" imgW="888840" imgH="215640" progId="Equation.3">
                  <p:embed/>
                </p:oleObj>
              </mc:Choice>
              <mc:Fallback>
                <p:oleObj name="公式" r:id="rId6" imgW="8888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2363788"/>
                        <a:ext cx="1777680" cy="431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1717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067126"/>
              </p:ext>
            </p:extLst>
          </p:nvPr>
        </p:nvGraphicFramePr>
        <p:xfrm>
          <a:off x="2878137" y="2918501"/>
          <a:ext cx="5913438" cy="142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984" name="公式" r:id="rId8" imgW="3060360" imgH="736560" progId="Equation.3">
                  <p:embed/>
                </p:oleObj>
              </mc:Choice>
              <mc:Fallback>
                <p:oleObj name="公式" r:id="rId8" imgW="30603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7" y="2918501"/>
                        <a:ext cx="5913438" cy="1423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1718" name="Text Box 102"/>
          <p:cNvSpPr txBox="1">
            <a:spLocks noChangeArrowheads="1"/>
          </p:cNvSpPr>
          <p:nvPr/>
        </p:nvSpPr>
        <p:spPr bwMode="auto">
          <a:xfrm>
            <a:off x="6710363" y="4862513"/>
            <a:ext cx="1581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</a:t>
            </a:r>
          </a:p>
        </p:txBody>
      </p:sp>
      <p:sp>
        <p:nvSpPr>
          <p:cNvPr id="1391719" name="Text Box 103"/>
          <p:cNvSpPr txBox="1">
            <a:spLocks noChangeArrowheads="1"/>
          </p:cNvSpPr>
          <p:nvPr/>
        </p:nvSpPr>
        <p:spPr bwMode="auto">
          <a:xfrm>
            <a:off x="1719263" y="4627563"/>
            <a:ext cx="2757487" cy="80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  <a:sym typeface="Symbol" pitchFamily="18" charset="2"/>
              </a:rPr>
              <a:t>总应力已知或易知</a:t>
            </a:r>
          </a:p>
          <a:p>
            <a:pPr algn="just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Garamond" pitchFamily="18" charset="0"/>
                <a:ea typeface="幼圆" pitchFamily="49" charset="-122"/>
                <a:sym typeface="Symbol" pitchFamily="18" charset="2"/>
              </a:rPr>
              <a:t>孔隙水压测定或计算</a:t>
            </a:r>
          </a:p>
        </p:txBody>
      </p:sp>
      <p:sp>
        <p:nvSpPr>
          <p:cNvPr id="1391720" name="AutoShape 104"/>
          <p:cNvSpPr>
            <a:spLocks/>
          </p:cNvSpPr>
          <p:nvPr/>
        </p:nvSpPr>
        <p:spPr bwMode="auto">
          <a:xfrm>
            <a:off x="4508500" y="4768850"/>
            <a:ext cx="206375" cy="630238"/>
          </a:xfrm>
          <a:prstGeom prst="rightBrace">
            <a:avLst>
              <a:gd name="adj1" fmla="val 25449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91721" name="AutoShape 105"/>
          <p:cNvSpPr>
            <a:spLocks noChangeArrowheads="1"/>
          </p:cNvSpPr>
          <p:nvPr/>
        </p:nvSpPr>
        <p:spPr bwMode="auto">
          <a:xfrm>
            <a:off x="5110163" y="5084763"/>
            <a:ext cx="1152525" cy="287337"/>
          </a:xfrm>
          <a:prstGeom prst="rightArrow">
            <a:avLst>
              <a:gd name="adj1" fmla="val 50000"/>
              <a:gd name="adj2" fmla="val 100276"/>
            </a:avLst>
          </a:prstGeom>
          <a:solidFill>
            <a:schemeClr val="bg1"/>
          </a:solidFill>
          <a:ln w="25400" algn="ctr">
            <a:solidFill>
              <a:srgbClr val="A50021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91722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236119"/>
              </p:ext>
            </p:extLst>
          </p:nvPr>
        </p:nvGraphicFramePr>
        <p:xfrm>
          <a:off x="4959350" y="4618038"/>
          <a:ext cx="138906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2985" name="Equation" r:id="rId10" imgW="660240" imgH="177480" progId="Equation.DSMT4">
                  <p:embed/>
                </p:oleObj>
              </mc:Choice>
              <mc:Fallback>
                <p:oleObj name="Equation" r:id="rId10" imgW="660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4618038"/>
                        <a:ext cx="138906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1604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9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9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9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24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9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391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391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391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1391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1391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1391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39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39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13917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13917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13917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72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91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91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72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39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39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720"/>
                            </p:stCondLst>
                            <p:childTnLst>
                              <p:par>
                                <p:cTn id="5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9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1713" grpId="0" build="p"/>
      <p:bldP spid="1391714" grpId="0"/>
      <p:bldP spid="1391718" grpId="0"/>
      <p:bldP spid="1391719" grpId="0"/>
      <p:bldP spid="1391720" grpId="0" animBg="1"/>
      <p:bldP spid="13917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06" name="Rectangle 66"/>
          <p:cNvSpPr>
            <a:spLocks noChangeArrowheads="1"/>
          </p:cNvSpPr>
          <p:nvPr/>
        </p:nvSpPr>
        <p:spPr bwMode="auto">
          <a:xfrm>
            <a:off x="498475" y="946150"/>
            <a:ext cx="2163763" cy="854075"/>
          </a:xfrm>
          <a:prstGeom prst="rect">
            <a:avLst/>
          </a:prstGeom>
          <a:solidFill>
            <a:srgbClr val="FFC58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92664" name="Rectangle 24"/>
          <p:cNvSpPr>
            <a:spLocks noChangeArrowheads="1"/>
          </p:cNvSpPr>
          <p:nvPr/>
        </p:nvSpPr>
        <p:spPr bwMode="auto">
          <a:xfrm>
            <a:off x="2957513" y="5775325"/>
            <a:ext cx="5197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有效应力原理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的讨论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392665" name="Text Box 25"/>
          <p:cNvSpPr txBox="1">
            <a:spLocks noChangeArrowheads="1"/>
          </p:cNvSpPr>
          <p:nvPr/>
        </p:nvSpPr>
        <p:spPr bwMode="auto">
          <a:xfrm>
            <a:off x="560388" y="873125"/>
            <a:ext cx="1955800" cy="27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孔隙水压力的作用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有效应力的</a:t>
            </a:r>
            <a:r>
              <a:rPr kumimoji="0" lang="zh-CN" altLang="en-US" b="1" dirty="0" smtClean="0">
                <a:solidFill>
                  <a:srgbClr val="000066"/>
                </a:solidFill>
                <a:ea typeface="幼圆" pitchFamily="49" charset="-122"/>
              </a:rPr>
              <a:t>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简单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实例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92666" name="Rectangle 26"/>
          <p:cNvSpPr>
            <a:spLocks noChangeArrowheads="1"/>
          </p:cNvSpPr>
          <p:nvPr/>
        </p:nvSpPr>
        <p:spPr bwMode="auto">
          <a:xfrm>
            <a:off x="511175" y="865188"/>
            <a:ext cx="2173288" cy="3322637"/>
          </a:xfrm>
          <a:prstGeom prst="rect">
            <a:avLst/>
          </a:prstGeom>
          <a:noFill/>
          <a:ln w="38100" cmpd="dbl">
            <a:solidFill>
              <a:srgbClr val="00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667" name="Text Box 27"/>
          <p:cNvSpPr txBox="1">
            <a:spLocks noChangeArrowheads="1"/>
          </p:cNvSpPr>
          <p:nvPr/>
        </p:nvSpPr>
        <p:spPr bwMode="auto">
          <a:xfrm>
            <a:off x="3459163" y="1058863"/>
            <a:ext cx="5275262" cy="402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它在各个方向相等，只能使土颗粒本身受到等向压力，不会使土颗粒移动，导致孔隙体积发生变化。由于颗粒本身压缩模量很大，故土粒本身压缩变形极小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水不能承受剪应力，对土颗粒间摩擦、土粒的破碎没有贡献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l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因而孔隙水压力对变形强度没有直接影响，称为中性应力</a:t>
            </a:r>
          </a:p>
        </p:txBody>
      </p:sp>
      <p:sp>
        <p:nvSpPr>
          <p:cNvPr id="1392669" name="AutoShape 29"/>
          <p:cNvSpPr>
            <a:spLocks noChangeArrowheads="1"/>
          </p:cNvSpPr>
          <p:nvPr/>
        </p:nvSpPr>
        <p:spPr bwMode="auto">
          <a:xfrm>
            <a:off x="2963863" y="1119188"/>
            <a:ext cx="530225" cy="466725"/>
          </a:xfrm>
          <a:prstGeom prst="homePlate">
            <a:avLst>
              <a:gd name="adj" fmla="val 2840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303882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9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39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06" grpId="0" animBg="1"/>
      <p:bldP spid="1392667" grpId="0"/>
      <p:bldP spid="139266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729" name="Rectangle 65"/>
          <p:cNvSpPr>
            <a:spLocks noChangeArrowheads="1"/>
          </p:cNvSpPr>
          <p:nvPr/>
        </p:nvSpPr>
        <p:spPr bwMode="auto">
          <a:xfrm>
            <a:off x="498475" y="2044700"/>
            <a:ext cx="2163763" cy="854075"/>
          </a:xfrm>
          <a:prstGeom prst="rect">
            <a:avLst/>
          </a:prstGeom>
          <a:solidFill>
            <a:srgbClr val="FFC58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93731" name="Rectangle 67"/>
          <p:cNvSpPr>
            <a:spLocks noChangeArrowheads="1"/>
          </p:cNvSpPr>
          <p:nvPr/>
        </p:nvSpPr>
        <p:spPr bwMode="auto">
          <a:xfrm>
            <a:off x="2871788" y="5765800"/>
            <a:ext cx="5197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有效应力原理的讨论</a:t>
            </a:r>
          </a:p>
        </p:txBody>
      </p:sp>
      <p:sp>
        <p:nvSpPr>
          <p:cNvPr id="1393732" name="Text Box 68"/>
          <p:cNvSpPr txBox="1">
            <a:spLocks noChangeArrowheads="1"/>
          </p:cNvSpPr>
          <p:nvPr/>
        </p:nvSpPr>
        <p:spPr bwMode="auto">
          <a:xfrm>
            <a:off x="560388" y="873125"/>
            <a:ext cx="1955800" cy="27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孔隙水压力的作用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有效应力的作用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简单实例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93733" name="Rectangle 69"/>
          <p:cNvSpPr>
            <a:spLocks noChangeArrowheads="1"/>
          </p:cNvSpPr>
          <p:nvPr/>
        </p:nvSpPr>
        <p:spPr bwMode="auto">
          <a:xfrm>
            <a:off x="511175" y="865188"/>
            <a:ext cx="2173288" cy="3322637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736" name="Rectangle 72"/>
          <p:cNvSpPr>
            <a:spLocks noChangeArrowheads="1"/>
          </p:cNvSpPr>
          <p:nvPr/>
        </p:nvSpPr>
        <p:spPr bwMode="auto">
          <a:xfrm>
            <a:off x="3765551" y="887413"/>
            <a:ext cx="44831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41325" indent="-441325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是土体发生变形的原因：颗粒间克服摩擦相对滑移、滚动以及在接触点处由于应力过大而破碎均与</a:t>
            </a:r>
            <a:r>
              <a:rPr kumimoji="1" lang="el-GR" altLang="zh-CN" sz="28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kumimoji="1" lang="el-GR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有关</a:t>
            </a:r>
          </a:p>
          <a:p>
            <a:pPr marL="441325" indent="-441325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是土体强度的成因：土的凝聚力和粒间摩擦力均与</a:t>
            </a:r>
            <a:r>
              <a:rPr kumimoji="1" lang="el-GR" altLang="zh-CN" sz="28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</a:t>
            </a:r>
            <a:r>
              <a:rPr kumimoji="1" lang="el-GR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有关</a:t>
            </a:r>
          </a:p>
        </p:txBody>
      </p:sp>
      <p:sp>
        <p:nvSpPr>
          <p:cNvPr id="1393770" name="AutoShape 106"/>
          <p:cNvSpPr>
            <a:spLocks noChangeArrowheads="1"/>
          </p:cNvSpPr>
          <p:nvPr/>
        </p:nvSpPr>
        <p:spPr bwMode="auto">
          <a:xfrm>
            <a:off x="3027363" y="2246313"/>
            <a:ext cx="530225" cy="466725"/>
          </a:xfrm>
          <a:prstGeom prst="homePlate">
            <a:avLst>
              <a:gd name="adj" fmla="val 2840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50209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9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39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729" grpId="0" animBg="1"/>
      <p:bldP spid="1393736" grpId="0"/>
      <p:bldP spid="139377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793" name="Rectangle 105"/>
          <p:cNvSpPr>
            <a:spLocks noChangeArrowheads="1"/>
          </p:cNvSpPr>
          <p:nvPr/>
        </p:nvSpPr>
        <p:spPr bwMode="auto">
          <a:xfrm>
            <a:off x="498475" y="3117850"/>
            <a:ext cx="2163763" cy="533400"/>
          </a:xfrm>
          <a:prstGeom prst="rect">
            <a:avLst/>
          </a:prstGeom>
          <a:solidFill>
            <a:srgbClr val="FFC58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94794" name="AutoShape 106"/>
          <p:cNvSpPr>
            <a:spLocks noChangeArrowheads="1"/>
          </p:cNvSpPr>
          <p:nvPr/>
        </p:nvSpPr>
        <p:spPr bwMode="auto">
          <a:xfrm>
            <a:off x="3106738" y="3151188"/>
            <a:ext cx="530225" cy="466725"/>
          </a:xfrm>
          <a:prstGeom prst="homePlate">
            <a:avLst>
              <a:gd name="adj" fmla="val 2840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4754" name="Rectangle 66"/>
          <p:cNvSpPr>
            <a:spLocks noChangeArrowheads="1"/>
          </p:cNvSpPr>
          <p:nvPr/>
        </p:nvSpPr>
        <p:spPr bwMode="auto">
          <a:xfrm>
            <a:off x="2795588" y="5784850"/>
            <a:ext cx="5197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有效应力原理的讨论</a:t>
            </a:r>
          </a:p>
        </p:txBody>
      </p:sp>
      <p:sp>
        <p:nvSpPr>
          <p:cNvPr id="1394755" name="Text Box 67"/>
          <p:cNvSpPr txBox="1">
            <a:spLocks noChangeArrowheads="1"/>
          </p:cNvSpPr>
          <p:nvPr/>
        </p:nvSpPr>
        <p:spPr bwMode="auto">
          <a:xfrm>
            <a:off x="560388" y="873125"/>
            <a:ext cx="1955800" cy="27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孔隙水压力的作用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有效应力的作用</a:t>
            </a:r>
          </a:p>
          <a:p>
            <a:pPr>
              <a:lnSpc>
                <a:spcPct val="120000"/>
              </a:lnSpc>
              <a:spcBef>
                <a:spcPct val="30000"/>
              </a:spcBef>
              <a:spcAft>
                <a:spcPct val="35000"/>
              </a:spcAft>
              <a:buClr>
                <a:srgbClr val="A50021"/>
              </a:buClr>
              <a:buFont typeface="Wingdings" pitchFamily="2" charset="2"/>
              <a:buChar char="²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简单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实例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394756" name="Rectangle 68"/>
          <p:cNvSpPr>
            <a:spLocks noChangeArrowheads="1"/>
          </p:cNvSpPr>
          <p:nvPr/>
        </p:nvSpPr>
        <p:spPr bwMode="auto">
          <a:xfrm>
            <a:off x="511175" y="865188"/>
            <a:ext cx="2173288" cy="3322637"/>
          </a:xfrm>
          <a:prstGeom prst="rect">
            <a:avLst/>
          </a:prstGeom>
          <a:noFill/>
          <a:ln w="38100" cmpd="dbl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4762" name="Group 74"/>
          <p:cNvGrpSpPr>
            <a:grpSpLocks/>
          </p:cNvGrpSpPr>
          <p:nvPr/>
        </p:nvGrpSpPr>
        <p:grpSpPr bwMode="auto">
          <a:xfrm>
            <a:off x="4100513" y="819150"/>
            <a:ext cx="4130675" cy="4664075"/>
            <a:chOff x="2583" y="516"/>
            <a:chExt cx="2602" cy="2938"/>
          </a:xfrm>
        </p:grpSpPr>
        <p:sp>
          <p:nvSpPr>
            <p:cNvPr id="1394763" name="Rectangle 75"/>
            <p:cNvSpPr>
              <a:spLocks noChangeArrowheads="1"/>
            </p:cNvSpPr>
            <p:nvPr/>
          </p:nvSpPr>
          <p:spPr bwMode="auto">
            <a:xfrm>
              <a:off x="2583" y="516"/>
              <a:ext cx="2602" cy="29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94764" name="Group 76"/>
            <p:cNvGrpSpPr>
              <a:grpSpLocks/>
            </p:cNvGrpSpPr>
            <p:nvPr/>
          </p:nvGrpSpPr>
          <p:grpSpPr bwMode="auto">
            <a:xfrm>
              <a:off x="3920" y="1714"/>
              <a:ext cx="662" cy="1204"/>
              <a:chOff x="4648" y="2472"/>
              <a:chExt cx="662" cy="1204"/>
            </a:xfrm>
          </p:grpSpPr>
          <p:sp>
            <p:nvSpPr>
              <p:cNvPr id="1394765" name="Rectangle 77"/>
              <p:cNvSpPr>
                <a:spLocks noChangeArrowheads="1"/>
              </p:cNvSpPr>
              <p:nvPr/>
            </p:nvSpPr>
            <p:spPr bwMode="auto">
              <a:xfrm>
                <a:off x="4656" y="2555"/>
                <a:ext cx="654" cy="107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4766" name="Line 78"/>
              <p:cNvSpPr>
                <a:spLocks noChangeShapeType="1"/>
              </p:cNvSpPr>
              <p:nvPr/>
            </p:nvSpPr>
            <p:spPr bwMode="auto">
              <a:xfrm>
                <a:off x="4656" y="2555"/>
                <a:ext cx="654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394767" name="Group 79"/>
              <p:cNvGrpSpPr>
                <a:grpSpLocks/>
              </p:cNvGrpSpPr>
              <p:nvPr/>
            </p:nvGrpSpPr>
            <p:grpSpPr bwMode="auto">
              <a:xfrm>
                <a:off x="4752" y="2472"/>
                <a:ext cx="141" cy="167"/>
                <a:chOff x="158" y="3099"/>
                <a:chExt cx="141" cy="167"/>
              </a:xfrm>
            </p:grpSpPr>
            <p:sp>
              <p:nvSpPr>
                <p:cNvPr id="1394768" name="Freeform 80"/>
                <p:cNvSpPr>
                  <a:spLocks noChangeAspect="1"/>
                </p:cNvSpPr>
                <p:nvPr/>
              </p:nvSpPr>
              <p:spPr bwMode="auto">
                <a:xfrm>
                  <a:off x="158" y="3205"/>
                  <a:ext cx="141" cy="1"/>
                </a:xfrm>
                <a:custGeom>
                  <a:avLst/>
                  <a:gdLst>
                    <a:gd name="T0" fmla="*/ 0 w 141"/>
                    <a:gd name="T1" fmla="*/ 0 h 1"/>
                    <a:gd name="T2" fmla="*/ 141 w 14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1" h="1">
                      <a:moveTo>
                        <a:pt x="0" y="0"/>
                      </a:moveTo>
                      <a:lnTo>
                        <a:pt x="141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69" name="Freeform 81"/>
                <p:cNvSpPr>
                  <a:spLocks noChangeAspect="1"/>
                </p:cNvSpPr>
                <p:nvPr/>
              </p:nvSpPr>
              <p:spPr bwMode="auto">
                <a:xfrm>
                  <a:off x="186" y="3238"/>
                  <a:ext cx="89" cy="0"/>
                </a:xfrm>
                <a:custGeom>
                  <a:avLst/>
                  <a:gdLst>
                    <a:gd name="T0" fmla="*/ 0 w 198"/>
                    <a:gd name="T1" fmla="*/ 0 h 1"/>
                    <a:gd name="T2" fmla="*/ 198 w 198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98" h="1">
                      <a:moveTo>
                        <a:pt x="0" y="0"/>
                      </a:moveTo>
                      <a:lnTo>
                        <a:pt x="198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70" name="AutoShape 8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183" y="3099"/>
                  <a:ext cx="102" cy="75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4771" name="Freeform 83"/>
                <p:cNvSpPr>
                  <a:spLocks noChangeAspect="1"/>
                </p:cNvSpPr>
                <p:nvPr/>
              </p:nvSpPr>
              <p:spPr bwMode="auto">
                <a:xfrm>
                  <a:off x="211" y="3266"/>
                  <a:ext cx="42" cy="0"/>
                </a:xfrm>
                <a:custGeom>
                  <a:avLst/>
                  <a:gdLst>
                    <a:gd name="T0" fmla="*/ 0 w 94"/>
                    <a:gd name="T1" fmla="*/ 0 h 1"/>
                    <a:gd name="T2" fmla="*/ 94 w 9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4" h="1">
                      <a:moveTo>
                        <a:pt x="0" y="0"/>
                      </a:moveTo>
                      <a:lnTo>
                        <a:pt x="94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394772" name="Line 84"/>
              <p:cNvSpPr>
                <a:spLocks noChangeShapeType="1"/>
              </p:cNvSpPr>
              <p:nvPr/>
            </p:nvSpPr>
            <p:spPr bwMode="auto">
              <a:xfrm>
                <a:off x="4648" y="3639"/>
                <a:ext cx="654" cy="0"/>
              </a:xfrm>
              <a:prstGeom prst="line">
                <a:avLst/>
              </a:prstGeom>
              <a:noFill/>
              <a:ln w="47625">
                <a:solidFill>
                  <a:srgbClr val="66663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94773" name="Line 85"/>
              <p:cNvSpPr>
                <a:spLocks noChangeShapeType="1"/>
              </p:cNvSpPr>
              <p:nvPr/>
            </p:nvSpPr>
            <p:spPr bwMode="auto">
              <a:xfrm>
                <a:off x="4649" y="3676"/>
                <a:ext cx="652" cy="0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94774" name="Group 86"/>
            <p:cNvGrpSpPr>
              <a:grpSpLocks/>
            </p:cNvGrpSpPr>
            <p:nvPr/>
          </p:nvGrpSpPr>
          <p:grpSpPr bwMode="auto">
            <a:xfrm>
              <a:off x="3023" y="1724"/>
              <a:ext cx="654" cy="453"/>
              <a:chOff x="3751" y="2482"/>
              <a:chExt cx="654" cy="453"/>
            </a:xfrm>
          </p:grpSpPr>
          <p:sp>
            <p:nvSpPr>
              <p:cNvPr id="1394775" name="Rectangle 87"/>
              <p:cNvSpPr>
                <a:spLocks noChangeArrowheads="1"/>
              </p:cNvSpPr>
              <p:nvPr/>
            </p:nvSpPr>
            <p:spPr bwMode="auto">
              <a:xfrm>
                <a:off x="3751" y="2561"/>
                <a:ext cx="654" cy="322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4776" name="Line 88"/>
              <p:cNvSpPr>
                <a:spLocks noChangeShapeType="1"/>
              </p:cNvSpPr>
              <p:nvPr/>
            </p:nvSpPr>
            <p:spPr bwMode="auto">
              <a:xfrm>
                <a:off x="3751" y="2898"/>
                <a:ext cx="654" cy="0"/>
              </a:xfrm>
              <a:prstGeom prst="line">
                <a:avLst/>
              </a:prstGeom>
              <a:noFill/>
              <a:ln w="47625">
                <a:solidFill>
                  <a:srgbClr val="66663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94777" name="Line 89"/>
              <p:cNvSpPr>
                <a:spLocks noChangeShapeType="1"/>
              </p:cNvSpPr>
              <p:nvPr/>
            </p:nvSpPr>
            <p:spPr bwMode="auto">
              <a:xfrm>
                <a:off x="3751" y="2561"/>
                <a:ext cx="654" cy="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394778" name="Group 90"/>
              <p:cNvGrpSpPr>
                <a:grpSpLocks/>
              </p:cNvGrpSpPr>
              <p:nvPr/>
            </p:nvGrpSpPr>
            <p:grpSpPr bwMode="auto">
              <a:xfrm>
                <a:off x="3816" y="2482"/>
                <a:ext cx="141" cy="167"/>
                <a:chOff x="158" y="3099"/>
                <a:chExt cx="141" cy="167"/>
              </a:xfrm>
            </p:grpSpPr>
            <p:sp>
              <p:nvSpPr>
                <p:cNvPr id="1394779" name="Freeform 91"/>
                <p:cNvSpPr>
                  <a:spLocks noChangeAspect="1"/>
                </p:cNvSpPr>
                <p:nvPr/>
              </p:nvSpPr>
              <p:spPr bwMode="auto">
                <a:xfrm>
                  <a:off x="158" y="3205"/>
                  <a:ext cx="141" cy="1"/>
                </a:xfrm>
                <a:custGeom>
                  <a:avLst/>
                  <a:gdLst>
                    <a:gd name="T0" fmla="*/ 0 w 141"/>
                    <a:gd name="T1" fmla="*/ 0 h 1"/>
                    <a:gd name="T2" fmla="*/ 141 w 14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1" h="1">
                      <a:moveTo>
                        <a:pt x="0" y="0"/>
                      </a:moveTo>
                      <a:lnTo>
                        <a:pt x="141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80" name="Freeform 92"/>
                <p:cNvSpPr>
                  <a:spLocks noChangeAspect="1"/>
                </p:cNvSpPr>
                <p:nvPr/>
              </p:nvSpPr>
              <p:spPr bwMode="auto">
                <a:xfrm>
                  <a:off x="186" y="3238"/>
                  <a:ext cx="89" cy="0"/>
                </a:xfrm>
                <a:custGeom>
                  <a:avLst/>
                  <a:gdLst>
                    <a:gd name="T0" fmla="*/ 0 w 198"/>
                    <a:gd name="T1" fmla="*/ 0 h 1"/>
                    <a:gd name="T2" fmla="*/ 198 w 198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98" h="1">
                      <a:moveTo>
                        <a:pt x="0" y="0"/>
                      </a:moveTo>
                      <a:lnTo>
                        <a:pt x="198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81" name="AutoShape 93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183" y="3099"/>
                  <a:ext cx="102" cy="75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4782" name="Freeform 94"/>
                <p:cNvSpPr>
                  <a:spLocks noChangeAspect="1"/>
                </p:cNvSpPr>
                <p:nvPr/>
              </p:nvSpPr>
              <p:spPr bwMode="auto">
                <a:xfrm>
                  <a:off x="211" y="3266"/>
                  <a:ext cx="42" cy="0"/>
                </a:xfrm>
                <a:custGeom>
                  <a:avLst/>
                  <a:gdLst>
                    <a:gd name="T0" fmla="*/ 0 w 94"/>
                    <a:gd name="T1" fmla="*/ 0 h 1"/>
                    <a:gd name="T2" fmla="*/ 94 w 9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4" h="1">
                      <a:moveTo>
                        <a:pt x="0" y="0"/>
                      </a:moveTo>
                      <a:lnTo>
                        <a:pt x="94" y="1"/>
                      </a:lnTo>
                    </a:path>
                  </a:pathLst>
                </a:custGeom>
                <a:noFill/>
                <a:ln w="19050" cmpd="sng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394783" name="Line 95"/>
              <p:cNvSpPr>
                <a:spLocks noChangeShapeType="1"/>
              </p:cNvSpPr>
              <p:nvPr/>
            </p:nvSpPr>
            <p:spPr bwMode="auto">
              <a:xfrm>
                <a:off x="3752" y="2935"/>
                <a:ext cx="652" cy="0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94784" name="Rectangle 96"/>
            <p:cNvSpPr>
              <a:spLocks noChangeArrowheads="1"/>
            </p:cNvSpPr>
            <p:nvPr/>
          </p:nvSpPr>
          <p:spPr bwMode="auto">
            <a:xfrm>
              <a:off x="2734" y="616"/>
              <a:ext cx="2308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讨论：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  <a:p>
              <a:pPr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海底与土粒间的接触压力哪一种情况下大？</a:t>
              </a:r>
            </a:p>
          </p:txBody>
        </p:sp>
        <p:sp>
          <p:nvSpPr>
            <p:cNvPr id="1394785" name="Oval 97"/>
            <p:cNvSpPr>
              <a:spLocks noChangeArrowheads="1"/>
            </p:cNvSpPr>
            <p:nvPr/>
          </p:nvSpPr>
          <p:spPr bwMode="auto">
            <a:xfrm>
              <a:off x="3181" y="2058"/>
              <a:ext cx="77" cy="70"/>
            </a:xfrm>
            <a:prstGeom prst="ellipse">
              <a:avLst/>
            </a:prstGeom>
            <a:solidFill>
              <a:srgbClr val="A50021"/>
            </a:solidFill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4786" name="Freeform 98"/>
            <p:cNvSpPr>
              <a:spLocks/>
            </p:cNvSpPr>
            <p:nvPr/>
          </p:nvSpPr>
          <p:spPr bwMode="auto">
            <a:xfrm>
              <a:off x="3503" y="1803"/>
              <a:ext cx="1" cy="324"/>
            </a:xfrm>
            <a:custGeom>
              <a:avLst/>
              <a:gdLst>
                <a:gd name="T0" fmla="*/ 0 w 1"/>
                <a:gd name="T1" fmla="*/ 0 h 324"/>
                <a:gd name="T2" fmla="*/ 1 w 1"/>
                <a:gd name="T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24">
                  <a:moveTo>
                    <a:pt x="0" y="0"/>
                  </a:moveTo>
                  <a:lnTo>
                    <a:pt x="1" y="32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4787" name="Text Box 99"/>
            <p:cNvSpPr txBox="1">
              <a:spLocks noChangeArrowheads="1"/>
            </p:cNvSpPr>
            <p:nvPr/>
          </p:nvSpPr>
          <p:spPr bwMode="auto">
            <a:xfrm>
              <a:off x="3488" y="1832"/>
              <a:ext cx="33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</a:t>
              </a:r>
              <a:r>
                <a:rPr kumimoji="1" lang="en-US" altLang="zh-CN" sz="20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394788" name="Text Box 100"/>
            <p:cNvSpPr txBox="1">
              <a:spLocks noChangeArrowheads="1"/>
            </p:cNvSpPr>
            <p:nvPr/>
          </p:nvSpPr>
          <p:spPr bwMode="auto">
            <a:xfrm>
              <a:off x="2617" y="2326"/>
              <a:ext cx="114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σ</a:t>
              </a:r>
              <a:r>
                <a:rPr kumimoji="1"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u</a:t>
              </a:r>
              <a:r>
                <a:rPr kumimoji="1" lang="en-US" altLang="zh-CN" sz="20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=0.01MPa</a:t>
              </a:r>
            </a:p>
          </p:txBody>
        </p:sp>
        <p:sp>
          <p:nvSpPr>
            <p:cNvPr id="1394789" name="Line 101"/>
            <p:cNvSpPr>
              <a:spLocks noChangeShapeType="1"/>
            </p:cNvSpPr>
            <p:nvPr/>
          </p:nvSpPr>
          <p:spPr bwMode="auto">
            <a:xfrm>
              <a:off x="4357" y="1797"/>
              <a:ext cx="6" cy="10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4790" name="Text Box 102"/>
            <p:cNvSpPr txBox="1">
              <a:spLocks noChangeArrowheads="1"/>
            </p:cNvSpPr>
            <p:nvPr/>
          </p:nvSpPr>
          <p:spPr bwMode="auto">
            <a:xfrm>
              <a:off x="4334" y="2258"/>
              <a:ext cx="46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10</a:t>
              </a:r>
              <a:r>
                <a:rPr kumimoji="1" lang="zh-CN" altLang="en-US" sz="2000" b="1" baseline="30000">
                  <a:solidFill>
                    <a:srgbClr val="000066"/>
                  </a:solidFill>
                  <a:cs typeface="Times New Roman" panose="02020603050405020304" pitchFamily="18" charset="0"/>
                </a:rPr>
                <a:t>4</a:t>
              </a:r>
              <a:r>
                <a:rPr kumimoji="1" lang="en-US" altLang="zh-CN" sz="2000" b="1">
                  <a:solidFill>
                    <a:srgbClr val="000066"/>
                  </a:solidFill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394791" name="Text Box 103"/>
            <p:cNvSpPr txBox="1">
              <a:spLocks noChangeArrowheads="1"/>
            </p:cNvSpPr>
            <p:nvPr/>
          </p:nvSpPr>
          <p:spPr bwMode="auto">
            <a:xfrm>
              <a:off x="3694" y="3018"/>
              <a:ext cx="110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σ</a:t>
              </a:r>
              <a:r>
                <a:rPr kumimoji="1" lang="en-US" altLang="zh-CN" sz="20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  <a:r>
                <a:rPr kumimoji="1" lang="en-US" altLang="zh-CN" sz="20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=</a:t>
              </a: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u</a:t>
              </a:r>
              <a:r>
                <a:rPr kumimoji="1" lang="en-US" altLang="zh-CN" sz="20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=100MPa</a:t>
              </a:r>
            </a:p>
          </p:txBody>
        </p:sp>
        <p:sp>
          <p:nvSpPr>
            <p:cNvPr id="1394792" name="Oval 104"/>
            <p:cNvSpPr>
              <a:spLocks noChangeArrowheads="1"/>
            </p:cNvSpPr>
            <p:nvPr/>
          </p:nvSpPr>
          <p:spPr bwMode="auto">
            <a:xfrm>
              <a:off x="4080" y="2807"/>
              <a:ext cx="77" cy="70"/>
            </a:xfrm>
            <a:prstGeom prst="ellipse">
              <a:avLst/>
            </a:prstGeom>
            <a:solidFill>
              <a:srgbClr val="A50021"/>
            </a:solidFill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59334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9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39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793" grpId="0" animBg="1"/>
      <p:bldP spid="13947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Rectangle 109"/>
          <p:cNvSpPr>
            <a:spLocks noChangeArrowheads="1"/>
          </p:cNvSpPr>
          <p:nvPr/>
        </p:nvSpPr>
        <p:spPr bwMode="auto">
          <a:xfrm>
            <a:off x="629444" y="911722"/>
            <a:ext cx="3676650" cy="3438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" name="Group 110"/>
          <p:cNvGrpSpPr>
            <a:grpSpLocks/>
          </p:cNvGrpSpPr>
          <p:nvPr/>
        </p:nvGrpSpPr>
        <p:grpSpPr bwMode="auto">
          <a:xfrm>
            <a:off x="812007" y="911723"/>
            <a:ext cx="3482975" cy="3314700"/>
            <a:chOff x="3493" y="536"/>
            <a:chExt cx="2194" cy="2088"/>
          </a:xfrm>
        </p:grpSpPr>
        <p:sp>
          <p:nvSpPr>
            <p:cNvPr id="44" name="Rectangle 111"/>
            <p:cNvSpPr>
              <a:spLocks noChangeArrowheads="1"/>
            </p:cNvSpPr>
            <p:nvPr/>
          </p:nvSpPr>
          <p:spPr bwMode="auto">
            <a:xfrm>
              <a:off x="3720" y="1093"/>
              <a:ext cx="1738" cy="1531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112"/>
            <p:cNvSpPr>
              <a:spLocks/>
            </p:cNvSpPr>
            <p:nvPr/>
          </p:nvSpPr>
          <p:spPr bwMode="auto">
            <a:xfrm rot="5400000">
              <a:off x="4303" y="1487"/>
              <a:ext cx="1058" cy="989"/>
            </a:xfrm>
            <a:custGeom>
              <a:avLst/>
              <a:gdLst>
                <a:gd name="T0" fmla="*/ 668 w 851"/>
                <a:gd name="T1" fmla="*/ 1031 h 1059"/>
                <a:gd name="T2" fmla="*/ 600 w 851"/>
                <a:gd name="T3" fmla="*/ 942 h 1059"/>
                <a:gd name="T4" fmla="*/ 505 w 851"/>
                <a:gd name="T5" fmla="*/ 901 h 1059"/>
                <a:gd name="T6" fmla="*/ 441 w 851"/>
                <a:gd name="T7" fmla="*/ 723 h 1059"/>
                <a:gd name="T8" fmla="*/ 360 w 851"/>
                <a:gd name="T9" fmla="*/ 572 h 1059"/>
                <a:gd name="T10" fmla="*/ 219 w 851"/>
                <a:gd name="T11" fmla="*/ 410 h 1059"/>
                <a:gd name="T12" fmla="*/ 128 w 851"/>
                <a:gd name="T13" fmla="*/ 384 h 1059"/>
                <a:gd name="T14" fmla="*/ 15 w 851"/>
                <a:gd name="T15" fmla="*/ 363 h 1059"/>
                <a:gd name="T16" fmla="*/ 38 w 851"/>
                <a:gd name="T17" fmla="*/ 290 h 1059"/>
                <a:gd name="T18" fmla="*/ 42 w 851"/>
                <a:gd name="T19" fmla="*/ 223 h 1059"/>
                <a:gd name="T20" fmla="*/ 38 w 851"/>
                <a:gd name="T21" fmla="*/ 155 h 1059"/>
                <a:gd name="T22" fmla="*/ 6 w 851"/>
                <a:gd name="T23" fmla="*/ 87 h 1059"/>
                <a:gd name="T24" fmla="*/ 79 w 851"/>
                <a:gd name="T25" fmla="*/ 61 h 1059"/>
                <a:gd name="T26" fmla="*/ 292 w 851"/>
                <a:gd name="T27" fmla="*/ 40 h 1059"/>
                <a:gd name="T28" fmla="*/ 500 w 851"/>
                <a:gd name="T29" fmla="*/ 9 h 1059"/>
                <a:gd name="T30" fmla="*/ 595 w 851"/>
                <a:gd name="T31" fmla="*/ 3 h 1059"/>
                <a:gd name="T32" fmla="*/ 641 w 851"/>
                <a:gd name="T33" fmla="*/ 30 h 1059"/>
                <a:gd name="T34" fmla="*/ 654 w 851"/>
                <a:gd name="T35" fmla="*/ 71 h 1059"/>
                <a:gd name="T36" fmla="*/ 661 w 851"/>
                <a:gd name="T37" fmla="*/ 135 h 1059"/>
                <a:gd name="T38" fmla="*/ 703 w 851"/>
                <a:gd name="T39" fmla="*/ 199 h 1059"/>
                <a:gd name="T40" fmla="*/ 805 w 851"/>
                <a:gd name="T41" fmla="*/ 253 h 1059"/>
                <a:gd name="T42" fmla="*/ 844 w 851"/>
                <a:gd name="T43" fmla="*/ 327 h 1059"/>
                <a:gd name="T44" fmla="*/ 763 w 851"/>
                <a:gd name="T45" fmla="*/ 770 h 1059"/>
                <a:gd name="T46" fmla="*/ 668 w 851"/>
                <a:gd name="T47" fmla="*/ 1031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1" h="1059">
                  <a:moveTo>
                    <a:pt x="668" y="1031"/>
                  </a:moveTo>
                  <a:cubicBezTo>
                    <a:pt x="641" y="1059"/>
                    <a:pt x="627" y="963"/>
                    <a:pt x="600" y="942"/>
                  </a:cubicBezTo>
                  <a:cubicBezTo>
                    <a:pt x="573" y="922"/>
                    <a:pt x="530" y="937"/>
                    <a:pt x="505" y="901"/>
                  </a:cubicBezTo>
                  <a:cubicBezTo>
                    <a:pt x="479" y="864"/>
                    <a:pt x="465" y="777"/>
                    <a:pt x="441" y="723"/>
                  </a:cubicBezTo>
                  <a:cubicBezTo>
                    <a:pt x="417" y="669"/>
                    <a:pt x="396" y="624"/>
                    <a:pt x="360" y="572"/>
                  </a:cubicBezTo>
                  <a:cubicBezTo>
                    <a:pt x="323" y="520"/>
                    <a:pt x="257" y="442"/>
                    <a:pt x="219" y="410"/>
                  </a:cubicBezTo>
                  <a:cubicBezTo>
                    <a:pt x="181" y="379"/>
                    <a:pt x="162" y="391"/>
                    <a:pt x="128" y="384"/>
                  </a:cubicBezTo>
                  <a:cubicBezTo>
                    <a:pt x="95" y="377"/>
                    <a:pt x="30" y="379"/>
                    <a:pt x="15" y="363"/>
                  </a:cubicBezTo>
                  <a:cubicBezTo>
                    <a:pt x="0" y="348"/>
                    <a:pt x="33" y="313"/>
                    <a:pt x="38" y="290"/>
                  </a:cubicBezTo>
                  <a:cubicBezTo>
                    <a:pt x="42" y="268"/>
                    <a:pt x="42" y="245"/>
                    <a:pt x="42" y="223"/>
                  </a:cubicBezTo>
                  <a:cubicBezTo>
                    <a:pt x="42" y="200"/>
                    <a:pt x="44" y="177"/>
                    <a:pt x="38" y="155"/>
                  </a:cubicBezTo>
                  <a:cubicBezTo>
                    <a:pt x="32" y="132"/>
                    <a:pt x="0" y="103"/>
                    <a:pt x="6" y="87"/>
                  </a:cubicBezTo>
                  <a:cubicBezTo>
                    <a:pt x="12" y="71"/>
                    <a:pt x="32" y="68"/>
                    <a:pt x="79" y="61"/>
                  </a:cubicBezTo>
                  <a:cubicBezTo>
                    <a:pt x="125" y="54"/>
                    <a:pt x="222" y="49"/>
                    <a:pt x="292" y="40"/>
                  </a:cubicBezTo>
                  <a:cubicBezTo>
                    <a:pt x="361" y="31"/>
                    <a:pt x="450" y="14"/>
                    <a:pt x="500" y="9"/>
                  </a:cubicBezTo>
                  <a:cubicBezTo>
                    <a:pt x="550" y="3"/>
                    <a:pt x="571" y="0"/>
                    <a:pt x="595" y="3"/>
                  </a:cubicBezTo>
                  <a:cubicBezTo>
                    <a:pt x="620" y="7"/>
                    <a:pt x="632" y="19"/>
                    <a:pt x="641" y="30"/>
                  </a:cubicBezTo>
                  <a:cubicBezTo>
                    <a:pt x="650" y="40"/>
                    <a:pt x="651" y="54"/>
                    <a:pt x="654" y="71"/>
                  </a:cubicBezTo>
                  <a:cubicBezTo>
                    <a:pt x="657" y="88"/>
                    <a:pt x="653" y="114"/>
                    <a:pt x="661" y="135"/>
                  </a:cubicBezTo>
                  <a:cubicBezTo>
                    <a:pt x="669" y="156"/>
                    <a:pt x="679" y="179"/>
                    <a:pt x="703" y="199"/>
                  </a:cubicBezTo>
                  <a:cubicBezTo>
                    <a:pt x="727" y="219"/>
                    <a:pt x="782" y="232"/>
                    <a:pt x="805" y="253"/>
                  </a:cubicBezTo>
                  <a:cubicBezTo>
                    <a:pt x="828" y="274"/>
                    <a:pt x="851" y="241"/>
                    <a:pt x="844" y="327"/>
                  </a:cubicBezTo>
                  <a:cubicBezTo>
                    <a:pt x="837" y="413"/>
                    <a:pt x="792" y="653"/>
                    <a:pt x="763" y="770"/>
                  </a:cubicBezTo>
                  <a:cubicBezTo>
                    <a:pt x="734" y="887"/>
                    <a:pt x="695" y="1003"/>
                    <a:pt x="668" y="1031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13" descr="宽上对角线"/>
            <p:cNvSpPr>
              <a:spLocks/>
            </p:cNvSpPr>
            <p:nvPr/>
          </p:nvSpPr>
          <p:spPr bwMode="auto">
            <a:xfrm>
              <a:off x="3964" y="2272"/>
              <a:ext cx="490" cy="351"/>
            </a:xfrm>
            <a:custGeom>
              <a:avLst/>
              <a:gdLst>
                <a:gd name="T0" fmla="*/ 3 w 490"/>
                <a:gd name="T1" fmla="*/ 113 h 264"/>
                <a:gd name="T2" fmla="*/ 31 w 490"/>
                <a:gd name="T3" fmla="*/ 49 h 264"/>
                <a:gd name="T4" fmla="*/ 107 w 490"/>
                <a:gd name="T5" fmla="*/ 36 h 264"/>
                <a:gd name="T6" fmla="*/ 175 w 490"/>
                <a:gd name="T7" fmla="*/ 1 h 264"/>
                <a:gd name="T8" fmla="*/ 278 w 490"/>
                <a:gd name="T9" fmla="*/ 40 h 264"/>
                <a:gd name="T10" fmla="*/ 344 w 490"/>
                <a:gd name="T11" fmla="*/ 40 h 264"/>
                <a:gd name="T12" fmla="*/ 441 w 490"/>
                <a:gd name="T13" fmla="*/ 29 h 264"/>
                <a:gd name="T14" fmla="*/ 478 w 490"/>
                <a:gd name="T15" fmla="*/ 63 h 264"/>
                <a:gd name="T16" fmla="*/ 478 w 490"/>
                <a:gd name="T17" fmla="*/ 142 h 264"/>
                <a:gd name="T18" fmla="*/ 409 w 490"/>
                <a:gd name="T19" fmla="*/ 220 h 264"/>
                <a:gd name="T20" fmla="*/ 300 w 490"/>
                <a:gd name="T21" fmla="*/ 260 h 264"/>
                <a:gd name="T22" fmla="*/ 175 w 490"/>
                <a:gd name="T23" fmla="*/ 243 h 264"/>
                <a:gd name="T24" fmla="*/ 50 w 490"/>
                <a:gd name="T25" fmla="*/ 198 h 264"/>
                <a:gd name="T26" fmla="*/ 3 w 490"/>
                <a:gd name="T27" fmla="*/ 113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64">
                  <a:moveTo>
                    <a:pt x="3" y="113"/>
                  </a:moveTo>
                  <a:cubicBezTo>
                    <a:pt x="0" y="88"/>
                    <a:pt x="14" y="62"/>
                    <a:pt x="31" y="49"/>
                  </a:cubicBezTo>
                  <a:cubicBezTo>
                    <a:pt x="48" y="36"/>
                    <a:pt x="83" y="44"/>
                    <a:pt x="107" y="36"/>
                  </a:cubicBezTo>
                  <a:cubicBezTo>
                    <a:pt x="131" y="28"/>
                    <a:pt x="147" y="0"/>
                    <a:pt x="175" y="1"/>
                  </a:cubicBezTo>
                  <a:cubicBezTo>
                    <a:pt x="203" y="2"/>
                    <a:pt x="250" y="33"/>
                    <a:pt x="278" y="40"/>
                  </a:cubicBezTo>
                  <a:cubicBezTo>
                    <a:pt x="306" y="47"/>
                    <a:pt x="316" y="42"/>
                    <a:pt x="344" y="40"/>
                  </a:cubicBezTo>
                  <a:cubicBezTo>
                    <a:pt x="371" y="39"/>
                    <a:pt x="418" y="25"/>
                    <a:pt x="441" y="29"/>
                  </a:cubicBezTo>
                  <a:cubicBezTo>
                    <a:pt x="463" y="33"/>
                    <a:pt x="472" y="44"/>
                    <a:pt x="478" y="63"/>
                  </a:cubicBezTo>
                  <a:cubicBezTo>
                    <a:pt x="485" y="81"/>
                    <a:pt x="490" y="115"/>
                    <a:pt x="478" y="142"/>
                  </a:cubicBezTo>
                  <a:cubicBezTo>
                    <a:pt x="467" y="168"/>
                    <a:pt x="439" y="201"/>
                    <a:pt x="409" y="220"/>
                  </a:cubicBezTo>
                  <a:cubicBezTo>
                    <a:pt x="380" y="240"/>
                    <a:pt x="339" y="256"/>
                    <a:pt x="300" y="260"/>
                  </a:cubicBezTo>
                  <a:cubicBezTo>
                    <a:pt x="261" y="264"/>
                    <a:pt x="216" y="253"/>
                    <a:pt x="175" y="243"/>
                  </a:cubicBezTo>
                  <a:cubicBezTo>
                    <a:pt x="133" y="233"/>
                    <a:pt x="80" y="218"/>
                    <a:pt x="50" y="198"/>
                  </a:cubicBezTo>
                  <a:cubicBezTo>
                    <a:pt x="20" y="178"/>
                    <a:pt x="7" y="149"/>
                    <a:pt x="3" y="11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14" descr="宽上对角线"/>
            <p:cNvSpPr>
              <a:spLocks/>
            </p:cNvSpPr>
            <p:nvPr/>
          </p:nvSpPr>
          <p:spPr bwMode="auto">
            <a:xfrm rot="5400000" flipH="1">
              <a:off x="5093" y="2263"/>
              <a:ext cx="398" cy="313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115" descr="宽上对角线"/>
            <p:cNvSpPr>
              <a:spLocks/>
            </p:cNvSpPr>
            <p:nvPr/>
          </p:nvSpPr>
          <p:spPr bwMode="auto">
            <a:xfrm rot="1736741">
              <a:off x="4271" y="2016"/>
              <a:ext cx="264" cy="339"/>
            </a:xfrm>
            <a:custGeom>
              <a:avLst/>
              <a:gdLst>
                <a:gd name="T0" fmla="*/ 282 w 440"/>
                <a:gd name="T1" fmla="*/ 260 h 345"/>
                <a:gd name="T2" fmla="*/ 211 w 440"/>
                <a:gd name="T3" fmla="*/ 317 h 345"/>
                <a:gd name="T4" fmla="*/ 119 w 440"/>
                <a:gd name="T5" fmla="*/ 342 h 345"/>
                <a:gd name="T6" fmla="*/ 27 w 440"/>
                <a:gd name="T7" fmla="*/ 321 h 345"/>
                <a:gd name="T8" fmla="*/ 21 w 440"/>
                <a:gd name="T9" fmla="*/ 198 h 345"/>
                <a:gd name="T10" fmla="*/ 152 w 440"/>
                <a:gd name="T11" fmla="*/ 64 h 345"/>
                <a:gd name="T12" fmla="*/ 341 w 440"/>
                <a:gd name="T13" fmla="*/ 10 h 345"/>
                <a:gd name="T14" fmla="*/ 420 w 440"/>
                <a:gd name="T15" fmla="*/ 10 h 345"/>
                <a:gd name="T16" fmla="*/ 433 w 440"/>
                <a:gd name="T17" fmla="*/ 70 h 345"/>
                <a:gd name="T18" fmla="*/ 378 w 440"/>
                <a:gd name="T19" fmla="*/ 185 h 345"/>
                <a:gd name="T20" fmla="*/ 282 w 440"/>
                <a:gd name="T21" fmla="*/ 26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0" h="345">
                  <a:moveTo>
                    <a:pt x="282" y="260"/>
                  </a:moveTo>
                  <a:cubicBezTo>
                    <a:pt x="254" y="282"/>
                    <a:pt x="238" y="304"/>
                    <a:pt x="211" y="317"/>
                  </a:cubicBezTo>
                  <a:cubicBezTo>
                    <a:pt x="184" y="330"/>
                    <a:pt x="149" y="341"/>
                    <a:pt x="119" y="342"/>
                  </a:cubicBezTo>
                  <a:cubicBezTo>
                    <a:pt x="88" y="343"/>
                    <a:pt x="43" y="345"/>
                    <a:pt x="27" y="321"/>
                  </a:cubicBezTo>
                  <a:cubicBezTo>
                    <a:pt x="11" y="297"/>
                    <a:pt x="0" y="241"/>
                    <a:pt x="21" y="198"/>
                  </a:cubicBezTo>
                  <a:cubicBezTo>
                    <a:pt x="42" y="155"/>
                    <a:pt x="99" y="95"/>
                    <a:pt x="152" y="64"/>
                  </a:cubicBezTo>
                  <a:cubicBezTo>
                    <a:pt x="205" y="33"/>
                    <a:pt x="296" y="19"/>
                    <a:pt x="341" y="10"/>
                  </a:cubicBezTo>
                  <a:cubicBezTo>
                    <a:pt x="386" y="1"/>
                    <a:pt x="404" y="0"/>
                    <a:pt x="420" y="10"/>
                  </a:cubicBezTo>
                  <a:cubicBezTo>
                    <a:pt x="436" y="19"/>
                    <a:pt x="440" y="41"/>
                    <a:pt x="433" y="70"/>
                  </a:cubicBezTo>
                  <a:cubicBezTo>
                    <a:pt x="425" y="100"/>
                    <a:pt x="404" y="154"/>
                    <a:pt x="378" y="185"/>
                  </a:cubicBezTo>
                  <a:cubicBezTo>
                    <a:pt x="352" y="216"/>
                    <a:pt x="310" y="238"/>
                    <a:pt x="282" y="26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16" descr="宽上对角线"/>
            <p:cNvSpPr>
              <a:spLocks/>
            </p:cNvSpPr>
            <p:nvPr/>
          </p:nvSpPr>
          <p:spPr bwMode="auto">
            <a:xfrm>
              <a:off x="4573" y="1995"/>
              <a:ext cx="390" cy="394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17" descr="宽上对角线"/>
            <p:cNvSpPr>
              <a:spLocks/>
            </p:cNvSpPr>
            <p:nvPr/>
          </p:nvSpPr>
          <p:spPr bwMode="auto">
            <a:xfrm rot="10800000" flipH="1">
              <a:off x="4888" y="1943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18" descr="宽上对角线"/>
            <p:cNvSpPr>
              <a:spLocks/>
            </p:cNvSpPr>
            <p:nvPr/>
          </p:nvSpPr>
          <p:spPr bwMode="auto">
            <a:xfrm rot="13016966" flipH="1">
              <a:off x="3666" y="2080"/>
              <a:ext cx="371" cy="477"/>
            </a:xfrm>
            <a:custGeom>
              <a:avLst/>
              <a:gdLst>
                <a:gd name="T0" fmla="*/ 225 w 443"/>
                <a:gd name="T1" fmla="*/ 66 h 310"/>
                <a:gd name="T2" fmla="*/ 77 w 443"/>
                <a:gd name="T3" fmla="*/ 118 h 310"/>
                <a:gd name="T4" fmla="*/ 5 w 443"/>
                <a:gd name="T5" fmla="*/ 194 h 310"/>
                <a:gd name="T6" fmla="*/ 45 w 443"/>
                <a:gd name="T7" fmla="*/ 298 h 310"/>
                <a:gd name="T8" fmla="*/ 157 w 443"/>
                <a:gd name="T9" fmla="*/ 266 h 310"/>
                <a:gd name="T10" fmla="*/ 325 w 443"/>
                <a:gd name="T11" fmla="*/ 206 h 310"/>
                <a:gd name="T12" fmla="*/ 429 w 443"/>
                <a:gd name="T13" fmla="*/ 94 h 310"/>
                <a:gd name="T14" fmla="*/ 409 w 443"/>
                <a:gd name="T15" fmla="*/ 14 h 310"/>
                <a:gd name="T16" fmla="*/ 361 w 443"/>
                <a:gd name="T17" fmla="*/ 10 h 310"/>
                <a:gd name="T18" fmla="*/ 265 w 443"/>
                <a:gd name="T19" fmla="*/ 46 h 310"/>
                <a:gd name="T20" fmla="*/ 225 w 443"/>
                <a:gd name="T21" fmla="*/ 6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310">
                  <a:moveTo>
                    <a:pt x="225" y="66"/>
                  </a:moveTo>
                  <a:cubicBezTo>
                    <a:pt x="194" y="78"/>
                    <a:pt x="114" y="97"/>
                    <a:pt x="77" y="118"/>
                  </a:cubicBezTo>
                  <a:cubicBezTo>
                    <a:pt x="40" y="139"/>
                    <a:pt x="10" y="164"/>
                    <a:pt x="5" y="194"/>
                  </a:cubicBezTo>
                  <a:cubicBezTo>
                    <a:pt x="0" y="224"/>
                    <a:pt x="20" y="286"/>
                    <a:pt x="45" y="298"/>
                  </a:cubicBezTo>
                  <a:cubicBezTo>
                    <a:pt x="70" y="310"/>
                    <a:pt x="110" y="281"/>
                    <a:pt x="157" y="266"/>
                  </a:cubicBezTo>
                  <a:cubicBezTo>
                    <a:pt x="204" y="251"/>
                    <a:pt x="280" y="235"/>
                    <a:pt x="325" y="206"/>
                  </a:cubicBezTo>
                  <a:cubicBezTo>
                    <a:pt x="370" y="177"/>
                    <a:pt x="415" y="126"/>
                    <a:pt x="429" y="94"/>
                  </a:cubicBezTo>
                  <a:cubicBezTo>
                    <a:pt x="443" y="62"/>
                    <a:pt x="420" y="28"/>
                    <a:pt x="409" y="14"/>
                  </a:cubicBezTo>
                  <a:cubicBezTo>
                    <a:pt x="398" y="0"/>
                    <a:pt x="385" y="5"/>
                    <a:pt x="361" y="10"/>
                  </a:cubicBezTo>
                  <a:cubicBezTo>
                    <a:pt x="337" y="15"/>
                    <a:pt x="290" y="34"/>
                    <a:pt x="265" y="46"/>
                  </a:cubicBezTo>
                  <a:cubicBezTo>
                    <a:pt x="240" y="58"/>
                    <a:pt x="256" y="54"/>
                    <a:pt x="225" y="6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9" descr="宽上对角线"/>
            <p:cNvSpPr>
              <a:spLocks/>
            </p:cNvSpPr>
            <p:nvPr/>
          </p:nvSpPr>
          <p:spPr bwMode="auto">
            <a:xfrm rot="5400000" flipH="1">
              <a:off x="4415" y="2274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0" descr="宽上对角线"/>
            <p:cNvSpPr>
              <a:spLocks/>
            </p:cNvSpPr>
            <p:nvPr/>
          </p:nvSpPr>
          <p:spPr bwMode="auto">
            <a:xfrm rot="5400000" flipH="1">
              <a:off x="4780" y="225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21" descr="宽上对角线"/>
            <p:cNvSpPr>
              <a:spLocks/>
            </p:cNvSpPr>
            <p:nvPr/>
          </p:nvSpPr>
          <p:spPr bwMode="auto">
            <a:xfrm rot="5400000" flipH="1">
              <a:off x="3952" y="1961"/>
              <a:ext cx="285" cy="348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22" descr="宽上对角线"/>
            <p:cNvSpPr>
              <a:spLocks/>
            </p:cNvSpPr>
            <p:nvPr/>
          </p:nvSpPr>
          <p:spPr bwMode="auto">
            <a:xfrm>
              <a:off x="5226" y="1983"/>
              <a:ext cx="228" cy="249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123" descr="宽上对角线"/>
            <p:cNvSpPr>
              <a:spLocks/>
            </p:cNvSpPr>
            <p:nvPr/>
          </p:nvSpPr>
          <p:spPr bwMode="auto">
            <a:xfrm>
              <a:off x="4955" y="1656"/>
              <a:ext cx="491" cy="322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124" descr="宽上对角线"/>
            <p:cNvSpPr>
              <a:spLocks/>
            </p:cNvSpPr>
            <p:nvPr/>
          </p:nvSpPr>
          <p:spPr bwMode="auto">
            <a:xfrm rot="5400000" flipH="1">
              <a:off x="4552" y="1564"/>
              <a:ext cx="398" cy="464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25" descr="宽上对角线"/>
            <p:cNvSpPr>
              <a:spLocks/>
            </p:cNvSpPr>
            <p:nvPr/>
          </p:nvSpPr>
          <p:spPr bwMode="auto">
            <a:xfrm rot="5400000" flipH="1">
              <a:off x="4167" y="163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26" descr="宽上对角线"/>
            <p:cNvSpPr>
              <a:spLocks/>
            </p:cNvSpPr>
            <p:nvPr/>
          </p:nvSpPr>
          <p:spPr bwMode="auto">
            <a:xfrm rot="5400000" flipH="1">
              <a:off x="3683" y="1701"/>
              <a:ext cx="369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27" descr="宽上对角线"/>
            <p:cNvSpPr>
              <a:spLocks/>
            </p:cNvSpPr>
            <p:nvPr/>
          </p:nvSpPr>
          <p:spPr bwMode="auto">
            <a:xfrm flipH="1">
              <a:off x="3916" y="1516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28" descr="宽上对角线"/>
            <p:cNvSpPr>
              <a:spLocks/>
            </p:cNvSpPr>
            <p:nvPr/>
          </p:nvSpPr>
          <p:spPr bwMode="auto">
            <a:xfrm>
              <a:off x="3934" y="1099"/>
              <a:ext cx="490" cy="339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29" descr="宽上对角线"/>
            <p:cNvSpPr>
              <a:spLocks/>
            </p:cNvSpPr>
            <p:nvPr/>
          </p:nvSpPr>
          <p:spPr bwMode="auto">
            <a:xfrm>
              <a:off x="5141" y="1093"/>
              <a:ext cx="313" cy="315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130" descr="宽上对角线"/>
            <p:cNvSpPr>
              <a:spLocks/>
            </p:cNvSpPr>
            <p:nvPr/>
          </p:nvSpPr>
          <p:spPr bwMode="auto">
            <a:xfrm>
              <a:off x="4161" y="1416"/>
              <a:ext cx="359" cy="247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131" descr="宽上对角线"/>
            <p:cNvSpPr>
              <a:spLocks/>
            </p:cNvSpPr>
            <p:nvPr/>
          </p:nvSpPr>
          <p:spPr bwMode="auto">
            <a:xfrm rot="846441" flipV="1">
              <a:off x="4594" y="1351"/>
              <a:ext cx="277" cy="270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32" descr="宽上对角线"/>
            <p:cNvSpPr>
              <a:spLocks/>
            </p:cNvSpPr>
            <p:nvPr/>
          </p:nvSpPr>
          <p:spPr bwMode="auto">
            <a:xfrm rot="-5400000" flipH="1" flipV="1">
              <a:off x="4378" y="1138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33" descr="宽上对角线"/>
            <p:cNvSpPr>
              <a:spLocks/>
            </p:cNvSpPr>
            <p:nvPr/>
          </p:nvSpPr>
          <p:spPr bwMode="auto">
            <a:xfrm rot="-5400000" flipH="1" flipV="1">
              <a:off x="4820" y="1202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34" descr="宽上对角线"/>
            <p:cNvSpPr>
              <a:spLocks/>
            </p:cNvSpPr>
            <p:nvPr/>
          </p:nvSpPr>
          <p:spPr bwMode="auto">
            <a:xfrm flipH="1" flipV="1">
              <a:off x="3727" y="1223"/>
              <a:ext cx="214" cy="463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35" descr="宽上对角线"/>
            <p:cNvSpPr>
              <a:spLocks/>
            </p:cNvSpPr>
            <p:nvPr/>
          </p:nvSpPr>
          <p:spPr bwMode="auto">
            <a:xfrm flipV="1">
              <a:off x="5196" y="1402"/>
              <a:ext cx="244" cy="274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9" name="Group 136"/>
            <p:cNvGrpSpPr>
              <a:grpSpLocks/>
            </p:cNvGrpSpPr>
            <p:nvPr/>
          </p:nvGrpSpPr>
          <p:grpSpPr bwMode="auto">
            <a:xfrm>
              <a:off x="3718" y="834"/>
              <a:ext cx="1684" cy="201"/>
              <a:chOff x="3768" y="808"/>
              <a:chExt cx="1409" cy="314"/>
            </a:xfrm>
          </p:grpSpPr>
          <p:sp>
            <p:nvSpPr>
              <p:cNvPr id="84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5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6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7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8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9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0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1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2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3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70" name="Text Box 147"/>
            <p:cNvSpPr txBox="1">
              <a:spLocks noChangeArrowheads="1"/>
            </p:cNvSpPr>
            <p:nvPr/>
          </p:nvSpPr>
          <p:spPr bwMode="auto">
            <a:xfrm>
              <a:off x="3730" y="536"/>
              <a:ext cx="16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外荷载  总应力 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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71" name="Freeform 148"/>
            <p:cNvSpPr>
              <a:spLocks/>
            </p:cNvSpPr>
            <p:nvPr/>
          </p:nvSpPr>
          <p:spPr bwMode="auto">
            <a:xfrm>
              <a:off x="3722" y="1941"/>
              <a:ext cx="1738" cy="112"/>
            </a:xfrm>
            <a:custGeom>
              <a:avLst/>
              <a:gdLst>
                <a:gd name="T0" fmla="*/ 0 w 1738"/>
                <a:gd name="T1" fmla="*/ 67 h 112"/>
                <a:gd name="T2" fmla="*/ 138 w 1738"/>
                <a:gd name="T3" fmla="*/ 107 h 112"/>
                <a:gd name="T4" fmla="*/ 330 w 1738"/>
                <a:gd name="T5" fmla="*/ 97 h 112"/>
                <a:gd name="T6" fmla="*/ 512 w 1738"/>
                <a:gd name="T7" fmla="*/ 46 h 112"/>
                <a:gd name="T8" fmla="*/ 749 w 1738"/>
                <a:gd name="T9" fmla="*/ 62 h 112"/>
                <a:gd name="T10" fmla="*/ 954 w 1738"/>
                <a:gd name="T11" fmla="*/ 54 h 112"/>
                <a:gd name="T12" fmla="*/ 1130 w 1738"/>
                <a:gd name="T13" fmla="*/ 41 h 112"/>
                <a:gd name="T14" fmla="*/ 1318 w 1738"/>
                <a:gd name="T15" fmla="*/ 1 h 112"/>
                <a:gd name="T16" fmla="*/ 1438 w 1738"/>
                <a:gd name="T17" fmla="*/ 33 h 112"/>
                <a:gd name="T18" fmla="*/ 1604 w 1738"/>
                <a:gd name="T19" fmla="*/ 42 h 112"/>
                <a:gd name="T20" fmla="*/ 1738 w 1738"/>
                <a:gd name="T21" fmla="*/ 3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112">
                  <a:moveTo>
                    <a:pt x="0" y="67"/>
                  </a:moveTo>
                  <a:cubicBezTo>
                    <a:pt x="23" y="74"/>
                    <a:pt x="83" y="102"/>
                    <a:pt x="138" y="107"/>
                  </a:cubicBezTo>
                  <a:cubicBezTo>
                    <a:pt x="193" y="112"/>
                    <a:pt x="268" y="107"/>
                    <a:pt x="330" y="97"/>
                  </a:cubicBezTo>
                  <a:cubicBezTo>
                    <a:pt x="392" y="87"/>
                    <a:pt x="442" y="52"/>
                    <a:pt x="512" y="46"/>
                  </a:cubicBezTo>
                  <a:cubicBezTo>
                    <a:pt x="582" y="40"/>
                    <a:pt x="675" y="61"/>
                    <a:pt x="749" y="62"/>
                  </a:cubicBezTo>
                  <a:cubicBezTo>
                    <a:pt x="823" y="63"/>
                    <a:pt x="891" y="57"/>
                    <a:pt x="954" y="54"/>
                  </a:cubicBezTo>
                  <a:cubicBezTo>
                    <a:pt x="1017" y="51"/>
                    <a:pt x="1069" y="50"/>
                    <a:pt x="1130" y="41"/>
                  </a:cubicBezTo>
                  <a:cubicBezTo>
                    <a:pt x="1191" y="32"/>
                    <a:pt x="1267" y="2"/>
                    <a:pt x="1318" y="1"/>
                  </a:cubicBezTo>
                  <a:cubicBezTo>
                    <a:pt x="1369" y="0"/>
                    <a:pt x="1390" y="26"/>
                    <a:pt x="1438" y="33"/>
                  </a:cubicBezTo>
                  <a:cubicBezTo>
                    <a:pt x="1486" y="40"/>
                    <a:pt x="1554" y="42"/>
                    <a:pt x="1604" y="42"/>
                  </a:cubicBezTo>
                  <a:cubicBezTo>
                    <a:pt x="1654" y="42"/>
                    <a:pt x="1710" y="35"/>
                    <a:pt x="1738" y="33"/>
                  </a:cubicBezTo>
                </a:path>
              </a:pathLst>
            </a:custGeom>
            <a:noFill/>
            <a:ln w="28575" cmpd="sng">
              <a:solidFill>
                <a:srgbClr val="CC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49"/>
            <p:cNvSpPr>
              <a:spLocks noChangeShapeType="1"/>
            </p:cNvSpPr>
            <p:nvPr/>
          </p:nvSpPr>
          <p:spPr bwMode="auto">
            <a:xfrm>
              <a:off x="3874" y="1901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50"/>
            <p:cNvSpPr>
              <a:spLocks noChangeShapeType="1"/>
            </p:cNvSpPr>
            <p:nvPr/>
          </p:nvSpPr>
          <p:spPr bwMode="auto">
            <a:xfrm flipV="1">
              <a:off x="3870" y="2057"/>
              <a:ext cx="0" cy="1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51"/>
            <p:cNvSpPr>
              <a:spLocks noChangeShapeType="1"/>
            </p:cNvSpPr>
            <p:nvPr/>
          </p:nvSpPr>
          <p:spPr bwMode="auto">
            <a:xfrm flipH="1">
              <a:off x="4237" y="1838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52"/>
            <p:cNvSpPr>
              <a:spLocks noChangeShapeType="1"/>
            </p:cNvSpPr>
            <p:nvPr/>
          </p:nvSpPr>
          <p:spPr bwMode="auto">
            <a:xfrm rot="10800000" flipH="1">
              <a:off x="4203" y="2000"/>
              <a:ext cx="33" cy="14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53"/>
            <p:cNvSpPr>
              <a:spLocks noChangeShapeType="1"/>
            </p:cNvSpPr>
            <p:nvPr/>
          </p:nvSpPr>
          <p:spPr bwMode="auto">
            <a:xfrm rot="10800000" flipH="1">
              <a:off x="4702" y="1997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54"/>
            <p:cNvSpPr>
              <a:spLocks noChangeShapeType="1"/>
            </p:cNvSpPr>
            <p:nvPr/>
          </p:nvSpPr>
          <p:spPr bwMode="auto">
            <a:xfrm flipH="1">
              <a:off x="4709" y="1816"/>
              <a:ext cx="6" cy="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55"/>
            <p:cNvSpPr>
              <a:spLocks noChangeShapeType="1"/>
            </p:cNvSpPr>
            <p:nvPr/>
          </p:nvSpPr>
          <p:spPr bwMode="auto">
            <a:xfrm flipH="1">
              <a:off x="5042" y="1781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56"/>
            <p:cNvSpPr>
              <a:spLocks noChangeShapeType="1"/>
            </p:cNvSpPr>
            <p:nvPr/>
          </p:nvSpPr>
          <p:spPr bwMode="auto">
            <a:xfrm rot="10800000" flipH="1">
              <a:off x="4986" y="1946"/>
              <a:ext cx="59" cy="15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57"/>
            <p:cNvSpPr>
              <a:spLocks noChangeShapeType="1"/>
            </p:cNvSpPr>
            <p:nvPr/>
          </p:nvSpPr>
          <p:spPr bwMode="auto">
            <a:xfrm flipH="1">
              <a:off x="5303" y="1812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58"/>
            <p:cNvSpPr>
              <a:spLocks noChangeShapeType="1"/>
            </p:cNvSpPr>
            <p:nvPr/>
          </p:nvSpPr>
          <p:spPr bwMode="auto">
            <a:xfrm rot="10800000" flipH="1">
              <a:off x="5295" y="1993"/>
              <a:ext cx="13" cy="166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159"/>
            <p:cNvSpPr txBox="1">
              <a:spLocks noChangeArrowheads="1"/>
            </p:cNvSpPr>
            <p:nvPr/>
          </p:nvSpPr>
          <p:spPr bwMode="auto">
            <a:xfrm>
              <a:off x="3493" y="186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83" name="Text Box 160"/>
            <p:cNvSpPr txBox="1">
              <a:spLocks noChangeArrowheads="1"/>
            </p:cNvSpPr>
            <p:nvPr/>
          </p:nvSpPr>
          <p:spPr bwMode="auto">
            <a:xfrm>
              <a:off x="5486" y="182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sp>
        <p:nvSpPr>
          <p:cNvPr id="108" name="Text Box 53"/>
          <p:cNvSpPr txBox="1">
            <a:spLocks noChangeArrowheads="1"/>
          </p:cNvSpPr>
          <p:nvPr/>
        </p:nvSpPr>
        <p:spPr bwMode="auto">
          <a:xfrm>
            <a:off x="1764959" y="5758461"/>
            <a:ext cx="67226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课堂讨论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：有效应力原理的不同形式</a:t>
            </a:r>
            <a:endParaRPr lang="en-US" altLang="zh-CN" sz="32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11" name="Object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51929"/>
              </p:ext>
            </p:extLst>
          </p:nvPr>
        </p:nvGraphicFramePr>
        <p:xfrm>
          <a:off x="1548148" y="4527385"/>
          <a:ext cx="20875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3787" name="公式" r:id="rId4" imgW="596880" imgH="177480" progId="Equation.3">
                  <p:embed/>
                </p:oleObj>
              </mc:Choice>
              <mc:Fallback>
                <p:oleObj name="公式" r:id="rId4" imgW="5968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8444" r="-8444"/>
                      <a:stretch>
                        <a:fillRect/>
                      </a:stretch>
                    </p:blipFill>
                    <p:spPr bwMode="auto">
                      <a:xfrm>
                        <a:off x="1548148" y="4527385"/>
                        <a:ext cx="20875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Rectangle 109"/>
          <p:cNvSpPr>
            <a:spLocks noChangeArrowheads="1"/>
          </p:cNvSpPr>
          <p:nvPr/>
        </p:nvSpPr>
        <p:spPr bwMode="auto">
          <a:xfrm>
            <a:off x="4810919" y="907754"/>
            <a:ext cx="3676650" cy="34385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1" name="Group 110"/>
          <p:cNvGrpSpPr>
            <a:grpSpLocks/>
          </p:cNvGrpSpPr>
          <p:nvPr/>
        </p:nvGrpSpPr>
        <p:grpSpPr bwMode="auto">
          <a:xfrm>
            <a:off x="4993482" y="907755"/>
            <a:ext cx="3482975" cy="3314700"/>
            <a:chOff x="3493" y="536"/>
            <a:chExt cx="2194" cy="2088"/>
          </a:xfrm>
        </p:grpSpPr>
        <p:sp>
          <p:nvSpPr>
            <p:cNvPr id="122" name="Rectangle 111"/>
            <p:cNvSpPr>
              <a:spLocks noChangeArrowheads="1"/>
            </p:cNvSpPr>
            <p:nvPr/>
          </p:nvSpPr>
          <p:spPr bwMode="auto">
            <a:xfrm>
              <a:off x="3720" y="1093"/>
              <a:ext cx="1738" cy="1531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Freeform 112"/>
            <p:cNvSpPr>
              <a:spLocks/>
            </p:cNvSpPr>
            <p:nvPr/>
          </p:nvSpPr>
          <p:spPr bwMode="auto">
            <a:xfrm rot="5400000">
              <a:off x="4303" y="1487"/>
              <a:ext cx="1058" cy="989"/>
            </a:xfrm>
            <a:custGeom>
              <a:avLst/>
              <a:gdLst>
                <a:gd name="T0" fmla="*/ 668 w 851"/>
                <a:gd name="T1" fmla="*/ 1031 h 1059"/>
                <a:gd name="T2" fmla="*/ 600 w 851"/>
                <a:gd name="T3" fmla="*/ 942 h 1059"/>
                <a:gd name="T4" fmla="*/ 505 w 851"/>
                <a:gd name="T5" fmla="*/ 901 h 1059"/>
                <a:gd name="T6" fmla="*/ 441 w 851"/>
                <a:gd name="T7" fmla="*/ 723 h 1059"/>
                <a:gd name="T8" fmla="*/ 360 w 851"/>
                <a:gd name="T9" fmla="*/ 572 h 1059"/>
                <a:gd name="T10" fmla="*/ 219 w 851"/>
                <a:gd name="T11" fmla="*/ 410 h 1059"/>
                <a:gd name="T12" fmla="*/ 128 w 851"/>
                <a:gd name="T13" fmla="*/ 384 h 1059"/>
                <a:gd name="T14" fmla="*/ 15 w 851"/>
                <a:gd name="T15" fmla="*/ 363 h 1059"/>
                <a:gd name="T16" fmla="*/ 38 w 851"/>
                <a:gd name="T17" fmla="*/ 290 h 1059"/>
                <a:gd name="T18" fmla="*/ 42 w 851"/>
                <a:gd name="T19" fmla="*/ 223 h 1059"/>
                <a:gd name="T20" fmla="*/ 38 w 851"/>
                <a:gd name="T21" fmla="*/ 155 h 1059"/>
                <a:gd name="T22" fmla="*/ 6 w 851"/>
                <a:gd name="T23" fmla="*/ 87 h 1059"/>
                <a:gd name="T24" fmla="*/ 79 w 851"/>
                <a:gd name="T25" fmla="*/ 61 h 1059"/>
                <a:gd name="T26" fmla="*/ 292 w 851"/>
                <a:gd name="T27" fmla="*/ 40 h 1059"/>
                <a:gd name="T28" fmla="*/ 500 w 851"/>
                <a:gd name="T29" fmla="*/ 9 h 1059"/>
                <a:gd name="T30" fmla="*/ 595 w 851"/>
                <a:gd name="T31" fmla="*/ 3 h 1059"/>
                <a:gd name="T32" fmla="*/ 641 w 851"/>
                <a:gd name="T33" fmla="*/ 30 h 1059"/>
                <a:gd name="T34" fmla="*/ 654 w 851"/>
                <a:gd name="T35" fmla="*/ 71 h 1059"/>
                <a:gd name="T36" fmla="*/ 661 w 851"/>
                <a:gd name="T37" fmla="*/ 135 h 1059"/>
                <a:gd name="T38" fmla="*/ 703 w 851"/>
                <a:gd name="T39" fmla="*/ 199 h 1059"/>
                <a:gd name="T40" fmla="*/ 805 w 851"/>
                <a:gd name="T41" fmla="*/ 253 h 1059"/>
                <a:gd name="T42" fmla="*/ 844 w 851"/>
                <a:gd name="T43" fmla="*/ 327 h 1059"/>
                <a:gd name="T44" fmla="*/ 763 w 851"/>
                <a:gd name="T45" fmla="*/ 770 h 1059"/>
                <a:gd name="T46" fmla="*/ 668 w 851"/>
                <a:gd name="T47" fmla="*/ 1031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1" h="1059">
                  <a:moveTo>
                    <a:pt x="668" y="1031"/>
                  </a:moveTo>
                  <a:cubicBezTo>
                    <a:pt x="641" y="1059"/>
                    <a:pt x="627" y="963"/>
                    <a:pt x="600" y="942"/>
                  </a:cubicBezTo>
                  <a:cubicBezTo>
                    <a:pt x="573" y="922"/>
                    <a:pt x="530" y="937"/>
                    <a:pt x="505" y="901"/>
                  </a:cubicBezTo>
                  <a:cubicBezTo>
                    <a:pt x="479" y="864"/>
                    <a:pt x="465" y="777"/>
                    <a:pt x="441" y="723"/>
                  </a:cubicBezTo>
                  <a:cubicBezTo>
                    <a:pt x="417" y="669"/>
                    <a:pt x="396" y="624"/>
                    <a:pt x="360" y="572"/>
                  </a:cubicBezTo>
                  <a:cubicBezTo>
                    <a:pt x="323" y="520"/>
                    <a:pt x="257" y="442"/>
                    <a:pt x="219" y="410"/>
                  </a:cubicBezTo>
                  <a:cubicBezTo>
                    <a:pt x="181" y="379"/>
                    <a:pt x="162" y="391"/>
                    <a:pt x="128" y="384"/>
                  </a:cubicBezTo>
                  <a:cubicBezTo>
                    <a:pt x="95" y="377"/>
                    <a:pt x="30" y="379"/>
                    <a:pt x="15" y="363"/>
                  </a:cubicBezTo>
                  <a:cubicBezTo>
                    <a:pt x="0" y="348"/>
                    <a:pt x="33" y="313"/>
                    <a:pt x="38" y="290"/>
                  </a:cubicBezTo>
                  <a:cubicBezTo>
                    <a:pt x="42" y="268"/>
                    <a:pt x="42" y="245"/>
                    <a:pt x="42" y="223"/>
                  </a:cubicBezTo>
                  <a:cubicBezTo>
                    <a:pt x="42" y="200"/>
                    <a:pt x="44" y="177"/>
                    <a:pt x="38" y="155"/>
                  </a:cubicBezTo>
                  <a:cubicBezTo>
                    <a:pt x="32" y="132"/>
                    <a:pt x="0" y="103"/>
                    <a:pt x="6" y="87"/>
                  </a:cubicBezTo>
                  <a:cubicBezTo>
                    <a:pt x="12" y="71"/>
                    <a:pt x="32" y="68"/>
                    <a:pt x="79" y="61"/>
                  </a:cubicBezTo>
                  <a:cubicBezTo>
                    <a:pt x="125" y="54"/>
                    <a:pt x="222" y="49"/>
                    <a:pt x="292" y="40"/>
                  </a:cubicBezTo>
                  <a:cubicBezTo>
                    <a:pt x="361" y="31"/>
                    <a:pt x="450" y="14"/>
                    <a:pt x="500" y="9"/>
                  </a:cubicBezTo>
                  <a:cubicBezTo>
                    <a:pt x="550" y="3"/>
                    <a:pt x="571" y="0"/>
                    <a:pt x="595" y="3"/>
                  </a:cubicBezTo>
                  <a:cubicBezTo>
                    <a:pt x="620" y="7"/>
                    <a:pt x="632" y="19"/>
                    <a:pt x="641" y="30"/>
                  </a:cubicBezTo>
                  <a:cubicBezTo>
                    <a:pt x="650" y="40"/>
                    <a:pt x="651" y="54"/>
                    <a:pt x="654" y="71"/>
                  </a:cubicBezTo>
                  <a:cubicBezTo>
                    <a:pt x="657" y="88"/>
                    <a:pt x="653" y="114"/>
                    <a:pt x="661" y="135"/>
                  </a:cubicBezTo>
                  <a:cubicBezTo>
                    <a:pt x="669" y="156"/>
                    <a:pt x="679" y="179"/>
                    <a:pt x="703" y="199"/>
                  </a:cubicBezTo>
                  <a:cubicBezTo>
                    <a:pt x="727" y="219"/>
                    <a:pt x="782" y="232"/>
                    <a:pt x="805" y="253"/>
                  </a:cubicBezTo>
                  <a:cubicBezTo>
                    <a:pt x="828" y="274"/>
                    <a:pt x="851" y="241"/>
                    <a:pt x="844" y="327"/>
                  </a:cubicBezTo>
                  <a:cubicBezTo>
                    <a:pt x="837" y="413"/>
                    <a:pt x="792" y="653"/>
                    <a:pt x="763" y="770"/>
                  </a:cubicBezTo>
                  <a:cubicBezTo>
                    <a:pt x="734" y="887"/>
                    <a:pt x="695" y="1003"/>
                    <a:pt x="668" y="1031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13" descr="宽上对角线"/>
            <p:cNvSpPr>
              <a:spLocks/>
            </p:cNvSpPr>
            <p:nvPr/>
          </p:nvSpPr>
          <p:spPr bwMode="auto">
            <a:xfrm>
              <a:off x="3964" y="2272"/>
              <a:ext cx="490" cy="351"/>
            </a:xfrm>
            <a:custGeom>
              <a:avLst/>
              <a:gdLst>
                <a:gd name="T0" fmla="*/ 3 w 490"/>
                <a:gd name="T1" fmla="*/ 113 h 264"/>
                <a:gd name="T2" fmla="*/ 31 w 490"/>
                <a:gd name="T3" fmla="*/ 49 h 264"/>
                <a:gd name="T4" fmla="*/ 107 w 490"/>
                <a:gd name="T5" fmla="*/ 36 h 264"/>
                <a:gd name="T6" fmla="*/ 175 w 490"/>
                <a:gd name="T7" fmla="*/ 1 h 264"/>
                <a:gd name="T8" fmla="*/ 278 w 490"/>
                <a:gd name="T9" fmla="*/ 40 h 264"/>
                <a:gd name="T10" fmla="*/ 344 w 490"/>
                <a:gd name="T11" fmla="*/ 40 h 264"/>
                <a:gd name="T12" fmla="*/ 441 w 490"/>
                <a:gd name="T13" fmla="*/ 29 h 264"/>
                <a:gd name="T14" fmla="*/ 478 w 490"/>
                <a:gd name="T15" fmla="*/ 63 h 264"/>
                <a:gd name="T16" fmla="*/ 478 w 490"/>
                <a:gd name="T17" fmla="*/ 142 h 264"/>
                <a:gd name="T18" fmla="*/ 409 w 490"/>
                <a:gd name="T19" fmla="*/ 220 h 264"/>
                <a:gd name="T20" fmla="*/ 300 w 490"/>
                <a:gd name="T21" fmla="*/ 260 h 264"/>
                <a:gd name="T22" fmla="*/ 175 w 490"/>
                <a:gd name="T23" fmla="*/ 243 h 264"/>
                <a:gd name="T24" fmla="*/ 50 w 490"/>
                <a:gd name="T25" fmla="*/ 198 h 264"/>
                <a:gd name="T26" fmla="*/ 3 w 490"/>
                <a:gd name="T27" fmla="*/ 113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64">
                  <a:moveTo>
                    <a:pt x="3" y="113"/>
                  </a:moveTo>
                  <a:cubicBezTo>
                    <a:pt x="0" y="88"/>
                    <a:pt x="14" y="62"/>
                    <a:pt x="31" y="49"/>
                  </a:cubicBezTo>
                  <a:cubicBezTo>
                    <a:pt x="48" y="36"/>
                    <a:pt x="83" y="44"/>
                    <a:pt x="107" y="36"/>
                  </a:cubicBezTo>
                  <a:cubicBezTo>
                    <a:pt x="131" y="28"/>
                    <a:pt x="147" y="0"/>
                    <a:pt x="175" y="1"/>
                  </a:cubicBezTo>
                  <a:cubicBezTo>
                    <a:pt x="203" y="2"/>
                    <a:pt x="250" y="33"/>
                    <a:pt x="278" y="40"/>
                  </a:cubicBezTo>
                  <a:cubicBezTo>
                    <a:pt x="306" y="47"/>
                    <a:pt x="316" y="42"/>
                    <a:pt x="344" y="40"/>
                  </a:cubicBezTo>
                  <a:cubicBezTo>
                    <a:pt x="371" y="39"/>
                    <a:pt x="418" y="25"/>
                    <a:pt x="441" y="29"/>
                  </a:cubicBezTo>
                  <a:cubicBezTo>
                    <a:pt x="463" y="33"/>
                    <a:pt x="472" y="44"/>
                    <a:pt x="478" y="63"/>
                  </a:cubicBezTo>
                  <a:cubicBezTo>
                    <a:pt x="485" y="81"/>
                    <a:pt x="490" y="115"/>
                    <a:pt x="478" y="142"/>
                  </a:cubicBezTo>
                  <a:cubicBezTo>
                    <a:pt x="467" y="168"/>
                    <a:pt x="439" y="201"/>
                    <a:pt x="409" y="220"/>
                  </a:cubicBezTo>
                  <a:cubicBezTo>
                    <a:pt x="380" y="240"/>
                    <a:pt x="339" y="256"/>
                    <a:pt x="300" y="260"/>
                  </a:cubicBezTo>
                  <a:cubicBezTo>
                    <a:pt x="261" y="264"/>
                    <a:pt x="216" y="253"/>
                    <a:pt x="175" y="243"/>
                  </a:cubicBezTo>
                  <a:cubicBezTo>
                    <a:pt x="133" y="233"/>
                    <a:pt x="80" y="218"/>
                    <a:pt x="50" y="198"/>
                  </a:cubicBezTo>
                  <a:cubicBezTo>
                    <a:pt x="20" y="178"/>
                    <a:pt x="7" y="149"/>
                    <a:pt x="3" y="11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14" descr="宽上对角线"/>
            <p:cNvSpPr>
              <a:spLocks/>
            </p:cNvSpPr>
            <p:nvPr/>
          </p:nvSpPr>
          <p:spPr bwMode="auto">
            <a:xfrm rot="5400000" flipH="1">
              <a:off x="5093" y="2263"/>
              <a:ext cx="398" cy="313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15" descr="宽上对角线"/>
            <p:cNvSpPr>
              <a:spLocks/>
            </p:cNvSpPr>
            <p:nvPr/>
          </p:nvSpPr>
          <p:spPr bwMode="auto">
            <a:xfrm rot="1736741">
              <a:off x="4271" y="2016"/>
              <a:ext cx="264" cy="339"/>
            </a:xfrm>
            <a:custGeom>
              <a:avLst/>
              <a:gdLst>
                <a:gd name="T0" fmla="*/ 282 w 440"/>
                <a:gd name="T1" fmla="*/ 260 h 345"/>
                <a:gd name="T2" fmla="*/ 211 w 440"/>
                <a:gd name="T3" fmla="*/ 317 h 345"/>
                <a:gd name="T4" fmla="*/ 119 w 440"/>
                <a:gd name="T5" fmla="*/ 342 h 345"/>
                <a:gd name="T6" fmla="*/ 27 w 440"/>
                <a:gd name="T7" fmla="*/ 321 h 345"/>
                <a:gd name="T8" fmla="*/ 21 w 440"/>
                <a:gd name="T9" fmla="*/ 198 h 345"/>
                <a:gd name="T10" fmla="*/ 152 w 440"/>
                <a:gd name="T11" fmla="*/ 64 h 345"/>
                <a:gd name="T12" fmla="*/ 341 w 440"/>
                <a:gd name="T13" fmla="*/ 10 h 345"/>
                <a:gd name="T14" fmla="*/ 420 w 440"/>
                <a:gd name="T15" fmla="*/ 10 h 345"/>
                <a:gd name="T16" fmla="*/ 433 w 440"/>
                <a:gd name="T17" fmla="*/ 70 h 345"/>
                <a:gd name="T18" fmla="*/ 378 w 440"/>
                <a:gd name="T19" fmla="*/ 185 h 345"/>
                <a:gd name="T20" fmla="*/ 282 w 440"/>
                <a:gd name="T21" fmla="*/ 26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0" h="345">
                  <a:moveTo>
                    <a:pt x="282" y="260"/>
                  </a:moveTo>
                  <a:cubicBezTo>
                    <a:pt x="254" y="282"/>
                    <a:pt x="238" y="304"/>
                    <a:pt x="211" y="317"/>
                  </a:cubicBezTo>
                  <a:cubicBezTo>
                    <a:pt x="184" y="330"/>
                    <a:pt x="149" y="341"/>
                    <a:pt x="119" y="342"/>
                  </a:cubicBezTo>
                  <a:cubicBezTo>
                    <a:pt x="88" y="343"/>
                    <a:pt x="43" y="345"/>
                    <a:pt x="27" y="321"/>
                  </a:cubicBezTo>
                  <a:cubicBezTo>
                    <a:pt x="11" y="297"/>
                    <a:pt x="0" y="241"/>
                    <a:pt x="21" y="198"/>
                  </a:cubicBezTo>
                  <a:cubicBezTo>
                    <a:pt x="42" y="155"/>
                    <a:pt x="99" y="95"/>
                    <a:pt x="152" y="64"/>
                  </a:cubicBezTo>
                  <a:cubicBezTo>
                    <a:pt x="205" y="33"/>
                    <a:pt x="296" y="19"/>
                    <a:pt x="341" y="10"/>
                  </a:cubicBezTo>
                  <a:cubicBezTo>
                    <a:pt x="386" y="1"/>
                    <a:pt x="404" y="0"/>
                    <a:pt x="420" y="10"/>
                  </a:cubicBezTo>
                  <a:cubicBezTo>
                    <a:pt x="436" y="19"/>
                    <a:pt x="440" y="41"/>
                    <a:pt x="433" y="70"/>
                  </a:cubicBezTo>
                  <a:cubicBezTo>
                    <a:pt x="425" y="100"/>
                    <a:pt x="404" y="154"/>
                    <a:pt x="378" y="185"/>
                  </a:cubicBezTo>
                  <a:cubicBezTo>
                    <a:pt x="352" y="216"/>
                    <a:pt x="310" y="238"/>
                    <a:pt x="282" y="26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16" descr="宽上对角线"/>
            <p:cNvSpPr>
              <a:spLocks/>
            </p:cNvSpPr>
            <p:nvPr/>
          </p:nvSpPr>
          <p:spPr bwMode="auto">
            <a:xfrm>
              <a:off x="4573" y="1995"/>
              <a:ext cx="390" cy="394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117" descr="宽上对角线"/>
            <p:cNvSpPr>
              <a:spLocks/>
            </p:cNvSpPr>
            <p:nvPr/>
          </p:nvSpPr>
          <p:spPr bwMode="auto">
            <a:xfrm rot="10800000" flipH="1">
              <a:off x="4888" y="1943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18" descr="宽上对角线"/>
            <p:cNvSpPr>
              <a:spLocks/>
            </p:cNvSpPr>
            <p:nvPr/>
          </p:nvSpPr>
          <p:spPr bwMode="auto">
            <a:xfrm rot="13016966" flipH="1">
              <a:off x="3666" y="2080"/>
              <a:ext cx="371" cy="477"/>
            </a:xfrm>
            <a:custGeom>
              <a:avLst/>
              <a:gdLst>
                <a:gd name="T0" fmla="*/ 225 w 443"/>
                <a:gd name="T1" fmla="*/ 66 h 310"/>
                <a:gd name="T2" fmla="*/ 77 w 443"/>
                <a:gd name="T3" fmla="*/ 118 h 310"/>
                <a:gd name="T4" fmla="*/ 5 w 443"/>
                <a:gd name="T5" fmla="*/ 194 h 310"/>
                <a:gd name="T6" fmla="*/ 45 w 443"/>
                <a:gd name="T7" fmla="*/ 298 h 310"/>
                <a:gd name="T8" fmla="*/ 157 w 443"/>
                <a:gd name="T9" fmla="*/ 266 h 310"/>
                <a:gd name="T10" fmla="*/ 325 w 443"/>
                <a:gd name="T11" fmla="*/ 206 h 310"/>
                <a:gd name="T12" fmla="*/ 429 w 443"/>
                <a:gd name="T13" fmla="*/ 94 h 310"/>
                <a:gd name="T14" fmla="*/ 409 w 443"/>
                <a:gd name="T15" fmla="*/ 14 h 310"/>
                <a:gd name="T16" fmla="*/ 361 w 443"/>
                <a:gd name="T17" fmla="*/ 10 h 310"/>
                <a:gd name="T18" fmla="*/ 265 w 443"/>
                <a:gd name="T19" fmla="*/ 46 h 310"/>
                <a:gd name="T20" fmla="*/ 225 w 443"/>
                <a:gd name="T21" fmla="*/ 6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310">
                  <a:moveTo>
                    <a:pt x="225" y="66"/>
                  </a:moveTo>
                  <a:cubicBezTo>
                    <a:pt x="194" y="78"/>
                    <a:pt x="114" y="97"/>
                    <a:pt x="77" y="118"/>
                  </a:cubicBezTo>
                  <a:cubicBezTo>
                    <a:pt x="40" y="139"/>
                    <a:pt x="10" y="164"/>
                    <a:pt x="5" y="194"/>
                  </a:cubicBezTo>
                  <a:cubicBezTo>
                    <a:pt x="0" y="224"/>
                    <a:pt x="20" y="286"/>
                    <a:pt x="45" y="298"/>
                  </a:cubicBezTo>
                  <a:cubicBezTo>
                    <a:pt x="70" y="310"/>
                    <a:pt x="110" y="281"/>
                    <a:pt x="157" y="266"/>
                  </a:cubicBezTo>
                  <a:cubicBezTo>
                    <a:pt x="204" y="251"/>
                    <a:pt x="280" y="235"/>
                    <a:pt x="325" y="206"/>
                  </a:cubicBezTo>
                  <a:cubicBezTo>
                    <a:pt x="370" y="177"/>
                    <a:pt x="415" y="126"/>
                    <a:pt x="429" y="94"/>
                  </a:cubicBezTo>
                  <a:cubicBezTo>
                    <a:pt x="443" y="62"/>
                    <a:pt x="420" y="28"/>
                    <a:pt x="409" y="14"/>
                  </a:cubicBezTo>
                  <a:cubicBezTo>
                    <a:pt x="398" y="0"/>
                    <a:pt x="385" y="5"/>
                    <a:pt x="361" y="10"/>
                  </a:cubicBezTo>
                  <a:cubicBezTo>
                    <a:pt x="337" y="15"/>
                    <a:pt x="290" y="34"/>
                    <a:pt x="265" y="46"/>
                  </a:cubicBezTo>
                  <a:cubicBezTo>
                    <a:pt x="240" y="58"/>
                    <a:pt x="256" y="54"/>
                    <a:pt x="225" y="6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19" descr="宽上对角线"/>
            <p:cNvSpPr>
              <a:spLocks/>
            </p:cNvSpPr>
            <p:nvPr/>
          </p:nvSpPr>
          <p:spPr bwMode="auto">
            <a:xfrm rot="5400000" flipH="1">
              <a:off x="4415" y="2274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20" descr="宽上对角线"/>
            <p:cNvSpPr>
              <a:spLocks/>
            </p:cNvSpPr>
            <p:nvPr/>
          </p:nvSpPr>
          <p:spPr bwMode="auto">
            <a:xfrm rot="5400000" flipH="1">
              <a:off x="4780" y="225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21" descr="宽上对角线"/>
            <p:cNvSpPr>
              <a:spLocks/>
            </p:cNvSpPr>
            <p:nvPr/>
          </p:nvSpPr>
          <p:spPr bwMode="auto">
            <a:xfrm rot="5400000" flipH="1">
              <a:off x="3952" y="1961"/>
              <a:ext cx="285" cy="348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22" descr="宽上对角线"/>
            <p:cNvSpPr>
              <a:spLocks/>
            </p:cNvSpPr>
            <p:nvPr/>
          </p:nvSpPr>
          <p:spPr bwMode="auto">
            <a:xfrm>
              <a:off x="5226" y="1983"/>
              <a:ext cx="228" cy="249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23" descr="宽上对角线"/>
            <p:cNvSpPr>
              <a:spLocks/>
            </p:cNvSpPr>
            <p:nvPr/>
          </p:nvSpPr>
          <p:spPr bwMode="auto">
            <a:xfrm>
              <a:off x="4955" y="1656"/>
              <a:ext cx="491" cy="322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24" descr="宽上对角线"/>
            <p:cNvSpPr>
              <a:spLocks/>
            </p:cNvSpPr>
            <p:nvPr/>
          </p:nvSpPr>
          <p:spPr bwMode="auto">
            <a:xfrm rot="5400000" flipH="1">
              <a:off x="4552" y="1564"/>
              <a:ext cx="398" cy="464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25" descr="宽上对角线"/>
            <p:cNvSpPr>
              <a:spLocks/>
            </p:cNvSpPr>
            <p:nvPr/>
          </p:nvSpPr>
          <p:spPr bwMode="auto">
            <a:xfrm rot="5400000" flipH="1">
              <a:off x="4167" y="1630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26" descr="宽上对角线"/>
            <p:cNvSpPr>
              <a:spLocks/>
            </p:cNvSpPr>
            <p:nvPr/>
          </p:nvSpPr>
          <p:spPr bwMode="auto">
            <a:xfrm rot="5400000" flipH="1">
              <a:off x="3683" y="1701"/>
              <a:ext cx="369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27" descr="宽上对角线"/>
            <p:cNvSpPr>
              <a:spLocks/>
            </p:cNvSpPr>
            <p:nvPr/>
          </p:nvSpPr>
          <p:spPr bwMode="auto">
            <a:xfrm flipH="1">
              <a:off x="3916" y="1516"/>
              <a:ext cx="326" cy="319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128" descr="宽上对角线"/>
            <p:cNvSpPr>
              <a:spLocks/>
            </p:cNvSpPr>
            <p:nvPr/>
          </p:nvSpPr>
          <p:spPr bwMode="auto">
            <a:xfrm>
              <a:off x="3934" y="1099"/>
              <a:ext cx="490" cy="339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129" descr="宽上对角线"/>
            <p:cNvSpPr>
              <a:spLocks/>
            </p:cNvSpPr>
            <p:nvPr/>
          </p:nvSpPr>
          <p:spPr bwMode="auto">
            <a:xfrm>
              <a:off x="5141" y="1093"/>
              <a:ext cx="313" cy="315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30" descr="宽上对角线"/>
            <p:cNvSpPr>
              <a:spLocks/>
            </p:cNvSpPr>
            <p:nvPr/>
          </p:nvSpPr>
          <p:spPr bwMode="auto">
            <a:xfrm>
              <a:off x="4161" y="1416"/>
              <a:ext cx="359" cy="247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31" descr="宽上对角线"/>
            <p:cNvSpPr>
              <a:spLocks/>
            </p:cNvSpPr>
            <p:nvPr/>
          </p:nvSpPr>
          <p:spPr bwMode="auto">
            <a:xfrm rot="846441" flipV="1">
              <a:off x="4594" y="1351"/>
              <a:ext cx="277" cy="270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32" descr="宽上对角线"/>
            <p:cNvSpPr>
              <a:spLocks/>
            </p:cNvSpPr>
            <p:nvPr/>
          </p:nvSpPr>
          <p:spPr bwMode="auto">
            <a:xfrm rot="-5400000" flipH="1" flipV="1">
              <a:off x="4378" y="1138"/>
              <a:ext cx="368" cy="325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33" descr="宽上对角线"/>
            <p:cNvSpPr>
              <a:spLocks/>
            </p:cNvSpPr>
            <p:nvPr/>
          </p:nvSpPr>
          <p:spPr bwMode="auto">
            <a:xfrm rot="-5400000" flipH="1" flipV="1">
              <a:off x="4820" y="1202"/>
              <a:ext cx="335" cy="374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34" descr="宽上对角线"/>
            <p:cNvSpPr>
              <a:spLocks/>
            </p:cNvSpPr>
            <p:nvPr/>
          </p:nvSpPr>
          <p:spPr bwMode="auto">
            <a:xfrm flipH="1" flipV="1">
              <a:off x="3727" y="1223"/>
              <a:ext cx="214" cy="463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35" descr="宽上对角线"/>
            <p:cNvSpPr>
              <a:spLocks/>
            </p:cNvSpPr>
            <p:nvPr/>
          </p:nvSpPr>
          <p:spPr bwMode="auto">
            <a:xfrm flipV="1">
              <a:off x="5196" y="1402"/>
              <a:ext cx="244" cy="274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7" name="Group 136"/>
            <p:cNvGrpSpPr>
              <a:grpSpLocks/>
            </p:cNvGrpSpPr>
            <p:nvPr/>
          </p:nvGrpSpPr>
          <p:grpSpPr bwMode="auto">
            <a:xfrm>
              <a:off x="3718" y="834"/>
              <a:ext cx="1684" cy="201"/>
              <a:chOff x="3768" y="808"/>
              <a:chExt cx="1409" cy="314"/>
            </a:xfrm>
          </p:grpSpPr>
          <p:sp>
            <p:nvSpPr>
              <p:cNvPr id="162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3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4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5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6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7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8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9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0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1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148" name="Text Box 147"/>
            <p:cNvSpPr txBox="1">
              <a:spLocks noChangeArrowheads="1"/>
            </p:cNvSpPr>
            <p:nvPr/>
          </p:nvSpPr>
          <p:spPr bwMode="auto">
            <a:xfrm>
              <a:off x="3730" y="536"/>
              <a:ext cx="16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外荷载  总应力 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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160" name="Text Box 159"/>
            <p:cNvSpPr txBox="1">
              <a:spLocks noChangeArrowheads="1"/>
            </p:cNvSpPr>
            <p:nvPr/>
          </p:nvSpPr>
          <p:spPr bwMode="auto">
            <a:xfrm>
              <a:off x="3493" y="1686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161" name="Text Box 160"/>
            <p:cNvSpPr txBox="1">
              <a:spLocks noChangeArrowheads="1"/>
            </p:cNvSpPr>
            <p:nvPr/>
          </p:nvSpPr>
          <p:spPr bwMode="auto">
            <a:xfrm>
              <a:off x="5486" y="169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353845" y="2728593"/>
            <a:ext cx="2759075" cy="556609"/>
            <a:chOff x="5353845" y="2728593"/>
            <a:chExt cx="2759075" cy="556609"/>
          </a:xfrm>
        </p:grpSpPr>
        <p:cxnSp>
          <p:nvCxnSpPr>
            <p:cNvPr id="3" name="直接连接符 2"/>
            <p:cNvCxnSpPr>
              <a:stCxn id="122" idx="1"/>
              <a:endCxn id="122" idx="3"/>
            </p:cNvCxnSpPr>
            <p:nvPr/>
          </p:nvCxnSpPr>
          <p:spPr bwMode="auto">
            <a:xfrm>
              <a:off x="5353845" y="3007225"/>
              <a:ext cx="2759075" cy="0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4" name="Line 150"/>
            <p:cNvSpPr>
              <a:spLocks noChangeShapeType="1"/>
            </p:cNvSpPr>
            <p:nvPr/>
          </p:nvSpPr>
          <p:spPr bwMode="auto">
            <a:xfrm flipV="1">
              <a:off x="5604328" y="3015176"/>
              <a:ext cx="0" cy="233363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51"/>
            <p:cNvSpPr>
              <a:spLocks noChangeShapeType="1"/>
            </p:cNvSpPr>
            <p:nvPr/>
          </p:nvSpPr>
          <p:spPr bwMode="auto">
            <a:xfrm flipH="1">
              <a:off x="6376008" y="2765079"/>
              <a:ext cx="52388" cy="23018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52"/>
            <p:cNvSpPr>
              <a:spLocks noChangeShapeType="1"/>
            </p:cNvSpPr>
            <p:nvPr/>
          </p:nvSpPr>
          <p:spPr bwMode="auto">
            <a:xfrm rot="10800000" flipH="1">
              <a:off x="6323301" y="3016837"/>
              <a:ext cx="52388" cy="23018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53"/>
            <p:cNvSpPr>
              <a:spLocks noChangeShapeType="1"/>
            </p:cNvSpPr>
            <p:nvPr/>
          </p:nvSpPr>
          <p:spPr bwMode="auto">
            <a:xfrm rot="10800000" flipH="1">
              <a:off x="6984057" y="3015249"/>
              <a:ext cx="9525" cy="26828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54"/>
            <p:cNvSpPr>
              <a:spLocks noChangeShapeType="1"/>
            </p:cNvSpPr>
            <p:nvPr/>
          </p:nvSpPr>
          <p:spPr bwMode="auto">
            <a:xfrm flipH="1">
              <a:off x="6990557" y="2728593"/>
              <a:ext cx="9525" cy="26828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57"/>
            <p:cNvSpPr>
              <a:spLocks noChangeShapeType="1"/>
            </p:cNvSpPr>
            <p:nvPr/>
          </p:nvSpPr>
          <p:spPr bwMode="auto">
            <a:xfrm flipH="1">
              <a:off x="7719227" y="2729405"/>
              <a:ext cx="20638" cy="26352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58"/>
            <p:cNvSpPr>
              <a:spLocks noChangeShapeType="1"/>
            </p:cNvSpPr>
            <p:nvPr/>
          </p:nvSpPr>
          <p:spPr bwMode="auto">
            <a:xfrm rot="10800000" flipH="1">
              <a:off x="7701771" y="3021677"/>
              <a:ext cx="20638" cy="26352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49"/>
            <p:cNvSpPr>
              <a:spLocks noChangeShapeType="1"/>
            </p:cNvSpPr>
            <p:nvPr/>
          </p:nvSpPr>
          <p:spPr bwMode="auto">
            <a:xfrm>
              <a:off x="5604328" y="2767503"/>
              <a:ext cx="0" cy="233363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9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27883" y="4492750"/>
            <a:ext cx="1832553" cy="65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更直观？</a:t>
            </a:r>
            <a:endParaRPr lang="zh-CN" altLang="en-US" sz="32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0732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8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07"/>
          <p:cNvSpPr>
            <a:spLocks noChangeArrowheads="1"/>
          </p:cNvSpPr>
          <p:nvPr/>
        </p:nvSpPr>
        <p:spPr bwMode="auto">
          <a:xfrm>
            <a:off x="811400" y="3578845"/>
            <a:ext cx="388749" cy="858837"/>
          </a:xfrm>
          <a:prstGeom prst="rect">
            <a:avLst/>
          </a:prstGeom>
          <a:solidFill>
            <a:srgbClr val="FFD7AF"/>
          </a:solidFill>
          <a:ln w="28575">
            <a:solidFill>
              <a:srgbClr val="0066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1" name="Group 191"/>
          <p:cNvGrpSpPr>
            <a:grpSpLocks/>
          </p:cNvGrpSpPr>
          <p:nvPr/>
        </p:nvGrpSpPr>
        <p:grpSpPr bwMode="auto">
          <a:xfrm>
            <a:off x="1010720" y="3131610"/>
            <a:ext cx="1249364" cy="461963"/>
            <a:chOff x="1692" y="2389"/>
            <a:chExt cx="787" cy="291"/>
          </a:xfrm>
        </p:grpSpPr>
        <p:sp>
          <p:nvSpPr>
            <p:cNvPr id="192" name="Freeform 192"/>
            <p:cNvSpPr>
              <a:spLocks/>
            </p:cNvSpPr>
            <p:nvPr/>
          </p:nvSpPr>
          <p:spPr bwMode="auto">
            <a:xfrm flipV="1">
              <a:off x="1692" y="2543"/>
              <a:ext cx="269" cy="117"/>
            </a:xfrm>
            <a:custGeom>
              <a:avLst/>
              <a:gdLst>
                <a:gd name="T0" fmla="*/ 0 w 682"/>
                <a:gd name="T1" fmla="*/ 0 h 278"/>
                <a:gd name="T2" fmla="*/ 0 w 682"/>
                <a:gd name="T3" fmla="*/ 278 h 278"/>
                <a:gd name="T4" fmla="*/ 682 w 682"/>
                <a:gd name="T5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278">
                  <a:moveTo>
                    <a:pt x="0" y="0"/>
                  </a:moveTo>
                  <a:lnTo>
                    <a:pt x="0" y="278"/>
                  </a:lnTo>
                  <a:lnTo>
                    <a:pt x="682" y="278"/>
                  </a:lnTo>
                </a:path>
              </a:pathLst>
            </a:custGeom>
            <a:noFill/>
            <a:ln w="38100" cmpd="sng">
              <a:solidFill>
                <a:srgbClr val="0066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193"/>
            <p:cNvSpPr txBox="1">
              <a:spLocks noChangeArrowheads="1"/>
            </p:cNvSpPr>
            <p:nvPr/>
          </p:nvSpPr>
          <p:spPr bwMode="auto">
            <a:xfrm>
              <a:off x="1935" y="2389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 1-</a:t>
              </a:r>
              <a:r>
                <a:rPr kumimoji="1" lang="en-US" altLang="zh-CN" sz="24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n</a:t>
              </a:r>
              <a:endParaRPr kumimoji="1" lang="en-US" altLang="zh-CN" sz="2400" b="1" i="1" dirty="0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53" name="Rectangle 107"/>
          <p:cNvSpPr>
            <a:spLocks noChangeArrowheads="1"/>
          </p:cNvSpPr>
          <p:nvPr/>
        </p:nvSpPr>
        <p:spPr bwMode="auto">
          <a:xfrm>
            <a:off x="2353750" y="3600630"/>
            <a:ext cx="463550" cy="858837"/>
          </a:xfrm>
          <a:prstGeom prst="rect">
            <a:avLst/>
          </a:prstGeom>
          <a:solidFill>
            <a:srgbClr val="FFD7AF"/>
          </a:solidFill>
          <a:ln w="28575">
            <a:solidFill>
              <a:srgbClr val="0066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Rectangle 108"/>
          <p:cNvSpPr>
            <a:spLocks noChangeArrowheads="1"/>
          </p:cNvSpPr>
          <p:nvPr/>
        </p:nvSpPr>
        <p:spPr bwMode="auto">
          <a:xfrm>
            <a:off x="1227607" y="3583633"/>
            <a:ext cx="730250" cy="858837"/>
          </a:xfrm>
          <a:prstGeom prst="rect">
            <a:avLst/>
          </a:prstGeom>
          <a:solidFill>
            <a:srgbClr val="CCECFF"/>
          </a:solidFill>
          <a:ln w="28575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24371" y="854400"/>
            <a:ext cx="3676650" cy="3442493"/>
            <a:chOff x="5224371" y="854400"/>
            <a:chExt cx="3676650" cy="3442493"/>
          </a:xfrm>
        </p:grpSpPr>
        <p:sp>
          <p:nvSpPr>
            <p:cNvPr id="120" name="Rectangle 109"/>
            <p:cNvSpPr>
              <a:spLocks noChangeArrowheads="1"/>
            </p:cNvSpPr>
            <p:nvPr/>
          </p:nvSpPr>
          <p:spPr bwMode="auto">
            <a:xfrm>
              <a:off x="5224371" y="854400"/>
              <a:ext cx="3676650" cy="21153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Rectangle 111"/>
            <p:cNvSpPr>
              <a:spLocks noChangeArrowheads="1"/>
            </p:cNvSpPr>
            <p:nvPr/>
          </p:nvSpPr>
          <p:spPr bwMode="auto">
            <a:xfrm>
              <a:off x="5767297" y="1738638"/>
              <a:ext cx="2759075" cy="1231105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23" descr="宽上对角线"/>
            <p:cNvSpPr>
              <a:spLocks/>
            </p:cNvSpPr>
            <p:nvPr/>
          </p:nvSpPr>
          <p:spPr bwMode="auto">
            <a:xfrm>
              <a:off x="7735810" y="2632400"/>
              <a:ext cx="779463" cy="511175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24" descr="宽上对角线"/>
            <p:cNvSpPr>
              <a:spLocks/>
            </p:cNvSpPr>
            <p:nvPr/>
          </p:nvSpPr>
          <p:spPr bwMode="auto">
            <a:xfrm rot="5400000" flipH="1">
              <a:off x="7088097" y="2486350"/>
              <a:ext cx="631825" cy="736600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25" descr="宽上对角线"/>
            <p:cNvSpPr>
              <a:spLocks/>
            </p:cNvSpPr>
            <p:nvPr/>
          </p:nvSpPr>
          <p:spPr bwMode="auto">
            <a:xfrm rot="5400000" flipH="1">
              <a:off x="6476909" y="2591125"/>
              <a:ext cx="531813" cy="593725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26" descr="宽上对角线"/>
            <p:cNvSpPr>
              <a:spLocks/>
            </p:cNvSpPr>
            <p:nvPr/>
          </p:nvSpPr>
          <p:spPr bwMode="auto">
            <a:xfrm rot="5400000" flipH="1">
              <a:off x="5708559" y="2703838"/>
              <a:ext cx="585788" cy="515938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27" descr="宽上对角线"/>
            <p:cNvSpPr>
              <a:spLocks/>
            </p:cNvSpPr>
            <p:nvPr/>
          </p:nvSpPr>
          <p:spPr bwMode="auto">
            <a:xfrm flipH="1">
              <a:off x="6078447" y="2410150"/>
              <a:ext cx="517525" cy="506413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128" descr="宽上对角线"/>
            <p:cNvSpPr>
              <a:spLocks/>
            </p:cNvSpPr>
            <p:nvPr/>
          </p:nvSpPr>
          <p:spPr bwMode="auto">
            <a:xfrm>
              <a:off x="6107022" y="1748163"/>
              <a:ext cx="777875" cy="538163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129" descr="宽上对角线"/>
            <p:cNvSpPr>
              <a:spLocks/>
            </p:cNvSpPr>
            <p:nvPr/>
          </p:nvSpPr>
          <p:spPr bwMode="auto">
            <a:xfrm>
              <a:off x="8023134" y="1738638"/>
              <a:ext cx="496888" cy="500063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30" descr="宽上对角线"/>
            <p:cNvSpPr>
              <a:spLocks/>
            </p:cNvSpPr>
            <p:nvPr/>
          </p:nvSpPr>
          <p:spPr bwMode="auto">
            <a:xfrm>
              <a:off x="6467384" y="2251400"/>
              <a:ext cx="569913" cy="392113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31" descr="宽上对角线"/>
            <p:cNvSpPr>
              <a:spLocks/>
            </p:cNvSpPr>
            <p:nvPr/>
          </p:nvSpPr>
          <p:spPr bwMode="auto">
            <a:xfrm rot="846441" flipV="1">
              <a:off x="7154772" y="2148213"/>
              <a:ext cx="439738" cy="428625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32" descr="宽上对角线"/>
            <p:cNvSpPr>
              <a:spLocks/>
            </p:cNvSpPr>
            <p:nvPr/>
          </p:nvSpPr>
          <p:spPr bwMode="auto">
            <a:xfrm rot="16200000" flipH="1" flipV="1">
              <a:off x="6811872" y="1810075"/>
              <a:ext cx="584200" cy="515938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33" descr="宽上对角线"/>
            <p:cNvSpPr>
              <a:spLocks/>
            </p:cNvSpPr>
            <p:nvPr/>
          </p:nvSpPr>
          <p:spPr bwMode="auto">
            <a:xfrm rot="16200000" flipH="1" flipV="1">
              <a:off x="7513547" y="1911675"/>
              <a:ext cx="531813" cy="593725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34" descr="宽上对角线"/>
            <p:cNvSpPr>
              <a:spLocks/>
            </p:cNvSpPr>
            <p:nvPr/>
          </p:nvSpPr>
          <p:spPr bwMode="auto">
            <a:xfrm flipH="1" flipV="1">
              <a:off x="5778409" y="1945013"/>
              <a:ext cx="339725" cy="735013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35" descr="宽上对角线"/>
            <p:cNvSpPr>
              <a:spLocks/>
            </p:cNvSpPr>
            <p:nvPr/>
          </p:nvSpPr>
          <p:spPr bwMode="auto">
            <a:xfrm flipV="1">
              <a:off x="8110447" y="2229175"/>
              <a:ext cx="387350" cy="434975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7" name="Group 136"/>
            <p:cNvGrpSpPr>
              <a:grpSpLocks/>
            </p:cNvGrpSpPr>
            <p:nvPr/>
          </p:nvGrpSpPr>
          <p:grpSpPr bwMode="auto">
            <a:xfrm>
              <a:off x="5764122" y="1327475"/>
              <a:ext cx="2673350" cy="319088"/>
              <a:chOff x="3768" y="808"/>
              <a:chExt cx="1409" cy="314"/>
            </a:xfrm>
          </p:grpSpPr>
          <p:sp>
            <p:nvSpPr>
              <p:cNvPr id="162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3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4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5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6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7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8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9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0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1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148" name="Text Box 147"/>
            <p:cNvSpPr txBox="1">
              <a:spLocks noChangeArrowheads="1"/>
            </p:cNvSpPr>
            <p:nvPr/>
          </p:nvSpPr>
          <p:spPr bwMode="auto">
            <a:xfrm>
              <a:off x="5783172" y="854400"/>
              <a:ext cx="26368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外荷载  总应力 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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</a:p>
          </p:txBody>
        </p:sp>
        <p:sp>
          <p:nvSpPr>
            <p:cNvPr id="104" name="Rectangle 109"/>
            <p:cNvSpPr>
              <a:spLocks noChangeArrowheads="1"/>
            </p:cNvSpPr>
            <p:nvPr/>
          </p:nvSpPr>
          <p:spPr bwMode="auto">
            <a:xfrm>
              <a:off x="5582380" y="2958635"/>
              <a:ext cx="3076574" cy="1338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Text Box 159"/>
            <p:cNvSpPr txBox="1">
              <a:spLocks noChangeArrowheads="1"/>
            </p:cNvSpPr>
            <p:nvPr/>
          </p:nvSpPr>
          <p:spPr bwMode="auto">
            <a:xfrm>
              <a:off x="5406934" y="2680025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161" name="Text Box 160"/>
            <p:cNvSpPr txBox="1">
              <a:spLocks noChangeArrowheads="1"/>
            </p:cNvSpPr>
            <p:nvPr/>
          </p:nvSpPr>
          <p:spPr bwMode="auto">
            <a:xfrm>
              <a:off x="8570822" y="2692725"/>
              <a:ext cx="319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>
              <a:off x="5767297" y="2953870"/>
              <a:ext cx="2759075" cy="0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6" name="Text Box 162"/>
            <p:cNvSpPr txBox="1">
              <a:spLocks noChangeArrowheads="1"/>
            </p:cNvSpPr>
            <p:nvPr/>
          </p:nvSpPr>
          <p:spPr bwMode="auto">
            <a:xfrm>
              <a:off x="7395280" y="3113413"/>
              <a:ext cx="54373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</a:rPr>
                <a:t>sv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12" name="Line 166"/>
            <p:cNvSpPr>
              <a:spLocks noChangeShapeType="1"/>
            </p:cNvSpPr>
            <p:nvPr/>
          </p:nvSpPr>
          <p:spPr bwMode="auto">
            <a:xfrm flipH="1">
              <a:off x="7104764" y="3417419"/>
              <a:ext cx="257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70"/>
            <p:cNvSpPr>
              <a:spLocks noChangeShapeType="1"/>
            </p:cNvSpPr>
            <p:nvPr/>
          </p:nvSpPr>
          <p:spPr bwMode="auto">
            <a:xfrm rot="10800000" flipH="1">
              <a:off x="7100797" y="2957042"/>
              <a:ext cx="246858" cy="4556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71"/>
            <p:cNvSpPr>
              <a:spLocks noChangeShapeType="1"/>
            </p:cNvSpPr>
            <p:nvPr/>
          </p:nvSpPr>
          <p:spPr bwMode="auto">
            <a:xfrm flipV="1">
              <a:off x="7369084" y="2976716"/>
              <a:ext cx="4763" cy="444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173"/>
            <p:cNvSpPr txBox="1">
              <a:spLocks noChangeArrowheads="1"/>
            </p:cNvSpPr>
            <p:nvPr/>
          </p:nvSpPr>
          <p:spPr bwMode="auto">
            <a:xfrm>
              <a:off x="6765040" y="3322169"/>
              <a:ext cx="4523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</a:rPr>
                <a:t>s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 flipH="1">
              <a:off x="6188778" y="2908625"/>
              <a:ext cx="70644" cy="23891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1" name="Text Box 173"/>
            <p:cNvSpPr txBox="1">
              <a:spLocks noChangeArrowheads="1"/>
            </p:cNvSpPr>
            <p:nvPr/>
          </p:nvSpPr>
          <p:spPr bwMode="auto">
            <a:xfrm>
              <a:off x="5552734" y="3138948"/>
              <a:ext cx="97494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孔压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u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54980"/>
              </p:ext>
            </p:extLst>
          </p:nvPr>
        </p:nvGraphicFramePr>
        <p:xfrm>
          <a:off x="2827338" y="2387600"/>
          <a:ext cx="23145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030" name="Equation" r:id="rId4" imgW="1307880" imgH="253800" progId="Equation.DSMT4">
                  <p:embed/>
                </p:oleObj>
              </mc:Choice>
              <mc:Fallback>
                <p:oleObj name="Equation" r:id="rId4" imgW="1307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27338" y="2387600"/>
                        <a:ext cx="2314575" cy="44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" name="对象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844811"/>
              </p:ext>
            </p:extLst>
          </p:nvPr>
        </p:nvGraphicFramePr>
        <p:xfrm>
          <a:off x="325438" y="3576638"/>
          <a:ext cx="45180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031" name="Equation" r:id="rId6" imgW="2552400" imgH="469800" progId="Equation.DSMT4">
                  <p:embed/>
                </p:oleObj>
              </mc:Choice>
              <mc:Fallback>
                <p:oleObj name="Equation" r:id="rId6" imgW="25524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5438" y="3576638"/>
                        <a:ext cx="4518025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" name="Rectangle 184"/>
          <p:cNvSpPr>
            <a:spLocks noChangeArrowheads="1"/>
          </p:cNvSpPr>
          <p:nvPr/>
        </p:nvSpPr>
        <p:spPr bwMode="auto">
          <a:xfrm>
            <a:off x="273050" y="2368809"/>
            <a:ext cx="26548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a-a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断面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竖向力平衡：</a:t>
            </a:r>
          </a:p>
        </p:txBody>
      </p:sp>
      <p:sp>
        <p:nvSpPr>
          <p:cNvPr id="181" name="Text Box 189"/>
          <p:cNvSpPr txBox="1">
            <a:spLocks noChangeArrowheads="1"/>
          </p:cNvSpPr>
          <p:nvPr/>
        </p:nvSpPr>
        <p:spPr bwMode="auto">
          <a:xfrm>
            <a:off x="2015167" y="4591243"/>
            <a:ext cx="24545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有效应力</a:t>
            </a:r>
            <a:r>
              <a:rPr kumimoji="1" lang="en-US" altLang="zh-CN" sz="2200" b="1" i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σ</a:t>
            </a:r>
            <a:r>
              <a:rPr kumimoji="1" lang="en-US" altLang="zh-CN" sz="22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</a:t>
            </a:r>
            <a:endParaRPr kumimoji="1" lang="en-US" altLang="zh-CN" sz="2200" b="1" dirty="0" smtClean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土颗粒的平均应力</a:t>
            </a:r>
            <a:endParaRPr kumimoji="1" lang="zh-CN" altLang="en-US" sz="2200" b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82" name="Freeform 190"/>
          <p:cNvSpPr>
            <a:spLocks/>
          </p:cNvSpPr>
          <p:nvPr/>
        </p:nvSpPr>
        <p:spPr bwMode="auto">
          <a:xfrm>
            <a:off x="1588129" y="4467418"/>
            <a:ext cx="427038" cy="35242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3" name="Group 191"/>
          <p:cNvGrpSpPr>
            <a:grpSpLocks/>
          </p:cNvGrpSpPr>
          <p:nvPr/>
        </p:nvGrpSpPr>
        <p:grpSpPr bwMode="auto">
          <a:xfrm>
            <a:off x="2627869" y="3153395"/>
            <a:ext cx="993776" cy="461963"/>
            <a:chOff x="1692" y="2389"/>
            <a:chExt cx="626" cy="291"/>
          </a:xfrm>
        </p:grpSpPr>
        <p:sp>
          <p:nvSpPr>
            <p:cNvPr id="184" name="Freeform 192"/>
            <p:cNvSpPr>
              <a:spLocks/>
            </p:cNvSpPr>
            <p:nvPr/>
          </p:nvSpPr>
          <p:spPr bwMode="auto">
            <a:xfrm flipV="1">
              <a:off x="1692" y="2543"/>
              <a:ext cx="269" cy="117"/>
            </a:xfrm>
            <a:custGeom>
              <a:avLst/>
              <a:gdLst>
                <a:gd name="T0" fmla="*/ 0 w 682"/>
                <a:gd name="T1" fmla="*/ 0 h 278"/>
                <a:gd name="T2" fmla="*/ 0 w 682"/>
                <a:gd name="T3" fmla="*/ 278 h 278"/>
                <a:gd name="T4" fmla="*/ 682 w 682"/>
                <a:gd name="T5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2" h="278">
                  <a:moveTo>
                    <a:pt x="0" y="0"/>
                  </a:moveTo>
                  <a:lnTo>
                    <a:pt x="0" y="278"/>
                  </a:lnTo>
                  <a:lnTo>
                    <a:pt x="682" y="278"/>
                  </a:lnTo>
                </a:path>
              </a:pathLst>
            </a:custGeom>
            <a:noFill/>
            <a:ln w="38100" cmpd="sng">
              <a:solidFill>
                <a:srgbClr val="006600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Text Box 193"/>
            <p:cNvSpPr txBox="1">
              <a:spLocks noChangeArrowheads="1"/>
            </p:cNvSpPr>
            <p:nvPr/>
          </p:nvSpPr>
          <p:spPr bwMode="auto">
            <a:xfrm>
              <a:off x="1935" y="2389"/>
              <a:ext cx="3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kumimoji="1" lang="en-US" altLang="zh-CN" sz="2400" b="1" i="1" dirty="0" smtClean="0">
                  <a:solidFill>
                    <a:srgbClr val="006600"/>
                  </a:solidFill>
                  <a:ea typeface="幼圆" pitchFamily="49" charset="-122"/>
                  <a:sym typeface="Symbol" pitchFamily="18" charset="2"/>
                </a:rPr>
                <a:t>n</a:t>
              </a:r>
              <a:endParaRPr kumimoji="1" lang="en-US" altLang="zh-CN" sz="2400" b="1" i="1" dirty="0">
                <a:solidFill>
                  <a:srgbClr val="006600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86" name="AutoShape 195"/>
          <p:cNvSpPr>
            <a:spLocks noChangeArrowheads="1"/>
          </p:cNvSpPr>
          <p:nvPr/>
        </p:nvSpPr>
        <p:spPr bwMode="auto">
          <a:xfrm>
            <a:off x="5060710" y="4493020"/>
            <a:ext cx="685800" cy="485775"/>
          </a:xfrm>
          <a:prstGeom prst="homePlate">
            <a:avLst>
              <a:gd name="adj" fmla="val 35294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27240" y="910031"/>
            <a:ext cx="4130485" cy="1173163"/>
            <a:chOff x="527240" y="910031"/>
            <a:chExt cx="4130485" cy="1173163"/>
          </a:xfrm>
        </p:grpSpPr>
        <p:grpSp>
          <p:nvGrpSpPr>
            <p:cNvPr id="155" name="Group 175"/>
            <p:cNvGrpSpPr>
              <a:grpSpLocks/>
            </p:cNvGrpSpPr>
            <p:nvPr/>
          </p:nvGrpSpPr>
          <p:grpSpPr bwMode="auto">
            <a:xfrm>
              <a:off x="527240" y="910031"/>
              <a:ext cx="2284414" cy="1173163"/>
              <a:chOff x="262" y="594"/>
              <a:chExt cx="1439" cy="739"/>
            </a:xfrm>
          </p:grpSpPr>
          <p:sp>
            <p:nvSpPr>
              <p:cNvPr id="156" name="Text Box 176"/>
              <p:cNvSpPr txBox="1">
                <a:spLocks noChangeArrowheads="1"/>
              </p:cNvSpPr>
              <p:nvPr/>
            </p:nvSpPr>
            <p:spPr bwMode="auto">
              <a:xfrm>
                <a:off x="263" y="595"/>
                <a:ext cx="28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：</a:t>
                </a:r>
              </a:p>
            </p:txBody>
          </p:sp>
          <p:sp>
            <p:nvSpPr>
              <p:cNvPr id="157" name="Text Box 177"/>
              <p:cNvSpPr txBox="1">
                <a:spLocks noChangeArrowheads="1"/>
              </p:cNvSpPr>
              <p:nvPr/>
            </p:nvSpPr>
            <p:spPr bwMode="auto">
              <a:xfrm>
                <a:off x="275" y="1139"/>
                <a:ext cx="33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r>
                  <a:rPr kumimoji="1" lang="en-US" altLang="zh-CN" sz="20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w</a:t>
                </a: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：</a:t>
                </a:r>
              </a:p>
            </p:txBody>
          </p:sp>
          <p:sp>
            <p:nvSpPr>
              <p:cNvPr id="158" name="Text Box 178"/>
              <p:cNvSpPr txBox="1">
                <a:spLocks noChangeArrowheads="1"/>
              </p:cNvSpPr>
              <p:nvPr/>
            </p:nvSpPr>
            <p:spPr bwMode="auto">
              <a:xfrm>
                <a:off x="262" y="862"/>
                <a:ext cx="32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r>
                  <a:rPr kumimoji="1" lang="en-US" altLang="zh-CN" sz="20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s</a:t>
                </a: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：</a:t>
                </a:r>
              </a:p>
            </p:txBody>
          </p:sp>
          <p:sp>
            <p:nvSpPr>
              <p:cNvPr id="159" name="Text Box 179"/>
              <p:cNvSpPr txBox="1">
                <a:spLocks noChangeArrowheads="1"/>
              </p:cNvSpPr>
              <p:nvPr/>
            </p:nvSpPr>
            <p:spPr bwMode="auto">
              <a:xfrm>
                <a:off x="543" y="594"/>
                <a:ext cx="11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土单元的断面积</a:t>
                </a:r>
              </a:p>
            </p:txBody>
          </p:sp>
          <p:sp>
            <p:nvSpPr>
              <p:cNvPr id="172" name="Text Box 180"/>
              <p:cNvSpPr txBox="1">
                <a:spLocks noChangeArrowheads="1"/>
              </p:cNvSpPr>
              <p:nvPr/>
            </p:nvSpPr>
            <p:spPr bwMode="auto">
              <a:xfrm>
                <a:off x="563" y="867"/>
                <a:ext cx="1138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颗粒截面的</a:t>
                </a: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面积</a:t>
                </a:r>
              </a:p>
            </p:txBody>
          </p:sp>
          <p:sp>
            <p:nvSpPr>
              <p:cNvPr id="173" name="Text Box 181"/>
              <p:cNvSpPr txBox="1">
                <a:spLocks noChangeArrowheads="1"/>
              </p:cNvSpPr>
              <p:nvPr/>
            </p:nvSpPr>
            <p:spPr bwMode="auto">
              <a:xfrm>
                <a:off x="560" y="1139"/>
                <a:ext cx="112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孔隙水的断面积</a:t>
                </a:r>
              </a:p>
            </p:txBody>
          </p:sp>
        </p:grpSp>
        <p:sp>
          <p:nvSpPr>
            <p:cNvPr id="178" name="AutoShape 186"/>
            <p:cNvSpPr>
              <a:spLocks/>
            </p:cNvSpPr>
            <p:nvPr/>
          </p:nvSpPr>
          <p:spPr bwMode="auto">
            <a:xfrm>
              <a:off x="2950717" y="1028700"/>
              <a:ext cx="183008" cy="952500"/>
            </a:xfrm>
            <a:prstGeom prst="rightBrace">
              <a:avLst>
                <a:gd name="adj1" fmla="val 52286"/>
                <a:gd name="adj2" fmla="val 50000"/>
              </a:avLst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7" name="对象 1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4948129"/>
                </p:ext>
              </p:extLst>
            </p:nvPr>
          </p:nvGraphicFramePr>
          <p:xfrm>
            <a:off x="3265488" y="1344613"/>
            <a:ext cx="1392237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5032" name="Equation" r:id="rId8" imgW="787320" imgH="228600" progId="Equation.DSMT4">
                    <p:embed/>
                  </p:oleObj>
                </mc:Choice>
                <mc:Fallback>
                  <p:oleObj name="Equation" r:id="rId8" imgW="787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265488" y="1344613"/>
                          <a:ext cx="1392237" cy="4048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" name="对象 1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32405"/>
              </p:ext>
            </p:extLst>
          </p:nvPr>
        </p:nvGraphicFramePr>
        <p:xfrm>
          <a:off x="5792788" y="4501820"/>
          <a:ext cx="2709432" cy="44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033" name="Equation" r:id="rId10" imgW="1231560" imgH="203040" progId="Equation.DSMT4">
                  <p:embed/>
                </p:oleObj>
              </mc:Choice>
              <mc:Fallback>
                <p:oleObj name="Equation" r:id="rId10" imgW="1231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92788" y="4501820"/>
                        <a:ext cx="2709432" cy="446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 Box 53"/>
          <p:cNvSpPr txBox="1">
            <a:spLocks noChangeArrowheads="1"/>
          </p:cNvSpPr>
          <p:nvPr/>
        </p:nvSpPr>
        <p:spPr bwMode="auto">
          <a:xfrm>
            <a:off x="1764959" y="5758461"/>
            <a:ext cx="67226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课堂讨论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：有效应力原理的不同形式</a:t>
            </a:r>
            <a:endParaRPr lang="en-US" altLang="zh-CN" sz="32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0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08195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53" grpId="0" animBg="1"/>
      <p:bldP spid="154" grpId="0" animBg="1"/>
      <p:bldP spid="176" grpId="0" build="p" autoUpdateAnimBg="0"/>
      <p:bldP spid="181" grpId="0"/>
      <p:bldP spid="182" grpId="0" animBg="1"/>
      <p:bldP spid="18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6853" y="776520"/>
            <a:ext cx="2507149" cy="2131251"/>
            <a:chOff x="760441" y="1513577"/>
            <a:chExt cx="2507149" cy="2131251"/>
          </a:xfrm>
        </p:grpSpPr>
        <p:sp>
          <p:nvSpPr>
            <p:cNvPr id="42" name="Rectangle 109"/>
            <p:cNvSpPr>
              <a:spLocks noChangeArrowheads="1"/>
            </p:cNvSpPr>
            <p:nvPr/>
          </p:nvSpPr>
          <p:spPr bwMode="auto">
            <a:xfrm>
              <a:off x="760441" y="1513577"/>
              <a:ext cx="2507149" cy="21312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111"/>
            <p:cNvSpPr>
              <a:spLocks noChangeArrowheads="1"/>
            </p:cNvSpPr>
            <p:nvPr/>
          </p:nvSpPr>
          <p:spPr bwMode="auto">
            <a:xfrm>
              <a:off x="1019020" y="1812025"/>
              <a:ext cx="1979772" cy="1743956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112"/>
            <p:cNvSpPr>
              <a:spLocks/>
            </p:cNvSpPr>
            <p:nvPr/>
          </p:nvSpPr>
          <p:spPr bwMode="auto">
            <a:xfrm rot="5400000">
              <a:off x="1683129" y="2260822"/>
              <a:ext cx="1205163" cy="1126579"/>
            </a:xfrm>
            <a:custGeom>
              <a:avLst/>
              <a:gdLst>
                <a:gd name="T0" fmla="*/ 668 w 851"/>
                <a:gd name="T1" fmla="*/ 1031 h 1059"/>
                <a:gd name="T2" fmla="*/ 600 w 851"/>
                <a:gd name="T3" fmla="*/ 942 h 1059"/>
                <a:gd name="T4" fmla="*/ 505 w 851"/>
                <a:gd name="T5" fmla="*/ 901 h 1059"/>
                <a:gd name="T6" fmla="*/ 441 w 851"/>
                <a:gd name="T7" fmla="*/ 723 h 1059"/>
                <a:gd name="T8" fmla="*/ 360 w 851"/>
                <a:gd name="T9" fmla="*/ 572 h 1059"/>
                <a:gd name="T10" fmla="*/ 219 w 851"/>
                <a:gd name="T11" fmla="*/ 410 h 1059"/>
                <a:gd name="T12" fmla="*/ 128 w 851"/>
                <a:gd name="T13" fmla="*/ 384 h 1059"/>
                <a:gd name="T14" fmla="*/ 15 w 851"/>
                <a:gd name="T15" fmla="*/ 363 h 1059"/>
                <a:gd name="T16" fmla="*/ 38 w 851"/>
                <a:gd name="T17" fmla="*/ 290 h 1059"/>
                <a:gd name="T18" fmla="*/ 42 w 851"/>
                <a:gd name="T19" fmla="*/ 223 h 1059"/>
                <a:gd name="T20" fmla="*/ 38 w 851"/>
                <a:gd name="T21" fmla="*/ 155 h 1059"/>
                <a:gd name="T22" fmla="*/ 6 w 851"/>
                <a:gd name="T23" fmla="*/ 87 h 1059"/>
                <a:gd name="T24" fmla="*/ 79 w 851"/>
                <a:gd name="T25" fmla="*/ 61 h 1059"/>
                <a:gd name="T26" fmla="*/ 292 w 851"/>
                <a:gd name="T27" fmla="*/ 40 h 1059"/>
                <a:gd name="T28" fmla="*/ 500 w 851"/>
                <a:gd name="T29" fmla="*/ 9 h 1059"/>
                <a:gd name="T30" fmla="*/ 595 w 851"/>
                <a:gd name="T31" fmla="*/ 3 h 1059"/>
                <a:gd name="T32" fmla="*/ 641 w 851"/>
                <a:gd name="T33" fmla="*/ 30 h 1059"/>
                <a:gd name="T34" fmla="*/ 654 w 851"/>
                <a:gd name="T35" fmla="*/ 71 h 1059"/>
                <a:gd name="T36" fmla="*/ 661 w 851"/>
                <a:gd name="T37" fmla="*/ 135 h 1059"/>
                <a:gd name="T38" fmla="*/ 703 w 851"/>
                <a:gd name="T39" fmla="*/ 199 h 1059"/>
                <a:gd name="T40" fmla="*/ 805 w 851"/>
                <a:gd name="T41" fmla="*/ 253 h 1059"/>
                <a:gd name="T42" fmla="*/ 844 w 851"/>
                <a:gd name="T43" fmla="*/ 327 h 1059"/>
                <a:gd name="T44" fmla="*/ 763 w 851"/>
                <a:gd name="T45" fmla="*/ 770 h 1059"/>
                <a:gd name="T46" fmla="*/ 668 w 851"/>
                <a:gd name="T47" fmla="*/ 1031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1" h="1059">
                  <a:moveTo>
                    <a:pt x="668" y="1031"/>
                  </a:moveTo>
                  <a:cubicBezTo>
                    <a:pt x="641" y="1059"/>
                    <a:pt x="627" y="963"/>
                    <a:pt x="600" y="942"/>
                  </a:cubicBezTo>
                  <a:cubicBezTo>
                    <a:pt x="573" y="922"/>
                    <a:pt x="530" y="937"/>
                    <a:pt x="505" y="901"/>
                  </a:cubicBezTo>
                  <a:cubicBezTo>
                    <a:pt x="479" y="864"/>
                    <a:pt x="465" y="777"/>
                    <a:pt x="441" y="723"/>
                  </a:cubicBezTo>
                  <a:cubicBezTo>
                    <a:pt x="417" y="669"/>
                    <a:pt x="396" y="624"/>
                    <a:pt x="360" y="572"/>
                  </a:cubicBezTo>
                  <a:cubicBezTo>
                    <a:pt x="323" y="520"/>
                    <a:pt x="257" y="442"/>
                    <a:pt x="219" y="410"/>
                  </a:cubicBezTo>
                  <a:cubicBezTo>
                    <a:pt x="181" y="379"/>
                    <a:pt x="162" y="391"/>
                    <a:pt x="128" y="384"/>
                  </a:cubicBezTo>
                  <a:cubicBezTo>
                    <a:pt x="95" y="377"/>
                    <a:pt x="30" y="379"/>
                    <a:pt x="15" y="363"/>
                  </a:cubicBezTo>
                  <a:cubicBezTo>
                    <a:pt x="0" y="348"/>
                    <a:pt x="33" y="313"/>
                    <a:pt x="38" y="290"/>
                  </a:cubicBezTo>
                  <a:cubicBezTo>
                    <a:pt x="42" y="268"/>
                    <a:pt x="42" y="245"/>
                    <a:pt x="42" y="223"/>
                  </a:cubicBezTo>
                  <a:cubicBezTo>
                    <a:pt x="42" y="200"/>
                    <a:pt x="44" y="177"/>
                    <a:pt x="38" y="155"/>
                  </a:cubicBezTo>
                  <a:cubicBezTo>
                    <a:pt x="32" y="132"/>
                    <a:pt x="0" y="103"/>
                    <a:pt x="6" y="87"/>
                  </a:cubicBezTo>
                  <a:cubicBezTo>
                    <a:pt x="12" y="71"/>
                    <a:pt x="32" y="68"/>
                    <a:pt x="79" y="61"/>
                  </a:cubicBezTo>
                  <a:cubicBezTo>
                    <a:pt x="125" y="54"/>
                    <a:pt x="222" y="49"/>
                    <a:pt x="292" y="40"/>
                  </a:cubicBezTo>
                  <a:cubicBezTo>
                    <a:pt x="361" y="31"/>
                    <a:pt x="450" y="14"/>
                    <a:pt x="500" y="9"/>
                  </a:cubicBezTo>
                  <a:cubicBezTo>
                    <a:pt x="550" y="3"/>
                    <a:pt x="571" y="0"/>
                    <a:pt x="595" y="3"/>
                  </a:cubicBezTo>
                  <a:cubicBezTo>
                    <a:pt x="620" y="7"/>
                    <a:pt x="632" y="19"/>
                    <a:pt x="641" y="30"/>
                  </a:cubicBezTo>
                  <a:cubicBezTo>
                    <a:pt x="650" y="40"/>
                    <a:pt x="651" y="54"/>
                    <a:pt x="654" y="71"/>
                  </a:cubicBezTo>
                  <a:cubicBezTo>
                    <a:pt x="657" y="88"/>
                    <a:pt x="653" y="114"/>
                    <a:pt x="661" y="135"/>
                  </a:cubicBezTo>
                  <a:cubicBezTo>
                    <a:pt x="669" y="156"/>
                    <a:pt x="679" y="179"/>
                    <a:pt x="703" y="199"/>
                  </a:cubicBezTo>
                  <a:cubicBezTo>
                    <a:pt x="727" y="219"/>
                    <a:pt x="782" y="232"/>
                    <a:pt x="805" y="253"/>
                  </a:cubicBezTo>
                  <a:cubicBezTo>
                    <a:pt x="828" y="274"/>
                    <a:pt x="851" y="241"/>
                    <a:pt x="844" y="327"/>
                  </a:cubicBezTo>
                  <a:cubicBezTo>
                    <a:pt x="837" y="413"/>
                    <a:pt x="792" y="653"/>
                    <a:pt x="763" y="770"/>
                  </a:cubicBezTo>
                  <a:cubicBezTo>
                    <a:pt x="734" y="887"/>
                    <a:pt x="695" y="1003"/>
                    <a:pt x="668" y="1031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113" descr="宽上对角线"/>
            <p:cNvSpPr>
              <a:spLocks/>
            </p:cNvSpPr>
            <p:nvPr/>
          </p:nvSpPr>
          <p:spPr bwMode="auto">
            <a:xfrm>
              <a:off x="1296962" y="3155019"/>
              <a:ext cx="558163" cy="399823"/>
            </a:xfrm>
            <a:custGeom>
              <a:avLst/>
              <a:gdLst>
                <a:gd name="T0" fmla="*/ 3 w 490"/>
                <a:gd name="T1" fmla="*/ 113 h 264"/>
                <a:gd name="T2" fmla="*/ 31 w 490"/>
                <a:gd name="T3" fmla="*/ 49 h 264"/>
                <a:gd name="T4" fmla="*/ 107 w 490"/>
                <a:gd name="T5" fmla="*/ 36 h 264"/>
                <a:gd name="T6" fmla="*/ 175 w 490"/>
                <a:gd name="T7" fmla="*/ 1 h 264"/>
                <a:gd name="T8" fmla="*/ 278 w 490"/>
                <a:gd name="T9" fmla="*/ 40 h 264"/>
                <a:gd name="T10" fmla="*/ 344 w 490"/>
                <a:gd name="T11" fmla="*/ 40 h 264"/>
                <a:gd name="T12" fmla="*/ 441 w 490"/>
                <a:gd name="T13" fmla="*/ 29 h 264"/>
                <a:gd name="T14" fmla="*/ 478 w 490"/>
                <a:gd name="T15" fmla="*/ 63 h 264"/>
                <a:gd name="T16" fmla="*/ 478 w 490"/>
                <a:gd name="T17" fmla="*/ 142 h 264"/>
                <a:gd name="T18" fmla="*/ 409 w 490"/>
                <a:gd name="T19" fmla="*/ 220 h 264"/>
                <a:gd name="T20" fmla="*/ 300 w 490"/>
                <a:gd name="T21" fmla="*/ 260 h 264"/>
                <a:gd name="T22" fmla="*/ 175 w 490"/>
                <a:gd name="T23" fmla="*/ 243 h 264"/>
                <a:gd name="T24" fmla="*/ 50 w 490"/>
                <a:gd name="T25" fmla="*/ 198 h 264"/>
                <a:gd name="T26" fmla="*/ 3 w 490"/>
                <a:gd name="T27" fmla="*/ 113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64">
                  <a:moveTo>
                    <a:pt x="3" y="113"/>
                  </a:moveTo>
                  <a:cubicBezTo>
                    <a:pt x="0" y="88"/>
                    <a:pt x="14" y="62"/>
                    <a:pt x="31" y="49"/>
                  </a:cubicBezTo>
                  <a:cubicBezTo>
                    <a:pt x="48" y="36"/>
                    <a:pt x="83" y="44"/>
                    <a:pt x="107" y="36"/>
                  </a:cubicBezTo>
                  <a:cubicBezTo>
                    <a:pt x="131" y="28"/>
                    <a:pt x="147" y="0"/>
                    <a:pt x="175" y="1"/>
                  </a:cubicBezTo>
                  <a:cubicBezTo>
                    <a:pt x="203" y="2"/>
                    <a:pt x="250" y="33"/>
                    <a:pt x="278" y="40"/>
                  </a:cubicBezTo>
                  <a:cubicBezTo>
                    <a:pt x="306" y="47"/>
                    <a:pt x="316" y="42"/>
                    <a:pt x="344" y="40"/>
                  </a:cubicBezTo>
                  <a:cubicBezTo>
                    <a:pt x="371" y="39"/>
                    <a:pt x="418" y="25"/>
                    <a:pt x="441" y="29"/>
                  </a:cubicBezTo>
                  <a:cubicBezTo>
                    <a:pt x="463" y="33"/>
                    <a:pt x="472" y="44"/>
                    <a:pt x="478" y="63"/>
                  </a:cubicBezTo>
                  <a:cubicBezTo>
                    <a:pt x="485" y="81"/>
                    <a:pt x="490" y="115"/>
                    <a:pt x="478" y="142"/>
                  </a:cubicBezTo>
                  <a:cubicBezTo>
                    <a:pt x="467" y="168"/>
                    <a:pt x="439" y="201"/>
                    <a:pt x="409" y="220"/>
                  </a:cubicBezTo>
                  <a:cubicBezTo>
                    <a:pt x="380" y="240"/>
                    <a:pt x="339" y="256"/>
                    <a:pt x="300" y="260"/>
                  </a:cubicBezTo>
                  <a:cubicBezTo>
                    <a:pt x="261" y="264"/>
                    <a:pt x="216" y="253"/>
                    <a:pt x="175" y="243"/>
                  </a:cubicBezTo>
                  <a:cubicBezTo>
                    <a:pt x="133" y="233"/>
                    <a:pt x="80" y="218"/>
                    <a:pt x="50" y="198"/>
                  </a:cubicBezTo>
                  <a:cubicBezTo>
                    <a:pt x="20" y="178"/>
                    <a:pt x="7" y="149"/>
                    <a:pt x="3" y="11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114" descr="宽上对角线"/>
            <p:cNvSpPr>
              <a:spLocks/>
            </p:cNvSpPr>
            <p:nvPr/>
          </p:nvSpPr>
          <p:spPr bwMode="auto">
            <a:xfrm rot="5400000" flipH="1">
              <a:off x="2583020" y="3144765"/>
              <a:ext cx="453360" cy="356541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115" descr="宽上对角线"/>
            <p:cNvSpPr>
              <a:spLocks/>
            </p:cNvSpPr>
            <p:nvPr/>
          </p:nvSpPr>
          <p:spPr bwMode="auto">
            <a:xfrm rot="1736741">
              <a:off x="1646669" y="2863410"/>
              <a:ext cx="300725" cy="386154"/>
            </a:xfrm>
            <a:custGeom>
              <a:avLst/>
              <a:gdLst>
                <a:gd name="T0" fmla="*/ 282 w 440"/>
                <a:gd name="T1" fmla="*/ 260 h 345"/>
                <a:gd name="T2" fmla="*/ 211 w 440"/>
                <a:gd name="T3" fmla="*/ 317 h 345"/>
                <a:gd name="T4" fmla="*/ 119 w 440"/>
                <a:gd name="T5" fmla="*/ 342 h 345"/>
                <a:gd name="T6" fmla="*/ 27 w 440"/>
                <a:gd name="T7" fmla="*/ 321 h 345"/>
                <a:gd name="T8" fmla="*/ 21 w 440"/>
                <a:gd name="T9" fmla="*/ 198 h 345"/>
                <a:gd name="T10" fmla="*/ 152 w 440"/>
                <a:gd name="T11" fmla="*/ 64 h 345"/>
                <a:gd name="T12" fmla="*/ 341 w 440"/>
                <a:gd name="T13" fmla="*/ 10 h 345"/>
                <a:gd name="T14" fmla="*/ 420 w 440"/>
                <a:gd name="T15" fmla="*/ 10 h 345"/>
                <a:gd name="T16" fmla="*/ 433 w 440"/>
                <a:gd name="T17" fmla="*/ 70 h 345"/>
                <a:gd name="T18" fmla="*/ 378 w 440"/>
                <a:gd name="T19" fmla="*/ 185 h 345"/>
                <a:gd name="T20" fmla="*/ 282 w 440"/>
                <a:gd name="T21" fmla="*/ 26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0" h="345">
                  <a:moveTo>
                    <a:pt x="282" y="260"/>
                  </a:moveTo>
                  <a:cubicBezTo>
                    <a:pt x="254" y="282"/>
                    <a:pt x="238" y="304"/>
                    <a:pt x="211" y="317"/>
                  </a:cubicBezTo>
                  <a:cubicBezTo>
                    <a:pt x="184" y="330"/>
                    <a:pt x="149" y="341"/>
                    <a:pt x="119" y="342"/>
                  </a:cubicBezTo>
                  <a:cubicBezTo>
                    <a:pt x="88" y="343"/>
                    <a:pt x="43" y="345"/>
                    <a:pt x="27" y="321"/>
                  </a:cubicBezTo>
                  <a:cubicBezTo>
                    <a:pt x="11" y="297"/>
                    <a:pt x="0" y="241"/>
                    <a:pt x="21" y="198"/>
                  </a:cubicBezTo>
                  <a:cubicBezTo>
                    <a:pt x="42" y="155"/>
                    <a:pt x="99" y="95"/>
                    <a:pt x="152" y="64"/>
                  </a:cubicBezTo>
                  <a:cubicBezTo>
                    <a:pt x="205" y="33"/>
                    <a:pt x="296" y="19"/>
                    <a:pt x="341" y="10"/>
                  </a:cubicBezTo>
                  <a:cubicBezTo>
                    <a:pt x="386" y="1"/>
                    <a:pt x="404" y="0"/>
                    <a:pt x="420" y="10"/>
                  </a:cubicBezTo>
                  <a:cubicBezTo>
                    <a:pt x="436" y="19"/>
                    <a:pt x="440" y="41"/>
                    <a:pt x="433" y="70"/>
                  </a:cubicBezTo>
                  <a:cubicBezTo>
                    <a:pt x="425" y="100"/>
                    <a:pt x="404" y="154"/>
                    <a:pt x="378" y="185"/>
                  </a:cubicBezTo>
                  <a:cubicBezTo>
                    <a:pt x="352" y="216"/>
                    <a:pt x="310" y="238"/>
                    <a:pt x="282" y="26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116" descr="宽上对角线"/>
            <p:cNvSpPr>
              <a:spLocks/>
            </p:cNvSpPr>
            <p:nvPr/>
          </p:nvSpPr>
          <p:spPr bwMode="auto">
            <a:xfrm>
              <a:off x="1990681" y="2839490"/>
              <a:ext cx="444252" cy="448804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117" descr="宽上对角线"/>
            <p:cNvSpPr>
              <a:spLocks/>
            </p:cNvSpPr>
            <p:nvPr/>
          </p:nvSpPr>
          <p:spPr bwMode="auto">
            <a:xfrm rot="10800000" flipH="1">
              <a:off x="2349500" y="2780257"/>
              <a:ext cx="371350" cy="363372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18" descr="宽上对角线"/>
            <p:cNvSpPr>
              <a:spLocks/>
            </p:cNvSpPr>
            <p:nvPr/>
          </p:nvSpPr>
          <p:spPr bwMode="auto">
            <a:xfrm rot="13016966" flipH="1">
              <a:off x="957508" y="2936312"/>
              <a:ext cx="422610" cy="543349"/>
            </a:xfrm>
            <a:custGeom>
              <a:avLst/>
              <a:gdLst>
                <a:gd name="T0" fmla="*/ 225 w 443"/>
                <a:gd name="T1" fmla="*/ 66 h 310"/>
                <a:gd name="T2" fmla="*/ 77 w 443"/>
                <a:gd name="T3" fmla="*/ 118 h 310"/>
                <a:gd name="T4" fmla="*/ 5 w 443"/>
                <a:gd name="T5" fmla="*/ 194 h 310"/>
                <a:gd name="T6" fmla="*/ 45 w 443"/>
                <a:gd name="T7" fmla="*/ 298 h 310"/>
                <a:gd name="T8" fmla="*/ 157 w 443"/>
                <a:gd name="T9" fmla="*/ 266 h 310"/>
                <a:gd name="T10" fmla="*/ 325 w 443"/>
                <a:gd name="T11" fmla="*/ 206 h 310"/>
                <a:gd name="T12" fmla="*/ 429 w 443"/>
                <a:gd name="T13" fmla="*/ 94 h 310"/>
                <a:gd name="T14" fmla="*/ 409 w 443"/>
                <a:gd name="T15" fmla="*/ 14 h 310"/>
                <a:gd name="T16" fmla="*/ 361 w 443"/>
                <a:gd name="T17" fmla="*/ 10 h 310"/>
                <a:gd name="T18" fmla="*/ 265 w 443"/>
                <a:gd name="T19" fmla="*/ 46 h 310"/>
                <a:gd name="T20" fmla="*/ 225 w 443"/>
                <a:gd name="T21" fmla="*/ 6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310">
                  <a:moveTo>
                    <a:pt x="225" y="66"/>
                  </a:moveTo>
                  <a:cubicBezTo>
                    <a:pt x="194" y="78"/>
                    <a:pt x="114" y="97"/>
                    <a:pt x="77" y="118"/>
                  </a:cubicBezTo>
                  <a:cubicBezTo>
                    <a:pt x="40" y="139"/>
                    <a:pt x="10" y="164"/>
                    <a:pt x="5" y="194"/>
                  </a:cubicBezTo>
                  <a:cubicBezTo>
                    <a:pt x="0" y="224"/>
                    <a:pt x="20" y="286"/>
                    <a:pt x="45" y="298"/>
                  </a:cubicBezTo>
                  <a:cubicBezTo>
                    <a:pt x="70" y="310"/>
                    <a:pt x="110" y="281"/>
                    <a:pt x="157" y="266"/>
                  </a:cubicBezTo>
                  <a:cubicBezTo>
                    <a:pt x="204" y="251"/>
                    <a:pt x="280" y="235"/>
                    <a:pt x="325" y="206"/>
                  </a:cubicBezTo>
                  <a:cubicBezTo>
                    <a:pt x="370" y="177"/>
                    <a:pt x="415" y="126"/>
                    <a:pt x="429" y="94"/>
                  </a:cubicBezTo>
                  <a:cubicBezTo>
                    <a:pt x="443" y="62"/>
                    <a:pt x="420" y="28"/>
                    <a:pt x="409" y="14"/>
                  </a:cubicBezTo>
                  <a:cubicBezTo>
                    <a:pt x="398" y="0"/>
                    <a:pt x="385" y="5"/>
                    <a:pt x="361" y="10"/>
                  </a:cubicBezTo>
                  <a:cubicBezTo>
                    <a:pt x="337" y="15"/>
                    <a:pt x="290" y="34"/>
                    <a:pt x="265" y="46"/>
                  </a:cubicBezTo>
                  <a:cubicBezTo>
                    <a:pt x="240" y="58"/>
                    <a:pt x="256" y="54"/>
                    <a:pt x="225" y="6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9" descr="宽上对角线"/>
            <p:cNvSpPr>
              <a:spLocks/>
            </p:cNvSpPr>
            <p:nvPr/>
          </p:nvSpPr>
          <p:spPr bwMode="auto">
            <a:xfrm rot="5400000" flipH="1">
              <a:off x="1810704" y="3157295"/>
              <a:ext cx="419187" cy="370211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0" descr="宽上对角线"/>
            <p:cNvSpPr>
              <a:spLocks/>
            </p:cNvSpPr>
            <p:nvPr/>
          </p:nvSpPr>
          <p:spPr bwMode="auto">
            <a:xfrm rot="5400000" flipH="1">
              <a:off x="2226478" y="3129956"/>
              <a:ext cx="381597" cy="42602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21" descr="宽上对角线"/>
            <p:cNvSpPr>
              <a:spLocks/>
            </p:cNvSpPr>
            <p:nvPr/>
          </p:nvSpPr>
          <p:spPr bwMode="auto">
            <a:xfrm rot="5400000" flipH="1">
              <a:off x="1283295" y="2800757"/>
              <a:ext cx="324643" cy="396410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22" descr="宽上对角线"/>
            <p:cNvSpPr>
              <a:spLocks/>
            </p:cNvSpPr>
            <p:nvPr/>
          </p:nvSpPr>
          <p:spPr bwMode="auto">
            <a:xfrm>
              <a:off x="2734519" y="2825820"/>
              <a:ext cx="259717" cy="283635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123" descr="宽上对角线"/>
            <p:cNvSpPr>
              <a:spLocks/>
            </p:cNvSpPr>
            <p:nvPr/>
          </p:nvSpPr>
          <p:spPr bwMode="auto">
            <a:xfrm>
              <a:off x="2425820" y="2453336"/>
              <a:ext cx="559303" cy="366789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124" descr="宽上对角线"/>
            <p:cNvSpPr>
              <a:spLocks/>
            </p:cNvSpPr>
            <p:nvPr/>
          </p:nvSpPr>
          <p:spPr bwMode="auto">
            <a:xfrm rot="5400000" flipH="1">
              <a:off x="1966762" y="2348536"/>
              <a:ext cx="453360" cy="528547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125" descr="宽上对角线"/>
            <p:cNvSpPr>
              <a:spLocks/>
            </p:cNvSpPr>
            <p:nvPr/>
          </p:nvSpPr>
          <p:spPr bwMode="auto">
            <a:xfrm rot="5400000" flipH="1">
              <a:off x="1528204" y="2423716"/>
              <a:ext cx="381597" cy="42602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26" descr="宽上对角线"/>
            <p:cNvSpPr>
              <a:spLocks/>
            </p:cNvSpPr>
            <p:nvPr/>
          </p:nvSpPr>
          <p:spPr bwMode="auto">
            <a:xfrm rot="5400000" flipH="1">
              <a:off x="976875" y="2504592"/>
              <a:ext cx="420327" cy="370211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27" descr="宽上对角线"/>
            <p:cNvSpPr>
              <a:spLocks/>
            </p:cNvSpPr>
            <p:nvPr/>
          </p:nvSpPr>
          <p:spPr bwMode="auto">
            <a:xfrm flipH="1">
              <a:off x="1242286" y="2293862"/>
              <a:ext cx="371350" cy="363372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28" descr="宽上对角线"/>
            <p:cNvSpPr>
              <a:spLocks/>
            </p:cNvSpPr>
            <p:nvPr/>
          </p:nvSpPr>
          <p:spPr bwMode="auto">
            <a:xfrm>
              <a:off x="1262789" y="1818860"/>
              <a:ext cx="558163" cy="386154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29" descr="宽上对角线"/>
            <p:cNvSpPr>
              <a:spLocks/>
            </p:cNvSpPr>
            <p:nvPr/>
          </p:nvSpPr>
          <p:spPr bwMode="auto">
            <a:xfrm>
              <a:off x="2637694" y="1812025"/>
              <a:ext cx="356541" cy="358815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130" descr="宽上对角线"/>
            <p:cNvSpPr>
              <a:spLocks/>
            </p:cNvSpPr>
            <p:nvPr/>
          </p:nvSpPr>
          <p:spPr bwMode="auto">
            <a:xfrm>
              <a:off x="1521367" y="2179953"/>
              <a:ext cx="408940" cy="281357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131" descr="宽上对角线"/>
            <p:cNvSpPr>
              <a:spLocks/>
            </p:cNvSpPr>
            <p:nvPr/>
          </p:nvSpPr>
          <p:spPr bwMode="auto">
            <a:xfrm rot="846441" flipV="1">
              <a:off x="2014601" y="2105912"/>
              <a:ext cx="315533" cy="307556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132" descr="宽上对角线"/>
            <p:cNvSpPr>
              <a:spLocks/>
            </p:cNvSpPr>
            <p:nvPr/>
          </p:nvSpPr>
          <p:spPr bwMode="auto">
            <a:xfrm rot="16200000" flipH="1" flipV="1">
              <a:off x="1768557" y="1863282"/>
              <a:ext cx="419187" cy="370211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133" descr="宽上对角线"/>
            <p:cNvSpPr>
              <a:spLocks/>
            </p:cNvSpPr>
            <p:nvPr/>
          </p:nvSpPr>
          <p:spPr bwMode="auto">
            <a:xfrm rot="16200000" flipH="1" flipV="1">
              <a:off x="2272043" y="1936183"/>
              <a:ext cx="381597" cy="42602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134" descr="宽上对角线"/>
            <p:cNvSpPr>
              <a:spLocks/>
            </p:cNvSpPr>
            <p:nvPr/>
          </p:nvSpPr>
          <p:spPr bwMode="auto">
            <a:xfrm flipH="1" flipV="1">
              <a:off x="1026993" y="1960108"/>
              <a:ext cx="243769" cy="527402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135" descr="宽上对角线"/>
            <p:cNvSpPr>
              <a:spLocks/>
            </p:cNvSpPr>
            <p:nvPr/>
          </p:nvSpPr>
          <p:spPr bwMode="auto">
            <a:xfrm flipV="1">
              <a:off x="2700346" y="2164005"/>
              <a:ext cx="277943" cy="312112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9" name="Group 136"/>
            <p:cNvGrpSpPr>
              <a:grpSpLocks/>
            </p:cNvGrpSpPr>
            <p:nvPr/>
          </p:nvGrpSpPr>
          <p:grpSpPr bwMode="auto">
            <a:xfrm>
              <a:off x="1048546" y="1540852"/>
              <a:ext cx="1918260" cy="228959"/>
              <a:chOff x="3768" y="808"/>
              <a:chExt cx="1409" cy="314"/>
            </a:xfrm>
          </p:grpSpPr>
          <p:sp>
            <p:nvSpPr>
              <p:cNvPr id="84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5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6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7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8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89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0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1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2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93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71" name="Freeform 148"/>
            <p:cNvSpPr>
              <a:spLocks/>
            </p:cNvSpPr>
            <p:nvPr/>
          </p:nvSpPr>
          <p:spPr bwMode="auto">
            <a:xfrm>
              <a:off x="1021298" y="2777978"/>
              <a:ext cx="1979772" cy="127579"/>
            </a:xfrm>
            <a:custGeom>
              <a:avLst/>
              <a:gdLst>
                <a:gd name="T0" fmla="*/ 0 w 1738"/>
                <a:gd name="T1" fmla="*/ 67 h 112"/>
                <a:gd name="T2" fmla="*/ 138 w 1738"/>
                <a:gd name="T3" fmla="*/ 107 h 112"/>
                <a:gd name="T4" fmla="*/ 330 w 1738"/>
                <a:gd name="T5" fmla="*/ 97 h 112"/>
                <a:gd name="T6" fmla="*/ 512 w 1738"/>
                <a:gd name="T7" fmla="*/ 46 h 112"/>
                <a:gd name="T8" fmla="*/ 749 w 1738"/>
                <a:gd name="T9" fmla="*/ 62 h 112"/>
                <a:gd name="T10" fmla="*/ 954 w 1738"/>
                <a:gd name="T11" fmla="*/ 54 h 112"/>
                <a:gd name="T12" fmla="*/ 1130 w 1738"/>
                <a:gd name="T13" fmla="*/ 41 h 112"/>
                <a:gd name="T14" fmla="*/ 1318 w 1738"/>
                <a:gd name="T15" fmla="*/ 1 h 112"/>
                <a:gd name="T16" fmla="*/ 1438 w 1738"/>
                <a:gd name="T17" fmla="*/ 33 h 112"/>
                <a:gd name="T18" fmla="*/ 1604 w 1738"/>
                <a:gd name="T19" fmla="*/ 42 h 112"/>
                <a:gd name="T20" fmla="*/ 1738 w 1738"/>
                <a:gd name="T21" fmla="*/ 3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8" h="112">
                  <a:moveTo>
                    <a:pt x="0" y="67"/>
                  </a:moveTo>
                  <a:cubicBezTo>
                    <a:pt x="23" y="74"/>
                    <a:pt x="83" y="102"/>
                    <a:pt x="138" y="107"/>
                  </a:cubicBezTo>
                  <a:cubicBezTo>
                    <a:pt x="193" y="112"/>
                    <a:pt x="268" y="107"/>
                    <a:pt x="330" y="97"/>
                  </a:cubicBezTo>
                  <a:cubicBezTo>
                    <a:pt x="392" y="87"/>
                    <a:pt x="442" y="52"/>
                    <a:pt x="512" y="46"/>
                  </a:cubicBezTo>
                  <a:cubicBezTo>
                    <a:pt x="582" y="40"/>
                    <a:pt x="675" y="61"/>
                    <a:pt x="749" y="62"/>
                  </a:cubicBezTo>
                  <a:cubicBezTo>
                    <a:pt x="823" y="63"/>
                    <a:pt x="891" y="57"/>
                    <a:pt x="954" y="54"/>
                  </a:cubicBezTo>
                  <a:cubicBezTo>
                    <a:pt x="1017" y="51"/>
                    <a:pt x="1069" y="50"/>
                    <a:pt x="1130" y="41"/>
                  </a:cubicBezTo>
                  <a:cubicBezTo>
                    <a:pt x="1191" y="32"/>
                    <a:pt x="1267" y="2"/>
                    <a:pt x="1318" y="1"/>
                  </a:cubicBezTo>
                  <a:cubicBezTo>
                    <a:pt x="1369" y="0"/>
                    <a:pt x="1390" y="26"/>
                    <a:pt x="1438" y="33"/>
                  </a:cubicBezTo>
                  <a:cubicBezTo>
                    <a:pt x="1486" y="40"/>
                    <a:pt x="1554" y="42"/>
                    <a:pt x="1604" y="42"/>
                  </a:cubicBezTo>
                  <a:cubicBezTo>
                    <a:pt x="1654" y="42"/>
                    <a:pt x="1710" y="35"/>
                    <a:pt x="1738" y="33"/>
                  </a:cubicBezTo>
                </a:path>
              </a:pathLst>
            </a:custGeom>
            <a:noFill/>
            <a:ln w="28575" cmpd="sng">
              <a:solidFill>
                <a:srgbClr val="CCFF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49"/>
            <p:cNvSpPr>
              <a:spLocks noChangeShapeType="1"/>
            </p:cNvSpPr>
            <p:nvPr/>
          </p:nvSpPr>
          <p:spPr bwMode="auto">
            <a:xfrm>
              <a:off x="1194443" y="2732415"/>
              <a:ext cx="0" cy="1674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50"/>
            <p:cNvSpPr>
              <a:spLocks noChangeShapeType="1"/>
            </p:cNvSpPr>
            <p:nvPr/>
          </p:nvSpPr>
          <p:spPr bwMode="auto">
            <a:xfrm flipV="1">
              <a:off x="1189887" y="2910113"/>
              <a:ext cx="0" cy="16744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51"/>
            <p:cNvSpPr>
              <a:spLocks noChangeShapeType="1"/>
            </p:cNvSpPr>
            <p:nvPr/>
          </p:nvSpPr>
          <p:spPr bwMode="auto">
            <a:xfrm flipH="1">
              <a:off x="1607939" y="2660651"/>
              <a:ext cx="37591" cy="165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152"/>
            <p:cNvSpPr>
              <a:spLocks noChangeShapeType="1"/>
            </p:cNvSpPr>
            <p:nvPr/>
          </p:nvSpPr>
          <p:spPr bwMode="auto">
            <a:xfrm rot="10800000" flipH="1">
              <a:off x="1569210" y="2845185"/>
              <a:ext cx="37591" cy="165169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53"/>
            <p:cNvSpPr>
              <a:spLocks noChangeShapeType="1"/>
            </p:cNvSpPr>
            <p:nvPr/>
          </p:nvSpPr>
          <p:spPr bwMode="auto">
            <a:xfrm rot="10800000" flipH="1">
              <a:off x="2137626" y="2841768"/>
              <a:ext cx="6835" cy="19250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54"/>
            <p:cNvSpPr>
              <a:spLocks noChangeShapeType="1"/>
            </p:cNvSpPr>
            <p:nvPr/>
          </p:nvSpPr>
          <p:spPr bwMode="auto">
            <a:xfrm flipH="1">
              <a:off x="2145599" y="2635591"/>
              <a:ext cx="6835" cy="19250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55"/>
            <p:cNvSpPr>
              <a:spLocks noChangeShapeType="1"/>
            </p:cNvSpPr>
            <p:nvPr/>
          </p:nvSpPr>
          <p:spPr bwMode="auto">
            <a:xfrm flipH="1">
              <a:off x="2524923" y="2595723"/>
              <a:ext cx="67208" cy="17883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56"/>
            <p:cNvSpPr>
              <a:spLocks noChangeShapeType="1"/>
            </p:cNvSpPr>
            <p:nvPr/>
          </p:nvSpPr>
          <p:spPr bwMode="auto">
            <a:xfrm rot="10800000" flipH="1">
              <a:off x="2461133" y="2783673"/>
              <a:ext cx="67208" cy="178838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57"/>
            <p:cNvSpPr>
              <a:spLocks noChangeShapeType="1"/>
            </p:cNvSpPr>
            <p:nvPr/>
          </p:nvSpPr>
          <p:spPr bwMode="auto">
            <a:xfrm flipH="1">
              <a:off x="2822230" y="2631035"/>
              <a:ext cx="14809" cy="18909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58"/>
            <p:cNvSpPr>
              <a:spLocks noChangeShapeType="1"/>
            </p:cNvSpPr>
            <p:nvPr/>
          </p:nvSpPr>
          <p:spPr bwMode="auto">
            <a:xfrm rot="10800000" flipH="1">
              <a:off x="2813117" y="2837211"/>
              <a:ext cx="14809" cy="18909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159"/>
            <p:cNvSpPr txBox="1">
              <a:spLocks noChangeArrowheads="1"/>
            </p:cNvSpPr>
            <p:nvPr/>
          </p:nvSpPr>
          <p:spPr bwMode="auto">
            <a:xfrm>
              <a:off x="760442" y="2692546"/>
              <a:ext cx="228961" cy="328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83" name="Text Box 160"/>
            <p:cNvSpPr txBox="1">
              <a:spLocks noChangeArrowheads="1"/>
            </p:cNvSpPr>
            <p:nvPr/>
          </p:nvSpPr>
          <p:spPr bwMode="auto">
            <a:xfrm>
              <a:off x="3014785" y="2631080"/>
              <a:ext cx="228961" cy="3280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graphicFrame>
        <p:nvGraphicFramePr>
          <p:cNvPr id="111" name="Object 1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96822"/>
              </p:ext>
            </p:extLst>
          </p:nvPr>
        </p:nvGraphicFramePr>
        <p:xfrm>
          <a:off x="1674052" y="3109091"/>
          <a:ext cx="119376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908" name="公式" r:id="rId4" imgW="596880" imgH="177480" progId="Equation.3">
                  <p:embed/>
                </p:oleObj>
              </mc:Choice>
              <mc:Fallback>
                <p:oleObj name="公式" r:id="rId4" imgW="5968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8444" r="-8444"/>
                      <a:stretch>
                        <a:fillRect/>
                      </a:stretch>
                    </p:blipFill>
                    <p:spPr bwMode="auto">
                      <a:xfrm>
                        <a:off x="1674052" y="3109091"/>
                        <a:ext cx="1193760" cy="35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449943"/>
              </p:ext>
            </p:extLst>
          </p:nvPr>
        </p:nvGraphicFramePr>
        <p:xfrm>
          <a:off x="5484683" y="3110211"/>
          <a:ext cx="26409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909" name="Equation" r:id="rId6" imgW="1320480" imgH="203040" progId="Equation.DSMT4">
                  <p:embed/>
                </p:oleObj>
              </mc:Choice>
              <mc:Fallback>
                <p:oleObj name="Equation" r:id="rId6" imgW="1320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84683" y="3110211"/>
                        <a:ext cx="2640960" cy="406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562640" y="773819"/>
            <a:ext cx="2511183" cy="2131253"/>
            <a:chOff x="4942126" y="1505625"/>
            <a:chExt cx="2511183" cy="2131253"/>
          </a:xfrm>
        </p:grpSpPr>
        <p:sp>
          <p:nvSpPr>
            <p:cNvPr id="120" name="Rectangle 109"/>
            <p:cNvSpPr>
              <a:spLocks noChangeArrowheads="1"/>
            </p:cNvSpPr>
            <p:nvPr/>
          </p:nvSpPr>
          <p:spPr bwMode="auto">
            <a:xfrm>
              <a:off x="4942126" y="1505625"/>
              <a:ext cx="2511183" cy="21312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Rectangle 111"/>
            <p:cNvSpPr>
              <a:spLocks noChangeArrowheads="1"/>
            </p:cNvSpPr>
            <p:nvPr/>
          </p:nvSpPr>
          <p:spPr bwMode="auto">
            <a:xfrm>
              <a:off x="5201118" y="1809077"/>
              <a:ext cx="1982934" cy="1746761"/>
            </a:xfrm>
            <a:prstGeom prst="rect">
              <a:avLst/>
            </a:pr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Freeform 112"/>
            <p:cNvSpPr>
              <a:spLocks/>
            </p:cNvSpPr>
            <p:nvPr/>
          </p:nvSpPr>
          <p:spPr bwMode="auto">
            <a:xfrm rot="5400000">
              <a:off x="5866279" y="2258603"/>
              <a:ext cx="1207102" cy="1128378"/>
            </a:xfrm>
            <a:custGeom>
              <a:avLst/>
              <a:gdLst>
                <a:gd name="T0" fmla="*/ 668 w 851"/>
                <a:gd name="T1" fmla="*/ 1031 h 1059"/>
                <a:gd name="T2" fmla="*/ 600 w 851"/>
                <a:gd name="T3" fmla="*/ 942 h 1059"/>
                <a:gd name="T4" fmla="*/ 505 w 851"/>
                <a:gd name="T5" fmla="*/ 901 h 1059"/>
                <a:gd name="T6" fmla="*/ 441 w 851"/>
                <a:gd name="T7" fmla="*/ 723 h 1059"/>
                <a:gd name="T8" fmla="*/ 360 w 851"/>
                <a:gd name="T9" fmla="*/ 572 h 1059"/>
                <a:gd name="T10" fmla="*/ 219 w 851"/>
                <a:gd name="T11" fmla="*/ 410 h 1059"/>
                <a:gd name="T12" fmla="*/ 128 w 851"/>
                <a:gd name="T13" fmla="*/ 384 h 1059"/>
                <a:gd name="T14" fmla="*/ 15 w 851"/>
                <a:gd name="T15" fmla="*/ 363 h 1059"/>
                <a:gd name="T16" fmla="*/ 38 w 851"/>
                <a:gd name="T17" fmla="*/ 290 h 1059"/>
                <a:gd name="T18" fmla="*/ 42 w 851"/>
                <a:gd name="T19" fmla="*/ 223 h 1059"/>
                <a:gd name="T20" fmla="*/ 38 w 851"/>
                <a:gd name="T21" fmla="*/ 155 h 1059"/>
                <a:gd name="T22" fmla="*/ 6 w 851"/>
                <a:gd name="T23" fmla="*/ 87 h 1059"/>
                <a:gd name="T24" fmla="*/ 79 w 851"/>
                <a:gd name="T25" fmla="*/ 61 h 1059"/>
                <a:gd name="T26" fmla="*/ 292 w 851"/>
                <a:gd name="T27" fmla="*/ 40 h 1059"/>
                <a:gd name="T28" fmla="*/ 500 w 851"/>
                <a:gd name="T29" fmla="*/ 9 h 1059"/>
                <a:gd name="T30" fmla="*/ 595 w 851"/>
                <a:gd name="T31" fmla="*/ 3 h 1059"/>
                <a:gd name="T32" fmla="*/ 641 w 851"/>
                <a:gd name="T33" fmla="*/ 30 h 1059"/>
                <a:gd name="T34" fmla="*/ 654 w 851"/>
                <a:gd name="T35" fmla="*/ 71 h 1059"/>
                <a:gd name="T36" fmla="*/ 661 w 851"/>
                <a:gd name="T37" fmla="*/ 135 h 1059"/>
                <a:gd name="T38" fmla="*/ 703 w 851"/>
                <a:gd name="T39" fmla="*/ 199 h 1059"/>
                <a:gd name="T40" fmla="*/ 805 w 851"/>
                <a:gd name="T41" fmla="*/ 253 h 1059"/>
                <a:gd name="T42" fmla="*/ 844 w 851"/>
                <a:gd name="T43" fmla="*/ 327 h 1059"/>
                <a:gd name="T44" fmla="*/ 763 w 851"/>
                <a:gd name="T45" fmla="*/ 770 h 1059"/>
                <a:gd name="T46" fmla="*/ 668 w 851"/>
                <a:gd name="T47" fmla="*/ 1031 h 1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1" h="1059">
                  <a:moveTo>
                    <a:pt x="668" y="1031"/>
                  </a:moveTo>
                  <a:cubicBezTo>
                    <a:pt x="641" y="1059"/>
                    <a:pt x="627" y="963"/>
                    <a:pt x="600" y="942"/>
                  </a:cubicBezTo>
                  <a:cubicBezTo>
                    <a:pt x="573" y="922"/>
                    <a:pt x="530" y="937"/>
                    <a:pt x="505" y="901"/>
                  </a:cubicBezTo>
                  <a:cubicBezTo>
                    <a:pt x="479" y="864"/>
                    <a:pt x="465" y="777"/>
                    <a:pt x="441" y="723"/>
                  </a:cubicBezTo>
                  <a:cubicBezTo>
                    <a:pt x="417" y="669"/>
                    <a:pt x="396" y="624"/>
                    <a:pt x="360" y="572"/>
                  </a:cubicBezTo>
                  <a:cubicBezTo>
                    <a:pt x="323" y="520"/>
                    <a:pt x="257" y="442"/>
                    <a:pt x="219" y="410"/>
                  </a:cubicBezTo>
                  <a:cubicBezTo>
                    <a:pt x="181" y="379"/>
                    <a:pt x="162" y="391"/>
                    <a:pt x="128" y="384"/>
                  </a:cubicBezTo>
                  <a:cubicBezTo>
                    <a:pt x="95" y="377"/>
                    <a:pt x="30" y="379"/>
                    <a:pt x="15" y="363"/>
                  </a:cubicBezTo>
                  <a:cubicBezTo>
                    <a:pt x="0" y="348"/>
                    <a:pt x="33" y="313"/>
                    <a:pt x="38" y="290"/>
                  </a:cubicBezTo>
                  <a:cubicBezTo>
                    <a:pt x="42" y="268"/>
                    <a:pt x="42" y="245"/>
                    <a:pt x="42" y="223"/>
                  </a:cubicBezTo>
                  <a:cubicBezTo>
                    <a:pt x="42" y="200"/>
                    <a:pt x="44" y="177"/>
                    <a:pt x="38" y="155"/>
                  </a:cubicBezTo>
                  <a:cubicBezTo>
                    <a:pt x="32" y="132"/>
                    <a:pt x="0" y="103"/>
                    <a:pt x="6" y="87"/>
                  </a:cubicBezTo>
                  <a:cubicBezTo>
                    <a:pt x="12" y="71"/>
                    <a:pt x="32" y="68"/>
                    <a:pt x="79" y="61"/>
                  </a:cubicBezTo>
                  <a:cubicBezTo>
                    <a:pt x="125" y="54"/>
                    <a:pt x="222" y="49"/>
                    <a:pt x="292" y="40"/>
                  </a:cubicBezTo>
                  <a:cubicBezTo>
                    <a:pt x="361" y="31"/>
                    <a:pt x="450" y="14"/>
                    <a:pt x="500" y="9"/>
                  </a:cubicBezTo>
                  <a:cubicBezTo>
                    <a:pt x="550" y="3"/>
                    <a:pt x="571" y="0"/>
                    <a:pt x="595" y="3"/>
                  </a:cubicBezTo>
                  <a:cubicBezTo>
                    <a:pt x="620" y="7"/>
                    <a:pt x="632" y="19"/>
                    <a:pt x="641" y="30"/>
                  </a:cubicBezTo>
                  <a:cubicBezTo>
                    <a:pt x="650" y="40"/>
                    <a:pt x="651" y="54"/>
                    <a:pt x="654" y="71"/>
                  </a:cubicBezTo>
                  <a:cubicBezTo>
                    <a:pt x="657" y="88"/>
                    <a:pt x="653" y="114"/>
                    <a:pt x="661" y="135"/>
                  </a:cubicBezTo>
                  <a:cubicBezTo>
                    <a:pt x="669" y="156"/>
                    <a:pt x="679" y="179"/>
                    <a:pt x="703" y="199"/>
                  </a:cubicBezTo>
                  <a:cubicBezTo>
                    <a:pt x="727" y="219"/>
                    <a:pt x="782" y="232"/>
                    <a:pt x="805" y="253"/>
                  </a:cubicBezTo>
                  <a:cubicBezTo>
                    <a:pt x="828" y="274"/>
                    <a:pt x="851" y="241"/>
                    <a:pt x="844" y="327"/>
                  </a:cubicBezTo>
                  <a:cubicBezTo>
                    <a:pt x="837" y="413"/>
                    <a:pt x="792" y="653"/>
                    <a:pt x="763" y="770"/>
                  </a:cubicBezTo>
                  <a:cubicBezTo>
                    <a:pt x="734" y="887"/>
                    <a:pt x="695" y="1003"/>
                    <a:pt x="668" y="1031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13" descr="宽上对角线"/>
            <p:cNvSpPr>
              <a:spLocks/>
            </p:cNvSpPr>
            <p:nvPr/>
          </p:nvSpPr>
          <p:spPr bwMode="auto">
            <a:xfrm>
              <a:off x="5479504" y="3154231"/>
              <a:ext cx="559055" cy="400466"/>
            </a:xfrm>
            <a:custGeom>
              <a:avLst/>
              <a:gdLst>
                <a:gd name="T0" fmla="*/ 3 w 490"/>
                <a:gd name="T1" fmla="*/ 113 h 264"/>
                <a:gd name="T2" fmla="*/ 31 w 490"/>
                <a:gd name="T3" fmla="*/ 49 h 264"/>
                <a:gd name="T4" fmla="*/ 107 w 490"/>
                <a:gd name="T5" fmla="*/ 36 h 264"/>
                <a:gd name="T6" fmla="*/ 175 w 490"/>
                <a:gd name="T7" fmla="*/ 1 h 264"/>
                <a:gd name="T8" fmla="*/ 278 w 490"/>
                <a:gd name="T9" fmla="*/ 40 h 264"/>
                <a:gd name="T10" fmla="*/ 344 w 490"/>
                <a:gd name="T11" fmla="*/ 40 h 264"/>
                <a:gd name="T12" fmla="*/ 441 w 490"/>
                <a:gd name="T13" fmla="*/ 29 h 264"/>
                <a:gd name="T14" fmla="*/ 478 w 490"/>
                <a:gd name="T15" fmla="*/ 63 h 264"/>
                <a:gd name="T16" fmla="*/ 478 w 490"/>
                <a:gd name="T17" fmla="*/ 142 h 264"/>
                <a:gd name="T18" fmla="*/ 409 w 490"/>
                <a:gd name="T19" fmla="*/ 220 h 264"/>
                <a:gd name="T20" fmla="*/ 300 w 490"/>
                <a:gd name="T21" fmla="*/ 260 h 264"/>
                <a:gd name="T22" fmla="*/ 175 w 490"/>
                <a:gd name="T23" fmla="*/ 243 h 264"/>
                <a:gd name="T24" fmla="*/ 50 w 490"/>
                <a:gd name="T25" fmla="*/ 198 h 264"/>
                <a:gd name="T26" fmla="*/ 3 w 490"/>
                <a:gd name="T27" fmla="*/ 113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64">
                  <a:moveTo>
                    <a:pt x="3" y="113"/>
                  </a:moveTo>
                  <a:cubicBezTo>
                    <a:pt x="0" y="88"/>
                    <a:pt x="14" y="62"/>
                    <a:pt x="31" y="49"/>
                  </a:cubicBezTo>
                  <a:cubicBezTo>
                    <a:pt x="48" y="36"/>
                    <a:pt x="83" y="44"/>
                    <a:pt x="107" y="36"/>
                  </a:cubicBezTo>
                  <a:cubicBezTo>
                    <a:pt x="131" y="28"/>
                    <a:pt x="147" y="0"/>
                    <a:pt x="175" y="1"/>
                  </a:cubicBezTo>
                  <a:cubicBezTo>
                    <a:pt x="203" y="2"/>
                    <a:pt x="250" y="33"/>
                    <a:pt x="278" y="40"/>
                  </a:cubicBezTo>
                  <a:cubicBezTo>
                    <a:pt x="306" y="47"/>
                    <a:pt x="316" y="42"/>
                    <a:pt x="344" y="40"/>
                  </a:cubicBezTo>
                  <a:cubicBezTo>
                    <a:pt x="371" y="39"/>
                    <a:pt x="418" y="25"/>
                    <a:pt x="441" y="29"/>
                  </a:cubicBezTo>
                  <a:cubicBezTo>
                    <a:pt x="463" y="33"/>
                    <a:pt x="472" y="44"/>
                    <a:pt x="478" y="63"/>
                  </a:cubicBezTo>
                  <a:cubicBezTo>
                    <a:pt x="485" y="81"/>
                    <a:pt x="490" y="115"/>
                    <a:pt x="478" y="142"/>
                  </a:cubicBezTo>
                  <a:cubicBezTo>
                    <a:pt x="467" y="168"/>
                    <a:pt x="439" y="201"/>
                    <a:pt x="409" y="220"/>
                  </a:cubicBezTo>
                  <a:cubicBezTo>
                    <a:pt x="380" y="240"/>
                    <a:pt x="339" y="256"/>
                    <a:pt x="300" y="260"/>
                  </a:cubicBezTo>
                  <a:cubicBezTo>
                    <a:pt x="261" y="264"/>
                    <a:pt x="216" y="253"/>
                    <a:pt x="175" y="243"/>
                  </a:cubicBezTo>
                  <a:cubicBezTo>
                    <a:pt x="133" y="233"/>
                    <a:pt x="80" y="218"/>
                    <a:pt x="50" y="198"/>
                  </a:cubicBezTo>
                  <a:cubicBezTo>
                    <a:pt x="20" y="178"/>
                    <a:pt x="7" y="149"/>
                    <a:pt x="3" y="11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14" descr="宽上对角线"/>
            <p:cNvSpPr>
              <a:spLocks/>
            </p:cNvSpPr>
            <p:nvPr/>
          </p:nvSpPr>
          <p:spPr bwMode="auto">
            <a:xfrm rot="5400000" flipH="1">
              <a:off x="6767613" y="3132554"/>
              <a:ext cx="454089" cy="357111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15" descr="宽上对角线"/>
            <p:cNvSpPr>
              <a:spLocks/>
            </p:cNvSpPr>
            <p:nvPr/>
          </p:nvSpPr>
          <p:spPr bwMode="auto">
            <a:xfrm rot="1736741">
              <a:off x="5829769" y="2862154"/>
              <a:ext cx="301205" cy="386775"/>
            </a:xfrm>
            <a:custGeom>
              <a:avLst/>
              <a:gdLst>
                <a:gd name="T0" fmla="*/ 282 w 440"/>
                <a:gd name="T1" fmla="*/ 260 h 345"/>
                <a:gd name="T2" fmla="*/ 211 w 440"/>
                <a:gd name="T3" fmla="*/ 317 h 345"/>
                <a:gd name="T4" fmla="*/ 119 w 440"/>
                <a:gd name="T5" fmla="*/ 342 h 345"/>
                <a:gd name="T6" fmla="*/ 27 w 440"/>
                <a:gd name="T7" fmla="*/ 321 h 345"/>
                <a:gd name="T8" fmla="*/ 21 w 440"/>
                <a:gd name="T9" fmla="*/ 198 h 345"/>
                <a:gd name="T10" fmla="*/ 152 w 440"/>
                <a:gd name="T11" fmla="*/ 64 h 345"/>
                <a:gd name="T12" fmla="*/ 341 w 440"/>
                <a:gd name="T13" fmla="*/ 10 h 345"/>
                <a:gd name="T14" fmla="*/ 420 w 440"/>
                <a:gd name="T15" fmla="*/ 10 h 345"/>
                <a:gd name="T16" fmla="*/ 433 w 440"/>
                <a:gd name="T17" fmla="*/ 70 h 345"/>
                <a:gd name="T18" fmla="*/ 378 w 440"/>
                <a:gd name="T19" fmla="*/ 185 h 345"/>
                <a:gd name="T20" fmla="*/ 282 w 440"/>
                <a:gd name="T21" fmla="*/ 26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0" h="345">
                  <a:moveTo>
                    <a:pt x="282" y="260"/>
                  </a:moveTo>
                  <a:cubicBezTo>
                    <a:pt x="254" y="282"/>
                    <a:pt x="238" y="304"/>
                    <a:pt x="211" y="317"/>
                  </a:cubicBezTo>
                  <a:cubicBezTo>
                    <a:pt x="184" y="330"/>
                    <a:pt x="149" y="341"/>
                    <a:pt x="119" y="342"/>
                  </a:cubicBezTo>
                  <a:cubicBezTo>
                    <a:pt x="88" y="343"/>
                    <a:pt x="43" y="345"/>
                    <a:pt x="27" y="321"/>
                  </a:cubicBezTo>
                  <a:cubicBezTo>
                    <a:pt x="11" y="297"/>
                    <a:pt x="0" y="241"/>
                    <a:pt x="21" y="198"/>
                  </a:cubicBezTo>
                  <a:cubicBezTo>
                    <a:pt x="42" y="155"/>
                    <a:pt x="99" y="95"/>
                    <a:pt x="152" y="64"/>
                  </a:cubicBezTo>
                  <a:cubicBezTo>
                    <a:pt x="205" y="33"/>
                    <a:pt x="296" y="19"/>
                    <a:pt x="341" y="10"/>
                  </a:cubicBezTo>
                  <a:cubicBezTo>
                    <a:pt x="386" y="1"/>
                    <a:pt x="404" y="0"/>
                    <a:pt x="420" y="10"/>
                  </a:cubicBezTo>
                  <a:cubicBezTo>
                    <a:pt x="436" y="19"/>
                    <a:pt x="440" y="41"/>
                    <a:pt x="433" y="70"/>
                  </a:cubicBezTo>
                  <a:cubicBezTo>
                    <a:pt x="425" y="100"/>
                    <a:pt x="404" y="154"/>
                    <a:pt x="378" y="185"/>
                  </a:cubicBezTo>
                  <a:cubicBezTo>
                    <a:pt x="352" y="216"/>
                    <a:pt x="310" y="238"/>
                    <a:pt x="282" y="26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16" descr="宽上对角线"/>
            <p:cNvSpPr>
              <a:spLocks/>
            </p:cNvSpPr>
            <p:nvPr/>
          </p:nvSpPr>
          <p:spPr bwMode="auto">
            <a:xfrm>
              <a:off x="6174330" y="2826785"/>
              <a:ext cx="444962" cy="449526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117" descr="宽上对角线"/>
            <p:cNvSpPr>
              <a:spLocks/>
            </p:cNvSpPr>
            <p:nvPr/>
          </p:nvSpPr>
          <p:spPr bwMode="auto">
            <a:xfrm rot="10800000" flipH="1">
              <a:off x="6533722" y="2767457"/>
              <a:ext cx="371943" cy="363956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118" descr="宽上对角线"/>
            <p:cNvSpPr>
              <a:spLocks/>
            </p:cNvSpPr>
            <p:nvPr/>
          </p:nvSpPr>
          <p:spPr bwMode="auto">
            <a:xfrm rot="13016966" flipH="1">
              <a:off x="5139508" y="2935173"/>
              <a:ext cx="423284" cy="544223"/>
            </a:xfrm>
            <a:custGeom>
              <a:avLst/>
              <a:gdLst>
                <a:gd name="T0" fmla="*/ 225 w 443"/>
                <a:gd name="T1" fmla="*/ 66 h 310"/>
                <a:gd name="T2" fmla="*/ 77 w 443"/>
                <a:gd name="T3" fmla="*/ 118 h 310"/>
                <a:gd name="T4" fmla="*/ 5 w 443"/>
                <a:gd name="T5" fmla="*/ 194 h 310"/>
                <a:gd name="T6" fmla="*/ 45 w 443"/>
                <a:gd name="T7" fmla="*/ 298 h 310"/>
                <a:gd name="T8" fmla="*/ 157 w 443"/>
                <a:gd name="T9" fmla="*/ 266 h 310"/>
                <a:gd name="T10" fmla="*/ 325 w 443"/>
                <a:gd name="T11" fmla="*/ 206 h 310"/>
                <a:gd name="T12" fmla="*/ 429 w 443"/>
                <a:gd name="T13" fmla="*/ 94 h 310"/>
                <a:gd name="T14" fmla="*/ 409 w 443"/>
                <a:gd name="T15" fmla="*/ 14 h 310"/>
                <a:gd name="T16" fmla="*/ 361 w 443"/>
                <a:gd name="T17" fmla="*/ 10 h 310"/>
                <a:gd name="T18" fmla="*/ 265 w 443"/>
                <a:gd name="T19" fmla="*/ 46 h 310"/>
                <a:gd name="T20" fmla="*/ 225 w 443"/>
                <a:gd name="T21" fmla="*/ 6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3" h="310">
                  <a:moveTo>
                    <a:pt x="225" y="66"/>
                  </a:moveTo>
                  <a:cubicBezTo>
                    <a:pt x="194" y="78"/>
                    <a:pt x="114" y="97"/>
                    <a:pt x="77" y="118"/>
                  </a:cubicBezTo>
                  <a:cubicBezTo>
                    <a:pt x="40" y="139"/>
                    <a:pt x="10" y="164"/>
                    <a:pt x="5" y="194"/>
                  </a:cubicBezTo>
                  <a:cubicBezTo>
                    <a:pt x="0" y="224"/>
                    <a:pt x="20" y="286"/>
                    <a:pt x="45" y="298"/>
                  </a:cubicBezTo>
                  <a:cubicBezTo>
                    <a:pt x="70" y="310"/>
                    <a:pt x="110" y="281"/>
                    <a:pt x="157" y="266"/>
                  </a:cubicBezTo>
                  <a:cubicBezTo>
                    <a:pt x="204" y="251"/>
                    <a:pt x="280" y="235"/>
                    <a:pt x="325" y="206"/>
                  </a:cubicBezTo>
                  <a:cubicBezTo>
                    <a:pt x="370" y="177"/>
                    <a:pt x="415" y="126"/>
                    <a:pt x="429" y="94"/>
                  </a:cubicBezTo>
                  <a:cubicBezTo>
                    <a:pt x="443" y="62"/>
                    <a:pt x="420" y="28"/>
                    <a:pt x="409" y="14"/>
                  </a:cubicBezTo>
                  <a:cubicBezTo>
                    <a:pt x="398" y="0"/>
                    <a:pt x="385" y="5"/>
                    <a:pt x="361" y="10"/>
                  </a:cubicBezTo>
                  <a:cubicBezTo>
                    <a:pt x="337" y="15"/>
                    <a:pt x="290" y="34"/>
                    <a:pt x="265" y="46"/>
                  </a:cubicBezTo>
                  <a:cubicBezTo>
                    <a:pt x="240" y="58"/>
                    <a:pt x="256" y="54"/>
                    <a:pt x="225" y="6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119" descr="宽上对角线"/>
            <p:cNvSpPr>
              <a:spLocks/>
            </p:cNvSpPr>
            <p:nvPr/>
          </p:nvSpPr>
          <p:spPr bwMode="auto">
            <a:xfrm rot="5400000" flipH="1">
              <a:off x="5994063" y="3145104"/>
              <a:ext cx="419861" cy="370802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20" descr="宽上对角线"/>
            <p:cNvSpPr>
              <a:spLocks/>
            </p:cNvSpPr>
            <p:nvPr/>
          </p:nvSpPr>
          <p:spPr bwMode="auto">
            <a:xfrm rot="5400000" flipH="1">
              <a:off x="6410502" y="3117722"/>
              <a:ext cx="382211" cy="42670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21" descr="宽上对角线"/>
            <p:cNvSpPr>
              <a:spLocks/>
            </p:cNvSpPr>
            <p:nvPr/>
          </p:nvSpPr>
          <p:spPr bwMode="auto">
            <a:xfrm rot="5400000" flipH="1">
              <a:off x="5465813" y="2799403"/>
              <a:ext cx="325164" cy="397043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22" descr="宽上对角线"/>
            <p:cNvSpPr>
              <a:spLocks/>
            </p:cNvSpPr>
            <p:nvPr/>
          </p:nvSpPr>
          <p:spPr bwMode="auto">
            <a:xfrm>
              <a:off x="6919356" y="2813094"/>
              <a:ext cx="260132" cy="284091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23" descr="宽上对角线"/>
            <p:cNvSpPr>
              <a:spLocks/>
            </p:cNvSpPr>
            <p:nvPr/>
          </p:nvSpPr>
          <p:spPr bwMode="auto">
            <a:xfrm>
              <a:off x="6610164" y="2451420"/>
              <a:ext cx="560196" cy="367379"/>
            </a:xfrm>
            <a:custGeom>
              <a:avLst/>
              <a:gdLst>
                <a:gd name="T0" fmla="*/ 7 w 491"/>
                <a:gd name="T1" fmla="*/ 170 h 322"/>
                <a:gd name="T2" fmla="*/ 25 w 491"/>
                <a:gd name="T3" fmla="*/ 258 h 322"/>
                <a:gd name="T4" fmla="*/ 99 w 491"/>
                <a:gd name="T5" fmla="*/ 284 h 322"/>
                <a:gd name="T6" fmla="*/ 186 w 491"/>
                <a:gd name="T7" fmla="*/ 294 h 322"/>
                <a:gd name="T8" fmla="*/ 269 w 491"/>
                <a:gd name="T9" fmla="*/ 298 h 322"/>
                <a:gd name="T10" fmla="*/ 340 w 491"/>
                <a:gd name="T11" fmla="*/ 322 h 322"/>
                <a:gd name="T12" fmla="*/ 429 w 491"/>
                <a:gd name="T13" fmla="*/ 301 h 322"/>
                <a:gd name="T14" fmla="*/ 467 w 491"/>
                <a:gd name="T15" fmla="*/ 270 h 322"/>
                <a:gd name="T16" fmla="*/ 484 w 491"/>
                <a:gd name="T17" fmla="*/ 187 h 322"/>
                <a:gd name="T18" fmla="*/ 427 w 491"/>
                <a:gd name="T19" fmla="*/ 76 h 322"/>
                <a:gd name="T20" fmla="*/ 325 w 491"/>
                <a:gd name="T21" fmla="*/ 10 h 322"/>
                <a:gd name="T22" fmla="*/ 198 w 491"/>
                <a:gd name="T23" fmla="*/ 18 h 322"/>
                <a:gd name="T24" fmla="*/ 67 w 491"/>
                <a:gd name="T25" fmla="*/ 63 h 322"/>
                <a:gd name="T26" fmla="*/ 7 w 491"/>
                <a:gd name="T27" fmla="*/ 17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1" h="322">
                  <a:moveTo>
                    <a:pt x="7" y="170"/>
                  </a:moveTo>
                  <a:cubicBezTo>
                    <a:pt x="0" y="203"/>
                    <a:pt x="10" y="239"/>
                    <a:pt x="25" y="258"/>
                  </a:cubicBezTo>
                  <a:cubicBezTo>
                    <a:pt x="40" y="277"/>
                    <a:pt x="72" y="278"/>
                    <a:pt x="99" y="284"/>
                  </a:cubicBezTo>
                  <a:cubicBezTo>
                    <a:pt x="125" y="290"/>
                    <a:pt x="158" y="292"/>
                    <a:pt x="186" y="294"/>
                  </a:cubicBezTo>
                  <a:cubicBezTo>
                    <a:pt x="214" y="296"/>
                    <a:pt x="243" y="293"/>
                    <a:pt x="269" y="298"/>
                  </a:cubicBezTo>
                  <a:cubicBezTo>
                    <a:pt x="295" y="303"/>
                    <a:pt x="313" y="322"/>
                    <a:pt x="340" y="322"/>
                  </a:cubicBezTo>
                  <a:cubicBezTo>
                    <a:pt x="367" y="322"/>
                    <a:pt x="408" y="310"/>
                    <a:pt x="429" y="301"/>
                  </a:cubicBezTo>
                  <a:cubicBezTo>
                    <a:pt x="450" y="292"/>
                    <a:pt x="458" y="289"/>
                    <a:pt x="467" y="270"/>
                  </a:cubicBezTo>
                  <a:cubicBezTo>
                    <a:pt x="476" y="251"/>
                    <a:pt x="491" y="219"/>
                    <a:pt x="484" y="187"/>
                  </a:cubicBezTo>
                  <a:cubicBezTo>
                    <a:pt x="477" y="155"/>
                    <a:pt x="454" y="105"/>
                    <a:pt x="427" y="76"/>
                  </a:cubicBezTo>
                  <a:cubicBezTo>
                    <a:pt x="401" y="46"/>
                    <a:pt x="363" y="20"/>
                    <a:pt x="325" y="10"/>
                  </a:cubicBezTo>
                  <a:cubicBezTo>
                    <a:pt x="287" y="0"/>
                    <a:pt x="240" y="10"/>
                    <a:pt x="198" y="18"/>
                  </a:cubicBezTo>
                  <a:cubicBezTo>
                    <a:pt x="155" y="26"/>
                    <a:pt x="100" y="40"/>
                    <a:pt x="67" y="63"/>
                  </a:cubicBezTo>
                  <a:cubicBezTo>
                    <a:pt x="34" y="86"/>
                    <a:pt x="17" y="123"/>
                    <a:pt x="7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24" descr="宽上对角线"/>
            <p:cNvSpPr>
              <a:spLocks/>
            </p:cNvSpPr>
            <p:nvPr/>
          </p:nvSpPr>
          <p:spPr bwMode="auto">
            <a:xfrm rot="5400000" flipH="1">
              <a:off x="6150370" y="2346454"/>
              <a:ext cx="454089" cy="529391"/>
            </a:xfrm>
            <a:custGeom>
              <a:avLst/>
              <a:gdLst>
                <a:gd name="T0" fmla="*/ 292 w 616"/>
                <a:gd name="T1" fmla="*/ 193 h 206"/>
                <a:gd name="T2" fmla="*/ 452 w 616"/>
                <a:gd name="T3" fmla="*/ 201 h 206"/>
                <a:gd name="T4" fmla="*/ 592 w 616"/>
                <a:gd name="T5" fmla="*/ 165 h 206"/>
                <a:gd name="T6" fmla="*/ 596 w 616"/>
                <a:gd name="T7" fmla="*/ 81 h 206"/>
                <a:gd name="T8" fmla="*/ 548 w 616"/>
                <a:gd name="T9" fmla="*/ 13 h 206"/>
                <a:gd name="T10" fmla="*/ 444 w 616"/>
                <a:gd name="T11" fmla="*/ 1 h 206"/>
                <a:gd name="T12" fmla="*/ 284 w 616"/>
                <a:gd name="T13" fmla="*/ 9 h 206"/>
                <a:gd name="T14" fmla="*/ 128 w 616"/>
                <a:gd name="T15" fmla="*/ 37 h 206"/>
                <a:gd name="T16" fmla="*/ 28 w 616"/>
                <a:gd name="T17" fmla="*/ 81 h 206"/>
                <a:gd name="T18" fmla="*/ 44 w 616"/>
                <a:gd name="T19" fmla="*/ 165 h 206"/>
                <a:gd name="T20" fmla="*/ 292 w 616"/>
                <a:gd name="T21" fmla="*/ 193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6" h="206">
                  <a:moveTo>
                    <a:pt x="292" y="193"/>
                  </a:moveTo>
                  <a:cubicBezTo>
                    <a:pt x="360" y="199"/>
                    <a:pt x="402" y="206"/>
                    <a:pt x="452" y="201"/>
                  </a:cubicBezTo>
                  <a:cubicBezTo>
                    <a:pt x="502" y="196"/>
                    <a:pt x="568" y="185"/>
                    <a:pt x="592" y="165"/>
                  </a:cubicBezTo>
                  <a:cubicBezTo>
                    <a:pt x="616" y="145"/>
                    <a:pt x="603" y="106"/>
                    <a:pt x="596" y="81"/>
                  </a:cubicBezTo>
                  <a:cubicBezTo>
                    <a:pt x="589" y="56"/>
                    <a:pt x="573" y="26"/>
                    <a:pt x="548" y="13"/>
                  </a:cubicBezTo>
                  <a:cubicBezTo>
                    <a:pt x="523" y="0"/>
                    <a:pt x="488" y="2"/>
                    <a:pt x="444" y="1"/>
                  </a:cubicBezTo>
                  <a:cubicBezTo>
                    <a:pt x="400" y="0"/>
                    <a:pt x="337" y="3"/>
                    <a:pt x="284" y="9"/>
                  </a:cubicBezTo>
                  <a:cubicBezTo>
                    <a:pt x="231" y="15"/>
                    <a:pt x="171" y="25"/>
                    <a:pt x="128" y="37"/>
                  </a:cubicBezTo>
                  <a:cubicBezTo>
                    <a:pt x="85" y="49"/>
                    <a:pt x="42" y="60"/>
                    <a:pt x="28" y="81"/>
                  </a:cubicBezTo>
                  <a:cubicBezTo>
                    <a:pt x="14" y="102"/>
                    <a:pt x="0" y="146"/>
                    <a:pt x="44" y="165"/>
                  </a:cubicBezTo>
                  <a:cubicBezTo>
                    <a:pt x="88" y="184"/>
                    <a:pt x="224" y="187"/>
                    <a:pt x="292" y="193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25" descr="宽上对角线"/>
            <p:cNvSpPr>
              <a:spLocks/>
            </p:cNvSpPr>
            <p:nvPr/>
          </p:nvSpPr>
          <p:spPr bwMode="auto">
            <a:xfrm rot="5400000" flipH="1">
              <a:off x="5711113" y="2421756"/>
              <a:ext cx="382211" cy="42670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26" descr="宽上对角线"/>
            <p:cNvSpPr>
              <a:spLocks/>
            </p:cNvSpPr>
            <p:nvPr/>
          </p:nvSpPr>
          <p:spPr bwMode="auto">
            <a:xfrm rot="5400000" flipH="1">
              <a:off x="5158903" y="2502761"/>
              <a:ext cx="421002" cy="370802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27" descr="宽上对角线"/>
            <p:cNvSpPr>
              <a:spLocks/>
            </p:cNvSpPr>
            <p:nvPr/>
          </p:nvSpPr>
          <p:spPr bwMode="auto">
            <a:xfrm flipH="1">
              <a:off x="5424740" y="2291690"/>
              <a:ext cx="371943" cy="363956"/>
            </a:xfrm>
            <a:custGeom>
              <a:avLst/>
              <a:gdLst>
                <a:gd name="T0" fmla="*/ 170 w 463"/>
                <a:gd name="T1" fmla="*/ 36 h 287"/>
                <a:gd name="T2" fmla="*/ 42 w 463"/>
                <a:gd name="T3" fmla="*/ 96 h 287"/>
                <a:gd name="T4" fmla="*/ 10 w 463"/>
                <a:gd name="T5" fmla="*/ 208 h 287"/>
                <a:gd name="T6" fmla="*/ 102 w 463"/>
                <a:gd name="T7" fmla="*/ 272 h 287"/>
                <a:gd name="T8" fmla="*/ 266 w 463"/>
                <a:gd name="T9" fmla="*/ 276 h 287"/>
                <a:gd name="T10" fmla="*/ 430 w 463"/>
                <a:gd name="T11" fmla="*/ 208 h 287"/>
                <a:gd name="T12" fmla="*/ 462 w 463"/>
                <a:gd name="T13" fmla="*/ 100 h 287"/>
                <a:gd name="T14" fmla="*/ 426 w 463"/>
                <a:gd name="T15" fmla="*/ 20 h 287"/>
                <a:gd name="T16" fmla="*/ 338 w 463"/>
                <a:gd name="T17" fmla="*/ 0 h 287"/>
                <a:gd name="T18" fmla="*/ 222 w 463"/>
                <a:gd name="T19" fmla="*/ 20 h 287"/>
                <a:gd name="T20" fmla="*/ 170 w 463"/>
                <a:gd name="T21" fmla="*/ 3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3" h="287">
                  <a:moveTo>
                    <a:pt x="170" y="36"/>
                  </a:moveTo>
                  <a:cubicBezTo>
                    <a:pt x="140" y="49"/>
                    <a:pt x="69" y="67"/>
                    <a:pt x="42" y="96"/>
                  </a:cubicBezTo>
                  <a:cubicBezTo>
                    <a:pt x="15" y="125"/>
                    <a:pt x="0" y="179"/>
                    <a:pt x="10" y="208"/>
                  </a:cubicBezTo>
                  <a:cubicBezTo>
                    <a:pt x="20" y="237"/>
                    <a:pt x="60" y="261"/>
                    <a:pt x="102" y="272"/>
                  </a:cubicBezTo>
                  <a:cubicBezTo>
                    <a:pt x="144" y="283"/>
                    <a:pt x="211" y="287"/>
                    <a:pt x="266" y="276"/>
                  </a:cubicBezTo>
                  <a:cubicBezTo>
                    <a:pt x="321" y="265"/>
                    <a:pt x="397" y="237"/>
                    <a:pt x="430" y="208"/>
                  </a:cubicBezTo>
                  <a:cubicBezTo>
                    <a:pt x="463" y="179"/>
                    <a:pt x="463" y="131"/>
                    <a:pt x="462" y="100"/>
                  </a:cubicBezTo>
                  <a:cubicBezTo>
                    <a:pt x="461" y="69"/>
                    <a:pt x="447" y="37"/>
                    <a:pt x="426" y="20"/>
                  </a:cubicBezTo>
                  <a:cubicBezTo>
                    <a:pt x="405" y="3"/>
                    <a:pt x="372" y="0"/>
                    <a:pt x="338" y="0"/>
                  </a:cubicBezTo>
                  <a:cubicBezTo>
                    <a:pt x="304" y="0"/>
                    <a:pt x="252" y="13"/>
                    <a:pt x="222" y="20"/>
                  </a:cubicBezTo>
                  <a:cubicBezTo>
                    <a:pt x="192" y="27"/>
                    <a:pt x="200" y="23"/>
                    <a:pt x="170" y="3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128" descr="宽上对角线"/>
            <p:cNvSpPr>
              <a:spLocks/>
            </p:cNvSpPr>
            <p:nvPr/>
          </p:nvSpPr>
          <p:spPr bwMode="auto">
            <a:xfrm>
              <a:off x="5445276" y="1815923"/>
              <a:ext cx="559055" cy="386775"/>
            </a:xfrm>
            <a:custGeom>
              <a:avLst/>
              <a:gdLst>
                <a:gd name="T0" fmla="*/ 3 w 490"/>
                <a:gd name="T1" fmla="*/ 184 h 339"/>
                <a:gd name="T2" fmla="*/ 31 w 490"/>
                <a:gd name="T3" fmla="*/ 269 h 339"/>
                <a:gd name="T4" fmla="*/ 107 w 490"/>
                <a:gd name="T5" fmla="*/ 286 h 339"/>
                <a:gd name="T6" fmla="*/ 175 w 490"/>
                <a:gd name="T7" fmla="*/ 333 h 339"/>
                <a:gd name="T8" fmla="*/ 265 w 490"/>
                <a:gd name="T9" fmla="*/ 322 h 339"/>
                <a:gd name="T10" fmla="*/ 354 w 490"/>
                <a:gd name="T11" fmla="*/ 312 h 339"/>
                <a:gd name="T12" fmla="*/ 441 w 490"/>
                <a:gd name="T13" fmla="*/ 295 h 339"/>
                <a:gd name="T14" fmla="*/ 478 w 490"/>
                <a:gd name="T15" fmla="*/ 250 h 339"/>
                <a:gd name="T16" fmla="*/ 478 w 490"/>
                <a:gd name="T17" fmla="*/ 145 h 339"/>
                <a:gd name="T18" fmla="*/ 409 w 490"/>
                <a:gd name="T19" fmla="*/ 41 h 339"/>
                <a:gd name="T20" fmla="*/ 290 w 490"/>
                <a:gd name="T21" fmla="*/ 5 h 339"/>
                <a:gd name="T22" fmla="*/ 175 w 490"/>
                <a:gd name="T23" fmla="*/ 11 h 339"/>
                <a:gd name="T24" fmla="*/ 50 w 490"/>
                <a:gd name="T25" fmla="*/ 71 h 339"/>
                <a:gd name="T26" fmla="*/ 3 w 490"/>
                <a:gd name="T27" fmla="*/ 184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339">
                  <a:moveTo>
                    <a:pt x="3" y="184"/>
                  </a:moveTo>
                  <a:cubicBezTo>
                    <a:pt x="0" y="217"/>
                    <a:pt x="14" y="252"/>
                    <a:pt x="31" y="269"/>
                  </a:cubicBezTo>
                  <a:cubicBezTo>
                    <a:pt x="48" y="286"/>
                    <a:pt x="83" y="275"/>
                    <a:pt x="107" y="286"/>
                  </a:cubicBezTo>
                  <a:cubicBezTo>
                    <a:pt x="131" y="297"/>
                    <a:pt x="149" y="327"/>
                    <a:pt x="175" y="333"/>
                  </a:cubicBezTo>
                  <a:cubicBezTo>
                    <a:pt x="201" y="339"/>
                    <a:pt x="235" y="325"/>
                    <a:pt x="265" y="322"/>
                  </a:cubicBezTo>
                  <a:cubicBezTo>
                    <a:pt x="295" y="319"/>
                    <a:pt x="325" y="317"/>
                    <a:pt x="354" y="312"/>
                  </a:cubicBezTo>
                  <a:cubicBezTo>
                    <a:pt x="383" y="307"/>
                    <a:pt x="420" y="305"/>
                    <a:pt x="441" y="295"/>
                  </a:cubicBezTo>
                  <a:cubicBezTo>
                    <a:pt x="462" y="285"/>
                    <a:pt x="472" y="275"/>
                    <a:pt x="478" y="250"/>
                  </a:cubicBezTo>
                  <a:cubicBezTo>
                    <a:pt x="485" y="226"/>
                    <a:pt x="490" y="181"/>
                    <a:pt x="478" y="145"/>
                  </a:cubicBezTo>
                  <a:cubicBezTo>
                    <a:pt x="467" y="111"/>
                    <a:pt x="440" y="64"/>
                    <a:pt x="409" y="41"/>
                  </a:cubicBezTo>
                  <a:cubicBezTo>
                    <a:pt x="378" y="18"/>
                    <a:pt x="329" y="10"/>
                    <a:pt x="290" y="5"/>
                  </a:cubicBezTo>
                  <a:cubicBezTo>
                    <a:pt x="251" y="0"/>
                    <a:pt x="215" y="0"/>
                    <a:pt x="175" y="11"/>
                  </a:cubicBezTo>
                  <a:cubicBezTo>
                    <a:pt x="135" y="22"/>
                    <a:pt x="80" y="44"/>
                    <a:pt x="50" y="71"/>
                  </a:cubicBezTo>
                  <a:cubicBezTo>
                    <a:pt x="20" y="97"/>
                    <a:pt x="7" y="136"/>
                    <a:pt x="3" y="184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129" descr="宽上对角线"/>
            <p:cNvSpPr>
              <a:spLocks/>
            </p:cNvSpPr>
            <p:nvPr/>
          </p:nvSpPr>
          <p:spPr bwMode="auto">
            <a:xfrm>
              <a:off x="6822377" y="1809077"/>
              <a:ext cx="357111" cy="359392"/>
            </a:xfrm>
            <a:custGeom>
              <a:avLst/>
              <a:gdLst>
                <a:gd name="T0" fmla="*/ 20 w 313"/>
                <a:gd name="T1" fmla="*/ 79 h 237"/>
                <a:gd name="T2" fmla="*/ 8 w 313"/>
                <a:gd name="T3" fmla="*/ 156 h 237"/>
                <a:gd name="T4" fmla="*/ 62 w 313"/>
                <a:gd name="T5" fmla="*/ 225 h 237"/>
                <a:gd name="T6" fmla="*/ 190 w 313"/>
                <a:gd name="T7" fmla="*/ 227 h 237"/>
                <a:gd name="T8" fmla="*/ 293 w 313"/>
                <a:gd name="T9" fmla="*/ 204 h 237"/>
                <a:gd name="T10" fmla="*/ 311 w 313"/>
                <a:gd name="T11" fmla="*/ 154 h 237"/>
                <a:gd name="T12" fmla="*/ 299 w 313"/>
                <a:gd name="T13" fmla="*/ 76 h 237"/>
                <a:gd name="T14" fmla="*/ 242 w 313"/>
                <a:gd name="T15" fmla="*/ 35 h 237"/>
                <a:gd name="T16" fmla="*/ 155 w 313"/>
                <a:gd name="T17" fmla="*/ 6 h 237"/>
                <a:gd name="T18" fmla="*/ 63 w 313"/>
                <a:gd name="T19" fmla="*/ 12 h 237"/>
                <a:gd name="T20" fmla="*/ 20 w 313"/>
                <a:gd name="T21" fmla="*/ 7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3" h="237">
                  <a:moveTo>
                    <a:pt x="20" y="79"/>
                  </a:moveTo>
                  <a:cubicBezTo>
                    <a:pt x="11" y="112"/>
                    <a:pt x="0" y="132"/>
                    <a:pt x="8" y="156"/>
                  </a:cubicBezTo>
                  <a:cubicBezTo>
                    <a:pt x="15" y="181"/>
                    <a:pt x="32" y="213"/>
                    <a:pt x="62" y="225"/>
                  </a:cubicBezTo>
                  <a:cubicBezTo>
                    <a:pt x="93" y="237"/>
                    <a:pt x="152" y="231"/>
                    <a:pt x="190" y="227"/>
                  </a:cubicBezTo>
                  <a:cubicBezTo>
                    <a:pt x="228" y="224"/>
                    <a:pt x="273" y="216"/>
                    <a:pt x="293" y="204"/>
                  </a:cubicBezTo>
                  <a:cubicBezTo>
                    <a:pt x="313" y="192"/>
                    <a:pt x="310" y="175"/>
                    <a:pt x="311" y="154"/>
                  </a:cubicBezTo>
                  <a:cubicBezTo>
                    <a:pt x="313" y="132"/>
                    <a:pt x="310" y="96"/>
                    <a:pt x="299" y="76"/>
                  </a:cubicBezTo>
                  <a:cubicBezTo>
                    <a:pt x="288" y="56"/>
                    <a:pt x="266" y="47"/>
                    <a:pt x="242" y="35"/>
                  </a:cubicBezTo>
                  <a:cubicBezTo>
                    <a:pt x="218" y="23"/>
                    <a:pt x="185" y="10"/>
                    <a:pt x="155" y="6"/>
                  </a:cubicBezTo>
                  <a:cubicBezTo>
                    <a:pt x="125" y="2"/>
                    <a:pt x="85" y="0"/>
                    <a:pt x="63" y="12"/>
                  </a:cubicBezTo>
                  <a:cubicBezTo>
                    <a:pt x="41" y="24"/>
                    <a:pt x="29" y="65"/>
                    <a:pt x="20" y="7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30" descr="宽上对角线"/>
            <p:cNvSpPr>
              <a:spLocks/>
            </p:cNvSpPr>
            <p:nvPr/>
          </p:nvSpPr>
          <p:spPr bwMode="auto">
            <a:xfrm>
              <a:off x="5704267" y="2177597"/>
              <a:ext cx="409593" cy="281809"/>
            </a:xfrm>
            <a:custGeom>
              <a:avLst/>
              <a:gdLst>
                <a:gd name="T0" fmla="*/ 164 w 359"/>
                <a:gd name="T1" fmla="*/ 32 h 247"/>
                <a:gd name="T2" fmla="*/ 100 w 359"/>
                <a:gd name="T3" fmla="*/ 4 h 247"/>
                <a:gd name="T4" fmla="*/ 39 w 359"/>
                <a:gd name="T5" fmla="*/ 9 h 247"/>
                <a:gd name="T6" fmla="*/ 1 w 359"/>
                <a:gd name="T7" fmla="*/ 54 h 247"/>
                <a:gd name="T8" fmla="*/ 35 w 359"/>
                <a:gd name="T9" fmla="*/ 174 h 247"/>
                <a:gd name="T10" fmla="*/ 188 w 359"/>
                <a:gd name="T11" fmla="*/ 238 h 247"/>
                <a:gd name="T12" fmla="*/ 314 w 359"/>
                <a:gd name="T13" fmla="*/ 229 h 247"/>
                <a:gd name="T14" fmla="*/ 355 w 359"/>
                <a:gd name="T15" fmla="*/ 206 h 247"/>
                <a:gd name="T16" fmla="*/ 333 w 359"/>
                <a:gd name="T17" fmla="*/ 151 h 247"/>
                <a:gd name="T18" fmla="*/ 250 w 359"/>
                <a:gd name="T19" fmla="*/ 68 h 247"/>
                <a:gd name="T20" fmla="*/ 164 w 359"/>
                <a:gd name="T21" fmla="*/ 3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9" h="247">
                  <a:moveTo>
                    <a:pt x="164" y="32"/>
                  </a:moveTo>
                  <a:cubicBezTo>
                    <a:pt x="138" y="21"/>
                    <a:pt x="120" y="6"/>
                    <a:pt x="100" y="4"/>
                  </a:cubicBezTo>
                  <a:cubicBezTo>
                    <a:pt x="79" y="0"/>
                    <a:pt x="55" y="1"/>
                    <a:pt x="39" y="9"/>
                  </a:cubicBezTo>
                  <a:cubicBezTo>
                    <a:pt x="23" y="17"/>
                    <a:pt x="2" y="27"/>
                    <a:pt x="1" y="54"/>
                  </a:cubicBezTo>
                  <a:cubicBezTo>
                    <a:pt x="0" y="81"/>
                    <a:pt x="4" y="143"/>
                    <a:pt x="35" y="174"/>
                  </a:cubicBezTo>
                  <a:cubicBezTo>
                    <a:pt x="66" y="205"/>
                    <a:pt x="142" y="229"/>
                    <a:pt x="188" y="238"/>
                  </a:cubicBezTo>
                  <a:cubicBezTo>
                    <a:pt x="234" y="247"/>
                    <a:pt x="286" y="234"/>
                    <a:pt x="314" y="229"/>
                  </a:cubicBezTo>
                  <a:cubicBezTo>
                    <a:pt x="342" y="224"/>
                    <a:pt x="351" y="220"/>
                    <a:pt x="355" y="206"/>
                  </a:cubicBezTo>
                  <a:cubicBezTo>
                    <a:pt x="359" y="194"/>
                    <a:pt x="351" y="174"/>
                    <a:pt x="333" y="151"/>
                  </a:cubicBezTo>
                  <a:cubicBezTo>
                    <a:pt x="315" y="128"/>
                    <a:pt x="278" y="88"/>
                    <a:pt x="250" y="68"/>
                  </a:cubicBezTo>
                  <a:cubicBezTo>
                    <a:pt x="221" y="50"/>
                    <a:pt x="189" y="42"/>
                    <a:pt x="164" y="32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31" descr="宽上对角线"/>
            <p:cNvSpPr>
              <a:spLocks/>
            </p:cNvSpPr>
            <p:nvPr/>
          </p:nvSpPr>
          <p:spPr bwMode="auto">
            <a:xfrm rot="846441" flipV="1">
              <a:off x="6198289" y="2103437"/>
              <a:ext cx="316037" cy="308051"/>
            </a:xfrm>
            <a:custGeom>
              <a:avLst/>
              <a:gdLst>
                <a:gd name="T0" fmla="*/ 317 w 390"/>
                <a:gd name="T1" fmla="*/ 95 h 296"/>
                <a:gd name="T2" fmla="*/ 381 w 390"/>
                <a:gd name="T3" fmla="*/ 171 h 296"/>
                <a:gd name="T4" fmla="*/ 370 w 390"/>
                <a:gd name="T5" fmla="*/ 244 h 296"/>
                <a:gd name="T6" fmla="*/ 320 w 390"/>
                <a:gd name="T7" fmla="*/ 286 h 296"/>
                <a:gd name="T8" fmla="*/ 240 w 390"/>
                <a:gd name="T9" fmla="*/ 290 h 296"/>
                <a:gd name="T10" fmla="*/ 126 w 390"/>
                <a:gd name="T11" fmla="*/ 252 h 296"/>
                <a:gd name="T12" fmla="*/ 34 w 390"/>
                <a:gd name="T13" fmla="*/ 179 h 296"/>
                <a:gd name="T14" fmla="*/ 1 w 390"/>
                <a:gd name="T15" fmla="*/ 105 h 296"/>
                <a:gd name="T16" fmla="*/ 26 w 390"/>
                <a:gd name="T17" fmla="*/ 51 h 296"/>
                <a:gd name="T18" fmla="*/ 78 w 390"/>
                <a:gd name="T19" fmla="*/ 13 h 296"/>
                <a:gd name="T20" fmla="*/ 160 w 390"/>
                <a:gd name="T21" fmla="*/ 6 h 296"/>
                <a:gd name="T22" fmla="*/ 263 w 390"/>
                <a:gd name="T23" fmla="*/ 49 h 296"/>
                <a:gd name="T24" fmla="*/ 317 w 390"/>
                <a:gd name="T25" fmla="*/ 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0" h="296">
                  <a:moveTo>
                    <a:pt x="317" y="95"/>
                  </a:moveTo>
                  <a:cubicBezTo>
                    <a:pt x="337" y="115"/>
                    <a:pt x="373" y="146"/>
                    <a:pt x="381" y="171"/>
                  </a:cubicBezTo>
                  <a:cubicBezTo>
                    <a:pt x="390" y="196"/>
                    <a:pt x="380" y="225"/>
                    <a:pt x="370" y="244"/>
                  </a:cubicBezTo>
                  <a:cubicBezTo>
                    <a:pt x="359" y="263"/>
                    <a:pt x="342" y="279"/>
                    <a:pt x="320" y="286"/>
                  </a:cubicBezTo>
                  <a:cubicBezTo>
                    <a:pt x="298" y="294"/>
                    <a:pt x="273" y="296"/>
                    <a:pt x="240" y="290"/>
                  </a:cubicBezTo>
                  <a:cubicBezTo>
                    <a:pt x="208" y="284"/>
                    <a:pt x="160" y="270"/>
                    <a:pt x="126" y="252"/>
                  </a:cubicBezTo>
                  <a:cubicBezTo>
                    <a:pt x="92" y="234"/>
                    <a:pt x="55" y="203"/>
                    <a:pt x="34" y="179"/>
                  </a:cubicBezTo>
                  <a:cubicBezTo>
                    <a:pt x="13" y="155"/>
                    <a:pt x="2" y="126"/>
                    <a:pt x="1" y="105"/>
                  </a:cubicBezTo>
                  <a:cubicBezTo>
                    <a:pt x="0" y="84"/>
                    <a:pt x="13" y="66"/>
                    <a:pt x="26" y="51"/>
                  </a:cubicBezTo>
                  <a:cubicBezTo>
                    <a:pt x="39" y="36"/>
                    <a:pt x="56" y="20"/>
                    <a:pt x="78" y="13"/>
                  </a:cubicBezTo>
                  <a:cubicBezTo>
                    <a:pt x="100" y="6"/>
                    <a:pt x="129" y="0"/>
                    <a:pt x="160" y="6"/>
                  </a:cubicBezTo>
                  <a:cubicBezTo>
                    <a:pt x="191" y="12"/>
                    <a:pt x="237" y="35"/>
                    <a:pt x="263" y="49"/>
                  </a:cubicBezTo>
                  <a:cubicBezTo>
                    <a:pt x="289" y="62"/>
                    <a:pt x="297" y="74"/>
                    <a:pt x="317" y="95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32" descr="宽上对角线"/>
            <p:cNvSpPr>
              <a:spLocks/>
            </p:cNvSpPr>
            <p:nvPr/>
          </p:nvSpPr>
          <p:spPr bwMode="auto">
            <a:xfrm rot="16200000" flipH="1" flipV="1">
              <a:off x="5951849" y="1860419"/>
              <a:ext cx="419861" cy="370802"/>
            </a:xfrm>
            <a:custGeom>
              <a:avLst/>
              <a:gdLst>
                <a:gd name="T0" fmla="*/ 268 w 367"/>
                <a:gd name="T1" fmla="*/ 56 h 221"/>
                <a:gd name="T2" fmla="*/ 148 w 367"/>
                <a:gd name="T3" fmla="*/ 12 h 221"/>
                <a:gd name="T4" fmla="*/ 48 w 367"/>
                <a:gd name="T5" fmla="*/ 12 h 221"/>
                <a:gd name="T6" fmla="*/ 0 w 367"/>
                <a:gd name="T7" fmla="*/ 84 h 221"/>
                <a:gd name="T8" fmla="*/ 48 w 367"/>
                <a:gd name="T9" fmla="*/ 176 h 221"/>
                <a:gd name="T10" fmla="*/ 168 w 367"/>
                <a:gd name="T11" fmla="*/ 188 h 221"/>
                <a:gd name="T12" fmla="*/ 276 w 367"/>
                <a:gd name="T13" fmla="*/ 212 h 221"/>
                <a:gd name="T14" fmla="*/ 344 w 367"/>
                <a:gd name="T15" fmla="*/ 208 h 221"/>
                <a:gd name="T16" fmla="*/ 364 w 367"/>
                <a:gd name="T17" fmla="*/ 132 h 221"/>
                <a:gd name="T18" fmla="*/ 324 w 367"/>
                <a:gd name="T19" fmla="*/ 76 h 221"/>
                <a:gd name="T20" fmla="*/ 268 w 367"/>
                <a:gd name="T21" fmla="*/ 5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221">
                  <a:moveTo>
                    <a:pt x="268" y="56"/>
                  </a:moveTo>
                  <a:cubicBezTo>
                    <a:pt x="239" y="45"/>
                    <a:pt x="185" y="19"/>
                    <a:pt x="148" y="12"/>
                  </a:cubicBezTo>
                  <a:cubicBezTo>
                    <a:pt x="111" y="5"/>
                    <a:pt x="73" y="0"/>
                    <a:pt x="48" y="12"/>
                  </a:cubicBezTo>
                  <a:cubicBezTo>
                    <a:pt x="23" y="24"/>
                    <a:pt x="0" y="57"/>
                    <a:pt x="0" y="84"/>
                  </a:cubicBezTo>
                  <a:cubicBezTo>
                    <a:pt x="0" y="111"/>
                    <a:pt x="20" y="159"/>
                    <a:pt x="48" y="176"/>
                  </a:cubicBezTo>
                  <a:cubicBezTo>
                    <a:pt x="76" y="193"/>
                    <a:pt x="130" y="182"/>
                    <a:pt x="168" y="188"/>
                  </a:cubicBezTo>
                  <a:cubicBezTo>
                    <a:pt x="206" y="194"/>
                    <a:pt x="247" y="209"/>
                    <a:pt x="276" y="212"/>
                  </a:cubicBezTo>
                  <a:cubicBezTo>
                    <a:pt x="305" y="215"/>
                    <a:pt x="329" y="221"/>
                    <a:pt x="344" y="208"/>
                  </a:cubicBezTo>
                  <a:cubicBezTo>
                    <a:pt x="359" y="195"/>
                    <a:pt x="367" y="154"/>
                    <a:pt x="364" y="132"/>
                  </a:cubicBezTo>
                  <a:cubicBezTo>
                    <a:pt x="361" y="110"/>
                    <a:pt x="341" y="88"/>
                    <a:pt x="324" y="76"/>
                  </a:cubicBezTo>
                  <a:cubicBezTo>
                    <a:pt x="307" y="64"/>
                    <a:pt x="297" y="67"/>
                    <a:pt x="268" y="56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33" descr="宽上对角线"/>
            <p:cNvSpPr>
              <a:spLocks/>
            </p:cNvSpPr>
            <p:nvPr/>
          </p:nvSpPr>
          <p:spPr bwMode="auto">
            <a:xfrm rot="16200000" flipH="1" flipV="1">
              <a:off x="6456139" y="1933438"/>
              <a:ext cx="382211" cy="426707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34" descr="宽上对角线"/>
            <p:cNvSpPr>
              <a:spLocks/>
            </p:cNvSpPr>
            <p:nvPr/>
          </p:nvSpPr>
          <p:spPr bwMode="auto">
            <a:xfrm flipH="1" flipV="1">
              <a:off x="5209104" y="1957398"/>
              <a:ext cx="244159" cy="528250"/>
            </a:xfrm>
            <a:custGeom>
              <a:avLst/>
              <a:gdLst>
                <a:gd name="T0" fmla="*/ 276 w 277"/>
                <a:gd name="T1" fmla="*/ 39 h 324"/>
                <a:gd name="T2" fmla="*/ 224 w 277"/>
                <a:gd name="T3" fmla="*/ 3 h 324"/>
                <a:gd name="T4" fmla="*/ 120 w 277"/>
                <a:gd name="T5" fmla="*/ 19 h 324"/>
                <a:gd name="T6" fmla="*/ 36 w 277"/>
                <a:gd name="T7" fmla="*/ 63 h 324"/>
                <a:gd name="T8" fmla="*/ 0 w 277"/>
                <a:gd name="T9" fmla="*/ 227 h 324"/>
                <a:gd name="T10" fmla="*/ 36 w 277"/>
                <a:gd name="T11" fmla="*/ 315 h 324"/>
                <a:gd name="T12" fmla="*/ 144 w 277"/>
                <a:gd name="T13" fmla="*/ 283 h 324"/>
                <a:gd name="T14" fmla="*/ 216 w 277"/>
                <a:gd name="T15" fmla="*/ 139 h 324"/>
                <a:gd name="T16" fmla="*/ 276 w 277"/>
                <a:gd name="T17" fmla="*/ 3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7" h="324">
                  <a:moveTo>
                    <a:pt x="276" y="39"/>
                  </a:moveTo>
                  <a:cubicBezTo>
                    <a:pt x="277" y="16"/>
                    <a:pt x="250" y="6"/>
                    <a:pt x="224" y="3"/>
                  </a:cubicBezTo>
                  <a:cubicBezTo>
                    <a:pt x="198" y="0"/>
                    <a:pt x="151" y="9"/>
                    <a:pt x="120" y="19"/>
                  </a:cubicBezTo>
                  <a:cubicBezTo>
                    <a:pt x="89" y="29"/>
                    <a:pt x="56" y="28"/>
                    <a:pt x="36" y="63"/>
                  </a:cubicBezTo>
                  <a:cubicBezTo>
                    <a:pt x="16" y="98"/>
                    <a:pt x="0" y="185"/>
                    <a:pt x="0" y="227"/>
                  </a:cubicBezTo>
                  <a:cubicBezTo>
                    <a:pt x="0" y="269"/>
                    <a:pt x="12" y="306"/>
                    <a:pt x="36" y="315"/>
                  </a:cubicBezTo>
                  <a:cubicBezTo>
                    <a:pt x="60" y="324"/>
                    <a:pt x="114" y="312"/>
                    <a:pt x="144" y="283"/>
                  </a:cubicBezTo>
                  <a:cubicBezTo>
                    <a:pt x="174" y="254"/>
                    <a:pt x="193" y="180"/>
                    <a:pt x="216" y="139"/>
                  </a:cubicBezTo>
                  <a:cubicBezTo>
                    <a:pt x="239" y="98"/>
                    <a:pt x="275" y="62"/>
                    <a:pt x="276" y="39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35" descr="宽上对角线"/>
            <p:cNvSpPr>
              <a:spLocks/>
            </p:cNvSpPr>
            <p:nvPr/>
          </p:nvSpPr>
          <p:spPr bwMode="auto">
            <a:xfrm flipV="1">
              <a:off x="6885128" y="2161624"/>
              <a:ext cx="278387" cy="312614"/>
            </a:xfrm>
            <a:custGeom>
              <a:avLst/>
              <a:gdLst>
                <a:gd name="T0" fmla="*/ 72 w 228"/>
                <a:gd name="T1" fmla="*/ 170 h 187"/>
                <a:gd name="T2" fmla="*/ 129 w 228"/>
                <a:gd name="T3" fmla="*/ 187 h 187"/>
                <a:gd name="T4" fmla="*/ 187 w 228"/>
                <a:gd name="T5" fmla="*/ 176 h 187"/>
                <a:gd name="T6" fmla="*/ 228 w 228"/>
                <a:gd name="T7" fmla="*/ 136 h 187"/>
                <a:gd name="T8" fmla="*/ 186 w 228"/>
                <a:gd name="T9" fmla="*/ 55 h 187"/>
                <a:gd name="T10" fmla="*/ 70 w 228"/>
                <a:gd name="T11" fmla="*/ 6 h 187"/>
                <a:gd name="T12" fmla="*/ 0 w 228"/>
                <a:gd name="T13" fmla="*/ 89 h 187"/>
                <a:gd name="T14" fmla="*/ 72 w 228"/>
                <a:gd name="T15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8" h="187">
                  <a:moveTo>
                    <a:pt x="72" y="170"/>
                  </a:moveTo>
                  <a:cubicBezTo>
                    <a:pt x="95" y="176"/>
                    <a:pt x="111" y="187"/>
                    <a:pt x="129" y="187"/>
                  </a:cubicBezTo>
                  <a:cubicBezTo>
                    <a:pt x="149" y="187"/>
                    <a:pt x="171" y="184"/>
                    <a:pt x="187" y="176"/>
                  </a:cubicBezTo>
                  <a:cubicBezTo>
                    <a:pt x="204" y="169"/>
                    <a:pt x="228" y="156"/>
                    <a:pt x="228" y="136"/>
                  </a:cubicBezTo>
                  <a:cubicBezTo>
                    <a:pt x="227" y="117"/>
                    <a:pt x="213" y="76"/>
                    <a:pt x="186" y="55"/>
                  </a:cubicBezTo>
                  <a:cubicBezTo>
                    <a:pt x="161" y="33"/>
                    <a:pt x="101" y="0"/>
                    <a:pt x="70" y="6"/>
                  </a:cubicBezTo>
                  <a:cubicBezTo>
                    <a:pt x="39" y="12"/>
                    <a:pt x="0" y="62"/>
                    <a:pt x="0" y="89"/>
                  </a:cubicBezTo>
                  <a:cubicBezTo>
                    <a:pt x="0" y="116"/>
                    <a:pt x="57" y="153"/>
                    <a:pt x="72" y="170"/>
                  </a:cubicBezTo>
                  <a:close/>
                </a:path>
              </a:pathLst>
            </a:custGeom>
            <a:pattFill prst="wdUpDiag">
              <a:fgClr>
                <a:schemeClr val="tx1"/>
              </a:fgClr>
              <a:bgClr>
                <a:srgbClr val="C89058"/>
              </a:bgClr>
            </a:pattFill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7" name="Group 136"/>
            <p:cNvGrpSpPr>
              <a:grpSpLocks/>
            </p:cNvGrpSpPr>
            <p:nvPr/>
          </p:nvGrpSpPr>
          <p:grpSpPr bwMode="auto">
            <a:xfrm>
              <a:off x="5214738" y="1529479"/>
              <a:ext cx="1921323" cy="229327"/>
              <a:chOff x="3768" y="808"/>
              <a:chExt cx="1409" cy="314"/>
            </a:xfrm>
          </p:grpSpPr>
          <p:sp>
            <p:nvSpPr>
              <p:cNvPr id="162" name="Line 137"/>
              <p:cNvSpPr>
                <a:spLocks noChangeAspect="1" noChangeShapeType="1"/>
              </p:cNvSpPr>
              <p:nvPr/>
            </p:nvSpPr>
            <p:spPr bwMode="auto">
              <a:xfrm>
                <a:off x="376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3" name="Line 138"/>
              <p:cNvSpPr>
                <a:spLocks noChangeAspect="1" noChangeShapeType="1"/>
              </p:cNvSpPr>
              <p:nvPr/>
            </p:nvSpPr>
            <p:spPr bwMode="auto">
              <a:xfrm>
                <a:off x="3924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4" name="Line 139"/>
              <p:cNvSpPr>
                <a:spLocks noChangeAspect="1" noChangeShapeType="1"/>
              </p:cNvSpPr>
              <p:nvPr/>
            </p:nvSpPr>
            <p:spPr bwMode="auto">
              <a:xfrm>
                <a:off x="4082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5" name="Line 140"/>
              <p:cNvSpPr>
                <a:spLocks noChangeAspect="1" noChangeShapeType="1"/>
              </p:cNvSpPr>
              <p:nvPr/>
            </p:nvSpPr>
            <p:spPr bwMode="auto">
              <a:xfrm>
                <a:off x="4238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6" name="Line 141"/>
              <p:cNvSpPr>
                <a:spLocks noChangeAspect="1" noChangeShapeType="1"/>
              </p:cNvSpPr>
              <p:nvPr/>
            </p:nvSpPr>
            <p:spPr bwMode="auto">
              <a:xfrm>
                <a:off x="4393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7" name="Line 142"/>
              <p:cNvSpPr>
                <a:spLocks noChangeAspect="1" noChangeShapeType="1"/>
              </p:cNvSpPr>
              <p:nvPr/>
            </p:nvSpPr>
            <p:spPr bwMode="auto">
              <a:xfrm>
                <a:off x="455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8" name="Line 143"/>
              <p:cNvSpPr>
                <a:spLocks noChangeAspect="1" noChangeShapeType="1"/>
              </p:cNvSpPr>
              <p:nvPr/>
            </p:nvSpPr>
            <p:spPr bwMode="auto">
              <a:xfrm>
                <a:off x="470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69" name="Line 144"/>
              <p:cNvSpPr>
                <a:spLocks noChangeAspect="1" noChangeShapeType="1"/>
              </p:cNvSpPr>
              <p:nvPr/>
            </p:nvSpPr>
            <p:spPr bwMode="auto">
              <a:xfrm>
                <a:off x="4865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0" name="Line 145"/>
              <p:cNvSpPr>
                <a:spLocks noChangeAspect="1" noChangeShapeType="1"/>
              </p:cNvSpPr>
              <p:nvPr/>
            </p:nvSpPr>
            <p:spPr bwMode="auto">
              <a:xfrm>
                <a:off x="5021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  <p:sp>
            <p:nvSpPr>
              <p:cNvPr id="171" name="Line 146"/>
              <p:cNvSpPr>
                <a:spLocks noChangeAspect="1" noChangeShapeType="1"/>
              </p:cNvSpPr>
              <p:nvPr/>
            </p:nvSpPr>
            <p:spPr bwMode="auto">
              <a:xfrm>
                <a:off x="5177" y="808"/>
                <a:ext cx="0" cy="3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160" name="Text Box 159"/>
            <p:cNvSpPr txBox="1">
              <a:spLocks noChangeArrowheads="1"/>
            </p:cNvSpPr>
            <p:nvPr/>
          </p:nvSpPr>
          <p:spPr bwMode="auto">
            <a:xfrm>
              <a:off x="4942127" y="2485648"/>
              <a:ext cx="229327" cy="328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161" name="Text Box 160"/>
            <p:cNvSpPr txBox="1">
              <a:spLocks noChangeArrowheads="1"/>
            </p:cNvSpPr>
            <p:nvPr/>
          </p:nvSpPr>
          <p:spPr bwMode="auto">
            <a:xfrm>
              <a:off x="7184193" y="2470922"/>
              <a:ext cx="229327" cy="328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cxnSp>
          <p:nvCxnSpPr>
            <p:cNvPr id="3" name="直接连接符 2"/>
            <p:cNvCxnSpPr>
              <a:stCxn id="122" idx="1"/>
              <a:endCxn id="122" idx="3"/>
            </p:cNvCxnSpPr>
            <p:nvPr/>
          </p:nvCxnSpPr>
          <p:spPr bwMode="auto">
            <a:xfrm>
              <a:off x="5201118" y="2682459"/>
              <a:ext cx="1982933" cy="0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5" name="Line 150"/>
            <p:cNvSpPr>
              <a:spLocks noChangeShapeType="1"/>
            </p:cNvSpPr>
            <p:nvPr/>
          </p:nvSpPr>
          <p:spPr bwMode="auto">
            <a:xfrm flipV="1">
              <a:off x="5381139" y="2688173"/>
              <a:ext cx="0" cy="16771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51"/>
            <p:cNvSpPr>
              <a:spLocks noChangeShapeType="1"/>
            </p:cNvSpPr>
            <p:nvPr/>
          </p:nvSpPr>
          <p:spPr bwMode="auto">
            <a:xfrm flipH="1">
              <a:off x="5935742" y="2508430"/>
              <a:ext cx="37651" cy="16543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52"/>
            <p:cNvSpPr>
              <a:spLocks noChangeShapeType="1"/>
            </p:cNvSpPr>
            <p:nvPr/>
          </p:nvSpPr>
          <p:spPr bwMode="auto">
            <a:xfrm rot="10800000" flipH="1">
              <a:off x="5897861" y="2689367"/>
              <a:ext cx="37651" cy="165435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53"/>
            <p:cNvSpPr>
              <a:spLocks noChangeShapeType="1"/>
            </p:cNvSpPr>
            <p:nvPr/>
          </p:nvSpPr>
          <p:spPr bwMode="auto">
            <a:xfrm rot="10800000" flipH="1">
              <a:off x="6372743" y="2688226"/>
              <a:ext cx="6846" cy="19281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54"/>
            <p:cNvSpPr>
              <a:spLocks noChangeShapeType="1"/>
            </p:cNvSpPr>
            <p:nvPr/>
          </p:nvSpPr>
          <p:spPr bwMode="auto">
            <a:xfrm flipH="1">
              <a:off x="6377415" y="2482208"/>
              <a:ext cx="6846" cy="19281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57"/>
            <p:cNvSpPr>
              <a:spLocks noChangeShapeType="1"/>
            </p:cNvSpPr>
            <p:nvPr/>
          </p:nvSpPr>
          <p:spPr bwMode="auto">
            <a:xfrm flipH="1">
              <a:off x="6901106" y="2482791"/>
              <a:ext cx="14832" cy="189394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58"/>
            <p:cNvSpPr>
              <a:spLocks noChangeShapeType="1"/>
            </p:cNvSpPr>
            <p:nvPr/>
          </p:nvSpPr>
          <p:spPr bwMode="auto">
            <a:xfrm rot="10800000" flipH="1">
              <a:off x="6888561" y="2692845"/>
              <a:ext cx="14832" cy="189394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49"/>
            <p:cNvSpPr>
              <a:spLocks noChangeShapeType="1"/>
            </p:cNvSpPr>
            <p:nvPr/>
          </p:nvSpPr>
          <p:spPr bwMode="auto">
            <a:xfrm>
              <a:off x="5381139" y="2510172"/>
              <a:ext cx="0" cy="167717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" name="Rectangle 4"/>
          <p:cNvSpPr>
            <a:spLocks noChangeArrowheads="1"/>
          </p:cNvSpPr>
          <p:nvPr/>
        </p:nvSpPr>
        <p:spPr bwMode="auto">
          <a:xfrm>
            <a:off x="1749822" y="3652501"/>
            <a:ext cx="614053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42925" indent="-5429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135000"/>
              <a:buFont typeface="+mj-lt"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两个公式是否正确？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  <a:p>
            <a:pPr marL="542925" indent="-5429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135000"/>
              <a:buFont typeface="+mj-lt"/>
              <a:buAutoNum type="arabicPeriod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两个公式中的有效应力是否含义相同？</a:t>
            </a:r>
            <a:endParaRPr kumimoji="1" lang="en-US" altLang="zh-CN" sz="2400" b="1" dirty="0" smtClean="0">
              <a:solidFill>
                <a:srgbClr val="000066"/>
              </a:solidFill>
              <a:ea typeface="幼圆" pitchFamily="49" charset="-122"/>
            </a:endParaRPr>
          </a:p>
          <a:p>
            <a:pPr marL="542925" indent="-5429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135000"/>
              <a:buFont typeface="+mj-lt"/>
              <a:buAutoNum type="arabicPeriod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哪个公式更适合土力学，为什么？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9" name="Text Box 53"/>
          <p:cNvSpPr txBox="1">
            <a:spLocks noChangeArrowheads="1"/>
          </p:cNvSpPr>
          <p:nvPr/>
        </p:nvSpPr>
        <p:spPr bwMode="auto">
          <a:xfrm>
            <a:off x="1764959" y="5758461"/>
            <a:ext cx="67226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课堂讨论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：有效应力原理的不同形式</a:t>
            </a:r>
            <a:endParaRPr lang="en-US" altLang="zh-CN" sz="32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0" name="Text Box 53"/>
          <p:cNvSpPr txBox="1">
            <a:spLocks noChangeArrowheads="1"/>
          </p:cNvSpPr>
          <p:nvPr/>
        </p:nvSpPr>
        <p:spPr bwMode="auto">
          <a:xfrm>
            <a:off x="793792" y="3831563"/>
            <a:ext cx="690205" cy="14773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A50021"/>
                </a:solidFill>
                <a:latin typeface="+mj-ea"/>
                <a:ea typeface="+mj-ea"/>
              </a:rPr>
              <a:t>讨</a:t>
            </a:r>
            <a:endParaRPr lang="en-US" altLang="zh-CN" sz="3600" b="1" dirty="0" smtClean="0">
              <a:solidFill>
                <a:srgbClr val="A50021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A50021"/>
                </a:solidFill>
                <a:latin typeface="+mj-ea"/>
                <a:ea typeface="+mj-ea"/>
              </a:rPr>
              <a:t>论</a:t>
            </a:r>
            <a:endParaRPr lang="en-US" altLang="zh-CN" sz="3600" b="1" dirty="0">
              <a:solidFill>
                <a:srgbClr val="A50021"/>
              </a:solidFill>
              <a:latin typeface="+mj-ea"/>
              <a:ea typeface="+mj-ea"/>
            </a:endParaRPr>
          </a:p>
        </p:txBody>
      </p:sp>
      <p:sp>
        <p:nvSpPr>
          <p:cNvPr id="112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571649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5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3" name="Text Box 53"/>
          <p:cNvSpPr txBox="1">
            <a:spLocks noChangeArrowheads="1"/>
          </p:cNvSpPr>
          <p:nvPr/>
        </p:nvSpPr>
        <p:spPr bwMode="auto">
          <a:xfrm>
            <a:off x="1764959" y="5758461"/>
            <a:ext cx="67226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课堂讨论</a:t>
            </a:r>
            <a:r>
              <a:rPr lang="zh-CN" altLang="en-US" sz="3200" b="1" dirty="0" smtClean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：有效应力原理的不同形式</a:t>
            </a:r>
            <a:endParaRPr lang="en-US" altLang="zh-CN" sz="3200" b="1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38725" y="809625"/>
            <a:ext cx="3886201" cy="2317711"/>
            <a:chOff x="5038725" y="809625"/>
            <a:chExt cx="3886201" cy="2317711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 bwMode="auto">
            <a:xfrm>
              <a:off x="5038725" y="819012"/>
              <a:ext cx="3886201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542925" indent="-542925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ct val="135000"/>
                <a:buFont typeface="+mj-lt"/>
                <a:buAutoNum type="arabicPeriod"/>
              </a:pP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</a:p>
            <a:p>
              <a:pPr marL="447675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ct val="135000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反映</a:t>
              </a:r>
              <a:r>
                <a:rPr kumimoji="1"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颗粒间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的接触力大小，两种情况计算得到的有效应力相等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836708"/>
                </p:ext>
              </p:extLst>
            </p:nvPr>
          </p:nvGraphicFramePr>
          <p:xfrm>
            <a:off x="5686425" y="809625"/>
            <a:ext cx="1492200" cy="44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6932" name="公式" r:id="rId4" imgW="596880" imgH="177480" progId="Equation.3">
                    <p:embed/>
                  </p:oleObj>
                </mc:Choice>
                <mc:Fallback>
                  <p:oleObj name="公式" r:id="rId4" imgW="596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 l="-8444" r="-8444"/>
                        <a:stretch>
                          <a:fillRect/>
                        </a:stretch>
                      </p:blipFill>
                      <p:spPr bwMode="auto">
                        <a:xfrm>
                          <a:off x="5686425" y="809625"/>
                          <a:ext cx="1492200" cy="44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fol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981575" y="3238500"/>
            <a:ext cx="3886201" cy="2308324"/>
            <a:chOff x="4981575" y="3238500"/>
            <a:chExt cx="3886201" cy="2308324"/>
          </a:xfrm>
        </p:grpSpPr>
        <p:sp>
          <p:nvSpPr>
            <p:cNvPr id="44" name="Rectangle 4"/>
            <p:cNvSpPr>
              <a:spLocks noChangeArrowheads="1"/>
            </p:cNvSpPr>
            <p:nvPr/>
          </p:nvSpPr>
          <p:spPr bwMode="auto">
            <a:xfrm>
              <a:off x="4981575" y="3238500"/>
              <a:ext cx="3886201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542925" indent="-542925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ct val="135000"/>
                <a:buFont typeface="+mj-lt"/>
                <a:buAutoNum type="arabicPeriod" startAt="2"/>
              </a:pPr>
              <a:r>
                <a:rPr kumimoji="1" lang="en-US" altLang="zh-CN" sz="2400" b="1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</a:p>
            <a:p>
              <a:pPr marL="447675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00"/>
                </a:buClr>
                <a:buSzPct val="135000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反映</a:t>
              </a:r>
              <a:r>
                <a:rPr kumimoji="1" lang="zh-CN" altLang="en-US" sz="2400" b="1" dirty="0" smtClean="0">
                  <a:solidFill>
                    <a:srgbClr val="C00000"/>
                  </a:solidFill>
                  <a:ea typeface="幼圆" pitchFamily="49" charset="-122"/>
                </a:rPr>
                <a:t>颗粒本身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ea typeface="幼圆" pitchFamily="49" charset="-122"/>
                </a:rPr>
                <a:t>应力的大小，两种情况计算得到的有效应力相差巨大</a:t>
              </a:r>
              <a:endParaRPr kumimoji="1"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6420483"/>
                </p:ext>
              </p:extLst>
            </p:nvPr>
          </p:nvGraphicFramePr>
          <p:xfrm>
            <a:off x="5565892" y="3325813"/>
            <a:ext cx="3301200" cy="507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6933" name="Equation" r:id="rId6" imgW="1320480" imgH="203040" progId="Equation.DSMT4">
                    <p:embed/>
                  </p:oleObj>
                </mc:Choice>
                <mc:Fallback>
                  <p:oleObj name="Equation" r:id="rId6" imgW="1320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5892" y="3325813"/>
                          <a:ext cx="3301200" cy="507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595313" y="669925"/>
            <a:ext cx="4130675" cy="4664075"/>
            <a:chOff x="595313" y="669925"/>
            <a:chExt cx="4130675" cy="4664075"/>
          </a:xfrm>
        </p:grpSpPr>
        <p:grpSp>
          <p:nvGrpSpPr>
            <p:cNvPr id="1394762" name="Group 74"/>
            <p:cNvGrpSpPr>
              <a:grpSpLocks/>
            </p:cNvGrpSpPr>
            <p:nvPr/>
          </p:nvGrpSpPr>
          <p:grpSpPr bwMode="auto">
            <a:xfrm>
              <a:off x="595313" y="669925"/>
              <a:ext cx="4130675" cy="4664075"/>
              <a:chOff x="2583" y="516"/>
              <a:chExt cx="2602" cy="2938"/>
            </a:xfrm>
          </p:grpSpPr>
          <p:sp>
            <p:nvSpPr>
              <p:cNvPr id="1394763" name="Rectangle 75"/>
              <p:cNvSpPr>
                <a:spLocks noChangeArrowheads="1"/>
              </p:cNvSpPr>
              <p:nvPr/>
            </p:nvSpPr>
            <p:spPr bwMode="auto">
              <a:xfrm>
                <a:off x="2583" y="516"/>
                <a:ext cx="2602" cy="29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394764" name="Group 76"/>
              <p:cNvGrpSpPr>
                <a:grpSpLocks/>
              </p:cNvGrpSpPr>
              <p:nvPr/>
            </p:nvGrpSpPr>
            <p:grpSpPr bwMode="auto">
              <a:xfrm>
                <a:off x="3920" y="1714"/>
                <a:ext cx="662" cy="1204"/>
                <a:chOff x="4648" y="2472"/>
                <a:chExt cx="662" cy="1204"/>
              </a:xfrm>
            </p:grpSpPr>
            <p:sp>
              <p:nvSpPr>
                <p:cNvPr id="1394765" name="Rectangle 77"/>
                <p:cNvSpPr>
                  <a:spLocks noChangeArrowheads="1"/>
                </p:cNvSpPr>
                <p:nvPr/>
              </p:nvSpPr>
              <p:spPr bwMode="auto">
                <a:xfrm>
                  <a:off x="4656" y="2555"/>
                  <a:ext cx="654" cy="107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4766" name="Line 78"/>
                <p:cNvSpPr>
                  <a:spLocks noChangeShapeType="1"/>
                </p:cNvSpPr>
                <p:nvPr/>
              </p:nvSpPr>
              <p:spPr bwMode="auto">
                <a:xfrm>
                  <a:off x="4656" y="2555"/>
                  <a:ext cx="654" cy="0"/>
                </a:xfrm>
                <a:prstGeom prst="line">
                  <a:avLst/>
                </a:prstGeom>
                <a:noFill/>
                <a:ln w="1905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394767" name="Group 79"/>
                <p:cNvGrpSpPr>
                  <a:grpSpLocks/>
                </p:cNvGrpSpPr>
                <p:nvPr/>
              </p:nvGrpSpPr>
              <p:grpSpPr bwMode="auto">
                <a:xfrm>
                  <a:off x="4752" y="2472"/>
                  <a:ext cx="141" cy="167"/>
                  <a:chOff x="158" y="3099"/>
                  <a:chExt cx="141" cy="167"/>
                </a:xfrm>
              </p:grpSpPr>
              <p:sp>
                <p:nvSpPr>
                  <p:cNvPr id="1394768" name="Freeform 80"/>
                  <p:cNvSpPr>
                    <a:spLocks noChangeAspect="1"/>
                  </p:cNvSpPr>
                  <p:nvPr/>
                </p:nvSpPr>
                <p:spPr bwMode="auto">
                  <a:xfrm>
                    <a:off x="158" y="3205"/>
                    <a:ext cx="141" cy="1"/>
                  </a:xfrm>
                  <a:custGeom>
                    <a:avLst/>
                    <a:gdLst>
                      <a:gd name="T0" fmla="*/ 0 w 141"/>
                      <a:gd name="T1" fmla="*/ 0 h 1"/>
                      <a:gd name="T2" fmla="*/ 141 w 14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41" h="1">
                        <a:moveTo>
                          <a:pt x="0" y="0"/>
                        </a:moveTo>
                        <a:lnTo>
                          <a:pt x="141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69" name="Freeform 81"/>
                  <p:cNvSpPr>
                    <a:spLocks noChangeAspect="1"/>
                  </p:cNvSpPr>
                  <p:nvPr/>
                </p:nvSpPr>
                <p:spPr bwMode="auto">
                  <a:xfrm>
                    <a:off x="186" y="3238"/>
                    <a:ext cx="89" cy="0"/>
                  </a:xfrm>
                  <a:custGeom>
                    <a:avLst/>
                    <a:gdLst>
                      <a:gd name="T0" fmla="*/ 0 w 198"/>
                      <a:gd name="T1" fmla="*/ 0 h 1"/>
                      <a:gd name="T2" fmla="*/ 198 w 198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98" h="1">
                        <a:moveTo>
                          <a:pt x="0" y="0"/>
                        </a:moveTo>
                        <a:lnTo>
                          <a:pt x="198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70" name="AutoShape 82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183" y="3099"/>
                    <a:ext cx="102" cy="75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19050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71" name="Freeform 83"/>
                  <p:cNvSpPr>
                    <a:spLocks noChangeAspect="1"/>
                  </p:cNvSpPr>
                  <p:nvPr/>
                </p:nvSpPr>
                <p:spPr bwMode="auto">
                  <a:xfrm>
                    <a:off x="211" y="3266"/>
                    <a:ext cx="42" cy="0"/>
                  </a:xfrm>
                  <a:custGeom>
                    <a:avLst/>
                    <a:gdLst>
                      <a:gd name="T0" fmla="*/ 0 w 94"/>
                      <a:gd name="T1" fmla="*/ 0 h 1"/>
                      <a:gd name="T2" fmla="*/ 94 w 9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4" h="1">
                        <a:moveTo>
                          <a:pt x="0" y="0"/>
                        </a:moveTo>
                        <a:lnTo>
                          <a:pt x="94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94772" name="Line 84"/>
                <p:cNvSpPr>
                  <a:spLocks noChangeShapeType="1"/>
                </p:cNvSpPr>
                <p:nvPr/>
              </p:nvSpPr>
              <p:spPr bwMode="auto">
                <a:xfrm>
                  <a:off x="4648" y="3639"/>
                  <a:ext cx="654" cy="0"/>
                </a:xfrm>
                <a:prstGeom prst="line">
                  <a:avLst/>
                </a:prstGeom>
                <a:noFill/>
                <a:ln w="47625">
                  <a:solidFill>
                    <a:srgbClr val="666633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73" name="Line 85"/>
                <p:cNvSpPr>
                  <a:spLocks noChangeShapeType="1"/>
                </p:cNvSpPr>
                <p:nvPr/>
              </p:nvSpPr>
              <p:spPr bwMode="auto">
                <a:xfrm>
                  <a:off x="4649" y="3676"/>
                  <a:ext cx="652" cy="0"/>
                </a:xfrm>
                <a:prstGeom prst="line">
                  <a:avLst/>
                </a:prstGeom>
                <a:noFill/>
                <a:ln w="76200">
                  <a:pattFill prst="dkUpDiag">
                    <a:fgClr>
                      <a:schemeClr val="accent2"/>
                    </a:fgClr>
                    <a:bgClr>
                      <a:srgbClr val="FFFFFF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94774" name="Group 86"/>
              <p:cNvGrpSpPr>
                <a:grpSpLocks/>
              </p:cNvGrpSpPr>
              <p:nvPr/>
            </p:nvGrpSpPr>
            <p:grpSpPr bwMode="auto">
              <a:xfrm>
                <a:off x="3023" y="1724"/>
                <a:ext cx="654" cy="453"/>
                <a:chOff x="3751" y="2482"/>
                <a:chExt cx="654" cy="453"/>
              </a:xfrm>
            </p:grpSpPr>
            <p:sp>
              <p:nvSpPr>
                <p:cNvPr id="1394775" name="Rectangle 87"/>
                <p:cNvSpPr>
                  <a:spLocks noChangeArrowheads="1"/>
                </p:cNvSpPr>
                <p:nvPr/>
              </p:nvSpPr>
              <p:spPr bwMode="auto">
                <a:xfrm>
                  <a:off x="3751" y="2561"/>
                  <a:ext cx="654" cy="322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4776" name="Line 88"/>
                <p:cNvSpPr>
                  <a:spLocks noChangeShapeType="1"/>
                </p:cNvSpPr>
                <p:nvPr/>
              </p:nvSpPr>
              <p:spPr bwMode="auto">
                <a:xfrm>
                  <a:off x="3751" y="2898"/>
                  <a:ext cx="654" cy="0"/>
                </a:xfrm>
                <a:prstGeom prst="line">
                  <a:avLst/>
                </a:prstGeom>
                <a:noFill/>
                <a:ln w="47625">
                  <a:solidFill>
                    <a:srgbClr val="666633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4777" name="Line 89"/>
                <p:cNvSpPr>
                  <a:spLocks noChangeShapeType="1"/>
                </p:cNvSpPr>
                <p:nvPr/>
              </p:nvSpPr>
              <p:spPr bwMode="auto">
                <a:xfrm>
                  <a:off x="3751" y="2561"/>
                  <a:ext cx="654" cy="0"/>
                </a:xfrm>
                <a:prstGeom prst="line">
                  <a:avLst/>
                </a:prstGeom>
                <a:noFill/>
                <a:ln w="1905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394778" name="Group 90"/>
                <p:cNvGrpSpPr>
                  <a:grpSpLocks/>
                </p:cNvGrpSpPr>
                <p:nvPr/>
              </p:nvGrpSpPr>
              <p:grpSpPr bwMode="auto">
                <a:xfrm>
                  <a:off x="3816" y="2482"/>
                  <a:ext cx="141" cy="167"/>
                  <a:chOff x="158" y="3099"/>
                  <a:chExt cx="141" cy="167"/>
                </a:xfrm>
              </p:grpSpPr>
              <p:sp>
                <p:nvSpPr>
                  <p:cNvPr id="1394779" name="Freeform 91"/>
                  <p:cNvSpPr>
                    <a:spLocks noChangeAspect="1"/>
                  </p:cNvSpPr>
                  <p:nvPr/>
                </p:nvSpPr>
                <p:spPr bwMode="auto">
                  <a:xfrm>
                    <a:off x="158" y="3205"/>
                    <a:ext cx="141" cy="1"/>
                  </a:xfrm>
                  <a:custGeom>
                    <a:avLst/>
                    <a:gdLst>
                      <a:gd name="T0" fmla="*/ 0 w 141"/>
                      <a:gd name="T1" fmla="*/ 0 h 1"/>
                      <a:gd name="T2" fmla="*/ 141 w 14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41" h="1">
                        <a:moveTo>
                          <a:pt x="0" y="0"/>
                        </a:moveTo>
                        <a:lnTo>
                          <a:pt x="141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80" name="Freeform 92"/>
                  <p:cNvSpPr>
                    <a:spLocks noChangeAspect="1"/>
                  </p:cNvSpPr>
                  <p:nvPr/>
                </p:nvSpPr>
                <p:spPr bwMode="auto">
                  <a:xfrm>
                    <a:off x="186" y="3238"/>
                    <a:ext cx="89" cy="0"/>
                  </a:xfrm>
                  <a:custGeom>
                    <a:avLst/>
                    <a:gdLst>
                      <a:gd name="T0" fmla="*/ 0 w 198"/>
                      <a:gd name="T1" fmla="*/ 0 h 1"/>
                      <a:gd name="T2" fmla="*/ 198 w 198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98" h="1">
                        <a:moveTo>
                          <a:pt x="0" y="0"/>
                        </a:moveTo>
                        <a:lnTo>
                          <a:pt x="198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81" name="AutoShape 93"/>
                  <p:cNvSpPr>
                    <a:spLocks noChangeAspect="1" noChangeArrowheads="1"/>
                  </p:cNvSpPr>
                  <p:nvPr/>
                </p:nvSpPr>
                <p:spPr bwMode="auto">
                  <a:xfrm flipV="1">
                    <a:off x="183" y="3099"/>
                    <a:ext cx="102" cy="75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19050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4782" name="Freeform 94"/>
                  <p:cNvSpPr>
                    <a:spLocks noChangeAspect="1"/>
                  </p:cNvSpPr>
                  <p:nvPr/>
                </p:nvSpPr>
                <p:spPr bwMode="auto">
                  <a:xfrm>
                    <a:off x="211" y="3266"/>
                    <a:ext cx="42" cy="0"/>
                  </a:xfrm>
                  <a:custGeom>
                    <a:avLst/>
                    <a:gdLst>
                      <a:gd name="T0" fmla="*/ 0 w 94"/>
                      <a:gd name="T1" fmla="*/ 0 h 1"/>
                      <a:gd name="T2" fmla="*/ 94 w 9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4" h="1">
                        <a:moveTo>
                          <a:pt x="0" y="0"/>
                        </a:moveTo>
                        <a:lnTo>
                          <a:pt x="94" y="1"/>
                        </a:lnTo>
                      </a:path>
                    </a:pathLst>
                  </a:custGeom>
                  <a:noFill/>
                  <a:ln w="19050" cmpd="sng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94783" name="Line 95"/>
                <p:cNvSpPr>
                  <a:spLocks noChangeShapeType="1"/>
                </p:cNvSpPr>
                <p:nvPr/>
              </p:nvSpPr>
              <p:spPr bwMode="auto">
                <a:xfrm>
                  <a:off x="3752" y="2935"/>
                  <a:ext cx="652" cy="0"/>
                </a:xfrm>
                <a:prstGeom prst="line">
                  <a:avLst/>
                </a:prstGeom>
                <a:noFill/>
                <a:ln w="76200">
                  <a:pattFill prst="dkUpDiag">
                    <a:fgClr>
                      <a:schemeClr val="accent2"/>
                    </a:fgClr>
                    <a:bgClr>
                      <a:srgbClr val="FFFFFF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94784" name="Rectangle 96"/>
              <p:cNvSpPr>
                <a:spLocks noChangeArrowheads="1"/>
              </p:cNvSpPr>
              <p:nvPr/>
            </p:nvSpPr>
            <p:spPr bwMode="auto">
              <a:xfrm>
                <a:off x="2734" y="616"/>
                <a:ext cx="2308" cy="8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</a:pPr>
                <a:r>
                  <a:rPr kumimoji="1" lang="zh-CN" altLang="en-US" sz="24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讨论：</a:t>
                </a:r>
                <a:endPara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  <a:p>
                <a:pPr>
                  <a:lnSpc>
                    <a:spcPct val="110000"/>
                  </a:lnSpc>
                  <a:spcBef>
                    <a:spcPct val="10000"/>
                  </a:spcBef>
                  <a:spcAft>
                    <a:spcPct val="10000"/>
                  </a:spcAft>
                </a:pPr>
                <a:r>
                  <a:rPr kumimoji="1" lang="zh-CN" altLang="en-US" sz="24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两公式计算的有效应力的差异？</a:t>
                </a:r>
                <a:endPara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394786" name="Freeform 98"/>
              <p:cNvSpPr>
                <a:spLocks/>
              </p:cNvSpPr>
              <p:nvPr/>
            </p:nvSpPr>
            <p:spPr bwMode="auto">
              <a:xfrm>
                <a:off x="3503" y="1803"/>
                <a:ext cx="1" cy="324"/>
              </a:xfrm>
              <a:custGeom>
                <a:avLst/>
                <a:gdLst>
                  <a:gd name="T0" fmla="*/ 0 w 1"/>
                  <a:gd name="T1" fmla="*/ 0 h 324"/>
                  <a:gd name="T2" fmla="*/ 1 w 1"/>
                  <a:gd name="T3" fmla="*/ 324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4">
                    <a:moveTo>
                      <a:pt x="0" y="0"/>
                    </a:moveTo>
                    <a:lnTo>
                      <a:pt x="1" y="324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94787" name="Text Box 99"/>
              <p:cNvSpPr txBox="1">
                <a:spLocks noChangeArrowheads="1"/>
              </p:cNvSpPr>
              <p:nvPr/>
            </p:nvSpPr>
            <p:spPr bwMode="auto">
              <a:xfrm>
                <a:off x="3488" y="1832"/>
                <a:ext cx="33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000" b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394788" name="Text Box 100"/>
              <p:cNvSpPr txBox="1">
                <a:spLocks noChangeArrowheads="1"/>
              </p:cNvSpPr>
              <p:nvPr/>
            </p:nvSpPr>
            <p:spPr bwMode="auto">
              <a:xfrm>
                <a:off x="2617" y="2326"/>
                <a:ext cx="114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l-GR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σ</a:t>
                </a:r>
                <a:r>
                  <a:rPr kumimoji="1" lang="en-US" altLang="zh-CN" sz="2000" b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=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u</a:t>
                </a:r>
                <a:r>
                  <a:rPr kumimoji="1"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=0.01MPa</a:t>
                </a:r>
              </a:p>
            </p:txBody>
          </p:sp>
          <p:sp>
            <p:nvSpPr>
              <p:cNvPr id="1394789" name="Line 101"/>
              <p:cNvSpPr>
                <a:spLocks noChangeShapeType="1"/>
              </p:cNvSpPr>
              <p:nvPr/>
            </p:nvSpPr>
            <p:spPr bwMode="auto">
              <a:xfrm>
                <a:off x="4357" y="1797"/>
                <a:ext cx="6" cy="10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94790" name="Text Box 102"/>
              <p:cNvSpPr txBox="1">
                <a:spLocks noChangeArrowheads="1"/>
              </p:cNvSpPr>
              <p:nvPr/>
            </p:nvSpPr>
            <p:spPr bwMode="auto">
              <a:xfrm>
                <a:off x="4334" y="2258"/>
                <a:ext cx="4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10</a:t>
                </a:r>
                <a:r>
                  <a:rPr kumimoji="1" lang="zh-CN" altLang="en-US" sz="2000" b="1" baseline="3000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4</a:t>
                </a:r>
                <a:r>
                  <a:rPr kumimoji="1" lang="en-US" altLang="zh-CN" sz="2000" b="1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1394791" name="Text Box 103"/>
              <p:cNvSpPr txBox="1">
                <a:spLocks noChangeArrowheads="1"/>
              </p:cNvSpPr>
              <p:nvPr/>
            </p:nvSpPr>
            <p:spPr bwMode="auto">
              <a:xfrm>
                <a:off x="3694" y="3018"/>
                <a:ext cx="110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l-GR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σ</a:t>
                </a:r>
                <a:r>
                  <a:rPr kumimoji="1" lang="en-US" altLang="zh-CN" sz="20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u</a:t>
                </a:r>
                <a:r>
                  <a:rPr kumimoji="1" lang="en-US" altLang="zh-CN" sz="2000" b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=100MPa</a:t>
                </a:r>
              </a:p>
            </p:txBody>
          </p:sp>
        </p:grpSp>
        <p:sp>
          <p:nvSpPr>
            <p:cNvPr id="4" name="矩形 3"/>
            <p:cNvSpPr/>
            <p:nvPr/>
          </p:nvSpPr>
          <p:spPr bwMode="auto">
            <a:xfrm>
              <a:off x="1547814" y="3155950"/>
              <a:ext cx="96043" cy="71438"/>
            </a:xfrm>
            <a:prstGeom prst="rect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946339" y="4326834"/>
              <a:ext cx="96043" cy="71438"/>
            </a:xfrm>
            <a:prstGeom prst="rect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-3925" y="0"/>
            <a:ext cx="403761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有效应力原理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44996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23438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原理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自重应力计算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基底压力计算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附加应力计算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系数</a:t>
            </a:r>
            <a:endParaRPr lang="en-US" altLang="zh-CN" sz="2800" b="1" dirty="0" smtClean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09657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946" name="Text Box 170"/>
          <p:cNvSpPr txBox="1">
            <a:spLocks noChangeArrowheads="1"/>
          </p:cNvSpPr>
          <p:nvPr/>
        </p:nvSpPr>
        <p:spPr bwMode="auto">
          <a:xfrm>
            <a:off x="3009900" y="5783263"/>
            <a:ext cx="39639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地基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的</a:t>
            </a:r>
            <a:r>
              <a:rPr kumimoji="1"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自重应力</a:t>
            </a:r>
            <a:endParaRPr kumimoji="1" lang="en-US" altLang="zh-CN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355947" name="Rectangle 171"/>
          <p:cNvSpPr>
            <a:spLocks noChangeArrowheads="1"/>
          </p:cNvSpPr>
          <p:nvPr/>
        </p:nvSpPr>
        <p:spPr bwMode="auto">
          <a:xfrm>
            <a:off x="1119188" y="2908300"/>
            <a:ext cx="785336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  <a:tabLst>
                <a:tab pos="1341438" algn="l"/>
              </a:tabLst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假定：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水平地基 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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半无限空间体 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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半无限弹性体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tabLst>
                <a:tab pos="1341438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	有侧限应变条件 </a:t>
            </a:r>
            <a:r>
              <a:rPr kumimoji="1" lang="zh-CN" altLang="en-US" sz="24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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一维问题</a:t>
            </a:r>
          </a:p>
        </p:txBody>
      </p:sp>
      <p:sp>
        <p:nvSpPr>
          <p:cNvPr id="1355948" name="Text Box 172"/>
          <p:cNvSpPr txBox="1">
            <a:spLocks noChangeArrowheads="1"/>
          </p:cNvSpPr>
          <p:nvPr/>
        </p:nvSpPr>
        <p:spPr bwMode="auto">
          <a:xfrm>
            <a:off x="1198563" y="1127125"/>
            <a:ext cx="677545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3414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定义：</a:t>
            </a: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在修建建筑物以前，地基中由土体本身</a:t>
            </a:r>
            <a:b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	的有效重量而产生的应力</a:t>
            </a:r>
          </a:p>
        </p:txBody>
      </p:sp>
      <p:sp>
        <p:nvSpPr>
          <p:cNvPr id="1355949" name="Text Box 173"/>
          <p:cNvSpPr txBox="1">
            <a:spLocks noChangeArrowheads="1"/>
          </p:cNvSpPr>
          <p:nvPr/>
        </p:nvSpPr>
        <p:spPr bwMode="auto">
          <a:xfrm>
            <a:off x="1200150" y="2160588"/>
            <a:ext cx="5257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目的：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确定土体的初始应力状态</a:t>
            </a:r>
          </a:p>
        </p:txBody>
      </p:sp>
      <p:sp>
        <p:nvSpPr>
          <p:cNvPr id="1355950" name="Text Box 174"/>
          <p:cNvSpPr txBox="1">
            <a:spLocks noChangeArrowheads="1"/>
          </p:cNvSpPr>
          <p:nvPr/>
        </p:nvSpPr>
        <p:spPr bwMode="auto">
          <a:xfrm>
            <a:off x="1219200" y="4161350"/>
            <a:ext cx="179070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4319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</a:t>
            </a: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	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1" y="0"/>
            <a:ext cx="31813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103"/>
          <p:cNvSpPr txBox="1">
            <a:spLocks noChangeArrowheads="1"/>
          </p:cNvSpPr>
          <p:nvPr/>
        </p:nvSpPr>
        <p:spPr bwMode="auto">
          <a:xfrm>
            <a:off x="2698725" y="4155751"/>
            <a:ext cx="2989694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  <a:sym typeface="Symbol" pitchFamily="18" charset="2"/>
              </a:rPr>
              <a:t>1.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  <a:sym typeface="Symbol" pitchFamily="18" charset="2"/>
              </a:rPr>
              <a:t>计算总应力</a:t>
            </a:r>
            <a:endParaRPr kumimoji="1" lang="zh-CN" altLang="en-US" sz="2400" b="1" dirty="0">
              <a:solidFill>
                <a:srgbClr val="000066"/>
              </a:solidFill>
              <a:latin typeface="华文新魏" pitchFamily="2" charset="-122"/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  <a:sym typeface="Symbol" pitchFamily="18" charset="2"/>
              </a:rPr>
              <a:t>2.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  <a:sym typeface="Symbol" pitchFamily="18" charset="2"/>
              </a:rPr>
              <a:t>计算孔隙水压力</a:t>
            </a:r>
            <a:endParaRPr kumimoji="1" lang="en-US" altLang="zh-CN" sz="2400" b="1" dirty="0" smtClean="0">
              <a:solidFill>
                <a:srgbClr val="000066"/>
              </a:solidFill>
              <a:latin typeface="Garamond" pitchFamily="18" charset="0"/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CN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  <a:sym typeface="Symbol" pitchFamily="18" charset="2"/>
              </a:rPr>
              <a:t>3. 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Garamond" pitchFamily="18" charset="0"/>
                <a:ea typeface="幼圆" pitchFamily="49" charset="-122"/>
                <a:sym typeface="Symbol" pitchFamily="18" charset="2"/>
              </a:rPr>
              <a:t>计算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</a:t>
            </a:r>
            <a:endParaRPr kumimoji="1" lang="zh-CN" altLang="en-US" sz="2400" b="1" dirty="0">
              <a:solidFill>
                <a:srgbClr val="000066"/>
              </a:solidFill>
              <a:latin typeface="Garamond" pitchFamily="18" charset="0"/>
              <a:ea typeface="幼圆" pitchFamily="49" charset="-122"/>
              <a:sym typeface="Symbol" pitchFamily="18" charset="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55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55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55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355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355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355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55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55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1355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1355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1355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"/>
                            </p:stCondLst>
                            <p:childTnLst>
                              <p:par>
                                <p:cTn id="3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5947" grpId="0" build="p" autoUpdateAnimBg="0"/>
      <p:bldP spid="1355948" grpId="0"/>
      <p:bldP spid="1355949" grpId="0"/>
      <p:bldP spid="135595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041" name="Text Box 241"/>
          <p:cNvSpPr txBox="1">
            <a:spLocks noChangeArrowheads="1"/>
          </p:cNvSpPr>
          <p:nvPr/>
        </p:nvSpPr>
        <p:spPr bwMode="auto">
          <a:xfrm>
            <a:off x="2222205" y="5708832"/>
            <a:ext cx="5837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自重应力计算基本方法</a:t>
            </a:r>
            <a:endParaRPr kumimoji="1" lang="en-US" altLang="zh-CN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357042" name="Text Box 242"/>
          <p:cNvSpPr txBox="1">
            <a:spLocks noChangeArrowheads="1"/>
          </p:cNvSpPr>
          <p:nvPr/>
        </p:nvSpPr>
        <p:spPr bwMode="auto">
          <a:xfrm>
            <a:off x="574675" y="552451"/>
            <a:ext cx="5311775" cy="100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竖直</a:t>
            </a: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向总应力：</a:t>
            </a:r>
            <a:r>
              <a:rPr lang="zh-CN" altLang="en-US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等于</a:t>
            </a:r>
            <a:r>
              <a:rPr lang="zh-CN" altLang="en-US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单位面积上土</a:t>
            </a:r>
            <a: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/>
            </a:r>
            <a:b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</a:br>
            <a: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                         </a:t>
            </a:r>
            <a:r>
              <a:rPr lang="zh-CN" altLang="en-US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柱和水柱的总重量</a:t>
            </a:r>
            <a:endParaRPr lang="en-US" altLang="zh-CN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graphicFrame>
        <p:nvGraphicFramePr>
          <p:cNvPr id="1357046" name="Object 2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713149"/>
              </p:ext>
            </p:extLst>
          </p:nvPr>
        </p:nvGraphicFramePr>
        <p:xfrm>
          <a:off x="3208338" y="1671638"/>
          <a:ext cx="18351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293" name="公式" r:id="rId3" imgW="876240" imgH="253800" progId="Equation.3">
                  <p:embed/>
                </p:oleObj>
              </mc:Choice>
              <mc:Fallback>
                <p:oleObj name="公式" r:id="rId3" imgW="876240" imgH="253800" progId="Equation.3">
                  <p:embed/>
                  <p:pic>
                    <p:nvPicPr>
                      <p:cNvPr id="0" name="Object 2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8" y="1671638"/>
                        <a:ext cx="18351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7050" name="Text Box 250"/>
          <p:cNvSpPr txBox="1">
            <a:spLocks noChangeArrowheads="1"/>
          </p:cNvSpPr>
          <p:nvPr/>
        </p:nvSpPr>
        <p:spPr bwMode="auto">
          <a:xfrm>
            <a:off x="974622" y="2492733"/>
            <a:ext cx="1704776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</a:t>
            </a:r>
            <a:r>
              <a:rPr lang="en-US" altLang="zh-CN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i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取值</a:t>
            </a:r>
            <a:r>
              <a:rPr lang="zh-CN" altLang="en-US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357051" name="Group 251"/>
          <p:cNvGrpSpPr>
            <a:grpSpLocks/>
          </p:cNvGrpSpPr>
          <p:nvPr/>
        </p:nvGrpSpPr>
        <p:grpSpPr bwMode="auto">
          <a:xfrm>
            <a:off x="5897083" y="709905"/>
            <a:ext cx="3067050" cy="2951163"/>
            <a:chOff x="3708" y="1000"/>
            <a:chExt cx="1932" cy="1859"/>
          </a:xfrm>
        </p:grpSpPr>
        <p:sp>
          <p:nvSpPr>
            <p:cNvPr id="1357052" name="Rectangle 252"/>
            <p:cNvSpPr>
              <a:spLocks noChangeArrowheads="1"/>
            </p:cNvSpPr>
            <p:nvPr/>
          </p:nvSpPr>
          <p:spPr bwMode="auto">
            <a:xfrm>
              <a:off x="3708" y="1000"/>
              <a:ext cx="1932" cy="18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3" name="Rectangle 253"/>
            <p:cNvSpPr>
              <a:spLocks noChangeArrowheads="1"/>
            </p:cNvSpPr>
            <p:nvPr/>
          </p:nvSpPr>
          <p:spPr bwMode="auto">
            <a:xfrm>
              <a:off x="3850" y="1267"/>
              <a:ext cx="1656" cy="79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4" name="Rectangle 254"/>
            <p:cNvSpPr>
              <a:spLocks noChangeArrowheads="1"/>
            </p:cNvSpPr>
            <p:nvPr/>
          </p:nvSpPr>
          <p:spPr bwMode="auto">
            <a:xfrm>
              <a:off x="3852" y="1999"/>
              <a:ext cx="1652" cy="72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5" name="Line 255"/>
            <p:cNvSpPr>
              <a:spLocks noChangeShapeType="1"/>
            </p:cNvSpPr>
            <p:nvPr/>
          </p:nvSpPr>
          <p:spPr bwMode="auto">
            <a:xfrm>
              <a:off x="3836" y="1269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6" name="AutoShape 256"/>
            <p:cNvSpPr>
              <a:spLocks noChangeArrowheads="1"/>
            </p:cNvSpPr>
            <p:nvPr/>
          </p:nvSpPr>
          <p:spPr bwMode="auto">
            <a:xfrm flipV="1">
              <a:off x="4451" y="1142"/>
              <a:ext cx="160" cy="1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7" name="Line 257"/>
            <p:cNvSpPr>
              <a:spLocks noChangeShapeType="1"/>
            </p:cNvSpPr>
            <p:nvPr/>
          </p:nvSpPr>
          <p:spPr bwMode="auto">
            <a:xfrm>
              <a:off x="3836" y="1612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8" name="Line 258"/>
            <p:cNvSpPr>
              <a:spLocks noChangeShapeType="1"/>
            </p:cNvSpPr>
            <p:nvPr/>
          </p:nvSpPr>
          <p:spPr bwMode="auto">
            <a:xfrm>
              <a:off x="3836" y="1998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59" name="Line 259"/>
            <p:cNvSpPr>
              <a:spLocks noChangeShapeType="1"/>
            </p:cNvSpPr>
            <p:nvPr/>
          </p:nvSpPr>
          <p:spPr bwMode="auto">
            <a:xfrm>
              <a:off x="4076" y="1269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0" name="Line 260"/>
            <p:cNvSpPr>
              <a:spLocks noChangeShapeType="1"/>
            </p:cNvSpPr>
            <p:nvPr/>
          </p:nvSpPr>
          <p:spPr bwMode="auto">
            <a:xfrm>
              <a:off x="4077" y="1624"/>
              <a:ext cx="0" cy="3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1" name="Line 261"/>
            <p:cNvSpPr>
              <a:spLocks noChangeShapeType="1"/>
            </p:cNvSpPr>
            <p:nvPr/>
          </p:nvSpPr>
          <p:spPr bwMode="auto">
            <a:xfrm>
              <a:off x="4081" y="2002"/>
              <a:ext cx="0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2" name="Text Box 262"/>
            <p:cNvSpPr txBox="1">
              <a:spLocks noChangeArrowheads="1"/>
            </p:cNvSpPr>
            <p:nvPr/>
          </p:nvSpPr>
          <p:spPr bwMode="auto">
            <a:xfrm>
              <a:off x="3802" y="1247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63" name="Text Box 263"/>
            <p:cNvSpPr txBox="1">
              <a:spLocks noChangeArrowheads="1"/>
            </p:cNvSpPr>
            <p:nvPr/>
          </p:nvSpPr>
          <p:spPr bwMode="auto">
            <a:xfrm>
              <a:off x="3796" y="165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64" name="Text Box 264"/>
            <p:cNvSpPr txBox="1">
              <a:spLocks noChangeArrowheads="1"/>
            </p:cNvSpPr>
            <p:nvPr/>
          </p:nvSpPr>
          <p:spPr bwMode="auto">
            <a:xfrm>
              <a:off x="3802" y="2059"/>
              <a:ext cx="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65" name="AutoShape 265"/>
            <p:cNvSpPr>
              <a:spLocks noChangeArrowheads="1"/>
            </p:cNvSpPr>
            <p:nvPr/>
          </p:nvSpPr>
          <p:spPr bwMode="auto">
            <a:xfrm>
              <a:off x="4524" y="2412"/>
              <a:ext cx="288" cy="25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6" name="Line 266"/>
            <p:cNvSpPr>
              <a:spLocks noChangeShapeType="1"/>
            </p:cNvSpPr>
            <p:nvPr/>
          </p:nvSpPr>
          <p:spPr bwMode="auto">
            <a:xfrm>
              <a:off x="3992" y="2419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7" name="Line 267"/>
            <p:cNvSpPr>
              <a:spLocks noChangeShapeType="1"/>
            </p:cNvSpPr>
            <p:nvPr/>
          </p:nvSpPr>
          <p:spPr bwMode="auto">
            <a:xfrm>
              <a:off x="5050" y="24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8" name="Line 268"/>
            <p:cNvSpPr>
              <a:spLocks noChangeShapeType="1"/>
            </p:cNvSpPr>
            <p:nvPr/>
          </p:nvSpPr>
          <p:spPr bwMode="auto">
            <a:xfrm>
              <a:off x="5178" y="1274"/>
              <a:ext cx="0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69" name="Text Box 269"/>
            <p:cNvSpPr txBox="1">
              <a:spLocks noChangeArrowheads="1"/>
            </p:cNvSpPr>
            <p:nvPr/>
          </p:nvSpPr>
          <p:spPr bwMode="auto">
            <a:xfrm>
              <a:off x="5081" y="1649"/>
              <a:ext cx="201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57070" name="Line 270"/>
            <p:cNvSpPr>
              <a:spLocks noChangeShapeType="1"/>
            </p:cNvSpPr>
            <p:nvPr/>
          </p:nvSpPr>
          <p:spPr bwMode="auto">
            <a:xfrm>
              <a:off x="4672" y="2286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1" name="Text Box 271"/>
            <p:cNvSpPr txBox="1">
              <a:spLocks noChangeArrowheads="1"/>
            </p:cNvSpPr>
            <p:nvPr/>
          </p:nvSpPr>
          <p:spPr bwMode="auto">
            <a:xfrm>
              <a:off x="4628" y="2064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72" name="Text Box 272"/>
            <p:cNvSpPr txBox="1">
              <a:spLocks noChangeArrowheads="1"/>
            </p:cNvSpPr>
            <p:nvPr/>
          </p:nvSpPr>
          <p:spPr bwMode="auto">
            <a:xfrm>
              <a:off x="4855" y="2428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sx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73" name="Text Box 273"/>
            <p:cNvSpPr txBox="1">
              <a:spLocks noChangeArrowheads="1"/>
            </p:cNvSpPr>
            <p:nvPr/>
          </p:nvSpPr>
          <p:spPr bwMode="auto">
            <a:xfrm>
              <a:off x="4163" y="2421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7074" name="Line 274"/>
            <p:cNvSpPr>
              <a:spLocks noChangeShapeType="1"/>
            </p:cNvSpPr>
            <p:nvPr/>
          </p:nvSpPr>
          <p:spPr bwMode="auto">
            <a:xfrm flipV="1">
              <a:off x="4461" y="2573"/>
              <a:ext cx="163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5" name="Line 275"/>
            <p:cNvSpPr>
              <a:spLocks noChangeShapeType="1"/>
            </p:cNvSpPr>
            <p:nvPr/>
          </p:nvSpPr>
          <p:spPr bwMode="auto">
            <a:xfrm flipH="1">
              <a:off x="4784" y="2531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6" name="AutoShape 276"/>
            <p:cNvSpPr>
              <a:spLocks noChangeArrowheads="1"/>
            </p:cNvSpPr>
            <p:nvPr/>
          </p:nvSpPr>
          <p:spPr bwMode="auto">
            <a:xfrm flipV="1">
              <a:off x="4427" y="1869"/>
              <a:ext cx="160" cy="1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7" name="Line 277"/>
            <p:cNvSpPr>
              <a:spLocks noChangeShapeType="1"/>
            </p:cNvSpPr>
            <p:nvPr/>
          </p:nvSpPr>
          <p:spPr bwMode="auto">
            <a:xfrm>
              <a:off x="4420" y="2032"/>
              <a:ext cx="18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8" name="Line 278"/>
            <p:cNvSpPr>
              <a:spLocks noChangeShapeType="1"/>
            </p:cNvSpPr>
            <p:nvPr/>
          </p:nvSpPr>
          <p:spPr bwMode="auto">
            <a:xfrm>
              <a:off x="4457" y="2064"/>
              <a:ext cx="1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79" name="Line 279"/>
            <p:cNvSpPr>
              <a:spLocks noChangeShapeType="1"/>
            </p:cNvSpPr>
            <p:nvPr/>
          </p:nvSpPr>
          <p:spPr bwMode="auto">
            <a:xfrm>
              <a:off x="4488" y="2094"/>
              <a:ext cx="6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57080" name="Text Box 280"/>
            <p:cNvSpPr txBox="1">
              <a:spLocks noChangeArrowheads="1"/>
            </p:cNvSpPr>
            <p:nvPr/>
          </p:nvSpPr>
          <p:spPr bwMode="auto">
            <a:xfrm>
              <a:off x="4587" y="1033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地面</a:t>
              </a:r>
            </a:p>
          </p:txBody>
        </p:sp>
        <p:sp>
          <p:nvSpPr>
            <p:cNvPr id="1357081" name="Text Box 281"/>
            <p:cNvSpPr txBox="1">
              <a:spLocks noChangeArrowheads="1"/>
            </p:cNvSpPr>
            <p:nvPr/>
          </p:nvSpPr>
          <p:spPr bwMode="auto">
            <a:xfrm>
              <a:off x="4550" y="1763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地下水</a:t>
              </a:r>
            </a:p>
          </p:txBody>
        </p:sp>
      </p:grpSp>
      <p:sp>
        <p:nvSpPr>
          <p:cNvPr id="4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6" name="Text Box 250"/>
          <p:cNvSpPr txBox="1">
            <a:spLocks noChangeArrowheads="1"/>
          </p:cNvSpPr>
          <p:nvPr/>
        </p:nvSpPr>
        <p:spPr bwMode="auto">
          <a:xfrm>
            <a:off x="2617590" y="2492734"/>
            <a:ext cx="3396456" cy="1313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lnSpc>
                <a:spcPct val="120000"/>
              </a:lnSpc>
              <a:buSzPct val="127000"/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非饱和土用天然重度</a:t>
            </a:r>
            <a:r>
              <a:rPr lang="zh-CN" altLang="en-US" sz="22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endParaRPr lang="zh-CN" altLang="en-US" sz="2200" b="1" i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>
              <a:lnSpc>
                <a:spcPct val="120000"/>
              </a:lnSpc>
              <a:buSzPct val="127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饱和</a:t>
            </a: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土用饱和重度</a:t>
            </a:r>
            <a:r>
              <a:rPr lang="zh-CN" altLang="en-US" sz="22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200" b="1" i="1" baseline="-25000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sat</a:t>
            </a:r>
            <a:endParaRPr lang="zh-CN" altLang="en-US" sz="2200" b="1" i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42900" indent="-342900">
              <a:lnSpc>
                <a:spcPct val="120000"/>
              </a:lnSpc>
              <a:buSzPct val="127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CN" altLang="en-US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纯水部分用水的重度</a:t>
            </a:r>
            <a:r>
              <a:rPr lang="zh-CN" altLang="en-US" sz="22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2200" b="1" i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endParaRPr lang="zh-CN" altLang="en-US" sz="2200" b="1" i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7" name="Text Box 242"/>
          <p:cNvSpPr txBox="1">
            <a:spLocks noChangeArrowheads="1"/>
          </p:cNvSpPr>
          <p:nvPr/>
        </p:nvSpPr>
        <p:spPr bwMode="auto">
          <a:xfrm>
            <a:off x="606936" y="4173285"/>
            <a:ext cx="7725372" cy="102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孔隙水压力：</a:t>
            </a:r>
            <a:r>
              <a:rPr lang="zh-CN" altLang="en-US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根据实际地下水条件，区分</a:t>
            </a: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静水条件</a:t>
            </a:r>
            <a:r>
              <a:rPr lang="zh-CN" altLang="en-US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和</a:t>
            </a:r>
            <a: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/>
            </a:r>
            <a:b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</a:br>
            <a:r>
              <a:rPr lang="en-US" altLang="zh-CN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                     </a:t>
            </a: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稳定渗流条件</a:t>
            </a:r>
            <a:r>
              <a:rPr lang="zh-CN" altLang="en-US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等情况进行计算</a:t>
            </a:r>
            <a:endParaRPr lang="en-US" altLang="zh-CN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-1" y="0"/>
            <a:ext cx="49815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基本方法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135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357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357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357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0"/>
                            </p:stCondLst>
                            <p:childTnLst>
                              <p:par>
                                <p:cTn id="2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7042" grpId="0"/>
      <p:bldP spid="1357050" grpId="0"/>
      <p:bldP spid="46" grpId="0"/>
      <p:bldP spid="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042" name="Text Box 242"/>
          <p:cNvSpPr txBox="1">
            <a:spLocks noChangeArrowheads="1"/>
          </p:cNvSpPr>
          <p:nvPr/>
        </p:nvSpPr>
        <p:spPr bwMode="auto">
          <a:xfrm>
            <a:off x="617207" y="552451"/>
            <a:ext cx="3051027" cy="592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竖直向有效应力：</a:t>
            </a:r>
            <a:endParaRPr lang="en-US" altLang="zh-CN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graphicFrame>
        <p:nvGraphicFramePr>
          <p:cNvPr id="1357043" name="Object 2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23067"/>
              </p:ext>
            </p:extLst>
          </p:nvPr>
        </p:nvGraphicFramePr>
        <p:xfrm>
          <a:off x="1376363" y="3409950"/>
          <a:ext cx="2282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11" name="公式" r:id="rId3" imgW="1091880" imgH="241200" progId="Equation.3">
                  <p:embed/>
                </p:oleObj>
              </mc:Choice>
              <mc:Fallback>
                <p:oleObj name="公式" r:id="rId3" imgW="1091880" imgH="24120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409950"/>
                        <a:ext cx="22828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7045" name="Object 2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684150"/>
              </p:ext>
            </p:extLst>
          </p:nvPr>
        </p:nvGraphicFramePr>
        <p:xfrm>
          <a:off x="4251805" y="3228528"/>
          <a:ext cx="1458912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12" name="公式" r:id="rId5" imgW="698400" imgH="380880" progId="Equation.3">
                  <p:embed/>
                </p:oleObj>
              </mc:Choice>
              <mc:Fallback>
                <p:oleObj name="公式" r:id="rId5" imgW="698400" imgH="380880" progId="Equation.3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805" y="3228528"/>
                        <a:ext cx="1458912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7049" name="Text Box 249"/>
          <p:cNvSpPr txBox="1">
            <a:spLocks noChangeArrowheads="1"/>
          </p:cNvSpPr>
          <p:nvPr/>
        </p:nvSpPr>
        <p:spPr bwMode="auto">
          <a:xfrm>
            <a:off x="617091" y="2682809"/>
            <a:ext cx="396554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水平</a:t>
            </a:r>
            <a:r>
              <a:rPr lang="zh-CN" altLang="en-US" b="1" dirty="0" smtClean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向自重应力</a:t>
            </a:r>
            <a:r>
              <a:rPr lang="zh-CN" altLang="en-US" b="1" dirty="0">
                <a:solidFill>
                  <a:srgbClr val="A50021"/>
                </a:solidFill>
                <a:latin typeface="Arial" charset="0"/>
                <a:ea typeface="幼圆" pitchFamily="49" charset="-122"/>
              </a:rPr>
              <a:t>：</a:t>
            </a:r>
            <a:endParaRPr lang="en-US" altLang="zh-CN" b="1" dirty="0">
              <a:solidFill>
                <a:srgbClr val="A50021"/>
              </a:solidFill>
              <a:latin typeface="Arial" charset="0"/>
              <a:ea typeface="幼圆" pitchFamily="49" charset="-122"/>
            </a:endParaRPr>
          </a:p>
        </p:txBody>
      </p:sp>
      <p:sp>
        <p:nvSpPr>
          <p:cNvPr id="4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8" name="Group 251"/>
          <p:cNvGrpSpPr>
            <a:grpSpLocks/>
          </p:cNvGrpSpPr>
          <p:nvPr/>
        </p:nvGrpSpPr>
        <p:grpSpPr bwMode="auto">
          <a:xfrm>
            <a:off x="5897083" y="709905"/>
            <a:ext cx="3067050" cy="2951163"/>
            <a:chOff x="3708" y="1000"/>
            <a:chExt cx="1932" cy="1859"/>
          </a:xfrm>
        </p:grpSpPr>
        <p:sp>
          <p:nvSpPr>
            <p:cNvPr id="49" name="Rectangle 252"/>
            <p:cNvSpPr>
              <a:spLocks noChangeArrowheads="1"/>
            </p:cNvSpPr>
            <p:nvPr/>
          </p:nvSpPr>
          <p:spPr bwMode="auto">
            <a:xfrm>
              <a:off x="3708" y="1000"/>
              <a:ext cx="1932" cy="18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0" name="Rectangle 253"/>
            <p:cNvSpPr>
              <a:spLocks noChangeArrowheads="1"/>
            </p:cNvSpPr>
            <p:nvPr/>
          </p:nvSpPr>
          <p:spPr bwMode="auto">
            <a:xfrm>
              <a:off x="3850" y="1267"/>
              <a:ext cx="1656" cy="79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" name="Rectangle 254"/>
            <p:cNvSpPr>
              <a:spLocks noChangeArrowheads="1"/>
            </p:cNvSpPr>
            <p:nvPr/>
          </p:nvSpPr>
          <p:spPr bwMode="auto">
            <a:xfrm>
              <a:off x="3852" y="1999"/>
              <a:ext cx="1652" cy="725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2" name="Line 255"/>
            <p:cNvSpPr>
              <a:spLocks noChangeShapeType="1"/>
            </p:cNvSpPr>
            <p:nvPr/>
          </p:nvSpPr>
          <p:spPr bwMode="auto">
            <a:xfrm>
              <a:off x="3836" y="1269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AutoShape 256"/>
            <p:cNvSpPr>
              <a:spLocks noChangeArrowheads="1"/>
            </p:cNvSpPr>
            <p:nvPr/>
          </p:nvSpPr>
          <p:spPr bwMode="auto">
            <a:xfrm flipV="1">
              <a:off x="4451" y="1142"/>
              <a:ext cx="160" cy="1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4" name="Line 257"/>
            <p:cNvSpPr>
              <a:spLocks noChangeShapeType="1"/>
            </p:cNvSpPr>
            <p:nvPr/>
          </p:nvSpPr>
          <p:spPr bwMode="auto">
            <a:xfrm>
              <a:off x="3836" y="1612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58"/>
            <p:cNvSpPr>
              <a:spLocks noChangeShapeType="1"/>
            </p:cNvSpPr>
            <p:nvPr/>
          </p:nvSpPr>
          <p:spPr bwMode="auto">
            <a:xfrm>
              <a:off x="3836" y="1998"/>
              <a:ext cx="1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259"/>
            <p:cNvSpPr>
              <a:spLocks noChangeShapeType="1"/>
            </p:cNvSpPr>
            <p:nvPr/>
          </p:nvSpPr>
          <p:spPr bwMode="auto">
            <a:xfrm>
              <a:off x="4076" y="1269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60"/>
            <p:cNvSpPr>
              <a:spLocks noChangeShapeType="1"/>
            </p:cNvSpPr>
            <p:nvPr/>
          </p:nvSpPr>
          <p:spPr bwMode="auto">
            <a:xfrm>
              <a:off x="4077" y="1624"/>
              <a:ext cx="0" cy="3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61"/>
            <p:cNvSpPr>
              <a:spLocks noChangeShapeType="1"/>
            </p:cNvSpPr>
            <p:nvPr/>
          </p:nvSpPr>
          <p:spPr bwMode="auto">
            <a:xfrm>
              <a:off x="4081" y="2002"/>
              <a:ext cx="0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262"/>
            <p:cNvSpPr txBox="1">
              <a:spLocks noChangeArrowheads="1"/>
            </p:cNvSpPr>
            <p:nvPr/>
          </p:nvSpPr>
          <p:spPr bwMode="auto">
            <a:xfrm>
              <a:off x="3802" y="1247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0" name="Text Box 263"/>
            <p:cNvSpPr txBox="1">
              <a:spLocks noChangeArrowheads="1"/>
            </p:cNvSpPr>
            <p:nvPr/>
          </p:nvSpPr>
          <p:spPr bwMode="auto">
            <a:xfrm>
              <a:off x="3796" y="165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1" name="Text Box 264"/>
            <p:cNvSpPr txBox="1">
              <a:spLocks noChangeArrowheads="1"/>
            </p:cNvSpPr>
            <p:nvPr/>
          </p:nvSpPr>
          <p:spPr bwMode="auto">
            <a:xfrm>
              <a:off x="3802" y="2059"/>
              <a:ext cx="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62" name="AutoShape 265"/>
            <p:cNvSpPr>
              <a:spLocks noChangeArrowheads="1"/>
            </p:cNvSpPr>
            <p:nvPr/>
          </p:nvSpPr>
          <p:spPr bwMode="auto">
            <a:xfrm>
              <a:off x="4524" y="2412"/>
              <a:ext cx="288" cy="25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3" name="Line 266"/>
            <p:cNvSpPr>
              <a:spLocks noChangeShapeType="1"/>
            </p:cNvSpPr>
            <p:nvPr/>
          </p:nvSpPr>
          <p:spPr bwMode="auto">
            <a:xfrm>
              <a:off x="3992" y="2419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67"/>
            <p:cNvSpPr>
              <a:spLocks noChangeShapeType="1"/>
            </p:cNvSpPr>
            <p:nvPr/>
          </p:nvSpPr>
          <p:spPr bwMode="auto">
            <a:xfrm>
              <a:off x="5050" y="24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68"/>
            <p:cNvSpPr>
              <a:spLocks noChangeShapeType="1"/>
            </p:cNvSpPr>
            <p:nvPr/>
          </p:nvSpPr>
          <p:spPr bwMode="auto">
            <a:xfrm>
              <a:off x="5178" y="1274"/>
              <a:ext cx="0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269"/>
            <p:cNvSpPr txBox="1">
              <a:spLocks noChangeArrowheads="1"/>
            </p:cNvSpPr>
            <p:nvPr/>
          </p:nvSpPr>
          <p:spPr bwMode="auto">
            <a:xfrm>
              <a:off x="5081" y="1649"/>
              <a:ext cx="201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67" name="Line 270"/>
            <p:cNvSpPr>
              <a:spLocks noChangeShapeType="1"/>
            </p:cNvSpPr>
            <p:nvPr/>
          </p:nvSpPr>
          <p:spPr bwMode="auto">
            <a:xfrm>
              <a:off x="4672" y="2286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271"/>
            <p:cNvSpPr txBox="1">
              <a:spLocks noChangeArrowheads="1"/>
            </p:cNvSpPr>
            <p:nvPr/>
          </p:nvSpPr>
          <p:spPr bwMode="auto">
            <a:xfrm>
              <a:off x="4628" y="2064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9" name="Text Box 272"/>
            <p:cNvSpPr txBox="1">
              <a:spLocks noChangeArrowheads="1"/>
            </p:cNvSpPr>
            <p:nvPr/>
          </p:nvSpPr>
          <p:spPr bwMode="auto">
            <a:xfrm>
              <a:off x="4855" y="2428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sx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0" name="Text Box 273"/>
            <p:cNvSpPr txBox="1">
              <a:spLocks noChangeArrowheads="1"/>
            </p:cNvSpPr>
            <p:nvPr/>
          </p:nvSpPr>
          <p:spPr bwMode="auto">
            <a:xfrm>
              <a:off x="4163" y="2421"/>
              <a:ext cx="3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1" name="Line 274"/>
            <p:cNvSpPr>
              <a:spLocks noChangeShapeType="1"/>
            </p:cNvSpPr>
            <p:nvPr/>
          </p:nvSpPr>
          <p:spPr bwMode="auto">
            <a:xfrm flipV="1">
              <a:off x="4461" y="2573"/>
              <a:ext cx="163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75"/>
            <p:cNvSpPr>
              <a:spLocks noChangeShapeType="1"/>
            </p:cNvSpPr>
            <p:nvPr/>
          </p:nvSpPr>
          <p:spPr bwMode="auto">
            <a:xfrm flipH="1">
              <a:off x="4784" y="2531"/>
              <a:ext cx="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AutoShape 276"/>
            <p:cNvSpPr>
              <a:spLocks noChangeArrowheads="1"/>
            </p:cNvSpPr>
            <p:nvPr/>
          </p:nvSpPr>
          <p:spPr bwMode="auto">
            <a:xfrm flipV="1">
              <a:off x="4427" y="1869"/>
              <a:ext cx="160" cy="12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4" name="Line 277"/>
            <p:cNvSpPr>
              <a:spLocks noChangeShapeType="1"/>
            </p:cNvSpPr>
            <p:nvPr/>
          </p:nvSpPr>
          <p:spPr bwMode="auto">
            <a:xfrm>
              <a:off x="4420" y="2032"/>
              <a:ext cx="18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78"/>
            <p:cNvSpPr>
              <a:spLocks noChangeShapeType="1"/>
            </p:cNvSpPr>
            <p:nvPr/>
          </p:nvSpPr>
          <p:spPr bwMode="auto">
            <a:xfrm>
              <a:off x="4457" y="2064"/>
              <a:ext cx="1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79"/>
            <p:cNvSpPr>
              <a:spLocks noChangeShapeType="1"/>
            </p:cNvSpPr>
            <p:nvPr/>
          </p:nvSpPr>
          <p:spPr bwMode="auto">
            <a:xfrm>
              <a:off x="4488" y="2094"/>
              <a:ext cx="6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280"/>
            <p:cNvSpPr txBox="1">
              <a:spLocks noChangeArrowheads="1"/>
            </p:cNvSpPr>
            <p:nvPr/>
          </p:nvSpPr>
          <p:spPr bwMode="auto">
            <a:xfrm>
              <a:off x="4587" y="1033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地面</a:t>
              </a:r>
            </a:p>
          </p:txBody>
        </p:sp>
        <p:sp>
          <p:nvSpPr>
            <p:cNvPr id="78" name="Text Box 281"/>
            <p:cNvSpPr txBox="1">
              <a:spLocks noChangeArrowheads="1"/>
            </p:cNvSpPr>
            <p:nvPr/>
          </p:nvSpPr>
          <p:spPr bwMode="auto">
            <a:xfrm>
              <a:off x="4550" y="1763"/>
              <a:ext cx="5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地下水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122931" y="1212599"/>
            <a:ext cx="385900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根据有效应力</a:t>
            </a:r>
            <a:r>
              <a:rPr lang="en-US" altLang="zh-CN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原理</a:t>
            </a:r>
            <a:r>
              <a:rPr lang="zh-CN" altLang="en-US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计算</a:t>
            </a:r>
            <a:r>
              <a:rPr lang="en-US" altLang="zh-CN" sz="2400" b="1" dirty="0" smtClean="0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:</a:t>
            </a:r>
            <a:endParaRPr lang="en-US" altLang="zh-CN" sz="2400" b="1" dirty="0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792535"/>
              </p:ext>
            </p:extLst>
          </p:nvPr>
        </p:nvGraphicFramePr>
        <p:xfrm>
          <a:off x="1481138" y="1866900"/>
          <a:ext cx="165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13" name="公式" r:id="rId7" imgW="660240" imgH="177480" progId="Equation.3">
                  <p:embed/>
                </p:oleObj>
              </mc:Choice>
              <mc:Fallback>
                <p:oleObj name="公式" r:id="rId7" imgW="6602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 l="-8444" r="-8444"/>
                      <a:stretch>
                        <a:fillRect/>
                      </a:stretch>
                    </p:blipFill>
                    <p:spPr bwMode="auto">
                      <a:xfrm>
                        <a:off x="1481138" y="1866900"/>
                        <a:ext cx="165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250"/>
          <p:cNvSpPr txBox="1">
            <a:spLocks noChangeArrowheads="1"/>
          </p:cNvSpPr>
          <p:nvPr/>
        </p:nvSpPr>
        <p:spPr bwMode="auto">
          <a:xfrm>
            <a:off x="1553840" y="4247113"/>
            <a:ext cx="6383181" cy="954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 algn="ctr">
            <a:noFill/>
            <a:miter lim="800000"/>
            <a:headEnd/>
            <a:tailEnd/>
          </a:ln>
          <a:effectLst/>
          <a:extLst/>
        </p:spPr>
        <p:txBody>
          <a:bodyPr lIns="0" tIns="0" rIns="0" bIns="0"/>
          <a:lstStyle>
            <a:lvl1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6088" indent="-446088">
              <a:lnSpc>
                <a:spcPct val="120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K</a:t>
            </a:r>
            <a:r>
              <a:rPr lang="en-US" altLang="zh-CN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0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为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静止土压力系数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，一般表示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有效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竖向与横向自重应力间的关系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43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基本方法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6" name="Text Box 241"/>
          <p:cNvSpPr txBox="1">
            <a:spLocks noChangeArrowheads="1"/>
          </p:cNvSpPr>
          <p:nvPr/>
        </p:nvSpPr>
        <p:spPr bwMode="auto">
          <a:xfrm>
            <a:off x="2222205" y="5708832"/>
            <a:ext cx="5837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自重应力计算基本方法</a:t>
            </a:r>
            <a:endParaRPr kumimoji="1" lang="en-US" altLang="zh-CN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60023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57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57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5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7049" grpId="0"/>
      <p:bldP spid="8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055" name="Rectangle 231"/>
          <p:cNvSpPr>
            <a:spLocks noChangeArrowheads="1"/>
          </p:cNvSpPr>
          <p:nvPr/>
        </p:nvSpPr>
        <p:spPr bwMode="auto">
          <a:xfrm>
            <a:off x="254000" y="690563"/>
            <a:ext cx="8667750" cy="278923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58057" name="Rectangle 233"/>
          <p:cNvSpPr>
            <a:spLocks noChangeArrowheads="1"/>
          </p:cNvSpPr>
          <p:nvPr/>
        </p:nvSpPr>
        <p:spPr bwMode="auto">
          <a:xfrm>
            <a:off x="333375" y="708025"/>
            <a:ext cx="193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分布规律</a:t>
            </a:r>
          </a:p>
        </p:txBody>
      </p:sp>
      <p:sp>
        <p:nvSpPr>
          <p:cNvPr id="1358058" name="Rectangle 234"/>
          <p:cNvSpPr>
            <a:spLocks noChangeArrowheads="1"/>
          </p:cNvSpPr>
          <p:nvPr/>
        </p:nvSpPr>
        <p:spPr bwMode="auto">
          <a:xfrm>
            <a:off x="993728" y="3633457"/>
            <a:ext cx="6964255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在每个土层中呈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直线分布</a:t>
            </a:r>
          </a:p>
          <a:p>
            <a:pPr marL="533400" indent="-5334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在多层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地基中呈折线分布</a:t>
            </a:r>
          </a:p>
          <a:p>
            <a:pPr marL="533400" indent="-5334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在土层分界面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处（地下水位处）垂直应力发生转折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marL="533400" indent="-53340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在土层分界面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处水平应力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发生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突变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5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6" name="Text Box 7"/>
          <p:cNvSpPr txBox="1">
            <a:spLocks noChangeArrowheads="1"/>
          </p:cNvSpPr>
          <p:nvPr/>
        </p:nvSpPr>
        <p:spPr bwMode="auto">
          <a:xfrm>
            <a:off x="-1" y="0"/>
            <a:ext cx="504887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基本方法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7" name="Text Box 241"/>
          <p:cNvSpPr txBox="1">
            <a:spLocks noChangeArrowheads="1"/>
          </p:cNvSpPr>
          <p:nvPr/>
        </p:nvSpPr>
        <p:spPr bwMode="auto">
          <a:xfrm>
            <a:off x="2222205" y="5708832"/>
            <a:ext cx="5837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自重应力计算基本方法</a:t>
            </a:r>
            <a:endParaRPr kumimoji="1" lang="en-US" altLang="zh-CN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307265" y="566523"/>
            <a:ext cx="6236660" cy="2951163"/>
            <a:chOff x="2307265" y="566523"/>
            <a:chExt cx="6236660" cy="2951163"/>
          </a:xfrm>
        </p:grpSpPr>
        <p:sp>
          <p:nvSpPr>
            <p:cNvPr id="1358090" name="Freeform 266"/>
            <p:cNvSpPr>
              <a:spLocks/>
            </p:cNvSpPr>
            <p:nvPr/>
          </p:nvSpPr>
          <p:spPr bwMode="auto">
            <a:xfrm>
              <a:off x="6128122" y="997281"/>
              <a:ext cx="2139577" cy="2330450"/>
            </a:xfrm>
            <a:custGeom>
              <a:avLst/>
              <a:gdLst>
                <a:gd name="T0" fmla="*/ 1094 w 1094"/>
                <a:gd name="T1" fmla="*/ 0 h 1468"/>
                <a:gd name="T2" fmla="*/ 0 w 1094"/>
                <a:gd name="T3" fmla="*/ 0 h 1468"/>
                <a:gd name="T4" fmla="*/ 0 w 1094"/>
                <a:gd name="T5" fmla="*/ 1468 h 1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94" h="1468">
                  <a:moveTo>
                    <a:pt x="1094" y="0"/>
                  </a:moveTo>
                  <a:lnTo>
                    <a:pt x="0" y="0"/>
                  </a:lnTo>
                  <a:lnTo>
                    <a:pt x="0" y="14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091" name="Line 267"/>
            <p:cNvSpPr>
              <a:spLocks noChangeShapeType="1"/>
            </p:cNvSpPr>
            <p:nvPr/>
          </p:nvSpPr>
          <p:spPr bwMode="auto">
            <a:xfrm>
              <a:off x="6135216" y="1560843"/>
              <a:ext cx="4504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092" name="Line 268"/>
            <p:cNvSpPr>
              <a:spLocks noChangeShapeType="1"/>
            </p:cNvSpPr>
            <p:nvPr/>
          </p:nvSpPr>
          <p:spPr bwMode="auto">
            <a:xfrm>
              <a:off x="6124576" y="2181556"/>
              <a:ext cx="12679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093" name="Freeform 269"/>
            <p:cNvSpPr>
              <a:spLocks/>
            </p:cNvSpPr>
            <p:nvPr/>
          </p:nvSpPr>
          <p:spPr bwMode="auto">
            <a:xfrm>
              <a:off x="6144083" y="997281"/>
              <a:ext cx="1493149" cy="1855788"/>
            </a:xfrm>
            <a:custGeom>
              <a:avLst/>
              <a:gdLst>
                <a:gd name="T0" fmla="*/ 0 w 882"/>
                <a:gd name="T1" fmla="*/ 0 h 1300"/>
                <a:gd name="T2" fmla="*/ 249 w 882"/>
                <a:gd name="T3" fmla="*/ 364 h 1300"/>
                <a:gd name="T4" fmla="*/ 708 w 882"/>
                <a:gd name="T5" fmla="*/ 748 h 1300"/>
                <a:gd name="T6" fmla="*/ 882 w 882"/>
                <a:gd name="T7" fmla="*/ 1300 h 1300"/>
                <a:gd name="connsiteX0" fmla="*/ 0 w 9544"/>
                <a:gd name="connsiteY0" fmla="*/ 0 h 8993"/>
                <a:gd name="connsiteX1" fmla="*/ 2823 w 9544"/>
                <a:gd name="connsiteY1" fmla="*/ 2800 h 8993"/>
                <a:gd name="connsiteX2" fmla="*/ 8027 w 9544"/>
                <a:gd name="connsiteY2" fmla="*/ 5754 h 8993"/>
                <a:gd name="connsiteX3" fmla="*/ 9544 w 9544"/>
                <a:gd name="connsiteY3" fmla="*/ 8993 h 8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4" h="8993">
                  <a:moveTo>
                    <a:pt x="0" y="0"/>
                  </a:moveTo>
                  <a:lnTo>
                    <a:pt x="2823" y="2800"/>
                  </a:lnTo>
                  <a:lnTo>
                    <a:pt x="8027" y="5754"/>
                  </a:lnTo>
                  <a:cubicBezTo>
                    <a:pt x="8685" y="7169"/>
                    <a:pt x="8886" y="7578"/>
                    <a:pt x="9544" y="8993"/>
                  </a:cubicBezTo>
                </a:path>
              </a:pathLst>
            </a:custGeom>
            <a:noFill/>
            <a:ln w="19050" cmpd="sng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094" name="Text Box 270"/>
            <p:cNvSpPr txBox="1">
              <a:spLocks noChangeArrowheads="1"/>
            </p:cNvSpPr>
            <p:nvPr/>
          </p:nvSpPr>
          <p:spPr bwMode="auto">
            <a:xfrm>
              <a:off x="7477125" y="970293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 </a:t>
              </a:r>
              <a:r>
                <a:rPr lang="zh-CN" altLang="en-US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或</a:t>
              </a:r>
              <a:r>
                <a:rPr lang="zh-CN" altLang="en-US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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58100" name="Line 276"/>
            <p:cNvSpPr>
              <a:spLocks noChangeShapeType="1"/>
            </p:cNvSpPr>
            <p:nvPr/>
          </p:nvSpPr>
          <p:spPr bwMode="auto">
            <a:xfrm>
              <a:off x="6136989" y="2857831"/>
              <a:ext cx="1505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104" name="Text Box 280"/>
            <p:cNvSpPr txBox="1">
              <a:spLocks noChangeArrowheads="1"/>
            </p:cNvSpPr>
            <p:nvPr/>
          </p:nvSpPr>
          <p:spPr bwMode="auto">
            <a:xfrm>
              <a:off x="6158269" y="2970543"/>
              <a:ext cx="356441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56" name="Rectangle 252"/>
            <p:cNvSpPr>
              <a:spLocks noChangeArrowheads="1"/>
            </p:cNvSpPr>
            <p:nvPr/>
          </p:nvSpPr>
          <p:spPr bwMode="auto">
            <a:xfrm>
              <a:off x="2307265" y="566523"/>
              <a:ext cx="3067051" cy="2951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7" name="Rectangle 253"/>
            <p:cNvSpPr>
              <a:spLocks noChangeArrowheads="1"/>
            </p:cNvSpPr>
            <p:nvPr/>
          </p:nvSpPr>
          <p:spPr bwMode="auto">
            <a:xfrm>
              <a:off x="2532690" y="990386"/>
              <a:ext cx="2628900" cy="126523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8" name="Rectangle 254"/>
            <p:cNvSpPr>
              <a:spLocks noChangeArrowheads="1"/>
            </p:cNvSpPr>
            <p:nvPr/>
          </p:nvSpPr>
          <p:spPr bwMode="auto">
            <a:xfrm>
              <a:off x="2535865" y="2185773"/>
              <a:ext cx="2622550" cy="1117600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9" name="Line 255"/>
            <p:cNvSpPr>
              <a:spLocks noChangeShapeType="1"/>
            </p:cNvSpPr>
            <p:nvPr/>
          </p:nvSpPr>
          <p:spPr bwMode="auto">
            <a:xfrm>
              <a:off x="2510465" y="993561"/>
              <a:ext cx="265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AutoShape 256"/>
            <p:cNvSpPr>
              <a:spLocks noChangeArrowheads="1"/>
            </p:cNvSpPr>
            <p:nvPr/>
          </p:nvSpPr>
          <p:spPr bwMode="auto">
            <a:xfrm flipV="1">
              <a:off x="3486778" y="791948"/>
              <a:ext cx="254000" cy="20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" name="Line 257"/>
            <p:cNvSpPr>
              <a:spLocks noChangeShapeType="1"/>
            </p:cNvSpPr>
            <p:nvPr/>
          </p:nvSpPr>
          <p:spPr bwMode="auto">
            <a:xfrm>
              <a:off x="2510465" y="1563473"/>
              <a:ext cx="265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58"/>
            <p:cNvSpPr>
              <a:spLocks noChangeShapeType="1"/>
            </p:cNvSpPr>
            <p:nvPr/>
          </p:nvSpPr>
          <p:spPr bwMode="auto">
            <a:xfrm>
              <a:off x="2510465" y="2182598"/>
              <a:ext cx="265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59"/>
            <p:cNvSpPr>
              <a:spLocks noChangeShapeType="1"/>
            </p:cNvSpPr>
            <p:nvPr/>
          </p:nvSpPr>
          <p:spPr bwMode="auto">
            <a:xfrm>
              <a:off x="2904165" y="1006261"/>
              <a:ext cx="0" cy="547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60"/>
            <p:cNvSpPr>
              <a:spLocks noChangeShapeType="1"/>
            </p:cNvSpPr>
            <p:nvPr/>
          </p:nvSpPr>
          <p:spPr bwMode="auto">
            <a:xfrm>
              <a:off x="2899403" y="1563473"/>
              <a:ext cx="0" cy="628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261"/>
            <p:cNvSpPr>
              <a:spLocks noChangeShapeType="1"/>
            </p:cNvSpPr>
            <p:nvPr/>
          </p:nvSpPr>
          <p:spPr bwMode="auto">
            <a:xfrm>
              <a:off x="2899403" y="2185773"/>
              <a:ext cx="0" cy="625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262"/>
            <p:cNvSpPr txBox="1">
              <a:spLocks noChangeArrowheads="1"/>
            </p:cNvSpPr>
            <p:nvPr/>
          </p:nvSpPr>
          <p:spPr bwMode="auto">
            <a:xfrm>
              <a:off x="2456490" y="958636"/>
              <a:ext cx="10890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7" name="Text Box 263"/>
            <p:cNvSpPr txBox="1">
              <a:spLocks noChangeArrowheads="1"/>
            </p:cNvSpPr>
            <p:nvPr/>
          </p:nvSpPr>
          <p:spPr bwMode="auto">
            <a:xfrm>
              <a:off x="2446965" y="1604748"/>
              <a:ext cx="10890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68" name="Text Box 264"/>
            <p:cNvSpPr txBox="1">
              <a:spLocks noChangeArrowheads="1"/>
            </p:cNvSpPr>
            <p:nvPr/>
          </p:nvSpPr>
          <p:spPr bwMode="auto">
            <a:xfrm>
              <a:off x="2456490" y="2247686"/>
              <a:ext cx="10795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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   H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69" name="AutoShape 265"/>
            <p:cNvSpPr>
              <a:spLocks noChangeArrowheads="1"/>
            </p:cNvSpPr>
            <p:nvPr/>
          </p:nvSpPr>
          <p:spPr bwMode="auto">
            <a:xfrm>
              <a:off x="3602665" y="2808073"/>
              <a:ext cx="457200" cy="396875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0" name="Line 266"/>
            <p:cNvSpPr>
              <a:spLocks noChangeShapeType="1"/>
            </p:cNvSpPr>
            <p:nvPr/>
          </p:nvSpPr>
          <p:spPr bwMode="auto">
            <a:xfrm>
              <a:off x="2758115" y="2819186"/>
              <a:ext cx="295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67"/>
            <p:cNvSpPr>
              <a:spLocks noChangeShapeType="1"/>
            </p:cNvSpPr>
            <p:nvPr/>
          </p:nvSpPr>
          <p:spPr bwMode="auto">
            <a:xfrm>
              <a:off x="4437690" y="2827123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68"/>
            <p:cNvSpPr>
              <a:spLocks noChangeShapeType="1"/>
            </p:cNvSpPr>
            <p:nvPr/>
          </p:nvSpPr>
          <p:spPr bwMode="auto">
            <a:xfrm>
              <a:off x="4640890" y="1001498"/>
              <a:ext cx="0" cy="1825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269"/>
            <p:cNvSpPr txBox="1">
              <a:spLocks noChangeArrowheads="1"/>
            </p:cNvSpPr>
            <p:nvPr/>
          </p:nvSpPr>
          <p:spPr bwMode="auto">
            <a:xfrm>
              <a:off x="4645653" y="1638086"/>
              <a:ext cx="403225" cy="38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74" name="Line 270"/>
            <p:cNvSpPr>
              <a:spLocks noChangeShapeType="1"/>
            </p:cNvSpPr>
            <p:nvPr/>
          </p:nvSpPr>
          <p:spPr bwMode="auto">
            <a:xfrm>
              <a:off x="3837615" y="2608048"/>
              <a:ext cx="0" cy="244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271"/>
            <p:cNvSpPr txBox="1">
              <a:spLocks noChangeArrowheads="1"/>
            </p:cNvSpPr>
            <p:nvPr/>
          </p:nvSpPr>
          <p:spPr bwMode="auto">
            <a:xfrm>
              <a:off x="3767765" y="2255623"/>
              <a:ext cx="5381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6" name="Text Box 272"/>
            <p:cNvSpPr txBox="1">
              <a:spLocks noChangeArrowheads="1"/>
            </p:cNvSpPr>
            <p:nvPr/>
          </p:nvSpPr>
          <p:spPr bwMode="auto">
            <a:xfrm>
              <a:off x="4128128" y="2833473"/>
              <a:ext cx="549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sx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7" name="Text Box 273"/>
            <p:cNvSpPr txBox="1">
              <a:spLocks noChangeArrowheads="1"/>
            </p:cNvSpPr>
            <p:nvPr/>
          </p:nvSpPr>
          <p:spPr bwMode="auto">
            <a:xfrm>
              <a:off x="3029578" y="2822361"/>
              <a:ext cx="5492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78" name="Line 274"/>
            <p:cNvSpPr>
              <a:spLocks noChangeShapeType="1"/>
            </p:cNvSpPr>
            <p:nvPr/>
          </p:nvSpPr>
          <p:spPr bwMode="auto">
            <a:xfrm flipV="1">
              <a:off x="3502653" y="3063661"/>
              <a:ext cx="258763" cy="136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75"/>
            <p:cNvSpPr>
              <a:spLocks noChangeShapeType="1"/>
            </p:cNvSpPr>
            <p:nvPr/>
          </p:nvSpPr>
          <p:spPr bwMode="auto">
            <a:xfrm flipH="1">
              <a:off x="4015415" y="2996986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AutoShape 276"/>
            <p:cNvSpPr>
              <a:spLocks noChangeArrowheads="1"/>
            </p:cNvSpPr>
            <p:nvPr/>
          </p:nvSpPr>
          <p:spPr bwMode="auto">
            <a:xfrm flipV="1">
              <a:off x="3448678" y="1946061"/>
              <a:ext cx="254000" cy="203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1" name="Line 277"/>
            <p:cNvSpPr>
              <a:spLocks noChangeShapeType="1"/>
            </p:cNvSpPr>
            <p:nvPr/>
          </p:nvSpPr>
          <p:spPr bwMode="auto">
            <a:xfrm>
              <a:off x="3437565" y="2204823"/>
              <a:ext cx="29051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78"/>
            <p:cNvSpPr>
              <a:spLocks noChangeShapeType="1"/>
            </p:cNvSpPr>
            <p:nvPr/>
          </p:nvSpPr>
          <p:spPr bwMode="auto">
            <a:xfrm>
              <a:off x="3496303" y="2255623"/>
              <a:ext cx="1778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79"/>
            <p:cNvSpPr>
              <a:spLocks noChangeShapeType="1"/>
            </p:cNvSpPr>
            <p:nvPr/>
          </p:nvSpPr>
          <p:spPr bwMode="auto">
            <a:xfrm>
              <a:off x="3545515" y="2303248"/>
              <a:ext cx="1031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280"/>
            <p:cNvSpPr txBox="1">
              <a:spLocks noChangeArrowheads="1"/>
            </p:cNvSpPr>
            <p:nvPr/>
          </p:nvSpPr>
          <p:spPr bwMode="auto">
            <a:xfrm>
              <a:off x="3702678" y="618911"/>
              <a:ext cx="6445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srgbClr val="000066"/>
                  </a:solidFill>
                  <a:ea typeface="幼圆" pitchFamily="49" charset="-122"/>
                </a:rPr>
                <a:t>地面</a:t>
              </a:r>
            </a:p>
          </p:txBody>
        </p:sp>
        <p:sp>
          <p:nvSpPr>
            <p:cNvPr id="85" name="Text Box 281"/>
            <p:cNvSpPr txBox="1">
              <a:spLocks noChangeArrowheads="1"/>
            </p:cNvSpPr>
            <p:nvPr/>
          </p:nvSpPr>
          <p:spPr bwMode="auto">
            <a:xfrm>
              <a:off x="3643940" y="1777786"/>
              <a:ext cx="87471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</a:rPr>
                <a:t>地下水</a:t>
              </a:r>
            </a:p>
          </p:txBody>
        </p:sp>
        <p:sp>
          <p:nvSpPr>
            <p:cNvPr id="93" name="Text Box 281"/>
            <p:cNvSpPr txBox="1">
              <a:spLocks noChangeArrowheads="1"/>
            </p:cNvSpPr>
            <p:nvPr/>
          </p:nvSpPr>
          <p:spPr bwMode="auto">
            <a:xfrm>
              <a:off x="7201528" y="1496798"/>
              <a:ext cx="110648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 smtClean="0">
                  <a:solidFill>
                    <a:srgbClr val="A50021"/>
                  </a:solidFill>
                  <a:ea typeface="幼圆" pitchFamily="49" charset="-122"/>
                </a:rPr>
                <a:t>垂直应力</a:t>
              </a:r>
              <a:endParaRPr lang="zh-CN" altLang="en-US" sz="16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96" name="Text Box 281"/>
            <p:cNvSpPr txBox="1">
              <a:spLocks noChangeArrowheads="1"/>
            </p:cNvSpPr>
            <p:nvPr/>
          </p:nvSpPr>
          <p:spPr bwMode="auto">
            <a:xfrm>
              <a:off x="6914191" y="2295311"/>
              <a:ext cx="110648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 smtClean="0">
                  <a:solidFill>
                    <a:srgbClr val="0000FF"/>
                  </a:solidFill>
                  <a:ea typeface="幼圆" pitchFamily="49" charset="-122"/>
                </a:rPr>
                <a:t>水平应力</a:t>
              </a:r>
              <a:endParaRPr lang="zh-CN" altLang="en-US" sz="1600" b="1" dirty="0">
                <a:solidFill>
                  <a:srgbClr val="0000FF"/>
                </a:solidFill>
                <a:ea typeface="幼圆" pitchFamily="49" charset="-122"/>
              </a:endParaRPr>
            </a:p>
          </p:txBody>
        </p:sp>
        <p:cxnSp>
          <p:nvCxnSpPr>
            <p:cNvPr id="3" name="直接连接符 2"/>
            <p:cNvCxnSpPr>
              <a:stCxn id="1358093" idx="0"/>
            </p:cNvCxnSpPr>
            <p:nvPr/>
          </p:nvCxnSpPr>
          <p:spPr bwMode="auto">
            <a:xfrm>
              <a:off x="6144083" y="997281"/>
              <a:ext cx="165673" cy="564324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4"/>
            <p:cNvCxnSpPr/>
            <p:nvPr/>
          </p:nvCxnSpPr>
          <p:spPr bwMode="auto">
            <a:xfrm>
              <a:off x="6392883" y="1567543"/>
              <a:ext cx="368135" cy="611579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接连接符 6"/>
            <p:cNvCxnSpPr/>
            <p:nvPr/>
          </p:nvCxnSpPr>
          <p:spPr bwMode="auto">
            <a:xfrm>
              <a:off x="6642265" y="2179122"/>
              <a:ext cx="160317" cy="682831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/>
            <p:nvPr/>
          </p:nvCxnSpPr>
          <p:spPr bwMode="auto">
            <a:xfrm flipV="1">
              <a:off x="7075715" y="1698172"/>
              <a:ext cx="166255" cy="19594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 flipV="1">
              <a:off x="6761018" y="2474028"/>
              <a:ext cx="210734" cy="15041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3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8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8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8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8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8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8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8055" grpId="0" animBg="1"/>
      <p:bldP spid="1358057" grpId="0" build="p" autoUpdateAnimBg="0" advAuto="0"/>
      <p:bldP spid="1358058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778" name="Rectangle 66"/>
          <p:cNvSpPr>
            <a:spLocks noChangeArrowheads="1"/>
          </p:cNvSpPr>
          <p:nvPr/>
        </p:nvSpPr>
        <p:spPr bwMode="auto">
          <a:xfrm>
            <a:off x="2479675" y="1595437"/>
            <a:ext cx="3244850" cy="264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anose="05000000000000000000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静水条件</a:t>
            </a:r>
          </a:p>
          <a:p>
            <a:pPr marL="342900" indent="-3429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anose="05000000000000000000" pitchFamily="2" charset="2"/>
              <a:buChar char="F"/>
            </a:pP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342900" indent="-3429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anose="05000000000000000000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稳定渗流条件</a:t>
            </a:r>
          </a:p>
        </p:txBody>
      </p:sp>
      <p:sp>
        <p:nvSpPr>
          <p:cNvPr id="1395779" name="Text Box 67"/>
          <p:cNvSpPr txBox="1">
            <a:spLocks noChangeArrowheads="1"/>
          </p:cNvSpPr>
          <p:nvPr/>
        </p:nvSpPr>
        <p:spPr bwMode="auto">
          <a:xfrm>
            <a:off x="5568949" y="1231900"/>
            <a:ext cx="25368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66700" indent="-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6000"/>
              <a:buFont typeface="Arial" panose="020B0604020202020204" pitchFamily="34" charset="0"/>
              <a:buChar char="•"/>
            </a:pPr>
            <a:r>
              <a:rPr kumimoji="1" lang="zh-CN" altLang="en-US" sz="2600" b="1" dirty="0">
                <a:solidFill>
                  <a:srgbClr val="000066"/>
                </a:solidFill>
                <a:latin typeface="华文新魏" pitchFamily="2" charset="-122"/>
                <a:ea typeface="幼圆" pitchFamily="49" charset="-122"/>
                <a:sym typeface="Symbol" pitchFamily="18" charset="2"/>
              </a:rPr>
              <a:t>地下水位</a:t>
            </a:r>
          </a:p>
          <a:p>
            <a:pPr marL="266700" indent="-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6000"/>
              <a:buFont typeface="Arial" panose="020B0604020202020204" pitchFamily="34" charset="0"/>
              <a:buChar char="•"/>
            </a:pP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海洋土</a:t>
            </a:r>
          </a:p>
          <a:p>
            <a:pPr marL="266700" indent="-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6000"/>
              <a:buFont typeface="Arial" panose="020B0604020202020204" pitchFamily="34" charset="0"/>
              <a:buChar char="•"/>
            </a:pP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毛细饱和区</a:t>
            </a:r>
          </a:p>
        </p:txBody>
      </p:sp>
      <p:sp>
        <p:nvSpPr>
          <p:cNvPr id="1395784" name="AutoShape 72"/>
          <p:cNvSpPr>
            <a:spLocks/>
          </p:cNvSpPr>
          <p:nvPr/>
        </p:nvSpPr>
        <p:spPr bwMode="auto">
          <a:xfrm flipH="1">
            <a:off x="5099049" y="1531938"/>
            <a:ext cx="187325" cy="1277937"/>
          </a:xfrm>
          <a:prstGeom prst="rightBrace">
            <a:avLst>
              <a:gd name="adj1" fmla="val 52286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1" y="0"/>
            <a:ext cx="423175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6" name="Text Box 241"/>
          <p:cNvSpPr txBox="1">
            <a:spLocks noChangeArrowheads="1"/>
          </p:cNvSpPr>
          <p:nvPr/>
        </p:nvSpPr>
        <p:spPr bwMode="auto">
          <a:xfrm>
            <a:off x="2498430" y="5708832"/>
            <a:ext cx="5837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地基</a:t>
            </a:r>
            <a:r>
              <a:rPr kumimoji="1" lang="zh-CN" altLang="en-US" sz="4000" b="1" dirty="0" smtClean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自重应力计算</a:t>
            </a:r>
            <a:endParaRPr kumimoji="1" lang="en-US" altLang="zh-CN" sz="4000" b="1" dirty="0">
              <a:solidFill>
                <a:srgbClr val="000066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975965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39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9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2000"/>
                                        <p:tgtEl>
                                          <p:spTgt spid="139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5778" grpId="0"/>
      <p:bldP spid="1395779" grpId="0"/>
      <p:bldP spid="139578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6749" name="Group 13"/>
          <p:cNvGrpSpPr>
            <a:grpSpLocks/>
          </p:cNvGrpSpPr>
          <p:nvPr/>
        </p:nvGrpSpPr>
        <p:grpSpPr bwMode="auto">
          <a:xfrm>
            <a:off x="4291013" y="558384"/>
            <a:ext cx="4598988" cy="3432175"/>
            <a:chOff x="2727" y="905"/>
            <a:chExt cx="2897" cy="2162"/>
          </a:xfrm>
        </p:grpSpPr>
        <p:sp>
          <p:nvSpPr>
            <p:cNvPr id="1396751" name="Rectangle 15"/>
            <p:cNvSpPr>
              <a:spLocks noChangeAspect="1" noChangeArrowheads="1"/>
            </p:cNvSpPr>
            <p:nvPr/>
          </p:nvSpPr>
          <p:spPr bwMode="auto">
            <a:xfrm>
              <a:off x="2735" y="1144"/>
              <a:ext cx="2881" cy="65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6752" name="Rectangle 16"/>
            <p:cNvSpPr>
              <a:spLocks noChangeAspect="1" noChangeArrowheads="1"/>
            </p:cNvSpPr>
            <p:nvPr/>
          </p:nvSpPr>
          <p:spPr bwMode="auto">
            <a:xfrm>
              <a:off x="2727" y="1789"/>
              <a:ext cx="2894" cy="1278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6753" name="Line 17"/>
            <p:cNvSpPr>
              <a:spLocks noChangeAspect="1" noChangeShapeType="1"/>
            </p:cNvSpPr>
            <p:nvPr/>
          </p:nvSpPr>
          <p:spPr bwMode="auto">
            <a:xfrm>
              <a:off x="2735" y="1143"/>
              <a:ext cx="2878" cy="0"/>
            </a:xfrm>
            <a:prstGeom prst="line">
              <a:avLst/>
            </a:prstGeom>
            <a:noFill/>
            <a:ln w="31750">
              <a:solidFill>
                <a:srgbClr val="808000"/>
              </a:solidFill>
              <a:miter lim="800000"/>
              <a:headEnd type="none" w="sm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6754" name="Line 18"/>
            <p:cNvSpPr>
              <a:spLocks noChangeAspect="1" noChangeShapeType="1"/>
            </p:cNvSpPr>
            <p:nvPr/>
          </p:nvSpPr>
          <p:spPr bwMode="auto">
            <a:xfrm>
              <a:off x="2735" y="1802"/>
              <a:ext cx="288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 type="none" w="sm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96755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7291313"/>
                </p:ext>
              </p:extLst>
            </p:nvPr>
          </p:nvGraphicFramePr>
          <p:xfrm>
            <a:off x="2791" y="2236"/>
            <a:ext cx="30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038" name="公式" r:id="rId3" imgW="241200" imgH="228600" progId="Equation.3">
                    <p:embed/>
                  </p:oleObj>
                </mc:Choice>
                <mc:Fallback>
                  <p:oleObj name="公式" r:id="rId3" imgW="241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1" y="2236"/>
                          <a:ext cx="30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675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6614702"/>
                </p:ext>
              </p:extLst>
            </p:nvPr>
          </p:nvGraphicFramePr>
          <p:xfrm>
            <a:off x="2861" y="1329"/>
            <a:ext cx="183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039" name="公式" r:id="rId5" imgW="126720" imgH="164880" progId="Equation.3">
                    <p:embed/>
                  </p:oleObj>
                </mc:Choice>
                <mc:Fallback>
                  <p:oleObj name="公式" r:id="rId5" imgW="1267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1" y="1329"/>
                          <a:ext cx="183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6757" name="Line 21"/>
            <p:cNvSpPr>
              <a:spLocks noChangeShapeType="1"/>
            </p:cNvSpPr>
            <p:nvPr/>
          </p:nvSpPr>
          <p:spPr bwMode="auto">
            <a:xfrm>
              <a:off x="3127" y="1143"/>
              <a:ext cx="0" cy="6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58" name="Line 22"/>
            <p:cNvSpPr>
              <a:spLocks noChangeShapeType="1"/>
            </p:cNvSpPr>
            <p:nvPr/>
          </p:nvSpPr>
          <p:spPr bwMode="auto">
            <a:xfrm>
              <a:off x="3131" y="1811"/>
              <a:ext cx="0" cy="12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59" name="Text Box 23"/>
            <p:cNvSpPr txBox="1">
              <a:spLocks noChangeArrowheads="1"/>
            </p:cNvSpPr>
            <p:nvPr/>
          </p:nvSpPr>
          <p:spPr bwMode="auto">
            <a:xfrm>
              <a:off x="3164" y="1347"/>
              <a:ext cx="162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396760" name="Text Box 24"/>
            <p:cNvSpPr txBox="1">
              <a:spLocks noChangeArrowheads="1"/>
            </p:cNvSpPr>
            <p:nvPr/>
          </p:nvSpPr>
          <p:spPr bwMode="auto">
            <a:xfrm>
              <a:off x="3160" y="2332"/>
              <a:ext cx="162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  <p:grpSp>
          <p:nvGrpSpPr>
            <p:cNvPr id="1396761" name="Group 25"/>
            <p:cNvGrpSpPr>
              <a:grpSpLocks/>
            </p:cNvGrpSpPr>
            <p:nvPr/>
          </p:nvGrpSpPr>
          <p:grpSpPr bwMode="auto">
            <a:xfrm>
              <a:off x="4442" y="1701"/>
              <a:ext cx="201" cy="212"/>
              <a:chOff x="418" y="1421"/>
              <a:chExt cx="201" cy="212"/>
            </a:xfrm>
          </p:grpSpPr>
          <p:sp>
            <p:nvSpPr>
              <p:cNvPr id="1396762" name="AutoShape 26"/>
              <p:cNvSpPr>
                <a:spLocks noChangeAspect="1" noChangeArrowheads="1"/>
              </p:cNvSpPr>
              <p:nvPr/>
            </p:nvSpPr>
            <p:spPr bwMode="auto">
              <a:xfrm flipV="1">
                <a:off x="460" y="1421"/>
                <a:ext cx="103" cy="89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6763" name="Line 27"/>
              <p:cNvSpPr>
                <a:spLocks noChangeShapeType="1"/>
              </p:cNvSpPr>
              <p:nvPr/>
            </p:nvSpPr>
            <p:spPr bwMode="auto">
              <a:xfrm>
                <a:off x="418" y="1572"/>
                <a:ext cx="201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6764" name="Line 28"/>
              <p:cNvSpPr>
                <a:spLocks noChangeShapeType="1"/>
              </p:cNvSpPr>
              <p:nvPr/>
            </p:nvSpPr>
            <p:spPr bwMode="auto">
              <a:xfrm>
                <a:off x="456" y="1601"/>
                <a:ext cx="115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6765" name="Line 29"/>
              <p:cNvSpPr>
                <a:spLocks noChangeShapeType="1"/>
              </p:cNvSpPr>
              <p:nvPr/>
            </p:nvSpPr>
            <p:spPr bwMode="auto">
              <a:xfrm>
                <a:off x="490" y="1633"/>
                <a:ext cx="67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6766" name="AutoShape 30"/>
            <p:cNvSpPr>
              <a:spLocks noChangeAspect="1" noChangeArrowheads="1"/>
            </p:cNvSpPr>
            <p:nvPr/>
          </p:nvSpPr>
          <p:spPr bwMode="auto">
            <a:xfrm flipV="1">
              <a:off x="3660" y="1040"/>
              <a:ext cx="103" cy="89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6767" name="Text Box 31"/>
            <p:cNvSpPr txBox="1">
              <a:spLocks noChangeArrowheads="1"/>
            </p:cNvSpPr>
            <p:nvPr/>
          </p:nvSpPr>
          <p:spPr bwMode="auto">
            <a:xfrm>
              <a:off x="3806" y="905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zh-CN" altLang="en-US" sz="2000" b="1" dirty="0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396768" name="Text Box 32"/>
            <p:cNvSpPr txBox="1">
              <a:spLocks noChangeArrowheads="1"/>
            </p:cNvSpPr>
            <p:nvPr/>
          </p:nvSpPr>
          <p:spPr bwMode="auto">
            <a:xfrm>
              <a:off x="4592" y="151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地下水位</a:t>
              </a:r>
              <a:endParaRPr kumimoji="0" lang="en-US" altLang="zh-CN" sz="2000" b="1">
                <a:solidFill>
                  <a:srgbClr val="000066"/>
                </a:solidFill>
                <a:latin typeface="Arial" charset="0"/>
                <a:ea typeface="幼圆" pitchFamily="49" charset="-122"/>
              </a:endParaRPr>
            </a:p>
          </p:txBody>
        </p:sp>
      </p:grpSp>
      <p:sp>
        <p:nvSpPr>
          <p:cNvPr id="1396769" name="Rectangle 33"/>
          <p:cNvSpPr>
            <a:spLocks noChangeArrowheads="1"/>
          </p:cNvSpPr>
          <p:nvPr/>
        </p:nvSpPr>
        <p:spPr bwMode="auto">
          <a:xfrm>
            <a:off x="2495550" y="5873750"/>
            <a:ext cx="568642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自重应力计算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-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地下水位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396770" name="Rectangle 34"/>
          <p:cNvSpPr>
            <a:spLocks noChangeArrowheads="1"/>
          </p:cNvSpPr>
          <p:nvPr/>
        </p:nvSpPr>
        <p:spPr bwMode="auto">
          <a:xfrm>
            <a:off x="311150" y="573088"/>
            <a:ext cx="3335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静水条件：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地下水位</a:t>
            </a:r>
          </a:p>
        </p:txBody>
      </p:sp>
      <p:sp>
        <p:nvSpPr>
          <p:cNvPr id="1396771" name="Text Box 35"/>
          <p:cNvSpPr txBox="1">
            <a:spLocks noChangeArrowheads="1"/>
          </p:cNvSpPr>
          <p:nvPr/>
        </p:nvSpPr>
        <p:spPr bwMode="auto">
          <a:xfrm>
            <a:off x="652463" y="1147763"/>
            <a:ext cx="3300412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</a:rPr>
              <a:t>总应力：</a:t>
            </a:r>
            <a:r>
              <a:rPr kumimoji="0" lang="zh-CN" altLang="en-US" b="1" dirty="0" smtClean="0">
                <a:solidFill>
                  <a:srgbClr val="000066"/>
                </a:solidFill>
                <a:ea typeface="幼圆" pitchFamily="49" charset="-122"/>
              </a:rPr>
              <a:t>单位面积土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柱和水柱的总重量</a:t>
            </a:r>
            <a:endParaRPr kumimoji="0" lang="en-US" altLang="zh-CN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6772" name="Text Box 36"/>
          <p:cNvSpPr txBox="1">
            <a:spLocks noChangeArrowheads="1"/>
          </p:cNvSpPr>
          <p:nvPr/>
        </p:nvSpPr>
        <p:spPr bwMode="auto">
          <a:xfrm>
            <a:off x="1165225" y="2084388"/>
            <a:ext cx="2031325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6773" name="Text Box 37"/>
          <p:cNvSpPr txBox="1">
            <a:spLocks noChangeArrowheads="1"/>
          </p:cNvSpPr>
          <p:nvPr/>
        </p:nvSpPr>
        <p:spPr bwMode="auto">
          <a:xfrm>
            <a:off x="657225" y="2738438"/>
            <a:ext cx="345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孔隙水压力：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净水压强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6774" name="Text Box 38"/>
          <p:cNvSpPr txBox="1">
            <a:spLocks noChangeArrowheads="1"/>
          </p:cNvSpPr>
          <p:nvPr/>
        </p:nvSpPr>
        <p:spPr bwMode="auto">
          <a:xfrm>
            <a:off x="1198563" y="3192463"/>
            <a:ext cx="1289135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6775" name="Text Box 39"/>
          <p:cNvSpPr txBox="1">
            <a:spLocks noChangeArrowheads="1"/>
          </p:cNvSpPr>
          <p:nvPr/>
        </p:nvSpPr>
        <p:spPr bwMode="auto">
          <a:xfrm>
            <a:off x="660400" y="3727450"/>
            <a:ext cx="22701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</a:rPr>
              <a:t>有效应力：</a:t>
            </a:r>
            <a:endParaRPr kumimoji="0" lang="en-US" altLang="zh-CN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96776" name="Text Box 40"/>
          <p:cNvSpPr txBox="1">
            <a:spLocks noChangeArrowheads="1"/>
          </p:cNvSpPr>
          <p:nvPr/>
        </p:nvSpPr>
        <p:spPr bwMode="auto">
          <a:xfrm>
            <a:off x="1228725" y="4175125"/>
            <a:ext cx="2688557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  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+(</a:t>
            </a:r>
            <a:r>
              <a:rPr kumimoji="1" lang="zh-CN" altLang="en-US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-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)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sym typeface="Symbol" pitchFamily="18" charset="2"/>
              </a:rPr>
              <a:t>    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+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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</a:p>
        </p:txBody>
      </p:sp>
      <p:grpSp>
        <p:nvGrpSpPr>
          <p:cNvPr id="1396777" name="Group 41"/>
          <p:cNvGrpSpPr>
            <a:grpSpLocks/>
          </p:cNvGrpSpPr>
          <p:nvPr/>
        </p:nvGrpSpPr>
        <p:grpSpPr bwMode="auto">
          <a:xfrm>
            <a:off x="5330825" y="4025484"/>
            <a:ext cx="920750" cy="309562"/>
            <a:chOff x="3382" y="3089"/>
            <a:chExt cx="580" cy="195"/>
          </a:xfrm>
        </p:grpSpPr>
        <p:sp>
          <p:nvSpPr>
            <p:cNvPr id="1396778" name="Line 42"/>
            <p:cNvSpPr>
              <a:spLocks noChangeShapeType="1"/>
            </p:cNvSpPr>
            <p:nvPr/>
          </p:nvSpPr>
          <p:spPr bwMode="auto">
            <a:xfrm>
              <a:off x="3407" y="3284"/>
              <a:ext cx="5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6779" name="Text Box 43"/>
            <p:cNvSpPr txBox="1">
              <a:spLocks noChangeArrowheads="1"/>
            </p:cNvSpPr>
            <p:nvPr/>
          </p:nvSpPr>
          <p:spPr bwMode="auto">
            <a:xfrm>
              <a:off x="3382" y="3089"/>
              <a:ext cx="58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l-GR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lang="el-GR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l-GR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endParaRPr lang="el-GR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396780" name="Group 44"/>
          <p:cNvGrpSpPr>
            <a:grpSpLocks/>
          </p:cNvGrpSpPr>
          <p:nvPr/>
        </p:nvGrpSpPr>
        <p:grpSpPr bwMode="auto">
          <a:xfrm>
            <a:off x="6251575" y="4015959"/>
            <a:ext cx="1120775" cy="439737"/>
            <a:chOff x="3962" y="3083"/>
            <a:chExt cx="706" cy="277"/>
          </a:xfrm>
        </p:grpSpPr>
        <p:sp>
          <p:nvSpPr>
            <p:cNvPr id="1396781" name="Line 45"/>
            <p:cNvSpPr>
              <a:spLocks noChangeShapeType="1"/>
            </p:cNvSpPr>
            <p:nvPr/>
          </p:nvSpPr>
          <p:spPr bwMode="auto">
            <a:xfrm>
              <a:off x="3962" y="3083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pSp>
          <p:nvGrpSpPr>
            <p:cNvPr id="1396782" name="Group 46"/>
            <p:cNvGrpSpPr>
              <a:grpSpLocks/>
            </p:cNvGrpSpPr>
            <p:nvPr/>
          </p:nvGrpSpPr>
          <p:grpSpPr bwMode="auto">
            <a:xfrm>
              <a:off x="3962" y="3090"/>
              <a:ext cx="706" cy="194"/>
              <a:chOff x="3962" y="3090"/>
              <a:chExt cx="706" cy="194"/>
            </a:xfrm>
          </p:grpSpPr>
          <p:sp>
            <p:nvSpPr>
              <p:cNvPr id="1396783" name="Line 47"/>
              <p:cNvSpPr>
                <a:spLocks noChangeShapeType="1"/>
              </p:cNvSpPr>
              <p:nvPr/>
            </p:nvSpPr>
            <p:spPr bwMode="auto">
              <a:xfrm>
                <a:off x="3962" y="3284"/>
                <a:ext cx="70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396784" name="Text Box 48"/>
              <p:cNvSpPr txBox="1">
                <a:spLocks noChangeArrowheads="1"/>
              </p:cNvSpPr>
              <p:nvPr/>
            </p:nvSpPr>
            <p:spPr bwMode="auto">
              <a:xfrm>
                <a:off x="4050" y="3090"/>
                <a:ext cx="454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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w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H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</a:p>
            </p:txBody>
          </p:sp>
        </p:grpSp>
      </p:grpSp>
      <p:grpSp>
        <p:nvGrpSpPr>
          <p:cNvPr id="1396785" name="Group 49"/>
          <p:cNvGrpSpPr>
            <a:grpSpLocks/>
          </p:cNvGrpSpPr>
          <p:nvPr/>
        </p:nvGrpSpPr>
        <p:grpSpPr bwMode="auto">
          <a:xfrm>
            <a:off x="7686675" y="1991896"/>
            <a:ext cx="1123950" cy="2463800"/>
            <a:chOff x="4866" y="1808"/>
            <a:chExt cx="708" cy="1552"/>
          </a:xfrm>
        </p:grpSpPr>
        <p:sp>
          <p:nvSpPr>
            <p:cNvPr id="1396786" name="Freeform 50"/>
            <p:cNvSpPr>
              <a:spLocks/>
            </p:cNvSpPr>
            <p:nvPr/>
          </p:nvSpPr>
          <p:spPr bwMode="auto">
            <a:xfrm>
              <a:off x="4866" y="1808"/>
              <a:ext cx="708" cy="1255"/>
            </a:xfrm>
            <a:custGeom>
              <a:avLst/>
              <a:gdLst>
                <a:gd name="T0" fmla="*/ 2 w 708"/>
                <a:gd name="T1" fmla="*/ 0 h 1255"/>
                <a:gd name="T2" fmla="*/ 708 w 708"/>
                <a:gd name="T3" fmla="*/ 1255 h 1255"/>
                <a:gd name="T4" fmla="*/ 0 w 708"/>
                <a:gd name="T5" fmla="*/ 1255 h 1255"/>
                <a:gd name="T6" fmla="*/ 2 w 708"/>
                <a:gd name="T7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8" h="1255">
                  <a:moveTo>
                    <a:pt x="2" y="0"/>
                  </a:moveTo>
                  <a:lnTo>
                    <a:pt x="708" y="1255"/>
                  </a:lnTo>
                  <a:lnTo>
                    <a:pt x="0" y="125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3399FF"/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87" name="Line 51"/>
            <p:cNvSpPr>
              <a:spLocks noChangeShapeType="1"/>
            </p:cNvSpPr>
            <p:nvPr/>
          </p:nvSpPr>
          <p:spPr bwMode="auto">
            <a:xfrm>
              <a:off x="4868" y="3083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88" name="Line 52"/>
            <p:cNvSpPr>
              <a:spLocks noChangeShapeType="1"/>
            </p:cNvSpPr>
            <p:nvPr/>
          </p:nvSpPr>
          <p:spPr bwMode="auto">
            <a:xfrm>
              <a:off x="5574" y="3094"/>
              <a:ext cx="0" cy="2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89" name="Line 53"/>
            <p:cNvSpPr>
              <a:spLocks noChangeShapeType="1"/>
            </p:cNvSpPr>
            <p:nvPr/>
          </p:nvSpPr>
          <p:spPr bwMode="auto">
            <a:xfrm>
              <a:off x="4868" y="3284"/>
              <a:ext cx="7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790" name="Text Box 54"/>
            <p:cNvSpPr txBox="1">
              <a:spLocks noChangeArrowheads="1"/>
            </p:cNvSpPr>
            <p:nvPr/>
          </p:nvSpPr>
          <p:spPr bwMode="auto">
            <a:xfrm>
              <a:off x="4956" y="3090"/>
              <a:ext cx="454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w</a:t>
              </a: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1396791" name="Group 55"/>
          <p:cNvGrpSpPr>
            <a:grpSpLocks/>
          </p:cNvGrpSpPr>
          <p:nvPr/>
        </p:nvGrpSpPr>
        <p:grpSpPr bwMode="auto">
          <a:xfrm>
            <a:off x="5364163" y="940971"/>
            <a:ext cx="2032000" cy="3054350"/>
            <a:chOff x="3403" y="1146"/>
            <a:chExt cx="1280" cy="1924"/>
          </a:xfrm>
        </p:grpSpPr>
        <p:sp>
          <p:nvSpPr>
            <p:cNvPr id="1396792" name="Line 56"/>
            <p:cNvSpPr>
              <a:spLocks noChangeShapeType="1"/>
            </p:cNvSpPr>
            <p:nvPr/>
          </p:nvSpPr>
          <p:spPr bwMode="auto">
            <a:xfrm>
              <a:off x="3403" y="1150"/>
              <a:ext cx="0" cy="19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96793" name="Group 57"/>
            <p:cNvGrpSpPr>
              <a:grpSpLocks/>
            </p:cNvGrpSpPr>
            <p:nvPr/>
          </p:nvGrpSpPr>
          <p:grpSpPr bwMode="auto">
            <a:xfrm>
              <a:off x="3403" y="1146"/>
              <a:ext cx="1280" cy="1924"/>
              <a:chOff x="3403" y="1146"/>
              <a:chExt cx="1280" cy="1924"/>
            </a:xfrm>
          </p:grpSpPr>
          <p:grpSp>
            <p:nvGrpSpPr>
              <p:cNvPr id="1396794" name="Group 58"/>
              <p:cNvGrpSpPr>
                <a:grpSpLocks/>
              </p:cNvGrpSpPr>
              <p:nvPr/>
            </p:nvGrpSpPr>
            <p:grpSpPr bwMode="auto">
              <a:xfrm>
                <a:off x="3407" y="1146"/>
                <a:ext cx="1276" cy="1924"/>
                <a:chOff x="3407" y="1146"/>
                <a:chExt cx="1276" cy="1924"/>
              </a:xfrm>
            </p:grpSpPr>
            <p:sp>
              <p:nvSpPr>
                <p:cNvPr id="1396795" name="Freeform 59"/>
                <p:cNvSpPr>
                  <a:spLocks noChangeAspect="1"/>
                </p:cNvSpPr>
                <p:nvPr/>
              </p:nvSpPr>
              <p:spPr bwMode="auto">
                <a:xfrm>
                  <a:off x="3407" y="1159"/>
                  <a:ext cx="1247" cy="1909"/>
                </a:xfrm>
                <a:custGeom>
                  <a:avLst/>
                  <a:gdLst>
                    <a:gd name="T0" fmla="*/ 0 w 1820"/>
                    <a:gd name="T1" fmla="*/ 0 h 2877"/>
                    <a:gd name="T2" fmla="*/ 0 w 1820"/>
                    <a:gd name="T3" fmla="*/ 2877 h 2877"/>
                    <a:gd name="T4" fmla="*/ 1820 w 1820"/>
                    <a:gd name="T5" fmla="*/ 2876 h 2877"/>
                    <a:gd name="T6" fmla="*/ 574 w 1820"/>
                    <a:gd name="T7" fmla="*/ 1242 h 2877"/>
                    <a:gd name="T8" fmla="*/ 0 w 1820"/>
                    <a:gd name="T9" fmla="*/ 0 h 2877"/>
                    <a:gd name="connsiteX0" fmla="*/ 0 w 10048"/>
                    <a:gd name="connsiteY0" fmla="*/ 0 h 8514"/>
                    <a:gd name="connsiteX1" fmla="*/ 48 w 10048"/>
                    <a:gd name="connsiteY1" fmla="*/ 8514 h 8514"/>
                    <a:gd name="connsiteX2" fmla="*/ 10048 w 10048"/>
                    <a:gd name="connsiteY2" fmla="*/ 8511 h 8514"/>
                    <a:gd name="connsiteX3" fmla="*/ 3202 w 10048"/>
                    <a:gd name="connsiteY3" fmla="*/ 2831 h 8514"/>
                    <a:gd name="connsiteX4" fmla="*/ 0 w 10048"/>
                    <a:gd name="connsiteY4" fmla="*/ 0 h 8514"/>
                    <a:gd name="connsiteX0" fmla="*/ 16 w 9952"/>
                    <a:gd name="connsiteY0" fmla="*/ 0 h 9917"/>
                    <a:gd name="connsiteX1" fmla="*/ 0 w 9952"/>
                    <a:gd name="connsiteY1" fmla="*/ 9917 h 9917"/>
                    <a:gd name="connsiteX2" fmla="*/ 9952 w 9952"/>
                    <a:gd name="connsiteY2" fmla="*/ 9913 h 9917"/>
                    <a:gd name="connsiteX3" fmla="*/ 3139 w 9952"/>
                    <a:gd name="connsiteY3" fmla="*/ 3242 h 9917"/>
                    <a:gd name="connsiteX4" fmla="*/ 16 w 9952"/>
                    <a:gd name="connsiteY4" fmla="*/ 0 h 9917"/>
                    <a:gd name="connsiteX0" fmla="*/ 16 w 10000"/>
                    <a:gd name="connsiteY0" fmla="*/ 0 h 10000"/>
                    <a:gd name="connsiteX1" fmla="*/ 0 w 10000"/>
                    <a:gd name="connsiteY1" fmla="*/ 10000 h 10000"/>
                    <a:gd name="connsiteX2" fmla="*/ 10000 w 10000"/>
                    <a:gd name="connsiteY2" fmla="*/ 9996 h 10000"/>
                    <a:gd name="connsiteX3" fmla="*/ 2644 w 10000"/>
                    <a:gd name="connsiteY3" fmla="*/ 3380 h 10000"/>
                    <a:gd name="connsiteX4" fmla="*/ 16 w 10000"/>
                    <a:gd name="connsiteY4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000">
                      <a:moveTo>
                        <a:pt x="16" y="0"/>
                      </a:moveTo>
                      <a:cubicBezTo>
                        <a:pt x="11" y="3334"/>
                        <a:pt x="5" y="6666"/>
                        <a:pt x="0" y="10000"/>
                      </a:cubicBezTo>
                      <a:lnTo>
                        <a:pt x="10000" y="9996"/>
                      </a:lnTo>
                      <a:lnTo>
                        <a:pt x="2644" y="3380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2225" cap="flat" cmpd="sng">
                      <a:solidFill>
                        <a:srgbClr val="9933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96796" name="Freeform 60"/>
                <p:cNvSpPr>
                  <a:spLocks/>
                </p:cNvSpPr>
                <p:nvPr/>
              </p:nvSpPr>
              <p:spPr bwMode="auto">
                <a:xfrm>
                  <a:off x="3409" y="1146"/>
                  <a:ext cx="1274" cy="1924"/>
                </a:xfrm>
                <a:custGeom>
                  <a:avLst/>
                  <a:gdLst>
                    <a:gd name="T0" fmla="*/ 0 w 1280"/>
                    <a:gd name="T1" fmla="*/ 0 h 2272"/>
                    <a:gd name="T2" fmla="*/ 410 w 1280"/>
                    <a:gd name="T3" fmla="*/ 1011 h 2272"/>
                    <a:gd name="T4" fmla="*/ 1280 w 1280"/>
                    <a:gd name="T5" fmla="*/ 2272 h 2272"/>
                    <a:gd name="connsiteX0" fmla="*/ 0 w 9953"/>
                    <a:gd name="connsiteY0" fmla="*/ 0 h 8468"/>
                    <a:gd name="connsiteX1" fmla="*/ 3156 w 9953"/>
                    <a:gd name="connsiteY1" fmla="*/ 2918 h 8468"/>
                    <a:gd name="connsiteX2" fmla="*/ 9953 w 9953"/>
                    <a:gd name="connsiteY2" fmla="*/ 8468 h 8468"/>
                    <a:gd name="connsiteX0" fmla="*/ 0 w 10000"/>
                    <a:gd name="connsiteY0" fmla="*/ 0 h 10000"/>
                    <a:gd name="connsiteX1" fmla="*/ 2561 w 10000"/>
                    <a:gd name="connsiteY1" fmla="*/ 3428 h 10000"/>
                    <a:gd name="connsiteX2" fmla="*/ 10000 w 10000"/>
                    <a:gd name="connsiteY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000" h="10000">
                      <a:moveTo>
                        <a:pt x="0" y="0"/>
                      </a:moveTo>
                      <a:lnTo>
                        <a:pt x="2561" y="3428"/>
                      </a:lnTo>
                      <a:lnTo>
                        <a:pt x="10000" y="10000"/>
                      </a:lnTo>
                    </a:path>
                  </a:pathLst>
                </a:custGeom>
                <a:noFill/>
                <a:ln w="28575" cmpd="sng">
                  <a:solidFill>
                    <a:srgbClr val="006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96797" name="Line 61"/>
              <p:cNvSpPr>
                <a:spLocks noChangeShapeType="1"/>
              </p:cNvSpPr>
              <p:nvPr/>
            </p:nvSpPr>
            <p:spPr bwMode="auto">
              <a:xfrm>
                <a:off x="3403" y="1803"/>
                <a:ext cx="4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6798" name="Text Box 62"/>
              <p:cNvSpPr txBox="1">
                <a:spLocks noChangeArrowheads="1"/>
              </p:cNvSpPr>
              <p:nvPr/>
            </p:nvSpPr>
            <p:spPr bwMode="auto">
              <a:xfrm>
                <a:off x="3444" y="1609"/>
                <a:ext cx="221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H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</a:p>
            </p:txBody>
          </p:sp>
        </p:grpSp>
      </p:grpSp>
      <p:grpSp>
        <p:nvGrpSpPr>
          <p:cNvPr id="1396799" name="Group 63"/>
          <p:cNvGrpSpPr>
            <a:grpSpLocks/>
          </p:cNvGrpSpPr>
          <p:nvPr/>
        </p:nvGrpSpPr>
        <p:grpSpPr bwMode="auto">
          <a:xfrm>
            <a:off x="5359402" y="4022309"/>
            <a:ext cx="2027238" cy="712787"/>
            <a:chOff x="3400" y="3087"/>
            <a:chExt cx="1277" cy="449"/>
          </a:xfrm>
        </p:grpSpPr>
        <p:sp>
          <p:nvSpPr>
            <p:cNvPr id="1396800" name="Line 64"/>
            <p:cNvSpPr>
              <a:spLocks noChangeShapeType="1"/>
            </p:cNvSpPr>
            <p:nvPr/>
          </p:nvSpPr>
          <p:spPr bwMode="auto">
            <a:xfrm>
              <a:off x="3407" y="3087"/>
              <a:ext cx="0" cy="4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6801" name="Line 65"/>
            <p:cNvSpPr>
              <a:spLocks noChangeShapeType="1"/>
            </p:cNvSpPr>
            <p:nvPr/>
          </p:nvSpPr>
          <p:spPr bwMode="auto">
            <a:xfrm>
              <a:off x="4668" y="3094"/>
              <a:ext cx="0" cy="42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6802" name="Line 66"/>
            <p:cNvSpPr>
              <a:spLocks noChangeShapeType="1"/>
            </p:cNvSpPr>
            <p:nvPr/>
          </p:nvSpPr>
          <p:spPr bwMode="auto">
            <a:xfrm>
              <a:off x="3407" y="3519"/>
              <a:ext cx="12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96803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646971"/>
                </p:ext>
              </p:extLst>
            </p:nvPr>
          </p:nvGraphicFramePr>
          <p:xfrm>
            <a:off x="3400" y="3311"/>
            <a:ext cx="1229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040" name="公式" r:id="rId7" imgW="1066680" imgH="228600" progId="Equation.3">
                    <p:embed/>
                  </p:oleObj>
                </mc:Choice>
                <mc:Fallback>
                  <p:oleObj name="公式" r:id="rId7" imgW="1066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 l="-8734" r="-8734"/>
                        <a:stretch>
                          <a:fillRect/>
                        </a:stretch>
                      </p:blipFill>
                      <p:spPr bwMode="auto">
                        <a:xfrm>
                          <a:off x="3400" y="3311"/>
                          <a:ext cx="1229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96804" name="Group 68"/>
          <p:cNvGrpSpPr>
            <a:grpSpLocks/>
          </p:cNvGrpSpPr>
          <p:nvPr/>
        </p:nvGrpSpPr>
        <p:grpSpPr bwMode="auto">
          <a:xfrm>
            <a:off x="5326063" y="3612734"/>
            <a:ext cx="509587" cy="457200"/>
            <a:chOff x="3379" y="2829"/>
            <a:chExt cx="321" cy="288"/>
          </a:xfrm>
        </p:grpSpPr>
        <p:sp>
          <p:nvSpPr>
            <p:cNvPr id="1396805" name="Oval 69"/>
            <p:cNvSpPr>
              <a:spLocks noChangeArrowheads="1"/>
            </p:cNvSpPr>
            <p:nvPr/>
          </p:nvSpPr>
          <p:spPr bwMode="auto">
            <a:xfrm>
              <a:off x="3379" y="3004"/>
              <a:ext cx="56" cy="6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6806" name="Text Box 70"/>
            <p:cNvSpPr txBox="1">
              <a:spLocks noChangeArrowheads="1"/>
            </p:cNvSpPr>
            <p:nvPr/>
          </p:nvSpPr>
          <p:spPr bwMode="auto">
            <a:xfrm>
              <a:off x="3445" y="282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grpSp>
        <p:nvGrpSpPr>
          <p:cNvPr id="1396807" name="Group 71"/>
          <p:cNvGrpSpPr>
            <a:grpSpLocks/>
          </p:cNvGrpSpPr>
          <p:nvPr/>
        </p:nvGrpSpPr>
        <p:grpSpPr bwMode="auto">
          <a:xfrm>
            <a:off x="5900738" y="2007773"/>
            <a:ext cx="1481137" cy="1984376"/>
            <a:chOff x="3733" y="1818"/>
            <a:chExt cx="933" cy="1250"/>
          </a:xfrm>
        </p:grpSpPr>
        <p:sp>
          <p:nvSpPr>
            <p:cNvPr id="1396808" name="Freeform 72"/>
            <p:cNvSpPr>
              <a:spLocks/>
            </p:cNvSpPr>
            <p:nvPr/>
          </p:nvSpPr>
          <p:spPr bwMode="auto">
            <a:xfrm>
              <a:off x="3733" y="1818"/>
              <a:ext cx="933" cy="1250"/>
            </a:xfrm>
            <a:custGeom>
              <a:avLst/>
              <a:gdLst>
                <a:gd name="T0" fmla="*/ 0 w 869"/>
                <a:gd name="T1" fmla="*/ 0 h 1285"/>
                <a:gd name="T2" fmla="*/ 869 w 869"/>
                <a:gd name="T3" fmla="*/ 1285 h 1285"/>
                <a:gd name="T4" fmla="*/ 151 w 869"/>
                <a:gd name="T5" fmla="*/ 1285 h 1285"/>
                <a:gd name="T6" fmla="*/ 0 w 869"/>
                <a:gd name="T7" fmla="*/ 0 h 1285"/>
                <a:gd name="connsiteX0" fmla="*/ 0 w 10895"/>
                <a:gd name="connsiteY0" fmla="*/ 0 h 10085"/>
                <a:gd name="connsiteX1" fmla="*/ 10895 w 10895"/>
                <a:gd name="connsiteY1" fmla="*/ 10085 h 10085"/>
                <a:gd name="connsiteX2" fmla="*/ 2633 w 10895"/>
                <a:gd name="connsiteY2" fmla="*/ 10085 h 10085"/>
                <a:gd name="connsiteX3" fmla="*/ 0 w 10895"/>
                <a:gd name="connsiteY3" fmla="*/ 0 h 10085"/>
                <a:gd name="connsiteX0" fmla="*/ 0 w 10895"/>
                <a:gd name="connsiteY0" fmla="*/ 0 h 9944"/>
                <a:gd name="connsiteX1" fmla="*/ 10895 w 10895"/>
                <a:gd name="connsiteY1" fmla="*/ 9944 h 9944"/>
                <a:gd name="connsiteX2" fmla="*/ 2633 w 10895"/>
                <a:gd name="connsiteY2" fmla="*/ 9944 h 9944"/>
                <a:gd name="connsiteX3" fmla="*/ 0 w 10895"/>
                <a:gd name="connsiteY3" fmla="*/ 0 h 9944"/>
                <a:gd name="connsiteX0" fmla="*/ 0 w 9851"/>
                <a:gd name="connsiteY0" fmla="*/ 0 h 10028"/>
                <a:gd name="connsiteX1" fmla="*/ 9851 w 9851"/>
                <a:gd name="connsiteY1" fmla="*/ 10028 h 10028"/>
                <a:gd name="connsiteX2" fmla="*/ 2417 w 9851"/>
                <a:gd name="connsiteY2" fmla="*/ 10000 h 10028"/>
                <a:gd name="connsiteX3" fmla="*/ 0 w 9851"/>
                <a:gd name="connsiteY3" fmla="*/ 0 h 1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51" h="10028">
                  <a:moveTo>
                    <a:pt x="0" y="0"/>
                  </a:moveTo>
                  <a:lnTo>
                    <a:pt x="9851" y="10028"/>
                  </a:lnTo>
                  <a:lnTo>
                    <a:pt x="2417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6809" name="Text Box 73"/>
            <p:cNvSpPr txBox="1">
              <a:spLocks noChangeArrowheads="1"/>
            </p:cNvSpPr>
            <p:nvPr/>
          </p:nvSpPr>
          <p:spPr bwMode="auto">
            <a:xfrm>
              <a:off x="3847" y="2512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</a:rPr>
                <a:t>（</a:t>
              </a: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</a:rPr>
                <a:t>-)</a:t>
              </a:r>
            </a:p>
          </p:txBody>
        </p:sp>
      </p:grpSp>
      <p:sp>
        <p:nvSpPr>
          <p:cNvPr id="1396810" name="Freeform 74"/>
          <p:cNvSpPr>
            <a:spLocks/>
          </p:cNvSpPr>
          <p:nvPr/>
        </p:nvSpPr>
        <p:spPr bwMode="auto">
          <a:xfrm>
            <a:off x="5360912" y="939528"/>
            <a:ext cx="890664" cy="3055793"/>
          </a:xfrm>
          <a:custGeom>
            <a:avLst/>
            <a:gdLst>
              <a:gd name="T0" fmla="*/ 0 w 557"/>
              <a:gd name="T1" fmla="*/ 0 h 2259"/>
              <a:gd name="T2" fmla="*/ 416 w 557"/>
              <a:gd name="T3" fmla="*/ 1005 h 2259"/>
              <a:gd name="T4" fmla="*/ 557 w 557"/>
              <a:gd name="T5" fmla="*/ 2259 h 2259"/>
              <a:gd name="connsiteX0" fmla="*/ 0 w 9785"/>
              <a:gd name="connsiteY0" fmla="*/ 0 h 8539"/>
              <a:gd name="connsiteX1" fmla="*/ 7254 w 9785"/>
              <a:gd name="connsiteY1" fmla="*/ 2988 h 8539"/>
              <a:gd name="connsiteX2" fmla="*/ 9785 w 9785"/>
              <a:gd name="connsiteY2" fmla="*/ 8539 h 8539"/>
              <a:gd name="connsiteX0" fmla="*/ 0 w 10294"/>
              <a:gd name="connsiteY0" fmla="*/ 0 h 9979"/>
              <a:gd name="connsiteX1" fmla="*/ 7707 w 10294"/>
              <a:gd name="connsiteY1" fmla="*/ 3478 h 9979"/>
              <a:gd name="connsiteX2" fmla="*/ 10294 w 10294"/>
              <a:gd name="connsiteY2" fmla="*/ 9979 h 9979"/>
              <a:gd name="connsiteX0" fmla="*/ 0 w 10000"/>
              <a:gd name="connsiteY0" fmla="*/ 0 h 10000"/>
              <a:gd name="connsiteX1" fmla="*/ 5912 w 10000"/>
              <a:gd name="connsiteY1" fmla="*/ 3375 h 10000"/>
              <a:gd name="connsiteX2" fmla="*/ 10000 w 10000"/>
              <a:gd name="connsiteY2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5912" y="3375"/>
                </a:lnTo>
                <a:lnTo>
                  <a:pt x="10000" y="10000"/>
                </a:lnTo>
              </a:path>
            </a:pathLst>
          </a:custGeom>
          <a:noFill/>
          <a:ln w="38100" cmpd="sng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8" name="Text Box 250"/>
          <p:cNvSpPr txBox="1">
            <a:spLocks noChangeArrowheads="1"/>
          </p:cNvSpPr>
          <p:nvPr/>
        </p:nvSpPr>
        <p:spPr bwMode="auto">
          <a:xfrm>
            <a:off x="4272165" y="5032051"/>
            <a:ext cx="3560612" cy="747652"/>
          </a:xfrm>
          <a:prstGeom prst="rect">
            <a:avLst/>
          </a:prstGeom>
          <a:solidFill>
            <a:srgbClr val="FFD7AF"/>
          </a:solidFill>
          <a:ln>
            <a:noFill/>
          </a:ln>
          <a:effectLst/>
          <a:extLst/>
        </p:spPr>
        <p:txBody>
          <a:bodyPr lIns="0" tIns="0" rIns="0" bIns="0"/>
          <a:lstStyle>
            <a:lvl1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52400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180975" indent="-180975">
              <a:lnSpc>
                <a:spcPct val="125000"/>
              </a:lnSpc>
              <a:buSzPct val="130000"/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地下水位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以上用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天然重度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endParaRPr lang="zh-CN" altLang="en-US" sz="20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180975" indent="-180975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地下水位</a:t>
            </a:r>
            <a:r>
              <a:rPr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以下用</a:t>
            </a:r>
            <a:r>
              <a:rPr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浮重度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</a:t>
            </a:r>
            <a:endParaRPr lang="zh-CN" altLang="en-US" sz="20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3278038" y="5426015"/>
            <a:ext cx="871268" cy="0"/>
          </a:xfrm>
          <a:prstGeom prst="straightConnector1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地下水位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563273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96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96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9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39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96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96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96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96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96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96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39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96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96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96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96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96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96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96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96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96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139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96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96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96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96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96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96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9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967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96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96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000"/>
                                        <p:tgtEl>
                                          <p:spTgt spid="139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3967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96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96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6770" grpId="0"/>
      <p:bldP spid="1396771" grpId="0"/>
      <p:bldP spid="1396772" grpId="0"/>
      <p:bldP spid="1396773" grpId="0"/>
      <p:bldP spid="1396774" grpId="0"/>
      <p:bldP spid="1396775" grpId="0"/>
      <p:bldP spid="1396776" grpId="0"/>
      <p:bldP spid="1396810" grpId="0" animBg="1"/>
      <p:bldP spid="6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779" name="Rectangle 19"/>
          <p:cNvSpPr>
            <a:spLocks noChangeAspect="1" noChangeArrowheads="1"/>
          </p:cNvSpPr>
          <p:nvPr/>
        </p:nvSpPr>
        <p:spPr bwMode="auto">
          <a:xfrm>
            <a:off x="4286250" y="918843"/>
            <a:ext cx="4660900" cy="102552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7777" name="Rectangle 17"/>
          <p:cNvSpPr>
            <a:spLocks noChangeAspect="1" noChangeArrowheads="1"/>
          </p:cNvSpPr>
          <p:nvPr/>
        </p:nvSpPr>
        <p:spPr bwMode="auto">
          <a:xfrm>
            <a:off x="4284663" y="1951245"/>
            <a:ext cx="4659312" cy="1997289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7778" name="Rectangle 18"/>
          <p:cNvSpPr>
            <a:spLocks noChangeArrowheads="1"/>
          </p:cNvSpPr>
          <p:nvPr/>
        </p:nvSpPr>
        <p:spPr bwMode="auto">
          <a:xfrm>
            <a:off x="4281488" y="1914946"/>
            <a:ext cx="4664075" cy="7302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7780" name="Group 20"/>
          <p:cNvGrpSpPr>
            <a:grpSpLocks/>
          </p:cNvGrpSpPr>
          <p:nvPr/>
        </p:nvGrpSpPr>
        <p:grpSpPr bwMode="auto">
          <a:xfrm>
            <a:off x="5368926" y="916408"/>
            <a:ext cx="1952625" cy="3805238"/>
            <a:chOff x="3382" y="1157"/>
            <a:chExt cx="1230" cy="2397"/>
          </a:xfrm>
        </p:grpSpPr>
        <p:sp>
          <p:nvSpPr>
            <p:cNvPr id="1397781" name="Freeform 21"/>
            <p:cNvSpPr>
              <a:spLocks noChangeAspect="1"/>
            </p:cNvSpPr>
            <p:nvPr/>
          </p:nvSpPr>
          <p:spPr bwMode="auto">
            <a:xfrm>
              <a:off x="3407" y="1157"/>
              <a:ext cx="1148" cy="1911"/>
            </a:xfrm>
            <a:custGeom>
              <a:avLst/>
              <a:gdLst>
                <a:gd name="T0" fmla="*/ 0 w 1148"/>
                <a:gd name="T1" fmla="*/ 0 h 2261"/>
                <a:gd name="T2" fmla="*/ 0 w 1148"/>
                <a:gd name="T3" fmla="*/ 2261 h 2261"/>
                <a:gd name="T4" fmla="*/ 1148 w 1148"/>
                <a:gd name="T5" fmla="*/ 2260 h 2261"/>
                <a:gd name="T6" fmla="*/ 596 w 1148"/>
                <a:gd name="T7" fmla="*/ 1449 h 2261"/>
                <a:gd name="T8" fmla="*/ 0 w 1148"/>
                <a:gd name="T9" fmla="*/ 0 h 2261"/>
                <a:gd name="connsiteX0" fmla="*/ 62 w 10000"/>
                <a:gd name="connsiteY0" fmla="*/ 0 h 8453"/>
                <a:gd name="connsiteX1" fmla="*/ 0 w 10000"/>
                <a:gd name="connsiteY1" fmla="*/ 8453 h 8453"/>
                <a:gd name="connsiteX2" fmla="*/ 10000 w 10000"/>
                <a:gd name="connsiteY2" fmla="*/ 8449 h 8453"/>
                <a:gd name="connsiteX3" fmla="*/ 5192 w 10000"/>
                <a:gd name="connsiteY3" fmla="*/ 4862 h 8453"/>
                <a:gd name="connsiteX4" fmla="*/ 62 w 10000"/>
                <a:gd name="connsiteY4" fmla="*/ 0 h 8453"/>
                <a:gd name="connsiteX0" fmla="*/ 62 w 10000"/>
                <a:gd name="connsiteY0" fmla="*/ 0 h 10000"/>
                <a:gd name="connsiteX1" fmla="*/ 0 w 10000"/>
                <a:gd name="connsiteY1" fmla="*/ 10000 h 10000"/>
                <a:gd name="connsiteX2" fmla="*/ 10000 w 10000"/>
                <a:gd name="connsiteY2" fmla="*/ 9995 h 10000"/>
                <a:gd name="connsiteX3" fmla="*/ 5192 w 10000"/>
                <a:gd name="connsiteY3" fmla="*/ 5752 h 10000"/>
                <a:gd name="connsiteX4" fmla="*/ 4367 w 10000"/>
                <a:gd name="connsiteY4" fmla="*/ 5778 h 10000"/>
                <a:gd name="connsiteX5" fmla="*/ 62 w 10000"/>
                <a:gd name="connsiteY5" fmla="*/ 0 h 10000"/>
                <a:gd name="connsiteX0" fmla="*/ 62 w 10000"/>
                <a:gd name="connsiteY0" fmla="*/ 0 h 10000"/>
                <a:gd name="connsiteX1" fmla="*/ 0 w 10000"/>
                <a:gd name="connsiteY1" fmla="*/ 10000 h 10000"/>
                <a:gd name="connsiteX2" fmla="*/ 10000 w 10000"/>
                <a:gd name="connsiteY2" fmla="*/ 9995 h 10000"/>
                <a:gd name="connsiteX3" fmla="*/ 4367 w 10000"/>
                <a:gd name="connsiteY3" fmla="*/ 5778 h 10000"/>
                <a:gd name="connsiteX4" fmla="*/ 62 w 10000"/>
                <a:gd name="connsiteY4" fmla="*/ 0 h 10000"/>
                <a:gd name="connsiteX0" fmla="*/ 62 w 10000"/>
                <a:gd name="connsiteY0" fmla="*/ 0 h 10000"/>
                <a:gd name="connsiteX1" fmla="*/ 0 w 10000"/>
                <a:gd name="connsiteY1" fmla="*/ 10000 h 10000"/>
                <a:gd name="connsiteX2" fmla="*/ 10000 w 10000"/>
                <a:gd name="connsiteY2" fmla="*/ 9995 h 10000"/>
                <a:gd name="connsiteX3" fmla="*/ 4244 w 10000"/>
                <a:gd name="connsiteY3" fmla="*/ 5741 h 10000"/>
                <a:gd name="connsiteX4" fmla="*/ 62 w 10000"/>
                <a:gd name="connsiteY4" fmla="*/ 0 h 10000"/>
                <a:gd name="connsiteX0" fmla="*/ 62 w 10000"/>
                <a:gd name="connsiteY0" fmla="*/ 0 h 10000"/>
                <a:gd name="connsiteX1" fmla="*/ 0 w 10000"/>
                <a:gd name="connsiteY1" fmla="*/ 10000 h 10000"/>
                <a:gd name="connsiteX2" fmla="*/ 10000 w 10000"/>
                <a:gd name="connsiteY2" fmla="*/ 9995 h 10000"/>
                <a:gd name="connsiteX3" fmla="*/ 4306 w 10000"/>
                <a:gd name="connsiteY3" fmla="*/ 5704 h 10000"/>
                <a:gd name="connsiteX4" fmla="*/ 6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62" y="0"/>
                  </a:moveTo>
                  <a:cubicBezTo>
                    <a:pt x="41" y="3334"/>
                    <a:pt x="21" y="6666"/>
                    <a:pt x="0" y="10000"/>
                  </a:cubicBezTo>
                  <a:lnTo>
                    <a:pt x="10000" y="9995"/>
                  </a:lnTo>
                  <a:lnTo>
                    <a:pt x="4306" y="570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2225" cap="flat" cmpd="sng">
                  <a:solidFill>
                    <a:srgbClr val="9933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7782" name="Line 22"/>
            <p:cNvSpPr>
              <a:spLocks noChangeShapeType="1"/>
            </p:cNvSpPr>
            <p:nvPr/>
          </p:nvSpPr>
          <p:spPr bwMode="auto">
            <a:xfrm>
              <a:off x="4573" y="3094"/>
              <a:ext cx="0" cy="42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783" name="Freeform 23"/>
            <p:cNvSpPr>
              <a:spLocks/>
            </p:cNvSpPr>
            <p:nvPr/>
          </p:nvSpPr>
          <p:spPr bwMode="auto">
            <a:xfrm>
              <a:off x="3417" y="1169"/>
              <a:ext cx="1153" cy="1903"/>
            </a:xfrm>
            <a:custGeom>
              <a:avLst/>
              <a:gdLst>
                <a:gd name="T0" fmla="*/ 0 w 1167"/>
                <a:gd name="T1" fmla="*/ 0 h 2274"/>
                <a:gd name="T2" fmla="*/ 600 w 1167"/>
                <a:gd name="T3" fmla="*/ 1458 h 2274"/>
                <a:gd name="T4" fmla="*/ 1167 w 1167"/>
                <a:gd name="T5" fmla="*/ 2274 h 2274"/>
                <a:gd name="connsiteX0" fmla="*/ 0 w 9879"/>
                <a:gd name="connsiteY0" fmla="*/ 0 h 8368"/>
                <a:gd name="connsiteX1" fmla="*/ 5020 w 9879"/>
                <a:gd name="connsiteY1" fmla="*/ 4780 h 8368"/>
                <a:gd name="connsiteX2" fmla="*/ 9879 w 9879"/>
                <a:gd name="connsiteY2" fmla="*/ 8368 h 8368"/>
                <a:gd name="connsiteX0" fmla="*/ 0 w 10000"/>
                <a:gd name="connsiteY0" fmla="*/ 0 h 10000"/>
                <a:gd name="connsiteX1" fmla="*/ 4253 w 10000"/>
                <a:gd name="connsiteY1" fmla="*/ 5731 h 10000"/>
                <a:gd name="connsiteX2" fmla="*/ 10000 w 10000"/>
                <a:gd name="connsiteY2" fmla="*/ 10000 h 10000"/>
                <a:gd name="connsiteX0" fmla="*/ 0 w 10000"/>
                <a:gd name="connsiteY0" fmla="*/ 0 h 10000"/>
                <a:gd name="connsiteX1" fmla="*/ 4253 w 10000"/>
                <a:gd name="connsiteY1" fmla="*/ 5675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4253" y="5675"/>
                  </a:lnTo>
                  <a:lnTo>
                    <a:pt x="10000" y="10000"/>
                  </a:ln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97784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6085463"/>
                </p:ext>
              </p:extLst>
            </p:nvPr>
          </p:nvGraphicFramePr>
          <p:xfrm>
            <a:off x="3382" y="3329"/>
            <a:ext cx="123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0062" name="公式" r:id="rId3" imgW="1066680" imgH="228600" progId="Equation.3">
                    <p:embed/>
                  </p:oleObj>
                </mc:Choice>
                <mc:Fallback>
                  <p:oleObj name="公式" r:id="rId3" imgW="1066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 l="-8734" r="-8734"/>
                        <a:stretch>
                          <a:fillRect/>
                        </a:stretch>
                      </p:blipFill>
                      <p:spPr bwMode="auto">
                        <a:xfrm>
                          <a:off x="3382" y="3329"/>
                          <a:ext cx="1230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7785" name="Line 25"/>
            <p:cNvSpPr>
              <a:spLocks noChangeShapeType="1"/>
            </p:cNvSpPr>
            <p:nvPr/>
          </p:nvSpPr>
          <p:spPr bwMode="auto">
            <a:xfrm>
              <a:off x="3407" y="3087"/>
              <a:ext cx="0" cy="4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786" name="Line 26"/>
            <p:cNvSpPr>
              <a:spLocks noChangeShapeType="1"/>
            </p:cNvSpPr>
            <p:nvPr/>
          </p:nvSpPr>
          <p:spPr bwMode="auto">
            <a:xfrm>
              <a:off x="3407" y="3529"/>
              <a:ext cx="115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787" name="Text Box 27"/>
            <p:cNvSpPr txBox="1">
              <a:spLocks noChangeArrowheads="1"/>
            </p:cNvSpPr>
            <p:nvPr/>
          </p:nvSpPr>
          <p:spPr bwMode="auto">
            <a:xfrm>
              <a:off x="3491" y="2040"/>
              <a:ext cx="221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H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397788" name="Line 28"/>
            <p:cNvSpPr>
              <a:spLocks noChangeShapeType="1"/>
            </p:cNvSpPr>
            <p:nvPr/>
          </p:nvSpPr>
          <p:spPr bwMode="auto">
            <a:xfrm>
              <a:off x="3403" y="2251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7789" name="Line 29"/>
          <p:cNvSpPr>
            <a:spLocks noChangeAspect="1" noChangeShapeType="1"/>
          </p:cNvSpPr>
          <p:nvPr/>
        </p:nvSpPr>
        <p:spPr bwMode="auto">
          <a:xfrm>
            <a:off x="4273242" y="913234"/>
            <a:ext cx="4665662" cy="0"/>
          </a:xfrm>
          <a:prstGeom prst="line">
            <a:avLst/>
          </a:prstGeom>
          <a:noFill/>
          <a:ln w="31750">
            <a:solidFill>
              <a:srgbClr val="808000"/>
            </a:solidFill>
            <a:miter lim="800000"/>
            <a:headEnd type="none" w="sm" len="med"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97790" name="AutoShape 30"/>
          <p:cNvSpPr>
            <a:spLocks noChangeAspect="1" noChangeArrowheads="1"/>
          </p:cNvSpPr>
          <p:nvPr/>
        </p:nvSpPr>
        <p:spPr bwMode="auto">
          <a:xfrm flipV="1">
            <a:off x="5789983" y="765122"/>
            <a:ext cx="165100" cy="141288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7791" name="Text Box 31"/>
          <p:cNvSpPr txBox="1">
            <a:spLocks noChangeArrowheads="1"/>
          </p:cNvSpPr>
          <p:nvPr/>
        </p:nvSpPr>
        <p:spPr bwMode="auto">
          <a:xfrm>
            <a:off x="6023345" y="513184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地面</a:t>
            </a:r>
          </a:p>
        </p:txBody>
      </p:sp>
      <p:sp>
        <p:nvSpPr>
          <p:cNvPr id="1397792" name="Text Box 32"/>
          <p:cNvSpPr txBox="1">
            <a:spLocks noChangeArrowheads="1"/>
          </p:cNvSpPr>
          <p:nvPr/>
        </p:nvSpPr>
        <p:spPr bwMode="auto">
          <a:xfrm>
            <a:off x="5435600" y="3570709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A</a:t>
            </a:r>
          </a:p>
        </p:txBody>
      </p:sp>
      <p:sp>
        <p:nvSpPr>
          <p:cNvPr id="1397793" name="Line 33"/>
          <p:cNvSpPr>
            <a:spLocks noChangeShapeType="1"/>
          </p:cNvSpPr>
          <p:nvPr/>
        </p:nvSpPr>
        <p:spPr bwMode="auto">
          <a:xfrm>
            <a:off x="5402263" y="913234"/>
            <a:ext cx="0" cy="3040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7795" name="Oval 35"/>
          <p:cNvSpPr>
            <a:spLocks noChangeArrowheads="1"/>
          </p:cNvSpPr>
          <p:nvPr/>
        </p:nvSpPr>
        <p:spPr bwMode="auto">
          <a:xfrm>
            <a:off x="5360988" y="3848521"/>
            <a:ext cx="90487" cy="1063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7796" name="Freeform 36"/>
          <p:cNvSpPr>
            <a:spLocks/>
          </p:cNvSpPr>
          <p:nvPr/>
        </p:nvSpPr>
        <p:spPr bwMode="auto">
          <a:xfrm>
            <a:off x="5411150" y="922581"/>
            <a:ext cx="859475" cy="3041828"/>
          </a:xfrm>
          <a:custGeom>
            <a:avLst/>
            <a:gdLst>
              <a:gd name="T0" fmla="*/ 0 w 552"/>
              <a:gd name="T1" fmla="*/ 0 h 2280"/>
              <a:gd name="T2" fmla="*/ 423 w 552"/>
              <a:gd name="T3" fmla="*/ 1017 h 2280"/>
              <a:gd name="T4" fmla="*/ 552 w 552"/>
              <a:gd name="T5" fmla="*/ 2280 h 2280"/>
              <a:gd name="connsiteX0" fmla="*/ 0 w 9808"/>
              <a:gd name="connsiteY0" fmla="*/ 0 h 8404"/>
              <a:gd name="connsiteX1" fmla="*/ 7471 w 9808"/>
              <a:gd name="connsiteY1" fmla="*/ 2865 h 8404"/>
              <a:gd name="connsiteX2" fmla="*/ 9808 w 9808"/>
              <a:gd name="connsiteY2" fmla="*/ 8404 h 8404"/>
              <a:gd name="connsiteX0" fmla="*/ 0 w 10000"/>
              <a:gd name="connsiteY0" fmla="*/ 0 h 10000"/>
              <a:gd name="connsiteX1" fmla="*/ 5528 w 10000"/>
              <a:gd name="connsiteY1" fmla="*/ 3483 h 10000"/>
              <a:gd name="connsiteX2" fmla="*/ 10000 w 10000"/>
              <a:gd name="connsiteY2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5528" y="3483"/>
                </a:lnTo>
                <a:lnTo>
                  <a:pt x="10000" y="10000"/>
                </a:lnTo>
              </a:path>
            </a:pathLst>
          </a:custGeom>
          <a:noFill/>
          <a:ln w="2857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97797" name="Group 37"/>
          <p:cNvGrpSpPr>
            <a:grpSpLocks/>
          </p:cNvGrpSpPr>
          <p:nvPr/>
        </p:nvGrpSpPr>
        <p:grpSpPr bwMode="auto">
          <a:xfrm>
            <a:off x="4273550" y="1479971"/>
            <a:ext cx="4656138" cy="658813"/>
            <a:chOff x="2692" y="1512"/>
            <a:chExt cx="2933" cy="415"/>
          </a:xfrm>
        </p:grpSpPr>
        <p:sp>
          <p:nvSpPr>
            <p:cNvPr id="1397798" name="Text Box 38"/>
            <p:cNvSpPr txBox="1">
              <a:spLocks noChangeArrowheads="1"/>
            </p:cNvSpPr>
            <p:nvPr/>
          </p:nvSpPr>
          <p:spPr bwMode="auto">
            <a:xfrm>
              <a:off x="4581" y="151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defTabSz="7318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defTabSz="7318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地下水位</a:t>
              </a:r>
              <a:endParaRPr kumimoji="0" lang="en-US" altLang="zh-CN" sz="2000" b="1">
                <a:solidFill>
                  <a:srgbClr val="000066"/>
                </a:solidFill>
                <a:latin typeface="Arial" charset="0"/>
                <a:ea typeface="幼圆" pitchFamily="49" charset="-122"/>
              </a:endParaRPr>
            </a:p>
          </p:txBody>
        </p:sp>
        <p:grpSp>
          <p:nvGrpSpPr>
            <p:cNvPr id="1397799" name="Group 39"/>
            <p:cNvGrpSpPr>
              <a:grpSpLocks/>
            </p:cNvGrpSpPr>
            <p:nvPr/>
          </p:nvGrpSpPr>
          <p:grpSpPr bwMode="auto">
            <a:xfrm>
              <a:off x="2692" y="1715"/>
              <a:ext cx="2933" cy="212"/>
              <a:chOff x="2692" y="1715"/>
              <a:chExt cx="2933" cy="212"/>
            </a:xfrm>
          </p:grpSpPr>
          <p:sp>
            <p:nvSpPr>
              <p:cNvPr id="1397800" name="Line 40"/>
              <p:cNvSpPr>
                <a:spLocks noChangeAspect="1" noChangeShapeType="1"/>
              </p:cNvSpPr>
              <p:nvPr/>
            </p:nvSpPr>
            <p:spPr bwMode="auto">
              <a:xfrm>
                <a:off x="2692" y="1816"/>
                <a:ext cx="2933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miter lim="800000"/>
                <a:headEnd type="none" w="sm" len="med"/>
                <a:tailEnd type="none" w="sm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397801" name="Group 41"/>
              <p:cNvGrpSpPr>
                <a:grpSpLocks/>
              </p:cNvGrpSpPr>
              <p:nvPr/>
            </p:nvGrpSpPr>
            <p:grpSpPr bwMode="auto">
              <a:xfrm>
                <a:off x="4432" y="1715"/>
                <a:ext cx="203" cy="212"/>
                <a:chOff x="418" y="1421"/>
                <a:chExt cx="201" cy="212"/>
              </a:xfrm>
            </p:grpSpPr>
            <p:sp>
              <p:nvSpPr>
                <p:cNvPr id="1397802" name="AutoShape 42"/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460" y="1421"/>
                  <a:ext cx="103" cy="89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7803" name="Line 43"/>
                <p:cNvSpPr>
                  <a:spLocks noChangeShapeType="1"/>
                </p:cNvSpPr>
                <p:nvPr/>
              </p:nvSpPr>
              <p:spPr bwMode="auto">
                <a:xfrm>
                  <a:off x="418" y="1572"/>
                  <a:ext cx="201" cy="0"/>
                </a:xfrm>
                <a:prstGeom prst="line">
                  <a:avLst/>
                </a:prstGeom>
                <a:noFill/>
                <a:ln w="12700">
                  <a:solidFill>
                    <a:srgbClr val="00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7804" name="Line 44"/>
                <p:cNvSpPr>
                  <a:spLocks noChangeShapeType="1"/>
                </p:cNvSpPr>
                <p:nvPr/>
              </p:nvSpPr>
              <p:spPr bwMode="auto">
                <a:xfrm>
                  <a:off x="456" y="1601"/>
                  <a:ext cx="115" cy="0"/>
                </a:xfrm>
                <a:prstGeom prst="line">
                  <a:avLst/>
                </a:prstGeom>
                <a:noFill/>
                <a:ln w="12700">
                  <a:solidFill>
                    <a:srgbClr val="00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7805" name="Line 45"/>
                <p:cNvSpPr>
                  <a:spLocks noChangeShapeType="1"/>
                </p:cNvSpPr>
                <p:nvPr/>
              </p:nvSpPr>
              <p:spPr bwMode="auto">
                <a:xfrm>
                  <a:off x="490" y="1633"/>
                  <a:ext cx="67" cy="0"/>
                </a:xfrm>
                <a:prstGeom prst="line">
                  <a:avLst/>
                </a:prstGeom>
                <a:noFill/>
                <a:ln w="12700">
                  <a:solidFill>
                    <a:srgbClr val="0066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397807" name="Rectangle 47"/>
          <p:cNvSpPr>
            <a:spLocks noChangeArrowheads="1"/>
          </p:cNvSpPr>
          <p:nvPr/>
        </p:nvSpPr>
        <p:spPr bwMode="auto">
          <a:xfrm>
            <a:off x="349250" y="668759"/>
            <a:ext cx="3335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静水条件：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水位下降</a:t>
            </a:r>
          </a:p>
        </p:txBody>
      </p:sp>
      <p:grpSp>
        <p:nvGrpSpPr>
          <p:cNvPr id="1397808" name="Group 48"/>
          <p:cNvGrpSpPr>
            <a:grpSpLocks/>
          </p:cNvGrpSpPr>
          <p:nvPr/>
        </p:nvGrpSpPr>
        <p:grpSpPr bwMode="auto">
          <a:xfrm>
            <a:off x="495300" y="1309969"/>
            <a:ext cx="3673476" cy="1203332"/>
            <a:chOff x="312" y="846"/>
            <a:chExt cx="2314" cy="758"/>
          </a:xfrm>
        </p:grpSpPr>
        <p:sp>
          <p:nvSpPr>
            <p:cNvPr id="1397809" name="Text Box 49"/>
            <p:cNvSpPr txBox="1">
              <a:spLocks noChangeArrowheads="1"/>
            </p:cNvSpPr>
            <p:nvPr/>
          </p:nvSpPr>
          <p:spPr bwMode="auto">
            <a:xfrm>
              <a:off x="312" y="853"/>
              <a:ext cx="204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SzPct val="120000"/>
                <a:buFontTx/>
                <a:buChar char="•"/>
              </a:pP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</a:rPr>
                <a:t> 总应力：</a:t>
              </a:r>
              <a:endParaRPr lang="en-US" altLang="zh-CN" sz="24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397810" name="Text Box 50"/>
            <p:cNvSpPr txBox="1">
              <a:spLocks noChangeArrowheads="1"/>
            </p:cNvSpPr>
            <p:nvPr/>
          </p:nvSpPr>
          <p:spPr bwMode="auto">
            <a:xfrm>
              <a:off x="1193" y="846"/>
              <a:ext cx="1433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σ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 = 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H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sym typeface="Symbol" pitchFamily="18" charset="2"/>
                </a:rPr>
                <a:t>1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+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sym typeface="Symbol" pitchFamily="18" charset="2"/>
                </a:rPr>
                <a:t>sat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H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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sym typeface="Symbol" pitchFamily="18" charset="2"/>
                </a:rPr>
                <a:t>2</a:t>
              </a:r>
              <a:endParaRPr lang="zh-CN" altLang="en-US" sz="2400" i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397811" name="Text Box 51"/>
            <p:cNvSpPr txBox="1">
              <a:spLocks noChangeArrowheads="1"/>
            </p:cNvSpPr>
            <p:nvPr/>
          </p:nvSpPr>
          <p:spPr bwMode="auto">
            <a:xfrm>
              <a:off x="324" y="1311"/>
              <a:ext cx="14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SzPct val="120000"/>
                <a:buFontTx/>
                <a:buChar char="•"/>
              </a:pP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</a:rPr>
                <a:t> 孔隙水压力：</a:t>
              </a:r>
              <a:endParaRPr lang="en-US" altLang="zh-CN" sz="24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397812" name="Text Box 52"/>
            <p:cNvSpPr txBox="1">
              <a:spLocks noChangeArrowheads="1"/>
            </p:cNvSpPr>
            <p:nvPr/>
          </p:nvSpPr>
          <p:spPr bwMode="auto">
            <a:xfrm>
              <a:off x="1640" y="1292"/>
              <a:ext cx="861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u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 = 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sym typeface="Symbol" pitchFamily="18" charset="2"/>
                </a:rPr>
                <a:t>w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H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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sym typeface="Symbol" pitchFamily="18" charset="2"/>
                </a:rPr>
                <a:t>2</a:t>
              </a:r>
              <a:endParaRPr lang="zh-CN" altLang="en-US" sz="2400" i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397813" name="Group 53"/>
          <p:cNvGrpSpPr>
            <a:grpSpLocks/>
          </p:cNvGrpSpPr>
          <p:nvPr/>
        </p:nvGrpSpPr>
        <p:grpSpPr bwMode="auto">
          <a:xfrm>
            <a:off x="517525" y="2723214"/>
            <a:ext cx="2386013" cy="1095376"/>
            <a:chOff x="326" y="1633"/>
            <a:chExt cx="1503" cy="690"/>
          </a:xfrm>
        </p:grpSpPr>
        <p:sp>
          <p:nvSpPr>
            <p:cNvPr id="1397814" name="Text Box 54"/>
            <p:cNvSpPr txBox="1">
              <a:spLocks noChangeArrowheads="1"/>
            </p:cNvSpPr>
            <p:nvPr/>
          </p:nvSpPr>
          <p:spPr bwMode="auto">
            <a:xfrm>
              <a:off x="326" y="1633"/>
              <a:ext cx="1503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SzPct val="120000"/>
                <a:buFontTx/>
                <a:buChar char="•"/>
              </a:pPr>
              <a:r>
                <a:rPr lang="zh-CN" altLang="en-US" sz="2400" b="1" dirty="0">
                  <a:solidFill>
                    <a:srgbClr val="A50021"/>
                  </a:solidFill>
                  <a:ea typeface="幼圆" pitchFamily="49" charset="-122"/>
                </a:rPr>
                <a:t> 有效应力：</a:t>
              </a:r>
              <a:endParaRPr lang="en-US" altLang="zh-CN" sz="2400" b="1" dirty="0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397815" name="Text Box 55"/>
            <p:cNvSpPr txBox="1">
              <a:spLocks noChangeArrowheads="1"/>
            </p:cNvSpPr>
            <p:nvPr/>
          </p:nvSpPr>
          <p:spPr bwMode="auto">
            <a:xfrm>
              <a:off x="633" y="1986"/>
              <a:ext cx="932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σ</a:t>
              </a:r>
              <a:r>
                <a:rPr kumimoji="1" lang="el-GR" altLang="zh-CN" sz="2400" b="1" dirty="0">
                  <a:solidFill>
                    <a:srgbClr val="000066"/>
                  </a:solidFill>
                  <a:sym typeface="Symbol" pitchFamily="18" charset="2"/>
                </a:rPr>
                <a:t>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 = 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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-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u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 </a:t>
              </a:r>
              <a:endPara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397816" name="Rectangle 56"/>
          <p:cNvSpPr>
            <a:spLocks noChangeArrowheads="1"/>
          </p:cNvSpPr>
          <p:nvPr/>
        </p:nvSpPr>
        <p:spPr bwMode="auto">
          <a:xfrm>
            <a:off x="1208525" y="4104183"/>
            <a:ext cx="3898302" cy="1260345"/>
          </a:xfrm>
          <a:prstGeom prst="rect">
            <a:avLst/>
          </a:prstGeom>
          <a:solidFill>
            <a:srgbClr val="FFD7AF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地下水位下降会引起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σ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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增大，土会产生压缩，这是城市抽水引起地面沉降的一个主要原因</a:t>
            </a:r>
          </a:p>
        </p:txBody>
      </p:sp>
      <p:sp>
        <p:nvSpPr>
          <p:cNvPr id="1397817" name="AutoShape 57"/>
          <p:cNvSpPr>
            <a:spLocks noChangeArrowheads="1"/>
          </p:cNvSpPr>
          <p:nvPr/>
        </p:nvSpPr>
        <p:spPr bwMode="auto">
          <a:xfrm>
            <a:off x="707240" y="4185146"/>
            <a:ext cx="415925" cy="358775"/>
          </a:xfrm>
          <a:prstGeom prst="homePlate">
            <a:avLst>
              <a:gd name="adj" fmla="val 2898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7818" name="Group 58"/>
          <p:cNvGrpSpPr>
            <a:grpSpLocks/>
          </p:cNvGrpSpPr>
          <p:nvPr/>
        </p:nvGrpSpPr>
        <p:grpSpPr bwMode="auto">
          <a:xfrm>
            <a:off x="4283075" y="1780009"/>
            <a:ext cx="4656138" cy="336550"/>
            <a:chOff x="2698" y="1701"/>
            <a:chExt cx="2933" cy="212"/>
          </a:xfrm>
        </p:grpSpPr>
        <p:sp>
          <p:nvSpPr>
            <p:cNvPr id="1397819" name="Line 59"/>
            <p:cNvSpPr>
              <a:spLocks noChangeAspect="1" noChangeShapeType="1"/>
            </p:cNvSpPr>
            <p:nvPr/>
          </p:nvSpPr>
          <p:spPr bwMode="auto">
            <a:xfrm>
              <a:off x="2698" y="1802"/>
              <a:ext cx="293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miter lim="800000"/>
              <a:headEnd type="none" w="sm" len="med"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397820" name="Group 60"/>
            <p:cNvGrpSpPr>
              <a:grpSpLocks/>
            </p:cNvGrpSpPr>
            <p:nvPr/>
          </p:nvGrpSpPr>
          <p:grpSpPr bwMode="auto">
            <a:xfrm>
              <a:off x="4430" y="1701"/>
              <a:ext cx="203" cy="212"/>
              <a:chOff x="418" y="1421"/>
              <a:chExt cx="201" cy="212"/>
            </a:xfrm>
          </p:grpSpPr>
          <p:sp>
            <p:nvSpPr>
              <p:cNvPr id="1397821" name="AutoShape 61"/>
              <p:cNvSpPr>
                <a:spLocks noChangeAspect="1" noChangeArrowheads="1"/>
              </p:cNvSpPr>
              <p:nvPr/>
            </p:nvSpPr>
            <p:spPr bwMode="auto">
              <a:xfrm flipV="1">
                <a:off x="460" y="1421"/>
                <a:ext cx="103" cy="89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rgbClr val="0000FF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7822" name="Line 62"/>
              <p:cNvSpPr>
                <a:spLocks noChangeShapeType="1"/>
              </p:cNvSpPr>
              <p:nvPr/>
            </p:nvSpPr>
            <p:spPr bwMode="auto">
              <a:xfrm>
                <a:off x="418" y="1572"/>
                <a:ext cx="201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7823" name="Line 63"/>
              <p:cNvSpPr>
                <a:spLocks noChangeShapeType="1"/>
              </p:cNvSpPr>
              <p:nvPr/>
            </p:nvSpPr>
            <p:spPr bwMode="auto">
              <a:xfrm>
                <a:off x="456" y="1601"/>
                <a:ext cx="115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7824" name="Line 64"/>
              <p:cNvSpPr>
                <a:spLocks noChangeShapeType="1"/>
              </p:cNvSpPr>
              <p:nvPr/>
            </p:nvSpPr>
            <p:spPr bwMode="auto">
              <a:xfrm>
                <a:off x="490" y="1633"/>
                <a:ext cx="67" cy="0"/>
              </a:xfrm>
              <a:prstGeom prst="line">
                <a:avLst/>
              </a:prstGeom>
              <a:noFill/>
              <a:ln w="12700">
                <a:solidFill>
                  <a:srgbClr val="0066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97825" name="Group 65"/>
          <p:cNvGrpSpPr>
            <a:grpSpLocks/>
          </p:cNvGrpSpPr>
          <p:nvPr/>
        </p:nvGrpSpPr>
        <p:grpSpPr bwMode="auto">
          <a:xfrm>
            <a:off x="4400550" y="932284"/>
            <a:ext cx="890588" cy="3013075"/>
            <a:chOff x="2772" y="1167"/>
            <a:chExt cx="561" cy="1898"/>
          </a:xfrm>
        </p:grpSpPr>
        <p:graphicFrame>
          <p:nvGraphicFramePr>
            <p:cNvPr id="139782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9074747"/>
                </p:ext>
              </p:extLst>
            </p:nvPr>
          </p:nvGraphicFramePr>
          <p:xfrm>
            <a:off x="2772" y="2446"/>
            <a:ext cx="30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0063" name="公式" r:id="rId5" imgW="241200" imgH="228600" progId="Equation.3">
                    <p:embed/>
                  </p:oleObj>
                </mc:Choice>
                <mc:Fallback>
                  <p:oleObj name="公式" r:id="rId5" imgW="241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2" y="2446"/>
                          <a:ext cx="307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7827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6276567"/>
                </p:ext>
              </p:extLst>
            </p:nvPr>
          </p:nvGraphicFramePr>
          <p:xfrm>
            <a:off x="2855" y="1515"/>
            <a:ext cx="18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0064" name="公式" r:id="rId7" imgW="126720" imgH="164880" progId="Equation.3">
                    <p:embed/>
                  </p:oleObj>
                </mc:Choice>
                <mc:Fallback>
                  <p:oleObj name="公式" r:id="rId7" imgW="1267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" y="1515"/>
                          <a:ext cx="18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7828" name="Line 68"/>
            <p:cNvSpPr>
              <a:spLocks noChangeShapeType="1"/>
            </p:cNvSpPr>
            <p:nvPr/>
          </p:nvSpPr>
          <p:spPr bwMode="auto">
            <a:xfrm>
              <a:off x="3107" y="1167"/>
              <a:ext cx="0" cy="10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29" name="Text Box 69"/>
            <p:cNvSpPr txBox="1">
              <a:spLocks noChangeArrowheads="1"/>
            </p:cNvSpPr>
            <p:nvPr/>
          </p:nvSpPr>
          <p:spPr bwMode="auto">
            <a:xfrm>
              <a:off x="3136" y="1551"/>
              <a:ext cx="162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397830" name="Line 70"/>
            <p:cNvSpPr>
              <a:spLocks noChangeShapeType="1"/>
            </p:cNvSpPr>
            <p:nvPr/>
          </p:nvSpPr>
          <p:spPr bwMode="auto">
            <a:xfrm>
              <a:off x="3109" y="2255"/>
              <a:ext cx="0" cy="8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31" name="Text Box 71"/>
            <p:cNvSpPr txBox="1">
              <a:spLocks noChangeArrowheads="1"/>
            </p:cNvSpPr>
            <p:nvPr/>
          </p:nvSpPr>
          <p:spPr bwMode="auto">
            <a:xfrm>
              <a:off x="3135" y="2546"/>
              <a:ext cx="198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H</a:t>
              </a:r>
              <a:r>
                <a: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1397832" name="Group 72"/>
          <p:cNvGrpSpPr>
            <a:grpSpLocks/>
          </p:cNvGrpSpPr>
          <p:nvPr/>
        </p:nvGrpSpPr>
        <p:grpSpPr bwMode="auto">
          <a:xfrm>
            <a:off x="7724775" y="2643609"/>
            <a:ext cx="696913" cy="1770062"/>
            <a:chOff x="4866" y="2245"/>
            <a:chExt cx="439" cy="1115"/>
          </a:xfrm>
        </p:grpSpPr>
        <p:sp>
          <p:nvSpPr>
            <p:cNvPr id="1397833" name="Freeform 73"/>
            <p:cNvSpPr>
              <a:spLocks/>
            </p:cNvSpPr>
            <p:nvPr/>
          </p:nvSpPr>
          <p:spPr bwMode="auto">
            <a:xfrm>
              <a:off x="4866" y="2245"/>
              <a:ext cx="439" cy="823"/>
            </a:xfrm>
            <a:custGeom>
              <a:avLst/>
              <a:gdLst>
                <a:gd name="T0" fmla="*/ 2 w 708"/>
                <a:gd name="T1" fmla="*/ 0 h 1255"/>
                <a:gd name="T2" fmla="*/ 708 w 708"/>
                <a:gd name="T3" fmla="*/ 1255 h 1255"/>
                <a:gd name="T4" fmla="*/ 0 w 708"/>
                <a:gd name="T5" fmla="*/ 1255 h 1255"/>
                <a:gd name="T6" fmla="*/ 2 w 708"/>
                <a:gd name="T7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8" h="1255">
                  <a:moveTo>
                    <a:pt x="2" y="0"/>
                  </a:moveTo>
                  <a:lnTo>
                    <a:pt x="708" y="1255"/>
                  </a:lnTo>
                  <a:lnTo>
                    <a:pt x="0" y="125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3399FF"/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34" name="Line 74"/>
            <p:cNvSpPr>
              <a:spLocks noChangeShapeType="1"/>
            </p:cNvSpPr>
            <p:nvPr/>
          </p:nvSpPr>
          <p:spPr bwMode="auto">
            <a:xfrm>
              <a:off x="4868" y="3083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35" name="Line 75"/>
            <p:cNvSpPr>
              <a:spLocks noChangeShapeType="1"/>
            </p:cNvSpPr>
            <p:nvPr/>
          </p:nvSpPr>
          <p:spPr bwMode="auto">
            <a:xfrm>
              <a:off x="5302" y="3094"/>
              <a:ext cx="0" cy="2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36" name="Line 76"/>
            <p:cNvSpPr>
              <a:spLocks noChangeShapeType="1"/>
            </p:cNvSpPr>
            <p:nvPr/>
          </p:nvSpPr>
          <p:spPr bwMode="auto">
            <a:xfrm>
              <a:off x="4868" y="3284"/>
              <a:ext cx="4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7837" name="Text Box 77"/>
            <p:cNvSpPr txBox="1">
              <a:spLocks noChangeArrowheads="1"/>
            </p:cNvSpPr>
            <p:nvPr/>
          </p:nvSpPr>
          <p:spPr bwMode="auto">
            <a:xfrm>
              <a:off x="4867" y="3070"/>
              <a:ext cx="43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w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6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16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397838" name="Group 78"/>
          <p:cNvGrpSpPr>
            <a:grpSpLocks/>
          </p:cNvGrpSpPr>
          <p:nvPr/>
        </p:nvGrpSpPr>
        <p:grpSpPr bwMode="auto">
          <a:xfrm>
            <a:off x="5399090" y="913234"/>
            <a:ext cx="1865313" cy="3490912"/>
            <a:chOff x="3401" y="1155"/>
            <a:chExt cx="1175" cy="2199"/>
          </a:xfrm>
        </p:grpSpPr>
        <p:grpSp>
          <p:nvGrpSpPr>
            <p:cNvPr id="1397839" name="Group 79"/>
            <p:cNvGrpSpPr>
              <a:grpSpLocks/>
            </p:cNvGrpSpPr>
            <p:nvPr/>
          </p:nvGrpSpPr>
          <p:grpSpPr bwMode="auto">
            <a:xfrm>
              <a:off x="3401" y="2272"/>
              <a:ext cx="1175" cy="1082"/>
              <a:chOff x="3407" y="2278"/>
              <a:chExt cx="1175" cy="1082"/>
            </a:xfrm>
          </p:grpSpPr>
          <p:sp>
            <p:nvSpPr>
              <p:cNvPr id="1397840" name="Line 80"/>
              <p:cNvSpPr>
                <a:spLocks noChangeShapeType="1"/>
              </p:cNvSpPr>
              <p:nvPr/>
            </p:nvSpPr>
            <p:spPr bwMode="auto">
              <a:xfrm>
                <a:off x="3407" y="3284"/>
                <a:ext cx="73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97841" name="Text Box 81"/>
              <p:cNvSpPr txBox="1">
                <a:spLocks noChangeArrowheads="1"/>
              </p:cNvSpPr>
              <p:nvPr/>
            </p:nvSpPr>
            <p:spPr bwMode="auto">
              <a:xfrm>
                <a:off x="3471" y="3084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l-GR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σ</a:t>
                </a:r>
                <a:r>
                  <a:rPr lang="el-GR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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</a:t>
                </a:r>
                <a:r>
                  <a:rPr lang="el-GR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σ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endParaRPr lang="el-GR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grpSp>
            <p:nvGrpSpPr>
              <p:cNvPr id="1397842" name="Group 82"/>
              <p:cNvGrpSpPr>
                <a:grpSpLocks/>
              </p:cNvGrpSpPr>
              <p:nvPr/>
            </p:nvGrpSpPr>
            <p:grpSpPr bwMode="auto">
              <a:xfrm>
                <a:off x="3925" y="2278"/>
                <a:ext cx="657" cy="1082"/>
                <a:chOff x="3925" y="2278"/>
                <a:chExt cx="657" cy="1082"/>
              </a:xfrm>
            </p:grpSpPr>
            <p:sp>
              <p:nvSpPr>
                <p:cNvPr id="1397843" name="Freeform 83"/>
                <p:cNvSpPr>
                  <a:spLocks/>
                </p:cNvSpPr>
                <p:nvPr/>
              </p:nvSpPr>
              <p:spPr bwMode="auto">
                <a:xfrm>
                  <a:off x="3925" y="2278"/>
                  <a:ext cx="646" cy="797"/>
                </a:xfrm>
                <a:custGeom>
                  <a:avLst/>
                  <a:gdLst>
                    <a:gd name="T0" fmla="*/ 0 w 576"/>
                    <a:gd name="T1" fmla="*/ 0 h 801"/>
                    <a:gd name="T2" fmla="*/ 576 w 576"/>
                    <a:gd name="T3" fmla="*/ 801 h 801"/>
                    <a:gd name="T4" fmla="*/ 110 w 576"/>
                    <a:gd name="T5" fmla="*/ 801 h 801"/>
                    <a:gd name="T6" fmla="*/ 0 w 576"/>
                    <a:gd name="T7" fmla="*/ 0 h 801"/>
                    <a:gd name="connsiteX0" fmla="*/ 0 w 11656"/>
                    <a:gd name="connsiteY0" fmla="*/ 0 h 10000"/>
                    <a:gd name="connsiteX1" fmla="*/ 11656 w 11656"/>
                    <a:gd name="connsiteY1" fmla="*/ 10000 h 10000"/>
                    <a:gd name="connsiteX2" fmla="*/ 3566 w 11656"/>
                    <a:gd name="connsiteY2" fmla="*/ 10000 h 10000"/>
                    <a:gd name="connsiteX3" fmla="*/ 0 w 11656"/>
                    <a:gd name="connsiteY3" fmla="*/ 0 h 10000"/>
                    <a:gd name="connsiteX0" fmla="*/ 0 w 11226"/>
                    <a:gd name="connsiteY0" fmla="*/ 0 h 9956"/>
                    <a:gd name="connsiteX1" fmla="*/ 11226 w 11226"/>
                    <a:gd name="connsiteY1" fmla="*/ 9956 h 9956"/>
                    <a:gd name="connsiteX2" fmla="*/ 3136 w 11226"/>
                    <a:gd name="connsiteY2" fmla="*/ 9956 h 9956"/>
                    <a:gd name="connsiteX3" fmla="*/ 0 w 11226"/>
                    <a:gd name="connsiteY3" fmla="*/ 0 h 9956"/>
                    <a:gd name="connsiteX0" fmla="*/ 0 w 10000"/>
                    <a:gd name="connsiteY0" fmla="*/ 0 h 10000"/>
                    <a:gd name="connsiteX1" fmla="*/ 10000 w 10000"/>
                    <a:gd name="connsiteY1" fmla="*/ 10000 h 10000"/>
                    <a:gd name="connsiteX2" fmla="*/ 3341 w 10000"/>
                    <a:gd name="connsiteY2" fmla="*/ 10000 h 10000"/>
                    <a:gd name="connsiteX3" fmla="*/ 0 w 10000"/>
                    <a:gd name="connsiteY3" fmla="*/ 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0000">
                      <a:moveTo>
                        <a:pt x="0" y="0"/>
                      </a:moveTo>
                      <a:lnTo>
                        <a:pt x="10000" y="10000"/>
                      </a:lnTo>
                      <a:lnTo>
                        <a:pt x="3341" y="10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399FF">
                    <a:alpha val="67999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7844" name="Line 84"/>
                <p:cNvSpPr>
                  <a:spLocks noChangeShapeType="1"/>
                </p:cNvSpPr>
                <p:nvPr/>
              </p:nvSpPr>
              <p:spPr bwMode="auto">
                <a:xfrm>
                  <a:off x="4132" y="3083"/>
                  <a:ext cx="0" cy="27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7845" name="Line 85"/>
                <p:cNvSpPr>
                  <a:spLocks noChangeShapeType="1"/>
                </p:cNvSpPr>
                <p:nvPr/>
              </p:nvSpPr>
              <p:spPr bwMode="auto">
                <a:xfrm>
                  <a:off x="4125" y="3284"/>
                  <a:ext cx="457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7846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102" y="2722"/>
                  <a:ext cx="3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dirty="0">
                      <a:solidFill>
                        <a:srgbClr val="000066"/>
                      </a:solidFill>
                      <a:ea typeface="幼圆" pitchFamily="49" charset="-122"/>
                    </a:rPr>
                    <a:t>(-)</a:t>
                  </a:r>
                </a:p>
              </p:txBody>
            </p:sp>
            <p:sp>
              <p:nvSpPr>
                <p:cNvPr id="1397847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140" y="3092"/>
                  <a:ext cx="433" cy="1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90033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defTabSz="81280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1pPr>
                  <a:lvl2pPr marL="406400" defTabSz="81280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2pPr>
                  <a:lvl3pPr marL="812800" defTabSz="81280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3pPr>
                  <a:lvl4pPr marL="1219200" defTabSz="81280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4pPr>
                  <a:lvl5pPr marL="1625600" defTabSz="81280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5pPr>
                  <a:lvl6pPr marL="2082800" defTabSz="8128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6pPr>
                  <a:lvl7pPr marL="2540000" defTabSz="8128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7pPr>
                  <a:lvl8pPr marL="2997200" defTabSz="8128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8pPr>
                  <a:lvl9pPr marL="3454400" defTabSz="8128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1600" b="1" i="1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u</a:t>
                  </a:r>
                  <a:r>
                    <a:rPr lang="en-US" altLang="zh-CN" sz="1600" b="1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=</a:t>
                  </a:r>
                  <a:r>
                    <a:rPr lang="en-US" altLang="zh-CN" sz="1600" b="1" i="1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</a:t>
                  </a:r>
                  <a:r>
                    <a:rPr lang="en-US" altLang="zh-CN" sz="1600" b="1" i="1" baseline="-25000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w</a:t>
                  </a:r>
                  <a:r>
                    <a:rPr lang="en-US" altLang="zh-CN" sz="1600" b="1" i="1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H</a:t>
                  </a:r>
                  <a:r>
                    <a:rPr lang="en-US" altLang="zh-CN" sz="1600" b="1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</a:t>
                  </a:r>
                  <a:r>
                    <a:rPr lang="en-US" altLang="zh-CN" sz="1600" b="1" i="1" baseline="-25000" dirty="0">
                      <a:solidFill>
                        <a:srgbClr val="000066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2</a:t>
                  </a:r>
                </a:p>
              </p:txBody>
            </p:sp>
          </p:grpSp>
        </p:grpSp>
        <p:sp>
          <p:nvSpPr>
            <p:cNvPr id="1397848" name="Freeform 88"/>
            <p:cNvSpPr>
              <a:spLocks/>
            </p:cNvSpPr>
            <p:nvPr/>
          </p:nvSpPr>
          <p:spPr bwMode="auto">
            <a:xfrm>
              <a:off x="3405" y="1155"/>
              <a:ext cx="717" cy="1901"/>
            </a:xfrm>
            <a:custGeom>
              <a:avLst/>
              <a:gdLst>
                <a:gd name="T0" fmla="*/ 0 w 731"/>
                <a:gd name="T1" fmla="*/ 0 h 2251"/>
                <a:gd name="T2" fmla="*/ 606 w 731"/>
                <a:gd name="T3" fmla="*/ 1450 h 2251"/>
                <a:gd name="T4" fmla="*/ 731 w 731"/>
                <a:gd name="T5" fmla="*/ 2251 h 2251"/>
                <a:gd name="connsiteX0" fmla="*/ 0 w 9807"/>
                <a:gd name="connsiteY0" fmla="*/ 0 h 8446"/>
                <a:gd name="connsiteX1" fmla="*/ 8097 w 9807"/>
                <a:gd name="connsiteY1" fmla="*/ 4888 h 8446"/>
                <a:gd name="connsiteX2" fmla="*/ 9807 w 9807"/>
                <a:gd name="connsiteY2" fmla="*/ 8446 h 8446"/>
                <a:gd name="connsiteX0" fmla="*/ 0 w 10000"/>
                <a:gd name="connsiteY0" fmla="*/ 0 h 10000"/>
                <a:gd name="connsiteX1" fmla="*/ 6925 w 10000"/>
                <a:gd name="connsiteY1" fmla="*/ 5787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6925" y="5787"/>
                  </a:lnTo>
                  <a:lnTo>
                    <a:pt x="10000" y="1000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7849" name="Freeform 89"/>
          <p:cNvSpPr>
            <a:spLocks/>
          </p:cNvSpPr>
          <p:nvPr/>
        </p:nvSpPr>
        <p:spPr bwMode="auto">
          <a:xfrm>
            <a:off x="5907048" y="2052247"/>
            <a:ext cx="631166" cy="1898702"/>
          </a:xfrm>
          <a:custGeom>
            <a:avLst/>
            <a:gdLst>
              <a:gd name="T0" fmla="*/ 288 w 288"/>
              <a:gd name="T1" fmla="*/ 1203 h 1203"/>
              <a:gd name="T2" fmla="*/ 167 w 288"/>
              <a:gd name="T3" fmla="*/ 390 h 1203"/>
              <a:gd name="T4" fmla="*/ 0 w 288"/>
              <a:gd name="T5" fmla="*/ 0 h 1203"/>
              <a:gd name="T6" fmla="*/ 141 w 288"/>
              <a:gd name="T7" fmla="*/ 1203 h 1203"/>
              <a:gd name="T8" fmla="*/ 288 w 288"/>
              <a:gd name="T9" fmla="*/ 1203 h 1203"/>
              <a:gd name="connsiteX0" fmla="*/ 13436 w 13436"/>
              <a:gd name="connsiteY0" fmla="*/ 9971 h 9971"/>
              <a:gd name="connsiteX1" fmla="*/ 9235 w 13436"/>
              <a:gd name="connsiteY1" fmla="*/ 3213 h 9971"/>
              <a:gd name="connsiteX2" fmla="*/ 0 w 13436"/>
              <a:gd name="connsiteY2" fmla="*/ 0 h 9971"/>
              <a:gd name="connsiteX3" fmla="*/ 8332 w 13436"/>
              <a:gd name="connsiteY3" fmla="*/ 9971 h 9971"/>
              <a:gd name="connsiteX4" fmla="*/ 13436 w 13436"/>
              <a:gd name="connsiteY4" fmla="*/ 9971 h 9971"/>
              <a:gd name="connsiteX0" fmla="*/ 10000 w 10000"/>
              <a:gd name="connsiteY0" fmla="*/ 10000 h 10000"/>
              <a:gd name="connsiteX1" fmla="*/ 5138 w 10000"/>
              <a:gd name="connsiteY1" fmla="*/ 3045 h 10000"/>
              <a:gd name="connsiteX2" fmla="*/ 0 w 10000"/>
              <a:gd name="connsiteY2" fmla="*/ 0 h 10000"/>
              <a:gd name="connsiteX3" fmla="*/ 6201 w 10000"/>
              <a:gd name="connsiteY3" fmla="*/ 10000 h 10000"/>
              <a:gd name="connsiteX4" fmla="*/ 10000 w 10000"/>
              <a:gd name="connsiteY4" fmla="*/ 10000 h 10000"/>
              <a:gd name="connsiteX0" fmla="*/ 10000 w 10000"/>
              <a:gd name="connsiteY0" fmla="*/ 10000 h 10000"/>
              <a:gd name="connsiteX1" fmla="*/ 4773 w 10000"/>
              <a:gd name="connsiteY1" fmla="*/ 3074 h 10000"/>
              <a:gd name="connsiteX2" fmla="*/ 0 w 10000"/>
              <a:gd name="connsiteY2" fmla="*/ 0 h 10000"/>
              <a:gd name="connsiteX3" fmla="*/ 6201 w 10000"/>
              <a:gd name="connsiteY3" fmla="*/ 10000 h 10000"/>
              <a:gd name="connsiteX4" fmla="*/ 10000 w 10000"/>
              <a:gd name="connsiteY4" fmla="*/ 10000 h 10000"/>
              <a:gd name="connsiteX0" fmla="*/ 10000 w 10000"/>
              <a:gd name="connsiteY0" fmla="*/ 10000 h 10000"/>
              <a:gd name="connsiteX1" fmla="*/ 4682 w 10000"/>
              <a:gd name="connsiteY1" fmla="*/ 3133 h 10000"/>
              <a:gd name="connsiteX2" fmla="*/ 0 w 10000"/>
              <a:gd name="connsiteY2" fmla="*/ 0 h 10000"/>
              <a:gd name="connsiteX3" fmla="*/ 6201 w 10000"/>
              <a:gd name="connsiteY3" fmla="*/ 10000 h 10000"/>
              <a:gd name="connsiteX4" fmla="*/ 10000 w 10000"/>
              <a:gd name="connsiteY4" fmla="*/ 10000 h 10000"/>
              <a:gd name="connsiteX0" fmla="*/ 10183 w 10183"/>
              <a:gd name="connsiteY0" fmla="*/ 9971 h 10000"/>
              <a:gd name="connsiteX1" fmla="*/ 4682 w 10183"/>
              <a:gd name="connsiteY1" fmla="*/ 3133 h 10000"/>
              <a:gd name="connsiteX2" fmla="*/ 0 w 10183"/>
              <a:gd name="connsiteY2" fmla="*/ 0 h 10000"/>
              <a:gd name="connsiteX3" fmla="*/ 6201 w 10183"/>
              <a:gd name="connsiteY3" fmla="*/ 10000 h 10000"/>
              <a:gd name="connsiteX4" fmla="*/ 10183 w 10183"/>
              <a:gd name="connsiteY4" fmla="*/ 9971 h 10000"/>
              <a:gd name="connsiteX0" fmla="*/ 10183 w 10183"/>
              <a:gd name="connsiteY0" fmla="*/ 9971 h 9971"/>
              <a:gd name="connsiteX1" fmla="*/ 4682 w 10183"/>
              <a:gd name="connsiteY1" fmla="*/ 3133 h 9971"/>
              <a:gd name="connsiteX2" fmla="*/ 0 w 10183"/>
              <a:gd name="connsiteY2" fmla="*/ 0 h 9971"/>
              <a:gd name="connsiteX3" fmla="*/ 6201 w 10183"/>
              <a:gd name="connsiteY3" fmla="*/ 9912 h 9971"/>
              <a:gd name="connsiteX4" fmla="*/ 10183 w 10183"/>
              <a:gd name="connsiteY4" fmla="*/ 9971 h 9971"/>
              <a:gd name="connsiteX0" fmla="*/ 10000 w 10000"/>
              <a:gd name="connsiteY0" fmla="*/ 10000 h 10000"/>
              <a:gd name="connsiteX1" fmla="*/ 4508 w 10000"/>
              <a:gd name="connsiteY1" fmla="*/ 3201 h 10000"/>
              <a:gd name="connsiteX2" fmla="*/ 0 w 10000"/>
              <a:gd name="connsiteY2" fmla="*/ 0 h 10000"/>
              <a:gd name="connsiteX3" fmla="*/ 6090 w 10000"/>
              <a:gd name="connsiteY3" fmla="*/ 9941 h 10000"/>
              <a:gd name="connsiteX4" fmla="*/ 10000 w 10000"/>
              <a:gd name="connsiteY4" fmla="*/ 10000 h 10000"/>
              <a:gd name="connsiteX0" fmla="*/ 10000 w 10000"/>
              <a:gd name="connsiteY0" fmla="*/ 10000 h 10000"/>
              <a:gd name="connsiteX1" fmla="*/ 4508 w 10000"/>
              <a:gd name="connsiteY1" fmla="*/ 3201 h 10000"/>
              <a:gd name="connsiteX2" fmla="*/ 0 w 10000"/>
              <a:gd name="connsiteY2" fmla="*/ 0 h 10000"/>
              <a:gd name="connsiteX3" fmla="*/ 6269 w 10000"/>
              <a:gd name="connsiteY3" fmla="*/ 10000 h 10000"/>
              <a:gd name="connsiteX4" fmla="*/ 10000 w 10000"/>
              <a:gd name="connsiteY4" fmla="*/ 10000 h 10000"/>
              <a:gd name="connsiteX0" fmla="*/ 10090 w 10090"/>
              <a:gd name="connsiteY0" fmla="*/ 10000 h 10000"/>
              <a:gd name="connsiteX1" fmla="*/ 4508 w 10090"/>
              <a:gd name="connsiteY1" fmla="*/ 3201 h 10000"/>
              <a:gd name="connsiteX2" fmla="*/ 0 w 10090"/>
              <a:gd name="connsiteY2" fmla="*/ 0 h 10000"/>
              <a:gd name="connsiteX3" fmla="*/ 6269 w 10090"/>
              <a:gd name="connsiteY3" fmla="*/ 10000 h 10000"/>
              <a:gd name="connsiteX4" fmla="*/ 10090 w 10090"/>
              <a:gd name="connsiteY4" fmla="*/ 10000 h 10000"/>
              <a:gd name="connsiteX0" fmla="*/ 10090 w 10090"/>
              <a:gd name="connsiteY0" fmla="*/ 10000 h 10000"/>
              <a:gd name="connsiteX1" fmla="*/ 4508 w 10090"/>
              <a:gd name="connsiteY1" fmla="*/ 3201 h 10000"/>
              <a:gd name="connsiteX2" fmla="*/ 0 w 10090"/>
              <a:gd name="connsiteY2" fmla="*/ 0 h 10000"/>
              <a:gd name="connsiteX3" fmla="*/ 6090 w 10090"/>
              <a:gd name="connsiteY3" fmla="*/ 10000 h 10000"/>
              <a:gd name="connsiteX4" fmla="*/ 10090 w 1009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90" h="10000">
                <a:moveTo>
                  <a:pt x="10090" y="10000"/>
                </a:moveTo>
                <a:lnTo>
                  <a:pt x="4508" y="3201"/>
                </a:lnTo>
                <a:lnTo>
                  <a:pt x="0" y="0"/>
                </a:lnTo>
                <a:lnTo>
                  <a:pt x="6090" y="10000"/>
                </a:lnTo>
                <a:lnTo>
                  <a:pt x="10090" y="1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97850" name="Group 90"/>
          <p:cNvGrpSpPr>
            <a:grpSpLocks/>
          </p:cNvGrpSpPr>
          <p:nvPr/>
        </p:nvGrpSpPr>
        <p:grpSpPr bwMode="auto">
          <a:xfrm>
            <a:off x="6142039" y="1719684"/>
            <a:ext cx="2551113" cy="1146175"/>
            <a:chOff x="3869" y="1663"/>
            <a:chExt cx="1607" cy="722"/>
          </a:xfrm>
        </p:grpSpPr>
        <p:sp>
          <p:nvSpPr>
            <p:cNvPr id="1397851" name="Text Box 91"/>
            <p:cNvSpPr txBox="1">
              <a:spLocks noChangeArrowheads="1"/>
            </p:cNvSpPr>
            <p:nvPr/>
          </p:nvSpPr>
          <p:spPr bwMode="auto">
            <a:xfrm>
              <a:off x="4092" y="1663"/>
              <a:ext cx="1384" cy="45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地下水位下降引起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σ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增大的部分</a:t>
              </a:r>
            </a:p>
          </p:txBody>
        </p:sp>
        <p:sp>
          <p:nvSpPr>
            <p:cNvPr id="1397852" name="Line 92"/>
            <p:cNvSpPr>
              <a:spLocks noChangeShapeType="1"/>
            </p:cNvSpPr>
            <p:nvPr/>
          </p:nvSpPr>
          <p:spPr bwMode="auto">
            <a:xfrm flipV="1">
              <a:off x="3869" y="2024"/>
              <a:ext cx="202" cy="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2" name="Rectangle 33"/>
          <p:cNvSpPr>
            <a:spLocks noChangeArrowheads="1"/>
          </p:cNvSpPr>
          <p:nvPr/>
        </p:nvSpPr>
        <p:spPr bwMode="auto">
          <a:xfrm>
            <a:off x="2495550" y="5873750"/>
            <a:ext cx="568642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自重应力计算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-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地下水位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83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地下水位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44632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5E-6 0.097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977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2000"/>
                                        <p:tgtEl>
                                          <p:spTgt spid="139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97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978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97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97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39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39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978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97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97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39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139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139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39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39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7778" grpId="0" animBg="1"/>
      <p:bldP spid="1397816" grpId="0" animBg="1"/>
      <p:bldP spid="1397817" grpId="0" animBg="1"/>
      <p:bldP spid="139784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812" name="Rectangle 28"/>
          <p:cNvSpPr>
            <a:spLocks noChangeAspect="1" noChangeArrowheads="1"/>
          </p:cNvSpPr>
          <p:nvPr/>
        </p:nvSpPr>
        <p:spPr bwMode="auto">
          <a:xfrm>
            <a:off x="4330700" y="1183091"/>
            <a:ext cx="4586288" cy="1268413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8813" name="Rectangle 29"/>
          <p:cNvSpPr>
            <a:spLocks noChangeAspect="1" noChangeArrowheads="1"/>
          </p:cNvSpPr>
          <p:nvPr/>
        </p:nvSpPr>
        <p:spPr bwMode="auto">
          <a:xfrm>
            <a:off x="4329113" y="2432454"/>
            <a:ext cx="4594225" cy="202882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8815" name="Rectangle 31"/>
          <p:cNvSpPr>
            <a:spLocks noChangeArrowheads="1"/>
          </p:cNvSpPr>
          <p:nvPr/>
        </p:nvSpPr>
        <p:spPr bwMode="auto">
          <a:xfrm>
            <a:off x="349250" y="665163"/>
            <a:ext cx="3335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静水条件：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海洋土</a:t>
            </a:r>
            <a:endParaRPr kumimoji="1" lang="en-US" altLang="zh-CN" sz="2400" b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98816" name="Text Box 32"/>
          <p:cNvSpPr txBox="1">
            <a:spLocks noChangeArrowheads="1"/>
          </p:cNvSpPr>
          <p:nvPr/>
        </p:nvSpPr>
        <p:spPr bwMode="auto">
          <a:xfrm>
            <a:off x="690563" y="1239838"/>
            <a:ext cx="3094037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总应力：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单位土柱和水柱的总重量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8817" name="Text Box 33"/>
          <p:cNvSpPr txBox="1">
            <a:spLocks noChangeArrowheads="1"/>
          </p:cNvSpPr>
          <p:nvPr/>
        </p:nvSpPr>
        <p:spPr bwMode="auto">
          <a:xfrm>
            <a:off x="1203325" y="2147888"/>
            <a:ext cx="2611438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8818" name="Text Box 34"/>
          <p:cNvSpPr txBox="1">
            <a:spLocks noChangeArrowheads="1"/>
          </p:cNvSpPr>
          <p:nvPr/>
        </p:nvSpPr>
        <p:spPr bwMode="auto">
          <a:xfrm>
            <a:off x="695325" y="2773363"/>
            <a:ext cx="345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20000"/>
              <a:buFontTx/>
              <a:buChar char="•"/>
            </a:pP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 孔隙水压力：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净水压强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98819" name="Text Box 35"/>
          <p:cNvSpPr txBox="1">
            <a:spLocks noChangeArrowheads="1"/>
          </p:cNvSpPr>
          <p:nvPr/>
        </p:nvSpPr>
        <p:spPr bwMode="auto">
          <a:xfrm>
            <a:off x="1236663" y="3370263"/>
            <a:ext cx="2010487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(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)</a:t>
            </a:r>
            <a:endParaRPr lang="en-US" altLang="zh-CN" sz="2400" dirty="0">
              <a:solidFill>
                <a:srgbClr val="000066"/>
              </a:solidFill>
            </a:endParaRPr>
          </a:p>
        </p:txBody>
      </p:sp>
      <p:sp>
        <p:nvSpPr>
          <p:cNvPr id="1398820" name="Text Box 36"/>
          <p:cNvSpPr txBox="1">
            <a:spLocks noChangeArrowheads="1"/>
          </p:cNvSpPr>
          <p:nvPr/>
        </p:nvSpPr>
        <p:spPr bwMode="auto">
          <a:xfrm>
            <a:off x="698500" y="3848100"/>
            <a:ext cx="22701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有效应力：</a:t>
            </a:r>
            <a:endParaRPr kumimoji="0" lang="en-US" altLang="zh-CN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98821" name="Text Box 37"/>
          <p:cNvSpPr txBox="1">
            <a:spLocks noChangeArrowheads="1"/>
          </p:cNvSpPr>
          <p:nvPr/>
        </p:nvSpPr>
        <p:spPr bwMode="auto">
          <a:xfrm>
            <a:off x="1266825" y="4391025"/>
            <a:ext cx="185578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   =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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1398822" name="Line 38"/>
          <p:cNvSpPr>
            <a:spLocks noChangeAspect="1" noChangeShapeType="1"/>
          </p:cNvSpPr>
          <p:nvPr/>
        </p:nvSpPr>
        <p:spPr bwMode="auto">
          <a:xfrm>
            <a:off x="4304822" y="1189428"/>
            <a:ext cx="4622800" cy="0"/>
          </a:xfrm>
          <a:prstGeom prst="line">
            <a:avLst/>
          </a:prstGeom>
          <a:noFill/>
          <a:ln w="31750">
            <a:solidFill>
              <a:srgbClr val="808000"/>
            </a:solidFill>
            <a:miter lim="800000"/>
            <a:headEnd type="none" w="sm" len="med"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98823" name="Line 39"/>
          <p:cNvSpPr>
            <a:spLocks noChangeAspect="1" noChangeShapeType="1"/>
          </p:cNvSpPr>
          <p:nvPr/>
        </p:nvSpPr>
        <p:spPr bwMode="auto">
          <a:xfrm>
            <a:off x="4314825" y="2453091"/>
            <a:ext cx="4613275" cy="0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 type="none" w="sm" len="med"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3988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860091"/>
              </p:ext>
            </p:extLst>
          </p:nvPr>
        </p:nvGraphicFramePr>
        <p:xfrm>
          <a:off x="4409865" y="3201510"/>
          <a:ext cx="4841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086" name="公式" r:id="rId3" imgW="241200" imgH="228600" progId="Equation.3">
                  <p:embed/>
                </p:oleObj>
              </mc:Choice>
              <mc:Fallback>
                <p:oleObj name="公式" r:id="rId3" imgW="24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9865" y="3201510"/>
                        <a:ext cx="4841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882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378090"/>
              </p:ext>
            </p:extLst>
          </p:nvPr>
        </p:nvGraphicFramePr>
        <p:xfrm>
          <a:off x="4475220" y="1435100"/>
          <a:ext cx="4349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087" name="公式" r:id="rId5" imgW="190440" imgH="228600" progId="Equation.3">
                  <p:embed/>
                </p:oleObj>
              </mc:Choice>
              <mc:Fallback>
                <p:oleObj name="公式" r:id="rId5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220" y="1435100"/>
                        <a:ext cx="4349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8826" name="Line 42"/>
          <p:cNvSpPr>
            <a:spLocks noChangeShapeType="1"/>
          </p:cNvSpPr>
          <p:nvPr/>
        </p:nvSpPr>
        <p:spPr bwMode="auto">
          <a:xfrm>
            <a:off x="4970463" y="1187854"/>
            <a:ext cx="0" cy="12636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98827" name="Line 43"/>
          <p:cNvSpPr>
            <a:spLocks noChangeShapeType="1"/>
          </p:cNvSpPr>
          <p:nvPr/>
        </p:nvSpPr>
        <p:spPr bwMode="auto">
          <a:xfrm>
            <a:off x="4970463" y="2467379"/>
            <a:ext cx="0" cy="1971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98828" name="Text Box 44"/>
          <p:cNvSpPr txBox="1">
            <a:spLocks noChangeArrowheads="1"/>
          </p:cNvSpPr>
          <p:nvPr/>
        </p:nvSpPr>
        <p:spPr bwMode="auto">
          <a:xfrm>
            <a:off x="5016054" y="1603779"/>
            <a:ext cx="2564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8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1398829" name="Text Box 45"/>
          <p:cNvSpPr txBox="1">
            <a:spLocks noChangeArrowheads="1"/>
          </p:cNvSpPr>
          <p:nvPr/>
        </p:nvSpPr>
        <p:spPr bwMode="auto">
          <a:xfrm>
            <a:off x="5015155" y="3335798"/>
            <a:ext cx="2564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8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1398830" name="Line 46"/>
          <p:cNvSpPr>
            <a:spLocks noChangeShapeType="1"/>
          </p:cNvSpPr>
          <p:nvPr/>
        </p:nvSpPr>
        <p:spPr bwMode="auto">
          <a:xfrm>
            <a:off x="6543675" y="4805766"/>
            <a:ext cx="8667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98831" name="Text Box 47"/>
          <p:cNvSpPr txBox="1">
            <a:spLocks noChangeArrowheads="1"/>
          </p:cNvSpPr>
          <p:nvPr/>
        </p:nvSpPr>
        <p:spPr bwMode="auto">
          <a:xfrm>
            <a:off x="6507271" y="4477154"/>
            <a:ext cx="9207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l-GR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l-GR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endParaRPr lang="el-GR" altLang="zh-CN" sz="1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398832" name="Group 48"/>
          <p:cNvGrpSpPr>
            <a:grpSpLocks/>
          </p:cNvGrpSpPr>
          <p:nvPr/>
        </p:nvGrpSpPr>
        <p:grpSpPr bwMode="auto">
          <a:xfrm>
            <a:off x="7696204" y="1192643"/>
            <a:ext cx="1185863" cy="3749675"/>
            <a:chOff x="4848" y="998"/>
            <a:chExt cx="747" cy="2362"/>
          </a:xfrm>
        </p:grpSpPr>
        <p:sp>
          <p:nvSpPr>
            <p:cNvPr id="1398833" name="Freeform 49"/>
            <p:cNvSpPr>
              <a:spLocks/>
            </p:cNvSpPr>
            <p:nvPr/>
          </p:nvSpPr>
          <p:spPr bwMode="auto">
            <a:xfrm>
              <a:off x="4848" y="998"/>
              <a:ext cx="726" cy="2065"/>
            </a:xfrm>
            <a:custGeom>
              <a:avLst/>
              <a:gdLst>
                <a:gd name="T0" fmla="*/ 0 w 726"/>
                <a:gd name="T1" fmla="*/ 0 h 2065"/>
                <a:gd name="T2" fmla="*/ 726 w 726"/>
                <a:gd name="T3" fmla="*/ 2065 h 2065"/>
                <a:gd name="T4" fmla="*/ 18 w 726"/>
                <a:gd name="T5" fmla="*/ 2065 h 2065"/>
                <a:gd name="T6" fmla="*/ 0 w 726"/>
                <a:gd name="T7" fmla="*/ 0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6" h="2065">
                  <a:moveTo>
                    <a:pt x="0" y="0"/>
                  </a:moveTo>
                  <a:lnTo>
                    <a:pt x="726" y="2065"/>
                  </a:lnTo>
                  <a:lnTo>
                    <a:pt x="18" y="2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34" name="Line 50"/>
            <p:cNvSpPr>
              <a:spLocks noChangeShapeType="1"/>
            </p:cNvSpPr>
            <p:nvPr/>
          </p:nvSpPr>
          <p:spPr bwMode="auto">
            <a:xfrm>
              <a:off x="4868" y="3083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35" name="Line 51"/>
            <p:cNvSpPr>
              <a:spLocks noChangeShapeType="1"/>
            </p:cNvSpPr>
            <p:nvPr/>
          </p:nvSpPr>
          <p:spPr bwMode="auto">
            <a:xfrm>
              <a:off x="5574" y="3094"/>
              <a:ext cx="0" cy="2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36" name="Line 52"/>
            <p:cNvSpPr>
              <a:spLocks noChangeShapeType="1"/>
            </p:cNvSpPr>
            <p:nvPr/>
          </p:nvSpPr>
          <p:spPr bwMode="auto">
            <a:xfrm>
              <a:off x="4868" y="3284"/>
              <a:ext cx="7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37" name="Text Box 53"/>
            <p:cNvSpPr txBox="1">
              <a:spLocks noChangeArrowheads="1"/>
            </p:cNvSpPr>
            <p:nvPr/>
          </p:nvSpPr>
          <p:spPr bwMode="auto">
            <a:xfrm>
              <a:off x="4884" y="3075"/>
              <a:ext cx="711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w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+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</a:p>
          </p:txBody>
        </p:sp>
      </p:grpSp>
      <p:grpSp>
        <p:nvGrpSpPr>
          <p:cNvPr id="1398838" name="Group 54"/>
          <p:cNvGrpSpPr>
            <a:grpSpLocks/>
          </p:cNvGrpSpPr>
          <p:nvPr/>
        </p:nvGrpSpPr>
        <p:grpSpPr bwMode="auto">
          <a:xfrm>
            <a:off x="6907213" y="1041804"/>
            <a:ext cx="319087" cy="336550"/>
            <a:chOff x="418" y="1421"/>
            <a:chExt cx="201" cy="212"/>
          </a:xfrm>
        </p:grpSpPr>
        <p:sp>
          <p:nvSpPr>
            <p:cNvPr id="1398839" name="AutoShape 55"/>
            <p:cNvSpPr>
              <a:spLocks noChangeAspect="1" noChangeArrowheads="1"/>
            </p:cNvSpPr>
            <p:nvPr/>
          </p:nvSpPr>
          <p:spPr bwMode="auto">
            <a:xfrm flipV="1">
              <a:off x="460" y="1421"/>
              <a:ext cx="103" cy="89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8840" name="Line 56"/>
            <p:cNvSpPr>
              <a:spLocks noChangeShapeType="1"/>
            </p:cNvSpPr>
            <p:nvPr/>
          </p:nvSpPr>
          <p:spPr bwMode="auto">
            <a:xfrm>
              <a:off x="418" y="1572"/>
              <a:ext cx="201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8841" name="Line 57"/>
            <p:cNvSpPr>
              <a:spLocks noChangeShapeType="1"/>
            </p:cNvSpPr>
            <p:nvPr/>
          </p:nvSpPr>
          <p:spPr bwMode="auto">
            <a:xfrm>
              <a:off x="456" y="1601"/>
              <a:ext cx="115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8842" name="Line 58"/>
            <p:cNvSpPr>
              <a:spLocks noChangeShapeType="1"/>
            </p:cNvSpPr>
            <p:nvPr/>
          </p:nvSpPr>
          <p:spPr bwMode="auto">
            <a:xfrm>
              <a:off x="490" y="1633"/>
              <a:ext cx="67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8843" name="AutoShape 59"/>
          <p:cNvSpPr>
            <a:spLocks noChangeAspect="1" noChangeArrowheads="1"/>
          </p:cNvSpPr>
          <p:nvPr/>
        </p:nvSpPr>
        <p:spPr bwMode="auto">
          <a:xfrm flipV="1">
            <a:off x="6443663" y="2291166"/>
            <a:ext cx="163512" cy="141288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8844" name="Line 60"/>
          <p:cNvSpPr>
            <a:spLocks noChangeShapeType="1"/>
          </p:cNvSpPr>
          <p:nvPr/>
        </p:nvSpPr>
        <p:spPr bwMode="auto">
          <a:xfrm>
            <a:off x="5402263" y="1194204"/>
            <a:ext cx="0" cy="3271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8845" name="Text Box 61"/>
          <p:cNvSpPr txBox="1">
            <a:spLocks noChangeArrowheads="1"/>
          </p:cNvSpPr>
          <p:nvPr/>
        </p:nvSpPr>
        <p:spPr bwMode="auto">
          <a:xfrm>
            <a:off x="6608763" y="2016529"/>
            <a:ext cx="72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地面</a:t>
            </a:r>
          </a:p>
        </p:txBody>
      </p:sp>
      <p:sp>
        <p:nvSpPr>
          <p:cNvPr id="1398846" name="Text Box 62"/>
          <p:cNvSpPr txBox="1">
            <a:spLocks noChangeArrowheads="1"/>
          </p:cNvSpPr>
          <p:nvPr/>
        </p:nvSpPr>
        <p:spPr bwMode="auto">
          <a:xfrm>
            <a:off x="7118350" y="757641"/>
            <a:ext cx="757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水位</a:t>
            </a:r>
            <a:endParaRPr kumimoji="0" lang="en-US" altLang="zh-CN" sz="2000" b="1">
              <a:solidFill>
                <a:srgbClr val="000066"/>
              </a:solidFill>
              <a:latin typeface="Arial" charset="0"/>
              <a:ea typeface="幼圆" pitchFamily="49" charset="-122"/>
            </a:endParaRPr>
          </a:p>
        </p:txBody>
      </p:sp>
      <p:grpSp>
        <p:nvGrpSpPr>
          <p:cNvPr id="1398847" name="Group 63"/>
          <p:cNvGrpSpPr>
            <a:grpSpLocks/>
          </p:cNvGrpSpPr>
          <p:nvPr/>
        </p:nvGrpSpPr>
        <p:grpSpPr bwMode="auto">
          <a:xfrm>
            <a:off x="5408613" y="4493032"/>
            <a:ext cx="2016125" cy="722313"/>
            <a:chOff x="3407" y="3087"/>
            <a:chExt cx="1270" cy="455"/>
          </a:xfrm>
        </p:grpSpPr>
        <p:sp>
          <p:nvSpPr>
            <p:cNvPr id="1398848" name="Line 64"/>
            <p:cNvSpPr>
              <a:spLocks noChangeShapeType="1"/>
            </p:cNvSpPr>
            <p:nvPr/>
          </p:nvSpPr>
          <p:spPr bwMode="auto">
            <a:xfrm>
              <a:off x="3407" y="3087"/>
              <a:ext cx="0" cy="4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49" name="Line 65"/>
            <p:cNvSpPr>
              <a:spLocks noChangeShapeType="1"/>
            </p:cNvSpPr>
            <p:nvPr/>
          </p:nvSpPr>
          <p:spPr bwMode="auto">
            <a:xfrm>
              <a:off x="4668" y="3094"/>
              <a:ext cx="0" cy="42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50" name="Line 66"/>
            <p:cNvSpPr>
              <a:spLocks noChangeShapeType="1"/>
            </p:cNvSpPr>
            <p:nvPr/>
          </p:nvSpPr>
          <p:spPr bwMode="auto">
            <a:xfrm>
              <a:off x="3407" y="3519"/>
              <a:ext cx="12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398851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2576228"/>
                </p:ext>
              </p:extLst>
            </p:nvPr>
          </p:nvGraphicFramePr>
          <p:xfrm>
            <a:off x="3462" y="3317"/>
            <a:ext cx="1132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1088" name="公式" r:id="rId7" imgW="1155600" imgH="228600" progId="Equation.3">
                    <p:embed/>
                  </p:oleObj>
                </mc:Choice>
                <mc:Fallback>
                  <p:oleObj name="公式" r:id="rId7" imgW="1155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 l="-8734" r="-8734"/>
                        <a:stretch>
                          <a:fillRect/>
                        </a:stretch>
                      </p:blipFill>
                      <p:spPr bwMode="auto">
                        <a:xfrm>
                          <a:off x="3462" y="3317"/>
                          <a:ext cx="1132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98852" name="Group 68"/>
          <p:cNvGrpSpPr>
            <a:grpSpLocks/>
          </p:cNvGrpSpPr>
          <p:nvPr/>
        </p:nvGrpSpPr>
        <p:grpSpPr bwMode="auto">
          <a:xfrm>
            <a:off x="5397502" y="1200554"/>
            <a:ext cx="2024063" cy="3284537"/>
            <a:chOff x="3400" y="1013"/>
            <a:chExt cx="1275" cy="2069"/>
          </a:xfrm>
        </p:grpSpPr>
        <p:sp>
          <p:nvSpPr>
            <p:cNvPr id="1398853" name="Freeform 69"/>
            <p:cNvSpPr>
              <a:spLocks noChangeAspect="1"/>
            </p:cNvSpPr>
            <p:nvPr/>
          </p:nvSpPr>
          <p:spPr bwMode="auto">
            <a:xfrm>
              <a:off x="3410" y="1014"/>
              <a:ext cx="1263" cy="2060"/>
            </a:xfrm>
            <a:custGeom>
              <a:avLst/>
              <a:gdLst>
                <a:gd name="T0" fmla="*/ 0 w 1263"/>
                <a:gd name="T1" fmla="*/ 0 h 2060"/>
                <a:gd name="T2" fmla="*/ 0 w 1263"/>
                <a:gd name="T3" fmla="*/ 2060 h 2060"/>
                <a:gd name="T4" fmla="*/ 1263 w 1263"/>
                <a:gd name="T5" fmla="*/ 2059 h 2060"/>
                <a:gd name="T6" fmla="*/ 270 w 1263"/>
                <a:gd name="T7" fmla="*/ 802 h 2060"/>
                <a:gd name="T8" fmla="*/ 0 w 1263"/>
                <a:gd name="T9" fmla="*/ 0 h 2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3" h="2060">
                  <a:moveTo>
                    <a:pt x="0" y="0"/>
                  </a:moveTo>
                  <a:lnTo>
                    <a:pt x="0" y="2060"/>
                  </a:lnTo>
                  <a:lnTo>
                    <a:pt x="1263" y="2059"/>
                  </a:lnTo>
                  <a:lnTo>
                    <a:pt x="270" y="8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2225" cap="flat" cmpd="sng">
                  <a:solidFill>
                    <a:srgbClr val="9933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98854" name="Freeform 70"/>
            <p:cNvSpPr>
              <a:spLocks/>
            </p:cNvSpPr>
            <p:nvPr/>
          </p:nvSpPr>
          <p:spPr bwMode="auto">
            <a:xfrm>
              <a:off x="3403" y="1013"/>
              <a:ext cx="1272" cy="2069"/>
            </a:xfrm>
            <a:custGeom>
              <a:avLst/>
              <a:gdLst>
                <a:gd name="T0" fmla="*/ 0 w 1272"/>
                <a:gd name="T1" fmla="*/ 0 h 2069"/>
                <a:gd name="T2" fmla="*/ 279 w 1272"/>
                <a:gd name="T3" fmla="*/ 792 h 2069"/>
                <a:gd name="T4" fmla="*/ 1272 w 1272"/>
                <a:gd name="T5" fmla="*/ 2069 h 2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2" h="2069">
                  <a:moveTo>
                    <a:pt x="0" y="0"/>
                  </a:moveTo>
                  <a:lnTo>
                    <a:pt x="279" y="792"/>
                  </a:lnTo>
                  <a:lnTo>
                    <a:pt x="1272" y="2069"/>
                  </a:lnTo>
                </a:path>
              </a:pathLst>
            </a:custGeom>
            <a:noFill/>
            <a:ln w="28575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8855" name="Freeform 71"/>
            <p:cNvSpPr>
              <a:spLocks/>
            </p:cNvSpPr>
            <p:nvPr/>
          </p:nvSpPr>
          <p:spPr bwMode="auto">
            <a:xfrm>
              <a:off x="3406" y="1808"/>
              <a:ext cx="277" cy="1"/>
            </a:xfrm>
            <a:custGeom>
              <a:avLst/>
              <a:gdLst>
                <a:gd name="T0" fmla="*/ 0 w 277"/>
                <a:gd name="T1" fmla="*/ 1 h 1"/>
                <a:gd name="T2" fmla="*/ 277 w 27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7" h="1">
                  <a:moveTo>
                    <a:pt x="0" y="1"/>
                  </a:moveTo>
                  <a:lnTo>
                    <a:pt x="27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8856" name="Text Box 72"/>
            <p:cNvSpPr txBox="1">
              <a:spLocks noChangeArrowheads="1"/>
            </p:cNvSpPr>
            <p:nvPr/>
          </p:nvSpPr>
          <p:spPr bwMode="auto">
            <a:xfrm>
              <a:off x="3400" y="1640"/>
              <a:ext cx="255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w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1398857" name="Oval 73"/>
          <p:cNvSpPr>
            <a:spLocks noChangeArrowheads="1"/>
          </p:cNvSpPr>
          <p:nvPr/>
        </p:nvSpPr>
        <p:spPr bwMode="auto">
          <a:xfrm>
            <a:off x="5364163" y="4361266"/>
            <a:ext cx="88900" cy="1063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8858" name="Text Box 74"/>
          <p:cNvSpPr txBox="1">
            <a:spLocks noChangeArrowheads="1"/>
          </p:cNvSpPr>
          <p:nvPr/>
        </p:nvSpPr>
        <p:spPr bwMode="auto">
          <a:xfrm>
            <a:off x="5449888" y="4045354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A</a:t>
            </a:r>
          </a:p>
        </p:txBody>
      </p:sp>
      <p:grpSp>
        <p:nvGrpSpPr>
          <p:cNvPr id="1398859" name="Group 75"/>
          <p:cNvGrpSpPr>
            <a:grpSpLocks/>
          </p:cNvGrpSpPr>
          <p:nvPr/>
        </p:nvGrpSpPr>
        <p:grpSpPr bwMode="auto">
          <a:xfrm>
            <a:off x="5408612" y="4475566"/>
            <a:ext cx="1128712" cy="439738"/>
            <a:chOff x="3407" y="3076"/>
            <a:chExt cx="711" cy="277"/>
          </a:xfrm>
        </p:grpSpPr>
        <p:sp>
          <p:nvSpPr>
            <p:cNvPr id="1398860" name="Line 76"/>
            <p:cNvSpPr>
              <a:spLocks noChangeShapeType="1"/>
            </p:cNvSpPr>
            <p:nvPr/>
          </p:nvSpPr>
          <p:spPr bwMode="auto">
            <a:xfrm>
              <a:off x="4109" y="3076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8861" name="Line 77"/>
            <p:cNvSpPr>
              <a:spLocks noChangeShapeType="1"/>
            </p:cNvSpPr>
            <p:nvPr/>
          </p:nvSpPr>
          <p:spPr bwMode="auto">
            <a:xfrm>
              <a:off x="3407" y="3284"/>
              <a:ext cx="7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98862" name="Text Box 78"/>
            <p:cNvSpPr txBox="1">
              <a:spLocks noChangeArrowheads="1"/>
            </p:cNvSpPr>
            <p:nvPr/>
          </p:nvSpPr>
          <p:spPr bwMode="auto">
            <a:xfrm>
              <a:off x="3407" y="3095"/>
              <a:ext cx="711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w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+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)</a:t>
              </a:r>
            </a:p>
          </p:txBody>
        </p:sp>
      </p:grpSp>
      <p:sp>
        <p:nvSpPr>
          <p:cNvPr id="1398863" name="Freeform 79"/>
          <p:cNvSpPr>
            <a:spLocks/>
          </p:cNvSpPr>
          <p:nvPr/>
        </p:nvSpPr>
        <p:spPr bwMode="auto">
          <a:xfrm>
            <a:off x="5851525" y="2462616"/>
            <a:ext cx="1555750" cy="2016125"/>
          </a:xfrm>
          <a:custGeom>
            <a:avLst/>
            <a:gdLst>
              <a:gd name="T0" fmla="*/ 980 w 980"/>
              <a:gd name="T1" fmla="*/ 1270 h 1270"/>
              <a:gd name="T2" fmla="*/ 0 w 980"/>
              <a:gd name="T3" fmla="*/ 0 h 1270"/>
              <a:gd name="T4" fmla="*/ 435 w 980"/>
              <a:gd name="T5" fmla="*/ 1254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0" h="1270">
                <a:moveTo>
                  <a:pt x="980" y="1270"/>
                </a:moveTo>
                <a:lnTo>
                  <a:pt x="0" y="0"/>
                </a:lnTo>
                <a:lnTo>
                  <a:pt x="435" y="1254"/>
                </a:ln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98864" name="Group 80"/>
          <p:cNvGrpSpPr>
            <a:grpSpLocks/>
          </p:cNvGrpSpPr>
          <p:nvPr/>
        </p:nvGrpSpPr>
        <p:grpSpPr bwMode="auto">
          <a:xfrm>
            <a:off x="5405438" y="1187855"/>
            <a:ext cx="1131887" cy="3279775"/>
            <a:chOff x="3405" y="1005"/>
            <a:chExt cx="713" cy="2066"/>
          </a:xfrm>
        </p:grpSpPr>
        <p:sp>
          <p:nvSpPr>
            <p:cNvPr id="1398865" name="Freeform 81"/>
            <p:cNvSpPr>
              <a:spLocks/>
            </p:cNvSpPr>
            <p:nvPr/>
          </p:nvSpPr>
          <p:spPr bwMode="auto">
            <a:xfrm>
              <a:off x="3405" y="1005"/>
              <a:ext cx="713" cy="2066"/>
            </a:xfrm>
            <a:custGeom>
              <a:avLst/>
              <a:gdLst>
                <a:gd name="T0" fmla="*/ 0 w 713"/>
                <a:gd name="T1" fmla="*/ 0 h 2066"/>
                <a:gd name="T2" fmla="*/ 713 w 713"/>
                <a:gd name="T3" fmla="*/ 2066 h 2066"/>
                <a:gd name="T4" fmla="*/ 5 w 713"/>
                <a:gd name="T5" fmla="*/ 2066 h 2066"/>
                <a:gd name="T6" fmla="*/ 0 w 713"/>
                <a:gd name="T7" fmla="*/ 0 h 2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3" h="2066">
                  <a:moveTo>
                    <a:pt x="0" y="0"/>
                  </a:moveTo>
                  <a:lnTo>
                    <a:pt x="713" y="2066"/>
                  </a:lnTo>
                  <a:lnTo>
                    <a:pt x="5" y="2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>
                <a:alpha val="67000"/>
              </a:srgbClr>
            </a:solidFill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8866" name="Text Box 82"/>
            <p:cNvSpPr txBox="1">
              <a:spLocks noChangeArrowheads="1"/>
            </p:cNvSpPr>
            <p:nvPr/>
          </p:nvSpPr>
          <p:spPr bwMode="auto">
            <a:xfrm>
              <a:off x="3548" y="243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rgbClr val="000066"/>
                  </a:solidFill>
                  <a:ea typeface="幼圆" pitchFamily="49" charset="-122"/>
                </a:rPr>
                <a:t>(-)</a:t>
              </a:r>
            </a:p>
          </p:txBody>
        </p:sp>
      </p:grpSp>
      <p:sp>
        <p:nvSpPr>
          <p:cNvPr id="6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1" name="Rectangle 33"/>
          <p:cNvSpPr>
            <a:spLocks noChangeArrowheads="1"/>
          </p:cNvSpPr>
          <p:nvPr/>
        </p:nvSpPr>
        <p:spPr bwMode="auto">
          <a:xfrm>
            <a:off x="2495551" y="5873750"/>
            <a:ext cx="53721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计算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-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海洋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土</a:t>
            </a:r>
          </a:p>
        </p:txBody>
      </p:sp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海洋土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7051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8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8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8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98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98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139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139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8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8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8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98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1398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98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98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98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9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139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988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9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9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139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988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98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98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8815" grpId="0" build="p" autoUpdateAnimBg="0"/>
      <p:bldP spid="1398816" grpId="0"/>
      <p:bldP spid="1398817" grpId="0"/>
      <p:bldP spid="1398818" grpId="0"/>
      <p:bldP spid="1398819" grpId="0"/>
      <p:bldP spid="1398820" grpId="0"/>
      <p:bldP spid="1398821" grpId="0"/>
      <p:bldP spid="1398830" grpId="0" animBg="1"/>
      <p:bldP spid="1398831" grpId="0"/>
      <p:bldP spid="139886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077" name="Rectangle 77"/>
          <p:cNvSpPr>
            <a:spLocks noChangeAspect="1" noChangeArrowheads="1"/>
          </p:cNvSpPr>
          <p:nvPr/>
        </p:nvSpPr>
        <p:spPr bwMode="auto">
          <a:xfrm>
            <a:off x="4329113" y="2697163"/>
            <a:ext cx="4608512" cy="2028825"/>
          </a:xfrm>
          <a:prstGeom prst="rect">
            <a:avLst/>
          </a:pr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8078" name="Rectangle 78"/>
          <p:cNvSpPr>
            <a:spLocks noChangeAspect="1" noChangeArrowheads="1"/>
          </p:cNvSpPr>
          <p:nvPr/>
        </p:nvSpPr>
        <p:spPr bwMode="auto">
          <a:xfrm>
            <a:off x="4325938" y="1938338"/>
            <a:ext cx="4618037" cy="735012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8080" name="Rectangle 80"/>
          <p:cNvSpPr>
            <a:spLocks noChangeArrowheads="1"/>
          </p:cNvSpPr>
          <p:nvPr/>
        </p:nvSpPr>
        <p:spPr bwMode="auto">
          <a:xfrm>
            <a:off x="349250" y="636588"/>
            <a:ext cx="371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静水条件：</a:t>
            </a: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毛细饱和区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08081" name="Rectangle 81"/>
          <p:cNvSpPr>
            <a:spLocks noChangeAspect="1" noChangeArrowheads="1"/>
          </p:cNvSpPr>
          <p:nvPr/>
        </p:nvSpPr>
        <p:spPr bwMode="auto">
          <a:xfrm>
            <a:off x="4330700" y="1128713"/>
            <a:ext cx="4618038" cy="871537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8082" name="Line 82"/>
          <p:cNvSpPr>
            <a:spLocks noChangeAspect="1" noChangeShapeType="1"/>
          </p:cNvSpPr>
          <p:nvPr/>
        </p:nvSpPr>
        <p:spPr bwMode="auto">
          <a:xfrm>
            <a:off x="4344988" y="1128713"/>
            <a:ext cx="4622800" cy="0"/>
          </a:xfrm>
          <a:prstGeom prst="line">
            <a:avLst/>
          </a:prstGeom>
          <a:noFill/>
          <a:ln w="31750">
            <a:solidFill>
              <a:srgbClr val="808000"/>
            </a:solidFill>
            <a:miter lim="800000"/>
            <a:headEnd type="none" w="sm" len="med"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8083" name="Line 83"/>
          <p:cNvSpPr>
            <a:spLocks noChangeAspect="1" noChangeShapeType="1"/>
          </p:cNvSpPr>
          <p:nvPr/>
        </p:nvSpPr>
        <p:spPr bwMode="auto">
          <a:xfrm>
            <a:off x="4324350" y="2698750"/>
            <a:ext cx="4613275" cy="0"/>
          </a:xfrm>
          <a:prstGeom prst="line">
            <a:avLst/>
          </a:prstGeom>
          <a:noFill/>
          <a:ln w="38100">
            <a:solidFill>
              <a:srgbClr val="0000FF"/>
            </a:solidFill>
            <a:miter lim="800000"/>
            <a:headEnd type="none" w="sm" len="med"/>
            <a:tailEnd type="non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408084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416920"/>
              </p:ext>
            </p:extLst>
          </p:nvPr>
        </p:nvGraphicFramePr>
        <p:xfrm>
          <a:off x="4373563" y="3082925"/>
          <a:ext cx="4841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2110" name="公式" r:id="rId3" imgW="241200" imgH="228600" progId="Equation.3">
                  <p:embed/>
                </p:oleObj>
              </mc:Choice>
              <mc:Fallback>
                <p:oleObj name="公式" r:id="rId3" imgW="24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3082925"/>
                        <a:ext cx="4841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8085" name="Freeform 85"/>
          <p:cNvSpPr>
            <a:spLocks noChangeAspect="1"/>
          </p:cNvSpPr>
          <p:nvPr/>
        </p:nvSpPr>
        <p:spPr bwMode="auto">
          <a:xfrm>
            <a:off x="5589588" y="1138238"/>
            <a:ext cx="2028825" cy="3589337"/>
          </a:xfrm>
          <a:custGeom>
            <a:avLst/>
            <a:gdLst>
              <a:gd name="T0" fmla="*/ 0 w 1278"/>
              <a:gd name="T1" fmla="*/ 0 h 2261"/>
              <a:gd name="T2" fmla="*/ 0 w 1278"/>
              <a:gd name="T3" fmla="*/ 2261 h 2261"/>
              <a:gd name="T4" fmla="*/ 1278 w 1278"/>
              <a:gd name="T5" fmla="*/ 2259 h 2261"/>
              <a:gd name="T6" fmla="*/ 215 w 1278"/>
              <a:gd name="T7" fmla="*/ 550 h 2261"/>
              <a:gd name="T8" fmla="*/ 0 w 1278"/>
              <a:gd name="T9" fmla="*/ 0 h 2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78" h="2261">
                <a:moveTo>
                  <a:pt x="0" y="0"/>
                </a:moveTo>
                <a:lnTo>
                  <a:pt x="0" y="2261"/>
                </a:lnTo>
                <a:lnTo>
                  <a:pt x="1278" y="2259"/>
                </a:lnTo>
                <a:lnTo>
                  <a:pt x="215" y="5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2225" cap="flat" cmpd="sng">
                <a:solidFill>
                  <a:srgbClr val="9933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408086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722914"/>
              </p:ext>
            </p:extLst>
          </p:nvPr>
        </p:nvGraphicFramePr>
        <p:xfrm>
          <a:off x="4479925" y="1395413"/>
          <a:ext cx="2905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2111" name="公式" r:id="rId5" imgW="126720" imgH="164880" progId="Equation.3">
                  <p:embed/>
                </p:oleObj>
              </mc:Choice>
              <mc:Fallback>
                <p:oleObj name="公式" r:id="rId5" imgW="12672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1395413"/>
                        <a:ext cx="29051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8087" name="Line 87"/>
          <p:cNvSpPr>
            <a:spLocks noChangeShapeType="1"/>
          </p:cNvSpPr>
          <p:nvPr/>
        </p:nvSpPr>
        <p:spPr bwMode="auto">
          <a:xfrm>
            <a:off x="5151438" y="1131888"/>
            <a:ext cx="0" cy="8842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08088" name="Line 88"/>
          <p:cNvSpPr>
            <a:spLocks noChangeShapeType="1"/>
          </p:cNvSpPr>
          <p:nvPr/>
        </p:nvSpPr>
        <p:spPr bwMode="auto">
          <a:xfrm>
            <a:off x="5151438" y="2722563"/>
            <a:ext cx="0" cy="1971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08089" name="Text Box 89"/>
          <p:cNvSpPr txBox="1">
            <a:spLocks noChangeArrowheads="1"/>
          </p:cNvSpPr>
          <p:nvPr/>
        </p:nvSpPr>
        <p:spPr bwMode="auto">
          <a:xfrm>
            <a:off x="5229225" y="1420813"/>
            <a:ext cx="2857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8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1408090" name="Text Box 90"/>
          <p:cNvSpPr txBox="1">
            <a:spLocks noChangeArrowheads="1"/>
          </p:cNvSpPr>
          <p:nvPr/>
        </p:nvSpPr>
        <p:spPr bwMode="auto">
          <a:xfrm>
            <a:off x="5219700" y="3540125"/>
            <a:ext cx="2857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800" b="1" i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</p:txBody>
      </p:sp>
      <p:grpSp>
        <p:nvGrpSpPr>
          <p:cNvPr id="1408091" name="Group 91"/>
          <p:cNvGrpSpPr>
            <a:grpSpLocks/>
          </p:cNvGrpSpPr>
          <p:nvPr/>
        </p:nvGrpSpPr>
        <p:grpSpPr bwMode="auto">
          <a:xfrm>
            <a:off x="5589588" y="4760913"/>
            <a:ext cx="1143000" cy="309562"/>
            <a:chOff x="3521" y="3089"/>
            <a:chExt cx="720" cy="195"/>
          </a:xfrm>
        </p:grpSpPr>
        <p:sp>
          <p:nvSpPr>
            <p:cNvPr id="1408092" name="Line 92"/>
            <p:cNvSpPr>
              <a:spLocks noChangeShapeType="1"/>
            </p:cNvSpPr>
            <p:nvPr/>
          </p:nvSpPr>
          <p:spPr bwMode="auto">
            <a:xfrm>
              <a:off x="3521" y="3284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8093" name="Text Box 93"/>
            <p:cNvSpPr txBox="1">
              <a:spLocks noChangeArrowheads="1"/>
            </p:cNvSpPr>
            <p:nvPr/>
          </p:nvSpPr>
          <p:spPr bwMode="auto">
            <a:xfrm>
              <a:off x="3562" y="3089"/>
              <a:ext cx="58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l-GR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lang="el-GR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l-GR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endParaRPr lang="el-GR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408094" name="Group 94"/>
          <p:cNvGrpSpPr>
            <a:grpSpLocks/>
          </p:cNvGrpSpPr>
          <p:nvPr/>
        </p:nvGrpSpPr>
        <p:grpSpPr bwMode="auto">
          <a:xfrm>
            <a:off x="7004050" y="2557463"/>
            <a:ext cx="319088" cy="336550"/>
            <a:chOff x="418" y="1421"/>
            <a:chExt cx="201" cy="212"/>
          </a:xfrm>
        </p:grpSpPr>
        <p:sp>
          <p:nvSpPr>
            <p:cNvPr id="1408095" name="AutoShape 95"/>
            <p:cNvSpPr>
              <a:spLocks noChangeAspect="1" noChangeArrowheads="1"/>
            </p:cNvSpPr>
            <p:nvPr/>
          </p:nvSpPr>
          <p:spPr bwMode="auto">
            <a:xfrm flipV="1">
              <a:off x="460" y="1421"/>
              <a:ext cx="103" cy="89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8096" name="Line 96"/>
            <p:cNvSpPr>
              <a:spLocks noChangeShapeType="1"/>
            </p:cNvSpPr>
            <p:nvPr/>
          </p:nvSpPr>
          <p:spPr bwMode="auto">
            <a:xfrm>
              <a:off x="418" y="1572"/>
              <a:ext cx="201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8097" name="Line 97"/>
            <p:cNvSpPr>
              <a:spLocks noChangeShapeType="1"/>
            </p:cNvSpPr>
            <p:nvPr/>
          </p:nvSpPr>
          <p:spPr bwMode="auto">
            <a:xfrm>
              <a:off x="456" y="1601"/>
              <a:ext cx="115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8098" name="Line 98"/>
            <p:cNvSpPr>
              <a:spLocks noChangeShapeType="1"/>
            </p:cNvSpPr>
            <p:nvPr/>
          </p:nvSpPr>
          <p:spPr bwMode="auto">
            <a:xfrm>
              <a:off x="490" y="1633"/>
              <a:ext cx="67" cy="0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08099" name="AutoShape 99"/>
          <p:cNvSpPr>
            <a:spLocks noChangeAspect="1" noChangeArrowheads="1"/>
          </p:cNvSpPr>
          <p:nvPr/>
        </p:nvSpPr>
        <p:spPr bwMode="auto">
          <a:xfrm flipV="1">
            <a:off x="7239000" y="965200"/>
            <a:ext cx="163513" cy="141288"/>
          </a:xfrm>
          <a:prstGeom prst="triangle">
            <a:avLst>
              <a:gd name="adj" fmla="val 50000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8100" name="Line 100"/>
          <p:cNvSpPr>
            <a:spLocks noChangeShapeType="1"/>
          </p:cNvSpPr>
          <p:nvPr/>
        </p:nvSpPr>
        <p:spPr bwMode="auto">
          <a:xfrm>
            <a:off x="5583238" y="1123950"/>
            <a:ext cx="0" cy="360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8101" name="Text Box 101"/>
          <p:cNvSpPr txBox="1">
            <a:spLocks noChangeArrowheads="1"/>
          </p:cNvSpPr>
          <p:nvPr/>
        </p:nvSpPr>
        <p:spPr bwMode="auto">
          <a:xfrm>
            <a:off x="7413625" y="706438"/>
            <a:ext cx="765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地面</a:t>
            </a:r>
          </a:p>
        </p:txBody>
      </p:sp>
      <p:sp>
        <p:nvSpPr>
          <p:cNvPr id="1408102" name="Text Box 102"/>
          <p:cNvSpPr txBox="1">
            <a:spLocks noChangeArrowheads="1"/>
          </p:cNvSpPr>
          <p:nvPr/>
        </p:nvSpPr>
        <p:spPr bwMode="auto">
          <a:xfrm>
            <a:off x="690563" y="1211263"/>
            <a:ext cx="3094037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总应力：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单位土柱和水柱的总重量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08103" name="Oval 103"/>
          <p:cNvSpPr>
            <a:spLocks noChangeArrowheads="1"/>
          </p:cNvSpPr>
          <p:nvPr/>
        </p:nvSpPr>
        <p:spPr bwMode="auto">
          <a:xfrm>
            <a:off x="5545138" y="4625975"/>
            <a:ext cx="88900" cy="1063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8104" name="Text Box 104"/>
          <p:cNvSpPr txBox="1">
            <a:spLocks noChangeArrowheads="1"/>
          </p:cNvSpPr>
          <p:nvPr/>
        </p:nvSpPr>
        <p:spPr bwMode="auto">
          <a:xfrm>
            <a:off x="5649913" y="4348163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</a:rPr>
              <a:t>A</a:t>
            </a:r>
          </a:p>
        </p:txBody>
      </p:sp>
      <p:sp>
        <p:nvSpPr>
          <p:cNvPr id="1408105" name="Text Box 105"/>
          <p:cNvSpPr txBox="1">
            <a:spLocks noChangeArrowheads="1"/>
          </p:cNvSpPr>
          <p:nvPr/>
        </p:nvSpPr>
        <p:spPr bwMode="auto">
          <a:xfrm>
            <a:off x="1203325" y="2119313"/>
            <a:ext cx="2298700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08106" name="Text Box 106"/>
          <p:cNvSpPr txBox="1">
            <a:spLocks noChangeArrowheads="1"/>
          </p:cNvSpPr>
          <p:nvPr/>
        </p:nvSpPr>
        <p:spPr bwMode="auto">
          <a:xfrm>
            <a:off x="695325" y="2744788"/>
            <a:ext cx="345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孔隙水压力：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净水压强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08107" name="Text Box 107"/>
          <p:cNvSpPr txBox="1">
            <a:spLocks noChangeArrowheads="1"/>
          </p:cNvSpPr>
          <p:nvPr/>
        </p:nvSpPr>
        <p:spPr bwMode="auto">
          <a:xfrm>
            <a:off x="1236663" y="3262313"/>
            <a:ext cx="1300356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2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08108" name="Text Box 108"/>
          <p:cNvSpPr txBox="1">
            <a:spLocks noChangeArrowheads="1"/>
          </p:cNvSpPr>
          <p:nvPr/>
        </p:nvSpPr>
        <p:spPr bwMode="auto">
          <a:xfrm>
            <a:off x="698500" y="3819525"/>
            <a:ext cx="22701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有效应力：</a:t>
            </a:r>
            <a:endParaRPr kumimoji="0" lang="en-US" altLang="zh-CN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08109" name="Text Box 109"/>
          <p:cNvSpPr txBox="1">
            <a:spLocks noChangeArrowheads="1"/>
          </p:cNvSpPr>
          <p:nvPr/>
        </p:nvSpPr>
        <p:spPr bwMode="auto">
          <a:xfrm>
            <a:off x="1162050" y="4362450"/>
            <a:ext cx="2969083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endParaRPr kumimoji="1" lang="en-US" altLang="zh-CN" sz="2400" b="1" i="1" baseline="-25000" dirty="0">
              <a:solidFill>
                <a:srgbClr val="000066"/>
              </a:solidFill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sym typeface="Symbol" pitchFamily="18" charset="2"/>
              </a:rPr>
              <a:t>    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+ </a:t>
            </a:r>
            <a:r>
              <a:rPr kumimoji="1" lang="zh-CN" altLang="en-US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sym typeface="Symbol" pitchFamily="18" charset="2"/>
              </a:rPr>
              <a:t>c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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1408110" name="Line 110"/>
          <p:cNvSpPr>
            <a:spLocks noChangeShapeType="1"/>
          </p:cNvSpPr>
          <p:nvPr/>
        </p:nvSpPr>
        <p:spPr bwMode="auto">
          <a:xfrm>
            <a:off x="4327525" y="2006600"/>
            <a:ext cx="4633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8111" name="Text Box 111"/>
          <p:cNvSpPr txBox="1">
            <a:spLocks noChangeArrowheads="1"/>
          </p:cNvSpPr>
          <p:nvPr/>
        </p:nvSpPr>
        <p:spPr bwMode="auto">
          <a:xfrm>
            <a:off x="7905750" y="2033588"/>
            <a:ext cx="919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66"/>
                </a:solidFill>
                <a:ea typeface="幼圆" pitchFamily="49" charset="-122"/>
              </a:rPr>
              <a:t>毛细饱</a:t>
            </a:r>
            <a:br>
              <a:rPr lang="zh-CN" altLang="en-US" sz="1800" b="1">
                <a:solidFill>
                  <a:srgbClr val="000066"/>
                </a:solidFill>
                <a:ea typeface="幼圆" pitchFamily="49" charset="-122"/>
              </a:rPr>
            </a:br>
            <a:r>
              <a:rPr lang="zh-CN" altLang="en-US" sz="1800" b="1">
                <a:solidFill>
                  <a:srgbClr val="000066"/>
                </a:solidFill>
                <a:ea typeface="幼圆" pitchFamily="49" charset="-122"/>
              </a:rPr>
              <a:t>和区</a:t>
            </a:r>
            <a:endParaRPr lang="en-US" altLang="zh-CN" sz="1800" b="1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1408112" name="Group 112"/>
          <p:cNvGrpSpPr>
            <a:grpSpLocks/>
          </p:cNvGrpSpPr>
          <p:nvPr/>
        </p:nvGrpSpPr>
        <p:grpSpPr bwMode="auto">
          <a:xfrm>
            <a:off x="7286625" y="1493838"/>
            <a:ext cx="1339850" cy="3697287"/>
            <a:chOff x="4590" y="1031"/>
            <a:chExt cx="844" cy="2329"/>
          </a:xfrm>
        </p:grpSpPr>
        <p:grpSp>
          <p:nvGrpSpPr>
            <p:cNvPr id="1408113" name="Group 113"/>
            <p:cNvGrpSpPr>
              <a:grpSpLocks/>
            </p:cNvGrpSpPr>
            <p:nvPr/>
          </p:nvGrpSpPr>
          <p:grpSpPr bwMode="auto">
            <a:xfrm>
              <a:off x="4868" y="3083"/>
              <a:ext cx="566" cy="277"/>
              <a:chOff x="4868" y="3083"/>
              <a:chExt cx="566" cy="277"/>
            </a:xfrm>
          </p:grpSpPr>
          <p:sp>
            <p:nvSpPr>
              <p:cNvPr id="1408114" name="Line 114"/>
              <p:cNvSpPr>
                <a:spLocks noChangeShapeType="1"/>
              </p:cNvSpPr>
              <p:nvPr/>
            </p:nvSpPr>
            <p:spPr bwMode="auto">
              <a:xfrm>
                <a:off x="4868" y="3083"/>
                <a:ext cx="0" cy="27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15" name="Line 115"/>
              <p:cNvSpPr>
                <a:spLocks noChangeShapeType="1"/>
              </p:cNvSpPr>
              <p:nvPr/>
            </p:nvSpPr>
            <p:spPr bwMode="auto">
              <a:xfrm>
                <a:off x="5434" y="3094"/>
                <a:ext cx="0" cy="2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16" name="Line 116"/>
              <p:cNvSpPr>
                <a:spLocks noChangeShapeType="1"/>
              </p:cNvSpPr>
              <p:nvPr/>
            </p:nvSpPr>
            <p:spPr bwMode="auto">
              <a:xfrm>
                <a:off x="4868" y="3284"/>
                <a:ext cx="56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17" name="Text Box 117"/>
              <p:cNvSpPr txBox="1">
                <a:spLocks noChangeArrowheads="1"/>
              </p:cNvSpPr>
              <p:nvPr/>
            </p:nvSpPr>
            <p:spPr bwMode="auto">
              <a:xfrm>
                <a:off x="4942" y="3085"/>
                <a:ext cx="454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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w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H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</a:p>
            </p:txBody>
          </p:sp>
        </p:grpSp>
        <p:sp>
          <p:nvSpPr>
            <p:cNvPr id="1408118" name="Freeform 118"/>
            <p:cNvSpPr>
              <a:spLocks/>
            </p:cNvSpPr>
            <p:nvPr/>
          </p:nvSpPr>
          <p:spPr bwMode="auto">
            <a:xfrm>
              <a:off x="4678" y="1354"/>
              <a:ext cx="756" cy="1708"/>
            </a:xfrm>
            <a:custGeom>
              <a:avLst/>
              <a:gdLst>
                <a:gd name="T0" fmla="*/ 192 w 756"/>
                <a:gd name="T1" fmla="*/ 0 h 1708"/>
                <a:gd name="T2" fmla="*/ 192 w 756"/>
                <a:gd name="T3" fmla="*/ 1708 h 1708"/>
                <a:gd name="T4" fmla="*/ 756 w 756"/>
                <a:gd name="T5" fmla="*/ 1705 h 1708"/>
                <a:gd name="T6" fmla="*/ 0 w 756"/>
                <a:gd name="T7" fmla="*/ 3 h 1708"/>
                <a:gd name="T8" fmla="*/ 192 w 756"/>
                <a:gd name="T9" fmla="*/ 0 h 1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6" h="1708">
                  <a:moveTo>
                    <a:pt x="192" y="0"/>
                  </a:moveTo>
                  <a:lnTo>
                    <a:pt x="192" y="1708"/>
                  </a:lnTo>
                  <a:lnTo>
                    <a:pt x="756" y="1705"/>
                  </a:lnTo>
                  <a:lnTo>
                    <a:pt x="0" y="3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8119" name="Text Box 119"/>
            <p:cNvSpPr txBox="1">
              <a:spLocks noChangeArrowheads="1"/>
            </p:cNvSpPr>
            <p:nvPr/>
          </p:nvSpPr>
          <p:spPr bwMode="auto">
            <a:xfrm>
              <a:off x="4948" y="2613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66"/>
                  </a:solidFill>
                  <a:ea typeface="幼圆" pitchFamily="49" charset="-122"/>
                </a:rPr>
                <a:t>(+)</a:t>
              </a:r>
            </a:p>
          </p:txBody>
        </p:sp>
        <p:sp>
          <p:nvSpPr>
            <p:cNvPr id="1408120" name="Text Box 120"/>
            <p:cNvSpPr txBox="1">
              <a:spLocks noChangeArrowheads="1"/>
            </p:cNvSpPr>
            <p:nvPr/>
          </p:nvSpPr>
          <p:spPr bwMode="auto">
            <a:xfrm>
              <a:off x="4659" y="1302"/>
              <a:ext cx="2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66"/>
                  </a:solidFill>
                  <a:ea typeface="幼圆" pitchFamily="49" charset="-122"/>
                </a:rPr>
                <a:t>(-)</a:t>
              </a:r>
            </a:p>
          </p:txBody>
        </p:sp>
        <p:grpSp>
          <p:nvGrpSpPr>
            <p:cNvPr id="1408121" name="Group 121"/>
            <p:cNvGrpSpPr>
              <a:grpSpLocks/>
            </p:cNvGrpSpPr>
            <p:nvPr/>
          </p:nvGrpSpPr>
          <p:grpSpPr bwMode="auto">
            <a:xfrm>
              <a:off x="4590" y="1031"/>
              <a:ext cx="494" cy="314"/>
              <a:chOff x="4590" y="1031"/>
              <a:chExt cx="494" cy="314"/>
            </a:xfrm>
          </p:grpSpPr>
          <p:sp>
            <p:nvSpPr>
              <p:cNvPr id="1408122" name="Text Box 122"/>
              <p:cNvSpPr txBox="1">
                <a:spLocks noChangeArrowheads="1"/>
              </p:cNvSpPr>
              <p:nvPr/>
            </p:nvSpPr>
            <p:spPr bwMode="auto">
              <a:xfrm>
                <a:off x="4590" y="1031"/>
                <a:ext cx="494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=-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</a:t>
                </a:r>
                <a:r>
                  <a:rPr lang="en-US" altLang="zh-CN" sz="18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w</a:t>
                </a:r>
                <a:r>
                  <a:rPr lang="en-US" altLang="zh-CN" sz="1800" b="1" i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H</a:t>
                </a:r>
                <a:r>
                  <a:rPr lang="en-US" altLang="zh-CN" sz="18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c</a:t>
                </a:r>
                <a:endParaRPr lang="en-US" altLang="zh-CN" sz="18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408123" name="Line 123"/>
              <p:cNvSpPr>
                <a:spLocks noChangeShapeType="1"/>
              </p:cNvSpPr>
              <p:nvPr/>
            </p:nvSpPr>
            <p:spPr bwMode="auto">
              <a:xfrm>
                <a:off x="4677" y="1245"/>
                <a:ext cx="0" cy="9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24" name="Line 124"/>
              <p:cNvSpPr>
                <a:spLocks noChangeShapeType="1"/>
              </p:cNvSpPr>
              <p:nvPr/>
            </p:nvSpPr>
            <p:spPr bwMode="auto">
              <a:xfrm>
                <a:off x="4874" y="1242"/>
                <a:ext cx="0" cy="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25" name="Line 125"/>
              <p:cNvSpPr>
                <a:spLocks noChangeShapeType="1"/>
              </p:cNvSpPr>
              <p:nvPr/>
            </p:nvSpPr>
            <p:spPr bwMode="auto">
              <a:xfrm>
                <a:off x="4678" y="1284"/>
                <a:ext cx="20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08126" name="Line 126"/>
          <p:cNvSpPr>
            <a:spLocks noChangeShapeType="1"/>
          </p:cNvSpPr>
          <p:nvPr/>
        </p:nvSpPr>
        <p:spPr bwMode="auto">
          <a:xfrm>
            <a:off x="5153025" y="1989138"/>
            <a:ext cx="0" cy="7207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08127" name="Text Box 127"/>
          <p:cNvSpPr txBox="1">
            <a:spLocks noChangeArrowheads="1"/>
          </p:cNvSpPr>
          <p:nvPr/>
        </p:nvSpPr>
        <p:spPr bwMode="auto">
          <a:xfrm>
            <a:off x="5204211" y="2216150"/>
            <a:ext cx="31945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800" b="1" i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</a:p>
        </p:txBody>
      </p:sp>
      <p:sp>
        <p:nvSpPr>
          <p:cNvPr id="1408128" name="Line 128"/>
          <p:cNvSpPr>
            <a:spLocks noChangeShapeType="1"/>
          </p:cNvSpPr>
          <p:nvPr/>
        </p:nvSpPr>
        <p:spPr bwMode="auto">
          <a:xfrm>
            <a:off x="4870450" y="2012950"/>
            <a:ext cx="0" cy="27035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08129" name="Text Box 129"/>
          <p:cNvSpPr txBox="1">
            <a:spLocks noChangeArrowheads="1"/>
          </p:cNvSpPr>
          <p:nvPr/>
        </p:nvSpPr>
        <p:spPr bwMode="auto">
          <a:xfrm>
            <a:off x="4874345" y="3240088"/>
            <a:ext cx="2308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064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128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192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25600" defTabSz="8128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0828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400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9972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54400" defTabSz="812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lang="en-US" altLang="zh-CN" sz="18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08130" name="Freeform 130"/>
          <p:cNvSpPr>
            <a:spLocks/>
          </p:cNvSpPr>
          <p:nvPr/>
        </p:nvSpPr>
        <p:spPr bwMode="auto">
          <a:xfrm>
            <a:off x="5583238" y="1123950"/>
            <a:ext cx="2032000" cy="3606800"/>
          </a:xfrm>
          <a:custGeom>
            <a:avLst/>
            <a:gdLst>
              <a:gd name="T0" fmla="*/ 0 w 1280"/>
              <a:gd name="T1" fmla="*/ 0 h 2272"/>
              <a:gd name="T2" fmla="*/ 232 w 1280"/>
              <a:gd name="T3" fmla="*/ 559 h 2272"/>
              <a:gd name="T4" fmla="*/ 1280 w 1280"/>
              <a:gd name="T5" fmla="*/ 2272 h 2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80" h="2272">
                <a:moveTo>
                  <a:pt x="0" y="0"/>
                </a:moveTo>
                <a:lnTo>
                  <a:pt x="232" y="559"/>
                </a:lnTo>
                <a:lnTo>
                  <a:pt x="1280" y="2272"/>
                </a:lnTo>
              </a:path>
            </a:pathLst>
          </a:custGeom>
          <a:noFill/>
          <a:ln w="28575" cmpd="sng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08131" name="Group 131"/>
          <p:cNvGrpSpPr>
            <a:grpSpLocks/>
          </p:cNvGrpSpPr>
          <p:nvPr/>
        </p:nvGrpSpPr>
        <p:grpSpPr bwMode="auto">
          <a:xfrm>
            <a:off x="5959475" y="1966913"/>
            <a:ext cx="1638300" cy="3224212"/>
            <a:chOff x="3754" y="1329"/>
            <a:chExt cx="1032" cy="2031"/>
          </a:xfrm>
        </p:grpSpPr>
        <p:grpSp>
          <p:nvGrpSpPr>
            <p:cNvPr id="1408132" name="Group 132"/>
            <p:cNvGrpSpPr>
              <a:grpSpLocks/>
            </p:cNvGrpSpPr>
            <p:nvPr/>
          </p:nvGrpSpPr>
          <p:grpSpPr bwMode="auto">
            <a:xfrm>
              <a:off x="4238" y="3083"/>
              <a:ext cx="544" cy="277"/>
              <a:chOff x="4238" y="3083"/>
              <a:chExt cx="544" cy="277"/>
            </a:xfrm>
          </p:grpSpPr>
          <p:sp>
            <p:nvSpPr>
              <p:cNvPr id="1408133" name="Line 133"/>
              <p:cNvSpPr>
                <a:spLocks noChangeShapeType="1"/>
              </p:cNvSpPr>
              <p:nvPr/>
            </p:nvSpPr>
            <p:spPr bwMode="auto">
              <a:xfrm>
                <a:off x="4238" y="3083"/>
                <a:ext cx="0" cy="27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34" name="Line 134"/>
              <p:cNvSpPr>
                <a:spLocks noChangeShapeType="1"/>
              </p:cNvSpPr>
              <p:nvPr/>
            </p:nvSpPr>
            <p:spPr bwMode="auto">
              <a:xfrm>
                <a:off x="4255" y="3284"/>
                <a:ext cx="5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35" name="Text Box 135"/>
              <p:cNvSpPr txBox="1">
                <a:spLocks noChangeArrowheads="1"/>
              </p:cNvSpPr>
              <p:nvPr/>
            </p:nvSpPr>
            <p:spPr bwMode="auto">
              <a:xfrm>
                <a:off x="4290" y="3090"/>
                <a:ext cx="454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064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128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192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25600" defTabSz="8128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0828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400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9972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54400" defTabSz="812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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w</a:t>
                </a: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H</a:t>
                </a:r>
                <a:r>
                  <a:rPr lang="en-US" altLang="zh-CN" sz="18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</a:p>
            </p:txBody>
          </p:sp>
        </p:grpSp>
        <p:sp>
          <p:nvSpPr>
            <p:cNvPr id="1408136" name="Freeform 136"/>
            <p:cNvSpPr>
              <a:spLocks/>
            </p:cNvSpPr>
            <p:nvPr/>
          </p:nvSpPr>
          <p:spPr bwMode="auto">
            <a:xfrm>
              <a:off x="3758" y="1354"/>
              <a:ext cx="1028" cy="1712"/>
            </a:xfrm>
            <a:custGeom>
              <a:avLst/>
              <a:gdLst>
                <a:gd name="T0" fmla="*/ 188 w 1028"/>
                <a:gd name="T1" fmla="*/ 0 h 1712"/>
                <a:gd name="T2" fmla="*/ 479 w 1028"/>
                <a:gd name="T3" fmla="*/ 1712 h 1712"/>
                <a:gd name="T4" fmla="*/ 1028 w 1028"/>
                <a:gd name="T5" fmla="*/ 1712 h 1712"/>
                <a:gd name="T6" fmla="*/ 0 w 1028"/>
                <a:gd name="T7" fmla="*/ 4 h 1712"/>
                <a:gd name="T8" fmla="*/ 188 w 1028"/>
                <a:gd name="T9" fmla="*/ 0 h 1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8" h="1712">
                  <a:moveTo>
                    <a:pt x="188" y="0"/>
                  </a:moveTo>
                  <a:lnTo>
                    <a:pt x="479" y="1712"/>
                  </a:lnTo>
                  <a:lnTo>
                    <a:pt x="1028" y="1712"/>
                  </a:lnTo>
                  <a:lnTo>
                    <a:pt x="0" y="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399FF">
                <a:alpha val="48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8137" name="Text Box 137"/>
            <p:cNvSpPr txBox="1">
              <a:spLocks noChangeArrowheads="1"/>
            </p:cNvSpPr>
            <p:nvPr/>
          </p:nvSpPr>
          <p:spPr bwMode="auto">
            <a:xfrm>
              <a:off x="3754" y="1329"/>
              <a:ext cx="3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66"/>
                  </a:solidFill>
                  <a:ea typeface="幼圆" pitchFamily="49" charset="-122"/>
                </a:rPr>
                <a:t>(+)</a:t>
              </a:r>
            </a:p>
          </p:txBody>
        </p:sp>
        <p:sp>
          <p:nvSpPr>
            <p:cNvPr id="1408138" name="Text Box 138"/>
            <p:cNvSpPr txBox="1">
              <a:spLocks noChangeArrowheads="1"/>
            </p:cNvSpPr>
            <p:nvPr/>
          </p:nvSpPr>
          <p:spPr bwMode="auto">
            <a:xfrm>
              <a:off x="4225" y="2577"/>
              <a:ext cx="27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srgbClr val="000066"/>
                  </a:solidFill>
                  <a:ea typeface="幼圆" pitchFamily="49" charset="-122"/>
                </a:rPr>
                <a:t>(-)</a:t>
              </a:r>
            </a:p>
          </p:txBody>
        </p:sp>
      </p:grpSp>
      <p:grpSp>
        <p:nvGrpSpPr>
          <p:cNvPr id="1408139" name="Group 139"/>
          <p:cNvGrpSpPr>
            <a:grpSpLocks/>
          </p:cNvGrpSpPr>
          <p:nvPr/>
        </p:nvGrpSpPr>
        <p:grpSpPr bwMode="auto">
          <a:xfrm>
            <a:off x="5576888" y="1744663"/>
            <a:ext cx="2028825" cy="3790950"/>
            <a:chOff x="3513" y="1189"/>
            <a:chExt cx="1278" cy="2388"/>
          </a:xfrm>
        </p:grpSpPr>
        <p:sp>
          <p:nvSpPr>
            <p:cNvPr id="1408140" name="Text Box 140"/>
            <p:cNvSpPr txBox="1">
              <a:spLocks noChangeArrowheads="1"/>
            </p:cNvSpPr>
            <p:nvPr/>
          </p:nvSpPr>
          <p:spPr bwMode="auto">
            <a:xfrm>
              <a:off x="3527" y="1189"/>
              <a:ext cx="19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grpSp>
          <p:nvGrpSpPr>
            <p:cNvPr id="1408141" name="Group 141"/>
            <p:cNvGrpSpPr>
              <a:grpSpLocks/>
            </p:cNvGrpSpPr>
            <p:nvPr/>
          </p:nvGrpSpPr>
          <p:grpSpPr bwMode="auto">
            <a:xfrm>
              <a:off x="3521" y="3087"/>
              <a:ext cx="1270" cy="490"/>
              <a:chOff x="3521" y="3087"/>
              <a:chExt cx="1270" cy="490"/>
            </a:xfrm>
          </p:grpSpPr>
          <p:sp>
            <p:nvSpPr>
              <p:cNvPr id="1408142" name="Line 142"/>
              <p:cNvSpPr>
                <a:spLocks noChangeShapeType="1"/>
              </p:cNvSpPr>
              <p:nvPr/>
            </p:nvSpPr>
            <p:spPr bwMode="auto">
              <a:xfrm>
                <a:off x="3521" y="3087"/>
                <a:ext cx="0" cy="49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43" name="Line 143"/>
              <p:cNvSpPr>
                <a:spLocks noChangeShapeType="1"/>
              </p:cNvSpPr>
              <p:nvPr/>
            </p:nvSpPr>
            <p:spPr bwMode="auto">
              <a:xfrm>
                <a:off x="4782" y="3094"/>
                <a:ext cx="0" cy="47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8144" name="Line 144"/>
              <p:cNvSpPr>
                <a:spLocks noChangeShapeType="1"/>
              </p:cNvSpPr>
              <p:nvPr/>
            </p:nvSpPr>
            <p:spPr bwMode="auto">
              <a:xfrm>
                <a:off x="3521" y="3519"/>
                <a:ext cx="127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408145" name="Object 1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6934424"/>
                  </p:ext>
                </p:extLst>
              </p:nvPr>
            </p:nvGraphicFramePr>
            <p:xfrm>
              <a:off x="3536" y="3317"/>
              <a:ext cx="1185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2112" name="公式" r:id="rId7" imgW="1028520" imgH="228600" progId="Equation.3">
                      <p:embed/>
                    </p:oleObj>
                  </mc:Choice>
                  <mc:Fallback>
                    <p:oleObj name="公式" r:id="rId7" imgW="102852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 l="-8734" r="-8734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6" y="3317"/>
                            <a:ext cx="1185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08146" name="Text Box 146"/>
            <p:cNvSpPr txBox="1">
              <a:spLocks noChangeArrowheads="1"/>
            </p:cNvSpPr>
            <p:nvPr/>
          </p:nvSpPr>
          <p:spPr bwMode="auto">
            <a:xfrm>
              <a:off x="3513" y="1818"/>
              <a:ext cx="570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064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128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192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25600" defTabSz="81280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828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400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972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54400" defTabSz="812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H</a:t>
              </a:r>
              <a:r>
                <a:rPr lang="en-US" altLang="zh-CN" sz="16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16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+</a:t>
              </a:r>
              <a:r>
                <a:rPr lang="en-US" altLang="zh-CN" sz="16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lang="en-US" altLang="zh-CN" sz="16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r>
                <a:rPr lang="en-US" altLang="zh-CN" sz="16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16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lang="en-US" altLang="zh-CN" sz="16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08147" name="Line 147"/>
            <p:cNvSpPr>
              <a:spLocks noChangeShapeType="1"/>
            </p:cNvSpPr>
            <p:nvPr/>
          </p:nvSpPr>
          <p:spPr bwMode="auto">
            <a:xfrm>
              <a:off x="3517" y="1788"/>
              <a:ext cx="5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08148" name="Freeform 148"/>
          <p:cNvSpPr>
            <a:spLocks/>
          </p:cNvSpPr>
          <p:nvPr/>
        </p:nvSpPr>
        <p:spPr bwMode="auto">
          <a:xfrm>
            <a:off x="5592763" y="1136650"/>
            <a:ext cx="1138237" cy="3597275"/>
          </a:xfrm>
          <a:custGeom>
            <a:avLst/>
            <a:gdLst>
              <a:gd name="T0" fmla="*/ 0 w 717"/>
              <a:gd name="T1" fmla="*/ 0 h 2266"/>
              <a:gd name="T2" fmla="*/ 226 w 717"/>
              <a:gd name="T3" fmla="*/ 551 h 2266"/>
              <a:gd name="T4" fmla="*/ 419 w 717"/>
              <a:gd name="T5" fmla="*/ 551 h 2266"/>
              <a:gd name="T6" fmla="*/ 717 w 717"/>
              <a:gd name="T7" fmla="*/ 2266 h 2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7" h="2266">
                <a:moveTo>
                  <a:pt x="0" y="0"/>
                </a:moveTo>
                <a:lnTo>
                  <a:pt x="226" y="551"/>
                </a:lnTo>
                <a:lnTo>
                  <a:pt x="419" y="551"/>
                </a:lnTo>
                <a:lnTo>
                  <a:pt x="717" y="2266"/>
                </a:ln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9" name="Rectangle 33"/>
          <p:cNvSpPr>
            <a:spLocks noChangeArrowheads="1"/>
          </p:cNvSpPr>
          <p:nvPr/>
        </p:nvSpPr>
        <p:spPr bwMode="auto">
          <a:xfrm>
            <a:off x="2495551" y="5873750"/>
            <a:ext cx="53721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计算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毛细水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78" name="Text Box 7"/>
          <p:cNvSpPr txBox="1">
            <a:spLocks noChangeArrowheads="1"/>
          </p:cNvSpPr>
          <p:nvPr/>
        </p:nvSpPr>
        <p:spPr bwMode="auto">
          <a:xfrm>
            <a:off x="-1" y="0"/>
            <a:ext cx="498976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毛细水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1226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8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0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0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0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140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40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40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08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08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08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08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40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408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408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408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408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140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140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140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8080" grpId="0" build="p" autoUpdateAnimBg="0"/>
      <p:bldP spid="1408085" grpId="0" animBg="1"/>
      <p:bldP spid="1408102" grpId="0"/>
      <p:bldP spid="1408105" grpId="0"/>
      <p:bldP spid="1408106" grpId="0"/>
      <p:bldP spid="1408107" grpId="0"/>
      <p:bldP spid="1408108" grpId="0"/>
      <p:bldP spid="1408109" grpId="0"/>
      <p:bldP spid="1408130" grpId="0" animBg="1"/>
      <p:bldP spid="14081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045" name="Rectangle 21"/>
          <p:cNvSpPr>
            <a:spLocks noChangeArrowheads="1"/>
          </p:cNvSpPr>
          <p:nvPr/>
        </p:nvSpPr>
        <p:spPr bwMode="auto">
          <a:xfrm>
            <a:off x="0" y="1257300"/>
            <a:ext cx="9144000" cy="408463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09047" name="Rectangle 23"/>
          <p:cNvSpPr>
            <a:spLocks noChangeArrowheads="1"/>
          </p:cNvSpPr>
          <p:nvPr/>
        </p:nvSpPr>
        <p:spPr bwMode="auto">
          <a:xfrm>
            <a:off x="317500" y="595313"/>
            <a:ext cx="298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稳定渗流条件：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09048" name="Group 24"/>
          <p:cNvGrpSpPr>
            <a:grpSpLocks/>
          </p:cNvGrpSpPr>
          <p:nvPr/>
        </p:nvGrpSpPr>
        <p:grpSpPr bwMode="auto">
          <a:xfrm>
            <a:off x="5210175" y="1289050"/>
            <a:ext cx="3098800" cy="4032250"/>
            <a:chOff x="3277" y="818"/>
            <a:chExt cx="1838" cy="2540"/>
          </a:xfrm>
        </p:grpSpPr>
        <p:sp>
          <p:nvSpPr>
            <p:cNvPr id="1409049" name="Rectangle 25" descr="5%"/>
            <p:cNvSpPr>
              <a:spLocks noChangeArrowheads="1"/>
            </p:cNvSpPr>
            <p:nvPr/>
          </p:nvSpPr>
          <p:spPr bwMode="auto">
            <a:xfrm>
              <a:off x="3277" y="2483"/>
              <a:ext cx="1801" cy="400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accent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09050" name="Rectangle 26"/>
            <p:cNvSpPr>
              <a:spLocks noChangeArrowheads="1"/>
            </p:cNvSpPr>
            <p:nvPr/>
          </p:nvSpPr>
          <p:spPr bwMode="auto">
            <a:xfrm>
              <a:off x="3278" y="1551"/>
              <a:ext cx="1801" cy="94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09051" name="Freeform 27"/>
            <p:cNvSpPr>
              <a:spLocks/>
            </p:cNvSpPr>
            <p:nvPr/>
          </p:nvSpPr>
          <p:spPr bwMode="auto">
            <a:xfrm>
              <a:off x="3286" y="2487"/>
              <a:ext cx="1767" cy="2"/>
            </a:xfrm>
            <a:custGeom>
              <a:avLst/>
              <a:gdLst>
                <a:gd name="T0" fmla="*/ 0 w 1767"/>
                <a:gd name="T1" fmla="*/ 0 h 2"/>
                <a:gd name="T2" fmla="*/ 1767 w 176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67" h="2">
                  <a:moveTo>
                    <a:pt x="0" y="0"/>
                  </a:moveTo>
                  <a:lnTo>
                    <a:pt x="1767" y="2"/>
                  </a:lnTo>
                </a:path>
              </a:pathLst>
            </a:cu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52" name="Line 28"/>
            <p:cNvSpPr>
              <a:spLocks noChangeShapeType="1"/>
            </p:cNvSpPr>
            <p:nvPr/>
          </p:nvSpPr>
          <p:spPr bwMode="auto">
            <a:xfrm flipH="1">
              <a:off x="3339" y="1557"/>
              <a:ext cx="1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53" name="Text Box 29"/>
            <p:cNvSpPr txBox="1">
              <a:spLocks noChangeArrowheads="1"/>
            </p:cNvSpPr>
            <p:nvPr/>
          </p:nvSpPr>
          <p:spPr bwMode="auto">
            <a:xfrm>
              <a:off x="3378" y="1869"/>
              <a:ext cx="1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9054" name="Freeform 30"/>
            <p:cNvSpPr>
              <a:spLocks/>
            </p:cNvSpPr>
            <p:nvPr/>
          </p:nvSpPr>
          <p:spPr bwMode="auto">
            <a:xfrm>
              <a:off x="4410" y="2027"/>
              <a:ext cx="590" cy="1"/>
            </a:xfrm>
            <a:custGeom>
              <a:avLst/>
              <a:gdLst>
                <a:gd name="T0" fmla="*/ 0 w 590"/>
                <a:gd name="T1" fmla="*/ 0 h 1"/>
                <a:gd name="T2" fmla="*/ 590 w 590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90" h="1">
                  <a:moveTo>
                    <a:pt x="0" y="0"/>
                  </a:moveTo>
                  <a:lnTo>
                    <a:pt x="59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55" name="Freeform 31"/>
            <p:cNvSpPr>
              <a:spLocks/>
            </p:cNvSpPr>
            <p:nvPr/>
          </p:nvSpPr>
          <p:spPr bwMode="auto">
            <a:xfrm>
              <a:off x="4716" y="1549"/>
              <a:ext cx="1" cy="494"/>
            </a:xfrm>
            <a:custGeom>
              <a:avLst/>
              <a:gdLst>
                <a:gd name="T0" fmla="*/ 0 w 1"/>
                <a:gd name="T1" fmla="*/ 0 h 494"/>
                <a:gd name="T2" fmla="*/ 0 w 1"/>
                <a:gd name="T3" fmla="*/ 494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94">
                  <a:moveTo>
                    <a:pt x="0" y="0"/>
                  </a:moveTo>
                  <a:lnTo>
                    <a:pt x="0" y="4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56" name="Text Box 32"/>
            <p:cNvSpPr txBox="1">
              <a:spLocks noChangeArrowheads="1"/>
            </p:cNvSpPr>
            <p:nvPr/>
          </p:nvSpPr>
          <p:spPr bwMode="auto">
            <a:xfrm>
              <a:off x="4384" y="1673"/>
              <a:ext cx="2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sz="2400" b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Δ</a:t>
              </a:r>
              <a:r>
                <a:rPr lang="el-GR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409057" name="AutoShape 33"/>
            <p:cNvSpPr>
              <a:spLocks noChangeArrowheads="1"/>
            </p:cNvSpPr>
            <p:nvPr/>
          </p:nvSpPr>
          <p:spPr bwMode="auto">
            <a:xfrm flipV="1">
              <a:off x="4013" y="1756"/>
              <a:ext cx="317" cy="471"/>
            </a:xfrm>
            <a:prstGeom prst="upArrow">
              <a:avLst>
                <a:gd name="adj1" fmla="val 50000"/>
                <a:gd name="adj2" fmla="val 37145"/>
              </a:avLst>
            </a:prstGeom>
            <a:solidFill>
              <a:srgbClr val="0000FF"/>
            </a:solidFill>
            <a:ln w="1905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/>
            <a:p>
              <a:endParaRPr lang="zh-CN" altLang="en-US"/>
            </a:p>
          </p:txBody>
        </p:sp>
        <p:sp>
          <p:nvSpPr>
            <p:cNvPr id="1409058" name="Text Box 34"/>
            <p:cNvSpPr txBox="1">
              <a:spLocks noChangeArrowheads="1"/>
            </p:cNvSpPr>
            <p:nvPr/>
          </p:nvSpPr>
          <p:spPr bwMode="auto">
            <a:xfrm>
              <a:off x="3603" y="2605"/>
              <a:ext cx="99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砂层（排水）</a:t>
              </a:r>
            </a:p>
          </p:txBody>
        </p:sp>
        <p:sp>
          <p:nvSpPr>
            <p:cNvPr id="1409059" name="Freeform 35"/>
            <p:cNvSpPr>
              <a:spLocks/>
            </p:cNvSpPr>
            <p:nvPr/>
          </p:nvSpPr>
          <p:spPr bwMode="auto">
            <a:xfrm>
              <a:off x="4898" y="818"/>
              <a:ext cx="5" cy="1772"/>
            </a:xfrm>
            <a:custGeom>
              <a:avLst/>
              <a:gdLst>
                <a:gd name="T0" fmla="*/ 0 w 5"/>
                <a:gd name="T1" fmla="*/ 0 h 1772"/>
                <a:gd name="T2" fmla="*/ 5 w 5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772">
                  <a:moveTo>
                    <a:pt x="0" y="0"/>
                  </a:moveTo>
                  <a:lnTo>
                    <a:pt x="5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409060" name="Freeform 36"/>
            <p:cNvSpPr>
              <a:spLocks/>
            </p:cNvSpPr>
            <p:nvPr/>
          </p:nvSpPr>
          <p:spPr bwMode="auto">
            <a:xfrm>
              <a:off x="4948" y="818"/>
              <a:ext cx="1" cy="1772"/>
            </a:xfrm>
            <a:custGeom>
              <a:avLst/>
              <a:gdLst>
                <a:gd name="T0" fmla="*/ 1 w 1"/>
                <a:gd name="T1" fmla="*/ 0 h 1772"/>
                <a:gd name="T2" fmla="*/ 0 w 1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72">
                  <a:moveTo>
                    <a:pt x="1" y="0"/>
                  </a:moveTo>
                  <a:lnTo>
                    <a:pt x="0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409061" name="Text Box 37"/>
            <p:cNvSpPr txBox="1">
              <a:spLocks noChangeArrowheads="1"/>
            </p:cNvSpPr>
            <p:nvPr/>
          </p:nvSpPr>
          <p:spPr bwMode="auto">
            <a:xfrm>
              <a:off x="3607" y="1959"/>
              <a:ext cx="36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0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0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endParaRPr kumimoji="1" lang="el-GR" altLang="zh-CN" sz="2000" b="1" i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09062" name="Line 38"/>
            <p:cNvSpPr>
              <a:spLocks noChangeShapeType="1"/>
            </p:cNvSpPr>
            <p:nvPr/>
          </p:nvSpPr>
          <p:spPr bwMode="auto">
            <a:xfrm flipV="1">
              <a:off x="4926" y="2028"/>
              <a:ext cx="0" cy="454"/>
            </a:xfrm>
            <a:prstGeom prst="line">
              <a:avLst/>
            </a:prstGeom>
            <a:noFill/>
            <a:ln w="63500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09063" name="Text Box 39"/>
            <p:cNvSpPr txBox="1">
              <a:spLocks noChangeArrowheads="1"/>
            </p:cNvSpPr>
            <p:nvPr/>
          </p:nvSpPr>
          <p:spPr bwMode="auto">
            <a:xfrm>
              <a:off x="3969" y="3105"/>
              <a:ext cx="78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0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36000" bIns="3600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向下渗流</a:t>
              </a:r>
              <a:endParaRPr kumimoji="1" lang="en-US" altLang="zh-CN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grpSp>
          <p:nvGrpSpPr>
            <p:cNvPr id="1409064" name="Group 40"/>
            <p:cNvGrpSpPr>
              <a:grpSpLocks/>
            </p:cNvGrpSpPr>
            <p:nvPr/>
          </p:nvGrpSpPr>
          <p:grpSpPr bwMode="auto">
            <a:xfrm>
              <a:off x="3598" y="1450"/>
              <a:ext cx="182" cy="166"/>
              <a:chOff x="3067" y="1101"/>
              <a:chExt cx="182" cy="166"/>
            </a:xfrm>
          </p:grpSpPr>
          <p:sp>
            <p:nvSpPr>
              <p:cNvPr id="1409065" name="Line 41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66" name="Line 42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67" name="AutoShape 43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endParaRPr lang="zh-CN" altLang="en-US"/>
              </a:p>
            </p:txBody>
          </p:sp>
          <p:sp>
            <p:nvSpPr>
              <p:cNvPr id="1409068" name="Line 44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1409069" name="Line 45"/>
            <p:cNvSpPr>
              <a:spLocks noChangeShapeType="1"/>
            </p:cNvSpPr>
            <p:nvPr/>
          </p:nvSpPr>
          <p:spPr bwMode="auto">
            <a:xfrm>
              <a:off x="3278" y="1548"/>
              <a:ext cx="1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09070" name="Group 46"/>
          <p:cNvGrpSpPr>
            <a:grpSpLocks/>
          </p:cNvGrpSpPr>
          <p:nvPr/>
        </p:nvGrpSpPr>
        <p:grpSpPr bwMode="auto">
          <a:xfrm>
            <a:off x="982663" y="1317625"/>
            <a:ext cx="2932112" cy="3978275"/>
            <a:chOff x="649" y="816"/>
            <a:chExt cx="1837" cy="2506"/>
          </a:xfrm>
        </p:grpSpPr>
        <p:sp>
          <p:nvSpPr>
            <p:cNvPr id="1409071" name="Rectangle 47" descr="5%"/>
            <p:cNvSpPr>
              <a:spLocks noChangeArrowheads="1"/>
            </p:cNvSpPr>
            <p:nvPr/>
          </p:nvSpPr>
          <p:spPr bwMode="auto">
            <a:xfrm>
              <a:off x="655" y="2478"/>
              <a:ext cx="1801" cy="400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accent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09072" name="Rectangle 48"/>
            <p:cNvSpPr>
              <a:spLocks noChangeArrowheads="1"/>
            </p:cNvSpPr>
            <p:nvPr/>
          </p:nvSpPr>
          <p:spPr bwMode="auto">
            <a:xfrm>
              <a:off x="656" y="1546"/>
              <a:ext cx="1801" cy="94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09073" name="Freeform 49"/>
            <p:cNvSpPr>
              <a:spLocks/>
            </p:cNvSpPr>
            <p:nvPr/>
          </p:nvSpPr>
          <p:spPr bwMode="auto">
            <a:xfrm>
              <a:off x="672" y="2485"/>
              <a:ext cx="1767" cy="2"/>
            </a:xfrm>
            <a:custGeom>
              <a:avLst/>
              <a:gdLst>
                <a:gd name="T0" fmla="*/ 0 w 1767"/>
                <a:gd name="T1" fmla="*/ 0 h 2"/>
                <a:gd name="T2" fmla="*/ 1767 w 1767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67" h="2">
                  <a:moveTo>
                    <a:pt x="0" y="0"/>
                  </a:moveTo>
                  <a:lnTo>
                    <a:pt x="1767" y="2"/>
                  </a:lnTo>
                </a:path>
              </a:pathLst>
            </a:custGeom>
            <a:noFill/>
            <a:ln w="2857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1409074" name="Group 50"/>
            <p:cNvGrpSpPr>
              <a:grpSpLocks/>
            </p:cNvGrpSpPr>
            <p:nvPr/>
          </p:nvGrpSpPr>
          <p:grpSpPr bwMode="auto">
            <a:xfrm>
              <a:off x="969" y="1450"/>
              <a:ext cx="182" cy="166"/>
              <a:chOff x="3067" y="1101"/>
              <a:chExt cx="182" cy="166"/>
            </a:xfrm>
          </p:grpSpPr>
          <p:sp>
            <p:nvSpPr>
              <p:cNvPr id="1409075" name="Line 51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76" name="Line 52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77" name="AutoShape 53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 anchor="ctr"/>
              <a:lstStyle/>
              <a:p>
                <a:endParaRPr lang="zh-CN" altLang="en-US"/>
              </a:p>
            </p:txBody>
          </p:sp>
          <p:sp>
            <p:nvSpPr>
              <p:cNvPr id="1409078" name="Line 54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1409079" name="Line 55"/>
            <p:cNvSpPr>
              <a:spLocks noChangeShapeType="1"/>
            </p:cNvSpPr>
            <p:nvPr/>
          </p:nvSpPr>
          <p:spPr bwMode="auto">
            <a:xfrm flipH="1">
              <a:off x="725" y="1555"/>
              <a:ext cx="1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80" name="Text Box 56"/>
            <p:cNvSpPr txBox="1">
              <a:spLocks noChangeArrowheads="1"/>
            </p:cNvSpPr>
            <p:nvPr/>
          </p:nvSpPr>
          <p:spPr bwMode="auto">
            <a:xfrm>
              <a:off x="764" y="1867"/>
              <a:ext cx="1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9081" name="Line 57"/>
            <p:cNvSpPr>
              <a:spLocks noChangeShapeType="1"/>
            </p:cNvSpPr>
            <p:nvPr/>
          </p:nvSpPr>
          <p:spPr bwMode="auto">
            <a:xfrm>
              <a:off x="1065" y="903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82" name="Freeform 58"/>
            <p:cNvSpPr>
              <a:spLocks/>
            </p:cNvSpPr>
            <p:nvPr/>
          </p:nvSpPr>
          <p:spPr bwMode="auto">
            <a:xfrm>
              <a:off x="1881" y="900"/>
              <a:ext cx="1" cy="643"/>
            </a:xfrm>
            <a:custGeom>
              <a:avLst/>
              <a:gdLst>
                <a:gd name="T0" fmla="*/ 0 w 1"/>
                <a:gd name="T1" fmla="*/ 0 h 643"/>
                <a:gd name="T2" fmla="*/ 0 w 1"/>
                <a:gd name="T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3">
                  <a:moveTo>
                    <a:pt x="0" y="0"/>
                  </a:moveTo>
                  <a:lnTo>
                    <a:pt x="0" y="64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1409083" name="Text Box 59"/>
            <p:cNvSpPr txBox="1">
              <a:spLocks noChangeArrowheads="1"/>
            </p:cNvSpPr>
            <p:nvPr/>
          </p:nvSpPr>
          <p:spPr bwMode="auto">
            <a:xfrm>
              <a:off x="1547" y="1045"/>
              <a:ext cx="2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400" b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Δ</a:t>
              </a:r>
              <a:r>
                <a:rPr lang="el-GR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1409084" name="Group 60"/>
            <p:cNvGrpSpPr>
              <a:grpSpLocks/>
            </p:cNvGrpSpPr>
            <p:nvPr/>
          </p:nvGrpSpPr>
          <p:grpSpPr bwMode="auto">
            <a:xfrm>
              <a:off x="712" y="2497"/>
              <a:ext cx="1714" cy="197"/>
              <a:chOff x="668" y="2563"/>
              <a:chExt cx="1762" cy="273"/>
            </a:xfrm>
          </p:grpSpPr>
          <p:sp>
            <p:nvSpPr>
              <p:cNvPr id="1409085" name="Line 61"/>
              <p:cNvSpPr>
                <a:spLocks noChangeShapeType="1"/>
              </p:cNvSpPr>
              <p:nvPr/>
            </p:nvSpPr>
            <p:spPr bwMode="auto">
              <a:xfrm flipV="1">
                <a:off x="668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86" name="Line 62"/>
              <p:cNvSpPr>
                <a:spLocks noChangeShapeType="1"/>
              </p:cNvSpPr>
              <p:nvPr/>
            </p:nvSpPr>
            <p:spPr bwMode="auto">
              <a:xfrm flipV="1">
                <a:off x="864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87" name="Line 63"/>
              <p:cNvSpPr>
                <a:spLocks noChangeShapeType="1"/>
              </p:cNvSpPr>
              <p:nvPr/>
            </p:nvSpPr>
            <p:spPr bwMode="auto">
              <a:xfrm flipV="1">
                <a:off x="1056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88" name="Line 64"/>
              <p:cNvSpPr>
                <a:spLocks noChangeShapeType="1"/>
              </p:cNvSpPr>
              <p:nvPr/>
            </p:nvSpPr>
            <p:spPr bwMode="auto">
              <a:xfrm flipV="1">
                <a:off x="1252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89" name="Line 65"/>
              <p:cNvSpPr>
                <a:spLocks noChangeShapeType="1"/>
              </p:cNvSpPr>
              <p:nvPr/>
            </p:nvSpPr>
            <p:spPr bwMode="auto">
              <a:xfrm flipV="1">
                <a:off x="1445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90" name="Line 66"/>
              <p:cNvSpPr>
                <a:spLocks noChangeShapeType="1"/>
              </p:cNvSpPr>
              <p:nvPr/>
            </p:nvSpPr>
            <p:spPr bwMode="auto">
              <a:xfrm flipV="1">
                <a:off x="1641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91" name="Line 67"/>
              <p:cNvSpPr>
                <a:spLocks noChangeShapeType="1"/>
              </p:cNvSpPr>
              <p:nvPr/>
            </p:nvSpPr>
            <p:spPr bwMode="auto">
              <a:xfrm flipV="1">
                <a:off x="1833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92" name="Line 68"/>
              <p:cNvSpPr>
                <a:spLocks noChangeShapeType="1"/>
              </p:cNvSpPr>
              <p:nvPr/>
            </p:nvSpPr>
            <p:spPr bwMode="auto">
              <a:xfrm flipV="1">
                <a:off x="2029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93" name="Line 69"/>
              <p:cNvSpPr>
                <a:spLocks noChangeShapeType="1"/>
              </p:cNvSpPr>
              <p:nvPr/>
            </p:nvSpPr>
            <p:spPr bwMode="auto">
              <a:xfrm flipV="1">
                <a:off x="2234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1409094" name="Line 70"/>
              <p:cNvSpPr>
                <a:spLocks noChangeShapeType="1"/>
              </p:cNvSpPr>
              <p:nvPr/>
            </p:nvSpPr>
            <p:spPr bwMode="auto">
              <a:xfrm flipV="1">
                <a:off x="2430" y="256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1409095" name="AutoShape 71"/>
            <p:cNvSpPr>
              <a:spLocks noChangeArrowheads="1"/>
            </p:cNvSpPr>
            <p:nvPr/>
          </p:nvSpPr>
          <p:spPr bwMode="auto">
            <a:xfrm>
              <a:off x="1717" y="1754"/>
              <a:ext cx="317" cy="471"/>
            </a:xfrm>
            <a:prstGeom prst="upArrow">
              <a:avLst>
                <a:gd name="adj1" fmla="val 50000"/>
                <a:gd name="adj2" fmla="val 37145"/>
              </a:avLst>
            </a:prstGeom>
            <a:solidFill>
              <a:srgbClr val="0000FF"/>
            </a:solidFill>
            <a:ln w="1905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/>
            <a:p>
              <a:endParaRPr lang="zh-CN" altLang="en-US"/>
            </a:p>
          </p:txBody>
        </p:sp>
        <p:sp>
          <p:nvSpPr>
            <p:cNvPr id="1409096" name="Text Box 72"/>
            <p:cNvSpPr txBox="1">
              <a:spLocks noChangeArrowheads="1"/>
            </p:cNvSpPr>
            <p:nvPr/>
          </p:nvSpPr>
          <p:spPr bwMode="auto">
            <a:xfrm>
              <a:off x="1030" y="2727"/>
              <a:ext cx="119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砂层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(</a:t>
              </a: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承压水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)</a:t>
              </a:r>
            </a:p>
          </p:txBody>
        </p:sp>
        <p:sp>
          <p:nvSpPr>
            <p:cNvPr id="1409097" name="Freeform 73"/>
            <p:cNvSpPr>
              <a:spLocks/>
            </p:cNvSpPr>
            <p:nvPr/>
          </p:nvSpPr>
          <p:spPr bwMode="auto">
            <a:xfrm>
              <a:off x="2284" y="816"/>
              <a:ext cx="5" cy="1772"/>
            </a:xfrm>
            <a:custGeom>
              <a:avLst/>
              <a:gdLst>
                <a:gd name="T0" fmla="*/ 0 w 5"/>
                <a:gd name="T1" fmla="*/ 0 h 1772"/>
                <a:gd name="T2" fmla="*/ 5 w 5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772">
                  <a:moveTo>
                    <a:pt x="0" y="0"/>
                  </a:moveTo>
                  <a:lnTo>
                    <a:pt x="5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409098" name="Freeform 74"/>
            <p:cNvSpPr>
              <a:spLocks/>
            </p:cNvSpPr>
            <p:nvPr/>
          </p:nvSpPr>
          <p:spPr bwMode="auto">
            <a:xfrm>
              <a:off x="2334" y="816"/>
              <a:ext cx="1" cy="1772"/>
            </a:xfrm>
            <a:custGeom>
              <a:avLst/>
              <a:gdLst>
                <a:gd name="T0" fmla="*/ 1 w 1"/>
                <a:gd name="T1" fmla="*/ 0 h 1772"/>
                <a:gd name="T2" fmla="*/ 0 w 1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72">
                  <a:moveTo>
                    <a:pt x="1" y="0"/>
                  </a:moveTo>
                  <a:lnTo>
                    <a:pt x="0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409099" name="Text Box 75"/>
            <p:cNvSpPr txBox="1">
              <a:spLocks noChangeArrowheads="1"/>
            </p:cNvSpPr>
            <p:nvPr/>
          </p:nvSpPr>
          <p:spPr bwMode="auto">
            <a:xfrm>
              <a:off x="979" y="1811"/>
              <a:ext cx="48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黏土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层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endParaRPr kumimoji="1" lang="el-GR" altLang="zh-CN" sz="20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09100" name="Text Box 76"/>
            <p:cNvSpPr txBox="1">
              <a:spLocks noChangeArrowheads="1"/>
            </p:cNvSpPr>
            <p:nvPr/>
          </p:nvSpPr>
          <p:spPr bwMode="auto">
            <a:xfrm>
              <a:off x="1091" y="3069"/>
              <a:ext cx="79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36000" bIns="3600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向上渗流</a:t>
              </a:r>
              <a:endParaRPr kumimoji="1" lang="en-US" altLang="zh-CN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09101" name="Line 77"/>
            <p:cNvSpPr>
              <a:spLocks noChangeShapeType="1"/>
            </p:cNvSpPr>
            <p:nvPr/>
          </p:nvSpPr>
          <p:spPr bwMode="auto">
            <a:xfrm>
              <a:off x="649" y="1548"/>
              <a:ext cx="18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9102" name="Rectangle 78"/>
            <p:cNvSpPr>
              <a:spLocks noChangeArrowheads="1"/>
            </p:cNvSpPr>
            <p:nvPr/>
          </p:nvSpPr>
          <p:spPr bwMode="auto">
            <a:xfrm>
              <a:off x="2288" y="903"/>
              <a:ext cx="45" cy="1594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6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3" name="Rectangle 33"/>
          <p:cNvSpPr>
            <a:spLocks noChangeArrowheads="1"/>
          </p:cNvSpPr>
          <p:nvPr/>
        </p:nvSpPr>
        <p:spPr bwMode="auto">
          <a:xfrm>
            <a:off x="2219325" y="5816600"/>
            <a:ext cx="588644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自重应力计算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稳定渗流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稳定渗流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47309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0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09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40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904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307" name="Rectangle 19"/>
          <p:cNvSpPr>
            <a:spLocks noChangeArrowheads="1"/>
          </p:cNvSpPr>
          <p:nvPr/>
        </p:nvSpPr>
        <p:spPr bwMode="auto">
          <a:xfrm>
            <a:off x="4537075" y="790575"/>
            <a:ext cx="4464050" cy="42354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0308" name="Freeform 20"/>
          <p:cNvSpPr>
            <a:spLocks/>
          </p:cNvSpPr>
          <p:nvPr/>
        </p:nvSpPr>
        <p:spPr bwMode="auto">
          <a:xfrm>
            <a:off x="8042275" y="2114550"/>
            <a:ext cx="792163" cy="1493838"/>
          </a:xfrm>
          <a:custGeom>
            <a:avLst/>
            <a:gdLst>
              <a:gd name="T0" fmla="*/ 0 w 499"/>
              <a:gd name="T1" fmla="*/ 0 h 941"/>
              <a:gd name="T2" fmla="*/ 0 w 499"/>
              <a:gd name="T3" fmla="*/ 941 h 941"/>
              <a:gd name="T4" fmla="*/ 499 w 499"/>
              <a:gd name="T5" fmla="*/ 941 h 941"/>
              <a:gd name="T6" fmla="*/ 0 w 499"/>
              <a:gd name="T7" fmla="*/ 0 h 9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9" h="941">
                <a:moveTo>
                  <a:pt x="0" y="0"/>
                </a:moveTo>
                <a:lnTo>
                  <a:pt x="0" y="941"/>
                </a:lnTo>
                <a:lnTo>
                  <a:pt x="499" y="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0310" name="Rectangle 22"/>
          <p:cNvSpPr>
            <a:spLocks noChangeArrowheads="1"/>
          </p:cNvSpPr>
          <p:nvPr/>
        </p:nvSpPr>
        <p:spPr bwMode="auto">
          <a:xfrm>
            <a:off x="317500" y="566738"/>
            <a:ext cx="4189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稳定渗流条件：</a:t>
            </a: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向上渗流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20311" name="Group 23"/>
          <p:cNvGrpSpPr>
            <a:grpSpLocks/>
          </p:cNvGrpSpPr>
          <p:nvPr/>
        </p:nvGrpSpPr>
        <p:grpSpPr bwMode="auto">
          <a:xfrm>
            <a:off x="7405688" y="2130425"/>
            <a:ext cx="404812" cy="1895475"/>
            <a:chOff x="4665" y="1366"/>
            <a:chExt cx="255" cy="1194"/>
          </a:xfrm>
        </p:grpSpPr>
        <p:sp>
          <p:nvSpPr>
            <p:cNvPr id="1420312" name="Text Box 24"/>
            <p:cNvSpPr txBox="1">
              <a:spLocks noChangeArrowheads="1"/>
            </p:cNvSpPr>
            <p:nvPr/>
          </p:nvSpPr>
          <p:spPr bwMode="auto">
            <a:xfrm>
              <a:off x="4665" y="227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grpSp>
          <p:nvGrpSpPr>
            <p:cNvPr id="1420313" name="Group 25"/>
            <p:cNvGrpSpPr>
              <a:grpSpLocks/>
            </p:cNvGrpSpPr>
            <p:nvPr/>
          </p:nvGrpSpPr>
          <p:grpSpPr bwMode="auto">
            <a:xfrm>
              <a:off x="4683" y="1366"/>
              <a:ext cx="234" cy="958"/>
              <a:chOff x="4683" y="1366"/>
              <a:chExt cx="234" cy="958"/>
            </a:xfrm>
          </p:grpSpPr>
          <p:sp>
            <p:nvSpPr>
              <p:cNvPr id="1420314" name="Rectangle 26"/>
              <p:cNvSpPr>
                <a:spLocks noChangeArrowheads="1"/>
              </p:cNvSpPr>
              <p:nvPr/>
            </p:nvSpPr>
            <p:spPr bwMode="auto">
              <a:xfrm>
                <a:off x="4683" y="1366"/>
                <a:ext cx="234" cy="94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0315" name="Oval 27"/>
              <p:cNvSpPr>
                <a:spLocks noChangeArrowheads="1"/>
              </p:cNvSpPr>
              <p:nvPr/>
            </p:nvSpPr>
            <p:spPr bwMode="auto">
              <a:xfrm>
                <a:off x="4758" y="2258"/>
                <a:ext cx="70" cy="6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20316" name="Group 28"/>
          <p:cNvGrpSpPr>
            <a:grpSpLocks/>
          </p:cNvGrpSpPr>
          <p:nvPr/>
        </p:nvGrpSpPr>
        <p:grpSpPr bwMode="auto">
          <a:xfrm>
            <a:off x="4715175" y="968375"/>
            <a:ext cx="2206320" cy="3930650"/>
            <a:chOff x="2970" y="634"/>
            <a:chExt cx="1381" cy="2476"/>
          </a:xfrm>
        </p:grpSpPr>
        <p:sp>
          <p:nvSpPr>
            <p:cNvPr id="1420317" name="Rectangle 29" descr="5%"/>
            <p:cNvSpPr>
              <a:spLocks noChangeArrowheads="1"/>
            </p:cNvSpPr>
            <p:nvPr/>
          </p:nvSpPr>
          <p:spPr bwMode="auto">
            <a:xfrm>
              <a:off x="2992" y="2296"/>
              <a:ext cx="1340" cy="400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accent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0318" name="Rectangle 30"/>
            <p:cNvSpPr>
              <a:spLocks noChangeArrowheads="1"/>
            </p:cNvSpPr>
            <p:nvPr/>
          </p:nvSpPr>
          <p:spPr bwMode="auto">
            <a:xfrm>
              <a:off x="2993" y="1364"/>
              <a:ext cx="1340" cy="94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20319" name="Group 31"/>
            <p:cNvGrpSpPr>
              <a:grpSpLocks/>
            </p:cNvGrpSpPr>
            <p:nvPr/>
          </p:nvGrpSpPr>
          <p:grpSpPr bwMode="auto">
            <a:xfrm>
              <a:off x="3325" y="1268"/>
              <a:ext cx="182" cy="166"/>
              <a:chOff x="3067" y="1101"/>
              <a:chExt cx="182" cy="166"/>
            </a:xfrm>
          </p:grpSpPr>
          <p:sp>
            <p:nvSpPr>
              <p:cNvPr id="1420320" name="Line 32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21" name="Line 33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22" name="AutoShape 34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23" name="Line 35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20324" name="Line 36"/>
            <p:cNvSpPr>
              <a:spLocks noChangeShapeType="1"/>
            </p:cNvSpPr>
            <p:nvPr/>
          </p:nvSpPr>
          <p:spPr bwMode="auto">
            <a:xfrm flipH="1">
              <a:off x="3141" y="1373"/>
              <a:ext cx="1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25" name="Text Box 37"/>
            <p:cNvSpPr txBox="1">
              <a:spLocks noChangeArrowheads="1"/>
            </p:cNvSpPr>
            <p:nvPr/>
          </p:nvSpPr>
          <p:spPr bwMode="auto">
            <a:xfrm>
              <a:off x="3175" y="1619"/>
              <a:ext cx="1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20326" name="Line 38"/>
            <p:cNvSpPr>
              <a:spLocks noChangeShapeType="1"/>
            </p:cNvSpPr>
            <p:nvPr/>
          </p:nvSpPr>
          <p:spPr bwMode="auto">
            <a:xfrm>
              <a:off x="3517" y="721"/>
              <a:ext cx="7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27" name="Freeform 39"/>
            <p:cNvSpPr>
              <a:spLocks/>
            </p:cNvSpPr>
            <p:nvPr/>
          </p:nvSpPr>
          <p:spPr bwMode="auto">
            <a:xfrm>
              <a:off x="3757" y="718"/>
              <a:ext cx="1" cy="643"/>
            </a:xfrm>
            <a:custGeom>
              <a:avLst/>
              <a:gdLst>
                <a:gd name="T0" fmla="*/ 0 w 1"/>
                <a:gd name="T1" fmla="*/ 0 h 643"/>
                <a:gd name="T2" fmla="*/ 0 w 1"/>
                <a:gd name="T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3">
                  <a:moveTo>
                    <a:pt x="0" y="0"/>
                  </a:moveTo>
                  <a:lnTo>
                    <a:pt x="0" y="64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28" name="Text Box 40"/>
            <p:cNvSpPr txBox="1">
              <a:spLocks noChangeArrowheads="1"/>
            </p:cNvSpPr>
            <p:nvPr/>
          </p:nvSpPr>
          <p:spPr bwMode="auto">
            <a:xfrm>
              <a:off x="3458" y="863"/>
              <a:ext cx="2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sz="2400" b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h</a:t>
              </a:r>
              <a:endParaRPr lang="el-GR" sz="2400" b="1" i="1" dirty="0">
                <a:solidFill>
                  <a:srgbClr val="000066"/>
                </a:solidFill>
                <a:ea typeface="华文新魏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0329" name="Group 41"/>
            <p:cNvGrpSpPr>
              <a:grpSpLocks/>
            </p:cNvGrpSpPr>
            <p:nvPr/>
          </p:nvGrpSpPr>
          <p:grpSpPr bwMode="auto">
            <a:xfrm>
              <a:off x="2983" y="2315"/>
              <a:ext cx="1337" cy="197"/>
              <a:chOff x="4122" y="2532"/>
              <a:chExt cx="1337" cy="197"/>
            </a:xfrm>
          </p:grpSpPr>
          <p:sp>
            <p:nvSpPr>
              <p:cNvPr id="1420330" name="Line 42"/>
              <p:cNvSpPr>
                <a:spLocks noChangeShapeType="1"/>
              </p:cNvSpPr>
              <p:nvPr/>
            </p:nvSpPr>
            <p:spPr bwMode="auto">
              <a:xfrm flipV="1">
                <a:off x="4122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1" name="Line 43"/>
              <p:cNvSpPr>
                <a:spLocks noChangeShapeType="1"/>
              </p:cNvSpPr>
              <p:nvPr/>
            </p:nvSpPr>
            <p:spPr bwMode="auto">
              <a:xfrm flipV="1">
                <a:off x="4313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2" name="Line 44"/>
              <p:cNvSpPr>
                <a:spLocks noChangeShapeType="1"/>
              </p:cNvSpPr>
              <p:nvPr/>
            </p:nvSpPr>
            <p:spPr bwMode="auto">
              <a:xfrm flipV="1">
                <a:off x="4501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3" name="Line 45"/>
              <p:cNvSpPr>
                <a:spLocks noChangeShapeType="1"/>
              </p:cNvSpPr>
              <p:nvPr/>
            </p:nvSpPr>
            <p:spPr bwMode="auto">
              <a:xfrm flipV="1">
                <a:off x="4691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4" name="Line 46"/>
              <p:cNvSpPr>
                <a:spLocks noChangeShapeType="1"/>
              </p:cNvSpPr>
              <p:nvPr/>
            </p:nvSpPr>
            <p:spPr bwMode="auto">
              <a:xfrm flipV="1">
                <a:off x="4878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5" name="Line 47"/>
              <p:cNvSpPr>
                <a:spLocks noChangeShapeType="1"/>
              </p:cNvSpPr>
              <p:nvPr/>
            </p:nvSpPr>
            <p:spPr bwMode="auto">
              <a:xfrm flipV="1">
                <a:off x="5069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6" name="Line 48"/>
              <p:cNvSpPr>
                <a:spLocks noChangeShapeType="1"/>
              </p:cNvSpPr>
              <p:nvPr/>
            </p:nvSpPr>
            <p:spPr bwMode="auto">
              <a:xfrm flipV="1">
                <a:off x="5268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0337" name="Line 49"/>
              <p:cNvSpPr>
                <a:spLocks noChangeShapeType="1"/>
              </p:cNvSpPr>
              <p:nvPr/>
            </p:nvSpPr>
            <p:spPr bwMode="auto">
              <a:xfrm flipV="1">
                <a:off x="5459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20338" name="AutoShape 50"/>
            <p:cNvSpPr>
              <a:spLocks noChangeArrowheads="1"/>
            </p:cNvSpPr>
            <p:nvPr/>
          </p:nvSpPr>
          <p:spPr bwMode="auto">
            <a:xfrm>
              <a:off x="3593" y="1572"/>
              <a:ext cx="317" cy="471"/>
            </a:xfrm>
            <a:prstGeom prst="upArrow">
              <a:avLst>
                <a:gd name="adj1" fmla="val 50000"/>
                <a:gd name="adj2" fmla="val 37145"/>
              </a:avLst>
            </a:prstGeom>
            <a:solidFill>
              <a:srgbClr val="0000FF"/>
            </a:solidFill>
            <a:ln w="1905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39" name="Text Box 51"/>
            <p:cNvSpPr txBox="1">
              <a:spLocks noChangeArrowheads="1"/>
            </p:cNvSpPr>
            <p:nvPr/>
          </p:nvSpPr>
          <p:spPr bwMode="auto">
            <a:xfrm>
              <a:off x="3276" y="2545"/>
              <a:ext cx="107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砂层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(</a:t>
              </a: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承压水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)</a:t>
              </a:r>
            </a:p>
          </p:txBody>
        </p:sp>
        <p:sp>
          <p:nvSpPr>
            <p:cNvPr id="1420340" name="Freeform 52"/>
            <p:cNvSpPr>
              <a:spLocks/>
            </p:cNvSpPr>
            <p:nvPr/>
          </p:nvSpPr>
          <p:spPr bwMode="auto">
            <a:xfrm>
              <a:off x="4160" y="634"/>
              <a:ext cx="5" cy="1772"/>
            </a:xfrm>
            <a:custGeom>
              <a:avLst/>
              <a:gdLst>
                <a:gd name="T0" fmla="*/ 0 w 5"/>
                <a:gd name="T1" fmla="*/ 0 h 1772"/>
                <a:gd name="T2" fmla="*/ 5 w 5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772">
                  <a:moveTo>
                    <a:pt x="0" y="0"/>
                  </a:moveTo>
                  <a:lnTo>
                    <a:pt x="5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41" name="Freeform 53"/>
            <p:cNvSpPr>
              <a:spLocks/>
            </p:cNvSpPr>
            <p:nvPr/>
          </p:nvSpPr>
          <p:spPr bwMode="auto">
            <a:xfrm>
              <a:off x="4210" y="634"/>
              <a:ext cx="1" cy="1772"/>
            </a:xfrm>
            <a:custGeom>
              <a:avLst/>
              <a:gdLst>
                <a:gd name="T0" fmla="*/ 1 w 1"/>
                <a:gd name="T1" fmla="*/ 0 h 1772"/>
                <a:gd name="T2" fmla="*/ 0 w 1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72">
                  <a:moveTo>
                    <a:pt x="1" y="0"/>
                  </a:moveTo>
                  <a:lnTo>
                    <a:pt x="0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42" name="Text Box 54"/>
            <p:cNvSpPr txBox="1">
              <a:spLocks noChangeArrowheads="1"/>
            </p:cNvSpPr>
            <p:nvPr/>
          </p:nvSpPr>
          <p:spPr bwMode="auto">
            <a:xfrm>
              <a:off x="3212" y="1852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endParaRPr kumimoji="1" lang="el-GR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0343" name="Text Box 55"/>
            <p:cNvSpPr txBox="1">
              <a:spLocks noChangeArrowheads="1"/>
            </p:cNvSpPr>
            <p:nvPr/>
          </p:nvSpPr>
          <p:spPr bwMode="auto">
            <a:xfrm>
              <a:off x="3274" y="2857"/>
              <a:ext cx="79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36000" bIns="3600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向上渗流</a:t>
              </a:r>
              <a:endPara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20344" name="Line 56"/>
            <p:cNvSpPr>
              <a:spLocks noChangeShapeType="1"/>
            </p:cNvSpPr>
            <p:nvPr/>
          </p:nvSpPr>
          <p:spPr bwMode="auto">
            <a:xfrm>
              <a:off x="2976" y="1366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0345" name="Rectangle 57"/>
            <p:cNvSpPr>
              <a:spLocks noChangeArrowheads="1"/>
            </p:cNvSpPr>
            <p:nvPr/>
          </p:nvSpPr>
          <p:spPr bwMode="auto">
            <a:xfrm>
              <a:off x="4164" y="721"/>
              <a:ext cx="45" cy="1594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46" name="Line 58"/>
            <p:cNvSpPr>
              <a:spLocks noChangeShapeType="1"/>
            </p:cNvSpPr>
            <p:nvPr/>
          </p:nvSpPr>
          <p:spPr bwMode="auto">
            <a:xfrm>
              <a:off x="2970" y="2299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20347" name="AutoShape 59"/>
          <p:cNvSpPr>
            <a:spLocks noChangeArrowheads="1"/>
          </p:cNvSpPr>
          <p:nvPr/>
        </p:nvSpPr>
        <p:spPr bwMode="auto">
          <a:xfrm>
            <a:off x="7040563" y="1352550"/>
            <a:ext cx="1770062" cy="384175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土水整体分析</a:t>
            </a:r>
          </a:p>
        </p:txBody>
      </p:sp>
      <p:grpSp>
        <p:nvGrpSpPr>
          <p:cNvPr id="1420348" name="Group 60"/>
          <p:cNvGrpSpPr>
            <a:grpSpLocks/>
          </p:cNvGrpSpPr>
          <p:nvPr/>
        </p:nvGrpSpPr>
        <p:grpSpPr bwMode="auto">
          <a:xfrm>
            <a:off x="7810503" y="3657600"/>
            <a:ext cx="1244601" cy="619125"/>
            <a:chOff x="4920" y="2328"/>
            <a:chExt cx="784" cy="390"/>
          </a:xfrm>
        </p:grpSpPr>
        <p:graphicFrame>
          <p:nvGraphicFramePr>
            <p:cNvPr id="142034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2851902"/>
                </p:ext>
              </p:extLst>
            </p:nvPr>
          </p:nvGraphicFramePr>
          <p:xfrm>
            <a:off x="4920" y="2512"/>
            <a:ext cx="78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2998" name="公式" r:id="rId3" imgW="749160" imgH="228600" progId="Equation.3">
                    <p:embed/>
                  </p:oleObj>
                </mc:Choice>
                <mc:Fallback>
                  <p:oleObj name="公式" r:id="rId3" imgW="749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 l="-8231" r="-8231"/>
                        <a:stretch>
                          <a:fillRect/>
                        </a:stretch>
                      </p:blipFill>
                      <p:spPr bwMode="auto">
                        <a:xfrm>
                          <a:off x="4920" y="2512"/>
                          <a:ext cx="78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0350" name="Line 62"/>
            <p:cNvSpPr>
              <a:spLocks noChangeShapeType="1"/>
            </p:cNvSpPr>
            <p:nvPr/>
          </p:nvSpPr>
          <p:spPr bwMode="auto">
            <a:xfrm>
              <a:off x="5569" y="2331"/>
              <a:ext cx="0" cy="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51" name="Line 63"/>
            <p:cNvSpPr>
              <a:spLocks noChangeShapeType="1"/>
            </p:cNvSpPr>
            <p:nvPr/>
          </p:nvSpPr>
          <p:spPr bwMode="auto">
            <a:xfrm>
              <a:off x="5064" y="2328"/>
              <a:ext cx="0" cy="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20352" name="Line 64"/>
            <p:cNvSpPr>
              <a:spLocks noChangeShapeType="1"/>
            </p:cNvSpPr>
            <p:nvPr/>
          </p:nvSpPr>
          <p:spPr bwMode="auto">
            <a:xfrm>
              <a:off x="5072" y="2432"/>
              <a:ext cx="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20353" name="Text Box 65"/>
          <p:cNvSpPr txBox="1">
            <a:spLocks noChangeArrowheads="1"/>
          </p:cNvSpPr>
          <p:nvPr/>
        </p:nvSpPr>
        <p:spPr bwMode="auto">
          <a:xfrm>
            <a:off x="690563" y="1093788"/>
            <a:ext cx="3094037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总应力：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单位土柱和水柱的总重量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0354" name="Text Box 66"/>
          <p:cNvSpPr txBox="1">
            <a:spLocks noChangeArrowheads="1"/>
          </p:cNvSpPr>
          <p:nvPr/>
        </p:nvSpPr>
        <p:spPr bwMode="auto">
          <a:xfrm>
            <a:off x="1203325" y="2001838"/>
            <a:ext cx="2298700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lang="zh-CN" altLang="en-US" sz="2400" i="1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0355" name="Text Box 67"/>
          <p:cNvSpPr txBox="1">
            <a:spLocks noChangeArrowheads="1"/>
          </p:cNvSpPr>
          <p:nvPr/>
        </p:nvSpPr>
        <p:spPr bwMode="auto">
          <a:xfrm>
            <a:off x="695325" y="2549525"/>
            <a:ext cx="3506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孔隙水压力：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净水压强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0356" name="Text Box 68"/>
          <p:cNvSpPr txBox="1">
            <a:spLocks noChangeArrowheads="1"/>
          </p:cNvSpPr>
          <p:nvPr/>
        </p:nvSpPr>
        <p:spPr bwMode="auto">
          <a:xfrm>
            <a:off x="1247775" y="3013075"/>
            <a:ext cx="1927131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(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+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)</a:t>
            </a:r>
            <a:endParaRPr lang="zh-CN" altLang="en-US" sz="2400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0357" name="Text Box 69"/>
          <p:cNvSpPr txBox="1">
            <a:spLocks noChangeArrowheads="1"/>
          </p:cNvSpPr>
          <p:nvPr/>
        </p:nvSpPr>
        <p:spPr bwMode="auto">
          <a:xfrm>
            <a:off x="698500" y="3579813"/>
            <a:ext cx="22701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有效应力：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20358" name="Text Box 70"/>
          <p:cNvSpPr txBox="1">
            <a:spLocks noChangeArrowheads="1"/>
          </p:cNvSpPr>
          <p:nvPr/>
        </p:nvSpPr>
        <p:spPr bwMode="auto">
          <a:xfrm>
            <a:off x="1095375" y="4016375"/>
            <a:ext cx="2765425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u</a:t>
            </a:r>
            <a:endParaRPr kumimoji="1" lang="en-US" altLang="zh-CN" sz="2400" b="1" i="1" baseline="-25000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H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0359" name="Text Box 71"/>
          <p:cNvSpPr txBox="1">
            <a:spLocks noChangeArrowheads="1"/>
          </p:cNvSpPr>
          <p:nvPr/>
        </p:nvSpPr>
        <p:spPr bwMode="auto">
          <a:xfrm>
            <a:off x="3552825" y="5260975"/>
            <a:ext cx="546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渗透压力，向上渗流使得有效应力减小</a:t>
            </a:r>
          </a:p>
        </p:txBody>
      </p:sp>
      <p:sp>
        <p:nvSpPr>
          <p:cNvPr id="1420360" name="Freeform 72"/>
          <p:cNvSpPr>
            <a:spLocks/>
          </p:cNvSpPr>
          <p:nvPr/>
        </p:nvSpPr>
        <p:spPr bwMode="auto">
          <a:xfrm>
            <a:off x="2609850" y="5380038"/>
            <a:ext cx="854075" cy="184150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9" name="Rectangle 33"/>
          <p:cNvSpPr>
            <a:spLocks noChangeArrowheads="1"/>
          </p:cNvSpPr>
          <p:nvPr/>
        </p:nvSpPr>
        <p:spPr bwMode="auto">
          <a:xfrm>
            <a:off x="2409825" y="5835650"/>
            <a:ext cx="569594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稳定渗流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-1" y="0"/>
            <a:ext cx="508158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稳定渗流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4969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0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142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142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4203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420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420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8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42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20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20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2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2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20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2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2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2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42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42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42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42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142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142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42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42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0307" grpId="0" animBg="1"/>
      <p:bldP spid="1420308" grpId="0" animBg="1"/>
      <p:bldP spid="1420310" grpId="0" build="p" autoUpdateAnimBg="0"/>
      <p:bldP spid="1420347" grpId="0" animBg="1"/>
      <p:bldP spid="1420353" grpId="0"/>
      <p:bldP spid="1420354" grpId="0"/>
      <p:bldP spid="1420355" grpId="0"/>
      <p:bldP spid="1420356" grpId="0"/>
      <p:bldP spid="1420357" grpId="0"/>
      <p:bldP spid="1420358" grpId="0"/>
      <p:bldP spid="1420359" grpId="0"/>
      <p:bldP spid="142036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78" name="Rectangle 14"/>
          <p:cNvSpPr>
            <a:spLocks noChangeArrowheads="1"/>
          </p:cNvSpPr>
          <p:nvPr/>
        </p:nvSpPr>
        <p:spPr bwMode="auto">
          <a:xfrm>
            <a:off x="4568825" y="857250"/>
            <a:ext cx="4464050" cy="373856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9280" name="Rectangle 16"/>
          <p:cNvSpPr>
            <a:spLocks noChangeArrowheads="1"/>
          </p:cNvSpPr>
          <p:nvPr/>
        </p:nvSpPr>
        <p:spPr bwMode="auto">
          <a:xfrm>
            <a:off x="317500" y="557213"/>
            <a:ext cx="4189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稳定渗流条件：</a:t>
            </a: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向下渗流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19281" name="Group 17"/>
          <p:cNvGrpSpPr>
            <a:grpSpLocks/>
          </p:cNvGrpSpPr>
          <p:nvPr/>
        </p:nvGrpSpPr>
        <p:grpSpPr bwMode="auto">
          <a:xfrm>
            <a:off x="7437438" y="1806575"/>
            <a:ext cx="404812" cy="1895475"/>
            <a:chOff x="4675" y="1128"/>
            <a:chExt cx="255" cy="1194"/>
          </a:xfrm>
        </p:grpSpPr>
        <p:sp>
          <p:nvSpPr>
            <p:cNvPr id="1419282" name="Rectangle 18"/>
            <p:cNvSpPr>
              <a:spLocks noChangeArrowheads="1"/>
            </p:cNvSpPr>
            <p:nvPr/>
          </p:nvSpPr>
          <p:spPr bwMode="auto">
            <a:xfrm>
              <a:off x="4693" y="1128"/>
              <a:ext cx="234" cy="9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9283" name="Oval 19"/>
            <p:cNvSpPr>
              <a:spLocks noChangeArrowheads="1"/>
            </p:cNvSpPr>
            <p:nvPr/>
          </p:nvSpPr>
          <p:spPr bwMode="auto">
            <a:xfrm>
              <a:off x="4768" y="2020"/>
              <a:ext cx="70" cy="6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9284" name="Text Box 20"/>
            <p:cNvSpPr txBox="1">
              <a:spLocks noChangeArrowheads="1"/>
            </p:cNvSpPr>
            <p:nvPr/>
          </p:nvSpPr>
          <p:spPr bwMode="auto">
            <a:xfrm>
              <a:off x="4675" y="2034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sp>
        <p:nvSpPr>
          <p:cNvPr id="1419285" name="AutoShape 21"/>
          <p:cNvSpPr>
            <a:spLocks noChangeArrowheads="1"/>
          </p:cNvSpPr>
          <p:nvPr/>
        </p:nvSpPr>
        <p:spPr bwMode="auto">
          <a:xfrm>
            <a:off x="7072313" y="1028700"/>
            <a:ext cx="1770062" cy="384175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0066"/>
                </a:solidFill>
                <a:latin typeface="Arial" charset="0"/>
                <a:ea typeface="幼圆" pitchFamily="49" charset="-122"/>
              </a:rPr>
              <a:t>土水整体分析</a:t>
            </a:r>
          </a:p>
        </p:txBody>
      </p:sp>
      <p:grpSp>
        <p:nvGrpSpPr>
          <p:cNvPr id="1419286" name="Group 22"/>
          <p:cNvGrpSpPr>
            <a:grpSpLocks/>
          </p:cNvGrpSpPr>
          <p:nvPr/>
        </p:nvGrpSpPr>
        <p:grpSpPr bwMode="auto">
          <a:xfrm>
            <a:off x="7832728" y="1790700"/>
            <a:ext cx="1244601" cy="2162175"/>
            <a:chOff x="4924" y="1118"/>
            <a:chExt cx="784" cy="1362"/>
          </a:xfrm>
        </p:grpSpPr>
        <p:sp>
          <p:nvSpPr>
            <p:cNvPr id="1419287" name="Freeform 23"/>
            <p:cNvSpPr>
              <a:spLocks/>
            </p:cNvSpPr>
            <p:nvPr/>
          </p:nvSpPr>
          <p:spPr bwMode="auto">
            <a:xfrm>
              <a:off x="5076" y="1118"/>
              <a:ext cx="499" cy="941"/>
            </a:xfrm>
            <a:custGeom>
              <a:avLst/>
              <a:gdLst>
                <a:gd name="T0" fmla="*/ 0 w 499"/>
                <a:gd name="T1" fmla="*/ 0 h 941"/>
                <a:gd name="T2" fmla="*/ 0 w 499"/>
                <a:gd name="T3" fmla="*/ 941 h 941"/>
                <a:gd name="T4" fmla="*/ 499 w 499"/>
                <a:gd name="T5" fmla="*/ 941 h 941"/>
                <a:gd name="T6" fmla="*/ 0 w 499"/>
                <a:gd name="T7" fmla="*/ 0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941">
                  <a:moveTo>
                    <a:pt x="0" y="0"/>
                  </a:moveTo>
                  <a:lnTo>
                    <a:pt x="0" y="941"/>
                  </a:lnTo>
                  <a:lnTo>
                    <a:pt x="499" y="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19288" name="Group 24"/>
            <p:cNvGrpSpPr>
              <a:grpSpLocks/>
            </p:cNvGrpSpPr>
            <p:nvPr/>
          </p:nvGrpSpPr>
          <p:grpSpPr bwMode="auto">
            <a:xfrm>
              <a:off x="4924" y="2090"/>
              <a:ext cx="784" cy="390"/>
              <a:chOff x="4924" y="2090"/>
              <a:chExt cx="784" cy="390"/>
            </a:xfrm>
          </p:grpSpPr>
          <p:graphicFrame>
            <p:nvGraphicFramePr>
              <p:cNvPr id="1419289" name="Object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4380645"/>
                  </p:ext>
                </p:extLst>
              </p:nvPr>
            </p:nvGraphicFramePr>
            <p:xfrm>
              <a:off x="4924" y="2274"/>
              <a:ext cx="78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4022" name="公式" r:id="rId3" imgW="749160" imgH="228600" progId="Equation.3">
                      <p:embed/>
                    </p:oleObj>
                  </mc:Choice>
                  <mc:Fallback>
                    <p:oleObj name="公式" r:id="rId3" imgW="74916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 l="-8231" r="-8231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4" y="2274"/>
                            <a:ext cx="784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00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19290" name="Line 26"/>
              <p:cNvSpPr>
                <a:spLocks noChangeShapeType="1"/>
              </p:cNvSpPr>
              <p:nvPr/>
            </p:nvSpPr>
            <p:spPr bwMode="auto">
              <a:xfrm>
                <a:off x="5579" y="2093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291" name="Line 27"/>
              <p:cNvSpPr>
                <a:spLocks noChangeShapeType="1"/>
              </p:cNvSpPr>
              <p:nvPr/>
            </p:nvSpPr>
            <p:spPr bwMode="auto">
              <a:xfrm>
                <a:off x="5074" y="2090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292" name="Line 28"/>
              <p:cNvSpPr>
                <a:spLocks noChangeShapeType="1"/>
              </p:cNvSpPr>
              <p:nvPr/>
            </p:nvSpPr>
            <p:spPr bwMode="auto">
              <a:xfrm>
                <a:off x="5082" y="2194"/>
                <a:ext cx="5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419293" name="Group 29"/>
          <p:cNvGrpSpPr>
            <a:grpSpLocks/>
          </p:cNvGrpSpPr>
          <p:nvPr/>
        </p:nvGrpSpPr>
        <p:grpSpPr bwMode="auto">
          <a:xfrm>
            <a:off x="690563" y="1084264"/>
            <a:ext cx="3189287" cy="512763"/>
            <a:chOff x="435" y="713"/>
            <a:chExt cx="2009" cy="323"/>
          </a:xfrm>
        </p:grpSpPr>
        <p:sp>
          <p:nvSpPr>
            <p:cNvPr id="1419294" name="Text Box 30"/>
            <p:cNvSpPr txBox="1">
              <a:spLocks noChangeArrowheads="1"/>
            </p:cNvSpPr>
            <p:nvPr/>
          </p:nvSpPr>
          <p:spPr bwMode="auto">
            <a:xfrm>
              <a:off x="435" y="713"/>
              <a:ext cx="194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274638" indent="-2746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buClr>
                  <a:srgbClr val="A50021"/>
                </a:buClr>
                <a:buSzPct val="120000"/>
                <a:buFontTx/>
                <a:buChar char="•"/>
              </a:pPr>
              <a:r>
                <a:rPr kumimoji="0" lang="zh-CN" altLang="en-US" b="1">
                  <a:solidFill>
                    <a:srgbClr val="A50021"/>
                  </a:solidFill>
                  <a:ea typeface="幼圆" pitchFamily="49" charset="-122"/>
                </a:rPr>
                <a:t>总应力：</a:t>
              </a:r>
              <a:endParaRPr kumimoji="0" lang="en-US" altLang="zh-CN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419295" name="Text Box 31"/>
            <p:cNvSpPr txBox="1">
              <a:spLocks noChangeArrowheads="1"/>
            </p:cNvSpPr>
            <p:nvPr/>
          </p:nvSpPr>
          <p:spPr bwMode="auto">
            <a:xfrm>
              <a:off x="1428" y="717"/>
              <a:ext cx="1016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120000"/>
              </a:pPr>
              <a:r>
                <a:rPr kumimoji="1" lang="el-GR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σ</a:t>
              </a:r>
              <a:r>
                <a:rPr kumimoji="1" lang="en-US" altLang="zh-CN" sz="2400" b="1" dirty="0">
                  <a:solidFill>
                    <a:srgbClr val="000066"/>
                  </a:solidFill>
                  <a:sym typeface="Symbol" pitchFamily="18" charset="2"/>
                </a:rPr>
                <a:t> = </a:t>
              </a: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 err="1">
                  <a:solidFill>
                    <a:srgbClr val="000066"/>
                  </a:solidFill>
                  <a:sym typeface="Symbol" pitchFamily="18" charset="2"/>
                </a:rPr>
                <a:t>sat</a:t>
              </a:r>
              <a:r>
                <a:rPr kumimoji="1" lang="en-US" altLang="zh-CN" sz="2400" b="1" i="1" dirty="0" err="1">
                  <a:solidFill>
                    <a:srgbClr val="000066"/>
                  </a:solidFill>
                  <a:sym typeface="Symbol" pitchFamily="18" charset="2"/>
                </a:rPr>
                <a:t>H</a:t>
              </a:r>
              <a:endParaRPr lang="zh-CN" altLang="en-US" sz="2400" i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1419296" name="Text Box 32"/>
          <p:cNvSpPr txBox="1">
            <a:spLocks noChangeArrowheads="1"/>
          </p:cNvSpPr>
          <p:nvPr/>
        </p:nvSpPr>
        <p:spPr bwMode="auto">
          <a:xfrm>
            <a:off x="695325" y="1825625"/>
            <a:ext cx="2281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孔隙水压力：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19297" name="Text Box 33"/>
          <p:cNvSpPr txBox="1">
            <a:spLocks noChangeArrowheads="1"/>
          </p:cNvSpPr>
          <p:nvPr/>
        </p:nvSpPr>
        <p:spPr bwMode="auto">
          <a:xfrm>
            <a:off x="2184400" y="2278063"/>
            <a:ext cx="185499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(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-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)</a:t>
            </a:r>
            <a:endParaRPr lang="zh-CN" altLang="en-US" sz="2400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19298" name="Text Box 34"/>
          <p:cNvSpPr txBox="1">
            <a:spLocks noChangeArrowheads="1"/>
          </p:cNvSpPr>
          <p:nvPr/>
        </p:nvSpPr>
        <p:spPr bwMode="auto">
          <a:xfrm>
            <a:off x="677863" y="2763838"/>
            <a:ext cx="22701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有效应力：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19299" name="Text Box 35"/>
          <p:cNvSpPr txBox="1">
            <a:spLocks noChangeArrowheads="1"/>
          </p:cNvSpPr>
          <p:nvPr/>
        </p:nvSpPr>
        <p:spPr bwMode="auto">
          <a:xfrm>
            <a:off x="1074738" y="3200400"/>
            <a:ext cx="2836862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u</a:t>
            </a:r>
            <a:endParaRPr kumimoji="1" lang="en-US" altLang="zh-CN" sz="2400" b="1" i="1" baseline="-25000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=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+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419300" name="Group 36"/>
          <p:cNvGrpSpPr>
            <a:grpSpLocks/>
          </p:cNvGrpSpPr>
          <p:nvPr/>
        </p:nvGrpSpPr>
        <p:grpSpPr bwMode="auto">
          <a:xfrm>
            <a:off x="4756516" y="974725"/>
            <a:ext cx="2192033" cy="3600450"/>
            <a:chOff x="2986" y="604"/>
            <a:chExt cx="1372" cy="2268"/>
          </a:xfrm>
        </p:grpSpPr>
        <p:sp>
          <p:nvSpPr>
            <p:cNvPr id="1419301" name="Rectangle 37" descr="5%"/>
            <p:cNvSpPr>
              <a:spLocks noChangeArrowheads="1"/>
            </p:cNvSpPr>
            <p:nvPr/>
          </p:nvSpPr>
          <p:spPr bwMode="auto">
            <a:xfrm>
              <a:off x="3002" y="2058"/>
              <a:ext cx="1340" cy="400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accent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9302" name="Rectangle 38"/>
            <p:cNvSpPr>
              <a:spLocks noChangeArrowheads="1"/>
            </p:cNvSpPr>
            <p:nvPr/>
          </p:nvSpPr>
          <p:spPr bwMode="auto">
            <a:xfrm>
              <a:off x="3003" y="1126"/>
              <a:ext cx="1340" cy="94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9303" name="Group 39"/>
            <p:cNvGrpSpPr>
              <a:grpSpLocks/>
            </p:cNvGrpSpPr>
            <p:nvPr/>
          </p:nvGrpSpPr>
          <p:grpSpPr bwMode="auto">
            <a:xfrm>
              <a:off x="3335" y="1030"/>
              <a:ext cx="182" cy="166"/>
              <a:chOff x="3067" y="1101"/>
              <a:chExt cx="182" cy="166"/>
            </a:xfrm>
          </p:grpSpPr>
          <p:sp>
            <p:nvSpPr>
              <p:cNvPr id="1419304" name="Line 40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305" name="Line 41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306" name="AutoShape 42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307" name="Line 43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9308" name="Line 44"/>
            <p:cNvSpPr>
              <a:spLocks noChangeShapeType="1"/>
            </p:cNvSpPr>
            <p:nvPr/>
          </p:nvSpPr>
          <p:spPr bwMode="auto">
            <a:xfrm flipH="1">
              <a:off x="3151" y="1135"/>
              <a:ext cx="1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9309" name="Text Box 45"/>
            <p:cNvSpPr txBox="1">
              <a:spLocks noChangeArrowheads="1"/>
            </p:cNvSpPr>
            <p:nvPr/>
          </p:nvSpPr>
          <p:spPr bwMode="auto">
            <a:xfrm>
              <a:off x="3197" y="1411"/>
              <a:ext cx="1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19310" name="Line 46"/>
            <p:cNvSpPr>
              <a:spLocks noChangeShapeType="1"/>
            </p:cNvSpPr>
            <p:nvPr/>
          </p:nvSpPr>
          <p:spPr bwMode="auto">
            <a:xfrm>
              <a:off x="4035" y="1452"/>
              <a:ext cx="2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9311" name="Freeform 47"/>
            <p:cNvSpPr>
              <a:spLocks/>
            </p:cNvSpPr>
            <p:nvPr/>
          </p:nvSpPr>
          <p:spPr bwMode="auto">
            <a:xfrm flipH="1">
              <a:off x="4075" y="1118"/>
              <a:ext cx="27" cy="336"/>
            </a:xfrm>
            <a:custGeom>
              <a:avLst/>
              <a:gdLst>
                <a:gd name="T0" fmla="*/ 0 w 1"/>
                <a:gd name="T1" fmla="*/ 0 h 643"/>
                <a:gd name="T2" fmla="*/ 0 w 1"/>
                <a:gd name="T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3">
                  <a:moveTo>
                    <a:pt x="0" y="0"/>
                  </a:moveTo>
                  <a:lnTo>
                    <a:pt x="0" y="64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9312" name="Text Box 48"/>
            <p:cNvSpPr txBox="1">
              <a:spLocks noChangeArrowheads="1"/>
            </p:cNvSpPr>
            <p:nvPr/>
          </p:nvSpPr>
          <p:spPr bwMode="auto">
            <a:xfrm>
              <a:off x="3822" y="1117"/>
              <a:ext cx="2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altLang="zh-CN" sz="2400" b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h</a:t>
              </a:r>
              <a:endParaRPr lang="el-GR" sz="2400" b="1" i="1" dirty="0">
                <a:solidFill>
                  <a:srgbClr val="000066"/>
                </a:solidFill>
                <a:ea typeface="华文新魏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9313" name="AutoShape 49"/>
            <p:cNvSpPr>
              <a:spLocks noChangeArrowheads="1"/>
            </p:cNvSpPr>
            <p:nvPr/>
          </p:nvSpPr>
          <p:spPr bwMode="auto">
            <a:xfrm flipV="1">
              <a:off x="3487" y="1334"/>
              <a:ext cx="317" cy="471"/>
            </a:xfrm>
            <a:prstGeom prst="upArrow">
              <a:avLst>
                <a:gd name="adj1" fmla="val 47009"/>
                <a:gd name="adj2" fmla="val 39745"/>
              </a:avLst>
            </a:prstGeom>
            <a:solidFill>
              <a:srgbClr val="0000FF"/>
            </a:solidFill>
            <a:ln w="1905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19314" name="Group 50"/>
            <p:cNvGrpSpPr>
              <a:grpSpLocks/>
            </p:cNvGrpSpPr>
            <p:nvPr/>
          </p:nvGrpSpPr>
          <p:grpSpPr bwMode="auto">
            <a:xfrm>
              <a:off x="4230" y="604"/>
              <a:ext cx="41" cy="1564"/>
              <a:chOff x="4220" y="634"/>
              <a:chExt cx="51" cy="1772"/>
            </a:xfrm>
          </p:grpSpPr>
          <p:sp>
            <p:nvSpPr>
              <p:cNvPr id="1419315" name="Freeform 51"/>
              <p:cNvSpPr>
                <a:spLocks/>
              </p:cNvSpPr>
              <p:nvPr/>
            </p:nvSpPr>
            <p:spPr bwMode="auto">
              <a:xfrm>
                <a:off x="4220" y="634"/>
                <a:ext cx="5" cy="1772"/>
              </a:xfrm>
              <a:custGeom>
                <a:avLst/>
                <a:gdLst>
                  <a:gd name="T0" fmla="*/ 0 w 5"/>
                  <a:gd name="T1" fmla="*/ 0 h 1772"/>
                  <a:gd name="T2" fmla="*/ 5 w 5"/>
                  <a:gd name="T3" fmla="*/ 1772 h 17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1772">
                    <a:moveTo>
                      <a:pt x="0" y="0"/>
                    </a:moveTo>
                    <a:lnTo>
                      <a:pt x="5" y="177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9316" name="Freeform 52"/>
              <p:cNvSpPr>
                <a:spLocks/>
              </p:cNvSpPr>
              <p:nvPr/>
            </p:nvSpPr>
            <p:spPr bwMode="auto">
              <a:xfrm>
                <a:off x="4270" y="634"/>
                <a:ext cx="1" cy="1772"/>
              </a:xfrm>
              <a:custGeom>
                <a:avLst/>
                <a:gdLst>
                  <a:gd name="T0" fmla="*/ 1 w 1"/>
                  <a:gd name="T1" fmla="*/ 0 h 1772"/>
                  <a:gd name="T2" fmla="*/ 0 w 1"/>
                  <a:gd name="T3" fmla="*/ 1772 h 17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772">
                    <a:moveTo>
                      <a:pt x="1" y="0"/>
                    </a:moveTo>
                    <a:lnTo>
                      <a:pt x="0" y="177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9317" name="Text Box 53"/>
            <p:cNvSpPr txBox="1">
              <a:spLocks noChangeArrowheads="1"/>
            </p:cNvSpPr>
            <p:nvPr/>
          </p:nvSpPr>
          <p:spPr bwMode="auto">
            <a:xfrm>
              <a:off x="3212" y="1662"/>
              <a:ext cx="2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endParaRPr kumimoji="1" lang="el-GR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9318" name="Text Box 54"/>
            <p:cNvSpPr txBox="1">
              <a:spLocks noChangeArrowheads="1"/>
            </p:cNvSpPr>
            <p:nvPr/>
          </p:nvSpPr>
          <p:spPr bwMode="auto">
            <a:xfrm>
              <a:off x="3285" y="2619"/>
              <a:ext cx="79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36000" bIns="3600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向下渗流</a:t>
              </a:r>
              <a:endPara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19319" name="Line 55"/>
            <p:cNvSpPr>
              <a:spLocks noChangeShapeType="1"/>
            </p:cNvSpPr>
            <p:nvPr/>
          </p:nvSpPr>
          <p:spPr bwMode="auto">
            <a:xfrm>
              <a:off x="2986" y="1128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9320" name="Rectangle 56"/>
            <p:cNvSpPr>
              <a:spLocks noChangeArrowheads="1"/>
            </p:cNvSpPr>
            <p:nvPr/>
          </p:nvSpPr>
          <p:spPr bwMode="auto">
            <a:xfrm>
              <a:off x="4234" y="1452"/>
              <a:ext cx="40" cy="625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9321" name="Line 57"/>
            <p:cNvSpPr>
              <a:spLocks noChangeShapeType="1"/>
            </p:cNvSpPr>
            <p:nvPr/>
          </p:nvSpPr>
          <p:spPr bwMode="auto">
            <a:xfrm>
              <a:off x="2992" y="2061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9322" name="Text Box 58"/>
            <p:cNvSpPr txBox="1">
              <a:spLocks noChangeArrowheads="1"/>
            </p:cNvSpPr>
            <p:nvPr/>
          </p:nvSpPr>
          <p:spPr bwMode="auto">
            <a:xfrm>
              <a:off x="3184" y="2123"/>
              <a:ext cx="99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Arial" charset="0"/>
                  <a:ea typeface="幼圆" pitchFamily="49" charset="-122"/>
                </a:rPr>
                <a:t>砂层（排水）</a:t>
              </a:r>
            </a:p>
          </p:txBody>
        </p:sp>
      </p:grpSp>
      <p:sp>
        <p:nvSpPr>
          <p:cNvPr id="1419323" name="Text Box 59"/>
          <p:cNvSpPr txBox="1">
            <a:spLocks noChangeArrowheads="1"/>
          </p:cNvSpPr>
          <p:nvPr/>
        </p:nvSpPr>
        <p:spPr bwMode="auto">
          <a:xfrm>
            <a:off x="3492500" y="4732338"/>
            <a:ext cx="5453063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渗透压力，向下渗流使得有效应力增加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可导致土层发生压密变形，称渗流压密</a:t>
            </a:r>
            <a:endParaRPr kumimoji="1" lang="en-US" altLang="zh-CN" sz="2400" b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9324" name="Freeform 60"/>
          <p:cNvSpPr>
            <a:spLocks/>
          </p:cNvSpPr>
          <p:nvPr/>
        </p:nvSpPr>
        <p:spPr bwMode="auto">
          <a:xfrm>
            <a:off x="2565400" y="4581525"/>
            <a:ext cx="854075" cy="40322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2" name="Rectangle 33"/>
          <p:cNvSpPr>
            <a:spLocks noChangeArrowheads="1"/>
          </p:cNvSpPr>
          <p:nvPr/>
        </p:nvSpPr>
        <p:spPr bwMode="auto">
          <a:xfrm>
            <a:off x="2409825" y="5816600"/>
            <a:ext cx="569594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稳定渗流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-1" y="0"/>
            <a:ext cx="507286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稳定渗流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43663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9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1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41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419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419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419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8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41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9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19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1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1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19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19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419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419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419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419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141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41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1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9278" grpId="0" animBg="1"/>
      <p:bldP spid="1419280" grpId="0" build="p" autoUpdateAnimBg="0"/>
      <p:bldP spid="1419285" grpId="0" animBg="1"/>
      <p:bldP spid="1419296" grpId="0"/>
      <p:bldP spid="1419297" grpId="0"/>
      <p:bldP spid="1419298" grpId="0"/>
      <p:bldP spid="1419299" grpId="0"/>
      <p:bldP spid="1419323" grpId="0"/>
      <p:bldP spid="14193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245" name="Rectangle 5"/>
          <p:cNvSpPr>
            <a:spLocks noChangeArrowheads="1"/>
          </p:cNvSpPr>
          <p:nvPr/>
        </p:nvSpPr>
        <p:spPr bwMode="auto">
          <a:xfrm>
            <a:off x="4687888" y="752475"/>
            <a:ext cx="4313237" cy="41243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8247" name="Rectangle 7"/>
          <p:cNvSpPr>
            <a:spLocks noChangeArrowheads="1"/>
          </p:cNvSpPr>
          <p:nvPr/>
        </p:nvSpPr>
        <p:spPr bwMode="auto">
          <a:xfrm>
            <a:off x="317500" y="585788"/>
            <a:ext cx="4189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稳定渗流条件：</a:t>
            </a: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向上渗流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18248" name="Group 8"/>
          <p:cNvGrpSpPr>
            <a:grpSpLocks/>
          </p:cNvGrpSpPr>
          <p:nvPr/>
        </p:nvGrpSpPr>
        <p:grpSpPr bwMode="auto">
          <a:xfrm>
            <a:off x="7123113" y="2006600"/>
            <a:ext cx="750887" cy="2016125"/>
            <a:chOff x="4487" y="1348"/>
            <a:chExt cx="473" cy="1270"/>
          </a:xfrm>
        </p:grpSpPr>
        <p:sp>
          <p:nvSpPr>
            <p:cNvPr id="1418249" name="Rectangle 9"/>
            <p:cNvSpPr>
              <a:spLocks noChangeArrowheads="1"/>
            </p:cNvSpPr>
            <p:nvPr/>
          </p:nvSpPr>
          <p:spPr bwMode="auto">
            <a:xfrm>
              <a:off x="4493" y="1348"/>
              <a:ext cx="467" cy="95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0" name="Freeform 10" descr="沙滩"/>
            <p:cNvSpPr>
              <a:spLocks/>
            </p:cNvSpPr>
            <p:nvPr/>
          </p:nvSpPr>
          <p:spPr bwMode="auto">
            <a:xfrm>
              <a:off x="4504" y="1348"/>
              <a:ext cx="137" cy="273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1" name="Freeform 11" descr="沙滩"/>
            <p:cNvSpPr>
              <a:spLocks/>
            </p:cNvSpPr>
            <p:nvPr/>
          </p:nvSpPr>
          <p:spPr bwMode="auto">
            <a:xfrm rot="2127360">
              <a:off x="4608" y="1370"/>
              <a:ext cx="236" cy="179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2" name="Freeform 12" descr="沙滩"/>
            <p:cNvSpPr>
              <a:spLocks/>
            </p:cNvSpPr>
            <p:nvPr/>
          </p:nvSpPr>
          <p:spPr bwMode="auto">
            <a:xfrm>
              <a:off x="4814" y="1348"/>
              <a:ext cx="136" cy="182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3" name="Freeform 13" descr="沙滩"/>
            <p:cNvSpPr>
              <a:spLocks/>
            </p:cNvSpPr>
            <p:nvPr/>
          </p:nvSpPr>
          <p:spPr bwMode="auto">
            <a:xfrm>
              <a:off x="4760" y="1522"/>
              <a:ext cx="195" cy="232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4" name="Freeform 14" descr="沙滩"/>
            <p:cNvSpPr>
              <a:spLocks/>
            </p:cNvSpPr>
            <p:nvPr/>
          </p:nvSpPr>
          <p:spPr bwMode="auto">
            <a:xfrm>
              <a:off x="4736" y="2210"/>
              <a:ext cx="214" cy="91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5" name="Freeform 15" descr="沙滩"/>
            <p:cNvSpPr>
              <a:spLocks/>
            </p:cNvSpPr>
            <p:nvPr/>
          </p:nvSpPr>
          <p:spPr bwMode="auto">
            <a:xfrm>
              <a:off x="4528" y="1605"/>
              <a:ext cx="273" cy="232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6" name="Freeform 16" descr="沙滩"/>
            <p:cNvSpPr>
              <a:spLocks/>
            </p:cNvSpPr>
            <p:nvPr/>
          </p:nvSpPr>
          <p:spPr bwMode="auto">
            <a:xfrm>
              <a:off x="4501" y="1820"/>
              <a:ext cx="137" cy="273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7" name="Freeform 17" descr="沙滩"/>
            <p:cNvSpPr>
              <a:spLocks/>
            </p:cNvSpPr>
            <p:nvPr/>
          </p:nvSpPr>
          <p:spPr bwMode="auto">
            <a:xfrm rot="2127360">
              <a:off x="4605" y="1842"/>
              <a:ext cx="236" cy="179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8" name="Freeform 18" descr="沙滩"/>
            <p:cNvSpPr>
              <a:spLocks/>
            </p:cNvSpPr>
            <p:nvPr/>
          </p:nvSpPr>
          <p:spPr bwMode="auto">
            <a:xfrm>
              <a:off x="4811" y="1757"/>
              <a:ext cx="139" cy="245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59" name="Freeform 19" descr="沙滩"/>
            <p:cNvSpPr>
              <a:spLocks/>
            </p:cNvSpPr>
            <p:nvPr/>
          </p:nvSpPr>
          <p:spPr bwMode="auto">
            <a:xfrm>
              <a:off x="4757" y="1994"/>
              <a:ext cx="195" cy="232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60" name="Freeform 20" descr="沙滩"/>
            <p:cNvSpPr>
              <a:spLocks/>
            </p:cNvSpPr>
            <p:nvPr/>
          </p:nvSpPr>
          <p:spPr bwMode="auto">
            <a:xfrm>
              <a:off x="4487" y="2085"/>
              <a:ext cx="273" cy="232"/>
            </a:xfrm>
            <a:custGeom>
              <a:avLst/>
              <a:gdLst>
                <a:gd name="T0" fmla="*/ 191 w 195"/>
                <a:gd name="T1" fmla="*/ 113 h 232"/>
                <a:gd name="T2" fmla="*/ 145 w 195"/>
                <a:gd name="T3" fmla="*/ 224 h 232"/>
                <a:gd name="T4" fmla="*/ 38 w 195"/>
                <a:gd name="T5" fmla="*/ 161 h 232"/>
                <a:gd name="T6" fmla="*/ 9 w 195"/>
                <a:gd name="T7" fmla="*/ 43 h 232"/>
                <a:gd name="T8" fmla="*/ 90 w 195"/>
                <a:gd name="T9" fmla="*/ 5 h 232"/>
                <a:gd name="T10" fmla="*/ 146 w 195"/>
                <a:gd name="T11" fmla="*/ 10 h 232"/>
                <a:gd name="T12" fmla="*/ 170 w 195"/>
                <a:gd name="T13" fmla="*/ 29 h 232"/>
                <a:gd name="T14" fmla="*/ 191 w 195"/>
                <a:gd name="T15" fmla="*/ 11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5" h="232">
                  <a:moveTo>
                    <a:pt x="191" y="113"/>
                  </a:moveTo>
                  <a:cubicBezTo>
                    <a:pt x="187" y="145"/>
                    <a:pt x="170" y="216"/>
                    <a:pt x="145" y="224"/>
                  </a:cubicBezTo>
                  <a:cubicBezTo>
                    <a:pt x="120" y="232"/>
                    <a:pt x="61" y="191"/>
                    <a:pt x="38" y="161"/>
                  </a:cubicBezTo>
                  <a:cubicBezTo>
                    <a:pt x="15" y="131"/>
                    <a:pt x="0" y="69"/>
                    <a:pt x="9" y="43"/>
                  </a:cubicBezTo>
                  <a:cubicBezTo>
                    <a:pt x="18" y="17"/>
                    <a:pt x="67" y="10"/>
                    <a:pt x="90" y="5"/>
                  </a:cubicBezTo>
                  <a:cubicBezTo>
                    <a:pt x="113" y="0"/>
                    <a:pt x="133" y="6"/>
                    <a:pt x="146" y="10"/>
                  </a:cubicBezTo>
                  <a:cubicBezTo>
                    <a:pt x="159" y="14"/>
                    <a:pt x="163" y="12"/>
                    <a:pt x="170" y="29"/>
                  </a:cubicBezTo>
                  <a:cubicBezTo>
                    <a:pt x="177" y="34"/>
                    <a:pt x="195" y="81"/>
                    <a:pt x="191" y="113"/>
                  </a:cubicBezTo>
                  <a:close/>
                </a:path>
              </a:pathLst>
            </a:custGeom>
            <a:blipFill dpi="0" rotWithShape="1">
              <a:blip r:embed="rId3"/>
              <a:srcRect/>
              <a:tile tx="0" ty="0" sx="100000" sy="100000" flip="none" algn="tl"/>
            </a:blip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61" name="Oval 21"/>
            <p:cNvSpPr>
              <a:spLocks noChangeArrowheads="1"/>
            </p:cNvSpPr>
            <p:nvPr/>
          </p:nvSpPr>
          <p:spPr bwMode="auto">
            <a:xfrm>
              <a:off x="4702" y="2258"/>
              <a:ext cx="70" cy="6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8262" name="Text Box 22"/>
            <p:cNvSpPr txBox="1">
              <a:spLocks noChangeArrowheads="1"/>
            </p:cNvSpPr>
            <p:nvPr/>
          </p:nvSpPr>
          <p:spPr bwMode="auto">
            <a:xfrm>
              <a:off x="4598" y="233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</p:grpSp>
      <p:grpSp>
        <p:nvGrpSpPr>
          <p:cNvPr id="1418263" name="Group 23"/>
          <p:cNvGrpSpPr>
            <a:grpSpLocks/>
          </p:cNvGrpSpPr>
          <p:nvPr/>
        </p:nvGrpSpPr>
        <p:grpSpPr bwMode="auto">
          <a:xfrm>
            <a:off x="4824815" y="873125"/>
            <a:ext cx="2198281" cy="3930650"/>
            <a:chOff x="3039" y="634"/>
            <a:chExt cx="1375" cy="2476"/>
          </a:xfrm>
        </p:grpSpPr>
        <p:sp>
          <p:nvSpPr>
            <p:cNvPr id="1418264" name="Rectangle 24" descr="5%"/>
            <p:cNvSpPr>
              <a:spLocks noChangeArrowheads="1"/>
            </p:cNvSpPr>
            <p:nvPr/>
          </p:nvSpPr>
          <p:spPr bwMode="auto">
            <a:xfrm>
              <a:off x="3055" y="2296"/>
              <a:ext cx="1340" cy="400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accent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8265" name="Rectangle 25"/>
            <p:cNvSpPr>
              <a:spLocks noChangeArrowheads="1"/>
            </p:cNvSpPr>
            <p:nvPr/>
          </p:nvSpPr>
          <p:spPr bwMode="auto">
            <a:xfrm>
              <a:off x="3056" y="1364"/>
              <a:ext cx="1340" cy="94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8266" name="Group 26"/>
            <p:cNvGrpSpPr>
              <a:grpSpLocks/>
            </p:cNvGrpSpPr>
            <p:nvPr/>
          </p:nvGrpSpPr>
          <p:grpSpPr bwMode="auto">
            <a:xfrm>
              <a:off x="3388" y="1268"/>
              <a:ext cx="182" cy="166"/>
              <a:chOff x="3067" y="1101"/>
              <a:chExt cx="182" cy="166"/>
            </a:xfrm>
          </p:grpSpPr>
          <p:sp>
            <p:nvSpPr>
              <p:cNvPr id="1418267" name="Line 27"/>
              <p:cNvSpPr>
                <a:spLocks noChangeShapeType="1"/>
              </p:cNvSpPr>
              <p:nvPr/>
            </p:nvSpPr>
            <p:spPr bwMode="auto">
              <a:xfrm>
                <a:off x="3104" y="1246"/>
                <a:ext cx="90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68" name="Line 28"/>
              <p:cNvSpPr>
                <a:spLocks noChangeShapeType="1"/>
              </p:cNvSpPr>
              <p:nvPr/>
            </p:nvSpPr>
            <p:spPr bwMode="auto">
              <a:xfrm>
                <a:off x="3128" y="1267"/>
                <a:ext cx="45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69" name="AutoShape 29"/>
              <p:cNvSpPr>
                <a:spLocks noChangeArrowheads="1"/>
              </p:cNvSpPr>
              <p:nvPr/>
            </p:nvSpPr>
            <p:spPr bwMode="auto">
              <a:xfrm flipV="1">
                <a:off x="3076" y="1101"/>
                <a:ext cx="136" cy="9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19050" algn="ctr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70" name="Line 30"/>
              <p:cNvSpPr>
                <a:spLocks noChangeShapeType="1"/>
              </p:cNvSpPr>
              <p:nvPr/>
            </p:nvSpPr>
            <p:spPr bwMode="auto">
              <a:xfrm>
                <a:off x="3067" y="1222"/>
                <a:ext cx="182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8271" name="Line 31"/>
            <p:cNvSpPr>
              <a:spLocks noChangeShapeType="1"/>
            </p:cNvSpPr>
            <p:nvPr/>
          </p:nvSpPr>
          <p:spPr bwMode="auto">
            <a:xfrm flipH="1">
              <a:off x="3204" y="1373"/>
              <a:ext cx="1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72" name="Text Box 32"/>
            <p:cNvSpPr txBox="1">
              <a:spLocks noChangeArrowheads="1"/>
            </p:cNvSpPr>
            <p:nvPr/>
          </p:nvSpPr>
          <p:spPr bwMode="auto">
            <a:xfrm>
              <a:off x="3268" y="1631"/>
              <a:ext cx="1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endParaRPr lang="en-US" altLang="zh-CN" sz="2400" b="1" i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18273" name="Line 33"/>
            <p:cNvSpPr>
              <a:spLocks noChangeShapeType="1"/>
            </p:cNvSpPr>
            <p:nvPr/>
          </p:nvSpPr>
          <p:spPr bwMode="auto">
            <a:xfrm>
              <a:off x="3580" y="721"/>
              <a:ext cx="7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74" name="Freeform 34"/>
            <p:cNvSpPr>
              <a:spLocks/>
            </p:cNvSpPr>
            <p:nvPr/>
          </p:nvSpPr>
          <p:spPr bwMode="auto">
            <a:xfrm>
              <a:off x="3820" y="718"/>
              <a:ext cx="1" cy="643"/>
            </a:xfrm>
            <a:custGeom>
              <a:avLst/>
              <a:gdLst>
                <a:gd name="T0" fmla="*/ 0 w 1"/>
                <a:gd name="T1" fmla="*/ 0 h 643"/>
                <a:gd name="T2" fmla="*/ 0 w 1"/>
                <a:gd name="T3" fmla="*/ 643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43">
                  <a:moveTo>
                    <a:pt x="0" y="0"/>
                  </a:moveTo>
                  <a:lnTo>
                    <a:pt x="0" y="64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75" name="Text Box 35"/>
            <p:cNvSpPr txBox="1">
              <a:spLocks noChangeArrowheads="1"/>
            </p:cNvSpPr>
            <p:nvPr/>
          </p:nvSpPr>
          <p:spPr bwMode="auto">
            <a:xfrm>
              <a:off x="3521" y="863"/>
              <a:ext cx="2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l-GR" sz="2400" b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Δ</a:t>
              </a:r>
              <a:r>
                <a:rPr lang="en-US" altLang="zh-CN" sz="2400" b="1" i="1" dirty="0">
                  <a:solidFill>
                    <a:srgbClr val="000066"/>
                  </a:solidFill>
                  <a:ea typeface="华文新魏" pitchFamily="2" charset="-122"/>
                  <a:cs typeface="Times New Roman" panose="02020603050405020304" pitchFamily="18" charset="0"/>
                </a:rPr>
                <a:t>h</a:t>
              </a:r>
              <a:endParaRPr lang="el-GR" sz="2400" b="1" i="1" dirty="0">
                <a:solidFill>
                  <a:srgbClr val="000066"/>
                </a:solidFill>
                <a:ea typeface="华文新魏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18276" name="Group 36"/>
            <p:cNvGrpSpPr>
              <a:grpSpLocks/>
            </p:cNvGrpSpPr>
            <p:nvPr/>
          </p:nvGrpSpPr>
          <p:grpSpPr bwMode="auto">
            <a:xfrm>
              <a:off x="3064" y="2315"/>
              <a:ext cx="1301" cy="197"/>
              <a:chOff x="4104" y="2532"/>
              <a:chExt cx="1337" cy="197"/>
            </a:xfrm>
          </p:grpSpPr>
          <p:sp>
            <p:nvSpPr>
              <p:cNvPr id="1418277" name="Line 37"/>
              <p:cNvSpPr>
                <a:spLocks noChangeShapeType="1"/>
              </p:cNvSpPr>
              <p:nvPr/>
            </p:nvSpPr>
            <p:spPr bwMode="auto">
              <a:xfrm flipV="1">
                <a:off x="4104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78" name="Line 38"/>
              <p:cNvSpPr>
                <a:spLocks noChangeShapeType="1"/>
              </p:cNvSpPr>
              <p:nvPr/>
            </p:nvSpPr>
            <p:spPr bwMode="auto">
              <a:xfrm flipV="1">
                <a:off x="4295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79" name="Line 39"/>
              <p:cNvSpPr>
                <a:spLocks noChangeShapeType="1"/>
              </p:cNvSpPr>
              <p:nvPr/>
            </p:nvSpPr>
            <p:spPr bwMode="auto">
              <a:xfrm flipV="1">
                <a:off x="4483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80" name="Line 40"/>
              <p:cNvSpPr>
                <a:spLocks noChangeShapeType="1"/>
              </p:cNvSpPr>
              <p:nvPr/>
            </p:nvSpPr>
            <p:spPr bwMode="auto">
              <a:xfrm flipV="1">
                <a:off x="4673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81" name="Line 41"/>
              <p:cNvSpPr>
                <a:spLocks noChangeShapeType="1"/>
              </p:cNvSpPr>
              <p:nvPr/>
            </p:nvSpPr>
            <p:spPr bwMode="auto">
              <a:xfrm flipV="1">
                <a:off x="4860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82" name="Line 42"/>
              <p:cNvSpPr>
                <a:spLocks noChangeShapeType="1"/>
              </p:cNvSpPr>
              <p:nvPr/>
            </p:nvSpPr>
            <p:spPr bwMode="auto">
              <a:xfrm flipV="1">
                <a:off x="5051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83" name="Line 43"/>
              <p:cNvSpPr>
                <a:spLocks noChangeShapeType="1"/>
              </p:cNvSpPr>
              <p:nvPr/>
            </p:nvSpPr>
            <p:spPr bwMode="auto">
              <a:xfrm flipV="1">
                <a:off x="5250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8284" name="Line 44"/>
              <p:cNvSpPr>
                <a:spLocks noChangeShapeType="1"/>
              </p:cNvSpPr>
              <p:nvPr/>
            </p:nvSpPr>
            <p:spPr bwMode="auto">
              <a:xfrm flipV="1">
                <a:off x="5441" y="2532"/>
                <a:ext cx="0" cy="19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18285" name="AutoShape 45"/>
            <p:cNvSpPr>
              <a:spLocks noChangeArrowheads="1"/>
            </p:cNvSpPr>
            <p:nvPr/>
          </p:nvSpPr>
          <p:spPr bwMode="auto">
            <a:xfrm>
              <a:off x="3656" y="1572"/>
              <a:ext cx="317" cy="471"/>
            </a:xfrm>
            <a:prstGeom prst="upArrow">
              <a:avLst>
                <a:gd name="adj1" fmla="val 50000"/>
                <a:gd name="adj2" fmla="val 37145"/>
              </a:avLst>
            </a:prstGeom>
            <a:solidFill>
              <a:srgbClr val="0000FF"/>
            </a:solidFill>
            <a:ln w="1905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86" name="Text Box 46"/>
            <p:cNvSpPr txBox="1">
              <a:spLocks noChangeArrowheads="1"/>
            </p:cNvSpPr>
            <p:nvPr/>
          </p:nvSpPr>
          <p:spPr bwMode="auto">
            <a:xfrm>
              <a:off x="3339" y="2545"/>
              <a:ext cx="107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砂层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(</a:t>
              </a:r>
              <a:r>
                <a:rPr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承压水</a:t>
              </a:r>
              <a:r>
                <a:rPr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)</a:t>
              </a:r>
            </a:p>
          </p:txBody>
        </p:sp>
        <p:sp>
          <p:nvSpPr>
            <p:cNvPr id="1418287" name="Freeform 47"/>
            <p:cNvSpPr>
              <a:spLocks/>
            </p:cNvSpPr>
            <p:nvPr/>
          </p:nvSpPr>
          <p:spPr bwMode="auto">
            <a:xfrm>
              <a:off x="4223" y="634"/>
              <a:ext cx="5" cy="1772"/>
            </a:xfrm>
            <a:custGeom>
              <a:avLst/>
              <a:gdLst>
                <a:gd name="T0" fmla="*/ 0 w 5"/>
                <a:gd name="T1" fmla="*/ 0 h 1772"/>
                <a:gd name="T2" fmla="*/ 5 w 5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1772">
                  <a:moveTo>
                    <a:pt x="0" y="0"/>
                  </a:moveTo>
                  <a:lnTo>
                    <a:pt x="5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88" name="Freeform 48"/>
            <p:cNvSpPr>
              <a:spLocks/>
            </p:cNvSpPr>
            <p:nvPr/>
          </p:nvSpPr>
          <p:spPr bwMode="auto">
            <a:xfrm>
              <a:off x="4273" y="634"/>
              <a:ext cx="1" cy="1772"/>
            </a:xfrm>
            <a:custGeom>
              <a:avLst/>
              <a:gdLst>
                <a:gd name="T0" fmla="*/ 1 w 1"/>
                <a:gd name="T1" fmla="*/ 0 h 1772"/>
                <a:gd name="T2" fmla="*/ 0 w 1"/>
                <a:gd name="T3" fmla="*/ 1772 h 1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772">
                  <a:moveTo>
                    <a:pt x="1" y="0"/>
                  </a:moveTo>
                  <a:lnTo>
                    <a:pt x="0" y="177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89" name="Text Box 49"/>
            <p:cNvSpPr txBox="1">
              <a:spLocks noChangeArrowheads="1"/>
            </p:cNvSpPr>
            <p:nvPr/>
          </p:nvSpPr>
          <p:spPr bwMode="auto">
            <a:xfrm>
              <a:off x="3277" y="1858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sat</a:t>
              </a:r>
              <a:endParaRPr kumimoji="1" lang="el-GR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8290" name="Text Box 50"/>
            <p:cNvSpPr txBox="1">
              <a:spLocks noChangeArrowheads="1"/>
            </p:cNvSpPr>
            <p:nvPr/>
          </p:nvSpPr>
          <p:spPr bwMode="auto">
            <a:xfrm>
              <a:off x="3337" y="2857"/>
              <a:ext cx="79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36000" bIns="3600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向上渗流</a:t>
              </a:r>
              <a:endPara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18291" name="Line 51"/>
            <p:cNvSpPr>
              <a:spLocks noChangeShapeType="1"/>
            </p:cNvSpPr>
            <p:nvPr/>
          </p:nvSpPr>
          <p:spPr bwMode="auto">
            <a:xfrm>
              <a:off x="3039" y="1366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8292" name="Rectangle 52"/>
            <p:cNvSpPr>
              <a:spLocks noChangeArrowheads="1"/>
            </p:cNvSpPr>
            <p:nvPr/>
          </p:nvSpPr>
          <p:spPr bwMode="auto">
            <a:xfrm>
              <a:off x="4227" y="721"/>
              <a:ext cx="45" cy="1594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93" name="Line 53"/>
            <p:cNvSpPr>
              <a:spLocks noChangeShapeType="1"/>
            </p:cNvSpPr>
            <p:nvPr/>
          </p:nvSpPr>
          <p:spPr bwMode="auto">
            <a:xfrm>
              <a:off x="3039" y="2299"/>
              <a:ext cx="13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18294" name="Group 54"/>
          <p:cNvGrpSpPr>
            <a:grpSpLocks/>
          </p:cNvGrpSpPr>
          <p:nvPr/>
        </p:nvGrpSpPr>
        <p:grpSpPr bwMode="auto">
          <a:xfrm>
            <a:off x="7800978" y="2019300"/>
            <a:ext cx="1244601" cy="2162175"/>
            <a:chOff x="4914" y="1356"/>
            <a:chExt cx="784" cy="1362"/>
          </a:xfrm>
        </p:grpSpPr>
        <p:sp>
          <p:nvSpPr>
            <p:cNvPr id="1418295" name="Freeform 55"/>
            <p:cNvSpPr>
              <a:spLocks/>
            </p:cNvSpPr>
            <p:nvPr/>
          </p:nvSpPr>
          <p:spPr bwMode="auto">
            <a:xfrm>
              <a:off x="5066" y="1356"/>
              <a:ext cx="499" cy="941"/>
            </a:xfrm>
            <a:custGeom>
              <a:avLst/>
              <a:gdLst>
                <a:gd name="T0" fmla="*/ 0 w 499"/>
                <a:gd name="T1" fmla="*/ 0 h 941"/>
                <a:gd name="T2" fmla="*/ 0 w 499"/>
                <a:gd name="T3" fmla="*/ 941 h 941"/>
                <a:gd name="T4" fmla="*/ 499 w 499"/>
                <a:gd name="T5" fmla="*/ 941 h 941"/>
                <a:gd name="T6" fmla="*/ 0 w 499"/>
                <a:gd name="T7" fmla="*/ 0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9" h="941">
                  <a:moveTo>
                    <a:pt x="0" y="0"/>
                  </a:moveTo>
                  <a:lnTo>
                    <a:pt x="0" y="941"/>
                  </a:lnTo>
                  <a:lnTo>
                    <a:pt x="499" y="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18296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0321981"/>
                </p:ext>
              </p:extLst>
            </p:nvPr>
          </p:nvGraphicFramePr>
          <p:xfrm>
            <a:off x="4914" y="2512"/>
            <a:ext cx="78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5182" name="公式" r:id="rId4" imgW="749160" imgH="228600" progId="Equation.3">
                    <p:embed/>
                  </p:oleObj>
                </mc:Choice>
                <mc:Fallback>
                  <p:oleObj name="公式" r:id="rId4" imgW="749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 l="-8231" r="-8231"/>
                        <a:stretch>
                          <a:fillRect/>
                        </a:stretch>
                      </p:blipFill>
                      <p:spPr bwMode="auto">
                        <a:xfrm>
                          <a:off x="4914" y="2512"/>
                          <a:ext cx="78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8297" name="Line 57"/>
            <p:cNvSpPr>
              <a:spLocks noChangeShapeType="1"/>
            </p:cNvSpPr>
            <p:nvPr/>
          </p:nvSpPr>
          <p:spPr bwMode="auto">
            <a:xfrm>
              <a:off x="5569" y="2331"/>
              <a:ext cx="0" cy="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98" name="Line 58"/>
            <p:cNvSpPr>
              <a:spLocks noChangeShapeType="1"/>
            </p:cNvSpPr>
            <p:nvPr/>
          </p:nvSpPr>
          <p:spPr bwMode="auto">
            <a:xfrm>
              <a:off x="5064" y="2328"/>
              <a:ext cx="0" cy="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18299" name="Line 59"/>
            <p:cNvSpPr>
              <a:spLocks noChangeShapeType="1"/>
            </p:cNvSpPr>
            <p:nvPr/>
          </p:nvSpPr>
          <p:spPr bwMode="auto">
            <a:xfrm>
              <a:off x="5072" y="2432"/>
              <a:ext cx="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18300" name="Text Box 60"/>
          <p:cNvSpPr txBox="1">
            <a:spLocks noChangeArrowheads="1"/>
          </p:cNvSpPr>
          <p:nvPr/>
        </p:nvSpPr>
        <p:spPr bwMode="auto">
          <a:xfrm>
            <a:off x="620713" y="4860925"/>
            <a:ext cx="2030412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20000"/>
              <a:buFontTx/>
              <a:buChar char="•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总应力：</a:t>
            </a:r>
            <a:endParaRPr kumimoji="0" lang="en-US" altLang="zh-CN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18301" name="Text Box 61"/>
          <p:cNvSpPr txBox="1">
            <a:spLocks noChangeArrowheads="1"/>
          </p:cNvSpPr>
          <p:nvPr/>
        </p:nvSpPr>
        <p:spPr bwMode="auto">
          <a:xfrm>
            <a:off x="2211388" y="4991100"/>
            <a:ext cx="5702300" cy="4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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+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H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-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+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(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+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)</a:t>
            </a:r>
            <a:r>
              <a:rPr kumimoji="1" lang="en-US" altLang="zh-CN" sz="24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sym typeface="Symbol" pitchFamily="18" charset="2"/>
              </a:rPr>
              <a:t>sat</a:t>
            </a:r>
            <a:r>
              <a:rPr kumimoji="1" lang="en-US" altLang="zh-CN" sz="2400" b="1" i="1" dirty="0" err="1">
                <a:solidFill>
                  <a:srgbClr val="000066"/>
                </a:solidFill>
                <a:sym typeface="Symbol" pitchFamily="18" charset="2"/>
              </a:rPr>
              <a:t>H</a:t>
            </a:r>
            <a:endParaRPr kumimoji="1" lang="zh-CN" altLang="en-US" sz="2400" b="1" i="1" dirty="0">
              <a:solidFill>
                <a:srgbClr val="000066"/>
              </a:solidFill>
              <a:sym typeface="Symbol" pitchFamily="18" charset="2"/>
            </a:endParaRPr>
          </a:p>
        </p:txBody>
      </p:sp>
      <p:sp>
        <p:nvSpPr>
          <p:cNvPr id="1418302" name="Text Box 62"/>
          <p:cNvSpPr txBox="1">
            <a:spLocks noChangeArrowheads="1"/>
          </p:cNvSpPr>
          <p:nvPr/>
        </p:nvSpPr>
        <p:spPr bwMode="auto">
          <a:xfrm>
            <a:off x="628650" y="1204913"/>
            <a:ext cx="3490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孔隙水压力：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净水压强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18303" name="Text Box 63"/>
          <p:cNvSpPr txBox="1">
            <a:spLocks noChangeArrowheads="1"/>
          </p:cNvSpPr>
          <p:nvPr/>
        </p:nvSpPr>
        <p:spPr bwMode="auto">
          <a:xfrm>
            <a:off x="1225550" y="1630363"/>
            <a:ext cx="1938351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sym typeface="Symbol" pitchFamily="18" charset="2"/>
              </a:rPr>
              <a:t>w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(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+</a:t>
            </a:r>
            <a:r>
              <a:rPr kumimoji="1" lang="en-US" altLang="zh-CN" sz="2400" b="1" i="1" dirty="0">
                <a:solidFill>
                  <a:srgbClr val="000066"/>
                </a:solidFill>
                <a:sym typeface="Symbol" pitchFamily="18" charset="2"/>
              </a:rPr>
              <a:t>h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)</a:t>
            </a:r>
            <a:endParaRPr lang="zh-CN" altLang="en-US" sz="2400" baseline="-25000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18304" name="Text Box 64"/>
          <p:cNvSpPr txBox="1">
            <a:spLocks noChangeArrowheads="1"/>
          </p:cNvSpPr>
          <p:nvPr/>
        </p:nvSpPr>
        <p:spPr bwMode="auto">
          <a:xfrm>
            <a:off x="609600" y="2198688"/>
            <a:ext cx="409892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有效应力：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自重应力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</a:rPr>
              <a:t>+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</a:rPr>
              <a:t>渗透力</a:t>
            </a:r>
          </a:p>
        </p:txBody>
      </p:sp>
      <p:sp>
        <p:nvSpPr>
          <p:cNvPr id="1418305" name="Text Box 65"/>
          <p:cNvSpPr txBox="1">
            <a:spLocks noChangeArrowheads="1"/>
          </p:cNvSpPr>
          <p:nvPr/>
        </p:nvSpPr>
        <p:spPr bwMode="auto">
          <a:xfrm>
            <a:off x="1698625" y="4324350"/>
            <a:ext cx="2400300" cy="48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l-GR" altLang="zh-CN" sz="2400" b="1" i="1" dirty="0">
                <a:solidFill>
                  <a:srgbClr val="000066"/>
                </a:solidFill>
                <a:sym typeface="Symbol" pitchFamily="18" charset="2"/>
              </a:rPr>
              <a:t>σ</a:t>
            </a:r>
            <a:r>
              <a:rPr kumimoji="1" lang="el-GR" altLang="zh-CN" sz="2400" b="1" dirty="0">
                <a:solidFill>
                  <a:srgbClr val="000066"/>
                </a:solidFill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000066"/>
                </a:solidFill>
                <a:sym typeface="Symbol" pitchFamily="18" charset="2"/>
              </a:rPr>
              <a:t> =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H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- 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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w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h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8306" name="AutoShape 66"/>
          <p:cNvSpPr>
            <a:spLocks noChangeArrowheads="1"/>
          </p:cNvSpPr>
          <p:nvPr/>
        </p:nvSpPr>
        <p:spPr bwMode="auto">
          <a:xfrm>
            <a:off x="7258050" y="835025"/>
            <a:ext cx="1504950" cy="822325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Arial" charset="0"/>
              </a:rPr>
              <a:t>取土骨架为隔离体</a:t>
            </a:r>
          </a:p>
        </p:txBody>
      </p:sp>
      <p:graphicFrame>
        <p:nvGraphicFramePr>
          <p:cNvPr id="1418307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489161"/>
              </p:ext>
            </p:extLst>
          </p:nvPr>
        </p:nvGraphicFramePr>
        <p:xfrm>
          <a:off x="2241550" y="2816224"/>
          <a:ext cx="93312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5183" name="公式" r:id="rId6" imgW="622080" imgH="228600" progId="Equation.3">
                  <p:embed/>
                </p:oleObj>
              </mc:Choice>
              <mc:Fallback>
                <p:oleObj name="公式" r:id="rId6" imgW="622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 l="-8041" r="-8041"/>
                      <a:stretch>
                        <a:fillRect/>
                      </a:stretch>
                    </p:blipFill>
                    <p:spPr bwMode="auto">
                      <a:xfrm>
                        <a:off x="2241550" y="2816224"/>
                        <a:ext cx="93312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8308" name="Text Box 68"/>
          <p:cNvSpPr txBox="1">
            <a:spLocks noChangeArrowheads="1"/>
          </p:cNvSpPr>
          <p:nvPr/>
        </p:nvSpPr>
        <p:spPr bwMode="auto">
          <a:xfrm>
            <a:off x="1049338" y="2847975"/>
            <a:ext cx="1150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自重应力</a:t>
            </a:r>
            <a:r>
              <a:rPr kumimoji="1" lang="en-US" altLang="zh-CN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418309" name="Text Box 69"/>
          <p:cNvSpPr txBox="1">
            <a:spLocks noChangeArrowheads="1"/>
          </p:cNvSpPr>
          <p:nvPr/>
        </p:nvSpPr>
        <p:spPr bwMode="auto">
          <a:xfrm>
            <a:off x="1012825" y="3449638"/>
            <a:ext cx="133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渗透应力</a:t>
            </a:r>
            <a:r>
              <a:rPr kumimoji="1" lang="en-US" altLang="zh-CN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graphicFrame>
        <p:nvGraphicFramePr>
          <p:cNvPr id="1418310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736762"/>
              </p:ext>
            </p:extLst>
          </p:nvPr>
        </p:nvGraphicFramePr>
        <p:xfrm>
          <a:off x="2281237" y="3340100"/>
          <a:ext cx="2361960" cy="914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5184" name="公式" r:id="rId8" imgW="1574640" imgH="609480" progId="Equation.3">
                  <p:embed/>
                </p:oleObj>
              </mc:Choice>
              <mc:Fallback>
                <p:oleObj name="公式" r:id="rId8" imgW="157464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7" y="3340100"/>
                        <a:ext cx="2361960" cy="914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33"/>
          <p:cNvSpPr>
            <a:spLocks noChangeArrowheads="1"/>
          </p:cNvSpPr>
          <p:nvPr/>
        </p:nvSpPr>
        <p:spPr bwMode="auto">
          <a:xfrm>
            <a:off x="2409825" y="5816600"/>
            <a:ext cx="569594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自重应力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稳定渗流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7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2" name="Text Box 7"/>
          <p:cNvSpPr txBox="1">
            <a:spLocks noChangeArrowheads="1"/>
          </p:cNvSpPr>
          <p:nvPr/>
        </p:nvSpPr>
        <p:spPr bwMode="auto">
          <a:xfrm>
            <a:off x="-1" y="0"/>
            <a:ext cx="5090209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的自重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稳定渗流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678879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8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1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41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1418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1418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1418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6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41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1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1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1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1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1418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1418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1418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74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1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240"/>
                            </p:stCondLst>
                            <p:childTnLst>
                              <p:par>
                                <p:cTn id="5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1418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1418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1418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48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1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8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3000"/>
                                        <p:tgtEl>
                                          <p:spTgt spid="141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98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141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1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1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18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18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8245" grpId="0" animBg="1"/>
      <p:bldP spid="1418247" grpId="0" build="p" autoUpdateAnimBg="0"/>
      <p:bldP spid="1418300" grpId="0"/>
      <p:bldP spid="1418301" grpId="0"/>
      <p:bldP spid="1418302" grpId="0"/>
      <p:bldP spid="1418303" grpId="0"/>
      <p:bldP spid="1418304" grpId="0"/>
      <p:bldP spid="1418305" grpId="0"/>
      <p:bldP spid="1418306" grpId="0" animBg="1"/>
      <p:bldP spid="1418308" grpId="0"/>
      <p:bldP spid="141830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59063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原理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基底压力计算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附加应力计算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6027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99" name="Rectangle 43"/>
          <p:cNvSpPr>
            <a:spLocks noChangeArrowheads="1"/>
          </p:cNvSpPr>
          <p:nvPr/>
        </p:nvSpPr>
        <p:spPr bwMode="auto">
          <a:xfrm>
            <a:off x="6469063" y="782638"/>
            <a:ext cx="2417762" cy="469741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6300" name="Text Box 44"/>
          <p:cNvSpPr txBox="1">
            <a:spLocks noChangeArrowheads="1"/>
          </p:cNvSpPr>
          <p:nvPr/>
        </p:nvSpPr>
        <p:spPr bwMode="auto">
          <a:xfrm>
            <a:off x="615950" y="3334000"/>
            <a:ext cx="5835650" cy="182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prstDash val="sysDot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8775" indent="-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81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A50021"/>
                </a:solidFill>
                <a:latin typeface="黑体" pitchFamily="2" charset="-122"/>
                <a:ea typeface="幼圆" pitchFamily="49" charset="-122"/>
                <a:sym typeface="Symbol" pitchFamily="18" charset="2"/>
              </a:rPr>
              <a:t>基底压力</a:t>
            </a:r>
            <a:r>
              <a:rPr lang="zh-CN" altLang="en-US" b="1" dirty="0">
                <a:solidFill>
                  <a:srgbClr val="A50021"/>
                </a:solidFill>
                <a:latin typeface="宋体" charset="-122"/>
                <a:ea typeface="幼圆" pitchFamily="49" charset="-122"/>
                <a:sym typeface="Symbol" pitchFamily="18" charset="2"/>
              </a:rPr>
              <a:t>：</a:t>
            </a:r>
            <a:r>
              <a:rPr lang="zh-CN" altLang="en-US" b="1" dirty="0">
                <a:solidFill>
                  <a:srgbClr val="000066"/>
                </a:solidFill>
                <a:latin typeface="宋体" charset="-122"/>
                <a:ea typeface="幼圆" pitchFamily="49" charset="-122"/>
                <a:sym typeface="Symbol" pitchFamily="18" charset="2"/>
              </a:rPr>
              <a:t>基础底面传递给地基表面的压力，也称</a:t>
            </a:r>
            <a:r>
              <a:rPr lang="zh-CN" altLang="en-US" b="1" dirty="0">
                <a:solidFill>
                  <a:srgbClr val="000066"/>
                </a:solidFill>
                <a:latin typeface="黑体" pitchFamily="2" charset="-122"/>
                <a:ea typeface="幼圆" pitchFamily="49" charset="-122"/>
                <a:sym typeface="Symbol" pitchFamily="18" charset="2"/>
              </a:rPr>
              <a:t>基底接触压力。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latin typeface="黑体" pitchFamily="2" charset="-122"/>
                <a:ea typeface="幼圆" pitchFamily="49" charset="-122"/>
                <a:sym typeface="Symbol" pitchFamily="18" charset="2"/>
              </a:rPr>
              <a:t>基底压力既是计算地基中附加应力的外荷载，也是计算基础结构内力的外</a:t>
            </a:r>
            <a:r>
              <a:rPr lang="zh-CN" altLang="en-US" b="1" dirty="0" smtClean="0">
                <a:solidFill>
                  <a:srgbClr val="000066"/>
                </a:solidFill>
                <a:latin typeface="黑体" pitchFamily="2" charset="-122"/>
                <a:ea typeface="幼圆" pitchFamily="49" charset="-122"/>
                <a:sym typeface="Symbol" pitchFamily="18" charset="2"/>
              </a:rPr>
              <a:t>荷载</a:t>
            </a:r>
            <a:endParaRPr lang="zh-CN" altLang="en-US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6301" name="Text Box 45"/>
          <p:cNvSpPr txBox="1">
            <a:spLocks noChangeArrowheads="1"/>
          </p:cNvSpPr>
          <p:nvPr/>
        </p:nvSpPr>
        <p:spPr bwMode="auto">
          <a:xfrm>
            <a:off x="3128201" y="5761409"/>
            <a:ext cx="33480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基底压力计算</a:t>
            </a:r>
          </a:p>
        </p:txBody>
      </p:sp>
      <p:grpSp>
        <p:nvGrpSpPr>
          <p:cNvPr id="1376302" name="Group 46"/>
          <p:cNvGrpSpPr>
            <a:grpSpLocks/>
          </p:cNvGrpSpPr>
          <p:nvPr/>
        </p:nvGrpSpPr>
        <p:grpSpPr bwMode="auto">
          <a:xfrm>
            <a:off x="2032000" y="738188"/>
            <a:ext cx="3944938" cy="1922462"/>
            <a:chOff x="1390" y="515"/>
            <a:chExt cx="2485" cy="1211"/>
          </a:xfrm>
        </p:grpSpPr>
        <p:sp>
          <p:nvSpPr>
            <p:cNvPr id="1376303" name="Rectangle 47"/>
            <p:cNvSpPr>
              <a:spLocks noChangeArrowheads="1"/>
            </p:cNvSpPr>
            <p:nvPr/>
          </p:nvSpPr>
          <p:spPr bwMode="auto">
            <a:xfrm>
              <a:off x="3013" y="1252"/>
              <a:ext cx="504" cy="351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4" name="Rectangle 48"/>
            <p:cNvSpPr>
              <a:spLocks noChangeArrowheads="1"/>
            </p:cNvSpPr>
            <p:nvPr/>
          </p:nvSpPr>
          <p:spPr bwMode="auto">
            <a:xfrm>
              <a:off x="2509" y="1252"/>
              <a:ext cx="504" cy="351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5" name="Rectangle 49"/>
            <p:cNvSpPr>
              <a:spLocks noChangeArrowheads="1"/>
            </p:cNvSpPr>
            <p:nvPr/>
          </p:nvSpPr>
          <p:spPr bwMode="auto">
            <a:xfrm>
              <a:off x="2005" y="1252"/>
              <a:ext cx="504" cy="351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6" name="Rectangle 50"/>
            <p:cNvSpPr>
              <a:spLocks noChangeArrowheads="1"/>
            </p:cNvSpPr>
            <p:nvPr/>
          </p:nvSpPr>
          <p:spPr bwMode="auto">
            <a:xfrm>
              <a:off x="3013" y="878"/>
              <a:ext cx="504" cy="374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7" name="Rectangle 51"/>
            <p:cNvSpPr>
              <a:spLocks noChangeArrowheads="1"/>
            </p:cNvSpPr>
            <p:nvPr/>
          </p:nvSpPr>
          <p:spPr bwMode="auto">
            <a:xfrm>
              <a:off x="2509" y="878"/>
              <a:ext cx="504" cy="374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8" name="Rectangle 52"/>
            <p:cNvSpPr>
              <a:spLocks noChangeArrowheads="1"/>
            </p:cNvSpPr>
            <p:nvPr/>
          </p:nvSpPr>
          <p:spPr bwMode="auto">
            <a:xfrm>
              <a:off x="2005" y="878"/>
              <a:ext cx="504" cy="374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09" name="Rectangle 53"/>
            <p:cNvSpPr>
              <a:spLocks noChangeArrowheads="1"/>
            </p:cNvSpPr>
            <p:nvPr/>
          </p:nvSpPr>
          <p:spPr bwMode="auto">
            <a:xfrm>
              <a:off x="3013" y="515"/>
              <a:ext cx="504" cy="363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10" name="Rectangle 54"/>
            <p:cNvSpPr>
              <a:spLocks noChangeArrowheads="1"/>
            </p:cNvSpPr>
            <p:nvPr/>
          </p:nvSpPr>
          <p:spPr bwMode="auto">
            <a:xfrm>
              <a:off x="2509" y="515"/>
              <a:ext cx="504" cy="363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11" name="Rectangle 55"/>
            <p:cNvSpPr>
              <a:spLocks noChangeArrowheads="1"/>
            </p:cNvSpPr>
            <p:nvPr/>
          </p:nvSpPr>
          <p:spPr bwMode="auto">
            <a:xfrm>
              <a:off x="2005" y="515"/>
              <a:ext cx="504" cy="363"/>
            </a:xfrm>
            <a:prstGeom prst="rect">
              <a:avLst/>
            </a:prstGeom>
            <a:solidFill>
              <a:srgbClr val="DDDDDD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zh-CN" altLang="en-US" sz="2500">
                <a:latin typeface="Verdana" pitchFamily="34" charset="0"/>
              </a:endParaRPr>
            </a:p>
          </p:txBody>
        </p:sp>
        <p:sp>
          <p:nvSpPr>
            <p:cNvPr id="1376312" name="Line 56"/>
            <p:cNvSpPr>
              <a:spLocks noChangeShapeType="1"/>
            </p:cNvSpPr>
            <p:nvPr/>
          </p:nvSpPr>
          <p:spPr bwMode="auto">
            <a:xfrm>
              <a:off x="2005" y="878"/>
              <a:ext cx="15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3" name="Line 57"/>
            <p:cNvSpPr>
              <a:spLocks noChangeShapeType="1"/>
            </p:cNvSpPr>
            <p:nvPr/>
          </p:nvSpPr>
          <p:spPr bwMode="auto">
            <a:xfrm>
              <a:off x="2005" y="1252"/>
              <a:ext cx="15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4" name="Line 58"/>
            <p:cNvSpPr>
              <a:spLocks noChangeShapeType="1"/>
            </p:cNvSpPr>
            <p:nvPr/>
          </p:nvSpPr>
          <p:spPr bwMode="auto">
            <a:xfrm>
              <a:off x="2509" y="515"/>
              <a:ext cx="0" cy="10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5" name="Line 59"/>
            <p:cNvSpPr>
              <a:spLocks noChangeShapeType="1"/>
            </p:cNvSpPr>
            <p:nvPr/>
          </p:nvSpPr>
          <p:spPr bwMode="auto">
            <a:xfrm>
              <a:off x="3013" y="515"/>
              <a:ext cx="0" cy="10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6" name="Line 60"/>
            <p:cNvSpPr>
              <a:spLocks noChangeShapeType="1"/>
            </p:cNvSpPr>
            <p:nvPr/>
          </p:nvSpPr>
          <p:spPr bwMode="auto">
            <a:xfrm>
              <a:off x="2005" y="515"/>
              <a:ext cx="1512" cy="0"/>
            </a:xfrm>
            <a:prstGeom prst="line">
              <a:avLst/>
            </a:prstGeom>
            <a:noFill/>
            <a:ln w="38100" cap="sq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7" name="Line 61"/>
            <p:cNvSpPr>
              <a:spLocks noChangeShapeType="1"/>
            </p:cNvSpPr>
            <p:nvPr/>
          </p:nvSpPr>
          <p:spPr bwMode="auto">
            <a:xfrm>
              <a:off x="3517" y="515"/>
              <a:ext cx="0" cy="1088"/>
            </a:xfrm>
            <a:prstGeom prst="line">
              <a:avLst/>
            </a:prstGeom>
            <a:noFill/>
            <a:ln w="38100" cap="sq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8" name="Line 62"/>
            <p:cNvSpPr>
              <a:spLocks noChangeShapeType="1"/>
            </p:cNvSpPr>
            <p:nvPr/>
          </p:nvSpPr>
          <p:spPr bwMode="auto">
            <a:xfrm>
              <a:off x="2005" y="1603"/>
              <a:ext cx="1512" cy="0"/>
            </a:xfrm>
            <a:prstGeom prst="line">
              <a:avLst/>
            </a:prstGeom>
            <a:noFill/>
            <a:ln w="38100" cap="sq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19" name="Rectangle 63"/>
            <p:cNvSpPr>
              <a:spLocks noChangeArrowheads="1"/>
            </p:cNvSpPr>
            <p:nvPr/>
          </p:nvSpPr>
          <p:spPr bwMode="auto">
            <a:xfrm>
              <a:off x="1879" y="1598"/>
              <a:ext cx="1769" cy="91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20" name="Line 64"/>
            <p:cNvSpPr>
              <a:spLocks noChangeShapeType="1"/>
            </p:cNvSpPr>
            <p:nvPr/>
          </p:nvSpPr>
          <p:spPr bwMode="auto">
            <a:xfrm>
              <a:off x="1390" y="1696"/>
              <a:ext cx="2485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21" name="Line 65"/>
            <p:cNvSpPr>
              <a:spLocks noChangeShapeType="1"/>
            </p:cNvSpPr>
            <p:nvPr/>
          </p:nvSpPr>
          <p:spPr bwMode="auto">
            <a:xfrm>
              <a:off x="1390" y="1726"/>
              <a:ext cx="2485" cy="0"/>
            </a:xfrm>
            <a:prstGeom prst="line">
              <a:avLst/>
            </a:prstGeom>
            <a:noFill/>
            <a:ln w="76200">
              <a:pattFill prst="dkUpDiag">
                <a:fgClr>
                  <a:schemeClr val="accent2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22" name="Line 66"/>
            <p:cNvSpPr>
              <a:spLocks noChangeShapeType="1"/>
            </p:cNvSpPr>
            <p:nvPr/>
          </p:nvSpPr>
          <p:spPr bwMode="auto">
            <a:xfrm>
              <a:off x="2005" y="515"/>
              <a:ext cx="0" cy="1088"/>
            </a:xfrm>
            <a:prstGeom prst="line">
              <a:avLst/>
            </a:prstGeom>
            <a:noFill/>
            <a:ln w="38100" cap="sq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76323" name="Group 67"/>
          <p:cNvGrpSpPr>
            <a:grpSpLocks/>
          </p:cNvGrpSpPr>
          <p:nvPr/>
        </p:nvGrpSpPr>
        <p:grpSpPr bwMode="auto">
          <a:xfrm>
            <a:off x="506413" y="757238"/>
            <a:ext cx="2327275" cy="2476500"/>
            <a:chOff x="429" y="527"/>
            <a:chExt cx="1460" cy="1560"/>
          </a:xfrm>
        </p:grpSpPr>
        <p:sp>
          <p:nvSpPr>
            <p:cNvPr id="1376324" name="AutoShape 68"/>
            <p:cNvSpPr>
              <a:spLocks/>
            </p:cNvSpPr>
            <p:nvPr/>
          </p:nvSpPr>
          <p:spPr bwMode="auto">
            <a:xfrm>
              <a:off x="1227" y="760"/>
              <a:ext cx="104" cy="1239"/>
            </a:xfrm>
            <a:prstGeom prst="leftBrace">
              <a:avLst>
                <a:gd name="adj1" fmla="val 99279"/>
                <a:gd name="adj2" fmla="val 50000"/>
              </a:avLst>
            </a:prstGeom>
            <a:noFill/>
            <a:ln w="28575">
              <a:solidFill>
                <a:srgbClr val="66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6325" name="Text Box 69"/>
            <p:cNvSpPr txBox="1">
              <a:spLocks noChangeArrowheads="1"/>
            </p:cNvSpPr>
            <p:nvPr/>
          </p:nvSpPr>
          <p:spPr bwMode="auto">
            <a:xfrm>
              <a:off x="1363" y="527"/>
              <a:ext cx="50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3333FF"/>
                  </a:solidFill>
                  <a:ea typeface="幼圆" pitchFamily="49" charset="-122"/>
                  <a:sym typeface="Symbol" pitchFamily="18" charset="2"/>
                </a:rPr>
                <a:t>上部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3333FF"/>
                  </a:solidFill>
                  <a:ea typeface="幼圆" pitchFamily="49" charset="-122"/>
                  <a:sym typeface="Symbol" pitchFamily="18" charset="2"/>
                </a:rPr>
                <a:t>结构</a:t>
              </a:r>
            </a:p>
          </p:txBody>
        </p:sp>
        <p:sp>
          <p:nvSpPr>
            <p:cNvPr id="1376326" name="Text Box 70"/>
            <p:cNvSpPr txBox="1">
              <a:spLocks noChangeArrowheads="1"/>
            </p:cNvSpPr>
            <p:nvPr/>
          </p:nvSpPr>
          <p:spPr bwMode="auto">
            <a:xfrm>
              <a:off x="1371" y="1278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339933"/>
                  </a:solidFill>
                  <a:ea typeface="幼圆" pitchFamily="49" charset="-122"/>
                  <a:sym typeface="Symbol" pitchFamily="18" charset="2"/>
                </a:rPr>
                <a:t>基础</a:t>
              </a:r>
            </a:p>
          </p:txBody>
        </p:sp>
        <p:sp>
          <p:nvSpPr>
            <p:cNvPr id="1376327" name="Text Box 71"/>
            <p:cNvSpPr txBox="1">
              <a:spLocks noChangeArrowheads="1"/>
            </p:cNvSpPr>
            <p:nvPr/>
          </p:nvSpPr>
          <p:spPr bwMode="auto">
            <a:xfrm>
              <a:off x="1389" y="1799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地基</a:t>
              </a:r>
            </a:p>
          </p:txBody>
        </p:sp>
        <p:sp>
          <p:nvSpPr>
            <p:cNvPr id="1376328" name="Text Box 72"/>
            <p:cNvSpPr txBox="1">
              <a:spLocks noChangeArrowheads="1"/>
            </p:cNvSpPr>
            <p:nvPr/>
          </p:nvSpPr>
          <p:spPr bwMode="auto">
            <a:xfrm>
              <a:off x="429" y="1027"/>
              <a:ext cx="6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990033"/>
                  </a:solidFill>
                  <a:ea typeface="幼圆" pitchFamily="49" charset="-122"/>
                  <a:sym typeface="Symbol" pitchFamily="18" charset="2"/>
                </a:rPr>
                <a:t>建筑物</a:t>
              </a:r>
              <a:br>
                <a:rPr kumimoji="1" lang="zh-CN" altLang="en-US" sz="2400" b="1">
                  <a:solidFill>
                    <a:srgbClr val="990033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400" b="1">
                  <a:solidFill>
                    <a:srgbClr val="990033"/>
                  </a:solidFill>
                  <a:ea typeface="幼圆" pitchFamily="49" charset="-122"/>
                  <a:sym typeface="Symbol" pitchFamily="18" charset="2"/>
                </a:rPr>
                <a:t>设计</a:t>
              </a:r>
            </a:p>
          </p:txBody>
        </p:sp>
      </p:grpSp>
      <p:grpSp>
        <p:nvGrpSpPr>
          <p:cNvPr id="1376329" name="Group 73"/>
          <p:cNvGrpSpPr>
            <a:grpSpLocks/>
          </p:cNvGrpSpPr>
          <p:nvPr/>
        </p:nvGrpSpPr>
        <p:grpSpPr bwMode="auto">
          <a:xfrm>
            <a:off x="6815138" y="1055688"/>
            <a:ext cx="1727200" cy="4000500"/>
            <a:chOff x="4413" y="575"/>
            <a:chExt cx="1021" cy="2520"/>
          </a:xfrm>
        </p:grpSpPr>
        <p:sp>
          <p:nvSpPr>
            <p:cNvPr id="1376330" name="AutoShape 74"/>
            <p:cNvSpPr>
              <a:spLocks noChangeArrowheads="1"/>
            </p:cNvSpPr>
            <p:nvPr/>
          </p:nvSpPr>
          <p:spPr bwMode="auto">
            <a:xfrm>
              <a:off x="5091" y="1268"/>
              <a:ext cx="0" cy="192"/>
            </a:xfrm>
            <a:prstGeom prst="octagon">
              <a:avLst>
                <a:gd name="adj" fmla="val 29287"/>
              </a:avLst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  <a:sym typeface="Symbol" pitchFamily="18" charset="2"/>
              </a:endParaRPr>
            </a:p>
          </p:txBody>
        </p:sp>
        <p:sp>
          <p:nvSpPr>
            <p:cNvPr id="1376331" name="Text Box 75"/>
            <p:cNvSpPr txBox="1">
              <a:spLocks noChangeArrowheads="1"/>
            </p:cNvSpPr>
            <p:nvPr/>
          </p:nvSpPr>
          <p:spPr bwMode="auto">
            <a:xfrm>
              <a:off x="4578" y="575"/>
              <a:ext cx="719" cy="448"/>
            </a:xfrm>
            <a:prstGeom prst="rect">
              <a:avLst/>
            </a:prstGeom>
            <a:solidFill>
              <a:srgbClr val="FFD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基础结构</a:t>
              </a:r>
              <a:br>
                <a:rPr kumimoji="1" lang="zh-CN" altLang="en-US" sz="2000" b="1"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的外荷载</a:t>
              </a:r>
            </a:p>
          </p:txBody>
        </p:sp>
        <p:sp>
          <p:nvSpPr>
            <p:cNvPr id="1376332" name="Text Box 76"/>
            <p:cNvSpPr txBox="1">
              <a:spLocks noChangeArrowheads="1"/>
            </p:cNvSpPr>
            <p:nvPr/>
          </p:nvSpPr>
          <p:spPr bwMode="auto">
            <a:xfrm>
              <a:off x="4558" y="1260"/>
              <a:ext cx="766" cy="256"/>
            </a:xfrm>
            <a:prstGeom prst="rect">
              <a:avLst/>
            </a:prstGeom>
            <a:solidFill>
              <a:srgbClr val="FFD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基底反力</a:t>
              </a:r>
            </a:p>
          </p:txBody>
        </p:sp>
        <p:sp>
          <p:nvSpPr>
            <p:cNvPr id="1376333" name="Text Box 77"/>
            <p:cNvSpPr txBox="1">
              <a:spLocks noChangeArrowheads="1"/>
            </p:cNvSpPr>
            <p:nvPr/>
          </p:nvSpPr>
          <p:spPr bwMode="auto">
            <a:xfrm>
              <a:off x="4558" y="1816"/>
              <a:ext cx="719" cy="256"/>
            </a:xfrm>
            <a:prstGeom prst="rect">
              <a:avLst/>
            </a:prstGeom>
            <a:solidFill>
              <a:srgbClr val="FFD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基底压力</a:t>
              </a:r>
            </a:p>
          </p:txBody>
        </p:sp>
        <p:sp>
          <p:nvSpPr>
            <p:cNvPr id="1376334" name="Text Box 78"/>
            <p:cNvSpPr txBox="1">
              <a:spLocks noChangeArrowheads="1"/>
            </p:cNvSpPr>
            <p:nvPr/>
          </p:nvSpPr>
          <p:spPr bwMode="auto">
            <a:xfrm>
              <a:off x="4568" y="2324"/>
              <a:ext cx="719" cy="256"/>
            </a:xfrm>
            <a:prstGeom prst="rect">
              <a:avLst/>
            </a:prstGeom>
            <a:solidFill>
              <a:srgbClr val="FFD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附加应力</a:t>
              </a:r>
            </a:p>
          </p:txBody>
        </p:sp>
        <p:sp>
          <p:nvSpPr>
            <p:cNvPr id="1376335" name="Text Box 79"/>
            <p:cNvSpPr txBox="1">
              <a:spLocks noChangeArrowheads="1"/>
            </p:cNvSpPr>
            <p:nvPr/>
          </p:nvSpPr>
          <p:spPr bwMode="auto">
            <a:xfrm>
              <a:off x="4413" y="2839"/>
              <a:ext cx="1021" cy="256"/>
            </a:xfrm>
            <a:prstGeom prst="rect">
              <a:avLst/>
            </a:prstGeom>
            <a:solidFill>
              <a:srgbClr val="FFD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地基沉降变形</a:t>
              </a:r>
            </a:p>
          </p:txBody>
        </p:sp>
        <p:sp>
          <p:nvSpPr>
            <p:cNvPr id="1376336" name="AutoShape 80"/>
            <p:cNvSpPr>
              <a:spLocks noChangeArrowheads="1"/>
            </p:cNvSpPr>
            <p:nvPr/>
          </p:nvSpPr>
          <p:spPr bwMode="auto">
            <a:xfrm rot="-5400000">
              <a:off x="4851" y="1022"/>
              <a:ext cx="175" cy="234"/>
            </a:xfrm>
            <a:prstGeom prst="rightArrow">
              <a:avLst>
                <a:gd name="adj1" fmla="val 42741"/>
                <a:gd name="adj2" fmla="val 5257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6337" name="AutoShape 81"/>
            <p:cNvSpPr>
              <a:spLocks noChangeArrowheads="1"/>
            </p:cNvSpPr>
            <p:nvPr/>
          </p:nvSpPr>
          <p:spPr bwMode="auto">
            <a:xfrm>
              <a:off x="4823" y="1533"/>
              <a:ext cx="231" cy="273"/>
            </a:xfrm>
            <a:prstGeom prst="upDownArrow">
              <a:avLst>
                <a:gd name="adj1" fmla="val 41991"/>
                <a:gd name="adj2" fmla="val 415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376338" name="AutoShape 82"/>
            <p:cNvSpPr>
              <a:spLocks noChangeArrowheads="1"/>
            </p:cNvSpPr>
            <p:nvPr/>
          </p:nvSpPr>
          <p:spPr bwMode="auto">
            <a:xfrm rot="5400000">
              <a:off x="4851" y="2088"/>
              <a:ext cx="175" cy="234"/>
            </a:xfrm>
            <a:prstGeom prst="rightArrow">
              <a:avLst>
                <a:gd name="adj1" fmla="val 42741"/>
                <a:gd name="adj2" fmla="val 5257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6339" name="AutoShape 83"/>
            <p:cNvSpPr>
              <a:spLocks noChangeArrowheads="1"/>
            </p:cNvSpPr>
            <p:nvPr/>
          </p:nvSpPr>
          <p:spPr bwMode="auto">
            <a:xfrm rot="5400000">
              <a:off x="4851" y="2608"/>
              <a:ext cx="175" cy="234"/>
            </a:xfrm>
            <a:prstGeom prst="rightArrow">
              <a:avLst>
                <a:gd name="adj1" fmla="val 42741"/>
                <a:gd name="adj2" fmla="val 5257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81891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37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1000"/>
                                        <p:tgtEl>
                                          <p:spTgt spid="137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76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76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76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37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30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291" name="Text Box 11"/>
          <p:cNvSpPr txBox="1">
            <a:spLocks noChangeArrowheads="1"/>
          </p:cNvSpPr>
          <p:nvPr/>
        </p:nvSpPr>
        <p:spPr bwMode="auto">
          <a:xfrm>
            <a:off x="2684255" y="5737117"/>
            <a:ext cx="48625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基底压力的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</a:rPr>
              <a:t>影响因素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377292" name="AutoShape 12"/>
          <p:cNvSpPr>
            <a:spLocks noChangeArrowheads="1"/>
          </p:cNvSpPr>
          <p:nvPr/>
        </p:nvSpPr>
        <p:spPr bwMode="auto">
          <a:xfrm>
            <a:off x="7879463" y="2351400"/>
            <a:ext cx="1076325" cy="1427163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8000"/>
            </a:solidFill>
            <a:prstDash val="sysDot"/>
            <a:round/>
            <a:headEnd type="non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刚度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形状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大小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埋深</a:t>
            </a:r>
          </a:p>
        </p:txBody>
      </p:sp>
      <p:sp>
        <p:nvSpPr>
          <p:cNvPr id="1377293" name="AutoShape 13"/>
          <p:cNvSpPr>
            <a:spLocks noChangeArrowheads="1"/>
          </p:cNvSpPr>
          <p:nvPr/>
        </p:nvSpPr>
        <p:spPr bwMode="auto">
          <a:xfrm>
            <a:off x="6355463" y="911538"/>
            <a:ext cx="944562" cy="110966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99"/>
            </a:solidFill>
            <a:prstDash val="sysDot"/>
            <a:round/>
            <a:headEnd type="non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大小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方向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分布</a:t>
            </a:r>
          </a:p>
        </p:txBody>
      </p:sp>
      <p:sp>
        <p:nvSpPr>
          <p:cNvPr id="1377294" name="AutoShape 14"/>
          <p:cNvSpPr>
            <a:spLocks noChangeArrowheads="1"/>
          </p:cNvSpPr>
          <p:nvPr/>
        </p:nvSpPr>
        <p:spPr bwMode="auto">
          <a:xfrm>
            <a:off x="6338000" y="3921438"/>
            <a:ext cx="1809750" cy="113665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800000"/>
            </a:solidFill>
            <a:prstDash val="sysDot"/>
            <a:round/>
            <a:headEnd type="non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土类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密度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土层结构等</a:t>
            </a:r>
          </a:p>
        </p:txBody>
      </p:sp>
      <p:grpSp>
        <p:nvGrpSpPr>
          <p:cNvPr id="1377295" name="Group 15"/>
          <p:cNvGrpSpPr>
            <a:grpSpLocks/>
          </p:cNvGrpSpPr>
          <p:nvPr/>
        </p:nvGrpSpPr>
        <p:grpSpPr bwMode="auto">
          <a:xfrm>
            <a:off x="3798000" y="2538725"/>
            <a:ext cx="2236788" cy="749300"/>
            <a:chOff x="2230" y="1674"/>
            <a:chExt cx="1409" cy="472"/>
          </a:xfrm>
        </p:grpSpPr>
        <p:sp>
          <p:nvSpPr>
            <p:cNvPr id="1377296" name="Rectangle 16"/>
            <p:cNvSpPr>
              <a:spLocks noChangeArrowheads="1"/>
            </p:cNvSpPr>
            <p:nvPr/>
          </p:nvSpPr>
          <p:spPr bwMode="auto">
            <a:xfrm>
              <a:off x="2548" y="1955"/>
              <a:ext cx="829" cy="136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7297" name="Group 17"/>
            <p:cNvGrpSpPr>
              <a:grpSpLocks/>
            </p:cNvGrpSpPr>
            <p:nvPr/>
          </p:nvGrpSpPr>
          <p:grpSpPr bwMode="auto">
            <a:xfrm>
              <a:off x="2230" y="2100"/>
              <a:ext cx="1409" cy="46"/>
              <a:chOff x="2880" y="1661"/>
              <a:chExt cx="1837" cy="37"/>
            </a:xfrm>
          </p:grpSpPr>
          <p:sp>
            <p:nvSpPr>
              <p:cNvPr id="1377298" name="Line 18"/>
              <p:cNvSpPr>
                <a:spLocks noChangeShapeType="1"/>
              </p:cNvSpPr>
              <p:nvPr/>
            </p:nvSpPr>
            <p:spPr bwMode="auto">
              <a:xfrm>
                <a:off x="2880" y="1661"/>
                <a:ext cx="1837" cy="0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7299" name="Line 19"/>
              <p:cNvSpPr>
                <a:spLocks noChangeShapeType="1"/>
              </p:cNvSpPr>
              <p:nvPr/>
            </p:nvSpPr>
            <p:spPr bwMode="auto">
              <a:xfrm>
                <a:off x="2880" y="1698"/>
                <a:ext cx="1837" cy="0"/>
              </a:xfrm>
              <a:prstGeom prst="line">
                <a:avLst/>
              </a:prstGeom>
              <a:noFill/>
              <a:ln w="101600">
                <a:pattFill prst="dkUpDiag">
                  <a:fgClr>
                    <a:schemeClr val="accent2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77300" name="Freeform 20" descr="浅色竖线"/>
            <p:cNvSpPr>
              <a:spLocks/>
            </p:cNvSpPr>
            <p:nvPr/>
          </p:nvSpPr>
          <p:spPr bwMode="auto">
            <a:xfrm>
              <a:off x="2550" y="1674"/>
              <a:ext cx="826" cy="286"/>
            </a:xfrm>
            <a:custGeom>
              <a:avLst/>
              <a:gdLst>
                <a:gd name="T0" fmla="*/ 0 w 826"/>
                <a:gd name="T1" fmla="*/ 281 h 286"/>
                <a:gd name="T2" fmla="*/ 826 w 826"/>
                <a:gd name="T3" fmla="*/ 286 h 286"/>
                <a:gd name="T4" fmla="*/ 826 w 826"/>
                <a:gd name="T5" fmla="*/ 105 h 286"/>
                <a:gd name="T6" fmla="*/ 669 w 826"/>
                <a:gd name="T7" fmla="*/ 137 h 286"/>
                <a:gd name="T8" fmla="*/ 479 w 826"/>
                <a:gd name="T9" fmla="*/ 5 h 286"/>
                <a:gd name="T10" fmla="*/ 339 w 826"/>
                <a:gd name="T11" fmla="*/ 105 h 286"/>
                <a:gd name="T12" fmla="*/ 105 w 826"/>
                <a:gd name="T13" fmla="*/ 50 h 286"/>
                <a:gd name="T14" fmla="*/ 0 w 826"/>
                <a:gd name="T15" fmla="*/ 135 h 286"/>
                <a:gd name="T16" fmla="*/ 0 w 826"/>
                <a:gd name="T17" fmla="*/ 28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6" h="286">
                  <a:moveTo>
                    <a:pt x="0" y="281"/>
                  </a:moveTo>
                  <a:lnTo>
                    <a:pt x="826" y="286"/>
                  </a:lnTo>
                  <a:lnTo>
                    <a:pt x="826" y="105"/>
                  </a:lnTo>
                  <a:cubicBezTo>
                    <a:pt x="800" y="80"/>
                    <a:pt x="727" y="154"/>
                    <a:pt x="669" y="137"/>
                  </a:cubicBezTo>
                  <a:cubicBezTo>
                    <a:pt x="611" y="120"/>
                    <a:pt x="534" y="10"/>
                    <a:pt x="479" y="5"/>
                  </a:cubicBezTo>
                  <a:cubicBezTo>
                    <a:pt x="424" y="0"/>
                    <a:pt x="401" y="98"/>
                    <a:pt x="339" y="105"/>
                  </a:cubicBezTo>
                  <a:cubicBezTo>
                    <a:pt x="277" y="112"/>
                    <a:pt x="161" y="45"/>
                    <a:pt x="105" y="50"/>
                  </a:cubicBezTo>
                  <a:cubicBezTo>
                    <a:pt x="49" y="55"/>
                    <a:pt x="17" y="96"/>
                    <a:pt x="0" y="135"/>
                  </a:cubicBezTo>
                  <a:lnTo>
                    <a:pt x="0" y="281"/>
                  </a:lnTo>
                  <a:close/>
                </a:path>
              </a:pathLst>
            </a:custGeom>
            <a:pattFill prst="ltVert">
              <a:fgClr>
                <a:srgbClr val="3333FF"/>
              </a:fgClr>
              <a:bgClr>
                <a:schemeClr val="bg1"/>
              </a:bgClr>
            </a:pattFill>
            <a:ln w="28575" cap="flat" cmpd="sng">
              <a:solidFill>
                <a:srgbClr val="3333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77301" name="Text Box 21"/>
          <p:cNvSpPr txBox="1">
            <a:spLocks noChangeArrowheads="1"/>
          </p:cNvSpPr>
          <p:nvPr/>
        </p:nvSpPr>
        <p:spPr bwMode="auto">
          <a:xfrm>
            <a:off x="487688" y="761988"/>
            <a:ext cx="3081337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prstDash val="sysDot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302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基底压力是地基和基础在上部荷载作用下相互作用的结果，受</a:t>
            </a: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荷载条件</a:t>
            </a: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、</a:t>
            </a: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基础条件</a:t>
            </a: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和</a:t>
            </a: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地基条件</a:t>
            </a: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的影响</a:t>
            </a:r>
            <a:endParaRPr lang="zh-CN" altLang="en-US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7302" name="Text Box 22"/>
          <p:cNvSpPr txBox="1">
            <a:spLocks noChangeArrowheads="1"/>
          </p:cNvSpPr>
          <p:nvPr/>
        </p:nvSpPr>
        <p:spPr bwMode="auto">
          <a:xfrm>
            <a:off x="4660013" y="1211575"/>
            <a:ext cx="176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荷载条件：</a:t>
            </a:r>
          </a:p>
        </p:txBody>
      </p:sp>
      <p:sp>
        <p:nvSpPr>
          <p:cNvPr id="1377303" name="Line 23"/>
          <p:cNvSpPr>
            <a:spLocks noChangeShapeType="1"/>
          </p:cNvSpPr>
          <p:nvPr/>
        </p:nvSpPr>
        <p:spPr bwMode="auto">
          <a:xfrm flipV="1">
            <a:off x="5034663" y="1756088"/>
            <a:ext cx="0" cy="969962"/>
          </a:xfrm>
          <a:prstGeom prst="line">
            <a:avLst/>
          </a:prstGeom>
          <a:noFill/>
          <a:ln w="57150">
            <a:solidFill>
              <a:srgbClr val="00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7304" name="Text Box 24"/>
          <p:cNvSpPr txBox="1">
            <a:spLocks noChangeArrowheads="1"/>
          </p:cNvSpPr>
          <p:nvPr/>
        </p:nvSpPr>
        <p:spPr bwMode="auto">
          <a:xfrm>
            <a:off x="6271325" y="2849875"/>
            <a:ext cx="151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6600"/>
                </a:solidFill>
                <a:ea typeface="幼圆" pitchFamily="49" charset="-122"/>
                <a:sym typeface="Symbol" pitchFamily="18" charset="2"/>
              </a:rPr>
              <a:t>基础条件</a:t>
            </a:r>
            <a:r>
              <a:rPr kumimoji="1" lang="en-US" altLang="zh-CN" sz="2400" b="1">
                <a:solidFill>
                  <a:srgbClr val="006600"/>
                </a:solidFill>
                <a:ea typeface="幼圆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377305" name="Line 25"/>
          <p:cNvSpPr>
            <a:spLocks noChangeShapeType="1"/>
          </p:cNvSpPr>
          <p:nvPr/>
        </p:nvSpPr>
        <p:spPr bwMode="auto">
          <a:xfrm rot="5400000" flipV="1">
            <a:off x="5925250" y="2662550"/>
            <a:ext cx="0" cy="863600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7306" name="Text Box 26"/>
          <p:cNvSpPr txBox="1">
            <a:spLocks noChangeArrowheads="1"/>
          </p:cNvSpPr>
          <p:nvPr/>
        </p:nvSpPr>
        <p:spPr bwMode="auto">
          <a:xfrm>
            <a:off x="4679063" y="4219888"/>
            <a:ext cx="179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地基条件：</a:t>
            </a:r>
          </a:p>
        </p:txBody>
      </p:sp>
      <p:sp>
        <p:nvSpPr>
          <p:cNvPr id="1377307" name="Line 27"/>
          <p:cNvSpPr>
            <a:spLocks noChangeShapeType="1"/>
          </p:cNvSpPr>
          <p:nvPr/>
        </p:nvSpPr>
        <p:spPr bwMode="auto">
          <a:xfrm rot="10800000" flipV="1">
            <a:off x="5052125" y="3427725"/>
            <a:ext cx="0" cy="809625"/>
          </a:xfrm>
          <a:prstGeom prst="line">
            <a:avLst/>
          </a:prstGeom>
          <a:noFill/>
          <a:ln w="57150">
            <a:solidFill>
              <a:srgbClr val="99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7308" name="Text Box 28"/>
          <p:cNvSpPr txBox="1">
            <a:spLocks noChangeArrowheads="1"/>
          </p:cNvSpPr>
          <p:nvPr/>
        </p:nvSpPr>
        <p:spPr bwMode="auto">
          <a:xfrm>
            <a:off x="698499" y="3675238"/>
            <a:ext cx="3324225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prstDash val="sysDot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暂不考虑上部结构的影响，用荷载代替上部结构，使问题得以简化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62413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77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77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77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77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" dur="500"/>
                                        <p:tgtEl>
                                          <p:spTgt spid="137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37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37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137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7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7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1000"/>
                                        <p:tgtEl>
                                          <p:spTgt spid="137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37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37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37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77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92" grpId="0" animBg="1"/>
      <p:bldP spid="1377293" grpId="0" animBg="1"/>
      <p:bldP spid="1377294" grpId="0" animBg="1"/>
      <p:bldP spid="1377301" grpId="0"/>
      <p:bldP spid="1377302" grpId="0"/>
      <p:bldP spid="1377303" grpId="0" animBg="1"/>
      <p:bldP spid="1377304" grpId="0"/>
      <p:bldP spid="1377305" grpId="0" animBg="1"/>
      <p:bldP spid="1377306" grpId="0"/>
      <p:bldP spid="1377307" grpId="0" animBg="1"/>
      <p:bldP spid="1377308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25" name="Rectangle 21"/>
          <p:cNvSpPr>
            <a:spLocks noChangeArrowheads="1"/>
          </p:cNvSpPr>
          <p:nvPr/>
        </p:nvSpPr>
        <p:spPr bwMode="auto">
          <a:xfrm>
            <a:off x="5576888" y="752475"/>
            <a:ext cx="3400425" cy="497998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8326" name="Rectangle 22"/>
          <p:cNvSpPr>
            <a:spLocks noChangeArrowheads="1"/>
          </p:cNvSpPr>
          <p:nvPr/>
        </p:nvSpPr>
        <p:spPr bwMode="auto">
          <a:xfrm>
            <a:off x="682314" y="3900488"/>
            <a:ext cx="4578456" cy="1397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6800" rIns="0" bIns="46800">
            <a:spAutoFit/>
          </a:bodyPr>
          <a:lstStyle/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抗弯刚度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EI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=∞ → 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≠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</a:p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基础只能保持平面下沉不能弯曲</a:t>
            </a:r>
          </a:p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分布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中间小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两端无穷大</a:t>
            </a:r>
          </a:p>
        </p:txBody>
      </p:sp>
      <p:sp>
        <p:nvSpPr>
          <p:cNvPr id="1378327" name="Rectangle 23"/>
          <p:cNvSpPr>
            <a:spLocks noChangeArrowheads="1"/>
          </p:cNvSpPr>
          <p:nvPr/>
        </p:nvSpPr>
        <p:spPr bwMode="auto">
          <a:xfrm>
            <a:off x="562425" y="1293813"/>
            <a:ext cx="5145088" cy="178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CC00"/>
                </a:solidFill>
                <a:prstDash val="sysDot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基础抗弯刚度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EI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 → 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</a:p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基础变形能完全适应地基表面的变形</a:t>
            </a:r>
          </a:p>
          <a:p>
            <a:pPr marL="273050" indent="-2730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20000"/>
              <a:buFont typeface="Arial" pitchFamily="34" charset="0"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基础上下压力分布必须完全相同，若不同将会产生弯矩</a:t>
            </a:r>
          </a:p>
        </p:txBody>
      </p:sp>
      <p:grpSp>
        <p:nvGrpSpPr>
          <p:cNvPr id="1378328" name="Group 24"/>
          <p:cNvGrpSpPr>
            <a:grpSpLocks/>
          </p:cNvGrpSpPr>
          <p:nvPr/>
        </p:nvGrpSpPr>
        <p:grpSpPr bwMode="auto">
          <a:xfrm>
            <a:off x="5741988" y="871538"/>
            <a:ext cx="2989262" cy="1346200"/>
            <a:chOff x="3630" y="469"/>
            <a:chExt cx="1870" cy="848"/>
          </a:xfrm>
        </p:grpSpPr>
        <p:sp>
          <p:nvSpPr>
            <p:cNvPr id="1378329" name="Text Box 25"/>
            <p:cNvSpPr txBox="1">
              <a:spLocks noChangeArrowheads="1"/>
            </p:cNvSpPr>
            <p:nvPr/>
          </p:nvSpPr>
          <p:spPr bwMode="auto">
            <a:xfrm>
              <a:off x="3729" y="469"/>
              <a:ext cx="17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条形基础，竖直均布荷载</a:t>
              </a:r>
            </a:p>
          </p:txBody>
        </p:sp>
        <p:sp>
          <p:nvSpPr>
            <p:cNvPr id="1378330" name="Rectangle 26"/>
            <p:cNvSpPr>
              <a:spLocks noChangeArrowheads="1"/>
            </p:cNvSpPr>
            <p:nvPr/>
          </p:nvSpPr>
          <p:spPr bwMode="auto">
            <a:xfrm>
              <a:off x="3925" y="1082"/>
              <a:ext cx="1202" cy="190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8331" name="Group 27"/>
            <p:cNvGrpSpPr>
              <a:grpSpLocks/>
            </p:cNvGrpSpPr>
            <p:nvPr/>
          </p:nvGrpSpPr>
          <p:grpSpPr bwMode="auto">
            <a:xfrm>
              <a:off x="3630" y="1280"/>
              <a:ext cx="1837" cy="37"/>
              <a:chOff x="3446" y="1216"/>
              <a:chExt cx="1837" cy="37"/>
            </a:xfrm>
          </p:grpSpPr>
          <p:sp>
            <p:nvSpPr>
              <p:cNvPr id="1378332" name="Line 28"/>
              <p:cNvSpPr>
                <a:spLocks noChangeShapeType="1"/>
              </p:cNvSpPr>
              <p:nvPr/>
            </p:nvSpPr>
            <p:spPr bwMode="auto">
              <a:xfrm>
                <a:off x="3446" y="1216"/>
                <a:ext cx="1837" cy="0"/>
              </a:xfrm>
              <a:prstGeom prst="line">
                <a:avLst/>
              </a:pr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8333" name="Line 29"/>
              <p:cNvSpPr>
                <a:spLocks noChangeShapeType="1"/>
              </p:cNvSpPr>
              <p:nvPr/>
            </p:nvSpPr>
            <p:spPr bwMode="auto">
              <a:xfrm>
                <a:off x="3446" y="1253"/>
                <a:ext cx="1837" cy="0"/>
              </a:xfrm>
              <a:prstGeom prst="line">
                <a:avLst/>
              </a:prstGeom>
              <a:noFill/>
              <a:ln w="101600">
                <a:pattFill prst="dkUpDiag">
                  <a:fgClr>
                    <a:srgbClr val="FFCCCC"/>
                  </a:fgClr>
                  <a:bgClr>
                    <a:srgbClr val="FF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78334" name="Group 30"/>
            <p:cNvGrpSpPr>
              <a:grpSpLocks/>
            </p:cNvGrpSpPr>
            <p:nvPr/>
          </p:nvGrpSpPr>
          <p:grpSpPr bwMode="auto">
            <a:xfrm>
              <a:off x="3941" y="871"/>
              <a:ext cx="1181" cy="204"/>
              <a:chOff x="2034" y="572"/>
              <a:chExt cx="1206" cy="204"/>
            </a:xfrm>
          </p:grpSpPr>
          <p:sp>
            <p:nvSpPr>
              <p:cNvPr id="1378335" name="Line 31"/>
              <p:cNvSpPr>
                <a:spLocks noChangeShapeType="1"/>
              </p:cNvSpPr>
              <p:nvPr/>
            </p:nvSpPr>
            <p:spPr bwMode="auto">
              <a:xfrm>
                <a:off x="2231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36" name="Line 32"/>
              <p:cNvSpPr>
                <a:spLocks noChangeShapeType="1"/>
              </p:cNvSpPr>
              <p:nvPr/>
            </p:nvSpPr>
            <p:spPr bwMode="auto">
              <a:xfrm>
                <a:off x="2333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37" name="Line 33"/>
              <p:cNvSpPr>
                <a:spLocks noChangeShapeType="1"/>
              </p:cNvSpPr>
              <p:nvPr/>
            </p:nvSpPr>
            <p:spPr bwMode="auto">
              <a:xfrm>
                <a:off x="24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38" name="Line 34"/>
              <p:cNvSpPr>
                <a:spLocks noChangeShapeType="1"/>
              </p:cNvSpPr>
              <p:nvPr/>
            </p:nvSpPr>
            <p:spPr bwMode="auto">
              <a:xfrm>
                <a:off x="2537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39" name="Line 35"/>
              <p:cNvSpPr>
                <a:spLocks noChangeShapeType="1"/>
              </p:cNvSpPr>
              <p:nvPr/>
            </p:nvSpPr>
            <p:spPr bwMode="auto">
              <a:xfrm>
                <a:off x="26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0" name="Line 36"/>
              <p:cNvSpPr>
                <a:spLocks noChangeShapeType="1"/>
              </p:cNvSpPr>
              <p:nvPr/>
            </p:nvSpPr>
            <p:spPr bwMode="auto">
              <a:xfrm>
                <a:off x="2742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1" name="Line 37"/>
              <p:cNvSpPr>
                <a:spLocks noChangeShapeType="1"/>
              </p:cNvSpPr>
              <p:nvPr/>
            </p:nvSpPr>
            <p:spPr bwMode="auto">
              <a:xfrm>
                <a:off x="213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2" name="Line 38"/>
              <p:cNvSpPr>
                <a:spLocks noChangeShapeType="1"/>
              </p:cNvSpPr>
              <p:nvPr/>
            </p:nvSpPr>
            <p:spPr bwMode="auto">
              <a:xfrm>
                <a:off x="2034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3" name="Line 39"/>
              <p:cNvSpPr>
                <a:spLocks noChangeShapeType="1"/>
              </p:cNvSpPr>
              <p:nvPr/>
            </p:nvSpPr>
            <p:spPr bwMode="auto">
              <a:xfrm>
                <a:off x="3036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4" name="Line 40"/>
              <p:cNvSpPr>
                <a:spLocks noChangeShapeType="1"/>
              </p:cNvSpPr>
              <p:nvPr/>
            </p:nvSpPr>
            <p:spPr bwMode="auto">
              <a:xfrm>
                <a:off x="3138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5" name="Line 41"/>
              <p:cNvSpPr>
                <a:spLocks noChangeShapeType="1"/>
              </p:cNvSpPr>
              <p:nvPr/>
            </p:nvSpPr>
            <p:spPr bwMode="auto">
              <a:xfrm>
                <a:off x="324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6" name="Line 42"/>
              <p:cNvSpPr>
                <a:spLocks noChangeShapeType="1"/>
              </p:cNvSpPr>
              <p:nvPr/>
            </p:nvSpPr>
            <p:spPr bwMode="auto">
              <a:xfrm>
                <a:off x="29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47" name="Line 43"/>
              <p:cNvSpPr>
                <a:spLocks noChangeShapeType="1"/>
              </p:cNvSpPr>
              <p:nvPr/>
            </p:nvSpPr>
            <p:spPr bwMode="auto">
              <a:xfrm>
                <a:off x="28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378348" name="Group 44"/>
          <p:cNvGrpSpPr>
            <a:grpSpLocks/>
          </p:cNvGrpSpPr>
          <p:nvPr/>
        </p:nvGrpSpPr>
        <p:grpSpPr bwMode="auto">
          <a:xfrm>
            <a:off x="5764213" y="2667000"/>
            <a:ext cx="2916237" cy="1079500"/>
            <a:chOff x="3631" y="1680"/>
            <a:chExt cx="1837" cy="680"/>
          </a:xfrm>
        </p:grpSpPr>
        <p:sp>
          <p:nvSpPr>
            <p:cNvPr id="1378349" name="Freeform 45" descr="30%"/>
            <p:cNvSpPr>
              <a:spLocks/>
            </p:cNvSpPr>
            <p:nvPr/>
          </p:nvSpPr>
          <p:spPr bwMode="auto">
            <a:xfrm>
              <a:off x="3925" y="1896"/>
              <a:ext cx="1202" cy="254"/>
            </a:xfrm>
            <a:custGeom>
              <a:avLst/>
              <a:gdLst>
                <a:gd name="T0" fmla="*/ 40 w 1202"/>
                <a:gd name="T1" fmla="*/ 6 h 254"/>
                <a:gd name="T2" fmla="*/ 104 w 1202"/>
                <a:gd name="T3" fmla="*/ 22 h 254"/>
                <a:gd name="T4" fmla="*/ 172 w 1202"/>
                <a:gd name="T5" fmla="*/ 34 h 254"/>
                <a:gd name="T6" fmla="*/ 394 w 1202"/>
                <a:gd name="T7" fmla="*/ 58 h 254"/>
                <a:gd name="T8" fmla="*/ 610 w 1202"/>
                <a:gd name="T9" fmla="*/ 68 h 254"/>
                <a:gd name="T10" fmla="*/ 838 w 1202"/>
                <a:gd name="T11" fmla="*/ 56 h 254"/>
                <a:gd name="T12" fmla="*/ 994 w 1202"/>
                <a:gd name="T13" fmla="*/ 34 h 254"/>
                <a:gd name="T14" fmla="*/ 1104 w 1202"/>
                <a:gd name="T15" fmla="*/ 14 h 254"/>
                <a:gd name="T16" fmla="*/ 1174 w 1202"/>
                <a:gd name="T17" fmla="*/ 0 h 254"/>
                <a:gd name="T18" fmla="*/ 1202 w 1202"/>
                <a:gd name="T19" fmla="*/ 188 h 254"/>
                <a:gd name="T20" fmla="*/ 1152 w 1202"/>
                <a:gd name="T21" fmla="*/ 204 h 254"/>
                <a:gd name="T22" fmla="*/ 1030 w 1202"/>
                <a:gd name="T23" fmla="*/ 226 h 254"/>
                <a:gd name="T24" fmla="*/ 838 w 1202"/>
                <a:gd name="T25" fmla="*/ 248 h 254"/>
                <a:gd name="T26" fmla="*/ 612 w 1202"/>
                <a:gd name="T27" fmla="*/ 254 h 254"/>
                <a:gd name="T28" fmla="*/ 432 w 1202"/>
                <a:gd name="T29" fmla="*/ 246 h 254"/>
                <a:gd name="T30" fmla="*/ 164 w 1202"/>
                <a:gd name="T31" fmla="*/ 222 h 254"/>
                <a:gd name="T32" fmla="*/ 58 w 1202"/>
                <a:gd name="T33" fmla="*/ 206 h 254"/>
                <a:gd name="T34" fmla="*/ 0 w 1202"/>
                <a:gd name="T35" fmla="*/ 190 h 254"/>
                <a:gd name="T36" fmla="*/ 40 w 1202"/>
                <a:gd name="T37" fmla="*/ 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2" h="254">
                  <a:moveTo>
                    <a:pt x="40" y="6"/>
                  </a:moveTo>
                  <a:lnTo>
                    <a:pt x="104" y="22"/>
                  </a:lnTo>
                  <a:cubicBezTo>
                    <a:pt x="126" y="27"/>
                    <a:pt x="124" y="28"/>
                    <a:pt x="172" y="34"/>
                  </a:cubicBezTo>
                  <a:cubicBezTo>
                    <a:pt x="220" y="40"/>
                    <a:pt x="321" y="52"/>
                    <a:pt x="394" y="58"/>
                  </a:cubicBezTo>
                  <a:cubicBezTo>
                    <a:pt x="467" y="64"/>
                    <a:pt x="536" y="68"/>
                    <a:pt x="610" y="68"/>
                  </a:cubicBezTo>
                  <a:cubicBezTo>
                    <a:pt x="684" y="68"/>
                    <a:pt x="774" y="62"/>
                    <a:pt x="838" y="56"/>
                  </a:cubicBezTo>
                  <a:cubicBezTo>
                    <a:pt x="902" y="50"/>
                    <a:pt x="950" y="41"/>
                    <a:pt x="994" y="34"/>
                  </a:cubicBezTo>
                  <a:cubicBezTo>
                    <a:pt x="1038" y="27"/>
                    <a:pt x="1074" y="20"/>
                    <a:pt x="1104" y="14"/>
                  </a:cubicBezTo>
                  <a:lnTo>
                    <a:pt x="1174" y="0"/>
                  </a:lnTo>
                  <a:lnTo>
                    <a:pt x="1202" y="188"/>
                  </a:lnTo>
                  <a:lnTo>
                    <a:pt x="1152" y="204"/>
                  </a:lnTo>
                  <a:cubicBezTo>
                    <a:pt x="1123" y="210"/>
                    <a:pt x="1082" y="219"/>
                    <a:pt x="1030" y="226"/>
                  </a:cubicBezTo>
                  <a:cubicBezTo>
                    <a:pt x="978" y="233"/>
                    <a:pt x="908" y="243"/>
                    <a:pt x="838" y="248"/>
                  </a:cubicBezTo>
                  <a:cubicBezTo>
                    <a:pt x="768" y="253"/>
                    <a:pt x="680" y="254"/>
                    <a:pt x="612" y="254"/>
                  </a:cubicBezTo>
                  <a:cubicBezTo>
                    <a:pt x="544" y="254"/>
                    <a:pt x="507" y="251"/>
                    <a:pt x="432" y="246"/>
                  </a:cubicBezTo>
                  <a:cubicBezTo>
                    <a:pt x="357" y="241"/>
                    <a:pt x="226" y="229"/>
                    <a:pt x="164" y="222"/>
                  </a:cubicBezTo>
                  <a:cubicBezTo>
                    <a:pt x="102" y="215"/>
                    <a:pt x="85" y="211"/>
                    <a:pt x="58" y="206"/>
                  </a:cubicBezTo>
                  <a:lnTo>
                    <a:pt x="0" y="190"/>
                  </a:lnTo>
                  <a:lnTo>
                    <a:pt x="40" y="6"/>
                  </a:lnTo>
                  <a:close/>
                </a:path>
              </a:pathLst>
            </a:cu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cap="flat" cmpd="sng">
              <a:solidFill>
                <a:srgbClr val="008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8350" name="Group 46"/>
            <p:cNvGrpSpPr>
              <a:grpSpLocks/>
            </p:cNvGrpSpPr>
            <p:nvPr/>
          </p:nvGrpSpPr>
          <p:grpSpPr bwMode="auto">
            <a:xfrm>
              <a:off x="3949" y="1680"/>
              <a:ext cx="1156" cy="272"/>
              <a:chOff x="1599" y="2614"/>
              <a:chExt cx="1181" cy="272"/>
            </a:xfrm>
          </p:grpSpPr>
          <p:sp>
            <p:nvSpPr>
              <p:cNvPr id="1378351" name="Line 47"/>
              <p:cNvSpPr>
                <a:spLocks noChangeShapeType="1"/>
              </p:cNvSpPr>
              <p:nvPr/>
            </p:nvSpPr>
            <p:spPr bwMode="auto">
              <a:xfrm flipV="1">
                <a:off x="1792" y="2653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2" name="Line 48"/>
              <p:cNvSpPr>
                <a:spLocks noChangeShapeType="1"/>
              </p:cNvSpPr>
              <p:nvPr/>
            </p:nvSpPr>
            <p:spPr bwMode="auto">
              <a:xfrm flipV="1">
                <a:off x="1892" y="266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3" name="Line 49"/>
              <p:cNvSpPr>
                <a:spLocks noChangeShapeType="1"/>
              </p:cNvSpPr>
              <p:nvPr/>
            </p:nvSpPr>
            <p:spPr bwMode="auto">
              <a:xfrm flipV="1">
                <a:off x="1992" y="2671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4" name="Line 50"/>
              <p:cNvSpPr>
                <a:spLocks noChangeShapeType="1"/>
              </p:cNvSpPr>
              <p:nvPr/>
            </p:nvSpPr>
            <p:spPr bwMode="auto">
              <a:xfrm flipV="1">
                <a:off x="2092" y="267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5" name="Line 51"/>
              <p:cNvSpPr>
                <a:spLocks noChangeShapeType="1"/>
              </p:cNvSpPr>
              <p:nvPr/>
            </p:nvSpPr>
            <p:spPr bwMode="auto">
              <a:xfrm flipV="1">
                <a:off x="2191" y="268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6" name="Line 52"/>
              <p:cNvSpPr>
                <a:spLocks noChangeShapeType="1"/>
              </p:cNvSpPr>
              <p:nvPr/>
            </p:nvSpPr>
            <p:spPr bwMode="auto">
              <a:xfrm flipV="1">
                <a:off x="2292" y="268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7" name="Line 53"/>
              <p:cNvSpPr>
                <a:spLocks noChangeShapeType="1"/>
              </p:cNvSpPr>
              <p:nvPr/>
            </p:nvSpPr>
            <p:spPr bwMode="auto">
              <a:xfrm flipV="1">
                <a:off x="1693" y="2641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8" name="Line 54"/>
              <p:cNvSpPr>
                <a:spLocks noChangeShapeType="1"/>
              </p:cNvSpPr>
              <p:nvPr/>
            </p:nvSpPr>
            <p:spPr bwMode="auto">
              <a:xfrm flipV="1">
                <a:off x="1599" y="262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59" name="Line 55"/>
              <p:cNvSpPr>
                <a:spLocks noChangeShapeType="1"/>
              </p:cNvSpPr>
              <p:nvPr/>
            </p:nvSpPr>
            <p:spPr bwMode="auto">
              <a:xfrm flipV="1">
                <a:off x="2580" y="265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60" name="Line 56"/>
              <p:cNvSpPr>
                <a:spLocks noChangeShapeType="1"/>
              </p:cNvSpPr>
              <p:nvPr/>
            </p:nvSpPr>
            <p:spPr bwMode="auto">
              <a:xfrm flipV="1">
                <a:off x="2680" y="2643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61" name="Line 57"/>
              <p:cNvSpPr>
                <a:spLocks noChangeShapeType="1"/>
              </p:cNvSpPr>
              <p:nvPr/>
            </p:nvSpPr>
            <p:spPr bwMode="auto">
              <a:xfrm flipV="1">
                <a:off x="2780" y="2614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62" name="Line 58"/>
              <p:cNvSpPr>
                <a:spLocks noChangeShapeType="1"/>
              </p:cNvSpPr>
              <p:nvPr/>
            </p:nvSpPr>
            <p:spPr bwMode="auto">
              <a:xfrm flipV="1">
                <a:off x="2481" y="26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63" name="Line 59"/>
              <p:cNvSpPr>
                <a:spLocks noChangeShapeType="1"/>
              </p:cNvSpPr>
              <p:nvPr/>
            </p:nvSpPr>
            <p:spPr bwMode="auto">
              <a:xfrm flipV="1">
                <a:off x="2387" y="267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stealth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378364" name="Group 60"/>
            <p:cNvGrpSpPr>
              <a:grpSpLocks/>
            </p:cNvGrpSpPr>
            <p:nvPr/>
          </p:nvGrpSpPr>
          <p:grpSpPr bwMode="auto">
            <a:xfrm>
              <a:off x="3631" y="2086"/>
              <a:ext cx="1837" cy="100"/>
              <a:chOff x="3447" y="2022"/>
              <a:chExt cx="1837" cy="100"/>
            </a:xfrm>
          </p:grpSpPr>
          <p:sp>
            <p:nvSpPr>
              <p:cNvPr id="1378365" name="Freeform 61"/>
              <p:cNvSpPr>
                <a:spLocks/>
              </p:cNvSpPr>
              <p:nvPr/>
            </p:nvSpPr>
            <p:spPr bwMode="auto">
              <a:xfrm>
                <a:off x="3447" y="2022"/>
                <a:ext cx="1837" cy="65"/>
              </a:xfrm>
              <a:custGeom>
                <a:avLst/>
                <a:gdLst>
                  <a:gd name="T0" fmla="*/ 0 w 1837"/>
                  <a:gd name="T1" fmla="*/ 2 h 65"/>
                  <a:gd name="T2" fmla="*/ 290 w 1837"/>
                  <a:gd name="T3" fmla="*/ 0 h 65"/>
                  <a:gd name="T4" fmla="*/ 336 w 1837"/>
                  <a:gd name="T5" fmla="*/ 14 h 65"/>
                  <a:gd name="T6" fmla="*/ 492 w 1837"/>
                  <a:gd name="T7" fmla="*/ 36 h 65"/>
                  <a:gd name="T8" fmla="*/ 604 w 1837"/>
                  <a:gd name="T9" fmla="*/ 46 h 65"/>
                  <a:gd name="T10" fmla="*/ 908 w 1837"/>
                  <a:gd name="T11" fmla="*/ 64 h 65"/>
                  <a:gd name="T12" fmla="*/ 1138 w 1837"/>
                  <a:gd name="T13" fmla="*/ 54 h 65"/>
                  <a:gd name="T14" fmla="*/ 1288 w 1837"/>
                  <a:gd name="T15" fmla="*/ 42 h 65"/>
                  <a:gd name="T16" fmla="*/ 1398 w 1837"/>
                  <a:gd name="T17" fmla="*/ 26 h 65"/>
                  <a:gd name="T18" fmla="*/ 1454 w 1837"/>
                  <a:gd name="T19" fmla="*/ 12 h 65"/>
                  <a:gd name="T20" fmla="*/ 1502 w 1837"/>
                  <a:gd name="T21" fmla="*/ 0 h 65"/>
                  <a:gd name="T22" fmla="*/ 1837 w 1837"/>
                  <a:gd name="T23" fmla="*/ 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7" h="65">
                    <a:moveTo>
                      <a:pt x="0" y="2"/>
                    </a:moveTo>
                    <a:lnTo>
                      <a:pt x="290" y="0"/>
                    </a:lnTo>
                    <a:lnTo>
                      <a:pt x="336" y="14"/>
                    </a:lnTo>
                    <a:cubicBezTo>
                      <a:pt x="370" y="20"/>
                      <a:pt x="447" y="31"/>
                      <a:pt x="492" y="36"/>
                    </a:cubicBezTo>
                    <a:cubicBezTo>
                      <a:pt x="537" y="41"/>
                      <a:pt x="535" y="41"/>
                      <a:pt x="604" y="46"/>
                    </a:cubicBezTo>
                    <a:cubicBezTo>
                      <a:pt x="673" y="51"/>
                      <a:pt x="819" y="63"/>
                      <a:pt x="908" y="64"/>
                    </a:cubicBezTo>
                    <a:cubicBezTo>
                      <a:pt x="997" y="65"/>
                      <a:pt x="1075" y="58"/>
                      <a:pt x="1138" y="54"/>
                    </a:cubicBezTo>
                    <a:cubicBezTo>
                      <a:pt x="1201" y="50"/>
                      <a:pt x="1245" y="47"/>
                      <a:pt x="1288" y="42"/>
                    </a:cubicBezTo>
                    <a:cubicBezTo>
                      <a:pt x="1331" y="37"/>
                      <a:pt x="1370" y="31"/>
                      <a:pt x="1398" y="26"/>
                    </a:cubicBezTo>
                    <a:cubicBezTo>
                      <a:pt x="1426" y="21"/>
                      <a:pt x="1437" y="16"/>
                      <a:pt x="1454" y="12"/>
                    </a:cubicBezTo>
                    <a:lnTo>
                      <a:pt x="1502" y="0"/>
                    </a:lnTo>
                    <a:lnTo>
                      <a:pt x="1837" y="2"/>
                    </a:lnTo>
                  </a:path>
                </a:pathLst>
              </a:cu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8366" name="Freeform 62"/>
              <p:cNvSpPr>
                <a:spLocks/>
              </p:cNvSpPr>
              <p:nvPr/>
            </p:nvSpPr>
            <p:spPr bwMode="auto">
              <a:xfrm>
                <a:off x="3447" y="2058"/>
                <a:ext cx="1837" cy="64"/>
              </a:xfrm>
              <a:custGeom>
                <a:avLst/>
                <a:gdLst>
                  <a:gd name="T0" fmla="*/ 0 w 1837"/>
                  <a:gd name="T1" fmla="*/ 3 h 64"/>
                  <a:gd name="T2" fmla="*/ 292 w 1837"/>
                  <a:gd name="T3" fmla="*/ 4 h 64"/>
                  <a:gd name="T4" fmla="*/ 330 w 1837"/>
                  <a:gd name="T5" fmla="*/ 14 h 64"/>
                  <a:gd name="T6" fmla="*/ 578 w 1837"/>
                  <a:gd name="T7" fmla="*/ 48 h 64"/>
                  <a:gd name="T8" fmla="*/ 910 w 1837"/>
                  <a:gd name="T9" fmla="*/ 64 h 64"/>
                  <a:gd name="T10" fmla="*/ 1186 w 1837"/>
                  <a:gd name="T11" fmla="*/ 50 h 64"/>
                  <a:gd name="T12" fmla="*/ 1450 w 1837"/>
                  <a:gd name="T13" fmla="*/ 16 h 64"/>
                  <a:gd name="T14" fmla="*/ 1496 w 1837"/>
                  <a:gd name="T15" fmla="*/ 0 h 64"/>
                  <a:gd name="T16" fmla="*/ 1837 w 1837"/>
                  <a:gd name="T17" fmla="*/ 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7" h="64">
                    <a:moveTo>
                      <a:pt x="0" y="3"/>
                    </a:moveTo>
                    <a:lnTo>
                      <a:pt x="292" y="4"/>
                    </a:lnTo>
                    <a:lnTo>
                      <a:pt x="330" y="14"/>
                    </a:lnTo>
                    <a:cubicBezTo>
                      <a:pt x="378" y="21"/>
                      <a:pt x="481" y="40"/>
                      <a:pt x="578" y="48"/>
                    </a:cubicBezTo>
                    <a:cubicBezTo>
                      <a:pt x="675" y="56"/>
                      <a:pt x="809" y="64"/>
                      <a:pt x="910" y="64"/>
                    </a:cubicBezTo>
                    <a:cubicBezTo>
                      <a:pt x="1011" y="64"/>
                      <a:pt x="1096" y="58"/>
                      <a:pt x="1186" y="50"/>
                    </a:cubicBezTo>
                    <a:cubicBezTo>
                      <a:pt x="1276" y="42"/>
                      <a:pt x="1398" y="24"/>
                      <a:pt x="1450" y="16"/>
                    </a:cubicBezTo>
                    <a:lnTo>
                      <a:pt x="1496" y="0"/>
                    </a:lnTo>
                    <a:lnTo>
                      <a:pt x="1837" y="3"/>
                    </a:lnTo>
                  </a:path>
                </a:pathLst>
              </a:custGeom>
              <a:noFill/>
              <a:ln w="101600">
                <a:pattFill prst="dkUpDiag">
                  <a:fgClr>
                    <a:srgbClr val="FFCCCC"/>
                  </a:fgClr>
                  <a:bgClr>
                    <a:srgbClr val="FFFFFF"/>
                  </a:bgClr>
                </a:patt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78367" name="Group 63"/>
            <p:cNvGrpSpPr>
              <a:grpSpLocks/>
            </p:cNvGrpSpPr>
            <p:nvPr/>
          </p:nvGrpSpPr>
          <p:grpSpPr bwMode="auto">
            <a:xfrm>
              <a:off x="3938" y="2088"/>
              <a:ext cx="1181" cy="272"/>
              <a:chOff x="1463" y="2024"/>
              <a:chExt cx="1181" cy="272"/>
            </a:xfrm>
          </p:grpSpPr>
          <p:sp>
            <p:nvSpPr>
              <p:cNvPr id="1378368" name="Line 64"/>
              <p:cNvSpPr>
                <a:spLocks noChangeShapeType="1"/>
              </p:cNvSpPr>
              <p:nvPr/>
            </p:nvSpPr>
            <p:spPr bwMode="auto">
              <a:xfrm flipV="1">
                <a:off x="1656" y="2063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69" name="Line 65"/>
              <p:cNvSpPr>
                <a:spLocks noChangeShapeType="1"/>
              </p:cNvSpPr>
              <p:nvPr/>
            </p:nvSpPr>
            <p:spPr bwMode="auto">
              <a:xfrm flipV="1">
                <a:off x="1756" y="207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0" name="Line 66"/>
              <p:cNvSpPr>
                <a:spLocks noChangeShapeType="1"/>
              </p:cNvSpPr>
              <p:nvPr/>
            </p:nvSpPr>
            <p:spPr bwMode="auto">
              <a:xfrm flipV="1">
                <a:off x="1856" y="2081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1" name="Line 67"/>
              <p:cNvSpPr>
                <a:spLocks noChangeShapeType="1"/>
              </p:cNvSpPr>
              <p:nvPr/>
            </p:nvSpPr>
            <p:spPr bwMode="auto">
              <a:xfrm flipV="1">
                <a:off x="1956" y="208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2" name="Line 68"/>
              <p:cNvSpPr>
                <a:spLocks noChangeShapeType="1"/>
              </p:cNvSpPr>
              <p:nvPr/>
            </p:nvSpPr>
            <p:spPr bwMode="auto">
              <a:xfrm flipV="1">
                <a:off x="2055" y="209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3" name="Line 69"/>
              <p:cNvSpPr>
                <a:spLocks noChangeShapeType="1"/>
              </p:cNvSpPr>
              <p:nvPr/>
            </p:nvSpPr>
            <p:spPr bwMode="auto">
              <a:xfrm flipV="1">
                <a:off x="2156" y="209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4" name="Line 70"/>
              <p:cNvSpPr>
                <a:spLocks noChangeShapeType="1"/>
              </p:cNvSpPr>
              <p:nvPr/>
            </p:nvSpPr>
            <p:spPr bwMode="auto">
              <a:xfrm flipV="1">
                <a:off x="1557" y="2051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5" name="Line 71"/>
              <p:cNvSpPr>
                <a:spLocks noChangeShapeType="1"/>
              </p:cNvSpPr>
              <p:nvPr/>
            </p:nvSpPr>
            <p:spPr bwMode="auto">
              <a:xfrm flipV="1">
                <a:off x="1463" y="203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6" name="Line 72"/>
              <p:cNvSpPr>
                <a:spLocks noChangeShapeType="1"/>
              </p:cNvSpPr>
              <p:nvPr/>
            </p:nvSpPr>
            <p:spPr bwMode="auto">
              <a:xfrm flipV="1">
                <a:off x="2444" y="206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7" name="Line 73"/>
              <p:cNvSpPr>
                <a:spLocks noChangeShapeType="1"/>
              </p:cNvSpPr>
              <p:nvPr/>
            </p:nvSpPr>
            <p:spPr bwMode="auto">
              <a:xfrm flipV="1">
                <a:off x="2544" y="2053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8" name="Line 74"/>
              <p:cNvSpPr>
                <a:spLocks noChangeShapeType="1"/>
              </p:cNvSpPr>
              <p:nvPr/>
            </p:nvSpPr>
            <p:spPr bwMode="auto">
              <a:xfrm flipV="1">
                <a:off x="2644" y="2024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79" name="Line 75"/>
              <p:cNvSpPr>
                <a:spLocks noChangeShapeType="1"/>
              </p:cNvSpPr>
              <p:nvPr/>
            </p:nvSpPr>
            <p:spPr bwMode="auto">
              <a:xfrm flipV="1">
                <a:off x="2345" y="208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80" name="Line 76"/>
              <p:cNvSpPr>
                <a:spLocks noChangeShapeType="1"/>
              </p:cNvSpPr>
              <p:nvPr/>
            </p:nvSpPr>
            <p:spPr bwMode="auto">
              <a:xfrm flipV="1">
                <a:off x="2251" y="208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378381" name="Group 77"/>
          <p:cNvGrpSpPr>
            <a:grpSpLocks/>
          </p:cNvGrpSpPr>
          <p:nvPr/>
        </p:nvGrpSpPr>
        <p:grpSpPr bwMode="auto">
          <a:xfrm>
            <a:off x="5741988" y="4297363"/>
            <a:ext cx="2916237" cy="1308100"/>
            <a:chOff x="3617" y="2817"/>
            <a:chExt cx="1837" cy="824"/>
          </a:xfrm>
        </p:grpSpPr>
        <p:sp>
          <p:nvSpPr>
            <p:cNvPr id="1378382" name="Rectangle 78"/>
            <p:cNvSpPr>
              <a:spLocks noChangeArrowheads="1"/>
            </p:cNvSpPr>
            <p:nvPr/>
          </p:nvSpPr>
          <p:spPr bwMode="auto">
            <a:xfrm>
              <a:off x="3932" y="3021"/>
              <a:ext cx="1202" cy="190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8383" name="Group 79"/>
            <p:cNvGrpSpPr>
              <a:grpSpLocks/>
            </p:cNvGrpSpPr>
            <p:nvPr/>
          </p:nvGrpSpPr>
          <p:grpSpPr bwMode="auto">
            <a:xfrm>
              <a:off x="3617" y="3113"/>
              <a:ext cx="1837" cy="144"/>
              <a:chOff x="3433" y="3049"/>
              <a:chExt cx="1837" cy="144"/>
            </a:xfrm>
          </p:grpSpPr>
          <p:sp>
            <p:nvSpPr>
              <p:cNvPr id="1378384" name="Freeform 80"/>
              <p:cNvSpPr>
                <a:spLocks/>
              </p:cNvSpPr>
              <p:nvPr/>
            </p:nvSpPr>
            <p:spPr bwMode="auto">
              <a:xfrm>
                <a:off x="3433" y="3049"/>
                <a:ext cx="1837" cy="102"/>
              </a:xfrm>
              <a:custGeom>
                <a:avLst/>
                <a:gdLst>
                  <a:gd name="T0" fmla="*/ 0 w 1837"/>
                  <a:gd name="T1" fmla="*/ 1 h 102"/>
                  <a:gd name="T2" fmla="*/ 90 w 1837"/>
                  <a:gd name="T3" fmla="*/ 2 h 102"/>
                  <a:gd name="T4" fmla="*/ 186 w 1837"/>
                  <a:gd name="T5" fmla="*/ 38 h 102"/>
                  <a:gd name="T6" fmla="*/ 316 w 1837"/>
                  <a:gd name="T7" fmla="*/ 100 h 102"/>
                  <a:gd name="T8" fmla="*/ 1516 w 1837"/>
                  <a:gd name="T9" fmla="*/ 102 h 102"/>
                  <a:gd name="T10" fmla="*/ 1623 w 1837"/>
                  <a:gd name="T11" fmla="*/ 45 h 102"/>
                  <a:gd name="T12" fmla="*/ 1722 w 1837"/>
                  <a:gd name="T13" fmla="*/ 0 h 102"/>
                  <a:gd name="T14" fmla="*/ 1837 w 1837"/>
                  <a:gd name="T15" fmla="*/ 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7" h="102">
                    <a:moveTo>
                      <a:pt x="0" y="1"/>
                    </a:moveTo>
                    <a:lnTo>
                      <a:pt x="90" y="2"/>
                    </a:lnTo>
                    <a:lnTo>
                      <a:pt x="186" y="38"/>
                    </a:lnTo>
                    <a:lnTo>
                      <a:pt x="316" y="100"/>
                    </a:lnTo>
                    <a:lnTo>
                      <a:pt x="1516" y="102"/>
                    </a:lnTo>
                    <a:lnTo>
                      <a:pt x="1623" y="45"/>
                    </a:lnTo>
                    <a:cubicBezTo>
                      <a:pt x="1657" y="28"/>
                      <a:pt x="1686" y="7"/>
                      <a:pt x="1722" y="0"/>
                    </a:cubicBezTo>
                    <a:lnTo>
                      <a:pt x="1837" y="1"/>
                    </a:lnTo>
                  </a:path>
                </a:pathLst>
              </a:custGeom>
              <a:noFill/>
              <a:ln w="28575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8385" name="Freeform 81"/>
              <p:cNvSpPr>
                <a:spLocks/>
              </p:cNvSpPr>
              <p:nvPr/>
            </p:nvSpPr>
            <p:spPr bwMode="auto">
              <a:xfrm>
                <a:off x="3433" y="3088"/>
                <a:ext cx="1837" cy="105"/>
              </a:xfrm>
              <a:custGeom>
                <a:avLst/>
                <a:gdLst>
                  <a:gd name="T0" fmla="*/ 0 w 1837"/>
                  <a:gd name="T1" fmla="*/ 2 h 105"/>
                  <a:gd name="T2" fmla="*/ 87 w 1837"/>
                  <a:gd name="T3" fmla="*/ 6 h 105"/>
                  <a:gd name="T4" fmla="*/ 201 w 1837"/>
                  <a:gd name="T5" fmla="*/ 48 h 105"/>
                  <a:gd name="T6" fmla="*/ 324 w 1837"/>
                  <a:gd name="T7" fmla="*/ 105 h 105"/>
                  <a:gd name="T8" fmla="*/ 1518 w 1837"/>
                  <a:gd name="T9" fmla="*/ 102 h 105"/>
                  <a:gd name="T10" fmla="*/ 1638 w 1837"/>
                  <a:gd name="T11" fmla="*/ 51 h 105"/>
                  <a:gd name="T12" fmla="*/ 1731 w 1837"/>
                  <a:gd name="T13" fmla="*/ 0 h 105"/>
                  <a:gd name="T14" fmla="*/ 1837 w 1837"/>
                  <a:gd name="T15" fmla="*/ 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37" h="105">
                    <a:moveTo>
                      <a:pt x="0" y="2"/>
                    </a:moveTo>
                    <a:lnTo>
                      <a:pt x="87" y="6"/>
                    </a:lnTo>
                    <a:lnTo>
                      <a:pt x="201" y="48"/>
                    </a:lnTo>
                    <a:lnTo>
                      <a:pt x="324" y="105"/>
                    </a:lnTo>
                    <a:lnTo>
                      <a:pt x="1518" y="102"/>
                    </a:lnTo>
                    <a:lnTo>
                      <a:pt x="1638" y="51"/>
                    </a:lnTo>
                    <a:lnTo>
                      <a:pt x="1731" y="0"/>
                    </a:lnTo>
                    <a:lnTo>
                      <a:pt x="1837" y="2"/>
                    </a:lnTo>
                  </a:path>
                </a:pathLst>
              </a:custGeom>
              <a:noFill/>
              <a:ln w="101600">
                <a:pattFill prst="dkUpDiag">
                  <a:fgClr>
                    <a:srgbClr val="FFCCCC"/>
                  </a:fgClr>
                  <a:bgClr>
                    <a:srgbClr val="FFFFFF"/>
                  </a:bgClr>
                </a:patt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78386" name="Group 82"/>
            <p:cNvGrpSpPr>
              <a:grpSpLocks/>
            </p:cNvGrpSpPr>
            <p:nvPr/>
          </p:nvGrpSpPr>
          <p:grpSpPr bwMode="auto">
            <a:xfrm>
              <a:off x="3947" y="2817"/>
              <a:ext cx="1181" cy="204"/>
              <a:chOff x="2034" y="572"/>
              <a:chExt cx="1206" cy="204"/>
            </a:xfrm>
          </p:grpSpPr>
          <p:sp>
            <p:nvSpPr>
              <p:cNvPr id="1378387" name="Line 83"/>
              <p:cNvSpPr>
                <a:spLocks noChangeShapeType="1"/>
              </p:cNvSpPr>
              <p:nvPr/>
            </p:nvSpPr>
            <p:spPr bwMode="auto">
              <a:xfrm>
                <a:off x="2231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88" name="Line 84"/>
              <p:cNvSpPr>
                <a:spLocks noChangeShapeType="1"/>
              </p:cNvSpPr>
              <p:nvPr/>
            </p:nvSpPr>
            <p:spPr bwMode="auto">
              <a:xfrm>
                <a:off x="2333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89" name="Line 85"/>
              <p:cNvSpPr>
                <a:spLocks noChangeShapeType="1"/>
              </p:cNvSpPr>
              <p:nvPr/>
            </p:nvSpPr>
            <p:spPr bwMode="auto">
              <a:xfrm>
                <a:off x="24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0" name="Line 86"/>
              <p:cNvSpPr>
                <a:spLocks noChangeShapeType="1"/>
              </p:cNvSpPr>
              <p:nvPr/>
            </p:nvSpPr>
            <p:spPr bwMode="auto">
              <a:xfrm>
                <a:off x="2537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1" name="Line 87"/>
              <p:cNvSpPr>
                <a:spLocks noChangeShapeType="1"/>
              </p:cNvSpPr>
              <p:nvPr/>
            </p:nvSpPr>
            <p:spPr bwMode="auto">
              <a:xfrm>
                <a:off x="26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2" name="Line 88"/>
              <p:cNvSpPr>
                <a:spLocks noChangeShapeType="1"/>
              </p:cNvSpPr>
              <p:nvPr/>
            </p:nvSpPr>
            <p:spPr bwMode="auto">
              <a:xfrm>
                <a:off x="2742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3" name="Line 89"/>
              <p:cNvSpPr>
                <a:spLocks noChangeShapeType="1"/>
              </p:cNvSpPr>
              <p:nvPr/>
            </p:nvSpPr>
            <p:spPr bwMode="auto">
              <a:xfrm>
                <a:off x="213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4" name="Line 90"/>
              <p:cNvSpPr>
                <a:spLocks noChangeShapeType="1"/>
              </p:cNvSpPr>
              <p:nvPr/>
            </p:nvSpPr>
            <p:spPr bwMode="auto">
              <a:xfrm>
                <a:off x="2034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5" name="Line 91"/>
              <p:cNvSpPr>
                <a:spLocks noChangeShapeType="1"/>
              </p:cNvSpPr>
              <p:nvPr/>
            </p:nvSpPr>
            <p:spPr bwMode="auto">
              <a:xfrm>
                <a:off x="3036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6" name="Line 92"/>
              <p:cNvSpPr>
                <a:spLocks noChangeShapeType="1"/>
              </p:cNvSpPr>
              <p:nvPr/>
            </p:nvSpPr>
            <p:spPr bwMode="auto">
              <a:xfrm>
                <a:off x="3138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7" name="Line 93"/>
              <p:cNvSpPr>
                <a:spLocks noChangeShapeType="1"/>
              </p:cNvSpPr>
              <p:nvPr/>
            </p:nvSpPr>
            <p:spPr bwMode="auto">
              <a:xfrm>
                <a:off x="324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8" name="Line 94"/>
              <p:cNvSpPr>
                <a:spLocks noChangeShapeType="1"/>
              </p:cNvSpPr>
              <p:nvPr/>
            </p:nvSpPr>
            <p:spPr bwMode="auto">
              <a:xfrm>
                <a:off x="29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8399" name="Line 95"/>
              <p:cNvSpPr>
                <a:spLocks noChangeShapeType="1"/>
              </p:cNvSpPr>
              <p:nvPr/>
            </p:nvSpPr>
            <p:spPr bwMode="auto">
              <a:xfrm>
                <a:off x="28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378400" name="Group 96"/>
            <p:cNvGrpSpPr>
              <a:grpSpLocks/>
            </p:cNvGrpSpPr>
            <p:nvPr/>
          </p:nvGrpSpPr>
          <p:grpSpPr bwMode="auto">
            <a:xfrm>
              <a:off x="3940" y="3210"/>
              <a:ext cx="1179" cy="431"/>
              <a:chOff x="1511" y="3318"/>
              <a:chExt cx="1179" cy="431"/>
            </a:xfrm>
          </p:grpSpPr>
          <p:sp>
            <p:nvSpPr>
              <p:cNvPr id="1378401" name="Freeform 97"/>
              <p:cNvSpPr>
                <a:spLocks/>
              </p:cNvSpPr>
              <p:nvPr/>
            </p:nvSpPr>
            <p:spPr bwMode="auto">
              <a:xfrm>
                <a:off x="1539" y="3410"/>
                <a:ext cx="1131" cy="339"/>
              </a:xfrm>
              <a:custGeom>
                <a:avLst/>
                <a:gdLst>
                  <a:gd name="T0" fmla="*/ 0 w 1131"/>
                  <a:gd name="T1" fmla="*/ 319 h 339"/>
                  <a:gd name="T2" fmla="*/ 59 w 1131"/>
                  <a:gd name="T3" fmla="*/ 106 h 339"/>
                  <a:gd name="T4" fmla="*/ 158 w 1131"/>
                  <a:gd name="T5" fmla="*/ 37 h 339"/>
                  <a:gd name="T6" fmla="*/ 284 w 1131"/>
                  <a:gd name="T7" fmla="*/ 15 h 339"/>
                  <a:gd name="T8" fmla="*/ 591 w 1131"/>
                  <a:gd name="T9" fmla="*/ 1 h 339"/>
                  <a:gd name="T10" fmla="*/ 918 w 1131"/>
                  <a:gd name="T11" fmla="*/ 12 h 339"/>
                  <a:gd name="T12" fmla="*/ 1007 w 1131"/>
                  <a:gd name="T13" fmla="*/ 37 h 339"/>
                  <a:gd name="T14" fmla="*/ 1071 w 1131"/>
                  <a:gd name="T15" fmla="*/ 108 h 339"/>
                  <a:gd name="T16" fmla="*/ 1131 w 1131"/>
                  <a:gd name="T17" fmla="*/ 33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31" h="339">
                    <a:moveTo>
                      <a:pt x="0" y="319"/>
                    </a:moveTo>
                    <a:cubicBezTo>
                      <a:pt x="9" y="284"/>
                      <a:pt x="33" y="153"/>
                      <a:pt x="59" y="106"/>
                    </a:cubicBezTo>
                    <a:cubicBezTo>
                      <a:pt x="85" y="59"/>
                      <a:pt x="121" y="52"/>
                      <a:pt x="158" y="37"/>
                    </a:cubicBezTo>
                    <a:cubicBezTo>
                      <a:pt x="195" y="22"/>
                      <a:pt x="212" y="21"/>
                      <a:pt x="284" y="15"/>
                    </a:cubicBezTo>
                    <a:cubicBezTo>
                      <a:pt x="356" y="9"/>
                      <a:pt x="485" y="2"/>
                      <a:pt x="591" y="1"/>
                    </a:cubicBezTo>
                    <a:cubicBezTo>
                      <a:pt x="697" y="0"/>
                      <a:pt x="849" y="6"/>
                      <a:pt x="918" y="12"/>
                    </a:cubicBezTo>
                    <a:cubicBezTo>
                      <a:pt x="987" y="18"/>
                      <a:pt x="982" y="21"/>
                      <a:pt x="1007" y="37"/>
                    </a:cubicBezTo>
                    <a:cubicBezTo>
                      <a:pt x="1032" y="53"/>
                      <a:pt x="1050" y="58"/>
                      <a:pt x="1071" y="108"/>
                    </a:cubicBezTo>
                    <a:cubicBezTo>
                      <a:pt x="1092" y="158"/>
                      <a:pt x="1119" y="291"/>
                      <a:pt x="1131" y="339"/>
                    </a:cubicBezTo>
                  </a:path>
                </a:pathLst>
              </a:custGeom>
              <a:noFill/>
              <a:ln w="25400" cap="flat" cmpd="sng">
                <a:solidFill>
                  <a:srgbClr val="3333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2" name="Line 98"/>
              <p:cNvSpPr>
                <a:spLocks noChangeShapeType="1"/>
              </p:cNvSpPr>
              <p:nvPr/>
            </p:nvSpPr>
            <p:spPr bwMode="auto">
              <a:xfrm flipV="1">
                <a:off x="1511" y="3318"/>
                <a:ext cx="0" cy="383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3" name="Line 99"/>
              <p:cNvSpPr>
                <a:spLocks noChangeShapeType="1"/>
              </p:cNvSpPr>
              <p:nvPr/>
            </p:nvSpPr>
            <p:spPr bwMode="auto">
              <a:xfrm flipV="1">
                <a:off x="1590" y="3318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4" name="Freeform 100"/>
              <p:cNvSpPr>
                <a:spLocks/>
              </p:cNvSpPr>
              <p:nvPr/>
            </p:nvSpPr>
            <p:spPr bwMode="auto">
              <a:xfrm>
                <a:off x="1668" y="3318"/>
                <a:ext cx="1" cy="131"/>
              </a:xfrm>
              <a:custGeom>
                <a:avLst/>
                <a:gdLst>
                  <a:gd name="T0" fmla="*/ 0 w 1"/>
                  <a:gd name="T1" fmla="*/ 131 h 131"/>
                  <a:gd name="T2" fmla="*/ 1 w 1"/>
                  <a:gd name="T3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1">
                    <a:moveTo>
                      <a:pt x="0" y="131"/>
                    </a:moveTo>
                    <a:lnTo>
                      <a:pt x="1" y="0"/>
                    </a:lnTo>
                  </a:path>
                </a:pathLst>
              </a:custGeom>
              <a:noFill/>
              <a:ln w="25400" cmpd="sng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5" name="Line 101"/>
              <p:cNvSpPr>
                <a:spLocks noChangeShapeType="1"/>
              </p:cNvSpPr>
              <p:nvPr/>
            </p:nvSpPr>
            <p:spPr bwMode="auto">
              <a:xfrm flipV="1">
                <a:off x="1825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6" name="Freeform 102"/>
              <p:cNvSpPr>
                <a:spLocks/>
              </p:cNvSpPr>
              <p:nvPr/>
            </p:nvSpPr>
            <p:spPr bwMode="auto">
              <a:xfrm>
                <a:off x="1748" y="3318"/>
                <a:ext cx="1" cy="104"/>
              </a:xfrm>
              <a:custGeom>
                <a:avLst/>
                <a:gdLst>
                  <a:gd name="T0" fmla="*/ 0 w 1"/>
                  <a:gd name="T1" fmla="*/ 104 h 104"/>
                  <a:gd name="T2" fmla="*/ 0 w 1"/>
                  <a:gd name="T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4">
                    <a:moveTo>
                      <a:pt x="0" y="104"/>
                    </a:moveTo>
                    <a:lnTo>
                      <a:pt x="0" y="0"/>
                    </a:lnTo>
                  </a:path>
                </a:pathLst>
              </a:custGeom>
              <a:noFill/>
              <a:ln w="25400" cmpd="sng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7" name="Line 103"/>
              <p:cNvSpPr>
                <a:spLocks noChangeShapeType="1"/>
              </p:cNvSpPr>
              <p:nvPr/>
            </p:nvSpPr>
            <p:spPr bwMode="auto">
              <a:xfrm flipV="1">
                <a:off x="1904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8" name="Line 104"/>
              <p:cNvSpPr>
                <a:spLocks noChangeShapeType="1"/>
              </p:cNvSpPr>
              <p:nvPr/>
            </p:nvSpPr>
            <p:spPr bwMode="auto">
              <a:xfrm flipV="1">
                <a:off x="1983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09" name="Line 105"/>
              <p:cNvSpPr>
                <a:spLocks noChangeShapeType="1"/>
              </p:cNvSpPr>
              <p:nvPr/>
            </p:nvSpPr>
            <p:spPr bwMode="auto">
              <a:xfrm flipV="1">
                <a:off x="2061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0" name="Line 106"/>
              <p:cNvSpPr>
                <a:spLocks noChangeShapeType="1"/>
              </p:cNvSpPr>
              <p:nvPr/>
            </p:nvSpPr>
            <p:spPr bwMode="auto">
              <a:xfrm flipV="1">
                <a:off x="2140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1" name="Line 107"/>
              <p:cNvSpPr>
                <a:spLocks noChangeShapeType="1"/>
              </p:cNvSpPr>
              <p:nvPr/>
            </p:nvSpPr>
            <p:spPr bwMode="auto">
              <a:xfrm flipV="1">
                <a:off x="2297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2" name="Line 108"/>
              <p:cNvSpPr>
                <a:spLocks noChangeShapeType="1"/>
              </p:cNvSpPr>
              <p:nvPr/>
            </p:nvSpPr>
            <p:spPr bwMode="auto">
              <a:xfrm flipV="1">
                <a:off x="2218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3" name="Line 109"/>
              <p:cNvSpPr>
                <a:spLocks noChangeShapeType="1"/>
              </p:cNvSpPr>
              <p:nvPr/>
            </p:nvSpPr>
            <p:spPr bwMode="auto">
              <a:xfrm flipV="1">
                <a:off x="2376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4" name="Line 110"/>
              <p:cNvSpPr>
                <a:spLocks noChangeShapeType="1"/>
              </p:cNvSpPr>
              <p:nvPr/>
            </p:nvSpPr>
            <p:spPr bwMode="auto">
              <a:xfrm flipV="1">
                <a:off x="2454" y="3318"/>
                <a:ext cx="0" cy="96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5" name="Freeform 111"/>
              <p:cNvSpPr>
                <a:spLocks/>
              </p:cNvSpPr>
              <p:nvPr/>
            </p:nvSpPr>
            <p:spPr bwMode="auto">
              <a:xfrm>
                <a:off x="2532" y="3318"/>
                <a:ext cx="2" cy="120"/>
              </a:xfrm>
              <a:custGeom>
                <a:avLst/>
                <a:gdLst>
                  <a:gd name="T0" fmla="*/ 0 w 2"/>
                  <a:gd name="T1" fmla="*/ 120 h 120"/>
                  <a:gd name="T2" fmla="*/ 2 w 2"/>
                  <a:gd name="T3" fmla="*/ 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20">
                    <a:moveTo>
                      <a:pt x="0" y="120"/>
                    </a:moveTo>
                    <a:lnTo>
                      <a:pt x="2" y="0"/>
                    </a:lnTo>
                  </a:path>
                </a:pathLst>
              </a:custGeom>
              <a:noFill/>
              <a:ln w="25400" cmpd="sng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6" name="Freeform 112"/>
              <p:cNvSpPr>
                <a:spLocks/>
              </p:cNvSpPr>
              <p:nvPr/>
            </p:nvSpPr>
            <p:spPr bwMode="auto">
              <a:xfrm>
                <a:off x="2610" y="3318"/>
                <a:ext cx="2" cy="182"/>
              </a:xfrm>
              <a:custGeom>
                <a:avLst/>
                <a:gdLst>
                  <a:gd name="T0" fmla="*/ 0 w 2"/>
                  <a:gd name="T1" fmla="*/ 182 h 182"/>
                  <a:gd name="T2" fmla="*/ 2 w 2"/>
                  <a:gd name="T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82">
                    <a:moveTo>
                      <a:pt x="0" y="182"/>
                    </a:moveTo>
                    <a:lnTo>
                      <a:pt x="2" y="0"/>
                    </a:lnTo>
                  </a:path>
                </a:pathLst>
              </a:custGeom>
              <a:noFill/>
              <a:ln w="25400" cmpd="sng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378417" name="Line 113"/>
              <p:cNvSpPr>
                <a:spLocks noChangeShapeType="1"/>
              </p:cNvSpPr>
              <p:nvPr/>
            </p:nvSpPr>
            <p:spPr bwMode="auto">
              <a:xfrm flipV="1">
                <a:off x="2690" y="3318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3333FF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</p:grpSp>
      </p:grpSp>
      <p:sp>
        <p:nvSpPr>
          <p:cNvPr id="1378418" name="Text Box 114"/>
          <p:cNvSpPr txBox="1">
            <a:spLocks noChangeArrowheads="1"/>
          </p:cNvSpPr>
          <p:nvPr/>
        </p:nvSpPr>
        <p:spPr bwMode="auto">
          <a:xfrm>
            <a:off x="2914200" y="5804913"/>
            <a:ext cx="38433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基底压力的分布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78419" name="Text Box 115"/>
          <p:cNvSpPr txBox="1">
            <a:spLocks noChangeArrowheads="1"/>
          </p:cNvSpPr>
          <p:nvPr/>
        </p:nvSpPr>
        <p:spPr bwMode="auto">
          <a:xfrm>
            <a:off x="327025" y="739775"/>
            <a:ext cx="3898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 弹性地基，完全柔性基础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78420" name="Text Box 116"/>
          <p:cNvSpPr txBox="1">
            <a:spLocks noChangeArrowheads="1"/>
          </p:cNvSpPr>
          <p:nvPr/>
        </p:nvSpPr>
        <p:spPr bwMode="auto">
          <a:xfrm>
            <a:off x="328613" y="3330575"/>
            <a:ext cx="391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弹性地基，绝对刚性基础</a:t>
            </a:r>
          </a:p>
        </p:txBody>
      </p:sp>
      <p:sp>
        <p:nvSpPr>
          <p:cNvPr id="99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85187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8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8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37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137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8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8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37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137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326" grpId="0"/>
      <p:bldP spid="1378327" grpId="0"/>
      <p:bldP spid="1378419" grpId="0"/>
      <p:bldP spid="13784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340" name="Text Box 12"/>
          <p:cNvSpPr txBox="1">
            <a:spLocks noChangeArrowheads="1"/>
          </p:cNvSpPr>
          <p:nvPr/>
        </p:nvSpPr>
        <p:spPr bwMode="auto">
          <a:xfrm>
            <a:off x="6980238" y="1387475"/>
            <a:ext cx="17748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FF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3333FF"/>
                </a:solidFill>
                <a:latin typeface="Arial Black"/>
                <a:ea typeface="幼圆" pitchFamily="49" charset="-122"/>
                <a:sym typeface="Symbol" pitchFamily="18" charset="2"/>
              </a:rPr>
              <a:t>—</a:t>
            </a:r>
            <a:r>
              <a:rPr kumimoji="1" lang="zh-CN" altLang="en-US" sz="2000" b="1">
                <a:solidFill>
                  <a:srgbClr val="3333FF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荷载较小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FF3300"/>
                </a:solidFill>
                <a:latin typeface="Arial Black"/>
                <a:ea typeface="幼圆" pitchFamily="49" charset="-122"/>
                <a:sym typeface="Symbol" pitchFamily="18" charset="2"/>
              </a:rPr>
              <a:t>—</a:t>
            </a:r>
            <a:r>
              <a:rPr kumimoji="1" lang="zh-CN" altLang="en-US" sz="2000" b="1">
                <a:solidFill>
                  <a:srgbClr val="CC33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000" b="1">
                <a:solidFill>
                  <a:srgbClr val="FF33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荷载较大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9900FF"/>
                </a:solidFill>
                <a:latin typeface="Arial Black"/>
                <a:ea typeface="幼圆" pitchFamily="49" charset="-122"/>
                <a:sym typeface="Symbol" pitchFamily="18" charset="2"/>
              </a:rPr>
              <a:t>—</a:t>
            </a:r>
            <a:r>
              <a:rPr kumimoji="1" lang="zh-CN" altLang="en-US" sz="2000" b="1">
                <a:solidFill>
                  <a:srgbClr val="FF33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000" b="1">
                <a:solidFill>
                  <a:srgbClr val="9900FF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荷载很大</a:t>
            </a:r>
          </a:p>
        </p:txBody>
      </p:sp>
      <p:grpSp>
        <p:nvGrpSpPr>
          <p:cNvPr id="1379341" name="Group 13"/>
          <p:cNvGrpSpPr>
            <a:grpSpLocks/>
          </p:cNvGrpSpPr>
          <p:nvPr/>
        </p:nvGrpSpPr>
        <p:grpSpPr bwMode="auto">
          <a:xfrm>
            <a:off x="468313" y="2058988"/>
            <a:ext cx="2916237" cy="708025"/>
            <a:chOff x="295" y="1297"/>
            <a:chExt cx="1837" cy="446"/>
          </a:xfrm>
        </p:grpSpPr>
        <p:sp>
          <p:nvSpPr>
            <p:cNvPr id="1379342" name="Rectangle 14"/>
            <p:cNvSpPr>
              <a:spLocks noChangeArrowheads="1"/>
            </p:cNvSpPr>
            <p:nvPr/>
          </p:nvSpPr>
          <p:spPr bwMode="auto">
            <a:xfrm>
              <a:off x="590" y="1508"/>
              <a:ext cx="1202" cy="190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9343" name="Line 15"/>
            <p:cNvSpPr>
              <a:spLocks noChangeShapeType="1"/>
            </p:cNvSpPr>
            <p:nvPr/>
          </p:nvSpPr>
          <p:spPr bwMode="auto">
            <a:xfrm>
              <a:off x="295" y="1706"/>
              <a:ext cx="1837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9344" name="Line 16"/>
            <p:cNvSpPr>
              <a:spLocks noChangeShapeType="1"/>
            </p:cNvSpPr>
            <p:nvPr/>
          </p:nvSpPr>
          <p:spPr bwMode="auto">
            <a:xfrm>
              <a:off x="295" y="1743"/>
              <a:ext cx="1837" cy="0"/>
            </a:xfrm>
            <a:prstGeom prst="line">
              <a:avLst/>
            </a:prstGeom>
            <a:noFill/>
            <a:ln w="101600">
              <a:pattFill prst="dkUpDiag">
                <a:fgClr>
                  <a:srgbClr val="FFCCCC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9345" name="Group 17"/>
            <p:cNvGrpSpPr>
              <a:grpSpLocks/>
            </p:cNvGrpSpPr>
            <p:nvPr/>
          </p:nvGrpSpPr>
          <p:grpSpPr bwMode="auto">
            <a:xfrm>
              <a:off x="606" y="1297"/>
              <a:ext cx="1181" cy="204"/>
              <a:chOff x="2034" y="572"/>
              <a:chExt cx="1206" cy="204"/>
            </a:xfrm>
          </p:grpSpPr>
          <p:sp>
            <p:nvSpPr>
              <p:cNvPr id="1379346" name="Line 18"/>
              <p:cNvSpPr>
                <a:spLocks noChangeShapeType="1"/>
              </p:cNvSpPr>
              <p:nvPr/>
            </p:nvSpPr>
            <p:spPr bwMode="auto">
              <a:xfrm>
                <a:off x="2231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47" name="Line 19"/>
              <p:cNvSpPr>
                <a:spLocks noChangeShapeType="1"/>
              </p:cNvSpPr>
              <p:nvPr/>
            </p:nvSpPr>
            <p:spPr bwMode="auto">
              <a:xfrm>
                <a:off x="2333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48" name="Line 20"/>
              <p:cNvSpPr>
                <a:spLocks noChangeShapeType="1"/>
              </p:cNvSpPr>
              <p:nvPr/>
            </p:nvSpPr>
            <p:spPr bwMode="auto">
              <a:xfrm>
                <a:off x="24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49" name="Line 21"/>
              <p:cNvSpPr>
                <a:spLocks noChangeShapeType="1"/>
              </p:cNvSpPr>
              <p:nvPr/>
            </p:nvSpPr>
            <p:spPr bwMode="auto">
              <a:xfrm>
                <a:off x="2537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0" name="Line 22"/>
              <p:cNvSpPr>
                <a:spLocks noChangeShapeType="1"/>
              </p:cNvSpPr>
              <p:nvPr/>
            </p:nvSpPr>
            <p:spPr bwMode="auto">
              <a:xfrm>
                <a:off x="26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1" name="Line 23"/>
              <p:cNvSpPr>
                <a:spLocks noChangeShapeType="1"/>
              </p:cNvSpPr>
              <p:nvPr/>
            </p:nvSpPr>
            <p:spPr bwMode="auto">
              <a:xfrm>
                <a:off x="2742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2" name="Line 24"/>
              <p:cNvSpPr>
                <a:spLocks noChangeShapeType="1"/>
              </p:cNvSpPr>
              <p:nvPr/>
            </p:nvSpPr>
            <p:spPr bwMode="auto">
              <a:xfrm>
                <a:off x="213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3" name="Line 25"/>
              <p:cNvSpPr>
                <a:spLocks noChangeShapeType="1"/>
              </p:cNvSpPr>
              <p:nvPr/>
            </p:nvSpPr>
            <p:spPr bwMode="auto">
              <a:xfrm>
                <a:off x="2034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4" name="Line 26"/>
              <p:cNvSpPr>
                <a:spLocks noChangeShapeType="1"/>
              </p:cNvSpPr>
              <p:nvPr/>
            </p:nvSpPr>
            <p:spPr bwMode="auto">
              <a:xfrm>
                <a:off x="3036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5" name="Line 27"/>
              <p:cNvSpPr>
                <a:spLocks noChangeShapeType="1"/>
              </p:cNvSpPr>
              <p:nvPr/>
            </p:nvSpPr>
            <p:spPr bwMode="auto">
              <a:xfrm>
                <a:off x="3138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6" name="Line 28"/>
              <p:cNvSpPr>
                <a:spLocks noChangeShapeType="1"/>
              </p:cNvSpPr>
              <p:nvPr/>
            </p:nvSpPr>
            <p:spPr bwMode="auto">
              <a:xfrm>
                <a:off x="324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7" name="Line 29"/>
              <p:cNvSpPr>
                <a:spLocks noChangeShapeType="1"/>
              </p:cNvSpPr>
              <p:nvPr/>
            </p:nvSpPr>
            <p:spPr bwMode="auto">
              <a:xfrm>
                <a:off x="29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58" name="Line 30"/>
              <p:cNvSpPr>
                <a:spLocks noChangeShapeType="1"/>
              </p:cNvSpPr>
              <p:nvPr/>
            </p:nvSpPr>
            <p:spPr bwMode="auto">
              <a:xfrm>
                <a:off x="28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1379359" name="Group 31"/>
          <p:cNvGrpSpPr>
            <a:grpSpLocks/>
          </p:cNvGrpSpPr>
          <p:nvPr/>
        </p:nvGrpSpPr>
        <p:grpSpPr bwMode="auto">
          <a:xfrm>
            <a:off x="3924300" y="2055813"/>
            <a:ext cx="2916238" cy="708025"/>
            <a:chOff x="2472" y="1295"/>
            <a:chExt cx="1837" cy="446"/>
          </a:xfrm>
        </p:grpSpPr>
        <p:sp>
          <p:nvSpPr>
            <p:cNvPr id="1379360" name="Rectangle 32"/>
            <p:cNvSpPr>
              <a:spLocks noChangeArrowheads="1"/>
            </p:cNvSpPr>
            <p:nvPr/>
          </p:nvSpPr>
          <p:spPr bwMode="auto">
            <a:xfrm>
              <a:off x="2767" y="1506"/>
              <a:ext cx="1202" cy="190"/>
            </a:xfrm>
            <a:prstGeom prst="rect">
              <a:avLst/>
            </a:prstGeom>
            <a:pattFill prst="pct30">
              <a:fgClr>
                <a:srgbClr val="008000"/>
              </a:fgClr>
              <a:bgClr>
                <a:srgbClr val="CCFFFF"/>
              </a:bgClr>
            </a:pattFill>
            <a:ln w="25400" algn="ctr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9361" name="Line 33"/>
            <p:cNvSpPr>
              <a:spLocks noChangeShapeType="1"/>
            </p:cNvSpPr>
            <p:nvPr/>
          </p:nvSpPr>
          <p:spPr bwMode="auto">
            <a:xfrm>
              <a:off x="2472" y="1704"/>
              <a:ext cx="1837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9362" name="Line 34"/>
            <p:cNvSpPr>
              <a:spLocks noChangeShapeType="1"/>
            </p:cNvSpPr>
            <p:nvPr/>
          </p:nvSpPr>
          <p:spPr bwMode="auto">
            <a:xfrm>
              <a:off x="2472" y="1741"/>
              <a:ext cx="1837" cy="0"/>
            </a:xfrm>
            <a:prstGeom prst="line">
              <a:avLst/>
            </a:prstGeom>
            <a:noFill/>
            <a:ln w="101600">
              <a:pattFill prst="dkUpDiag">
                <a:fgClr>
                  <a:srgbClr val="FFCCCC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9363" name="Group 35"/>
            <p:cNvGrpSpPr>
              <a:grpSpLocks/>
            </p:cNvGrpSpPr>
            <p:nvPr/>
          </p:nvGrpSpPr>
          <p:grpSpPr bwMode="auto">
            <a:xfrm>
              <a:off x="2783" y="1295"/>
              <a:ext cx="1181" cy="204"/>
              <a:chOff x="2034" y="572"/>
              <a:chExt cx="1206" cy="204"/>
            </a:xfrm>
          </p:grpSpPr>
          <p:sp>
            <p:nvSpPr>
              <p:cNvPr id="1379364" name="Line 36"/>
              <p:cNvSpPr>
                <a:spLocks noChangeShapeType="1"/>
              </p:cNvSpPr>
              <p:nvPr/>
            </p:nvSpPr>
            <p:spPr bwMode="auto">
              <a:xfrm>
                <a:off x="2231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65" name="Line 37"/>
              <p:cNvSpPr>
                <a:spLocks noChangeShapeType="1"/>
              </p:cNvSpPr>
              <p:nvPr/>
            </p:nvSpPr>
            <p:spPr bwMode="auto">
              <a:xfrm>
                <a:off x="2333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66" name="Line 38"/>
              <p:cNvSpPr>
                <a:spLocks noChangeShapeType="1"/>
              </p:cNvSpPr>
              <p:nvPr/>
            </p:nvSpPr>
            <p:spPr bwMode="auto">
              <a:xfrm>
                <a:off x="24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67" name="Line 39"/>
              <p:cNvSpPr>
                <a:spLocks noChangeShapeType="1"/>
              </p:cNvSpPr>
              <p:nvPr/>
            </p:nvSpPr>
            <p:spPr bwMode="auto">
              <a:xfrm>
                <a:off x="2537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68" name="Line 40"/>
              <p:cNvSpPr>
                <a:spLocks noChangeShapeType="1"/>
              </p:cNvSpPr>
              <p:nvPr/>
            </p:nvSpPr>
            <p:spPr bwMode="auto">
              <a:xfrm>
                <a:off x="26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69" name="Line 41"/>
              <p:cNvSpPr>
                <a:spLocks noChangeShapeType="1"/>
              </p:cNvSpPr>
              <p:nvPr/>
            </p:nvSpPr>
            <p:spPr bwMode="auto">
              <a:xfrm>
                <a:off x="2742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0" name="Line 42"/>
              <p:cNvSpPr>
                <a:spLocks noChangeShapeType="1"/>
              </p:cNvSpPr>
              <p:nvPr/>
            </p:nvSpPr>
            <p:spPr bwMode="auto">
              <a:xfrm>
                <a:off x="213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1" name="Line 43"/>
              <p:cNvSpPr>
                <a:spLocks noChangeShapeType="1"/>
              </p:cNvSpPr>
              <p:nvPr/>
            </p:nvSpPr>
            <p:spPr bwMode="auto">
              <a:xfrm>
                <a:off x="2034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2" name="Line 44"/>
              <p:cNvSpPr>
                <a:spLocks noChangeShapeType="1"/>
              </p:cNvSpPr>
              <p:nvPr/>
            </p:nvSpPr>
            <p:spPr bwMode="auto">
              <a:xfrm>
                <a:off x="3036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3" name="Line 45"/>
              <p:cNvSpPr>
                <a:spLocks noChangeShapeType="1"/>
              </p:cNvSpPr>
              <p:nvPr/>
            </p:nvSpPr>
            <p:spPr bwMode="auto">
              <a:xfrm>
                <a:off x="3138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4" name="Line 46"/>
              <p:cNvSpPr>
                <a:spLocks noChangeShapeType="1"/>
              </p:cNvSpPr>
              <p:nvPr/>
            </p:nvSpPr>
            <p:spPr bwMode="auto">
              <a:xfrm>
                <a:off x="3240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5" name="Line 47"/>
              <p:cNvSpPr>
                <a:spLocks noChangeShapeType="1"/>
              </p:cNvSpPr>
              <p:nvPr/>
            </p:nvSpPr>
            <p:spPr bwMode="auto">
              <a:xfrm>
                <a:off x="2935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9376" name="Line 48"/>
              <p:cNvSpPr>
                <a:spLocks noChangeShapeType="1"/>
              </p:cNvSpPr>
              <p:nvPr/>
            </p:nvSpPr>
            <p:spPr bwMode="auto">
              <a:xfrm>
                <a:off x="2839" y="572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1379377" name="Arc 49"/>
          <p:cNvSpPr>
            <a:spLocks/>
          </p:cNvSpPr>
          <p:nvPr/>
        </p:nvSpPr>
        <p:spPr bwMode="auto">
          <a:xfrm rot="21562345" flipH="1">
            <a:off x="947738" y="2633663"/>
            <a:ext cx="1895475" cy="1109662"/>
          </a:xfrm>
          <a:custGeom>
            <a:avLst/>
            <a:gdLst>
              <a:gd name="G0" fmla="+- 21539 0 0"/>
              <a:gd name="G1" fmla="+- 0 0 0"/>
              <a:gd name="G2" fmla="+- 21600 0 0"/>
              <a:gd name="T0" fmla="*/ 43098 w 43098"/>
              <a:gd name="T1" fmla="*/ 1335 h 21600"/>
              <a:gd name="T2" fmla="*/ 0 w 43098"/>
              <a:gd name="T3" fmla="*/ 1624 h 21600"/>
              <a:gd name="T4" fmla="*/ 21539 w 43098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098" h="21600" fill="none" extrusionOk="0">
                <a:moveTo>
                  <a:pt x="43097" y="1334"/>
                </a:moveTo>
                <a:cubicBezTo>
                  <a:pt x="42392" y="12724"/>
                  <a:pt x="32949" y="21599"/>
                  <a:pt x="21539" y="21599"/>
                </a:cubicBezTo>
                <a:cubicBezTo>
                  <a:pt x="10239" y="21599"/>
                  <a:pt x="849" y="12891"/>
                  <a:pt x="0" y="1623"/>
                </a:cubicBezTo>
              </a:path>
              <a:path w="43098" h="21600" stroke="0" extrusionOk="0">
                <a:moveTo>
                  <a:pt x="43097" y="1334"/>
                </a:moveTo>
                <a:cubicBezTo>
                  <a:pt x="42392" y="12724"/>
                  <a:pt x="32949" y="21599"/>
                  <a:pt x="21539" y="21599"/>
                </a:cubicBezTo>
                <a:cubicBezTo>
                  <a:pt x="10239" y="21599"/>
                  <a:pt x="849" y="12891"/>
                  <a:pt x="0" y="1623"/>
                </a:cubicBezTo>
                <a:lnTo>
                  <a:pt x="2153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379378" name="Arc 50"/>
          <p:cNvSpPr>
            <a:spLocks/>
          </p:cNvSpPr>
          <p:nvPr/>
        </p:nvSpPr>
        <p:spPr bwMode="auto">
          <a:xfrm rot="21562345" flipH="1">
            <a:off x="946150" y="2686050"/>
            <a:ext cx="1898650" cy="636588"/>
          </a:xfrm>
          <a:custGeom>
            <a:avLst/>
            <a:gdLst>
              <a:gd name="G0" fmla="+- 21584 0 0"/>
              <a:gd name="G1" fmla="+- 0 0 0"/>
              <a:gd name="G2" fmla="+- 21600 0 0"/>
              <a:gd name="T0" fmla="*/ 43184 w 43184"/>
              <a:gd name="T1" fmla="*/ 119 h 21600"/>
              <a:gd name="T2" fmla="*/ 0 w 43184"/>
              <a:gd name="T3" fmla="*/ 827 h 21600"/>
              <a:gd name="T4" fmla="*/ 21584 w 43184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84" h="21600" fill="none" extrusionOk="0">
                <a:moveTo>
                  <a:pt x="43183" y="118"/>
                </a:moveTo>
                <a:cubicBezTo>
                  <a:pt x="43118" y="12001"/>
                  <a:pt x="33466" y="21599"/>
                  <a:pt x="21584" y="21599"/>
                </a:cubicBezTo>
                <a:cubicBezTo>
                  <a:pt x="9976" y="21599"/>
                  <a:pt x="444" y="12426"/>
                  <a:pt x="-1" y="827"/>
                </a:cubicBezTo>
              </a:path>
              <a:path w="43184" h="21600" stroke="0" extrusionOk="0">
                <a:moveTo>
                  <a:pt x="43183" y="118"/>
                </a:moveTo>
                <a:cubicBezTo>
                  <a:pt x="43118" y="12001"/>
                  <a:pt x="33466" y="21599"/>
                  <a:pt x="21584" y="21599"/>
                </a:cubicBezTo>
                <a:cubicBezTo>
                  <a:pt x="9976" y="21599"/>
                  <a:pt x="444" y="12426"/>
                  <a:pt x="-1" y="827"/>
                </a:cubicBezTo>
                <a:lnTo>
                  <a:pt x="21584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379379" name="Text Box 51"/>
          <p:cNvSpPr txBox="1">
            <a:spLocks noChangeArrowheads="1"/>
          </p:cNvSpPr>
          <p:nvPr/>
        </p:nvSpPr>
        <p:spPr bwMode="auto">
          <a:xfrm>
            <a:off x="3228975" y="5719763"/>
            <a:ext cx="38274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基底压力的分布</a:t>
            </a:r>
            <a:endParaRPr kumimoji="1" lang="zh-CN" altLang="en-US" sz="40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79380" name="Text Box 52"/>
          <p:cNvSpPr txBox="1">
            <a:spLocks noChangeArrowheads="1"/>
          </p:cNvSpPr>
          <p:nvPr/>
        </p:nvSpPr>
        <p:spPr bwMode="auto">
          <a:xfrm>
            <a:off x="417513" y="960438"/>
            <a:ext cx="4373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弹塑性地基，有限刚度基础</a:t>
            </a:r>
          </a:p>
        </p:txBody>
      </p:sp>
      <p:sp>
        <p:nvSpPr>
          <p:cNvPr id="1379381" name="Text Box 53"/>
          <p:cNvSpPr txBox="1">
            <a:spLocks noChangeArrowheads="1"/>
          </p:cNvSpPr>
          <p:nvPr/>
        </p:nvSpPr>
        <p:spPr bwMode="auto">
          <a:xfrm>
            <a:off x="977900" y="4667250"/>
            <a:ext cx="533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砂性土地基                         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黏性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土地基</a:t>
            </a:r>
          </a:p>
        </p:txBody>
      </p:sp>
      <p:grpSp>
        <p:nvGrpSpPr>
          <p:cNvPr id="1379382" name="Group 54"/>
          <p:cNvGrpSpPr>
            <a:grpSpLocks/>
          </p:cNvGrpSpPr>
          <p:nvPr/>
        </p:nvGrpSpPr>
        <p:grpSpPr bwMode="auto">
          <a:xfrm>
            <a:off x="4395788" y="2682875"/>
            <a:ext cx="3887787" cy="715963"/>
            <a:chOff x="2768" y="1690"/>
            <a:chExt cx="2449" cy="451"/>
          </a:xfrm>
        </p:grpSpPr>
        <p:sp>
          <p:nvSpPr>
            <p:cNvPr id="1379383" name="Freeform 55"/>
            <p:cNvSpPr>
              <a:spLocks/>
            </p:cNvSpPr>
            <p:nvPr/>
          </p:nvSpPr>
          <p:spPr bwMode="auto">
            <a:xfrm>
              <a:off x="2768" y="1690"/>
              <a:ext cx="1211" cy="451"/>
            </a:xfrm>
            <a:custGeom>
              <a:avLst/>
              <a:gdLst>
                <a:gd name="T0" fmla="*/ 0 w 1211"/>
                <a:gd name="T1" fmla="*/ 0 h 451"/>
                <a:gd name="T2" fmla="*/ 4 w 1211"/>
                <a:gd name="T3" fmla="*/ 451 h 451"/>
                <a:gd name="T4" fmla="*/ 120 w 1211"/>
                <a:gd name="T5" fmla="*/ 280 h 451"/>
                <a:gd name="T6" fmla="*/ 256 w 1211"/>
                <a:gd name="T7" fmla="*/ 172 h 451"/>
                <a:gd name="T8" fmla="*/ 426 w 1211"/>
                <a:gd name="T9" fmla="*/ 98 h 451"/>
                <a:gd name="T10" fmla="*/ 623 w 1211"/>
                <a:gd name="T11" fmla="*/ 79 h 451"/>
                <a:gd name="T12" fmla="*/ 810 w 1211"/>
                <a:gd name="T13" fmla="*/ 108 h 451"/>
                <a:gd name="T14" fmla="*/ 962 w 1211"/>
                <a:gd name="T15" fmla="*/ 175 h 451"/>
                <a:gd name="T16" fmla="*/ 1084 w 1211"/>
                <a:gd name="T17" fmla="*/ 283 h 451"/>
                <a:gd name="T18" fmla="*/ 1211 w 1211"/>
                <a:gd name="T19" fmla="*/ 434 h 451"/>
                <a:gd name="T20" fmla="*/ 1204 w 1211"/>
                <a:gd name="T21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1" h="451">
                  <a:moveTo>
                    <a:pt x="0" y="0"/>
                  </a:moveTo>
                  <a:lnTo>
                    <a:pt x="4" y="451"/>
                  </a:lnTo>
                  <a:lnTo>
                    <a:pt x="120" y="280"/>
                  </a:lnTo>
                  <a:cubicBezTo>
                    <a:pt x="162" y="234"/>
                    <a:pt x="205" y="202"/>
                    <a:pt x="256" y="172"/>
                  </a:cubicBezTo>
                  <a:cubicBezTo>
                    <a:pt x="307" y="142"/>
                    <a:pt x="365" y="113"/>
                    <a:pt x="426" y="98"/>
                  </a:cubicBezTo>
                  <a:cubicBezTo>
                    <a:pt x="487" y="83"/>
                    <a:pt x="559" y="77"/>
                    <a:pt x="623" y="79"/>
                  </a:cubicBezTo>
                  <a:cubicBezTo>
                    <a:pt x="687" y="81"/>
                    <a:pt x="754" y="92"/>
                    <a:pt x="810" y="108"/>
                  </a:cubicBezTo>
                  <a:cubicBezTo>
                    <a:pt x="866" y="124"/>
                    <a:pt x="916" y="146"/>
                    <a:pt x="962" y="175"/>
                  </a:cubicBezTo>
                  <a:cubicBezTo>
                    <a:pt x="1008" y="204"/>
                    <a:pt x="1043" y="240"/>
                    <a:pt x="1084" y="283"/>
                  </a:cubicBezTo>
                  <a:lnTo>
                    <a:pt x="1211" y="434"/>
                  </a:lnTo>
                  <a:lnTo>
                    <a:pt x="1204" y="0"/>
                  </a:lnTo>
                </a:path>
              </a:pathLst>
            </a:custGeom>
            <a:noFill/>
            <a:ln w="28575" cap="flat" cmpd="sng">
              <a:solidFill>
                <a:srgbClr val="3333FF"/>
              </a:solidFill>
              <a:prstDash val="solid"/>
              <a:round/>
              <a:headEnd type="none" w="med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379384" name="Text Box 56"/>
            <p:cNvSpPr txBox="1">
              <a:spLocks noChangeArrowheads="1"/>
            </p:cNvSpPr>
            <p:nvPr/>
          </p:nvSpPr>
          <p:spPr bwMode="auto">
            <a:xfrm>
              <a:off x="4296" y="1862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3333FF"/>
                  </a:solidFill>
                  <a:ea typeface="幼圆" pitchFamily="49" charset="-122"/>
                  <a:sym typeface="Symbol" pitchFamily="18" charset="2"/>
                </a:rPr>
                <a:t>接近弹性解</a:t>
              </a:r>
            </a:p>
          </p:txBody>
        </p:sp>
        <p:sp>
          <p:nvSpPr>
            <p:cNvPr id="1379385" name="Line 57"/>
            <p:cNvSpPr>
              <a:spLocks noChangeShapeType="1"/>
            </p:cNvSpPr>
            <p:nvPr/>
          </p:nvSpPr>
          <p:spPr bwMode="auto">
            <a:xfrm>
              <a:off x="3813" y="1910"/>
              <a:ext cx="452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79386" name="Group 58"/>
          <p:cNvGrpSpPr>
            <a:grpSpLocks/>
          </p:cNvGrpSpPr>
          <p:nvPr/>
        </p:nvGrpSpPr>
        <p:grpSpPr bwMode="auto">
          <a:xfrm>
            <a:off x="4376738" y="2703513"/>
            <a:ext cx="3228975" cy="1239837"/>
            <a:chOff x="2769" y="1703"/>
            <a:chExt cx="2002" cy="781"/>
          </a:xfrm>
        </p:grpSpPr>
        <p:sp>
          <p:nvSpPr>
            <p:cNvPr id="1379387" name="Freeform 59"/>
            <p:cNvSpPr>
              <a:spLocks/>
            </p:cNvSpPr>
            <p:nvPr/>
          </p:nvSpPr>
          <p:spPr bwMode="auto">
            <a:xfrm>
              <a:off x="2769" y="1703"/>
              <a:ext cx="1202" cy="560"/>
            </a:xfrm>
            <a:custGeom>
              <a:avLst/>
              <a:gdLst>
                <a:gd name="T0" fmla="*/ 0 w 1202"/>
                <a:gd name="T1" fmla="*/ 0 h 560"/>
                <a:gd name="T2" fmla="*/ 13 w 1202"/>
                <a:gd name="T3" fmla="*/ 199 h 560"/>
                <a:gd name="T4" fmla="*/ 34 w 1202"/>
                <a:gd name="T5" fmla="*/ 414 h 560"/>
                <a:gd name="T6" fmla="*/ 100 w 1202"/>
                <a:gd name="T7" fmla="*/ 547 h 560"/>
                <a:gd name="T8" fmla="*/ 213 w 1202"/>
                <a:gd name="T9" fmla="*/ 492 h 560"/>
                <a:gd name="T10" fmla="*/ 340 w 1202"/>
                <a:gd name="T11" fmla="*/ 355 h 560"/>
                <a:gd name="T12" fmla="*/ 474 w 1202"/>
                <a:gd name="T13" fmla="*/ 215 h 560"/>
                <a:gd name="T14" fmla="*/ 611 w 1202"/>
                <a:gd name="T15" fmla="*/ 163 h 560"/>
                <a:gd name="T16" fmla="*/ 747 w 1202"/>
                <a:gd name="T17" fmla="*/ 221 h 560"/>
                <a:gd name="T18" fmla="*/ 858 w 1202"/>
                <a:gd name="T19" fmla="*/ 341 h 560"/>
                <a:gd name="T20" fmla="*/ 984 w 1202"/>
                <a:gd name="T21" fmla="*/ 483 h 560"/>
                <a:gd name="T22" fmla="*/ 1090 w 1202"/>
                <a:gd name="T23" fmla="*/ 547 h 560"/>
                <a:gd name="T24" fmla="*/ 1162 w 1202"/>
                <a:gd name="T25" fmla="*/ 458 h 560"/>
                <a:gd name="T26" fmla="*/ 1193 w 1202"/>
                <a:gd name="T27" fmla="*/ 251 h 560"/>
                <a:gd name="T28" fmla="*/ 1202 w 1202"/>
                <a:gd name="T2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2" h="560">
                  <a:moveTo>
                    <a:pt x="0" y="0"/>
                  </a:moveTo>
                  <a:cubicBezTo>
                    <a:pt x="2" y="33"/>
                    <a:pt x="7" y="130"/>
                    <a:pt x="13" y="199"/>
                  </a:cubicBezTo>
                  <a:cubicBezTo>
                    <a:pt x="19" y="268"/>
                    <a:pt x="20" y="356"/>
                    <a:pt x="34" y="414"/>
                  </a:cubicBezTo>
                  <a:cubicBezTo>
                    <a:pt x="48" y="472"/>
                    <a:pt x="70" y="534"/>
                    <a:pt x="100" y="547"/>
                  </a:cubicBezTo>
                  <a:cubicBezTo>
                    <a:pt x="130" y="560"/>
                    <a:pt x="173" y="524"/>
                    <a:pt x="213" y="492"/>
                  </a:cubicBezTo>
                  <a:cubicBezTo>
                    <a:pt x="253" y="460"/>
                    <a:pt x="297" y="401"/>
                    <a:pt x="340" y="355"/>
                  </a:cubicBezTo>
                  <a:cubicBezTo>
                    <a:pt x="383" y="309"/>
                    <a:pt x="429" y="247"/>
                    <a:pt x="474" y="215"/>
                  </a:cubicBezTo>
                  <a:cubicBezTo>
                    <a:pt x="519" y="183"/>
                    <a:pt x="566" y="162"/>
                    <a:pt x="611" y="163"/>
                  </a:cubicBezTo>
                  <a:cubicBezTo>
                    <a:pt x="656" y="164"/>
                    <a:pt x="706" y="191"/>
                    <a:pt x="747" y="221"/>
                  </a:cubicBezTo>
                  <a:cubicBezTo>
                    <a:pt x="788" y="251"/>
                    <a:pt x="819" y="297"/>
                    <a:pt x="858" y="341"/>
                  </a:cubicBezTo>
                  <a:cubicBezTo>
                    <a:pt x="897" y="385"/>
                    <a:pt x="945" y="449"/>
                    <a:pt x="984" y="483"/>
                  </a:cubicBezTo>
                  <a:cubicBezTo>
                    <a:pt x="1023" y="517"/>
                    <a:pt x="1060" y="551"/>
                    <a:pt x="1090" y="547"/>
                  </a:cubicBezTo>
                  <a:cubicBezTo>
                    <a:pt x="1120" y="543"/>
                    <a:pt x="1145" y="507"/>
                    <a:pt x="1162" y="458"/>
                  </a:cubicBezTo>
                  <a:cubicBezTo>
                    <a:pt x="1179" y="409"/>
                    <a:pt x="1186" y="327"/>
                    <a:pt x="1193" y="251"/>
                  </a:cubicBezTo>
                  <a:cubicBezTo>
                    <a:pt x="1200" y="175"/>
                    <a:pt x="1200" y="52"/>
                    <a:pt x="1202" y="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9388" name="Text Box 60"/>
            <p:cNvSpPr txBox="1">
              <a:spLocks noChangeArrowheads="1"/>
            </p:cNvSpPr>
            <p:nvPr/>
          </p:nvSpPr>
          <p:spPr bwMode="auto">
            <a:xfrm>
              <a:off x="4172" y="2234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FF3300"/>
                  </a:solidFill>
                  <a:ea typeface="幼圆" pitchFamily="49" charset="-122"/>
                  <a:sym typeface="Symbol" pitchFamily="18" charset="2"/>
                </a:rPr>
                <a:t>马鞍型</a:t>
              </a:r>
            </a:p>
          </p:txBody>
        </p:sp>
        <p:sp>
          <p:nvSpPr>
            <p:cNvPr id="1379389" name="Line 61"/>
            <p:cNvSpPr>
              <a:spLocks noChangeShapeType="1"/>
            </p:cNvSpPr>
            <p:nvPr/>
          </p:nvSpPr>
          <p:spPr bwMode="auto">
            <a:xfrm>
              <a:off x="3835" y="2260"/>
              <a:ext cx="336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79390" name="Group 62"/>
          <p:cNvGrpSpPr>
            <a:grpSpLocks/>
          </p:cNvGrpSpPr>
          <p:nvPr/>
        </p:nvGrpSpPr>
        <p:grpSpPr bwMode="auto">
          <a:xfrm>
            <a:off x="4381500" y="2689225"/>
            <a:ext cx="3109913" cy="1855788"/>
            <a:chOff x="2766" y="1694"/>
            <a:chExt cx="1946" cy="1169"/>
          </a:xfrm>
        </p:grpSpPr>
        <p:sp>
          <p:nvSpPr>
            <p:cNvPr id="1379391" name="Freeform 63"/>
            <p:cNvSpPr>
              <a:spLocks/>
            </p:cNvSpPr>
            <p:nvPr/>
          </p:nvSpPr>
          <p:spPr bwMode="auto">
            <a:xfrm>
              <a:off x="2766" y="1694"/>
              <a:ext cx="1215" cy="1015"/>
            </a:xfrm>
            <a:custGeom>
              <a:avLst/>
              <a:gdLst>
                <a:gd name="T0" fmla="*/ 1 w 1215"/>
                <a:gd name="T1" fmla="*/ 10 h 1015"/>
                <a:gd name="T2" fmla="*/ 4 w 1215"/>
                <a:gd name="T3" fmla="*/ 224 h 1015"/>
                <a:gd name="T4" fmla="*/ 23 w 1215"/>
                <a:gd name="T5" fmla="*/ 473 h 1015"/>
                <a:gd name="T6" fmla="*/ 100 w 1215"/>
                <a:gd name="T7" fmla="*/ 641 h 1015"/>
                <a:gd name="T8" fmla="*/ 234 w 1215"/>
                <a:gd name="T9" fmla="*/ 742 h 1015"/>
                <a:gd name="T10" fmla="*/ 397 w 1215"/>
                <a:gd name="T11" fmla="*/ 788 h 1015"/>
                <a:gd name="T12" fmla="*/ 464 w 1215"/>
                <a:gd name="T13" fmla="*/ 903 h 1015"/>
                <a:gd name="T14" fmla="*/ 515 w 1215"/>
                <a:gd name="T15" fmla="*/ 982 h 1015"/>
                <a:gd name="T16" fmla="*/ 623 w 1215"/>
                <a:gd name="T17" fmla="*/ 1013 h 1015"/>
                <a:gd name="T18" fmla="*/ 728 w 1215"/>
                <a:gd name="T19" fmla="*/ 972 h 1015"/>
                <a:gd name="T20" fmla="*/ 786 w 1215"/>
                <a:gd name="T21" fmla="*/ 862 h 1015"/>
                <a:gd name="T22" fmla="*/ 860 w 1215"/>
                <a:gd name="T23" fmla="*/ 778 h 1015"/>
                <a:gd name="T24" fmla="*/ 1067 w 1215"/>
                <a:gd name="T25" fmla="*/ 713 h 1015"/>
                <a:gd name="T26" fmla="*/ 1168 w 1215"/>
                <a:gd name="T27" fmla="*/ 584 h 1015"/>
                <a:gd name="T28" fmla="*/ 1208 w 1215"/>
                <a:gd name="T29" fmla="*/ 375 h 1015"/>
                <a:gd name="T30" fmla="*/ 1208 w 1215"/>
                <a:gd name="T31" fmla="*/ 0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15" h="1015">
                  <a:moveTo>
                    <a:pt x="1" y="10"/>
                  </a:moveTo>
                  <a:cubicBezTo>
                    <a:pt x="1" y="46"/>
                    <a:pt x="0" y="147"/>
                    <a:pt x="4" y="224"/>
                  </a:cubicBezTo>
                  <a:cubicBezTo>
                    <a:pt x="8" y="301"/>
                    <a:pt x="7" y="404"/>
                    <a:pt x="23" y="473"/>
                  </a:cubicBezTo>
                  <a:cubicBezTo>
                    <a:pt x="39" y="542"/>
                    <a:pt x="65" y="596"/>
                    <a:pt x="100" y="641"/>
                  </a:cubicBezTo>
                  <a:cubicBezTo>
                    <a:pt x="135" y="686"/>
                    <a:pt x="184" y="718"/>
                    <a:pt x="234" y="742"/>
                  </a:cubicBezTo>
                  <a:cubicBezTo>
                    <a:pt x="284" y="766"/>
                    <a:pt x="359" y="761"/>
                    <a:pt x="397" y="788"/>
                  </a:cubicBezTo>
                  <a:cubicBezTo>
                    <a:pt x="435" y="815"/>
                    <a:pt x="444" y="871"/>
                    <a:pt x="464" y="903"/>
                  </a:cubicBezTo>
                  <a:cubicBezTo>
                    <a:pt x="484" y="935"/>
                    <a:pt x="488" y="964"/>
                    <a:pt x="515" y="982"/>
                  </a:cubicBezTo>
                  <a:cubicBezTo>
                    <a:pt x="542" y="1000"/>
                    <a:pt x="588" y="1015"/>
                    <a:pt x="623" y="1013"/>
                  </a:cubicBezTo>
                  <a:cubicBezTo>
                    <a:pt x="658" y="1011"/>
                    <a:pt x="701" y="997"/>
                    <a:pt x="728" y="972"/>
                  </a:cubicBezTo>
                  <a:cubicBezTo>
                    <a:pt x="755" y="947"/>
                    <a:pt x="764" y="894"/>
                    <a:pt x="786" y="862"/>
                  </a:cubicBezTo>
                  <a:cubicBezTo>
                    <a:pt x="808" y="830"/>
                    <a:pt x="813" y="803"/>
                    <a:pt x="860" y="778"/>
                  </a:cubicBezTo>
                  <a:cubicBezTo>
                    <a:pt x="907" y="753"/>
                    <a:pt x="1016" y="745"/>
                    <a:pt x="1067" y="713"/>
                  </a:cubicBezTo>
                  <a:cubicBezTo>
                    <a:pt x="1118" y="681"/>
                    <a:pt x="1145" y="640"/>
                    <a:pt x="1168" y="584"/>
                  </a:cubicBezTo>
                  <a:cubicBezTo>
                    <a:pt x="1191" y="528"/>
                    <a:pt x="1201" y="472"/>
                    <a:pt x="1208" y="375"/>
                  </a:cubicBezTo>
                  <a:cubicBezTo>
                    <a:pt x="1215" y="278"/>
                    <a:pt x="1208" y="78"/>
                    <a:pt x="1208" y="0"/>
                  </a:cubicBezTo>
                </a:path>
              </a:pathLst>
            </a:custGeom>
            <a:noFill/>
            <a:ln w="28575" cmpd="sng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9392" name="Line 64"/>
            <p:cNvSpPr>
              <a:spLocks noChangeShapeType="1"/>
            </p:cNvSpPr>
            <p:nvPr/>
          </p:nvSpPr>
          <p:spPr bwMode="auto">
            <a:xfrm>
              <a:off x="3653" y="2479"/>
              <a:ext cx="408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9393" name="Text Box 65"/>
            <p:cNvSpPr txBox="1">
              <a:spLocks noChangeArrowheads="1"/>
            </p:cNvSpPr>
            <p:nvPr/>
          </p:nvSpPr>
          <p:spPr bwMode="auto">
            <a:xfrm>
              <a:off x="4113" y="2613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800080"/>
                  </a:solidFill>
                  <a:ea typeface="幼圆" pitchFamily="49" charset="-122"/>
                  <a:sym typeface="Symbol" pitchFamily="18" charset="2"/>
                </a:rPr>
                <a:t>倒钟型</a:t>
              </a:r>
            </a:p>
          </p:txBody>
        </p:sp>
      </p:grpSp>
      <p:sp>
        <p:nvSpPr>
          <p:cNvPr id="1379394" name="Freeform 66"/>
          <p:cNvSpPr>
            <a:spLocks/>
          </p:cNvSpPr>
          <p:nvPr/>
        </p:nvSpPr>
        <p:spPr bwMode="auto">
          <a:xfrm>
            <a:off x="4389438" y="2667000"/>
            <a:ext cx="1928812" cy="1204913"/>
          </a:xfrm>
          <a:custGeom>
            <a:avLst/>
            <a:gdLst>
              <a:gd name="T0" fmla="*/ 0 w 1215"/>
              <a:gd name="T1" fmla="*/ 10 h 759"/>
              <a:gd name="T2" fmla="*/ 29 w 1215"/>
              <a:gd name="T3" fmla="*/ 453 h 759"/>
              <a:gd name="T4" fmla="*/ 109 w 1215"/>
              <a:gd name="T5" fmla="*/ 598 h 759"/>
              <a:gd name="T6" fmla="*/ 317 w 1215"/>
              <a:gd name="T7" fmla="*/ 714 h 759"/>
              <a:gd name="T8" fmla="*/ 557 w 1215"/>
              <a:gd name="T9" fmla="*/ 755 h 759"/>
              <a:gd name="T10" fmla="*/ 835 w 1215"/>
              <a:gd name="T11" fmla="*/ 736 h 759"/>
              <a:gd name="T12" fmla="*/ 1059 w 1215"/>
              <a:gd name="T13" fmla="*/ 646 h 759"/>
              <a:gd name="T14" fmla="*/ 1213 w 1215"/>
              <a:gd name="T15" fmla="*/ 375 h 759"/>
              <a:gd name="T16" fmla="*/ 1215 w 1215"/>
              <a:gd name="T17" fmla="*/ 0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15" h="759">
                <a:moveTo>
                  <a:pt x="0" y="10"/>
                </a:moveTo>
                <a:lnTo>
                  <a:pt x="29" y="453"/>
                </a:lnTo>
                <a:cubicBezTo>
                  <a:pt x="47" y="552"/>
                  <a:pt x="61" y="555"/>
                  <a:pt x="109" y="598"/>
                </a:cubicBezTo>
                <a:cubicBezTo>
                  <a:pt x="157" y="641"/>
                  <a:pt x="242" y="687"/>
                  <a:pt x="317" y="714"/>
                </a:cubicBezTo>
                <a:cubicBezTo>
                  <a:pt x="392" y="740"/>
                  <a:pt x="471" y="751"/>
                  <a:pt x="557" y="755"/>
                </a:cubicBezTo>
                <a:cubicBezTo>
                  <a:pt x="643" y="759"/>
                  <a:pt x="751" y="754"/>
                  <a:pt x="835" y="736"/>
                </a:cubicBezTo>
                <a:cubicBezTo>
                  <a:pt x="919" y="718"/>
                  <a:pt x="996" y="706"/>
                  <a:pt x="1059" y="646"/>
                </a:cubicBezTo>
                <a:cubicBezTo>
                  <a:pt x="1122" y="586"/>
                  <a:pt x="1187" y="483"/>
                  <a:pt x="1213" y="375"/>
                </a:cubicBezTo>
                <a:lnTo>
                  <a:pt x="1215" y="0"/>
                </a:lnTo>
              </a:path>
            </a:pathLst>
          </a:custGeom>
          <a:noFill/>
          <a:ln w="28575" cap="flat" cmpd="sng">
            <a:solidFill>
              <a:srgbClr val="800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9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47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99109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7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7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79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4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7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24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7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1379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1379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1379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4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7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24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7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1379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1379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1379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4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7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74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7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9377" grpId="0" animBg="1"/>
      <p:bldP spid="1379378" grpId="0" animBg="1"/>
      <p:bldP spid="137939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71" name="AutoShape 19"/>
          <p:cNvSpPr>
            <a:spLocks noChangeArrowheads="1"/>
          </p:cNvSpPr>
          <p:nvPr/>
        </p:nvSpPr>
        <p:spPr bwMode="auto">
          <a:xfrm>
            <a:off x="2735263" y="4237350"/>
            <a:ext cx="5875337" cy="10509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A5002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简化计算方法：</a:t>
            </a: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假定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基底压力按</a:t>
            </a: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直线分布的材料力学方法</a:t>
            </a:r>
          </a:p>
        </p:txBody>
      </p:sp>
      <p:sp>
        <p:nvSpPr>
          <p:cNvPr id="1380372" name="AutoShape 20"/>
          <p:cNvSpPr>
            <a:spLocks/>
          </p:cNvSpPr>
          <p:nvPr/>
        </p:nvSpPr>
        <p:spPr bwMode="auto">
          <a:xfrm rot="-5400000">
            <a:off x="3598862" y="2119313"/>
            <a:ext cx="277813" cy="2376488"/>
          </a:xfrm>
          <a:prstGeom prst="leftBrace">
            <a:avLst>
              <a:gd name="adj1" fmla="val 71286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0373" name="Line 21"/>
          <p:cNvSpPr>
            <a:spLocks noChangeShapeType="1"/>
          </p:cNvSpPr>
          <p:nvPr/>
        </p:nvSpPr>
        <p:spPr bwMode="auto">
          <a:xfrm>
            <a:off x="3727450" y="3611563"/>
            <a:ext cx="0" cy="503237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0374" name="Text Box 22"/>
          <p:cNvSpPr txBox="1">
            <a:spLocks noChangeArrowheads="1"/>
          </p:cNvSpPr>
          <p:nvPr/>
        </p:nvSpPr>
        <p:spPr bwMode="auto">
          <a:xfrm>
            <a:off x="3023425" y="5686163"/>
            <a:ext cx="48720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基底压力的简化计算</a:t>
            </a:r>
            <a:endParaRPr kumimoji="1"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1380375" name="Group 23"/>
          <p:cNvGrpSpPr>
            <a:grpSpLocks/>
          </p:cNvGrpSpPr>
          <p:nvPr/>
        </p:nvGrpSpPr>
        <p:grpSpPr bwMode="auto">
          <a:xfrm>
            <a:off x="749300" y="1063625"/>
            <a:ext cx="2343150" cy="1830388"/>
            <a:chOff x="482" y="470"/>
            <a:chExt cx="1476" cy="1153"/>
          </a:xfrm>
        </p:grpSpPr>
        <p:sp>
          <p:nvSpPr>
            <p:cNvPr id="1380376" name="Text Box 24"/>
            <p:cNvSpPr txBox="1">
              <a:spLocks noChangeArrowheads="1"/>
            </p:cNvSpPr>
            <p:nvPr/>
          </p:nvSpPr>
          <p:spPr bwMode="auto">
            <a:xfrm>
              <a:off x="691" y="671"/>
              <a:ext cx="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0377" name="AutoShape 25"/>
            <p:cNvSpPr>
              <a:spLocks noChangeArrowheads="1"/>
            </p:cNvSpPr>
            <p:nvPr/>
          </p:nvSpPr>
          <p:spPr bwMode="auto">
            <a:xfrm>
              <a:off x="482" y="470"/>
              <a:ext cx="1476" cy="1153"/>
            </a:xfrm>
            <a:prstGeom prst="pentagon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0378" name="Text Box 26"/>
            <p:cNvSpPr txBox="1">
              <a:spLocks noChangeArrowheads="1"/>
            </p:cNvSpPr>
            <p:nvPr/>
          </p:nvSpPr>
          <p:spPr bwMode="auto">
            <a:xfrm>
              <a:off x="603" y="723"/>
              <a:ext cx="1244" cy="8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基底压力的分布形式十分复杂</a:t>
              </a:r>
              <a:endParaRPr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380379" name="Group 27"/>
          <p:cNvGrpSpPr>
            <a:grpSpLocks/>
          </p:cNvGrpSpPr>
          <p:nvPr/>
        </p:nvGrpSpPr>
        <p:grpSpPr bwMode="auto">
          <a:xfrm>
            <a:off x="3671888" y="968375"/>
            <a:ext cx="4660900" cy="2011363"/>
            <a:chOff x="2313" y="500"/>
            <a:chExt cx="2936" cy="1267"/>
          </a:xfrm>
        </p:grpSpPr>
        <p:sp>
          <p:nvSpPr>
            <p:cNvPr id="1380380" name="AutoShape 28"/>
            <p:cNvSpPr>
              <a:spLocks noChangeArrowheads="1"/>
            </p:cNvSpPr>
            <p:nvPr/>
          </p:nvSpPr>
          <p:spPr bwMode="auto">
            <a:xfrm>
              <a:off x="2313" y="500"/>
              <a:ext cx="2928" cy="126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1380381" name="Text Box 29"/>
            <p:cNvSpPr txBox="1">
              <a:spLocks noChangeArrowheads="1"/>
            </p:cNvSpPr>
            <p:nvPr/>
          </p:nvSpPr>
          <p:spPr bwMode="auto">
            <a:xfrm>
              <a:off x="2390" y="532"/>
              <a:ext cx="2859" cy="10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圣维南原理：</a:t>
              </a: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/>
              </a:r>
              <a:b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基底压力分布的影响仅限于一定深度范围，之外的地基附加应力只取决于荷载合力的大小、方向和位置</a:t>
              </a:r>
              <a:endParaRPr lang="zh-CN" altLang="en-US" sz="22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48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9475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0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0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8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80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80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80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803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80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80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80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0371" grpId="0" animBg="1"/>
      <p:bldP spid="1380372" grpId="0" animBg="1"/>
      <p:bldP spid="138037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90" name="Rectangle 14"/>
          <p:cNvSpPr>
            <a:spLocks noChangeArrowheads="1"/>
          </p:cNvSpPr>
          <p:nvPr/>
        </p:nvSpPr>
        <p:spPr bwMode="auto">
          <a:xfrm>
            <a:off x="530225" y="699513"/>
            <a:ext cx="8231188" cy="47402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1391" name="Group 15"/>
          <p:cNvGrpSpPr>
            <a:grpSpLocks/>
          </p:cNvGrpSpPr>
          <p:nvPr/>
        </p:nvGrpSpPr>
        <p:grpSpPr bwMode="auto">
          <a:xfrm>
            <a:off x="1603375" y="1505963"/>
            <a:ext cx="1095375" cy="1062037"/>
            <a:chOff x="1377" y="1220"/>
            <a:chExt cx="690" cy="669"/>
          </a:xfrm>
        </p:grpSpPr>
        <p:sp>
          <p:nvSpPr>
            <p:cNvPr id="1381392" name="Rectangle 16"/>
            <p:cNvSpPr>
              <a:spLocks noChangeArrowheads="1"/>
            </p:cNvSpPr>
            <p:nvPr/>
          </p:nvSpPr>
          <p:spPr bwMode="auto">
            <a:xfrm>
              <a:off x="1377" y="1678"/>
              <a:ext cx="482" cy="85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430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1381393" name="Text Box 17"/>
            <p:cNvSpPr txBox="1">
              <a:spLocks noChangeArrowheads="1"/>
            </p:cNvSpPr>
            <p:nvPr/>
          </p:nvSpPr>
          <p:spPr bwMode="auto">
            <a:xfrm>
              <a:off x="1564" y="1695"/>
              <a:ext cx="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b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394" name="Text Box 18"/>
            <p:cNvSpPr txBox="1">
              <a:spLocks noChangeArrowheads="1"/>
            </p:cNvSpPr>
            <p:nvPr/>
          </p:nvSpPr>
          <p:spPr bwMode="auto">
            <a:xfrm>
              <a:off x="2023" y="1554"/>
              <a:ext cx="4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l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395" name="Line 19"/>
            <p:cNvSpPr>
              <a:spLocks noChangeShapeType="1"/>
            </p:cNvSpPr>
            <p:nvPr/>
          </p:nvSpPr>
          <p:spPr bwMode="auto">
            <a:xfrm flipV="1">
              <a:off x="1587" y="1366"/>
              <a:ext cx="340" cy="3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96" name="Line 20"/>
            <p:cNvSpPr>
              <a:spLocks noChangeShapeType="1"/>
            </p:cNvSpPr>
            <p:nvPr/>
          </p:nvSpPr>
          <p:spPr bwMode="auto">
            <a:xfrm>
              <a:off x="1453" y="1536"/>
              <a:ext cx="5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97" name="Line 21"/>
            <p:cNvSpPr>
              <a:spLocks noChangeShapeType="1"/>
            </p:cNvSpPr>
            <p:nvPr/>
          </p:nvSpPr>
          <p:spPr bwMode="auto">
            <a:xfrm>
              <a:off x="1755" y="1281"/>
              <a:ext cx="0" cy="25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398" name="Text Box 22"/>
            <p:cNvSpPr txBox="1">
              <a:spLocks noChangeArrowheads="1"/>
            </p:cNvSpPr>
            <p:nvPr/>
          </p:nvSpPr>
          <p:spPr bwMode="auto">
            <a:xfrm>
              <a:off x="1610" y="1220"/>
              <a:ext cx="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</a:t>
              </a:r>
            </a:p>
          </p:txBody>
        </p:sp>
      </p:grpSp>
      <p:sp>
        <p:nvSpPr>
          <p:cNvPr id="1381399" name="Rectangle 23"/>
          <p:cNvSpPr>
            <a:spLocks noChangeArrowheads="1"/>
          </p:cNvSpPr>
          <p:nvPr/>
        </p:nvSpPr>
        <p:spPr bwMode="auto">
          <a:xfrm>
            <a:off x="1722438" y="3974525"/>
            <a:ext cx="765175" cy="134938"/>
          </a:xfrm>
          <a:prstGeom prst="rect">
            <a:avLst/>
          </a:prstGeom>
          <a:solidFill>
            <a:srgbClr val="333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1400" name="Text Box 24"/>
          <p:cNvSpPr txBox="1">
            <a:spLocks noChangeArrowheads="1"/>
          </p:cNvSpPr>
          <p:nvPr/>
        </p:nvSpPr>
        <p:spPr bwMode="auto">
          <a:xfrm>
            <a:off x="1900411" y="4061838"/>
            <a:ext cx="1282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smtClean="0">
                <a:solidFill>
                  <a:srgbClr val="000000"/>
                </a:solidFill>
                <a:ea typeface="幼圆" pitchFamily="49" charset="-122"/>
                <a:sym typeface="Symbol" pitchFamily="18" charset="2"/>
              </a:rPr>
              <a:t>b</a:t>
            </a:r>
            <a:endParaRPr kumimoji="1" lang="en-US" altLang="zh-CN" sz="2000" b="1" i="1" dirty="0">
              <a:solidFill>
                <a:srgbClr val="000000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81401" name="Line 25"/>
          <p:cNvSpPr>
            <a:spLocks noChangeShapeType="1"/>
          </p:cNvSpPr>
          <p:nvPr/>
        </p:nvSpPr>
        <p:spPr bwMode="auto">
          <a:xfrm>
            <a:off x="2101850" y="3561775"/>
            <a:ext cx="0" cy="404813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1402" name="Line 26"/>
          <p:cNvSpPr>
            <a:spLocks noChangeShapeType="1"/>
          </p:cNvSpPr>
          <p:nvPr/>
        </p:nvSpPr>
        <p:spPr bwMode="auto">
          <a:xfrm>
            <a:off x="2101850" y="3818950"/>
            <a:ext cx="0" cy="450850"/>
          </a:xfrm>
          <a:prstGeom prst="line">
            <a:avLst/>
          </a:prstGeom>
          <a:noFill/>
          <a:ln w="19050">
            <a:solidFill>
              <a:srgbClr val="990033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1403" name="Text Box 27"/>
          <p:cNvSpPr txBox="1">
            <a:spLocks noChangeArrowheads="1"/>
          </p:cNvSpPr>
          <p:nvPr/>
        </p:nvSpPr>
        <p:spPr bwMode="auto">
          <a:xfrm>
            <a:off x="1758950" y="3501450"/>
            <a:ext cx="219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rPr>
              <a:t>P</a:t>
            </a:r>
          </a:p>
        </p:txBody>
      </p:sp>
      <p:grpSp>
        <p:nvGrpSpPr>
          <p:cNvPr id="1381404" name="Group 28"/>
          <p:cNvGrpSpPr>
            <a:grpSpLocks/>
          </p:cNvGrpSpPr>
          <p:nvPr/>
        </p:nvGrpSpPr>
        <p:grpSpPr bwMode="auto">
          <a:xfrm>
            <a:off x="6751638" y="1536125"/>
            <a:ext cx="1095375" cy="1016000"/>
            <a:chOff x="4273" y="1090"/>
            <a:chExt cx="690" cy="640"/>
          </a:xfrm>
        </p:grpSpPr>
        <p:sp>
          <p:nvSpPr>
            <p:cNvPr id="1381405" name="Rectangle 29"/>
            <p:cNvSpPr>
              <a:spLocks noChangeArrowheads="1"/>
            </p:cNvSpPr>
            <p:nvPr/>
          </p:nvSpPr>
          <p:spPr bwMode="auto">
            <a:xfrm>
              <a:off x="4273" y="1519"/>
              <a:ext cx="482" cy="85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430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1381406" name="Text Box 30"/>
            <p:cNvSpPr txBox="1">
              <a:spLocks noChangeArrowheads="1"/>
            </p:cNvSpPr>
            <p:nvPr/>
          </p:nvSpPr>
          <p:spPr bwMode="auto">
            <a:xfrm>
              <a:off x="4460" y="1536"/>
              <a:ext cx="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b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07" name="Text Box 31"/>
            <p:cNvSpPr txBox="1">
              <a:spLocks noChangeArrowheads="1"/>
            </p:cNvSpPr>
            <p:nvPr/>
          </p:nvSpPr>
          <p:spPr bwMode="auto">
            <a:xfrm>
              <a:off x="4919" y="1395"/>
              <a:ext cx="4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l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08" name="Line 32"/>
            <p:cNvSpPr>
              <a:spLocks noChangeShapeType="1"/>
            </p:cNvSpPr>
            <p:nvPr/>
          </p:nvSpPr>
          <p:spPr bwMode="auto">
            <a:xfrm flipV="1">
              <a:off x="4483" y="1207"/>
              <a:ext cx="340" cy="3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09" name="Line 33"/>
            <p:cNvSpPr>
              <a:spLocks noChangeShapeType="1"/>
            </p:cNvSpPr>
            <p:nvPr/>
          </p:nvSpPr>
          <p:spPr bwMode="auto">
            <a:xfrm>
              <a:off x="4349" y="1377"/>
              <a:ext cx="5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10" name="Line 34"/>
            <p:cNvSpPr>
              <a:spLocks noChangeShapeType="1"/>
            </p:cNvSpPr>
            <p:nvPr/>
          </p:nvSpPr>
          <p:spPr bwMode="auto">
            <a:xfrm>
              <a:off x="4424" y="1100"/>
              <a:ext cx="152" cy="227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11" name="Text Box 35"/>
            <p:cNvSpPr txBox="1">
              <a:spLocks noChangeArrowheads="1"/>
            </p:cNvSpPr>
            <p:nvPr/>
          </p:nvSpPr>
          <p:spPr bwMode="auto">
            <a:xfrm>
              <a:off x="4285" y="1090"/>
              <a:ext cx="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</a:t>
              </a:r>
            </a:p>
          </p:txBody>
        </p:sp>
      </p:grpSp>
      <p:graphicFrame>
        <p:nvGraphicFramePr>
          <p:cNvPr id="138141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708624"/>
              </p:ext>
            </p:extLst>
          </p:nvPr>
        </p:nvGraphicFramePr>
        <p:xfrm>
          <a:off x="1631950" y="4536500"/>
          <a:ext cx="8540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38" name="公式" r:id="rId3" imgW="583920" imgH="215640" progId="Equation.3">
                  <p:embed/>
                </p:oleObj>
              </mc:Choice>
              <mc:Fallback>
                <p:oleObj name="公式" r:id="rId3" imgW="583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4536500"/>
                        <a:ext cx="8540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141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143213"/>
              </p:ext>
            </p:extLst>
          </p:nvPr>
        </p:nvGraphicFramePr>
        <p:xfrm>
          <a:off x="1717675" y="2774950"/>
          <a:ext cx="91757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39" name="公式" r:id="rId5" imgW="583920" imgH="215640" progId="Equation.3">
                  <p:embed/>
                </p:oleObj>
              </mc:Choice>
              <mc:Fallback>
                <p:oleObj name="公式" r:id="rId5" imgW="5839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2774950"/>
                        <a:ext cx="91757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141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886924"/>
              </p:ext>
            </p:extLst>
          </p:nvPr>
        </p:nvGraphicFramePr>
        <p:xfrm>
          <a:off x="3814763" y="2644775"/>
          <a:ext cx="238283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40" name="公式" r:id="rId7" imgW="1752480" imgH="457200" progId="Equation.3">
                  <p:embed/>
                </p:oleObj>
              </mc:Choice>
              <mc:Fallback>
                <p:oleObj name="公式" r:id="rId7" imgW="1752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2644775"/>
                        <a:ext cx="2382837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141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836135"/>
              </p:ext>
            </p:extLst>
          </p:nvPr>
        </p:nvGraphicFramePr>
        <p:xfrm>
          <a:off x="4160838" y="4424363"/>
          <a:ext cx="14684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41" name="公式" r:id="rId9" imgW="1079280" imgH="380880" progId="Equation.3">
                  <p:embed/>
                </p:oleObj>
              </mc:Choice>
              <mc:Fallback>
                <p:oleObj name="公式" r:id="rId9" imgW="10792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838" y="4424363"/>
                        <a:ext cx="146843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141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580378"/>
              </p:ext>
            </p:extLst>
          </p:nvPr>
        </p:nvGraphicFramePr>
        <p:xfrm>
          <a:off x="6870700" y="2693988"/>
          <a:ext cx="1185862" cy="408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42" name="公式" r:id="rId11" imgW="736560" imgH="253800" progId="Equation.3">
                  <p:embed/>
                </p:oleObj>
              </mc:Choice>
              <mc:Fallback>
                <p:oleObj name="公式" r:id="rId11" imgW="7365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2693988"/>
                        <a:ext cx="1185862" cy="408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141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548372"/>
              </p:ext>
            </p:extLst>
          </p:nvPr>
        </p:nvGraphicFramePr>
        <p:xfrm>
          <a:off x="6856414" y="4479925"/>
          <a:ext cx="1267585" cy="408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43" name="公式" r:id="rId13" imgW="787320" imgH="253800" progId="Equation.3">
                  <p:embed/>
                </p:oleObj>
              </mc:Choice>
              <mc:Fallback>
                <p:oleObj name="公式" r:id="rId13" imgW="7873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4" y="4479925"/>
                        <a:ext cx="1267585" cy="408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1418" name="Group 42"/>
          <p:cNvGrpSpPr>
            <a:grpSpLocks/>
          </p:cNvGrpSpPr>
          <p:nvPr/>
        </p:nvGrpSpPr>
        <p:grpSpPr bwMode="auto">
          <a:xfrm>
            <a:off x="4289425" y="1388488"/>
            <a:ext cx="1119188" cy="1204912"/>
            <a:chOff x="2426" y="1176"/>
            <a:chExt cx="705" cy="759"/>
          </a:xfrm>
        </p:grpSpPr>
        <p:sp>
          <p:nvSpPr>
            <p:cNvPr id="1381419" name="Rectangle 43"/>
            <p:cNvSpPr>
              <a:spLocks noChangeArrowheads="1"/>
            </p:cNvSpPr>
            <p:nvPr/>
          </p:nvSpPr>
          <p:spPr bwMode="auto">
            <a:xfrm>
              <a:off x="2426" y="1678"/>
              <a:ext cx="482" cy="85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430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666633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20" name="Text Box 44"/>
            <p:cNvSpPr txBox="1">
              <a:spLocks noChangeArrowheads="1"/>
            </p:cNvSpPr>
            <p:nvPr/>
          </p:nvSpPr>
          <p:spPr bwMode="auto">
            <a:xfrm>
              <a:off x="2613" y="1741"/>
              <a:ext cx="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b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21" name="Text Box 45"/>
            <p:cNvSpPr txBox="1">
              <a:spLocks noChangeArrowheads="1"/>
            </p:cNvSpPr>
            <p:nvPr/>
          </p:nvSpPr>
          <p:spPr bwMode="auto">
            <a:xfrm>
              <a:off x="3087" y="1599"/>
              <a:ext cx="4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l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22" name="Line 46"/>
            <p:cNvSpPr>
              <a:spLocks noChangeShapeType="1"/>
            </p:cNvSpPr>
            <p:nvPr/>
          </p:nvSpPr>
          <p:spPr bwMode="auto">
            <a:xfrm flipV="1">
              <a:off x="2636" y="1366"/>
              <a:ext cx="340" cy="3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23" name="Line 47"/>
            <p:cNvSpPr>
              <a:spLocks noChangeShapeType="1"/>
            </p:cNvSpPr>
            <p:nvPr/>
          </p:nvSpPr>
          <p:spPr bwMode="auto">
            <a:xfrm>
              <a:off x="2502" y="1536"/>
              <a:ext cx="5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24" name="Line 48"/>
            <p:cNvSpPr>
              <a:spLocks noChangeShapeType="1"/>
            </p:cNvSpPr>
            <p:nvPr/>
          </p:nvSpPr>
          <p:spPr bwMode="auto">
            <a:xfrm>
              <a:off x="2766" y="1224"/>
              <a:ext cx="0" cy="25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25" name="Text Box 49"/>
            <p:cNvSpPr txBox="1">
              <a:spLocks noChangeArrowheads="1"/>
            </p:cNvSpPr>
            <p:nvPr/>
          </p:nvSpPr>
          <p:spPr bwMode="auto">
            <a:xfrm>
              <a:off x="2610" y="1176"/>
              <a:ext cx="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</a:t>
              </a:r>
            </a:p>
          </p:txBody>
        </p:sp>
        <p:sp>
          <p:nvSpPr>
            <p:cNvPr id="1381426" name="Text Box 50"/>
            <p:cNvSpPr txBox="1">
              <a:spLocks noChangeArrowheads="1"/>
            </p:cNvSpPr>
            <p:nvPr/>
          </p:nvSpPr>
          <p:spPr bwMode="auto">
            <a:xfrm>
              <a:off x="2772" y="1458"/>
              <a:ext cx="8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o</a:t>
              </a:r>
            </a:p>
          </p:txBody>
        </p:sp>
        <p:sp>
          <p:nvSpPr>
            <p:cNvPr id="1381427" name="Text Box 51"/>
            <p:cNvSpPr txBox="1">
              <a:spLocks noChangeArrowheads="1"/>
            </p:cNvSpPr>
            <p:nvPr/>
          </p:nvSpPr>
          <p:spPr bwMode="auto">
            <a:xfrm>
              <a:off x="2457" y="1348"/>
              <a:ext cx="8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1428" name="Text Box 52"/>
            <p:cNvSpPr txBox="1">
              <a:spLocks noChangeArrowheads="1"/>
            </p:cNvSpPr>
            <p:nvPr/>
          </p:nvSpPr>
          <p:spPr bwMode="auto">
            <a:xfrm>
              <a:off x="2559" y="1533"/>
              <a:ext cx="7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</a:p>
          </p:txBody>
        </p:sp>
      </p:grpSp>
      <p:grpSp>
        <p:nvGrpSpPr>
          <p:cNvPr id="1381429" name="Group 53"/>
          <p:cNvGrpSpPr>
            <a:grpSpLocks/>
          </p:cNvGrpSpPr>
          <p:nvPr/>
        </p:nvGrpSpPr>
        <p:grpSpPr bwMode="auto">
          <a:xfrm>
            <a:off x="4411663" y="3504625"/>
            <a:ext cx="852487" cy="865188"/>
            <a:chOff x="2513" y="2699"/>
            <a:chExt cx="537" cy="545"/>
          </a:xfrm>
        </p:grpSpPr>
        <p:sp>
          <p:nvSpPr>
            <p:cNvPr id="1381430" name="Rectangle 54"/>
            <p:cNvSpPr>
              <a:spLocks noChangeArrowheads="1"/>
            </p:cNvSpPr>
            <p:nvPr/>
          </p:nvSpPr>
          <p:spPr bwMode="auto">
            <a:xfrm>
              <a:off x="2568" y="2995"/>
              <a:ext cx="482" cy="85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1431" name="Text Box 55"/>
            <p:cNvSpPr txBox="1">
              <a:spLocks noChangeArrowheads="1"/>
            </p:cNvSpPr>
            <p:nvPr/>
          </p:nvSpPr>
          <p:spPr bwMode="auto">
            <a:xfrm>
              <a:off x="2710" y="3050"/>
              <a:ext cx="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b</a:t>
              </a:r>
            </a:p>
          </p:txBody>
        </p:sp>
        <p:sp>
          <p:nvSpPr>
            <p:cNvPr id="1381432" name="Line 56"/>
            <p:cNvSpPr>
              <a:spLocks noChangeShapeType="1"/>
            </p:cNvSpPr>
            <p:nvPr/>
          </p:nvSpPr>
          <p:spPr bwMode="auto">
            <a:xfrm>
              <a:off x="2710" y="2735"/>
              <a:ext cx="0" cy="25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33" name="Line 57"/>
            <p:cNvSpPr>
              <a:spLocks noChangeShapeType="1"/>
            </p:cNvSpPr>
            <p:nvPr/>
          </p:nvSpPr>
          <p:spPr bwMode="auto">
            <a:xfrm>
              <a:off x="2815" y="2897"/>
              <a:ext cx="0" cy="284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34" name="Text Box 58"/>
            <p:cNvSpPr txBox="1">
              <a:spLocks noChangeArrowheads="1"/>
            </p:cNvSpPr>
            <p:nvPr/>
          </p:nvSpPr>
          <p:spPr bwMode="auto">
            <a:xfrm>
              <a:off x="2513" y="2699"/>
              <a:ext cx="13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P</a:t>
              </a:r>
            </a:p>
          </p:txBody>
        </p:sp>
      </p:grpSp>
      <p:grpSp>
        <p:nvGrpSpPr>
          <p:cNvPr id="1381435" name="Group 59"/>
          <p:cNvGrpSpPr>
            <a:grpSpLocks/>
          </p:cNvGrpSpPr>
          <p:nvPr/>
        </p:nvGrpSpPr>
        <p:grpSpPr bwMode="auto">
          <a:xfrm>
            <a:off x="6813550" y="3476050"/>
            <a:ext cx="1019175" cy="877888"/>
            <a:chOff x="3514" y="2691"/>
            <a:chExt cx="642" cy="553"/>
          </a:xfrm>
        </p:grpSpPr>
        <p:sp>
          <p:nvSpPr>
            <p:cNvPr id="1381436" name="Rectangle 60"/>
            <p:cNvSpPr>
              <a:spLocks noChangeArrowheads="1"/>
            </p:cNvSpPr>
            <p:nvPr/>
          </p:nvSpPr>
          <p:spPr bwMode="auto">
            <a:xfrm>
              <a:off x="3674" y="2995"/>
              <a:ext cx="482" cy="85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1437" name="Text Box 61"/>
            <p:cNvSpPr txBox="1">
              <a:spLocks noChangeArrowheads="1"/>
            </p:cNvSpPr>
            <p:nvPr/>
          </p:nvSpPr>
          <p:spPr bwMode="auto">
            <a:xfrm>
              <a:off x="3816" y="3050"/>
              <a:ext cx="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b</a:t>
              </a:r>
              <a:endParaRPr kumimoji="1" lang="en-US" altLang="zh-CN" sz="20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81438" name="Line 62"/>
            <p:cNvSpPr>
              <a:spLocks noChangeShapeType="1"/>
            </p:cNvSpPr>
            <p:nvPr/>
          </p:nvSpPr>
          <p:spPr bwMode="auto">
            <a:xfrm>
              <a:off x="3702" y="2735"/>
              <a:ext cx="114" cy="25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39" name="Line 63"/>
            <p:cNvSpPr>
              <a:spLocks noChangeShapeType="1"/>
            </p:cNvSpPr>
            <p:nvPr/>
          </p:nvSpPr>
          <p:spPr bwMode="auto">
            <a:xfrm>
              <a:off x="3921" y="2897"/>
              <a:ext cx="0" cy="284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1440" name="Text Box 64"/>
            <p:cNvSpPr txBox="1">
              <a:spLocks noChangeArrowheads="1"/>
            </p:cNvSpPr>
            <p:nvPr/>
          </p:nvSpPr>
          <p:spPr bwMode="auto">
            <a:xfrm>
              <a:off x="3514" y="2691"/>
              <a:ext cx="13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P</a:t>
              </a:r>
            </a:p>
          </p:txBody>
        </p:sp>
      </p:grpSp>
      <p:sp>
        <p:nvSpPr>
          <p:cNvPr id="1381441" name="Text Box 65"/>
          <p:cNvSpPr txBox="1">
            <a:spLocks noChangeArrowheads="1"/>
          </p:cNvSpPr>
          <p:nvPr/>
        </p:nvSpPr>
        <p:spPr bwMode="auto">
          <a:xfrm>
            <a:off x="2151063" y="5770813"/>
            <a:ext cx="62690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基础形状与荷载条件的组合</a:t>
            </a:r>
          </a:p>
        </p:txBody>
      </p:sp>
      <p:sp>
        <p:nvSpPr>
          <p:cNvPr id="1381442" name="Text Box 66"/>
          <p:cNvSpPr txBox="1">
            <a:spLocks noChangeArrowheads="1"/>
          </p:cNvSpPr>
          <p:nvPr/>
        </p:nvSpPr>
        <p:spPr bwMode="auto">
          <a:xfrm>
            <a:off x="698500" y="1583750"/>
            <a:ext cx="549275" cy="321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latin typeface="幼圆" pitchFamily="49" charset="-122"/>
                <a:ea typeface="幼圆" pitchFamily="49" charset="-122"/>
              </a:rPr>
              <a:t>矩形            条形</a:t>
            </a:r>
          </a:p>
        </p:txBody>
      </p:sp>
      <p:sp>
        <p:nvSpPr>
          <p:cNvPr id="1381443" name="Text Box 67"/>
          <p:cNvSpPr txBox="1">
            <a:spLocks noChangeArrowheads="1"/>
          </p:cNvSpPr>
          <p:nvPr/>
        </p:nvSpPr>
        <p:spPr bwMode="auto">
          <a:xfrm>
            <a:off x="1520825" y="770950"/>
            <a:ext cx="671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竖直中心                 竖直偏心                    倾斜偏心</a:t>
            </a:r>
            <a:endParaRPr lang="en-US" altLang="zh-CN" sz="2400" b="1">
              <a:ea typeface="幼圆" pitchFamily="49" charset="-122"/>
            </a:endParaRPr>
          </a:p>
        </p:txBody>
      </p:sp>
      <p:sp>
        <p:nvSpPr>
          <p:cNvPr id="1381444" name="Line 68"/>
          <p:cNvSpPr>
            <a:spLocks noChangeShapeType="1"/>
          </p:cNvSpPr>
          <p:nvPr/>
        </p:nvSpPr>
        <p:spPr bwMode="auto">
          <a:xfrm>
            <a:off x="530225" y="1324988"/>
            <a:ext cx="8215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1445" name="Line 69"/>
          <p:cNvSpPr>
            <a:spLocks noChangeShapeType="1"/>
          </p:cNvSpPr>
          <p:nvPr/>
        </p:nvSpPr>
        <p:spPr bwMode="auto">
          <a:xfrm>
            <a:off x="547688" y="3336350"/>
            <a:ext cx="82153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1446" name="Line 70"/>
          <p:cNvSpPr>
            <a:spLocks noChangeShapeType="1"/>
          </p:cNvSpPr>
          <p:nvPr/>
        </p:nvSpPr>
        <p:spPr bwMode="auto">
          <a:xfrm>
            <a:off x="1323975" y="715388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1447" name="Line 71"/>
          <p:cNvSpPr>
            <a:spLocks noChangeShapeType="1"/>
          </p:cNvSpPr>
          <p:nvPr/>
        </p:nvSpPr>
        <p:spPr bwMode="auto">
          <a:xfrm>
            <a:off x="3784600" y="716975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1448" name="Line 72"/>
          <p:cNvSpPr>
            <a:spLocks noChangeShapeType="1"/>
          </p:cNvSpPr>
          <p:nvPr/>
        </p:nvSpPr>
        <p:spPr bwMode="auto">
          <a:xfrm>
            <a:off x="6324600" y="731263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1449" name="Text Box 73"/>
          <p:cNvSpPr txBox="1">
            <a:spLocks noChangeArrowheads="1"/>
          </p:cNvSpPr>
          <p:nvPr/>
        </p:nvSpPr>
        <p:spPr bwMode="auto">
          <a:xfrm>
            <a:off x="1517650" y="4995288"/>
            <a:ext cx="22669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1" dirty="0">
                <a:ea typeface="幼圆" pitchFamily="49" charset="-122"/>
                <a:sym typeface="Symbol" pitchFamily="18" charset="2"/>
              </a:rPr>
              <a:t>P</a:t>
            </a:r>
            <a:r>
              <a:rPr kumimoji="1" lang="en-US" altLang="zh-CN" sz="1600" b="1" i="1" dirty="0" smtClean="0">
                <a:ea typeface="幼圆" pitchFamily="49" charset="-122"/>
                <a:sym typeface="Symbol" pitchFamily="18" charset="2"/>
              </a:rPr>
              <a:t> </a:t>
            </a:r>
            <a:r>
              <a:rPr kumimoji="1" lang="en-US" altLang="zh-CN" sz="1600" b="1" dirty="0" smtClean="0">
                <a:ea typeface="幼圆" pitchFamily="49" charset="-122"/>
                <a:sym typeface="Symbol" pitchFamily="18" charset="2"/>
              </a:rPr>
              <a:t>:</a:t>
            </a:r>
            <a:r>
              <a:rPr kumimoji="1" lang="zh-CN" altLang="en-US" sz="1600" b="1" dirty="0">
                <a:ea typeface="幼圆" pitchFamily="49" charset="-122"/>
                <a:sym typeface="Symbol" pitchFamily="18" charset="2"/>
              </a:rPr>
              <a:t>单位长度上的荷载</a:t>
            </a:r>
          </a:p>
        </p:txBody>
      </p:sp>
      <p:sp>
        <p:nvSpPr>
          <p:cNvPr id="6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88369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515" name="Rectangle 115"/>
          <p:cNvSpPr>
            <a:spLocks noChangeArrowheads="1"/>
          </p:cNvSpPr>
          <p:nvPr/>
        </p:nvSpPr>
        <p:spPr bwMode="auto">
          <a:xfrm>
            <a:off x="0" y="674175"/>
            <a:ext cx="9144000" cy="47212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57" name="Text Box 57"/>
          <p:cNvSpPr txBox="1">
            <a:spLocks noChangeArrowheads="1"/>
          </p:cNvSpPr>
          <p:nvPr/>
        </p:nvSpPr>
        <p:spPr bwMode="auto">
          <a:xfrm>
            <a:off x="1941825" y="5758813"/>
            <a:ext cx="62690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矩形基础上的集中荷载</a:t>
            </a:r>
            <a:endParaRPr kumimoji="1" lang="en-US" altLang="zh-CN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1382458" name="Group 58"/>
          <p:cNvGrpSpPr>
            <a:grpSpLocks/>
          </p:cNvGrpSpPr>
          <p:nvPr/>
        </p:nvGrpSpPr>
        <p:grpSpPr bwMode="auto">
          <a:xfrm>
            <a:off x="3529013" y="778950"/>
            <a:ext cx="5329237" cy="4400550"/>
            <a:chOff x="2223" y="558"/>
            <a:chExt cx="3357" cy="2772"/>
          </a:xfrm>
        </p:grpSpPr>
        <p:sp>
          <p:nvSpPr>
            <p:cNvPr id="1382459" name="Rectangle 59"/>
            <p:cNvSpPr>
              <a:spLocks noChangeAspect="1" noChangeArrowheads="1"/>
            </p:cNvSpPr>
            <p:nvPr/>
          </p:nvSpPr>
          <p:spPr bwMode="auto">
            <a:xfrm>
              <a:off x="2454" y="1372"/>
              <a:ext cx="974" cy="1103"/>
            </a:xfrm>
            <a:prstGeom prst="rect">
              <a:avLst/>
            </a:prstGeom>
            <a:solidFill>
              <a:schemeClr val="accent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0" name="Freeform 60" descr="深色竖线"/>
            <p:cNvSpPr>
              <a:spLocks noChangeAspect="1"/>
            </p:cNvSpPr>
            <p:nvPr/>
          </p:nvSpPr>
          <p:spPr bwMode="auto">
            <a:xfrm>
              <a:off x="2463" y="2726"/>
              <a:ext cx="979" cy="289"/>
            </a:xfrm>
            <a:custGeom>
              <a:avLst/>
              <a:gdLst>
                <a:gd name="T0" fmla="*/ 2 w 1209"/>
                <a:gd name="T1" fmla="*/ 357 h 357"/>
                <a:gd name="T2" fmla="*/ 1208 w 1209"/>
                <a:gd name="T3" fmla="*/ 120 h 357"/>
                <a:gd name="T4" fmla="*/ 1209 w 1209"/>
                <a:gd name="T5" fmla="*/ 1 h 357"/>
                <a:gd name="T6" fmla="*/ 0 w 1209"/>
                <a:gd name="T7" fmla="*/ 0 h 357"/>
                <a:gd name="T8" fmla="*/ 2 w 1209"/>
                <a:gd name="T9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9" h="357">
                  <a:moveTo>
                    <a:pt x="2" y="357"/>
                  </a:moveTo>
                  <a:lnTo>
                    <a:pt x="1208" y="120"/>
                  </a:lnTo>
                  <a:lnTo>
                    <a:pt x="1209" y="1"/>
                  </a:lnTo>
                  <a:lnTo>
                    <a:pt x="0" y="0"/>
                  </a:lnTo>
                  <a:lnTo>
                    <a:pt x="2" y="357"/>
                  </a:lnTo>
                  <a:close/>
                </a:path>
              </a:pathLst>
            </a:custGeom>
            <a:pattFill prst="dkVert">
              <a:fgClr>
                <a:srgbClr val="A50021"/>
              </a:fgClr>
              <a:bgClr>
                <a:srgbClr val="FFFFFF"/>
              </a:bgClr>
            </a:pattFill>
            <a:ln w="6350" cap="flat" cmpd="sng">
              <a:solidFill>
                <a:srgbClr val="A5002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1" name="Freeform 61"/>
            <p:cNvSpPr>
              <a:spLocks noChangeAspect="1"/>
            </p:cNvSpPr>
            <p:nvPr/>
          </p:nvSpPr>
          <p:spPr bwMode="auto">
            <a:xfrm>
              <a:off x="2790" y="2007"/>
              <a:ext cx="153" cy="1"/>
            </a:xfrm>
            <a:custGeom>
              <a:avLst/>
              <a:gdLst>
                <a:gd name="T0" fmla="*/ 0 w 190"/>
                <a:gd name="T1" fmla="*/ 1 h 1"/>
                <a:gd name="T2" fmla="*/ 190 w 19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0" h="1">
                  <a:moveTo>
                    <a:pt x="0" y="1"/>
                  </a:moveTo>
                  <a:lnTo>
                    <a:pt x="19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2" name="Freeform 62"/>
            <p:cNvSpPr>
              <a:spLocks noChangeAspect="1"/>
            </p:cNvSpPr>
            <p:nvPr/>
          </p:nvSpPr>
          <p:spPr bwMode="auto">
            <a:xfrm>
              <a:off x="2798" y="1763"/>
              <a:ext cx="1" cy="272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3" name="Text Box 63"/>
            <p:cNvSpPr txBox="1">
              <a:spLocks noChangeAspect="1" noChangeArrowheads="1"/>
            </p:cNvSpPr>
            <p:nvPr/>
          </p:nvSpPr>
          <p:spPr bwMode="auto">
            <a:xfrm>
              <a:off x="2752" y="1979"/>
              <a:ext cx="19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lang="en-US" altLang="zh-CN" sz="22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2464" name="Oval 64"/>
            <p:cNvSpPr>
              <a:spLocks noChangeAspect="1" noChangeArrowheads="1"/>
            </p:cNvSpPr>
            <p:nvPr/>
          </p:nvSpPr>
          <p:spPr bwMode="auto">
            <a:xfrm>
              <a:off x="2760" y="1713"/>
              <a:ext cx="73" cy="74"/>
            </a:xfrm>
            <a:prstGeom prst="ellipse">
              <a:avLst/>
            </a:prstGeom>
            <a:solidFill>
              <a:srgbClr val="A50021"/>
            </a:solidFill>
            <a:ln w="1270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5" name="Freeform 65"/>
            <p:cNvSpPr>
              <a:spLocks noChangeAspect="1"/>
            </p:cNvSpPr>
            <p:nvPr/>
          </p:nvSpPr>
          <p:spPr bwMode="auto">
            <a:xfrm>
              <a:off x="2246" y="1922"/>
              <a:ext cx="1284" cy="1"/>
            </a:xfrm>
            <a:custGeom>
              <a:avLst/>
              <a:gdLst>
                <a:gd name="T0" fmla="*/ 1427 w 1427"/>
                <a:gd name="T1" fmla="*/ 0 h 1"/>
                <a:gd name="T2" fmla="*/ 0 w 1427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27" h="1">
                  <a:moveTo>
                    <a:pt x="1427" y="0"/>
                  </a:moveTo>
                  <a:lnTo>
                    <a:pt x="0" y="1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6" name="Freeform 66"/>
            <p:cNvSpPr>
              <a:spLocks noChangeAspect="1"/>
            </p:cNvSpPr>
            <p:nvPr/>
          </p:nvSpPr>
          <p:spPr bwMode="auto">
            <a:xfrm>
              <a:off x="2935" y="1307"/>
              <a:ext cx="5" cy="1306"/>
            </a:xfrm>
            <a:custGeom>
              <a:avLst/>
              <a:gdLst>
                <a:gd name="T0" fmla="*/ 0 w 6"/>
                <a:gd name="T1" fmla="*/ 0 h 1450"/>
                <a:gd name="T2" fmla="*/ 6 w 6"/>
                <a:gd name="T3" fmla="*/ 145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450">
                  <a:moveTo>
                    <a:pt x="0" y="0"/>
                  </a:moveTo>
                  <a:lnTo>
                    <a:pt x="6" y="1450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67" name="Text Box 67"/>
            <p:cNvSpPr txBox="1">
              <a:spLocks noChangeAspect="1" noChangeArrowheads="1"/>
            </p:cNvSpPr>
            <p:nvPr/>
          </p:nvSpPr>
          <p:spPr bwMode="auto">
            <a:xfrm>
              <a:off x="2233" y="1884"/>
              <a:ext cx="8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2468" name="Text Box 68"/>
            <p:cNvSpPr txBox="1">
              <a:spLocks noChangeAspect="1" noChangeArrowheads="1"/>
            </p:cNvSpPr>
            <p:nvPr/>
          </p:nvSpPr>
          <p:spPr bwMode="auto">
            <a:xfrm>
              <a:off x="2973" y="2443"/>
              <a:ext cx="8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</a:p>
          </p:txBody>
        </p:sp>
        <p:sp>
          <p:nvSpPr>
            <p:cNvPr id="1382469" name="Line 69"/>
            <p:cNvSpPr>
              <a:spLocks noChangeAspect="1" noChangeShapeType="1"/>
            </p:cNvSpPr>
            <p:nvPr/>
          </p:nvSpPr>
          <p:spPr bwMode="auto">
            <a:xfrm>
              <a:off x="2451" y="1061"/>
              <a:ext cx="0" cy="2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0" name="Line 70"/>
            <p:cNvSpPr>
              <a:spLocks noChangeAspect="1" noChangeShapeType="1"/>
            </p:cNvSpPr>
            <p:nvPr/>
          </p:nvSpPr>
          <p:spPr bwMode="auto">
            <a:xfrm>
              <a:off x="3425" y="1061"/>
              <a:ext cx="0" cy="2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1" name="Freeform 71"/>
            <p:cNvSpPr>
              <a:spLocks noChangeAspect="1"/>
            </p:cNvSpPr>
            <p:nvPr/>
          </p:nvSpPr>
          <p:spPr bwMode="auto">
            <a:xfrm>
              <a:off x="2445" y="1237"/>
              <a:ext cx="990" cy="1"/>
            </a:xfrm>
            <a:custGeom>
              <a:avLst/>
              <a:gdLst>
                <a:gd name="T0" fmla="*/ 0 w 1221"/>
                <a:gd name="T1" fmla="*/ 0 h 1"/>
                <a:gd name="T2" fmla="*/ 1221 w 122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21" h="1">
                  <a:moveTo>
                    <a:pt x="0" y="0"/>
                  </a:moveTo>
                  <a:lnTo>
                    <a:pt x="122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2" name="Freeform 72"/>
            <p:cNvSpPr>
              <a:spLocks noChangeAspect="1"/>
            </p:cNvSpPr>
            <p:nvPr/>
          </p:nvSpPr>
          <p:spPr bwMode="auto">
            <a:xfrm>
              <a:off x="3088" y="1751"/>
              <a:ext cx="1" cy="178"/>
            </a:xfrm>
            <a:custGeom>
              <a:avLst/>
              <a:gdLst>
                <a:gd name="T0" fmla="*/ 0 w 1"/>
                <a:gd name="T1" fmla="*/ 0 h 221"/>
                <a:gd name="T2" fmla="*/ 0 w 1"/>
                <a:gd name="T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21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3" name="Freeform 73"/>
            <p:cNvSpPr>
              <a:spLocks noChangeAspect="1"/>
            </p:cNvSpPr>
            <p:nvPr/>
          </p:nvSpPr>
          <p:spPr bwMode="auto">
            <a:xfrm>
              <a:off x="2796" y="1757"/>
              <a:ext cx="368" cy="1"/>
            </a:xfrm>
            <a:custGeom>
              <a:avLst/>
              <a:gdLst>
                <a:gd name="T0" fmla="*/ 0 w 453"/>
                <a:gd name="T1" fmla="*/ 0 h 1"/>
                <a:gd name="T2" fmla="*/ 453 w 45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3" h="1">
                  <a:moveTo>
                    <a:pt x="0" y="0"/>
                  </a:moveTo>
                  <a:lnTo>
                    <a:pt x="453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4" name="Text Box 74"/>
            <p:cNvSpPr txBox="1">
              <a:spLocks noChangeAspect="1" noChangeArrowheads="1"/>
            </p:cNvSpPr>
            <p:nvPr/>
          </p:nvSpPr>
          <p:spPr bwMode="auto">
            <a:xfrm>
              <a:off x="3132" y="1682"/>
              <a:ext cx="16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lang="en-US" altLang="zh-CN" sz="22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endParaRPr lang="en-US" altLang="zh-CN" sz="22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2475" name="Line 75"/>
            <p:cNvSpPr>
              <a:spLocks noChangeAspect="1" noChangeShapeType="1"/>
            </p:cNvSpPr>
            <p:nvPr/>
          </p:nvSpPr>
          <p:spPr bwMode="auto">
            <a:xfrm>
              <a:off x="3603" y="1372"/>
              <a:ext cx="0" cy="1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6" name="Text Box 76"/>
            <p:cNvSpPr txBox="1">
              <a:spLocks noChangeAspect="1" noChangeArrowheads="1"/>
            </p:cNvSpPr>
            <p:nvPr/>
          </p:nvSpPr>
          <p:spPr bwMode="auto">
            <a:xfrm>
              <a:off x="2842" y="1039"/>
              <a:ext cx="8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endPara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2477" name="Text Box 77"/>
            <p:cNvSpPr txBox="1">
              <a:spLocks noChangeAspect="1" noChangeArrowheads="1"/>
            </p:cNvSpPr>
            <p:nvPr/>
          </p:nvSpPr>
          <p:spPr bwMode="auto">
            <a:xfrm>
              <a:off x="3621" y="1810"/>
              <a:ext cx="8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l</a:t>
              </a:r>
              <a:endPara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2478" name="Line 78"/>
            <p:cNvSpPr>
              <a:spLocks noChangeAspect="1" noChangeShapeType="1"/>
            </p:cNvSpPr>
            <p:nvPr/>
          </p:nvSpPr>
          <p:spPr bwMode="auto">
            <a:xfrm>
              <a:off x="3449" y="1372"/>
              <a:ext cx="2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79" name="Line 79"/>
            <p:cNvSpPr>
              <a:spLocks noChangeAspect="1" noChangeShapeType="1"/>
            </p:cNvSpPr>
            <p:nvPr/>
          </p:nvSpPr>
          <p:spPr bwMode="auto">
            <a:xfrm>
              <a:off x="3451" y="2475"/>
              <a:ext cx="2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80" name="Freeform 80" descr="深色横线"/>
            <p:cNvSpPr>
              <a:spLocks noChangeAspect="1"/>
            </p:cNvSpPr>
            <p:nvPr/>
          </p:nvSpPr>
          <p:spPr bwMode="auto">
            <a:xfrm rot="5400000" flipV="1">
              <a:off x="3519" y="1754"/>
              <a:ext cx="1102" cy="337"/>
            </a:xfrm>
            <a:custGeom>
              <a:avLst/>
              <a:gdLst>
                <a:gd name="T0" fmla="*/ 2 w 1209"/>
                <a:gd name="T1" fmla="*/ 357 h 357"/>
                <a:gd name="T2" fmla="*/ 1208 w 1209"/>
                <a:gd name="T3" fmla="*/ 120 h 357"/>
                <a:gd name="T4" fmla="*/ 1209 w 1209"/>
                <a:gd name="T5" fmla="*/ 1 h 357"/>
                <a:gd name="T6" fmla="*/ 0 w 1209"/>
                <a:gd name="T7" fmla="*/ 0 h 357"/>
                <a:gd name="T8" fmla="*/ 2 w 1209"/>
                <a:gd name="T9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9" h="357">
                  <a:moveTo>
                    <a:pt x="2" y="357"/>
                  </a:moveTo>
                  <a:lnTo>
                    <a:pt x="1208" y="120"/>
                  </a:lnTo>
                  <a:lnTo>
                    <a:pt x="1209" y="1"/>
                  </a:lnTo>
                  <a:lnTo>
                    <a:pt x="0" y="0"/>
                  </a:lnTo>
                  <a:lnTo>
                    <a:pt x="2" y="357"/>
                  </a:lnTo>
                  <a:close/>
                </a:path>
              </a:pathLst>
            </a:custGeom>
            <a:pattFill prst="dkHorz">
              <a:fgClr>
                <a:srgbClr val="A50021"/>
              </a:fgClr>
              <a:bgClr>
                <a:srgbClr val="FFFFFF"/>
              </a:bgClr>
            </a:pattFill>
            <a:ln w="6350" cap="flat" cmpd="sng">
              <a:solidFill>
                <a:srgbClr val="A5002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81" name="Line 81"/>
            <p:cNvSpPr>
              <a:spLocks noChangeAspect="1" noChangeShapeType="1"/>
            </p:cNvSpPr>
            <p:nvPr/>
          </p:nvSpPr>
          <p:spPr bwMode="auto">
            <a:xfrm>
              <a:off x="2800" y="558"/>
              <a:ext cx="0" cy="368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82" name="Rectangle 82"/>
            <p:cNvSpPr>
              <a:spLocks noChangeAspect="1" noChangeArrowheads="1"/>
            </p:cNvSpPr>
            <p:nvPr/>
          </p:nvSpPr>
          <p:spPr bwMode="auto">
            <a:xfrm>
              <a:off x="2445" y="926"/>
              <a:ext cx="973" cy="116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83" name="Line 83"/>
            <p:cNvSpPr>
              <a:spLocks noChangeAspect="1" noChangeShapeType="1"/>
            </p:cNvSpPr>
            <p:nvPr/>
          </p:nvSpPr>
          <p:spPr bwMode="auto">
            <a:xfrm>
              <a:off x="2934" y="564"/>
              <a:ext cx="0" cy="7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1382484" name="Text Box 84"/>
            <p:cNvSpPr txBox="1">
              <a:spLocks noChangeAspect="1" noChangeArrowheads="1"/>
            </p:cNvSpPr>
            <p:nvPr/>
          </p:nvSpPr>
          <p:spPr bwMode="auto">
            <a:xfrm>
              <a:off x="2596" y="585"/>
              <a:ext cx="1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graphicFrame>
          <p:nvGraphicFramePr>
            <p:cNvPr id="1382485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168018"/>
                </p:ext>
              </p:extLst>
            </p:nvPr>
          </p:nvGraphicFramePr>
          <p:xfrm>
            <a:off x="4559" y="1505"/>
            <a:ext cx="783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50" name="公式" r:id="rId3" imgW="799920" imgH="495000" progId="Equation.3">
                    <p:embed/>
                  </p:oleObj>
                </mc:Choice>
                <mc:Fallback>
                  <p:oleObj name="公式" r:id="rId3" imgW="799920" imgH="4950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" y="1505"/>
                          <a:ext cx="783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486" name="Text Box 86"/>
            <p:cNvSpPr txBox="1">
              <a:spLocks noChangeArrowheads="1"/>
            </p:cNvSpPr>
            <p:nvPr/>
          </p:nvSpPr>
          <p:spPr bwMode="auto">
            <a:xfrm>
              <a:off x="2223" y="3100"/>
              <a:ext cx="1671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矩形面积偏心荷载</a:t>
              </a:r>
            </a:p>
          </p:txBody>
        </p:sp>
        <p:graphicFrame>
          <p:nvGraphicFramePr>
            <p:cNvPr id="1382487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2590343"/>
                </p:ext>
              </p:extLst>
            </p:nvPr>
          </p:nvGraphicFramePr>
          <p:xfrm>
            <a:off x="3603" y="698"/>
            <a:ext cx="1977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51" name="公式" r:id="rId5" imgW="1752480" imgH="457200" progId="Equation.3">
                    <p:embed/>
                  </p:oleObj>
                </mc:Choice>
                <mc:Fallback>
                  <p:oleObj name="公式" r:id="rId5" imgW="1752480" imgH="4572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698"/>
                          <a:ext cx="1977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488" name="Group 88"/>
          <p:cNvGrpSpPr>
            <a:grpSpLocks/>
          </p:cNvGrpSpPr>
          <p:nvPr/>
        </p:nvGrpSpPr>
        <p:grpSpPr bwMode="auto">
          <a:xfrm>
            <a:off x="465138" y="737675"/>
            <a:ext cx="3033713" cy="4448175"/>
            <a:chOff x="293" y="532"/>
            <a:chExt cx="1911" cy="2802"/>
          </a:xfrm>
        </p:grpSpPr>
        <p:graphicFrame>
          <p:nvGraphicFramePr>
            <p:cNvPr id="1382489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4233843"/>
                </p:ext>
              </p:extLst>
            </p:nvPr>
          </p:nvGraphicFramePr>
          <p:xfrm>
            <a:off x="1551" y="2716"/>
            <a:ext cx="653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52" name="公式" r:id="rId7" imgW="583920" imgH="215640" progId="Equation.3">
                    <p:embed/>
                  </p:oleObj>
                </mc:Choice>
                <mc:Fallback>
                  <p:oleObj name="公式" r:id="rId7" imgW="583920" imgH="2156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1" y="2716"/>
                          <a:ext cx="653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82490" name="Group 90"/>
            <p:cNvGrpSpPr>
              <a:grpSpLocks/>
            </p:cNvGrpSpPr>
            <p:nvPr/>
          </p:nvGrpSpPr>
          <p:grpSpPr bwMode="auto">
            <a:xfrm>
              <a:off x="293" y="532"/>
              <a:ext cx="1657" cy="2802"/>
              <a:chOff x="293" y="532"/>
              <a:chExt cx="1657" cy="2802"/>
            </a:xfrm>
          </p:grpSpPr>
          <p:sp>
            <p:nvSpPr>
              <p:cNvPr id="1382491" name="Rectangle 91"/>
              <p:cNvSpPr>
                <a:spLocks noChangeAspect="1" noChangeArrowheads="1"/>
              </p:cNvSpPr>
              <p:nvPr/>
            </p:nvSpPr>
            <p:spPr bwMode="auto">
              <a:xfrm>
                <a:off x="489" y="1377"/>
                <a:ext cx="974" cy="1103"/>
              </a:xfrm>
              <a:prstGeom prst="rect">
                <a:avLst/>
              </a:prstGeom>
              <a:solidFill>
                <a:schemeClr val="accent1"/>
              </a:solidFill>
              <a:ln w="28575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492" name="Line 92"/>
              <p:cNvSpPr>
                <a:spLocks noChangeAspect="1" noChangeShapeType="1"/>
              </p:cNvSpPr>
              <p:nvPr/>
            </p:nvSpPr>
            <p:spPr bwMode="auto">
              <a:xfrm>
                <a:off x="977" y="561"/>
                <a:ext cx="0" cy="368"/>
              </a:xfrm>
              <a:prstGeom prst="line">
                <a:avLst/>
              </a:prstGeom>
              <a:noFill/>
              <a:ln w="762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493" name="Freeform 93" descr="深色竖线"/>
              <p:cNvSpPr>
                <a:spLocks noChangeAspect="1"/>
              </p:cNvSpPr>
              <p:nvPr/>
            </p:nvSpPr>
            <p:spPr bwMode="auto">
              <a:xfrm>
                <a:off x="485" y="2726"/>
                <a:ext cx="979" cy="242"/>
              </a:xfrm>
              <a:custGeom>
                <a:avLst/>
                <a:gdLst>
                  <a:gd name="T0" fmla="*/ 1 w 1208"/>
                  <a:gd name="T1" fmla="*/ 298 h 298"/>
                  <a:gd name="T2" fmla="*/ 1207 w 1208"/>
                  <a:gd name="T3" fmla="*/ 298 h 298"/>
                  <a:gd name="T4" fmla="*/ 1208 w 1208"/>
                  <a:gd name="T5" fmla="*/ 0 h 298"/>
                  <a:gd name="T6" fmla="*/ 0 w 1208"/>
                  <a:gd name="T7" fmla="*/ 2 h 298"/>
                  <a:gd name="T8" fmla="*/ 1 w 1208"/>
                  <a:gd name="T9" fmla="*/ 29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8" h="298">
                    <a:moveTo>
                      <a:pt x="1" y="298"/>
                    </a:moveTo>
                    <a:lnTo>
                      <a:pt x="1207" y="298"/>
                    </a:lnTo>
                    <a:lnTo>
                      <a:pt x="1208" y="0"/>
                    </a:lnTo>
                    <a:lnTo>
                      <a:pt x="0" y="2"/>
                    </a:lnTo>
                    <a:lnTo>
                      <a:pt x="1" y="298"/>
                    </a:lnTo>
                    <a:close/>
                  </a:path>
                </a:pathLst>
              </a:custGeom>
              <a:pattFill prst="dkVert">
                <a:fgClr>
                  <a:srgbClr val="A50021"/>
                </a:fgClr>
                <a:bgClr>
                  <a:srgbClr val="FFFFFF"/>
                </a:bgClr>
              </a:pattFill>
              <a:ln w="6350" cap="flat" cmpd="sng">
                <a:solidFill>
                  <a:srgbClr val="A5002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494" name="Text Box 94"/>
              <p:cNvSpPr txBox="1">
                <a:spLocks noChangeAspect="1" noChangeArrowheads="1"/>
              </p:cNvSpPr>
              <p:nvPr/>
            </p:nvSpPr>
            <p:spPr bwMode="auto">
              <a:xfrm>
                <a:off x="886" y="1050"/>
                <a:ext cx="89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200" b="1" i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b</a:t>
                </a:r>
                <a:endPara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82495" name="Text Box 95"/>
              <p:cNvSpPr txBox="1">
                <a:spLocks noChangeAspect="1" noChangeArrowheads="1"/>
              </p:cNvSpPr>
              <p:nvPr/>
            </p:nvSpPr>
            <p:spPr bwMode="auto">
              <a:xfrm>
                <a:off x="1655" y="1816"/>
                <a:ext cx="8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200" b="1" i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l</a:t>
                </a:r>
                <a:endPara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82496" name="Freeform 96"/>
              <p:cNvSpPr>
                <a:spLocks noChangeAspect="1"/>
              </p:cNvSpPr>
              <p:nvPr/>
            </p:nvSpPr>
            <p:spPr bwMode="auto">
              <a:xfrm>
                <a:off x="315" y="1928"/>
                <a:ext cx="1249" cy="0"/>
              </a:xfrm>
              <a:custGeom>
                <a:avLst/>
                <a:gdLst>
                  <a:gd name="T0" fmla="*/ 1543 w 1543"/>
                  <a:gd name="T1" fmla="*/ 0 h 1"/>
                  <a:gd name="T2" fmla="*/ 0 w 1543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43" h="1">
                    <a:moveTo>
                      <a:pt x="1543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CCFF66"/>
              </a:solidFill>
              <a:ln w="19050" cmpd="sng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497" name="Freeform 97"/>
              <p:cNvSpPr>
                <a:spLocks noChangeAspect="1"/>
              </p:cNvSpPr>
              <p:nvPr/>
            </p:nvSpPr>
            <p:spPr bwMode="auto">
              <a:xfrm>
                <a:off x="969" y="1313"/>
                <a:ext cx="3" cy="1345"/>
              </a:xfrm>
              <a:custGeom>
                <a:avLst/>
                <a:gdLst>
                  <a:gd name="T0" fmla="*/ 0 w 3"/>
                  <a:gd name="T1" fmla="*/ 0 h 1660"/>
                  <a:gd name="T2" fmla="*/ 3 w 3"/>
                  <a:gd name="T3" fmla="*/ 166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1660">
                    <a:moveTo>
                      <a:pt x="0" y="0"/>
                    </a:moveTo>
                    <a:lnTo>
                      <a:pt x="3" y="1660"/>
                    </a:lnTo>
                  </a:path>
                </a:pathLst>
              </a:custGeom>
              <a:solidFill>
                <a:srgbClr val="CCFF66"/>
              </a:solidFill>
              <a:ln w="19050" cmpd="sng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498" name="Text Box 98"/>
              <p:cNvSpPr txBox="1">
                <a:spLocks noChangeAspect="1" noChangeArrowheads="1"/>
              </p:cNvSpPr>
              <p:nvPr/>
            </p:nvSpPr>
            <p:spPr bwMode="auto">
              <a:xfrm>
                <a:off x="304" y="1890"/>
                <a:ext cx="89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66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2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x</a:t>
                </a:r>
              </a:p>
            </p:txBody>
          </p:sp>
          <p:sp>
            <p:nvSpPr>
              <p:cNvPr id="1382499" name="Text Box 99"/>
              <p:cNvSpPr txBox="1">
                <a:spLocks noChangeAspect="1" noChangeArrowheads="1"/>
              </p:cNvSpPr>
              <p:nvPr/>
            </p:nvSpPr>
            <p:spPr bwMode="auto">
              <a:xfrm>
                <a:off x="1006" y="2480"/>
                <a:ext cx="89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66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2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y</a:t>
                </a:r>
              </a:p>
            </p:txBody>
          </p:sp>
          <p:sp>
            <p:nvSpPr>
              <p:cNvPr id="1382500" name="Line 100"/>
              <p:cNvSpPr>
                <a:spLocks noChangeAspect="1" noChangeShapeType="1"/>
              </p:cNvSpPr>
              <p:nvPr/>
            </p:nvSpPr>
            <p:spPr bwMode="auto">
              <a:xfrm>
                <a:off x="485" y="1066"/>
                <a:ext cx="0" cy="29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1" name="Line 101"/>
              <p:cNvSpPr>
                <a:spLocks noChangeAspect="1" noChangeShapeType="1"/>
              </p:cNvSpPr>
              <p:nvPr/>
            </p:nvSpPr>
            <p:spPr bwMode="auto">
              <a:xfrm>
                <a:off x="1459" y="1066"/>
                <a:ext cx="0" cy="29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2" name="Freeform 102"/>
              <p:cNvSpPr>
                <a:spLocks noChangeAspect="1"/>
              </p:cNvSpPr>
              <p:nvPr/>
            </p:nvSpPr>
            <p:spPr bwMode="auto">
              <a:xfrm>
                <a:off x="480" y="1235"/>
                <a:ext cx="989" cy="1"/>
              </a:xfrm>
              <a:custGeom>
                <a:avLst/>
                <a:gdLst>
                  <a:gd name="T0" fmla="*/ 0 w 1221"/>
                  <a:gd name="T1" fmla="*/ 0 h 1"/>
                  <a:gd name="T2" fmla="*/ 1221 w 122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21" h="1">
                    <a:moveTo>
                      <a:pt x="0" y="0"/>
                    </a:moveTo>
                    <a:lnTo>
                      <a:pt x="1221" y="0"/>
                    </a:lnTo>
                  </a:path>
                </a:pathLst>
              </a:custGeom>
              <a:solidFill>
                <a:srgbClr val="CCFF66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3" name="Line 103"/>
              <p:cNvSpPr>
                <a:spLocks noChangeAspect="1" noChangeShapeType="1"/>
              </p:cNvSpPr>
              <p:nvPr/>
            </p:nvSpPr>
            <p:spPr bwMode="auto">
              <a:xfrm>
                <a:off x="1637" y="1377"/>
                <a:ext cx="0" cy="110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4" name="Line 104"/>
              <p:cNvSpPr>
                <a:spLocks noChangeAspect="1" noChangeShapeType="1"/>
              </p:cNvSpPr>
              <p:nvPr/>
            </p:nvSpPr>
            <p:spPr bwMode="auto">
              <a:xfrm>
                <a:off x="1477" y="1377"/>
                <a:ext cx="221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5" name="Line 105"/>
              <p:cNvSpPr>
                <a:spLocks noChangeAspect="1" noChangeShapeType="1"/>
              </p:cNvSpPr>
              <p:nvPr/>
            </p:nvSpPr>
            <p:spPr bwMode="auto">
              <a:xfrm>
                <a:off x="1483" y="2480"/>
                <a:ext cx="2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6" name="Rectangle 106"/>
              <p:cNvSpPr>
                <a:spLocks noChangeAspect="1" noChangeArrowheads="1"/>
              </p:cNvSpPr>
              <p:nvPr/>
            </p:nvSpPr>
            <p:spPr bwMode="auto">
              <a:xfrm>
                <a:off x="485" y="929"/>
                <a:ext cx="974" cy="117"/>
              </a:xfrm>
              <a:prstGeom prst="rect">
                <a:avLst/>
              </a:prstGeom>
              <a:solidFill>
                <a:schemeClr val="accent1"/>
              </a:solidFill>
              <a:ln w="25400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7" name="Line 107"/>
              <p:cNvSpPr>
                <a:spLocks noChangeAspect="1" noChangeShapeType="1"/>
              </p:cNvSpPr>
              <p:nvPr/>
            </p:nvSpPr>
            <p:spPr bwMode="auto">
              <a:xfrm>
                <a:off x="979" y="532"/>
                <a:ext cx="0" cy="7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1382508" name="Text Box 108"/>
              <p:cNvSpPr txBox="1">
                <a:spLocks noChangeAspect="1" noChangeArrowheads="1"/>
              </p:cNvSpPr>
              <p:nvPr/>
            </p:nvSpPr>
            <p:spPr bwMode="auto">
              <a:xfrm>
                <a:off x="750" y="585"/>
                <a:ext cx="127" cy="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2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1382509" name="Text Box 109"/>
              <p:cNvSpPr txBox="1">
                <a:spLocks noChangeArrowheads="1"/>
              </p:cNvSpPr>
              <p:nvPr/>
            </p:nvSpPr>
            <p:spPr bwMode="auto">
              <a:xfrm>
                <a:off x="293" y="3104"/>
                <a:ext cx="1657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411163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82232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235075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646238" defTabSz="822325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1034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5606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0178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475038" defTabSz="822325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矩形面积中心荷载</a:t>
                </a:r>
              </a:p>
            </p:txBody>
          </p:sp>
          <p:sp>
            <p:nvSpPr>
              <p:cNvPr id="1382510" name="Oval 110"/>
              <p:cNvSpPr>
                <a:spLocks noChangeAspect="1" noChangeArrowheads="1"/>
              </p:cNvSpPr>
              <p:nvPr/>
            </p:nvSpPr>
            <p:spPr bwMode="auto">
              <a:xfrm>
                <a:off x="934" y="1889"/>
                <a:ext cx="73" cy="74"/>
              </a:xfrm>
              <a:prstGeom prst="ellipse">
                <a:avLst/>
              </a:prstGeom>
              <a:solidFill>
                <a:srgbClr val="A50021"/>
              </a:solidFill>
              <a:ln w="12700" algn="ctr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82511" name="Group 111"/>
          <p:cNvGrpSpPr>
            <a:grpSpLocks/>
          </p:cNvGrpSpPr>
          <p:nvPr/>
        </p:nvGrpSpPr>
        <p:grpSpPr bwMode="auto">
          <a:xfrm>
            <a:off x="6248400" y="3369750"/>
            <a:ext cx="2555875" cy="1914525"/>
            <a:chOff x="3936" y="2190"/>
            <a:chExt cx="1610" cy="1206"/>
          </a:xfrm>
        </p:grpSpPr>
        <p:graphicFrame>
          <p:nvGraphicFramePr>
            <p:cNvPr id="1382512" name="Object 1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8764039"/>
                </p:ext>
              </p:extLst>
            </p:nvPr>
          </p:nvGraphicFramePr>
          <p:xfrm>
            <a:off x="4020" y="2857"/>
            <a:ext cx="1494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53" name="公式" r:id="rId9" imgW="1155600" imgH="419040" progId="Equation.3">
                    <p:embed/>
                  </p:oleObj>
                </mc:Choice>
                <mc:Fallback>
                  <p:oleObj name="公式" r:id="rId9" imgW="1155600" imgH="41904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0" y="2857"/>
                          <a:ext cx="1494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513" name="Text Box 113"/>
            <p:cNvSpPr txBox="1">
              <a:spLocks noChangeArrowheads="1"/>
            </p:cNvSpPr>
            <p:nvPr/>
          </p:nvSpPr>
          <p:spPr bwMode="auto">
            <a:xfrm>
              <a:off x="3936" y="2585"/>
              <a:ext cx="16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单项偏心，偏心距</a:t>
              </a: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</a:rPr>
                <a:t>e</a:t>
              </a:r>
            </a:p>
          </p:txBody>
        </p:sp>
        <p:sp>
          <p:nvSpPr>
            <p:cNvPr id="1382514" name="AutoShape 114"/>
            <p:cNvSpPr>
              <a:spLocks noChangeArrowheads="1"/>
            </p:cNvSpPr>
            <p:nvPr/>
          </p:nvSpPr>
          <p:spPr bwMode="auto">
            <a:xfrm rot="5400000">
              <a:off x="4615" y="2185"/>
              <a:ext cx="297" cy="307"/>
            </a:xfrm>
            <a:prstGeom prst="homePlate">
              <a:avLst>
                <a:gd name="adj" fmla="val 3131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687682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38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38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8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490" name="Rectangle 66"/>
          <p:cNvSpPr>
            <a:spLocks noChangeArrowheads="1"/>
          </p:cNvSpPr>
          <p:nvPr/>
        </p:nvSpPr>
        <p:spPr bwMode="auto">
          <a:xfrm>
            <a:off x="0" y="729294"/>
            <a:ext cx="9144000" cy="47212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200" dirty="0"/>
          </a:p>
        </p:txBody>
      </p:sp>
      <p:graphicFrame>
        <p:nvGraphicFramePr>
          <p:cNvPr id="1383491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716677"/>
              </p:ext>
            </p:extLst>
          </p:nvPr>
        </p:nvGraphicFramePr>
        <p:xfrm>
          <a:off x="6931025" y="810257"/>
          <a:ext cx="19812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98" name="公式" r:id="rId3" imgW="1168200" imgH="431640" progId="Equation.3">
                  <p:embed/>
                </p:oleObj>
              </mc:Choice>
              <mc:Fallback>
                <p:oleObj name="公式" r:id="rId3" imgW="1168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025" y="810257"/>
                        <a:ext cx="19812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3492" name="Group 68"/>
          <p:cNvGrpSpPr>
            <a:grpSpLocks/>
          </p:cNvGrpSpPr>
          <p:nvPr/>
        </p:nvGrpSpPr>
        <p:grpSpPr bwMode="auto">
          <a:xfrm>
            <a:off x="138113" y="849944"/>
            <a:ext cx="2222513" cy="4541838"/>
            <a:chOff x="87" y="568"/>
            <a:chExt cx="1400" cy="2861"/>
          </a:xfrm>
        </p:grpSpPr>
        <p:sp>
          <p:nvSpPr>
            <p:cNvPr id="1383493" name="Rectangle 69"/>
            <p:cNvSpPr>
              <a:spLocks noChangeAspect="1" noChangeArrowheads="1"/>
            </p:cNvSpPr>
            <p:nvPr/>
          </p:nvSpPr>
          <p:spPr bwMode="auto">
            <a:xfrm>
              <a:off x="228" y="1268"/>
              <a:ext cx="839" cy="950"/>
            </a:xfrm>
            <a:prstGeom prst="rect">
              <a:avLst/>
            </a:prstGeom>
            <a:solidFill>
              <a:schemeClr val="accent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494" name="Text Box 70" descr="窄横线"/>
            <p:cNvSpPr txBox="1">
              <a:spLocks noChangeArrowheads="1"/>
            </p:cNvSpPr>
            <p:nvPr/>
          </p:nvSpPr>
          <p:spPr bwMode="auto">
            <a:xfrm>
              <a:off x="105" y="3185"/>
              <a:ext cx="112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Horz">
                    <a:fgClr>
                      <a:srgbClr val="FF00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287" tIns="41143" rIns="82287" bIns="41143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/6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: </a:t>
              </a: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梯形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83495" name="Oval 71"/>
            <p:cNvSpPr>
              <a:spLocks noChangeAspect="1" noChangeArrowheads="1"/>
            </p:cNvSpPr>
            <p:nvPr/>
          </p:nvSpPr>
          <p:spPr bwMode="auto">
            <a:xfrm>
              <a:off x="512" y="1702"/>
              <a:ext cx="63" cy="63"/>
            </a:xfrm>
            <a:prstGeom prst="ellipse">
              <a:avLst/>
            </a:prstGeom>
            <a:solidFill>
              <a:srgbClr val="A50021"/>
            </a:solidFill>
            <a:ln w="1270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496" name="Freeform 72"/>
            <p:cNvSpPr>
              <a:spLocks noChangeAspect="1"/>
            </p:cNvSpPr>
            <p:nvPr/>
          </p:nvSpPr>
          <p:spPr bwMode="auto">
            <a:xfrm>
              <a:off x="92" y="1742"/>
              <a:ext cx="1062" cy="1"/>
            </a:xfrm>
            <a:custGeom>
              <a:avLst/>
              <a:gdLst>
                <a:gd name="T0" fmla="*/ 1522 w 1522"/>
                <a:gd name="T1" fmla="*/ 0 h 1"/>
                <a:gd name="T2" fmla="*/ 0 w 152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2" h="1">
                  <a:moveTo>
                    <a:pt x="1522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497" name="Freeform 73"/>
            <p:cNvSpPr>
              <a:spLocks noChangeAspect="1"/>
            </p:cNvSpPr>
            <p:nvPr/>
          </p:nvSpPr>
          <p:spPr bwMode="auto">
            <a:xfrm>
              <a:off x="641" y="1212"/>
              <a:ext cx="1" cy="1102"/>
            </a:xfrm>
            <a:custGeom>
              <a:avLst/>
              <a:gdLst>
                <a:gd name="T0" fmla="*/ 0 w 1"/>
                <a:gd name="T1" fmla="*/ 0 h 1579"/>
                <a:gd name="T2" fmla="*/ 0 w 1"/>
                <a:gd name="T3" fmla="*/ 1579 h 1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79">
                  <a:moveTo>
                    <a:pt x="0" y="0"/>
                  </a:moveTo>
                  <a:lnTo>
                    <a:pt x="0" y="1579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498" name="Text Box 74"/>
            <p:cNvSpPr txBox="1">
              <a:spLocks noChangeAspect="1" noChangeArrowheads="1"/>
            </p:cNvSpPr>
            <p:nvPr/>
          </p:nvSpPr>
          <p:spPr bwMode="auto">
            <a:xfrm>
              <a:off x="87" y="1709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3499" name="Text Box 75"/>
            <p:cNvSpPr txBox="1">
              <a:spLocks noChangeAspect="1" noChangeArrowheads="1"/>
            </p:cNvSpPr>
            <p:nvPr/>
          </p:nvSpPr>
          <p:spPr bwMode="auto">
            <a:xfrm>
              <a:off x="672" y="2186"/>
              <a:ext cx="7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</a:p>
          </p:txBody>
        </p:sp>
        <p:sp>
          <p:nvSpPr>
            <p:cNvPr id="1383500" name="Line 76"/>
            <p:cNvSpPr>
              <a:spLocks noChangeAspect="1" noChangeShapeType="1"/>
            </p:cNvSpPr>
            <p:nvPr/>
          </p:nvSpPr>
          <p:spPr bwMode="auto">
            <a:xfrm>
              <a:off x="225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1" name="Line 77"/>
            <p:cNvSpPr>
              <a:spLocks noChangeAspect="1" noChangeShapeType="1"/>
            </p:cNvSpPr>
            <p:nvPr/>
          </p:nvSpPr>
          <p:spPr bwMode="auto">
            <a:xfrm>
              <a:off x="1063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2" name="Freeform 78"/>
            <p:cNvSpPr>
              <a:spLocks noChangeAspect="1"/>
            </p:cNvSpPr>
            <p:nvPr/>
          </p:nvSpPr>
          <p:spPr bwMode="auto">
            <a:xfrm>
              <a:off x="220" y="1152"/>
              <a:ext cx="852" cy="1"/>
            </a:xfrm>
            <a:custGeom>
              <a:avLst/>
              <a:gdLst>
                <a:gd name="T0" fmla="*/ 0 w 1221"/>
                <a:gd name="T1" fmla="*/ 0 h 1"/>
                <a:gd name="T2" fmla="*/ 1221 w 122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21" h="1">
                  <a:moveTo>
                    <a:pt x="0" y="0"/>
                  </a:moveTo>
                  <a:lnTo>
                    <a:pt x="122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3" name="Line 79"/>
            <p:cNvSpPr>
              <a:spLocks noChangeAspect="1" noChangeShapeType="1"/>
            </p:cNvSpPr>
            <p:nvPr/>
          </p:nvSpPr>
          <p:spPr bwMode="auto">
            <a:xfrm>
              <a:off x="1176" y="1268"/>
              <a:ext cx="0" cy="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4" name="Text Box 80"/>
            <p:cNvSpPr txBox="1">
              <a:spLocks noChangeAspect="1" noChangeArrowheads="1"/>
            </p:cNvSpPr>
            <p:nvPr/>
          </p:nvSpPr>
          <p:spPr bwMode="auto">
            <a:xfrm>
              <a:off x="550" y="974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1383505" name="Text Box 81"/>
            <p:cNvSpPr txBox="1">
              <a:spLocks noChangeAspect="1" noChangeArrowheads="1"/>
            </p:cNvSpPr>
            <p:nvPr/>
          </p:nvSpPr>
          <p:spPr bwMode="auto">
            <a:xfrm>
              <a:off x="1217" y="1645"/>
              <a:ext cx="4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l</a:t>
              </a:r>
              <a:endPara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3506" name="Line 82"/>
            <p:cNvSpPr>
              <a:spLocks noChangeAspect="1" noChangeShapeType="1"/>
            </p:cNvSpPr>
            <p:nvPr/>
          </p:nvSpPr>
          <p:spPr bwMode="auto">
            <a:xfrm>
              <a:off x="1083" y="1268"/>
              <a:ext cx="1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7" name="Line 83"/>
            <p:cNvSpPr>
              <a:spLocks noChangeAspect="1" noChangeShapeType="1"/>
            </p:cNvSpPr>
            <p:nvPr/>
          </p:nvSpPr>
          <p:spPr bwMode="auto">
            <a:xfrm>
              <a:off x="1086" y="2218"/>
              <a:ext cx="18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8" name="Line 84"/>
            <p:cNvSpPr>
              <a:spLocks noChangeAspect="1" noChangeShapeType="1"/>
            </p:cNvSpPr>
            <p:nvPr/>
          </p:nvSpPr>
          <p:spPr bwMode="auto">
            <a:xfrm>
              <a:off x="543" y="568"/>
              <a:ext cx="0" cy="316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09" name="Rectangle 85"/>
            <p:cNvSpPr>
              <a:spLocks noChangeAspect="1" noChangeArrowheads="1"/>
            </p:cNvSpPr>
            <p:nvPr/>
          </p:nvSpPr>
          <p:spPr bwMode="auto">
            <a:xfrm>
              <a:off x="220" y="885"/>
              <a:ext cx="839" cy="99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0" name="Line 86"/>
            <p:cNvSpPr>
              <a:spLocks noChangeAspect="1" noChangeShapeType="1"/>
            </p:cNvSpPr>
            <p:nvPr/>
          </p:nvSpPr>
          <p:spPr bwMode="auto">
            <a:xfrm>
              <a:off x="640" y="573"/>
              <a:ext cx="0" cy="6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1" name="Line 87"/>
            <p:cNvSpPr>
              <a:spLocks noChangeAspect="1" noChangeShapeType="1"/>
            </p:cNvSpPr>
            <p:nvPr/>
          </p:nvSpPr>
          <p:spPr bwMode="auto">
            <a:xfrm>
              <a:off x="361" y="1617"/>
              <a:ext cx="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2" name="Freeform 88"/>
            <p:cNvSpPr>
              <a:spLocks noChangeAspect="1"/>
            </p:cNvSpPr>
            <p:nvPr/>
          </p:nvSpPr>
          <p:spPr bwMode="auto">
            <a:xfrm>
              <a:off x="542" y="1436"/>
              <a:ext cx="1" cy="308"/>
            </a:xfrm>
            <a:custGeom>
              <a:avLst/>
              <a:gdLst>
                <a:gd name="T0" fmla="*/ 0 w 1"/>
                <a:gd name="T1" fmla="*/ 0 h 441"/>
                <a:gd name="T2" fmla="*/ 0 w 1"/>
                <a:gd name="T3" fmla="*/ 441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41">
                  <a:moveTo>
                    <a:pt x="0" y="0"/>
                  </a:moveTo>
                  <a:lnTo>
                    <a:pt x="0" y="44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3" name="Text Box 89"/>
            <p:cNvSpPr txBox="1">
              <a:spLocks noChangeAspect="1" noChangeArrowheads="1"/>
            </p:cNvSpPr>
            <p:nvPr/>
          </p:nvSpPr>
          <p:spPr bwMode="auto">
            <a:xfrm>
              <a:off x="373" y="1408"/>
              <a:ext cx="131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lang="en-US" altLang="zh-CN" sz="22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3514" name="Line 90"/>
            <p:cNvSpPr>
              <a:spLocks noChangeAspect="1" noChangeShapeType="1"/>
            </p:cNvSpPr>
            <p:nvPr/>
          </p:nvSpPr>
          <p:spPr bwMode="auto">
            <a:xfrm>
              <a:off x="639" y="1617"/>
              <a:ext cx="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5" name="Freeform 91" descr="深色竖线"/>
            <p:cNvSpPr>
              <a:spLocks noChangeAspect="1"/>
            </p:cNvSpPr>
            <p:nvPr/>
          </p:nvSpPr>
          <p:spPr bwMode="auto">
            <a:xfrm>
              <a:off x="226" y="2523"/>
              <a:ext cx="843" cy="290"/>
            </a:xfrm>
            <a:custGeom>
              <a:avLst/>
              <a:gdLst>
                <a:gd name="T0" fmla="*/ 2 w 1041"/>
                <a:gd name="T1" fmla="*/ 359 h 359"/>
                <a:gd name="T2" fmla="*/ 1041 w 1041"/>
                <a:gd name="T3" fmla="*/ 122 h 359"/>
                <a:gd name="T4" fmla="*/ 1041 w 1041"/>
                <a:gd name="T5" fmla="*/ 0 h 359"/>
                <a:gd name="T6" fmla="*/ 0 w 1041"/>
                <a:gd name="T7" fmla="*/ 2 h 359"/>
                <a:gd name="T8" fmla="*/ 2 w 1041"/>
                <a:gd name="T9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1" h="359">
                  <a:moveTo>
                    <a:pt x="2" y="359"/>
                  </a:moveTo>
                  <a:lnTo>
                    <a:pt x="1041" y="122"/>
                  </a:lnTo>
                  <a:lnTo>
                    <a:pt x="1041" y="0"/>
                  </a:lnTo>
                  <a:lnTo>
                    <a:pt x="0" y="2"/>
                  </a:lnTo>
                  <a:lnTo>
                    <a:pt x="2" y="359"/>
                  </a:lnTo>
                  <a:close/>
                </a:path>
              </a:pathLst>
            </a:custGeom>
            <a:pattFill prst="dkVert">
              <a:fgClr>
                <a:srgbClr val="A50021"/>
              </a:fgClr>
              <a:bgClr>
                <a:srgbClr val="FFFFFF"/>
              </a:bgClr>
            </a:pattFill>
            <a:ln w="6350" cap="flat" cmpd="sng">
              <a:solidFill>
                <a:srgbClr val="A5002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16" name="Text Box 92"/>
            <p:cNvSpPr txBox="1">
              <a:spLocks noChangeAspect="1" noChangeArrowheads="1"/>
            </p:cNvSpPr>
            <p:nvPr/>
          </p:nvSpPr>
          <p:spPr bwMode="auto">
            <a:xfrm>
              <a:off x="359" y="599"/>
              <a:ext cx="10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graphicFrame>
          <p:nvGraphicFramePr>
            <p:cNvPr id="1383517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137932"/>
                </p:ext>
              </p:extLst>
            </p:nvPr>
          </p:nvGraphicFramePr>
          <p:xfrm>
            <a:off x="97" y="2763"/>
            <a:ext cx="31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499" name="公式" r:id="rId5" imgW="317160" imgH="228600" progId="Equation.3">
                    <p:embed/>
                  </p:oleObj>
                </mc:Choice>
                <mc:Fallback>
                  <p:oleObj name="公式" r:id="rId5" imgW="317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" y="2763"/>
                          <a:ext cx="31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3518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5607937"/>
                </p:ext>
              </p:extLst>
            </p:nvPr>
          </p:nvGraphicFramePr>
          <p:xfrm>
            <a:off x="932" y="2598"/>
            <a:ext cx="55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00" name="公式" r:id="rId7" imgW="545760" imgH="228600" progId="Equation.3">
                    <p:embed/>
                  </p:oleObj>
                </mc:Choice>
                <mc:Fallback>
                  <p:oleObj name="公式" r:id="rId7" imgW="545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2598"/>
                          <a:ext cx="55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3519" name="Group 95"/>
          <p:cNvGrpSpPr>
            <a:grpSpLocks/>
          </p:cNvGrpSpPr>
          <p:nvPr/>
        </p:nvGrpSpPr>
        <p:grpSpPr bwMode="auto">
          <a:xfrm>
            <a:off x="2316172" y="849944"/>
            <a:ext cx="2386026" cy="4516438"/>
            <a:chOff x="1459" y="568"/>
            <a:chExt cx="1503" cy="2845"/>
          </a:xfrm>
        </p:grpSpPr>
        <p:sp>
          <p:nvSpPr>
            <p:cNvPr id="1383520" name="Rectangle 96"/>
            <p:cNvSpPr>
              <a:spLocks noChangeAspect="1" noChangeArrowheads="1"/>
            </p:cNvSpPr>
            <p:nvPr/>
          </p:nvSpPr>
          <p:spPr bwMode="auto">
            <a:xfrm>
              <a:off x="1682" y="1268"/>
              <a:ext cx="839" cy="950"/>
            </a:xfrm>
            <a:prstGeom prst="rect">
              <a:avLst/>
            </a:prstGeom>
            <a:solidFill>
              <a:schemeClr val="accent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1" name="Text Box 97" descr="窄横线"/>
            <p:cNvSpPr txBox="1">
              <a:spLocks noChangeArrowheads="1"/>
            </p:cNvSpPr>
            <p:nvPr/>
          </p:nvSpPr>
          <p:spPr bwMode="auto">
            <a:xfrm>
              <a:off x="1564" y="3169"/>
              <a:ext cx="1261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Horz">
                    <a:fgClr>
                      <a:srgbClr val="FF00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2287" tIns="41143" rIns="82287" bIns="41143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/6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: </a:t>
              </a: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三角形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83522" name="Freeform 98" descr="深色竖线"/>
            <p:cNvSpPr>
              <a:spLocks noChangeAspect="1"/>
            </p:cNvSpPr>
            <p:nvPr/>
          </p:nvSpPr>
          <p:spPr bwMode="auto">
            <a:xfrm>
              <a:off x="1680" y="2507"/>
              <a:ext cx="845" cy="344"/>
            </a:xfrm>
            <a:custGeom>
              <a:avLst/>
              <a:gdLst>
                <a:gd name="T0" fmla="*/ 1 w 1211"/>
                <a:gd name="T1" fmla="*/ 492 h 492"/>
                <a:gd name="T2" fmla="*/ 1211 w 1211"/>
                <a:gd name="T3" fmla="*/ 2 h 492"/>
                <a:gd name="T4" fmla="*/ 1208 w 1211"/>
                <a:gd name="T5" fmla="*/ 0 h 492"/>
                <a:gd name="T6" fmla="*/ 0 w 1211"/>
                <a:gd name="T7" fmla="*/ 2 h 492"/>
                <a:gd name="T8" fmla="*/ 1 w 1211"/>
                <a:gd name="T9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1" h="492">
                  <a:moveTo>
                    <a:pt x="1" y="492"/>
                  </a:moveTo>
                  <a:lnTo>
                    <a:pt x="1211" y="2"/>
                  </a:lnTo>
                  <a:lnTo>
                    <a:pt x="1208" y="0"/>
                  </a:lnTo>
                  <a:lnTo>
                    <a:pt x="0" y="2"/>
                  </a:lnTo>
                  <a:lnTo>
                    <a:pt x="1" y="492"/>
                  </a:lnTo>
                  <a:close/>
                </a:path>
              </a:pathLst>
            </a:custGeom>
            <a:pattFill prst="dkVert">
              <a:fgClr>
                <a:srgbClr val="A50021"/>
              </a:fgClr>
              <a:bgClr>
                <a:schemeClr val="bg1"/>
              </a:bgClr>
            </a:pattFill>
            <a:ln w="6350" cap="flat" cmpd="sng">
              <a:solidFill>
                <a:srgbClr val="A5002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3" name="Line 99"/>
            <p:cNvSpPr>
              <a:spLocks noChangeAspect="1" noChangeShapeType="1"/>
            </p:cNvSpPr>
            <p:nvPr/>
          </p:nvSpPr>
          <p:spPr bwMode="auto">
            <a:xfrm>
              <a:off x="1758" y="1617"/>
              <a:ext cx="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4" name="Freeform 100"/>
            <p:cNvSpPr>
              <a:spLocks noChangeAspect="1"/>
            </p:cNvSpPr>
            <p:nvPr/>
          </p:nvSpPr>
          <p:spPr bwMode="auto">
            <a:xfrm>
              <a:off x="1948" y="1418"/>
              <a:ext cx="1" cy="308"/>
            </a:xfrm>
            <a:custGeom>
              <a:avLst/>
              <a:gdLst>
                <a:gd name="T0" fmla="*/ 0 w 1"/>
                <a:gd name="T1" fmla="*/ 0 h 441"/>
                <a:gd name="T2" fmla="*/ 0 w 1"/>
                <a:gd name="T3" fmla="*/ 441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41">
                  <a:moveTo>
                    <a:pt x="0" y="0"/>
                  </a:moveTo>
                  <a:lnTo>
                    <a:pt x="0" y="44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5" name="Text Box 101"/>
            <p:cNvSpPr txBox="1">
              <a:spLocks noChangeAspect="1" noChangeArrowheads="1"/>
            </p:cNvSpPr>
            <p:nvPr/>
          </p:nvSpPr>
          <p:spPr bwMode="auto">
            <a:xfrm>
              <a:off x="1791" y="1402"/>
              <a:ext cx="13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lang="en-US" altLang="zh-CN" sz="22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3526" name="Oval 102"/>
            <p:cNvSpPr>
              <a:spLocks noChangeAspect="1" noChangeArrowheads="1"/>
            </p:cNvSpPr>
            <p:nvPr/>
          </p:nvSpPr>
          <p:spPr bwMode="auto">
            <a:xfrm>
              <a:off x="1915" y="1702"/>
              <a:ext cx="63" cy="63"/>
            </a:xfrm>
            <a:prstGeom prst="ellipse">
              <a:avLst/>
            </a:prstGeom>
            <a:solidFill>
              <a:srgbClr val="A50021"/>
            </a:solidFill>
            <a:ln w="1270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7" name="Freeform 103"/>
            <p:cNvSpPr>
              <a:spLocks noChangeAspect="1"/>
            </p:cNvSpPr>
            <p:nvPr/>
          </p:nvSpPr>
          <p:spPr bwMode="auto">
            <a:xfrm>
              <a:off x="1547" y="1742"/>
              <a:ext cx="1062" cy="1"/>
            </a:xfrm>
            <a:custGeom>
              <a:avLst/>
              <a:gdLst>
                <a:gd name="T0" fmla="*/ 1522 w 1522"/>
                <a:gd name="T1" fmla="*/ 0 h 1"/>
                <a:gd name="T2" fmla="*/ 0 w 152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2" h="1">
                  <a:moveTo>
                    <a:pt x="1522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8" name="Freeform 104"/>
            <p:cNvSpPr>
              <a:spLocks noChangeAspect="1"/>
            </p:cNvSpPr>
            <p:nvPr/>
          </p:nvSpPr>
          <p:spPr bwMode="auto">
            <a:xfrm>
              <a:off x="2096" y="1212"/>
              <a:ext cx="1" cy="1102"/>
            </a:xfrm>
            <a:custGeom>
              <a:avLst/>
              <a:gdLst>
                <a:gd name="T0" fmla="*/ 0 w 1"/>
                <a:gd name="T1" fmla="*/ 0 h 1579"/>
                <a:gd name="T2" fmla="*/ 0 w 1"/>
                <a:gd name="T3" fmla="*/ 1579 h 1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79">
                  <a:moveTo>
                    <a:pt x="0" y="0"/>
                  </a:moveTo>
                  <a:lnTo>
                    <a:pt x="0" y="1579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29" name="Text Box 105"/>
            <p:cNvSpPr txBox="1">
              <a:spLocks noChangeAspect="1" noChangeArrowheads="1"/>
            </p:cNvSpPr>
            <p:nvPr/>
          </p:nvSpPr>
          <p:spPr bwMode="auto">
            <a:xfrm>
              <a:off x="1542" y="1709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3530" name="Text Box 106"/>
            <p:cNvSpPr txBox="1">
              <a:spLocks noChangeAspect="1" noChangeArrowheads="1"/>
            </p:cNvSpPr>
            <p:nvPr/>
          </p:nvSpPr>
          <p:spPr bwMode="auto">
            <a:xfrm>
              <a:off x="2127" y="2186"/>
              <a:ext cx="7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</a:p>
          </p:txBody>
        </p:sp>
        <p:sp>
          <p:nvSpPr>
            <p:cNvPr id="1383531" name="Line 107"/>
            <p:cNvSpPr>
              <a:spLocks noChangeAspect="1" noChangeShapeType="1"/>
            </p:cNvSpPr>
            <p:nvPr/>
          </p:nvSpPr>
          <p:spPr bwMode="auto">
            <a:xfrm>
              <a:off x="1680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2" name="Line 108"/>
            <p:cNvSpPr>
              <a:spLocks noChangeAspect="1" noChangeShapeType="1"/>
            </p:cNvSpPr>
            <p:nvPr/>
          </p:nvSpPr>
          <p:spPr bwMode="auto">
            <a:xfrm>
              <a:off x="2518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3" name="Freeform 109"/>
            <p:cNvSpPr>
              <a:spLocks noChangeAspect="1"/>
            </p:cNvSpPr>
            <p:nvPr/>
          </p:nvSpPr>
          <p:spPr bwMode="auto">
            <a:xfrm>
              <a:off x="1675" y="1152"/>
              <a:ext cx="852" cy="1"/>
            </a:xfrm>
            <a:custGeom>
              <a:avLst/>
              <a:gdLst>
                <a:gd name="T0" fmla="*/ 0 w 1221"/>
                <a:gd name="T1" fmla="*/ 0 h 1"/>
                <a:gd name="T2" fmla="*/ 1221 w 122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21" h="1">
                  <a:moveTo>
                    <a:pt x="0" y="0"/>
                  </a:moveTo>
                  <a:lnTo>
                    <a:pt x="122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4" name="Line 110"/>
            <p:cNvSpPr>
              <a:spLocks noChangeAspect="1" noChangeShapeType="1"/>
            </p:cNvSpPr>
            <p:nvPr/>
          </p:nvSpPr>
          <p:spPr bwMode="auto">
            <a:xfrm>
              <a:off x="2631" y="1268"/>
              <a:ext cx="0" cy="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5" name="Text Box 111"/>
            <p:cNvSpPr txBox="1">
              <a:spLocks noChangeAspect="1" noChangeArrowheads="1"/>
            </p:cNvSpPr>
            <p:nvPr/>
          </p:nvSpPr>
          <p:spPr bwMode="auto">
            <a:xfrm>
              <a:off x="2001" y="970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1383536" name="Text Box 112"/>
            <p:cNvSpPr txBox="1">
              <a:spLocks noChangeAspect="1" noChangeArrowheads="1"/>
            </p:cNvSpPr>
            <p:nvPr/>
          </p:nvSpPr>
          <p:spPr bwMode="auto">
            <a:xfrm>
              <a:off x="2673" y="1645"/>
              <a:ext cx="4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l</a:t>
              </a:r>
            </a:p>
          </p:txBody>
        </p:sp>
        <p:sp>
          <p:nvSpPr>
            <p:cNvPr id="1383537" name="Line 113"/>
            <p:cNvSpPr>
              <a:spLocks noChangeAspect="1" noChangeShapeType="1"/>
            </p:cNvSpPr>
            <p:nvPr/>
          </p:nvSpPr>
          <p:spPr bwMode="auto">
            <a:xfrm>
              <a:off x="2538" y="1268"/>
              <a:ext cx="1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8" name="Line 114"/>
            <p:cNvSpPr>
              <a:spLocks noChangeAspect="1" noChangeShapeType="1"/>
            </p:cNvSpPr>
            <p:nvPr/>
          </p:nvSpPr>
          <p:spPr bwMode="auto">
            <a:xfrm>
              <a:off x="2541" y="2218"/>
              <a:ext cx="18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39" name="Line 115"/>
            <p:cNvSpPr>
              <a:spLocks noChangeAspect="1" noChangeShapeType="1"/>
            </p:cNvSpPr>
            <p:nvPr/>
          </p:nvSpPr>
          <p:spPr bwMode="auto">
            <a:xfrm>
              <a:off x="1943" y="568"/>
              <a:ext cx="0" cy="316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40" name="Rectangle 116"/>
            <p:cNvSpPr>
              <a:spLocks noChangeAspect="1" noChangeArrowheads="1"/>
            </p:cNvSpPr>
            <p:nvPr/>
          </p:nvSpPr>
          <p:spPr bwMode="auto">
            <a:xfrm>
              <a:off x="1674" y="885"/>
              <a:ext cx="839" cy="99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41" name="Line 117"/>
            <p:cNvSpPr>
              <a:spLocks noChangeAspect="1" noChangeShapeType="1"/>
            </p:cNvSpPr>
            <p:nvPr/>
          </p:nvSpPr>
          <p:spPr bwMode="auto">
            <a:xfrm>
              <a:off x="2095" y="573"/>
              <a:ext cx="0" cy="6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42" name="Line 118"/>
            <p:cNvSpPr>
              <a:spLocks noChangeAspect="1" noChangeShapeType="1"/>
            </p:cNvSpPr>
            <p:nvPr/>
          </p:nvSpPr>
          <p:spPr bwMode="auto">
            <a:xfrm>
              <a:off x="2094" y="1617"/>
              <a:ext cx="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43" name="Text Box 119"/>
            <p:cNvSpPr txBox="1">
              <a:spLocks noChangeAspect="1" noChangeArrowheads="1"/>
            </p:cNvSpPr>
            <p:nvPr/>
          </p:nvSpPr>
          <p:spPr bwMode="auto">
            <a:xfrm>
              <a:off x="1742" y="593"/>
              <a:ext cx="10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graphicFrame>
          <p:nvGraphicFramePr>
            <p:cNvPr id="1383544" name="Object 1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5108724"/>
                </p:ext>
              </p:extLst>
            </p:nvPr>
          </p:nvGraphicFramePr>
          <p:xfrm>
            <a:off x="2445" y="2512"/>
            <a:ext cx="51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01" name="公式" r:id="rId9" imgW="545760" imgH="228600" progId="Equation.3">
                    <p:embed/>
                  </p:oleObj>
                </mc:Choice>
                <mc:Fallback>
                  <p:oleObj name="公式" r:id="rId9" imgW="545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2512"/>
                          <a:ext cx="51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3545" name="Object 1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6302947"/>
                </p:ext>
              </p:extLst>
            </p:nvPr>
          </p:nvGraphicFramePr>
          <p:xfrm>
            <a:off x="1459" y="2757"/>
            <a:ext cx="30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02" name="公式" r:id="rId11" imgW="317160" imgH="228600" progId="Equation.3">
                    <p:embed/>
                  </p:oleObj>
                </mc:Choice>
                <mc:Fallback>
                  <p:oleObj name="公式" r:id="rId11" imgW="317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9" y="2757"/>
                          <a:ext cx="30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3546" name="Group 122"/>
          <p:cNvGrpSpPr>
            <a:grpSpLocks/>
          </p:cNvGrpSpPr>
          <p:nvPr/>
        </p:nvGrpSpPr>
        <p:grpSpPr bwMode="auto">
          <a:xfrm>
            <a:off x="4646614" y="849944"/>
            <a:ext cx="2868613" cy="4538663"/>
            <a:chOff x="2927" y="568"/>
            <a:chExt cx="1807" cy="2859"/>
          </a:xfrm>
        </p:grpSpPr>
        <p:sp>
          <p:nvSpPr>
            <p:cNvPr id="1383547" name="Text Box 123" descr="窄横线"/>
            <p:cNvSpPr txBox="1">
              <a:spLocks noChangeArrowheads="1"/>
            </p:cNvSpPr>
            <p:nvPr/>
          </p:nvSpPr>
          <p:spPr bwMode="auto">
            <a:xfrm>
              <a:off x="3122" y="3183"/>
              <a:ext cx="1612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narHorz">
                    <a:fgClr>
                      <a:srgbClr val="FF00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2287" tIns="41143" rIns="82287" bIns="41143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/6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: </a:t>
              </a:r>
              <a:r>
                <a:rPr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出现拉应力区</a:t>
              </a: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83548" name="Rectangle 124"/>
            <p:cNvSpPr>
              <a:spLocks noChangeAspect="1" noChangeArrowheads="1"/>
            </p:cNvSpPr>
            <p:nvPr/>
          </p:nvSpPr>
          <p:spPr bwMode="auto">
            <a:xfrm>
              <a:off x="3168" y="1268"/>
              <a:ext cx="839" cy="950"/>
            </a:xfrm>
            <a:prstGeom prst="rect">
              <a:avLst/>
            </a:prstGeom>
            <a:solidFill>
              <a:schemeClr val="accent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49" name="Freeform 125" descr="深色竖线"/>
            <p:cNvSpPr>
              <a:spLocks noChangeAspect="1"/>
            </p:cNvSpPr>
            <p:nvPr/>
          </p:nvSpPr>
          <p:spPr bwMode="auto">
            <a:xfrm>
              <a:off x="3165" y="2403"/>
              <a:ext cx="844" cy="557"/>
            </a:xfrm>
            <a:custGeom>
              <a:avLst/>
              <a:gdLst>
                <a:gd name="T0" fmla="*/ 0 w 1042"/>
                <a:gd name="T1" fmla="*/ 688 h 688"/>
                <a:gd name="T2" fmla="*/ 1042 w 1042"/>
                <a:gd name="T3" fmla="*/ 0 h 688"/>
                <a:gd name="T4" fmla="*/ 1041 w 1042"/>
                <a:gd name="T5" fmla="*/ 137 h 688"/>
                <a:gd name="T6" fmla="*/ 0 w 1042"/>
                <a:gd name="T7" fmla="*/ 139 h 688"/>
                <a:gd name="T8" fmla="*/ 0 w 1042"/>
                <a:gd name="T9" fmla="*/ 688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2" h="688">
                  <a:moveTo>
                    <a:pt x="0" y="688"/>
                  </a:moveTo>
                  <a:lnTo>
                    <a:pt x="1042" y="0"/>
                  </a:lnTo>
                  <a:lnTo>
                    <a:pt x="1041" y="137"/>
                  </a:lnTo>
                  <a:lnTo>
                    <a:pt x="0" y="139"/>
                  </a:lnTo>
                  <a:lnTo>
                    <a:pt x="0" y="688"/>
                  </a:lnTo>
                  <a:close/>
                </a:path>
              </a:pathLst>
            </a:custGeom>
            <a:pattFill prst="dkVert">
              <a:fgClr>
                <a:schemeClr val="accent2"/>
              </a:fgClr>
              <a:bgClr>
                <a:schemeClr val="bg1"/>
              </a:bgClr>
            </a:pattFill>
            <a:ln w="12700" cap="flat" cmpd="sng">
              <a:solidFill>
                <a:srgbClr val="A5002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0" name="Freeform 126"/>
            <p:cNvSpPr>
              <a:spLocks noChangeAspect="1"/>
            </p:cNvSpPr>
            <p:nvPr/>
          </p:nvSpPr>
          <p:spPr bwMode="auto">
            <a:xfrm>
              <a:off x="3358" y="1436"/>
              <a:ext cx="1" cy="308"/>
            </a:xfrm>
            <a:custGeom>
              <a:avLst/>
              <a:gdLst>
                <a:gd name="T0" fmla="*/ 0 w 1"/>
                <a:gd name="T1" fmla="*/ 0 h 441"/>
                <a:gd name="T2" fmla="*/ 0 w 1"/>
                <a:gd name="T3" fmla="*/ 441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41">
                  <a:moveTo>
                    <a:pt x="0" y="0"/>
                  </a:moveTo>
                  <a:lnTo>
                    <a:pt x="0" y="44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1" name="Text Box 127"/>
            <p:cNvSpPr txBox="1">
              <a:spLocks noChangeAspect="1" noChangeArrowheads="1"/>
            </p:cNvSpPr>
            <p:nvPr/>
          </p:nvSpPr>
          <p:spPr bwMode="auto">
            <a:xfrm>
              <a:off x="3392" y="1405"/>
              <a:ext cx="132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lang="en-US" altLang="zh-CN" sz="2200" b="1" i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83552" name="Oval 128"/>
            <p:cNvSpPr>
              <a:spLocks noChangeAspect="1" noChangeArrowheads="1"/>
            </p:cNvSpPr>
            <p:nvPr/>
          </p:nvSpPr>
          <p:spPr bwMode="auto">
            <a:xfrm>
              <a:off x="3328" y="1709"/>
              <a:ext cx="63" cy="63"/>
            </a:xfrm>
            <a:prstGeom prst="ellipse">
              <a:avLst/>
            </a:prstGeom>
            <a:solidFill>
              <a:srgbClr val="A50021"/>
            </a:solidFill>
            <a:ln w="1270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3" name="Line 129"/>
            <p:cNvSpPr>
              <a:spLocks noChangeAspect="1" noChangeShapeType="1"/>
            </p:cNvSpPr>
            <p:nvPr/>
          </p:nvSpPr>
          <p:spPr bwMode="auto">
            <a:xfrm>
              <a:off x="4023" y="1268"/>
              <a:ext cx="1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4" name="Freeform 130"/>
            <p:cNvSpPr>
              <a:spLocks noChangeAspect="1"/>
            </p:cNvSpPr>
            <p:nvPr/>
          </p:nvSpPr>
          <p:spPr bwMode="auto">
            <a:xfrm>
              <a:off x="3032" y="1742"/>
              <a:ext cx="1062" cy="1"/>
            </a:xfrm>
            <a:custGeom>
              <a:avLst/>
              <a:gdLst>
                <a:gd name="T0" fmla="*/ 1522 w 1522"/>
                <a:gd name="T1" fmla="*/ 0 h 1"/>
                <a:gd name="T2" fmla="*/ 0 w 1522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22" h="1">
                  <a:moveTo>
                    <a:pt x="1522" y="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5" name="Freeform 131"/>
            <p:cNvSpPr>
              <a:spLocks noChangeAspect="1"/>
            </p:cNvSpPr>
            <p:nvPr/>
          </p:nvSpPr>
          <p:spPr bwMode="auto">
            <a:xfrm>
              <a:off x="3581" y="1212"/>
              <a:ext cx="1" cy="1102"/>
            </a:xfrm>
            <a:custGeom>
              <a:avLst/>
              <a:gdLst>
                <a:gd name="T0" fmla="*/ 0 w 1"/>
                <a:gd name="T1" fmla="*/ 0 h 1579"/>
                <a:gd name="T2" fmla="*/ 0 w 1"/>
                <a:gd name="T3" fmla="*/ 1579 h 1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579">
                  <a:moveTo>
                    <a:pt x="0" y="0"/>
                  </a:moveTo>
                  <a:lnTo>
                    <a:pt x="0" y="1579"/>
                  </a:lnTo>
                </a:path>
              </a:pathLst>
            </a:custGeom>
            <a:noFill/>
            <a:ln w="19050" cmpd="sng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6" name="Text Box 132"/>
            <p:cNvSpPr txBox="1">
              <a:spLocks noChangeAspect="1" noChangeArrowheads="1"/>
            </p:cNvSpPr>
            <p:nvPr/>
          </p:nvSpPr>
          <p:spPr bwMode="auto">
            <a:xfrm>
              <a:off x="3028" y="1709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</a:p>
          </p:txBody>
        </p:sp>
        <p:sp>
          <p:nvSpPr>
            <p:cNvPr id="1383557" name="Text Box 133"/>
            <p:cNvSpPr txBox="1">
              <a:spLocks noChangeAspect="1" noChangeArrowheads="1"/>
            </p:cNvSpPr>
            <p:nvPr/>
          </p:nvSpPr>
          <p:spPr bwMode="auto">
            <a:xfrm>
              <a:off x="3633" y="2154"/>
              <a:ext cx="7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</a:p>
          </p:txBody>
        </p:sp>
        <p:sp>
          <p:nvSpPr>
            <p:cNvPr id="1383558" name="Line 134"/>
            <p:cNvSpPr>
              <a:spLocks noChangeAspect="1" noChangeShapeType="1"/>
            </p:cNvSpPr>
            <p:nvPr/>
          </p:nvSpPr>
          <p:spPr bwMode="auto">
            <a:xfrm>
              <a:off x="3165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59" name="Line 135"/>
            <p:cNvSpPr>
              <a:spLocks noChangeAspect="1" noChangeShapeType="1"/>
            </p:cNvSpPr>
            <p:nvPr/>
          </p:nvSpPr>
          <p:spPr bwMode="auto">
            <a:xfrm>
              <a:off x="4003" y="1000"/>
              <a:ext cx="0" cy="2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0" name="Freeform 136"/>
            <p:cNvSpPr>
              <a:spLocks noChangeAspect="1"/>
            </p:cNvSpPr>
            <p:nvPr/>
          </p:nvSpPr>
          <p:spPr bwMode="auto">
            <a:xfrm>
              <a:off x="3160" y="1152"/>
              <a:ext cx="852" cy="1"/>
            </a:xfrm>
            <a:custGeom>
              <a:avLst/>
              <a:gdLst>
                <a:gd name="T0" fmla="*/ 0 w 1221"/>
                <a:gd name="T1" fmla="*/ 0 h 1"/>
                <a:gd name="T2" fmla="*/ 1221 w 122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21" h="1">
                  <a:moveTo>
                    <a:pt x="0" y="0"/>
                  </a:moveTo>
                  <a:lnTo>
                    <a:pt x="122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1" name="Line 137"/>
            <p:cNvSpPr>
              <a:spLocks noChangeAspect="1" noChangeShapeType="1"/>
            </p:cNvSpPr>
            <p:nvPr/>
          </p:nvSpPr>
          <p:spPr bwMode="auto">
            <a:xfrm>
              <a:off x="4116" y="1268"/>
              <a:ext cx="0" cy="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2" name="Text Box 138"/>
            <p:cNvSpPr txBox="1">
              <a:spLocks noChangeAspect="1" noChangeArrowheads="1"/>
            </p:cNvSpPr>
            <p:nvPr/>
          </p:nvSpPr>
          <p:spPr bwMode="auto">
            <a:xfrm>
              <a:off x="3474" y="974"/>
              <a:ext cx="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1383563" name="Text Box 139"/>
            <p:cNvSpPr txBox="1">
              <a:spLocks noChangeAspect="1" noChangeArrowheads="1"/>
            </p:cNvSpPr>
            <p:nvPr/>
          </p:nvSpPr>
          <p:spPr bwMode="auto">
            <a:xfrm>
              <a:off x="4158" y="1645"/>
              <a:ext cx="4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l</a:t>
              </a:r>
            </a:p>
          </p:txBody>
        </p:sp>
        <p:sp>
          <p:nvSpPr>
            <p:cNvPr id="1383564" name="Line 140"/>
            <p:cNvSpPr>
              <a:spLocks noChangeAspect="1" noChangeShapeType="1"/>
            </p:cNvSpPr>
            <p:nvPr/>
          </p:nvSpPr>
          <p:spPr bwMode="auto">
            <a:xfrm>
              <a:off x="4026" y="2218"/>
              <a:ext cx="18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5" name="Line 141"/>
            <p:cNvSpPr>
              <a:spLocks noChangeAspect="1" noChangeShapeType="1"/>
            </p:cNvSpPr>
            <p:nvPr/>
          </p:nvSpPr>
          <p:spPr bwMode="auto">
            <a:xfrm>
              <a:off x="3353" y="568"/>
              <a:ext cx="0" cy="316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6" name="Rectangle 142"/>
            <p:cNvSpPr>
              <a:spLocks noChangeAspect="1" noChangeArrowheads="1"/>
            </p:cNvSpPr>
            <p:nvPr/>
          </p:nvSpPr>
          <p:spPr bwMode="auto">
            <a:xfrm>
              <a:off x="3160" y="885"/>
              <a:ext cx="839" cy="99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7" name="Line 143"/>
            <p:cNvSpPr>
              <a:spLocks noChangeAspect="1" noChangeShapeType="1"/>
            </p:cNvSpPr>
            <p:nvPr/>
          </p:nvSpPr>
          <p:spPr bwMode="auto">
            <a:xfrm>
              <a:off x="3580" y="573"/>
              <a:ext cx="0" cy="6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8" name="Freeform 144"/>
            <p:cNvSpPr>
              <a:spLocks noChangeAspect="1"/>
            </p:cNvSpPr>
            <p:nvPr/>
          </p:nvSpPr>
          <p:spPr bwMode="auto">
            <a:xfrm>
              <a:off x="3353" y="1617"/>
              <a:ext cx="240" cy="1"/>
            </a:xfrm>
            <a:custGeom>
              <a:avLst/>
              <a:gdLst>
                <a:gd name="T0" fmla="*/ 0 w 295"/>
                <a:gd name="T1" fmla="*/ 0 h 1"/>
                <a:gd name="T2" fmla="*/ 295 w 29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5" h="1">
                  <a:moveTo>
                    <a:pt x="0" y="0"/>
                  </a:moveTo>
                  <a:lnTo>
                    <a:pt x="295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69" name="Freeform 145"/>
            <p:cNvSpPr>
              <a:spLocks noChangeAspect="1"/>
            </p:cNvSpPr>
            <p:nvPr/>
          </p:nvSpPr>
          <p:spPr bwMode="auto">
            <a:xfrm>
              <a:off x="3168" y="1621"/>
              <a:ext cx="193" cy="1"/>
            </a:xfrm>
            <a:custGeom>
              <a:avLst/>
              <a:gdLst>
                <a:gd name="T0" fmla="*/ 0 w 238"/>
                <a:gd name="T1" fmla="*/ 0 h 1"/>
                <a:gd name="T2" fmla="*/ 238 w 238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" h="1">
                  <a:moveTo>
                    <a:pt x="0" y="0"/>
                  </a:moveTo>
                  <a:lnTo>
                    <a:pt x="23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70" name="Text Box 146"/>
            <p:cNvSpPr txBox="1">
              <a:spLocks noChangeAspect="1" noChangeArrowheads="1"/>
            </p:cNvSpPr>
            <p:nvPr/>
          </p:nvSpPr>
          <p:spPr bwMode="auto">
            <a:xfrm>
              <a:off x="3210" y="1405"/>
              <a:ext cx="11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K</a:t>
              </a:r>
            </a:p>
          </p:txBody>
        </p:sp>
        <p:sp>
          <p:nvSpPr>
            <p:cNvPr id="1383571" name="Text Box 147"/>
            <p:cNvSpPr txBox="1">
              <a:spLocks noChangeAspect="1" noChangeArrowheads="1"/>
            </p:cNvSpPr>
            <p:nvPr/>
          </p:nvSpPr>
          <p:spPr bwMode="auto">
            <a:xfrm>
              <a:off x="3166" y="593"/>
              <a:ext cx="10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graphicFrame>
          <p:nvGraphicFramePr>
            <p:cNvPr id="1383572" name="Object 1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9166924"/>
                </p:ext>
              </p:extLst>
            </p:nvPr>
          </p:nvGraphicFramePr>
          <p:xfrm>
            <a:off x="3901" y="2499"/>
            <a:ext cx="51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03" name="公式" r:id="rId13" imgW="545760" imgH="228600" progId="Equation.3">
                    <p:embed/>
                  </p:oleObj>
                </mc:Choice>
                <mc:Fallback>
                  <p:oleObj name="公式" r:id="rId13" imgW="545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" y="2499"/>
                          <a:ext cx="51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3573" name="Object 1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028986"/>
                </p:ext>
              </p:extLst>
            </p:nvPr>
          </p:nvGraphicFramePr>
          <p:xfrm>
            <a:off x="2927" y="2902"/>
            <a:ext cx="31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504" name="公式" r:id="rId15" imgW="317160" imgH="228600" progId="Equation.3">
                    <p:embed/>
                  </p:oleObj>
                </mc:Choice>
                <mc:Fallback>
                  <p:oleObj name="公式" r:id="rId15" imgW="317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7" y="2902"/>
                          <a:ext cx="31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3574" name="Text Box 150"/>
            <p:cNvSpPr txBox="1">
              <a:spLocks noChangeArrowheads="1"/>
            </p:cNvSpPr>
            <p:nvPr/>
          </p:nvSpPr>
          <p:spPr bwMode="auto">
            <a:xfrm>
              <a:off x="3532" y="2782"/>
              <a:ext cx="535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00">
                      <a:alpha val="3999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K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/2-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383575" name="Text Box 151"/>
          <p:cNvSpPr txBox="1">
            <a:spLocks noChangeArrowheads="1"/>
          </p:cNvSpPr>
          <p:nvPr/>
        </p:nvSpPr>
        <p:spPr bwMode="auto">
          <a:xfrm>
            <a:off x="2493638" y="5800213"/>
            <a:ext cx="54276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矩形面积单向偏心荷载</a:t>
            </a:r>
          </a:p>
        </p:txBody>
      </p:sp>
      <p:graphicFrame>
        <p:nvGraphicFramePr>
          <p:cNvPr id="1383576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058026"/>
              </p:ext>
            </p:extLst>
          </p:nvPr>
        </p:nvGraphicFramePr>
        <p:xfrm>
          <a:off x="7478713" y="4170994"/>
          <a:ext cx="12890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05" name="公式" r:id="rId17" imgW="749160" imgH="380880" progId="Equation.3">
                  <p:embed/>
                </p:oleObj>
              </mc:Choice>
              <mc:Fallback>
                <p:oleObj name="公式" r:id="rId17" imgW="7491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713" y="4170994"/>
                        <a:ext cx="128905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577" name="Text Box 153"/>
          <p:cNvSpPr txBox="1">
            <a:spLocks noChangeArrowheads="1"/>
          </p:cNvSpPr>
          <p:nvPr/>
        </p:nvSpPr>
        <p:spPr bwMode="auto">
          <a:xfrm>
            <a:off x="7091373" y="1609212"/>
            <a:ext cx="1945633" cy="203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出现拉力时，应进行压力调整，原则：基底压力合力与总荷载相等</a:t>
            </a:r>
          </a:p>
        </p:txBody>
      </p:sp>
      <p:sp>
        <p:nvSpPr>
          <p:cNvPr id="1383578" name="AutoShape 154"/>
          <p:cNvSpPr>
            <a:spLocks noChangeArrowheads="1"/>
          </p:cNvSpPr>
          <p:nvPr/>
        </p:nvSpPr>
        <p:spPr bwMode="auto">
          <a:xfrm rot="5400000">
            <a:off x="7750969" y="3717649"/>
            <a:ext cx="471487" cy="409575"/>
          </a:xfrm>
          <a:prstGeom prst="homePlate">
            <a:avLst>
              <a:gd name="adj" fmla="val 2877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3579" name="Group 155"/>
          <p:cNvGrpSpPr>
            <a:grpSpLocks/>
          </p:cNvGrpSpPr>
          <p:nvPr/>
        </p:nvGrpSpPr>
        <p:grpSpPr bwMode="auto">
          <a:xfrm>
            <a:off x="5022850" y="3491544"/>
            <a:ext cx="962025" cy="1271588"/>
            <a:chOff x="3164" y="2232"/>
            <a:chExt cx="606" cy="801"/>
          </a:xfrm>
        </p:grpSpPr>
        <p:sp>
          <p:nvSpPr>
            <p:cNvPr id="1383580" name="Line 156"/>
            <p:cNvSpPr>
              <a:spLocks noChangeAspect="1" noChangeShapeType="1"/>
            </p:cNvSpPr>
            <p:nvPr/>
          </p:nvSpPr>
          <p:spPr bwMode="auto">
            <a:xfrm>
              <a:off x="3167" y="2322"/>
              <a:ext cx="0" cy="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81" name="Line 157"/>
            <p:cNvSpPr>
              <a:spLocks noChangeAspect="1" noChangeShapeType="1"/>
            </p:cNvSpPr>
            <p:nvPr/>
          </p:nvSpPr>
          <p:spPr bwMode="auto">
            <a:xfrm>
              <a:off x="3765" y="2310"/>
              <a:ext cx="0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82" name="Text Box 158"/>
            <p:cNvSpPr txBox="1">
              <a:spLocks noChangeAspect="1" noChangeArrowheads="1"/>
            </p:cNvSpPr>
            <p:nvPr/>
          </p:nvSpPr>
          <p:spPr bwMode="auto">
            <a:xfrm>
              <a:off x="3307" y="2232"/>
              <a:ext cx="22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411163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82232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235075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646238" defTabSz="8223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3K</a:t>
              </a:r>
            </a:p>
          </p:txBody>
        </p:sp>
        <p:sp>
          <p:nvSpPr>
            <p:cNvPr id="1383583" name="AutoShape 159" descr="深色竖线"/>
            <p:cNvSpPr>
              <a:spLocks noChangeAspect="1" noChangeArrowheads="1"/>
            </p:cNvSpPr>
            <p:nvPr/>
          </p:nvSpPr>
          <p:spPr bwMode="auto">
            <a:xfrm flipV="1">
              <a:off x="3164" y="2514"/>
              <a:ext cx="603" cy="519"/>
            </a:xfrm>
            <a:prstGeom prst="rtTriangle">
              <a:avLst/>
            </a:prstGeom>
            <a:pattFill prst="dkVert">
              <a:fgClr>
                <a:srgbClr val="A50021"/>
              </a:fgClr>
              <a:bgClr>
                <a:schemeClr val="bg1"/>
              </a:bgClr>
            </a:pattFill>
            <a:ln w="12700" algn="ctr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3584" name="Line 160"/>
            <p:cNvSpPr>
              <a:spLocks noChangeShapeType="1"/>
            </p:cNvSpPr>
            <p:nvPr/>
          </p:nvSpPr>
          <p:spPr bwMode="auto">
            <a:xfrm>
              <a:off x="3168" y="2416"/>
              <a:ext cx="6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0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计算方法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2125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8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38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38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8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138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138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38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38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577" grpId="0"/>
      <p:bldP spid="138357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60" name="Freeform 12" descr="深色竖线"/>
          <p:cNvSpPr>
            <a:spLocks/>
          </p:cNvSpPr>
          <p:nvPr/>
        </p:nvSpPr>
        <p:spPr bwMode="auto">
          <a:xfrm>
            <a:off x="1347788" y="2935288"/>
            <a:ext cx="1919287" cy="566737"/>
          </a:xfrm>
          <a:custGeom>
            <a:avLst/>
            <a:gdLst>
              <a:gd name="T0" fmla="*/ 2 w 1209"/>
              <a:gd name="T1" fmla="*/ 357 h 357"/>
              <a:gd name="T2" fmla="*/ 1208 w 1209"/>
              <a:gd name="T3" fmla="*/ 120 h 357"/>
              <a:gd name="T4" fmla="*/ 1209 w 1209"/>
              <a:gd name="T5" fmla="*/ 1 h 357"/>
              <a:gd name="T6" fmla="*/ 0 w 1209"/>
              <a:gd name="T7" fmla="*/ 0 h 357"/>
              <a:gd name="T8" fmla="*/ 2 w 1209"/>
              <a:gd name="T9" fmla="*/ 357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9" h="357">
                <a:moveTo>
                  <a:pt x="2" y="357"/>
                </a:moveTo>
                <a:lnTo>
                  <a:pt x="1208" y="120"/>
                </a:lnTo>
                <a:lnTo>
                  <a:pt x="1209" y="1"/>
                </a:lnTo>
                <a:lnTo>
                  <a:pt x="0" y="0"/>
                </a:lnTo>
                <a:lnTo>
                  <a:pt x="2" y="357"/>
                </a:lnTo>
                <a:close/>
              </a:path>
            </a:pathLst>
          </a:custGeom>
          <a:pattFill prst="dkVert">
            <a:fgClr>
              <a:srgbClr val="A50021"/>
            </a:fgClr>
            <a:bgClr>
              <a:srgbClr val="FFFFFF"/>
            </a:bgClr>
          </a:pattFill>
          <a:ln w="6350" cap="flat" cmpd="sng">
            <a:solidFill>
              <a:srgbClr val="A5002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1" name="Freeform 13"/>
          <p:cNvSpPr>
            <a:spLocks/>
          </p:cNvSpPr>
          <p:nvPr/>
        </p:nvSpPr>
        <p:spPr bwMode="auto">
          <a:xfrm>
            <a:off x="2038350" y="963613"/>
            <a:ext cx="301625" cy="1587"/>
          </a:xfrm>
          <a:custGeom>
            <a:avLst/>
            <a:gdLst>
              <a:gd name="T0" fmla="*/ 0 w 190"/>
              <a:gd name="T1" fmla="*/ 1 h 1"/>
              <a:gd name="T2" fmla="*/ 190 w 19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0" h="1">
                <a:moveTo>
                  <a:pt x="0" y="1"/>
                </a:moveTo>
                <a:lnTo>
                  <a:pt x="19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2" name="Freeform 14"/>
          <p:cNvSpPr>
            <a:spLocks/>
          </p:cNvSpPr>
          <p:nvPr/>
        </p:nvSpPr>
        <p:spPr bwMode="auto">
          <a:xfrm>
            <a:off x="2047875" y="823913"/>
            <a:ext cx="1588" cy="582612"/>
          </a:xfrm>
          <a:custGeom>
            <a:avLst/>
            <a:gdLst>
              <a:gd name="T0" fmla="*/ 0 w 1"/>
              <a:gd name="T1" fmla="*/ 0 h 367"/>
              <a:gd name="T2" fmla="*/ 0 w 1"/>
              <a:gd name="T3" fmla="*/ 367 h 36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67">
                <a:moveTo>
                  <a:pt x="0" y="0"/>
                </a:moveTo>
                <a:lnTo>
                  <a:pt x="0" y="367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3" name="Line 15"/>
          <p:cNvSpPr>
            <a:spLocks noChangeShapeType="1"/>
          </p:cNvSpPr>
          <p:nvPr/>
        </p:nvSpPr>
        <p:spPr bwMode="auto">
          <a:xfrm>
            <a:off x="1366838" y="2109788"/>
            <a:ext cx="0" cy="5762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4" name="Line 16"/>
          <p:cNvSpPr>
            <a:spLocks noChangeShapeType="1"/>
          </p:cNvSpPr>
          <p:nvPr/>
        </p:nvSpPr>
        <p:spPr bwMode="auto">
          <a:xfrm>
            <a:off x="3276600" y="2109788"/>
            <a:ext cx="0" cy="5762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5" name="Freeform 17"/>
          <p:cNvSpPr>
            <a:spLocks/>
          </p:cNvSpPr>
          <p:nvPr/>
        </p:nvSpPr>
        <p:spPr bwMode="auto">
          <a:xfrm>
            <a:off x="1357313" y="2455863"/>
            <a:ext cx="1938337" cy="1587"/>
          </a:xfrm>
          <a:custGeom>
            <a:avLst/>
            <a:gdLst>
              <a:gd name="T0" fmla="*/ 0 w 1221"/>
              <a:gd name="T1" fmla="*/ 0 h 1"/>
              <a:gd name="T2" fmla="*/ 1221 w 122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21" h="1">
                <a:moveTo>
                  <a:pt x="0" y="0"/>
                </a:moveTo>
                <a:lnTo>
                  <a:pt x="1221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6" name="Text Box 18"/>
          <p:cNvSpPr txBox="1">
            <a:spLocks noChangeArrowheads="1"/>
          </p:cNvSpPr>
          <p:nvPr/>
        </p:nvSpPr>
        <p:spPr bwMode="auto">
          <a:xfrm>
            <a:off x="2221756" y="2066925"/>
            <a:ext cx="15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</a:p>
        </p:txBody>
      </p:sp>
      <p:sp>
        <p:nvSpPr>
          <p:cNvPr id="1384467" name="Text Box 19"/>
          <p:cNvSpPr txBox="1">
            <a:spLocks noChangeArrowheads="1"/>
          </p:cNvSpPr>
          <p:nvPr/>
        </p:nvSpPr>
        <p:spPr bwMode="auto">
          <a:xfrm>
            <a:off x="2038350" y="585069"/>
            <a:ext cx="3016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endParaRPr kumimoji="1" lang="en-US" altLang="zh-CN" sz="24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84468" name="Line 20"/>
          <p:cNvSpPr>
            <a:spLocks noChangeShapeType="1"/>
          </p:cNvSpPr>
          <p:nvPr/>
        </p:nvSpPr>
        <p:spPr bwMode="auto">
          <a:xfrm>
            <a:off x="2051050" y="1123950"/>
            <a:ext cx="0" cy="720725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69" name="Rectangle 21"/>
          <p:cNvSpPr>
            <a:spLocks noChangeArrowheads="1"/>
          </p:cNvSpPr>
          <p:nvPr/>
        </p:nvSpPr>
        <p:spPr bwMode="auto">
          <a:xfrm>
            <a:off x="1355725" y="1844675"/>
            <a:ext cx="1908175" cy="228600"/>
          </a:xfrm>
          <a:prstGeom prst="rect">
            <a:avLst/>
          </a:prstGeom>
          <a:solidFill>
            <a:schemeClr val="accent1"/>
          </a:solidFill>
          <a:ln w="2540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0" name="Line 22"/>
          <p:cNvSpPr>
            <a:spLocks noChangeShapeType="1"/>
          </p:cNvSpPr>
          <p:nvPr/>
        </p:nvSpPr>
        <p:spPr bwMode="auto">
          <a:xfrm>
            <a:off x="2314575" y="820738"/>
            <a:ext cx="0" cy="143986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1" name="Freeform 23" descr="深色竖线"/>
          <p:cNvSpPr>
            <a:spLocks/>
          </p:cNvSpPr>
          <p:nvPr/>
        </p:nvSpPr>
        <p:spPr bwMode="auto">
          <a:xfrm>
            <a:off x="6011863" y="2400300"/>
            <a:ext cx="1919287" cy="566738"/>
          </a:xfrm>
          <a:custGeom>
            <a:avLst/>
            <a:gdLst>
              <a:gd name="T0" fmla="*/ 2 w 1209"/>
              <a:gd name="T1" fmla="*/ 357 h 357"/>
              <a:gd name="T2" fmla="*/ 1208 w 1209"/>
              <a:gd name="T3" fmla="*/ 120 h 357"/>
              <a:gd name="T4" fmla="*/ 1209 w 1209"/>
              <a:gd name="T5" fmla="*/ 1 h 357"/>
              <a:gd name="T6" fmla="*/ 0 w 1209"/>
              <a:gd name="T7" fmla="*/ 0 h 357"/>
              <a:gd name="T8" fmla="*/ 2 w 1209"/>
              <a:gd name="T9" fmla="*/ 357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9" h="357">
                <a:moveTo>
                  <a:pt x="2" y="357"/>
                </a:moveTo>
                <a:lnTo>
                  <a:pt x="1208" y="120"/>
                </a:lnTo>
                <a:lnTo>
                  <a:pt x="1209" y="1"/>
                </a:lnTo>
                <a:lnTo>
                  <a:pt x="0" y="0"/>
                </a:lnTo>
                <a:lnTo>
                  <a:pt x="2" y="357"/>
                </a:lnTo>
                <a:close/>
              </a:path>
            </a:pathLst>
          </a:custGeom>
          <a:pattFill prst="dkVert">
            <a:fgClr>
              <a:srgbClr val="A50021"/>
            </a:fgClr>
            <a:bgClr>
              <a:srgbClr val="FFFFFF"/>
            </a:bgClr>
          </a:pattFill>
          <a:ln w="6350" cap="flat" cmpd="sng">
            <a:solidFill>
              <a:srgbClr val="A5002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2" name="Line 24"/>
          <p:cNvSpPr>
            <a:spLocks noChangeShapeType="1"/>
          </p:cNvSpPr>
          <p:nvPr/>
        </p:nvSpPr>
        <p:spPr bwMode="auto">
          <a:xfrm>
            <a:off x="6707188" y="1306513"/>
            <a:ext cx="0" cy="720725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3" name="Rectangle 25"/>
          <p:cNvSpPr>
            <a:spLocks noChangeArrowheads="1"/>
          </p:cNvSpPr>
          <p:nvPr/>
        </p:nvSpPr>
        <p:spPr bwMode="auto">
          <a:xfrm>
            <a:off x="6011863" y="2027238"/>
            <a:ext cx="1908175" cy="228600"/>
          </a:xfrm>
          <a:prstGeom prst="rect">
            <a:avLst/>
          </a:prstGeom>
          <a:solidFill>
            <a:schemeClr val="accent1"/>
          </a:solidFill>
          <a:ln w="2540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4" name="Line 26"/>
          <p:cNvSpPr>
            <a:spLocks noChangeShapeType="1"/>
          </p:cNvSpPr>
          <p:nvPr/>
        </p:nvSpPr>
        <p:spPr bwMode="auto">
          <a:xfrm>
            <a:off x="6970713" y="1319213"/>
            <a:ext cx="0" cy="143986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5" name="Line 27"/>
          <p:cNvSpPr>
            <a:spLocks noChangeAspect="1" noChangeShapeType="1"/>
          </p:cNvSpPr>
          <p:nvPr/>
        </p:nvSpPr>
        <p:spPr bwMode="auto">
          <a:xfrm>
            <a:off x="6018213" y="2309813"/>
            <a:ext cx="3302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6" name="Line 28"/>
          <p:cNvSpPr>
            <a:spLocks noChangeAspect="1" noChangeShapeType="1"/>
          </p:cNvSpPr>
          <p:nvPr/>
        </p:nvSpPr>
        <p:spPr bwMode="auto">
          <a:xfrm>
            <a:off x="6403975" y="2309813"/>
            <a:ext cx="3302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7" name="Line 29"/>
          <p:cNvSpPr>
            <a:spLocks noChangeAspect="1" noChangeShapeType="1"/>
          </p:cNvSpPr>
          <p:nvPr/>
        </p:nvSpPr>
        <p:spPr bwMode="auto">
          <a:xfrm>
            <a:off x="6804025" y="2309813"/>
            <a:ext cx="3302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8" name="Line 30"/>
          <p:cNvSpPr>
            <a:spLocks noChangeAspect="1" noChangeShapeType="1"/>
          </p:cNvSpPr>
          <p:nvPr/>
        </p:nvSpPr>
        <p:spPr bwMode="auto">
          <a:xfrm>
            <a:off x="7219950" y="2309813"/>
            <a:ext cx="3302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79" name="Line 31"/>
          <p:cNvSpPr>
            <a:spLocks noChangeAspect="1" noChangeShapeType="1"/>
          </p:cNvSpPr>
          <p:nvPr/>
        </p:nvSpPr>
        <p:spPr bwMode="auto">
          <a:xfrm>
            <a:off x="7602538" y="2309813"/>
            <a:ext cx="330200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80" name="Line 32"/>
          <p:cNvSpPr>
            <a:spLocks noChangeShapeType="1"/>
          </p:cNvSpPr>
          <p:nvPr/>
        </p:nvSpPr>
        <p:spPr bwMode="auto">
          <a:xfrm>
            <a:off x="6294438" y="2008188"/>
            <a:ext cx="404812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81" name="Line 33"/>
          <p:cNvSpPr>
            <a:spLocks noChangeShapeType="1"/>
          </p:cNvSpPr>
          <p:nvPr/>
        </p:nvSpPr>
        <p:spPr bwMode="auto">
          <a:xfrm>
            <a:off x="6281738" y="1319213"/>
            <a:ext cx="404812" cy="676275"/>
          </a:xfrm>
          <a:prstGeom prst="line">
            <a:avLst/>
          </a:prstGeom>
          <a:noFill/>
          <a:ln w="76200">
            <a:solidFill>
              <a:srgbClr val="9900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84482" name="Text Box 34"/>
          <p:cNvSpPr txBox="1">
            <a:spLocks noChangeArrowheads="1"/>
          </p:cNvSpPr>
          <p:nvPr/>
        </p:nvSpPr>
        <p:spPr bwMode="auto">
          <a:xfrm>
            <a:off x="1727087" y="1111250"/>
            <a:ext cx="1875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sp>
        <p:nvSpPr>
          <p:cNvPr id="1384483" name="Text Box 35"/>
          <p:cNvSpPr txBox="1">
            <a:spLocks noChangeArrowheads="1"/>
          </p:cNvSpPr>
          <p:nvPr/>
        </p:nvSpPr>
        <p:spPr bwMode="auto">
          <a:xfrm>
            <a:off x="6063343" y="1050925"/>
            <a:ext cx="1875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baseline="-2500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84484" name="Text Box 36"/>
          <p:cNvSpPr txBox="1">
            <a:spLocks noChangeArrowheads="1"/>
          </p:cNvSpPr>
          <p:nvPr/>
        </p:nvSpPr>
        <p:spPr bwMode="auto">
          <a:xfrm>
            <a:off x="6584394" y="895350"/>
            <a:ext cx="278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i="1" baseline="-2500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</a:p>
        </p:txBody>
      </p:sp>
      <p:sp>
        <p:nvSpPr>
          <p:cNvPr id="1384485" name="Text Box 37"/>
          <p:cNvSpPr txBox="1">
            <a:spLocks noChangeArrowheads="1"/>
          </p:cNvSpPr>
          <p:nvPr/>
        </p:nvSpPr>
        <p:spPr bwMode="auto">
          <a:xfrm>
            <a:off x="5908805" y="1616075"/>
            <a:ext cx="3013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84486" name="Rectangle 38"/>
          <p:cNvSpPr>
            <a:spLocks noChangeArrowheads="1"/>
          </p:cNvSpPr>
          <p:nvPr/>
        </p:nvSpPr>
        <p:spPr bwMode="auto">
          <a:xfrm>
            <a:off x="6184900" y="4785738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倾斜偏心荷载</a:t>
            </a:r>
          </a:p>
        </p:txBody>
      </p:sp>
      <p:graphicFrame>
        <p:nvGraphicFramePr>
          <p:cNvPr id="138448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43718"/>
              </p:ext>
            </p:extLst>
          </p:nvPr>
        </p:nvGraphicFramePr>
        <p:xfrm>
          <a:off x="1408744" y="3709988"/>
          <a:ext cx="21367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30" name="公式" r:id="rId3" imgW="1206360" imgH="431640" progId="Equation.3">
                  <p:embed/>
                </p:oleObj>
              </mc:Choice>
              <mc:Fallback>
                <p:oleObj name="公式" r:id="rId3" imgW="1206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744" y="3709988"/>
                        <a:ext cx="21367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4488" name="Text Box 40"/>
          <p:cNvSpPr txBox="1">
            <a:spLocks noChangeArrowheads="1"/>
          </p:cNvSpPr>
          <p:nvPr/>
        </p:nvSpPr>
        <p:spPr bwMode="auto">
          <a:xfrm>
            <a:off x="1012825" y="4814313"/>
            <a:ext cx="30638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宋体" charset="-122"/>
                <a:ea typeface="幼圆" pitchFamily="49" charset="-122"/>
                <a:sym typeface="Symbol" pitchFamily="18" charset="2"/>
              </a:rPr>
              <a:t>条形基础竖直偏心荷载</a:t>
            </a:r>
          </a:p>
        </p:txBody>
      </p:sp>
      <p:sp>
        <p:nvSpPr>
          <p:cNvPr id="1384489" name="Text Box 41"/>
          <p:cNvSpPr txBox="1">
            <a:spLocks noChangeArrowheads="1"/>
          </p:cNvSpPr>
          <p:nvPr/>
        </p:nvSpPr>
        <p:spPr bwMode="auto">
          <a:xfrm>
            <a:off x="5459413" y="3295650"/>
            <a:ext cx="3476625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分解为竖直向和水平向荷载，水平荷载引起的基底水平应力视为均匀分布</a:t>
            </a:r>
          </a:p>
        </p:txBody>
      </p:sp>
      <p:sp>
        <p:nvSpPr>
          <p:cNvPr id="1384490" name="Text Box 42"/>
          <p:cNvSpPr txBox="1">
            <a:spLocks noChangeArrowheads="1"/>
          </p:cNvSpPr>
          <p:nvPr/>
        </p:nvSpPr>
        <p:spPr bwMode="auto">
          <a:xfrm>
            <a:off x="2151412" y="5779378"/>
            <a:ext cx="54276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其它荷载</a:t>
            </a: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35372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527" name="Text Box 55"/>
          <p:cNvSpPr txBox="1">
            <a:spLocks noChangeArrowheads="1"/>
          </p:cNvSpPr>
          <p:nvPr/>
        </p:nvSpPr>
        <p:spPr bwMode="auto">
          <a:xfrm>
            <a:off x="1352550" y="1076325"/>
            <a:ext cx="3263900" cy="386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基底压力分布的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影响因素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endParaRPr lang="zh-CN" altLang="en-US" sz="28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基底压力的分布形式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endParaRPr lang="zh-CN" altLang="en-US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简化计算方法</a:t>
            </a:r>
          </a:p>
        </p:txBody>
      </p:sp>
      <p:sp>
        <p:nvSpPr>
          <p:cNvPr id="1385528" name="Text Box 56"/>
          <p:cNvSpPr txBox="1">
            <a:spLocks noChangeArrowheads="1"/>
          </p:cNvSpPr>
          <p:nvPr/>
        </p:nvSpPr>
        <p:spPr bwMode="auto">
          <a:xfrm>
            <a:off x="5546725" y="842963"/>
            <a:ext cx="2063750" cy="155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荷载条件</a:t>
            </a:r>
          </a:p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基础条件</a:t>
            </a:r>
          </a:p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地基条件</a:t>
            </a:r>
          </a:p>
        </p:txBody>
      </p:sp>
      <p:sp>
        <p:nvSpPr>
          <p:cNvPr id="1385529" name="Text Box 57"/>
          <p:cNvSpPr txBox="1">
            <a:spLocks noChangeArrowheads="1"/>
          </p:cNvSpPr>
          <p:nvPr/>
        </p:nvSpPr>
        <p:spPr bwMode="auto">
          <a:xfrm>
            <a:off x="5576887" y="2756724"/>
            <a:ext cx="2109787" cy="114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5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弹性地基</a:t>
            </a:r>
          </a:p>
          <a:p>
            <a:pPr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5000"/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弹塑性地基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85530" name="Text Box 58"/>
          <p:cNvSpPr txBox="1">
            <a:spLocks noChangeArrowheads="1"/>
          </p:cNvSpPr>
          <p:nvPr/>
        </p:nvSpPr>
        <p:spPr bwMode="auto">
          <a:xfrm>
            <a:off x="5456238" y="4328350"/>
            <a:ext cx="3138487" cy="9874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假定基底压力按直线分布的材料力学方法</a:t>
            </a:r>
          </a:p>
        </p:txBody>
      </p:sp>
      <p:sp>
        <p:nvSpPr>
          <p:cNvPr id="1385531" name="AutoShape 59"/>
          <p:cNvSpPr>
            <a:spLocks/>
          </p:cNvSpPr>
          <p:nvPr/>
        </p:nvSpPr>
        <p:spPr bwMode="auto">
          <a:xfrm>
            <a:off x="5057776" y="1112838"/>
            <a:ext cx="323850" cy="1112837"/>
          </a:xfrm>
          <a:prstGeom prst="leftBrace">
            <a:avLst>
              <a:gd name="adj1" fmla="val 23460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85532" name="AutoShape 60"/>
          <p:cNvSpPr>
            <a:spLocks/>
          </p:cNvSpPr>
          <p:nvPr/>
        </p:nvSpPr>
        <p:spPr bwMode="auto">
          <a:xfrm>
            <a:off x="5076826" y="2885313"/>
            <a:ext cx="285750" cy="762000"/>
          </a:xfrm>
          <a:prstGeom prst="leftBrace">
            <a:avLst>
              <a:gd name="adj1" fmla="val 15444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85533" name="AutoShape 61"/>
          <p:cNvSpPr>
            <a:spLocks noChangeArrowheads="1"/>
          </p:cNvSpPr>
          <p:nvPr/>
        </p:nvSpPr>
        <p:spPr bwMode="auto">
          <a:xfrm>
            <a:off x="4746625" y="4507738"/>
            <a:ext cx="471488" cy="409575"/>
          </a:xfrm>
          <a:prstGeom prst="homePlate">
            <a:avLst>
              <a:gd name="adj" fmla="val 28779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85534" name="Text Box 62"/>
          <p:cNvSpPr txBox="1">
            <a:spLocks noChangeArrowheads="1"/>
          </p:cNvSpPr>
          <p:nvPr/>
        </p:nvSpPr>
        <p:spPr bwMode="auto">
          <a:xfrm>
            <a:off x="3384938" y="5720259"/>
            <a:ext cx="2225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小    结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1" y="0"/>
            <a:ext cx="43028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基底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压力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小结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2870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5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55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8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8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38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38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38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38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38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85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85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5527" grpId="0" build="p"/>
      <p:bldP spid="1385528" grpId="0"/>
      <p:bldP spid="1385529" grpId="0"/>
      <p:bldP spid="1385530" grpId="0" animBg="1"/>
      <p:bldP spid="1385531" grpId="0" animBg="1"/>
      <p:bldP spid="1385532" grpId="0" animBg="1"/>
      <p:bldP spid="138553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47188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原理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附加应力计算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63786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85" name="Rectangle 13"/>
          <p:cNvSpPr>
            <a:spLocks noChangeArrowheads="1"/>
          </p:cNvSpPr>
          <p:nvPr/>
        </p:nvSpPr>
        <p:spPr bwMode="auto">
          <a:xfrm>
            <a:off x="3302000" y="5780088"/>
            <a:ext cx="4260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地基中的附加应力</a:t>
            </a:r>
          </a:p>
        </p:txBody>
      </p:sp>
      <p:sp>
        <p:nvSpPr>
          <p:cNvPr id="1359886" name="Text Box 14"/>
          <p:cNvSpPr txBox="1">
            <a:spLocks noChangeArrowheads="1"/>
          </p:cNvSpPr>
          <p:nvPr/>
        </p:nvSpPr>
        <p:spPr bwMode="auto">
          <a:xfrm>
            <a:off x="755650" y="889000"/>
            <a:ext cx="7270750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kumimoji="0" lang="zh-CN" altLang="en-US" b="1">
                <a:solidFill>
                  <a:srgbClr val="A50021"/>
                </a:solidFill>
                <a:ea typeface="幼圆" pitchFamily="49" charset="-122"/>
              </a:rPr>
              <a:t>附加应力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是由于修建建筑物之后在地基内新增加的应力，它是使地基发生变形从而引起建筑物沉降的主要原因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59887" name="Text Box 15"/>
          <p:cNvSpPr txBox="1">
            <a:spLocks noChangeArrowheads="1"/>
          </p:cNvSpPr>
          <p:nvPr/>
        </p:nvSpPr>
        <p:spPr bwMode="auto">
          <a:xfrm>
            <a:off x="1517650" y="2470150"/>
            <a:ext cx="4776788" cy="264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集中荷载作用下的附加应力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矩形分布荷载作用下的附加应力</a:t>
            </a: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条形分布荷载作用下的附加应力</a:t>
            </a: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圆形分布荷载作用下的附加应力</a:t>
            </a: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影响应力分布的因素</a:t>
            </a:r>
          </a:p>
        </p:txBody>
      </p:sp>
      <p:sp>
        <p:nvSpPr>
          <p:cNvPr id="1359888" name="Text Box 16"/>
          <p:cNvSpPr txBox="1">
            <a:spLocks noChangeArrowheads="1"/>
          </p:cNvSpPr>
          <p:nvPr/>
        </p:nvSpPr>
        <p:spPr bwMode="auto">
          <a:xfrm>
            <a:off x="7019925" y="2490788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基本解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59889" name="AutoShape 17"/>
          <p:cNvSpPr>
            <a:spLocks/>
          </p:cNvSpPr>
          <p:nvPr/>
        </p:nvSpPr>
        <p:spPr bwMode="auto">
          <a:xfrm>
            <a:off x="6424613" y="3168650"/>
            <a:ext cx="274637" cy="1281113"/>
          </a:xfrm>
          <a:prstGeom prst="rightBrace">
            <a:avLst>
              <a:gd name="adj1" fmla="val 38873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9890" name="Text Box 18"/>
          <p:cNvSpPr txBox="1">
            <a:spLocks noChangeArrowheads="1"/>
          </p:cNvSpPr>
          <p:nvPr/>
        </p:nvSpPr>
        <p:spPr bwMode="auto">
          <a:xfrm>
            <a:off x="6946900" y="35417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叠加原理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59891" name="Line 19"/>
          <p:cNvSpPr>
            <a:spLocks noChangeShapeType="1"/>
          </p:cNvSpPr>
          <p:nvPr/>
        </p:nvSpPr>
        <p:spPr bwMode="auto">
          <a:xfrm>
            <a:off x="5862638" y="2759075"/>
            <a:ext cx="1143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1" y="0"/>
            <a:ext cx="31813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59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59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9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9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9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98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98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98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98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598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598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598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35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35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59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59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35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35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886" grpId="0"/>
      <p:bldP spid="1359887" grpId="0" build="p"/>
      <p:bldP spid="1359888" grpId="0"/>
      <p:bldP spid="1359889" grpId="0" animBg="1"/>
      <p:bldP spid="1359890" grpId="0"/>
      <p:bldP spid="135989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921" name="Rectangle 25"/>
          <p:cNvSpPr>
            <a:spLocks noChangeArrowheads="1"/>
          </p:cNvSpPr>
          <p:nvPr/>
        </p:nvSpPr>
        <p:spPr bwMode="auto">
          <a:xfrm>
            <a:off x="0" y="1231900"/>
            <a:ext cx="9144000" cy="33655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0922" name="Rectangle 26"/>
          <p:cNvSpPr>
            <a:spLocks noChangeArrowheads="1"/>
          </p:cNvSpPr>
          <p:nvPr/>
        </p:nvSpPr>
        <p:spPr bwMode="auto">
          <a:xfrm>
            <a:off x="2798763" y="577215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  <p:sp>
        <p:nvSpPr>
          <p:cNvPr id="1360923" name="Text Box 27"/>
          <p:cNvSpPr txBox="1">
            <a:spLocks noChangeArrowheads="1"/>
          </p:cNvSpPr>
          <p:nvPr/>
        </p:nvSpPr>
        <p:spPr bwMode="auto">
          <a:xfrm>
            <a:off x="5490708" y="4833938"/>
            <a:ext cx="31076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kumimoji="1"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28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kumimoji="1"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kumimoji="1" lang="en-US" altLang="zh-CN" sz="28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,z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l-GR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l-GR" altLang="zh-CN" sz="28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β</a:t>
            </a:r>
            <a:r>
              <a:rPr kumimoji="1" lang="en-US" altLang="zh-CN" sz="28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)</a:t>
            </a:r>
          </a:p>
        </p:txBody>
      </p:sp>
      <p:graphicFrame>
        <p:nvGraphicFramePr>
          <p:cNvPr id="13609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339872"/>
              </p:ext>
            </p:extLst>
          </p:nvPr>
        </p:nvGraphicFramePr>
        <p:xfrm>
          <a:off x="931863" y="4832350"/>
          <a:ext cx="40211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079" name="公式" r:id="rId3" imgW="1714320" imgH="228600" progId="Equation.3">
                  <p:embed/>
                </p:oleObj>
              </mc:Choice>
              <mc:Fallback>
                <p:oleObj name="公式" r:id="rId3" imgW="171432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4832350"/>
                        <a:ext cx="40211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0925" name="Text Box 29"/>
          <p:cNvSpPr txBox="1">
            <a:spLocks noChangeArrowheads="1"/>
          </p:cNvSpPr>
          <p:nvPr/>
        </p:nvSpPr>
        <p:spPr bwMode="auto">
          <a:xfrm>
            <a:off x="376238" y="60007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360926" name="Group 30"/>
          <p:cNvGrpSpPr>
            <a:grpSpLocks/>
          </p:cNvGrpSpPr>
          <p:nvPr/>
        </p:nvGrpSpPr>
        <p:grpSpPr bwMode="auto">
          <a:xfrm>
            <a:off x="6345238" y="1844675"/>
            <a:ext cx="2390775" cy="2389188"/>
            <a:chOff x="4040" y="1042"/>
            <a:chExt cx="1506" cy="1505"/>
          </a:xfrm>
        </p:grpSpPr>
        <p:sp>
          <p:nvSpPr>
            <p:cNvPr id="1360927" name="AutoShape 31"/>
            <p:cNvSpPr>
              <a:spLocks noChangeArrowheads="1"/>
            </p:cNvSpPr>
            <p:nvPr/>
          </p:nvSpPr>
          <p:spPr bwMode="auto">
            <a:xfrm>
              <a:off x="4040" y="1413"/>
              <a:ext cx="1123" cy="1123"/>
            </a:xfrm>
            <a:prstGeom prst="cube">
              <a:avLst>
                <a:gd name="adj" fmla="val 2840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0928" name="Freeform 32"/>
            <p:cNvSpPr>
              <a:spLocks noChangeAspect="1"/>
            </p:cNvSpPr>
            <p:nvPr/>
          </p:nvSpPr>
          <p:spPr bwMode="auto">
            <a:xfrm>
              <a:off x="4200" y="2128"/>
              <a:ext cx="257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29" name="Line 33"/>
            <p:cNvSpPr>
              <a:spLocks noChangeAspect="1" noChangeShapeType="1"/>
            </p:cNvSpPr>
            <p:nvPr/>
          </p:nvSpPr>
          <p:spPr bwMode="auto">
            <a:xfrm flipH="1">
              <a:off x="4221" y="2136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0" name="Freeform 34"/>
            <p:cNvSpPr>
              <a:spLocks noChangeAspect="1"/>
            </p:cNvSpPr>
            <p:nvPr/>
          </p:nvSpPr>
          <p:spPr bwMode="auto">
            <a:xfrm rot="10800000">
              <a:off x="4432" y="1437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1" name="Line 35"/>
            <p:cNvSpPr>
              <a:spLocks noChangeAspect="1" noChangeShapeType="1"/>
            </p:cNvSpPr>
            <p:nvPr/>
          </p:nvSpPr>
          <p:spPr bwMode="auto">
            <a:xfrm rot="10800000" flipH="1">
              <a:off x="4394" y="1562"/>
              <a:ext cx="467" cy="0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2" name="Freeform 36"/>
            <p:cNvSpPr>
              <a:spLocks noChangeAspect="1"/>
            </p:cNvSpPr>
            <p:nvPr/>
          </p:nvSpPr>
          <p:spPr bwMode="auto">
            <a:xfrm>
              <a:off x="4883" y="1848"/>
              <a:ext cx="258" cy="257"/>
            </a:xfrm>
            <a:custGeom>
              <a:avLst/>
              <a:gdLst>
                <a:gd name="T0" fmla="*/ 0 w 326"/>
                <a:gd name="T1" fmla="*/ 325 h 325"/>
                <a:gd name="T2" fmla="*/ 326 w 326"/>
                <a:gd name="T3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6" h="325">
                  <a:moveTo>
                    <a:pt x="0" y="325"/>
                  </a:moveTo>
                  <a:lnTo>
                    <a:pt x="326" y="0"/>
                  </a:lnTo>
                </a:path>
              </a:pathLst>
            </a:custGeom>
            <a:solidFill>
              <a:srgbClr val="CCECFF"/>
            </a:solidFill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3" name="Line 37"/>
            <p:cNvSpPr>
              <a:spLocks noChangeAspect="1" noChangeShapeType="1"/>
            </p:cNvSpPr>
            <p:nvPr/>
          </p:nvSpPr>
          <p:spPr bwMode="auto">
            <a:xfrm rot="10800000">
              <a:off x="4988" y="1759"/>
              <a:ext cx="0" cy="467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4" name="Line 38"/>
            <p:cNvSpPr>
              <a:spLocks noChangeAspect="1" noChangeShapeType="1"/>
            </p:cNvSpPr>
            <p:nvPr/>
          </p:nvSpPr>
          <p:spPr bwMode="auto">
            <a:xfrm rot="10800000">
              <a:off x="4445" y="1871"/>
              <a:ext cx="0" cy="466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5" name="Line 39"/>
            <p:cNvSpPr>
              <a:spLocks noChangeAspect="1" noChangeShapeType="1"/>
            </p:cNvSpPr>
            <p:nvPr/>
          </p:nvSpPr>
          <p:spPr bwMode="auto">
            <a:xfrm>
              <a:off x="4600" y="1118"/>
              <a:ext cx="0" cy="46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36" name="Text Box 40"/>
            <p:cNvSpPr txBox="1">
              <a:spLocks noChangeArrowheads="1"/>
            </p:cNvSpPr>
            <p:nvPr/>
          </p:nvSpPr>
          <p:spPr bwMode="auto">
            <a:xfrm>
              <a:off x="4168" y="2259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0937" name="Text Box 41"/>
            <p:cNvSpPr txBox="1">
              <a:spLocks noChangeArrowheads="1"/>
            </p:cNvSpPr>
            <p:nvPr/>
          </p:nvSpPr>
          <p:spPr bwMode="auto">
            <a:xfrm>
              <a:off x="4383" y="1631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y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0938" name="Text Box 42"/>
            <p:cNvSpPr txBox="1">
              <a:spLocks noChangeArrowheads="1"/>
            </p:cNvSpPr>
            <p:nvPr/>
          </p:nvSpPr>
          <p:spPr bwMode="auto">
            <a:xfrm>
              <a:off x="4642" y="1998"/>
              <a:ext cx="3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i="1" baseline="-2500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xy</a:t>
              </a:r>
            </a:p>
          </p:txBody>
        </p:sp>
        <p:sp>
          <p:nvSpPr>
            <p:cNvPr id="1360939" name="Text Box 43"/>
            <p:cNvSpPr txBox="1">
              <a:spLocks noChangeArrowheads="1"/>
            </p:cNvSpPr>
            <p:nvPr/>
          </p:nvSpPr>
          <p:spPr bwMode="auto">
            <a:xfrm>
              <a:off x="4820" y="1434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  <a:r>
                <a:rPr lang="en-US" altLang="zh-CN" sz="24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400" b="1" i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0940" name="Text Box 44"/>
            <p:cNvSpPr txBox="1">
              <a:spLocks noChangeArrowheads="1"/>
            </p:cNvSpPr>
            <p:nvPr/>
          </p:nvSpPr>
          <p:spPr bwMode="auto">
            <a:xfrm>
              <a:off x="5250" y="1934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x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0941" name="Text Box 45"/>
            <p:cNvSpPr txBox="1">
              <a:spLocks noChangeArrowheads="1"/>
            </p:cNvSpPr>
            <p:nvPr/>
          </p:nvSpPr>
          <p:spPr bwMode="auto">
            <a:xfrm>
              <a:off x="4603" y="1042"/>
              <a:ext cx="2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360942" name="Line 46"/>
            <p:cNvSpPr>
              <a:spLocks noChangeAspect="1" noChangeShapeType="1"/>
            </p:cNvSpPr>
            <p:nvPr/>
          </p:nvSpPr>
          <p:spPr bwMode="auto">
            <a:xfrm flipH="1">
              <a:off x="4981" y="1991"/>
              <a:ext cx="466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0943" name="Text Box 47"/>
          <p:cNvSpPr txBox="1">
            <a:spLocks noChangeArrowheads="1"/>
          </p:cNvSpPr>
          <p:nvPr/>
        </p:nvSpPr>
        <p:spPr bwMode="auto">
          <a:xfrm>
            <a:off x="2570650" y="1252538"/>
            <a:ext cx="227626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747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74650" defTabSz="747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47713" defTabSz="747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122363" defTabSz="747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95425" defTabSz="747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52625" defTabSz="7477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409825" defTabSz="7477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67025" defTabSz="7477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324225" defTabSz="7477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zh-CN" sz="2900" b="1" i="1" dirty="0">
                <a:solidFill>
                  <a:srgbClr val="000066"/>
                </a:solidFill>
                <a:sym typeface="Symbol" pitchFamily="18" charset="2"/>
              </a:rPr>
              <a:t>P</a:t>
            </a:r>
          </a:p>
        </p:txBody>
      </p:sp>
      <p:grpSp>
        <p:nvGrpSpPr>
          <p:cNvPr id="1360944" name="Group 48"/>
          <p:cNvGrpSpPr>
            <a:grpSpLocks/>
          </p:cNvGrpSpPr>
          <p:nvPr/>
        </p:nvGrpSpPr>
        <p:grpSpPr bwMode="auto">
          <a:xfrm>
            <a:off x="441325" y="1109663"/>
            <a:ext cx="5578475" cy="3314700"/>
            <a:chOff x="278" y="659"/>
            <a:chExt cx="3514" cy="2088"/>
          </a:xfrm>
        </p:grpSpPr>
        <p:sp>
          <p:nvSpPr>
            <p:cNvPr id="1360945" name="Text Box 49"/>
            <p:cNvSpPr txBox="1">
              <a:spLocks noChangeArrowheads="1"/>
            </p:cNvSpPr>
            <p:nvPr/>
          </p:nvSpPr>
          <p:spPr bwMode="auto">
            <a:xfrm>
              <a:off x="385" y="2237"/>
              <a:ext cx="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6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</a:p>
          </p:txBody>
        </p:sp>
        <p:sp>
          <p:nvSpPr>
            <p:cNvPr id="1360946" name="Text Box 50"/>
            <p:cNvSpPr txBox="1">
              <a:spLocks noChangeArrowheads="1"/>
            </p:cNvSpPr>
            <p:nvPr/>
          </p:nvSpPr>
          <p:spPr bwMode="auto">
            <a:xfrm>
              <a:off x="1607" y="2358"/>
              <a:ext cx="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6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</a:p>
          </p:txBody>
        </p:sp>
        <p:sp>
          <p:nvSpPr>
            <p:cNvPr id="1360947" name="Freeform 51"/>
            <p:cNvSpPr>
              <a:spLocks/>
            </p:cNvSpPr>
            <p:nvPr/>
          </p:nvSpPr>
          <p:spPr bwMode="auto">
            <a:xfrm>
              <a:off x="2637" y="1693"/>
              <a:ext cx="1" cy="816"/>
            </a:xfrm>
            <a:custGeom>
              <a:avLst/>
              <a:gdLst>
                <a:gd name="T0" fmla="*/ 0 w 1"/>
                <a:gd name="T1" fmla="*/ 0 h 998"/>
                <a:gd name="T2" fmla="*/ 1 w 1"/>
                <a:gd name="T3" fmla="*/ 998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98">
                  <a:moveTo>
                    <a:pt x="0" y="0"/>
                  </a:moveTo>
                  <a:lnTo>
                    <a:pt x="1" y="99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48" name="Freeform 52"/>
            <p:cNvSpPr>
              <a:spLocks/>
            </p:cNvSpPr>
            <p:nvPr/>
          </p:nvSpPr>
          <p:spPr bwMode="auto">
            <a:xfrm>
              <a:off x="1543" y="1280"/>
              <a:ext cx="1099" cy="1234"/>
            </a:xfrm>
            <a:custGeom>
              <a:avLst/>
              <a:gdLst>
                <a:gd name="T0" fmla="*/ 0 w 1343"/>
                <a:gd name="T1" fmla="*/ 0 h 1509"/>
                <a:gd name="T2" fmla="*/ 1343 w 1343"/>
                <a:gd name="T3" fmla="*/ 1509 h 1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43" h="1509">
                  <a:moveTo>
                    <a:pt x="0" y="0"/>
                  </a:moveTo>
                  <a:lnTo>
                    <a:pt x="1343" y="1509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49" name="Text Box 53"/>
            <p:cNvSpPr txBox="1">
              <a:spLocks noChangeArrowheads="1"/>
            </p:cNvSpPr>
            <p:nvPr/>
          </p:nvSpPr>
          <p:spPr bwMode="auto">
            <a:xfrm>
              <a:off x="2450" y="2524"/>
              <a:ext cx="166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M</a:t>
              </a:r>
            </a:p>
          </p:txBody>
        </p:sp>
        <p:sp>
          <p:nvSpPr>
            <p:cNvPr id="1360950" name="Text Box 54"/>
            <p:cNvSpPr txBox="1">
              <a:spLocks noChangeArrowheads="1"/>
            </p:cNvSpPr>
            <p:nvPr/>
          </p:nvSpPr>
          <p:spPr bwMode="auto">
            <a:xfrm>
              <a:off x="2675" y="1935"/>
              <a:ext cx="8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</a:p>
          </p:txBody>
        </p:sp>
        <p:sp>
          <p:nvSpPr>
            <p:cNvPr id="1360951" name="Text Box 55"/>
            <p:cNvSpPr txBox="1">
              <a:spLocks noChangeArrowheads="1"/>
            </p:cNvSpPr>
            <p:nvPr/>
          </p:nvSpPr>
          <p:spPr bwMode="auto">
            <a:xfrm>
              <a:off x="1970" y="1868"/>
              <a:ext cx="133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r">
                <a:lnSpc>
                  <a:spcPct val="100000"/>
                </a:lnSpc>
              </a:pPr>
              <a:r>
                <a:rPr lang="en-US" altLang="zh-CN" sz="23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</a:p>
          </p:txBody>
        </p:sp>
        <p:sp>
          <p:nvSpPr>
            <p:cNvPr id="1360952" name="Text Box 56"/>
            <p:cNvSpPr txBox="1">
              <a:spLocks noChangeArrowheads="1"/>
            </p:cNvSpPr>
            <p:nvPr/>
          </p:nvSpPr>
          <p:spPr bwMode="auto">
            <a:xfrm>
              <a:off x="2444" y="1946"/>
              <a:ext cx="95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l-GR" altLang="zh-CN" sz="23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β</a:t>
              </a:r>
            </a:p>
          </p:txBody>
        </p:sp>
        <p:sp>
          <p:nvSpPr>
            <p:cNvPr id="1360953" name="Oval 57"/>
            <p:cNvSpPr>
              <a:spLocks noChangeArrowheads="1"/>
            </p:cNvSpPr>
            <p:nvPr/>
          </p:nvSpPr>
          <p:spPr bwMode="auto">
            <a:xfrm>
              <a:off x="2596" y="2463"/>
              <a:ext cx="74" cy="74"/>
            </a:xfrm>
            <a:prstGeom prst="ellipse">
              <a:avLst/>
            </a:prstGeom>
            <a:solidFill>
              <a:srgbClr val="990033"/>
            </a:solidFill>
            <a:ln w="5715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54" name="Line 58"/>
            <p:cNvSpPr>
              <a:spLocks noChangeShapeType="1"/>
            </p:cNvSpPr>
            <p:nvPr/>
          </p:nvSpPr>
          <p:spPr bwMode="auto">
            <a:xfrm>
              <a:off x="1541" y="1285"/>
              <a:ext cx="0" cy="12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55" name="Freeform 59"/>
            <p:cNvSpPr>
              <a:spLocks/>
            </p:cNvSpPr>
            <p:nvPr/>
          </p:nvSpPr>
          <p:spPr bwMode="auto">
            <a:xfrm>
              <a:off x="2429" y="2188"/>
              <a:ext cx="210" cy="94"/>
            </a:xfrm>
            <a:custGeom>
              <a:avLst/>
              <a:gdLst>
                <a:gd name="T0" fmla="*/ 0 w 210"/>
                <a:gd name="T1" fmla="*/ 94 h 94"/>
                <a:gd name="T2" fmla="*/ 37 w 210"/>
                <a:gd name="T3" fmla="*/ 37 h 94"/>
                <a:gd name="T4" fmla="*/ 91 w 210"/>
                <a:gd name="T5" fmla="*/ 5 h 94"/>
                <a:gd name="T6" fmla="*/ 150 w 210"/>
                <a:gd name="T7" fmla="*/ 5 h 94"/>
                <a:gd name="T8" fmla="*/ 210 w 210"/>
                <a:gd name="T9" fmla="*/ 2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94">
                  <a:moveTo>
                    <a:pt x="0" y="94"/>
                  </a:moveTo>
                  <a:cubicBezTo>
                    <a:pt x="6" y="84"/>
                    <a:pt x="22" y="52"/>
                    <a:pt x="37" y="37"/>
                  </a:cubicBezTo>
                  <a:cubicBezTo>
                    <a:pt x="52" y="22"/>
                    <a:pt x="72" y="10"/>
                    <a:pt x="91" y="5"/>
                  </a:cubicBezTo>
                  <a:cubicBezTo>
                    <a:pt x="110" y="0"/>
                    <a:pt x="130" y="2"/>
                    <a:pt x="150" y="5"/>
                  </a:cubicBezTo>
                  <a:cubicBezTo>
                    <a:pt x="170" y="8"/>
                    <a:pt x="198" y="20"/>
                    <a:pt x="210" y="24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56" name="AutoShape 60"/>
            <p:cNvSpPr>
              <a:spLocks noChangeArrowheads="1"/>
            </p:cNvSpPr>
            <p:nvPr/>
          </p:nvSpPr>
          <p:spPr bwMode="auto">
            <a:xfrm>
              <a:off x="278" y="1061"/>
              <a:ext cx="3514" cy="951"/>
            </a:xfrm>
            <a:prstGeom prst="parallelogram">
              <a:avLst>
                <a:gd name="adj" fmla="val 113982"/>
              </a:avLst>
            </a:prstGeom>
            <a:solidFill>
              <a:srgbClr val="FFCC99">
                <a:alpha val="63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0957" name="Freeform 61"/>
            <p:cNvSpPr>
              <a:spLocks/>
            </p:cNvSpPr>
            <p:nvPr/>
          </p:nvSpPr>
          <p:spPr bwMode="auto">
            <a:xfrm>
              <a:off x="438" y="1281"/>
              <a:ext cx="3124" cy="960"/>
            </a:xfrm>
            <a:custGeom>
              <a:avLst/>
              <a:gdLst>
                <a:gd name="T0" fmla="*/ 0 w 3245"/>
                <a:gd name="T1" fmla="*/ 960 h 960"/>
                <a:gd name="T2" fmla="*/ 1152 w 3245"/>
                <a:gd name="T3" fmla="*/ 0 h 960"/>
                <a:gd name="T4" fmla="*/ 3245 w 3245"/>
                <a:gd name="T5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45" h="960">
                  <a:moveTo>
                    <a:pt x="0" y="960"/>
                  </a:moveTo>
                  <a:lnTo>
                    <a:pt x="1152" y="0"/>
                  </a:lnTo>
                  <a:lnTo>
                    <a:pt x="324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58" name="Text Box 62"/>
            <p:cNvSpPr txBox="1">
              <a:spLocks noChangeArrowheads="1"/>
            </p:cNvSpPr>
            <p:nvPr/>
          </p:nvSpPr>
          <p:spPr bwMode="auto">
            <a:xfrm>
              <a:off x="3535" y="997"/>
              <a:ext cx="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6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1360959" name="Line 63"/>
            <p:cNvSpPr>
              <a:spLocks noChangeShapeType="1"/>
            </p:cNvSpPr>
            <p:nvPr/>
          </p:nvSpPr>
          <p:spPr bwMode="auto">
            <a:xfrm>
              <a:off x="1075" y="1694"/>
              <a:ext cx="155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60" name="Text Box 64"/>
            <p:cNvSpPr txBox="1">
              <a:spLocks noChangeArrowheads="1"/>
            </p:cNvSpPr>
            <p:nvPr/>
          </p:nvSpPr>
          <p:spPr bwMode="auto">
            <a:xfrm>
              <a:off x="1698" y="1648"/>
              <a:ext cx="92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1360961" name="Text Box 65"/>
            <p:cNvSpPr txBox="1">
              <a:spLocks noChangeArrowheads="1"/>
            </p:cNvSpPr>
            <p:nvPr/>
          </p:nvSpPr>
          <p:spPr bwMode="auto">
            <a:xfrm>
              <a:off x="1370" y="1096"/>
              <a:ext cx="1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6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o</a:t>
              </a:r>
            </a:p>
          </p:txBody>
        </p:sp>
        <p:sp>
          <p:nvSpPr>
            <p:cNvPr id="1360962" name="Freeform 66"/>
            <p:cNvSpPr>
              <a:spLocks/>
            </p:cNvSpPr>
            <p:nvPr/>
          </p:nvSpPr>
          <p:spPr bwMode="auto">
            <a:xfrm>
              <a:off x="1541" y="1280"/>
              <a:ext cx="1096" cy="413"/>
            </a:xfrm>
            <a:custGeom>
              <a:avLst/>
              <a:gdLst>
                <a:gd name="T0" fmla="*/ 0 w 1340"/>
                <a:gd name="T1" fmla="*/ 0 h 505"/>
                <a:gd name="T2" fmla="*/ 1340 w 1340"/>
                <a:gd name="T3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40" h="505">
                  <a:moveTo>
                    <a:pt x="0" y="0"/>
                  </a:moveTo>
                  <a:lnTo>
                    <a:pt x="1340" y="505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63" name="Text Box 67"/>
            <p:cNvSpPr txBox="1">
              <a:spLocks noChangeArrowheads="1"/>
            </p:cNvSpPr>
            <p:nvPr/>
          </p:nvSpPr>
          <p:spPr bwMode="auto">
            <a:xfrm>
              <a:off x="2143" y="1323"/>
              <a:ext cx="11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</a:p>
          </p:txBody>
        </p:sp>
        <p:sp>
          <p:nvSpPr>
            <p:cNvPr id="1360964" name="Text Box 68"/>
            <p:cNvSpPr txBox="1">
              <a:spLocks noChangeArrowheads="1"/>
            </p:cNvSpPr>
            <p:nvPr/>
          </p:nvSpPr>
          <p:spPr bwMode="auto">
            <a:xfrm>
              <a:off x="1949" y="1219"/>
              <a:ext cx="10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l-GR" altLang="zh-CN" sz="23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α</a:t>
              </a:r>
            </a:p>
          </p:txBody>
        </p:sp>
        <p:sp>
          <p:nvSpPr>
            <p:cNvPr id="1360965" name="Freeform 69"/>
            <p:cNvSpPr>
              <a:spLocks/>
            </p:cNvSpPr>
            <p:nvPr/>
          </p:nvSpPr>
          <p:spPr bwMode="auto">
            <a:xfrm>
              <a:off x="1818" y="1281"/>
              <a:ext cx="18" cy="105"/>
            </a:xfrm>
            <a:custGeom>
              <a:avLst/>
              <a:gdLst>
                <a:gd name="T0" fmla="*/ 0 w 18"/>
                <a:gd name="T1" fmla="*/ 0 h 105"/>
                <a:gd name="T2" fmla="*/ 17 w 18"/>
                <a:gd name="T3" fmla="*/ 49 h 105"/>
                <a:gd name="T4" fmla="*/ 5 w 18"/>
                <a:gd name="T5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105">
                  <a:moveTo>
                    <a:pt x="0" y="0"/>
                  </a:moveTo>
                  <a:cubicBezTo>
                    <a:pt x="3" y="8"/>
                    <a:pt x="16" y="32"/>
                    <a:pt x="17" y="49"/>
                  </a:cubicBezTo>
                  <a:cubicBezTo>
                    <a:pt x="18" y="66"/>
                    <a:pt x="7" y="93"/>
                    <a:pt x="5" y="10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66" name="Line 70"/>
            <p:cNvSpPr>
              <a:spLocks noChangeShapeType="1"/>
            </p:cNvSpPr>
            <p:nvPr/>
          </p:nvSpPr>
          <p:spPr bwMode="auto">
            <a:xfrm flipH="1">
              <a:off x="547" y="1522"/>
              <a:ext cx="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67" name="Text Box 71"/>
            <p:cNvSpPr txBox="1">
              <a:spLocks noChangeArrowheads="1"/>
            </p:cNvSpPr>
            <p:nvPr/>
          </p:nvSpPr>
          <p:spPr bwMode="auto">
            <a:xfrm>
              <a:off x="531" y="1132"/>
              <a:ext cx="32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360968" name="Text Box 72"/>
            <p:cNvSpPr txBox="1">
              <a:spLocks noChangeArrowheads="1"/>
            </p:cNvSpPr>
            <p:nvPr/>
          </p:nvSpPr>
          <p:spPr bwMode="auto">
            <a:xfrm>
              <a:off x="2675" y="1643"/>
              <a:ext cx="22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i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M</a:t>
              </a:r>
            </a:p>
          </p:txBody>
        </p:sp>
        <p:sp>
          <p:nvSpPr>
            <p:cNvPr id="1360969" name="Freeform 73"/>
            <p:cNvSpPr>
              <a:spLocks/>
            </p:cNvSpPr>
            <p:nvPr/>
          </p:nvSpPr>
          <p:spPr bwMode="auto">
            <a:xfrm>
              <a:off x="2632" y="1282"/>
              <a:ext cx="521" cy="416"/>
            </a:xfrm>
            <a:custGeom>
              <a:avLst/>
              <a:gdLst>
                <a:gd name="T0" fmla="*/ 0 w 637"/>
                <a:gd name="T1" fmla="*/ 509 h 509"/>
                <a:gd name="T2" fmla="*/ 637 w 637"/>
                <a:gd name="T3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7" h="509">
                  <a:moveTo>
                    <a:pt x="0" y="509"/>
                  </a:moveTo>
                  <a:lnTo>
                    <a:pt x="637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0970" name="Text Box 74"/>
            <p:cNvSpPr txBox="1">
              <a:spLocks noChangeArrowheads="1"/>
            </p:cNvSpPr>
            <p:nvPr/>
          </p:nvSpPr>
          <p:spPr bwMode="auto">
            <a:xfrm>
              <a:off x="2731" y="1316"/>
              <a:ext cx="8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74650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4771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22363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495425" defTabSz="7477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19526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098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8670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24225" defTabSz="7477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zh-CN" sz="23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y</a:t>
              </a:r>
            </a:p>
          </p:txBody>
        </p:sp>
        <p:sp>
          <p:nvSpPr>
            <p:cNvPr id="1360971" name="Line 75"/>
            <p:cNvSpPr>
              <a:spLocks noChangeShapeType="1"/>
            </p:cNvSpPr>
            <p:nvPr/>
          </p:nvSpPr>
          <p:spPr bwMode="auto">
            <a:xfrm rot="-5400000">
              <a:off x="2327" y="878"/>
              <a:ext cx="149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72" name="Text Box 76"/>
            <p:cNvSpPr txBox="1">
              <a:spLocks noChangeArrowheads="1"/>
            </p:cNvSpPr>
            <p:nvPr/>
          </p:nvSpPr>
          <p:spPr bwMode="auto">
            <a:xfrm>
              <a:off x="2453" y="659"/>
              <a:ext cx="32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1360973" name="Line 77"/>
          <p:cNvSpPr>
            <a:spLocks noChangeShapeType="1"/>
          </p:cNvSpPr>
          <p:nvPr/>
        </p:nvSpPr>
        <p:spPr bwMode="auto">
          <a:xfrm flipV="1">
            <a:off x="4351338" y="3432175"/>
            <a:ext cx="1714500" cy="566738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0974" name="Freeform 78"/>
          <p:cNvSpPr>
            <a:spLocks/>
          </p:cNvSpPr>
          <p:nvPr/>
        </p:nvSpPr>
        <p:spPr bwMode="auto">
          <a:xfrm>
            <a:off x="2439988" y="1392238"/>
            <a:ext cx="1587" cy="671512"/>
          </a:xfrm>
          <a:custGeom>
            <a:avLst/>
            <a:gdLst>
              <a:gd name="T0" fmla="*/ 1 w 1"/>
              <a:gd name="T1" fmla="*/ 0 h 517"/>
              <a:gd name="T2" fmla="*/ 0 w 1"/>
              <a:gd name="T3" fmla="*/ 517 h 51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17">
                <a:moveTo>
                  <a:pt x="1" y="0"/>
                </a:moveTo>
                <a:lnTo>
                  <a:pt x="0" y="517"/>
                </a:lnTo>
              </a:path>
            </a:pathLst>
          </a:custGeom>
          <a:noFill/>
          <a:ln w="10160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-1" y="0"/>
            <a:ext cx="417671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60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60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60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60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60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6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6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60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60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60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609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60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60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6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60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60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60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0921" grpId="0" animBg="1"/>
      <p:bldP spid="1360923" grpId="0"/>
      <p:bldP spid="1360925" grpId="0"/>
      <p:bldP spid="1360943" grpId="0"/>
      <p:bldP spid="1360973" grpId="0" animBg="1"/>
      <p:bldP spid="136097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087" name="Rectangle 167"/>
          <p:cNvSpPr>
            <a:spLocks noChangeArrowheads="1"/>
          </p:cNvSpPr>
          <p:nvPr/>
        </p:nvSpPr>
        <p:spPr bwMode="auto">
          <a:xfrm>
            <a:off x="2971801" y="3565525"/>
            <a:ext cx="2447924" cy="976313"/>
          </a:xfrm>
          <a:prstGeom prst="rect">
            <a:avLst/>
          </a:prstGeom>
          <a:solidFill>
            <a:srgbClr val="FFC58B"/>
          </a:solidFill>
          <a:ln w="28575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2088" name="Rectangle 168"/>
          <p:cNvSpPr>
            <a:spLocks noChangeArrowheads="1"/>
          </p:cNvSpPr>
          <p:nvPr/>
        </p:nvSpPr>
        <p:spPr bwMode="auto">
          <a:xfrm>
            <a:off x="682625" y="1333500"/>
            <a:ext cx="7083425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41325" indent="-44132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法国数学家布辛内斯克（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J. Boussinesq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1885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年推出了该问题的理论解，包括六个应力分量和三个方向位移的表达式</a:t>
            </a:r>
            <a:endParaRPr kumimoji="1" lang="en-US" altLang="zh-CN" sz="24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62089" name="Text Box 169"/>
          <p:cNvSpPr txBox="1">
            <a:spLocks noChangeArrowheads="1"/>
          </p:cNvSpPr>
          <p:nvPr/>
        </p:nvSpPr>
        <p:spPr bwMode="auto">
          <a:xfrm>
            <a:off x="6535738" y="2549525"/>
            <a:ext cx="20762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教材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</a:rPr>
              <a:t>P98~99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页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62090" name="AutoShape 170"/>
          <p:cNvSpPr>
            <a:spLocks noChangeArrowheads="1"/>
          </p:cNvSpPr>
          <p:nvPr/>
        </p:nvSpPr>
        <p:spPr bwMode="auto">
          <a:xfrm>
            <a:off x="6010275" y="2551113"/>
            <a:ext cx="468313" cy="382587"/>
          </a:xfrm>
          <a:prstGeom prst="homePlate">
            <a:avLst>
              <a:gd name="adj" fmla="val 3060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2091" name="Rectangle 171"/>
          <p:cNvSpPr>
            <a:spLocks noChangeArrowheads="1"/>
          </p:cNvSpPr>
          <p:nvPr/>
        </p:nvSpPr>
        <p:spPr bwMode="auto">
          <a:xfrm>
            <a:off x="2638425" y="5792788"/>
            <a:ext cx="4770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  <p:sp>
        <p:nvSpPr>
          <p:cNvPr id="1362092" name="Text Box 172"/>
          <p:cNvSpPr txBox="1">
            <a:spLocks noChangeArrowheads="1"/>
          </p:cNvSpPr>
          <p:nvPr/>
        </p:nvSpPr>
        <p:spPr bwMode="auto">
          <a:xfrm>
            <a:off x="376238" y="641350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62093" name="Rectangle 173"/>
          <p:cNvSpPr>
            <a:spLocks noChangeArrowheads="1"/>
          </p:cNvSpPr>
          <p:nvPr/>
        </p:nvSpPr>
        <p:spPr bwMode="auto">
          <a:xfrm>
            <a:off x="669925" y="2895600"/>
            <a:ext cx="371633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41325" indent="-44132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其中，竖向应力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：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62094" name="Text Box 174"/>
          <p:cNvSpPr txBox="1">
            <a:spLocks noChangeArrowheads="1"/>
          </p:cNvSpPr>
          <p:nvPr/>
        </p:nvSpPr>
        <p:spPr bwMode="auto">
          <a:xfrm>
            <a:off x="4964113" y="4749800"/>
            <a:ext cx="39661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集中力作用下的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应力分布系数 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查图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－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23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362095" name="Object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599207"/>
              </p:ext>
            </p:extLst>
          </p:nvPr>
        </p:nvGraphicFramePr>
        <p:xfrm>
          <a:off x="966788" y="3535363"/>
          <a:ext cx="60023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202" name="公式" r:id="rId3" imgW="2730240" imgH="431640" progId="Equation.3">
                  <p:embed/>
                </p:oleObj>
              </mc:Choice>
              <mc:Fallback>
                <p:oleObj name="公式" r:id="rId3" imgW="2730240" imgH="431640" progId="Equation.3">
                  <p:embed/>
                  <p:pic>
                    <p:nvPicPr>
                      <p:cNvPr id="0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3535363"/>
                        <a:ext cx="60023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96" name="Freeform 176"/>
          <p:cNvSpPr>
            <a:spLocks/>
          </p:cNvSpPr>
          <p:nvPr/>
        </p:nvSpPr>
        <p:spPr bwMode="auto">
          <a:xfrm>
            <a:off x="3763963" y="4587875"/>
            <a:ext cx="1082675" cy="44132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57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36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2000"/>
                                        <p:tgtEl>
                                          <p:spTgt spid="136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0"/>
                                        <p:tgtEl>
                                          <p:spTgt spid="136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62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62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2000"/>
                                        <p:tgtEl>
                                          <p:spTgt spid="136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362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362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6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6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36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87" grpId="0" animBg="1"/>
      <p:bldP spid="1362088" grpId="0"/>
      <p:bldP spid="1362089" grpId="0"/>
      <p:bldP spid="1362090" grpId="0" animBg="1"/>
      <p:bldP spid="1362092" grpId="0"/>
      <p:bldP spid="1362093" grpId="0"/>
      <p:bldP spid="1362094" grpId="0"/>
      <p:bldP spid="136209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48"/>
          <p:cNvSpPr>
            <a:spLocks noChangeArrowheads="1"/>
          </p:cNvSpPr>
          <p:nvPr/>
        </p:nvSpPr>
        <p:spPr bwMode="auto">
          <a:xfrm>
            <a:off x="1009650" y="3219450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1363210" name="Group 266"/>
          <p:cNvGrpSpPr>
            <a:grpSpLocks/>
          </p:cNvGrpSpPr>
          <p:nvPr/>
        </p:nvGrpSpPr>
        <p:grpSpPr bwMode="auto">
          <a:xfrm>
            <a:off x="4281488" y="1851025"/>
            <a:ext cx="4760912" cy="4214813"/>
            <a:chOff x="2683" y="761"/>
            <a:chExt cx="2999" cy="2530"/>
          </a:xfrm>
        </p:grpSpPr>
        <p:sp>
          <p:nvSpPr>
            <p:cNvPr id="1363211" name="Rectangle 267"/>
            <p:cNvSpPr>
              <a:spLocks noChangeArrowheads="1"/>
            </p:cNvSpPr>
            <p:nvPr/>
          </p:nvSpPr>
          <p:spPr bwMode="auto">
            <a:xfrm>
              <a:off x="2683" y="761"/>
              <a:ext cx="2999" cy="25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212" name="Line 268"/>
            <p:cNvSpPr>
              <a:spLocks noChangeShapeType="1"/>
            </p:cNvSpPr>
            <p:nvPr/>
          </p:nvSpPr>
          <p:spPr bwMode="auto">
            <a:xfrm>
              <a:off x="2862" y="1474"/>
              <a:ext cx="2747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63213" name="Group 269"/>
            <p:cNvGrpSpPr>
              <a:grpSpLocks/>
            </p:cNvGrpSpPr>
            <p:nvPr/>
          </p:nvGrpSpPr>
          <p:grpSpPr bwMode="auto">
            <a:xfrm>
              <a:off x="2862" y="853"/>
              <a:ext cx="2745" cy="662"/>
              <a:chOff x="2862" y="853"/>
              <a:chExt cx="2745" cy="662"/>
            </a:xfrm>
          </p:grpSpPr>
          <p:sp>
            <p:nvSpPr>
              <p:cNvPr id="1363214" name="Line 270"/>
              <p:cNvSpPr>
                <a:spLocks noChangeShapeType="1"/>
              </p:cNvSpPr>
              <p:nvPr/>
            </p:nvSpPr>
            <p:spPr bwMode="auto">
              <a:xfrm flipV="1">
                <a:off x="2862" y="1507"/>
                <a:ext cx="2745" cy="8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CC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3215" name="Line 271"/>
              <p:cNvSpPr>
                <a:spLocks noChangeShapeType="1"/>
              </p:cNvSpPr>
              <p:nvPr/>
            </p:nvSpPr>
            <p:spPr bwMode="auto">
              <a:xfrm>
                <a:off x="4675" y="912"/>
                <a:ext cx="0" cy="546"/>
              </a:xfrm>
              <a:prstGeom prst="line">
                <a:avLst/>
              </a:prstGeom>
              <a:noFill/>
              <a:ln w="76200">
                <a:solidFill>
                  <a:srgbClr val="080808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3216" name="Text Box 272"/>
              <p:cNvSpPr txBox="1">
                <a:spLocks noChangeArrowheads="1"/>
              </p:cNvSpPr>
              <p:nvPr/>
            </p:nvSpPr>
            <p:spPr bwMode="auto">
              <a:xfrm>
                <a:off x="4744" y="853"/>
                <a:ext cx="204" cy="2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</p:grpSp>
      </p:grpSp>
      <p:sp>
        <p:nvSpPr>
          <p:cNvPr id="1363217" name="Rectangle 273"/>
          <p:cNvSpPr>
            <a:spLocks noChangeArrowheads="1"/>
          </p:cNvSpPr>
          <p:nvPr/>
        </p:nvSpPr>
        <p:spPr bwMode="auto">
          <a:xfrm>
            <a:off x="2405856" y="583659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  <p:graphicFrame>
        <p:nvGraphicFramePr>
          <p:cNvPr id="1363222" name="Object 2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112659"/>
              </p:ext>
            </p:extLst>
          </p:nvPr>
        </p:nvGraphicFramePr>
        <p:xfrm>
          <a:off x="331788" y="1181100"/>
          <a:ext cx="39147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65" name="公式" r:id="rId3" imgW="2145960" imgH="419040" progId="Equation.3">
                  <p:embed/>
                </p:oleObj>
              </mc:Choice>
              <mc:Fallback>
                <p:oleObj name="公式" r:id="rId3" imgW="2145960" imgH="419040" progId="Equation.3">
                  <p:embed/>
                  <p:pic>
                    <p:nvPicPr>
                      <p:cNvPr id="0" name="Object 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1181100"/>
                        <a:ext cx="391477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3224" name="Group 280"/>
          <p:cNvGrpSpPr>
            <a:grpSpLocks/>
          </p:cNvGrpSpPr>
          <p:nvPr/>
        </p:nvGrpSpPr>
        <p:grpSpPr bwMode="auto">
          <a:xfrm>
            <a:off x="7440613" y="3041650"/>
            <a:ext cx="1447800" cy="2551113"/>
            <a:chOff x="4673" y="1470"/>
            <a:chExt cx="912" cy="1607"/>
          </a:xfrm>
        </p:grpSpPr>
        <p:grpSp>
          <p:nvGrpSpPr>
            <p:cNvPr id="1363225" name="Group 281"/>
            <p:cNvGrpSpPr>
              <a:grpSpLocks/>
            </p:cNvGrpSpPr>
            <p:nvPr/>
          </p:nvGrpSpPr>
          <p:grpSpPr bwMode="auto">
            <a:xfrm>
              <a:off x="4673" y="1517"/>
              <a:ext cx="912" cy="1456"/>
              <a:chOff x="4659" y="1328"/>
              <a:chExt cx="912" cy="1456"/>
            </a:xfrm>
          </p:grpSpPr>
          <p:sp>
            <p:nvSpPr>
              <p:cNvPr id="1363226" name="Freeform 282" descr="浅色横线"/>
              <p:cNvSpPr>
                <a:spLocks/>
              </p:cNvSpPr>
              <p:nvPr/>
            </p:nvSpPr>
            <p:spPr bwMode="auto">
              <a:xfrm>
                <a:off x="4659" y="1328"/>
                <a:ext cx="912" cy="1453"/>
              </a:xfrm>
              <a:custGeom>
                <a:avLst/>
                <a:gdLst>
                  <a:gd name="T0" fmla="*/ 77 w 912"/>
                  <a:gd name="T1" fmla="*/ 1453 h 1453"/>
                  <a:gd name="T2" fmla="*/ 0 w 912"/>
                  <a:gd name="T3" fmla="*/ 1453 h 1453"/>
                  <a:gd name="T4" fmla="*/ 0 w 912"/>
                  <a:gd name="T5" fmla="*/ 0 h 1453"/>
                  <a:gd name="T6" fmla="*/ 912 w 912"/>
                  <a:gd name="T7" fmla="*/ 0 h 1453"/>
                  <a:gd name="T8" fmla="*/ 899 w 912"/>
                  <a:gd name="T9" fmla="*/ 22 h 1453"/>
                  <a:gd name="T10" fmla="*/ 848 w 912"/>
                  <a:gd name="T11" fmla="*/ 51 h 1453"/>
                  <a:gd name="T12" fmla="*/ 621 w 912"/>
                  <a:gd name="T13" fmla="*/ 154 h 1453"/>
                  <a:gd name="T14" fmla="*/ 423 w 912"/>
                  <a:gd name="T15" fmla="*/ 301 h 1453"/>
                  <a:gd name="T16" fmla="*/ 272 w 912"/>
                  <a:gd name="T17" fmla="*/ 474 h 1453"/>
                  <a:gd name="T18" fmla="*/ 173 w 912"/>
                  <a:gd name="T19" fmla="*/ 650 h 1453"/>
                  <a:gd name="T20" fmla="*/ 115 w 912"/>
                  <a:gd name="T21" fmla="*/ 893 h 1453"/>
                  <a:gd name="T22" fmla="*/ 93 w 912"/>
                  <a:gd name="T23" fmla="*/ 1094 h 1453"/>
                  <a:gd name="T24" fmla="*/ 80 w 912"/>
                  <a:gd name="T25" fmla="*/ 1357 h 1453"/>
                  <a:gd name="T26" fmla="*/ 77 w 912"/>
                  <a:gd name="T27" fmla="*/ 1453 h 1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12" h="1453">
                    <a:moveTo>
                      <a:pt x="77" y="1453"/>
                    </a:moveTo>
                    <a:lnTo>
                      <a:pt x="0" y="1453"/>
                    </a:lnTo>
                    <a:lnTo>
                      <a:pt x="0" y="0"/>
                    </a:lnTo>
                    <a:lnTo>
                      <a:pt x="912" y="0"/>
                    </a:lnTo>
                    <a:lnTo>
                      <a:pt x="899" y="22"/>
                    </a:lnTo>
                    <a:lnTo>
                      <a:pt x="848" y="51"/>
                    </a:lnTo>
                    <a:lnTo>
                      <a:pt x="621" y="154"/>
                    </a:lnTo>
                    <a:lnTo>
                      <a:pt x="423" y="301"/>
                    </a:lnTo>
                    <a:lnTo>
                      <a:pt x="272" y="474"/>
                    </a:lnTo>
                    <a:lnTo>
                      <a:pt x="173" y="650"/>
                    </a:lnTo>
                    <a:lnTo>
                      <a:pt x="115" y="893"/>
                    </a:lnTo>
                    <a:lnTo>
                      <a:pt x="93" y="1094"/>
                    </a:lnTo>
                    <a:lnTo>
                      <a:pt x="80" y="1357"/>
                    </a:lnTo>
                    <a:lnTo>
                      <a:pt x="77" y="1453"/>
                    </a:lnTo>
                    <a:close/>
                  </a:path>
                </a:pathLst>
              </a:custGeom>
              <a:pattFill prst="ltHorz">
                <a:fgClr>
                  <a:schemeClr val="tx2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3227" name="Freeform 283"/>
              <p:cNvSpPr>
                <a:spLocks/>
              </p:cNvSpPr>
              <p:nvPr/>
            </p:nvSpPr>
            <p:spPr bwMode="auto">
              <a:xfrm>
                <a:off x="4736" y="1375"/>
                <a:ext cx="789" cy="1409"/>
              </a:xfrm>
              <a:custGeom>
                <a:avLst/>
                <a:gdLst>
                  <a:gd name="T0" fmla="*/ 789 w 789"/>
                  <a:gd name="T1" fmla="*/ 0 h 1310"/>
                  <a:gd name="T2" fmla="*/ 672 w 789"/>
                  <a:gd name="T3" fmla="*/ 46 h 1310"/>
                  <a:gd name="T4" fmla="*/ 573 w 789"/>
                  <a:gd name="T5" fmla="*/ 90 h 1310"/>
                  <a:gd name="T6" fmla="*/ 469 w 789"/>
                  <a:gd name="T7" fmla="*/ 145 h 1310"/>
                  <a:gd name="T8" fmla="*/ 372 w 789"/>
                  <a:gd name="T9" fmla="*/ 214 h 1310"/>
                  <a:gd name="T10" fmla="*/ 274 w 789"/>
                  <a:gd name="T11" fmla="*/ 304 h 1310"/>
                  <a:gd name="T12" fmla="*/ 227 w 789"/>
                  <a:gd name="T13" fmla="*/ 360 h 1310"/>
                  <a:gd name="T14" fmla="*/ 175 w 789"/>
                  <a:gd name="T15" fmla="*/ 429 h 1310"/>
                  <a:gd name="T16" fmla="*/ 120 w 789"/>
                  <a:gd name="T17" fmla="*/ 526 h 1310"/>
                  <a:gd name="T18" fmla="*/ 77 w 789"/>
                  <a:gd name="T19" fmla="*/ 628 h 1310"/>
                  <a:gd name="T20" fmla="*/ 48 w 789"/>
                  <a:gd name="T21" fmla="*/ 748 h 1310"/>
                  <a:gd name="T22" fmla="*/ 22 w 789"/>
                  <a:gd name="T23" fmla="*/ 894 h 1310"/>
                  <a:gd name="T24" fmla="*/ 10 w 789"/>
                  <a:gd name="T25" fmla="*/ 1031 h 1310"/>
                  <a:gd name="T26" fmla="*/ 3 w 789"/>
                  <a:gd name="T27" fmla="*/ 1166 h 1310"/>
                  <a:gd name="T28" fmla="*/ 0 w 789"/>
                  <a:gd name="T29" fmla="*/ 1310 h 1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9" h="1310">
                    <a:moveTo>
                      <a:pt x="789" y="0"/>
                    </a:moveTo>
                    <a:cubicBezTo>
                      <a:pt x="770" y="8"/>
                      <a:pt x="708" y="31"/>
                      <a:pt x="672" y="46"/>
                    </a:cubicBezTo>
                    <a:cubicBezTo>
                      <a:pt x="636" y="61"/>
                      <a:pt x="607" y="74"/>
                      <a:pt x="573" y="90"/>
                    </a:cubicBezTo>
                    <a:cubicBezTo>
                      <a:pt x="539" y="106"/>
                      <a:pt x="502" y="124"/>
                      <a:pt x="469" y="145"/>
                    </a:cubicBezTo>
                    <a:cubicBezTo>
                      <a:pt x="436" y="166"/>
                      <a:pt x="405" y="188"/>
                      <a:pt x="372" y="214"/>
                    </a:cubicBezTo>
                    <a:cubicBezTo>
                      <a:pt x="339" y="241"/>
                      <a:pt x="299" y="279"/>
                      <a:pt x="274" y="304"/>
                    </a:cubicBezTo>
                    <a:cubicBezTo>
                      <a:pt x="250" y="329"/>
                      <a:pt x="244" y="339"/>
                      <a:pt x="227" y="360"/>
                    </a:cubicBezTo>
                    <a:cubicBezTo>
                      <a:pt x="210" y="381"/>
                      <a:pt x="193" y="401"/>
                      <a:pt x="175" y="429"/>
                    </a:cubicBezTo>
                    <a:cubicBezTo>
                      <a:pt x="157" y="456"/>
                      <a:pt x="136" y="492"/>
                      <a:pt x="120" y="526"/>
                    </a:cubicBezTo>
                    <a:cubicBezTo>
                      <a:pt x="104" y="560"/>
                      <a:pt x="89" y="591"/>
                      <a:pt x="77" y="628"/>
                    </a:cubicBezTo>
                    <a:cubicBezTo>
                      <a:pt x="66" y="666"/>
                      <a:pt x="57" y="704"/>
                      <a:pt x="48" y="748"/>
                    </a:cubicBezTo>
                    <a:cubicBezTo>
                      <a:pt x="39" y="792"/>
                      <a:pt x="28" y="847"/>
                      <a:pt x="22" y="894"/>
                    </a:cubicBezTo>
                    <a:cubicBezTo>
                      <a:pt x="16" y="941"/>
                      <a:pt x="13" y="986"/>
                      <a:pt x="10" y="1031"/>
                    </a:cubicBezTo>
                    <a:cubicBezTo>
                      <a:pt x="7" y="1076"/>
                      <a:pt x="5" y="1120"/>
                      <a:pt x="3" y="1166"/>
                    </a:cubicBezTo>
                    <a:cubicBezTo>
                      <a:pt x="1" y="1212"/>
                      <a:pt x="1" y="1280"/>
                      <a:pt x="0" y="1310"/>
                    </a:cubicBezTo>
                  </a:path>
                </a:pathLst>
              </a:custGeom>
              <a:noFill/>
              <a:ln w="22860" cap="flat" cmpd="sng">
                <a:solidFill>
                  <a:srgbClr val="0000FF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63228" name="Line 284"/>
            <p:cNvSpPr>
              <a:spLocks noChangeShapeType="1"/>
            </p:cNvSpPr>
            <p:nvPr/>
          </p:nvSpPr>
          <p:spPr bwMode="auto">
            <a:xfrm>
              <a:off x="4679" y="1470"/>
              <a:ext cx="0" cy="1607"/>
            </a:xfrm>
            <a:prstGeom prst="line">
              <a:avLst/>
            </a:prstGeom>
            <a:noFill/>
            <a:ln w="2286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3244" name="Text Box 300"/>
          <p:cNvSpPr txBox="1">
            <a:spLocks noChangeArrowheads="1"/>
          </p:cNvSpPr>
          <p:nvPr/>
        </p:nvSpPr>
        <p:spPr bwMode="auto">
          <a:xfrm>
            <a:off x="385763" y="53022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63257" name="Text Box 313"/>
          <p:cNvSpPr txBox="1">
            <a:spLocks noChangeArrowheads="1"/>
          </p:cNvSpPr>
          <p:nvPr/>
        </p:nvSpPr>
        <p:spPr bwMode="auto">
          <a:xfrm>
            <a:off x="4930775" y="1348367"/>
            <a:ext cx="3976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45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108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8767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448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20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592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164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幼圆" pitchFamily="49" charset="-122"/>
              <a:buNone/>
            </a:pP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无关，呈轴对称分布</a:t>
            </a:r>
          </a:p>
        </p:txBody>
      </p:sp>
      <p:sp>
        <p:nvSpPr>
          <p:cNvPr id="1363258" name="AutoShape 314"/>
          <p:cNvSpPr>
            <a:spLocks noChangeArrowheads="1"/>
          </p:cNvSpPr>
          <p:nvPr/>
        </p:nvSpPr>
        <p:spPr bwMode="auto">
          <a:xfrm>
            <a:off x="4322762" y="1370592"/>
            <a:ext cx="468313" cy="382587"/>
          </a:xfrm>
          <a:prstGeom prst="homePlate">
            <a:avLst>
              <a:gd name="adj" fmla="val 30602"/>
            </a:avLst>
          </a:prstGeom>
          <a:solidFill>
            <a:srgbClr val="FFC58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AutoShape 24"/>
          <p:cNvSpPr>
            <a:spLocks noChangeArrowheads="1"/>
          </p:cNvSpPr>
          <p:nvPr/>
        </p:nvSpPr>
        <p:spPr bwMode="auto">
          <a:xfrm>
            <a:off x="3768217" y="3258343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08013" y="2411696"/>
            <a:ext cx="3068637" cy="3017554"/>
            <a:chOff x="608013" y="2316446"/>
            <a:chExt cx="3068637" cy="3017554"/>
          </a:xfrm>
        </p:grpSpPr>
        <p:sp>
          <p:nvSpPr>
            <p:cNvPr id="1363223" name="Text Box 279"/>
            <p:cNvSpPr txBox="1">
              <a:spLocks noChangeArrowheads="1"/>
            </p:cNvSpPr>
            <p:nvPr/>
          </p:nvSpPr>
          <p:spPr bwMode="auto">
            <a:xfrm>
              <a:off x="608013" y="3073400"/>
              <a:ext cx="3068637" cy="21399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0850" indent="-4508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302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kumimoji="0" lang="en-US" altLang="zh-CN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kumimoji="0" lang="zh-CN" altLang="en-US" b="1" dirty="0">
                  <a:solidFill>
                    <a:srgbClr val="000066"/>
                  </a:solidFill>
                  <a:ea typeface="幼圆" pitchFamily="49" charset="-122"/>
                </a:rPr>
                <a:t>作用线上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在某一水平面上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</a:t>
              </a: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﹥0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的竖直线上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等值线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-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应力泡</a:t>
              </a:r>
              <a:endParaRPr lang="en-US" altLang="zh-CN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55330" y="2316446"/>
              <a:ext cx="2659702" cy="462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垂直应力分布规律</a:t>
              </a:r>
              <a:endPara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3" name="矩形 2"/>
            <p:cNvSpPr/>
            <p:nvPr/>
          </p:nvSpPr>
          <p:spPr bwMode="auto">
            <a:xfrm>
              <a:off x="608013" y="2316446"/>
              <a:ext cx="3068637" cy="3017554"/>
            </a:xfrm>
            <a:prstGeom prst="rect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6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3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1363257" grpId="0"/>
      <p:bldP spid="1363258" grpId="0" animBg="1"/>
      <p:bldP spid="5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266"/>
          <p:cNvGrpSpPr>
            <a:grpSpLocks/>
          </p:cNvGrpSpPr>
          <p:nvPr/>
        </p:nvGrpSpPr>
        <p:grpSpPr bwMode="auto">
          <a:xfrm>
            <a:off x="4281488" y="1851025"/>
            <a:ext cx="4760912" cy="4214813"/>
            <a:chOff x="2683" y="761"/>
            <a:chExt cx="2999" cy="2530"/>
          </a:xfrm>
        </p:grpSpPr>
        <p:sp>
          <p:nvSpPr>
            <p:cNvPr id="77" name="Rectangle 267"/>
            <p:cNvSpPr>
              <a:spLocks noChangeArrowheads="1"/>
            </p:cNvSpPr>
            <p:nvPr/>
          </p:nvSpPr>
          <p:spPr bwMode="auto">
            <a:xfrm>
              <a:off x="2683" y="761"/>
              <a:ext cx="2999" cy="25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268"/>
            <p:cNvSpPr>
              <a:spLocks noChangeShapeType="1"/>
            </p:cNvSpPr>
            <p:nvPr/>
          </p:nvSpPr>
          <p:spPr bwMode="auto">
            <a:xfrm>
              <a:off x="2862" y="1474"/>
              <a:ext cx="2747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9" name="Group 269"/>
            <p:cNvGrpSpPr>
              <a:grpSpLocks/>
            </p:cNvGrpSpPr>
            <p:nvPr/>
          </p:nvGrpSpPr>
          <p:grpSpPr bwMode="auto">
            <a:xfrm>
              <a:off x="2862" y="853"/>
              <a:ext cx="2745" cy="662"/>
              <a:chOff x="2862" y="853"/>
              <a:chExt cx="2745" cy="662"/>
            </a:xfrm>
          </p:grpSpPr>
          <p:sp>
            <p:nvSpPr>
              <p:cNvPr id="80" name="Line 270"/>
              <p:cNvSpPr>
                <a:spLocks noChangeShapeType="1"/>
              </p:cNvSpPr>
              <p:nvPr/>
            </p:nvSpPr>
            <p:spPr bwMode="auto">
              <a:xfrm flipV="1">
                <a:off x="2862" y="1507"/>
                <a:ext cx="2745" cy="8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CC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271"/>
              <p:cNvSpPr>
                <a:spLocks noChangeShapeType="1"/>
              </p:cNvSpPr>
              <p:nvPr/>
            </p:nvSpPr>
            <p:spPr bwMode="auto">
              <a:xfrm>
                <a:off x="4675" y="912"/>
                <a:ext cx="0" cy="546"/>
              </a:xfrm>
              <a:prstGeom prst="line">
                <a:avLst/>
              </a:prstGeom>
              <a:noFill/>
              <a:ln w="76200">
                <a:solidFill>
                  <a:srgbClr val="080808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" name="Text Box 272"/>
              <p:cNvSpPr txBox="1">
                <a:spLocks noChangeArrowheads="1"/>
              </p:cNvSpPr>
              <p:nvPr/>
            </p:nvSpPr>
            <p:spPr bwMode="auto">
              <a:xfrm>
                <a:off x="4750" y="853"/>
                <a:ext cx="174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</p:grpSp>
      </p:grp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54" name="Group 301"/>
          <p:cNvGrpSpPr>
            <a:grpSpLocks/>
          </p:cNvGrpSpPr>
          <p:nvPr/>
        </p:nvGrpSpPr>
        <p:grpSpPr bwMode="auto">
          <a:xfrm>
            <a:off x="4543425" y="3035300"/>
            <a:ext cx="2913063" cy="2551113"/>
            <a:chOff x="2848" y="1478"/>
            <a:chExt cx="1835" cy="1607"/>
          </a:xfrm>
        </p:grpSpPr>
        <p:grpSp>
          <p:nvGrpSpPr>
            <p:cNvPr id="55" name="Group 302"/>
            <p:cNvGrpSpPr>
              <a:grpSpLocks/>
            </p:cNvGrpSpPr>
            <p:nvPr/>
          </p:nvGrpSpPr>
          <p:grpSpPr bwMode="auto">
            <a:xfrm>
              <a:off x="2848" y="1555"/>
              <a:ext cx="1835" cy="1288"/>
              <a:chOff x="2834" y="1366"/>
              <a:chExt cx="1835" cy="1288"/>
            </a:xfrm>
          </p:grpSpPr>
          <p:sp>
            <p:nvSpPr>
              <p:cNvPr id="57" name="Freeform 303" descr="浅色竖线"/>
              <p:cNvSpPr>
                <a:spLocks/>
              </p:cNvSpPr>
              <p:nvPr/>
            </p:nvSpPr>
            <p:spPr bwMode="auto">
              <a:xfrm>
                <a:off x="2941" y="2518"/>
                <a:ext cx="1718" cy="132"/>
              </a:xfrm>
              <a:custGeom>
                <a:avLst/>
                <a:gdLst>
                  <a:gd name="T0" fmla="*/ 1718 w 1718"/>
                  <a:gd name="T1" fmla="*/ 0 h 132"/>
                  <a:gd name="T2" fmla="*/ 1718 w 1718"/>
                  <a:gd name="T3" fmla="*/ 132 h 132"/>
                  <a:gd name="T4" fmla="*/ 0 w 1718"/>
                  <a:gd name="T5" fmla="*/ 132 h 132"/>
                  <a:gd name="T6" fmla="*/ 9 w 1718"/>
                  <a:gd name="T7" fmla="*/ 116 h 132"/>
                  <a:gd name="T8" fmla="*/ 217 w 1718"/>
                  <a:gd name="T9" fmla="*/ 112 h 132"/>
                  <a:gd name="T10" fmla="*/ 451 w 1718"/>
                  <a:gd name="T11" fmla="*/ 93 h 132"/>
                  <a:gd name="T12" fmla="*/ 659 w 1718"/>
                  <a:gd name="T13" fmla="*/ 80 h 132"/>
                  <a:gd name="T14" fmla="*/ 950 w 1718"/>
                  <a:gd name="T15" fmla="*/ 58 h 132"/>
                  <a:gd name="T16" fmla="*/ 1235 w 1718"/>
                  <a:gd name="T17" fmla="*/ 32 h 132"/>
                  <a:gd name="T18" fmla="*/ 1469 w 1718"/>
                  <a:gd name="T19" fmla="*/ 13 h 132"/>
                  <a:gd name="T20" fmla="*/ 1718 w 1718"/>
                  <a:gd name="T21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18" h="132">
                    <a:moveTo>
                      <a:pt x="1718" y="0"/>
                    </a:moveTo>
                    <a:lnTo>
                      <a:pt x="1718" y="132"/>
                    </a:lnTo>
                    <a:lnTo>
                      <a:pt x="0" y="132"/>
                    </a:lnTo>
                    <a:lnTo>
                      <a:pt x="9" y="116"/>
                    </a:lnTo>
                    <a:lnTo>
                      <a:pt x="217" y="112"/>
                    </a:lnTo>
                    <a:lnTo>
                      <a:pt x="451" y="93"/>
                    </a:lnTo>
                    <a:lnTo>
                      <a:pt x="659" y="80"/>
                    </a:lnTo>
                    <a:lnTo>
                      <a:pt x="950" y="58"/>
                    </a:lnTo>
                    <a:lnTo>
                      <a:pt x="1235" y="32"/>
                    </a:lnTo>
                    <a:lnTo>
                      <a:pt x="1469" y="13"/>
                    </a:lnTo>
                    <a:lnTo>
                      <a:pt x="1718" y="0"/>
                    </a:lnTo>
                    <a:close/>
                  </a:path>
                </a:pathLst>
              </a:custGeom>
              <a:pattFill prst="ltVert">
                <a:fgClr>
                  <a:schemeClr val="hlink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304" descr="浅色竖线"/>
              <p:cNvSpPr>
                <a:spLocks/>
              </p:cNvSpPr>
              <p:nvPr/>
            </p:nvSpPr>
            <p:spPr bwMode="auto">
              <a:xfrm>
                <a:off x="3408" y="2000"/>
                <a:ext cx="1258" cy="214"/>
              </a:xfrm>
              <a:custGeom>
                <a:avLst/>
                <a:gdLst>
                  <a:gd name="T0" fmla="*/ 1258 w 1258"/>
                  <a:gd name="T1" fmla="*/ 0 h 214"/>
                  <a:gd name="T2" fmla="*/ 1258 w 1258"/>
                  <a:gd name="T3" fmla="*/ 214 h 214"/>
                  <a:gd name="T4" fmla="*/ 0 w 1258"/>
                  <a:gd name="T5" fmla="*/ 214 h 214"/>
                  <a:gd name="T6" fmla="*/ 0 w 1258"/>
                  <a:gd name="T7" fmla="*/ 147 h 214"/>
                  <a:gd name="T8" fmla="*/ 176 w 1258"/>
                  <a:gd name="T9" fmla="*/ 147 h 214"/>
                  <a:gd name="T10" fmla="*/ 342 w 1258"/>
                  <a:gd name="T11" fmla="*/ 141 h 214"/>
                  <a:gd name="T12" fmla="*/ 493 w 1258"/>
                  <a:gd name="T13" fmla="*/ 134 h 214"/>
                  <a:gd name="T14" fmla="*/ 666 w 1258"/>
                  <a:gd name="T15" fmla="*/ 128 h 214"/>
                  <a:gd name="T16" fmla="*/ 774 w 1258"/>
                  <a:gd name="T17" fmla="*/ 115 h 214"/>
                  <a:gd name="T18" fmla="*/ 931 w 1258"/>
                  <a:gd name="T19" fmla="*/ 80 h 214"/>
                  <a:gd name="T20" fmla="*/ 1075 w 1258"/>
                  <a:gd name="T21" fmla="*/ 45 h 214"/>
                  <a:gd name="T22" fmla="*/ 1171 w 1258"/>
                  <a:gd name="T23" fmla="*/ 13 h 214"/>
                  <a:gd name="T24" fmla="*/ 1258 w 1258"/>
                  <a:gd name="T25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8" h="214">
                    <a:moveTo>
                      <a:pt x="1258" y="0"/>
                    </a:moveTo>
                    <a:lnTo>
                      <a:pt x="1258" y="214"/>
                    </a:lnTo>
                    <a:lnTo>
                      <a:pt x="0" y="214"/>
                    </a:lnTo>
                    <a:lnTo>
                      <a:pt x="0" y="147"/>
                    </a:lnTo>
                    <a:lnTo>
                      <a:pt x="176" y="147"/>
                    </a:lnTo>
                    <a:lnTo>
                      <a:pt x="342" y="141"/>
                    </a:lnTo>
                    <a:lnTo>
                      <a:pt x="493" y="134"/>
                    </a:lnTo>
                    <a:lnTo>
                      <a:pt x="666" y="128"/>
                    </a:lnTo>
                    <a:lnTo>
                      <a:pt x="774" y="115"/>
                    </a:lnTo>
                    <a:lnTo>
                      <a:pt x="931" y="80"/>
                    </a:lnTo>
                    <a:lnTo>
                      <a:pt x="1075" y="45"/>
                    </a:lnTo>
                    <a:lnTo>
                      <a:pt x="1171" y="13"/>
                    </a:lnTo>
                    <a:lnTo>
                      <a:pt x="1258" y="0"/>
                    </a:lnTo>
                    <a:close/>
                  </a:path>
                </a:pathLst>
              </a:custGeom>
              <a:pattFill prst="ltVert">
                <a:fgClr>
                  <a:srgbClr val="336600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305" descr="浅色竖线"/>
              <p:cNvSpPr>
                <a:spLocks/>
              </p:cNvSpPr>
              <p:nvPr/>
            </p:nvSpPr>
            <p:spPr bwMode="auto">
              <a:xfrm>
                <a:off x="4000" y="1366"/>
                <a:ext cx="666" cy="388"/>
              </a:xfrm>
              <a:custGeom>
                <a:avLst/>
                <a:gdLst>
                  <a:gd name="T0" fmla="*/ 656 w 666"/>
                  <a:gd name="T1" fmla="*/ 0 h 388"/>
                  <a:gd name="T2" fmla="*/ 592 w 666"/>
                  <a:gd name="T3" fmla="*/ 29 h 388"/>
                  <a:gd name="T4" fmla="*/ 499 w 666"/>
                  <a:gd name="T5" fmla="*/ 151 h 388"/>
                  <a:gd name="T6" fmla="*/ 416 w 666"/>
                  <a:gd name="T7" fmla="*/ 244 h 388"/>
                  <a:gd name="T8" fmla="*/ 285 w 666"/>
                  <a:gd name="T9" fmla="*/ 308 h 388"/>
                  <a:gd name="T10" fmla="*/ 125 w 666"/>
                  <a:gd name="T11" fmla="*/ 356 h 388"/>
                  <a:gd name="T12" fmla="*/ 0 w 666"/>
                  <a:gd name="T13" fmla="*/ 359 h 388"/>
                  <a:gd name="T14" fmla="*/ 3 w 666"/>
                  <a:gd name="T15" fmla="*/ 388 h 388"/>
                  <a:gd name="T16" fmla="*/ 666 w 666"/>
                  <a:gd name="T17" fmla="*/ 388 h 388"/>
                  <a:gd name="T18" fmla="*/ 656 w 666"/>
                  <a:gd name="T19" fmla="*/ 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6" h="388">
                    <a:moveTo>
                      <a:pt x="656" y="0"/>
                    </a:moveTo>
                    <a:lnTo>
                      <a:pt x="592" y="29"/>
                    </a:lnTo>
                    <a:lnTo>
                      <a:pt x="499" y="151"/>
                    </a:lnTo>
                    <a:lnTo>
                      <a:pt x="416" y="244"/>
                    </a:lnTo>
                    <a:lnTo>
                      <a:pt x="285" y="308"/>
                    </a:lnTo>
                    <a:lnTo>
                      <a:pt x="125" y="356"/>
                    </a:lnTo>
                    <a:lnTo>
                      <a:pt x="0" y="359"/>
                    </a:lnTo>
                    <a:lnTo>
                      <a:pt x="3" y="388"/>
                    </a:lnTo>
                    <a:lnTo>
                      <a:pt x="666" y="388"/>
                    </a:lnTo>
                    <a:lnTo>
                      <a:pt x="656" y="0"/>
                    </a:lnTo>
                    <a:close/>
                  </a:path>
                </a:pathLst>
              </a:custGeom>
              <a:pattFill prst="ltVert">
                <a:fgClr>
                  <a:schemeClr val="folHlink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306"/>
              <p:cNvSpPr>
                <a:spLocks/>
              </p:cNvSpPr>
              <p:nvPr/>
            </p:nvSpPr>
            <p:spPr bwMode="auto">
              <a:xfrm>
                <a:off x="4003" y="1366"/>
                <a:ext cx="666" cy="361"/>
              </a:xfrm>
              <a:custGeom>
                <a:avLst/>
                <a:gdLst>
                  <a:gd name="T0" fmla="*/ 666 w 666"/>
                  <a:gd name="T1" fmla="*/ 0 h 336"/>
                  <a:gd name="T2" fmla="*/ 605 w 666"/>
                  <a:gd name="T3" fmla="*/ 19 h 336"/>
                  <a:gd name="T4" fmla="*/ 545 w 666"/>
                  <a:gd name="T5" fmla="*/ 84 h 336"/>
                  <a:gd name="T6" fmla="*/ 475 w 666"/>
                  <a:gd name="T7" fmla="*/ 173 h 336"/>
                  <a:gd name="T8" fmla="*/ 411 w 666"/>
                  <a:gd name="T9" fmla="*/ 229 h 336"/>
                  <a:gd name="T10" fmla="*/ 333 w 666"/>
                  <a:gd name="T11" fmla="*/ 269 h 336"/>
                  <a:gd name="T12" fmla="*/ 234 w 666"/>
                  <a:gd name="T13" fmla="*/ 307 h 336"/>
                  <a:gd name="T14" fmla="*/ 118 w 666"/>
                  <a:gd name="T15" fmla="*/ 330 h 336"/>
                  <a:gd name="T16" fmla="*/ 0 w 666"/>
                  <a:gd name="T17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6" h="336">
                    <a:moveTo>
                      <a:pt x="666" y="0"/>
                    </a:moveTo>
                    <a:cubicBezTo>
                      <a:pt x="656" y="3"/>
                      <a:pt x="625" y="5"/>
                      <a:pt x="605" y="19"/>
                    </a:cubicBezTo>
                    <a:cubicBezTo>
                      <a:pt x="585" y="33"/>
                      <a:pt x="567" y="58"/>
                      <a:pt x="545" y="84"/>
                    </a:cubicBezTo>
                    <a:cubicBezTo>
                      <a:pt x="523" y="110"/>
                      <a:pt x="497" y="148"/>
                      <a:pt x="475" y="173"/>
                    </a:cubicBezTo>
                    <a:cubicBezTo>
                      <a:pt x="452" y="198"/>
                      <a:pt x="435" y="213"/>
                      <a:pt x="411" y="229"/>
                    </a:cubicBezTo>
                    <a:cubicBezTo>
                      <a:pt x="387" y="245"/>
                      <a:pt x="363" y="256"/>
                      <a:pt x="333" y="269"/>
                    </a:cubicBezTo>
                    <a:cubicBezTo>
                      <a:pt x="303" y="282"/>
                      <a:pt x="270" y="297"/>
                      <a:pt x="234" y="307"/>
                    </a:cubicBezTo>
                    <a:cubicBezTo>
                      <a:pt x="198" y="317"/>
                      <a:pt x="157" y="325"/>
                      <a:pt x="118" y="330"/>
                    </a:cubicBezTo>
                    <a:cubicBezTo>
                      <a:pt x="79" y="335"/>
                      <a:pt x="25" y="335"/>
                      <a:pt x="0" y="336"/>
                    </a:cubicBezTo>
                  </a:path>
                </a:pathLst>
              </a:custGeom>
              <a:noFill/>
              <a:ln w="19050" cap="flat" cmpd="sng">
                <a:solidFill>
                  <a:srgbClr val="FF33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" name="Line 307"/>
              <p:cNvSpPr>
                <a:spLocks noChangeShapeType="1"/>
              </p:cNvSpPr>
              <p:nvPr/>
            </p:nvSpPr>
            <p:spPr bwMode="auto">
              <a:xfrm>
                <a:off x="3521" y="1755"/>
                <a:ext cx="1142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308"/>
              <p:cNvSpPr>
                <a:spLocks noChangeShapeType="1"/>
              </p:cNvSpPr>
              <p:nvPr/>
            </p:nvSpPr>
            <p:spPr bwMode="auto">
              <a:xfrm>
                <a:off x="3319" y="2217"/>
                <a:ext cx="1338" cy="0"/>
              </a:xfrm>
              <a:prstGeom prst="line">
                <a:avLst/>
              </a:prstGeom>
              <a:noFill/>
              <a:ln w="1905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309"/>
              <p:cNvSpPr>
                <a:spLocks/>
              </p:cNvSpPr>
              <p:nvPr/>
            </p:nvSpPr>
            <p:spPr bwMode="auto">
              <a:xfrm>
                <a:off x="3404" y="2002"/>
                <a:ext cx="1263" cy="145"/>
              </a:xfrm>
              <a:custGeom>
                <a:avLst/>
                <a:gdLst>
                  <a:gd name="T0" fmla="*/ 1263 w 1263"/>
                  <a:gd name="T1" fmla="*/ 0 h 135"/>
                  <a:gd name="T2" fmla="*/ 1174 w 1263"/>
                  <a:gd name="T3" fmla="*/ 13 h 135"/>
                  <a:gd name="T4" fmla="*/ 1055 w 1263"/>
                  <a:gd name="T5" fmla="*/ 48 h 135"/>
                  <a:gd name="T6" fmla="*/ 939 w 1263"/>
                  <a:gd name="T7" fmla="*/ 78 h 135"/>
                  <a:gd name="T8" fmla="*/ 817 w 1263"/>
                  <a:gd name="T9" fmla="*/ 103 h 135"/>
                  <a:gd name="T10" fmla="*/ 708 w 1263"/>
                  <a:gd name="T11" fmla="*/ 115 h 135"/>
                  <a:gd name="T12" fmla="*/ 553 w 1263"/>
                  <a:gd name="T13" fmla="*/ 123 h 135"/>
                  <a:gd name="T14" fmla="*/ 372 w 1263"/>
                  <a:gd name="T15" fmla="*/ 128 h 135"/>
                  <a:gd name="T16" fmla="*/ 197 w 1263"/>
                  <a:gd name="T17" fmla="*/ 133 h 135"/>
                  <a:gd name="T18" fmla="*/ 0 w 1263"/>
                  <a:gd name="T19" fmla="*/ 13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63" h="135">
                    <a:moveTo>
                      <a:pt x="1263" y="0"/>
                    </a:moveTo>
                    <a:cubicBezTo>
                      <a:pt x="1248" y="3"/>
                      <a:pt x="1209" y="5"/>
                      <a:pt x="1174" y="13"/>
                    </a:cubicBezTo>
                    <a:cubicBezTo>
                      <a:pt x="1139" y="20"/>
                      <a:pt x="1095" y="36"/>
                      <a:pt x="1055" y="48"/>
                    </a:cubicBezTo>
                    <a:cubicBezTo>
                      <a:pt x="1016" y="59"/>
                      <a:pt x="979" y="69"/>
                      <a:pt x="939" y="78"/>
                    </a:cubicBezTo>
                    <a:cubicBezTo>
                      <a:pt x="899" y="87"/>
                      <a:pt x="855" y="97"/>
                      <a:pt x="817" y="103"/>
                    </a:cubicBezTo>
                    <a:cubicBezTo>
                      <a:pt x="779" y="109"/>
                      <a:pt x="752" y="112"/>
                      <a:pt x="708" y="115"/>
                    </a:cubicBezTo>
                    <a:cubicBezTo>
                      <a:pt x="664" y="118"/>
                      <a:pt x="609" y="121"/>
                      <a:pt x="553" y="123"/>
                    </a:cubicBezTo>
                    <a:cubicBezTo>
                      <a:pt x="497" y="125"/>
                      <a:pt x="431" y="126"/>
                      <a:pt x="372" y="128"/>
                    </a:cubicBezTo>
                    <a:cubicBezTo>
                      <a:pt x="313" y="130"/>
                      <a:pt x="259" y="132"/>
                      <a:pt x="197" y="133"/>
                    </a:cubicBezTo>
                    <a:cubicBezTo>
                      <a:pt x="135" y="134"/>
                      <a:pt x="41" y="135"/>
                      <a:pt x="0" y="135"/>
                    </a:cubicBezTo>
                  </a:path>
                </a:pathLst>
              </a:custGeom>
              <a:noFill/>
              <a:ln w="19050" cap="flat" cmpd="sng">
                <a:solidFill>
                  <a:srgbClr val="008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310"/>
              <p:cNvSpPr>
                <a:spLocks/>
              </p:cNvSpPr>
              <p:nvPr/>
            </p:nvSpPr>
            <p:spPr bwMode="auto">
              <a:xfrm>
                <a:off x="2938" y="2517"/>
                <a:ext cx="1727" cy="119"/>
              </a:xfrm>
              <a:custGeom>
                <a:avLst/>
                <a:gdLst>
                  <a:gd name="T0" fmla="*/ 1727 w 1727"/>
                  <a:gd name="T1" fmla="*/ 0 h 111"/>
                  <a:gd name="T2" fmla="*/ 1505 w 1727"/>
                  <a:gd name="T3" fmla="*/ 13 h 111"/>
                  <a:gd name="T4" fmla="*/ 1320 w 1727"/>
                  <a:gd name="T5" fmla="*/ 25 h 111"/>
                  <a:gd name="T6" fmla="*/ 1110 w 1727"/>
                  <a:gd name="T7" fmla="*/ 43 h 111"/>
                  <a:gd name="T8" fmla="*/ 912 w 1727"/>
                  <a:gd name="T9" fmla="*/ 59 h 111"/>
                  <a:gd name="T10" fmla="*/ 739 w 1727"/>
                  <a:gd name="T11" fmla="*/ 72 h 111"/>
                  <a:gd name="T12" fmla="*/ 569 w 1727"/>
                  <a:gd name="T13" fmla="*/ 84 h 111"/>
                  <a:gd name="T14" fmla="*/ 393 w 1727"/>
                  <a:gd name="T15" fmla="*/ 94 h 111"/>
                  <a:gd name="T16" fmla="*/ 163 w 1727"/>
                  <a:gd name="T17" fmla="*/ 108 h 111"/>
                  <a:gd name="T18" fmla="*/ 0 w 1727"/>
                  <a:gd name="T19" fmla="*/ 11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7" h="111">
                    <a:moveTo>
                      <a:pt x="1727" y="0"/>
                    </a:moveTo>
                    <a:cubicBezTo>
                      <a:pt x="1690" y="2"/>
                      <a:pt x="1573" y="9"/>
                      <a:pt x="1505" y="13"/>
                    </a:cubicBezTo>
                    <a:cubicBezTo>
                      <a:pt x="1437" y="17"/>
                      <a:pt x="1386" y="20"/>
                      <a:pt x="1320" y="25"/>
                    </a:cubicBezTo>
                    <a:cubicBezTo>
                      <a:pt x="1254" y="30"/>
                      <a:pt x="1178" y="37"/>
                      <a:pt x="1110" y="43"/>
                    </a:cubicBezTo>
                    <a:cubicBezTo>
                      <a:pt x="1042" y="49"/>
                      <a:pt x="974" y="54"/>
                      <a:pt x="912" y="59"/>
                    </a:cubicBezTo>
                    <a:cubicBezTo>
                      <a:pt x="850" y="64"/>
                      <a:pt x="796" y="68"/>
                      <a:pt x="739" y="72"/>
                    </a:cubicBezTo>
                    <a:cubicBezTo>
                      <a:pt x="682" y="76"/>
                      <a:pt x="627" y="80"/>
                      <a:pt x="569" y="84"/>
                    </a:cubicBezTo>
                    <a:cubicBezTo>
                      <a:pt x="511" y="88"/>
                      <a:pt x="461" y="90"/>
                      <a:pt x="393" y="94"/>
                    </a:cubicBezTo>
                    <a:cubicBezTo>
                      <a:pt x="325" y="98"/>
                      <a:pt x="228" y="105"/>
                      <a:pt x="163" y="108"/>
                    </a:cubicBezTo>
                    <a:cubicBezTo>
                      <a:pt x="98" y="111"/>
                      <a:pt x="34" y="110"/>
                      <a:pt x="0" y="110"/>
                    </a:cubicBez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311"/>
              <p:cNvSpPr>
                <a:spLocks noChangeShapeType="1"/>
              </p:cNvSpPr>
              <p:nvPr/>
            </p:nvSpPr>
            <p:spPr bwMode="auto">
              <a:xfrm>
                <a:off x="2834" y="2654"/>
                <a:ext cx="1822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" name="Line 312"/>
            <p:cNvSpPr>
              <a:spLocks noChangeShapeType="1"/>
            </p:cNvSpPr>
            <p:nvPr/>
          </p:nvSpPr>
          <p:spPr bwMode="auto">
            <a:xfrm>
              <a:off x="4680" y="1478"/>
              <a:ext cx="0" cy="1607"/>
            </a:xfrm>
            <a:prstGeom prst="line">
              <a:avLst/>
            </a:prstGeom>
            <a:noFill/>
            <a:ln w="2286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6" name="Rectangle 48"/>
          <p:cNvSpPr>
            <a:spLocks noChangeArrowheads="1"/>
          </p:cNvSpPr>
          <p:nvPr/>
        </p:nvSpPr>
        <p:spPr bwMode="auto">
          <a:xfrm>
            <a:off x="1009650" y="3762375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7" name="Object 2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484127"/>
              </p:ext>
            </p:extLst>
          </p:nvPr>
        </p:nvGraphicFramePr>
        <p:xfrm>
          <a:off x="342900" y="1181100"/>
          <a:ext cx="38909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697" name="公式" r:id="rId3" imgW="2133360" imgH="419040" progId="Equation.3">
                  <p:embed/>
                </p:oleObj>
              </mc:Choice>
              <mc:Fallback>
                <p:oleObj name="公式" r:id="rId3" imgW="2133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1181100"/>
                        <a:ext cx="389096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300"/>
          <p:cNvSpPr txBox="1">
            <a:spLocks noChangeArrowheads="1"/>
          </p:cNvSpPr>
          <p:nvPr/>
        </p:nvSpPr>
        <p:spPr bwMode="auto">
          <a:xfrm>
            <a:off x="385763" y="53022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69" name="Text Box 313"/>
          <p:cNvSpPr txBox="1">
            <a:spLocks noChangeArrowheads="1"/>
          </p:cNvSpPr>
          <p:nvPr/>
        </p:nvSpPr>
        <p:spPr bwMode="auto">
          <a:xfrm>
            <a:off x="4930775" y="1348367"/>
            <a:ext cx="3976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45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108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8767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448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20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592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164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幼圆" pitchFamily="49" charset="-122"/>
              <a:buNone/>
            </a:pP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无关，呈轴对称分布</a:t>
            </a:r>
          </a:p>
        </p:txBody>
      </p:sp>
      <p:sp>
        <p:nvSpPr>
          <p:cNvPr id="70" name="AutoShape 314"/>
          <p:cNvSpPr>
            <a:spLocks noChangeArrowheads="1"/>
          </p:cNvSpPr>
          <p:nvPr/>
        </p:nvSpPr>
        <p:spPr bwMode="auto">
          <a:xfrm>
            <a:off x="4322762" y="1370592"/>
            <a:ext cx="468313" cy="382587"/>
          </a:xfrm>
          <a:prstGeom prst="homePlate">
            <a:avLst>
              <a:gd name="adj" fmla="val 30602"/>
            </a:avLst>
          </a:prstGeom>
          <a:solidFill>
            <a:srgbClr val="FFC58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24"/>
          <p:cNvSpPr>
            <a:spLocks noChangeArrowheads="1"/>
          </p:cNvSpPr>
          <p:nvPr/>
        </p:nvSpPr>
        <p:spPr bwMode="auto">
          <a:xfrm>
            <a:off x="3768217" y="3801268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608013" y="2411696"/>
            <a:ext cx="3068637" cy="3017554"/>
            <a:chOff x="608013" y="2316446"/>
            <a:chExt cx="3068637" cy="3017554"/>
          </a:xfrm>
        </p:grpSpPr>
        <p:sp>
          <p:nvSpPr>
            <p:cNvPr id="73" name="Text Box 279"/>
            <p:cNvSpPr txBox="1">
              <a:spLocks noChangeArrowheads="1"/>
            </p:cNvSpPr>
            <p:nvPr/>
          </p:nvSpPr>
          <p:spPr bwMode="auto">
            <a:xfrm>
              <a:off x="608013" y="3073400"/>
              <a:ext cx="3068637" cy="21399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0850" indent="-4508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302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kumimoji="0" lang="en-US" altLang="zh-CN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kumimoji="0" lang="zh-CN" altLang="en-US" b="1" dirty="0">
                  <a:solidFill>
                    <a:srgbClr val="000066"/>
                  </a:solidFill>
                  <a:ea typeface="幼圆" pitchFamily="49" charset="-122"/>
                </a:rPr>
                <a:t>作用线上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在某一水平面上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</a:t>
              </a: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﹥0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的竖直线上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等值线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-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应力泡</a:t>
              </a:r>
              <a:endParaRPr lang="en-US" altLang="zh-CN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55330" y="2316446"/>
              <a:ext cx="2659702" cy="462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垂直应力分布规律</a:t>
              </a:r>
              <a:endPara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608013" y="2316446"/>
              <a:ext cx="3068637" cy="3017554"/>
            </a:xfrm>
            <a:prstGeom prst="rect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83" name="Rectangle 273"/>
          <p:cNvSpPr>
            <a:spLocks noChangeArrowheads="1"/>
          </p:cNvSpPr>
          <p:nvPr/>
        </p:nvSpPr>
        <p:spPr bwMode="auto">
          <a:xfrm>
            <a:off x="2405856" y="583659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</p:spTree>
    <p:extLst>
      <p:ext uri="{BB962C8B-B14F-4D97-AF65-F5344CB8AC3E}">
        <p14:creationId xmlns:p14="http://schemas.microsoft.com/office/powerpoint/2010/main" val="33470922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266"/>
          <p:cNvGrpSpPr>
            <a:grpSpLocks/>
          </p:cNvGrpSpPr>
          <p:nvPr/>
        </p:nvGrpSpPr>
        <p:grpSpPr bwMode="auto">
          <a:xfrm>
            <a:off x="4281488" y="1851025"/>
            <a:ext cx="4760912" cy="4214813"/>
            <a:chOff x="2683" y="761"/>
            <a:chExt cx="2999" cy="2530"/>
          </a:xfrm>
        </p:grpSpPr>
        <p:sp>
          <p:nvSpPr>
            <p:cNvPr id="121" name="Rectangle 267"/>
            <p:cNvSpPr>
              <a:spLocks noChangeArrowheads="1"/>
            </p:cNvSpPr>
            <p:nvPr/>
          </p:nvSpPr>
          <p:spPr bwMode="auto">
            <a:xfrm>
              <a:off x="2683" y="761"/>
              <a:ext cx="2999" cy="25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268"/>
            <p:cNvSpPr>
              <a:spLocks noChangeShapeType="1"/>
            </p:cNvSpPr>
            <p:nvPr/>
          </p:nvSpPr>
          <p:spPr bwMode="auto">
            <a:xfrm>
              <a:off x="2862" y="1474"/>
              <a:ext cx="2747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23" name="Group 269"/>
            <p:cNvGrpSpPr>
              <a:grpSpLocks/>
            </p:cNvGrpSpPr>
            <p:nvPr/>
          </p:nvGrpSpPr>
          <p:grpSpPr bwMode="auto">
            <a:xfrm>
              <a:off x="2862" y="853"/>
              <a:ext cx="2745" cy="662"/>
              <a:chOff x="2862" y="853"/>
              <a:chExt cx="2745" cy="662"/>
            </a:xfrm>
          </p:grpSpPr>
          <p:sp>
            <p:nvSpPr>
              <p:cNvPr id="124" name="Line 270"/>
              <p:cNvSpPr>
                <a:spLocks noChangeShapeType="1"/>
              </p:cNvSpPr>
              <p:nvPr/>
            </p:nvSpPr>
            <p:spPr bwMode="auto">
              <a:xfrm flipV="1">
                <a:off x="2862" y="1507"/>
                <a:ext cx="2745" cy="8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CC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5" name="Line 271"/>
              <p:cNvSpPr>
                <a:spLocks noChangeShapeType="1"/>
              </p:cNvSpPr>
              <p:nvPr/>
            </p:nvSpPr>
            <p:spPr bwMode="auto">
              <a:xfrm>
                <a:off x="4675" y="912"/>
                <a:ext cx="0" cy="546"/>
              </a:xfrm>
              <a:prstGeom prst="line">
                <a:avLst/>
              </a:prstGeom>
              <a:noFill/>
              <a:ln w="76200">
                <a:solidFill>
                  <a:srgbClr val="080808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6" name="Text Box 272"/>
              <p:cNvSpPr txBox="1">
                <a:spLocks noChangeArrowheads="1"/>
              </p:cNvSpPr>
              <p:nvPr/>
            </p:nvSpPr>
            <p:spPr bwMode="auto">
              <a:xfrm>
                <a:off x="4743" y="853"/>
                <a:ext cx="181" cy="2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</p:grpSp>
      </p:grp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116" name="Group 274"/>
          <p:cNvGrpSpPr>
            <a:grpSpLocks/>
          </p:cNvGrpSpPr>
          <p:nvPr/>
        </p:nvGrpSpPr>
        <p:grpSpPr bwMode="auto">
          <a:xfrm>
            <a:off x="8094663" y="3025775"/>
            <a:ext cx="174625" cy="2511425"/>
            <a:chOff x="5059" y="1277"/>
            <a:chExt cx="110" cy="1582"/>
          </a:xfrm>
        </p:grpSpPr>
        <p:sp>
          <p:nvSpPr>
            <p:cNvPr id="117" name="Freeform 275" descr="浅色横线"/>
            <p:cNvSpPr>
              <a:spLocks/>
            </p:cNvSpPr>
            <p:nvPr/>
          </p:nvSpPr>
          <p:spPr bwMode="auto">
            <a:xfrm>
              <a:off x="5059" y="1277"/>
              <a:ext cx="109" cy="1411"/>
            </a:xfrm>
            <a:custGeom>
              <a:avLst/>
              <a:gdLst>
                <a:gd name="T0" fmla="*/ 0 w 109"/>
                <a:gd name="T1" fmla="*/ 1411 h 1411"/>
                <a:gd name="T2" fmla="*/ 0 w 109"/>
                <a:gd name="T3" fmla="*/ 0 h 1411"/>
                <a:gd name="T4" fmla="*/ 35 w 109"/>
                <a:gd name="T5" fmla="*/ 73 h 1411"/>
                <a:gd name="T6" fmla="*/ 87 w 109"/>
                <a:gd name="T7" fmla="*/ 227 h 1411"/>
                <a:gd name="T8" fmla="*/ 109 w 109"/>
                <a:gd name="T9" fmla="*/ 355 h 1411"/>
                <a:gd name="T10" fmla="*/ 106 w 109"/>
                <a:gd name="T11" fmla="*/ 505 h 1411"/>
                <a:gd name="T12" fmla="*/ 93 w 109"/>
                <a:gd name="T13" fmla="*/ 665 h 1411"/>
                <a:gd name="T14" fmla="*/ 61 w 109"/>
                <a:gd name="T15" fmla="*/ 813 h 1411"/>
                <a:gd name="T16" fmla="*/ 39 w 109"/>
                <a:gd name="T17" fmla="*/ 1001 h 1411"/>
                <a:gd name="T18" fmla="*/ 29 w 109"/>
                <a:gd name="T19" fmla="*/ 1187 h 1411"/>
                <a:gd name="T20" fmla="*/ 26 w 109"/>
                <a:gd name="T21" fmla="*/ 1363 h 1411"/>
                <a:gd name="T22" fmla="*/ 19 w 109"/>
                <a:gd name="T23" fmla="*/ 1408 h 1411"/>
                <a:gd name="T24" fmla="*/ 0 w 109"/>
                <a:gd name="T25" fmla="*/ 1411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411">
                  <a:moveTo>
                    <a:pt x="0" y="1411"/>
                  </a:moveTo>
                  <a:lnTo>
                    <a:pt x="0" y="0"/>
                  </a:lnTo>
                  <a:lnTo>
                    <a:pt x="35" y="73"/>
                  </a:lnTo>
                  <a:lnTo>
                    <a:pt x="87" y="227"/>
                  </a:lnTo>
                  <a:lnTo>
                    <a:pt x="109" y="355"/>
                  </a:lnTo>
                  <a:lnTo>
                    <a:pt x="106" y="505"/>
                  </a:lnTo>
                  <a:lnTo>
                    <a:pt x="93" y="665"/>
                  </a:lnTo>
                  <a:lnTo>
                    <a:pt x="61" y="813"/>
                  </a:lnTo>
                  <a:lnTo>
                    <a:pt x="39" y="1001"/>
                  </a:lnTo>
                  <a:lnTo>
                    <a:pt x="29" y="1187"/>
                  </a:lnTo>
                  <a:lnTo>
                    <a:pt x="26" y="1363"/>
                  </a:lnTo>
                  <a:lnTo>
                    <a:pt x="19" y="1408"/>
                  </a:lnTo>
                  <a:lnTo>
                    <a:pt x="0" y="1411"/>
                  </a:lnTo>
                  <a:close/>
                </a:path>
              </a:pathLst>
            </a:custGeom>
            <a:pattFill prst="ltHorz">
              <a:fgClr>
                <a:srgbClr val="993300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276"/>
            <p:cNvSpPr>
              <a:spLocks/>
            </p:cNvSpPr>
            <p:nvPr/>
          </p:nvSpPr>
          <p:spPr bwMode="auto">
            <a:xfrm>
              <a:off x="5063" y="1287"/>
              <a:ext cx="106" cy="1403"/>
            </a:xfrm>
            <a:custGeom>
              <a:avLst/>
              <a:gdLst>
                <a:gd name="T0" fmla="*/ 0 w 106"/>
                <a:gd name="T1" fmla="*/ 0 h 1305"/>
                <a:gd name="T2" fmla="*/ 47 w 106"/>
                <a:gd name="T3" fmla="*/ 105 h 1305"/>
                <a:gd name="T4" fmla="*/ 83 w 106"/>
                <a:gd name="T5" fmla="*/ 220 h 1305"/>
                <a:gd name="T6" fmla="*/ 102 w 106"/>
                <a:gd name="T7" fmla="*/ 335 h 1305"/>
                <a:gd name="T8" fmla="*/ 104 w 106"/>
                <a:gd name="T9" fmla="*/ 454 h 1305"/>
                <a:gd name="T10" fmla="*/ 92 w 106"/>
                <a:gd name="T11" fmla="*/ 575 h 1305"/>
                <a:gd name="T12" fmla="*/ 70 w 106"/>
                <a:gd name="T13" fmla="*/ 694 h 1305"/>
                <a:gd name="T14" fmla="*/ 47 w 106"/>
                <a:gd name="T15" fmla="*/ 831 h 1305"/>
                <a:gd name="T16" fmla="*/ 31 w 106"/>
                <a:gd name="T17" fmla="*/ 959 h 1305"/>
                <a:gd name="T18" fmla="*/ 22 w 106"/>
                <a:gd name="T19" fmla="*/ 1094 h 1305"/>
                <a:gd name="T20" fmla="*/ 19 w 106"/>
                <a:gd name="T21" fmla="*/ 1199 h 1305"/>
                <a:gd name="T22" fmla="*/ 15 w 106"/>
                <a:gd name="T23" fmla="*/ 1305 h 1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" h="1305">
                  <a:moveTo>
                    <a:pt x="0" y="0"/>
                  </a:moveTo>
                  <a:cubicBezTo>
                    <a:pt x="8" y="17"/>
                    <a:pt x="33" y="68"/>
                    <a:pt x="47" y="105"/>
                  </a:cubicBezTo>
                  <a:cubicBezTo>
                    <a:pt x="61" y="142"/>
                    <a:pt x="74" y="182"/>
                    <a:pt x="83" y="220"/>
                  </a:cubicBezTo>
                  <a:cubicBezTo>
                    <a:pt x="92" y="258"/>
                    <a:pt x="99" y="296"/>
                    <a:pt x="102" y="335"/>
                  </a:cubicBezTo>
                  <a:cubicBezTo>
                    <a:pt x="105" y="374"/>
                    <a:pt x="106" y="414"/>
                    <a:pt x="104" y="454"/>
                  </a:cubicBezTo>
                  <a:cubicBezTo>
                    <a:pt x="102" y="494"/>
                    <a:pt x="98" y="535"/>
                    <a:pt x="92" y="575"/>
                  </a:cubicBezTo>
                  <a:cubicBezTo>
                    <a:pt x="86" y="615"/>
                    <a:pt x="77" y="651"/>
                    <a:pt x="70" y="694"/>
                  </a:cubicBezTo>
                  <a:cubicBezTo>
                    <a:pt x="63" y="737"/>
                    <a:pt x="53" y="787"/>
                    <a:pt x="47" y="831"/>
                  </a:cubicBezTo>
                  <a:cubicBezTo>
                    <a:pt x="41" y="875"/>
                    <a:pt x="35" y="915"/>
                    <a:pt x="31" y="959"/>
                  </a:cubicBezTo>
                  <a:cubicBezTo>
                    <a:pt x="27" y="1003"/>
                    <a:pt x="24" y="1054"/>
                    <a:pt x="22" y="1094"/>
                  </a:cubicBezTo>
                  <a:cubicBezTo>
                    <a:pt x="20" y="1134"/>
                    <a:pt x="20" y="1164"/>
                    <a:pt x="19" y="1199"/>
                  </a:cubicBezTo>
                  <a:cubicBezTo>
                    <a:pt x="18" y="1234"/>
                    <a:pt x="16" y="1283"/>
                    <a:pt x="15" y="1305"/>
                  </a:cubicBezTo>
                </a:path>
              </a:pathLst>
            </a:custGeom>
            <a:noFill/>
            <a:ln w="2286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Line 277"/>
            <p:cNvSpPr>
              <a:spLocks noChangeShapeType="1"/>
            </p:cNvSpPr>
            <p:nvPr/>
          </p:nvSpPr>
          <p:spPr bwMode="auto">
            <a:xfrm>
              <a:off x="5059" y="1278"/>
              <a:ext cx="0" cy="1581"/>
            </a:xfrm>
            <a:prstGeom prst="line">
              <a:avLst/>
            </a:prstGeom>
            <a:noFill/>
            <a:ln w="22860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8" name="Rectangle 48"/>
          <p:cNvSpPr>
            <a:spLocks noChangeArrowheads="1"/>
          </p:cNvSpPr>
          <p:nvPr/>
        </p:nvSpPr>
        <p:spPr bwMode="auto">
          <a:xfrm>
            <a:off x="1009650" y="4276725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9" name="Object 2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404925"/>
              </p:ext>
            </p:extLst>
          </p:nvPr>
        </p:nvGraphicFramePr>
        <p:xfrm>
          <a:off x="331788" y="1181100"/>
          <a:ext cx="39147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720" name="公式" r:id="rId3" imgW="2145960" imgH="419040" progId="Equation.3">
                  <p:embed/>
                </p:oleObj>
              </mc:Choice>
              <mc:Fallback>
                <p:oleObj name="公式" r:id="rId3" imgW="2145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1181100"/>
                        <a:ext cx="391477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Text Box 300"/>
          <p:cNvSpPr txBox="1">
            <a:spLocks noChangeArrowheads="1"/>
          </p:cNvSpPr>
          <p:nvPr/>
        </p:nvSpPr>
        <p:spPr bwMode="auto">
          <a:xfrm>
            <a:off x="385763" y="53022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1" name="Text Box 313"/>
          <p:cNvSpPr txBox="1">
            <a:spLocks noChangeArrowheads="1"/>
          </p:cNvSpPr>
          <p:nvPr/>
        </p:nvSpPr>
        <p:spPr bwMode="auto">
          <a:xfrm>
            <a:off x="4930775" y="1348367"/>
            <a:ext cx="3976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45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108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8767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448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20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592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164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幼圆" pitchFamily="49" charset="-122"/>
              <a:buNone/>
            </a:pP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无关，呈轴对称分布</a:t>
            </a:r>
          </a:p>
        </p:txBody>
      </p:sp>
      <p:sp>
        <p:nvSpPr>
          <p:cNvPr id="132" name="AutoShape 314"/>
          <p:cNvSpPr>
            <a:spLocks noChangeArrowheads="1"/>
          </p:cNvSpPr>
          <p:nvPr/>
        </p:nvSpPr>
        <p:spPr bwMode="auto">
          <a:xfrm>
            <a:off x="4322762" y="1370592"/>
            <a:ext cx="468313" cy="382587"/>
          </a:xfrm>
          <a:prstGeom prst="homePlate">
            <a:avLst>
              <a:gd name="adj" fmla="val 30602"/>
            </a:avLst>
          </a:prstGeom>
          <a:solidFill>
            <a:srgbClr val="FFC58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AutoShape 24"/>
          <p:cNvSpPr>
            <a:spLocks noChangeArrowheads="1"/>
          </p:cNvSpPr>
          <p:nvPr/>
        </p:nvSpPr>
        <p:spPr bwMode="auto">
          <a:xfrm>
            <a:off x="3768217" y="4315618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4" name="组合 133"/>
          <p:cNvGrpSpPr/>
          <p:nvPr/>
        </p:nvGrpSpPr>
        <p:grpSpPr>
          <a:xfrm>
            <a:off x="608013" y="2411696"/>
            <a:ext cx="3068637" cy="3017554"/>
            <a:chOff x="608013" y="2316446"/>
            <a:chExt cx="3068637" cy="3017554"/>
          </a:xfrm>
        </p:grpSpPr>
        <p:sp>
          <p:nvSpPr>
            <p:cNvPr id="135" name="Text Box 279"/>
            <p:cNvSpPr txBox="1">
              <a:spLocks noChangeArrowheads="1"/>
            </p:cNvSpPr>
            <p:nvPr/>
          </p:nvSpPr>
          <p:spPr bwMode="auto">
            <a:xfrm>
              <a:off x="608013" y="3073400"/>
              <a:ext cx="3068637" cy="21399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0850" indent="-4508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302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kumimoji="0" lang="en-US" altLang="zh-CN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kumimoji="0" lang="zh-CN" altLang="en-US" b="1" dirty="0">
                  <a:solidFill>
                    <a:srgbClr val="000066"/>
                  </a:solidFill>
                  <a:ea typeface="幼圆" pitchFamily="49" charset="-122"/>
                </a:rPr>
                <a:t>作用线上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在某一水平面上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</a:t>
              </a: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﹥0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的竖直线上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等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值线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-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应力泡</a:t>
              </a:r>
              <a:endParaRPr lang="en-US" altLang="zh-CN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755330" y="2316446"/>
              <a:ext cx="2659702" cy="462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垂直应力分布规律</a:t>
              </a:r>
              <a:endPara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608013" y="2316446"/>
              <a:ext cx="3068637" cy="3017554"/>
            </a:xfrm>
            <a:prstGeom prst="rect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38" name="Rectangle 273"/>
          <p:cNvSpPr>
            <a:spLocks noChangeArrowheads="1"/>
          </p:cNvSpPr>
          <p:nvPr/>
        </p:nvSpPr>
        <p:spPr bwMode="auto">
          <a:xfrm>
            <a:off x="2405856" y="583659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</p:spTree>
    <p:extLst>
      <p:ext uri="{BB962C8B-B14F-4D97-AF65-F5344CB8AC3E}">
        <p14:creationId xmlns:p14="http://schemas.microsoft.com/office/powerpoint/2010/main" val="33470922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266"/>
          <p:cNvGrpSpPr>
            <a:grpSpLocks/>
          </p:cNvGrpSpPr>
          <p:nvPr/>
        </p:nvGrpSpPr>
        <p:grpSpPr bwMode="auto">
          <a:xfrm>
            <a:off x="4281488" y="1851025"/>
            <a:ext cx="4760912" cy="4214813"/>
            <a:chOff x="2683" y="761"/>
            <a:chExt cx="2999" cy="2530"/>
          </a:xfrm>
        </p:grpSpPr>
        <p:sp>
          <p:nvSpPr>
            <p:cNvPr id="66" name="Rectangle 267"/>
            <p:cNvSpPr>
              <a:spLocks noChangeArrowheads="1"/>
            </p:cNvSpPr>
            <p:nvPr/>
          </p:nvSpPr>
          <p:spPr bwMode="auto">
            <a:xfrm>
              <a:off x="2683" y="761"/>
              <a:ext cx="2999" cy="25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268"/>
            <p:cNvSpPr>
              <a:spLocks noChangeShapeType="1"/>
            </p:cNvSpPr>
            <p:nvPr/>
          </p:nvSpPr>
          <p:spPr bwMode="auto">
            <a:xfrm>
              <a:off x="2862" y="1474"/>
              <a:ext cx="2747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8" name="Group 269"/>
            <p:cNvGrpSpPr>
              <a:grpSpLocks/>
            </p:cNvGrpSpPr>
            <p:nvPr/>
          </p:nvGrpSpPr>
          <p:grpSpPr bwMode="auto">
            <a:xfrm>
              <a:off x="2862" y="853"/>
              <a:ext cx="2745" cy="662"/>
              <a:chOff x="2862" y="853"/>
              <a:chExt cx="2745" cy="662"/>
            </a:xfrm>
          </p:grpSpPr>
          <p:sp>
            <p:nvSpPr>
              <p:cNvPr id="69" name="Line 270"/>
              <p:cNvSpPr>
                <a:spLocks noChangeShapeType="1"/>
              </p:cNvSpPr>
              <p:nvPr/>
            </p:nvSpPr>
            <p:spPr bwMode="auto">
              <a:xfrm flipV="1">
                <a:off x="2862" y="1507"/>
                <a:ext cx="2745" cy="8"/>
              </a:xfrm>
              <a:prstGeom prst="line">
                <a:avLst/>
              </a:prstGeom>
              <a:noFill/>
              <a:ln w="76200">
                <a:pattFill prst="dkUpDiag">
                  <a:fgClr>
                    <a:schemeClr val="accent2"/>
                  </a:fgClr>
                  <a:bgClr>
                    <a:srgbClr val="CCFFFF"/>
                  </a:bgClr>
                </a:patt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271"/>
              <p:cNvSpPr>
                <a:spLocks noChangeShapeType="1"/>
              </p:cNvSpPr>
              <p:nvPr/>
            </p:nvSpPr>
            <p:spPr bwMode="auto">
              <a:xfrm>
                <a:off x="4675" y="912"/>
                <a:ext cx="0" cy="546"/>
              </a:xfrm>
              <a:prstGeom prst="line">
                <a:avLst/>
              </a:prstGeom>
              <a:noFill/>
              <a:ln w="76200">
                <a:solidFill>
                  <a:srgbClr val="080808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Text Box 272"/>
              <p:cNvSpPr txBox="1">
                <a:spLocks noChangeArrowheads="1"/>
              </p:cNvSpPr>
              <p:nvPr/>
            </p:nvSpPr>
            <p:spPr bwMode="auto">
              <a:xfrm>
                <a:off x="4743" y="853"/>
                <a:ext cx="181" cy="2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</p:grpSp>
      </p:grp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54" name="Group 285"/>
          <p:cNvGrpSpPr>
            <a:grpSpLocks/>
          </p:cNvGrpSpPr>
          <p:nvPr/>
        </p:nvGrpSpPr>
        <p:grpSpPr bwMode="auto">
          <a:xfrm>
            <a:off x="5437188" y="3054350"/>
            <a:ext cx="2928938" cy="2103437"/>
            <a:chOff x="3402" y="1288"/>
            <a:chExt cx="1845" cy="1325"/>
          </a:xfrm>
        </p:grpSpPr>
        <p:grpSp>
          <p:nvGrpSpPr>
            <p:cNvPr id="55" name="Group 286"/>
            <p:cNvGrpSpPr>
              <a:grpSpLocks/>
            </p:cNvGrpSpPr>
            <p:nvPr/>
          </p:nvGrpSpPr>
          <p:grpSpPr bwMode="auto">
            <a:xfrm>
              <a:off x="4067" y="1288"/>
              <a:ext cx="1180" cy="1325"/>
              <a:chOff x="4067" y="1288"/>
              <a:chExt cx="1180" cy="1325"/>
            </a:xfrm>
          </p:grpSpPr>
          <p:sp>
            <p:nvSpPr>
              <p:cNvPr id="57" name="Oval 287"/>
              <p:cNvSpPr>
                <a:spLocks noChangeArrowheads="1"/>
              </p:cNvSpPr>
              <p:nvPr/>
            </p:nvSpPr>
            <p:spPr bwMode="auto">
              <a:xfrm>
                <a:off x="4542" y="1288"/>
                <a:ext cx="227" cy="272"/>
              </a:xfrm>
              <a:prstGeom prst="ellipse">
                <a:avLst/>
              </a:prstGeom>
              <a:noFill/>
              <a:ln w="28575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Oval 288"/>
              <p:cNvSpPr>
                <a:spLocks noChangeArrowheads="1"/>
              </p:cNvSpPr>
              <p:nvPr/>
            </p:nvSpPr>
            <p:spPr bwMode="auto">
              <a:xfrm>
                <a:off x="4430" y="1288"/>
                <a:ext cx="454" cy="545"/>
              </a:xfrm>
              <a:prstGeom prst="ellipse">
                <a:avLst/>
              </a:prstGeom>
              <a:noFill/>
              <a:ln w="28575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Oval 289"/>
              <p:cNvSpPr>
                <a:spLocks noChangeArrowheads="1"/>
              </p:cNvSpPr>
              <p:nvPr/>
            </p:nvSpPr>
            <p:spPr bwMode="auto">
              <a:xfrm>
                <a:off x="4339" y="1295"/>
                <a:ext cx="635" cy="817"/>
              </a:xfrm>
              <a:prstGeom prst="ellipse">
                <a:avLst/>
              </a:prstGeom>
              <a:noFill/>
              <a:ln w="28575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Oval 290"/>
              <p:cNvSpPr>
                <a:spLocks noChangeArrowheads="1"/>
              </p:cNvSpPr>
              <p:nvPr/>
            </p:nvSpPr>
            <p:spPr bwMode="auto">
              <a:xfrm>
                <a:off x="4067" y="1288"/>
                <a:ext cx="1180" cy="1315"/>
              </a:xfrm>
              <a:prstGeom prst="ellipse">
                <a:avLst/>
              </a:prstGeom>
              <a:noFill/>
              <a:ln w="28575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" name="Text Box 291"/>
              <p:cNvSpPr txBox="1">
                <a:spLocks noChangeArrowheads="1"/>
              </p:cNvSpPr>
              <p:nvPr/>
            </p:nvSpPr>
            <p:spPr bwMode="auto">
              <a:xfrm>
                <a:off x="4505" y="1376"/>
                <a:ext cx="301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0.1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62" name="Text Box 292"/>
              <p:cNvSpPr txBox="1">
                <a:spLocks noChangeArrowheads="1"/>
              </p:cNvSpPr>
              <p:nvPr/>
            </p:nvSpPr>
            <p:spPr bwMode="auto">
              <a:xfrm>
                <a:off x="4475" y="1688"/>
                <a:ext cx="38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0.05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63" name="Text Box 293"/>
              <p:cNvSpPr txBox="1">
                <a:spLocks noChangeArrowheads="1"/>
              </p:cNvSpPr>
              <p:nvPr/>
            </p:nvSpPr>
            <p:spPr bwMode="auto">
              <a:xfrm>
                <a:off x="4487" y="1966"/>
                <a:ext cx="38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0.02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64" name="Text Box 294"/>
              <p:cNvSpPr txBox="1">
                <a:spLocks noChangeArrowheads="1"/>
              </p:cNvSpPr>
              <p:nvPr/>
            </p:nvSpPr>
            <p:spPr bwMode="auto">
              <a:xfrm>
                <a:off x="4469" y="2419"/>
                <a:ext cx="382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0.01</a:t>
                </a:r>
                <a:r>
                  <a:rPr kumimoji="1" lang="en-US" altLang="zh-CN" sz="20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</p:grpSp>
        <p:sp>
          <p:nvSpPr>
            <p:cNvPr id="56" name="Text Box 295"/>
            <p:cNvSpPr txBox="1">
              <a:spLocks noChangeArrowheads="1"/>
            </p:cNvSpPr>
            <p:nvPr/>
          </p:nvSpPr>
          <p:spPr bwMode="auto">
            <a:xfrm>
              <a:off x="3402" y="1353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应力泡</a:t>
              </a:r>
            </a:p>
          </p:txBody>
        </p:sp>
      </p:grpSp>
      <p:sp>
        <p:nvSpPr>
          <p:cNvPr id="7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7" name="Rectangle 48"/>
          <p:cNvSpPr>
            <a:spLocks noChangeArrowheads="1"/>
          </p:cNvSpPr>
          <p:nvPr/>
        </p:nvSpPr>
        <p:spPr bwMode="auto">
          <a:xfrm>
            <a:off x="1009650" y="4829175"/>
            <a:ext cx="2667000" cy="4429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8" name="Object 2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39136"/>
              </p:ext>
            </p:extLst>
          </p:nvPr>
        </p:nvGraphicFramePr>
        <p:xfrm>
          <a:off x="331788" y="1181100"/>
          <a:ext cx="39147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0744" name="公式" r:id="rId3" imgW="2145960" imgH="419040" progId="Equation.3">
                  <p:embed/>
                </p:oleObj>
              </mc:Choice>
              <mc:Fallback>
                <p:oleObj name="公式" r:id="rId3" imgW="2145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1181100"/>
                        <a:ext cx="391477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300"/>
          <p:cNvSpPr txBox="1">
            <a:spLocks noChangeArrowheads="1"/>
          </p:cNvSpPr>
          <p:nvPr/>
        </p:nvSpPr>
        <p:spPr bwMode="auto">
          <a:xfrm>
            <a:off x="385763" y="53022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竖直集中力－布辛内斯克课题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80" name="Text Box 313"/>
          <p:cNvSpPr txBox="1">
            <a:spLocks noChangeArrowheads="1"/>
          </p:cNvSpPr>
          <p:nvPr/>
        </p:nvSpPr>
        <p:spPr bwMode="auto">
          <a:xfrm>
            <a:off x="4930775" y="1348367"/>
            <a:ext cx="3976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45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108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8767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448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20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592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164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幼圆" pitchFamily="49" charset="-122"/>
              <a:buNone/>
            </a:pP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l-GR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无关，呈轴对称分布</a:t>
            </a:r>
          </a:p>
        </p:txBody>
      </p:sp>
      <p:sp>
        <p:nvSpPr>
          <p:cNvPr id="81" name="AutoShape 314"/>
          <p:cNvSpPr>
            <a:spLocks noChangeArrowheads="1"/>
          </p:cNvSpPr>
          <p:nvPr/>
        </p:nvSpPr>
        <p:spPr bwMode="auto">
          <a:xfrm>
            <a:off x="4322762" y="1370592"/>
            <a:ext cx="468313" cy="382587"/>
          </a:xfrm>
          <a:prstGeom prst="homePlate">
            <a:avLst>
              <a:gd name="adj" fmla="val 30602"/>
            </a:avLst>
          </a:prstGeom>
          <a:solidFill>
            <a:srgbClr val="FFC58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AutoShape 24"/>
          <p:cNvSpPr>
            <a:spLocks noChangeArrowheads="1"/>
          </p:cNvSpPr>
          <p:nvPr/>
        </p:nvSpPr>
        <p:spPr bwMode="auto">
          <a:xfrm>
            <a:off x="3768217" y="4868068"/>
            <a:ext cx="442912" cy="350838"/>
          </a:xfrm>
          <a:prstGeom prst="homePlate">
            <a:avLst>
              <a:gd name="adj" fmla="val 315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608013" y="2411696"/>
            <a:ext cx="3068637" cy="3017554"/>
            <a:chOff x="608013" y="2316446"/>
            <a:chExt cx="3068637" cy="3017554"/>
          </a:xfrm>
        </p:grpSpPr>
        <p:sp>
          <p:nvSpPr>
            <p:cNvPr id="84" name="Text Box 279"/>
            <p:cNvSpPr txBox="1">
              <a:spLocks noChangeArrowheads="1"/>
            </p:cNvSpPr>
            <p:nvPr/>
          </p:nvSpPr>
          <p:spPr bwMode="auto">
            <a:xfrm>
              <a:off x="608013" y="3073400"/>
              <a:ext cx="3068637" cy="21399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50850" indent="-4508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630238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kumimoji="0" lang="en-US" altLang="zh-CN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kumimoji="0" lang="zh-CN" altLang="en-US" b="1" dirty="0">
                  <a:solidFill>
                    <a:srgbClr val="000066"/>
                  </a:solidFill>
                  <a:ea typeface="幼圆" pitchFamily="49" charset="-122"/>
                </a:rPr>
                <a:t>作用线上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在某一水平面上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zh-CN" altLang="en-US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在</a:t>
              </a:r>
              <a:r>
                <a:rPr lang="en-US" altLang="zh-CN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r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﹥0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的竖直线上</a:t>
              </a:r>
            </a:p>
            <a:p>
              <a:pPr>
                <a:lnSpc>
                  <a:spcPct val="125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A50021"/>
                </a:buClr>
                <a:buFont typeface="Wingdings" pitchFamily="2" charset="2"/>
                <a:buChar char="F"/>
              </a:pPr>
              <a:r>
                <a:rPr lang="en-US" altLang="zh-CN" b="1" i="1" dirty="0">
                  <a:solidFill>
                    <a:srgbClr val="000066"/>
                  </a:solidFill>
                  <a:ea typeface="+mn-ea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b="1" baseline="-25000" dirty="0">
                  <a:solidFill>
                    <a:srgbClr val="000066"/>
                  </a:solidFill>
                  <a:ea typeface="+mn-ea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等值线</a:t>
              </a:r>
              <a:r>
                <a:rPr lang="en-US" altLang="zh-CN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-</a:t>
              </a:r>
              <a:r>
                <a:rPr lang="zh-CN" altLang="en-US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应力泡</a:t>
              </a:r>
              <a:endParaRPr lang="en-US" altLang="zh-CN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55330" y="2316446"/>
              <a:ext cx="2659702" cy="462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</a:rPr>
                <a:t>垂直应力分布规律</a:t>
              </a:r>
              <a:endPara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86" name="矩形 85"/>
            <p:cNvSpPr/>
            <p:nvPr/>
          </p:nvSpPr>
          <p:spPr bwMode="auto">
            <a:xfrm>
              <a:off x="608013" y="2316446"/>
              <a:ext cx="3068637" cy="3017554"/>
            </a:xfrm>
            <a:prstGeom prst="rect">
              <a:avLst/>
            </a:prstGeom>
            <a:noFill/>
            <a:ln w="1905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87" name="Rectangle 273"/>
          <p:cNvSpPr>
            <a:spLocks noChangeArrowheads="1"/>
          </p:cNvSpPr>
          <p:nvPr/>
        </p:nvSpPr>
        <p:spPr bwMode="auto">
          <a:xfrm>
            <a:off x="2405856" y="5836590"/>
            <a:ext cx="4770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</p:spTree>
    <p:extLst>
      <p:ext uri="{BB962C8B-B14F-4D97-AF65-F5344CB8AC3E}">
        <p14:creationId xmlns:p14="http://schemas.microsoft.com/office/powerpoint/2010/main" val="334709228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069" name="Rectangle 101"/>
          <p:cNvSpPr>
            <a:spLocks noChangeArrowheads="1"/>
          </p:cNvSpPr>
          <p:nvPr/>
        </p:nvSpPr>
        <p:spPr bwMode="auto">
          <a:xfrm>
            <a:off x="2774950" y="5722938"/>
            <a:ext cx="4770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集中荷载的附加应力</a:t>
            </a:r>
          </a:p>
        </p:txBody>
      </p:sp>
      <p:sp>
        <p:nvSpPr>
          <p:cNvPr id="1364070" name="Text Box 102"/>
          <p:cNvSpPr txBox="1">
            <a:spLocks noChangeArrowheads="1"/>
          </p:cNvSpPr>
          <p:nvPr/>
        </p:nvSpPr>
        <p:spPr bwMode="auto">
          <a:xfrm>
            <a:off x="376238" y="708025"/>
            <a:ext cx="4467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水平集中力－西罗提课题</a:t>
            </a:r>
            <a:endParaRPr lang="zh-CN" altLang="en-US" sz="2800" b="1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364071" name="Group 103"/>
          <p:cNvGrpSpPr>
            <a:grpSpLocks/>
          </p:cNvGrpSpPr>
          <p:nvPr/>
        </p:nvGrpSpPr>
        <p:grpSpPr bwMode="auto">
          <a:xfrm>
            <a:off x="0" y="1350963"/>
            <a:ext cx="9144000" cy="2983418"/>
            <a:chOff x="225" y="800"/>
            <a:chExt cx="5386" cy="1852"/>
          </a:xfrm>
        </p:grpSpPr>
        <p:sp>
          <p:nvSpPr>
            <p:cNvPr id="1364072" name="Rectangle 104"/>
            <p:cNvSpPr>
              <a:spLocks noChangeArrowheads="1"/>
            </p:cNvSpPr>
            <p:nvPr/>
          </p:nvSpPr>
          <p:spPr bwMode="auto">
            <a:xfrm>
              <a:off x="225" y="800"/>
              <a:ext cx="5386" cy="185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64073" name="Group 105"/>
            <p:cNvGrpSpPr>
              <a:grpSpLocks/>
            </p:cNvGrpSpPr>
            <p:nvPr/>
          </p:nvGrpSpPr>
          <p:grpSpPr bwMode="auto">
            <a:xfrm>
              <a:off x="3955" y="1032"/>
              <a:ext cx="1539" cy="1494"/>
              <a:chOff x="3988" y="1042"/>
              <a:chExt cx="1539" cy="1494"/>
            </a:xfrm>
          </p:grpSpPr>
          <p:sp>
            <p:nvSpPr>
              <p:cNvPr id="1364074" name="AutoShape 106"/>
              <p:cNvSpPr>
                <a:spLocks noChangeArrowheads="1"/>
              </p:cNvSpPr>
              <p:nvPr/>
            </p:nvSpPr>
            <p:spPr bwMode="auto">
              <a:xfrm>
                <a:off x="4040" y="1413"/>
                <a:ext cx="1123" cy="1123"/>
              </a:xfrm>
              <a:prstGeom prst="cube">
                <a:avLst>
                  <a:gd name="adj" fmla="val 2840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4075" name="Freeform 107"/>
              <p:cNvSpPr>
                <a:spLocks noChangeAspect="1"/>
              </p:cNvSpPr>
              <p:nvPr/>
            </p:nvSpPr>
            <p:spPr bwMode="auto">
              <a:xfrm>
                <a:off x="4200" y="2128"/>
                <a:ext cx="257" cy="257"/>
              </a:xfrm>
              <a:custGeom>
                <a:avLst/>
                <a:gdLst>
                  <a:gd name="T0" fmla="*/ 0 w 326"/>
                  <a:gd name="T1" fmla="*/ 325 h 325"/>
                  <a:gd name="T2" fmla="*/ 326 w 326"/>
                  <a:gd name="T3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6" h="325">
                    <a:moveTo>
                      <a:pt x="0" y="325"/>
                    </a:moveTo>
                    <a:lnTo>
                      <a:pt x="326" y="0"/>
                    </a:lnTo>
                  </a:path>
                </a:pathLst>
              </a:custGeom>
              <a:solidFill>
                <a:srgbClr val="CCECFF"/>
              </a:solidFill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76" name="Line 108"/>
              <p:cNvSpPr>
                <a:spLocks noChangeAspect="1" noChangeShapeType="1"/>
              </p:cNvSpPr>
              <p:nvPr/>
            </p:nvSpPr>
            <p:spPr bwMode="auto">
              <a:xfrm flipH="1">
                <a:off x="4221" y="2136"/>
                <a:ext cx="467" cy="0"/>
              </a:xfrm>
              <a:prstGeom prst="line">
                <a:avLst/>
              </a:prstGeom>
              <a:noFill/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77" name="Freeform 109"/>
              <p:cNvSpPr>
                <a:spLocks noChangeAspect="1"/>
              </p:cNvSpPr>
              <p:nvPr/>
            </p:nvSpPr>
            <p:spPr bwMode="auto">
              <a:xfrm rot="10800000">
                <a:off x="4432" y="1437"/>
                <a:ext cx="258" cy="257"/>
              </a:xfrm>
              <a:custGeom>
                <a:avLst/>
                <a:gdLst>
                  <a:gd name="T0" fmla="*/ 0 w 326"/>
                  <a:gd name="T1" fmla="*/ 325 h 325"/>
                  <a:gd name="T2" fmla="*/ 326 w 326"/>
                  <a:gd name="T3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6" h="325">
                    <a:moveTo>
                      <a:pt x="0" y="325"/>
                    </a:moveTo>
                    <a:lnTo>
                      <a:pt x="326" y="0"/>
                    </a:lnTo>
                  </a:path>
                </a:pathLst>
              </a:custGeom>
              <a:solidFill>
                <a:srgbClr val="CCECFF"/>
              </a:solidFill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78" name="Line 110"/>
              <p:cNvSpPr>
                <a:spLocks noChangeAspect="1" noChangeShapeType="1"/>
              </p:cNvSpPr>
              <p:nvPr/>
            </p:nvSpPr>
            <p:spPr bwMode="auto">
              <a:xfrm rot="10800000" flipH="1">
                <a:off x="4394" y="1562"/>
                <a:ext cx="467" cy="0"/>
              </a:xfrm>
              <a:prstGeom prst="line">
                <a:avLst/>
              </a:prstGeom>
              <a:noFill/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79" name="Freeform 111"/>
              <p:cNvSpPr>
                <a:spLocks noChangeAspect="1"/>
              </p:cNvSpPr>
              <p:nvPr/>
            </p:nvSpPr>
            <p:spPr bwMode="auto">
              <a:xfrm>
                <a:off x="4883" y="1848"/>
                <a:ext cx="258" cy="257"/>
              </a:xfrm>
              <a:custGeom>
                <a:avLst/>
                <a:gdLst>
                  <a:gd name="T0" fmla="*/ 0 w 326"/>
                  <a:gd name="T1" fmla="*/ 325 h 325"/>
                  <a:gd name="T2" fmla="*/ 326 w 326"/>
                  <a:gd name="T3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6" h="325">
                    <a:moveTo>
                      <a:pt x="0" y="325"/>
                    </a:moveTo>
                    <a:lnTo>
                      <a:pt x="326" y="0"/>
                    </a:lnTo>
                  </a:path>
                </a:pathLst>
              </a:custGeom>
              <a:solidFill>
                <a:srgbClr val="CCECFF"/>
              </a:solidFill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80" name="Line 112"/>
              <p:cNvSpPr>
                <a:spLocks noChangeAspect="1" noChangeShapeType="1"/>
              </p:cNvSpPr>
              <p:nvPr/>
            </p:nvSpPr>
            <p:spPr bwMode="auto">
              <a:xfrm rot="10800000">
                <a:off x="4988" y="1759"/>
                <a:ext cx="0" cy="467"/>
              </a:xfrm>
              <a:prstGeom prst="line">
                <a:avLst/>
              </a:prstGeom>
              <a:noFill/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81" name="Line 113"/>
              <p:cNvSpPr>
                <a:spLocks noChangeAspect="1" noChangeShapeType="1"/>
              </p:cNvSpPr>
              <p:nvPr/>
            </p:nvSpPr>
            <p:spPr bwMode="auto">
              <a:xfrm rot="10800000">
                <a:off x="4445" y="1871"/>
                <a:ext cx="0" cy="466"/>
              </a:xfrm>
              <a:prstGeom prst="line">
                <a:avLst/>
              </a:prstGeom>
              <a:noFill/>
              <a:ln w="57150">
                <a:solidFill>
                  <a:srgbClr val="008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82" name="Line 114"/>
              <p:cNvSpPr>
                <a:spLocks noChangeAspect="1" noChangeShapeType="1"/>
              </p:cNvSpPr>
              <p:nvPr/>
            </p:nvSpPr>
            <p:spPr bwMode="auto">
              <a:xfrm>
                <a:off x="4600" y="1118"/>
                <a:ext cx="0" cy="466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83" name="Text Box 115"/>
              <p:cNvSpPr txBox="1">
                <a:spLocks noChangeArrowheads="1"/>
              </p:cNvSpPr>
              <p:nvPr/>
            </p:nvSpPr>
            <p:spPr bwMode="auto">
              <a:xfrm>
                <a:off x="3988" y="2229"/>
                <a:ext cx="27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y</a:t>
                </a:r>
                <a:endParaRPr lang="en-US" altLang="zh-CN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4" name="Text Box 116"/>
              <p:cNvSpPr txBox="1">
                <a:spLocks noChangeArrowheads="1"/>
              </p:cNvSpPr>
              <p:nvPr/>
            </p:nvSpPr>
            <p:spPr bwMode="auto">
              <a:xfrm>
                <a:off x="4391" y="1644"/>
                <a:ext cx="300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  <a:r>
                  <a:rPr lang="en-US" altLang="zh-CN" sz="24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y</a:t>
                </a:r>
                <a:r>
                  <a:rPr lang="en-US" altLang="zh-CN" sz="2400" b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</a:t>
                </a:r>
                <a:endPara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5" name="Text Box 117"/>
              <p:cNvSpPr txBox="1">
                <a:spLocks noChangeArrowheads="1"/>
              </p:cNvSpPr>
              <p:nvPr/>
            </p:nvSpPr>
            <p:spPr bwMode="auto">
              <a:xfrm>
                <a:off x="4673" y="2021"/>
                <a:ext cx="309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  <a:r>
                  <a:rPr lang="en-US" altLang="zh-CN" sz="24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xy</a:t>
                </a:r>
                <a:endPara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6" name="Text Box 118"/>
              <p:cNvSpPr txBox="1">
                <a:spLocks noChangeArrowheads="1"/>
              </p:cNvSpPr>
              <p:nvPr/>
            </p:nvSpPr>
            <p:spPr bwMode="auto">
              <a:xfrm>
                <a:off x="4814" y="1422"/>
                <a:ext cx="300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</a:t>
                </a:r>
                <a:r>
                  <a:rPr lang="en-US" altLang="zh-CN" sz="2400" b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</a:t>
                </a:r>
                <a:r>
                  <a:rPr lang="en-US" altLang="zh-CN" sz="24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x</a:t>
                </a:r>
                <a:endPara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7" name="Text Box 119"/>
              <p:cNvSpPr txBox="1">
                <a:spLocks noChangeArrowheads="1"/>
              </p:cNvSpPr>
              <p:nvPr/>
            </p:nvSpPr>
            <p:spPr bwMode="auto">
              <a:xfrm>
                <a:off x="5250" y="1934"/>
                <a:ext cx="277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x</a:t>
                </a:r>
                <a:endParaRPr lang="en-US" altLang="zh-CN" sz="24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8" name="Text Box 120"/>
              <p:cNvSpPr txBox="1">
                <a:spLocks noChangeArrowheads="1"/>
              </p:cNvSpPr>
              <p:nvPr/>
            </p:nvSpPr>
            <p:spPr bwMode="auto">
              <a:xfrm>
                <a:off x="4603" y="1042"/>
                <a:ext cx="271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64089" name="Line 121"/>
              <p:cNvSpPr>
                <a:spLocks noChangeAspect="1" noChangeShapeType="1"/>
              </p:cNvSpPr>
              <p:nvPr/>
            </p:nvSpPr>
            <p:spPr bwMode="auto">
              <a:xfrm flipH="1">
                <a:off x="4981" y="1991"/>
                <a:ext cx="466" cy="0"/>
              </a:xfrm>
              <a:prstGeom prst="line">
                <a:avLst/>
              </a:prstGeom>
              <a:noFill/>
              <a:ln w="57150">
                <a:solidFill>
                  <a:srgbClr val="990033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64090" name="Group 122"/>
            <p:cNvGrpSpPr>
              <a:grpSpLocks/>
            </p:cNvGrpSpPr>
            <p:nvPr/>
          </p:nvGrpSpPr>
          <p:grpSpPr bwMode="auto">
            <a:xfrm>
              <a:off x="397" y="882"/>
              <a:ext cx="3248" cy="1770"/>
              <a:chOff x="397" y="882"/>
              <a:chExt cx="3248" cy="1770"/>
            </a:xfrm>
          </p:grpSpPr>
          <p:sp>
            <p:nvSpPr>
              <p:cNvPr id="1364091" name="Freeform 123"/>
              <p:cNvSpPr>
                <a:spLocks/>
              </p:cNvSpPr>
              <p:nvPr/>
            </p:nvSpPr>
            <p:spPr bwMode="auto">
              <a:xfrm>
                <a:off x="448" y="1191"/>
                <a:ext cx="3124" cy="960"/>
              </a:xfrm>
              <a:custGeom>
                <a:avLst/>
                <a:gdLst>
                  <a:gd name="T0" fmla="*/ 0 w 3245"/>
                  <a:gd name="T1" fmla="*/ 960 h 960"/>
                  <a:gd name="T2" fmla="*/ 1152 w 3245"/>
                  <a:gd name="T3" fmla="*/ 0 h 960"/>
                  <a:gd name="T4" fmla="*/ 3245 w 3245"/>
                  <a:gd name="T5" fmla="*/ 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45" h="960">
                    <a:moveTo>
                      <a:pt x="0" y="960"/>
                    </a:moveTo>
                    <a:lnTo>
                      <a:pt x="1152" y="0"/>
                    </a:lnTo>
                    <a:lnTo>
                      <a:pt x="3245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4092" name="Text Box 124"/>
              <p:cNvSpPr txBox="1">
                <a:spLocks noChangeArrowheads="1"/>
              </p:cNvSpPr>
              <p:nvPr/>
            </p:nvSpPr>
            <p:spPr bwMode="auto">
              <a:xfrm>
                <a:off x="397" y="2147"/>
                <a:ext cx="87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6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y</a:t>
                </a:r>
              </a:p>
            </p:txBody>
          </p:sp>
          <p:sp>
            <p:nvSpPr>
              <p:cNvPr id="1364093" name="Text Box 125"/>
              <p:cNvSpPr txBox="1">
                <a:spLocks noChangeArrowheads="1"/>
              </p:cNvSpPr>
              <p:nvPr/>
            </p:nvSpPr>
            <p:spPr bwMode="auto">
              <a:xfrm>
                <a:off x="1625" y="2268"/>
                <a:ext cx="120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z</a:t>
                </a:r>
              </a:p>
            </p:txBody>
          </p:sp>
          <p:sp>
            <p:nvSpPr>
              <p:cNvPr id="1364094" name="Text Box 126"/>
              <p:cNvSpPr txBox="1">
                <a:spLocks noChangeArrowheads="1"/>
              </p:cNvSpPr>
              <p:nvPr/>
            </p:nvSpPr>
            <p:spPr bwMode="auto">
              <a:xfrm>
                <a:off x="3547" y="907"/>
                <a:ext cx="98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6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x</a:t>
                </a:r>
              </a:p>
            </p:txBody>
          </p:sp>
          <p:sp>
            <p:nvSpPr>
              <p:cNvPr id="1364095" name="Text Box 127"/>
              <p:cNvSpPr txBox="1">
                <a:spLocks noChangeArrowheads="1"/>
              </p:cNvSpPr>
              <p:nvPr/>
            </p:nvSpPr>
            <p:spPr bwMode="auto">
              <a:xfrm>
                <a:off x="1536" y="882"/>
                <a:ext cx="97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6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o</a:t>
                </a:r>
              </a:p>
            </p:txBody>
          </p:sp>
          <p:sp>
            <p:nvSpPr>
              <p:cNvPr id="1364096" name="Freeform 128"/>
              <p:cNvSpPr>
                <a:spLocks/>
              </p:cNvSpPr>
              <p:nvPr/>
            </p:nvSpPr>
            <p:spPr bwMode="auto">
              <a:xfrm rot="-5400000">
                <a:off x="1345" y="977"/>
                <a:ext cx="1" cy="423"/>
              </a:xfrm>
              <a:custGeom>
                <a:avLst/>
                <a:gdLst>
                  <a:gd name="T0" fmla="*/ 1 w 1"/>
                  <a:gd name="T1" fmla="*/ 0 h 517"/>
                  <a:gd name="T2" fmla="*/ 0 w 1"/>
                  <a:gd name="T3" fmla="*/ 517 h 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17">
                    <a:moveTo>
                      <a:pt x="1" y="0"/>
                    </a:moveTo>
                    <a:lnTo>
                      <a:pt x="0" y="517"/>
                    </a:lnTo>
                  </a:path>
                </a:pathLst>
              </a:custGeom>
              <a:noFill/>
              <a:ln w="101600" cap="flat" cmpd="sng">
                <a:solidFill>
                  <a:srgbClr val="990033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97" name="Text Box 129"/>
              <p:cNvSpPr txBox="1">
                <a:spLocks noChangeArrowheads="1"/>
              </p:cNvSpPr>
              <p:nvPr/>
            </p:nvSpPr>
            <p:spPr bwMode="auto">
              <a:xfrm>
                <a:off x="905" y="1069"/>
                <a:ext cx="134" cy="2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900" b="1" i="1" dirty="0">
                    <a:solidFill>
                      <a:srgbClr val="000066"/>
                    </a:solidFill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1364098" name="Line 130"/>
              <p:cNvSpPr>
                <a:spLocks noChangeShapeType="1"/>
              </p:cNvSpPr>
              <p:nvPr/>
            </p:nvSpPr>
            <p:spPr bwMode="auto">
              <a:xfrm>
                <a:off x="1085" y="1604"/>
                <a:ext cx="155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099" name="Freeform 131"/>
              <p:cNvSpPr>
                <a:spLocks/>
              </p:cNvSpPr>
              <p:nvPr/>
            </p:nvSpPr>
            <p:spPr bwMode="auto">
              <a:xfrm>
                <a:off x="2642" y="1192"/>
                <a:ext cx="521" cy="416"/>
              </a:xfrm>
              <a:custGeom>
                <a:avLst/>
                <a:gdLst>
                  <a:gd name="T0" fmla="*/ 0 w 637"/>
                  <a:gd name="T1" fmla="*/ 509 h 509"/>
                  <a:gd name="T2" fmla="*/ 637 w 637"/>
                  <a:gd name="T3" fmla="*/ 0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37" h="509">
                    <a:moveTo>
                      <a:pt x="0" y="509"/>
                    </a:moveTo>
                    <a:lnTo>
                      <a:pt x="637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100" name="Freeform 132"/>
              <p:cNvSpPr>
                <a:spLocks/>
              </p:cNvSpPr>
              <p:nvPr/>
            </p:nvSpPr>
            <p:spPr bwMode="auto">
              <a:xfrm>
                <a:off x="1551" y="1190"/>
                <a:ext cx="1096" cy="413"/>
              </a:xfrm>
              <a:custGeom>
                <a:avLst/>
                <a:gdLst>
                  <a:gd name="T0" fmla="*/ 0 w 1340"/>
                  <a:gd name="T1" fmla="*/ 0 h 505"/>
                  <a:gd name="T2" fmla="*/ 1340 w 1340"/>
                  <a:gd name="T3" fmla="*/ 505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40" h="505">
                    <a:moveTo>
                      <a:pt x="0" y="0"/>
                    </a:moveTo>
                    <a:lnTo>
                      <a:pt x="1340" y="505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101" name="Freeform 133"/>
              <p:cNvSpPr>
                <a:spLocks/>
              </p:cNvSpPr>
              <p:nvPr/>
            </p:nvSpPr>
            <p:spPr bwMode="auto">
              <a:xfrm>
                <a:off x="2647" y="1603"/>
                <a:ext cx="1" cy="816"/>
              </a:xfrm>
              <a:custGeom>
                <a:avLst/>
                <a:gdLst>
                  <a:gd name="T0" fmla="*/ 0 w 1"/>
                  <a:gd name="T1" fmla="*/ 0 h 998"/>
                  <a:gd name="T2" fmla="*/ 1 w 1"/>
                  <a:gd name="T3" fmla="*/ 998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998">
                    <a:moveTo>
                      <a:pt x="0" y="0"/>
                    </a:moveTo>
                    <a:lnTo>
                      <a:pt x="1" y="998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102" name="Freeform 134"/>
              <p:cNvSpPr>
                <a:spLocks/>
              </p:cNvSpPr>
              <p:nvPr/>
            </p:nvSpPr>
            <p:spPr bwMode="auto">
              <a:xfrm>
                <a:off x="1553" y="1190"/>
                <a:ext cx="1099" cy="1234"/>
              </a:xfrm>
              <a:custGeom>
                <a:avLst/>
                <a:gdLst>
                  <a:gd name="T0" fmla="*/ 0 w 1343"/>
                  <a:gd name="T1" fmla="*/ 0 h 1509"/>
                  <a:gd name="T2" fmla="*/ 1343 w 1343"/>
                  <a:gd name="T3" fmla="*/ 1509 h 1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43" h="1509">
                    <a:moveTo>
                      <a:pt x="0" y="0"/>
                    </a:moveTo>
                    <a:lnTo>
                      <a:pt x="1343" y="1509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103" name="Text Box 135"/>
              <p:cNvSpPr txBox="1">
                <a:spLocks noChangeArrowheads="1"/>
              </p:cNvSpPr>
              <p:nvPr/>
            </p:nvSpPr>
            <p:spPr bwMode="auto">
              <a:xfrm>
                <a:off x="2461" y="2434"/>
                <a:ext cx="163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M</a:t>
                </a:r>
              </a:p>
            </p:txBody>
          </p:sp>
          <p:sp>
            <p:nvSpPr>
              <p:cNvPr id="1364104" name="Text Box 136"/>
              <p:cNvSpPr txBox="1">
                <a:spLocks noChangeArrowheads="1"/>
              </p:cNvSpPr>
              <p:nvPr/>
            </p:nvSpPr>
            <p:spPr bwMode="auto">
              <a:xfrm>
                <a:off x="1711" y="1558"/>
                <a:ext cx="87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x</a:t>
                </a:r>
              </a:p>
            </p:txBody>
          </p:sp>
          <p:sp>
            <p:nvSpPr>
              <p:cNvPr id="1364105" name="Text Box 137"/>
              <p:cNvSpPr txBox="1">
                <a:spLocks noChangeArrowheads="1"/>
              </p:cNvSpPr>
              <p:nvPr/>
            </p:nvSpPr>
            <p:spPr bwMode="auto">
              <a:xfrm>
                <a:off x="2911" y="1346"/>
                <a:ext cx="77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y</a:t>
                </a:r>
              </a:p>
            </p:txBody>
          </p:sp>
          <p:sp>
            <p:nvSpPr>
              <p:cNvPr id="1364106" name="Text Box 138"/>
              <p:cNvSpPr txBox="1">
                <a:spLocks noChangeArrowheads="1"/>
              </p:cNvSpPr>
              <p:nvPr/>
            </p:nvSpPr>
            <p:spPr bwMode="auto">
              <a:xfrm>
                <a:off x="2687" y="1845"/>
                <a:ext cx="76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z</a:t>
                </a:r>
              </a:p>
            </p:txBody>
          </p:sp>
          <p:sp>
            <p:nvSpPr>
              <p:cNvPr id="1364107" name="Text Box 139"/>
              <p:cNvSpPr txBox="1">
                <a:spLocks noChangeArrowheads="1"/>
              </p:cNvSpPr>
              <p:nvPr/>
            </p:nvSpPr>
            <p:spPr bwMode="auto">
              <a:xfrm>
                <a:off x="2156" y="1233"/>
                <a:ext cx="68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r</a:t>
                </a:r>
              </a:p>
            </p:txBody>
          </p:sp>
          <p:sp>
            <p:nvSpPr>
              <p:cNvPr id="1364108" name="Text Box 140"/>
              <p:cNvSpPr txBox="1">
                <a:spLocks noChangeArrowheads="1"/>
              </p:cNvSpPr>
              <p:nvPr/>
            </p:nvSpPr>
            <p:spPr bwMode="auto">
              <a:xfrm>
                <a:off x="1997" y="1778"/>
                <a:ext cx="116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r">
                  <a:lnSpc>
                    <a:spcPct val="100000"/>
                  </a:lnSpc>
                </a:pPr>
                <a:r>
                  <a:rPr lang="en-US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R</a:t>
                </a:r>
              </a:p>
            </p:txBody>
          </p:sp>
          <p:sp>
            <p:nvSpPr>
              <p:cNvPr id="1364109" name="Text Box 141"/>
              <p:cNvSpPr txBox="1">
                <a:spLocks noChangeArrowheads="1"/>
              </p:cNvSpPr>
              <p:nvPr/>
            </p:nvSpPr>
            <p:spPr bwMode="auto">
              <a:xfrm>
                <a:off x="2456" y="1856"/>
                <a:ext cx="89" cy="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l-GR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β</a:t>
                </a:r>
              </a:p>
            </p:txBody>
          </p:sp>
          <p:sp>
            <p:nvSpPr>
              <p:cNvPr id="1364110" name="Text Box 142"/>
              <p:cNvSpPr txBox="1">
                <a:spLocks noChangeArrowheads="1"/>
              </p:cNvSpPr>
              <p:nvPr/>
            </p:nvSpPr>
            <p:spPr bwMode="auto">
              <a:xfrm>
                <a:off x="2691" y="1553"/>
                <a:ext cx="206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US" altLang="zh-CN" sz="2300" b="1" i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M</a:t>
                </a:r>
              </a:p>
            </p:txBody>
          </p:sp>
          <p:sp>
            <p:nvSpPr>
              <p:cNvPr id="1364111" name="Text Box 143"/>
              <p:cNvSpPr txBox="1">
                <a:spLocks noChangeArrowheads="1"/>
              </p:cNvSpPr>
              <p:nvPr/>
            </p:nvSpPr>
            <p:spPr bwMode="auto">
              <a:xfrm>
                <a:off x="1881" y="1129"/>
                <a:ext cx="17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374650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74771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122363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1495425" defTabSz="747713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19526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4098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28670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324225" defTabSz="747713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l-GR" altLang="zh-CN" sz="23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α</a:t>
                </a:r>
              </a:p>
            </p:txBody>
          </p:sp>
          <p:sp>
            <p:nvSpPr>
              <p:cNvPr id="1364112" name="Oval 144"/>
              <p:cNvSpPr>
                <a:spLocks noChangeArrowheads="1"/>
              </p:cNvSpPr>
              <p:nvPr/>
            </p:nvSpPr>
            <p:spPr bwMode="auto">
              <a:xfrm>
                <a:off x="2606" y="2373"/>
                <a:ext cx="74" cy="74"/>
              </a:xfrm>
              <a:prstGeom prst="ellipse">
                <a:avLst/>
              </a:prstGeom>
              <a:solidFill>
                <a:srgbClr val="990033"/>
              </a:solidFill>
              <a:ln w="57150" algn="ctr">
                <a:solidFill>
                  <a:srgbClr val="9900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4113" name="Line 145"/>
              <p:cNvSpPr>
                <a:spLocks noChangeShapeType="1"/>
              </p:cNvSpPr>
              <p:nvPr/>
            </p:nvSpPr>
            <p:spPr bwMode="auto">
              <a:xfrm>
                <a:off x="1551" y="1195"/>
                <a:ext cx="0" cy="12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4114" name="Freeform 146"/>
              <p:cNvSpPr>
                <a:spLocks/>
              </p:cNvSpPr>
              <p:nvPr/>
            </p:nvSpPr>
            <p:spPr bwMode="auto">
              <a:xfrm>
                <a:off x="1828" y="1191"/>
                <a:ext cx="18" cy="105"/>
              </a:xfrm>
              <a:custGeom>
                <a:avLst/>
                <a:gdLst>
                  <a:gd name="T0" fmla="*/ 0 w 18"/>
                  <a:gd name="T1" fmla="*/ 0 h 105"/>
                  <a:gd name="T2" fmla="*/ 17 w 18"/>
                  <a:gd name="T3" fmla="*/ 49 h 105"/>
                  <a:gd name="T4" fmla="*/ 5 w 18"/>
                  <a:gd name="T5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105">
                    <a:moveTo>
                      <a:pt x="0" y="0"/>
                    </a:moveTo>
                    <a:cubicBezTo>
                      <a:pt x="3" y="8"/>
                      <a:pt x="16" y="32"/>
                      <a:pt x="17" y="49"/>
                    </a:cubicBezTo>
                    <a:cubicBezTo>
                      <a:pt x="18" y="66"/>
                      <a:pt x="7" y="93"/>
                      <a:pt x="5" y="105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4115" name="Freeform 147"/>
              <p:cNvSpPr>
                <a:spLocks/>
              </p:cNvSpPr>
              <p:nvPr/>
            </p:nvSpPr>
            <p:spPr bwMode="auto">
              <a:xfrm>
                <a:off x="2439" y="2098"/>
                <a:ext cx="210" cy="94"/>
              </a:xfrm>
              <a:custGeom>
                <a:avLst/>
                <a:gdLst>
                  <a:gd name="T0" fmla="*/ 0 w 210"/>
                  <a:gd name="T1" fmla="*/ 94 h 94"/>
                  <a:gd name="T2" fmla="*/ 37 w 210"/>
                  <a:gd name="T3" fmla="*/ 37 h 94"/>
                  <a:gd name="T4" fmla="*/ 91 w 210"/>
                  <a:gd name="T5" fmla="*/ 5 h 94"/>
                  <a:gd name="T6" fmla="*/ 150 w 210"/>
                  <a:gd name="T7" fmla="*/ 5 h 94"/>
                  <a:gd name="T8" fmla="*/ 210 w 210"/>
                  <a:gd name="T9" fmla="*/ 2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94">
                    <a:moveTo>
                      <a:pt x="0" y="94"/>
                    </a:moveTo>
                    <a:cubicBezTo>
                      <a:pt x="6" y="84"/>
                      <a:pt x="22" y="52"/>
                      <a:pt x="37" y="37"/>
                    </a:cubicBezTo>
                    <a:cubicBezTo>
                      <a:pt x="52" y="22"/>
                      <a:pt x="72" y="10"/>
                      <a:pt x="91" y="5"/>
                    </a:cubicBezTo>
                    <a:cubicBezTo>
                      <a:pt x="110" y="0"/>
                      <a:pt x="130" y="2"/>
                      <a:pt x="150" y="5"/>
                    </a:cubicBezTo>
                    <a:cubicBezTo>
                      <a:pt x="170" y="8"/>
                      <a:pt x="198" y="20"/>
                      <a:pt x="210" y="24"/>
                    </a:cubicBezTo>
                  </a:path>
                </a:pathLst>
              </a:cu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364116" name="Object 1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821290"/>
              </p:ext>
            </p:extLst>
          </p:nvPr>
        </p:nvGraphicFramePr>
        <p:xfrm>
          <a:off x="5080000" y="4470400"/>
          <a:ext cx="25209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222" name="公式" r:id="rId3" imgW="876240" imgH="406080" progId="Equation.3">
                  <p:embed/>
                </p:oleObj>
              </mc:Choice>
              <mc:Fallback>
                <p:oleObj name="公式" r:id="rId3" imgW="876240" imgH="406080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5080000" y="4470400"/>
                        <a:ext cx="252095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4117" name="AutoShape 149"/>
          <p:cNvSpPr>
            <a:spLocks noChangeArrowheads="1"/>
          </p:cNvSpPr>
          <p:nvPr/>
        </p:nvSpPr>
        <p:spPr bwMode="auto">
          <a:xfrm>
            <a:off x="4456113" y="4762500"/>
            <a:ext cx="577850" cy="471488"/>
          </a:xfrm>
          <a:prstGeom prst="homePlate">
            <a:avLst>
              <a:gd name="adj" fmla="val 30640"/>
            </a:avLst>
          </a:prstGeom>
          <a:solidFill>
            <a:srgbClr val="FFB46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2" y="0"/>
            <a:ext cx="4072867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集中荷载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64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64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6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6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4070" grpId="0"/>
      <p:bldP spid="13641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5096" name="Group 104"/>
          <p:cNvGrpSpPr>
            <a:grpSpLocks/>
          </p:cNvGrpSpPr>
          <p:nvPr/>
        </p:nvGrpSpPr>
        <p:grpSpPr bwMode="auto">
          <a:xfrm>
            <a:off x="6203950" y="1092200"/>
            <a:ext cx="2743200" cy="3349625"/>
            <a:chOff x="3912" y="532"/>
            <a:chExt cx="1728" cy="2110"/>
          </a:xfrm>
        </p:grpSpPr>
        <p:sp>
          <p:nvSpPr>
            <p:cNvPr id="1365097" name="Rectangle 105"/>
            <p:cNvSpPr>
              <a:spLocks noChangeArrowheads="1"/>
            </p:cNvSpPr>
            <p:nvPr/>
          </p:nvSpPr>
          <p:spPr bwMode="auto">
            <a:xfrm>
              <a:off x="3912" y="532"/>
              <a:ext cx="1728" cy="211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5098" name="Rectangle 106"/>
            <p:cNvSpPr>
              <a:spLocks noChangeArrowheads="1"/>
            </p:cNvSpPr>
            <p:nvPr/>
          </p:nvSpPr>
          <p:spPr bwMode="auto">
            <a:xfrm>
              <a:off x="4177" y="1265"/>
              <a:ext cx="691" cy="138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20685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grpSp>
          <p:nvGrpSpPr>
            <p:cNvPr id="1365099" name="Group 107"/>
            <p:cNvGrpSpPr>
              <a:grpSpLocks/>
            </p:cNvGrpSpPr>
            <p:nvPr/>
          </p:nvGrpSpPr>
          <p:grpSpPr bwMode="auto">
            <a:xfrm>
              <a:off x="4177" y="795"/>
              <a:ext cx="1161" cy="608"/>
              <a:chOff x="3927" y="862"/>
              <a:chExt cx="1161" cy="608"/>
            </a:xfrm>
          </p:grpSpPr>
          <p:sp>
            <p:nvSpPr>
              <p:cNvPr id="1365100" name="Line 108"/>
              <p:cNvSpPr>
                <a:spLocks noChangeShapeType="1"/>
              </p:cNvSpPr>
              <p:nvPr/>
            </p:nvSpPr>
            <p:spPr bwMode="auto">
              <a:xfrm>
                <a:off x="3927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1" name="Line 109"/>
              <p:cNvSpPr>
                <a:spLocks noChangeShapeType="1"/>
              </p:cNvSpPr>
              <p:nvPr/>
            </p:nvSpPr>
            <p:spPr bwMode="auto">
              <a:xfrm>
                <a:off x="4010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2" name="Line 110"/>
              <p:cNvSpPr>
                <a:spLocks noChangeShapeType="1"/>
              </p:cNvSpPr>
              <p:nvPr/>
            </p:nvSpPr>
            <p:spPr bwMode="auto">
              <a:xfrm>
                <a:off x="4093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3" name="Line 111"/>
              <p:cNvSpPr>
                <a:spLocks noChangeShapeType="1"/>
              </p:cNvSpPr>
              <p:nvPr/>
            </p:nvSpPr>
            <p:spPr bwMode="auto">
              <a:xfrm>
                <a:off x="4176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4" name="Line 112"/>
              <p:cNvSpPr>
                <a:spLocks noChangeShapeType="1"/>
              </p:cNvSpPr>
              <p:nvPr/>
            </p:nvSpPr>
            <p:spPr bwMode="auto">
              <a:xfrm>
                <a:off x="4259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5" name="Line 113"/>
              <p:cNvSpPr>
                <a:spLocks noChangeShapeType="1"/>
              </p:cNvSpPr>
              <p:nvPr/>
            </p:nvSpPr>
            <p:spPr bwMode="auto">
              <a:xfrm>
                <a:off x="4342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6" name="Line 114"/>
              <p:cNvSpPr>
                <a:spLocks noChangeShapeType="1"/>
              </p:cNvSpPr>
              <p:nvPr/>
            </p:nvSpPr>
            <p:spPr bwMode="auto">
              <a:xfrm>
                <a:off x="4424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7" name="Line 115"/>
              <p:cNvSpPr>
                <a:spLocks noChangeShapeType="1"/>
              </p:cNvSpPr>
              <p:nvPr/>
            </p:nvSpPr>
            <p:spPr bwMode="auto">
              <a:xfrm>
                <a:off x="4528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8" name="Line 116"/>
              <p:cNvSpPr>
                <a:spLocks noChangeShapeType="1"/>
              </p:cNvSpPr>
              <p:nvPr/>
            </p:nvSpPr>
            <p:spPr bwMode="auto">
              <a:xfrm>
                <a:off x="4618" y="133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09" name="Line 117"/>
              <p:cNvSpPr>
                <a:spLocks noChangeShapeType="1"/>
              </p:cNvSpPr>
              <p:nvPr/>
            </p:nvSpPr>
            <p:spPr bwMode="auto">
              <a:xfrm>
                <a:off x="4673" y="1277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0" name="Line 118"/>
              <p:cNvSpPr>
                <a:spLocks noChangeShapeType="1"/>
              </p:cNvSpPr>
              <p:nvPr/>
            </p:nvSpPr>
            <p:spPr bwMode="auto">
              <a:xfrm>
                <a:off x="4728" y="122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1" name="Line 119"/>
              <p:cNvSpPr>
                <a:spLocks noChangeShapeType="1"/>
              </p:cNvSpPr>
              <p:nvPr/>
            </p:nvSpPr>
            <p:spPr bwMode="auto">
              <a:xfrm>
                <a:off x="4784" y="1166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2" name="Line 120"/>
              <p:cNvSpPr>
                <a:spLocks noChangeShapeType="1"/>
              </p:cNvSpPr>
              <p:nvPr/>
            </p:nvSpPr>
            <p:spPr bwMode="auto">
              <a:xfrm>
                <a:off x="4839" y="1111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3" name="Line 121"/>
              <p:cNvSpPr>
                <a:spLocks noChangeShapeType="1"/>
              </p:cNvSpPr>
              <p:nvPr/>
            </p:nvSpPr>
            <p:spPr bwMode="auto">
              <a:xfrm>
                <a:off x="4894" y="105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4" name="Line 122"/>
              <p:cNvSpPr>
                <a:spLocks noChangeShapeType="1"/>
              </p:cNvSpPr>
              <p:nvPr/>
            </p:nvSpPr>
            <p:spPr bwMode="auto">
              <a:xfrm>
                <a:off x="4949" y="1000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5" name="Line 123"/>
              <p:cNvSpPr>
                <a:spLocks noChangeShapeType="1"/>
              </p:cNvSpPr>
              <p:nvPr/>
            </p:nvSpPr>
            <p:spPr bwMode="auto">
              <a:xfrm>
                <a:off x="5019" y="931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5116" name="Line 124"/>
              <p:cNvSpPr>
                <a:spLocks noChangeShapeType="1"/>
              </p:cNvSpPr>
              <p:nvPr/>
            </p:nvSpPr>
            <p:spPr bwMode="auto">
              <a:xfrm>
                <a:off x="5088" y="862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65117" name="Line 125"/>
            <p:cNvSpPr>
              <a:spLocks noChangeShapeType="1"/>
            </p:cNvSpPr>
            <p:nvPr/>
          </p:nvSpPr>
          <p:spPr bwMode="auto">
            <a:xfrm>
              <a:off x="4177" y="1486"/>
              <a:ext cx="691" cy="0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18" name="Line 126"/>
            <p:cNvSpPr>
              <a:spLocks noChangeShapeType="1"/>
            </p:cNvSpPr>
            <p:nvPr/>
          </p:nvSpPr>
          <p:spPr bwMode="auto">
            <a:xfrm flipV="1">
              <a:off x="4877" y="1017"/>
              <a:ext cx="470" cy="470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19" name="Line 127"/>
            <p:cNvSpPr>
              <a:spLocks noChangeShapeType="1"/>
            </p:cNvSpPr>
            <p:nvPr/>
          </p:nvSpPr>
          <p:spPr bwMode="auto">
            <a:xfrm>
              <a:off x="4177" y="1403"/>
              <a:ext cx="0" cy="139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20" name="Line 128"/>
            <p:cNvSpPr>
              <a:spLocks noChangeShapeType="1"/>
            </p:cNvSpPr>
            <p:nvPr/>
          </p:nvSpPr>
          <p:spPr bwMode="auto">
            <a:xfrm>
              <a:off x="5338" y="933"/>
              <a:ext cx="0" cy="139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21" name="Line 129"/>
            <p:cNvSpPr>
              <a:spLocks noChangeShapeType="1"/>
            </p:cNvSpPr>
            <p:nvPr/>
          </p:nvSpPr>
          <p:spPr bwMode="auto">
            <a:xfrm flipV="1">
              <a:off x="4868" y="768"/>
              <a:ext cx="635" cy="635"/>
            </a:xfrm>
            <a:prstGeom prst="line">
              <a:avLst/>
            </a:prstGeom>
            <a:noFill/>
            <a:ln w="44450">
              <a:solidFill>
                <a:srgbClr val="3366FF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22" name="Freeform 130"/>
            <p:cNvSpPr>
              <a:spLocks/>
            </p:cNvSpPr>
            <p:nvPr/>
          </p:nvSpPr>
          <p:spPr bwMode="auto">
            <a:xfrm>
              <a:off x="4868" y="1403"/>
              <a:ext cx="2" cy="1115"/>
            </a:xfrm>
            <a:custGeom>
              <a:avLst/>
              <a:gdLst>
                <a:gd name="T0" fmla="*/ 0 w 2"/>
                <a:gd name="T1" fmla="*/ 0 h 1115"/>
                <a:gd name="T2" fmla="*/ 2 w 2"/>
                <a:gd name="T3" fmla="*/ 1115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1115">
                  <a:moveTo>
                    <a:pt x="0" y="0"/>
                  </a:moveTo>
                  <a:lnTo>
                    <a:pt x="2" y="1115"/>
                  </a:lnTo>
                </a:path>
              </a:pathLst>
            </a:custGeom>
            <a:noFill/>
            <a:ln w="44450">
              <a:solidFill>
                <a:srgbClr val="3366FF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65123" name="Line 131"/>
            <p:cNvSpPr>
              <a:spLocks noChangeShapeType="1"/>
            </p:cNvSpPr>
            <p:nvPr/>
          </p:nvSpPr>
          <p:spPr bwMode="auto">
            <a:xfrm flipH="1">
              <a:off x="3984" y="1403"/>
              <a:ext cx="884" cy="0"/>
            </a:xfrm>
            <a:prstGeom prst="line">
              <a:avLst/>
            </a:prstGeom>
            <a:noFill/>
            <a:ln w="44450">
              <a:solidFill>
                <a:srgbClr val="3366FF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65124" name="Object 132"/>
            <p:cNvGraphicFramePr>
              <a:graphicFrameLocks noChangeAspect="1"/>
            </p:cNvGraphicFramePr>
            <p:nvPr/>
          </p:nvGraphicFramePr>
          <p:xfrm>
            <a:off x="4905" y="2384"/>
            <a:ext cx="166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75" name="Equation" r:id="rId3" imgW="126720" imgH="126720" progId="Equation.3">
                    <p:embed/>
                  </p:oleObj>
                </mc:Choice>
                <mc:Fallback>
                  <p:oleObj name="Equation" r:id="rId3" imgW="126720" imgH="126720" progId="Equation.3">
                    <p:embed/>
                    <p:pic>
                      <p:nvPicPr>
                        <p:cNvPr id="0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5" y="2384"/>
                          <a:ext cx="166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5125" name="Object 133"/>
            <p:cNvGraphicFramePr>
              <a:graphicFrameLocks noChangeAspect="1"/>
            </p:cNvGraphicFramePr>
            <p:nvPr/>
          </p:nvGraphicFramePr>
          <p:xfrm>
            <a:off x="3966" y="1429"/>
            <a:ext cx="166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76" name="Equation" r:id="rId5" imgW="126720" imgH="126720" progId="Equation.3">
                    <p:embed/>
                  </p:oleObj>
                </mc:Choice>
                <mc:Fallback>
                  <p:oleObj name="Equation" r:id="rId5" imgW="126720" imgH="126720" progId="Equation.3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6" y="1429"/>
                          <a:ext cx="166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5126" name="Object 134"/>
            <p:cNvGraphicFramePr>
              <a:graphicFrameLocks noChangeAspect="1"/>
            </p:cNvGraphicFramePr>
            <p:nvPr/>
          </p:nvGraphicFramePr>
          <p:xfrm>
            <a:off x="5448" y="837"/>
            <a:ext cx="14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77" name="Equation" r:id="rId7" imgW="126720" imgH="164880" progId="Equation.3">
                    <p:embed/>
                  </p:oleObj>
                </mc:Choice>
                <mc:Fallback>
                  <p:oleObj name="Equation" r:id="rId7" imgW="126720" imgH="164880" progId="Equation.3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8" y="837"/>
                          <a:ext cx="140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5127" name="Object 1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7245092"/>
                </p:ext>
              </p:extLst>
            </p:nvPr>
          </p:nvGraphicFramePr>
          <p:xfrm>
            <a:off x="4509" y="1495"/>
            <a:ext cx="14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78" name="公式" r:id="rId9" imgW="126720" imgH="177480" progId="Equation.3">
                    <p:embed/>
                  </p:oleObj>
                </mc:Choice>
                <mc:Fallback>
                  <p:oleObj name="公式" r:id="rId9" imgW="126720" imgH="177480" progId="Equation.3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1495"/>
                          <a:ext cx="144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5128" name="Object 1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0665696"/>
                </p:ext>
              </p:extLst>
            </p:nvPr>
          </p:nvGraphicFramePr>
          <p:xfrm>
            <a:off x="5137" y="1200"/>
            <a:ext cx="115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79" name="公式" r:id="rId11" imgW="101520" imgH="177480" progId="Equation.3">
                    <p:embed/>
                  </p:oleObj>
                </mc:Choice>
                <mc:Fallback>
                  <p:oleObj name="公式" r:id="rId11" imgW="101520" imgH="177480" progId="Equation.3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7" y="1200"/>
                          <a:ext cx="115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5129" name="Text Box 137"/>
            <p:cNvSpPr txBox="1">
              <a:spLocks noChangeArrowheads="1"/>
            </p:cNvSpPr>
            <p:nvPr/>
          </p:nvSpPr>
          <p:spPr bwMode="auto">
            <a:xfrm>
              <a:off x="4026" y="1137"/>
              <a:ext cx="12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MingLiU" pitchFamily="49" charset="-120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graphicFrame>
          <p:nvGraphicFramePr>
            <p:cNvPr id="1365130" name="Object 138"/>
            <p:cNvGraphicFramePr>
              <a:graphicFrameLocks noChangeAspect="1"/>
            </p:cNvGraphicFramePr>
            <p:nvPr/>
          </p:nvGraphicFramePr>
          <p:xfrm>
            <a:off x="5084" y="1668"/>
            <a:ext cx="166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380" name="Equation" r:id="rId13" imgW="126720" imgH="126720" progId="Equation.3">
                    <p:embed/>
                  </p:oleObj>
                </mc:Choice>
                <mc:Fallback>
                  <p:oleObj name="Equation" r:id="rId13" imgW="126720" imgH="126720" progId="Equation.3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1668"/>
                          <a:ext cx="166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5131" name="Oval 139"/>
            <p:cNvSpPr>
              <a:spLocks noChangeArrowheads="1"/>
            </p:cNvSpPr>
            <p:nvPr/>
          </p:nvSpPr>
          <p:spPr bwMode="auto">
            <a:xfrm>
              <a:off x="4848" y="2078"/>
              <a:ext cx="45" cy="45"/>
            </a:xfrm>
            <a:prstGeom prst="ellipse">
              <a:avLst/>
            </a:prstGeom>
            <a:solidFill>
              <a:srgbClr val="990033"/>
            </a:solidFill>
            <a:ln w="5715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5132" name="Text Box 140"/>
            <p:cNvSpPr txBox="1">
              <a:spLocks noChangeArrowheads="1"/>
            </p:cNvSpPr>
            <p:nvPr/>
          </p:nvSpPr>
          <p:spPr bwMode="auto">
            <a:xfrm>
              <a:off x="4626" y="1982"/>
              <a:ext cx="15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M</a:t>
              </a:r>
            </a:p>
          </p:txBody>
        </p:sp>
        <p:sp>
          <p:nvSpPr>
            <p:cNvPr id="1365133" name="Line 141"/>
            <p:cNvSpPr>
              <a:spLocks noChangeShapeType="1"/>
            </p:cNvSpPr>
            <p:nvPr/>
          </p:nvSpPr>
          <p:spPr bwMode="auto">
            <a:xfrm>
              <a:off x="4902" y="1411"/>
              <a:ext cx="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5134" name="Line 142"/>
            <p:cNvSpPr>
              <a:spLocks noChangeShapeType="1"/>
            </p:cNvSpPr>
            <p:nvPr/>
          </p:nvSpPr>
          <p:spPr bwMode="auto">
            <a:xfrm>
              <a:off x="5034" y="210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5135" name="Line 143"/>
            <p:cNvSpPr>
              <a:spLocks noChangeShapeType="1"/>
            </p:cNvSpPr>
            <p:nvPr/>
          </p:nvSpPr>
          <p:spPr bwMode="auto">
            <a:xfrm>
              <a:off x="5094" y="1411"/>
              <a:ext cx="0" cy="6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65136" name="Object 1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77388"/>
              </p:ext>
            </p:extLst>
          </p:nvPr>
        </p:nvGraphicFramePr>
        <p:xfrm>
          <a:off x="7100888" y="1090613"/>
          <a:ext cx="16430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81" name="公式" r:id="rId15" imgW="812520" imgH="203040" progId="Equation.3">
                  <p:embed/>
                </p:oleObj>
              </mc:Choice>
              <mc:Fallback>
                <p:oleObj name="公式" r:id="rId15" imgW="812520" imgH="203040" progId="Equation.3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7100888" y="1090613"/>
                        <a:ext cx="164306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137" name="Text Box 145"/>
          <p:cNvSpPr txBox="1">
            <a:spLocks noChangeArrowheads="1"/>
          </p:cNvSpPr>
          <p:nvPr/>
        </p:nvSpPr>
        <p:spPr bwMode="auto">
          <a:xfrm>
            <a:off x="2417763" y="5815013"/>
            <a:ext cx="57896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矩形分布荷载的附加应力</a:t>
            </a:r>
            <a:endParaRPr lang="zh-CN" altLang="en-US" sz="4000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65138" name="Text Box 146"/>
          <p:cNvSpPr txBox="1">
            <a:spLocks noChangeArrowheads="1"/>
          </p:cNvSpPr>
          <p:nvPr/>
        </p:nvSpPr>
        <p:spPr bwMode="auto">
          <a:xfrm>
            <a:off x="369888" y="796925"/>
            <a:ext cx="411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矩形面积竖直均布荷载</a:t>
            </a:r>
          </a:p>
        </p:txBody>
      </p:sp>
      <p:sp>
        <p:nvSpPr>
          <p:cNvPr id="1365139" name="AutoShape 147"/>
          <p:cNvSpPr>
            <a:spLocks noChangeArrowheads="1"/>
          </p:cNvSpPr>
          <p:nvPr/>
        </p:nvSpPr>
        <p:spPr bwMode="auto">
          <a:xfrm>
            <a:off x="7364413" y="1816100"/>
            <a:ext cx="344487" cy="147638"/>
          </a:xfrm>
          <a:prstGeom prst="parallelogram">
            <a:avLst>
              <a:gd name="adj" fmla="val 99998"/>
            </a:avLst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5140" name="Line 148"/>
          <p:cNvSpPr>
            <a:spLocks noChangeShapeType="1"/>
          </p:cNvSpPr>
          <p:nvPr/>
        </p:nvSpPr>
        <p:spPr bwMode="auto">
          <a:xfrm>
            <a:off x="7545388" y="1411288"/>
            <a:ext cx="0" cy="493712"/>
          </a:xfrm>
          <a:prstGeom prst="line">
            <a:avLst/>
          </a:prstGeom>
          <a:noFill/>
          <a:ln w="381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5141" name="Rectangle 149"/>
          <p:cNvSpPr>
            <a:spLocks noChangeArrowheads="1"/>
          </p:cNvSpPr>
          <p:nvPr/>
        </p:nvSpPr>
        <p:spPr bwMode="auto">
          <a:xfrm>
            <a:off x="595313" y="1444625"/>
            <a:ext cx="54117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角点下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的垂直附加应力：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氏解的应用</a:t>
            </a:r>
          </a:p>
        </p:txBody>
      </p:sp>
      <p:graphicFrame>
        <p:nvGraphicFramePr>
          <p:cNvPr id="1365142" name="Object 1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3657"/>
              </p:ext>
            </p:extLst>
          </p:nvPr>
        </p:nvGraphicFramePr>
        <p:xfrm>
          <a:off x="4681612" y="2928911"/>
          <a:ext cx="995328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82" name="公式" r:id="rId17" imgW="622080" imgH="228600" progId="Equation.3">
                  <p:embed/>
                </p:oleObj>
              </mc:Choice>
              <mc:Fallback>
                <p:oleObj name="公式" r:id="rId17" imgW="622080" imgH="228600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612" y="2928911"/>
                        <a:ext cx="995328" cy="365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5143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503164"/>
              </p:ext>
            </p:extLst>
          </p:nvPr>
        </p:nvGraphicFramePr>
        <p:xfrm>
          <a:off x="963741" y="4217934"/>
          <a:ext cx="3575808" cy="609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83" name="公式" r:id="rId19" imgW="2234880" imgH="380880" progId="Equation.3">
                  <p:embed/>
                </p:oleObj>
              </mc:Choice>
              <mc:Fallback>
                <p:oleObj name="公式" r:id="rId19" imgW="2234880" imgH="380880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 l="-7988" r="-7988"/>
                      <a:stretch>
                        <a:fillRect/>
                      </a:stretch>
                    </p:blipFill>
                    <p:spPr bwMode="auto">
                      <a:xfrm>
                        <a:off x="963741" y="4217934"/>
                        <a:ext cx="3575808" cy="6094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5144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066404"/>
              </p:ext>
            </p:extLst>
          </p:nvPr>
        </p:nvGraphicFramePr>
        <p:xfrm>
          <a:off x="986836" y="1968501"/>
          <a:ext cx="2986560" cy="649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84" name="公式" r:id="rId21" imgW="1866600" imgH="406080" progId="Equation.3">
                  <p:embed/>
                </p:oleObj>
              </mc:Choice>
              <mc:Fallback>
                <p:oleObj name="公式" r:id="rId21" imgW="1866600" imgH="406080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 l="-8101" r="-8101"/>
                      <a:stretch>
                        <a:fillRect/>
                      </a:stretch>
                    </p:blipFill>
                    <p:spPr bwMode="auto">
                      <a:xfrm>
                        <a:off x="986836" y="1968501"/>
                        <a:ext cx="2986560" cy="649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5145" name="Object 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65405"/>
              </p:ext>
            </p:extLst>
          </p:nvPr>
        </p:nvGraphicFramePr>
        <p:xfrm>
          <a:off x="1031365" y="2830458"/>
          <a:ext cx="2722752" cy="5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85" name="公式" r:id="rId23" imgW="1701720" imgH="330120" progId="Equation.3">
                  <p:embed/>
                </p:oleObj>
              </mc:Choice>
              <mc:Fallback>
                <p:oleObj name="公式" r:id="rId23" imgW="1701720" imgH="330120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 l="-8069" r="-8069"/>
                      <a:stretch>
                        <a:fillRect/>
                      </a:stretch>
                    </p:blipFill>
                    <p:spPr bwMode="auto">
                      <a:xfrm>
                        <a:off x="1031365" y="2830458"/>
                        <a:ext cx="2722752" cy="528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5146" name="Text Box 154"/>
          <p:cNvSpPr txBox="1">
            <a:spLocks noChangeArrowheads="1"/>
          </p:cNvSpPr>
          <p:nvPr/>
        </p:nvSpPr>
        <p:spPr bwMode="auto">
          <a:xfrm>
            <a:off x="3203628" y="3705023"/>
            <a:ext cx="19588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P101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页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－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24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65147" name="Text Box 155"/>
          <p:cNvSpPr txBox="1">
            <a:spLocks noChangeArrowheads="1"/>
          </p:cNvSpPr>
          <p:nvPr/>
        </p:nvSpPr>
        <p:spPr bwMode="auto">
          <a:xfrm>
            <a:off x="1286143" y="3705023"/>
            <a:ext cx="14218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 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=z/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kumimoji="1" lang="en-US" altLang="zh-CN" sz="20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65148" name="AutoShape 156"/>
          <p:cNvSpPr>
            <a:spLocks noChangeArrowheads="1"/>
          </p:cNvSpPr>
          <p:nvPr/>
        </p:nvSpPr>
        <p:spPr bwMode="auto">
          <a:xfrm>
            <a:off x="3908182" y="2890703"/>
            <a:ext cx="577850" cy="471487"/>
          </a:xfrm>
          <a:prstGeom prst="homePlate">
            <a:avLst>
              <a:gd name="adj" fmla="val 30640"/>
            </a:avLst>
          </a:prstGeom>
          <a:solidFill>
            <a:srgbClr val="FFB46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5149" name="Text Box 157"/>
          <p:cNvSpPr txBox="1">
            <a:spLocks noChangeArrowheads="1"/>
          </p:cNvSpPr>
          <p:nvPr/>
        </p:nvSpPr>
        <p:spPr bwMode="auto">
          <a:xfrm>
            <a:off x="1997075" y="4978103"/>
            <a:ext cx="680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矩形竖直向均布荷载角点下的应力分布系数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K</a:t>
            </a:r>
            <a:r>
              <a:rPr kumimoji="1" lang="en-US" altLang="zh-CN" sz="2200" b="1" i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表3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5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65150" name="Freeform 158"/>
          <p:cNvSpPr>
            <a:spLocks/>
          </p:cNvSpPr>
          <p:nvPr/>
        </p:nvSpPr>
        <p:spPr bwMode="auto">
          <a:xfrm>
            <a:off x="1338263" y="4776491"/>
            <a:ext cx="608012" cy="44132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2" y="0"/>
            <a:ext cx="448603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矩形分布荷载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9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6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6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6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65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65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65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36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65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65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6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6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6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36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6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36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6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6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6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6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36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36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5138" grpId="0"/>
      <p:bldP spid="1365139" grpId="0" animBg="1"/>
      <p:bldP spid="1365140" grpId="0" animBg="1"/>
      <p:bldP spid="1365141" grpId="0" build="p" autoUpdateAnimBg="0"/>
      <p:bldP spid="1365146" grpId="0"/>
      <p:bldP spid="1365147" grpId="0"/>
      <p:bldP spid="1365148" grpId="0" animBg="1"/>
      <p:bldP spid="1365149" grpId="0"/>
      <p:bldP spid="136515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119" name="Rectangle 103"/>
          <p:cNvSpPr>
            <a:spLocks noChangeArrowheads="1"/>
          </p:cNvSpPr>
          <p:nvPr/>
        </p:nvSpPr>
        <p:spPr bwMode="auto">
          <a:xfrm>
            <a:off x="6362700" y="720725"/>
            <a:ext cx="2590800" cy="48895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66133" name="Group 117"/>
          <p:cNvGrpSpPr>
            <a:grpSpLocks/>
          </p:cNvGrpSpPr>
          <p:nvPr/>
        </p:nvGrpSpPr>
        <p:grpSpPr bwMode="auto">
          <a:xfrm>
            <a:off x="6859588" y="885825"/>
            <a:ext cx="1746250" cy="1922463"/>
            <a:chOff x="4321" y="558"/>
            <a:chExt cx="1100" cy="1211"/>
          </a:xfrm>
        </p:grpSpPr>
        <p:sp>
          <p:nvSpPr>
            <p:cNvPr id="1366134" name="Rectangle 118"/>
            <p:cNvSpPr>
              <a:spLocks noChangeArrowheads="1"/>
            </p:cNvSpPr>
            <p:nvPr/>
          </p:nvSpPr>
          <p:spPr bwMode="auto">
            <a:xfrm>
              <a:off x="4321" y="558"/>
              <a:ext cx="1100" cy="121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38" name="Text Box 122"/>
            <p:cNvSpPr txBox="1">
              <a:spLocks noChangeArrowheads="1"/>
            </p:cNvSpPr>
            <p:nvPr/>
          </p:nvSpPr>
          <p:spPr bwMode="auto">
            <a:xfrm>
              <a:off x="4432" y="788"/>
              <a:ext cx="833" cy="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B         A</a:t>
              </a:r>
            </a:p>
            <a:p>
              <a:pPr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C         D</a:t>
              </a:r>
            </a:p>
          </p:txBody>
        </p:sp>
        <p:sp>
          <p:nvSpPr>
            <p:cNvPr id="1366135" name="Line 119"/>
            <p:cNvSpPr>
              <a:spLocks noChangeShapeType="1"/>
            </p:cNvSpPr>
            <p:nvPr/>
          </p:nvSpPr>
          <p:spPr bwMode="auto">
            <a:xfrm>
              <a:off x="4321" y="1386"/>
              <a:ext cx="1100" cy="0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36" name="Line 120"/>
            <p:cNvSpPr>
              <a:spLocks noChangeShapeType="1"/>
            </p:cNvSpPr>
            <p:nvPr/>
          </p:nvSpPr>
          <p:spPr bwMode="auto">
            <a:xfrm>
              <a:off x="4713" y="558"/>
              <a:ext cx="0" cy="1211"/>
            </a:xfrm>
            <a:prstGeom prst="line">
              <a:avLst/>
            </a:prstGeom>
            <a:noFill/>
            <a:ln w="158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37" name="Oval 121"/>
            <p:cNvSpPr>
              <a:spLocks noChangeArrowheads="1"/>
            </p:cNvSpPr>
            <p:nvPr/>
          </p:nvSpPr>
          <p:spPr bwMode="auto">
            <a:xfrm>
              <a:off x="4681" y="1348"/>
              <a:ext cx="63" cy="64"/>
            </a:xfrm>
            <a:prstGeom prst="ellipse">
              <a:avLst/>
            </a:prstGeom>
            <a:solidFill>
              <a:srgbClr val="FFCC99"/>
            </a:solidFill>
            <a:ln w="31750">
              <a:solidFill>
                <a:srgbClr val="0000FF"/>
              </a:solidFill>
              <a:round/>
              <a:headEnd type="none" w="med" len="lg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6120" name="Rectangle 104"/>
          <p:cNvSpPr>
            <a:spLocks noChangeArrowheads="1"/>
          </p:cNvSpPr>
          <p:nvPr/>
        </p:nvSpPr>
        <p:spPr bwMode="auto">
          <a:xfrm>
            <a:off x="619125" y="3959225"/>
            <a:ext cx="1719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矩形内：</a:t>
            </a:r>
          </a:p>
        </p:txBody>
      </p:sp>
      <p:sp>
        <p:nvSpPr>
          <p:cNvPr id="1366121" name="Rectangle 105"/>
          <p:cNvSpPr>
            <a:spLocks noChangeArrowheads="1"/>
          </p:cNvSpPr>
          <p:nvPr/>
        </p:nvSpPr>
        <p:spPr bwMode="auto">
          <a:xfrm>
            <a:off x="617538" y="4738688"/>
            <a:ext cx="170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矩形外：</a:t>
            </a:r>
          </a:p>
        </p:txBody>
      </p:sp>
      <p:sp>
        <p:nvSpPr>
          <p:cNvPr id="1366122" name="AutoShape 106"/>
          <p:cNvSpPr>
            <a:spLocks noChangeArrowheads="1"/>
          </p:cNvSpPr>
          <p:nvPr/>
        </p:nvSpPr>
        <p:spPr bwMode="auto">
          <a:xfrm>
            <a:off x="550863" y="1871663"/>
            <a:ext cx="1452562" cy="142716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荷载与应力间满足线性关系</a:t>
            </a:r>
          </a:p>
        </p:txBody>
      </p:sp>
      <p:sp>
        <p:nvSpPr>
          <p:cNvPr id="1366123" name="AutoShape 107"/>
          <p:cNvSpPr>
            <a:spLocks noChangeArrowheads="1"/>
          </p:cNvSpPr>
          <p:nvPr/>
        </p:nvSpPr>
        <p:spPr bwMode="auto">
          <a:xfrm>
            <a:off x="2836863" y="1908175"/>
            <a:ext cx="1468437" cy="5365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叠加原理 </a:t>
            </a:r>
          </a:p>
        </p:txBody>
      </p:sp>
      <p:sp>
        <p:nvSpPr>
          <p:cNvPr id="1366124" name="AutoShape 108"/>
          <p:cNvSpPr>
            <a:spLocks noChangeArrowheads="1"/>
          </p:cNvSpPr>
          <p:nvPr/>
        </p:nvSpPr>
        <p:spPr bwMode="auto">
          <a:xfrm>
            <a:off x="4473575" y="1911350"/>
            <a:ext cx="1754188" cy="5365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36000" rIns="0" bIns="36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角点计算公式</a:t>
            </a:r>
          </a:p>
        </p:txBody>
      </p:sp>
      <p:sp>
        <p:nvSpPr>
          <p:cNvPr id="1366125" name="AutoShape 109"/>
          <p:cNvSpPr>
            <a:spLocks noChangeArrowheads="1"/>
          </p:cNvSpPr>
          <p:nvPr/>
        </p:nvSpPr>
        <p:spPr bwMode="auto">
          <a:xfrm>
            <a:off x="3397250" y="3192463"/>
            <a:ext cx="2311400" cy="5349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08000" rIns="0" bIns="3600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  <a:buFont typeface="Wingdings" pitchFamily="2" charset="2"/>
              <a:buNone/>
            </a:pPr>
            <a:r>
              <a:rPr kumimoji="1"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任意点的计算公式</a:t>
            </a:r>
            <a:endParaRPr kumimoji="1" lang="en-US" altLang="zh-CN" sz="22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66126" name="Text Box 110"/>
          <p:cNvSpPr txBox="1">
            <a:spLocks noChangeArrowheads="1"/>
          </p:cNvSpPr>
          <p:nvPr/>
        </p:nvSpPr>
        <p:spPr bwMode="auto">
          <a:xfrm>
            <a:off x="2462213" y="5816600"/>
            <a:ext cx="57896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矩形分布荷载的附加应力</a:t>
            </a:r>
            <a:endParaRPr lang="zh-CN" altLang="en-US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66127" name="Text Box 111"/>
          <p:cNvSpPr txBox="1">
            <a:spLocks noChangeArrowheads="1"/>
          </p:cNvSpPr>
          <p:nvPr/>
        </p:nvSpPr>
        <p:spPr bwMode="auto">
          <a:xfrm>
            <a:off x="376238" y="581025"/>
            <a:ext cx="411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矩形面积竖直均布荷载</a:t>
            </a:r>
          </a:p>
        </p:txBody>
      </p:sp>
      <p:sp>
        <p:nvSpPr>
          <p:cNvPr id="1366128" name="Rectangle 112"/>
          <p:cNvSpPr>
            <a:spLocks noChangeArrowheads="1"/>
          </p:cNvSpPr>
          <p:nvPr/>
        </p:nvSpPr>
        <p:spPr bwMode="auto">
          <a:xfrm>
            <a:off x="601663" y="1228725"/>
            <a:ext cx="54117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2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任意点</a:t>
            </a: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的垂直附加应力</a:t>
            </a:r>
            <a:r>
              <a:rPr kumimoji="1" lang="zh-CN" altLang="en-US" sz="2200" b="1">
                <a:solidFill>
                  <a:srgbClr val="000066"/>
                </a:solidFill>
                <a:latin typeface="Times New Roman"/>
                <a:ea typeface="幼圆" pitchFamily="49" charset="-122"/>
                <a:sym typeface="Symbol" pitchFamily="18" charset="2"/>
              </a:rPr>
              <a:t>—</a:t>
            </a: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角点法</a:t>
            </a:r>
          </a:p>
        </p:txBody>
      </p:sp>
      <p:sp>
        <p:nvSpPr>
          <p:cNvPr id="1366129" name="AutoShape 113"/>
          <p:cNvSpPr>
            <a:spLocks noChangeArrowheads="1"/>
          </p:cNvSpPr>
          <p:nvPr/>
        </p:nvSpPr>
        <p:spPr bwMode="auto">
          <a:xfrm>
            <a:off x="2165350" y="1976438"/>
            <a:ext cx="577850" cy="471487"/>
          </a:xfrm>
          <a:prstGeom prst="homePlate">
            <a:avLst>
              <a:gd name="adj" fmla="val 30640"/>
            </a:avLst>
          </a:prstGeom>
          <a:solidFill>
            <a:srgbClr val="FFB46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6130" name="AutoShape 114"/>
          <p:cNvSpPr>
            <a:spLocks noChangeArrowheads="1"/>
          </p:cNvSpPr>
          <p:nvPr/>
        </p:nvSpPr>
        <p:spPr bwMode="auto">
          <a:xfrm rot="5400000">
            <a:off x="4090988" y="2427287"/>
            <a:ext cx="609600" cy="777875"/>
          </a:xfrm>
          <a:prstGeom prst="chevron">
            <a:avLst>
              <a:gd name="adj" fmla="val 25000"/>
            </a:avLst>
          </a:prstGeom>
          <a:solidFill>
            <a:srgbClr val="FFB46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66131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690690"/>
              </p:ext>
            </p:extLst>
          </p:nvPr>
        </p:nvGraphicFramePr>
        <p:xfrm>
          <a:off x="2170113" y="4760913"/>
          <a:ext cx="41652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359" name="公式" r:id="rId3" imgW="2082600" imgH="241200" progId="Equation.3">
                  <p:embed/>
                </p:oleObj>
              </mc:Choice>
              <mc:Fallback>
                <p:oleObj name="公式" r:id="rId3" imgW="2082600" imgH="24120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4760913"/>
                        <a:ext cx="41652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6132" name="Object 1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071073"/>
              </p:ext>
            </p:extLst>
          </p:nvPr>
        </p:nvGraphicFramePr>
        <p:xfrm>
          <a:off x="2214563" y="3986213"/>
          <a:ext cx="37080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6360" name="公式" r:id="rId5" imgW="1854000" imgH="241200" progId="Equation.3">
                  <p:embed/>
                </p:oleObj>
              </mc:Choice>
              <mc:Fallback>
                <p:oleObj name="公式" r:id="rId5" imgW="1854000" imgH="241200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3986213"/>
                        <a:ext cx="37080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6139" name="Group 123"/>
          <p:cNvGrpSpPr>
            <a:grpSpLocks/>
          </p:cNvGrpSpPr>
          <p:nvPr/>
        </p:nvGrpSpPr>
        <p:grpSpPr bwMode="auto">
          <a:xfrm>
            <a:off x="6535738" y="2846389"/>
            <a:ext cx="2433637" cy="2751138"/>
            <a:chOff x="4117" y="1793"/>
            <a:chExt cx="1533" cy="1733"/>
          </a:xfrm>
        </p:grpSpPr>
        <p:sp>
          <p:nvSpPr>
            <p:cNvPr id="1366140" name="Text Box 124"/>
            <p:cNvSpPr txBox="1">
              <a:spLocks noChangeArrowheads="1"/>
            </p:cNvSpPr>
            <p:nvPr/>
          </p:nvSpPr>
          <p:spPr bwMode="auto">
            <a:xfrm>
              <a:off x="4117" y="1793"/>
              <a:ext cx="153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a                         b</a:t>
              </a:r>
            </a:p>
          </p:txBody>
        </p:sp>
        <p:sp>
          <p:nvSpPr>
            <p:cNvPr id="1366141" name="Rectangle 125"/>
            <p:cNvSpPr>
              <a:spLocks noChangeArrowheads="1"/>
            </p:cNvSpPr>
            <p:nvPr/>
          </p:nvSpPr>
          <p:spPr bwMode="auto">
            <a:xfrm>
              <a:off x="4305" y="2073"/>
              <a:ext cx="1100" cy="1233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42" name="Rectangle 126"/>
            <p:cNvSpPr>
              <a:spLocks noChangeArrowheads="1"/>
            </p:cNvSpPr>
            <p:nvPr/>
          </p:nvSpPr>
          <p:spPr bwMode="auto">
            <a:xfrm>
              <a:off x="4305" y="2398"/>
              <a:ext cx="707" cy="90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43" name="Line 127"/>
            <p:cNvSpPr>
              <a:spLocks noChangeShapeType="1"/>
            </p:cNvSpPr>
            <p:nvPr/>
          </p:nvSpPr>
          <p:spPr bwMode="auto">
            <a:xfrm>
              <a:off x="4305" y="2398"/>
              <a:ext cx="110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44" name="Line 128"/>
            <p:cNvSpPr>
              <a:spLocks noChangeShapeType="1"/>
            </p:cNvSpPr>
            <p:nvPr/>
          </p:nvSpPr>
          <p:spPr bwMode="auto">
            <a:xfrm>
              <a:off x="5012" y="2073"/>
              <a:ext cx="0" cy="1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45" name="Oval 129"/>
            <p:cNvSpPr>
              <a:spLocks noChangeArrowheads="1"/>
            </p:cNvSpPr>
            <p:nvPr/>
          </p:nvSpPr>
          <p:spPr bwMode="auto">
            <a:xfrm>
              <a:off x="5351" y="2031"/>
              <a:ext cx="66" cy="65"/>
            </a:xfrm>
            <a:prstGeom prst="ellipse">
              <a:avLst/>
            </a:prstGeom>
            <a:solidFill>
              <a:srgbClr val="0000FF"/>
            </a:solidFill>
            <a:ln w="31750">
              <a:solidFill>
                <a:srgbClr val="0000FF"/>
              </a:solidFill>
              <a:round/>
              <a:headEnd type="none" w="med" len="lg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6146" name="Text Box 130"/>
            <p:cNvSpPr txBox="1">
              <a:spLocks noChangeArrowheads="1"/>
            </p:cNvSpPr>
            <p:nvPr/>
          </p:nvSpPr>
          <p:spPr bwMode="auto">
            <a:xfrm>
              <a:off x="4512" y="2733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</a:p>
          </p:txBody>
        </p:sp>
        <p:sp>
          <p:nvSpPr>
            <p:cNvPr id="1366147" name="Text Box 131"/>
            <p:cNvSpPr txBox="1">
              <a:spLocks noChangeArrowheads="1"/>
            </p:cNvSpPr>
            <p:nvPr/>
          </p:nvSpPr>
          <p:spPr bwMode="auto">
            <a:xfrm>
              <a:off x="5119" y="273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B</a:t>
              </a:r>
            </a:p>
          </p:txBody>
        </p:sp>
        <p:sp>
          <p:nvSpPr>
            <p:cNvPr id="1366148" name="Text Box 132"/>
            <p:cNvSpPr txBox="1">
              <a:spLocks noChangeArrowheads="1"/>
            </p:cNvSpPr>
            <p:nvPr/>
          </p:nvSpPr>
          <p:spPr bwMode="auto">
            <a:xfrm>
              <a:off x="4535" y="2102"/>
              <a:ext cx="88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C          D</a:t>
              </a:r>
            </a:p>
          </p:txBody>
        </p:sp>
        <p:sp>
          <p:nvSpPr>
            <p:cNvPr id="1366149" name="Text Box 133"/>
            <p:cNvSpPr txBox="1">
              <a:spLocks noChangeArrowheads="1"/>
            </p:cNvSpPr>
            <p:nvPr/>
          </p:nvSpPr>
          <p:spPr bwMode="auto">
            <a:xfrm>
              <a:off x="4119" y="3235"/>
              <a:ext cx="15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c                         d</a:t>
              </a:r>
            </a:p>
          </p:txBody>
        </p:sp>
      </p:grp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2" y="0"/>
            <a:ext cx="46482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矩形分布荷载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66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66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36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6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366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366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366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2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6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2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6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2000"/>
                                        <p:tgtEl>
                                          <p:spTgt spid="136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36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66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66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66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6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136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66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6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6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80"/>
                                        <p:tgtEl>
                                          <p:spTgt spid="1366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80"/>
                                        <p:tgtEl>
                                          <p:spTgt spid="1366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80"/>
                                        <p:tgtEl>
                                          <p:spTgt spid="1366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7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2" dur="2000"/>
                                        <p:tgtEl>
                                          <p:spTgt spid="136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366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6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36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119" grpId="0" animBg="1"/>
      <p:bldP spid="1366120" grpId="0"/>
      <p:bldP spid="1366121" grpId="0"/>
      <p:bldP spid="1366122" grpId="0" animBg="1"/>
      <p:bldP spid="1366123" grpId="0" animBg="1"/>
      <p:bldP spid="1366124" grpId="0" animBg="1"/>
      <p:bldP spid="1366125" grpId="0" animBg="1"/>
      <p:bldP spid="1366127" grpId="0"/>
      <p:bldP spid="1366128" grpId="0" build="p" autoUpdateAnimBg="0"/>
      <p:bldP spid="1366129" grpId="0" animBg="1"/>
      <p:bldP spid="136613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169" name="Rectangle 129"/>
          <p:cNvSpPr>
            <a:spLocks noChangeArrowheads="1"/>
          </p:cNvSpPr>
          <p:nvPr/>
        </p:nvSpPr>
        <p:spPr bwMode="auto">
          <a:xfrm>
            <a:off x="6146800" y="860425"/>
            <a:ext cx="2743200" cy="33496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7170" name="Freeform 130"/>
          <p:cNvSpPr>
            <a:spLocks/>
          </p:cNvSpPr>
          <p:nvPr/>
        </p:nvSpPr>
        <p:spPr bwMode="auto">
          <a:xfrm>
            <a:off x="6581775" y="1317625"/>
            <a:ext cx="1839913" cy="963613"/>
          </a:xfrm>
          <a:custGeom>
            <a:avLst/>
            <a:gdLst>
              <a:gd name="T0" fmla="*/ 686 w 1159"/>
              <a:gd name="T1" fmla="*/ 607 h 607"/>
              <a:gd name="T2" fmla="*/ 1159 w 1159"/>
              <a:gd name="T3" fmla="*/ 134 h 607"/>
              <a:gd name="T4" fmla="*/ 480 w 1159"/>
              <a:gd name="T5" fmla="*/ 0 h 607"/>
              <a:gd name="T6" fmla="*/ 0 w 1159"/>
              <a:gd name="T7" fmla="*/ 475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59" h="607">
                <a:moveTo>
                  <a:pt x="686" y="607"/>
                </a:moveTo>
                <a:lnTo>
                  <a:pt x="1159" y="134"/>
                </a:lnTo>
                <a:lnTo>
                  <a:pt x="480" y="0"/>
                </a:lnTo>
                <a:lnTo>
                  <a:pt x="0" y="475"/>
                </a:lnTo>
              </a:path>
            </a:pathLst>
          </a:cu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7171" name="AutoShape 131"/>
          <p:cNvSpPr>
            <a:spLocks noChangeArrowheads="1"/>
          </p:cNvSpPr>
          <p:nvPr/>
        </p:nvSpPr>
        <p:spPr bwMode="auto">
          <a:xfrm>
            <a:off x="6586538" y="2068513"/>
            <a:ext cx="1085850" cy="217487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7172" name="Text Box 132"/>
          <p:cNvSpPr txBox="1">
            <a:spLocks noChangeArrowheads="1"/>
          </p:cNvSpPr>
          <p:nvPr/>
        </p:nvSpPr>
        <p:spPr bwMode="auto">
          <a:xfrm>
            <a:off x="2462213" y="5770563"/>
            <a:ext cx="57896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矩形分布荷载的附加应力</a:t>
            </a:r>
            <a:endParaRPr lang="zh-CN" altLang="en-US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67173" name="Text Box 133"/>
          <p:cNvSpPr txBox="1">
            <a:spLocks noChangeArrowheads="1"/>
          </p:cNvSpPr>
          <p:nvPr/>
        </p:nvSpPr>
        <p:spPr bwMode="auto">
          <a:xfrm>
            <a:off x="376238" y="708025"/>
            <a:ext cx="527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 矩形面积竖直三角形分布荷载</a:t>
            </a:r>
          </a:p>
        </p:txBody>
      </p:sp>
      <p:graphicFrame>
        <p:nvGraphicFramePr>
          <p:cNvPr id="1367174" name="Object 1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1844"/>
              </p:ext>
            </p:extLst>
          </p:nvPr>
        </p:nvGraphicFramePr>
        <p:xfrm>
          <a:off x="7197725" y="946150"/>
          <a:ext cx="1300032" cy="324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08" name="公式" r:id="rId3" imgW="812520" imgH="203040" progId="Equation.3">
                  <p:embed/>
                </p:oleObj>
              </mc:Choice>
              <mc:Fallback>
                <p:oleObj name="公式" r:id="rId3" imgW="812520" imgH="203040" progId="Equation.3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7197725" y="946150"/>
                        <a:ext cx="1300032" cy="324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176" name="Line 136"/>
          <p:cNvSpPr>
            <a:spLocks noChangeShapeType="1"/>
          </p:cNvSpPr>
          <p:nvPr/>
        </p:nvSpPr>
        <p:spPr bwMode="auto">
          <a:xfrm>
            <a:off x="6583363" y="2438400"/>
            <a:ext cx="1096962" cy="0"/>
          </a:xfrm>
          <a:prstGeom prst="line">
            <a:avLst/>
          </a:prstGeom>
          <a:noFill/>
          <a:ln w="9525">
            <a:solidFill>
              <a:srgbClr val="9933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77" name="Line 137"/>
          <p:cNvSpPr>
            <a:spLocks noChangeShapeType="1"/>
          </p:cNvSpPr>
          <p:nvPr/>
        </p:nvSpPr>
        <p:spPr bwMode="auto">
          <a:xfrm flipV="1">
            <a:off x="7694613" y="1693863"/>
            <a:ext cx="746125" cy="746125"/>
          </a:xfrm>
          <a:prstGeom prst="line">
            <a:avLst/>
          </a:prstGeom>
          <a:noFill/>
          <a:ln w="9525">
            <a:solidFill>
              <a:srgbClr val="9933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78" name="Line 138"/>
          <p:cNvSpPr>
            <a:spLocks noChangeShapeType="1"/>
          </p:cNvSpPr>
          <p:nvPr/>
        </p:nvSpPr>
        <p:spPr bwMode="auto">
          <a:xfrm>
            <a:off x="6583363" y="2306638"/>
            <a:ext cx="0" cy="220662"/>
          </a:xfrm>
          <a:prstGeom prst="line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79" name="Line 139"/>
          <p:cNvSpPr>
            <a:spLocks noChangeShapeType="1"/>
          </p:cNvSpPr>
          <p:nvPr/>
        </p:nvSpPr>
        <p:spPr bwMode="auto">
          <a:xfrm>
            <a:off x="8426450" y="1560513"/>
            <a:ext cx="0" cy="220662"/>
          </a:xfrm>
          <a:prstGeom prst="line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80" name="Line 140"/>
          <p:cNvSpPr>
            <a:spLocks noChangeShapeType="1"/>
          </p:cNvSpPr>
          <p:nvPr/>
        </p:nvSpPr>
        <p:spPr bwMode="auto">
          <a:xfrm flipV="1">
            <a:off x="7680325" y="1298575"/>
            <a:ext cx="1008063" cy="1008063"/>
          </a:xfrm>
          <a:prstGeom prst="line">
            <a:avLst/>
          </a:prstGeom>
          <a:noFill/>
          <a:ln w="44450">
            <a:solidFill>
              <a:srgbClr val="3366FF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81" name="Freeform 141"/>
          <p:cNvSpPr>
            <a:spLocks/>
          </p:cNvSpPr>
          <p:nvPr/>
        </p:nvSpPr>
        <p:spPr bwMode="auto">
          <a:xfrm>
            <a:off x="7680325" y="2306638"/>
            <a:ext cx="3175" cy="1770062"/>
          </a:xfrm>
          <a:custGeom>
            <a:avLst/>
            <a:gdLst>
              <a:gd name="T0" fmla="*/ 0 w 2"/>
              <a:gd name="T1" fmla="*/ 0 h 1115"/>
              <a:gd name="T2" fmla="*/ 2 w 2"/>
              <a:gd name="T3" fmla="*/ 1115 h 11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1115">
                <a:moveTo>
                  <a:pt x="0" y="0"/>
                </a:moveTo>
                <a:lnTo>
                  <a:pt x="2" y="1115"/>
                </a:lnTo>
              </a:path>
            </a:pathLst>
          </a:custGeom>
          <a:noFill/>
          <a:ln w="44450">
            <a:solidFill>
              <a:srgbClr val="3366FF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82" name="Line 142"/>
          <p:cNvSpPr>
            <a:spLocks noChangeShapeType="1"/>
          </p:cNvSpPr>
          <p:nvPr/>
        </p:nvSpPr>
        <p:spPr bwMode="auto">
          <a:xfrm flipH="1">
            <a:off x="6276975" y="2306638"/>
            <a:ext cx="1403350" cy="0"/>
          </a:xfrm>
          <a:prstGeom prst="line">
            <a:avLst/>
          </a:prstGeom>
          <a:noFill/>
          <a:ln w="44450">
            <a:solidFill>
              <a:srgbClr val="3366FF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367183" name="Object 143"/>
          <p:cNvGraphicFramePr>
            <a:graphicFrameLocks noChangeAspect="1"/>
          </p:cNvGraphicFramePr>
          <p:nvPr/>
        </p:nvGraphicFramePr>
        <p:xfrm>
          <a:off x="7739063" y="3863975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09" name="Equation" r:id="rId5" imgW="126720" imgH="126720" progId="Equation.3">
                  <p:embed/>
                </p:oleObj>
              </mc:Choice>
              <mc:Fallback>
                <p:oleObj name="Equation" r:id="rId5" imgW="126720" imgH="126720" progId="Equation.3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063" y="3863975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184" name="Object 144"/>
          <p:cNvGraphicFramePr>
            <a:graphicFrameLocks noChangeAspect="1"/>
          </p:cNvGraphicFramePr>
          <p:nvPr/>
        </p:nvGraphicFramePr>
        <p:xfrm>
          <a:off x="6248400" y="2347913"/>
          <a:ext cx="263525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0" name="Equation" r:id="rId7" imgW="126720" imgH="126720" progId="Equation.3">
                  <p:embed/>
                </p:oleObj>
              </mc:Choice>
              <mc:Fallback>
                <p:oleObj name="Equation" r:id="rId7" imgW="126720" imgH="126720" progId="Equation.3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347913"/>
                        <a:ext cx="263525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185" name="Object 145"/>
          <p:cNvGraphicFramePr>
            <a:graphicFrameLocks noChangeAspect="1"/>
          </p:cNvGraphicFramePr>
          <p:nvPr/>
        </p:nvGraphicFramePr>
        <p:xfrm>
          <a:off x="8601075" y="1408113"/>
          <a:ext cx="22225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1" name="Equation" r:id="rId9" imgW="126720" imgH="164880" progId="Equation.3">
                  <p:embed/>
                </p:oleObj>
              </mc:Choice>
              <mc:Fallback>
                <p:oleObj name="Equation" r:id="rId9" imgW="126720" imgH="164880" progId="Equation.3">
                  <p:embed/>
                  <p:pic>
                    <p:nvPicPr>
                      <p:cNvPr id="0" name="Object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1075" y="1408113"/>
                        <a:ext cx="222250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186" name="Object 1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88500"/>
              </p:ext>
            </p:extLst>
          </p:nvPr>
        </p:nvGraphicFramePr>
        <p:xfrm>
          <a:off x="6985000" y="2452687"/>
          <a:ext cx="25344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2" name="公式" r:id="rId11" imgW="126720" imgH="177480" progId="Equation.3">
                  <p:embed/>
                </p:oleObj>
              </mc:Choice>
              <mc:Fallback>
                <p:oleObj name="公式" r:id="rId11" imgW="126720" imgH="177480" progId="Equation.3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0" y="2452687"/>
                        <a:ext cx="253440" cy="35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187" name="Object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221367"/>
              </p:ext>
            </p:extLst>
          </p:nvPr>
        </p:nvGraphicFramePr>
        <p:xfrm>
          <a:off x="8148638" y="1962150"/>
          <a:ext cx="203040" cy="35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3" name="公式" r:id="rId13" imgW="101520" imgH="177480" progId="Equation.3">
                  <p:embed/>
                </p:oleObj>
              </mc:Choice>
              <mc:Fallback>
                <p:oleObj name="公式" r:id="rId13" imgW="101520" imgH="177480" progId="Equation.3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8638" y="1962150"/>
                        <a:ext cx="203040" cy="35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188" name="Text Box 148"/>
          <p:cNvSpPr txBox="1">
            <a:spLocks noChangeArrowheads="1"/>
          </p:cNvSpPr>
          <p:nvPr/>
        </p:nvSpPr>
        <p:spPr bwMode="auto">
          <a:xfrm>
            <a:off x="6232525" y="1776413"/>
            <a:ext cx="3913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 err="1">
                <a:solidFill>
                  <a:srgbClr val="000066"/>
                </a:solidFill>
                <a:ea typeface="MingLiU" pitchFamily="49" charset="-120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000" b="1" i="1" baseline="-25000" dirty="0" err="1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t</a:t>
            </a:r>
            <a:endParaRPr kumimoji="1" lang="en-US" altLang="zh-CN" sz="2000" b="1" i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367189" name="Object 149"/>
          <p:cNvGraphicFramePr>
            <a:graphicFrameLocks noChangeAspect="1"/>
          </p:cNvGraphicFramePr>
          <p:nvPr/>
        </p:nvGraphicFramePr>
        <p:xfrm>
          <a:off x="8023225" y="2727325"/>
          <a:ext cx="26352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4" name="Equation" r:id="rId15" imgW="126720" imgH="126720" progId="Equation.3">
                  <p:embed/>
                </p:oleObj>
              </mc:Choice>
              <mc:Fallback>
                <p:oleObj name="Equation" r:id="rId15" imgW="126720" imgH="126720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3225" y="2727325"/>
                        <a:ext cx="26352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190" name="Oval 150"/>
          <p:cNvSpPr>
            <a:spLocks noChangeArrowheads="1"/>
          </p:cNvSpPr>
          <p:nvPr/>
        </p:nvSpPr>
        <p:spPr bwMode="auto">
          <a:xfrm>
            <a:off x="7648575" y="3378200"/>
            <a:ext cx="71438" cy="71438"/>
          </a:xfrm>
          <a:prstGeom prst="ellipse">
            <a:avLst/>
          </a:prstGeom>
          <a:solidFill>
            <a:srgbClr val="990033"/>
          </a:solidFill>
          <a:ln w="57150" algn="ctr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67191" name="Text Box 151"/>
          <p:cNvSpPr txBox="1">
            <a:spLocks noChangeArrowheads="1"/>
          </p:cNvSpPr>
          <p:nvPr/>
        </p:nvSpPr>
        <p:spPr bwMode="auto">
          <a:xfrm>
            <a:off x="7353300" y="3225800"/>
            <a:ext cx="127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M</a:t>
            </a:r>
          </a:p>
        </p:txBody>
      </p:sp>
      <p:sp>
        <p:nvSpPr>
          <p:cNvPr id="1367192" name="Line 152"/>
          <p:cNvSpPr>
            <a:spLocks noChangeShapeType="1"/>
          </p:cNvSpPr>
          <p:nvPr/>
        </p:nvSpPr>
        <p:spPr bwMode="auto">
          <a:xfrm>
            <a:off x="7734300" y="2319338"/>
            <a:ext cx="427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7193" name="Line 153"/>
          <p:cNvSpPr>
            <a:spLocks noChangeShapeType="1"/>
          </p:cNvSpPr>
          <p:nvPr/>
        </p:nvSpPr>
        <p:spPr bwMode="auto">
          <a:xfrm>
            <a:off x="7943850" y="34258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7194" name="Line 154"/>
          <p:cNvSpPr>
            <a:spLocks noChangeShapeType="1"/>
          </p:cNvSpPr>
          <p:nvPr/>
        </p:nvSpPr>
        <p:spPr bwMode="auto">
          <a:xfrm>
            <a:off x="8039100" y="2319338"/>
            <a:ext cx="0" cy="1104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7195" name="Line 155"/>
          <p:cNvSpPr>
            <a:spLocks noChangeShapeType="1"/>
          </p:cNvSpPr>
          <p:nvPr/>
        </p:nvSpPr>
        <p:spPr bwMode="auto">
          <a:xfrm>
            <a:off x="6583363" y="2065338"/>
            <a:ext cx="0" cy="241300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96" name="Line 156"/>
          <p:cNvSpPr>
            <a:spLocks noChangeShapeType="1"/>
          </p:cNvSpPr>
          <p:nvPr/>
        </p:nvSpPr>
        <p:spPr bwMode="auto">
          <a:xfrm>
            <a:off x="6715125" y="2095500"/>
            <a:ext cx="0" cy="211138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97" name="Line 157"/>
          <p:cNvSpPr>
            <a:spLocks noChangeShapeType="1"/>
          </p:cNvSpPr>
          <p:nvPr/>
        </p:nvSpPr>
        <p:spPr bwMode="auto">
          <a:xfrm>
            <a:off x="6846888" y="2124075"/>
            <a:ext cx="0" cy="182563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98" name="Line 158"/>
          <p:cNvSpPr>
            <a:spLocks noChangeShapeType="1"/>
          </p:cNvSpPr>
          <p:nvPr/>
        </p:nvSpPr>
        <p:spPr bwMode="auto">
          <a:xfrm>
            <a:off x="6978650" y="2144713"/>
            <a:ext cx="0" cy="161925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199" name="Line 159"/>
          <p:cNvSpPr>
            <a:spLocks noChangeShapeType="1"/>
          </p:cNvSpPr>
          <p:nvPr/>
        </p:nvSpPr>
        <p:spPr bwMode="auto">
          <a:xfrm>
            <a:off x="7110413" y="2179638"/>
            <a:ext cx="0" cy="127000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200" name="Line 160"/>
          <p:cNvSpPr>
            <a:spLocks noChangeShapeType="1"/>
          </p:cNvSpPr>
          <p:nvPr/>
        </p:nvSpPr>
        <p:spPr bwMode="auto">
          <a:xfrm>
            <a:off x="7242175" y="2198688"/>
            <a:ext cx="0" cy="107950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201" name="Line 161"/>
          <p:cNvSpPr>
            <a:spLocks noChangeShapeType="1"/>
          </p:cNvSpPr>
          <p:nvPr/>
        </p:nvSpPr>
        <p:spPr bwMode="auto">
          <a:xfrm>
            <a:off x="7372350" y="2228850"/>
            <a:ext cx="0" cy="77788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202" name="Line 162"/>
          <p:cNvSpPr>
            <a:spLocks noChangeShapeType="1"/>
          </p:cNvSpPr>
          <p:nvPr/>
        </p:nvSpPr>
        <p:spPr bwMode="auto">
          <a:xfrm>
            <a:off x="7537450" y="2266950"/>
            <a:ext cx="0" cy="39688"/>
          </a:xfrm>
          <a:prstGeom prst="line">
            <a:avLst/>
          </a:prstGeom>
          <a:noFill/>
          <a:ln w="19050">
            <a:solidFill>
              <a:srgbClr val="000099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7203" name="Freeform 163"/>
          <p:cNvSpPr>
            <a:spLocks/>
          </p:cNvSpPr>
          <p:nvPr/>
        </p:nvSpPr>
        <p:spPr bwMode="auto">
          <a:xfrm>
            <a:off x="7431088" y="1674813"/>
            <a:ext cx="185737" cy="107950"/>
          </a:xfrm>
          <a:custGeom>
            <a:avLst/>
            <a:gdLst>
              <a:gd name="T0" fmla="*/ 0 w 117"/>
              <a:gd name="T1" fmla="*/ 57 h 68"/>
              <a:gd name="T2" fmla="*/ 66 w 117"/>
              <a:gd name="T3" fmla="*/ 68 h 68"/>
              <a:gd name="T4" fmla="*/ 117 w 117"/>
              <a:gd name="T5" fmla="*/ 11 h 68"/>
              <a:gd name="T6" fmla="*/ 53 w 117"/>
              <a:gd name="T7" fmla="*/ 0 h 68"/>
              <a:gd name="T8" fmla="*/ 0 w 117"/>
              <a:gd name="T9" fmla="*/ 5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68">
                <a:moveTo>
                  <a:pt x="0" y="57"/>
                </a:moveTo>
                <a:lnTo>
                  <a:pt x="66" y="68"/>
                </a:lnTo>
                <a:lnTo>
                  <a:pt x="117" y="11"/>
                </a:lnTo>
                <a:lnTo>
                  <a:pt x="53" y="0"/>
                </a:lnTo>
                <a:lnTo>
                  <a:pt x="0" y="57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7204" name="Line 164"/>
          <p:cNvSpPr>
            <a:spLocks noChangeShapeType="1"/>
          </p:cNvSpPr>
          <p:nvPr/>
        </p:nvSpPr>
        <p:spPr bwMode="auto">
          <a:xfrm>
            <a:off x="7531100" y="1257300"/>
            <a:ext cx="0" cy="493713"/>
          </a:xfrm>
          <a:prstGeom prst="line">
            <a:avLst/>
          </a:prstGeom>
          <a:noFill/>
          <a:ln w="381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367205" name="Object 1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788032"/>
              </p:ext>
            </p:extLst>
          </p:nvPr>
        </p:nvGraphicFramePr>
        <p:xfrm>
          <a:off x="2592828" y="2674144"/>
          <a:ext cx="12952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5" name="公式" r:id="rId17" imgW="647640" imgH="228600" progId="Equation.3">
                  <p:embed/>
                </p:oleObj>
              </mc:Choice>
              <mc:Fallback>
                <p:oleObj name="公式" r:id="rId17" imgW="647640" imgH="228600" progId="Equation.3">
                  <p:embed/>
                  <p:pic>
                    <p:nvPicPr>
                      <p:cNvPr id="0" name="Object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828" y="2674144"/>
                        <a:ext cx="129528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7206" name="Object 1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42432"/>
              </p:ext>
            </p:extLst>
          </p:nvPr>
        </p:nvGraphicFramePr>
        <p:xfrm>
          <a:off x="1278058" y="1488361"/>
          <a:ext cx="350496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6" name="公式" r:id="rId19" imgW="1752480" imgH="330120" progId="Equation.3">
                  <p:embed/>
                </p:oleObj>
              </mc:Choice>
              <mc:Fallback>
                <p:oleObj name="公式" r:id="rId19" imgW="1752480" imgH="330120" progId="Equation.3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 l="-7985" r="-7985"/>
                      <a:stretch>
                        <a:fillRect/>
                      </a:stretch>
                    </p:blipFill>
                    <p:spPr bwMode="auto">
                      <a:xfrm>
                        <a:off x="1278058" y="1488361"/>
                        <a:ext cx="3504960" cy="660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207" name="AutoShape 167"/>
          <p:cNvSpPr>
            <a:spLocks noChangeArrowheads="1"/>
          </p:cNvSpPr>
          <p:nvPr/>
        </p:nvSpPr>
        <p:spPr bwMode="auto">
          <a:xfrm>
            <a:off x="1587500" y="2644775"/>
            <a:ext cx="669925" cy="487363"/>
          </a:xfrm>
          <a:prstGeom prst="homePlate">
            <a:avLst>
              <a:gd name="adj" fmla="val 3436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7208" name="Text Box 168"/>
          <p:cNvSpPr txBox="1">
            <a:spLocks noChangeArrowheads="1"/>
          </p:cNvSpPr>
          <p:nvPr/>
        </p:nvSpPr>
        <p:spPr bwMode="auto">
          <a:xfrm>
            <a:off x="2243138" y="4378325"/>
            <a:ext cx="517207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矩形面积竖直三角分布荷载角点下的应力分布系数：表3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6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67209" name="Freeform 169"/>
          <p:cNvSpPr>
            <a:spLocks/>
          </p:cNvSpPr>
          <p:nvPr/>
        </p:nvSpPr>
        <p:spPr bwMode="auto">
          <a:xfrm>
            <a:off x="1627188" y="4246563"/>
            <a:ext cx="608012" cy="44132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67210" name="Object 1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610025"/>
              </p:ext>
            </p:extLst>
          </p:nvPr>
        </p:nvGraphicFramePr>
        <p:xfrm>
          <a:off x="1497453" y="3572669"/>
          <a:ext cx="444456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17" name="公式" r:id="rId21" imgW="2222280" imgH="380880" progId="Equation.3">
                  <p:embed/>
                </p:oleObj>
              </mc:Choice>
              <mc:Fallback>
                <p:oleObj name="公式" r:id="rId21" imgW="2222280" imgH="380880" progId="Equation.3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453" y="3572669"/>
                        <a:ext cx="4444560" cy="761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7211" name="Text Box 171"/>
          <p:cNvSpPr txBox="1">
            <a:spLocks noChangeArrowheads="1"/>
          </p:cNvSpPr>
          <p:nvPr/>
        </p:nvSpPr>
        <p:spPr bwMode="auto">
          <a:xfrm>
            <a:off x="7421563" y="17081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dirty="0">
                <a:solidFill>
                  <a:srgbClr val="000066"/>
                </a:solidFill>
                <a:ea typeface="幼圆" pitchFamily="49" charset="-122"/>
              </a:rPr>
              <a:t>o</a:t>
            </a: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-2" y="0"/>
            <a:ext cx="44958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矩形分布荷载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208" grpId="0"/>
      <p:bldP spid="136720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078" name="Rectangle 14"/>
          <p:cNvSpPr>
            <a:spLocks noChangeArrowheads="1"/>
          </p:cNvSpPr>
          <p:nvPr/>
        </p:nvSpPr>
        <p:spPr bwMode="auto">
          <a:xfrm>
            <a:off x="6178550" y="949325"/>
            <a:ext cx="2743200" cy="3227388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8079" name="Freeform 15"/>
          <p:cNvSpPr>
            <a:spLocks/>
          </p:cNvSpPr>
          <p:nvPr/>
        </p:nvSpPr>
        <p:spPr bwMode="auto">
          <a:xfrm>
            <a:off x="7469188" y="1622425"/>
            <a:ext cx="1131887" cy="1588"/>
          </a:xfrm>
          <a:custGeom>
            <a:avLst/>
            <a:gdLst>
              <a:gd name="T0" fmla="*/ 0 w 713"/>
              <a:gd name="T1" fmla="*/ 1 h 1"/>
              <a:gd name="T2" fmla="*/ 713 w 71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13" h="1">
                <a:moveTo>
                  <a:pt x="0" y="1"/>
                </a:moveTo>
                <a:lnTo>
                  <a:pt x="713" y="0"/>
                </a:lnTo>
              </a:path>
            </a:pathLst>
          </a:custGeom>
          <a:noFill/>
          <a:ln w="9525">
            <a:solidFill>
              <a:schemeClr val="tx1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80" name="Freeform 16"/>
          <p:cNvSpPr>
            <a:spLocks/>
          </p:cNvSpPr>
          <p:nvPr/>
        </p:nvSpPr>
        <p:spPr bwMode="auto">
          <a:xfrm>
            <a:off x="7969250" y="1768475"/>
            <a:ext cx="755650" cy="768350"/>
          </a:xfrm>
          <a:custGeom>
            <a:avLst/>
            <a:gdLst>
              <a:gd name="T0" fmla="*/ 0 w 493"/>
              <a:gd name="T1" fmla="*/ 496 h 496"/>
              <a:gd name="T2" fmla="*/ 493 w 493"/>
              <a:gd name="T3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93" h="496">
                <a:moveTo>
                  <a:pt x="0" y="496"/>
                </a:moveTo>
                <a:lnTo>
                  <a:pt x="493" y="0"/>
                </a:lnTo>
              </a:path>
            </a:pathLst>
          </a:custGeom>
          <a:noFill/>
          <a:ln w="9525">
            <a:solidFill>
              <a:schemeClr val="tx1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81" name="Line 17"/>
          <p:cNvSpPr>
            <a:spLocks noChangeShapeType="1"/>
          </p:cNvSpPr>
          <p:nvPr/>
        </p:nvSpPr>
        <p:spPr bwMode="auto">
          <a:xfrm>
            <a:off x="7478713" y="1501775"/>
            <a:ext cx="0" cy="22066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82" name="Line 18"/>
          <p:cNvSpPr>
            <a:spLocks noChangeShapeType="1"/>
          </p:cNvSpPr>
          <p:nvPr/>
        </p:nvSpPr>
        <p:spPr bwMode="auto">
          <a:xfrm>
            <a:off x="8604250" y="1770063"/>
            <a:ext cx="1762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83" name="Rectangle 19"/>
          <p:cNvSpPr>
            <a:spLocks noChangeArrowheads="1"/>
          </p:cNvSpPr>
          <p:nvPr/>
        </p:nvSpPr>
        <p:spPr bwMode="auto">
          <a:xfrm>
            <a:off x="590550" y="1436688"/>
            <a:ext cx="543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角点下的垂直附加应力：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氏解的应用</a:t>
            </a:r>
          </a:p>
        </p:txBody>
      </p:sp>
      <p:sp>
        <p:nvSpPr>
          <p:cNvPr id="1368084" name="Oval 20"/>
          <p:cNvSpPr>
            <a:spLocks noChangeArrowheads="1"/>
          </p:cNvSpPr>
          <p:nvPr/>
        </p:nvSpPr>
        <p:spPr bwMode="auto">
          <a:xfrm>
            <a:off x="7796213" y="3502025"/>
            <a:ext cx="71437" cy="71438"/>
          </a:xfrm>
          <a:prstGeom prst="ellipse">
            <a:avLst/>
          </a:prstGeom>
          <a:solidFill>
            <a:srgbClr val="990033"/>
          </a:solidFill>
          <a:ln w="57150" algn="ctr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1368085" name="Group 21"/>
          <p:cNvGrpSpPr>
            <a:grpSpLocks/>
          </p:cNvGrpSpPr>
          <p:nvPr/>
        </p:nvGrpSpPr>
        <p:grpSpPr bwMode="auto">
          <a:xfrm>
            <a:off x="6738938" y="1762125"/>
            <a:ext cx="1841500" cy="746125"/>
            <a:chOff x="4004" y="1336"/>
            <a:chExt cx="1160" cy="470"/>
          </a:xfrm>
        </p:grpSpPr>
        <p:sp>
          <p:nvSpPr>
            <p:cNvPr id="1368086" name="Freeform 22"/>
            <p:cNvSpPr>
              <a:spLocks/>
            </p:cNvSpPr>
            <p:nvPr/>
          </p:nvSpPr>
          <p:spPr bwMode="auto">
            <a:xfrm>
              <a:off x="4004" y="1336"/>
              <a:ext cx="1160" cy="470"/>
            </a:xfrm>
            <a:custGeom>
              <a:avLst/>
              <a:gdLst>
                <a:gd name="T0" fmla="*/ 0 w 1160"/>
                <a:gd name="T1" fmla="*/ 470 h 470"/>
                <a:gd name="T2" fmla="*/ 694 w 1160"/>
                <a:gd name="T3" fmla="*/ 470 h 470"/>
                <a:gd name="T4" fmla="*/ 1160 w 1160"/>
                <a:gd name="T5" fmla="*/ 2 h 470"/>
                <a:gd name="T6" fmla="*/ 470 w 1160"/>
                <a:gd name="T7" fmla="*/ 0 h 470"/>
                <a:gd name="T8" fmla="*/ 0 w 1160"/>
                <a:gd name="T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0" h="470">
                  <a:moveTo>
                    <a:pt x="0" y="470"/>
                  </a:moveTo>
                  <a:lnTo>
                    <a:pt x="694" y="470"/>
                  </a:lnTo>
                  <a:lnTo>
                    <a:pt x="1160" y="2"/>
                  </a:lnTo>
                  <a:lnTo>
                    <a:pt x="470" y="0"/>
                  </a:lnTo>
                  <a:lnTo>
                    <a:pt x="0" y="470"/>
                  </a:lnTo>
                  <a:close/>
                </a:path>
              </a:pathLst>
            </a:custGeom>
            <a:noFill/>
            <a:ln w="38100" cap="flat" cmpd="sng">
              <a:solidFill>
                <a:srgbClr val="9900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87" name="Line 23"/>
            <p:cNvSpPr>
              <a:spLocks noChangeShapeType="1"/>
            </p:cNvSpPr>
            <p:nvPr/>
          </p:nvSpPr>
          <p:spPr bwMode="auto">
            <a:xfrm>
              <a:off x="4438" y="1418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88" name="Line 24"/>
            <p:cNvSpPr>
              <a:spLocks noChangeShapeType="1"/>
            </p:cNvSpPr>
            <p:nvPr/>
          </p:nvSpPr>
          <p:spPr bwMode="auto">
            <a:xfrm>
              <a:off x="4340" y="1517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89" name="Line 25"/>
            <p:cNvSpPr>
              <a:spLocks noChangeShapeType="1"/>
            </p:cNvSpPr>
            <p:nvPr/>
          </p:nvSpPr>
          <p:spPr bwMode="auto">
            <a:xfrm>
              <a:off x="4233" y="1624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90" name="Line 26"/>
            <p:cNvSpPr>
              <a:spLocks noChangeShapeType="1"/>
            </p:cNvSpPr>
            <p:nvPr/>
          </p:nvSpPr>
          <p:spPr bwMode="auto">
            <a:xfrm>
              <a:off x="4142" y="1714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91" name="Line 27"/>
            <p:cNvSpPr>
              <a:spLocks noChangeShapeType="1"/>
            </p:cNvSpPr>
            <p:nvPr/>
          </p:nvSpPr>
          <p:spPr bwMode="auto">
            <a:xfrm>
              <a:off x="4751" y="1418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92" name="Line 28"/>
            <p:cNvSpPr>
              <a:spLocks noChangeShapeType="1"/>
            </p:cNvSpPr>
            <p:nvPr/>
          </p:nvSpPr>
          <p:spPr bwMode="auto">
            <a:xfrm>
              <a:off x="4653" y="1517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93" name="Line 29"/>
            <p:cNvSpPr>
              <a:spLocks noChangeShapeType="1"/>
            </p:cNvSpPr>
            <p:nvPr/>
          </p:nvSpPr>
          <p:spPr bwMode="auto">
            <a:xfrm>
              <a:off x="4546" y="1624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8094" name="Line 30"/>
            <p:cNvSpPr>
              <a:spLocks noChangeShapeType="1"/>
            </p:cNvSpPr>
            <p:nvPr/>
          </p:nvSpPr>
          <p:spPr bwMode="auto">
            <a:xfrm>
              <a:off x="4455" y="1714"/>
              <a:ext cx="272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68095" name="Line 31"/>
          <p:cNvSpPr>
            <a:spLocks noChangeShapeType="1"/>
          </p:cNvSpPr>
          <p:nvPr/>
        </p:nvSpPr>
        <p:spPr bwMode="auto">
          <a:xfrm>
            <a:off x="7259638" y="2493963"/>
            <a:ext cx="0" cy="10810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68096" name="Line 32"/>
          <p:cNvSpPr>
            <a:spLocks noChangeShapeType="1"/>
          </p:cNvSpPr>
          <p:nvPr/>
        </p:nvSpPr>
        <p:spPr bwMode="auto">
          <a:xfrm>
            <a:off x="8593138" y="1503363"/>
            <a:ext cx="0" cy="22066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97" name="Line 33"/>
          <p:cNvSpPr>
            <a:spLocks noChangeShapeType="1"/>
          </p:cNvSpPr>
          <p:nvPr/>
        </p:nvSpPr>
        <p:spPr bwMode="auto">
          <a:xfrm>
            <a:off x="7894638" y="2532063"/>
            <a:ext cx="17621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098" name="Text Box 34"/>
          <p:cNvSpPr txBox="1">
            <a:spLocks noChangeArrowheads="1"/>
          </p:cNvSpPr>
          <p:nvPr/>
        </p:nvSpPr>
        <p:spPr bwMode="auto">
          <a:xfrm>
            <a:off x="6711950" y="1701800"/>
            <a:ext cx="33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>
                <a:solidFill>
                  <a:srgbClr val="000066"/>
                </a:solidFill>
                <a:ea typeface="MingLiU" pitchFamily="49" charset="-120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MingLiU" pitchFamily="49" charset="-120"/>
                <a:cs typeface="Times New Roman" panose="02020603050405020304" pitchFamily="18" charset="0"/>
                <a:sym typeface="Symbol" pitchFamily="18" charset="2"/>
              </a:rPr>
              <a:t>h</a:t>
            </a:r>
            <a:endParaRPr kumimoji="1" lang="en-US" altLang="zh-CN" sz="2400" b="1" i="1" baseline="-25000" dirty="0">
              <a:solidFill>
                <a:srgbClr val="000066"/>
              </a:solidFill>
              <a:ea typeface="MingLiU" pitchFamily="49" charset="-12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68099" name="Line 35"/>
          <p:cNvSpPr>
            <a:spLocks noChangeShapeType="1"/>
          </p:cNvSpPr>
          <p:nvPr/>
        </p:nvSpPr>
        <p:spPr bwMode="auto">
          <a:xfrm>
            <a:off x="7834313" y="2493963"/>
            <a:ext cx="0" cy="1008062"/>
          </a:xfrm>
          <a:prstGeom prst="line">
            <a:avLst/>
          </a:prstGeom>
          <a:noFill/>
          <a:ln w="12700" cap="rnd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13681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846916"/>
              </p:ext>
            </p:extLst>
          </p:nvPr>
        </p:nvGraphicFramePr>
        <p:xfrm>
          <a:off x="7993063" y="2998788"/>
          <a:ext cx="4143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32" name="公式" r:id="rId3" imgW="177480" imgH="215640" progId="Equation.3">
                  <p:embed/>
                </p:oleObj>
              </mc:Choice>
              <mc:Fallback>
                <p:oleObj name="公式" r:id="rId3" imgW="177480" imgH="2156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063" y="2998788"/>
                        <a:ext cx="4143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101" name="Line 37"/>
          <p:cNvSpPr>
            <a:spLocks noChangeShapeType="1"/>
          </p:cNvSpPr>
          <p:nvPr/>
        </p:nvSpPr>
        <p:spPr bwMode="auto">
          <a:xfrm>
            <a:off x="7834313" y="2963863"/>
            <a:ext cx="0" cy="5032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68102" name="Line 38"/>
          <p:cNvSpPr>
            <a:spLocks noChangeShapeType="1"/>
          </p:cNvSpPr>
          <p:nvPr/>
        </p:nvSpPr>
        <p:spPr bwMode="auto">
          <a:xfrm>
            <a:off x="6742113" y="3006725"/>
            <a:ext cx="0" cy="5032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68103" name="Oval 39"/>
          <p:cNvSpPr>
            <a:spLocks noChangeArrowheads="1"/>
          </p:cNvSpPr>
          <p:nvPr/>
        </p:nvSpPr>
        <p:spPr bwMode="auto">
          <a:xfrm>
            <a:off x="6711950" y="3502025"/>
            <a:ext cx="71438" cy="71438"/>
          </a:xfrm>
          <a:prstGeom prst="ellipse">
            <a:avLst/>
          </a:prstGeom>
          <a:solidFill>
            <a:srgbClr val="990033"/>
          </a:solidFill>
          <a:ln w="57150" algn="ctr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368104" name="Line 40"/>
          <p:cNvSpPr>
            <a:spLocks noChangeShapeType="1"/>
          </p:cNvSpPr>
          <p:nvPr/>
        </p:nvSpPr>
        <p:spPr bwMode="auto">
          <a:xfrm>
            <a:off x="6750050" y="2493963"/>
            <a:ext cx="0" cy="1008062"/>
          </a:xfrm>
          <a:prstGeom prst="line">
            <a:avLst/>
          </a:prstGeom>
          <a:noFill/>
          <a:ln w="12700" cap="rnd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136810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173846"/>
              </p:ext>
            </p:extLst>
          </p:nvPr>
        </p:nvGraphicFramePr>
        <p:xfrm>
          <a:off x="6264275" y="2979738"/>
          <a:ext cx="4143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33" name="公式" r:id="rId5" imgW="177480" imgH="215640" progId="Equation.3">
                  <p:embed/>
                </p:oleObj>
              </mc:Choice>
              <mc:Fallback>
                <p:oleObj name="公式" r:id="rId5" imgW="177480" imgH="2156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979738"/>
                        <a:ext cx="41433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106" name="Line 42"/>
          <p:cNvSpPr>
            <a:spLocks noChangeShapeType="1"/>
          </p:cNvSpPr>
          <p:nvPr/>
        </p:nvSpPr>
        <p:spPr bwMode="auto">
          <a:xfrm>
            <a:off x="7186613" y="3575050"/>
            <a:ext cx="17621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68107" name="Text Box 43"/>
          <p:cNvSpPr txBox="1">
            <a:spLocks noChangeArrowheads="1"/>
          </p:cNvSpPr>
          <p:nvPr/>
        </p:nvSpPr>
        <p:spPr bwMode="auto">
          <a:xfrm>
            <a:off x="2462213" y="5770563"/>
            <a:ext cx="57896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矩形分布荷载的附加应力</a:t>
            </a:r>
            <a:endParaRPr lang="zh-CN" altLang="en-US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68108" name="Text Box 44"/>
          <p:cNvSpPr txBox="1">
            <a:spLocks noChangeArrowheads="1"/>
          </p:cNvSpPr>
          <p:nvPr/>
        </p:nvSpPr>
        <p:spPr bwMode="auto">
          <a:xfrm>
            <a:off x="376238" y="723900"/>
            <a:ext cx="411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矩形面积水平均布荷载</a:t>
            </a:r>
          </a:p>
        </p:txBody>
      </p:sp>
      <p:graphicFrame>
        <p:nvGraphicFramePr>
          <p:cNvPr id="136810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34266"/>
              </p:ext>
            </p:extLst>
          </p:nvPr>
        </p:nvGraphicFramePr>
        <p:xfrm>
          <a:off x="1104900" y="2154238"/>
          <a:ext cx="15487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34" name="公式" r:id="rId7" imgW="774360" imgH="228600" progId="Equation.3">
                  <p:embed/>
                </p:oleObj>
              </mc:Choice>
              <mc:Fallback>
                <p:oleObj name="公式" r:id="rId7" imgW="774360" imgH="2286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154238"/>
                        <a:ext cx="154872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8110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076082"/>
              </p:ext>
            </p:extLst>
          </p:nvPr>
        </p:nvGraphicFramePr>
        <p:xfrm>
          <a:off x="1003300" y="3284538"/>
          <a:ext cx="4495680" cy="761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35" name="公式" r:id="rId9" imgW="2247840" imgH="380880" progId="Equation.3">
                  <p:embed/>
                </p:oleObj>
              </mc:Choice>
              <mc:Fallback>
                <p:oleObj name="公式" r:id="rId9" imgW="2247840" imgH="38088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284538"/>
                        <a:ext cx="4495680" cy="7617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8111" name="Text Box 47"/>
          <p:cNvSpPr txBox="1">
            <a:spLocks noChangeArrowheads="1"/>
          </p:cNvSpPr>
          <p:nvPr/>
        </p:nvSpPr>
        <p:spPr bwMode="auto">
          <a:xfrm>
            <a:off x="2109788" y="4275138"/>
            <a:ext cx="46863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矩形面积作用水平均布荷载时角点下的应力分布系数：表3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7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68112" name="Freeform 48"/>
          <p:cNvSpPr>
            <a:spLocks/>
          </p:cNvSpPr>
          <p:nvPr/>
        </p:nvSpPr>
        <p:spPr bwMode="auto">
          <a:xfrm>
            <a:off x="1214438" y="3957638"/>
            <a:ext cx="836612" cy="609600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368113" name="Text Box 49"/>
          <p:cNvSpPr txBox="1">
            <a:spLocks noChangeArrowheads="1"/>
          </p:cNvSpPr>
          <p:nvPr/>
        </p:nvSpPr>
        <p:spPr bwMode="auto">
          <a:xfrm>
            <a:off x="7237413" y="2798763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</a:rPr>
              <a:t>Z</a:t>
            </a:r>
          </a:p>
        </p:txBody>
      </p:sp>
      <p:sp>
        <p:nvSpPr>
          <p:cNvPr id="1368114" name="Text Box 50"/>
          <p:cNvSpPr txBox="1">
            <a:spLocks noChangeArrowheads="1"/>
          </p:cNvSpPr>
          <p:nvPr/>
        </p:nvSpPr>
        <p:spPr bwMode="auto">
          <a:xfrm>
            <a:off x="8312150" y="2036763"/>
            <a:ext cx="2696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l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68115" name="Text Box 51"/>
          <p:cNvSpPr txBox="1">
            <a:spLocks noChangeArrowheads="1"/>
          </p:cNvSpPr>
          <p:nvPr/>
        </p:nvSpPr>
        <p:spPr bwMode="auto">
          <a:xfrm>
            <a:off x="7764463" y="121602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smtClean="0">
                <a:solidFill>
                  <a:srgbClr val="000066"/>
                </a:solidFill>
                <a:ea typeface="幼圆" pitchFamily="49" charset="-122"/>
              </a:rPr>
              <a:t>b</a:t>
            </a:r>
            <a:endParaRPr lang="en-US" altLang="zh-CN" sz="2400" b="1" i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-1" y="0"/>
            <a:ext cx="44862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矩形分布荷载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111" grpId="0"/>
      <p:bldP spid="136811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096" name="Text Box 8"/>
          <p:cNvSpPr txBox="1">
            <a:spLocks noChangeArrowheads="1"/>
          </p:cNvSpPr>
          <p:nvPr/>
        </p:nvSpPr>
        <p:spPr bwMode="auto">
          <a:xfrm>
            <a:off x="2462213" y="5770563"/>
            <a:ext cx="57896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条形分布荷载的附加应力</a:t>
            </a:r>
            <a:endParaRPr lang="zh-CN" altLang="en-US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69097" name="Text Box 9"/>
          <p:cNvSpPr txBox="1">
            <a:spLocks noChangeArrowheads="1"/>
          </p:cNvSpPr>
          <p:nvPr/>
        </p:nvSpPr>
        <p:spPr bwMode="auto">
          <a:xfrm>
            <a:off x="376238" y="660400"/>
            <a:ext cx="440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竖直线布荷载 </a:t>
            </a:r>
            <a:r>
              <a:rPr kumimoji="1" lang="en-US" altLang="zh-CN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- 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弗拉曼解</a:t>
            </a:r>
          </a:p>
        </p:txBody>
      </p:sp>
      <p:sp>
        <p:nvSpPr>
          <p:cNvPr id="1369098" name="Rectangle 10"/>
          <p:cNvSpPr>
            <a:spLocks noChangeArrowheads="1"/>
          </p:cNvSpPr>
          <p:nvPr/>
        </p:nvSpPr>
        <p:spPr bwMode="auto">
          <a:xfrm>
            <a:off x="817563" y="1255713"/>
            <a:ext cx="2178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B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氏解的应用</a:t>
            </a:r>
          </a:p>
        </p:txBody>
      </p:sp>
      <p:graphicFrame>
        <p:nvGraphicFramePr>
          <p:cNvPr id="13690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15625"/>
              </p:ext>
            </p:extLst>
          </p:nvPr>
        </p:nvGraphicFramePr>
        <p:xfrm>
          <a:off x="1262063" y="1816099"/>
          <a:ext cx="218376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02" name="公式" r:id="rId3" imgW="1091880" imgH="444240" progId="Equation.3">
                  <p:embed/>
                </p:oleObj>
              </mc:Choice>
              <mc:Fallback>
                <p:oleObj name="公式" r:id="rId3" imgW="1091880" imgH="444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1262063" y="1816099"/>
                        <a:ext cx="218376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738679"/>
              </p:ext>
            </p:extLst>
          </p:nvPr>
        </p:nvGraphicFramePr>
        <p:xfrm>
          <a:off x="1276350" y="2770188"/>
          <a:ext cx="220968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03" name="公式" r:id="rId5" imgW="1104840" imgH="444240" progId="Equation.3">
                  <p:embed/>
                </p:oleObj>
              </mc:Choice>
              <mc:Fallback>
                <p:oleObj name="公式" r:id="rId5" imgW="110484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1276350" y="2770188"/>
                        <a:ext cx="220968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494124"/>
              </p:ext>
            </p:extLst>
          </p:nvPr>
        </p:nvGraphicFramePr>
        <p:xfrm>
          <a:off x="1257300" y="3762374"/>
          <a:ext cx="226008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04" name="公式" r:id="rId7" imgW="1130040" imgH="444240" progId="Equation.3">
                  <p:embed/>
                </p:oleObj>
              </mc:Choice>
              <mc:Fallback>
                <p:oleObj name="公式" r:id="rId7" imgW="113004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 l="-8231" r="-8231"/>
                      <a:stretch>
                        <a:fillRect/>
                      </a:stretch>
                    </p:blipFill>
                    <p:spPr bwMode="auto">
                      <a:xfrm>
                        <a:off x="1257300" y="3762374"/>
                        <a:ext cx="226008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91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908213"/>
              </p:ext>
            </p:extLst>
          </p:nvPr>
        </p:nvGraphicFramePr>
        <p:xfrm>
          <a:off x="1377950" y="4927600"/>
          <a:ext cx="198072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05" name="公式" r:id="rId9" imgW="990360" imgH="241200" progId="Equation.3">
                  <p:embed/>
                </p:oleObj>
              </mc:Choice>
              <mc:Fallback>
                <p:oleObj name="公式" r:id="rId9" imgW="990360" imgH="241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4927600"/>
                        <a:ext cx="198072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9103" name="Group 15"/>
          <p:cNvGrpSpPr>
            <a:grpSpLocks/>
          </p:cNvGrpSpPr>
          <p:nvPr/>
        </p:nvGrpSpPr>
        <p:grpSpPr bwMode="auto">
          <a:xfrm>
            <a:off x="5218113" y="955675"/>
            <a:ext cx="3597275" cy="4075113"/>
            <a:chOff x="3287" y="602"/>
            <a:chExt cx="2266" cy="2567"/>
          </a:xfrm>
        </p:grpSpPr>
        <p:sp>
          <p:nvSpPr>
            <p:cNvPr id="1369104" name="Rectangle 16"/>
            <p:cNvSpPr>
              <a:spLocks noChangeArrowheads="1"/>
            </p:cNvSpPr>
            <p:nvPr/>
          </p:nvSpPr>
          <p:spPr bwMode="auto">
            <a:xfrm>
              <a:off x="3287" y="602"/>
              <a:ext cx="2266" cy="256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cs typeface="Times New Roman" panose="02020603050405020304" pitchFamily="18" charset="0"/>
              </a:endParaRPr>
            </a:p>
          </p:txBody>
        </p:sp>
        <p:sp>
          <p:nvSpPr>
            <p:cNvPr id="1369105" name="Freeform 17"/>
            <p:cNvSpPr>
              <a:spLocks/>
            </p:cNvSpPr>
            <p:nvPr/>
          </p:nvSpPr>
          <p:spPr bwMode="auto">
            <a:xfrm>
              <a:off x="4224" y="1856"/>
              <a:ext cx="1093" cy="931"/>
            </a:xfrm>
            <a:custGeom>
              <a:avLst/>
              <a:gdLst>
                <a:gd name="T0" fmla="*/ 1401 w 1401"/>
                <a:gd name="T1" fmla="*/ 0 h 1142"/>
                <a:gd name="T2" fmla="*/ 0 w 1401"/>
                <a:gd name="T3" fmla="*/ 0 h 1142"/>
                <a:gd name="T4" fmla="*/ 0 w 1401"/>
                <a:gd name="T5" fmla="*/ 114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01" h="1142">
                  <a:moveTo>
                    <a:pt x="1401" y="0"/>
                  </a:moveTo>
                  <a:lnTo>
                    <a:pt x="0" y="0"/>
                  </a:lnTo>
                  <a:lnTo>
                    <a:pt x="0" y="114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6910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1288626"/>
                </p:ext>
              </p:extLst>
            </p:nvPr>
          </p:nvGraphicFramePr>
          <p:xfrm>
            <a:off x="4573" y="2301"/>
            <a:ext cx="183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06" name="公式" r:id="rId11" imgW="139680" imgH="139680" progId="Equation.3">
                    <p:embed/>
                  </p:oleObj>
                </mc:Choice>
                <mc:Fallback>
                  <p:oleObj name="公式" r:id="rId11" imgW="139680" imgH="1396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" y="2301"/>
                          <a:ext cx="183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910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7140974"/>
                </p:ext>
              </p:extLst>
            </p:nvPr>
          </p:nvGraphicFramePr>
          <p:xfrm>
            <a:off x="4188" y="1189"/>
            <a:ext cx="19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07" name="公式" r:id="rId13" imgW="152280" imgH="190440" progId="Equation.3">
                    <p:embed/>
                  </p:oleObj>
                </mc:Choice>
                <mc:Fallback>
                  <p:oleObj name="公式" r:id="rId13" imgW="152280" imgH="1904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1189"/>
                          <a:ext cx="19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9108" name="Oval 20"/>
            <p:cNvSpPr>
              <a:spLocks noChangeArrowheads="1"/>
            </p:cNvSpPr>
            <p:nvPr/>
          </p:nvSpPr>
          <p:spPr bwMode="auto">
            <a:xfrm>
              <a:off x="5005" y="2474"/>
              <a:ext cx="45" cy="45"/>
            </a:xfrm>
            <a:prstGeom prst="ellipse">
              <a:avLst/>
            </a:prstGeom>
            <a:solidFill>
              <a:srgbClr val="990033"/>
            </a:solidFill>
            <a:ln w="5715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9109" name="Text Box 21"/>
            <p:cNvSpPr txBox="1">
              <a:spLocks noChangeArrowheads="1"/>
            </p:cNvSpPr>
            <p:nvPr/>
          </p:nvSpPr>
          <p:spPr bwMode="auto">
            <a:xfrm>
              <a:off x="5117" y="2387"/>
              <a:ext cx="13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M</a:t>
              </a:r>
            </a:p>
          </p:txBody>
        </p:sp>
        <p:graphicFrame>
          <p:nvGraphicFramePr>
            <p:cNvPr id="1369110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1916984"/>
                </p:ext>
              </p:extLst>
            </p:nvPr>
          </p:nvGraphicFramePr>
          <p:xfrm>
            <a:off x="5015" y="2066"/>
            <a:ext cx="166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08" name="公式" r:id="rId15" imgW="126720" imgH="126720" progId="Equation.3">
                    <p:embed/>
                  </p:oleObj>
                </mc:Choice>
                <mc:Fallback>
                  <p:oleObj name="公式" r:id="rId15" imgW="126720" imgH="12672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066"/>
                          <a:ext cx="166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69111" name="Group 23"/>
            <p:cNvGrpSpPr>
              <a:grpSpLocks/>
            </p:cNvGrpSpPr>
            <p:nvPr/>
          </p:nvGrpSpPr>
          <p:grpSpPr bwMode="auto">
            <a:xfrm>
              <a:off x="3853" y="913"/>
              <a:ext cx="1018" cy="1300"/>
              <a:chOff x="3718" y="802"/>
              <a:chExt cx="1018" cy="1300"/>
            </a:xfrm>
          </p:grpSpPr>
          <p:sp>
            <p:nvSpPr>
              <p:cNvPr id="1369112" name="Freeform 24"/>
              <p:cNvSpPr>
                <a:spLocks/>
              </p:cNvSpPr>
              <p:nvPr/>
            </p:nvSpPr>
            <p:spPr bwMode="auto">
              <a:xfrm>
                <a:off x="3718" y="1814"/>
                <a:ext cx="1" cy="288"/>
              </a:xfrm>
              <a:custGeom>
                <a:avLst/>
                <a:gdLst>
                  <a:gd name="T0" fmla="*/ 0 w 1"/>
                  <a:gd name="T1" fmla="*/ 0 h 288"/>
                  <a:gd name="T2" fmla="*/ 0 w 1"/>
                  <a:gd name="T3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88">
                    <a:moveTo>
                      <a:pt x="0" y="0"/>
                    </a:moveTo>
                    <a:lnTo>
                      <a:pt x="0" y="288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3" name="Freeform 25"/>
              <p:cNvSpPr>
                <a:spLocks/>
              </p:cNvSpPr>
              <p:nvPr/>
            </p:nvSpPr>
            <p:spPr bwMode="auto">
              <a:xfrm>
                <a:off x="3779" y="1752"/>
                <a:ext cx="2" cy="295"/>
              </a:xfrm>
              <a:custGeom>
                <a:avLst/>
                <a:gdLst>
                  <a:gd name="T0" fmla="*/ 0 w 2"/>
                  <a:gd name="T1" fmla="*/ 0 h 295"/>
                  <a:gd name="T2" fmla="*/ 2 w 2"/>
                  <a:gd name="T3" fmla="*/ 29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95">
                    <a:moveTo>
                      <a:pt x="0" y="0"/>
                    </a:moveTo>
                    <a:lnTo>
                      <a:pt x="2" y="295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4" name="Freeform 26"/>
              <p:cNvSpPr>
                <a:spLocks/>
              </p:cNvSpPr>
              <p:nvPr/>
            </p:nvSpPr>
            <p:spPr bwMode="auto">
              <a:xfrm>
                <a:off x="3833" y="1700"/>
                <a:ext cx="3" cy="292"/>
              </a:xfrm>
              <a:custGeom>
                <a:avLst/>
                <a:gdLst>
                  <a:gd name="T0" fmla="*/ 0 w 3"/>
                  <a:gd name="T1" fmla="*/ 0 h 292"/>
                  <a:gd name="T2" fmla="*/ 3 w 3"/>
                  <a:gd name="T3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92">
                    <a:moveTo>
                      <a:pt x="0" y="0"/>
                    </a:moveTo>
                    <a:lnTo>
                      <a:pt x="3" y="292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5" name="Freeform 27"/>
              <p:cNvSpPr>
                <a:spLocks/>
              </p:cNvSpPr>
              <p:nvPr/>
            </p:nvSpPr>
            <p:spPr bwMode="auto">
              <a:xfrm>
                <a:off x="3890" y="1641"/>
                <a:ext cx="2" cy="296"/>
              </a:xfrm>
              <a:custGeom>
                <a:avLst/>
                <a:gdLst>
                  <a:gd name="T0" fmla="*/ 0 w 2"/>
                  <a:gd name="T1" fmla="*/ 0 h 296"/>
                  <a:gd name="T2" fmla="*/ 2 w 2"/>
                  <a:gd name="T3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96">
                    <a:moveTo>
                      <a:pt x="0" y="0"/>
                    </a:moveTo>
                    <a:lnTo>
                      <a:pt x="2" y="296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6" name="Freeform 28"/>
              <p:cNvSpPr>
                <a:spLocks/>
              </p:cNvSpPr>
              <p:nvPr/>
            </p:nvSpPr>
            <p:spPr bwMode="auto">
              <a:xfrm>
                <a:off x="3947" y="1584"/>
                <a:ext cx="1" cy="297"/>
              </a:xfrm>
              <a:custGeom>
                <a:avLst/>
                <a:gdLst>
                  <a:gd name="T0" fmla="*/ 0 w 1"/>
                  <a:gd name="T1" fmla="*/ 0 h 297"/>
                  <a:gd name="T2" fmla="*/ 0 w 1"/>
                  <a:gd name="T3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7">
                    <a:moveTo>
                      <a:pt x="0" y="0"/>
                    </a:moveTo>
                    <a:lnTo>
                      <a:pt x="0" y="297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7" name="Freeform 29"/>
              <p:cNvSpPr>
                <a:spLocks/>
              </p:cNvSpPr>
              <p:nvPr/>
            </p:nvSpPr>
            <p:spPr bwMode="auto">
              <a:xfrm>
                <a:off x="4002" y="1527"/>
                <a:ext cx="1" cy="299"/>
              </a:xfrm>
              <a:custGeom>
                <a:avLst/>
                <a:gdLst>
                  <a:gd name="T0" fmla="*/ 0 w 1"/>
                  <a:gd name="T1" fmla="*/ 0 h 299"/>
                  <a:gd name="T2" fmla="*/ 0 w 1"/>
                  <a:gd name="T3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0"/>
                    </a:moveTo>
                    <a:lnTo>
                      <a:pt x="0" y="299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8" name="Freeform 30"/>
              <p:cNvSpPr>
                <a:spLocks/>
              </p:cNvSpPr>
              <p:nvPr/>
            </p:nvSpPr>
            <p:spPr bwMode="auto">
              <a:xfrm>
                <a:off x="4057" y="1470"/>
                <a:ext cx="1" cy="301"/>
              </a:xfrm>
              <a:custGeom>
                <a:avLst/>
                <a:gdLst>
                  <a:gd name="T0" fmla="*/ 1 w 1"/>
                  <a:gd name="T1" fmla="*/ 0 h 301"/>
                  <a:gd name="T2" fmla="*/ 0 w 1"/>
                  <a:gd name="T3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01">
                    <a:moveTo>
                      <a:pt x="1" y="0"/>
                    </a:moveTo>
                    <a:lnTo>
                      <a:pt x="0" y="301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19" name="Freeform 31"/>
              <p:cNvSpPr>
                <a:spLocks/>
              </p:cNvSpPr>
              <p:nvPr/>
            </p:nvSpPr>
            <p:spPr bwMode="auto">
              <a:xfrm>
                <a:off x="4122" y="1409"/>
                <a:ext cx="5" cy="293"/>
              </a:xfrm>
              <a:custGeom>
                <a:avLst/>
                <a:gdLst>
                  <a:gd name="T0" fmla="*/ 0 w 5"/>
                  <a:gd name="T1" fmla="*/ 0 h 293"/>
                  <a:gd name="T2" fmla="*/ 5 w 5"/>
                  <a:gd name="T3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93">
                    <a:moveTo>
                      <a:pt x="0" y="0"/>
                    </a:moveTo>
                    <a:lnTo>
                      <a:pt x="5" y="293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0" name="Freeform 32"/>
              <p:cNvSpPr>
                <a:spLocks/>
              </p:cNvSpPr>
              <p:nvPr/>
            </p:nvSpPr>
            <p:spPr bwMode="auto">
              <a:xfrm>
                <a:off x="4194" y="1346"/>
                <a:ext cx="2" cy="286"/>
              </a:xfrm>
              <a:custGeom>
                <a:avLst/>
                <a:gdLst>
                  <a:gd name="T0" fmla="*/ 0 w 2"/>
                  <a:gd name="T1" fmla="*/ 0 h 286"/>
                  <a:gd name="T2" fmla="*/ 2 w 2"/>
                  <a:gd name="T3" fmla="*/ 286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86">
                    <a:moveTo>
                      <a:pt x="0" y="0"/>
                    </a:moveTo>
                    <a:lnTo>
                      <a:pt x="2" y="286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1" name="Freeform 33"/>
              <p:cNvSpPr>
                <a:spLocks/>
              </p:cNvSpPr>
              <p:nvPr/>
            </p:nvSpPr>
            <p:spPr bwMode="auto">
              <a:xfrm>
                <a:off x="4258" y="1270"/>
                <a:ext cx="1" cy="288"/>
              </a:xfrm>
              <a:custGeom>
                <a:avLst/>
                <a:gdLst>
                  <a:gd name="T0" fmla="*/ 0 w 1"/>
                  <a:gd name="T1" fmla="*/ 0 h 288"/>
                  <a:gd name="T2" fmla="*/ 0 w 1"/>
                  <a:gd name="T3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88">
                    <a:moveTo>
                      <a:pt x="0" y="0"/>
                    </a:moveTo>
                    <a:lnTo>
                      <a:pt x="0" y="288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2" name="Freeform 34"/>
              <p:cNvSpPr>
                <a:spLocks/>
              </p:cNvSpPr>
              <p:nvPr/>
            </p:nvSpPr>
            <p:spPr bwMode="auto">
              <a:xfrm>
                <a:off x="4319" y="1208"/>
                <a:ext cx="2" cy="295"/>
              </a:xfrm>
              <a:custGeom>
                <a:avLst/>
                <a:gdLst>
                  <a:gd name="T0" fmla="*/ 0 w 2"/>
                  <a:gd name="T1" fmla="*/ 0 h 295"/>
                  <a:gd name="T2" fmla="*/ 2 w 2"/>
                  <a:gd name="T3" fmla="*/ 29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95">
                    <a:moveTo>
                      <a:pt x="0" y="0"/>
                    </a:moveTo>
                    <a:lnTo>
                      <a:pt x="2" y="295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3" name="Freeform 35"/>
              <p:cNvSpPr>
                <a:spLocks/>
              </p:cNvSpPr>
              <p:nvPr/>
            </p:nvSpPr>
            <p:spPr bwMode="auto">
              <a:xfrm>
                <a:off x="4373" y="1156"/>
                <a:ext cx="3" cy="292"/>
              </a:xfrm>
              <a:custGeom>
                <a:avLst/>
                <a:gdLst>
                  <a:gd name="T0" fmla="*/ 0 w 3"/>
                  <a:gd name="T1" fmla="*/ 0 h 292"/>
                  <a:gd name="T2" fmla="*/ 3 w 3"/>
                  <a:gd name="T3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" h="292">
                    <a:moveTo>
                      <a:pt x="0" y="0"/>
                    </a:moveTo>
                    <a:lnTo>
                      <a:pt x="3" y="292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4" name="Freeform 36"/>
              <p:cNvSpPr>
                <a:spLocks/>
              </p:cNvSpPr>
              <p:nvPr/>
            </p:nvSpPr>
            <p:spPr bwMode="auto">
              <a:xfrm>
                <a:off x="4430" y="1097"/>
                <a:ext cx="2" cy="296"/>
              </a:xfrm>
              <a:custGeom>
                <a:avLst/>
                <a:gdLst>
                  <a:gd name="T0" fmla="*/ 0 w 2"/>
                  <a:gd name="T1" fmla="*/ 0 h 296"/>
                  <a:gd name="T2" fmla="*/ 2 w 2"/>
                  <a:gd name="T3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96">
                    <a:moveTo>
                      <a:pt x="0" y="0"/>
                    </a:moveTo>
                    <a:lnTo>
                      <a:pt x="2" y="296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5" name="Freeform 37"/>
              <p:cNvSpPr>
                <a:spLocks/>
              </p:cNvSpPr>
              <p:nvPr/>
            </p:nvSpPr>
            <p:spPr bwMode="auto">
              <a:xfrm>
                <a:off x="4487" y="1040"/>
                <a:ext cx="1" cy="297"/>
              </a:xfrm>
              <a:custGeom>
                <a:avLst/>
                <a:gdLst>
                  <a:gd name="T0" fmla="*/ 0 w 1"/>
                  <a:gd name="T1" fmla="*/ 0 h 297"/>
                  <a:gd name="T2" fmla="*/ 0 w 1"/>
                  <a:gd name="T3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7">
                    <a:moveTo>
                      <a:pt x="0" y="0"/>
                    </a:moveTo>
                    <a:lnTo>
                      <a:pt x="0" y="297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6" name="Freeform 38"/>
              <p:cNvSpPr>
                <a:spLocks/>
              </p:cNvSpPr>
              <p:nvPr/>
            </p:nvSpPr>
            <p:spPr bwMode="auto">
              <a:xfrm>
                <a:off x="4542" y="983"/>
                <a:ext cx="1" cy="299"/>
              </a:xfrm>
              <a:custGeom>
                <a:avLst/>
                <a:gdLst>
                  <a:gd name="T0" fmla="*/ 0 w 1"/>
                  <a:gd name="T1" fmla="*/ 0 h 299"/>
                  <a:gd name="T2" fmla="*/ 0 w 1"/>
                  <a:gd name="T3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299">
                    <a:moveTo>
                      <a:pt x="0" y="0"/>
                    </a:moveTo>
                    <a:lnTo>
                      <a:pt x="0" y="299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7" name="Freeform 39"/>
              <p:cNvSpPr>
                <a:spLocks/>
              </p:cNvSpPr>
              <p:nvPr/>
            </p:nvSpPr>
            <p:spPr bwMode="auto">
              <a:xfrm>
                <a:off x="4597" y="926"/>
                <a:ext cx="1" cy="301"/>
              </a:xfrm>
              <a:custGeom>
                <a:avLst/>
                <a:gdLst>
                  <a:gd name="T0" fmla="*/ 1 w 1"/>
                  <a:gd name="T1" fmla="*/ 0 h 301"/>
                  <a:gd name="T2" fmla="*/ 0 w 1"/>
                  <a:gd name="T3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01">
                    <a:moveTo>
                      <a:pt x="1" y="0"/>
                    </a:moveTo>
                    <a:lnTo>
                      <a:pt x="0" y="301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8" name="Freeform 40"/>
              <p:cNvSpPr>
                <a:spLocks/>
              </p:cNvSpPr>
              <p:nvPr/>
            </p:nvSpPr>
            <p:spPr bwMode="auto">
              <a:xfrm>
                <a:off x="4662" y="865"/>
                <a:ext cx="5" cy="293"/>
              </a:xfrm>
              <a:custGeom>
                <a:avLst/>
                <a:gdLst>
                  <a:gd name="T0" fmla="*/ 0 w 5"/>
                  <a:gd name="T1" fmla="*/ 0 h 293"/>
                  <a:gd name="T2" fmla="*/ 5 w 5"/>
                  <a:gd name="T3" fmla="*/ 293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93">
                    <a:moveTo>
                      <a:pt x="0" y="0"/>
                    </a:moveTo>
                    <a:lnTo>
                      <a:pt x="5" y="293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69129" name="Freeform 41"/>
              <p:cNvSpPr>
                <a:spLocks/>
              </p:cNvSpPr>
              <p:nvPr/>
            </p:nvSpPr>
            <p:spPr bwMode="auto">
              <a:xfrm>
                <a:off x="4734" y="802"/>
                <a:ext cx="2" cy="286"/>
              </a:xfrm>
              <a:custGeom>
                <a:avLst/>
                <a:gdLst>
                  <a:gd name="T0" fmla="*/ 0 w 2"/>
                  <a:gd name="T1" fmla="*/ 0 h 286"/>
                  <a:gd name="T2" fmla="*/ 2 w 2"/>
                  <a:gd name="T3" fmla="*/ 286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286">
                    <a:moveTo>
                      <a:pt x="0" y="0"/>
                    </a:moveTo>
                    <a:lnTo>
                      <a:pt x="2" y="286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miter lim="800000"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69130" name="Freeform 42"/>
            <p:cNvSpPr>
              <a:spLocks/>
            </p:cNvSpPr>
            <p:nvPr/>
          </p:nvSpPr>
          <p:spPr bwMode="auto">
            <a:xfrm>
              <a:off x="3719" y="1070"/>
              <a:ext cx="1272" cy="1298"/>
            </a:xfrm>
            <a:custGeom>
              <a:avLst/>
              <a:gdLst>
                <a:gd name="T0" fmla="*/ 0 w 1272"/>
                <a:gd name="T1" fmla="*/ 1298 h 1298"/>
                <a:gd name="T2" fmla="*/ 1272 w 1272"/>
                <a:gd name="T3" fmla="*/ 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72" h="1298">
                  <a:moveTo>
                    <a:pt x="0" y="1298"/>
                  </a:moveTo>
                  <a:lnTo>
                    <a:pt x="127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miter lim="800000"/>
              <a:headEnd type="triangle" w="med" len="lg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69131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6789970"/>
                </p:ext>
              </p:extLst>
            </p:nvPr>
          </p:nvGraphicFramePr>
          <p:xfrm>
            <a:off x="4009" y="2660"/>
            <a:ext cx="167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09" name="公式" r:id="rId17" imgW="126720" imgH="126720" progId="Equation.3">
                    <p:embed/>
                  </p:oleObj>
                </mc:Choice>
                <mc:Fallback>
                  <p:oleObj name="公式" r:id="rId17" imgW="126720" imgH="12672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" y="2660"/>
                          <a:ext cx="167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9132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3227499"/>
                </p:ext>
              </p:extLst>
            </p:nvPr>
          </p:nvGraphicFramePr>
          <p:xfrm>
            <a:off x="3552" y="2368"/>
            <a:ext cx="154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10" name="公式" r:id="rId19" imgW="139680" imgH="164880" progId="Equation.3">
                    <p:embed/>
                  </p:oleObj>
                </mc:Choice>
                <mc:Fallback>
                  <p:oleObj name="公式" r:id="rId19" imgW="139680" imgH="16488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368"/>
                          <a:ext cx="154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9133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8566855"/>
                </p:ext>
              </p:extLst>
            </p:nvPr>
          </p:nvGraphicFramePr>
          <p:xfrm>
            <a:off x="5063" y="1646"/>
            <a:ext cx="183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11" name="公式" r:id="rId21" imgW="139680" imgH="139680" progId="Equation.3">
                    <p:embed/>
                  </p:oleObj>
                </mc:Choice>
                <mc:Fallback>
                  <p:oleObj name="公式" r:id="rId21" imgW="139680" imgH="13968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3" y="1646"/>
                          <a:ext cx="183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9134" name="Line 46"/>
            <p:cNvSpPr>
              <a:spLocks noChangeShapeType="1"/>
            </p:cNvSpPr>
            <p:nvPr/>
          </p:nvSpPr>
          <p:spPr bwMode="auto">
            <a:xfrm flipH="1">
              <a:off x="4231" y="2496"/>
              <a:ext cx="771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9135" name="Line 47"/>
            <p:cNvSpPr>
              <a:spLocks noChangeShapeType="1"/>
            </p:cNvSpPr>
            <p:nvPr/>
          </p:nvSpPr>
          <p:spPr bwMode="auto">
            <a:xfrm>
              <a:off x="5031" y="1855"/>
              <a:ext cx="0" cy="635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9136" name="Line 48"/>
            <p:cNvSpPr>
              <a:spLocks noChangeShapeType="1"/>
            </p:cNvSpPr>
            <p:nvPr/>
          </p:nvSpPr>
          <p:spPr bwMode="auto">
            <a:xfrm flipV="1">
              <a:off x="4916" y="901"/>
              <a:ext cx="109" cy="10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9137" name="Line 49"/>
            <p:cNvSpPr>
              <a:spLocks noChangeShapeType="1"/>
            </p:cNvSpPr>
            <p:nvPr/>
          </p:nvSpPr>
          <p:spPr bwMode="auto">
            <a:xfrm rot="10800000" flipV="1">
              <a:off x="3703" y="2084"/>
              <a:ext cx="109" cy="10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9138" name="Text Box 50"/>
            <p:cNvSpPr txBox="1">
              <a:spLocks noChangeArrowheads="1"/>
            </p:cNvSpPr>
            <p:nvPr/>
          </p:nvSpPr>
          <p:spPr bwMode="auto">
            <a:xfrm rot="-2794178">
              <a:off x="4929" y="693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369139" name="Text Box 51"/>
            <p:cNvSpPr txBox="1">
              <a:spLocks noChangeArrowheads="1"/>
            </p:cNvSpPr>
            <p:nvPr/>
          </p:nvSpPr>
          <p:spPr bwMode="auto">
            <a:xfrm rot="-2794178">
              <a:off x="3509" y="2091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-2" y="0"/>
            <a:ext cx="45339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条形分布荷载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67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69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69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6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69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6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6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6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6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6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6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9097" grpId="0"/>
      <p:bldP spid="136909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306" name="Rectangle 194"/>
          <p:cNvSpPr>
            <a:spLocks noChangeArrowheads="1"/>
          </p:cNvSpPr>
          <p:nvPr/>
        </p:nvSpPr>
        <p:spPr bwMode="auto">
          <a:xfrm>
            <a:off x="528638" y="1309688"/>
            <a:ext cx="4659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任意点的附加应力：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F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氏解的应用</a:t>
            </a:r>
          </a:p>
        </p:txBody>
      </p:sp>
      <p:graphicFrame>
        <p:nvGraphicFramePr>
          <p:cNvPr id="1370307" name="Object 1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33196"/>
              </p:ext>
            </p:extLst>
          </p:nvPr>
        </p:nvGraphicFramePr>
        <p:xfrm>
          <a:off x="1020763" y="1773238"/>
          <a:ext cx="12693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096" name="公式" r:id="rId3" imgW="634680" imgH="228600" progId="Equation.3">
                  <p:embed/>
                </p:oleObj>
              </mc:Choice>
              <mc:Fallback>
                <p:oleObj name="公式" r:id="rId3" imgW="634680" imgH="228600" progId="Equation.3">
                  <p:embed/>
                  <p:pic>
                    <p:nvPicPr>
                      <p:cNvPr id="0" name="Object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1773238"/>
                        <a:ext cx="126936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0308" name="Object 1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32909"/>
              </p:ext>
            </p:extLst>
          </p:nvPr>
        </p:nvGraphicFramePr>
        <p:xfrm>
          <a:off x="993775" y="2806700"/>
          <a:ext cx="14472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097" name="公式" r:id="rId5" imgW="723600" imgH="241200" progId="Equation.3">
                  <p:embed/>
                </p:oleObj>
              </mc:Choice>
              <mc:Fallback>
                <p:oleObj name="公式" r:id="rId5" imgW="723600" imgH="241200" progId="Equation.3">
                  <p:embed/>
                  <p:pic>
                    <p:nvPicPr>
                      <p:cNvPr id="0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806700"/>
                        <a:ext cx="144720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0309" name="Object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532499"/>
              </p:ext>
            </p:extLst>
          </p:nvPr>
        </p:nvGraphicFramePr>
        <p:xfrm>
          <a:off x="1020763" y="2271713"/>
          <a:ext cx="129528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098" name="公式" r:id="rId7" imgW="647640" imgH="241200" progId="Equation.3">
                  <p:embed/>
                </p:oleObj>
              </mc:Choice>
              <mc:Fallback>
                <p:oleObj name="公式" r:id="rId7" imgW="647640" imgH="241200" progId="Equation.3">
                  <p:embed/>
                  <p:pic>
                    <p:nvPicPr>
                      <p:cNvPr id="0" name="Object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271713"/>
                        <a:ext cx="1295280" cy="48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0310" name="Text Box 198"/>
          <p:cNvSpPr txBox="1">
            <a:spLocks noChangeArrowheads="1"/>
          </p:cNvSpPr>
          <p:nvPr/>
        </p:nvSpPr>
        <p:spPr bwMode="auto">
          <a:xfrm>
            <a:off x="2384425" y="5857875"/>
            <a:ext cx="578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条形分布荷载的附加应力</a:t>
            </a:r>
            <a:endParaRPr lang="zh-CN" altLang="en-US" sz="4000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70311" name="Text Box 199"/>
          <p:cNvSpPr txBox="1">
            <a:spLocks noChangeArrowheads="1"/>
          </p:cNvSpPr>
          <p:nvPr/>
        </p:nvSpPr>
        <p:spPr bwMode="auto">
          <a:xfrm>
            <a:off x="249238" y="692150"/>
            <a:ext cx="4129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条形面积竖直均布荷载</a:t>
            </a:r>
          </a:p>
        </p:txBody>
      </p:sp>
      <p:graphicFrame>
        <p:nvGraphicFramePr>
          <p:cNvPr id="1370312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37428"/>
              </p:ext>
            </p:extLst>
          </p:nvPr>
        </p:nvGraphicFramePr>
        <p:xfrm>
          <a:off x="990599" y="3406774"/>
          <a:ext cx="4216320" cy="126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099" name="公式" r:id="rId9" imgW="2108160" imgH="634680" progId="Equation.3">
                  <p:embed/>
                </p:oleObj>
              </mc:Choice>
              <mc:Fallback>
                <p:oleObj name="公式" r:id="rId9" imgW="2108160" imgH="634680" progId="Equation.3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599" y="3406774"/>
                        <a:ext cx="4216320" cy="126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0313" name="Freeform 201"/>
          <p:cNvSpPr>
            <a:spLocks/>
          </p:cNvSpPr>
          <p:nvPr/>
        </p:nvSpPr>
        <p:spPr bwMode="auto">
          <a:xfrm>
            <a:off x="1666875" y="4019550"/>
            <a:ext cx="836613" cy="838200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0314" name="Text Box 202"/>
          <p:cNvSpPr txBox="1">
            <a:spLocks noChangeArrowheads="1"/>
          </p:cNvSpPr>
          <p:nvPr/>
        </p:nvSpPr>
        <p:spPr bwMode="auto">
          <a:xfrm>
            <a:off x="2500313" y="4629150"/>
            <a:ext cx="6462712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条形面积竖直均布荷载的应力分布系数：表3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8</a:t>
            </a:r>
            <a:endParaRPr kumimoji="1" lang="zh-CN" altLang="en-US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370315" name="Group 203"/>
          <p:cNvGrpSpPr>
            <a:grpSpLocks/>
          </p:cNvGrpSpPr>
          <p:nvPr/>
        </p:nvGrpSpPr>
        <p:grpSpPr bwMode="auto">
          <a:xfrm>
            <a:off x="5313363" y="647700"/>
            <a:ext cx="3597275" cy="3703638"/>
            <a:chOff x="3347" y="522"/>
            <a:chExt cx="2266" cy="2365"/>
          </a:xfrm>
        </p:grpSpPr>
        <p:sp>
          <p:nvSpPr>
            <p:cNvPr id="1370316" name="Rectangle 204"/>
            <p:cNvSpPr>
              <a:spLocks noChangeArrowheads="1"/>
            </p:cNvSpPr>
            <p:nvPr/>
          </p:nvSpPr>
          <p:spPr bwMode="auto">
            <a:xfrm>
              <a:off x="3347" y="522"/>
              <a:ext cx="2266" cy="2365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0317" name="Line 205"/>
            <p:cNvSpPr>
              <a:spLocks noChangeShapeType="1"/>
            </p:cNvSpPr>
            <p:nvPr/>
          </p:nvSpPr>
          <p:spPr bwMode="auto">
            <a:xfrm flipH="1">
              <a:off x="3538" y="749"/>
              <a:ext cx="1411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18" name="Freeform 206"/>
            <p:cNvSpPr>
              <a:spLocks/>
            </p:cNvSpPr>
            <p:nvPr/>
          </p:nvSpPr>
          <p:spPr bwMode="auto">
            <a:xfrm>
              <a:off x="4158" y="1531"/>
              <a:ext cx="1119" cy="1042"/>
            </a:xfrm>
            <a:custGeom>
              <a:avLst/>
              <a:gdLst>
                <a:gd name="T0" fmla="*/ 1248 w 1248"/>
                <a:gd name="T1" fmla="*/ 0 h 1090"/>
                <a:gd name="T2" fmla="*/ 0 w 1248"/>
                <a:gd name="T3" fmla="*/ 0 h 1090"/>
                <a:gd name="T4" fmla="*/ 0 w 1248"/>
                <a:gd name="T5" fmla="*/ 109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8" h="1090">
                  <a:moveTo>
                    <a:pt x="1248" y="0"/>
                  </a:moveTo>
                  <a:lnTo>
                    <a:pt x="0" y="0"/>
                  </a:lnTo>
                  <a:lnTo>
                    <a:pt x="0" y="109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70319" name="Object 2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0808406"/>
                </p:ext>
              </p:extLst>
            </p:nvPr>
          </p:nvGraphicFramePr>
          <p:xfrm>
            <a:off x="5112" y="1880"/>
            <a:ext cx="166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1100" name="公式" r:id="rId11" imgW="126720" imgH="126720" progId="Equation.3">
                    <p:embed/>
                  </p:oleObj>
                </mc:Choice>
                <mc:Fallback>
                  <p:oleObj name="公式" r:id="rId11" imgW="126720" imgH="126720" progId="Equation.3">
                    <p:embed/>
                    <p:pic>
                      <p:nvPicPr>
                        <p:cNvPr id="0" name="Object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2" y="1880"/>
                          <a:ext cx="166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0320" name="Oval 208"/>
            <p:cNvSpPr>
              <a:spLocks noChangeArrowheads="1"/>
            </p:cNvSpPr>
            <p:nvPr/>
          </p:nvSpPr>
          <p:spPr bwMode="auto">
            <a:xfrm>
              <a:off x="5086" y="2319"/>
              <a:ext cx="45" cy="45"/>
            </a:xfrm>
            <a:prstGeom prst="ellipse">
              <a:avLst/>
            </a:prstGeom>
            <a:solidFill>
              <a:srgbClr val="990033"/>
            </a:solidFill>
            <a:ln w="57150" algn="ctr">
              <a:solidFill>
                <a:srgbClr val="99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0321" name="Text Box 209"/>
            <p:cNvSpPr txBox="1">
              <a:spLocks noChangeArrowheads="1"/>
            </p:cNvSpPr>
            <p:nvPr/>
          </p:nvSpPr>
          <p:spPr bwMode="auto">
            <a:xfrm>
              <a:off x="5198" y="2232"/>
              <a:ext cx="137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M</a:t>
              </a:r>
            </a:p>
          </p:txBody>
        </p:sp>
        <p:sp>
          <p:nvSpPr>
            <p:cNvPr id="1370322" name="Line 210"/>
            <p:cNvSpPr>
              <a:spLocks noChangeShapeType="1"/>
            </p:cNvSpPr>
            <p:nvPr/>
          </p:nvSpPr>
          <p:spPr bwMode="auto">
            <a:xfrm>
              <a:off x="4833" y="1396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3" name="Line 211"/>
            <p:cNvSpPr>
              <a:spLocks noChangeShapeType="1"/>
            </p:cNvSpPr>
            <p:nvPr/>
          </p:nvSpPr>
          <p:spPr bwMode="auto">
            <a:xfrm>
              <a:off x="4888" y="1341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4" name="Line 212"/>
            <p:cNvSpPr>
              <a:spLocks noChangeShapeType="1"/>
            </p:cNvSpPr>
            <p:nvPr/>
          </p:nvSpPr>
          <p:spPr bwMode="auto">
            <a:xfrm>
              <a:off x="4943" y="1286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5" name="Line 213"/>
            <p:cNvSpPr>
              <a:spLocks noChangeShapeType="1"/>
            </p:cNvSpPr>
            <p:nvPr/>
          </p:nvSpPr>
          <p:spPr bwMode="auto">
            <a:xfrm>
              <a:off x="4999" y="1230"/>
              <a:ext cx="0" cy="139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6" name="Line 214"/>
            <p:cNvSpPr>
              <a:spLocks noChangeShapeType="1"/>
            </p:cNvSpPr>
            <p:nvPr/>
          </p:nvSpPr>
          <p:spPr bwMode="auto">
            <a:xfrm>
              <a:off x="5054" y="1175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7" name="Line 215"/>
            <p:cNvSpPr>
              <a:spLocks noChangeShapeType="1"/>
            </p:cNvSpPr>
            <p:nvPr/>
          </p:nvSpPr>
          <p:spPr bwMode="auto">
            <a:xfrm>
              <a:off x="5109" y="1120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8" name="Line 216"/>
            <p:cNvSpPr>
              <a:spLocks noChangeShapeType="1"/>
            </p:cNvSpPr>
            <p:nvPr/>
          </p:nvSpPr>
          <p:spPr bwMode="auto">
            <a:xfrm>
              <a:off x="5164" y="1064"/>
              <a:ext cx="0" cy="139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29" name="Line 217"/>
            <p:cNvSpPr>
              <a:spLocks noChangeShapeType="1"/>
            </p:cNvSpPr>
            <p:nvPr/>
          </p:nvSpPr>
          <p:spPr bwMode="auto">
            <a:xfrm>
              <a:off x="5234" y="995"/>
              <a:ext cx="0" cy="139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30" name="Line 218"/>
            <p:cNvSpPr>
              <a:spLocks noChangeShapeType="1"/>
            </p:cNvSpPr>
            <p:nvPr/>
          </p:nvSpPr>
          <p:spPr bwMode="auto">
            <a:xfrm>
              <a:off x="5301" y="926"/>
              <a:ext cx="0" cy="13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70331" name="Freeform 219"/>
            <p:cNvSpPr>
              <a:spLocks/>
            </p:cNvSpPr>
            <p:nvPr/>
          </p:nvSpPr>
          <p:spPr bwMode="auto">
            <a:xfrm>
              <a:off x="4159" y="2332"/>
              <a:ext cx="957" cy="2"/>
            </a:xfrm>
            <a:custGeom>
              <a:avLst/>
              <a:gdLst>
                <a:gd name="T0" fmla="*/ 0 w 957"/>
                <a:gd name="T1" fmla="*/ 2 h 2"/>
                <a:gd name="T2" fmla="*/ 957 w 957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7" h="2">
                  <a:moveTo>
                    <a:pt x="0" y="2"/>
                  </a:moveTo>
                  <a:lnTo>
                    <a:pt x="957" y="0"/>
                  </a:lnTo>
                </a:path>
              </a:pathLst>
            </a:custGeom>
            <a:noFill/>
            <a:ln w="12700">
              <a:solidFill>
                <a:srgbClr val="9900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370332" name="Object 2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825930"/>
                </p:ext>
              </p:extLst>
            </p:nvPr>
          </p:nvGraphicFramePr>
          <p:xfrm>
            <a:off x="4565" y="2174"/>
            <a:ext cx="18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1101" name="公式" r:id="rId13" imgW="139680" imgH="139680" progId="Equation.3">
                    <p:embed/>
                  </p:oleObj>
                </mc:Choice>
                <mc:Fallback>
                  <p:oleObj name="公式" r:id="rId13" imgW="139680" imgH="139680" progId="Equation.3">
                    <p:embed/>
                    <p:pic>
                      <p:nvPicPr>
                        <p:cNvPr id="0" name="Object 2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5" y="2174"/>
                          <a:ext cx="183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0333" name="Line 221"/>
            <p:cNvSpPr>
              <a:spLocks noChangeShapeType="1"/>
            </p:cNvSpPr>
            <p:nvPr/>
          </p:nvSpPr>
          <p:spPr bwMode="auto">
            <a:xfrm flipV="1">
              <a:off x="5097" y="1517"/>
              <a:ext cx="0" cy="817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0334" name="Text Box 222"/>
            <p:cNvSpPr txBox="1">
              <a:spLocks noChangeArrowheads="1"/>
            </p:cNvSpPr>
            <p:nvPr/>
          </p:nvSpPr>
          <p:spPr bwMode="auto">
            <a:xfrm>
              <a:off x="5262" y="1340"/>
              <a:ext cx="21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x</a:t>
              </a:r>
            </a:p>
          </p:txBody>
        </p:sp>
        <p:sp>
          <p:nvSpPr>
            <p:cNvPr id="1370335" name="Text Box 223"/>
            <p:cNvSpPr txBox="1">
              <a:spLocks noChangeArrowheads="1"/>
            </p:cNvSpPr>
            <p:nvPr/>
          </p:nvSpPr>
          <p:spPr bwMode="auto">
            <a:xfrm>
              <a:off x="3433" y="1779"/>
              <a:ext cx="21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</a:rPr>
                <a:t>y</a:t>
              </a:r>
            </a:p>
          </p:txBody>
        </p:sp>
        <p:sp>
          <p:nvSpPr>
            <p:cNvPr id="1370336" name="Text Box 224"/>
            <p:cNvSpPr txBox="1">
              <a:spLocks noChangeArrowheads="1"/>
            </p:cNvSpPr>
            <p:nvPr/>
          </p:nvSpPr>
          <p:spPr bwMode="auto">
            <a:xfrm>
              <a:off x="3969" y="2422"/>
              <a:ext cx="20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1370337" name="Line 225"/>
            <p:cNvSpPr>
              <a:spLocks noChangeShapeType="1"/>
            </p:cNvSpPr>
            <p:nvPr/>
          </p:nvSpPr>
          <p:spPr bwMode="auto">
            <a:xfrm flipV="1">
              <a:off x="5002" y="795"/>
              <a:ext cx="109" cy="10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38" name="Line 226"/>
            <p:cNvSpPr>
              <a:spLocks noChangeShapeType="1"/>
            </p:cNvSpPr>
            <p:nvPr/>
          </p:nvSpPr>
          <p:spPr bwMode="auto">
            <a:xfrm rot="10800000" flipV="1">
              <a:off x="3785" y="2041"/>
              <a:ext cx="109" cy="10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39" name="Text Box 227"/>
            <p:cNvSpPr txBox="1">
              <a:spLocks noChangeArrowheads="1"/>
            </p:cNvSpPr>
            <p:nvPr/>
          </p:nvSpPr>
          <p:spPr bwMode="auto">
            <a:xfrm rot="-2794178">
              <a:off x="5015" y="584"/>
              <a:ext cx="2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370340" name="Text Box 228"/>
            <p:cNvSpPr txBox="1">
              <a:spLocks noChangeArrowheads="1"/>
            </p:cNvSpPr>
            <p:nvPr/>
          </p:nvSpPr>
          <p:spPr bwMode="auto">
            <a:xfrm rot="-2794178">
              <a:off x="3592" y="2045"/>
              <a:ext cx="2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grpSp>
          <p:nvGrpSpPr>
            <p:cNvPr id="1370341" name="Group 229"/>
            <p:cNvGrpSpPr>
              <a:grpSpLocks/>
            </p:cNvGrpSpPr>
            <p:nvPr/>
          </p:nvGrpSpPr>
          <p:grpSpPr bwMode="auto">
            <a:xfrm>
              <a:off x="3673" y="1472"/>
              <a:ext cx="1092" cy="539"/>
              <a:chOff x="4355" y="2245"/>
              <a:chExt cx="1092" cy="539"/>
            </a:xfrm>
          </p:grpSpPr>
          <p:sp>
            <p:nvSpPr>
              <p:cNvPr id="1370342" name="Line 230"/>
              <p:cNvSpPr>
                <a:spLocks noChangeShapeType="1"/>
              </p:cNvSpPr>
              <p:nvPr/>
            </p:nvSpPr>
            <p:spPr bwMode="auto">
              <a:xfrm>
                <a:off x="4355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3" name="Line 231"/>
              <p:cNvSpPr>
                <a:spLocks noChangeShapeType="1"/>
              </p:cNvSpPr>
              <p:nvPr/>
            </p:nvSpPr>
            <p:spPr bwMode="auto">
              <a:xfrm>
                <a:off x="4438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4" name="Line 232"/>
              <p:cNvSpPr>
                <a:spLocks noChangeShapeType="1"/>
              </p:cNvSpPr>
              <p:nvPr/>
            </p:nvSpPr>
            <p:spPr bwMode="auto">
              <a:xfrm>
                <a:off x="4521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5" name="Line 233"/>
              <p:cNvSpPr>
                <a:spLocks noChangeShapeType="1"/>
              </p:cNvSpPr>
              <p:nvPr/>
            </p:nvSpPr>
            <p:spPr bwMode="auto">
              <a:xfrm>
                <a:off x="4604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6" name="Line 234"/>
              <p:cNvSpPr>
                <a:spLocks noChangeShapeType="1"/>
              </p:cNvSpPr>
              <p:nvPr/>
            </p:nvSpPr>
            <p:spPr bwMode="auto">
              <a:xfrm>
                <a:off x="4687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7" name="Line 235"/>
              <p:cNvSpPr>
                <a:spLocks noChangeShapeType="1"/>
              </p:cNvSpPr>
              <p:nvPr/>
            </p:nvSpPr>
            <p:spPr bwMode="auto">
              <a:xfrm>
                <a:off x="4770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8" name="Line 236"/>
              <p:cNvSpPr>
                <a:spLocks noChangeShapeType="1"/>
              </p:cNvSpPr>
              <p:nvPr/>
            </p:nvSpPr>
            <p:spPr bwMode="auto">
              <a:xfrm>
                <a:off x="4852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49" name="Line 237"/>
              <p:cNvSpPr>
                <a:spLocks noChangeShapeType="1"/>
              </p:cNvSpPr>
              <p:nvPr/>
            </p:nvSpPr>
            <p:spPr bwMode="auto">
              <a:xfrm>
                <a:off x="4956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0" name="Line 238"/>
              <p:cNvSpPr>
                <a:spLocks noChangeShapeType="1"/>
              </p:cNvSpPr>
              <p:nvPr/>
            </p:nvSpPr>
            <p:spPr bwMode="auto">
              <a:xfrm>
                <a:off x="5046" y="264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1" name="Line 239"/>
              <p:cNvSpPr>
                <a:spLocks noChangeShapeType="1"/>
              </p:cNvSpPr>
              <p:nvPr/>
            </p:nvSpPr>
            <p:spPr bwMode="auto">
              <a:xfrm>
                <a:off x="5101" y="2591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2" name="Line 240"/>
              <p:cNvSpPr>
                <a:spLocks noChangeShapeType="1"/>
              </p:cNvSpPr>
              <p:nvPr/>
            </p:nvSpPr>
            <p:spPr bwMode="auto">
              <a:xfrm>
                <a:off x="5156" y="2536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3" name="Line 241"/>
              <p:cNvSpPr>
                <a:spLocks noChangeShapeType="1"/>
              </p:cNvSpPr>
              <p:nvPr/>
            </p:nvSpPr>
            <p:spPr bwMode="auto">
              <a:xfrm>
                <a:off x="5212" y="2480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4" name="Line 242"/>
              <p:cNvSpPr>
                <a:spLocks noChangeShapeType="1"/>
              </p:cNvSpPr>
              <p:nvPr/>
            </p:nvSpPr>
            <p:spPr bwMode="auto">
              <a:xfrm>
                <a:off x="5267" y="2425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5" name="Line 243"/>
              <p:cNvSpPr>
                <a:spLocks noChangeShapeType="1"/>
              </p:cNvSpPr>
              <p:nvPr/>
            </p:nvSpPr>
            <p:spPr bwMode="auto">
              <a:xfrm>
                <a:off x="5322" y="2370"/>
                <a:ext cx="0" cy="13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6" name="Line 244"/>
              <p:cNvSpPr>
                <a:spLocks noChangeShapeType="1"/>
              </p:cNvSpPr>
              <p:nvPr/>
            </p:nvSpPr>
            <p:spPr bwMode="auto">
              <a:xfrm>
                <a:off x="5377" y="2314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0357" name="Line 245"/>
              <p:cNvSpPr>
                <a:spLocks noChangeShapeType="1"/>
              </p:cNvSpPr>
              <p:nvPr/>
            </p:nvSpPr>
            <p:spPr bwMode="auto">
              <a:xfrm>
                <a:off x="5447" y="2245"/>
                <a:ext cx="0" cy="139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70358" name="Freeform 246"/>
            <p:cNvSpPr>
              <a:spLocks/>
            </p:cNvSpPr>
            <p:nvPr/>
          </p:nvSpPr>
          <p:spPr bwMode="auto">
            <a:xfrm>
              <a:off x="3672" y="1056"/>
              <a:ext cx="1630" cy="950"/>
            </a:xfrm>
            <a:custGeom>
              <a:avLst/>
              <a:gdLst>
                <a:gd name="T0" fmla="*/ 0 w 1630"/>
                <a:gd name="T1" fmla="*/ 950 h 950"/>
                <a:gd name="T2" fmla="*/ 694 w 1630"/>
                <a:gd name="T3" fmla="*/ 950 h 950"/>
                <a:gd name="T4" fmla="*/ 1630 w 1630"/>
                <a:gd name="T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30" h="950">
                  <a:moveTo>
                    <a:pt x="0" y="950"/>
                  </a:moveTo>
                  <a:lnTo>
                    <a:pt x="694" y="950"/>
                  </a:lnTo>
                  <a:lnTo>
                    <a:pt x="163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59" name="Freeform 247"/>
            <p:cNvSpPr>
              <a:spLocks/>
            </p:cNvSpPr>
            <p:nvPr/>
          </p:nvSpPr>
          <p:spPr bwMode="auto">
            <a:xfrm>
              <a:off x="3670" y="922"/>
              <a:ext cx="1624" cy="948"/>
            </a:xfrm>
            <a:custGeom>
              <a:avLst/>
              <a:gdLst>
                <a:gd name="T0" fmla="*/ 0 w 1624"/>
                <a:gd name="T1" fmla="*/ 948 h 948"/>
                <a:gd name="T2" fmla="*/ 688 w 1624"/>
                <a:gd name="T3" fmla="*/ 948 h 948"/>
                <a:gd name="T4" fmla="*/ 1624 w 1624"/>
                <a:gd name="T5" fmla="*/ 0 h 948"/>
                <a:gd name="T6" fmla="*/ 933 w 1624"/>
                <a:gd name="T7" fmla="*/ 0 h 948"/>
                <a:gd name="T8" fmla="*/ 0 w 1624"/>
                <a:gd name="T9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948">
                  <a:moveTo>
                    <a:pt x="0" y="948"/>
                  </a:moveTo>
                  <a:lnTo>
                    <a:pt x="688" y="948"/>
                  </a:lnTo>
                  <a:lnTo>
                    <a:pt x="1624" y="0"/>
                  </a:lnTo>
                  <a:lnTo>
                    <a:pt x="933" y="0"/>
                  </a:lnTo>
                  <a:lnTo>
                    <a:pt x="0" y="948"/>
                  </a:lnTo>
                  <a:close/>
                </a:path>
              </a:pathLst>
            </a:cu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60" name="Line 248"/>
            <p:cNvSpPr>
              <a:spLocks noChangeShapeType="1"/>
            </p:cNvSpPr>
            <p:nvPr/>
          </p:nvSpPr>
          <p:spPr bwMode="auto">
            <a:xfrm>
              <a:off x="4364" y="1155"/>
              <a:ext cx="6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70361" name="Object 2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803815"/>
                </p:ext>
              </p:extLst>
            </p:nvPr>
          </p:nvGraphicFramePr>
          <p:xfrm>
            <a:off x="4585" y="1150"/>
            <a:ext cx="16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1102" name="公式" r:id="rId15" imgW="126720" imgH="177480" progId="Equation.3">
                    <p:embed/>
                  </p:oleObj>
                </mc:Choice>
                <mc:Fallback>
                  <p:oleObj name="公式" r:id="rId15" imgW="126720" imgH="177480" progId="Equation.3">
                    <p:embed/>
                    <p:pic>
                      <p:nvPicPr>
                        <p:cNvPr id="0" name="Object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" y="1150"/>
                          <a:ext cx="16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0362" name="Line 250"/>
            <p:cNvSpPr>
              <a:spLocks noChangeShapeType="1"/>
            </p:cNvSpPr>
            <p:nvPr/>
          </p:nvSpPr>
          <p:spPr bwMode="auto">
            <a:xfrm flipV="1">
              <a:off x="3816" y="926"/>
              <a:ext cx="946" cy="9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63" name="Line 251"/>
            <p:cNvSpPr>
              <a:spLocks noChangeShapeType="1"/>
            </p:cNvSpPr>
            <p:nvPr/>
          </p:nvSpPr>
          <p:spPr bwMode="auto">
            <a:xfrm flipH="1">
              <a:off x="4171" y="1536"/>
              <a:ext cx="5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64" name="Line 252"/>
            <p:cNvSpPr>
              <a:spLocks noChangeShapeType="1"/>
            </p:cNvSpPr>
            <p:nvPr/>
          </p:nvSpPr>
          <p:spPr bwMode="auto">
            <a:xfrm>
              <a:off x="4156" y="1531"/>
              <a:ext cx="0" cy="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0365" name="Text Box 253"/>
            <p:cNvSpPr txBox="1">
              <a:spLocks noChangeArrowheads="1"/>
            </p:cNvSpPr>
            <p:nvPr/>
          </p:nvSpPr>
          <p:spPr bwMode="auto">
            <a:xfrm>
              <a:off x="5313" y="682"/>
              <a:ext cx="213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</a:p>
          </p:txBody>
        </p:sp>
      </p:grpSp>
      <p:sp>
        <p:nvSpPr>
          <p:cNvPr id="1370367" name="Text Box 255"/>
          <p:cNvSpPr txBox="1">
            <a:spLocks noChangeArrowheads="1"/>
          </p:cNvSpPr>
          <p:nvPr/>
        </p:nvSpPr>
        <p:spPr bwMode="auto">
          <a:xfrm>
            <a:off x="1771650" y="5124450"/>
            <a:ext cx="70453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55600" indent="-355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302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</a:t>
            </a:r>
            <a:r>
              <a:rPr kumimoji="0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0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0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0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10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的矩形荷载，其</a:t>
            </a:r>
            <a:r>
              <a:rPr kumimoji="0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中部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可近似按条形荷载计算</a:t>
            </a:r>
          </a:p>
        </p:txBody>
      </p: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-1" y="0"/>
            <a:ext cx="44672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条形分布荷载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5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68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37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37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70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7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7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7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7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70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37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0306" grpId="0" build="p" autoUpdateAnimBg="0"/>
      <p:bldP spid="1370311" grpId="0"/>
      <p:bldP spid="1370313" grpId="0" animBg="1"/>
      <p:bldP spid="1370314" grpId="0"/>
      <p:bldP spid="137036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205" name="AutoShape 69"/>
          <p:cNvSpPr>
            <a:spLocks noChangeArrowheads="1"/>
          </p:cNvSpPr>
          <p:nvPr/>
        </p:nvSpPr>
        <p:spPr bwMode="auto">
          <a:xfrm>
            <a:off x="4059238" y="1746250"/>
            <a:ext cx="0" cy="457200"/>
          </a:xfrm>
          <a:prstGeom prst="hexagon">
            <a:avLst>
              <a:gd name="adj" fmla="val -2147483648"/>
              <a:gd name="vf" fmla="val 115470"/>
            </a:avLst>
          </a:prstGeom>
          <a:solidFill>
            <a:srgbClr val="333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371206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248572"/>
              </p:ext>
            </p:extLst>
          </p:nvPr>
        </p:nvGraphicFramePr>
        <p:xfrm>
          <a:off x="1716088" y="3733800"/>
          <a:ext cx="2412720" cy="710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318" name="公式" r:id="rId3" imgW="1206360" imgH="355320" progId="Equation.3">
                  <p:embed/>
                </p:oleObj>
              </mc:Choice>
              <mc:Fallback>
                <p:oleObj name="公式" r:id="rId3" imgW="1206360" imgH="35532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3733800"/>
                        <a:ext cx="2412720" cy="710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1207" name="Text Box 71"/>
          <p:cNvSpPr txBox="1">
            <a:spLocks noChangeArrowheads="1"/>
          </p:cNvSpPr>
          <p:nvPr/>
        </p:nvSpPr>
        <p:spPr bwMode="auto">
          <a:xfrm>
            <a:off x="2584450" y="5710238"/>
            <a:ext cx="4770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其它荷载的附加应力</a:t>
            </a:r>
            <a:endParaRPr lang="zh-CN" altLang="en-US" sz="400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71208" name="Text Box 72"/>
          <p:cNvSpPr txBox="1">
            <a:spLocks noChangeArrowheads="1"/>
          </p:cNvSpPr>
          <p:nvPr/>
        </p:nvSpPr>
        <p:spPr bwMode="auto">
          <a:xfrm>
            <a:off x="566738" y="708025"/>
            <a:ext cx="411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条形面积其它分布荷载</a:t>
            </a:r>
          </a:p>
        </p:txBody>
      </p:sp>
      <p:sp>
        <p:nvSpPr>
          <p:cNvPr id="1371209" name="AutoShape 73"/>
          <p:cNvSpPr>
            <a:spLocks noChangeArrowheads="1"/>
          </p:cNvSpPr>
          <p:nvPr/>
        </p:nvSpPr>
        <p:spPr bwMode="auto">
          <a:xfrm>
            <a:off x="1709738" y="1547813"/>
            <a:ext cx="669925" cy="487362"/>
          </a:xfrm>
          <a:prstGeom prst="homePlate">
            <a:avLst>
              <a:gd name="adj" fmla="val 3436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1210" name="Text Box 74"/>
          <p:cNvSpPr txBox="1">
            <a:spLocks noChangeArrowheads="1"/>
          </p:cNvSpPr>
          <p:nvPr/>
        </p:nvSpPr>
        <p:spPr bwMode="auto">
          <a:xfrm>
            <a:off x="2636836" y="1544638"/>
            <a:ext cx="5764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P113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页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表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9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、表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3-10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和表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3-11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71211" name="Text Box 75"/>
          <p:cNvSpPr txBox="1">
            <a:spLocks noChangeArrowheads="1"/>
          </p:cNvSpPr>
          <p:nvPr/>
        </p:nvSpPr>
        <p:spPr bwMode="auto">
          <a:xfrm>
            <a:off x="557213" y="2352675"/>
            <a:ext cx="411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圆形面积均布荷载作用</a:t>
            </a:r>
          </a:p>
        </p:txBody>
      </p:sp>
      <p:sp>
        <p:nvSpPr>
          <p:cNvPr id="1371212" name="Text Box 76"/>
          <p:cNvSpPr txBox="1">
            <a:spLocks noChangeArrowheads="1"/>
          </p:cNvSpPr>
          <p:nvPr/>
        </p:nvSpPr>
        <p:spPr bwMode="auto">
          <a:xfrm>
            <a:off x="1084263" y="3073400"/>
            <a:ext cx="3430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圆心下的附加应力计算</a:t>
            </a:r>
          </a:p>
        </p:txBody>
      </p:sp>
      <p:sp>
        <p:nvSpPr>
          <p:cNvPr id="1371213" name="Text Box 77"/>
          <p:cNvSpPr txBox="1">
            <a:spLocks noChangeArrowheads="1"/>
          </p:cNvSpPr>
          <p:nvPr/>
        </p:nvSpPr>
        <p:spPr bwMode="auto">
          <a:xfrm>
            <a:off x="4514850" y="4681538"/>
            <a:ext cx="3114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P116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页表</a:t>
            </a: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</a:rPr>
              <a:t>3-14</a:t>
            </a:r>
            <a:endParaRPr kumimoji="1" lang="en-US" altLang="zh-CN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1214" name="Freeform 78"/>
          <p:cNvSpPr>
            <a:spLocks/>
          </p:cNvSpPr>
          <p:nvPr/>
        </p:nvSpPr>
        <p:spPr bwMode="auto">
          <a:xfrm>
            <a:off x="3694906" y="4381500"/>
            <a:ext cx="728663" cy="577850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1" y="0"/>
            <a:ext cx="45815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其它分布荷载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69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30" name="Rectangle 70"/>
          <p:cNvSpPr>
            <a:spLocks noChangeArrowheads="1"/>
          </p:cNvSpPr>
          <p:nvPr/>
        </p:nvSpPr>
        <p:spPr bwMode="auto">
          <a:xfrm>
            <a:off x="1601788" y="2185988"/>
            <a:ext cx="7272337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——竖直集中荷载作用下             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图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3-23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en-US" altLang="zh-CN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0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——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矩形面积竖直均布荷载作用角点下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   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表3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5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——矩形面积三角形分布荷载作用角点下   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6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0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——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矩形面积水平均布荷载作用角点下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   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表3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7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000" b="1" i="1" baseline="30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——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条形面积竖直均布荷载作用时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           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表3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8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000" b="1" i="1" baseline="30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——条形面积三角形分布荷载作用时     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10)</a:t>
            </a:r>
            <a:endParaRPr kumimoji="1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000" b="1" i="1" baseline="30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——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条形面积水平均布荷载作用时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          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表3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11)</a:t>
            </a:r>
            <a:endParaRPr kumimoji="1" lang="en-US" altLang="zh-CN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——圆形面积均布荷载作用时园心点下  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(表3-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14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000" b="1" i="1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en-US" altLang="zh-CN" sz="2000" b="1" i="1" baseline="-25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000" b="1" i="1" baseline="30000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——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条形面积梯形分布荷载作用时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            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	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图3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38</a:t>
            </a:r>
            <a:r>
              <a:rPr kumimoji="1" lang="zh-CN" altLang="en-US" sz="20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72231" name="Text Box 71"/>
          <p:cNvSpPr txBox="1">
            <a:spLocks noChangeArrowheads="1"/>
          </p:cNvSpPr>
          <p:nvPr/>
        </p:nvSpPr>
        <p:spPr bwMode="auto">
          <a:xfrm>
            <a:off x="3497263" y="5821363"/>
            <a:ext cx="2216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小     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结</a:t>
            </a:r>
            <a:endParaRPr lang="zh-CN" altLang="en-US" sz="4000" dirty="0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1372232" name="Group 72"/>
          <p:cNvGrpSpPr>
            <a:grpSpLocks/>
          </p:cNvGrpSpPr>
          <p:nvPr/>
        </p:nvGrpSpPr>
        <p:grpSpPr bwMode="auto">
          <a:xfrm>
            <a:off x="1333500" y="593726"/>
            <a:ext cx="6007099" cy="1377950"/>
            <a:chOff x="840" y="374"/>
            <a:chExt cx="3784" cy="868"/>
          </a:xfrm>
        </p:grpSpPr>
        <p:graphicFrame>
          <p:nvGraphicFramePr>
            <p:cNvPr id="1372233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8074639"/>
                </p:ext>
              </p:extLst>
            </p:nvPr>
          </p:nvGraphicFramePr>
          <p:xfrm>
            <a:off x="840" y="920"/>
            <a:ext cx="6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445" name="公式" r:id="rId3" imgW="545760" imgH="215640" progId="Equation.3">
                    <p:embed/>
                  </p:oleObj>
                </mc:Choice>
                <mc:Fallback>
                  <p:oleObj name="公式" r:id="rId3" imgW="545760" imgH="21564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" y="920"/>
                          <a:ext cx="6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8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234" name="Rectangle 74"/>
            <p:cNvSpPr>
              <a:spLocks noChangeArrowheads="1"/>
            </p:cNvSpPr>
            <p:nvPr/>
          </p:nvSpPr>
          <p:spPr bwMode="auto">
            <a:xfrm>
              <a:off x="3491" y="494"/>
              <a:ext cx="1133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底面形状</a:t>
              </a:r>
              <a:b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荷载分布</a:t>
              </a:r>
              <a:b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计算点位置</a:t>
              </a:r>
              <a:endParaRPr kumimoji="1" lang="en-US" altLang="zh-CN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</p:txBody>
        </p:sp>
        <p:graphicFrame>
          <p:nvGraphicFramePr>
            <p:cNvPr id="1372235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0897801"/>
                </p:ext>
              </p:extLst>
            </p:nvPr>
          </p:nvGraphicFramePr>
          <p:xfrm>
            <a:off x="845" y="374"/>
            <a:ext cx="84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446" name="公式" r:id="rId5" imgW="672840" imgH="380880" progId="Equation.3">
                    <p:embed/>
                  </p:oleObj>
                </mc:Choice>
                <mc:Fallback>
                  <p:oleObj name="公式" r:id="rId5" imgW="672840" imgH="38088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" y="374"/>
                          <a:ext cx="84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8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236" name="AutoShape 76"/>
            <p:cNvSpPr>
              <a:spLocks noChangeArrowheads="1"/>
            </p:cNvSpPr>
            <p:nvPr/>
          </p:nvSpPr>
          <p:spPr bwMode="auto">
            <a:xfrm>
              <a:off x="2161" y="745"/>
              <a:ext cx="422" cy="307"/>
            </a:xfrm>
            <a:prstGeom prst="homePlate">
              <a:avLst>
                <a:gd name="adj" fmla="val 34365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237" name="Text Box 77"/>
            <p:cNvSpPr txBox="1">
              <a:spLocks noChangeArrowheads="1"/>
            </p:cNvSpPr>
            <p:nvPr/>
          </p:nvSpPr>
          <p:spPr bwMode="auto">
            <a:xfrm>
              <a:off x="2733" y="627"/>
              <a:ext cx="6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6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K</a:t>
              </a:r>
              <a:r>
                <a:rPr kumimoji="1" lang="en-US" altLang="zh-CN" sz="36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 </a:t>
              </a:r>
              <a:endParaRPr kumimoji="1" lang="zh-CN" altLang="en-US" sz="36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372238" name="AutoShape 78"/>
            <p:cNvSpPr>
              <a:spLocks/>
            </p:cNvSpPr>
            <p:nvPr/>
          </p:nvSpPr>
          <p:spPr bwMode="auto">
            <a:xfrm>
              <a:off x="1796" y="575"/>
              <a:ext cx="192" cy="586"/>
            </a:xfrm>
            <a:prstGeom prst="rightBrace">
              <a:avLst>
                <a:gd name="adj1" fmla="val 25434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1" y="0"/>
            <a:ext cx="37655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小结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70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7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7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7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7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2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7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2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72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30" grpId="0" build="p" autoUpdateAnimBg="0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286" name="Rectangle 102"/>
          <p:cNvSpPr>
            <a:spLocks noChangeArrowheads="1"/>
          </p:cNvSpPr>
          <p:nvPr/>
        </p:nvSpPr>
        <p:spPr bwMode="auto">
          <a:xfrm>
            <a:off x="671513" y="1286250"/>
            <a:ext cx="346233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上层软弱，下层坚硬</a:t>
            </a:r>
          </a:p>
        </p:txBody>
      </p:sp>
      <p:sp>
        <p:nvSpPr>
          <p:cNvPr id="1373287" name="Rectangle 103"/>
          <p:cNvSpPr>
            <a:spLocks noChangeArrowheads="1"/>
          </p:cNvSpPr>
          <p:nvPr/>
        </p:nvSpPr>
        <p:spPr bwMode="auto">
          <a:xfrm>
            <a:off x="423863" y="599688"/>
            <a:ext cx="39576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非均匀性</a:t>
            </a:r>
            <a:r>
              <a:rPr kumimoji="1" lang="en-US" altLang="zh-CN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-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成层地基</a:t>
            </a:r>
          </a:p>
        </p:txBody>
      </p:sp>
      <p:sp>
        <p:nvSpPr>
          <p:cNvPr id="1373288" name="Rectangle 104"/>
          <p:cNvSpPr>
            <a:spLocks noChangeArrowheads="1"/>
          </p:cNvSpPr>
          <p:nvPr/>
        </p:nvSpPr>
        <p:spPr bwMode="auto">
          <a:xfrm>
            <a:off x="703263" y="1778375"/>
            <a:ext cx="4367212" cy="121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轴线附近应力集中，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应力集中程度与土层刚度比有关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随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，应力集中减弱</a:t>
            </a:r>
          </a:p>
        </p:txBody>
      </p:sp>
      <p:sp>
        <p:nvSpPr>
          <p:cNvPr id="1373289" name="Rectangle 105"/>
          <p:cNvSpPr>
            <a:spLocks noChangeArrowheads="1"/>
          </p:cNvSpPr>
          <p:nvPr/>
        </p:nvSpPr>
        <p:spPr bwMode="auto">
          <a:xfrm>
            <a:off x="703263" y="3579813"/>
            <a:ext cx="343693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上层坚硬，下层软弱</a:t>
            </a:r>
          </a:p>
        </p:txBody>
      </p:sp>
      <p:sp>
        <p:nvSpPr>
          <p:cNvPr id="1373290" name="Rectangle 106"/>
          <p:cNvSpPr>
            <a:spLocks noChangeArrowheads="1"/>
          </p:cNvSpPr>
          <p:nvPr/>
        </p:nvSpPr>
        <p:spPr bwMode="auto">
          <a:xfrm>
            <a:off x="703263" y="4106863"/>
            <a:ext cx="4367212" cy="121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轴线附近应力扩散，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减小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应力扩散程度与土层刚度比有关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5000"/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随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增大，应力扩散增强</a:t>
            </a:r>
          </a:p>
        </p:txBody>
      </p:sp>
      <p:grpSp>
        <p:nvGrpSpPr>
          <p:cNvPr id="1373291" name="Group 107"/>
          <p:cNvGrpSpPr>
            <a:grpSpLocks/>
          </p:cNvGrpSpPr>
          <p:nvPr/>
        </p:nvGrpSpPr>
        <p:grpSpPr bwMode="auto">
          <a:xfrm>
            <a:off x="5199063" y="709613"/>
            <a:ext cx="3757612" cy="2203451"/>
            <a:chOff x="3275" y="519"/>
            <a:chExt cx="2367" cy="1388"/>
          </a:xfrm>
        </p:grpSpPr>
        <p:sp>
          <p:nvSpPr>
            <p:cNvPr id="1373292" name="Rectangle 108"/>
            <p:cNvSpPr>
              <a:spLocks noChangeArrowheads="1"/>
            </p:cNvSpPr>
            <p:nvPr/>
          </p:nvSpPr>
          <p:spPr bwMode="auto">
            <a:xfrm>
              <a:off x="3275" y="1624"/>
              <a:ext cx="2348" cy="28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CFF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293" name="Rectangle 109"/>
            <p:cNvSpPr>
              <a:spLocks noChangeArrowheads="1"/>
            </p:cNvSpPr>
            <p:nvPr/>
          </p:nvSpPr>
          <p:spPr bwMode="auto">
            <a:xfrm>
              <a:off x="3278" y="965"/>
              <a:ext cx="2348" cy="72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73294" name="Group 110"/>
            <p:cNvGrpSpPr>
              <a:grpSpLocks/>
            </p:cNvGrpSpPr>
            <p:nvPr/>
          </p:nvGrpSpPr>
          <p:grpSpPr bwMode="auto">
            <a:xfrm>
              <a:off x="4137" y="519"/>
              <a:ext cx="694" cy="445"/>
              <a:chOff x="4137" y="519"/>
              <a:chExt cx="694" cy="445"/>
            </a:xfrm>
          </p:grpSpPr>
          <p:grpSp>
            <p:nvGrpSpPr>
              <p:cNvPr id="1373295" name="Group 111"/>
              <p:cNvGrpSpPr>
                <a:grpSpLocks/>
              </p:cNvGrpSpPr>
              <p:nvPr/>
            </p:nvGrpSpPr>
            <p:grpSpPr bwMode="auto">
              <a:xfrm>
                <a:off x="4137" y="803"/>
                <a:ext cx="682" cy="161"/>
                <a:chOff x="4012" y="1676"/>
                <a:chExt cx="691" cy="138"/>
              </a:xfrm>
            </p:grpSpPr>
            <p:sp>
              <p:nvSpPr>
                <p:cNvPr id="1373296" name="Line 112"/>
                <p:cNvSpPr>
                  <a:spLocks noChangeShapeType="1"/>
                </p:cNvSpPr>
                <p:nvPr/>
              </p:nvSpPr>
              <p:spPr bwMode="auto">
                <a:xfrm>
                  <a:off x="4012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297" name="Line 113"/>
                <p:cNvSpPr>
                  <a:spLocks noChangeShapeType="1"/>
                </p:cNvSpPr>
                <p:nvPr/>
              </p:nvSpPr>
              <p:spPr bwMode="auto">
                <a:xfrm>
                  <a:off x="4095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298" name="Line 114"/>
                <p:cNvSpPr>
                  <a:spLocks noChangeShapeType="1"/>
                </p:cNvSpPr>
                <p:nvPr/>
              </p:nvSpPr>
              <p:spPr bwMode="auto">
                <a:xfrm>
                  <a:off x="4178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299" name="Line 115"/>
                <p:cNvSpPr>
                  <a:spLocks noChangeShapeType="1"/>
                </p:cNvSpPr>
                <p:nvPr/>
              </p:nvSpPr>
              <p:spPr bwMode="auto">
                <a:xfrm>
                  <a:off x="4261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00" name="Line 116"/>
                <p:cNvSpPr>
                  <a:spLocks noChangeShapeType="1"/>
                </p:cNvSpPr>
                <p:nvPr/>
              </p:nvSpPr>
              <p:spPr bwMode="auto">
                <a:xfrm>
                  <a:off x="4344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01" name="Line 117"/>
                <p:cNvSpPr>
                  <a:spLocks noChangeShapeType="1"/>
                </p:cNvSpPr>
                <p:nvPr/>
              </p:nvSpPr>
              <p:spPr bwMode="auto">
                <a:xfrm>
                  <a:off x="4427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02" name="Line 118"/>
                <p:cNvSpPr>
                  <a:spLocks noChangeShapeType="1"/>
                </p:cNvSpPr>
                <p:nvPr/>
              </p:nvSpPr>
              <p:spPr bwMode="auto">
                <a:xfrm>
                  <a:off x="4509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03" name="Line 119"/>
                <p:cNvSpPr>
                  <a:spLocks noChangeShapeType="1"/>
                </p:cNvSpPr>
                <p:nvPr/>
              </p:nvSpPr>
              <p:spPr bwMode="auto">
                <a:xfrm>
                  <a:off x="4613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04" name="Line 120"/>
                <p:cNvSpPr>
                  <a:spLocks noChangeShapeType="1"/>
                </p:cNvSpPr>
                <p:nvPr/>
              </p:nvSpPr>
              <p:spPr bwMode="auto">
                <a:xfrm>
                  <a:off x="4703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373305" name="Line 121"/>
              <p:cNvSpPr>
                <a:spLocks noChangeShapeType="1"/>
              </p:cNvSpPr>
              <p:nvPr/>
            </p:nvSpPr>
            <p:spPr bwMode="auto">
              <a:xfrm>
                <a:off x="4137" y="709"/>
                <a:ext cx="691" cy="0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3306" name="Line 122"/>
              <p:cNvSpPr>
                <a:spLocks noChangeShapeType="1"/>
              </p:cNvSpPr>
              <p:nvPr/>
            </p:nvSpPr>
            <p:spPr bwMode="auto">
              <a:xfrm>
                <a:off x="4137" y="626"/>
                <a:ext cx="0" cy="139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373307" name="Object 1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62031300"/>
                  </p:ext>
                </p:extLst>
              </p:nvPr>
            </p:nvGraphicFramePr>
            <p:xfrm>
              <a:off x="4401" y="519"/>
              <a:ext cx="16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3570" name="公式" r:id="rId3" imgW="126720" imgH="177480" progId="Equation.3">
                      <p:embed/>
                    </p:oleObj>
                  </mc:Choice>
                  <mc:Fallback>
                    <p:oleObj name="公式" r:id="rId3" imgW="126720" imgH="177480" progId="Equation.3">
                      <p:embed/>
                      <p:pic>
                        <p:nvPicPr>
                          <p:cNvPr id="0" name="Object 1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1" y="519"/>
                            <a:ext cx="16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73308" name="Line 124"/>
              <p:cNvSpPr>
                <a:spLocks noChangeShapeType="1"/>
              </p:cNvSpPr>
              <p:nvPr/>
            </p:nvSpPr>
            <p:spPr bwMode="auto">
              <a:xfrm>
                <a:off x="4831" y="630"/>
                <a:ext cx="0" cy="139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73309" name="Line 125"/>
            <p:cNvSpPr>
              <a:spLocks noChangeShapeType="1"/>
            </p:cNvSpPr>
            <p:nvPr/>
          </p:nvSpPr>
          <p:spPr bwMode="auto">
            <a:xfrm>
              <a:off x="3282" y="965"/>
              <a:ext cx="23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10" name="Line 126"/>
            <p:cNvSpPr>
              <a:spLocks noChangeShapeType="1"/>
            </p:cNvSpPr>
            <p:nvPr/>
          </p:nvSpPr>
          <p:spPr bwMode="auto">
            <a:xfrm>
              <a:off x="3283" y="1692"/>
              <a:ext cx="2358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3311" name="Group 127"/>
            <p:cNvGrpSpPr>
              <a:grpSpLocks/>
            </p:cNvGrpSpPr>
            <p:nvPr/>
          </p:nvGrpSpPr>
          <p:grpSpPr bwMode="auto">
            <a:xfrm>
              <a:off x="3427" y="1129"/>
              <a:ext cx="2076" cy="437"/>
              <a:chOff x="3347" y="1097"/>
              <a:chExt cx="2076" cy="624"/>
            </a:xfrm>
          </p:grpSpPr>
          <p:grpSp>
            <p:nvGrpSpPr>
              <p:cNvPr id="1373312" name="Group 128"/>
              <p:cNvGrpSpPr>
                <a:grpSpLocks/>
              </p:cNvGrpSpPr>
              <p:nvPr/>
            </p:nvGrpSpPr>
            <p:grpSpPr bwMode="auto">
              <a:xfrm>
                <a:off x="3347" y="1229"/>
                <a:ext cx="2076" cy="451"/>
                <a:chOff x="1460" y="1411"/>
                <a:chExt cx="3019" cy="609"/>
              </a:xfrm>
            </p:grpSpPr>
            <p:sp>
              <p:nvSpPr>
                <p:cNvPr id="1373313" name="Freeform 129"/>
                <p:cNvSpPr>
                  <a:spLocks/>
                </p:cNvSpPr>
                <p:nvPr/>
              </p:nvSpPr>
              <p:spPr bwMode="auto">
                <a:xfrm>
                  <a:off x="1460" y="1412"/>
                  <a:ext cx="1509" cy="608"/>
                </a:xfrm>
                <a:custGeom>
                  <a:avLst/>
                  <a:gdLst>
                    <a:gd name="T0" fmla="*/ 1509 w 1509"/>
                    <a:gd name="T1" fmla="*/ 0 h 608"/>
                    <a:gd name="T2" fmla="*/ 1420 w 1509"/>
                    <a:gd name="T3" fmla="*/ 22 h 608"/>
                    <a:gd name="T4" fmla="*/ 1298 w 1509"/>
                    <a:gd name="T5" fmla="*/ 97 h 608"/>
                    <a:gd name="T6" fmla="*/ 1160 w 1509"/>
                    <a:gd name="T7" fmla="*/ 211 h 608"/>
                    <a:gd name="T8" fmla="*/ 1014 w 1509"/>
                    <a:gd name="T9" fmla="*/ 340 h 608"/>
                    <a:gd name="T10" fmla="*/ 803 w 1509"/>
                    <a:gd name="T11" fmla="*/ 478 h 608"/>
                    <a:gd name="T12" fmla="*/ 536 w 1509"/>
                    <a:gd name="T13" fmla="*/ 559 h 608"/>
                    <a:gd name="T14" fmla="*/ 211 w 1509"/>
                    <a:gd name="T15" fmla="*/ 592 h 608"/>
                    <a:gd name="T16" fmla="*/ 0 w 1509"/>
                    <a:gd name="T17" fmla="*/ 608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9" h="608">
                      <a:moveTo>
                        <a:pt x="1509" y="0"/>
                      </a:moveTo>
                      <a:cubicBezTo>
                        <a:pt x="1494" y="2"/>
                        <a:pt x="1455" y="6"/>
                        <a:pt x="1420" y="22"/>
                      </a:cubicBezTo>
                      <a:cubicBezTo>
                        <a:pt x="1385" y="38"/>
                        <a:pt x="1341" y="66"/>
                        <a:pt x="1298" y="97"/>
                      </a:cubicBezTo>
                      <a:cubicBezTo>
                        <a:pt x="1255" y="128"/>
                        <a:pt x="1207" y="170"/>
                        <a:pt x="1160" y="211"/>
                      </a:cubicBezTo>
                      <a:cubicBezTo>
                        <a:pt x="1113" y="252"/>
                        <a:pt x="1073" y="296"/>
                        <a:pt x="1014" y="340"/>
                      </a:cubicBezTo>
                      <a:cubicBezTo>
                        <a:pt x="955" y="384"/>
                        <a:pt x="883" y="442"/>
                        <a:pt x="803" y="478"/>
                      </a:cubicBezTo>
                      <a:cubicBezTo>
                        <a:pt x="723" y="514"/>
                        <a:pt x="635" y="540"/>
                        <a:pt x="536" y="559"/>
                      </a:cubicBezTo>
                      <a:cubicBezTo>
                        <a:pt x="437" y="578"/>
                        <a:pt x="300" y="584"/>
                        <a:pt x="211" y="592"/>
                      </a:cubicBezTo>
                      <a:cubicBezTo>
                        <a:pt x="122" y="600"/>
                        <a:pt x="44" y="605"/>
                        <a:pt x="0" y="608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90033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3314" name="Freeform 130"/>
                <p:cNvSpPr>
                  <a:spLocks/>
                </p:cNvSpPr>
                <p:nvPr/>
              </p:nvSpPr>
              <p:spPr bwMode="auto">
                <a:xfrm flipH="1">
                  <a:off x="2970" y="1411"/>
                  <a:ext cx="1509" cy="608"/>
                </a:xfrm>
                <a:custGeom>
                  <a:avLst/>
                  <a:gdLst>
                    <a:gd name="T0" fmla="*/ 1509 w 1509"/>
                    <a:gd name="T1" fmla="*/ 0 h 608"/>
                    <a:gd name="T2" fmla="*/ 1420 w 1509"/>
                    <a:gd name="T3" fmla="*/ 22 h 608"/>
                    <a:gd name="T4" fmla="*/ 1298 w 1509"/>
                    <a:gd name="T5" fmla="*/ 97 h 608"/>
                    <a:gd name="T6" fmla="*/ 1160 w 1509"/>
                    <a:gd name="T7" fmla="*/ 211 h 608"/>
                    <a:gd name="T8" fmla="*/ 1014 w 1509"/>
                    <a:gd name="T9" fmla="*/ 340 h 608"/>
                    <a:gd name="T10" fmla="*/ 803 w 1509"/>
                    <a:gd name="T11" fmla="*/ 478 h 608"/>
                    <a:gd name="T12" fmla="*/ 536 w 1509"/>
                    <a:gd name="T13" fmla="*/ 559 h 608"/>
                    <a:gd name="T14" fmla="*/ 211 w 1509"/>
                    <a:gd name="T15" fmla="*/ 592 h 608"/>
                    <a:gd name="T16" fmla="*/ 0 w 1509"/>
                    <a:gd name="T17" fmla="*/ 608 h 6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9" h="608">
                      <a:moveTo>
                        <a:pt x="1509" y="0"/>
                      </a:moveTo>
                      <a:cubicBezTo>
                        <a:pt x="1494" y="2"/>
                        <a:pt x="1455" y="6"/>
                        <a:pt x="1420" y="22"/>
                      </a:cubicBezTo>
                      <a:cubicBezTo>
                        <a:pt x="1385" y="38"/>
                        <a:pt x="1341" y="66"/>
                        <a:pt x="1298" y="97"/>
                      </a:cubicBezTo>
                      <a:cubicBezTo>
                        <a:pt x="1255" y="128"/>
                        <a:pt x="1207" y="170"/>
                        <a:pt x="1160" y="211"/>
                      </a:cubicBezTo>
                      <a:cubicBezTo>
                        <a:pt x="1113" y="252"/>
                        <a:pt x="1073" y="296"/>
                        <a:pt x="1014" y="340"/>
                      </a:cubicBezTo>
                      <a:cubicBezTo>
                        <a:pt x="955" y="384"/>
                        <a:pt x="883" y="442"/>
                        <a:pt x="803" y="478"/>
                      </a:cubicBezTo>
                      <a:cubicBezTo>
                        <a:pt x="723" y="514"/>
                        <a:pt x="635" y="540"/>
                        <a:pt x="536" y="559"/>
                      </a:cubicBezTo>
                      <a:cubicBezTo>
                        <a:pt x="437" y="578"/>
                        <a:pt x="300" y="584"/>
                        <a:pt x="211" y="592"/>
                      </a:cubicBezTo>
                      <a:cubicBezTo>
                        <a:pt x="122" y="600"/>
                        <a:pt x="44" y="605"/>
                        <a:pt x="0" y="608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90033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315" name="Group 131"/>
              <p:cNvGrpSpPr>
                <a:grpSpLocks/>
              </p:cNvGrpSpPr>
              <p:nvPr/>
            </p:nvGrpSpPr>
            <p:grpSpPr bwMode="auto">
              <a:xfrm>
                <a:off x="3350" y="1097"/>
                <a:ext cx="2070" cy="624"/>
                <a:chOff x="1464" y="1232"/>
                <a:chExt cx="3012" cy="844"/>
              </a:xfrm>
            </p:grpSpPr>
            <p:sp>
              <p:nvSpPr>
                <p:cNvPr id="1373316" name="Freeform 132"/>
                <p:cNvSpPr>
                  <a:spLocks/>
                </p:cNvSpPr>
                <p:nvPr/>
              </p:nvSpPr>
              <p:spPr bwMode="auto">
                <a:xfrm>
                  <a:off x="1464" y="1232"/>
                  <a:ext cx="1508" cy="844"/>
                </a:xfrm>
                <a:custGeom>
                  <a:avLst/>
                  <a:gdLst>
                    <a:gd name="T0" fmla="*/ 1508 w 1508"/>
                    <a:gd name="T1" fmla="*/ 0 h 844"/>
                    <a:gd name="T2" fmla="*/ 1394 w 1508"/>
                    <a:gd name="T3" fmla="*/ 38 h 844"/>
                    <a:gd name="T4" fmla="*/ 1256 w 1508"/>
                    <a:gd name="T5" fmla="*/ 156 h 844"/>
                    <a:gd name="T6" fmla="*/ 1124 w 1508"/>
                    <a:gd name="T7" fmla="*/ 316 h 844"/>
                    <a:gd name="T8" fmla="*/ 986 w 1508"/>
                    <a:gd name="T9" fmla="*/ 504 h 844"/>
                    <a:gd name="T10" fmla="*/ 776 w 1508"/>
                    <a:gd name="T11" fmla="*/ 742 h 844"/>
                    <a:gd name="T12" fmla="*/ 522 w 1508"/>
                    <a:gd name="T13" fmla="*/ 810 h 844"/>
                    <a:gd name="T14" fmla="*/ 214 w 1508"/>
                    <a:gd name="T15" fmla="*/ 838 h 844"/>
                    <a:gd name="T16" fmla="*/ 0 w 1508"/>
                    <a:gd name="T17" fmla="*/ 844 h 8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8" h="844">
                      <a:moveTo>
                        <a:pt x="1508" y="0"/>
                      </a:moveTo>
                      <a:cubicBezTo>
                        <a:pt x="1490" y="7"/>
                        <a:pt x="1436" y="12"/>
                        <a:pt x="1394" y="38"/>
                      </a:cubicBezTo>
                      <a:cubicBezTo>
                        <a:pt x="1352" y="64"/>
                        <a:pt x="1301" y="110"/>
                        <a:pt x="1256" y="156"/>
                      </a:cubicBezTo>
                      <a:cubicBezTo>
                        <a:pt x="1211" y="202"/>
                        <a:pt x="1169" y="258"/>
                        <a:pt x="1124" y="316"/>
                      </a:cubicBezTo>
                      <a:cubicBezTo>
                        <a:pt x="1079" y="374"/>
                        <a:pt x="1044" y="433"/>
                        <a:pt x="986" y="504"/>
                      </a:cubicBezTo>
                      <a:cubicBezTo>
                        <a:pt x="928" y="575"/>
                        <a:pt x="853" y="691"/>
                        <a:pt x="776" y="742"/>
                      </a:cubicBezTo>
                      <a:cubicBezTo>
                        <a:pt x="699" y="793"/>
                        <a:pt x="616" y="794"/>
                        <a:pt x="522" y="810"/>
                      </a:cubicBezTo>
                      <a:cubicBezTo>
                        <a:pt x="428" y="826"/>
                        <a:pt x="301" y="832"/>
                        <a:pt x="214" y="838"/>
                      </a:cubicBezTo>
                      <a:cubicBezTo>
                        <a:pt x="127" y="844"/>
                        <a:pt x="45" y="843"/>
                        <a:pt x="0" y="844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3317" name="Freeform 133"/>
                <p:cNvSpPr>
                  <a:spLocks/>
                </p:cNvSpPr>
                <p:nvPr/>
              </p:nvSpPr>
              <p:spPr bwMode="auto">
                <a:xfrm>
                  <a:off x="2974" y="1232"/>
                  <a:ext cx="1502" cy="843"/>
                </a:xfrm>
                <a:custGeom>
                  <a:avLst/>
                  <a:gdLst>
                    <a:gd name="T0" fmla="*/ 0 w 1502"/>
                    <a:gd name="T1" fmla="*/ 0 h 843"/>
                    <a:gd name="T2" fmla="*/ 108 w 1502"/>
                    <a:gd name="T3" fmla="*/ 37 h 843"/>
                    <a:gd name="T4" fmla="*/ 246 w 1502"/>
                    <a:gd name="T5" fmla="*/ 155 h 843"/>
                    <a:gd name="T6" fmla="*/ 378 w 1502"/>
                    <a:gd name="T7" fmla="*/ 315 h 843"/>
                    <a:gd name="T8" fmla="*/ 516 w 1502"/>
                    <a:gd name="T9" fmla="*/ 503 h 843"/>
                    <a:gd name="T10" fmla="*/ 726 w 1502"/>
                    <a:gd name="T11" fmla="*/ 741 h 843"/>
                    <a:gd name="T12" fmla="*/ 980 w 1502"/>
                    <a:gd name="T13" fmla="*/ 809 h 843"/>
                    <a:gd name="T14" fmla="*/ 1288 w 1502"/>
                    <a:gd name="T15" fmla="*/ 837 h 843"/>
                    <a:gd name="T16" fmla="*/ 1502 w 1502"/>
                    <a:gd name="T17" fmla="*/ 843 h 8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2" h="843">
                      <a:moveTo>
                        <a:pt x="0" y="0"/>
                      </a:moveTo>
                      <a:cubicBezTo>
                        <a:pt x="18" y="6"/>
                        <a:pt x="67" y="11"/>
                        <a:pt x="108" y="37"/>
                      </a:cubicBezTo>
                      <a:cubicBezTo>
                        <a:pt x="149" y="63"/>
                        <a:pt x="201" y="109"/>
                        <a:pt x="246" y="155"/>
                      </a:cubicBezTo>
                      <a:cubicBezTo>
                        <a:pt x="291" y="201"/>
                        <a:pt x="333" y="257"/>
                        <a:pt x="378" y="315"/>
                      </a:cubicBezTo>
                      <a:cubicBezTo>
                        <a:pt x="423" y="373"/>
                        <a:pt x="458" y="432"/>
                        <a:pt x="516" y="503"/>
                      </a:cubicBezTo>
                      <a:cubicBezTo>
                        <a:pt x="574" y="574"/>
                        <a:pt x="649" y="690"/>
                        <a:pt x="726" y="741"/>
                      </a:cubicBezTo>
                      <a:cubicBezTo>
                        <a:pt x="803" y="792"/>
                        <a:pt x="886" y="793"/>
                        <a:pt x="980" y="809"/>
                      </a:cubicBezTo>
                      <a:cubicBezTo>
                        <a:pt x="1074" y="825"/>
                        <a:pt x="1201" y="831"/>
                        <a:pt x="1288" y="837"/>
                      </a:cubicBezTo>
                      <a:cubicBezTo>
                        <a:pt x="1375" y="843"/>
                        <a:pt x="1457" y="842"/>
                        <a:pt x="1502" y="843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73318" name="Line 134"/>
            <p:cNvSpPr>
              <a:spLocks noChangeShapeType="1"/>
            </p:cNvSpPr>
            <p:nvPr/>
          </p:nvSpPr>
          <p:spPr bwMode="auto">
            <a:xfrm>
              <a:off x="4469" y="902"/>
              <a:ext cx="0" cy="952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19" name="Line 135"/>
            <p:cNvSpPr>
              <a:spLocks noChangeShapeType="1"/>
            </p:cNvSpPr>
            <p:nvPr/>
          </p:nvSpPr>
          <p:spPr bwMode="auto">
            <a:xfrm>
              <a:off x="3368" y="965"/>
              <a:ext cx="0" cy="736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20" name="Text Box 136"/>
            <p:cNvSpPr txBox="1">
              <a:spLocks noChangeArrowheads="1"/>
            </p:cNvSpPr>
            <p:nvPr/>
          </p:nvSpPr>
          <p:spPr bwMode="auto">
            <a:xfrm>
              <a:off x="3383" y="1254"/>
              <a:ext cx="12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</a:p>
          </p:txBody>
        </p:sp>
        <p:sp>
          <p:nvSpPr>
            <p:cNvPr id="1373321" name="Text Box 137"/>
            <p:cNvSpPr txBox="1">
              <a:spLocks noChangeArrowheads="1"/>
            </p:cNvSpPr>
            <p:nvPr/>
          </p:nvSpPr>
          <p:spPr bwMode="auto">
            <a:xfrm>
              <a:off x="5340" y="1021"/>
              <a:ext cx="23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1373322" name="Text Box 138"/>
            <p:cNvSpPr txBox="1">
              <a:spLocks noChangeArrowheads="1"/>
            </p:cNvSpPr>
            <p:nvPr/>
          </p:nvSpPr>
          <p:spPr bwMode="auto">
            <a:xfrm>
              <a:off x="4825" y="1711"/>
              <a:ext cx="78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硬层 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&gt;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373323" name="Text Box 139"/>
            <p:cNvSpPr txBox="1">
              <a:spLocks noChangeArrowheads="1"/>
            </p:cNvSpPr>
            <p:nvPr/>
          </p:nvSpPr>
          <p:spPr bwMode="auto">
            <a:xfrm>
              <a:off x="3666" y="1102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成层</a:t>
              </a:r>
            </a:p>
          </p:txBody>
        </p:sp>
        <p:sp>
          <p:nvSpPr>
            <p:cNvPr id="1373324" name="Line 140"/>
            <p:cNvSpPr>
              <a:spLocks noChangeShapeType="1"/>
            </p:cNvSpPr>
            <p:nvPr/>
          </p:nvSpPr>
          <p:spPr bwMode="auto">
            <a:xfrm flipH="1" flipV="1">
              <a:off x="4066" y="1238"/>
              <a:ext cx="144" cy="29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3325" name="Text Box 141"/>
            <p:cNvSpPr txBox="1">
              <a:spLocks noChangeArrowheads="1"/>
            </p:cNvSpPr>
            <p:nvPr/>
          </p:nvSpPr>
          <p:spPr bwMode="auto">
            <a:xfrm>
              <a:off x="4836" y="1059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均匀</a:t>
              </a:r>
            </a:p>
          </p:txBody>
        </p:sp>
        <p:sp>
          <p:nvSpPr>
            <p:cNvPr id="1373326" name="Line 142"/>
            <p:cNvSpPr>
              <a:spLocks noChangeShapeType="1"/>
            </p:cNvSpPr>
            <p:nvPr/>
          </p:nvSpPr>
          <p:spPr bwMode="auto">
            <a:xfrm flipV="1">
              <a:off x="4637" y="1209"/>
              <a:ext cx="230" cy="77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73327" name="Group 143"/>
          <p:cNvGrpSpPr>
            <a:grpSpLocks/>
          </p:cNvGrpSpPr>
          <p:nvPr/>
        </p:nvGrpSpPr>
        <p:grpSpPr bwMode="auto">
          <a:xfrm>
            <a:off x="5181600" y="3227388"/>
            <a:ext cx="3743325" cy="2497138"/>
            <a:chOff x="3264" y="2009"/>
            <a:chExt cx="2358" cy="1573"/>
          </a:xfrm>
        </p:grpSpPr>
        <p:sp>
          <p:nvSpPr>
            <p:cNvPr id="1373328" name="Rectangle 144"/>
            <p:cNvSpPr>
              <a:spLocks noChangeArrowheads="1"/>
            </p:cNvSpPr>
            <p:nvPr/>
          </p:nvSpPr>
          <p:spPr bwMode="auto">
            <a:xfrm>
              <a:off x="3264" y="2847"/>
              <a:ext cx="2348" cy="72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329" name="Rectangle 145"/>
            <p:cNvSpPr>
              <a:spLocks noChangeArrowheads="1"/>
            </p:cNvSpPr>
            <p:nvPr/>
          </p:nvSpPr>
          <p:spPr bwMode="auto">
            <a:xfrm>
              <a:off x="3274" y="2453"/>
              <a:ext cx="2348" cy="40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CCFF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330" name="Line 146"/>
            <p:cNvSpPr>
              <a:spLocks noChangeShapeType="1"/>
            </p:cNvSpPr>
            <p:nvPr/>
          </p:nvSpPr>
          <p:spPr bwMode="auto">
            <a:xfrm>
              <a:off x="3284" y="2455"/>
              <a:ext cx="23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31" name="Line 147"/>
            <p:cNvSpPr>
              <a:spLocks noChangeShapeType="1"/>
            </p:cNvSpPr>
            <p:nvPr/>
          </p:nvSpPr>
          <p:spPr bwMode="auto">
            <a:xfrm>
              <a:off x="3271" y="2856"/>
              <a:ext cx="2326" cy="0"/>
            </a:xfrm>
            <a:prstGeom prst="line">
              <a:avLst/>
            </a:prstGeom>
            <a:noFill/>
            <a:ln w="22860">
              <a:solidFill>
                <a:srgbClr val="08080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3332" name="Group 148"/>
            <p:cNvGrpSpPr>
              <a:grpSpLocks/>
            </p:cNvGrpSpPr>
            <p:nvPr/>
          </p:nvGrpSpPr>
          <p:grpSpPr bwMode="auto">
            <a:xfrm>
              <a:off x="3383" y="2975"/>
              <a:ext cx="2076" cy="451"/>
              <a:chOff x="1460" y="1411"/>
              <a:chExt cx="3019" cy="609"/>
            </a:xfrm>
          </p:grpSpPr>
          <p:sp>
            <p:nvSpPr>
              <p:cNvPr id="1373333" name="Freeform 149"/>
              <p:cNvSpPr>
                <a:spLocks/>
              </p:cNvSpPr>
              <p:nvPr/>
            </p:nvSpPr>
            <p:spPr bwMode="auto">
              <a:xfrm>
                <a:off x="1460" y="1412"/>
                <a:ext cx="1509" cy="608"/>
              </a:xfrm>
              <a:custGeom>
                <a:avLst/>
                <a:gdLst>
                  <a:gd name="T0" fmla="*/ 1509 w 1509"/>
                  <a:gd name="T1" fmla="*/ 0 h 608"/>
                  <a:gd name="T2" fmla="*/ 1420 w 1509"/>
                  <a:gd name="T3" fmla="*/ 22 h 608"/>
                  <a:gd name="T4" fmla="*/ 1298 w 1509"/>
                  <a:gd name="T5" fmla="*/ 97 h 608"/>
                  <a:gd name="T6" fmla="*/ 1160 w 1509"/>
                  <a:gd name="T7" fmla="*/ 211 h 608"/>
                  <a:gd name="T8" fmla="*/ 1014 w 1509"/>
                  <a:gd name="T9" fmla="*/ 340 h 608"/>
                  <a:gd name="T10" fmla="*/ 803 w 1509"/>
                  <a:gd name="T11" fmla="*/ 478 h 608"/>
                  <a:gd name="T12" fmla="*/ 536 w 1509"/>
                  <a:gd name="T13" fmla="*/ 559 h 608"/>
                  <a:gd name="T14" fmla="*/ 211 w 1509"/>
                  <a:gd name="T15" fmla="*/ 592 h 608"/>
                  <a:gd name="T16" fmla="*/ 0 w 1509"/>
                  <a:gd name="T17" fmla="*/ 608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09" h="608">
                    <a:moveTo>
                      <a:pt x="1509" y="0"/>
                    </a:moveTo>
                    <a:cubicBezTo>
                      <a:pt x="1494" y="2"/>
                      <a:pt x="1455" y="6"/>
                      <a:pt x="1420" y="22"/>
                    </a:cubicBezTo>
                    <a:cubicBezTo>
                      <a:pt x="1385" y="38"/>
                      <a:pt x="1341" y="66"/>
                      <a:pt x="1298" y="97"/>
                    </a:cubicBezTo>
                    <a:cubicBezTo>
                      <a:pt x="1255" y="128"/>
                      <a:pt x="1207" y="170"/>
                      <a:pt x="1160" y="211"/>
                    </a:cubicBezTo>
                    <a:cubicBezTo>
                      <a:pt x="1113" y="252"/>
                      <a:pt x="1073" y="296"/>
                      <a:pt x="1014" y="340"/>
                    </a:cubicBezTo>
                    <a:cubicBezTo>
                      <a:pt x="955" y="384"/>
                      <a:pt x="883" y="442"/>
                      <a:pt x="803" y="478"/>
                    </a:cubicBezTo>
                    <a:cubicBezTo>
                      <a:pt x="723" y="514"/>
                      <a:pt x="635" y="540"/>
                      <a:pt x="536" y="559"/>
                    </a:cubicBezTo>
                    <a:cubicBezTo>
                      <a:pt x="437" y="578"/>
                      <a:pt x="300" y="584"/>
                      <a:pt x="211" y="592"/>
                    </a:cubicBezTo>
                    <a:cubicBezTo>
                      <a:pt x="122" y="600"/>
                      <a:pt x="44" y="605"/>
                      <a:pt x="0" y="608"/>
                    </a:cubicBezTo>
                  </a:path>
                </a:pathLst>
              </a:custGeom>
              <a:noFill/>
              <a:ln w="19050" cap="flat" cmpd="sng">
                <a:solidFill>
                  <a:srgbClr val="990033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3334" name="Freeform 150"/>
              <p:cNvSpPr>
                <a:spLocks/>
              </p:cNvSpPr>
              <p:nvPr/>
            </p:nvSpPr>
            <p:spPr bwMode="auto">
              <a:xfrm flipH="1">
                <a:off x="2970" y="1411"/>
                <a:ext cx="1509" cy="608"/>
              </a:xfrm>
              <a:custGeom>
                <a:avLst/>
                <a:gdLst>
                  <a:gd name="T0" fmla="*/ 1509 w 1509"/>
                  <a:gd name="T1" fmla="*/ 0 h 608"/>
                  <a:gd name="T2" fmla="*/ 1420 w 1509"/>
                  <a:gd name="T3" fmla="*/ 22 h 608"/>
                  <a:gd name="T4" fmla="*/ 1298 w 1509"/>
                  <a:gd name="T5" fmla="*/ 97 h 608"/>
                  <a:gd name="T6" fmla="*/ 1160 w 1509"/>
                  <a:gd name="T7" fmla="*/ 211 h 608"/>
                  <a:gd name="T8" fmla="*/ 1014 w 1509"/>
                  <a:gd name="T9" fmla="*/ 340 h 608"/>
                  <a:gd name="T10" fmla="*/ 803 w 1509"/>
                  <a:gd name="T11" fmla="*/ 478 h 608"/>
                  <a:gd name="T12" fmla="*/ 536 w 1509"/>
                  <a:gd name="T13" fmla="*/ 559 h 608"/>
                  <a:gd name="T14" fmla="*/ 211 w 1509"/>
                  <a:gd name="T15" fmla="*/ 592 h 608"/>
                  <a:gd name="T16" fmla="*/ 0 w 1509"/>
                  <a:gd name="T17" fmla="*/ 608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09" h="608">
                    <a:moveTo>
                      <a:pt x="1509" y="0"/>
                    </a:moveTo>
                    <a:cubicBezTo>
                      <a:pt x="1494" y="2"/>
                      <a:pt x="1455" y="6"/>
                      <a:pt x="1420" y="22"/>
                    </a:cubicBezTo>
                    <a:cubicBezTo>
                      <a:pt x="1385" y="38"/>
                      <a:pt x="1341" y="66"/>
                      <a:pt x="1298" y="97"/>
                    </a:cubicBezTo>
                    <a:cubicBezTo>
                      <a:pt x="1255" y="128"/>
                      <a:pt x="1207" y="170"/>
                      <a:pt x="1160" y="211"/>
                    </a:cubicBezTo>
                    <a:cubicBezTo>
                      <a:pt x="1113" y="252"/>
                      <a:pt x="1073" y="296"/>
                      <a:pt x="1014" y="340"/>
                    </a:cubicBezTo>
                    <a:cubicBezTo>
                      <a:pt x="955" y="384"/>
                      <a:pt x="883" y="442"/>
                      <a:pt x="803" y="478"/>
                    </a:cubicBezTo>
                    <a:cubicBezTo>
                      <a:pt x="723" y="514"/>
                      <a:pt x="635" y="540"/>
                      <a:pt x="536" y="559"/>
                    </a:cubicBezTo>
                    <a:cubicBezTo>
                      <a:pt x="437" y="578"/>
                      <a:pt x="300" y="584"/>
                      <a:pt x="211" y="592"/>
                    </a:cubicBezTo>
                    <a:cubicBezTo>
                      <a:pt x="122" y="600"/>
                      <a:pt x="44" y="605"/>
                      <a:pt x="0" y="608"/>
                    </a:cubicBezTo>
                  </a:path>
                </a:pathLst>
              </a:custGeom>
              <a:noFill/>
              <a:ln w="19050" cap="flat" cmpd="sng">
                <a:solidFill>
                  <a:srgbClr val="990033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73335" name="Freeform 151"/>
            <p:cNvSpPr>
              <a:spLocks/>
            </p:cNvSpPr>
            <p:nvPr/>
          </p:nvSpPr>
          <p:spPr bwMode="auto">
            <a:xfrm>
              <a:off x="4419" y="2392"/>
              <a:ext cx="6" cy="1190"/>
            </a:xfrm>
            <a:custGeom>
              <a:avLst/>
              <a:gdLst>
                <a:gd name="T0" fmla="*/ 6 w 6"/>
                <a:gd name="T1" fmla="*/ 0 h 1190"/>
                <a:gd name="T2" fmla="*/ 0 w 6"/>
                <a:gd name="T3" fmla="*/ 119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190">
                  <a:moveTo>
                    <a:pt x="6" y="0"/>
                  </a:moveTo>
                  <a:lnTo>
                    <a:pt x="0" y="1190"/>
                  </a:lnTo>
                </a:path>
              </a:pathLst>
            </a:custGeom>
            <a:noFill/>
            <a:ln w="12700" cap="flat" cmpd="sng">
              <a:solidFill>
                <a:srgbClr val="990033"/>
              </a:solidFill>
              <a:prstDash val="lgDashDot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36" name="Line 152"/>
            <p:cNvSpPr>
              <a:spLocks noChangeShapeType="1"/>
            </p:cNvSpPr>
            <p:nvPr/>
          </p:nvSpPr>
          <p:spPr bwMode="auto">
            <a:xfrm>
              <a:off x="3324" y="2455"/>
              <a:ext cx="0" cy="401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3337" name="Text Box 153"/>
            <p:cNvSpPr txBox="1">
              <a:spLocks noChangeArrowheads="1"/>
            </p:cNvSpPr>
            <p:nvPr/>
          </p:nvSpPr>
          <p:spPr bwMode="auto">
            <a:xfrm>
              <a:off x="3339" y="2573"/>
              <a:ext cx="12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</a:p>
          </p:txBody>
        </p:sp>
        <p:sp>
          <p:nvSpPr>
            <p:cNvPr id="1373338" name="Text Box 154"/>
            <p:cNvSpPr txBox="1">
              <a:spLocks noChangeArrowheads="1"/>
            </p:cNvSpPr>
            <p:nvPr/>
          </p:nvSpPr>
          <p:spPr bwMode="auto">
            <a:xfrm>
              <a:off x="5055" y="2573"/>
              <a:ext cx="534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硬层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1373339" name="Text Box 155"/>
            <p:cNvSpPr txBox="1">
              <a:spLocks noChangeArrowheads="1"/>
            </p:cNvSpPr>
            <p:nvPr/>
          </p:nvSpPr>
          <p:spPr bwMode="auto">
            <a:xfrm>
              <a:off x="5174" y="3084"/>
              <a:ext cx="415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2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&lt;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E</a:t>
              </a:r>
              <a:r>
                <a:rPr kumimoji="1" lang="en-US" altLang="zh-CN" sz="2000" b="1" i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1373340" name="Line 156"/>
            <p:cNvSpPr>
              <a:spLocks noChangeShapeType="1"/>
            </p:cNvSpPr>
            <p:nvPr/>
          </p:nvSpPr>
          <p:spPr bwMode="auto">
            <a:xfrm>
              <a:off x="3287" y="3526"/>
              <a:ext cx="230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373341" name="Group 157"/>
            <p:cNvGrpSpPr>
              <a:grpSpLocks/>
            </p:cNvGrpSpPr>
            <p:nvPr/>
          </p:nvGrpSpPr>
          <p:grpSpPr bwMode="auto">
            <a:xfrm>
              <a:off x="3382" y="3096"/>
              <a:ext cx="2079" cy="303"/>
              <a:chOff x="1458" y="1575"/>
              <a:chExt cx="3024" cy="411"/>
            </a:xfrm>
          </p:grpSpPr>
          <p:sp>
            <p:nvSpPr>
              <p:cNvPr id="1373342" name="Freeform 158"/>
              <p:cNvSpPr>
                <a:spLocks/>
              </p:cNvSpPr>
              <p:nvPr/>
            </p:nvSpPr>
            <p:spPr bwMode="auto">
              <a:xfrm>
                <a:off x="1458" y="1576"/>
                <a:ext cx="1514" cy="410"/>
              </a:xfrm>
              <a:custGeom>
                <a:avLst/>
                <a:gdLst>
                  <a:gd name="T0" fmla="*/ 1514 w 1514"/>
                  <a:gd name="T1" fmla="*/ 0 h 410"/>
                  <a:gd name="T2" fmla="*/ 1422 w 1514"/>
                  <a:gd name="T3" fmla="*/ 12 h 410"/>
                  <a:gd name="T4" fmla="*/ 1312 w 1514"/>
                  <a:gd name="T5" fmla="*/ 42 h 410"/>
                  <a:gd name="T6" fmla="*/ 1190 w 1514"/>
                  <a:gd name="T7" fmla="*/ 92 h 410"/>
                  <a:gd name="T8" fmla="*/ 1018 w 1514"/>
                  <a:gd name="T9" fmla="*/ 174 h 410"/>
                  <a:gd name="T10" fmla="*/ 818 w 1514"/>
                  <a:gd name="T11" fmla="*/ 258 h 410"/>
                  <a:gd name="T12" fmla="*/ 532 w 1514"/>
                  <a:gd name="T13" fmla="*/ 334 h 410"/>
                  <a:gd name="T14" fmla="*/ 218 w 1514"/>
                  <a:gd name="T15" fmla="*/ 390 h 410"/>
                  <a:gd name="T16" fmla="*/ 0 w 1514"/>
                  <a:gd name="T17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14" h="410">
                    <a:moveTo>
                      <a:pt x="1514" y="0"/>
                    </a:moveTo>
                    <a:cubicBezTo>
                      <a:pt x="1499" y="2"/>
                      <a:pt x="1456" y="5"/>
                      <a:pt x="1422" y="12"/>
                    </a:cubicBezTo>
                    <a:cubicBezTo>
                      <a:pt x="1388" y="19"/>
                      <a:pt x="1351" y="29"/>
                      <a:pt x="1312" y="42"/>
                    </a:cubicBezTo>
                    <a:cubicBezTo>
                      <a:pt x="1273" y="55"/>
                      <a:pt x="1239" y="70"/>
                      <a:pt x="1190" y="92"/>
                    </a:cubicBezTo>
                    <a:cubicBezTo>
                      <a:pt x="1141" y="114"/>
                      <a:pt x="1080" y="146"/>
                      <a:pt x="1018" y="174"/>
                    </a:cubicBezTo>
                    <a:cubicBezTo>
                      <a:pt x="956" y="202"/>
                      <a:pt x="899" y="231"/>
                      <a:pt x="818" y="258"/>
                    </a:cubicBezTo>
                    <a:cubicBezTo>
                      <a:pt x="737" y="285"/>
                      <a:pt x="632" y="312"/>
                      <a:pt x="532" y="334"/>
                    </a:cubicBezTo>
                    <a:cubicBezTo>
                      <a:pt x="432" y="356"/>
                      <a:pt x="307" y="377"/>
                      <a:pt x="218" y="390"/>
                    </a:cubicBezTo>
                    <a:cubicBezTo>
                      <a:pt x="129" y="403"/>
                      <a:pt x="45" y="406"/>
                      <a:pt x="0" y="410"/>
                    </a:cubicBezTo>
                  </a:path>
                </a:pathLst>
              </a:custGeom>
              <a:noFill/>
              <a:ln w="19050" cap="flat" cmpd="sng">
                <a:solidFill>
                  <a:srgbClr val="000099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3343" name="Freeform 159"/>
              <p:cNvSpPr>
                <a:spLocks/>
              </p:cNvSpPr>
              <p:nvPr/>
            </p:nvSpPr>
            <p:spPr bwMode="auto">
              <a:xfrm flipH="1">
                <a:off x="2968" y="1575"/>
                <a:ext cx="1514" cy="410"/>
              </a:xfrm>
              <a:custGeom>
                <a:avLst/>
                <a:gdLst>
                  <a:gd name="T0" fmla="*/ 1514 w 1514"/>
                  <a:gd name="T1" fmla="*/ 0 h 410"/>
                  <a:gd name="T2" fmla="*/ 1422 w 1514"/>
                  <a:gd name="T3" fmla="*/ 12 h 410"/>
                  <a:gd name="T4" fmla="*/ 1312 w 1514"/>
                  <a:gd name="T5" fmla="*/ 42 h 410"/>
                  <a:gd name="T6" fmla="*/ 1190 w 1514"/>
                  <a:gd name="T7" fmla="*/ 92 h 410"/>
                  <a:gd name="T8" fmla="*/ 1018 w 1514"/>
                  <a:gd name="T9" fmla="*/ 174 h 410"/>
                  <a:gd name="T10" fmla="*/ 818 w 1514"/>
                  <a:gd name="T11" fmla="*/ 258 h 410"/>
                  <a:gd name="T12" fmla="*/ 532 w 1514"/>
                  <a:gd name="T13" fmla="*/ 334 h 410"/>
                  <a:gd name="T14" fmla="*/ 218 w 1514"/>
                  <a:gd name="T15" fmla="*/ 390 h 410"/>
                  <a:gd name="T16" fmla="*/ 0 w 1514"/>
                  <a:gd name="T17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14" h="410">
                    <a:moveTo>
                      <a:pt x="1514" y="0"/>
                    </a:moveTo>
                    <a:cubicBezTo>
                      <a:pt x="1499" y="2"/>
                      <a:pt x="1456" y="5"/>
                      <a:pt x="1422" y="12"/>
                    </a:cubicBezTo>
                    <a:cubicBezTo>
                      <a:pt x="1388" y="19"/>
                      <a:pt x="1351" y="29"/>
                      <a:pt x="1312" y="42"/>
                    </a:cubicBezTo>
                    <a:cubicBezTo>
                      <a:pt x="1273" y="55"/>
                      <a:pt x="1239" y="70"/>
                      <a:pt x="1190" y="92"/>
                    </a:cubicBezTo>
                    <a:cubicBezTo>
                      <a:pt x="1141" y="114"/>
                      <a:pt x="1080" y="146"/>
                      <a:pt x="1018" y="174"/>
                    </a:cubicBezTo>
                    <a:cubicBezTo>
                      <a:pt x="956" y="202"/>
                      <a:pt x="899" y="231"/>
                      <a:pt x="818" y="258"/>
                    </a:cubicBezTo>
                    <a:cubicBezTo>
                      <a:pt x="737" y="285"/>
                      <a:pt x="632" y="312"/>
                      <a:pt x="532" y="334"/>
                    </a:cubicBezTo>
                    <a:cubicBezTo>
                      <a:pt x="432" y="356"/>
                      <a:pt x="307" y="377"/>
                      <a:pt x="218" y="390"/>
                    </a:cubicBezTo>
                    <a:cubicBezTo>
                      <a:pt x="129" y="403"/>
                      <a:pt x="45" y="406"/>
                      <a:pt x="0" y="410"/>
                    </a:cubicBezTo>
                  </a:path>
                </a:pathLst>
              </a:custGeom>
              <a:noFill/>
              <a:ln w="19050" cap="flat" cmpd="sng">
                <a:solidFill>
                  <a:srgbClr val="000099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73344" name="Group 160"/>
            <p:cNvGrpSpPr>
              <a:grpSpLocks/>
            </p:cNvGrpSpPr>
            <p:nvPr/>
          </p:nvGrpSpPr>
          <p:grpSpPr bwMode="auto">
            <a:xfrm>
              <a:off x="4104" y="2009"/>
              <a:ext cx="694" cy="445"/>
              <a:chOff x="4137" y="519"/>
              <a:chExt cx="694" cy="445"/>
            </a:xfrm>
          </p:grpSpPr>
          <p:grpSp>
            <p:nvGrpSpPr>
              <p:cNvPr id="1373345" name="Group 161"/>
              <p:cNvGrpSpPr>
                <a:grpSpLocks/>
              </p:cNvGrpSpPr>
              <p:nvPr/>
            </p:nvGrpSpPr>
            <p:grpSpPr bwMode="auto">
              <a:xfrm>
                <a:off x="4137" y="803"/>
                <a:ext cx="682" cy="161"/>
                <a:chOff x="4012" y="1676"/>
                <a:chExt cx="691" cy="138"/>
              </a:xfrm>
            </p:grpSpPr>
            <p:sp>
              <p:nvSpPr>
                <p:cNvPr id="1373346" name="Line 162"/>
                <p:cNvSpPr>
                  <a:spLocks noChangeShapeType="1"/>
                </p:cNvSpPr>
                <p:nvPr/>
              </p:nvSpPr>
              <p:spPr bwMode="auto">
                <a:xfrm>
                  <a:off x="4012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47" name="Line 163"/>
                <p:cNvSpPr>
                  <a:spLocks noChangeShapeType="1"/>
                </p:cNvSpPr>
                <p:nvPr/>
              </p:nvSpPr>
              <p:spPr bwMode="auto">
                <a:xfrm>
                  <a:off x="4095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48" name="Line 164"/>
                <p:cNvSpPr>
                  <a:spLocks noChangeShapeType="1"/>
                </p:cNvSpPr>
                <p:nvPr/>
              </p:nvSpPr>
              <p:spPr bwMode="auto">
                <a:xfrm>
                  <a:off x="4178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49" name="Line 165"/>
                <p:cNvSpPr>
                  <a:spLocks noChangeShapeType="1"/>
                </p:cNvSpPr>
                <p:nvPr/>
              </p:nvSpPr>
              <p:spPr bwMode="auto">
                <a:xfrm>
                  <a:off x="4261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50" name="Line 166"/>
                <p:cNvSpPr>
                  <a:spLocks noChangeShapeType="1"/>
                </p:cNvSpPr>
                <p:nvPr/>
              </p:nvSpPr>
              <p:spPr bwMode="auto">
                <a:xfrm>
                  <a:off x="4344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51" name="Line 167"/>
                <p:cNvSpPr>
                  <a:spLocks noChangeShapeType="1"/>
                </p:cNvSpPr>
                <p:nvPr/>
              </p:nvSpPr>
              <p:spPr bwMode="auto">
                <a:xfrm>
                  <a:off x="4427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52" name="Line 168"/>
                <p:cNvSpPr>
                  <a:spLocks noChangeShapeType="1"/>
                </p:cNvSpPr>
                <p:nvPr/>
              </p:nvSpPr>
              <p:spPr bwMode="auto">
                <a:xfrm>
                  <a:off x="4509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53" name="Line 169"/>
                <p:cNvSpPr>
                  <a:spLocks noChangeShapeType="1"/>
                </p:cNvSpPr>
                <p:nvPr/>
              </p:nvSpPr>
              <p:spPr bwMode="auto">
                <a:xfrm>
                  <a:off x="4613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373354" name="Line 170"/>
                <p:cNvSpPr>
                  <a:spLocks noChangeShapeType="1"/>
                </p:cNvSpPr>
                <p:nvPr/>
              </p:nvSpPr>
              <p:spPr bwMode="auto">
                <a:xfrm>
                  <a:off x="4703" y="1676"/>
                  <a:ext cx="0" cy="13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373355" name="Line 171"/>
              <p:cNvSpPr>
                <a:spLocks noChangeShapeType="1"/>
              </p:cNvSpPr>
              <p:nvPr/>
            </p:nvSpPr>
            <p:spPr bwMode="auto">
              <a:xfrm>
                <a:off x="4137" y="709"/>
                <a:ext cx="691" cy="0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73356" name="Line 172"/>
              <p:cNvSpPr>
                <a:spLocks noChangeShapeType="1"/>
              </p:cNvSpPr>
              <p:nvPr/>
            </p:nvSpPr>
            <p:spPr bwMode="auto">
              <a:xfrm>
                <a:off x="4137" y="626"/>
                <a:ext cx="0" cy="139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373357" name="Object 17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7969141"/>
                  </p:ext>
                </p:extLst>
              </p:nvPr>
            </p:nvGraphicFramePr>
            <p:xfrm>
              <a:off x="4401" y="519"/>
              <a:ext cx="16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3571" name="公式" r:id="rId5" imgW="126720" imgH="177480" progId="Equation.3">
                      <p:embed/>
                    </p:oleObj>
                  </mc:Choice>
                  <mc:Fallback>
                    <p:oleObj name="公式" r:id="rId5" imgW="126720" imgH="177480" progId="Equation.3">
                      <p:embed/>
                      <p:pic>
                        <p:nvPicPr>
                          <p:cNvPr id="0" name="Object 1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1" y="519"/>
                            <a:ext cx="16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73358" name="Line 174"/>
              <p:cNvSpPr>
                <a:spLocks noChangeShapeType="1"/>
              </p:cNvSpPr>
              <p:nvPr/>
            </p:nvSpPr>
            <p:spPr bwMode="auto">
              <a:xfrm>
                <a:off x="4831" y="630"/>
                <a:ext cx="0" cy="139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73359" name="Text Box 175"/>
            <p:cNvSpPr txBox="1">
              <a:spLocks noChangeArrowheads="1"/>
            </p:cNvSpPr>
            <p:nvPr/>
          </p:nvSpPr>
          <p:spPr bwMode="auto">
            <a:xfrm>
              <a:off x="3711" y="290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成层</a:t>
              </a:r>
            </a:p>
          </p:txBody>
        </p:sp>
        <p:sp>
          <p:nvSpPr>
            <p:cNvPr id="1373360" name="Line 176"/>
            <p:cNvSpPr>
              <a:spLocks noChangeShapeType="1"/>
            </p:cNvSpPr>
            <p:nvPr/>
          </p:nvSpPr>
          <p:spPr bwMode="auto">
            <a:xfrm flipH="1" flipV="1">
              <a:off x="4129" y="3057"/>
              <a:ext cx="151" cy="67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3361" name="Text Box 177"/>
            <p:cNvSpPr txBox="1">
              <a:spLocks noChangeArrowheads="1"/>
            </p:cNvSpPr>
            <p:nvPr/>
          </p:nvSpPr>
          <p:spPr bwMode="auto">
            <a:xfrm>
              <a:off x="4797" y="2851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均匀</a:t>
              </a:r>
            </a:p>
          </p:txBody>
        </p:sp>
        <p:sp>
          <p:nvSpPr>
            <p:cNvPr id="1373362" name="Line 178"/>
            <p:cNvSpPr>
              <a:spLocks noChangeShapeType="1"/>
            </p:cNvSpPr>
            <p:nvPr/>
          </p:nvSpPr>
          <p:spPr bwMode="auto">
            <a:xfrm flipV="1">
              <a:off x="4598" y="3001"/>
              <a:ext cx="230" cy="77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3363" name="Text Box 179"/>
          <p:cNvSpPr txBox="1">
            <a:spLocks noChangeArrowheads="1"/>
          </p:cNvSpPr>
          <p:nvPr/>
        </p:nvSpPr>
        <p:spPr bwMode="auto">
          <a:xfrm>
            <a:off x="2365375" y="5822950"/>
            <a:ext cx="5911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影响土中应力分布的因素</a:t>
            </a:r>
          </a:p>
        </p:txBody>
      </p:sp>
      <p:sp>
        <p:nvSpPr>
          <p:cNvPr id="82" name="Text Box 7"/>
          <p:cNvSpPr txBox="1">
            <a:spLocks noChangeArrowheads="1"/>
          </p:cNvSpPr>
          <p:nvPr/>
        </p:nvSpPr>
        <p:spPr bwMode="auto">
          <a:xfrm>
            <a:off x="-1" y="0"/>
            <a:ext cx="42195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71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37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73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73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73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7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137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73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73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73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286" grpId="0"/>
      <p:bldP spid="1373287" grpId="0"/>
      <p:bldP spid="137328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75" name="Rectangle 67"/>
          <p:cNvSpPr>
            <a:spLocks noChangeArrowheads="1"/>
          </p:cNvSpPr>
          <p:nvPr/>
        </p:nvSpPr>
        <p:spPr bwMode="auto">
          <a:xfrm>
            <a:off x="626488" y="659063"/>
            <a:ext cx="38766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非线性和弹塑性</a:t>
            </a:r>
          </a:p>
        </p:txBody>
      </p:sp>
      <p:sp>
        <p:nvSpPr>
          <p:cNvPr id="1374276" name="Text Box 68"/>
          <p:cNvSpPr txBox="1">
            <a:spLocks noChangeArrowheads="1"/>
          </p:cNvSpPr>
          <p:nvPr/>
        </p:nvSpPr>
        <p:spPr bwMode="auto">
          <a:xfrm>
            <a:off x="2253488" y="5751763"/>
            <a:ext cx="59610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影响土中应力分布的因素</a:t>
            </a:r>
          </a:p>
        </p:txBody>
      </p:sp>
      <p:sp>
        <p:nvSpPr>
          <p:cNvPr id="1374277" name="Text Box 69"/>
          <p:cNvSpPr txBox="1">
            <a:spLocks noChangeArrowheads="1"/>
          </p:cNvSpPr>
          <p:nvPr/>
        </p:nvSpPr>
        <p:spPr bwMode="auto">
          <a:xfrm>
            <a:off x="1120200" y="1128963"/>
            <a:ext cx="49720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对竖直应力计算值的影响不大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对水平应力有显著影响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374278" name="Rectangle 70"/>
          <p:cNvSpPr>
            <a:spLocks noChangeArrowheads="1"/>
          </p:cNvSpPr>
          <p:nvPr/>
        </p:nvSpPr>
        <p:spPr bwMode="auto">
          <a:xfrm>
            <a:off x="643950" y="2254500"/>
            <a:ext cx="53244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变形模量随深度增大的地基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4279" name="Text Box 71"/>
          <p:cNvSpPr txBox="1">
            <a:spLocks noChangeArrowheads="1"/>
          </p:cNvSpPr>
          <p:nvPr/>
        </p:nvSpPr>
        <p:spPr bwMode="auto">
          <a:xfrm>
            <a:off x="1101150" y="2718050"/>
            <a:ext cx="70659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是一种连续非均质现象，在砂土地基中尤为常见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使应力向应力的作用线附近集中</a:t>
            </a:r>
          </a:p>
        </p:txBody>
      </p:sp>
      <p:sp>
        <p:nvSpPr>
          <p:cNvPr id="1374280" name="Rectangle 72"/>
          <p:cNvSpPr>
            <a:spLocks noChangeArrowheads="1"/>
          </p:cNvSpPr>
          <p:nvPr/>
        </p:nvSpPr>
        <p:spPr bwMode="auto">
          <a:xfrm>
            <a:off x="1118613" y="4369050"/>
            <a:ext cx="794226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&lt;1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相对较小，不利于应力扩散  应力集中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20000"/>
              <a:buFontTx/>
              <a:buChar char="•"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&gt;1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相对较大，有利于应力扩散  应力扩散</a:t>
            </a:r>
          </a:p>
        </p:txBody>
      </p:sp>
      <p:sp>
        <p:nvSpPr>
          <p:cNvPr id="1374281" name="Rectangle 73"/>
          <p:cNvSpPr>
            <a:spLocks noChangeArrowheads="1"/>
          </p:cNvSpPr>
          <p:nvPr/>
        </p:nvSpPr>
        <p:spPr bwMode="auto">
          <a:xfrm>
            <a:off x="659825" y="3884863"/>
            <a:ext cx="5324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各向异性地基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1" y="0"/>
            <a:ext cx="42195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影响因素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37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137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7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74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74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4275" grpId="0"/>
      <p:bldP spid="1374277" grpId="0"/>
      <p:bldP spid="1374278" grpId="0"/>
      <p:bldP spid="1374279" grpId="0"/>
      <p:bldP spid="1374280" grpId="0" build="p" autoUpdateAnimBg="0"/>
      <p:bldP spid="137428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312" name="AutoShape 80"/>
          <p:cNvSpPr>
            <a:spLocks noChangeArrowheads="1"/>
          </p:cNvSpPr>
          <p:nvPr/>
        </p:nvSpPr>
        <p:spPr bwMode="auto">
          <a:xfrm>
            <a:off x="3370263" y="3932938"/>
            <a:ext cx="3287712" cy="51276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7200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矩形面积水平均布荷载</a:t>
            </a:r>
          </a:p>
        </p:txBody>
      </p:sp>
      <p:sp>
        <p:nvSpPr>
          <p:cNvPr id="1375313" name="AutoShape 81"/>
          <p:cNvSpPr>
            <a:spLocks noChangeArrowheads="1"/>
          </p:cNvSpPr>
          <p:nvPr/>
        </p:nvSpPr>
        <p:spPr bwMode="auto">
          <a:xfrm>
            <a:off x="5445125" y="2692275"/>
            <a:ext cx="3240088" cy="5127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7200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条形面积竖直均布荷载</a:t>
            </a:r>
          </a:p>
        </p:txBody>
      </p:sp>
      <p:sp>
        <p:nvSpPr>
          <p:cNvPr id="1375314" name="Text Box 82"/>
          <p:cNvSpPr txBox="1">
            <a:spLocks noChangeArrowheads="1"/>
          </p:cNvSpPr>
          <p:nvPr/>
        </p:nvSpPr>
        <p:spPr bwMode="auto">
          <a:xfrm>
            <a:off x="717550" y="1587375"/>
            <a:ext cx="914400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竖直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集中力</a:t>
            </a:r>
          </a:p>
        </p:txBody>
      </p:sp>
      <p:sp>
        <p:nvSpPr>
          <p:cNvPr id="1375315" name="Text Box 83"/>
          <p:cNvSpPr txBox="1">
            <a:spLocks noChangeArrowheads="1"/>
          </p:cNvSpPr>
          <p:nvPr/>
        </p:nvSpPr>
        <p:spPr bwMode="auto">
          <a:xfrm>
            <a:off x="2252663" y="1063500"/>
            <a:ext cx="1195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面积分</a:t>
            </a:r>
          </a:p>
        </p:txBody>
      </p:sp>
      <p:sp>
        <p:nvSpPr>
          <p:cNvPr id="1375316" name="Text Box 84"/>
          <p:cNvSpPr txBox="1">
            <a:spLocks noChangeArrowheads="1"/>
          </p:cNvSpPr>
          <p:nvPr/>
        </p:nvSpPr>
        <p:spPr bwMode="auto">
          <a:xfrm>
            <a:off x="2152650" y="2444625"/>
            <a:ext cx="2022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线积分：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竖直线布荷载</a:t>
            </a:r>
          </a:p>
        </p:txBody>
      </p:sp>
      <p:sp>
        <p:nvSpPr>
          <p:cNvPr id="1375317" name="AutoShape 85"/>
          <p:cNvSpPr>
            <a:spLocks/>
          </p:cNvSpPr>
          <p:nvPr/>
        </p:nvSpPr>
        <p:spPr bwMode="auto">
          <a:xfrm>
            <a:off x="1739900" y="1246063"/>
            <a:ext cx="395288" cy="1736725"/>
          </a:xfrm>
          <a:prstGeom prst="leftBrace">
            <a:avLst>
              <a:gd name="adj1" fmla="val 36613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5318" name="AutoShape 86"/>
          <p:cNvSpPr>
            <a:spLocks/>
          </p:cNvSpPr>
          <p:nvPr/>
        </p:nvSpPr>
        <p:spPr bwMode="auto">
          <a:xfrm>
            <a:off x="3495675" y="761875"/>
            <a:ext cx="395288" cy="1157288"/>
          </a:xfrm>
          <a:prstGeom prst="leftBrace">
            <a:avLst>
              <a:gd name="adj1" fmla="val 24398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5319" name="Text Box 87"/>
          <p:cNvSpPr txBox="1">
            <a:spLocks noChangeArrowheads="1"/>
          </p:cNvSpPr>
          <p:nvPr/>
        </p:nvSpPr>
        <p:spPr bwMode="auto">
          <a:xfrm>
            <a:off x="3975100" y="487238"/>
            <a:ext cx="355441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矩形面积竖直三角形荷载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圆形面积竖直均布荷载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矩形面积竖直均布荷载</a:t>
            </a:r>
          </a:p>
        </p:txBody>
      </p:sp>
      <p:sp>
        <p:nvSpPr>
          <p:cNvPr id="1375320" name="Freeform 88"/>
          <p:cNvSpPr>
            <a:spLocks/>
          </p:cNvSpPr>
          <p:nvPr/>
        </p:nvSpPr>
        <p:spPr bwMode="auto">
          <a:xfrm flipV="1">
            <a:off x="4192588" y="2962150"/>
            <a:ext cx="1050925" cy="42863"/>
          </a:xfrm>
          <a:custGeom>
            <a:avLst/>
            <a:gdLst>
              <a:gd name="T0" fmla="*/ 0 w 383"/>
              <a:gd name="T1" fmla="*/ 0 h 1"/>
              <a:gd name="T2" fmla="*/ 383 w 38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3" h="1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5715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5321" name="Text Box 89"/>
          <p:cNvSpPr txBox="1">
            <a:spLocks noChangeArrowheads="1"/>
          </p:cNvSpPr>
          <p:nvPr/>
        </p:nvSpPr>
        <p:spPr bwMode="auto">
          <a:xfrm>
            <a:off x="4033838" y="2330325"/>
            <a:ext cx="1509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宽度积分</a:t>
            </a:r>
          </a:p>
        </p:txBody>
      </p:sp>
      <p:sp>
        <p:nvSpPr>
          <p:cNvPr id="1375322" name="Text Box 90"/>
          <p:cNvSpPr txBox="1">
            <a:spLocks noChangeArrowheads="1"/>
          </p:cNvSpPr>
          <p:nvPr/>
        </p:nvSpPr>
        <p:spPr bwMode="auto">
          <a:xfrm>
            <a:off x="7677150" y="1923925"/>
            <a:ext cx="1002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l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/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b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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10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5323" name="Freeform 91"/>
          <p:cNvSpPr>
            <a:spLocks/>
          </p:cNvSpPr>
          <p:nvPr/>
        </p:nvSpPr>
        <p:spPr bwMode="auto">
          <a:xfrm rot="16200000" flipH="1">
            <a:off x="6915151" y="1984250"/>
            <a:ext cx="1035050" cy="409575"/>
          </a:xfrm>
          <a:custGeom>
            <a:avLst/>
            <a:gdLst>
              <a:gd name="T0" fmla="*/ 0 w 682"/>
              <a:gd name="T1" fmla="*/ 0 h 278"/>
              <a:gd name="T2" fmla="*/ 0 w 682"/>
              <a:gd name="T3" fmla="*/ 278 h 278"/>
              <a:gd name="T4" fmla="*/ 682 w 682"/>
              <a:gd name="T5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2" h="278">
                <a:moveTo>
                  <a:pt x="0" y="0"/>
                </a:moveTo>
                <a:lnTo>
                  <a:pt x="0" y="278"/>
                </a:lnTo>
                <a:lnTo>
                  <a:pt x="682" y="278"/>
                </a:lnTo>
              </a:path>
            </a:pathLst>
          </a:custGeom>
          <a:noFill/>
          <a:ln w="3810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5324" name="Text Box 92"/>
          <p:cNvSpPr txBox="1">
            <a:spLocks noChangeArrowheads="1"/>
          </p:cNvSpPr>
          <p:nvPr/>
        </p:nvSpPr>
        <p:spPr bwMode="auto">
          <a:xfrm>
            <a:off x="741363" y="3558288"/>
            <a:ext cx="914400" cy="1119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水平</a:t>
            </a:r>
            <a:b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</a:b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集中力</a:t>
            </a:r>
          </a:p>
        </p:txBody>
      </p:sp>
      <p:sp>
        <p:nvSpPr>
          <p:cNvPr id="1375325" name="Freeform 93"/>
          <p:cNvSpPr>
            <a:spLocks/>
          </p:cNvSpPr>
          <p:nvPr/>
        </p:nvSpPr>
        <p:spPr bwMode="auto">
          <a:xfrm flipV="1">
            <a:off x="2060575" y="4201225"/>
            <a:ext cx="1050925" cy="42863"/>
          </a:xfrm>
          <a:custGeom>
            <a:avLst/>
            <a:gdLst>
              <a:gd name="T0" fmla="*/ 0 w 383"/>
              <a:gd name="T1" fmla="*/ 0 h 1"/>
              <a:gd name="T2" fmla="*/ 383 w 38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3" h="1">
                <a:moveTo>
                  <a:pt x="0" y="0"/>
                </a:moveTo>
                <a:lnTo>
                  <a:pt x="383" y="0"/>
                </a:lnTo>
              </a:path>
            </a:pathLst>
          </a:custGeom>
          <a:noFill/>
          <a:ln w="57150" cmpd="sng">
            <a:solidFill>
              <a:srgbClr val="A5002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5326" name="Text Box 94"/>
          <p:cNvSpPr txBox="1">
            <a:spLocks noChangeArrowheads="1"/>
          </p:cNvSpPr>
          <p:nvPr/>
        </p:nvSpPr>
        <p:spPr bwMode="auto">
          <a:xfrm>
            <a:off x="2027238" y="3621788"/>
            <a:ext cx="1195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面积分</a:t>
            </a:r>
          </a:p>
        </p:txBody>
      </p:sp>
      <p:sp>
        <p:nvSpPr>
          <p:cNvPr id="1375327" name="AutoShape 95"/>
          <p:cNvSpPr>
            <a:spLocks noChangeArrowheads="1"/>
          </p:cNvSpPr>
          <p:nvPr/>
        </p:nvSpPr>
        <p:spPr bwMode="auto">
          <a:xfrm>
            <a:off x="2473325" y="4784725"/>
            <a:ext cx="669925" cy="487363"/>
          </a:xfrm>
          <a:prstGeom prst="homePlate">
            <a:avLst>
              <a:gd name="adj" fmla="val 3436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5328" name="Text Box 96"/>
          <p:cNvSpPr txBox="1">
            <a:spLocks noChangeArrowheads="1"/>
          </p:cNvSpPr>
          <p:nvPr/>
        </p:nvSpPr>
        <p:spPr bwMode="auto">
          <a:xfrm>
            <a:off x="3303588" y="4643438"/>
            <a:ext cx="5421312" cy="933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满足叠加原理，可对各种特殊荷载和面积进行</a:t>
            </a:r>
            <a:r>
              <a:rPr kumimoji="1" lang="zh-CN" altLang="en-US" sz="24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分解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和</a:t>
            </a:r>
            <a:r>
              <a:rPr kumimoji="1" lang="zh-CN" altLang="en-US" sz="24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组合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，利用已知解求解</a:t>
            </a:r>
          </a:p>
        </p:txBody>
      </p:sp>
      <p:sp>
        <p:nvSpPr>
          <p:cNvPr id="1375329" name="Text Box 97"/>
          <p:cNvSpPr txBox="1">
            <a:spLocks noChangeArrowheads="1"/>
          </p:cNvSpPr>
          <p:nvPr/>
        </p:nvSpPr>
        <p:spPr bwMode="auto">
          <a:xfrm>
            <a:off x="3396863" y="5793800"/>
            <a:ext cx="23479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小   </a:t>
            </a: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结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1" y="0"/>
            <a:ext cx="40227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附加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应力计算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总结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7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37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37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37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37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37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1000"/>
                                        <p:tgtEl>
                                          <p:spTgt spid="137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1000"/>
                                        <p:tgtEl>
                                          <p:spTgt spid="137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1375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1375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1375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44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37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37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1000"/>
                                        <p:tgtEl>
                                          <p:spTgt spid="137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1000"/>
                                        <p:tgtEl>
                                          <p:spTgt spid="137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1000"/>
                                        <p:tgtEl>
                                          <p:spTgt spid="137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5" dur="80"/>
                                        <p:tgtEl>
                                          <p:spTgt spid="1375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6" dur="80"/>
                                        <p:tgtEl>
                                          <p:spTgt spid="1375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80"/>
                                        <p:tgtEl>
                                          <p:spTgt spid="1375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7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375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375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5312" grpId="0"/>
      <p:bldP spid="1375313" grpId="0"/>
      <p:bldP spid="1375314" grpId="0"/>
      <p:bldP spid="1375315" grpId="0"/>
      <p:bldP spid="1375316" grpId="0"/>
      <p:bldP spid="1375317" grpId="0" animBg="1"/>
      <p:bldP spid="1375318" grpId="0" animBg="1"/>
      <p:bldP spid="1375319" grpId="0"/>
      <p:bldP spid="1375320" grpId="0" animBg="1"/>
      <p:bldP spid="1375321" grpId="0"/>
      <p:bldP spid="1375322" grpId="0"/>
      <p:bldP spid="1375323" grpId="0" animBg="1"/>
      <p:bldP spid="1375324" grpId="0"/>
      <p:bldP spid="1375325" grpId="0" animBg="1"/>
      <p:bldP spid="1375326" grpId="0"/>
      <p:bldP spid="1375327" grpId="0" animBg="1"/>
      <p:bldP spid="13753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23438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原理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3908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5"/>
          <p:cNvSpPr txBox="1">
            <a:spLocks noChangeArrowheads="1"/>
          </p:cNvSpPr>
          <p:nvPr/>
        </p:nvSpPr>
        <p:spPr bwMode="auto">
          <a:xfrm>
            <a:off x="1813048" y="1752035"/>
            <a:ext cx="553777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一维渗流固结模型及孔压系数</a:t>
            </a: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4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三轴应力条件下的孔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压系数</a:t>
            </a:r>
            <a:endParaRPr kumimoji="1"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4" name="Text Box 42"/>
          <p:cNvSpPr txBox="1">
            <a:spLocks noChangeArrowheads="1"/>
          </p:cNvSpPr>
          <p:nvPr/>
        </p:nvSpPr>
        <p:spPr bwMode="auto">
          <a:xfrm>
            <a:off x="1895475" y="5708126"/>
            <a:ext cx="64389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411163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82232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235075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646238" defTabSz="822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超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静孔隙水压力与孔压系数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-3925" y="0"/>
            <a:ext cx="44902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静孔隙水压力与孔压系数</a:t>
            </a: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0741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236" name="Rectangle 20"/>
          <p:cNvSpPr>
            <a:spLocks noChangeArrowheads="1"/>
          </p:cNvSpPr>
          <p:nvPr/>
        </p:nvSpPr>
        <p:spPr bwMode="auto">
          <a:xfrm>
            <a:off x="2709426" y="5795200"/>
            <a:ext cx="5003592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附加有效应力计算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417237" name="Rectangle 21"/>
          <p:cNvSpPr>
            <a:spLocks noChangeArrowheads="1"/>
          </p:cNvSpPr>
          <p:nvPr/>
        </p:nvSpPr>
        <p:spPr bwMode="auto">
          <a:xfrm>
            <a:off x="5867400" y="1139825"/>
            <a:ext cx="26574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几种简单的情形：</a:t>
            </a:r>
          </a:p>
          <a:p>
            <a:pPr marL="457200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侧限应力状态</a:t>
            </a:r>
          </a:p>
          <a:p>
            <a:pPr marL="457200" indent="-45720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三轴应力状态</a:t>
            </a:r>
          </a:p>
        </p:txBody>
      </p:sp>
      <p:sp>
        <p:nvSpPr>
          <p:cNvPr id="1417239" name="AutoShape 23"/>
          <p:cNvSpPr>
            <a:spLocks noChangeArrowheads="1"/>
          </p:cNvSpPr>
          <p:nvPr/>
        </p:nvSpPr>
        <p:spPr bwMode="auto">
          <a:xfrm>
            <a:off x="2019300" y="1833563"/>
            <a:ext cx="1998663" cy="49212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kumimoji="1"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</a:p>
        </p:txBody>
      </p:sp>
      <p:sp>
        <p:nvSpPr>
          <p:cNvPr id="1417240" name="AutoShape 24"/>
          <p:cNvSpPr>
            <a:spLocks noChangeArrowheads="1"/>
          </p:cNvSpPr>
          <p:nvPr/>
        </p:nvSpPr>
        <p:spPr bwMode="auto">
          <a:xfrm>
            <a:off x="469900" y="4046538"/>
            <a:ext cx="2265363" cy="1227137"/>
          </a:xfrm>
          <a:prstGeom prst="octagon">
            <a:avLst>
              <a:gd name="adj" fmla="val 29287"/>
            </a:avLst>
          </a:prstGeom>
          <a:noFill/>
          <a:ln w="19050" algn="ctr">
            <a:solidFill>
              <a:srgbClr val="00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土骨架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kumimoji="1" lang="zh-CN" altLang="en-US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endParaRPr kumimoji="1" lang="en-US" altLang="en-US" sz="2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17241" name="AutoShape 25"/>
          <p:cNvSpPr>
            <a:spLocks noChangeArrowheads="1"/>
          </p:cNvSpPr>
          <p:nvPr/>
        </p:nvSpPr>
        <p:spPr bwMode="auto">
          <a:xfrm>
            <a:off x="3382963" y="4046538"/>
            <a:ext cx="2160587" cy="1227137"/>
          </a:xfrm>
          <a:prstGeom prst="octagon">
            <a:avLst>
              <a:gd name="adj" fmla="val 29287"/>
            </a:avLst>
          </a:prstGeom>
          <a:noFill/>
          <a:ln w="19050" algn="ctr">
            <a:solidFill>
              <a:srgbClr val="00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孔隙水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孔隙压力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</a:p>
        </p:txBody>
      </p:sp>
      <p:sp>
        <p:nvSpPr>
          <p:cNvPr id="1417242" name="Rectangle 26"/>
          <p:cNvSpPr>
            <a:spLocks noChangeArrowheads="1"/>
          </p:cNvSpPr>
          <p:nvPr/>
        </p:nvSpPr>
        <p:spPr bwMode="auto">
          <a:xfrm>
            <a:off x="2271713" y="742950"/>
            <a:ext cx="1519237" cy="538163"/>
          </a:xfrm>
          <a:prstGeom prst="rect">
            <a:avLst/>
          </a:prstGeom>
          <a:noFill/>
          <a:ln w="19050" algn="ctr">
            <a:solidFill>
              <a:srgbClr val="000066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外荷载</a:t>
            </a:r>
          </a:p>
        </p:txBody>
      </p:sp>
      <p:sp>
        <p:nvSpPr>
          <p:cNvPr id="1417243" name="AutoShape 27"/>
          <p:cNvSpPr>
            <a:spLocks noChangeArrowheads="1"/>
          </p:cNvSpPr>
          <p:nvPr/>
        </p:nvSpPr>
        <p:spPr bwMode="auto">
          <a:xfrm>
            <a:off x="1544638" y="2919413"/>
            <a:ext cx="2954337" cy="49212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1000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土骨架＋孔隙水</a:t>
            </a:r>
            <a:endParaRPr kumimoji="1" lang="zh-CN" altLang="en-US" sz="2800" b="1" baseline="-2500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7244" name="AutoShape 28"/>
          <p:cNvSpPr>
            <a:spLocks noChangeArrowheads="1"/>
          </p:cNvSpPr>
          <p:nvPr/>
        </p:nvSpPr>
        <p:spPr bwMode="auto">
          <a:xfrm rot="5400000">
            <a:off x="2835276" y="1335087"/>
            <a:ext cx="387350" cy="485775"/>
          </a:xfrm>
          <a:prstGeom prst="homePlate">
            <a:avLst>
              <a:gd name="adj" fmla="val 32333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7245" name="AutoShape 29"/>
          <p:cNvSpPr>
            <a:spLocks noChangeArrowheads="1"/>
          </p:cNvSpPr>
          <p:nvPr/>
        </p:nvSpPr>
        <p:spPr bwMode="auto">
          <a:xfrm rot="5400000">
            <a:off x="2836863" y="2376487"/>
            <a:ext cx="387350" cy="485775"/>
          </a:xfrm>
          <a:prstGeom prst="homePlate">
            <a:avLst>
              <a:gd name="adj" fmla="val 32333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7246" name="AutoShape 30"/>
          <p:cNvSpPr>
            <a:spLocks noChangeArrowheads="1"/>
          </p:cNvSpPr>
          <p:nvPr/>
        </p:nvSpPr>
        <p:spPr bwMode="auto">
          <a:xfrm rot="5400000">
            <a:off x="1898651" y="3490912"/>
            <a:ext cx="387350" cy="485775"/>
          </a:xfrm>
          <a:prstGeom prst="homePlate">
            <a:avLst>
              <a:gd name="adj" fmla="val 32333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7247" name="AutoShape 31"/>
          <p:cNvSpPr>
            <a:spLocks noChangeArrowheads="1"/>
          </p:cNvSpPr>
          <p:nvPr/>
        </p:nvSpPr>
        <p:spPr bwMode="auto">
          <a:xfrm rot="5400000">
            <a:off x="3808413" y="3476625"/>
            <a:ext cx="387350" cy="485775"/>
          </a:xfrm>
          <a:prstGeom prst="homePlate">
            <a:avLst>
              <a:gd name="adj" fmla="val 32333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7248" name="AutoShape 32"/>
          <p:cNvSpPr>
            <a:spLocks noChangeArrowheads="1"/>
          </p:cNvSpPr>
          <p:nvPr/>
        </p:nvSpPr>
        <p:spPr bwMode="auto">
          <a:xfrm>
            <a:off x="5399088" y="4814888"/>
            <a:ext cx="863600" cy="271462"/>
          </a:xfrm>
          <a:prstGeom prst="rightArrow">
            <a:avLst>
              <a:gd name="adj1" fmla="val 50000"/>
              <a:gd name="adj2" fmla="val 79532"/>
            </a:avLst>
          </a:prstGeom>
          <a:solidFill>
            <a:srgbClr val="A50021"/>
          </a:solidFill>
          <a:ln w="25400" algn="ctr">
            <a:solidFill>
              <a:srgbClr val="A50021"/>
            </a:solidFill>
            <a:miter lim="800000"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7249" name="Text Box 33"/>
          <p:cNvSpPr txBox="1">
            <a:spLocks noChangeArrowheads="1"/>
          </p:cNvSpPr>
          <p:nvPr/>
        </p:nvSpPr>
        <p:spPr bwMode="auto">
          <a:xfrm>
            <a:off x="6445250" y="4516438"/>
            <a:ext cx="16287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超静孔隙水压力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-3925" y="0"/>
            <a:ext cx="449020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静孔隙水压力与孔压系数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1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500"/>
                                        <p:tgtEl>
                                          <p:spTgt spid="1417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500"/>
                                        <p:tgtEl>
                                          <p:spTgt spid="1417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/>
                                        <p:tgtEl>
                                          <p:spTgt spid="1417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27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1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1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500"/>
                                        <p:tgtEl>
                                          <p:spTgt spid="1417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500"/>
                                        <p:tgtEl>
                                          <p:spTgt spid="1417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/>
                                        <p:tgtEl>
                                          <p:spTgt spid="1417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41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500"/>
                                        <p:tgtEl>
                                          <p:spTgt spid="1417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500"/>
                                        <p:tgtEl>
                                          <p:spTgt spid="1417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/>
                                        <p:tgtEl>
                                          <p:spTgt spid="1417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41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500"/>
                                        <p:tgtEl>
                                          <p:spTgt spid="1417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500"/>
                                        <p:tgtEl>
                                          <p:spTgt spid="1417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500"/>
                                        <p:tgtEl>
                                          <p:spTgt spid="1417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41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141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17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17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17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7237" grpId="0"/>
      <p:bldP spid="1417239" grpId="0" animBg="1"/>
      <p:bldP spid="1417240" grpId="0" animBg="1"/>
      <p:bldP spid="1417241" grpId="0" animBg="1"/>
      <p:bldP spid="1417243" grpId="0" animBg="1"/>
      <p:bldP spid="1417244" grpId="0" animBg="1"/>
      <p:bldP spid="1417245" grpId="0" animBg="1"/>
      <p:bldP spid="1417246" grpId="0" animBg="1"/>
      <p:bldP spid="1417247" grpId="0" animBg="1"/>
      <p:bldP spid="1417248" grpId="0" animBg="1"/>
      <p:bldP spid="141724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238" name="Rectangle 46"/>
          <p:cNvSpPr>
            <a:spLocks noChangeArrowheads="1"/>
          </p:cNvSpPr>
          <p:nvPr/>
        </p:nvSpPr>
        <p:spPr bwMode="auto">
          <a:xfrm>
            <a:off x="0" y="1489075"/>
            <a:ext cx="9144000" cy="382746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6239" name="Rectangle 47"/>
          <p:cNvSpPr>
            <a:spLocks noChangeArrowheads="1"/>
          </p:cNvSpPr>
          <p:nvPr/>
        </p:nvSpPr>
        <p:spPr bwMode="auto">
          <a:xfrm>
            <a:off x="346075" y="668338"/>
            <a:ext cx="5364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侧限应力状态及一维渗流固结</a:t>
            </a:r>
          </a:p>
        </p:txBody>
      </p:sp>
      <p:sp>
        <p:nvSpPr>
          <p:cNvPr id="1416240" name="Rectangle 48"/>
          <p:cNvSpPr>
            <a:spLocks noChangeArrowheads="1"/>
          </p:cNvSpPr>
          <p:nvPr/>
        </p:nvSpPr>
        <p:spPr bwMode="auto">
          <a:xfrm>
            <a:off x="246063" y="1538288"/>
            <a:ext cx="4287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l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实践背景：大面积均布荷载</a:t>
            </a:r>
          </a:p>
        </p:txBody>
      </p:sp>
      <p:sp>
        <p:nvSpPr>
          <p:cNvPr id="1416241" name="AutoShape 49"/>
          <p:cNvSpPr>
            <a:spLocks noChangeArrowheads="1"/>
          </p:cNvSpPr>
          <p:nvPr/>
        </p:nvSpPr>
        <p:spPr bwMode="auto">
          <a:xfrm>
            <a:off x="4716463" y="2957513"/>
            <a:ext cx="679450" cy="714375"/>
          </a:xfrm>
          <a:prstGeom prst="rightArrow">
            <a:avLst>
              <a:gd name="adj1" fmla="val 47111"/>
              <a:gd name="adj2" fmla="val 4556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6242" name="Text Box 50"/>
          <p:cNvSpPr txBox="1">
            <a:spLocks noChangeArrowheads="1"/>
          </p:cNvSpPr>
          <p:nvPr/>
        </p:nvSpPr>
        <p:spPr bwMode="auto">
          <a:xfrm>
            <a:off x="5421313" y="1595438"/>
            <a:ext cx="27876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侧限状态的简化模型</a:t>
            </a:r>
            <a:endParaRPr kumimoji="1"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6243" name="Rectangle 51"/>
          <p:cNvSpPr>
            <a:spLocks noChangeArrowheads="1"/>
          </p:cNvSpPr>
          <p:nvPr/>
        </p:nvSpPr>
        <p:spPr bwMode="auto">
          <a:xfrm>
            <a:off x="2257425" y="5748338"/>
            <a:ext cx="5781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侧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限压缩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1416244" name="Group 52"/>
          <p:cNvGrpSpPr>
            <a:grpSpLocks/>
          </p:cNvGrpSpPr>
          <p:nvPr/>
        </p:nvGrpSpPr>
        <p:grpSpPr bwMode="auto">
          <a:xfrm>
            <a:off x="487363" y="1943100"/>
            <a:ext cx="3657600" cy="2576513"/>
            <a:chOff x="307" y="1254"/>
            <a:chExt cx="2285" cy="1623"/>
          </a:xfrm>
        </p:grpSpPr>
        <p:grpSp>
          <p:nvGrpSpPr>
            <p:cNvPr id="1416245" name="Group 53"/>
            <p:cNvGrpSpPr>
              <a:grpSpLocks/>
            </p:cNvGrpSpPr>
            <p:nvPr/>
          </p:nvGrpSpPr>
          <p:grpSpPr bwMode="auto">
            <a:xfrm>
              <a:off x="1192" y="1566"/>
              <a:ext cx="1067" cy="165"/>
              <a:chOff x="3544" y="1083"/>
              <a:chExt cx="1067" cy="165"/>
            </a:xfrm>
          </p:grpSpPr>
          <p:sp>
            <p:nvSpPr>
              <p:cNvPr id="1416246" name="Line 54"/>
              <p:cNvSpPr>
                <a:spLocks noChangeShapeType="1"/>
              </p:cNvSpPr>
              <p:nvPr/>
            </p:nvSpPr>
            <p:spPr bwMode="auto">
              <a:xfrm>
                <a:off x="3544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47" name="Line 55"/>
              <p:cNvSpPr>
                <a:spLocks noChangeShapeType="1"/>
              </p:cNvSpPr>
              <p:nvPr/>
            </p:nvSpPr>
            <p:spPr bwMode="auto">
              <a:xfrm>
                <a:off x="3663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48" name="Line 56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49" name="Line 57"/>
              <p:cNvSpPr>
                <a:spLocks noChangeShapeType="1"/>
              </p:cNvSpPr>
              <p:nvPr/>
            </p:nvSpPr>
            <p:spPr bwMode="auto">
              <a:xfrm>
                <a:off x="3900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0" name="Line 58"/>
              <p:cNvSpPr>
                <a:spLocks noChangeShapeType="1"/>
              </p:cNvSpPr>
              <p:nvPr/>
            </p:nvSpPr>
            <p:spPr bwMode="auto">
              <a:xfrm>
                <a:off x="4019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1" name="Line 59"/>
              <p:cNvSpPr>
                <a:spLocks noChangeShapeType="1"/>
              </p:cNvSpPr>
              <p:nvPr/>
            </p:nvSpPr>
            <p:spPr bwMode="auto">
              <a:xfrm>
                <a:off x="4136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2" name="Line 60"/>
              <p:cNvSpPr>
                <a:spLocks noChangeShapeType="1"/>
              </p:cNvSpPr>
              <p:nvPr/>
            </p:nvSpPr>
            <p:spPr bwMode="auto">
              <a:xfrm>
                <a:off x="4255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3" name="Line 61"/>
              <p:cNvSpPr>
                <a:spLocks noChangeShapeType="1"/>
              </p:cNvSpPr>
              <p:nvPr/>
            </p:nvSpPr>
            <p:spPr bwMode="auto">
              <a:xfrm>
                <a:off x="4374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4" name="Line 62"/>
              <p:cNvSpPr>
                <a:spLocks noChangeShapeType="1"/>
              </p:cNvSpPr>
              <p:nvPr/>
            </p:nvSpPr>
            <p:spPr bwMode="auto">
              <a:xfrm>
                <a:off x="4492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55" name="Line 63"/>
              <p:cNvSpPr>
                <a:spLocks noChangeShapeType="1"/>
              </p:cNvSpPr>
              <p:nvPr/>
            </p:nvSpPr>
            <p:spPr bwMode="auto">
              <a:xfrm>
                <a:off x="4611" y="1083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416256" name="Rectangle 64" descr="5%"/>
            <p:cNvSpPr>
              <a:spLocks noChangeArrowheads="1"/>
            </p:cNvSpPr>
            <p:nvPr/>
          </p:nvSpPr>
          <p:spPr bwMode="auto">
            <a:xfrm>
              <a:off x="911" y="1724"/>
              <a:ext cx="1681" cy="857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6257" name="Rectangle 65" descr="浅色横线"/>
            <p:cNvSpPr>
              <a:spLocks noChangeAspect="1" noChangeArrowheads="1"/>
            </p:cNvSpPr>
            <p:nvPr/>
          </p:nvSpPr>
          <p:spPr bwMode="auto">
            <a:xfrm>
              <a:off x="1290" y="1726"/>
              <a:ext cx="252" cy="854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rgbClr val="FFC58B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16258" name="Rectangle 66"/>
            <p:cNvSpPr>
              <a:spLocks noChangeArrowheads="1"/>
            </p:cNvSpPr>
            <p:nvPr/>
          </p:nvSpPr>
          <p:spPr bwMode="auto">
            <a:xfrm>
              <a:off x="1616" y="1254"/>
              <a:ext cx="2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16259" name="Text Box 67"/>
            <p:cNvSpPr txBox="1">
              <a:spLocks noChangeArrowheads="1"/>
            </p:cNvSpPr>
            <p:nvPr/>
          </p:nvSpPr>
          <p:spPr bwMode="auto">
            <a:xfrm>
              <a:off x="1446" y="1884"/>
              <a:ext cx="61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1416260" name="Line 68"/>
            <p:cNvSpPr>
              <a:spLocks noChangeShapeType="1"/>
            </p:cNvSpPr>
            <p:nvPr/>
          </p:nvSpPr>
          <p:spPr bwMode="auto">
            <a:xfrm>
              <a:off x="913" y="1723"/>
              <a:ext cx="16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61" name="Text Box 69"/>
            <p:cNvSpPr txBox="1">
              <a:spLocks noChangeArrowheads="1"/>
            </p:cNvSpPr>
            <p:nvPr/>
          </p:nvSpPr>
          <p:spPr bwMode="auto">
            <a:xfrm>
              <a:off x="871" y="1362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416262" name="Line 70"/>
            <p:cNvSpPr>
              <a:spLocks noChangeShapeType="1"/>
            </p:cNvSpPr>
            <p:nvPr/>
          </p:nvSpPr>
          <p:spPr bwMode="auto">
            <a:xfrm flipH="1">
              <a:off x="904" y="1633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63" name="Text Box 71"/>
            <p:cNvSpPr txBox="1">
              <a:spLocks noChangeArrowheads="1"/>
            </p:cNvSpPr>
            <p:nvPr/>
          </p:nvSpPr>
          <p:spPr bwMode="auto">
            <a:xfrm flipH="1">
              <a:off x="2321" y="1354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416264" name="Line 72"/>
            <p:cNvSpPr>
              <a:spLocks noChangeShapeType="1"/>
            </p:cNvSpPr>
            <p:nvPr/>
          </p:nvSpPr>
          <p:spPr bwMode="auto">
            <a:xfrm>
              <a:off x="2353" y="1625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65" name="Rectangle 73" descr="深色上对角线"/>
            <p:cNvSpPr>
              <a:spLocks noChangeArrowheads="1"/>
            </p:cNvSpPr>
            <p:nvPr/>
          </p:nvSpPr>
          <p:spPr bwMode="auto">
            <a:xfrm>
              <a:off x="911" y="2572"/>
              <a:ext cx="1680" cy="255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6266" name="Text Box 74"/>
            <p:cNvSpPr txBox="1">
              <a:spLocks noChangeArrowheads="1"/>
            </p:cNvSpPr>
            <p:nvPr/>
          </p:nvSpPr>
          <p:spPr bwMode="auto">
            <a:xfrm>
              <a:off x="307" y="2493"/>
              <a:ext cx="479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</a:t>
              </a:r>
              <a:b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岩层</a:t>
              </a:r>
            </a:p>
          </p:txBody>
        </p:sp>
        <p:sp>
          <p:nvSpPr>
            <p:cNvPr id="1416267" name="Text Box 75"/>
            <p:cNvSpPr txBox="1">
              <a:spLocks noChangeArrowheads="1"/>
            </p:cNvSpPr>
            <p:nvPr/>
          </p:nvSpPr>
          <p:spPr bwMode="auto">
            <a:xfrm>
              <a:off x="322" y="1892"/>
              <a:ext cx="48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饱和</a:t>
              </a:r>
              <a:b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压缩层</a:t>
              </a:r>
            </a:p>
          </p:txBody>
        </p:sp>
      </p:grpSp>
      <p:grpSp>
        <p:nvGrpSpPr>
          <p:cNvPr id="1416268" name="Group 76"/>
          <p:cNvGrpSpPr>
            <a:grpSpLocks/>
          </p:cNvGrpSpPr>
          <p:nvPr/>
        </p:nvGrpSpPr>
        <p:grpSpPr bwMode="auto">
          <a:xfrm>
            <a:off x="2635251" y="3227388"/>
            <a:ext cx="1595438" cy="852487"/>
            <a:chOff x="1660" y="2063"/>
            <a:chExt cx="1005" cy="537"/>
          </a:xfrm>
        </p:grpSpPr>
        <p:sp>
          <p:nvSpPr>
            <p:cNvPr id="1416269" name="AutoShape 77"/>
            <p:cNvSpPr>
              <a:spLocks noChangeArrowheads="1"/>
            </p:cNvSpPr>
            <p:nvPr/>
          </p:nvSpPr>
          <p:spPr bwMode="auto">
            <a:xfrm>
              <a:off x="2041" y="2368"/>
              <a:ext cx="197" cy="204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6270" name="Line 78"/>
            <p:cNvSpPr>
              <a:spLocks noChangeShapeType="1"/>
            </p:cNvSpPr>
            <p:nvPr/>
          </p:nvSpPr>
          <p:spPr bwMode="auto">
            <a:xfrm>
              <a:off x="2129" y="2224"/>
              <a:ext cx="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71" name="Text Box 79"/>
            <p:cNvSpPr txBox="1">
              <a:spLocks noChangeArrowheads="1"/>
            </p:cNvSpPr>
            <p:nvPr/>
          </p:nvSpPr>
          <p:spPr bwMode="auto">
            <a:xfrm>
              <a:off x="2137" y="206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>
                  <a:solidFill>
                    <a:srgbClr val="000066"/>
                  </a:solidFill>
                  <a:ea typeface="幼圆" pitchFamily="49" charset="-122"/>
                </a:rPr>
                <a:t>p</a:t>
              </a:r>
            </a:p>
          </p:txBody>
        </p:sp>
        <p:sp>
          <p:nvSpPr>
            <p:cNvPr id="1416272" name="Text Box 80"/>
            <p:cNvSpPr txBox="1">
              <a:spLocks noChangeArrowheads="1"/>
            </p:cNvSpPr>
            <p:nvPr/>
          </p:nvSpPr>
          <p:spPr bwMode="auto">
            <a:xfrm>
              <a:off x="2279" y="2323"/>
              <a:ext cx="38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20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6273" name="Line 81"/>
            <p:cNvSpPr>
              <a:spLocks noChangeShapeType="1"/>
            </p:cNvSpPr>
            <p:nvPr/>
          </p:nvSpPr>
          <p:spPr bwMode="auto">
            <a:xfrm flipH="1">
              <a:off x="2211" y="2461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74" name="Line 82"/>
            <p:cNvSpPr>
              <a:spLocks noChangeShapeType="1"/>
            </p:cNvSpPr>
            <p:nvPr/>
          </p:nvSpPr>
          <p:spPr bwMode="auto">
            <a:xfrm flipV="1">
              <a:off x="2009" y="2486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6275" name="Text Box 83"/>
            <p:cNvSpPr txBox="1">
              <a:spLocks noChangeArrowheads="1"/>
            </p:cNvSpPr>
            <p:nvPr/>
          </p:nvSpPr>
          <p:spPr bwMode="auto">
            <a:xfrm>
              <a:off x="1660" y="2348"/>
              <a:ext cx="38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20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1416276" name="Text Box 84"/>
          <p:cNvSpPr txBox="1">
            <a:spLocks noChangeArrowheads="1"/>
          </p:cNvSpPr>
          <p:nvPr/>
        </p:nvSpPr>
        <p:spPr bwMode="auto">
          <a:xfrm>
            <a:off x="1089025" y="4772025"/>
            <a:ext cx="511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土体不能发生侧向变形，称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侧限状态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416277" name="Group 85"/>
          <p:cNvGrpSpPr>
            <a:grpSpLocks/>
          </p:cNvGrpSpPr>
          <p:nvPr/>
        </p:nvGrpSpPr>
        <p:grpSpPr bwMode="auto">
          <a:xfrm>
            <a:off x="5964238" y="2003425"/>
            <a:ext cx="2820987" cy="2135188"/>
            <a:chOff x="3757" y="1252"/>
            <a:chExt cx="1777" cy="1345"/>
          </a:xfrm>
        </p:grpSpPr>
        <p:sp>
          <p:nvSpPr>
            <p:cNvPr id="1416278" name="Rectangle 86" descr="5%"/>
            <p:cNvSpPr>
              <a:spLocks noChangeArrowheads="1"/>
            </p:cNvSpPr>
            <p:nvPr/>
          </p:nvSpPr>
          <p:spPr bwMode="auto">
            <a:xfrm>
              <a:off x="3763" y="1728"/>
              <a:ext cx="894" cy="869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6279" name="Freeform 87"/>
            <p:cNvSpPr>
              <a:spLocks/>
            </p:cNvSpPr>
            <p:nvPr/>
          </p:nvSpPr>
          <p:spPr bwMode="auto">
            <a:xfrm>
              <a:off x="3757" y="1724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16280" name="Group 88"/>
            <p:cNvGrpSpPr>
              <a:grpSpLocks/>
            </p:cNvGrpSpPr>
            <p:nvPr/>
          </p:nvGrpSpPr>
          <p:grpSpPr bwMode="auto">
            <a:xfrm>
              <a:off x="3801" y="1559"/>
              <a:ext cx="822" cy="165"/>
              <a:chOff x="3525" y="969"/>
              <a:chExt cx="829" cy="165"/>
            </a:xfrm>
          </p:grpSpPr>
          <p:sp>
            <p:nvSpPr>
              <p:cNvPr id="1416281" name="Line 89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2" name="Line 90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3" name="Line 91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4" name="Line 92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5" name="Line 93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6" name="Line 94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7" name="Line 95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6288" name="Line 96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416289" name="Rectangle 97"/>
            <p:cNvSpPr>
              <a:spLocks noChangeArrowheads="1"/>
            </p:cNvSpPr>
            <p:nvPr/>
          </p:nvSpPr>
          <p:spPr bwMode="auto">
            <a:xfrm>
              <a:off x="4098" y="1252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16290" name="Text Box 98"/>
            <p:cNvSpPr txBox="1">
              <a:spLocks noChangeArrowheads="1"/>
            </p:cNvSpPr>
            <p:nvPr/>
          </p:nvSpPr>
          <p:spPr bwMode="auto">
            <a:xfrm>
              <a:off x="4860" y="2094"/>
              <a:ext cx="67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不变形的钢筒</a:t>
              </a:r>
            </a:p>
          </p:txBody>
        </p:sp>
        <p:sp>
          <p:nvSpPr>
            <p:cNvPr id="1416291" name="Line 99"/>
            <p:cNvSpPr>
              <a:spLocks noChangeShapeType="1"/>
            </p:cNvSpPr>
            <p:nvPr/>
          </p:nvSpPr>
          <p:spPr bwMode="auto">
            <a:xfrm flipV="1">
              <a:off x="4685" y="2297"/>
              <a:ext cx="168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模型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5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77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6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1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16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41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1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41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16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1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1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41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16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6238" grpId="0" animBg="1"/>
      <p:bldP spid="1416239" grpId="0" build="p" autoUpdateAnimBg="0" advAuto="0"/>
      <p:bldP spid="1416240" grpId="0" build="p" autoUpdateAnimBg="0"/>
      <p:bldP spid="1416241" grpId="0" animBg="1"/>
      <p:bldP spid="1416242" grpId="0"/>
      <p:bldP spid="141627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175" name="Rectangle 7"/>
          <p:cNvSpPr>
            <a:spLocks noChangeArrowheads="1"/>
          </p:cNvSpPr>
          <p:nvPr/>
        </p:nvSpPr>
        <p:spPr bwMode="auto">
          <a:xfrm>
            <a:off x="209550" y="1176338"/>
            <a:ext cx="8745538" cy="427196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415176" name="Rectangle 8"/>
          <p:cNvSpPr>
            <a:spLocks noChangeArrowheads="1"/>
          </p:cNvSpPr>
          <p:nvPr/>
        </p:nvSpPr>
        <p:spPr bwMode="auto">
          <a:xfrm>
            <a:off x="3633788" y="3816350"/>
            <a:ext cx="181451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钢筒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弹簧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水体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带孔活塞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活塞小孔大小</a:t>
            </a:r>
          </a:p>
        </p:txBody>
      </p:sp>
      <p:sp>
        <p:nvSpPr>
          <p:cNvPr id="1415177" name="Rectangle 9"/>
          <p:cNvSpPr>
            <a:spLocks noChangeArrowheads="1"/>
          </p:cNvSpPr>
          <p:nvPr/>
        </p:nvSpPr>
        <p:spPr bwMode="auto">
          <a:xfrm>
            <a:off x="6680200" y="4146550"/>
            <a:ext cx="1809750" cy="457200"/>
          </a:xfrm>
          <a:prstGeom prst="rect">
            <a:avLst/>
          </a:prstGeom>
          <a:solidFill>
            <a:srgbClr val="FFC58B"/>
          </a:solidFill>
          <a:ln w="31750">
            <a:solidFill>
              <a:srgbClr val="A50021"/>
            </a:solidFill>
            <a:prstDash val="sysDot"/>
            <a:miter lim="800000"/>
            <a:headEnd type="none" w="med" len="lg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渗透固结过程</a:t>
            </a:r>
          </a:p>
        </p:txBody>
      </p:sp>
      <p:grpSp>
        <p:nvGrpSpPr>
          <p:cNvPr id="1415178" name="Group 10"/>
          <p:cNvGrpSpPr>
            <a:grpSpLocks/>
          </p:cNvGrpSpPr>
          <p:nvPr/>
        </p:nvGrpSpPr>
        <p:grpSpPr bwMode="auto">
          <a:xfrm>
            <a:off x="6702425" y="2044700"/>
            <a:ext cx="1754188" cy="1844675"/>
            <a:chOff x="4222" y="1318"/>
            <a:chExt cx="1077" cy="1162"/>
          </a:xfrm>
        </p:grpSpPr>
        <p:sp>
          <p:nvSpPr>
            <p:cNvPr id="1415179" name="Rectangle 11"/>
            <p:cNvSpPr>
              <a:spLocks noChangeArrowheads="1"/>
            </p:cNvSpPr>
            <p:nvPr/>
          </p:nvSpPr>
          <p:spPr bwMode="auto">
            <a:xfrm>
              <a:off x="4335" y="1346"/>
              <a:ext cx="7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9933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初始状态</a:t>
              </a:r>
            </a:p>
          </p:txBody>
        </p:sp>
        <p:sp>
          <p:nvSpPr>
            <p:cNvPr id="1415180" name="Rectangle 12"/>
            <p:cNvSpPr>
              <a:spLocks noChangeArrowheads="1"/>
            </p:cNvSpPr>
            <p:nvPr/>
          </p:nvSpPr>
          <p:spPr bwMode="auto">
            <a:xfrm>
              <a:off x="4335" y="157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prstDash val="sysDot"/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边界条件</a:t>
              </a:r>
            </a:p>
          </p:txBody>
        </p:sp>
        <p:sp>
          <p:nvSpPr>
            <p:cNvPr id="1415181" name="Text Box 13"/>
            <p:cNvSpPr txBox="1">
              <a:spLocks noChangeArrowheads="1"/>
            </p:cNvSpPr>
            <p:nvPr/>
          </p:nvSpPr>
          <p:spPr bwMode="auto">
            <a:xfrm>
              <a:off x="4280" y="1856"/>
              <a:ext cx="98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相间相互作用</a:t>
              </a:r>
              <a:endPara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415182" name="AutoShape 14"/>
            <p:cNvSpPr>
              <a:spLocks noChangeArrowheads="1"/>
            </p:cNvSpPr>
            <p:nvPr/>
          </p:nvSpPr>
          <p:spPr bwMode="auto">
            <a:xfrm>
              <a:off x="4222" y="1318"/>
              <a:ext cx="1077" cy="1162"/>
            </a:xfrm>
            <a:prstGeom prst="downArrowCallout">
              <a:avLst>
                <a:gd name="adj1" fmla="val 25000"/>
                <a:gd name="adj2" fmla="val 25000"/>
                <a:gd name="adj3" fmla="val 17982"/>
                <a:gd name="adj4" fmla="val 66667"/>
              </a:avLst>
            </a:prstGeom>
            <a:noFill/>
            <a:ln w="38100" algn="ctr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1415183" name="Rectangle 15"/>
          <p:cNvSpPr>
            <a:spLocks noChangeArrowheads="1"/>
          </p:cNvSpPr>
          <p:nvPr/>
        </p:nvSpPr>
        <p:spPr bwMode="auto">
          <a:xfrm>
            <a:off x="393700" y="561975"/>
            <a:ext cx="6111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侧限应力状态 </a:t>
            </a:r>
            <a:r>
              <a:rPr kumimoji="1" lang="en-US" altLang="zh-CN" sz="2800" b="1" dirty="0">
                <a:solidFill>
                  <a:srgbClr val="A50021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太沙基渗压模型</a:t>
            </a:r>
            <a:endParaRPr kumimoji="1" lang="en-US" altLang="zh-CN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15185" name="Group 17"/>
          <p:cNvGrpSpPr>
            <a:grpSpLocks/>
          </p:cNvGrpSpPr>
          <p:nvPr/>
        </p:nvGrpSpPr>
        <p:grpSpPr bwMode="auto">
          <a:xfrm>
            <a:off x="3675063" y="1276350"/>
            <a:ext cx="2116137" cy="2419350"/>
            <a:chOff x="2315" y="834"/>
            <a:chExt cx="1324" cy="1524"/>
          </a:xfrm>
        </p:grpSpPr>
        <p:sp>
          <p:nvSpPr>
            <p:cNvPr id="1415186" name="Rectangle 18"/>
            <p:cNvSpPr>
              <a:spLocks noChangeArrowheads="1"/>
            </p:cNvSpPr>
            <p:nvPr/>
          </p:nvSpPr>
          <p:spPr bwMode="auto">
            <a:xfrm>
              <a:off x="2370" y="1511"/>
              <a:ext cx="894" cy="847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15187" name="Rectangle 19"/>
            <p:cNvSpPr>
              <a:spLocks noChangeArrowheads="1"/>
            </p:cNvSpPr>
            <p:nvPr/>
          </p:nvSpPr>
          <p:spPr bwMode="auto">
            <a:xfrm>
              <a:off x="2315" y="834"/>
              <a:ext cx="10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9933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物理模型</a:t>
              </a:r>
            </a:p>
          </p:txBody>
        </p:sp>
        <p:sp>
          <p:nvSpPr>
            <p:cNvPr id="1415188" name="Rectangle 20"/>
            <p:cNvSpPr>
              <a:spLocks noChangeArrowheads="1"/>
            </p:cNvSpPr>
            <p:nvPr/>
          </p:nvSpPr>
          <p:spPr bwMode="auto">
            <a:xfrm>
              <a:off x="2698" y="1024"/>
              <a:ext cx="231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1415189" name="Group 21"/>
            <p:cNvGrpSpPr>
              <a:grpSpLocks/>
            </p:cNvGrpSpPr>
            <p:nvPr/>
          </p:nvGrpSpPr>
          <p:grpSpPr bwMode="auto">
            <a:xfrm>
              <a:off x="2406" y="1288"/>
              <a:ext cx="822" cy="165"/>
              <a:chOff x="3525" y="969"/>
              <a:chExt cx="829" cy="165"/>
            </a:xfrm>
          </p:grpSpPr>
          <p:sp>
            <p:nvSpPr>
              <p:cNvPr id="1415190" name="Line 22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1" name="Line 23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2" name="Line 24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3" name="Line 25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4" name="Line 26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5" name="Line 27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6" name="Line 28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197" name="Line 29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15198" name="Freeform 30"/>
            <p:cNvSpPr>
              <a:spLocks/>
            </p:cNvSpPr>
            <p:nvPr/>
          </p:nvSpPr>
          <p:spPr bwMode="auto">
            <a:xfrm>
              <a:off x="2681" y="1532"/>
              <a:ext cx="337" cy="815"/>
            </a:xfrm>
            <a:custGeom>
              <a:avLst/>
              <a:gdLst>
                <a:gd name="T0" fmla="*/ 33 w 337"/>
                <a:gd name="T1" fmla="*/ 0 h 804"/>
                <a:gd name="T2" fmla="*/ 319 w 337"/>
                <a:gd name="T3" fmla="*/ 70 h 804"/>
                <a:gd name="T4" fmla="*/ 0 w 337"/>
                <a:gd name="T5" fmla="*/ 159 h 804"/>
                <a:gd name="T6" fmla="*/ 319 w 337"/>
                <a:gd name="T7" fmla="*/ 238 h 804"/>
                <a:gd name="T8" fmla="*/ 2 w 337"/>
                <a:gd name="T9" fmla="*/ 315 h 804"/>
                <a:gd name="T10" fmla="*/ 329 w 337"/>
                <a:gd name="T11" fmla="*/ 399 h 804"/>
                <a:gd name="T12" fmla="*/ 2 w 337"/>
                <a:gd name="T13" fmla="*/ 485 h 804"/>
                <a:gd name="T14" fmla="*/ 333 w 337"/>
                <a:gd name="T15" fmla="*/ 569 h 804"/>
                <a:gd name="T16" fmla="*/ 14 w 337"/>
                <a:gd name="T17" fmla="*/ 641 h 804"/>
                <a:gd name="T18" fmla="*/ 329 w 337"/>
                <a:gd name="T19" fmla="*/ 727 h 804"/>
                <a:gd name="T20" fmla="*/ 60 w 337"/>
                <a:gd name="T21" fmla="*/ 80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7" h="804">
                  <a:moveTo>
                    <a:pt x="33" y="0"/>
                  </a:moveTo>
                  <a:cubicBezTo>
                    <a:pt x="178" y="22"/>
                    <a:pt x="324" y="44"/>
                    <a:pt x="319" y="70"/>
                  </a:cubicBezTo>
                  <a:cubicBezTo>
                    <a:pt x="314" y="96"/>
                    <a:pt x="0" y="131"/>
                    <a:pt x="0" y="159"/>
                  </a:cubicBezTo>
                  <a:cubicBezTo>
                    <a:pt x="0" y="187"/>
                    <a:pt x="319" y="212"/>
                    <a:pt x="319" y="238"/>
                  </a:cubicBezTo>
                  <a:cubicBezTo>
                    <a:pt x="319" y="264"/>
                    <a:pt x="0" y="288"/>
                    <a:pt x="2" y="315"/>
                  </a:cubicBezTo>
                  <a:cubicBezTo>
                    <a:pt x="4" y="342"/>
                    <a:pt x="329" y="371"/>
                    <a:pt x="329" y="399"/>
                  </a:cubicBezTo>
                  <a:cubicBezTo>
                    <a:pt x="329" y="427"/>
                    <a:pt x="1" y="457"/>
                    <a:pt x="2" y="485"/>
                  </a:cubicBezTo>
                  <a:cubicBezTo>
                    <a:pt x="3" y="513"/>
                    <a:pt x="331" y="543"/>
                    <a:pt x="333" y="569"/>
                  </a:cubicBezTo>
                  <a:cubicBezTo>
                    <a:pt x="335" y="595"/>
                    <a:pt x="15" y="615"/>
                    <a:pt x="14" y="641"/>
                  </a:cubicBezTo>
                  <a:cubicBezTo>
                    <a:pt x="13" y="667"/>
                    <a:pt x="321" y="700"/>
                    <a:pt x="329" y="727"/>
                  </a:cubicBezTo>
                  <a:cubicBezTo>
                    <a:pt x="337" y="754"/>
                    <a:pt x="198" y="779"/>
                    <a:pt x="60" y="804"/>
                  </a:cubicBezTo>
                </a:path>
              </a:pathLst>
            </a:custGeom>
            <a:noFill/>
            <a:ln w="57150" cmpd="sng">
              <a:solidFill>
                <a:srgbClr val="66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15199" name="Group 31"/>
            <p:cNvGrpSpPr>
              <a:grpSpLocks/>
            </p:cNvGrpSpPr>
            <p:nvPr/>
          </p:nvGrpSpPr>
          <p:grpSpPr bwMode="auto">
            <a:xfrm>
              <a:off x="2390" y="1486"/>
              <a:ext cx="857" cy="57"/>
              <a:chOff x="3470" y="1430"/>
              <a:chExt cx="857" cy="57"/>
            </a:xfrm>
          </p:grpSpPr>
          <p:sp>
            <p:nvSpPr>
              <p:cNvPr id="1415200" name="Rectangle 32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415201" name="Line 33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2" name="Line 34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3" name="Line 35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4" name="Line 36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5" name="Line 37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6" name="Line 38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07" name="Line 39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15208" name="Freeform 40"/>
            <p:cNvSpPr>
              <a:spLocks/>
            </p:cNvSpPr>
            <p:nvPr/>
          </p:nvSpPr>
          <p:spPr bwMode="auto">
            <a:xfrm>
              <a:off x="2364" y="1487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15209" name="Freeform 41"/>
            <p:cNvSpPr>
              <a:spLocks/>
            </p:cNvSpPr>
            <p:nvPr/>
          </p:nvSpPr>
          <p:spPr bwMode="auto">
            <a:xfrm>
              <a:off x="3242" y="1035"/>
              <a:ext cx="394" cy="1126"/>
            </a:xfrm>
            <a:custGeom>
              <a:avLst/>
              <a:gdLst>
                <a:gd name="T0" fmla="*/ 5 w 394"/>
                <a:gd name="T1" fmla="*/ 1085 h 1126"/>
                <a:gd name="T2" fmla="*/ 356 w 394"/>
                <a:gd name="T3" fmla="*/ 1085 h 1126"/>
                <a:gd name="T4" fmla="*/ 356 w 394"/>
                <a:gd name="T5" fmla="*/ 0 h 1126"/>
                <a:gd name="T6" fmla="*/ 394 w 394"/>
                <a:gd name="T7" fmla="*/ 0 h 1126"/>
                <a:gd name="T8" fmla="*/ 392 w 394"/>
                <a:gd name="T9" fmla="*/ 1126 h 1126"/>
                <a:gd name="T10" fmla="*/ 0 w 394"/>
                <a:gd name="T11" fmla="*/ 1121 h 1126"/>
                <a:gd name="T12" fmla="*/ 5 w 394"/>
                <a:gd name="T13" fmla="*/ 1085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4" h="1126">
                  <a:moveTo>
                    <a:pt x="5" y="1085"/>
                  </a:moveTo>
                  <a:lnTo>
                    <a:pt x="356" y="1085"/>
                  </a:lnTo>
                  <a:lnTo>
                    <a:pt x="356" y="0"/>
                  </a:lnTo>
                  <a:lnTo>
                    <a:pt x="394" y="0"/>
                  </a:lnTo>
                  <a:lnTo>
                    <a:pt x="392" y="1126"/>
                  </a:lnTo>
                  <a:lnTo>
                    <a:pt x="0" y="1121"/>
                  </a:lnTo>
                  <a:lnTo>
                    <a:pt x="5" y="1085"/>
                  </a:ln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5210" name="Freeform 42"/>
            <p:cNvSpPr>
              <a:spLocks noChangeAspect="1"/>
            </p:cNvSpPr>
            <p:nvPr/>
          </p:nvSpPr>
          <p:spPr bwMode="auto">
            <a:xfrm>
              <a:off x="3250" y="897"/>
              <a:ext cx="389" cy="1261"/>
            </a:xfrm>
            <a:custGeom>
              <a:avLst/>
              <a:gdLst>
                <a:gd name="T0" fmla="*/ 0 w 389"/>
                <a:gd name="T1" fmla="*/ 1221 h 1261"/>
                <a:gd name="T2" fmla="*/ 347 w 389"/>
                <a:gd name="T3" fmla="*/ 1221 h 1261"/>
                <a:gd name="T4" fmla="*/ 345 w 389"/>
                <a:gd name="T5" fmla="*/ 0 h 1261"/>
                <a:gd name="T6" fmla="*/ 389 w 389"/>
                <a:gd name="T7" fmla="*/ 0 h 1261"/>
                <a:gd name="T8" fmla="*/ 381 w 389"/>
                <a:gd name="T9" fmla="*/ 1261 h 1261"/>
                <a:gd name="T10" fmla="*/ 2 w 389"/>
                <a:gd name="T11" fmla="*/ 1261 h 1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9" h="1261">
                  <a:moveTo>
                    <a:pt x="0" y="1221"/>
                  </a:moveTo>
                  <a:lnTo>
                    <a:pt x="347" y="1221"/>
                  </a:lnTo>
                  <a:lnTo>
                    <a:pt x="345" y="0"/>
                  </a:lnTo>
                  <a:lnTo>
                    <a:pt x="389" y="0"/>
                  </a:lnTo>
                  <a:lnTo>
                    <a:pt x="381" y="1261"/>
                  </a:lnTo>
                  <a:lnTo>
                    <a:pt x="2" y="1261"/>
                  </a:lnTo>
                </a:path>
              </a:pathLst>
            </a:custGeom>
            <a:noFill/>
            <a:ln w="127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1415211" name="Rectangle 43"/>
          <p:cNvSpPr>
            <a:spLocks noChangeArrowheads="1"/>
          </p:cNvSpPr>
          <p:nvPr/>
        </p:nvSpPr>
        <p:spPr bwMode="auto">
          <a:xfrm>
            <a:off x="495300" y="3776663"/>
            <a:ext cx="17399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侧限条件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土骨架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孔隙水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排水顶面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渗透性大小</a:t>
            </a:r>
          </a:p>
        </p:txBody>
      </p:sp>
      <p:sp>
        <p:nvSpPr>
          <p:cNvPr id="1415212" name="AutoShape 44"/>
          <p:cNvSpPr>
            <a:spLocks noChangeArrowheads="1"/>
          </p:cNvSpPr>
          <p:nvPr/>
        </p:nvSpPr>
        <p:spPr bwMode="auto">
          <a:xfrm>
            <a:off x="2732088" y="4308475"/>
            <a:ext cx="612775" cy="461963"/>
          </a:xfrm>
          <a:prstGeom prst="homePlate">
            <a:avLst>
              <a:gd name="adj" fmla="val 33161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15213" name="AutoShape 45"/>
          <p:cNvSpPr>
            <a:spLocks noChangeArrowheads="1"/>
          </p:cNvSpPr>
          <p:nvPr/>
        </p:nvSpPr>
        <p:spPr bwMode="auto">
          <a:xfrm>
            <a:off x="2740025" y="2801938"/>
            <a:ext cx="612775" cy="461962"/>
          </a:xfrm>
          <a:prstGeom prst="homePlate">
            <a:avLst>
              <a:gd name="adj" fmla="val 33162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415214" name="Group 46"/>
          <p:cNvGrpSpPr>
            <a:grpSpLocks/>
          </p:cNvGrpSpPr>
          <p:nvPr/>
        </p:nvGrpSpPr>
        <p:grpSpPr bwMode="auto">
          <a:xfrm>
            <a:off x="603250" y="1255713"/>
            <a:ext cx="1589088" cy="2397125"/>
            <a:chOff x="380" y="821"/>
            <a:chExt cx="1001" cy="1510"/>
          </a:xfrm>
        </p:grpSpPr>
        <p:sp>
          <p:nvSpPr>
            <p:cNvPr id="1415215" name="Rectangle 47" descr="5%"/>
            <p:cNvSpPr>
              <a:spLocks noChangeArrowheads="1"/>
            </p:cNvSpPr>
            <p:nvPr/>
          </p:nvSpPr>
          <p:spPr bwMode="auto">
            <a:xfrm>
              <a:off x="442" y="1468"/>
              <a:ext cx="894" cy="863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15216" name="Freeform 48"/>
            <p:cNvSpPr>
              <a:spLocks/>
            </p:cNvSpPr>
            <p:nvPr/>
          </p:nvSpPr>
          <p:spPr bwMode="auto">
            <a:xfrm>
              <a:off x="436" y="1460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grpSp>
          <p:nvGrpSpPr>
            <p:cNvPr id="1415217" name="Group 49"/>
            <p:cNvGrpSpPr>
              <a:grpSpLocks/>
            </p:cNvGrpSpPr>
            <p:nvPr/>
          </p:nvGrpSpPr>
          <p:grpSpPr bwMode="auto">
            <a:xfrm>
              <a:off x="478" y="1301"/>
              <a:ext cx="822" cy="165"/>
              <a:chOff x="3525" y="969"/>
              <a:chExt cx="829" cy="165"/>
            </a:xfrm>
          </p:grpSpPr>
          <p:sp>
            <p:nvSpPr>
              <p:cNvPr id="1415218" name="Line 50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19" name="Line 51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0" name="Line 52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1" name="Line 53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2" name="Line 54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3" name="Line 55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4" name="Line 56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5225" name="Line 57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15226" name="Text Box 58"/>
            <p:cNvSpPr txBox="1">
              <a:spLocks noChangeArrowheads="1"/>
            </p:cNvSpPr>
            <p:nvPr/>
          </p:nvSpPr>
          <p:spPr bwMode="auto">
            <a:xfrm>
              <a:off x="380" y="821"/>
              <a:ext cx="1001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土体的固结</a:t>
              </a:r>
              <a:endParaRPr lang="en-US" altLang="zh-CN" sz="22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5227" name="Rectangle 59"/>
            <p:cNvSpPr>
              <a:spLocks noChangeArrowheads="1"/>
            </p:cNvSpPr>
            <p:nvPr/>
          </p:nvSpPr>
          <p:spPr bwMode="auto">
            <a:xfrm>
              <a:off x="770" y="1005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9" name="Rectangle 51"/>
          <p:cNvSpPr>
            <a:spLocks noChangeArrowheads="1"/>
          </p:cNvSpPr>
          <p:nvPr/>
        </p:nvSpPr>
        <p:spPr bwMode="auto">
          <a:xfrm>
            <a:off x="2257425" y="5748338"/>
            <a:ext cx="5781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侧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限压缩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模型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1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1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1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1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15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41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15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15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15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15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15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15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15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15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15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141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500"/>
                                        <p:tgtEl>
                                          <p:spTgt spid="1415177">
                                            <p:bg/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500"/>
                                        <p:tgtEl>
                                          <p:spTgt spid="1415177">
                                            <p:bg/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500"/>
                                        <p:tgtEl>
                                          <p:spTgt spid="1415177">
                                            <p:bg/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8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15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5175" grpId="0" animBg="1"/>
      <p:bldP spid="1415176" grpId="0" build="p" autoUpdateAnimBg="0"/>
      <p:bldP spid="1415177" grpId="0" build="allAtOnce" animBg="1"/>
      <p:bldP spid="1415183" grpId="0" build="p" autoUpdateAnimBg="0" advAuto="0"/>
      <p:bldP spid="1415211" grpId="0" build="p" autoUpdateAnimBg="0"/>
      <p:bldP spid="1415212" grpId="0" animBg="1"/>
      <p:bldP spid="141521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231" name="Rectangle 87"/>
          <p:cNvSpPr>
            <a:spLocks noChangeArrowheads="1"/>
          </p:cNvSpPr>
          <p:nvPr/>
        </p:nvSpPr>
        <p:spPr bwMode="auto">
          <a:xfrm>
            <a:off x="0" y="1095153"/>
            <a:ext cx="9144000" cy="439283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73" name="Rectangle 129"/>
          <p:cNvSpPr>
            <a:spLocks noChangeArrowheads="1"/>
          </p:cNvSpPr>
          <p:nvPr/>
        </p:nvSpPr>
        <p:spPr bwMode="auto">
          <a:xfrm>
            <a:off x="6376988" y="2233613"/>
            <a:ext cx="1419225" cy="1304627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303" name="Freeform 159"/>
          <p:cNvSpPr>
            <a:spLocks/>
          </p:cNvSpPr>
          <p:nvPr/>
        </p:nvSpPr>
        <p:spPr bwMode="auto">
          <a:xfrm>
            <a:off x="6889750" y="2788940"/>
            <a:ext cx="534988" cy="731837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65" name="Rectangle 121"/>
          <p:cNvSpPr>
            <a:spLocks noChangeArrowheads="1"/>
          </p:cNvSpPr>
          <p:nvPr/>
        </p:nvSpPr>
        <p:spPr bwMode="auto">
          <a:xfrm>
            <a:off x="3564902" y="2229955"/>
            <a:ext cx="1419225" cy="1315348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80" name="Freeform 136"/>
          <p:cNvSpPr>
            <a:spLocks/>
          </p:cNvSpPr>
          <p:nvPr/>
        </p:nvSpPr>
        <p:spPr bwMode="auto">
          <a:xfrm>
            <a:off x="4054475" y="2574627"/>
            <a:ext cx="534988" cy="93186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32" name="Rectangle 88"/>
          <p:cNvSpPr>
            <a:spLocks noChangeArrowheads="1"/>
          </p:cNvSpPr>
          <p:nvPr/>
        </p:nvSpPr>
        <p:spPr bwMode="auto">
          <a:xfrm>
            <a:off x="398463" y="514350"/>
            <a:ext cx="593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侧限应力状态 </a:t>
            </a:r>
            <a:r>
              <a:rPr kumimoji="1" lang="en-US" altLang="zh-CN" sz="2800" b="1">
                <a:solidFill>
                  <a:srgbClr val="A50021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太沙基渗压模型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4234" name="Rectangle 90"/>
          <p:cNvSpPr>
            <a:spLocks noChangeArrowheads="1"/>
          </p:cNvSpPr>
          <p:nvPr/>
        </p:nvSpPr>
        <p:spPr bwMode="auto">
          <a:xfrm>
            <a:off x="646113" y="2192040"/>
            <a:ext cx="1419225" cy="1344612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35" name="Rectangle 91"/>
          <p:cNvSpPr>
            <a:spLocks noChangeArrowheads="1"/>
          </p:cNvSpPr>
          <p:nvPr/>
        </p:nvSpPr>
        <p:spPr bwMode="auto">
          <a:xfrm>
            <a:off x="1166813" y="139035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endParaRPr kumimoji="1" lang="zh-CN" altLang="en-US" sz="24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1414236" name="Group 92"/>
          <p:cNvGrpSpPr>
            <a:grpSpLocks/>
          </p:cNvGrpSpPr>
          <p:nvPr/>
        </p:nvGrpSpPr>
        <p:grpSpPr bwMode="auto">
          <a:xfrm>
            <a:off x="703263" y="1838027"/>
            <a:ext cx="1304925" cy="261938"/>
            <a:chOff x="3525" y="969"/>
            <a:chExt cx="829" cy="165"/>
          </a:xfrm>
        </p:grpSpPr>
        <p:sp>
          <p:nvSpPr>
            <p:cNvPr id="1414237" name="Line 93"/>
            <p:cNvSpPr>
              <a:spLocks noChangeShapeType="1"/>
            </p:cNvSpPr>
            <p:nvPr/>
          </p:nvSpPr>
          <p:spPr bwMode="auto">
            <a:xfrm>
              <a:off x="3525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38" name="Line 94"/>
            <p:cNvSpPr>
              <a:spLocks noChangeShapeType="1"/>
            </p:cNvSpPr>
            <p:nvPr/>
          </p:nvSpPr>
          <p:spPr bwMode="auto">
            <a:xfrm>
              <a:off x="3643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39" name="Line 95"/>
            <p:cNvSpPr>
              <a:spLocks noChangeShapeType="1"/>
            </p:cNvSpPr>
            <p:nvPr/>
          </p:nvSpPr>
          <p:spPr bwMode="auto">
            <a:xfrm>
              <a:off x="3762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40" name="Line 96"/>
            <p:cNvSpPr>
              <a:spLocks noChangeShapeType="1"/>
            </p:cNvSpPr>
            <p:nvPr/>
          </p:nvSpPr>
          <p:spPr bwMode="auto">
            <a:xfrm>
              <a:off x="3879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41" name="Line 97"/>
            <p:cNvSpPr>
              <a:spLocks noChangeShapeType="1"/>
            </p:cNvSpPr>
            <p:nvPr/>
          </p:nvSpPr>
          <p:spPr bwMode="auto">
            <a:xfrm>
              <a:off x="3998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42" name="Line 98"/>
            <p:cNvSpPr>
              <a:spLocks noChangeShapeType="1"/>
            </p:cNvSpPr>
            <p:nvPr/>
          </p:nvSpPr>
          <p:spPr bwMode="auto">
            <a:xfrm>
              <a:off x="4117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43" name="Line 99"/>
            <p:cNvSpPr>
              <a:spLocks noChangeShapeType="1"/>
            </p:cNvSpPr>
            <p:nvPr/>
          </p:nvSpPr>
          <p:spPr bwMode="auto">
            <a:xfrm>
              <a:off x="4235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14244" name="Line 100"/>
            <p:cNvSpPr>
              <a:spLocks noChangeShapeType="1"/>
            </p:cNvSpPr>
            <p:nvPr/>
          </p:nvSpPr>
          <p:spPr bwMode="auto">
            <a:xfrm>
              <a:off x="4354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414245" name="Freeform 101"/>
          <p:cNvSpPr>
            <a:spLocks/>
          </p:cNvSpPr>
          <p:nvPr/>
        </p:nvSpPr>
        <p:spPr bwMode="auto">
          <a:xfrm>
            <a:off x="1139825" y="2225377"/>
            <a:ext cx="534988" cy="129381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14246" name="Group 102"/>
          <p:cNvGrpSpPr>
            <a:grpSpLocks/>
          </p:cNvGrpSpPr>
          <p:nvPr/>
        </p:nvGrpSpPr>
        <p:grpSpPr bwMode="auto">
          <a:xfrm>
            <a:off x="677863" y="2152352"/>
            <a:ext cx="1360487" cy="90488"/>
            <a:chOff x="3470" y="1430"/>
            <a:chExt cx="857" cy="57"/>
          </a:xfrm>
        </p:grpSpPr>
        <p:sp>
          <p:nvSpPr>
            <p:cNvPr id="1414247" name="Rectangle 103"/>
            <p:cNvSpPr>
              <a:spLocks noChangeArrowheads="1"/>
            </p:cNvSpPr>
            <p:nvPr/>
          </p:nvSpPr>
          <p:spPr bwMode="auto">
            <a:xfrm>
              <a:off x="3470" y="1430"/>
              <a:ext cx="857" cy="5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4248" name="Line 104"/>
            <p:cNvSpPr>
              <a:spLocks noChangeShapeType="1"/>
            </p:cNvSpPr>
            <p:nvPr/>
          </p:nvSpPr>
          <p:spPr bwMode="auto">
            <a:xfrm>
              <a:off x="3580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49" name="Line 105"/>
            <p:cNvSpPr>
              <a:spLocks noChangeShapeType="1"/>
            </p:cNvSpPr>
            <p:nvPr/>
          </p:nvSpPr>
          <p:spPr bwMode="auto">
            <a:xfrm>
              <a:off x="3694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50" name="Line 106"/>
            <p:cNvSpPr>
              <a:spLocks noChangeShapeType="1"/>
            </p:cNvSpPr>
            <p:nvPr/>
          </p:nvSpPr>
          <p:spPr bwMode="auto">
            <a:xfrm>
              <a:off x="3801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51" name="Line 107"/>
            <p:cNvSpPr>
              <a:spLocks noChangeShapeType="1"/>
            </p:cNvSpPr>
            <p:nvPr/>
          </p:nvSpPr>
          <p:spPr bwMode="auto">
            <a:xfrm>
              <a:off x="3905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52" name="Line 108"/>
            <p:cNvSpPr>
              <a:spLocks noChangeShapeType="1"/>
            </p:cNvSpPr>
            <p:nvPr/>
          </p:nvSpPr>
          <p:spPr bwMode="auto">
            <a:xfrm>
              <a:off x="4009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53" name="Line 109"/>
            <p:cNvSpPr>
              <a:spLocks noChangeShapeType="1"/>
            </p:cNvSpPr>
            <p:nvPr/>
          </p:nvSpPr>
          <p:spPr bwMode="auto">
            <a:xfrm>
              <a:off x="4113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4254" name="Line 110"/>
            <p:cNvSpPr>
              <a:spLocks noChangeShapeType="1"/>
            </p:cNvSpPr>
            <p:nvPr/>
          </p:nvSpPr>
          <p:spPr bwMode="auto">
            <a:xfrm>
              <a:off x="4217" y="1431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4255" name="Freeform 111"/>
          <p:cNvSpPr>
            <a:spLocks/>
          </p:cNvSpPr>
          <p:nvPr/>
        </p:nvSpPr>
        <p:spPr bwMode="auto">
          <a:xfrm>
            <a:off x="636588" y="2153940"/>
            <a:ext cx="1439862" cy="1376362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56" name="Freeform 112"/>
          <p:cNvSpPr>
            <a:spLocks/>
          </p:cNvSpPr>
          <p:nvPr/>
        </p:nvSpPr>
        <p:spPr bwMode="auto">
          <a:xfrm>
            <a:off x="2030413" y="1323677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57" name="Freeform 113"/>
          <p:cNvSpPr>
            <a:spLocks noChangeAspect="1"/>
          </p:cNvSpPr>
          <p:nvPr/>
        </p:nvSpPr>
        <p:spPr bwMode="auto">
          <a:xfrm>
            <a:off x="2043113" y="1225252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58" name="Line 114"/>
          <p:cNvSpPr>
            <a:spLocks noChangeShapeType="1"/>
          </p:cNvSpPr>
          <p:nvPr/>
        </p:nvSpPr>
        <p:spPr bwMode="auto">
          <a:xfrm>
            <a:off x="2106613" y="2234902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59" name="Line 115"/>
          <p:cNvSpPr>
            <a:spLocks noChangeShapeType="1"/>
          </p:cNvSpPr>
          <p:nvPr/>
        </p:nvSpPr>
        <p:spPr bwMode="auto">
          <a:xfrm>
            <a:off x="2500313" y="1320502"/>
            <a:ext cx="265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60" name="Line 116"/>
          <p:cNvSpPr>
            <a:spLocks noChangeShapeType="1"/>
          </p:cNvSpPr>
          <p:nvPr/>
        </p:nvSpPr>
        <p:spPr bwMode="auto">
          <a:xfrm>
            <a:off x="2601913" y="1325265"/>
            <a:ext cx="0" cy="911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14261" name="Object 1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628954"/>
              </p:ext>
            </p:extLst>
          </p:nvPr>
        </p:nvGraphicFramePr>
        <p:xfrm>
          <a:off x="2627312" y="1399876"/>
          <a:ext cx="845640" cy="730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893" name="公式" r:id="rId3" imgW="469800" imgH="406080" progId="Equation.3">
                  <p:embed/>
                </p:oleObj>
              </mc:Choice>
              <mc:Fallback>
                <p:oleObj name="公式" r:id="rId3" imgW="469800" imgH="406080" progId="Equation.3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2" y="1399876"/>
                        <a:ext cx="845640" cy="730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4264" name="Text Box 120"/>
          <p:cNvSpPr txBox="1">
            <a:spLocks noChangeArrowheads="1"/>
          </p:cNvSpPr>
          <p:nvPr/>
        </p:nvSpPr>
        <p:spPr bwMode="auto">
          <a:xfrm>
            <a:off x="492125" y="3631324"/>
            <a:ext cx="2655888" cy="182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</a:t>
            </a:r>
            <a:r>
              <a:rPr kumimoji="1" lang="en-US" altLang="zh-CN" sz="2800" b="1" i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 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0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超静孔压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0</a:t>
            </a:r>
            <a:endParaRPr kumimoji="1" lang="en-US" altLang="zh-CN" sz="24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14266" name="Freeform 122"/>
          <p:cNvSpPr>
            <a:spLocks/>
          </p:cNvSpPr>
          <p:nvPr/>
        </p:nvSpPr>
        <p:spPr bwMode="auto">
          <a:xfrm>
            <a:off x="4051300" y="2225377"/>
            <a:ext cx="534988" cy="129381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67" name="Freeform 123"/>
          <p:cNvSpPr>
            <a:spLocks/>
          </p:cNvSpPr>
          <p:nvPr/>
        </p:nvSpPr>
        <p:spPr bwMode="auto">
          <a:xfrm>
            <a:off x="3548063" y="2153940"/>
            <a:ext cx="1439862" cy="1376362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68" name="Freeform 124"/>
          <p:cNvSpPr>
            <a:spLocks/>
          </p:cNvSpPr>
          <p:nvPr/>
        </p:nvSpPr>
        <p:spPr bwMode="auto">
          <a:xfrm>
            <a:off x="4941888" y="1323677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69" name="Line 125"/>
          <p:cNvSpPr>
            <a:spLocks noChangeShapeType="1"/>
          </p:cNvSpPr>
          <p:nvPr/>
        </p:nvSpPr>
        <p:spPr bwMode="auto">
          <a:xfrm>
            <a:off x="5018088" y="2231244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70" name="Line 126"/>
          <p:cNvSpPr>
            <a:spLocks noChangeShapeType="1"/>
          </p:cNvSpPr>
          <p:nvPr/>
        </p:nvSpPr>
        <p:spPr bwMode="auto">
          <a:xfrm>
            <a:off x="5399088" y="1731665"/>
            <a:ext cx="265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71" name="Line 127"/>
          <p:cNvSpPr>
            <a:spLocks noChangeShapeType="1"/>
          </p:cNvSpPr>
          <p:nvPr/>
        </p:nvSpPr>
        <p:spPr bwMode="auto">
          <a:xfrm>
            <a:off x="5513388" y="1734840"/>
            <a:ext cx="0" cy="50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14272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387539"/>
              </p:ext>
            </p:extLst>
          </p:nvPr>
        </p:nvGraphicFramePr>
        <p:xfrm>
          <a:off x="5564188" y="1825327"/>
          <a:ext cx="730944" cy="319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894" name="公式" r:id="rId5" imgW="406080" imgH="177480" progId="Equation.3">
                  <p:embed/>
                </p:oleObj>
              </mc:Choice>
              <mc:Fallback>
                <p:oleObj name="公式" r:id="rId5" imgW="406080" imgH="17748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1825327"/>
                        <a:ext cx="730944" cy="319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4274" name="Freeform 130"/>
          <p:cNvSpPr>
            <a:spLocks/>
          </p:cNvSpPr>
          <p:nvPr/>
        </p:nvSpPr>
        <p:spPr bwMode="auto">
          <a:xfrm>
            <a:off x="6367463" y="2155527"/>
            <a:ext cx="1439862" cy="1376363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75" name="Freeform 131"/>
          <p:cNvSpPr>
            <a:spLocks/>
          </p:cNvSpPr>
          <p:nvPr/>
        </p:nvSpPr>
        <p:spPr bwMode="auto">
          <a:xfrm>
            <a:off x="7761288" y="1325265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14276" name="Line 132"/>
          <p:cNvSpPr>
            <a:spLocks noChangeShapeType="1"/>
          </p:cNvSpPr>
          <p:nvPr/>
        </p:nvSpPr>
        <p:spPr bwMode="auto">
          <a:xfrm>
            <a:off x="7837488" y="2236490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14277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077791"/>
              </p:ext>
            </p:extLst>
          </p:nvPr>
        </p:nvGraphicFramePr>
        <p:xfrm>
          <a:off x="8261349" y="1904702"/>
          <a:ext cx="639576" cy="319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895" name="公式" r:id="rId7" imgW="355320" imgH="177480" progId="Equation.3">
                  <p:embed/>
                </p:oleObj>
              </mc:Choice>
              <mc:Fallback>
                <p:oleObj name="公式" r:id="rId7" imgW="355320" imgH="177480" progId="Equation.3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349" y="1904702"/>
                        <a:ext cx="639576" cy="319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4278" name="Rectangle 134"/>
          <p:cNvSpPr>
            <a:spLocks noChangeArrowheads="1"/>
          </p:cNvSpPr>
          <p:nvPr/>
        </p:nvSpPr>
        <p:spPr bwMode="auto">
          <a:xfrm>
            <a:off x="5280025" y="1295102"/>
            <a:ext cx="66675" cy="43497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279" name="Freeform 135"/>
          <p:cNvSpPr>
            <a:spLocks noChangeAspect="1"/>
          </p:cNvSpPr>
          <p:nvPr/>
        </p:nvSpPr>
        <p:spPr bwMode="auto">
          <a:xfrm>
            <a:off x="4954588" y="1225252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414281" name="Freeform 137"/>
          <p:cNvSpPr>
            <a:spLocks/>
          </p:cNvSpPr>
          <p:nvPr/>
        </p:nvSpPr>
        <p:spPr bwMode="auto">
          <a:xfrm>
            <a:off x="6872288" y="2565102"/>
            <a:ext cx="534987" cy="952500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14282" name="Group 138"/>
          <p:cNvGrpSpPr>
            <a:grpSpLocks/>
          </p:cNvGrpSpPr>
          <p:nvPr/>
        </p:nvGrpSpPr>
        <p:grpSpPr bwMode="auto">
          <a:xfrm>
            <a:off x="6408738" y="2172990"/>
            <a:ext cx="1360487" cy="404812"/>
            <a:chOff x="4037" y="1229"/>
            <a:chExt cx="857" cy="255"/>
          </a:xfrm>
        </p:grpSpPr>
        <p:grpSp>
          <p:nvGrpSpPr>
            <p:cNvPr id="1414283" name="Group 139"/>
            <p:cNvGrpSpPr>
              <a:grpSpLocks/>
            </p:cNvGrpSpPr>
            <p:nvPr/>
          </p:nvGrpSpPr>
          <p:grpSpPr bwMode="auto">
            <a:xfrm>
              <a:off x="4053" y="1229"/>
              <a:ext cx="822" cy="165"/>
              <a:chOff x="3525" y="969"/>
              <a:chExt cx="829" cy="165"/>
            </a:xfrm>
          </p:grpSpPr>
          <p:sp>
            <p:nvSpPr>
              <p:cNvPr id="1414284" name="Line 140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85" name="Line 141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86" name="Line 142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87" name="Line 143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88" name="Line 144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89" name="Line 145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90" name="Line 146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291" name="Line 147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414292" name="Group 148"/>
            <p:cNvGrpSpPr>
              <a:grpSpLocks/>
            </p:cNvGrpSpPr>
            <p:nvPr/>
          </p:nvGrpSpPr>
          <p:grpSpPr bwMode="auto">
            <a:xfrm>
              <a:off x="4037" y="1427"/>
              <a:ext cx="857" cy="57"/>
              <a:chOff x="3470" y="1430"/>
              <a:chExt cx="857" cy="57"/>
            </a:xfrm>
          </p:grpSpPr>
          <p:sp>
            <p:nvSpPr>
              <p:cNvPr id="1414293" name="Rectangle 149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4294" name="Line 150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295" name="Line 151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296" name="Line 152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297" name="Line 153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298" name="Line 154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299" name="Line 155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00" name="Line 156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14301" name="Rectangle 157"/>
          <p:cNvSpPr>
            <a:spLocks noChangeArrowheads="1"/>
          </p:cNvSpPr>
          <p:nvPr/>
        </p:nvSpPr>
        <p:spPr bwMode="auto">
          <a:xfrm>
            <a:off x="8101013" y="1304627"/>
            <a:ext cx="66675" cy="9239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4302" name="Freeform 158"/>
          <p:cNvSpPr>
            <a:spLocks noChangeAspect="1"/>
          </p:cNvSpPr>
          <p:nvPr/>
        </p:nvSpPr>
        <p:spPr bwMode="auto">
          <a:xfrm>
            <a:off x="7773988" y="1226840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1414304" name="Group 160"/>
          <p:cNvGrpSpPr>
            <a:grpSpLocks/>
          </p:cNvGrpSpPr>
          <p:nvPr/>
        </p:nvGrpSpPr>
        <p:grpSpPr bwMode="auto">
          <a:xfrm>
            <a:off x="3589338" y="1838027"/>
            <a:ext cx="1360487" cy="404813"/>
            <a:chOff x="2261" y="1228"/>
            <a:chExt cx="857" cy="255"/>
          </a:xfrm>
        </p:grpSpPr>
        <p:grpSp>
          <p:nvGrpSpPr>
            <p:cNvPr id="1414305" name="Group 161"/>
            <p:cNvGrpSpPr>
              <a:grpSpLocks/>
            </p:cNvGrpSpPr>
            <p:nvPr/>
          </p:nvGrpSpPr>
          <p:grpSpPr bwMode="auto">
            <a:xfrm>
              <a:off x="2277" y="1228"/>
              <a:ext cx="822" cy="165"/>
              <a:chOff x="3525" y="969"/>
              <a:chExt cx="829" cy="165"/>
            </a:xfrm>
          </p:grpSpPr>
          <p:sp>
            <p:nvSpPr>
              <p:cNvPr id="1414306" name="Line 162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07" name="Line 163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08" name="Line 164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09" name="Line 165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10" name="Line 166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11" name="Line 167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12" name="Line 168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14313" name="Line 169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414314" name="Group 170"/>
            <p:cNvGrpSpPr>
              <a:grpSpLocks/>
            </p:cNvGrpSpPr>
            <p:nvPr/>
          </p:nvGrpSpPr>
          <p:grpSpPr bwMode="auto">
            <a:xfrm>
              <a:off x="2261" y="1426"/>
              <a:ext cx="857" cy="57"/>
              <a:chOff x="3470" y="1430"/>
              <a:chExt cx="857" cy="57"/>
            </a:xfrm>
          </p:grpSpPr>
          <p:sp>
            <p:nvSpPr>
              <p:cNvPr id="1414315" name="Rectangle 171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4316" name="Line 172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17" name="Line 173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18" name="Line 174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19" name="Line 175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20" name="Line 176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21" name="Line 177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4322" name="Line 178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14325" name="Text Box 181"/>
          <p:cNvSpPr txBox="1">
            <a:spLocks noChangeArrowheads="1"/>
          </p:cNvSpPr>
          <p:nvPr/>
        </p:nvSpPr>
        <p:spPr bwMode="auto">
          <a:xfrm>
            <a:off x="3444214" y="3647889"/>
            <a:ext cx="2430463" cy="184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0&lt; </a:t>
            </a:r>
            <a:r>
              <a:rPr kumimoji="1" lang="en-US" altLang="zh-CN" sz="2800" b="1" i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 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</a:t>
            </a:r>
            <a:endParaRPr kumimoji="1"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超静孔压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 </a:t>
            </a:r>
            <a:r>
              <a:rPr kumimoji="1" lang="en-US" altLang="zh-CN" sz="24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 0</a:t>
            </a:r>
            <a:endParaRPr kumimoji="1" lang="en-US" altLang="zh-CN" sz="24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14328" name="Text Box 184"/>
          <p:cNvSpPr txBox="1">
            <a:spLocks noChangeArrowheads="1"/>
          </p:cNvSpPr>
          <p:nvPr/>
        </p:nvSpPr>
        <p:spPr bwMode="auto">
          <a:xfrm>
            <a:off x="6279489" y="3621112"/>
            <a:ext cx="2430463" cy="184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t </a:t>
            </a:r>
            <a:r>
              <a:rPr kumimoji="1" lang="en-US" altLang="zh-CN" sz="2800" b="1" dirty="0" smtClean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/>
              </a:rPr>
              <a:t> </a:t>
            </a:r>
            <a:endParaRPr kumimoji="1"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超静孔压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0</a:t>
            </a:r>
            <a:endParaRPr kumimoji="1" lang="en-US" altLang="zh-CN" sz="2400" b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 </a:t>
            </a:r>
            <a:r>
              <a:rPr kumimoji="1" lang="el-GR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σ</a:t>
            </a:r>
            <a:r>
              <a:rPr kumimoji="1" lang="el-GR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en-US" altLang="zh-CN" sz="2400" b="1" i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0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3" name="Rectangle 51"/>
          <p:cNvSpPr>
            <a:spLocks noChangeArrowheads="1"/>
          </p:cNvSpPr>
          <p:nvPr/>
        </p:nvSpPr>
        <p:spPr bwMode="auto">
          <a:xfrm>
            <a:off x="2257425" y="5748338"/>
            <a:ext cx="5781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侧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限压缩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05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一维渗流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模型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213 L 0.00017 0.0532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414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414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41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41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41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41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414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14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14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5.55112E-17 L -3.61111E-6 0.0319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414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4303" grpId="0" animBg="1"/>
      <p:bldP spid="1414280" grpId="0" animBg="1"/>
      <p:bldP spid="1414266" grpId="0" animBg="1"/>
      <p:bldP spid="1414278" grpId="0" animBg="1"/>
      <p:bldP spid="1414281" grpId="0" animBg="1"/>
      <p:bldP spid="141430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6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16441"/>
              </p:ext>
            </p:extLst>
          </p:nvPr>
        </p:nvGraphicFramePr>
        <p:xfrm>
          <a:off x="4259263" y="4949825"/>
          <a:ext cx="162504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76" name="公式" r:id="rId3" imgW="812520" imgH="393480" progId="Equation.3">
                  <p:embed/>
                </p:oleObj>
              </mc:Choice>
              <mc:Fallback>
                <p:oleObj name="公式" r:id="rId3" imgW="812520" imgH="39348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7947" r="-7947"/>
                      <a:stretch>
                        <a:fillRect/>
                      </a:stretch>
                    </p:blipFill>
                    <p:spPr bwMode="auto">
                      <a:xfrm>
                        <a:off x="4259263" y="4949825"/>
                        <a:ext cx="1625040" cy="786960"/>
                      </a:xfrm>
                      <a:prstGeom prst="rect">
                        <a:avLst/>
                      </a:prstGeom>
                      <a:solidFill>
                        <a:srgbClr val="FFC58B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67" name="Text Box 47"/>
          <p:cNvSpPr txBox="1">
            <a:spLocks noChangeArrowheads="1"/>
          </p:cNvSpPr>
          <p:nvPr/>
        </p:nvSpPr>
        <p:spPr bwMode="auto">
          <a:xfrm>
            <a:off x="1387475" y="2689288"/>
            <a:ext cx="7353300" cy="267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固结过程中，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 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随时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间变化，固结过程的实质就是土中两种不同应力形态的转化过程</a:t>
            </a:r>
            <a:endParaRPr lang="en-US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超静孔压力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是由外荷载引起的，它是超出静水压力以上的那部分孔隙水压力，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总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静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zh-CN" altLang="en-US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超静</a:t>
            </a:r>
            <a:endParaRPr lang="en-US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侧限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条件 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 </a:t>
            </a:r>
            <a:r>
              <a:rPr lang="en-US" altLang="zh-CN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时的超静孔压在数值上等于外荷载增量，也即，孔压系数：</a:t>
            </a:r>
            <a:endParaRPr lang="el-GR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13168" name="Rectangle 48"/>
          <p:cNvSpPr>
            <a:spLocks noChangeArrowheads="1"/>
          </p:cNvSpPr>
          <p:nvPr/>
        </p:nvSpPr>
        <p:spPr bwMode="auto">
          <a:xfrm>
            <a:off x="314325" y="601663"/>
            <a:ext cx="5395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侧限应力状态及一维渗流固结</a:t>
            </a:r>
          </a:p>
        </p:txBody>
      </p:sp>
      <p:sp>
        <p:nvSpPr>
          <p:cNvPr id="1413169" name="Text Box 49"/>
          <p:cNvSpPr txBox="1">
            <a:spLocks noChangeArrowheads="1"/>
          </p:cNvSpPr>
          <p:nvPr/>
        </p:nvSpPr>
        <p:spPr bwMode="auto">
          <a:xfrm>
            <a:off x="665163" y="1201738"/>
            <a:ext cx="7956550" cy="135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65125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土体在受到外荷载后，产生超静孔隙水压力，超静孔隙水压力随时间逐步消散，土体骨架的有效应力逐渐增加，这一过程称土体的</a:t>
            </a: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</a:rPr>
              <a:t>渗流固结</a:t>
            </a:r>
            <a:endParaRPr kumimoji="0" lang="en-US" altLang="zh-CN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413170" name="AutoShape 50"/>
          <p:cNvSpPr>
            <a:spLocks noChangeArrowheads="1"/>
          </p:cNvSpPr>
          <p:nvPr/>
        </p:nvSpPr>
        <p:spPr bwMode="auto">
          <a:xfrm>
            <a:off x="630238" y="2655250"/>
            <a:ext cx="598487" cy="552450"/>
          </a:xfrm>
          <a:prstGeom prst="homePlate">
            <a:avLst>
              <a:gd name="adj" fmla="val 2708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2257425" y="5748338"/>
            <a:ext cx="5781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侧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限压缩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侧限压缩状态的孔压系数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1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1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13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13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13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1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7" grpId="0" uiExpand="1" build="p" advAuto="4000"/>
      <p:bldP spid="1413168" grpId="0" build="allAtOnce"/>
      <p:bldP spid="1413169" grpId="0"/>
      <p:bldP spid="141317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145" name="Rectangle 49"/>
          <p:cNvSpPr>
            <a:spLocks noChangeArrowheads="1"/>
          </p:cNvSpPr>
          <p:nvPr/>
        </p:nvSpPr>
        <p:spPr bwMode="auto">
          <a:xfrm>
            <a:off x="314325" y="700088"/>
            <a:ext cx="6450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三轴应力状态</a:t>
            </a:r>
          </a:p>
        </p:txBody>
      </p:sp>
      <p:sp>
        <p:nvSpPr>
          <p:cNvPr id="1412146" name="Rectangle 50"/>
          <p:cNvSpPr>
            <a:spLocks noChangeArrowheads="1"/>
          </p:cNvSpPr>
          <p:nvPr/>
        </p:nvSpPr>
        <p:spPr bwMode="auto">
          <a:xfrm>
            <a:off x="0" y="1381125"/>
            <a:ext cx="9144000" cy="3783013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12147" name="Group 51"/>
          <p:cNvGrpSpPr>
            <a:grpSpLocks/>
          </p:cNvGrpSpPr>
          <p:nvPr/>
        </p:nvGrpSpPr>
        <p:grpSpPr bwMode="auto">
          <a:xfrm>
            <a:off x="284163" y="1501775"/>
            <a:ext cx="2752725" cy="3332163"/>
            <a:chOff x="179" y="940"/>
            <a:chExt cx="1734" cy="2099"/>
          </a:xfrm>
        </p:grpSpPr>
        <p:sp>
          <p:nvSpPr>
            <p:cNvPr id="1412148" name="AutoShape 52"/>
            <p:cNvSpPr>
              <a:spLocks noChangeArrowheads="1"/>
            </p:cNvSpPr>
            <p:nvPr/>
          </p:nvSpPr>
          <p:spPr bwMode="auto">
            <a:xfrm>
              <a:off x="463" y="1436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2149" name="Line 53"/>
            <p:cNvSpPr>
              <a:spLocks noChangeShapeType="1"/>
            </p:cNvSpPr>
            <p:nvPr/>
          </p:nvSpPr>
          <p:spPr bwMode="auto">
            <a:xfrm flipH="1">
              <a:off x="1354" y="1928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2150" name="Line 54"/>
            <p:cNvSpPr>
              <a:spLocks noChangeShapeType="1"/>
            </p:cNvSpPr>
            <p:nvPr/>
          </p:nvSpPr>
          <p:spPr bwMode="auto">
            <a:xfrm rot="16200000" flipH="1">
              <a:off x="703" y="1314"/>
              <a:ext cx="5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2151" name="Line 55"/>
            <p:cNvSpPr>
              <a:spLocks noChangeShapeType="1"/>
            </p:cNvSpPr>
            <p:nvPr/>
          </p:nvSpPr>
          <p:spPr bwMode="auto">
            <a:xfrm rot="8694631" flipH="1">
              <a:off x="349" y="2217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2152" name="Text Box 56"/>
            <p:cNvSpPr txBox="1">
              <a:spLocks noChangeArrowheads="1"/>
            </p:cNvSpPr>
            <p:nvPr/>
          </p:nvSpPr>
          <p:spPr bwMode="auto">
            <a:xfrm>
              <a:off x="607" y="940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2153" name="Text Box 57"/>
            <p:cNvSpPr txBox="1">
              <a:spLocks noChangeArrowheads="1"/>
            </p:cNvSpPr>
            <p:nvPr/>
          </p:nvSpPr>
          <p:spPr bwMode="auto">
            <a:xfrm>
              <a:off x="1617" y="1594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2154" name="Text Box 58"/>
            <p:cNvSpPr txBox="1">
              <a:spLocks noChangeArrowheads="1"/>
            </p:cNvSpPr>
            <p:nvPr/>
          </p:nvSpPr>
          <p:spPr bwMode="auto">
            <a:xfrm>
              <a:off x="179" y="1969"/>
              <a:ext cx="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2155" name="Text Box 59"/>
            <p:cNvSpPr txBox="1">
              <a:spLocks noChangeArrowheads="1"/>
            </p:cNvSpPr>
            <p:nvPr/>
          </p:nvSpPr>
          <p:spPr bwMode="auto">
            <a:xfrm>
              <a:off x="368" y="2712"/>
              <a:ext cx="13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﹥</a:t>
              </a:r>
              <a:r>
                <a:rPr lang="en-US" altLang="zh-CN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2 </a:t>
              </a:r>
              <a:r>
                <a:rPr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lang="en-US" altLang="zh-CN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141215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682714"/>
              </p:ext>
            </p:extLst>
          </p:nvPr>
        </p:nvGraphicFramePr>
        <p:xfrm>
          <a:off x="3421063" y="1828800"/>
          <a:ext cx="54959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266" name="公式" r:id="rId3" imgW="3098520" imgH="711000" progId="Equation.3">
                  <p:embed/>
                </p:oleObj>
              </mc:Choice>
              <mc:Fallback>
                <p:oleObj name="公式" r:id="rId3" imgW="3098520" imgH="7110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1828800"/>
                        <a:ext cx="5495925" cy="1422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2157" name="Text Box 61"/>
          <p:cNvSpPr txBox="1">
            <a:spLocks noChangeArrowheads="1"/>
          </p:cNvSpPr>
          <p:nvPr/>
        </p:nvSpPr>
        <p:spPr bwMode="auto">
          <a:xfrm>
            <a:off x="3727450" y="3984625"/>
            <a:ext cx="13223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三轴应力状态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12158" name="Text Box 62"/>
          <p:cNvSpPr txBox="1">
            <a:spLocks noChangeArrowheads="1"/>
          </p:cNvSpPr>
          <p:nvPr/>
        </p:nvSpPr>
        <p:spPr bwMode="auto">
          <a:xfrm>
            <a:off x="5418138" y="3984625"/>
            <a:ext cx="152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等向压缩应力状态</a:t>
            </a:r>
          </a:p>
        </p:txBody>
      </p:sp>
      <p:sp>
        <p:nvSpPr>
          <p:cNvPr id="1412159" name="Text Box 63"/>
          <p:cNvSpPr txBox="1">
            <a:spLocks noChangeArrowheads="1"/>
          </p:cNvSpPr>
          <p:nvPr/>
        </p:nvSpPr>
        <p:spPr bwMode="auto">
          <a:xfrm>
            <a:off x="7261225" y="3984625"/>
            <a:ext cx="1230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偏差应力状态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12160" name="AutoShape 64"/>
          <p:cNvSpPr>
            <a:spLocks noChangeArrowheads="1"/>
          </p:cNvSpPr>
          <p:nvPr/>
        </p:nvSpPr>
        <p:spPr bwMode="auto">
          <a:xfrm rot="5400000">
            <a:off x="4137819" y="3359944"/>
            <a:ext cx="476250" cy="461962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2161" name="AutoShape 65"/>
          <p:cNvSpPr>
            <a:spLocks noChangeArrowheads="1"/>
          </p:cNvSpPr>
          <p:nvPr/>
        </p:nvSpPr>
        <p:spPr bwMode="auto">
          <a:xfrm rot="5400000">
            <a:off x="5877719" y="3359944"/>
            <a:ext cx="476250" cy="461962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2162" name="AutoShape 66"/>
          <p:cNvSpPr>
            <a:spLocks noChangeArrowheads="1"/>
          </p:cNvSpPr>
          <p:nvPr/>
        </p:nvSpPr>
        <p:spPr bwMode="auto">
          <a:xfrm rot="5400000">
            <a:off x="7611269" y="3359944"/>
            <a:ext cx="476250" cy="461962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Rectangle 51"/>
          <p:cNvSpPr>
            <a:spLocks noChangeArrowheads="1"/>
          </p:cNvSpPr>
          <p:nvPr/>
        </p:nvSpPr>
        <p:spPr bwMode="auto">
          <a:xfrm>
            <a:off x="1743075" y="574833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三轴状态下孔压系数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1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41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41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41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41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41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41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41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41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2145" grpId="0" build="p" autoUpdateAnimBg="0" advAuto="0"/>
      <p:bldP spid="1412146" grpId="0" animBg="1"/>
      <p:bldP spid="1412157" grpId="0"/>
      <p:bldP spid="1412158" grpId="0"/>
      <p:bldP spid="1412159" grpId="0"/>
      <p:bldP spid="1412160" grpId="0" animBg="1"/>
      <p:bldP spid="1412161" grpId="0" animBg="1"/>
      <p:bldP spid="141216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1094" name="Group 22"/>
          <p:cNvGrpSpPr>
            <a:grpSpLocks/>
          </p:cNvGrpSpPr>
          <p:nvPr/>
        </p:nvGrpSpPr>
        <p:grpSpPr bwMode="auto">
          <a:xfrm>
            <a:off x="0" y="1483651"/>
            <a:ext cx="9144000" cy="3920564"/>
            <a:chOff x="44" y="791"/>
            <a:chExt cx="5653" cy="2590"/>
          </a:xfrm>
        </p:grpSpPr>
        <p:sp>
          <p:nvSpPr>
            <p:cNvPr id="1411095" name="Rectangle 23"/>
            <p:cNvSpPr>
              <a:spLocks noChangeArrowheads="1"/>
            </p:cNvSpPr>
            <p:nvPr/>
          </p:nvSpPr>
          <p:spPr bwMode="auto">
            <a:xfrm>
              <a:off x="44" y="791"/>
              <a:ext cx="5653" cy="259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1096" name="AutoShape 24"/>
            <p:cNvSpPr>
              <a:spLocks noChangeArrowheads="1"/>
            </p:cNvSpPr>
            <p:nvPr/>
          </p:nvSpPr>
          <p:spPr bwMode="auto">
            <a:xfrm>
              <a:off x="343" y="1386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1097" name="Line 25"/>
            <p:cNvSpPr>
              <a:spLocks noChangeShapeType="1"/>
            </p:cNvSpPr>
            <p:nvPr/>
          </p:nvSpPr>
          <p:spPr bwMode="auto">
            <a:xfrm flipH="1">
              <a:off x="1234" y="1878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098" name="Line 26"/>
            <p:cNvSpPr>
              <a:spLocks noChangeShapeType="1"/>
            </p:cNvSpPr>
            <p:nvPr/>
          </p:nvSpPr>
          <p:spPr bwMode="auto">
            <a:xfrm rot="16200000" flipH="1">
              <a:off x="583" y="1264"/>
              <a:ext cx="5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099" name="Line 27"/>
            <p:cNvSpPr>
              <a:spLocks noChangeShapeType="1"/>
            </p:cNvSpPr>
            <p:nvPr/>
          </p:nvSpPr>
          <p:spPr bwMode="auto">
            <a:xfrm rot="8694631" flipH="1">
              <a:off x="229" y="2167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00" name="Text Box 28"/>
            <p:cNvSpPr txBox="1">
              <a:spLocks noChangeArrowheads="1"/>
            </p:cNvSpPr>
            <p:nvPr/>
          </p:nvSpPr>
          <p:spPr bwMode="auto">
            <a:xfrm>
              <a:off x="437" y="920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01" name="Text Box 29"/>
            <p:cNvSpPr txBox="1">
              <a:spLocks noChangeArrowheads="1"/>
            </p:cNvSpPr>
            <p:nvPr/>
          </p:nvSpPr>
          <p:spPr bwMode="auto">
            <a:xfrm>
              <a:off x="1497" y="1544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02" name="Text Box 30"/>
            <p:cNvSpPr txBox="1">
              <a:spLocks noChangeArrowheads="1"/>
            </p:cNvSpPr>
            <p:nvPr/>
          </p:nvSpPr>
          <p:spPr bwMode="auto">
            <a:xfrm>
              <a:off x="53" y="1907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03" name="Text Box 31"/>
            <p:cNvSpPr txBox="1">
              <a:spLocks noChangeArrowheads="1"/>
            </p:cNvSpPr>
            <p:nvPr/>
          </p:nvSpPr>
          <p:spPr bwMode="auto">
            <a:xfrm>
              <a:off x="437" y="2768"/>
              <a:ext cx="833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三轴应力状态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1104" name="Text Box 32"/>
            <p:cNvSpPr txBox="1">
              <a:spLocks noChangeArrowheads="1"/>
            </p:cNvSpPr>
            <p:nvPr/>
          </p:nvSpPr>
          <p:spPr bwMode="auto">
            <a:xfrm>
              <a:off x="2278" y="2768"/>
              <a:ext cx="960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等向压缩应力状态</a:t>
              </a:r>
            </a:p>
          </p:txBody>
        </p:sp>
        <p:sp>
          <p:nvSpPr>
            <p:cNvPr id="1411105" name="Text Box 33"/>
            <p:cNvSpPr txBox="1">
              <a:spLocks noChangeArrowheads="1"/>
            </p:cNvSpPr>
            <p:nvPr/>
          </p:nvSpPr>
          <p:spPr bwMode="auto">
            <a:xfrm>
              <a:off x="4239" y="2768"/>
              <a:ext cx="775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偏差应力状态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1106" name="AutoShape 34"/>
            <p:cNvSpPr>
              <a:spLocks noChangeArrowheads="1"/>
            </p:cNvSpPr>
            <p:nvPr/>
          </p:nvSpPr>
          <p:spPr bwMode="auto">
            <a:xfrm>
              <a:off x="2292" y="1397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1107" name="Line 35"/>
            <p:cNvSpPr>
              <a:spLocks noChangeShapeType="1"/>
            </p:cNvSpPr>
            <p:nvPr/>
          </p:nvSpPr>
          <p:spPr bwMode="auto">
            <a:xfrm flipH="1">
              <a:off x="3183" y="1889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08" name="Line 36"/>
            <p:cNvSpPr>
              <a:spLocks noChangeShapeType="1"/>
            </p:cNvSpPr>
            <p:nvPr/>
          </p:nvSpPr>
          <p:spPr bwMode="auto">
            <a:xfrm rot="16200000" flipH="1">
              <a:off x="2575" y="1318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09" name="Line 37"/>
            <p:cNvSpPr>
              <a:spLocks noChangeShapeType="1"/>
            </p:cNvSpPr>
            <p:nvPr/>
          </p:nvSpPr>
          <p:spPr bwMode="auto">
            <a:xfrm rot="8694631" flipH="1">
              <a:off x="2178" y="2178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10" name="Text Box 38"/>
            <p:cNvSpPr txBox="1">
              <a:spLocks noChangeArrowheads="1"/>
            </p:cNvSpPr>
            <p:nvPr/>
          </p:nvSpPr>
          <p:spPr bwMode="auto">
            <a:xfrm>
              <a:off x="2359" y="969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11" name="Text Box 39"/>
            <p:cNvSpPr txBox="1">
              <a:spLocks noChangeArrowheads="1"/>
            </p:cNvSpPr>
            <p:nvPr/>
          </p:nvSpPr>
          <p:spPr bwMode="auto">
            <a:xfrm>
              <a:off x="3366" y="1555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12" name="Text Box 40"/>
            <p:cNvSpPr txBox="1">
              <a:spLocks noChangeArrowheads="1"/>
            </p:cNvSpPr>
            <p:nvPr/>
          </p:nvSpPr>
          <p:spPr bwMode="auto">
            <a:xfrm>
              <a:off x="1876" y="2014"/>
              <a:ext cx="409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13" name="AutoShape 41"/>
            <p:cNvSpPr>
              <a:spLocks noChangeArrowheads="1"/>
            </p:cNvSpPr>
            <p:nvPr/>
          </p:nvSpPr>
          <p:spPr bwMode="auto">
            <a:xfrm>
              <a:off x="4169" y="1397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1114" name="Line 42"/>
            <p:cNvSpPr>
              <a:spLocks noChangeShapeType="1"/>
            </p:cNvSpPr>
            <p:nvPr/>
          </p:nvSpPr>
          <p:spPr bwMode="auto">
            <a:xfrm rot="16200000" flipH="1">
              <a:off x="4529" y="1395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15" name="Text Box 43"/>
            <p:cNvSpPr txBox="1">
              <a:spLocks noChangeArrowheads="1"/>
            </p:cNvSpPr>
            <p:nvPr/>
          </p:nvSpPr>
          <p:spPr bwMode="auto">
            <a:xfrm>
              <a:off x="4141" y="941"/>
              <a:ext cx="768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16" name="Line 44"/>
            <p:cNvSpPr>
              <a:spLocks noChangeShapeType="1"/>
            </p:cNvSpPr>
            <p:nvPr/>
          </p:nvSpPr>
          <p:spPr bwMode="auto">
            <a:xfrm rot="5400000" flipH="1">
              <a:off x="4435" y="2568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1117" name="Text Box 45"/>
            <p:cNvSpPr txBox="1">
              <a:spLocks noChangeArrowheads="1"/>
            </p:cNvSpPr>
            <p:nvPr/>
          </p:nvSpPr>
          <p:spPr bwMode="auto">
            <a:xfrm>
              <a:off x="4621" y="2422"/>
              <a:ext cx="768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1118" name="Text Box 46"/>
            <p:cNvSpPr txBox="1">
              <a:spLocks noChangeArrowheads="1"/>
            </p:cNvSpPr>
            <p:nvPr/>
          </p:nvSpPr>
          <p:spPr bwMode="auto">
            <a:xfrm>
              <a:off x="1708" y="1750"/>
              <a:ext cx="257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66"/>
                  </a:solidFill>
                  <a:ea typeface="幼圆" pitchFamily="49" charset="-122"/>
                </a:rPr>
                <a:t>=</a:t>
              </a:r>
            </a:p>
          </p:txBody>
        </p:sp>
        <p:sp>
          <p:nvSpPr>
            <p:cNvPr id="1411119" name="Text Box 47"/>
            <p:cNvSpPr txBox="1">
              <a:spLocks noChangeArrowheads="1"/>
            </p:cNvSpPr>
            <p:nvPr/>
          </p:nvSpPr>
          <p:spPr bwMode="auto">
            <a:xfrm>
              <a:off x="1729" y="2824"/>
              <a:ext cx="257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66"/>
                  </a:solidFill>
                  <a:ea typeface="幼圆" pitchFamily="49" charset="-122"/>
                </a:rPr>
                <a:t>=</a:t>
              </a:r>
            </a:p>
          </p:txBody>
        </p:sp>
        <p:sp>
          <p:nvSpPr>
            <p:cNvPr id="1411120" name="Text Box 48"/>
            <p:cNvSpPr txBox="1">
              <a:spLocks noChangeArrowheads="1"/>
            </p:cNvSpPr>
            <p:nvPr/>
          </p:nvSpPr>
          <p:spPr bwMode="auto">
            <a:xfrm>
              <a:off x="3756" y="1739"/>
              <a:ext cx="257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66"/>
                  </a:solidFill>
                  <a:ea typeface="幼圆" pitchFamily="49" charset="-122"/>
                </a:rPr>
                <a:t>+</a:t>
              </a:r>
            </a:p>
          </p:txBody>
        </p:sp>
        <p:sp>
          <p:nvSpPr>
            <p:cNvPr id="1411121" name="Text Box 49"/>
            <p:cNvSpPr txBox="1">
              <a:spLocks noChangeArrowheads="1"/>
            </p:cNvSpPr>
            <p:nvPr/>
          </p:nvSpPr>
          <p:spPr bwMode="auto">
            <a:xfrm>
              <a:off x="3739" y="2796"/>
              <a:ext cx="257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>
                  <a:solidFill>
                    <a:srgbClr val="000066"/>
                  </a:solidFill>
                  <a:ea typeface="幼圆" pitchFamily="49" charset="-122"/>
                </a:rPr>
                <a:t>+</a:t>
              </a:r>
            </a:p>
          </p:txBody>
        </p:sp>
      </p:grpSp>
      <p:sp>
        <p:nvSpPr>
          <p:cNvPr id="1411123" name="Rectangle 51"/>
          <p:cNvSpPr>
            <a:spLocks noChangeArrowheads="1"/>
          </p:cNvSpPr>
          <p:nvPr/>
        </p:nvSpPr>
        <p:spPr bwMode="auto">
          <a:xfrm>
            <a:off x="355600" y="674688"/>
            <a:ext cx="3995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三轴应力状态</a:t>
            </a:r>
          </a:p>
        </p:txBody>
      </p:sp>
      <p:sp>
        <p:nvSpPr>
          <p:cNvPr id="1411124" name="Text Box 52"/>
          <p:cNvSpPr txBox="1">
            <a:spLocks noChangeArrowheads="1"/>
          </p:cNvSpPr>
          <p:nvPr/>
        </p:nvSpPr>
        <p:spPr bwMode="auto">
          <a:xfrm>
            <a:off x="911225" y="2906713"/>
            <a:ext cx="6588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3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</a:p>
        </p:txBody>
      </p:sp>
      <p:sp>
        <p:nvSpPr>
          <p:cNvPr id="1411125" name="Text Box 53"/>
          <p:cNvSpPr txBox="1">
            <a:spLocks noChangeArrowheads="1"/>
          </p:cNvSpPr>
          <p:nvPr/>
        </p:nvSpPr>
        <p:spPr bwMode="auto">
          <a:xfrm>
            <a:off x="3989388" y="2892425"/>
            <a:ext cx="8467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</a:t>
            </a:r>
            <a:r>
              <a:rPr lang="en-US" altLang="zh-CN" sz="3200" b="1" i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u</a:t>
            </a:r>
            <a:r>
              <a:rPr lang="en-US" altLang="zh-CN" sz="3200" b="1" i="1" baseline="-25000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B</a:t>
            </a:r>
            <a:endParaRPr lang="en-US" altLang="zh-CN" sz="3200" b="1" i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11126" name="Text Box 54"/>
          <p:cNvSpPr txBox="1">
            <a:spLocks noChangeArrowheads="1"/>
          </p:cNvSpPr>
          <p:nvPr/>
        </p:nvSpPr>
        <p:spPr bwMode="auto">
          <a:xfrm>
            <a:off x="6873875" y="2908300"/>
            <a:ext cx="850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</a:t>
            </a:r>
            <a:r>
              <a:rPr lang="en-US" altLang="zh-CN" sz="3200" b="1" i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u</a:t>
            </a:r>
            <a:r>
              <a:rPr lang="en-US" altLang="zh-CN" sz="3200" b="1" i="1" baseline="-25000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A</a:t>
            </a:r>
            <a:endParaRPr lang="en-US" altLang="zh-CN" sz="3200" b="1" i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3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Rectangle 51"/>
          <p:cNvSpPr>
            <a:spLocks noChangeArrowheads="1"/>
          </p:cNvSpPr>
          <p:nvPr/>
        </p:nvSpPr>
        <p:spPr bwMode="auto">
          <a:xfrm>
            <a:off x="1743075" y="574833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三轴状态下孔压系数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1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1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1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11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1123" grpId="0" build="p" autoUpdateAnimBg="0" advAuto="0"/>
      <p:bldP spid="1411124" grpId="0"/>
      <p:bldP spid="1411125" grpId="0"/>
      <p:bldP spid="14111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055" name="Rectangle 7"/>
          <p:cNvSpPr>
            <a:spLocks noChangeArrowheads="1"/>
          </p:cNvSpPr>
          <p:nvPr/>
        </p:nvSpPr>
        <p:spPr bwMode="auto">
          <a:xfrm>
            <a:off x="314325" y="636588"/>
            <a:ext cx="3949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三轴应力状态</a:t>
            </a:r>
          </a:p>
        </p:txBody>
      </p:sp>
      <p:sp>
        <p:nvSpPr>
          <p:cNvPr id="1410056" name="Text Box 8"/>
          <p:cNvSpPr txBox="1">
            <a:spLocks noChangeArrowheads="1"/>
          </p:cNvSpPr>
          <p:nvPr/>
        </p:nvSpPr>
        <p:spPr bwMode="auto">
          <a:xfrm>
            <a:off x="547688" y="2052638"/>
            <a:ext cx="3775075" cy="3176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关闭排水阀门，连接孔压传感器，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，量测超静孔隙水压力  </a:t>
            </a:r>
            <a:r>
              <a:rPr lang="en-US" altLang="zh-CN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lang="en-US" altLang="zh-CN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kumimoji="0"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进行剪切时，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关闭排水阀门。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用孔压传感器量测剪切过程中产生的超静孔隙水压力 </a:t>
            </a:r>
            <a:r>
              <a:rPr lang="en-US" altLang="zh-CN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410057" name="Group 9"/>
          <p:cNvGrpSpPr>
            <a:grpSpLocks/>
          </p:cNvGrpSpPr>
          <p:nvPr/>
        </p:nvGrpSpPr>
        <p:grpSpPr bwMode="auto">
          <a:xfrm>
            <a:off x="4560888" y="720725"/>
            <a:ext cx="4433887" cy="4932363"/>
            <a:chOff x="2873" y="454"/>
            <a:chExt cx="2793" cy="3107"/>
          </a:xfrm>
        </p:grpSpPr>
        <p:sp>
          <p:nvSpPr>
            <p:cNvPr id="1410058" name="Rectangle 10"/>
            <p:cNvSpPr>
              <a:spLocks noChangeArrowheads="1"/>
            </p:cNvSpPr>
            <p:nvPr/>
          </p:nvSpPr>
          <p:spPr bwMode="auto">
            <a:xfrm>
              <a:off x="2873" y="454"/>
              <a:ext cx="2793" cy="310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59" name="Rectangle 11"/>
            <p:cNvSpPr>
              <a:spLocks noChangeArrowheads="1"/>
            </p:cNvSpPr>
            <p:nvPr/>
          </p:nvSpPr>
          <p:spPr bwMode="auto">
            <a:xfrm>
              <a:off x="546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60" name="Rectangle 12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61" name="Rectangle 13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62" name="Rectangle 14" descr="浅色上对角线"/>
            <p:cNvSpPr>
              <a:spLocks noChangeArrowheads="1"/>
            </p:cNvSpPr>
            <p:nvPr/>
          </p:nvSpPr>
          <p:spPr bwMode="auto">
            <a:xfrm>
              <a:off x="3942" y="1654"/>
              <a:ext cx="437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0063" name="Group 15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1410064" name="Line 16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0065" name="Line 17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10066" name="Group 18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1410067" name="Oval 19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68" name="Oval 20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69" name="Oval 21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70" name="Oval 22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1410071" name="Group 23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1410072" name="Rectangle 24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73" name="Rectangle 25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10074" name="Line 26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75" name="Line 27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76" name="Rectangle 28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77" name="Rectangle 29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78" name="Rectangle 30" descr="浅色竖线"/>
            <p:cNvSpPr>
              <a:spLocks noChangeArrowheads="1"/>
            </p:cNvSpPr>
            <p:nvPr/>
          </p:nvSpPr>
          <p:spPr bwMode="auto">
            <a:xfrm>
              <a:off x="4097" y="1164"/>
              <a:ext cx="126" cy="486"/>
            </a:xfrm>
            <a:prstGeom prst="rect">
              <a:avLst/>
            </a:pr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0079" name="Group 31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383" y="2456"/>
              <a:chExt cx="434" cy="800"/>
            </a:xfrm>
          </p:grpSpPr>
          <p:sp>
            <p:nvSpPr>
              <p:cNvPr id="1410080" name="Rectangle 32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81" name="Text Box 33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1410082" name="Text Box 34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围压</a:t>
              </a:r>
              <a:b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</a:b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力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zh-CN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10083" name="Text Box 35"/>
            <p:cNvSpPr txBox="1">
              <a:spLocks noChangeArrowheads="1"/>
            </p:cNvSpPr>
            <p:nvPr/>
          </p:nvSpPr>
          <p:spPr bwMode="auto">
            <a:xfrm>
              <a:off x="5014" y="3034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1410084" name="Text Box 36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阀门</a:t>
              </a:r>
            </a:p>
          </p:txBody>
        </p:sp>
        <p:sp>
          <p:nvSpPr>
            <p:cNvPr id="1410085" name="Freeform 37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086" name="AutoShape 38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87" name="Freeform 39"/>
            <p:cNvSpPr>
              <a:spLocks/>
            </p:cNvSpPr>
            <p:nvPr/>
          </p:nvSpPr>
          <p:spPr bwMode="auto">
            <a:xfrm>
              <a:off x="4240" y="2671"/>
              <a:ext cx="125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088" name="AutoShape 40"/>
            <p:cNvSpPr>
              <a:spLocks noChangeArrowheads="1"/>
            </p:cNvSpPr>
            <p:nvPr/>
          </p:nvSpPr>
          <p:spPr bwMode="auto">
            <a:xfrm>
              <a:off x="515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89" name="Oval 41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0090" name="Group 42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1410091" name="Line 43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0092" name="Oval 44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093" name="Line 45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10094" name="Line 46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095" name="Line 47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096" name="Rectangle 48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097" name="Line 49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10098" name="Group 50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1410099" name="Line 51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0100" name="Oval 52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0101" name="Line 53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10102" name="Rectangle 54"/>
            <p:cNvSpPr>
              <a:spLocks noChangeArrowheads="1"/>
            </p:cNvSpPr>
            <p:nvPr/>
          </p:nvSpPr>
          <p:spPr bwMode="auto">
            <a:xfrm>
              <a:off x="4085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103" name="Rectangle 55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104" name="Rectangle 56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105" name="Text Box 57"/>
            <p:cNvSpPr txBox="1">
              <a:spLocks noChangeArrowheads="1"/>
            </p:cNvSpPr>
            <p:nvPr/>
          </p:nvSpPr>
          <p:spPr bwMode="auto">
            <a:xfrm>
              <a:off x="3919" y="3125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马达</a:t>
              </a:r>
            </a:p>
          </p:txBody>
        </p:sp>
        <p:sp>
          <p:nvSpPr>
            <p:cNvPr id="1410106" name="Rectangle 58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107" name="Text Box 59"/>
            <p:cNvSpPr txBox="1">
              <a:spLocks noChangeArrowheads="1"/>
            </p:cNvSpPr>
            <p:nvPr/>
          </p:nvSpPr>
          <p:spPr bwMode="auto">
            <a:xfrm>
              <a:off x="4888" y="485"/>
              <a:ext cx="5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横梁</a:t>
              </a:r>
            </a:p>
          </p:txBody>
        </p:sp>
        <p:sp>
          <p:nvSpPr>
            <p:cNvPr id="1410108" name="Line 60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109" name="Text Box 61"/>
            <p:cNvSpPr txBox="1">
              <a:spLocks noChangeArrowheads="1"/>
            </p:cNvSpPr>
            <p:nvPr/>
          </p:nvSpPr>
          <p:spPr bwMode="auto">
            <a:xfrm>
              <a:off x="4474" y="812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量力环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0110" name="Line 62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111" name="Text Box 63"/>
            <p:cNvSpPr txBox="1">
              <a:spLocks noChangeArrowheads="1"/>
            </p:cNvSpPr>
            <p:nvPr/>
          </p:nvSpPr>
          <p:spPr bwMode="auto">
            <a:xfrm>
              <a:off x="2934" y="776"/>
              <a:ext cx="7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百分表</a:t>
              </a:r>
            </a:p>
          </p:txBody>
        </p:sp>
        <p:sp>
          <p:nvSpPr>
            <p:cNvPr id="1410112" name="Line 64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113" name="Freeform 65"/>
            <p:cNvSpPr>
              <a:spLocks/>
            </p:cNvSpPr>
            <p:nvPr/>
          </p:nvSpPr>
          <p:spPr bwMode="auto">
            <a:xfrm>
              <a:off x="5462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114" name="Text Box 66"/>
            <p:cNvSpPr txBox="1">
              <a:spLocks noChangeArrowheads="1"/>
            </p:cNvSpPr>
            <p:nvPr/>
          </p:nvSpPr>
          <p:spPr bwMode="auto">
            <a:xfrm>
              <a:off x="5150" y="1225"/>
              <a:ext cx="327" cy="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量水管</a:t>
              </a:r>
            </a:p>
          </p:txBody>
        </p:sp>
        <p:sp>
          <p:nvSpPr>
            <p:cNvPr id="1410115" name="Rectangle 67"/>
            <p:cNvSpPr>
              <a:spLocks noChangeArrowheads="1"/>
            </p:cNvSpPr>
            <p:nvPr/>
          </p:nvSpPr>
          <p:spPr bwMode="auto">
            <a:xfrm>
              <a:off x="4898" y="2874"/>
              <a:ext cx="144" cy="1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0116" name="Oval 68"/>
            <p:cNvSpPr>
              <a:spLocks noChangeArrowheads="1"/>
            </p:cNvSpPr>
            <p:nvPr/>
          </p:nvSpPr>
          <p:spPr bwMode="auto">
            <a:xfrm>
              <a:off x="4936" y="29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410117" name="Picture 69" descr="Graphic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9" y="2291"/>
              <a:ext cx="431" cy="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10118" name="Freeform 70"/>
            <p:cNvSpPr>
              <a:spLocks/>
            </p:cNvSpPr>
            <p:nvPr/>
          </p:nvSpPr>
          <p:spPr bwMode="auto">
            <a:xfrm>
              <a:off x="4958" y="2602"/>
              <a:ext cx="171" cy="272"/>
            </a:xfrm>
            <a:custGeom>
              <a:avLst/>
              <a:gdLst>
                <a:gd name="T0" fmla="*/ 0 w 171"/>
                <a:gd name="T1" fmla="*/ 272 h 272"/>
                <a:gd name="T2" fmla="*/ 6 w 171"/>
                <a:gd name="T3" fmla="*/ 243 h 272"/>
                <a:gd name="T4" fmla="*/ 89 w 171"/>
                <a:gd name="T5" fmla="*/ 166 h 272"/>
                <a:gd name="T6" fmla="*/ 112 w 171"/>
                <a:gd name="T7" fmla="*/ 198 h 272"/>
                <a:gd name="T8" fmla="*/ 102 w 171"/>
                <a:gd name="T9" fmla="*/ 217 h 272"/>
                <a:gd name="T10" fmla="*/ 83 w 171"/>
                <a:gd name="T11" fmla="*/ 230 h 272"/>
                <a:gd name="T12" fmla="*/ 54 w 171"/>
                <a:gd name="T13" fmla="*/ 217 h 272"/>
                <a:gd name="T14" fmla="*/ 41 w 171"/>
                <a:gd name="T15" fmla="*/ 188 h 272"/>
                <a:gd name="T16" fmla="*/ 76 w 171"/>
                <a:gd name="T17" fmla="*/ 115 h 272"/>
                <a:gd name="T18" fmla="*/ 166 w 171"/>
                <a:gd name="T19" fmla="*/ 86 h 272"/>
                <a:gd name="T20" fmla="*/ 150 w 171"/>
                <a:gd name="T21" fmla="*/ 115 h 272"/>
                <a:gd name="T22" fmla="*/ 92 w 171"/>
                <a:gd name="T23" fmla="*/ 124 h 272"/>
                <a:gd name="T24" fmla="*/ 89 w 171"/>
                <a:gd name="T25" fmla="*/ 115 h 272"/>
                <a:gd name="T26" fmla="*/ 80 w 171"/>
                <a:gd name="T27" fmla="*/ 108 h 272"/>
                <a:gd name="T28" fmla="*/ 73 w 171"/>
                <a:gd name="T29" fmla="*/ 83 h 272"/>
                <a:gd name="T30" fmla="*/ 89 w 171"/>
                <a:gd name="T31" fmla="*/ 35 h 272"/>
                <a:gd name="T32" fmla="*/ 131 w 171"/>
                <a:gd name="T33" fmla="*/ 9 h 272"/>
                <a:gd name="T34" fmla="*/ 156 w 171"/>
                <a:gd name="T35" fmla="*/ 3 h 272"/>
                <a:gd name="T36" fmla="*/ 169 w 171"/>
                <a:gd name="T3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272">
                  <a:moveTo>
                    <a:pt x="0" y="272"/>
                  </a:moveTo>
                  <a:cubicBezTo>
                    <a:pt x="3" y="263"/>
                    <a:pt x="3" y="252"/>
                    <a:pt x="6" y="243"/>
                  </a:cubicBezTo>
                  <a:cubicBezTo>
                    <a:pt x="18" y="209"/>
                    <a:pt x="56" y="177"/>
                    <a:pt x="89" y="166"/>
                  </a:cubicBezTo>
                  <a:cubicBezTo>
                    <a:pt x="113" y="170"/>
                    <a:pt x="118" y="172"/>
                    <a:pt x="112" y="198"/>
                  </a:cubicBezTo>
                  <a:cubicBezTo>
                    <a:pt x="111" y="203"/>
                    <a:pt x="106" y="214"/>
                    <a:pt x="102" y="217"/>
                  </a:cubicBezTo>
                  <a:cubicBezTo>
                    <a:pt x="96" y="222"/>
                    <a:pt x="83" y="230"/>
                    <a:pt x="83" y="230"/>
                  </a:cubicBezTo>
                  <a:cubicBezTo>
                    <a:pt x="69" y="227"/>
                    <a:pt x="67" y="221"/>
                    <a:pt x="54" y="217"/>
                  </a:cubicBezTo>
                  <a:cubicBezTo>
                    <a:pt x="50" y="206"/>
                    <a:pt x="44" y="199"/>
                    <a:pt x="41" y="188"/>
                  </a:cubicBezTo>
                  <a:cubicBezTo>
                    <a:pt x="46" y="146"/>
                    <a:pt x="30" y="130"/>
                    <a:pt x="76" y="115"/>
                  </a:cubicBezTo>
                  <a:cubicBezTo>
                    <a:pt x="97" y="94"/>
                    <a:pt x="139" y="89"/>
                    <a:pt x="166" y="86"/>
                  </a:cubicBezTo>
                  <a:cubicBezTo>
                    <a:pt x="171" y="102"/>
                    <a:pt x="166" y="110"/>
                    <a:pt x="150" y="115"/>
                  </a:cubicBezTo>
                  <a:cubicBezTo>
                    <a:pt x="129" y="134"/>
                    <a:pt x="127" y="128"/>
                    <a:pt x="92" y="124"/>
                  </a:cubicBezTo>
                  <a:cubicBezTo>
                    <a:pt x="91" y="121"/>
                    <a:pt x="91" y="118"/>
                    <a:pt x="89" y="115"/>
                  </a:cubicBezTo>
                  <a:cubicBezTo>
                    <a:pt x="87" y="112"/>
                    <a:pt x="82" y="111"/>
                    <a:pt x="80" y="108"/>
                  </a:cubicBezTo>
                  <a:cubicBezTo>
                    <a:pt x="76" y="100"/>
                    <a:pt x="76" y="91"/>
                    <a:pt x="73" y="83"/>
                  </a:cubicBezTo>
                  <a:cubicBezTo>
                    <a:pt x="76" y="66"/>
                    <a:pt x="79" y="50"/>
                    <a:pt x="89" y="35"/>
                  </a:cubicBezTo>
                  <a:cubicBezTo>
                    <a:pt x="97" y="9"/>
                    <a:pt x="103" y="14"/>
                    <a:pt x="131" y="9"/>
                  </a:cubicBezTo>
                  <a:cubicBezTo>
                    <a:pt x="139" y="8"/>
                    <a:pt x="148" y="5"/>
                    <a:pt x="156" y="3"/>
                  </a:cubicBezTo>
                  <a:cubicBezTo>
                    <a:pt x="160" y="2"/>
                    <a:pt x="169" y="0"/>
                    <a:pt x="16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0119" name="Text Box 71"/>
            <p:cNvSpPr txBox="1">
              <a:spLocks noChangeArrowheads="1"/>
            </p:cNvSpPr>
            <p:nvPr/>
          </p:nvSpPr>
          <p:spPr bwMode="auto">
            <a:xfrm>
              <a:off x="4717" y="1787"/>
              <a:ext cx="52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孔压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量测</a:t>
              </a:r>
              <a:endParaRPr lang="en-US" altLang="zh-CN" sz="22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410120" name="Line 72"/>
            <p:cNvSpPr>
              <a:spLocks noChangeShapeType="1"/>
            </p:cNvSpPr>
            <p:nvPr/>
          </p:nvSpPr>
          <p:spPr bwMode="auto">
            <a:xfrm flipH="1" flipV="1">
              <a:off x="4877" y="2291"/>
              <a:ext cx="7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10121" name="AutoShape 73"/>
          <p:cNvSpPr>
            <a:spLocks noChangeArrowheads="1"/>
          </p:cNvSpPr>
          <p:nvPr/>
        </p:nvSpPr>
        <p:spPr bwMode="auto">
          <a:xfrm>
            <a:off x="728663" y="1490663"/>
            <a:ext cx="3122612" cy="404812"/>
          </a:xfrm>
          <a:prstGeom prst="roundRect">
            <a:avLst>
              <a:gd name="adj" fmla="val 16667"/>
            </a:avLst>
          </a:prstGeom>
          <a:solidFill>
            <a:srgbClr val="FFD7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0066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不固结不排水试验</a:t>
            </a:r>
          </a:p>
        </p:txBody>
      </p:sp>
      <p:sp>
        <p:nvSpPr>
          <p:cNvPr id="7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Rectangle 51"/>
          <p:cNvSpPr>
            <a:spLocks noChangeArrowheads="1"/>
          </p:cNvSpPr>
          <p:nvPr/>
        </p:nvSpPr>
        <p:spPr bwMode="auto">
          <a:xfrm>
            <a:off x="1743075" y="574833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三轴状态下孔压系数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0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1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10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10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10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410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410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410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410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0055" grpId="0" build="p" autoUpdateAnimBg="0" advAuto="0"/>
      <p:bldP spid="1410056" grpId="0" build="p"/>
      <p:bldP spid="141012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326" name="Rectangle 14"/>
          <p:cNvSpPr>
            <a:spLocks noChangeArrowheads="1"/>
          </p:cNvSpPr>
          <p:nvPr/>
        </p:nvSpPr>
        <p:spPr bwMode="auto">
          <a:xfrm>
            <a:off x="31750" y="625475"/>
            <a:ext cx="37115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等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向压缩应力状态</a:t>
            </a:r>
          </a:p>
        </p:txBody>
      </p:sp>
      <p:sp>
        <p:nvSpPr>
          <p:cNvPr id="1421327" name="Text Box 15"/>
          <p:cNvSpPr txBox="1">
            <a:spLocks noChangeArrowheads="1"/>
          </p:cNvSpPr>
          <p:nvPr/>
        </p:nvSpPr>
        <p:spPr bwMode="auto">
          <a:xfrm>
            <a:off x="3951288" y="661989"/>
            <a:ext cx="46466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孔隙流体超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静孔压</a:t>
            </a:r>
            <a:r>
              <a:rPr kumimoji="1"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kumimoji="1" lang="en-US" altLang="zh-CN" sz="2400" b="1" i="1" baseline="-25000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1328" name="Text Box 16"/>
          <p:cNvSpPr txBox="1">
            <a:spLocks noChangeArrowheads="1"/>
          </p:cNvSpPr>
          <p:nvPr/>
        </p:nvSpPr>
        <p:spPr bwMode="auto">
          <a:xfrm>
            <a:off x="3962400" y="1638300"/>
            <a:ext cx="33067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孔隙流体的体积变化：</a:t>
            </a:r>
            <a:endParaRPr kumimoji="1" lang="en-US" altLang="zh-CN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1329" name="Text Box 17"/>
          <p:cNvSpPr txBox="1">
            <a:spLocks noChangeArrowheads="1"/>
          </p:cNvSpPr>
          <p:nvPr/>
        </p:nvSpPr>
        <p:spPr bwMode="auto">
          <a:xfrm>
            <a:off x="3984625" y="2632075"/>
            <a:ext cx="27559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土骨架体积变化：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1330" name="Text Box 18"/>
          <p:cNvSpPr txBox="1">
            <a:spLocks noChangeArrowheads="1"/>
          </p:cNvSpPr>
          <p:nvPr/>
        </p:nvSpPr>
        <p:spPr bwMode="auto">
          <a:xfrm>
            <a:off x="3994150" y="3673475"/>
            <a:ext cx="45926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不排水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不排气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： </a:t>
            </a:r>
            <a:r>
              <a:rPr kumimoji="1" lang="en-US" altLang="zh-CN" sz="24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Δ</a:t>
            </a:r>
            <a:r>
              <a:rPr kumimoji="1" lang="en-US" altLang="zh-CN" sz="2400" b="1" i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V</a:t>
            </a:r>
            <a:r>
              <a:rPr kumimoji="1" lang="en-US" altLang="zh-CN" sz="2400" b="1" i="1" baseline="-25000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=Δ</a:t>
            </a:r>
            <a:r>
              <a:rPr kumimoji="1" lang="en-US" altLang="zh-CN" sz="2400" b="1" i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V</a:t>
            </a:r>
            <a:r>
              <a:rPr kumimoji="1" lang="en-US" altLang="zh-CN" sz="2400" b="1" i="1" baseline="-25000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2</a:t>
            </a:r>
            <a:endParaRPr kumimoji="1" lang="zh-CN" altLang="en-US" sz="2400" b="1" i="1" baseline="-25000" dirty="0">
              <a:solidFill>
                <a:srgbClr val="C00000"/>
              </a:solidFill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421331" name="Group 19"/>
          <p:cNvGrpSpPr>
            <a:grpSpLocks/>
          </p:cNvGrpSpPr>
          <p:nvPr/>
        </p:nvGrpSpPr>
        <p:grpSpPr bwMode="auto">
          <a:xfrm>
            <a:off x="403225" y="1371600"/>
            <a:ext cx="3195638" cy="4029152"/>
            <a:chOff x="254" y="1031"/>
            <a:chExt cx="2013" cy="2558"/>
          </a:xfrm>
        </p:grpSpPr>
        <p:sp>
          <p:nvSpPr>
            <p:cNvPr id="1421332" name="Rectangle 20"/>
            <p:cNvSpPr>
              <a:spLocks noChangeArrowheads="1"/>
            </p:cNvSpPr>
            <p:nvPr/>
          </p:nvSpPr>
          <p:spPr bwMode="auto">
            <a:xfrm>
              <a:off x="254" y="1031"/>
              <a:ext cx="2013" cy="2558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21333" name="AutoShape 21"/>
            <p:cNvSpPr>
              <a:spLocks noChangeArrowheads="1"/>
            </p:cNvSpPr>
            <p:nvPr/>
          </p:nvSpPr>
          <p:spPr bwMode="auto">
            <a:xfrm>
              <a:off x="618" y="1562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21334" name="Line 22"/>
            <p:cNvSpPr>
              <a:spLocks noChangeShapeType="1"/>
            </p:cNvSpPr>
            <p:nvPr/>
          </p:nvSpPr>
          <p:spPr bwMode="auto">
            <a:xfrm flipH="1">
              <a:off x="1509" y="2054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1335" name="Line 23"/>
            <p:cNvSpPr>
              <a:spLocks noChangeShapeType="1"/>
            </p:cNvSpPr>
            <p:nvPr/>
          </p:nvSpPr>
          <p:spPr bwMode="auto">
            <a:xfrm rot="16200000" flipH="1">
              <a:off x="901" y="1483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1336" name="Line 24"/>
            <p:cNvSpPr>
              <a:spLocks noChangeShapeType="1"/>
            </p:cNvSpPr>
            <p:nvPr/>
          </p:nvSpPr>
          <p:spPr bwMode="auto">
            <a:xfrm rot="8694631" flipH="1">
              <a:off x="504" y="2343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1337" name="Text Box 25"/>
            <p:cNvSpPr txBox="1">
              <a:spLocks noChangeArrowheads="1"/>
            </p:cNvSpPr>
            <p:nvPr/>
          </p:nvSpPr>
          <p:spPr bwMode="auto">
            <a:xfrm>
              <a:off x="685" y="1134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1338" name="Text Box 26"/>
            <p:cNvSpPr txBox="1">
              <a:spLocks noChangeArrowheads="1"/>
            </p:cNvSpPr>
            <p:nvPr/>
          </p:nvSpPr>
          <p:spPr bwMode="auto">
            <a:xfrm>
              <a:off x="1642" y="1710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1339" name="Text Box 27"/>
            <p:cNvSpPr txBox="1">
              <a:spLocks noChangeArrowheads="1"/>
            </p:cNvSpPr>
            <p:nvPr/>
          </p:nvSpPr>
          <p:spPr bwMode="auto">
            <a:xfrm>
              <a:off x="334" y="2075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1340" name="Text Box 28"/>
            <p:cNvSpPr txBox="1">
              <a:spLocks noChangeArrowheads="1"/>
            </p:cNvSpPr>
            <p:nvPr/>
          </p:nvSpPr>
          <p:spPr bwMode="auto">
            <a:xfrm>
              <a:off x="813" y="1891"/>
              <a:ext cx="57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3200" b="1" i="1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3200" b="1" i="1" baseline="-25000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endParaRPr lang="en-US" altLang="zh-CN" sz="3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1341" name="Text Box 29"/>
            <p:cNvSpPr txBox="1">
              <a:spLocks noChangeArrowheads="1"/>
            </p:cNvSpPr>
            <p:nvPr/>
          </p:nvSpPr>
          <p:spPr bwMode="auto">
            <a:xfrm>
              <a:off x="1614" y="1079"/>
              <a:ext cx="5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体积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孔隙率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</a:p>
          </p:txBody>
        </p:sp>
        <p:sp>
          <p:nvSpPr>
            <p:cNvPr id="1421342" name="Text Box 30"/>
            <p:cNvSpPr txBox="1">
              <a:spLocks noChangeArrowheads="1"/>
            </p:cNvSpPr>
            <p:nvPr/>
          </p:nvSpPr>
          <p:spPr bwMode="auto">
            <a:xfrm>
              <a:off x="372" y="2754"/>
              <a:ext cx="1854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孔隙流体和土骨架为弹性体，其体积压缩系数分别为</a:t>
              </a:r>
              <a:r>
                <a:rPr kumimoji="1" lang="en-US" altLang="zh-CN" sz="2200" b="1" i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r>
                <a:rPr kumimoji="1" lang="en-US" altLang="zh-CN" sz="22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kumimoji="1"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1343" name="Line 31"/>
            <p:cNvSpPr>
              <a:spLocks noChangeShapeType="1"/>
            </p:cNvSpPr>
            <p:nvPr/>
          </p:nvSpPr>
          <p:spPr bwMode="auto">
            <a:xfrm flipV="1">
              <a:off x="1325" y="1294"/>
              <a:ext cx="228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213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465885"/>
              </p:ext>
            </p:extLst>
          </p:nvPr>
        </p:nvGraphicFramePr>
        <p:xfrm>
          <a:off x="4329750" y="2085850"/>
          <a:ext cx="4153377" cy="46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761" name="公式" r:id="rId3" imgW="2171520" imgH="241200" progId="Equation.3">
                  <p:embed/>
                </p:oleObj>
              </mc:Choice>
              <mc:Fallback>
                <p:oleObj name="公式" r:id="rId3" imgW="2171520" imgH="241200" progId="Equation.3">
                  <p:embed/>
                  <p:pic>
                    <p:nvPicPr>
                      <p:cNvPr id="0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9750" y="2085850"/>
                        <a:ext cx="4153377" cy="46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13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595088"/>
              </p:ext>
            </p:extLst>
          </p:nvPr>
        </p:nvGraphicFramePr>
        <p:xfrm>
          <a:off x="4354325" y="3099438"/>
          <a:ext cx="4444842" cy="43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762" name="公式" r:id="rId5" imgW="2323800" imgH="228600" progId="Equation.3">
                  <p:embed/>
                </p:oleObj>
              </mc:Choice>
              <mc:Fallback>
                <p:oleObj name="公式" r:id="rId5" imgW="2323800" imgH="228600" progId="Equation.3">
                  <p:embed/>
                  <p:pic>
                    <p:nvPicPr>
                      <p:cNvPr id="0" name="Object 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325" y="3099438"/>
                        <a:ext cx="4444842" cy="437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134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931354"/>
              </p:ext>
            </p:extLst>
          </p:nvPr>
        </p:nvGraphicFramePr>
        <p:xfrm>
          <a:off x="4331338" y="4224275"/>
          <a:ext cx="3910488" cy="46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763" name="公式" r:id="rId7" imgW="2044440" imgH="241200" progId="Equation.3">
                  <p:embed/>
                </p:oleObj>
              </mc:Choice>
              <mc:Fallback>
                <p:oleObj name="公式" r:id="rId7" imgW="2044440" imgH="241200" progId="Equation.3">
                  <p:embed/>
                  <p:pic>
                    <p:nvPicPr>
                      <p:cNvPr id="0" name="Object 3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338" y="4224275"/>
                        <a:ext cx="3910488" cy="46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134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30624"/>
              </p:ext>
            </p:extLst>
          </p:nvPr>
        </p:nvGraphicFramePr>
        <p:xfrm>
          <a:off x="4671950" y="4790251"/>
          <a:ext cx="2914650" cy="801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1764" name="公式" r:id="rId9" imgW="1523880" imgH="419040" progId="Equation.3">
                  <p:embed/>
                </p:oleObj>
              </mc:Choice>
              <mc:Fallback>
                <p:oleObj name="公式" r:id="rId9" imgW="1523880" imgH="419040" progId="Equation.3">
                  <p:embed/>
                  <p:pic>
                    <p:nvPicPr>
                      <p:cNvPr id="0" name="Object 3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950" y="4790251"/>
                        <a:ext cx="2914650" cy="801529"/>
                      </a:xfrm>
                      <a:prstGeom prst="rect">
                        <a:avLst/>
                      </a:prstGeom>
                      <a:solidFill>
                        <a:srgbClr val="FFC58B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1348" name="AutoShape 36"/>
          <p:cNvSpPr>
            <a:spLocks noChangeArrowheads="1"/>
          </p:cNvSpPr>
          <p:nvPr/>
        </p:nvSpPr>
        <p:spPr bwMode="auto">
          <a:xfrm>
            <a:off x="4047238" y="4880675"/>
            <a:ext cx="552450" cy="522288"/>
          </a:xfrm>
          <a:prstGeom prst="homePlate">
            <a:avLst>
              <a:gd name="adj" fmla="val 26444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Rectangle 51"/>
          <p:cNvSpPr>
            <a:spLocks noChangeArrowheads="1"/>
          </p:cNvSpPr>
          <p:nvPr/>
        </p:nvSpPr>
        <p:spPr bwMode="auto">
          <a:xfrm>
            <a:off x="1743075" y="574833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3979863" y="1128713"/>
            <a:ext cx="46466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土骨架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有效附加应力：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kumimoji="1" lang="el-GR" altLang="zh-CN" sz="24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B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1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2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21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2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21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21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42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21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21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42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21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2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42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42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42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1326" grpId="0" build="p" autoUpdateAnimBg="0" advAuto="0"/>
      <p:bldP spid="1421327" grpId="0"/>
      <p:bldP spid="1421328" grpId="0"/>
      <p:bldP spid="1421329" grpId="0"/>
      <p:bldP spid="1421330" grpId="0"/>
      <p:bldP spid="1421348" grpId="0" animBg="1"/>
      <p:bldP spid="3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85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532383"/>
              </p:ext>
            </p:extLst>
          </p:nvPr>
        </p:nvGraphicFramePr>
        <p:xfrm>
          <a:off x="4346838" y="540513"/>
          <a:ext cx="32385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844" name="公式" r:id="rId3" imgW="1523880" imgH="419040" progId="Equation.3">
                  <p:embed/>
                </p:oleObj>
              </mc:Choice>
              <mc:Fallback>
                <p:oleObj name="公式" r:id="rId3" imgW="1523880" imgH="419040" progId="Equation.3">
                  <p:embed/>
                  <p:pic>
                    <p:nvPicPr>
                      <p:cNvPr id="0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6838" y="540513"/>
                        <a:ext cx="32385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8512" name="AutoShape 32"/>
          <p:cNvSpPr>
            <a:spLocks noChangeArrowheads="1"/>
          </p:cNvSpPr>
          <p:nvPr/>
        </p:nvSpPr>
        <p:spPr bwMode="auto">
          <a:xfrm>
            <a:off x="4654550" y="2138363"/>
            <a:ext cx="476250" cy="461962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428513" name="Group 33"/>
          <p:cNvGrpSpPr>
            <a:grpSpLocks/>
          </p:cNvGrpSpPr>
          <p:nvPr/>
        </p:nvGrpSpPr>
        <p:grpSpPr bwMode="auto">
          <a:xfrm>
            <a:off x="4265612" y="1481138"/>
            <a:ext cx="3571875" cy="463550"/>
            <a:chOff x="2987" y="933"/>
            <a:chExt cx="2250" cy="292"/>
          </a:xfrm>
        </p:grpSpPr>
        <p:graphicFrame>
          <p:nvGraphicFramePr>
            <p:cNvPr id="1428514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7263103"/>
                </p:ext>
              </p:extLst>
            </p:nvPr>
          </p:nvGraphicFramePr>
          <p:xfrm>
            <a:off x="4109" y="951"/>
            <a:ext cx="112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8845" name="公式" r:id="rId5" imgW="812520" imgH="228600" progId="Equation.3">
                    <p:embed/>
                  </p:oleObj>
                </mc:Choice>
                <mc:Fallback>
                  <p:oleObj name="公式" r:id="rId5" imgW="812520" imgH="228600" progId="Equation.3">
                    <p:embed/>
                    <p:pic>
                      <p:nvPicPr>
                        <p:cNvPr id="0" name="Object 3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 l="-8041" r="-8041"/>
                        <a:stretch>
                          <a:fillRect/>
                        </a:stretch>
                      </p:blipFill>
                      <p:spPr bwMode="auto">
                        <a:xfrm>
                          <a:off x="4109" y="951"/>
                          <a:ext cx="112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8515" name="Text Box 35"/>
            <p:cNvSpPr txBox="1">
              <a:spLocks noChangeArrowheads="1"/>
            </p:cNvSpPr>
            <p:nvPr/>
          </p:nvSpPr>
          <p:spPr bwMode="auto">
            <a:xfrm>
              <a:off x="2987" y="933"/>
              <a:ext cx="1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孔压系数</a:t>
              </a:r>
              <a:r>
                <a:rPr kumimoji="1"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B</a:t>
              </a: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：</a:t>
              </a:r>
            </a:p>
          </p:txBody>
        </p:sp>
      </p:grpSp>
      <p:graphicFrame>
        <p:nvGraphicFramePr>
          <p:cNvPr id="142851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804423"/>
              </p:ext>
            </p:extLst>
          </p:nvPr>
        </p:nvGraphicFramePr>
        <p:xfrm>
          <a:off x="5181913" y="2035875"/>
          <a:ext cx="24987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846" name="公式" r:id="rId7" imgW="1130040" imgH="419040" progId="Equation.3">
                  <p:embed/>
                </p:oleObj>
              </mc:Choice>
              <mc:Fallback>
                <p:oleObj name="公式" r:id="rId7" imgW="1130040" imgH="419040" progId="Equation.3">
                  <p:embed/>
                  <p:pic>
                    <p:nvPicPr>
                      <p:cNvPr id="0" name="Object 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 l="-8005" r="-8005"/>
                      <a:stretch>
                        <a:fillRect/>
                      </a:stretch>
                    </p:blipFill>
                    <p:spPr bwMode="auto">
                      <a:xfrm>
                        <a:off x="5181913" y="2035875"/>
                        <a:ext cx="2498725" cy="800100"/>
                      </a:xfrm>
                      <a:prstGeom prst="rect">
                        <a:avLst/>
                      </a:prstGeom>
                      <a:solidFill>
                        <a:srgbClr val="FFC58B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8517" name="Text Box 37"/>
          <p:cNvSpPr txBox="1">
            <a:spLocks noChangeArrowheads="1"/>
          </p:cNvSpPr>
          <p:nvPr/>
        </p:nvSpPr>
        <p:spPr bwMode="auto">
          <a:xfrm>
            <a:off x="4443737" y="3056900"/>
            <a:ext cx="4617131" cy="43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C00000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单位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周压力</a:t>
            </a: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增量引起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的孔</a:t>
            </a: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压增量</a:t>
            </a:r>
            <a:endParaRPr kumimoji="0" lang="zh-CN" altLang="en-US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8518" name="Rectangle 38"/>
          <p:cNvSpPr>
            <a:spLocks noChangeArrowheads="1"/>
          </p:cNvSpPr>
          <p:nvPr/>
        </p:nvSpPr>
        <p:spPr bwMode="auto">
          <a:xfrm>
            <a:off x="4711325" y="3710175"/>
            <a:ext cx="4254541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  <a:tabLst>
                <a:tab pos="1082675" algn="l"/>
                <a:tab pos="2332038" algn="l"/>
              </a:tabLs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饱和土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kumimoji="1"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2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kumimoji="1" lang="en-US" altLang="zh-CN" sz="22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2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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2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	 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 1.0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  <a:tabLst>
                <a:tab pos="1082675" algn="l"/>
                <a:tab pos="2332038" algn="l"/>
              </a:tabLs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干 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：</a:t>
            </a:r>
            <a:r>
              <a:rPr kumimoji="1" lang="en-US" altLang="zh-CN" sz="22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200" b="1" i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kumimoji="1" lang="en-US" altLang="zh-CN" sz="22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&gt;&gt;C</a:t>
            </a:r>
            <a:r>
              <a:rPr kumimoji="1"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 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B=0   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  <a:tabLst>
                <a:tab pos="1082675" algn="l"/>
                <a:tab pos="2332038" algn="l"/>
              </a:tabLs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非饱和土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0-1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之间</a:t>
            </a:r>
          </a:p>
        </p:txBody>
      </p:sp>
      <p:sp>
        <p:nvSpPr>
          <p:cNvPr id="1428519" name="Text Box 39"/>
          <p:cNvSpPr txBox="1">
            <a:spLocks noChangeArrowheads="1"/>
          </p:cNvSpPr>
          <p:nvPr/>
        </p:nvSpPr>
        <p:spPr bwMode="auto">
          <a:xfrm>
            <a:off x="4613275" y="5072888"/>
            <a:ext cx="4414838" cy="457200"/>
          </a:xfrm>
          <a:prstGeom prst="rect">
            <a:avLst/>
          </a:prstGeom>
          <a:solidFill>
            <a:srgbClr val="FFC58B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B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是一个反映土饱和程度的指标</a:t>
            </a:r>
          </a:p>
        </p:txBody>
      </p:sp>
      <p:sp>
        <p:nvSpPr>
          <p:cNvPr id="1428520" name="AutoShape 40"/>
          <p:cNvSpPr>
            <a:spLocks noChangeArrowheads="1"/>
          </p:cNvSpPr>
          <p:nvPr/>
        </p:nvSpPr>
        <p:spPr bwMode="auto">
          <a:xfrm>
            <a:off x="4078288" y="5099050"/>
            <a:ext cx="476250" cy="430213"/>
          </a:xfrm>
          <a:prstGeom prst="homePlate">
            <a:avLst>
              <a:gd name="adj" fmla="val 2767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1750" y="625475"/>
            <a:ext cx="3711575" cy="59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等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向压缩应力状态</a:t>
            </a:r>
          </a:p>
        </p:txBody>
      </p:sp>
      <p:grpSp>
        <p:nvGrpSpPr>
          <p:cNvPr id="29" name="Group 19"/>
          <p:cNvGrpSpPr>
            <a:grpSpLocks/>
          </p:cNvGrpSpPr>
          <p:nvPr/>
        </p:nvGrpSpPr>
        <p:grpSpPr bwMode="auto">
          <a:xfrm>
            <a:off x="385763" y="1371600"/>
            <a:ext cx="3213101" cy="4029152"/>
            <a:chOff x="243" y="1031"/>
            <a:chExt cx="2024" cy="2558"/>
          </a:xfrm>
        </p:grpSpPr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254" y="1031"/>
              <a:ext cx="2013" cy="2558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" name="AutoShape 21"/>
            <p:cNvSpPr>
              <a:spLocks noChangeArrowheads="1"/>
            </p:cNvSpPr>
            <p:nvPr/>
          </p:nvSpPr>
          <p:spPr bwMode="auto">
            <a:xfrm>
              <a:off x="618" y="1562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2" name="Line 22"/>
            <p:cNvSpPr>
              <a:spLocks noChangeShapeType="1"/>
            </p:cNvSpPr>
            <p:nvPr/>
          </p:nvSpPr>
          <p:spPr bwMode="auto">
            <a:xfrm flipH="1">
              <a:off x="1509" y="2054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 rot="16200000" flipH="1">
              <a:off x="901" y="1483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 rot="8694631" flipH="1">
              <a:off x="504" y="2343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685" y="1134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6" name="Text Box 26"/>
            <p:cNvSpPr txBox="1">
              <a:spLocks noChangeArrowheads="1"/>
            </p:cNvSpPr>
            <p:nvPr/>
          </p:nvSpPr>
          <p:spPr bwMode="auto">
            <a:xfrm>
              <a:off x="1642" y="1710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7" name="Text Box 27"/>
            <p:cNvSpPr txBox="1">
              <a:spLocks noChangeArrowheads="1"/>
            </p:cNvSpPr>
            <p:nvPr/>
          </p:nvSpPr>
          <p:spPr bwMode="auto">
            <a:xfrm>
              <a:off x="243" y="2155"/>
              <a:ext cx="4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8" name="Text Box 28"/>
            <p:cNvSpPr txBox="1">
              <a:spLocks noChangeArrowheads="1"/>
            </p:cNvSpPr>
            <p:nvPr/>
          </p:nvSpPr>
          <p:spPr bwMode="auto">
            <a:xfrm>
              <a:off x="813" y="1891"/>
              <a:ext cx="54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3200" b="1" i="1" dirty="0" err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3200" b="1" i="1" baseline="-25000" dirty="0" err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B</a:t>
              </a:r>
              <a:endParaRPr lang="en-US" altLang="zh-CN" sz="3200" b="1" i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39" name="Text Box 29"/>
            <p:cNvSpPr txBox="1">
              <a:spLocks noChangeArrowheads="1"/>
            </p:cNvSpPr>
            <p:nvPr/>
          </p:nvSpPr>
          <p:spPr bwMode="auto">
            <a:xfrm>
              <a:off x="1614" y="1079"/>
              <a:ext cx="653" cy="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体积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孔隙率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</a:p>
          </p:txBody>
        </p:sp>
        <p:sp>
          <p:nvSpPr>
            <p:cNvPr id="40" name="Text Box 30"/>
            <p:cNvSpPr txBox="1">
              <a:spLocks noChangeArrowheads="1"/>
            </p:cNvSpPr>
            <p:nvPr/>
          </p:nvSpPr>
          <p:spPr bwMode="auto">
            <a:xfrm>
              <a:off x="372" y="2754"/>
              <a:ext cx="1854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孔隙流体和土骨架为弹性体，其体积压缩系数分别为</a:t>
              </a:r>
              <a:r>
                <a:rPr kumimoji="1" lang="en-US" altLang="zh-CN" sz="2200" b="1" i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r>
                <a:rPr kumimoji="1" lang="en-US" altLang="zh-CN" sz="22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kumimoji="1"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1" name="Line 31"/>
            <p:cNvSpPr>
              <a:spLocks noChangeShapeType="1"/>
            </p:cNvSpPr>
            <p:nvPr/>
          </p:nvSpPr>
          <p:spPr bwMode="auto">
            <a:xfrm flipV="1">
              <a:off x="1325" y="1294"/>
              <a:ext cx="228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4" name="Rectangle 51"/>
          <p:cNvSpPr>
            <a:spLocks noChangeArrowheads="1"/>
          </p:cNvSpPr>
          <p:nvPr/>
        </p:nvSpPr>
        <p:spPr bwMode="auto">
          <a:xfrm>
            <a:off x="1743075" y="574833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B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2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2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2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42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285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2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2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28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28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28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2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28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8512" grpId="0" animBg="1"/>
      <p:bldP spid="1428517" grpId="0"/>
      <p:bldP spid="1428519" grpId="0" animBg="1"/>
      <p:bldP spid="1428520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85" name="Rectangle 29"/>
          <p:cNvSpPr>
            <a:spLocks noChangeArrowheads="1"/>
          </p:cNvSpPr>
          <p:nvPr/>
        </p:nvSpPr>
        <p:spPr bwMode="auto">
          <a:xfrm>
            <a:off x="47625" y="539750"/>
            <a:ext cx="2797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偏差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应力状态</a:t>
            </a:r>
          </a:p>
        </p:txBody>
      </p:sp>
      <p:grpSp>
        <p:nvGrpSpPr>
          <p:cNvPr id="1427486" name="Group 30"/>
          <p:cNvGrpSpPr>
            <a:grpSpLocks/>
          </p:cNvGrpSpPr>
          <p:nvPr/>
        </p:nvGrpSpPr>
        <p:grpSpPr bwMode="auto">
          <a:xfrm>
            <a:off x="311150" y="1227138"/>
            <a:ext cx="3287713" cy="4202113"/>
            <a:chOff x="196" y="977"/>
            <a:chExt cx="2071" cy="2647"/>
          </a:xfrm>
        </p:grpSpPr>
        <p:sp>
          <p:nvSpPr>
            <p:cNvPr id="1427487" name="Rectangle 31"/>
            <p:cNvSpPr>
              <a:spLocks noChangeArrowheads="1"/>
            </p:cNvSpPr>
            <p:nvPr/>
          </p:nvSpPr>
          <p:spPr bwMode="auto">
            <a:xfrm>
              <a:off x="196" y="977"/>
              <a:ext cx="2071" cy="264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7488" name="AutoShape 32"/>
            <p:cNvSpPr>
              <a:spLocks noChangeArrowheads="1"/>
            </p:cNvSpPr>
            <p:nvPr/>
          </p:nvSpPr>
          <p:spPr bwMode="auto">
            <a:xfrm>
              <a:off x="618" y="1402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7489" name="Line 33"/>
            <p:cNvSpPr>
              <a:spLocks noChangeShapeType="1"/>
            </p:cNvSpPr>
            <p:nvPr/>
          </p:nvSpPr>
          <p:spPr bwMode="auto">
            <a:xfrm flipH="1">
              <a:off x="1509" y="1894"/>
              <a:ext cx="4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7490" name="Line 34"/>
            <p:cNvSpPr>
              <a:spLocks noChangeShapeType="1"/>
            </p:cNvSpPr>
            <p:nvPr/>
          </p:nvSpPr>
          <p:spPr bwMode="auto">
            <a:xfrm rot="16200000" flipH="1">
              <a:off x="934" y="1357"/>
              <a:ext cx="3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7491" name="Line 35"/>
            <p:cNvSpPr>
              <a:spLocks noChangeShapeType="1"/>
            </p:cNvSpPr>
            <p:nvPr/>
          </p:nvSpPr>
          <p:spPr bwMode="auto">
            <a:xfrm rot="8694631" flipH="1">
              <a:off x="625" y="2145"/>
              <a:ext cx="33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7492" name="Text Box 36"/>
            <p:cNvSpPr txBox="1">
              <a:spLocks noChangeArrowheads="1"/>
            </p:cNvSpPr>
            <p:nvPr/>
          </p:nvSpPr>
          <p:spPr bwMode="auto">
            <a:xfrm>
              <a:off x="1642" y="15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1427493" name="Text Box 37"/>
            <p:cNvSpPr txBox="1">
              <a:spLocks noChangeArrowheads="1"/>
            </p:cNvSpPr>
            <p:nvPr/>
          </p:nvSpPr>
          <p:spPr bwMode="auto">
            <a:xfrm>
              <a:off x="514" y="191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1427494" name="Text Box 38"/>
            <p:cNvSpPr txBox="1">
              <a:spLocks noChangeArrowheads="1"/>
            </p:cNvSpPr>
            <p:nvPr/>
          </p:nvSpPr>
          <p:spPr bwMode="auto">
            <a:xfrm>
              <a:off x="1614" y="1009"/>
              <a:ext cx="5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体积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孔隙率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</a:p>
          </p:txBody>
        </p:sp>
        <p:sp>
          <p:nvSpPr>
            <p:cNvPr id="1427495" name="Text Box 39"/>
            <p:cNvSpPr txBox="1">
              <a:spLocks noChangeArrowheads="1"/>
            </p:cNvSpPr>
            <p:nvPr/>
          </p:nvSpPr>
          <p:spPr bwMode="auto">
            <a:xfrm>
              <a:off x="336" y="2830"/>
              <a:ext cx="1808" cy="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孔隙流体和土骨架为弹性体，其体积压缩系数分别为</a:t>
              </a:r>
              <a:r>
                <a:rPr kumimoji="1" lang="en-US" altLang="zh-CN" sz="2200" b="1" i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r>
                <a:rPr kumimoji="1" lang="en-US" altLang="zh-CN" sz="22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kumimoji="1"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7496" name="Line 40"/>
            <p:cNvSpPr>
              <a:spLocks noChangeShapeType="1"/>
            </p:cNvSpPr>
            <p:nvPr/>
          </p:nvSpPr>
          <p:spPr bwMode="auto">
            <a:xfrm flipV="1">
              <a:off x="1325" y="1134"/>
              <a:ext cx="228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7497" name="Text Box 41"/>
            <p:cNvSpPr txBox="1">
              <a:spLocks noChangeArrowheads="1"/>
            </p:cNvSpPr>
            <p:nvPr/>
          </p:nvSpPr>
          <p:spPr bwMode="auto">
            <a:xfrm>
              <a:off x="809" y="1757"/>
              <a:ext cx="5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3200" b="1" i="1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3200" b="1" i="1" baseline="-25000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3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7498" name="Text Box 42"/>
            <p:cNvSpPr txBox="1">
              <a:spLocks noChangeArrowheads="1"/>
            </p:cNvSpPr>
            <p:nvPr/>
          </p:nvSpPr>
          <p:spPr bwMode="auto">
            <a:xfrm>
              <a:off x="310" y="1040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27499" name="Line 43"/>
            <p:cNvSpPr>
              <a:spLocks noChangeShapeType="1"/>
            </p:cNvSpPr>
            <p:nvPr/>
          </p:nvSpPr>
          <p:spPr bwMode="auto">
            <a:xfrm rot="5400000" flipH="1">
              <a:off x="960" y="2611"/>
              <a:ext cx="3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7500" name="Text Box 44"/>
            <p:cNvSpPr txBox="1">
              <a:spLocks noChangeArrowheads="1"/>
            </p:cNvSpPr>
            <p:nvPr/>
          </p:nvSpPr>
          <p:spPr bwMode="auto">
            <a:xfrm>
              <a:off x="326" y="2453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427501" name="Text Box 45"/>
          <p:cNvSpPr txBox="1">
            <a:spLocks noChangeArrowheads="1"/>
          </p:cNvSpPr>
          <p:nvPr/>
        </p:nvSpPr>
        <p:spPr bwMode="auto">
          <a:xfrm>
            <a:off x="3941763" y="652463"/>
            <a:ext cx="4646612" cy="386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孔隙流体产生超静孔压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kumimoji="1" lang="el-GR" altLang="zh-CN" sz="24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7502" name="Text Box 46"/>
          <p:cNvSpPr txBox="1">
            <a:spLocks noChangeArrowheads="1"/>
          </p:cNvSpPr>
          <p:nvPr/>
        </p:nvSpPr>
        <p:spPr bwMode="auto">
          <a:xfrm>
            <a:off x="3981450" y="1149350"/>
            <a:ext cx="33226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孔隙流体的体积变化：</a:t>
            </a:r>
            <a:endParaRPr kumimoji="1" lang="en-US" altLang="zh-CN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7503" name="Text Box 47"/>
          <p:cNvSpPr txBox="1">
            <a:spLocks noChangeArrowheads="1"/>
          </p:cNvSpPr>
          <p:nvPr/>
        </p:nvSpPr>
        <p:spPr bwMode="auto">
          <a:xfrm>
            <a:off x="3965575" y="2066925"/>
            <a:ext cx="26939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土骨架体积变化：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42750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297968"/>
              </p:ext>
            </p:extLst>
          </p:nvPr>
        </p:nvGraphicFramePr>
        <p:xfrm>
          <a:off x="4328925" y="1592075"/>
          <a:ext cx="3931416" cy="434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931" name="公式" r:id="rId3" imgW="2184120" imgH="241200" progId="Equation.3">
                  <p:embed/>
                </p:oleObj>
              </mc:Choice>
              <mc:Fallback>
                <p:oleObj name="公式" r:id="rId3" imgW="2184120" imgH="24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925" y="1592075"/>
                        <a:ext cx="3931416" cy="434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750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54027"/>
              </p:ext>
            </p:extLst>
          </p:nvPr>
        </p:nvGraphicFramePr>
        <p:xfrm>
          <a:off x="4354513" y="2500188"/>
          <a:ext cx="3954744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932" name="公式" r:id="rId5" imgW="2197080" imgH="228600" progId="Equation.3">
                  <p:embed/>
                </p:oleObj>
              </mc:Choice>
              <mc:Fallback>
                <p:oleObj name="公式" r:id="rId5" imgW="219708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2500188"/>
                        <a:ext cx="3954744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27506" name="Group 50"/>
          <p:cNvGrpSpPr>
            <a:grpSpLocks/>
          </p:cNvGrpSpPr>
          <p:nvPr/>
        </p:nvGrpSpPr>
        <p:grpSpPr bwMode="auto">
          <a:xfrm>
            <a:off x="4103938" y="2975163"/>
            <a:ext cx="4770437" cy="1571625"/>
            <a:chOff x="2573" y="2015"/>
            <a:chExt cx="3005" cy="990"/>
          </a:xfrm>
        </p:grpSpPr>
        <p:sp>
          <p:nvSpPr>
            <p:cNvPr id="1427507" name="Rectangle 51"/>
            <p:cNvSpPr>
              <a:spLocks noChangeArrowheads="1"/>
            </p:cNvSpPr>
            <p:nvPr/>
          </p:nvSpPr>
          <p:spPr bwMode="auto">
            <a:xfrm>
              <a:off x="2573" y="2015"/>
              <a:ext cx="3005" cy="990"/>
            </a:xfrm>
            <a:prstGeom prst="rect">
              <a:avLst/>
            </a:prstGeom>
            <a:solidFill>
              <a:srgbClr val="FFC58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27508" name="Group 52"/>
            <p:cNvGrpSpPr>
              <a:grpSpLocks/>
            </p:cNvGrpSpPr>
            <p:nvPr/>
          </p:nvGrpSpPr>
          <p:grpSpPr bwMode="auto">
            <a:xfrm>
              <a:off x="2666" y="2069"/>
              <a:ext cx="2850" cy="861"/>
              <a:chOff x="2656" y="2089"/>
              <a:chExt cx="2850" cy="861"/>
            </a:xfrm>
          </p:grpSpPr>
          <p:sp>
            <p:nvSpPr>
              <p:cNvPr id="1427509" name="Text Box 53"/>
              <p:cNvSpPr txBox="1">
                <a:spLocks noChangeArrowheads="1"/>
              </p:cNvSpPr>
              <p:nvPr/>
            </p:nvSpPr>
            <p:spPr bwMode="auto">
              <a:xfrm>
                <a:off x="2656" y="2728"/>
                <a:ext cx="1024" cy="192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Font typeface="Wingdings" pitchFamily="2" charset="2"/>
                  <a:buNone/>
                </a:pPr>
                <a:r>
                  <a:rPr kumimoji="1" lang="zh-CN" altLang="en-US" sz="20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有效附加应力</a:t>
                </a:r>
              </a:p>
            </p:txBody>
          </p:sp>
          <p:sp>
            <p:nvSpPr>
              <p:cNvPr id="1427510" name="Text Box 54"/>
              <p:cNvSpPr txBox="1">
                <a:spLocks noChangeArrowheads="1"/>
              </p:cNvSpPr>
              <p:nvPr/>
            </p:nvSpPr>
            <p:spPr bwMode="auto">
              <a:xfrm>
                <a:off x="4072" y="2089"/>
                <a:ext cx="380" cy="192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轴向</a:t>
                </a:r>
              </a:p>
            </p:txBody>
          </p:sp>
          <p:sp>
            <p:nvSpPr>
              <p:cNvPr id="1427511" name="Text Box 55"/>
              <p:cNvSpPr txBox="1">
                <a:spLocks noChangeArrowheads="1"/>
              </p:cNvSpPr>
              <p:nvPr/>
            </p:nvSpPr>
            <p:spPr bwMode="auto">
              <a:xfrm>
                <a:off x="5091" y="2096"/>
                <a:ext cx="370" cy="192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侧向</a:t>
                </a:r>
              </a:p>
            </p:txBody>
          </p:sp>
          <p:sp>
            <p:nvSpPr>
              <p:cNvPr id="1427512" name="Text Box 56"/>
              <p:cNvSpPr txBox="1">
                <a:spLocks noChangeArrowheads="1"/>
              </p:cNvSpPr>
              <p:nvPr/>
            </p:nvSpPr>
            <p:spPr bwMode="auto">
              <a:xfrm>
                <a:off x="2665" y="2392"/>
                <a:ext cx="853" cy="192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总应力增量</a:t>
                </a:r>
              </a:p>
            </p:txBody>
          </p:sp>
          <p:sp>
            <p:nvSpPr>
              <p:cNvPr id="1427513" name="Text Box 57"/>
              <p:cNvSpPr txBox="1">
                <a:spLocks noChangeArrowheads="1"/>
              </p:cNvSpPr>
              <p:nvPr/>
            </p:nvSpPr>
            <p:spPr bwMode="auto">
              <a:xfrm>
                <a:off x="3853" y="2324"/>
                <a:ext cx="776" cy="288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</a:t>
                </a: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427514" name="Text Box 58"/>
              <p:cNvSpPr txBox="1">
                <a:spLocks noChangeArrowheads="1"/>
              </p:cNvSpPr>
              <p:nvPr/>
            </p:nvSpPr>
            <p:spPr bwMode="auto">
              <a:xfrm>
                <a:off x="5142" y="2346"/>
                <a:ext cx="212" cy="288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427515" name="Text Box 59"/>
              <p:cNvSpPr txBox="1">
                <a:spLocks noChangeArrowheads="1"/>
              </p:cNvSpPr>
              <p:nvPr/>
            </p:nvSpPr>
            <p:spPr bwMode="auto">
              <a:xfrm>
                <a:off x="3806" y="2662"/>
                <a:ext cx="1157" cy="288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</a:t>
                </a: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-</a:t>
                </a:r>
                <a:r>
                  <a:rPr lang="en-US" altLang="zh-CN" sz="2400" b="1" i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24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427516" name="Text Box 60"/>
              <p:cNvSpPr txBox="1">
                <a:spLocks noChangeArrowheads="1"/>
              </p:cNvSpPr>
              <p:nvPr/>
            </p:nvSpPr>
            <p:spPr bwMode="auto">
              <a:xfrm>
                <a:off x="5009" y="2654"/>
                <a:ext cx="497" cy="288"/>
              </a:xfrm>
              <a:prstGeom prst="rect">
                <a:avLst/>
              </a:prstGeom>
              <a:solidFill>
                <a:srgbClr val="FFC58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-</a:t>
                </a:r>
                <a:r>
                  <a:rPr lang="en-US" altLang="zh-CN" sz="2400" b="1" i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u</a:t>
                </a:r>
                <a:r>
                  <a:rPr lang="en-US" altLang="zh-CN" sz="2400" b="1" i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</p:grpSp>
      </p:grpSp>
      <p:graphicFrame>
        <p:nvGraphicFramePr>
          <p:cNvPr id="1427517" name="Objec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464305"/>
              </p:ext>
            </p:extLst>
          </p:nvPr>
        </p:nvGraphicFramePr>
        <p:xfrm>
          <a:off x="4111588" y="4710750"/>
          <a:ext cx="418579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933" name="公式" r:id="rId7" imgW="2616120" imgH="228600" progId="Equation.3">
                  <p:embed/>
                </p:oleObj>
              </mc:Choice>
              <mc:Fallback>
                <p:oleObj name="公式" r:id="rId7" imgW="2616120" imgH="22860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588" y="4710750"/>
                        <a:ext cx="418579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7518" name="Object 6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815570"/>
              </p:ext>
            </p:extLst>
          </p:nvPr>
        </p:nvGraphicFramePr>
        <p:xfrm>
          <a:off x="4111588" y="5191763"/>
          <a:ext cx="4957632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934" name="公式" r:id="rId9" imgW="3098520" imgH="228600" progId="Equation.3">
                  <p:embed/>
                </p:oleObj>
              </mc:Choice>
              <mc:Fallback>
                <p:oleObj name="公式" r:id="rId9" imgW="3098520" imgH="2286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588" y="5191763"/>
                        <a:ext cx="4957632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0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7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27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2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2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42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2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42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42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42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42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7485" grpId="0" build="p" autoUpdateAnimBg="0" advAuto="0"/>
      <p:bldP spid="1427501" grpId="0"/>
      <p:bldP spid="1427502" grpId="0"/>
      <p:bldP spid="142750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448" name="Text Box 16"/>
          <p:cNvSpPr txBox="1">
            <a:spLocks noChangeArrowheads="1"/>
          </p:cNvSpPr>
          <p:nvPr/>
        </p:nvSpPr>
        <p:spPr bwMode="auto">
          <a:xfrm>
            <a:off x="3983038" y="704850"/>
            <a:ext cx="39211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土骨架体积变化：胡克定律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426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021128"/>
              </p:ext>
            </p:extLst>
          </p:nvPr>
        </p:nvGraphicFramePr>
        <p:xfrm>
          <a:off x="4375150" y="1125538"/>
          <a:ext cx="381317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780" name="公式" r:id="rId3" imgW="2260440" imgH="723600" progId="Equation.3">
                  <p:embed/>
                </p:oleObj>
              </mc:Choice>
              <mc:Fallback>
                <p:oleObj name="公式" r:id="rId3" imgW="2260440" imgH="723600" progId="Equation.3">
                  <p:embed/>
                  <p:pic>
                    <p:nvPicPr>
                      <p:cNvPr id="0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1125538"/>
                        <a:ext cx="381317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6450" name="Text Box 18"/>
          <p:cNvSpPr txBox="1">
            <a:spLocks noChangeArrowheads="1"/>
          </p:cNvSpPr>
          <p:nvPr/>
        </p:nvSpPr>
        <p:spPr bwMode="auto">
          <a:xfrm>
            <a:off x="3957638" y="2568575"/>
            <a:ext cx="465296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不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排水，不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排气： 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ΔV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=ΔV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  <a:endParaRPr kumimoji="1" lang="zh-CN" altLang="en-US" sz="2400" b="1" baseline="-25000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4264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012698"/>
              </p:ext>
            </p:extLst>
          </p:nvPr>
        </p:nvGraphicFramePr>
        <p:xfrm>
          <a:off x="4377251" y="3081275"/>
          <a:ext cx="3750469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781" name="公式" r:id="rId5" imgW="2222280" imgH="787320" progId="Equation.3">
                  <p:embed/>
                </p:oleObj>
              </mc:Choice>
              <mc:Fallback>
                <p:oleObj name="公式" r:id="rId5" imgW="2222280" imgH="787320" progId="Equation.3">
                  <p:embed/>
                  <p:pic>
                    <p:nvPicPr>
                      <p:cNvPr id="0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7251" y="3081275"/>
                        <a:ext cx="3750469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6452" name="Text Box 20"/>
          <p:cNvSpPr txBox="1">
            <a:spLocks noChangeArrowheads="1"/>
          </p:cNvSpPr>
          <p:nvPr/>
        </p:nvSpPr>
        <p:spPr bwMode="auto">
          <a:xfrm>
            <a:off x="4497388" y="4588700"/>
            <a:ext cx="167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孔压系数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6453" name="AutoShape 21"/>
          <p:cNvSpPr>
            <a:spLocks noChangeArrowheads="1"/>
          </p:cNvSpPr>
          <p:nvPr/>
        </p:nvSpPr>
        <p:spPr bwMode="auto">
          <a:xfrm>
            <a:off x="3992563" y="4598225"/>
            <a:ext cx="476250" cy="461963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142645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226046"/>
              </p:ext>
            </p:extLst>
          </p:nvPr>
        </p:nvGraphicFramePr>
        <p:xfrm>
          <a:off x="4759313" y="5163188"/>
          <a:ext cx="2930366" cy="44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782" name="公式" r:id="rId7" imgW="1498320" imgH="228600" progId="Equation.3">
                  <p:embed/>
                </p:oleObj>
              </mc:Choice>
              <mc:Fallback>
                <p:oleObj name="公式" r:id="rId7" imgW="1498320" imgH="228600" progId="Equation.3">
                  <p:embed/>
                  <p:pic>
                    <p:nvPicPr>
                      <p:cNvPr id="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313" y="5163188"/>
                        <a:ext cx="2930366" cy="447198"/>
                      </a:xfrm>
                      <a:prstGeom prst="rect">
                        <a:avLst/>
                      </a:prstGeom>
                      <a:solidFill>
                        <a:srgbClr val="FFC58B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47625" y="539750"/>
            <a:ext cx="2797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偏差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应力状态</a:t>
            </a:r>
          </a:p>
        </p:txBody>
      </p:sp>
      <p:grpSp>
        <p:nvGrpSpPr>
          <p:cNvPr id="28" name="Group 30"/>
          <p:cNvGrpSpPr>
            <a:grpSpLocks/>
          </p:cNvGrpSpPr>
          <p:nvPr/>
        </p:nvGrpSpPr>
        <p:grpSpPr bwMode="auto">
          <a:xfrm>
            <a:off x="311150" y="1227138"/>
            <a:ext cx="3287713" cy="4202113"/>
            <a:chOff x="196" y="977"/>
            <a:chExt cx="2071" cy="2647"/>
          </a:xfrm>
        </p:grpSpPr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196" y="977"/>
              <a:ext cx="2071" cy="264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AutoShape 32"/>
            <p:cNvSpPr>
              <a:spLocks noChangeArrowheads="1"/>
            </p:cNvSpPr>
            <p:nvPr/>
          </p:nvSpPr>
          <p:spPr bwMode="auto">
            <a:xfrm>
              <a:off x="618" y="1402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 flipH="1">
              <a:off x="1509" y="1894"/>
              <a:ext cx="4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6200000" flipH="1">
              <a:off x="934" y="1357"/>
              <a:ext cx="3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 rot="8694631" flipH="1">
              <a:off x="625" y="2145"/>
              <a:ext cx="33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1642" y="15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514" y="191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1614" y="1009"/>
              <a:ext cx="58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体积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孔隙率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</a:p>
          </p:txBody>
        </p:sp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336" y="2830"/>
              <a:ext cx="1808" cy="7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孔隙流体和土骨架为弹性体，其体积压缩系数分别为</a:t>
              </a:r>
              <a:r>
                <a:rPr kumimoji="1" lang="en-US" altLang="zh-CN" sz="2200" b="1" i="1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 err="1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f</a:t>
              </a:r>
              <a:r>
                <a:rPr kumimoji="1" lang="en-US" altLang="zh-CN" sz="22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和</a:t>
              </a:r>
              <a:r>
                <a:rPr kumimoji="1"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2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kumimoji="1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 flipV="1">
              <a:off x="1325" y="1134"/>
              <a:ext cx="228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41"/>
            <p:cNvSpPr txBox="1">
              <a:spLocks noChangeArrowheads="1"/>
            </p:cNvSpPr>
            <p:nvPr/>
          </p:nvSpPr>
          <p:spPr bwMode="auto">
            <a:xfrm>
              <a:off x="809" y="1757"/>
              <a:ext cx="63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3200" b="1" i="1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3200" b="1" i="1" baseline="-25000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3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310" y="1040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 rot="5400000" flipH="1">
              <a:off x="960" y="2611"/>
              <a:ext cx="3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319" y="2495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4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5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42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2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42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42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26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26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26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26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448" grpId="0"/>
      <p:bldP spid="1426450" grpId="0"/>
      <p:bldP spid="1426452" grpId="0"/>
      <p:bldP spid="142645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5432" name="Group 24"/>
          <p:cNvGrpSpPr>
            <a:grpSpLocks/>
          </p:cNvGrpSpPr>
          <p:nvPr/>
        </p:nvGrpSpPr>
        <p:grpSpPr bwMode="auto">
          <a:xfrm>
            <a:off x="3905250" y="722314"/>
            <a:ext cx="4545013" cy="457200"/>
            <a:chOff x="2628" y="515"/>
            <a:chExt cx="2863" cy="288"/>
          </a:xfrm>
        </p:grpSpPr>
        <p:sp>
          <p:nvSpPr>
            <p:cNvPr id="1425433" name="Text Box 25"/>
            <p:cNvSpPr txBox="1">
              <a:spLocks noChangeArrowheads="1"/>
            </p:cNvSpPr>
            <p:nvPr/>
          </p:nvSpPr>
          <p:spPr bwMode="auto">
            <a:xfrm>
              <a:off x="2628" y="515"/>
              <a:ext cx="10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孔压系数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A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:</a:t>
              </a:r>
              <a:endPara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graphicFrame>
          <p:nvGraphicFramePr>
            <p:cNvPr id="142543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570009"/>
                </p:ext>
              </p:extLst>
            </p:nvPr>
          </p:nvGraphicFramePr>
          <p:xfrm>
            <a:off x="3792" y="535"/>
            <a:ext cx="169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5650" name="公式" r:id="rId3" imgW="1498320" imgH="228600" progId="Equation.3">
                    <p:embed/>
                  </p:oleObj>
                </mc:Choice>
                <mc:Fallback>
                  <p:oleObj name="公式" r:id="rId3" imgW="1498320" imgH="228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535"/>
                          <a:ext cx="169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5435" name="Rectangle 27"/>
          <p:cNvSpPr>
            <a:spLocks noChangeArrowheads="1"/>
          </p:cNvSpPr>
          <p:nvPr/>
        </p:nvSpPr>
        <p:spPr bwMode="auto">
          <a:xfrm>
            <a:off x="3989388" y="1289050"/>
            <a:ext cx="2068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对饱和土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5436" name="Text Box 28"/>
          <p:cNvSpPr txBox="1">
            <a:spLocks noChangeArrowheads="1"/>
          </p:cNvSpPr>
          <p:nvPr/>
        </p:nvSpPr>
        <p:spPr bwMode="auto">
          <a:xfrm>
            <a:off x="5423150" y="3149600"/>
            <a:ext cx="33384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线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弹性体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: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1/3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5437" name="Text Box 29"/>
          <p:cNvSpPr txBox="1">
            <a:spLocks noChangeArrowheads="1"/>
          </p:cNvSpPr>
          <p:nvPr/>
        </p:nvSpPr>
        <p:spPr bwMode="auto">
          <a:xfrm>
            <a:off x="5426274" y="3636963"/>
            <a:ext cx="31872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剪胀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      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 1/3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25438" name="Text Box 30"/>
          <p:cNvSpPr txBox="1">
            <a:spLocks noChangeArrowheads="1"/>
          </p:cNvSpPr>
          <p:nvPr/>
        </p:nvSpPr>
        <p:spPr bwMode="auto">
          <a:xfrm>
            <a:off x="5423924" y="4113213"/>
            <a:ext cx="33376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剪缩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       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﹥1/3</a:t>
            </a:r>
          </a:p>
        </p:txBody>
      </p:sp>
      <p:graphicFrame>
        <p:nvGraphicFramePr>
          <p:cNvPr id="14254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644703"/>
              </p:ext>
            </p:extLst>
          </p:nvPr>
        </p:nvGraphicFramePr>
        <p:xfrm>
          <a:off x="5652638" y="1698625"/>
          <a:ext cx="1737288" cy="754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651" name="公式" r:id="rId5" imgW="965160" imgH="419040" progId="Equation.3">
                  <p:embed/>
                </p:oleObj>
              </mc:Choice>
              <mc:Fallback>
                <p:oleObj name="公式" r:id="rId5" imgW="965160" imgH="4190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638" y="1698625"/>
                        <a:ext cx="1737288" cy="754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5440" name="AutoShape 32"/>
          <p:cNvSpPr>
            <a:spLocks noChangeArrowheads="1"/>
          </p:cNvSpPr>
          <p:nvPr/>
        </p:nvSpPr>
        <p:spPr bwMode="auto">
          <a:xfrm>
            <a:off x="4852988" y="1878013"/>
            <a:ext cx="476250" cy="461962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5441" name="Text Box 33"/>
          <p:cNvSpPr txBox="1">
            <a:spLocks noChangeArrowheads="1"/>
          </p:cNvSpPr>
          <p:nvPr/>
        </p:nvSpPr>
        <p:spPr bwMode="auto">
          <a:xfrm>
            <a:off x="4721225" y="2574925"/>
            <a:ext cx="4138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剪切作用引起的孔压响应</a:t>
            </a:r>
          </a:p>
        </p:txBody>
      </p:sp>
      <p:sp>
        <p:nvSpPr>
          <p:cNvPr id="1425442" name="Text Box 34"/>
          <p:cNvSpPr txBox="1">
            <a:spLocks noChangeArrowheads="1"/>
          </p:cNvSpPr>
          <p:nvPr/>
        </p:nvSpPr>
        <p:spPr bwMode="auto">
          <a:xfrm>
            <a:off x="2486025" y="4641850"/>
            <a:ext cx="6429375" cy="933450"/>
          </a:xfrm>
          <a:prstGeom prst="rect">
            <a:avLst/>
          </a:prstGeom>
          <a:solidFill>
            <a:srgbClr val="FFC58B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是一个反映土体剪胀性强弱的指标，其大小与土性有关。 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不是常数，随加载过程而变化</a:t>
            </a:r>
          </a:p>
        </p:txBody>
      </p:sp>
      <p:sp>
        <p:nvSpPr>
          <p:cNvPr id="1425443" name="AutoShape 35"/>
          <p:cNvSpPr>
            <a:spLocks noChangeArrowheads="1"/>
          </p:cNvSpPr>
          <p:nvPr/>
        </p:nvSpPr>
        <p:spPr bwMode="auto">
          <a:xfrm>
            <a:off x="1881188" y="4711700"/>
            <a:ext cx="476250" cy="461963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200025" y="539750"/>
            <a:ext cx="27975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偏差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应力状态</a:t>
            </a:r>
          </a:p>
        </p:txBody>
      </p:sp>
      <p:grpSp>
        <p:nvGrpSpPr>
          <p:cNvPr id="30" name="Group 30"/>
          <p:cNvGrpSpPr>
            <a:grpSpLocks/>
          </p:cNvGrpSpPr>
          <p:nvPr/>
        </p:nvGrpSpPr>
        <p:grpSpPr bwMode="auto">
          <a:xfrm>
            <a:off x="311150" y="1350963"/>
            <a:ext cx="3287713" cy="3078163"/>
            <a:chOff x="196" y="977"/>
            <a:chExt cx="2071" cy="1939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96" y="977"/>
              <a:ext cx="2071" cy="193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utoShape 32"/>
            <p:cNvSpPr>
              <a:spLocks noChangeArrowheads="1"/>
            </p:cNvSpPr>
            <p:nvPr/>
          </p:nvSpPr>
          <p:spPr bwMode="auto">
            <a:xfrm>
              <a:off x="618" y="1402"/>
              <a:ext cx="1028" cy="1037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1509" y="1894"/>
              <a:ext cx="4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rot="16200000" flipH="1">
              <a:off x="934" y="1357"/>
              <a:ext cx="3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rot="8694631" flipH="1">
              <a:off x="625" y="2145"/>
              <a:ext cx="33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1642" y="15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514" y="191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0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1594" y="1002"/>
              <a:ext cx="6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体积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V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孔隙率</a:t>
              </a: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n</a:t>
              </a: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V="1">
              <a:off x="1325" y="1134"/>
              <a:ext cx="228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809" y="1757"/>
              <a:ext cx="54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dirty="0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3200" b="1" i="1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lang="en-US" altLang="zh-CN" sz="3200" b="1" i="1" baseline="-25000" dirty="0" err="1">
                  <a:solidFill>
                    <a:srgbClr val="A50021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endParaRPr lang="en-US" altLang="zh-CN" sz="32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310" y="1040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 rot="5400000" flipH="1">
              <a:off x="960" y="2611"/>
              <a:ext cx="3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312" y="2509"/>
              <a:ext cx="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-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i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46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7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2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25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2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2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42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25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25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25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2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2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2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2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5435" grpId="0"/>
      <p:bldP spid="1425436" grpId="0"/>
      <p:bldP spid="1425437" grpId="0"/>
      <p:bldP spid="1425438" grpId="0"/>
      <p:bldP spid="1425440" grpId="0" animBg="1"/>
      <p:bldP spid="1425441" grpId="0"/>
      <p:bldP spid="1425442" grpId="0" animBg="1"/>
      <p:bldP spid="142544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420" name="Text Box 36"/>
          <p:cNvSpPr txBox="1">
            <a:spLocks noChangeArrowheads="1"/>
          </p:cNvSpPr>
          <p:nvPr/>
        </p:nvSpPr>
        <p:spPr bwMode="auto">
          <a:xfrm>
            <a:off x="1873250" y="1771650"/>
            <a:ext cx="211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纯剪应力状态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424421" name="Text Box 37"/>
          <p:cNvSpPr txBox="1">
            <a:spLocks noChangeArrowheads="1"/>
          </p:cNvSpPr>
          <p:nvPr/>
        </p:nvSpPr>
        <p:spPr bwMode="auto">
          <a:xfrm>
            <a:off x="638176" y="3500438"/>
            <a:ext cx="323215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</a:rPr>
              <a:t>弹性体在承受纯剪荷载时不发生体积应变</a:t>
            </a:r>
            <a:endParaRPr kumimoji="0" lang="en-US" altLang="zh-CN" b="1" dirty="0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424422" name="Group 38"/>
          <p:cNvGrpSpPr>
            <a:grpSpLocks/>
          </p:cNvGrpSpPr>
          <p:nvPr/>
        </p:nvGrpSpPr>
        <p:grpSpPr bwMode="auto">
          <a:xfrm>
            <a:off x="4167188" y="1267053"/>
            <a:ext cx="4268787" cy="4359047"/>
            <a:chOff x="2625" y="870"/>
            <a:chExt cx="2782" cy="2840"/>
          </a:xfrm>
        </p:grpSpPr>
        <p:sp>
          <p:nvSpPr>
            <p:cNvPr id="1424423" name="Rectangle 39"/>
            <p:cNvSpPr>
              <a:spLocks noChangeArrowheads="1"/>
            </p:cNvSpPr>
            <p:nvPr/>
          </p:nvSpPr>
          <p:spPr bwMode="auto">
            <a:xfrm>
              <a:off x="2625" y="870"/>
              <a:ext cx="2782" cy="284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4424" name="Rectangle 40"/>
            <p:cNvSpPr>
              <a:spLocks noChangeArrowheads="1"/>
            </p:cNvSpPr>
            <p:nvPr/>
          </p:nvSpPr>
          <p:spPr bwMode="auto">
            <a:xfrm>
              <a:off x="3250" y="1501"/>
              <a:ext cx="1570" cy="1593"/>
            </a:xfrm>
            <a:prstGeom prst="rect">
              <a:avLst/>
            </a:prstGeom>
            <a:solidFill>
              <a:schemeClr val="accent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5" name="Line 41"/>
            <p:cNvSpPr>
              <a:spLocks noChangeShapeType="1"/>
            </p:cNvSpPr>
            <p:nvPr/>
          </p:nvSpPr>
          <p:spPr bwMode="auto">
            <a:xfrm>
              <a:off x="4033" y="1009"/>
              <a:ext cx="0" cy="468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6" name="Line 42"/>
            <p:cNvSpPr>
              <a:spLocks noChangeShapeType="1"/>
            </p:cNvSpPr>
            <p:nvPr/>
          </p:nvSpPr>
          <p:spPr bwMode="auto">
            <a:xfrm rot="5400000">
              <a:off x="2970" y="2073"/>
              <a:ext cx="0" cy="468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7" name="Line 43"/>
            <p:cNvSpPr>
              <a:spLocks noChangeShapeType="1"/>
            </p:cNvSpPr>
            <p:nvPr/>
          </p:nvSpPr>
          <p:spPr bwMode="auto">
            <a:xfrm rot="-5400000">
              <a:off x="5100" y="2063"/>
              <a:ext cx="0" cy="468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8" name="Line 44"/>
            <p:cNvSpPr>
              <a:spLocks noChangeShapeType="1"/>
            </p:cNvSpPr>
            <p:nvPr/>
          </p:nvSpPr>
          <p:spPr bwMode="auto">
            <a:xfrm flipV="1">
              <a:off x="4037" y="3137"/>
              <a:ext cx="0" cy="468"/>
            </a:xfrm>
            <a:prstGeom prst="line">
              <a:avLst/>
            </a:prstGeom>
            <a:noFill/>
            <a:ln w="1016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29" name="Text Box 45"/>
            <p:cNvSpPr txBox="1">
              <a:spLocks noChangeArrowheads="1"/>
            </p:cNvSpPr>
            <p:nvPr/>
          </p:nvSpPr>
          <p:spPr bwMode="auto">
            <a:xfrm>
              <a:off x="4118" y="890"/>
              <a:ext cx="282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424430" name="Text Box 46"/>
            <p:cNvSpPr txBox="1">
              <a:spLocks noChangeArrowheads="1"/>
            </p:cNvSpPr>
            <p:nvPr/>
          </p:nvSpPr>
          <p:spPr bwMode="auto">
            <a:xfrm>
              <a:off x="5003" y="1830"/>
              <a:ext cx="282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424431" name="Text Box 47"/>
            <p:cNvSpPr txBox="1">
              <a:spLocks noChangeArrowheads="1"/>
            </p:cNvSpPr>
            <p:nvPr/>
          </p:nvSpPr>
          <p:spPr bwMode="auto">
            <a:xfrm>
              <a:off x="4155" y="3283"/>
              <a:ext cx="282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424432" name="Text Box 48"/>
            <p:cNvSpPr txBox="1">
              <a:spLocks noChangeArrowheads="1"/>
            </p:cNvSpPr>
            <p:nvPr/>
          </p:nvSpPr>
          <p:spPr bwMode="auto">
            <a:xfrm>
              <a:off x="2784" y="1850"/>
              <a:ext cx="281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</p:grpSp>
      <p:grpSp>
        <p:nvGrpSpPr>
          <p:cNvPr id="1424433" name="Group 49"/>
          <p:cNvGrpSpPr>
            <a:grpSpLocks/>
          </p:cNvGrpSpPr>
          <p:nvPr/>
        </p:nvGrpSpPr>
        <p:grpSpPr bwMode="auto">
          <a:xfrm>
            <a:off x="5118423" y="2143861"/>
            <a:ext cx="2417442" cy="2536089"/>
            <a:chOff x="3244" y="1441"/>
            <a:chExt cx="1576" cy="1653"/>
          </a:xfrm>
        </p:grpSpPr>
        <p:sp>
          <p:nvSpPr>
            <p:cNvPr id="1424434" name="AutoShape 50"/>
            <p:cNvSpPr>
              <a:spLocks noChangeArrowheads="1"/>
            </p:cNvSpPr>
            <p:nvPr/>
          </p:nvSpPr>
          <p:spPr bwMode="auto">
            <a:xfrm>
              <a:off x="3250" y="1501"/>
              <a:ext cx="1570" cy="1593"/>
            </a:xfrm>
            <a:prstGeom prst="diamond">
              <a:avLst/>
            </a:prstGeom>
            <a:solidFill>
              <a:srgbClr val="3333FF"/>
            </a:solidFill>
            <a:ln w="12700" algn="ctr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5" name="Line 51"/>
            <p:cNvSpPr>
              <a:spLocks noChangeShapeType="1"/>
            </p:cNvSpPr>
            <p:nvPr/>
          </p:nvSpPr>
          <p:spPr bwMode="auto">
            <a:xfrm rot="2700000">
              <a:off x="3545" y="1594"/>
              <a:ext cx="0" cy="468"/>
            </a:xfrm>
            <a:prstGeom prst="line">
              <a:avLst/>
            </a:prstGeom>
            <a:noFill/>
            <a:ln w="127000">
              <a:solidFill>
                <a:srgbClr val="66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6" name="Line 52"/>
            <p:cNvSpPr>
              <a:spLocks noChangeShapeType="1"/>
            </p:cNvSpPr>
            <p:nvPr/>
          </p:nvSpPr>
          <p:spPr bwMode="auto">
            <a:xfrm rot="18900000">
              <a:off x="4515" y="1595"/>
              <a:ext cx="0" cy="468"/>
            </a:xfrm>
            <a:prstGeom prst="line">
              <a:avLst/>
            </a:prstGeom>
            <a:noFill/>
            <a:ln w="127000">
              <a:solidFill>
                <a:srgbClr val="66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7" name="Line 53"/>
            <p:cNvSpPr>
              <a:spLocks noChangeShapeType="1"/>
            </p:cNvSpPr>
            <p:nvPr/>
          </p:nvSpPr>
          <p:spPr bwMode="auto">
            <a:xfrm rot="13500000">
              <a:off x="4515" y="2531"/>
              <a:ext cx="0" cy="468"/>
            </a:xfrm>
            <a:prstGeom prst="line">
              <a:avLst/>
            </a:prstGeom>
            <a:noFill/>
            <a:ln w="127000">
              <a:solidFill>
                <a:srgbClr val="66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8" name="Line 54"/>
            <p:cNvSpPr>
              <a:spLocks noChangeShapeType="1"/>
            </p:cNvSpPr>
            <p:nvPr/>
          </p:nvSpPr>
          <p:spPr bwMode="auto">
            <a:xfrm rot="18900000" flipV="1">
              <a:off x="3579" y="2555"/>
              <a:ext cx="0" cy="468"/>
            </a:xfrm>
            <a:prstGeom prst="line">
              <a:avLst/>
            </a:prstGeom>
            <a:noFill/>
            <a:ln w="127000">
              <a:solidFill>
                <a:srgbClr val="66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4439" name="Text Box 55"/>
            <p:cNvSpPr txBox="1">
              <a:spLocks noChangeArrowheads="1"/>
            </p:cNvSpPr>
            <p:nvPr/>
          </p:nvSpPr>
          <p:spPr bwMode="auto">
            <a:xfrm>
              <a:off x="3271" y="1441"/>
              <a:ext cx="237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424440" name="Text Box 56"/>
            <p:cNvSpPr txBox="1">
              <a:spLocks noChangeArrowheads="1"/>
            </p:cNvSpPr>
            <p:nvPr/>
          </p:nvSpPr>
          <p:spPr bwMode="auto">
            <a:xfrm>
              <a:off x="4550" y="1486"/>
              <a:ext cx="237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424441" name="Text Box 57"/>
            <p:cNvSpPr txBox="1">
              <a:spLocks noChangeArrowheads="1"/>
            </p:cNvSpPr>
            <p:nvPr/>
          </p:nvSpPr>
          <p:spPr bwMode="auto">
            <a:xfrm>
              <a:off x="4541" y="2676"/>
              <a:ext cx="237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  <p:sp>
          <p:nvSpPr>
            <p:cNvPr id="1424442" name="Text Box 58"/>
            <p:cNvSpPr txBox="1">
              <a:spLocks noChangeArrowheads="1"/>
            </p:cNvSpPr>
            <p:nvPr/>
          </p:nvSpPr>
          <p:spPr bwMode="auto">
            <a:xfrm>
              <a:off x="3244" y="2686"/>
              <a:ext cx="238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 i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</a:t>
              </a:r>
            </a:p>
          </p:txBody>
        </p:sp>
      </p:grpSp>
      <p:sp>
        <p:nvSpPr>
          <p:cNvPr id="1424443" name="AutoShape 59"/>
          <p:cNvSpPr>
            <a:spLocks noChangeArrowheads="1"/>
          </p:cNvSpPr>
          <p:nvPr/>
        </p:nvSpPr>
        <p:spPr bwMode="auto">
          <a:xfrm>
            <a:off x="2855913" y="2413000"/>
            <a:ext cx="1016000" cy="638175"/>
          </a:xfrm>
          <a:prstGeom prst="rightArrow">
            <a:avLst>
              <a:gd name="adj1" fmla="val 47111"/>
              <a:gd name="adj2" fmla="val 72534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0024" y="587250"/>
            <a:ext cx="5210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对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孔压系数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</a:rPr>
              <a:t>的进一步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</a:rPr>
              <a:t>解释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2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2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42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142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4420" grpId="0"/>
      <p:bldP spid="1424421" grpId="0"/>
      <p:bldP spid="142444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66" name="Group 6"/>
          <p:cNvGrpSpPr>
            <a:grpSpLocks/>
          </p:cNvGrpSpPr>
          <p:nvPr/>
        </p:nvGrpSpPr>
        <p:grpSpPr bwMode="auto">
          <a:xfrm>
            <a:off x="0" y="1215100"/>
            <a:ext cx="9144000" cy="4186237"/>
            <a:chOff x="70" y="774"/>
            <a:chExt cx="5617" cy="2782"/>
          </a:xfrm>
        </p:grpSpPr>
        <p:sp>
          <p:nvSpPr>
            <p:cNvPr id="1423367" name="Rectangle 7"/>
            <p:cNvSpPr>
              <a:spLocks noChangeArrowheads="1"/>
            </p:cNvSpPr>
            <p:nvPr/>
          </p:nvSpPr>
          <p:spPr bwMode="auto">
            <a:xfrm>
              <a:off x="70" y="774"/>
              <a:ext cx="5617" cy="2782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23368" name="Group 8"/>
            <p:cNvGrpSpPr>
              <a:grpSpLocks/>
            </p:cNvGrpSpPr>
            <p:nvPr/>
          </p:nvGrpSpPr>
          <p:grpSpPr bwMode="auto">
            <a:xfrm>
              <a:off x="122" y="1384"/>
              <a:ext cx="5428" cy="2091"/>
              <a:chOff x="122" y="1384"/>
              <a:chExt cx="5428" cy="2091"/>
            </a:xfrm>
          </p:grpSpPr>
          <p:sp>
            <p:nvSpPr>
              <p:cNvPr id="1423369" name="AutoShape 9"/>
              <p:cNvSpPr>
                <a:spLocks noChangeArrowheads="1"/>
              </p:cNvSpPr>
              <p:nvPr/>
            </p:nvSpPr>
            <p:spPr bwMode="auto">
              <a:xfrm>
                <a:off x="308" y="2014"/>
                <a:ext cx="838" cy="845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3370" name="Line 10"/>
              <p:cNvSpPr>
                <a:spLocks noChangeShapeType="1"/>
              </p:cNvSpPr>
              <p:nvPr/>
            </p:nvSpPr>
            <p:spPr bwMode="auto">
              <a:xfrm rot="16200000" flipH="1">
                <a:off x="519" y="1901"/>
                <a:ext cx="3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71" name="Text Box 11"/>
              <p:cNvSpPr txBox="1">
                <a:spLocks noChangeArrowheads="1"/>
              </p:cNvSpPr>
              <p:nvPr/>
            </p:nvSpPr>
            <p:spPr bwMode="auto">
              <a:xfrm>
                <a:off x="154" y="1384"/>
                <a:ext cx="967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S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=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-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3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423372" name="Line 12"/>
              <p:cNvSpPr>
                <a:spLocks noChangeShapeType="1"/>
              </p:cNvSpPr>
              <p:nvPr/>
            </p:nvSpPr>
            <p:spPr bwMode="auto">
              <a:xfrm rot="5400000" flipH="1">
                <a:off x="480" y="3031"/>
                <a:ext cx="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73" name="Text Box 13"/>
              <p:cNvSpPr txBox="1">
                <a:spLocks noChangeArrowheads="1"/>
              </p:cNvSpPr>
              <p:nvPr/>
            </p:nvSpPr>
            <p:spPr bwMode="auto">
              <a:xfrm>
                <a:off x="122" y="3171"/>
                <a:ext cx="967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S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=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-</a:t>
                </a: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</a:t>
                </a:r>
                <a:r>
                  <a:rPr lang="en-US" altLang="zh-CN" sz="2400" b="1" i="1" baseline="-25000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3</a:t>
                </a:r>
                <a:endPara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423374" name="AutoShape 14"/>
              <p:cNvSpPr>
                <a:spLocks noChangeArrowheads="1"/>
              </p:cNvSpPr>
              <p:nvPr/>
            </p:nvSpPr>
            <p:spPr bwMode="auto">
              <a:xfrm>
                <a:off x="1586" y="2020"/>
                <a:ext cx="838" cy="845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3375" name="Line 15"/>
              <p:cNvSpPr>
                <a:spLocks noChangeShapeType="1"/>
              </p:cNvSpPr>
              <p:nvPr/>
            </p:nvSpPr>
            <p:spPr bwMode="auto">
              <a:xfrm flipH="1">
                <a:off x="2304" y="2455"/>
                <a:ext cx="41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76" name="Line 16"/>
              <p:cNvSpPr>
                <a:spLocks noChangeShapeType="1"/>
              </p:cNvSpPr>
              <p:nvPr/>
            </p:nvSpPr>
            <p:spPr bwMode="auto">
              <a:xfrm rot="16200000" flipH="1">
                <a:off x="1797" y="1907"/>
                <a:ext cx="3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77" name="Line 17"/>
              <p:cNvSpPr>
                <a:spLocks noChangeShapeType="1"/>
              </p:cNvSpPr>
              <p:nvPr/>
            </p:nvSpPr>
            <p:spPr bwMode="auto">
              <a:xfrm rot="8694631" flipH="1">
                <a:off x="1632" y="2552"/>
                <a:ext cx="3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78" name="AutoShape 18"/>
              <p:cNvSpPr>
                <a:spLocks noChangeArrowheads="1"/>
              </p:cNvSpPr>
              <p:nvPr/>
            </p:nvSpPr>
            <p:spPr bwMode="auto">
              <a:xfrm>
                <a:off x="3284" y="2016"/>
                <a:ext cx="838" cy="845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3379" name="Line 19"/>
              <p:cNvSpPr>
                <a:spLocks noChangeShapeType="1"/>
              </p:cNvSpPr>
              <p:nvPr/>
            </p:nvSpPr>
            <p:spPr bwMode="auto">
              <a:xfrm>
                <a:off x="4012" y="2461"/>
                <a:ext cx="35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80" name="Line 20"/>
              <p:cNvSpPr>
                <a:spLocks noChangeShapeType="1"/>
              </p:cNvSpPr>
              <p:nvPr/>
            </p:nvSpPr>
            <p:spPr bwMode="auto">
              <a:xfrm rot="16200000" flipH="1">
                <a:off x="3495" y="1903"/>
                <a:ext cx="3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81" name="Line 21"/>
              <p:cNvSpPr>
                <a:spLocks noChangeShapeType="1"/>
              </p:cNvSpPr>
              <p:nvPr/>
            </p:nvSpPr>
            <p:spPr bwMode="auto">
              <a:xfrm rot="5400000" flipH="1">
                <a:off x="3476" y="3033"/>
                <a:ext cx="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82" name="AutoShape 22"/>
              <p:cNvSpPr>
                <a:spLocks noChangeArrowheads="1"/>
              </p:cNvSpPr>
              <p:nvPr/>
            </p:nvSpPr>
            <p:spPr bwMode="auto">
              <a:xfrm>
                <a:off x="4712" y="2012"/>
                <a:ext cx="838" cy="845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3383" name="Line 23"/>
              <p:cNvSpPr>
                <a:spLocks noChangeShapeType="1"/>
              </p:cNvSpPr>
              <p:nvPr/>
            </p:nvSpPr>
            <p:spPr bwMode="auto">
              <a:xfrm rot="16200000" flipH="1">
                <a:off x="4923" y="1899"/>
                <a:ext cx="38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84" name="Line 24"/>
              <p:cNvSpPr>
                <a:spLocks noChangeShapeType="1"/>
              </p:cNvSpPr>
              <p:nvPr/>
            </p:nvSpPr>
            <p:spPr bwMode="auto">
              <a:xfrm rot="19494631" flipH="1">
                <a:off x="4721" y="2640"/>
                <a:ext cx="3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385" name="Line 25"/>
              <p:cNvSpPr>
                <a:spLocks noChangeShapeType="1"/>
              </p:cNvSpPr>
              <p:nvPr/>
            </p:nvSpPr>
            <p:spPr bwMode="auto">
              <a:xfrm rot="5400000" flipH="1">
                <a:off x="4884" y="3029"/>
                <a:ext cx="3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23386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9784138"/>
                  </p:ext>
                </p:extLst>
              </p:nvPr>
            </p:nvGraphicFramePr>
            <p:xfrm>
              <a:off x="1634" y="1449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19" name="公式" r:id="rId3" imgW="266400" imgH="355320" progId="Equation.3">
                      <p:embed/>
                    </p:oleObj>
                  </mc:Choice>
                  <mc:Fallback>
                    <p:oleObj name="公式" r:id="rId3" imgW="266400" imgH="35532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4" y="1449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87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9077691"/>
                  </p:ext>
                </p:extLst>
              </p:nvPr>
            </p:nvGraphicFramePr>
            <p:xfrm>
              <a:off x="1712" y="2579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0" name="公式" r:id="rId5" imgW="266400" imgH="355320" progId="Equation.3">
                      <p:embed/>
                    </p:oleObj>
                  </mc:Choice>
                  <mc:Fallback>
                    <p:oleObj name="公式" r:id="rId5" imgW="266400" imgH="35532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2" y="2579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88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0543208"/>
                  </p:ext>
                </p:extLst>
              </p:nvPr>
            </p:nvGraphicFramePr>
            <p:xfrm>
              <a:off x="2461" y="2031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1" name="公式" r:id="rId7" imgW="266400" imgH="355320" progId="Equation.3">
                      <p:embed/>
                    </p:oleObj>
                  </mc:Choice>
                  <mc:Fallback>
                    <p:oleObj name="公式" r:id="rId7" imgW="266400" imgH="35532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61" y="2031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23389" name="Text Box 29"/>
              <p:cNvSpPr txBox="1">
                <a:spLocks noChangeArrowheads="1"/>
              </p:cNvSpPr>
              <p:nvPr/>
            </p:nvSpPr>
            <p:spPr bwMode="auto">
              <a:xfrm>
                <a:off x="1266" y="2217"/>
                <a:ext cx="255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b="1">
                    <a:solidFill>
                      <a:srgbClr val="000066"/>
                    </a:solidFill>
                    <a:ea typeface="幼圆" pitchFamily="49" charset="-122"/>
                  </a:rPr>
                  <a:t>=</a:t>
                </a:r>
              </a:p>
            </p:txBody>
          </p:sp>
          <p:sp>
            <p:nvSpPr>
              <p:cNvPr id="1423390" name="Text Box 30"/>
              <p:cNvSpPr txBox="1">
                <a:spLocks noChangeArrowheads="1"/>
              </p:cNvSpPr>
              <p:nvPr/>
            </p:nvSpPr>
            <p:spPr bwMode="auto">
              <a:xfrm>
                <a:off x="2709" y="2258"/>
                <a:ext cx="255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b="1">
                    <a:solidFill>
                      <a:srgbClr val="000066"/>
                    </a:solidFill>
                    <a:ea typeface="幼圆" pitchFamily="49" charset="-122"/>
                  </a:rPr>
                  <a:t>+</a:t>
                </a:r>
              </a:p>
            </p:txBody>
          </p:sp>
          <p:graphicFrame>
            <p:nvGraphicFramePr>
              <p:cNvPr id="1423391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76451797"/>
                  </p:ext>
                </p:extLst>
              </p:nvPr>
            </p:nvGraphicFramePr>
            <p:xfrm>
              <a:off x="3768" y="1471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2" name="公式" r:id="rId9" imgW="266400" imgH="355320" progId="Equation.3">
                      <p:embed/>
                    </p:oleObj>
                  </mc:Choice>
                  <mc:Fallback>
                    <p:oleObj name="公式" r:id="rId9" imgW="266400" imgH="35532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8" y="1471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92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4111839"/>
                  </p:ext>
                </p:extLst>
              </p:nvPr>
            </p:nvGraphicFramePr>
            <p:xfrm>
              <a:off x="3665" y="3028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3" name="公式" r:id="rId11" imgW="266400" imgH="355320" progId="Equation.3">
                      <p:embed/>
                    </p:oleObj>
                  </mc:Choice>
                  <mc:Fallback>
                    <p:oleObj name="公式" r:id="rId11" imgW="266400" imgH="35532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5" y="3028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23393" name="Line 33"/>
              <p:cNvSpPr>
                <a:spLocks noChangeShapeType="1"/>
              </p:cNvSpPr>
              <p:nvPr/>
            </p:nvSpPr>
            <p:spPr bwMode="auto">
              <a:xfrm flipH="1">
                <a:off x="2983" y="2470"/>
                <a:ext cx="3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23394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1822960"/>
                  </p:ext>
                </p:extLst>
              </p:nvPr>
            </p:nvGraphicFramePr>
            <p:xfrm>
              <a:off x="4158" y="2023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4" name="公式" r:id="rId13" imgW="266400" imgH="355320" progId="Equation.3">
                      <p:embed/>
                    </p:oleObj>
                  </mc:Choice>
                  <mc:Fallback>
                    <p:oleObj name="公式" r:id="rId13" imgW="266400" imgH="35532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8" y="2023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95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0852358"/>
                  </p:ext>
                </p:extLst>
              </p:nvPr>
            </p:nvGraphicFramePr>
            <p:xfrm>
              <a:off x="2958" y="2026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5" name="公式" r:id="rId15" imgW="266400" imgH="355320" progId="Equation.3">
                      <p:embed/>
                    </p:oleObj>
                  </mc:Choice>
                  <mc:Fallback>
                    <p:oleObj name="公式" r:id="rId15" imgW="266400" imgH="355320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8" y="2026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23396" name="Text Box 36"/>
              <p:cNvSpPr txBox="1">
                <a:spLocks noChangeArrowheads="1"/>
              </p:cNvSpPr>
              <p:nvPr/>
            </p:nvSpPr>
            <p:spPr bwMode="auto">
              <a:xfrm>
                <a:off x="4390" y="2259"/>
                <a:ext cx="255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b="1">
                    <a:solidFill>
                      <a:srgbClr val="000066"/>
                    </a:solidFill>
                    <a:ea typeface="幼圆" pitchFamily="49" charset="-122"/>
                  </a:rPr>
                  <a:t>+</a:t>
                </a:r>
              </a:p>
            </p:txBody>
          </p:sp>
          <p:graphicFrame>
            <p:nvGraphicFramePr>
              <p:cNvPr id="1423397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3156541"/>
                  </p:ext>
                </p:extLst>
              </p:nvPr>
            </p:nvGraphicFramePr>
            <p:xfrm>
              <a:off x="5181" y="1472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6" name="公式" r:id="rId17" imgW="266400" imgH="355320" progId="Equation.3">
                      <p:embed/>
                    </p:oleObj>
                  </mc:Choice>
                  <mc:Fallback>
                    <p:oleObj name="公式" r:id="rId17" imgW="266400" imgH="355320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1" y="1472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98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5943285"/>
                  </p:ext>
                </p:extLst>
              </p:nvPr>
            </p:nvGraphicFramePr>
            <p:xfrm>
              <a:off x="5088" y="2969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7" name="公式" r:id="rId19" imgW="266400" imgH="355320" progId="Equation.3">
                      <p:embed/>
                    </p:oleObj>
                  </mc:Choice>
                  <mc:Fallback>
                    <p:oleObj name="公式" r:id="rId19" imgW="266400" imgH="35532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2969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23399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5624208"/>
                  </p:ext>
                </p:extLst>
              </p:nvPr>
            </p:nvGraphicFramePr>
            <p:xfrm>
              <a:off x="4414" y="2645"/>
              <a:ext cx="262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3228" name="公式" r:id="rId21" imgW="266400" imgH="355320" progId="Equation.3">
                      <p:embed/>
                    </p:oleObj>
                  </mc:Choice>
                  <mc:Fallback>
                    <p:oleObj name="公式" r:id="rId21" imgW="266400" imgH="35532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4" y="2645"/>
                            <a:ext cx="262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23400" name="AutoShape 40"/>
          <p:cNvSpPr>
            <a:spLocks noChangeArrowheads="1"/>
          </p:cNvSpPr>
          <p:nvPr/>
        </p:nvSpPr>
        <p:spPr bwMode="auto">
          <a:xfrm>
            <a:off x="2589213" y="1397000"/>
            <a:ext cx="1460500" cy="8810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等向压缩应力状态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3401" name="AutoShape 41"/>
          <p:cNvSpPr>
            <a:spLocks noChangeArrowheads="1"/>
          </p:cNvSpPr>
          <p:nvPr/>
        </p:nvSpPr>
        <p:spPr bwMode="auto">
          <a:xfrm>
            <a:off x="5413375" y="1397000"/>
            <a:ext cx="1030288" cy="8810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纯剪应</a:t>
            </a:r>
            <a:b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</a:b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力状态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3402" name="AutoShape 42"/>
          <p:cNvSpPr>
            <a:spLocks noChangeArrowheads="1"/>
          </p:cNvSpPr>
          <p:nvPr/>
        </p:nvSpPr>
        <p:spPr bwMode="auto">
          <a:xfrm>
            <a:off x="7670800" y="1397000"/>
            <a:ext cx="1030288" cy="88106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纯剪应</a:t>
            </a:r>
            <a:b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</a:b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力状态</a:t>
            </a:r>
            <a:endParaRPr kumimoji="1" lang="en-US" altLang="zh-CN" sz="24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4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4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45" name="Rectangle 29"/>
          <p:cNvSpPr>
            <a:spLocks noChangeArrowheads="1"/>
          </p:cNvSpPr>
          <p:nvPr/>
        </p:nvSpPr>
        <p:spPr bwMode="auto">
          <a:xfrm>
            <a:off x="200024" y="539750"/>
            <a:ext cx="5210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</a:rPr>
              <a:t>对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</a:rPr>
              <a:t>孔压系数 </a:t>
            </a:r>
            <a:r>
              <a:rPr kumimoji="1" lang="en-US" altLang="zh-CN" sz="2800" b="1" i="1" dirty="0">
                <a:solidFill>
                  <a:srgbClr val="A50021"/>
                </a:solidFill>
                <a:ea typeface="幼圆" pitchFamily="49" charset="-122"/>
              </a:rPr>
              <a:t>A 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</a:rPr>
              <a:t>的进一步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</a:rPr>
              <a:t>解释</a:t>
            </a:r>
            <a:endParaRPr kumimoji="1" lang="zh-CN" altLang="en-US" sz="2800" b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-3925" y="0"/>
            <a:ext cx="580907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孔压系数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zh-CN" altLang="en-US" sz="2000" b="1" i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2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0" grpId="0"/>
      <p:bldP spid="1423401" grpId="0"/>
      <p:bldP spid="142340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358" name="Rectangle 22"/>
          <p:cNvSpPr>
            <a:spLocks noChangeArrowheads="1"/>
          </p:cNvSpPr>
          <p:nvPr/>
        </p:nvSpPr>
        <p:spPr bwMode="auto">
          <a:xfrm>
            <a:off x="746125" y="904875"/>
            <a:ext cx="396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三轴应力状态</a:t>
            </a:r>
            <a:endParaRPr kumimoji="1" lang="zh-CN" altLang="en-US" sz="2800" b="1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2359" name="AutoShape 23"/>
          <p:cNvSpPr>
            <a:spLocks noChangeArrowheads="1"/>
          </p:cNvSpPr>
          <p:nvPr/>
        </p:nvSpPr>
        <p:spPr bwMode="auto">
          <a:xfrm>
            <a:off x="1731963" y="3629025"/>
            <a:ext cx="2417762" cy="5445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三轴应力状态</a:t>
            </a:r>
          </a:p>
        </p:txBody>
      </p:sp>
      <p:sp>
        <p:nvSpPr>
          <p:cNvPr id="1422360" name="AutoShape 24"/>
          <p:cNvSpPr>
            <a:spLocks noChangeArrowheads="1"/>
          </p:cNvSpPr>
          <p:nvPr/>
        </p:nvSpPr>
        <p:spPr bwMode="auto">
          <a:xfrm>
            <a:off x="1011238" y="1963738"/>
            <a:ext cx="3103562" cy="54451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等向压缩应力状态</a:t>
            </a:r>
            <a:endParaRPr kumimoji="1" lang="en-US" altLang="zh-CN" sz="28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22361" name="AutoShape 25"/>
          <p:cNvSpPr>
            <a:spLocks noChangeArrowheads="1"/>
          </p:cNvSpPr>
          <p:nvPr/>
        </p:nvSpPr>
        <p:spPr bwMode="auto">
          <a:xfrm>
            <a:off x="1728788" y="2803525"/>
            <a:ext cx="2386012" cy="5445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720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Arial Black" pitchFamily="34" charset="0"/>
                <a:ea typeface="幼圆" pitchFamily="49" charset="-122"/>
                <a:sym typeface="Symbol" pitchFamily="18" charset="2"/>
              </a:rPr>
              <a:t>偏差</a:t>
            </a: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应力状态</a:t>
            </a:r>
            <a:endParaRPr kumimoji="1" lang="en-US" altLang="zh-CN" sz="28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422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331876"/>
              </p:ext>
            </p:extLst>
          </p:nvPr>
        </p:nvGraphicFramePr>
        <p:xfrm>
          <a:off x="4514913" y="2054225"/>
          <a:ext cx="17907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677" name="公式" r:id="rId3" imgW="812520" imgH="228600" progId="Equation.3">
                  <p:embed/>
                </p:oleObj>
              </mc:Choice>
              <mc:Fallback>
                <p:oleObj name="公式" r:id="rId3" imgW="81252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l="-8041" r="-8041"/>
                      <a:stretch>
                        <a:fillRect/>
                      </a:stretch>
                    </p:blipFill>
                    <p:spPr bwMode="auto">
                      <a:xfrm>
                        <a:off x="4514913" y="2054225"/>
                        <a:ext cx="17907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23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36991"/>
              </p:ext>
            </p:extLst>
          </p:nvPr>
        </p:nvGraphicFramePr>
        <p:xfrm>
          <a:off x="4590988" y="2851150"/>
          <a:ext cx="32543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678" name="公式" r:id="rId5" imgW="1498320" imgH="228600" progId="Equation.3">
                  <p:embed/>
                </p:oleObj>
              </mc:Choice>
              <mc:Fallback>
                <p:oleObj name="公式" r:id="rId5" imgW="149832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988" y="2851150"/>
                        <a:ext cx="32543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22364" name="Group 28"/>
          <p:cNvGrpSpPr>
            <a:grpSpLocks/>
          </p:cNvGrpSpPr>
          <p:nvPr/>
        </p:nvGrpSpPr>
        <p:grpSpPr bwMode="auto">
          <a:xfrm>
            <a:off x="4560891" y="3722688"/>
            <a:ext cx="3981452" cy="1233487"/>
            <a:chOff x="2873" y="2195"/>
            <a:chExt cx="2508" cy="777"/>
          </a:xfrm>
        </p:grpSpPr>
        <p:sp>
          <p:nvSpPr>
            <p:cNvPr id="1422365" name="Text Box 29"/>
            <p:cNvSpPr txBox="1">
              <a:spLocks noChangeArrowheads="1"/>
            </p:cNvSpPr>
            <p:nvPr/>
          </p:nvSpPr>
          <p:spPr bwMode="auto">
            <a:xfrm>
              <a:off x="2873" y="2195"/>
              <a:ext cx="12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400" b="1" dirty="0">
                  <a:ea typeface="幼圆" pitchFamily="49" charset="-122"/>
                  <a:sym typeface="Symbol" pitchFamily="18" charset="2"/>
                </a:rPr>
                <a:t>= </a:t>
              </a: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 err="1"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400" b="1" i="1" baseline="-25000" dirty="0" err="1">
                  <a:ea typeface="幼圆" pitchFamily="49" charset="-122"/>
                  <a:sym typeface="Symbol" pitchFamily="18" charset="2"/>
                </a:rPr>
                <a:t>B</a:t>
              </a:r>
              <a:r>
                <a:rPr lang="en-US" altLang="zh-CN" sz="2400" b="1" dirty="0">
                  <a:ea typeface="幼圆" pitchFamily="49" charset="-122"/>
                  <a:sym typeface="Symbol" pitchFamily="18" charset="2"/>
                </a:rPr>
                <a:t>+</a:t>
              </a:r>
              <a:r>
                <a:rPr lang="en-US" altLang="zh-CN" sz="2400" b="1" baseline="-25000" dirty="0">
                  <a:ea typeface="幼圆" pitchFamily="49" charset="-122"/>
                  <a:sym typeface="Symbol" pitchFamily="18" charset="2"/>
                </a:rPr>
                <a:t> </a:t>
              </a: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 err="1"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400" b="1" i="1" baseline="-25000" dirty="0" err="1">
                  <a:ea typeface="幼圆" pitchFamily="49" charset="-122"/>
                  <a:sym typeface="Symbol" pitchFamily="18" charset="2"/>
                </a:rPr>
                <a:t>A</a:t>
              </a:r>
              <a:endParaRPr lang="en-US" altLang="zh-CN" sz="2400" b="1" i="1" baseline="-25000" dirty="0">
                <a:ea typeface="幼圆" pitchFamily="49" charset="-122"/>
                <a:sym typeface="Symbol" pitchFamily="18" charset="2"/>
              </a:endParaRPr>
            </a:p>
          </p:txBody>
        </p:sp>
        <p:graphicFrame>
          <p:nvGraphicFramePr>
            <p:cNvPr id="1422366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7147796"/>
                </p:ext>
              </p:extLst>
            </p:nvPr>
          </p:nvGraphicFramePr>
          <p:xfrm>
            <a:off x="2896" y="2659"/>
            <a:ext cx="248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2679" name="公式" r:id="rId7" imgW="1815840" imgH="228600" progId="Equation.3">
                    <p:embed/>
                  </p:oleObj>
                </mc:Choice>
                <mc:Fallback>
                  <p:oleObj name="公式" r:id="rId7" imgW="1815840" imgH="2286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6" y="2659"/>
                          <a:ext cx="248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Rectangle 51"/>
          <p:cNvSpPr>
            <a:spLocks noChangeArrowheads="1"/>
          </p:cNvSpPr>
          <p:nvPr/>
        </p:nvSpPr>
        <p:spPr bwMode="auto">
          <a:xfrm>
            <a:off x="1743075" y="5843588"/>
            <a:ext cx="692467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附加应力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情况 </a:t>
            </a:r>
            <a:r>
              <a:rPr kumimoji="1"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kumimoji="1"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三轴应力状态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3926" y="0"/>
            <a:ext cx="68492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三轴状态下孔压系数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2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2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42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2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22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22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2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22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22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2358" grpId="0" build="p" autoUpdateAnimBg="0" advAuto="0"/>
      <p:bldP spid="1422359" grpId="0"/>
      <p:bldP spid="1422360" grpId="0"/>
      <p:bldP spid="142236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607" name="Text Box 103"/>
          <p:cNvSpPr txBox="1">
            <a:spLocks noChangeArrowheads="1"/>
          </p:cNvSpPr>
          <p:nvPr/>
        </p:nvSpPr>
        <p:spPr bwMode="auto">
          <a:xfrm>
            <a:off x="3335338" y="5975350"/>
            <a:ext cx="27987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小   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9608" name="Text Box 104"/>
              <p:cNvSpPr txBox="1">
                <a:spLocks noChangeArrowheads="1"/>
              </p:cNvSpPr>
              <p:nvPr/>
            </p:nvSpPr>
            <p:spPr bwMode="auto">
              <a:xfrm>
                <a:off x="488950" y="1126050"/>
                <a:ext cx="2846388" cy="40614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533400" indent="-53340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12788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>
                  <a:lnSpc>
                    <a:spcPct val="132000"/>
                  </a:lnSpc>
                  <a:buClr>
                    <a:srgbClr val="A50021"/>
                  </a:buClr>
                  <a:buSzPct val="130000"/>
                  <a:buFont typeface="Wingdings" pitchFamily="2" charset="2"/>
                  <a:buChar char="F"/>
                </a:pPr>
                <a:r>
                  <a:rPr lang="zh-CN" altLang="en-US" sz="26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渗流固结</a:t>
                </a:r>
                <a:endParaRPr lang="en-US" altLang="zh-CN" sz="26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  <a:p>
                <a:pPr>
                  <a:lnSpc>
                    <a:spcPct val="200000"/>
                  </a:lnSpc>
                  <a:buClr>
                    <a:srgbClr val="A50021"/>
                  </a:buClr>
                  <a:buSzPct val="130000"/>
                  <a:buFont typeface="Wingdings" pitchFamily="2" charset="2"/>
                  <a:buChar char="F"/>
                </a:pPr>
                <a:endParaRPr lang="en-US" altLang="zh-CN" sz="26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  <a:p>
                <a:pPr>
                  <a:lnSpc>
                    <a:spcPct val="132000"/>
                  </a:lnSpc>
                  <a:buClr>
                    <a:srgbClr val="A50021"/>
                  </a:buClr>
                  <a:buSzPct val="130000"/>
                  <a:buFont typeface="Wingdings" pitchFamily="2" charset="2"/>
                  <a:buChar char="F"/>
                </a:pPr>
                <a:r>
                  <a:rPr lang="zh-CN" altLang="en-US" sz="26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侧限条件下的孔压系数</a:t>
                </a:r>
                <a:r>
                  <a:rPr lang="en-US" altLang="zh-CN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1" i="1" dirty="0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幼圆" pitchFamily="49" charset="-122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000066"/>
                            </a:solidFill>
                            <a:latin typeface="Cambria Math"/>
                            <a:ea typeface="幼圆" pitchFamily="49" charset="-122"/>
                            <a:sym typeface="Symbol" pitchFamily="18" charset="2"/>
                          </a:rPr>
                          <m:t>𝑩</m:t>
                        </m:r>
                      </m:e>
                    </m:acc>
                  </m:oMath>
                </a14:m>
                <a:endParaRPr lang="zh-CN" altLang="en-US" sz="26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  <a:p>
                <a:pPr>
                  <a:lnSpc>
                    <a:spcPct val="132000"/>
                  </a:lnSpc>
                  <a:buClr>
                    <a:srgbClr val="A50021"/>
                  </a:buClr>
                  <a:buSzPct val="130000"/>
                  <a:buFont typeface="Wingdings" pitchFamily="2" charset="2"/>
                  <a:buChar char="F"/>
                </a:pPr>
                <a:endParaRPr lang="zh-CN" altLang="en-US" sz="26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endParaRPr>
              </a:p>
              <a:p>
                <a:pPr>
                  <a:lnSpc>
                    <a:spcPct val="132000"/>
                  </a:lnSpc>
                  <a:buClr>
                    <a:srgbClr val="A50021"/>
                  </a:buClr>
                  <a:buSzPct val="130000"/>
                  <a:buFont typeface="Wingdings" pitchFamily="2" charset="2"/>
                  <a:buChar char="F"/>
                </a:pPr>
                <a:r>
                  <a:rPr lang="zh-CN" altLang="en-US" sz="2600" b="1" dirty="0" smtClean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三轴条件下孔</a:t>
                </a:r>
                <a:r>
                  <a:rPr lang="zh-CN" altLang="en-US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压系数</a:t>
                </a:r>
                <a:r>
                  <a:rPr lang="en-US" altLang="zh-CN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A</a:t>
                </a:r>
                <a:r>
                  <a:rPr lang="zh-CN" altLang="en-US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、</a:t>
                </a:r>
                <a:r>
                  <a:rPr lang="en-US" altLang="zh-CN" sz="2600" b="1" dirty="0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B</a:t>
                </a:r>
              </a:p>
            </p:txBody>
          </p:sp>
        </mc:Choice>
        <mc:Fallback xmlns="">
          <p:sp>
            <p:nvSpPr>
              <p:cNvPr id="1429608" name="Text 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50" y="1126050"/>
                <a:ext cx="2846388" cy="4061496"/>
              </a:xfrm>
              <a:prstGeom prst="rect">
                <a:avLst/>
              </a:prstGeom>
              <a:blipFill rotWithShape="1">
                <a:blip r:embed="rId3"/>
                <a:stretch>
                  <a:fillRect l="-5139" t="-1652" b="-150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9609" name="Text Box 105"/>
          <p:cNvSpPr txBox="1">
            <a:spLocks noChangeArrowheads="1"/>
          </p:cNvSpPr>
          <p:nvPr/>
        </p:nvSpPr>
        <p:spPr bwMode="auto">
          <a:xfrm>
            <a:off x="3782909" y="759400"/>
            <a:ext cx="5033962" cy="122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42900" indent="-342900">
              <a:lnSpc>
                <a:spcPct val="125000"/>
              </a:lnSpc>
              <a:buClr>
                <a:srgbClr val="C00000"/>
              </a:buClr>
              <a:buSzPct val="130000"/>
              <a:buFont typeface="Arial" panose="020B0604020202020204" pitchFamily="34" charset="0"/>
              <a:buChar char="•"/>
            </a:pP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土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体在受到外荷载后，产生超静</a:t>
            </a: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孔隙水压力并随时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间逐步消散，土体</a:t>
            </a: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骨架有效应力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逐渐</a:t>
            </a:r>
            <a:r>
              <a:rPr kumimoji="0" lang="zh-CN" altLang="en-US" sz="2200" b="1" dirty="0" smtClean="0">
                <a:solidFill>
                  <a:srgbClr val="000066"/>
                </a:solidFill>
                <a:ea typeface="幼圆" pitchFamily="49" charset="-122"/>
              </a:rPr>
              <a:t>增加的过程</a:t>
            </a:r>
            <a:endParaRPr kumimoji="0" lang="en-US" altLang="zh-CN" sz="2200" b="1" dirty="0" smtClean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787775" y="2437626"/>
            <a:ext cx="5134343" cy="1260298"/>
            <a:chOff x="3787775" y="2437626"/>
            <a:chExt cx="5134343" cy="1260298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388428"/>
                </p:ext>
              </p:extLst>
            </p:nvPr>
          </p:nvGraphicFramePr>
          <p:xfrm>
            <a:off x="7296518" y="2910524"/>
            <a:ext cx="16256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9762" name="公式" r:id="rId4" imgW="812520" imgH="393480" progId="Equation.3">
                    <p:embed/>
                  </p:oleObj>
                </mc:Choice>
                <mc:Fallback>
                  <p:oleObj name="公式" r:id="rId4" imgW="812520" imgH="39348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7947" r="-7947"/>
                        <a:stretch>
                          <a:fillRect/>
                        </a:stretch>
                      </p:blipFill>
                      <p:spPr bwMode="auto">
                        <a:xfrm>
                          <a:off x="7296518" y="2910524"/>
                          <a:ext cx="1625600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05"/>
            <p:cNvSpPr txBox="1">
              <a:spLocks noChangeArrowheads="1"/>
            </p:cNvSpPr>
            <p:nvPr/>
          </p:nvSpPr>
          <p:spPr bwMode="auto">
            <a:xfrm>
              <a:off x="3787775" y="2437626"/>
              <a:ext cx="5033962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8048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9842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342900" indent="-342900">
                <a:lnSpc>
                  <a:spcPct val="150000"/>
                </a:lnSpc>
                <a:buClr>
                  <a:srgbClr val="C00000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侧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限条件</a:t>
              </a:r>
              <a:r>
                <a:rPr lang="en-US" altLang="zh-CN" sz="22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t</a:t>
              </a:r>
              <a:r>
                <a:rPr lang="en-US" altLang="zh-CN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=0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时的超静孔压在数值上等于外荷载增量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，孔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压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系数</a:t>
              </a:r>
              <a:endPara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85809" y="4066675"/>
            <a:ext cx="5033962" cy="1472711"/>
            <a:chOff x="4260809" y="4446675"/>
            <a:chExt cx="5033962" cy="1472711"/>
          </a:xfrm>
        </p:grpSpPr>
        <p:graphicFrame>
          <p:nvGraphicFramePr>
            <p:cNvPr id="1429611" name="Object 1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883867"/>
                </p:ext>
              </p:extLst>
            </p:nvPr>
          </p:nvGraphicFramePr>
          <p:xfrm>
            <a:off x="4543918" y="4446675"/>
            <a:ext cx="3943350" cy="49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9763" name="公式" r:id="rId6" imgW="1815840" imgH="228600" progId="Equation.3">
                    <p:embed/>
                  </p:oleObj>
                </mc:Choice>
                <mc:Fallback>
                  <p:oleObj name="公式" r:id="rId6" imgW="1815840" imgH="228600" progId="Equation.3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3918" y="4446675"/>
                          <a:ext cx="3943350" cy="496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05"/>
            <p:cNvSpPr txBox="1">
              <a:spLocks noChangeArrowheads="1"/>
            </p:cNvSpPr>
            <p:nvPr/>
          </p:nvSpPr>
          <p:spPr bwMode="auto">
            <a:xfrm>
              <a:off x="4260809" y="4446675"/>
              <a:ext cx="5033962" cy="14727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8048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98425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342900" indent="-342900">
                <a:lnSpc>
                  <a:spcPct val="145000"/>
                </a:lnSpc>
                <a:buClr>
                  <a:srgbClr val="C00000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US" altLang="zh-CN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</a:p>
            <a:p>
              <a:pPr marL="342900" indent="-342900">
                <a:lnSpc>
                  <a:spcPct val="145000"/>
                </a:lnSpc>
                <a:buClr>
                  <a:srgbClr val="C00000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US" altLang="zh-CN" sz="22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B 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是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一个反映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土体饱和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程度的指标</a:t>
              </a:r>
            </a:p>
            <a:p>
              <a:pPr marL="342900" indent="-342900">
                <a:lnSpc>
                  <a:spcPct val="145000"/>
                </a:lnSpc>
                <a:buClr>
                  <a:srgbClr val="C00000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en-US" altLang="zh-CN" sz="22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A</a:t>
              </a:r>
              <a:r>
                <a:rPr lang="en-US" altLang="zh-CN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是一个反映土体剪胀性强弱的</a:t>
              </a:r>
              <a:r>
                <a:rPr lang="zh-CN" altLang="en-US" sz="22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指标</a:t>
              </a:r>
              <a:endPara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3926" y="0"/>
            <a:ext cx="562095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§3.6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超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静孔隙水压力与孔压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系数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小结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9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29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29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29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296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9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29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29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9608" grpId="0" uiExpand="1" build="p" advAuto="500"/>
      <p:bldP spid="142960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1" name="Text Box 9"/>
          <p:cNvSpPr txBox="1">
            <a:spLocks noChangeArrowheads="1"/>
          </p:cNvSpPr>
          <p:nvPr/>
        </p:nvSpPr>
        <p:spPr bwMode="auto">
          <a:xfrm>
            <a:off x="1401763" y="9525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第三章：土体中的应力计算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54764" name="Text Box 12"/>
          <p:cNvSpPr txBox="1">
            <a:spLocks noChangeArrowheads="1"/>
          </p:cNvSpPr>
          <p:nvPr/>
        </p:nvSpPr>
        <p:spPr bwMode="auto">
          <a:xfrm>
            <a:off x="1827213" y="2123438"/>
            <a:ext cx="668337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§3.1  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中的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应力状态 </a:t>
            </a:r>
            <a:r>
              <a:rPr lang="zh-CN" altLang="en-US" sz="28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3.2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有效应力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原理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§3.3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自重应力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§3.4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基底压力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§3.5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地基中的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附加应力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§3.6  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超静孔隙水压力与孔压</a:t>
            </a:r>
            <a:r>
              <a:rPr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系数 </a:t>
            </a:r>
            <a:r>
              <a:rPr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" pitchFamily="2" charset="2"/>
              </a:rPr>
              <a:t></a:t>
            </a:r>
            <a:endParaRPr lang="en-US" altLang="zh-CN" sz="28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89209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52524" y="1423193"/>
            <a:ext cx="1423988" cy="1516063"/>
            <a:chOff x="1152524" y="1423193"/>
            <a:chExt cx="1423988" cy="1516063"/>
          </a:xfrm>
        </p:grpSpPr>
        <p:sp>
          <p:nvSpPr>
            <p:cNvPr id="1447938" name="AutoShape 2"/>
            <p:cNvSpPr>
              <a:spLocks noChangeArrowheads="1"/>
            </p:cNvSpPr>
            <p:nvPr/>
          </p:nvSpPr>
          <p:spPr bwMode="auto">
            <a:xfrm>
              <a:off x="1658937" y="2089943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7939" name="Freeform 3"/>
            <p:cNvSpPr>
              <a:spLocks/>
            </p:cNvSpPr>
            <p:nvPr/>
          </p:nvSpPr>
          <p:spPr bwMode="auto">
            <a:xfrm flipH="1">
              <a:off x="1152524" y="1423193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7940" name="WordArt 4"/>
            <p:cNvSpPr>
              <a:spLocks noChangeArrowheads="1" noChangeShapeType="1" noTextEdit="1"/>
            </p:cNvSpPr>
            <p:nvPr/>
          </p:nvSpPr>
          <p:spPr bwMode="auto">
            <a:xfrm>
              <a:off x="1296987" y="1443831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0" i="0" u="none" strike="noStrike" kern="10" cap="none" spc="0" normalizeH="0" baseline="0" noProof="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80000"/>
                      </a:srgbClr>
                    </a:outerShdw>
                  </a:effectLst>
                  <a:uLnTx/>
                  <a:uFillTx/>
                  <a:latin typeface="华文新魏"/>
                  <a:ea typeface="华文新魏"/>
                  <a:cs typeface="+mn-cs"/>
                </a:rPr>
                <a:t>作业</a:t>
              </a:r>
            </a:p>
          </p:txBody>
        </p:sp>
      </p:grpSp>
      <p:sp>
        <p:nvSpPr>
          <p:cNvPr id="1447941" name="Text Box 5"/>
          <p:cNvSpPr txBox="1">
            <a:spLocks noChangeArrowheads="1"/>
          </p:cNvSpPr>
          <p:nvPr/>
        </p:nvSpPr>
        <p:spPr bwMode="auto">
          <a:xfrm>
            <a:off x="3092832" y="1883247"/>
            <a:ext cx="448340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3-1</a:t>
            </a: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（假定水位骤降后，黏土和粉质黏土</a:t>
            </a:r>
            <a:r>
              <a:rPr kumimoji="1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kumimoji="1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     </a:t>
            </a: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层中孔隙水压力近似为</a:t>
            </a:r>
            <a:r>
              <a:rPr kumimoji="1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3-2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3-6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47942" name="Rectangle 6"/>
          <p:cNvSpPr>
            <a:spLocks noChangeArrowheads="1"/>
          </p:cNvSpPr>
          <p:nvPr/>
        </p:nvSpPr>
        <p:spPr bwMode="auto">
          <a:xfrm>
            <a:off x="3559175" y="5663553"/>
            <a:ext cx="240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本章作业</a:t>
            </a:r>
            <a:r>
              <a:rPr kumimoji="1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 </a:t>
            </a:r>
          </a:p>
        </p:txBody>
      </p:sp>
      <p:sp>
        <p:nvSpPr>
          <p:cNvPr id="1447943" name="Text Box 7"/>
          <p:cNvSpPr txBox="1">
            <a:spLocks noChangeArrowheads="1"/>
          </p:cNvSpPr>
          <p:nvPr/>
        </p:nvSpPr>
        <p:spPr bwMode="auto">
          <a:xfrm>
            <a:off x="2071688" y="4865563"/>
            <a:ext cx="58769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本课程中所有计算均可取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=10m/s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900" cap="none" spc="-14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第三章：本章概要</a:t>
            </a:r>
            <a:r>
              <a:rPr kumimoji="0" lang="zh-CN" altLang="en-US" sz="2000" b="0" i="0" u="none" strike="noStrike" kern="900" cap="none" spc="-14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endParaRPr kumimoji="0" lang="zh-CN" altLang="en-US" sz="2000" b="0" i="0" u="none" strike="noStrike" kern="900" cap="none" spc="-14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559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30669</TotalTime>
  <Words>6248</Words>
  <Application>Microsoft Office PowerPoint</Application>
  <PresentationFormat>全屏显示(4:3)</PresentationFormat>
  <Paragraphs>1328</Paragraphs>
  <Slides>94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94</vt:i4>
      </vt:variant>
    </vt:vector>
  </HeadingPairs>
  <TitlesOfParts>
    <vt:vector size="113" baseType="lpstr">
      <vt:lpstr>MingLiU</vt:lpstr>
      <vt:lpstr>黑体</vt:lpstr>
      <vt:lpstr>华文新魏</vt:lpstr>
      <vt:lpstr>宋体</vt:lpstr>
      <vt:lpstr>宋体-方正超大字符集</vt:lpstr>
      <vt:lpstr>幼圆</vt:lpstr>
      <vt:lpstr>Arial</vt:lpstr>
      <vt:lpstr>Arial Black</vt:lpstr>
      <vt:lpstr>Cambria Math</vt:lpstr>
      <vt:lpstr>Garamond</vt:lpstr>
      <vt:lpstr>Symbol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zhang2</dc:creator>
  <cp:lastModifiedBy>Administrator</cp:lastModifiedBy>
  <cp:revision>2385</cp:revision>
  <dcterms:created xsi:type="dcterms:W3CDTF">1601-01-01T00:00:00Z</dcterms:created>
  <dcterms:modified xsi:type="dcterms:W3CDTF">2020-10-03T09:04:12Z</dcterms:modified>
</cp:coreProperties>
</file>