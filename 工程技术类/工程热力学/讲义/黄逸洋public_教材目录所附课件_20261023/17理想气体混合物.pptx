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91" r:id="rId16"/>
    <p:sldId id="270" r:id="rId17"/>
    <p:sldId id="271" r:id="rId18"/>
    <p:sldId id="293" r:id="rId19"/>
    <p:sldId id="294"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6" d="100"/>
          <a:sy n="96" d="100"/>
        </p:scale>
        <p:origin x="80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4" Type="http://schemas.openxmlformats.org/officeDocument/2006/relationships/image" Target="../media/image4.wmf"/><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18.wmf"/><Relationship Id="rId7" Type="http://schemas.openxmlformats.org/officeDocument/2006/relationships/image" Target="../media/image16.wmf"/><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wmf"/><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6.vml.rels><?xml version="1.0" encoding="UTF-8" standalone="yes"?>
<Relationships xmlns="http://schemas.openxmlformats.org/package/2006/relationships"><Relationship Id="rId9" Type="http://schemas.openxmlformats.org/officeDocument/2006/relationships/image" Target="../media/image23.wmf"/><Relationship Id="rId8" Type="http://schemas.openxmlformats.org/officeDocument/2006/relationships/image" Target="../media/image22.wmf"/><Relationship Id="rId7" Type="http://schemas.openxmlformats.org/officeDocument/2006/relationships/image" Target="../media/image21.wmf"/><Relationship Id="rId6" Type="http://schemas.openxmlformats.org/officeDocument/2006/relationships/image" Target="../media/image18.wmf"/><Relationship Id="rId5" Type="http://schemas.openxmlformats.org/officeDocument/2006/relationships/image" Target="../media/image16.wmf"/><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0.wmf"/><Relationship Id="rId1" Type="http://schemas.openxmlformats.org/officeDocument/2006/relationships/image" Target="../media/image9.wmf"/></Relationships>
</file>

<file path=ppt/drawings/_rels/vmlDrawing7.vml.rels><?xml version="1.0" encoding="UTF-8" standalone="yes"?>
<Relationships xmlns="http://schemas.openxmlformats.org/package/2006/relationships"><Relationship Id="rId7" Type="http://schemas.openxmlformats.org/officeDocument/2006/relationships/image" Target="../media/image29.wmf"/><Relationship Id="rId6" Type="http://schemas.openxmlformats.org/officeDocument/2006/relationships/image" Target="../media/image28.wmf"/><Relationship Id="rId5" Type="http://schemas.openxmlformats.org/officeDocument/2006/relationships/image" Target="../media/image13.png"/><Relationship Id="rId4" Type="http://schemas.openxmlformats.org/officeDocument/2006/relationships/image" Target="../media/image27.wmf"/><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34.wmf"/><Relationship Id="rId7" Type="http://schemas.openxmlformats.org/officeDocument/2006/relationships/image" Target="../media/image33.wmf"/><Relationship Id="rId6" Type="http://schemas.openxmlformats.org/officeDocument/2006/relationships/image" Target="../media/image29.wmf"/><Relationship Id="rId5" Type="http://schemas.openxmlformats.org/officeDocument/2006/relationships/image" Target="../media/image28.wmf"/><Relationship Id="rId4" Type="http://schemas.openxmlformats.org/officeDocument/2006/relationships/image" Target="../media/image13.png"/><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image" Target="../media/image33.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37.emf"/><Relationship Id="rId1" Type="http://schemas.openxmlformats.org/officeDocument/2006/relationships/image" Target="../media/image36.e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image" Target="../media/image39.emf"/></Relationships>
</file>

<file path=ppt/drawings/_rels/vmlDrawing13.vml.rels><?xml version="1.0" encoding="UTF-8" standalone="yes"?>
<Relationships xmlns="http://schemas.openxmlformats.org/package/2006/relationships"><Relationship Id="rId6" Type="http://schemas.openxmlformats.org/officeDocument/2006/relationships/image" Target="../media/image49.wmf"/><Relationship Id="rId5" Type="http://schemas.openxmlformats.org/officeDocument/2006/relationships/image" Target="../media/image48.wmf"/><Relationship Id="rId4" Type="http://schemas.openxmlformats.org/officeDocument/2006/relationships/image" Target="../media/image47.wmf"/><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s>
</file>

<file path=ppt/drawings/_rels/vmlDrawing14.vml.rels><?xml version="1.0" encoding="UTF-8" standalone="yes"?>
<Relationships xmlns="http://schemas.openxmlformats.org/package/2006/relationships"><Relationship Id="rId6" Type="http://schemas.openxmlformats.org/officeDocument/2006/relationships/image" Target="../media/image54.wmf"/><Relationship Id="rId5" Type="http://schemas.openxmlformats.org/officeDocument/2006/relationships/image" Target="../media/image53.wmf"/><Relationship Id="rId4" Type="http://schemas.openxmlformats.org/officeDocument/2006/relationships/image" Target="../media/image46.wmf"/><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16.vml.rels><?xml version="1.0" encoding="UTF-8" standalone="yes"?>
<Relationships xmlns="http://schemas.openxmlformats.org/package/2006/relationships"><Relationship Id="rId6" Type="http://schemas.openxmlformats.org/officeDocument/2006/relationships/image" Target="../media/image60.wmf"/><Relationship Id="rId5" Type="http://schemas.openxmlformats.org/officeDocument/2006/relationships/image" Target="../media/image59.wmf"/><Relationship Id="rId4" Type="http://schemas.openxmlformats.org/officeDocument/2006/relationships/image" Target="../media/image58.wmf"/><Relationship Id="rId3" Type="http://schemas.openxmlformats.org/officeDocument/2006/relationships/image" Target="../media/image57.wmf"/><Relationship Id="rId2" Type="http://schemas.openxmlformats.org/officeDocument/2006/relationships/image" Target="../media/image55.wmf"/><Relationship Id="rId1" Type="http://schemas.openxmlformats.org/officeDocument/2006/relationships/image" Target="../media/image56.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63.wmf"/><Relationship Id="rId1" Type="http://schemas.openxmlformats.org/officeDocument/2006/relationships/image" Target="../media/image62.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71.wmf"/><Relationship Id="rId7" Type="http://schemas.openxmlformats.org/officeDocument/2006/relationships/image" Target="../media/image70.wmf"/><Relationship Id="rId6" Type="http://schemas.openxmlformats.org/officeDocument/2006/relationships/image" Target="../media/image69.wmf"/><Relationship Id="rId5" Type="http://schemas.openxmlformats.org/officeDocument/2006/relationships/image" Target="../media/image68.wmf"/><Relationship Id="rId4" Type="http://schemas.openxmlformats.org/officeDocument/2006/relationships/image" Target="../media/image67.wmf"/><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73.wmf"/><Relationship Id="rId1" Type="http://schemas.openxmlformats.org/officeDocument/2006/relationships/image" Target="../media/image72.wmf"/></Relationships>
</file>

<file path=ppt/drawings/_rels/vmlDrawing20.vml.rels><?xml version="1.0" encoding="UTF-8" standalone="yes"?>
<Relationships xmlns="http://schemas.openxmlformats.org/package/2006/relationships"><Relationship Id="rId5" Type="http://schemas.openxmlformats.org/officeDocument/2006/relationships/image" Target="../media/image78.wmf"/><Relationship Id="rId4" Type="http://schemas.openxmlformats.org/officeDocument/2006/relationships/image" Target="../media/image77.wmf"/><Relationship Id="rId3" Type="http://schemas.openxmlformats.org/officeDocument/2006/relationships/image" Target="../media/image76.wmf"/><Relationship Id="rId2" Type="http://schemas.openxmlformats.org/officeDocument/2006/relationships/image" Target="../media/image75.wmf"/><Relationship Id="rId1" Type="http://schemas.openxmlformats.org/officeDocument/2006/relationships/image" Target="../media/image74.wmf"/></Relationships>
</file>

<file path=ppt/drawings/_rels/vmlDrawing21.vml.rels><?xml version="1.0" encoding="UTF-8" standalone="yes"?>
<Relationships xmlns="http://schemas.openxmlformats.org/package/2006/relationships"><Relationship Id="rId5" Type="http://schemas.openxmlformats.org/officeDocument/2006/relationships/image" Target="../media/image81.wmf"/><Relationship Id="rId4" Type="http://schemas.openxmlformats.org/officeDocument/2006/relationships/image" Target="../media/image80.wmf"/><Relationship Id="rId3" Type="http://schemas.openxmlformats.org/officeDocument/2006/relationships/image" Target="../media/image78.wmf"/><Relationship Id="rId2" Type="http://schemas.openxmlformats.org/officeDocument/2006/relationships/image" Target="../media/image77.wmf"/><Relationship Id="rId1" Type="http://schemas.openxmlformats.org/officeDocument/2006/relationships/image" Target="../media/image79.wmf"/></Relationships>
</file>

<file path=ppt/drawings/_rels/vmlDrawing22.vml.rels><?xml version="1.0" encoding="UTF-8" standalone="yes"?>
<Relationships xmlns="http://schemas.openxmlformats.org/package/2006/relationships"><Relationship Id="rId4" Type="http://schemas.openxmlformats.org/officeDocument/2006/relationships/image" Target="../media/image84.wmf"/><Relationship Id="rId3" Type="http://schemas.openxmlformats.org/officeDocument/2006/relationships/image" Target="../media/image83.wmf"/><Relationship Id="rId2" Type="http://schemas.openxmlformats.org/officeDocument/2006/relationships/image" Target="../media/image82.wmf"/><Relationship Id="rId1" Type="http://schemas.openxmlformats.org/officeDocument/2006/relationships/image" Target="../media/image76.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86.wmf"/><Relationship Id="rId1" Type="http://schemas.openxmlformats.org/officeDocument/2006/relationships/image" Target="../media/image85.wmf"/></Relationships>
</file>

<file path=ppt/drawings/_rels/vmlDrawing24.vml.rels><?xml version="1.0" encoding="UTF-8" standalone="yes"?>
<Relationships xmlns="http://schemas.openxmlformats.org/package/2006/relationships"><Relationship Id="rId5" Type="http://schemas.openxmlformats.org/officeDocument/2006/relationships/image" Target="../media/image92.wmf"/><Relationship Id="rId4" Type="http://schemas.openxmlformats.org/officeDocument/2006/relationships/image" Target="../media/image91.wmf"/><Relationship Id="rId3" Type="http://schemas.openxmlformats.org/officeDocument/2006/relationships/image" Target="../media/image90.wmf"/><Relationship Id="rId2" Type="http://schemas.openxmlformats.org/officeDocument/2006/relationships/image" Target="../media/image89.wmf"/><Relationship Id="rId1" Type="http://schemas.openxmlformats.org/officeDocument/2006/relationships/image" Target="../media/image88.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29842" y="2505075"/>
            <a:ext cx="3868340"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29150" y="2505075"/>
            <a:ext cx="3887391"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9" Type="http://schemas.openxmlformats.org/officeDocument/2006/relationships/image" Target="../media/image4.wmf"/><Relationship Id="rId8" Type="http://schemas.openxmlformats.org/officeDocument/2006/relationships/oleObject" Target="../embeddings/oleObject5.bin"/><Relationship Id="rId7" Type="http://schemas.openxmlformats.org/officeDocument/2006/relationships/oleObject" Target="../embeddings/oleObject4.bin"/><Relationship Id="rId6" Type="http://schemas.openxmlformats.org/officeDocument/2006/relationships/image" Target="../media/image3.wmf"/><Relationship Id="rId5" Type="http://schemas.openxmlformats.org/officeDocument/2006/relationships/oleObject" Target="../embeddings/oleObject3.bin"/><Relationship Id="rId4" Type="http://schemas.openxmlformats.org/officeDocument/2006/relationships/image" Target="../media/image2.wmf"/><Relationship Id="rId3" Type="http://schemas.openxmlformats.org/officeDocument/2006/relationships/oleObject" Target="../embeddings/oleObject2.bin"/><Relationship Id="rId2" Type="http://schemas.openxmlformats.org/officeDocument/2006/relationships/image" Target="../media/image1.wmf"/><Relationship Id="rId12" Type="http://schemas.openxmlformats.org/officeDocument/2006/relationships/vmlDrawing" Target="../drawings/vmlDrawing1.vml"/><Relationship Id="rId11" Type="http://schemas.openxmlformats.org/officeDocument/2006/relationships/slideLayout" Target="../slideLayouts/slideLayout2.xml"/><Relationship Id="rId10" Type="http://schemas.openxmlformats.org/officeDocument/2006/relationships/tags" Target="../tags/tag2.xml"/><Relationship Id="rId1"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7.xml"/><Relationship Id="rId4" Type="http://schemas.openxmlformats.org/officeDocument/2006/relationships/image" Target="../media/image6.wmf"/><Relationship Id="rId3" Type="http://schemas.openxmlformats.org/officeDocument/2006/relationships/oleObject" Target="../embeddings/oleObject7.bin"/><Relationship Id="rId2" Type="http://schemas.openxmlformats.org/officeDocument/2006/relationships/image" Target="../media/image5.wmf"/><Relationship Id="rId1" Type="http://schemas.openxmlformats.org/officeDocument/2006/relationships/oleObject" Target="../embeddings/oleObject6.bin"/></Relationships>
</file>

<file path=ppt/slides/_rels/slide10.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7.xml"/><Relationship Id="rId4" Type="http://schemas.openxmlformats.org/officeDocument/2006/relationships/image" Target="../media/image8.wmf"/><Relationship Id="rId3" Type="http://schemas.openxmlformats.org/officeDocument/2006/relationships/oleObject" Target="../embeddings/oleObject9.bin"/><Relationship Id="rId2" Type="http://schemas.openxmlformats.org/officeDocument/2006/relationships/image" Target="../media/image7.wmf"/><Relationship Id="rId1" Type="http://schemas.openxmlformats.org/officeDocument/2006/relationships/oleObject" Target="../embeddings/oleObject8.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9" Type="http://schemas.openxmlformats.org/officeDocument/2006/relationships/oleObject" Target="../embeddings/oleObject14.bin"/><Relationship Id="rId8" Type="http://schemas.openxmlformats.org/officeDocument/2006/relationships/image" Target="../media/image12.wmf"/><Relationship Id="rId7" Type="http://schemas.openxmlformats.org/officeDocument/2006/relationships/oleObject" Target="../embeddings/oleObject13.bin"/><Relationship Id="rId6" Type="http://schemas.openxmlformats.org/officeDocument/2006/relationships/image" Target="../media/image11.wmf"/><Relationship Id="rId5" Type="http://schemas.openxmlformats.org/officeDocument/2006/relationships/oleObject" Target="../embeddings/oleObject12.bin"/><Relationship Id="rId4" Type="http://schemas.openxmlformats.org/officeDocument/2006/relationships/image" Target="../media/image10.wmf"/><Relationship Id="rId3" Type="http://schemas.openxmlformats.org/officeDocument/2006/relationships/oleObject" Target="../embeddings/oleObject11.bin"/><Relationship Id="rId21" Type="http://schemas.openxmlformats.org/officeDocument/2006/relationships/vmlDrawing" Target="../drawings/vmlDrawing4.vml"/><Relationship Id="rId20" Type="http://schemas.openxmlformats.org/officeDocument/2006/relationships/slideLayout" Target="../slideLayouts/slideLayout7.xml"/><Relationship Id="rId2" Type="http://schemas.openxmlformats.org/officeDocument/2006/relationships/image" Target="../media/image9.wmf"/><Relationship Id="rId19" Type="http://schemas.openxmlformats.org/officeDocument/2006/relationships/tags" Target="../tags/tag3.xml"/><Relationship Id="rId18" Type="http://schemas.openxmlformats.org/officeDocument/2006/relationships/image" Target="../media/image18.wmf"/><Relationship Id="rId17" Type="http://schemas.openxmlformats.org/officeDocument/2006/relationships/oleObject" Target="../embeddings/oleObject17.bin"/><Relationship Id="rId16" Type="http://schemas.openxmlformats.org/officeDocument/2006/relationships/image" Target="../media/image17.png"/><Relationship Id="rId15" Type="http://schemas.openxmlformats.org/officeDocument/2006/relationships/image" Target="../media/image16.wmf"/><Relationship Id="rId14" Type="http://schemas.openxmlformats.org/officeDocument/2006/relationships/oleObject" Target="../embeddings/oleObject16.bin"/><Relationship Id="rId13" Type="http://schemas.openxmlformats.org/officeDocument/2006/relationships/image" Target="../media/image15.png"/><Relationship Id="rId12" Type="http://schemas.openxmlformats.org/officeDocument/2006/relationships/image" Target="../media/image14.png"/><Relationship Id="rId11" Type="http://schemas.openxmlformats.org/officeDocument/2006/relationships/oleObject" Target="../embeddings/oleObject15.bin"/><Relationship Id="rId10" Type="http://schemas.openxmlformats.org/officeDocument/2006/relationships/image" Target="../media/image13.png"/><Relationship Id="rId1" Type="http://schemas.openxmlformats.org/officeDocument/2006/relationships/oleObject" Target="../embeddings/oleObject10.bin"/></Relationships>
</file>

<file path=ppt/slides/_rels/slide13.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7.xml"/><Relationship Id="rId4" Type="http://schemas.openxmlformats.org/officeDocument/2006/relationships/tags" Target="../tags/tag4.xml"/><Relationship Id="rId3" Type="http://schemas.openxmlformats.org/officeDocument/2006/relationships/image" Target="../media/image20.png"/><Relationship Id="rId2" Type="http://schemas.openxmlformats.org/officeDocument/2006/relationships/image" Target="../media/image19.wmf"/><Relationship Id="rId1" Type="http://schemas.openxmlformats.org/officeDocument/2006/relationships/oleObject" Target="../embeddings/oleObject18.bin"/></Relationships>
</file>

<file path=ppt/slides/_rels/slide14.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image" Target="../media/image14.png"/><Relationship Id="rId7" Type="http://schemas.openxmlformats.org/officeDocument/2006/relationships/oleObject" Target="../embeddings/oleObject22.bin"/><Relationship Id="rId6" Type="http://schemas.openxmlformats.org/officeDocument/2006/relationships/image" Target="../media/image13.png"/><Relationship Id="rId5" Type="http://schemas.openxmlformats.org/officeDocument/2006/relationships/oleObject" Target="../embeddings/oleObject21.bin"/><Relationship Id="rId4" Type="http://schemas.openxmlformats.org/officeDocument/2006/relationships/image" Target="../media/image10.wmf"/><Relationship Id="rId3" Type="http://schemas.openxmlformats.org/officeDocument/2006/relationships/oleObject" Target="../embeddings/oleObject20.bin"/><Relationship Id="rId22" Type="http://schemas.openxmlformats.org/officeDocument/2006/relationships/vmlDrawing" Target="../drawings/vmlDrawing6.vml"/><Relationship Id="rId21" Type="http://schemas.openxmlformats.org/officeDocument/2006/relationships/slideLayout" Target="../slideLayouts/slideLayout7.xml"/><Relationship Id="rId20" Type="http://schemas.openxmlformats.org/officeDocument/2006/relationships/image" Target="../media/image23.wmf"/><Relationship Id="rId2" Type="http://schemas.openxmlformats.org/officeDocument/2006/relationships/image" Target="../media/image9.wmf"/><Relationship Id="rId19" Type="http://schemas.openxmlformats.org/officeDocument/2006/relationships/oleObject" Target="../embeddings/oleObject27.bin"/><Relationship Id="rId18" Type="http://schemas.openxmlformats.org/officeDocument/2006/relationships/image" Target="../media/image22.wmf"/><Relationship Id="rId17" Type="http://schemas.openxmlformats.org/officeDocument/2006/relationships/oleObject" Target="../embeddings/oleObject26.bin"/><Relationship Id="rId16" Type="http://schemas.openxmlformats.org/officeDocument/2006/relationships/image" Target="../media/image21.wmf"/><Relationship Id="rId15" Type="http://schemas.openxmlformats.org/officeDocument/2006/relationships/oleObject" Target="../embeddings/oleObject25.bin"/><Relationship Id="rId14" Type="http://schemas.openxmlformats.org/officeDocument/2006/relationships/image" Target="../media/image18.wmf"/><Relationship Id="rId13" Type="http://schemas.openxmlformats.org/officeDocument/2006/relationships/oleObject" Target="../embeddings/oleObject24.bin"/><Relationship Id="rId12" Type="http://schemas.openxmlformats.org/officeDocument/2006/relationships/image" Target="../media/image17.png"/><Relationship Id="rId11" Type="http://schemas.openxmlformats.org/officeDocument/2006/relationships/image" Target="../media/image16.wmf"/><Relationship Id="rId10" Type="http://schemas.openxmlformats.org/officeDocument/2006/relationships/oleObject" Target="../embeddings/oleObject23.bin"/><Relationship Id="rId1" Type="http://schemas.openxmlformats.org/officeDocument/2006/relationships/oleObject" Target="../embeddings/oleObject19.bin"/></Relationships>
</file>

<file path=ppt/slides/_rels/slide15.xml.rels><?xml version="1.0" encoding="UTF-8" standalone="yes"?>
<Relationships xmlns="http://schemas.openxmlformats.org/package/2006/relationships"><Relationship Id="rId9" Type="http://schemas.openxmlformats.org/officeDocument/2006/relationships/oleObject" Target="../embeddings/oleObject32.bin"/><Relationship Id="rId8" Type="http://schemas.openxmlformats.org/officeDocument/2006/relationships/image" Target="../media/image27.wmf"/><Relationship Id="rId7" Type="http://schemas.openxmlformats.org/officeDocument/2006/relationships/oleObject" Target="../embeddings/oleObject31.bin"/><Relationship Id="rId6" Type="http://schemas.openxmlformats.org/officeDocument/2006/relationships/image" Target="../media/image26.wmf"/><Relationship Id="rId5" Type="http://schemas.openxmlformats.org/officeDocument/2006/relationships/oleObject" Target="../embeddings/oleObject30.bin"/><Relationship Id="rId4" Type="http://schemas.openxmlformats.org/officeDocument/2006/relationships/image" Target="../media/image25.wmf"/><Relationship Id="rId3" Type="http://schemas.openxmlformats.org/officeDocument/2006/relationships/oleObject" Target="../embeddings/oleObject29.bin"/><Relationship Id="rId20" Type="http://schemas.openxmlformats.org/officeDocument/2006/relationships/vmlDrawing" Target="../drawings/vmlDrawing7.vml"/><Relationship Id="rId2" Type="http://schemas.openxmlformats.org/officeDocument/2006/relationships/image" Target="../media/image24.wmf"/><Relationship Id="rId19" Type="http://schemas.openxmlformats.org/officeDocument/2006/relationships/slideLayout" Target="../slideLayouts/slideLayout7.xml"/><Relationship Id="rId18" Type="http://schemas.openxmlformats.org/officeDocument/2006/relationships/tags" Target="../tags/tag5.xml"/><Relationship Id="rId17" Type="http://schemas.openxmlformats.org/officeDocument/2006/relationships/image" Target="../media/image32.png"/><Relationship Id="rId16" Type="http://schemas.openxmlformats.org/officeDocument/2006/relationships/image" Target="../media/image31.png"/><Relationship Id="rId15" Type="http://schemas.openxmlformats.org/officeDocument/2006/relationships/image" Target="../media/image30.png"/><Relationship Id="rId14" Type="http://schemas.openxmlformats.org/officeDocument/2006/relationships/image" Target="../media/image29.wmf"/><Relationship Id="rId13" Type="http://schemas.openxmlformats.org/officeDocument/2006/relationships/oleObject" Target="../embeddings/oleObject34.bin"/><Relationship Id="rId12" Type="http://schemas.openxmlformats.org/officeDocument/2006/relationships/image" Target="../media/image28.wmf"/><Relationship Id="rId11" Type="http://schemas.openxmlformats.org/officeDocument/2006/relationships/oleObject" Target="../embeddings/oleObject33.bin"/><Relationship Id="rId10" Type="http://schemas.openxmlformats.org/officeDocument/2006/relationships/image" Target="../media/image13.png"/><Relationship Id="rId1" Type="http://schemas.openxmlformats.org/officeDocument/2006/relationships/oleObject" Target="../embeddings/oleObject28.bin"/></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7.xml"/><Relationship Id="rId2" Type="http://schemas.openxmlformats.org/officeDocument/2006/relationships/image" Target="../media/image27.wmf"/><Relationship Id="rId1" Type="http://schemas.openxmlformats.org/officeDocument/2006/relationships/oleObject" Target="../embeddings/oleObject35.bin"/></Relationships>
</file>

<file path=ppt/slides/_rels/slide17.xml.rels><?xml version="1.0" encoding="UTF-8" standalone="yes"?>
<Relationships xmlns="http://schemas.openxmlformats.org/package/2006/relationships"><Relationship Id="rId9" Type="http://schemas.openxmlformats.org/officeDocument/2006/relationships/oleObject" Target="../embeddings/oleObject40.bin"/><Relationship Id="rId8" Type="http://schemas.openxmlformats.org/officeDocument/2006/relationships/image" Target="../media/image13.png"/><Relationship Id="rId7" Type="http://schemas.openxmlformats.org/officeDocument/2006/relationships/oleObject" Target="../embeddings/oleObject39.bin"/><Relationship Id="rId6" Type="http://schemas.openxmlformats.org/officeDocument/2006/relationships/image" Target="../media/image26.wmf"/><Relationship Id="rId5" Type="http://schemas.openxmlformats.org/officeDocument/2006/relationships/oleObject" Target="../embeddings/oleObject38.bin"/><Relationship Id="rId4" Type="http://schemas.openxmlformats.org/officeDocument/2006/relationships/image" Target="../media/image25.wmf"/><Relationship Id="rId3" Type="http://schemas.openxmlformats.org/officeDocument/2006/relationships/oleObject" Target="../embeddings/oleObject37.bin"/><Relationship Id="rId21" Type="http://schemas.openxmlformats.org/officeDocument/2006/relationships/vmlDrawing" Target="../drawings/vmlDrawing9.vml"/><Relationship Id="rId20" Type="http://schemas.openxmlformats.org/officeDocument/2006/relationships/slideLayout" Target="../slideLayouts/slideLayout7.xml"/><Relationship Id="rId2" Type="http://schemas.openxmlformats.org/officeDocument/2006/relationships/image" Target="../media/image24.wmf"/><Relationship Id="rId19" Type="http://schemas.openxmlformats.org/officeDocument/2006/relationships/image" Target="../media/image34.wmf"/><Relationship Id="rId18" Type="http://schemas.openxmlformats.org/officeDocument/2006/relationships/oleObject" Target="../embeddings/oleObject43.bin"/><Relationship Id="rId17" Type="http://schemas.openxmlformats.org/officeDocument/2006/relationships/image" Target="../media/image33.wmf"/><Relationship Id="rId16" Type="http://schemas.openxmlformats.org/officeDocument/2006/relationships/oleObject" Target="../embeddings/oleObject42.bin"/><Relationship Id="rId15" Type="http://schemas.openxmlformats.org/officeDocument/2006/relationships/image" Target="../media/image32.png"/><Relationship Id="rId14" Type="http://schemas.openxmlformats.org/officeDocument/2006/relationships/image" Target="../media/image31.png"/><Relationship Id="rId13" Type="http://schemas.openxmlformats.org/officeDocument/2006/relationships/image" Target="../media/image30.png"/><Relationship Id="rId12" Type="http://schemas.openxmlformats.org/officeDocument/2006/relationships/image" Target="../media/image29.wmf"/><Relationship Id="rId11" Type="http://schemas.openxmlformats.org/officeDocument/2006/relationships/oleObject" Target="../embeddings/oleObject41.bin"/><Relationship Id="rId10" Type="http://schemas.openxmlformats.org/officeDocument/2006/relationships/image" Target="../media/image28.wmf"/><Relationship Id="rId1" Type="http://schemas.openxmlformats.org/officeDocument/2006/relationships/oleObject" Target="../embeddings/oleObject36.bin"/></Relationships>
</file>

<file path=ppt/slides/_rels/slide18.xml.rels><?xml version="1.0" encoding="UTF-8" standalone="yes"?>
<Relationships xmlns="http://schemas.openxmlformats.org/package/2006/relationships"><Relationship Id="rId7" Type="http://schemas.openxmlformats.org/officeDocument/2006/relationships/vmlDrawing" Target="../drawings/vmlDrawing10.vml"/><Relationship Id="rId6" Type="http://schemas.openxmlformats.org/officeDocument/2006/relationships/slideLayout" Target="../slideLayouts/slideLayout7.xml"/><Relationship Id="rId5" Type="http://schemas.openxmlformats.org/officeDocument/2006/relationships/tags" Target="../tags/tag6.xml"/><Relationship Id="rId4" Type="http://schemas.openxmlformats.org/officeDocument/2006/relationships/image" Target="../media/image35.wmf"/><Relationship Id="rId3" Type="http://schemas.openxmlformats.org/officeDocument/2006/relationships/oleObject" Target="../embeddings/oleObject45.bin"/><Relationship Id="rId2" Type="http://schemas.openxmlformats.org/officeDocument/2006/relationships/image" Target="../media/image33.wmf"/><Relationship Id="rId1" Type="http://schemas.openxmlformats.org/officeDocument/2006/relationships/oleObject" Target="../embeddings/oleObject44.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9" Type="http://schemas.openxmlformats.org/officeDocument/2006/relationships/vmlDrawing" Target="../drawings/vmlDrawing11.vml"/><Relationship Id="rId8" Type="http://schemas.openxmlformats.org/officeDocument/2006/relationships/slideLayout" Target="../slideLayouts/slideLayout7.xml"/><Relationship Id="rId7" Type="http://schemas.openxmlformats.org/officeDocument/2006/relationships/tags" Target="../tags/tag7.xml"/><Relationship Id="rId6" Type="http://schemas.openxmlformats.org/officeDocument/2006/relationships/image" Target="../media/image38.emf"/><Relationship Id="rId5" Type="http://schemas.openxmlformats.org/officeDocument/2006/relationships/oleObject" Target="../embeddings/oleObject48.bin"/><Relationship Id="rId4" Type="http://schemas.openxmlformats.org/officeDocument/2006/relationships/image" Target="../media/image37.emf"/><Relationship Id="rId3" Type="http://schemas.openxmlformats.org/officeDocument/2006/relationships/oleObject" Target="../embeddings/oleObject47.bin"/><Relationship Id="rId2" Type="http://schemas.openxmlformats.org/officeDocument/2006/relationships/image" Target="../media/image36.emf"/><Relationship Id="rId1" Type="http://schemas.openxmlformats.org/officeDocument/2006/relationships/oleObject" Target="../embeddings/oleObject46.bin"/></Relationships>
</file>

<file path=ppt/slides/_rels/slide22.xml.rels><?xml version="1.0" encoding="UTF-8" standalone="yes"?>
<Relationships xmlns="http://schemas.openxmlformats.org/package/2006/relationships"><Relationship Id="rId8" Type="http://schemas.openxmlformats.org/officeDocument/2006/relationships/vmlDrawing" Target="../drawings/vmlDrawing12.vml"/><Relationship Id="rId7" Type="http://schemas.openxmlformats.org/officeDocument/2006/relationships/slideLayout" Target="../slideLayouts/slideLayout7.xml"/><Relationship Id="rId6" Type="http://schemas.openxmlformats.org/officeDocument/2006/relationships/image" Target="../media/image41.emf"/><Relationship Id="rId5" Type="http://schemas.openxmlformats.org/officeDocument/2006/relationships/oleObject" Target="../embeddings/oleObject51.bin"/><Relationship Id="rId4" Type="http://schemas.openxmlformats.org/officeDocument/2006/relationships/image" Target="../media/image40.emf"/><Relationship Id="rId3" Type="http://schemas.openxmlformats.org/officeDocument/2006/relationships/oleObject" Target="../embeddings/oleObject50.bin"/><Relationship Id="rId2" Type="http://schemas.openxmlformats.org/officeDocument/2006/relationships/image" Target="../media/image39.emf"/><Relationship Id="rId1" Type="http://schemas.openxmlformats.org/officeDocument/2006/relationships/oleObject" Target="../embeddings/oleObject49.bin"/></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3.png"/><Relationship Id="rId1" Type="http://schemas.openxmlformats.org/officeDocument/2006/relationships/image" Target="../media/image42.png"/></Relationships>
</file>

<file path=ppt/slides/_rels/slide24.xml.rels><?xml version="1.0" encoding="UTF-8" standalone="yes"?>
<Relationships xmlns="http://schemas.openxmlformats.org/package/2006/relationships"><Relationship Id="rId9" Type="http://schemas.openxmlformats.org/officeDocument/2006/relationships/oleObject" Target="../embeddings/oleObject56.bin"/><Relationship Id="rId8" Type="http://schemas.openxmlformats.org/officeDocument/2006/relationships/image" Target="../media/image47.wmf"/><Relationship Id="rId7" Type="http://schemas.openxmlformats.org/officeDocument/2006/relationships/oleObject" Target="../embeddings/oleObject55.bin"/><Relationship Id="rId6" Type="http://schemas.openxmlformats.org/officeDocument/2006/relationships/image" Target="../media/image46.wmf"/><Relationship Id="rId5" Type="http://schemas.openxmlformats.org/officeDocument/2006/relationships/oleObject" Target="../embeddings/oleObject54.bin"/><Relationship Id="rId4" Type="http://schemas.openxmlformats.org/officeDocument/2006/relationships/image" Target="../media/image45.wmf"/><Relationship Id="rId3" Type="http://schemas.openxmlformats.org/officeDocument/2006/relationships/oleObject" Target="../embeddings/oleObject53.bin"/><Relationship Id="rId2" Type="http://schemas.openxmlformats.org/officeDocument/2006/relationships/image" Target="../media/image44.wmf"/><Relationship Id="rId14" Type="http://schemas.openxmlformats.org/officeDocument/2006/relationships/vmlDrawing" Target="../drawings/vmlDrawing13.vml"/><Relationship Id="rId13" Type="http://schemas.openxmlformats.org/officeDocument/2006/relationships/slideLayout" Target="../slideLayouts/slideLayout7.xml"/><Relationship Id="rId12" Type="http://schemas.openxmlformats.org/officeDocument/2006/relationships/image" Target="../media/image49.wmf"/><Relationship Id="rId11" Type="http://schemas.openxmlformats.org/officeDocument/2006/relationships/oleObject" Target="../embeddings/oleObject57.bin"/><Relationship Id="rId10" Type="http://schemas.openxmlformats.org/officeDocument/2006/relationships/image" Target="../media/image48.wmf"/><Relationship Id="rId1" Type="http://schemas.openxmlformats.org/officeDocument/2006/relationships/oleObject" Target="../embeddings/oleObject52.bin"/></Relationships>
</file>

<file path=ppt/slides/_rels/slide25.xml.rels><?xml version="1.0" encoding="UTF-8" standalone="yes"?>
<Relationships xmlns="http://schemas.openxmlformats.org/package/2006/relationships"><Relationship Id="rId9" Type="http://schemas.openxmlformats.org/officeDocument/2006/relationships/oleObject" Target="../embeddings/oleObject62.bin"/><Relationship Id="rId8" Type="http://schemas.openxmlformats.org/officeDocument/2006/relationships/image" Target="../media/image46.wmf"/><Relationship Id="rId7" Type="http://schemas.openxmlformats.org/officeDocument/2006/relationships/oleObject" Target="../embeddings/oleObject61.bin"/><Relationship Id="rId6" Type="http://schemas.openxmlformats.org/officeDocument/2006/relationships/image" Target="../media/image52.wmf"/><Relationship Id="rId5" Type="http://schemas.openxmlformats.org/officeDocument/2006/relationships/oleObject" Target="../embeddings/oleObject60.bin"/><Relationship Id="rId4" Type="http://schemas.openxmlformats.org/officeDocument/2006/relationships/image" Target="../media/image51.wmf"/><Relationship Id="rId3" Type="http://schemas.openxmlformats.org/officeDocument/2006/relationships/oleObject" Target="../embeddings/oleObject59.bin"/><Relationship Id="rId2" Type="http://schemas.openxmlformats.org/officeDocument/2006/relationships/image" Target="../media/image50.wmf"/><Relationship Id="rId14" Type="http://schemas.openxmlformats.org/officeDocument/2006/relationships/vmlDrawing" Target="../drawings/vmlDrawing14.vml"/><Relationship Id="rId13" Type="http://schemas.openxmlformats.org/officeDocument/2006/relationships/slideLayout" Target="../slideLayouts/slideLayout7.xml"/><Relationship Id="rId12" Type="http://schemas.openxmlformats.org/officeDocument/2006/relationships/image" Target="../media/image54.wmf"/><Relationship Id="rId11" Type="http://schemas.openxmlformats.org/officeDocument/2006/relationships/oleObject" Target="../embeddings/oleObject63.bin"/><Relationship Id="rId10" Type="http://schemas.openxmlformats.org/officeDocument/2006/relationships/image" Target="../media/image53.wmf"/><Relationship Id="rId1" Type="http://schemas.openxmlformats.org/officeDocument/2006/relationships/oleObject" Target="../embeddings/oleObject58.bin"/></Relationships>
</file>

<file path=ppt/slides/_rels/slide26.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2.xml"/><Relationship Id="rId2" Type="http://schemas.openxmlformats.org/officeDocument/2006/relationships/image" Target="../media/image55.wmf"/><Relationship Id="rId1" Type="http://schemas.openxmlformats.org/officeDocument/2006/relationships/oleObject" Target="../embeddings/oleObject64.bin"/></Relationships>
</file>

<file path=ppt/slides/_rels/slide27.xml.rels><?xml version="1.0" encoding="UTF-8" standalone="yes"?>
<Relationships xmlns="http://schemas.openxmlformats.org/package/2006/relationships"><Relationship Id="rId9" Type="http://schemas.openxmlformats.org/officeDocument/2006/relationships/oleObject" Target="../embeddings/oleObject69.bin"/><Relationship Id="rId8" Type="http://schemas.openxmlformats.org/officeDocument/2006/relationships/image" Target="../media/image58.wmf"/><Relationship Id="rId7" Type="http://schemas.openxmlformats.org/officeDocument/2006/relationships/oleObject" Target="../embeddings/oleObject68.bin"/><Relationship Id="rId6" Type="http://schemas.openxmlformats.org/officeDocument/2006/relationships/image" Target="../media/image57.wmf"/><Relationship Id="rId5" Type="http://schemas.openxmlformats.org/officeDocument/2006/relationships/oleObject" Target="../embeddings/oleObject67.bin"/><Relationship Id="rId4" Type="http://schemas.openxmlformats.org/officeDocument/2006/relationships/image" Target="../media/image55.wmf"/><Relationship Id="rId3" Type="http://schemas.openxmlformats.org/officeDocument/2006/relationships/oleObject" Target="../embeddings/oleObject66.bin"/><Relationship Id="rId2" Type="http://schemas.openxmlformats.org/officeDocument/2006/relationships/image" Target="../media/image56.wmf"/><Relationship Id="rId14" Type="http://schemas.openxmlformats.org/officeDocument/2006/relationships/vmlDrawing" Target="../drawings/vmlDrawing16.vml"/><Relationship Id="rId13" Type="http://schemas.openxmlformats.org/officeDocument/2006/relationships/slideLayout" Target="../slideLayouts/slideLayout7.xml"/><Relationship Id="rId12" Type="http://schemas.openxmlformats.org/officeDocument/2006/relationships/image" Target="../media/image60.wmf"/><Relationship Id="rId11" Type="http://schemas.openxmlformats.org/officeDocument/2006/relationships/oleObject" Target="../embeddings/oleObject70.bin"/><Relationship Id="rId10" Type="http://schemas.openxmlformats.org/officeDocument/2006/relationships/image" Target="../media/image59.wmf"/><Relationship Id="rId1" Type="http://schemas.openxmlformats.org/officeDocument/2006/relationships/oleObject" Target="../embeddings/oleObject65.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1.png"/></Relationships>
</file>

<file path=ppt/slides/_rels/slide30.xml.rels><?xml version="1.0" encoding="UTF-8" standalone="yes"?>
<Relationships xmlns="http://schemas.openxmlformats.org/package/2006/relationships"><Relationship Id="rId7" Type="http://schemas.openxmlformats.org/officeDocument/2006/relationships/vmlDrawing" Target="../drawings/vmlDrawing17.vml"/><Relationship Id="rId6" Type="http://schemas.openxmlformats.org/officeDocument/2006/relationships/slideLayout" Target="../slideLayouts/slideLayout7.xml"/><Relationship Id="rId5" Type="http://schemas.openxmlformats.org/officeDocument/2006/relationships/image" Target="../media/image61.png"/><Relationship Id="rId4" Type="http://schemas.openxmlformats.org/officeDocument/2006/relationships/image" Target="../media/image63.wmf"/><Relationship Id="rId3" Type="http://schemas.openxmlformats.org/officeDocument/2006/relationships/oleObject" Target="../embeddings/oleObject72.bin"/><Relationship Id="rId2" Type="http://schemas.openxmlformats.org/officeDocument/2006/relationships/image" Target="../media/image62.wmf"/><Relationship Id="rId1" Type="http://schemas.openxmlformats.org/officeDocument/2006/relationships/oleObject" Target="../embeddings/oleObject71.bin"/></Relationships>
</file>

<file path=ppt/slides/_rels/slide31.xml.rels><?xml version="1.0" encoding="UTF-8" standalone="yes"?>
<Relationships xmlns="http://schemas.openxmlformats.org/package/2006/relationships"><Relationship Id="rId9" Type="http://schemas.openxmlformats.org/officeDocument/2006/relationships/oleObject" Target="../embeddings/oleObject77.bin"/><Relationship Id="rId8" Type="http://schemas.openxmlformats.org/officeDocument/2006/relationships/image" Target="../media/image67.wmf"/><Relationship Id="rId7" Type="http://schemas.openxmlformats.org/officeDocument/2006/relationships/oleObject" Target="../embeddings/oleObject76.bin"/><Relationship Id="rId6" Type="http://schemas.openxmlformats.org/officeDocument/2006/relationships/image" Target="../media/image66.wmf"/><Relationship Id="rId5" Type="http://schemas.openxmlformats.org/officeDocument/2006/relationships/oleObject" Target="../embeddings/oleObject75.bin"/><Relationship Id="rId4" Type="http://schemas.openxmlformats.org/officeDocument/2006/relationships/image" Target="../media/image65.wmf"/><Relationship Id="rId3" Type="http://schemas.openxmlformats.org/officeDocument/2006/relationships/oleObject" Target="../embeddings/oleObject74.bin"/><Relationship Id="rId2" Type="http://schemas.openxmlformats.org/officeDocument/2006/relationships/image" Target="../media/image64.wmf"/><Relationship Id="rId19" Type="http://schemas.openxmlformats.org/officeDocument/2006/relationships/vmlDrawing" Target="../drawings/vmlDrawing18.vml"/><Relationship Id="rId18" Type="http://schemas.openxmlformats.org/officeDocument/2006/relationships/slideLayout" Target="../slideLayouts/slideLayout7.xml"/><Relationship Id="rId17" Type="http://schemas.openxmlformats.org/officeDocument/2006/relationships/image" Target="../media/image61.png"/><Relationship Id="rId16" Type="http://schemas.openxmlformats.org/officeDocument/2006/relationships/image" Target="../media/image71.wmf"/><Relationship Id="rId15" Type="http://schemas.openxmlformats.org/officeDocument/2006/relationships/oleObject" Target="../embeddings/oleObject80.bin"/><Relationship Id="rId14" Type="http://schemas.openxmlformats.org/officeDocument/2006/relationships/image" Target="../media/image70.wmf"/><Relationship Id="rId13" Type="http://schemas.openxmlformats.org/officeDocument/2006/relationships/oleObject" Target="../embeddings/oleObject79.bin"/><Relationship Id="rId12" Type="http://schemas.openxmlformats.org/officeDocument/2006/relationships/image" Target="../media/image69.wmf"/><Relationship Id="rId11" Type="http://schemas.openxmlformats.org/officeDocument/2006/relationships/oleObject" Target="../embeddings/oleObject78.bin"/><Relationship Id="rId10" Type="http://schemas.openxmlformats.org/officeDocument/2006/relationships/image" Target="../media/image68.wmf"/><Relationship Id="rId1" Type="http://schemas.openxmlformats.org/officeDocument/2006/relationships/oleObject" Target="../embeddings/oleObject73.bin"/></Relationships>
</file>

<file path=ppt/slides/_rels/slide32.xml.rels><?xml version="1.0" encoding="UTF-8" standalone="yes"?>
<Relationships xmlns="http://schemas.openxmlformats.org/package/2006/relationships"><Relationship Id="rId6" Type="http://schemas.openxmlformats.org/officeDocument/2006/relationships/vmlDrawing" Target="../drawings/vmlDrawing19.vml"/><Relationship Id="rId5" Type="http://schemas.openxmlformats.org/officeDocument/2006/relationships/slideLayout" Target="../slideLayouts/slideLayout7.xml"/><Relationship Id="rId4" Type="http://schemas.openxmlformats.org/officeDocument/2006/relationships/image" Target="../media/image73.wmf"/><Relationship Id="rId3" Type="http://schemas.openxmlformats.org/officeDocument/2006/relationships/oleObject" Target="../embeddings/oleObject82.bin"/><Relationship Id="rId2" Type="http://schemas.openxmlformats.org/officeDocument/2006/relationships/image" Target="../media/image72.wmf"/><Relationship Id="rId1" Type="http://schemas.openxmlformats.org/officeDocument/2006/relationships/oleObject" Target="../embeddings/oleObject81.bin"/></Relationships>
</file>

<file path=ppt/slides/_rels/slide33.xml.rels><?xml version="1.0" encoding="UTF-8" standalone="yes"?>
<Relationships xmlns="http://schemas.openxmlformats.org/package/2006/relationships"><Relationship Id="rId9" Type="http://schemas.openxmlformats.org/officeDocument/2006/relationships/oleObject" Target="../embeddings/oleObject87.bin"/><Relationship Id="rId8" Type="http://schemas.openxmlformats.org/officeDocument/2006/relationships/image" Target="../media/image77.wmf"/><Relationship Id="rId7" Type="http://schemas.openxmlformats.org/officeDocument/2006/relationships/oleObject" Target="../embeddings/oleObject86.bin"/><Relationship Id="rId6" Type="http://schemas.openxmlformats.org/officeDocument/2006/relationships/image" Target="../media/image76.wmf"/><Relationship Id="rId5" Type="http://schemas.openxmlformats.org/officeDocument/2006/relationships/oleObject" Target="../embeddings/oleObject85.bin"/><Relationship Id="rId4" Type="http://schemas.openxmlformats.org/officeDocument/2006/relationships/image" Target="../media/image75.wmf"/><Relationship Id="rId3" Type="http://schemas.openxmlformats.org/officeDocument/2006/relationships/oleObject" Target="../embeddings/oleObject84.bin"/><Relationship Id="rId2" Type="http://schemas.openxmlformats.org/officeDocument/2006/relationships/image" Target="../media/image74.wmf"/><Relationship Id="rId13" Type="http://schemas.openxmlformats.org/officeDocument/2006/relationships/vmlDrawing" Target="../drawings/vmlDrawing20.vml"/><Relationship Id="rId12" Type="http://schemas.openxmlformats.org/officeDocument/2006/relationships/slideLayout" Target="../slideLayouts/slideLayout7.xml"/><Relationship Id="rId11" Type="http://schemas.openxmlformats.org/officeDocument/2006/relationships/image" Target="../media/image61.png"/><Relationship Id="rId10" Type="http://schemas.openxmlformats.org/officeDocument/2006/relationships/image" Target="../media/image78.wmf"/><Relationship Id="rId1" Type="http://schemas.openxmlformats.org/officeDocument/2006/relationships/oleObject" Target="../embeddings/oleObject83.bin"/></Relationships>
</file>

<file path=ppt/slides/_rels/slide34.xml.rels><?xml version="1.0" encoding="UTF-8" standalone="yes"?>
<Relationships xmlns="http://schemas.openxmlformats.org/package/2006/relationships"><Relationship Id="rId9" Type="http://schemas.openxmlformats.org/officeDocument/2006/relationships/oleObject" Target="../embeddings/oleObject92.bin"/><Relationship Id="rId8" Type="http://schemas.openxmlformats.org/officeDocument/2006/relationships/image" Target="../media/image80.wmf"/><Relationship Id="rId7" Type="http://schemas.openxmlformats.org/officeDocument/2006/relationships/oleObject" Target="../embeddings/oleObject91.bin"/><Relationship Id="rId6" Type="http://schemas.openxmlformats.org/officeDocument/2006/relationships/image" Target="../media/image78.wmf"/><Relationship Id="rId5" Type="http://schemas.openxmlformats.org/officeDocument/2006/relationships/oleObject" Target="../embeddings/oleObject90.bin"/><Relationship Id="rId4" Type="http://schemas.openxmlformats.org/officeDocument/2006/relationships/image" Target="../media/image77.wmf"/><Relationship Id="rId3" Type="http://schemas.openxmlformats.org/officeDocument/2006/relationships/oleObject" Target="../embeddings/oleObject89.bin"/><Relationship Id="rId2" Type="http://schemas.openxmlformats.org/officeDocument/2006/relationships/image" Target="../media/image79.wmf"/><Relationship Id="rId12" Type="http://schemas.openxmlformats.org/officeDocument/2006/relationships/vmlDrawing" Target="../drawings/vmlDrawing21.vml"/><Relationship Id="rId11" Type="http://schemas.openxmlformats.org/officeDocument/2006/relationships/slideLayout" Target="../slideLayouts/slideLayout7.xml"/><Relationship Id="rId10" Type="http://schemas.openxmlformats.org/officeDocument/2006/relationships/image" Target="../media/image81.wmf"/><Relationship Id="rId1" Type="http://schemas.openxmlformats.org/officeDocument/2006/relationships/oleObject" Target="../embeddings/oleObject88.bin"/></Relationships>
</file>

<file path=ppt/slides/_rels/slide35.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84.wmf"/><Relationship Id="rId7" Type="http://schemas.openxmlformats.org/officeDocument/2006/relationships/oleObject" Target="../embeddings/oleObject96.bin"/><Relationship Id="rId6" Type="http://schemas.openxmlformats.org/officeDocument/2006/relationships/image" Target="../media/image83.wmf"/><Relationship Id="rId5" Type="http://schemas.openxmlformats.org/officeDocument/2006/relationships/oleObject" Target="../embeddings/oleObject95.bin"/><Relationship Id="rId4" Type="http://schemas.openxmlformats.org/officeDocument/2006/relationships/image" Target="../media/image82.wmf"/><Relationship Id="rId3" Type="http://schemas.openxmlformats.org/officeDocument/2006/relationships/oleObject" Target="../embeddings/oleObject94.bin"/><Relationship Id="rId2" Type="http://schemas.openxmlformats.org/officeDocument/2006/relationships/image" Target="../media/image76.wmf"/><Relationship Id="rId10" Type="http://schemas.openxmlformats.org/officeDocument/2006/relationships/vmlDrawing" Target="../drawings/vmlDrawing22.vml"/><Relationship Id="rId1" Type="http://schemas.openxmlformats.org/officeDocument/2006/relationships/oleObject" Target="../embeddings/oleObject93.bin"/></Relationships>
</file>

<file path=ppt/slides/_rels/slide36.xml.rels><?xml version="1.0" encoding="UTF-8" standalone="yes"?>
<Relationships xmlns="http://schemas.openxmlformats.org/package/2006/relationships"><Relationship Id="rId8" Type="http://schemas.openxmlformats.org/officeDocument/2006/relationships/vmlDrawing" Target="../drawings/vmlDrawing23.vml"/><Relationship Id="rId7" Type="http://schemas.openxmlformats.org/officeDocument/2006/relationships/slideLayout" Target="../slideLayouts/slideLayout7.xml"/><Relationship Id="rId6" Type="http://schemas.openxmlformats.org/officeDocument/2006/relationships/image" Target="../media/image87.png"/><Relationship Id="rId5" Type="http://schemas.openxmlformats.org/officeDocument/2006/relationships/image" Target="../media/image61.png"/><Relationship Id="rId4" Type="http://schemas.openxmlformats.org/officeDocument/2006/relationships/image" Target="../media/image86.wmf"/><Relationship Id="rId3" Type="http://schemas.openxmlformats.org/officeDocument/2006/relationships/oleObject" Target="../embeddings/oleObject98.bin"/><Relationship Id="rId2" Type="http://schemas.openxmlformats.org/officeDocument/2006/relationships/image" Target="../media/image85.wmf"/><Relationship Id="rId1" Type="http://schemas.openxmlformats.org/officeDocument/2006/relationships/oleObject" Target="../embeddings/oleObject97.bin"/></Relationships>
</file>

<file path=ppt/slides/_rels/slide37.xml.rels><?xml version="1.0" encoding="UTF-8" standalone="yes"?>
<Relationships xmlns="http://schemas.openxmlformats.org/package/2006/relationships"><Relationship Id="rId9" Type="http://schemas.openxmlformats.org/officeDocument/2006/relationships/oleObject" Target="../embeddings/oleObject103.bin"/><Relationship Id="rId8" Type="http://schemas.openxmlformats.org/officeDocument/2006/relationships/image" Target="../media/image91.wmf"/><Relationship Id="rId7" Type="http://schemas.openxmlformats.org/officeDocument/2006/relationships/oleObject" Target="../embeddings/oleObject102.bin"/><Relationship Id="rId6" Type="http://schemas.openxmlformats.org/officeDocument/2006/relationships/image" Target="../media/image90.wmf"/><Relationship Id="rId5" Type="http://schemas.openxmlformats.org/officeDocument/2006/relationships/oleObject" Target="../embeddings/oleObject101.bin"/><Relationship Id="rId4" Type="http://schemas.openxmlformats.org/officeDocument/2006/relationships/image" Target="../media/image89.wmf"/><Relationship Id="rId3" Type="http://schemas.openxmlformats.org/officeDocument/2006/relationships/oleObject" Target="../embeddings/oleObject100.bin"/><Relationship Id="rId2" Type="http://schemas.openxmlformats.org/officeDocument/2006/relationships/image" Target="../media/image88.wmf"/><Relationship Id="rId12" Type="http://schemas.openxmlformats.org/officeDocument/2006/relationships/vmlDrawing" Target="../drawings/vmlDrawing24.vml"/><Relationship Id="rId11" Type="http://schemas.openxmlformats.org/officeDocument/2006/relationships/slideLayout" Target="../slideLayouts/slideLayout7.xml"/><Relationship Id="rId10" Type="http://schemas.openxmlformats.org/officeDocument/2006/relationships/image" Target="../media/image92.wmf"/><Relationship Id="rId1" Type="http://schemas.openxmlformats.org/officeDocument/2006/relationships/oleObject" Target="../embeddings/oleObject99.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619828" y="2184160"/>
            <a:ext cx="5756704" cy="830997"/>
          </a:xfrm>
          <a:prstGeom prst="rect">
            <a:avLst/>
          </a:prstGeom>
        </p:spPr>
        <p:txBody>
          <a:bodyPr wrap="none">
            <a:spAutoFit/>
          </a:bodyPr>
          <a:lstStyle/>
          <a:p>
            <a:r>
              <a:rPr lang="zh-CN" altLang="en-US" sz="4800" b="1" dirty="0" smtClean="0"/>
              <a:t>1</a:t>
            </a:r>
            <a:r>
              <a:rPr lang="en-US" altLang="zh-CN" sz="4800" b="1" smtClean="0"/>
              <a:t>7</a:t>
            </a:r>
            <a:r>
              <a:rPr lang="zh-CN" altLang="en-US" sz="4800" b="1" dirty="0"/>
              <a:t>　理想气体混合物</a:t>
            </a:r>
            <a:endParaRPr lang="zh-CN" altLang="en-US" sz="4800" b="1"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矩形 71681"/>
          <p:cNvSpPr>
            <a:spLocks noChangeArrowheads="1"/>
          </p:cNvSpPr>
          <p:nvPr/>
        </p:nvSpPr>
        <p:spPr bwMode="auto">
          <a:xfrm>
            <a:off x="2611438" y="2097778"/>
            <a:ext cx="4074284"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buFontTx/>
              <a:buChar char="§"/>
            </a:pPr>
            <a:r>
              <a:rPr lang="en-US" altLang="zh-CN" sz="4400" b="1" dirty="0" smtClean="0">
                <a:latin typeface="黑体" panose="02010609060101010101" pitchFamily="49" charset="-122"/>
                <a:ea typeface="黑体" panose="02010609060101010101" pitchFamily="49" charset="-122"/>
              </a:rPr>
              <a:t>17</a:t>
            </a:r>
            <a:r>
              <a:rPr lang="zh-CN" altLang="en-US" sz="4400" b="1" dirty="0" smtClean="0">
                <a:latin typeface="黑体" panose="02010609060101010101" pitchFamily="49" charset="-122"/>
                <a:ea typeface="黑体" panose="02010609060101010101" pitchFamily="49" charset="-122"/>
              </a:rPr>
              <a:t>－</a:t>
            </a:r>
            <a:r>
              <a:rPr lang="en-US" altLang="zh-CN" sz="4400" b="1" dirty="0">
                <a:latin typeface="黑体" panose="02010609060101010101" pitchFamily="49" charset="-122"/>
                <a:ea typeface="黑体" panose="02010609060101010101" pitchFamily="49" charset="-122"/>
              </a:rPr>
              <a:t>1 </a:t>
            </a:r>
            <a:r>
              <a:rPr lang="zh-CN" altLang="en-US" sz="4400" b="1" dirty="0">
                <a:latin typeface="黑体" panose="02010609060101010101" pitchFamily="49" charset="-122"/>
                <a:ea typeface="黑体" panose="02010609060101010101" pitchFamily="49" charset="-122"/>
              </a:rPr>
              <a:t>概述</a:t>
            </a:r>
            <a:endParaRPr lang="zh-CN" altLang="en-US" sz="4400"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文本占位符 178178"/>
          <p:cNvSpPr>
            <a:spLocks noGrp="1" noChangeArrowheads="1"/>
          </p:cNvSpPr>
          <p:nvPr>
            <p:ph idx="1"/>
          </p:nvPr>
        </p:nvSpPr>
        <p:spPr>
          <a:xfrm>
            <a:off x="341244" y="608772"/>
            <a:ext cx="8134350" cy="5832475"/>
          </a:xfrm>
        </p:spPr>
        <p:txBody>
          <a:bodyPr/>
          <a:lstStyle/>
          <a:p>
            <a:r>
              <a:rPr lang="zh-CN" altLang="en-US" sz="3000" b="1" dirty="0" smtClean="0">
                <a:latin typeface="Times New Roman" panose="02020603050405020304" pitchFamily="18" charset="0"/>
                <a:ea typeface="黑体" panose="02010609060101010101" pitchFamily="49" charset="-122"/>
              </a:rPr>
              <a:t>热力工程中应用的工质大都是由几种气体组成的混合物。例如，内燃机、燃气轮机装置中的燃气，主要成分是</a:t>
            </a:r>
            <a:r>
              <a:rPr lang="en-US" altLang="zh-CN" sz="3000" b="1" dirty="0" smtClean="0">
                <a:latin typeface="Times New Roman" panose="02020603050405020304" pitchFamily="18" charset="0"/>
                <a:ea typeface="黑体" panose="02010609060101010101" pitchFamily="49" charset="-122"/>
              </a:rPr>
              <a:t>N</a:t>
            </a:r>
            <a:r>
              <a:rPr lang="en-US" altLang="zh-CN" sz="3000" b="1" baseline="-25000" dirty="0" smtClean="0">
                <a:latin typeface="Times New Roman" panose="02020603050405020304" pitchFamily="18" charset="0"/>
                <a:ea typeface="黑体" panose="02010609060101010101" pitchFamily="49" charset="-122"/>
              </a:rPr>
              <a:t>2</a:t>
            </a:r>
            <a:r>
              <a:rPr lang="zh-CN" altLang="en-US" sz="3000" b="1" dirty="0" smtClean="0">
                <a:latin typeface="Times New Roman" panose="02020603050405020304" pitchFamily="18" charset="0"/>
                <a:ea typeface="黑体" panose="02010609060101010101" pitchFamily="49" charset="-122"/>
              </a:rPr>
              <a:t>、</a:t>
            </a:r>
            <a:r>
              <a:rPr lang="en-US" altLang="zh-CN" sz="3000" b="1" dirty="0" smtClean="0">
                <a:latin typeface="Times New Roman" panose="02020603050405020304" pitchFamily="18" charset="0"/>
                <a:ea typeface="黑体" panose="02010609060101010101" pitchFamily="49" charset="-122"/>
              </a:rPr>
              <a:t>CO</a:t>
            </a:r>
            <a:r>
              <a:rPr lang="en-US" altLang="zh-CN" sz="3000" b="1" baseline="-25000" dirty="0" smtClean="0">
                <a:latin typeface="Times New Roman" panose="02020603050405020304" pitchFamily="18" charset="0"/>
                <a:ea typeface="黑体" panose="02010609060101010101" pitchFamily="49" charset="-122"/>
              </a:rPr>
              <a:t>2</a:t>
            </a:r>
            <a:r>
              <a:rPr lang="en-US" altLang="zh-CN" sz="3000" b="1" dirty="0" smtClean="0">
                <a:latin typeface="Times New Roman" panose="02020603050405020304" pitchFamily="18" charset="0"/>
                <a:ea typeface="黑体" panose="02010609060101010101" pitchFamily="49" charset="-122"/>
              </a:rPr>
              <a:t> </a:t>
            </a:r>
            <a:r>
              <a:rPr lang="zh-CN" altLang="en-US" sz="3000" b="1" dirty="0" smtClean="0">
                <a:latin typeface="Times New Roman" panose="02020603050405020304" pitchFamily="18" charset="0"/>
                <a:ea typeface="黑体" panose="02010609060101010101" pitchFamily="49" charset="-122"/>
              </a:rPr>
              <a:t>、</a:t>
            </a:r>
            <a:r>
              <a:rPr lang="en-US" altLang="zh-CN" sz="3000" b="1" dirty="0" smtClean="0">
                <a:latin typeface="Times New Roman" panose="02020603050405020304" pitchFamily="18" charset="0"/>
                <a:ea typeface="黑体" panose="02010609060101010101" pitchFamily="49" charset="-122"/>
              </a:rPr>
              <a:t>H</a:t>
            </a:r>
            <a:r>
              <a:rPr lang="en-US" altLang="zh-CN" sz="3000" b="1" baseline="-25000" dirty="0" smtClean="0">
                <a:latin typeface="Times New Roman" panose="02020603050405020304" pitchFamily="18" charset="0"/>
                <a:ea typeface="黑体" panose="02010609060101010101" pitchFamily="49" charset="-122"/>
              </a:rPr>
              <a:t>2</a:t>
            </a:r>
            <a:r>
              <a:rPr lang="en-US" altLang="zh-CN" sz="3000" b="1" dirty="0" smtClean="0">
                <a:latin typeface="Times New Roman" panose="02020603050405020304" pitchFamily="18" charset="0"/>
                <a:ea typeface="黑体" panose="02010609060101010101" pitchFamily="49" charset="-122"/>
              </a:rPr>
              <a:t>O</a:t>
            </a:r>
            <a:r>
              <a:rPr lang="zh-CN" altLang="en-US" sz="3000" b="1" dirty="0" smtClean="0">
                <a:latin typeface="Times New Roman" panose="02020603050405020304" pitchFamily="18" charset="0"/>
                <a:ea typeface="黑体" panose="02010609060101010101" pitchFamily="49" charset="-122"/>
              </a:rPr>
              <a:t>、</a:t>
            </a:r>
            <a:r>
              <a:rPr lang="en-US" altLang="zh-CN" sz="3000" b="1" dirty="0" smtClean="0">
                <a:latin typeface="Times New Roman" panose="02020603050405020304" pitchFamily="18" charset="0"/>
                <a:ea typeface="黑体" panose="02010609060101010101" pitchFamily="49" charset="-122"/>
              </a:rPr>
              <a:t>O</a:t>
            </a:r>
            <a:r>
              <a:rPr lang="en-US" altLang="zh-CN" sz="3000" b="1" baseline="-25000" dirty="0" smtClean="0">
                <a:latin typeface="Times New Roman" panose="02020603050405020304" pitchFamily="18" charset="0"/>
                <a:ea typeface="黑体" panose="02010609060101010101" pitchFamily="49" charset="-122"/>
              </a:rPr>
              <a:t>2</a:t>
            </a:r>
            <a:r>
              <a:rPr lang="zh-CN" altLang="en-US" sz="3000" b="1" dirty="0" smtClean="0">
                <a:latin typeface="Times New Roman" panose="02020603050405020304" pitchFamily="18" charset="0"/>
                <a:ea typeface="黑体" panose="02010609060101010101" pitchFamily="49" charset="-122"/>
              </a:rPr>
              <a:t>，有时还有少量的</a:t>
            </a:r>
            <a:r>
              <a:rPr lang="en-US" altLang="zh-CN" sz="3000" b="1" dirty="0" smtClean="0">
                <a:latin typeface="Times New Roman" panose="02020603050405020304" pitchFamily="18" charset="0"/>
                <a:ea typeface="黑体" panose="02010609060101010101" pitchFamily="49" charset="-122"/>
              </a:rPr>
              <a:t>CO</a:t>
            </a:r>
            <a:r>
              <a:rPr lang="zh-CN" altLang="en-US" sz="3000" b="1" dirty="0" smtClean="0">
                <a:latin typeface="Times New Roman" panose="02020603050405020304" pitchFamily="18" charset="0"/>
                <a:ea typeface="黑体" panose="02010609060101010101" pitchFamily="49" charset="-122"/>
              </a:rPr>
              <a:t>、</a:t>
            </a:r>
            <a:r>
              <a:rPr lang="en-US" altLang="zh-CN" sz="3000" b="1" dirty="0" smtClean="0">
                <a:latin typeface="Times New Roman" panose="02020603050405020304" pitchFamily="18" charset="0"/>
                <a:ea typeface="黑体" panose="02010609060101010101" pitchFamily="49" charset="-122"/>
              </a:rPr>
              <a:t>SO</a:t>
            </a:r>
            <a:r>
              <a:rPr lang="en-US" altLang="zh-CN" sz="3000" b="1" baseline="-25000" dirty="0" smtClean="0">
                <a:latin typeface="Times New Roman" panose="02020603050405020304" pitchFamily="18" charset="0"/>
                <a:ea typeface="黑体" panose="02010609060101010101" pitchFamily="49" charset="-122"/>
              </a:rPr>
              <a:t>2</a:t>
            </a:r>
            <a:r>
              <a:rPr lang="zh-CN" altLang="en-US" sz="3000" b="1" dirty="0" smtClean="0">
                <a:latin typeface="Times New Roman" panose="02020603050405020304" pitchFamily="18" charset="0"/>
                <a:ea typeface="黑体" panose="02010609060101010101" pitchFamily="49" charset="-122"/>
              </a:rPr>
              <a:t>等。地球上的空气也是混合物，由</a:t>
            </a:r>
            <a:r>
              <a:rPr lang="en-US" altLang="zh-CN" sz="3000" b="1" dirty="0" smtClean="0">
                <a:latin typeface="Times New Roman" panose="02020603050405020304" pitchFamily="18" charset="0"/>
                <a:ea typeface="黑体" panose="02010609060101010101" pitchFamily="49" charset="-122"/>
              </a:rPr>
              <a:t>N</a:t>
            </a:r>
            <a:r>
              <a:rPr lang="en-US" altLang="zh-CN" sz="3000" b="1" baseline="-25000" dirty="0" smtClean="0">
                <a:latin typeface="Times New Roman" panose="02020603050405020304" pitchFamily="18" charset="0"/>
                <a:ea typeface="黑体" panose="02010609060101010101" pitchFamily="49" charset="-122"/>
              </a:rPr>
              <a:t>2</a:t>
            </a:r>
            <a:r>
              <a:rPr lang="zh-CN" altLang="en-US" sz="3000" b="1" dirty="0" smtClean="0">
                <a:latin typeface="Times New Roman" panose="02020603050405020304" pitchFamily="18" charset="0"/>
                <a:ea typeface="黑体" panose="02010609060101010101" pitchFamily="49" charset="-122"/>
              </a:rPr>
              <a:t>、</a:t>
            </a:r>
            <a:r>
              <a:rPr lang="en-US" altLang="zh-CN" sz="3000" b="1" dirty="0" smtClean="0">
                <a:latin typeface="Times New Roman" panose="02020603050405020304" pitchFamily="18" charset="0"/>
                <a:ea typeface="黑体" panose="02010609060101010101" pitchFamily="49" charset="-122"/>
              </a:rPr>
              <a:t>O</a:t>
            </a:r>
            <a:r>
              <a:rPr lang="en-US" altLang="zh-CN" sz="3000" b="1" baseline="-25000" dirty="0" smtClean="0">
                <a:latin typeface="Times New Roman" panose="02020603050405020304" pitchFamily="18" charset="0"/>
                <a:ea typeface="黑体" panose="02010609060101010101" pitchFamily="49" charset="-122"/>
              </a:rPr>
              <a:t>2</a:t>
            </a:r>
            <a:r>
              <a:rPr lang="zh-CN" altLang="en-US" sz="3000" b="1" dirty="0" smtClean="0">
                <a:latin typeface="Times New Roman" panose="02020603050405020304" pitchFamily="18" charset="0"/>
                <a:ea typeface="黑体" panose="02010609060101010101" pitchFamily="49" charset="-122"/>
              </a:rPr>
              <a:t>及少量</a:t>
            </a:r>
            <a:r>
              <a:rPr lang="en-US" altLang="zh-CN" sz="3000" b="1" dirty="0" smtClean="0">
                <a:latin typeface="Times New Roman" panose="02020603050405020304" pitchFamily="18" charset="0"/>
                <a:ea typeface="黑体" panose="02010609060101010101" pitchFamily="49" charset="-122"/>
              </a:rPr>
              <a:t>CO</a:t>
            </a:r>
            <a:r>
              <a:rPr lang="en-US" altLang="zh-CN" sz="3000" b="1" baseline="-25000" dirty="0" smtClean="0">
                <a:latin typeface="Times New Roman" panose="02020603050405020304" pitchFamily="18" charset="0"/>
                <a:ea typeface="黑体" panose="02010609060101010101" pitchFamily="49" charset="-122"/>
              </a:rPr>
              <a:t>2</a:t>
            </a:r>
            <a:r>
              <a:rPr lang="zh-CN" altLang="en-US" sz="3000" b="1" dirty="0" smtClean="0">
                <a:latin typeface="Times New Roman" panose="02020603050405020304" pitchFamily="18" charset="0"/>
                <a:ea typeface="黑体" panose="02010609060101010101" pitchFamily="49" charset="-122"/>
              </a:rPr>
              <a:t>、水蒸气和惰性气体组成，除水蒸气外，成分几乎稳定</a:t>
            </a:r>
            <a:endParaRPr lang="zh-CN" altLang="en-US" sz="3000" b="1" dirty="0" smtClean="0">
              <a:latin typeface="Times New Roman" panose="02020603050405020304" pitchFamily="18" charset="0"/>
              <a:ea typeface="黑体" panose="02010609060101010101" pitchFamily="49" charset="-122"/>
            </a:endParaRPr>
          </a:p>
          <a:p>
            <a:r>
              <a:rPr lang="zh-CN" altLang="en-US" sz="3000" b="1" dirty="0" smtClean="0">
                <a:latin typeface="Times New Roman" panose="02020603050405020304" pitchFamily="18" charset="0"/>
                <a:ea typeface="黑体" panose="02010609060101010101" pitchFamily="49" charset="-122"/>
              </a:rPr>
              <a:t>一般情况下，大气中水蒸气的含量及变化都比较小，可近似为干空气（不含水蒸气）来计算（气体动力循环一章就是这样处理的）</a:t>
            </a:r>
            <a:endParaRPr lang="zh-CN" altLang="en-US" sz="3000" b="1" dirty="0" smtClean="0">
              <a:latin typeface="Times New Roman" panose="02020603050405020304" pitchFamily="18" charset="0"/>
              <a:ea typeface="黑体" panose="02010609060101010101" pitchFamily="49" charset="-122"/>
            </a:endParaRPr>
          </a:p>
          <a:p>
            <a:r>
              <a:rPr lang="zh-CN" altLang="en-US" sz="3000" b="1" dirty="0" smtClean="0">
                <a:latin typeface="Times New Roman" panose="02020603050405020304" pitchFamily="18" charset="0"/>
                <a:ea typeface="黑体" panose="02010609060101010101" pitchFamily="49" charset="-122"/>
              </a:rPr>
              <a:t>在某些场合，空气中水蒸气含量的变化具有重要作用（下一章讨论） </a:t>
            </a:r>
            <a:endParaRPr lang="zh-CN" altLang="en-US" sz="3000" b="1" dirty="0" smtClean="0">
              <a:latin typeface="Times New Roman" panose="02020603050405020304" pitchFamily="18" charset="0"/>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文本占位符 179202"/>
          <p:cNvSpPr>
            <a:spLocks noGrp="1" noChangeArrowheads="1"/>
          </p:cNvSpPr>
          <p:nvPr>
            <p:ph idx="1"/>
          </p:nvPr>
        </p:nvSpPr>
        <p:spPr>
          <a:xfrm>
            <a:off x="335791" y="624371"/>
            <a:ext cx="8435975" cy="4032250"/>
          </a:xfrm>
        </p:spPr>
        <p:txBody>
          <a:bodyPr/>
          <a:lstStyle/>
          <a:p>
            <a:pPr>
              <a:lnSpc>
                <a:spcPct val="90000"/>
              </a:lnSpc>
            </a:pPr>
            <a:r>
              <a:rPr lang="zh-CN" altLang="en-US" sz="3000" b="1" dirty="0" smtClean="0">
                <a:latin typeface="黑体" panose="02010609060101010101" pitchFamily="49" charset="-122"/>
                <a:ea typeface="黑体" panose="02010609060101010101" pitchFamily="49" charset="-122"/>
              </a:rPr>
              <a:t>本课程只讨论各种组元间</a:t>
            </a:r>
            <a:r>
              <a:rPr lang="zh-CN" altLang="en-US" sz="3600" b="1" dirty="0" smtClean="0">
                <a:solidFill>
                  <a:srgbClr val="0000FF"/>
                </a:solidFill>
                <a:latin typeface="黑体" panose="02010609060101010101" pitchFamily="49" charset="-122"/>
                <a:ea typeface="黑体" panose="02010609060101010101" pitchFamily="49" charset="-122"/>
              </a:rPr>
              <a:t>无化学反应发生</a:t>
            </a:r>
            <a:r>
              <a:rPr lang="zh-CN" altLang="en-US" sz="3000" b="1" dirty="0" smtClean="0">
                <a:latin typeface="黑体" panose="02010609060101010101" pitchFamily="49" charset="-122"/>
                <a:ea typeface="黑体" panose="02010609060101010101" pitchFamily="49" charset="-122"/>
              </a:rPr>
              <a:t>的混合物</a:t>
            </a:r>
            <a:endParaRPr lang="zh-CN" altLang="en-US" sz="3000" b="1" dirty="0" smtClean="0">
              <a:latin typeface="黑体" panose="02010609060101010101" pitchFamily="49" charset="-122"/>
              <a:ea typeface="黑体" panose="02010609060101010101" pitchFamily="49" charset="-122"/>
            </a:endParaRPr>
          </a:p>
          <a:p>
            <a:pPr>
              <a:lnSpc>
                <a:spcPct val="90000"/>
              </a:lnSpc>
            </a:pPr>
            <a:r>
              <a:rPr lang="zh-CN" altLang="en-US" sz="3000" b="1" dirty="0" smtClean="0">
                <a:latin typeface="黑体" panose="02010609060101010101" pitchFamily="49" charset="-122"/>
                <a:ea typeface="黑体" panose="02010609060101010101" pitchFamily="49" charset="-122"/>
              </a:rPr>
              <a:t>很多情况下，这种混合物的化学结构是处处一致的，可以将其视为</a:t>
            </a:r>
            <a:r>
              <a:rPr lang="zh-CN" altLang="en-US" sz="3000" b="1" dirty="0" smtClean="0">
                <a:solidFill>
                  <a:srgbClr val="FF0000"/>
                </a:solidFill>
                <a:latin typeface="黑体" panose="02010609060101010101" pitchFamily="49" charset="-122"/>
                <a:ea typeface="黑体" panose="02010609060101010101" pitchFamily="49" charset="-122"/>
              </a:rPr>
              <a:t>纯物质</a:t>
            </a:r>
            <a:r>
              <a:rPr lang="zh-CN" altLang="en-US" sz="3000" b="1" dirty="0" smtClean="0">
                <a:latin typeface="Times New Roman" panose="02020603050405020304" pitchFamily="18" charset="0"/>
                <a:ea typeface="黑体" panose="02010609060101010101" pitchFamily="49" charset="-122"/>
              </a:rPr>
              <a:t>（定义见</a:t>
            </a:r>
            <a:r>
              <a:rPr lang="en-US" altLang="zh-CN" sz="3000" b="1" dirty="0" smtClean="0">
                <a:latin typeface="Times New Roman" panose="02020603050405020304" pitchFamily="18" charset="0"/>
                <a:ea typeface="黑体" panose="02010609060101010101" pitchFamily="49" charset="-122"/>
              </a:rPr>
              <a:t>9-1</a:t>
            </a:r>
            <a:r>
              <a:rPr lang="zh-CN" altLang="en-US" sz="3000" b="1" dirty="0" smtClean="0">
                <a:latin typeface="Times New Roman" panose="02020603050405020304" pitchFamily="18" charset="0"/>
                <a:ea typeface="黑体" panose="02010609060101010101" pitchFamily="49" charset="-122"/>
              </a:rPr>
              <a:t>节）</a:t>
            </a:r>
            <a:endParaRPr lang="zh-CN" altLang="en-US" sz="3000" b="1" dirty="0" smtClean="0">
              <a:latin typeface="黑体" panose="02010609060101010101" pitchFamily="49" charset="-122"/>
              <a:ea typeface="黑体" panose="02010609060101010101" pitchFamily="49" charset="-122"/>
            </a:endParaRPr>
          </a:p>
          <a:p>
            <a:pPr>
              <a:lnSpc>
                <a:spcPct val="90000"/>
              </a:lnSpc>
            </a:pPr>
            <a:r>
              <a:rPr lang="zh-CN" altLang="en-US" sz="3000" b="1" dirty="0" smtClean="0">
                <a:latin typeface="黑体" panose="02010609060101010101" pitchFamily="49" charset="-122"/>
                <a:ea typeface="黑体" panose="02010609060101010101" pitchFamily="49" charset="-122"/>
              </a:rPr>
              <a:t>混合物的热力性质与其包含的每种组元的性质有关，也与每种组元在混合物中所占的数量比例有关。因此，</a:t>
            </a:r>
            <a:r>
              <a:rPr lang="zh-CN" altLang="en-US" sz="3000" b="1" dirty="0" smtClean="0">
                <a:solidFill>
                  <a:srgbClr val="FF0000"/>
                </a:solidFill>
                <a:latin typeface="黑体" panose="02010609060101010101" pitchFamily="49" charset="-122"/>
                <a:ea typeface="黑体" panose="02010609060101010101" pitchFamily="49" charset="-122"/>
              </a:rPr>
              <a:t>我们可以根据各组元的热力性质和所占比例得到混合物的各种参数值</a:t>
            </a:r>
            <a:endParaRPr lang="zh-CN" altLang="en-US" sz="3000" b="1" dirty="0" smtClean="0">
              <a:solidFill>
                <a:srgbClr val="FF00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文本占位符 180226"/>
          <p:cNvSpPr>
            <a:spLocks noGrp="1" noChangeArrowheads="1"/>
          </p:cNvSpPr>
          <p:nvPr>
            <p:ph idx="1"/>
          </p:nvPr>
        </p:nvSpPr>
        <p:spPr>
          <a:xfrm>
            <a:off x="624578" y="747851"/>
            <a:ext cx="7772400" cy="4114800"/>
          </a:xfrm>
        </p:spPr>
        <p:txBody>
          <a:bodyPr/>
          <a:lstStyle/>
          <a:p>
            <a:r>
              <a:rPr lang="zh-CN" altLang="en-US" sz="2800" b="1" dirty="0" smtClean="0">
                <a:ea typeface="黑体" panose="02010609060101010101" pitchFamily="49" charset="-122"/>
              </a:rPr>
              <a:t>在之前计算中我们一直将空气的各种参数值（如摩尔质量、气体常数、比热容等）直接拿来使用</a:t>
            </a:r>
            <a:endParaRPr lang="zh-CN" altLang="en-US" sz="2800" b="1" dirty="0" smtClean="0">
              <a:ea typeface="黑体" panose="02010609060101010101" pitchFamily="49" charset="-122"/>
            </a:endParaRPr>
          </a:p>
          <a:p>
            <a:r>
              <a:rPr lang="zh-CN" altLang="en-US" sz="2800" b="1" dirty="0" smtClean="0">
                <a:ea typeface="黑体" panose="02010609060101010101" pitchFamily="49" charset="-122"/>
              </a:rPr>
              <a:t>但混合物的组成是千变万化的，我们不可能将每种混合物都像空气那样制成相应的参数值表（工作量太大，而且也没有必要）</a:t>
            </a:r>
            <a:endParaRPr lang="zh-CN" altLang="en-US" sz="2800" b="1" dirty="0" smtClean="0">
              <a:ea typeface="黑体" panose="02010609060101010101" pitchFamily="49" charset="-122"/>
            </a:endParaRPr>
          </a:p>
          <a:p>
            <a:r>
              <a:rPr lang="zh-CN" altLang="en-US" sz="2800" b="1" dirty="0" smtClean="0">
                <a:ea typeface="黑体" panose="02010609060101010101" pitchFamily="49" charset="-122"/>
              </a:rPr>
              <a:t>因此，我们需要找到一种</a:t>
            </a:r>
            <a:r>
              <a:rPr lang="zh-CN" altLang="en-US" sz="2800" b="1" dirty="0" smtClean="0">
                <a:solidFill>
                  <a:srgbClr val="0000FF"/>
                </a:solidFill>
                <a:ea typeface="黑体" panose="02010609060101010101" pitchFamily="49" charset="-122"/>
              </a:rPr>
              <a:t>根据各组元的状态参数和各组元所占的比例来确定混合物状态参数的方法</a:t>
            </a:r>
            <a:r>
              <a:rPr lang="zh-CN" altLang="en-US" sz="2800" b="1" dirty="0" smtClean="0">
                <a:ea typeface="黑体" panose="02010609060101010101" pitchFamily="49" charset="-122"/>
              </a:rPr>
              <a:t>（本章讨论）</a:t>
            </a:r>
            <a:r>
              <a:rPr lang="zh-CN" altLang="en-US" sz="2800" b="1" dirty="0" smtClean="0">
                <a:ea typeface="宋体" panose="02010600030101010101" pitchFamily="2" charset="-122"/>
              </a:rPr>
              <a:t> </a:t>
            </a:r>
            <a:endParaRPr lang="zh-CN" altLang="en-US" sz="2800" b="1" dirty="0" smtClean="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文本占位符 181250"/>
          <p:cNvSpPr>
            <a:spLocks noGrp="1" noChangeArrowheads="1"/>
          </p:cNvSpPr>
          <p:nvPr>
            <p:ph idx="1"/>
          </p:nvPr>
        </p:nvSpPr>
        <p:spPr>
          <a:xfrm>
            <a:off x="523736" y="790230"/>
            <a:ext cx="8163063" cy="5184775"/>
          </a:xfrm>
        </p:spPr>
        <p:txBody>
          <a:bodyPr>
            <a:normAutofit/>
          </a:bodyPr>
          <a:lstStyle/>
          <a:p>
            <a:r>
              <a:rPr lang="zh-CN" altLang="en-US" sz="2800" b="1" dirty="0" smtClean="0">
                <a:latin typeface="黑体" panose="02010609060101010101" pitchFamily="49" charset="-122"/>
                <a:ea typeface="黑体" panose="02010609060101010101" pitchFamily="49" charset="-122"/>
              </a:rPr>
              <a:t>考虑到理想气体混合物的性质与其各组元气体性质之间的关系有最简单的形式，并且有相当广泛的应用，本章的讨论</a:t>
            </a:r>
            <a:r>
              <a:rPr lang="zh-CN" altLang="en-US" sz="2800" b="1" dirty="0" smtClean="0">
                <a:solidFill>
                  <a:srgbClr val="FF0000"/>
                </a:solidFill>
                <a:latin typeface="黑体" panose="02010609060101010101" pitchFamily="49" charset="-122"/>
                <a:ea typeface="黑体" panose="02010609060101010101" pitchFamily="49" charset="-122"/>
              </a:rPr>
              <a:t>仅限于理想气体混合物</a:t>
            </a:r>
            <a:endParaRPr lang="zh-CN" altLang="en-US" sz="2800" b="1" dirty="0" smtClean="0">
              <a:latin typeface="黑体" panose="02010609060101010101" pitchFamily="49" charset="-122"/>
              <a:ea typeface="黑体" panose="02010609060101010101" pitchFamily="49" charset="-122"/>
            </a:endParaRPr>
          </a:p>
          <a:p>
            <a:r>
              <a:rPr lang="zh-CN" altLang="en-US" sz="2800" b="1" dirty="0" smtClean="0">
                <a:solidFill>
                  <a:srgbClr val="FF0000"/>
                </a:solidFill>
                <a:latin typeface="黑体" panose="02010609060101010101" pitchFamily="49" charset="-122"/>
                <a:ea typeface="黑体" panose="02010609060101010101" pitchFamily="49" charset="-122"/>
              </a:rPr>
              <a:t>在理想气体混合物中，各组元气体以及混合物整体，都遵循理想气体状态方程，且都具有理想气体的一切特性</a:t>
            </a:r>
            <a:r>
              <a:rPr lang="zh-CN" altLang="en-US" sz="2800" b="1" dirty="0" smtClean="0">
                <a:latin typeface="黑体" panose="02010609060101010101" pitchFamily="49" charset="-122"/>
                <a:ea typeface="黑体" panose="02010609060101010101" pitchFamily="49" charset="-122"/>
              </a:rPr>
              <a:t>。</a:t>
            </a:r>
            <a:endParaRPr lang="zh-CN" altLang="en-US" sz="2800" b="1" dirty="0" smtClean="0">
              <a:latin typeface="黑体" panose="02010609060101010101" pitchFamily="49" charset="-122"/>
              <a:ea typeface="黑体" panose="02010609060101010101" pitchFamily="49" charset="-122"/>
            </a:endParaRPr>
          </a:p>
          <a:p>
            <a:r>
              <a:rPr lang="zh-CN" altLang="en-US" sz="2800" b="1" dirty="0" smtClean="0">
                <a:latin typeface="黑体" panose="02010609060101010101" pitchFamily="49" charset="-122"/>
                <a:ea typeface="黑体" panose="02010609060101010101" pitchFamily="49" charset="-122"/>
              </a:rPr>
              <a:t>有关非理想气体混合物的讨论，可参考相关文献 </a:t>
            </a:r>
            <a:endParaRPr lang="zh-CN" altLang="en-US" sz="2800" b="1" dirty="0" smtClean="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49948" y="2142106"/>
            <a:ext cx="8627166" cy="1137285"/>
          </a:xfrm>
          <a:prstGeom prst="rect">
            <a:avLst/>
          </a:prstGeom>
        </p:spPr>
        <p:txBody>
          <a:bodyPr wrap="square">
            <a:spAutoFit/>
          </a:bodyPr>
          <a:lstStyle/>
          <a:p>
            <a:r>
              <a:rPr lang="zh-CN" altLang="en-US" sz="3400" b="1" dirty="0" smtClean="0"/>
              <a:t>1</a:t>
            </a:r>
            <a:r>
              <a:rPr lang="en-US" altLang="zh-CN" sz="3400" b="1" dirty="0" smtClean="0"/>
              <a:t>7</a:t>
            </a:r>
            <a:r>
              <a:rPr lang="zh-CN" altLang="en-US" sz="3400" b="1" dirty="0" smtClean="0"/>
              <a:t>-</a:t>
            </a:r>
            <a:r>
              <a:rPr lang="zh-CN" altLang="en-US" sz="3400" b="1" dirty="0"/>
              <a:t>2 混合物的成分、摩尔质量和气体常数</a:t>
            </a:r>
            <a:br>
              <a:rPr lang="zh-CN" altLang="en-US" sz="3400" b="1" dirty="0"/>
            </a:br>
            <a:endParaRPr lang="zh-CN" altLang="en-US" sz="3400"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24" name="对象 184323"/>
          <p:cNvGraphicFramePr>
            <a:graphicFrameLocks noChangeAspect="1"/>
          </p:cNvGraphicFramePr>
          <p:nvPr/>
        </p:nvGraphicFramePr>
        <p:xfrm>
          <a:off x="1350825" y="2979738"/>
          <a:ext cx="1168308" cy="905004"/>
        </p:xfrm>
        <a:graphic>
          <a:graphicData uri="http://schemas.openxmlformats.org/presentationml/2006/ole">
            <mc:AlternateContent xmlns:mc="http://schemas.openxmlformats.org/markup-compatibility/2006">
              <mc:Choice xmlns:v="urn:schemas-microsoft-com:vml" Requires="v">
                <p:oleObj spid="_x0000_s1296" name="" r:id="rId1" imgW="508000" imgH="393700" progId="Equation.DSMT4">
                  <p:embed/>
                </p:oleObj>
              </mc:Choice>
              <mc:Fallback>
                <p:oleObj name="" r:id="rId1" imgW="508000" imgH="393700" progId="Equation.DSMT4">
                  <p:embed/>
                  <p:pic>
                    <p:nvPicPr>
                      <p:cNvPr id="0" name="对象 18432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0825" y="2979738"/>
                        <a:ext cx="1168308" cy="905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4326" name="对象 184325"/>
          <p:cNvGraphicFramePr/>
          <p:nvPr/>
        </p:nvGraphicFramePr>
        <p:xfrm>
          <a:off x="4608513" y="5183188"/>
          <a:ext cx="114300" cy="215900"/>
        </p:xfrm>
        <a:graphic>
          <a:graphicData uri="http://schemas.openxmlformats.org/presentationml/2006/ole">
            <mc:AlternateContent xmlns:mc="http://schemas.openxmlformats.org/markup-compatibility/2006">
              <mc:Choice xmlns:v="urn:schemas-microsoft-com:vml" Requires="v">
                <p:oleObj spid="_x0000_s1297" name="" r:id="rId3" imgW="114300" imgH="215265" progId="Equation.3">
                  <p:embed/>
                </p:oleObj>
              </mc:Choice>
              <mc:Fallback>
                <p:oleObj name="" r:id="rId3" imgW="114300" imgH="215265" progId="Equation.3">
                  <p:embed/>
                  <p:pic>
                    <p:nvPicPr>
                      <p:cNvPr id="0" name="对象 18432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08513" y="5183188"/>
                        <a:ext cx="1143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4329" name="对象 184328"/>
          <p:cNvGraphicFramePr>
            <a:graphicFrameLocks noChangeAspect="1"/>
          </p:cNvGraphicFramePr>
          <p:nvPr/>
        </p:nvGraphicFramePr>
        <p:xfrm>
          <a:off x="2521563" y="4992389"/>
          <a:ext cx="3182508" cy="905117"/>
        </p:xfrm>
        <a:graphic>
          <a:graphicData uri="http://schemas.openxmlformats.org/presentationml/2006/ole">
            <mc:AlternateContent xmlns:mc="http://schemas.openxmlformats.org/markup-compatibility/2006">
              <mc:Choice xmlns:v="urn:schemas-microsoft-com:vml" Requires="v">
                <p:oleObj spid="_x0000_s1298" name="" r:id="rId5" imgW="1383665" imgH="393700" progId="Equation.DSMT4">
                  <p:embed/>
                </p:oleObj>
              </mc:Choice>
              <mc:Fallback>
                <p:oleObj name="" r:id="rId5" imgW="1383665" imgH="393700" progId="Equation.DSMT4">
                  <p:embed/>
                  <p:pic>
                    <p:nvPicPr>
                      <p:cNvPr id="0" name="对象 18432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21563" y="4992389"/>
                        <a:ext cx="3182508" cy="905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4330" name="对象 184329"/>
          <p:cNvGraphicFramePr/>
          <p:nvPr/>
        </p:nvGraphicFramePr>
        <p:xfrm>
          <a:off x="4608513" y="5183188"/>
          <a:ext cx="114300" cy="215900"/>
        </p:xfrm>
        <a:graphic>
          <a:graphicData uri="http://schemas.openxmlformats.org/presentationml/2006/ole">
            <mc:AlternateContent xmlns:mc="http://schemas.openxmlformats.org/markup-compatibility/2006">
              <mc:Choice xmlns:v="urn:schemas-microsoft-com:vml" Requires="v">
                <p:oleObj spid="_x0000_s1299" name="" r:id="rId7" imgW="114300" imgH="215265" progId="Equation.3">
                  <p:embed/>
                </p:oleObj>
              </mc:Choice>
              <mc:Fallback>
                <p:oleObj name="" r:id="rId7" imgW="114300" imgH="215265" progId="Equation.3">
                  <p:embed/>
                  <p:pic>
                    <p:nvPicPr>
                      <p:cNvPr id="0" name="对象 18432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08513" y="5183188"/>
                        <a:ext cx="1143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4332" name="对象 184331"/>
          <p:cNvGraphicFramePr>
            <a:graphicFrameLocks noChangeAspect="1"/>
          </p:cNvGraphicFramePr>
          <p:nvPr/>
        </p:nvGraphicFramePr>
        <p:xfrm>
          <a:off x="3690937" y="3050914"/>
          <a:ext cx="4379600" cy="905117"/>
        </p:xfrm>
        <a:graphic>
          <a:graphicData uri="http://schemas.openxmlformats.org/presentationml/2006/ole">
            <mc:AlternateContent xmlns:mc="http://schemas.openxmlformats.org/markup-compatibility/2006">
              <mc:Choice xmlns:v="urn:schemas-microsoft-com:vml" Requires="v">
                <p:oleObj spid="_x0000_s1300" name="" r:id="rId8" imgW="1904365" imgH="393700" progId="Equation.DSMT4">
                  <p:embed/>
                </p:oleObj>
              </mc:Choice>
              <mc:Fallback>
                <p:oleObj name="" r:id="rId8" imgW="1904365" imgH="393700" progId="Equation.DSMT4">
                  <p:embed/>
                  <p:pic>
                    <p:nvPicPr>
                      <p:cNvPr id="0" name="对象 184331"/>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90937" y="3050914"/>
                        <a:ext cx="4379600" cy="905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 name="矩形 2"/>
          <p:cNvSpPr/>
          <p:nvPr/>
        </p:nvSpPr>
        <p:spPr>
          <a:xfrm>
            <a:off x="408946" y="301050"/>
            <a:ext cx="3480440" cy="584775"/>
          </a:xfrm>
          <a:prstGeom prst="rect">
            <a:avLst/>
          </a:prstGeom>
        </p:spPr>
        <p:txBody>
          <a:bodyPr wrap="none">
            <a:spAutoFit/>
          </a:bodyPr>
          <a:lstStyle/>
          <a:p>
            <a:r>
              <a:rPr lang="zh-CN" altLang="en-US" sz="3200" b="1" dirty="0"/>
              <a:t>一、混合物的成分</a:t>
            </a:r>
            <a:endParaRPr lang="zh-CN" altLang="en-US" sz="3200" b="1" dirty="0"/>
          </a:p>
        </p:txBody>
      </p:sp>
      <p:sp>
        <p:nvSpPr>
          <p:cNvPr id="4" name="矩形 3"/>
          <p:cNvSpPr/>
          <p:nvPr/>
        </p:nvSpPr>
        <p:spPr>
          <a:xfrm>
            <a:off x="761172" y="1060450"/>
            <a:ext cx="7808982" cy="954107"/>
          </a:xfrm>
          <a:prstGeom prst="rect">
            <a:avLst/>
          </a:prstGeom>
        </p:spPr>
        <p:txBody>
          <a:bodyPr wrap="square">
            <a:spAutoFit/>
          </a:bodyPr>
          <a:lstStyle/>
          <a:p>
            <a:r>
              <a:rPr lang="zh-CN" altLang="en-US" sz="2800" b="1" dirty="0"/>
              <a:t>为了确定混合物的状态参数值，我们不仅需要知道各组元的状态参数，还需要知道混合物的成分 </a:t>
            </a:r>
            <a:endParaRPr lang="zh-CN" altLang="en-US" sz="2800" b="1" dirty="0"/>
          </a:p>
        </p:txBody>
      </p:sp>
      <p:sp>
        <p:nvSpPr>
          <p:cNvPr id="5" name="矩形 4"/>
          <p:cNvSpPr/>
          <p:nvPr/>
        </p:nvSpPr>
        <p:spPr>
          <a:xfrm>
            <a:off x="1036638" y="2330737"/>
            <a:ext cx="2159566" cy="523220"/>
          </a:xfrm>
          <a:prstGeom prst="rect">
            <a:avLst/>
          </a:prstGeom>
        </p:spPr>
        <p:txBody>
          <a:bodyPr wrap="none">
            <a:spAutoFit/>
          </a:bodyPr>
          <a:lstStyle/>
          <a:p>
            <a:r>
              <a:rPr lang="zh-CN" altLang="en-US" sz="2800" b="1" dirty="0">
                <a:solidFill>
                  <a:srgbClr val="FF0000"/>
                </a:solidFill>
              </a:rPr>
              <a:t>1、质量分数</a:t>
            </a:r>
            <a:endParaRPr lang="zh-CN" altLang="en-US" sz="2800" b="1" dirty="0">
              <a:solidFill>
                <a:srgbClr val="FF0000"/>
              </a:solidFill>
            </a:endParaRPr>
          </a:p>
        </p:txBody>
      </p:sp>
      <p:sp>
        <p:nvSpPr>
          <p:cNvPr id="15" name="矩形 14"/>
          <p:cNvSpPr/>
          <p:nvPr/>
        </p:nvSpPr>
        <p:spPr>
          <a:xfrm>
            <a:off x="1069383" y="4238953"/>
            <a:ext cx="2169184" cy="523220"/>
          </a:xfrm>
          <a:prstGeom prst="rect">
            <a:avLst/>
          </a:prstGeom>
        </p:spPr>
        <p:txBody>
          <a:bodyPr wrap="none">
            <a:spAutoFit/>
          </a:bodyPr>
          <a:lstStyle/>
          <a:p>
            <a:r>
              <a:rPr lang="en-US" altLang="zh-CN" sz="2800" b="1" dirty="0" smtClean="0">
                <a:solidFill>
                  <a:srgbClr val="FF0000"/>
                </a:solidFill>
              </a:rPr>
              <a:t>2</a:t>
            </a:r>
            <a:r>
              <a:rPr lang="zh-CN" altLang="en-US" sz="2800" b="1" dirty="0" smtClean="0">
                <a:solidFill>
                  <a:srgbClr val="FF0000"/>
                </a:solidFill>
              </a:rPr>
              <a:t>、摩尔分数</a:t>
            </a:r>
            <a:endParaRPr lang="zh-CN" altLang="en-US" sz="2800" b="1" dirty="0">
              <a:solidFill>
                <a:srgbClr val="FF0000"/>
              </a:solidFill>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4324"/>
                                        </p:tgtEl>
                                        <p:attrNameLst>
                                          <p:attrName>style.visibility</p:attrName>
                                        </p:attrNameLst>
                                      </p:cBhvr>
                                      <p:to>
                                        <p:strVal val="visible"/>
                                      </p:to>
                                    </p:set>
                                    <p:animEffect transition="in" filter="blinds(horizontal)">
                                      <p:cBhvr>
                                        <p:cTn id="7" dur="500"/>
                                        <p:tgtEl>
                                          <p:spTgt spid="184324"/>
                                        </p:tgtEl>
                                      </p:cBhvr>
                                    </p:animEffect>
                                  </p:childTnLst>
                                </p:cTn>
                              </p:par>
                              <p:par>
                                <p:cTn id="8" presetID="3" presetClass="entr" presetSubtype="10" fill="hold" nodeType="withEffect">
                                  <p:stCondLst>
                                    <p:cond delay="0"/>
                                  </p:stCondLst>
                                  <p:childTnLst>
                                    <p:set>
                                      <p:cBhvr>
                                        <p:cTn id="9" dur="1" fill="hold">
                                          <p:stCondLst>
                                            <p:cond delay="0"/>
                                          </p:stCondLst>
                                        </p:cTn>
                                        <p:tgtEl>
                                          <p:spTgt spid="184332"/>
                                        </p:tgtEl>
                                        <p:attrNameLst>
                                          <p:attrName>style.visibility</p:attrName>
                                        </p:attrNameLst>
                                      </p:cBhvr>
                                      <p:to>
                                        <p:strVal val="visible"/>
                                      </p:to>
                                    </p:set>
                                    <p:animEffect transition="in" filter="blinds(horizontal)">
                                      <p:cBhvr>
                                        <p:cTn id="10" dur="500"/>
                                        <p:tgtEl>
                                          <p:spTgt spid="184332"/>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84326"/>
                                        </p:tgtEl>
                                        <p:attrNameLst>
                                          <p:attrName>style.visibility</p:attrName>
                                        </p:attrNameLst>
                                      </p:cBhvr>
                                      <p:to>
                                        <p:strVal val="visible"/>
                                      </p:to>
                                    </p:set>
                                    <p:animEffect transition="in" filter="blinds(horizontal)">
                                      <p:cBhvr>
                                        <p:cTn id="15" dur="500"/>
                                        <p:tgtEl>
                                          <p:spTgt spid="184326"/>
                                        </p:tgtEl>
                                      </p:cBhvr>
                                    </p:animEffect>
                                  </p:childTnLst>
                                </p:cTn>
                              </p:par>
                              <p:par>
                                <p:cTn id="16" presetID="3" presetClass="entr" presetSubtype="10" fill="hold" nodeType="withEffect">
                                  <p:stCondLst>
                                    <p:cond delay="0"/>
                                  </p:stCondLst>
                                  <p:childTnLst>
                                    <p:set>
                                      <p:cBhvr>
                                        <p:cTn id="17" dur="1" fill="hold">
                                          <p:stCondLst>
                                            <p:cond delay="0"/>
                                          </p:stCondLst>
                                        </p:cTn>
                                        <p:tgtEl>
                                          <p:spTgt spid="184329"/>
                                        </p:tgtEl>
                                        <p:attrNameLst>
                                          <p:attrName>style.visibility</p:attrName>
                                        </p:attrNameLst>
                                      </p:cBhvr>
                                      <p:to>
                                        <p:strVal val="visible"/>
                                      </p:to>
                                    </p:set>
                                    <p:animEffect transition="in" filter="blinds(horizontal)">
                                      <p:cBhvr>
                                        <p:cTn id="18" dur="500"/>
                                        <p:tgtEl>
                                          <p:spTgt spid="184329"/>
                                        </p:tgtEl>
                                      </p:cBhvr>
                                    </p:animEffect>
                                  </p:childTnLst>
                                </p:cTn>
                              </p:par>
                              <p:par>
                                <p:cTn id="19" presetID="3" presetClass="entr" presetSubtype="10" fill="hold" nodeType="withEffect">
                                  <p:stCondLst>
                                    <p:cond delay="0"/>
                                  </p:stCondLst>
                                  <p:childTnLst>
                                    <p:set>
                                      <p:cBhvr>
                                        <p:cTn id="20" dur="1" fill="hold">
                                          <p:stCondLst>
                                            <p:cond delay="0"/>
                                          </p:stCondLst>
                                        </p:cTn>
                                        <p:tgtEl>
                                          <p:spTgt spid="184330"/>
                                        </p:tgtEl>
                                        <p:attrNameLst>
                                          <p:attrName>style.visibility</p:attrName>
                                        </p:attrNameLst>
                                      </p:cBhvr>
                                      <p:to>
                                        <p:strVal val="visible"/>
                                      </p:to>
                                    </p:set>
                                    <p:animEffect transition="in" filter="blinds(horizontal)">
                                      <p:cBhvr>
                                        <p:cTn id="21" dur="500"/>
                                        <p:tgtEl>
                                          <p:spTgt spid="1843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532" name="对象 185349"/>
          <p:cNvGraphicFramePr/>
          <p:nvPr/>
        </p:nvGraphicFramePr>
        <p:xfrm>
          <a:off x="1042988" y="3038475"/>
          <a:ext cx="4752975" cy="1133475"/>
        </p:xfrm>
        <a:graphic>
          <a:graphicData uri="http://schemas.openxmlformats.org/presentationml/2006/ole">
            <mc:AlternateContent xmlns:mc="http://schemas.openxmlformats.org/markup-compatibility/2006">
              <mc:Choice xmlns:v="urn:schemas-microsoft-com:vml" Requires="v">
                <p:oleObj spid="_x0000_s2158" name="" r:id="rId1" imgW="2273300" imgH="546100" progId="Equation.DSMT4">
                  <p:embed/>
                </p:oleObj>
              </mc:Choice>
              <mc:Fallback>
                <p:oleObj name="" r:id="rId1" imgW="2273300" imgH="546100" progId="Equation.DSMT4">
                  <p:embed/>
                  <p:pic>
                    <p:nvPicPr>
                      <p:cNvPr id="0" name="对象 185349"/>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3038475"/>
                        <a:ext cx="4752975"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2534" name="直接连接符 185352"/>
          <p:cNvSpPr>
            <a:spLocks noChangeShapeType="1"/>
          </p:cNvSpPr>
          <p:nvPr/>
        </p:nvSpPr>
        <p:spPr bwMode="auto">
          <a:xfrm flipH="1">
            <a:off x="5580063" y="2994025"/>
            <a:ext cx="433387" cy="4318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2535" name="对象 185353"/>
          <p:cNvGraphicFramePr/>
          <p:nvPr/>
        </p:nvGraphicFramePr>
        <p:xfrm>
          <a:off x="684213" y="5092700"/>
          <a:ext cx="5832475" cy="1298575"/>
        </p:xfrm>
        <a:graphic>
          <a:graphicData uri="http://schemas.openxmlformats.org/presentationml/2006/ole">
            <mc:AlternateContent xmlns:mc="http://schemas.openxmlformats.org/markup-compatibility/2006">
              <mc:Choice xmlns:v="urn:schemas-microsoft-com:vml" Requires="v">
                <p:oleObj spid="_x0000_s2159" name="" r:id="rId3" imgW="2870200" imgH="635000" progId="Equation.DSMT4">
                  <p:embed/>
                </p:oleObj>
              </mc:Choice>
              <mc:Fallback>
                <p:oleObj name="" r:id="rId3" imgW="2870200" imgH="635000" progId="Equation.DSMT4">
                  <p:embed/>
                  <p:pic>
                    <p:nvPicPr>
                      <p:cNvPr id="0" name="对象 18535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5092700"/>
                        <a:ext cx="5832475" cy="129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2538" name="直接连接符 185357"/>
          <p:cNvSpPr>
            <a:spLocks noChangeShapeType="1"/>
          </p:cNvSpPr>
          <p:nvPr/>
        </p:nvSpPr>
        <p:spPr bwMode="auto">
          <a:xfrm flipH="1">
            <a:off x="5940425" y="5157788"/>
            <a:ext cx="433388" cy="4318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 name="矩形 12"/>
          <p:cNvSpPr/>
          <p:nvPr/>
        </p:nvSpPr>
        <p:spPr>
          <a:xfrm>
            <a:off x="408946" y="301050"/>
            <a:ext cx="6365845" cy="584775"/>
          </a:xfrm>
          <a:prstGeom prst="rect">
            <a:avLst/>
          </a:prstGeom>
        </p:spPr>
        <p:txBody>
          <a:bodyPr wrap="none">
            <a:spAutoFit/>
          </a:bodyPr>
          <a:lstStyle/>
          <a:p>
            <a:r>
              <a:rPr lang="zh-CN" altLang="en-US" sz="3200" b="1" dirty="0"/>
              <a:t>二</a:t>
            </a:r>
            <a:r>
              <a:rPr lang="zh-CN" altLang="en-US" sz="3200" b="1" dirty="0" smtClean="0"/>
              <a:t>、</a:t>
            </a:r>
            <a:r>
              <a:rPr lang="zh-CN" altLang="en-US" sz="3200" b="1" dirty="0"/>
              <a:t>混合物</a:t>
            </a:r>
            <a:r>
              <a:rPr lang="zh-CN" altLang="en-US" sz="3200" b="1" dirty="0" smtClean="0"/>
              <a:t>的摩尔质量和气体常数</a:t>
            </a:r>
            <a:endParaRPr lang="zh-CN" altLang="en-US" sz="3200" b="1" dirty="0"/>
          </a:p>
        </p:txBody>
      </p:sp>
      <p:sp>
        <p:nvSpPr>
          <p:cNvPr id="2" name="矩形 1"/>
          <p:cNvSpPr/>
          <p:nvPr/>
        </p:nvSpPr>
        <p:spPr>
          <a:xfrm>
            <a:off x="684213" y="1004888"/>
            <a:ext cx="7586870" cy="954107"/>
          </a:xfrm>
          <a:prstGeom prst="rect">
            <a:avLst/>
          </a:prstGeom>
        </p:spPr>
        <p:txBody>
          <a:bodyPr wrap="square">
            <a:spAutoFit/>
          </a:bodyPr>
          <a:lstStyle/>
          <a:p>
            <a:r>
              <a:rPr lang="zh-CN" altLang="en-US" sz="2800" b="1" dirty="0" smtClean="0"/>
              <a:t>混合气体</a:t>
            </a:r>
            <a:r>
              <a:rPr lang="zh-CN" altLang="en-US" sz="2800" b="1" dirty="0"/>
              <a:t>可作为某种假想气体，其质量和分子数等于组分气体质量之和及分子数之和。</a:t>
            </a:r>
            <a:endParaRPr lang="zh-CN" altLang="en-US" sz="2800" b="1" dirty="0"/>
          </a:p>
        </p:txBody>
      </p:sp>
      <p:sp>
        <p:nvSpPr>
          <p:cNvPr id="15" name="矩形 14"/>
          <p:cNvSpPr/>
          <p:nvPr/>
        </p:nvSpPr>
        <p:spPr>
          <a:xfrm>
            <a:off x="507170" y="2207865"/>
            <a:ext cx="4649030" cy="461665"/>
          </a:xfrm>
          <a:prstGeom prst="rect">
            <a:avLst/>
          </a:prstGeom>
        </p:spPr>
        <p:txBody>
          <a:bodyPr wrap="none">
            <a:spAutoFit/>
          </a:bodyPr>
          <a:lstStyle/>
          <a:p>
            <a:r>
              <a:rPr lang="zh-CN" altLang="en-US" sz="2400" b="1" dirty="0">
                <a:solidFill>
                  <a:srgbClr val="FF0000"/>
                </a:solidFill>
              </a:rPr>
              <a:t>1</a:t>
            </a:r>
            <a:r>
              <a:rPr lang="zh-CN" altLang="en-US" sz="2400" b="1" dirty="0" smtClean="0">
                <a:solidFill>
                  <a:srgbClr val="FF0000"/>
                </a:solidFill>
              </a:rPr>
              <a:t>、混合物的摩尔质量（</a:t>
            </a:r>
            <a:r>
              <a:rPr lang="en-US" altLang="zh-CN" sz="2400" b="1" dirty="0" smtClean="0">
                <a:solidFill>
                  <a:srgbClr val="FF0000"/>
                </a:solidFill>
                <a:latin typeface="Times New Roman" panose="02020603050405020304" pitchFamily="18" charset="0"/>
                <a:cs typeface="Times New Roman" panose="02020603050405020304" pitchFamily="18" charset="0"/>
              </a:rPr>
              <a:t>kg/</a:t>
            </a:r>
            <a:r>
              <a:rPr lang="en-US" altLang="zh-CN" sz="2400" b="1" dirty="0" err="1" smtClean="0">
                <a:solidFill>
                  <a:srgbClr val="FF0000"/>
                </a:solidFill>
                <a:latin typeface="Times New Roman" panose="02020603050405020304" pitchFamily="18" charset="0"/>
                <a:cs typeface="Times New Roman" panose="02020603050405020304" pitchFamily="18" charset="0"/>
              </a:rPr>
              <a:t>mol</a:t>
            </a:r>
            <a:r>
              <a:rPr lang="zh-CN" altLang="en-US" sz="2400" b="1" dirty="0" smtClean="0">
                <a:solidFill>
                  <a:srgbClr val="FF0000"/>
                </a:solidFill>
              </a:rPr>
              <a:t>）</a:t>
            </a:r>
            <a:endParaRPr lang="zh-CN" altLang="en-US" sz="2400" b="1" dirty="0">
              <a:solidFill>
                <a:srgbClr val="FF0000"/>
              </a:solidFill>
            </a:endParaRPr>
          </a:p>
        </p:txBody>
      </p:sp>
      <p:sp>
        <p:nvSpPr>
          <p:cNvPr id="16" name="矩形 15"/>
          <p:cNvSpPr/>
          <p:nvPr/>
        </p:nvSpPr>
        <p:spPr>
          <a:xfrm>
            <a:off x="567219" y="4338448"/>
            <a:ext cx="4777270" cy="461665"/>
          </a:xfrm>
          <a:prstGeom prst="rect">
            <a:avLst/>
          </a:prstGeom>
        </p:spPr>
        <p:txBody>
          <a:bodyPr wrap="none">
            <a:spAutoFit/>
          </a:bodyPr>
          <a:lstStyle/>
          <a:p>
            <a:r>
              <a:rPr lang="en-US" altLang="zh-CN" sz="2400" b="1" dirty="0" smtClean="0">
                <a:solidFill>
                  <a:srgbClr val="FF0000"/>
                </a:solidFill>
              </a:rPr>
              <a:t>2</a:t>
            </a:r>
            <a:r>
              <a:rPr lang="zh-CN" altLang="en-US" sz="2400" b="1" dirty="0" smtClean="0">
                <a:solidFill>
                  <a:srgbClr val="FF0000"/>
                </a:solidFill>
              </a:rPr>
              <a:t>、混合物的气体常数（</a:t>
            </a:r>
            <a:r>
              <a:rPr lang="en-US" altLang="zh-CN" sz="2400" b="1" dirty="0" smtClean="0">
                <a:solidFill>
                  <a:srgbClr val="FF0000"/>
                </a:solidFill>
                <a:latin typeface="Times New Roman" panose="02020603050405020304" pitchFamily="18" charset="0"/>
                <a:cs typeface="Times New Roman" panose="02020603050405020304" pitchFamily="18" charset="0"/>
              </a:rPr>
              <a:t>J/kg</a:t>
            </a:r>
            <a:r>
              <a:rPr lang="en-US" altLang="zh-CN" sz="2400" b="1" dirty="0">
                <a:latin typeface="Times New Roman" panose="02020603050405020304" pitchFamily="18" charset="0"/>
                <a:ea typeface="楷体_GB2312" pitchFamily="49" charset="-122"/>
              </a:rPr>
              <a:t> </a:t>
            </a:r>
            <a:r>
              <a:rPr lang="en-US" altLang="zh-CN" sz="2400" b="1" dirty="0">
                <a:solidFill>
                  <a:srgbClr val="FF0000"/>
                </a:solidFill>
                <a:latin typeface="Times New Roman" panose="02020603050405020304" pitchFamily="18" charset="0"/>
                <a:ea typeface="楷体_GB2312" pitchFamily="49" charset="-122"/>
              </a:rPr>
              <a:t>∙ </a:t>
            </a:r>
            <a:r>
              <a:rPr lang="en-US" altLang="zh-CN" sz="2400" b="1" dirty="0" smtClean="0">
                <a:solidFill>
                  <a:srgbClr val="FF0000"/>
                </a:solidFill>
                <a:latin typeface="Times New Roman" panose="02020603050405020304" pitchFamily="18" charset="0"/>
                <a:cs typeface="Times New Roman" panose="02020603050405020304" pitchFamily="18" charset="0"/>
              </a:rPr>
              <a:t>K</a:t>
            </a:r>
            <a:r>
              <a:rPr lang="zh-CN" altLang="en-US" sz="2400" b="1" dirty="0" smtClean="0">
                <a:solidFill>
                  <a:srgbClr val="FF0000"/>
                </a:solidFill>
              </a:rPr>
              <a:t>）</a:t>
            </a:r>
            <a:endParaRPr lang="zh-CN" altLang="en-US" sz="2400" b="1" dirty="0">
              <a:solidFill>
                <a:srgbClr val="FF0000"/>
              </a:solidFill>
            </a:endParaRPr>
          </a:p>
        </p:txBody>
      </p:sp>
      <p:sp>
        <p:nvSpPr>
          <p:cNvPr id="3" name="矩形 2"/>
          <p:cNvSpPr/>
          <p:nvPr/>
        </p:nvSpPr>
        <p:spPr>
          <a:xfrm>
            <a:off x="5735154" y="2256365"/>
            <a:ext cx="2808288" cy="707886"/>
          </a:xfrm>
          <a:prstGeom prst="rect">
            <a:avLst/>
          </a:prstGeom>
        </p:spPr>
        <p:txBody>
          <a:bodyPr wrap="square">
            <a:spAutoFit/>
          </a:bodyPr>
          <a:lstStyle/>
          <a:p>
            <a:r>
              <a:rPr lang="zh-CN" altLang="en-US" sz="2000" b="1" dirty="0">
                <a:solidFill>
                  <a:srgbClr val="0070C0"/>
                </a:solidFill>
              </a:rPr>
              <a:t>各组元的摩尔质量按摩尔分数的加权平均值 </a:t>
            </a:r>
            <a:endParaRPr lang="zh-CN" altLang="en-US" sz="2000" b="1" dirty="0">
              <a:solidFill>
                <a:srgbClr val="0070C0"/>
              </a:solidFill>
            </a:endParaRPr>
          </a:p>
        </p:txBody>
      </p:sp>
      <p:sp>
        <p:nvSpPr>
          <p:cNvPr id="4" name="矩形 3"/>
          <p:cNvSpPr/>
          <p:nvPr/>
        </p:nvSpPr>
        <p:spPr>
          <a:xfrm>
            <a:off x="5925586" y="4390353"/>
            <a:ext cx="2767018" cy="707886"/>
          </a:xfrm>
          <a:prstGeom prst="rect">
            <a:avLst/>
          </a:prstGeom>
        </p:spPr>
        <p:txBody>
          <a:bodyPr wrap="square">
            <a:spAutoFit/>
          </a:bodyPr>
          <a:lstStyle/>
          <a:p>
            <a:r>
              <a:rPr lang="zh-CN" altLang="en-US" sz="2000" b="1" dirty="0">
                <a:solidFill>
                  <a:srgbClr val="0070C0"/>
                </a:solidFill>
              </a:rPr>
              <a:t>各组元的气体常数按质量分数的加权平均值 </a:t>
            </a:r>
            <a:endParaRPr lang="zh-CN" altLang="en-US" sz="2000" b="1" dirty="0">
              <a:solidFill>
                <a:srgbClr val="0070C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矩形 186374"/>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23556" name="对象 186373"/>
          <p:cNvGraphicFramePr>
            <a:graphicFrameLocks noChangeAspect="1"/>
          </p:cNvGraphicFramePr>
          <p:nvPr/>
        </p:nvGraphicFramePr>
        <p:xfrm>
          <a:off x="2268538" y="2276475"/>
          <a:ext cx="3455987" cy="925513"/>
        </p:xfrm>
        <a:graphic>
          <a:graphicData uri="http://schemas.openxmlformats.org/presentationml/2006/ole">
            <mc:AlternateContent xmlns:mc="http://schemas.openxmlformats.org/markup-compatibility/2006">
              <mc:Choice xmlns:v="urn:schemas-microsoft-com:vml" Requires="v">
                <p:oleObj spid="_x0000_s3182" name="" r:id="rId1" imgW="1459865" imgH="393700" progId="Equation.DSMT4">
                  <p:embed/>
                </p:oleObj>
              </mc:Choice>
              <mc:Fallback>
                <p:oleObj name="" r:id="rId1" imgW="1459865" imgH="393700" progId="Equation.DSMT4">
                  <p:embed/>
                  <p:pic>
                    <p:nvPicPr>
                      <p:cNvPr id="0" name="对象 18637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8538" y="2276475"/>
                        <a:ext cx="3455987" cy="92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3557" name="矩形 186376"/>
          <p:cNvSpPr>
            <a:spLocks noChangeArrowheads="1"/>
          </p:cNvSpPr>
          <p:nvPr/>
        </p:nvSpPr>
        <p:spPr bwMode="auto">
          <a:xfrm>
            <a:off x="0" y="3195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23558" name="对象 186375"/>
          <p:cNvGraphicFramePr/>
          <p:nvPr/>
        </p:nvGraphicFramePr>
        <p:xfrm>
          <a:off x="1763713" y="4797425"/>
          <a:ext cx="5327650" cy="1111250"/>
        </p:xfrm>
        <a:graphic>
          <a:graphicData uri="http://schemas.openxmlformats.org/presentationml/2006/ole">
            <mc:AlternateContent xmlns:mc="http://schemas.openxmlformats.org/markup-compatibility/2006">
              <mc:Choice xmlns:v="urn:schemas-microsoft-com:vml" Requires="v">
                <p:oleObj spid="_x0000_s3183" name="" r:id="rId3" imgW="2235200" imgH="469900" progId="Equation.DSMT4">
                  <p:embed/>
                </p:oleObj>
              </mc:Choice>
              <mc:Fallback>
                <p:oleObj name="" r:id="rId3" imgW="2235200" imgH="469900" progId="Equation.DSMT4">
                  <p:embed/>
                  <p:pic>
                    <p:nvPicPr>
                      <p:cNvPr id="0" name="对象 18637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713" y="4797425"/>
                        <a:ext cx="5327650" cy="111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 name="矩形 1"/>
          <p:cNvSpPr/>
          <p:nvPr/>
        </p:nvSpPr>
        <p:spPr>
          <a:xfrm>
            <a:off x="596349" y="352219"/>
            <a:ext cx="6983002" cy="584775"/>
          </a:xfrm>
          <a:prstGeom prst="rect">
            <a:avLst/>
          </a:prstGeom>
        </p:spPr>
        <p:txBody>
          <a:bodyPr wrap="none">
            <a:spAutoFit/>
          </a:bodyPr>
          <a:lstStyle/>
          <a:p>
            <a:r>
              <a:rPr lang="zh-CN" altLang="en-US" sz="3200" b="1" dirty="0" smtClean="0"/>
              <a:t>三、质量</a:t>
            </a:r>
            <a:r>
              <a:rPr lang="zh-CN" altLang="en-US" sz="3200" b="1" dirty="0"/>
              <a:t>分数与摩尔分数之间的换算 </a:t>
            </a:r>
            <a:endParaRPr lang="zh-CN" altLang="en-US" sz="3200" b="1" dirty="0"/>
          </a:p>
        </p:txBody>
      </p:sp>
      <p:sp>
        <p:nvSpPr>
          <p:cNvPr id="3" name="矩形 2"/>
          <p:cNvSpPr/>
          <p:nvPr/>
        </p:nvSpPr>
        <p:spPr>
          <a:xfrm>
            <a:off x="815010" y="1404006"/>
            <a:ext cx="6680034" cy="523220"/>
          </a:xfrm>
          <a:prstGeom prst="rect">
            <a:avLst/>
          </a:prstGeom>
        </p:spPr>
        <p:txBody>
          <a:bodyPr wrap="none">
            <a:spAutoFit/>
          </a:bodyPr>
          <a:lstStyle/>
          <a:p>
            <a:r>
              <a:rPr lang="zh-CN" altLang="en-US" sz="2800" b="1" dirty="0">
                <a:latin typeface="Times New Roman" panose="02020603050405020304" pitchFamily="18" charset="0"/>
                <a:cs typeface="Times New Roman" panose="02020603050405020304" pitchFamily="18" charset="0"/>
              </a:rPr>
              <a:t>已知摩尔分数</a:t>
            </a:r>
            <a:r>
              <a:rPr lang="zh-CN" altLang="en-US" sz="2800" b="1" i="1" dirty="0">
                <a:latin typeface="Times New Roman" panose="02020603050405020304" pitchFamily="18" charset="0"/>
                <a:cs typeface="Times New Roman" panose="02020603050405020304" pitchFamily="18" charset="0"/>
              </a:rPr>
              <a:t>x</a:t>
            </a:r>
            <a:r>
              <a:rPr lang="zh-CN" altLang="en-US" sz="2800" b="1" i="1" baseline="-25000" dirty="0">
                <a:latin typeface="Times New Roman" panose="02020603050405020304" pitchFamily="18" charset="0"/>
                <a:cs typeface="Times New Roman" panose="02020603050405020304" pitchFamily="18" charset="0"/>
              </a:rPr>
              <a:t>i</a:t>
            </a:r>
            <a:r>
              <a:rPr lang="zh-CN" altLang="en-US" sz="2800" b="1" dirty="0">
                <a:latin typeface="Times New Roman" panose="02020603050405020304" pitchFamily="18" charset="0"/>
                <a:cs typeface="Times New Roman" panose="02020603050405020304" pitchFamily="18" charset="0"/>
              </a:rPr>
              <a:t>，想得到质量</a:t>
            </a:r>
            <a:r>
              <a:rPr lang="zh-CN" altLang="en-US" sz="2800" b="1" dirty="0" smtClean="0">
                <a:latin typeface="Times New Roman" panose="02020603050405020304" pitchFamily="18" charset="0"/>
                <a:cs typeface="Times New Roman" panose="02020603050405020304" pitchFamily="18" charset="0"/>
              </a:rPr>
              <a:t>分数</a:t>
            </a:r>
            <a:r>
              <a:rPr lang="en-US" altLang="zh-CN" sz="2800" b="1" i="1" dirty="0" smtClean="0">
                <a:latin typeface="Times New Roman" panose="02020603050405020304" pitchFamily="18" charset="0"/>
                <a:cs typeface="Times New Roman" panose="02020603050405020304" pitchFamily="18" charset="0"/>
              </a:rPr>
              <a:t>w</a:t>
            </a:r>
            <a:r>
              <a:rPr lang="zh-CN" altLang="en-US" sz="2800" b="1" i="1" baseline="-25000" dirty="0" smtClean="0">
                <a:latin typeface="Times New Roman" panose="02020603050405020304" pitchFamily="18" charset="0"/>
                <a:cs typeface="Times New Roman" panose="02020603050405020304" pitchFamily="18" charset="0"/>
              </a:rPr>
              <a:t>i</a:t>
            </a:r>
            <a:r>
              <a:rPr lang="zh-CN" altLang="en-US" sz="2800" b="1" dirty="0" smtClean="0">
                <a:latin typeface="Times New Roman" panose="02020603050405020304" pitchFamily="18" charset="0"/>
                <a:cs typeface="Times New Roman" panose="02020603050405020304" pitchFamily="18" charset="0"/>
              </a:rPr>
              <a:t>时</a:t>
            </a:r>
            <a:r>
              <a:rPr lang="zh-CN" altLang="en-US" sz="2800" b="1" dirty="0">
                <a:latin typeface="Times New Roman" panose="02020603050405020304" pitchFamily="18" charset="0"/>
                <a:cs typeface="Times New Roman" panose="02020603050405020304" pitchFamily="18" charset="0"/>
              </a:rPr>
              <a:t>，</a:t>
            </a:r>
            <a:endParaRPr lang="zh-CN" altLang="en-US" sz="2800" b="1" dirty="0">
              <a:latin typeface="Times New Roman" panose="02020603050405020304" pitchFamily="18" charset="0"/>
              <a:cs typeface="Times New Roman" panose="02020603050405020304" pitchFamily="18" charset="0"/>
            </a:endParaRPr>
          </a:p>
        </p:txBody>
      </p:sp>
      <p:sp>
        <p:nvSpPr>
          <p:cNvPr id="11" name="矩形 10"/>
          <p:cNvSpPr/>
          <p:nvPr/>
        </p:nvSpPr>
        <p:spPr>
          <a:xfrm>
            <a:off x="887897" y="3683328"/>
            <a:ext cx="6798656" cy="523220"/>
          </a:xfrm>
          <a:prstGeom prst="rect">
            <a:avLst/>
          </a:prstGeom>
        </p:spPr>
        <p:txBody>
          <a:bodyPr wrap="none">
            <a:spAutoFit/>
          </a:bodyPr>
          <a:lstStyle/>
          <a:p>
            <a:r>
              <a:rPr lang="zh-CN" altLang="en-US" sz="2800" b="1" dirty="0" smtClean="0">
                <a:latin typeface="Times New Roman" panose="02020603050405020304" pitchFamily="18" charset="0"/>
                <a:cs typeface="Times New Roman" panose="02020603050405020304" pitchFamily="18" charset="0"/>
              </a:rPr>
              <a:t>已知质量分数</a:t>
            </a:r>
            <a:r>
              <a:rPr lang="en-US" altLang="zh-CN" sz="2800" b="1" i="1" dirty="0">
                <a:latin typeface="Times New Roman" panose="02020603050405020304" pitchFamily="18" charset="0"/>
                <a:cs typeface="Times New Roman" panose="02020603050405020304" pitchFamily="18" charset="0"/>
              </a:rPr>
              <a:t>w</a:t>
            </a:r>
            <a:r>
              <a:rPr lang="zh-CN" altLang="en-US" sz="2800" b="1" i="1" baseline="-25000" dirty="0">
                <a:latin typeface="Times New Roman" panose="02020603050405020304" pitchFamily="18" charset="0"/>
                <a:cs typeface="Times New Roman" panose="02020603050405020304" pitchFamily="18" charset="0"/>
              </a:rPr>
              <a:t>i </a:t>
            </a:r>
            <a:r>
              <a:rPr lang="zh-CN" altLang="en-US" sz="2800" b="1" dirty="0" smtClean="0">
                <a:latin typeface="Times New Roman" panose="02020603050405020304" pitchFamily="18" charset="0"/>
                <a:cs typeface="Times New Roman" panose="02020603050405020304" pitchFamily="18" charset="0"/>
              </a:rPr>
              <a:t>，想得到摩尔分数</a:t>
            </a:r>
            <a:r>
              <a:rPr lang="zh-CN" altLang="en-US" sz="2800" b="1" i="1" dirty="0">
                <a:latin typeface="Times New Roman" panose="02020603050405020304" pitchFamily="18" charset="0"/>
                <a:cs typeface="Times New Roman" panose="02020603050405020304" pitchFamily="18" charset="0"/>
              </a:rPr>
              <a:t>x</a:t>
            </a:r>
            <a:r>
              <a:rPr lang="zh-CN" altLang="en-US" sz="2800" b="1" i="1" baseline="-25000" dirty="0">
                <a:latin typeface="Times New Roman" panose="02020603050405020304" pitchFamily="18" charset="0"/>
                <a:cs typeface="Times New Roman" panose="02020603050405020304" pitchFamily="18" charset="0"/>
              </a:rPr>
              <a:t>i</a:t>
            </a:r>
            <a:r>
              <a:rPr lang="zh-CN" altLang="en-US" sz="2800" b="1" dirty="0" smtClean="0">
                <a:latin typeface="Times New Roman" panose="02020603050405020304" pitchFamily="18" charset="0"/>
                <a:cs typeface="Times New Roman" panose="02020603050405020304" pitchFamily="18" charset="0"/>
              </a:rPr>
              <a:t>时</a:t>
            </a:r>
            <a:r>
              <a:rPr lang="zh-CN" altLang="en-US" sz="2800" b="1" dirty="0">
                <a:latin typeface="Times New Roman" panose="02020603050405020304" pitchFamily="18" charset="0"/>
                <a:cs typeface="Times New Roman" panose="02020603050405020304" pitchFamily="18" charset="0"/>
              </a:rPr>
              <a:t>，</a:t>
            </a:r>
            <a:endParaRPr lang="zh-CN" altLang="en-US" sz="2800"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21025" y="2257696"/>
            <a:ext cx="7500731" cy="768350"/>
          </a:xfrm>
          <a:prstGeom prst="rect">
            <a:avLst/>
          </a:prstGeom>
        </p:spPr>
        <p:txBody>
          <a:bodyPr wrap="square">
            <a:spAutoFit/>
          </a:bodyPr>
          <a:lstStyle/>
          <a:p>
            <a:r>
              <a:rPr lang="zh-CN" altLang="en-US" sz="4400" b="1" dirty="0" smtClean="0"/>
              <a:t>1</a:t>
            </a:r>
            <a:r>
              <a:rPr lang="en-US" altLang="zh-CN" sz="4400" b="1" dirty="0" smtClean="0"/>
              <a:t>7</a:t>
            </a:r>
            <a:r>
              <a:rPr lang="zh-CN" altLang="en-US" sz="4400" b="1" dirty="0" smtClean="0"/>
              <a:t>-</a:t>
            </a:r>
            <a:r>
              <a:rPr lang="en-US" altLang="zh-CN" sz="4400" b="1" dirty="0" smtClean="0"/>
              <a:t>3</a:t>
            </a:r>
            <a:r>
              <a:rPr lang="zh-CN" altLang="en-US" sz="4400" b="1" dirty="0" smtClean="0"/>
              <a:t> </a:t>
            </a:r>
            <a:r>
              <a:rPr lang="zh-CN" altLang="en-US" sz="4400" b="1" dirty="0"/>
              <a:t>分</a:t>
            </a:r>
            <a:r>
              <a:rPr lang="zh-CN" altLang="en-US" sz="4400" b="1" dirty="0" smtClean="0"/>
              <a:t>压定律与分体积定律</a:t>
            </a:r>
            <a:endParaRPr lang="zh-CN" altLang="en-US" sz="4400"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9092" name="对象 89091"/>
          <p:cNvGraphicFramePr/>
          <p:nvPr/>
        </p:nvGraphicFramePr>
        <p:xfrm>
          <a:off x="474662" y="4803705"/>
          <a:ext cx="1452563" cy="430213"/>
        </p:xfrm>
        <a:graphic>
          <a:graphicData uri="http://schemas.openxmlformats.org/presentationml/2006/ole">
            <mc:AlternateContent xmlns:mc="http://schemas.openxmlformats.org/markup-compatibility/2006">
              <mc:Choice xmlns:v="urn:schemas-microsoft-com:vml" Requires="v">
                <p:oleObj spid="_x0000_s4546" name="" r:id="rId1" imgW="685165" imgH="203200" progId="Equation.DSMT4">
                  <p:embed/>
                </p:oleObj>
              </mc:Choice>
              <mc:Fallback>
                <p:oleObj name="" r:id="rId1" imgW="685165" imgH="203200" progId="Equation.DSMT4">
                  <p:embed/>
                  <p:pic>
                    <p:nvPicPr>
                      <p:cNvPr id="0" name="对象 8909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4662" y="4803705"/>
                        <a:ext cx="1452563"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9093" name="对象 89092"/>
          <p:cNvGraphicFramePr/>
          <p:nvPr/>
        </p:nvGraphicFramePr>
        <p:xfrm>
          <a:off x="4716463" y="3922643"/>
          <a:ext cx="1603375" cy="473075"/>
        </p:xfrm>
        <a:graphic>
          <a:graphicData uri="http://schemas.openxmlformats.org/presentationml/2006/ole">
            <mc:AlternateContent xmlns:mc="http://schemas.openxmlformats.org/markup-compatibility/2006">
              <mc:Choice xmlns:v="urn:schemas-microsoft-com:vml" Requires="v">
                <p:oleObj spid="_x0000_s4547" name="" r:id="rId3" imgW="774065" imgH="228600" progId="Equation.DSMT4">
                  <p:embed/>
                </p:oleObj>
              </mc:Choice>
              <mc:Fallback>
                <p:oleObj name="" r:id="rId3" imgW="774065" imgH="228600" progId="Equation.DSMT4">
                  <p:embed/>
                  <p:pic>
                    <p:nvPicPr>
                      <p:cNvPr id="0" name="对象 8909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6463" y="3922643"/>
                        <a:ext cx="160337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9096" name="双大括号 89095"/>
          <p:cNvSpPr>
            <a:spLocks noChangeArrowheads="1"/>
          </p:cNvSpPr>
          <p:nvPr/>
        </p:nvSpPr>
        <p:spPr bwMode="auto">
          <a:xfrm>
            <a:off x="2481055" y="3924925"/>
            <a:ext cx="6264275" cy="503238"/>
          </a:xfrm>
          <a:prstGeom prst="bracePair">
            <a:avLst>
              <a:gd name="adj" fmla="val 8333"/>
            </a:avLst>
          </a:prstGeom>
          <a:noFill/>
          <a:ln w="28575">
            <a:solidFill>
              <a:srgbClr val="FF0000"/>
            </a:solidFill>
            <a:rou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ea typeface="宋体" panose="02010600030101010101" pitchFamily="2" charset="-122"/>
            </a:endParaRPr>
          </a:p>
        </p:txBody>
      </p:sp>
      <p:sp>
        <p:nvSpPr>
          <p:cNvPr id="89097" name="下箭头 89096"/>
          <p:cNvSpPr>
            <a:spLocks noChangeArrowheads="1"/>
          </p:cNvSpPr>
          <p:nvPr/>
        </p:nvSpPr>
        <p:spPr bwMode="auto">
          <a:xfrm>
            <a:off x="5867400" y="4422705"/>
            <a:ext cx="152400" cy="381000"/>
          </a:xfrm>
          <a:prstGeom prst="downArrow">
            <a:avLst>
              <a:gd name="adj1" fmla="val 50000"/>
              <a:gd name="adj2" fmla="val 62500"/>
            </a:avLst>
          </a:prstGeom>
          <a:solidFill>
            <a:srgbClr val="FF0000"/>
          </a:solidFill>
          <a:ln w="9525">
            <a:solidFill>
              <a:schemeClr val="tx1"/>
            </a:solidFill>
            <a:miter lim="800000"/>
          </a:ln>
        </p:spPr>
        <p:txBody>
          <a:bodyPr/>
          <a:lstStyle/>
          <a:p>
            <a:pPr eaLnBrk="0" hangingPunct="0"/>
            <a:endParaRPr lang="zh-CN" altLang="en-US">
              <a:ea typeface="宋体" panose="02010600030101010101" pitchFamily="2" charset="-122"/>
            </a:endParaRPr>
          </a:p>
        </p:txBody>
      </p:sp>
      <p:graphicFrame>
        <p:nvGraphicFramePr>
          <p:cNvPr id="89098" name="对象 89097"/>
          <p:cNvGraphicFramePr/>
          <p:nvPr/>
        </p:nvGraphicFramePr>
        <p:xfrm>
          <a:off x="4459287" y="4752358"/>
          <a:ext cx="2968625" cy="481012"/>
        </p:xfrm>
        <a:graphic>
          <a:graphicData uri="http://schemas.openxmlformats.org/presentationml/2006/ole">
            <mc:AlternateContent xmlns:mc="http://schemas.openxmlformats.org/markup-compatibility/2006">
              <mc:Choice xmlns:v="urn:schemas-microsoft-com:vml" Requires="v">
                <p:oleObj spid="_x0000_s4548" name="Equation" r:id="rId5" imgW="1409700" imgH="228600" progId="Equation.DSMT4">
                  <p:embed/>
                </p:oleObj>
              </mc:Choice>
              <mc:Fallback>
                <p:oleObj name="Equation" r:id="rId5" imgW="1409700" imgH="228600" progId="Equation.DSMT4">
                  <p:embed/>
                  <p:pic>
                    <p:nvPicPr>
                      <p:cNvPr id="0" name="对象 8909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59287" y="4752358"/>
                        <a:ext cx="2968625"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9099" name="对象 89098"/>
          <p:cNvGraphicFramePr/>
          <p:nvPr/>
        </p:nvGraphicFramePr>
        <p:xfrm>
          <a:off x="2886076" y="5936769"/>
          <a:ext cx="1262062" cy="584200"/>
        </p:xfrm>
        <a:graphic>
          <a:graphicData uri="http://schemas.openxmlformats.org/presentationml/2006/ole">
            <mc:AlternateContent xmlns:mc="http://schemas.openxmlformats.org/markup-compatibility/2006">
              <mc:Choice xmlns:v="urn:schemas-microsoft-com:vml" Requires="v">
                <p:oleObj spid="_x0000_s4549" name="Equation" r:id="rId7" imgW="11887200" imgH="5486400" progId="Equation.DSMT4">
                  <p:embed/>
                </p:oleObj>
              </mc:Choice>
              <mc:Fallback>
                <p:oleObj name="Equation" r:id="rId7" imgW="11887200" imgH="5486400" progId="Equation.DSMT4">
                  <p:embed/>
                  <p:pic>
                    <p:nvPicPr>
                      <p:cNvPr id="0" name="对象 89098"/>
                      <p:cNvPicPr>
                        <a:picLocks noChangeArrowheads="1"/>
                      </p:cNvPicPr>
                      <p:nvPr/>
                    </p:nvPicPr>
                    <p:blipFill>
                      <a:blip r:embed="rId8"/>
                      <a:srcRect/>
                      <a:stretch>
                        <a:fillRect/>
                      </a:stretch>
                    </p:blipFill>
                    <p:spPr bwMode="auto">
                      <a:xfrm>
                        <a:off x="2886076" y="5936769"/>
                        <a:ext cx="1262062" cy="584200"/>
                      </a:xfrm>
                      <a:prstGeom prst="rect">
                        <a:avLst/>
                      </a:prstGeom>
                      <a:noFill/>
                      <a:ln w="25400">
                        <a:solidFill>
                          <a:schemeClr val="tx2"/>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9100" name="对象 89099"/>
          <p:cNvGraphicFramePr/>
          <p:nvPr/>
        </p:nvGraphicFramePr>
        <p:xfrm>
          <a:off x="395288" y="1776343"/>
          <a:ext cx="1531937" cy="1943100"/>
        </p:xfrm>
        <a:graphic>
          <a:graphicData uri="http://schemas.openxmlformats.org/presentationml/2006/ole">
            <mc:AlternateContent xmlns:mc="http://schemas.openxmlformats.org/markup-compatibility/2006">
              <mc:Choice xmlns:v="urn:schemas-microsoft-com:vml" Requires="v">
                <p:oleObj spid="_x0000_s4550" name="" r:id="rId9" imgW="1171575" imgH="1485900" progId="Paint.Picture">
                  <p:embed/>
                </p:oleObj>
              </mc:Choice>
              <mc:Fallback>
                <p:oleObj name="" r:id="rId9" imgW="1171575" imgH="1485900" progId="Paint.Picture">
                  <p:embed/>
                  <p:pic>
                    <p:nvPicPr>
                      <p:cNvPr id="0" name="对象 89099"/>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5288" y="1776343"/>
                        <a:ext cx="1531937"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9102" name="对象 89101"/>
          <p:cNvGraphicFramePr/>
          <p:nvPr/>
        </p:nvGraphicFramePr>
        <p:xfrm>
          <a:off x="4716463" y="1776343"/>
          <a:ext cx="1533525" cy="1871663"/>
        </p:xfrm>
        <a:graphic>
          <a:graphicData uri="http://schemas.openxmlformats.org/presentationml/2006/ole">
            <mc:AlternateContent xmlns:mc="http://schemas.openxmlformats.org/markup-compatibility/2006">
              <mc:Choice xmlns:v="urn:schemas-microsoft-com:vml" Requires="v">
                <p:oleObj spid="_x0000_s4551" name="" r:id="rId11" imgW="1123950" imgH="1371600" progId="Paint.Picture">
                  <p:embed/>
                </p:oleObj>
              </mc:Choice>
              <mc:Fallback>
                <p:oleObj name="" r:id="rId11" imgW="1123950" imgH="1371600" progId="Paint.Picture">
                  <p:embed/>
                  <p:pic>
                    <p:nvPicPr>
                      <p:cNvPr id="0" name="对象 89101"/>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16463" y="1776343"/>
                        <a:ext cx="1533525"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89111" name="图片 891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27313" y="1776343"/>
            <a:ext cx="1520825"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9115" name="对象 89114"/>
          <p:cNvGraphicFramePr/>
          <p:nvPr/>
        </p:nvGraphicFramePr>
        <p:xfrm>
          <a:off x="2776538" y="3908356"/>
          <a:ext cx="1587500" cy="484187"/>
        </p:xfrm>
        <a:graphic>
          <a:graphicData uri="http://schemas.openxmlformats.org/presentationml/2006/ole">
            <mc:AlternateContent xmlns:mc="http://schemas.openxmlformats.org/markup-compatibility/2006">
              <mc:Choice xmlns:v="urn:schemas-microsoft-com:vml" Requires="v">
                <p:oleObj spid="_x0000_s4552" name="" r:id="rId14" imgW="749300" imgH="228600" progId="Equation.DSMT4">
                  <p:embed/>
                </p:oleObj>
              </mc:Choice>
              <mc:Fallback>
                <p:oleObj name="" r:id="rId14" imgW="749300" imgH="228600" progId="Equation.DSMT4">
                  <p:embed/>
                  <p:pic>
                    <p:nvPicPr>
                      <p:cNvPr id="0" name="对象 89114"/>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776538" y="3908356"/>
                        <a:ext cx="158750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89120" name="组合 89119"/>
          <p:cNvGrpSpPr/>
          <p:nvPr/>
        </p:nvGrpSpPr>
        <p:grpSpPr bwMode="auto">
          <a:xfrm>
            <a:off x="6877050" y="1776343"/>
            <a:ext cx="1573213" cy="1871663"/>
            <a:chOff x="4332" y="1480"/>
            <a:chExt cx="991" cy="1179"/>
          </a:xfrm>
        </p:grpSpPr>
        <p:pic>
          <p:nvPicPr>
            <p:cNvPr id="25614" name="图片 891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332" y="1480"/>
              <a:ext cx="991" cy="1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15" name="文本框 89116"/>
            <p:cNvSpPr txBox="1">
              <a:spLocks noChangeArrowheads="1"/>
            </p:cNvSpPr>
            <p:nvPr/>
          </p:nvSpPr>
          <p:spPr bwMode="auto">
            <a:xfrm>
              <a:off x="4513" y="1979"/>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dirty="0">
                  <a:latin typeface="Times New Roman" panose="02020603050405020304" pitchFamily="18" charset="0"/>
                  <a:ea typeface="宋体" panose="02010600030101010101" pitchFamily="2" charset="-122"/>
                </a:rPr>
                <a:t>3</a:t>
              </a:r>
              <a:endParaRPr lang="en-US" altLang="zh-CN" sz="2400" b="1" dirty="0">
                <a:latin typeface="Times New Roman" panose="02020603050405020304" pitchFamily="18" charset="0"/>
                <a:ea typeface="宋体" panose="02010600030101010101" pitchFamily="2" charset="-122"/>
              </a:endParaRPr>
            </a:p>
          </p:txBody>
        </p:sp>
        <p:sp>
          <p:nvSpPr>
            <p:cNvPr id="25616" name="文本框 89117"/>
            <p:cNvSpPr txBox="1">
              <a:spLocks noChangeArrowheads="1"/>
            </p:cNvSpPr>
            <p:nvPr/>
          </p:nvSpPr>
          <p:spPr bwMode="auto">
            <a:xfrm>
              <a:off x="4894" y="2251"/>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dirty="0">
                  <a:latin typeface="Times New Roman" panose="02020603050405020304" pitchFamily="18" charset="0"/>
                  <a:ea typeface="宋体" panose="02010600030101010101" pitchFamily="2" charset="-122"/>
                </a:rPr>
                <a:t>3</a:t>
              </a:r>
              <a:endParaRPr lang="en-US" altLang="zh-CN" sz="2400" b="1" dirty="0">
                <a:latin typeface="Times New Roman" panose="02020603050405020304" pitchFamily="18" charset="0"/>
                <a:ea typeface="宋体" panose="02010600030101010101" pitchFamily="2" charset="-122"/>
              </a:endParaRPr>
            </a:p>
          </p:txBody>
        </p:sp>
      </p:grpSp>
      <p:graphicFrame>
        <p:nvGraphicFramePr>
          <p:cNvPr id="89119" name="对象 89118"/>
          <p:cNvGraphicFramePr/>
          <p:nvPr/>
        </p:nvGraphicFramePr>
        <p:xfrm>
          <a:off x="6889750" y="3935343"/>
          <a:ext cx="1576388" cy="473075"/>
        </p:xfrm>
        <a:graphic>
          <a:graphicData uri="http://schemas.openxmlformats.org/presentationml/2006/ole">
            <mc:AlternateContent xmlns:mc="http://schemas.openxmlformats.org/markup-compatibility/2006">
              <mc:Choice xmlns:v="urn:schemas-microsoft-com:vml" Requires="v">
                <p:oleObj spid="_x0000_s4553" name="" r:id="rId17" imgW="761365" imgH="228600" progId="Equation.DSMT4">
                  <p:embed/>
                </p:oleObj>
              </mc:Choice>
              <mc:Fallback>
                <p:oleObj name="" r:id="rId17" imgW="761365" imgH="228600" progId="Equation.DSMT4">
                  <p:embed/>
                  <p:pic>
                    <p:nvPicPr>
                      <p:cNvPr id="0" name="对象 89118"/>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889750" y="3935343"/>
                        <a:ext cx="15763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 name="矩形 1"/>
          <p:cNvSpPr/>
          <p:nvPr/>
        </p:nvSpPr>
        <p:spPr>
          <a:xfrm>
            <a:off x="309149" y="194658"/>
            <a:ext cx="3775393" cy="523220"/>
          </a:xfrm>
          <a:prstGeom prst="rect">
            <a:avLst/>
          </a:prstGeom>
        </p:spPr>
        <p:txBody>
          <a:bodyPr wrap="none">
            <a:spAutoFit/>
          </a:bodyPr>
          <a:lstStyle/>
          <a:p>
            <a:r>
              <a:rPr lang="zh-CN" altLang="en-US" sz="2800" b="1" dirty="0"/>
              <a:t>一、分压力与分压定律</a:t>
            </a:r>
            <a:endParaRPr lang="zh-CN" altLang="en-US" sz="2800" b="1" dirty="0"/>
          </a:p>
        </p:txBody>
      </p:sp>
      <p:sp>
        <p:nvSpPr>
          <p:cNvPr id="3" name="矩形 2"/>
          <p:cNvSpPr/>
          <p:nvPr/>
        </p:nvSpPr>
        <p:spPr>
          <a:xfrm>
            <a:off x="375617" y="860862"/>
            <a:ext cx="8486223" cy="830997"/>
          </a:xfrm>
          <a:prstGeom prst="rect">
            <a:avLst/>
          </a:prstGeom>
        </p:spPr>
        <p:txBody>
          <a:bodyPr wrap="square">
            <a:spAutoFit/>
          </a:bodyPr>
          <a:lstStyle/>
          <a:p>
            <a:r>
              <a:rPr lang="zh-CN" altLang="en-US" sz="2400" b="1" dirty="0"/>
              <a:t>分压力</a:t>
            </a:r>
            <a:r>
              <a:rPr lang="zh-CN" altLang="en-US" sz="2400" b="1" dirty="0" smtClean="0"/>
              <a:t>——当混合气体中第</a:t>
            </a:r>
            <a:r>
              <a:rPr lang="en-US" altLang="zh-CN" sz="2400" b="1" i="1" dirty="0" err="1" smtClean="0">
                <a:latin typeface="Times New Roman" panose="02020603050405020304" pitchFamily="18" charset="0"/>
                <a:cs typeface="Times New Roman" panose="02020603050405020304" pitchFamily="18" charset="0"/>
              </a:rPr>
              <a:t>i</a:t>
            </a:r>
            <a:r>
              <a:rPr lang="zh-CN" altLang="en-US" sz="2400" b="1" dirty="0" smtClean="0"/>
              <a:t>种组元气体单独占有与混合物相同的体积</a:t>
            </a:r>
            <a:r>
              <a:rPr lang="en-US" altLang="zh-CN" sz="2400" b="1" i="1" dirty="0">
                <a:latin typeface="Times New Roman" panose="02020603050405020304" pitchFamily="18" charset="0"/>
                <a:cs typeface="Times New Roman" panose="02020603050405020304" pitchFamily="18" charset="0"/>
              </a:rPr>
              <a:t>V</a:t>
            </a:r>
            <a:r>
              <a:rPr lang="zh-CN" altLang="en-US" sz="2400" b="1" dirty="0" smtClean="0"/>
              <a:t>，并处于与混合物相同的温度</a:t>
            </a:r>
            <a:r>
              <a:rPr lang="en-US" altLang="zh-CN" sz="2400" b="1" i="1" dirty="0">
                <a:latin typeface="Times New Roman" panose="02020603050405020304" pitchFamily="18" charset="0"/>
                <a:cs typeface="Times New Roman" panose="02020603050405020304" pitchFamily="18" charset="0"/>
              </a:rPr>
              <a:t>T</a:t>
            </a:r>
            <a:r>
              <a:rPr lang="zh-CN" altLang="en-US" sz="2400" b="1" dirty="0" smtClean="0"/>
              <a:t>时，所呈现的压力                        </a:t>
            </a:r>
            <a:endParaRPr lang="zh-CN" altLang="en-US" sz="2400" b="1" dirty="0"/>
          </a:p>
        </p:txBody>
      </p:sp>
      <p:sp>
        <p:nvSpPr>
          <p:cNvPr id="31" name="下箭头 30"/>
          <p:cNvSpPr>
            <a:spLocks noChangeArrowheads="1"/>
          </p:cNvSpPr>
          <p:nvPr/>
        </p:nvSpPr>
        <p:spPr bwMode="auto">
          <a:xfrm>
            <a:off x="1013655" y="3814141"/>
            <a:ext cx="142839" cy="715477"/>
          </a:xfrm>
          <a:prstGeom prst="downArrow">
            <a:avLst>
              <a:gd name="adj1" fmla="val 50000"/>
              <a:gd name="adj2" fmla="val 62500"/>
            </a:avLst>
          </a:prstGeom>
          <a:solidFill>
            <a:srgbClr val="FF0000"/>
          </a:solidFill>
          <a:ln w="9525">
            <a:solidFill>
              <a:schemeClr val="tx1"/>
            </a:solidFill>
            <a:miter lim="800000"/>
          </a:ln>
        </p:spPr>
        <p:txBody>
          <a:bodyPr/>
          <a:lstStyle/>
          <a:p>
            <a:pPr eaLnBrk="0" hangingPunct="0"/>
            <a:endParaRPr lang="zh-CN" altLang="en-US">
              <a:ea typeface="宋体" panose="02010600030101010101" pitchFamily="2" charset="-122"/>
            </a:endParaRPr>
          </a:p>
        </p:txBody>
      </p:sp>
      <p:sp>
        <p:nvSpPr>
          <p:cNvPr id="32" name="左大括号 31"/>
          <p:cNvSpPr/>
          <p:nvPr/>
        </p:nvSpPr>
        <p:spPr>
          <a:xfrm rot="16200000">
            <a:off x="3297903" y="2732718"/>
            <a:ext cx="453265" cy="534171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下箭头 20"/>
          <p:cNvSpPr>
            <a:spLocks noChangeArrowheads="1"/>
          </p:cNvSpPr>
          <p:nvPr/>
        </p:nvSpPr>
        <p:spPr bwMode="auto">
          <a:xfrm>
            <a:off x="3448335" y="5483503"/>
            <a:ext cx="152400" cy="381000"/>
          </a:xfrm>
          <a:prstGeom prst="downArrow">
            <a:avLst>
              <a:gd name="adj1" fmla="val 50000"/>
              <a:gd name="adj2" fmla="val 62500"/>
            </a:avLst>
          </a:prstGeom>
          <a:solidFill>
            <a:srgbClr val="FF0000"/>
          </a:solidFill>
          <a:ln w="9525">
            <a:solidFill>
              <a:schemeClr val="tx1"/>
            </a:solidFill>
            <a:miter lim="800000"/>
          </a:ln>
        </p:spPr>
        <p:txBody>
          <a:bodyPr/>
          <a:lstStyle/>
          <a:p>
            <a:pPr eaLnBrk="0" hangingPunct="0"/>
            <a:endParaRPr lang="zh-CN" altLang="en-US">
              <a:ea typeface="宋体" panose="02010600030101010101" pitchFamily="2" charset="-122"/>
            </a:endParaRPr>
          </a:p>
        </p:txBody>
      </p:sp>
    </p:spTree>
    <p:custDataLst>
      <p:tags r:id="rId19"/>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9100"/>
                                        </p:tgtEl>
                                        <p:attrNameLst>
                                          <p:attrName>style.visibility</p:attrName>
                                        </p:attrNameLst>
                                      </p:cBhvr>
                                      <p:to>
                                        <p:strVal val="visible"/>
                                      </p:to>
                                    </p:set>
                                    <p:animEffect transition="in" filter="blinds(horizontal)">
                                      <p:cBhvr>
                                        <p:cTn id="7" dur="500"/>
                                        <p:tgtEl>
                                          <p:spTgt spid="8910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wipe(up)">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9092"/>
                                        </p:tgtEl>
                                        <p:attrNameLst>
                                          <p:attrName>style.visibility</p:attrName>
                                        </p:attrNameLst>
                                      </p:cBhvr>
                                      <p:to>
                                        <p:strVal val="visible"/>
                                      </p:to>
                                    </p:set>
                                    <p:animEffect transition="in" filter="blinds(horizontal)">
                                      <p:cBhvr>
                                        <p:cTn id="17" dur="500"/>
                                        <p:tgtEl>
                                          <p:spTgt spid="8909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9111"/>
                                        </p:tgtEl>
                                        <p:attrNameLst>
                                          <p:attrName>style.visibility</p:attrName>
                                        </p:attrNameLst>
                                      </p:cBhvr>
                                      <p:to>
                                        <p:strVal val="visible"/>
                                      </p:to>
                                    </p:set>
                                    <p:animEffect transition="in" filter="blinds(horizontal)">
                                      <p:cBhvr>
                                        <p:cTn id="22" dur="500"/>
                                        <p:tgtEl>
                                          <p:spTgt spid="8911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89102"/>
                                        </p:tgtEl>
                                        <p:attrNameLst>
                                          <p:attrName>style.visibility</p:attrName>
                                        </p:attrNameLst>
                                      </p:cBhvr>
                                      <p:to>
                                        <p:strVal val="visible"/>
                                      </p:to>
                                    </p:set>
                                    <p:animEffect transition="in" filter="blinds(horizontal)">
                                      <p:cBhvr>
                                        <p:cTn id="27" dur="500"/>
                                        <p:tgtEl>
                                          <p:spTgt spid="8910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89120"/>
                                        </p:tgtEl>
                                        <p:attrNameLst>
                                          <p:attrName>style.visibility</p:attrName>
                                        </p:attrNameLst>
                                      </p:cBhvr>
                                      <p:to>
                                        <p:strVal val="visible"/>
                                      </p:to>
                                    </p:set>
                                    <p:animEffect transition="in" filter="blinds(horizontal)">
                                      <p:cBhvr>
                                        <p:cTn id="32" dur="500"/>
                                        <p:tgtEl>
                                          <p:spTgt spid="89120"/>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89115"/>
                                        </p:tgtEl>
                                        <p:attrNameLst>
                                          <p:attrName>style.visibility</p:attrName>
                                        </p:attrNameLst>
                                      </p:cBhvr>
                                      <p:to>
                                        <p:strVal val="visible"/>
                                      </p:to>
                                    </p:set>
                                    <p:animEffect transition="in" filter="blinds(horizontal)">
                                      <p:cBhvr>
                                        <p:cTn id="37" dur="500"/>
                                        <p:tgtEl>
                                          <p:spTgt spid="89115"/>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89093"/>
                                        </p:tgtEl>
                                        <p:attrNameLst>
                                          <p:attrName>style.visibility</p:attrName>
                                        </p:attrNameLst>
                                      </p:cBhvr>
                                      <p:to>
                                        <p:strVal val="visible"/>
                                      </p:to>
                                    </p:set>
                                    <p:animEffect transition="in" filter="blinds(horizontal)">
                                      <p:cBhvr>
                                        <p:cTn id="42" dur="500"/>
                                        <p:tgtEl>
                                          <p:spTgt spid="89093"/>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89119"/>
                                        </p:tgtEl>
                                        <p:attrNameLst>
                                          <p:attrName>style.visibility</p:attrName>
                                        </p:attrNameLst>
                                      </p:cBhvr>
                                      <p:to>
                                        <p:strVal val="visible"/>
                                      </p:to>
                                    </p:set>
                                    <p:animEffect transition="in" filter="blinds(horizontal)">
                                      <p:cBhvr>
                                        <p:cTn id="47" dur="500"/>
                                        <p:tgtEl>
                                          <p:spTgt spid="89119"/>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89096"/>
                                        </p:tgtEl>
                                        <p:attrNameLst>
                                          <p:attrName>style.visibility</p:attrName>
                                        </p:attrNameLst>
                                      </p:cBhvr>
                                      <p:to>
                                        <p:strVal val="visible"/>
                                      </p:to>
                                    </p:set>
                                    <p:animEffect transition="in" filter="blinds(horizontal)">
                                      <p:cBhvr>
                                        <p:cTn id="52" dur="500"/>
                                        <p:tgtEl>
                                          <p:spTgt spid="89096"/>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89097"/>
                                        </p:tgtEl>
                                        <p:attrNameLst>
                                          <p:attrName>style.visibility</p:attrName>
                                        </p:attrNameLst>
                                      </p:cBhvr>
                                      <p:to>
                                        <p:strVal val="visible"/>
                                      </p:to>
                                    </p:set>
                                    <p:animEffect transition="in" filter="blinds(horizontal)">
                                      <p:cBhvr>
                                        <p:cTn id="57" dur="500"/>
                                        <p:tgtEl>
                                          <p:spTgt spid="89097"/>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89098"/>
                                        </p:tgtEl>
                                        <p:attrNameLst>
                                          <p:attrName>style.visibility</p:attrName>
                                        </p:attrNameLst>
                                      </p:cBhvr>
                                      <p:to>
                                        <p:strVal val="visible"/>
                                      </p:to>
                                    </p:set>
                                    <p:animEffect transition="in" filter="blinds(horizontal)">
                                      <p:cBhvr>
                                        <p:cTn id="62" dur="500"/>
                                        <p:tgtEl>
                                          <p:spTgt spid="8909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32"/>
                                        </p:tgtEl>
                                        <p:attrNameLst>
                                          <p:attrName>style.visibility</p:attrName>
                                        </p:attrNameLst>
                                      </p:cBhvr>
                                      <p:to>
                                        <p:strVal val="visible"/>
                                      </p:to>
                                    </p:set>
                                    <p:animEffect transition="in" filter="wipe(up)">
                                      <p:cBhvr>
                                        <p:cTn id="67" dur="500"/>
                                        <p:tgtEl>
                                          <p:spTgt spid="32"/>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blinds(horizontal)">
                                      <p:cBhvr>
                                        <p:cTn id="72" dur="500"/>
                                        <p:tgtEl>
                                          <p:spTgt spid="21"/>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89099"/>
                                        </p:tgtEl>
                                        <p:attrNameLst>
                                          <p:attrName>style.visibility</p:attrName>
                                        </p:attrNameLst>
                                      </p:cBhvr>
                                      <p:to>
                                        <p:strVal val="visible"/>
                                      </p:to>
                                    </p:set>
                                    <p:animEffect transition="in" filter="blinds(horizontal)">
                                      <p:cBhvr>
                                        <p:cTn id="77" dur="500"/>
                                        <p:tgtEl>
                                          <p:spTgt spid="890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625" name="对象 99331"/>
          <p:cNvGraphicFramePr>
            <a:graphicFrameLocks noChangeAspect="1"/>
          </p:cNvGraphicFramePr>
          <p:nvPr/>
        </p:nvGraphicFramePr>
        <p:xfrm>
          <a:off x="3479247" y="286854"/>
          <a:ext cx="1683000" cy="777240"/>
        </p:xfrm>
        <a:graphic>
          <a:graphicData uri="http://schemas.openxmlformats.org/presentationml/2006/ole">
            <mc:AlternateContent xmlns:mc="http://schemas.openxmlformats.org/markup-compatibility/2006">
              <mc:Choice xmlns:v="urn:schemas-microsoft-com:vml" Requires="v">
                <p:oleObj spid="_x0000_s5178" name="Equation" r:id="rId1" imgW="11887200" imgH="5486400" progId="Equation.DSMT4">
                  <p:embed/>
                </p:oleObj>
              </mc:Choice>
              <mc:Fallback>
                <p:oleObj name="Equation" r:id="rId1" imgW="11887200" imgH="5486400" progId="Equation.DSMT4">
                  <p:embed/>
                  <p:pic>
                    <p:nvPicPr>
                      <p:cNvPr id="0" name="对象 99331"/>
                      <p:cNvPicPr>
                        <a:picLocks noChangeArrowheads="1"/>
                      </p:cNvPicPr>
                      <p:nvPr/>
                    </p:nvPicPr>
                    <p:blipFill>
                      <a:blip r:embed="rId2"/>
                      <a:srcRect/>
                      <a:stretch>
                        <a:fillRect/>
                      </a:stretch>
                    </p:blipFill>
                    <p:spPr bwMode="auto">
                      <a:xfrm>
                        <a:off x="3479247" y="286854"/>
                        <a:ext cx="1683000" cy="777240"/>
                      </a:xfrm>
                      <a:prstGeom prst="rect">
                        <a:avLst/>
                      </a:prstGeom>
                      <a:noFill/>
                      <a:ln w="25400">
                        <a:solidFill>
                          <a:schemeClr val="tx2"/>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99335" name="图片 99334" descr="Portrait of John Dalt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2852738"/>
            <a:ext cx="2790825"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36" name="文本框 99335"/>
          <p:cNvSpPr txBox="1">
            <a:spLocks noChangeArrowheads="1"/>
          </p:cNvSpPr>
          <p:nvPr/>
        </p:nvSpPr>
        <p:spPr bwMode="auto">
          <a:xfrm>
            <a:off x="3557588" y="6237288"/>
            <a:ext cx="180850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dirty="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1766-1844</a:t>
            </a:r>
            <a:r>
              <a:rPr lang="zh-CN" altLang="en-US" sz="2000" dirty="0">
                <a:ea typeface="宋体" panose="02010600030101010101" pitchFamily="2" charset="-122"/>
              </a:rPr>
              <a:t>）</a:t>
            </a:r>
            <a:endParaRPr lang="zh-CN" altLang="en-US" sz="2000" dirty="0">
              <a:ea typeface="宋体" panose="02010600030101010101" pitchFamily="2" charset="-122"/>
            </a:endParaRPr>
          </a:p>
        </p:txBody>
      </p:sp>
      <p:sp>
        <p:nvSpPr>
          <p:cNvPr id="5" name="矩形 4"/>
          <p:cNvSpPr/>
          <p:nvPr/>
        </p:nvSpPr>
        <p:spPr>
          <a:xfrm>
            <a:off x="428003" y="1297434"/>
            <a:ext cx="8183218" cy="1384995"/>
          </a:xfrm>
          <a:prstGeom prst="rect">
            <a:avLst/>
          </a:prstGeom>
        </p:spPr>
        <p:txBody>
          <a:bodyPr wrap="square">
            <a:spAutoFit/>
          </a:bodyPr>
          <a:lstStyle/>
          <a:p>
            <a:r>
              <a:rPr lang="zh-CN" altLang="en-US" sz="2800" b="1" dirty="0" smtClean="0">
                <a:latin typeface="Times New Roman" panose="02020603050405020304" pitchFamily="18" charset="0"/>
                <a:cs typeface="Times New Roman" panose="02020603050405020304" pitchFamily="18" charset="0"/>
              </a:rPr>
              <a:t>混合气体</a:t>
            </a:r>
            <a:r>
              <a:rPr lang="zh-CN" altLang="en-US" sz="2800" b="1" dirty="0">
                <a:latin typeface="Times New Roman" panose="02020603050405020304" pitchFamily="18" charset="0"/>
                <a:cs typeface="Times New Roman" panose="02020603050405020304" pitchFamily="18" charset="0"/>
              </a:rPr>
              <a:t>的总压力</a:t>
            </a:r>
            <a:r>
              <a:rPr lang="zh-CN" altLang="en-US" sz="2800" b="1" i="1" dirty="0">
                <a:latin typeface="Times New Roman" panose="02020603050405020304" pitchFamily="18" charset="0"/>
                <a:cs typeface="Times New Roman" panose="02020603050405020304" pitchFamily="18" charset="0"/>
              </a:rPr>
              <a:t>p</a:t>
            </a:r>
            <a:r>
              <a:rPr lang="zh-CN" altLang="en-US" sz="2800" b="1" dirty="0">
                <a:latin typeface="Times New Roman" panose="02020603050405020304" pitchFamily="18" charset="0"/>
                <a:cs typeface="Times New Roman" panose="02020603050405020304" pitchFamily="18" charset="0"/>
              </a:rPr>
              <a:t>等于各组元气体分压力</a:t>
            </a:r>
            <a:r>
              <a:rPr lang="zh-CN" altLang="en-US" sz="2800" b="1" i="1" dirty="0">
                <a:latin typeface="Times New Roman" panose="02020603050405020304" pitchFamily="18" charset="0"/>
                <a:cs typeface="Times New Roman" panose="02020603050405020304" pitchFamily="18" charset="0"/>
              </a:rPr>
              <a:t>p</a:t>
            </a:r>
            <a:r>
              <a:rPr lang="zh-CN" altLang="en-US" sz="2800" b="1" i="1" baseline="-25000" dirty="0">
                <a:latin typeface="Times New Roman" panose="02020603050405020304" pitchFamily="18" charset="0"/>
                <a:cs typeface="Times New Roman" panose="02020603050405020304" pitchFamily="18" charset="0"/>
              </a:rPr>
              <a:t>i</a:t>
            </a:r>
            <a:r>
              <a:rPr lang="zh-CN" altLang="en-US" sz="2800" b="1" dirty="0">
                <a:latin typeface="Times New Roman" panose="02020603050405020304" pitchFamily="18" charset="0"/>
                <a:cs typeface="Times New Roman" panose="02020603050405020304" pitchFamily="18" charset="0"/>
              </a:rPr>
              <a:t>之和</a:t>
            </a:r>
            <a:r>
              <a:rPr lang="zh-CN" altLang="en-US" sz="2800" b="1" dirty="0" smtClean="0">
                <a:latin typeface="Times New Roman" panose="02020603050405020304" pitchFamily="18" charset="0"/>
                <a:cs typeface="Times New Roman" panose="02020603050405020304" pitchFamily="18" charset="0"/>
              </a:rPr>
              <a:t>，这个关系称为</a:t>
            </a:r>
            <a:r>
              <a:rPr lang="zh-CN" altLang="en-US" sz="2800" b="1" dirty="0" smtClean="0">
                <a:solidFill>
                  <a:srgbClr val="FF0000"/>
                </a:solidFill>
                <a:latin typeface="Times New Roman" panose="02020603050405020304" pitchFamily="18" charset="0"/>
                <a:cs typeface="Times New Roman" panose="02020603050405020304" pitchFamily="18" charset="0"/>
              </a:rPr>
              <a:t>道尔顿分压定律</a:t>
            </a:r>
            <a:r>
              <a:rPr lang="zh-CN" altLang="en-US" sz="2800" b="1" dirty="0" smtClean="0">
                <a:latin typeface="Times New Roman" panose="02020603050405020304" pitchFamily="18" charset="0"/>
                <a:cs typeface="Times New Roman" panose="02020603050405020304" pitchFamily="18" charset="0"/>
              </a:rPr>
              <a:t>，由</a:t>
            </a:r>
            <a:r>
              <a:rPr lang="zh-CN" altLang="en-US" sz="2800" b="1" dirty="0">
                <a:latin typeface="Times New Roman" panose="02020603050405020304" pitchFamily="18" charset="0"/>
                <a:cs typeface="Times New Roman" panose="02020603050405020304" pitchFamily="18" charset="0"/>
              </a:rPr>
              <a:t>道尔顿（Dalton</a:t>
            </a:r>
            <a:r>
              <a:rPr lang="zh-CN" altLang="en-US" sz="2800" b="1" dirty="0" smtClean="0">
                <a:latin typeface="Times New Roman" panose="02020603050405020304" pitchFamily="18" charset="0"/>
                <a:cs typeface="Times New Roman" panose="02020603050405020304" pitchFamily="18" charset="0"/>
              </a:rPr>
              <a:t>）于</a:t>
            </a:r>
            <a:r>
              <a:rPr lang="zh-CN" altLang="en-US" sz="2800" b="1" dirty="0">
                <a:latin typeface="Times New Roman" panose="02020603050405020304" pitchFamily="18" charset="0"/>
                <a:cs typeface="Times New Roman" panose="02020603050405020304" pitchFamily="18" charset="0"/>
              </a:rPr>
              <a:t>1801年经过实验</a:t>
            </a:r>
            <a:r>
              <a:rPr lang="zh-CN" altLang="en-US" sz="2800" b="1" dirty="0" smtClean="0">
                <a:latin typeface="Times New Roman" panose="02020603050405020304" pitchFamily="18" charset="0"/>
                <a:cs typeface="Times New Roman" panose="02020603050405020304" pitchFamily="18" charset="0"/>
              </a:rPr>
              <a:t>证实。</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spTree>
    <p:custDataLst>
      <p:tags r:id="rId4"/>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9335"/>
                                        </p:tgtEl>
                                        <p:attrNameLst>
                                          <p:attrName>style.visibility</p:attrName>
                                        </p:attrNameLst>
                                      </p:cBhvr>
                                      <p:to>
                                        <p:strVal val="visible"/>
                                      </p:to>
                                    </p:set>
                                    <p:animEffect transition="in" filter="blinds(horizontal)">
                                      <p:cBhvr>
                                        <p:cTn id="7" dur="500"/>
                                        <p:tgtEl>
                                          <p:spTgt spid="9933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99336"/>
                                        </p:tgtEl>
                                        <p:attrNameLst>
                                          <p:attrName>style.visibility</p:attrName>
                                        </p:attrNameLst>
                                      </p:cBhvr>
                                      <p:to>
                                        <p:strVal val="visible"/>
                                      </p:to>
                                    </p:set>
                                    <p:animEffect transition="in" filter="blinds(horizontal)">
                                      <p:cBhvr>
                                        <p:cTn id="10" dur="500"/>
                                        <p:tgtEl>
                                          <p:spTgt spid="993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p:nvPr/>
        </p:nvGraphicFramePr>
        <p:xfrm>
          <a:off x="588272" y="3361431"/>
          <a:ext cx="1452563" cy="430213"/>
        </p:xfrm>
        <a:graphic>
          <a:graphicData uri="http://schemas.openxmlformats.org/presentationml/2006/ole">
            <mc:AlternateContent xmlns:mc="http://schemas.openxmlformats.org/markup-compatibility/2006">
              <mc:Choice xmlns:v="urn:schemas-microsoft-com:vml" Requires="v">
                <p:oleObj spid="_x0000_s23915" name="" r:id="rId1" imgW="685165" imgH="203200" progId="Equation.DSMT4">
                  <p:embed/>
                </p:oleObj>
              </mc:Choice>
              <mc:Fallback>
                <p:oleObj name="" r:id="rId1" imgW="685165" imgH="203200" progId="Equation.DSMT4">
                  <p:embed/>
                  <p:pic>
                    <p:nvPicPr>
                      <p:cNvPr id="0" name="对象 8909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8272" y="3361431"/>
                        <a:ext cx="1452563"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 name="对象 2"/>
          <p:cNvGraphicFramePr/>
          <p:nvPr/>
        </p:nvGraphicFramePr>
        <p:xfrm>
          <a:off x="4752975" y="2345633"/>
          <a:ext cx="1603375" cy="473075"/>
        </p:xfrm>
        <a:graphic>
          <a:graphicData uri="http://schemas.openxmlformats.org/presentationml/2006/ole">
            <mc:AlternateContent xmlns:mc="http://schemas.openxmlformats.org/markup-compatibility/2006">
              <mc:Choice xmlns:v="urn:schemas-microsoft-com:vml" Requires="v">
                <p:oleObj spid="_x0000_s23916" name="" r:id="rId3" imgW="774065" imgH="228600" progId="Equation.DSMT4">
                  <p:embed/>
                </p:oleObj>
              </mc:Choice>
              <mc:Fallback>
                <p:oleObj name="" r:id="rId3" imgW="774065" imgH="228600" progId="Equation.DSMT4">
                  <p:embed/>
                  <p:pic>
                    <p:nvPicPr>
                      <p:cNvPr id="0" name="对象 8909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52975" y="2345633"/>
                        <a:ext cx="160337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 name="双大括号 3"/>
          <p:cNvSpPr>
            <a:spLocks noChangeArrowheads="1"/>
          </p:cNvSpPr>
          <p:nvPr/>
        </p:nvSpPr>
        <p:spPr bwMode="auto">
          <a:xfrm>
            <a:off x="2663825" y="2358333"/>
            <a:ext cx="6264275" cy="503238"/>
          </a:xfrm>
          <a:prstGeom prst="bracePair">
            <a:avLst>
              <a:gd name="adj" fmla="val 8333"/>
            </a:avLst>
          </a:prstGeom>
          <a:noFill/>
          <a:ln w="28575">
            <a:solidFill>
              <a:srgbClr val="FF0000"/>
            </a:solidFill>
            <a:rou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ea typeface="宋体" panose="02010600030101010101" pitchFamily="2" charset="-122"/>
            </a:endParaRPr>
          </a:p>
        </p:txBody>
      </p:sp>
      <p:graphicFrame>
        <p:nvGraphicFramePr>
          <p:cNvPr id="5" name="对象 4"/>
          <p:cNvGraphicFramePr/>
          <p:nvPr/>
        </p:nvGraphicFramePr>
        <p:xfrm>
          <a:off x="431800" y="199333"/>
          <a:ext cx="1531937" cy="1943100"/>
        </p:xfrm>
        <a:graphic>
          <a:graphicData uri="http://schemas.openxmlformats.org/presentationml/2006/ole">
            <mc:AlternateContent xmlns:mc="http://schemas.openxmlformats.org/markup-compatibility/2006">
              <mc:Choice xmlns:v="urn:schemas-microsoft-com:vml" Requires="v">
                <p:oleObj spid="_x0000_s23917" name="" r:id="rId5" imgW="1171575" imgH="1485900" progId="Paint.Picture">
                  <p:embed/>
                </p:oleObj>
              </mc:Choice>
              <mc:Fallback>
                <p:oleObj name="" r:id="rId5" imgW="1171575" imgH="1485900" progId="Paint.Picture">
                  <p:embed/>
                  <p:pic>
                    <p:nvPicPr>
                      <p:cNvPr id="0" name="对象 8909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1800" y="199333"/>
                        <a:ext cx="1531937"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 name="对象 5"/>
          <p:cNvGraphicFramePr/>
          <p:nvPr/>
        </p:nvGraphicFramePr>
        <p:xfrm>
          <a:off x="4752975" y="260234"/>
          <a:ext cx="1533525" cy="1871663"/>
        </p:xfrm>
        <a:graphic>
          <a:graphicData uri="http://schemas.openxmlformats.org/presentationml/2006/ole">
            <mc:AlternateContent xmlns:mc="http://schemas.openxmlformats.org/markup-compatibility/2006">
              <mc:Choice xmlns:v="urn:schemas-microsoft-com:vml" Requires="v">
                <p:oleObj spid="_x0000_s23918" name="" r:id="rId7" imgW="1123950" imgH="1371600" progId="Paint.Picture">
                  <p:embed/>
                </p:oleObj>
              </mc:Choice>
              <mc:Fallback>
                <p:oleObj name="" r:id="rId7" imgW="1123950" imgH="1371600" progId="Paint.Picture">
                  <p:embed/>
                  <p:pic>
                    <p:nvPicPr>
                      <p:cNvPr id="0" name="对象 89101"/>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52975" y="260234"/>
                        <a:ext cx="1533525"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7" name="图片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63825" y="245947"/>
            <a:ext cx="1520825"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 name="对象 7"/>
          <p:cNvGraphicFramePr/>
          <p:nvPr/>
        </p:nvGraphicFramePr>
        <p:xfrm>
          <a:off x="2813050" y="2331346"/>
          <a:ext cx="1587500" cy="484187"/>
        </p:xfrm>
        <a:graphic>
          <a:graphicData uri="http://schemas.openxmlformats.org/presentationml/2006/ole">
            <mc:AlternateContent xmlns:mc="http://schemas.openxmlformats.org/markup-compatibility/2006">
              <mc:Choice xmlns:v="urn:schemas-microsoft-com:vml" Requires="v">
                <p:oleObj spid="_x0000_s23919" name="" r:id="rId10" imgW="749300" imgH="228600" progId="Equation.DSMT4">
                  <p:embed/>
                </p:oleObj>
              </mc:Choice>
              <mc:Fallback>
                <p:oleObj name="" r:id="rId10" imgW="749300" imgH="228600" progId="Equation.DSMT4">
                  <p:embed/>
                  <p:pic>
                    <p:nvPicPr>
                      <p:cNvPr id="0" name="对象 89114"/>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13050" y="2331346"/>
                        <a:ext cx="158750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9" name="组合 8"/>
          <p:cNvGrpSpPr/>
          <p:nvPr/>
        </p:nvGrpSpPr>
        <p:grpSpPr bwMode="auto">
          <a:xfrm>
            <a:off x="6926262" y="294964"/>
            <a:ext cx="1573213" cy="1871663"/>
            <a:chOff x="4332" y="1480"/>
            <a:chExt cx="991" cy="1179"/>
          </a:xfrm>
        </p:grpSpPr>
        <p:pic>
          <p:nvPicPr>
            <p:cNvPr id="10" name="图片 891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32" y="1480"/>
              <a:ext cx="991" cy="1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文本框 89116"/>
            <p:cNvSpPr txBox="1">
              <a:spLocks noChangeArrowheads="1"/>
            </p:cNvSpPr>
            <p:nvPr/>
          </p:nvSpPr>
          <p:spPr bwMode="auto">
            <a:xfrm>
              <a:off x="4513" y="1979"/>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dirty="0">
                  <a:latin typeface="Times New Roman" panose="02020603050405020304" pitchFamily="18" charset="0"/>
                  <a:ea typeface="宋体" panose="02010600030101010101" pitchFamily="2" charset="-122"/>
                </a:rPr>
                <a:t>3</a:t>
              </a:r>
              <a:endParaRPr lang="en-US" altLang="zh-CN" sz="2400" b="1" dirty="0">
                <a:latin typeface="Times New Roman" panose="02020603050405020304" pitchFamily="18" charset="0"/>
                <a:ea typeface="宋体" panose="02010600030101010101" pitchFamily="2" charset="-122"/>
              </a:endParaRPr>
            </a:p>
          </p:txBody>
        </p:sp>
        <p:sp>
          <p:nvSpPr>
            <p:cNvPr id="12" name="文本框 89117"/>
            <p:cNvSpPr txBox="1">
              <a:spLocks noChangeArrowheads="1"/>
            </p:cNvSpPr>
            <p:nvPr/>
          </p:nvSpPr>
          <p:spPr bwMode="auto">
            <a:xfrm>
              <a:off x="4894" y="2251"/>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dirty="0">
                  <a:latin typeface="Times New Roman" panose="02020603050405020304" pitchFamily="18" charset="0"/>
                  <a:ea typeface="宋体" panose="02010600030101010101" pitchFamily="2" charset="-122"/>
                </a:rPr>
                <a:t>3</a:t>
              </a:r>
              <a:endParaRPr lang="en-US" altLang="zh-CN" sz="2400" b="1" dirty="0">
                <a:latin typeface="Times New Roman" panose="02020603050405020304" pitchFamily="18" charset="0"/>
                <a:ea typeface="宋体" panose="02010600030101010101" pitchFamily="2" charset="-122"/>
              </a:endParaRPr>
            </a:p>
          </p:txBody>
        </p:sp>
      </p:grpSp>
      <p:graphicFrame>
        <p:nvGraphicFramePr>
          <p:cNvPr id="13" name="对象 12"/>
          <p:cNvGraphicFramePr/>
          <p:nvPr/>
        </p:nvGraphicFramePr>
        <p:xfrm>
          <a:off x="6926262" y="2358333"/>
          <a:ext cx="1576388" cy="473075"/>
        </p:xfrm>
        <a:graphic>
          <a:graphicData uri="http://schemas.openxmlformats.org/presentationml/2006/ole">
            <mc:AlternateContent xmlns:mc="http://schemas.openxmlformats.org/markup-compatibility/2006">
              <mc:Choice xmlns:v="urn:schemas-microsoft-com:vml" Requires="v">
                <p:oleObj spid="_x0000_s23920" name="" r:id="rId13" imgW="761365" imgH="228600" progId="Equation.DSMT4">
                  <p:embed/>
                </p:oleObj>
              </mc:Choice>
              <mc:Fallback>
                <p:oleObj name="" r:id="rId13" imgW="761365" imgH="228600" progId="Equation.DSMT4">
                  <p:embed/>
                  <p:pic>
                    <p:nvPicPr>
                      <p:cNvPr id="0" name="对象 89118"/>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926262" y="2358333"/>
                        <a:ext cx="15763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4" name="下箭头 13"/>
          <p:cNvSpPr>
            <a:spLocks noChangeArrowheads="1"/>
          </p:cNvSpPr>
          <p:nvPr/>
        </p:nvSpPr>
        <p:spPr bwMode="auto">
          <a:xfrm>
            <a:off x="5410682" y="2832303"/>
            <a:ext cx="143980" cy="598767"/>
          </a:xfrm>
          <a:prstGeom prst="downArrow">
            <a:avLst>
              <a:gd name="adj1" fmla="val 50000"/>
              <a:gd name="adj2" fmla="val 62500"/>
            </a:avLst>
          </a:prstGeom>
          <a:solidFill>
            <a:srgbClr val="FF0000"/>
          </a:solidFill>
          <a:ln w="9525">
            <a:solidFill>
              <a:schemeClr val="tx1"/>
            </a:solidFill>
            <a:miter lim="800000"/>
          </a:ln>
        </p:spPr>
        <p:txBody>
          <a:bodyPr/>
          <a:lstStyle/>
          <a:p>
            <a:pPr eaLnBrk="0" hangingPunct="0"/>
            <a:endParaRPr lang="zh-CN" altLang="en-US">
              <a:ea typeface="宋体" panose="02010600030101010101" pitchFamily="2" charset="-122"/>
            </a:endParaRPr>
          </a:p>
        </p:txBody>
      </p:sp>
      <p:graphicFrame>
        <p:nvGraphicFramePr>
          <p:cNvPr id="15" name="对象 14"/>
          <p:cNvGraphicFramePr>
            <a:graphicFrameLocks noChangeAspect="1"/>
          </p:cNvGraphicFramePr>
          <p:nvPr/>
        </p:nvGraphicFramePr>
        <p:xfrm>
          <a:off x="4735512" y="3414439"/>
          <a:ext cx="1550988" cy="481012"/>
        </p:xfrm>
        <a:graphic>
          <a:graphicData uri="http://schemas.openxmlformats.org/presentationml/2006/ole">
            <mc:AlternateContent xmlns:mc="http://schemas.openxmlformats.org/markup-compatibility/2006">
              <mc:Choice xmlns:v="urn:schemas-microsoft-com:vml" Requires="v">
                <p:oleObj spid="_x0000_s23921" name="Equation" r:id="rId15" imgW="17678400" imgH="5486400" progId="Equation.DSMT4">
                  <p:embed/>
                </p:oleObj>
              </mc:Choice>
              <mc:Fallback>
                <p:oleObj name="Equation" r:id="rId15" imgW="17678400" imgH="5486400" progId="Equation.DSMT4">
                  <p:embed/>
                  <p:pic>
                    <p:nvPicPr>
                      <p:cNvPr id="0" name="对象 89097"/>
                      <p:cNvPicPr>
                        <a:picLocks noChangeArrowheads="1"/>
                      </p:cNvPicPr>
                      <p:nvPr/>
                    </p:nvPicPr>
                    <p:blipFill>
                      <a:blip r:embed="rId16"/>
                      <a:srcRect/>
                      <a:stretch>
                        <a:fillRect/>
                      </a:stretch>
                    </p:blipFill>
                    <p:spPr bwMode="auto">
                      <a:xfrm>
                        <a:off x="4735512" y="3414439"/>
                        <a:ext cx="1550988"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6" name="下箭头 15"/>
          <p:cNvSpPr>
            <a:spLocks noChangeArrowheads="1"/>
          </p:cNvSpPr>
          <p:nvPr/>
        </p:nvSpPr>
        <p:spPr bwMode="auto">
          <a:xfrm>
            <a:off x="1126125" y="2142434"/>
            <a:ext cx="175970" cy="1196974"/>
          </a:xfrm>
          <a:prstGeom prst="downArrow">
            <a:avLst>
              <a:gd name="adj1" fmla="val 50000"/>
              <a:gd name="adj2" fmla="val 62500"/>
            </a:avLst>
          </a:prstGeom>
          <a:solidFill>
            <a:srgbClr val="FF0000"/>
          </a:solidFill>
          <a:ln w="9525">
            <a:solidFill>
              <a:schemeClr val="tx1"/>
            </a:solidFill>
            <a:miter lim="800000"/>
          </a:ln>
        </p:spPr>
        <p:txBody>
          <a:bodyPr/>
          <a:lstStyle/>
          <a:p>
            <a:pPr eaLnBrk="0" hangingPunct="0"/>
            <a:endParaRPr lang="zh-CN" altLang="en-US">
              <a:ea typeface="宋体" panose="02010600030101010101" pitchFamily="2" charset="-122"/>
            </a:endParaRPr>
          </a:p>
        </p:txBody>
      </p:sp>
      <p:sp>
        <p:nvSpPr>
          <p:cNvPr id="17" name="左大括号 16"/>
          <p:cNvSpPr/>
          <p:nvPr/>
        </p:nvSpPr>
        <p:spPr>
          <a:xfrm rot="16200000">
            <a:off x="3092608" y="1910406"/>
            <a:ext cx="589722" cy="434671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矩形 17"/>
          <p:cNvSpPr/>
          <p:nvPr/>
        </p:nvSpPr>
        <p:spPr>
          <a:xfrm>
            <a:off x="769730" y="4328229"/>
            <a:ext cx="2102747" cy="707886"/>
          </a:xfrm>
          <a:prstGeom prst="rect">
            <a:avLst/>
          </a:prstGeom>
        </p:spPr>
        <p:txBody>
          <a:bodyPr wrap="square">
            <a:spAutoFit/>
          </a:bodyPr>
          <a:lstStyle/>
          <a:p>
            <a:r>
              <a:rPr lang="zh-CN" altLang="zh-CN" sz="2000" b="1" dirty="0" smtClean="0"/>
              <a:t>两式</a:t>
            </a:r>
            <a:r>
              <a:rPr lang="zh-CN" altLang="zh-CN" sz="2000" b="1" dirty="0"/>
              <a:t>的等号两边各自相比，得到</a:t>
            </a:r>
            <a:endParaRPr lang="zh-CN" altLang="en-US" sz="2000" b="1" dirty="0"/>
          </a:p>
        </p:txBody>
      </p:sp>
      <p:graphicFrame>
        <p:nvGraphicFramePr>
          <p:cNvPr id="20" name="对象 19"/>
          <p:cNvGraphicFramePr>
            <a:graphicFrameLocks noChangeAspect="1"/>
          </p:cNvGraphicFramePr>
          <p:nvPr/>
        </p:nvGraphicFramePr>
        <p:xfrm>
          <a:off x="2930318" y="4255367"/>
          <a:ext cx="1573530" cy="880110"/>
        </p:xfrm>
        <a:graphic>
          <a:graphicData uri="http://schemas.openxmlformats.org/presentationml/2006/ole">
            <mc:AlternateContent xmlns:mc="http://schemas.openxmlformats.org/markup-compatibility/2006">
              <mc:Choice xmlns:v="urn:schemas-microsoft-com:vml" Requires="v">
                <p:oleObj spid="_x0000_s23922" name="Equation" r:id="rId17" imgW="749300" imgH="419100" progId="Equation.DSMT4">
                  <p:embed/>
                </p:oleObj>
              </mc:Choice>
              <mc:Fallback>
                <p:oleObj name="Equation" r:id="rId17" imgW="749300" imgH="419100" progId="Equation.DSMT4">
                  <p:embed/>
                  <p:pic>
                    <p:nvPicPr>
                      <p:cNvPr id="0" name="Object 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30318" y="4255367"/>
                        <a:ext cx="1573530" cy="8801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对象 20"/>
          <p:cNvGraphicFramePr>
            <a:graphicFrameLocks noChangeAspect="1"/>
          </p:cNvGraphicFramePr>
          <p:nvPr/>
        </p:nvGraphicFramePr>
        <p:xfrm>
          <a:off x="5554662" y="4429489"/>
          <a:ext cx="1147763" cy="481012"/>
        </p:xfrm>
        <a:graphic>
          <a:graphicData uri="http://schemas.openxmlformats.org/presentationml/2006/ole">
            <mc:AlternateContent xmlns:mc="http://schemas.openxmlformats.org/markup-compatibility/2006">
              <mc:Choice xmlns:v="urn:schemas-microsoft-com:vml" Requires="v">
                <p:oleObj spid="_x0000_s23923" name="Equation" r:id="rId19" imgW="13106400" imgH="5486400" progId="Equation.DSMT4">
                  <p:embed/>
                </p:oleObj>
              </mc:Choice>
              <mc:Fallback>
                <p:oleObj name="Equation" r:id="rId19" imgW="13106400" imgH="5486400" progId="Equation.DSMT4">
                  <p:embed/>
                  <p:pic>
                    <p:nvPicPr>
                      <p:cNvPr id="0" name="对象 19"/>
                      <p:cNvPicPr>
                        <a:picLocks noChangeAspect="1" noChangeArrowheads="1"/>
                      </p:cNvPicPr>
                      <p:nvPr/>
                    </p:nvPicPr>
                    <p:blipFill>
                      <a:blip r:embed="rId20"/>
                      <a:srcRect/>
                      <a:stretch>
                        <a:fillRect/>
                      </a:stretch>
                    </p:blipFill>
                    <p:spPr bwMode="auto">
                      <a:xfrm>
                        <a:off x="5554662" y="4429489"/>
                        <a:ext cx="1147763" cy="481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矩形 21"/>
          <p:cNvSpPr/>
          <p:nvPr/>
        </p:nvSpPr>
        <p:spPr>
          <a:xfrm>
            <a:off x="4823515" y="4465641"/>
            <a:ext cx="2102747" cy="400110"/>
          </a:xfrm>
          <a:prstGeom prst="rect">
            <a:avLst/>
          </a:prstGeom>
        </p:spPr>
        <p:txBody>
          <a:bodyPr wrap="square">
            <a:spAutoFit/>
          </a:bodyPr>
          <a:lstStyle/>
          <a:p>
            <a:r>
              <a:rPr lang="zh-CN" altLang="en-US" sz="2000" b="1" dirty="0"/>
              <a:t>或</a:t>
            </a:r>
            <a:endParaRPr lang="zh-CN" altLang="en-US" sz="2000" b="1" dirty="0"/>
          </a:p>
        </p:txBody>
      </p:sp>
      <p:sp>
        <p:nvSpPr>
          <p:cNvPr id="33" name="矩形 32"/>
          <p:cNvSpPr/>
          <p:nvPr/>
        </p:nvSpPr>
        <p:spPr>
          <a:xfrm>
            <a:off x="333623" y="5312451"/>
            <a:ext cx="8486223" cy="830997"/>
          </a:xfrm>
          <a:prstGeom prst="rect">
            <a:avLst/>
          </a:prstGeom>
        </p:spPr>
        <p:txBody>
          <a:bodyPr wrap="square">
            <a:spAutoFit/>
          </a:bodyPr>
          <a:lstStyle/>
          <a:p>
            <a:r>
              <a:rPr lang="zh-CN" altLang="en-US" sz="2400" b="1" dirty="0" smtClean="0"/>
              <a:t>理想气体混合物各组元气体的分压力等于总压力与其摩尔分数的乘积</a:t>
            </a:r>
            <a:endParaRPr lang="zh-CN" altLang="en-US" sz="2400"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356" name="对象 100355"/>
          <p:cNvGraphicFramePr/>
          <p:nvPr/>
        </p:nvGraphicFramePr>
        <p:xfrm>
          <a:off x="452852" y="4738382"/>
          <a:ext cx="1452563" cy="430212"/>
        </p:xfrm>
        <a:graphic>
          <a:graphicData uri="http://schemas.openxmlformats.org/presentationml/2006/ole">
            <mc:AlternateContent xmlns:mc="http://schemas.openxmlformats.org/markup-compatibility/2006">
              <mc:Choice xmlns:v="urn:schemas-microsoft-com:vml" Requires="v">
                <p:oleObj spid="_x0000_s6538" name="" r:id="rId1" imgW="685165" imgH="203200" progId="Equation.DSMT4">
                  <p:embed/>
                </p:oleObj>
              </mc:Choice>
              <mc:Fallback>
                <p:oleObj name="" r:id="rId1" imgW="685165" imgH="203200" progId="Equation.DSMT4">
                  <p:embed/>
                  <p:pic>
                    <p:nvPicPr>
                      <p:cNvPr id="0" name="对象 10035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2852" y="4738382"/>
                        <a:ext cx="1452563"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0357" name="对象 100356"/>
          <p:cNvGraphicFramePr/>
          <p:nvPr/>
        </p:nvGraphicFramePr>
        <p:xfrm>
          <a:off x="4716463" y="3896902"/>
          <a:ext cx="1603375" cy="473075"/>
        </p:xfrm>
        <a:graphic>
          <a:graphicData uri="http://schemas.openxmlformats.org/presentationml/2006/ole">
            <mc:AlternateContent xmlns:mc="http://schemas.openxmlformats.org/markup-compatibility/2006">
              <mc:Choice xmlns:v="urn:schemas-microsoft-com:vml" Requires="v">
                <p:oleObj spid="_x0000_s6539" name="" r:id="rId3" imgW="774065" imgH="228600" progId="Equation.DSMT4">
                  <p:embed/>
                </p:oleObj>
              </mc:Choice>
              <mc:Fallback>
                <p:oleObj name="" r:id="rId3" imgW="774065" imgH="228600" progId="Equation.DSMT4">
                  <p:embed/>
                  <p:pic>
                    <p:nvPicPr>
                      <p:cNvPr id="0" name="对象 10035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6463" y="3896902"/>
                        <a:ext cx="160337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0358" name="双大括号 100357"/>
          <p:cNvSpPr>
            <a:spLocks noChangeArrowheads="1"/>
          </p:cNvSpPr>
          <p:nvPr/>
        </p:nvSpPr>
        <p:spPr bwMode="auto">
          <a:xfrm>
            <a:off x="2627313" y="3909602"/>
            <a:ext cx="6264275" cy="503237"/>
          </a:xfrm>
          <a:prstGeom prst="bracePair">
            <a:avLst>
              <a:gd name="adj" fmla="val 8333"/>
            </a:avLst>
          </a:prstGeom>
          <a:noFill/>
          <a:ln w="28575">
            <a:solidFill>
              <a:srgbClr val="FF0000"/>
            </a:solidFill>
            <a:rou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ea typeface="宋体" panose="02010600030101010101" pitchFamily="2" charset="-122"/>
            </a:endParaRPr>
          </a:p>
        </p:txBody>
      </p:sp>
      <p:sp>
        <p:nvSpPr>
          <p:cNvPr id="100359" name="下箭头 100358"/>
          <p:cNvSpPr>
            <a:spLocks noChangeArrowheads="1"/>
          </p:cNvSpPr>
          <p:nvPr/>
        </p:nvSpPr>
        <p:spPr bwMode="auto">
          <a:xfrm>
            <a:off x="5827644" y="4385301"/>
            <a:ext cx="89452" cy="381000"/>
          </a:xfrm>
          <a:prstGeom prst="downArrow">
            <a:avLst>
              <a:gd name="adj1" fmla="val 50000"/>
              <a:gd name="adj2" fmla="val 62500"/>
            </a:avLst>
          </a:prstGeom>
          <a:solidFill>
            <a:srgbClr val="FF0000"/>
          </a:solidFill>
          <a:ln w="9525">
            <a:solidFill>
              <a:schemeClr val="tx1"/>
            </a:solidFill>
            <a:miter lim="800000"/>
          </a:ln>
        </p:spPr>
        <p:txBody>
          <a:bodyPr/>
          <a:lstStyle/>
          <a:p>
            <a:pPr eaLnBrk="0" hangingPunct="0"/>
            <a:endParaRPr lang="zh-CN" altLang="en-US">
              <a:ea typeface="宋体" panose="02010600030101010101" pitchFamily="2" charset="-122"/>
            </a:endParaRPr>
          </a:p>
        </p:txBody>
      </p:sp>
      <p:graphicFrame>
        <p:nvGraphicFramePr>
          <p:cNvPr id="100360" name="对象 100359"/>
          <p:cNvGraphicFramePr/>
          <p:nvPr/>
        </p:nvGraphicFramePr>
        <p:xfrm>
          <a:off x="4261644" y="4738382"/>
          <a:ext cx="2995612" cy="481013"/>
        </p:xfrm>
        <a:graphic>
          <a:graphicData uri="http://schemas.openxmlformats.org/presentationml/2006/ole">
            <mc:AlternateContent xmlns:mc="http://schemas.openxmlformats.org/markup-compatibility/2006">
              <mc:Choice xmlns:v="urn:schemas-microsoft-com:vml" Requires="v">
                <p:oleObj spid="_x0000_s6540" name="" r:id="rId5" imgW="1422400" imgH="228600" progId="Equation.DSMT4">
                  <p:embed/>
                </p:oleObj>
              </mc:Choice>
              <mc:Fallback>
                <p:oleObj name="" r:id="rId5" imgW="1422400" imgH="228600" progId="Equation.DSMT4">
                  <p:embed/>
                  <p:pic>
                    <p:nvPicPr>
                      <p:cNvPr id="0" name="对象 10035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61644" y="4738382"/>
                        <a:ext cx="2995612" cy="48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0361" name="对象 100360"/>
          <p:cNvGraphicFramePr/>
          <p:nvPr/>
        </p:nvGraphicFramePr>
        <p:xfrm>
          <a:off x="2789238" y="5955335"/>
          <a:ext cx="1293813" cy="584200"/>
        </p:xfrm>
        <a:graphic>
          <a:graphicData uri="http://schemas.openxmlformats.org/presentationml/2006/ole">
            <mc:AlternateContent xmlns:mc="http://schemas.openxmlformats.org/markup-compatibility/2006">
              <mc:Choice xmlns:v="urn:schemas-microsoft-com:vml" Requires="v">
                <p:oleObj spid="_x0000_s6541" name="Equation" r:id="rId7" imgW="12192000" imgH="5486400" progId="Equation.DSMT4">
                  <p:embed/>
                </p:oleObj>
              </mc:Choice>
              <mc:Fallback>
                <p:oleObj name="Equation" r:id="rId7" imgW="12192000" imgH="5486400" progId="Equation.DSMT4">
                  <p:embed/>
                  <p:pic>
                    <p:nvPicPr>
                      <p:cNvPr id="0" name="对象 100360"/>
                      <p:cNvPicPr>
                        <a:picLocks noChangeArrowheads="1"/>
                      </p:cNvPicPr>
                      <p:nvPr/>
                    </p:nvPicPr>
                    <p:blipFill>
                      <a:blip r:embed="rId8"/>
                      <a:srcRect/>
                      <a:stretch>
                        <a:fillRect/>
                      </a:stretch>
                    </p:blipFill>
                    <p:spPr bwMode="auto">
                      <a:xfrm>
                        <a:off x="2789238" y="5955335"/>
                        <a:ext cx="1293813" cy="584200"/>
                      </a:xfrm>
                      <a:prstGeom prst="rect">
                        <a:avLst/>
                      </a:prstGeom>
                      <a:noFill/>
                      <a:ln w="25400">
                        <a:solidFill>
                          <a:schemeClr val="tx2"/>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0362" name="对象 100361"/>
          <p:cNvGraphicFramePr/>
          <p:nvPr/>
        </p:nvGraphicFramePr>
        <p:xfrm>
          <a:off x="395288" y="1750602"/>
          <a:ext cx="1531937" cy="1943100"/>
        </p:xfrm>
        <a:graphic>
          <a:graphicData uri="http://schemas.openxmlformats.org/presentationml/2006/ole">
            <mc:AlternateContent xmlns:mc="http://schemas.openxmlformats.org/markup-compatibility/2006">
              <mc:Choice xmlns:v="urn:schemas-microsoft-com:vml" Requires="v">
                <p:oleObj spid="_x0000_s6542" name="" r:id="rId9" imgW="1171575" imgH="1485900" progId="Paint.Picture">
                  <p:embed/>
                </p:oleObj>
              </mc:Choice>
              <mc:Fallback>
                <p:oleObj name="" r:id="rId9" imgW="1171575" imgH="1485900" progId="Paint.Picture">
                  <p:embed/>
                  <p:pic>
                    <p:nvPicPr>
                      <p:cNvPr id="0" name="对象 100361"/>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5288" y="1750602"/>
                        <a:ext cx="1531937"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0369" name="对象 100368"/>
          <p:cNvGraphicFramePr/>
          <p:nvPr/>
        </p:nvGraphicFramePr>
        <p:xfrm>
          <a:off x="2789238" y="3882614"/>
          <a:ext cx="1560512" cy="484188"/>
        </p:xfrm>
        <a:graphic>
          <a:graphicData uri="http://schemas.openxmlformats.org/presentationml/2006/ole">
            <mc:AlternateContent xmlns:mc="http://schemas.openxmlformats.org/markup-compatibility/2006">
              <mc:Choice xmlns:v="urn:schemas-microsoft-com:vml" Requires="v">
                <p:oleObj spid="_x0000_s6543" name="" r:id="rId11" imgW="736600" imgH="228600" progId="Equation.DSMT4">
                  <p:embed/>
                </p:oleObj>
              </mc:Choice>
              <mc:Fallback>
                <p:oleObj name="" r:id="rId11" imgW="736600" imgH="228600" progId="Equation.DSMT4">
                  <p:embed/>
                  <p:pic>
                    <p:nvPicPr>
                      <p:cNvPr id="0" name="对象 100368"/>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89238" y="3882614"/>
                        <a:ext cx="1560512" cy="48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0374" name="对象 100373"/>
          <p:cNvGraphicFramePr/>
          <p:nvPr/>
        </p:nvGraphicFramePr>
        <p:xfrm>
          <a:off x="6889750" y="3909602"/>
          <a:ext cx="1576388" cy="473075"/>
        </p:xfrm>
        <a:graphic>
          <a:graphicData uri="http://schemas.openxmlformats.org/presentationml/2006/ole">
            <mc:AlternateContent xmlns:mc="http://schemas.openxmlformats.org/markup-compatibility/2006">
              <mc:Choice xmlns:v="urn:schemas-microsoft-com:vml" Requires="v">
                <p:oleObj spid="_x0000_s6544" name="" r:id="rId13" imgW="761365" imgH="228600" progId="Equation.DSMT4">
                  <p:embed/>
                </p:oleObj>
              </mc:Choice>
              <mc:Fallback>
                <p:oleObj name="" r:id="rId13" imgW="761365" imgH="228600" progId="Equation.DSMT4">
                  <p:embed/>
                  <p:pic>
                    <p:nvPicPr>
                      <p:cNvPr id="0" name="对象 100373"/>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889750" y="3909602"/>
                        <a:ext cx="15763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100376" name="图片 10037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627313" y="1750602"/>
            <a:ext cx="1565275"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378" name="图片 10037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716463" y="1750602"/>
            <a:ext cx="1570037" cy="194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0383" name="组合 100382"/>
          <p:cNvGrpSpPr/>
          <p:nvPr/>
        </p:nvGrpSpPr>
        <p:grpSpPr bwMode="auto">
          <a:xfrm>
            <a:off x="6948488" y="1750602"/>
            <a:ext cx="1525587" cy="1871662"/>
            <a:chOff x="4377" y="1207"/>
            <a:chExt cx="961" cy="1179"/>
          </a:xfrm>
        </p:grpSpPr>
        <p:pic>
          <p:nvPicPr>
            <p:cNvPr id="27662" name="图片 10037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377" y="1207"/>
              <a:ext cx="961" cy="1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63" name="文本框 100379"/>
            <p:cNvSpPr txBox="1">
              <a:spLocks noChangeArrowheads="1"/>
            </p:cNvSpPr>
            <p:nvPr/>
          </p:nvSpPr>
          <p:spPr bwMode="auto">
            <a:xfrm>
              <a:off x="4830" y="157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a:solidFill>
                    <a:srgbClr val="000000"/>
                  </a:solidFill>
                  <a:latin typeface="Times New Roman" panose="02020603050405020304" pitchFamily="18" charset="0"/>
                  <a:ea typeface="宋体" panose="02010600030101010101" pitchFamily="2" charset="-122"/>
                </a:rPr>
                <a:t>3</a:t>
              </a:r>
              <a:endParaRPr lang="en-US" altLang="zh-CN" sz="2400">
                <a:solidFill>
                  <a:srgbClr val="000000"/>
                </a:solidFill>
                <a:latin typeface="Times New Roman" panose="02020603050405020304" pitchFamily="18" charset="0"/>
                <a:ea typeface="宋体" panose="02010600030101010101" pitchFamily="2" charset="-122"/>
              </a:endParaRPr>
            </a:p>
          </p:txBody>
        </p:sp>
        <p:sp>
          <p:nvSpPr>
            <p:cNvPr id="27664" name="文本框 100381"/>
            <p:cNvSpPr txBox="1">
              <a:spLocks noChangeArrowheads="1"/>
            </p:cNvSpPr>
            <p:nvPr/>
          </p:nvSpPr>
          <p:spPr bwMode="auto">
            <a:xfrm>
              <a:off x="4891" y="2053"/>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a:solidFill>
                    <a:srgbClr val="000000"/>
                  </a:solidFill>
                  <a:latin typeface="Times New Roman" panose="02020603050405020304" pitchFamily="18" charset="0"/>
                  <a:ea typeface="宋体" panose="02010600030101010101" pitchFamily="2" charset="-122"/>
                </a:rPr>
                <a:t>3</a:t>
              </a:r>
              <a:endParaRPr lang="en-US" altLang="zh-CN" sz="2400">
                <a:solidFill>
                  <a:srgbClr val="000000"/>
                </a:solidFill>
                <a:latin typeface="Times New Roman" panose="02020603050405020304" pitchFamily="18" charset="0"/>
                <a:ea typeface="宋体" panose="02010600030101010101" pitchFamily="2" charset="-122"/>
              </a:endParaRPr>
            </a:p>
          </p:txBody>
        </p:sp>
      </p:grpSp>
      <p:sp>
        <p:nvSpPr>
          <p:cNvPr id="20" name="矩形 19"/>
          <p:cNvSpPr/>
          <p:nvPr/>
        </p:nvSpPr>
        <p:spPr>
          <a:xfrm>
            <a:off x="305905" y="231170"/>
            <a:ext cx="4152099" cy="523220"/>
          </a:xfrm>
          <a:prstGeom prst="rect">
            <a:avLst/>
          </a:prstGeom>
        </p:spPr>
        <p:txBody>
          <a:bodyPr wrap="none">
            <a:spAutoFit/>
          </a:bodyPr>
          <a:lstStyle/>
          <a:p>
            <a:r>
              <a:rPr lang="zh-CN" altLang="en-US" sz="2800" b="1" dirty="0" smtClean="0"/>
              <a:t>二、分体积与分体积定律</a:t>
            </a:r>
            <a:endParaRPr lang="zh-CN" altLang="en-US" sz="2800" b="1" dirty="0"/>
          </a:p>
        </p:txBody>
      </p:sp>
      <p:sp>
        <p:nvSpPr>
          <p:cNvPr id="21" name="矩形 20"/>
          <p:cNvSpPr/>
          <p:nvPr/>
        </p:nvSpPr>
        <p:spPr>
          <a:xfrm>
            <a:off x="375617" y="860862"/>
            <a:ext cx="8486223" cy="830997"/>
          </a:xfrm>
          <a:prstGeom prst="rect">
            <a:avLst/>
          </a:prstGeom>
        </p:spPr>
        <p:txBody>
          <a:bodyPr wrap="square">
            <a:spAutoFit/>
          </a:bodyPr>
          <a:lstStyle/>
          <a:p>
            <a:r>
              <a:rPr lang="zh-CN" altLang="en-US" sz="2400" b="1" dirty="0" smtClean="0"/>
              <a:t>分体积——当混合气体中第</a:t>
            </a:r>
            <a:r>
              <a:rPr lang="en-US" altLang="zh-CN" sz="2400" b="1" i="1" dirty="0" err="1" smtClean="0">
                <a:latin typeface="Times New Roman" panose="02020603050405020304" pitchFamily="18" charset="0"/>
                <a:cs typeface="Times New Roman" panose="02020603050405020304" pitchFamily="18" charset="0"/>
              </a:rPr>
              <a:t>i</a:t>
            </a:r>
            <a:r>
              <a:rPr lang="zh-CN" altLang="en-US" sz="2400" b="1" dirty="0" smtClean="0"/>
              <a:t>种组元气体单独存在，并</a:t>
            </a:r>
            <a:r>
              <a:rPr lang="zh-CN" altLang="en-US" sz="2400" b="1" dirty="0"/>
              <a:t>处于混合物温度</a:t>
            </a:r>
            <a:r>
              <a:rPr lang="en-US" altLang="zh-CN" sz="2400" b="1" i="1" dirty="0" smtClean="0">
                <a:latin typeface="Times New Roman" panose="02020603050405020304" pitchFamily="18" charset="0"/>
                <a:cs typeface="Times New Roman" panose="02020603050405020304" pitchFamily="18" charset="0"/>
              </a:rPr>
              <a:t>T</a:t>
            </a:r>
            <a:r>
              <a:rPr lang="zh-CN" altLang="en-US" sz="2400" b="1" dirty="0" smtClean="0"/>
              <a:t>和压力</a:t>
            </a:r>
            <a:r>
              <a:rPr lang="en-US" altLang="zh-CN" sz="2400" b="1" i="1" dirty="0" smtClean="0">
                <a:latin typeface="Times New Roman" panose="02020603050405020304" pitchFamily="18" charset="0"/>
                <a:cs typeface="Times New Roman" panose="02020603050405020304" pitchFamily="18" charset="0"/>
              </a:rPr>
              <a:t>p</a:t>
            </a:r>
            <a:r>
              <a:rPr lang="zh-CN" altLang="en-US" sz="2400" b="1" dirty="0" smtClean="0"/>
              <a:t>时的体积，称为该组元的分体积，用</a:t>
            </a:r>
            <a:r>
              <a:rPr lang="en-US" altLang="zh-CN" sz="2400" b="1" i="1" dirty="0" smtClean="0">
                <a:latin typeface="Times New Roman" panose="02020603050405020304" pitchFamily="18" charset="0"/>
                <a:cs typeface="Times New Roman" panose="02020603050405020304" pitchFamily="18" charset="0"/>
              </a:rPr>
              <a:t>V</a:t>
            </a:r>
            <a:r>
              <a:rPr lang="en-US" altLang="zh-CN" sz="2400" b="1" i="1" baseline="-25000" dirty="0" smtClean="0">
                <a:latin typeface="Times New Roman" panose="02020603050405020304" pitchFamily="18" charset="0"/>
                <a:cs typeface="Times New Roman" panose="02020603050405020304" pitchFamily="18" charset="0"/>
              </a:rPr>
              <a:t>i</a:t>
            </a:r>
            <a:r>
              <a:rPr lang="zh-CN" altLang="en-US" sz="2400" b="1" dirty="0" smtClean="0"/>
              <a:t>表示                        </a:t>
            </a:r>
            <a:endParaRPr lang="zh-CN" altLang="en-US" sz="2400" b="1" dirty="0"/>
          </a:p>
        </p:txBody>
      </p:sp>
      <p:sp>
        <p:nvSpPr>
          <p:cNvPr id="22" name="左大括号 21"/>
          <p:cNvSpPr/>
          <p:nvPr/>
        </p:nvSpPr>
        <p:spPr>
          <a:xfrm rot="16200000">
            <a:off x="3173274" y="3160159"/>
            <a:ext cx="534886" cy="456844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 name="下箭头 22"/>
          <p:cNvSpPr>
            <a:spLocks noChangeArrowheads="1"/>
          </p:cNvSpPr>
          <p:nvPr/>
        </p:nvSpPr>
        <p:spPr bwMode="auto">
          <a:xfrm>
            <a:off x="3364517" y="5521325"/>
            <a:ext cx="152400" cy="381000"/>
          </a:xfrm>
          <a:prstGeom prst="downArrow">
            <a:avLst>
              <a:gd name="adj1" fmla="val 50000"/>
              <a:gd name="adj2" fmla="val 62500"/>
            </a:avLst>
          </a:prstGeom>
          <a:solidFill>
            <a:srgbClr val="FF0000"/>
          </a:solidFill>
          <a:ln w="9525">
            <a:solidFill>
              <a:schemeClr val="tx1"/>
            </a:solidFill>
            <a:miter lim="800000"/>
          </a:ln>
        </p:spPr>
        <p:txBody>
          <a:bodyPr/>
          <a:lstStyle/>
          <a:p>
            <a:pPr eaLnBrk="0" hangingPunct="0"/>
            <a:endParaRPr lang="zh-CN" altLang="en-US">
              <a:ea typeface="宋体" panose="02010600030101010101" pitchFamily="2" charset="-122"/>
            </a:endParaRPr>
          </a:p>
        </p:txBody>
      </p:sp>
      <p:sp>
        <p:nvSpPr>
          <p:cNvPr id="24" name="下箭头 23"/>
          <p:cNvSpPr>
            <a:spLocks noChangeArrowheads="1"/>
          </p:cNvSpPr>
          <p:nvPr/>
        </p:nvSpPr>
        <p:spPr bwMode="auto">
          <a:xfrm>
            <a:off x="1013655" y="3814141"/>
            <a:ext cx="142839" cy="715477"/>
          </a:xfrm>
          <a:prstGeom prst="downArrow">
            <a:avLst>
              <a:gd name="adj1" fmla="val 50000"/>
              <a:gd name="adj2" fmla="val 62500"/>
            </a:avLst>
          </a:prstGeom>
          <a:solidFill>
            <a:srgbClr val="FF0000"/>
          </a:solidFill>
          <a:ln w="9525">
            <a:solidFill>
              <a:schemeClr val="tx1"/>
            </a:solidFill>
            <a:miter lim="800000"/>
          </a:ln>
        </p:spPr>
        <p:txBody>
          <a:bodyPr/>
          <a:lstStyle/>
          <a:p>
            <a:pPr eaLnBrk="0" hangingPunct="0"/>
            <a:endParaRPr lang="zh-CN" altLang="en-US">
              <a:ea typeface="宋体" panose="02010600030101010101" pitchFamily="2" charset="-122"/>
            </a:endParaRPr>
          </a:p>
        </p:txBody>
      </p:sp>
    </p:spTree>
    <p:custDataLst>
      <p:tags r:id="rId18"/>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0362"/>
                                        </p:tgtEl>
                                        <p:attrNameLst>
                                          <p:attrName>style.visibility</p:attrName>
                                        </p:attrNameLst>
                                      </p:cBhvr>
                                      <p:to>
                                        <p:strVal val="visible"/>
                                      </p:to>
                                    </p:set>
                                    <p:animEffect transition="in" filter="blinds(horizontal)">
                                      <p:cBhvr>
                                        <p:cTn id="7" dur="500"/>
                                        <p:tgtEl>
                                          <p:spTgt spid="10036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0376"/>
                                        </p:tgtEl>
                                        <p:attrNameLst>
                                          <p:attrName>style.visibility</p:attrName>
                                        </p:attrNameLst>
                                      </p:cBhvr>
                                      <p:to>
                                        <p:strVal val="visible"/>
                                      </p:to>
                                    </p:set>
                                    <p:animEffect transition="in" filter="blinds(horizontal)">
                                      <p:cBhvr>
                                        <p:cTn id="12" dur="500"/>
                                        <p:tgtEl>
                                          <p:spTgt spid="10037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0378"/>
                                        </p:tgtEl>
                                        <p:attrNameLst>
                                          <p:attrName>style.visibility</p:attrName>
                                        </p:attrNameLst>
                                      </p:cBhvr>
                                      <p:to>
                                        <p:strVal val="visible"/>
                                      </p:to>
                                    </p:set>
                                    <p:animEffect transition="in" filter="blinds(horizontal)">
                                      <p:cBhvr>
                                        <p:cTn id="17" dur="500"/>
                                        <p:tgtEl>
                                          <p:spTgt spid="10037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00383"/>
                                        </p:tgtEl>
                                        <p:attrNameLst>
                                          <p:attrName>style.visibility</p:attrName>
                                        </p:attrNameLst>
                                      </p:cBhvr>
                                      <p:to>
                                        <p:strVal val="visible"/>
                                      </p:to>
                                    </p:set>
                                    <p:animEffect transition="in" filter="blinds(horizontal)">
                                      <p:cBhvr>
                                        <p:cTn id="22" dur="500"/>
                                        <p:tgtEl>
                                          <p:spTgt spid="10038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wipe(up)">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100356"/>
                                        </p:tgtEl>
                                        <p:attrNameLst>
                                          <p:attrName>style.visibility</p:attrName>
                                        </p:attrNameLst>
                                      </p:cBhvr>
                                      <p:to>
                                        <p:strVal val="visible"/>
                                      </p:to>
                                    </p:set>
                                    <p:animEffect transition="in" filter="box(out)">
                                      <p:cBhvr>
                                        <p:cTn id="32" dur="500"/>
                                        <p:tgtEl>
                                          <p:spTgt spid="100356"/>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00369"/>
                                        </p:tgtEl>
                                        <p:attrNameLst>
                                          <p:attrName>style.visibility</p:attrName>
                                        </p:attrNameLst>
                                      </p:cBhvr>
                                      <p:to>
                                        <p:strVal val="visible"/>
                                      </p:to>
                                    </p:set>
                                    <p:animEffect transition="in" filter="blinds(horizontal)">
                                      <p:cBhvr>
                                        <p:cTn id="37" dur="500"/>
                                        <p:tgtEl>
                                          <p:spTgt spid="10036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00357"/>
                                        </p:tgtEl>
                                        <p:attrNameLst>
                                          <p:attrName>style.visibility</p:attrName>
                                        </p:attrNameLst>
                                      </p:cBhvr>
                                      <p:to>
                                        <p:strVal val="visible"/>
                                      </p:to>
                                    </p:set>
                                    <p:animEffect transition="in" filter="blinds(horizontal)">
                                      <p:cBhvr>
                                        <p:cTn id="42" dur="500"/>
                                        <p:tgtEl>
                                          <p:spTgt spid="100357"/>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00374"/>
                                        </p:tgtEl>
                                        <p:attrNameLst>
                                          <p:attrName>style.visibility</p:attrName>
                                        </p:attrNameLst>
                                      </p:cBhvr>
                                      <p:to>
                                        <p:strVal val="visible"/>
                                      </p:to>
                                    </p:set>
                                    <p:animEffect transition="in" filter="blinds(horizontal)">
                                      <p:cBhvr>
                                        <p:cTn id="47" dur="500"/>
                                        <p:tgtEl>
                                          <p:spTgt spid="100374"/>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100358"/>
                                        </p:tgtEl>
                                        <p:attrNameLst>
                                          <p:attrName>style.visibility</p:attrName>
                                        </p:attrNameLst>
                                      </p:cBhvr>
                                      <p:to>
                                        <p:strVal val="visible"/>
                                      </p:to>
                                    </p:set>
                                    <p:animEffect transition="in" filter="blinds(horizontal)">
                                      <p:cBhvr>
                                        <p:cTn id="52" dur="500"/>
                                        <p:tgtEl>
                                          <p:spTgt spid="10035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100359"/>
                                        </p:tgtEl>
                                        <p:attrNameLst>
                                          <p:attrName>style.visibility</p:attrName>
                                        </p:attrNameLst>
                                      </p:cBhvr>
                                      <p:to>
                                        <p:strVal val="visible"/>
                                      </p:to>
                                    </p:set>
                                    <p:animEffect transition="in" filter="wipe(up)">
                                      <p:cBhvr>
                                        <p:cTn id="57" dur="500"/>
                                        <p:tgtEl>
                                          <p:spTgt spid="100359"/>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100360"/>
                                        </p:tgtEl>
                                        <p:attrNameLst>
                                          <p:attrName>style.visibility</p:attrName>
                                        </p:attrNameLst>
                                      </p:cBhvr>
                                      <p:to>
                                        <p:strVal val="visible"/>
                                      </p:to>
                                    </p:set>
                                    <p:animEffect transition="in" filter="blinds(horizontal)">
                                      <p:cBhvr>
                                        <p:cTn id="62" dur="500"/>
                                        <p:tgtEl>
                                          <p:spTgt spid="100360"/>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wipe(up)">
                                      <p:cBhvr>
                                        <p:cTn id="67" dur="500"/>
                                        <p:tgtEl>
                                          <p:spTgt spid="22"/>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blinds(horizontal)">
                                      <p:cBhvr>
                                        <p:cTn id="72" dur="500"/>
                                        <p:tgtEl>
                                          <p:spTgt spid="23"/>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100361"/>
                                        </p:tgtEl>
                                        <p:attrNameLst>
                                          <p:attrName>style.visibility</p:attrName>
                                        </p:attrNameLst>
                                      </p:cBhvr>
                                      <p:to>
                                        <p:strVal val="visible"/>
                                      </p:to>
                                    </p:set>
                                    <p:animEffect transition="in" filter="blinds(horizontal)">
                                      <p:cBhvr>
                                        <p:cTn id="77" dur="500"/>
                                        <p:tgtEl>
                                          <p:spTgt spid="1003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矩形 101386"/>
          <p:cNvSpPr>
            <a:spLocks noChangeArrowheads="1"/>
          </p:cNvSpPr>
          <p:nvPr/>
        </p:nvSpPr>
        <p:spPr bwMode="auto">
          <a:xfrm>
            <a:off x="0" y="28098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
        <p:nvSpPr>
          <p:cNvPr id="2" name="矩形 1"/>
          <p:cNvSpPr/>
          <p:nvPr/>
        </p:nvSpPr>
        <p:spPr>
          <a:xfrm>
            <a:off x="371060" y="1596383"/>
            <a:ext cx="8401879" cy="1384995"/>
          </a:xfrm>
          <a:prstGeom prst="rect">
            <a:avLst/>
          </a:prstGeom>
        </p:spPr>
        <p:txBody>
          <a:bodyPr wrap="square">
            <a:spAutoFit/>
          </a:bodyPr>
          <a:lstStyle/>
          <a:p>
            <a:r>
              <a:rPr lang="zh-CN" altLang="en-US" sz="2800" b="1" dirty="0" smtClean="0">
                <a:latin typeface="Times New Roman" panose="02020603050405020304" pitchFamily="18" charset="0"/>
                <a:cs typeface="Times New Roman" panose="02020603050405020304" pitchFamily="18" charset="0"/>
              </a:rPr>
              <a:t>理想气体</a:t>
            </a:r>
            <a:r>
              <a:rPr lang="zh-CN" altLang="en-US" sz="2800" b="1" dirty="0">
                <a:latin typeface="Times New Roman" panose="02020603050405020304" pitchFamily="18" charset="0"/>
                <a:cs typeface="Times New Roman" panose="02020603050405020304" pitchFamily="18" charset="0"/>
              </a:rPr>
              <a:t>混合物的总体积</a:t>
            </a:r>
            <a:r>
              <a:rPr lang="zh-CN" altLang="en-US" sz="2800" b="1" i="1" dirty="0">
                <a:latin typeface="Times New Roman" panose="02020603050405020304" pitchFamily="18" charset="0"/>
                <a:cs typeface="Times New Roman" panose="02020603050405020304" pitchFamily="18" charset="0"/>
              </a:rPr>
              <a:t>V</a:t>
            </a:r>
            <a:r>
              <a:rPr lang="zh-CN" altLang="en-US" sz="2800" b="1" dirty="0">
                <a:latin typeface="Times New Roman" panose="02020603050405020304" pitchFamily="18" charset="0"/>
                <a:cs typeface="Times New Roman" panose="02020603050405020304" pitchFamily="18" charset="0"/>
              </a:rPr>
              <a:t>等于各组元气体分体积</a:t>
            </a:r>
            <a:r>
              <a:rPr lang="zh-CN" altLang="en-US" sz="2800" b="1" i="1" dirty="0">
                <a:latin typeface="Times New Roman" panose="02020603050405020304" pitchFamily="18" charset="0"/>
                <a:cs typeface="Times New Roman" panose="02020603050405020304" pitchFamily="18" charset="0"/>
              </a:rPr>
              <a:t>V</a:t>
            </a:r>
            <a:r>
              <a:rPr lang="zh-CN" altLang="en-US" sz="2800" b="1" i="1" baseline="-25000" dirty="0">
                <a:latin typeface="Times New Roman" panose="02020603050405020304" pitchFamily="18" charset="0"/>
                <a:cs typeface="Times New Roman" panose="02020603050405020304" pitchFamily="18" charset="0"/>
              </a:rPr>
              <a:t>i</a:t>
            </a:r>
            <a:r>
              <a:rPr lang="zh-CN" altLang="en-US" sz="2800" b="1" dirty="0">
                <a:latin typeface="Times New Roman" panose="02020603050405020304" pitchFamily="18" charset="0"/>
                <a:cs typeface="Times New Roman" panose="02020603050405020304" pitchFamily="18" charset="0"/>
              </a:rPr>
              <a:t>之和</a:t>
            </a:r>
            <a:r>
              <a:rPr lang="zh-CN" altLang="en-US" sz="2800" b="1" dirty="0" smtClean="0">
                <a:latin typeface="Times New Roman" panose="02020603050405020304" pitchFamily="18" charset="0"/>
                <a:cs typeface="Times New Roman" panose="02020603050405020304" pitchFamily="18" charset="0"/>
              </a:rPr>
              <a:t>，这个关系称为阿</a:t>
            </a:r>
            <a:r>
              <a:rPr lang="zh-CN" altLang="en-US" sz="2800" b="1" dirty="0">
                <a:latin typeface="Times New Roman" panose="02020603050405020304" pitchFamily="18" charset="0"/>
                <a:cs typeface="Times New Roman" panose="02020603050405020304" pitchFamily="18" charset="0"/>
              </a:rPr>
              <a:t>马伽 （Amagat）分体积</a:t>
            </a:r>
            <a:r>
              <a:rPr lang="zh-CN" altLang="en-US" sz="2800" b="1" dirty="0" smtClean="0">
                <a:latin typeface="Times New Roman" panose="02020603050405020304" pitchFamily="18" charset="0"/>
                <a:cs typeface="Times New Roman" panose="02020603050405020304" pitchFamily="18" charset="0"/>
              </a:rPr>
              <a:t>定律，以</a:t>
            </a:r>
            <a:r>
              <a:rPr lang="zh-CN" altLang="en-US" sz="2800" b="1" dirty="0">
                <a:latin typeface="Times New Roman" panose="02020603050405020304" pitchFamily="18" charset="0"/>
                <a:cs typeface="Times New Roman" panose="02020603050405020304" pitchFamily="18" charset="0"/>
              </a:rPr>
              <a:t>法国物理学家Emile Amagat（1841-1915）命名。</a:t>
            </a:r>
            <a:endParaRPr lang="zh-CN" altLang="en-US" sz="2800" b="1" dirty="0">
              <a:latin typeface="Times New Roman" panose="02020603050405020304" pitchFamily="18" charset="0"/>
              <a:cs typeface="Times New Roman" panose="02020603050405020304" pitchFamily="18" charset="0"/>
            </a:endParaRPr>
          </a:p>
        </p:txBody>
      </p:sp>
      <p:graphicFrame>
        <p:nvGraphicFramePr>
          <p:cNvPr id="7" name="对象 6"/>
          <p:cNvGraphicFramePr>
            <a:graphicFrameLocks noChangeAspect="1"/>
          </p:cNvGraphicFramePr>
          <p:nvPr/>
        </p:nvGraphicFramePr>
        <p:xfrm>
          <a:off x="3505991" y="475563"/>
          <a:ext cx="1727064" cy="777240"/>
        </p:xfrm>
        <a:graphic>
          <a:graphicData uri="http://schemas.openxmlformats.org/presentationml/2006/ole">
            <mc:AlternateContent xmlns:mc="http://schemas.openxmlformats.org/markup-compatibility/2006">
              <mc:Choice xmlns:v="urn:schemas-microsoft-com:vml" Requires="v">
                <p:oleObj spid="_x0000_s24603" name="Equation" r:id="rId1" imgW="12192000" imgH="5486400" progId="Equation.DSMT4">
                  <p:embed/>
                </p:oleObj>
              </mc:Choice>
              <mc:Fallback>
                <p:oleObj name="Equation" r:id="rId1" imgW="12192000" imgH="5486400" progId="Equation.DSMT4">
                  <p:embed/>
                  <p:pic>
                    <p:nvPicPr>
                      <p:cNvPr id="0" name="对象 100360"/>
                      <p:cNvPicPr>
                        <a:picLocks noChangeArrowheads="1"/>
                      </p:cNvPicPr>
                      <p:nvPr/>
                    </p:nvPicPr>
                    <p:blipFill>
                      <a:blip r:embed="rId2"/>
                      <a:srcRect/>
                      <a:stretch>
                        <a:fillRect/>
                      </a:stretch>
                    </p:blipFill>
                    <p:spPr bwMode="auto">
                      <a:xfrm>
                        <a:off x="3505991" y="475563"/>
                        <a:ext cx="1727064" cy="777240"/>
                      </a:xfrm>
                      <a:prstGeom prst="rect">
                        <a:avLst/>
                      </a:prstGeom>
                      <a:noFill/>
                      <a:ln w="25400">
                        <a:solidFill>
                          <a:schemeClr val="tx2"/>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p:nvPr/>
        </p:nvGraphicFramePr>
        <p:xfrm>
          <a:off x="459478" y="3346905"/>
          <a:ext cx="1452563" cy="430212"/>
        </p:xfrm>
        <a:graphic>
          <a:graphicData uri="http://schemas.openxmlformats.org/presentationml/2006/ole">
            <mc:AlternateContent xmlns:mc="http://schemas.openxmlformats.org/markup-compatibility/2006">
              <mc:Choice xmlns:v="urn:schemas-microsoft-com:vml" Requires="v">
                <p:oleObj spid="_x0000_s26816" name="" r:id="rId1" imgW="685165" imgH="203200" progId="Equation.DSMT4">
                  <p:embed/>
                </p:oleObj>
              </mc:Choice>
              <mc:Fallback>
                <p:oleObj name="" r:id="rId1" imgW="685165" imgH="203200" progId="Equation.DSMT4">
                  <p:embed/>
                  <p:pic>
                    <p:nvPicPr>
                      <p:cNvPr id="0" name="对象 10035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9478" y="3346905"/>
                        <a:ext cx="1452563"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 name="对象 2"/>
          <p:cNvGraphicFramePr/>
          <p:nvPr/>
        </p:nvGraphicFramePr>
        <p:xfrm>
          <a:off x="4723089" y="2505425"/>
          <a:ext cx="1603375" cy="473075"/>
        </p:xfrm>
        <a:graphic>
          <a:graphicData uri="http://schemas.openxmlformats.org/presentationml/2006/ole">
            <mc:AlternateContent xmlns:mc="http://schemas.openxmlformats.org/markup-compatibility/2006">
              <mc:Choice xmlns:v="urn:schemas-microsoft-com:vml" Requires="v">
                <p:oleObj spid="_x0000_s26817" name="" r:id="rId3" imgW="774065" imgH="228600" progId="Equation.DSMT4">
                  <p:embed/>
                </p:oleObj>
              </mc:Choice>
              <mc:Fallback>
                <p:oleObj name="" r:id="rId3" imgW="774065" imgH="228600" progId="Equation.DSMT4">
                  <p:embed/>
                  <p:pic>
                    <p:nvPicPr>
                      <p:cNvPr id="0" name="对象 10035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3089" y="2505425"/>
                        <a:ext cx="160337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 name="双大括号 3"/>
          <p:cNvSpPr>
            <a:spLocks noChangeArrowheads="1"/>
          </p:cNvSpPr>
          <p:nvPr/>
        </p:nvSpPr>
        <p:spPr bwMode="auto">
          <a:xfrm>
            <a:off x="2633939" y="2518125"/>
            <a:ext cx="6264275" cy="503237"/>
          </a:xfrm>
          <a:prstGeom prst="bracePair">
            <a:avLst>
              <a:gd name="adj" fmla="val 8333"/>
            </a:avLst>
          </a:prstGeom>
          <a:noFill/>
          <a:ln w="28575">
            <a:solidFill>
              <a:srgbClr val="FF0000"/>
            </a:solidFill>
            <a:rou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ea typeface="宋体" panose="02010600030101010101" pitchFamily="2" charset="-122"/>
            </a:endParaRPr>
          </a:p>
        </p:txBody>
      </p:sp>
      <p:sp>
        <p:nvSpPr>
          <p:cNvPr id="5" name="下箭头 4"/>
          <p:cNvSpPr>
            <a:spLocks noChangeArrowheads="1"/>
          </p:cNvSpPr>
          <p:nvPr/>
        </p:nvSpPr>
        <p:spPr bwMode="auto">
          <a:xfrm>
            <a:off x="5834270" y="2993824"/>
            <a:ext cx="89452" cy="381000"/>
          </a:xfrm>
          <a:prstGeom prst="downArrow">
            <a:avLst>
              <a:gd name="adj1" fmla="val 50000"/>
              <a:gd name="adj2" fmla="val 62500"/>
            </a:avLst>
          </a:prstGeom>
          <a:solidFill>
            <a:srgbClr val="FF0000"/>
          </a:solidFill>
          <a:ln w="9525">
            <a:solidFill>
              <a:schemeClr val="tx1"/>
            </a:solidFill>
            <a:miter lim="800000"/>
          </a:ln>
        </p:spPr>
        <p:txBody>
          <a:bodyPr/>
          <a:lstStyle/>
          <a:p>
            <a:pPr eaLnBrk="0" hangingPunct="0"/>
            <a:endParaRPr lang="zh-CN" altLang="en-US">
              <a:ea typeface="宋体" panose="02010600030101010101" pitchFamily="2" charset="-122"/>
            </a:endParaRPr>
          </a:p>
        </p:txBody>
      </p:sp>
      <p:graphicFrame>
        <p:nvGraphicFramePr>
          <p:cNvPr id="6" name="对象 5"/>
          <p:cNvGraphicFramePr/>
          <p:nvPr/>
        </p:nvGraphicFramePr>
        <p:xfrm>
          <a:off x="4268270" y="3346905"/>
          <a:ext cx="2995612" cy="481013"/>
        </p:xfrm>
        <a:graphic>
          <a:graphicData uri="http://schemas.openxmlformats.org/presentationml/2006/ole">
            <mc:AlternateContent xmlns:mc="http://schemas.openxmlformats.org/markup-compatibility/2006">
              <mc:Choice xmlns:v="urn:schemas-microsoft-com:vml" Requires="v">
                <p:oleObj spid="_x0000_s26818" name="" r:id="rId5" imgW="1422400" imgH="228600" progId="Equation.DSMT4">
                  <p:embed/>
                </p:oleObj>
              </mc:Choice>
              <mc:Fallback>
                <p:oleObj name="" r:id="rId5" imgW="1422400" imgH="228600" progId="Equation.DSMT4">
                  <p:embed/>
                  <p:pic>
                    <p:nvPicPr>
                      <p:cNvPr id="0" name="对象 10035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68270" y="3346905"/>
                        <a:ext cx="2995612" cy="48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 name="对象 6"/>
          <p:cNvGraphicFramePr/>
          <p:nvPr/>
        </p:nvGraphicFramePr>
        <p:xfrm>
          <a:off x="401914" y="359125"/>
          <a:ext cx="1531937" cy="1943100"/>
        </p:xfrm>
        <a:graphic>
          <a:graphicData uri="http://schemas.openxmlformats.org/presentationml/2006/ole">
            <mc:AlternateContent xmlns:mc="http://schemas.openxmlformats.org/markup-compatibility/2006">
              <mc:Choice xmlns:v="urn:schemas-microsoft-com:vml" Requires="v">
                <p:oleObj spid="_x0000_s26819" name="" r:id="rId7" imgW="1171575" imgH="1485900" progId="Paint.Picture">
                  <p:embed/>
                </p:oleObj>
              </mc:Choice>
              <mc:Fallback>
                <p:oleObj name="" r:id="rId7" imgW="1171575" imgH="1485900" progId="Paint.Picture">
                  <p:embed/>
                  <p:pic>
                    <p:nvPicPr>
                      <p:cNvPr id="0" name="对象 100361"/>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1914" y="359125"/>
                        <a:ext cx="1531937"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 name="对象 7"/>
          <p:cNvGraphicFramePr/>
          <p:nvPr/>
        </p:nvGraphicFramePr>
        <p:xfrm>
          <a:off x="2795864" y="2491137"/>
          <a:ext cx="1560512" cy="484188"/>
        </p:xfrm>
        <a:graphic>
          <a:graphicData uri="http://schemas.openxmlformats.org/presentationml/2006/ole">
            <mc:AlternateContent xmlns:mc="http://schemas.openxmlformats.org/markup-compatibility/2006">
              <mc:Choice xmlns:v="urn:schemas-microsoft-com:vml" Requires="v">
                <p:oleObj spid="_x0000_s26820" name="" r:id="rId9" imgW="736600" imgH="228600" progId="Equation.DSMT4">
                  <p:embed/>
                </p:oleObj>
              </mc:Choice>
              <mc:Fallback>
                <p:oleObj name="" r:id="rId9" imgW="736600" imgH="228600" progId="Equation.DSMT4">
                  <p:embed/>
                  <p:pic>
                    <p:nvPicPr>
                      <p:cNvPr id="0" name="对象 100368"/>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95864" y="2491137"/>
                        <a:ext cx="1560512" cy="48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 name="对象 8"/>
          <p:cNvGraphicFramePr/>
          <p:nvPr/>
        </p:nvGraphicFramePr>
        <p:xfrm>
          <a:off x="6896376" y="2518125"/>
          <a:ext cx="1576388" cy="473075"/>
        </p:xfrm>
        <a:graphic>
          <a:graphicData uri="http://schemas.openxmlformats.org/presentationml/2006/ole">
            <mc:AlternateContent xmlns:mc="http://schemas.openxmlformats.org/markup-compatibility/2006">
              <mc:Choice xmlns:v="urn:schemas-microsoft-com:vml" Requires="v">
                <p:oleObj spid="_x0000_s26821" name="" r:id="rId11" imgW="761365" imgH="228600" progId="Equation.DSMT4">
                  <p:embed/>
                </p:oleObj>
              </mc:Choice>
              <mc:Fallback>
                <p:oleObj name="" r:id="rId11" imgW="761365" imgH="228600" progId="Equation.DSMT4">
                  <p:embed/>
                  <p:pic>
                    <p:nvPicPr>
                      <p:cNvPr id="0" name="对象 100373"/>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96376" y="2518125"/>
                        <a:ext cx="15763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10" name="图片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33939" y="359125"/>
            <a:ext cx="1565275"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23089" y="359125"/>
            <a:ext cx="1570037" cy="194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 name="组合 11"/>
          <p:cNvGrpSpPr/>
          <p:nvPr/>
        </p:nvGrpSpPr>
        <p:grpSpPr bwMode="auto">
          <a:xfrm>
            <a:off x="6955114" y="359125"/>
            <a:ext cx="1525587" cy="1871662"/>
            <a:chOff x="4377" y="1207"/>
            <a:chExt cx="961" cy="1179"/>
          </a:xfrm>
        </p:grpSpPr>
        <p:pic>
          <p:nvPicPr>
            <p:cNvPr id="13" name="图片 10037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377" y="1207"/>
              <a:ext cx="961" cy="1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文本框 100379"/>
            <p:cNvSpPr txBox="1">
              <a:spLocks noChangeArrowheads="1"/>
            </p:cNvSpPr>
            <p:nvPr/>
          </p:nvSpPr>
          <p:spPr bwMode="auto">
            <a:xfrm>
              <a:off x="4830" y="157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a:solidFill>
                    <a:srgbClr val="000000"/>
                  </a:solidFill>
                  <a:latin typeface="Times New Roman" panose="02020603050405020304" pitchFamily="18" charset="0"/>
                  <a:ea typeface="宋体" panose="02010600030101010101" pitchFamily="2" charset="-122"/>
                </a:rPr>
                <a:t>3</a:t>
              </a:r>
              <a:endParaRPr lang="en-US" altLang="zh-CN" sz="2400">
                <a:solidFill>
                  <a:srgbClr val="000000"/>
                </a:solidFill>
                <a:latin typeface="Times New Roman" panose="02020603050405020304" pitchFamily="18" charset="0"/>
                <a:ea typeface="宋体" panose="02010600030101010101" pitchFamily="2" charset="-122"/>
              </a:endParaRPr>
            </a:p>
          </p:txBody>
        </p:sp>
        <p:sp>
          <p:nvSpPr>
            <p:cNvPr id="15" name="文本框 100381"/>
            <p:cNvSpPr txBox="1">
              <a:spLocks noChangeArrowheads="1"/>
            </p:cNvSpPr>
            <p:nvPr/>
          </p:nvSpPr>
          <p:spPr bwMode="auto">
            <a:xfrm>
              <a:off x="4891" y="2053"/>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a:solidFill>
                    <a:srgbClr val="000000"/>
                  </a:solidFill>
                  <a:latin typeface="Times New Roman" panose="02020603050405020304" pitchFamily="18" charset="0"/>
                  <a:ea typeface="宋体" panose="02010600030101010101" pitchFamily="2" charset="-122"/>
                </a:rPr>
                <a:t>3</a:t>
              </a:r>
              <a:endParaRPr lang="en-US" altLang="zh-CN" sz="2400">
                <a:solidFill>
                  <a:srgbClr val="000000"/>
                </a:solidFill>
                <a:latin typeface="Times New Roman" panose="02020603050405020304" pitchFamily="18" charset="0"/>
                <a:ea typeface="宋体" panose="02010600030101010101" pitchFamily="2" charset="-122"/>
              </a:endParaRPr>
            </a:p>
          </p:txBody>
        </p:sp>
      </p:grpSp>
      <p:sp>
        <p:nvSpPr>
          <p:cNvPr id="16" name="下箭头 15"/>
          <p:cNvSpPr>
            <a:spLocks noChangeArrowheads="1"/>
          </p:cNvSpPr>
          <p:nvPr/>
        </p:nvSpPr>
        <p:spPr bwMode="auto">
          <a:xfrm>
            <a:off x="1020281" y="2422664"/>
            <a:ext cx="142839" cy="715477"/>
          </a:xfrm>
          <a:prstGeom prst="downArrow">
            <a:avLst>
              <a:gd name="adj1" fmla="val 50000"/>
              <a:gd name="adj2" fmla="val 62500"/>
            </a:avLst>
          </a:prstGeom>
          <a:solidFill>
            <a:srgbClr val="FF0000"/>
          </a:solidFill>
          <a:ln w="9525">
            <a:solidFill>
              <a:schemeClr val="tx1"/>
            </a:solidFill>
            <a:miter lim="800000"/>
          </a:ln>
        </p:spPr>
        <p:txBody>
          <a:bodyPr/>
          <a:lstStyle/>
          <a:p>
            <a:pPr eaLnBrk="0" hangingPunct="0"/>
            <a:endParaRPr lang="zh-CN" altLang="en-US">
              <a:ea typeface="宋体" panose="02010600030101010101" pitchFamily="2" charset="-122"/>
            </a:endParaRPr>
          </a:p>
        </p:txBody>
      </p:sp>
      <p:sp>
        <p:nvSpPr>
          <p:cNvPr id="17" name="左大括号 16"/>
          <p:cNvSpPr/>
          <p:nvPr/>
        </p:nvSpPr>
        <p:spPr>
          <a:xfrm rot="16200000">
            <a:off x="3092608" y="1824268"/>
            <a:ext cx="589722" cy="434671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矩形 17"/>
          <p:cNvSpPr/>
          <p:nvPr/>
        </p:nvSpPr>
        <p:spPr>
          <a:xfrm>
            <a:off x="769730" y="4242091"/>
            <a:ext cx="2102747" cy="707886"/>
          </a:xfrm>
          <a:prstGeom prst="rect">
            <a:avLst/>
          </a:prstGeom>
        </p:spPr>
        <p:txBody>
          <a:bodyPr wrap="square">
            <a:spAutoFit/>
          </a:bodyPr>
          <a:lstStyle/>
          <a:p>
            <a:r>
              <a:rPr lang="zh-CN" altLang="zh-CN" sz="2000" b="1" dirty="0" smtClean="0"/>
              <a:t>两式</a:t>
            </a:r>
            <a:r>
              <a:rPr lang="zh-CN" altLang="zh-CN" sz="2000" b="1" dirty="0"/>
              <a:t>的等号两边各自相比，得到</a:t>
            </a:r>
            <a:endParaRPr lang="zh-CN" altLang="en-US" sz="2000" b="1" dirty="0"/>
          </a:p>
        </p:txBody>
      </p:sp>
      <p:graphicFrame>
        <p:nvGraphicFramePr>
          <p:cNvPr id="19" name="对象 18"/>
          <p:cNvGraphicFramePr>
            <a:graphicFrameLocks noChangeAspect="1"/>
          </p:cNvGraphicFramePr>
          <p:nvPr/>
        </p:nvGraphicFramePr>
        <p:xfrm>
          <a:off x="2943225" y="4196937"/>
          <a:ext cx="1546225" cy="825500"/>
        </p:xfrm>
        <a:graphic>
          <a:graphicData uri="http://schemas.openxmlformats.org/presentationml/2006/ole">
            <mc:AlternateContent xmlns:mc="http://schemas.openxmlformats.org/markup-compatibility/2006">
              <mc:Choice xmlns:v="urn:schemas-microsoft-com:vml" Requires="v">
                <p:oleObj spid="_x0000_s26822" name="Equation" r:id="rId16" imgW="17678400" imgH="9448800" progId="Equation.DSMT4">
                  <p:embed/>
                </p:oleObj>
              </mc:Choice>
              <mc:Fallback>
                <p:oleObj name="Equation" r:id="rId16" imgW="17678400" imgH="9448800" progId="Equation.DSMT4">
                  <p:embed/>
                  <p:pic>
                    <p:nvPicPr>
                      <p:cNvPr id="0" name="对象 19"/>
                      <p:cNvPicPr>
                        <a:picLocks noChangeAspect="1" noChangeArrowheads="1"/>
                      </p:cNvPicPr>
                      <p:nvPr/>
                    </p:nvPicPr>
                    <p:blipFill>
                      <a:blip r:embed="rId17"/>
                      <a:srcRect/>
                      <a:stretch>
                        <a:fillRect/>
                      </a:stretch>
                    </p:blipFill>
                    <p:spPr bwMode="auto">
                      <a:xfrm>
                        <a:off x="2943225" y="4196937"/>
                        <a:ext cx="1546225" cy="825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矩形 19"/>
          <p:cNvSpPr/>
          <p:nvPr/>
        </p:nvSpPr>
        <p:spPr>
          <a:xfrm>
            <a:off x="4929533" y="4391739"/>
            <a:ext cx="2102747" cy="400110"/>
          </a:xfrm>
          <a:prstGeom prst="rect">
            <a:avLst/>
          </a:prstGeom>
        </p:spPr>
        <p:txBody>
          <a:bodyPr wrap="square">
            <a:spAutoFit/>
          </a:bodyPr>
          <a:lstStyle/>
          <a:p>
            <a:r>
              <a:rPr lang="zh-CN" altLang="en-US" sz="2000" b="1" dirty="0"/>
              <a:t>或</a:t>
            </a:r>
            <a:endParaRPr lang="zh-CN" altLang="en-US" sz="2000" b="1" dirty="0"/>
          </a:p>
        </p:txBody>
      </p:sp>
      <p:sp>
        <p:nvSpPr>
          <p:cNvPr id="21" name="矩形 20"/>
          <p:cNvSpPr/>
          <p:nvPr/>
        </p:nvSpPr>
        <p:spPr>
          <a:xfrm>
            <a:off x="320371" y="5071912"/>
            <a:ext cx="8486223" cy="830997"/>
          </a:xfrm>
          <a:prstGeom prst="rect">
            <a:avLst/>
          </a:prstGeom>
        </p:spPr>
        <p:txBody>
          <a:bodyPr wrap="square">
            <a:spAutoFit/>
          </a:bodyPr>
          <a:lstStyle/>
          <a:p>
            <a:r>
              <a:rPr lang="zh-CN" altLang="en-US" sz="2400" b="1" dirty="0" smtClean="0"/>
              <a:t>理想气体混合物各组元气体的分体积等于总体积与其摩尔分数的乘积</a:t>
            </a:r>
            <a:endParaRPr lang="zh-CN" altLang="en-US" sz="2400" b="1" dirty="0"/>
          </a:p>
        </p:txBody>
      </p:sp>
      <p:graphicFrame>
        <p:nvGraphicFramePr>
          <p:cNvPr id="22" name="对象 21"/>
          <p:cNvGraphicFramePr>
            <a:graphicFrameLocks noChangeAspect="1"/>
          </p:cNvGraphicFramePr>
          <p:nvPr/>
        </p:nvGraphicFramePr>
        <p:xfrm>
          <a:off x="5797808" y="4410088"/>
          <a:ext cx="1095375" cy="481013"/>
        </p:xfrm>
        <a:graphic>
          <a:graphicData uri="http://schemas.openxmlformats.org/presentationml/2006/ole">
            <mc:AlternateContent xmlns:mc="http://schemas.openxmlformats.org/markup-compatibility/2006">
              <mc:Choice xmlns:v="urn:schemas-microsoft-com:vml" Requires="v">
                <p:oleObj spid="_x0000_s26823" name="Equation" r:id="rId18" imgW="12496800" imgH="5486400" progId="Equation.DSMT4">
                  <p:embed/>
                </p:oleObj>
              </mc:Choice>
              <mc:Fallback>
                <p:oleObj name="Equation" r:id="rId18" imgW="12496800" imgH="5486400" progId="Equation.DSMT4">
                  <p:embed/>
                  <p:pic>
                    <p:nvPicPr>
                      <p:cNvPr id="0" name="对象 20"/>
                      <p:cNvPicPr>
                        <a:picLocks noChangeAspect="1" noChangeArrowheads="1"/>
                      </p:cNvPicPr>
                      <p:nvPr/>
                    </p:nvPicPr>
                    <p:blipFill>
                      <a:blip r:embed="rId19"/>
                      <a:srcRect/>
                      <a:stretch>
                        <a:fillRect/>
                      </a:stretch>
                    </p:blipFill>
                    <p:spPr bwMode="auto">
                      <a:xfrm>
                        <a:off x="5797808" y="4410088"/>
                        <a:ext cx="1095375" cy="481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p:cNvSpPr/>
          <p:nvPr/>
        </p:nvSpPr>
        <p:spPr>
          <a:xfrm>
            <a:off x="2975113" y="576470"/>
            <a:ext cx="616226" cy="1048396"/>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graphicFrame>
        <p:nvGraphicFramePr>
          <p:cNvPr id="2" name="对象 1"/>
          <p:cNvGraphicFramePr>
            <a:graphicFrameLocks noChangeAspect="1"/>
          </p:cNvGraphicFramePr>
          <p:nvPr/>
        </p:nvGraphicFramePr>
        <p:xfrm>
          <a:off x="3094383" y="680514"/>
          <a:ext cx="1767744" cy="944352"/>
        </p:xfrm>
        <a:graphic>
          <a:graphicData uri="http://schemas.openxmlformats.org/presentationml/2006/ole">
            <mc:AlternateContent xmlns:mc="http://schemas.openxmlformats.org/markup-compatibility/2006">
              <mc:Choice xmlns:v="urn:schemas-microsoft-com:vml" Requires="v">
                <p:oleObj spid="_x0000_s27695" name="Equation" r:id="rId1" imgW="17678400" imgH="9448800" progId="Equation.DSMT4">
                  <p:embed/>
                </p:oleObj>
              </mc:Choice>
              <mc:Fallback>
                <p:oleObj name="Equation" r:id="rId1" imgW="17678400" imgH="9448800" progId="Equation.DSMT4">
                  <p:embed/>
                  <p:pic>
                    <p:nvPicPr>
                      <p:cNvPr id="0" name="对象 18"/>
                      <p:cNvPicPr>
                        <a:picLocks noChangeAspect="1" noChangeArrowheads="1"/>
                      </p:cNvPicPr>
                      <p:nvPr/>
                    </p:nvPicPr>
                    <p:blipFill>
                      <a:blip r:embed="rId2"/>
                      <a:srcRect/>
                      <a:stretch>
                        <a:fillRect/>
                      </a:stretch>
                    </p:blipFill>
                    <p:spPr bwMode="auto">
                      <a:xfrm>
                        <a:off x="3094383" y="680514"/>
                        <a:ext cx="1767744" cy="9443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矩形 2"/>
          <p:cNvSpPr/>
          <p:nvPr/>
        </p:nvSpPr>
        <p:spPr>
          <a:xfrm>
            <a:off x="682487" y="2160816"/>
            <a:ext cx="7845286" cy="830997"/>
          </a:xfrm>
          <a:prstGeom prst="rect">
            <a:avLst/>
          </a:prstGeom>
        </p:spPr>
        <p:txBody>
          <a:bodyPr wrap="square">
            <a:spAutoFit/>
          </a:bodyPr>
          <a:lstStyle/>
          <a:p>
            <a:r>
              <a:rPr lang="zh-CN" altLang="en-US" sz="2400" b="1" dirty="0">
                <a:latin typeface="Times New Roman" panose="02020603050405020304" pitchFamily="18" charset="0"/>
                <a:cs typeface="Times New Roman" panose="02020603050405020304" pitchFamily="18" charset="0"/>
              </a:rPr>
              <a:t>第</a:t>
            </a:r>
            <a:r>
              <a:rPr lang="zh-CN" altLang="en-US" sz="2400" b="1" i="1" dirty="0">
                <a:latin typeface="Times New Roman" panose="02020603050405020304" pitchFamily="18" charset="0"/>
                <a:cs typeface="Times New Roman" panose="02020603050405020304" pitchFamily="18" charset="0"/>
              </a:rPr>
              <a:t>i</a:t>
            </a:r>
            <a:r>
              <a:rPr lang="zh-CN" altLang="en-US" sz="2400" b="1" dirty="0">
                <a:latin typeface="Times New Roman" panose="02020603050405020304" pitchFamily="18" charset="0"/>
                <a:cs typeface="Times New Roman" panose="02020603050405020304" pitchFamily="18" charset="0"/>
              </a:rPr>
              <a:t>种组元的分体积</a:t>
            </a:r>
            <a:r>
              <a:rPr lang="zh-CN" altLang="en-US" sz="2400" b="1" i="1" dirty="0">
                <a:latin typeface="Times New Roman" panose="02020603050405020304" pitchFamily="18" charset="0"/>
                <a:cs typeface="Times New Roman" panose="02020603050405020304" pitchFamily="18" charset="0"/>
              </a:rPr>
              <a:t>V</a:t>
            </a:r>
            <a:r>
              <a:rPr lang="zh-CN" altLang="en-US" sz="2400" b="1" i="1" baseline="-25000" dirty="0">
                <a:latin typeface="Times New Roman" panose="02020603050405020304" pitchFamily="18" charset="0"/>
                <a:cs typeface="Times New Roman" panose="02020603050405020304" pitchFamily="18" charset="0"/>
              </a:rPr>
              <a:t>i</a:t>
            </a:r>
            <a:r>
              <a:rPr lang="zh-CN" altLang="en-US" sz="2400" b="1" dirty="0">
                <a:latin typeface="Times New Roman" panose="02020603050405020304" pitchFamily="18" charset="0"/>
                <a:cs typeface="Times New Roman" panose="02020603050405020304" pitchFamily="18" charset="0"/>
              </a:rPr>
              <a:t>与混合气体总体积</a:t>
            </a:r>
            <a:r>
              <a:rPr lang="zh-CN" altLang="en-US" sz="2400" b="1" i="1" dirty="0">
                <a:latin typeface="Times New Roman" panose="02020603050405020304" pitchFamily="18" charset="0"/>
                <a:cs typeface="Times New Roman" panose="02020603050405020304" pitchFamily="18" charset="0"/>
              </a:rPr>
              <a:t>V</a:t>
            </a:r>
            <a:r>
              <a:rPr lang="zh-CN" altLang="en-US" sz="2400" b="1" dirty="0">
                <a:latin typeface="Times New Roman" panose="02020603050405020304" pitchFamily="18" charset="0"/>
                <a:cs typeface="Times New Roman" panose="02020603050405020304" pitchFamily="18" charset="0"/>
              </a:rPr>
              <a:t>的比值，称为该组元的体积分数，</a:t>
            </a:r>
            <a:r>
              <a:rPr lang="zh-CN" altLang="en-US" sz="2400" b="1" dirty="0" smtClean="0">
                <a:latin typeface="Times New Roman" panose="02020603050405020304" pitchFamily="18" charset="0"/>
                <a:cs typeface="Times New Roman" panose="02020603050405020304" pitchFamily="18" charset="0"/>
              </a:rPr>
              <a:t>用</a:t>
            </a:r>
            <a:r>
              <a:rPr lang="el-GR" altLang="zh-CN" sz="2400" b="1" i="1" dirty="0">
                <a:latin typeface="Times New Roman" panose="02020603050405020304" pitchFamily="18" charset="0"/>
                <a:ea typeface="微软雅黑" panose="020B0503020204020204" charset="-122"/>
                <a:cs typeface="Times New Roman" panose="02020603050405020304" pitchFamily="18" charset="0"/>
              </a:rPr>
              <a:t>φ</a:t>
            </a:r>
            <a:r>
              <a:rPr lang="en-US" altLang="zh-CN" sz="2400" b="1" i="1" baseline="-25000" dirty="0" err="1">
                <a:latin typeface="Times New Roman" panose="02020603050405020304" pitchFamily="18" charset="0"/>
                <a:ea typeface="微软雅黑" panose="020B0503020204020204" charset="-122"/>
                <a:cs typeface="Times New Roman" panose="02020603050405020304" pitchFamily="18" charset="0"/>
              </a:rPr>
              <a:t>i</a:t>
            </a:r>
            <a:r>
              <a:rPr lang="zh-CN" altLang="en-US" sz="2400" b="1" dirty="0" smtClean="0">
                <a:latin typeface="Times New Roman" panose="02020603050405020304" pitchFamily="18" charset="0"/>
                <a:cs typeface="Times New Roman" panose="02020603050405020304" pitchFamily="18" charset="0"/>
              </a:rPr>
              <a:t>表示</a:t>
            </a:r>
            <a:endParaRPr lang="zh-CN" altLang="en-US" sz="2400" b="1" dirty="0">
              <a:latin typeface="Times New Roman" panose="02020603050405020304" pitchFamily="18" charset="0"/>
              <a:cs typeface="Times New Roman" panose="02020603050405020304" pitchFamily="18" charset="0"/>
            </a:endParaRPr>
          </a:p>
        </p:txBody>
      </p:sp>
      <p:graphicFrame>
        <p:nvGraphicFramePr>
          <p:cNvPr id="4" name="对象 3"/>
          <p:cNvGraphicFramePr>
            <a:graphicFrameLocks noChangeAspect="1"/>
          </p:cNvGraphicFramePr>
          <p:nvPr/>
        </p:nvGraphicFramePr>
        <p:xfrm>
          <a:off x="4960246" y="878370"/>
          <a:ext cx="670464" cy="548640"/>
        </p:xfrm>
        <a:graphic>
          <a:graphicData uri="http://schemas.openxmlformats.org/presentationml/2006/ole">
            <mc:AlternateContent xmlns:mc="http://schemas.openxmlformats.org/markup-compatibility/2006">
              <mc:Choice xmlns:v="urn:schemas-microsoft-com:vml" Requires="v">
                <p:oleObj spid="_x0000_s27696" name="Equation" r:id="rId3" imgW="6705600" imgH="5486400" progId="Equation.DSMT4">
                  <p:embed/>
                </p:oleObj>
              </mc:Choice>
              <mc:Fallback>
                <p:oleObj name="Equation" r:id="rId3" imgW="6705600" imgH="5486400" progId="Equation.DSMT4">
                  <p:embed/>
                  <p:pic>
                    <p:nvPicPr>
                      <p:cNvPr id="0" name="对象 1"/>
                      <p:cNvPicPr>
                        <a:picLocks noChangeAspect="1" noChangeArrowheads="1"/>
                      </p:cNvPicPr>
                      <p:nvPr/>
                    </p:nvPicPr>
                    <p:blipFill>
                      <a:blip r:embed="rId4"/>
                      <a:srcRect/>
                      <a:stretch>
                        <a:fillRect/>
                      </a:stretch>
                    </p:blipFill>
                    <p:spPr bwMode="auto">
                      <a:xfrm>
                        <a:off x="4960246" y="878370"/>
                        <a:ext cx="670464" cy="5486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矩形 4"/>
          <p:cNvSpPr/>
          <p:nvPr/>
        </p:nvSpPr>
        <p:spPr>
          <a:xfrm>
            <a:off x="543338" y="3527763"/>
            <a:ext cx="8123583" cy="1569660"/>
          </a:xfrm>
          <a:prstGeom prst="rect">
            <a:avLst/>
          </a:prstGeom>
        </p:spPr>
        <p:txBody>
          <a:bodyPr wrap="square">
            <a:spAutoFit/>
          </a:bodyPr>
          <a:lstStyle/>
          <a:p>
            <a:pPr marL="342900" indent="-342900">
              <a:buFont typeface="Arial" panose="020B0604020202020204" pitchFamily="34" charset="0"/>
              <a:buChar char="•"/>
            </a:pPr>
            <a:r>
              <a:rPr lang="zh-CN" altLang="en-US" sz="2400" b="1" dirty="0" smtClean="0">
                <a:latin typeface="Times New Roman" panose="02020603050405020304" pitchFamily="18" charset="0"/>
                <a:cs typeface="Times New Roman" panose="02020603050405020304" pitchFamily="18" charset="0"/>
              </a:rPr>
              <a:t>以</a:t>
            </a:r>
            <a:r>
              <a:rPr lang="el-GR" altLang="zh-CN" sz="2400" b="1" i="1" dirty="0">
                <a:latin typeface="Times New Roman" panose="02020603050405020304" pitchFamily="18" charset="0"/>
                <a:ea typeface="微软雅黑" panose="020B0503020204020204" charset="-122"/>
                <a:cs typeface="Times New Roman" panose="02020603050405020304" pitchFamily="18" charset="0"/>
              </a:rPr>
              <a:t>φ</a:t>
            </a:r>
            <a:r>
              <a:rPr lang="en-US" altLang="zh-CN" sz="2400" b="1" i="1" baseline="-25000" dirty="0" err="1">
                <a:latin typeface="Times New Roman" panose="02020603050405020304" pitchFamily="18" charset="0"/>
                <a:ea typeface="微软雅黑" panose="020B0503020204020204" charset="-122"/>
                <a:cs typeface="Times New Roman" panose="02020603050405020304" pitchFamily="18" charset="0"/>
              </a:rPr>
              <a:t>i</a:t>
            </a:r>
            <a:r>
              <a:rPr lang="zh-CN" altLang="en-US" sz="2400" b="1" dirty="0" smtClean="0">
                <a:latin typeface="Times New Roman" panose="02020603050405020304" pitchFamily="18" charset="0"/>
                <a:cs typeface="Times New Roman" panose="02020603050405020304" pitchFamily="18" charset="0"/>
              </a:rPr>
              <a:t>表示混合气体</a:t>
            </a:r>
            <a:r>
              <a:rPr lang="zh-CN" altLang="en-US" sz="2400" b="1" dirty="0">
                <a:latin typeface="Times New Roman" panose="02020603050405020304" pitchFamily="18" charset="0"/>
                <a:cs typeface="Times New Roman" panose="02020603050405020304" pitchFamily="18" charset="0"/>
              </a:rPr>
              <a:t>的成分是普遍采用的一种方法，如烟气、燃气等混合气体的成分分析往往以体积分数</a:t>
            </a:r>
            <a:r>
              <a:rPr lang="zh-CN" altLang="en-US" sz="2400" b="1" dirty="0" smtClean="0">
                <a:latin typeface="Times New Roman" panose="02020603050405020304" pitchFamily="18" charset="0"/>
                <a:cs typeface="Times New Roman" panose="02020603050405020304" pitchFamily="18" charset="0"/>
              </a:rPr>
              <a:t>表示</a:t>
            </a:r>
            <a:endParaRPr lang="en-US" altLang="zh-CN" sz="2400" b="1"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zh-CN" altLang="en-US" sz="2400" b="1" dirty="0" smtClean="0">
                <a:latin typeface="Times New Roman" panose="02020603050405020304" pitchFamily="18" charset="0"/>
                <a:cs typeface="Times New Roman" panose="02020603050405020304" pitchFamily="18" charset="0"/>
              </a:rPr>
              <a:t>上式表明</a:t>
            </a:r>
            <a:r>
              <a:rPr lang="zh-CN" altLang="en-US" sz="2400" b="1" dirty="0">
                <a:latin typeface="Times New Roman" panose="02020603050405020304" pitchFamily="18" charset="0"/>
                <a:cs typeface="Times New Roman" panose="02020603050405020304" pitchFamily="18" charset="0"/>
              </a:rPr>
              <a:t>：</a:t>
            </a:r>
            <a:r>
              <a:rPr lang="zh-CN" altLang="en-US" sz="2400" b="1" dirty="0">
                <a:solidFill>
                  <a:srgbClr val="FF0000"/>
                </a:solidFill>
                <a:latin typeface="Times New Roman" panose="02020603050405020304" pitchFamily="18" charset="0"/>
                <a:cs typeface="Times New Roman" panose="02020603050405020304" pitchFamily="18" charset="0"/>
              </a:rPr>
              <a:t>理想气体混合物中各组元气体的摩尔分数与其体积分数</a:t>
            </a:r>
            <a:r>
              <a:rPr lang="zh-CN" altLang="en-US" sz="2400" b="1" dirty="0" smtClean="0">
                <a:solidFill>
                  <a:srgbClr val="FF0000"/>
                </a:solidFill>
                <a:latin typeface="Times New Roman" panose="02020603050405020304" pitchFamily="18" charset="0"/>
                <a:cs typeface="Times New Roman" panose="02020603050405020304" pitchFamily="18" charset="0"/>
              </a:rPr>
              <a:t>相等</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7" name="下箭头 6"/>
          <p:cNvSpPr/>
          <p:nvPr/>
        </p:nvSpPr>
        <p:spPr>
          <a:xfrm>
            <a:off x="3213652" y="1624866"/>
            <a:ext cx="165652" cy="42259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76467" y="2078790"/>
            <a:ext cx="7911550" cy="1322070"/>
          </a:xfrm>
          <a:prstGeom prst="rect">
            <a:avLst/>
          </a:prstGeom>
        </p:spPr>
        <p:txBody>
          <a:bodyPr wrap="square">
            <a:spAutoFit/>
          </a:bodyPr>
          <a:lstStyle/>
          <a:p>
            <a:pPr algn="ctr"/>
            <a:r>
              <a:rPr lang="zh-CN" altLang="en-US" sz="4000" b="1" dirty="0" smtClean="0"/>
              <a:t>1</a:t>
            </a:r>
            <a:r>
              <a:rPr lang="en-US" altLang="zh-CN" sz="4000" b="1" dirty="0" smtClean="0"/>
              <a:t>7</a:t>
            </a:r>
            <a:r>
              <a:rPr lang="zh-CN" altLang="en-US" sz="4000" b="1" dirty="0" smtClean="0"/>
              <a:t>-</a:t>
            </a:r>
            <a:r>
              <a:rPr lang="en-US" altLang="zh-CN" sz="4000" b="1" dirty="0" smtClean="0"/>
              <a:t>4  </a:t>
            </a:r>
            <a:r>
              <a:rPr lang="zh-CN" altLang="en-US" sz="4000" b="1" dirty="0" smtClean="0"/>
              <a:t>理想气体</a:t>
            </a:r>
            <a:r>
              <a:rPr lang="zh-CN" altLang="en-US" sz="4000" b="1" dirty="0"/>
              <a:t>混合物的热力学能、焓、比热容和熵的</a:t>
            </a:r>
            <a:r>
              <a:rPr lang="zh-CN" altLang="en-US" sz="4000" b="1" dirty="0" smtClean="0"/>
              <a:t>计算</a:t>
            </a:r>
            <a:endParaRPr lang="zh-CN" altLang="en-US" sz="4000"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文本占位符 188418"/>
          <p:cNvSpPr>
            <a:spLocks noGrp="1" noChangeArrowheads="1"/>
          </p:cNvSpPr>
          <p:nvPr>
            <p:ph idx="1"/>
          </p:nvPr>
        </p:nvSpPr>
        <p:spPr>
          <a:xfrm>
            <a:off x="539750" y="620713"/>
            <a:ext cx="7991475" cy="5546725"/>
          </a:xfrm>
        </p:spPr>
        <p:txBody>
          <a:bodyPr>
            <a:normAutofit/>
          </a:bodyPr>
          <a:lstStyle/>
          <a:p>
            <a:pPr>
              <a:lnSpc>
                <a:spcPct val="90000"/>
              </a:lnSpc>
            </a:pPr>
            <a:r>
              <a:rPr lang="zh-CN" altLang="en-US" sz="2800" b="1" dirty="0" smtClean="0">
                <a:latin typeface="黑体" panose="02010609060101010101" pitchFamily="49" charset="-122"/>
                <a:ea typeface="黑体" panose="02010609060101010101" pitchFamily="49" charset="-122"/>
              </a:rPr>
              <a:t>理想气体混合物的分子满足理想气体的假设（即分子自身不占有空间体积，分子间没有相互作用力）</a:t>
            </a:r>
            <a:endParaRPr lang="zh-CN" altLang="en-US" sz="2800" b="1" dirty="0" smtClean="0">
              <a:latin typeface="黑体" panose="02010609060101010101" pitchFamily="49" charset="-122"/>
              <a:ea typeface="黑体" panose="02010609060101010101" pitchFamily="49" charset="-122"/>
            </a:endParaRPr>
          </a:p>
          <a:p>
            <a:pPr>
              <a:lnSpc>
                <a:spcPct val="90000"/>
              </a:lnSpc>
            </a:pPr>
            <a:r>
              <a:rPr lang="zh-CN" altLang="en-US" sz="2800" b="1" dirty="0" smtClean="0">
                <a:latin typeface="黑体" panose="02010609060101010101" pitchFamily="49" charset="-122"/>
                <a:ea typeface="黑体" panose="02010609060101010101" pitchFamily="49" charset="-122"/>
              </a:rPr>
              <a:t>因此，各组元气体分子的运动不因存在其它气体而受影响，每一种组元气体的参数（如热力学能、焓和熵）可以按其作为单元物质时的参数计算</a:t>
            </a:r>
            <a:endParaRPr lang="zh-CN" altLang="en-US" sz="2800" b="1" dirty="0" smtClean="0">
              <a:latin typeface="黑体" panose="02010609060101010101" pitchFamily="49" charset="-122"/>
              <a:ea typeface="黑体" panose="02010609060101010101" pitchFamily="49" charset="-122"/>
            </a:endParaRPr>
          </a:p>
          <a:p>
            <a:pPr>
              <a:lnSpc>
                <a:spcPct val="90000"/>
              </a:lnSpc>
            </a:pPr>
            <a:r>
              <a:rPr lang="zh-CN" altLang="en-US" sz="2800" b="1" dirty="0" smtClean="0">
                <a:latin typeface="黑体" panose="02010609060101010101" pitchFamily="49" charset="-122"/>
                <a:ea typeface="黑体" panose="02010609060101010101" pitchFamily="49" charset="-122"/>
              </a:rPr>
              <a:t>由于热力学能、焓和熵都是广延量，具有可加性，因此，理想气体混合物的热力学、焓和熵分别是各组元理想气体的热力学能、焓和熵之和 </a:t>
            </a:r>
            <a:endParaRPr lang="zh-CN" altLang="en-US" sz="2800" b="1" dirty="0" smtClean="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文本框 112641"/>
          <p:cNvSpPr txBox="1">
            <a:spLocks noChangeArrowheads="1"/>
          </p:cNvSpPr>
          <p:nvPr/>
        </p:nvSpPr>
        <p:spPr bwMode="auto">
          <a:xfrm>
            <a:off x="406400" y="361288"/>
            <a:ext cx="78422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Clr>
                <a:schemeClr val="folHlink"/>
              </a:buClr>
              <a:buFont typeface="Wingdings" panose="05000000000000000000" pitchFamily="2" charset="2"/>
              <a:buNone/>
            </a:pPr>
            <a:r>
              <a:rPr lang="zh-CN" altLang="en-US" sz="2800" b="1" dirty="0">
                <a:latin typeface="Times New Roman" panose="02020603050405020304" pitchFamily="18" charset="0"/>
                <a:ea typeface="黑体" panose="02010609060101010101" pitchFamily="49" charset="-122"/>
              </a:rPr>
              <a:t>一、理想气体混合物的热力学能和焓</a:t>
            </a:r>
            <a:endParaRPr lang="zh-CN" altLang="en-US" sz="2800" b="1" dirty="0">
              <a:latin typeface="Times New Roman" panose="02020603050405020304" pitchFamily="18" charset="0"/>
              <a:ea typeface="黑体" panose="02010609060101010101" pitchFamily="49" charset="-122"/>
            </a:endParaRPr>
          </a:p>
        </p:txBody>
      </p:sp>
      <p:graphicFrame>
        <p:nvGraphicFramePr>
          <p:cNvPr id="112643" name="对象 112642"/>
          <p:cNvGraphicFramePr>
            <a:graphicFrameLocks noChangeAspect="1"/>
          </p:cNvGraphicFramePr>
          <p:nvPr/>
        </p:nvGraphicFramePr>
        <p:xfrm>
          <a:off x="927631" y="2643616"/>
          <a:ext cx="2514600" cy="1117600"/>
        </p:xfrm>
        <a:graphic>
          <a:graphicData uri="http://schemas.openxmlformats.org/presentationml/2006/ole">
            <mc:AlternateContent xmlns:mc="http://schemas.openxmlformats.org/markup-compatibility/2006">
              <mc:Choice xmlns:v="urn:schemas-microsoft-com:vml" Requires="v">
                <p:oleObj spid="_x0000_s7332" name="" r:id="rId1" imgW="762000" imgH="338455" progId="Equation.DSMT4">
                  <p:embed/>
                </p:oleObj>
              </mc:Choice>
              <mc:Fallback>
                <p:oleObj name="" r:id="rId1" imgW="762000" imgH="338455" progId="Equation.DSMT4">
                  <p:embed/>
                  <p:pic>
                    <p:nvPicPr>
                      <p:cNvPr id="0" name="对象 11264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7631" y="2643616"/>
                        <a:ext cx="25146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12645" name="对象 112644"/>
          <p:cNvGraphicFramePr>
            <a:graphicFrameLocks noChangeAspect="1"/>
          </p:cNvGraphicFramePr>
          <p:nvPr/>
        </p:nvGraphicFramePr>
        <p:xfrm>
          <a:off x="4556125" y="2252869"/>
          <a:ext cx="3602696" cy="1899095"/>
        </p:xfrm>
        <a:graphic>
          <a:graphicData uri="http://schemas.openxmlformats.org/presentationml/2006/ole">
            <mc:AlternateContent xmlns:mc="http://schemas.openxmlformats.org/markup-compatibility/2006">
              <mc:Choice xmlns:v="urn:schemas-microsoft-com:vml" Requires="v">
                <p:oleObj spid="_x0000_s7333" name="" r:id="rId3" imgW="1092200" imgH="575945" progId="Equation.3">
                  <p:embed/>
                </p:oleObj>
              </mc:Choice>
              <mc:Fallback>
                <p:oleObj name="" r:id="rId3" imgW="1092200" imgH="575945" progId="Equation.3">
                  <p:embed/>
                  <p:pic>
                    <p:nvPicPr>
                      <p:cNvPr id="0" name="对象 11264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6125" y="2252869"/>
                        <a:ext cx="3602696" cy="1899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2646" name="任意多边形 112645"/>
          <p:cNvSpPr>
            <a:spLocks noChangeArrowheads="1"/>
          </p:cNvSpPr>
          <p:nvPr/>
        </p:nvSpPr>
        <p:spPr bwMode="auto">
          <a:xfrm>
            <a:off x="3641725" y="2717783"/>
            <a:ext cx="685800" cy="304800"/>
          </a:xfrm>
          <a:custGeom>
            <a:avLst/>
            <a:gdLst>
              <a:gd name="T0" fmla="*/ 16200 w 21600"/>
              <a:gd name="T1" fmla="*/ 0 h 21600"/>
              <a:gd name="T2" fmla="*/ 16200 w 21600"/>
              <a:gd name="T3" fmla="*/ 5400 h 21600"/>
              <a:gd name="T4" fmla="*/ 3375 w 21600"/>
              <a:gd name="T5" fmla="*/ 5400 h 21600"/>
              <a:gd name="T6" fmla="*/ 3375 w 21600"/>
              <a:gd name="T7" fmla="*/ 16200 h 21600"/>
              <a:gd name="T8" fmla="*/ 16200 w 21600"/>
              <a:gd name="T9" fmla="*/ 16200 h 21600"/>
              <a:gd name="T10" fmla="*/ 16200 w 21600"/>
              <a:gd name="T11" fmla="*/ 21600 h 21600"/>
              <a:gd name="T12" fmla="*/ 21600 w 21600"/>
              <a:gd name="T13" fmla="*/ 10800 h 21600"/>
              <a:gd name="T14" fmla="*/ 1350 w 21600"/>
              <a:gd name="T15" fmla="*/ 5400 h 21600"/>
              <a:gd name="T16" fmla="*/ 1350 w 21600"/>
              <a:gd name="T17" fmla="*/ 16200 h 21600"/>
              <a:gd name="T18" fmla="*/ 2700 w 21600"/>
              <a:gd name="T19" fmla="*/ 16200 h 21600"/>
              <a:gd name="T20" fmla="*/ 2700 w 21600"/>
              <a:gd name="T21" fmla="*/ 5400 h 21600"/>
              <a:gd name="T22" fmla="*/ 0 w 21600"/>
              <a:gd name="T23" fmla="*/ 5400 h 21600"/>
              <a:gd name="T24" fmla="*/ 0 w 21600"/>
              <a:gd name="T25" fmla="*/ 16200 h 21600"/>
              <a:gd name="T26" fmla="*/ 675 w 21600"/>
              <a:gd name="T27" fmla="*/ 16200 h 21600"/>
              <a:gd name="T28" fmla="*/ 675 w 21600"/>
              <a:gd name="T29" fmla="*/ 54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0000"/>
          </a:solidFill>
          <a:ln w="9525">
            <a:solidFill>
              <a:schemeClr val="tx1"/>
            </a:solidFill>
            <a:miter lim="800000"/>
          </a:ln>
        </p:spPr>
        <p:txBody>
          <a:bodyPr/>
          <a:lstStyle/>
          <a:p>
            <a:endParaRPr lang="zh-CN" altLang="en-US">
              <a:ea typeface="宋体" panose="02010600030101010101" pitchFamily="2" charset="-122"/>
            </a:endParaRPr>
          </a:p>
        </p:txBody>
      </p:sp>
      <p:sp>
        <p:nvSpPr>
          <p:cNvPr id="112647" name="任意多边形 112646"/>
          <p:cNvSpPr>
            <a:spLocks noChangeArrowheads="1"/>
          </p:cNvSpPr>
          <p:nvPr/>
        </p:nvSpPr>
        <p:spPr bwMode="auto">
          <a:xfrm>
            <a:off x="3641725" y="3313024"/>
            <a:ext cx="685800" cy="304800"/>
          </a:xfrm>
          <a:custGeom>
            <a:avLst/>
            <a:gdLst>
              <a:gd name="T0" fmla="*/ 16200 w 21600"/>
              <a:gd name="T1" fmla="*/ 0 h 21600"/>
              <a:gd name="T2" fmla="*/ 16200 w 21600"/>
              <a:gd name="T3" fmla="*/ 5400 h 21600"/>
              <a:gd name="T4" fmla="*/ 3375 w 21600"/>
              <a:gd name="T5" fmla="*/ 5400 h 21600"/>
              <a:gd name="T6" fmla="*/ 3375 w 21600"/>
              <a:gd name="T7" fmla="*/ 16200 h 21600"/>
              <a:gd name="T8" fmla="*/ 16200 w 21600"/>
              <a:gd name="T9" fmla="*/ 16200 h 21600"/>
              <a:gd name="T10" fmla="*/ 16200 w 21600"/>
              <a:gd name="T11" fmla="*/ 21600 h 21600"/>
              <a:gd name="T12" fmla="*/ 21600 w 21600"/>
              <a:gd name="T13" fmla="*/ 10800 h 21600"/>
              <a:gd name="T14" fmla="*/ 1350 w 21600"/>
              <a:gd name="T15" fmla="*/ 5400 h 21600"/>
              <a:gd name="T16" fmla="*/ 1350 w 21600"/>
              <a:gd name="T17" fmla="*/ 16200 h 21600"/>
              <a:gd name="T18" fmla="*/ 2700 w 21600"/>
              <a:gd name="T19" fmla="*/ 16200 h 21600"/>
              <a:gd name="T20" fmla="*/ 2700 w 21600"/>
              <a:gd name="T21" fmla="*/ 5400 h 21600"/>
              <a:gd name="T22" fmla="*/ 0 w 21600"/>
              <a:gd name="T23" fmla="*/ 5400 h 21600"/>
              <a:gd name="T24" fmla="*/ 0 w 21600"/>
              <a:gd name="T25" fmla="*/ 16200 h 21600"/>
              <a:gd name="T26" fmla="*/ 675 w 21600"/>
              <a:gd name="T27" fmla="*/ 16200 h 21600"/>
              <a:gd name="T28" fmla="*/ 675 w 21600"/>
              <a:gd name="T29" fmla="*/ 54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0000"/>
          </a:solidFill>
          <a:ln w="9525">
            <a:solidFill>
              <a:schemeClr val="tx1"/>
            </a:solidFill>
            <a:miter lim="800000"/>
          </a:ln>
        </p:spPr>
        <p:txBody>
          <a:bodyPr/>
          <a:lstStyle/>
          <a:p>
            <a:endParaRPr lang="zh-CN" altLang="en-US">
              <a:ea typeface="宋体" panose="02010600030101010101" pitchFamily="2" charset="-122"/>
            </a:endParaRPr>
          </a:p>
        </p:txBody>
      </p:sp>
      <p:graphicFrame>
        <p:nvGraphicFramePr>
          <p:cNvPr id="112649" name="对象 112648"/>
          <p:cNvGraphicFramePr>
            <a:graphicFrameLocks noChangeAspect="1"/>
          </p:cNvGraphicFramePr>
          <p:nvPr/>
        </p:nvGraphicFramePr>
        <p:xfrm>
          <a:off x="2107258" y="4442405"/>
          <a:ext cx="4440533" cy="1899095"/>
        </p:xfrm>
        <a:graphic>
          <a:graphicData uri="http://schemas.openxmlformats.org/presentationml/2006/ole">
            <mc:AlternateContent xmlns:mc="http://schemas.openxmlformats.org/markup-compatibility/2006">
              <mc:Choice xmlns:v="urn:schemas-microsoft-com:vml" Requires="v">
                <p:oleObj spid="_x0000_s7334" name="" r:id="rId5" imgW="1346200" imgH="575945" progId="Equation.3">
                  <p:embed/>
                </p:oleObj>
              </mc:Choice>
              <mc:Fallback>
                <p:oleObj name="" r:id="rId5" imgW="1346200" imgH="575945" progId="Equation.3">
                  <p:embed/>
                  <p:pic>
                    <p:nvPicPr>
                      <p:cNvPr id="0" name="对象 11264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07258" y="4442405"/>
                        <a:ext cx="4440533" cy="1899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 name="矩形 4"/>
          <p:cNvSpPr/>
          <p:nvPr/>
        </p:nvSpPr>
        <p:spPr>
          <a:xfrm>
            <a:off x="406400" y="1128552"/>
            <a:ext cx="8328302" cy="830997"/>
          </a:xfrm>
          <a:prstGeom prst="rect">
            <a:avLst/>
          </a:prstGeom>
        </p:spPr>
        <p:txBody>
          <a:bodyPr wrap="square">
            <a:spAutoFit/>
          </a:bodyPr>
          <a:lstStyle/>
          <a:p>
            <a:r>
              <a:rPr lang="zh-CN" altLang="en-US" sz="2400" b="1" dirty="0"/>
              <a:t>理想气体的</a:t>
            </a:r>
            <a:r>
              <a:rPr lang="zh-CN" altLang="en-US" sz="2400" b="1" dirty="0" smtClean="0"/>
              <a:t>热力学能和焓是</a:t>
            </a:r>
            <a:r>
              <a:rPr lang="zh-CN" altLang="en-US" sz="2400" b="1" dirty="0"/>
              <a:t>温度的单值函数，因此理想气体混合物的</a:t>
            </a:r>
            <a:r>
              <a:rPr lang="zh-CN" altLang="en-US" sz="2400" b="1" dirty="0" smtClean="0"/>
              <a:t>热力学能和焓也</a:t>
            </a:r>
            <a:r>
              <a:rPr lang="zh-CN" altLang="en-US" sz="2400" b="1" dirty="0"/>
              <a:t>是温度的单值函数</a:t>
            </a:r>
            <a:endParaRPr lang="zh-CN" altLang="en-US" sz="2400" b="1" dirty="0"/>
          </a:p>
        </p:txBody>
      </p:sp>
    </p:spTree>
    <p:custDataLst>
      <p:tags r:id="rId7"/>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2643"/>
                                        </p:tgtEl>
                                        <p:attrNameLst>
                                          <p:attrName>style.visibility</p:attrName>
                                        </p:attrNameLst>
                                      </p:cBhvr>
                                      <p:to>
                                        <p:strVal val="visible"/>
                                      </p:to>
                                    </p:set>
                                    <p:animEffect transition="in" filter="blinds(horizontal)">
                                      <p:cBhvr>
                                        <p:cTn id="7" dur="500"/>
                                        <p:tgtEl>
                                          <p:spTgt spid="11264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12646"/>
                                        </p:tgtEl>
                                        <p:attrNameLst>
                                          <p:attrName>style.visibility</p:attrName>
                                        </p:attrNameLst>
                                      </p:cBhvr>
                                      <p:to>
                                        <p:strVal val="visible"/>
                                      </p:to>
                                    </p:set>
                                    <p:animEffect transition="in" filter="wipe(left)">
                                      <p:cBhvr>
                                        <p:cTn id="11" dur="500"/>
                                        <p:tgtEl>
                                          <p:spTgt spid="112646"/>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12647"/>
                                        </p:tgtEl>
                                        <p:attrNameLst>
                                          <p:attrName>style.visibility</p:attrName>
                                        </p:attrNameLst>
                                      </p:cBhvr>
                                      <p:to>
                                        <p:strVal val="visible"/>
                                      </p:to>
                                    </p:set>
                                    <p:animEffect transition="in" filter="wipe(left)">
                                      <p:cBhvr>
                                        <p:cTn id="15" dur="500"/>
                                        <p:tgtEl>
                                          <p:spTgt spid="112647"/>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12645"/>
                                        </p:tgtEl>
                                        <p:attrNameLst>
                                          <p:attrName>style.visibility</p:attrName>
                                        </p:attrNameLst>
                                      </p:cBhvr>
                                      <p:to>
                                        <p:strVal val="visible"/>
                                      </p:to>
                                    </p:set>
                                    <p:animEffect transition="in" filter="blinds(horizontal)">
                                      <p:cBhvr>
                                        <p:cTn id="20" dur="500"/>
                                        <p:tgtEl>
                                          <p:spTgt spid="112645"/>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12649"/>
                                        </p:tgtEl>
                                        <p:attrNameLst>
                                          <p:attrName>style.visibility</p:attrName>
                                        </p:attrNameLst>
                                      </p:cBhvr>
                                      <p:to>
                                        <p:strVal val="visible"/>
                                      </p:to>
                                    </p:set>
                                    <p:animEffect transition="in" filter="blinds(horizontal)">
                                      <p:cBhvr>
                                        <p:cTn id="25" dur="500"/>
                                        <p:tgtEl>
                                          <p:spTgt spid="1126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769" name="对象 189443"/>
          <p:cNvGraphicFramePr/>
          <p:nvPr/>
        </p:nvGraphicFramePr>
        <p:xfrm>
          <a:off x="2843213" y="1268413"/>
          <a:ext cx="3108325" cy="1381125"/>
        </p:xfrm>
        <a:graphic>
          <a:graphicData uri="http://schemas.openxmlformats.org/presentationml/2006/ole">
            <mc:AlternateContent xmlns:mc="http://schemas.openxmlformats.org/markup-compatibility/2006">
              <mc:Choice xmlns:v="urn:schemas-microsoft-com:vml" Requires="v">
                <p:oleObj spid="_x0000_s8356" name="" r:id="rId1" imgW="762000" imgH="338455" progId="Equation.DSMT4">
                  <p:embed/>
                </p:oleObj>
              </mc:Choice>
              <mc:Fallback>
                <p:oleObj name="" r:id="rId1" imgW="762000" imgH="338455" progId="Equation.DSMT4">
                  <p:embed/>
                  <p:pic>
                    <p:nvPicPr>
                      <p:cNvPr id="0" name="对象 18944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213" y="1268413"/>
                        <a:ext cx="3108325" cy="138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2770" name="对象 189444"/>
          <p:cNvGraphicFramePr/>
          <p:nvPr/>
        </p:nvGraphicFramePr>
        <p:xfrm>
          <a:off x="250825" y="3860800"/>
          <a:ext cx="3384550" cy="1782763"/>
        </p:xfrm>
        <a:graphic>
          <a:graphicData uri="http://schemas.openxmlformats.org/presentationml/2006/ole">
            <mc:AlternateContent xmlns:mc="http://schemas.openxmlformats.org/markup-compatibility/2006">
              <mc:Choice xmlns:v="urn:schemas-microsoft-com:vml" Requires="v">
                <p:oleObj spid="_x0000_s8357" name="" r:id="rId3" imgW="1092200" imgH="575945" progId="Equation.3">
                  <p:embed/>
                </p:oleObj>
              </mc:Choice>
              <mc:Fallback>
                <p:oleObj name="" r:id="rId3" imgW="1092200" imgH="575945" progId="Equation.3">
                  <p:embed/>
                  <p:pic>
                    <p:nvPicPr>
                      <p:cNvPr id="0" name="对象 18944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3860800"/>
                        <a:ext cx="3384550" cy="178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2771" name="矩形 189447"/>
          <p:cNvSpPr>
            <a:spLocks noChangeArrowheads="1"/>
          </p:cNvSpPr>
          <p:nvPr/>
        </p:nvSpPr>
        <p:spPr bwMode="auto">
          <a:xfrm>
            <a:off x="2843213" y="404813"/>
            <a:ext cx="46085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3200" b="1">
                <a:solidFill>
                  <a:srgbClr val="FF0000"/>
                </a:solidFill>
                <a:ea typeface="黑体" panose="02010609060101010101" pitchFamily="49" charset="-122"/>
              </a:rPr>
              <a:t>广延量直接相加</a:t>
            </a:r>
            <a:endParaRPr lang="zh-CN" altLang="en-US" sz="3200" b="1">
              <a:solidFill>
                <a:srgbClr val="FF0000"/>
              </a:solidFill>
              <a:ea typeface="黑体" panose="02010609060101010101" pitchFamily="49" charset="-122"/>
            </a:endParaRPr>
          </a:p>
        </p:txBody>
      </p:sp>
      <p:sp>
        <p:nvSpPr>
          <p:cNvPr id="32772" name="矩形 189448"/>
          <p:cNvSpPr>
            <a:spLocks noChangeArrowheads="1"/>
          </p:cNvSpPr>
          <p:nvPr/>
        </p:nvSpPr>
        <p:spPr bwMode="auto">
          <a:xfrm>
            <a:off x="2771775" y="3068638"/>
            <a:ext cx="43211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3200" b="1">
                <a:solidFill>
                  <a:srgbClr val="FF0000"/>
                </a:solidFill>
                <a:ea typeface="黑体" panose="02010609060101010101" pitchFamily="49" charset="-122"/>
              </a:rPr>
              <a:t>强度量加权平均</a:t>
            </a:r>
            <a:endParaRPr lang="zh-CN" altLang="en-US" sz="3200" b="1">
              <a:solidFill>
                <a:srgbClr val="FF0000"/>
              </a:solidFill>
              <a:ea typeface="黑体" panose="02010609060101010101" pitchFamily="49" charset="-122"/>
            </a:endParaRPr>
          </a:p>
        </p:txBody>
      </p:sp>
      <p:graphicFrame>
        <p:nvGraphicFramePr>
          <p:cNvPr id="32773" name="对象 189449"/>
          <p:cNvGraphicFramePr/>
          <p:nvPr/>
        </p:nvGraphicFramePr>
        <p:xfrm>
          <a:off x="4643438" y="3933825"/>
          <a:ext cx="3960812" cy="1693863"/>
        </p:xfrm>
        <a:graphic>
          <a:graphicData uri="http://schemas.openxmlformats.org/presentationml/2006/ole">
            <mc:AlternateContent xmlns:mc="http://schemas.openxmlformats.org/markup-compatibility/2006">
              <mc:Choice xmlns:v="urn:schemas-microsoft-com:vml" Requires="v">
                <p:oleObj spid="_x0000_s8358" name="" r:id="rId5" imgW="1346200" imgH="575945" progId="Equation.3">
                  <p:embed/>
                </p:oleObj>
              </mc:Choice>
              <mc:Fallback>
                <p:oleObj name="" r:id="rId5" imgW="1346200" imgH="575945" progId="Equation.3">
                  <p:embed/>
                  <p:pic>
                    <p:nvPicPr>
                      <p:cNvPr id="0" name="对象 18944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3438" y="3933825"/>
                        <a:ext cx="3960812" cy="169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2774" name="矩形 189452"/>
          <p:cNvSpPr>
            <a:spLocks noChangeArrowheads="1"/>
          </p:cNvSpPr>
          <p:nvPr/>
        </p:nvSpPr>
        <p:spPr bwMode="auto">
          <a:xfrm>
            <a:off x="179388" y="5876925"/>
            <a:ext cx="3841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FF"/>
                </a:solidFill>
                <a:ea typeface="黑体" panose="02010609060101010101" pitchFamily="49" charset="-122"/>
              </a:rPr>
              <a:t>比参数（按质量分数加权）</a:t>
            </a:r>
            <a:endParaRPr lang="zh-CN" altLang="en-US" sz="2400" b="1">
              <a:solidFill>
                <a:srgbClr val="0000FF"/>
              </a:solidFill>
              <a:ea typeface="黑体" panose="02010609060101010101" pitchFamily="49" charset="-122"/>
            </a:endParaRPr>
          </a:p>
        </p:txBody>
      </p:sp>
      <p:sp>
        <p:nvSpPr>
          <p:cNvPr id="32775" name="矩形 189454"/>
          <p:cNvSpPr>
            <a:spLocks noChangeArrowheads="1"/>
          </p:cNvSpPr>
          <p:nvPr/>
        </p:nvSpPr>
        <p:spPr bwMode="auto">
          <a:xfrm>
            <a:off x="4572000" y="5876925"/>
            <a:ext cx="414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FF"/>
                </a:solidFill>
                <a:ea typeface="黑体" panose="02010609060101010101" pitchFamily="49" charset="-122"/>
              </a:rPr>
              <a:t>摩尔参数（按摩尔分数加权）</a:t>
            </a:r>
            <a:endParaRPr lang="zh-CN" altLang="en-US" sz="2400" b="1">
              <a:solidFill>
                <a:srgbClr val="0000FF"/>
              </a:solidFill>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矩形 190468"/>
          <p:cNvSpPr>
            <a:spLocks noChangeArrowheads="1"/>
          </p:cNvSpPr>
          <p:nvPr/>
        </p:nvSpPr>
        <p:spPr bwMode="auto">
          <a:xfrm>
            <a:off x="0" y="28289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
        <p:nvSpPr>
          <p:cNvPr id="33795" name="矩形 190469"/>
          <p:cNvSpPr>
            <a:spLocks noChangeArrowheads="1"/>
          </p:cNvSpPr>
          <p:nvPr/>
        </p:nvSpPr>
        <p:spPr bwMode="auto">
          <a:xfrm>
            <a:off x="468313" y="3644900"/>
            <a:ext cx="3527425"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zh-CN" altLang="en-US" sz="2800" b="1" dirty="0">
                <a:latin typeface="黑体" panose="02010609060101010101" pitchFamily="49" charset="-122"/>
                <a:ea typeface="黑体" panose="02010609060101010101" pitchFamily="49" charset="-122"/>
              </a:rPr>
              <a:t>计算混合物的广延状态参数</a:t>
            </a:r>
            <a:r>
              <a:rPr lang="zh-CN" altLang="en-US" sz="2800" b="1" dirty="0" smtClean="0">
                <a:latin typeface="黑体" panose="02010609060101010101" pitchFamily="49" charset="-122"/>
                <a:ea typeface="黑体" panose="02010609060101010101" pitchFamily="49" charset="-122"/>
              </a:rPr>
              <a:t>时，只需将各组</a:t>
            </a:r>
            <a:r>
              <a:rPr lang="zh-CN" altLang="en-US" sz="2800" b="1" dirty="0">
                <a:latin typeface="黑体" panose="02010609060101010101" pitchFamily="49" charset="-122"/>
                <a:ea typeface="黑体" panose="02010609060101010101" pitchFamily="49" charset="-122"/>
              </a:rPr>
              <a:t>元的相应广延参数相加 </a:t>
            </a:r>
            <a:endParaRPr lang="zh-CN" altLang="en-US" sz="2800" b="1" dirty="0">
              <a:latin typeface="黑体" panose="02010609060101010101" pitchFamily="49" charset="-122"/>
              <a:ea typeface="黑体" panose="02010609060101010101" pitchFamily="49" charset="-122"/>
            </a:endParaRPr>
          </a:p>
        </p:txBody>
      </p:sp>
      <p:sp>
        <p:nvSpPr>
          <p:cNvPr id="33796" name="矩形 190471"/>
          <p:cNvSpPr>
            <a:spLocks noChangeArrowheads="1"/>
          </p:cNvSpPr>
          <p:nvPr/>
        </p:nvSpPr>
        <p:spPr bwMode="auto">
          <a:xfrm>
            <a:off x="0" y="28289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
        <p:nvSpPr>
          <p:cNvPr id="33798" name="矩形 190472"/>
          <p:cNvSpPr>
            <a:spLocks noChangeArrowheads="1"/>
          </p:cNvSpPr>
          <p:nvPr/>
        </p:nvSpPr>
        <p:spPr bwMode="auto">
          <a:xfrm>
            <a:off x="5003800" y="3716338"/>
            <a:ext cx="360045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zh-CN" altLang="en-US" sz="2800" b="1">
                <a:latin typeface="黑体" panose="02010609060101010101" pitchFamily="49" charset="-122"/>
                <a:ea typeface="黑体" panose="02010609060101010101" pitchFamily="49" charset="-122"/>
              </a:rPr>
              <a:t>计算混合物的强度状态参数时需将各组元的相应强度参数加权平均 </a:t>
            </a:r>
            <a:endParaRPr lang="zh-CN" altLang="en-US" sz="2800" b="1">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46927" y="590371"/>
            <a:ext cx="3170195" cy="2664183"/>
          </a:xfrm>
          <a:prstGeom prst="rect">
            <a:avLst/>
          </a:prstGeom>
        </p:spPr>
      </p:pic>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0943" y="651336"/>
            <a:ext cx="3097036" cy="260321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矩形 191492"/>
          <p:cNvSpPr>
            <a:spLocks noChangeArrowheads="1"/>
          </p:cNvSpPr>
          <p:nvPr/>
        </p:nvSpPr>
        <p:spPr bwMode="auto">
          <a:xfrm>
            <a:off x="0" y="3257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34818" name="对象 191491"/>
          <p:cNvGraphicFramePr/>
          <p:nvPr/>
        </p:nvGraphicFramePr>
        <p:xfrm>
          <a:off x="1116013" y="620713"/>
          <a:ext cx="5111750" cy="741362"/>
        </p:xfrm>
        <a:graphic>
          <a:graphicData uri="http://schemas.openxmlformats.org/presentationml/2006/ole">
            <mc:AlternateContent xmlns:mc="http://schemas.openxmlformats.org/markup-compatibility/2006">
              <mc:Choice xmlns:v="urn:schemas-microsoft-com:vml" Requires="v">
                <p:oleObj spid="_x0000_s10566" name="" r:id="rId1" imgW="2362200" imgH="342900" progId="Equation.DSMT4">
                  <p:embed/>
                </p:oleObj>
              </mc:Choice>
              <mc:Fallback>
                <p:oleObj name="" r:id="rId1" imgW="2362200" imgH="342900" progId="Equation.DSMT4">
                  <p:embed/>
                  <p:pic>
                    <p:nvPicPr>
                      <p:cNvPr id="0" name="对象 19149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620713"/>
                        <a:ext cx="5111750" cy="74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4819" name="矩形 191494"/>
          <p:cNvSpPr>
            <a:spLocks noChangeArrowheads="1"/>
          </p:cNvSpPr>
          <p:nvPr/>
        </p:nvSpPr>
        <p:spPr bwMode="auto">
          <a:xfrm>
            <a:off x="0" y="3257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34820" name="对象 191493"/>
          <p:cNvGraphicFramePr/>
          <p:nvPr/>
        </p:nvGraphicFramePr>
        <p:xfrm>
          <a:off x="1187450" y="1484313"/>
          <a:ext cx="2016125" cy="763587"/>
        </p:xfrm>
        <a:graphic>
          <a:graphicData uri="http://schemas.openxmlformats.org/presentationml/2006/ole">
            <mc:AlternateContent xmlns:mc="http://schemas.openxmlformats.org/markup-compatibility/2006">
              <mc:Choice xmlns:v="urn:schemas-microsoft-com:vml" Requires="v">
                <p:oleObj spid="_x0000_s10567" name="" r:id="rId3" imgW="901065" imgH="342900" progId="Equation.DSMT4">
                  <p:embed/>
                </p:oleObj>
              </mc:Choice>
              <mc:Fallback>
                <p:oleObj name="" r:id="rId3" imgW="901065" imgH="342900" progId="Equation.DSMT4">
                  <p:embed/>
                  <p:pic>
                    <p:nvPicPr>
                      <p:cNvPr id="0" name="对象 19149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1484313"/>
                        <a:ext cx="2016125" cy="76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4821" name="矩形 191496"/>
          <p:cNvSpPr>
            <a:spLocks noChangeArrowheads="1"/>
          </p:cNvSpPr>
          <p:nvPr/>
        </p:nvSpPr>
        <p:spPr bwMode="auto">
          <a:xfrm>
            <a:off x="0" y="3257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34822" name="对象 191495"/>
          <p:cNvGraphicFramePr/>
          <p:nvPr/>
        </p:nvGraphicFramePr>
        <p:xfrm>
          <a:off x="1187450" y="2349500"/>
          <a:ext cx="2555875" cy="760413"/>
        </p:xfrm>
        <a:graphic>
          <a:graphicData uri="http://schemas.openxmlformats.org/presentationml/2006/ole">
            <mc:AlternateContent xmlns:mc="http://schemas.openxmlformats.org/markup-compatibility/2006">
              <mc:Choice xmlns:v="urn:schemas-microsoft-com:vml" Requires="v">
                <p:oleObj spid="_x0000_s10568" name="" r:id="rId5" imgW="1155700" imgH="342900" progId="Equation.DSMT4">
                  <p:embed/>
                </p:oleObj>
              </mc:Choice>
              <mc:Fallback>
                <p:oleObj name="" r:id="rId5" imgW="1155700" imgH="342900" progId="Equation.DSMT4">
                  <p:embed/>
                  <p:pic>
                    <p:nvPicPr>
                      <p:cNvPr id="0" name="对象 19149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7450" y="2349500"/>
                        <a:ext cx="2555875"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4823" name="矩形 191498"/>
          <p:cNvSpPr>
            <a:spLocks noChangeArrowheads="1"/>
          </p:cNvSpPr>
          <p:nvPr/>
        </p:nvSpPr>
        <p:spPr bwMode="auto">
          <a:xfrm>
            <a:off x="0" y="3257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34824" name="对象 191497"/>
          <p:cNvGraphicFramePr/>
          <p:nvPr/>
        </p:nvGraphicFramePr>
        <p:xfrm>
          <a:off x="1187450" y="3716338"/>
          <a:ext cx="1944688" cy="769937"/>
        </p:xfrm>
        <a:graphic>
          <a:graphicData uri="http://schemas.openxmlformats.org/presentationml/2006/ole">
            <mc:AlternateContent xmlns:mc="http://schemas.openxmlformats.org/markup-compatibility/2006">
              <mc:Choice xmlns:v="urn:schemas-microsoft-com:vml" Requires="v">
                <p:oleObj spid="_x0000_s10569" name="" r:id="rId7" imgW="862965" imgH="342900" progId="Equation.DSMT4">
                  <p:embed/>
                </p:oleObj>
              </mc:Choice>
              <mc:Fallback>
                <p:oleObj name="" r:id="rId7" imgW="862965" imgH="342900" progId="Equation.DSMT4">
                  <p:embed/>
                  <p:pic>
                    <p:nvPicPr>
                      <p:cNvPr id="0" name="对象 191497"/>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87450" y="3716338"/>
                        <a:ext cx="1944688"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4825" name="矩形 191499"/>
          <p:cNvSpPr>
            <a:spLocks noChangeArrowheads="1"/>
          </p:cNvSpPr>
          <p:nvPr/>
        </p:nvSpPr>
        <p:spPr bwMode="auto">
          <a:xfrm>
            <a:off x="1042988" y="549275"/>
            <a:ext cx="5329237" cy="2663825"/>
          </a:xfrm>
          <a:prstGeom prst="rect">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ea typeface="宋体" panose="02010600030101010101" pitchFamily="2" charset="-122"/>
            </a:endParaRPr>
          </a:p>
        </p:txBody>
      </p:sp>
      <p:sp>
        <p:nvSpPr>
          <p:cNvPr id="34826" name="矩形 191501"/>
          <p:cNvSpPr>
            <a:spLocks noChangeArrowheads="1"/>
          </p:cNvSpPr>
          <p:nvPr/>
        </p:nvSpPr>
        <p:spPr bwMode="auto">
          <a:xfrm>
            <a:off x="0" y="3257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34827" name="对象 191500"/>
          <p:cNvGraphicFramePr/>
          <p:nvPr/>
        </p:nvGraphicFramePr>
        <p:xfrm>
          <a:off x="1187450" y="4581525"/>
          <a:ext cx="2016125" cy="781050"/>
        </p:xfrm>
        <a:graphic>
          <a:graphicData uri="http://schemas.openxmlformats.org/presentationml/2006/ole">
            <mc:AlternateContent xmlns:mc="http://schemas.openxmlformats.org/markup-compatibility/2006">
              <mc:Choice xmlns:v="urn:schemas-microsoft-com:vml" Requires="v">
                <p:oleObj spid="_x0000_s10570" name="" r:id="rId9" imgW="888365" imgH="342900" progId="Equation.DSMT4">
                  <p:embed/>
                </p:oleObj>
              </mc:Choice>
              <mc:Fallback>
                <p:oleObj name="" r:id="rId9" imgW="888365" imgH="342900" progId="Equation.DSMT4">
                  <p:embed/>
                  <p:pic>
                    <p:nvPicPr>
                      <p:cNvPr id="0" name="对象 191500"/>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87450" y="4581525"/>
                        <a:ext cx="2016125"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4828" name="矩形 191503"/>
          <p:cNvSpPr>
            <a:spLocks noChangeArrowheads="1"/>
          </p:cNvSpPr>
          <p:nvPr/>
        </p:nvSpPr>
        <p:spPr bwMode="auto">
          <a:xfrm>
            <a:off x="0" y="3257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34829" name="对象 191502"/>
          <p:cNvGraphicFramePr/>
          <p:nvPr/>
        </p:nvGraphicFramePr>
        <p:xfrm>
          <a:off x="1187450" y="5516563"/>
          <a:ext cx="2520950" cy="749300"/>
        </p:xfrm>
        <a:graphic>
          <a:graphicData uri="http://schemas.openxmlformats.org/presentationml/2006/ole">
            <mc:AlternateContent xmlns:mc="http://schemas.openxmlformats.org/markup-compatibility/2006">
              <mc:Choice xmlns:v="urn:schemas-microsoft-com:vml" Requires="v">
                <p:oleObj spid="_x0000_s10571" name="" r:id="rId11" imgW="1155700" imgH="342900" progId="Equation.DSMT4">
                  <p:embed/>
                </p:oleObj>
              </mc:Choice>
              <mc:Fallback>
                <p:oleObj name="" r:id="rId11" imgW="1155700" imgH="342900" progId="Equation.DSMT4">
                  <p:embed/>
                  <p:pic>
                    <p:nvPicPr>
                      <p:cNvPr id="0" name="对象 191502"/>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87450" y="5516563"/>
                        <a:ext cx="2520950"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4830" name="矩形 191504"/>
          <p:cNvSpPr>
            <a:spLocks noChangeArrowheads="1"/>
          </p:cNvSpPr>
          <p:nvPr/>
        </p:nvSpPr>
        <p:spPr bwMode="auto">
          <a:xfrm>
            <a:off x="1042988" y="3644900"/>
            <a:ext cx="5329237" cy="2663825"/>
          </a:xfrm>
          <a:prstGeom prst="rect">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ea typeface="宋体" panose="02010600030101010101" pitchFamily="2" charset="-122"/>
            </a:endParaRPr>
          </a:p>
        </p:txBody>
      </p:sp>
      <p:sp>
        <p:nvSpPr>
          <p:cNvPr id="34831" name="矩形 191505"/>
          <p:cNvSpPr>
            <a:spLocks noChangeArrowheads="1"/>
          </p:cNvSpPr>
          <p:nvPr/>
        </p:nvSpPr>
        <p:spPr bwMode="auto">
          <a:xfrm>
            <a:off x="6588125" y="1412875"/>
            <a:ext cx="223202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3200" b="1" dirty="0">
                <a:solidFill>
                  <a:srgbClr val="FF0000"/>
                </a:solidFill>
                <a:ea typeface="黑体" panose="02010609060101010101" pitchFamily="49" charset="-122"/>
              </a:rPr>
              <a:t>热力学能的变化</a:t>
            </a:r>
            <a:endParaRPr lang="zh-CN" altLang="en-US" sz="3200" b="1" dirty="0">
              <a:solidFill>
                <a:srgbClr val="FF0000"/>
              </a:solidFill>
              <a:ea typeface="黑体" panose="02010609060101010101" pitchFamily="49" charset="-122"/>
            </a:endParaRPr>
          </a:p>
        </p:txBody>
      </p:sp>
      <p:sp>
        <p:nvSpPr>
          <p:cNvPr id="34832" name="矩形 191506"/>
          <p:cNvSpPr>
            <a:spLocks noChangeArrowheads="1"/>
          </p:cNvSpPr>
          <p:nvPr/>
        </p:nvSpPr>
        <p:spPr bwMode="auto">
          <a:xfrm>
            <a:off x="6659563" y="4508500"/>
            <a:ext cx="22320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3200" b="1">
                <a:solidFill>
                  <a:srgbClr val="FF0000"/>
                </a:solidFill>
                <a:ea typeface="黑体" panose="02010609060101010101" pitchFamily="49" charset="-122"/>
              </a:rPr>
              <a:t>焓的变化</a:t>
            </a:r>
            <a:endParaRPr lang="zh-CN" altLang="en-US" sz="3200" b="1">
              <a:solidFill>
                <a:srgbClr val="FF0000"/>
              </a:solidFill>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文本框 111618"/>
          <p:cNvSpPr txBox="1">
            <a:spLocks noChangeArrowheads="1"/>
          </p:cNvSpPr>
          <p:nvPr/>
        </p:nvSpPr>
        <p:spPr bwMode="auto">
          <a:xfrm>
            <a:off x="407988" y="400845"/>
            <a:ext cx="63246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Clr>
                <a:schemeClr val="folHlink"/>
              </a:buClr>
              <a:buFont typeface="Wingdings" panose="05000000000000000000" pitchFamily="2" charset="2"/>
              <a:buNone/>
            </a:pPr>
            <a:r>
              <a:rPr lang="zh-CN" altLang="en-US" sz="3200" b="1" dirty="0">
                <a:latin typeface="Times New Roman" panose="02020603050405020304" pitchFamily="18" charset="0"/>
                <a:ea typeface="黑体" panose="02010609060101010101" pitchFamily="49" charset="-122"/>
              </a:rPr>
              <a:t>二、理想气体混合物的比热容</a:t>
            </a:r>
            <a:endParaRPr lang="zh-CN" altLang="en-US" sz="3200" b="1" dirty="0">
              <a:latin typeface="Times New Roman" panose="02020603050405020304" pitchFamily="18" charset="0"/>
              <a:ea typeface="黑体" panose="02010609060101010101" pitchFamily="49" charset="-122"/>
            </a:endParaRPr>
          </a:p>
        </p:txBody>
      </p:sp>
      <p:sp>
        <p:nvSpPr>
          <p:cNvPr id="35842" name="矩形 111624"/>
          <p:cNvSpPr>
            <a:spLocks noChangeArrowheads="1"/>
          </p:cNvSpPr>
          <p:nvPr/>
        </p:nvSpPr>
        <p:spPr bwMode="auto">
          <a:xfrm>
            <a:off x="0" y="31575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35843" name="对象 111623"/>
          <p:cNvGraphicFramePr/>
          <p:nvPr/>
        </p:nvGraphicFramePr>
        <p:xfrm>
          <a:off x="539750" y="1773238"/>
          <a:ext cx="2879725" cy="841375"/>
        </p:xfrm>
        <a:graphic>
          <a:graphicData uri="http://schemas.openxmlformats.org/presentationml/2006/ole">
            <mc:AlternateContent xmlns:mc="http://schemas.openxmlformats.org/markup-compatibility/2006">
              <mc:Choice xmlns:v="urn:schemas-microsoft-com:vml" Requires="v">
                <p:oleObj spid="_x0000_s11590" name="" r:id="rId1" imgW="1167765" imgH="342900" progId="Equation.DSMT4">
                  <p:embed/>
                </p:oleObj>
              </mc:Choice>
              <mc:Fallback>
                <p:oleObj name="" r:id="rId1" imgW="1167765" imgH="342900" progId="Equation.DSMT4">
                  <p:embed/>
                  <p:pic>
                    <p:nvPicPr>
                      <p:cNvPr id="0" name="对象 11162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1773238"/>
                        <a:ext cx="2879725" cy="84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844" name="直接连接符 111625"/>
          <p:cNvSpPr>
            <a:spLocks noChangeShapeType="1"/>
          </p:cNvSpPr>
          <p:nvPr/>
        </p:nvSpPr>
        <p:spPr bwMode="auto">
          <a:xfrm>
            <a:off x="755650" y="2420938"/>
            <a:ext cx="0" cy="100806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46" name="矩形 111628"/>
          <p:cNvSpPr>
            <a:spLocks noChangeArrowheads="1"/>
          </p:cNvSpPr>
          <p:nvPr/>
        </p:nvSpPr>
        <p:spPr bwMode="auto">
          <a:xfrm>
            <a:off x="0" y="3257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35847" name="对象 111627"/>
          <p:cNvGraphicFramePr/>
          <p:nvPr/>
        </p:nvGraphicFramePr>
        <p:xfrm>
          <a:off x="684213" y="3500438"/>
          <a:ext cx="3348037" cy="866775"/>
        </p:xfrm>
        <a:graphic>
          <a:graphicData uri="http://schemas.openxmlformats.org/presentationml/2006/ole">
            <mc:AlternateContent xmlns:mc="http://schemas.openxmlformats.org/markup-compatibility/2006">
              <mc:Choice xmlns:v="urn:schemas-microsoft-com:vml" Requires="v">
                <p:oleObj spid="_x0000_s11591" name="" r:id="rId3" imgW="1320165" imgH="342900" progId="Equation.DSMT4">
                  <p:embed/>
                </p:oleObj>
              </mc:Choice>
              <mc:Fallback>
                <p:oleObj name="" r:id="rId3" imgW="1320165" imgH="342900" progId="Equation.DSMT4">
                  <p:embed/>
                  <p:pic>
                    <p:nvPicPr>
                      <p:cNvPr id="0" name="对象 11162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3500438"/>
                        <a:ext cx="3348037"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848" name="矩形 111630"/>
          <p:cNvSpPr>
            <a:spLocks noChangeArrowheads="1"/>
          </p:cNvSpPr>
          <p:nvPr/>
        </p:nvSpPr>
        <p:spPr bwMode="auto">
          <a:xfrm>
            <a:off x="0" y="3257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35849" name="对象 111629"/>
          <p:cNvGraphicFramePr/>
          <p:nvPr/>
        </p:nvGraphicFramePr>
        <p:xfrm>
          <a:off x="4932363" y="3500438"/>
          <a:ext cx="3743325" cy="815975"/>
        </p:xfrm>
        <a:graphic>
          <a:graphicData uri="http://schemas.openxmlformats.org/presentationml/2006/ole">
            <mc:AlternateContent xmlns:mc="http://schemas.openxmlformats.org/markup-compatibility/2006">
              <mc:Choice xmlns:v="urn:schemas-microsoft-com:vml" Requires="v">
                <p:oleObj spid="_x0000_s11592" name="" r:id="rId5" imgW="1574800" imgH="342900" progId="Equation.DSMT4">
                  <p:embed/>
                </p:oleObj>
              </mc:Choice>
              <mc:Fallback>
                <p:oleObj name="" r:id="rId5" imgW="1574800" imgH="342900" progId="Equation.DSMT4">
                  <p:embed/>
                  <p:pic>
                    <p:nvPicPr>
                      <p:cNvPr id="0" name="对象 11162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32363" y="3500438"/>
                        <a:ext cx="3743325"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5850" name="对象 111631"/>
          <p:cNvGraphicFramePr/>
          <p:nvPr/>
        </p:nvGraphicFramePr>
        <p:xfrm>
          <a:off x="5076825" y="1628775"/>
          <a:ext cx="3095625" cy="920750"/>
        </p:xfrm>
        <a:graphic>
          <a:graphicData uri="http://schemas.openxmlformats.org/presentationml/2006/ole">
            <mc:AlternateContent xmlns:mc="http://schemas.openxmlformats.org/markup-compatibility/2006">
              <mc:Choice xmlns:v="urn:schemas-microsoft-com:vml" Requires="v">
                <p:oleObj spid="_x0000_s11593" name="" r:id="rId7" imgW="1155700" imgH="342900" progId="Equation.DSMT4">
                  <p:embed/>
                </p:oleObj>
              </mc:Choice>
              <mc:Fallback>
                <p:oleObj name="" r:id="rId7" imgW="1155700" imgH="342900" progId="Equation.DSMT4">
                  <p:embed/>
                  <p:pic>
                    <p:nvPicPr>
                      <p:cNvPr id="0" name="对象 111631"/>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76825" y="1628775"/>
                        <a:ext cx="3095625"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851" name="直接连接符 111632"/>
          <p:cNvSpPr>
            <a:spLocks noChangeShapeType="1"/>
          </p:cNvSpPr>
          <p:nvPr/>
        </p:nvSpPr>
        <p:spPr bwMode="auto">
          <a:xfrm>
            <a:off x="5508625" y="2420938"/>
            <a:ext cx="0" cy="100806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53" name="矩形 111635"/>
          <p:cNvSpPr>
            <a:spLocks noChangeArrowheads="1"/>
          </p:cNvSpPr>
          <p:nvPr/>
        </p:nvSpPr>
        <p:spPr bwMode="auto">
          <a:xfrm>
            <a:off x="0" y="3257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35854" name="对象 111634"/>
          <p:cNvGraphicFramePr/>
          <p:nvPr/>
        </p:nvGraphicFramePr>
        <p:xfrm>
          <a:off x="5075238" y="5013325"/>
          <a:ext cx="2952750" cy="765175"/>
        </p:xfrm>
        <a:graphic>
          <a:graphicData uri="http://schemas.openxmlformats.org/presentationml/2006/ole">
            <mc:AlternateContent xmlns:mc="http://schemas.openxmlformats.org/markup-compatibility/2006">
              <mc:Choice xmlns:v="urn:schemas-microsoft-com:vml" Requires="v">
                <p:oleObj spid="_x0000_s11594" name="" r:id="rId9" imgW="1320165" imgH="342900" progId="Equation.DSMT4">
                  <p:embed/>
                </p:oleObj>
              </mc:Choice>
              <mc:Fallback>
                <p:oleObj name="" r:id="rId9" imgW="1320165" imgH="342900" progId="Equation.DSMT4">
                  <p:embed/>
                  <p:pic>
                    <p:nvPicPr>
                      <p:cNvPr id="0" name="对象 111634"/>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75238" y="5013325"/>
                        <a:ext cx="2952750"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5855" name="对象 111636"/>
          <p:cNvGraphicFramePr/>
          <p:nvPr/>
        </p:nvGraphicFramePr>
        <p:xfrm>
          <a:off x="5003800" y="5805488"/>
          <a:ext cx="3240088" cy="711200"/>
        </p:xfrm>
        <a:graphic>
          <a:graphicData uri="http://schemas.openxmlformats.org/presentationml/2006/ole">
            <mc:AlternateContent xmlns:mc="http://schemas.openxmlformats.org/markup-compatibility/2006">
              <mc:Choice xmlns:v="urn:schemas-microsoft-com:vml" Requires="v">
                <p:oleObj spid="_x0000_s11595" name="" r:id="rId11" imgW="1562100" imgH="342900" progId="Equation.DSMT4">
                  <p:embed/>
                </p:oleObj>
              </mc:Choice>
              <mc:Fallback>
                <p:oleObj name="" r:id="rId11" imgW="1562100" imgH="342900" progId="Equation.DSMT4">
                  <p:embed/>
                  <p:pic>
                    <p:nvPicPr>
                      <p:cNvPr id="0" name="对象 111636"/>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03800" y="5805488"/>
                        <a:ext cx="3240088"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857" name="右箭头 111639"/>
          <p:cNvSpPr>
            <a:spLocks noChangeArrowheads="1"/>
          </p:cNvSpPr>
          <p:nvPr/>
        </p:nvSpPr>
        <p:spPr bwMode="auto">
          <a:xfrm>
            <a:off x="4427538" y="5589588"/>
            <a:ext cx="576262" cy="144462"/>
          </a:xfrm>
          <a:prstGeom prst="rightArrow">
            <a:avLst>
              <a:gd name="adj1" fmla="val 50000"/>
              <a:gd name="adj2" fmla="val 99652"/>
            </a:avLst>
          </a:prstGeom>
          <a:solidFill>
            <a:schemeClr val="accent1"/>
          </a:solidFill>
          <a:ln w="9525">
            <a:solidFill>
              <a:schemeClr val="tx1"/>
            </a:solidFill>
            <a:miter lim="800000"/>
          </a:ln>
        </p:spPr>
        <p:txBody>
          <a:bodyPr/>
          <a:lstStyle/>
          <a:p>
            <a:pPr eaLnBrk="0" hangingPunct="0"/>
            <a:endParaRPr lang="zh-CN" altLang="en-US">
              <a:ea typeface="宋体" panose="02010600030101010101" pitchFamily="2" charset="-122"/>
            </a:endParaRPr>
          </a:p>
        </p:txBody>
      </p:sp>
      <p:sp>
        <p:nvSpPr>
          <p:cNvPr id="20" name="矩形 191505"/>
          <p:cNvSpPr>
            <a:spLocks noChangeArrowheads="1"/>
          </p:cNvSpPr>
          <p:nvPr/>
        </p:nvSpPr>
        <p:spPr bwMode="auto">
          <a:xfrm>
            <a:off x="918541" y="2726680"/>
            <a:ext cx="22320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dirty="0" smtClean="0">
                <a:solidFill>
                  <a:srgbClr val="FF0000"/>
                </a:solidFill>
                <a:ea typeface="黑体" panose="02010609060101010101" pitchFamily="49" charset="-122"/>
              </a:rPr>
              <a:t>对温度求导</a:t>
            </a:r>
            <a:endParaRPr lang="zh-CN" altLang="en-US" sz="2400" b="1" dirty="0">
              <a:solidFill>
                <a:srgbClr val="FF0000"/>
              </a:solidFill>
              <a:ea typeface="黑体" panose="02010609060101010101" pitchFamily="49" charset="-122"/>
            </a:endParaRPr>
          </a:p>
        </p:txBody>
      </p:sp>
      <p:sp>
        <p:nvSpPr>
          <p:cNvPr id="21" name="矩形 191505"/>
          <p:cNvSpPr>
            <a:spLocks noChangeArrowheads="1"/>
          </p:cNvSpPr>
          <p:nvPr/>
        </p:nvSpPr>
        <p:spPr bwMode="auto">
          <a:xfrm>
            <a:off x="5671515" y="2726680"/>
            <a:ext cx="22320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dirty="0" smtClean="0">
                <a:solidFill>
                  <a:srgbClr val="FF0000"/>
                </a:solidFill>
                <a:ea typeface="黑体" panose="02010609060101010101" pitchFamily="49" charset="-122"/>
              </a:rPr>
              <a:t>对温度求导</a:t>
            </a:r>
            <a:endParaRPr lang="zh-CN" altLang="en-US" sz="2400" b="1" dirty="0">
              <a:solidFill>
                <a:srgbClr val="FF0000"/>
              </a:solidFill>
              <a:ea typeface="黑体" panose="02010609060101010101" pitchFamily="49" charset="-122"/>
            </a:endParaRPr>
          </a:p>
        </p:txBody>
      </p:sp>
      <p:sp>
        <p:nvSpPr>
          <p:cNvPr id="22" name="矩形 191505"/>
          <p:cNvSpPr>
            <a:spLocks noChangeArrowheads="1"/>
          </p:cNvSpPr>
          <p:nvPr/>
        </p:nvSpPr>
        <p:spPr bwMode="auto">
          <a:xfrm>
            <a:off x="468451" y="5365601"/>
            <a:ext cx="38876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400" b="1" dirty="0" smtClean="0">
                <a:solidFill>
                  <a:srgbClr val="FF0000"/>
                </a:solidFill>
                <a:ea typeface="黑体" panose="02010609060101010101" pitchFamily="49" charset="-122"/>
              </a:rPr>
              <a:t>同理，对比焓或摩尔焓求导</a:t>
            </a:r>
            <a:endParaRPr lang="zh-CN" altLang="en-US" sz="2400" b="1" dirty="0">
              <a:solidFill>
                <a:srgbClr val="FF0000"/>
              </a:solidFill>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文本占位符 193538"/>
          <p:cNvSpPr>
            <a:spLocks noGrp="1" noChangeArrowheads="1"/>
          </p:cNvSpPr>
          <p:nvPr>
            <p:ph idx="1"/>
          </p:nvPr>
        </p:nvSpPr>
        <p:spPr>
          <a:xfrm>
            <a:off x="685800" y="1370013"/>
            <a:ext cx="7772400" cy="4114800"/>
          </a:xfrm>
        </p:spPr>
        <p:txBody>
          <a:bodyPr>
            <a:normAutofit/>
          </a:bodyPr>
          <a:lstStyle/>
          <a:p>
            <a:pPr>
              <a:lnSpc>
                <a:spcPct val="100000"/>
              </a:lnSpc>
            </a:pPr>
            <a:r>
              <a:rPr lang="zh-CN" altLang="en-US" sz="2800" b="1" dirty="0" smtClean="0">
                <a:latin typeface="黑体" panose="02010609060101010101" pitchFamily="49" charset="-122"/>
                <a:ea typeface="黑体" panose="02010609060101010101" pitchFamily="49" charset="-122"/>
              </a:rPr>
              <a:t>理想气体混合物的熵等于各组元气体的熵值之和。</a:t>
            </a:r>
            <a:r>
              <a:rPr lang="zh-CN" altLang="en-US" sz="2800" b="1" dirty="0" smtClean="0">
                <a:solidFill>
                  <a:srgbClr val="FF0000"/>
                </a:solidFill>
                <a:latin typeface="黑体" panose="02010609060101010101" pitchFamily="49" charset="-122"/>
                <a:ea typeface="黑体" panose="02010609060101010101" pitchFamily="49" charset="-122"/>
              </a:rPr>
              <a:t>但需要特别注意的是</a:t>
            </a:r>
            <a:r>
              <a:rPr lang="zh-CN" altLang="en-US" sz="2800" b="1" dirty="0" smtClean="0">
                <a:latin typeface="黑体" panose="02010609060101010101" pitchFamily="49" charset="-122"/>
                <a:ea typeface="黑体" panose="02010609060101010101" pitchFamily="49" charset="-122"/>
              </a:rPr>
              <a:t>，理想气体的熵不只是温度的函数，还与压力（或比体积）有关</a:t>
            </a:r>
            <a:endParaRPr lang="zh-CN" altLang="en-US" sz="2800" b="1" dirty="0" smtClean="0">
              <a:latin typeface="黑体" panose="02010609060101010101" pitchFamily="49" charset="-122"/>
              <a:ea typeface="黑体" panose="02010609060101010101" pitchFamily="49" charset="-122"/>
            </a:endParaRPr>
          </a:p>
          <a:p>
            <a:pPr>
              <a:lnSpc>
                <a:spcPct val="100000"/>
              </a:lnSpc>
            </a:pPr>
            <a:r>
              <a:rPr lang="zh-CN" altLang="en-US" sz="2800" b="1" dirty="0" smtClean="0">
                <a:latin typeface="黑体" panose="02010609060101010101" pitchFamily="49" charset="-122"/>
                <a:ea typeface="黑体" panose="02010609060101010101" pitchFamily="49" charset="-122"/>
              </a:rPr>
              <a:t>由</a:t>
            </a:r>
            <a:r>
              <a:rPr lang="zh-CN" altLang="en-US" sz="2800" b="1" dirty="0" smtClean="0">
                <a:latin typeface="Times New Roman" panose="02020603050405020304" pitchFamily="18" charset="0"/>
                <a:ea typeface="黑体" panose="02010609060101010101" pitchFamily="49" charset="-122"/>
              </a:rPr>
              <a:t>于理想气体混合物中各组元气体分子处于互不干扰的情况，各组元气体的熵相当于温度</a:t>
            </a:r>
            <a:r>
              <a:rPr lang="en-US" altLang="zh-CN" sz="2800" b="1" i="1" dirty="0" smtClean="0">
                <a:latin typeface="Times New Roman" panose="02020603050405020304" pitchFamily="18" charset="0"/>
                <a:ea typeface="黑体" panose="02010609060101010101" pitchFamily="49" charset="-122"/>
              </a:rPr>
              <a:t>T</a:t>
            </a:r>
            <a:r>
              <a:rPr lang="zh-CN" altLang="en-US" sz="2800" b="1" dirty="0" smtClean="0">
                <a:latin typeface="Times New Roman" panose="02020603050405020304" pitchFamily="18" charset="0"/>
                <a:ea typeface="黑体" panose="02010609060101010101" pitchFamily="49" charset="-122"/>
              </a:rPr>
              <a:t>下单独处在体积</a:t>
            </a:r>
            <a:r>
              <a:rPr lang="en-US" altLang="zh-CN" sz="2800" b="1" i="1" dirty="0" smtClean="0">
                <a:latin typeface="Times New Roman" panose="02020603050405020304" pitchFamily="18" charset="0"/>
                <a:ea typeface="黑体" panose="02010609060101010101" pitchFamily="49" charset="-122"/>
              </a:rPr>
              <a:t>V</a:t>
            </a:r>
            <a:r>
              <a:rPr lang="zh-CN" altLang="en-US" sz="2800" b="1" dirty="0" smtClean="0">
                <a:latin typeface="Times New Roman" panose="02020603050405020304" pitchFamily="18" charset="0"/>
                <a:ea typeface="黑体" panose="02010609060101010101" pitchFamily="49" charset="-122"/>
              </a:rPr>
              <a:t>中</a:t>
            </a:r>
            <a:r>
              <a:rPr lang="zh-CN" altLang="en-US" sz="2800" b="1" dirty="0" smtClean="0">
                <a:latin typeface="黑体" panose="02010609060101010101" pitchFamily="49" charset="-122"/>
                <a:ea typeface="黑体" panose="02010609060101010101" pitchFamily="49" charset="-122"/>
              </a:rPr>
              <a:t>的熵值</a:t>
            </a:r>
            <a:r>
              <a:rPr lang="zh-CN" altLang="en-US" sz="2800" b="1" dirty="0" smtClean="0">
                <a:ea typeface="宋体" panose="02010600030101010101" pitchFamily="2" charset="-122"/>
              </a:rPr>
              <a:t> </a:t>
            </a:r>
            <a:endParaRPr lang="zh-CN" altLang="en-US" sz="2800" b="1" dirty="0" smtClean="0">
              <a:ea typeface="宋体" panose="02010600030101010101" pitchFamily="2" charset="-122"/>
            </a:endParaRPr>
          </a:p>
        </p:txBody>
      </p:sp>
      <p:sp>
        <p:nvSpPr>
          <p:cNvPr id="36866" name="文本框 193539"/>
          <p:cNvSpPr txBox="1">
            <a:spLocks noChangeArrowheads="1"/>
          </p:cNvSpPr>
          <p:nvPr/>
        </p:nvSpPr>
        <p:spPr bwMode="auto">
          <a:xfrm>
            <a:off x="539750" y="333375"/>
            <a:ext cx="78422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Clr>
                <a:schemeClr val="folHlink"/>
              </a:buClr>
              <a:buFont typeface="Wingdings" panose="05000000000000000000" pitchFamily="2" charset="2"/>
              <a:buNone/>
            </a:pPr>
            <a:r>
              <a:rPr lang="zh-CN" altLang="en-US" sz="3200" b="1">
                <a:latin typeface="Times New Roman" panose="02020603050405020304" pitchFamily="18" charset="0"/>
                <a:ea typeface="黑体" panose="02010609060101010101" pitchFamily="49" charset="-122"/>
              </a:rPr>
              <a:t>三、理想气体混合物的熵</a:t>
            </a:r>
            <a:endParaRPr lang="zh-CN" altLang="en-US" sz="3200" b="1">
              <a:latin typeface="Times New Roman" panose="02020603050405020304" pitchFamily="18" charset="0"/>
              <a:ea typeface="黑体" panose="02010609060101010101" pitchFamily="49" charset="-122"/>
            </a:endParaRPr>
          </a:p>
        </p:txBody>
      </p:sp>
      <p:sp>
        <p:nvSpPr>
          <p:cNvPr id="36867" name="矩形 193541"/>
          <p:cNvSpPr>
            <a:spLocks noChangeArrowheads="1"/>
          </p:cNvSpPr>
          <p:nvPr/>
        </p:nvSpPr>
        <p:spPr bwMode="auto">
          <a:xfrm>
            <a:off x="0" y="3257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36868" name="对象 193540"/>
          <p:cNvGraphicFramePr/>
          <p:nvPr/>
        </p:nvGraphicFramePr>
        <p:xfrm>
          <a:off x="786641" y="4665248"/>
          <a:ext cx="3527425" cy="857250"/>
        </p:xfrm>
        <a:graphic>
          <a:graphicData uri="http://schemas.openxmlformats.org/presentationml/2006/ole">
            <mc:AlternateContent xmlns:mc="http://schemas.openxmlformats.org/markup-compatibility/2006">
              <mc:Choice xmlns:v="urn:schemas-microsoft-com:vml" Requires="v">
                <p:oleObj spid="_x0000_s12344" name="" r:id="rId1" imgW="1409065" imgH="342900" progId="Equation.DSMT4">
                  <p:embed/>
                </p:oleObj>
              </mc:Choice>
              <mc:Fallback>
                <p:oleObj name="" r:id="rId1" imgW="1409065" imgH="342900" progId="Equation.DSMT4">
                  <p:embed/>
                  <p:pic>
                    <p:nvPicPr>
                      <p:cNvPr id="0" name="对象 19354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6641" y="4665248"/>
                        <a:ext cx="3527425"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6869" name="直接连接符 193544"/>
          <p:cNvSpPr>
            <a:spLocks noChangeShapeType="1"/>
          </p:cNvSpPr>
          <p:nvPr/>
        </p:nvSpPr>
        <p:spPr bwMode="auto">
          <a:xfrm>
            <a:off x="3711921" y="5288650"/>
            <a:ext cx="431800" cy="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870" name="直接连接符 193545"/>
          <p:cNvSpPr>
            <a:spLocks noChangeShapeType="1"/>
          </p:cNvSpPr>
          <p:nvPr/>
        </p:nvSpPr>
        <p:spPr bwMode="auto">
          <a:xfrm>
            <a:off x="3927821" y="5288650"/>
            <a:ext cx="215900" cy="358775"/>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871" name="直接连接符 193546"/>
          <p:cNvSpPr>
            <a:spLocks noChangeShapeType="1"/>
          </p:cNvSpPr>
          <p:nvPr/>
        </p:nvSpPr>
        <p:spPr bwMode="auto">
          <a:xfrm>
            <a:off x="4143721" y="5647425"/>
            <a:ext cx="863600" cy="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 name="矩形 191505"/>
          <p:cNvSpPr>
            <a:spLocks noChangeArrowheads="1"/>
          </p:cNvSpPr>
          <p:nvPr/>
        </p:nvSpPr>
        <p:spPr bwMode="auto">
          <a:xfrm>
            <a:off x="5007321" y="5430352"/>
            <a:ext cx="36600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400" b="1" dirty="0" smtClean="0">
                <a:solidFill>
                  <a:srgbClr val="FF0000"/>
                </a:solidFill>
                <a:ea typeface="黑体" panose="02010609060101010101" pitchFamily="49" charset="-122"/>
              </a:rPr>
              <a:t>组元气体的压力为分压力</a:t>
            </a:r>
            <a:endParaRPr lang="zh-CN" altLang="en-US" sz="2400" b="1" dirty="0">
              <a:solidFill>
                <a:srgbClr val="FF0000"/>
              </a:solidFill>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矩形 194564"/>
          <p:cNvSpPr>
            <a:spLocks noChangeArrowheads="1"/>
          </p:cNvSpPr>
          <p:nvPr/>
        </p:nvSpPr>
        <p:spPr bwMode="auto">
          <a:xfrm>
            <a:off x="0" y="3257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37890" name="对象 194563"/>
          <p:cNvGraphicFramePr/>
          <p:nvPr/>
        </p:nvGraphicFramePr>
        <p:xfrm>
          <a:off x="2675905" y="1504570"/>
          <a:ext cx="3600450" cy="830263"/>
        </p:xfrm>
        <a:graphic>
          <a:graphicData uri="http://schemas.openxmlformats.org/presentationml/2006/ole">
            <mc:AlternateContent xmlns:mc="http://schemas.openxmlformats.org/markup-compatibility/2006">
              <mc:Choice xmlns:v="urn:schemas-microsoft-com:vml" Requires="v">
                <p:oleObj spid="_x0000_s13638" name="" r:id="rId1" imgW="1485900" imgH="342900" progId="Equation.DSMT4">
                  <p:embed/>
                </p:oleObj>
              </mc:Choice>
              <mc:Fallback>
                <p:oleObj name="" r:id="rId1" imgW="1485900" imgH="342900" progId="Equation.DSMT4">
                  <p:embed/>
                  <p:pic>
                    <p:nvPicPr>
                      <p:cNvPr id="0" name="对象 19456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5905" y="1504570"/>
                        <a:ext cx="36004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7891" name="对象 194565"/>
          <p:cNvGraphicFramePr/>
          <p:nvPr/>
        </p:nvGraphicFramePr>
        <p:xfrm>
          <a:off x="2675905" y="469624"/>
          <a:ext cx="3527425" cy="857250"/>
        </p:xfrm>
        <a:graphic>
          <a:graphicData uri="http://schemas.openxmlformats.org/presentationml/2006/ole">
            <mc:AlternateContent xmlns:mc="http://schemas.openxmlformats.org/markup-compatibility/2006">
              <mc:Choice xmlns:v="urn:schemas-microsoft-com:vml" Requires="v">
                <p:oleObj spid="_x0000_s13639" name="" r:id="rId3" imgW="1409065" imgH="342900" progId="Equation.DSMT4">
                  <p:embed/>
                </p:oleObj>
              </mc:Choice>
              <mc:Fallback>
                <p:oleObj name="" r:id="rId3" imgW="1409065" imgH="342900" progId="Equation.DSMT4">
                  <p:embed/>
                  <p:pic>
                    <p:nvPicPr>
                      <p:cNvPr id="0" name="对象 19456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5905" y="469624"/>
                        <a:ext cx="3527425"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7893" name="矩形 194568"/>
          <p:cNvSpPr>
            <a:spLocks noChangeArrowheads="1"/>
          </p:cNvSpPr>
          <p:nvPr/>
        </p:nvSpPr>
        <p:spPr bwMode="auto">
          <a:xfrm>
            <a:off x="0" y="3257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37894" name="对象 194567"/>
          <p:cNvGraphicFramePr/>
          <p:nvPr/>
        </p:nvGraphicFramePr>
        <p:xfrm>
          <a:off x="2675905" y="2558774"/>
          <a:ext cx="3924300" cy="788988"/>
        </p:xfrm>
        <a:graphic>
          <a:graphicData uri="http://schemas.openxmlformats.org/presentationml/2006/ole">
            <mc:AlternateContent xmlns:mc="http://schemas.openxmlformats.org/markup-compatibility/2006">
              <mc:Choice xmlns:v="urn:schemas-microsoft-com:vml" Requires="v">
                <p:oleObj spid="_x0000_s13640" name="" r:id="rId5" imgW="1701800" imgH="342900" progId="Equation.DSMT4">
                  <p:embed/>
                </p:oleObj>
              </mc:Choice>
              <mc:Fallback>
                <p:oleObj name="" r:id="rId5" imgW="1701800" imgH="342900" progId="Equation.DSMT4">
                  <p:embed/>
                  <p:pic>
                    <p:nvPicPr>
                      <p:cNvPr id="0" name="对象 19456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75905" y="2558774"/>
                        <a:ext cx="3924300" cy="78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7896" name="直接连接符 194570"/>
          <p:cNvSpPr>
            <a:spLocks noChangeShapeType="1"/>
          </p:cNvSpPr>
          <p:nvPr/>
        </p:nvSpPr>
        <p:spPr bwMode="auto">
          <a:xfrm>
            <a:off x="5627067" y="1045887"/>
            <a:ext cx="431800" cy="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897" name="直接连接符 194571"/>
          <p:cNvSpPr>
            <a:spLocks noChangeShapeType="1"/>
          </p:cNvSpPr>
          <p:nvPr/>
        </p:nvSpPr>
        <p:spPr bwMode="auto">
          <a:xfrm>
            <a:off x="5715346" y="2113940"/>
            <a:ext cx="431800" cy="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898" name="直接连接符 194572"/>
          <p:cNvSpPr>
            <a:spLocks noChangeShapeType="1"/>
          </p:cNvSpPr>
          <p:nvPr/>
        </p:nvSpPr>
        <p:spPr bwMode="auto">
          <a:xfrm>
            <a:off x="6060455" y="3135037"/>
            <a:ext cx="431800" cy="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899" name="矩形 194574"/>
          <p:cNvSpPr>
            <a:spLocks noChangeArrowheads="1"/>
          </p:cNvSpPr>
          <p:nvPr/>
        </p:nvSpPr>
        <p:spPr bwMode="auto">
          <a:xfrm>
            <a:off x="0" y="3257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37900" name="对象 194573"/>
          <p:cNvGraphicFramePr/>
          <p:nvPr/>
        </p:nvGraphicFramePr>
        <p:xfrm>
          <a:off x="684213" y="3716338"/>
          <a:ext cx="5256212" cy="812800"/>
        </p:xfrm>
        <a:graphic>
          <a:graphicData uri="http://schemas.openxmlformats.org/presentationml/2006/ole">
            <mc:AlternateContent xmlns:mc="http://schemas.openxmlformats.org/markup-compatibility/2006">
              <mc:Choice xmlns:v="urn:schemas-microsoft-com:vml" Requires="v">
                <p:oleObj spid="_x0000_s13641" name="" r:id="rId7" imgW="2222500" imgH="342900" progId="Equation.DSMT4">
                  <p:embed/>
                </p:oleObj>
              </mc:Choice>
              <mc:Fallback>
                <p:oleObj name="" r:id="rId7" imgW="2222500" imgH="342900" progId="Equation.DSMT4">
                  <p:embed/>
                  <p:pic>
                    <p:nvPicPr>
                      <p:cNvPr id="0" name="对象 194573"/>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4213" y="3716338"/>
                        <a:ext cx="5256212"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7901" name="矩形 194575"/>
          <p:cNvSpPr>
            <a:spLocks noChangeArrowheads="1"/>
          </p:cNvSpPr>
          <p:nvPr/>
        </p:nvSpPr>
        <p:spPr bwMode="auto">
          <a:xfrm>
            <a:off x="611188" y="3644900"/>
            <a:ext cx="5689600" cy="2663825"/>
          </a:xfrm>
          <a:prstGeom prst="rect">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ea typeface="宋体" panose="02010600030101010101" pitchFamily="2" charset="-122"/>
            </a:endParaRPr>
          </a:p>
        </p:txBody>
      </p:sp>
      <p:sp>
        <p:nvSpPr>
          <p:cNvPr id="37902" name="矩形 194577"/>
          <p:cNvSpPr>
            <a:spLocks noChangeArrowheads="1"/>
          </p:cNvSpPr>
          <p:nvPr/>
        </p:nvSpPr>
        <p:spPr bwMode="auto">
          <a:xfrm>
            <a:off x="0" y="3257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37903" name="对象 194576"/>
          <p:cNvGraphicFramePr/>
          <p:nvPr/>
        </p:nvGraphicFramePr>
        <p:xfrm>
          <a:off x="755650" y="4652963"/>
          <a:ext cx="2303463" cy="911225"/>
        </p:xfrm>
        <a:graphic>
          <a:graphicData uri="http://schemas.openxmlformats.org/presentationml/2006/ole">
            <mc:AlternateContent xmlns:mc="http://schemas.openxmlformats.org/markup-compatibility/2006">
              <mc:Choice xmlns:v="urn:schemas-microsoft-com:vml" Requires="v">
                <p:oleObj spid="_x0000_s13642" name="" r:id="rId9" imgW="862965" imgH="342900" progId="Equation.DSMT4">
                  <p:embed/>
                </p:oleObj>
              </mc:Choice>
              <mc:Fallback>
                <p:oleObj name="" r:id="rId9" imgW="862965" imgH="342900" progId="Equation.DSMT4">
                  <p:embed/>
                  <p:pic>
                    <p:nvPicPr>
                      <p:cNvPr id="0" name="对象 194576"/>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55650" y="4652963"/>
                        <a:ext cx="2303463" cy="91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7905" name="对象 194578"/>
          <p:cNvGraphicFramePr/>
          <p:nvPr/>
        </p:nvGraphicFramePr>
        <p:xfrm>
          <a:off x="755650" y="5516563"/>
          <a:ext cx="2519363" cy="803275"/>
        </p:xfrm>
        <a:graphic>
          <a:graphicData uri="http://schemas.openxmlformats.org/presentationml/2006/ole">
            <mc:AlternateContent xmlns:mc="http://schemas.openxmlformats.org/markup-compatibility/2006">
              <mc:Choice xmlns:v="urn:schemas-microsoft-com:vml" Requires="v">
                <p:oleObj spid="_x0000_s13643" name="" r:id="rId11" imgW="1078865" imgH="342900" progId="Equation.DSMT4">
                  <p:embed/>
                </p:oleObj>
              </mc:Choice>
              <mc:Fallback>
                <p:oleObj name="" r:id="rId11" imgW="1078865" imgH="342900" progId="Equation.DSMT4">
                  <p:embed/>
                  <p:pic>
                    <p:nvPicPr>
                      <p:cNvPr id="0" name="对象 194578"/>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5650" y="5516563"/>
                        <a:ext cx="2519363" cy="80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7907" name="任意多边形 194581"/>
          <p:cNvSpPr>
            <a:spLocks noChangeArrowheads="1"/>
          </p:cNvSpPr>
          <p:nvPr/>
        </p:nvSpPr>
        <p:spPr bwMode="auto">
          <a:xfrm>
            <a:off x="6184280" y="769662"/>
            <a:ext cx="1190625" cy="268287"/>
          </a:xfrm>
          <a:custGeom>
            <a:avLst/>
            <a:gdLst>
              <a:gd name="T0" fmla="*/ 0 w 750"/>
              <a:gd name="T1" fmla="*/ 169 h 169"/>
              <a:gd name="T2" fmla="*/ 304 w 750"/>
              <a:gd name="T3" fmla="*/ 147 h 169"/>
              <a:gd name="T4" fmla="*/ 402 w 750"/>
              <a:gd name="T5" fmla="*/ 120 h 169"/>
              <a:gd name="T6" fmla="*/ 478 w 750"/>
              <a:gd name="T7" fmla="*/ 87 h 169"/>
              <a:gd name="T8" fmla="*/ 684 w 750"/>
              <a:gd name="T9" fmla="*/ 0 h 169"/>
              <a:gd name="T10" fmla="*/ 750 w 750"/>
              <a:gd name="T11" fmla="*/ 5 h 169"/>
            </a:gdLst>
            <a:ahLst/>
            <a:cxnLst>
              <a:cxn ang="0">
                <a:pos x="T0" y="T1"/>
              </a:cxn>
              <a:cxn ang="0">
                <a:pos x="T2" y="T3"/>
              </a:cxn>
              <a:cxn ang="0">
                <a:pos x="T4" y="T5"/>
              </a:cxn>
              <a:cxn ang="0">
                <a:pos x="T6" y="T7"/>
              </a:cxn>
              <a:cxn ang="0">
                <a:pos x="T8" y="T9"/>
              </a:cxn>
              <a:cxn ang="0">
                <a:pos x="T10" y="T11"/>
              </a:cxn>
            </a:cxnLst>
            <a:rect l="0" t="0" r="r" b="b"/>
            <a:pathLst>
              <a:path w="750" h="169">
                <a:moveTo>
                  <a:pt x="0" y="169"/>
                </a:moveTo>
                <a:cubicBezTo>
                  <a:pt x="104" y="165"/>
                  <a:pt x="201" y="156"/>
                  <a:pt x="304" y="147"/>
                </a:cubicBezTo>
                <a:cubicBezTo>
                  <a:pt x="335" y="139"/>
                  <a:pt x="374" y="134"/>
                  <a:pt x="402" y="120"/>
                </a:cubicBezTo>
                <a:cubicBezTo>
                  <a:pt x="428" y="107"/>
                  <a:pt x="450" y="96"/>
                  <a:pt x="478" y="87"/>
                </a:cubicBezTo>
                <a:cubicBezTo>
                  <a:pt x="536" y="29"/>
                  <a:pt x="610" y="23"/>
                  <a:pt x="684" y="0"/>
                </a:cubicBezTo>
                <a:cubicBezTo>
                  <a:pt x="706" y="2"/>
                  <a:pt x="750" y="5"/>
                  <a:pt x="750" y="5"/>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37908" name="任意多边形 194582"/>
          <p:cNvSpPr>
            <a:spLocks noChangeArrowheads="1"/>
          </p:cNvSpPr>
          <p:nvPr/>
        </p:nvSpPr>
        <p:spPr bwMode="auto">
          <a:xfrm>
            <a:off x="6259101" y="899837"/>
            <a:ext cx="1138030" cy="1214103"/>
          </a:xfrm>
          <a:custGeom>
            <a:avLst/>
            <a:gdLst>
              <a:gd name="T0" fmla="*/ 0 w 683"/>
              <a:gd name="T1" fmla="*/ 798 h 798"/>
              <a:gd name="T2" fmla="*/ 196 w 683"/>
              <a:gd name="T3" fmla="*/ 668 h 798"/>
              <a:gd name="T4" fmla="*/ 326 w 683"/>
              <a:gd name="T5" fmla="*/ 510 h 798"/>
              <a:gd name="T6" fmla="*/ 370 w 683"/>
              <a:gd name="T7" fmla="*/ 472 h 798"/>
              <a:gd name="T8" fmla="*/ 435 w 683"/>
              <a:gd name="T9" fmla="*/ 375 h 798"/>
              <a:gd name="T10" fmla="*/ 484 w 683"/>
              <a:gd name="T11" fmla="*/ 293 h 798"/>
              <a:gd name="T12" fmla="*/ 516 w 683"/>
              <a:gd name="T13" fmla="*/ 228 h 798"/>
              <a:gd name="T14" fmla="*/ 571 w 683"/>
              <a:gd name="T15" fmla="*/ 173 h 798"/>
              <a:gd name="T16" fmla="*/ 593 w 683"/>
              <a:gd name="T17" fmla="*/ 146 h 798"/>
              <a:gd name="T18" fmla="*/ 603 w 683"/>
              <a:gd name="T19" fmla="*/ 125 h 798"/>
              <a:gd name="T20" fmla="*/ 669 w 683"/>
              <a:gd name="T21" fmla="*/ 43 h 798"/>
              <a:gd name="T22" fmla="*/ 680 w 683"/>
              <a:gd name="T23" fmla="*/ 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83" h="798">
                <a:moveTo>
                  <a:pt x="0" y="798"/>
                </a:moveTo>
                <a:cubicBezTo>
                  <a:pt x="65" y="756"/>
                  <a:pt x="138" y="720"/>
                  <a:pt x="196" y="668"/>
                </a:cubicBezTo>
                <a:cubicBezTo>
                  <a:pt x="250" y="620"/>
                  <a:pt x="278" y="562"/>
                  <a:pt x="326" y="510"/>
                </a:cubicBezTo>
                <a:cubicBezTo>
                  <a:pt x="339" y="496"/>
                  <a:pt x="357" y="487"/>
                  <a:pt x="370" y="472"/>
                </a:cubicBezTo>
                <a:cubicBezTo>
                  <a:pt x="391" y="448"/>
                  <a:pt x="419" y="404"/>
                  <a:pt x="435" y="375"/>
                </a:cubicBezTo>
                <a:cubicBezTo>
                  <a:pt x="451" y="346"/>
                  <a:pt x="467" y="321"/>
                  <a:pt x="484" y="293"/>
                </a:cubicBezTo>
                <a:cubicBezTo>
                  <a:pt x="497" y="273"/>
                  <a:pt x="501" y="247"/>
                  <a:pt x="516" y="228"/>
                </a:cubicBezTo>
                <a:cubicBezTo>
                  <a:pt x="532" y="209"/>
                  <a:pt x="555" y="194"/>
                  <a:pt x="571" y="173"/>
                </a:cubicBezTo>
                <a:cubicBezTo>
                  <a:pt x="583" y="135"/>
                  <a:pt x="566" y="179"/>
                  <a:pt x="593" y="146"/>
                </a:cubicBezTo>
                <a:cubicBezTo>
                  <a:pt x="598" y="140"/>
                  <a:pt x="599" y="132"/>
                  <a:pt x="603" y="125"/>
                </a:cubicBezTo>
                <a:cubicBezTo>
                  <a:pt x="621" y="95"/>
                  <a:pt x="644" y="66"/>
                  <a:pt x="669" y="43"/>
                </a:cubicBezTo>
                <a:cubicBezTo>
                  <a:pt x="683" y="15"/>
                  <a:pt x="680" y="29"/>
                  <a:pt x="680" y="0"/>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37909" name="任意多边形 194583"/>
          <p:cNvSpPr>
            <a:spLocks noChangeArrowheads="1"/>
          </p:cNvSpPr>
          <p:nvPr/>
        </p:nvSpPr>
        <p:spPr bwMode="auto">
          <a:xfrm>
            <a:off x="6614492" y="942699"/>
            <a:ext cx="1112838" cy="2105025"/>
          </a:xfrm>
          <a:custGeom>
            <a:avLst/>
            <a:gdLst>
              <a:gd name="T0" fmla="*/ 0 w 701"/>
              <a:gd name="T1" fmla="*/ 1326 h 1326"/>
              <a:gd name="T2" fmla="*/ 60 w 701"/>
              <a:gd name="T3" fmla="*/ 1190 h 1326"/>
              <a:gd name="T4" fmla="*/ 115 w 701"/>
              <a:gd name="T5" fmla="*/ 994 h 1326"/>
              <a:gd name="T6" fmla="*/ 136 w 701"/>
              <a:gd name="T7" fmla="*/ 875 h 1326"/>
              <a:gd name="T8" fmla="*/ 174 w 701"/>
              <a:gd name="T9" fmla="*/ 668 h 1326"/>
              <a:gd name="T10" fmla="*/ 316 w 701"/>
              <a:gd name="T11" fmla="*/ 462 h 1326"/>
              <a:gd name="T12" fmla="*/ 419 w 701"/>
              <a:gd name="T13" fmla="*/ 348 h 1326"/>
              <a:gd name="T14" fmla="*/ 451 w 701"/>
              <a:gd name="T15" fmla="*/ 299 h 1326"/>
              <a:gd name="T16" fmla="*/ 528 w 701"/>
              <a:gd name="T17" fmla="*/ 195 h 1326"/>
              <a:gd name="T18" fmla="*/ 647 w 701"/>
              <a:gd name="T19" fmla="*/ 65 h 1326"/>
              <a:gd name="T20" fmla="*/ 701 w 701"/>
              <a:gd name="T21" fmla="*/ 0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01" h="1326">
                <a:moveTo>
                  <a:pt x="0" y="1326"/>
                </a:moveTo>
                <a:cubicBezTo>
                  <a:pt x="15" y="1282"/>
                  <a:pt x="39" y="1232"/>
                  <a:pt x="60" y="1190"/>
                </a:cubicBezTo>
                <a:cubicBezTo>
                  <a:pt x="74" y="1125"/>
                  <a:pt x="94" y="1057"/>
                  <a:pt x="115" y="994"/>
                </a:cubicBezTo>
                <a:cubicBezTo>
                  <a:pt x="118" y="949"/>
                  <a:pt x="116" y="914"/>
                  <a:pt x="136" y="875"/>
                </a:cubicBezTo>
                <a:cubicBezTo>
                  <a:pt x="148" y="807"/>
                  <a:pt x="147" y="730"/>
                  <a:pt x="174" y="668"/>
                </a:cubicBezTo>
                <a:cubicBezTo>
                  <a:pt x="209" y="587"/>
                  <a:pt x="261" y="529"/>
                  <a:pt x="316" y="462"/>
                </a:cubicBezTo>
                <a:cubicBezTo>
                  <a:pt x="350" y="420"/>
                  <a:pt x="372" y="378"/>
                  <a:pt x="419" y="348"/>
                </a:cubicBezTo>
                <a:cubicBezTo>
                  <a:pt x="426" y="326"/>
                  <a:pt x="435" y="315"/>
                  <a:pt x="451" y="299"/>
                </a:cubicBezTo>
                <a:cubicBezTo>
                  <a:pt x="465" y="258"/>
                  <a:pt x="498" y="225"/>
                  <a:pt x="528" y="195"/>
                </a:cubicBezTo>
                <a:cubicBezTo>
                  <a:pt x="569" y="154"/>
                  <a:pt x="609" y="110"/>
                  <a:pt x="647" y="65"/>
                </a:cubicBezTo>
                <a:cubicBezTo>
                  <a:pt x="664" y="44"/>
                  <a:pt x="690" y="24"/>
                  <a:pt x="701" y="0"/>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24" name="矩形 191505"/>
          <p:cNvSpPr>
            <a:spLocks noChangeArrowheads="1"/>
          </p:cNvSpPr>
          <p:nvPr/>
        </p:nvSpPr>
        <p:spPr bwMode="auto">
          <a:xfrm>
            <a:off x="7430675" y="508666"/>
            <a:ext cx="22320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dirty="0" smtClean="0">
                <a:solidFill>
                  <a:srgbClr val="FF0000"/>
                </a:solidFill>
                <a:ea typeface="黑体" panose="02010609060101010101" pitchFamily="49" charset="-122"/>
              </a:rPr>
              <a:t>分压力！</a:t>
            </a:r>
            <a:endParaRPr lang="zh-CN" altLang="en-US" sz="2400" b="1" dirty="0">
              <a:solidFill>
                <a:srgbClr val="FF0000"/>
              </a:solidFill>
              <a:ea typeface="黑体" panose="02010609060101010101" pitchFamily="49" charset="-122"/>
            </a:endParaRPr>
          </a:p>
        </p:txBody>
      </p:sp>
      <p:sp>
        <p:nvSpPr>
          <p:cNvPr id="25" name="矩形 191505"/>
          <p:cNvSpPr>
            <a:spLocks noChangeArrowheads="1"/>
          </p:cNvSpPr>
          <p:nvPr/>
        </p:nvSpPr>
        <p:spPr bwMode="auto">
          <a:xfrm>
            <a:off x="443880" y="1540875"/>
            <a:ext cx="22320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dirty="0" smtClean="0">
                <a:solidFill>
                  <a:srgbClr val="FF0000"/>
                </a:solidFill>
                <a:ea typeface="黑体" panose="02010609060101010101" pitchFamily="49" charset="-122"/>
              </a:rPr>
              <a:t>混合物的比熵</a:t>
            </a:r>
            <a:endParaRPr lang="zh-CN" altLang="en-US" sz="2400" b="1" dirty="0">
              <a:solidFill>
                <a:srgbClr val="FF0000"/>
              </a:solidFill>
              <a:ea typeface="黑体" panose="02010609060101010101" pitchFamily="49" charset="-122"/>
            </a:endParaRPr>
          </a:p>
        </p:txBody>
      </p:sp>
      <p:sp>
        <p:nvSpPr>
          <p:cNvPr id="26" name="矩形 191505"/>
          <p:cNvSpPr>
            <a:spLocks noChangeArrowheads="1"/>
          </p:cNvSpPr>
          <p:nvPr/>
        </p:nvSpPr>
        <p:spPr bwMode="auto">
          <a:xfrm>
            <a:off x="320609" y="2561822"/>
            <a:ext cx="24267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sz="2400" b="1" dirty="0" smtClean="0">
                <a:solidFill>
                  <a:srgbClr val="FF0000"/>
                </a:solidFill>
                <a:ea typeface="黑体" panose="02010609060101010101" pitchFamily="49" charset="-122"/>
              </a:rPr>
              <a:t>混合物的摩尔熵</a:t>
            </a:r>
            <a:endParaRPr lang="zh-CN" altLang="en-US" sz="2400" b="1" dirty="0">
              <a:solidFill>
                <a:srgbClr val="FF0000"/>
              </a:solidFill>
              <a:ea typeface="黑体" panose="02010609060101010101" pitchFamily="49" charset="-122"/>
            </a:endParaRPr>
          </a:p>
        </p:txBody>
      </p:sp>
      <p:sp>
        <p:nvSpPr>
          <p:cNvPr id="27" name="矩形 191505"/>
          <p:cNvSpPr>
            <a:spLocks noChangeArrowheads="1"/>
          </p:cNvSpPr>
          <p:nvPr/>
        </p:nvSpPr>
        <p:spPr bwMode="auto">
          <a:xfrm>
            <a:off x="611188" y="497852"/>
            <a:ext cx="22320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dirty="0" smtClean="0">
                <a:solidFill>
                  <a:srgbClr val="FF0000"/>
                </a:solidFill>
                <a:ea typeface="黑体" panose="02010609060101010101" pitchFamily="49" charset="-122"/>
              </a:rPr>
              <a:t>混合物的熵</a:t>
            </a:r>
            <a:endParaRPr lang="zh-CN" altLang="en-US" sz="2400" b="1" dirty="0">
              <a:solidFill>
                <a:srgbClr val="FF0000"/>
              </a:solidFill>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69843" y="888041"/>
            <a:ext cx="7898296" cy="2246769"/>
          </a:xfrm>
          <a:prstGeom prst="rect">
            <a:avLst/>
          </a:prstGeom>
        </p:spPr>
        <p:txBody>
          <a:bodyPr wrap="square">
            <a:spAutoFit/>
          </a:bodyPr>
          <a:lstStyle/>
          <a:p>
            <a:pPr marL="457200" indent="-457200">
              <a:buFont typeface="Arial" panose="020B0604020202020204" pitchFamily="34" charset="0"/>
              <a:buChar char="•"/>
            </a:pPr>
            <a:r>
              <a:rPr lang="zh-CN" altLang="en-US" sz="2800" b="1" dirty="0" smtClean="0"/>
              <a:t>以上</a:t>
            </a:r>
            <a:r>
              <a:rPr lang="zh-CN" altLang="en-US" sz="2800" b="1" dirty="0" smtClean="0">
                <a:latin typeface="Times New Roman" panose="02020603050405020304" pitchFamily="18" charset="0"/>
                <a:cs typeface="Times New Roman" panose="02020603050405020304" pitchFamily="18" charset="0"/>
              </a:rPr>
              <a:t>Δ</a:t>
            </a:r>
            <a:r>
              <a:rPr lang="zh-CN" altLang="en-US" sz="2800" b="1" i="1" dirty="0" smtClean="0">
                <a:latin typeface="Times New Roman" panose="02020603050405020304" pitchFamily="18" charset="0"/>
                <a:cs typeface="Times New Roman" panose="02020603050405020304" pitchFamily="18" charset="0"/>
              </a:rPr>
              <a:t>S</a:t>
            </a:r>
            <a:r>
              <a:rPr lang="zh-CN" altLang="en-US" sz="2800" b="1" dirty="0" smtClean="0"/>
              <a:t>的</a:t>
            </a:r>
            <a:r>
              <a:rPr lang="zh-CN" altLang="en-US" sz="2800" b="1" dirty="0"/>
              <a:t>计算式适用于两种或两种以上不同种类气体的混合，计算熵变时应注意用各组分气体的</a:t>
            </a:r>
            <a:r>
              <a:rPr lang="zh-CN" altLang="en-US" sz="2800" b="1" dirty="0" smtClean="0"/>
              <a:t>分压力</a:t>
            </a:r>
            <a:endParaRPr lang="zh-CN" altLang="en-US" sz="2800" b="1" dirty="0"/>
          </a:p>
          <a:p>
            <a:pPr marL="457200" indent="-457200">
              <a:buFont typeface="Arial" panose="020B0604020202020204" pitchFamily="34" charset="0"/>
              <a:buChar char="•"/>
            </a:pPr>
            <a:r>
              <a:rPr lang="zh-CN" altLang="en-US" sz="2800" b="1" dirty="0"/>
              <a:t>对于</a:t>
            </a:r>
            <a:r>
              <a:rPr lang="zh-CN" altLang="en-US" sz="2800" b="1" dirty="0">
                <a:solidFill>
                  <a:srgbClr val="FF0000"/>
                </a:solidFill>
              </a:rPr>
              <a:t>同类气体</a:t>
            </a:r>
            <a:r>
              <a:rPr lang="zh-CN" altLang="en-US" sz="2800" b="1" dirty="0"/>
              <a:t>的混合，计算熵变时用混合后的总压力即可 </a:t>
            </a:r>
            <a:endParaRPr lang="zh-CN" altLang="en-US" sz="2800"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矩形 196612"/>
          <p:cNvSpPr>
            <a:spLocks noChangeArrowheads="1"/>
          </p:cNvSpPr>
          <p:nvPr/>
        </p:nvSpPr>
        <p:spPr bwMode="auto">
          <a:xfrm>
            <a:off x="0" y="28432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
        <p:nvSpPr>
          <p:cNvPr id="39939" name="矩形 196613"/>
          <p:cNvSpPr>
            <a:spLocks noChangeArrowheads="1"/>
          </p:cNvSpPr>
          <p:nvPr/>
        </p:nvSpPr>
        <p:spPr bwMode="auto">
          <a:xfrm>
            <a:off x="323850" y="2616200"/>
            <a:ext cx="8628063" cy="378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zh-CN" altLang="en-US" sz="2400" b="1" dirty="0">
                <a:latin typeface="Times New Roman" panose="02020603050405020304" pitchFamily="18" charset="0"/>
                <a:ea typeface="黑体" panose="02010609060101010101" pitchFamily="49" charset="-122"/>
              </a:rPr>
              <a:t>例题：一刚性绝热容器被隔板分开，左侧装有氧气，体积为</a:t>
            </a:r>
            <a:r>
              <a:rPr lang="en-US" altLang="zh-CN" sz="2400" b="1" dirty="0">
                <a:latin typeface="Times New Roman" panose="02020603050405020304" pitchFamily="18" charset="0"/>
                <a:ea typeface="黑体" panose="02010609060101010101" pitchFamily="49" charset="-122"/>
              </a:rPr>
              <a:t>0.3 m</a:t>
            </a:r>
            <a:r>
              <a:rPr lang="en-US" altLang="zh-CN" sz="2400" b="1" baseline="30000" dirty="0">
                <a:latin typeface="Times New Roman" panose="02020603050405020304" pitchFamily="18" charset="0"/>
                <a:ea typeface="黑体" panose="02010609060101010101" pitchFamily="49" charset="-122"/>
              </a:rPr>
              <a:t>3</a:t>
            </a:r>
            <a:r>
              <a:rPr lang="zh-CN" altLang="en-US" sz="2400" b="1" dirty="0">
                <a:latin typeface="Times New Roman" panose="02020603050405020304" pitchFamily="18" charset="0"/>
                <a:ea typeface="黑体" panose="02010609060101010101" pitchFamily="49" charset="-122"/>
              </a:rPr>
              <a:t>；右侧装有氮气，体积为</a:t>
            </a:r>
            <a:r>
              <a:rPr lang="en-US" altLang="zh-CN" sz="2400" b="1" dirty="0">
                <a:latin typeface="Times New Roman" panose="02020603050405020304" pitchFamily="18" charset="0"/>
                <a:ea typeface="黑体" panose="02010609060101010101" pitchFamily="49" charset="-122"/>
              </a:rPr>
              <a:t>0.6 m</a:t>
            </a:r>
            <a:r>
              <a:rPr lang="en-US" altLang="zh-CN" sz="2400" b="1" baseline="30000" dirty="0">
                <a:latin typeface="Times New Roman" panose="02020603050405020304" pitchFamily="18" charset="0"/>
                <a:ea typeface="黑体" panose="02010609060101010101" pitchFamily="49" charset="-122"/>
              </a:rPr>
              <a:t>3</a:t>
            </a:r>
            <a:r>
              <a:rPr lang="zh-CN" altLang="en-US" sz="2400" b="1" dirty="0">
                <a:latin typeface="Times New Roman" panose="02020603050405020304" pitchFamily="18" charset="0"/>
                <a:ea typeface="黑体" panose="02010609060101010101" pitchFamily="49" charset="-122"/>
              </a:rPr>
              <a:t>。现抽去隔板使得氧气和氮气相互混合，重新达到平衡后求：</a:t>
            </a:r>
            <a:endParaRPr lang="zh-CN" altLang="en-US" sz="2400" b="1" dirty="0">
              <a:latin typeface="Times New Roman" panose="02020603050405020304" pitchFamily="18" charset="0"/>
              <a:ea typeface="黑体" panose="02010609060101010101" pitchFamily="49" charset="-122"/>
            </a:endParaRPr>
          </a:p>
          <a:p>
            <a:pPr eaLnBrk="0" hangingPunct="0"/>
            <a:r>
              <a:rPr lang="zh-CN" altLang="en-US" sz="2400" b="1" dirty="0">
                <a:latin typeface="Times New Roman" panose="02020603050405020304" pitchFamily="18" charset="0"/>
                <a:ea typeface="黑体" panose="02010609060101010101" pitchFamily="49" charset="-122"/>
              </a:rPr>
              <a:t>（</a:t>
            </a:r>
            <a:r>
              <a:rPr lang="en-US" altLang="zh-CN" sz="2400" b="1" dirty="0">
                <a:latin typeface="Times New Roman" panose="02020603050405020304" pitchFamily="18" charset="0"/>
                <a:ea typeface="黑体" panose="02010609060101010101" pitchFamily="49" charset="-122"/>
              </a:rPr>
              <a:t>1</a:t>
            </a:r>
            <a:r>
              <a:rPr lang="zh-CN" altLang="en-US" sz="2400" b="1" dirty="0">
                <a:latin typeface="Times New Roman" panose="02020603050405020304" pitchFamily="18" charset="0"/>
                <a:ea typeface="黑体" panose="02010609060101010101" pitchFamily="49" charset="-122"/>
              </a:rPr>
              <a:t>）混合气体的温度</a:t>
            </a:r>
            <a:r>
              <a:rPr lang="en-US" altLang="zh-CN" sz="2400" b="1" i="1" dirty="0">
                <a:latin typeface="Times New Roman" panose="02020603050405020304" pitchFamily="18" charset="0"/>
                <a:ea typeface="黑体" panose="02010609060101010101" pitchFamily="49" charset="-122"/>
              </a:rPr>
              <a:t>T</a:t>
            </a:r>
            <a:r>
              <a:rPr lang="en-US" altLang="zh-CN" sz="2400" b="1" baseline="-25000" dirty="0">
                <a:latin typeface="Times New Roman" panose="02020603050405020304" pitchFamily="18" charset="0"/>
                <a:ea typeface="黑体" panose="02010609060101010101" pitchFamily="49" charset="-122"/>
              </a:rPr>
              <a:t>2</a:t>
            </a:r>
            <a:r>
              <a:rPr lang="zh-CN" altLang="en-US" sz="2400" b="1" dirty="0">
                <a:latin typeface="Times New Roman" panose="02020603050405020304" pitchFamily="18" charset="0"/>
                <a:ea typeface="黑体" panose="02010609060101010101" pitchFamily="49" charset="-122"/>
              </a:rPr>
              <a:t>和压力</a:t>
            </a:r>
            <a:r>
              <a:rPr lang="en-US" altLang="zh-CN" sz="2400" b="1" i="1" dirty="0">
                <a:latin typeface="Times New Roman" panose="02020603050405020304" pitchFamily="18" charset="0"/>
                <a:ea typeface="黑体" panose="02010609060101010101" pitchFamily="49" charset="-122"/>
              </a:rPr>
              <a:t>p</a:t>
            </a:r>
            <a:r>
              <a:rPr lang="en-US" altLang="zh-CN" sz="2400" b="1" baseline="-25000" dirty="0">
                <a:latin typeface="Times New Roman" panose="02020603050405020304" pitchFamily="18" charset="0"/>
                <a:ea typeface="黑体" panose="02010609060101010101" pitchFamily="49" charset="-122"/>
              </a:rPr>
              <a:t>2</a:t>
            </a:r>
            <a:r>
              <a:rPr lang="zh-CN" altLang="en-US" sz="2400" b="1" dirty="0">
                <a:latin typeface="Times New Roman" panose="02020603050405020304" pitchFamily="18" charset="0"/>
                <a:ea typeface="黑体" panose="02010609060101010101" pitchFamily="49" charset="-122"/>
              </a:rPr>
              <a:t>；</a:t>
            </a:r>
            <a:endParaRPr lang="zh-CN" altLang="en-US" sz="2400" b="1" dirty="0">
              <a:latin typeface="Times New Roman" panose="02020603050405020304" pitchFamily="18" charset="0"/>
              <a:ea typeface="黑体" panose="02010609060101010101" pitchFamily="49" charset="-122"/>
            </a:endParaRPr>
          </a:p>
          <a:p>
            <a:pPr eaLnBrk="0" hangingPunct="0"/>
            <a:r>
              <a:rPr lang="zh-CN" altLang="en-US" sz="2400" b="1" dirty="0">
                <a:latin typeface="Times New Roman" panose="02020603050405020304" pitchFamily="18" charset="0"/>
                <a:ea typeface="黑体" panose="02010609060101010101" pitchFamily="49" charset="-122"/>
              </a:rPr>
              <a:t>（</a:t>
            </a:r>
            <a:r>
              <a:rPr lang="en-US" altLang="zh-CN" sz="2400" b="1" dirty="0">
                <a:latin typeface="Times New Roman" panose="02020603050405020304" pitchFamily="18" charset="0"/>
                <a:ea typeface="黑体" panose="02010609060101010101" pitchFamily="49" charset="-122"/>
              </a:rPr>
              <a:t>2</a:t>
            </a:r>
            <a:r>
              <a:rPr lang="zh-CN" altLang="en-US" sz="2400" b="1" dirty="0">
                <a:latin typeface="Times New Roman" panose="02020603050405020304" pitchFamily="18" charset="0"/>
                <a:ea typeface="黑体" panose="02010609060101010101" pitchFamily="49" charset="-122"/>
              </a:rPr>
              <a:t>）混合气体中氧气和氮气各自的分压力</a:t>
            </a:r>
            <a:r>
              <a:rPr lang="en-US" altLang="zh-CN" sz="2400" b="1" i="1" dirty="0">
                <a:latin typeface="Times New Roman" panose="02020603050405020304" pitchFamily="18" charset="0"/>
                <a:ea typeface="黑体" panose="02010609060101010101" pitchFamily="49" charset="-122"/>
              </a:rPr>
              <a:t>p</a:t>
            </a:r>
            <a:r>
              <a:rPr lang="en-US" altLang="zh-CN" sz="2400" b="1" baseline="-25000" dirty="0">
                <a:latin typeface="Times New Roman" panose="02020603050405020304" pitchFamily="18" charset="0"/>
                <a:ea typeface="黑体" panose="02010609060101010101" pitchFamily="49" charset="-122"/>
              </a:rPr>
              <a:t>A2</a:t>
            </a:r>
            <a:r>
              <a:rPr lang="zh-CN" altLang="en-US" sz="2400" b="1" dirty="0">
                <a:latin typeface="Times New Roman" panose="02020603050405020304" pitchFamily="18" charset="0"/>
                <a:ea typeface="黑体" panose="02010609060101010101" pitchFamily="49" charset="-122"/>
              </a:rPr>
              <a:t>和</a:t>
            </a:r>
            <a:r>
              <a:rPr lang="en-US" altLang="zh-CN" sz="2400" b="1" i="1" dirty="0">
                <a:latin typeface="Times New Roman" panose="02020603050405020304" pitchFamily="18" charset="0"/>
                <a:ea typeface="黑体" panose="02010609060101010101" pitchFamily="49" charset="-122"/>
              </a:rPr>
              <a:t>p</a:t>
            </a:r>
            <a:r>
              <a:rPr lang="en-US" altLang="zh-CN" sz="2400" b="1" baseline="-25000" dirty="0">
                <a:latin typeface="Times New Roman" panose="02020603050405020304" pitchFamily="18" charset="0"/>
                <a:ea typeface="黑体" panose="02010609060101010101" pitchFamily="49" charset="-122"/>
              </a:rPr>
              <a:t>B2</a:t>
            </a:r>
            <a:r>
              <a:rPr lang="zh-CN" altLang="en-US" sz="2400" b="1" dirty="0">
                <a:latin typeface="Times New Roman" panose="02020603050405020304" pitchFamily="18" charset="0"/>
                <a:ea typeface="黑体" panose="02010609060101010101" pitchFamily="49" charset="-122"/>
              </a:rPr>
              <a:t>；</a:t>
            </a:r>
            <a:endParaRPr lang="zh-CN" altLang="en-US" sz="2400" b="1" dirty="0">
              <a:latin typeface="Times New Roman" panose="02020603050405020304" pitchFamily="18" charset="0"/>
              <a:ea typeface="黑体" panose="02010609060101010101" pitchFamily="49" charset="-122"/>
            </a:endParaRPr>
          </a:p>
          <a:p>
            <a:pPr eaLnBrk="0" hangingPunct="0"/>
            <a:r>
              <a:rPr lang="zh-CN" altLang="en-US" sz="2400" b="1" dirty="0">
                <a:latin typeface="Times New Roman" panose="02020603050405020304" pitchFamily="18" charset="0"/>
                <a:ea typeface="黑体" panose="02010609060101010101" pitchFamily="49" charset="-122"/>
              </a:rPr>
              <a:t>（</a:t>
            </a:r>
            <a:r>
              <a:rPr lang="en-US" altLang="zh-CN" sz="2400" b="1" dirty="0">
                <a:latin typeface="Times New Roman" panose="02020603050405020304" pitchFamily="18" charset="0"/>
                <a:ea typeface="黑体" panose="02010609060101010101" pitchFamily="49" charset="-122"/>
              </a:rPr>
              <a:t>3</a:t>
            </a:r>
            <a:r>
              <a:rPr lang="zh-CN" altLang="en-US" sz="2400" b="1" dirty="0">
                <a:latin typeface="Times New Roman" panose="02020603050405020304" pitchFamily="18" charset="0"/>
                <a:ea typeface="黑体" panose="02010609060101010101" pitchFamily="49" charset="-122"/>
              </a:rPr>
              <a:t>）混合过程的熵产和</a:t>
            </a:r>
            <a:r>
              <a:rPr lang="zh-CN" altLang="en-US" sz="2400" b="1" dirty="0">
                <a:latin typeface="黑体" panose="02010609060101010101" pitchFamily="49" charset="-122"/>
                <a:ea typeface="黑体" panose="02010609060101010101" pitchFamily="49" charset="-122"/>
              </a:rPr>
              <a:t>㶲</a:t>
            </a:r>
            <a:r>
              <a:rPr lang="zh-CN" altLang="en-US" sz="2400" b="1" dirty="0">
                <a:latin typeface="Times New Roman" panose="02020603050405020304" pitchFamily="18" charset="0"/>
                <a:ea typeface="黑体" panose="02010609060101010101" pitchFamily="49" charset="-122"/>
              </a:rPr>
              <a:t>损。</a:t>
            </a:r>
            <a:endParaRPr lang="zh-CN" altLang="en-US" sz="2400" b="1" dirty="0">
              <a:latin typeface="Times New Roman" panose="02020603050405020304" pitchFamily="18" charset="0"/>
              <a:ea typeface="黑体" panose="02010609060101010101" pitchFamily="49" charset="-122"/>
            </a:endParaRPr>
          </a:p>
          <a:p>
            <a:pPr eaLnBrk="0" hangingPunct="0"/>
            <a:r>
              <a:rPr lang="zh-CN" altLang="en-US" sz="2400" b="1" dirty="0">
                <a:latin typeface="Times New Roman" panose="02020603050405020304" pitchFamily="18" charset="0"/>
                <a:ea typeface="黑体" panose="02010609060101010101" pitchFamily="49" charset="-122"/>
              </a:rPr>
              <a:t>假设两种气体的摩尔定容热容均为</a:t>
            </a:r>
            <a:r>
              <a:rPr lang="en-US" altLang="zh-CN" sz="2400" b="1" dirty="0">
                <a:latin typeface="Times New Roman" panose="02020603050405020304" pitchFamily="18" charset="0"/>
                <a:ea typeface="黑体" panose="02010609060101010101" pitchFamily="49" charset="-122"/>
              </a:rPr>
              <a:t>5</a:t>
            </a:r>
            <a:r>
              <a:rPr lang="en-US" altLang="zh-CN" sz="2400" b="1" i="1" dirty="0">
                <a:latin typeface="Times New Roman" panose="02020603050405020304" pitchFamily="18" charset="0"/>
                <a:ea typeface="黑体" panose="02010609060101010101" pitchFamily="49" charset="-122"/>
              </a:rPr>
              <a:t>R</a:t>
            </a:r>
            <a:r>
              <a:rPr lang="en-US" altLang="zh-CN" sz="2400" b="1" dirty="0">
                <a:latin typeface="Times New Roman" panose="02020603050405020304" pitchFamily="18" charset="0"/>
                <a:ea typeface="黑体" panose="02010609060101010101" pitchFamily="49" charset="-122"/>
              </a:rPr>
              <a:t>/2</a:t>
            </a:r>
            <a:r>
              <a:rPr lang="zh-CN" altLang="en-US" sz="2400" b="1" dirty="0">
                <a:latin typeface="Times New Roman" panose="02020603050405020304" pitchFamily="18" charset="0"/>
                <a:ea typeface="黑体" panose="02010609060101010101" pitchFamily="49" charset="-122"/>
              </a:rPr>
              <a:t>，摩尔定压热容均为</a:t>
            </a:r>
            <a:r>
              <a:rPr lang="en-US" altLang="zh-CN" sz="2400" b="1" dirty="0">
                <a:latin typeface="Times New Roman" panose="02020603050405020304" pitchFamily="18" charset="0"/>
                <a:ea typeface="黑体" panose="02010609060101010101" pitchFamily="49" charset="-122"/>
              </a:rPr>
              <a:t>7</a:t>
            </a:r>
            <a:r>
              <a:rPr lang="en-US" altLang="zh-CN" sz="2400" b="1" i="1" dirty="0">
                <a:latin typeface="Times New Roman" panose="02020603050405020304" pitchFamily="18" charset="0"/>
                <a:ea typeface="黑体" panose="02010609060101010101" pitchFamily="49" charset="-122"/>
              </a:rPr>
              <a:t>R</a:t>
            </a:r>
            <a:r>
              <a:rPr lang="en-US" altLang="zh-CN" sz="2400" b="1" dirty="0">
                <a:latin typeface="Times New Roman" panose="02020603050405020304" pitchFamily="18" charset="0"/>
                <a:ea typeface="黑体" panose="02010609060101010101" pitchFamily="49" charset="-122"/>
              </a:rPr>
              <a:t>/2</a:t>
            </a:r>
            <a:r>
              <a:rPr lang="zh-CN" altLang="en-US" sz="2400" b="1" dirty="0">
                <a:latin typeface="Times New Roman" panose="02020603050405020304" pitchFamily="18" charset="0"/>
                <a:ea typeface="黑体" panose="02010609060101010101" pitchFamily="49" charset="-122"/>
              </a:rPr>
              <a:t>，其中</a:t>
            </a:r>
            <a:r>
              <a:rPr lang="en-US" altLang="zh-CN" sz="2400" b="1" i="1" dirty="0">
                <a:latin typeface="Times New Roman" panose="02020603050405020304" pitchFamily="18" charset="0"/>
                <a:ea typeface="黑体" panose="02010609060101010101" pitchFamily="49" charset="-122"/>
              </a:rPr>
              <a:t>R</a:t>
            </a:r>
            <a:r>
              <a:rPr lang="en-US" altLang="zh-CN" sz="2400" b="1" dirty="0">
                <a:latin typeface="Times New Roman" panose="02020603050405020304" pitchFamily="18" charset="0"/>
                <a:ea typeface="黑体" panose="02010609060101010101" pitchFamily="49" charset="-122"/>
              </a:rPr>
              <a:t>=8.314J/(</a:t>
            </a:r>
            <a:r>
              <a:rPr lang="en-US" altLang="zh-CN" sz="2400" b="1" dirty="0" err="1" smtClean="0">
                <a:latin typeface="Times New Roman" panose="02020603050405020304" pitchFamily="18" charset="0"/>
                <a:ea typeface="黑体" panose="02010609060101010101" pitchFamily="49" charset="-122"/>
              </a:rPr>
              <a:t>mol</a:t>
            </a:r>
            <a:r>
              <a:rPr lang="en-US" altLang="zh-CN" sz="2400" b="1" dirty="0" err="1" smtClean="0">
                <a:latin typeface="Times New Roman" panose="02020603050405020304" pitchFamily="18" charset="0"/>
                <a:ea typeface="微软雅黑" panose="020B0503020204020204" charset="-122"/>
                <a:cs typeface="Times New Roman" panose="02020603050405020304" pitchFamily="18" charset="0"/>
              </a:rPr>
              <a:t>∙</a:t>
            </a:r>
            <a:r>
              <a:rPr lang="en-US" altLang="zh-CN" sz="2400" b="1" dirty="0" err="1" smtClean="0">
                <a:latin typeface="Times New Roman" panose="02020603050405020304" pitchFamily="18" charset="0"/>
                <a:ea typeface="黑体" panose="02010609060101010101" pitchFamily="49" charset="-122"/>
              </a:rPr>
              <a:t>K</a:t>
            </a:r>
            <a:r>
              <a:rPr lang="en-US" altLang="zh-CN" sz="2400" b="1" dirty="0">
                <a:latin typeface="Times New Roman" panose="02020603050405020304" pitchFamily="18" charset="0"/>
                <a:ea typeface="黑体" panose="02010609060101010101" pitchFamily="49" charset="-122"/>
              </a:rPr>
              <a:t>)</a:t>
            </a:r>
            <a:r>
              <a:rPr lang="zh-CN" altLang="en-US" sz="2400" b="1" dirty="0">
                <a:latin typeface="Times New Roman" panose="02020603050405020304" pitchFamily="18" charset="0"/>
                <a:ea typeface="黑体" panose="02010609060101010101" pitchFamily="49" charset="-122"/>
              </a:rPr>
              <a:t>，环境温度</a:t>
            </a:r>
            <a:r>
              <a:rPr lang="en-US" altLang="zh-CN" sz="2400" b="1" i="1" dirty="0">
                <a:latin typeface="Times New Roman" panose="02020603050405020304" pitchFamily="18" charset="0"/>
                <a:ea typeface="黑体" panose="02010609060101010101" pitchFamily="49" charset="-122"/>
              </a:rPr>
              <a:t>T</a:t>
            </a:r>
            <a:r>
              <a:rPr lang="en-US" altLang="zh-CN" sz="2400" b="1" baseline="-25000" dirty="0">
                <a:latin typeface="Times New Roman" panose="02020603050405020304" pitchFamily="18" charset="0"/>
                <a:ea typeface="黑体" panose="02010609060101010101" pitchFamily="49" charset="-122"/>
              </a:rPr>
              <a:t>0</a:t>
            </a:r>
            <a:r>
              <a:rPr lang="en-US" altLang="zh-CN" sz="2400" b="1" dirty="0">
                <a:latin typeface="Times New Roman" panose="02020603050405020304" pitchFamily="18" charset="0"/>
                <a:ea typeface="黑体" panose="02010609060101010101" pitchFamily="49" charset="-122"/>
              </a:rPr>
              <a:t>=300K</a:t>
            </a:r>
            <a:r>
              <a:rPr lang="zh-CN" altLang="en-US" sz="2400" b="1" dirty="0">
                <a:latin typeface="Times New Roman" panose="02020603050405020304" pitchFamily="18" charset="0"/>
                <a:ea typeface="黑体" panose="02010609060101010101" pitchFamily="49" charset="-122"/>
              </a:rPr>
              <a:t>。</a:t>
            </a:r>
            <a:endParaRPr lang="zh-CN" altLang="en-US" sz="2400" b="1" dirty="0">
              <a:latin typeface="Times New Roman" panose="02020603050405020304" pitchFamily="18" charset="0"/>
              <a:ea typeface="黑体" panose="02010609060101010101" pitchFamily="49" charset="-122"/>
            </a:endParaRPr>
          </a:p>
          <a:p>
            <a:pPr eaLnBrk="0" hangingPunct="0"/>
            <a:r>
              <a:rPr lang="zh-CN" altLang="en-US" sz="2400" b="1" dirty="0">
                <a:latin typeface="Times New Roman" panose="02020603050405020304" pitchFamily="18" charset="0"/>
                <a:ea typeface="黑体" panose="02010609060101010101" pitchFamily="49" charset="-122"/>
              </a:rPr>
              <a:t>（</a:t>
            </a:r>
            <a:r>
              <a:rPr lang="en-US" altLang="zh-CN" sz="2400" b="1" dirty="0">
                <a:latin typeface="Times New Roman" panose="02020603050405020304" pitchFamily="18" charset="0"/>
                <a:ea typeface="黑体" panose="02010609060101010101" pitchFamily="49" charset="-122"/>
              </a:rPr>
              <a:t>4</a:t>
            </a:r>
            <a:r>
              <a:rPr lang="zh-CN" altLang="en-US" sz="2400" b="1" dirty="0">
                <a:latin typeface="Times New Roman" panose="02020603050405020304" pitchFamily="18" charset="0"/>
                <a:ea typeface="黑体" panose="02010609060101010101" pitchFamily="49" charset="-122"/>
              </a:rPr>
              <a:t>）若两侧气体均为氧气，在其它参数不变的情况下，混合过程的熵产和㶲损又为多少？ </a:t>
            </a:r>
            <a:endParaRPr lang="zh-CN" altLang="en-US" sz="2400" b="1" dirty="0">
              <a:latin typeface="Times New Roman" panose="02020603050405020304" pitchFamily="18" charset="0"/>
              <a:ea typeface="黑体" panose="02010609060101010101" pitchFamily="49" charset="-122"/>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367935" y="358782"/>
            <a:ext cx="2408129" cy="200575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矩形 198659"/>
          <p:cNvSpPr>
            <a:spLocks noChangeArrowheads="1"/>
          </p:cNvSpPr>
          <p:nvPr/>
        </p:nvSpPr>
        <p:spPr bwMode="auto">
          <a:xfrm>
            <a:off x="323712" y="2522538"/>
            <a:ext cx="82804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zh-CN" altLang="en-US" sz="2400" b="1" dirty="0">
                <a:latin typeface="黑体" panose="02010609060101010101" pitchFamily="49" charset="-122"/>
                <a:ea typeface="黑体" panose="02010609060101010101" pitchFamily="49" charset="-122"/>
              </a:rPr>
              <a:t>不同种类气体的混合过程是不可逆过程。混合达到平衡状态后，混合气体的终态参数，可利用热力学第一定律和理想气体的状态方程式来确定。过程的熵产和㶲损可通过热力学第二定律来</a:t>
            </a:r>
            <a:r>
              <a:rPr lang="zh-CN" altLang="en-US" sz="2400" b="1" dirty="0" smtClean="0">
                <a:latin typeface="黑体" panose="02010609060101010101" pitchFamily="49" charset="-122"/>
                <a:ea typeface="黑体" panose="02010609060101010101" pitchFamily="49" charset="-122"/>
              </a:rPr>
              <a:t>确定</a:t>
            </a:r>
            <a:r>
              <a:rPr lang="zh-CN" altLang="en-US" sz="2400" b="1" dirty="0">
                <a:latin typeface="黑体" panose="02010609060101010101" pitchFamily="49" charset="-122"/>
                <a:ea typeface="黑体" panose="02010609060101010101" pitchFamily="49" charset="-122"/>
              </a:rPr>
              <a:t>。</a:t>
            </a:r>
            <a:endParaRPr lang="zh-CN" altLang="en-US" sz="2400" b="1" dirty="0">
              <a:latin typeface="黑体" panose="02010609060101010101" pitchFamily="49" charset="-122"/>
              <a:ea typeface="黑体" panose="02010609060101010101" pitchFamily="49" charset="-122"/>
            </a:endParaRPr>
          </a:p>
        </p:txBody>
      </p:sp>
      <p:sp>
        <p:nvSpPr>
          <p:cNvPr id="40962" name="矩形 198661"/>
          <p:cNvSpPr>
            <a:spLocks noChangeArrowheads="1"/>
          </p:cNvSpPr>
          <p:nvPr/>
        </p:nvSpPr>
        <p:spPr bwMode="auto">
          <a:xfrm>
            <a:off x="0" y="3195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40963" name="对象 198660"/>
          <p:cNvGraphicFramePr/>
          <p:nvPr/>
        </p:nvGraphicFramePr>
        <p:xfrm>
          <a:off x="1331913" y="4508500"/>
          <a:ext cx="5976937" cy="895350"/>
        </p:xfrm>
        <a:graphic>
          <a:graphicData uri="http://schemas.openxmlformats.org/presentationml/2006/ole">
            <mc:AlternateContent xmlns:mc="http://schemas.openxmlformats.org/markup-compatibility/2006">
              <mc:Choice xmlns:v="urn:schemas-microsoft-com:vml" Requires="v">
                <p:oleObj spid="_x0000_s15522" name="" r:id="rId1" imgW="3111500" imgH="469900" progId="Equation.DSMT4">
                  <p:embed/>
                </p:oleObj>
              </mc:Choice>
              <mc:Fallback>
                <p:oleObj name="" r:id="rId1" imgW="3111500" imgH="469900" progId="Equation.DSMT4">
                  <p:embed/>
                  <p:pic>
                    <p:nvPicPr>
                      <p:cNvPr id="0" name="对象 19866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913" y="4508500"/>
                        <a:ext cx="5976937"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0965" name="矩形 198664"/>
          <p:cNvSpPr>
            <a:spLocks noChangeArrowheads="1"/>
          </p:cNvSpPr>
          <p:nvPr/>
        </p:nvSpPr>
        <p:spPr bwMode="auto">
          <a:xfrm>
            <a:off x="0" y="3195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40966" name="对象 198663"/>
          <p:cNvGraphicFramePr/>
          <p:nvPr/>
        </p:nvGraphicFramePr>
        <p:xfrm>
          <a:off x="1331913" y="5734050"/>
          <a:ext cx="5616575" cy="828675"/>
        </p:xfrm>
        <a:graphic>
          <a:graphicData uri="http://schemas.openxmlformats.org/presentationml/2006/ole">
            <mc:AlternateContent xmlns:mc="http://schemas.openxmlformats.org/markup-compatibility/2006">
              <mc:Choice xmlns:v="urn:schemas-microsoft-com:vml" Requires="v">
                <p:oleObj spid="_x0000_s15523" name="" r:id="rId3" imgW="3162300" imgH="469900" progId="Equation.DSMT4">
                  <p:embed/>
                </p:oleObj>
              </mc:Choice>
              <mc:Fallback>
                <p:oleObj name="" r:id="rId3" imgW="3162300" imgH="469900" progId="Equation.DSMT4">
                  <p:embed/>
                  <p:pic>
                    <p:nvPicPr>
                      <p:cNvPr id="0" name="对象 19866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5734050"/>
                        <a:ext cx="5616575"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9" name="图片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67935" y="358782"/>
            <a:ext cx="2408129" cy="200575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矩形 199684"/>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41986" name="对象 199683"/>
          <p:cNvGraphicFramePr/>
          <p:nvPr/>
        </p:nvGraphicFramePr>
        <p:xfrm>
          <a:off x="3276600" y="333375"/>
          <a:ext cx="1871663" cy="468313"/>
        </p:xfrm>
        <a:graphic>
          <a:graphicData uri="http://schemas.openxmlformats.org/presentationml/2006/ole">
            <mc:AlternateContent xmlns:mc="http://schemas.openxmlformats.org/markup-compatibility/2006">
              <mc:Choice xmlns:v="urn:schemas-microsoft-com:vml" Requires="v">
                <p:oleObj spid="_x0000_s16870" name="" r:id="rId1" imgW="799465" imgH="203200" progId="Equation.DSMT4">
                  <p:embed/>
                </p:oleObj>
              </mc:Choice>
              <mc:Fallback>
                <p:oleObj name="" r:id="rId1" imgW="799465" imgH="203200" progId="Equation.DSMT4">
                  <p:embed/>
                  <p:pic>
                    <p:nvPicPr>
                      <p:cNvPr id="0" name="对象 19968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333375"/>
                        <a:ext cx="1871663"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1987" name="矩形 199685"/>
          <p:cNvSpPr>
            <a:spLocks noChangeArrowheads="1"/>
          </p:cNvSpPr>
          <p:nvPr/>
        </p:nvSpPr>
        <p:spPr bwMode="auto">
          <a:xfrm>
            <a:off x="0" y="35290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
        <p:nvSpPr>
          <p:cNvPr id="41989" name="直接连接符 199687"/>
          <p:cNvSpPr>
            <a:spLocks noChangeShapeType="1"/>
          </p:cNvSpPr>
          <p:nvPr/>
        </p:nvSpPr>
        <p:spPr bwMode="auto">
          <a:xfrm flipV="1">
            <a:off x="4068763" y="333375"/>
            <a:ext cx="431800" cy="5762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990" name="矩形 199690"/>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41991" name="对象 199689"/>
          <p:cNvGraphicFramePr>
            <a:graphicFrameLocks noChangeAspect="1"/>
          </p:cNvGraphicFramePr>
          <p:nvPr/>
        </p:nvGraphicFramePr>
        <p:xfrm>
          <a:off x="2860046" y="1148180"/>
          <a:ext cx="5864854" cy="964782"/>
        </p:xfrm>
        <a:graphic>
          <a:graphicData uri="http://schemas.openxmlformats.org/presentationml/2006/ole">
            <mc:AlternateContent xmlns:mc="http://schemas.openxmlformats.org/markup-compatibility/2006">
              <mc:Choice xmlns:v="urn:schemas-microsoft-com:vml" Requires="v">
                <p:oleObj spid="_x0000_s16871" name="" r:id="rId3" imgW="2932430" imgH="482600" progId="Equation.DSMT4">
                  <p:embed/>
                </p:oleObj>
              </mc:Choice>
              <mc:Fallback>
                <p:oleObj name="" r:id="rId3" imgW="2932430" imgH="482600" progId="Equation.DSMT4">
                  <p:embed/>
                  <p:pic>
                    <p:nvPicPr>
                      <p:cNvPr id="0" name="对象 19968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60046" y="1148180"/>
                        <a:ext cx="5864854" cy="964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1992" name="对象 199691"/>
          <p:cNvGraphicFramePr>
            <a:graphicFrameLocks noChangeAspect="1"/>
          </p:cNvGraphicFramePr>
          <p:nvPr/>
        </p:nvGraphicFramePr>
        <p:xfrm>
          <a:off x="1116013" y="2420938"/>
          <a:ext cx="3683000" cy="914400"/>
        </p:xfrm>
        <a:graphic>
          <a:graphicData uri="http://schemas.openxmlformats.org/presentationml/2006/ole">
            <mc:AlternateContent xmlns:mc="http://schemas.openxmlformats.org/markup-compatibility/2006">
              <mc:Choice xmlns:v="urn:schemas-microsoft-com:vml" Requires="v">
                <p:oleObj spid="_x0000_s16872" name="" r:id="rId5" imgW="1841500" imgH="457200" progId="Equation.DSMT4">
                  <p:embed/>
                </p:oleObj>
              </mc:Choice>
              <mc:Fallback>
                <p:oleObj name="" r:id="rId5" imgW="1841500" imgH="457200" progId="Equation.DSMT4">
                  <p:embed/>
                  <p:pic>
                    <p:nvPicPr>
                      <p:cNvPr id="0" name="对象 19969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6013" y="2420938"/>
                        <a:ext cx="3683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1993" name="对象 199693"/>
          <p:cNvGraphicFramePr>
            <a:graphicFrameLocks noChangeAspect="1"/>
          </p:cNvGraphicFramePr>
          <p:nvPr/>
        </p:nvGraphicFramePr>
        <p:xfrm>
          <a:off x="323850" y="3644900"/>
          <a:ext cx="1645920" cy="434340"/>
        </p:xfrm>
        <a:graphic>
          <a:graphicData uri="http://schemas.openxmlformats.org/presentationml/2006/ole">
            <mc:AlternateContent xmlns:mc="http://schemas.openxmlformats.org/markup-compatibility/2006">
              <mc:Choice xmlns:v="urn:schemas-microsoft-com:vml" Requires="v">
                <p:oleObj spid="_x0000_s16873" name="" r:id="rId7" imgW="914400" imgH="241300" progId="Equation.DSMT4">
                  <p:embed/>
                </p:oleObj>
              </mc:Choice>
              <mc:Fallback>
                <p:oleObj name="" r:id="rId7" imgW="914400" imgH="241300" progId="Equation.DSMT4">
                  <p:embed/>
                  <p:pic>
                    <p:nvPicPr>
                      <p:cNvPr id="0" name="对象 199693"/>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3850" y="3644900"/>
                        <a:ext cx="1645920" cy="434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1994" name="对象 199695"/>
          <p:cNvGraphicFramePr/>
          <p:nvPr/>
        </p:nvGraphicFramePr>
        <p:xfrm>
          <a:off x="160338" y="4223338"/>
          <a:ext cx="2520950" cy="411162"/>
        </p:xfrm>
        <a:graphic>
          <a:graphicData uri="http://schemas.openxmlformats.org/presentationml/2006/ole">
            <mc:AlternateContent xmlns:mc="http://schemas.openxmlformats.org/markup-compatibility/2006">
              <mc:Choice xmlns:v="urn:schemas-microsoft-com:vml" Requires="v">
                <p:oleObj spid="_x0000_s16874" name="" r:id="rId9" imgW="1397000" imgH="228600" progId="Equation.DSMT4">
                  <p:embed/>
                </p:oleObj>
              </mc:Choice>
              <mc:Fallback>
                <p:oleObj name="" r:id="rId9" imgW="1397000" imgH="228600" progId="Equation.DSMT4">
                  <p:embed/>
                  <p:pic>
                    <p:nvPicPr>
                      <p:cNvPr id="0" name="对象 199695"/>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0338" y="4223338"/>
                        <a:ext cx="2520950"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1995" name="对象 199697"/>
          <p:cNvGraphicFramePr/>
          <p:nvPr/>
        </p:nvGraphicFramePr>
        <p:xfrm>
          <a:off x="162789" y="4770731"/>
          <a:ext cx="2374900" cy="393700"/>
        </p:xfrm>
        <a:graphic>
          <a:graphicData uri="http://schemas.openxmlformats.org/presentationml/2006/ole">
            <mc:AlternateContent xmlns:mc="http://schemas.openxmlformats.org/markup-compatibility/2006">
              <mc:Choice xmlns:v="urn:schemas-microsoft-com:vml" Requires="v">
                <p:oleObj spid="_x0000_s16875" name="" r:id="rId11" imgW="1384300" imgH="228600" progId="Equation.DSMT4">
                  <p:embed/>
                </p:oleObj>
              </mc:Choice>
              <mc:Fallback>
                <p:oleObj name="" r:id="rId11" imgW="1384300" imgH="228600" progId="Equation.DSMT4">
                  <p:embed/>
                  <p:pic>
                    <p:nvPicPr>
                      <p:cNvPr id="0" name="对象 199697"/>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2789" y="4770731"/>
                        <a:ext cx="23749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1996" name="右箭头 199699"/>
          <p:cNvSpPr>
            <a:spLocks noChangeArrowheads="1"/>
          </p:cNvSpPr>
          <p:nvPr/>
        </p:nvSpPr>
        <p:spPr bwMode="auto">
          <a:xfrm>
            <a:off x="250825" y="2781300"/>
            <a:ext cx="720725" cy="287338"/>
          </a:xfrm>
          <a:prstGeom prst="rightArrow">
            <a:avLst>
              <a:gd name="adj1" fmla="val 50000"/>
              <a:gd name="adj2" fmla="val 62661"/>
            </a:avLst>
          </a:prstGeom>
          <a:solidFill>
            <a:srgbClr val="0033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41997" name="对象 199700"/>
          <p:cNvGraphicFramePr>
            <a:graphicFrameLocks noChangeAspect="1"/>
          </p:cNvGraphicFramePr>
          <p:nvPr/>
        </p:nvGraphicFramePr>
        <p:xfrm>
          <a:off x="6227762" y="2658270"/>
          <a:ext cx="1599840" cy="457200"/>
        </p:xfrm>
        <a:graphic>
          <a:graphicData uri="http://schemas.openxmlformats.org/presentationml/2006/ole">
            <mc:AlternateContent xmlns:mc="http://schemas.openxmlformats.org/markup-compatibility/2006">
              <mc:Choice xmlns:v="urn:schemas-microsoft-com:vml" Requires="v">
                <p:oleObj spid="_x0000_s16876" name="Equation" r:id="rId13" imgW="19202400" imgH="5486400" progId="Equation.DSMT4">
                  <p:embed/>
                </p:oleObj>
              </mc:Choice>
              <mc:Fallback>
                <p:oleObj name="Equation" r:id="rId13" imgW="19202400" imgH="5486400" progId="Equation.DSMT4">
                  <p:embed/>
                  <p:pic>
                    <p:nvPicPr>
                      <p:cNvPr id="0" name="对象 199700"/>
                      <p:cNvPicPr>
                        <a:picLocks noChangeArrowheads="1"/>
                      </p:cNvPicPr>
                      <p:nvPr/>
                    </p:nvPicPr>
                    <p:blipFill>
                      <a:blip r:embed="rId14"/>
                      <a:srcRect/>
                      <a:stretch>
                        <a:fillRect/>
                      </a:stretch>
                    </p:blipFill>
                    <p:spPr bwMode="auto">
                      <a:xfrm>
                        <a:off x="6227762" y="2658270"/>
                        <a:ext cx="159984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1999" name="直接连接符 199703"/>
          <p:cNvSpPr>
            <a:spLocks noChangeShapeType="1"/>
          </p:cNvSpPr>
          <p:nvPr/>
        </p:nvSpPr>
        <p:spPr bwMode="auto">
          <a:xfrm flipV="1">
            <a:off x="4572000" y="333375"/>
            <a:ext cx="431800" cy="5762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0" name="矩形 199704"/>
          <p:cNvSpPr>
            <a:spLocks noChangeArrowheads="1"/>
          </p:cNvSpPr>
          <p:nvPr/>
        </p:nvSpPr>
        <p:spPr bwMode="auto">
          <a:xfrm>
            <a:off x="34925" y="3573463"/>
            <a:ext cx="2808288" cy="1727200"/>
          </a:xfrm>
          <a:prstGeom prst="rect">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ea typeface="宋体" panose="02010600030101010101" pitchFamily="2" charset="-122"/>
            </a:endParaRPr>
          </a:p>
        </p:txBody>
      </p:sp>
      <p:sp>
        <p:nvSpPr>
          <p:cNvPr id="42001" name="右箭头 199706"/>
          <p:cNvSpPr>
            <a:spLocks noChangeArrowheads="1"/>
          </p:cNvSpPr>
          <p:nvPr/>
        </p:nvSpPr>
        <p:spPr bwMode="auto">
          <a:xfrm>
            <a:off x="5291137" y="2753519"/>
            <a:ext cx="720725" cy="287338"/>
          </a:xfrm>
          <a:prstGeom prst="rightArrow">
            <a:avLst>
              <a:gd name="adj1" fmla="val 50000"/>
              <a:gd name="adj2" fmla="val 62661"/>
            </a:avLst>
          </a:prstGeom>
          <a:solidFill>
            <a:srgbClr val="0033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
        <p:nvSpPr>
          <p:cNvPr id="42002" name="矩形 199708"/>
          <p:cNvSpPr>
            <a:spLocks noChangeArrowheads="1"/>
          </p:cNvSpPr>
          <p:nvPr/>
        </p:nvSpPr>
        <p:spPr bwMode="auto">
          <a:xfrm>
            <a:off x="0" y="28384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42003" name="对象 199707"/>
          <p:cNvGraphicFramePr>
            <a:graphicFrameLocks noChangeAspect="1"/>
          </p:cNvGraphicFramePr>
          <p:nvPr/>
        </p:nvGraphicFramePr>
        <p:xfrm>
          <a:off x="3743325" y="3816972"/>
          <a:ext cx="5184775" cy="1919288"/>
        </p:xfrm>
        <a:graphic>
          <a:graphicData uri="http://schemas.openxmlformats.org/presentationml/2006/ole">
            <mc:AlternateContent xmlns:mc="http://schemas.openxmlformats.org/markup-compatibility/2006">
              <mc:Choice xmlns:v="urn:schemas-microsoft-com:vml" Requires="v">
                <p:oleObj spid="_x0000_s16877" name="" r:id="rId15" imgW="3187700" imgH="1181100" progId="Equation.DSMT4">
                  <p:embed/>
                </p:oleObj>
              </mc:Choice>
              <mc:Fallback>
                <p:oleObj name="" r:id="rId15" imgW="3187700" imgH="1181100" progId="Equation.DSMT4">
                  <p:embed/>
                  <p:pic>
                    <p:nvPicPr>
                      <p:cNvPr id="0" name="对象 199707"/>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43325" y="3816972"/>
                        <a:ext cx="5184775" cy="191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2004" name="直接连接符 199709"/>
          <p:cNvSpPr>
            <a:spLocks noChangeShapeType="1"/>
          </p:cNvSpPr>
          <p:nvPr/>
        </p:nvSpPr>
        <p:spPr bwMode="auto">
          <a:xfrm>
            <a:off x="2843213" y="4365625"/>
            <a:ext cx="576262" cy="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5" name="直接连接符 199710"/>
          <p:cNvSpPr>
            <a:spLocks noChangeShapeType="1"/>
          </p:cNvSpPr>
          <p:nvPr/>
        </p:nvSpPr>
        <p:spPr bwMode="auto">
          <a:xfrm flipV="1">
            <a:off x="3419475" y="3500438"/>
            <a:ext cx="0" cy="865187"/>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06" name="矩形 199712"/>
          <p:cNvSpPr>
            <a:spLocks noChangeArrowheads="1"/>
          </p:cNvSpPr>
          <p:nvPr/>
        </p:nvSpPr>
        <p:spPr bwMode="auto">
          <a:xfrm>
            <a:off x="327095" y="5973591"/>
            <a:ext cx="71294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dirty="0">
                <a:latin typeface="黑体" panose="02010609060101010101" pitchFamily="49" charset="-122"/>
                <a:ea typeface="黑体" panose="02010609060101010101" pitchFamily="49" charset="-122"/>
              </a:rPr>
              <a:t>（</a:t>
            </a:r>
            <a:r>
              <a:rPr lang="en-US" altLang="zh-CN" sz="2400" b="1" dirty="0">
                <a:latin typeface="黑体" panose="02010609060101010101" pitchFamily="49" charset="-122"/>
                <a:ea typeface="黑体" panose="02010609060101010101" pitchFamily="49" charset="-122"/>
              </a:rPr>
              <a:t>1</a:t>
            </a:r>
            <a:r>
              <a:rPr lang="zh-CN" altLang="en-US" sz="2400" b="1" dirty="0">
                <a:latin typeface="黑体" panose="02010609060101010101" pitchFamily="49" charset="-122"/>
                <a:ea typeface="黑体" panose="02010609060101010101" pitchFamily="49" charset="-122"/>
              </a:rPr>
              <a:t>）混</a:t>
            </a:r>
            <a:r>
              <a:rPr lang="zh-CN" altLang="en-US" sz="2400" b="1" dirty="0">
                <a:latin typeface="Times New Roman" panose="02020603050405020304" pitchFamily="18" charset="0"/>
                <a:ea typeface="黑体" panose="02010609060101010101" pitchFamily="49" charset="-122"/>
              </a:rPr>
              <a:t>合气体的温度</a:t>
            </a:r>
            <a:r>
              <a:rPr lang="en-US" altLang="zh-CN" sz="2400" b="1" i="1" dirty="0">
                <a:latin typeface="Times New Roman" panose="02020603050405020304" pitchFamily="18" charset="0"/>
                <a:ea typeface="黑体" panose="02010609060101010101" pitchFamily="49" charset="-122"/>
              </a:rPr>
              <a:t>T</a:t>
            </a:r>
            <a:r>
              <a:rPr lang="en-US" altLang="zh-CN" sz="2400" b="1" baseline="-25000" dirty="0">
                <a:latin typeface="Times New Roman" panose="02020603050405020304" pitchFamily="18" charset="0"/>
                <a:ea typeface="黑体" panose="02010609060101010101" pitchFamily="49" charset="-122"/>
              </a:rPr>
              <a:t>2</a:t>
            </a:r>
            <a:r>
              <a:rPr lang="zh-CN" altLang="en-US" sz="2400" b="1" dirty="0">
                <a:latin typeface="Times New Roman" panose="02020603050405020304" pitchFamily="18" charset="0"/>
                <a:ea typeface="黑体" panose="02010609060101010101" pitchFamily="49" charset="-122"/>
              </a:rPr>
              <a:t>和压力</a:t>
            </a:r>
            <a:r>
              <a:rPr lang="en-US" altLang="zh-CN" sz="2400" b="1" i="1" dirty="0">
                <a:latin typeface="Times New Roman" panose="02020603050405020304" pitchFamily="18" charset="0"/>
                <a:ea typeface="黑体" panose="02010609060101010101" pitchFamily="49" charset="-122"/>
              </a:rPr>
              <a:t>p</a:t>
            </a:r>
            <a:r>
              <a:rPr lang="en-US" altLang="zh-CN" sz="2400" b="1" baseline="-25000" dirty="0">
                <a:latin typeface="Times New Roman" panose="02020603050405020304" pitchFamily="18" charset="0"/>
                <a:ea typeface="黑体" panose="02010609060101010101" pitchFamily="49" charset="-122"/>
              </a:rPr>
              <a:t>2</a:t>
            </a:r>
            <a:r>
              <a:rPr lang="zh-CN" altLang="en-US" sz="2400" b="1" dirty="0">
                <a:solidFill>
                  <a:srgbClr val="FF0000"/>
                </a:solidFill>
                <a:latin typeface="Times New Roman" panose="02020603050405020304" pitchFamily="18" charset="0"/>
                <a:ea typeface="黑体" panose="02010609060101010101" pitchFamily="49" charset="-122"/>
              </a:rPr>
              <a:t>求得</a:t>
            </a:r>
            <a:endParaRPr lang="zh-CN" altLang="en-US" sz="2400" b="1" dirty="0">
              <a:solidFill>
                <a:srgbClr val="FF0000"/>
              </a:solidFill>
              <a:latin typeface="Times New Roman" panose="02020603050405020304" pitchFamily="18" charset="0"/>
              <a:ea typeface="黑体" panose="02010609060101010101" pitchFamily="49" charset="-122"/>
            </a:endParaRPr>
          </a:p>
        </p:txBody>
      </p:sp>
      <p:sp>
        <p:nvSpPr>
          <p:cNvPr id="42007" name="直接连接符 199713"/>
          <p:cNvSpPr>
            <a:spLocks noChangeShapeType="1"/>
          </p:cNvSpPr>
          <p:nvPr/>
        </p:nvSpPr>
        <p:spPr bwMode="auto">
          <a:xfrm>
            <a:off x="6804025" y="3068638"/>
            <a:ext cx="936625" cy="0"/>
          </a:xfrm>
          <a:prstGeom prst="line">
            <a:avLst/>
          </a:prstGeom>
          <a:noFill/>
          <a:ln w="38100">
            <a:solidFill>
              <a:srgbClr val="FF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8" name="直接连接符 199714"/>
          <p:cNvSpPr>
            <a:spLocks noChangeShapeType="1"/>
          </p:cNvSpPr>
          <p:nvPr/>
        </p:nvSpPr>
        <p:spPr bwMode="auto">
          <a:xfrm>
            <a:off x="4281173" y="5754413"/>
            <a:ext cx="1511300" cy="0"/>
          </a:xfrm>
          <a:prstGeom prst="line">
            <a:avLst/>
          </a:prstGeom>
          <a:noFill/>
          <a:ln w="38100">
            <a:solidFill>
              <a:srgbClr val="FF00FF"/>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26" name="图片 25"/>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307454" y="127222"/>
            <a:ext cx="2408129" cy="200575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矩形 200708"/>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43010" name="对象 200707"/>
          <p:cNvGraphicFramePr/>
          <p:nvPr/>
        </p:nvGraphicFramePr>
        <p:xfrm>
          <a:off x="755650" y="1341438"/>
          <a:ext cx="7058025" cy="1755775"/>
        </p:xfrm>
        <a:graphic>
          <a:graphicData uri="http://schemas.openxmlformats.org/presentationml/2006/ole">
            <mc:AlternateContent xmlns:mc="http://schemas.openxmlformats.org/markup-compatibility/2006">
              <mc:Choice xmlns:v="urn:schemas-microsoft-com:vml" Requires="v">
                <p:oleObj spid="_x0000_s17518" name="" r:id="rId1" imgW="3594100" imgH="889000" progId="Equation.DSMT4">
                  <p:embed/>
                </p:oleObj>
              </mc:Choice>
              <mc:Fallback>
                <p:oleObj name="" r:id="rId1" imgW="3594100" imgH="889000" progId="Equation.DSMT4">
                  <p:embed/>
                  <p:pic>
                    <p:nvPicPr>
                      <p:cNvPr id="0" name="对象 20070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1341438"/>
                        <a:ext cx="7058025" cy="175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3011" name="矩形 200710"/>
          <p:cNvSpPr>
            <a:spLocks noChangeArrowheads="1"/>
          </p:cNvSpPr>
          <p:nvPr/>
        </p:nvSpPr>
        <p:spPr bwMode="auto">
          <a:xfrm>
            <a:off x="684213" y="549275"/>
            <a:ext cx="72358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latin typeface="黑体" panose="02010609060101010101" pitchFamily="49" charset="-122"/>
                <a:ea typeface="黑体" panose="02010609060101010101" pitchFamily="49" charset="-122"/>
              </a:rPr>
              <a:t>（</a:t>
            </a:r>
            <a:r>
              <a:rPr lang="en-US" altLang="zh-CN" sz="2400" b="1">
                <a:latin typeface="黑体" panose="02010609060101010101" pitchFamily="49" charset="-122"/>
                <a:ea typeface="黑体" panose="02010609060101010101" pitchFamily="49" charset="-122"/>
              </a:rPr>
              <a:t>2</a:t>
            </a:r>
            <a:r>
              <a:rPr lang="zh-CN" altLang="en-US" sz="2400" b="1">
                <a:latin typeface="黑体" panose="02010609060101010101" pitchFamily="49" charset="-122"/>
                <a:ea typeface="黑体" panose="02010609060101010101" pitchFamily="49" charset="-122"/>
              </a:rPr>
              <a:t>）</a:t>
            </a:r>
            <a:r>
              <a:rPr lang="zh-CN" altLang="en-US" sz="2400" b="1">
                <a:latin typeface="Times New Roman" panose="02020603050405020304" pitchFamily="18" charset="0"/>
                <a:ea typeface="黑体" panose="02010609060101010101" pitchFamily="49" charset="-122"/>
              </a:rPr>
              <a:t>混合气体中氧气和氮气各自的分压力</a:t>
            </a:r>
            <a:r>
              <a:rPr lang="en-US" altLang="zh-CN" sz="2400" b="1" i="1">
                <a:latin typeface="Times New Roman" panose="02020603050405020304" pitchFamily="18" charset="0"/>
                <a:ea typeface="黑体" panose="02010609060101010101" pitchFamily="49" charset="-122"/>
              </a:rPr>
              <a:t>p</a:t>
            </a:r>
            <a:r>
              <a:rPr lang="en-US" altLang="zh-CN" sz="2400" b="1" baseline="-25000">
                <a:latin typeface="Times New Roman" panose="02020603050405020304" pitchFamily="18" charset="0"/>
                <a:ea typeface="黑体" panose="02010609060101010101" pitchFamily="49" charset="-122"/>
              </a:rPr>
              <a:t>A2</a:t>
            </a:r>
            <a:r>
              <a:rPr lang="zh-CN" altLang="en-US" sz="2400" b="1">
                <a:latin typeface="Times New Roman" panose="02020603050405020304" pitchFamily="18" charset="0"/>
                <a:ea typeface="黑体" panose="02010609060101010101" pitchFamily="49" charset="-122"/>
              </a:rPr>
              <a:t>和</a:t>
            </a:r>
            <a:r>
              <a:rPr lang="en-US" altLang="zh-CN" sz="2400" b="1" i="1">
                <a:latin typeface="Times New Roman" panose="02020603050405020304" pitchFamily="18" charset="0"/>
                <a:ea typeface="黑体" panose="02010609060101010101" pitchFamily="49" charset="-122"/>
              </a:rPr>
              <a:t>p</a:t>
            </a:r>
            <a:r>
              <a:rPr lang="en-US" altLang="zh-CN" sz="2400" b="1" baseline="-25000">
                <a:latin typeface="Times New Roman" panose="02020603050405020304" pitchFamily="18" charset="0"/>
                <a:ea typeface="黑体" panose="02010609060101010101" pitchFamily="49" charset="-122"/>
              </a:rPr>
              <a:t>B2</a:t>
            </a:r>
            <a:r>
              <a:rPr lang="zh-CN" altLang="en-US" sz="2400" b="1">
                <a:latin typeface="Times New Roman" panose="02020603050405020304" pitchFamily="18" charset="0"/>
                <a:ea typeface="黑体" panose="02010609060101010101" pitchFamily="49" charset="-122"/>
              </a:rPr>
              <a:t>；</a:t>
            </a:r>
            <a:endParaRPr lang="zh-CN" altLang="en-US" sz="2400" b="1">
              <a:latin typeface="Times New Roman" panose="02020603050405020304" pitchFamily="18" charset="0"/>
              <a:ea typeface="黑体" panose="02010609060101010101" pitchFamily="49" charset="-122"/>
            </a:endParaRPr>
          </a:p>
        </p:txBody>
      </p:sp>
      <p:sp>
        <p:nvSpPr>
          <p:cNvPr id="43012" name="矩形 200712"/>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43013" name="对象 200711"/>
          <p:cNvGraphicFramePr/>
          <p:nvPr/>
        </p:nvGraphicFramePr>
        <p:xfrm>
          <a:off x="827088" y="3789363"/>
          <a:ext cx="6934200" cy="1727200"/>
        </p:xfrm>
        <a:graphic>
          <a:graphicData uri="http://schemas.openxmlformats.org/presentationml/2006/ole">
            <mc:AlternateContent xmlns:mc="http://schemas.openxmlformats.org/markup-compatibility/2006">
              <mc:Choice xmlns:v="urn:schemas-microsoft-com:vml" Requires="v">
                <p:oleObj spid="_x0000_s17519" name="" r:id="rId3" imgW="3594100" imgH="889000" progId="Equation.DSMT4">
                  <p:embed/>
                </p:oleObj>
              </mc:Choice>
              <mc:Fallback>
                <p:oleObj name="" r:id="rId3" imgW="3594100" imgH="889000" progId="Equation.DSMT4">
                  <p:embed/>
                  <p:pic>
                    <p:nvPicPr>
                      <p:cNvPr id="0" name="对象 20071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3789363"/>
                        <a:ext cx="6934200"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3014" name="直接连接符 200713"/>
          <p:cNvSpPr>
            <a:spLocks noChangeShapeType="1"/>
          </p:cNvSpPr>
          <p:nvPr/>
        </p:nvSpPr>
        <p:spPr bwMode="auto">
          <a:xfrm>
            <a:off x="5940425" y="2852738"/>
            <a:ext cx="1800225" cy="0"/>
          </a:xfrm>
          <a:prstGeom prst="line">
            <a:avLst/>
          </a:prstGeom>
          <a:noFill/>
          <a:ln w="38100">
            <a:solidFill>
              <a:srgbClr val="FF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15" name="直接连接符 200714"/>
          <p:cNvSpPr>
            <a:spLocks noChangeShapeType="1"/>
          </p:cNvSpPr>
          <p:nvPr/>
        </p:nvSpPr>
        <p:spPr bwMode="auto">
          <a:xfrm>
            <a:off x="6011863" y="5300663"/>
            <a:ext cx="1800225" cy="0"/>
          </a:xfrm>
          <a:prstGeom prst="line">
            <a:avLst/>
          </a:prstGeom>
          <a:noFill/>
          <a:ln w="38100">
            <a:solidFill>
              <a:srgbClr val="FF00FF"/>
            </a:solidFill>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矩形 201732"/>
          <p:cNvSpPr>
            <a:spLocks noChangeArrowheads="1"/>
          </p:cNvSpPr>
          <p:nvPr/>
        </p:nvSpPr>
        <p:spPr bwMode="auto">
          <a:xfrm>
            <a:off x="3059113" y="260350"/>
            <a:ext cx="40100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latin typeface="黑体" panose="02010609060101010101" pitchFamily="49" charset="-122"/>
                <a:ea typeface="黑体" panose="02010609060101010101" pitchFamily="49" charset="-122"/>
              </a:rPr>
              <a:t>（</a:t>
            </a:r>
            <a:r>
              <a:rPr lang="en-US" altLang="zh-CN" sz="2400" b="1">
                <a:latin typeface="黑体" panose="02010609060101010101" pitchFamily="49" charset="-122"/>
                <a:ea typeface="黑体" panose="02010609060101010101" pitchFamily="49" charset="-122"/>
              </a:rPr>
              <a:t>3</a:t>
            </a:r>
            <a:r>
              <a:rPr lang="zh-CN" altLang="en-US" sz="2400" b="1">
                <a:latin typeface="黑体" panose="02010609060101010101" pitchFamily="49" charset="-122"/>
                <a:ea typeface="黑体" panose="02010609060101010101" pitchFamily="49" charset="-122"/>
              </a:rPr>
              <a:t>）混合过程的熵产和㶲损</a:t>
            </a:r>
            <a:endParaRPr lang="zh-CN" altLang="en-US" sz="2400" b="1">
              <a:latin typeface="黑体" panose="02010609060101010101" pitchFamily="49" charset="-122"/>
              <a:ea typeface="黑体" panose="02010609060101010101" pitchFamily="49" charset="-122"/>
            </a:endParaRPr>
          </a:p>
        </p:txBody>
      </p:sp>
      <p:sp>
        <p:nvSpPr>
          <p:cNvPr id="44034" name="矩形 201734"/>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44035" name="对象 201733"/>
          <p:cNvGraphicFramePr>
            <a:graphicFrameLocks noChangeAspect="1"/>
          </p:cNvGraphicFramePr>
          <p:nvPr/>
        </p:nvGraphicFramePr>
        <p:xfrm>
          <a:off x="3398838" y="908050"/>
          <a:ext cx="1197288" cy="554760"/>
        </p:xfrm>
        <a:graphic>
          <a:graphicData uri="http://schemas.openxmlformats.org/presentationml/2006/ole">
            <mc:AlternateContent xmlns:mc="http://schemas.openxmlformats.org/markup-compatibility/2006">
              <mc:Choice xmlns:v="urn:schemas-microsoft-com:vml" Requires="v">
                <p:oleObj spid="_x0000_s18756" name="" r:id="rId1" imgW="520700" imgH="241300" progId="Equation.DSMT4">
                  <p:embed/>
                </p:oleObj>
              </mc:Choice>
              <mc:Fallback>
                <p:oleObj name="" r:id="rId1" imgW="520700" imgH="241300" progId="Equation.DSMT4">
                  <p:embed/>
                  <p:pic>
                    <p:nvPicPr>
                      <p:cNvPr id="0" name="对象 20173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8838" y="908050"/>
                        <a:ext cx="1197288" cy="554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4036" name="矩形 201736"/>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44037" name="对象 201735"/>
          <p:cNvGraphicFramePr>
            <a:graphicFrameLocks noChangeAspect="1"/>
          </p:cNvGraphicFramePr>
          <p:nvPr/>
        </p:nvGraphicFramePr>
        <p:xfrm>
          <a:off x="6216650" y="896938"/>
          <a:ext cx="1197288" cy="554760"/>
        </p:xfrm>
        <a:graphic>
          <a:graphicData uri="http://schemas.openxmlformats.org/presentationml/2006/ole">
            <mc:AlternateContent xmlns:mc="http://schemas.openxmlformats.org/markup-compatibility/2006">
              <mc:Choice xmlns:v="urn:schemas-microsoft-com:vml" Requires="v">
                <p:oleObj spid="_x0000_s18757" name="" r:id="rId3" imgW="520700" imgH="241300" progId="Equation.DSMT4">
                  <p:embed/>
                </p:oleObj>
              </mc:Choice>
              <mc:Fallback>
                <p:oleObj name="" r:id="rId3" imgW="520700" imgH="241300" progId="Equation.DSMT4">
                  <p:embed/>
                  <p:pic>
                    <p:nvPicPr>
                      <p:cNvPr id="0" name="对象 20173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16650" y="896938"/>
                        <a:ext cx="1197288" cy="554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4038" name="矩形 201738"/>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44039" name="对象 201737"/>
          <p:cNvGraphicFramePr>
            <a:graphicFrameLocks noChangeAspect="1"/>
          </p:cNvGraphicFramePr>
          <p:nvPr/>
        </p:nvGraphicFramePr>
        <p:xfrm>
          <a:off x="2916238" y="1628775"/>
          <a:ext cx="5345430" cy="554990"/>
        </p:xfrm>
        <a:graphic>
          <a:graphicData uri="http://schemas.openxmlformats.org/presentationml/2006/ole">
            <mc:AlternateContent xmlns:mc="http://schemas.openxmlformats.org/markup-compatibility/2006">
              <mc:Choice xmlns:v="urn:schemas-microsoft-com:vml" Requires="v">
                <p:oleObj spid="_x0000_s18758" name="" r:id="rId5" imgW="2324100" imgH="241300" progId="Equation.DSMT4">
                  <p:embed/>
                </p:oleObj>
              </mc:Choice>
              <mc:Fallback>
                <p:oleObj name="" r:id="rId5" imgW="2324100" imgH="241300" progId="Equation.DSMT4">
                  <p:embed/>
                  <p:pic>
                    <p:nvPicPr>
                      <p:cNvPr id="0" name="对象 20173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6238" y="1628775"/>
                        <a:ext cx="5345430" cy="554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4041" name="矩形 201741"/>
          <p:cNvSpPr>
            <a:spLocks noChangeArrowheads="1"/>
          </p:cNvSpPr>
          <p:nvPr/>
        </p:nvSpPr>
        <p:spPr bwMode="auto">
          <a:xfrm>
            <a:off x="0"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44042" name="对象 201740"/>
          <p:cNvGraphicFramePr>
            <a:graphicFrameLocks noChangeAspect="1"/>
          </p:cNvGraphicFramePr>
          <p:nvPr/>
        </p:nvGraphicFramePr>
        <p:xfrm>
          <a:off x="395288" y="2565400"/>
          <a:ext cx="5520690" cy="1635760"/>
        </p:xfrm>
        <a:graphic>
          <a:graphicData uri="http://schemas.openxmlformats.org/presentationml/2006/ole">
            <mc:AlternateContent xmlns:mc="http://schemas.openxmlformats.org/markup-compatibility/2006">
              <mc:Choice xmlns:v="urn:schemas-microsoft-com:vml" Requires="v">
                <p:oleObj spid="_x0000_s18759" name="" r:id="rId7" imgW="2400300" imgH="711200" progId="Equation.DSMT4">
                  <p:embed/>
                </p:oleObj>
              </mc:Choice>
              <mc:Fallback>
                <p:oleObj name="" r:id="rId7" imgW="2400300" imgH="711200" progId="Equation.DSMT4">
                  <p:embed/>
                  <p:pic>
                    <p:nvPicPr>
                      <p:cNvPr id="0" name="对象 201740"/>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5288" y="2565400"/>
                        <a:ext cx="5520690" cy="1635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4043" name="矩形 201743"/>
          <p:cNvSpPr>
            <a:spLocks noChangeArrowheads="1"/>
          </p:cNvSpPr>
          <p:nvPr/>
        </p:nvSpPr>
        <p:spPr bwMode="auto">
          <a:xfrm>
            <a:off x="0"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44044" name="对象 201742"/>
          <p:cNvGraphicFramePr>
            <a:graphicFrameLocks noChangeAspect="1"/>
          </p:cNvGraphicFramePr>
          <p:nvPr/>
        </p:nvGraphicFramePr>
        <p:xfrm>
          <a:off x="414814" y="4581525"/>
          <a:ext cx="5433060" cy="1635760"/>
        </p:xfrm>
        <a:graphic>
          <a:graphicData uri="http://schemas.openxmlformats.org/presentationml/2006/ole">
            <mc:AlternateContent xmlns:mc="http://schemas.openxmlformats.org/markup-compatibility/2006">
              <mc:Choice xmlns:v="urn:schemas-microsoft-com:vml" Requires="v">
                <p:oleObj spid="_x0000_s18760" name="" r:id="rId9" imgW="2362200" imgH="711200" progId="Equation.DSMT4">
                  <p:embed/>
                </p:oleObj>
              </mc:Choice>
              <mc:Fallback>
                <p:oleObj name="" r:id="rId9" imgW="2362200" imgH="711200" progId="Equation.DSMT4">
                  <p:embed/>
                  <p:pic>
                    <p:nvPicPr>
                      <p:cNvPr id="0" name="对象 201742"/>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4814" y="4581525"/>
                        <a:ext cx="5433060" cy="1635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4045" name="矩形 201748"/>
          <p:cNvSpPr>
            <a:spLocks noChangeArrowheads="1"/>
          </p:cNvSpPr>
          <p:nvPr/>
        </p:nvSpPr>
        <p:spPr bwMode="auto">
          <a:xfrm>
            <a:off x="5795963" y="3736975"/>
            <a:ext cx="26844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FF0000"/>
                </a:solidFill>
                <a:latin typeface="黑体" panose="02010609060101010101" pitchFamily="49" charset="-122"/>
                <a:ea typeface="黑体" panose="02010609060101010101" pitchFamily="49" charset="-122"/>
              </a:rPr>
              <a:t>注意是分压力！</a:t>
            </a:r>
            <a:endParaRPr lang="zh-CN" altLang="en-US" sz="2800" b="1">
              <a:solidFill>
                <a:srgbClr val="FF0000"/>
              </a:solidFill>
              <a:latin typeface="黑体" panose="02010609060101010101" pitchFamily="49" charset="-122"/>
              <a:ea typeface="黑体" panose="02010609060101010101" pitchFamily="49" charset="-122"/>
            </a:endParaRPr>
          </a:p>
        </p:txBody>
      </p:sp>
      <p:sp>
        <p:nvSpPr>
          <p:cNvPr id="44046" name="椭圆 201749"/>
          <p:cNvSpPr>
            <a:spLocks noChangeArrowheads="1"/>
          </p:cNvSpPr>
          <p:nvPr/>
        </p:nvSpPr>
        <p:spPr bwMode="auto">
          <a:xfrm>
            <a:off x="2916238" y="2565400"/>
            <a:ext cx="576262" cy="647700"/>
          </a:xfrm>
          <a:prstGeom prst="ellipse">
            <a:avLst/>
          </a:prstGeom>
          <a:noFill/>
          <a:ln w="9525">
            <a:solidFill>
              <a:srgbClr val="FF0000"/>
            </a:solidFill>
            <a:rou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ea typeface="宋体" panose="02010600030101010101" pitchFamily="2" charset="-122"/>
            </a:endParaRPr>
          </a:p>
        </p:txBody>
      </p:sp>
      <p:sp>
        <p:nvSpPr>
          <p:cNvPr id="44047" name="椭圆 201751"/>
          <p:cNvSpPr>
            <a:spLocks noChangeArrowheads="1"/>
          </p:cNvSpPr>
          <p:nvPr/>
        </p:nvSpPr>
        <p:spPr bwMode="auto">
          <a:xfrm>
            <a:off x="2843213" y="4581525"/>
            <a:ext cx="576262" cy="647700"/>
          </a:xfrm>
          <a:prstGeom prst="ellipse">
            <a:avLst/>
          </a:prstGeom>
          <a:noFill/>
          <a:ln w="9525">
            <a:solidFill>
              <a:srgbClr val="FF0000"/>
            </a:solidFill>
            <a:rou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ea typeface="宋体" panose="02010600030101010101" pitchFamily="2" charset="-122"/>
            </a:endParaRPr>
          </a:p>
        </p:txBody>
      </p:sp>
      <p:pic>
        <p:nvPicPr>
          <p:cNvPr id="18" name="图片 17"/>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46440" y="171439"/>
            <a:ext cx="2408129" cy="200575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矩形 202756"/>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45058" name="对象 202755"/>
          <p:cNvGraphicFramePr>
            <a:graphicFrameLocks noChangeAspect="1"/>
          </p:cNvGraphicFramePr>
          <p:nvPr/>
        </p:nvGraphicFramePr>
        <p:xfrm>
          <a:off x="366960" y="3331557"/>
          <a:ext cx="6995160" cy="708660"/>
        </p:xfrm>
        <a:graphic>
          <a:graphicData uri="http://schemas.openxmlformats.org/presentationml/2006/ole">
            <mc:AlternateContent xmlns:mc="http://schemas.openxmlformats.org/markup-compatibility/2006">
              <mc:Choice xmlns:v="urn:schemas-microsoft-com:vml" Requires="v">
                <p:oleObj spid="_x0000_s19728" name="" r:id="rId1" imgW="3886200" imgH="393700" progId="Equation.DSMT4">
                  <p:embed/>
                </p:oleObj>
              </mc:Choice>
              <mc:Fallback>
                <p:oleObj name="" r:id="rId1" imgW="3886200" imgH="393700" progId="Equation.DSMT4">
                  <p:embed/>
                  <p:pic>
                    <p:nvPicPr>
                      <p:cNvPr id="0" name="对象 20275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960" y="3331557"/>
                        <a:ext cx="6995160" cy="708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5059" name="对象 202757"/>
          <p:cNvGraphicFramePr>
            <a:graphicFrameLocks noChangeAspect="1"/>
          </p:cNvGraphicFramePr>
          <p:nvPr/>
        </p:nvGraphicFramePr>
        <p:xfrm>
          <a:off x="395288" y="367665"/>
          <a:ext cx="4320540" cy="1280160"/>
        </p:xfrm>
        <a:graphic>
          <a:graphicData uri="http://schemas.openxmlformats.org/presentationml/2006/ole">
            <mc:AlternateContent xmlns:mc="http://schemas.openxmlformats.org/markup-compatibility/2006">
              <mc:Choice xmlns:v="urn:schemas-microsoft-com:vml" Requires="v">
                <p:oleObj spid="_x0000_s19729" name="" r:id="rId3" imgW="2400300" imgH="711200" progId="Equation.DSMT4">
                  <p:embed/>
                </p:oleObj>
              </mc:Choice>
              <mc:Fallback>
                <p:oleObj name="" r:id="rId3" imgW="2400300" imgH="711200" progId="Equation.DSMT4">
                  <p:embed/>
                  <p:pic>
                    <p:nvPicPr>
                      <p:cNvPr id="0" name="对象 20275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8" y="367665"/>
                        <a:ext cx="4320540" cy="1280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5060" name="对象 202758"/>
          <p:cNvGraphicFramePr>
            <a:graphicFrameLocks noChangeAspect="1"/>
          </p:cNvGraphicFramePr>
          <p:nvPr/>
        </p:nvGraphicFramePr>
        <p:xfrm>
          <a:off x="323850" y="1916113"/>
          <a:ext cx="4251960" cy="1280160"/>
        </p:xfrm>
        <a:graphic>
          <a:graphicData uri="http://schemas.openxmlformats.org/presentationml/2006/ole">
            <mc:AlternateContent xmlns:mc="http://schemas.openxmlformats.org/markup-compatibility/2006">
              <mc:Choice xmlns:v="urn:schemas-microsoft-com:vml" Requires="v">
                <p:oleObj spid="_x0000_s19730" name="" r:id="rId5" imgW="2362200" imgH="711200" progId="Equation.DSMT4">
                  <p:embed/>
                </p:oleObj>
              </mc:Choice>
              <mc:Fallback>
                <p:oleObj name="" r:id="rId5" imgW="2362200" imgH="711200" progId="Equation.DSMT4">
                  <p:embed/>
                  <p:pic>
                    <p:nvPicPr>
                      <p:cNvPr id="0" name="对象 20275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850" y="1916113"/>
                        <a:ext cx="4251960" cy="1280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5061" name="矩形 202760"/>
          <p:cNvSpPr>
            <a:spLocks noChangeArrowheads="1"/>
          </p:cNvSpPr>
          <p:nvPr/>
        </p:nvSpPr>
        <p:spPr bwMode="auto">
          <a:xfrm>
            <a:off x="0"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45062" name="对象 202759"/>
          <p:cNvGraphicFramePr>
            <a:graphicFrameLocks noChangeAspect="1"/>
          </p:cNvGraphicFramePr>
          <p:nvPr/>
        </p:nvGraphicFramePr>
        <p:xfrm>
          <a:off x="366960" y="4296092"/>
          <a:ext cx="7538720" cy="1137920"/>
        </p:xfrm>
        <a:graphic>
          <a:graphicData uri="http://schemas.openxmlformats.org/presentationml/2006/ole">
            <mc:AlternateContent xmlns:mc="http://schemas.openxmlformats.org/markup-compatibility/2006">
              <mc:Choice xmlns:v="urn:schemas-microsoft-com:vml" Requires="v">
                <p:oleObj spid="_x0000_s19731" name="Equation" r:id="rId7" imgW="113080800" imgH="17068800" progId="Equation.DSMT4">
                  <p:embed/>
                </p:oleObj>
              </mc:Choice>
              <mc:Fallback>
                <p:oleObj name="Equation" r:id="rId7" imgW="113080800" imgH="17068800" progId="Equation.DSMT4">
                  <p:embed/>
                  <p:pic>
                    <p:nvPicPr>
                      <p:cNvPr id="0" name="对象 202759"/>
                      <p:cNvPicPr>
                        <a:picLocks noChangeArrowheads="1"/>
                      </p:cNvPicPr>
                      <p:nvPr/>
                    </p:nvPicPr>
                    <p:blipFill>
                      <a:blip r:embed="rId8"/>
                      <a:srcRect/>
                      <a:stretch>
                        <a:fillRect/>
                      </a:stretch>
                    </p:blipFill>
                    <p:spPr bwMode="auto">
                      <a:xfrm>
                        <a:off x="366960" y="4296092"/>
                        <a:ext cx="7538720" cy="1137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5063" name="矩形 202762"/>
          <p:cNvSpPr>
            <a:spLocks noChangeArrowheads="1"/>
          </p:cNvSpPr>
          <p:nvPr/>
        </p:nvSpPr>
        <p:spPr bwMode="auto">
          <a:xfrm>
            <a:off x="0"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45064" name="对象 202761"/>
          <p:cNvGraphicFramePr>
            <a:graphicFrameLocks noChangeAspect="1"/>
          </p:cNvGraphicFramePr>
          <p:nvPr/>
        </p:nvGraphicFramePr>
        <p:xfrm>
          <a:off x="345460" y="5567361"/>
          <a:ext cx="7538720" cy="1137920"/>
        </p:xfrm>
        <a:graphic>
          <a:graphicData uri="http://schemas.openxmlformats.org/presentationml/2006/ole">
            <mc:AlternateContent xmlns:mc="http://schemas.openxmlformats.org/markup-compatibility/2006">
              <mc:Choice xmlns:v="urn:schemas-microsoft-com:vml" Requires="v">
                <p:oleObj spid="_x0000_s19732" name="" r:id="rId9" imgW="4711700" imgH="711200" progId="Equation.DSMT4">
                  <p:embed/>
                </p:oleObj>
              </mc:Choice>
              <mc:Fallback>
                <p:oleObj name="" r:id="rId9" imgW="4711700" imgH="711200" progId="Equation.DSMT4">
                  <p:embed/>
                  <p:pic>
                    <p:nvPicPr>
                      <p:cNvPr id="0" name="对象 202761"/>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5460" y="5567361"/>
                        <a:ext cx="7538720" cy="1137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5065" name="矩形 202763"/>
          <p:cNvSpPr>
            <a:spLocks noChangeArrowheads="1"/>
          </p:cNvSpPr>
          <p:nvPr/>
        </p:nvSpPr>
        <p:spPr bwMode="auto">
          <a:xfrm>
            <a:off x="8316913" y="3429000"/>
            <a:ext cx="576262" cy="308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800" b="1">
                <a:solidFill>
                  <a:srgbClr val="FF0000"/>
                </a:solidFill>
                <a:latin typeface="黑体" panose="02010609060101010101" pitchFamily="49" charset="-122"/>
                <a:ea typeface="黑体" panose="02010609060101010101" pitchFamily="49" charset="-122"/>
              </a:rPr>
              <a:t>注意是分压力！</a:t>
            </a:r>
            <a:endParaRPr lang="zh-CN" altLang="en-US" sz="2800" b="1">
              <a:solidFill>
                <a:srgbClr val="FF0000"/>
              </a:solidFill>
              <a:latin typeface="黑体" panose="02010609060101010101" pitchFamily="49" charset="-122"/>
              <a:ea typeface="黑体" panose="02010609060101010101" pitchFamily="49" charset="-122"/>
            </a:endParaRPr>
          </a:p>
        </p:txBody>
      </p:sp>
      <p:sp>
        <p:nvSpPr>
          <p:cNvPr id="45066" name="椭圆 202764"/>
          <p:cNvSpPr>
            <a:spLocks noChangeArrowheads="1"/>
          </p:cNvSpPr>
          <p:nvPr/>
        </p:nvSpPr>
        <p:spPr bwMode="auto">
          <a:xfrm>
            <a:off x="6084094" y="4094826"/>
            <a:ext cx="1944688" cy="647700"/>
          </a:xfrm>
          <a:prstGeom prst="ellipse">
            <a:avLst/>
          </a:prstGeom>
          <a:noFill/>
          <a:ln w="9525">
            <a:solidFill>
              <a:srgbClr val="FF0000"/>
            </a:solidFill>
            <a:rou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ea typeface="宋体" panose="02010600030101010101" pitchFamily="2" charset="-122"/>
            </a:endParaRPr>
          </a:p>
        </p:txBody>
      </p:sp>
      <p:sp>
        <p:nvSpPr>
          <p:cNvPr id="45067" name="椭圆 202765"/>
          <p:cNvSpPr>
            <a:spLocks noChangeArrowheads="1"/>
          </p:cNvSpPr>
          <p:nvPr/>
        </p:nvSpPr>
        <p:spPr bwMode="auto">
          <a:xfrm>
            <a:off x="6083161" y="5311428"/>
            <a:ext cx="2089150" cy="647700"/>
          </a:xfrm>
          <a:prstGeom prst="ellipse">
            <a:avLst/>
          </a:prstGeom>
          <a:noFill/>
          <a:ln w="9525">
            <a:solidFill>
              <a:srgbClr val="FF0000"/>
            </a:solidFill>
            <a:rou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081" name="对象 203779"/>
          <p:cNvGraphicFramePr>
            <a:graphicFrameLocks noChangeAspect="1"/>
          </p:cNvGraphicFramePr>
          <p:nvPr/>
        </p:nvGraphicFramePr>
        <p:xfrm>
          <a:off x="1258888" y="404813"/>
          <a:ext cx="5577840" cy="579120"/>
        </p:xfrm>
        <a:graphic>
          <a:graphicData uri="http://schemas.openxmlformats.org/presentationml/2006/ole">
            <mc:AlternateContent xmlns:mc="http://schemas.openxmlformats.org/markup-compatibility/2006">
              <mc:Choice xmlns:v="urn:schemas-microsoft-com:vml" Requires="v">
                <p:oleObj spid="_x0000_s20698" name="" r:id="rId1" imgW="2324100" imgH="241300" progId="Equation.DSMT4">
                  <p:embed/>
                </p:oleObj>
              </mc:Choice>
              <mc:Fallback>
                <p:oleObj name="" r:id="rId1" imgW="2324100" imgH="241300" progId="Equation.DSMT4">
                  <p:embed/>
                  <p:pic>
                    <p:nvPicPr>
                      <p:cNvPr id="0" name="对象 203779"/>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888" y="404813"/>
                        <a:ext cx="5577840" cy="579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6082" name="对象 203780"/>
          <p:cNvGraphicFramePr/>
          <p:nvPr/>
        </p:nvGraphicFramePr>
        <p:xfrm>
          <a:off x="142875" y="1341438"/>
          <a:ext cx="9001125" cy="493712"/>
        </p:xfrm>
        <a:graphic>
          <a:graphicData uri="http://schemas.openxmlformats.org/presentationml/2006/ole">
            <mc:AlternateContent xmlns:mc="http://schemas.openxmlformats.org/markup-compatibility/2006">
              <mc:Choice xmlns:v="urn:schemas-microsoft-com:vml" Requires="v">
                <p:oleObj spid="_x0000_s20699" name="" r:id="rId3" imgW="4699000" imgH="254000" progId="Equation.DSMT4">
                  <p:embed/>
                </p:oleObj>
              </mc:Choice>
              <mc:Fallback>
                <p:oleObj name="" r:id="rId3" imgW="4699000" imgH="254000" progId="Equation.DSMT4">
                  <p:embed/>
                  <p:pic>
                    <p:nvPicPr>
                      <p:cNvPr id="0" name="对象 20378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875" y="1341438"/>
                        <a:ext cx="9001125"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6083" name="矩形 203783"/>
          <p:cNvSpPr>
            <a:spLocks noChangeArrowheads="1"/>
          </p:cNvSpPr>
          <p:nvPr/>
        </p:nvSpPr>
        <p:spPr bwMode="auto">
          <a:xfrm>
            <a:off x="0" y="29114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46084" name="对象 203782"/>
          <p:cNvGraphicFramePr>
            <a:graphicFrameLocks noChangeAspect="1"/>
          </p:cNvGraphicFramePr>
          <p:nvPr/>
        </p:nvGraphicFramePr>
        <p:xfrm>
          <a:off x="1177925" y="2276474"/>
          <a:ext cx="3017088" cy="578880"/>
        </p:xfrm>
        <a:graphic>
          <a:graphicData uri="http://schemas.openxmlformats.org/presentationml/2006/ole">
            <mc:AlternateContent xmlns:mc="http://schemas.openxmlformats.org/markup-compatibility/2006">
              <mc:Choice xmlns:v="urn:schemas-microsoft-com:vml" Requires="v">
                <p:oleObj spid="_x0000_s20700" name="" r:id="rId5" imgW="1257300" imgH="241300" progId="Equation.DSMT4">
                  <p:embed/>
                </p:oleObj>
              </mc:Choice>
              <mc:Fallback>
                <p:oleObj name="" r:id="rId5" imgW="1257300" imgH="241300" progId="Equation.DSMT4">
                  <p:embed/>
                  <p:pic>
                    <p:nvPicPr>
                      <p:cNvPr id="0" name="对象 20378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77925" y="2276474"/>
                        <a:ext cx="3017088" cy="57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6085" name="对象 203784"/>
          <p:cNvGraphicFramePr>
            <a:graphicFrameLocks noChangeAspect="1"/>
          </p:cNvGraphicFramePr>
          <p:nvPr/>
        </p:nvGraphicFramePr>
        <p:xfrm>
          <a:off x="1505639" y="3240646"/>
          <a:ext cx="5760288" cy="578880"/>
        </p:xfrm>
        <a:graphic>
          <a:graphicData uri="http://schemas.openxmlformats.org/presentationml/2006/ole">
            <mc:AlternateContent xmlns:mc="http://schemas.openxmlformats.org/markup-compatibility/2006">
              <mc:Choice xmlns:v="urn:schemas-microsoft-com:vml" Requires="v">
                <p:oleObj spid="_x0000_s20701" name="" r:id="rId7" imgW="2400300" imgH="241300" progId="Equation.DSMT4">
                  <p:embed/>
                </p:oleObj>
              </mc:Choice>
              <mc:Fallback>
                <p:oleObj name="" r:id="rId7" imgW="2400300" imgH="241300" progId="Equation.DSMT4">
                  <p:embed/>
                  <p:pic>
                    <p:nvPicPr>
                      <p:cNvPr id="0" name="对象 203784"/>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05639" y="3240646"/>
                        <a:ext cx="5760288" cy="57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6086" name="直接连接符 203786"/>
          <p:cNvSpPr>
            <a:spLocks noChangeShapeType="1"/>
          </p:cNvSpPr>
          <p:nvPr/>
        </p:nvSpPr>
        <p:spPr bwMode="auto">
          <a:xfrm>
            <a:off x="2627313" y="2743200"/>
            <a:ext cx="1512887" cy="0"/>
          </a:xfrm>
          <a:prstGeom prst="line">
            <a:avLst/>
          </a:prstGeom>
          <a:noFill/>
          <a:ln w="38100">
            <a:solidFill>
              <a:srgbClr val="FF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46087" name="直接连接符 203787"/>
          <p:cNvSpPr>
            <a:spLocks noChangeShapeType="1"/>
          </p:cNvSpPr>
          <p:nvPr/>
        </p:nvSpPr>
        <p:spPr bwMode="auto">
          <a:xfrm>
            <a:off x="5921375" y="3733800"/>
            <a:ext cx="1223963" cy="0"/>
          </a:xfrm>
          <a:prstGeom prst="line">
            <a:avLst/>
          </a:prstGeom>
          <a:noFill/>
          <a:ln w="38100">
            <a:solidFill>
              <a:srgbClr val="FF00FF"/>
            </a:solidFill>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矩形 204804"/>
          <p:cNvSpPr>
            <a:spLocks noChangeArrowheads="1"/>
          </p:cNvSpPr>
          <p:nvPr/>
        </p:nvSpPr>
        <p:spPr bwMode="auto">
          <a:xfrm>
            <a:off x="3059113" y="549275"/>
            <a:ext cx="5616575" cy="1198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dirty="0">
                <a:latin typeface="黑体" panose="02010609060101010101" pitchFamily="49" charset="-122"/>
                <a:ea typeface="黑体" panose="02010609060101010101" pitchFamily="49" charset="-122"/>
              </a:rPr>
              <a:t>（</a:t>
            </a:r>
            <a:r>
              <a:rPr lang="en-US" altLang="zh-CN" sz="2400" b="1" dirty="0">
                <a:latin typeface="黑体" panose="02010609060101010101" pitchFamily="49" charset="-122"/>
                <a:ea typeface="黑体" panose="02010609060101010101" pitchFamily="49" charset="-122"/>
              </a:rPr>
              <a:t>4</a:t>
            </a:r>
            <a:r>
              <a:rPr lang="zh-CN" altLang="en-US" sz="2400" b="1" dirty="0">
                <a:latin typeface="黑体" panose="02010609060101010101" pitchFamily="49" charset="-122"/>
                <a:ea typeface="黑体" panose="02010609060101010101" pitchFamily="49" charset="-122"/>
              </a:rPr>
              <a:t>）若两侧气体均为氧气，在其它参数不变的情况下，混合过程的熵产和㶲损又为多少？</a:t>
            </a:r>
            <a:endParaRPr lang="zh-CN" altLang="en-US" sz="2400" b="1" dirty="0">
              <a:latin typeface="黑体" panose="02010609060101010101" pitchFamily="49" charset="-122"/>
              <a:ea typeface="黑体" panose="02010609060101010101" pitchFamily="49" charset="-122"/>
            </a:endParaRPr>
          </a:p>
        </p:txBody>
      </p:sp>
      <p:sp>
        <p:nvSpPr>
          <p:cNvPr id="47107" name="下箭头 204806"/>
          <p:cNvSpPr>
            <a:spLocks noChangeArrowheads="1"/>
          </p:cNvSpPr>
          <p:nvPr/>
        </p:nvSpPr>
        <p:spPr bwMode="auto">
          <a:xfrm>
            <a:off x="1258888" y="2205038"/>
            <a:ext cx="217487" cy="719137"/>
          </a:xfrm>
          <a:prstGeom prst="downArrow">
            <a:avLst>
              <a:gd name="adj1" fmla="val 50000"/>
              <a:gd name="adj2" fmla="val 82603"/>
            </a:avLst>
          </a:prstGeom>
          <a:solidFill>
            <a:srgbClr val="0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
        <p:nvSpPr>
          <p:cNvPr id="47109" name="矩形 204809"/>
          <p:cNvSpPr>
            <a:spLocks noChangeArrowheads="1"/>
          </p:cNvSpPr>
          <p:nvPr/>
        </p:nvSpPr>
        <p:spPr bwMode="auto">
          <a:xfrm>
            <a:off x="0"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47110" name="对象 204808"/>
          <p:cNvGraphicFramePr/>
          <p:nvPr/>
        </p:nvGraphicFramePr>
        <p:xfrm>
          <a:off x="2916238" y="2781300"/>
          <a:ext cx="4608512" cy="1411288"/>
        </p:xfrm>
        <a:graphic>
          <a:graphicData uri="http://schemas.openxmlformats.org/presentationml/2006/ole">
            <mc:AlternateContent xmlns:mc="http://schemas.openxmlformats.org/markup-compatibility/2006">
              <mc:Choice xmlns:v="urn:schemas-microsoft-com:vml" Requires="v">
                <p:oleObj spid="_x0000_s21718" name="" r:id="rId1" imgW="2336800" imgH="711200" progId="Equation.DSMT4">
                  <p:embed/>
                </p:oleObj>
              </mc:Choice>
              <mc:Fallback>
                <p:oleObj name="" r:id="rId1" imgW="2336800" imgH="711200" progId="Equation.DSMT4">
                  <p:embed/>
                  <p:pic>
                    <p:nvPicPr>
                      <p:cNvPr id="0" name="对象 20480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6238" y="2781300"/>
                        <a:ext cx="4608512" cy="1411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7111" name="矩形 204810"/>
          <p:cNvSpPr>
            <a:spLocks noChangeArrowheads="1"/>
          </p:cNvSpPr>
          <p:nvPr/>
        </p:nvSpPr>
        <p:spPr bwMode="auto">
          <a:xfrm>
            <a:off x="4211638" y="6092825"/>
            <a:ext cx="26844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FF0000"/>
                </a:solidFill>
                <a:latin typeface="黑体" panose="02010609060101010101" pitchFamily="49" charset="-122"/>
                <a:ea typeface="黑体" panose="02010609060101010101" pitchFamily="49" charset="-122"/>
              </a:rPr>
              <a:t>注意是总压力！</a:t>
            </a:r>
            <a:endParaRPr lang="zh-CN" altLang="en-US" sz="2800" b="1">
              <a:solidFill>
                <a:srgbClr val="FF0000"/>
              </a:solidFill>
              <a:latin typeface="黑体" panose="02010609060101010101" pitchFamily="49" charset="-122"/>
              <a:ea typeface="黑体" panose="02010609060101010101" pitchFamily="49" charset="-122"/>
            </a:endParaRPr>
          </a:p>
        </p:txBody>
      </p:sp>
      <p:sp>
        <p:nvSpPr>
          <p:cNvPr id="47112" name="椭圆 204811"/>
          <p:cNvSpPr>
            <a:spLocks noChangeArrowheads="1"/>
          </p:cNvSpPr>
          <p:nvPr/>
        </p:nvSpPr>
        <p:spPr bwMode="auto">
          <a:xfrm>
            <a:off x="5005388" y="2708275"/>
            <a:ext cx="576262" cy="647700"/>
          </a:xfrm>
          <a:prstGeom prst="ellipse">
            <a:avLst/>
          </a:prstGeom>
          <a:noFill/>
          <a:ln w="9525">
            <a:solidFill>
              <a:srgbClr val="FF0000"/>
            </a:solidFill>
            <a:rou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ea typeface="宋体" panose="02010600030101010101" pitchFamily="2" charset="-122"/>
            </a:endParaRPr>
          </a:p>
        </p:txBody>
      </p:sp>
      <p:sp>
        <p:nvSpPr>
          <p:cNvPr id="47114" name="矩形 204814"/>
          <p:cNvSpPr>
            <a:spLocks noChangeArrowheads="1"/>
          </p:cNvSpPr>
          <p:nvPr/>
        </p:nvSpPr>
        <p:spPr bwMode="auto">
          <a:xfrm>
            <a:off x="0"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47115" name="对象 204813"/>
          <p:cNvGraphicFramePr/>
          <p:nvPr/>
        </p:nvGraphicFramePr>
        <p:xfrm>
          <a:off x="2916238" y="4437063"/>
          <a:ext cx="4824412" cy="1501775"/>
        </p:xfrm>
        <a:graphic>
          <a:graphicData uri="http://schemas.openxmlformats.org/presentationml/2006/ole">
            <mc:AlternateContent xmlns:mc="http://schemas.openxmlformats.org/markup-compatibility/2006">
              <mc:Choice xmlns:v="urn:schemas-microsoft-com:vml" Requires="v">
                <p:oleObj spid="_x0000_s21719" name="" r:id="rId3" imgW="2298700" imgH="711200" progId="Equation.DSMT4">
                  <p:embed/>
                </p:oleObj>
              </mc:Choice>
              <mc:Fallback>
                <p:oleObj name="" r:id="rId3" imgW="2298700" imgH="711200" progId="Equation.DSMT4">
                  <p:embed/>
                  <p:pic>
                    <p:nvPicPr>
                      <p:cNvPr id="0" name="对象 20481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6238" y="4437063"/>
                        <a:ext cx="4824412" cy="150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7116" name="椭圆 204815"/>
          <p:cNvSpPr>
            <a:spLocks noChangeArrowheads="1"/>
          </p:cNvSpPr>
          <p:nvPr/>
        </p:nvSpPr>
        <p:spPr bwMode="auto">
          <a:xfrm>
            <a:off x="5076825" y="4365625"/>
            <a:ext cx="576263" cy="647700"/>
          </a:xfrm>
          <a:prstGeom prst="ellipse">
            <a:avLst/>
          </a:prstGeom>
          <a:noFill/>
          <a:ln w="9525">
            <a:solidFill>
              <a:srgbClr val="FF0000"/>
            </a:solidFill>
            <a:rou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ea typeface="宋体" panose="02010600030101010101" pitchFamily="2" charset="-122"/>
            </a:endParaRPr>
          </a:p>
        </p:txBody>
      </p:sp>
      <p:sp>
        <p:nvSpPr>
          <p:cNvPr id="4" name="矩形 3"/>
          <p:cNvSpPr/>
          <p:nvPr/>
        </p:nvSpPr>
        <p:spPr>
          <a:xfrm>
            <a:off x="3225696" y="1948160"/>
            <a:ext cx="5602816" cy="461665"/>
          </a:xfrm>
          <a:prstGeom prst="rect">
            <a:avLst/>
          </a:prstGeom>
        </p:spPr>
        <p:txBody>
          <a:bodyPr wrap="none">
            <a:spAutoFit/>
          </a:bodyPr>
          <a:lstStyle/>
          <a:p>
            <a:r>
              <a:rPr lang="zh-CN" altLang="en-US" sz="2400" b="1" dirty="0" smtClean="0">
                <a:solidFill>
                  <a:prstClr val="black"/>
                </a:solidFill>
                <a:latin typeface="黑体" panose="02010609060101010101" pitchFamily="49" charset="-122"/>
                <a:ea typeface="黑体" panose="02010609060101010101" pitchFamily="49" charset="-122"/>
              </a:rPr>
              <a:t>此时的熵变计算用混合后的总压力即可</a:t>
            </a:r>
            <a:endParaRPr lang="zh-CN" altLang="en-US" dirty="0"/>
          </a:p>
        </p:txBody>
      </p:sp>
      <p:pic>
        <p:nvPicPr>
          <p:cNvPr id="17" name="图片 1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0825" y="127049"/>
            <a:ext cx="2408129" cy="2005758"/>
          </a:xfrm>
          <a:prstGeom prst="rect">
            <a:avLst/>
          </a:prstGeom>
        </p:spPr>
      </p:pic>
      <p:pic>
        <p:nvPicPr>
          <p:cNvPr id="5" name="图片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0825" y="3032125"/>
            <a:ext cx="2414225" cy="200575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矩形 205828"/>
          <p:cNvSpPr>
            <a:spLocks noChangeArrowheads="1"/>
          </p:cNvSpPr>
          <p:nvPr/>
        </p:nvSpPr>
        <p:spPr bwMode="auto">
          <a:xfrm>
            <a:off x="0"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48130" name="对象 205827"/>
          <p:cNvGraphicFramePr/>
          <p:nvPr/>
        </p:nvGraphicFramePr>
        <p:xfrm>
          <a:off x="468313" y="188913"/>
          <a:ext cx="7705725" cy="1165225"/>
        </p:xfrm>
        <a:graphic>
          <a:graphicData uri="http://schemas.openxmlformats.org/presentationml/2006/ole">
            <mc:AlternateContent xmlns:mc="http://schemas.openxmlformats.org/markup-compatibility/2006">
              <mc:Choice xmlns:v="urn:schemas-microsoft-com:vml" Requires="v">
                <p:oleObj spid="_x0000_s22800" name="" r:id="rId1" imgW="4724400" imgH="711200" progId="Equation.DSMT4">
                  <p:embed/>
                </p:oleObj>
              </mc:Choice>
              <mc:Fallback>
                <p:oleObj name="" r:id="rId1" imgW="4724400" imgH="711200" progId="Equation.DSMT4">
                  <p:embed/>
                  <p:pic>
                    <p:nvPicPr>
                      <p:cNvPr id="0" name="对象 20582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188913"/>
                        <a:ext cx="7705725" cy="116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8131" name="矩形 205830"/>
          <p:cNvSpPr>
            <a:spLocks noChangeArrowheads="1"/>
          </p:cNvSpPr>
          <p:nvPr/>
        </p:nvSpPr>
        <p:spPr bwMode="auto">
          <a:xfrm>
            <a:off x="0"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48132" name="对象 205829"/>
          <p:cNvGraphicFramePr/>
          <p:nvPr/>
        </p:nvGraphicFramePr>
        <p:xfrm>
          <a:off x="395288" y="1412875"/>
          <a:ext cx="8135937" cy="1231900"/>
        </p:xfrm>
        <a:graphic>
          <a:graphicData uri="http://schemas.openxmlformats.org/presentationml/2006/ole">
            <mc:AlternateContent xmlns:mc="http://schemas.openxmlformats.org/markup-compatibility/2006">
              <mc:Choice xmlns:v="urn:schemas-microsoft-com:vml" Requires="v">
                <p:oleObj spid="_x0000_s22801" name="" r:id="rId3" imgW="4711700" imgH="711200" progId="Equation.DSMT4">
                  <p:embed/>
                </p:oleObj>
              </mc:Choice>
              <mc:Fallback>
                <p:oleObj name="" r:id="rId3" imgW="4711700" imgH="711200" progId="Equation.DSMT4">
                  <p:embed/>
                  <p:pic>
                    <p:nvPicPr>
                      <p:cNvPr id="0" name="对象 20582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8" y="1412875"/>
                        <a:ext cx="8135937" cy="123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8133" name="矩形 205832"/>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48134" name="对象 205831"/>
          <p:cNvGraphicFramePr/>
          <p:nvPr/>
        </p:nvGraphicFramePr>
        <p:xfrm>
          <a:off x="468313" y="2924175"/>
          <a:ext cx="8351837" cy="473075"/>
        </p:xfrm>
        <a:graphic>
          <a:graphicData uri="http://schemas.openxmlformats.org/presentationml/2006/ole">
            <mc:AlternateContent xmlns:mc="http://schemas.openxmlformats.org/markup-compatibility/2006">
              <mc:Choice xmlns:v="urn:schemas-microsoft-com:vml" Requires="v">
                <p:oleObj spid="_x0000_s22802" name="" r:id="rId5" imgW="4533900" imgH="254000" progId="Equation.DSMT4">
                  <p:embed/>
                </p:oleObj>
              </mc:Choice>
              <mc:Fallback>
                <p:oleObj name="" r:id="rId5" imgW="4533900" imgH="254000" progId="Equation.DSMT4">
                  <p:embed/>
                  <p:pic>
                    <p:nvPicPr>
                      <p:cNvPr id="0" name="对象 20583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8313" y="2924175"/>
                        <a:ext cx="8351837"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8135" name="矩形 205834"/>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48136" name="对象 205833"/>
          <p:cNvGraphicFramePr>
            <a:graphicFrameLocks noChangeAspect="1"/>
          </p:cNvGraphicFramePr>
          <p:nvPr/>
        </p:nvGraphicFramePr>
        <p:xfrm>
          <a:off x="839788" y="3613150"/>
          <a:ext cx="2252662" cy="485775"/>
        </p:xfrm>
        <a:graphic>
          <a:graphicData uri="http://schemas.openxmlformats.org/presentationml/2006/ole">
            <mc:AlternateContent xmlns:mc="http://schemas.openxmlformats.org/markup-compatibility/2006">
              <mc:Choice xmlns:v="urn:schemas-microsoft-com:vml" Requires="v">
                <p:oleObj spid="_x0000_s22803" name="" r:id="rId7" imgW="1104900" imgH="241300" progId="Equation.DSMT4">
                  <p:embed/>
                </p:oleObj>
              </mc:Choice>
              <mc:Fallback>
                <p:oleObj name="" r:id="rId7" imgW="1104900" imgH="241300" progId="Equation.DSMT4">
                  <p:embed/>
                  <p:pic>
                    <p:nvPicPr>
                      <p:cNvPr id="0" name="对象 20583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9788" y="3613150"/>
                        <a:ext cx="2252662"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8137" name="矩形 205836"/>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48138" name="对象 205835"/>
          <p:cNvGraphicFramePr/>
          <p:nvPr/>
        </p:nvGraphicFramePr>
        <p:xfrm>
          <a:off x="1109663" y="4221163"/>
          <a:ext cx="4478337" cy="492125"/>
        </p:xfrm>
        <a:graphic>
          <a:graphicData uri="http://schemas.openxmlformats.org/presentationml/2006/ole">
            <mc:AlternateContent xmlns:mc="http://schemas.openxmlformats.org/markup-compatibility/2006">
              <mc:Choice xmlns:v="urn:schemas-microsoft-com:vml" Requires="v">
                <p:oleObj spid="_x0000_s22804" name="" r:id="rId9" imgW="2171700" imgH="241300" progId="Equation.DSMT4">
                  <p:embed/>
                </p:oleObj>
              </mc:Choice>
              <mc:Fallback>
                <p:oleObj name="" r:id="rId9" imgW="2171700" imgH="241300" progId="Equation.DSMT4">
                  <p:embed/>
                  <p:pic>
                    <p:nvPicPr>
                      <p:cNvPr id="0" name="对象 205835"/>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09663" y="4221163"/>
                        <a:ext cx="4478337"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8139" name="直接连接符 205837"/>
          <p:cNvSpPr>
            <a:spLocks noChangeShapeType="1"/>
          </p:cNvSpPr>
          <p:nvPr/>
        </p:nvSpPr>
        <p:spPr bwMode="auto">
          <a:xfrm>
            <a:off x="2124075" y="4005263"/>
            <a:ext cx="1079500" cy="0"/>
          </a:xfrm>
          <a:prstGeom prst="line">
            <a:avLst/>
          </a:prstGeom>
          <a:noFill/>
          <a:ln w="38100">
            <a:solidFill>
              <a:srgbClr val="FF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140" name="直接连接符 205838"/>
          <p:cNvSpPr>
            <a:spLocks noChangeShapeType="1"/>
          </p:cNvSpPr>
          <p:nvPr/>
        </p:nvSpPr>
        <p:spPr bwMode="auto">
          <a:xfrm>
            <a:off x="4573588" y="4652963"/>
            <a:ext cx="1079500" cy="0"/>
          </a:xfrm>
          <a:prstGeom prst="line">
            <a:avLst/>
          </a:prstGeom>
          <a:noFill/>
          <a:ln w="38100">
            <a:solidFill>
              <a:srgbClr val="FF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141" name="矩形 205839"/>
          <p:cNvSpPr>
            <a:spLocks noChangeArrowheads="1"/>
          </p:cNvSpPr>
          <p:nvPr/>
        </p:nvSpPr>
        <p:spPr bwMode="auto">
          <a:xfrm>
            <a:off x="250825" y="4894263"/>
            <a:ext cx="8640763"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zh-CN" altLang="en-US" sz="2400" b="1">
                <a:latin typeface="Times New Roman" panose="02020603050405020304" pitchFamily="18" charset="0"/>
                <a:ea typeface="黑体" panose="02010609060101010101" pitchFamily="49" charset="-122"/>
              </a:rPr>
              <a:t>不同种类气体的混合过程是一个强烈的不可逆过程，会导致很大的熵产和㶲损（本题熵产</a:t>
            </a:r>
            <a:r>
              <a:rPr lang="en-US" altLang="zh-CN" sz="2400" b="1">
                <a:latin typeface="Times New Roman" panose="02020603050405020304" pitchFamily="18" charset="0"/>
                <a:ea typeface="黑体" panose="02010609060101010101" pitchFamily="49" charset="-122"/>
              </a:rPr>
              <a:t>839.7J/K</a:t>
            </a:r>
            <a:r>
              <a:rPr lang="zh-CN" altLang="en-US" sz="2400" b="1">
                <a:latin typeface="Times New Roman" panose="02020603050405020304" pitchFamily="18" charset="0"/>
                <a:ea typeface="黑体" panose="02010609060101010101" pitchFamily="49" charset="-122"/>
              </a:rPr>
              <a:t>，㶲损</a:t>
            </a:r>
            <a:r>
              <a:rPr lang="en-US" altLang="zh-CN" sz="2400" b="1">
                <a:latin typeface="Times New Roman" panose="02020603050405020304" pitchFamily="18" charset="0"/>
                <a:ea typeface="黑体" panose="02010609060101010101" pitchFamily="49" charset="-122"/>
              </a:rPr>
              <a:t>251.9kJ</a:t>
            </a:r>
            <a:r>
              <a:rPr lang="zh-CN" altLang="en-US" sz="2400" b="1">
                <a:latin typeface="Times New Roman" panose="02020603050405020304" pitchFamily="18" charset="0"/>
                <a:ea typeface="黑体" panose="02010609060101010101" pitchFamily="49" charset="-122"/>
              </a:rPr>
              <a:t>）。然而，在同样的初参数情况下，同种类气体的混合过程的不可逆性会大大降低（本题熵产</a:t>
            </a:r>
            <a:r>
              <a:rPr lang="en-US" altLang="zh-CN" sz="2400" b="1">
                <a:latin typeface="Times New Roman" panose="02020603050405020304" pitchFamily="18" charset="0"/>
                <a:ea typeface="黑体" panose="02010609060101010101" pitchFamily="49" charset="-122"/>
              </a:rPr>
              <a:t>9.8J/K</a:t>
            </a:r>
            <a:r>
              <a:rPr lang="zh-CN" altLang="en-US" sz="2400" b="1">
                <a:latin typeface="Times New Roman" panose="02020603050405020304" pitchFamily="18" charset="0"/>
                <a:ea typeface="黑体" panose="02010609060101010101" pitchFamily="49" charset="-122"/>
              </a:rPr>
              <a:t>，㶲损</a:t>
            </a:r>
            <a:r>
              <a:rPr lang="en-US" altLang="zh-CN" sz="2400" b="1">
                <a:latin typeface="Times New Roman" panose="02020603050405020304" pitchFamily="18" charset="0"/>
                <a:ea typeface="黑体" panose="02010609060101010101" pitchFamily="49" charset="-122"/>
              </a:rPr>
              <a:t>2.94kJ</a:t>
            </a:r>
            <a:r>
              <a:rPr lang="zh-CN" altLang="en-US" sz="2400" b="1">
                <a:latin typeface="Times New Roman" panose="02020603050405020304" pitchFamily="18" charset="0"/>
                <a:ea typeface="黑体" panose="02010609060101010101" pitchFamily="49" charset="-122"/>
              </a:rPr>
              <a:t> ） </a:t>
            </a:r>
            <a:endParaRPr lang="zh-CN" altLang="en-US" sz="2400" b="1">
              <a:latin typeface="Times New Roman" panose="02020603050405020304" pitchFamily="18" charset="0"/>
              <a:ea typeface="黑体" panose="02010609060101010101" pitchFamily="49" charset="-122"/>
            </a:endParaRPr>
          </a:p>
        </p:txBody>
      </p:sp>
      <p:sp>
        <p:nvSpPr>
          <p:cNvPr id="48142" name="矩形 205840"/>
          <p:cNvSpPr>
            <a:spLocks noChangeArrowheads="1"/>
          </p:cNvSpPr>
          <p:nvPr/>
        </p:nvSpPr>
        <p:spPr bwMode="auto">
          <a:xfrm>
            <a:off x="5580063" y="2205038"/>
            <a:ext cx="31686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800" b="1">
                <a:solidFill>
                  <a:srgbClr val="FF0000"/>
                </a:solidFill>
                <a:latin typeface="黑体" panose="02010609060101010101" pitchFamily="49" charset="-122"/>
                <a:ea typeface="黑体" panose="02010609060101010101" pitchFamily="49" charset="-122"/>
              </a:rPr>
              <a:t>注意是总压力！</a:t>
            </a:r>
            <a:endParaRPr lang="zh-CN" altLang="en-US" sz="2800" b="1">
              <a:solidFill>
                <a:srgbClr val="FF0000"/>
              </a:solidFill>
              <a:latin typeface="黑体" panose="02010609060101010101" pitchFamily="49" charset="-122"/>
              <a:ea typeface="黑体" panose="02010609060101010101" pitchFamily="49" charset="-122"/>
            </a:endParaRPr>
          </a:p>
        </p:txBody>
      </p:sp>
      <p:sp>
        <p:nvSpPr>
          <p:cNvPr id="48143" name="椭圆 205841"/>
          <p:cNvSpPr>
            <a:spLocks noChangeArrowheads="1"/>
          </p:cNvSpPr>
          <p:nvPr/>
        </p:nvSpPr>
        <p:spPr bwMode="auto">
          <a:xfrm>
            <a:off x="6372225" y="117475"/>
            <a:ext cx="1944688" cy="431800"/>
          </a:xfrm>
          <a:prstGeom prst="ellipse">
            <a:avLst/>
          </a:prstGeom>
          <a:noFill/>
          <a:ln w="9525">
            <a:solidFill>
              <a:srgbClr val="FF0000"/>
            </a:solidFill>
            <a:rou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ea typeface="宋体" panose="02010600030101010101" pitchFamily="2" charset="-122"/>
            </a:endParaRPr>
          </a:p>
        </p:txBody>
      </p:sp>
      <p:sp>
        <p:nvSpPr>
          <p:cNvPr id="48144" name="椭圆 205842"/>
          <p:cNvSpPr>
            <a:spLocks noChangeArrowheads="1"/>
          </p:cNvSpPr>
          <p:nvPr/>
        </p:nvSpPr>
        <p:spPr bwMode="auto">
          <a:xfrm>
            <a:off x="6732588" y="1341438"/>
            <a:ext cx="2089150" cy="431800"/>
          </a:xfrm>
          <a:prstGeom prst="ellipse">
            <a:avLst/>
          </a:prstGeom>
          <a:noFill/>
          <a:ln w="9525">
            <a:solidFill>
              <a:srgbClr val="FF0000"/>
            </a:solidFill>
            <a:rou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ags/tag1.xml><?xml version="1.0" encoding="utf-8"?>
<p:tagLst xmlns:p="http://schemas.openxmlformats.org/presentationml/2006/main">
  <p:tag name="KSO_WM_SLIDE_MODEL_TYPE" val="cover"/>
</p:tagLst>
</file>

<file path=ppt/tags/tag2.xml><?xml version="1.0" encoding="utf-8"?>
<p:tagLst xmlns:p="http://schemas.openxmlformats.org/presentationml/2006/main">
  <p:tag name="TIMING" val="|21.3|14"/>
</p:tagLst>
</file>

<file path=ppt/tags/tag3.xml><?xml version="1.0" encoding="utf-8"?>
<p:tagLst xmlns:p="http://schemas.openxmlformats.org/presentationml/2006/main">
  <p:tag name="TIMING" val="|23.5|21.2|0.7|13.1|1.2|0.9|48|0.7|0.8|9.6|0.9|0.6|33|0.9|5.9"/>
</p:tagLst>
</file>

<file path=ppt/tags/tag4.xml><?xml version="1.0" encoding="utf-8"?>
<p:tagLst xmlns:p="http://schemas.openxmlformats.org/presentationml/2006/main">
  <p:tag name="TIMING" val="|14.1"/>
</p:tagLst>
</file>

<file path=ppt/tags/tag5.xml><?xml version="1.0" encoding="utf-8"?>
<p:tagLst xmlns:p="http://schemas.openxmlformats.org/presentationml/2006/main">
  <p:tag name="TIMING" val="|18.1|6.4|4.3|0.4|39.6|7.2|1.9|3.8|0.7|7.6|0.7|0.8|13.7|8.8|0.8"/>
</p:tagLst>
</file>

<file path=ppt/tags/tag6.xml><?xml version="1.0" encoding="utf-8"?>
<p:tagLst xmlns:p="http://schemas.openxmlformats.org/presentationml/2006/main">
  <p:tag name="TIMING" val="|46.5"/>
</p:tagLst>
</file>

<file path=ppt/tags/tag7.xml><?xml version="1.0" encoding="utf-8"?>
<p:tagLst xmlns:p="http://schemas.openxmlformats.org/presentationml/2006/main">
  <p:tag name="TIMING" val="|23.4|26.3|6.2"/>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2">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2710</Words>
  <Application>WPS 演示</Application>
  <PresentationFormat>全屏显示(4:3)</PresentationFormat>
  <Paragraphs>178</Paragraphs>
  <Slides>37</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103</vt:i4>
      </vt:variant>
      <vt:variant>
        <vt:lpstr>幻灯片标题</vt:lpstr>
      </vt:variant>
      <vt:variant>
        <vt:i4>37</vt:i4>
      </vt:variant>
    </vt:vector>
  </HeadingPairs>
  <TitlesOfParts>
    <vt:vector size="151" baseType="lpstr">
      <vt:lpstr>Arial</vt:lpstr>
      <vt:lpstr>宋体</vt:lpstr>
      <vt:lpstr>Wingdings</vt:lpstr>
      <vt:lpstr>黑体</vt:lpstr>
      <vt:lpstr>Times New Roman</vt:lpstr>
      <vt:lpstr>楷体_GB2312</vt:lpstr>
      <vt:lpstr>新宋体</vt:lpstr>
      <vt:lpstr>微软雅黑</vt:lpstr>
      <vt:lpstr>Arial Unicode MS</vt:lpstr>
      <vt:lpstr>Calibri</vt:lpstr>
      <vt:lpstr>Office 主题</vt:lpstr>
      <vt:lpstr>Equation.DSMT4</vt:lpstr>
      <vt:lpstr>Equation.DSMT4</vt:lpstr>
      <vt:lpstr>Equation.DSMT4</vt:lpstr>
      <vt:lpstr>Equation.DSMT4</vt:lpstr>
      <vt:lpstr>Equation.DSMT4</vt:lpstr>
      <vt:lpstr>Equation.DSMT4</vt:lpstr>
      <vt:lpstr>Equation.DSMT4</vt:lpstr>
      <vt:lpstr>Equation.DSMT4</vt:lpstr>
      <vt:lpstr>Equation.DSMT4</vt:lpstr>
      <vt:lpstr>Paint.Picture</vt:lpstr>
      <vt:lpstr>Paint.Picture</vt:lpstr>
      <vt:lpstr>Equation.DSMT4</vt:lpstr>
      <vt:lpstr>Equation.DSMT4</vt:lpstr>
      <vt:lpstr>Equation.DSMT4</vt:lpstr>
      <vt:lpstr>Equation.DSMT4</vt:lpstr>
      <vt:lpstr>Equation.3</vt:lpstr>
      <vt:lpstr>Equation.DSMT4</vt:lpstr>
      <vt:lpstr>Paint.Picture</vt:lpstr>
      <vt:lpstr>Paint.Picture</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Paint.Picture</vt:lpstr>
      <vt:lpstr>Equation.DSMT4</vt:lpstr>
      <vt:lpstr>Equation.DSMT4</vt:lpstr>
      <vt:lpstr>Equation.DSMT4</vt:lpstr>
      <vt:lpstr>Equation.DSMT4</vt:lpstr>
      <vt:lpstr>Equation.DSMT4</vt:lpstr>
      <vt:lpstr>Equation.DSMT4</vt:lpstr>
      <vt:lpstr>Paint.Picture</vt:lpstr>
      <vt:lpstr>Equation.3</vt:lpstr>
      <vt:lpstr>Equation.DSMT4</vt:lpstr>
      <vt:lpstr>Equation.DSMT4</vt:lpstr>
      <vt:lpstr>Equation.DSMT4</vt:lpstr>
      <vt:lpstr>Equation.DSMT4</vt:lpstr>
      <vt:lpstr>Equation.DSMT4</vt:lpstr>
      <vt:lpstr>Equation.DSMT4</vt:lpstr>
      <vt:lpstr>Equation.DSMT4</vt:lpstr>
      <vt:lpstr>Equation.3</vt:lpstr>
      <vt:lpstr>Equation.3</vt:lpstr>
      <vt:lpstr>Equation.DSMT4</vt:lpstr>
      <vt:lpstr>Equation.DSMT4</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jing wu</dc:creator>
  <cp:lastModifiedBy>jingwu</cp:lastModifiedBy>
  <cp:revision>56</cp:revision>
  <dcterms:created xsi:type="dcterms:W3CDTF">2020-05-29T13:44:00Z</dcterms:created>
  <dcterms:modified xsi:type="dcterms:W3CDTF">2020-10-01T06:32:42Z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2052-11.1.0.9999</vt:lpwstr>
  </property>
</Properties>
</file>