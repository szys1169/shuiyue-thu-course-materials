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2"/>
  </p:notesMasterIdLst>
  <p:sldIdLst>
    <p:sldId id="256" r:id="rId3"/>
    <p:sldId id="334" r:id="rId4"/>
    <p:sldId id="320" r:id="rId5"/>
    <p:sldId id="259" r:id="rId6"/>
    <p:sldId id="260" r:id="rId7"/>
    <p:sldId id="261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57" r:id="rId24"/>
    <p:sldId id="345" r:id="rId25"/>
    <p:sldId id="346" r:id="rId26"/>
    <p:sldId id="349" r:id="rId27"/>
    <p:sldId id="362" r:id="rId28"/>
    <p:sldId id="350" r:id="rId29"/>
    <p:sldId id="351" r:id="rId30"/>
    <p:sldId id="363" r:id="rId31"/>
    <p:sldId id="352" r:id="rId32"/>
    <p:sldId id="358" r:id="rId33"/>
    <p:sldId id="359" r:id="rId34"/>
    <p:sldId id="360" r:id="rId35"/>
    <p:sldId id="361" r:id="rId36"/>
    <p:sldId id="364" r:id="rId37"/>
    <p:sldId id="356" r:id="rId38"/>
    <p:sldId id="331" r:id="rId39"/>
    <p:sldId id="332" r:id="rId40"/>
    <p:sldId id="298" r:id="rId4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930" userDrawn="1">
          <p15:clr>
            <a:srgbClr val="A4A3A4"/>
          </p15:clr>
        </p15:guide>
        <p15:guide id="3" pos="55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000099"/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9"/>
  </p:normalViewPr>
  <p:slideViewPr>
    <p:cSldViewPr>
      <p:cViewPr varScale="1">
        <p:scale>
          <a:sx n="63" d="100"/>
          <a:sy n="63" d="100"/>
        </p:scale>
        <p:origin x="1380" y="48"/>
      </p:cViewPr>
      <p:guideLst>
        <p:guide orient="horz" pos="799"/>
        <p:guide pos="930"/>
        <p:guide pos="55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8E835-BBB8-4B30-A6B2-C18FAE3996FD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A13CE-6FA1-4FDD-B88E-CEBA8E65A9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371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685817" indent="-263776" algn="l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055103" indent="-211021" algn="l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477145" indent="-211021" algn="l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899186" indent="-211021" algn="l" defTabSz="914423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321227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743269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165310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587351" indent="-211021" defTabSz="914423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9889A2E-628E-4373-A474-E4749BAF5BAD}" type="slidenum">
              <a:rPr lang="en-US" altLang="zh-CN" sz="1200">
                <a:solidFill>
                  <a:prstClr val="black"/>
                </a:solidFill>
              </a:rPr>
              <a:pPr algn="r" eaLnBrk="1" hangingPunct="1">
                <a:spcBef>
                  <a:spcPct val="0"/>
                </a:spcBef>
              </a:pPr>
              <a:t>12</a:t>
            </a:fld>
            <a:endParaRPr lang="en-US" altLang="zh-CN" sz="1200">
              <a:solidFill>
                <a:prstClr val="black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2939"/>
            <a:ext cx="5030018" cy="4114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地震及基础振动，会使土的强度和承载力发生变化。大量建筑物失事，源于地基。</a:t>
            </a:r>
          </a:p>
          <a:p>
            <a:pPr eaLnBrk="1" hangingPunct="1"/>
            <a:r>
              <a:rPr lang="zh-CN" altLang="en-US"/>
              <a:t>三种动荷载：周期、冲击和不规则</a:t>
            </a:r>
          </a:p>
        </p:txBody>
      </p:sp>
    </p:spTree>
    <p:extLst>
      <p:ext uri="{BB962C8B-B14F-4D97-AF65-F5344CB8AC3E}">
        <p14:creationId xmlns:p14="http://schemas.microsoft.com/office/powerpoint/2010/main" val="3421549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000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198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4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44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52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49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738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3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77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317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95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98DA1-DBE9-4BF9-848D-CF672BD62091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777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31685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33576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19796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24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924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7526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9549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267866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2541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678303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96617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83357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2499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2499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533705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2035464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9244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9244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937187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244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3860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38613"/>
            <a:ext cx="4038600" cy="23860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51503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98DA1-DBE9-4BF9-848D-CF672BD62091}" type="datetimeFigureOut">
              <a:rPr lang="zh-CN" altLang="en-US" smtClean="0"/>
              <a:t>2021/1/2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B8F45-F3DD-4427-8CF1-D6C7830292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20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29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422918" name="Freeform 6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itchFamily="2" charset="-122"/>
                </a:endParaRPr>
              </a:p>
            </p:txBody>
          </p:sp>
          <p:sp>
            <p:nvSpPr>
              <p:cNvPr id="422919" name="Freeform 7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itchFamily="2" charset="-122"/>
                </a:endParaRPr>
              </a:p>
            </p:txBody>
          </p:sp>
          <p:sp>
            <p:nvSpPr>
              <p:cNvPr id="422920" name="Freeform 8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itchFamily="2" charset="-122"/>
                </a:endParaRPr>
              </a:p>
            </p:txBody>
          </p:sp>
          <p:sp>
            <p:nvSpPr>
              <p:cNvPr id="1035" name="Freeform 9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ea typeface="宋体" pitchFamily="2" charset="-122"/>
                </a:endParaRPr>
              </a:p>
            </p:txBody>
          </p:sp>
          <p:sp>
            <p:nvSpPr>
              <p:cNvPr id="422922" name="Freeform 10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FFFFFF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422923" name="Freeform 11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FFFFFF"/>
                </a:solidFill>
                <a:ea typeface="宋体" pitchFamily="2" charset="-122"/>
              </a:endParaRPr>
            </a:p>
          </p:txBody>
        </p:sp>
        <p:sp>
          <p:nvSpPr>
            <p:cNvPr id="1031" name="Freeform 12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776 h 1906"/>
                <a:gd name="T4" fmla="*/ 5758 w 5740"/>
                <a:gd name="T5" fmla="*/ 1776 h 1906"/>
                <a:gd name="T6" fmla="*/ 5758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ea typeface="宋体" pitchFamily="2" charset="-122"/>
              </a:endParaRPr>
            </a:p>
          </p:txBody>
        </p:sp>
      </p:grpSp>
      <p:sp>
        <p:nvSpPr>
          <p:cNvPr id="1027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3110676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Garamond" pitchFamily="18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6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png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728800" y="1268760"/>
            <a:ext cx="5686400" cy="1470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zh-CN" altLang="en-US" sz="80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土  力  学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71908" y="2997200"/>
            <a:ext cx="5400898" cy="1752600"/>
          </a:xfrm>
        </p:spPr>
        <p:txBody>
          <a:bodyPr/>
          <a:lstStyle/>
          <a:p>
            <a:pPr eaLnBrk="1" hangingPunct="1"/>
            <a:r>
              <a:rPr lang="zh-CN" altLang="en-US" sz="80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期末复习</a:t>
            </a:r>
          </a:p>
        </p:txBody>
      </p:sp>
    </p:spTree>
    <p:extLst>
      <p:ext uri="{BB962C8B-B14F-4D97-AF65-F5344CB8AC3E}">
        <p14:creationId xmlns:p14="http://schemas.microsoft.com/office/powerpoint/2010/main" val="1536958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/>
        </p:nvSpPr>
        <p:spPr bwMode="auto">
          <a:xfrm>
            <a:off x="457200" y="836613"/>
            <a:ext cx="8229600" cy="4918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Aft>
                <a:spcPct val="0"/>
              </a:spcAft>
              <a:buClr>
                <a:srgbClr val="FFCC00"/>
              </a:buClr>
              <a:buFont typeface="Wingdings" pitchFamily="2" charset="2"/>
              <a:buChar char="u"/>
            </a:pPr>
            <a:r>
              <a:rPr lang="zh-CN" altLang="en-US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成绩组成</a:t>
            </a:r>
          </a:p>
          <a:p>
            <a:pPr lvl="1" eaLnBrk="1" fontAlgn="base" hangingPunct="1">
              <a:lnSpc>
                <a:spcPct val="150000"/>
              </a:lnSpc>
              <a:spcAft>
                <a:spcPct val="0"/>
              </a:spcAft>
              <a:buClr>
                <a:srgbClr val="FFFF00"/>
              </a:buClr>
              <a:buFont typeface="Wingdings" pitchFamily="2" charset="2"/>
              <a:buChar char="l"/>
            </a:pP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</a:rPr>
              <a:t>期中考试 </a:t>
            </a:r>
            <a:r>
              <a:rPr lang="en-US" altLang="zh-CN" sz="3200" b="0" dirty="0">
                <a:solidFill>
                  <a:srgbClr val="FFFF00"/>
                </a:solidFill>
                <a:latin typeface="Times New Roman" pitchFamily="18" charset="0"/>
              </a:rPr>
              <a:t>30</a:t>
            </a: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</a:rPr>
              <a:t>；期末考试 </a:t>
            </a:r>
            <a:r>
              <a:rPr lang="en-US" altLang="zh-CN" sz="3200" b="0" dirty="0">
                <a:solidFill>
                  <a:srgbClr val="FFFF00"/>
                </a:solidFill>
                <a:latin typeface="Times New Roman" pitchFamily="18" charset="0"/>
              </a:rPr>
              <a:t>50</a:t>
            </a: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</a:rPr>
              <a:t>   </a:t>
            </a:r>
            <a:endParaRPr lang="en-US" altLang="zh-CN" sz="3200" b="0" dirty="0">
              <a:solidFill>
                <a:srgbClr val="FFFF00"/>
              </a:solidFill>
              <a:latin typeface="Times New Roman" pitchFamily="18" charset="0"/>
            </a:endParaRPr>
          </a:p>
          <a:p>
            <a:pPr lvl="1" eaLnBrk="1" fontAlgn="base" hangingPunct="1">
              <a:lnSpc>
                <a:spcPct val="150000"/>
              </a:lnSpc>
              <a:spcAft>
                <a:spcPct val="0"/>
              </a:spcAft>
              <a:buClr>
                <a:srgbClr val="FFFF00"/>
              </a:buClr>
              <a:buFont typeface="Wingdings" pitchFamily="2" charset="2"/>
              <a:buChar char="l"/>
            </a:pP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</a:rPr>
              <a:t>教学试验 </a:t>
            </a:r>
            <a:r>
              <a:rPr lang="en-US" altLang="zh-CN" sz="3200" b="0" dirty="0">
                <a:solidFill>
                  <a:srgbClr val="FFFF00"/>
                </a:solidFill>
                <a:latin typeface="Times New Roman" pitchFamily="18" charset="0"/>
              </a:rPr>
              <a:t>15</a:t>
            </a: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</a:rPr>
              <a:t>；作业、平时 </a:t>
            </a:r>
            <a:r>
              <a:rPr lang="en-US" altLang="zh-CN" sz="3200" b="0" dirty="0">
                <a:solidFill>
                  <a:srgbClr val="FFFF00"/>
                </a:solidFill>
                <a:latin typeface="Times New Roman" pitchFamily="18" charset="0"/>
              </a:rPr>
              <a:t>5</a:t>
            </a:r>
          </a:p>
          <a:p>
            <a:pPr eaLnBrk="1" fontAlgn="base" hangingPunct="1">
              <a:lnSpc>
                <a:spcPct val="150000"/>
              </a:lnSpc>
              <a:spcAft>
                <a:spcPct val="0"/>
              </a:spcAft>
              <a:buClr>
                <a:srgbClr val="FFCC00"/>
              </a:buClr>
              <a:buFont typeface="Wingdings" pitchFamily="2" charset="2"/>
              <a:buChar char="u"/>
            </a:pPr>
            <a:r>
              <a:rPr lang="zh-CN" altLang="en-US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注意</a:t>
            </a:r>
          </a:p>
          <a:p>
            <a:pPr lvl="1" eaLnBrk="1" fontAlgn="base" hangingPunct="1">
              <a:lnSpc>
                <a:spcPct val="150000"/>
              </a:lnSpc>
              <a:spcAft>
                <a:spcPct val="0"/>
              </a:spcAft>
              <a:buClr>
                <a:srgbClr val="FFFF00"/>
              </a:buClr>
              <a:buFont typeface="Wingdings" pitchFamily="2" charset="2"/>
              <a:buChar char="l"/>
            </a:pPr>
            <a:r>
              <a:rPr lang="zh-CN" altLang="en-US" sz="3200" b="0" dirty="0">
                <a:solidFill>
                  <a:srgbClr val="FFFF00"/>
                </a:solidFill>
                <a:latin typeface="Times New Roman" pitchFamily="18" charset="0"/>
              </a:rPr>
              <a:t>作业、试验报告未在规定时间内交齐不得参加期末考试。</a:t>
            </a:r>
            <a:endParaRPr lang="zh-CN" altLang="en-US" b="0" dirty="0">
              <a:solidFill>
                <a:srgbClr val="FFFFFF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520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0" dirty="0">
                <a:latin typeface="Times New Roman" pitchFamily="18" charset="0"/>
                <a:ea typeface="黑体" pitchFamily="49" charset="-122"/>
              </a:rPr>
              <a:t>《</a:t>
            </a:r>
            <a:r>
              <a:rPr lang="zh-CN" altLang="en-US" b="0" dirty="0">
                <a:latin typeface="Times New Roman" pitchFamily="18" charset="0"/>
                <a:ea typeface="黑体" pitchFamily="49" charset="-122"/>
              </a:rPr>
              <a:t>土力学</a:t>
            </a:r>
            <a:r>
              <a:rPr lang="en-US" altLang="zh-CN" b="0" dirty="0">
                <a:latin typeface="Times New Roman" pitchFamily="18" charset="0"/>
                <a:ea typeface="黑体" pitchFamily="49" charset="-122"/>
              </a:rPr>
              <a:t>》</a:t>
            </a:r>
            <a:r>
              <a:rPr lang="zh-CN" altLang="en-US" b="0" dirty="0">
                <a:latin typeface="Times New Roman" pitchFamily="18" charset="0"/>
                <a:ea typeface="黑体" pitchFamily="49" charset="-122"/>
              </a:rPr>
              <a:t>期末考试</a:t>
            </a:r>
          </a:p>
        </p:txBody>
      </p:sp>
      <p:graphicFrame>
        <p:nvGraphicFramePr>
          <p:cNvPr id="10276" name="Group 3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867827"/>
              </p:ext>
            </p:extLst>
          </p:nvPr>
        </p:nvGraphicFramePr>
        <p:xfrm>
          <a:off x="1476375" y="2881313"/>
          <a:ext cx="5905500" cy="2852739"/>
        </p:xfrm>
        <a:graphic>
          <a:graphicData uri="http://schemas.openxmlformats.org/drawingml/2006/table">
            <a:tbl>
              <a:tblPr/>
              <a:tblGrid>
                <a:gridCol w="2916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9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黑体" pitchFamily="49" charset="-122"/>
                          <a:cs typeface="Times New Roman" panose="02020603050405020304" pitchFamily="18" charset="0"/>
                        </a:rPr>
                        <a:t>任课教师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黑体" pitchFamily="49" charset="-122"/>
                          <a:cs typeface="Times New Roman" panose="02020603050405020304" pitchFamily="18" charset="0"/>
                        </a:rPr>
                        <a:t>考试地点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于玉贞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六教</a:t>
                      </a:r>
                      <a:r>
                        <a:rPr kumimoji="0" lang="en-US" altLang="zh-CN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6A213</a:t>
                      </a:r>
                    </a:p>
                  </a:txBody>
                  <a:tcPr marL="78154" marR="78154" marT="39077" marB="390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张丙印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六教</a:t>
                      </a:r>
                      <a:r>
                        <a:rPr kumimoji="0" lang="en-US" altLang="zh-CN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6C101</a:t>
                      </a:r>
                    </a:p>
                  </a:txBody>
                  <a:tcPr marL="78154" marR="78154" marT="39077" marB="390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张建民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六教</a:t>
                      </a:r>
                      <a:r>
                        <a:rPr kumimoji="0" lang="en-US" altLang="zh-CN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6A205</a:t>
                      </a:r>
                    </a:p>
                  </a:txBody>
                  <a:tcPr marL="78154" marR="78154" marT="39077" marB="390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胡黎明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六教</a:t>
                      </a:r>
                      <a:r>
                        <a:rPr kumimoji="0" lang="en-US" altLang="zh-CN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6A211</a:t>
                      </a:r>
                    </a:p>
                  </a:txBody>
                  <a:tcPr marL="78154" marR="78154" marT="39077" marB="390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19" name="Rectangle 57"/>
          <p:cNvSpPr>
            <a:spLocks noChangeArrowheads="1"/>
          </p:cNvSpPr>
          <p:nvPr/>
        </p:nvSpPr>
        <p:spPr bwMode="auto">
          <a:xfrm>
            <a:off x="1475656" y="1916832"/>
            <a:ext cx="597666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考试时间：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2021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日 星期一</a:t>
            </a:r>
            <a:endParaRPr lang="en-US" altLang="zh-CN" sz="2800" b="0" dirty="0">
              <a:solidFill>
                <a:srgbClr val="FFFF00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                      下午 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2:30~4:30</a:t>
            </a:r>
            <a:endParaRPr lang="en-US" altLang="zh-CN" sz="2800" dirty="0">
              <a:solidFill>
                <a:srgbClr val="FFFFFF"/>
              </a:solidFill>
              <a:latin typeface="Times New Roman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154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12862" y="116632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b="0" dirty="0">
                <a:latin typeface="黑体" pitchFamily="49" charset="-122"/>
                <a:ea typeface="黑体" pitchFamily="49" charset="-122"/>
              </a:rPr>
              <a:t>《</a:t>
            </a:r>
            <a:r>
              <a:rPr lang="zh-CN" altLang="en-US" b="0" dirty="0">
                <a:latin typeface="黑体" pitchFamily="49" charset="-122"/>
                <a:ea typeface="黑体" pitchFamily="49" charset="-122"/>
              </a:rPr>
              <a:t>土力学</a:t>
            </a:r>
            <a:r>
              <a:rPr lang="en-US" altLang="zh-CN" b="0" dirty="0">
                <a:latin typeface="黑体" pitchFamily="49" charset="-122"/>
                <a:ea typeface="黑体" pitchFamily="49" charset="-122"/>
              </a:rPr>
              <a:t>》</a:t>
            </a:r>
            <a:r>
              <a:rPr lang="zh-CN" altLang="en-US" b="0" dirty="0">
                <a:latin typeface="黑体" pitchFamily="49" charset="-122"/>
                <a:ea typeface="黑体" pitchFamily="49" charset="-122"/>
              </a:rPr>
              <a:t>期末考试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5616" y="1484784"/>
            <a:ext cx="7200800" cy="5004447"/>
          </a:xfrm>
        </p:spPr>
        <p:txBody>
          <a:bodyPr wrap="square">
            <a:spAutoFit/>
          </a:bodyPr>
          <a:lstStyle/>
          <a:p>
            <a:pPr eaLnBrk="1" hangingPunct="1"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u"/>
            </a:pPr>
            <a:r>
              <a:rPr lang="zh-CN" altLang="en-US" sz="2800" b="0" dirty="0">
                <a:latin typeface="Times New Roman" pitchFamily="18" charset="0"/>
              </a:rPr>
              <a:t>重点：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</a:rPr>
              <a:t>基础部分、灵活应用</a:t>
            </a:r>
          </a:p>
          <a:p>
            <a:pPr eaLnBrk="1" hangingPunct="1"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u"/>
            </a:pPr>
            <a:r>
              <a:rPr lang="zh-CN" altLang="en-US" sz="2800" b="0" dirty="0">
                <a:latin typeface="Times New Roman" pitchFamily="18" charset="0"/>
              </a:rPr>
              <a:t>原则：</a:t>
            </a:r>
          </a:p>
          <a:p>
            <a:pPr lvl="1" eaLnBrk="1" hangingPunct="1">
              <a:spcAft>
                <a:spcPct val="20000"/>
              </a:spcAft>
              <a:buClr>
                <a:srgbClr val="FFFF00"/>
              </a:buClr>
              <a:buFont typeface="Wingdings" pitchFamily="2" charset="2"/>
              <a:buChar char="u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难度与作业相当</a:t>
            </a:r>
          </a:p>
          <a:p>
            <a:pPr lvl="1" eaLnBrk="1" hangingPunct="1">
              <a:spcAft>
                <a:spcPct val="20000"/>
              </a:spcAft>
              <a:buClr>
                <a:srgbClr val="FFFF00"/>
              </a:buClr>
              <a:buFont typeface="Wingdings" pitchFamily="2" charset="2"/>
              <a:buChar char="u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不要求死记硬背，但一些公式要记</a:t>
            </a:r>
            <a:endParaRPr lang="en-US" altLang="zh-CN" b="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u"/>
            </a:pPr>
            <a:r>
              <a:rPr lang="zh-CN" altLang="en-US" sz="2800" b="0" dirty="0">
                <a:latin typeface="Times New Roman" pitchFamily="18" charset="0"/>
              </a:rPr>
              <a:t>题型：	</a:t>
            </a:r>
          </a:p>
          <a:p>
            <a:pPr lvl="1" eaLnBrk="1" hangingPunct="1">
              <a:buClr>
                <a:srgbClr val="FFFF00"/>
              </a:buClr>
              <a:buFont typeface="Wingdings" pitchFamily="2" charset="2"/>
              <a:buChar char="l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选择题	      </a:t>
            </a:r>
            <a:r>
              <a:rPr lang="en-US" altLang="zh-CN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题，   </a:t>
            </a:r>
            <a:r>
              <a:rPr lang="en-US" altLang="zh-CN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分</a:t>
            </a:r>
          </a:p>
          <a:p>
            <a:pPr lvl="1" eaLnBrk="1" hangingPunct="1">
              <a:buClr>
                <a:srgbClr val="FFFF00"/>
              </a:buClr>
              <a:buFont typeface="Wingdings" pitchFamily="2" charset="2"/>
              <a:buChar char="l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判断题      </a:t>
            </a:r>
            <a:r>
              <a:rPr lang="en-US" altLang="zh-CN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题，   </a:t>
            </a:r>
            <a:r>
              <a:rPr lang="en-US" altLang="zh-CN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分</a:t>
            </a:r>
          </a:p>
          <a:p>
            <a:pPr lvl="1" eaLnBrk="1" hangingPunct="1">
              <a:buClr>
                <a:srgbClr val="FFFF00"/>
              </a:buClr>
              <a:buFont typeface="Wingdings" pitchFamily="2" charset="2"/>
              <a:buChar char="l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计算题	      </a:t>
            </a:r>
            <a:r>
              <a:rPr lang="en-US" altLang="zh-CN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3~4</a:t>
            </a: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题，</a:t>
            </a:r>
            <a:r>
              <a:rPr lang="en-US" altLang="zh-CN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50</a:t>
            </a: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分</a:t>
            </a:r>
            <a:endParaRPr lang="en-US" altLang="zh-CN" b="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 eaLnBrk="1" hangingPunct="1"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u"/>
            </a:pPr>
            <a:r>
              <a:rPr lang="zh-CN" altLang="en-US" b="0" dirty="0">
                <a:latin typeface="Times New Roman" pitchFamily="18" charset="0"/>
                <a:cs typeface="+mn-cs"/>
              </a:rPr>
              <a:t>前四章约</a:t>
            </a:r>
            <a:r>
              <a:rPr lang="en-US" altLang="zh-CN" b="0" dirty="0">
                <a:latin typeface="Times New Roman" pitchFamily="18" charset="0"/>
                <a:cs typeface="+mn-cs"/>
              </a:rPr>
              <a:t>20~25</a:t>
            </a:r>
            <a:r>
              <a:rPr lang="zh-CN" altLang="en-US" b="0" dirty="0">
                <a:latin typeface="Times New Roman" pitchFamily="18" charset="0"/>
                <a:cs typeface="+mn-cs"/>
              </a:rPr>
              <a:t>分，无独立计算题</a:t>
            </a:r>
          </a:p>
        </p:txBody>
      </p:sp>
    </p:spTree>
    <p:extLst>
      <p:ext uri="{BB962C8B-B14F-4D97-AF65-F5344CB8AC3E}">
        <p14:creationId xmlns:p14="http://schemas.microsoft.com/office/powerpoint/2010/main" val="578697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286000"/>
            <a:ext cx="6400800" cy="1752600"/>
          </a:xfrm>
        </p:spPr>
        <p:txBody>
          <a:bodyPr/>
          <a:lstStyle/>
          <a:p>
            <a:pPr eaLnBrk="1" hangingPunct="1"/>
            <a:r>
              <a:rPr lang="zh-CN" altLang="en-US" sz="6600" b="0">
                <a:solidFill>
                  <a:srgbClr val="FFFF00"/>
                </a:solidFill>
                <a:ea typeface="黑体" pitchFamily="49" charset="-122"/>
              </a:rPr>
              <a:t>内容复习</a:t>
            </a:r>
          </a:p>
        </p:txBody>
      </p:sp>
    </p:spTree>
    <p:extLst>
      <p:ext uri="{BB962C8B-B14F-4D97-AF65-F5344CB8AC3E}">
        <p14:creationId xmlns:p14="http://schemas.microsoft.com/office/powerpoint/2010/main" val="382562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686508" y="341784"/>
            <a:ext cx="5770984" cy="1143000"/>
          </a:xfrm>
        </p:spPr>
        <p:txBody>
          <a:bodyPr/>
          <a:lstStyle/>
          <a:p>
            <a:pPr eaLnBrk="1" hangingPunct="1"/>
            <a:r>
              <a:rPr lang="zh-CN" altLang="en-US" b="0" dirty="0">
                <a:latin typeface="黑体" pitchFamily="49" charset="-122"/>
                <a:ea typeface="黑体" pitchFamily="49" charset="-122"/>
              </a:rPr>
              <a:t>土的三大工程问题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229600" cy="49244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3600" b="0" dirty="0">
                <a:latin typeface="黑体" pitchFamily="49" charset="-122"/>
                <a:ea typeface="黑体" pitchFamily="49" charset="-122"/>
              </a:rPr>
              <a:t>渗透问题：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0" dirty="0"/>
              <a:t>		</a:t>
            </a:r>
            <a:r>
              <a:rPr lang="zh-CN" altLang="en-US" b="0" dirty="0">
                <a:solidFill>
                  <a:srgbClr val="FFFF00"/>
                </a:solidFill>
              </a:rPr>
              <a:t>渗流、渗透破坏（管涌、流土）</a:t>
            </a:r>
            <a:endParaRPr lang="zh-CN" altLang="en-US" sz="3600" b="0" dirty="0">
              <a:ea typeface="华文新魏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3600" b="0" dirty="0">
                <a:latin typeface="黑体" pitchFamily="49" charset="-122"/>
                <a:ea typeface="黑体" pitchFamily="49" charset="-122"/>
              </a:rPr>
              <a:t>变形问题：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0" dirty="0"/>
              <a:t>		</a:t>
            </a:r>
            <a:r>
              <a:rPr lang="zh-CN" altLang="en-US" b="0" dirty="0">
                <a:solidFill>
                  <a:srgbClr val="FFFF00"/>
                </a:solidFill>
              </a:rPr>
              <a:t>沉降计算；沉降与时间的关系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3600" b="0" dirty="0">
                <a:solidFill>
                  <a:srgbClr val="FFC000"/>
                </a:solidFill>
                <a:latin typeface="黑体" pitchFamily="49" charset="-122"/>
                <a:ea typeface="黑体" pitchFamily="49" charset="-122"/>
              </a:rPr>
              <a:t>强度问题：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b="0" dirty="0"/>
              <a:t>		</a:t>
            </a:r>
            <a:r>
              <a:rPr lang="zh-CN" altLang="en-US" b="0" dirty="0">
                <a:solidFill>
                  <a:srgbClr val="FFFF00"/>
                </a:solidFill>
              </a:rPr>
              <a:t>土的抗剪强度</a:t>
            </a:r>
            <a:endParaRPr lang="en-US" altLang="zh-CN" b="0" dirty="0">
              <a:solidFill>
                <a:srgbClr val="FFFF00"/>
              </a:solidFill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0" dirty="0">
                <a:solidFill>
                  <a:srgbClr val="FFFF00"/>
                </a:solidFill>
              </a:rPr>
              <a:t>         </a:t>
            </a:r>
            <a:r>
              <a:rPr lang="zh-CN" altLang="en-US" b="0" dirty="0">
                <a:solidFill>
                  <a:srgbClr val="FFFF00"/>
                </a:solidFill>
              </a:rPr>
              <a:t>土压力，边坡稳定，地基承载力</a:t>
            </a:r>
          </a:p>
        </p:txBody>
      </p:sp>
    </p:spTree>
    <p:extLst>
      <p:ext uri="{BB962C8B-B14F-4D97-AF65-F5344CB8AC3E}">
        <p14:creationId xmlns:p14="http://schemas.microsoft.com/office/powerpoint/2010/main" val="346157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第五章 土的抗剪强度</a:t>
            </a:r>
            <a:endParaRPr lang="zh-CN" altLang="en-US" sz="4000" b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7925" y="1671638"/>
            <a:ext cx="7642225" cy="4278312"/>
          </a:xfrm>
          <a:noFill/>
        </p:spPr>
        <p:txBody>
          <a:bodyPr/>
          <a:lstStyle/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>
                <a:ea typeface="楷体_GB2312" pitchFamily="49" charset="-122"/>
              </a:rPr>
              <a:t>§5.1 </a:t>
            </a:r>
            <a:r>
              <a:rPr lang="zh-CN" altLang="en-US">
                <a:ea typeface="楷体_GB2312" pitchFamily="49" charset="-122"/>
              </a:rPr>
              <a:t>土体破坏与强度理论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/>
              <a:t>§</a:t>
            </a:r>
            <a:r>
              <a:rPr lang="en-US" altLang="zh-CN">
                <a:ea typeface="楷体_GB2312" pitchFamily="49" charset="-122"/>
              </a:rPr>
              <a:t>5.2 </a:t>
            </a:r>
            <a:r>
              <a:rPr lang="zh-CN" altLang="en-US">
                <a:ea typeface="楷体_GB2312" pitchFamily="49" charset="-122"/>
              </a:rPr>
              <a:t>土的抗剪强度的测定试验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/>
              <a:t>§</a:t>
            </a:r>
            <a:r>
              <a:rPr lang="en-US" altLang="zh-CN">
                <a:ea typeface="楷体_GB2312" pitchFamily="49" charset="-122"/>
              </a:rPr>
              <a:t>5.3 </a:t>
            </a:r>
            <a:r>
              <a:rPr lang="zh-CN" altLang="en-US">
                <a:ea typeface="楷体_GB2312" pitchFamily="49" charset="-122"/>
              </a:rPr>
              <a:t>应力路径与破坏主应力线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/>
              <a:t>§</a:t>
            </a:r>
            <a:r>
              <a:rPr lang="en-US" altLang="zh-CN">
                <a:ea typeface="楷体_GB2312" pitchFamily="49" charset="-122"/>
              </a:rPr>
              <a:t>5.4 </a:t>
            </a:r>
            <a:r>
              <a:rPr lang="zh-CN" altLang="en-US">
                <a:ea typeface="楷体_GB2312" pitchFamily="49" charset="-122"/>
              </a:rPr>
              <a:t>土的抗剪强度指标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/>
              <a:t>§</a:t>
            </a:r>
            <a:r>
              <a:rPr lang="en-US" altLang="zh-CN">
                <a:ea typeface="楷体_GB2312" pitchFamily="49" charset="-122"/>
              </a:rPr>
              <a:t>5.5 </a:t>
            </a:r>
            <a:r>
              <a:rPr lang="zh-CN" altLang="en-US">
                <a:ea typeface="楷体_GB2312" pitchFamily="49" charset="-122"/>
              </a:rPr>
              <a:t>土的动强度与砂土的振动液化</a:t>
            </a:r>
          </a:p>
        </p:txBody>
      </p:sp>
    </p:spTree>
    <p:extLst>
      <p:ext uri="{BB962C8B-B14F-4D97-AF65-F5344CB8AC3E}">
        <p14:creationId xmlns:p14="http://schemas.microsoft.com/office/powerpoint/2010/main" val="1582318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§5.1 </a:t>
            </a:r>
            <a:r>
              <a:rPr lang="zh-CN" altLang="en-US" sz="4000" b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土体破坏与强度理论</a:t>
            </a:r>
            <a:endParaRPr lang="zh-CN" altLang="en-US" sz="4000" b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457200" y="1423988"/>
            <a:ext cx="8229600" cy="524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5000"/>
              </a:spcBef>
              <a:spcAft>
                <a:spcPct val="15000"/>
              </a:spcAft>
              <a:buClr>
                <a:srgbClr val="FFCC00"/>
              </a:buClr>
              <a:buFont typeface="Wingdings" pitchFamily="2" charset="2"/>
              <a:buChar char="Ø"/>
            </a:pPr>
            <a:r>
              <a:rPr lang="zh-CN" altLang="en-US" sz="2800" b="0" dirty="0">
                <a:solidFill>
                  <a:srgbClr val="FFFFFF"/>
                </a:solidFill>
                <a:latin typeface="幼圆" pitchFamily="49" charset="-122"/>
              </a:rPr>
              <a:t>土的抗剪强度</a:t>
            </a:r>
          </a:p>
          <a:p>
            <a:pPr lvl="1" eaLnBrk="1" fontAlgn="base" hangingPunct="1">
              <a:spcBef>
                <a:spcPct val="5000"/>
              </a:spcBef>
              <a:spcAft>
                <a:spcPct val="15000"/>
              </a:spcAft>
              <a:buClr>
                <a:srgbClr val="A886E0"/>
              </a:buClr>
              <a:buFont typeface="Wingdings" pitchFamily="2" charset="2"/>
              <a:buChar char="Ø"/>
            </a:pPr>
            <a:r>
              <a:rPr lang="zh-CN" altLang="en-US" sz="2400" b="0" dirty="0">
                <a:solidFill>
                  <a:srgbClr val="FFFF00"/>
                </a:solidFill>
                <a:latin typeface="幼圆" pitchFamily="49" charset="-122"/>
              </a:rPr>
              <a:t>土的强度主要是抗剪强度</a:t>
            </a:r>
          </a:p>
          <a:p>
            <a:pPr eaLnBrk="1" fontAlgn="base" hangingPunct="1">
              <a:spcBef>
                <a:spcPct val="5000"/>
              </a:spcBef>
              <a:spcAft>
                <a:spcPct val="15000"/>
              </a:spcAft>
              <a:buClr>
                <a:srgbClr val="FFCC00"/>
              </a:buClr>
              <a:buFont typeface="Wingdings" pitchFamily="2" charset="2"/>
              <a:buChar char="Ø"/>
            </a:pPr>
            <a:r>
              <a:rPr lang="zh-CN" altLang="en-US" sz="2800" b="0" dirty="0">
                <a:solidFill>
                  <a:srgbClr val="FFFFFF"/>
                </a:solidFill>
                <a:latin typeface="幼圆" pitchFamily="49" charset="-122"/>
              </a:rPr>
              <a:t>莫尔</a:t>
            </a:r>
            <a:r>
              <a:rPr lang="en-US" altLang="zh-CN" sz="2800" b="0" dirty="0">
                <a:solidFill>
                  <a:srgbClr val="FFFFFF"/>
                </a:solidFill>
                <a:latin typeface="幼圆" pitchFamily="49" charset="-122"/>
              </a:rPr>
              <a:t>-</a:t>
            </a:r>
            <a:r>
              <a:rPr lang="zh-CN" altLang="en-US" sz="2800" b="0" dirty="0">
                <a:solidFill>
                  <a:srgbClr val="FFFFFF"/>
                </a:solidFill>
                <a:latin typeface="幼圆" pitchFamily="49" charset="-122"/>
              </a:rPr>
              <a:t>库仑强度理论（三条内容）</a:t>
            </a:r>
          </a:p>
          <a:p>
            <a:pPr lvl="1" eaLnBrk="1" fontAlgn="base" hangingPunct="1">
              <a:spcBef>
                <a:spcPct val="5000"/>
              </a:spcBef>
              <a:spcAft>
                <a:spcPct val="15000"/>
              </a:spcAft>
              <a:buClr>
                <a:srgbClr val="A886E0"/>
              </a:buClr>
              <a:buFont typeface="Wingdings" pitchFamily="2" charset="2"/>
              <a:buChar char="Ø"/>
            </a:pPr>
            <a:r>
              <a:rPr lang="zh-CN" altLang="en-US" sz="2400" b="0" dirty="0">
                <a:solidFill>
                  <a:srgbClr val="FFFF00"/>
                </a:solidFill>
                <a:latin typeface="幼圆" pitchFamily="49" charset="-122"/>
              </a:rPr>
              <a:t>直剪试验与库仑公式</a:t>
            </a:r>
          </a:p>
          <a:p>
            <a:pPr lvl="1" eaLnBrk="1" fontAlgn="base" hangingPunct="1">
              <a:spcBef>
                <a:spcPct val="5000"/>
              </a:spcBef>
              <a:spcAft>
                <a:spcPct val="15000"/>
              </a:spcAft>
              <a:buClr>
                <a:srgbClr val="A886E0"/>
              </a:buClr>
              <a:buFont typeface="Wingdings" pitchFamily="2" charset="2"/>
              <a:buChar char="Ø"/>
            </a:pPr>
            <a:r>
              <a:rPr lang="zh-CN" altLang="en-US" sz="2400" b="0" dirty="0">
                <a:solidFill>
                  <a:srgbClr val="FFFF00"/>
                </a:solidFill>
                <a:latin typeface="幼圆" pitchFamily="49" charset="-122"/>
              </a:rPr>
              <a:t>应力状态与莫尔圆</a:t>
            </a:r>
          </a:p>
          <a:p>
            <a:pPr lvl="1" eaLnBrk="1" fontAlgn="base" hangingPunct="1">
              <a:spcBef>
                <a:spcPct val="5000"/>
              </a:spcBef>
              <a:spcAft>
                <a:spcPct val="15000"/>
              </a:spcAft>
              <a:buClr>
                <a:srgbClr val="A886E0"/>
              </a:buClr>
              <a:buFont typeface="Wingdings" pitchFamily="2" charset="2"/>
              <a:buChar char="Ø"/>
            </a:pPr>
            <a:r>
              <a:rPr lang="zh-CN" altLang="en-US" sz="2400" b="0" dirty="0">
                <a:solidFill>
                  <a:srgbClr val="FFFF00"/>
                </a:solidFill>
                <a:latin typeface="幼圆" pitchFamily="49" charset="-122"/>
              </a:rPr>
              <a:t>莫尔</a:t>
            </a:r>
            <a:r>
              <a:rPr lang="en-US" altLang="zh-CN" sz="2400" b="0" dirty="0">
                <a:solidFill>
                  <a:srgbClr val="FFFF00"/>
                </a:solidFill>
                <a:latin typeface="幼圆" pitchFamily="49" charset="-122"/>
              </a:rPr>
              <a:t>-</a:t>
            </a:r>
            <a:r>
              <a:rPr lang="zh-CN" altLang="en-US" sz="2400" b="0" dirty="0">
                <a:solidFill>
                  <a:srgbClr val="FFFF00"/>
                </a:solidFill>
                <a:latin typeface="幼圆" pitchFamily="49" charset="-122"/>
              </a:rPr>
              <a:t>库仑破坏准则</a:t>
            </a:r>
          </a:p>
          <a:p>
            <a:pPr lvl="2" eaLnBrk="1" fontAlgn="base" hangingPunct="1">
              <a:spcBef>
                <a:spcPct val="5000"/>
              </a:spcBef>
              <a:spcAft>
                <a:spcPct val="15000"/>
              </a:spcAft>
              <a:buClr>
                <a:srgbClr val="E5E5FF"/>
              </a:buClr>
              <a:buFont typeface="Wingdings" pitchFamily="2" charset="2"/>
              <a:buChar char="Ø"/>
            </a:pPr>
            <a:r>
              <a:rPr lang="zh-CN" altLang="en-US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土的极限平衡应力状态	</a:t>
            </a:r>
          </a:p>
          <a:p>
            <a:pPr lvl="2" eaLnBrk="1" fontAlgn="base" hangingPunct="1">
              <a:spcBef>
                <a:spcPct val="5000"/>
              </a:spcBef>
              <a:spcAft>
                <a:spcPct val="15000"/>
              </a:spcAft>
              <a:buClr>
                <a:srgbClr val="E5E5FF"/>
              </a:buClr>
              <a:buFont typeface="Wingdings" pitchFamily="2" charset="2"/>
              <a:buChar char="Ø"/>
            </a:pPr>
            <a:r>
              <a:rPr lang="zh-CN" altLang="en-US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土破坏与否的判断	</a:t>
            </a:r>
          </a:p>
          <a:p>
            <a:pPr lvl="2" eaLnBrk="1" fontAlgn="base" hangingPunct="1">
              <a:spcBef>
                <a:spcPct val="5000"/>
              </a:spcBef>
              <a:spcAft>
                <a:spcPct val="15000"/>
              </a:spcAft>
              <a:buClr>
                <a:srgbClr val="E5E5FF"/>
              </a:buClr>
              <a:buFont typeface="Wingdings" pitchFamily="2" charset="2"/>
              <a:buChar char="Ø"/>
            </a:pPr>
            <a:r>
              <a:rPr lang="zh-CN" altLang="en-US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滑裂面的位置</a:t>
            </a:r>
          </a:p>
          <a:p>
            <a:pPr eaLnBrk="1" fontAlgn="base" hangingPunct="1">
              <a:spcBef>
                <a:spcPct val="5000"/>
              </a:spcBef>
              <a:spcAft>
                <a:spcPct val="15000"/>
              </a:spcAft>
              <a:buClr>
                <a:srgbClr val="FFCC00"/>
              </a:buClr>
              <a:buFont typeface="Wingdings" pitchFamily="2" charset="2"/>
              <a:buChar char="Ø"/>
            </a:pPr>
            <a:r>
              <a:rPr lang="zh-CN" altLang="en-US" sz="2800" b="0" dirty="0">
                <a:solidFill>
                  <a:srgbClr val="FFFFFF"/>
                </a:solidFill>
                <a:latin typeface="幼圆" pitchFamily="49" charset="-122"/>
              </a:rPr>
              <a:t>土的抗剪强度机理</a:t>
            </a:r>
          </a:p>
          <a:p>
            <a:pPr lvl="1" eaLnBrk="1" fontAlgn="base" hangingPunct="1">
              <a:spcBef>
                <a:spcPct val="5000"/>
              </a:spcBef>
              <a:spcAft>
                <a:spcPct val="15000"/>
              </a:spcAft>
              <a:buClr>
                <a:srgbClr val="A886E0"/>
              </a:buClr>
              <a:buFont typeface="Wingdings" pitchFamily="2" charset="2"/>
              <a:buChar char="Ø"/>
            </a:pPr>
            <a:r>
              <a:rPr lang="zh-CN" altLang="en-US" sz="2400" b="0" dirty="0">
                <a:solidFill>
                  <a:srgbClr val="FFFF00"/>
                </a:solidFill>
                <a:latin typeface="幼圆" pitchFamily="49" charset="-122"/>
              </a:rPr>
              <a:t>摩擦强度与黏聚强度</a:t>
            </a:r>
          </a:p>
        </p:txBody>
      </p:sp>
      <p:graphicFrame>
        <p:nvGraphicFramePr>
          <p:cNvPr id="37892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4183063" y="2955925"/>
          <a:ext cx="20161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27000" imgH="228600" progId="Equation.DSMT4">
                  <p:embed/>
                </p:oleObj>
              </mc:Choice>
              <mc:Fallback>
                <p:oleObj name="Equation" r:id="rId3" imgW="92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063" y="2955925"/>
                        <a:ext cx="2016125" cy="496888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175125" y="3754438"/>
          <a:ext cx="49688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41320" imgH="241200" progId="Equation.DSMT4">
                  <p:embed/>
                </p:oleObj>
              </mc:Choice>
              <mc:Fallback>
                <p:oleObj name="Equation" r:id="rId5" imgW="2641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25" y="3754438"/>
                        <a:ext cx="4968875" cy="4540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635375" y="5181600"/>
          <a:ext cx="151288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27000" imgH="228600" progId="Equation.DSMT4">
                  <p:embed/>
                </p:oleObj>
              </mc:Choice>
              <mc:Fallback>
                <p:oleObj name="Equation" r:id="rId7" imgW="92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181600"/>
                        <a:ext cx="1512888" cy="37306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Rectangle 36"/>
          <p:cNvSpPr>
            <a:spLocks noChangeArrowheads="1"/>
          </p:cNvSpPr>
          <p:nvPr/>
        </p:nvSpPr>
        <p:spPr bwMode="auto">
          <a:xfrm>
            <a:off x="12700" y="14288"/>
            <a:ext cx="26876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五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的抗剪强度</a:t>
            </a:r>
          </a:p>
        </p:txBody>
      </p:sp>
      <p:sp>
        <p:nvSpPr>
          <p:cNvPr id="37896" name="Text Box 37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2622062"/>
      </p:ext>
    </p:extLst>
  </p:cSld>
  <p:clrMapOvr>
    <a:masterClrMapping/>
  </p:clrMapOvr>
  <p:transition advTm="122864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5040312"/>
          </a:xfrm>
          <a:noFill/>
        </p:spPr>
        <p:txBody>
          <a:bodyPr/>
          <a:lstStyle/>
          <a:p>
            <a:pPr marL="609600" indent="-609600" eaLnBrk="1" hangingPunct="1">
              <a:lnSpc>
                <a:spcPct val="115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b="0" dirty="0">
                <a:latin typeface="Times New Roman" pitchFamily="18" charset="0"/>
                <a:cs typeface="Times New Roman" pitchFamily="18" charset="0"/>
              </a:rPr>
              <a:t>室内试验</a:t>
            </a:r>
          </a:p>
          <a:p>
            <a:pPr marL="990600" lvl="1" indent="-533400" eaLnBrk="1" hangingPunct="1">
              <a:lnSpc>
                <a:spcPct val="115000"/>
              </a:lnSpc>
              <a:spcBef>
                <a:spcPct val="10000"/>
              </a:spcBef>
              <a:buClr>
                <a:srgbClr val="FFFF00"/>
              </a:buClr>
              <a:buFontTx/>
              <a:buAutoNum type="arabicPeriod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直剪仪：</a:t>
            </a:r>
            <a:r>
              <a:rPr lang="zh-CN" altLang="en-US" b="0" dirty="0">
                <a:latin typeface="Times New Roman" pitchFamily="18" charset="0"/>
                <a:ea typeface="黑体" pitchFamily="49" charset="-122"/>
              </a:rPr>
              <a:t>慢剪、固结快剪、快剪</a:t>
            </a: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 </a:t>
            </a:r>
          </a:p>
          <a:p>
            <a:pPr marL="990600" lvl="1" indent="-533400" eaLnBrk="1" hangingPunct="1">
              <a:lnSpc>
                <a:spcPct val="115000"/>
              </a:lnSpc>
              <a:spcBef>
                <a:spcPct val="10000"/>
              </a:spcBef>
              <a:buClr>
                <a:srgbClr val="FFFF00"/>
              </a:buClr>
              <a:buFontTx/>
              <a:buAutoNum type="arabicPeriod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三轴仪：</a:t>
            </a:r>
            <a:r>
              <a:rPr lang="zh-CN" altLang="en-US" b="0" dirty="0">
                <a:latin typeface="Times New Roman" pitchFamily="18" charset="0"/>
                <a:ea typeface="黑体" pitchFamily="49" charset="-122"/>
              </a:rPr>
              <a:t>固结排水、固结不排水、不排水</a:t>
            </a:r>
          </a:p>
          <a:p>
            <a:pPr marL="990600" lvl="1" indent="-533400" eaLnBrk="1" hangingPunct="1">
              <a:lnSpc>
                <a:spcPct val="115000"/>
              </a:lnSpc>
              <a:spcBef>
                <a:spcPct val="10000"/>
              </a:spcBef>
              <a:buClr>
                <a:srgbClr val="FFFF00"/>
              </a:buClr>
              <a:buFontTx/>
              <a:buAutoNum type="arabicPeriod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无侧限抗压仪：</a:t>
            </a:r>
            <a:r>
              <a:rPr lang="zh-CN" altLang="en-US" b="0" i="1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</a:t>
            </a:r>
            <a:r>
              <a:rPr lang="en-US" altLang="zh-CN" b="0" baseline="-2500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3</a:t>
            </a:r>
            <a:r>
              <a:rPr lang="en-US" altLang="zh-CN" b="0" i="1" baseline="-2500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 </a:t>
            </a:r>
            <a:r>
              <a:rPr lang="en-US" altLang="zh-CN" b="0" i="1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= </a:t>
            </a:r>
            <a:r>
              <a:rPr lang="en-US" altLang="zh-CN" b="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0</a:t>
            </a:r>
            <a:r>
              <a:rPr lang="zh-CN" altLang="en-US" b="0" dirty="0">
                <a:latin typeface="Times New Roman" pitchFamily="18" charset="0"/>
                <a:ea typeface="黑体" pitchFamily="49" charset="-122"/>
                <a:sym typeface="Symbol" pitchFamily="18" charset="2"/>
              </a:rPr>
              <a:t>的不排水三轴试验</a:t>
            </a:r>
            <a:endParaRPr lang="zh-CN" altLang="en-US" b="0" i="1" dirty="0">
              <a:latin typeface="Times New Roman" pitchFamily="18" charset="0"/>
              <a:ea typeface="黑体" pitchFamily="49" charset="-122"/>
              <a:sym typeface="Symbol" pitchFamily="18" charset="2"/>
            </a:endParaRPr>
          </a:p>
          <a:p>
            <a:pPr marL="990600" lvl="1" indent="-533400" eaLnBrk="1" hangingPunct="1">
              <a:lnSpc>
                <a:spcPct val="115000"/>
              </a:lnSpc>
              <a:spcBef>
                <a:spcPct val="10000"/>
              </a:spcBef>
              <a:buClr>
                <a:srgbClr val="FFFF00"/>
              </a:buClr>
              <a:buFontTx/>
              <a:buAutoNum type="arabicPeriod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其他试验</a:t>
            </a:r>
            <a:endParaRPr lang="zh-CN" altLang="en-US" sz="2400" b="0" dirty="0">
              <a:solidFill>
                <a:srgbClr val="FFFF00"/>
              </a:solidFill>
              <a:latin typeface="Times New Roman" pitchFamily="18" charset="0"/>
              <a:ea typeface="黑体" pitchFamily="49" charset="-122"/>
            </a:endParaRPr>
          </a:p>
          <a:p>
            <a:pPr marL="609600" indent="-609600" eaLnBrk="1" hangingPunct="1">
              <a:lnSpc>
                <a:spcPct val="115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b="0" dirty="0">
                <a:latin typeface="Times New Roman" pitchFamily="18" charset="0"/>
                <a:cs typeface="Times New Roman" pitchFamily="18" charset="0"/>
              </a:rPr>
              <a:t>野外测试</a:t>
            </a:r>
          </a:p>
          <a:p>
            <a:pPr marL="990600" lvl="1" indent="-533400" eaLnBrk="1" hangingPunct="1">
              <a:lnSpc>
                <a:spcPct val="115000"/>
              </a:lnSpc>
              <a:spcBef>
                <a:spcPct val="10000"/>
              </a:spcBef>
              <a:buClr>
                <a:srgbClr val="FFFF00"/>
              </a:buClr>
              <a:buFontTx/>
              <a:buAutoNum type="arabicPeriod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十字板试验：</a:t>
            </a:r>
            <a:r>
              <a:rPr lang="zh-CN" altLang="en-US" b="0" dirty="0">
                <a:latin typeface="Times New Roman" pitchFamily="18" charset="0"/>
                <a:ea typeface="黑体" pitchFamily="49" charset="-122"/>
              </a:rPr>
              <a:t>测试软黏土不排水强度指标</a:t>
            </a:r>
          </a:p>
          <a:p>
            <a:pPr marL="990600" lvl="1" indent="-533400" eaLnBrk="1" hangingPunct="1">
              <a:lnSpc>
                <a:spcPct val="115000"/>
              </a:lnSpc>
              <a:spcBef>
                <a:spcPct val="10000"/>
              </a:spcBef>
              <a:buClr>
                <a:srgbClr val="FFFF00"/>
              </a:buClr>
              <a:buFontTx/>
              <a:buAutoNum type="arabicPeriod"/>
            </a:pPr>
            <a:r>
              <a:rPr lang="zh-CN" altLang="en-US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</a:rPr>
              <a:t>其他现场试验</a:t>
            </a:r>
          </a:p>
        </p:txBody>
      </p:sp>
      <p:sp>
        <p:nvSpPr>
          <p:cNvPr id="38915" name="Rectangle 5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b="0">
                <a:latin typeface="Times New Roman" pitchFamily="18" charset="0"/>
                <a:ea typeface="楷体_GB2312" pitchFamily="49" charset="-122"/>
              </a:rPr>
              <a:t>§5.2 </a:t>
            </a:r>
            <a:r>
              <a:rPr lang="zh-CN" altLang="en-US" sz="4000" b="0">
                <a:latin typeface="Times New Roman" pitchFamily="18" charset="0"/>
                <a:ea typeface="楷体_GB2312" pitchFamily="49" charset="-122"/>
              </a:rPr>
              <a:t>土的抗剪强度的测定试验</a:t>
            </a:r>
          </a:p>
        </p:txBody>
      </p:sp>
      <p:sp>
        <p:nvSpPr>
          <p:cNvPr id="38916" name="Rectangle 6"/>
          <p:cNvSpPr>
            <a:spLocks noChangeArrowheads="1"/>
          </p:cNvSpPr>
          <p:nvPr/>
        </p:nvSpPr>
        <p:spPr bwMode="auto">
          <a:xfrm>
            <a:off x="12700" y="14288"/>
            <a:ext cx="26876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五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的抗剪强度</a:t>
            </a:r>
          </a:p>
        </p:txBody>
      </p:sp>
      <p:sp>
        <p:nvSpPr>
          <p:cNvPr id="1037319" name="Text Box 7"/>
          <p:cNvSpPr txBox="1">
            <a:spLocks noChangeArrowheads="1"/>
          </p:cNvSpPr>
          <p:nvPr/>
        </p:nvSpPr>
        <p:spPr bwMode="auto">
          <a:xfrm>
            <a:off x="3995738" y="4076700"/>
            <a:ext cx="4752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重点：不同类型三轴试验</a:t>
            </a:r>
          </a:p>
        </p:txBody>
      </p:sp>
    </p:spTree>
    <p:extLst>
      <p:ext uri="{BB962C8B-B14F-4D97-AF65-F5344CB8AC3E}">
        <p14:creationId xmlns:p14="http://schemas.microsoft.com/office/powerpoint/2010/main" val="143157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037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037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73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752975"/>
          </a:xfrm>
        </p:spPr>
        <p:txBody>
          <a:bodyPr/>
          <a:lstStyle/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一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应力路径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二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 p-q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平面上的应力路径与莫尔圆 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三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强度包线与破坏主应力线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 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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en-US" altLang="zh-C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tg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</a:t>
            </a:r>
            <a:r>
              <a:rPr lang="zh-CN" alt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；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 = c </a:t>
            </a:r>
            <a:r>
              <a:rPr lang="en-US" altLang="zh-C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cos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</a:t>
            </a:r>
            <a:endParaRPr lang="en-US" altLang="zh-CN" sz="2400" i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四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总应力路径与有效应力路径</a:t>
            </a:r>
          </a:p>
          <a:p>
            <a:pPr lvl="1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400" b="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zh-CN" altLang="en-US" sz="24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总应力状态与有效应力状态</a:t>
            </a:r>
          </a:p>
          <a:p>
            <a:pPr lvl="1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400" b="0" dirty="0">
                <a:solidFill>
                  <a:srgbClr val="FFFF00"/>
                </a:solidFill>
                <a:latin typeface="Times New Roman" pitchFamily="18" charset="0"/>
                <a:ea typeface="黑体" pitchFamily="49" charset="-122"/>
                <a:cs typeface="Times New Roman" panose="02020603050405020304" pitchFamily="18" charset="0"/>
              </a:rPr>
              <a:t>	 总应力路径与有效应力路径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五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黏性土密度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有效应力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抗剪强度的唯一性关系</a:t>
            </a:r>
          </a:p>
        </p:txBody>
      </p:sp>
      <p:sp>
        <p:nvSpPr>
          <p:cNvPr id="39939" name="AutoShape 3"/>
          <p:cNvSpPr>
            <a:spLocks noChangeArrowheads="1"/>
          </p:cNvSpPr>
          <p:nvPr/>
        </p:nvSpPr>
        <p:spPr bwMode="auto">
          <a:xfrm>
            <a:off x="5436096" y="3573016"/>
            <a:ext cx="3243660" cy="1224409"/>
          </a:xfrm>
          <a:prstGeom prst="cloudCallout">
            <a:avLst>
              <a:gd name="adj1" fmla="val -59561"/>
              <a:gd name="adj2" fmla="val 52444"/>
            </a:avLst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应力莫尔圆平移</a:t>
            </a:r>
          </a:p>
        </p:txBody>
      </p:sp>
      <p:sp>
        <p:nvSpPr>
          <p:cNvPr id="39940" name="AutoShape 5"/>
          <p:cNvSpPr>
            <a:spLocks noChangeArrowheads="1"/>
          </p:cNvSpPr>
          <p:nvPr/>
        </p:nvSpPr>
        <p:spPr bwMode="auto">
          <a:xfrm>
            <a:off x="5651500" y="4941888"/>
            <a:ext cx="3171825" cy="701675"/>
          </a:xfrm>
          <a:prstGeom prst="cloudCallout">
            <a:avLst>
              <a:gd name="adj1" fmla="val -66917"/>
              <a:gd name="adj2" fmla="val 11981"/>
            </a:avLst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应力点平移</a:t>
            </a:r>
          </a:p>
        </p:txBody>
      </p:sp>
      <p:sp>
        <p:nvSpPr>
          <p:cNvPr id="39941" name="Rectangle 7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altLang="zh-CN" b="0">
                <a:latin typeface="Times New Roman" pitchFamily="18" charset="0"/>
                <a:ea typeface="楷体_GB2312" pitchFamily="49" charset="-122"/>
              </a:rPr>
              <a:t>§5.3  </a:t>
            </a:r>
            <a:r>
              <a:rPr lang="zh-CN" altLang="en-US" sz="4000" b="0">
                <a:latin typeface="Times New Roman" pitchFamily="18" charset="0"/>
                <a:ea typeface="楷体_GB2312" pitchFamily="49" charset="-122"/>
              </a:rPr>
              <a:t>应力路径与破坏主应力线</a:t>
            </a:r>
          </a:p>
        </p:txBody>
      </p:sp>
      <p:sp>
        <p:nvSpPr>
          <p:cNvPr id="39942" name="Rectangle 8"/>
          <p:cNvSpPr>
            <a:spLocks noChangeArrowheads="1"/>
          </p:cNvSpPr>
          <p:nvPr/>
        </p:nvSpPr>
        <p:spPr bwMode="auto">
          <a:xfrm>
            <a:off x="12700" y="14288"/>
            <a:ext cx="26876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五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的抗剪强度</a:t>
            </a:r>
          </a:p>
        </p:txBody>
      </p:sp>
    </p:spTree>
    <p:extLst>
      <p:ext uri="{BB962C8B-B14F-4D97-AF65-F5344CB8AC3E}">
        <p14:creationId xmlns:p14="http://schemas.microsoft.com/office/powerpoint/2010/main" val="1603515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84313"/>
            <a:ext cx="8435975" cy="5257800"/>
          </a:xfrm>
          <a:noFill/>
        </p:spPr>
        <p:txBody>
          <a:bodyPr/>
          <a:lstStyle/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一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总应力指标与有效应力指标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二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三轴试验强度指标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endParaRPr lang="zh-CN" altLang="en-US" dirty="0">
              <a:ea typeface="楷体_GB2312" pitchFamily="49" charset="-122"/>
            </a:endParaRP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三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直剪试验强度指标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endParaRPr lang="zh-CN" altLang="en-US" dirty="0">
              <a:ea typeface="楷体_GB2312" pitchFamily="49" charset="-122"/>
            </a:endParaRP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四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土的强度指标的工程应用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dirty="0">
                <a:ea typeface="楷体_GB2312" pitchFamily="49" charset="-122"/>
              </a:rPr>
              <a:t>         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一般采用峰值强度；大变形问题采用残余强度</a:t>
            </a:r>
          </a:p>
          <a:p>
            <a:pPr marL="711200" indent="-711200" eaLnBrk="1" hangingPunct="1"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不同现场地基情况与施工条件</a:t>
            </a:r>
          </a:p>
        </p:txBody>
      </p:sp>
      <p:sp>
        <p:nvSpPr>
          <p:cNvPr id="40963" name="Rectangle 5"/>
          <p:cNvSpPr>
            <a:spLocks noChangeArrowheads="1"/>
          </p:cNvSpPr>
          <p:nvPr/>
        </p:nvSpPr>
        <p:spPr bwMode="auto">
          <a:xfrm>
            <a:off x="1403350" y="2852738"/>
            <a:ext cx="1506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</a:pPr>
            <a:r>
              <a:rPr lang="en-US" altLang="zh-CN" i="1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lang="en-US" altLang="zh-CN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en-US" i="1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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d</a:t>
            </a:r>
            <a:endParaRPr lang="en-US" altLang="zh-CN" dirty="0">
              <a:solidFill>
                <a:srgbClr val="FFFF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40964" name="Rectangle 6"/>
          <p:cNvSpPr>
            <a:spLocks noChangeArrowheads="1"/>
          </p:cNvSpPr>
          <p:nvPr/>
        </p:nvSpPr>
        <p:spPr bwMode="auto">
          <a:xfrm>
            <a:off x="6451600" y="2852738"/>
            <a:ext cx="2224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</a:pPr>
            <a:r>
              <a:rPr lang="en-US" altLang="zh-CN" i="1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en-US" i="1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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=0</a:t>
            </a:r>
            <a:endParaRPr lang="en-US" altLang="zh-CN" dirty="0">
              <a:solidFill>
                <a:srgbClr val="FFFF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40965" name="Rectangle 7"/>
          <p:cNvSpPr>
            <a:spLocks noChangeArrowheads="1"/>
          </p:cNvSpPr>
          <p:nvPr/>
        </p:nvSpPr>
        <p:spPr bwMode="auto">
          <a:xfrm>
            <a:off x="3203575" y="2852738"/>
            <a:ext cx="3248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</a:pPr>
            <a:r>
              <a:rPr lang="en-US" altLang="zh-CN" i="1" dirty="0" err="1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aseline="-25000" dirty="0" err="1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cu</a:t>
            </a:r>
            <a:r>
              <a:rPr lang="en-US" altLang="zh-CN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en-US" i="1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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cu</a:t>
            </a:r>
            <a:r>
              <a:rPr lang="en-US" altLang="zh-CN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;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i="1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, </a:t>
            </a:r>
            <a:r>
              <a:rPr lang="zh-CN" altLang="en-US" i="1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</a:t>
            </a:r>
            <a:r>
              <a:rPr lang="zh-CN" altLang="en-US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</a:t>
            </a:r>
          </a:p>
        </p:txBody>
      </p:sp>
      <p:sp>
        <p:nvSpPr>
          <p:cNvPr id="40966" name="Rectangle 8"/>
          <p:cNvSpPr>
            <a:spLocks noChangeArrowheads="1"/>
          </p:cNvSpPr>
          <p:nvPr/>
        </p:nvSpPr>
        <p:spPr bwMode="auto">
          <a:xfrm>
            <a:off x="1403350" y="4148138"/>
            <a:ext cx="1506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</a:pPr>
            <a:r>
              <a:rPr lang="en-US" altLang="zh-CN" i="1" dirty="0" err="1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aseline="-25000" dirty="0" err="1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 ,</a:t>
            </a:r>
            <a:r>
              <a:rPr lang="zh-CN" altLang="en-US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zh-CN" altLang="en-US" i="1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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s</a:t>
            </a:r>
            <a:endParaRPr lang="en-US" altLang="zh-CN" dirty="0">
              <a:solidFill>
                <a:srgbClr val="FFFF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40967" name="Rectangle 9"/>
          <p:cNvSpPr>
            <a:spLocks noChangeArrowheads="1"/>
          </p:cNvSpPr>
          <p:nvPr/>
        </p:nvSpPr>
        <p:spPr bwMode="auto">
          <a:xfrm>
            <a:off x="5292725" y="4148138"/>
            <a:ext cx="15843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</a:pPr>
            <a:r>
              <a:rPr lang="en-US" altLang="zh-CN" i="1" dirty="0" err="1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aseline="-25000" dirty="0" err="1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q</a:t>
            </a:r>
            <a:r>
              <a:rPr lang="en-US" altLang="zh-CN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 ,</a:t>
            </a:r>
            <a:r>
              <a:rPr lang="zh-CN" altLang="en-US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zh-CN" altLang="en-US" i="1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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q</a:t>
            </a:r>
            <a:endParaRPr lang="en-US" altLang="zh-CN" dirty="0">
              <a:solidFill>
                <a:srgbClr val="FFFF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40968" name="Rectangle 10"/>
          <p:cNvSpPr>
            <a:spLocks noChangeArrowheads="1"/>
          </p:cNvSpPr>
          <p:nvPr/>
        </p:nvSpPr>
        <p:spPr bwMode="auto">
          <a:xfrm>
            <a:off x="3203575" y="4148138"/>
            <a:ext cx="18002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10000"/>
              </a:spcBef>
              <a:spcAft>
                <a:spcPct val="10000"/>
              </a:spcAft>
              <a:buClrTx/>
              <a:buSzTx/>
              <a:buFontTx/>
              <a:buNone/>
            </a:pPr>
            <a:r>
              <a:rPr lang="en-US" altLang="zh-CN" i="1" dirty="0" err="1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aseline="-25000" dirty="0" err="1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cq</a:t>
            </a:r>
            <a:r>
              <a:rPr lang="en-US" altLang="zh-CN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 ,</a:t>
            </a:r>
            <a:r>
              <a:rPr lang="zh-CN" altLang="en-US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zh-CN" altLang="en-US" i="1" dirty="0">
                <a:solidFill>
                  <a:srgbClr val="FFFF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</a:t>
            </a:r>
            <a:r>
              <a:rPr lang="en-US" altLang="zh-CN" baseline="-25000" dirty="0" err="1">
                <a:solidFill>
                  <a:srgbClr val="FFFF00"/>
                </a:solidFill>
                <a:latin typeface="Times New Roman" pitchFamily="18" charset="0"/>
                <a:ea typeface="宋体" pitchFamily="2" charset="-122"/>
              </a:rPr>
              <a:t>cq</a:t>
            </a:r>
            <a:endParaRPr lang="en-US" altLang="zh-CN" dirty="0">
              <a:solidFill>
                <a:srgbClr val="FFFF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40969" name="Rectangle 11"/>
          <p:cNvSpPr>
            <a:spLocks noChangeArrowheads="1"/>
          </p:cNvSpPr>
          <p:nvPr/>
        </p:nvSpPr>
        <p:spPr bwMode="auto">
          <a:xfrm>
            <a:off x="277813" y="274638"/>
            <a:ext cx="868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lnSpc>
                <a:spcPct val="150000"/>
              </a:lnSpc>
              <a:spcAft>
                <a:spcPct val="20000"/>
              </a:spcAft>
              <a:buClrTx/>
              <a:buSzTx/>
              <a:buFontTx/>
              <a:buNone/>
            </a:pPr>
            <a:r>
              <a:rPr lang="en-US" altLang="zh-CN" sz="4400" b="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§5.4  </a:t>
            </a:r>
            <a:r>
              <a:rPr lang="zh-CN" altLang="en-US" sz="4000" b="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土的抗剪强度指标</a:t>
            </a:r>
          </a:p>
        </p:txBody>
      </p:sp>
      <p:sp>
        <p:nvSpPr>
          <p:cNvPr id="40970" name="Rectangle 12"/>
          <p:cNvSpPr>
            <a:spLocks noChangeArrowheads="1"/>
          </p:cNvSpPr>
          <p:nvPr/>
        </p:nvSpPr>
        <p:spPr bwMode="auto">
          <a:xfrm>
            <a:off x="12700" y="14288"/>
            <a:ext cx="26876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五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的抗剪强度</a:t>
            </a:r>
          </a:p>
        </p:txBody>
      </p:sp>
      <p:sp>
        <p:nvSpPr>
          <p:cNvPr id="40971" name="Text Box 14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</p:spTree>
    <p:extLst>
      <p:ext uri="{BB962C8B-B14F-4D97-AF65-F5344CB8AC3E}">
        <p14:creationId xmlns:p14="http://schemas.microsoft.com/office/powerpoint/2010/main" val="1282319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424862" cy="4968875"/>
          </a:xfrm>
          <a:noFill/>
        </p:spPr>
        <p:txBody>
          <a:bodyPr/>
          <a:lstStyle/>
          <a:p>
            <a:pPr marL="1066800" lvl="1" indent="-6096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b="0">
                <a:solidFill>
                  <a:srgbClr val="FFFF00"/>
                </a:solidFill>
                <a:latin typeface="幼圆" pitchFamily="49" charset="-122"/>
              </a:rPr>
              <a:t>砂土液化及液化机理：</a:t>
            </a:r>
          </a:p>
          <a:p>
            <a:pPr marL="1066800" lvl="1" indent="-6096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b="0">
                <a:solidFill>
                  <a:srgbClr val="FFFF00"/>
                </a:solidFill>
                <a:latin typeface="幼圆" pitchFamily="49" charset="-122"/>
              </a:rPr>
              <a:t>	</a:t>
            </a:r>
            <a:r>
              <a:rPr lang="zh-CN" altLang="en-US" b="0">
                <a:latin typeface="黑体" pitchFamily="49" charset="-122"/>
                <a:ea typeface="黑体" pitchFamily="49" charset="-122"/>
              </a:rPr>
              <a:t>孔压急剧升高；瞬间丧失承载能力</a:t>
            </a:r>
          </a:p>
          <a:p>
            <a:pPr marL="1066800" lvl="1" indent="-6096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b="0">
                <a:solidFill>
                  <a:srgbClr val="FFFF00"/>
                </a:solidFill>
                <a:latin typeface="幼圆" pitchFamily="49" charset="-122"/>
              </a:rPr>
              <a:t>影响砂土液化的因素：</a:t>
            </a:r>
          </a:p>
          <a:p>
            <a:pPr marL="1066800" lvl="1" indent="-6096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b="0">
                <a:ea typeface="华文新魏" pitchFamily="2" charset="-122"/>
              </a:rPr>
              <a:t>	</a:t>
            </a:r>
            <a:r>
              <a:rPr lang="zh-CN" altLang="en-US" b="0">
                <a:latin typeface="黑体" pitchFamily="49" charset="-122"/>
                <a:ea typeface="黑体" pitchFamily="49" charset="-122"/>
              </a:rPr>
              <a:t>饱和度、组成、状态、结构等；粉细砂、粉土</a:t>
            </a:r>
          </a:p>
          <a:p>
            <a:pPr marL="1066800" lvl="1" indent="-6096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b="0">
                <a:solidFill>
                  <a:srgbClr val="FFFF00"/>
                </a:solidFill>
                <a:latin typeface="幼圆" pitchFamily="49" charset="-122"/>
              </a:rPr>
              <a:t>砂土液化的工程防治：</a:t>
            </a:r>
            <a:r>
              <a:rPr lang="zh-CN" altLang="en-US" b="0">
                <a:latin typeface="Times New Roman" pitchFamily="18" charset="0"/>
                <a:ea typeface="黑体" pitchFamily="49" charset="-122"/>
              </a:rPr>
              <a:t>加固、围封、桩</a:t>
            </a:r>
            <a:r>
              <a:rPr lang="en-US" altLang="zh-CN" b="0">
                <a:latin typeface="Times New Roman" pitchFamily="18" charset="0"/>
                <a:ea typeface="黑体" pitchFamily="49" charset="-122"/>
              </a:rPr>
              <a:t>/</a:t>
            </a:r>
            <a:r>
              <a:rPr lang="zh-CN" altLang="en-US" b="0">
                <a:latin typeface="Times New Roman" pitchFamily="18" charset="0"/>
                <a:ea typeface="黑体" pitchFamily="49" charset="-122"/>
              </a:rPr>
              <a:t>深基础</a:t>
            </a:r>
          </a:p>
        </p:txBody>
      </p:sp>
      <p:sp>
        <p:nvSpPr>
          <p:cNvPr id="41987" name="Rectangle 5"/>
          <p:cNvSpPr>
            <a:spLocks noChangeArrowheads="1"/>
          </p:cNvSpPr>
          <p:nvPr/>
        </p:nvSpPr>
        <p:spPr bwMode="auto">
          <a:xfrm>
            <a:off x="277813" y="274638"/>
            <a:ext cx="868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lnSpc>
                <a:spcPct val="150000"/>
              </a:lnSpc>
              <a:spcAft>
                <a:spcPct val="20000"/>
              </a:spcAft>
              <a:buClrTx/>
              <a:buSzTx/>
              <a:buFontTx/>
              <a:buNone/>
            </a:pPr>
            <a:r>
              <a:rPr lang="en-US" altLang="zh-CN" sz="4400" b="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§5.5  </a:t>
            </a:r>
            <a:r>
              <a:rPr lang="zh-CN" altLang="en-US" sz="4000" b="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土的动强度与砂土的振动液化</a:t>
            </a:r>
          </a:p>
        </p:txBody>
      </p:sp>
      <p:sp>
        <p:nvSpPr>
          <p:cNvPr id="41988" name="Rectangle 6"/>
          <p:cNvSpPr>
            <a:spLocks noChangeArrowheads="1"/>
          </p:cNvSpPr>
          <p:nvPr/>
        </p:nvSpPr>
        <p:spPr bwMode="auto">
          <a:xfrm>
            <a:off x="12700" y="14288"/>
            <a:ext cx="26876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五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的抗剪强度</a:t>
            </a:r>
          </a:p>
        </p:txBody>
      </p:sp>
    </p:spTree>
    <p:extLst>
      <p:ext uri="{BB962C8B-B14F-4D97-AF65-F5344CB8AC3E}">
        <p14:creationId xmlns:p14="http://schemas.microsoft.com/office/powerpoint/2010/main" val="2279507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274638"/>
            <a:ext cx="8686800" cy="1143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第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五</a:t>
            </a:r>
            <a:r>
              <a:rPr lang="zh-CN" altLang="zh-CN" sz="4000" b="0">
                <a:latin typeface="黑体" pitchFamily="49" charset="-122"/>
                <a:ea typeface="黑体" pitchFamily="49" charset="-122"/>
              </a:rPr>
              <a:t>章 土</a:t>
            </a:r>
            <a:r>
              <a:rPr lang="zh-CN" altLang="en-US" sz="4000" b="0">
                <a:latin typeface="黑体" pitchFamily="49" charset="-122"/>
                <a:ea typeface="黑体" pitchFamily="49" charset="-122"/>
              </a:rPr>
              <a:t>的抗剪强度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9000" y="1412875"/>
            <a:ext cx="7859713" cy="4968875"/>
          </a:xfrm>
          <a:noFill/>
        </p:spPr>
        <p:txBody>
          <a:bodyPr/>
          <a:lstStyle/>
          <a:p>
            <a:pPr marL="711200" indent="-711200" eaLnBrk="1" hangingPunct="1">
              <a:buFont typeface="Wingdings" pitchFamily="2" charset="2"/>
              <a:buNone/>
            </a:pPr>
            <a:r>
              <a:rPr lang="zh-CN" altLang="en-US" b="0" dirty="0">
                <a:latin typeface="黑体" pitchFamily="49" charset="-122"/>
                <a:ea typeface="黑体" pitchFamily="49" charset="-122"/>
              </a:rPr>
              <a:t>重点：</a:t>
            </a:r>
          </a:p>
          <a:p>
            <a:pPr marL="711200" indent="-711200" eaLnBrk="1" hangingPunct="1">
              <a:buFont typeface="Wingdings" pitchFamily="2" charset="2"/>
              <a:buNone/>
            </a:pPr>
            <a:r>
              <a:rPr lang="zh-CN" altLang="en-US" sz="2800" b="0" dirty="0">
                <a:latin typeface="黑体" pitchFamily="49" charset="-122"/>
                <a:ea typeface="黑体" pitchFamily="49" charset="-122"/>
              </a:rPr>
              <a:t>	莫尔－库仑强度理论</a:t>
            </a:r>
          </a:p>
          <a:p>
            <a:pPr marL="711200" indent="-711200" eaLnBrk="1" hangingPunct="1"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库仑公式，强度指标</a:t>
            </a:r>
          </a:p>
          <a:p>
            <a:pPr marL="711200" indent="-711200" eaLnBrk="1" hangingPunct="1"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极限平衡条件</a:t>
            </a:r>
          </a:p>
          <a:p>
            <a:pPr marL="711200" indent="-711200" eaLnBrk="1" hangingPunct="1"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强度包线与破坏主应力线</a:t>
            </a:r>
          </a:p>
          <a:p>
            <a:pPr marL="711200" indent="-711200" eaLnBrk="1" hangingPunct="1">
              <a:buFont typeface="Wingdings" pitchFamily="2" charset="2"/>
              <a:buNone/>
            </a:pPr>
            <a:r>
              <a:rPr lang="zh-CN" altLang="en-US" sz="2800" b="0" dirty="0">
                <a:latin typeface="Times New Roman" pitchFamily="18" charset="0"/>
                <a:ea typeface="黑体" pitchFamily="49" charset="-122"/>
              </a:rPr>
              <a:t>	总应力指标与有效应力指标</a:t>
            </a:r>
          </a:p>
          <a:p>
            <a:pPr marL="711200" indent="-711200" eaLnBrk="1" hangingPunct="1">
              <a:buFont typeface="Wingdings" pitchFamily="2" charset="2"/>
              <a:buNone/>
            </a:pPr>
            <a:r>
              <a:rPr lang="zh-CN" altLang="en-US" sz="2800" b="0" dirty="0">
                <a:latin typeface="Times New Roman" pitchFamily="18" charset="0"/>
                <a:ea typeface="华文新魏" pitchFamily="2" charset="-122"/>
              </a:rPr>
              <a:t>		</a:t>
            </a: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莫尔圆与应力路径</a:t>
            </a:r>
          </a:p>
          <a:p>
            <a:pPr marL="711200" indent="-711200" eaLnBrk="1" hangingPunct="1"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		强度指标：三轴试验强度指标间的关系</a:t>
            </a:r>
          </a:p>
          <a:p>
            <a:pPr marL="711200" indent="-711200" eaLnBrk="1" hangingPunct="1">
              <a:buFont typeface="Wingdings" pitchFamily="2" charset="2"/>
              <a:buNone/>
            </a:pP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			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CD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CU</a:t>
            </a:r>
            <a:r>
              <a:rPr lang="zh-CN" altLang="en-US" sz="2800" b="0" dirty="0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800" b="0" dirty="0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UU</a:t>
            </a:r>
            <a:r>
              <a:rPr lang="en-US" altLang="zh-CN" sz="2800" b="0" dirty="0">
                <a:latin typeface="Times New Roman" pitchFamily="18" charset="0"/>
                <a:ea typeface="华文新魏" pitchFamily="2" charset="-122"/>
              </a:rPr>
              <a:t>	</a:t>
            </a:r>
            <a:endParaRPr lang="en-US" altLang="zh-CN" sz="2800" b="0" dirty="0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12700" y="14288"/>
            <a:ext cx="2687638" cy="396875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五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章 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zh-CN" altLang="zh-CN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土</a:t>
            </a:r>
            <a:r>
              <a:rPr lang="zh-CN" altLang="en-US" sz="2000" b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的抗剪强度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5475"/>
      </p:ext>
    </p:extLst>
  </p:cSld>
  <p:clrMapOvr>
    <a:masterClrMapping/>
  </p:clrMapOvr>
  <p:transition advTm="44816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7925" y="1671638"/>
            <a:ext cx="7642225" cy="4278094"/>
          </a:xfrm>
          <a:noFill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§6.1  </a:t>
            </a:r>
            <a:r>
              <a:rPr lang="zh-CN" altLang="en-US" dirty="0">
                <a:ea typeface="楷体_GB2312" pitchFamily="49" charset="-122"/>
              </a:rPr>
              <a:t>概述 </a:t>
            </a:r>
            <a:r>
              <a:rPr lang="en-US" altLang="zh-CN" dirty="0">
                <a:ea typeface="楷体_GB2312" pitchFamily="49" charset="-122"/>
              </a:rPr>
              <a:t>- </a:t>
            </a:r>
            <a:r>
              <a:rPr lang="zh-CN" altLang="en-US" dirty="0">
                <a:ea typeface="楷体_GB2312" pitchFamily="49" charset="-122"/>
              </a:rPr>
              <a:t>挡土结构物及土压力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§6.2  </a:t>
            </a:r>
            <a:r>
              <a:rPr lang="zh-CN" altLang="en-US" dirty="0">
                <a:ea typeface="楷体_GB2312" pitchFamily="49" charset="-122"/>
              </a:rPr>
              <a:t>静止土压力计算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§6.3  </a:t>
            </a:r>
            <a:r>
              <a:rPr lang="zh-CN" altLang="en-US" dirty="0">
                <a:ea typeface="楷体_GB2312" pitchFamily="49" charset="-122"/>
              </a:rPr>
              <a:t>朗肯土压力理论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§6.4  </a:t>
            </a:r>
            <a:r>
              <a:rPr lang="zh-CN" altLang="en-US" dirty="0">
                <a:ea typeface="楷体_GB2312" pitchFamily="49" charset="-122"/>
              </a:rPr>
              <a:t>库仑土压力理论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§6.5  </a:t>
            </a:r>
            <a:r>
              <a:rPr lang="zh-CN" altLang="en-US" dirty="0">
                <a:ea typeface="楷体_GB2312" pitchFamily="49" charset="-122"/>
              </a:rPr>
              <a:t>两种土压力理论的比较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§6.6  </a:t>
            </a:r>
            <a:r>
              <a:rPr lang="zh-CN" altLang="en-US" dirty="0">
                <a:ea typeface="楷体_GB2312" pitchFamily="49" charset="-122"/>
              </a:rPr>
              <a:t>几种常见的主动土压力计算</a:t>
            </a:r>
          </a:p>
        </p:txBody>
      </p:sp>
      <p:sp>
        <p:nvSpPr>
          <p:cNvPr id="4" name="Text Box 29"/>
          <p:cNvSpPr txBox="1">
            <a:spLocks noChangeArrowheads="1"/>
          </p:cNvSpPr>
          <p:nvPr/>
        </p:nvSpPr>
        <p:spPr bwMode="auto">
          <a:xfrm>
            <a:off x="575717" y="568424"/>
            <a:ext cx="799256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4000" b="0">
                <a:latin typeface="黑体" pitchFamily="49" charset="-122"/>
                <a:ea typeface="黑体" pitchFamily="49" charset="-122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9pPr>
          </a:lstStyle>
          <a:p>
            <a:r>
              <a:rPr lang="zh-CN" altLang="en-US" dirty="0"/>
              <a:t>第六章 </a:t>
            </a:r>
            <a:r>
              <a:rPr lang="zh-CN" altLang="en-US" dirty="0">
                <a:sym typeface="Symbol" pitchFamily="18" charset="2"/>
              </a:rPr>
              <a:t>挡土结构物上的土压力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60054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457200" y="338306"/>
            <a:ext cx="8229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§6.1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概述 </a:t>
            </a: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-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挡土结构物及土压力</a:t>
            </a:r>
          </a:p>
        </p:txBody>
      </p:sp>
      <p:sp>
        <p:nvSpPr>
          <p:cNvPr id="37895" name="Rectangle 36"/>
          <p:cNvSpPr>
            <a:spLocks noChangeArrowheads="1"/>
          </p:cNvSpPr>
          <p:nvPr/>
        </p:nvSpPr>
        <p:spPr bwMode="auto">
          <a:xfrm>
            <a:off x="12700" y="14288"/>
            <a:ext cx="3911228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第六章 挡土结构物上的土压力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641109" y="1755809"/>
            <a:ext cx="4117488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200000"/>
              </a:lnSpc>
              <a:buClr>
                <a:srgbClr val="A50021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幼圆" pitchFamily="49" charset="-122"/>
              </a:rPr>
              <a:t> 挡土墙及应用</a:t>
            </a:r>
          </a:p>
          <a:p>
            <a:pPr marL="342900" indent="-342900" eaLnBrk="1" hangingPunct="1">
              <a:lnSpc>
                <a:spcPct val="200000"/>
              </a:lnSpc>
              <a:buClr>
                <a:srgbClr val="A50021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幼圆" pitchFamily="49" charset="-122"/>
              </a:rPr>
              <a:t> 挡土墙类型及土压力分布</a:t>
            </a:r>
            <a:endParaRPr lang="en-US" altLang="zh-CN" sz="2400" b="1" dirty="0">
              <a:ea typeface="幼圆" pitchFamily="49" charset="-122"/>
            </a:endParaRPr>
          </a:p>
          <a:p>
            <a:pPr marL="342900" indent="-342900" eaLnBrk="1" hangingPunct="1">
              <a:lnSpc>
                <a:spcPct val="200000"/>
              </a:lnSpc>
              <a:buClr>
                <a:srgbClr val="A50021"/>
              </a:buClr>
              <a:buFont typeface="Wingdings" panose="05000000000000000000" pitchFamily="2" charset="2"/>
              <a:buChar char="l"/>
            </a:pPr>
            <a:endParaRPr lang="zh-CN" altLang="en-US" sz="2400" b="1" dirty="0">
              <a:ea typeface="幼圆" pitchFamily="49" charset="-122"/>
            </a:endParaRPr>
          </a:p>
          <a:p>
            <a:pPr marL="342900" indent="-342900" eaLnBrk="1" hangingPunct="1">
              <a:lnSpc>
                <a:spcPct val="200000"/>
              </a:lnSpc>
              <a:buClr>
                <a:srgbClr val="A50021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幼圆" pitchFamily="49" charset="-122"/>
              </a:rPr>
              <a:t> 墙体位移与土压力状态</a:t>
            </a: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971600" y="5750385"/>
            <a:ext cx="600660" cy="620713"/>
          </a:xfrm>
          <a:prstGeom prst="homePlate">
            <a:avLst>
              <a:gd name="adj" fmla="val 3363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707198" y="5805264"/>
            <a:ext cx="24689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ea typeface="幼圆" pitchFamily="49" charset="-122"/>
              </a:rPr>
              <a:t>本章核心问题</a:t>
            </a:r>
            <a:r>
              <a:rPr lang="en-US" altLang="zh-CN" sz="2800" b="1" dirty="0">
                <a:ea typeface="幼圆" pitchFamily="49" charset="-122"/>
              </a:rPr>
              <a:t>: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183743" y="5813201"/>
            <a:ext cx="37963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FF00"/>
                </a:solidFill>
                <a:ea typeface="幼圆" pitchFamily="49" charset="-122"/>
              </a:rPr>
              <a:t>三种状态土压力的计算</a:t>
            </a:r>
            <a:endParaRPr lang="en-US" altLang="zh-CN" sz="2800" b="1" dirty="0">
              <a:solidFill>
                <a:srgbClr val="FFFF00"/>
              </a:solidFill>
              <a:ea typeface="幼圆" pitchFamily="49" charset="-122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4678958" y="2475254"/>
            <a:ext cx="2203865" cy="1312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刚性挡土墙</a:t>
            </a:r>
            <a:endParaRPr lang="en-US" altLang="zh-CN" sz="2200" b="1" dirty="0">
              <a:solidFill>
                <a:srgbClr val="FFFF00"/>
              </a:solidFill>
              <a:ea typeface="幼圆" pitchFamily="49" charset="-122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柔性挡土墙</a:t>
            </a:r>
            <a:endParaRPr lang="en-US" altLang="zh-CN" sz="2200" b="1" dirty="0">
              <a:solidFill>
                <a:srgbClr val="FFFF00"/>
              </a:solidFill>
              <a:ea typeface="幼圆" pitchFamily="49" charset="-122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加筋挡土墙</a:t>
            </a: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4697715" y="4155849"/>
            <a:ext cx="2607138" cy="1312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静止土压力 </a:t>
            </a:r>
            <a:r>
              <a:rPr lang="en-US" altLang="zh-CN" sz="2200" b="1" i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E</a:t>
            </a:r>
            <a:r>
              <a:rPr lang="en-US" altLang="zh-CN" sz="2200" b="1" baseline="-25000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0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主动土压力 </a:t>
            </a:r>
            <a:r>
              <a:rPr lang="en-US" altLang="zh-CN" sz="2200" b="1" i="1" dirty="0" err="1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E</a:t>
            </a:r>
            <a:r>
              <a:rPr lang="en-US" altLang="zh-CN" sz="2200" b="1" baseline="-25000" dirty="0" err="1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a</a:t>
            </a:r>
            <a:endParaRPr lang="en-US" altLang="zh-CN" sz="2200" b="1" baseline="-25000" dirty="0">
              <a:solidFill>
                <a:srgbClr val="FFFF00"/>
              </a:solidFill>
              <a:ea typeface="幼圆" pitchFamily="49" charset="-122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被动土压力 </a:t>
            </a:r>
            <a:r>
              <a:rPr lang="en-US" altLang="zh-CN" sz="2200" b="1" i="1" dirty="0" err="1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E</a:t>
            </a:r>
            <a:r>
              <a:rPr lang="en-US" altLang="zh-CN" sz="2200" b="1" baseline="-25000" dirty="0" err="1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p</a:t>
            </a:r>
            <a:endParaRPr lang="zh-CN" altLang="en-US" sz="2200" b="1" baseline="-25000" dirty="0">
              <a:solidFill>
                <a:srgbClr val="FFFF00"/>
              </a:solidFill>
              <a:ea typeface="幼圆" pitchFamily="49" charset="-122"/>
              <a:sym typeface="Symbol" pitchFamily="18" charset="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1182365"/>
      </p:ext>
    </p:extLst>
  </p:cSld>
  <p:clrMapOvr>
    <a:masterClrMapping/>
  </p:clrMapOvr>
  <p:transition advTm="122864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06488" y="568286"/>
            <a:ext cx="613102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§6.2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静止土压力计算</a:t>
            </a:r>
          </a:p>
        </p:txBody>
      </p:sp>
      <p:sp>
        <p:nvSpPr>
          <p:cNvPr id="3" name="Rectangle 36"/>
          <p:cNvSpPr>
            <a:spLocks noChangeArrowheads="1"/>
          </p:cNvSpPr>
          <p:nvPr/>
        </p:nvSpPr>
        <p:spPr bwMode="auto">
          <a:xfrm>
            <a:off x="12700" y="14288"/>
            <a:ext cx="3911228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第六章 挡土结构物上的土压力</a:t>
            </a:r>
          </a:p>
        </p:txBody>
      </p:sp>
      <p:sp>
        <p:nvSpPr>
          <p:cNvPr id="4" name="Text Box 46"/>
          <p:cNvSpPr txBox="1">
            <a:spLocks noChangeArrowheads="1"/>
          </p:cNvSpPr>
          <p:nvPr/>
        </p:nvSpPr>
        <p:spPr bwMode="auto">
          <a:xfrm>
            <a:off x="539552" y="1988840"/>
            <a:ext cx="35178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200000"/>
              </a:lnSpc>
              <a:buClr>
                <a:srgbClr val="A50021"/>
              </a:buClr>
              <a:buFont typeface="Wingdings" pitchFamily="2" charset="2"/>
              <a:buChar char="n"/>
              <a:defRPr sz="2400" b="1"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 发生条件</a:t>
            </a:r>
          </a:p>
        </p:txBody>
      </p:sp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539552" y="3759423"/>
            <a:ext cx="19668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buClr>
                <a:srgbClr val="A50021"/>
              </a:buClr>
              <a:buFont typeface="Wingdings" pitchFamily="2" charset="2"/>
              <a:buChar char="n"/>
              <a:defRPr sz="2400" b="1"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 基本方法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771800" y="1556792"/>
            <a:ext cx="3637458" cy="1633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挡土墙和土体几乎不动，土体处于弹性平衡状态</a:t>
            </a:r>
            <a:endParaRPr lang="en-US" altLang="zh-CN" sz="2200" b="1" dirty="0">
              <a:solidFill>
                <a:srgbClr val="FFFF00"/>
              </a:solidFill>
              <a:ea typeface="幼圆" pitchFamily="49" charset="-122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土体相当于侧限状态下天然地基土的应力状态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771800" y="3429000"/>
            <a:ext cx="4896544" cy="2734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静止土压力强度</a:t>
            </a:r>
          </a:p>
          <a:p>
            <a:pPr eaLnBrk="1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静止土压力系数</a:t>
            </a:r>
            <a:br>
              <a:rPr lang="en-US" altLang="zh-CN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</a:br>
            <a:br>
              <a:rPr lang="en-US" altLang="zh-CN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</a:b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经验公式（砂土和正常固结黏土）</a:t>
            </a:r>
            <a:endParaRPr lang="en-US" altLang="zh-CN" sz="2200" b="1" dirty="0">
              <a:solidFill>
                <a:srgbClr val="FFFF00"/>
              </a:solidFill>
              <a:ea typeface="幼圆" pitchFamily="49" charset="-122"/>
              <a:sym typeface="Symbol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总静止土压力大小和作用点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4077072"/>
            <a:ext cx="1048434" cy="646153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3501008"/>
            <a:ext cx="1991720" cy="441944"/>
          </a:xfrm>
          <a:prstGeom prst="rect">
            <a:avLst/>
          </a:prstGeom>
          <a:solidFill>
            <a:schemeClr val="tx1"/>
          </a:solidFill>
        </p:spPr>
      </p:pic>
      <p:graphicFrame>
        <p:nvGraphicFramePr>
          <p:cNvPr id="1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662737"/>
              </p:ext>
            </p:extLst>
          </p:nvPr>
        </p:nvGraphicFramePr>
        <p:xfrm>
          <a:off x="7586538" y="5085184"/>
          <a:ext cx="13779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7320" imgH="215640" progId="Equation.DSMT4">
                  <p:embed/>
                </p:oleObj>
              </mc:Choice>
              <mc:Fallback>
                <p:oleObj name="Equation" r:id="rId4" imgW="787320" imgH="215640" progId="Equation.DSMT4">
                  <p:embed/>
                  <p:pic>
                    <p:nvPicPr>
                      <p:cNvPr id="8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6538" y="5085184"/>
                        <a:ext cx="1377950" cy="3794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8286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85764" y="568286"/>
            <a:ext cx="597666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§6.3 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朗肯土压力理论</a:t>
            </a:r>
          </a:p>
        </p:txBody>
      </p:sp>
      <p:sp>
        <p:nvSpPr>
          <p:cNvPr id="3" name="Rectangle 36"/>
          <p:cNvSpPr>
            <a:spLocks noChangeArrowheads="1"/>
          </p:cNvSpPr>
          <p:nvPr/>
        </p:nvSpPr>
        <p:spPr bwMode="auto">
          <a:xfrm>
            <a:off x="12700" y="14288"/>
            <a:ext cx="3911228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第六章 挡土结构物上的土压力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39552" y="1844824"/>
            <a:ext cx="3620715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buClr>
                <a:srgbClr val="A50021"/>
              </a:buClr>
              <a:buFont typeface="Wingdings" pitchFamily="2" charset="2"/>
              <a:buChar char="n"/>
              <a:defRPr sz="2400" b="1"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理论基础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适用条件及基本假定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郎肯主动土压力计算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郎肯被动土压力计算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576763" y="1690011"/>
            <a:ext cx="4200274" cy="837152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</a:rPr>
              <a:t>半无限土体的主动和被动极限平衡应力状态</a:t>
            </a:r>
            <a:endParaRPr lang="zh-CN" altLang="en-US" sz="2200" b="1" dirty="0">
              <a:solidFill>
                <a:srgbClr val="FFFF00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583345" y="3962398"/>
            <a:ext cx="4199708" cy="2490938"/>
          </a:xfrm>
          <a:prstGeom prst="rect">
            <a:avLst/>
          </a:prstGeom>
          <a:noFill/>
          <a:ln w="9525" algn="ctr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无黏性土和黏性土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主动和被动极限平衡条件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朗肯主动和被动土压力系数</a:t>
            </a:r>
            <a:endParaRPr lang="en-US" altLang="zh-CN" sz="2200" b="1" dirty="0">
              <a:solidFill>
                <a:srgbClr val="FFFF00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土压力强度的分布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总土压力大小和作用点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破裂面方向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575777" y="2977340"/>
            <a:ext cx="4213292" cy="888448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</a:rPr>
              <a:t>墙背垂直、光滑、填土面水平</a:t>
            </a:r>
            <a:endParaRPr lang="en-US" altLang="zh-CN" sz="2200" b="1" dirty="0">
              <a:solidFill>
                <a:srgbClr val="FFFF00"/>
              </a:solidFill>
              <a:ea typeface="幼圆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</a:rPr>
              <a:t>墙后土体均处于极限平衡状态</a:t>
            </a:r>
          </a:p>
        </p:txBody>
      </p:sp>
      <p:sp>
        <p:nvSpPr>
          <p:cNvPr id="9" name="右大括号 8"/>
          <p:cNvSpPr/>
          <p:nvPr/>
        </p:nvSpPr>
        <p:spPr bwMode="auto">
          <a:xfrm>
            <a:off x="4214948" y="4468261"/>
            <a:ext cx="269966" cy="1447572"/>
          </a:xfrm>
          <a:prstGeom prst="rightBrace">
            <a:avLst>
              <a:gd name="adj1" fmla="val 24462"/>
              <a:gd name="adj2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1910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85764" y="568286"/>
            <a:ext cx="597666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§6.3 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朗肯土压力理论</a:t>
            </a:r>
          </a:p>
        </p:txBody>
      </p:sp>
      <p:sp>
        <p:nvSpPr>
          <p:cNvPr id="3" name="Rectangle 36"/>
          <p:cNvSpPr>
            <a:spLocks noChangeArrowheads="1"/>
          </p:cNvSpPr>
          <p:nvPr/>
        </p:nvSpPr>
        <p:spPr bwMode="auto">
          <a:xfrm>
            <a:off x="12700" y="14288"/>
            <a:ext cx="3911228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第六章 挡土结构物上的土压力</a:t>
            </a:r>
          </a:p>
        </p:txBody>
      </p:sp>
      <p:sp>
        <p:nvSpPr>
          <p:cNvPr id="4" name="Text Box 37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99592" y="1932000"/>
            <a:ext cx="32324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lnSpc>
                <a:spcPct val="100000"/>
              </a:lnSpc>
              <a:buClr>
                <a:srgbClr val="A50021"/>
              </a:buClr>
              <a:buFont typeface="Wingdings" panose="05000000000000000000" pitchFamily="2" charset="2"/>
              <a:buChar char="l"/>
              <a:defRPr sz="2400" b="1"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dirty="0"/>
              <a:t>主动土压力系数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899592" y="4479993"/>
            <a:ext cx="32324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lnSpc>
                <a:spcPct val="100000"/>
              </a:lnSpc>
              <a:buClr>
                <a:srgbClr val="A50021"/>
              </a:buClr>
              <a:buFont typeface="Wingdings" panose="05000000000000000000" pitchFamily="2" charset="2"/>
              <a:buChar char="l"/>
              <a:defRPr sz="2400" b="1"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dirty="0"/>
              <a:t>被动土压力系数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t="7576" b="2139"/>
          <a:stretch/>
        </p:blipFill>
        <p:spPr>
          <a:xfrm>
            <a:off x="3626424" y="1772816"/>
            <a:ext cx="4377307" cy="820132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/>
          <a:srcRect t="6748" b="2967"/>
          <a:stretch/>
        </p:blipFill>
        <p:spPr>
          <a:xfrm>
            <a:off x="3654705" y="4368295"/>
            <a:ext cx="4279763" cy="820132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6" name="Text Box 57"/>
          <p:cNvSpPr txBox="1">
            <a:spLocks noChangeArrowheads="1"/>
          </p:cNvSpPr>
          <p:nvPr/>
        </p:nvSpPr>
        <p:spPr bwMode="auto">
          <a:xfrm>
            <a:off x="899592" y="3100432"/>
            <a:ext cx="28803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lnSpc>
                <a:spcPct val="100000"/>
              </a:lnSpc>
              <a:buClr>
                <a:srgbClr val="A50021"/>
              </a:buClr>
              <a:buFont typeface="Wingdings" panose="05000000000000000000" pitchFamily="2" charset="2"/>
              <a:buChar char="l"/>
              <a:defRPr sz="2400" b="1"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dirty="0">
                <a:sym typeface="Symbol" pitchFamily="18" charset="2"/>
              </a:rPr>
              <a:t>主动土压力强度</a:t>
            </a:r>
            <a:endParaRPr lang="en-US" altLang="zh-CN" dirty="0">
              <a:sym typeface="Symbol" pitchFamily="18" charset="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784119"/>
            <a:ext cx="2920237" cy="1219306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40" y="3000143"/>
            <a:ext cx="1344168" cy="833628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7" name="Text Box 57"/>
          <p:cNvSpPr txBox="1">
            <a:spLocks noChangeArrowheads="1"/>
          </p:cNvSpPr>
          <p:nvPr/>
        </p:nvSpPr>
        <p:spPr bwMode="auto">
          <a:xfrm>
            <a:off x="899592" y="5692720"/>
            <a:ext cx="2736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lnSpc>
                <a:spcPct val="100000"/>
              </a:lnSpc>
              <a:buClr>
                <a:srgbClr val="A50021"/>
              </a:buClr>
              <a:buFont typeface="Wingdings" panose="05000000000000000000" pitchFamily="2" charset="2"/>
              <a:buChar char="l"/>
              <a:defRPr sz="2400" b="1"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dirty="0">
                <a:sym typeface="Symbol" pitchFamily="18" charset="2"/>
              </a:rPr>
              <a:t>被动土压力强度</a:t>
            </a:r>
            <a:endParaRPr lang="en-US" altLang="zh-CN" dirty="0">
              <a:sym typeface="Symbol" pitchFamily="18" charset="2"/>
            </a:endParaRPr>
          </a:p>
        </p:txBody>
      </p:sp>
      <p:sp>
        <p:nvSpPr>
          <p:cNvPr id="28" name="Text Box 38"/>
          <p:cNvSpPr txBox="1">
            <a:spLocks noChangeArrowheads="1"/>
          </p:cNvSpPr>
          <p:nvPr/>
        </p:nvSpPr>
        <p:spPr bwMode="auto">
          <a:xfrm>
            <a:off x="3707904" y="5680194"/>
            <a:ext cx="1440160" cy="5040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>
            <a:no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3000"/>
              </a:spcBef>
              <a:spcAft>
                <a:spcPts val="3000"/>
              </a:spcAft>
              <a:buSzPct val="130000"/>
            </a:pPr>
            <a:r>
              <a:rPr lang="en-US" altLang="zh-CN" sz="2400" b="1" i="1" dirty="0">
                <a:solidFill>
                  <a:schemeClr val="bg2"/>
                </a:solidFill>
              </a:rPr>
              <a:t> p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p</a:t>
            </a:r>
            <a:r>
              <a:rPr lang="en-US" altLang="zh-CN" sz="2400" b="1" i="1" dirty="0">
                <a:solidFill>
                  <a:schemeClr val="bg2"/>
                </a:solidFill>
              </a:rPr>
              <a:t>=</a:t>
            </a:r>
            <a:r>
              <a:rPr lang="en-US" altLang="zh-CN" sz="2400" b="1" i="1" dirty="0">
                <a:solidFill>
                  <a:schemeClr val="bg2"/>
                </a:solidFill>
                <a:latin typeface="Symbol" pitchFamily="18" charset="2"/>
              </a:rPr>
              <a:t> g </a:t>
            </a:r>
            <a:r>
              <a:rPr lang="en-US" altLang="zh-CN" sz="2400" b="1" dirty="0">
                <a:solidFill>
                  <a:schemeClr val="bg2"/>
                </a:solidFill>
              </a:rPr>
              <a:t>z</a:t>
            </a:r>
            <a:r>
              <a:rPr lang="en-US" altLang="zh-CN" sz="2400" b="1" i="1" dirty="0">
                <a:solidFill>
                  <a:schemeClr val="bg2"/>
                </a:solidFill>
              </a:rPr>
              <a:t> </a:t>
            </a:r>
            <a:r>
              <a:rPr lang="en-US" altLang="zh-CN" sz="2400" b="1" i="1" dirty="0" err="1">
                <a:solidFill>
                  <a:schemeClr val="bg2"/>
                </a:solidFill>
              </a:rPr>
              <a:t>K</a:t>
            </a:r>
            <a:r>
              <a:rPr lang="en-US" altLang="zh-CN" sz="2400" b="1" baseline="-25000" dirty="0" err="1">
                <a:solidFill>
                  <a:schemeClr val="bg2"/>
                </a:solidFill>
              </a:rPr>
              <a:t>p</a:t>
            </a:r>
            <a:r>
              <a:rPr lang="en-US" altLang="zh-CN" sz="2400" b="1" i="1" baseline="-25000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 </a:t>
            </a:r>
            <a:endParaRPr lang="zh-CN" altLang="en-US" sz="2400" b="1" dirty="0">
              <a:solidFill>
                <a:schemeClr val="bg2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734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85764" y="568286"/>
            <a:ext cx="597666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§6.4 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库仑土压力理论</a:t>
            </a:r>
          </a:p>
        </p:txBody>
      </p:sp>
      <p:sp>
        <p:nvSpPr>
          <p:cNvPr id="3" name="Rectangle 36"/>
          <p:cNvSpPr>
            <a:spLocks noChangeArrowheads="1"/>
          </p:cNvSpPr>
          <p:nvPr/>
        </p:nvSpPr>
        <p:spPr bwMode="auto">
          <a:xfrm>
            <a:off x="12700" y="14288"/>
            <a:ext cx="3911228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第六章 挡土结构物上的土压力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90894" y="2076787"/>
            <a:ext cx="3477050" cy="3562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spcAft>
                <a:spcPts val="54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幼圆" pitchFamily="49" charset="-122"/>
              </a:rPr>
              <a:t>方法要点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1800"/>
              </a:spcBef>
              <a:spcAft>
                <a:spcPts val="33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幼圆" pitchFamily="49" charset="-122"/>
              </a:rPr>
              <a:t>无黏性土解析法</a:t>
            </a:r>
            <a:endParaRPr lang="en-US" altLang="zh-CN" sz="2400" b="1" dirty="0">
              <a:ea typeface="幼圆" pitchFamily="49" charset="-122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3600"/>
              </a:spcBef>
              <a:spcAft>
                <a:spcPts val="42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ea typeface="幼圆" pitchFamily="49" charset="-122"/>
              </a:rPr>
              <a:t>库仑土压力图解法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779912" y="1700808"/>
            <a:ext cx="4252858" cy="1260858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滑动楔体法</a:t>
            </a:r>
            <a:r>
              <a:rPr lang="en-US" altLang="zh-CN" sz="2200" b="1" dirty="0">
                <a:solidFill>
                  <a:srgbClr val="FFFF00"/>
                </a:solidFill>
                <a:ea typeface="幼圆" pitchFamily="49" charset="-122"/>
              </a:rPr>
              <a:t>: </a:t>
            </a: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</a:rPr>
              <a:t>刚性楔体，滑面上处于极限平衡状态</a:t>
            </a:r>
            <a:endParaRPr lang="en-US" altLang="zh-CN" sz="2200" b="1" dirty="0">
              <a:solidFill>
                <a:srgbClr val="FFFF00"/>
              </a:solidFill>
              <a:ea typeface="幼圆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</a:rPr>
              <a:t>楔体静力平衡</a:t>
            </a:r>
            <a:endParaRPr lang="zh-CN" altLang="en-US" sz="2200" b="1" dirty="0">
              <a:solidFill>
                <a:srgbClr val="FFFF00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788994" y="4769642"/>
            <a:ext cx="4249791" cy="1219821"/>
          </a:xfrm>
          <a:prstGeom prst="rect">
            <a:avLst/>
          </a:prstGeom>
          <a:noFill/>
          <a:ln w="9525" algn="ctr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基本图解法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库尔曼（</a:t>
            </a:r>
            <a:r>
              <a:rPr lang="en-US" altLang="zh-CN" sz="2200" b="1" dirty="0" err="1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Culmann</a:t>
            </a: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）图解法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黏性填土图解法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789199" y="3481363"/>
            <a:ext cx="4249587" cy="888448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</a:rPr>
              <a:t>无黏性土填土，填土面为平面</a:t>
            </a:r>
            <a:endParaRPr lang="en-US" altLang="zh-CN" sz="2200" b="1" dirty="0">
              <a:solidFill>
                <a:srgbClr val="FFFF00"/>
              </a:solidFill>
              <a:ea typeface="幼圆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</a:rPr>
              <a:t>库仑土压力系数</a:t>
            </a:r>
            <a:r>
              <a:rPr lang="en-US" altLang="zh-CN" sz="2200" b="1" i="1" dirty="0" err="1">
                <a:solidFill>
                  <a:srgbClr val="FFFF00"/>
                </a:solidFill>
                <a:ea typeface="幼圆" pitchFamily="49" charset="-122"/>
              </a:rPr>
              <a:t>K</a:t>
            </a:r>
            <a:r>
              <a:rPr lang="en-US" altLang="zh-CN" sz="2200" b="1" baseline="-25000" dirty="0" err="1">
                <a:solidFill>
                  <a:srgbClr val="FFFF00"/>
                </a:solidFill>
                <a:ea typeface="幼圆" pitchFamily="49" charset="-122"/>
              </a:rPr>
              <a:t>a</a:t>
            </a: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</a:rPr>
              <a:t>、</a:t>
            </a:r>
            <a:r>
              <a:rPr lang="en-US" altLang="zh-CN" sz="2200" b="1" i="1" dirty="0" err="1">
                <a:solidFill>
                  <a:srgbClr val="FFFF00"/>
                </a:solidFill>
                <a:ea typeface="幼圆" pitchFamily="49" charset="-122"/>
              </a:rPr>
              <a:t>K</a:t>
            </a:r>
            <a:r>
              <a:rPr lang="en-US" altLang="zh-CN" sz="2200" b="1" baseline="-25000" dirty="0" err="1">
                <a:solidFill>
                  <a:srgbClr val="FFFF00"/>
                </a:solidFill>
                <a:ea typeface="幼圆" pitchFamily="49" charset="-122"/>
              </a:rPr>
              <a:t>p</a:t>
            </a:r>
            <a:endParaRPr lang="en-US" altLang="zh-CN" sz="2200" b="1" baseline="-25000" dirty="0">
              <a:solidFill>
                <a:srgbClr val="FFFF00"/>
              </a:solidFill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2937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043608" y="404664"/>
            <a:ext cx="691276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§6.5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两种土压力理论的比较</a:t>
            </a:r>
          </a:p>
        </p:txBody>
      </p:sp>
      <p:sp>
        <p:nvSpPr>
          <p:cNvPr id="3" name="Rectangle 36"/>
          <p:cNvSpPr>
            <a:spLocks noChangeArrowheads="1"/>
          </p:cNvSpPr>
          <p:nvPr/>
        </p:nvSpPr>
        <p:spPr bwMode="auto">
          <a:xfrm>
            <a:off x="12700" y="14288"/>
            <a:ext cx="3911228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第六章 挡土结构物上的土压力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67544" y="1556792"/>
            <a:ext cx="20882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lnSpc>
                <a:spcPct val="150000"/>
              </a:lnSpc>
              <a:spcBef>
                <a:spcPct val="20000"/>
              </a:spcBef>
              <a:spcAft>
                <a:spcPts val="54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l"/>
              <a:defRPr sz="2400" b="1"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dirty="0"/>
              <a:t>分析方法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707287" y="1196752"/>
            <a:ext cx="444196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5125" indent="-365125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  <a:defRPr sz="22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ea typeface="+mn-ea"/>
                <a:cs typeface="Times New Roman" panose="02020603050405020304" pitchFamily="18" charset="0"/>
              </a:rPr>
              <a:t>相同点：极限状态土压力理论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699792" y="2206025"/>
            <a:ext cx="15121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indent="-3651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Tx/>
              <a:buChar char="•"/>
              <a:defRPr sz="2200" b="1">
                <a:solidFill>
                  <a:srgbClr val="FFFF00"/>
                </a:solidFill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dirty="0">
                <a:ea typeface="+mn-ea"/>
                <a:cs typeface="Times New Roman" panose="02020603050405020304" pitchFamily="18" charset="0"/>
              </a:rPr>
              <a:t>不同点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067944" y="1700808"/>
            <a:ext cx="4176464" cy="166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9875" indent="-269875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Wingdings" panose="05000000000000000000" pitchFamily="2" charset="2"/>
              <a:buChar char="Ø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朗肯：极限应力法，墙后土体各点均处于极限平衡状态</a:t>
            </a:r>
          </a:p>
          <a:p>
            <a:pPr marL="269875" indent="-269875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Wingdings" panose="05000000000000000000" pitchFamily="2" charset="2"/>
              <a:buChar char="Ø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库伦：滑动楔体法，墙后刚性楔体，滑面上极限平衡状态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722277" y="3284984"/>
            <a:ext cx="5184576" cy="889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朗肯：理想简单边界条件</a:t>
            </a: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库伦：较为复杂接近实际的边界条件</a:t>
            </a:r>
          </a:p>
        </p:txBody>
      </p:sp>
      <p:sp>
        <p:nvSpPr>
          <p:cNvPr id="11" name="Text Box 29"/>
          <p:cNvSpPr txBox="1">
            <a:spLocks noChangeArrowheads="1"/>
          </p:cNvSpPr>
          <p:nvPr/>
        </p:nvSpPr>
        <p:spPr bwMode="auto">
          <a:xfrm>
            <a:off x="2699792" y="4221088"/>
            <a:ext cx="612068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Clr>
                <a:srgbClr val="A50021"/>
              </a:buClr>
              <a:buSzPct val="100000"/>
              <a:buFont typeface="Wingdings" panose="05000000000000000000" pitchFamily="2" charset="2"/>
              <a:buChar char=""/>
            </a:pPr>
            <a:r>
              <a:rPr kumimoji="1"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如果 </a:t>
            </a:r>
            <a:r>
              <a:rPr kumimoji="1" lang="zh-CN" altLang="en-US" sz="22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 </a:t>
            </a:r>
            <a:r>
              <a:rPr kumimoji="1" lang="en-US" altLang="zh-CN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kumimoji="1" lang="en-US" altLang="zh-CN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，直线滑裂面，两理论</a:t>
            </a:r>
            <a:r>
              <a:rPr kumimoji="1" lang="en-US" altLang="zh-CN" sz="2200" b="1" i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200" b="1" baseline="-25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2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2200" b="1" i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200" b="1" baseline="-25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</a:t>
            </a:r>
            <a:endParaRPr kumimoji="1"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>
                <a:srgbClr val="A50021"/>
              </a:buClr>
              <a:buSzPct val="100000"/>
              <a:buFont typeface="Wingdings" panose="05000000000000000000" pitchFamily="2" charset="2"/>
              <a:buChar char=""/>
            </a:pPr>
            <a:r>
              <a:rPr kumimoji="1"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如果 </a:t>
            </a:r>
            <a:r>
              <a:rPr kumimoji="1" lang="zh-CN" altLang="en-US" sz="22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 </a:t>
            </a:r>
            <a:r>
              <a:rPr kumimoji="1"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kumimoji="1" lang="en-US" altLang="zh-CN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sz="2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995936" y="4941168"/>
            <a:ext cx="4431846" cy="93661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00037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朗肯偏大约</a:t>
            </a:r>
            <a:r>
              <a:rPr kumimoji="1" lang="en-US" altLang="zh-CN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</a:t>
            </a:r>
            <a:r>
              <a:rPr kumimoji="1"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，工程偏安全</a:t>
            </a:r>
            <a:endParaRPr kumimoji="1"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0037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库仑稍偏小（差别可忽略</a:t>
            </a:r>
            <a:r>
              <a:rPr kumimoji="1" lang="en-US" altLang="zh-CN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en-US" sz="2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19872" y="5157192"/>
            <a:ext cx="53732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200" b="1" i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200" b="1" baseline="-25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2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3995936" y="5777369"/>
            <a:ext cx="3588142" cy="93661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00037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朗肯偏小可至几分之一</a:t>
            </a:r>
            <a:endParaRPr kumimoji="1"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0037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库仑偏大可达几倍</a:t>
            </a:r>
          </a:p>
        </p:txBody>
      </p:sp>
      <p:sp>
        <p:nvSpPr>
          <p:cNvPr id="15" name="矩形 14"/>
          <p:cNvSpPr/>
          <p:nvPr/>
        </p:nvSpPr>
        <p:spPr>
          <a:xfrm>
            <a:off x="3419872" y="5941785"/>
            <a:ext cx="56457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200" b="1" i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200" b="1" baseline="-25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2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467544" y="3286725"/>
            <a:ext cx="20162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lnSpc>
                <a:spcPct val="150000"/>
              </a:lnSpc>
              <a:spcBef>
                <a:spcPct val="20000"/>
              </a:spcBef>
              <a:spcAft>
                <a:spcPts val="54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l"/>
              <a:defRPr sz="2400" b="1"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dirty="0"/>
              <a:t>应用条件</a:t>
            </a: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467544" y="4121020"/>
            <a:ext cx="2376264" cy="168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lnSpc>
                <a:spcPct val="150000"/>
              </a:lnSpc>
              <a:spcBef>
                <a:spcPct val="20000"/>
              </a:spcBef>
              <a:spcAft>
                <a:spcPts val="540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l"/>
              <a:defRPr sz="2400" b="1"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dirty="0"/>
              <a:t>计算误差：以水平填土为例</a:t>
            </a:r>
          </a:p>
        </p:txBody>
      </p:sp>
      <p:sp>
        <p:nvSpPr>
          <p:cNvPr id="18" name="左大括号 17"/>
          <p:cNvSpPr/>
          <p:nvPr/>
        </p:nvSpPr>
        <p:spPr bwMode="auto">
          <a:xfrm>
            <a:off x="2483768" y="1412776"/>
            <a:ext cx="216024" cy="1008112"/>
          </a:xfrm>
          <a:prstGeom prst="lef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  <p:sp>
        <p:nvSpPr>
          <p:cNvPr id="19" name="左大括号 18"/>
          <p:cNvSpPr/>
          <p:nvPr/>
        </p:nvSpPr>
        <p:spPr bwMode="auto">
          <a:xfrm>
            <a:off x="2483768" y="3463533"/>
            <a:ext cx="216024" cy="576064"/>
          </a:xfrm>
          <a:prstGeom prst="lef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  <p:sp>
        <p:nvSpPr>
          <p:cNvPr id="20" name="左大括号 19"/>
          <p:cNvSpPr/>
          <p:nvPr/>
        </p:nvSpPr>
        <p:spPr bwMode="auto">
          <a:xfrm>
            <a:off x="2483768" y="4365104"/>
            <a:ext cx="216024" cy="576064"/>
          </a:xfrm>
          <a:prstGeom prst="lef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  <p:sp>
        <p:nvSpPr>
          <p:cNvPr id="21" name="左大括号 20"/>
          <p:cNvSpPr/>
          <p:nvPr/>
        </p:nvSpPr>
        <p:spPr bwMode="auto">
          <a:xfrm>
            <a:off x="3851920" y="5119717"/>
            <a:ext cx="216024" cy="576064"/>
          </a:xfrm>
          <a:prstGeom prst="lef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  <p:sp>
        <p:nvSpPr>
          <p:cNvPr id="22" name="左大括号 21"/>
          <p:cNvSpPr/>
          <p:nvPr/>
        </p:nvSpPr>
        <p:spPr bwMode="auto">
          <a:xfrm>
            <a:off x="3851920" y="5953833"/>
            <a:ext cx="216024" cy="576064"/>
          </a:xfrm>
          <a:prstGeom prst="lef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2248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67544" y="548680"/>
            <a:ext cx="813690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§6.6 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几种常见的主动土压力计算</a:t>
            </a:r>
          </a:p>
        </p:txBody>
      </p:sp>
      <p:sp>
        <p:nvSpPr>
          <p:cNvPr id="3" name="Rectangle 36"/>
          <p:cNvSpPr>
            <a:spLocks noChangeArrowheads="1"/>
          </p:cNvSpPr>
          <p:nvPr/>
        </p:nvSpPr>
        <p:spPr bwMode="auto">
          <a:xfrm>
            <a:off x="12700" y="14288"/>
            <a:ext cx="3911228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第六章 挡土结构物上的土压力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331640" y="1268760"/>
            <a:ext cx="7273130" cy="5281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514350" indent="-514350" eaLnBrk="1" hangingPunct="1">
              <a:lnSpc>
                <a:spcPct val="130000"/>
              </a:lnSpc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填土上有荷载：</a:t>
            </a: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连续荷载（朗肯、库仑）；</a:t>
            </a:r>
            <a:endParaRPr lang="en-US" altLang="zh-CN" sz="2400" b="1" dirty="0">
              <a:solidFill>
                <a:srgbClr val="FFFF00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altLang="zh-CN" sz="24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                                   </a:t>
            </a: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局部荷载（朗肯）</a:t>
            </a:r>
          </a:p>
          <a:p>
            <a:pPr marL="514350" indent="-514350" eaLnBrk="1" hangingPunct="1">
              <a:lnSpc>
                <a:spcPct val="130000"/>
              </a:lnSpc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 startAt="2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成层填土情况：</a:t>
            </a: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朗肯；分布特点</a:t>
            </a:r>
            <a:r>
              <a:rPr lang="zh-CN" altLang="en-US" sz="24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（</a:t>
            </a:r>
            <a:r>
              <a:rPr kumimoji="1" lang="el-GR" altLang="zh-CN" sz="2400" b="1" i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γ</a:t>
            </a:r>
            <a:r>
              <a:rPr kumimoji="1" lang="en-US" altLang="zh-CN" sz="2400" b="1" i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i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en-US" altLang="zh-CN" sz="2400" b="1" i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i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的不同组合</a:t>
            </a:r>
            <a:r>
              <a:rPr lang="zh-CN" altLang="en-US" sz="24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）</a:t>
            </a:r>
          </a:p>
          <a:p>
            <a:pPr marL="514350" indent="-514350" eaLnBrk="1" hangingPunct="1">
              <a:lnSpc>
                <a:spcPct val="130000"/>
              </a:lnSpc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 startAt="2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填土中有水：</a:t>
            </a: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对土重度、强度指标的影响；静水和渗流条件下的水压力、总应力和有效应力</a:t>
            </a:r>
          </a:p>
          <a:p>
            <a:pPr marL="514350" indent="-514350" eaLnBrk="1" hangingPunct="1">
              <a:lnSpc>
                <a:spcPct val="130000"/>
              </a:lnSpc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 startAt="2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坦墙：</a:t>
            </a: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坦墙及产生第二滑裂面的条件；土压力计算（朗肯、库仑）</a:t>
            </a:r>
          </a:p>
          <a:p>
            <a:pPr marL="514350" indent="-514350" eaLnBrk="1" hangingPunct="1">
              <a:lnSpc>
                <a:spcPct val="130000"/>
              </a:lnSpc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 startAt="2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墙背形状有变化：</a:t>
            </a: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倾角变化、减压平台</a:t>
            </a:r>
          </a:p>
          <a:p>
            <a:pPr marL="514350" indent="-514350" eaLnBrk="1" hangingPunct="1">
              <a:lnSpc>
                <a:spcPct val="130000"/>
              </a:lnSpc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 startAt="2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墙后填土受限制：</a:t>
            </a: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新老土体</a:t>
            </a:r>
          </a:p>
          <a:p>
            <a:pPr marL="514350" indent="-514350" eaLnBrk="1" hangingPunct="1">
              <a:lnSpc>
                <a:spcPct val="130000"/>
              </a:lnSpc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 startAt="2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加筋土挡墙：</a:t>
            </a: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工作原理、整体稳定性、内部稳定性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7866" y="1268760"/>
            <a:ext cx="8424614" cy="381642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vert="eaVert" wrap="none" rtlCol="0" anchor="b" anchorCtr="1">
            <a:noAutofit/>
          </a:bodyPr>
          <a:lstStyle/>
          <a:p>
            <a:r>
              <a:rPr lang="zh-CN" altLang="en-US" sz="3600" dirty="0">
                <a:solidFill>
                  <a:srgbClr val="FFC000"/>
                </a:solidFill>
              </a:rPr>
              <a:t>重点</a:t>
            </a:r>
          </a:p>
        </p:txBody>
      </p:sp>
    </p:spTree>
    <p:extLst>
      <p:ext uri="{BB962C8B-B14F-4D97-AF65-F5344CB8AC3E}">
        <p14:creationId xmlns:p14="http://schemas.microsoft.com/office/powerpoint/2010/main" val="2016208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5696" y="2348880"/>
            <a:ext cx="5698331" cy="2800767"/>
          </a:xfr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§7.1 </a:t>
            </a:r>
            <a:r>
              <a:rPr lang="zh-CN" altLang="en-US" dirty="0">
                <a:ea typeface="楷体_GB2312" pitchFamily="49" charset="-122"/>
              </a:rPr>
              <a:t>概述 </a:t>
            </a:r>
            <a:r>
              <a:rPr lang="en-US" altLang="zh-CN" dirty="0">
                <a:ea typeface="楷体_GB2312" pitchFamily="49" charset="-122"/>
              </a:rPr>
              <a:t>– </a:t>
            </a:r>
            <a:r>
              <a:rPr lang="zh-CN" altLang="en-US" dirty="0">
                <a:ea typeface="楷体_GB2312" pitchFamily="49" charset="-122"/>
              </a:rPr>
              <a:t>土坡与滑坡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§7.2 </a:t>
            </a:r>
            <a:r>
              <a:rPr lang="zh-CN" altLang="en-US" dirty="0">
                <a:ea typeface="楷体_GB2312" pitchFamily="49" charset="-122"/>
              </a:rPr>
              <a:t>无黏性土坡的稳定分析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§7.3 </a:t>
            </a:r>
            <a:r>
              <a:rPr lang="zh-CN" altLang="en-US" dirty="0">
                <a:ea typeface="楷体_GB2312" pitchFamily="49" charset="-122"/>
              </a:rPr>
              <a:t>黏性土坡的稳定分析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§7.4 </a:t>
            </a:r>
            <a:r>
              <a:rPr lang="zh-CN" altLang="en-US" dirty="0">
                <a:ea typeface="楷体_GB2312" pitchFamily="49" charset="-122"/>
              </a:rPr>
              <a:t>总应力法与有效应力法</a:t>
            </a:r>
          </a:p>
        </p:txBody>
      </p:sp>
      <p:sp>
        <p:nvSpPr>
          <p:cNvPr id="4" name="Text Box 29"/>
          <p:cNvSpPr txBox="1">
            <a:spLocks noChangeArrowheads="1"/>
          </p:cNvSpPr>
          <p:nvPr/>
        </p:nvSpPr>
        <p:spPr bwMode="auto">
          <a:xfrm>
            <a:off x="1259632" y="1052736"/>
            <a:ext cx="608451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4000" b="0">
                <a:latin typeface="黑体" pitchFamily="49" charset="-122"/>
                <a:ea typeface="黑体" pitchFamily="49" charset="-122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9pPr>
          </a:lstStyle>
          <a:p>
            <a:r>
              <a:rPr lang="zh-CN" altLang="en-US" dirty="0"/>
              <a:t>第七章 土坡稳定分析</a:t>
            </a:r>
          </a:p>
        </p:txBody>
      </p:sp>
    </p:spTree>
    <p:extLst>
      <p:ext uri="{BB962C8B-B14F-4D97-AF65-F5344CB8AC3E}">
        <p14:creationId xmlns:p14="http://schemas.microsoft.com/office/powerpoint/2010/main" val="1830340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1602557" y="4896519"/>
            <a:ext cx="667268" cy="620713"/>
          </a:xfrm>
          <a:prstGeom prst="homePlate">
            <a:avLst>
              <a:gd name="adj" fmla="val 3363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404763" y="4951398"/>
            <a:ext cx="24689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ea typeface="幼圆" pitchFamily="49" charset="-122"/>
              </a:rPr>
              <a:t>本章核心问题</a:t>
            </a:r>
            <a:r>
              <a:rPr lang="en-US" altLang="zh-CN" sz="2800" b="1" dirty="0">
                <a:ea typeface="幼圆" pitchFamily="49" charset="-122"/>
              </a:rPr>
              <a:t>: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003856" y="4949909"/>
            <a:ext cx="35274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FF00"/>
                </a:solidFill>
                <a:ea typeface="幼圆" pitchFamily="49" charset="-122"/>
              </a:rPr>
              <a:t>边坡稳定性分析方法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149411" y="2060803"/>
            <a:ext cx="4874736" cy="2203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33400" indent="-5334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ea typeface="幼圆" pitchFamily="49" charset="-122"/>
              </a:rPr>
              <a:t>土坡及其实例</a:t>
            </a:r>
            <a:endParaRPr lang="en-US" altLang="zh-CN" sz="2800" b="1" dirty="0">
              <a:ea typeface="幼圆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ea typeface="幼圆" pitchFamily="49" charset="-122"/>
              </a:rPr>
              <a:t>滑坡形式及实例</a:t>
            </a:r>
            <a:endParaRPr lang="en-US" altLang="zh-CN" sz="2800" b="1" dirty="0">
              <a:ea typeface="幼圆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ea typeface="幼圆" pitchFamily="49" charset="-122"/>
              </a:rPr>
              <a:t>滑坡的主要诱因</a:t>
            </a:r>
          </a:p>
        </p:txBody>
      </p:sp>
      <p:sp>
        <p:nvSpPr>
          <p:cNvPr id="6" name="Rectangle 36"/>
          <p:cNvSpPr>
            <a:spLocks noChangeArrowheads="1"/>
          </p:cNvSpPr>
          <p:nvPr/>
        </p:nvSpPr>
        <p:spPr bwMode="auto">
          <a:xfrm>
            <a:off x="12700" y="14288"/>
            <a:ext cx="275910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第七章 土坡稳定分析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27584" y="836712"/>
            <a:ext cx="691276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§7.1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概述</a:t>
            </a: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–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土坡与滑坡</a:t>
            </a:r>
          </a:p>
        </p:txBody>
      </p:sp>
    </p:spTree>
    <p:extLst>
      <p:ext uri="{BB962C8B-B14F-4D97-AF65-F5344CB8AC3E}">
        <p14:creationId xmlns:p14="http://schemas.microsoft.com/office/powerpoint/2010/main" val="1115343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ChangeArrowheads="1"/>
          </p:cNvSpPr>
          <p:nvPr/>
        </p:nvSpPr>
        <p:spPr bwMode="auto">
          <a:xfrm>
            <a:off x="12700" y="14288"/>
            <a:ext cx="275910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第七章 土坡稳定分析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836712"/>
            <a:ext cx="691276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§7.2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无黏性土坡的稳定分析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59958" y="2162035"/>
            <a:ext cx="3821505" cy="3982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ea typeface="幼圆" pitchFamily="49" charset="-122"/>
              </a:rPr>
              <a:t>基于坡面单元分析</a:t>
            </a:r>
          </a:p>
          <a:p>
            <a:pPr marL="444500" indent="-444500" eaLnBrk="1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ea typeface="幼圆" pitchFamily="49" charset="-122"/>
              </a:rPr>
              <a:t>无渗流无限长坡</a:t>
            </a:r>
          </a:p>
          <a:p>
            <a:pPr marL="444500" indent="-444500" eaLnBrk="1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ea typeface="幼圆" pitchFamily="49" charset="-122"/>
              </a:rPr>
              <a:t>有沿坡渗流无限长坡</a:t>
            </a:r>
            <a:endParaRPr lang="en-US" altLang="zh-CN" sz="2400" b="1" dirty="0">
              <a:ea typeface="幼圆" pitchFamily="49" charset="-122"/>
            </a:endParaRPr>
          </a:p>
          <a:p>
            <a:pPr marL="444500" indent="-444500" eaLnBrk="1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ea typeface="幼圆" pitchFamily="49" charset="-122"/>
              </a:rPr>
              <a:t>有穿过坡面渗流的情况</a:t>
            </a:r>
            <a:endParaRPr lang="en-US" altLang="zh-CN" sz="2400" b="1" dirty="0">
              <a:ea typeface="幼圆" pitchFamily="49" charset="-122"/>
            </a:endParaRPr>
          </a:p>
          <a:p>
            <a:pPr marL="444500" indent="-444500" eaLnBrk="1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ea typeface="幼圆" pitchFamily="49" charset="-122"/>
              </a:rPr>
              <a:t>几种可能发生深层滑动的情况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020378" y="2603610"/>
            <a:ext cx="1824037" cy="43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sym typeface="Symbol" pitchFamily="18" charset="2"/>
              </a:rPr>
              <a:t>沿坡面滑动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4574056" y="5161507"/>
            <a:ext cx="4024706" cy="1219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渗透水流未逸出土坡</a:t>
            </a: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部分浸水的无黏性土坡</a:t>
            </a:r>
            <a:endParaRPr lang="en-US" altLang="zh-CN" sz="2200" b="1" dirty="0">
              <a:solidFill>
                <a:srgbClr val="FFFF00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非线性抗剪强度指标</a:t>
            </a:r>
            <a:endParaRPr lang="en-US" altLang="zh-CN" sz="2200" b="1" dirty="0">
              <a:solidFill>
                <a:srgbClr val="FFFF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499574" y="3682168"/>
            <a:ext cx="2498756" cy="43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</a:pPr>
            <a:r>
              <a:rPr lang="en-US" altLang="zh-CN" sz="2200" b="1" i="1" dirty="0">
                <a:solidFill>
                  <a:srgbClr val="FFFF00"/>
                </a:solidFill>
                <a:ea typeface="幼圆" pitchFamily="49" charset="-122"/>
              </a:rPr>
              <a:t>F</a:t>
            </a:r>
            <a:r>
              <a:rPr lang="en-US" altLang="zh-CN" sz="2200" b="1" baseline="-25000" dirty="0">
                <a:solidFill>
                  <a:srgbClr val="FFFF00"/>
                </a:solidFill>
                <a:ea typeface="幼圆" pitchFamily="49" charset="-122"/>
              </a:rPr>
              <a:t>s</a:t>
            </a:r>
            <a:r>
              <a:rPr lang="en-US" altLang="zh-CN" sz="2200" b="1" dirty="0">
                <a:solidFill>
                  <a:srgbClr val="FFFF00"/>
                </a:solidFill>
                <a:ea typeface="幼圆" pitchFamily="49" charset="-122"/>
              </a:rPr>
              <a:t> </a:t>
            </a: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</a:rPr>
              <a:t>减小约</a:t>
            </a:r>
            <a:r>
              <a:rPr lang="en-US" altLang="zh-CN" sz="2200" b="1" dirty="0">
                <a:solidFill>
                  <a:srgbClr val="FFFF00"/>
                </a:solidFill>
                <a:ea typeface="幼圆" pitchFamily="49" charset="-122"/>
              </a:rPr>
              <a:t>50%</a:t>
            </a:r>
            <a:endParaRPr lang="zh-CN" altLang="en-US" sz="2200" b="1" dirty="0">
              <a:solidFill>
                <a:srgbClr val="FFFF00"/>
              </a:solidFill>
              <a:ea typeface="幼圆" pitchFamily="49" charset="-122"/>
            </a:endParaRPr>
          </a:p>
        </p:txBody>
      </p:sp>
      <p:sp>
        <p:nvSpPr>
          <p:cNvPr id="8" name="右大括号 7"/>
          <p:cNvSpPr/>
          <p:nvPr/>
        </p:nvSpPr>
        <p:spPr bwMode="auto">
          <a:xfrm>
            <a:off x="4493706" y="2364268"/>
            <a:ext cx="269966" cy="952862"/>
          </a:xfrm>
          <a:prstGeom prst="rightBrace">
            <a:avLst>
              <a:gd name="adj1" fmla="val 24462"/>
              <a:gd name="adj2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083861"/>
              </p:ext>
            </p:extLst>
          </p:nvPr>
        </p:nvGraphicFramePr>
        <p:xfrm>
          <a:off x="6842125" y="2434480"/>
          <a:ext cx="13477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406080" progId="Equation.DSMT4">
                  <p:embed/>
                </p:oleObj>
              </mc:Choice>
              <mc:Fallback>
                <p:oleObj name="Equation" r:id="rId2" imgW="698400" imgH="40608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25" y="2434480"/>
                        <a:ext cx="1347788" cy="7842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404426"/>
              </p:ext>
            </p:extLst>
          </p:nvPr>
        </p:nvGraphicFramePr>
        <p:xfrm>
          <a:off x="6926263" y="3517155"/>
          <a:ext cx="18573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444240" progId="Equation.DSMT4">
                  <p:embed/>
                </p:oleObj>
              </mc:Choice>
              <mc:Fallback>
                <p:oleObj name="Equation" r:id="rId4" imgW="1015920" imgH="4442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3" y="3517155"/>
                        <a:ext cx="1857375" cy="8128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4490514" y="4450204"/>
            <a:ext cx="4472412" cy="43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</a:rPr>
              <a:t>影响与渗透力大小和方向相关</a:t>
            </a:r>
          </a:p>
        </p:txBody>
      </p:sp>
      <p:sp>
        <p:nvSpPr>
          <p:cNvPr id="12" name="Text Box 37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</p:spTree>
    <p:extLst>
      <p:ext uri="{BB962C8B-B14F-4D97-AF65-F5344CB8AC3E}">
        <p14:creationId xmlns:p14="http://schemas.microsoft.com/office/powerpoint/2010/main" val="3500355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ChangeArrowheads="1"/>
          </p:cNvSpPr>
          <p:nvPr/>
        </p:nvSpPr>
        <p:spPr bwMode="auto">
          <a:xfrm>
            <a:off x="12700" y="14288"/>
            <a:ext cx="275910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第七章 土坡稳定分析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692696"/>
            <a:ext cx="691276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§7.3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黏性土坡的稳定分析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257038" y="1766538"/>
            <a:ext cx="3431222" cy="4542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黏性土坡失稳的特点</a:t>
            </a:r>
            <a:endParaRPr lang="en-US" altLang="zh-CN" sz="2400" b="1" dirty="0">
              <a:ea typeface="幼圆" pitchFamily="49" charset="-122"/>
              <a:cs typeface="Times New Roman" panose="02020603050405020304" pitchFamily="18" charset="0"/>
            </a:endParaRPr>
          </a:p>
          <a:p>
            <a:pPr marL="444500" indent="-444500" eaLnBrk="1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瑞典圆弧法</a:t>
            </a:r>
            <a:endParaRPr lang="en-US" altLang="zh-CN" sz="2400" b="1" dirty="0">
              <a:ea typeface="幼圆" pitchFamily="49" charset="-122"/>
              <a:cs typeface="Times New Roman" panose="02020603050405020304" pitchFamily="18" charset="0"/>
            </a:endParaRPr>
          </a:p>
          <a:p>
            <a:pPr marL="444500" indent="-444500" eaLnBrk="1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条分法基本原理</a:t>
            </a:r>
          </a:p>
          <a:p>
            <a:pPr marL="444500" indent="-444500" eaLnBrk="1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瑞典条分法</a:t>
            </a:r>
            <a:endParaRPr lang="en-US" altLang="zh-CN" sz="2400" b="1" dirty="0">
              <a:ea typeface="幼圆" pitchFamily="49" charset="-122"/>
              <a:cs typeface="Times New Roman" panose="02020603050405020304" pitchFamily="18" charset="0"/>
            </a:endParaRPr>
          </a:p>
          <a:p>
            <a:pPr marL="444500" indent="-444500" eaLnBrk="1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简化毕肖甫法</a:t>
            </a:r>
            <a:endParaRPr lang="en-US" altLang="zh-CN" sz="2400" b="1" dirty="0">
              <a:ea typeface="幼圆" pitchFamily="49" charset="-122"/>
              <a:cs typeface="Times New Roman" panose="02020603050405020304" pitchFamily="18" charset="0"/>
            </a:endParaRPr>
          </a:p>
          <a:p>
            <a:pPr marL="444500" indent="-444500" eaLnBrk="1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简布法</a:t>
            </a:r>
            <a:endParaRPr lang="en-US" altLang="zh-CN" sz="2400" b="1" dirty="0">
              <a:ea typeface="幼圆" pitchFamily="49" charset="-122"/>
              <a:cs typeface="Times New Roman" panose="02020603050405020304" pitchFamily="18" charset="0"/>
            </a:endParaRPr>
          </a:p>
          <a:p>
            <a:pPr marL="444500" indent="-444500" eaLnBrk="1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400" b="1" dirty="0">
                <a:ea typeface="幼圆" pitchFamily="49" charset="-122"/>
                <a:cs typeface="Times New Roman" panose="02020603050405020304" pitchFamily="18" charset="0"/>
              </a:rPr>
              <a:t>最危险滑动面的确定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4973342" y="1893197"/>
            <a:ext cx="3477018" cy="326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9875" indent="-269875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接近于圆弧的深层滑动</a:t>
            </a:r>
            <a:endParaRPr lang="en-US" altLang="zh-CN" sz="2200" b="1" dirty="0">
              <a:solidFill>
                <a:srgbClr val="FFFF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965119" y="2548954"/>
            <a:ext cx="1835453" cy="326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9875" indent="-269875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整体圆弧法</a:t>
            </a:r>
            <a:endParaRPr lang="en-US" altLang="zh-CN" sz="2200" b="1" dirty="0">
              <a:solidFill>
                <a:srgbClr val="FFFF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956409" y="3173981"/>
            <a:ext cx="3864063" cy="326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9875" indent="-269875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条分法概念，土条受力分析</a:t>
            </a:r>
          </a:p>
        </p:txBody>
      </p:sp>
      <p:sp>
        <p:nvSpPr>
          <p:cNvPr id="9" name="右大括号 8"/>
          <p:cNvSpPr/>
          <p:nvPr/>
        </p:nvSpPr>
        <p:spPr bwMode="auto">
          <a:xfrm>
            <a:off x="4212639" y="4037805"/>
            <a:ext cx="292742" cy="1347840"/>
          </a:xfrm>
          <a:prstGeom prst="rightBrace">
            <a:avLst>
              <a:gd name="adj1" fmla="val 24462"/>
              <a:gd name="adj2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960767" y="4536868"/>
            <a:ext cx="2967083" cy="326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9875" indent="-269875"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三种典型的条分法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23528" y="1700808"/>
            <a:ext cx="8568952" cy="338437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vert="eaVert" wrap="none" rtlCol="0" anchor="b" anchorCtr="1">
            <a:noAutofit/>
          </a:bodyPr>
          <a:lstStyle/>
          <a:p>
            <a:r>
              <a:rPr lang="zh-CN" altLang="en-US" sz="3600" dirty="0">
                <a:solidFill>
                  <a:srgbClr val="FFC000"/>
                </a:solidFill>
              </a:rPr>
              <a:t>重点</a:t>
            </a:r>
          </a:p>
        </p:txBody>
      </p:sp>
    </p:spTree>
    <p:extLst>
      <p:ext uri="{BB962C8B-B14F-4D97-AF65-F5344CB8AC3E}">
        <p14:creationId xmlns:p14="http://schemas.microsoft.com/office/powerpoint/2010/main" val="2868305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ChangeArrowheads="1"/>
          </p:cNvSpPr>
          <p:nvPr/>
        </p:nvSpPr>
        <p:spPr bwMode="auto">
          <a:xfrm>
            <a:off x="12700" y="14288"/>
            <a:ext cx="275910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第七章 土坡稳定分析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692696"/>
            <a:ext cx="691276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§7.3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黏性土坡的稳定分析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7584" y="2060848"/>
            <a:ext cx="2232248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瑞典圆弧法</a:t>
            </a:r>
            <a:endParaRPr lang="en-US" altLang="zh-CN" sz="2400" b="1" dirty="0">
              <a:solidFill>
                <a:srgbClr val="FFFF00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1916832"/>
            <a:ext cx="3762756" cy="844296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750" y="2978098"/>
            <a:ext cx="3599688" cy="92964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458" y="4149080"/>
            <a:ext cx="3066288" cy="1124712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827584" y="3140968"/>
            <a:ext cx="2448272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瑞典条分法</a:t>
            </a:r>
            <a:endParaRPr lang="en-US" altLang="zh-CN" sz="2400" b="1" dirty="0">
              <a:solidFill>
                <a:srgbClr val="FFFF00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827584" y="4387170"/>
            <a:ext cx="2592288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简化毕肖甫法</a:t>
            </a:r>
            <a:endParaRPr lang="en-US" altLang="zh-CN" sz="2400" b="1" dirty="0">
              <a:solidFill>
                <a:srgbClr val="FFFF00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904" y="5517232"/>
            <a:ext cx="2542032" cy="710184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405470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ChangeArrowheads="1"/>
          </p:cNvSpPr>
          <p:nvPr/>
        </p:nvSpPr>
        <p:spPr bwMode="auto">
          <a:xfrm>
            <a:off x="12700" y="14288"/>
            <a:ext cx="275910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第七章 土坡稳定分析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548680"/>
            <a:ext cx="691276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§7.3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黏性土坡的稳定分析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37646" y="1312487"/>
            <a:ext cx="3662854" cy="49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8775" indent="-358775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各种分析方法的比较</a:t>
            </a:r>
            <a:endParaRPr lang="zh-CN" altLang="en-US" sz="2400" dirty="0">
              <a:solidFill>
                <a:srgbClr val="FFFF00"/>
              </a:solidFill>
              <a:ea typeface="幼圆" pitchFamily="49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038173"/>
              </p:ext>
            </p:extLst>
          </p:nvPr>
        </p:nvGraphicFramePr>
        <p:xfrm>
          <a:off x="282576" y="1948385"/>
          <a:ext cx="8734423" cy="4053840"/>
        </p:xfrm>
        <a:graphic>
          <a:graphicData uri="http://schemas.openxmlformats.org/drawingml/2006/table">
            <a:tbl>
              <a:tblPr firstRow="1" bandRow="1"/>
              <a:tblGrid>
                <a:gridCol w="493071">
                  <a:extLst>
                    <a:ext uri="{9D8B030D-6E8A-4147-A177-3AD203B41FA5}">
                      <a16:colId xmlns:a16="http://schemas.microsoft.com/office/drawing/2014/main" val="2463955883"/>
                    </a:ext>
                  </a:extLst>
                </a:gridCol>
                <a:gridCol w="1434928">
                  <a:extLst>
                    <a:ext uri="{9D8B030D-6E8A-4147-A177-3AD203B41FA5}">
                      <a16:colId xmlns:a16="http://schemas.microsoft.com/office/drawing/2014/main" val="1494551815"/>
                    </a:ext>
                  </a:extLst>
                </a:gridCol>
                <a:gridCol w="1612125">
                  <a:extLst>
                    <a:ext uri="{9D8B030D-6E8A-4147-A177-3AD203B41FA5}">
                      <a16:colId xmlns:a16="http://schemas.microsoft.com/office/drawing/2014/main" val="62456189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1585831202"/>
                    </a:ext>
                  </a:extLst>
                </a:gridCol>
                <a:gridCol w="240029">
                  <a:extLst>
                    <a:ext uri="{9D8B030D-6E8A-4147-A177-3AD203B41FA5}">
                      <a16:colId xmlns:a16="http://schemas.microsoft.com/office/drawing/2014/main" val="3395253752"/>
                    </a:ext>
                  </a:extLst>
                </a:gridCol>
                <a:gridCol w="1690371">
                  <a:extLst>
                    <a:ext uri="{9D8B030D-6E8A-4147-A177-3AD203B41FA5}">
                      <a16:colId xmlns:a16="http://schemas.microsoft.com/office/drawing/2014/main" val="1209655999"/>
                    </a:ext>
                  </a:extLst>
                </a:gridCol>
                <a:gridCol w="1803399">
                  <a:extLst>
                    <a:ext uri="{9D8B030D-6E8A-4147-A177-3AD203B41FA5}">
                      <a16:colId xmlns:a16="http://schemas.microsoft.com/office/drawing/2014/main" val="2711106695"/>
                    </a:ext>
                  </a:extLst>
                </a:gridCol>
              </a:tblGrid>
              <a:tr h="18542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方法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瑞典圆弧法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瑞典条分法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毕肖普法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简布法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536054"/>
                  </a:ext>
                </a:extLst>
              </a:tr>
              <a:tr h="185420">
                <a:tc gridSpan="2"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整体圆弧法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圆弧条分法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普遍条分法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5157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滑裂面形状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圆弧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圆弧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圆弧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任意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999292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基本假设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整体刚体转动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忽略条间力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忽略条间竖向力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  <a:sym typeface="Symbo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假定条间力位置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331161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适用条件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 </a:t>
                      </a:r>
                      <a:r>
                        <a:rPr lang="en-US" altLang="zh-CN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 0</a:t>
                      </a: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软黏土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均匀土体*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均匀土体*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任意土体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7962644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平衡条件</a:t>
                      </a:r>
                    </a:p>
                    <a:p>
                      <a:pPr algn="ctr"/>
                      <a:endParaRPr lang="zh-CN" altLang="en-US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整体力矩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01679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各条力矩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69207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各条竖向力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1771190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各条水平力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2987320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底面法向力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-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7372997"/>
                  </a:ext>
                </a:extLst>
              </a:tr>
              <a:tr h="18542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1" i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800" b="1" i="1" kern="1200" baseline="-250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计算精度评价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i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 </a:t>
                      </a:r>
                      <a:r>
                        <a:rPr lang="en-US" altLang="zh-CN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=0</a:t>
                      </a: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时准确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偏小</a:t>
                      </a:r>
                      <a:r>
                        <a:rPr lang="en-US" altLang="zh-CN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10%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一般情况较准确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准确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7917127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446280" y="6037260"/>
            <a:ext cx="5347939" cy="401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* 工程上也应用于具有不同土料分区的边坡。</a:t>
            </a:r>
          </a:p>
        </p:txBody>
      </p:sp>
    </p:spTree>
    <p:extLst>
      <p:ext uri="{BB962C8B-B14F-4D97-AF65-F5344CB8AC3E}">
        <p14:creationId xmlns:p14="http://schemas.microsoft.com/office/powerpoint/2010/main" val="26679260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ChangeArrowheads="1"/>
          </p:cNvSpPr>
          <p:nvPr/>
        </p:nvSpPr>
        <p:spPr bwMode="auto">
          <a:xfrm>
            <a:off x="12700" y="14288"/>
            <a:ext cx="275910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第七章 土坡稳定分析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692696"/>
            <a:ext cx="691276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§7.4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总应力法与有效应力法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95536" y="1772816"/>
            <a:ext cx="4968552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F"/>
            </a:pPr>
            <a:r>
              <a:rPr lang="zh-CN" altLang="en-US" sz="2400" b="1" dirty="0">
                <a:ea typeface="幼圆" pitchFamily="49" charset="-122"/>
              </a:rPr>
              <a:t>基本概念：</a:t>
            </a: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</a:rPr>
              <a:t>方法和指标要匹配</a:t>
            </a:r>
          </a:p>
          <a:p>
            <a:pPr marL="444500" indent="-44450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F"/>
            </a:pPr>
            <a:r>
              <a:rPr lang="zh-CN" altLang="en-US" sz="2400" b="1" dirty="0">
                <a:ea typeface="幼圆" pitchFamily="49" charset="-122"/>
              </a:rPr>
              <a:t>施工期土坡稳定分析：</a:t>
            </a: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</a:rPr>
              <a:t>有效应力法的关键问题是孔隙水压力估算</a:t>
            </a:r>
          </a:p>
          <a:p>
            <a:pPr marL="444500" indent="-44450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F"/>
            </a:pPr>
            <a:r>
              <a:rPr lang="zh-CN" altLang="en-US" sz="2400" b="1" dirty="0">
                <a:ea typeface="幼圆" pitchFamily="49" charset="-122"/>
              </a:rPr>
              <a:t>稳定渗流期土坡稳定分析：</a:t>
            </a:r>
            <a:r>
              <a:rPr lang="zh-CN" altLang="en-US" sz="2400" b="1" dirty="0">
                <a:solidFill>
                  <a:srgbClr val="FFFF00"/>
                </a:solidFill>
                <a:ea typeface="幼圆" pitchFamily="49" charset="-122"/>
              </a:rPr>
              <a:t>坝体内各点的孔隙水压力均能由流网确定，原则上应该用有效应力法进行稳定分析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724128" y="3717032"/>
            <a:ext cx="2952328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ct val="100000"/>
            </a:pPr>
            <a:r>
              <a:rPr lang="zh-CN" altLang="en-US" sz="2400" b="1" dirty="0">
                <a:solidFill>
                  <a:srgbClr val="FFC000"/>
                </a:solidFill>
                <a:latin typeface="+mn-ea"/>
                <a:ea typeface="+mn-ea"/>
              </a:rPr>
              <a:t>取土体整体为隔离体：</a:t>
            </a:r>
            <a:r>
              <a:rPr lang="zh-CN" altLang="en-US" sz="2400" b="1" dirty="0">
                <a:latin typeface="+mn-ea"/>
                <a:ea typeface="+mn-ea"/>
              </a:rPr>
              <a:t>不同区域重度的取值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796136" y="4725144"/>
            <a:ext cx="3096344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ct val="100000"/>
              <a:defRPr sz="2400" b="1">
                <a:solidFill>
                  <a:srgbClr val="FFFF00"/>
                </a:solidFill>
                <a:latin typeface="+mn-ea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FFC000"/>
                </a:solidFill>
              </a:rPr>
              <a:t>取土骨架作为隔离体：</a:t>
            </a:r>
            <a:r>
              <a:rPr lang="zh-CN" altLang="en-US" dirty="0">
                <a:solidFill>
                  <a:schemeClr val="tx1"/>
                </a:solidFill>
              </a:rPr>
              <a:t>关键是渗透力的计算；不同区域重度的取值</a:t>
            </a:r>
          </a:p>
        </p:txBody>
      </p:sp>
      <p:sp>
        <p:nvSpPr>
          <p:cNvPr id="7" name="左大括号 6"/>
          <p:cNvSpPr/>
          <p:nvPr/>
        </p:nvSpPr>
        <p:spPr bwMode="auto">
          <a:xfrm>
            <a:off x="5364088" y="4005064"/>
            <a:ext cx="360040" cy="1800200"/>
          </a:xfrm>
          <a:prstGeom prst="leftBrace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680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ChangeArrowheads="1"/>
          </p:cNvSpPr>
          <p:nvPr/>
        </p:nvSpPr>
        <p:spPr bwMode="auto">
          <a:xfrm>
            <a:off x="12700" y="14288"/>
            <a:ext cx="275910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第七章 土坡稳定分析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692696"/>
            <a:ext cx="691276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§7.4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总应力法与有效应力法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07417" y="1542876"/>
            <a:ext cx="4214833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ct val="100000"/>
            </a:pPr>
            <a:r>
              <a:rPr lang="zh-CN" altLang="en-US" sz="26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取土水整体为隔离体</a:t>
            </a:r>
          </a:p>
        </p:txBody>
      </p:sp>
      <p:sp>
        <p:nvSpPr>
          <p:cNvPr id="7" name="Rectangle 69"/>
          <p:cNvSpPr>
            <a:spLocks noChangeArrowheads="1"/>
          </p:cNvSpPr>
          <p:nvPr/>
        </p:nvSpPr>
        <p:spPr bwMode="auto">
          <a:xfrm>
            <a:off x="5295533" y="1650845"/>
            <a:ext cx="2312029" cy="446276"/>
          </a:xfrm>
          <a:prstGeom prst="rect">
            <a:avLst/>
          </a:prstGeom>
          <a:solidFill>
            <a:srgbClr val="FFFF00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0"/>
              </a:spcAft>
              <a:buSzPct val="130000"/>
            </a:pPr>
            <a:r>
              <a:rPr kumimoji="1"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以瑞典条分法为例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717032"/>
            <a:ext cx="8894835" cy="2828789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420888"/>
            <a:ext cx="4023360" cy="772668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2636912"/>
            <a:ext cx="2804403" cy="371888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1" name="Text Box 37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</p:spTree>
    <p:extLst>
      <p:ext uri="{BB962C8B-B14F-4D97-AF65-F5344CB8AC3E}">
        <p14:creationId xmlns:p14="http://schemas.microsoft.com/office/powerpoint/2010/main" val="433173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115616" y="2204864"/>
            <a:ext cx="7219407" cy="2808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600" b="1" dirty="0">
                <a:ea typeface="幼圆" pitchFamily="49" charset="-122"/>
                <a:cs typeface="Times New Roman" panose="02020603050405020304" pitchFamily="18" charset="0"/>
              </a:rPr>
              <a:t>能推导无水和渗流情况无黏性土坡安全系数</a:t>
            </a:r>
          </a:p>
          <a:p>
            <a:pPr marL="444500" indent="-4445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600" b="1" dirty="0">
                <a:ea typeface="幼圆" pitchFamily="49" charset="-122"/>
                <a:cs typeface="Times New Roman" panose="02020603050405020304" pitchFamily="18" charset="0"/>
              </a:rPr>
              <a:t>掌握条分法基本原理，瑞典条分法和毕肖普法</a:t>
            </a:r>
          </a:p>
          <a:p>
            <a:pPr marL="444500" indent="-4445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600" b="1" dirty="0">
                <a:ea typeface="幼圆" pitchFamily="49" charset="-122"/>
                <a:cs typeface="Times New Roman" panose="02020603050405020304" pitchFamily="18" charset="0"/>
              </a:rPr>
              <a:t>了解简布法的基本假设和适用情况</a:t>
            </a:r>
          </a:p>
          <a:p>
            <a:pPr marL="444500" indent="-4445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600" b="1" dirty="0">
                <a:ea typeface="幼圆" pitchFamily="49" charset="-122"/>
                <a:cs typeface="Times New Roman" panose="02020603050405020304" pitchFamily="18" charset="0"/>
              </a:rPr>
              <a:t>理解安全系数的定义，最小安全系数的意义</a:t>
            </a:r>
          </a:p>
          <a:p>
            <a:pPr marL="444500" indent="-444500" eaLnBrk="1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600" b="1" dirty="0">
                <a:ea typeface="幼圆" pitchFamily="49" charset="-122"/>
                <a:cs typeface="Times New Roman" panose="02020603050405020304" pitchFamily="18" charset="0"/>
              </a:rPr>
              <a:t>掌握不同情况下稳定分析应采用的强度指标</a:t>
            </a:r>
          </a:p>
        </p:txBody>
      </p:sp>
      <p:sp>
        <p:nvSpPr>
          <p:cNvPr id="3" name="Rectangle 36"/>
          <p:cNvSpPr>
            <a:spLocks noChangeArrowheads="1"/>
          </p:cNvSpPr>
          <p:nvPr/>
        </p:nvSpPr>
        <p:spPr bwMode="auto">
          <a:xfrm>
            <a:off x="12700" y="14288"/>
            <a:ext cx="275910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第七章 土坡稳定分析</a:t>
            </a:r>
          </a:p>
        </p:txBody>
      </p:sp>
      <p:sp>
        <p:nvSpPr>
          <p:cNvPr id="4" name="Text Box 37"/>
          <p:cNvSpPr txBox="1">
            <a:spLocks noChangeArrowheads="1"/>
          </p:cNvSpPr>
          <p:nvPr/>
        </p:nvSpPr>
        <p:spPr bwMode="auto">
          <a:xfrm>
            <a:off x="3851920" y="1196752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</p:spTree>
    <p:extLst>
      <p:ext uri="{BB962C8B-B14F-4D97-AF65-F5344CB8AC3E}">
        <p14:creationId xmlns:p14="http://schemas.microsoft.com/office/powerpoint/2010/main" val="568549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5696" y="2348880"/>
            <a:ext cx="5698331" cy="2800767"/>
          </a:xfr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§8.1  </a:t>
            </a:r>
            <a:r>
              <a:rPr lang="zh-CN" altLang="en-US" dirty="0">
                <a:ea typeface="楷体_GB2312" pitchFamily="49" charset="-122"/>
              </a:rPr>
              <a:t>地基失稳的形式和过程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§8.2 </a:t>
            </a:r>
            <a:r>
              <a:rPr lang="zh-CN" altLang="en-US" dirty="0">
                <a:ea typeface="楷体_GB2312" pitchFamily="49" charset="-122"/>
              </a:rPr>
              <a:t>临塑荷载和临界荷载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§8.3 </a:t>
            </a:r>
            <a:r>
              <a:rPr lang="zh-CN" altLang="en-US" dirty="0">
                <a:ea typeface="楷体_GB2312" pitchFamily="49" charset="-122"/>
              </a:rPr>
              <a:t>极限承载力计算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dirty="0">
                <a:ea typeface="楷体_GB2312" pitchFamily="49" charset="-122"/>
              </a:rPr>
              <a:t>§8.4 </a:t>
            </a:r>
            <a:r>
              <a:rPr lang="zh-CN" altLang="en-US" dirty="0">
                <a:ea typeface="楷体_GB2312" pitchFamily="49" charset="-122"/>
              </a:rPr>
              <a:t>地基承载力的确定方法</a:t>
            </a:r>
          </a:p>
        </p:txBody>
      </p:sp>
      <p:sp>
        <p:nvSpPr>
          <p:cNvPr id="4" name="Text Box 29"/>
          <p:cNvSpPr txBox="1">
            <a:spLocks noChangeArrowheads="1"/>
          </p:cNvSpPr>
          <p:nvPr/>
        </p:nvSpPr>
        <p:spPr bwMode="auto">
          <a:xfrm>
            <a:off x="1259632" y="1052736"/>
            <a:ext cx="608451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4000" b="0">
                <a:latin typeface="黑体" pitchFamily="49" charset="-122"/>
                <a:ea typeface="黑体" pitchFamily="49" charset="-122"/>
                <a:cs typeface="+mj-cs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b="1">
                <a:latin typeface="Garamond" pitchFamily="18" charset="0"/>
                <a:ea typeface="华文新魏" pitchFamily="2" charset="-122"/>
              </a:defRPr>
            </a:lvl9pPr>
          </a:lstStyle>
          <a:p>
            <a:r>
              <a:rPr lang="zh-CN" altLang="en-US" dirty="0"/>
              <a:t>第八章 地基承载力</a:t>
            </a:r>
          </a:p>
        </p:txBody>
      </p:sp>
    </p:spTree>
    <p:extLst>
      <p:ext uri="{BB962C8B-B14F-4D97-AF65-F5344CB8AC3E}">
        <p14:creationId xmlns:p14="http://schemas.microsoft.com/office/powerpoint/2010/main" val="18101772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6"/>
          <p:cNvSpPr>
            <a:spLocks noChangeArrowheads="1"/>
          </p:cNvSpPr>
          <p:nvPr/>
        </p:nvSpPr>
        <p:spPr bwMode="auto">
          <a:xfrm>
            <a:off x="12700" y="14288"/>
            <a:ext cx="239906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第八章 地基承载力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27584" y="836712"/>
            <a:ext cx="7200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§8.1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地基失稳的形式和过程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11560" y="1844824"/>
            <a:ext cx="3168352" cy="37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533400" indent="-533400">
              <a:lnSpc>
                <a:spcPct val="15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2800" b="1">
                <a:latin typeface="Times New Roman" pitchFamily="18" charset="0"/>
                <a:ea typeface="幼圆" pitchFamily="49" charset="-122"/>
              </a:defRPr>
            </a:lvl1pPr>
            <a:lvl2pPr marL="742950" indent="-285750" eaLnBrk="0" hangingPunct="0">
              <a:defRPr sz="1400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latin typeface="Times New Roman" pitchFamily="18" charset="0"/>
                <a:ea typeface="宋体" charset="-122"/>
              </a:defRPr>
            </a:lvl9pPr>
          </a:lstStyle>
          <a:p>
            <a:r>
              <a:rPr lang="zh-CN" altLang="en-US" sz="2400" dirty="0"/>
              <a:t>地基失稳工程案例</a:t>
            </a:r>
            <a:endParaRPr lang="en-US" altLang="zh-CN" sz="2400" dirty="0"/>
          </a:p>
          <a:p>
            <a:r>
              <a:rPr lang="zh-CN" altLang="en-US" sz="2400" dirty="0"/>
              <a:t>现场荷载试验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竖直荷载下地基的破坏形式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4427984" y="1772816"/>
            <a:ext cx="4464496" cy="207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试验方法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en-US" altLang="zh-CN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p-s</a:t>
            </a: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曲线：三个阶段的特点和对应的状态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两个界限荷载：临塑荷载和极限荷载</a:t>
            </a:r>
          </a:p>
        </p:txBody>
      </p:sp>
      <p:sp>
        <p:nvSpPr>
          <p:cNvPr id="10" name="左大括号 9"/>
          <p:cNvSpPr/>
          <p:nvPr/>
        </p:nvSpPr>
        <p:spPr bwMode="auto">
          <a:xfrm>
            <a:off x="4211960" y="1988840"/>
            <a:ext cx="216024" cy="1621651"/>
          </a:xfrm>
          <a:prstGeom prst="lef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4427984" y="4077072"/>
            <a:ext cx="4392166" cy="2098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三种破坏形式：整体剪切破坏、局部剪切破坏、冲剪破坏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地基基础情况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地基破坏特征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en-US" altLang="zh-CN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p-s</a:t>
            </a: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曲线的特征</a:t>
            </a:r>
          </a:p>
        </p:txBody>
      </p:sp>
      <p:sp>
        <p:nvSpPr>
          <p:cNvPr id="12" name="左大括号 11"/>
          <p:cNvSpPr/>
          <p:nvPr/>
        </p:nvSpPr>
        <p:spPr bwMode="auto">
          <a:xfrm>
            <a:off x="4211960" y="4255621"/>
            <a:ext cx="216024" cy="1765667"/>
          </a:xfrm>
          <a:prstGeom prst="lef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  <p:sp>
        <p:nvSpPr>
          <p:cNvPr id="13" name="右箭头 12"/>
          <p:cNvSpPr/>
          <p:nvPr/>
        </p:nvSpPr>
        <p:spPr bwMode="auto">
          <a:xfrm>
            <a:off x="3203848" y="2681828"/>
            <a:ext cx="864096" cy="288032"/>
          </a:xfrm>
          <a:prstGeom prst="rightArrow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  <p:sp>
        <p:nvSpPr>
          <p:cNvPr id="14" name="右箭头 13"/>
          <p:cNvSpPr/>
          <p:nvPr/>
        </p:nvSpPr>
        <p:spPr bwMode="auto">
          <a:xfrm>
            <a:off x="3676534" y="4999630"/>
            <a:ext cx="432048" cy="288032"/>
          </a:xfrm>
          <a:prstGeom prst="rightArrow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4587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27584" y="404664"/>
            <a:ext cx="691276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§8.2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临塑荷载和临界荷载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95536" y="1124744"/>
            <a:ext cx="3821505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ea typeface="幼圆" pitchFamily="49" charset="-122"/>
              </a:rPr>
              <a:t>临塑荷载和临界荷载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923928" y="1195685"/>
            <a:ext cx="4024706" cy="326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定义，塑性区发展，特性</a:t>
            </a:r>
            <a:endParaRPr lang="en-US" altLang="zh-CN" sz="2200" b="1" dirty="0">
              <a:solidFill>
                <a:srgbClr val="FFFF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95536" y="1699741"/>
            <a:ext cx="280831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ea typeface="幼圆" pitchFamily="49" charset="-122"/>
              </a:rPr>
              <a:t>一般计算方法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395536" y="2563837"/>
            <a:ext cx="5070601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25475" indent="-62547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4500" indent="-444500" eaLnBrk="1" hangingPunct="1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ea typeface="幼圆" pitchFamily="49" charset="-122"/>
              </a:rPr>
              <a:t>条形均布荷载条件下的计算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2987824" y="1771749"/>
            <a:ext cx="4464496" cy="74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浅基础及荷载简化、应力计算、极限平衡状态区域范围</a:t>
            </a:r>
            <a:endParaRPr lang="en-US" altLang="zh-CN" sz="2200" b="1" dirty="0">
              <a:solidFill>
                <a:srgbClr val="FFFF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1475656" y="3352965"/>
            <a:ext cx="4968552" cy="79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极限平衡状态区最大深度计算</a:t>
            </a:r>
            <a:endParaRPr lang="en-US" altLang="zh-CN" sz="2200" b="1" dirty="0">
              <a:solidFill>
                <a:srgbClr val="FFFF00"/>
              </a:solidFill>
              <a:latin typeface="幼圆" pitchFamily="49" charset="-122"/>
              <a:ea typeface="幼圆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latin typeface="幼圆" pitchFamily="49" charset="-122"/>
                <a:ea typeface="幼圆" pitchFamily="49" charset="-122"/>
              </a:rPr>
              <a:t>各种临界荷载的承载力系数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2"/>
          <a:srcRect t="7517" b="3073"/>
          <a:stretch/>
        </p:blipFill>
        <p:spPr>
          <a:xfrm>
            <a:off x="5580112" y="3495030"/>
            <a:ext cx="2744724" cy="65405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1475656" y="5445224"/>
            <a:ext cx="6768752" cy="7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65125" indent="-3651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特例：</a:t>
            </a:r>
            <a:r>
              <a:rPr lang="zh-CN" altLang="en-US" sz="2200" b="1" i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的情况</a:t>
            </a:r>
            <a:endParaRPr lang="zh-CN" altLang="en-US" sz="2200" b="1" dirty="0">
              <a:solidFill>
                <a:srgbClr val="FFFF00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影响因素：外因，</a:t>
            </a:r>
            <a:r>
              <a:rPr lang="en-US" altLang="zh-CN" sz="22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rgbClr val="FFFF00"/>
                </a:solidFill>
                <a:ea typeface="幼圆" pitchFamily="49" charset="-122"/>
                <a:cs typeface="Times New Roman" panose="02020603050405020304" pitchFamily="18" charset="0"/>
              </a:rPr>
              <a:t>；内因，</a:t>
            </a:r>
            <a:r>
              <a:rPr lang="en-US" altLang="zh-CN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zh-CN" altLang="en-US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endParaRPr lang="zh-CN" altLang="en-US" sz="2200" b="1" dirty="0">
              <a:solidFill>
                <a:srgbClr val="FFFF00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44"/>
          <p:cNvSpPr>
            <a:spLocks noChangeArrowheads="1"/>
          </p:cNvSpPr>
          <p:nvPr/>
        </p:nvSpPr>
        <p:spPr bwMode="auto">
          <a:xfrm>
            <a:off x="4283968" y="5373216"/>
            <a:ext cx="3783481" cy="447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342900" indent="-342900"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1C1C1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20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cr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= p</a:t>
            </a:r>
            <a:r>
              <a:rPr lang="en-US" altLang="zh-CN" sz="22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1/4</a:t>
            </a:r>
            <a:r>
              <a:rPr lang="en-US" altLang="zh-CN" sz="2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= p</a:t>
            </a:r>
            <a:r>
              <a:rPr lang="en-US" altLang="zh-CN" sz="22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1/3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zh-CN" sz="22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d+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endParaRPr lang="en-US" altLang="zh-CN" sz="2200" b="1" i="1" baseline="-25000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2" name="Rectangle 36"/>
          <p:cNvSpPr>
            <a:spLocks noChangeArrowheads="1"/>
          </p:cNvSpPr>
          <p:nvPr/>
        </p:nvSpPr>
        <p:spPr bwMode="auto">
          <a:xfrm>
            <a:off x="12700" y="14288"/>
            <a:ext cx="239906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第八章 地基承载力</a:t>
            </a:r>
          </a:p>
        </p:txBody>
      </p:sp>
      <p:sp>
        <p:nvSpPr>
          <p:cNvPr id="2" name="矩形 1"/>
          <p:cNvSpPr/>
          <p:nvPr/>
        </p:nvSpPr>
        <p:spPr>
          <a:xfrm>
            <a:off x="1375367" y="4581128"/>
            <a:ext cx="6228184" cy="447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463" indent="-271463" defTabSz="739775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  <a:tabLst>
                <a:tab pos="3411538" algn="l"/>
              </a:tabLst>
            </a:pPr>
            <a:r>
              <a:rPr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承载力系数</a:t>
            </a:r>
            <a:r>
              <a:rPr lang="en-US" altLang="zh-CN" sz="2200" b="1" i="1" dirty="0" err="1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200" b="1" baseline="-25000" dirty="0" err="1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200" b="1" i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200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1" i="1" dirty="0" err="1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200" b="1" baseline="-25000" dirty="0" err="1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γ</a:t>
            </a:r>
            <a:r>
              <a:rPr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都是内摩擦角</a:t>
            </a:r>
            <a:r>
              <a:rPr lang="en-US" altLang="zh-CN" sz="2200" b="1" i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φ</a:t>
            </a:r>
            <a:r>
              <a:rPr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的函数</a:t>
            </a:r>
            <a:endParaRPr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AutoShape 3"/>
          <p:cNvSpPr>
            <a:spLocks noChangeArrowheads="1"/>
          </p:cNvSpPr>
          <p:nvPr/>
        </p:nvSpPr>
        <p:spPr bwMode="auto">
          <a:xfrm>
            <a:off x="7013326" y="2405841"/>
            <a:ext cx="1572668" cy="744916"/>
          </a:xfrm>
          <a:prstGeom prst="cloudCallout">
            <a:avLst>
              <a:gd name="adj1" fmla="val -24505"/>
              <a:gd name="adj2" fmla="val 86174"/>
            </a:avLst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</p:spTree>
    <p:extLst>
      <p:ext uri="{BB962C8B-B14F-4D97-AF65-F5344CB8AC3E}">
        <p14:creationId xmlns:p14="http://schemas.microsoft.com/office/powerpoint/2010/main" val="1223952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691680" y="476672"/>
            <a:ext cx="53285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§8.3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极限承载力计算</a:t>
            </a:r>
          </a:p>
        </p:txBody>
      </p:sp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12700" y="14288"/>
            <a:ext cx="239906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第八章 地基承载力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39552" y="1268413"/>
            <a:ext cx="47525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514350" indent="-514350" eaLnBrk="1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ea typeface="幼圆" pitchFamily="49" charset="-122"/>
                <a:cs typeface="Times New Roman" panose="02020603050405020304" pitchFamily="18" charset="0"/>
              </a:rPr>
              <a:t>各种极限承载力公式比较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39552" y="4077072"/>
            <a:ext cx="593762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514350" indent="-514350" eaLnBrk="1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+mj-lt"/>
              <a:buAutoNum type="arabicPeriod" startAt="2"/>
            </a:pPr>
            <a:r>
              <a:rPr lang="zh-CN" altLang="en-US" sz="2800" b="1" dirty="0">
                <a:ea typeface="幼圆" pitchFamily="49" charset="-122"/>
                <a:cs typeface="Times New Roman" panose="02020603050405020304" pitchFamily="18" charset="0"/>
              </a:rPr>
              <a:t>极限承载力的影响因素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39552" y="4653136"/>
            <a:ext cx="5184576" cy="1713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外因：</a:t>
            </a:r>
            <a:r>
              <a:rPr lang="en-US" altLang="zh-CN" sz="2200" b="1" i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d</a:t>
            </a:r>
            <a:r>
              <a:rPr lang="zh-CN" altLang="en-US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和宽度</a:t>
            </a:r>
            <a:r>
              <a:rPr lang="en-US" altLang="zh-CN" sz="2200" b="1" i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；内因：</a:t>
            </a:r>
            <a:r>
              <a:rPr lang="en-US" altLang="zh-CN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200" b="1" i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zh-CN" altLang="en-US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200" b="1" i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200" b="1" i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2200" b="1" dirty="0">
                <a:solidFill>
                  <a:srgbClr val="FFFF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滑动面上黏聚力产生的承载力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滑动土体自重产生的承载力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基底以上两侧超载产生的承载力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539552" y="1988840"/>
            <a:ext cx="1944216" cy="1713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基本假定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分析方法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承载力系数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汉森公式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483768" y="1844824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196507794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30317946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8900912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35338212"/>
                    </a:ext>
                  </a:extLst>
                </a:gridCol>
                <a:gridCol w="1775520">
                  <a:extLst>
                    <a:ext uri="{9D8B030D-6E8A-4147-A177-3AD203B41FA5}">
                      <a16:colId xmlns:a16="http://schemas.microsoft.com/office/drawing/2014/main" val="3572726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基底光滑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基底下土刚性核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基底下土</a:t>
                      </a:r>
                      <a:r>
                        <a:rPr lang="el-GR" altLang="zh-CN" dirty="0">
                          <a:solidFill>
                            <a:schemeClr val="tx1"/>
                          </a:solidFill>
                        </a:rPr>
                        <a:t>γ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=0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滑动面只延伸到基底表面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252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普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215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太沙基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16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梅耶霍夫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</a:t>
                      </a:r>
                      <a:endParaRPr lang="zh-CN" altLang="en-US" sz="1800" b="1" kern="1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  <a:sym typeface="Symbol"/>
                        </a:rPr>
                        <a:t>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913486"/>
                  </a:ext>
                </a:extLst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3789040"/>
            <a:ext cx="3374136" cy="836676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1" name="右箭头 10"/>
          <p:cNvSpPr/>
          <p:nvPr/>
        </p:nvSpPr>
        <p:spPr bwMode="auto">
          <a:xfrm>
            <a:off x="2132236" y="2173114"/>
            <a:ext cx="288032" cy="144016"/>
          </a:xfrm>
          <a:prstGeom prst="rightArrow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0299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691680" y="476672"/>
            <a:ext cx="53285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§8.3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极限承载力计算</a:t>
            </a:r>
          </a:p>
        </p:txBody>
      </p:sp>
      <p:sp>
        <p:nvSpPr>
          <p:cNvPr id="3" name="Rectangle 36"/>
          <p:cNvSpPr>
            <a:spLocks noChangeArrowheads="1"/>
          </p:cNvSpPr>
          <p:nvPr/>
        </p:nvSpPr>
        <p:spPr bwMode="auto">
          <a:xfrm>
            <a:off x="12700" y="14288"/>
            <a:ext cx="239906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第八章 地基承载力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95536" y="1556792"/>
            <a:ext cx="38884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普朗德尔</a:t>
            </a:r>
            <a:r>
              <a:rPr kumimoji="1" lang="en-US" altLang="zh-CN" sz="28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2800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瑞斯纳公式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3609134"/>
            <a:ext cx="7303641" cy="2389839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276872"/>
            <a:ext cx="2464308" cy="458724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2204864"/>
            <a:ext cx="2674620" cy="664464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176" y="2348880"/>
            <a:ext cx="2033016" cy="414528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936" y="5985398"/>
            <a:ext cx="2341067" cy="755970"/>
          </a:xfrm>
          <a:prstGeom prst="rect">
            <a:avLst/>
          </a:prstGeom>
          <a:solidFill>
            <a:schemeClr val="tx1"/>
          </a:solidFill>
        </p:spPr>
      </p:pic>
      <p:cxnSp>
        <p:nvCxnSpPr>
          <p:cNvPr id="11" name="直接箭头连接符 10"/>
          <p:cNvCxnSpPr/>
          <p:nvPr/>
        </p:nvCxnSpPr>
        <p:spPr bwMode="auto">
          <a:xfrm flipV="1">
            <a:off x="4788024" y="5769374"/>
            <a:ext cx="216024" cy="36004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467544" y="3140968"/>
            <a:ext cx="2736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FFC000"/>
                </a:solidFill>
                <a:latin typeface="黑体" pitchFamily="2" charset="-122"/>
                <a:ea typeface="黑体" pitchFamily="2" charset="-122"/>
              </a:rPr>
              <a:t>地基的滑移线网</a:t>
            </a:r>
          </a:p>
        </p:txBody>
      </p:sp>
      <p:sp>
        <p:nvSpPr>
          <p:cNvPr id="13" name="Text Box 37"/>
          <p:cNvSpPr txBox="1">
            <a:spLocks noChangeArrowheads="1"/>
          </p:cNvSpPr>
          <p:nvPr/>
        </p:nvSpPr>
        <p:spPr bwMode="auto">
          <a:xfrm>
            <a:off x="8027988" y="0"/>
            <a:ext cx="11160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重点</a:t>
            </a:r>
          </a:p>
        </p:txBody>
      </p:sp>
    </p:spTree>
    <p:extLst>
      <p:ext uri="{BB962C8B-B14F-4D97-AF65-F5344CB8AC3E}">
        <p14:creationId xmlns:p14="http://schemas.microsoft.com/office/powerpoint/2010/main" val="6003007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115616" y="764704"/>
            <a:ext cx="691276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§8.4 </a:t>
            </a:r>
            <a:r>
              <a:rPr lang="zh-CN" altLang="en-US" sz="40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地基承载力的确定方法</a:t>
            </a:r>
          </a:p>
        </p:txBody>
      </p:sp>
      <p:sp>
        <p:nvSpPr>
          <p:cNvPr id="3" name="Rectangle 36"/>
          <p:cNvSpPr>
            <a:spLocks noChangeArrowheads="1"/>
          </p:cNvSpPr>
          <p:nvPr/>
        </p:nvSpPr>
        <p:spPr bwMode="auto">
          <a:xfrm>
            <a:off x="12700" y="14288"/>
            <a:ext cx="2399060" cy="400110"/>
          </a:xfrm>
          <a:prstGeom prst="rect">
            <a:avLst/>
          </a:prstGeom>
          <a:solidFill>
            <a:srgbClr val="FFFF99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prstDash val="dash"/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CC"/>
                </a:solidFill>
                <a:latin typeface="华文琥珀" pitchFamily="2" charset="-122"/>
                <a:ea typeface="华文琥珀" pitchFamily="2" charset="-122"/>
              </a:rPr>
              <a:t>第八章 地基承载力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7584" y="1844824"/>
            <a:ext cx="568863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514350" indent="-514350" eaLnBrk="1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zh-CN" altLang="en-US" sz="2800" b="1" dirty="0">
                <a:ea typeface="幼圆" pitchFamily="49" charset="-122"/>
                <a:cs typeface="Times New Roman" panose="02020603050405020304" pitchFamily="18" charset="0"/>
              </a:rPr>
              <a:t>地基承载力的两种极限状态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331640" y="2636912"/>
            <a:ext cx="5904656" cy="889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地基的极限承载力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地基的容许承载力：稳定要求、沉降要求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827584" y="3933056"/>
            <a:ext cx="648072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514350" indent="-514350" eaLnBrk="1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+mj-lt"/>
              <a:buAutoNum type="arabicPeriod" startAt="2"/>
            </a:pPr>
            <a:r>
              <a:rPr lang="zh-CN" altLang="en-US" sz="2800" b="1" dirty="0">
                <a:ea typeface="幼圆" pitchFamily="49" charset="-122"/>
                <a:cs typeface="Times New Roman" panose="02020603050405020304" pitchFamily="18" charset="0"/>
              </a:rPr>
              <a:t>地基承载力的确定方法（参考规范）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31640" y="4725144"/>
            <a:ext cx="7200800" cy="1713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基本方法：容许承载力初值→沉降计算确定设计值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承载力公式法</a:t>
            </a:r>
            <a:endParaRPr lang="en-US" altLang="zh-CN" sz="2200" b="1" dirty="0">
              <a:solidFill>
                <a:srgbClr val="FFFF00"/>
              </a:solidFill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现场原位试验法</a:t>
            </a:r>
          </a:p>
          <a:p>
            <a:pPr marL="342900" indent="-342900" eaLnBrk="1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srgbClr val="A50021"/>
              </a:buClr>
              <a:buFont typeface="Arial" panose="020B0604020202020204" pitchFamily="34" charset="0"/>
              <a:buChar char="•"/>
              <a:tabLst>
                <a:tab pos="361950" algn="l"/>
              </a:tabLst>
            </a:pPr>
            <a:r>
              <a:rPr lang="zh-CN" altLang="en-US" sz="2200" b="1" dirty="0">
                <a:solidFill>
                  <a:srgbClr val="FFFF00"/>
                </a:solidFill>
                <a:ea typeface="+mn-ea"/>
                <a:cs typeface="Times New Roman" panose="02020603050405020304" pitchFamily="18" charset="0"/>
              </a:rPr>
              <a:t>深度和宽度修正</a:t>
            </a:r>
          </a:p>
        </p:txBody>
      </p:sp>
    </p:spTree>
    <p:extLst>
      <p:ext uri="{BB962C8B-B14F-4D97-AF65-F5344CB8AC3E}">
        <p14:creationId xmlns:p14="http://schemas.microsoft.com/office/powerpoint/2010/main" val="1447816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3850" y="688608"/>
            <a:ext cx="8712200" cy="3293209"/>
          </a:xfrm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4000" b="0" dirty="0">
                <a:latin typeface="黑体" pitchFamily="49" charset="-122"/>
                <a:ea typeface="黑体" pitchFamily="49" charset="-122"/>
              </a:rPr>
              <a:t>没有交齐</a:t>
            </a:r>
            <a:r>
              <a:rPr lang="zh-CN" altLang="en-US" sz="40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作业和试验报告</a:t>
            </a:r>
            <a:r>
              <a:rPr lang="zh-CN" altLang="en-US" sz="4000" b="0" dirty="0">
                <a:latin typeface="黑体" pitchFamily="49" charset="-122"/>
                <a:ea typeface="黑体" pitchFamily="49" charset="-122"/>
              </a:rPr>
              <a:t>的同学</a:t>
            </a:r>
            <a:br>
              <a:rPr lang="zh-CN" altLang="en-US" sz="4000" b="0" dirty="0">
                <a:latin typeface="黑体" pitchFamily="49" charset="-122"/>
                <a:ea typeface="黑体" pitchFamily="49" charset="-122"/>
              </a:rPr>
            </a:br>
            <a:r>
              <a:rPr lang="zh-CN" altLang="en-US" sz="4000" b="0" dirty="0">
                <a:latin typeface="黑体" pitchFamily="49" charset="-122"/>
                <a:ea typeface="黑体" pitchFamily="49" charset="-122"/>
              </a:rPr>
              <a:t>应在</a:t>
            </a:r>
            <a:r>
              <a:rPr lang="en-US" altLang="zh-CN" sz="4000" b="0" dirty="0">
                <a:latin typeface="黑体" pitchFamily="49" charset="-122"/>
                <a:ea typeface="黑体" pitchFamily="49" charset="-122"/>
              </a:rPr>
              <a:t>2021</a:t>
            </a:r>
            <a:r>
              <a:rPr lang="zh-CN" altLang="en-US" sz="4000" b="0" dirty="0">
                <a:latin typeface="黑体" pitchFamily="49" charset="-122"/>
                <a:ea typeface="黑体" pitchFamily="49" charset="-122"/>
              </a:rPr>
              <a:t>年</a:t>
            </a:r>
            <a:r>
              <a:rPr lang="en-US" altLang="zh-CN" sz="4000" b="0" dirty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4000" b="0" dirty="0">
                <a:latin typeface="黑体" pitchFamily="49" charset="-122"/>
                <a:ea typeface="黑体" pitchFamily="49" charset="-122"/>
              </a:rPr>
              <a:t>月</a:t>
            </a:r>
            <a:r>
              <a:rPr lang="en-US" altLang="zh-CN" sz="4000" b="0" dirty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4000" b="0" dirty="0">
                <a:latin typeface="黑体" pitchFamily="49" charset="-122"/>
                <a:ea typeface="黑体" pitchFamily="49" charset="-122"/>
              </a:rPr>
              <a:t>日星期日</a:t>
            </a:r>
            <a:br>
              <a:rPr lang="en-US" altLang="zh-CN" sz="4000" b="0" dirty="0">
                <a:latin typeface="黑体" pitchFamily="49" charset="-122"/>
                <a:ea typeface="黑体" pitchFamily="49" charset="-122"/>
              </a:rPr>
            </a:br>
            <a:r>
              <a:rPr lang="zh-CN" altLang="en-US" sz="4000" b="0" dirty="0">
                <a:latin typeface="黑体" pitchFamily="49" charset="-122"/>
                <a:ea typeface="黑体" pitchFamily="49" charset="-122"/>
              </a:rPr>
              <a:t>下午</a:t>
            </a:r>
            <a:r>
              <a:rPr lang="en-US" altLang="zh-CN" sz="4000" b="0" dirty="0">
                <a:latin typeface="黑体" pitchFamily="49" charset="-122"/>
                <a:ea typeface="黑体" pitchFamily="49" charset="-122"/>
              </a:rPr>
              <a:t>5:00</a:t>
            </a:r>
            <a:r>
              <a:rPr lang="zh-CN" altLang="en-US" sz="4000" b="0" dirty="0">
                <a:latin typeface="黑体" pitchFamily="49" charset="-122"/>
                <a:ea typeface="黑体" pitchFamily="49" charset="-122"/>
              </a:rPr>
              <a:t>之前补齐！</a:t>
            </a:r>
            <a:br>
              <a:rPr lang="zh-CN" altLang="en-US" sz="4000" b="0" dirty="0">
                <a:latin typeface="黑体" pitchFamily="49" charset="-122"/>
                <a:ea typeface="黑体" pitchFamily="49" charset="-122"/>
              </a:rPr>
            </a:br>
            <a:r>
              <a:rPr lang="zh-CN" altLang="en-US" sz="4000" b="0" dirty="0">
                <a:latin typeface="黑体" pitchFamily="49" charset="-122"/>
                <a:ea typeface="黑体" pitchFamily="49" charset="-122"/>
              </a:rPr>
              <a:t>过期取消考试资格</a:t>
            </a:r>
            <a:r>
              <a:rPr lang="en-US" altLang="zh-CN" sz="4000" b="0" dirty="0">
                <a:latin typeface="黑体" pitchFamily="49" charset="-122"/>
                <a:ea typeface="黑体" pitchFamily="49" charset="-122"/>
              </a:rPr>
              <a:t>!</a:t>
            </a:r>
            <a:endParaRPr lang="zh-CN" altLang="en-US" sz="4000" b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640" y="4221088"/>
            <a:ext cx="7314009" cy="1298575"/>
          </a:xfrm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缺作业同学尽快和助教老师联系！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0" dirty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缺试验报告同学尽快和实验课老师联系！</a:t>
            </a:r>
            <a:endParaRPr lang="zh-CN" altLang="en-US" sz="2800" b="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66930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0" dirty="0">
                <a:latin typeface="Times New Roman" pitchFamily="18" charset="0"/>
                <a:ea typeface="黑体" pitchFamily="49" charset="-122"/>
              </a:rPr>
              <a:t>《</a:t>
            </a:r>
            <a:r>
              <a:rPr lang="zh-CN" altLang="en-US" sz="4800" b="0" dirty="0">
                <a:latin typeface="Times New Roman" pitchFamily="18" charset="0"/>
                <a:ea typeface="黑体" pitchFamily="49" charset="-122"/>
              </a:rPr>
              <a:t>土力学</a:t>
            </a:r>
            <a:r>
              <a:rPr lang="en-US" altLang="zh-CN" sz="4800" b="0" dirty="0">
                <a:latin typeface="Times New Roman" pitchFamily="18" charset="0"/>
                <a:ea typeface="黑体" pitchFamily="49" charset="-122"/>
              </a:rPr>
              <a:t>》</a:t>
            </a:r>
            <a:r>
              <a:rPr lang="zh-CN" altLang="en-US" sz="4800" b="0" dirty="0">
                <a:latin typeface="Times New Roman" pitchFamily="18" charset="0"/>
                <a:ea typeface="黑体" pitchFamily="49" charset="-122"/>
              </a:rPr>
              <a:t>答疑安排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84313"/>
            <a:ext cx="8424614" cy="4032919"/>
          </a:xfrm>
        </p:spPr>
        <p:txBody>
          <a:bodyPr/>
          <a:lstStyle/>
          <a:p>
            <a:pPr eaLnBrk="1" hangingPunct="1"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r>
              <a:rPr lang="zh-CN" altLang="en-US" dirty="0">
                <a:solidFill>
                  <a:srgbClr val="FFFF00"/>
                </a:solidFill>
                <a:latin typeface="Times New Roman" pitchFamily="18" charset="0"/>
              </a:rPr>
              <a:t>时间：</a:t>
            </a:r>
            <a:endParaRPr lang="en-US" altLang="zh-CN" dirty="0">
              <a:solidFill>
                <a:srgbClr val="FFFF00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None/>
            </a:pPr>
            <a:r>
              <a:rPr lang="en-US" altLang="zh-CN" dirty="0">
                <a:latin typeface="Times New Roman" pitchFamily="18" charset="0"/>
              </a:rPr>
              <a:t>		2021</a:t>
            </a:r>
            <a:r>
              <a:rPr lang="zh-CN" altLang="en-US" dirty="0">
                <a:latin typeface="Times New Roman" pitchFamily="18" charset="0"/>
              </a:rPr>
              <a:t>年</a:t>
            </a:r>
            <a:r>
              <a:rPr lang="en-US" altLang="zh-CN" dirty="0">
                <a:latin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</a:rPr>
              <a:t>月</a:t>
            </a:r>
            <a:r>
              <a:rPr lang="en-US" altLang="zh-CN" dirty="0">
                <a:latin typeface="Times New Roman" pitchFamily="18" charset="0"/>
              </a:rPr>
              <a:t>3</a:t>
            </a:r>
            <a:r>
              <a:rPr lang="zh-CN" altLang="en-US" dirty="0">
                <a:latin typeface="Times New Roman" pitchFamily="18" charset="0"/>
              </a:rPr>
              <a:t>日  下午：</a:t>
            </a:r>
            <a:r>
              <a:rPr lang="en-US" altLang="zh-CN" dirty="0">
                <a:latin typeface="Times New Roman" pitchFamily="18" charset="0"/>
              </a:rPr>
              <a:t>15:00~17:00</a:t>
            </a: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None/>
            </a:pPr>
            <a:r>
              <a:rPr lang="en-US" altLang="zh-CN" dirty="0">
                <a:latin typeface="Times New Roman" pitchFamily="18" charset="0"/>
              </a:rPr>
              <a:t>         2021</a:t>
            </a:r>
            <a:r>
              <a:rPr lang="zh-CN" altLang="en-US" dirty="0">
                <a:latin typeface="Times New Roman" pitchFamily="18" charset="0"/>
              </a:rPr>
              <a:t>年</a:t>
            </a:r>
            <a:r>
              <a:rPr lang="en-US" altLang="zh-CN" dirty="0">
                <a:latin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</a:rPr>
              <a:t>月</a:t>
            </a:r>
            <a:r>
              <a:rPr lang="en-US" altLang="zh-CN" dirty="0">
                <a:latin typeface="Times New Roman" pitchFamily="18" charset="0"/>
              </a:rPr>
              <a:t>4</a:t>
            </a:r>
            <a:r>
              <a:rPr lang="zh-CN" altLang="en-US" dirty="0">
                <a:latin typeface="Times New Roman" pitchFamily="18" charset="0"/>
              </a:rPr>
              <a:t>日  上午：</a:t>
            </a:r>
            <a:r>
              <a:rPr lang="en-US" altLang="zh-CN" dirty="0">
                <a:latin typeface="Times New Roman" pitchFamily="18" charset="0"/>
              </a:rPr>
              <a:t>09:30~11:30</a:t>
            </a: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None/>
            </a:pPr>
            <a:r>
              <a:rPr lang="zh-CN" altLang="en-US" dirty="0">
                <a:latin typeface="Times New Roman" pitchFamily="18" charset="0"/>
              </a:rPr>
              <a:t>                               </a:t>
            </a:r>
            <a:endParaRPr lang="en-US" altLang="zh-CN" dirty="0">
              <a:latin typeface="Times New Roman" pitchFamily="18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None/>
            </a:pPr>
            <a:r>
              <a:rPr lang="zh-CN" altLang="en-US" dirty="0">
                <a:solidFill>
                  <a:srgbClr val="FFFF00"/>
                </a:solidFill>
                <a:latin typeface="Times New Roman" pitchFamily="18" charset="0"/>
              </a:rPr>
              <a:t>地点：</a:t>
            </a:r>
            <a:r>
              <a:rPr lang="zh-CN" altLang="en-US" dirty="0"/>
              <a:t>新水</a:t>
            </a:r>
            <a:r>
              <a:rPr lang="en-US" altLang="zh-CN" dirty="0"/>
              <a:t>300(</a:t>
            </a:r>
            <a:r>
              <a:rPr lang="zh-CN" altLang="en-US" dirty="0"/>
              <a:t>待确定</a:t>
            </a:r>
            <a:r>
              <a:rPr lang="en-US" altLang="zh-CN" dirty="0"/>
              <a:t>)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r>
              <a:rPr lang="zh-CN" altLang="en-US" dirty="0">
                <a:solidFill>
                  <a:srgbClr val="FFFF00"/>
                </a:solidFill>
                <a:latin typeface="Times New Roman" pitchFamily="18" charset="0"/>
              </a:rPr>
              <a:t>平时答疑：</a:t>
            </a:r>
            <a:r>
              <a:rPr lang="zh-CN" altLang="en-US" dirty="0">
                <a:latin typeface="Times New Roman" pitchFamily="18" charset="0"/>
              </a:rPr>
              <a:t>教师办公室</a:t>
            </a:r>
            <a:endParaRPr lang="en-US" altLang="zh-CN" dirty="0">
              <a:latin typeface="Times New Roman" pitchFamily="18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None/>
            </a:pPr>
            <a:r>
              <a:rPr lang="en-US" altLang="zh-CN" dirty="0">
                <a:latin typeface="Times New Roman" pitchFamily="18" charset="0"/>
              </a:rPr>
              <a:t>			 </a:t>
            </a:r>
            <a:r>
              <a:rPr lang="zh-CN" altLang="en-US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Email</a:t>
            </a:r>
            <a:r>
              <a:rPr lang="zh-CN" altLang="en-US" dirty="0">
                <a:latin typeface="Times New Roman" pitchFamily="18" charset="0"/>
              </a:rPr>
              <a:t>、微信</a:t>
            </a:r>
          </a:p>
        </p:txBody>
      </p:sp>
      <p:sp>
        <p:nvSpPr>
          <p:cNvPr id="1044484" name="Text Box 4"/>
          <p:cNvSpPr txBox="1">
            <a:spLocks noChangeArrowheads="1"/>
          </p:cNvSpPr>
          <p:nvPr/>
        </p:nvSpPr>
        <p:spPr bwMode="auto">
          <a:xfrm>
            <a:off x="1259632" y="5661248"/>
            <a:ext cx="6710180" cy="6463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Garamond" pitchFamily="18" charset="0"/>
                <a:ea typeface="幼圆" pitchFamily="49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600" b="0" dirty="0">
                <a:solidFill>
                  <a:srgbClr val="FFFFFF"/>
                </a:solidFill>
                <a:latin typeface="黑体" pitchFamily="49" charset="-122"/>
                <a:ea typeface="黑体" pitchFamily="49" charset="-122"/>
              </a:rPr>
              <a:t>祝同学们期末考试取得好成绩！</a:t>
            </a:r>
          </a:p>
        </p:txBody>
      </p:sp>
    </p:spTree>
    <p:extLst>
      <p:ext uri="{BB962C8B-B14F-4D97-AF65-F5344CB8AC3E}">
        <p14:creationId xmlns:p14="http://schemas.microsoft.com/office/powerpoint/2010/main" val="421853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044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044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48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 b="0" dirty="0">
                <a:latin typeface="Times New Roman" pitchFamily="18" charset="0"/>
                <a:ea typeface="黑体" pitchFamily="49" charset="-122"/>
              </a:rPr>
              <a:t>《</a:t>
            </a:r>
            <a:r>
              <a:rPr lang="zh-CN" altLang="en-US" sz="4800" b="0" dirty="0">
                <a:latin typeface="Times New Roman" pitchFamily="18" charset="0"/>
                <a:ea typeface="黑体" pitchFamily="49" charset="-122"/>
              </a:rPr>
              <a:t>土力学</a:t>
            </a:r>
            <a:r>
              <a:rPr lang="en-US" altLang="zh-CN" sz="4800" b="0" dirty="0">
                <a:latin typeface="Times New Roman" pitchFamily="18" charset="0"/>
                <a:ea typeface="黑体" pitchFamily="49" charset="-122"/>
              </a:rPr>
              <a:t>》</a:t>
            </a:r>
            <a:r>
              <a:rPr lang="zh-CN" altLang="en-US" sz="4800" b="0" dirty="0">
                <a:latin typeface="Times New Roman" pitchFamily="18" charset="0"/>
                <a:ea typeface="黑体" pitchFamily="49" charset="-122"/>
              </a:rPr>
              <a:t>考前安排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1844353"/>
            <a:ext cx="7416824" cy="3243965"/>
          </a:xfrm>
        </p:spPr>
        <p:txBody>
          <a:bodyPr>
            <a:spAutoFit/>
          </a:bodyPr>
          <a:lstStyle/>
          <a:p>
            <a:pPr eaLnBrk="1" hangingPunct="1">
              <a:spcBef>
                <a:spcPct val="5000"/>
              </a:spcBef>
              <a:spcAft>
                <a:spcPct val="5000"/>
              </a:spcAft>
              <a:buNone/>
            </a:pPr>
            <a:r>
              <a:rPr lang="zh-CN" altLang="en-US" dirty="0">
                <a:solidFill>
                  <a:srgbClr val="FFFF00"/>
                </a:solidFill>
                <a:latin typeface="Times New Roman" pitchFamily="18" charset="0"/>
              </a:rPr>
              <a:t>作业：</a:t>
            </a:r>
            <a:r>
              <a:rPr lang="zh-CN" altLang="en-US" dirty="0">
                <a:latin typeface="Times New Roman" pitchFamily="18" charset="0"/>
              </a:rPr>
              <a:t>考前交齐作业</a:t>
            </a:r>
            <a:endParaRPr lang="en-US" altLang="zh-CN" dirty="0">
              <a:solidFill>
                <a:srgbClr val="FFFF00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endParaRPr lang="en-US" altLang="zh-CN" dirty="0">
              <a:solidFill>
                <a:srgbClr val="FFFF00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r>
              <a:rPr lang="zh-CN" altLang="en-US" dirty="0">
                <a:solidFill>
                  <a:srgbClr val="FFFF00"/>
                </a:solidFill>
                <a:latin typeface="Times New Roman" pitchFamily="18" charset="0"/>
              </a:rPr>
              <a:t>答疑：</a:t>
            </a:r>
            <a:r>
              <a:rPr lang="zh-CN" altLang="en-US" dirty="0">
                <a:latin typeface="Times New Roman" pitchFamily="18" charset="0"/>
              </a:rPr>
              <a:t>教师办公室</a:t>
            </a:r>
            <a:endParaRPr lang="en-US" altLang="zh-CN" dirty="0">
              <a:latin typeface="Times New Roman" pitchFamily="18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        云答疑</a:t>
            </a:r>
            <a:endParaRPr lang="en-US" altLang="zh-CN" dirty="0">
              <a:latin typeface="Times New Roman" pitchFamily="18" charset="0"/>
            </a:endParaRPr>
          </a:p>
          <a:p>
            <a:pPr eaLnBrk="1" hangingPunct="1">
              <a:spcBef>
                <a:spcPct val="5000"/>
              </a:spcBef>
              <a:spcAft>
                <a:spcPct val="5000"/>
              </a:spcAft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		</a:t>
            </a:r>
            <a:r>
              <a:rPr lang="zh-CN" altLang="en-US" dirty="0">
                <a:latin typeface="Times New Roman" pitchFamily="18" charset="0"/>
              </a:rPr>
              <a:t>   作业云讲解</a:t>
            </a:r>
            <a:br>
              <a:rPr lang="en-US" altLang="zh-CN" dirty="0">
                <a:latin typeface="Times New Roman" pitchFamily="18" charset="0"/>
              </a:rPr>
            </a:br>
            <a:r>
              <a:rPr lang="en-US" altLang="zh-CN" dirty="0">
                <a:latin typeface="Times New Roman" pitchFamily="18" charset="0"/>
              </a:rPr>
              <a:t>	</a:t>
            </a:r>
            <a:r>
              <a:rPr lang="zh-CN" altLang="en-US" dirty="0">
                <a:latin typeface="Times New Roman" pitchFamily="18" charset="0"/>
              </a:rPr>
              <a:t>   </a:t>
            </a:r>
            <a:r>
              <a:rPr lang="en-US" altLang="zh-CN" dirty="0">
                <a:latin typeface="Times New Roman" pitchFamily="18" charset="0"/>
              </a:rPr>
              <a:t>Email</a:t>
            </a:r>
            <a:r>
              <a:rPr lang="zh-CN" altLang="en-US" dirty="0">
                <a:latin typeface="Times New Roman" pitchFamily="18" charset="0"/>
              </a:rPr>
              <a:t>、微信</a:t>
            </a:r>
          </a:p>
        </p:txBody>
      </p:sp>
    </p:spTree>
    <p:extLst>
      <p:ext uri="{BB962C8B-B14F-4D97-AF65-F5344CB8AC3E}">
        <p14:creationId xmlns:p14="http://schemas.microsoft.com/office/powerpoint/2010/main" val="10009048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5.3|17.7|10.8|45.9|2.2|9.4|12.4|5.9|9.6|1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5.3|17.7|10.8|45.9|2.2|9.4|12.4|5.9|9.6|1.7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华文新魏"/>
        <a:cs typeface=""/>
      </a:majorFont>
      <a:minorFont>
        <a:latin typeface="Garamond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FF"/>
          </a:solidFill>
          <a:prstDash val="dash"/>
          <a:round/>
          <a:headEnd type="none" w="med" len="med"/>
          <a:tailEnd type="triangl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FF"/>
          </a:solidFill>
          <a:prstDash val="dash"/>
          <a:round/>
          <a:headEnd type="none" w="med" len="med"/>
          <a:tailEnd type="triangl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  <a:ea typeface="宋体" pitchFamily="2" charset="-122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2468</Words>
  <Application>Microsoft Office PowerPoint</Application>
  <PresentationFormat>全屏显示(4:3)</PresentationFormat>
  <Paragraphs>441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3" baseType="lpstr">
      <vt:lpstr>黑体</vt:lpstr>
      <vt:lpstr>华文琥珀</vt:lpstr>
      <vt:lpstr>华文中宋</vt:lpstr>
      <vt:lpstr>微软雅黑</vt:lpstr>
      <vt:lpstr>幼圆</vt:lpstr>
      <vt:lpstr>Arial</vt:lpstr>
      <vt:lpstr>Calibri</vt:lpstr>
      <vt:lpstr>Garamond</vt:lpstr>
      <vt:lpstr>Symbol</vt:lpstr>
      <vt:lpstr>Times New Roman</vt:lpstr>
      <vt:lpstr>Wingdings</vt:lpstr>
      <vt:lpstr>Office 主题​​</vt:lpstr>
      <vt:lpstr>Stream</vt:lpstr>
      <vt:lpstr>Equation</vt:lpstr>
      <vt:lpstr> 土  力  学</vt:lpstr>
      <vt:lpstr>PowerPoint 演示文稿</vt:lpstr>
      <vt:lpstr>《土力学》期末考试</vt:lpstr>
      <vt:lpstr>《土力学》期末考试</vt:lpstr>
      <vt:lpstr>PowerPoint 演示文稿</vt:lpstr>
      <vt:lpstr>土的三大工程问题</vt:lpstr>
      <vt:lpstr>第五章 土的抗剪强度</vt:lpstr>
      <vt:lpstr>PowerPoint 演示文稿</vt:lpstr>
      <vt:lpstr>§5.2 土的抗剪强度的测定试验</vt:lpstr>
      <vt:lpstr>§5.3  应力路径与破坏主应力线</vt:lpstr>
      <vt:lpstr>PowerPoint 演示文稿</vt:lpstr>
      <vt:lpstr>PowerPoint 演示文稿</vt:lpstr>
      <vt:lpstr>第五章 土的抗剪强度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没有交齐作业和试验报告的同学 应在2021年1月3日星期日 下午5:00之前补齐！ 过期取消考试资格!</vt:lpstr>
      <vt:lpstr>《土力学》答疑安排</vt:lpstr>
      <vt:lpstr>《土力学》考前安排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土  力  学</dc:title>
  <dc:creator>huliming</dc:creator>
  <cp:lastModifiedBy>文博 单</cp:lastModifiedBy>
  <cp:revision>114</cp:revision>
  <dcterms:created xsi:type="dcterms:W3CDTF">2013-12-12T02:17:12Z</dcterms:created>
  <dcterms:modified xsi:type="dcterms:W3CDTF">2021-01-02T10:53:26Z</dcterms:modified>
</cp:coreProperties>
</file>