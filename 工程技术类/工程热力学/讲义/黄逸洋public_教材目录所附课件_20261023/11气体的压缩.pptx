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93" r:id="rId4"/>
    <p:sldId id="294" r:id="rId5"/>
    <p:sldId id="295" r:id="rId6"/>
    <p:sldId id="296" r:id="rId7"/>
    <p:sldId id="297" r:id="rId8"/>
    <p:sldId id="298" r:id="rId9"/>
    <p:sldId id="299" r:id="rId10"/>
    <p:sldId id="300" r:id="rId11"/>
    <p:sldId id="301" r:id="rId12"/>
    <p:sldId id="302" r:id="rId13"/>
    <p:sldId id="303" r:id="rId14"/>
    <p:sldId id="304" r:id="rId15"/>
    <p:sldId id="305" r:id="rId17"/>
    <p:sldId id="306" r:id="rId18"/>
    <p:sldId id="307" r:id="rId19"/>
    <p:sldId id="308" r:id="rId20"/>
    <p:sldId id="258" r:id="rId21"/>
    <p:sldId id="259" r:id="rId22"/>
    <p:sldId id="260" r:id="rId23"/>
    <p:sldId id="261" r:id="rId24"/>
    <p:sldId id="269" r:id="rId25"/>
    <p:sldId id="270" r:id="rId26"/>
    <p:sldId id="271" r:id="rId27"/>
    <p:sldId id="262" r:id="rId28"/>
    <p:sldId id="263" r:id="rId29"/>
    <p:sldId id="264" r:id="rId30"/>
    <p:sldId id="272" r:id="rId31"/>
    <p:sldId id="265" r:id="rId32"/>
    <p:sldId id="266" r:id="rId33"/>
    <p:sldId id="267" r:id="rId34"/>
    <p:sldId id="268" r:id="rId35"/>
    <p:sldId id="309" r:id="rId36"/>
    <p:sldId id="310" r:id="rId37"/>
    <p:sldId id="311" r:id="rId38"/>
    <p:sldId id="312" r:id="rId39"/>
    <p:sldId id="313" r:id="rId40"/>
    <p:sldId id="314"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image" Target="../media/image29.wmf"/><Relationship Id="rId7" Type="http://schemas.openxmlformats.org/officeDocument/2006/relationships/image" Target="../media/image28.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emf"/><Relationship Id="rId1" Type="http://schemas.openxmlformats.org/officeDocument/2006/relationships/image" Target="../media/image6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5.wmf"/><Relationship Id="rId1" Type="http://schemas.openxmlformats.org/officeDocument/2006/relationships/image" Target="../media/image7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27C58-8DD4-44EF-BA17-28A752BEA86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9E4E69-7384-4213-B7C1-A0C3E47F099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ChangeArrowheads="1" noTextEdit="1"/>
          </p:cNvSpPr>
          <p:nvPr>
            <p:ph type="sldImg" idx="4294967295"/>
          </p:nvPr>
        </p:nvSpPr>
        <p:spPr/>
      </p:sp>
      <p:sp>
        <p:nvSpPr>
          <p:cNvPr id="48130" name="文本占位符 2"/>
          <p:cNvSpPr>
            <a:spLocks noGrp="1" noChangeArrowheads="1"/>
          </p:cNvSpPr>
          <p:nvPr>
            <p:ph type="body" idx="4294967295"/>
          </p:nvPr>
        </p:nvSpPr>
        <p:spPr/>
        <p:txBody>
          <a:bodyPr/>
          <a:lstStyle/>
          <a:p>
            <a:endParaRPr lang="zh-CN" altLang="en-US" smtClean="0"/>
          </a:p>
        </p:txBody>
      </p:sp>
      <p:sp>
        <p:nvSpPr>
          <p:cNvPr id="48131"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97C58E31-67AE-469F-AD7C-03ACC1B403C4}" type="slidenum">
              <a:rPr lang="zh-CN" altLang="en-US" smtClean="0"/>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noChangeArrowheads="1" noTextEdit="1"/>
          </p:cNvSpPr>
          <p:nvPr>
            <p:ph type="sldImg" idx="4294967295"/>
          </p:nvPr>
        </p:nvSpPr>
        <p:spPr/>
      </p:sp>
      <p:sp>
        <p:nvSpPr>
          <p:cNvPr id="50178" name="文本占位符 2"/>
          <p:cNvSpPr>
            <a:spLocks noGrp="1" noChangeArrowheads="1"/>
          </p:cNvSpPr>
          <p:nvPr>
            <p:ph type="body" idx="4294967295"/>
          </p:nvPr>
        </p:nvSpPr>
        <p:spPr/>
        <p:txBody>
          <a:bodyPr/>
          <a:lstStyle/>
          <a:p>
            <a:endParaRPr lang="zh-CN" altLang="en-US" smtClean="0"/>
          </a:p>
        </p:txBody>
      </p:sp>
      <p:sp>
        <p:nvSpPr>
          <p:cNvPr id="5017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5BD93C30-2342-4EDE-87C8-C568C623345C}" type="slidenum">
              <a:rPr lang="zh-CN" altLang="en-US" smtClean="0"/>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ChangeArrowheads="1" noTextEdit="1"/>
          </p:cNvSpPr>
          <p:nvPr>
            <p:ph type="sldImg" idx="4294967295"/>
          </p:nvPr>
        </p:nvSpPr>
        <p:spPr/>
      </p:sp>
      <p:sp>
        <p:nvSpPr>
          <p:cNvPr id="52226" name="文本占位符 2"/>
          <p:cNvSpPr>
            <a:spLocks noGrp="1" noChangeArrowheads="1"/>
          </p:cNvSpPr>
          <p:nvPr>
            <p:ph type="body" idx="4294967295"/>
          </p:nvPr>
        </p:nvSpPr>
        <p:spPr/>
        <p:txBody>
          <a:bodyPr/>
          <a:lstStyle/>
          <a:p>
            <a:endParaRPr lang="zh-CN" altLang="en-US" smtClean="0"/>
          </a:p>
        </p:txBody>
      </p:sp>
      <p:sp>
        <p:nvSpPr>
          <p:cNvPr id="52227"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FE4DE48C-E58A-4F12-BC65-8D3D462303A6}" type="slidenum">
              <a:rPr lang="zh-CN" altLang="en-US" smtClean="0"/>
            </a:fld>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p:cNvSpPr>
            <a:spLocks noChangeArrowheads="1" noTextEdit="1"/>
          </p:cNvSpPr>
          <p:nvPr>
            <p:ph type="sldImg" idx="4294967295"/>
          </p:nvPr>
        </p:nvSpPr>
        <p:spPr/>
      </p:sp>
      <p:sp>
        <p:nvSpPr>
          <p:cNvPr id="81922"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日期占位符 64515"/>
          <p:cNvSpPr>
            <a:spLocks noGrp="1"/>
          </p:cNvSpPr>
          <p:nvPr>
            <p:ph type="dt" sz="half" idx="10"/>
          </p:nvPr>
        </p:nvSpPr>
        <p:spPr/>
        <p:txBody>
          <a:bodyPr/>
          <a:lstStyle>
            <a:lvl1pPr>
              <a:defRPr/>
            </a:lvl1pPr>
          </a:lstStyle>
          <a:p>
            <a:fld id="{BB962C8B-B14F-4D97-AF65-F5344CB8AC3E}" type="datetime1">
              <a:rPr lang="zh-CN" altLang="en-US"/>
            </a:fld>
            <a:endParaRPr lang="zh-CN" altLang="en-US">
              <a:latin typeface="Times New Roman" panose="02020603050405020304" pitchFamily="18" charset="0"/>
            </a:endParaRPr>
          </a:p>
        </p:txBody>
      </p:sp>
      <p:sp>
        <p:nvSpPr>
          <p:cNvPr id="4" name="页脚占位符 64516"/>
          <p:cNvSpPr>
            <a:spLocks noGrp="1"/>
          </p:cNvSpPr>
          <p:nvPr>
            <p:ph type="ftr" sz="quarter" idx="11"/>
          </p:nvPr>
        </p:nvSpPr>
        <p:spPr/>
        <p:txBody>
          <a:bodyPr/>
          <a:lstStyle>
            <a:lvl1pPr>
              <a:defRPr/>
            </a:lvl1pPr>
          </a:lstStyle>
          <a:p>
            <a:endParaRPr lang="zh-CN" altLang="en-US"/>
          </a:p>
        </p:txBody>
      </p:sp>
      <p:sp>
        <p:nvSpPr>
          <p:cNvPr id="5" name="灯片编号占位符 64517"/>
          <p:cNvSpPr>
            <a:spLocks noGrp="1"/>
          </p:cNvSpPr>
          <p:nvPr>
            <p:ph type="sldNum" sz="quarter" idx="12"/>
          </p:nvPr>
        </p:nvSpPr>
        <p:spPr/>
        <p:txBody>
          <a:bodyPr/>
          <a:lstStyle>
            <a:lvl1pPr>
              <a:defRPr/>
            </a:lvl1pPr>
          </a:lstStyle>
          <a:p>
            <a:fld id="{D6D47BAB-0924-438B-B271-1EBFFEE42542}" type="slidenum">
              <a:rPr lang="zh-CN" altLang="en-US"/>
            </a:fld>
            <a:endParaRPr lang="zh-CN" altLang="en-US">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tags" Target="../tags/tag3.xml"/><Relationship Id="rId4" Type="http://schemas.openxmlformats.org/officeDocument/2006/relationships/image" Target="../media/image2.png"/><Relationship Id="rId3" Type="http://schemas.openxmlformats.org/officeDocument/2006/relationships/oleObject" Target="../embeddings/oleObject2.bin"/><Relationship Id="rId2" Type="http://schemas.openxmlformats.org/officeDocument/2006/relationships/image" Target="../media/image1.png"/><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image" Target="../media/image3.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5.emf"/></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0.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emf"/><Relationship Id="rId1" Type="http://schemas.openxmlformats.org/officeDocument/2006/relationships/image" Target="../media/image11.emf"/></Relationships>
</file>

<file path=ppt/slides/_rels/slide21.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7.xml"/><Relationship Id="rId5" Type="http://schemas.openxmlformats.org/officeDocument/2006/relationships/image" Target="../media/image14.wmf"/><Relationship Id="rId4" Type="http://schemas.openxmlformats.org/officeDocument/2006/relationships/oleObject" Target="../embeddings/oleObject5.bin"/><Relationship Id="rId3"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image" Target="../media/image12.emf"/></Relationships>
</file>

<file path=ppt/slides/_rels/slide22.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image" Target="../media/image16.wmf"/><Relationship Id="rId3" Type="http://schemas.openxmlformats.org/officeDocument/2006/relationships/oleObject" Target="../embeddings/oleObject7.bin"/><Relationship Id="rId2" Type="http://schemas.openxmlformats.org/officeDocument/2006/relationships/image" Target="../media/image15.wmf"/><Relationship Id="rId1"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12.emf"/><Relationship Id="rId5" Type="http://schemas.openxmlformats.org/officeDocument/2006/relationships/oleObject" Target="../embeddings/oleObject10.bin"/><Relationship Id="rId4" Type="http://schemas.openxmlformats.org/officeDocument/2006/relationships/image" Target="../media/image18.wmf"/><Relationship Id="rId3" Type="http://schemas.openxmlformats.org/officeDocument/2006/relationships/oleObject" Target="../embeddings/oleObject9.bin"/><Relationship Id="rId2" Type="http://schemas.openxmlformats.org/officeDocument/2006/relationships/image" Target="../media/image17.wmf"/><Relationship Id="rId1"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11.emf"/><Relationship Id="rId3" Type="http://schemas.openxmlformats.org/officeDocument/2006/relationships/image" Target="../media/image12.emf"/><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oleObject" Target="../embeddings/oleObject12.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7.bin"/><Relationship Id="rId8" Type="http://schemas.openxmlformats.org/officeDocument/2006/relationships/image" Target="../media/image25.wmf"/><Relationship Id="rId7" Type="http://schemas.openxmlformats.org/officeDocument/2006/relationships/oleObject" Target="../embeddings/oleObject16.bin"/><Relationship Id="rId6" Type="http://schemas.openxmlformats.org/officeDocument/2006/relationships/image" Target="../media/image24.wmf"/><Relationship Id="rId5" Type="http://schemas.openxmlformats.org/officeDocument/2006/relationships/oleObject" Target="../embeddings/oleObject15.bin"/><Relationship Id="rId4" Type="http://schemas.openxmlformats.org/officeDocument/2006/relationships/image" Target="../media/image23.wmf"/><Relationship Id="rId3" Type="http://schemas.openxmlformats.org/officeDocument/2006/relationships/oleObject" Target="../embeddings/oleObject14.bin"/><Relationship Id="rId20" Type="http://schemas.openxmlformats.org/officeDocument/2006/relationships/vmlDrawing" Target="../drawings/vmlDrawing8.vml"/><Relationship Id="rId2" Type="http://schemas.openxmlformats.org/officeDocument/2006/relationships/image" Target="../media/image22.wmf"/><Relationship Id="rId19" Type="http://schemas.openxmlformats.org/officeDocument/2006/relationships/slideLayout" Target="../slideLayouts/slideLayout7.xml"/><Relationship Id="rId18" Type="http://schemas.openxmlformats.org/officeDocument/2006/relationships/image" Target="../media/image30.wmf"/><Relationship Id="rId17" Type="http://schemas.openxmlformats.org/officeDocument/2006/relationships/oleObject" Target="../embeddings/oleObject21.bin"/><Relationship Id="rId16" Type="http://schemas.openxmlformats.org/officeDocument/2006/relationships/image" Target="../media/image29.wmf"/><Relationship Id="rId15" Type="http://schemas.openxmlformats.org/officeDocument/2006/relationships/oleObject" Target="../embeddings/oleObject20.bin"/><Relationship Id="rId14" Type="http://schemas.openxmlformats.org/officeDocument/2006/relationships/image" Target="../media/image28.wmf"/><Relationship Id="rId13" Type="http://schemas.openxmlformats.org/officeDocument/2006/relationships/oleObject" Target="../embeddings/oleObject19.bin"/><Relationship Id="rId12" Type="http://schemas.openxmlformats.org/officeDocument/2006/relationships/image" Target="../media/image27.wmf"/><Relationship Id="rId11" Type="http://schemas.openxmlformats.org/officeDocument/2006/relationships/oleObject" Target="../embeddings/oleObject18.bin"/><Relationship Id="rId10" Type="http://schemas.openxmlformats.org/officeDocument/2006/relationships/image" Target="../media/image26.wmf"/><Relationship Id="rId1"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24.bin"/><Relationship Id="rId4" Type="http://schemas.openxmlformats.org/officeDocument/2006/relationships/image" Target="../media/image31.wmf"/><Relationship Id="rId3" Type="http://schemas.openxmlformats.org/officeDocument/2006/relationships/oleObject" Target="../embeddings/oleObject23.bin"/><Relationship Id="rId2" Type="http://schemas.openxmlformats.org/officeDocument/2006/relationships/image" Target="../media/image28.wmf"/><Relationship Id="rId1" Type="http://schemas.openxmlformats.org/officeDocument/2006/relationships/oleObject" Target="../embeddings/oleObject22.bin"/></Relationships>
</file>

<file path=ppt/slides/_rels/slide29.x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oleObject" Target="../embeddings/oleObject28.bin"/><Relationship Id="rId7" Type="http://schemas.openxmlformats.org/officeDocument/2006/relationships/image" Target="../media/image36.wmf"/><Relationship Id="rId6" Type="http://schemas.openxmlformats.org/officeDocument/2006/relationships/oleObject" Target="../embeddings/oleObject27.bin"/><Relationship Id="rId5" Type="http://schemas.openxmlformats.org/officeDocument/2006/relationships/image" Target="../media/image35.wmf"/><Relationship Id="rId4" Type="http://schemas.openxmlformats.org/officeDocument/2006/relationships/oleObject" Target="../embeddings/oleObject26.bin"/><Relationship Id="rId3" Type="http://schemas.openxmlformats.org/officeDocument/2006/relationships/image" Target="../media/image34.emf"/><Relationship Id="rId2" Type="http://schemas.openxmlformats.org/officeDocument/2006/relationships/oleObject" Target="../embeddings/oleObject25.bin"/><Relationship Id="rId15" Type="http://schemas.openxmlformats.org/officeDocument/2006/relationships/vmlDrawing" Target="../drawings/vmlDrawing10.vml"/><Relationship Id="rId14" Type="http://schemas.openxmlformats.org/officeDocument/2006/relationships/slideLayout" Target="../slideLayouts/slideLayout12.xml"/><Relationship Id="rId13" Type="http://schemas.openxmlformats.org/officeDocument/2006/relationships/image" Target="../media/image39.wmf"/><Relationship Id="rId12" Type="http://schemas.openxmlformats.org/officeDocument/2006/relationships/oleObject" Target="../embeddings/oleObject30.bin"/><Relationship Id="rId11" Type="http://schemas.openxmlformats.org/officeDocument/2006/relationships/image" Target="../media/image38.wmf"/><Relationship Id="rId10" Type="http://schemas.openxmlformats.org/officeDocument/2006/relationships/oleObject" Target="../embeddings/oleObject29.bin"/><Relationship Id="rId1" Type="http://schemas.openxmlformats.org/officeDocument/2006/relationships/image" Target="../media/image33.png"/></Relationships>
</file>

<file path=ppt/slides/_rels/slide30.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image" Target="../media/image44.wmf"/><Relationship Id="rId7" Type="http://schemas.openxmlformats.org/officeDocument/2006/relationships/oleObject" Target="../embeddings/oleObject33.bin"/><Relationship Id="rId6" Type="http://schemas.openxmlformats.org/officeDocument/2006/relationships/image" Target="../media/image43.wmf"/><Relationship Id="rId5" Type="http://schemas.openxmlformats.org/officeDocument/2006/relationships/oleObject" Target="../embeddings/oleObject32.bin"/><Relationship Id="rId4" Type="http://schemas.openxmlformats.org/officeDocument/2006/relationships/image" Target="../media/image42.wmf"/><Relationship Id="rId3" Type="http://schemas.openxmlformats.org/officeDocument/2006/relationships/oleObject" Target="../embeddings/oleObject31.bin"/><Relationship Id="rId2" Type="http://schemas.openxmlformats.org/officeDocument/2006/relationships/image" Target="../media/image41.png"/><Relationship Id="rId11" Type="http://schemas.openxmlformats.org/officeDocument/2006/relationships/vmlDrawing" Target="../drawings/vmlDrawing11.vml"/><Relationship Id="rId10" Type="http://schemas.openxmlformats.org/officeDocument/2006/relationships/slideLayout" Target="../slideLayouts/slideLayout7.xml"/><Relationship Id="rId1" Type="http://schemas.openxmlformats.org/officeDocument/2006/relationships/image" Target="../media/image4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image" Target="../media/image50.png"/><Relationship Id="rId6" Type="http://schemas.openxmlformats.org/officeDocument/2006/relationships/image" Target="../media/image49.wmf"/><Relationship Id="rId5" Type="http://schemas.openxmlformats.org/officeDocument/2006/relationships/oleObject" Target="../embeddings/oleObject36.bin"/><Relationship Id="rId4" Type="http://schemas.openxmlformats.org/officeDocument/2006/relationships/image" Target="../media/image48.wmf"/><Relationship Id="rId3" Type="http://schemas.openxmlformats.org/officeDocument/2006/relationships/oleObject" Target="../embeddings/oleObject35.bin"/><Relationship Id="rId2" Type="http://schemas.openxmlformats.org/officeDocument/2006/relationships/image" Target="../media/image47.wmf"/><Relationship Id="rId1" Type="http://schemas.openxmlformats.org/officeDocument/2006/relationships/oleObject" Target="../embeddings/oleObject34.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9.wmf"/><Relationship Id="rId1" Type="http://schemas.openxmlformats.org/officeDocument/2006/relationships/oleObject" Target="../embeddings/oleObject37.bin"/></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52.wmf"/><Relationship Id="rId3" Type="http://schemas.openxmlformats.org/officeDocument/2006/relationships/oleObject" Target="../embeddings/oleObject39.bin"/><Relationship Id="rId2" Type="http://schemas.openxmlformats.org/officeDocument/2006/relationships/image" Target="../media/image51.wmf"/><Relationship Id="rId1" Type="http://schemas.openxmlformats.org/officeDocument/2006/relationships/oleObject" Target="../embeddings/oleObject38.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53.wmf"/><Relationship Id="rId1" Type="http://schemas.openxmlformats.org/officeDocument/2006/relationships/oleObject" Target="../embeddings/oleObject40.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5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46.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wmf"/><Relationship Id="rId3" Type="http://schemas.openxmlformats.org/officeDocument/2006/relationships/oleObject" Target="../embeddings/oleObject43.bin"/><Relationship Id="rId2" Type="http://schemas.openxmlformats.org/officeDocument/2006/relationships/image" Target="../media/image58.wmf"/><Relationship Id="rId1" Type="http://schemas.openxmlformats.org/officeDocument/2006/relationships/oleObject" Target="../embeddings/oleObject42.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64.wmf"/><Relationship Id="rId7" Type="http://schemas.openxmlformats.org/officeDocument/2006/relationships/oleObject" Target="../embeddings/oleObject47.bin"/><Relationship Id="rId6" Type="http://schemas.openxmlformats.org/officeDocument/2006/relationships/image" Target="../media/image63.wmf"/><Relationship Id="rId5" Type="http://schemas.openxmlformats.org/officeDocument/2006/relationships/oleObject" Target="../embeddings/oleObject46.bin"/><Relationship Id="rId4" Type="http://schemas.openxmlformats.org/officeDocument/2006/relationships/image" Target="../media/image62.emf"/><Relationship Id="rId3" Type="http://schemas.openxmlformats.org/officeDocument/2006/relationships/oleObject" Target="../embeddings/oleObject45.bin"/><Relationship Id="rId2" Type="http://schemas.openxmlformats.org/officeDocument/2006/relationships/image" Target="../media/image61.wmf"/><Relationship Id="rId14" Type="http://schemas.openxmlformats.org/officeDocument/2006/relationships/vmlDrawing" Target="../drawings/vmlDrawing18.vml"/><Relationship Id="rId13" Type="http://schemas.openxmlformats.org/officeDocument/2006/relationships/slideLayout" Target="../slideLayouts/slideLayout7.xml"/><Relationship Id="rId12" Type="http://schemas.openxmlformats.org/officeDocument/2006/relationships/tags" Target="../tags/tag6.xml"/><Relationship Id="rId11" Type="http://schemas.openxmlformats.org/officeDocument/2006/relationships/image" Target="../media/image66.png"/><Relationship Id="rId10" Type="http://schemas.openxmlformats.org/officeDocument/2006/relationships/image" Target="../media/image65.wmf"/><Relationship Id="rId1" Type="http://schemas.openxmlformats.org/officeDocument/2006/relationships/oleObject" Target="../embeddings/oleObject44.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9" Type="http://schemas.openxmlformats.org/officeDocument/2006/relationships/vmlDrawing" Target="../drawings/vmlDrawing19.vml"/><Relationship Id="rId8" Type="http://schemas.openxmlformats.org/officeDocument/2006/relationships/slideLayout" Target="../slideLayouts/slideLayout2.xml"/><Relationship Id="rId7" Type="http://schemas.openxmlformats.org/officeDocument/2006/relationships/image" Target="../media/image72.png"/><Relationship Id="rId6" Type="http://schemas.openxmlformats.org/officeDocument/2006/relationships/image" Target="../media/image71.wmf"/><Relationship Id="rId5" Type="http://schemas.openxmlformats.org/officeDocument/2006/relationships/oleObject" Target="../embeddings/oleObject51.bin"/><Relationship Id="rId4" Type="http://schemas.openxmlformats.org/officeDocument/2006/relationships/image" Target="../media/image70.wmf"/><Relationship Id="rId3" Type="http://schemas.openxmlformats.org/officeDocument/2006/relationships/oleObject" Target="../embeddings/oleObject50.bin"/><Relationship Id="rId2" Type="http://schemas.openxmlformats.org/officeDocument/2006/relationships/image" Target="../media/image69.wmf"/><Relationship Id="rId1" Type="http://schemas.openxmlformats.org/officeDocument/2006/relationships/oleObject" Target="../embeddings/oleObject49.bin"/></Relationships>
</file>

<file path=ppt/slides/_rels/slide52.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2.xml"/><Relationship Id="rId3" Type="http://schemas.openxmlformats.org/officeDocument/2006/relationships/image" Target="../media/image72.png"/><Relationship Id="rId2" Type="http://schemas.openxmlformats.org/officeDocument/2006/relationships/image" Target="../media/image73.wmf"/><Relationship Id="rId1" Type="http://schemas.openxmlformats.org/officeDocument/2006/relationships/oleObject" Target="../embeddings/oleObject52.bin"/></Relationships>
</file>

<file path=ppt/slides/_rels/slide53.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7.xml"/><Relationship Id="rId7" Type="http://schemas.openxmlformats.org/officeDocument/2006/relationships/image" Target="../media/image76.png"/><Relationship Id="rId6" Type="http://schemas.openxmlformats.org/officeDocument/2006/relationships/image" Target="../media/image73.wmf"/><Relationship Id="rId5" Type="http://schemas.openxmlformats.org/officeDocument/2006/relationships/oleObject" Target="../embeddings/oleObject55.bin"/><Relationship Id="rId4" Type="http://schemas.openxmlformats.org/officeDocument/2006/relationships/image" Target="../media/image75.wmf"/><Relationship Id="rId3" Type="http://schemas.openxmlformats.org/officeDocument/2006/relationships/oleObject" Target="../embeddings/oleObject54.bin"/><Relationship Id="rId2" Type="http://schemas.openxmlformats.org/officeDocument/2006/relationships/image" Target="../media/image74.wmf"/><Relationship Id="rId1" Type="http://schemas.openxmlformats.org/officeDocument/2006/relationships/oleObject" Target="../embeddings/oleObject53.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7.xml"/><Relationship Id="rId2" Type="http://schemas.openxmlformats.org/officeDocument/2006/relationships/image" Target="../media/image73.wmf"/><Relationship Id="rId1" Type="http://schemas.openxmlformats.org/officeDocument/2006/relationships/oleObject" Target="../embeddings/oleObject56.bin"/></Relationships>
</file>

<file path=ppt/slides/_rels/slide55.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7.xml"/><Relationship Id="rId3" Type="http://schemas.openxmlformats.org/officeDocument/2006/relationships/image" Target="../media/image77.wmf"/><Relationship Id="rId2" Type="http://schemas.openxmlformats.org/officeDocument/2006/relationships/oleObject" Target="../embeddings/oleObject57.bin"/><Relationship Id="rId1"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2049"/>
          <p:cNvSpPr>
            <a:spLocks noGrp="1" noChangeArrowheads="1"/>
          </p:cNvSpPr>
          <p:nvPr>
            <p:ph type="ctrTitle"/>
          </p:nvPr>
        </p:nvSpPr>
        <p:spPr>
          <a:xfrm>
            <a:off x="755650" y="2060575"/>
            <a:ext cx="7772400" cy="1470025"/>
          </a:xfrm>
        </p:spPr>
        <p:txBody>
          <a:bodyPr anchor="ctr"/>
          <a:lstStyle/>
          <a:p>
            <a:r>
              <a:rPr lang="en-US" altLang="zh-CN" sz="4400" b="1" dirty="0" smtClean="0">
                <a:latin typeface="黑体" panose="02010609060101010101" pitchFamily="49" charset="-122"/>
                <a:ea typeface="黑体" panose="02010609060101010101" pitchFamily="49" charset="-122"/>
              </a:rPr>
              <a:t>11</a:t>
            </a:r>
            <a:r>
              <a:rPr lang="zh-CN" altLang="en-US" sz="4400" b="1" dirty="0" smtClean="0">
                <a:latin typeface="黑体" panose="02010609060101010101" pitchFamily="49" charset="-122"/>
                <a:ea typeface="黑体" panose="02010609060101010101" pitchFamily="49" charset="-122"/>
              </a:rPr>
              <a:t>　气体的压缩</a:t>
            </a:r>
            <a:endParaRPr lang="zh-CN" altLang="en-US" sz="4400" b="1" dirty="0" smtClean="0">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5121"/>
          <p:cNvSpPr>
            <a:spLocks noGrp="1" noChangeArrowheads="1"/>
          </p:cNvSpPr>
          <p:nvPr>
            <p:ph type="ctrTitle"/>
          </p:nvPr>
        </p:nvSpPr>
        <p:spPr>
          <a:xfrm>
            <a:off x="1028700" y="2041525"/>
            <a:ext cx="7086600" cy="1676400"/>
          </a:xfrm>
        </p:spPr>
        <p:txBody>
          <a:bodyPr anchor="ctr"/>
          <a:lstStyle/>
          <a:p>
            <a:r>
              <a:rPr lang="en-US" altLang="zh-CN" sz="4400" b="1" dirty="0" smtClean="0">
                <a:latin typeface="黑体" panose="02010609060101010101" pitchFamily="49" charset="-122"/>
                <a:ea typeface="黑体" panose="02010609060101010101" pitchFamily="49" charset="-122"/>
              </a:rPr>
              <a:t>11-1 </a:t>
            </a:r>
            <a:r>
              <a:rPr lang="zh-CN" altLang="en-US" sz="4400" b="1" dirty="0" smtClean="0">
                <a:latin typeface="黑体" panose="02010609060101010101" pitchFamily="49" charset="-122"/>
                <a:ea typeface="黑体" panose="02010609060101010101" pitchFamily="49" charset="-122"/>
              </a:rPr>
              <a:t>概述</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矩形 3075"/>
          <p:cNvSpPr>
            <a:spLocks noChangeArrowheads="1"/>
          </p:cNvSpPr>
          <p:nvPr/>
        </p:nvSpPr>
        <p:spPr bwMode="auto">
          <a:xfrm>
            <a:off x="1066800" y="2603500"/>
            <a:ext cx="701040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anose="05000000000000000000" pitchFamily="2" charset="2"/>
              <a:buNone/>
            </a:pPr>
            <a:r>
              <a:rPr lang="zh-CN" altLang="en-US" sz="3200" b="1" dirty="0">
                <a:latin typeface="Tahoma" panose="020B0604030504040204" pitchFamily="34" charset="0"/>
              </a:rPr>
              <a:t>　　</a:t>
            </a:r>
            <a:r>
              <a:rPr lang="zh-CN" altLang="en-US" sz="3200" b="1" dirty="0">
                <a:latin typeface="黑体" panose="02010609060101010101" pitchFamily="49" charset="-122"/>
                <a:ea typeface="黑体" panose="02010609060101010101" pitchFamily="49" charset="-122"/>
              </a:rPr>
              <a:t>压气机</a:t>
            </a:r>
            <a:r>
              <a:rPr lang="zh-CN" altLang="en-US" sz="3200" dirty="0">
                <a:latin typeface="黑体" panose="02010609060101010101" pitchFamily="49" charset="-122"/>
                <a:ea typeface="黑体" panose="02010609060101010101" pitchFamily="49" charset="-122"/>
              </a:rPr>
              <a:t>是</a:t>
            </a:r>
            <a:r>
              <a:rPr lang="zh-CN" altLang="en-US" sz="3200" b="1" dirty="0">
                <a:solidFill>
                  <a:srgbClr val="FF0000"/>
                </a:solidFill>
                <a:latin typeface="黑体" panose="02010609060101010101" pitchFamily="49" charset="-122"/>
                <a:ea typeface="黑体" panose="02010609060101010101" pitchFamily="49" charset="-122"/>
              </a:rPr>
              <a:t>生产压缩气体</a:t>
            </a:r>
            <a:r>
              <a:rPr lang="zh-CN" altLang="en-US" sz="3200" b="1" dirty="0">
                <a:latin typeface="黑体" panose="02010609060101010101" pitchFamily="49" charset="-122"/>
                <a:ea typeface="黑体" panose="02010609060101010101" pitchFamily="49" charset="-122"/>
              </a:rPr>
              <a:t>的设备，通常消耗机械能（或电能）来使得气体压力升高，一般由原动机或电动机拖动。</a:t>
            </a:r>
            <a:endParaRPr lang="zh-CN" altLang="en-US" sz="3200" b="1" dirty="0">
              <a:latin typeface="黑体" panose="02010609060101010101" pitchFamily="49" charset="-122"/>
              <a:ea typeface="黑体" panose="02010609060101010101" pitchFamily="49" charset="-122"/>
            </a:endParaRPr>
          </a:p>
        </p:txBody>
      </p:sp>
      <p:sp>
        <p:nvSpPr>
          <p:cNvPr id="38914" name="矩形 3077"/>
          <p:cNvSpPr>
            <a:spLocks noChangeArrowheads="1"/>
          </p:cNvSpPr>
          <p:nvPr/>
        </p:nvSpPr>
        <p:spPr bwMode="auto">
          <a:xfrm>
            <a:off x="1187450" y="1412875"/>
            <a:ext cx="6496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压缩气体在工程上有广泛的用途。</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文本框 1"/>
          <p:cNvSpPr txBox="1">
            <a:spLocks noChangeArrowheads="1"/>
          </p:cNvSpPr>
          <p:nvPr/>
        </p:nvSpPr>
        <p:spPr bwMode="auto">
          <a:xfrm>
            <a:off x="1011238" y="1019175"/>
            <a:ext cx="7283450"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latin typeface="Tahoma" panose="020B0604030504040204" pitchFamily="34" charset="0"/>
                <a:sym typeface="宋体" panose="02010600030101010101" pitchFamily="2" charset="-122"/>
              </a:rPr>
              <a:t>      </a:t>
            </a:r>
            <a:r>
              <a:rPr lang="zh-CN" altLang="en-US" sz="3200" b="1" dirty="0">
                <a:latin typeface="黑体" panose="02010609060101010101" pitchFamily="49" charset="-122"/>
                <a:ea typeface="黑体" panose="02010609060101010101" pitchFamily="49" charset="-122"/>
                <a:sym typeface="宋体" panose="02010600030101010101" pitchFamily="2" charset="-122"/>
              </a:rPr>
              <a:t>最常见的压气机是用来压缩</a:t>
            </a:r>
            <a:r>
              <a:rPr lang="zh-CN" altLang="en-US" sz="3200" b="1" dirty="0">
                <a:solidFill>
                  <a:srgbClr val="FF0000"/>
                </a:solidFill>
                <a:latin typeface="黑体" panose="02010609060101010101" pitchFamily="49" charset="-122"/>
                <a:ea typeface="黑体" panose="02010609060101010101" pitchFamily="49" charset="-122"/>
                <a:sym typeface="宋体" panose="02010600030101010101" pitchFamily="2" charset="-122"/>
              </a:rPr>
              <a:t>空气</a:t>
            </a:r>
            <a:r>
              <a:rPr lang="zh-CN" altLang="en-US" sz="3200" b="1" dirty="0">
                <a:latin typeface="黑体" panose="02010609060101010101" pitchFamily="49" charset="-122"/>
                <a:ea typeface="黑体" panose="02010609060101010101" pitchFamily="49" charset="-122"/>
                <a:sym typeface="宋体" panose="02010600030101010101" pitchFamily="2" charset="-122"/>
              </a:rPr>
              <a:t>。</a:t>
            </a:r>
            <a:r>
              <a:rPr lang="zh-CN" altLang="en-US" sz="3200" b="1" dirty="0">
                <a:latin typeface="黑体" panose="02010609060101010101" pitchFamily="49" charset="-122"/>
                <a:ea typeface="黑体" panose="02010609060101010101" pitchFamily="49" charset="-122"/>
              </a:rPr>
              <a:t>压缩空气在燃气轮机装置中用来助燃，在大型空气动力站中提供动力，在火力发电站中用于煤粉输送和锅炉通风等。</a:t>
            </a:r>
            <a:endParaRPr lang="zh-CN" altLang="en-US" sz="3200" b="1" dirty="0">
              <a:latin typeface="黑体" panose="02010609060101010101" pitchFamily="49" charset="-122"/>
              <a:ea typeface="黑体" panose="02010609060101010101" pitchFamily="49" charset="-122"/>
            </a:endParaRPr>
          </a:p>
          <a:p>
            <a:r>
              <a:rPr lang="zh-CN" altLang="en-US" sz="3200" b="1" dirty="0">
                <a:latin typeface="黑体" panose="02010609060101010101" pitchFamily="49" charset="-122"/>
                <a:ea typeface="黑体" panose="02010609060101010101" pitchFamily="49" charset="-122"/>
              </a:rPr>
              <a:t>    在制冷工程和化工生产中，均离不开对气体或蒸汽的压缩。</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内容占位符 4098"/>
          <p:cNvSpPr>
            <a:spLocks noGrp="1" noChangeArrowheads="1"/>
          </p:cNvSpPr>
          <p:nvPr>
            <p:ph idx="1"/>
          </p:nvPr>
        </p:nvSpPr>
        <p:spPr>
          <a:xfrm>
            <a:off x="1081088" y="2963863"/>
            <a:ext cx="5380037" cy="1600200"/>
          </a:xfrm>
        </p:spPr>
        <p:txBody>
          <a:bodyPr>
            <a:noAutofit/>
          </a:bodyPr>
          <a:lstStyle/>
          <a:p>
            <a:pPr>
              <a:lnSpc>
                <a:spcPct val="90000"/>
              </a:lnSpc>
              <a:buFontTx/>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通风机（＜</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0.01 MPa</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表压</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buFontTx/>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鼓风机（</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0.01~0.3 MPa</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表压</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buFontTx/>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压缩机（</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&gt;0.3 MPa</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表压</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1986" name="矩形 4099"/>
          <p:cNvSpPr>
            <a:spLocks noChangeArrowheads="1"/>
          </p:cNvSpPr>
          <p:nvPr/>
        </p:nvSpPr>
        <p:spPr bwMode="auto">
          <a:xfrm>
            <a:off x="441325" y="808038"/>
            <a:ext cx="6062663"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压气机的分类</a:t>
            </a:r>
            <a:endParaRPr lang="zh-CN" altLang="en-US" sz="3200" b="1" dirty="0">
              <a:latin typeface="黑体" panose="02010609060101010101" pitchFamily="49" charset="-122"/>
              <a:ea typeface="黑体" panose="02010609060101010101" pitchFamily="49" charset="-122"/>
            </a:endParaRPr>
          </a:p>
        </p:txBody>
      </p:sp>
      <p:sp>
        <p:nvSpPr>
          <p:cNvPr id="4103" name="矩形 4102"/>
          <p:cNvSpPr>
            <a:spLocks noChangeArrowheads="1"/>
          </p:cNvSpPr>
          <p:nvPr/>
        </p:nvSpPr>
        <p:spPr bwMode="auto">
          <a:xfrm>
            <a:off x="992188" y="2125663"/>
            <a:ext cx="58991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spcBef>
                <a:spcPct val="20000"/>
              </a:spcBef>
              <a:buClr>
                <a:schemeClr val="folHlink"/>
              </a:buClr>
              <a:buSzPct val="60000"/>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按其产生压缩气体的压力范围：</a:t>
            </a:r>
            <a:endParaRPr lang="zh-CN" altLang="en-US" sz="3200" b="1" dirty="0">
              <a:latin typeface="黑体" panose="02010609060101010101" pitchFamily="49" charset="-122"/>
              <a:ea typeface="黑体" panose="02010609060101010101" pitchFamily="49" charset="-122"/>
            </a:endParaRPr>
          </a:p>
        </p:txBody>
      </p:sp>
      <p:sp>
        <p:nvSpPr>
          <p:cNvPr id="4105" name="左大括号 4104"/>
          <p:cNvSpPr/>
          <p:nvPr/>
        </p:nvSpPr>
        <p:spPr bwMode="auto">
          <a:xfrm>
            <a:off x="776288" y="3040063"/>
            <a:ext cx="228600" cy="1600200"/>
          </a:xfrm>
          <a:prstGeom prst="leftBrace">
            <a:avLst>
              <a:gd name="adj1" fmla="val 58204"/>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3"/>
                                        </p:tgtEl>
                                        <p:attrNameLst>
                                          <p:attrName>style.visibility</p:attrName>
                                        </p:attrNameLst>
                                      </p:cBhvr>
                                      <p:to>
                                        <p:strVal val="visible"/>
                                      </p:to>
                                    </p:set>
                                    <p:animEffect transition="in" filter="blinds(horizontal)">
                                      <p:cBhvr>
                                        <p:cTn id="7" dur="500"/>
                                        <p:tgtEl>
                                          <p:spTgt spid="41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99">
                                            <p:txEl>
                                              <p:pRg st="0" end="0"/>
                                            </p:txEl>
                                          </p:spTgt>
                                        </p:tgtEl>
                                        <p:attrNameLst>
                                          <p:attrName>style.visibility</p:attrName>
                                        </p:attrNameLst>
                                      </p:cBhvr>
                                      <p:to>
                                        <p:strVal val="visible"/>
                                      </p:to>
                                    </p:set>
                                    <p:animEffect transition="in" filter="blinds(horizontal)">
                                      <p:cBhvr>
                                        <p:cTn id="10" dur="500"/>
                                        <p:tgtEl>
                                          <p:spTgt spid="409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5" dur="500"/>
                                        <p:tgtEl>
                                          <p:spTgt spid="409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099">
                                            <p:txEl>
                                              <p:pRg st="2" end="2"/>
                                            </p:txEl>
                                          </p:spTgt>
                                        </p:tgtEl>
                                        <p:attrNameLst>
                                          <p:attrName>style.visibility</p:attrName>
                                        </p:attrNameLst>
                                      </p:cBhvr>
                                      <p:to>
                                        <p:strVal val="visible"/>
                                      </p:to>
                                    </p:set>
                                    <p:animEffect transition="in" filter="blinds(horizontal)">
                                      <p:cBhvr>
                                        <p:cTn id="20" dur="500"/>
                                        <p:tgtEl>
                                          <p:spTgt spid="4099">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105"/>
                                        </p:tgtEl>
                                        <p:attrNameLst>
                                          <p:attrName>style.visibility</p:attrName>
                                        </p:attrNameLst>
                                      </p:cBhvr>
                                      <p:to>
                                        <p:strVal val="visible"/>
                                      </p:to>
                                    </p:set>
                                    <p:animEffect transition="in" filter="blinds(horizontal)">
                                      <p:cBhvr>
                                        <p:cTn id="23" dur="500"/>
                                        <p:tgtEl>
                                          <p:spTgt spid="4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P spid="41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4099"/>
          <p:cNvSpPr>
            <a:spLocks noChangeArrowheads="1"/>
          </p:cNvSpPr>
          <p:nvPr/>
        </p:nvSpPr>
        <p:spPr bwMode="auto">
          <a:xfrm>
            <a:off x="347663" y="350838"/>
            <a:ext cx="606266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压气机的分类</a:t>
            </a:r>
            <a:endParaRPr lang="zh-CN" altLang="en-US" sz="3200" b="1" dirty="0">
              <a:latin typeface="黑体" panose="02010609060101010101" pitchFamily="49" charset="-122"/>
              <a:ea typeface="黑体" panose="02010609060101010101" pitchFamily="49" charset="-122"/>
            </a:endParaRPr>
          </a:p>
        </p:txBody>
      </p:sp>
      <p:sp>
        <p:nvSpPr>
          <p:cNvPr id="40962" name="矩形 4100"/>
          <p:cNvSpPr>
            <a:spLocks noChangeArrowheads="1"/>
          </p:cNvSpPr>
          <p:nvPr/>
        </p:nvSpPr>
        <p:spPr bwMode="auto">
          <a:xfrm>
            <a:off x="576263" y="1203325"/>
            <a:ext cx="38924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黑体" panose="02010609060101010101" pitchFamily="49" charset="-122"/>
                <a:ea typeface="黑体" panose="02010609060101010101" pitchFamily="49" charset="-122"/>
              </a:rPr>
              <a:t>按工作原理和构造：</a:t>
            </a:r>
            <a:endParaRPr lang="zh-CN" altLang="en-US" sz="3200" b="1" dirty="0">
              <a:latin typeface="黑体" panose="02010609060101010101" pitchFamily="49" charset="-122"/>
              <a:ea typeface="黑体" panose="02010609060101010101" pitchFamily="49" charset="-122"/>
            </a:endParaRPr>
          </a:p>
        </p:txBody>
      </p:sp>
      <p:sp>
        <p:nvSpPr>
          <p:cNvPr id="40963" name="矩形 4101"/>
          <p:cNvSpPr>
            <a:spLocks noChangeArrowheads="1"/>
          </p:cNvSpPr>
          <p:nvPr/>
        </p:nvSpPr>
        <p:spPr bwMode="auto">
          <a:xfrm>
            <a:off x="881063" y="2415484"/>
            <a:ext cx="3638550" cy="181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活塞式压气机 </a:t>
            </a:r>
            <a:endParaRPr lang="zh-CN" altLang="en-US" sz="2800" b="1" dirty="0">
              <a:latin typeface="黑体" panose="02010609060101010101" pitchFamily="49" charset="-122"/>
              <a:ea typeface="黑体" panose="02010609060101010101" pitchFamily="49" charset="-122"/>
            </a:endParaRPr>
          </a:p>
          <a:p>
            <a:pPr>
              <a:spcBef>
                <a:spcPct val="5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叶轮式压气机</a:t>
            </a:r>
            <a:endParaRPr lang="zh-CN" altLang="en-US" sz="2800" b="1" dirty="0">
              <a:latin typeface="黑体" panose="02010609060101010101" pitchFamily="49" charset="-122"/>
              <a:ea typeface="黑体" panose="02010609060101010101" pitchFamily="49" charset="-122"/>
            </a:endParaRPr>
          </a:p>
          <a:p>
            <a:pPr>
              <a:spcBef>
                <a:spcPct val="5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特殊的引射式压缩器</a:t>
            </a:r>
            <a:endParaRPr lang="zh-CN" altLang="en-US" sz="2800" b="1" dirty="0">
              <a:latin typeface="黑体" panose="02010609060101010101" pitchFamily="49" charset="-122"/>
              <a:ea typeface="黑体" panose="02010609060101010101" pitchFamily="49" charset="-122"/>
            </a:endParaRPr>
          </a:p>
        </p:txBody>
      </p:sp>
      <p:sp>
        <p:nvSpPr>
          <p:cNvPr id="40964" name="左大括号 4103"/>
          <p:cNvSpPr/>
          <p:nvPr/>
        </p:nvSpPr>
        <p:spPr bwMode="auto">
          <a:xfrm>
            <a:off x="576263" y="2639322"/>
            <a:ext cx="180975" cy="1358900"/>
          </a:xfrm>
          <a:prstGeom prst="leftBrace">
            <a:avLst>
              <a:gd name="adj1" fmla="val 40012"/>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4106" name="对象 4105"/>
          <p:cNvGraphicFramePr>
            <a:graphicFrameLocks noChangeAspect="1"/>
          </p:cNvGraphicFramePr>
          <p:nvPr/>
        </p:nvGraphicFramePr>
        <p:xfrm>
          <a:off x="4785589" y="250825"/>
          <a:ext cx="3304311" cy="2234303"/>
        </p:xfrm>
        <a:graphic>
          <a:graphicData uri="http://schemas.openxmlformats.org/presentationml/2006/ole">
            <mc:AlternateContent xmlns:mc="http://schemas.openxmlformats.org/markup-compatibility/2006">
              <mc:Choice xmlns:v="urn:schemas-microsoft-com:vml" Requires="v">
                <p:oleObj spid="_x0000_s13340" name="" r:id="rId1" imgW="6181725" imgH="4181475" progId="Paint.Picture">
                  <p:embed/>
                </p:oleObj>
              </mc:Choice>
              <mc:Fallback>
                <p:oleObj name="" r:id="rId1" imgW="6181725" imgH="4181475" progId="Paint.Picture">
                  <p:embed/>
                  <p:pic>
                    <p:nvPicPr>
                      <p:cNvPr id="0" name="对象 41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5589" y="250825"/>
                        <a:ext cx="3304311" cy="2234303"/>
                      </a:xfrm>
                      <a:prstGeom prst="rect">
                        <a:avLst/>
                      </a:prstGeom>
                      <a:noFill/>
                      <a:ln>
                        <a:noFill/>
                      </a:ln>
                    </p:spPr>
                  </p:pic>
                </p:oleObj>
              </mc:Fallback>
            </mc:AlternateContent>
          </a:graphicData>
        </a:graphic>
      </p:graphicFrame>
      <p:graphicFrame>
        <p:nvGraphicFramePr>
          <p:cNvPr id="4107" name="对象 4106"/>
          <p:cNvGraphicFramePr/>
          <p:nvPr/>
        </p:nvGraphicFramePr>
        <p:xfrm>
          <a:off x="5195164" y="2429980"/>
          <a:ext cx="1644029" cy="1800017"/>
        </p:xfrm>
        <a:graphic>
          <a:graphicData uri="http://schemas.openxmlformats.org/presentationml/2006/ole">
            <mc:AlternateContent xmlns:mc="http://schemas.openxmlformats.org/markup-compatibility/2006">
              <mc:Choice xmlns:v="urn:schemas-microsoft-com:vml" Requires="v">
                <p:oleObj spid="_x0000_s13341" name="" r:id="rId3" imgW="2847975" imgH="3257550" progId="Paint.Picture">
                  <p:embed/>
                </p:oleObj>
              </mc:Choice>
              <mc:Fallback>
                <p:oleObj name="" r:id="rId3" imgW="2847975" imgH="3257550" progId="Paint.Picture">
                  <p:embed/>
                  <p:pic>
                    <p:nvPicPr>
                      <p:cNvPr id="0" name="对象 410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5164" y="2429980"/>
                        <a:ext cx="1644029" cy="1800017"/>
                      </a:xfrm>
                      <a:prstGeom prst="rect">
                        <a:avLst/>
                      </a:prstGeom>
                      <a:noFill/>
                      <a:ln>
                        <a:noFill/>
                      </a:ln>
                    </p:spPr>
                  </p:pic>
                </p:oleObj>
              </mc:Fallback>
            </mc:AlternateContent>
          </a:graphicData>
        </a:graphic>
      </p:graphicFrame>
      <p:sp>
        <p:nvSpPr>
          <p:cNvPr id="40967" name="文本占位符 7170"/>
          <p:cNvSpPr>
            <a:spLocks noGrp="1" noChangeArrowheads="1"/>
          </p:cNvSpPr>
          <p:nvPr>
            <p:ph idx="1"/>
          </p:nvPr>
        </p:nvSpPr>
        <p:spPr>
          <a:xfrm>
            <a:off x="481806" y="4542597"/>
            <a:ext cx="8075613" cy="1791942"/>
          </a:xfrm>
        </p:spPr>
        <p:txBody>
          <a:bodyPr>
            <a:normAutofit fontScale="92500"/>
          </a:bodyPr>
          <a:lstStyle/>
          <a:p>
            <a:pPr>
              <a:lnSpc>
                <a:spcPct val="100000"/>
              </a:lnSpc>
              <a:buFont typeface="Webdings" panose="05030102010509060703" pitchFamily="18" charset="2"/>
              <a:buChar char="ÿ"/>
            </a:pPr>
            <a:r>
              <a:rPr lang="zh-CN" altLang="zh-CN" sz="2800" b="1" kern="100" dirty="0">
                <a:latin typeface="黑体" panose="02010609060101010101" pitchFamily="49" charset="-122"/>
                <a:ea typeface="黑体" panose="02010609060101010101" pitchFamily="49" charset="-122"/>
                <a:cs typeface="Times New Roman" panose="02020603050405020304" pitchFamily="18" charset="0"/>
              </a:rPr>
              <a:t>活塞式压气机和叶轮式压气机的结构和工作原理虽然不同</a:t>
            </a:r>
            <a:r>
              <a:rPr lang="zh-CN" altLang="zh-CN" sz="2800" b="1" kern="100" dirty="0" smtClean="0">
                <a:latin typeface="黑体" panose="02010609060101010101" pitchFamily="49" charset="-122"/>
                <a:ea typeface="黑体" panose="02010609060101010101" pitchFamily="49" charset="-122"/>
                <a:cs typeface="Times New Roman" panose="02020603050405020304" pitchFamily="18" charset="0"/>
              </a:rPr>
              <a:t>，</a:t>
            </a:r>
            <a:r>
              <a:rPr lang="zh-CN" altLang="en-US" sz="2800" b="1" kern="100" dirty="0" smtClean="0">
                <a:latin typeface="黑体" panose="02010609060101010101" pitchFamily="49" charset="-122"/>
                <a:ea typeface="黑体" panose="02010609060101010101" pitchFamily="49" charset="-122"/>
                <a:cs typeface="Times New Roman" panose="02020603050405020304" pitchFamily="18" charset="0"/>
              </a:rPr>
              <a:t>但</a:t>
            </a:r>
            <a:r>
              <a:rPr lang="zh-CN" altLang="en-US" sz="2800" b="1" dirty="0" smtClean="0">
                <a:latin typeface="黑体" panose="02010609060101010101" pitchFamily="49" charset="-122"/>
                <a:ea typeface="黑体" panose="02010609060101010101" pitchFamily="49" charset="-122"/>
              </a:rPr>
              <a:t>从热力学观点来看，气体状态变化过程并没有本质的不同，</a:t>
            </a:r>
            <a:r>
              <a:rPr lang="zh-CN" altLang="en-US" sz="2800" b="1" dirty="0" smtClean="0">
                <a:solidFill>
                  <a:srgbClr val="FF0000"/>
                </a:solidFill>
                <a:latin typeface="黑体" panose="02010609060101010101" pitchFamily="49" charset="-122"/>
                <a:ea typeface="黑体" panose="02010609060101010101" pitchFamily="49" charset="-122"/>
              </a:rPr>
              <a:t>都是消耗外功，使气体压缩升压的过程</a:t>
            </a:r>
            <a:r>
              <a:rPr lang="zh-CN" altLang="en-US" sz="2800" b="1" dirty="0" smtClean="0">
                <a:latin typeface="黑体" panose="02010609060101010101" pitchFamily="49" charset="-122"/>
                <a:ea typeface="黑体" panose="02010609060101010101" pitchFamily="49" charset="-122"/>
              </a:rPr>
              <a:t>，在正常的工况下均可视为</a:t>
            </a:r>
            <a:r>
              <a:rPr lang="zh-CN" altLang="en-US" sz="2800" b="1" dirty="0" smtClean="0">
                <a:solidFill>
                  <a:srgbClr val="FF0000"/>
                </a:solidFill>
                <a:latin typeface="黑体" panose="02010609060101010101" pitchFamily="49" charset="-122"/>
                <a:ea typeface="黑体" panose="02010609060101010101" pitchFamily="49" charset="-122"/>
              </a:rPr>
              <a:t>稳定流动过程</a:t>
            </a:r>
            <a:r>
              <a:rPr lang="zh-CN" altLang="en-US" sz="2800" b="1" dirty="0" smtClean="0">
                <a:latin typeface="黑体" panose="02010609060101010101" pitchFamily="49" charset="-122"/>
                <a:ea typeface="黑体" panose="02010609060101010101" pitchFamily="49" charset="-122"/>
              </a:rPr>
              <a:t>。</a:t>
            </a:r>
            <a:endParaRPr lang="zh-CN" altLang="en-US" sz="2800" b="1" dirty="0" smtClean="0">
              <a:latin typeface="黑体" panose="02010609060101010101" pitchFamily="49" charset="-122"/>
              <a:ea typeface="黑体" panose="02010609060101010101" pitchFamily="49" charset="-122"/>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6"/>
                                        </p:tgtEl>
                                        <p:attrNameLst>
                                          <p:attrName>style.visibility</p:attrName>
                                        </p:attrNameLst>
                                      </p:cBhvr>
                                      <p:to>
                                        <p:strVal val="visible"/>
                                      </p:to>
                                    </p:set>
                                    <p:animEffect transition="in" filter="fade">
                                      <p:cBhvr>
                                        <p:cTn id="7" dur="1000"/>
                                        <p:tgtEl>
                                          <p:spTgt spid="41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107"/>
                                        </p:tgtEl>
                                        <p:attrNameLst>
                                          <p:attrName>style.visibility</p:attrName>
                                        </p:attrNameLst>
                                      </p:cBhvr>
                                      <p:to>
                                        <p:strVal val="visible"/>
                                      </p:to>
                                    </p:set>
                                    <p:animEffect transition="in" filter="wipe(down)">
                                      <p:cBhvr>
                                        <p:cTn id="12" dur="500"/>
                                        <p:tgtEl>
                                          <p:spTgt spid="4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772" y="1441312"/>
            <a:ext cx="7886700" cy="2130149"/>
          </a:xfrm>
        </p:spPr>
        <p:txBody>
          <a:bodyPr>
            <a:normAutofit/>
          </a:bodyPr>
          <a:lstStyle/>
          <a:p>
            <a:pPr marL="0" indent="0">
              <a:lnSpc>
                <a:spcPct val="100000"/>
              </a:lnSpc>
              <a:buNone/>
            </a:pPr>
            <a:r>
              <a:rPr lang="zh-CN" altLang="zh-CN" sz="3200" b="1" dirty="0" smtClean="0">
                <a:latin typeface="黑体" panose="02010609060101010101" pitchFamily="49" charset="-122"/>
                <a:ea typeface="黑体" panose="02010609060101010101" pitchFamily="49" charset="-122"/>
              </a:rPr>
              <a:t>研究气体压缩的主要任务在于分析计算定量气体从初态压缩至预定终态时，压气机</a:t>
            </a:r>
            <a:r>
              <a:rPr lang="zh-CN" altLang="zh-CN" sz="3200" b="1" dirty="0" smtClean="0">
                <a:solidFill>
                  <a:srgbClr val="FF0000"/>
                </a:solidFill>
                <a:latin typeface="黑体" panose="02010609060101010101" pitchFamily="49" charset="-122"/>
                <a:ea typeface="黑体" panose="02010609060101010101" pitchFamily="49" charset="-122"/>
              </a:rPr>
              <a:t>所消耗的功量</a:t>
            </a:r>
            <a:r>
              <a:rPr lang="zh-CN" altLang="zh-CN" sz="3200" b="1" dirty="0" smtClean="0">
                <a:latin typeface="黑体" panose="02010609060101010101" pitchFamily="49" charset="-122"/>
                <a:ea typeface="黑体" panose="02010609060101010101" pitchFamily="49" charset="-122"/>
              </a:rPr>
              <a:t>，并探讨</a:t>
            </a:r>
            <a:r>
              <a:rPr lang="zh-CN" altLang="zh-CN" sz="3200" b="1" dirty="0" smtClean="0">
                <a:solidFill>
                  <a:srgbClr val="FF0000"/>
                </a:solidFill>
                <a:latin typeface="黑体" panose="02010609060101010101" pitchFamily="49" charset="-122"/>
                <a:ea typeface="黑体" panose="02010609060101010101" pitchFamily="49" charset="-122"/>
              </a:rPr>
              <a:t>省功</a:t>
            </a:r>
            <a:r>
              <a:rPr lang="zh-CN" altLang="zh-CN" sz="3200" b="1" dirty="0" smtClean="0">
                <a:latin typeface="黑体" panose="02010609060101010101" pitchFamily="49" charset="-122"/>
                <a:ea typeface="黑体" panose="02010609060101010101" pitchFamily="49" charset="-122"/>
              </a:rPr>
              <a:t>的方法。</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5121"/>
          <p:cNvSpPr>
            <a:spLocks noGrp="1" noChangeArrowheads="1"/>
          </p:cNvSpPr>
          <p:nvPr>
            <p:ph type="ctrTitle"/>
          </p:nvPr>
        </p:nvSpPr>
        <p:spPr>
          <a:xfrm>
            <a:off x="1028700" y="1744663"/>
            <a:ext cx="7086600" cy="1676400"/>
          </a:xfrm>
        </p:spPr>
        <p:txBody>
          <a:bodyPr anchor="ctr"/>
          <a:lstStyle/>
          <a:p>
            <a:r>
              <a:rPr lang="en-US" altLang="zh-CN" sz="4400" b="1" dirty="0" smtClean="0">
                <a:latin typeface="黑体" panose="02010609060101010101" pitchFamily="49" charset="-122"/>
                <a:ea typeface="黑体" panose="02010609060101010101" pitchFamily="49" charset="-122"/>
              </a:rPr>
              <a:t>11-2 </a:t>
            </a:r>
            <a:r>
              <a:rPr lang="zh-CN" altLang="en-US" sz="4400" b="1" dirty="0" smtClean="0">
                <a:latin typeface="黑体" panose="02010609060101010101" pitchFamily="49" charset="-122"/>
                <a:ea typeface="黑体" panose="02010609060101010101" pitchFamily="49" charset="-122"/>
              </a:rPr>
              <a:t>压气机的工作原理</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文本框 60418"/>
          <p:cNvSpPr txBox="1">
            <a:spLocks noChangeArrowheads="1"/>
          </p:cNvSpPr>
          <p:nvPr/>
        </p:nvSpPr>
        <p:spPr bwMode="auto">
          <a:xfrm>
            <a:off x="330200" y="212150"/>
            <a:ext cx="4759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一、单极活塞式压气机       </a:t>
            </a:r>
            <a:endParaRPr lang="zh-CN" altLang="en-US" sz="3200" b="1" dirty="0">
              <a:latin typeface="黑体" panose="02010609060101010101" pitchFamily="49" charset="-122"/>
              <a:ea typeface="黑体" panose="02010609060101010101" pitchFamily="49" charset="-122"/>
            </a:endParaRPr>
          </a:p>
        </p:txBody>
      </p:sp>
      <p:sp>
        <p:nvSpPr>
          <p:cNvPr id="44034" name="文本框 60419"/>
          <p:cNvSpPr txBox="1">
            <a:spLocks noChangeArrowheads="1"/>
          </p:cNvSpPr>
          <p:nvPr/>
        </p:nvSpPr>
        <p:spPr bwMode="auto">
          <a:xfrm>
            <a:off x="3979863" y="1120775"/>
            <a:ext cx="35988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imes New Roman" panose="02020603050405020304" pitchFamily="18" charset="0"/>
                <a:ea typeface="楷体_GB2312" pitchFamily="49" charset="-122"/>
              </a:rPr>
              <a:t>f-1</a:t>
            </a:r>
            <a:r>
              <a:rPr lang="zh-CN" altLang="en-US" sz="2400" b="1">
                <a:latin typeface="Times New Roman" panose="02020603050405020304" pitchFamily="18" charset="0"/>
                <a:ea typeface="楷体_GB2312" pitchFamily="49" charset="-122"/>
              </a:rPr>
              <a:t>：吸气，气体引入气缸</a:t>
            </a:r>
            <a:endParaRPr lang="zh-CN" altLang="en-US" sz="2400">
              <a:latin typeface="Times New Roman" panose="02020603050405020304" pitchFamily="18" charset="0"/>
            </a:endParaRPr>
          </a:p>
        </p:txBody>
      </p:sp>
      <p:sp>
        <p:nvSpPr>
          <p:cNvPr id="44035" name="文本框 60421"/>
          <p:cNvSpPr txBox="1">
            <a:spLocks noChangeArrowheads="1"/>
          </p:cNvSpPr>
          <p:nvPr/>
        </p:nvSpPr>
        <p:spPr bwMode="auto">
          <a:xfrm>
            <a:off x="3979863" y="2038350"/>
            <a:ext cx="39465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pitchFamily="18" charset="0"/>
                <a:ea typeface="楷体_GB2312" pitchFamily="49" charset="-122"/>
              </a:rPr>
              <a:t>2-g</a:t>
            </a:r>
            <a:r>
              <a:rPr lang="zh-CN" altLang="en-US" sz="2400" b="1">
                <a:latin typeface="Times New Roman" panose="02020603050405020304" pitchFamily="18" charset="0"/>
                <a:ea typeface="楷体_GB2312" pitchFamily="49" charset="-122"/>
              </a:rPr>
              <a:t>：排气，气体流出气缸，输向储气筒</a:t>
            </a:r>
            <a:endParaRPr lang="zh-CN" altLang="en-US" sz="2400" b="1">
              <a:latin typeface="Times New Roman" panose="02020603050405020304" pitchFamily="18" charset="0"/>
              <a:ea typeface="楷体_GB2312" pitchFamily="49" charset="-122"/>
            </a:endParaRPr>
          </a:p>
        </p:txBody>
      </p:sp>
      <p:sp>
        <p:nvSpPr>
          <p:cNvPr id="44036" name="矩形 60426"/>
          <p:cNvSpPr>
            <a:spLocks noChangeArrowheads="1"/>
          </p:cNvSpPr>
          <p:nvPr/>
        </p:nvSpPr>
        <p:spPr bwMode="auto">
          <a:xfrm>
            <a:off x="3979863" y="1581150"/>
            <a:ext cx="333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latin typeface="Times New Roman" panose="02020603050405020304" pitchFamily="18" charset="0"/>
                <a:ea typeface="楷体_GB2312" pitchFamily="49" charset="-122"/>
              </a:rPr>
              <a:t>1-2</a:t>
            </a:r>
            <a:r>
              <a:rPr lang="zh-CN" altLang="en-US" sz="2400" b="1">
                <a:latin typeface="Times New Roman" panose="02020603050405020304" pitchFamily="18" charset="0"/>
                <a:ea typeface="楷体_GB2312" pitchFamily="49" charset="-122"/>
              </a:rPr>
              <a:t>：气体在气缸内压缩</a:t>
            </a:r>
            <a:endParaRPr lang="zh-CN" altLang="en-US" sz="2400" b="1">
              <a:latin typeface="Times New Roman" panose="02020603050405020304" pitchFamily="18" charset="0"/>
              <a:ea typeface="楷体_GB2312" pitchFamily="49" charset="-122"/>
            </a:endParaRPr>
          </a:p>
        </p:txBody>
      </p:sp>
      <p:sp>
        <p:nvSpPr>
          <p:cNvPr id="44037" name="矩形 60433"/>
          <p:cNvSpPr>
            <a:spLocks noChangeArrowheads="1"/>
          </p:cNvSpPr>
          <p:nvPr/>
        </p:nvSpPr>
        <p:spPr bwMode="auto">
          <a:xfrm>
            <a:off x="4329113" y="3306763"/>
            <a:ext cx="4414837" cy="230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注意：</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f-1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过程</a:t>
            </a:r>
            <a:r>
              <a:rPr lang="zh-CN" altLang="en-US" sz="2400" b="1" dirty="0">
                <a:latin typeface="黑体" panose="02010609060101010101" pitchFamily="49" charset="-122"/>
                <a:ea typeface="黑体" panose="02010609060101010101" pitchFamily="49" charset="-122"/>
              </a:rPr>
              <a:t>仅是将处于一定热力状态的气体吸入或排出气缸的机械输送过程，在这两个过程中，气体的热力状态不发生变化，仅是缸内气体的数量发生改变</a:t>
            </a:r>
            <a:endParaRPr lang="zh-CN" altLang="en-US" sz="2400" b="1" dirty="0">
              <a:latin typeface="黑体" panose="02010609060101010101" pitchFamily="49" charset="-122"/>
              <a:ea typeface="黑体" panose="02010609060101010101" pitchFamily="49" charset="-122"/>
            </a:endParaRPr>
          </a:p>
        </p:txBody>
      </p:sp>
      <p:pic>
        <p:nvPicPr>
          <p:cNvPr id="44038"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0200" y="1016000"/>
            <a:ext cx="3649663"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0200" y="1016000"/>
            <a:ext cx="3649663"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文本框 5"/>
          <p:cNvSpPr txBox="1">
            <a:spLocks noChangeArrowheads="1"/>
          </p:cNvSpPr>
          <p:nvPr/>
        </p:nvSpPr>
        <p:spPr bwMode="auto">
          <a:xfrm>
            <a:off x="4213225" y="684213"/>
            <a:ext cx="42116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黑体" panose="02010609060101010101" pitchFamily="49" charset="-122"/>
                <a:ea typeface="黑体" panose="02010609060101010101" pitchFamily="49" charset="-122"/>
                <a:sym typeface="宋体" panose="02010600030101010101" pitchFamily="2" charset="-122"/>
              </a:rPr>
              <a:t>1-2</a:t>
            </a:r>
            <a:r>
              <a:rPr lang="zh-CN" altLang="en-US" sz="2400" b="1" dirty="0">
                <a:latin typeface="黑体" panose="02010609060101010101" pitchFamily="49" charset="-122"/>
                <a:ea typeface="黑体" panose="02010609060101010101" pitchFamily="49" charset="-122"/>
                <a:sym typeface="宋体" panose="02010600030101010101" pitchFamily="2" charset="-122"/>
              </a:rPr>
              <a:t>为气体的热力过程，气体的状态参数发生变化。</a:t>
            </a:r>
            <a:endParaRPr lang="zh-CN" altLang="en-US" sz="2400" b="1" dirty="0">
              <a:latin typeface="黑体" panose="02010609060101010101" pitchFamily="49" charset="-122"/>
              <a:ea typeface="黑体" panose="02010609060101010101" pitchFamily="49" charset="-122"/>
            </a:endParaRPr>
          </a:p>
        </p:txBody>
      </p:sp>
      <p:graphicFrame>
        <p:nvGraphicFramePr>
          <p:cNvPr id="45059" name="对象 1"/>
          <p:cNvGraphicFramePr>
            <a:graphicFrameLocks noChangeAspect="1"/>
          </p:cNvGraphicFramePr>
          <p:nvPr/>
        </p:nvGraphicFramePr>
        <p:xfrm>
          <a:off x="5213350" y="2816225"/>
          <a:ext cx="1781175" cy="530225"/>
        </p:xfrm>
        <a:graphic>
          <a:graphicData uri="http://schemas.openxmlformats.org/presentationml/2006/ole">
            <mc:AlternateContent xmlns:mc="http://schemas.openxmlformats.org/markup-compatibility/2006">
              <mc:Choice xmlns:v="urn:schemas-microsoft-com:vml" Requires="v">
                <p:oleObj spid="_x0000_s14351" name="" r:id="rId2" imgW="673100" imgH="228600" progId="Equation.DSMT4">
                  <p:embed/>
                </p:oleObj>
              </mc:Choice>
              <mc:Fallback>
                <p:oleObj name="" r:id="rId2" imgW="673100" imgH="2286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350" y="2816225"/>
                        <a:ext cx="17811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0" name="文本框 3"/>
          <p:cNvSpPr txBox="1">
            <a:spLocks noChangeArrowheads="1"/>
          </p:cNvSpPr>
          <p:nvPr/>
        </p:nvSpPr>
        <p:spPr bwMode="auto">
          <a:xfrm>
            <a:off x="4314825" y="1843088"/>
            <a:ext cx="42116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压缩过程中，气体终压</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p</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与初压</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p</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的比值称为增压比</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a:spLocks noChangeArrowheads="1"/>
          </p:cNvSpPr>
          <p:nvPr/>
        </p:nvSpPr>
        <p:spPr bwMode="auto">
          <a:xfrm>
            <a:off x="462791" y="387741"/>
            <a:ext cx="4759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二、叶轮式压气机       </a:t>
            </a:r>
            <a:endParaRPr lang="zh-CN" altLang="en-US" sz="3200" b="1" dirty="0">
              <a:latin typeface="黑体" panose="02010609060101010101" pitchFamily="49" charset="-122"/>
              <a:ea typeface="黑体" panose="02010609060101010101" pitchFamily="49" charset="-122"/>
            </a:endParaRPr>
          </a:p>
        </p:txBody>
      </p:sp>
      <p:sp>
        <p:nvSpPr>
          <p:cNvPr id="3" name="文本框 2"/>
          <p:cNvSpPr txBox="1">
            <a:spLocks noChangeArrowheads="1"/>
          </p:cNvSpPr>
          <p:nvPr/>
        </p:nvSpPr>
        <p:spPr bwMode="auto">
          <a:xfrm>
            <a:off x="701331" y="1481045"/>
            <a:ext cx="7634287"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分为离心式和轴流式两种</a:t>
            </a:r>
            <a:endParaRPr lang="en-US" altLang="zh-CN" sz="28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离心式压气机</a:t>
            </a:r>
            <a:r>
              <a:rPr lang="zh-CN" altLang="en-US" sz="2800" b="1" dirty="0">
                <a:latin typeface="黑体" panose="02010609060101010101" pitchFamily="49" charset="-122"/>
                <a:ea typeface="黑体" panose="02010609060101010101" pitchFamily="49" charset="-122"/>
              </a:rPr>
              <a:t>适用于中、小型生产量</a:t>
            </a:r>
            <a:endParaRPr lang="zh-CN" altLang="en-US" sz="2800" b="1" dirty="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轴流式压气机由于结构紧凑，便于安排较多的级数，适用于大流量的场合</a:t>
            </a:r>
            <a:endParaRPr lang="en-US" altLang="zh-CN" sz="28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虽然</a:t>
            </a:r>
            <a:r>
              <a:rPr lang="zh-CN" altLang="zh-CN" sz="2800" b="1" dirty="0">
                <a:latin typeface="黑体" panose="02010609060101010101" pitchFamily="49" charset="-122"/>
                <a:ea typeface="黑体" panose="02010609060101010101" pitchFamily="49" charset="-122"/>
              </a:rPr>
              <a:t>适用的场合不同，但这两种叶轮式压气机的工作特点相同，均是气体不断流入压气机，在其中受到压缩，压力升高后不断流出压气机，即气流的压缩是在连续流动的状况下进行的</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文本框 60418"/>
          <p:cNvSpPr txBox="1">
            <a:spLocks noChangeArrowheads="1"/>
          </p:cNvSpPr>
          <p:nvPr/>
        </p:nvSpPr>
        <p:spPr bwMode="auto">
          <a:xfrm>
            <a:off x="509174" y="499269"/>
            <a:ext cx="4759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轴流式       </a:t>
            </a:r>
            <a:endParaRPr lang="zh-CN" altLang="en-US" sz="3200" b="1" dirty="0">
              <a:latin typeface="黑体" panose="02010609060101010101" pitchFamily="49" charset="-122"/>
              <a:ea typeface="黑体" panose="02010609060101010101" pitchFamily="49" charset="-122"/>
            </a:endParaRPr>
          </a:p>
        </p:txBody>
      </p:sp>
      <p:pic>
        <p:nvPicPr>
          <p:cNvPr id="46083"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0813" y="2282825"/>
            <a:ext cx="4071291" cy="2929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文本框 3"/>
          <p:cNvSpPr txBox="1">
            <a:spLocks noChangeArrowheads="1"/>
          </p:cNvSpPr>
          <p:nvPr/>
        </p:nvSpPr>
        <p:spPr bwMode="auto">
          <a:xfrm>
            <a:off x="4295913" y="714030"/>
            <a:ext cx="4573588" cy="563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初压和初温分别为</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、初速为</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f1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的气体，进入轴流式压气机。</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转子由外力（原动机或电动机）带动作高速旋转，固定在转子上的工作叶片推动气流，使气流获得很高的流速，这是气体接受外界提供的机械功转变为气流动能的过程。</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高速气流流经固定在机壳（定子）上的导向叶片间的流道，相邻的导向叶片间的通道相当于一个扩压管，流体在其中降速升压，这是靠减少气体的动能使气体压缩升压的过程。</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5410" y="499368"/>
            <a:ext cx="4071291" cy="2929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文本框 3"/>
          <p:cNvSpPr txBox="1">
            <a:spLocks noChangeArrowheads="1"/>
          </p:cNvSpPr>
          <p:nvPr/>
        </p:nvSpPr>
        <p:spPr bwMode="auto">
          <a:xfrm>
            <a:off x="4416701" y="625922"/>
            <a:ext cx="44100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黑体" panose="02010609060101010101" pitchFamily="49" charset="-122"/>
                <a:ea typeface="黑体" panose="02010609060101010101" pitchFamily="49" charset="-122"/>
              </a:rPr>
              <a:t>4. </a:t>
            </a:r>
            <a:r>
              <a:rPr lang="zh-CN" altLang="en-US" sz="2400" b="1" dirty="0">
                <a:latin typeface="黑体" panose="02010609060101010101" pitchFamily="49" charset="-122"/>
                <a:ea typeface="黑体" panose="02010609060101010101" pitchFamily="49" charset="-122"/>
              </a:rPr>
              <a:t>一列工作叶片与一列导向叶片构成一个工作级。</a:t>
            </a:r>
            <a:endParaRPr lang="zh-CN" altLang="en-US" sz="2400" b="1" dirty="0">
              <a:latin typeface="黑体" panose="02010609060101010101" pitchFamily="49" charset="-122"/>
              <a:ea typeface="黑体" panose="02010609060101010101" pitchFamily="49" charset="-122"/>
            </a:endParaRPr>
          </a:p>
          <a:p>
            <a:r>
              <a:rPr lang="en-US" altLang="zh-CN" sz="2400" b="1" dirty="0">
                <a:latin typeface="黑体" panose="02010609060101010101" pitchFamily="49" charset="-122"/>
                <a:ea typeface="黑体" panose="02010609060101010101" pitchFamily="49" charset="-122"/>
              </a:rPr>
              <a:t>5. </a:t>
            </a:r>
            <a:r>
              <a:rPr lang="zh-CN" altLang="en-US" sz="2400" b="1" dirty="0">
                <a:latin typeface="黑体" panose="02010609060101010101" pitchFamily="49" charset="-122"/>
                <a:ea typeface="黑体" panose="02010609060101010101" pitchFamily="49" charset="-122"/>
              </a:rPr>
              <a:t>气体连续流经压气机的各个工作级，其压力逐级提高。</a:t>
            </a:r>
            <a:endParaRPr lang="zh-CN" altLang="en-US" sz="2400" b="1" dirty="0">
              <a:latin typeface="黑体" panose="02010609060101010101" pitchFamily="49" charset="-122"/>
              <a:ea typeface="黑体" panose="02010609060101010101" pitchFamily="49" charset="-122"/>
            </a:endParaRPr>
          </a:p>
          <a:p>
            <a:r>
              <a:rPr lang="en-US" altLang="zh-CN" sz="2400" b="1" dirty="0">
                <a:latin typeface="黑体" panose="02010609060101010101" pitchFamily="49" charset="-122"/>
                <a:ea typeface="黑体" panose="02010609060101010101" pitchFamily="49" charset="-122"/>
              </a:rPr>
              <a:t>6.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最后，终压和终温分别为</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、流速为</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1" baseline="-25000" dirty="0">
                <a:latin typeface="Times New Roman" panose="02020603050405020304" pitchFamily="18" charset="0"/>
                <a:ea typeface="黑体" panose="02010609060101010101" pitchFamily="49" charset="-122"/>
                <a:cs typeface="Times New Roman" panose="02020603050405020304" pitchFamily="18" charset="0"/>
              </a:rPr>
              <a:t>f2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的高压气体从排气管排出压气机。</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descr="rcomp"/>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3132138" y="1052513"/>
            <a:ext cx="3409950" cy="2809875"/>
          </a:xfrm>
          <a:prstGeom prst="rect">
            <a:avLst/>
          </a:prstGeom>
          <a:noFill/>
          <a:extLst>
            <a:ext uri="{909E8E84-426E-40DD-AFC4-6F175D3DCCD1}">
              <a14:hiddenFill xmlns:a14="http://schemas.microsoft.com/office/drawing/2010/main">
                <a:solidFill>
                  <a:srgbClr val="FFFFFF"/>
                </a:solidFill>
              </a14:hiddenFill>
            </a:ext>
          </a:extLst>
        </p:spPr>
      </p:pic>
      <p:pic>
        <p:nvPicPr>
          <p:cNvPr id="890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221163"/>
            <a:ext cx="2495550" cy="2190750"/>
          </a:xfrm>
          <a:prstGeom prst="rect">
            <a:avLst/>
          </a:prstGeom>
          <a:noFill/>
          <a:extLst>
            <a:ext uri="{909E8E84-426E-40DD-AFC4-6F175D3DCCD1}">
              <a14:hiddenFill xmlns:a14="http://schemas.microsoft.com/office/drawing/2010/main">
                <a:solidFill>
                  <a:srgbClr val="FFFFFF"/>
                </a:solidFill>
              </a14:hiddenFill>
            </a:ext>
          </a:extLst>
        </p:spPr>
      </p:pic>
      <p:pic>
        <p:nvPicPr>
          <p:cNvPr id="890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4133850"/>
            <a:ext cx="2705100" cy="2724150"/>
          </a:xfrm>
          <a:prstGeom prst="rect">
            <a:avLst/>
          </a:prstGeom>
          <a:noFill/>
          <a:extLst>
            <a:ext uri="{909E8E84-426E-40DD-AFC4-6F175D3DCCD1}">
              <a14:hiddenFill xmlns:a14="http://schemas.microsoft.com/office/drawing/2010/main">
                <a:solidFill>
                  <a:srgbClr val="FFFFFF"/>
                </a:solidFill>
              </a14:hiddenFill>
            </a:ext>
          </a:extLst>
        </p:spPr>
      </p:pic>
      <p:sp>
        <p:nvSpPr>
          <p:cNvPr id="89093" name="文本框 60418"/>
          <p:cNvSpPr txBox="1">
            <a:spLocks noChangeArrowheads="1"/>
          </p:cNvSpPr>
          <p:nvPr/>
        </p:nvSpPr>
        <p:spPr bwMode="auto">
          <a:xfrm>
            <a:off x="2397609" y="258763"/>
            <a:ext cx="47593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楷体_GB2312" pitchFamily="49" charset="-122"/>
              </a:rPr>
              <a:t>一些</a:t>
            </a:r>
            <a:r>
              <a:rPr lang="zh-CN" altLang="en-US" sz="2800" b="1" dirty="0" smtClean="0">
                <a:latin typeface="Times New Roman" panose="02020603050405020304" pitchFamily="18" charset="0"/>
                <a:ea typeface="楷体_GB2312" pitchFamily="49" charset="-122"/>
              </a:rPr>
              <a:t>轴流式压气机示意图       </a:t>
            </a:r>
            <a:endParaRPr lang="zh-CN" altLang="en-US" sz="2800" b="1" dirty="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1484313"/>
            <a:ext cx="5267325" cy="3162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文本框 3"/>
          <p:cNvSpPr txBox="1">
            <a:spLocks noChangeArrowheads="1"/>
          </p:cNvSpPr>
          <p:nvPr/>
        </p:nvSpPr>
        <p:spPr bwMode="auto">
          <a:xfrm>
            <a:off x="4410075" y="2090738"/>
            <a:ext cx="44100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400" b="1" dirty="0">
                <a:latin typeface="黑体" panose="02010609060101010101" pitchFamily="49" charset="-122"/>
                <a:ea typeface="黑体" panose="02010609060101010101" pitchFamily="49" charset="-122"/>
              </a:rPr>
              <a:t>气流沿轴向进入叶轮，受到高速旋转的叶轮推动，依靠离心力的作用而加速。</a:t>
            </a:r>
            <a:endParaRPr lang="zh-CN" altLang="zh-CN" sz="2400" b="1" dirty="0">
              <a:latin typeface="黑体" panose="02010609060101010101" pitchFamily="49" charset="-122"/>
              <a:ea typeface="黑体" panose="02010609060101010101" pitchFamily="49" charset="-122"/>
            </a:endParaRPr>
          </a:p>
          <a:p>
            <a:r>
              <a:rPr lang="zh-CN" altLang="zh-CN" sz="2400" b="1" dirty="0">
                <a:latin typeface="黑体" panose="02010609060101010101" pitchFamily="49" charset="-122"/>
                <a:ea typeface="黑体" panose="02010609060101010101" pitchFamily="49" charset="-122"/>
              </a:rPr>
              <a:t>最后在蜗壳型流道（相当于扩压管）中降低流速，提高压力。</a:t>
            </a:r>
            <a:endParaRPr lang="zh-CN" altLang="zh-CN" sz="2400" b="1" dirty="0">
              <a:latin typeface="黑体" panose="02010609060101010101" pitchFamily="49" charset="-122"/>
              <a:ea typeface="黑体" panose="02010609060101010101" pitchFamily="49" charset="-122"/>
            </a:endParaRPr>
          </a:p>
        </p:txBody>
      </p:sp>
      <p:pic>
        <p:nvPicPr>
          <p:cNvPr id="49156" name="图片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5313" y="2090738"/>
            <a:ext cx="3773487" cy="361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60418"/>
          <p:cNvSpPr txBox="1">
            <a:spLocks noChangeArrowheads="1"/>
          </p:cNvSpPr>
          <p:nvPr/>
        </p:nvSpPr>
        <p:spPr bwMode="auto">
          <a:xfrm>
            <a:off x="509174" y="499269"/>
            <a:ext cx="47593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smtClean="0">
                <a:latin typeface="黑体" panose="02010609060101010101" pitchFamily="49" charset="-122"/>
                <a:ea typeface="黑体" panose="02010609060101010101" pitchFamily="49" charset="-122"/>
              </a:rPr>
              <a:t>2.</a:t>
            </a:r>
            <a:r>
              <a:rPr lang="zh-CN" altLang="en-US" sz="3200" b="1" dirty="0" smtClean="0">
                <a:latin typeface="黑体" panose="02010609060101010101" pitchFamily="49" charset="-122"/>
                <a:ea typeface="黑体" panose="02010609060101010101" pitchFamily="49" charset="-122"/>
              </a:rPr>
              <a:t>离心式       </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1"/>
          <p:cNvSpPr txBox="1">
            <a:spLocks noChangeArrowheads="1"/>
          </p:cNvSpPr>
          <p:nvPr/>
        </p:nvSpPr>
        <p:spPr bwMode="auto">
          <a:xfrm>
            <a:off x="320054" y="292032"/>
            <a:ext cx="86980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a:latin typeface="黑体" panose="02010609060101010101" pitchFamily="49" charset="-122"/>
                <a:ea typeface="黑体" panose="02010609060101010101" pitchFamily="49" charset="-122"/>
              </a:rPr>
              <a:t>三、活塞式压气机与叶轮式压气机的不同之处       </a:t>
            </a:r>
            <a:endParaRPr lang="zh-CN" altLang="en-US" sz="3200" b="1" dirty="0">
              <a:latin typeface="黑体" panose="02010609060101010101" pitchFamily="49" charset="-122"/>
              <a:ea typeface="黑体" panose="02010609060101010101" pitchFamily="49" charset="-122"/>
            </a:endParaRPr>
          </a:p>
        </p:txBody>
      </p:sp>
      <p:sp>
        <p:nvSpPr>
          <p:cNvPr id="51202" name="文本框 5"/>
          <p:cNvSpPr txBox="1">
            <a:spLocks noChangeArrowheads="1"/>
          </p:cNvSpPr>
          <p:nvPr/>
        </p:nvSpPr>
        <p:spPr bwMode="auto">
          <a:xfrm>
            <a:off x="696913" y="4908550"/>
            <a:ext cx="76215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以上三点不同使得活塞式压气机常被应用于</a:t>
            </a:r>
            <a:r>
              <a:rPr lang="zh-CN" altLang="en-US" sz="2800" b="1" dirty="0">
                <a:solidFill>
                  <a:srgbClr val="FF0000"/>
                </a:solidFill>
                <a:latin typeface="黑体" panose="02010609060101010101" pitchFamily="49" charset="-122"/>
                <a:ea typeface="黑体" panose="02010609060101010101" pitchFamily="49" charset="-122"/>
              </a:rPr>
              <a:t>高压、小排量</a:t>
            </a:r>
            <a:r>
              <a:rPr lang="zh-CN" altLang="en-US" sz="2800" b="1" dirty="0">
                <a:latin typeface="黑体" panose="02010609060101010101" pitchFamily="49" charset="-122"/>
                <a:ea typeface="黑体" panose="02010609060101010101" pitchFamily="49" charset="-122"/>
              </a:rPr>
              <a:t>的场合，而叶轮式压气机主要适用于</a:t>
            </a:r>
            <a:r>
              <a:rPr lang="zh-CN" altLang="en-US" sz="2800" b="1" dirty="0">
                <a:solidFill>
                  <a:srgbClr val="FF0000"/>
                </a:solidFill>
                <a:latin typeface="黑体" panose="02010609060101010101" pitchFamily="49" charset="-122"/>
                <a:ea typeface="黑体" panose="02010609060101010101" pitchFamily="49" charset="-122"/>
              </a:rPr>
              <a:t>低压、大排量</a:t>
            </a:r>
            <a:r>
              <a:rPr lang="zh-CN" altLang="en-US" sz="2800" b="1" dirty="0">
                <a:latin typeface="黑体" panose="02010609060101010101" pitchFamily="49" charset="-122"/>
                <a:ea typeface="黑体" panose="02010609060101010101" pitchFamily="49" charset="-122"/>
              </a:rPr>
              <a:t>的场合。</a:t>
            </a:r>
            <a:endParaRPr lang="zh-CN" altLang="en-US" sz="2800" b="1" dirty="0">
              <a:latin typeface="黑体" panose="02010609060101010101" pitchFamily="49" charset="-122"/>
              <a:ea typeface="黑体" panose="02010609060101010101" pitchFamily="49" charset="-122"/>
            </a:endParaRPr>
          </a:p>
        </p:txBody>
      </p:sp>
      <p:sp>
        <p:nvSpPr>
          <p:cNvPr id="51203" name="内容占位符 2"/>
          <p:cNvSpPr>
            <a:spLocks noGrp="1" noChangeArrowheads="1"/>
          </p:cNvSpPr>
          <p:nvPr/>
        </p:nvSpPr>
        <p:spPr bwMode="auto">
          <a:xfrm>
            <a:off x="450574" y="1236593"/>
            <a:ext cx="8229600"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活塞式压气机的吸气和排气是</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间歇性</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的，而叶轮式压气机则能</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连续不断</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地吸气和</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排气</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叶轮式压气机的</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转速</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比活塞式压气机要</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高</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活塞式压气机的</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增压比</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可以达到很高的范围，而叶轮式（特指轴流式）压气机每级的增压比很小（约为1.15~1.30），因此若要得到较高压力的压缩气体，需要的级数</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宋体" panose="02010600030101010101" pitchFamily="2" charset="-122"/>
              </a:rPr>
              <a:t>很多</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5121"/>
          <p:cNvSpPr>
            <a:spLocks noGrp="1" noChangeArrowheads="1"/>
          </p:cNvSpPr>
          <p:nvPr>
            <p:ph type="ctrTitle"/>
          </p:nvPr>
        </p:nvSpPr>
        <p:spPr>
          <a:xfrm>
            <a:off x="1028700" y="1744663"/>
            <a:ext cx="7086600" cy="1676400"/>
          </a:xfrm>
        </p:spPr>
        <p:txBody>
          <a:bodyPr anchor="ctr"/>
          <a:lstStyle/>
          <a:p>
            <a:r>
              <a:rPr lang="en-US" altLang="zh-CN" sz="4400" b="1" dirty="0" smtClean="0">
                <a:latin typeface="黑体" panose="02010609060101010101" pitchFamily="49" charset="-122"/>
                <a:ea typeface="黑体" panose="02010609060101010101" pitchFamily="49" charset="-122"/>
              </a:rPr>
              <a:t>11-3 </a:t>
            </a:r>
            <a:r>
              <a:rPr lang="zh-CN" altLang="en-US" sz="4400" b="1" dirty="0" smtClean="0">
                <a:latin typeface="黑体" panose="02010609060101010101" pitchFamily="49" charset="-122"/>
                <a:ea typeface="黑体" panose="02010609060101010101" pitchFamily="49" charset="-122"/>
              </a:rPr>
              <a:t>压气机的热力学分析</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内容占位符 3"/>
          <p:cNvSpPr>
            <a:spLocks noGrp="1" noChangeArrowheads="1"/>
          </p:cNvSpPr>
          <p:nvPr>
            <p:ph idx="1"/>
          </p:nvPr>
        </p:nvSpPr>
        <p:spPr>
          <a:xfrm>
            <a:off x="457200" y="1165225"/>
            <a:ext cx="8229600" cy="4525963"/>
          </a:xfrm>
        </p:spPr>
        <p:txBody>
          <a:bodyPr>
            <a:normAutofit/>
          </a:bodyPr>
          <a:lstStyle/>
          <a:p>
            <a:r>
              <a:rPr lang="zh-CN" altLang="en-US" sz="3200" b="1" dirty="0" smtClean="0">
                <a:latin typeface="黑体" panose="02010609060101010101" pitchFamily="49" charset="-122"/>
                <a:ea typeface="黑体" panose="02010609060101010101" pitchFamily="49" charset="-122"/>
              </a:rPr>
              <a:t>虽然活塞式压气机和叶轮式压气机的工作原理不同，但在各类压气机中，气体均经历进气、压缩和排气过程</a:t>
            </a:r>
            <a:endParaRPr lang="zh-CN" altLang="en-US" sz="3200" b="1" dirty="0" smtClean="0">
              <a:latin typeface="黑体" panose="02010609060101010101" pitchFamily="49" charset="-122"/>
              <a:ea typeface="黑体" panose="02010609060101010101" pitchFamily="49" charset="-122"/>
            </a:endParaRPr>
          </a:p>
          <a:p>
            <a:r>
              <a:rPr lang="zh-CN" altLang="en-US" sz="3200" b="1" dirty="0" smtClean="0">
                <a:latin typeface="黑体" panose="02010609060101010101" pitchFamily="49" charset="-122"/>
                <a:ea typeface="黑体" panose="02010609060101010101" pitchFamily="49" charset="-122"/>
              </a:rPr>
              <a:t>从热力学观点来分析，气体的状态变化过程并没有什么不同，都是接受外功使气体升压的过程</a:t>
            </a:r>
            <a:endParaRPr lang="zh-CN" altLang="en-US" sz="3200" b="1" dirty="0" smtClean="0">
              <a:latin typeface="黑体" panose="02010609060101010101" pitchFamily="49" charset="-122"/>
              <a:ea typeface="黑体" panose="02010609060101010101" pitchFamily="49" charset="-122"/>
            </a:endParaRPr>
          </a:p>
          <a:p>
            <a:r>
              <a:rPr lang="zh-CN" altLang="en-US" sz="3200" b="1" dirty="0" smtClean="0">
                <a:latin typeface="黑体" panose="02010609060101010101" pitchFamily="49" charset="-122"/>
                <a:ea typeface="黑体" panose="02010609060101010101" pitchFamily="49" charset="-122"/>
              </a:rPr>
              <a:t>因此，本小节的讨论对于活塞式和叶轮式压气机均适用</a:t>
            </a:r>
            <a:endParaRPr lang="zh-CN" altLang="en-US" sz="32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61458"/>
          <p:cNvSpPr>
            <a:spLocks noChangeArrowheads="1"/>
          </p:cNvSpPr>
          <p:nvPr/>
        </p:nvSpPr>
        <p:spPr bwMode="auto">
          <a:xfrm>
            <a:off x="476250" y="1352550"/>
            <a:ext cx="7999413"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2800" b="1" dirty="0">
                <a:latin typeface="黑体" panose="02010609060101010101" pitchFamily="49" charset="-122"/>
                <a:ea typeface="黑体" panose="02010609060101010101" pitchFamily="49" charset="-122"/>
              </a:rPr>
              <a:t>压缩过程中，</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气体的压力从</a:t>
            </a:r>
            <a:r>
              <a:rPr lang="zh-CN" altLang="en-US" sz="28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升高至</a:t>
            </a:r>
            <a:r>
              <a:rPr lang="zh-CN" altLang="en-US" sz="28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下面</a:t>
            </a:r>
            <a:r>
              <a:rPr lang="zh-CN" altLang="en-US" sz="2800" b="1" dirty="0" smtClean="0">
                <a:latin typeface="黑体" panose="02010609060101010101" pitchFamily="49" charset="-122"/>
                <a:ea typeface="黑体" panose="02010609060101010101" pitchFamily="49" charset="-122"/>
              </a:rPr>
              <a:t>考虑</a:t>
            </a:r>
            <a:r>
              <a:rPr lang="zh-CN" altLang="en-US" sz="2800" b="1" dirty="0">
                <a:latin typeface="黑体" panose="02010609060101010101" pitchFamily="49" charset="-122"/>
                <a:ea typeface="黑体" panose="02010609060101010101" pitchFamily="49" charset="-122"/>
              </a:rPr>
              <a:t>三种理想可逆的压缩过程，假设三种过程的</a:t>
            </a:r>
            <a:r>
              <a:rPr lang="zh-CN" altLang="en-US" sz="2800" b="1" dirty="0" smtClean="0">
                <a:latin typeface="黑体" panose="02010609060101010101" pitchFamily="49" charset="-122"/>
                <a:ea typeface="黑体" panose="02010609060101010101" pitchFamily="49" charset="-122"/>
              </a:rPr>
              <a:t>增压比</a:t>
            </a:r>
            <a:r>
              <a:rPr lang="el-GR" altLang="zh-CN" sz="2800" b="1" i="1" dirty="0" smtClean="0">
                <a:latin typeface="Times New Roman" panose="02020603050405020304" pitchFamily="18" charset="0"/>
                <a:ea typeface="微软雅黑" panose="020B0503020204020204" charset="-122"/>
                <a:cs typeface="Times New Roman" panose="02020603050405020304" pitchFamily="18" charset="0"/>
              </a:rPr>
              <a:t>π</a:t>
            </a:r>
            <a:r>
              <a:rPr lang="zh-CN" altLang="en-US" sz="2800" b="1" dirty="0" smtClean="0">
                <a:latin typeface="黑体" panose="02010609060101010101" pitchFamily="49" charset="-122"/>
                <a:ea typeface="黑体" panose="02010609060101010101" pitchFamily="49" charset="-122"/>
              </a:rPr>
              <a:t>相</a:t>
            </a:r>
            <a:r>
              <a:rPr lang="zh-CN" altLang="en-US" sz="2800" b="1" dirty="0">
                <a:latin typeface="黑体" panose="02010609060101010101" pitchFamily="49" charset="-122"/>
                <a:ea typeface="黑体" panose="02010609060101010101" pitchFamily="49" charset="-122"/>
              </a:rPr>
              <a:t>同</a:t>
            </a:r>
            <a:endParaRPr lang="zh-CN" altLang="en-US" sz="2800" b="1" dirty="0">
              <a:latin typeface="黑体" panose="02010609060101010101" pitchFamily="49" charset="-122"/>
              <a:ea typeface="黑体" panose="02010609060101010101" pitchFamily="49" charset="-122"/>
            </a:endParaRPr>
          </a:p>
          <a:p>
            <a:pPr>
              <a:spcBef>
                <a:spcPct val="20000"/>
              </a:spcBef>
            </a:pPr>
            <a:endParaRPr lang="zh-CN" altLang="en-US" sz="2800" dirty="0">
              <a:latin typeface="Times New Roman" panose="02020603050405020304" pitchFamily="18" charset="0"/>
            </a:endParaRPr>
          </a:p>
        </p:txBody>
      </p:sp>
      <p:sp>
        <p:nvSpPr>
          <p:cNvPr id="55298" name="矩形 115716"/>
          <p:cNvSpPr>
            <a:spLocks noChangeArrowheads="1"/>
          </p:cNvSpPr>
          <p:nvPr/>
        </p:nvSpPr>
        <p:spPr bwMode="auto">
          <a:xfrm>
            <a:off x="395288" y="333375"/>
            <a:ext cx="5899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黑体" panose="02010609060101010101" pitchFamily="49" charset="-122"/>
                <a:ea typeface="黑体" panose="02010609060101010101" pitchFamily="49" charset="-122"/>
              </a:rPr>
              <a:t>一、压缩过程中气体的状态变化</a:t>
            </a:r>
            <a:endParaRPr lang="zh-CN" altLang="en-US" sz="3200" b="1" dirty="0">
              <a:latin typeface="黑体" panose="02010609060101010101" pitchFamily="49" charset="-122"/>
              <a:ea typeface="黑体" panose="02010609060101010101" pitchFamily="49" charset="-122"/>
            </a:endParaRPr>
          </a:p>
        </p:txBody>
      </p:sp>
      <p:pic>
        <p:nvPicPr>
          <p:cNvPr id="55299"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4438" y="2886075"/>
            <a:ext cx="2743200"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0"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4263" y="3087688"/>
            <a:ext cx="2786062"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矩形 115716"/>
          <p:cNvSpPr>
            <a:spLocks noChangeArrowheads="1"/>
          </p:cNvSpPr>
          <p:nvPr/>
        </p:nvSpPr>
        <p:spPr bwMode="auto">
          <a:xfrm>
            <a:off x="309149" y="182870"/>
            <a:ext cx="52832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a:latin typeface="黑体" panose="02010609060101010101" pitchFamily="49" charset="-122"/>
                <a:ea typeface="黑体" panose="02010609060101010101" pitchFamily="49" charset="-122"/>
              </a:rPr>
              <a:t>1. </a:t>
            </a:r>
            <a:r>
              <a:rPr lang="zh-CN" altLang="en-US" sz="3200" b="1" dirty="0" smtClean="0">
                <a:latin typeface="黑体" panose="02010609060101010101" pitchFamily="49" charset="-122"/>
                <a:ea typeface="黑体" panose="02010609060101010101" pitchFamily="49" charset="-122"/>
              </a:rPr>
              <a:t>绝热过程（    ）</a:t>
            </a:r>
            <a:endParaRPr lang="zh-CN" altLang="en-US" sz="3200" b="1" dirty="0">
              <a:latin typeface="黑体" panose="02010609060101010101" pitchFamily="49" charset="-122"/>
              <a:ea typeface="黑体" panose="02010609060101010101" pitchFamily="49" charset="-122"/>
            </a:endParaRPr>
          </a:p>
        </p:txBody>
      </p:sp>
      <p:pic>
        <p:nvPicPr>
          <p:cNvPr id="56322"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59565" y="3676727"/>
            <a:ext cx="2532646" cy="2710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6323" name="对象 1"/>
          <p:cNvGraphicFramePr>
            <a:graphicFrameLocks noChangeAspect="1"/>
          </p:cNvGraphicFramePr>
          <p:nvPr/>
        </p:nvGraphicFramePr>
        <p:xfrm>
          <a:off x="3048996" y="347065"/>
          <a:ext cx="792590" cy="356832"/>
        </p:xfrm>
        <a:graphic>
          <a:graphicData uri="http://schemas.openxmlformats.org/presentationml/2006/ole">
            <mc:AlternateContent xmlns:mc="http://schemas.openxmlformats.org/markup-compatibility/2006">
              <mc:Choice xmlns:v="urn:schemas-microsoft-com:vml" Requires="v">
                <p:oleObj spid="_x0000_s3139" name="" r:id="rId2" imgW="943610" imgH="424815" progId="Equation.DSMT4">
                  <p:embed/>
                </p:oleObj>
              </mc:Choice>
              <mc:Fallback>
                <p:oleObj name="" r:id="rId2" imgW="943610" imgH="424815"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996" y="347065"/>
                        <a:ext cx="792590" cy="356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4" name="对象 5"/>
          <p:cNvGraphicFramePr>
            <a:graphicFrameLocks noChangeAspect="1"/>
          </p:cNvGraphicFramePr>
          <p:nvPr/>
        </p:nvGraphicFramePr>
        <p:xfrm>
          <a:off x="4651340" y="4170874"/>
          <a:ext cx="2239962" cy="1406525"/>
        </p:xfrm>
        <a:graphic>
          <a:graphicData uri="http://schemas.openxmlformats.org/presentationml/2006/ole">
            <mc:AlternateContent xmlns:mc="http://schemas.openxmlformats.org/markup-compatibility/2006">
              <mc:Choice xmlns:v="urn:schemas-microsoft-com:vml" Requires="v">
                <p:oleObj spid="_x0000_s3140" name="" r:id="rId4" imgW="876300" imgH="571500" progId="Equation.DSMT4">
                  <p:embed/>
                </p:oleObj>
              </mc:Choice>
              <mc:Fallback>
                <p:oleObj name="" r:id="rId4" imgW="876300" imgH="5715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1340" y="4170874"/>
                        <a:ext cx="2239962"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矩形 115716"/>
          <p:cNvSpPr>
            <a:spLocks noChangeArrowheads="1"/>
          </p:cNvSpPr>
          <p:nvPr/>
        </p:nvSpPr>
        <p:spPr bwMode="auto">
          <a:xfrm>
            <a:off x="387483" y="861423"/>
            <a:ext cx="820655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无专门的冷却措施，因过程进行得很快，过程中气体向外界传出的热量可忽略不计，因此可视为绝热</a:t>
            </a:r>
            <a:r>
              <a:rPr lang="zh-CN" altLang="en-US" sz="2800" b="1" dirty="0">
                <a:latin typeface="黑体" panose="02010609060101010101" pitchFamily="49" charset="-122"/>
                <a:ea typeface="黑体" panose="02010609060101010101" pitchFamily="49" charset="-122"/>
              </a:rPr>
              <a:t>过程</a:t>
            </a:r>
            <a:endParaRPr lang="en-US" altLang="zh-CN" sz="2800" b="1" dirty="0" smtClean="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由第</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8</a:t>
            </a:r>
            <a:r>
              <a:rPr lang="zh-CN" altLang="en-US" sz="2800" b="1" smtClean="0">
                <a:latin typeface="Times New Roman" panose="02020603050405020304" pitchFamily="18" charset="0"/>
                <a:ea typeface="黑体" panose="02010609060101010101" pitchFamily="49" charset="-122"/>
                <a:cs typeface="Times New Roman" panose="02020603050405020304" pitchFamily="18" charset="0"/>
              </a:rPr>
              <a:t>章的</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分析可知，可逆绝热过程的多变指数为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l-GR"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κ</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压缩后，气体温度升高</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7" name="对象 12"/>
          <p:cNvGraphicFramePr>
            <a:graphicFrameLocks noChangeAspect="1"/>
          </p:cNvGraphicFramePr>
          <p:nvPr/>
        </p:nvGraphicFramePr>
        <p:xfrm>
          <a:off x="5741504" y="3804441"/>
          <a:ext cx="1171575" cy="1144588"/>
        </p:xfrm>
        <a:graphic>
          <a:graphicData uri="http://schemas.openxmlformats.org/presentationml/2006/ole">
            <mc:AlternateContent xmlns:mc="http://schemas.openxmlformats.org/markup-compatibility/2006">
              <mc:Choice xmlns:v="urn:schemas-microsoft-com:vml" Requires="v">
                <p:oleObj spid="_x0000_s9292" name="" r:id="rId1" imgW="1073150" imgH="1060450" progId="Equation.DSMT4">
                  <p:embed/>
                </p:oleObj>
              </mc:Choice>
              <mc:Fallback>
                <p:oleObj name="" r:id="rId1" imgW="1073150" imgH="1060450" progId="Equation.DSMT4">
                  <p:embed/>
                  <p:pic>
                    <p:nvPicPr>
                      <p:cNvPr id="0" name="对象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1504" y="3804441"/>
                        <a:ext cx="1171575"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 name="矩形 115716"/>
          <p:cNvSpPr>
            <a:spLocks noChangeArrowheads="1"/>
          </p:cNvSpPr>
          <p:nvPr/>
        </p:nvSpPr>
        <p:spPr bwMode="auto">
          <a:xfrm>
            <a:off x="309149" y="182870"/>
            <a:ext cx="52832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smtClean="0">
                <a:latin typeface="黑体" panose="02010609060101010101" pitchFamily="49" charset="-122"/>
                <a:ea typeface="黑体" panose="02010609060101010101" pitchFamily="49" charset="-122"/>
              </a:rPr>
              <a:t>2. </a:t>
            </a:r>
            <a:r>
              <a:rPr lang="zh-CN" altLang="en-US" sz="3200" b="1" dirty="0" smtClean="0">
                <a:latin typeface="黑体" panose="02010609060101010101" pitchFamily="49" charset="-122"/>
                <a:ea typeface="黑体" panose="02010609060101010101" pitchFamily="49" charset="-122"/>
              </a:rPr>
              <a:t>定温过程（    ）</a:t>
            </a:r>
            <a:endParaRPr lang="zh-CN" altLang="en-US" sz="3200" b="1" dirty="0">
              <a:latin typeface="黑体" panose="02010609060101010101" pitchFamily="49" charset="-122"/>
              <a:ea typeface="黑体" panose="02010609060101010101" pitchFamily="49" charset="-122"/>
            </a:endParaRPr>
          </a:p>
        </p:txBody>
      </p:sp>
      <p:graphicFrame>
        <p:nvGraphicFramePr>
          <p:cNvPr id="17" name="对象 1"/>
          <p:cNvGraphicFramePr>
            <a:graphicFrameLocks noChangeAspect="1"/>
          </p:cNvGraphicFramePr>
          <p:nvPr/>
        </p:nvGraphicFramePr>
        <p:xfrm>
          <a:off x="3070225" y="253407"/>
          <a:ext cx="825300" cy="443700"/>
        </p:xfrm>
        <a:graphic>
          <a:graphicData uri="http://schemas.openxmlformats.org/presentationml/2006/ole">
            <mc:AlternateContent xmlns:mc="http://schemas.openxmlformats.org/markup-compatibility/2006">
              <mc:Choice xmlns:v="urn:schemas-microsoft-com:vml" Requires="v">
                <p:oleObj spid="_x0000_s9293" name="Equation" r:id="rId3" imgW="7924800" imgH="4267200" progId="Equation.DSMT4">
                  <p:embed/>
                </p:oleObj>
              </mc:Choice>
              <mc:Fallback>
                <p:oleObj name="Equation" r:id="rId3" imgW="7924800" imgH="4267200" progId="Equation.DSMT4">
                  <p:embed/>
                  <p:pic>
                    <p:nvPicPr>
                      <p:cNvPr id="0" name="对象 1"/>
                      <p:cNvPicPr>
                        <a:picLocks noChangeAspect="1" noChangeArrowheads="1"/>
                      </p:cNvPicPr>
                      <p:nvPr/>
                    </p:nvPicPr>
                    <p:blipFill>
                      <a:blip r:embed="rId4"/>
                      <a:srcRect/>
                      <a:stretch>
                        <a:fillRect/>
                      </a:stretch>
                    </p:blipFill>
                    <p:spPr bwMode="auto">
                      <a:xfrm>
                        <a:off x="3070225" y="253407"/>
                        <a:ext cx="825300" cy="44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矩形 115716"/>
          <p:cNvSpPr>
            <a:spLocks noChangeArrowheads="1"/>
          </p:cNvSpPr>
          <p:nvPr/>
        </p:nvSpPr>
        <p:spPr bwMode="auto">
          <a:xfrm>
            <a:off x="488053" y="948110"/>
            <a:ext cx="803364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a:latin typeface="黑体" panose="02010609060101010101" pitchFamily="49" charset="-122"/>
                <a:ea typeface="黑体" panose="02010609060101010101" pitchFamily="49" charset="-122"/>
              </a:rPr>
              <a:t>此</a:t>
            </a:r>
            <a:r>
              <a:rPr lang="zh-CN" altLang="en-US" sz="3200" b="1" dirty="0" smtClean="0">
                <a:latin typeface="黑体" panose="02010609060101010101" pitchFamily="49" charset="-122"/>
                <a:ea typeface="黑体" panose="02010609060101010101" pitchFamily="49" charset="-122"/>
              </a:rPr>
              <a:t>种压缩过程需要有理想的冷却条件，压缩时气体能够及时向外界传出热量，使得压缩后气体的温度随时与初态温度相等</a:t>
            </a:r>
            <a:endParaRPr lang="zh-CN" altLang="en-US" sz="3200" b="1" dirty="0">
              <a:latin typeface="黑体" panose="02010609060101010101" pitchFamily="49" charset="-122"/>
              <a:ea typeface="黑体" panose="02010609060101010101" pitchFamily="49" charset="-122"/>
            </a:endParaRPr>
          </a:p>
        </p:txBody>
      </p:sp>
      <p:pic>
        <p:nvPicPr>
          <p:cNvPr id="19" name="图片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4522" y="3030756"/>
            <a:ext cx="3171027" cy="339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8" name="矩形 19"/>
          <p:cNvSpPr>
            <a:spLocks noChangeArrowheads="1"/>
          </p:cNvSpPr>
          <p:nvPr/>
        </p:nvSpPr>
        <p:spPr bwMode="auto">
          <a:xfrm>
            <a:off x="454923" y="234815"/>
            <a:ext cx="47243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dirty="0">
                <a:latin typeface="黑体" panose="02010609060101010101" pitchFamily="49" charset="-122"/>
                <a:ea typeface="黑体" panose="02010609060101010101" pitchFamily="49" charset="-122"/>
              </a:rPr>
              <a:t>3. </a:t>
            </a:r>
            <a:r>
              <a:rPr lang="zh-CN" altLang="en-US" sz="3200" b="1" dirty="0" smtClean="0">
                <a:latin typeface="黑体" panose="02010609060101010101" pitchFamily="49" charset="-122"/>
                <a:ea typeface="黑体" panose="02010609060101010101" pitchFamily="49" charset="-122"/>
              </a:rPr>
              <a:t>多变过程（       ）</a:t>
            </a:r>
            <a:endParaRPr lang="zh-CN" altLang="en-US" sz="3200" b="1" dirty="0">
              <a:latin typeface="黑体" panose="02010609060101010101" pitchFamily="49" charset="-122"/>
              <a:ea typeface="黑体" panose="02010609060101010101" pitchFamily="49" charset="-122"/>
            </a:endParaRPr>
          </a:p>
        </p:txBody>
      </p:sp>
      <p:graphicFrame>
        <p:nvGraphicFramePr>
          <p:cNvPr id="56329" name="对象 20"/>
          <p:cNvGraphicFramePr>
            <a:graphicFrameLocks noChangeAspect="1"/>
          </p:cNvGraphicFramePr>
          <p:nvPr/>
        </p:nvGraphicFramePr>
        <p:xfrm>
          <a:off x="3168994" y="308127"/>
          <a:ext cx="1547812" cy="438150"/>
        </p:xfrm>
        <a:graphic>
          <a:graphicData uri="http://schemas.openxmlformats.org/presentationml/2006/ole">
            <mc:AlternateContent xmlns:mc="http://schemas.openxmlformats.org/markup-compatibility/2006">
              <mc:Choice xmlns:v="urn:schemas-microsoft-com:vml" Requires="v">
                <p:oleObj spid="_x0000_s10325" name="" r:id="rId1" imgW="571500" imgH="177165" progId="Equation.DSMT4">
                  <p:embed/>
                </p:oleObj>
              </mc:Choice>
              <mc:Fallback>
                <p:oleObj name="" r:id="rId1" imgW="571500" imgH="177165" progId="Equation.DSMT4">
                  <p:embed/>
                  <p:pic>
                    <p:nvPicPr>
                      <p:cNvPr id="0" name="对象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994" y="308127"/>
                        <a:ext cx="15478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30" name="对象 22"/>
          <p:cNvGraphicFramePr>
            <a:graphicFrameLocks noChangeAspect="1"/>
          </p:cNvGraphicFramePr>
          <p:nvPr/>
        </p:nvGraphicFramePr>
        <p:xfrm>
          <a:off x="5188793" y="3840595"/>
          <a:ext cx="2227262" cy="1398587"/>
        </p:xfrm>
        <a:graphic>
          <a:graphicData uri="http://schemas.openxmlformats.org/presentationml/2006/ole">
            <mc:AlternateContent xmlns:mc="http://schemas.openxmlformats.org/markup-compatibility/2006">
              <mc:Choice xmlns:v="urn:schemas-microsoft-com:vml" Requires="v">
                <p:oleObj spid="_x0000_s10326" name="" r:id="rId3" imgW="876300" imgH="571500" progId="Equation.DSMT4">
                  <p:embed/>
                </p:oleObj>
              </mc:Choice>
              <mc:Fallback>
                <p:oleObj name="" r:id="rId3" imgW="876300" imgH="571500" progId="Equation.DSMT4">
                  <p:embed/>
                  <p:pic>
                    <p:nvPicPr>
                      <p:cNvPr id="0" name="对象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8793" y="3840595"/>
                        <a:ext cx="2227262" cy="139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矩形 115716"/>
          <p:cNvSpPr>
            <a:spLocks noChangeArrowheads="1"/>
          </p:cNvSpPr>
          <p:nvPr/>
        </p:nvSpPr>
        <p:spPr bwMode="auto">
          <a:xfrm>
            <a:off x="488053" y="948110"/>
            <a:ext cx="8033647"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a:latin typeface="黑体" panose="02010609060101010101" pitchFamily="49" charset="-122"/>
                <a:ea typeface="黑体" panose="02010609060101010101" pitchFamily="49" charset="-122"/>
              </a:rPr>
              <a:t>此</a:t>
            </a:r>
            <a:r>
              <a:rPr lang="zh-CN" altLang="en-US" sz="3200" b="1" dirty="0" smtClean="0">
                <a:latin typeface="黑体" panose="02010609060101010101" pitchFamily="49" charset="-122"/>
                <a:ea typeface="黑体" panose="02010609060101010101" pitchFamily="49" charset="-122"/>
              </a:rPr>
              <a:t>种压缩过程采用了一定的冷却措施，过程中气体边压缩边放热，但气体的温度仍然有所升高，此时的多变指数        。压缩后，气体的温度升高</a:t>
            </a:r>
            <a:endParaRPr lang="zh-CN" altLang="en-US" sz="3200" b="1" dirty="0">
              <a:latin typeface="黑体" panose="02010609060101010101" pitchFamily="49" charset="-122"/>
              <a:ea typeface="黑体" panose="02010609060101010101" pitchFamily="49" charset="-122"/>
            </a:endParaRPr>
          </a:p>
        </p:txBody>
      </p:sp>
      <p:graphicFrame>
        <p:nvGraphicFramePr>
          <p:cNvPr id="12" name="对象 20"/>
          <p:cNvGraphicFramePr>
            <a:graphicFrameLocks noChangeAspect="1"/>
          </p:cNvGraphicFramePr>
          <p:nvPr/>
        </p:nvGraphicFramePr>
        <p:xfrm>
          <a:off x="5179293" y="1994183"/>
          <a:ext cx="1547812" cy="438150"/>
        </p:xfrm>
        <a:graphic>
          <a:graphicData uri="http://schemas.openxmlformats.org/presentationml/2006/ole">
            <mc:AlternateContent xmlns:mc="http://schemas.openxmlformats.org/markup-compatibility/2006">
              <mc:Choice xmlns:v="urn:schemas-microsoft-com:vml" Requires="v">
                <p:oleObj spid="_x0000_s10327" name="" r:id="rId5" imgW="571500" imgH="177165" progId="Equation.DSMT4">
                  <p:embed/>
                </p:oleObj>
              </mc:Choice>
              <mc:Fallback>
                <p:oleObj name="" r:id="rId5" imgW="571500" imgH="177165" progId="Equation.DSMT4">
                  <p:embed/>
                  <p:pic>
                    <p:nvPicPr>
                      <p:cNvPr id="0" name="对象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9293" y="1994183"/>
                        <a:ext cx="15478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3" name="图片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2122" y="3248704"/>
            <a:ext cx="3171027" cy="339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25"/>
          <p:cNvGraphicFramePr>
            <a:graphicFrameLocks noChangeAspect="1"/>
          </p:cNvGraphicFramePr>
          <p:nvPr/>
        </p:nvGraphicFramePr>
        <p:xfrm>
          <a:off x="3094451" y="5610709"/>
          <a:ext cx="3254375" cy="798512"/>
        </p:xfrm>
        <a:graphic>
          <a:graphicData uri="http://schemas.openxmlformats.org/presentationml/2006/ole">
            <mc:AlternateContent xmlns:mc="http://schemas.openxmlformats.org/markup-compatibility/2006">
              <mc:Choice xmlns:v="urn:schemas-microsoft-com:vml" Requires="v">
                <p:oleObj spid="_x0000_s11292" name="" r:id="rId1" imgW="862965" imgH="241300" progId="Equation.DSMT4">
                  <p:embed/>
                </p:oleObj>
              </mc:Choice>
              <mc:Fallback>
                <p:oleObj name="" r:id="rId1" imgW="862965" imgH="241300" progId="Equation.DSMT4">
                  <p:embed/>
                  <p:pic>
                    <p:nvPicPr>
                      <p:cNvPr id="0" name="对象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451" y="5610709"/>
                        <a:ext cx="3254375" cy="798512"/>
                      </a:xfrm>
                      <a:prstGeom prst="rect">
                        <a:avLst/>
                      </a:prstGeom>
                      <a:noFill/>
                      <a:ln w="28575">
                        <a:solidFill>
                          <a:srgbClr val="89A4A7"/>
                        </a:solidFill>
                        <a:rou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795" y="172213"/>
            <a:ext cx="2786062" cy="297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133" y="83243"/>
            <a:ext cx="2743200"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115716"/>
          <p:cNvSpPr>
            <a:spLocks noChangeArrowheads="1"/>
          </p:cNvSpPr>
          <p:nvPr/>
        </p:nvSpPr>
        <p:spPr bwMode="auto">
          <a:xfrm>
            <a:off x="1814961" y="3340128"/>
            <a:ext cx="55880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latin typeface="黑体" panose="02010609060101010101" pitchFamily="49" charset="-122"/>
                <a:ea typeface="黑体" panose="02010609060101010101" pitchFamily="49" charset="-122"/>
              </a:rPr>
              <a:t>三种压缩过程的</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latin typeface="黑体" panose="02010609060101010101" pitchFamily="49" charset="-122"/>
                <a:ea typeface="黑体" panose="02010609060101010101" pitchFamily="49" charset="-122"/>
              </a:rPr>
              <a:t>图和</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T-s</a:t>
            </a:r>
            <a:r>
              <a:rPr lang="zh-CN" altLang="en-US" sz="2800" b="1" dirty="0" smtClean="0">
                <a:latin typeface="黑体" panose="02010609060101010101" pitchFamily="49" charset="-122"/>
                <a:ea typeface="黑体" panose="02010609060101010101" pitchFamily="49" charset="-122"/>
              </a:rPr>
              <a:t>图</a:t>
            </a:r>
            <a:endParaRPr lang="zh-CN" altLang="en-US" sz="2800" b="1" dirty="0">
              <a:latin typeface="黑体" panose="02010609060101010101" pitchFamily="49" charset="-122"/>
              <a:ea typeface="黑体" panose="02010609060101010101" pitchFamily="49" charset="-122"/>
            </a:endParaRPr>
          </a:p>
        </p:txBody>
      </p:sp>
      <p:sp>
        <p:nvSpPr>
          <p:cNvPr id="6" name="矩形 115716"/>
          <p:cNvSpPr>
            <a:spLocks noChangeArrowheads="1"/>
          </p:cNvSpPr>
          <p:nvPr/>
        </p:nvSpPr>
        <p:spPr bwMode="auto">
          <a:xfrm>
            <a:off x="505584" y="4102395"/>
            <a:ext cx="803364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smtClean="0">
                <a:latin typeface="黑体" panose="02010609060101010101" pitchFamily="49" charset="-122"/>
                <a:ea typeface="黑体" panose="02010609060101010101" pitchFamily="49" charset="-122"/>
              </a:rPr>
              <a:t>三种压缩过程具有相同的初态点和相同的终态压力，但三种过程的终态温度不同，从图中可以看到：</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矩形 115716"/>
          <p:cNvSpPr>
            <a:spLocks noChangeArrowheads="1"/>
          </p:cNvSpPr>
          <p:nvPr/>
        </p:nvSpPr>
        <p:spPr bwMode="auto">
          <a:xfrm>
            <a:off x="395288" y="333375"/>
            <a:ext cx="467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黑体" panose="02010609060101010101" pitchFamily="49" charset="-122"/>
                <a:ea typeface="黑体" panose="02010609060101010101" pitchFamily="49" charset="-122"/>
              </a:rPr>
              <a:t>二、压气机的理想耗功量</a:t>
            </a:r>
            <a:endParaRPr lang="zh-CN" altLang="en-US" sz="3200" b="1" dirty="0">
              <a:latin typeface="黑体" panose="02010609060101010101" pitchFamily="49" charset="-122"/>
              <a:ea typeface="黑体" panose="02010609060101010101" pitchFamily="49" charset="-122"/>
            </a:endParaRPr>
          </a:p>
        </p:txBody>
      </p:sp>
      <p:sp>
        <p:nvSpPr>
          <p:cNvPr id="57346" name="文本框 1"/>
          <p:cNvSpPr txBox="1">
            <a:spLocks noChangeArrowheads="1"/>
          </p:cNvSpPr>
          <p:nvPr/>
        </p:nvSpPr>
        <p:spPr bwMode="auto">
          <a:xfrm>
            <a:off x="679450" y="1444625"/>
            <a:ext cx="7797800" cy="310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在压气机工作过程中，有气体的流入和流出，所以压气机为开口系。除了启动、停机、加速等情况外，压气机通常在不变的工况下长时间地运行，此时气体可视为稳定</a:t>
            </a:r>
            <a:r>
              <a:rPr lang="zh-CN" altLang="en-US" sz="2800" b="1" dirty="0" smtClean="0">
                <a:latin typeface="黑体" panose="02010609060101010101" pitchFamily="49" charset="-122"/>
                <a:ea typeface="黑体" panose="02010609060101010101" pitchFamily="49" charset="-122"/>
              </a:rPr>
              <a:t>流动</a:t>
            </a:r>
            <a:endParaRPr lang="zh-CN" altLang="en-US" sz="2800" b="1" dirty="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对于活塞式压气机，尽管它的工作是周期性的，但由于其转速非常高，通常为每分钟几千转以上，也可将压气机内的气体视为稳定</a:t>
            </a:r>
            <a:r>
              <a:rPr lang="zh-CN" altLang="en-US" sz="2800" b="1" dirty="0" smtClean="0">
                <a:latin typeface="黑体" panose="02010609060101010101" pitchFamily="49" charset="-122"/>
                <a:ea typeface="黑体" panose="02010609060101010101" pitchFamily="49" charset="-122"/>
              </a:rPr>
              <a:t>流动</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矩形 114689"/>
          <p:cNvSpPr>
            <a:spLocks noChangeArrowheads="1"/>
          </p:cNvSpPr>
          <p:nvPr/>
        </p:nvSpPr>
        <p:spPr bwMode="auto">
          <a:xfrm>
            <a:off x="3816350" y="704781"/>
            <a:ext cx="51117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流体进、出口动能、重力势能相差不多，忽略动能、势能变化；</a:t>
            </a:r>
            <a:endParaRPr lang="zh-CN" altLang="en-US" sz="2800" b="1" dirty="0">
              <a:latin typeface="黑体" panose="02010609060101010101" pitchFamily="49" charset="-122"/>
              <a:ea typeface="黑体" panose="02010609060101010101" pitchFamily="49" charset="-122"/>
            </a:endParaRPr>
          </a:p>
        </p:txBody>
      </p:sp>
      <p:graphicFrame>
        <p:nvGraphicFramePr>
          <p:cNvPr id="58372" name="对象 114692"/>
          <p:cNvGraphicFramePr>
            <a:graphicFrameLocks noChangeAspect="1"/>
          </p:cNvGraphicFramePr>
          <p:nvPr/>
        </p:nvGraphicFramePr>
        <p:xfrm>
          <a:off x="960299" y="2963089"/>
          <a:ext cx="7207200" cy="1586700"/>
        </p:xfrm>
        <a:graphic>
          <a:graphicData uri="http://schemas.openxmlformats.org/presentationml/2006/ole">
            <mc:AlternateContent xmlns:mc="http://schemas.openxmlformats.org/markup-compatibility/2006">
              <mc:Choice xmlns:v="urn:schemas-microsoft-com:vml" Requires="v">
                <p:oleObj spid="_x0000_s4148" name="Equation" r:id="rId1" imgW="69189600" imgH="15240000" progId="Equation.DSMT4">
                  <p:embed/>
                </p:oleObj>
              </mc:Choice>
              <mc:Fallback>
                <p:oleObj name="Equation" r:id="rId1" imgW="69189600" imgH="15240000" progId="Equation.DSMT4">
                  <p:embed/>
                  <p:pic>
                    <p:nvPicPr>
                      <p:cNvPr id="0" name="对象 114692"/>
                      <p:cNvPicPr>
                        <a:picLocks noChangeArrowheads="1"/>
                      </p:cNvPicPr>
                      <p:nvPr/>
                    </p:nvPicPr>
                    <p:blipFill>
                      <a:blip r:embed="rId2"/>
                      <a:srcRect/>
                      <a:stretch>
                        <a:fillRect/>
                      </a:stretch>
                    </p:blipFill>
                    <p:spPr bwMode="auto">
                      <a:xfrm>
                        <a:off x="960299" y="2963089"/>
                        <a:ext cx="7207200" cy="158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3" name="矩形 114694"/>
          <p:cNvSpPr>
            <a:spLocks noChangeArrowheads="1"/>
          </p:cNvSpPr>
          <p:nvPr/>
        </p:nvSpPr>
        <p:spPr bwMode="auto">
          <a:xfrm>
            <a:off x="2209627" y="5945981"/>
            <a:ext cx="5113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solidFill>
                  <a:srgbClr val="FF0000"/>
                </a:solidFill>
                <a:latin typeface="黑体" panose="02010609060101010101" pitchFamily="49" charset="-122"/>
                <a:ea typeface="黑体" panose="02010609060101010101" pitchFamily="49" charset="-122"/>
              </a:rPr>
              <a:t>无论过程是否可逆都适用</a:t>
            </a:r>
            <a:endParaRPr lang="zh-CN" altLang="en-US" sz="3200" b="1" dirty="0">
              <a:solidFill>
                <a:srgbClr val="FF0000"/>
              </a:solidFill>
              <a:latin typeface="黑体" panose="02010609060101010101" pitchFamily="49" charset="-122"/>
              <a:ea typeface="黑体" panose="02010609060101010101" pitchFamily="49" charset="-122"/>
            </a:endParaRPr>
          </a:p>
        </p:txBody>
      </p:sp>
      <p:sp>
        <p:nvSpPr>
          <p:cNvPr id="8" name="矩形 114694"/>
          <p:cNvSpPr>
            <a:spLocks noChangeArrowheads="1"/>
          </p:cNvSpPr>
          <p:nvPr/>
        </p:nvSpPr>
        <p:spPr bwMode="auto">
          <a:xfrm>
            <a:off x="627132" y="4823861"/>
            <a:ext cx="827832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因为压气机消耗功（即外界对压气机内的气体作功），</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所以</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W</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&lt;0</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，即</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-W</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&gt;0</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521" y="239767"/>
            <a:ext cx="3511600" cy="2871465"/>
          </a:xfrm>
          <a:prstGeom prst="rect">
            <a:avLst/>
          </a:prstGeom>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矩形 116739"/>
          <p:cNvSpPr>
            <a:spLocks noChangeArrowheads="1"/>
          </p:cNvSpPr>
          <p:nvPr/>
        </p:nvSpPr>
        <p:spPr bwMode="auto">
          <a:xfrm>
            <a:off x="323850" y="188913"/>
            <a:ext cx="84280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再来看理想耗功量</a:t>
            </a:r>
            <a:endParaRPr lang="zh-CN" altLang="en-US" sz="3200" b="1" dirty="0">
              <a:latin typeface="黑体" panose="02010609060101010101" pitchFamily="49" charset="-122"/>
              <a:ea typeface="黑体" panose="02010609060101010101" pitchFamily="49" charset="-122"/>
            </a:endParaRPr>
          </a:p>
        </p:txBody>
      </p:sp>
      <p:sp>
        <p:nvSpPr>
          <p:cNvPr id="59394" name="矩形 116740"/>
          <p:cNvSpPr>
            <a:spLocks noChangeArrowheads="1"/>
          </p:cNvSpPr>
          <p:nvPr/>
        </p:nvSpPr>
        <p:spPr bwMode="auto">
          <a:xfrm>
            <a:off x="539750" y="908050"/>
            <a:ext cx="84280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smtClean="0">
                <a:latin typeface="黑体" panose="02010609060101010101" pitchFamily="49" charset="-122"/>
                <a:ea typeface="黑体" panose="02010609060101010101" pitchFamily="49" charset="-122"/>
              </a:rPr>
              <a:t>“</a:t>
            </a:r>
            <a:r>
              <a:rPr lang="zh-CN" altLang="en-US" sz="3200" b="1" dirty="0" smtClean="0">
                <a:solidFill>
                  <a:srgbClr val="FF0000"/>
                </a:solidFill>
                <a:latin typeface="黑体" panose="02010609060101010101" pitchFamily="49" charset="-122"/>
                <a:ea typeface="黑体" panose="02010609060101010101" pitchFamily="49" charset="-122"/>
              </a:rPr>
              <a:t>理想</a:t>
            </a:r>
            <a:r>
              <a:rPr lang="zh-CN" altLang="en-US" sz="3200" b="1" dirty="0" smtClean="0">
                <a:latin typeface="黑体" panose="02010609060101010101" pitchFamily="49" charset="-122"/>
                <a:ea typeface="黑体" panose="02010609060101010101" pitchFamily="49" charset="-122"/>
              </a:rPr>
              <a:t>”是</a:t>
            </a:r>
            <a:r>
              <a:rPr lang="zh-CN" altLang="en-US" sz="3200" b="1" dirty="0">
                <a:latin typeface="黑体" panose="02010609060101010101" pitchFamily="49" charset="-122"/>
                <a:ea typeface="黑体" panose="02010609060101010101" pitchFamily="49" charset="-122"/>
              </a:rPr>
              <a:t>指压气机中进行的</a:t>
            </a:r>
            <a:r>
              <a:rPr lang="zh-CN" altLang="en-US" sz="3200" b="1" dirty="0">
                <a:solidFill>
                  <a:srgbClr val="FF0000"/>
                </a:solidFill>
                <a:latin typeface="黑体" panose="02010609060101010101" pitchFamily="49" charset="-122"/>
                <a:ea typeface="黑体" panose="02010609060101010101" pitchFamily="49" charset="-122"/>
              </a:rPr>
              <a:t>过程可逆时</a:t>
            </a:r>
            <a:r>
              <a:rPr lang="zh-CN" altLang="en-US" sz="3200" b="1" dirty="0">
                <a:latin typeface="黑体" panose="02010609060101010101" pitchFamily="49" charset="-122"/>
                <a:ea typeface="黑体" panose="02010609060101010101" pitchFamily="49" charset="-122"/>
              </a:rPr>
              <a:t>，为使气体从初态变化到终态所消耗的外功 </a:t>
            </a:r>
            <a:endParaRPr lang="zh-CN" altLang="en-US" sz="3200" b="1" dirty="0">
              <a:latin typeface="黑体" panose="02010609060101010101" pitchFamily="49" charset="-122"/>
              <a:ea typeface="黑体" panose="02010609060101010101" pitchFamily="49" charset="-122"/>
            </a:endParaRPr>
          </a:p>
        </p:txBody>
      </p:sp>
      <p:graphicFrame>
        <p:nvGraphicFramePr>
          <p:cNvPr id="59395" name="对象 116741"/>
          <p:cNvGraphicFramePr>
            <a:graphicFrameLocks noChangeAspect="1"/>
          </p:cNvGraphicFramePr>
          <p:nvPr/>
        </p:nvGraphicFramePr>
        <p:xfrm>
          <a:off x="2894831" y="2075658"/>
          <a:ext cx="2635200" cy="571500"/>
        </p:xfrm>
        <a:graphic>
          <a:graphicData uri="http://schemas.openxmlformats.org/presentationml/2006/ole">
            <mc:AlternateContent xmlns:mc="http://schemas.openxmlformats.org/markup-compatibility/2006">
              <mc:Choice xmlns:v="urn:schemas-microsoft-com:vml" Requires="v">
                <p:oleObj spid="_x0000_s5392" name="Equation" r:id="rId1" imgW="25298400" imgH="5486400" progId="Equation.DSMT4">
                  <p:embed/>
                </p:oleObj>
              </mc:Choice>
              <mc:Fallback>
                <p:oleObj name="Equation" r:id="rId1" imgW="25298400" imgH="5486400" progId="Equation.DSMT4">
                  <p:embed/>
                  <p:pic>
                    <p:nvPicPr>
                      <p:cNvPr id="0" name="对象 116741"/>
                      <p:cNvPicPr>
                        <a:picLocks noChangeArrowheads="1"/>
                      </p:cNvPicPr>
                      <p:nvPr/>
                    </p:nvPicPr>
                    <p:blipFill>
                      <a:blip r:embed="rId2"/>
                      <a:srcRect/>
                      <a:stretch>
                        <a:fillRect/>
                      </a:stretch>
                    </p:blipFill>
                    <p:spPr bwMode="auto">
                      <a:xfrm>
                        <a:off x="2894831" y="2075658"/>
                        <a:ext cx="2635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396" name="矩形 116742"/>
          <p:cNvSpPr>
            <a:spLocks noChangeArrowheads="1"/>
          </p:cNvSpPr>
          <p:nvPr/>
        </p:nvSpPr>
        <p:spPr bwMode="auto">
          <a:xfrm>
            <a:off x="468313" y="2728594"/>
            <a:ext cx="84280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上式微分，得</a:t>
            </a:r>
            <a:endParaRPr lang="zh-CN" altLang="en-US" sz="3200" b="1" dirty="0">
              <a:latin typeface="黑体" panose="02010609060101010101" pitchFamily="49" charset="-122"/>
              <a:ea typeface="黑体" panose="02010609060101010101" pitchFamily="49" charset="-122"/>
            </a:endParaRPr>
          </a:p>
        </p:txBody>
      </p:sp>
      <p:sp>
        <p:nvSpPr>
          <p:cNvPr id="59397" name="矩形 116744"/>
          <p:cNvSpPr>
            <a:spLocks noChangeArrowheads="1"/>
          </p:cNvSpPr>
          <p:nvPr/>
        </p:nvSpPr>
        <p:spPr bwMode="auto">
          <a:xfrm>
            <a:off x="0" y="2774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398" name="对象 116743"/>
          <p:cNvGraphicFramePr>
            <a:graphicFrameLocks noChangeAspect="1"/>
          </p:cNvGraphicFramePr>
          <p:nvPr/>
        </p:nvGraphicFramePr>
        <p:xfrm>
          <a:off x="3276600" y="2815164"/>
          <a:ext cx="2348480" cy="507780"/>
        </p:xfrm>
        <a:graphic>
          <a:graphicData uri="http://schemas.openxmlformats.org/presentationml/2006/ole">
            <mc:AlternateContent xmlns:mc="http://schemas.openxmlformats.org/markup-compatibility/2006">
              <mc:Choice xmlns:v="urn:schemas-microsoft-com:vml" Requires="v">
                <p:oleObj spid="_x0000_s5393" name="Equation" r:id="rId3" imgW="939165" imgH="203200" progId="Equation.DSMT4">
                  <p:embed/>
                </p:oleObj>
              </mc:Choice>
              <mc:Fallback>
                <p:oleObj name="Equation" r:id="rId3" imgW="939165" imgH="203200" progId="Equation.DSMT4">
                  <p:embed/>
                  <p:pic>
                    <p:nvPicPr>
                      <p:cNvPr id="0" name="对象 1167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815164"/>
                        <a:ext cx="2348480" cy="50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399" name="矩形 116746"/>
          <p:cNvSpPr>
            <a:spLocks noChangeArrowheads="1"/>
          </p:cNvSpPr>
          <p:nvPr/>
        </p:nvSpPr>
        <p:spPr bwMode="auto">
          <a:xfrm>
            <a:off x="0" y="2760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400" name="矩形 116747"/>
          <p:cNvSpPr>
            <a:spLocks noChangeArrowheads="1"/>
          </p:cNvSpPr>
          <p:nvPr/>
        </p:nvSpPr>
        <p:spPr bwMode="auto">
          <a:xfrm>
            <a:off x="468313" y="3667125"/>
            <a:ext cx="84280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内可逆</a:t>
            </a:r>
            <a:endParaRPr lang="zh-CN" altLang="en-US" sz="3200" b="1" dirty="0">
              <a:latin typeface="黑体" panose="02010609060101010101" pitchFamily="49" charset="-122"/>
              <a:ea typeface="黑体" panose="02010609060101010101" pitchFamily="49" charset="-122"/>
            </a:endParaRPr>
          </a:p>
        </p:txBody>
      </p:sp>
      <p:sp>
        <p:nvSpPr>
          <p:cNvPr id="59401" name="矩形 116749"/>
          <p:cNvSpPr>
            <a:spLocks noChangeArrowheads="1"/>
          </p:cNvSpPr>
          <p:nvPr/>
        </p:nvSpPr>
        <p:spPr bwMode="auto">
          <a:xfrm>
            <a:off x="0" y="2760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402" name="对象 116748"/>
          <p:cNvGraphicFramePr/>
          <p:nvPr/>
        </p:nvGraphicFramePr>
        <p:xfrm>
          <a:off x="1382713" y="4524797"/>
          <a:ext cx="2541587" cy="476250"/>
        </p:xfrm>
        <a:graphic>
          <a:graphicData uri="http://schemas.openxmlformats.org/presentationml/2006/ole">
            <mc:AlternateContent xmlns:mc="http://schemas.openxmlformats.org/markup-compatibility/2006">
              <mc:Choice xmlns:v="urn:schemas-microsoft-com:vml" Requires="v">
                <p:oleObj spid="_x0000_s5394" name="" r:id="rId5" imgW="1219200" imgH="228600" progId="Equation.DSMT4">
                  <p:embed/>
                </p:oleObj>
              </mc:Choice>
              <mc:Fallback>
                <p:oleObj name="" r:id="rId5" imgW="1219200" imgH="228600" progId="Equation.DSMT4">
                  <p:embed/>
                  <p:pic>
                    <p:nvPicPr>
                      <p:cNvPr id="0" name="对象 1167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2713" y="4524797"/>
                        <a:ext cx="25415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3" name="直接连接符 116750"/>
          <p:cNvSpPr>
            <a:spLocks noChangeShapeType="1"/>
          </p:cNvSpPr>
          <p:nvPr/>
        </p:nvSpPr>
        <p:spPr bwMode="auto">
          <a:xfrm flipH="1" flipV="1">
            <a:off x="3132138" y="4956597"/>
            <a:ext cx="358775" cy="2889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04" name="矩形 116752"/>
          <p:cNvSpPr>
            <a:spLocks noChangeArrowheads="1"/>
          </p:cNvSpPr>
          <p:nvPr/>
        </p:nvSpPr>
        <p:spPr bwMode="auto">
          <a:xfrm>
            <a:off x="0" y="2774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405" name="对象 116751"/>
          <p:cNvGraphicFramePr/>
          <p:nvPr/>
        </p:nvGraphicFramePr>
        <p:xfrm>
          <a:off x="2268538" y="5316960"/>
          <a:ext cx="2160587" cy="404812"/>
        </p:xfrm>
        <a:graphic>
          <a:graphicData uri="http://schemas.openxmlformats.org/presentationml/2006/ole">
            <mc:AlternateContent xmlns:mc="http://schemas.openxmlformats.org/markup-compatibility/2006">
              <mc:Choice xmlns:v="urn:schemas-microsoft-com:vml" Requires="v">
                <p:oleObj spid="_x0000_s5395" name="" r:id="rId7" imgW="1066165" imgH="203200" progId="Equation.DSMT4">
                  <p:embed/>
                </p:oleObj>
              </mc:Choice>
              <mc:Fallback>
                <p:oleObj name="" r:id="rId7" imgW="1066165" imgH="203200" progId="Equation.DSMT4">
                  <p:embed/>
                  <p:pic>
                    <p:nvPicPr>
                      <p:cNvPr id="0" name="对象 11675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5316960"/>
                        <a:ext cx="2160587"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6" name="矩形 116754"/>
          <p:cNvSpPr>
            <a:spLocks noChangeArrowheads="1"/>
          </p:cNvSpPr>
          <p:nvPr/>
        </p:nvSpPr>
        <p:spPr bwMode="auto">
          <a:xfrm>
            <a:off x="0" y="2774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407" name="对象 116753"/>
          <p:cNvGraphicFramePr/>
          <p:nvPr/>
        </p:nvGraphicFramePr>
        <p:xfrm>
          <a:off x="2268538" y="5821785"/>
          <a:ext cx="2592387" cy="368300"/>
        </p:xfrm>
        <a:graphic>
          <a:graphicData uri="http://schemas.openxmlformats.org/presentationml/2006/ole">
            <mc:AlternateContent xmlns:mc="http://schemas.openxmlformats.org/markup-compatibility/2006">
              <mc:Choice xmlns:v="urn:schemas-microsoft-com:vml" Requires="v">
                <p:oleObj spid="_x0000_s5396" name="" r:id="rId9" imgW="1409065" imgH="203200" progId="Equation.DSMT4">
                  <p:embed/>
                </p:oleObj>
              </mc:Choice>
              <mc:Fallback>
                <p:oleObj name="" r:id="rId9" imgW="1409065" imgH="203200" progId="Equation.DSMT4">
                  <p:embed/>
                  <p:pic>
                    <p:nvPicPr>
                      <p:cNvPr id="0" name="对象 11675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8538" y="5821785"/>
                        <a:ext cx="2592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8" name="矩形 116755"/>
          <p:cNvSpPr>
            <a:spLocks noChangeArrowheads="1"/>
          </p:cNvSpPr>
          <p:nvPr/>
        </p:nvSpPr>
        <p:spPr bwMode="auto">
          <a:xfrm>
            <a:off x="2268538" y="5245522"/>
            <a:ext cx="2592387" cy="100806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9" name="直接连接符 116757"/>
          <p:cNvSpPr>
            <a:spLocks noChangeShapeType="1"/>
          </p:cNvSpPr>
          <p:nvPr/>
        </p:nvSpPr>
        <p:spPr bwMode="auto">
          <a:xfrm flipV="1">
            <a:off x="3490913" y="4956597"/>
            <a:ext cx="287337" cy="2889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0" name="右箭头 116758"/>
          <p:cNvSpPr>
            <a:spLocks noChangeArrowheads="1"/>
          </p:cNvSpPr>
          <p:nvPr/>
        </p:nvSpPr>
        <p:spPr bwMode="auto">
          <a:xfrm>
            <a:off x="757238" y="4669260"/>
            <a:ext cx="576262" cy="144462"/>
          </a:xfrm>
          <a:prstGeom prst="rightArrow">
            <a:avLst>
              <a:gd name="adj1" fmla="val 50000"/>
              <a:gd name="adj2" fmla="val 99652"/>
            </a:avLst>
          </a:prstGeom>
          <a:solidFill>
            <a:schemeClr val="accent1"/>
          </a:solidFill>
          <a:ln w="9525">
            <a:solidFill>
              <a:schemeClr val="tx1"/>
            </a:solidFill>
            <a:miter lim="800000"/>
          </a:ln>
        </p:spPr>
        <p:txBody>
          <a:bodyPr/>
          <a:lstStyle/>
          <a:p>
            <a:endParaRPr lang="zh-CN" altLang="en-US"/>
          </a:p>
        </p:txBody>
      </p:sp>
      <p:sp>
        <p:nvSpPr>
          <p:cNvPr id="59411" name="右箭头 116759"/>
          <p:cNvSpPr>
            <a:spLocks noChangeArrowheads="1"/>
          </p:cNvSpPr>
          <p:nvPr/>
        </p:nvSpPr>
        <p:spPr bwMode="auto">
          <a:xfrm>
            <a:off x="3924300" y="4669260"/>
            <a:ext cx="576263" cy="144462"/>
          </a:xfrm>
          <a:prstGeom prst="rightArrow">
            <a:avLst>
              <a:gd name="adj1" fmla="val 50000"/>
              <a:gd name="adj2" fmla="val 99652"/>
            </a:avLst>
          </a:prstGeom>
          <a:solidFill>
            <a:schemeClr val="accent1"/>
          </a:solidFill>
          <a:ln w="9525">
            <a:solidFill>
              <a:schemeClr val="tx1"/>
            </a:solidFill>
            <a:miter lim="800000"/>
          </a:ln>
        </p:spPr>
        <p:txBody>
          <a:bodyPr/>
          <a:lstStyle/>
          <a:p>
            <a:endParaRPr lang="zh-CN" altLang="en-US"/>
          </a:p>
        </p:txBody>
      </p:sp>
      <p:graphicFrame>
        <p:nvGraphicFramePr>
          <p:cNvPr id="59412" name="对象 116760"/>
          <p:cNvGraphicFramePr/>
          <p:nvPr/>
        </p:nvGraphicFramePr>
        <p:xfrm>
          <a:off x="4543425" y="4524797"/>
          <a:ext cx="1800225" cy="431800"/>
        </p:xfrm>
        <a:graphic>
          <a:graphicData uri="http://schemas.openxmlformats.org/presentationml/2006/ole">
            <mc:AlternateContent xmlns:mc="http://schemas.openxmlformats.org/markup-compatibility/2006">
              <mc:Choice xmlns:v="urn:schemas-microsoft-com:vml" Requires="v">
                <p:oleObj spid="_x0000_s5397" name="" r:id="rId11" imgW="952500" imgH="228600" progId="Equation.DSMT4">
                  <p:embed/>
                </p:oleObj>
              </mc:Choice>
              <mc:Fallback>
                <p:oleObj name="" r:id="rId11" imgW="952500" imgH="228600" progId="Equation.DSMT4">
                  <p:embed/>
                  <p:pic>
                    <p:nvPicPr>
                      <p:cNvPr id="0" name="对象 11676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43425" y="4524797"/>
                        <a:ext cx="1800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14" name="对象 116762"/>
          <p:cNvGraphicFramePr/>
          <p:nvPr/>
        </p:nvGraphicFramePr>
        <p:xfrm>
          <a:off x="7053263" y="4380335"/>
          <a:ext cx="1949450" cy="636587"/>
        </p:xfrm>
        <a:graphic>
          <a:graphicData uri="http://schemas.openxmlformats.org/presentationml/2006/ole">
            <mc:AlternateContent xmlns:mc="http://schemas.openxmlformats.org/markup-compatibility/2006">
              <mc:Choice xmlns:v="urn:schemas-microsoft-com:vml" Requires="v">
                <p:oleObj spid="_x0000_s5398" name="" r:id="rId13" imgW="1016000" imgH="330200" progId="Equation.DSMT4">
                  <p:embed/>
                </p:oleObj>
              </mc:Choice>
              <mc:Fallback>
                <p:oleObj name="" r:id="rId13" imgW="1016000" imgH="330200" progId="Equation.DSMT4">
                  <p:embed/>
                  <p:pic>
                    <p:nvPicPr>
                      <p:cNvPr id="0" name="对象 11676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53263" y="4380335"/>
                        <a:ext cx="194945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15" name="右箭头 116764"/>
          <p:cNvSpPr>
            <a:spLocks noChangeArrowheads="1"/>
          </p:cNvSpPr>
          <p:nvPr/>
        </p:nvSpPr>
        <p:spPr bwMode="auto">
          <a:xfrm>
            <a:off x="6373813" y="4669260"/>
            <a:ext cx="576262" cy="144462"/>
          </a:xfrm>
          <a:prstGeom prst="rightArrow">
            <a:avLst>
              <a:gd name="adj1" fmla="val 50000"/>
              <a:gd name="adj2" fmla="val 99652"/>
            </a:avLst>
          </a:prstGeom>
          <a:solidFill>
            <a:schemeClr val="accent1"/>
          </a:solidFill>
          <a:ln w="9525">
            <a:solidFill>
              <a:schemeClr val="tx1"/>
            </a:solidFill>
            <a:miter lim="800000"/>
          </a:ln>
        </p:spPr>
        <p:txBody>
          <a:bodyPr/>
          <a:lstStyle/>
          <a:p>
            <a:endParaRPr lang="zh-CN" altLang="en-US"/>
          </a:p>
        </p:txBody>
      </p:sp>
      <p:graphicFrame>
        <p:nvGraphicFramePr>
          <p:cNvPr id="59416" name="对象 116766"/>
          <p:cNvGraphicFramePr/>
          <p:nvPr/>
        </p:nvGraphicFramePr>
        <p:xfrm>
          <a:off x="215900" y="5119845"/>
          <a:ext cx="1493837" cy="399521"/>
        </p:xfrm>
        <a:graphic>
          <a:graphicData uri="http://schemas.openxmlformats.org/presentationml/2006/ole">
            <mc:AlternateContent xmlns:mc="http://schemas.openxmlformats.org/markup-compatibility/2006">
              <mc:Choice xmlns:v="urn:schemas-microsoft-com:vml" Requires="v">
                <p:oleObj spid="_x0000_s5399" name="" r:id="rId15" imgW="862965" imgH="228600" progId="Equation.DSMT4">
                  <p:embed/>
                </p:oleObj>
              </mc:Choice>
              <mc:Fallback>
                <p:oleObj name="" r:id="rId15" imgW="862965" imgH="228600" progId="Equation.DSMT4">
                  <p:embed/>
                  <p:pic>
                    <p:nvPicPr>
                      <p:cNvPr id="0" name="对象 116766"/>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5900" y="5119845"/>
                        <a:ext cx="1493837" cy="399521"/>
                      </a:xfrm>
                      <a:prstGeom prst="rect">
                        <a:avLst/>
                      </a:prstGeom>
                      <a:noFill/>
                      <a:ln w="25400">
                        <a:solidFill>
                          <a:schemeClr val="folHlink"/>
                        </a:solidFill>
                        <a:miter lim="800000"/>
                        <a:headEnd/>
                        <a:tailEnd/>
                      </a:ln>
                    </p:spPr>
                  </p:pic>
                </p:oleObj>
              </mc:Fallback>
            </mc:AlternateContent>
          </a:graphicData>
        </a:graphic>
      </p:graphicFrame>
      <p:graphicFrame>
        <p:nvGraphicFramePr>
          <p:cNvPr id="59418" name="对象 1"/>
          <p:cNvGraphicFramePr>
            <a:graphicFrameLocks noChangeAspect="1"/>
          </p:cNvGraphicFramePr>
          <p:nvPr/>
        </p:nvGraphicFramePr>
        <p:xfrm>
          <a:off x="2194050" y="3659609"/>
          <a:ext cx="3460500" cy="571500"/>
        </p:xfrm>
        <a:graphic>
          <a:graphicData uri="http://schemas.openxmlformats.org/presentationml/2006/ole">
            <mc:AlternateContent xmlns:mc="http://schemas.openxmlformats.org/markup-compatibility/2006">
              <mc:Choice xmlns:v="urn:schemas-microsoft-com:vml" Requires="v">
                <p:oleObj spid="_x0000_s5400" name="" r:id="rId17" imgW="1384300" imgH="228600" progId="Equation.DSMT4">
                  <p:embed/>
                </p:oleObj>
              </mc:Choice>
              <mc:Fallback>
                <p:oleObj name="" r:id="rId17" imgW="1384300" imgH="228600" progId="Equation.DSMT4">
                  <p:embed/>
                  <p:pic>
                    <p:nvPicPr>
                      <p:cNvPr id="0" name="对象 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94050" y="3659609"/>
                        <a:ext cx="3460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 name="直接连接符 116750"/>
          <p:cNvSpPr>
            <a:spLocks noChangeShapeType="1"/>
          </p:cNvSpPr>
          <p:nvPr/>
        </p:nvSpPr>
        <p:spPr bwMode="auto">
          <a:xfrm flipH="1" flipV="1">
            <a:off x="1002029" y="4813722"/>
            <a:ext cx="0" cy="2918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16762"/>
          <p:cNvGraphicFramePr>
            <a:graphicFrameLocks noChangeAspect="1"/>
          </p:cNvGraphicFramePr>
          <p:nvPr/>
        </p:nvGraphicFramePr>
        <p:xfrm>
          <a:off x="3137245" y="1047029"/>
          <a:ext cx="2539800" cy="825300"/>
        </p:xfrm>
        <a:graphic>
          <a:graphicData uri="http://schemas.openxmlformats.org/presentationml/2006/ole">
            <mc:AlternateContent xmlns:mc="http://schemas.openxmlformats.org/markup-compatibility/2006">
              <mc:Choice xmlns:v="urn:schemas-microsoft-com:vml" Requires="v">
                <p:oleObj spid="_x0000_s12350" name="" r:id="rId1" imgW="1016000" imgH="330200" progId="Equation.DSMT4">
                  <p:embed/>
                </p:oleObj>
              </mc:Choice>
              <mc:Fallback>
                <p:oleObj name="" r:id="rId1" imgW="1016000" imgH="330200" progId="Equation.DSMT4">
                  <p:embed/>
                  <p:pic>
                    <p:nvPicPr>
                      <p:cNvPr id="0" name="对象 11676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7245" y="1047029"/>
                        <a:ext cx="2539800" cy="82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116739"/>
          <p:cNvSpPr>
            <a:spLocks noChangeArrowheads="1"/>
          </p:cNvSpPr>
          <p:nvPr/>
        </p:nvSpPr>
        <p:spPr bwMode="auto">
          <a:xfrm>
            <a:off x="337102" y="314809"/>
            <a:ext cx="84280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smtClean="0">
                <a:latin typeface="黑体" panose="02010609060101010101" pitchFamily="49" charset="-122"/>
                <a:ea typeface="黑体" panose="02010609060101010101" pitchFamily="49" charset="-122"/>
              </a:rPr>
              <a:t>压气机的理想</a:t>
            </a:r>
            <a:r>
              <a:rPr lang="zh-CN" altLang="en-US" sz="3200" b="1" dirty="0">
                <a:latin typeface="黑体" panose="02010609060101010101" pitchFamily="49" charset="-122"/>
                <a:ea typeface="黑体" panose="02010609060101010101" pitchFamily="49" charset="-122"/>
              </a:rPr>
              <a:t>耗功量</a:t>
            </a:r>
            <a:endParaRPr lang="zh-CN" altLang="en-US" sz="3200" b="1" dirty="0">
              <a:latin typeface="黑体" panose="02010609060101010101" pitchFamily="49" charset="-122"/>
              <a:ea typeface="黑体" panose="02010609060101010101" pitchFamily="49" charset="-122"/>
            </a:endParaRPr>
          </a:p>
        </p:txBody>
      </p:sp>
      <p:sp>
        <p:nvSpPr>
          <p:cNvPr id="4" name="矩形 116739"/>
          <p:cNvSpPr>
            <a:spLocks noChangeArrowheads="1"/>
          </p:cNvSpPr>
          <p:nvPr/>
        </p:nvSpPr>
        <p:spPr bwMode="auto">
          <a:xfrm>
            <a:off x="423241" y="2240555"/>
            <a:ext cx="8428038"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图上，压气机理想</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耗功</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量的大小可以用压缩过程线向</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轴投影而形成的面积表示</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在各类压气机中，均是实现气体从低压到高压的状态变化，故</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，从而</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int</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rev</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&lt;0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，这说明气体的升压过程是通过消耗外功实现的</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在工程热力学中，通常用</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W</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C</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表示压气机的耗功量，故</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对象 116762"/>
          <p:cNvGraphicFramePr>
            <a:graphicFrameLocks noChangeAspect="1"/>
          </p:cNvGraphicFramePr>
          <p:nvPr/>
        </p:nvGraphicFramePr>
        <p:xfrm>
          <a:off x="760450" y="5304574"/>
          <a:ext cx="3397250" cy="825500"/>
        </p:xfrm>
        <a:graphic>
          <a:graphicData uri="http://schemas.openxmlformats.org/presentationml/2006/ole">
            <mc:AlternateContent xmlns:mc="http://schemas.openxmlformats.org/markup-compatibility/2006">
              <mc:Choice xmlns:v="urn:schemas-microsoft-com:vml" Requires="v">
                <p:oleObj spid="_x0000_s12351" name="Equation" r:id="rId3" imgW="32613600" imgH="7924800" progId="Equation.DSMT4">
                  <p:embed/>
                </p:oleObj>
              </mc:Choice>
              <mc:Fallback>
                <p:oleObj name="Equation" r:id="rId3" imgW="32613600" imgH="7924800" progId="Equation.DSMT4">
                  <p:embed/>
                  <p:pic>
                    <p:nvPicPr>
                      <p:cNvPr id="0" name="对象 116762"/>
                      <p:cNvPicPr>
                        <a:picLocks noChangeArrowheads="1"/>
                      </p:cNvPicPr>
                      <p:nvPr/>
                    </p:nvPicPr>
                    <p:blipFill>
                      <a:blip r:embed="rId4"/>
                      <a:srcRect/>
                      <a:stretch>
                        <a:fillRect/>
                      </a:stretch>
                    </p:blipFill>
                    <p:spPr bwMode="auto">
                      <a:xfrm>
                        <a:off x="760450" y="5304574"/>
                        <a:ext cx="33972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对象 116762"/>
          <p:cNvGraphicFramePr>
            <a:graphicFrameLocks noChangeAspect="1"/>
          </p:cNvGraphicFramePr>
          <p:nvPr/>
        </p:nvGraphicFramePr>
        <p:xfrm>
          <a:off x="4949066" y="5304574"/>
          <a:ext cx="3302000" cy="825500"/>
        </p:xfrm>
        <a:graphic>
          <a:graphicData uri="http://schemas.openxmlformats.org/presentationml/2006/ole">
            <mc:AlternateContent xmlns:mc="http://schemas.openxmlformats.org/markup-compatibility/2006">
              <mc:Choice xmlns:v="urn:schemas-microsoft-com:vml" Requires="v">
                <p:oleObj spid="_x0000_s12352" name="Equation" r:id="rId5" imgW="31699200" imgH="7924800" progId="Equation.DSMT4">
                  <p:embed/>
                </p:oleObj>
              </mc:Choice>
              <mc:Fallback>
                <p:oleObj name="Equation" r:id="rId5" imgW="31699200" imgH="7924800" progId="Equation.DSMT4">
                  <p:embed/>
                  <p:pic>
                    <p:nvPicPr>
                      <p:cNvPr id="0" name="对象 116762"/>
                      <p:cNvPicPr>
                        <a:picLocks noChangeArrowheads="1"/>
                      </p:cNvPicPr>
                      <p:nvPr/>
                    </p:nvPicPr>
                    <p:blipFill>
                      <a:blip r:embed="rId6"/>
                      <a:srcRect/>
                      <a:stretch>
                        <a:fillRect/>
                      </a:stretch>
                    </p:blipFill>
                    <p:spPr bwMode="auto">
                      <a:xfrm>
                        <a:off x="4949066" y="5304574"/>
                        <a:ext cx="33020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68610"/>
          <p:cNvSpPr txBox="1">
            <a:spLocks noChangeArrowheads="1"/>
          </p:cNvSpPr>
          <p:nvPr/>
        </p:nvSpPr>
        <p:spPr bwMode="auto">
          <a:xfrm>
            <a:off x="617538" y="1233488"/>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）可逆绝热压缩</a:t>
            </a:r>
            <a:endParaRPr lang="zh-CN" altLang="en-US" sz="2800" b="1" dirty="0">
              <a:latin typeface="黑体" panose="02010609060101010101" pitchFamily="49" charset="-122"/>
              <a:ea typeface="黑体" panose="02010609060101010101" pitchFamily="49" charset="-122"/>
            </a:endParaRPr>
          </a:p>
        </p:txBody>
      </p:sp>
      <p:sp>
        <p:nvSpPr>
          <p:cNvPr id="61442" name="矩形 68612"/>
          <p:cNvSpPr>
            <a:spLocks noChangeArrowheads="1"/>
          </p:cNvSpPr>
          <p:nvPr/>
        </p:nvSpPr>
        <p:spPr bwMode="auto">
          <a:xfrm>
            <a:off x="395288" y="188913"/>
            <a:ext cx="51700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buClr>
                <a:schemeClr val="hlink"/>
              </a:buClr>
              <a:buFont typeface="Wingdings" panose="05000000000000000000" pitchFamily="2" charset="2"/>
              <a:buChar char="Ø"/>
            </a:pPr>
            <a:r>
              <a:rPr lang="en-US" altLang="zh-CN" sz="3200" dirty="0">
                <a:latin typeface="Tahoma" panose="020B0604030504040204" pitchFamily="34" charset="0"/>
              </a:rPr>
              <a:t> </a:t>
            </a:r>
            <a:r>
              <a:rPr lang="zh-CN" altLang="en-US" sz="3200" b="1" dirty="0">
                <a:latin typeface="黑体" panose="02010609060101010101" pitchFamily="49" charset="-122"/>
                <a:ea typeface="黑体" panose="02010609060101010101" pitchFamily="49" charset="-122"/>
              </a:rPr>
              <a:t>三种压缩过程耗功量比较</a:t>
            </a:r>
            <a:endParaRPr lang="zh-CN" altLang="en-US" sz="3200" b="1" dirty="0">
              <a:latin typeface="黑体" panose="02010609060101010101" pitchFamily="49" charset="-122"/>
              <a:ea typeface="黑体" panose="02010609060101010101" pitchFamily="49" charset="-122"/>
            </a:endParaRPr>
          </a:p>
        </p:txBody>
      </p:sp>
      <p:sp>
        <p:nvSpPr>
          <p:cNvPr id="61443" name="文本框 68613"/>
          <p:cNvSpPr txBox="1">
            <a:spLocks noChangeArrowheads="1"/>
          </p:cNvSpPr>
          <p:nvPr/>
        </p:nvSpPr>
        <p:spPr bwMode="auto">
          <a:xfrm>
            <a:off x="617538" y="2946400"/>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）可逆多变压缩</a:t>
            </a:r>
            <a:endParaRPr lang="zh-CN" altLang="en-US" sz="2800" b="1" dirty="0">
              <a:latin typeface="黑体" panose="02010609060101010101" pitchFamily="49" charset="-122"/>
              <a:ea typeface="黑体" panose="02010609060101010101" pitchFamily="49" charset="-122"/>
            </a:endParaRPr>
          </a:p>
        </p:txBody>
      </p:sp>
      <p:sp>
        <p:nvSpPr>
          <p:cNvPr id="61444" name="文本框 68615"/>
          <p:cNvSpPr txBox="1">
            <a:spLocks noChangeArrowheads="1"/>
          </p:cNvSpPr>
          <p:nvPr/>
        </p:nvSpPr>
        <p:spPr bwMode="auto">
          <a:xfrm>
            <a:off x="617538" y="4751388"/>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）可逆定温压缩</a:t>
            </a:r>
            <a:endParaRPr lang="zh-CN" altLang="en-US" sz="2800" b="1" dirty="0">
              <a:latin typeface="黑体" panose="02010609060101010101" pitchFamily="49" charset="-122"/>
              <a:ea typeface="黑体" panose="02010609060101010101" pitchFamily="49" charset="-122"/>
            </a:endParaRPr>
          </a:p>
        </p:txBody>
      </p:sp>
      <p:pic>
        <p:nvPicPr>
          <p:cNvPr id="61445" name="图片 686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68988" y="188913"/>
            <a:ext cx="3240087"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446" name="内容占位符 68618"/>
          <p:cNvGraphicFramePr>
            <a:graphicFrameLocks noGrp="1"/>
          </p:cNvGraphicFramePr>
          <p:nvPr>
            <p:ph idx="4294967295"/>
          </p:nvPr>
        </p:nvGraphicFramePr>
        <p:xfrm>
          <a:off x="6877050" y="3068638"/>
          <a:ext cx="1023938" cy="915987"/>
        </p:xfrm>
        <a:graphic>
          <a:graphicData uri="http://schemas.openxmlformats.org/presentationml/2006/ole">
            <mc:AlternateContent xmlns:mc="http://schemas.openxmlformats.org/markup-compatibility/2006">
              <mc:Choice xmlns:v="urn:schemas-microsoft-com:vml" Requires="v">
                <p:oleObj spid="_x0000_s6332" name="" r:id="rId2" imgW="321945" imgH="287655" progId="Equation.DSMT4">
                  <p:embed/>
                </p:oleObj>
              </mc:Choice>
              <mc:Fallback>
                <p:oleObj name="" r:id="rId2" imgW="321945" imgH="287655" progId="Equation.DSMT4">
                  <p:embed/>
                  <p:pic>
                    <p:nvPicPr>
                      <p:cNvPr id="0" name="内容占位符 68618"/>
                      <p:cNvPicPr>
                        <a:picLocks noGrp="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050" y="3068638"/>
                        <a:ext cx="1023938" cy="915987"/>
                      </a:xfrm>
                      <a:prstGeom prst="rect">
                        <a:avLst/>
                      </a:prstGeom>
                      <a:ln w="25400">
                        <a:solidFill>
                          <a:schemeClr val="folHlink"/>
                        </a:solidFill>
                        <a:miter lim="800000"/>
                        <a:headEnd/>
                        <a:tailEnd/>
                      </a:ln>
                    </p:spPr>
                  </p:pic>
                </p:oleObj>
              </mc:Fallback>
            </mc:AlternateContent>
          </a:graphicData>
        </a:graphic>
      </p:graphicFrame>
      <p:sp>
        <p:nvSpPr>
          <p:cNvPr id="61447" name="直接连接符 68620"/>
          <p:cNvSpPr>
            <a:spLocks noChangeShapeType="1"/>
          </p:cNvSpPr>
          <p:nvPr/>
        </p:nvSpPr>
        <p:spPr bwMode="auto">
          <a:xfrm flipV="1">
            <a:off x="7308850" y="4005263"/>
            <a:ext cx="0" cy="57626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48" name="文本框 68621"/>
          <p:cNvSpPr txBox="1">
            <a:spLocks noChangeArrowheads="1"/>
          </p:cNvSpPr>
          <p:nvPr/>
        </p:nvSpPr>
        <p:spPr bwMode="auto">
          <a:xfrm>
            <a:off x="6732588" y="4652963"/>
            <a:ext cx="1582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dirty="0">
                <a:latin typeface="Tahoma" panose="020B0604030504040204" pitchFamily="34" charset="0"/>
              </a:rPr>
              <a:t>增压比</a:t>
            </a:r>
            <a:endParaRPr lang="zh-CN" altLang="en-US" sz="2800" dirty="0">
              <a:latin typeface="Tahoma" panose="020B0604030504040204" pitchFamily="34" charset="0"/>
            </a:endParaRPr>
          </a:p>
        </p:txBody>
      </p:sp>
      <p:sp>
        <p:nvSpPr>
          <p:cNvPr id="61449" name="矩形 68622"/>
          <p:cNvSpPr>
            <a:spLocks noChangeArrowheads="1"/>
          </p:cNvSpPr>
          <p:nvPr/>
        </p:nvSpPr>
        <p:spPr bwMode="auto">
          <a:xfrm>
            <a:off x="8243888" y="765175"/>
            <a:ext cx="720725"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1450" name="对象 68626"/>
          <p:cNvGraphicFramePr/>
          <p:nvPr/>
        </p:nvGraphicFramePr>
        <p:xfrm>
          <a:off x="8235950" y="857250"/>
          <a:ext cx="447675" cy="168275"/>
        </p:xfrm>
        <a:graphic>
          <a:graphicData uri="http://schemas.openxmlformats.org/presentationml/2006/ole">
            <mc:AlternateContent xmlns:mc="http://schemas.openxmlformats.org/markup-compatibility/2006">
              <mc:Choice xmlns:v="urn:schemas-microsoft-com:vml" Requires="v">
                <p:oleObj spid="_x0000_s6333" name="" r:id="rId4" imgW="368300" imgH="139700" progId="Equation.DSMT4">
                  <p:embed/>
                </p:oleObj>
              </mc:Choice>
              <mc:Fallback>
                <p:oleObj name="" r:id="rId4" imgW="368300" imgH="139700" progId="Equation.DSMT4">
                  <p:embed/>
                  <p:pic>
                    <p:nvPicPr>
                      <p:cNvPr id="0" name="对象 6862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5950" y="857250"/>
                        <a:ext cx="44767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1" name="对象 68633"/>
          <p:cNvGraphicFramePr/>
          <p:nvPr/>
        </p:nvGraphicFramePr>
        <p:xfrm>
          <a:off x="8235950" y="1019175"/>
          <a:ext cx="695325" cy="214313"/>
        </p:xfrm>
        <a:graphic>
          <a:graphicData uri="http://schemas.openxmlformats.org/presentationml/2006/ole">
            <mc:AlternateContent xmlns:mc="http://schemas.openxmlformats.org/markup-compatibility/2006">
              <mc:Choice xmlns:v="urn:schemas-microsoft-com:vml" Requires="v">
                <p:oleObj spid="_x0000_s6334" name="" r:id="rId6" imgW="571500" imgH="177165" progId="Equation.DSMT4">
                  <p:embed/>
                </p:oleObj>
              </mc:Choice>
              <mc:Fallback>
                <p:oleObj name="" r:id="rId6" imgW="571500" imgH="177165" progId="Equation.DSMT4">
                  <p:embed/>
                  <p:pic>
                    <p:nvPicPr>
                      <p:cNvPr id="0" name="对象 6863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35950" y="1019175"/>
                        <a:ext cx="6953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2" name="对象 5"/>
          <p:cNvGraphicFramePr>
            <a:graphicFrameLocks noChangeAspect="1"/>
          </p:cNvGraphicFramePr>
          <p:nvPr/>
        </p:nvGraphicFramePr>
        <p:xfrm>
          <a:off x="1885950" y="1838325"/>
          <a:ext cx="3619500" cy="1022350"/>
        </p:xfrm>
        <a:graphic>
          <a:graphicData uri="http://schemas.openxmlformats.org/presentationml/2006/ole">
            <mc:AlternateContent xmlns:mc="http://schemas.openxmlformats.org/markup-compatibility/2006">
              <mc:Choice xmlns:v="urn:schemas-microsoft-com:vml" Requires="v">
                <p:oleObj spid="_x0000_s6335" name="" r:id="rId8" imgW="1625600" imgH="482600" progId="Equation.DSMT4">
                  <p:embed/>
                </p:oleObj>
              </mc:Choice>
              <mc:Fallback>
                <p:oleObj name="" r:id="rId8" imgW="1625600" imgH="482600" progId="Equation.DSMT4">
                  <p:embed/>
                  <p:pic>
                    <p:nvPicPr>
                      <p:cNvPr id="0" name="对象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5950" y="1838325"/>
                        <a:ext cx="36195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3" name="对象 7"/>
          <p:cNvGraphicFramePr>
            <a:graphicFrameLocks noChangeAspect="1"/>
          </p:cNvGraphicFramePr>
          <p:nvPr/>
        </p:nvGraphicFramePr>
        <p:xfrm>
          <a:off x="1905000" y="3567113"/>
          <a:ext cx="3581400" cy="1014412"/>
        </p:xfrm>
        <a:graphic>
          <a:graphicData uri="http://schemas.openxmlformats.org/presentationml/2006/ole">
            <mc:AlternateContent xmlns:mc="http://schemas.openxmlformats.org/markup-compatibility/2006">
              <mc:Choice xmlns:v="urn:schemas-microsoft-com:vml" Requires="v">
                <p:oleObj spid="_x0000_s6336" name="" r:id="rId10" imgW="1625600" imgH="482600" progId="Equation.DSMT4">
                  <p:embed/>
                </p:oleObj>
              </mc:Choice>
              <mc:Fallback>
                <p:oleObj name="" r:id="rId10" imgW="1625600" imgH="482600" progId="Equation.DSMT4">
                  <p:embed/>
                  <p:pic>
                    <p:nvPicPr>
                      <p:cNvPr id="0"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05000" y="3567113"/>
                        <a:ext cx="358140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454" name="对象 1"/>
          <p:cNvGraphicFramePr>
            <a:graphicFrameLocks noChangeAspect="1"/>
          </p:cNvGraphicFramePr>
          <p:nvPr/>
        </p:nvGraphicFramePr>
        <p:xfrm>
          <a:off x="1727200" y="5610225"/>
          <a:ext cx="4292600" cy="514350"/>
        </p:xfrm>
        <a:graphic>
          <a:graphicData uri="http://schemas.openxmlformats.org/presentationml/2006/ole">
            <mc:AlternateContent xmlns:mc="http://schemas.openxmlformats.org/markup-compatibility/2006">
              <mc:Choice xmlns:v="urn:schemas-microsoft-com:vml" Requires="v">
                <p:oleObj spid="_x0000_s6337" name="" r:id="rId12" imgW="1739900" imgH="241300" progId="Equation.DSMT4">
                  <p:embed/>
                </p:oleObj>
              </mc:Choice>
              <mc:Fallback>
                <p:oleObj name="" r:id="rId12" imgW="1739900" imgH="241300" progId="Equation.DSMT4">
                  <p:embed/>
                  <p:pic>
                    <p:nvPicPr>
                      <p:cNvPr id="0" name="对象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27200" y="5610225"/>
                        <a:ext cx="42926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63199" y="202614"/>
            <a:ext cx="3115326" cy="2530059"/>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850" y="105069"/>
            <a:ext cx="2658086" cy="2627604"/>
          </a:xfrm>
          <a:prstGeom prst="rect">
            <a:avLst/>
          </a:prstGeom>
        </p:spPr>
      </p:pic>
      <p:sp>
        <p:nvSpPr>
          <p:cNvPr id="53256" name="矩形 53255"/>
          <p:cNvSpPr>
            <a:spLocks noChangeArrowheads="1"/>
          </p:cNvSpPr>
          <p:nvPr/>
        </p:nvSpPr>
        <p:spPr bwMode="auto">
          <a:xfrm>
            <a:off x="577850" y="3933825"/>
            <a:ext cx="838676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）绝热压缩耗功最多，定温压缩耗功最少；</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）绝热压缩后气体的温度升高较多，不利于机</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器</a:t>
            </a:r>
            <a:r>
              <a:rPr lang="zh-CN" altLang="en-US" sz="2800" b="1" dirty="0">
                <a:latin typeface="黑体" panose="02010609060101010101" pitchFamily="49" charset="-122"/>
                <a:ea typeface="黑体" panose="02010609060101010101" pitchFamily="49" charset="-122"/>
              </a:rPr>
              <a:t>的安全运行；</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）绝热压缩后气体比体积大，需较大的储气筒。</a:t>
            </a:r>
            <a:endParaRPr lang="zh-CN" altLang="en-US" sz="2800" b="1" dirty="0">
              <a:latin typeface="黑体" panose="02010609060101010101" pitchFamily="49" charset="-122"/>
              <a:ea typeface="黑体" panose="02010609060101010101" pitchFamily="49" charset="-122"/>
            </a:endParaRPr>
          </a:p>
        </p:txBody>
      </p:sp>
      <p:sp>
        <p:nvSpPr>
          <p:cNvPr id="53257" name="矩形 53256"/>
          <p:cNvSpPr>
            <a:spLocks noChangeArrowheads="1"/>
          </p:cNvSpPr>
          <p:nvPr/>
        </p:nvSpPr>
        <p:spPr bwMode="auto">
          <a:xfrm>
            <a:off x="893763" y="5795963"/>
            <a:ext cx="7327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800" b="1" dirty="0">
                <a:solidFill>
                  <a:srgbClr val="FF0000"/>
                </a:solidFill>
                <a:latin typeface="黑体" panose="02010609060101010101" pitchFamily="49" charset="-122"/>
                <a:ea typeface="黑体" panose="02010609060101010101" pitchFamily="49" charset="-122"/>
              </a:rPr>
              <a:t>定温压缩最好，是改进压气机工作的主要方向</a:t>
            </a:r>
            <a:endParaRPr lang="en-US" altLang="zh-CN" sz="2800" b="1" dirty="0">
              <a:solidFill>
                <a:srgbClr val="FF0000"/>
              </a:solidFill>
              <a:latin typeface="黑体" panose="02010609060101010101" pitchFamily="49" charset="-122"/>
              <a:ea typeface="黑体" panose="02010609060101010101" pitchFamily="49" charset="-122"/>
            </a:endParaRPr>
          </a:p>
        </p:txBody>
      </p:sp>
      <p:sp>
        <p:nvSpPr>
          <p:cNvPr id="62469" name="文本框 53258"/>
          <p:cNvSpPr txBox="1">
            <a:spLocks noChangeArrowheads="1"/>
          </p:cNvSpPr>
          <p:nvPr/>
        </p:nvSpPr>
        <p:spPr bwMode="auto">
          <a:xfrm>
            <a:off x="2957513" y="582268"/>
            <a:ext cx="2360612" cy="466725"/>
          </a:xfrm>
          <a:prstGeom prst="rect">
            <a:avLst/>
          </a:prstGeom>
          <a:noFill/>
          <a:ln w="9525">
            <a:solidFill>
              <a:schemeClr val="folHlink"/>
            </a:solidFill>
            <a:miter lim="800000"/>
          </a:ln>
          <a:extLst>
            <a:ext uri="{909E8E84-426E-40DD-AFC4-6F175D3DCCD1}">
              <a14:hiddenFill xmlns:a14="http://schemas.microsoft.com/office/drawing/2010/main">
                <a:solidFill>
                  <a:srgbClr val="FFFFFF"/>
                </a:solidFill>
              </a14:hiddenFill>
            </a:ext>
          </a:extLst>
        </p:spPr>
        <p:txBody>
          <a:bodyPr wrap="none">
            <a:spAutoFit/>
          </a:bodyPr>
          <a:lstStyle/>
          <a:p>
            <a:r>
              <a:rPr lang="en-US" altLang="zh-CN" sz="2400" i="1" dirty="0" err="1">
                <a:latin typeface="Times New Roman" panose="02020603050405020304" pitchFamily="18" charset="0"/>
              </a:rPr>
              <a:t>w</a:t>
            </a:r>
            <a:r>
              <a:rPr lang="en-US" altLang="zh-CN" sz="2400" baseline="-25000" dirty="0" err="1">
                <a:latin typeface="Times New Roman" panose="02020603050405020304" pitchFamily="18" charset="0"/>
              </a:rPr>
              <a:t>C</a:t>
            </a:r>
            <a:r>
              <a:rPr lang="zh-CN" altLang="en-US" sz="2400" dirty="0">
                <a:latin typeface="Times New Roman" panose="02020603050405020304" pitchFamily="18" charset="0"/>
              </a:rPr>
              <a:t>、</a:t>
            </a:r>
            <a:r>
              <a:rPr lang="en-US" altLang="zh-CN" sz="2400" i="1" dirty="0">
                <a:latin typeface="Times New Roman" panose="02020603050405020304" pitchFamily="18" charset="0"/>
              </a:rPr>
              <a:t>T</a:t>
            </a:r>
            <a:r>
              <a:rPr lang="zh-CN" altLang="en-US" sz="2400" dirty="0">
                <a:latin typeface="Times New Roman" panose="02020603050405020304" pitchFamily="18" charset="0"/>
              </a:rPr>
              <a:t>、</a:t>
            </a:r>
            <a:r>
              <a:rPr lang="en-US" altLang="zh-CN" sz="2400" i="1" dirty="0">
                <a:latin typeface="Times New Roman" panose="02020603050405020304" pitchFamily="18" charset="0"/>
              </a:rPr>
              <a:t>v</a:t>
            </a:r>
            <a:r>
              <a:rPr lang="zh-CN" altLang="en-US" sz="2400" dirty="0">
                <a:latin typeface="黑体" panose="02010609060101010101" pitchFamily="49" charset="-122"/>
                <a:ea typeface="黑体" panose="02010609060101010101" pitchFamily="49" charset="-122"/>
              </a:rPr>
              <a:t>的比较</a:t>
            </a:r>
            <a:endParaRPr lang="zh-CN" altLang="en-US" sz="2400" dirty="0">
              <a:latin typeface="黑体" panose="02010609060101010101" pitchFamily="49" charset="-122"/>
              <a:ea typeface="黑体" panose="02010609060101010101" pitchFamily="49" charset="-122"/>
            </a:endParaRPr>
          </a:p>
        </p:txBody>
      </p:sp>
      <p:graphicFrame>
        <p:nvGraphicFramePr>
          <p:cNvPr id="62470" name="对象 1"/>
          <p:cNvGraphicFramePr>
            <a:graphicFrameLocks noChangeAspect="1"/>
          </p:cNvGraphicFramePr>
          <p:nvPr/>
        </p:nvGraphicFramePr>
        <p:xfrm>
          <a:off x="1206500" y="2616200"/>
          <a:ext cx="2546350" cy="485775"/>
        </p:xfrm>
        <a:graphic>
          <a:graphicData uri="http://schemas.openxmlformats.org/presentationml/2006/ole">
            <mc:AlternateContent xmlns:mc="http://schemas.openxmlformats.org/markup-compatibility/2006">
              <mc:Choice xmlns:v="urn:schemas-microsoft-com:vml" Requires="v">
                <p:oleObj spid="_x0000_s7300" name="" r:id="rId3" imgW="1104900" imgH="241300" progId="Equation.DSMT4">
                  <p:embed/>
                </p:oleObj>
              </mc:Choice>
              <mc:Fallback>
                <p:oleObj name="" r:id="rId3" imgW="1104900" imgH="241300" progId="Equation.DSMT4">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6500" y="2616200"/>
                        <a:ext cx="25463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1" name="对象 3"/>
          <p:cNvGraphicFramePr>
            <a:graphicFrameLocks noChangeAspect="1"/>
          </p:cNvGraphicFramePr>
          <p:nvPr/>
        </p:nvGraphicFramePr>
        <p:xfrm>
          <a:off x="4294188" y="2641600"/>
          <a:ext cx="2047875" cy="501650"/>
        </p:xfrm>
        <a:graphic>
          <a:graphicData uri="http://schemas.openxmlformats.org/presentationml/2006/ole">
            <mc:AlternateContent xmlns:mc="http://schemas.openxmlformats.org/markup-compatibility/2006">
              <mc:Choice xmlns:v="urn:schemas-microsoft-com:vml" Requires="v">
                <p:oleObj spid="_x0000_s7301" name="" r:id="rId5" imgW="862965" imgH="241300" progId="Equation.DSMT4">
                  <p:embed/>
                </p:oleObj>
              </mc:Choice>
              <mc:Fallback>
                <p:oleObj name="" r:id="rId5" imgW="862965" imgH="241300" progId="Equation.DSMT4">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4188" y="2641600"/>
                        <a:ext cx="20478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2" name="对象 5"/>
          <p:cNvGraphicFramePr>
            <a:graphicFrameLocks noChangeAspect="1"/>
          </p:cNvGraphicFramePr>
          <p:nvPr/>
        </p:nvGraphicFramePr>
        <p:xfrm>
          <a:off x="1308100" y="3240088"/>
          <a:ext cx="2651125" cy="554037"/>
        </p:xfrm>
        <a:graphic>
          <a:graphicData uri="http://schemas.openxmlformats.org/presentationml/2006/ole">
            <mc:AlternateContent xmlns:mc="http://schemas.openxmlformats.org/markup-compatibility/2006">
              <mc:Choice xmlns:v="urn:schemas-microsoft-com:vml" Requires="v">
                <p:oleObj spid="_x0000_s7302" name="" r:id="rId7" imgW="2273935" imgH="541655" progId="Equation.DSMT4">
                  <p:embed/>
                </p:oleObj>
              </mc:Choice>
              <mc:Fallback>
                <p:oleObj name="" r:id="rId7" imgW="2273935" imgH="541655" progId="Equation.DSMT4">
                  <p:embed/>
                  <p:pic>
                    <p:nvPicPr>
                      <p:cNvPr id="0"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8100" y="3240088"/>
                        <a:ext cx="26511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6"/>
                                        </p:tgtEl>
                                        <p:attrNameLst>
                                          <p:attrName>style.visibility</p:attrName>
                                        </p:attrNameLst>
                                      </p:cBhvr>
                                      <p:to>
                                        <p:strVal val="visible"/>
                                      </p:to>
                                    </p:set>
                                    <p:animEffect transition="in" filter="blinds(horizontal)">
                                      <p:cBhvr>
                                        <p:cTn id="7" dur="500"/>
                                        <p:tgtEl>
                                          <p:spTgt spid="532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257"/>
                                        </p:tgtEl>
                                        <p:attrNameLst>
                                          <p:attrName>style.visibility</p:attrName>
                                        </p:attrNameLst>
                                      </p:cBhvr>
                                      <p:to>
                                        <p:strVal val="visible"/>
                                      </p:to>
                                    </p:set>
                                    <p:animEffect transition="in" filter="blinds(horizontal)">
                                      <p:cBhvr>
                                        <p:cTn id="12" dur="500"/>
                                        <p:tgtEl>
                                          <p:spTgt spid="53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p:bldP spid="5325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矩形 111620"/>
          <p:cNvSpPr>
            <a:spLocks noChangeArrowheads="1"/>
          </p:cNvSpPr>
          <p:nvPr/>
        </p:nvSpPr>
        <p:spPr bwMode="auto">
          <a:xfrm>
            <a:off x="0" y="2371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1" name="文本占位符 111622"/>
          <p:cNvSpPr>
            <a:spLocks noGrp="1" noChangeArrowheads="1"/>
          </p:cNvSpPr>
          <p:nvPr>
            <p:ph idx="1"/>
          </p:nvPr>
        </p:nvSpPr>
        <p:spPr>
          <a:xfrm>
            <a:off x="395288" y="4292600"/>
            <a:ext cx="8424862" cy="2016125"/>
          </a:xfrm>
        </p:spPr>
        <p:txBody>
          <a:bodyPr>
            <a:normAutofit/>
          </a:bodyPr>
          <a:lstStyle/>
          <a:p>
            <a:pPr>
              <a:lnSpc>
                <a:spcPct val="9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在压气机的气缸壁上安装散热肋片或气缸带有水冷夹套，可达到较好的冷却效果</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但一般也只能将多变指数降为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1.2~1.3</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，仍不能使气体的压缩过程成为定温过程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65669" y="418621"/>
            <a:ext cx="2591025" cy="3383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框 72707"/>
          <p:cNvSpPr txBox="1">
            <a:spLocks noChangeArrowheads="1"/>
          </p:cNvSpPr>
          <p:nvPr/>
        </p:nvSpPr>
        <p:spPr bwMode="auto">
          <a:xfrm>
            <a:off x="3851275" y="1052513"/>
            <a:ext cx="4679950"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楷体_GB2312" pitchFamily="49" charset="-122"/>
              </a:rPr>
              <a:t>自行车轮胎压力通常应维持在</a:t>
            </a:r>
            <a:r>
              <a:rPr lang="en-US" altLang="zh-CN" sz="2800" b="1" dirty="0">
                <a:latin typeface="Times New Roman" panose="02020603050405020304" pitchFamily="18" charset="0"/>
                <a:ea typeface="楷体_GB2312" pitchFamily="49" charset="-122"/>
              </a:rPr>
              <a:t>0.25 MPa</a:t>
            </a:r>
            <a:r>
              <a:rPr lang="zh-CN" altLang="en-US" sz="2800" b="1" dirty="0">
                <a:latin typeface="Times New Roman" panose="02020603050405020304" pitchFamily="18" charset="0"/>
                <a:ea typeface="楷体_GB2312" pitchFamily="49" charset="-122"/>
              </a:rPr>
              <a:t>左右，用手动打气筒向轮胎充气时用湿毛巾包在打气筒外壁，会更累还是更轻松？</a:t>
            </a:r>
            <a:endParaRPr lang="zh-CN" altLang="en-US" sz="2800" b="1" dirty="0">
              <a:latin typeface="Times New Roman" panose="02020603050405020304" pitchFamily="18" charset="0"/>
              <a:ea typeface="楷体_GB2312" pitchFamily="49" charset="-122"/>
            </a:endParaRPr>
          </a:p>
        </p:txBody>
      </p:sp>
      <p:pic>
        <p:nvPicPr>
          <p:cNvPr id="64514" name="图片 72709" descr=" 点击图片或使用键盘← →翻页"/>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620713"/>
            <a:ext cx="3184525" cy="523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77825"/>
          <p:cNvSpPr>
            <a:spLocks noGrp="1" noChangeArrowheads="1"/>
          </p:cNvSpPr>
          <p:nvPr>
            <p:ph type="ctrTitle"/>
          </p:nvPr>
        </p:nvSpPr>
        <p:spPr>
          <a:xfrm>
            <a:off x="685800" y="1522413"/>
            <a:ext cx="7772400" cy="1470025"/>
          </a:xfrm>
        </p:spPr>
        <p:txBody>
          <a:bodyPr anchor="ctr"/>
          <a:lstStyle/>
          <a:p>
            <a:r>
              <a:rPr lang="en-US" altLang="zh-CN" sz="4400" b="1" dirty="0" smtClean="0">
                <a:latin typeface="黑体" panose="02010609060101010101" pitchFamily="49" charset="-122"/>
                <a:ea typeface="黑体" panose="02010609060101010101" pitchFamily="49" charset="-122"/>
              </a:rPr>
              <a:t>11</a:t>
            </a:r>
            <a:r>
              <a:rPr lang="zh-CN" altLang="en-US" sz="4400" b="1" dirty="0" smtClean="0">
                <a:latin typeface="黑体" panose="02010609060101010101" pitchFamily="49" charset="-122"/>
                <a:ea typeface="黑体" panose="02010609060101010101" pitchFamily="49" charset="-122"/>
              </a:rPr>
              <a:t>－</a:t>
            </a:r>
            <a:r>
              <a:rPr lang="en-US" altLang="zh-CN" sz="4400" b="1" dirty="0" smtClean="0">
                <a:latin typeface="黑体" panose="02010609060101010101" pitchFamily="49" charset="-122"/>
                <a:ea typeface="黑体" panose="02010609060101010101" pitchFamily="49" charset="-122"/>
              </a:rPr>
              <a:t>4</a:t>
            </a:r>
            <a:r>
              <a:rPr lang="zh-CN" altLang="en-US" sz="4400" b="1" dirty="0" smtClean="0">
                <a:latin typeface="黑体" panose="02010609060101010101" pitchFamily="49" charset="-122"/>
                <a:ea typeface="黑体" panose="02010609060101010101" pitchFamily="49" charset="-122"/>
              </a:rPr>
              <a:t>　单级活塞式压气机余隙容积的影响</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内容占位符 2"/>
          <p:cNvSpPr>
            <a:spLocks noGrp="1" noChangeArrowheads="1"/>
          </p:cNvSpPr>
          <p:nvPr>
            <p:ph idx="1"/>
          </p:nvPr>
        </p:nvSpPr>
        <p:spPr>
          <a:xfrm>
            <a:off x="457200" y="822325"/>
            <a:ext cx="8229600" cy="4525963"/>
          </a:xfrm>
        </p:spPr>
        <p:txBody>
          <a:bodyPr>
            <a:normAutofit/>
          </a:bodyPr>
          <a:lstStyle/>
          <a:p>
            <a:r>
              <a:rPr lang="zh-CN" altLang="en-US" sz="2800" b="1" dirty="0" smtClean="0">
                <a:latin typeface="黑体" panose="02010609060101010101" pitchFamily="49" charset="-122"/>
                <a:ea typeface="黑体" panose="02010609060101010101" pitchFamily="49" charset="-122"/>
              </a:rPr>
              <a:t>实际的活塞式压气机中，因为制造公差、金属材料的热膨胀以及安装进、排气阀等零件的需要，当活塞到达左止点时，活塞与气缸盖之间保持有一定的空隙，该空隙的容积称为</a:t>
            </a:r>
            <a:r>
              <a:rPr lang="zh-CN" altLang="en-US" sz="2800" b="1" dirty="0" smtClean="0">
                <a:solidFill>
                  <a:srgbClr val="FF0000"/>
                </a:solidFill>
                <a:latin typeface="黑体" panose="02010609060101010101" pitchFamily="49" charset="-122"/>
                <a:ea typeface="黑体" panose="02010609060101010101" pitchFamily="49" charset="-122"/>
              </a:rPr>
              <a:t>余隙容积</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前面的分析均没有考虑活塞式压气机的余隙容积。但在实际压气机中，余隙容积总是存在的，它对压气机的容积效率、生产量和耗功量又有什么影响呢？</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p:nvPr>
        </p:nvSpPr>
        <p:spPr>
          <a:xfrm>
            <a:off x="260350" y="133350"/>
            <a:ext cx="8229600" cy="1143000"/>
          </a:xfrm>
        </p:spPr>
        <p:txBody>
          <a:bodyPr/>
          <a:lstStyle/>
          <a:p>
            <a:pPr algn="l"/>
            <a:r>
              <a:rPr lang="zh-CN" altLang="en-US" sz="3200" b="1" dirty="0" smtClean="0">
                <a:latin typeface="黑体" panose="02010609060101010101" pitchFamily="49" charset="-122"/>
                <a:ea typeface="黑体" panose="02010609060101010101" pitchFamily="49" charset="-122"/>
              </a:rPr>
              <a:t>一、余隙容积对容积效率的影响</a:t>
            </a:r>
            <a:endParaRPr lang="zh-CN" altLang="en-US" sz="3200" b="1" dirty="0" smtClean="0">
              <a:latin typeface="黑体" panose="02010609060101010101" pitchFamily="49" charset="-122"/>
              <a:ea typeface="黑体" panose="02010609060101010101" pitchFamily="49" charset="-122"/>
            </a:endParaRPr>
          </a:p>
        </p:txBody>
      </p:sp>
      <p:sp>
        <p:nvSpPr>
          <p:cNvPr id="79875" name="文本框 8"/>
          <p:cNvSpPr txBox="1">
            <a:spLocks noChangeArrowheads="1"/>
          </p:cNvSpPr>
          <p:nvPr/>
        </p:nvSpPr>
        <p:spPr bwMode="auto">
          <a:xfrm>
            <a:off x="4005263" y="1276350"/>
            <a:ext cx="46212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气缸吸气的有效进气容积与气缸的排量之比称为</a:t>
            </a:r>
            <a:r>
              <a:rPr lang="zh-CN" altLang="en-US" sz="2400" b="1" dirty="0">
                <a:solidFill>
                  <a:srgbClr val="FF0000"/>
                </a:solidFill>
                <a:latin typeface="黑体" panose="02010609060101010101" pitchFamily="49" charset="-122"/>
                <a:ea typeface="黑体" panose="02010609060101010101" pitchFamily="49" charset="-122"/>
              </a:rPr>
              <a:t>容积效率</a:t>
            </a:r>
            <a:endParaRPr lang="zh-CN" altLang="en-US" sz="2400" b="1" dirty="0">
              <a:solidFill>
                <a:srgbClr val="FF0000"/>
              </a:solidFill>
              <a:latin typeface="黑体" panose="02010609060101010101" pitchFamily="49" charset="-122"/>
              <a:ea typeface="黑体" panose="02010609060101010101" pitchFamily="49" charset="-122"/>
            </a:endParaRPr>
          </a:p>
        </p:txBody>
      </p:sp>
      <p:graphicFrame>
        <p:nvGraphicFramePr>
          <p:cNvPr id="79876" name="对象 9"/>
          <p:cNvGraphicFramePr>
            <a:graphicFrameLocks noChangeAspect="1"/>
          </p:cNvGraphicFramePr>
          <p:nvPr/>
        </p:nvGraphicFramePr>
        <p:xfrm>
          <a:off x="5409629" y="2363977"/>
          <a:ext cx="2220912" cy="850900"/>
        </p:xfrm>
        <a:graphic>
          <a:graphicData uri="http://schemas.openxmlformats.org/presentationml/2006/ole">
            <mc:AlternateContent xmlns:mc="http://schemas.openxmlformats.org/markup-compatibility/2006">
              <mc:Choice xmlns:v="urn:schemas-microsoft-com:vml" Requires="v">
                <p:oleObj spid="_x0000_s26635" name="" r:id="rId1" imgW="1079500" imgH="431800" progId="Equation.DSMT4">
                  <p:embed/>
                </p:oleObj>
              </mc:Choice>
              <mc:Fallback>
                <p:oleObj name="" r:id="rId1" imgW="1079500" imgH="431800" progId="Equation.DSMT4">
                  <p:embed/>
                  <p:pic>
                    <p:nvPicPr>
                      <p:cNvPr id="0" name="对象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629" y="2363977"/>
                        <a:ext cx="2220912" cy="850900"/>
                      </a:xfrm>
                      <a:prstGeom prst="rect">
                        <a:avLst/>
                      </a:prstGeom>
                      <a:noFill/>
                      <a:ln>
                        <a:solidFill>
                          <a:schemeClr val="accent1"/>
                        </a:solidFill>
                      </a:ln>
                    </p:spPr>
                  </p:pic>
                </p:oleObj>
              </mc:Fallback>
            </mc:AlternateContent>
          </a:graphicData>
        </a:graphic>
      </p:graphicFrame>
      <p:sp>
        <p:nvSpPr>
          <p:cNvPr id="79877" name="文本框 11"/>
          <p:cNvSpPr txBox="1">
            <a:spLocks noChangeArrowheads="1"/>
          </p:cNvSpPr>
          <p:nvPr/>
        </p:nvSpPr>
        <p:spPr bwMode="auto">
          <a:xfrm>
            <a:off x="4516438" y="4852988"/>
            <a:ext cx="2540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黑体" panose="02010609060101010101" pitchFamily="49" charset="-122"/>
                <a:ea typeface="黑体" panose="02010609060101010101" pitchFamily="49" charset="-122"/>
              </a:rPr>
              <a:t>余隙容积百分比</a:t>
            </a:r>
            <a:endParaRPr lang="zh-CN" altLang="en-US" sz="2400" b="1" dirty="0">
              <a:latin typeface="黑体" panose="02010609060101010101" pitchFamily="49" charset="-122"/>
              <a:ea typeface="黑体" panose="02010609060101010101" pitchFamily="49" charset="-122"/>
            </a:endParaRPr>
          </a:p>
        </p:txBody>
      </p:sp>
      <p:graphicFrame>
        <p:nvGraphicFramePr>
          <p:cNvPr id="79878" name="对象 12"/>
          <p:cNvGraphicFramePr>
            <a:graphicFrameLocks noChangeAspect="1"/>
          </p:cNvGraphicFramePr>
          <p:nvPr/>
        </p:nvGraphicFramePr>
        <p:xfrm>
          <a:off x="5364162" y="5570727"/>
          <a:ext cx="2176463" cy="877887"/>
        </p:xfrm>
        <a:graphic>
          <a:graphicData uri="http://schemas.openxmlformats.org/presentationml/2006/ole">
            <mc:AlternateContent xmlns:mc="http://schemas.openxmlformats.org/markup-compatibility/2006">
              <mc:Choice xmlns:v="urn:schemas-microsoft-com:vml" Requires="v">
                <p:oleObj spid="_x0000_s26636" name="" r:id="rId3" imgW="1028700" imgH="431800" progId="Equation.DSMT4">
                  <p:embed/>
                </p:oleObj>
              </mc:Choice>
              <mc:Fallback>
                <p:oleObj name="" r:id="rId3" imgW="1028700" imgH="431800" progId="Equation.DSMT4">
                  <p:embed/>
                  <p:pic>
                    <p:nvPicPr>
                      <p:cNvPr id="0" name="对象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2" y="5570727"/>
                        <a:ext cx="2176463" cy="877887"/>
                      </a:xfrm>
                      <a:prstGeom prst="rect">
                        <a:avLst/>
                      </a:prstGeom>
                      <a:noFill/>
                      <a:ln>
                        <a:solidFill>
                          <a:schemeClr val="accent1"/>
                        </a:solidFill>
                      </a:ln>
                    </p:spPr>
                  </p:pic>
                </p:oleObj>
              </mc:Fallback>
            </mc:AlternateContent>
          </a:graphicData>
        </a:graphic>
      </p:graphicFrame>
      <p:graphicFrame>
        <p:nvGraphicFramePr>
          <p:cNvPr id="79879" name="对象 14"/>
          <p:cNvGraphicFramePr>
            <a:graphicFrameLocks noChangeAspect="1"/>
          </p:cNvGraphicFramePr>
          <p:nvPr/>
        </p:nvGraphicFramePr>
        <p:xfrm>
          <a:off x="4375150" y="3499644"/>
          <a:ext cx="4624387" cy="1289050"/>
        </p:xfrm>
        <a:graphic>
          <a:graphicData uri="http://schemas.openxmlformats.org/presentationml/2006/ole">
            <mc:AlternateContent xmlns:mc="http://schemas.openxmlformats.org/markup-compatibility/2006">
              <mc:Choice xmlns:v="urn:schemas-microsoft-com:vml" Requires="v">
                <p:oleObj spid="_x0000_s26637" name="" r:id="rId5" imgW="4624705" imgH="1289685" progId="Equation.DSMT4">
                  <p:embed/>
                </p:oleObj>
              </mc:Choice>
              <mc:Fallback>
                <p:oleObj name="" r:id="rId5" imgW="4624705" imgH="1289685" progId="Equation.DSMT4">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5150" y="3499644"/>
                        <a:ext cx="4624387" cy="1289050"/>
                      </a:xfrm>
                      <a:prstGeom prst="rect">
                        <a:avLst/>
                      </a:prstGeom>
                      <a:noFill/>
                      <a:ln>
                        <a:solidFill>
                          <a:schemeClr val="accent1"/>
                        </a:solidFill>
                      </a:ln>
                    </p:spPr>
                  </p:pic>
                </p:oleObj>
              </mc:Fallback>
            </mc:AlternateContent>
          </a:graphicData>
        </a:graphic>
      </p:graphicFrame>
      <p:sp>
        <p:nvSpPr>
          <p:cNvPr id="17" name="上箭头 16"/>
          <p:cNvSpPr/>
          <p:nvPr/>
        </p:nvSpPr>
        <p:spPr>
          <a:xfrm>
            <a:off x="5292725" y="4365625"/>
            <a:ext cx="142875" cy="3587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350" y="971728"/>
            <a:ext cx="4176122" cy="5273497"/>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7" name="对象 14"/>
          <p:cNvGraphicFramePr>
            <a:graphicFrameLocks noChangeAspect="1"/>
          </p:cNvGraphicFramePr>
          <p:nvPr/>
        </p:nvGraphicFramePr>
        <p:xfrm>
          <a:off x="1570038" y="531813"/>
          <a:ext cx="5856287" cy="1633537"/>
        </p:xfrm>
        <a:graphic>
          <a:graphicData uri="http://schemas.openxmlformats.org/presentationml/2006/ole">
            <mc:AlternateContent xmlns:mc="http://schemas.openxmlformats.org/markup-compatibility/2006">
              <mc:Choice xmlns:v="urn:schemas-microsoft-com:vml" Requires="v">
                <p:oleObj spid="_x0000_s27653" name="" r:id="rId1" imgW="4624705" imgH="1289685" progId="Equation.DSMT4">
                  <p:embed/>
                </p:oleObj>
              </mc:Choice>
              <mc:Fallback>
                <p:oleObj name="" r:id="rId1" imgW="4624705" imgH="1289685" progId="Equation.DSMT4">
                  <p:embed/>
                  <p:pic>
                    <p:nvPicPr>
                      <p:cNvPr id="0" name="对象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038" y="531813"/>
                        <a:ext cx="5856287" cy="163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898" name="文本框 3"/>
          <p:cNvSpPr txBox="1">
            <a:spLocks noChangeArrowheads="1"/>
          </p:cNvSpPr>
          <p:nvPr/>
        </p:nvSpPr>
        <p:spPr bwMode="auto">
          <a:xfrm>
            <a:off x="628650" y="2586038"/>
            <a:ext cx="78867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latin typeface="黑体" panose="02010609060101010101" pitchFamily="49" charset="-122"/>
                <a:ea typeface="黑体" panose="02010609060101010101" pitchFamily="49" charset="-122"/>
              </a:rPr>
              <a:t>1. </a:t>
            </a:r>
            <a:r>
              <a:rPr lang="zh-CN" altLang="en-US" sz="2800" b="1" dirty="0">
                <a:latin typeface="黑体" panose="02010609060101010101" pitchFamily="49" charset="-122"/>
                <a:ea typeface="黑体" panose="02010609060101010101" pitchFamily="49" charset="-122"/>
              </a:rPr>
              <a:t>当余隙容积百分比和多变指数一定时，增压比越大，容积效率越低，当增压比增加到某一值时，容积效率为0；</a:t>
            </a:r>
            <a:endParaRPr lang="zh-CN" altLang="en-US" sz="2800" b="1" dirty="0">
              <a:latin typeface="黑体" panose="02010609060101010101" pitchFamily="49" charset="-122"/>
              <a:ea typeface="黑体" panose="02010609060101010101" pitchFamily="49" charset="-122"/>
            </a:endParaRPr>
          </a:p>
          <a:p>
            <a:endParaRPr lang="zh-CN" altLang="en-US" sz="2800" b="1" dirty="0">
              <a:latin typeface="黑体" panose="02010609060101010101" pitchFamily="49" charset="-122"/>
              <a:ea typeface="黑体" panose="02010609060101010101" pitchFamily="49" charset="-122"/>
            </a:endParaRPr>
          </a:p>
          <a:p>
            <a:r>
              <a:rPr lang="en-US" altLang="zh-CN" sz="2800" b="1" dirty="0">
                <a:latin typeface="黑体" panose="02010609060101010101" pitchFamily="49" charset="-122"/>
                <a:ea typeface="黑体" panose="02010609060101010101" pitchFamily="49" charset="-122"/>
              </a:rPr>
              <a:t>2. </a:t>
            </a:r>
            <a:r>
              <a:rPr lang="zh-CN" altLang="en-US" sz="2800" b="1" dirty="0">
                <a:latin typeface="黑体" panose="02010609060101010101" pitchFamily="49" charset="-122"/>
                <a:ea typeface="黑体" panose="02010609060101010101" pitchFamily="49" charset="-122"/>
              </a:rPr>
              <a:t>当增压比一定时，余隙容积百分比越大，容积效率越低。</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p:nvPr>
        </p:nvSpPr>
        <p:spPr/>
        <p:txBody>
          <a:bodyPr/>
          <a:lstStyle/>
          <a:p>
            <a:pPr algn="l"/>
            <a:r>
              <a:rPr lang="zh-CN" altLang="en-US" sz="3200" b="1" dirty="0" smtClean="0">
                <a:latin typeface="黑体" panose="02010609060101010101" pitchFamily="49" charset="-122"/>
                <a:ea typeface="黑体" panose="02010609060101010101" pitchFamily="49" charset="-122"/>
              </a:rPr>
              <a:t>二、余隙容积对生产量的影响</a:t>
            </a:r>
            <a:endParaRPr lang="zh-CN" altLang="en-US" sz="3200" dirty="0" smtClean="0">
              <a:latin typeface="黑体" panose="02010609060101010101" pitchFamily="49" charset="-122"/>
              <a:ea typeface="黑体" panose="02010609060101010101" pitchFamily="49" charset="-122"/>
            </a:endParaRPr>
          </a:p>
        </p:txBody>
      </p:sp>
      <p:sp>
        <p:nvSpPr>
          <p:cNvPr id="82946" name="内容占位符 2"/>
          <p:cNvSpPr>
            <a:spLocks noGrp="1" noChangeArrowheads="1"/>
          </p:cNvSpPr>
          <p:nvPr>
            <p:ph idx="1"/>
          </p:nvPr>
        </p:nvSpPr>
        <p:spPr>
          <a:xfrm>
            <a:off x="457200" y="4373421"/>
            <a:ext cx="8229600" cy="1648998"/>
          </a:xfrm>
        </p:spPr>
        <p:txBody>
          <a:bodyPr>
            <a:noAutofit/>
          </a:bodyPr>
          <a:lstStyle/>
          <a:p>
            <a:r>
              <a:rPr lang="zh-CN" altLang="en-US" sz="2800" b="1" dirty="0" smtClean="0">
                <a:latin typeface="黑体" panose="02010609060101010101" pitchFamily="49" charset="-122"/>
                <a:ea typeface="黑体" panose="02010609060101010101" pitchFamily="49" charset="-122"/>
              </a:rPr>
              <a:t>生产量</a:t>
            </a:r>
            <a:r>
              <a:rPr lang="zh-CN" altLang="en-US" sz="2800" b="1" dirty="0" smtClean="0">
                <a:latin typeface="黑体" panose="02010609060101010101" pitchFamily="49" charset="-122"/>
                <a:ea typeface="黑体" panose="02010609060101010101" pitchFamily="49" charset="-122"/>
              </a:rPr>
              <a:t>总是小于压缩过程</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1-2</a:t>
            </a:r>
            <a:r>
              <a:rPr lang="zh-CN" altLang="en-US" sz="2800" b="1" dirty="0" smtClean="0">
                <a:latin typeface="黑体" panose="02010609060101010101" pitchFamily="49" charset="-122"/>
                <a:ea typeface="黑体" panose="02010609060101010101" pitchFamily="49" charset="-122"/>
              </a:rPr>
              <a:t>中气缸内气体的质量，两者之差就是没有被排至储气罐或输气管道而留在气缸内的气体质量，即因余隙容积的存在而导致了浪费</a:t>
            </a:r>
            <a:endParaRPr lang="zh-CN" altLang="en-US" sz="2800" b="1" dirty="0" smtClean="0">
              <a:latin typeface="黑体" panose="02010609060101010101" pitchFamily="49" charset="-122"/>
              <a:ea typeface="黑体" panose="02010609060101010101" pitchFamily="49" charset="-122"/>
            </a:endParaRPr>
          </a:p>
        </p:txBody>
      </p:sp>
      <p:graphicFrame>
        <p:nvGraphicFramePr>
          <p:cNvPr id="82947" name="对象 3"/>
          <p:cNvGraphicFramePr>
            <a:graphicFrameLocks noChangeAspect="1"/>
          </p:cNvGraphicFramePr>
          <p:nvPr/>
        </p:nvGraphicFramePr>
        <p:xfrm>
          <a:off x="1529522" y="2972352"/>
          <a:ext cx="2076450" cy="958850"/>
        </p:xfrm>
        <a:graphic>
          <a:graphicData uri="http://schemas.openxmlformats.org/presentationml/2006/ole">
            <mc:AlternateContent xmlns:mc="http://schemas.openxmlformats.org/markup-compatibility/2006">
              <mc:Choice xmlns:v="urn:schemas-microsoft-com:vml" Requires="v">
                <p:oleObj spid="_x0000_s28680" name="" r:id="rId1" imgW="2212340" imgH="1022350" progId="Equation.DSMT4">
                  <p:embed/>
                </p:oleObj>
              </mc:Choice>
              <mc:Fallback>
                <p:oleObj name="" r:id="rId1" imgW="2212340" imgH="1022350"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9522" y="2972352"/>
                        <a:ext cx="207645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48" name="文本框 5"/>
          <p:cNvSpPr txBox="1">
            <a:spLocks noChangeArrowheads="1"/>
          </p:cNvSpPr>
          <p:nvPr/>
        </p:nvSpPr>
        <p:spPr bwMode="auto">
          <a:xfrm>
            <a:off x="4050402" y="3124200"/>
            <a:ext cx="61436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dirty="0">
                <a:latin typeface="黑体" panose="02010609060101010101" pitchFamily="49" charset="-122"/>
                <a:ea typeface="黑体" panose="02010609060101010101" pitchFamily="49" charset="-122"/>
              </a:rPr>
              <a:t>或</a:t>
            </a:r>
            <a:endParaRPr lang="zh-CN" altLang="en-US" sz="2800" dirty="0">
              <a:latin typeface="黑体" panose="02010609060101010101" pitchFamily="49" charset="-122"/>
              <a:ea typeface="黑体" panose="02010609060101010101" pitchFamily="49" charset="-122"/>
            </a:endParaRPr>
          </a:p>
        </p:txBody>
      </p:sp>
      <p:graphicFrame>
        <p:nvGraphicFramePr>
          <p:cNvPr id="82949" name="对象 6"/>
          <p:cNvGraphicFramePr>
            <a:graphicFrameLocks noChangeAspect="1"/>
          </p:cNvGraphicFramePr>
          <p:nvPr/>
        </p:nvGraphicFramePr>
        <p:xfrm>
          <a:off x="4991100" y="2972904"/>
          <a:ext cx="2082800" cy="973138"/>
        </p:xfrm>
        <a:graphic>
          <a:graphicData uri="http://schemas.openxmlformats.org/presentationml/2006/ole">
            <mc:AlternateContent xmlns:mc="http://schemas.openxmlformats.org/markup-compatibility/2006">
              <mc:Choice xmlns:v="urn:schemas-microsoft-com:vml" Requires="v">
                <p:oleObj spid="_x0000_s28681" name="" r:id="rId3" imgW="2136775" imgH="998855" progId="Equation.DSMT4">
                  <p:embed/>
                </p:oleObj>
              </mc:Choice>
              <mc:Fallback>
                <p:oleObj name="" r:id="rId3" imgW="2136775" imgH="998855" progId="Equation.DSMT4">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1100" y="2972904"/>
                        <a:ext cx="20828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 name="内容占位符 2"/>
          <p:cNvSpPr txBox="1">
            <a:spLocks noChangeArrowheads="1"/>
          </p:cNvSpPr>
          <p:nvPr/>
        </p:nvSpPr>
        <p:spPr>
          <a:xfrm>
            <a:off x="457200" y="1538632"/>
            <a:ext cx="8229600" cy="1630018"/>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b="1" dirty="0" smtClean="0">
                <a:latin typeface="黑体" panose="02010609060101010101" pitchFamily="49" charset="-122"/>
                <a:ea typeface="黑体" panose="02010609060101010101" pitchFamily="49" charset="-122"/>
              </a:rPr>
              <a:t>生产量</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m</a:t>
            </a:r>
            <a:r>
              <a:rPr lang="zh-CN" altLang="en-US" sz="2800" b="1" dirty="0" smtClean="0">
                <a:latin typeface="黑体" panose="02010609060101010101" pitchFamily="49" charset="-122"/>
                <a:ea typeface="黑体" panose="02010609060101010101" pitchFamily="49" charset="-122"/>
              </a:rPr>
              <a:t>是指活塞式压气机的活塞每往复一次所生产的压缩气体的质量，也就是能够排至储气罐或输气管道中的气体的质量</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p:txBody>
          <a:bodyPr/>
          <a:lstStyle/>
          <a:p>
            <a:pPr algn="l"/>
            <a:r>
              <a:rPr lang="zh-CN" altLang="en-US" sz="3200" b="1" dirty="0" smtClean="0">
                <a:latin typeface="黑体" panose="02010609060101010101" pitchFamily="49" charset="-122"/>
                <a:ea typeface="黑体" panose="02010609060101010101" pitchFamily="49" charset="-122"/>
                <a:sym typeface="宋体" panose="02010600030101010101" pitchFamily="2" charset="-122"/>
              </a:rPr>
              <a:t>三、余隙容积对理想耗功量的影响</a:t>
            </a:r>
            <a:endParaRPr lang="zh-CN" altLang="en-US" sz="3200" dirty="0" smtClean="0">
              <a:latin typeface="黑体" panose="02010609060101010101" pitchFamily="49" charset="-122"/>
              <a:ea typeface="黑体" panose="02010609060101010101" pitchFamily="49" charset="-122"/>
            </a:endParaRPr>
          </a:p>
        </p:txBody>
      </p:sp>
      <p:sp>
        <p:nvSpPr>
          <p:cNvPr id="83970" name="内容占位符 2"/>
          <p:cNvSpPr>
            <a:spLocks noGrp="1" noChangeArrowheads="1"/>
          </p:cNvSpPr>
          <p:nvPr>
            <p:ph idx="1"/>
          </p:nvPr>
        </p:nvSpPr>
        <p:spPr>
          <a:xfrm>
            <a:off x="510208" y="1596233"/>
            <a:ext cx="8229600" cy="703262"/>
          </a:xfrm>
        </p:spPr>
        <p:txBody>
          <a:bodyPr>
            <a:normAutofit/>
          </a:bodyPr>
          <a:lstStyle/>
          <a:p>
            <a:r>
              <a:rPr lang="zh-CN" altLang="en-US" sz="2800" b="1" dirty="0" smtClean="0">
                <a:latin typeface="黑体" panose="02010609060101010101" pitchFamily="49" charset="-122"/>
                <a:ea typeface="黑体" panose="02010609060101010101" pitchFamily="49" charset="-122"/>
              </a:rPr>
              <a:t>有余隙容积后的耗功量仍</a:t>
            </a:r>
            <a:r>
              <a:rPr lang="zh-CN" altLang="en-US" sz="2800" b="1" dirty="0" smtClean="0">
                <a:latin typeface="黑体" panose="02010609060101010101" pitchFamily="49" charset="-122"/>
                <a:ea typeface="黑体" panose="02010609060101010101" pitchFamily="49" charset="-122"/>
              </a:rPr>
              <a:t>为</a:t>
            </a:r>
            <a:endParaRPr lang="zh-CN" altLang="en-US" sz="2800" b="1" dirty="0" smtClean="0">
              <a:latin typeface="黑体" panose="02010609060101010101" pitchFamily="49" charset="-122"/>
              <a:ea typeface="黑体" panose="02010609060101010101" pitchFamily="49" charset="-122"/>
            </a:endParaRPr>
          </a:p>
        </p:txBody>
      </p:sp>
      <p:graphicFrame>
        <p:nvGraphicFramePr>
          <p:cNvPr id="83971" name="对象 8"/>
          <p:cNvGraphicFramePr>
            <a:graphicFrameLocks noChangeAspect="1"/>
          </p:cNvGraphicFramePr>
          <p:nvPr/>
        </p:nvGraphicFramePr>
        <p:xfrm>
          <a:off x="2222018" y="2424907"/>
          <a:ext cx="4262437" cy="1479550"/>
        </p:xfrm>
        <a:graphic>
          <a:graphicData uri="http://schemas.openxmlformats.org/presentationml/2006/ole">
            <mc:AlternateContent xmlns:mc="http://schemas.openxmlformats.org/markup-compatibility/2006">
              <mc:Choice xmlns:v="urn:schemas-microsoft-com:vml" Requires="v">
                <p:oleObj spid="_x0000_s29701" name="" r:id="rId1" imgW="1892300" imgH="685800" progId="Equation.DSMT4">
                  <p:embed/>
                </p:oleObj>
              </mc:Choice>
              <mc:Fallback>
                <p:oleObj name="" r:id="rId1" imgW="1892300" imgH="685800" progId="Equation.DSMT4">
                  <p:embed/>
                  <p:pic>
                    <p:nvPicPr>
                      <p:cNvPr id="0" name="对象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018" y="2424907"/>
                        <a:ext cx="426243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内容占位符 2"/>
          <p:cNvSpPr txBox="1">
            <a:spLocks noChangeArrowheads="1"/>
          </p:cNvSpPr>
          <p:nvPr/>
        </p:nvSpPr>
        <p:spPr>
          <a:xfrm>
            <a:off x="510208" y="4195210"/>
            <a:ext cx="8229600" cy="178814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b="1" dirty="0">
                <a:latin typeface="黑体" panose="02010609060101010101" pitchFamily="49" charset="-122"/>
                <a:ea typeface="黑体" panose="02010609060101010101" pitchFamily="49" charset="-122"/>
              </a:rPr>
              <a:t>虽然余隙容积的存在对理想耗功量并无影响，但余隙容积会使容积效率降低，导致在气缸排量一定时，气缸的有效进气容积降低，因此还是</a:t>
            </a:r>
            <a:r>
              <a:rPr lang="zh-CN" altLang="en-US" sz="2800" b="1" dirty="0">
                <a:solidFill>
                  <a:srgbClr val="FF0000"/>
                </a:solidFill>
                <a:latin typeface="黑体" panose="02010609060101010101" pitchFamily="49" charset="-122"/>
                <a:ea typeface="黑体" panose="02010609060101010101" pitchFamily="49" charset="-122"/>
              </a:rPr>
              <a:t>应该尽量减小余隙容积</a:t>
            </a:r>
            <a:endParaRPr lang="zh-CN" altLang="en-US" sz="2800" b="1" dirty="0">
              <a:solidFill>
                <a:srgbClr val="FF0000"/>
              </a:solidFill>
              <a:latin typeface="黑体" panose="02010609060101010101" pitchFamily="49" charset="-122"/>
              <a:ea typeface="黑体" panose="02010609060101010101" pitchFamily="49" charset="-122"/>
            </a:endParaRPr>
          </a:p>
          <a:p>
            <a:endParaRPr lang="zh-CN" altLang="en-US"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77825"/>
          <p:cNvSpPr>
            <a:spLocks noGrp="1" noChangeArrowheads="1"/>
          </p:cNvSpPr>
          <p:nvPr>
            <p:ph type="ctrTitle"/>
          </p:nvPr>
        </p:nvSpPr>
        <p:spPr>
          <a:xfrm>
            <a:off x="512901" y="1471889"/>
            <a:ext cx="7772400" cy="1470025"/>
          </a:xfrm>
        </p:spPr>
        <p:txBody>
          <a:bodyPr anchor="ctr"/>
          <a:lstStyle/>
          <a:p>
            <a:r>
              <a:rPr lang="en-US" altLang="zh-CN" sz="4400" b="1" dirty="0" smtClean="0">
                <a:latin typeface="黑体" panose="02010609060101010101" pitchFamily="49" charset="-122"/>
                <a:ea typeface="黑体" panose="02010609060101010101" pitchFamily="49" charset="-122"/>
              </a:rPr>
              <a:t>11</a:t>
            </a:r>
            <a:r>
              <a:rPr lang="zh-CN" altLang="en-US" sz="4400" b="1" dirty="0" smtClean="0">
                <a:latin typeface="黑体" panose="02010609060101010101" pitchFamily="49" charset="-122"/>
                <a:ea typeface="黑体" panose="02010609060101010101" pitchFamily="49" charset="-122"/>
              </a:rPr>
              <a:t>－</a:t>
            </a:r>
            <a:r>
              <a:rPr lang="en-US" altLang="zh-CN" sz="4400" b="1" dirty="0" smtClean="0">
                <a:latin typeface="黑体" panose="02010609060101010101" pitchFamily="49" charset="-122"/>
                <a:ea typeface="黑体" panose="02010609060101010101" pitchFamily="49" charset="-122"/>
              </a:rPr>
              <a:t>5</a:t>
            </a:r>
            <a:r>
              <a:rPr lang="zh-CN" altLang="en-US" sz="4400" b="1" dirty="0" smtClean="0">
                <a:latin typeface="黑体" panose="02010609060101010101" pitchFamily="49" charset="-122"/>
                <a:ea typeface="黑体" panose="02010609060101010101" pitchFamily="49" charset="-122"/>
              </a:rPr>
              <a:t>　多级压缩和级间冷却</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副标题 77826"/>
          <p:cNvSpPr>
            <a:spLocks noGrp="1" noChangeArrowheads="1"/>
          </p:cNvSpPr>
          <p:nvPr/>
        </p:nvSpPr>
        <p:spPr bwMode="auto">
          <a:xfrm>
            <a:off x="564528" y="654187"/>
            <a:ext cx="7632700" cy="3990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spcBef>
                <a:spcPct val="20000"/>
              </a:spcBef>
              <a:buFont typeface="Arial" panose="020B0604020202020204" pitchFamily="34" charset="0"/>
              <a:buChar char="•"/>
            </a:pPr>
            <a:r>
              <a:rPr lang="en-US" altLang="zh-CN" sz="3200" b="1" dirty="0" smtClean="0">
                <a:latin typeface="黑体" panose="02010609060101010101" pitchFamily="49" charset="-122"/>
                <a:ea typeface="黑体" panose="02010609060101010101" pitchFamily="49" charset="-122"/>
              </a:rPr>
              <a:t>11-3</a:t>
            </a:r>
            <a:r>
              <a:rPr lang="zh-CN" altLang="en-US" sz="3200" b="1" dirty="0" smtClean="0">
                <a:latin typeface="黑体" panose="02010609060101010101" pitchFamily="49" charset="-122"/>
                <a:ea typeface="黑体" panose="02010609060101010101" pitchFamily="49" charset="-122"/>
              </a:rPr>
              <a:t>节指出，采用放热压缩可以减少压缩功和降低终温。采用水冷夹套虽然可以在一定程度上改进压缩过程，但在转速高、排量大的情况下，其作用有限</a:t>
            </a:r>
            <a:endParaRPr lang="en-US" altLang="zh-CN" sz="3200" b="1" dirty="0" smtClean="0">
              <a:latin typeface="黑体" panose="02010609060101010101" pitchFamily="49" charset="-122"/>
              <a:ea typeface="黑体" panose="02010609060101010101" pitchFamily="49" charset="-122"/>
            </a:endParaRPr>
          </a:p>
          <a:p>
            <a:pPr marL="457200" indent="-457200">
              <a:spcBef>
                <a:spcPct val="20000"/>
              </a:spcBef>
              <a:buFont typeface="Arial" panose="020B0604020202020204" pitchFamily="34" charset="0"/>
              <a:buChar char="•"/>
            </a:pPr>
            <a:r>
              <a:rPr lang="zh-CN" altLang="en-US" sz="3200" b="1" dirty="0" smtClean="0">
                <a:latin typeface="黑体" panose="02010609060101010101" pitchFamily="49" charset="-122"/>
                <a:ea typeface="黑体" panose="02010609060101010101" pitchFamily="49" charset="-122"/>
              </a:rPr>
              <a:t>为了进一步改进压缩过程，节省压缩耗功和限制压缩终温，常采用多级压缩、级间冷却的方法</a:t>
            </a:r>
            <a:endParaRPr lang="en-US" altLang="zh-CN" sz="3200" b="1" dirty="0" smtClean="0">
              <a:latin typeface="黑体" panose="02010609060101010101" pitchFamily="49" charset="-122"/>
              <a:ea typeface="黑体" panose="02010609060101010101" pitchFamily="49" charset="-122"/>
            </a:endParaRPr>
          </a:p>
          <a:p>
            <a:pPr marL="457200" indent="-457200">
              <a:spcBef>
                <a:spcPct val="20000"/>
              </a:spcBef>
              <a:buFont typeface="Arial" panose="020B0604020202020204" pitchFamily="34" charset="0"/>
              <a:buChar char="•"/>
            </a:pP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a:spLocks noChangeArrowheads="1"/>
          </p:cNvSpPr>
          <p:nvPr/>
        </p:nvSpPr>
        <p:spPr bwMode="auto">
          <a:xfrm>
            <a:off x="650875" y="2301737"/>
            <a:ext cx="7870825"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基本原理：气体逐级在不同气缸中被压缩，每经过一次压缩后就在中间冷却器中被定压冷却到压缩前的温度，然后进入下一级气缸继续被压缩。</a:t>
            </a:r>
            <a:endParaRPr lang="zh-CN" altLang="en-US" sz="3200" b="1" dirty="0">
              <a:latin typeface="黑体" panose="02010609060101010101" pitchFamily="49" charset="-122"/>
              <a:ea typeface="黑体" panose="02010609060101010101" pitchFamily="49" charset="-122"/>
            </a:endParaRPr>
          </a:p>
        </p:txBody>
      </p:sp>
      <p:sp>
        <p:nvSpPr>
          <p:cNvPr id="5" name="副标题 77826"/>
          <p:cNvSpPr>
            <a:spLocks noGrp="1" noChangeArrowheads="1"/>
          </p:cNvSpPr>
          <p:nvPr/>
        </p:nvSpPr>
        <p:spPr bwMode="auto">
          <a:xfrm>
            <a:off x="650875" y="637208"/>
            <a:ext cx="7632700" cy="1204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pPr>
            <a:r>
              <a:rPr lang="zh-CN" altLang="en-US" sz="3200" b="1" dirty="0">
                <a:latin typeface="黑体" panose="02010609060101010101" pitchFamily="49" charset="-122"/>
                <a:ea typeface="黑体" panose="02010609060101010101" pitchFamily="49" charset="-122"/>
              </a:rPr>
              <a:t>目的</a:t>
            </a:r>
            <a:r>
              <a:rPr lang="zh-CN" altLang="en-US" sz="3200" b="1" dirty="0" smtClean="0">
                <a:latin typeface="黑体" panose="02010609060101010101" pitchFamily="49" charset="-122"/>
                <a:ea typeface="黑体" panose="02010609060101010101" pitchFamily="49" charset="-122"/>
              </a:rPr>
              <a:t>：降低压缩</a:t>
            </a:r>
            <a:r>
              <a:rPr lang="zh-CN" altLang="en-US" sz="3200" b="1" dirty="0">
                <a:latin typeface="黑体" panose="02010609060101010101" pitchFamily="49" charset="-122"/>
                <a:ea typeface="黑体" panose="02010609060101010101" pitchFamily="49" charset="-122"/>
              </a:rPr>
              <a:t>过程的多变指数，使压缩过程尽可能接近定温过程</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3" name="标题 78849"/>
          <p:cNvSpPr>
            <a:spLocks noGrp="1" noChangeArrowheads="1"/>
          </p:cNvSpPr>
          <p:nvPr>
            <p:ph type="title"/>
          </p:nvPr>
        </p:nvSpPr>
        <p:spPr>
          <a:xfrm>
            <a:off x="228600" y="228600"/>
            <a:ext cx="7793038" cy="769938"/>
          </a:xfrm>
        </p:spPr>
        <p:txBody>
          <a:bodyPr/>
          <a:lstStyle/>
          <a:p>
            <a:pPr algn="l"/>
            <a:r>
              <a:rPr lang="zh-CN" altLang="en-US" sz="3200" b="1" dirty="0" smtClean="0">
                <a:solidFill>
                  <a:schemeClr val="tx1"/>
                </a:solidFill>
                <a:latin typeface="黑体" panose="02010609060101010101" pitchFamily="49" charset="-122"/>
                <a:ea typeface="黑体" panose="02010609060101010101" pitchFamily="49" charset="-122"/>
              </a:rPr>
              <a:t>一、两级压缩、中间冷却压气机</a:t>
            </a:r>
            <a:endParaRPr lang="zh-CN" altLang="en-US" sz="3200" b="1" dirty="0" smtClean="0">
              <a:solidFill>
                <a:schemeClr val="tx1"/>
              </a:solidFill>
              <a:latin typeface="黑体" panose="02010609060101010101" pitchFamily="49" charset="-122"/>
              <a:ea typeface="黑体" panose="02010609060101010101" pitchFamily="49" charset="-122"/>
            </a:endParaRPr>
          </a:p>
        </p:txBody>
      </p:sp>
      <p:sp>
        <p:nvSpPr>
          <p:cNvPr id="74754" name="矩形 78858"/>
          <p:cNvSpPr>
            <a:spLocks noChangeArrowheads="1"/>
          </p:cNvSpPr>
          <p:nvPr/>
        </p:nvSpPr>
        <p:spPr bwMode="auto">
          <a:xfrm>
            <a:off x="0" y="1962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4756" name="对象 2"/>
          <p:cNvGraphicFramePr>
            <a:graphicFrameLocks noChangeAspect="1"/>
          </p:cNvGraphicFramePr>
          <p:nvPr/>
        </p:nvGraphicFramePr>
        <p:xfrm>
          <a:off x="11113" y="1657350"/>
          <a:ext cx="5199062" cy="3463925"/>
        </p:xfrm>
        <a:graphic>
          <a:graphicData uri="http://schemas.openxmlformats.org/presentationml/2006/ole">
            <mc:AlternateContent xmlns:mc="http://schemas.openxmlformats.org/markup-compatibility/2006">
              <mc:Choice xmlns:v="urn:schemas-microsoft-com:vml" Requires="v">
                <p:oleObj spid="_x0000_s15381" name="" r:id="rId1" imgW="2857500" imgH="1795145" progId="Visio.Drawing.11">
                  <p:embed/>
                </p:oleObj>
              </mc:Choice>
              <mc:Fallback>
                <p:oleObj name="" r:id="rId1" imgW="2857500" imgH="1795145"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1657350"/>
                        <a:ext cx="5199062"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0991" y="1478240"/>
            <a:ext cx="3718882" cy="39810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79874"/>
          <p:cNvSpPr txBox="1">
            <a:spLocks noChangeArrowheads="1"/>
          </p:cNvSpPr>
          <p:nvPr/>
        </p:nvSpPr>
        <p:spPr bwMode="auto">
          <a:xfrm>
            <a:off x="228600" y="228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二、两级压缩、中间冷却分析</a:t>
            </a:r>
            <a:endParaRPr lang="zh-CN" altLang="en-US" sz="3200" b="1" dirty="0">
              <a:latin typeface="黑体" panose="02010609060101010101" pitchFamily="49" charset="-122"/>
              <a:ea typeface="黑体" panose="02010609060101010101" pitchFamily="49" charset="-122"/>
            </a:endParaRPr>
          </a:p>
        </p:txBody>
      </p:sp>
      <p:sp>
        <p:nvSpPr>
          <p:cNvPr id="79876" name="文本框 79875"/>
          <p:cNvSpPr txBox="1"/>
          <p:nvPr/>
        </p:nvSpPr>
        <p:spPr>
          <a:xfrm>
            <a:off x="457200" y="1066800"/>
            <a:ext cx="2895600" cy="579438"/>
          </a:xfrm>
          <a:prstGeom prst="rect">
            <a:avLst/>
          </a:prstGeom>
          <a:noFill/>
          <a:ln w="9525">
            <a:noFill/>
          </a:ln>
        </p:spPr>
        <p:txBody>
          <a:bodyPr>
            <a:spAutoFit/>
          </a:bodyPr>
          <a:lstStyle/>
          <a:p>
            <a:pPr>
              <a:spcBef>
                <a:spcPct val="50000"/>
              </a:spcBef>
              <a:buClr>
                <a:schemeClr val="folHlink"/>
              </a:buClr>
              <a:buFont typeface="Wingdings" panose="05000000000000000000" pitchFamily="2" charset="2"/>
              <a:buChar char="Ø"/>
            </a:pPr>
            <a:r>
              <a:rPr lang="zh-CN" altLang="en-US" sz="3200" b="1" noProof="1">
                <a:effectLst>
                  <a:outerShdw blurRad="38100" dist="38100" dir="2700000">
                    <a:srgbClr val="C0C0C0"/>
                  </a:outerShdw>
                </a:effectLst>
                <a:latin typeface="Tahoma" panose="020B0604030504040204" pitchFamily="34" charset="0"/>
              </a:rPr>
              <a:t>　</a:t>
            </a:r>
            <a:r>
              <a:rPr lang="zh-CN" altLang="en-US" sz="3200" b="1" noProof="1">
                <a:latin typeface="黑体" panose="02010609060101010101" pitchFamily="49" charset="-122"/>
                <a:ea typeface="黑体" panose="02010609060101010101" pitchFamily="49" charset="-122"/>
              </a:rPr>
              <a:t>耗功量</a:t>
            </a:r>
            <a:endParaRPr lang="zh-CN" altLang="en-US" sz="3200" b="1" noProof="1">
              <a:latin typeface="黑体" panose="02010609060101010101" pitchFamily="49" charset="-122"/>
              <a:ea typeface="黑体" panose="02010609060101010101" pitchFamily="49" charset="-122"/>
            </a:endParaRPr>
          </a:p>
        </p:txBody>
      </p:sp>
      <p:sp>
        <p:nvSpPr>
          <p:cNvPr id="79881" name="文本框 79880"/>
          <p:cNvSpPr txBox="1">
            <a:spLocks noChangeArrowheads="1"/>
          </p:cNvSpPr>
          <p:nvPr/>
        </p:nvSpPr>
        <p:spPr bwMode="auto">
          <a:xfrm>
            <a:off x="457199" y="2939360"/>
            <a:ext cx="496293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zh-CN" altLang="en-US" sz="3200" b="1" dirty="0">
                <a:solidFill>
                  <a:srgbClr val="FF0000"/>
                </a:solidFill>
                <a:latin typeface="黑体" panose="02010609060101010101" pitchFamily="49" charset="-122"/>
                <a:ea typeface="黑体" panose="02010609060101010101" pitchFamily="49" charset="-122"/>
              </a:rPr>
              <a:t>比单级压缩节省了多少功？</a:t>
            </a:r>
            <a:endParaRPr lang="zh-CN" altLang="en-US" sz="3200" b="1" dirty="0">
              <a:solidFill>
                <a:srgbClr val="FF0000"/>
              </a:solidFill>
              <a:latin typeface="黑体" panose="02010609060101010101" pitchFamily="49" charset="-122"/>
              <a:ea typeface="黑体" panose="02010609060101010101" pitchFamily="49" charset="-122"/>
            </a:endParaRPr>
          </a:p>
        </p:txBody>
      </p:sp>
      <p:sp>
        <p:nvSpPr>
          <p:cNvPr id="79883" name="矩形 79882"/>
          <p:cNvSpPr>
            <a:spLocks noChangeArrowheads="1"/>
          </p:cNvSpPr>
          <p:nvPr/>
        </p:nvSpPr>
        <p:spPr bwMode="auto">
          <a:xfrm>
            <a:off x="2766848" y="3777560"/>
            <a:ext cx="265329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buClr>
                <a:schemeClr val="folHlink"/>
              </a:buClr>
              <a:buFont typeface="Wingdings" panose="05000000000000000000" pitchFamily="2" charset="2"/>
              <a:buNone/>
            </a:pPr>
            <a:r>
              <a:rPr lang="en-US" altLang="zh-CN" sz="3200" b="1" dirty="0">
                <a:latin typeface="Times New Roman" panose="02020603050405020304" pitchFamily="18" charset="0"/>
              </a:rPr>
              <a:t>——</a:t>
            </a:r>
            <a:r>
              <a:rPr lang="zh-CN" altLang="en-US" sz="3200" b="1" dirty="0">
                <a:latin typeface="黑体" panose="02010609060101010101" pitchFamily="49" charset="-122"/>
                <a:ea typeface="黑体" panose="02010609060101010101" pitchFamily="49" charset="-122"/>
              </a:rPr>
              <a:t>阴影面积</a:t>
            </a:r>
            <a:endParaRPr lang="zh-CN" altLang="en-US" sz="3200" b="1" dirty="0">
              <a:latin typeface="黑体" panose="02010609060101010101" pitchFamily="49" charset="-122"/>
              <a:ea typeface="黑体" panose="02010609060101010101" pitchFamily="49" charset="-122"/>
            </a:endParaRPr>
          </a:p>
        </p:txBody>
      </p:sp>
      <p:sp>
        <p:nvSpPr>
          <p:cNvPr id="11" name="矩形 10"/>
          <p:cNvSpPr>
            <a:spLocks noChangeArrowheads="1"/>
          </p:cNvSpPr>
          <p:nvPr/>
        </p:nvSpPr>
        <p:spPr bwMode="auto">
          <a:xfrm>
            <a:off x="457200" y="1905000"/>
            <a:ext cx="48734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buClr>
                <a:schemeClr val="folHlink"/>
              </a:buClr>
              <a:buFont typeface="Wingdings" panose="05000000000000000000" pitchFamily="2" charset="2"/>
              <a:buNone/>
            </a:pPr>
            <a:r>
              <a:rPr lang="zh-CN" altLang="en-US" sz="2800" b="1" dirty="0" smtClean="0">
                <a:latin typeface="黑体" panose="02010609060101010101" pitchFamily="49" charset="-122"/>
                <a:ea typeface="黑体" panose="02010609060101010101" pitchFamily="49" charset="-122"/>
              </a:rPr>
              <a:t>等于两个气缸所需功量的总和</a:t>
            </a:r>
            <a:endParaRPr lang="zh-CN" altLang="en-US" sz="28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77172" y="917567"/>
            <a:ext cx="3158002" cy="3353091"/>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881"/>
                                        </p:tgtEl>
                                        <p:attrNameLst>
                                          <p:attrName>style.visibility</p:attrName>
                                        </p:attrNameLst>
                                      </p:cBhvr>
                                      <p:to>
                                        <p:strVal val="visible"/>
                                      </p:to>
                                    </p:set>
                                    <p:animEffect transition="in" filter="blinds(horizontal)">
                                      <p:cBhvr>
                                        <p:cTn id="7" dur="500"/>
                                        <p:tgtEl>
                                          <p:spTgt spid="798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9883"/>
                                        </p:tgtEl>
                                        <p:attrNameLst>
                                          <p:attrName>style.visibility</p:attrName>
                                        </p:attrNameLst>
                                      </p:cBhvr>
                                      <p:to>
                                        <p:strVal val="visible"/>
                                      </p:to>
                                    </p:set>
                                    <p:animEffect transition="in" filter="blinds(horizontal)">
                                      <p:cBhvr>
                                        <p:cTn id="12" dur="500"/>
                                        <p:tgtEl>
                                          <p:spTgt spid="79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1" grpId="0"/>
      <p:bldP spid="7988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框 90115"/>
          <p:cNvSpPr txBox="1">
            <a:spLocks noChangeArrowheads="1"/>
          </p:cNvSpPr>
          <p:nvPr/>
        </p:nvSpPr>
        <p:spPr bwMode="auto">
          <a:xfrm>
            <a:off x="4411041" y="967065"/>
            <a:ext cx="4004089"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若分级</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z</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UniversalMath1 BT" pitchFamily="18" charset="2"/>
              </a:rPr>
              <a:t>，则趋于定温压缩。但由于体积庞大，系统复杂，摩擦损失和流动阻力增加，可靠性下降，一般</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UniversalMath1 BT" pitchFamily="18" charset="2"/>
              </a:rPr>
              <a:t>2-4</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UniversalMath1 BT" pitchFamily="18" charset="2"/>
              </a:rPr>
              <a:t>级。</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8850" name="图片 901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796" y="414752"/>
            <a:ext cx="3708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79874"/>
          <p:cNvSpPr txBox="1">
            <a:spLocks noChangeArrowheads="1"/>
          </p:cNvSpPr>
          <p:nvPr/>
        </p:nvSpPr>
        <p:spPr bwMode="auto">
          <a:xfrm>
            <a:off x="228600" y="228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二、两级压缩、中间冷却分析</a:t>
            </a:r>
            <a:endParaRPr lang="zh-CN" altLang="en-US" sz="3200" b="1" dirty="0">
              <a:latin typeface="黑体" panose="02010609060101010101" pitchFamily="49" charset="-122"/>
              <a:ea typeface="黑体" panose="02010609060101010101" pitchFamily="49" charset="-122"/>
            </a:endParaRPr>
          </a:p>
        </p:txBody>
      </p:sp>
      <p:sp>
        <p:nvSpPr>
          <p:cNvPr id="79876" name="文本框 79875"/>
          <p:cNvSpPr txBox="1"/>
          <p:nvPr/>
        </p:nvSpPr>
        <p:spPr>
          <a:xfrm>
            <a:off x="457199" y="1066800"/>
            <a:ext cx="4465983" cy="584775"/>
          </a:xfrm>
          <a:prstGeom prst="rect">
            <a:avLst/>
          </a:prstGeom>
          <a:noFill/>
          <a:ln w="9525">
            <a:noFill/>
          </a:ln>
        </p:spPr>
        <p:txBody>
          <a:bodyPr wrap="square">
            <a:spAutoFit/>
          </a:bodyPr>
          <a:lstStyle/>
          <a:p>
            <a:pPr>
              <a:spcBef>
                <a:spcPct val="50000"/>
              </a:spcBef>
              <a:buClr>
                <a:schemeClr val="folHlink"/>
              </a:buClr>
              <a:buFont typeface="Wingdings" panose="05000000000000000000" pitchFamily="2" charset="2"/>
              <a:buChar char="Ø"/>
            </a:pPr>
            <a:r>
              <a:rPr lang="zh-CN" altLang="en-US" sz="3200" b="1" noProof="1">
                <a:effectLst>
                  <a:outerShdw blurRad="38100" dist="38100" dir="2700000">
                    <a:srgbClr val="C0C0C0"/>
                  </a:outerShdw>
                </a:effectLst>
                <a:latin typeface="Tahoma" panose="020B0604030504040204" pitchFamily="34" charset="0"/>
              </a:rPr>
              <a:t>　</a:t>
            </a:r>
            <a:r>
              <a:rPr lang="zh-CN" altLang="en-US" sz="3200" b="1" noProof="1" smtClean="0">
                <a:latin typeface="黑体" panose="02010609060101010101" pitchFamily="49" charset="-122"/>
                <a:ea typeface="黑体" panose="02010609060101010101" pitchFamily="49" charset="-122"/>
              </a:rPr>
              <a:t>最佳</a:t>
            </a:r>
            <a:r>
              <a:rPr lang="zh-CN" altLang="en-US" sz="3200" b="1" noProof="1">
                <a:latin typeface="黑体" panose="02010609060101010101" pitchFamily="49" charset="-122"/>
                <a:ea typeface="黑体" panose="02010609060101010101" pitchFamily="49" charset="-122"/>
              </a:rPr>
              <a:t>增压比</a:t>
            </a:r>
            <a:endParaRPr lang="zh-CN" altLang="en-US" sz="3200" b="1" noProof="1">
              <a:latin typeface="黑体" panose="02010609060101010101" pitchFamily="49" charset="-122"/>
              <a:ea typeface="黑体" panose="02010609060101010101" pitchFamily="49" charset="-122"/>
            </a:endParaRPr>
          </a:p>
        </p:txBody>
      </p:sp>
      <p:sp>
        <p:nvSpPr>
          <p:cNvPr id="75779" name="文本框 79877"/>
          <p:cNvSpPr txBox="1">
            <a:spLocks noChangeArrowheads="1"/>
          </p:cNvSpPr>
          <p:nvPr/>
        </p:nvSpPr>
        <p:spPr bwMode="auto">
          <a:xfrm>
            <a:off x="457200" y="1905000"/>
            <a:ext cx="4876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dirty="0">
                <a:latin typeface="Tahoma" panose="020B0604030504040204" pitchFamily="34" charset="0"/>
              </a:rPr>
              <a:t>　　</a:t>
            </a:r>
            <a:endParaRPr lang="zh-CN" altLang="en-US" sz="3200" dirty="0">
              <a:latin typeface="Tahoma" panose="020B0604030504040204" pitchFamily="34" charset="0"/>
            </a:endParaRPr>
          </a:p>
        </p:txBody>
      </p:sp>
      <p:sp>
        <p:nvSpPr>
          <p:cNvPr id="11" name="文本框 10"/>
          <p:cNvSpPr txBox="1"/>
          <p:nvPr/>
        </p:nvSpPr>
        <p:spPr>
          <a:xfrm>
            <a:off x="228600" y="1920588"/>
            <a:ext cx="5009323" cy="3539430"/>
          </a:xfrm>
          <a:prstGeom prst="rect">
            <a:avLst/>
          </a:prstGeom>
          <a:noFill/>
          <a:ln w="9525">
            <a:noFill/>
          </a:ln>
        </p:spPr>
        <p:txBody>
          <a:bodyPr wrap="square">
            <a:spAutoFit/>
          </a:bodyPr>
          <a:lstStyle/>
          <a:p>
            <a:pPr marL="457200" indent="-457200">
              <a:buClr>
                <a:schemeClr val="folHlink"/>
              </a:buClr>
              <a:buFont typeface="Arial" panose="020B0604020202020204" pitchFamily="34" charset="0"/>
              <a:buChar char="•"/>
            </a:pPr>
            <a:r>
              <a:rPr lang="zh-CN" altLang="en-US" sz="3200" b="1" noProof="1" smtClean="0">
                <a:latin typeface="黑体" panose="02010609060101010101" pitchFamily="49" charset="-122"/>
                <a:ea typeface="黑体" panose="02010609060101010101" pitchFamily="49" charset="-122"/>
              </a:rPr>
              <a:t>采用两级压缩、级间冷却时，选择不同的中间压力，消耗的功不一样</a:t>
            </a:r>
            <a:endParaRPr lang="en-US" altLang="zh-CN" sz="3200" b="1" noProof="1" smtClean="0">
              <a:latin typeface="黑体" panose="02010609060101010101" pitchFamily="49" charset="-122"/>
              <a:ea typeface="黑体" panose="02010609060101010101" pitchFamily="49" charset="-122"/>
            </a:endParaRPr>
          </a:p>
          <a:p>
            <a:pPr marL="457200" indent="-457200">
              <a:buClr>
                <a:schemeClr val="folHlink"/>
              </a:buClr>
              <a:buFont typeface="Arial" panose="020B0604020202020204" pitchFamily="34" charset="0"/>
              <a:buChar char="•"/>
            </a:pPr>
            <a:r>
              <a:rPr lang="zh-CN" altLang="en-US" sz="3200" b="1" noProof="1" smtClean="0">
                <a:latin typeface="黑体" panose="02010609060101010101" pitchFamily="49" charset="-122"/>
                <a:ea typeface="黑体" panose="02010609060101010101" pitchFamily="49" charset="-122"/>
              </a:rPr>
              <a:t>采用哪个中间压力能使总耗功量最小？</a:t>
            </a:r>
            <a:endParaRPr lang="en-US" altLang="zh-CN" sz="3200" b="1" noProof="1" smtClean="0">
              <a:latin typeface="黑体" panose="02010609060101010101" pitchFamily="49" charset="-122"/>
              <a:ea typeface="黑体" panose="02010609060101010101" pitchFamily="49" charset="-122"/>
            </a:endParaRPr>
          </a:p>
          <a:p>
            <a:pPr marL="457200" indent="-457200">
              <a:buClr>
                <a:schemeClr val="folHlink"/>
              </a:buClr>
              <a:buFont typeface="Arial" panose="020B0604020202020204" pitchFamily="34" charset="0"/>
              <a:buChar char="•"/>
            </a:pPr>
            <a:r>
              <a:rPr lang="zh-CN" altLang="en-US" sz="3200" b="1" noProof="1" smtClean="0">
                <a:latin typeface="黑体" panose="02010609060101010101" pitchFamily="49" charset="-122"/>
                <a:ea typeface="黑体" panose="02010609060101010101" pitchFamily="49" charset="-122"/>
              </a:rPr>
              <a:t>可以从压气机耗功量的公式导出</a:t>
            </a:r>
            <a:endParaRPr lang="zh-CN" altLang="en-US" sz="3200" b="1" noProof="1">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84698" y="1173440"/>
            <a:ext cx="3718882" cy="398103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79874"/>
          <p:cNvSpPr txBox="1">
            <a:spLocks noChangeArrowheads="1"/>
          </p:cNvSpPr>
          <p:nvPr/>
        </p:nvSpPr>
        <p:spPr bwMode="auto">
          <a:xfrm>
            <a:off x="228600" y="228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二、两级压缩、中间冷却分析</a:t>
            </a:r>
            <a:endParaRPr lang="zh-CN" altLang="en-US" sz="3200" b="1" dirty="0">
              <a:latin typeface="黑体" panose="02010609060101010101" pitchFamily="49" charset="-122"/>
              <a:ea typeface="黑体" panose="02010609060101010101" pitchFamily="49" charset="-122"/>
            </a:endParaRPr>
          </a:p>
        </p:txBody>
      </p:sp>
      <p:sp>
        <p:nvSpPr>
          <p:cNvPr id="79876" name="文本框 79875"/>
          <p:cNvSpPr txBox="1"/>
          <p:nvPr/>
        </p:nvSpPr>
        <p:spPr>
          <a:xfrm>
            <a:off x="457199" y="1066800"/>
            <a:ext cx="4465983" cy="584775"/>
          </a:xfrm>
          <a:prstGeom prst="rect">
            <a:avLst/>
          </a:prstGeom>
          <a:noFill/>
          <a:ln w="9525">
            <a:noFill/>
          </a:ln>
        </p:spPr>
        <p:txBody>
          <a:bodyPr wrap="square">
            <a:spAutoFit/>
          </a:bodyPr>
          <a:lstStyle/>
          <a:p>
            <a:pPr>
              <a:spcBef>
                <a:spcPct val="50000"/>
              </a:spcBef>
              <a:buClr>
                <a:schemeClr val="folHlink"/>
              </a:buClr>
              <a:buFont typeface="Wingdings" panose="05000000000000000000" pitchFamily="2" charset="2"/>
              <a:buChar char="Ø"/>
            </a:pPr>
            <a:r>
              <a:rPr lang="zh-CN" altLang="en-US" sz="3200" b="1" noProof="1">
                <a:effectLst>
                  <a:outerShdw blurRad="38100" dist="38100" dir="2700000">
                    <a:srgbClr val="C0C0C0"/>
                  </a:outerShdw>
                </a:effectLst>
                <a:latin typeface="Tahoma" panose="020B0604030504040204" pitchFamily="34" charset="0"/>
              </a:rPr>
              <a:t>　</a:t>
            </a:r>
            <a:r>
              <a:rPr lang="zh-CN" altLang="en-US" sz="3200" b="1" noProof="1" smtClean="0">
                <a:latin typeface="黑体" panose="02010609060101010101" pitchFamily="49" charset="-122"/>
                <a:ea typeface="黑体" panose="02010609060101010101" pitchFamily="49" charset="-122"/>
              </a:rPr>
              <a:t>最佳增压比</a:t>
            </a:r>
            <a:endParaRPr lang="zh-CN" altLang="en-US" sz="3200" b="1" noProof="1">
              <a:latin typeface="黑体" panose="02010609060101010101" pitchFamily="49" charset="-122"/>
              <a:ea typeface="黑体" panose="02010609060101010101" pitchFamily="49" charset="-122"/>
            </a:endParaRPr>
          </a:p>
        </p:txBody>
      </p:sp>
      <p:graphicFrame>
        <p:nvGraphicFramePr>
          <p:cNvPr id="75780" name="对象 79878"/>
          <p:cNvGraphicFramePr/>
          <p:nvPr/>
        </p:nvGraphicFramePr>
        <p:xfrm>
          <a:off x="1747837" y="2232025"/>
          <a:ext cx="1128712" cy="536575"/>
        </p:xfrm>
        <a:graphic>
          <a:graphicData uri="http://schemas.openxmlformats.org/presentationml/2006/ole">
            <mc:AlternateContent xmlns:mc="http://schemas.openxmlformats.org/markup-compatibility/2006">
              <mc:Choice xmlns:v="urn:schemas-microsoft-com:vml" Requires="v">
                <p:oleObj spid="_x0000_s18466" name="Equation" r:id="rId1" imgW="10668000" imgH="5486400" progId="Equation.DSMT4">
                  <p:embed/>
                </p:oleObj>
              </mc:Choice>
              <mc:Fallback>
                <p:oleObj name="Equation" r:id="rId1" imgW="10668000" imgH="5486400" progId="Equation.DSMT4">
                  <p:embed/>
                  <p:pic>
                    <p:nvPicPr>
                      <p:cNvPr id="0" name="对象 79878"/>
                      <p:cNvPicPr>
                        <a:picLocks noChangeArrowheads="1"/>
                      </p:cNvPicPr>
                      <p:nvPr/>
                    </p:nvPicPr>
                    <p:blipFill>
                      <a:blip r:embed="rId2"/>
                      <a:srcRect/>
                      <a:stretch>
                        <a:fillRect/>
                      </a:stretch>
                    </p:blipFill>
                    <p:spPr bwMode="auto">
                      <a:xfrm>
                        <a:off x="1747837" y="2232025"/>
                        <a:ext cx="11287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5784" name="对象 3"/>
          <p:cNvGraphicFramePr>
            <a:graphicFrameLocks noChangeAspect="1"/>
          </p:cNvGraphicFramePr>
          <p:nvPr/>
        </p:nvGraphicFramePr>
        <p:xfrm>
          <a:off x="714375" y="3397250"/>
          <a:ext cx="6296025" cy="2838450"/>
        </p:xfrm>
        <a:graphic>
          <a:graphicData uri="http://schemas.openxmlformats.org/presentationml/2006/ole">
            <mc:AlternateContent xmlns:mc="http://schemas.openxmlformats.org/markup-compatibility/2006">
              <mc:Choice xmlns:v="urn:schemas-microsoft-com:vml" Requires="v">
                <p:oleObj spid="_x0000_s18467" name="Equation" r:id="rId3" imgW="85039200" imgH="38709600" progId="Equation.DSMT4">
                  <p:embed/>
                </p:oleObj>
              </mc:Choice>
              <mc:Fallback>
                <p:oleObj name="Equation" r:id="rId3" imgW="85039200" imgH="38709600" progId="Equation.DSMT4">
                  <p:embed/>
                  <p:pic>
                    <p:nvPicPr>
                      <p:cNvPr id="0" name="对象 3"/>
                      <p:cNvPicPr>
                        <a:picLocks noChangeAspect="1" noChangeArrowheads="1"/>
                      </p:cNvPicPr>
                      <p:nvPr/>
                    </p:nvPicPr>
                    <p:blipFill>
                      <a:blip r:embed="rId4"/>
                      <a:srcRect/>
                      <a:stretch>
                        <a:fillRect/>
                      </a:stretch>
                    </p:blipFill>
                    <p:spPr bwMode="auto">
                      <a:xfrm>
                        <a:off x="714375" y="3397250"/>
                        <a:ext cx="6296025"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矩形 7"/>
          <p:cNvSpPr/>
          <p:nvPr/>
        </p:nvSpPr>
        <p:spPr>
          <a:xfrm>
            <a:off x="634364" y="2183825"/>
            <a:ext cx="1008609" cy="584775"/>
          </a:xfrm>
          <a:prstGeom prst="rect">
            <a:avLst/>
          </a:prstGeom>
        </p:spPr>
        <p:txBody>
          <a:bodyPr wrap="none">
            <a:spAutoFit/>
          </a:bodyPr>
          <a:lstStyle/>
          <a:p>
            <a:r>
              <a:rPr lang="zh-CN" altLang="en-US" sz="3200" b="1" noProof="1" smtClean="0">
                <a:solidFill>
                  <a:prstClr val="black"/>
                </a:solidFill>
                <a:latin typeface="黑体" panose="02010609060101010101" pitchFamily="49" charset="-122"/>
                <a:ea typeface="黑体" panose="02010609060101010101" pitchFamily="49" charset="-122"/>
              </a:rPr>
              <a:t>假设</a:t>
            </a:r>
            <a:endParaRPr lang="zh-CN" altLang="en-US" dirty="0"/>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8054" y="340839"/>
            <a:ext cx="2987299" cy="31945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文本框 80897"/>
          <p:cNvSpPr txBox="1">
            <a:spLocks noChangeArrowheads="1"/>
          </p:cNvSpPr>
          <p:nvPr/>
        </p:nvSpPr>
        <p:spPr bwMode="auto">
          <a:xfrm>
            <a:off x="228600" y="228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二、两级压缩、中间冷却分析（续）</a:t>
            </a:r>
            <a:endParaRPr lang="zh-CN" altLang="en-US" sz="3200" b="1" dirty="0">
              <a:latin typeface="黑体" panose="02010609060101010101" pitchFamily="49" charset="-122"/>
              <a:ea typeface="黑体" panose="02010609060101010101" pitchFamily="49" charset="-122"/>
            </a:endParaRPr>
          </a:p>
        </p:txBody>
      </p:sp>
      <p:sp>
        <p:nvSpPr>
          <p:cNvPr id="80899" name="文本框 80898"/>
          <p:cNvSpPr txBox="1"/>
          <p:nvPr/>
        </p:nvSpPr>
        <p:spPr>
          <a:xfrm>
            <a:off x="457200" y="914400"/>
            <a:ext cx="3810000" cy="579438"/>
          </a:xfrm>
          <a:prstGeom prst="rect">
            <a:avLst/>
          </a:prstGeom>
          <a:noFill/>
          <a:ln w="9525">
            <a:noFill/>
          </a:ln>
        </p:spPr>
        <p:txBody>
          <a:bodyPr>
            <a:spAutoFit/>
          </a:bodyPr>
          <a:lstStyle/>
          <a:p>
            <a:pPr>
              <a:spcBef>
                <a:spcPct val="50000"/>
              </a:spcBef>
              <a:buClr>
                <a:schemeClr val="folHlink"/>
              </a:buClr>
              <a:buFont typeface="Wingdings" panose="05000000000000000000" pitchFamily="2" charset="2"/>
              <a:buChar char="Ø"/>
            </a:pPr>
            <a:r>
              <a:rPr lang="zh-CN" altLang="en-US" sz="3200" b="1" noProof="1">
                <a:effectLst>
                  <a:outerShdw blurRad="38100" dist="38100" dir="2700000">
                    <a:srgbClr val="C0C0C0"/>
                  </a:outerShdw>
                </a:effectLst>
                <a:latin typeface="Tahoma" panose="020B0604030504040204" pitchFamily="34" charset="0"/>
              </a:rPr>
              <a:t>　</a:t>
            </a:r>
            <a:r>
              <a:rPr lang="zh-CN" altLang="en-US" sz="3200" b="1" noProof="1">
                <a:latin typeface="黑体" panose="02010609060101010101" pitchFamily="49" charset="-122"/>
                <a:ea typeface="黑体" panose="02010609060101010101" pitchFamily="49" charset="-122"/>
              </a:rPr>
              <a:t>最佳增压比</a:t>
            </a:r>
            <a:endParaRPr lang="zh-CN" altLang="en-US" sz="3200" b="1" noProof="1">
              <a:latin typeface="黑体" panose="02010609060101010101" pitchFamily="49" charset="-122"/>
              <a:ea typeface="黑体" panose="02010609060101010101" pitchFamily="49" charset="-122"/>
            </a:endParaRPr>
          </a:p>
        </p:txBody>
      </p:sp>
      <p:graphicFrame>
        <p:nvGraphicFramePr>
          <p:cNvPr id="76803" name="对象 80899"/>
          <p:cNvGraphicFramePr/>
          <p:nvPr/>
        </p:nvGraphicFramePr>
        <p:xfrm>
          <a:off x="547688" y="1493838"/>
          <a:ext cx="5643562" cy="1265237"/>
        </p:xfrm>
        <a:graphic>
          <a:graphicData uri="http://schemas.openxmlformats.org/presentationml/2006/ole">
            <mc:AlternateContent xmlns:mc="http://schemas.openxmlformats.org/markup-compatibility/2006">
              <mc:Choice xmlns:v="urn:schemas-microsoft-com:vml" Requires="v">
                <p:oleObj spid="_x0000_s19530" name="" r:id="rId1" imgW="3060065" imgH="685800" progId="Equation.DSMT4">
                  <p:embed/>
                </p:oleObj>
              </mc:Choice>
              <mc:Fallback>
                <p:oleObj name="" r:id="rId1" imgW="3060065" imgH="685800" progId="Equation.DSMT4">
                  <p:embed/>
                  <p:pic>
                    <p:nvPicPr>
                      <p:cNvPr id="0" name="对象 8089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8" y="1493838"/>
                        <a:ext cx="5643562"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04" name="对象 80900"/>
          <p:cNvGraphicFramePr/>
          <p:nvPr/>
        </p:nvGraphicFramePr>
        <p:xfrm>
          <a:off x="547688" y="2759075"/>
          <a:ext cx="1187450" cy="941388"/>
        </p:xfrm>
        <a:graphic>
          <a:graphicData uri="http://schemas.openxmlformats.org/presentationml/2006/ole">
            <mc:AlternateContent xmlns:mc="http://schemas.openxmlformats.org/markup-compatibility/2006">
              <mc:Choice xmlns:v="urn:schemas-microsoft-com:vml" Requires="v">
                <p:oleObj spid="_x0000_s19531" name="Equation" r:id="rId3" imgW="363855" imgH="287655" progId="Equation.DSMT4">
                  <p:embed/>
                </p:oleObj>
              </mc:Choice>
              <mc:Fallback>
                <p:oleObj name="Equation" r:id="rId3" imgW="363855" imgH="287655" progId="Equation.DSMT4">
                  <p:embed/>
                  <p:pic>
                    <p:nvPicPr>
                      <p:cNvPr id="0" name="对象 8090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8" y="2759075"/>
                        <a:ext cx="118745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05" name="对象 80902"/>
          <p:cNvGraphicFramePr/>
          <p:nvPr/>
        </p:nvGraphicFramePr>
        <p:xfrm>
          <a:off x="3013075" y="2708275"/>
          <a:ext cx="4927600" cy="941388"/>
        </p:xfrm>
        <a:graphic>
          <a:graphicData uri="http://schemas.openxmlformats.org/presentationml/2006/ole">
            <mc:AlternateContent xmlns:mc="http://schemas.openxmlformats.org/markup-compatibility/2006">
              <mc:Choice xmlns:v="urn:schemas-microsoft-com:vml" Requires="v">
                <p:oleObj spid="_x0000_s19532" name="Equation" r:id="rId5" imgW="54254400" imgH="10363200" progId="Equation.DSMT4">
                  <p:embed/>
                </p:oleObj>
              </mc:Choice>
              <mc:Fallback>
                <p:oleObj name="Equation" r:id="rId5" imgW="54254400" imgH="10363200" progId="Equation.DSMT4">
                  <p:embed/>
                  <p:pic>
                    <p:nvPicPr>
                      <p:cNvPr id="0" name="对象 80902"/>
                      <p:cNvPicPr>
                        <a:picLocks noChangeArrowheads="1"/>
                      </p:cNvPicPr>
                      <p:nvPr/>
                    </p:nvPicPr>
                    <p:blipFill>
                      <a:blip r:embed="rId6"/>
                      <a:srcRect/>
                      <a:stretch>
                        <a:fillRect/>
                      </a:stretch>
                    </p:blipFill>
                    <p:spPr bwMode="auto">
                      <a:xfrm>
                        <a:off x="3013075" y="2708275"/>
                        <a:ext cx="49276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06" name="右箭头 80903"/>
          <p:cNvSpPr>
            <a:spLocks noChangeArrowheads="1"/>
          </p:cNvSpPr>
          <p:nvPr/>
        </p:nvSpPr>
        <p:spPr bwMode="auto">
          <a:xfrm>
            <a:off x="1920875" y="3089275"/>
            <a:ext cx="762000" cy="304800"/>
          </a:xfrm>
          <a:prstGeom prst="rightArrow">
            <a:avLst>
              <a:gd name="adj1" fmla="val 50000"/>
              <a:gd name="adj2" fmla="val 62500"/>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5" name="文本框 80904"/>
          <p:cNvSpPr txBox="1">
            <a:spLocks noChangeArrowheads="1"/>
          </p:cNvSpPr>
          <p:nvPr/>
        </p:nvSpPr>
        <p:spPr bwMode="auto">
          <a:xfrm>
            <a:off x="381000" y="3886200"/>
            <a:ext cx="6400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同理，对于</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z</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级压缩、级间冷却</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80906" name="组合 80905"/>
          <p:cNvGrpSpPr/>
          <p:nvPr/>
        </p:nvGrpSpPr>
        <p:grpSpPr bwMode="auto">
          <a:xfrm>
            <a:off x="874713" y="4559300"/>
            <a:ext cx="4430712" cy="2093913"/>
            <a:chOff x="772" y="2880"/>
            <a:chExt cx="2791" cy="1319"/>
          </a:xfrm>
        </p:grpSpPr>
        <p:graphicFrame>
          <p:nvGraphicFramePr>
            <p:cNvPr id="76809" name="对象 80906"/>
            <p:cNvGraphicFramePr/>
            <p:nvPr/>
          </p:nvGraphicFramePr>
          <p:xfrm>
            <a:off x="772" y="2880"/>
            <a:ext cx="2476" cy="699"/>
          </p:xfrm>
          <a:graphic>
            <a:graphicData uri="http://schemas.openxmlformats.org/presentationml/2006/ole">
              <mc:AlternateContent xmlns:mc="http://schemas.openxmlformats.org/markup-compatibility/2006">
                <mc:Choice xmlns:v="urn:schemas-microsoft-com:vml" Requires="v">
                  <p:oleObj spid="_x0000_s19533" name="" r:id="rId7" imgW="1803400" imgH="508000" progId="Equation.3">
                    <p:embed/>
                  </p:oleObj>
                </mc:Choice>
                <mc:Fallback>
                  <p:oleObj name="" r:id="rId7" imgW="1803400" imgH="508000" progId="Equation.3">
                    <p:embed/>
                    <p:pic>
                      <p:nvPicPr>
                        <p:cNvPr id="0" name="对象 8090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2" y="2880"/>
                          <a:ext cx="2476"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10" name="对象 80907"/>
            <p:cNvGraphicFramePr/>
            <p:nvPr/>
          </p:nvGraphicFramePr>
          <p:xfrm>
            <a:off x="806" y="3600"/>
            <a:ext cx="2757" cy="599"/>
          </p:xfrm>
          <a:graphic>
            <a:graphicData uri="http://schemas.openxmlformats.org/presentationml/2006/ole">
              <mc:AlternateContent xmlns:mc="http://schemas.openxmlformats.org/markup-compatibility/2006">
                <mc:Choice xmlns:v="urn:schemas-microsoft-com:vml" Requires="v">
                  <p:oleObj spid="_x0000_s19534" name="" r:id="rId9" imgW="2222500" imgH="482600" progId="Equation.DSMT4">
                    <p:embed/>
                  </p:oleObj>
                </mc:Choice>
                <mc:Fallback>
                  <p:oleObj name="" r:id="rId9" imgW="2222500" imgH="482600" progId="Equation.DSMT4">
                    <p:embed/>
                    <p:pic>
                      <p:nvPicPr>
                        <p:cNvPr id="0" name="对象 8090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6" y="3600"/>
                          <a:ext cx="2757"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611726" y="189181"/>
            <a:ext cx="2438611" cy="2609314"/>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9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9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文本框 81921"/>
          <p:cNvSpPr txBox="1">
            <a:spLocks noChangeArrowheads="1"/>
          </p:cNvSpPr>
          <p:nvPr/>
        </p:nvSpPr>
        <p:spPr bwMode="auto">
          <a:xfrm>
            <a:off x="0" y="188913"/>
            <a:ext cx="754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三、采用最佳增压比的优点</a:t>
            </a:r>
            <a:endParaRPr lang="zh-CN" altLang="en-US" sz="2800" b="1" dirty="0">
              <a:latin typeface="黑体" panose="02010609060101010101" pitchFamily="49" charset="-122"/>
              <a:ea typeface="黑体" panose="02010609060101010101" pitchFamily="49" charset="-122"/>
            </a:endParaRPr>
          </a:p>
        </p:txBody>
      </p:sp>
      <p:sp>
        <p:nvSpPr>
          <p:cNvPr id="77826" name="文本框 81923"/>
          <p:cNvSpPr txBox="1">
            <a:spLocks noChangeArrowheads="1"/>
          </p:cNvSpPr>
          <p:nvPr/>
        </p:nvSpPr>
        <p:spPr bwMode="auto">
          <a:xfrm>
            <a:off x="180147" y="616503"/>
            <a:ext cx="3887788"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chemeClr val="tx1"/>
              </a:buClr>
              <a:buFont typeface="Wingdings" panose="05000000000000000000" pitchFamily="2" charset="2"/>
              <a:buNone/>
            </a:pPr>
            <a:endParaRPr lang="en-US" altLang="zh-CN" b="1" dirty="0">
              <a:solidFill>
                <a:srgbClr val="FF0000"/>
              </a:solidFill>
            </a:endParaRPr>
          </a:p>
          <a:p>
            <a:pPr>
              <a:spcBef>
                <a:spcPct val="50000"/>
              </a:spcBef>
              <a:buClr>
                <a:schemeClr val="tx1"/>
              </a:buClr>
              <a:buFont typeface="Wingdings" panose="05000000000000000000" pitchFamily="2" charset="2"/>
              <a:buAutoNum type="circleNumDbPlain"/>
            </a:pPr>
            <a:r>
              <a:rPr lang="zh-CN" altLang="en-US" sz="2600" b="1" dirty="0">
                <a:solidFill>
                  <a:srgbClr val="FF0000"/>
                </a:solidFill>
                <a:latin typeface="黑体" panose="02010609060101010101" pitchFamily="49" charset="-122"/>
                <a:ea typeface="黑体" panose="02010609060101010101" pitchFamily="49" charset="-122"/>
              </a:rPr>
              <a:t>总耗功量最小</a:t>
            </a:r>
            <a:endParaRPr lang="zh-CN" altLang="en-US" sz="2600" b="1" dirty="0">
              <a:solidFill>
                <a:srgbClr val="FF0000"/>
              </a:solidFill>
              <a:latin typeface="黑体" panose="02010609060101010101" pitchFamily="49" charset="-122"/>
              <a:ea typeface="黑体" panose="02010609060101010101" pitchFamily="49" charset="-122"/>
            </a:endParaRPr>
          </a:p>
          <a:p>
            <a:pPr>
              <a:spcBef>
                <a:spcPct val="50000"/>
              </a:spcBef>
              <a:buClr>
                <a:schemeClr val="tx1"/>
              </a:buClr>
              <a:buFont typeface="Wingdings" panose="05000000000000000000" pitchFamily="2" charset="2"/>
              <a:buAutoNum type="circleNumDbPlain"/>
            </a:pPr>
            <a:r>
              <a:rPr lang="zh-CN" altLang="en-US" sz="2600" b="1" dirty="0">
                <a:solidFill>
                  <a:srgbClr val="FF0000"/>
                </a:solidFill>
                <a:latin typeface="黑体" panose="02010609060101010101" pitchFamily="49" charset="-122"/>
                <a:ea typeface="黑体" panose="02010609060101010101" pitchFamily="49" charset="-122"/>
              </a:rPr>
              <a:t>每级压气机所需的功相等</a:t>
            </a:r>
            <a:r>
              <a:rPr lang="zh-CN" altLang="en-US" sz="2600" b="1" dirty="0">
                <a:latin typeface="黑体" panose="02010609060101010101" pitchFamily="49" charset="-122"/>
                <a:ea typeface="黑体" panose="02010609060101010101" pitchFamily="49" charset="-122"/>
              </a:rPr>
              <a:t>，利于压气机曲轴的平衡</a:t>
            </a:r>
            <a:endParaRPr lang="zh-CN" altLang="en-US" sz="2600" b="1" dirty="0">
              <a:latin typeface="黑体" panose="02010609060101010101" pitchFamily="49" charset="-122"/>
              <a:ea typeface="黑体" panose="02010609060101010101" pitchFamily="49" charset="-122"/>
            </a:endParaRPr>
          </a:p>
          <a:p>
            <a:pPr>
              <a:spcBef>
                <a:spcPct val="50000"/>
              </a:spcBef>
              <a:buClr>
                <a:schemeClr val="tx1"/>
              </a:buClr>
              <a:buFont typeface="Wingdings" panose="05000000000000000000" pitchFamily="2" charset="2"/>
              <a:buAutoNum type="circleNumDbPlain" startAt="3"/>
            </a:pPr>
            <a:r>
              <a:rPr lang="zh-CN" altLang="en-US" sz="2600" b="1" dirty="0">
                <a:latin typeface="黑体" panose="02010609060101010101" pitchFamily="49" charset="-122"/>
                <a:ea typeface="黑体" panose="02010609060101010101" pitchFamily="49" charset="-122"/>
              </a:rPr>
              <a:t>每个气缸中气体压缩后所达到的</a:t>
            </a:r>
            <a:r>
              <a:rPr lang="zh-CN" altLang="en-US" sz="2600" b="1" dirty="0">
                <a:solidFill>
                  <a:srgbClr val="FF0000"/>
                </a:solidFill>
                <a:latin typeface="黑体" panose="02010609060101010101" pitchFamily="49" charset="-122"/>
                <a:ea typeface="黑体" panose="02010609060101010101" pitchFamily="49" charset="-122"/>
              </a:rPr>
              <a:t>最高温度相同</a:t>
            </a:r>
            <a:endParaRPr lang="zh-CN" altLang="en-US" sz="2600" b="1" dirty="0">
              <a:solidFill>
                <a:srgbClr val="FF0000"/>
              </a:solidFill>
              <a:latin typeface="黑体" panose="02010609060101010101" pitchFamily="49" charset="-122"/>
              <a:ea typeface="黑体" panose="02010609060101010101" pitchFamily="49" charset="-122"/>
            </a:endParaRPr>
          </a:p>
          <a:p>
            <a:pPr>
              <a:spcBef>
                <a:spcPct val="50000"/>
              </a:spcBef>
              <a:buClr>
                <a:schemeClr val="tx1"/>
              </a:buClr>
              <a:buFont typeface="Wingdings" panose="05000000000000000000" pitchFamily="2" charset="2"/>
              <a:buAutoNum type="circleNumDbPlain" startAt="3"/>
            </a:pPr>
            <a:r>
              <a:rPr lang="zh-CN" altLang="en-US" sz="2600" b="1" dirty="0">
                <a:solidFill>
                  <a:srgbClr val="FF0000"/>
                </a:solidFill>
                <a:latin typeface="黑体" panose="02010609060101010101" pitchFamily="49" charset="-122"/>
                <a:ea typeface="黑体" panose="02010609060101010101" pitchFamily="49" charset="-122"/>
              </a:rPr>
              <a:t>每级向外排出的热量相等</a:t>
            </a:r>
            <a:endParaRPr lang="zh-CN" altLang="en-US" sz="2600" b="1" dirty="0">
              <a:solidFill>
                <a:srgbClr val="FF0000"/>
              </a:solidFill>
              <a:latin typeface="黑体" panose="02010609060101010101" pitchFamily="49" charset="-122"/>
              <a:ea typeface="黑体" panose="02010609060101010101" pitchFamily="49" charset="-122"/>
            </a:endParaRPr>
          </a:p>
          <a:p>
            <a:pPr>
              <a:spcBef>
                <a:spcPct val="50000"/>
              </a:spcBef>
              <a:buClr>
                <a:schemeClr val="tx1"/>
              </a:buClr>
              <a:buFont typeface="Wingdings" panose="05000000000000000000" pitchFamily="2" charset="2"/>
              <a:buAutoNum type="circleNumDbPlain" startAt="5"/>
            </a:pPr>
            <a:r>
              <a:rPr lang="zh-CN" altLang="en-US" sz="2600" b="1" dirty="0">
                <a:latin typeface="黑体" panose="02010609060101010101" pitchFamily="49" charset="-122"/>
                <a:ea typeface="黑体" panose="02010609060101010101" pitchFamily="49" charset="-122"/>
              </a:rPr>
              <a:t>各级气缸</a:t>
            </a:r>
            <a:r>
              <a:rPr lang="zh-CN" altLang="en-US" sz="2600" b="1" dirty="0">
                <a:solidFill>
                  <a:srgbClr val="FF0000"/>
                </a:solidFill>
                <a:latin typeface="黑体" panose="02010609060101010101" pitchFamily="49" charset="-122"/>
                <a:ea typeface="黑体" panose="02010609060101010101" pitchFamily="49" charset="-122"/>
              </a:rPr>
              <a:t>容积按增压比递减</a:t>
            </a:r>
            <a:endParaRPr lang="zh-CN" altLang="en-US" sz="2600" b="1" dirty="0">
              <a:solidFill>
                <a:srgbClr val="FF0000"/>
              </a:solidFill>
              <a:latin typeface="黑体" panose="02010609060101010101" pitchFamily="49" charset="-122"/>
              <a:ea typeface="黑体" panose="02010609060101010101" pitchFamily="49" charset="-122"/>
            </a:endParaRPr>
          </a:p>
        </p:txBody>
      </p:sp>
      <p:sp>
        <p:nvSpPr>
          <p:cNvPr id="77827" name="矩形 81927"/>
          <p:cNvSpPr>
            <a:spLocks noChangeArrowheads="1"/>
          </p:cNvSpPr>
          <p:nvPr/>
        </p:nvSpPr>
        <p:spPr bwMode="auto">
          <a:xfrm>
            <a:off x="0" y="1890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95740" y="188913"/>
            <a:ext cx="4267570" cy="2847079"/>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4669" y="3179582"/>
            <a:ext cx="5389331" cy="33348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22881"/>
          <p:cNvSpPr>
            <a:spLocks noGrp="1" noChangeArrowheads="1"/>
          </p:cNvSpPr>
          <p:nvPr>
            <p:ph type="ctrTitle"/>
          </p:nvPr>
        </p:nvSpPr>
        <p:spPr>
          <a:xfrm>
            <a:off x="684213" y="2349500"/>
            <a:ext cx="7772400" cy="1470025"/>
          </a:xfrm>
        </p:spPr>
        <p:txBody>
          <a:bodyPr anchor="ctr"/>
          <a:lstStyle/>
          <a:p>
            <a:r>
              <a:rPr lang="en-US" altLang="zh-CN" sz="4400" b="1" dirty="0" smtClean="0">
                <a:latin typeface="黑体" panose="02010609060101010101" pitchFamily="49" charset="-122"/>
                <a:ea typeface="黑体" panose="02010609060101010101" pitchFamily="49" charset="-122"/>
              </a:rPr>
              <a:t>11</a:t>
            </a:r>
            <a:r>
              <a:rPr lang="zh-CN" altLang="en-US" sz="4400" b="1" dirty="0" smtClean="0">
                <a:latin typeface="黑体" panose="02010609060101010101" pitchFamily="49" charset="-122"/>
                <a:ea typeface="黑体" panose="02010609060101010101" pitchFamily="49" charset="-122"/>
              </a:rPr>
              <a:t>－</a:t>
            </a:r>
            <a:r>
              <a:rPr lang="en-US" altLang="zh-CN" sz="4400" b="1" dirty="0" smtClean="0">
                <a:latin typeface="黑体" panose="02010609060101010101" pitchFamily="49" charset="-122"/>
                <a:ea typeface="黑体" panose="02010609060101010101" pitchFamily="49" charset="-122"/>
              </a:rPr>
              <a:t>6</a:t>
            </a:r>
            <a:r>
              <a:rPr lang="zh-CN" altLang="en-US" sz="4400" b="1" dirty="0" smtClean="0">
                <a:latin typeface="黑体" panose="02010609060101010101" pitchFamily="49" charset="-122"/>
                <a:ea typeface="黑体" panose="02010609060101010101" pitchFamily="49" charset="-122"/>
              </a:rPr>
              <a:t>　压气机的实际过程和压气机的效率 </a:t>
            </a:r>
            <a:endParaRPr lang="zh-CN" altLang="en-US" sz="44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81921"/>
          <p:cNvSpPr txBox="1">
            <a:spLocks noChangeArrowheads="1"/>
          </p:cNvSpPr>
          <p:nvPr/>
        </p:nvSpPr>
        <p:spPr bwMode="auto">
          <a:xfrm>
            <a:off x="758612" y="974619"/>
            <a:ext cx="75438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Clr>
                <a:schemeClr val="folHlink"/>
              </a:buClr>
              <a:buFont typeface="Arial" panose="020B0604020202020204" pitchFamily="34" charset="0"/>
              <a:buChar char="•"/>
            </a:pPr>
            <a:r>
              <a:rPr lang="zh-CN" altLang="zh-CN" sz="3200" b="1" dirty="0" smtClean="0">
                <a:latin typeface="黑体" panose="02010609060101010101" pitchFamily="49" charset="-122"/>
                <a:ea typeface="黑体" panose="02010609060101010101" pitchFamily="49" charset="-122"/>
              </a:rPr>
              <a:t>以上</a:t>
            </a:r>
            <a:r>
              <a:rPr lang="zh-CN" altLang="zh-CN" sz="3200" b="1" dirty="0">
                <a:latin typeface="黑体" panose="02010609060101010101" pitchFamily="49" charset="-122"/>
                <a:ea typeface="黑体" panose="02010609060101010101" pitchFamily="49" charset="-122"/>
              </a:rPr>
              <a:t>关于压气机的</a:t>
            </a:r>
            <a:r>
              <a:rPr lang="zh-CN" altLang="zh-CN" sz="3200" b="1" dirty="0" smtClean="0">
                <a:latin typeface="黑体" panose="02010609060101010101" pitchFamily="49" charset="-122"/>
                <a:ea typeface="黑体" panose="02010609060101010101" pitchFamily="49" charset="-122"/>
              </a:rPr>
              <a:t>讨论均</a:t>
            </a:r>
            <a:r>
              <a:rPr lang="zh-CN" altLang="zh-CN" sz="3200" b="1" dirty="0">
                <a:latin typeface="黑体" panose="02010609060101010101" pitchFamily="49" charset="-122"/>
                <a:ea typeface="黑体" panose="02010609060101010101" pitchFamily="49" charset="-122"/>
              </a:rPr>
              <a:t>基于可逆过程，并没有考虑不可逆性对压气机性能的</a:t>
            </a:r>
            <a:r>
              <a:rPr lang="zh-CN" altLang="zh-CN" sz="3200" b="1" dirty="0" smtClean="0">
                <a:latin typeface="黑体" panose="02010609060101010101" pitchFamily="49" charset="-122"/>
                <a:ea typeface="黑体" panose="02010609060101010101" pitchFamily="49" charset="-122"/>
              </a:rPr>
              <a:t>影响</a:t>
            </a:r>
            <a:endParaRPr lang="en-US" altLang="zh-CN" sz="3200" b="1" dirty="0" smtClean="0">
              <a:latin typeface="黑体" panose="02010609060101010101" pitchFamily="49" charset="-122"/>
              <a:ea typeface="黑体" panose="02010609060101010101" pitchFamily="49" charset="-122"/>
            </a:endParaRPr>
          </a:p>
          <a:p>
            <a:pPr marL="457200" indent="-457200">
              <a:buClr>
                <a:schemeClr val="folHlink"/>
              </a:buClr>
              <a:buFont typeface="Arial" panose="020B0604020202020204" pitchFamily="34" charset="0"/>
              <a:buChar char="•"/>
            </a:pPr>
            <a:r>
              <a:rPr lang="zh-CN" altLang="zh-CN" sz="3200" b="1" dirty="0" smtClean="0">
                <a:latin typeface="黑体" panose="02010609060101010101" pitchFamily="49" charset="-122"/>
                <a:ea typeface="黑体" panose="02010609060101010101" pitchFamily="49" charset="-122"/>
              </a:rPr>
              <a:t>在</a:t>
            </a:r>
            <a:r>
              <a:rPr lang="zh-CN" altLang="zh-CN" sz="3200" b="1" dirty="0">
                <a:latin typeface="黑体" panose="02010609060101010101" pitchFamily="49" charset="-122"/>
                <a:ea typeface="黑体" panose="02010609060101010101" pitchFamily="49" charset="-122"/>
              </a:rPr>
              <a:t>实际工作中，压缩过程不可避免地存在着摩擦，从而导致机械能的</a:t>
            </a:r>
            <a:r>
              <a:rPr lang="zh-CN" altLang="zh-CN" sz="3200" b="1" dirty="0" smtClean="0">
                <a:latin typeface="黑体" panose="02010609060101010101" pitchFamily="49" charset="-122"/>
                <a:ea typeface="黑体" panose="02010609060101010101" pitchFamily="49" charset="-122"/>
              </a:rPr>
              <a:t>损耗</a:t>
            </a:r>
            <a:endParaRPr lang="en-US" altLang="zh-CN" sz="3200" b="1" dirty="0" smtClean="0">
              <a:latin typeface="黑体" panose="02010609060101010101" pitchFamily="49" charset="-122"/>
              <a:ea typeface="黑体" panose="02010609060101010101" pitchFamily="49" charset="-122"/>
            </a:endParaRPr>
          </a:p>
          <a:p>
            <a:pPr marL="457200" indent="-457200">
              <a:buClr>
                <a:schemeClr val="folHlink"/>
              </a:buClr>
              <a:buFont typeface="Arial" panose="020B0604020202020204" pitchFamily="34" charset="0"/>
              <a:buChar char="•"/>
            </a:pPr>
            <a:r>
              <a:rPr lang="zh-CN" altLang="zh-CN" sz="3200" b="1" dirty="0" smtClean="0">
                <a:latin typeface="黑体" panose="02010609060101010101" pitchFamily="49" charset="-122"/>
                <a:ea typeface="黑体" panose="02010609060101010101" pitchFamily="49" charset="-122"/>
              </a:rPr>
              <a:t>本</a:t>
            </a:r>
            <a:r>
              <a:rPr lang="zh-CN" altLang="zh-CN" sz="3200" b="1" dirty="0">
                <a:latin typeface="黑体" panose="02010609060101010101" pitchFamily="49" charset="-122"/>
                <a:ea typeface="黑体" panose="02010609060101010101" pitchFamily="49" charset="-122"/>
              </a:rPr>
              <a:t>节讨论压气机的实际过程并引出压气机效率的</a:t>
            </a:r>
            <a:r>
              <a:rPr lang="zh-CN" altLang="zh-CN" sz="3200" b="1" dirty="0" smtClean="0">
                <a:latin typeface="黑体" panose="02010609060101010101" pitchFamily="49" charset="-122"/>
                <a:ea typeface="黑体" panose="02010609060101010101" pitchFamily="49" charset="-122"/>
              </a:rPr>
              <a:t>定义</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文本框 123905"/>
          <p:cNvSpPr txBox="1">
            <a:spLocks noChangeArrowheads="1"/>
          </p:cNvSpPr>
          <p:nvPr/>
        </p:nvSpPr>
        <p:spPr bwMode="auto">
          <a:xfrm>
            <a:off x="673100" y="4247218"/>
            <a:ext cx="36576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不可逆</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绝热压缩</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1-2</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0898" name="矩形 123906"/>
          <p:cNvSpPr>
            <a:spLocks noChangeArrowheads="1"/>
          </p:cNvSpPr>
          <p:nvPr/>
        </p:nvSpPr>
        <p:spPr bwMode="auto">
          <a:xfrm>
            <a:off x="187183" y="2372708"/>
            <a:ext cx="50850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50000"/>
              </a:spcBef>
              <a:buClr>
                <a:schemeClr val="folHlink"/>
              </a:buCl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可逆</a:t>
            </a:r>
            <a:r>
              <a:rPr lang="zh-CN" altLang="en-US" sz="2800" b="1" dirty="0" smtClean="0">
                <a:latin typeface="黑体" panose="02010609060101010101" pitchFamily="49" charset="-122"/>
                <a:ea typeface="黑体" panose="02010609060101010101" pitchFamily="49" charset="-122"/>
              </a:rPr>
              <a:t>绝热（</a:t>
            </a:r>
            <a:r>
              <a:rPr lang="zh-CN" altLang="en-US" sz="2800" b="1" dirty="0">
                <a:latin typeface="黑体" panose="02010609060101010101" pitchFamily="49" charset="-122"/>
                <a:ea typeface="黑体" panose="02010609060101010101" pitchFamily="49" charset="-122"/>
              </a:rPr>
              <a:t>定熵</a:t>
            </a:r>
            <a:r>
              <a:rPr lang="zh-CN" altLang="en-US" sz="2800" b="1" dirty="0" smtClean="0">
                <a:latin typeface="黑体" panose="02010609060101010101" pitchFamily="49" charset="-122"/>
                <a:ea typeface="黑体" panose="02010609060101010101" pitchFamily="49" charset="-122"/>
              </a:rPr>
              <a:t>）压缩</a:t>
            </a:r>
            <a:r>
              <a:rPr lang="zh-CN" altLang="en-US" sz="2800" b="1" dirty="0">
                <a:latin typeface="黑体" panose="02010609060101010101" pitchFamily="49" charset="-122"/>
                <a:ea typeface="黑体" panose="02010609060101010101" pitchFamily="49" charset="-122"/>
              </a:rPr>
              <a:t>过程</a:t>
            </a:r>
            <a:r>
              <a:rPr lang="en-US" altLang="zh-CN" sz="2800" b="1" dirty="0">
                <a:latin typeface="Times New Roman" panose="02020603050405020304" pitchFamily="18" charset="0"/>
              </a:rPr>
              <a:t>1-2</a:t>
            </a:r>
            <a:r>
              <a:rPr lang="en-US" altLang="zh-CN" sz="2800" b="1" i="1" baseline="-25000" dirty="0">
                <a:latin typeface="Times New Roman" panose="02020603050405020304" pitchFamily="18" charset="0"/>
              </a:rPr>
              <a:t>s</a:t>
            </a:r>
            <a:endParaRPr lang="en-US" altLang="zh-CN" sz="2800" b="1" i="1" baseline="-25000" dirty="0">
              <a:latin typeface="Times New Roman" panose="02020603050405020304" pitchFamily="18" charset="0"/>
            </a:endParaRPr>
          </a:p>
        </p:txBody>
      </p:sp>
      <p:sp>
        <p:nvSpPr>
          <p:cNvPr id="80899" name="矩形 123907"/>
          <p:cNvSpPr>
            <a:spLocks noChangeArrowheads="1"/>
          </p:cNvSpPr>
          <p:nvPr/>
        </p:nvSpPr>
        <p:spPr bwMode="auto">
          <a:xfrm>
            <a:off x="381000" y="925196"/>
            <a:ext cx="85121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大部分叶轮式</a:t>
            </a:r>
            <a:r>
              <a:rPr lang="zh-CN" altLang="en-US" sz="2800" b="1" dirty="0" smtClean="0">
                <a:latin typeface="黑体" panose="02010609060101010101" pitchFamily="49" charset="-122"/>
                <a:ea typeface="黑体" panose="02010609060101010101" pitchFamily="49" charset="-122"/>
              </a:rPr>
              <a:t>压气机，流速高，气流来不及通过机壳向外散热，气体的压缩可视为绝热</a:t>
            </a:r>
            <a:endParaRPr lang="zh-CN" altLang="en-US" sz="2800" b="1" dirty="0">
              <a:latin typeface="黑体" panose="02010609060101010101" pitchFamily="49" charset="-122"/>
              <a:ea typeface="黑体" panose="02010609060101010101" pitchFamily="49" charset="-122"/>
            </a:endParaRPr>
          </a:p>
        </p:txBody>
      </p:sp>
      <p:graphicFrame>
        <p:nvGraphicFramePr>
          <p:cNvPr id="80900" name="对象 123908"/>
          <p:cNvGraphicFramePr/>
          <p:nvPr/>
        </p:nvGraphicFramePr>
        <p:xfrm>
          <a:off x="673100" y="2838450"/>
          <a:ext cx="4113213" cy="692150"/>
        </p:xfrm>
        <a:graphic>
          <a:graphicData uri="http://schemas.openxmlformats.org/presentationml/2006/ole">
            <mc:AlternateContent xmlns:mc="http://schemas.openxmlformats.org/markup-compatibility/2006">
              <mc:Choice xmlns:v="urn:schemas-microsoft-com:vml" Requires="v">
                <p:oleObj spid="_x0000_s21553" name="" r:id="rId1" imgW="1435100" imgH="241300" progId="Equation.DSMT4">
                  <p:embed/>
                </p:oleObj>
              </mc:Choice>
              <mc:Fallback>
                <p:oleObj name="" r:id="rId1" imgW="1435100" imgH="241300" progId="Equation.DSMT4">
                  <p:embed/>
                  <p:pic>
                    <p:nvPicPr>
                      <p:cNvPr id="0" name="对象 12390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 y="2838450"/>
                        <a:ext cx="41132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1" name="矩形 123909"/>
          <p:cNvSpPr>
            <a:spLocks noChangeArrowheads="1"/>
          </p:cNvSpPr>
          <p:nvPr/>
        </p:nvSpPr>
        <p:spPr bwMode="auto">
          <a:xfrm>
            <a:off x="187183" y="3664744"/>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folHlink"/>
              </a:buCl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实际压缩</a:t>
            </a:r>
            <a:r>
              <a:rPr lang="zh-CN" altLang="en-US" sz="2800" b="1" dirty="0" smtClean="0">
                <a:latin typeface="黑体" panose="02010609060101010101" pitchFamily="49" charset="-122"/>
                <a:ea typeface="黑体" panose="02010609060101010101" pitchFamily="49" charset="-122"/>
              </a:rPr>
              <a:t>过程：</a:t>
            </a:r>
            <a:endParaRPr lang="zh-CN" altLang="en-US" sz="2800" b="1" dirty="0">
              <a:latin typeface="黑体" panose="02010609060101010101" pitchFamily="49" charset="-122"/>
              <a:ea typeface="黑体" panose="02010609060101010101" pitchFamily="49" charset="-122"/>
            </a:endParaRPr>
          </a:p>
        </p:txBody>
      </p:sp>
      <p:graphicFrame>
        <p:nvGraphicFramePr>
          <p:cNvPr id="80902" name="对象 123910"/>
          <p:cNvGraphicFramePr/>
          <p:nvPr/>
        </p:nvGraphicFramePr>
        <p:xfrm>
          <a:off x="835025" y="4969996"/>
          <a:ext cx="3567113" cy="654050"/>
        </p:xfrm>
        <a:graphic>
          <a:graphicData uri="http://schemas.openxmlformats.org/presentationml/2006/ole">
            <mc:AlternateContent xmlns:mc="http://schemas.openxmlformats.org/markup-compatibility/2006">
              <mc:Choice xmlns:v="urn:schemas-microsoft-com:vml" Requires="v">
                <p:oleObj spid="_x0000_s21554" name="Equation" r:id="rId3" imgW="29870400" imgH="5486400" progId="Equation.DSMT4">
                  <p:embed/>
                </p:oleObj>
              </mc:Choice>
              <mc:Fallback>
                <p:oleObj name="Equation" r:id="rId3" imgW="29870400" imgH="5486400" progId="Equation.DSMT4">
                  <p:embed/>
                  <p:pic>
                    <p:nvPicPr>
                      <p:cNvPr id="0" name="对象 123910"/>
                      <p:cNvPicPr>
                        <a:picLocks noChangeArrowheads="1"/>
                      </p:cNvPicPr>
                      <p:nvPr/>
                    </p:nvPicPr>
                    <p:blipFill>
                      <a:blip r:embed="rId4"/>
                      <a:srcRect/>
                      <a:stretch>
                        <a:fillRect/>
                      </a:stretch>
                    </p:blipFill>
                    <p:spPr bwMode="auto">
                      <a:xfrm>
                        <a:off x="835025" y="4969996"/>
                        <a:ext cx="356711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3" name="对象 123911"/>
          <p:cNvGraphicFramePr/>
          <p:nvPr/>
        </p:nvGraphicFramePr>
        <p:xfrm>
          <a:off x="1820863" y="5826125"/>
          <a:ext cx="3130550" cy="692150"/>
        </p:xfrm>
        <a:graphic>
          <a:graphicData uri="http://schemas.openxmlformats.org/presentationml/2006/ole">
            <mc:AlternateContent xmlns:mc="http://schemas.openxmlformats.org/markup-compatibility/2006">
              <mc:Choice xmlns:v="urn:schemas-microsoft-com:vml" Requires="v">
                <p:oleObj spid="_x0000_s21555" name="" r:id="rId5" imgW="1091565" imgH="241300" progId="Equation.DSMT4">
                  <p:embed/>
                </p:oleObj>
              </mc:Choice>
              <mc:Fallback>
                <p:oleObj name="" r:id="rId5" imgW="1091565" imgH="241300" progId="Equation.DSMT4">
                  <p:embed/>
                  <p:pic>
                    <p:nvPicPr>
                      <p:cNvPr id="0" name="对象 1239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0863" y="5826125"/>
                        <a:ext cx="31305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4" name="右箭头 123912"/>
          <p:cNvSpPr>
            <a:spLocks noChangeArrowheads="1"/>
          </p:cNvSpPr>
          <p:nvPr/>
        </p:nvSpPr>
        <p:spPr bwMode="auto">
          <a:xfrm>
            <a:off x="533400" y="6019800"/>
            <a:ext cx="762000" cy="304800"/>
          </a:xfrm>
          <a:prstGeom prst="rightArrow">
            <a:avLst>
              <a:gd name="adj1" fmla="val 50000"/>
              <a:gd name="adj2" fmla="val 62500"/>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05" name="标题 124935"/>
          <p:cNvSpPr>
            <a:spLocks noGrp="1" noChangeArrowheads="1"/>
          </p:cNvSpPr>
          <p:nvPr/>
        </p:nvSpPr>
        <p:spPr bwMode="auto">
          <a:xfrm>
            <a:off x="293687" y="-96754"/>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dirty="0">
                <a:latin typeface="黑体" panose="02010609060101010101" pitchFamily="49" charset="-122"/>
                <a:ea typeface="黑体" panose="02010609060101010101" pitchFamily="49" charset="-122"/>
              </a:rPr>
              <a:t>一、压气机</a:t>
            </a:r>
            <a:r>
              <a:rPr lang="zh-CN" altLang="en-US" sz="3600" b="1" dirty="0" smtClean="0">
                <a:latin typeface="黑体" panose="02010609060101010101" pitchFamily="49" charset="-122"/>
                <a:ea typeface="黑体" panose="02010609060101010101" pitchFamily="49" charset="-122"/>
              </a:rPr>
              <a:t>的</a:t>
            </a:r>
            <a:r>
              <a:rPr lang="zh-CN" altLang="en-US" sz="3600" b="1" dirty="0">
                <a:latin typeface="黑体" panose="02010609060101010101" pitchFamily="49" charset="-122"/>
                <a:ea typeface="黑体" panose="02010609060101010101" pitchFamily="49" charset="-122"/>
              </a:rPr>
              <a:t>绝热</a:t>
            </a:r>
            <a:r>
              <a:rPr lang="zh-CN" altLang="en-US" sz="3600" b="1" dirty="0" smtClean="0">
                <a:latin typeface="黑体" panose="02010609060101010101" pitchFamily="49" charset="-122"/>
                <a:ea typeface="黑体" panose="02010609060101010101" pitchFamily="49" charset="-122"/>
              </a:rPr>
              <a:t>效率</a:t>
            </a:r>
            <a:endParaRPr lang="zh-CN" altLang="en-US" sz="36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04775" y="2068196"/>
            <a:ext cx="3688400" cy="3767655"/>
          </a:xfrm>
          <a:prstGeom prst="rect">
            <a:avLst/>
          </a:prstGeom>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124929"/>
          <p:cNvSpPr>
            <a:spLocks noChangeArrowheads="1"/>
          </p:cNvSpPr>
          <p:nvPr/>
        </p:nvSpPr>
        <p:spPr bwMode="auto">
          <a:xfrm>
            <a:off x="569913" y="647700"/>
            <a:ext cx="34496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2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压气机的绝热效率</a:t>
            </a:r>
            <a:endParaRPr lang="zh-CN" altLang="en-US" sz="3200" b="1" dirty="0">
              <a:latin typeface="黑体" panose="02010609060101010101" pitchFamily="49" charset="-122"/>
              <a:ea typeface="黑体" panose="02010609060101010101" pitchFamily="49" charset="-122"/>
            </a:endParaRPr>
          </a:p>
        </p:txBody>
      </p:sp>
      <p:graphicFrame>
        <p:nvGraphicFramePr>
          <p:cNvPr id="81922" name="对象 124930"/>
          <p:cNvGraphicFramePr/>
          <p:nvPr/>
        </p:nvGraphicFramePr>
        <p:xfrm>
          <a:off x="733425" y="2433638"/>
          <a:ext cx="3675063" cy="1309687"/>
        </p:xfrm>
        <a:graphic>
          <a:graphicData uri="http://schemas.openxmlformats.org/presentationml/2006/ole">
            <mc:AlternateContent xmlns:mc="http://schemas.openxmlformats.org/markup-compatibility/2006">
              <mc:Choice xmlns:v="urn:schemas-microsoft-com:vml" Requires="v">
                <p:oleObj spid="_x0000_s22551" name="" r:id="rId1" imgW="1282700" imgH="457200" progId="Equation.DSMT4">
                  <p:embed/>
                </p:oleObj>
              </mc:Choice>
              <mc:Fallback>
                <p:oleObj name="" r:id="rId1" imgW="1282700" imgH="457200" progId="Equation.DSMT4">
                  <p:embed/>
                  <p:pic>
                    <p:nvPicPr>
                      <p:cNvPr id="0" name="对象 12493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5" y="2433638"/>
                        <a:ext cx="3675063"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6113" y="1140981"/>
            <a:ext cx="3688400" cy="3767655"/>
          </a:xfrm>
          <a:prstGeom prst="rect">
            <a:avLst/>
          </a:prstGeom>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矩形 125956"/>
          <p:cNvSpPr>
            <a:spLocks noChangeArrowheads="1"/>
          </p:cNvSpPr>
          <p:nvPr/>
        </p:nvSpPr>
        <p:spPr bwMode="auto">
          <a:xfrm>
            <a:off x="0" y="2147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7" name="直接连接符 125958"/>
          <p:cNvSpPr>
            <a:spLocks noChangeShapeType="1"/>
          </p:cNvSpPr>
          <p:nvPr/>
        </p:nvSpPr>
        <p:spPr bwMode="auto">
          <a:xfrm>
            <a:off x="4572000" y="333375"/>
            <a:ext cx="0" cy="6119813"/>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948" name="矩形 125960"/>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49" name="对象 125959"/>
          <p:cNvGraphicFramePr/>
          <p:nvPr/>
        </p:nvGraphicFramePr>
        <p:xfrm>
          <a:off x="4873625" y="1441450"/>
          <a:ext cx="3787775" cy="1149350"/>
        </p:xfrm>
        <a:graphic>
          <a:graphicData uri="http://schemas.openxmlformats.org/presentationml/2006/ole">
            <mc:AlternateContent xmlns:mc="http://schemas.openxmlformats.org/markup-compatibility/2006">
              <mc:Choice xmlns:v="urn:schemas-microsoft-com:vml" Requires="v">
                <p:oleObj spid="_x0000_s23601" name="" r:id="rId1" imgW="1727200" imgH="520700" progId="Equation.DSMT4">
                  <p:embed/>
                </p:oleObj>
              </mc:Choice>
              <mc:Fallback>
                <p:oleObj name="" r:id="rId1" imgW="1727200" imgH="520700" progId="Equation.DSMT4">
                  <p:embed/>
                  <p:pic>
                    <p:nvPicPr>
                      <p:cNvPr id="0" name="对象 12595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25" y="1441450"/>
                        <a:ext cx="3787775"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0" name="文本框 125961"/>
          <p:cNvSpPr txBox="1">
            <a:spLocks noChangeArrowheads="1"/>
          </p:cNvSpPr>
          <p:nvPr/>
        </p:nvSpPr>
        <p:spPr bwMode="auto">
          <a:xfrm>
            <a:off x="4787900" y="476250"/>
            <a:ext cx="46085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理想气体，定比热容</a:t>
            </a:r>
            <a:endParaRPr lang="zh-CN" altLang="en-US" sz="3200" b="1" dirty="0">
              <a:latin typeface="黑体" panose="02010609060101010101" pitchFamily="49" charset="-122"/>
              <a:ea typeface="黑体" panose="02010609060101010101" pitchFamily="49" charset="-122"/>
            </a:endParaRPr>
          </a:p>
        </p:txBody>
      </p:sp>
      <p:sp>
        <p:nvSpPr>
          <p:cNvPr id="82951" name="矩形 125962"/>
          <p:cNvSpPr>
            <a:spLocks noChangeArrowheads="1"/>
          </p:cNvSpPr>
          <p:nvPr/>
        </p:nvSpPr>
        <p:spPr bwMode="auto">
          <a:xfrm>
            <a:off x="4859338" y="2700527"/>
            <a:ext cx="40322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可利用上式求得不可逆绝热压缩的终态温度 </a:t>
            </a:r>
            <a:endParaRPr lang="zh-CN" altLang="en-US" sz="3200" b="1" dirty="0">
              <a:latin typeface="黑体" panose="02010609060101010101" pitchFamily="49" charset="-122"/>
              <a:ea typeface="黑体" panose="02010609060101010101" pitchFamily="49" charset="-122"/>
            </a:endParaRPr>
          </a:p>
        </p:txBody>
      </p:sp>
      <p:sp>
        <p:nvSpPr>
          <p:cNvPr id="82952" name="矩形 125964"/>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53" name="对象 125963"/>
          <p:cNvGraphicFramePr/>
          <p:nvPr/>
        </p:nvGraphicFramePr>
        <p:xfrm>
          <a:off x="5218113" y="4546600"/>
          <a:ext cx="2740025" cy="1271588"/>
        </p:xfrm>
        <a:graphic>
          <a:graphicData uri="http://schemas.openxmlformats.org/presentationml/2006/ole">
            <mc:AlternateContent xmlns:mc="http://schemas.openxmlformats.org/markup-compatibility/2006">
              <mc:Choice xmlns:v="urn:schemas-microsoft-com:vml" Requires="v">
                <p:oleObj spid="_x0000_s23602" name="" r:id="rId3" imgW="1016000" imgH="469900" progId="Equation.DSMT4">
                  <p:embed/>
                </p:oleObj>
              </mc:Choice>
              <mc:Fallback>
                <p:oleObj name="" r:id="rId3" imgW="1016000" imgH="469900" progId="Equation.DSMT4">
                  <p:embed/>
                  <p:pic>
                    <p:nvPicPr>
                      <p:cNvPr id="0" name="对象 12596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8113" y="4546600"/>
                        <a:ext cx="2740025"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954" name="对象 124930"/>
          <p:cNvGraphicFramePr/>
          <p:nvPr/>
        </p:nvGraphicFramePr>
        <p:xfrm>
          <a:off x="577850" y="4718050"/>
          <a:ext cx="3675063" cy="1309688"/>
        </p:xfrm>
        <a:graphic>
          <a:graphicData uri="http://schemas.openxmlformats.org/presentationml/2006/ole">
            <mc:AlternateContent xmlns:mc="http://schemas.openxmlformats.org/markup-compatibility/2006">
              <mc:Choice xmlns:v="urn:schemas-microsoft-com:vml" Requires="v">
                <p:oleObj spid="_x0000_s23603" name="" r:id="rId5" imgW="1282700" imgH="457200" progId="Equation.DSMT4">
                  <p:embed/>
                </p:oleObj>
              </mc:Choice>
              <mc:Fallback>
                <p:oleObj name="" r:id="rId5" imgW="1282700" imgH="457200" progId="Equation.DSMT4">
                  <p:embed/>
                  <p:pic>
                    <p:nvPicPr>
                      <p:cNvPr id="0" name="对象 1249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850" y="4718050"/>
                        <a:ext cx="3675063"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8656" y="608243"/>
            <a:ext cx="4060288" cy="39383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24930"/>
          <p:cNvGraphicFramePr/>
          <p:nvPr/>
        </p:nvGraphicFramePr>
        <p:xfrm>
          <a:off x="2244090" y="803064"/>
          <a:ext cx="3675063" cy="1309688"/>
        </p:xfrm>
        <a:graphic>
          <a:graphicData uri="http://schemas.openxmlformats.org/presentationml/2006/ole">
            <mc:AlternateContent xmlns:mc="http://schemas.openxmlformats.org/markup-compatibility/2006">
              <mc:Choice xmlns:v="urn:schemas-microsoft-com:vml" Requires="v">
                <p:oleObj spid="_x0000_s24591" name="" r:id="rId1" imgW="1282700" imgH="457200" progId="Equation.DSMT4">
                  <p:embed/>
                </p:oleObj>
              </mc:Choice>
              <mc:Fallback>
                <p:oleObj name="" r:id="rId1" imgW="1282700" imgH="457200" progId="Equation.DSMT4">
                  <p:embed/>
                  <p:pic>
                    <p:nvPicPr>
                      <p:cNvPr id="0" name="对象 12493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4090" y="803064"/>
                        <a:ext cx="3675063"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660399" y="2849156"/>
            <a:ext cx="7955281" cy="2062103"/>
          </a:xfrm>
          <a:prstGeom prst="rect">
            <a:avLst/>
          </a:prstGeom>
        </p:spPr>
        <p:txBody>
          <a:bodyPr wrap="square">
            <a:spAutoFit/>
          </a:bodyPr>
          <a:lstStyle/>
          <a:p>
            <a:r>
              <a:rPr lang="zh-CN" altLang="zh-CN" sz="3200" b="1" kern="100" dirty="0">
                <a:latin typeface="黑体" panose="02010609060101010101" pitchFamily="49" charset="-122"/>
                <a:ea typeface="黑体" panose="02010609060101010101" pitchFamily="49" charset="-122"/>
                <a:cs typeface="Times New Roman" panose="02020603050405020304" pitchFamily="18" charset="0"/>
              </a:rPr>
              <a:t>压气机的绝热效率反映了压气机实际绝热压缩过程与可逆绝热压缩过程的接近程度，压气机内的过程越接近定熵过程，其绝热效率就越高。</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文本框 82946"/>
          <p:cNvSpPr txBox="1">
            <a:spLocks noChangeArrowheads="1"/>
          </p:cNvSpPr>
          <p:nvPr/>
        </p:nvSpPr>
        <p:spPr bwMode="auto">
          <a:xfrm>
            <a:off x="309148" y="329165"/>
            <a:ext cx="53194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zh-CN" altLang="en-US" sz="3600" b="1" dirty="0" smtClean="0">
                <a:latin typeface="黑体" panose="02010609060101010101" pitchFamily="49" charset="-122"/>
                <a:ea typeface="黑体" panose="02010609060101010101" pitchFamily="49" charset="-122"/>
              </a:rPr>
              <a:t>二、</a:t>
            </a:r>
            <a:r>
              <a:rPr lang="zh-CN" altLang="en-US" sz="3600" b="1" dirty="0">
                <a:latin typeface="黑体" panose="02010609060101010101" pitchFamily="49" charset="-122"/>
                <a:ea typeface="黑体" panose="02010609060101010101" pitchFamily="49" charset="-122"/>
              </a:rPr>
              <a:t>压气机的定温效率</a:t>
            </a:r>
            <a:endParaRPr lang="zh-CN" altLang="en-US" sz="3600" b="1" dirty="0">
              <a:latin typeface="黑体" panose="02010609060101010101" pitchFamily="49" charset="-122"/>
              <a:ea typeface="黑体" panose="02010609060101010101" pitchFamily="49" charset="-122"/>
            </a:endParaRPr>
          </a:p>
        </p:txBody>
      </p:sp>
      <p:sp>
        <p:nvSpPr>
          <p:cNvPr id="83970" name="文本框 82947"/>
          <p:cNvSpPr txBox="1">
            <a:spLocks noChangeArrowheads="1"/>
          </p:cNvSpPr>
          <p:nvPr/>
        </p:nvSpPr>
        <p:spPr bwMode="auto">
          <a:xfrm>
            <a:off x="395288" y="1588413"/>
            <a:ext cx="45847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spcBef>
                <a:spcPct val="50000"/>
              </a:spcBef>
              <a:buClr>
                <a:schemeClr val="folHlink"/>
              </a:buClr>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活塞</a:t>
            </a:r>
            <a:r>
              <a:rPr lang="zh-CN" altLang="en-US" sz="2800" b="1" dirty="0">
                <a:latin typeface="黑体" panose="02010609060101010101" pitchFamily="49" charset="-122"/>
                <a:ea typeface="黑体" panose="02010609060101010101" pitchFamily="49" charset="-122"/>
              </a:rPr>
              <a:t>式压气机无论是单级或多级压缩都应尽可能采用冷却措施，</a:t>
            </a:r>
            <a:r>
              <a:rPr lang="zh-CN" altLang="en-US" sz="2800" b="1" dirty="0">
                <a:solidFill>
                  <a:srgbClr val="FF0000"/>
                </a:solidFill>
                <a:latin typeface="黑体" panose="02010609060101010101" pitchFamily="49" charset="-122"/>
                <a:ea typeface="黑体" panose="02010609060101010101" pitchFamily="49" charset="-122"/>
              </a:rPr>
              <a:t>力求接近定温</a:t>
            </a:r>
            <a:r>
              <a:rPr lang="zh-CN" altLang="en-US" sz="2800" b="1" dirty="0" smtClean="0">
                <a:solidFill>
                  <a:srgbClr val="FF0000"/>
                </a:solidFill>
                <a:latin typeface="黑体" panose="02010609060101010101" pitchFamily="49" charset="-122"/>
                <a:ea typeface="黑体" panose="02010609060101010101" pitchFamily="49" charset="-122"/>
              </a:rPr>
              <a:t>过程</a:t>
            </a:r>
            <a:endParaRPr lang="en-US" altLang="zh-CN" sz="2800" b="1" dirty="0" smtClean="0">
              <a:solidFill>
                <a:srgbClr val="FF0000"/>
              </a:solidFill>
              <a:latin typeface="黑体" panose="02010609060101010101" pitchFamily="49" charset="-122"/>
              <a:ea typeface="黑体" panose="02010609060101010101" pitchFamily="49" charset="-122"/>
            </a:endParaRPr>
          </a:p>
          <a:p>
            <a:pPr marL="457200" indent="-457200">
              <a:spcBef>
                <a:spcPct val="50000"/>
              </a:spcBef>
              <a:buClr>
                <a:schemeClr val="folHlink"/>
              </a:buClr>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工程</a:t>
            </a:r>
            <a:r>
              <a:rPr lang="zh-CN" altLang="en-US" sz="2800" b="1" dirty="0">
                <a:latin typeface="黑体" panose="02010609060101010101" pitchFamily="49" charset="-122"/>
                <a:ea typeface="黑体" panose="02010609060101010101" pitchFamily="49" charset="-122"/>
              </a:rPr>
              <a:t>上采用</a:t>
            </a:r>
            <a:r>
              <a:rPr lang="zh-CN" altLang="en-US" sz="2800" b="1" dirty="0">
                <a:solidFill>
                  <a:srgbClr val="FF0000"/>
                </a:solidFill>
                <a:latin typeface="黑体" panose="02010609060101010101" pitchFamily="49" charset="-122"/>
                <a:ea typeface="黑体" panose="02010609060101010101" pitchFamily="49" charset="-122"/>
              </a:rPr>
              <a:t>压气机的定温效率</a:t>
            </a:r>
            <a:r>
              <a:rPr lang="zh-CN" altLang="en-US" sz="2800" b="1" dirty="0">
                <a:latin typeface="黑体" panose="02010609060101010101" pitchFamily="49" charset="-122"/>
                <a:ea typeface="黑体" panose="02010609060101010101" pitchFamily="49" charset="-122"/>
              </a:rPr>
              <a:t>作为活塞式压气机性能优劣的指标：</a:t>
            </a:r>
            <a:endParaRPr lang="zh-CN" altLang="en-US" sz="2800" b="1" dirty="0">
              <a:latin typeface="黑体" panose="02010609060101010101" pitchFamily="49" charset="-122"/>
              <a:ea typeface="黑体" panose="02010609060101010101" pitchFamily="49" charset="-122"/>
            </a:endParaRPr>
          </a:p>
        </p:txBody>
      </p:sp>
      <p:pic>
        <p:nvPicPr>
          <p:cNvPr id="83971" name="图片 8294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19700" y="1052513"/>
            <a:ext cx="3708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矩形 82950"/>
          <p:cNvSpPr>
            <a:spLocks noChangeArrowheads="1"/>
          </p:cNvSpPr>
          <p:nvPr/>
        </p:nvSpPr>
        <p:spPr bwMode="auto">
          <a:xfrm>
            <a:off x="3669748" y="5237899"/>
            <a:ext cx="4281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dirty="0"/>
              <a:t>——</a:t>
            </a:r>
            <a:r>
              <a:rPr lang="zh-CN" altLang="en-US" sz="2400" dirty="0">
                <a:latin typeface="黑体" panose="02010609060101010101" pitchFamily="49" charset="-122"/>
                <a:ea typeface="黑体" panose="02010609060101010101" pitchFamily="49" charset="-122"/>
              </a:rPr>
              <a:t>可逆定温压缩时的耗功量 </a:t>
            </a:r>
            <a:endParaRPr lang="zh-CN" altLang="en-US" sz="2400" dirty="0">
              <a:latin typeface="黑体" panose="02010609060101010101" pitchFamily="49" charset="-122"/>
              <a:ea typeface="黑体" panose="02010609060101010101" pitchFamily="49" charset="-122"/>
            </a:endParaRPr>
          </a:p>
        </p:txBody>
      </p:sp>
      <p:sp>
        <p:nvSpPr>
          <p:cNvPr id="83973" name="矩形 82951"/>
          <p:cNvSpPr>
            <a:spLocks noChangeArrowheads="1"/>
          </p:cNvSpPr>
          <p:nvPr/>
        </p:nvSpPr>
        <p:spPr bwMode="auto">
          <a:xfrm>
            <a:off x="3616740" y="5823479"/>
            <a:ext cx="455124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dirty="0"/>
              <a:t>——</a:t>
            </a:r>
            <a:r>
              <a:rPr lang="zh-CN" altLang="en-US" sz="2400" dirty="0">
                <a:latin typeface="黑体" panose="02010609060101010101" pitchFamily="49" charset="-122"/>
                <a:ea typeface="黑体" panose="02010609060101010101" pitchFamily="49" charset="-122"/>
              </a:rPr>
              <a:t>实际非定温压缩时的耗功量</a:t>
            </a:r>
            <a:r>
              <a:rPr lang="zh-CN" altLang="en-US" dirty="0">
                <a:latin typeface="黑体" panose="02010609060101010101" pitchFamily="49" charset="-122"/>
                <a:ea typeface="黑体" panose="02010609060101010101" pitchFamily="49" charset="-122"/>
              </a:rPr>
              <a:t> </a:t>
            </a:r>
            <a:endParaRPr lang="zh-CN" altLang="en-US" dirty="0">
              <a:latin typeface="黑体" panose="02010609060101010101" pitchFamily="49" charset="-122"/>
              <a:ea typeface="黑体" panose="02010609060101010101" pitchFamily="49" charset="-122"/>
            </a:endParaRPr>
          </a:p>
        </p:txBody>
      </p:sp>
      <p:graphicFrame>
        <p:nvGraphicFramePr>
          <p:cNvPr id="83974" name="对象 1"/>
          <p:cNvGraphicFramePr>
            <a:graphicFrameLocks noChangeAspect="1"/>
          </p:cNvGraphicFramePr>
          <p:nvPr/>
        </p:nvGraphicFramePr>
        <p:xfrm>
          <a:off x="1406802" y="5059363"/>
          <a:ext cx="2130425" cy="1276350"/>
        </p:xfrm>
        <a:graphic>
          <a:graphicData uri="http://schemas.openxmlformats.org/presentationml/2006/ole">
            <mc:AlternateContent xmlns:mc="http://schemas.openxmlformats.org/markup-compatibility/2006">
              <mc:Choice xmlns:v="urn:schemas-microsoft-com:vml" Requires="v">
                <p:oleObj spid="_x0000_s25615" name="" r:id="rId2" imgW="723900" imgH="444500" progId="Equation.DSMT4">
                  <p:embed/>
                </p:oleObj>
              </mc:Choice>
              <mc:Fallback>
                <p:oleObj name="" r:id="rId2" imgW="723900" imgH="444500" progId="Equation.DSMT4">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802" y="5059363"/>
                        <a:ext cx="213042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占位符 126978"/>
          <p:cNvSpPr>
            <a:spLocks noGrp="1" noChangeArrowheads="1"/>
          </p:cNvSpPr>
          <p:nvPr>
            <p:ph idx="1"/>
          </p:nvPr>
        </p:nvSpPr>
        <p:spPr>
          <a:xfrm>
            <a:off x="457200" y="1412875"/>
            <a:ext cx="8229600" cy="4525963"/>
          </a:xfrm>
        </p:spPr>
        <p:txBody>
          <a:bodyPr>
            <a:normAutofit/>
          </a:bodyPr>
          <a:lstStyle/>
          <a:p>
            <a:r>
              <a:rPr lang="zh-CN" altLang="en-US" sz="2800" b="1" dirty="0" smtClean="0">
                <a:latin typeface="黑体" panose="02010609060101010101" pitchFamily="49" charset="-122"/>
                <a:ea typeface="黑体" panose="02010609060101010101" pitchFamily="49" charset="-122"/>
              </a:rPr>
              <a:t>压气机的效率本质上反映的是实际压缩过程与理想压缩过程的比值，这里的理想过程起到“标杆” 的作用，实际过程越接近这个“标杆”，效率就越大</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对于不同特点的压缩过程，</a:t>
            </a:r>
            <a:r>
              <a:rPr lang="zh-CN" altLang="en-US" sz="2800" b="1" dirty="0" smtClean="0">
                <a:solidFill>
                  <a:srgbClr val="FF0000"/>
                </a:solidFill>
                <a:latin typeface="黑体" panose="02010609060101010101" pitchFamily="49" charset="-122"/>
                <a:ea typeface="黑体" panose="02010609060101010101" pitchFamily="49" charset="-122"/>
              </a:rPr>
              <a:t>“标杆”不同，效率的具体定义也不同</a:t>
            </a:r>
            <a:r>
              <a:rPr lang="zh-CN" altLang="en-US" sz="2800" b="1" dirty="0" smtClean="0">
                <a:latin typeface="黑体" panose="02010609060101010101" pitchFamily="49" charset="-122"/>
                <a:ea typeface="黑体" panose="02010609060101010101" pitchFamily="49" charset="-122"/>
              </a:rPr>
              <a:t>，所以我们以上讲了两个效率</a:t>
            </a:r>
            <a:endParaRPr lang="zh-CN" altLang="en-US" sz="2800"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文本占位符 128002"/>
          <p:cNvSpPr>
            <a:spLocks noGrp="1" noChangeArrowheads="1"/>
          </p:cNvSpPr>
          <p:nvPr>
            <p:ph idx="1"/>
          </p:nvPr>
        </p:nvSpPr>
        <p:spPr>
          <a:xfrm>
            <a:off x="457200" y="301625"/>
            <a:ext cx="8229600" cy="4525963"/>
          </a:xfrm>
        </p:spPr>
        <p:txBody>
          <a:bodyPr>
            <a:normAutofit/>
          </a:bodyPr>
          <a:lstStyle/>
          <a:p>
            <a:pPr>
              <a:lnSpc>
                <a:spcPct val="100000"/>
              </a:lnSpc>
            </a:pPr>
            <a:r>
              <a:rPr lang="zh-CN" altLang="en-US" sz="2800" b="1" dirty="0" smtClean="0">
                <a:ea typeface="黑体" panose="02010609060101010101" pitchFamily="49" charset="-122"/>
              </a:rPr>
              <a:t>对于大部分叶轮式压气机而言，由于气流速度相当高，气流流经压气机时来不及通过机壳向外散热，此时气体的压缩过程可看作是绝热的</a:t>
            </a:r>
            <a:endParaRPr lang="zh-CN" altLang="en-US"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人们常将</a:t>
            </a:r>
            <a:r>
              <a:rPr lang="zh-CN" altLang="en-US" sz="2800" b="1" dirty="0" smtClean="0">
                <a:solidFill>
                  <a:srgbClr val="FF0000"/>
                </a:solidFill>
                <a:ea typeface="黑体" panose="02010609060101010101" pitchFamily="49" charset="-122"/>
              </a:rPr>
              <a:t>可逆绝热</a:t>
            </a:r>
            <a:r>
              <a:rPr lang="zh-CN" altLang="en-US" sz="2800" b="1" dirty="0" smtClean="0">
                <a:ea typeface="黑体" panose="02010609060101010101" pitchFamily="49" charset="-122"/>
              </a:rPr>
              <a:t>（即定熵）压缩过程作为叶轮式压气机的“标杆”，定义了</a:t>
            </a:r>
            <a:r>
              <a:rPr lang="zh-CN" altLang="en-US" sz="2800" b="1" dirty="0" smtClean="0">
                <a:solidFill>
                  <a:srgbClr val="0000FF"/>
                </a:solidFill>
                <a:ea typeface="黑体" panose="02010609060101010101" pitchFamily="49" charset="-122"/>
              </a:rPr>
              <a:t>压气机的绝热效率</a:t>
            </a:r>
            <a:endParaRPr lang="zh-CN" altLang="en-US" sz="2800" b="1" dirty="0" smtClean="0">
              <a:solidFill>
                <a:srgbClr val="0000FF"/>
              </a:solidFill>
              <a:ea typeface="黑体" panose="02010609060101010101" pitchFamily="49" charset="-122"/>
            </a:endParaRPr>
          </a:p>
        </p:txBody>
      </p:sp>
      <p:pic>
        <p:nvPicPr>
          <p:cNvPr id="86018"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14978" y="2961930"/>
            <a:ext cx="4217987"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文本占位符 129026"/>
          <p:cNvSpPr>
            <a:spLocks noGrp="1" noChangeArrowheads="1"/>
          </p:cNvSpPr>
          <p:nvPr>
            <p:ph idx="1"/>
          </p:nvPr>
        </p:nvSpPr>
        <p:spPr>
          <a:xfrm>
            <a:off x="410818" y="684420"/>
            <a:ext cx="8229600" cy="3600450"/>
          </a:xfrm>
        </p:spPr>
        <p:txBody>
          <a:bodyPr>
            <a:normAutofit/>
          </a:bodyPr>
          <a:lstStyle/>
          <a:p>
            <a:r>
              <a:rPr lang="zh-CN" altLang="en-US" sz="2800" b="1" dirty="0" smtClean="0">
                <a:latin typeface="黑体" panose="02010609060101010101" pitchFamily="49" charset="-122"/>
                <a:ea typeface="黑体" panose="02010609060101010101" pitchFamily="49" charset="-122"/>
              </a:rPr>
              <a:t>对于活塞式压气机，为减少耗功量并降低气体的温升，无论是单级还是多级压缩，大多采用冷却措施，力求使压缩过程接近定温</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此时压缩过程的“标杆”变成了</a:t>
            </a:r>
            <a:r>
              <a:rPr lang="zh-CN" altLang="en-US" sz="2800" b="1" dirty="0" smtClean="0">
                <a:solidFill>
                  <a:srgbClr val="FF0000"/>
                </a:solidFill>
                <a:latin typeface="黑体" panose="02010609060101010101" pitchFamily="49" charset="-122"/>
                <a:ea typeface="黑体" panose="02010609060101010101" pitchFamily="49" charset="-122"/>
              </a:rPr>
              <a:t>可逆定温</a:t>
            </a:r>
            <a:r>
              <a:rPr lang="zh-CN" altLang="en-US" sz="2800" b="1" dirty="0" smtClean="0">
                <a:latin typeface="黑体" panose="02010609060101010101" pitchFamily="49" charset="-122"/>
                <a:ea typeface="黑体" panose="02010609060101010101" pitchFamily="49" charset="-122"/>
              </a:rPr>
              <a:t>过程。定义</a:t>
            </a:r>
            <a:r>
              <a:rPr lang="zh-CN" altLang="en-US" sz="2800" b="1" dirty="0" smtClean="0">
                <a:solidFill>
                  <a:srgbClr val="0000FF"/>
                </a:solidFill>
                <a:latin typeface="黑体" panose="02010609060101010101" pitchFamily="49" charset="-122"/>
                <a:ea typeface="黑体" panose="02010609060101010101" pitchFamily="49" charset="-122"/>
              </a:rPr>
              <a:t>压气机的定温效率</a:t>
            </a:r>
            <a:r>
              <a:rPr lang="zh-CN" altLang="en-US" sz="2800" b="1" dirty="0" smtClean="0">
                <a:latin typeface="黑体" panose="02010609060101010101" pitchFamily="49" charset="-122"/>
                <a:ea typeface="黑体" panose="02010609060101010101" pitchFamily="49" charset="-122"/>
              </a:rPr>
              <a:t>作为衡量压气机性能优劣的指标 </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TIMING" val="|3.6|48.7|10"/>
</p:tagLst>
</file>

<file path=ppt/tags/tag3.xml><?xml version="1.0" encoding="utf-8"?>
<p:tagLst xmlns:p="http://schemas.openxmlformats.org/presentationml/2006/main">
  <p:tag name="TIMING" val="|18|5.3"/>
</p:tagLst>
</file>

<file path=ppt/tags/tag4.xml><?xml version="1.0" encoding="utf-8"?>
<p:tagLst xmlns:p="http://schemas.openxmlformats.org/presentationml/2006/main">
  <p:tag name="TIMING" val="|73.3|89.8"/>
</p:tagLst>
</file>

<file path=ppt/tags/tag5.xml><?xml version="1.0" encoding="utf-8"?>
<p:tagLst xmlns:p="http://schemas.openxmlformats.org/presentationml/2006/main">
  <p:tag name="TIMING" val="|42|74.3"/>
</p:tagLst>
</file>

<file path=ppt/tags/tag6.xml><?xml version="1.0" encoding="utf-8"?>
<p:tagLst xmlns:p="http://schemas.openxmlformats.org/presentationml/2006/main">
  <p:tag name="TIMING" val="|8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4363</Words>
  <Application>WPS 演示</Application>
  <PresentationFormat>全屏显示(4:3)</PresentationFormat>
  <Paragraphs>284</Paragraphs>
  <Slides>58</Slides>
  <Notes>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57</vt:i4>
      </vt:variant>
      <vt:variant>
        <vt:lpstr>幻灯片标题</vt:lpstr>
      </vt:variant>
      <vt:variant>
        <vt:i4>58</vt:i4>
      </vt:variant>
    </vt:vector>
  </HeadingPairs>
  <TitlesOfParts>
    <vt:vector size="132" baseType="lpstr">
      <vt:lpstr>Arial</vt:lpstr>
      <vt:lpstr>宋体</vt:lpstr>
      <vt:lpstr>Wingdings</vt:lpstr>
      <vt:lpstr>Times New Roman</vt:lpstr>
      <vt:lpstr>黑体</vt:lpstr>
      <vt:lpstr>Tahoma</vt:lpstr>
      <vt:lpstr>Webdings</vt:lpstr>
      <vt:lpstr>楷体_GB2312</vt:lpstr>
      <vt:lpstr>新宋体</vt:lpstr>
      <vt:lpstr>微软雅黑</vt:lpstr>
      <vt:lpstr>Arial Unicode MS</vt:lpstr>
      <vt:lpstr>Calibri</vt:lpstr>
      <vt:lpstr>等线</vt:lpstr>
      <vt:lpstr>Symbol</vt:lpstr>
      <vt:lpstr>UniversalMath1 BT</vt:lpstr>
      <vt:lpstr>Courier Prime</vt:lpstr>
      <vt:lpstr>Office 主题</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11　气体的压缩</vt:lpstr>
      <vt:lpstr>11-1 概述</vt:lpstr>
      <vt:lpstr>PowerPoint 演示文稿</vt:lpstr>
      <vt:lpstr>PowerPoint 演示文稿</vt:lpstr>
      <vt:lpstr>PowerPoint 演示文稿</vt:lpstr>
      <vt:lpstr>PowerPoint 演示文稿</vt:lpstr>
      <vt:lpstr>PowerPoint 演示文稿</vt:lpstr>
      <vt:lpstr>11-2 压气机的工作原理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11-3 压气机的热力学分析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11－4　单级活塞式压气机余隙容积的影响</vt:lpstr>
      <vt:lpstr>PowerPoint 演示文稿</vt:lpstr>
      <vt:lpstr>一、余隙容积对容积效率的影响</vt:lpstr>
      <vt:lpstr>PowerPoint 演示文稿</vt:lpstr>
      <vt:lpstr>二、余隙容积对生产量的影响</vt:lpstr>
      <vt:lpstr>三、余隙容积对理想耗功量的影响</vt:lpstr>
      <vt:lpstr>11－5　多级压缩和级间冷却</vt:lpstr>
      <vt:lpstr>PowerPoint 演示文稿</vt:lpstr>
      <vt:lpstr>PowerPoint 演示文稿</vt:lpstr>
      <vt:lpstr>一、两级压缩、中间冷却压气机</vt:lpstr>
      <vt:lpstr>PowerPoint 演示文稿</vt:lpstr>
      <vt:lpstr>PowerPoint 演示文稿</vt:lpstr>
      <vt:lpstr>PowerPoint 演示文稿</vt:lpstr>
      <vt:lpstr>PowerPoint 演示文稿</vt:lpstr>
      <vt:lpstr>PowerPoint 演示文稿</vt:lpstr>
      <vt:lpstr>PowerPoint 演示文稿</vt:lpstr>
      <vt:lpstr>11－6　压气机的实际过程和压气机的效率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第11讲　气体的压缩</dc:title>
  <dc:creator>jing wu</dc:creator>
  <cp:lastModifiedBy>神力猹</cp:lastModifiedBy>
  <cp:revision>44</cp:revision>
  <dcterms:created xsi:type="dcterms:W3CDTF">2020-05-03T01:22:00Z</dcterms:created>
  <dcterms:modified xsi:type="dcterms:W3CDTF">2021-03-10T06:28:55Z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