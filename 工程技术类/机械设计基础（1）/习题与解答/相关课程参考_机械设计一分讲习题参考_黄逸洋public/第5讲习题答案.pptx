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361" r:id="rId3"/>
    <p:sldId id="444" r:id="rId4"/>
    <p:sldId id="362" r:id="rId5"/>
    <p:sldId id="522" r:id="rId6"/>
    <p:sldId id="523" r:id="rId7"/>
    <p:sldId id="363" r:id="rId8"/>
    <p:sldId id="520" r:id="rId9"/>
    <p:sldId id="526" r:id="rId10"/>
    <p:sldId id="364" r:id="rId11"/>
    <p:sldId id="521" r:id="rId12"/>
    <p:sldId id="447" r:id="rId13"/>
    <p:sldId id="365" r:id="rId14"/>
    <p:sldId id="366" r:id="rId15"/>
    <p:sldId id="292" r:id="rId16"/>
    <p:sldId id="293" r:id="rId17"/>
    <p:sldId id="451" r:id="rId18"/>
    <p:sldId id="294" r:id="rId19"/>
    <p:sldId id="452" r:id="rId20"/>
    <p:sldId id="295" r:id="rId21"/>
    <p:sldId id="453" r:id="rId22"/>
    <p:sldId id="367" r:id="rId23"/>
    <p:sldId id="454" r:id="rId24"/>
    <p:sldId id="368" r:id="rId25"/>
    <p:sldId id="455" r:id="rId26"/>
    <p:sldId id="369" r:id="rId27"/>
    <p:sldId id="370" r:id="rId28"/>
    <p:sldId id="371" r:id="rId29"/>
    <p:sldId id="458" r:id="rId30"/>
    <p:sldId id="525" r:id="rId3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8" autoAdjust="0"/>
    <p:restoredTop sz="94660"/>
  </p:normalViewPr>
  <p:slideViewPr>
    <p:cSldViewPr snapToGrid="0">
      <p:cViewPr varScale="1">
        <p:scale>
          <a:sx n="83" d="100"/>
          <a:sy n="83" d="100"/>
        </p:scale>
        <p:origin x="-1541" y="-58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C55863C-6268-4F6A-A959-A4E996209F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0599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EC0B0-132E-49C9-A755-ED7543D3A2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443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53A03-9DF3-4959-9C18-803017AD75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475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4D9CE-16E2-4082-B4BD-DDD13EA9CC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706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FAC36-04D6-47FA-8F82-96E3C799F6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561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29C30-4B70-44B1-99EC-2BE17E66BF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67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34FF12-DF45-4A3D-A11B-4EAAA60CD9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0319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53A63-4AEB-4D7B-9422-1DE938260A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495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C292B-23F0-4D5C-9405-F13386F843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90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03F84-A559-4577-9954-03A74ECC70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87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6723B-2780-469B-9391-4E6E6775BE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874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50359A9-4017-4291-A6A2-D972E6D6F4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690563"/>
            <a:ext cx="9144000" cy="26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第五讲习题答案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 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b="1" dirty="0">
                <a:latin typeface="Arial" charset="0"/>
                <a:ea typeface="黑体" pitchFamily="2" charset="-122"/>
              </a:rPr>
              <a:t>平面</a:t>
            </a:r>
            <a:r>
              <a:rPr lang="zh-CN" altLang="en-US" sz="4800" b="1" dirty="0" smtClean="0">
                <a:latin typeface="Arial" charset="0"/>
                <a:ea typeface="黑体" pitchFamily="2" charset="-122"/>
              </a:rPr>
              <a:t>与立体</a:t>
            </a:r>
            <a:r>
              <a:rPr lang="zh-CN" altLang="en-US" sz="4800" b="1" dirty="0">
                <a:latin typeface="Arial" charset="0"/>
                <a:ea typeface="黑体" pitchFamily="2" charset="-122"/>
              </a:rPr>
              <a:t>相交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8790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3-2-1-5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3-2-1-5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512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0646" r="-57571"/>
          <a:stretch>
            <a:fillRect/>
          </a:stretch>
        </p:blipFill>
        <p:spPr bwMode="auto">
          <a:xfrm>
            <a:off x="1689100" y="1071563"/>
            <a:ext cx="4506913" cy="26717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73612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3-2-1-6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sp>
        <p:nvSpPr>
          <p:cNvPr id="6148" name="Oval 6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0839" name="Oval 7"/>
          <p:cNvSpPr>
            <a:spLocks noChangeArrowheads="1"/>
          </p:cNvSpPr>
          <p:nvPr/>
        </p:nvSpPr>
        <p:spPr bwMode="auto">
          <a:xfrm>
            <a:off x="3171825" y="3338513"/>
            <a:ext cx="125413" cy="47625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0840" name="Oval 8"/>
          <p:cNvSpPr>
            <a:spLocks noChangeArrowheads="1"/>
          </p:cNvSpPr>
          <p:nvPr/>
        </p:nvSpPr>
        <p:spPr bwMode="auto">
          <a:xfrm>
            <a:off x="3986213" y="3351213"/>
            <a:ext cx="125412" cy="47625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9" grpId="0" animBg="1"/>
      <p:bldP spid="1208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/>
          <p:cNvSpPr txBox="1">
            <a:spLocks noChangeArrowheads="1"/>
          </p:cNvSpPr>
          <p:nvPr/>
        </p:nvSpPr>
        <p:spPr bwMode="auto">
          <a:xfrm>
            <a:off x="0" y="1460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3-2-1-6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sp>
        <p:nvSpPr>
          <p:cNvPr id="7171" name="Oval 4"/>
          <p:cNvSpPr>
            <a:spLocks noChangeArrowheads="1"/>
          </p:cNvSpPr>
          <p:nvPr/>
        </p:nvSpPr>
        <p:spPr bwMode="auto">
          <a:xfrm>
            <a:off x="571500" y="50323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717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1" t="24399" r="26367" b="55257"/>
          <a:stretch>
            <a:fillRect/>
          </a:stretch>
        </p:blipFill>
        <p:spPr bwMode="auto">
          <a:xfrm>
            <a:off x="638175" y="993775"/>
            <a:ext cx="5091113" cy="222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4969" name="Line 9"/>
          <p:cNvSpPr>
            <a:spLocks noChangeShapeType="1"/>
          </p:cNvSpPr>
          <p:nvPr/>
        </p:nvSpPr>
        <p:spPr bwMode="auto">
          <a:xfrm>
            <a:off x="684213" y="1903413"/>
            <a:ext cx="0" cy="4014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70" name="Line 10"/>
          <p:cNvSpPr>
            <a:spLocks noChangeShapeType="1"/>
          </p:cNvSpPr>
          <p:nvPr/>
        </p:nvSpPr>
        <p:spPr bwMode="auto">
          <a:xfrm>
            <a:off x="3022600" y="1927225"/>
            <a:ext cx="0" cy="4014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71" name="Line 11"/>
          <p:cNvSpPr>
            <a:spLocks noChangeShapeType="1"/>
          </p:cNvSpPr>
          <p:nvPr/>
        </p:nvSpPr>
        <p:spPr bwMode="auto">
          <a:xfrm>
            <a:off x="596900" y="4002088"/>
            <a:ext cx="3186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73" name="Line 13"/>
          <p:cNvSpPr>
            <a:spLocks noChangeShapeType="1"/>
          </p:cNvSpPr>
          <p:nvPr/>
        </p:nvSpPr>
        <p:spPr bwMode="auto">
          <a:xfrm>
            <a:off x="531813" y="4921250"/>
            <a:ext cx="31861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74" name="Line 14"/>
          <p:cNvSpPr>
            <a:spLocks noChangeShapeType="1"/>
          </p:cNvSpPr>
          <p:nvPr/>
        </p:nvSpPr>
        <p:spPr bwMode="auto">
          <a:xfrm>
            <a:off x="574675" y="5827713"/>
            <a:ext cx="3186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75" name="Text Box 15"/>
          <p:cNvSpPr txBox="1">
            <a:spLocks noChangeArrowheads="1"/>
          </p:cNvSpPr>
          <p:nvPr/>
        </p:nvSpPr>
        <p:spPr bwMode="auto">
          <a:xfrm>
            <a:off x="4951413" y="3987800"/>
            <a:ext cx="4006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宋体" pitchFamily="2" charset="-122"/>
              </a:rPr>
              <a:t>1 </a:t>
            </a:r>
            <a:r>
              <a:rPr lang="zh-CN" altLang="en-US" sz="2000" b="1">
                <a:solidFill>
                  <a:schemeClr val="hlink"/>
                </a:solidFill>
                <a:latin typeface="宋体" pitchFamily="2" charset="-122"/>
              </a:rPr>
              <a:t>对照投影，定基本形体；</a:t>
            </a:r>
          </a:p>
        </p:txBody>
      </p:sp>
      <p:sp>
        <p:nvSpPr>
          <p:cNvPr id="424976" name="Text Box 16"/>
          <p:cNvSpPr txBox="1">
            <a:spLocks noChangeArrowheads="1"/>
          </p:cNvSpPr>
          <p:nvPr/>
        </p:nvSpPr>
        <p:spPr bwMode="auto">
          <a:xfrm>
            <a:off x="4957763" y="4452938"/>
            <a:ext cx="4006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宋体" pitchFamily="2" charset="-122"/>
              </a:rPr>
              <a:t>2 </a:t>
            </a:r>
            <a:r>
              <a:rPr lang="zh-CN" altLang="en-US" sz="2000" b="1">
                <a:solidFill>
                  <a:schemeClr val="hlink"/>
                </a:solidFill>
                <a:latin typeface="宋体" pitchFamily="2" charset="-122"/>
              </a:rPr>
              <a:t>瞄准斜线，想形成过程；</a:t>
            </a:r>
          </a:p>
        </p:txBody>
      </p:sp>
      <p:sp>
        <p:nvSpPr>
          <p:cNvPr id="424977" name="Text Box 17"/>
          <p:cNvSpPr txBox="1">
            <a:spLocks noChangeArrowheads="1"/>
          </p:cNvSpPr>
          <p:nvPr/>
        </p:nvSpPr>
        <p:spPr bwMode="auto">
          <a:xfrm>
            <a:off x="5067300" y="1314450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i="1">
                <a:latin typeface="华文仿宋" pitchFamily="2" charset="-122"/>
                <a:ea typeface="华文仿宋" pitchFamily="2" charset="-122"/>
              </a:rPr>
              <a:t>P"</a:t>
            </a:r>
            <a:endParaRPr lang="en-US" altLang="en-US" sz="14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78" name="Freeform 18"/>
          <p:cNvSpPr>
            <a:spLocks/>
          </p:cNvSpPr>
          <p:nvPr/>
        </p:nvSpPr>
        <p:spPr bwMode="auto">
          <a:xfrm>
            <a:off x="5037138" y="1573213"/>
            <a:ext cx="227012" cy="373062"/>
          </a:xfrm>
          <a:custGeom>
            <a:avLst/>
            <a:gdLst>
              <a:gd name="T0" fmla="*/ 2147483647 w 143"/>
              <a:gd name="T1" fmla="*/ 0 h 235"/>
              <a:gd name="T2" fmla="*/ 0 w 143"/>
              <a:gd name="T3" fmla="*/ 2147483647 h 235"/>
              <a:gd name="T4" fmla="*/ 0 60000 65536"/>
              <a:gd name="T5" fmla="*/ 0 60000 65536"/>
              <a:gd name="T6" fmla="*/ 0 w 143"/>
              <a:gd name="T7" fmla="*/ 0 h 235"/>
              <a:gd name="T8" fmla="*/ 143 w 143"/>
              <a:gd name="T9" fmla="*/ 235 h 2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3" h="235">
                <a:moveTo>
                  <a:pt x="143" y="0"/>
                </a:moveTo>
                <a:cubicBezTo>
                  <a:pt x="83" y="97"/>
                  <a:pt x="24" y="195"/>
                  <a:pt x="0" y="2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79" name="Text Box 19"/>
          <p:cNvSpPr txBox="1">
            <a:spLocks noChangeArrowheads="1"/>
          </p:cNvSpPr>
          <p:nvPr/>
        </p:nvSpPr>
        <p:spPr bwMode="auto">
          <a:xfrm>
            <a:off x="4954588" y="4902200"/>
            <a:ext cx="4006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宋体" pitchFamily="2" charset="-122"/>
              </a:rPr>
              <a:t>3 </a:t>
            </a:r>
            <a:r>
              <a:rPr lang="zh-CN" altLang="en-US" sz="2000" b="1">
                <a:solidFill>
                  <a:schemeClr val="hlink"/>
                </a:solidFill>
                <a:latin typeface="宋体" pitchFamily="2" charset="-122"/>
              </a:rPr>
              <a:t>标记顶点，画类似图形；</a:t>
            </a:r>
          </a:p>
        </p:txBody>
      </p:sp>
      <p:sp>
        <p:nvSpPr>
          <p:cNvPr id="424980" name="Text Box 20"/>
          <p:cNvSpPr txBox="1">
            <a:spLocks noChangeArrowheads="1"/>
          </p:cNvSpPr>
          <p:nvPr/>
        </p:nvSpPr>
        <p:spPr bwMode="auto">
          <a:xfrm>
            <a:off x="981075" y="1117600"/>
            <a:ext cx="323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1'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81" name="Text Box 21"/>
          <p:cNvSpPr txBox="1">
            <a:spLocks noChangeArrowheads="1"/>
          </p:cNvSpPr>
          <p:nvPr/>
        </p:nvSpPr>
        <p:spPr bwMode="auto">
          <a:xfrm>
            <a:off x="2465388" y="1131888"/>
            <a:ext cx="368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2'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82" name="Text Box 22"/>
          <p:cNvSpPr txBox="1">
            <a:spLocks noChangeArrowheads="1"/>
          </p:cNvSpPr>
          <p:nvPr/>
        </p:nvSpPr>
        <p:spPr bwMode="auto">
          <a:xfrm>
            <a:off x="3063875" y="174625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3'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83" name="Text Box 23"/>
          <p:cNvSpPr txBox="1">
            <a:spLocks noChangeArrowheads="1"/>
          </p:cNvSpPr>
          <p:nvPr/>
        </p:nvSpPr>
        <p:spPr bwMode="auto">
          <a:xfrm>
            <a:off x="528638" y="159385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6'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84" name="Text Box 24"/>
          <p:cNvSpPr txBox="1">
            <a:spLocks noChangeArrowheads="1"/>
          </p:cNvSpPr>
          <p:nvPr/>
        </p:nvSpPr>
        <p:spPr bwMode="auto">
          <a:xfrm>
            <a:off x="2698750" y="237490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4'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85" name="Text Box 25"/>
          <p:cNvSpPr txBox="1">
            <a:spLocks noChangeArrowheads="1"/>
          </p:cNvSpPr>
          <p:nvPr/>
        </p:nvSpPr>
        <p:spPr bwMode="auto">
          <a:xfrm>
            <a:off x="692150" y="2379663"/>
            <a:ext cx="368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5'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86" name="Text Box 26"/>
          <p:cNvSpPr txBox="1">
            <a:spLocks noChangeArrowheads="1"/>
          </p:cNvSpPr>
          <p:nvPr/>
        </p:nvSpPr>
        <p:spPr bwMode="auto">
          <a:xfrm>
            <a:off x="4479925" y="110966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1"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87" name="Text Box 27"/>
          <p:cNvSpPr txBox="1">
            <a:spLocks noChangeArrowheads="1"/>
          </p:cNvSpPr>
          <p:nvPr/>
        </p:nvSpPr>
        <p:spPr bwMode="auto">
          <a:xfrm>
            <a:off x="4789488" y="1123950"/>
            <a:ext cx="444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2"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88" name="Text Box 28"/>
          <p:cNvSpPr txBox="1">
            <a:spLocks noChangeArrowheads="1"/>
          </p:cNvSpPr>
          <p:nvPr/>
        </p:nvSpPr>
        <p:spPr bwMode="auto">
          <a:xfrm>
            <a:off x="4856163" y="1606550"/>
            <a:ext cx="444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3"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89" name="Text Box 29"/>
          <p:cNvSpPr txBox="1">
            <a:spLocks noChangeArrowheads="1"/>
          </p:cNvSpPr>
          <p:nvPr/>
        </p:nvSpPr>
        <p:spPr bwMode="auto">
          <a:xfrm>
            <a:off x="5453063" y="226536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4"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90" name="Text Box 30"/>
          <p:cNvSpPr txBox="1">
            <a:spLocks noChangeArrowheads="1"/>
          </p:cNvSpPr>
          <p:nvPr/>
        </p:nvSpPr>
        <p:spPr bwMode="auto">
          <a:xfrm>
            <a:off x="5049838" y="1800225"/>
            <a:ext cx="444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6"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91" name="Text Box 31"/>
          <p:cNvSpPr txBox="1">
            <a:spLocks noChangeArrowheads="1"/>
          </p:cNvSpPr>
          <p:nvPr/>
        </p:nvSpPr>
        <p:spPr bwMode="auto">
          <a:xfrm>
            <a:off x="5759450" y="225901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5"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4992" name="Line 32"/>
          <p:cNvSpPr>
            <a:spLocks noChangeShapeType="1"/>
          </p:cNvSpPr>
          <p:nvPr/>
        </p:nvSpPr>
        <p:spPr bwMode="auto">
          <a:xfrm flipH="1">
            <a:off x="2481263" y="1333500"/>
            <a:ext cx="9525" cy="3554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93" name="Line 33"/>
          <p:cNvSpPr>
            <a:spLocks noChangeShapeType="1"/>
          </p:cNvSpPr>
          <p:nvPr/>
        </p:nvSpPr>
        <p:spPr bwMode="auto">
          <a:xfrm>
            <a:off x="1209675" y="1355725"/>
            <a:ext cx="0" cy="3571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99" name="Line 39"/>
          <p:cNvSpPr>
            <a:spLocks noChangeShapeType="1"/>
          </p:cNvSpPr>
          <p:nvPr/>
        </p:nvSpPr>
        <p:spPr bwMode="auto">
          <a:xfrm>
            <a:off x="2722563" y="2466975"/>
            <a:ext cx="0" cy="333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00" name="Line 40"/>
          <p:cNvSpPr>
            <a:spLocks noChangeShapeType="1"/>
          </p:cNvSpPr>
          <p:nvPr/>
        </p:nvSpPr>
        <p:spPr bwMode="auto">
          <a:xfrm>
            <a:off x="993775" y="2481263"/>
            <a:ext cx="0" cy="3346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01" name="Line 41"/>
          <p:cNvSpPr>
            <a:spLocks noChangeShapeType="1"/>
          </p:cNvSpPr>
          <p:nvPr/>
        </p:nvSpPr>
        <p:spPr bwMode="auto">
          <a:xfrm>
            <a:off x="534988" y="5386388"/>
            <a:ext cx="290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03" name="Line 43"/>
          <p:cNvSpPr>
            <a:spLocks noChangeShapeType="1"/>
          </p:cNvSpPr>
          <p:nvPr/>
        </p:nvSpPr>
        <p:spPr bwMode="auto">
          <a:xfrm flipH="1">
            <a:off x="674688" y="4916488"/>
            <a:ext cx="522287" cy="461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04" name="Line 44"/>
          <p:cNvSpPr>
            <a:spLocks noChangeShapeType="1"/>
          </p:cNvSpPr>
          <p:nvPr/>
        </p:nvSpPr>
        <p:spPr bwMode="auto">
          <a:xfrm>
            <a:off x="666750" y="5368925"/>
            <a:ext cx="322263" cy="461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05" name="Line 45"/>
          <p:cNvSpPr>
            <a:spLocks noChangeShapeType="1"/>
          </p:cNvSpPr>
          <p:nvPr/>
        </p:nvSpPr>
        <p:spPr bwMode="auto">
          <a:xfrm>
            <a:off x="996950" y="5830888"/>
            <a:ext cx="17160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06" name="Line 46"/>
          <p:cNvSpPr>
            <a:spLocks noChangeShapeType="1"/>
          </p:cNvSpPr>
          <p:nvPr/>
        </p:nvSpPr>
        <p:spPr bwMode="auto">
          <a:xfrm flipV="1">
            <a:off x="2730500" y="5368925"/>
            <a:ext cx="287338" cy="454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07" name="Line 47"/>
          <p:cNvSpPr>
            <a:spLocks noChangeShapeType="1"/>
          </p:cNvSpPr>
          <p:nvPr/>
        </p:nvSpPr>
        <p:spPr bwMode="auto">
          <a:xfrm flipH="1" flipV="1">
            <a:off x="2478088" y="4916488"/>
            <a:ext cx="539750" cy="444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09" name="Line 49"/>
          <p:cNvSpPr>
            <a:spLocks noChangeShapeType="1"/>
          </p:cNvSpPr>
          <p:nvPr/>
        </p:nvSpPr>
        <p:spPr bwMode="auto">
          <a:xfrm>
            <a:off x="984250" y="3998913"/>
            <a:ext cx="1733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10" name="Line 50"/>
          <p:cNvSpPr>
            <a:spLocks noChangeShapeType="1"/>
          </p:cNvSpPr>
          <p:nvPr/>
        </p:nvSpPr>
        <p:spPr bwMode="auto">
          <a:xfrm>
            <a:off x="557213" y="4460875"/>
            <a:ext cx="290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11" name="Line 51"/>
          <p:cNvSpPr>
            <a:spLocks noChangeShapeType="1"/>
          </p:cNvSpPr>
          <p:nvPr/>
        </p:nvSpPr>
        <p:spPr bwMode="auto">
          <a:xfrm flipH="1">
            <a:off x="684213" y="3994150"/>
            <a:ext cx="303212" cy="460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12" name="Line 52"/>
          <p:cNvSpPr>
            <a:spLocks noChangeShapeType="1"/>
          </p:cNvSpPr>
          <p:nvPr/>
        </p:nvSpPr>
        <p:spPr bwMode="auto">
          <a:xfrm>
            <a:off x="692150" y="4464050"/>
            <a:ext cx="504825" cy="444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13" name="Line 53"/>
          <p:cNvSpPr>
            <a:spLocks noChangeShapeType="1"/>
          </p:cNvSpPr>
          <p:nvPr/>
        </p:nvSpPr>
        <p:spPr bwMode="auto">
          <a:xfrm>
            <a:off x="2720975" y="3994150"/>
            <a:ext cx="296863" cy="4524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14" name="Line 54"/>
          <p:cNvSpPr>
            <a:spLocks noChangeShapeType="1"/>
          </p:cNvSpPr>
          <p:nvPr/>
        </p:nvSpPr>
        <p:spPr bwMode="auto">
          <a:xfrm flipH="1">
            <a:off x="2468563" y="4454525"/>
            <a:ext cx="539750" cy="454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15" name="Line 55"/>
          <p:cNvSpPr>
            <a:spLocks noChangeShapeType="1"/>
          </p:cNvSpPr>
          <p:nvPr/>
        </p:nvSpPr>
        <p:spPr bwMode="auto">
          <a:xfrm>
            <a:off x="682625" y="4454525"/>
            <a:ext cx="0" cy="923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16" name="Line 56"/>
          <p:cNvSpPr>
            <a:spLocks noChangeShapeType="1"/>
          </p:cNvSpPr>
          <p:nvPr/>
        </p:nvSpPr>
        <p:spPr bwMode="auto">
          <a:xfrm>
            <a:off x="3016250" y="4429125"/>
            <a:ext cx="0" cy="949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17" name="Line 57"/>
          <p:cNvSpPr>
            <a:spLocks noChangeShapeType="1"/>
          </p:cNvSpPr>
          <p:nvPr/>
        </p:nvSpPr>
        <p:spPr bwMode="auto">
          <a:xfrm>
            <a:off x="1354138" y="3119438"/>
            <a:ext cx="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18" name="Line 58"/>
          <p:cNvSpPr>
            <a:spLocks noChangeShapeType="1"/>
          </p:cNvSpPr>
          <p:nvPr/>
        </p:nvSpPr>
        <p:spPr bwMode="auto">
          <a:xfrm>
            <a:off x="1354138" y="3984625"/>
            <a:ext cx="0" cy="18462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19" name="Line 59"/>
          <p:cNvSpPr>
            <a:spLocks noChangeShapeType="1"/>
          </p:cNvSpPr>
          <p:nvPr/>
        </p:nvSpPr>
        <p:spPr bwMode="auto">
          <a:xfrm>
            <a:off x="2360613" y="3133725"/>
            <a:ext cx="0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20" name="Line 60"/>
          <p:cNvSpPr>
            <a:spLocks noChangeShapeType="1"/>
          </p:cNvSpPr>
          <p:nvPr/>
        </p:nvSpPr>
        <p:spPr bwMode="auto">
          <a:xfrm>
            <a:off x="2360613" y="4006850"/>
            <a:ext cx="0" cy="18462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021" name="Text Box 61"/>
          <p:cNvSpPr txBox="1">
            <a:spLocks noChangeArrowheads="1"/>
          </p:cNvSpPr>
          <p:nvPr/>
        </p:nvSpPr>
        <p:spPr bwMode="auto">
          <a:xfrm>
            <a:off x="4968875" y="5343525"/>
            <a:ext cx="4006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宋体" pitchFamily="2" charset="-122"/>
              </a:rPr>
              <a:t>4 </a:t>
            </a:r>
            <a:r>
              <a:rPr lang="zh-CN" altLang="en-US" sz="2000" b="1">
                <a:solidFill>
                  <a:schemeClr val="hlink"/>
                </a:solidFill>
                <a:latin typeface="宋体" pitchFamily="2" charset="-122"/>
              </a:rPr>
              <a:t>基于投影，想空间形体。</a:t>
            </a:r>
          </a:p>
        </p:txBody>
      </p:sp>
      <p:sp>
        <p:nvSpPr>
          <p:cNvPr id="425008" name="Line 48"/>
          <p:cNvSpPr>
            <a:spLocks noChangeShapeType="1"/>
          </p:cNvSpPr>
          <p:nvPr/>
        </p:nvSpPr>
        <p:spPr bwMode="auto">
          <a:xfrm flipH="1">
            <a:off x="1196975" y="4926013"/>
            <a:ext cx="12715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94" name="Oval 34"/>
          <p:cNvSpPr>
            <a:spLocks noChangeArrowheads="1"/>
          </p:cNvSpPr>
          <p:nvPr/>
        </p:nvSpPr>
        <p:spPr bwMode="auto">
          <a:xfrm>
            <a:off x="1163638" y="48736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4998" name="Oval 38"/>
          <p:cNvSpPr>
            <a:spLocks noChangeArrowheads="1"/>
          </p:cNvSpPr>
          <p:nvPr/>
        </p:nvSpPr>
        <p:spPr bwMode="auto">
          <a:xfrm>
            <a:off x="2430463" y="4876800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5002" name="Oval 42"/>
          <p:cNvSpPr>
            <a:spLocks noChangeArrowheads="1"/>
          </p:cNvSpPr>
          <p:nvPr/>
        </p:nvSpPr>
        <p:spPr bwMode="auto">
          <a:xfrm>
            <a:off x="2976563" y="53371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4997" name="Oval 37"/>
          <p:cNvSpPr>
            <a:spLocks noChangeArrowheads="1"/>
          </p:cNvSpPr>
          <p:nvPr/>
        </p:nvSpPr>
        <p:spPr bwMode="auto">
          <a:xfrm>
            <a:off x="2676525" y="57753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4996" name="Oval 36"/>
          <p:cNvSpPr>
            <a:spLocks noChangeArrowheads="1"/>
          </p:cNvSpPr>
          <p:nvPr/>
        </p:nvSpPr>
        <p:spPr bwMode="auto">
          <a:xfrm>
            <a:off x="947738" y="578326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4995" name="Oval 35"/>
          <p:cNvSpPr>
            <a:spLocks noChangeArrowheads="1"/>
          </p:cNvSpPr>
          <p:nvPr/>
        </p:nvSpPr>
        <p:spPr bwMode="auto">
          <a:xfrm>
            <a:off x="639763" y="533241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9" name="Text Box 57"/>
          <p:cNvSpPr txBox="1">
            <a:spLocks noChangeArrowheads="1"/>
          </p:cNvSpPr>
          <p:nvPr/>
        </p:nvSpPr>
        <p:spPr bwMode="auto">
          <a:xfrm>
            <a:off x="3611563" y="5991225"/>
            <a:ext cx="5003800" cy="579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原则：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真理是一个过程！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2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2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2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2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2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2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2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2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2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2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2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2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2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2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42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2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42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2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1000"/>
                                        <p:tgtEl>
                                          <p:spTgt spid="42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2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1000"/>
                                        <p:tgtEl>
                                          <p:spTgt spid="42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2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1000"/>
                                        <p:tgtEl>
                                          <p:spTgt spid="42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42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1000"/>
                                        <p:tgtEl>
                                          <p:spTgt spid="42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42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1000"/>
                                        <p:tgtEl>
                                          <p:spTgt spid="42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1000"/>
                                        <p:tgtEl>
                                          <p:spTgt spid="42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000"/>
                                        <p:tgtEl>
                                          <p:spTgt spid="42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1000"/>
                                        <p:tgtEl>
                                          <p:spTgt spid="42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1000"/>
                                        <p:tgtEl>
                                          <p:spTgt spid="42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6" dur="1000"/>
                                        <p:tgtEl>
                                          <p:spTgt spid="42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1000"/>
                                        <p:tgtEl>
                                          <p:spTgt spid="42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1000"/>
                                        <p:tgtEl>
                                          <p:spTgt spid="42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2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1000"/>
                                        <p:tgtEl>
                                          <p:spTgt spid="42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1000"/>
                                        <p:tgtEl>
                                          <p:spTgt spid="42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2" dur="1000"/>
                                        <p:tgtEl>
                                          <p:spTgt spid="42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6" dur="1000"/>
                                        <p:tgtEl>
                                          <p:spTgt spid="42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1000"/>
                                        <p:tgtEl>
                                          <p:spTgt spid="42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42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42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1000"/>
                                        <p:tgtEl>
                                          <p:spTgt spid="42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1000"/>
                                        <p:tgtEl>
                                          <p:spTgt spid="42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1000"/>
                                        <p:tgtEl>
                                          <p:spTgt spid="42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1000"/>
                                        <p:tgtEl>
                                          <p:spTgt spid="42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5" dur="500"/>
                                        <p:tgtEl>
                                          <p:spTgt spid="42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9" grpId="0" animBg="1"/>
      <p:bldP spid="424970" grpId="0" animBg="1"/>
      <p:bldP spid="424971" grpId="0" animBg="1"/>
      <p:bldP spid="424973" grpId="0" animBg="1"/>
      <p:bldP spid="424974" grpId="0" animBg="1"/>
      <p:bldP spid="424975" grpId="0"/>
      <p:bldP spid="424976" grpId="0"/>
      <p:bldP spid="424977" grpId="0"/>
      <p:bldP spid="424978" grpId="0" animBg="1"/>
      <p:bldP spid="424979" grpId="0"/>
      <p:bldP spid="424980" grpId="0"/>
      <p:bldP spid="424981" grpId="0"/>
      <p:bldP spid="424982" grpId="0"/>
      <p:bldP spid="424983" grpId="0"/>
      <p:bldP spid="424984" grpId="0"/>
      <p:bldP spid="424985" grpId="0"/>
      <p:bldP spid="424986" grpId="0"/>
      <p:bldP spid="424987" grpId="0"/>
      <p:bldP spid="424988" grpId="0"/>
      <p:bldP spid="424989" grpId="0"/>
      <p:bldP spid="424990" grpId="0"/>
      <p:bldP spid="424991" grpId="0"/>
      <p:bldP spid="424992" grpId="0" animBg="1"/>
      <p:bldP spid="424993" grpId="0" animBg="1"/>
      <p:bldP spid="424999" grpId="0" animBg="1"/>
      <p:bldP spid="425000" grpId="0" animBg="1"/>
      <p:bldP spid="425001" grpId="0" animBg="1"/>
      <p:bldP spid="425003" grpId="0" animBg="1"/>
      <p:bldP spid="425004" grpId="0" animBg="1"/>
      <p:bldP spid="425005" grpId="0" animBg="1"/>
      <p:bldP spid="425006" grpId="0" animBg="1"/>
      <p:bldP spid="425007" grpId="0" animBg="1"/>
      <p:bldP spid="425009" grpId="0" animBg="1"/>
      <p:bldP spid="425010" grpId="0" animBg="1"/>
      <p:bldP spid="425011" grpId="0" animBg="1"/>
      <p:bldP spid="425012" grpId="0" animBg="1"/>
      <p:bldP spid="425013" grpId="0" animBg="1"/>
      <p:bldP spid="425014" grpId="0" animBg="1"/>
      <p:bldP spid="425015" grpId="0" animBg="1"/>
      <p:bldP spid="425016" grpId="0" animBg="1"/>
      <p:bldP spid="425017" grpId="0" animBg="1"/>
      <p:bldP spid="425018" grpId="0" animBg="1"/>
      <p:bldP spid="425019" grpId="0" animBg="1"/>
      <p:bldP spid="425020" grpId="0" animBg="1"/>
      <p:bldP spid="425021" grpId="0"/>
      <p:bldP spid="425008" grpId="0" animBg="1"/>
      <p:bldP spid="424994" grpId="0" animBg="1"/>
      <p:bldP spid="424998" grpId="0" animBg="1"/>
      <p:bldP spid="425002" grpId="0" animBg="1"/>
      <p:bldP spid="424997" grpId="0" animBg="1"/>
      <p:bldP spid="424996" grpId="0" animBg="1"/>
      <p:bldP spid="424995" grpId="0" animBg="1"/>
      <p:bldP spid="5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050" name="Line 66"/>
          <p:cNvSpPr>
            <a:spLocks noChangeShapeType="1"/>
          </p:cNvSpPr>
          <p:nvPr/>
        </p:nvSpPr>
        <p:spPr bwMode="auto">
          <a:xfrm>
            <a:off x="1350963" y="4000500"/>
            <a:ext cx="10080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46" name="Line 62"/>
          <p:cNvSpPr>
            <a:spLocks noChangeShapeType="1"/>
          </p:cNvSpPr>
          <p:nvPr/>
        </p:nvSpPr>
        <p:spPr bwMode="auto">
          <a:xfrm>
            <a:off x="1357313" y="3979863"/>
            <a:ext cx="0" cy="184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Text Box 2"/>
          <p:cNvSpPr txBox="1">
            <a:spLocks noChangeArrowheads="1"/>
          </p:cNvSpPr>
          <p:nvPr/>
        </p:nvSpPr>
        <p:spPr bwMode="auto">
          <a:xfrm>
            <a:off x="0" y="1460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3-2-1-6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sp>
        <p:nvSpPr>
          <p:cNvPr id="8197" name="Oval 3"/>
          <p:cNvSpPr>
            <a:spLocks noChangeArrowheads="1"/>
          </p:cNvSpPr>
          <p:nvPr/>
        </p:nvSpPr>
        <p:spPr bwMode="auto">
          <a:xfrm>
            <a:off x="571500" y="50323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819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1" t="24399" r="26367" b="55257"/>
          <a:stretch>
            <a:fillRect/>
          </a:stretch>
        </p:blipFill>
        <p:spPr bwMode="auto">
          <a:xfrm>
            <a:off x="638175" y="993775"/>
            <a:ext cx="5091113" cy="222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5989" name="Line 5"/>
          <p:cNvSpPr>
            <a:spLocks noChangeShapeType="1"/>
          </p:cNvSpPr>
          <p:nvPr/>
        </p:nvSpPr>
        <p:spPr bwMode="auto">
          <a:xfrm>
            <a:off x="684213" y="1903413"/>
            <a:ext cx="0" cy="4014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0" name="Line 6"/>
          <p:cNvSpPr>
            <a:spLocks noChangeShapeType="1"/>
          </p:cNvSpPr>
          <p:nvPr/>
        </p:nvSpPr>
        <p:spPr bwMode="auto">
          <a:xfrm>
            <a:off x="3022600" y="1927225"/>
            <a:ext cx="0" cy="4014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1" name="Line 7"/>
          <p:cNvSpPr>
            <a:spLocks noChangeShapeType="1"/>
          </p:cNvSpPr>
          <p:nvPr/>
        </p:nvSpPr>
        <p:spPr bwMode="auto">
          <a:xfrm>
            <a:off x="596900" y="4002088"/>
            <a:ext cx="3186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2" name="Line 8"/>
          <p:cNvSpPr>
            <a:spLocks noChangeShapeType="1"/>
          </p:cNvSpPr>
          <p:nvPr/>
        </p:nvSpPr>
        <p:spPr bwMode="auto">
          <a:xfrm>
            <a:off x="531813" y="4921250"/>
            <a:ext cx="31861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3" name="Line 9"/>
          <p:cNvSpPr>
            <a:spLocks noChangeShapeType="1"/>
          </p:cNvSpPr>
          <p:nvPr/>
        </p:nvSpPr>
        <p:spPr bwMode="auto">
          <a:xfrm>
            <a:off x="574675" y="5827713"/>
            <a:ext cx="3186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6" name="Text Box 12"/>
          <p:cNvSpPr txBox="1">
            <a:spLocks noChangeArrowheads="1"/>
          </p:cNvSpPr>
          <p:nvPr/>
        </p:nvSpPr>
        <p:spPr bwMode="auto">
          <a:xfrm>
            <a:off x="5067300" y="1314450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i="1">
                <a:latin typeface="华文仿宋" pitchFamily="2" charset="-122"/>
                <a:ea typeface="华文仿宋" pitchFamily="2" charset="-122"/>
              </a:rPr>
              <a:t>P"</a:t>
            </a:r>
            <a:endParaRPr lang="en-US" altLang="en-US" sz="14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5997" name="Freeform 13"/>
          <p:cNvSpPr>
            <a:spLocks/>
          </p:cNvSpPr>
          <p:nvPr/>
        </p:nvSpPr>
        <p:spPr bwMode="auto">
          <a:xfrm>
            <a:off x="5037138" y="1573213"/>
            <a:ext cx="227012" cy="373062"/>
          </a:xfrm>
          <a:custGeom>
            <a:avLst/>
            <a:gdLst>
              <a:gd name="T0" fmla="*/ 2147483647 w 143"/>
              <a:gd name="T1" fmla="*/ 0 h 235"/>
              <a:gd name="T2" fmla="*/ 0 w 143"/>
              <a:gd name="T3" fmla="*/ 2147483647 h 235"/>
              <a:gd name="T4" fmla="*/ 0 60000 65536"/>
              <a:gd name="T5" fmla="*/ 0 60000 65536"/>
              <a:gd name="T6" fmla="*/ 0 w 143"/>
              <a:gd name="T7" fmla="*/ 0 h 235"/>
              <a:gd name="T8" fmla="*/ 143 w 143"/>
              <a:gd name="T9" fmla="*/ 235 h 2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3" h="235">
                <a:moveTo>
                  <a:pt x="143" y="0"/>
                </a:moveTo>
                <a:cubicBezTo>
                  <a:pt x="83" y="97"/>
                  <a:pt x="24" y="195"/>
                  <a:pt x="0" y="2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9" name="Text Box 15"/>
          <p:cNvSpPr txBox="1">
            <a:spLocks noChangeArrowheads="1"/>
          </p:cNvSpPr>
          <p:nvPr/>
        </p:nvSpPr>
        <p:spPr bwMode="auto">
          <a:xfrm>
            <a:off x="981075" y="1117600"/>
            <a:ext cx="323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1'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00" name="Text Box 16"/>
          <p:cNvSpPr txBox="1">
            <a:spLocks noChangeArrowheads="1"/>
          </p:cNvSpPr>
          <p:nvPr/>
        </p:nvSpPr>
        <p:spPr bwMode="auto">
          <a:xfrm>
            <a:off x="560388" y="1576388"/>
            <a:ext cx="368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2'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01" name="Text Box 17"/>
          <p:cNvSpPr txBox="1">
            <a:spLocks noChangeArrowheads="1"/>
          </p:cNvSpPr>
          <p:nvPr/>
        </p:nvSpPr>
        <p:spPr bwMode="auto">
          <a:xfrm>
            <a:off x="693738" y="17811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3'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02" name="Text Box 18"/>
          <p:cNvSpPr txBox="1">
            <a:spLocks noChangeArrowheads="1"/>
          </p:cNvSpPr>
          <p:nvPr/>
        </p:nvSpPr>
        <p:spPr bwMode="auto">
          <a:xfrm>
            <a:off x="903288" y="2185988"/>
            <a:ext cx="368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4'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04" name="Text Box 20"/>
          <p:cNvSpPr txBox="1">
            <a:spLocks noChangeArrowheads="1"/>
          </p:cNvSpPr>
          <p:nvPr/>
        </p:nvSpPr>
        <p:spPr bwMode="auto">
          <a:xfrm>
            <a:off x="1274763" y="285750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5'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05" name="Text Box 21"/>
          <p:cNvSpPr txBox="1">
            <a:spLocks noChangeArrowheads="1"/>
          </p:cNvSpPr>
          <p:nvPr/>
        </p:nvSpPr>
        <p:spPr bwMode="auto">
          <a:xfrm>
            <a:off x="4479925" y="110966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1"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06" name="Text Box 22"/>
          <p:cNvSpPr txBox="1">
            <a:spLocks noChangeArrowheads="1"/>
          </p:cNvSpPr>
          <p:nvPr/>
        </p:nvSpPr>
        <p:spPr bwMode="auto">
          <a:xfrm>
            <a:off x="3744913" y="1716088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2"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07" name="Text Box 23"/>
          <p:cNvSpPr txBox="1">
            <a:spLocks noChangeArrowheads="1"/>
          </p:cNvSpPr>
          <p:nvPr/>
        </p:nvSpPr>
        <p:spPr bwMode="auto">
          <a:xfrm>
            <a:off x="4856163" y="1606550"/>
            <a:ext cx="444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3"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08" name="Text Box 24"/>
          <p:cNvSpPr txBox="1">
            <a:spLocks noChangeArrowheads="1"/>
          </p:cNvSpPr>
          <p:nvPr/>
        </p:nvSpPr>
        <p:spPr bwMode="auto">
          <a:xfrm>
            <a:off x="5453063" y="226536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4"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09" name="Text Box 25"/>
          <p:cNvSpPr txBox="1">
            <a:spLocks noChangeArrowheads="1"/>
          </p:cNvSpPr>
          <p:nvPr/>
        </p:nvSpPr>
        <p:spPr bwMode="auto">
          <a:xfrm>
            <a:off x="3368675" y="309721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6"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10" name="Text Box 26"/>
          <p:cNvSpPr txBox="1">
            <a:spLocks noChangeArrowheads="1"/>
          </p:cNvSpPr>
          <p:nvPr/>
        </p:nvSpPr>
        <p:spPr bwMode="auto">
          <a:xfrm>
            <a:off x="5454650" y="3043238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5"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11" name="Line 27"/>
          <p:cNvSpPr>
            <a:spLocks noChangeShapeType="1"/>
          </p:cNvSpPr>
          <p:nvPr/>
        </p:nvSpPr>
        <p:spPr bwMode="auto">
          <a:xfrm flipH="1">
            <a:off x="2481263" y="1333500"/>
            <a:ext cx="9525" cy="3554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12" name="Line 28"/>
          <p:cNvSpPr>
            <a:spLocks noChangeShapeType="1"/>
          </p:cNvSpPr>
          <p:nvPr/>
        </p:nvSpPr>
        <p:spPr bwMode="auto">
          <a:xfrm>
            <a:off x="1209675" y="1355725"/>
            <a:ext cx="0" cy="3571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13" name="Line 29"/>
          <p:cNvSpPr>
            <a:spLocks noChangeShapeType="1"/>
          </p:cNvSpPr>
          <p:nvPr/>
        </p:nvSpPr>
        <p:spPr bwMode="auto">
          <a:xfrm>
            <a:off x="2722563" y="2466975"/>
            <a:ext cx="0" cy="333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14" name="Line 30"/>
          <p:cNvSpPr>
            <a:spLocks noChangeShapeType="1"/>
          </p:cNvSpPr>
          <p:nvPr/>
        </p:nvSpPr>
        <p:spPr bwMode="auto">
          <a:xfrm>
            <a:off x="993775" y="2481263"/>
            <a:ext cx="0" cy="3346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15" name="Line 31"/>
          <p:cNvSpPr>
            <a:spLocks noChangeShapeType="1"/>
          </p:cNvSpPr>
          <p:nvPr/>
        </p:nvSpPr>
        <p:spPr bwMode="auto">
          <a:xfrm>
            <a:off x="534988" y="5386388"/>
            <a:ext cx="290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16" name="Line 32"/>
          <p:cNvSpPr>
            <a:spLocks noChangeShapeType="1"/>
          </p:cNvSpPr>
          <p:nvPr/>
        </p:nvSpPr>
        <p:spPr bwMode="auto">
          <a:xfrm flipH="1">
            <a:off x="674688" y="4916488"/>
            <a:ext cx="522287" cy="461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17" name="Line 33"/>
          <p:cNvSpPr>
            <a:spLocks noChangeShapeType="1"/>
          </p:cNvSpPr>
          <p:nvPr/>
        </p:nvSpPr>
        <p:spPr bwMode="auto">
          <a:xfrm>
            <a:off x="666750" y="5368925"/>
            <a:ext cx="322263" cy="461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18" name="Line 34"/>
          <p:cNvSpPr>
            <a:spLocks noChangeShapeType="1"/>
          </p:cNvSpPr>
          <p:nvPr/>
        </p:nvSpPr>
        <p:spPr bwMode="auto">
          <a:xfrm>
            <a:off x="996950" y="5830888"/>
            <a:ext cx="355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19" name="Line 35"/>
          <p:cNvSpPr>
            <a:spLocks noChangeShapeType="1"/>
          </p:cNvSpPr>
          <p:nvPr/>
        </p:nvSpPr>
        <p:spPr bwMode="auto">
          <a:xfrm flipV="1">
            <a:off x="2713038" y="5368925"/>
            <a:ext cx="304800" cy="463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0" name="Line 36"/>
          <p:cNvSpPr>
            <a:spLocks noChangeShapeType="1"/>
          </p:cNvSpPr>
          <p:nvPr/>
        </p:nvSpPr>
        <p:spPr bwMode="auto">
          <a:xfrm flipH="1" flipV="1">
            <a:off x="2478088" y="4916488"/>
            <a:ext cx="539750" cy="444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1" name="Line 37"/>
          <p:cNvSpPr>
            <a:spLocks noChangeShapeType="1"/>
          </p:cNvSpPr>
          <p:nvPr/>
        </p:nvSpPr>
        <p:spPr bwMode="auto">
          <a:xfrm>
            <a:off x="984250" y="3998913"/>
            <a:ext cx="361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2" name="Line 38"/>
          <p:cNvSpPr>
            <a:spLocks noChangeShapeType="1"/>
          </p:cNvSpPr>
          <p:nvPr/>
        </p:nvSpPr>
        <p:spPr bwMode="auto">
          <a:xfrm>
            <a:off x="557213" y="4460875"/>
            <a:ext cx="290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3" name="Line 39"/>
          <p:cNvSpPr>
            <a:spLocks noChangeShapeType="1"/>
          </p:cNvSpPr>
          <p:nvPr/>
        </p:nvSpPr>
        <p:spPr bwMode="auto">
          <a:xfrm flipH="1">
            <a:off x="684213" y="3994150"/>
            <a:ext cx="303212" cy="460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4" name="Line 40"/>
          <p:cNvSpPr>
            <a:spLocks noChangeShapeType="1"/>
          </p:cNvSpPr>
          <p:nvPr/>
        </p:nvSpPr>
        <p:spPr bwMode="auto">
          <a:xfrm>
            <a:off x="692150" y="4464050"/>
            <a:ext cx="504825" cy="444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5" name="Line 41"/>
          <p:cNvSpPr>
            <a:spLocks noChangeShapeType="1"/>
          </p:cNvSpPr>
          <p:nvPr/>
        </p:nvSpPr>
        <p:spPr bwMode="auto">
          <a:xfrm>
            <a:off x="2720975" y="3994150"/>
            <a:ext cx="296863" cy="4524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6" name="Line 42"/>
          <p:cNvSpPr>
            <a:spLocks noChangeShapeType="1"/>
          </p:cNvSpPr>
          <p:nvPr/>
        </p:nvSpPr>
        <p:spPr bwMode="auto">
          <a:xfrm flipH="1">
            <a:off x="2459038" y="4454525"/>
            <a:ext cx="549275" cy="474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7" name="Line 43"/>
          <p:cNvSpPr>
            <a:spLocks noChangeShapeType="1"/>
          </p:cNvSpPr>
          <p:nvPr/>
        </p:nvSpPr>
        <p:spPr bwMode="auto">
          <a:xfrm>
            <a:off x="682625" y="4454525"/>
            <a:ext cx="0" cy="923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8" name="Line 44"/>
          <p:cNvSpPr>
            <a:spLocks noChangeShapeType="1"/>
          </p:cNvSpPr>
          <p:nvPr/>
        </p:nvSpPr>
        <p:spPr bwMode="auto">
          <a:xfrm>
            <a:off x="3016250" y="4429125"/>
            <a:ext cx="0" cy="949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9" name="Line 45"/>
          <p:cNvSpPr>
            <a:spLocks noChangeShapeType="1"/>
          </p:cNvSpPr>
          <p:nvPr/>
        </p:nvSpPr>
        <p:spPr bwMode="auto">
          <a:xfrm>
            <a:off x="1354138" y="3119438"/>
            <a:ext cx="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30" name="Line 46"/>
          <p:cNvSpPr>
            <a:spLocks noChangeShapeType="1"/>
          </p:cNvSpPr>
          <p:nvPr/>
        </p:nvSpPr>
        <p:spPr bwMode="auto">
          <a:xfrm>
            <a:off x="1354138" y="3984625"/>
            <a:ext cx="0" cy="18462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32" name="Line 48"/>
          <p:cNvSpPr>
            <a:spLocks noChangeShapeType="1"/>
          </p:cNvSpPr>
          <p:nvPr/>
        </p:nvSpPr>
        <p:spPr bwMode="auto">
          <a:xfrm>
            <a:off x="2360613" y="3975100"/>
            <a:ext cx="0" cy="18462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34" name="Line 50"/>
          <p:cNvSpPr>
            <a:spLocks noChangeShapeType="1"/>
          </p:cNvSpPr>
          <p:nvPr/>
        </p:nvSpPr>
        <p:spPr bwMode="auto">
          <a:xfrm flipH="1">
            <a:off x="1196975" y="4926013"/>
            <a:ext cx="12715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35" name="Oval 51"/>
          <p:cNvSpPr>
            <a:spLocks noChangeArrowheads="1"/>
          </p:cNvSpPr>
          <p:nvPr/>
        </p:nvSpPr>
        <p:spPr bwMode="auto">
          <a:xfrm>
            <a:off x="1163638" y="48736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36" name="Oval 52"/>
          <p:cNvSpPr>
            <a:spLocks noChangeArrowheads="1"/>
          </p:cNvSpPr>
          <p:nvPr/>
        </p:nvSpPr>
        <p:spPr bwMode="auto">
          <a:xfrm>
            <a:off x="942975" y="3956050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37" name="Oval 53"/>
          <p:cNvSpPr>
            <a:spLocks noChangeArrowheads="1"/>
          </p:cNvSpPr>
          <p:nvPr/>
        </p:nvSpPr>
        <p:spPr bwMode="auto">
          <a:xfrm>
            <a:off x="1311275" y="3951288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39" name="Oval 55"/>
          <p:cNvSpPr>
            <a:spLocks noChangeArrowheads="1"/>
          </p:cNvSpPr>
          <p:nvPr/>
        </p:nvSpPr>
        <p:spPr bwMode="auto">
          <a:xfrm>
            <a:off x="947738" y="578326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40" name="Oval 56"/>
          <p:cNvSpPr>
            <a:spLocks noChangeArrowheads="1"/>
          </p:cNvSpPr>
          <p:nvPr/>
        </p:nvSpPr>
        <p:spPr bwMode="auto">
          <a:xfrm>
            <a:off x="639763" y="533241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41" name="Oval 57"/>
          <p:cNvSpPr>
            <a:spLocks noChangeArrowheads="1"/>
          </p:cNvSpPr>
          <p:nvPr/>
        </p:nvSpPr>
        <p:spPr bwMode="auto">
          <a:xfrm>
            <a:off x="639763" y="4413250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42" name="Text Box 58"/>
          <p:cNvSpPr txBox="1">
            <a:spLocks noChangeArrowheads="1"/>
          </p:cNvSpPr>
          <p:nvPr/>
        </p:nvSpPr>
        <p:spPr bwMode="auto">
          <a:xfrm>
            <a:off x="3321050" y="2300288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7"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43" name="Text Box 59"/>
          <p:cNvSpPr txBox="1">
            <a:spLocks noChangeArrowheads="1"/>
          </p:cNvSpPr>
          <p:nvPr/>
        </p:nvSpPr>
        <p:spPr bwMode="auto">
          <a:xfrm>
            <a:off x="708025" y="2366963"/>
            <a:ext cx="368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7'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44" name="Text Box 60"/>
          <p:cNvSpPr txBox="1">
            <a:spLocks noChangeArrowheads="1"/>
          </p:cNvSpPr>
          <p:nvPr/>
        </p:nvSpPr>
        <p:spPr bwMode="auto">
          <a:xfrm>
            <a:off x="1103313" y="304165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6'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45" name="Text Box 61"/>
          <p:cNvSpPr txBox="1">
            <a:spLocks noChangeArrowheads="1"/>
          </p:cNvSpPr>
          <p:nvPr/>
        </p:nvSpPr>
        <p:spPr bwMode="auto">
          <a:xfrm>
            <a:off x="1616075" y="5054600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i="1">
                <a:latin typeface="华文仿宋" pitchFamily="2" charset="-122"/>
                <a:ea typeface="华文仿宋" pitchFamily="2" charset="-122"/>
              </a:rPr>
              <a:t>P</a:t>
            </a:r>
            <a:endParaRPr lang="en-US" altLang="en-US" sz="14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426047" name="Line 63"/>
          <p:cNvSpPr>
            <a:spLocks noChangeShapeType="1"/>
          </p:cNvSpPr>
          <p:nvPr/>
        </p:nvSpPr>
        <p:spPr bwMode="auto">
          <a:xfrm flipH="1">
            <a:off x="2352675" y="5822950"/>
            <a:ext cx="3667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48" name="Line 64"/>
          <p:cNvSpPr>
            <a:spLocks noChangeShapeType="1"/>
          </p:cNvSpPr>
          <p:nvPr/>
        </p:nvSpPr>
        <p:spPr bwMode="auto">
          <a:xfrm>
            <a:off x="2359025" y="4000500"/>
            <a:ext cx="363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56" name="Line 72"/>
          <p:cNvSpPr>
            <a:spLocks noChangeShapeType="1"/>
          </p:cNvSpPr>
          <p:nvPr/>
        </p:nvSpPr>
        <p:spPr bwMode="auto">
          <a:xfrm>
            <a:off x="1339850" y="5818188"/>
            <a:ext cx="1019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38" name="Oval 54"/>
          <p:cNvSpPr>
            <a:spLocks noChangeArrowheads="1"/>
          </p:cNvSpPr>
          <p:nvPr/>
        </p:nvSpPr>
        <p:spPr bwMode="auto">
          <a:xfrm>
            <a:off x="1308100" y="5784850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426057" name="Picture 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900" r="-50993"/>
          <a:stretch>
            <a:fillRect/>
          </a:stretch>
        </p:blipFill>
        <p:spPr bwMode="auto">
          <a:xfrm>
            <a:off x="3965575" y="3870325"/>
            <a:ext cx="5168900" cy="2578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2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2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2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42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42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2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1000"/>
                                        <p:tgtEl>
                                          <p:spTgt spid="42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1000"/>
                                        <p:tgtEl>
                                          <p:spTgt spid="42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1000"/>
                                        <p:tgtEl>
                                          <p:spTgt spid="42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1000"/>
                                        <p:tgtEl>
                                          <p:spTgt spid="42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42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1000"/>
                                        <p:tgtEl>
                                          <p:spTgt spid="42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1000"/>
                                        <p:tgtEl>
                                          <p:spTgt spid="4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1000"/>
                                        <p:tgtEl>
                                          <p:spTgt spid="42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1000"/>
                                        <p:tgtEl>
                                          <p:spTgt spid="42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4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42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42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42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4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42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42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42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42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1000"/>
                                        <p:tgtEl>
                                          <p:spTgt spid="42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1000"/>
                                        <p:tgtEl>
                                          <p:spTgt spid="42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1000"/>
                                        <p:tgtEl>
                                          <p:spTgt spid="42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1000"/>
                                        <p:tgtEl>
                                          <p:spTgt spid="42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1000"/>
                                        <p:tgtEl>
                                          <p:spTgt spid="42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1000"/>
                                        <p:tgtEl>
                                          <p:spTgt spid="42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1000"/>
                                        <p:tgtEl>
                                          <p:spTgt spid="42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1000"/>
                                        <p:tgtEl>
                                          <p:spTgt spid="42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9" dur="500"/>
                                        <p:tgtEl>
                                          <p:spTgt spid="426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1000"/>
                                        <p:tgtEl>
                                          <p:spTgt spid="42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0" dur="1000"/>
                                        <p:tgtEl>
                                          <p:spTgt spid="4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5" dur="1000"/>
                                        <p:tgtEl>
                                          <p:spTgt spid="42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1000"/>
                                        <p:tgtEl>
                                          <p:spTgt spid="42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1000"/>
                                        <p:tgtEl>
                                          <p:spTgt spid="42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9" dur="1000"/>
                                        <p:tgtEl>
                                          <p:spTgt spid="42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1000"/>
                                        <p:tgtEl>
                                          <p:spTgt spid="42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1000"/>
                                        <p:tgtEl>
                                          <p:spTgt spid="42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1000"/>
                                        <p:tgtEl>
                                          <p:spTgt spid="42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1000"/>
                                        <p:tgtEl>
                                          <p:spTgt spid="42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1000"/>
                                        <p:tgtEl>
                                          <p:spTgt spid="42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1000"/>
                                        <p:tgtEl>
                                          <p:spTgt spid="42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4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5" dur="500"/>
                                        <p:tgtEl>
                                          <p:spTgt spid="4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0" dur="500"/>
                                        <p:tgtEl>
                                          <p:spTgt spid="42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5" dur="500"/>
                                        <p:tgtEl>
                                          <p:spTgt spid="42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050" grpId="0" animBg="1"/>
      <p:bldP spid="426046" grpId="0" animBg="1"/>
      <p:bldP spid="426046" grpId="1" animBg="1"/>
      <p:bldP spid="425989" grpId="0" animBg="1"/>
      <p:bldP spid="425990" grpId="0" animBg="1"/>
      <p:bldP spid="425991" grpId="0" animBg="1"/>
      <p:bldP spid="425992" grpId="0" animBg="1"/>
      <p:bldP spid="425993" grpId="0" animBg="1"/>
      <p:bldP spid="425996" grpId="0"/>
      <p:bldP spid="425997" grpId="0" animBg="1"/>
      <p:bldP spid="425999" grpId="0"/>
      <p:bldP spid="426000" grpId="0"/>
      <p:bldP spid="426001" grpId="0"/>
      <p:bldP spid="426002" grpId="0"/>
      <p:bldP spid="426004" grpId="0"/>
      <p:bldP spid="426005" grpId="0"/>
      <p:bldP spid="426006" grpId="0"/>
      <p:bldP spid="426007" grpId="0"/>
      <p:bldP spid="426008" grpId="0"/>
      <p:bldP spid="426009" grpId="0"/>
      <p:bldP spid="426010" grpId="0"/>
      <p:bldP spid="426011" grpId="0" animBg="1"/>
      <p:bldP spid="426012" grpId="0" animBg="1"/>
      <p:bldP spid="426013" grpId="0" animBg="1"/>
      <p:bldP spid="426014" grpId="0" animBg="1"/>
      <p:bldP spid="426015" grpId="0" animBg="1"/>
      <p:bldP spid="426016" grpId="0" animBg="1"/>
      <p:bldP spid="426017" grpId="0" animBg="1"/>
      <p:bldP spid="426018" grpId="0" animBg="1"/>
      <p:bldP spid="426019" grpId="0" animBg="1"/>
      <p:bldP spid="426020" grpId="0" animBg="1"/>
      <p:bldP spid="426021" grpId="0" animBg="1"/>
      <p:bldP spid="426022" grpId="0" animBg="1"/>
      <p:bldP spid="426023" grpId="0" animBg="1"/>
      <p:bldP spid="426024" grpId="0" animBg="1"/>
      <p:bldP spid="426025" grpId="0" animBg="1"/>
      <p:bldP spid="426026" grpId="0" animBg="1"/>
      <p:bldP spid="426027" grpId="0" animBg="1"/>
      <p:bldP spid="426028" grpId="0" animBg="1"/>
      <p:bldP spid="426029" grpId="0" animBg="1"/>
      <p:bldP spid="426030" grpId="0" animBg="1"/>
      <p:bldP spid="426032" grpId="0" animBg="1"/>
      <p:bldP spid="426034" grpId="0" animBg="1"/>
      <p:bldP spid="426035" grpId="0" animBg="1"/>
      <p:bldP spid="426036" grpId="0" animBg="1"/>
      <p:bldP spid="426037" grpId="0" animBg="1"/>
      <p:bldP spid="426039" grpId="0" animBg="1"/>
      <p:bldP spid="426040" grpId="0" animBg="1"/>
      <p:bldP spid="426041" grpId="0" animBg="1"/>
      <p:bldP spid="426042" grpId="0"/>
      <p:bldP spid="426043" grpId="0"/>
      <p:bldP spid="426044" grpId="0"/>
      <p:bldP spid="426045" grpId="0"/>
      <p:bldP spid="426047" grpId="0" animBg="1"/>
      <p:bldP spid="426048" grpId="0" animBg="1"/>
      <p:bldP spid="426056" grpId="0" animBg="1"/>
      <p:bldP spid="4260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3-2-1-7  </a:t>
            </a:r>
            <a:r>
              <a:rPr lang="zh-CN" altLang="en-US" sz="1600" b="1">
                <a:latin typeface="宋体" pitchFamily="2" charset="-122"/>
              </a:rPr>
              <a:t>四</a:t>
            </a:r>
            <a:r>
              <a:rPr lang="en-US" altLang="en-US" sz="1600" b="1">
                <a:latin typeface="宋体" pitchFamily="2" charset="-122"/>
              </a:rPr>
              <a:t>棱锥被一水平面及正垂面所截，完成俯视图，并作出左视图。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9219" name="Oval 5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922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2" t="18929" r="22786" b="33675"/>
          <a:stretch>
            <a:fillRect/>
          </a:stretch>
        </p:blipFill>
        <p:spPr bwMode="auto">
          <a:xfrm>
            <a:off x="1163638" y="649288"/>
            <a:ext cx="6338887" cy="555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06" t="27946" r="43866" b="37679"/>
          <a:stretch>
            <a:fillRect/>
          </a:stretch>
        </p:blipFill>
        <p:spPr bwMode="auto">
          <a:xfrm>
            <a:off x="93663" y="174625"/>
            <a:ext cx="1587500" cy="309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292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40" t="27327" r="26146" b="38232"/>
          <a:stretch>
            <a:fillRect/>
          </a:stretch>
        </p:blipFill>
        <p:spPr bwMode="auto">
          <a:xfrm>
            <a:off x="1851025" y="104775"/>
            <a:ext cx="3643313" cy="314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2924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34" t="27507" r="24362" b="29411"/>
          <a:stretch>
            <a:fillRect/>
          </a:stretch>
        </p:blipFill>
        <p:spPr bwMode="auto">
          <a:xfrm>
            <a:off x="5497513" y="117475"/>
            <a:ext cx="3646487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2926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62" t="30078" r="22421" b="31755"/>
          <a:stretch>
            <a:fillRect/>
          </a:stretch>
        </p:blipFill>
        <p:spPr bwMode="auto">
          <a:xfrm>
            <a:off x="139700" y="3336925"/>
            <a:ext cx="3859213" cy="330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2927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04" t="22054" r="30495" b="31770"/>
          <a:stretch>
            <a:fillRect/>
          </a:stretch>
        </p:blipFill>
        <p:spPr bwMode="auto">
          <a:xfrm>
            <a:off x="4471988" y="3295650"/>
            <a:ext cx="392906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4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22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22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2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37" t="34309" r="30247" b="16716"/>
          <a:stretch>
            <a:fillRect/>
          </a:stretch>
        </p:blipFill>
        <p:spPr bwMode="auto">
          <a:xfrm>
            <a:off x="2195513" y="704850"/>
            <a:ext cx="4659312" cy="477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9"/>
          <a:stretch>
            <a:fillRect/>
          </a:stretch>
        </p:blipFill>
        <p:spPr bwMode="auto">
          <a:xfrm>
            <a:off x="2195513" y="446088"/>
            <a:ext cx="49180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3-2-1-8  </a:t>
            </a:r>
            <a:r>
              <a:rPr lang="zh-CN" altLang="en-US" sz="1600" b="1">
                <a:latin typeface="宋体" pitchFamily="2" charset="-122"/>
              </a:rPr>
              <a:t>梯形棱柱被正垂面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和铅垂面</a:t>
            </a:r>
            <a:r>
              <a:rPr lang="en-US" altLang="zh-CN" sz="1600" b="1">
                <a:latin typeface="宋体" pitchFamily="2" charset="-122"/>
              </a:rPr>
              <a:t>Q</a:t>
            </a:r>
            <a:r>
              <a:rPr lang="zh-CN" altLang="en-US" sz="1600" b="1">
                <a:latin typeface="宋体" pitchFamily="2" charset="-122"/>
              </a:rPr>
              <a:t>截切，完成截切后的三视图。</a:t>
            </a:r>
          </a:p>
        </p:txBody>
      </p:sp>
      <p:sp>
        <p:nvSpPr>
          <p:cNvPr id="12292" name="Oval 6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4" t="20442" r="26341" b="23860"/>
          <a:stretch>
            <a:fillRect/>
          </a:stretch>
        </p:blipFill>
        <p:spPr bwMode="auto">
          <a:xfrm>
            <a:off x="0" y="0"/>
            <a:ext cx="3781425" cy="300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394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0" t="20996" r="26080" b="23860"/>
          <a:stretch>
            <a:fillRect/>
          </a:stretch>
        </p:blipFill>
        <p:spPr bwMode="auto">
          <a:xfrm>
            <a:off x="4191000" y="0"/>
            <a:ext cx="4189413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394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5" t="20784" r="25221" b="25261"/>
          <a:stretch>
            <a:fillRect/>
          </a:stretch>
        </p:blipFill>
        <p:spPr bwMode="auto">
          <a:xfrm>
            <a:off x="139700" y="3344863"/>
            <a:ext cx="3938588" cy="289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394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5" t="20996" r="25482" b="23975"/>
          <a:stretch>
            <a:fillRect/>
          </a:stretch>
        </p:blipFill>
        <p:spPr bwMode="auto">
          <a:xfrm>
            <a:off x="4241800" y="3343275"/>
            <a:ext cx="416560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3-2-1-8  </a:t>
            </a:r>
            <a:r>
              <a:rPr lang="zh-CN" altLang="en-US" sz="1600" b="1">
                <a:latin typeface="宋体" pitchFamily="2" charset="-122"/>
              </a:rPr>
              <a:t>梯形棱柱被正垂面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和铅垂面</a:t>
            </a:r>
            <a:r>
              <a:rPr lang="en-US" altLang="zh-CN" sz="1600" b="1">
                <a:latin typeface="宋体" pitchFamily="2" charset="-122"/>
              </a:rPr>
              <a:t>Q</a:t>
            </a:r>
            <a:r>
              <a:rPr lang="zh-CN" altLang="en-US" sz="1600" b="1">
                <a:latin typeface="宋体" pitchFamily="2" charset="-122"/>
              </a:rPr>
              <a:t>截切，完成截切后的三视图。</a:t>
            </a:r>
          </a:p>
        </p:txBody>
      </p:sp>
      <p:pic>
        <p:nvPicPr>
          <p:cNvPr id="1433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2" t="13931" r="9442" b="27477"/>
          <a:stretch>
            <a:fillRect/>
          </a:stretch>
        </p:blipFill>
        <p:spPr bwMode="auto">
          <a:xfrm>
            <a:off x="1204913" y="1084263"/>
            <a:ext cx="6675437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Oval 6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3-2-2-1  作主视图</a:t>
            </a:r>
            <a:endParaRPr lang="zh-CN" altLang="en-US" sz="1600" b="1">
              <a:latin typeface="宋体" pitchFamily="2" charset="-122"/>
            </a:endParaRPr>
          </a:p>
        </p:txBody>
      </p:sp>
      <p:graphicFrame>
        <p:nvGraphicFramePr>
          <p:cNvPr id="15363" name="Object 6"/>
          <p:cNvGraphicFramePr>
            <a:graphicFrameLocks noChangeAspect="1"/>
          </p:cNvGraphicFramePr>
          <p:nvPr/>
        </p:nvGraphicFramePr>
        <p:xfrm>
          <a:off x="1276350" y="776288"/>
          <a:ext cx="4905375" cy="525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name="Image" r:id="rId3" imgW="6539683" imgH="8507937" progId="Photoshop.Image.6">
                  <p:embed/>
                </p:oleObj>
              </mc:Choice>
              <mc:Fallback>
                <p:oleObj name="Image" r:id="rId3" imgW="6539683" imgH="8507937" progId="Photoshop.Image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7587"/>
                      <a:stretch>
                        <a:fillRect/>
                      </a:stretch>
                    </p:blipFill>
                    <p:spPr bwMode="auto">
                      <a:xfrm>
                        <a:off x="1276350" y="776288"/>
                        <a:ext cx="4905375" cy="5259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91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84" r="-11720"/>
          <a:stretch>
            <a:fillRect/>
          </a:stretch>
        </p:blipFill>
        <p:spPr bwMode="auto">
          <a:xfrm>
            <a:off x="4960938" y="3651250"/>
            <a:ext cx="3867150" cy="2606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3-2-2-2  作左视图</a:t>
            </a:r>
            <a:endParaRPr lang="zh-CN" altLang="en-US" sz="1600" b="1">
              <a:latin typeface="宋体" pitchFamily="2" charset="-122"/>
            </a:endParaRPr>
          </a:p>
        </p:txBody>
      </p:sp>
      <p:graphicFrame>
        <p:nvGraphicFramePr>
          <p:cNvPr id="16387" name="Object 5"/>
          <p:cNvGraphicFramePr>
            <a:graphicFrameLocks noChangeAspect="1"/>
          </p:cNvGraphicFramePr>
          <p:nvPr/>
        </p:nvGraphicFramePr>
        <p:xfrm>
          <a:off x="1355725" y="735013"/>
          <a:ext cx="4676775" cy="605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Image" r:id="rId3" imgW="6234921" imgH="8076190" progId="Photoshop.Image.6">
                  <p:embed/>
                </p:oleObj>
              </mc:Choice>
              <mc:Fallback>
                <p:oleObj name="Image" r:id="rId3" imgW="6234921" imgH="8076190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735013"/>
                        <a:ext cx="4676775" cy="605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Oval 6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2887" name="Oval 7"/>
          <p:cNvSpPr>
            <a:spLocks noChangeArrowheads="1"/>
          </p:cNvSpPr>
          <p:nvPr/>
        </p:nvSpPr>
        <p:spPr bwMode="auto">
          <a:xfrm>
            <a:off x="4492625" y="1662113"/>
            <a:ext cx="644525" cy="268287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2888" name="Oval 8"/>
          <p:cNvSpPr>
            <a:spLocks noChangeArrowheads="1"/>
          </p:cNvSpPr>
          <p:nvPr/>
        </p:nvSpPr>
        <p:spPr bwMode="auto">
          <a:xfrm>
            <a:off x="4525963" y="1997075"/>
            <a:ext cx="644525" cy="26828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2889" name="Oval 9"/>
          <p:cNvSpPr>
            <a:spLocks noChangeArrowheads="1"/>
          </p:cNvSpPr>
          <p:nvPr/>
        </p:nvSpPr>
        <p:spPr bwMode="auto">
          <a:xfrm>
            <a:off x="4516438" y="1320800"/>
            <a:ext cx="644525" cy="26828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2890" name="Oval 10"/>
          <p:cNvSpPr>
            <a:spLocks noChangeArrowheads="1"/>
          </p:cNvSpPr>
          <p:nvPr/>
        </p:nvSpPr>
        <p:spPr bwMode="auto">
          <a:xfrm>
            <a:off x="5119688" y="2351088"/>
            <a:ext cx="292100" cy="268287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22892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3289" r="-60265"/>
          <a:stretch>
            <a:fillRect/>
          </a:stretch>
        </p:blipFill>
        <p:spPr bwMode="auto">
          <a:xfrm>
            <a:off x="4505325" y="3779838"/>
            <a:ext cx="4497388" cy="293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130300" y="5918200"/>
            <a:ext cx="4487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注意：获取中间点的过程要保留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7" grpId="0" animBg="1"/>
      <p:bldP spid="122888" grpId="0" animBg="1"/>
      <p:bldP spid="122889" grpId="0" animBg="1"/>
      <p:bldP spid="122890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83552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3-2-2-3  作左视图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7412" name="Oval 5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3734" name="Oval 6"/>
          <p:cNvSpPr>
            <a:spLocks noChangeArrowheads="1"/>
          </p:cNvSpPr>
          <p:nvPr/>
        </p:nvSpPr>
        <p:spPr bwMode="auto">
          <a:xfrm>
            <a:off x="4700588" y="1258888"/>
            <a:ext cx="187325" cy="860425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3735" name="Oval 7"/>
          <p:cNvSpPr>
            <a:spLocks noChangeArrowheads="1"/>
          </p:cNvSpPr>
          <p:nvPr/>
        </p:nvSpPr>
        <p:spPr bwMode="auto">
          <a:xfrm>
            <a:off x="6011863" y="1273175"/>
            <a:ext cx="217487" cy="849313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3736" name="Oval 8"/>
          <p:cNvSpPr>
            <a:spLocks noChangeArrowheads="1"/>
          </p:cNvSpPr>
          <p:nvPr/>
        </p:nvSpPr>
        <p:spPr bwMode="auto">
          <a:xfrm>
            <a:off x="5130800" y="2355850"/>
            <a:ext cx="706438" cy="288925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3737" name="Text Box 9"/>
          <p:cNvSpPr txBox="1">
            <a:spLocks noChangeArrowheads="1"/>
          </p:cNvSpPr>
          <p:nvPr/>
        </p:nvSpPr>
        <p:spPr bwMode="auto">
          <a:xfrm>
            <a:off x="249238" y="5354283"/>
            <a:ext cx="4487862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提示：</a:t>
            </a:r>
            <a:endParaRPr lang="en-US" altLang="zh-CN" sz="28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对于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回转体的截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切，</a:t>
            </a:r>
            <a:endParaRPr lang="en-US" altLang="zh-CN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算上中心线，也是类似形。</a:t>
            </a:r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2479675" y="1544638"/>
            <a:ext cx="3238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1'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40" name="Text Box 12"/>
          <p:cNvSpPr txBox="1">
            <a:spLocks noChangeArrowheads="1"/>
          </p:cNvSpPr>
          <p:nvPr/>
        </p:nvSpPr>
        <p:spPr bwMode="auto">
          <a:xfrm>
            <a:off x="2455863" y="28479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2'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41" name="Text Box 13"/>
          <p:cNvSpPr txBox="1">
            <a:spLocks noChangeArrowheads="1"/>
          </p:cNvSpPr>
          <p:nvPr/>
        </p:nvSpPr>
        <p:spPr bwMode="auto">
          <a:xfrm>
            <a:off x="3063875" y="285432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3'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3481388" y="94932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6'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43" name="Text Box 15"/>
          <p:cNvSpPr txBox="1">
            <a:spLocks noChangeArrowheads="1"/>
          </p:cNvSpPr>
          <p:nvPr/>
        </p:nvSpPr>
        <p:spPr bwMode="auto">
          <a:xfrm>
            <a:off x="3063875" y="251460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4'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44" name="Text Box 16"/>
          <p:cNvSpPr txBox="1">
            <a:spLocks noChangeArrowheads="1"/>
          </p:cNvSpPr>
          <p:nvPr/>
        </p:nvSpPr>
        <p:spPr bwMode="auto">
          <a:xfrm>
            <a:off x="3479800" y="222250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5'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45" name="Text Box 17"/>
          <p:cNvSpPr txBox="1">
            <a:spLocks noChangeArrowheads="1"/>
          </p:cNvSpPr>
          <p:nvPr/>
        </p:nvSpPr>
        <p:spPr bwMode="auto">
          <a:xfrm>
            <a:off x="2874963" y="963613"/>
            <a:ext cx="368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7'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48" name="Text Box 20"/>
          <p:cNvSpPr txBox="1">
            <a:spLocks noChangeArrowheads="1"/>
          </p:cNvSpPr>
          <p:nvPr/>
        </p:nvSpPr>
        <p:spPr bwMode="auto">
          <a:xfrm>
            <a:off x="5411788" y="1728788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1"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49" name="Text Box 21"/>
          <p:cNvSpPr txBox="1">
            <a:spLocks noChangeArrowheads="1"/>
          </p:cNvSpPr>
          <p:nvPr/>
        </p:nvSpPr>
        <p:spPr bwMode="auto">
          <a:xfrm>
            <a:off x="5441950" y="294481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2"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50" name="Text Box 22"/>
          <p:cNvSpPr txBox="1">
            <a:spLocks noChangeArrowheads="1"/>
          </p:cNvSpPr>
          <p:nvPr/>
        </p:nvSpPr>
        <p:spPr bwMode="auto">
          <a:xfrm>
            <a:off x="6048375" y="291306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3"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51" name="Text Box 23"/>
          <p:cNvSpPr txBox="1">
            <a:spLocks noChangeArrowheads="1"/>
          </p:cNvSpPr>
          <p:nvPr/>
        </p:nvSpPr>
        <p:spPr bwMode="auto">
          <a:xfrm>
            <a:off x="6016625" y="2535238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4"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52" name="Text Box 24"/>
          <p:cNvSpPr txBox="1">
            <a:spLocks noChangeArrowheads="1"/>
          </p:cNvSpPr>
          <p:nvPr/>
        </p:nvSpPr>
        <p:spPr bwMode="auto">
          <a:xfrm>
            <a:off x="6172200" y="971550"/>
            <a:ext cx="444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6"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53" name="Text Box 25"/>
          <p:cNvSpPr txBox="1">
            <a:spLocks noChangeArrowheads="1"/>
          </p:cNvSpPr>
          <p:nvPr/>
        </p:nvSpPr>
        <p:spPr bwMode="auto">
          <a:xfrm>
            <a:off x="6203950" y="223361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5"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54" name="Text Box 26"/>
          <p:cNvSpPr txBox="1">
            <a:spLocks noChangeArrowheads="1"/>
          </p:cNvSpPr>
          <p:nvPr/>
        </p:nvSpPr>
        <p:spPr bwMode="auto">
          <a:xfrm>
            <a:off x="5730875" y="118586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7"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55" name="Text Box 27"/>
          <p:cNvSpPr txBox="1">
            <a:spLocks noChangeArrowheads="1"/>
          </p:cNvSpPr>
          <p:nvPr/>
        </p:nvSpPr>
        <p:spPr bwMode="auto">
          <a:xfrm>
            <a:off x="5721350" y="1477963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8"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73756" name="Text Box 28"/>
          <p:cNvSpPr txBox="1">
            <a:spLocks noChangeArrowheads="1"/>
          </p:cNvSpPr>
          <p:nvPr/>
        </p:nvSpPr>
        <p:spPr bwMode="auto">
          <a:xfrm>
            <a:off x="2828925" y="147320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>
                <a:latin typeface="华文仿宋" pitchFamily="2" charset="-122"/>
                <a:ea typeface="华文仿宋" pitchFamily="2" charset="-122"/>
              </a:rPr>
              <a:t>8'</a:t>
            </a:r>
            <a:endParaRPr lang="en-US" altLang="en-US" sz="1200" b="1" i="1">
              <a:latin typeface="华文仿宋" pitchFamily="2" charset="-122"/>
              <a:ea typeface="华文仿宋" pitchFamily="2" charset="-122"/>
            </a:endParaRPr>
          </a:p>
        </p:txBody>
      </p:sp>
      <p:pic>
        <p:nvPicPr>
          <p:cNvPr id="73757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325" r="-19409"/>
          <a:stretch>
            <a:fillRect/>
          </a:stretch>
        </p:blipFill>
        <p:spPr bwMode="auto">
          <a:xfrm>
            <a:off x="5949950" y="3754438"/>
            <a:ext cx="2695575" cy="2854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animBg="1"/>
      <p:bldP spid="73735" grpId="0" animBg="1"/>
      <p:bldP spid="73736" grpId="0" animBg="1"/>
      <p:bldP spid="73737" grpId="0"/>
      <p:bldP spid="73739" grpId="0"/>
      <p:bldP spid="73740" grpId="0"/>
      <p:bldP spid="73741" grpId="0"/>
      <p:bldP spid="73742" grpId="0"/>
      <p:bldP spid="73743" grpId="0"/>
      <p:bldP spid="73744" grpId="0"/>
      <p:bldP spid="73745" grpId="0"/>
      <p:bldP spid="73748" grpId="0"/>
      <p:bldP spid="73749" grpId="0"/>
      <p:bldP spid="73750" grpId="0"/>
      <p:bldP spid="73751" grpId="0"/>
      <p:bldP spid="73752" grpId="0"/>
      <p:bldP spid="73753" grpId="0"/>
      <p:bldP spid="73754" grpId="0"/>
      <p:bldP spid="73755" grpId="0"/>
      <p:bldP spid="737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8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3-2-2-4  补全主、俯视图中的截交线。</a:t>
            </a:r>
            <a:endParaRPr lang="zh-CN" altLang="en-US" sz="1600" b="1">
              <a:latin typeface="宋体" pitchFamily="2" charset="-122"/>
            </a:endParaRPr>
          </a:p>
        </p:txBody>
      </p:sp>
      <p:grpSp>
        <p:nvGrpSpPr>
          <p:cNvPr id="18435" name="Group 10"/>
          <p:cNvGrpSpPr>
            <a:grpSpLocks/>
          </p:cNvGrpSpPr>
          <p:nvPr/>
        </p:nvGrpSpPr>
        <p:grpSpPr bwMode="auto">
          <a:xfrm>
            <a:off x="2195513" y="446088"/>
            <a:ext cx="4776787" cy="4489450"/>
            <a:chOff x="1383" y="281"/>
            <a:chExt cx="3009" cy="2828"/>
          </a:xfrm>
        </p:grpSpPr>
        <p:pic>
          <p:nvPicPr>
            <p:cNvPr id="1843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69" b="26752"/>
            <a:stretch>
              <a:fillRect/>
            </a:stretch>
          </p:blipFill>
          <p:spPr bwMode="auto">
            <a:xfrm>
              <a:off x="1383" y="281"/>
              <a:ext cx="3009" cy="2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37" name="Rectangle 9"/>
            <p:cNvSpPr>
              <a:spLocks noChangeArrowheads="1"/>
            </p:cNvSpPr>
            <p:nvPr/>
          </p:nvSpPr>
          <p:spPr bwMode="auto">
            <a:xfrm>
              <a:off x="3463" y="2754"/>
              <a:ext cx="791" cy="3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3-2-2-4  补全主、俯视图中的截交线。</a:t>
            </a:r>
            <a:endParaRPr lang="zh-CN" altLang="en-US" sz="1600" b="1">
              <a:latin typeface="宋体" pitchFamily="2" charset="-122"/>
            </a:endParaRPr>
          </a:p>
        </p:txBody>
      </p:sp>
      <p:grpSp>
        <p:nvGrpSpPr>
          <p:cNvPr id="19459" name="Group 11"/>
          <p:cNvGrpSpPr>
            <a:grpSpLocks/>
          </p:cNvGrpSpPr>
          <p:nvPr/>
        </p:nvGrpSpPr>
        <p:grpSpPr bwMode="auto">
          <a:xfrm>
            <a:off x="1455738" y="960438"/>
            <a:ext cx="5580062" cy="2787650"/>
            <a:chOff x="917" y="605"/>
            <a:chExt cx="3515" cy="1756"/>
          </a:xfrm>
        </p:grpSpPr>
        <p:pic>
          <p:nvPicPr>
            <p:cNvPr id="19460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5369" r="-31902"/>
            <a:stretch>
              <a:fillRect/>
            </a:stretch>
          </p:blipFill>
          <p:spPr bwMode="auto">
            <a:xfrm>
              <a:off x="917" y="605"/>
              <a:ext cx="3515" cy="17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7928" name="Text Box 8"/>
            <p:cNvSpPr txBox="1">
              <a:spLocks noChangeArrowheads="1"/>
            </p:cNvSpPr>
            <p:nvPr/>
          </p:nvSpPr>
          <p:spPr bwMode="auto">
            <a:xfrm>
              <a:off x="2266" y="1207"/>
              <a:ext cx="2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400" b="1" i="1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TEUR" pitchFamily="49" charset="0"/>
                </a:rPr>
                <a:t>P</a:t>
              </a:r>
            </a:p>
          </p:txBody>
        </p:sp>
        <p:sp>
          <p:nvSpPr>
            <p:cNvPr id="337929" name="Text Box 9"/>
            <p:cNvSpPr txBox="1">
              <a:spLocks noChangeArrowheads="1"/>
            </p:cNvSpPr>
            <p:nvPr/>
          </p:nvSpPr>
          <p:spPr bwMode="auto">
            <a:xfrm>
              <a:off x="3135" y="1323"/>
              <a:ext cx="2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400" b="1" i="1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TEUR" pitchFamily="49" charset="0"/>
                </a:rPr>
                <a:t>S</a:t>
              </a:r>
            </a:p>
          </p:txBody>
        </p:sp>
        <p:sp>
          <p:nvSpPr>
            <p:cNvPr id="337930" name="Text Box 10"/>
            <p:cNvSpPr txBox="1">
              <a:spLocks noChangeArrowheads="1"/>
            </p:cNvSpPr>
            <p:nvPr/>
          </p:nvSpPr>
          <p:spPr bwMode="auto">
            <a:xfrm>
              <a:off x="2679" y="1482"/>
              <a:ext cx="2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400" b="1" i="1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TEUR" pitchFamily="49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3-2-2-5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048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51" t="20818" r="27240" b="24854"/>
          <a:stretch>
            <a:fillRect/>
          </a:stretch>
        </p:blipFill>
        <p:spPr bwMode="auto">
          <a:xfrm>
            <a:off x="1785938" y="819150"/>
            <a:ext cx="6048375" cy="529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7" t="14470" r="17123" b="24548"/>
          <a:stretch>
            <a:fillRect/>
          </a:stretch>
        </p:blipFill>
        <p:spPr bwMode="auto">
          <a:xfrm>
            <a:off x="2060575" y="965200"/>
            <a:ext cx="4300538" cy="327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3-2-2-5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0"/>
          <a:stretch>
            <a:fillRect/>
          </a:stretch>
        </p:blipFill>
        <p:spPr bwMode="auto">
          <a:xfrm>
            <a:off x="2195513" y="446088"/>
            <a:ext cx="4759325" cy="607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3-2-2-6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2532" name="Oval 5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0662" name="Oval 6"/>
          <p:cNvSpPr>
            <a:spLocks noChangeArrowheads="1"/>
          </p:cNvSpPr>
          <p:nvPr/>
        </p:nvSpPr>
        <p:spPr bwMode="auto">
          <a:xfrm>
            <a:off x="4806950" y="1865313"/>
            <a:ext cx="320675" cy="2667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0663" name="Oval 7"/>
          <p:cNvSpPr>
            <a:spLocks noChangeArrowheads="1"/>
          </p:cNvSpPr>
          <p:nvPr/>
        </p:nvSpPr>
        <p:spPr bwMode="auto">
          <a:xfrm>
            <a:off x="5487988" y="1565275"/>
            <a:ext cx="320675" cy="2667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0664" name="Oval 8"/>
          <p:cNvSpPr>
            <a:spLocks noChangeArrowheads="1"/>
          </p:cNvSpPr>
          <p:nvPr/>
        </p:nvSpPr>
        <p:spPr bwMode="auto">
          <a:xfrm>
            <a:off x="5589588" y="2222500"/>
            <a:ext cx="320675" cy="2667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0665" name="Oval 9"/>
          <p:cNvSpPr>
            <a:spLocks noChangeArrowheads="1"/>
          </p:cNvSpPr>
          <p:nvPr/>
        </p:nvSpPr>
        <p:spPr bwMode="auto">
          <a:xfrm>
            <a:off x="4943475" y="1192213"/>
            <a:ext cx="320675" cy="2667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4489450" y="4881563"/>
            <a:ext cx="4464050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注意：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>
                <a:latin typeface="宋体" pitchFamily="2" charset="-122"/>
              </a:rPr>
              <a:t>找出</a:t>
            </a:r>
            <a:r>
              <a:rPr lang="zh-CN" altLang="en-US" sz="1800" b="1" dirty="0">
                <a:solidFill>
                  <a:schemeClr val="hlink"/>
                </a:solidFill>
                <a:latin typeface="宋体" pitchFamily="2" charset="-122"/>
              </a:rPr>
              <a:t>全部的特殊点</a:t>
            </a:r>
            <a:r>
              <a:rPr lang="zh-CN" altLang="en-US" sz="1800" b="1" dirty="0">
                <a:latin typeface="宋体" pitchFamily="2" charset="-122"/>
              </a:rPr>
              <a:t>和</a:t>
            </a:r>
            <a:r>
              <a:rPr lang="zh-CN" altLang="en-US" sz="1800" b="1" dirty="0">
                <a:solidFill>
                  <a:schemeClr val="hlink"/>
                </a:solidFill>
                <a:latin typeface="宋体" pitchFamily="2" charset="-122"/>
              </a:rPr>
              <a:t>适当的中间点</a:t>
            </a:r>
            <a:r>
              <a:rPr lang="zh-CN" altLang="en-US" sz="1800" b="1" dirty="0">
                <a:latin typeface="宋体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>
                <a:latin typeface="宋体" pitchFamily="2" charset="-122"/>
              </a:rPr>
              <a:t>椭圆的中心线。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>
                <a:latin typeface="宋体" pitchFamily="2" charset="-122"/>
              </a:rPr>
              <a:t>不同的线型表示不同的含义</a:t>
            </a:r>
            <a:r>
              <a:rPr lang="zh-CN" altLang="en-US" sz="1800" b="1" dirty="0" smtClean="0">
                <a:latin typeface="宋体" pitchFamily="2" charset="-122"/>
              </a:rPr>
              <a:t>。 </a:t>
            </a:r>
            <a:endParaRPr lang="zh-CN" altLang="en-US" sz="1800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0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2" grpId="0" animBg="1"/>
      <p:bldP spid="70663" grpId="0" animBg="1"/>
      <p:bldP spid="70664" grpId="0" animBg="1"/>
      <p:bldP spid="70665" grpId="0" animBg="1"/>
      <p:bldP spid="7066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3-2-2-6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355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4" t="20296" r="17656" b="29568"/>
          <a:stretch>
            <a:fillRect/>
          </a:stretch>
        </p:blipFill>
        <p:spPr bwMode="auto">
          <a:xfrm>
            <a:off x="1614488" y="1008063"/>
            <a:ext cx="5541962" cy="322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Oval 6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783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Text Box 8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3-2-2-7  完成俯视图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4580" name="Oval 9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6986" name="Oval 10"/>
          <p:cNvSpPr>
            <a:spLocks noChangeArrowheads="1"/>
          </p:cNvSpPr>
          <p:nvPr/>
        </p:nvSpPr>
        <p:spPr bwMode="auto">
          <a:xfrm>
            <a:off x="3021013" y="3487738"/>
            <a:ext cx="320675" cy="2667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6987" name="Oval 11"/>
          <p:cNvSpPr>
            <a:spLocks noChangeArrowheads="1"/>
          </p:cNvSpPr>
          <p:nvPr/>
        </p:nvSpPr>
        <p:spPr bwMode="auto">
          <a:xfrm>
            <a:off x="3024188" y="3097213"/>
            <a:ext cx="320675" cy="2667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6988" name="Oval 12"/>
          <p:cNvSpPr>
            <a:spLocks noChangeArrowheads="1"/>
          </p:cNvSpPr>
          <p:nvPr/>
        </p:nvSpPr>
        <p:spPr bwMode="auto">
          <a:xfrm>
            <a:off x="3452813" y="3846513"/>
            <a:ext cx="227012" cy="2159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6989" name="Oval 13"/>
          <p:cNvSpPr>
            <a:spLocks noChangeArrowheads="1"/>
          </p:cNvSpPr>
          <p:nvPr/>
        </p:nvSpPr>
        <p:spPr bwMode="auto">
          <a:xfrm>
            <a:off x="3621088" y="3248025"/>
            <a:ext cx="247650" cy="20478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6" grpId="0" animBg="1"/>
      <p:bldP spid="126987" grpId="0" animBg="1"/>
      <p:bldP spid="126988" grpId="0" animBg="1"/>
      <p:bldP spid="12698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10"/>
          <p:cNvGrpSpPr>
            <a:grpSpLocks/>
          </p:cNvGrpSpPr>
          <p:nvPr/>
        </p:nvGrpSpPr>
        <p:grpSpPr bwMode="auto">
          <a:xfrm>
            <a:off x="1624013" y="1404938"/>
            <a:ext cx="5421312" cy="2268537"/>
            <a:chOff x="1023" y="885"/>
            <a:chExt cx="3415" cy="1429"/>
          </a:xfrm>
        </p:grpSpPr>
        <p:pic>
          <p:nvPicPr>
            <p:cNvPr id="25605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5082" r="-35321"/>
            <a:stretch>
              <a:fillRect/>
            </a:stretch>
          </p:blipFill>
          <p:spPr bwMode="auto">
            <a:xfrm>
              <a:off x="1023" y="885"/>
              <a:ext cx="3415" cy="14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0997" name="Text Box 5"/>
            <p:cNvSpPr txBox="1">
              <a:spLocks noChangeArrowheads="1"/>
            </p:cNvSpPr>
            <p:nvPr/>
          </p:nvSpPr>
          <p:spPr bwMode="auto">
            <a:xfrm>
              <a:off x="2259" y="1325"/>
              <a:ext cx="2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400" b="1" i="1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PEUR" pitchFamily="34" charset="0"/>
                </a:rPr>
                <a:t>P</a:t>
              </a:r>
            </a:p>
          </p:txBody>
        </p:sp>
        <p:sp>
          <p:nvSpPr>
            <p:cNvPr id="340998" name="Text Box 6"/>
            <p:cNvSpPr txBox="1">
              <a:spLocks noChangeArrowheads="1"/>
            </p:cNvSpPr>
            <p:nvPr/>
          </p:nvSpPr>
          <p:spPr bwMode="auto">
            <a:xfrm>
              <a:off x="2304" y="962"/>
              <a:ext cx="2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400" b="1" i="1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PEUR" pitchFamily="34" charset="0"/>
                </a:rPr>
                <a:t>Q</a:t>
              </a:r>
            </a:p>
          </p:txBody>
        </p:sp>
        <p:sp>
          <p:nvSpPr>
            <p:cNvPr id="25608" name="Line 7"/>
            <p:cNvSpPr>
              <a:spLocks noChangeShapeType="1"/>
            </p:cNvSpPr>
            <p:nvPr/>
          </p:nvSpPr>
          <p:spPr bwMode="auto">
            <a:xfrm flipH="1" flipV="1">
              <a:off x="2508" y="1165"/>
              <a:ext cx="114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3" name="Text Box 8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3-2-2-7  完成俯视图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5604" name="Oval 11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2"/>
          <a:stretch>
            <a:fillRect/>
          </a:stretch>
        </p:blipFill>
        <p:spPr bwMode="auto">
          <a:xfrm>
            <a:off x="2195513" y="446088"/>
            <a:ext cx="4760912" cy="609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3-2-2-8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3-2-2-8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5" t="16991" r="18307" b="29124"/>
          <a:stretch>
            <a:fillRect/>
          </a:stretch>
        </p:blipFill>
        <p:spPr bwMode="auto">
          <a:xfrm>
            <a:off x="1539875" y="1009650"/>
            <a:ext cx="5440363" cy="346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4"/>
          <a:stretch>
            <a:fillRect/>
          </a:stretch>
        </p:blipFill>
        <p:spPr bwMode="auto">
          <a:xfrm>
            <a:off x="1928813" y="446088"/>
            <a:ext cx="4757737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3-2-2-9  作连杆头的主视图（图上的虚线为圆柱孔）。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8676" name="Oval 5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9031" name="Oval 7"/>
          <p:cNvSpPr>
            <a:spLocks noChangeArrowheads="1"/>
          </p:cNvSpPr>
          <p:nvPr/>
        </p:nvSpPr>
        <p:spPr bwMode="auto">
          <a:xfrm>
            <a:off x="3506788" y="966788"/>
            <a:ext cx="652462" cy="59055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290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0" t="19754" r="33122" b="32405"/>
          <a:stretch>
            <a:fillRect/>
          </a:stretch>
        </p:blipFill>
        <p:spPr bwMode="auto">
          <a:xfrm>
            <a:off x="5627688" y="3344863"/>
            <a:ext cx="328295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2077212" y="1747647"/>
            <a:ext cx="444500" cy="2667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1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3"/>
          <a:stretch>
            <a:fillRect/>
          </a:stretch>
        </p:blipFill>
        <p:spPr bwMode="auto">
          <a:xfrm>
            <a:off x="279400" y="801688"/>
            <a:ext cx="4781550" cy="603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3-2-2-10  作主视图中所缺的截交线。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9700" name="Oval 5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30054" name="Oval 6"/>
          <p:cNvSpPr>
            <a:spLocks noChangeArrowheads="1"/>
          </p:cNvSpPr>
          <p:nvPr/>
        </p:nvSpPr>
        <p:spPr bwMode="auto">
          <a:xfrm>
            <a:off x="1490663" y="1103313"/>
            <a:ext cx="568325" cy="422275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30055" name="Oval 7"/>
          <p:cNvSpPr>
            <a:spLocks noChangeArrowheads="1"/>
          </p:cNvSpPr>
          <p:nvPr/>
        </p:nvSpPr>
        <p:spPr bwMode="auto">
          <a:xfrm>
            <a:off x="1169988" y="1397000"/>
            <a:ext cx="319087" cy="3175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3005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2" t="11023" r="12502" b="30032"/>
          <a:stretch>
            <a:fillRect/>
          </a:stretch>
        </p:blipFill>
        <p:spPr bwMode="auto">
          <a:xfrm>
            <a:off x="4600575" y="3014663"/>
            <a:ext cx="418147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4" grpId="0" animBg="1"/>
      <p:bldP spid="13005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6"/>
          <p:cNvGrpSpPr>
            <a:grpSpLocks/>
          </p:cNvGrpSpPr>
          <p:nvPr/>
        </p:nvGrpSpPr>
        <p:grpSpPr bwMode="auto">
          <a:xfrm>
            <a:off x="611188" y="201613"/>
            <a:ext cx="8280400" cy="5603875"/>
            <a:chOff x="385" y="127"/>
            <a:chExt cx="5216" cy="3530"/>
          </a:xfrm>
        </p:grpSpPr>
        <p:pic>
          <p:nvPicPr>
            <p:cNvPr id="3072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127"/>
              <a:ext cx="5216" cy="3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26" name="Rectangle 5"/>
            <p:cNvSpPr>
              <a:spLocks noChangeArrowheads="1"/>
            </p:cNvSpPr>
            <p:nvPr/>
          </p:nvSpPr>
          <p:spPr bwMode="auto">
            <a:xfrm>
              <a:off x="385" y="127"/>
              <a:ext cx="811" cy="1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3-2-2-11  作出主视图中所缺的截交线。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0724" name="Oval 7"/>
          <p:cNvSpPr>
            <a:spLocks noChangeArrowheads="1"/>
          </p:cNvSpPr>
          <p:nvPr/>
        </p:nvSpPr>
        <p:spPr bwMode="auto">
          <a:xfrm>
            <a:off x="0" y="466725"/>
            <a:ext cx="644525" cy="373063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6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3-2-2-11  作出主视图中所缺的截交线。</a:t>
            </a:r>
            <a:endParaRPr lang="zh-CN" altLang="en-US" sz="1600" b="1">
              <a:latin typeface="宋体" pitchFamily="2" charset="-122"/>
            </a:endParaRPr>
          </a:p>
        </p:txBody>
      </p:sp>
      <p:grpSp>
        <p:nvGrpSpPr>
          <p:cNvPr id="31747" name="Group 25"/>
          <p:cNvGrpSpPr>
            <a:grpSpLocks/>
          </p:cNvGrpSpPr>
          <p:nvPr/>
        </p:nvGrpSpPr>
        <p:grpSpPr bwMode="auto">
          <a:xfrm>
            <a:off x="1094841" y="1322570"/>
            <a:ext cx="7507287" cy="3660775"/>
            <a:chOff x="1031" y="442"/>
            <a:chExt cx="4729" cy="2306"/>
          </a:xfrm>
        </p:grpSpPr>
        <p:pic>
          <p:nvPicPr>
            <p:cNvPr id="31748" name="Picture 2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74" t="14920" r="9825" b="29372"/>
            <a:stretch>
              <a:fillRect/>
            </a:stretch>
          </p:blipFill>
          <p:spPr bwMode="auto">
            <a:xfrm>
              <a:off x="1031" y="685"/>
              <a:ext cx="3550" cy="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49" name="Text Box 8"/>
            <p:cNvSpPr txBox="1">
              <a:spLocks noChangeArrowheads="1"/>
            </p:cNvSpPr>
            <p:nvPr/>
          </p:nvSpPr>
          <p:spPr bwMode="auto">
            <a:xfrm>
              <a:off x="4056" y="1634"/>
              <a:ext cx="17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/>
                <a:t>切点　</a:t>
              </a:r>
            </a:p>
          </p:txBody>
        </p:sp>
        <p:sp>
          <p:nvSpPr>
            <p:cNvPr id="31750" name="Text Box 13"/>
            <p:cNvSpPr txBox="1">
              <a:spLocks noChangeArrowheads="1"/>
            </p:cNvSpPr>
            <p:nvPr/>
          </p:nvSpPr>
          <p:spPr bwMode="auto">
            <a:xfrm>
              <a:off x="1258" y="442"/>
              <a:ext cx="45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/>
                <a:t>圆球　圆柱  圆环　圆球      　  圆环　圆柱　</a:t>
              </a:r>
            </a:p>
          </p:txBody>
        </p:sp>
        <p:sp>
          <p:nvSpPr>
            <p:cNvPr id="31751" name="Line 14"/>
            <p:cNvSpPr>
              <a:spLocks noChangeShapeType="1"/>
            </p:cNvSpPr>
            <p:nvPr/>
          </p:nvSpPr>
          <p:spPr bwMode="auto">
            <a:xfrm>
              <a:off x="1493" y="673"/>
              <a:ext cx="323" cy="961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2" name="Line 15"/>
            <p:cNvSpPr>
              <a:spLocks noChangeShapeType="1"/>
            </p:cNvSpPr>
            <p:nvPr/>
          </p:nvSpPr>
          <p:spPr bwMode="auto">
            <a:xfrm>
              <a:off x="1898" y="673"/>
              <a:ext cx="218" cy="70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3" name="Line 16"/>
            <p:cNvSpPr>
              <a:spLocks noChangeShapeType="1"/>
            </p:cNvSpPr>
            <p:nvPr/>
          </p:nvSpPr>
          <p:spPr bwMode="auto">
            <a:xfrm>
              <a:off x="2257" y="673"/>
              <a:ext cx="189" cy="55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4" name="Line 17"/>
            <p:cNvSpPr>
              <a:spLocks noChangeShapeType="1"/>
            </p:cNvSpPr>
            <p:nvPr/>
          </p:nvSpPr>
          <p:spPr bwMode="auto">
            <a:xfrm>
              <a:off x="2710" y="673"/>
              <a:ext cx="67" cy="17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5" name="Line 18"/>
            <p:cNvSpPr>
              <a:spLocks noChangeShapeType="1"/>
            </p:cNvSpPr>
            <p:nvPr/>
          </p:nvSpPr>
          <p:spPr bwMode="auto">
            <a:xfrm>
              <a:off x="3553" y="673"/>
              <a:ext cx="124" cy="273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6" name="Line 19"/>
            <p:cNvSpPr>
              <a:spLocks noChangeShapeType="1"/>
            </p:cNvSpPr>
            <p:nvPr/>
          </p:nvSpPr>
          <p:spPr bwMode="auto">
            <a:xfrm>
              <a:off x="3854" y="673"/>
              <a:ext cx="88" cy="17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7" name="Line 20"/>
            <p:cNvSpPr>
              <a:spLocks noChangeShapeType="1"/>
            </p:cNvSpPr>
            <p:nvPr/>
          </p:nvSpPr>
          <p:spPr bwMode="auto">
            <a:xfrm>
              <a:off x="4078" y="1375"/>
              <a:ext cx="170" cy="30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8" name="Oval 21"/>
            <p:cNvSpPr>
              <a:spLocks noChangeArrowheads="1"/>
            </p:cNvSpPr>
            <p:nvPr/>
          </p:nvSpPr>
          <p:spPr bwMode="auto">
            <a:xfrm>
              <a:off x="4056" y="1349"/>
              <a:ext cx="27" cy="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5" name="Oval 278"/>
          <p:cNvSpPr>
            <a:spLocks noChangeArrowheads="1"/>
          </p:cNvSpPr>
          <p:nvPr/>
        </p:nvSpPr>
        <p:spPr bwMode="auto">
          <a:xfrm>
            <a:off x="3935231" y="2692149"/>
            <a:ext cx="69850" cy="7699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6" name="Oval 278"/>
          <p:cNvSpPr>
            <a:spLocks noChangeArrowheads="1"/>
          </p:cNvSpPr>
          <p:nvPr/>
        </p:nvSpPr>
        <p:spPr bwMode="auto">
          <a:xfrm>
            <a:off x="3523181" y="3081618"/>
            <a:ext cx="69850" cy="7699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7" name="Oval 278"/>
          <p:cNvSpPr>
            <a:spLocks noChangeArrowheads="1"/>
          </p:cNvSpPr>
          <p:nvPr/>
        </p:nvSpPr>
        <p:spPr bwMode="auto">
          <a:xfrm>
            <a:off x="5431022" y="2438145"/>
            <a:ext cx="69850" cy="7699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8" name="Oval 278"/>
          <p:cNvSpPr>
            <a:spLocks noChangeArrowheads="1"/>
          </p:cNvSpPr>
          <p:nvPr/>
        </p:nvSpPr>
        <p:spPr bwMode="auto">
          <a:xfrm>
            <a:off x="5888225" y="2737302"/>
            <a:ext cx="69850" cy="7699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288925" y="900113"/>
          <a:ext cx="8620125" cy="557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1" name="位图图像" r:id="rId3" imgW="7342857" imgH="5210902" progId="Paint.Picture">
                  <p:embed/>
                </p:oleObj>
              </mc:Choice>
              <mc:Fallback>
                <p:oleObj name="位图图像" r:id="rId3" imgW="7342857" imgH="5210902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59" t="10747" r="2190" b="1941"/>
                      <a:stretch>
                        <a:fillRect/>
                      </a:stretch>
                    </p:blipFill>
                    <p:spPr bwMode="auto">
                      <a:xfrm>
                        <a:off x="288925" y="900113"/>
                        <a:ext cx="8620125" cy="557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8036" name="Oval 4"/>
          <p:cNvSpPr>
            <a:spLocks noChangeArrowheads="1"/>
          </p:cNvSpPr>
          <p:nvPr/>
        </p:nvSpPr>
        <p:spPr bwMode="auto">
          <a:xfrm>
            <a:off x="4217988" y="3810000"/>
            <a:ext cx="1552575" cy="1552575"/>
          </a:xfrm>
          <a:prstGeom prst="ellipse">
            <a:avLst/>
          </a:prstGeom>
          <a:noFill/>
          <a:ln w="9525">
            <a:solidFill>
              <a:srgbClr val="CC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8037" name="Oval 5"/>
          <p:cNvSpPr>
            <a:spLocks noChangeArrowheads="1"/>
          </p:cNvSpPr>
          <p:nvPr/>
        </p:nvSpPr>
        <p:spPr bwMode="auto">
          <a:xfrm>
            <a:off x="4211638" y="1154113"/>
            <a:ext cx="1552575" cy="1552575"/>
          </a:xfrm>
          <a:prstGeom prst="ellipse">
            <a:avLst/>
          </a:prstGeom>
          <a:noFill/>
          <a:ln w="9525">
            <a:solidFill>
              <a:srgbClr val="CC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8038" name="Line 6"/>
          <p:cNvSpPr>
            <a:spLocks noChangeShapeType="1"/>
          </p:cNvSpPr>
          <p:nvPr/>
        </p:nvSpPr>
        <p:spPr bwMode="auto">
          <a:xfrm>
            <a:off x="4213225" y="1935163"/>
            <a:ext cx="0" cy="2695575"/>
          </a:xfrm>
          <a:prstGeom prst="line">
            <a:avLst/>
          </a:prstGeom>
          <a:noFill/>
          <a:ln w="9525">
            <a:solidFill>
              <a:srgbClr val="CC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39" name="Line 7"/>
          <p:cNvSpPr>
            <a:spLocks noChangeShapeType="1"/>
          </p:cNvSpPr>
          <p:nvPr/>
        </p:nvSpPr>
        <p:spPr bwMode="auto">
          <a:xfrm>
            <a:off x="5772150" y="1897063"/>
            <a:ext cx="0" cy="2695575"/>
          </a:xfrm>
          <a:prstGeom prst="line">
            <a:avLst/>
          </a:prstGeom>
          <a:noFill/>
          <a:ln w="9525">
            <a:solidFill>
              <a:srgbClr val="CC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40" name="Line 8"/>
          <p:cNvSpPr>
            <a:spLocks noChangeShapeType="1"/>
          </p:cNvSpPr>
          <p:nvPr/>
        </p:nvSpPr>
        <p:spPr bwMode="auto">
          <a:xfrm>
            <a:off x="4972050" y="1143000"/>
            <a:ext cx="2390775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41" name="Arc 9"/>
          <p:cNvSpPr>
            <a:spLocks/>
          </p:cNvSpPr>
          <p:nvPr/>
        </p:nvSpPr>
        <p:spPr bwMode="auto">
          <a:xfrm>
            <a:off x="5969000" y="1143000"/>
            <a:ext cx="2957513" cy="2105025"/>
          </a:xfrm>
          <a:custGeom>
            <a:avLst/>
            <a:gdLst>
              <a:gd name="T0" fmla="*/ 0 w 30349"/>
              <a:gd name="T1" fmla="*/ 2147483647 h 21600"/>
              <a:gd name="T2" fmla="*/ 2147483647 w 30349"/>
              <a:gd name="T3" fmla="*/ 2147483647 h 21600"/>
              <a:gd name="T4" fmla="*/ 2147483647 w 30349"/>
              <a:gd name="T5" fmla="*/ 2147483647 h 21600"/>
              <a:gd name="T6" fmla="*/ 0 60000 65536"/>
              <a:gd name="T7" fmla="*/ 0 60000 65536"/>
              <a:gd name="T8" fmla="*/ 0 60000 65536"/>
              <a:gd name="T9" fmla="*/ 0 w 30349"/>
              <a:gd name="T10" fmla="*/ 0 h 21600"/>
              <a:gd name="T11" fmla="*/ 30349 w 3034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49" h="21600" fill="none" extrusionOk="0">
                <a:moveTo>
                  <a:pt x="-1" y="5418"/>
                </a:moveTo>
                <a:cubicBezTo>
                  <a:pt x="3948" y="1927"/>
                  <a:pt x="9037" y="-1"/>
                  <a:pt x="14308" y="0"/>
                </a:cubicBezTo>
                <a:cubicBezTo>
                  <a:pt x="20424" y="0"/>
                  <a:pt x="26253" y="2592"/>
                  <a:pt x="30349" y="7134"/>
                </a:cubicBezTo>
              </a:path>
              <a:path w="30349" h="21600" stroke="0" extrusionOk="0">
                <a:moveTo>
                  <a:pt x="-1" y="5418"/>
                </a:moveTo>
                <a:cubicBezTo>
                  <a:pt x="3948" y="1927"/>
                  <a:pt x="9037" y="-1"/>
                  <a:pt x="14308" y="0"/>
                </a:cubicBezTo>
                <a:cubicBezTo>
                  <a:pt x="20424" y="0"/>
                  <a:pt x="26253" y="2592"/>
                  <a:pt x="30349" y="7134"/>
                </a:cubicBezTo>
                <a:lnTo>
                  <a:pt x="14308" y="21600"/>
                </a:lnTo>
                <a:lnTo>
                  <a:pt x="-1" y="5418"/>
                </a:lnTo>
                <a:close/>
              </a:path>
            </a:pathLst>
          </a:custGeom>
          <a:noFill/>
          <a:ln w="9525">
            <a:solidFill>
              <a:srgbClr val="CC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2" name="Arc 10"/>
          <p:cNvSpPr>
            <a:spLocks/>
          </p:cNvSpPr>
          <p:nvPr/>
        </p:nvSpPr>
        <p:spPr bwMode="auto">
          <a:xfrm>
            <a:off x="6913563" y="2695575"/>
            <a:ext cx="1012825" cy="552450"/>
          </a:xfrm>
          <a:custGeom>
            <a:avLst/>
            <a:gdLst>
              <a:gd name="T0" fmla="*/ 0 w 39572"/>
              <a:gd name="T1" fmla="*/ 2147483647 h 21600"/>
              <a:gd name="T2" fmla="*/ 2147483647 w 39572"/>
              <a:gd name="T3" fmla="*/ 2147483647 h 21600"/>
              <a:gd name="T4" fmla="*/ 2147483647 w 39572"/>
              <a:gd name="T5" fmla="*/ 2147483647 h 21600"/>
              <a:gd name="T6" fmla="*/ 0 60000 65536"/>
              <a:gd name="T7" fmla="*/ 0 60000 65536"/>
              <a:gd name="T8" fmla="*/ 0 60000 65536"/>
              <a:gd name="T9" fmla="*/ 0 w 39572"/>
              <a:gd name="T10" fmla="*/ 0 h 21600"/>
              <a:gd name="T11" fmla="*/ 39572 w 3957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572" h="21600" fill="none" extrusionOk="0">
                <a:moveTo>
                  <a:pt x="0" y="9618"/>
                </a:moveTo>
                <a:cubicBezTo>
                  <a:pt x="4006" y="3609"/>
                  <a:pt x="10750" y="-1"/>
                  <a:pt x="17972" y="0"/>
                </a:cubicBezTo>
                <a:cubicBezTo>
                  <a:pt x="29901" y="0"/>
                  <a:pt x="39572" y="9670"/>
                  <a:pt x="39572" y="21600"/>
                </a:cubicBezTo>
              </a:path>
              <a:path w="39572" h="21600" stroke="0" extrusionOk="0">
                <a:moveTo>
                  <a:pt x="0" y="9618"/>
                </a:moveTo>
                <a:cubicBezTo>
                  <a:pt x="4006" y="3609"/>
                  <a:pt x="10750" y="-1"/>
                  <a:pt x="17972" y="0"/>
                </a:cubicBezTo>
                <a:cubicBezTo>
                  <a:pt x="29901" y="0"/>
                  <a:pt x="39572" y="9670"/>
                  <a:pt x="39572" y="21600"/>
                </a:cubicBezTo>
                <a:lnTo>
                  <a:pt x="17972" y="21600"/>
                </a:lnTo>
                <a:lnTo>
                  <a:pt x="0" y="9618"/>
                </a:lnTo>
                <a:close/>
              </a:path>
            </a:pathLst>
          </a:custGeom>
          <a:noFill/>
          <a:ln w="9525">
            <a:solidFill>
              <a:srgbClr val="CC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3" name="Line 11"/>
          <p:cNvSpPr>
            <a:spLocks noChangeShapeType="1"/>
          </p:cNvSpPr>
          <p:nvPr/>
        </p:nvSpPr>
        <p:spPr bwMode="auto">
          <a:xfrm>
            <a:off x="4098925" y="1933575"/>
            <a:ext cx="1866900" cy="0"/>
          </a:xfrm>
          <a:prstGeom prst="line">
            <a:avLst/>
          </a:prstGeom>
          <a:noFill/>
          <a:ln w="9525">
            <a:solidFill>
              <a:srgbClr val="CC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44" name="Line 12"/>
          <p:cNvSpPr>
            <a:spLocks noChangeShapeType="1"/>
          </p:cNvSpPr>
          <p:nvPr/>
        </p:nvSpPr>
        <p:spPr bwMode="auto">
          <a:xfrm>
            <a:off x="4978400" y="968375"/>
            <a:ext cx="0" cy="1682750"/>
          </a:xfrm>
          <a:prstGeom prst="line">
            <a:avLst/>
          </a:prstGeom>
          <a:noFill/>
          <a:ln w="9525">
            <a:solidFill>
              <a:srgbClr val="CC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45" name="Arc 13"/>
          <p:cNvSpPr>
            <a:spLocks/>
          </p:cNvSpPr>
          <p:nvPr/>
        </p:nvSpPr>
        <p:spPr bwMode="auto">
          <a:xfrm>
            <a:off x="6397625" y="1925638"/>
            <a:ext cx="2298700" cy="1314450"/>
          </a:xfrm>
          <a:custGeom>
            <a:avLst/>
            <a:gdLst>
              <a:gd name="T0" fmla="*/ 0 w 37778"/>
              <a:gd name="T1" fmla="*/ 2147483647 h 21600"/>
              <a:gd name="T2" fmla="*/ 2147483647 w 37778"/>
              <a:gd name="T3" fmla="*/ 2147483647 h 21600"/>
              <a:gd name="T4" fmla="*/ 2147483647 w 37778"/>
              <a:gd name="T5" fmla="*/ 2147483647 h 21600"/>
              <a:gd name="T6" fmla="*/ 0 60000 65536"/>
              <a:gd name="T7" fmla="*/ 0 60000 65536"/>
              <a:gd name="T8" fmla="*/ 0 60000 65536"/>
              <a:gd name="T9" fmla="*/ 0 w 37778"/>
              <a:gd name="T10" fmla="*/ 0 h 21600"/>
              <a:gd name="T11" fmla="*/ 37778 w 3777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778" h="21600" fill="none" extrusionOk="0">
                <a:moveTo>
                  <a:pt x="0" y="7288"/>
                </a:moveTo>
                <a:cubicBezTo>
                  <a:pt x="4099" y="2653"/>
                  <a:pt x="9990" y="-1"/>
                  <a:pt x="16178" y="0"/>
                </a:cubicBezTo>
                <a:cubicBezTo>
                  <a:pt x="28107" y="0"/>
                  <a:pt x="37778" y="9670"/>
                  <a:pt x="37778" y="21600"/>
                </a:cubicBezTo>
              </a:path>
              <a:path w="37778" h="21600" stroke="0" extrusionOk="0">
                <a:moveTo>
                  <a:pt x="0" y="7288"/>
                </a:moveTo>
                <a:cubicBezTo>
                  <a:pt x="4099" y="2653"/>
                  <a:pt x="9990" y="-1"/>
                  <a:pt x="16178" y="0"/>
                </a:cubicBezTo>
                <a:cubicBezTo>
                  <a:pt x="28107" y="0"/>
                  <a:pt x="37778" y="9670"/>
                  <a:pt x="37778" y="21600"/>
                </a:cubicBezTo>
                <a:lnTo>
                  <a:pt x="16178" y="21600"/>
                </a:lnTo>
                <a:lnTo>
                  <a:pt x="0" y="7288"/>
                </a:lnTo>
                <a:close/>
              </a:path>
            </a:pathLst>
          </a:custGeom>
          <a:noFill/>
          <a:ln w="9525">
            <a:solidFill>
              <a:srgbClr val="CC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6" name="Line 14"/>
          <p:cNvSpPr>
            <a:spLocks noChangeShapeType="1"/>
          </p:cNvSpPr>
          <p:nvPr/>
        </p:nvSpPr>
        <p:spPr bwMode="auto">
          <a:xfrm>
            <a:off x="5961063" y="1933575"/>
            <a:ext cx="1411287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47" name="Line 15"/>
          <p:cNvSpPr>
            <a:spLocks noChangeShapeType="1"/>
          </p:cNvSpPr>
          <p:nvPr/>
        </p:nvSpPr>
        <p:spPr bwMode="auto">
          <a:xfrm flipV="1">
            <a:off x="7918450" y="849313"/>
            <a:ext cx="0" cy="53451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48" name="Line 16"/>
          <p:cNvSpPr>
            <a:spLocks noChangeShapeType="1"/>
          </p:cNvSpPr>
          <p:nvPr/>
        </p:nvSpPr>
        <p:spPr bwMode="auto">
          <a:xfrm flipH="1">
            <a:off x="4970463" y="1223963"/>
            <a:ext cx="29337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217988" y="1222375"/>
            <a:ext cx="1547812" cy="2030413"/>
            <a:chOff x="2657" y="770"/>
            <a:chExt cx="975" cy="1279"/>
          </a:xfrm>
        </p:grpSpPr>
        <p:sp>
          <p:nvSpPr>
            <p:cNvPr id="32804" name="Freeform 18"/>
            <p:cNvSpPr>
              <a:spLocks/>
            </p:cNvSpPr>
            <p:nvPr/>
          </p:nvSpPr>
          <p:spPr bwMode="auto">
            <a:xfrm>
              <a:off x="2657" y="771"/>
              <a:ext cx="481" cy="1278"/>
            </a:xfrm>
            <a:custGeom>
              <a:avLst/>
              <a:gdLst>
                <a:gd name="T0" fmla="*/ 469 w 487"/>
                <a:gd name="T1" fmla="*/ 3 h 1305"/>
                <a:gd name="T2" fmla="*/ 427 w 487"/>
                <a:gd name="T3" fmla="*/ 3 h 1305"/>
                <a:gd name="T4" fmla="*/ 354 w 487"/>
                <a:gd name="T5" fmla="*/ 21 h 1305"/>
                <a:gd name="T6" fmla="*/ 200 w 487"/>
                <a:gd name="T7" fmla="*/ 87 h 1305"/>
                <a:gd name="T8" fmla="*/ 106 w 487"/>
                <a:gd name="T9" fmla="*/ 180 h 1305"/>
                <a:gd name="T10" fmla="*/ 25 w 487"/>
                <a:gd name="T11" fmla="*/ 327 h 1305"/>
                <a:gd name="T12" fmla="*/ 1 w 487"/>
                <a:gd name="T13" fmla="*/ 493 h 1305"/>
                <a:gd name="T14" fmla="*/ 16 w 487"/>
                <a:gd name="T15" fmla="*/ 609 h 1305"/>
                <a:gd name="T16" fmla="*/ 55 w 487"/>
                <a:gd name="T17" fmla="*/ 741 h 1305"/>
                <a:gd name="T18" fmla="*/ 106 w 487"/>
                <a:gd name="T19" fmla="*/ 845 h 1305"/>
                <a:gd name="T20" fmla="*/ 196 w 487"/>
                <a:gd name="T21" fmla="*/ 961 h 1305"/>
                <a:gd name="T22" fmla="*/ 281 w 487"/>
                <a:gd name="T23" fmla="*/ 1063 h 1305"/>
                <a:gd name="T24" fmla="*/ 376 w 487"/>
                <a:gd name="T25" fmla="*/ 1147 h 1305"/>
                <a:gd name="T26" fmla="*/ 469 w 487"/>
                <a:gd name="T27" fmla="*/ 1226 h 13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87"/>
                <a:gd name="T43" fmla="*/ 0 h 1305"/>
                <a:gd name="T44" fmla="*/ 487 w 487"/>
                <a:gd name="T45" fmla="*/ 1305 h 130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87" h="1305">
                  <a:moveTo>
                    <a:pt x="487" y="3"/>
                  </a:moveTo>
                  <a:cubicBezTo>
                    <a:pt x="474" y="1"/>
                    <a:pt x="462" y="0"/>
                    <a:pt x="442" y="3"/>
                  </a:cubicBezTo>
                  <a:cubicBezTo>
                    <a:pt x="422" y="6"/>
                    <a:pt x="406" y="6"/>
                    <a:pt x="367" y="21"/>
                  </a:cubicBezTo>
                  <a:cubicBezTo>
                    <a:pt x="328" y="36"/>
                    <a:pt x="251" y="65"/>
                    <a:pt x="208" y="93"/>
                  </a:cubicBezTo>
                  <a:cubicBezTo>
                    <a:pt x="165" y="121"/>
                    <a:pt x="139" y="150"/>
                    <a:pt x="109" y="192"/>
                  </a:cubicBezTo>
                  <a:cubicBezTo>
                    <a:pt x="79" y="234"/>
                    <a:pt x="43" y="293"/>
                    <a:pt x="25" y="348"/>
                  </a:cubicBezTo>
                  <a:cubicBezTo>
                    <a:pt x="7" y="403"/>
                    <a:pt x="2" y="475"/>
                    <a:pt x="1" y="525"/>
                  </a:cubicBezTo>
                  <a:cubicBezTo>
                    <a:pt x="0" y="575"/>
                    <a:pt x="6" y="604"/>
                    <a:pt x="16" y="648"/>
                  </a:cubicBezTo>
                  <a:cubicBezTo>
                    <a:pt x="26" y="692"/>
                    <a:pt x="43" y="747"/>
                    <a:pt x="58" y="789"/>
                  </a:cubicBezTo>
                  <a:cubicBezTo>
                    <a:pt x="73" y="831"/>
                    <a:pt x="85" y="861"/>
                    <a:pt x="109" y="900"/>
                  </a:cubicBezTo>
                  <a:cubicBezTo>
                    <a:pt x="133" y="939"/>
                    <a:pt x="172" y="985"/>
                    <a:pt x="202" y="1023"/>
                  </a:cubicBezTo>
                  <a:cubicBezTo>
                    <a:pt x="232" y="1061"/>
                    <a:pt x="260" y="1098"/>
                    <a:pt x="292" y="1131"/>
                  </a:cubicBezTo>
                  <a:cubicBezTo>
                    <a:pt x="324" y="1164"/>
                    <a:pt x="358" y="1192"/>
                    <a:pt x="391" y="1221"/>
                  </a:cubicBezTo>
                  <a:cubicBezTo>
                    <a:pt x="424" y="1250"/>
                    <a:pt x="455" y="1277"/>
                    <a:pt x="487" y="1305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lgDashDot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Freeform 19"/>
            <p:cNvSpPr>
              <a:spLocks/>
            </p:cNvSpPr>
            <p:nvPr/>
          </p:nvSpPr>
          <p:spPr bwMode="auto">
            <a:xfrm flipH="1">
              <a:off x="3142" y="770"/>
              <a:ext cx="490" cy="1278"/>
            </a:xfrm>
            <a:custGeom>
              <a:avLst/>
              <a:gdLst>
                <a:gd name="T0" fmla="*/ 496 w 487"/>
                <a:gd name="T1" fmla="*/ 3 h 1305"/>
                <a:gd name="T2" fmla="*/ 451 w 487"/>
                <a:gd name="T3" fmla="*/ 3 h 1305"/>
                <a:gd name="T4" fmla="*/ 373 w 487"/>
                <a:gd name="T5" fmla="*/ 21 h 1305"/>
                <a:gd name="T6" fmla="*/ 211 w 487"/>
                <a:gd name="T7" fmla="*/ 87 h 1305"/>
                <a:gd name="T8" fmla="*/ 112 w 487"/>
                <a:gd name="T9" fmla="*/ 180 h 1305"/>
                <a:gd name="T10" fmla="*/ 25 w 487"/>
                <a:gd name="T11" fmla="*/ 327 h 1305"/>
                <a:gd name="T12" fmla="*/ 1 w 487"/>
                <a:gd name="T13" fmla="*/ 493 h 1305"/>
                <a:gd name="T14" fmla="*/ 16 w 487"/>
                <a:gd name="T15" fmla="*/ 609 h 1305"/>
                <a:gd name="T16" fmla="*/ 58 w 487"/>
                <a:gd name="T17" fmla="*/ 741 h 1305"/>
                <a:gd name="T18" fmla="*/ 112 w 487"/>
                <a:gd name="T19" fmla="*/ 845 h 1305"/>
                <a:gd name="T20" fmla="*/ 205 w 487"/>
                <a:gd name="T21" fmla="*/ 961 h 1305"/>
                <a:gd name="T22" fmla="*/ 298 w 487"/>
                <a:gd name="T23" fmla="*/ 1063 h 1305"/>
                <a:gd name="T24" fmla="*/ 397 w 487"/>
                <a:gd name="T25" fmla="*/ 1147 h 1305"/>
                <a:gd name="T26" fmla="*/ 496 w 487"/>
                <a:gd name="T27" fmla="*/ 1226 h 13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87"/>
                <a:gd name="T43" fmla="*/ 0 h 1305"/>
                <a:gd name="T44" fmla="*/ 487 w 487"/>
                <a:gd name="T45" fmla="*/ 1305 h 130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87" h="1305">
                  <a:moveTo>
                    <a:pt x="487" y="3"/>
                  </a:moveTo>
                  <a:cubicBezTo>
                    <a:pt x="474" y="1"/>
                    <a:pt x="462" y="0"/>
                    <a:pt x="442" y="3"/>
                  </a:cubicBezTo>
                  <a:cubicBezTo>
                    <a:pt x="422" y="6"/>
                    <a:pt x="406" y="6"/>
                    <a:pt x="367" y="21"/>
                  </a:cubicBezTo>
                  <a:cubicBezTo>
                    <a:pt x="328" y="36"/>
                    <a:pt x="251" y="65"/>
                    <a:pt x="208" y="93"/>
                  </a:cubicBezTo>
                  <a:cubicBezTo>
                    <a:pt x="165" y="121"/>
                    <a:pt x="139" y="150"/>
                    <a:pt x="109" y="192"/>
                  </a:cubicBezTo>
                  <a:cubicBezTo>
                    <a:pt x="79" y="234"/>
                    <a:pt x="43" y="293"/>
                    <a:pt x="25" y="348"/>
                  </a:cubicBezTo>
                  <a:cubicBezTo>
                    <a:pt x="7" y="403"/>
                    <a:pt x="2" y="475"/>
                    <a:pt x="1" y="525"/>
                  </a:cubicBezTo>
                  <a:cubicBezTo>
                    <a:pt x="0" y="575"/>
                    <a:pt x="6" y="604"/>
                    <a:pt x="16" y="648"/>
                  </a:cubicBezTo>
                  <a:cubicBezTo>
                    <a:pt x="26" y="692"/>
                    <a:pt x="43" y="747"/>
                    <a:pt x="58" y="789"/>
                  </a:cubicBezTo>
                  <a:cubicBezTo>
                    <a:pt x="73" y="831"/>
                    <a:pt x="85" y="861"/>
                    <a:pt x="109" y="900"/>
                  </a:cubicBezTo>
                  <a:cubicBezTo>
                    <a:pt x="133" y="939"/>
                    <a:pt x="172" y="985"/>
                    <a:pt x="202" y="1023"/>
                  </a:cubicBezTo>
                  <a:cubicBezTo>
                    <a:pt x="232" y="1061"/>
                    <a:pt x="260" y="1098"/>
                    <a:pt x="292" y="1131"/>
                  </a:cubicBezTo>
                  <a:cubicBezTo>
                    <a:pt x="324" y="1164"/>
                    <a:pt x="358" y="1192"/>
                    <a:pt x="391" y="1221"/>
                  </a:cubicBezTo>
                  <a:cubicBezTo>
                    <a:pt x="424" y="1250"/>
                    <a:pt x="455" y="1277"/>
                    <a:pt x="487" y="1305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lgDashDot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4211638" y="3259138"/>
            <a:ext cx="1552575" cy="2030412"/>
            <a:chOff x="2653" y="2053"/>
            <a:chExt cx="978" cy="1279"/>
          </a:xfrm>
        </p:grpSpPr>
        <p:sp>
          <p:nvSpPr>
            <p:cNvPr id="32802" name="Freeform 21"/>
            <p:cNvSpPr>
              <a:spLocks/>
            </p:cNvSpPr>
            <p:nvPr/>
          </p:nvSpPr>
          <p:spPr bwMode="auto">
            <a:xfrm flipV="1">
              <a:off x="2653" y="2054"/>
              <a:ext cx="484" cy="1278"/>
            </a:xfrm>
            <a:custGeom>
              <a:avLst/>
              <a:gdLst>
                <a:gd name="T0" fmla="*/ 478 w 487"/>
                <a:gd name="T1" fmla="*/ 3 h 1305"/>
                <a:gd name="T2" fmla="*/ 433 w 487"/>
                <a:gd name="T3" fmla="*/ 3 h 1305"/>
                <a:gd name="T4" fmla="*/ 361 w 487"/>
                <a:gd name="T5" fmla="*/ 21 h 1305"/>
                <a:gd name="T6" fmla="*/ 205 w 487"/>
                <a:gd name="T7" fmla="*/ 87 h 1305"/>
                <a:gd name="T8" fmla="*/ 106 w 487"/>
                <a:gd name="T9" fmla="*/ 180 h 1305"/>
                <a:gd name="T10" fmla="*/ 25 w 487"/>
                <a:gd name="T11" fmla="*/ 327 h 1305"/>
                <a:gd name="T12" fmla="*/ 1 w 487"/>
                <a:gd name="T13" fmla="*/ 493 h 1305"/>
                <a:gd name="T14" fmla="*/ 16 w 487"/>
                <a:gd name="T15" fmla="*/ 609 h 1305"/>
                <a:gd name="T16" fmla="*/ 58 w 487"/>
                <a:gd name="T17" fmla="*/ 741 h 1305"/>
                <a:gd name="T18" fmla="*/ 106 w 487"/>
                <a:gd name="T19" fmla="*/ 845 h 1305"/>
                <a:gd name="T20" fmla="*/ 199 w 487"/>
                <a:gd name="T21" fmla="*/ 961 h 1305"/>
                <a:gd name="T22" fmla="*/ 286 w 487"/>
                <a:gd name="T23" fmla="*/ 1063 h 1305"/>
                <a:gd name="T24" fmla="*/ 385 w 487"/>
                <a:gd name="T25" fmla="*/ 1147 h 1305"/>
                <a:gd name="T26" fmla="*/ 478 w 487"/>
                <a:gd name="T27" fmla="*/ 1226 h 13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87"/>
                <a:gd name="T43" fmla="*/ 0 h 1305"/>
                <a:gd name="T44" fmla="*/ 487 w 487"/>
                <a:gd name="T45" fmla="*/ 1305 h 130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87" h="1305">
                  <a:moveTo>
                    <a:pt x="487" y="3"/>
                  </a:moveTo>
                  <a:cubicBezTo>
                    <a:pt x="474" y="1"/>
                    <a:pt x="462" y="0"/>
                    <a:pt x="442" y="3"/>
                  </a:cubicBezTo>
                  <a:cubicBezTo>
                    <a:pt x="422" y="6"/>
                    <a:pt x="406" y="6"/>
                    <a:pt x="367" y="21"/>
                  </a:cubicBezTo>
                  <a:cubicBezTo>
                    <a:pt x="328" y="36"/>
                    <a:pt x="251" y="65"/>
                    <a:pt x="208" y="93"/>
                  </a:cubicBezTo>
                  <a:cubicBezTo>
                    <a:pt x="165" y="121"/>
                    <a:pt x="139" y="150"/>
                    <a:pt x="109" y="192"/>
                  </a:cubicBezTo>
                  <a:cubicBezTo>
                    <a:pt x="79" y="234"/>
                    <a:pt x="43" y="293"/>
                    <a:pt x="25" y="348"/>
                  </a:cubicBezTo>
                  <a:cubicBezTo>
                    <a:pt x="7" y="403"/>
                    <a:pt x="2" y="475"/>
                    <a:pt x="1" y="525"/>
                  </a:cubicBezTo>
                  <a:cubicBezTo>
                    <a:pt x="0" y="575"/>
                    <a:pt x="6" y="604"/>
                    <a:pt x="16" y="648"/>
                  </a:cubicBezTo>
                  <a:cubicBezTo>
                    <a:pt x="26" y="692"/>
                    <a:pt x="43" y="747"/>
                    <a:pt x="58" y="789"/>
                  </a:cubicBezTo>
                  <a:cubicBezTo>
                    <a:pt x="73" y="831"/>
                    <a:pt x="85" y="861"/>
                    <a:pt x="109" y="900"/>
                  </a:cubicBezTo>
                  <a:cubicBezTo>
                    <a:pt x="133" y="939"/>
                    <a:pt x="172" y="985"/>
                    <a:pt x="202" y="1023"/>
                  </a:cubicBezTo>
                  <a:cubicBezTo>
                    <a:pt x="232" y="1061"/>
                    <a:pt x="260" y="1098"/>
                    <a:pt x="292" y="1131"/>
                  </a:cubicBezTo>
                  <a:cubicBezTo>
                    <a:pt x="324" y="1164"/>
                    <a:pt x="358" y="1192"/>
                    <a:pt x="391" y="1221"/>
                  </a:cubicBezTo>
                  <a:cubicBezTo>
                    <a:pt x="424" y="1250"/>
                    <a:pt x="455" y="1277"/>
                    <a:pt x="487" y="1305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lgDashDot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3" name="Freeform 22"/>
            <p:cNvSpPr>
              <a:spLocks/>
            </p:cNvSpPr>
            <p:nvPr/>
          </p:nvSpPr>
          <p:spPr bwMode="auto">
            <a:xfrm flipH="1" flipV="1">
              <a:off x="3141" y="2053"/>
              <a:ext cx="490" cy="1278"/>
            </a:xfrm>
            <a:custGeom>
              <a:avLst/>
              <a:gdLst>
                <a:gd name="T0" fmla="*/ 496 w 487"/>
                <a:gd name="T1" fmla="*/ 3 h 1305"/>
                <a:gd name="T2" fmla="*/ 451 w 487"/>
                <a:gd name="T3" fmla="*/ 3 h 1305"/>
                <a:gd name="T4" fmla="*/ 373 w 487"/>
                <a:gd name="T5" fmla="*/ 21 h 1305"/>
                <a:gd name="T6" fmla="*/ 211 w 487"/>
                <a:gd name="T7" fmla="*/ 87 h 1305"/>
                <a:gd name="T8" fmla="*/ 112 w 487"/>
                <a:gd name="T9" fmla="*/ 180 h 1305"/>
                <a:gd name="T10" fmla="*/ 25 w 487"/>
                <a:gd name="T11" fmla="*/ 327 h 1305"/>
                <a:gd name="T12" fmla="*/ 1 w 487"/>
                <a:gd name="T13" fmla="*/ 493 h 1305"/>
                <a:gd name="T14" fmla="*/ 16 w 487"/>
                <a:gd name="T15" fmla="*/ 609 h 1305"/>
                <a:gd name="T16" fmla="*/ 58 w 487"/>
                <a:gd name="T17" fmla="*/ 741 h 1305"/>
                <a:gd name="T18" fmla="*/ 112 w 487"/>
                <a:gd name="T19" fmla="*/ 845 h 1305"/>
                <a:gd name="T20" fmla="*/ 205 w 487"/>
                <a:gd name="T21" fmla="*/ 961 h 1305"/>
                <a:gd name="T22" fmla="*/ 298 w 487"/>
                <a:gd name="T23" fmla="*/ 1063 h 1305"/>
                <a:gd name="T24" fmla="*/ 397 w 487"/>
                <a:gd name="T25" fmla="*/ 1147 h 1305"/>
                <a:gd name="T26" fmla="*/ 496 w 487"/>
                <a:gd name="T27" fmla="*/ 1226 h 13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87"/>
                <a:gd name="T43" fmla="*/ 0 h 1305"/>
                <a:gd name="T44" fmla="*/ 487 w 487"/>
                <a:gd name="T45" fmla="*/ 1305 h 130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87" h="1305">
                  <a:moveTo>
                    <a:pt x="487" y="3"/>
                  </a:moveTo>
                  <a:cubicBezTo>
                    <a:pt x="474" y="1"/>
                    <a:pt x="462" y="0"/>
                    <a:pt x="442" y="3"/>
                  </a:cubicBezTo>
                  <a:cubicBezTo>
                    <a:pt x="422" y="6"/>
                    <a:pt x="406" y="6"/>
                    <a:pt x="367" y="21"/>
                  </a:cubicBezTo>
                  <a:cubicBezTo>
                    <a:pt x="328" y="36"/>
                    <a:pt x="251" y="65"/>
                    <a:pt x="208" y="93"/>
                  </a:cubicBezTo>
                  <a:cubicBezTo>
                    <a:pt x="165" y="121"/>
                    <a:pt x="139" y="150"/>
                    <a:pt x="109" y="192"/>
                  </a:cubicBezTo>
                  <a:cubicBezTo>
                    <a:pt x="79" y="234"/>
                    <a:pt x="43" y="293"/>
                    <a:pt x="25" y="348"/>
                  </a:cubicBezTo>
                  <a:cubicBezTo>
                    <a:pt x="7" y="403"/>
                    <a:pt x="2" y="475"/>
                    <a:pt x="1" y="525"/>
                  </a:cubicBezTo>
                  <a:cubicBezTo>
                    <a:pt x="0" y="575"/>
                    <a:pt x="6" y="604"/>
                    <a:pt x="16" y="648"/>
                  </a:cubicBezTo>
                  <a:cubicBezTo>
                    <a:pt x="26" y="692"/>
                    <a:pt x="43" y="747"/>
                    <a:pt x="58" y="789"/>
                  </a:cubicBezTo>
                  <a:cubicBezTo>
                    <a:pt x="73" y="831"/>
                    <a:pt x="85" y="861"/>
                    <a:pt x="109" y="900"/>
                  </a:cubicBezTo>
                  <a:cubicBezTo>
                    <a:pt x="133" y="939"/>
                    <a:pt x="172" y="985"/>
                    <a:pt x="202" y="1023"/>
                  </a:cubicBezTo>
                  <a:cubicBezTo>
                    <a:pt x="232" y="1061"/>
                    <a:pt x="260" y="1098"/>
                    <a:pt x="292" y="1131"/>
                  </a:cubicBezTo>
                  <a:cubicBezTo>
                    <a:pt x="324" y="1164"/>
                    <a:pt x="358" y="1192"/>
                    <a:pt x="391" y="1221"/>
                  </a:cubicBezTo>
                  <a:cubicBezTo>
                    <a:pt x="424" y="1250"/>
                    <a:pt x="455" y="1277"/>
                    <a:pt x="487" y="1305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lgDashDot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8055" name="Freeform 23"/>
          <p:cNvSpPr>
            <a:spLocks/>
          </p:cNvSpPr>
          <p:nvPr/>
        </p:nvSpPr>
        <p:spPr bwMode="auto">
          <a:xfrm>
            <a:off x="4381500" y="2622550"/>
            <a:ext cx="603250" cy="635000"/>
          </a:xfrm>
          <a:custGeom>
            <a:avLst/>
            <a:gdLst>
              <a:gd name="T0" fmla="*/ 0 w 380"/>
              <a:gd name="T1" fmla="*/ 0 h 400"/>
              <a:gd name="T2" fmla="*/ 2147483647 w 380"/>
              <a:gd name="T3" fmla="*/ 2147483647 h 400"/>
              <a:gd name="T4" fmla="*/ 2147483647 w 380"/>
              <a:gd name="T5" fmla="*/ 2147483647 h 400"/>
              <a:gd name="T6" fmla="*/ 0 60000 65536"/>
              <a:gd name="T7" fmla="*/ 0 60000 65536"/>
              <a:gd name="T8" fmla="*/ 0 60000 65536"/>
              <a:gd name="T9" fmla="*/ 0 w 380"/>
              <a:gd name="T10" fmla="*/ 0 h 400"/>
              <a:gd name="T11" fmla="*/ 380 w 380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0" h="400">
                <a:moveTo>
                  <a:pt x="0" y="0"/>
                </a:moveTo>
                <a:cubicBezTo>
                  <a:pt x="62" y="78"/>
                  <a:pt x="125" y="157"/>
                  <a:pt x="188" y="224"/>
                </a:cubicBezTo>
                <a:cubicBezTo>
                  <a:pt x="251" y="291"/>
                  <a:pt x="349" y="371"/>
                  <a:pt x="380" y="400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56" name="Freeform 24"/>
          <p:cNvSpPr>
            <a:spLocks/>
          </p:cNvSpPr>
          <p:nvPr/>
        </p:nvSpPr>
        <p:spPr bwMode="auto">
          <a:xfrm flipV="1">
            <a:off x="4383088" y="3259138"/>
            <a:ext cx="603250" cy="635000"/>
          </a:xfrm>
          <a:custGeom>
            <a:avLst/>
            <a:gdLst>
              <a:gd name="T0" fmla="*/ 0 w 380"/>
              <a:gd name="T1" fmla="*/ 0 h 400"/>
              <a:gd name="T2" fmla="*/ 2147483647 w 380"/>
              <a:gd name="T3" fmla="*/ 2147483647 h 400"/>
              <a:gd name="T4" fmla="*/ 2147483647 w 380"/>
              <a:gd name="T5" fmla="*/ 2147483647 h 400"/>
              <a:gd name="T6" fmla="*/ 0 60000 65536"/>
              <a:gd name="T7" fmla="*/ 0 60000 65536"/>
              <a:gd name="T8" fmla="*/ 0 60000 65536"/>
              <a:gd name="T9" fmla="*/ 0 w 380"/>
              <a:gd name="T10" fmla="*/ 0 h 400"/>
              <a:gd name="T11" fmla="*/ 380 w 380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0" h="400">
                <a:moveTo>
                  <a:pt x="0" y="0"/>
                </a:moveTo>
                <a:cubicBezTo>
                  <a:pt x="62" y="78"/>
                  <a:pt x="125" y="157"/>
                  <a:pt x="188" y="224"/>
                </a:cubicBezTo>
                <a:cubicBezTo>
                  <a:pt x="251" y="291"/>
                  <a:pt x="349" y="371"/>
                  <a:pt x="380" y="400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57" name="Oval 25"/>
          <p:cNvSpPr>
            <a:spLocks noChangeArrowheads="1"/>
          </p:cNvSpPr>
          <p:nvPr/>
        </p:nvSpPr>
        <p:spPr bwMode="auto">
          <a:xfrm>
            <a:off x="1111250" y="4152900"/>
            <a:ext cx="1771650" cy="1778000"/>
          </a:xfrm>
          <a:prstGeom prst="ellipse">
            <a:avLst/>
          </a:prstGeom>
          <a:noFill/>
          <a:ln w="12700">
            <a:solidFill>
              <a:schemeClr val="folHlink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8058" name="Line 26"/>
          <p:cNvSpPr>
            <a:spLocks noChangeShapeType="1"/>
          </p:cNvSpPr>
          <p:nvPr/>
        </p:nvSpPr>
        <p:spPr bwMode="auto">
          <a:xfrm>
            <a:off x="1952625" y="5930900"/>
            <a:ext cx="541337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59" name="Arc 27"/>
          <p:cNvSpPr>
            <a:spLocks/>
          </p:cNvSpPr>
          <p:nvPr/>
        </p:nvSpPr>
        <p:spPr bwMode="auto">
          <a:xfrm flipV="1">
            <a:off x="5811838" y="3259138"/>
            <a:ext cx="3138487" cy="2670175"/>
          </a:xfrm>
          <a:custGeom>
            <a:avLst/>
            <a:gdLst>
              <a:gd name="T0" fmla="*/ 0 w 25397"/>
              <a:gd name="T1" fmla="*/ 2147483647 h 21600"/>
              <a:gd name="T2" fmla="*/ 2147483647 w 25397"/>
              <a:gd name="T3" fmla="*/ 2147483647 h 21600"/>
              <a:gd name="T4" fmla="*/ 2147483647 w 25397"/>
              <a:gd name="T5" fmla="*/ 2147483647 h 21600"/>
              <a:gd name="T6" fmla="*/ 0 60000 65536"/>
              <a:gd name="T7" fmla="*/ 0 60000 65536"/>
              <a:gd name="T8" fmla="*/ 0 60000 65536"/>
              <a:gd name="T9" fmla="*/ 0 w 25397"/>
              <a:gd name="T10" fmla="*/ 0 h 21600"/>
              <a:gd name="T11" fmla="*/ 25397 w 2539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397" h="21600" fill="none" extrusionOk="0">
                <a:moveTo>
                  <a:pt x="-1" y="3822"/>
                </a:moveTo>
                <a:cubicBezTo>
                  <a:pt x="3607" y="1333"/>
                  <a:pt x="7886" y="-1"/>
                  <a:pt x="12269" y="0"/>
                </a:cubicBezTo>
                <a:cubicBezTo>
                  <a:pt x="17014" y="0"/>
                  <a:pt x="21628" y="1563"/>
                  <a:pt x="25397" y="4447"/>
                </a:cubicBezTo>
              </a:path>
              <a:path w="25397" h="21600" stroke="0" extrusionOk="0">
                <a:moveTo>
                  <a:pt x="-1" y="3822"/>
                </a:moveTo>
                <a:cubicBezTo>
                  <a:pt x="3607" y="1333"/>
                  <a:pt x="7886" y="-1"/>
                  <a:pt x="12269" y="0"/>
                </a:cubicBezTo>
                <a:cubicBezTo>
                  <a:pt x="17014" y="0"/>
                  <a:pt x="21628" y="1563"/>
                  <a:pt x="25397" y="4447"/>
                </a:cubicBezTo>
                <a:lnTo>
                  <a:pt x="12269" y="21600"/>
                </a:lnTo>
                <a:lnTo>
                  <a:pt x="-1" y="3822"/>
                </a:lnTo>
                <a:close/>
              </a:path>
            </a:pathLst>
          </a:custGeom>
          <a:noFill/>
          <a:ln w="9525">
            <a:solidFill>
              <a:schemeClr val="folHlink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60" name="Arc 28"/>
          <p:cNvSpPr>
            <a:spLocks/>
          </p:cNvSpPr>
          <p:nvPr/>
        </p:nvSpPr>
        <p:spPr bwMode="auto">
          <a:xfrm flipV="1">
            <a:off x="6140450" y="3235325"/>
            <a:ext cx="2470150" cy="1803400"/>
          </a:xfrm>
          <a:custGeom>
            <a:avLst/>
            <a:gdLst>
              <a:gd name="T0" fmla="*/ 0 w 25397"/>
              <a:gd name="T1" fmla="*/ 2147483647 h 21600"/>
              <a:gd name="T2" fmla="*/ 2147483647 w 25397"/>
              <a:gd name="T3" fmla="*/ 2147483647 h 21600"/>
              <a:gd name="T4" fmla="*/ 2147483647 w 25397"/>
              <a:gd name="T5" fmla="*/ 2147483647 h 21600"/>
              <a:gd name="T6" fmla="*/ 0 60000 65536"/>
              <a:gd name="T7" fmla="*/ 0 60000 65536"/>
              <a:gd name="T8" fmla="*/ 0 60000 65536"/>
              <a:gd name="T9" fmla="*/ 0 w 25397"/>
              <a:gd name="T10" fmla="*/ 0 h 21600"/>
              <a:gd name="T11" fmla="*/ 25397 w 2539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397" h="21600" fill="none" extrusionOk="0">
                <a:moveTo>
                  <a:pt x="-1" y="3822"/>
                </a:moveTo>
                <a:cubicBezTo>
                  <a:pt x="3607" y="1333"/>
                  <a:pt x="7886" y="-1"/>
                  <a:pt x="12269" y="0"/>
                </a:cubicBezTo>
                <a:cubicBezTo>
                  <a:pt x="17014" y="0"/>
                  <a:pt x="21628" y="1563"/>
                  <a:pt x="25397" y="4447"/>
                </a:cubicBezTo>
              </a:path>
              <a:path w="25397" h="21600" stroke="0" extrusionOk="0">
                <a:moveTo>
                  <a:pt x="-1" y="3822"/>
                </a:moveTo>
                <a:cubicBezTo>
                  <a:pt x="3607" y="1333"/>
                  <a:pt x="7886" y="-1"/>
                  <a:pt x="12269" y="0"/>
                </a:cubicBezTo>
                <a:cubicBezTo>
                  <a:pt x="17014" y="0"/>
                  <a:pt x="21628" y="1563"/>
                  <a:pt x="25397" y="4447"/>
                </a:cubicBezTo>
                <a:lnTo>
                  <a:pt x="12269" y="21600"/>
                </a:lnTo>
                <a:lnTo>
                  <a:pt x="-1" y="3822"/>
                </a:lnTo>
                <a:close/>
              </a:path>
            </a:pathLst>
          </a:custGeom>
          <a:noFill/>
          <a:ln w="9525">
            <a:solidFill>
              <a:schemeClr val="folHlink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61" name="Line 29"/>
          <p:cNvSpPr>
            <a:spLocks noChangeShapeType="1"/>
          </p:cNvSpPr>
          <p:nvPr/>
        </p:nvSpPr>
        <p:spPr bwMode="auto">
          <a:xfrm>
            <a:off x="2132013" y="5035550"/>
            <a:ext cx="523557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62" name="Arc 30"/>
          <p:cNvSpPr>
            <a:spLocks/>
          </p:cNvSpPr>
          <p:nvPr/>
        </p:nvSpPr>
        <p:spPr bwMode="auto">
          <a:xfrm flipH="1" flipV="1">
            <a:off x="6715125" y="3262313"/>
            <a:ext cx="1309688" cy="901700"/>
          </a:xfrm>
          <a:custGeom>
            <a:avLst/>
            <a:gdLst>
              <a:gd name="T0" fmla="*/ 0 w 31371"/>
              <a:gd name="T1" fmla="*/ 2147483647 h 21600"/>
              <a:gd name="T2" fmla="*/ 2147483647 w 31371"/>
              <a:gd name="T3" fmla="*/ 2147483647 h 21600"/>
              <a:gd name="T4" fmla="*/ 2147483647 w 31371"/>
              <a:gd name="T5" fmla="*/ 2147483647 h 21600"/>
              <a:gd name="T6" fmla="*/ 0 60000 65536"/>
              <a:gd name="T7" fmla="*/ 0 60000 65536"/>
              <a:gd name="T8" fmla="*/ 0 60000 65536"/>
              <a:gd name="T9" fmla="*/ 0 w 31371"/>
              <a:gd name="T10" fmla="*/ 0 h 21600"/>
              <a:gd name="T11" fmla="*/ 31371 w 3137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371" h="21600" fill="none" extrusionOk="0">
                <a:moveTo>
                  <a:pt x="0" y="6038"/>
                </a:moveTo>
                <a:cubicBezTo>
                  <a:pt x="4024" y="2164"/>
                  <a:pt x="9393" y="-1"/>
                  <a:pt x="14980" y="0"/>
                </a:cubicBezTo>
                <a:cubicBezTo>
                  <a:pt x="21280" y="0"/>
                  <a:pt x="27267" y="2751"/>
                  <a:pt x="31370" y="7532"/>
                </a:cubicBezTo>
              </a:path>
              <a:path w="31371" h="21600" stroke="0" extrusionOk="0">
                <a:moveTo>
                  <a:pt x="0" y="6038"/>
                </a:moveTo>
                <a:cubicBezTo>
                  <a:pt x="4024" y="2164"/>
                  <a:pt x="9393" y="-1"/>
                  <a:pt x="14980" y="0"/>
                </a:cubicBezTo>
                <a:cubicBezTo>
                  <a:pt x="21280" y="0"/>
                  <a:pt x="27267" y="2751"/>
                  <a:pt x="31370" y="7532"/>
                </a:cubicBezTo>
                <a:lnTo>
                  <a:pt x="14980" y="21600"/>
                </a:lnTo>
                <a:lnTo>
                  <a:pt x="0" y="6038"/>
                </a:lnTo>
                <a:close/>
              </a:path>
            </a:pathLst>
          </a:custGeom>
          <a:noFill/>
          <a:ln w="9525">
            <a:solidFill>
              <a:schemeClr val="folHlink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63" name="Line 31"/>
          <p:cNvSpPr>
            <a:spLocks noChangeShapeType="1"/>
          </p:cNvSpPr>
          <p:nvPr/>
        </p:nvSpPr>
        <p:spPr bwMode="auto">
          <a:xfrm>
            <a:off x="1974850" y="5859463"/>
            <a:ext cx="5943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64" name="Line 32"/>
          <p:cNvSpPr>
            <a:spLocks noChangeShapeType="1"/>
          </p:cNvSpPr>
          <p:nvPr/>
        </p:nvSpPr>
        <p:spPr bwMode="auto">
          <a:xfrm>
            <a:off x="2878138" y="4965700"/>
            <a:ext cx="5029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65" name="Freeform 33"/>
          <p:cNvSpPr>
            <a:spLocks/>
          </p:cNvSpPr>
          <p:nvPr/>
        </p:nvSpPr>
        <p:spPr bwMode="auto">
          <a:xfrm>
            <a:off x="1104900" y="3949700"/>
            <a:ext cx="1779588" cy="1903413"/>
          </a:xfrm>
          <a:custGeom>
            <a:avLst/>
            <a:gdLst>
              <a:gd name="T0" fmla="*/ 2147483647 w 1077"/>
              <a:gd name="T1" fmla="*/ 2147483647 h 1167"/>
              <a:gd name="T2" fmla="*/ 2147483647 w 1077"/>
              <a:gd name="T3" fmla="*/ 2147483647 h 1167"/>
              <a:gd name="T4" fmla="*/ 2147483647 w 1077"/>
              <a:gd name="T5" fmla="*/ 2147483647 h 1167"/>
              <a:gd name="T6" fmla="*/ 2147483647 w 1077"/>
              <a:gd name="T7" fmla="*/ 2147483647 h 1167"/>
              <a:gd name="T8" fmla="*/ 2147483647 w 1077"/>
              <a:gd name="T9" fmla="*/ 2147483647 h 1167"/>
              <a:gd name="T10" fmla="*/ 2147483647 w 1077"/>
              <a:gd name="T11" fmla="*/ 2147483647 h 1167"/>
              <a:gd name="T12" fmla="*/ 2147483647 w 1077"/>
              <a:gd name="T13" fmla="*/ 2147483647 h 1167"/>
              <a:gd name="T14" fmla="*/ 2147483647 w 1077"/>
              <a:gd name="T15" fmla="*/ 2147483647 h 1167"/>
              <a:gd name="T16" fmla="*/ 2147483647 w 1077"/>
              <a:gd name="T17" fmla="*/ 2147483647 h 1167"/>
              <a:gd name="T18" fmla="*/ 2147483647 w 1077"/>
              <a:gd name="T19" fmla="*/ 2147483647 h 1167"/>
              <a:gd name="T20" fmla="*/ 2147483647 w 1077"/>
              <a:gd name="T21" fmla="*/ 2147483647 h 1167"/>
              <a:gd name="T22" fmla="*/ 2147483647 w 1077"/>
              <a:gd name="T23" fmla="*/ 2147483647 h 1167"/>
              <a:gd name="T24" fmla="*/ 2147483647 w 1077"/>
              <a:gd name="T25" fmla="*/ 2147483647 h 1167"/>
              <a:gd name="T26" fmla="*/ 2147483647 w 1077"/>
              <a:gd name="T27" fmla="*/ 2147483647 h 1167"/>
              <a:gd name="T28" fmla="*/ 2147483647 w 1077"/>
              <a:gd name="T29" fmla="*/ 2147483647 h 1167"/>
              <a:gd name="T30" fmla="*/ 2147483647 w 1077"/>
              <a:gd name="T31" fmla="*/ 2147483647 h 1167"/>
              <a:gd name="T32" fmla="*/ 2147483647 w 1077"/>
              <a:gd name="T33" fmla="*/ 2147483647 h 1167"/>
              <a:gd name="T34" fmla="*/ 2147483647 w 1077"/>
              <a:gd name="T35" fmla="*/ 2147483647 h 1167"/>
              <a:gd name="T36" fmla="*/ 2147483647 w 1077"/>
              <a:gd name="T37" fmla="*/ 2147483647 h 1167"/>
              <a:gd name="T38" fmla="*/ 2147483647 w 1077"/>
              <a:gd name="T39" fmla="*/ 2147483647 h 1167"/>
              <a:gd name="T40" fmla="*/ 2147483647 w 1077"/>
              <a:gd name="T41" fmla="*/ 2147483647 h 1167"/>
              <a:gd name="T42" fmla="*/ 2147483647 w 1077"/>
              <a:gd name="T43" fmla="*/ 2147483647 h 1167"/>
              <a:gd name="T44" fmla="*/ 2147483647 w 1077"/>
              <a:gd name="T45" fmla="*/ 2147483647 h 1167"/>
              <a:gd name="T46" fmla="*/ 2147483647 w 1077"/>
              <a:gd name="T47" fmla="*/ 2147483647 h 1167"/>
              <a:gd name="T48" fmla="*/ 2147483647 w 1077"/>
              <a:gd name="T49" fmla="*/ 2147483647 h 1167"/>
              <a:gd name="T50" fmla="*/ 2147483647 w 1077"/>
              <a:gd name="T51" fmla="*/ 2147483647 h 1167"/>
              <a:gd name="T52" fmla="*/ 2147483647 w 1077"/>
              <a:gd name="T53" fmla="*/ 2147483647 h 1167"/>
              <a:gd name="T54" fmla="*/ 2147483647 w 1077"/>
              <a:gd name="T55" fmla="*/ 2147483647 h 1167"/>
              <a:gd name="T56" fmla="*/ 2147483647 w 1077"/>
              <a:gd name="T57" fmla="*/ 2147483647 h 1167"/>
              <a:gd name="T58" fmla="*/ 2147483647 w 1077"/>
              <a:gd name="T59" fmla="*/ 2147483647 h 1167"/>
              <a:gd name="T60" fmla="*/ 2147483647 w 1077"/>
              <a:gd name="T61" fmla="*/ 2147483647 h 1167"/>
              <a:gd name="T62" fmla="*/ 2147483647 w 1077"/>
              <a:gd name="T63" fmla="*/ 2147483647 h 1167"/>
              <a:gd name="T64" fmla="*/ 2147483647 w 1077"/>
              <a:gd name="T65" fmla="*/ 2147483647 h 1167"/>
              <a:gd name="T66" fmla="*/ 2147483647 w 1077"/>
              <a:gd name="T67" fmla="*/ 2147483647 h 1167"/>
              <a:gd name="T68" fmla="*/ 2147483647 w 1077"/>
              <a:gd name="T69" fmla="*/ 2147483647 h 1167"/>
              <a:gd name="T70" fmla="*/ 2147483647 w 1077"/>
              <a:gd name="T71" fmla="*/ 2147483647 h 1167"/>
              <a:gd name="T72" fmla="*/ 2147483647 w 1077"/>
              <a:gd name="T73" fmla="*/ 2147483647 h 1167"/>
              <a:gd name="T74" fmla="*/ 2147483647 w 1077"/>
              <a:gd name="T75" fmla="*/ 2147483647 h 1167"/>
              <a:gd name="T76" fmla="*/ 2147483647 w 1077"/>
              <a:gd name="T77" fmla="*/ 2147483647 h 1167"/>
              <a:gd name="T78" fmla="*/ 2147483647 w 1077"/>
              <a:gd name="T79" fmla="*/ 2147483647 h 1167"/>
              <a:gd name="T80" fmla="*/ 2147483647 w 1077"/>
              <a:gd name="T81" fmla="*/ 2147483647 h 1167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077"/>
              <a:gd name="T124" fmla="*/ 0 h 1167"/>
              <a:gd name="T125" fmla="*/ 1077 w 1077"/>
              <a:gd name="T126" fmla="*/ 1167 h 1167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077" h="1167">
                <a:moveTo>
                  <a:pt x="540" y="2"/>
                </a:moveTo>
                <a:cubicBezTo>
                  <a:pt x="509" y="4"/>
                  <a:pt x="461" y="9"/>
                  <a:pt x="428" y="18"/>
                </a:cubicBezTo>
                <a:cubicBezTo>
                  <a:pt x="395" y="27"/>
                  <a:pt x="369" y="40"/>
                  <a:pt x="340" y="54"/>
                </a:cubicBezTo>
                <a:cubicBezTo>
                  <a:pt x="311" y="68"/>
                  <a:pt x="276" y="85"/>
                  <a:pt x="252" y="102"/>
                </a:cubicBezTo>
                <a:cubicBezTo>
                  <a:pt x="228" y="119"/>
                  <a:pt x="217" y="137"/>
                  <a:pt x="196" y="158"/>
                </a:cubicBezTo>
                <a:cubicBezTo>
                  <a:pt x="175" y="179"/>
                  <a:pt x="148" y="201"/>
                  <a:pt x="128" y="226"/>
                </a:cubicBezTo>
                <a:cubicBezTo>
                  <a:pt x="108" y="251"/>
                  <a:pt x="93" y="275"/>
                  <a:pt x="76" y="306"/>
                </a:cubicBezTo>
                <a:cubicBezTo>
                  <a:pt x="59" y="337"/>
                  <a:pt x="40" y="378"/>
                  <a:pt x="28" y="414"/>
                </a:cubicBezTo>
                <a:cubicBezTo>
                  <a:pt x="16" y="450"/>
                  <a:pt x="8" y="485"/>
                  <a:pt x="4" y="522"/>
                </a:cubicBezTo>
                <a:cubicBezTo>
                  <a:pt x="0" y="559"/>
                  <a:pt x="1" y="597"/>
                  <a:pt x="4" y="634"/>
                </a:cubicBezTo>
                <a:cubicBezTo>
                  <a:pt x="7" y="671"/>
                  <a:pt x="17" y="715"/>
                  <a:pt x="24" y="746"/>
                </a:cubicBezTo>
                <a:cubicBezTo>
                  <a:pt x="31" y="777"/>
                  <a:pt x="35" y="794"/>
                  <a:pt x="44" y="818"/>
                </a:cubicBezTo>
                <a:cubicBezTo>
                  <a:pt x="53" y="842"/>
                  <a:pt x="65" y="867"/>
                  <a:pt x="80" y="890"/>
                </a:cubicBezTo>
                <a:cubicBezTo>
                  <a:pt x="95" y="913"/>
                  <a:pt x="116" y="938"/>
                  <a:pt x="132" y="958"/>
                </a:cubicBezTo>
                <a:cubicBezTo>
                  <a:pt x="148" y="978"/>
                  <a:pt x="158" y="991"/>
                  <a:pt x="176" y="1010"/>
                </a:cubicBezTo>
                <a:cubicBezTo>
                  <a:pt x="194" y="1029"/>
                  <a:pt x="218" y="1054"/>
                  <a:pt x="240" y="1070"/>
                </a:cubicBezTo>
                <a:cubicBezTo>
                  <a:pt x="262" y="1086"/>
                  <a:pt x="284" y="1095"/>
                  <a:pt x="308" y="1106"/>
                </a:cubicBezTo>
                <a:cubicBezTo>
                  <a:pt x="332" y="1117"/>
                  <a:pt x="353" y="1129"/>
                  <a:pt x="384" y="1138"/>
                </a:cubicBezTo>
                <a:cubicBezTo>
                  <a:pt x="415" y="1147"/>
                  <a:pt x="463" y="1153"/>
                  <a:pt x="492" y="1158"/>
                </a:cubicBezTo>
                <a:cubicBezTo>
                  <a:pt x="521" y="1163"/>
                  <a:pt x="532" y="1167"/>
                  <a:pt x="556" y="1166"/>
                </a:cubicBezTo>
                <a:cubicBezTo>
                  <a:pt x="580" y="1165"/>
                  <a:pt x="609" y="1156"/>
                  <a:pt x="636" y="1150"/>
                </a:cubicBezTo>
                <a:cubicBezTo>
                  <a:pt x="663" y="1144"/>
                  <a:pt x="689" y="1141"/>
                  <a:pt x="716" y="1130"/>
                </a:cubicBezTo>
                <a:cubicBezTo>
                  <a:pt x="743" y="1119"/>
                  <a:pt x="775" y="1101"/>
                  <a:pt x="800" y="1086"/>
                </a:cubicBezTo>
                <a:cubicBezTo>
                  <a:pt x="825" y="1071"/>
                  <a:pt x="846" y="1059"/>
                  <a:pt x="868" y="1042"/>
                </a:cubicBezTo>
                <a:cubicBezTo>
                  <a:pt x="890" y="1025"/>
                  <a:pt x="913" y="1005"/>
                  <a:pt x="932" y="986"/>
                </a:cubicBezTo>
                <a:cubicBezTo>
                  <a:pt x="951" y="967"/>
                  <a:pt x="969" y="949"/>
                  <a:pt x="984" y="926"/>
                </a:cubicBezTo>
                <a:cubicBezTo>
                  <a:pt x="999" y="903"/>
                  <a:pt x="1013" y="877"/>
                  <a:pt x="1024" y="850"/>
                </a:cubicBezTo>
                <a:cubicBezTo>
                  <a:pt x="1035" y="823"/>
                  <a:pt x="1045" y="793"/>
                  <a:pt x="1052" y="766"/>
                </a:cubicBezTo>
                <a:cubicBezTo>
                  <a:pt x="1059" y="739"/>
                  <a:pt x="1064" y="717"/>
                  <a:pt x="1068" y="690"/>
                </a:cubicBezTo>
                <a:cubicBezTo>
                  <a:pt x="1072" y="663"/>
                  <a:pt x="1075" y="635"/>
                  <a:pt x="1076" y="606"/>
                </a:cubicBezTo>
                <a:cubicBezTo>
                  <a:pt x="1077" y="577"/>
                  <a:pt x="1076" y="545"/>
                  <a:pt x="1072" y="514"/>
                </a:cubicBezTo>
                <a:cubicBezTo>
                  <a:pt x="1068" y="483"/>
                  <a:pt x="1061" y="450"/>
                  <a:pt x="1052" y="422"/>
                </a:cubicBezTo>
                <a:cubicBezTo>
                  <a:pt x="1043" y="394"/>
                  <a:pt x="1031" y="370"/>
                  <a:pt x="1020" y="346"/>
                </a:cubicBezTo>
                <a:cubicBezTo>
                  <a:pt x="1009" y="322"/>
                  <a:pt x="1003" y="302"/>
                  <a:pt x="988" y="278"/>
                </a:cubicBezTo>
                <a:cubicBezTo>
                  <a:pt x="973" y="254"/>
                  <a:pt x="947" y="225"/>
                  <a:pt x="928" y="202"/>
                </a:cubicBezTo>
                <a:cubicBezTo>
                  <a:pt x="909" y="179"/>
                  <a:pt x="891" y="156"/>
                  <a:pt x="872" y="138"/>
                </a:cubicBezTo>
                <a:cubicBezTo>
                  <a:pt x="853" y="120"/>
                  <a:pt x="833" y="109"/>
                  <a:pt x="812" y="94"/>
                </a:cubicBezTo>
                <a:cubicBezTo>
                  <a:pt x="791" y="79"/>
                  <a:pt x="770" y="61"/>
                  <a:pt x="748" y="50"/>
                </a:cubicBezTo>
                <a:cubicBezTo>
                  <a:pt x="726" y="39"/>
                  <a:pt x="702" y="33"/>
                  <a:pt x="680" y="26"/>
                </a:cubicBezTo>
                <a:cubicBezTo>
                  <a:pt x="658" y="19"/>
                  <a:pt x="639" y="10"/>
                  <a:pt x="616" y="6"/>
                </a:cubicBezTo>
                <a:cubicBezTo>
                  <a:pt x="593" y="2"/>
                  <a:pt x="571" y="0"/>
                  <a:pt x="540" y="2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lgDashDot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66" name="Freeform 34"/>
          <p:cNvSpPr>
            <a:spLocks/>
          </p:cNvSpPr>
          <p:nvPr/>
        </p:nvSpPr>
        <p:spPr bwMode="auto">
          <a:xfrm>
            <a:off x="2006600" y="3952875"/>
            <a:ext cx="536575" cy="215900"/>
          </a:xfrm>
          <a:custGeom>
            <a:avLst/>
            <a:gdLst>
              <a:gd name="T0" fmla="*/ 0 w 338"/>
              <a:gd name="T1" fmla="*/ 0 h 136"/>
              <a:gd name="T2" fmla="*/ 2147483647 w 338"/>
              <a:gd name="T3" fmla="*/ 2147483647 h 136"/>
              <a:gd name="T4" fmla="*/ 2147483647 w 338"/>
              <a:gd name="T5" fmla="*/ 2147483647 h 136"/>
              <a:gd name="T6" fmla="*/ 2147483647 w 338"/>
              <a:gd name="T7" fmla="*/ 2147483647 h 136"/>
              <a:gd name="T8" fmla="*/ 2147483647 w 338"/>
              <a:gd name="T9" fmla="*/ 2147483647 h 136"/>
              <a:gd name="T10" fmla="*/ 2147483647 w 338"/>
              <a:gd name="T11" fmla="*/ 2147483647 h 136"/>
              <a:gd name="T12" fmla="*/ 2147483647 w 338"/>
              <a:gd name="T13" fmla="*/ 2147483647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8"/>
              <a:gd name="T22" fmla="*/ 0 h 136"/>
              <a:gd name="T23" fmla="*/ 338 w 338"/>
              <a:gd name="T24" fmla="*/ 136 h 1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8" h="136">
                <a:moveTo>
                  <a:pt x="0" y="0"/>
                </a:moveTo>
                <a:cubicBezTo>
                  <a:pt x="19" y="1"/>
                  <a:pt x="39" y="3"/>
                  <a:pt x="60" y="6"/>
                </a:cubicBezTo>
                <a:cubicBezTo>
                  <a:pt x="81" y="9"/>
                  <a:pt x="107" y="14"/>
                  <a:pt x="128" y="20"/>
                </a:cubicBezTo>
                <a:cubicBezTo>
                  <a:pt x="149" y="26"/>
                  <a:pt x="169" y="34"/>
                  <a:pt x="186" y="40"/>
                </a:cubicBezTo>
                <a:cubicBezTo>
                  <a:pt x="203" y="46"/>
                  <a:pt x="215" y="50"/>
                  <a:pt x="230" y="58"/>
                </a:cubicBezTo>
                <a:cubicBezTo>
                  <a:pt x="245" y="66"/>
                  <a:pt x="258" y="73"/>
                  <a:pt x="276" y="86"/>
                </a:cubicBezTo>
                <a:cubicBezTo>
                  <a:pt x="294" y="99"/>
                  <a:pt x="316" y="117"/>
                  <a:pt x="338" y="136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67" name="Line 35"/>
          <p:cNvSpPr>
            <a:spLocks noChangeShapeType="1"/>
          </p:cNvSpPr>
          <p:nvPr/>
        </p:nvSpPr>
        <p:spPr bwMode="auto">
          <a:xfrm flipV="1">
            <a:off x="1104900" y="3781425"/>
            <a:ext cx="0" cy="1266825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68" name="Line 36"/>
          <p:cNvSpPr>
            <a:spLocks noChangeShapeType="1"/>
          </p:cNvSpPr>
          <p:nvPr/>
        </p:nvSpPr>
        <p:spPr bwMode="auto">
          <a:xfrm flipV="1">
            <a:off x="2884488" y="3789363"/>
            <a:ext cx="0" cy="1266825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69" name="Freeform 37"/>
          <p:cNvSpPr>
            <a:spLocks/>
          </p:cNvSpPr>
          <p:nvPr/>
        </p:nvSpPr>
        <p:spPr bwMode="auto">
          <a:xfrm flipV="1">
            <a:off x="2014538" y="2332038"/>
            <a:ext cx="536575" cy="215900"/>
          </a:xfrm>
          <a:custGeom>
            <a:avLst/>
            <a:gdLst>
              <a:gd name="T0" fmla="*/ 0 w 338"/>
              <a:gd name="T1" fmla="*/ 0 h 136"/>
              <a:gd name="T2" fmla="*/ 2147483647 w 338"/>
              <a:gd name="T3" fmla="*/ 2147483647 h 136"/>
              <a:gd name="T4" fmla="*/ 2147483647 w 338"/>
              <a:gd name="T5" fmla="*/ 2147483647 h 136"/>
              <a:gd name="T6" fmla="*/ 2147483647 w 338"/>
              <a:gd name="T7" fmla="*/ 2147483647 h 136"/>
              <a:gd name="T8" fmla="*/ 2147483647 w 338"/>
              <a:gd name="T9" fmla="*/ 2147483647 h 136"/>
              <a:gd name="T10" fmla="*/ 2147483647 w 338"/>
              <a:gd name="T11" fmla="*/ 2147483647 h 136"/>
              <a:gd name="T12" fmla="*/ 2147483647 w 338"/>
              <a:gd name="T13" fmla="*/ 2147483647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8"/>
              <a:gd name="T22" fmla="*/ 0 h 136"/>
              <a:gd name="T23" fmla="*/ 338 w 338"/>
              <a:gd name="T24" fmla="*/ 136 h 1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8" h="136">
                <a:moveTo>
                  <a:pt x="0" y="0"/>
                </a:moveTo>
                <a:cubicBezTo>
                  <a:pt x="19" y="1"/>
                  <a:pt x="39" y="3"/>
                  <a:pt x="60" y="6"/>
                </a:cubicBezTo>
                <a:cubicBezTo>
                  <a:pt x="81" y="9"/>
                  <a:pt x="107" y="14"/>
                  <a:pt x="128" y="20"/>
                </a:cubicBezTo>
                <a:cubicBezTo>
                  <a:pt x="149" y="26"/>
                  <a:pt x="169" y="34"/>
                  <a:pt x="186" y="40"/>
                </a:cubicBezTo>
                <a:cubicBezTo>
                  <a:pt x="203" y="46"/>
                  <a:pt x="215" y="50"/>
                  <a:pt x="230" y="58"/>
                </a:cubicBezTo>
                <a:cubicBezTo>
                  <a:pt x="245" y="66"/>
                  <a:pt x="258" y="73"/>
                  <a:pt x="276" y="86"/>
                </a:cubicBezTo>
                <a:cubicBezTo>
                  <a:pt x="294" y="99"/>
                  <a:pt x="316" y="117"/>
                  <a:pt x="338" y="136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70" name="Freeform 38"/>
          <p:cNvSpPr>
            <a:spLocks/>
          </p:cNvSpPr>
          <p:nvPr/>
        </p:nvSpPr>
        <p:spPr bwMode="auto">
          <a:xfrm flipV="1">
            <a:off x="1103313" y="661988"/>
            <a:ext cx="1779587" cy="1897062"/>
          </a:xfrm>
          <a:custGeom>
            <a:avLst/>
            <a:gdLst>
              <a:gd name="T0" fmla="*/ 2147483647 w 1077"/>
              <a:gd name="T1" fmla="*/ 2147483647 h 1167"/>
              <a:gd name="T2" fmla="*/ 2147483647 w 1077"/>
              <a:gd name="T3" fmla="*/ 2147483647 h 1167"/>
              <a:gd name="T4" fmla="*/ 2147483647 w 1077"/>
              <a:gd name="T5" fmla="*/ 2147483647 h 1167"/>
              <a:gd name="T6" fmla="*/ 2147483647 w 1077"/>
              <a:gd name="T7" fmla="*/ 2147483647 h 1167"/>
              <a:gd name="T8" fmla="*/ 2147483647 w 1077"/>
              <a:gd name="T9" fmla="*/ 2147483647 h 1167"/>
              <a:gd name="T10" fmla="*/ 2147483647 w 1077"/>
              <a:gd name="T11" fmla="*/ 2147483647 h 1167"/>
              <a:gd name="T12" fmla="*/ 2147483647 w 1077"/>
              <a:gd name="T13" fmla="*/ 2147483647 h 1167"/>
              <a:gd name="T14" fmla="*/ 2147483647 w 1077"/>
              <a:gd name="T15" fmla="*/ 2147483647 h 1167"/>
              <a:gd name="T16" fmla="*/ 2147483647 w 1077"/>
              <a:gd name="T17" fmla="*/ 2147483647 h 1167"/>
              <a:gd name="T18" fmla="*/ 2147483647 w 1077"/>
              <a:gd name="T19" fmla="*/ 2147483647 h 1167"/>
              <a:gd name="T20" fmla="*/ 2147483647 w 1077"/>
              <a:gd name="T21" fmla="*/ 2147483647 h 1167"/>
              <a:gd name="T22" fmla="*/ 2147483647 w 1077"/>
              <a:gd name="T23" fmla="*/ 2147483647 h 1167"/>
              <a:gd name="T24" fmla="*/ 2147483647 w 1077"/>
              <a:gd name="T25" fmla="*/ 2147483647 h 1167"/>
              <a:gd name="T26" fmla="*/ 2147483647 w 1077"/>
              <a:gd name="T27" fmla="*/ 2147483647 h 1167"/>
              <a:gd name="T28" fmla="*/ 2147483647 w 1077"/>
              <a:gd name="T29" fmla="*/ 2147483647 h 1167"/>
              <a:gd name="T30" fmla="*/ 2147483647 w 1077"/>
              <a:gd name="T31" fmla="*/ 2147483647 h 1167"/>
              <a:gd name="T32" fmla="*/ 2147483647 w 1077"/>
              <a:gd name="T33" fmla="*/ 2147483647 h 1167"/>
              <a:gd name="T34" fmla="*/ 2147483647 w 1077"/>
              <a:gd name="T35" fmla="*/ 2147483647 h 1167"/>
              <a:gd name="T36" fmla="*/ 2147483647 w 1077"/>
              <a:gd name="T37" fmla="*/ 2147483647 h 1167"/>
              <a:gd name="T38" fmla="*/ 2147483647 w 1077"/>
              <a:gd name="T39" fmla="*/ 2147483647 h 1167"/>
              <a:gd name="T40" fmla="*/ 2147483647 w 1077"/>
              <a:gd name="T41" fmla="*/ 2147483647 h 1167"/>
              <a:gd name="T42" fmla="*/ 2147483647 w 1077"/>
              <a:gd name="T43" fmla="*/ 2147483647 h 1167"/>
              <a:gd name="T44" fmla="*/ 2147483647 w 1077"/>
              <a:gd name="T45" fmla="*/ 2147483647 h 1167"/>
              <a:gd name="T46" fmla="*/ 2147483647 w 1077"/>
              <a:gd name="T47" fmla="*/ 2147483647 h 1167"/>
              <a:gd name="T48" fmla="*/ 2147483647 w 1077"/>
              <a:gd name="T49" fmla="*/ 2147483647 h 1167"/>
              <a:gd name="T50" fmla="*/ 2147483647 w 1077"/>
              <a:gd name="T51" fmla="*/ 2147483647 h 1167"/>
              <a:gd name="T52" fmla="*/ 2147483647 w 1077"/>
              <a:gd name="T53" fmla="*/ 2147483647 h 1167"/>
              <a:gd name="T54" fmla="*/ 2147483647 w 1077"/>
              <a:gd name="T55" fmla="*/ 2147483647 h 1167"/>
              <a:gd name="T56" fmla="*/ 2147483647 w 1077"/>
              <a:gd name="T57" fmla="*/ 2147483647 h 1167"/>
              <a:gd name="T58" fmla="*/ 2147483647 w 1077"/>
              <a:gd name="T59" fmla="*/ 2147483647 h 1167"/>
              <a:gd name="T60" fmla="*/ 2147483647 w 1077"/>
              <a:gd name="T61" fmla="*/ 2147483647 h 1167"/>
              <a:gd name="T62" fmla="*/ 2147483647 w 1077"/>
              <a:gd name="T63" fmla="*/ 2147483647 h 1167"/>
              <a:gd name="T64" fmla="*/ 2147483647 w 1077"/>
              <a:gd name="T65" fmla="*/ 2147483647 h 1167"/>
              <a:gd name="T66" fmla="*/ 2147483647 w 1077"/>
              <a:gd name="T67" fmla="*/ 2147483647 h 1167"/>
              <a:gd name="T68" fmla="*/ 2147483647 w 1077"/>
              <a:gd name="T69" fmla="*/ 2147483647 h 1167"/>
              <a:gd name="T70" fmla="*/ 2147483647 w 1077"/>
              <a:gd name="T71" fmla="*/ 2147483647 h 1167"/>
              <a:gd name="T72" fmla="*/ 2147483647 w 1077"/>
              <a:gd name="T73" fmla="*/ 2147483647 h 1167"/>
              <a:gd name="T74" fmla="*/ 2147483647 w 1077"/>
              <a:gd name="T75" fmla="*/ 2147483647 h 1167"/>
              <a:gd name="T76" fmla="*/ 2147483647 w 1077"/>
              <a:gd name="T77" fmla="*/ 2147483647 h 1167"/>
              <a:gd name="T78" fmla="*/ 2147483647 w 1077"/>
              <a:gd name="T79" fmla="*/ 2147483647 h 1167"/>
              <a:gd name="T80" fmla="*/ 2147483647 w 1077"/>
              <a:gd name="T81" fmla="*/ 2147483647 h 1167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077"/>
              <a:gd name="T124" fmla="*/ 0 h 1167"/>
              <a:gd name="T125" fmla="*/ 1077 w 1077"/>
              <a:gd name="T126" fmla="*/ 1167 h 1167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077" h="1167">
                <a:moveTo>
                  <a:pt x="540" y="2"/>
                </a:moveTo>
                <a:cubicBezTo>
                  <a:pt x="509" y="4"/>
                  <a:pt x="461" y="9"/>
                  <a:pt x="428" y="18"/>
                </a:cubicBezTo>
                <a:cubicBezTo>
                  <a:pt x="395" y="27"/>
                  <a:pt x="369" y="40"/>
                  <a:pt x="340" y="54"/>
                </a:cubicBezTo>
                <a:cubicBezTo>
                  <a:pt x="311" y="68"/>
                  <a:pt x="276" y="85"/>
                  <a:pt x="252" y="102"/>
                </a:cubicBezTo>
                <a:cubicBezTo>
                  <a:pt x="228" y="119"/>
                  <a:pt x="217" y="137"/>
                  <a:pt x="196" y="158"/>
                </a:cubicBezTo>
                <a:cubicBezTo>
                  <a:pt x="175" y="179"/>
                  <a:pt x="148" y="201"/>
                  <a:pt x="128" y="226"/>
                </a:cubicBezTo>
                <a:cubicBezTo>
                  <a:pt x="108" y="251"/>
                  <a:pt x="93" y="275"/>
                  <a:pt x="76" y="306"/>
                </a:cubicBezTo>
                <a:cubicBezTo>
                  <a:pt x="59" y="337"/>
                  <a:pt x="40" y="378"/>
                  <a:pt x="28" y="414"/>
                </a:cubicBezTo>
                <a:cubicBezTo>
                  <a:pt x="16" y="450"/>
                  <a:pt x="8" y="485"/>
                  <a:pt x="4" y="522"/>
                </a:cubicBezTo>
                <a:cubicBezTo>
                  <a:pt x="0" y="559"/>
                  <a:pt x="1" y="597"/>
                  <a:pt x="4" y="634"/>
                </a:cubicBezTo>
                <a:cubicBezTo>
                  <a:pt x="7" y="671"/>
                  <a:pt x="17" y="715"/>
                  <a:pt x="24" y="746"/>
                </a:cubicBezTo>
                <a:cubicBezTo>
                  <a:pt x="31" y="777"/>
                  <a:pt x="35" y="794"/>
                  <a:pt x="44" y="818"/>
                </a:cubicBezTo>
                <a:cubicBezTo>
                  <a:pt x="53" y="842"/>
                  <a:pt x="65" y="867"/>
                  <a:pt x="80" y="890"/>
                </a:cubicBezTo>
                <a:cubicBezTo>
                  <a:pt x="95" y="913"/>
                  <a:pt x="116" y="938"/>
                  <a:pt x="132" y="958"/>
                </a:cubicBezTo>
                <a:cubicBezTo>
                  <a:pt x="148" y="978"/>
                  <a:pt x="158" y="991"/>
                  <a:pt x="176" y="1010"/>
                </a:cubicBezTo>
                <a:cubicBezTo>
                  <a:pt x="194" y="1029"/>
                  <a:pt x="218" y="1054"/>
                  <a:pt x="240" y="1070"/>
                </a:cubicBezTo>
                <a:cubicBezTo>
                  <a:pt x="262" y="1086"/>
                  <a:pt x="284" y="1095"/>
                  <a:pt x="308" y="1106"/>
                </a:cubicBezTo>
                <a:cubicBezTo>
                  <a:pt x="332" y="1117"/>
                  <a:pt x="353" y="1129"/>
                  <a:pt x="384" y="1138"/>
                </a:cubicBezTo>
                <a:cubicBezTo>
                  <a:pt x="415" y="1147"/>
                  <a:pt x="463" y="1153"/>
                  <a:pt x="492" y="1158"/>
                </a:cubicBezTo>
                <a:cubicBezTo>
                  <a:pt x="521" y="1163"/>
                  <a:pt x="532" y="1167"/>
                  <a:pt x="556" y="1166"/>
                </a:cubicBezTo>
                <a:cubicBezTo>
                  <a:pt x="580" y="1165"/>
                  <a:pt x="609" y="1156"/>
                  <a:pt x="636" y="1150"/>
                </a:cubicBezTo>
                <a:cubicBezTo>
                  <a:pt x="663" y="1144"/>
                  <a:pt x="689" y="1141"/>
                  <a:pt x="716" y="1130"/>
                </a:cubicBezTo>
                <a:cubicBezTo>
                  <a:pt x="743" y="1119"/>
                  <a:pt x="775" y="1101"/>
                  <a:pt x="800" y="1086"/>
                </a:cubicBezTo>
                <a:cubicBezTo>
                  <a:pt x="825" y="1071"/>
                  <a:pt x="846" y="1059"/>
                  <a:pt x="868" y="1042"/>
                </a:cubicBezTo>
                <a:cubicBezTo>
                  <a:pt x="890" y="1025"/>
                  <a:pt x="913" y="1005"/>
                  <a:pt x="932" y="986"/>
                </a:cubicBezTo>
                <a:cubicBezTo>
                  <a:pt x="951" y="967"/>
                  <a:pt x="969" y="949"/>
                  <a:pt x="984" y="926"/>
                </a:cubicBezTo>
                <a:cubicBezTo>
                  <a:pt x="999" y="903"/>
                  <a:pt x="1013" y="877"/>
                  <a:pt x="1024" y="850"/>
                </a:cubicBezTo>
                <a:cubicBezTo>
                  <a:pt x="1035" y="823"/>
                  <a:pt x="1045" y="793"/>
                  <a:pt x="1052" y="766"/>
                </a:cubicBezTo>
                <a:cubicBezTo>
                  <a:pt x="1059" y="739"/>
                  <a:pt x="1064" y="717"/>
                  <a:pt x="1068" y="690"/>
                </a:cubicBezTo>
                <a:cubicBezTo>
                  <a:pt x="1072" y="663"/>
                  <a:pt x="1075" y="635"/>
                  <a:pt x="1076" y="606"/>
                </a:cubicBezTo>
                <a:cubicBezTo>
                  <a:pt x="1077" y="577"/>
                  <a:pt x="1076" y="545"/>
                  <a:pt x="1072" y="514"/>
                </a:cubicBezTo>
                <a:cubicBezTo>
                  <a:pt x="1068" y="483"/>
                  <a:pt x="1061" y="450"/>
                  <a:pt x="1052" y="422"/>
                </a:cubicBezTo>
                <a:cubicBezTo>
                  <a:pt x="1043" y="394"/>
                  <a:pt x="1031" y="370"/>
                  <a:pt x="1020" y="346"/>
                </a:cubicBezTo>
                <a:cubicBezTo>
                  <a:pt x="1009" y="322"/>
                  <a:pt x="1003" y="302"/>
                  <a:pt x="988" y="278"/>
                </a:cubicBezTo>
                <a:cubicBezTo>
                  <a:pt x="973" y="254"/>
                  <a:pt x="947" y="225"/>
                  <a:pt x="928" y="202"/>
                </a:cubicBezTo>
                <a:cubicBezTo>
                  <a:pt x="909" y="179"/>
                  <a:pt x="891" y="156"/>
                  <a:pt x="872" y="138"/>
                </a:cubicBezTo>
                <a:cubicBezTo>
                  <a:pt x="853" y="120"/>
                  <a:pt x="833" y="109"/>
                  <a:pt x="812" y="94"/>
                </a:cubicBezTo>
                <a:cubicBezTo>
                  <a:pt x="791" y="79"/>
                  <a:pt x="770" y="61"/>
                  <a:pt x="748" y="50"/>
                </a:cubicBezTo>
                <a:cubicBezTo>
                  <a:pt x="726" y="39"/>
                  <a:pt x="702" y="33"/>
                  <a:pt x="680" y="26"/>
                </a:cubicBezTo>
                <a:cubicBezTo>
                  <a:pt x="658" y="19"/>
                  <a:pt x="639" y="10"/>
                  <a:pt x="616" y="6"/>
                </a:cubicBezTo>
                <a:cubicBezTo>
                  <a:pt x="593" y="2"/>
                  <a:pt x="571" y="0"/>
                  <a:pt x="540" y="2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lgDashDot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26"/>
          <p:cNvSpPr>
            <a:spLocks noChangeShapeType="1"/>
          </p:cNvSpPr>
          <p:nvPr/>
        </p:nvSpPr>
        <p:spPr bwMode="auto">
          <a:xfrm flipV="1">
            <a:off x="2545297" y="293511"/>
            <a:ext cx="0" cy="578978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26"/>
          <p:cNvSpPr>
            <a:spLocks noChangeShapeType="1"/>
          </p:cNvSpPr>
          <p:nvPr/>
        </p:nvSpPr>
        <p:spPr bwMode="auto">
          <a:xfrm flipV="1">
            <a:off x="4379758" y="310443"/>
            <a:ext cx="0" cy="578978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26"/>
          <p:cNvSpPr>
            <a:spLocks noChangeShapeType="1"/>
          </p:cNvSpPr>
          <p:nvPr/>
        </p:nvSpPr>
        <p:spPr bwMode="auto">
          <a:xfrm flipV="1">
            <a:off x="4978075" y="299154"/>
            <a:ext cx="0" cy="578978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26"/>
          <p:cNvSpPr>
            <a:spLocks noChangeShapeType="1"/>
          </p:cNvSpPr>
          <p:nvPr/>
        </p:nvSpPr>
        <p:spPr bwMode="auto">
          <a:xfrm flipV="1">
            <a:off x="2011897" y="327039"/>
            <a:ext cx="0" cy="578978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2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28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28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2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28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28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28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28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428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428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2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2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42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2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28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28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42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42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42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2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2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2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6" grpId="0" animBg="1"/>
      <p:bldP spid="428037" grpId="0" animBg="1"/>
      <p:bldP spid="428038" grpId="0" animBg="1"/>
      <p:bldP spid="428039" grpId="0" animBg="1"/>
      <p:bldP spid="428040" grpId="0" animBg="1"/>
      <p:bldP spid="428041" grpId="0" animBg="1"/>
      <p:bldP spid="428042" grpId="0" animBg="1"/>
      <p:bldP spid="428043" grpId="0" animBg="1"/>
      <p:bldP spid="428044" grpId="0" animBg="1"/>
      <p:bldP spid="428045" grpId="0" animBg="1"/>
      <p:bldP spid="428046" grpId="0" animBg="1"/>
      <p:bldP spid="428047" grpId="0" animBg="1"/>
      <p:bldP spid="428048" grpId="0" animBg="1"/>
      <p:bldP spid="428055" grpId="0" animBg="1"/>
      <p:bldP spid="428056" grpId="0" animBg="1"/>
      <p:bldP spid="428057" grpId="0" animBg="1"/>
      <p:bldP spid="428058" grpId="0" animBg="1"/>
      <p:bldP spid="428059" grpId="0" animBg="1"/>
      <p:bldP spid="428060" grpId="0" animBg="1"/>
      <p:bldP spid="428061" grpId="0" animBg="1"/>
      <p:bldP spid="428062" grpId="0" animBg="1"/>
      <p:bldP spid="428063" grpId="0" animBg="1"/>
      <p:bldP spid="428064" grpId="0" animBg="1"/>
      <p:bldP spid="428065" grpId="0" animBg="1"/>
      <p:bldP spid="428066" grpId="0" animBg="1"/>
      <p:bldP spid="428067" grpId="0" animBg="1"/>
      <p:bldP spid="428068" grpId="0" animBg="1"/>
      <p:bldP spid="428069" grpId="0" animBg="1"/>
      <p:bldP spid="428070" grpId="0" animBg="1"/>
      <p:bldP spid="38" grpId="0" animBg="1"/>
      <p:bldP spid="39" grpId="0" animBg="1"/>
      <p:bldP spid="40" grpId="0" animBg="1"/>
      <p:bldP spid="41" grpId="0" animBg="1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4458</TotalTime>
  <Words>395</Words>
  <Application>Microsoft Office PowerPoint</Application>
  <PresentationFormat>全屏显示(4:3)</PresentationFormat>
  <Paragraphs>93</Paragraphs>
  <Slides>30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33" baseType="lpstr">
      <vt:lpstr>Blends</vt:lpstr>
      <vt:lpstr>Image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307</cp:revision>
  <dcterms:created xsi:type="dcterms:W3CDTF">2006-04-04T11:38:05Z</dcterms:created>
  <dcterms:modified xsi:type="dcterms:W3CDTF">2023-10-27T05:04:32Z</dcterms:modified>
</cp:coreProperties>
</file>