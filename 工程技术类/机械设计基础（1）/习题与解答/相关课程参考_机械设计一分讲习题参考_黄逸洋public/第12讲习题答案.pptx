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01" r:id="rId2"/>
  </p:sldMasterIdLst>
  <p:sldIdLst>
    <p:sldId id="264" r:id="rId3"/>
    <p:sldId id="404" r:id="rId4"/>
    <p:sldId id="329" r:id="rId5"/>
    <p:sldId id="383" r:id="rId6"/>
    <p:sldId id="330" r:id="rId7"/>
    <p:sldId id="384" r:id="rId8"/>
    <p:sldId id="331" r:id="rId9"/>
    <p:sldId id="385" r:id="rId10"/>
    <p:sldId id="332" r:id="rId11"/>
    <p:sldId id="386" r:id="rId12"/>
    <p:sldId id="333" r:id="rId13"/>
    <p:sldId id="387" r:id="rId14"/>
    <p:sldId id="334" r:id="rId15"/>
    <p:sldId id="388" r:id="rId16"/>
    <p:sldId id="335" r:id="rId17"/>
    <p:sldId id="389" r:id="rId18"/>
    <p:sldId id="336" r:id="rId19"/>
    <p:sldId id="399" r:id="rId20"/>
    <p:sldId id="400" r:id="rId21"/>
    <p:sldId id="390" r:id="rId22"/>
    <p:sldId id="337" r:id="rId23"/>
    <p:sldId id="391" r:id="rId24"/>
    <p:sldId id="338" r:id="rId25"/>
    <p:sldId id="392" r:id="rId26"/>
    <p:sldId id="339" r:id="rId27"/>
    <p:sldId id="402" r:id="rId28"/>
    <p:sldId id="393" r:id="rId29"/>
    <p:sldId id="341" r:id="rId30"/>
    <p:sldId id="394" r:id="rId31"/>
    <p:sldId id="342" r:id="rId32"/>
    <p:sldId id="395" r:id="rId33"/>
    <p:sldId id="397" r:id="rId34"/>
    <p:sldId id="396" r:id="rId3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4" autoAdjust="0"/>
    <p:restoredTop sz="94660"/>
  </p:normalViewPr>
  <p:slideViewPr>
    <p:cSldViewPr snapToGrid="0">
      <p:cViewPr varScale="1">
        <p:scale>
          <a:sx n="83" d="100"/>
          <a:sy n="83" d="100"/>
        </p:scale>
        <p:origin x="-153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4974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3863E1B-5C0F-4812-91EC-640E877549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463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BA955-A9BD-40BD-882E-CF2211AB15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13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70346D-C44F-4D21-97A1-800B7D9006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7174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8CE044-073D-4669-BCDC-8707C791E9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30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3D79B-10F0-4657-A29F-AA91688C71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14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A9A56F-20D4-4E7B-8123-A2F3B34296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673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ECD585-5AC9-4B13-B175-8D45612772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174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C5B493-B0E1-4D1F-9CF6-FA645C64DC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070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E87ED3-A7C5-4C9D-B52D-29F3739CCD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6017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0527C-2A23-450D-AA24-E2C744C6E1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4624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B2E63B-0E92-4B33-8001-7DD6E4D231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119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92269-2B1A-4D6C-9A0F-93B0DC4780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438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7 w 4128"/>
              <a:gd name="T1" fmla="*/ 2147483647 h 479"/>
              <a:gd name="T2" fmla="*/ 2147483647 w 4128"/>
              <a:gd name="T3" fmla="*/ 2147483647 h 479"/>
              <a:gd name="T4" fmla="*/ 2147483647 w 4128"/>
              <a:gd name="T5" fmla="*/ 2147483647 h 479"/>
              <a:gd name="T6" fmla="*/ 0 w 4128"/>
              <a:gd name="T7" fmla="*/ 2147483647 h 479"/>
              <a:gd name="T8" fmla="*/ 2147483647 w 4128"/>
              <a:gd name="T9" fmla="*/ 2147483647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solidFill>
                  <a:srgbClr val="578963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solidFill>
                  <a:srgbClr val="578963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solidFill>
                  <a:srgbClr val="578963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B53608C6-96E0-4E35-B6A6-DFE09B401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4211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1558C954-245E-4FB1-8544-D18F034FC8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91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BCFDE30A-E88D-41F4-992B-15154AE10E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5152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3625B064-F13A-4D67-B7C1-C3EBDA241C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51815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79879A1F-DCDC-45C3-8FE2-0BCF4EE39A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551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C8F2B36F-44DA-4410-8617-67E38E5328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40140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7D31A54D-D096-41DC-A929-BCB0ABBDF3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186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0D0A6041-9D86-4A29-8679-1C376A9D2E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7952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E32D52E1-7C89-4C2B-B3AD-DBA4F19329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72189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7DD54EFC-0242-4412-82D5-9433A0FBA4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13576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0">
                <a:latin typeface="Tahoma" pitchFamily="34" charset="0"/>
              </a:defRPr>
            </a:lvl1pPr>
          </a:lstStyle>
          <a:p>
            <a:pPr>
              <a:defRPr/>
            </a:pPr>
            <a:fld id="{8E6F830A-201C-43ED-8310-B93B431133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286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39BBA66-5F5C-478F-BA65-091A895967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kumimoji="1" sz="1400" b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kumimoji="1" sz="1400" b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1" sz="1400" b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248FF4B5-919B-4D3F-954A-DAD752ED95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E:\&#25945;&#23398;&#24037;&#20316;\&#26426;&#26800;&#21046;&#22270;\2016.9-2017.1&#65288;litm&#65289;\&#25945;&#23398;&#35838;&#20214;\&#31532;13&#35762;\3-03.avi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0" y="836613"/>
            <a:ext cx="9144000" cy="265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 smtClean="0">
                <a:latin typeface="Arial" charset="0"/>
                <a:ea typeface="隶书" pitchFamily="49" charset="-122"/>
              </a:rPr>
              <a:t>第十二讲</a:t>
            </a:r>
            <a:r>
              <a:rPr lang="zh-CN" altLang="en-US" sz="6000" b="1" dirty="0">
                <a:latin typeface="Arial" charset="0"/>
                <a:ea typeface="隶书" pitchFamily="49" charset="-122"/>
              </a:rPr>
              <a:t>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6000" b="1" dirty="0">
              <a:latin typeface="Arial" charset="0"/>
              <a:ea typeface="隶书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 dirty="0">
                <a:latin typeface="黑体" pitchFamily="2" charset="-122"/>
                <a:ea typeface="黑体" pitchFamily="2" charset="-122"/>
              </a:rPr>
              <a:t> 尺寸标注基础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fld id="{5A02334D-F820-4A6B-BB36-F94891C3C678}" type="slidenum">
              <a:rPr lang="en-US" altLang="zh-CN" sz="1400" smtClean="0">
                <a:solidFill>
                  <a:srgbClr val="578963"/>
                </a:solidFill>
              </a:rPr>
              <a:pPr eaLnBrk="1" hangingPunct="1"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lang="en-US" altLang="zh-CN" sz="1400" smtClean="0">
              <a:solidFill>
                <a:srgbClr val="578963"/>
              </a:solidFill>
            </a:endParaRPr>
          </a:p>
        </p:txBody>
      </p:sp>
      <p:graphicFrame>
        <p:nvGraphicFramePr>
          <p:cNvPr id="234542" name="Object 46"/>
          <p:cNvGraphicFramePr>
            <a:graphicFrameLocks noChangeAspect="1"/>
          </p:cNvGraphicFramePr>
          <p:nvPr/>
        </p:nvGraphicFramePr>
        <p:xfrm>
          <a:off x="1208088" y="2328863"/>
          <a:ext cx="2251075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4" name="AutoCAD Drawing" r:id="rId3" imgW="11487150" imgH="7848600" progId="AutoCAD.Drawing.16">
                  <p:embed/>
                </p:oleObj>
              </mc:Choice>
              <mc:Fallback>
                <p:oleObj name="AutoCAD Drawing" r:id="rId3" imgW="11487150" imgH="7848600" progId="AutoCAD.Drawing.16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084" t="17238" r="47319" b="56563"/>
                      <a:stretch>
                        <a:fillRect/>
                      </a:stretch>
                    </p:blipFill>
                    <p:spPr bwMode="auto">
                      <a:xfrm>
                        <a:off x="1208088" y="2328863"/>
                        <a:ext cx="2251075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3" name="Object 47"/>
          <p:cNvGraphicFramePr>
            <a:graphicFrameLocks noChangeAspect="1"/>
          </p:cNvGraphicFramePr>
          <p:nvPr/>
        </p:nvGraphicFramePr>
        <p:xfrm>
          <a:off x="1262063" y="3884613"/>
          <a:ext cx="9731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5" name="AutoCAD Drawing" r:id="rId5" imgW="11487150" imgH="7848600" progId="AutoCAD.Drawing.16">
                  <p:embed/>
                </p:oleObj>
              </mc:Choice>
              <mc:Fallback>
                <p:oleObj name="AutoCAD Drawing" r:id="rId5" imgW="11487150" imgH="7848600" progId="AutoCAD.Drawing.16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656" t="41940" r="60712" b="52423"/>
                      <a:stretch>
                        <a:fillRect/>
                      </a:stretch>
                    </p:blipFill>
                    <p:spPr bwMode="auto">
                      <a:xfrm>
                        <a:off x="1262063" y="3884613"/>
                        <a:ext cx="973137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4" name="Object 48"/>
          <p:cNvGraphicFramePr>
            <a:graphicFrameLocks noChangeAspect="1"/>
          </p:cNvGraphicFramePr>
          <p:nvPr/>
        </p:nvGraphicFramePr>
        <p:xfrm>
          <a:off x="909638" y="2366963"/>
          <a:ext cx="10445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6" name="AutoCAD Drawing" r:id="rId7" imgW="11487150" imgH="7848600" progId="AutoCAD.Drawing.16">
                  <p:embed/>
                </p:oleObj>
              </mc:Choice>
              <mc:Fallback>
                <p:oleObj name="AutoCAD Drawing" r:id="rId7" imgW="11487150" imgH="7848600" progId="AutoCAD.Drawing.16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875" t="17796" r="63712" b="66336"/>
                      <a:stretch>
                        <a:fillRect/>
                      </a:stretch>
                    </p:blipFill>
                    <p:spPr bwMode="auto">
                      <a:xfrm>
                        <a:off x="909638" y="2366963"/>
                        <a:ext cx="10445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45" name="Object 49"/>
          <p:cNvGraphicFramePr>
            <a:graphicFrameLocks noChangeAspect="1"/>
          </p:cNvGraphicFramePr>
          <p:nvPr/>
        </p:nvGraphicFramePr>
        <p:xfrm>
          <a:off x="1279525" y="3841750"/>
          <a:ext cx="20447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7" name="AutoCAD Drawing" r:id="rId9" imgW="11487150" imgH="7848600" progId="AutoCAD.Drawing.16">
                  <p:embed/>
                </p:oleObj>
              </mc:Choice>
              <mc:Fallback>
                <p:oleObj name="AutoCAD Drawing" r:id="rId9" imgW="11487150" imgH="7848600" progId="AutoCAD.Drawing.16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847" t="40974" r="48811" b="47881"/>
                      <a:stretch>
                        <a:fillRect/>
                      </a:stretch>
                    </p:blipFill>
                    <p:spPr bwMode="auto">
                      <a:xfrm>
                        <a:off x="1279525" y="3841750"/>
                        <a:ext cx="20447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3292475" y="2743200"/>
            <a:ext cx="584200" cy="1146175"/>
            <a:chOff x="2094" y="1668"/>
            <a:chExt cx="368" cy="722"/>
          </a:xfrm>
        </p:grpSpPr>
        <p:graphicFrame>
          <p:nvGraphicFramePr>
            <p:cNvPr id="16402" name="Object 51"/>
            <p:cNvGraphicFramePr>
              <a:graphicFrameLocks noChangeAspect="1"/>
            </p:cNvGraphicFramePr>
            <p:nvPr/>
          </p:nvGraphicFramePr>
          <p:xfrm>
            <a:off x="2094" y="1668"/>
            <a:ext cx="368" cy="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48" name="AutoCAD Drawing" r:id="rId11" imgW="11487150" imgH="7848600" progId="AutoCAD.Drawing.16">
                    <p:embed/>
                  </p:oleObj>
                </mc:Choice>
                <mc:Fallback>
                  <p:oleObj name="AutoCAD Drawing" r:id="rId11" imgW="11487150" imgH="7848600" progId="AutoCAD.Drawing.16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50529" t="23737" r="43088" b="57933"/>
                        <a:stretch>
                          <a:fillRect/>
                        </a:stretch>
                      </p:blipFill>
                      <p:spPr bwMode="auto">
                        <a:xfrm>
                          <a:off x="2094" y="1668"/>
                          <a:ext cx="368" cy="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3" name="Text Box 52"/>
            <p:cNvSpPr txBox="1">
              <a:spLocks noChangeArrowheads="1"/>
            </p:cNvSpPr>
            <p:nvPr/>
          </p:nvSpPr>
          <p:spPr bwMode="auto">
            <a:xfrm rot="-5400000">
              <a:off x="2181" y="1931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FF3399"/>
                  </a:solidFill>
                  <a:sym typeface="SansSerif" pitchFamily="2" charset="2"/>
                </a:rPr>
                <a:t></a:t>
              </a:r>
              <a:endParaRPr lang="en-US" altLang="zh-CN" sz="2000" b="1">
                <a:solidFill>
                  <a:srgbClr val="FF3399"/>
                </a:solidFill>
              </a:endParaRPr>
            </a:p>
          </p:txBody>
        </p:sp>
      </p:grp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1858963" y="1824038"/>
            <a:ext cx="654050" cy="590550"/>
            <a:chOff x="1191" y="1089"/>
            <a:chExt cx="412" cy="372"/>
          </a:xfrm>
        </p:grpSpPr>
        <p:graphicFrame>
          <p:nvGraphicFramePr>
            <p:cNvPr id="16400" name="Object 54"/>
            <p:cNvGraphicFramePr>
              <a:graphicFrameLocks noChangeAspect="1"/>
            </p:cNvGraphicFramePr>
            <p:nvPr/>
          </p:nvGraphicFramePr>
          <p:xfrm>
            <a:off x="1191" y="1234"/>
            <a:ext cx="41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49" name="AutoCAD Drawing" r:id="rId13" imgW="11487150" imgH="7848600" progId="AutoCAD.Drawing.16">
                    <p:embed/>
                  </p:oleObj>
                </mc:Choice>
                <mc:Fallback>
                  <p:oleObj name="AutoCAD Drawing" r:id="rId13" imgW="11487150" imgH="7848600" progId="AutoCAD.Drawing.16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35161" t="13252" r="57692" b="80984"/>
                        <a:stretch>
                          <a:fillRect/>
                        </a:stretch>
                      </p:blipFill>
                      <p:spPr bwMode="auto">
                        <a:xfrm>
                          <a:off x="1191" y="1234"/>
                          <a:ext cx="41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1" name="Text Box 55"/>
            <p:cNvSpPr txBox="1">
              <a:spLocks noChangeArrowheads="1"/>
            </p:cNvSpPr>
            <p:nvPr/>
          </p:nvSpPr>
          <p:spPr bwMode="auto">
            <a:xfrm rot="-5400000">
              <a:off x="1265" y="1145"/>
              <a:ext cx="27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i="1">
                  <a:solidFill>
                    <a:srgbClr val="FF3399"/>
                  </a:solidFill>
                  <a:sym typeface="SansSerif" pitchFamily="2" charset="2"/>
                </a:rPr>
                <a:t></a:t>
              </a:r>
              <a:endParaRPr lang="en-US" altLang="zh-CN" sz="2000" b="1">
                <a:solidFill>
                  <a:srgbClr val="FF3399"/>
                </a:solidFill>
              </a:endParaRPr>
            </a:p>
          </p:txBody>
        </p:sp>
      </p:grpSp>
      <p:sp>
        <p:nvSpPr>
          <p:cNvPr id="16393" name="Text Box 3"/>
          <p:cNvSpPr txBox="1">
            <a:spLocks noChangeArrowheads="1"/>
          </p:cNvSpPr>
          <p:nvPr/>
        </p:nvSpPr>
        <p:spPr bwMode="auto">
          <a:xfrm>
            <a:off x="39688" y="573088"/>
            <a:ext cx="61134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原则：回转面不能作为尺寸基准！</a:t>
            </a:r>
          </a:p>
        </p:txBody>
      </p:sp>
      <p:graphicFrame>
        <p:nvGraphicFramePr>
          <p:cNvPr id="30" name="Object 56"/>
          <p:cNvGraphicFramePr>
            <a:graphicFrameLocks noChangeAspect="1"/>
          </p:cNvGraphicFramePr>
          <p:nvPr/>
        </p:nvGraphicFramePr>
        <p:xfrm>
          <a:off x="6021388" y="2216150"/>
          <a:ext cx="1019175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0" name="AutoCAD Drawing" r:id="rId15" imgW="11487150" imgH="7848600" progId="AutoCAD.Drawing.16">
                  <p:embed/>
                </p:oleObj>
              </mc:Choice>
              <mc:Fallback>
                <p:oleObj name="AutoCAD Drawing" r:id="rId15" imgW="11487150" imgH="7848600" progId="AutoCAD.Drawing.1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835" t="52676" r="72665" b="8678"/>
                      <a:stretch>
                        <a:fillRect/>
                      </a:stretch>
                    </p:blipFill>
                    <p:spPr bwMode="auto">
                      <a:xfrm>
                        <a:off x="6021388" y="2216150"/>
                        <a:ext cx="1019175" cy="199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57"/>
          <p:cNvGrpSpPr>
            <a:grpSpLocks/>
          </p:cNvGrpSpPr>
          <p:nvPr/>
        </p:nvGrpSpPr>
        <p:grpSpPr bwMode="auto">
          <a:xfrm>
            <a:off x="6097588" y="2266950"/>
            <a:ext cx="1166812" cy="1011238"/>
            <a:chOff x="3940" y="1299"/>
            <a:chExt cx="735" cy="637"/>
          </a:xfrm>
        </p:grpSpPr>
        <p:graphicFrame>
          <p:nvGraphicFramePr>
            <p:cNvPr id="16398" name="Object 58"/>
            <p:cNvGraphicFramePr>
              <a:graphicFrameLocks noChangeAspect="1"/>
            </p:cNvGraphicFramePr>
            <p:nvPr/>
          </p:nvGraphicFramePr>
          <p:xfrm>
            <a:off x="3940" y="1299"/>
            <a:ext cx="735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51" name="AutoCAD Drawing" r:id="rId17" imgW="11487150" imgH="7848600" progId="AutoCAD.Drawing.16">
                    <p:embed/>
                  </p:oleObj>
                </mc:Choice>
                <mc:Fallback>
                  <p:oleObj name="AutoCAD Drawing" r:id="rId17" imgW="11487150" imgH="7848600" progId="AutoCAD.Drawing.16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14740" t="53662" r="69806" b="26738"/>
                        <a:stretch>
                          <a:fillRect/>
                        </a:stretch>
                      </p:blipFill>
                      <p:spPr bwMode="auto">
                        <a:xfrm>
                          <a:off x="3940" y="1299"/>
                          <a:ext cx="735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0">
                              <a:solidFill>
                                <a:srgbClr val="000000"/>
                              </a:solidFill>
                              <a:miter lim="800000"/>
                              <a:headEnd type="none" w="sm" len="lg"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9" name="Text Box 59"/>
            <p:cNvSpPr txBox="1">
              <a:spLocks noChangeArrowheads="1"/>
            </p:cNvSpPr>
            <p:nvPr/>
          </p:nvSpPr>
          <p:spPr bwMode="auto">
            <a:xfrm rot="-5400000">
              <a:off x="4074" y="1730"/>
              <a:ext cx="260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500" i="1">
                  <a:solidFill>
                    <a:srgbClr val="FF33CC"/>
                  </a:solidFill>
                  <a:latin typeface="ISOCP" pitchFamily="2" charset="0"/>
                  <a:sym typeface="SansSerif" pitchFamily="2" charset="2"/>
                </a:rPr>
                <a:t></a:t>
              </a:r>
              <a:endParaRPr lang="en-US" altLang="zh-CN" sz="1500" i="1">
                <a:solidFill>
                  <a:srgbClr val="FF33CC"/>
                </a:solidFill>
              </a:endParaRPr>
            </a:p>
          </p:txBody>
        </p:sp>
      </p:grpSp>
      <p:graphicFrame>
        <p:nvGraphicFramePr>
          <p:cNvPr id="34" name="Object 60"/>
          <p:cNvGraphicFramePr>
            <a:graphicFrameLocks noChangeAspect="1"/>
          </p:cNvGraphicFramePr>
          <p:nvPr/>
        </p:nvGraphicFramePr>
        <p:xfrm>
          <a:off x="6508750" y="3294063"/>
          <a:ext cx="7874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2" name="AutoCAD Drawing" r:id="rId19" imgW="11487150" imgH="7848600" progId="AutoCAD.Drawing.16">
                  <p:embed/>
                </p:oleObj>
              </mc:Choice>
              <mc:Fallback>
                <p:oleObj name="AutoCAD Drawing" r:id="rId19" imgW="11487150" imgH="7848600" progId="AutoCAD.Drawing.16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995" t="73569" r="69576" b="11385"/>
                      <a:stretch>
                        <a:fillRect/>
                      </a:stretch>
                    </p:blipFill>
                    <p:spPr bwMode="auto">
                      <a:xfrm>
                        <a:off x="6508750" y="3294063"/>
                        <a:ext cx="7874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61"/>
          <p:cNvGraphicFramePr>
            <a:graphicFrameLocks noChangeAspect="1"/>
          </p:cNvGraphicFramePr>
          <p:nvPr/>
        </p:nvGraphicFramePr>
        <p:xfrm>
          <a:off x="6176963" y="4105275"/>
          <a:ext cx="727075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3" name="AutoCAD Drawing" r:id="rId21" imgW="11487150" imgH="7848600" progId="AutoCAD.Drawing.16">
                  <p:embed/>
                </p:oleObj>
              </mc:Choice>
              <mc:Fallback>
                <p:oleObj name="AutoCAD Drawing" r:id="rId21" imgW="11487150" imgH="7848600" progId="AutoCAD.Drawing.16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770" t="89137" r="74600" b="5354"/>
                      <a:stretch>
                        <a:fillRect/>
                      </a:stretch>
                    </p:blipFill>
                    <p:spPr bwMode="auto">
                      <a:xfrm>
                        <a:off x="6176963" y="4105275"/>
                        <a:ext cx="727075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 type="none" w="sm" len="lg"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5272121" y="4913707"/>
            <a:ext cx="348809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为了便于加工和测量，</a:t>
            </a:r>
            <a:endParaRPr kumimoji="0" lang="en-US" altLang="zh-CN" sz="24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会设置一些</a:t>
            </a:r>
            <a:r>
              <a:rPr kumimoji="0"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辅助基准！</a:t>
            </a:r>
            <a:endParaRPr kumimoji="0" lang="zh-CN" altLang="en-US" sz="2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/>
          <a:stretch>
            <a:fillRect/>
          </a:stretch>
        </p:blipFill>
        <p:spPr bwMode="auto">
          <a:xfrm>
            <a:off x="2184400" y="476250"/>
            <a:ext cx="4764088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4-2-1-1  圈出不符合基本规则的尺寸注法，并在</a:t>
            </a:r>
            <a:r>
              <a:rPr lang="zh-CN" altLang="en-US" sz="1600" b="1">
                <a:latin typeface="宋体" pitchFamily="2" charset="-122"/>
              </a:rPr>
              <a:t>下</a:t>
            </a:r>
            <a:r>
              <a:rPr lang="en-US" altLang="en-US" sz="1600" b="1">
                <a:latin typeface="宋体" pitchFamily="2" charset="-122"/>
              </a:rPr>
              <a:t>面图中完成正确的尺寸标注。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7412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34770" y="6153150"/>
            <a:ext cx="32083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问题：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R8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的圆心？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322310" y="6192660"/>
            <a:ext cx="54717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宋体" pitchFamily="2" charset="-122"/>
              </a:rPr>
              <a:t>R8 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itchFamily="2" charset="-122"/>
              </a:rPr>
              <a:t>是连接圆弧，不能标注圆心。</a:t>
            </a:r>
            <a:endParaRPr lang="zh-CN" altLang="en-US" sz="24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4-2-1-1  圈出不符合基本规则的尺寸注法，并在</a:t>
            </a:r>
            <a:r>
              <a:rPr lang="zh-CN" altLang="en-US" sz="1600" b="1">
                <a:latin typeface="宋体" pitchFamily="2" charset="-122"/>
              </a:rPr>
              <a:t>下</a:t>
            </a:r>
            <a:r>
              <a:rPr lang="en-US" altLang="en-US" sz="1600" b="1">
                <a:latin typeface="宋体" pitchFamily="2" charset="-122"/>
              </a:rPr>
              <a:t>面图中完成正确的尺寸标注。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84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284" r="-16756"/>
          <a:stretch>
            <a:fillRect/>
          </a:stretch>
        </p:blipFill>
        <p:spPr bwMode="auto">
          <a:xfrm>
            <a:off x="1619250" y="765175"/>
            <a:ext cx="5329238" cy="42497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7" b="3331"/>
          <a:stretch>
            <a:fillRect/>
          </a:stretch>
        </p:blipFill>
        <p:spPr bwMode="auto">
          <a:xfrm>
            <a:off x="2124075" y="476250"/>
            <a:ext cx="4489450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4-2-1-2  圈出不符合基本规则的尺寸注法，并在右面图中完成正确的尺寸标注。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9460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4-2-1-2  圈出不符合基本规则的尺寸注法，并在右面图中完成正确的尺寸标注。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251" r="-31267"/>
          <a:stretch>
            <a:fillRect/>
          </a:stretch>
        </p:blipFill>
        <p:spPr bwMode="auto">
          <a:xfrm>
            <a:off x="1403350" y="765175"/>
            <a:ext cx="5545138" cy="410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0" t="2229"/>
          <a:stretch>
            <a:fillRect/>
          </a:stretch>
        </p:blipFill>
        <p:spPr bwMode="auto">
          <a:xfrm>
            <a:off x="2484438" y="404813"/>
            <a:ext cx="4083050" cy="633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4-2-1-3  圈出不符合基本规则的尺寸注法，并在右面图中完成正确的尺寸标注。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1508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4-2-1-3  圈出不符合基本规则的尺寸注法，并在右面图中完成正确的尺寸标注。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367" r="-22205"/>
          <a:stretch>
            <a:fillRect/>
          </a:stretch>
        </p:blipFill>
        <p:spPr bwMode="auto">
          <a:xfrm>
            <a:off x="1403350" y="1125538"/>
            <a:ext cx="5545138" cy="2693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4-2-1-4  圈出不符合基本规则的尺寸注法，并在</a:t>
            </a:r>
            <a:r>
              <a:rPr lang="zh-CN" altLang="en-US" sz="1600" b="1">
                <a:latin typeface="宋体" pitchFamily="2" charset="-122"/>
              </a:rPr>
              <a:t>下</a:t>
            </a:r>
            <a:r>
              <a:rPr lang="en-US" altLang="en-US" sz="1600" b="1">
                <a:latin typeface="宋体" pitchFamily="2" charset="-122"/>
              </a:rPr>
              <a:t>面图中完成正确的尺寸标注。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355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80" r="52644"/>
          <a:stretch>
            <a:fillRect/>
          </a:stretch>
        </p:blipFill>
        <p:spPr bwMode="auto">
          <a:xfrm>
            <a:off x="2051050" y="476250"/>
            <a:ext cx="3673475" cy="2851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57"/>
          <a:stretch>
            <a:fillRect/>
          </a:stretch>
        </p:blipFill>
        <p:spPr bwMode="auto">
          <a:xfrm>
            <a:off x="2052638" y="3429000"/>
            <a:ext cx="3878262" cy="285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4-2-1-4  圈出不符合基本规则的尺寸注法，并在</a:t>
            </a:r>
            <a:r>
              <a:rPr lang="zh-CN" altLang="en-US" sz="1600" b="1">
                <a:latin typeface="宋体" pitchFamily="2" charset="-122"/>
              </a:rPr>
              <a:t>下</a:t>
            </a:r>
            <a:r>
              <a:rPr lang="en-US" altLang="en-US" sz="1600" b="1">
                <a:latin typeface="宋体" pitchFamily="2" charset="-122"/>
              </a:rPr>
              <a:t>面图中完成正确的尺寸标注。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153" r="-41994"/>
          <a:stretch>
            <a:fillRect/>
          </a:stretch>
        </p:blipFill>
        <p:spPr bwMode="auto">
          <a:xfrm>
            <a:off x="1476375" y="692150"/>
            <a:ext cx="5256213" cy="4103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12"/>
          <a:stretch>
            <a:fillRect/>
          </a:stretch>
        </p:blipFill>
        <p:spPr bwMode="auto">
          <a:xfrm>
            <a:off x="1863725" y="3521075"/>
            <a:ext cx="3779838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88"/>
          <a:stretch>
            <a:fillRect/>
          </a:stretch>
        </p:blipFill>
        <p:spPr bwMode="auto">
          <a:xfrm>
            <a:off x="2060575" y="319088"/>
            <a:ext cx="3455988" cy="321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0" y="64382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宋体" pitchFamily="2" charset="-122"/>
              </a:rPr>
              <a:t>4-2-1-5  </a:t>
            </a:r>
            <a:r>
              <a:rPr lang="en-US" altLang="en-US" sz="1600" b="1" dirty="0" err="1">
                <a:latin typeface="宋体" pitchFamily="2" charset="-122"/>
              </a:rPr>
              <a:t>圈出不符合基本规则的尺寸注法，并在</a:t>
            </a:r>
            <a:r>
              <a:rPr lang="zh-CN" altLang="en-US" sz="1600" b="1" dirty="0">
                <a:latin typeface="宋体" pitchFamily="2" charset="-122"/>
              </a:rPr>
              <a:t>下</a:t>
            </a:r>
            <a:r>
              <a:rPr lang="en-US" altLang="en-US" sz="1600" b="1" dirty="0" err="1">
                <a:latin typeface="宋体" pitchFamily="2" charset="-122"/>
              </a:rPr>
              <a:t>面图中完成正确的尺寸标注</a:t>
            </a:r>
            <a:r>
              <a:rPr lang="en-US" altLang="en-US" sz="1600" b="1" dirty="0">
                <a:latin typeface="宋体" pitchFamily="2" charset="-122"/>
              </a:rPr>
              <a:t>。</a:t>
            </a:r>
            <a:endParaRPr lang="zh-CN" altLang="en-US" sz="1600" b="1" dirty="0">
              <a:latin typeface="宋体" pitchFamily="2" charset="-122"/>
            </a:endParaRPr>
          </a:p>
        </p:txBody>
      </p:sp>
      <p:sp>
        <p:nvSpPr>
          <p:cNvPr id="25605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073" name="Oval 9"/>
          <p:cNvSpPr>
            <a:spLocks noChangeArrowheads="1"/>
          </p:cNvSpPr>
          <p:nvPr/>
        </p:nvSpPr>
        <p:spPr bwMode="auto">
          <a:xfrm>
            <a:off x="2451100" y="6338888"/>
            <a:ext cx="328613" cy="274637"/>
          </a:xfrm>
          <a:prstGeom prst="ellipse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8074" name="Line 10"/>
          <p:cNvSpPr>
            <a:spLocks noChangeShapeType="1"/>
          </p:cNvSpPr>
          <p:nvPr/>
        </p:nvSpPr>
        <p:spPr bwMode="auto">
          <a:xfrm flipH="1">
            <a:off x="5332413" y="5040313"/>
            <a:ext cx="7937" cy="771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5" name="Line 11"/>
          <p:cNvSpPr>
            <a:spLocks noChangeShapeType="1"/>
          </p:cNvSpPr>
          <p:nvPr/>
        </p:nvSpPr>
        <p:spPr bwMode="auto">
          <a:xfrm>
            <a:off x="4630561" y="5743046"/>
            <a:ext cx="709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sm" len="lg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76" name="Text Box 12"/>
          <p:cNvSpPr txBox="1">
            <a:spLocks noChangeArrowheads="1"/>
          </p:cNvSpPr>
          <p:nvPr/>
        </p:nvSpPr>
        <p:spPr bwMode="auto">
          <a:xfrm>
            <a:off x="4714875" y="5514975"/>
            <a:ext cx="5365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900" b="1" dirty="0">
                <a:latin typeface="Arial" charset="0"/>
              </a:rPr>
              <a:t>（</a:t>
            </a:r>
            <a:r>
              <a:rPr lang="en-US" altLang="zh-CN" sz="900" b="1" dirty="0">
                <a:latin typeface="Arial" charset="0"/>
              </a:rPr>
              <a:t>23</a:t>
            </a:r>
            <a:r>
              <a:rPr lang="zh-CN" altLang="en-US" sz="900" b="1" dirty="0">
                <a:latin typeface="Arial" charset="0"/>
              </a:rPr>
              <a:t>）</a:t>
            </a:r>
          </a:p>
        </p:txBody>
      </p:sp>
      <p:sp>
        <p:nvSpPr>
          <p:cNvPr id="88077" name="Line 13"/>
          <p:cNvSpPr>
            <a:spLocks noChangeShapeType="1"/>
          </p:cNvSpPr>
          <p:nvPr/>
        </p:nvSpPr>
        <p:spPr bwMode="auto">
          <a:xfrm>
            <a:off x="4640263" y="5429250"/>
            <a:ext cx="1587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5474543" y="5815327"/>
            <a:ext cx="360173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某些特殊情况下，</a:t>
            </a:r>
            <a:endParaRPr lang="en-US" altLang="zh-CN" sz="2000" b="1" dirty="0" smtClean="0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总体尺寸可以省略。</a:t>
            </a:r>
            <a:endParaRPr lang="zh-CN" altLang="en-US" sz="20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2967389" y="3535364"/>
            <a:ext cx="0" cy="2915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2513872" y="3589867"/>
            <a:ext cx="0" cy="6649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2491294" y="3694091"/>
            <a:ext cx="47609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sm" len="lg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Oval 9"/>
          <p:cNvSpPr>
            <a:spLocks noChangeArrowheads="1"/>
          </p:cNvSpPr>
          <p:nvPr/>
        </p:nvSpPr>
        <p:spPr bwMode="auto">
          <a:xfrm>
            <a:off x="2349036" y="3521074"/>
            <a:ext cx="760610" cy="260875"/>
          </a:xfrm>
          <a:prstGeom prst="ellipse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8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8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3" grpId="0" animBg="1"/>
      <p:bldP spid="88074" grpId="0" animBg="1"/>
      <p:bldP spid="88075" grpId="0" animBg="1"/>
      <p:bldP spid="88076" grpId="0"/>
      <p:bldP spid="88077" grpId="0" animBg="1"/>
      <p:bldP spid="11" grpId="0"/>
      <p:bldP spid="12" grpId="0" animBg="1"/>
      <p:bldP spid="13" grpId="0" animBg="1"/>
      <p:bldP spid="14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440" r="-35033"/>
          <a:stretch>
            <a:fillRect/>
          </a:stretch>
        </p:blipFill>
        <p:spPr bwMode="auto">
          <a:xfrm>
            <a:off x="1331913" y="836613"/>
            <a:ext cx="5472112" cy="36750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4-2-1-5  圈出不符合基本规则的尺寸注法，并在</a:t>
            </a:r>
            <a:r>
              <a:rPr lang="zh-CN" altLang="en-US" sz="1600" b="1">
                <a:latin typeface="宋体" pitchFamily="2" charset="-122"/>
              </a:rPr>
              <a:t>下</a:t>
            </a:r>
            <a:r>
              <a:rPr lang="en-US" altLang="en-US" sz="1600" b="1">
                <a:latin typeface="宋体" pitchFamily="2" charset="-122"/>
              </a:rPr>
              <a:t>面图中完成正确的尺寸标注。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"/>
          <a:stretch>
            <a:fillRect/>
          </a:stretch>
        </p:blipFill>
        <p:spPr bwMode="auto">
          <a:xfrm>
            <a:off x="1377950" y="546100"/>
            <a:ext cx="6477000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4-2-2-1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sp>
        <p:nvSpPr>
          <p:cNvPr id="27652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4-2-2-1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pic>
        <p:nvPicPr>
          <p:cNvPr id="286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54" r="-16586"/>
          <a:stretch>
            <a:fillRect/>
          </a:stretch>
        </p:blipFill>
        <p:spPr bwMode="auto">
          <a:xfrm>
            <a:off x="1403350" y="620713"/>
            <a:ext cx="5689600" cy="4083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1"/>
          <a:stretch>
            <a:fillRect/>
          </a:stretch>
        </p:blipFill>
        <p:spPr bwMode="auto">
          <a:xfrm>
            <a:off x="984250" y="674688"/>
            <a:ext cx="6970713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4-2-2-2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sp>
        <p:nvSpPr>
          <p:cNvPr id="29700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765175"/>
            <a:ext cx="6408738" cy="415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4-2-2-2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4-2-2-3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08" r="-11734"/>
          <a:stretch>
            <a:fillRect/>
          </a:stretch>
        </p:blipFill>
        <p:spPr bwMode="auto">
          <a:xfrm>
            <a:off x="901700" y="739775"/>
            <a:ext cx="7510463" cy="4546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 rot="1261424">
            <a:off x="1271354" y="1123198"/>
            <a:ext cx="3189021" cy="1177465"/>
          </a:xfrm>
          <a:prstGeom prst="ellips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ock"/>
          <p:cNvSpPr>
            <a:spLocks noEditPoints="1" noChangeArrowheads="1"/>
          </p:cNvSpPr>
          <p:nvPr/>
        </p:nvSpPr>
        <p:spPr bwMode="auto">
          <a:xfrm flipH="1">
            <a:off x="179388" y="1047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674688" y="450850"/>
          <a:ext cx="8240712" cy="558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6" name="Image" r:id="rId3" imgW="12317460" imgH="8939683" progId="Photoshop.Image.6">
                  <p:embed/>
                </p:oleObj>
              </mc:Choice>
              <mc:Fallback>
                <p:oleObj name="Image" r:id="rId3" imgW="12317460" imgH="8939683" progId="Photoshop.Image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6662"/>
                      <a:stretch>
                        <a:fillRect/>
                      </a:stretch>
                    </p:blipFill>
                    <p:spPr bwMode="auto">
                      <a:xfrm>
                        <a:off x="674688" y="450850"/>
                        <a:ext cx="8240712" cy="558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461963" y="368300"/>
          <a:ext cx="8475662" cy="545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1" name="Image" r:id="rId3" imgW="12088889" imgH="8584127" progId="Photoshop.Image.6">
                  <p:embed/>
                </p:oleObj>
              </mc:Choice>
              <mc:Fallback>
                <p:oleObj name="Image" r:id="rId3" imgW="12088889" imgH="8584127" progId="Photoshop.Image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9418"/>
                      <a:stretch>
                        <a:fillRect/>
                      </a:stretch>
                    </p:blipFill>
                    <p:spPr bwMode="auto">
                      <a:xfrm>
                        <a:off x="461963" y="368300"/>
                        <a:ext cx="8475662" cy="545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0" name="Oval 4"/>
          <p:cNvSpPr>
            <a:spLocks noChangeArrowheads="1"/>
          </p:cNvSpPr>
          <p:nvPr/>
        </p:nvSpPr>
        <p:spPr bwMode="auto">
          <a:xfrm>
            <a:off x="3435350" y="1509713"/>
            <a:ext cx="690563" cy="860425"/>
          </a:xfrm>
          <a:prstGeom prst="ellips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4-2-2-3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676" r="-23688"/>
          <a:stretch>
            <a:fillRect/>
          </a:stretch>
        </p:blipFill>
        <p:spPr bwMode="auto">
          <a:xfrm>
            <a:off x="1331913" y="620713"/>
            <a:ext cx="5903912" cy="522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"/>
          <a:stretch>
            <a:fillRect/>
          </a:stretch>
        </p:blipFill>
        <p:spPr bwMode="auto">
          <a:xfrm>
            <a:off x="1023938" y="617538"/>
            <a:ext cx="7140575" cy="534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4-2-2-4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sp>
        <p:nvSpPr>
          <p:cNvPr id="35844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4-2-2-4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pic>
        <p:nvPicPr>
          <p:cNvPr id="3686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546" r="-24142"/>
          <a:stretch>
            <a:fillRect/>
          </a:stretch>
        </p:blipFill>
        <p:spPr bwMode="auto">
          <a:xfrm>
            <a:off x="1403350" y="692150"/>
            <a:ext cx="5545138" cy="4046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7"/>
          <a:stretch>
            <a:fillRect/>
          </a:stretch>
        </p:blipFill>
        <p:spPr bwMode="auto">
          <a:xfrm>
            <a:off x="1123950" y="847725"/>
            <a:ext cx="7318375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4-2-2-5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sp>
        <p:nvSpPr>
          <p:cNvPr id="37892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90" name="Oval 6"/>
          <p:cNvSpPr>
            <a:spLocks noChangeArrowheads="1"/>
          </p:cNvSpPr>
          <p:nvPr/>
        </p:nvSpPr>
        <p:spPr bwMode="auto">
          <a:xfrm>
            <a:off x="1606373" y="4150960"/>
            <a:ext cx="2474270" cy="895173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chemeClr val="hlink"/>
              </a:solidFill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31598" y="5821307"/>
            <a:ext cx="6898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宋体" pitchFamily="2" charset="-122"/>
              </a:rPr>
              <a:t>为了加工的要求，个别情况下允许封闭尺寸链。</a:t>
            </a:r>
            <a:endParaRPr lang="zh-CN" altLang="en-US" sz="24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0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4-2-2-5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pic>
        <p:nvPicPr>
          <p:cNvPr id="389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4" r="-14995"/>
          <a:stretch>
            <a:fillRect/>
          </a:stretch>
        </p:blipFill>
        <p:spPr bwMode="auto">
          <a:xfrm>
            <a:off x="1331913" y="692150"/>
            <a:ext cx="5903912" cy="4791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1"/>
          <a:stretch>
            <a:fillRect/>
          </a:stretch>
        </p:blipFill>
        <p:spPr bwMode="auto">
          <a:xfrm>
            <a:off x="595313" y="674688"/>
            <a:ext cx="7313612" cy="493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4-2-2-6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sp>
        <p:nvSpPr>
          <p:cNvPr id="39940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4-2-2-6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sp>
        <p:nvSpPr>
          <p:cNvPr id="40963" name="Lock"/>
          <p:cNvSpPr>
            <a:spLocks noEditPoints="1" noChangeArrowheads="1"/>
          </p:cNvSpPr>
          <p:nvPr/>
        </p:nvSpPr>
        <p:spPr bwMode="auto">
          <a:xfrm flipH="1">
            <a:off x="179388" y="549275"/>
            <a:ext cx="268287" cy="3905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lnTo>
                  <a:pt x="93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CC99"/>
          </a:solidFill>
          <a:ln w="63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3845" name="3-03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338" y="1127125"/>
            <a:ext cx="6154737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38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638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845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63845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4-2-2-6  </a:t>
            </a:r>
            <a:r>
              <a:rPr lang="zh-CN" altLang="en-US" sz="1600" b="1">
                <a:latin typeface="宋体" pitchFamily="2" charset="-122"/>
              </a:rPr>
              <a:t>标注组合体的尺寸（数值从图上按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pic>
        <p:nvPicPr>
          <p:cNvPr id="419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609" r="-14093"/>
          <a:stretch>
            <a:fillRect/>
          </a:stretch>
        </p:blipFill>
        <p:spPr bwMode="auto">
          <a:xfrm>
            <a:off x="1331913" y="692150"/>
            <a:ext cx="6335712" cy="4654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331516" y="5866463"/>
            <a:ext cx="6898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宋体" pitchFamily="2" charset="-122"/>
              </a:rPr>
              <a:t>提示：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itchFamily="2" charset="-122"/>
              </a:rPr>
              <a:t>分数？</a:t>
            </a:r>
            <a:endParaRPr lang="zh-CN" altLang="en-US" sz="2400" b="1" dirty="0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4" r="10559"/>
          <a:stretch>
            <a:fillRect/>
          </a:stretch>
        </p:blipFill>
        <p:spPr bwMode="auto">
          <a:xfrm>
            <a:off x="3203575" y="188913"/>
            <a:ext cx="5508625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4-2-2-7  </a:t>
            </a:r>
            <a:r>
              <a:rPr lang="zh-CN" altLang="en-US" sz="1600" b="1">
                <a:latin typeface="宋体" pitchFamily="2" charset="-122"/>
              </a:rPr>
              <a:t>标注轴测图的尺寸（数值从图上按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4-2-2-7  </a:t>
            </a:r>
            <a:r>
              <a:rPr lang="zh-CN" altLang="en-US" sz="1600" b="1">
                <a:latin typeface="宋体" pitchFamily="2" charset="-122"/>
              </a:rPr>
              <a:t>标注轴测图的尺寸（数值从图上按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sp>
        <p:nvSpPr>
          <p:cNvPr id="44035" name="Rectangle 5"/>
          <p:cNvSpPr>
            <a:spLocks noChangeArrowheads="1"/>
          </p:cNvSpPr>
          <p:nvPr/>
        </p:nvSpPr>
        <p:spPr bwMode="auto">
          <a:xfrm>
            <a:off x="1403350" y="765175"/>
            <a:ext cx="1512888" cy="43195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2" t="19823" r="21489" b="33186"/>
          <a:stretch>
            <a:fillRect/>
          </a:stretch>
        </p:blipFill>
        <p:spPr bwMode="auto">
          <a:xfrm>
            <a:off x="2124075" y="836613"/>
            <a:ext cx="5111750" cy="40322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4-2-2-8  </a:t>
            </a:r>
            <a:r>
              <a:rPr lang="zh-CN" altLang="en-US" sz="1600" b="1">
                <a:latin typeface="宋体" pitchFamily="2" charset="-122"/>
              </a:rPr>
              <a:t>标注轴测图的尺寸（数值从图上按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pic>
        <p:nvPicPr>
          <p:cNvPr id="450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" t="6113" b="1993"/>
          <a:stretch>
            <a:fillRect/>
          </a:stretch>
        </p:blipFill>
        <p:spPr bwMode="auto">
          <a:xfrm>
            <a:off x="1692275" y="549275"/>
            <a:ext cx="6443663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4-2-2-8  </a:t>
            </a:r>
            <a:r>
              <a:rPr lang="zh-CN" altLang="en-US" sz="1600" b="1">
                <a:latin typeface="宋体" pitchFamily="2" charset="-122"/>
              </a:rPr>
              <a:t>标注轴测图的尺寸（数值从图上按</a:t>
            </a:r>
            <a:r>
              <a:rPr lang="en-US" altLang="zh-CN" sz="1600" b="1">
                <a:latin typeface="宋体" pitchFamily="2" charset="-122"/>
              </a:rPr>
              <a:t>1:1</a:t>
            </a:r>
            <a:r>
              <a:rPr lang="zh-CN" altLang="en-US" sz="1600" b="1">
                <a:latin typeface="宋体" pitchFamily="2" charset="-122"/>
              </a:rPr>
              <a:t>量取）</a:t>
            </a:r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459" r="-12701"/>
          <a:stretch>
            <a:fillRect/>
          </a:stretch>
        </p:blipFill>
        <p:spPr bwMode="auto">
          <a:xfrm>
            <a:off x="1403350" y="908050"/>
            <a:ext cx="5905500" cy="3987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153974" y="1820353"/>
            <a:ext cx="6888163" cy="665163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Tx/>
              <a:buNone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基本体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（平面体、回转体、轴线倾斜的回转体）</a:t>
            </a: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349917" y="171451"/>
            <a:ext cx="4492625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FontTx/>
              <a:buNone/>
            </a:pPr>
            <a:r>
              <a:rPr lang="zh-CN" altLang="en-US" sz="3600" b="1" dirty="0">
                <a:latin typeface="黑体" pitchFamily="2" charset="-122"/>
                <a:ea typeface="黑体" pitchFamily="2" charset="-122"/>
              </a:rPr>
              <a:t>考试基本内容：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1142863" y="2461703"/>
            <a:ext cx="7425066" cy="95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969FD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Tx/>
              <a:buFontTx/>
              <a:buNone/>
            </a:pP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截切</a:t>
            </a:r>
            <a:r>
              <a:rPr kumimoji="1" lang="zh-CN" altLang="en-US" sz="2400" b="1" dirty="0">
                <a:latin typeface="黑体" pitchFamily="2" charset="-122"/>
                <a:ea typeface="黑体" pitchFamily="2" charset="-122"/>
              </a:rPr>
              <a:t>（平面与平面体相交、平面与回转体相交、</a:t>
            </a:r>
          </a:p>
          <a:p>
            <a:pPr eaLnBrk="1" hangingPunct="1">
              <a:buClr>
                <a:schemeClr val="tx1"/>
              </a:buClr>
              <a:buSzTx/>
              <a:buFontTx/>
              <a:buNone/>
            </a:pPr>
            <a:r>
              <a:rPr kumimoji="1" lang="zh-CN" altLang="en-US" sz="2400" b="1" dirty="0">
                <a:latin typeface="黑体" pitchFamily="2" charset="-122"/>
                <a:ea typeface="黑体" pitchFamily="2" charset="-122"/>
              </a:rPr>
              <a:t>       </a:t>
            </a:r>
            <a:r>
              <a:rPr kumimoji="1" lang="zh-CN" altLang="en-US" sz="2400" b="1" dirty="0">
                <a:latin typeface="Times New Roman" pitchFamily="18" charset="0"/>
                <a:ea typeface="黑体" pitchFamily="2" charset="-122"/>
              </a:rPr>
              <a:t>直线与立体相交）</a:t>
            </a:r>
          </a:p>
        </p:txBody>
      </p:sp>
      <p:sp>
        <p:nvSpPr>
          <p:cNvPr id="159749" name="Rectangle 5"/>
          <p:cNvSpPr>
            <a:spLocks noChangeArrowheads="1"/>
          </p:cNvSpPr>
          <p:nvPr/>
        </p:nvSpPr>
        <p:spPr bwMode="auto">
          <a:xfrm>
            <a:off x="1130162" y="3518978"/>
            <a:ext cx="53213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FontTx/>
              <a:buNone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相贯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（立体与立体相交）</a:t>
            </a:r>
          </a:p>
        </p:txBody>
      </p:sp>
      <p:sp>
        <p:nvSpPr>
          <p:cNvPr id="159750" name="Rectangle 6"/>
          <p:cNvSpPr>
            <a:spLocks noChangeArrowheads="1"/>
          </p:cNvSpPr>
          <p:nvPr/>
        </p:nvSpPr>
        <p:spPr bwMode="auto">
          <a:xfrm>
            <a:off x="1120637" y="4190491"/>
            <a:ext cx="67040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组合体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2400" b="1" dirty="0">
                <a:solidFill>
                  <a:srgbClr val="000000"/>
                </a:solidFill>
                <a:ea typeface="黑体" pitchFamily="2" charset="-122"/>
              </a:rPr>
              <a:t>组成、画图）</a:t>
            </a:r>
          </a:p>
        </p:txBody>
      </p:sp>
      <p:sp>
        <p:nvSpPr>
          <p:cNvPr id="159751" name="Rectangle 7"/>
          <p:cNvSpPr>
            <a:spLocks noChangeArrowheads="1"/>
          </p:cNvSpPr>
          <p:nvPr/>
        </p:nvSpPr>
        <p:spPr bwMode="auto">
          <a:xfrm>
            <a:off x="1120637" y="5402452"/>
            <a:ext cx="7447292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机件的图样画法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（视图、剖视图、断面图）</a:t>
            </a:r>
          </a:p>
        </p:txBody>
      </p:sp>
      <p:sp>
        <p:nvSpPr>
          <p:cNvPr id="159752" name="Rectangle 8"/>
          <p:cNvSpPr>
            <a:spLocks noChangeArrowheads="1"/>
          </p:cNvSpPr>
          <p:nvPr/>
        </p:nvSpPr>
        <p:spPr bwMode="auto">
          <a:xfrm>
            <a:off x="1134924" y="5980302"/>
            <a:ext cx="760674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尺寸标注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（规则、基本体尺寸标注、组合体尺寸标注）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64471" y="1139965"/>
            <a:ext cx="6790809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chemeClr val="tx1"/>
              </a:buClr>
              <a:buFontTx/>
              <a:buNone/>
            </a:pPr>
            <a:r>
              <a:rPr lang="zh-CN" altLang="en-US" sz="2800" b="1" kern="0" dirty="0" smtClean="0">
                <a:latin typeface="黑体" pitchFamily="2" charset="-122"/>
                <a:ea typeface="黑体" pitchFamily="2" charset="-122"/>
              </a:rPr>
              <a:t>几何元素投影</a:t>
            </a:r>
            <a:r>
              <a:rPr lang="zh-CN" altLang="en-US" sz="2400" b="1" kern="0" dirty="0" smtClean="0">
                <a:latin typeface="黑体" pitchFamily="2" charset="-122"/>
                <a:ea typeface="黑体" pitchFamily="2" charset="-122"/>
              </a:rPr>
              <a:t>（基本做图方法、换面法）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135877" y="4781803"/>
            <a:ext cx="67040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轴测图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（正等</a:t>
            </a:r>
            <a:r>
              <a:rPr lang="zh-CN" altLang="en-US" sz="2400" b="1" dirty="0" smtClean="0">
                <a:solidFill>
                  <a:srgbClr val="000000"/>
                </a:solidFill>
                <a:ea typeface="黑体" pitchFamily="2" charset="-122"/>
              </a:rPr>
              <a:t>、斜二）</a:t>
            </a:r>
            <a:endParaRPr lang="zh-CN" altLang="en-US" sz="2400" b="1" dirty="0">
              <a:solidFill>
                <a:srgbClr val="000000"/>
              </a:solidFill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9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6" grpId="0" build="p"/>
      <p:bldP spid="159748" grpId="0"/>
      <p:bldP spid="159749" grpId="0"/>
      <p:bldP spid="159750" grpId="0"/>
      <p:bldP spid="159751" grpId="0"/>
      <p:bldP spid="159752" grpId="0"/>
      <p:bldP spid="9" grpId="0" build="p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1169353" y="1036256"/>
            <a:ext cx="7777162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</a:pPr>
            <a:r>
              <a:rPr lang="zh-CN" altLang="en-US" sz="3600" b="1" dirty="0" smtClean="0">
                <a:latin typeface="黑体" pitchFamily="2" charset="-122"/>
                <a:ea typeface="黑体" pitchFamily="2" charset="-122"/>
              </a:rPr>
              <a:t>期末考试安排</a:t>
            </a:r>
            <a:endParaRPr lang="zh-CN" altLang="en-US" sz="36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时间：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2024.01.09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（星期二）  上午 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9:00 </a:t>
            </a:r>
            <a:r>
              <a:rPr lang="en-US" altLang="zh-CN" sz="20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- 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11:00</a:t>
            </a:r>
            <a:endParaRPr lang="en-US" altLang="zh-CN" sz="20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地点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0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六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教 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6A305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45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） （机械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308/309/311/312/313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43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人）</a:t>
            </a:r>
            <a:endParaRPr lang="en-US" altLang="zh-CN" sz="2000" b="1" dirty="0" smtClean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   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六教 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6A307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（其余，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21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人）</a:t>
            </a:r>
            <a:endParaRPr lang="zh-CN" altLang="en-US" sz="20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 要求：</a:t>
            </a:r>
            <a:r>
              <a:rPr lang="zh-CN" altLang="en-US" sz="20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只能携带指定的教科书</a:t>
            </a:r>
          </a:p>
          <a:p>
            <a:pPr eaLnBrk="1" hangingPunct="1">
              <a:spcBef>
                <a:spcPct val="25000"/>
              </a:spcBef>
              <a:spcAft>
                <a:spcPct val="25000"/>
              </a:spcAft>
              <a:buClrTx/>
              <a:buSzTx/>
              <a:buFontTx/>
              <a:buNone/>
            </a:pPr>
            <a:endParaRPr lang="en-US" altLang="zh-CN" sz="28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25000"/>
              </a:spcBef>
              <a:spcAft>
                <a:spcPct val="2500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答疑安排：</a:t>
            </a:r>
            <a:endParaRPr lang="zh-CN" altLang="en-US" sz="28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latin typeface="黑体" pitchFamily="2" charset="-122"/>
                <a:ea typeface="黑体" pitchFamily="2" charset="-122"/>
              </a:rPr>
              <a:t>    集中答疑时间：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2023.01.08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（星期</a:t>
            </a:r>
            <a:r>
              <a:rPr lang="zh-CN" altLang="en-US" sz="20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一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14:00-17:00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000" b="1" dirty="0" smtClean="0">
                <a:latin typeface="黑体" pitchFamily="2" charset="-122"/>
                <a:ea typeface="黑体" pitchFamily="2" charset="-122"/>
              </a:rPr>
              <a:t>地点：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李兆基科技大楼</a:t>
            </a:r>
            <a:r>
              <a:rPr lang="en-US" altLang="zh-CN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A907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000" b="1" dirty="0" smtClean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000" b="1" dirty="0" smtClean="0">
                <a:latin typeface="黑体" pitchFamily="2" charset="-122"/>
                <a:ea typeface="黑体" pitchFamily="2" charset="-122"/>
              </a:rPr>
              <a:t>其余时间答疑，可单约。</a:t>
            </a:r>
            <a:endParaRPr lang="en-US" altLang="zh-CN" sz="20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0000"/>
          </a:solidFill>
          <a:prstDash val="solid"/>
          <a:round/>
          <a:headEnd type="none" w="sm" len="lg"/>
          <a:tailEnd type="non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0000"/>
          </a:solidFill>
          <a:prstDash val="solid"/>
          <a:round/>
          <a:headEnd type="none" w="sm" len="lg"/>
          <a:tailEnd type="non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2989</TotalTime>
  <Words>577</Words>
  <Application>Microsoft Office PowerPoint</Application>
  <PresentationFormat>全屏显示(4:3)</PresentationFormat>
  <Paragraphs>64</Paragraphs>
  <Slides>33</Slides>
  <Notes>0</Notes>
  <HiddenSlides>0</HiddenSlides>
  <MMClips>1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Blends</vt:lpstr>
      <vt:lpstr>场景型模板</vt:lpstr>
      <vt:lpstr>AutoCAD Drawing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169</cp:revision>
  <dcterms:created xsi:type="dcterms:W3CDTF">2006-04-04T11:38:05Z</dcterms:created>
  <dcterms:modified xsi:type="dcterms:W3CDTF">2023-12-23T08:20:02Z</dcterms:modified>
</cp:coreProperties>
</file>