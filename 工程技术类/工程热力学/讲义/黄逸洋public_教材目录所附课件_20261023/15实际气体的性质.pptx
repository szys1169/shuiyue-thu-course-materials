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90" r:id="rId31"/>
    <p:sldId id="286" r:id="rId32"/>
    <p:sldId id="287" r:id="rId33"/>
    <p:sldId id="288" r:id="rId34"/>
    <p:sldId id="289"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9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9.wmf"/><Relationship Id="rId1" Type="http://schemas.openxmlformats.org/officeDocument/2006/relationships/image" Target="../media/image11.wmf"/><Relationship Id="rId5" Type="http://schemas.openxmlformats.org/officeDocument/2006/relationships/image" Target="../media/image14.wmf"/><Relationship Id="rId4"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image" Target="../media/image20.wmf"/><Relationship Id="rId2" Type="http://schemas.openxmlformats.org/officeDocument/2006/relationships/image" Target="../media/image13.wmf"/><Relationship Id="rId1" Type="http://schemas.openxmlformats.org/officeDocument/2006/relationships/image" Target="../media/image16.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41.wmf"/><Relationship Id="rId1" Type="http://schemas.openxmlformats.org/officeDocument/2006/relationships/image" Target="../media/image40.wmf"/><Relationship Id="rId4" Type="http://schemas.openxmlformats.org/officeDocument/2006/relationships/image" Target="../media/image4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38.w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4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3" name="日期占位符 131075"/>
          <p:cNvSpPr>
            <a:spLocks noGrp="1"/>
          </p:cNvSpPr>
          <p:nvPr>
            <p:ph type="dt" sz="half" idx="10"/>
          </p:nvPr>
        </p:nvSpPr>
        <p:spPr>
          <a:ln/>
        </p:spPr>
        <p:txBody>
          <a:bodyPr/>
          <a:lstStyle>
            <a:lvl1pPr>
              <a:defRPr/>
            </a:lvl1pPr>
          </a:lstStyle>
          <a:p>
            <a:fld id="{BB962C8B-B14F-4D97-AF65-F5344CB8AC3E}" type="datetime1">
              <a:rPr lang="zh-CN" altLang="en-US"/>
              <a:pPr/>
              <a:t>2020/9/29</a:t>
            </a:fld>
            <a:endParaRPr lang="zh-CN" altLang="en-US">
              <a:latin typeface="Times New Roman" panose="02020603050405020304" pitchFamily="18" charset="0"/>
            </a:endParaRPr>
          </a:p>
        </p:txBody>
      </p:sp>
      <p:sp>
        <p:nvSpPr>
          <p:cNvPr id="4" name="页脚占位符 131076"/>
          <p:cNvSpPr>
            <a:spLocks noGrp="1"/>
          </p:cNvSpPr>
          <p:nvPr>
            <p:ph type="ftr" sz="quarter" idx="11"/>
          </p:nvPr>
        </p:nvSpPr>
        <p:spPr>
          <a:ln/>
        </p:spPr>
        <p:txBody>
          <a:bodyPr/>
          <a:lstStyle>
            <a:lvl1pPr>
              <a:defRPr/>
            </a:lvl1pPr>
          </a:lstStyle>
          <a:p>
            <a:endParaRPr lang="zh-CN" altLang="en-US"/>
          </a:p>
        </p:txBody>
      </p:sp>
      <p:sp>
        <p:nvSpPr>
          <p:cNvPr id="5" name="灯片编号占位符 131077"/>
          <p:cNvSpPr>
            <a:spLocks noGrp="1"/>
          </p:cNvSpPr>
          <p:nvPr>
            <p:ph type="sldNum" sz="quarter" idx="12"/>
          </p:nvPr>
        </p:nvSpPr>
        <p:spPr>
          <a:ln/>
        </p:spPr>
        <p:txBody>
          <a:bodyPr/>
          <a:lstStyle>
            <a:lvl1pPr>
              <a:defRPr/>
            </a:lvl1pPr>
          </a:lstStyle>
          <a:p>
            <a:fld id="{A04D5123-5738-4E83-856A-DEF8A2808E3E}" type="slidenum">
              <a:rPr lang="zh-CN" altLang="en-US"/>
              <a:pPr/>
              <a:t>‹#›</a:t>
            </a:fld>
            <a:endParaRPr lang="zh-CN" altLang="en-US">
              <a:latin typeface="Times New Roman" panose="02020603050405020304" pitchFamily="18" charset="0"/>
            </a:endParaRPr>
          </a:p>
        </p:txBody>
      </p:sp>
    </p:spTree>
    <p:extLst>
      <p:ext uri="{BB962C8B-B14F-4D97-AF65-F5344CB8AC3E}">
        <p14:creationId xmlns:p14="http://schemas.microsoft.com/office/powerpoint/2010/main" val="4117026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t>2020/9/29</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8.jpeg"/><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10.wmf"/><Relationship Id="rId5" Type="http://schemas.openxmlformats.org/officeDocument/2006/relationships/oleObject" Target="../embeddings/oleObject7.bin"/><Relationship Id="rId4" Type="http://schemas.openxmlformats.org/officeDocument/2006/relationships/image" Target="../media/image9.wmf"/></Relationships>
</file>

<file path=ppt/slides/_rels/slide12.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image" Target="../media/image15.png"/><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4.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9.w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13.wmf"/><Relationship Id="rId4" Type="http://schemas.openxmlformats.org/officeDocument/2006/relationships/image" Target="../media/image11.wmf"/><Relationship Id="rId9" Type="http://schemas.openxmlformats.org/officeDocument/2006/relationships/oleObject" Target="../embeddings/oleObject11.bin"/></Relationships>
</file>

<file path=ppt/slides/_rels/slide13.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18.wmf"/><Relationship Id="rId2" Type="http://schemas.openxmlformats.org/officeDocument/2006/relationships/slideLayout" Target="../slideLayouts/slideLayout7.xml"/><Relationship Id="rId16" Type="http://schemas.openxmlformats.org/officeDocument/2006/relationships/image" Target="../media/image20.wmf"/><Relationship Id="rId1" Type="http://schemas.openxmlformats.org/officeDocument/2006/relationships/vmlDrawing" Target="../drawings/vmlDrawing7.vml"/><Relationship Id="rId6" Type="http://schemas.openxmlformats.org/officeDocument/2006/relationships/image" Target="../media/image13.wmf"/><Relationship Id="rId11" Type="http://schemas.openxmlformats.org/officeDocument/2006/relationships/oleObject" Target="../embeddings/oleObject17.bin"/><Relationship Id="rId5" Type="http://schemas.openxmlformats.org/officeDocument/2006/relationships/oleObject" Target="../embeddings/oleObject14.bin"/><Relationship Id="rId15" Type="http://schemas.openxmlformats.org/officeDocument/2006/relationships/oleObject" Target="../embeddings/oleObject19.bin"/><Relationship Id="rId10" Type="http://schemas.openxmlformats.org/officeDocument/2006/relationships/image" Target="../media/image17.wmf"/><Relationship Id="rId4" Type="http://schemas.openxmlformats.org/officeDocument/2006/relationships/image" Target="../media/image16.wmf"/><Relationship Id="rId9" Type="http://schemas.openxmlformats.org/officeDocument/2006/relationships/oleObject" Target="../embeddings/oleObject16.bin"/><Relationship Id="rId14" Type="http://schemas.openxmlformats.org/officeDocument/2006/relationships/image" Target="../media/image19.w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3.wmf"/><Relationship Id="rId5" Type="http://schemas.openxmlformats.org/officeDocument/2006/relationships/oleObject" Target="../embeddings/oleObject21.bin"/><Relationship Id="rId4" Type="http://schemas.openxmlformats.org/officeDocument/2006/relationships/image" Target="../media/image2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6.jpeg"/><Relationship Id="rId4" Type="http://schemas.openxmlformats.org/officeDocument/2006/relationships/image" Target="../media/image25.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7.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8.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9.wm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vmlDrawing" Target="../drawings/vmlDrawing13.vml"/><Relationship Id="rId6" Type="http://schemas.openxmlformats.org/officeDocument/2006/relationships/image" Target="../media/image30.wmf"/><Relationship Id="rId5" Type="http://schemas.openxmlformats.org/officeDocument/2006/relationships/oleObject" Target="../embeddings/oleObject27.bin"/><Relationship Id="rId4" Type="http://schemas.openxmlformats.org/officeDocument/2006/relationships/image" Target="../media/image31.wmf"/></Relationships>
</file>

<file path=ppt/slides/_rels/slide24.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w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34.wmf"/><Relationship Id="rId5" Type="http://schemas.openxmlformats.org/officeDocument/2006/relationships/oleObject" Target="../embeddings/oleObject29.bin"/><Relationship Id="rId4" Type="http://schemas.openxmlformats.org/officeDocument/2006/relationships/image" Target="../media/image33.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6.wmf"/><Relationship Id="rId5" Type="http://schemas.openxmlformats.org/officeDocument/2006/relationships/oleObject" Target="../embeddings/oleObject31.bin"/><Relationship Id="rId4" Type="http://schemas.openxmlformats.org/officeDocument/2006/relationships/image" Target="../media/image35.wmf"/></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39.png"/><Relationship Id="rId4" Type="http://schemas.openxmlformats.org/officeDocument/2006/relationships/image" Target="../media/image38.wmf"/></Relationships>
</file>

<file path=ppt/slides/_rels/slide32.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41.wmf"/><Relationship Id="rId11" Type="http://schemas.openxmlformats.org/officeDocument/2006/relationships/image" Target="../media/image39.png"/><Relationship Id="rId5" Type="http://schemas.openxmlformats.org/officeDocument/2006/relationships/oleObject" Target="../embeddings/oleObject34.bin"/><Relationship Id="rId10" Type="http://schemas.openxmlformats.org/officeDocument/2006/relationships/image" Target="../media/image42.wmf"/><Relationship Id="rId4" Type="http://schemas.openxmlformats.org/officeDocument/2006/relationships/image" Target="../media/image40.wmf"/><Relationship Id="rId9" Type="http://schemas.openxmlformats.org/officeDocument/2006/relationships/oleObject" Target="../embeddings/oleObject36.bin"/></Relationships>
</file>

<file path=ppt/slides/_rels/slide33.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oleObject" Target="../embeddings/oleObject42.bin"/><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46.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43.wmf"/><Relationship Id="rId11" Type="http://schemas.openxmlformats.org/officeDocument/2006/relationships/oleObject" Target="../embeddings/oleObject41.bin"/><Relationship Id="rId5" Type="http://schemas.openxmlformats.org/officeDocument/2006/relationships/oleObject" Target="../embeddings/oleObject38.bin"/><Relationship Id="rId15" Type="http://schemas.openxmlformats.org/officeDocument/2006/relationships/image" Target="../media/image39.png"/><Relationship Id="rId10" Type="http://schemas.openxmlformats.org/officeDocument/2006/relationships/image" Target="../media/image45.wmf"/><Relationship Id="rId4" Type="http://schemas.openxmlformats.org/officeDocument/2006/relationships/image" Target="../media/image38.wmf"/><Relationship Id="rId9" Type="http://schemas.openxmlformats.org/officeDocument/2006/relationships/oleObject" Target="../embeddings/oleObject40.bin"/><Relationship Id="rId14" Type="http://schemas.openxmlformats.org/officeDocument/2006/relationships/image" Target="../media/image47.wmf"/></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3" name="标题 6145"/>
          <p:cNvSpPr>
            <a:spLocks noGrp="1" noChangeArrowheads="1"/>
          </p:cNvSpPr>
          <p:nvPr>
            <p:ph type="ctrTitle"/>
          </p:nvPr>
        </p:nvSpPr>
        <p:spPr>
          <a:xfrm>
            <a:off x="669511" y="1923083"/>
            <a:ext cx="7772400" cy="1447800"/>
          </a:xfrm>
        </p:spPr>
        <p:txBody>
          <a:bodyPr anchor="ctr">
            <a:normAutofit/>
          </a:bodyPr>
          <a:lstStyle/>
          <a:p>
            <a:r>
              <a:rPr lang="en-US" altLang="zh-CN" sz="4800" b="1" dirty="0" smtClean="0"/>
              <a:t>15</a:t>
            </a:r>
            <a:r>
              <a:rPr lang="zh-CN" altLang="en-US" sz="4800" b="1" dirty="0" smtClean="0"/>
              <a:t>  </a:t>
            </a:r>
            <a:r>
              <a:rPr lang="zh-CN" altLang="en-US" sz="4800" b="1" dirty="0" smtClean="0"/>
              <a:t>实际气体的性质</a:t>
            </a:r>
          </a:p>
        </p:txBody>
      </p:sp>
    </p:spTree>
    <p:custDataLst>
      <p:tags r:id="rId1"/>
    </p:custDataLst>
    <p:extLst>
      <p:ext uri="{BB962C8B-B14F-4D97-AF65-F5344CB8AC3E}">
        <p14:creationId xmlns:p14="http://schemas.microsoft.com/office/powerpoint/2010/main" val="5659392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7178"/>
          <p:cNvSpPr>
            <a:spLocks noGrp="1" noChangeArrowheads="1"/>
          </p:cNvSpPr>
          <p:nvPr>
            <p:ph type="title"/>
          </p:nvPr>
        </p:nvSpPr>
        <p:spPr>
          <a:xfrm>
            <a:off x="360984" y="2140502"/>
            <a:ext cx="8498095" cy="1143000"/>
          </a:xfrm>
        </p:spPr>
        <p:txBody>
          <a:bodyPr anchor="b"/>
          <a:lstStyle/>
          <a:p>
            <a:pPr>
              <a:buFontTx/>
              <a:buChar char="§"/>
            </a:pPr>
            <a:r>
              <a:rPr lang="en-US" altLang="zh-CN" sz="3600" b="1" dirty="0" smtClean="0">
                <a:solidFill>
                  <a:schemeClr val="tx1"/>
                </a:solidFill>
              </a:rPr>
              <a:t>15</a:t>
            </a:r>
            <a:r>
              <a:rPr lang="zh-CN" altLang="en-US" sz="3600" b="1" dirty="0" smtClean="0">
                <a:solidFill>
                  <a:schemeClr val="tx1"/>
                </a:solidFill>
              </a:rPr>
              <a:t>－</a:t>
            </a:r>
            <a:r>
              <a:rPr lang="en-US" altLang="zh-CN" sz="3600" b="1" dirty="0" smtClean="0">
                <a:solidFill>
                  <a:schemeClr val="tx1"/>
                </a:solidFill>
              </a:rPr>
              <a:t>1 </a:t>
            </a:r>
            <a:r>
              <a:rPr lang="zh-CN" altLang="en-US" sz="3600" b="1" dirty="0" smtClean="0">
                <a:solidFill>
                  <a:schemeClr val="tx1"/>
                </a:solidFill>
              </a:rPr>
              <a:t>实际气体与理想气体之间的差异</a:t>
            </a:r>
          </a:p>
        </p:txBody>
      </p:sp>
    </p:spTree>
    <p:extLst>
      <p:ext uri="{BB962C8B-B14F-4D97-AF65-F5344CB8AC3E}">
        <p14:creationId xmlns:p14="http://schemas.microsoft.com/office/powerpoint/2010/main" val="66089048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文本框 1"/>
          <p:cNvSpPr txBox="1">
            <a:spLocks noChangeArrowheads="1"/>
          </p:cNvSpPr>
          <p:nvPr/>
        </p:nvSpPr>
        <p:spPr bwMode="auto">
          <a:xfrm>
            <a:off x="5881688" y="1668186"/>
            <a:ext cx="2913062"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buFont typeface="Arial" panose="020B0604020202020204" pitchFamily="34" charset="0"/>
              <a:buChar char="•"/>
            </a:pPr>
            <a:r>
              <a:rPr lang="zh-CN" altLang="en-US" sz="2000" b="1" u="none" dirty="0">
                <a:solidFill>
                  <a:srgbClr val="0070C0"/>
                </a:solidFill>
              </a:rPr>
              <a:t>以水蒸气为例，左</a:t>
            </a:r>
            <a:r>
              <a:rPr lang="zh-CN" altLang="en-US" sz="2000" b="1" u="none" dirty="0" smtClean="0">
                <a:solidFill>
                  <a:srgbClr val="0070C0"/>
                </a:solidFill>
              </a:rPr>
              <a:t>图给出了当把水蒸气</a:t>
            </a:r>
            <a:r>
              <a:rPr lang="zh-CN" altLang="en-US" sz="2000" b="1" u="none" dirty="0">
                <a:solidFill>
                  <a:srgbClr val="0070C0"/>
                </a:solidFill>
              </a:rPr>
              <a:t>视为理想气体</a:t>
            </a:r>
            <a:r>
              <a:rPr lang="zh-CN" altLang="en-US" sz="2000" b="1" u="none" dirty="0" smtClean="0">
                <a:solidFill>
                  <a:srgbClr val="0070C0"/>
                </a:solidFill>
              </a:rPr>
              <a:t>时所造成的误差分布</a:t>
            </a:r>
            <a:endParaRPr lang="en-US" altLang="zh-CN" sz="2000" b="1" u="none" dirty="0" smtClean="0">
              <a:solidFill>
                <a:srgbClr val="0070C0"/>
              </a:solidFill>
            </a:endParaRPr>
          </a:p>
          <a:p>
            <a:pPr marL="342900" indent="-342900">
              <a:buFont typeface="Arial" panose="020B0604020202020204" pitchFamily="34" charset="0"/>
              <a:buChar char="•"/>
            </a:pPr>
            <a:r>
              <a:rPr lang="zh-CN" altLang="en-US" sz="2000" b="1" dirty="0">
                <a:solidFill>
                  <a:srgbClr val="0070C0"/>
                </a:solidFill>
              </a:rPr>
              <a:t>图</a:t>
            </a:r>
            <a:r>
              <a:rPr lang="zh-CN" altLang="en-US" sz="2000" b="1" dirty="0" smtClean="0">
                <a:solidFill>
                  <a:srgbClr val="0070C0"/>
                </a:solidFill>
              </a:rPr>
              <a:t>中各点的数值为误差值</a:t>
            </a:r>
            <a:endParaRPr lang="en-US" altLang="zh-CN" sz="2000" b="1" dirty="0" smtClean="0">
              <a:solidFill>
                <a:srgbClr val="0070C0"/>
              </a:solidFill>
            </a:endParaRPr>
          </a:p>
          <a:p>
            <a:pPr marL="342900" indent="-342900">
              <a:buFont typeface="Arial" panose="020B0604020202020204" pitchFamily="34" charset="0"/>
              <a:buChar char="•"/>
            </a:pPr>
            <a:r>
              <a:rPr lang="zh-CN" altLang="en-US" sz="2000" b="1" u="none" dirty="0" smtClean="0">
                <a:solidFill>
                  <a:srgbClr val="0070C0"/>
                </a:solidFill>
              </a:rPr>
              <a:t>在水的饱和区和临界点附近，误差值较大，不能视为</a:t>
            </a:r>
            <a:r>
              <a:rPr lang="zh-CN" altLang="en-US" sz="2000" b="1" dirty="0" smtClean="0">
                <a:solidFill>
                  <a:srgbClr val="0070C0"/>
                </a:solidFill>
              </a:rPr>
              <a:t>理想气体</a:t>
            </a:r>
            <a:endParaRPr lang="en-US" altLang="zh-CN" sz="2000" b="1" u="none" dirty="0" smtClean="0">
              <a:solidFill>
                <a:srgbClr val="0070C0"/>
              </a:solidFill>
            </a:endParaRPr>
          </a:p>
          <a:p>
            <a:pPr marL="342900" indent="-342900">
              <a:buFont typeface="Arial" panose="020B0604020202020204" pitchFamily="34" charset="0"/>
              <a:buChar char="•"/>
            </a:pPr>
            <a:r>
              <a:rPr lang="zh-CN" altLang="en-US" sz="2000" b="1" u="none" dirty="0" smtClean="0">
                <a:solidFill>
                  <a:srgbClr val="0070C0"/>
                </a:solidFill>
              </a:rPr>
              <a:t>当</a:t>
            </a:r>
            <a:r>
              <a:rPr lang="zh-CN" altLang="en-US" sz="2000" b="1" u="none" dirty="0">
                <a:solidFill>
                  <a:srgbClr val="0070C0"/>
                </a:solidFill>
              </a:rPr>
              <a:t>水蒸气状态</a:t>
            </a:r>
            <a:r>
              <a:rPr lang="zh-CN" altLang="en-US" sz="2000" b="1" u="none" dirty="0" smtClean="0">
                <a:solidFill>
                  <a:srgbClr val="0070C0"/>
                </a:solidFill>
              </a:rPr>
              <a:t>位于阴影区域（即低压高温区），</a:t>
            </a:r>
            <a:r>
              <a:rPr lang="zh-CN" altLang="en-US" sz="2000" b="1" dirty="0">
                <a:solidFill>
                  <a:srgbClr val="0070C0"/>
                </a:solidFill>
              </a:rPr>
              <a:t>误差不超过</a:t>
            </a:r>
            <a:r>
              <a:rPr lang="zh-CN" altLang="en-US" sz="2000" b="1" dirty="0">
                <a:solidFill>
                  <a:srgbClr val="0070C0"/>
                </a:solidFill>
                <a:latin typeface="Times New Roman" panose="02020603050405020304" pitchFamily="18" charset="0"/>
                <a:cs typeface="Times New Roman" panose="02020603050405020304" pitchFamily="18" charset="0"/>
              </a:rPr>
              <a:t>1</a:t>
            </a:r>
            <a:r>
              <a:rPr lang="zh-CN" altLang="en-US" sz="2000" b="1" dirty="0" smtClean="0">
                <a:solidFill>
                  <a:srgbClr val="0070C0"/>
                </a:solidFill>
                <a:latin typeface="Times New Roman" panose="02020603050405020304" pitchFamily="18" charset="0"/>
                <a:cs typeface="Times New Roman" panose="02020603050405020304" pitchFamily="18" charset="0"/>
              </a:rPr>
              <a:t>%</a:t>
            </a:r>
            <a:r>
              <a:rPr lang="zh-CN" altLang="en-US" sz="2000" b="1" dirty="0" smtClean="0">
                <a:solidFill>
                  <a:srgbClr val="0070C0"/>
                </a:solidFill>
              </a:rPr>
              <a:t>，</a:t>
            </a:r>
            <a:r>
              <a:rPr lang="zh-CN" altLang="en-US" sz="2000" b="1" u="none" dirty="0" smtClean="0">
                <a:solidFill>
                  <a:srgbClr val="0070C0"/>
                </a:solidFill>
              </a:rPr>
              <a:t>可</a:t>
            </a:r>
            <a:r>
              <a:rPr lang="zh-CN" altLang="en-US" sz="2000" b="1" u="none" dirty="0">
                <a:solidFill>
                  <a:srgbClr val="0070C0"/>
                </a:solidFill>
              </a:rPr>
              <a:t>将其视为</a:t>
            </a:r>
            <a:r>
              <a:rPr lang="zh-CN" altLang="en-US" sz="2000" b="1" dirty="0" smtClean="0">
                <a:solidFill>
                  <a:srgbClr val="0070C0"/>
                </a:solidFill>
              </a:rPr>
              <a:t>理想气体</a:t>
            </a:r>
            <a:endParaRPr lang="zh-CN" altLang="en-US" sz="2000" b="1" dirty="0">
              <a:solidFill>
                <a:srgbClr val="0070C0"/>
              </a:solidFill>
            </a:endParaRPr>
          </a:p>
          <a:p>
            <a:pPr marL="342900" indent="-342900">
              <a:buFont typeface="Arial" panose="020B0604020202020204" pitchFamily="34" charset="0"/>
              <a:buChar char="•"/>
            </a:pPr>
            <a:endParaRPr lang="zh-CN" altLang="en-US" sz="2000" b="1" u="none" dirty="0">
              <a:solidFill>
                <a:srgbClr val="0070C0"/>
              </a:solidFill>
            </a:endParaRPr>
          </a:p>
        </p:txBody>
      </p:sp>
      <p:sp>
        <p:nvSpPr>
          <p:cNvPr id="25604" name="文本框 4"/>
          <p:cNvSpPr txBox="1">
            <a:spLocks noChangeArrowheads="1"/>
          </p:cNvSpPr>
          <p:nvPr/>
        </p:nvSpPr>
        <p:spPr bwMode="auto">
          <a:xfrm>
            <a:off x="971550" y="174625"/>
            <a:ext cx="7489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u="none" dirty="0">
                <a:solidFill>
                  <a:srgbClr val="FF0000"/>
                </a:solidFill>
              </a:rPr>
              <a:t>实际气体仅在低压和高温下可以近似为理想气体</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060" y="635000"/>
            <a:ext cx="5450296" cy="6023370"/>
          </a:xfrm>
          <a:prstGeom prst="rect">
            <a:avLst/>
          </a:prstGeom>
        </p:spPr>
      </p:pic>
    </p:spTree>
    <p:extLst>
      <p:ext uri="{BB962C8B-B14F-4D97-AF65-F5344CB8AC3E}">
        <p14:creationId xmlns:p14="http://schemas.microsoft.com/office/powerpoint/2010/main" val="1520899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06" y="495771"/>
            <a:ext cx="4359018" cy="4986960"/>
          </a:xfrm>
          <a:prstGeom prst="rect">
            <a:avLst/>
          </a:prstGeom>
        </p:spPr>
      </p:pic>
      <p:graphicFrame>
        <p:nvGraphicFramePr>
          <p:cNvPr id="26625" name="对象 7172"/>
          <p:cNvGraphicFramePr>
            <a:graphicFrameLocks/>
          </p:cNvGraphicFramePr>
          <p:nvPr>
            <p:extLst>
              <p:ext uri="{D42A27DB-BD31-4B8C-83A1-F6EECF244321}">
                <p14:modId xmlns:p14="http://schemas.microsoft.com/office/powerpoint/2010/main" val="2574352759"/>
              </p:ext>
            </p:extLst>
          </p:nvPr>
        </p:nvGraphicFramePr>
        <p:xfrm>
          <a:off x="4818349" y="1828947"/>
          <a:ext cx="1450975" cy="561975"/>
        </p:xfrm>
        <a:graphic>
          <a:graphicData uri="http://schemas.openxmlformats.org/presentationml/2006/ole">
            <mc:AlternateContent xmlns:mc="http://schemas.openxmlformats.org/markup-compatibility/2006">
              <mc:Choice xmlns:v="urn:schemas-microsoft-com:vml" Requires="v">
                <p:oleObj spid="_x0000_s2176" name="公式" r:id="rId4" imgW="622030" imgH="241195" progId="Equation.3">
                  <p:embed/>
                </p:oleObj>
              </mc:Choice>
              <mc:Fallback>
                <p:oleObj name="公式" r:id="rId4" imgW="622030" imgH="241195" progId="Equation.3">
                  <p:embed/>
                  <p:pic>
                    <p:nvPicPr>
                      <p:cNvPr id="26625" name="对象 717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8349" y="1828947"/>
                        <a:ext cx="14509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27" name="矩形 7180"/>
          <p:cNvSpPr>
            <a:spLocks noChangeArrowheads="1"/>
          </p:cNvSpPr>
          <p:nvPr/>
        </p:nvSpPr>
        <p:spPr bwMode="auto">
          <a:xfrm>
            <a:off x="4746586" y="2748618"/>
            <a:ext cx="388937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buFont typeface="Arial" panose="020B0604020202020204" pitchFamily="34" charset="0"/>
              <a:buChar char="•"/>
            </a:pPr>
            <a:r>
              <a:rPr lang="zh-CN" altLang="en-US" sz="2800" b="1" noProof="1" smtClean="0">
                <a:latin typeface="黑体" panose="02010609060101010101" pitchFamily="2" charset="-122"/>
                <a:ea typeface="黑体" panose="02010609060101010101" pitchFamily="2" charset="-122"/>
              </a:rPr>
              <a:t>对于</a:t>
            </a:r>
            <a:r>
              <a:rPr lang="zh-CN" altLang="en-US" sz="2800" b="1" noProof="1">
                <a:latin typeface="黑体" panose="02010609060101010101" pitchFamily="2" charset="-122"/>
                <a:ea typeface="黑体" panose="02010609060101010101" pitchFamily="2" charset="-122"/>
              </a:rPr>
              <a:t>实际气体，实验结果并不是值为</a:t>
            </a:r>
            <a:r>
              <a:rPr lang="en-US" altLang="zh-CN" sz="2800" b="1" noProof="1">
                <a:latin typeface="Times New Roman" panose="02020603050405020304" pitchFamily="18" charset="0"/>
                <a:ea typeface="黑体" panose="02010609060101010101" pitchFamily="2" charset="-122"/>
                <a:cs typeface="Times New Roman" panose="02020603050405020304" pitchFamily="18" charset="0"/>
              </a:rPr>
              <a:t>1</a:t>
            </a:r>
            <a:r>
              <a:rPr lang="zh-CN" altLang="en-US" sz="2800" b="1" noProof="1">
                <a:latin typeface="黑体" panose="02010609060101010101" pitchFamily="2" charset="-122"/>
                <a:ea typeface="黑体" panose="02010609060101010101" pitchFamily="2" charset="-122"/>
              </a:rPr>
              <a:t>的水平线，尤其在高压低温下，误差更大</a:t>
            </a:r>
            <a:endParaRPr lang="zh-CN" altLang="en-US" sz="2800" b="1" u="none" dirty="0">
              <a:latin typeface="Times New Roman" panose="02020603050405020304" pitchFamily="18" charset="0"/>
              <a:ea typeface="黑体" panose="02010609060101010101" pitchFamily="49" charset="-122"/>
            </a:endParaRPr>
          </a:p>
        </p:txBody>
      </p:sp>
      <p:grpSp>
        <p:nvGrpSpPr>
          <p:cNvPr id="26628" name="组合 7182"/>
          <p:cNvGrpSpPr>
            <a:grpSpLocks/>
          </p:cNvGrpSpPr>
          <p:nvPr/>
        </p:nvGrpSpPr>
        <p:grpSpPr bwMode="auto">
          <a:xfrm>
            <a:off x="6494749" y="1600347"/>
            <a:ext cx="1974850" cy="1035050"/>
            <a:chOff x="2688" y="1584"/>
            <a:chExt cx="1244" cy="652"/>
          </a:xfrm>
        </p:grpSpPr>
        <p:graphicFrame>
          <p:nvGraphicFramePr>
            <p:cNvPr id="26629" name="对象 7179"/>
            <p:cNvGraphicFramePr>
              <a:graphicFrameLocks/>
            </p:cNvGraphicFramePr>
            <p:nvPr/>
          </p:nvGraphicFramePr>
          <p:xfrm>
            <a:off x="3168" y="1584"/>
            <a:ext cx="764" cy="652"/>
          </p:xfrm>
          <a:graphic>
            <a:graphicData uri="http://schemas.openxmlformats.org/presentationml/2006/ole">
              <mc:AlternateContent xmlns:mc="http://schemas.openxmlformats.org/markup-compatibility/2006">
                <mc:Choice xmlns:v="urn:schemas-microsoft-com:vml" Requires="v">
                  <p:oleObj spid="_x0000_s2177" r:id="rId6" imgW="520474" imgH="444307" progId="Equation.3">
                    <p:embed/>
                  </p:oleObj>
                </mc:Choice>
                <mc:Fallback>
                  <p:oleObj r:id="rId6" imgW="520474" imgH="444307" progId="Equation.3">
                    <p:embed/>
                    <p:pic>
                      <p:nvPicPr>
                        <p:cNvPr id="26629" name="对象 717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 y="1584"/>
                          <a:ext cx="764" cy="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30" name="右箭头 7181"/>
            <p:cNvSpPr>
              <a:spLocks noChangeArrowheads="1"/>
            </p:cNvSpPr>
            <p:nvPr/>
          </p:nvSpPr>
          <p:spPr bwMode="auto">
            <a:xfrm>
              <a:off x="2688" y="1824"/>
              <a:ext cx="336" cy="192"/>
            </a:xfrm>
            <a:prstGeom prst="rightArrow">
              <a:avLst>
                <a:gd name="adj1" fmla="val 50000"/>
                <a:gd name="adj2" fmla="val 43750"/>
              </a:avLst>
            </a:prstGeom>
            <a:solidFill>
              <a:srgbClr val="FF00FF"/>
            </a:solidFill>
            <a:ln w="9525">
              <a:solidFill>
                <a:schemeClr val="tx1"/>
              </a:solidFill>
              <a:miter lim="800000"/>
              <a:headEnd/>
              <a:tailEnd/>
            </a:ln>
          </p:spPr>
          <p:txBody>
            <a:bodyPr/>
            <a:lstStyle/>
            <a:p>
              <a:endParaRPr lang="zh-CN" altLang="en-US"/>
            </a:p>
          </p:txBody>
        </p:sp>
      </p:grpSp>
      <p:sp>
        <p:nvSpPr>
          <p:cNvPr id="26631" name="直接连接符 7186"/>
          <p:cNvSpPr>
            <a:spLocks noChangeShapeType="1"/>
          </p:cNvSpPr>
          <p:nvPr/>
        </p:nvSpPr>
        <p:spPr bwMode="auto">
          <a:xfrm>
            <a:off x="834075" y="2286147"/>
            <a:ext cx="3384550" cy="0"/>
          </a:xfrm>
          <a:prstGeom prst="line">
            <a:avLst/>
          </a:prstGeom>
          <a:noFill/>
          <a:ln w="38100">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矩形 7180"/>
          <p:cNvSpPr>
            <a:spLocks noChangeArrowheads="1"/>
          </p:cNvSpPr>
          <p:nvPr/>
        </p:nvSpPr>
        <p:spPr bwMode="auto">
          <a:xfrm>
            <a:off x="4746586" y="968014"/>
            <a:ext cx="3889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buFont typeface="Arial" panose="020B0604020202020204" pitchFamily="34" charset="0"/>
              <a:buChar char="•"/>
            </a:pPr>
            <a:r>
              <a:rPr lang="zh-CN" altLang="en-US" sz="2800" b="1" u="none" dirty="0">
                <a:latin typeface="Times New Roman" panose="02020603050405020304" pitchFamily="18" charset="0"/>
                <a:ea typeface="黑体" panose="02010609060101010101" pitchFamily="49" charset="-122"/>
              </a:rPr>
              <a:t>对于理想气体：</a:t>
            </a:r>
          </a:p>
        </p:txBody>
      </p:sp>
      <p:sp>
        <p:nvSpPr>
          <p:cNvPr id="11" name="矩形 7180"/>
          <p:cNvSpPr>
            <a:spLocks noChangeArrowheads="1"/>
          </p:cNvSpPr>
          <p:nvPr/>
        </p:nvSpPr>
        <p:spPr bwMode="auto">
          <a:xfrm>
            <a:off x="473651" y="5594285"/>
            <a:ext cx="427293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000" b="1" u="none" dirty="0" smtClean="0">
                <a:solidFill>
                  <a:srgbClr val="0070C0"/>
                </a:solidFill>
                <a:latin typeface="Times New Roman" panose="02020603050405020304" pitchFamily="18" charset="0"/>
                <a:ea typeface="黑体" panose="02010609060101010101" pitchFamily="49" charset="-122"/>
              </a:rPr>
              <a:t>通过实验得到不同温度下，氢气的</a:t>
            </a:r>
            <a:r>
              <a:rPr lang="en-US" altLang="zh-CN" sz="2000" b="1" i="1" u="none" dirty="0" err="1" smtClean="0">
                <a:solidFill>
                  <a:srgbClr val="0070C0"/>
                </a:solidFill>
                <a:latin typeface="Times New Roman" panose="02020603050405020304" pitchFamily="18" charset="0"/>
                <a:ea typeface="黑体" panose="02010609060101010101" pitchFamily="49" charset="-122"/>
              </a:rPr>
              <a:t>pv</a:t>
            </a:r>
            <a:r>
              <a:rPr lang="en-US" altLang="zh-CN" sz="2000" b="1" i="1" u="none" dirty="0" smtClean="0">
                <a:solidFill>
                  <a:srgbClr val="0070C0"/>
                </a:solidFill>
                <a:latin typeface="Times New Roman" panose="02020603050405020304" pitchFamily="18" charset="0"/>
                <a:ea typeface="黑体" panose="02010609060101010101" pitchFamily="49" charset="-122"/>
              </a:rPr>
              <a:t>/</a:t>
            </a:r>
            <a:r>
              <a:rPr lang="en-US" altLang="zh-CN" sz="2000" b="1" i="1" u="none" dirty="0" err="1" smtClean="0">
                <a:solidFill>
                  <a:srgbClr val="0070C0"/>
                </a:solidFill>
                <a:latin typeface="Times New Roman" panose="02020603050405020304" pitchFamily="18" charset="0"/>
                <a:ea typeface="黑体" panose="02010609060101010101" pitchFamily="49" charset="-122"/>
              </a:rPr>
              <a:t>R</a:t>
            </a:r>
            <a:r>
              <a:rPr lang="en-US" altLang="zh-CN" sz="2000" b="1" u="none" baseline="-25000" dirty="0" err="1" smtClean="0">
                <a:solidFill>
                  <a:srgbClr val="0070C0"/>
                </a:solidFill>
                <a:latin typeface="Times New Roman" panose="02020603050405020304" pitchFamily="18" charset="0"/>
                <a:ea typeface="黑体" panose="02010609060101010101" pitchFamily="49" charset="-122"/>
              </a:rPr>
              <a:t>g</a:t>
            </a:r>
            <a:r>
              <a:rPr lang="en-US" altLang="zh-CN" sz="2000" b="1" i="1" u="none" dirty="0" err="1" smtClean="0">
                <a:solidFill>
                  <a:srgbClr val="0070C0"/>
                </a:solidFill>
                <a:latin typeface="Times New Roman" panose="02020603050405020304" pitchFamily="18" charset="0"/>
                <a:ea typeface="黑体" panose="02010609060101010101" pitchFamily="49" charset="-122"/>
              </a:rPr>
              <a:t>T</a:t>
            </a:r>
            <a:r>
              <a:rPr lang="zh-CN" altLang="en-US" sz="2000" b="1" u="none" dirty="0" smtClean="0">
                <a:solidFill>
                  <a:srgbClr val="0070C0"/>
                </a:solidFill>
                <a:latin typeface="Times New Roman" panose="02020603050405020304" pitchFamily="18" charset="0"/>
                <a:ea typeface="黑体" panose="02010609060101010101" pitchFamily="49" charset="-122"/>
              </a:rPr>
              <a:t>随压力的变化</a:t>
            </a:r>
            <a:endParaRPr lang="zh-CN" altLang="en-US" sz="2000" b="1" u="none" dirty="0">
              <a:solidFill>
                <a:srgbClr val="0070C0"/>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1200474929"/>
      </p:ext>
    </p:extLst>
  </p:cSld>
  <p:clrMapOvr>
    <a:masterClrMapping/>
  </p:clrMapOvr>
  <p:transition/>
  <p:timing>
    <p:tnLst>
      <p:par>
        <p:cTn id="1" dur="indefinite" restart="never" nodeType="tmRoot"/>
      </p:par>
    </p:tnLst>
  </p:timing>
  <p:extLst mod="1"/>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对象 8202"/>
          <p:cNvGraphicFramePr>
            <a:graphicFrameLocks/>
          </p:cNvGraphicFramePr>
          <p:nvPr>
            <p:extLst>
              <p:ext uri="{D42A27DB-BD31-4B8C-83A1-F6EECF244321}">
                <p14:modId xmlns:p14="http://schemas.microsoft.com/office/powerpoint/2010/main" val="1558179253"/>
              </p:ext>
            </p:extLst>
          </p:nvPr>
        </p:nvGraphicFramePr>
        <p:xfrm>
          <a:off x="3708400" y="1500188"/>
          <a:ext cx="1409700" cy="1095375"/>
        </p:xfrm>
        <a:graphic>
          <a:graphicData uri="http://schemas.openxmlformats.org/presentationml/2006/ole">
            <mc:AlternateContent xmlns:mc="http://schemas.openxmlformats.org/markup-compatibility/2006">
              <mc:Choice xmlns:v="urn:schemas-microsoft-com:vml" Requires="v">
                <p:oleObj spid="_x0000_s3117" name="Equation" r:id="rId3" imgW="571320" imgH="444240" progId="Equation.DSMT4">
                  <p:embed/>
                </p:oleObj>
              </mc:Choice>
              <mc:Fallback>
                <p:oleObj name="Equation" r:id="rId3" imgW="571320" imgH="444240" progId="Equation.DSMT4">
                  <p:embed/>
                  <p:pic>
                    <p:nvPicPr>
                      <p:cNvPr id="27650" name="对象 8202"/>
                      <p:cNvPicPr>
                        <a:picLocks noChangeArrowheads="1"/>
                      </p:cNvPicPr>
                      <p:nvPr/>
                    </p:nvPicPr>
                    <p:blipFill>
                      <a:blip r:embed="rId4"/>
                      <a:srcRect/>
                      <a:stretch>
                        <a:fillRect/>
                      </a:stretch>
                    </p:blipFill>
                    <p:spPr bwMode="auto">
                      <a:xfrm>
                        <a:off x="3708400" y="1500188"/>
                        <a:ext cx="140970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09" name="矩形 8208"/>
          <p:cNvSpPr/>
          <p:nvPr/>
        </p:nvSpPr>
        <p:spPr>
          <a:xfrm>
            <a:off x="403224" y="3057866"/>
            <a:ext cx="8137525" cy="1815882"/>
          </a:xfrm>
          <a:prstGeom prst="rect">
            <a:avLst/>
          </a:prstGeom>
          <a:noFill/>
          <a:ln w="9525">
            <a:noFill/>
          </a:ln>
        </p:spPr>
        <p:txBody>
          <a:bodyPr>
            <a:spAutoFit/>
          </a:bodyPr>
          <a:lstStyle/>
          <a:p>
            <a:pPr marL="457200" indent="-457200">
              <a:buFont typeface="Arial" panose="020B0604020202020204" pitchFamily="34" charset="0"/>
              <a:buChar char="•"/>
            </a:pPr>
            <a:r>
              <a:rPr lang="zh-CN" altLang="en-US" sz="2800" b="1" noProof="1" smtClean="0">
                <a:latin typeface="Times New Roman" panose="02020603050405020304" pitchFamily="18" charset="0"/>
                <a:ea typeface="黑体" panose="02010609060101010101" pitchFamily="2" charset="-122"/>
                <a:cs typeface="Times New Roman" panose="02020603050405020304" pitchFamily="18" charset="0"/>
              </a:rPr>
              <a:t>对于</a:t>
            </a:r>
            <a:r>
              <a:rPr lang="zh-CN" altLang="en-US" sz="2800" b="1" noProof="1">
                <a:latin typeface="Times New Roman" panose="02020603050405020304" pitchFamily="18" charset="0"/>
                <a:ea typeface="黑体" panose="02010609060101010101" pitchFamily="2" charset="-122"/>
                <a:cs typeface="Times New Roman" panose="02020603050405020304" pitchFamily="18" charset="0"/>
              </a:rPr>
              <a:t>理想气体：</a:t>
            </a:r>
            <a:r>
              <a:rPr lang="en-US" altLang="zh-CN" sz="2800" b="1" i="1" noProof="1">
                <a:latin typeface="Times New Roman" panose="02020603050405020304" pitchFamily="18" charset="0"/>
                <a:ea typeface="黑体" panose="02010609060101010101" pitchFamily="2" charset="-122"/>
                <a:cs typeface="Times New Roman" panose="02020603050405020304" pitchFamily="18" charset="0"/>
              </a:rPr>
              <a:t>Z</a:t>
            </a:r>
            <a:r>
              <a:rPr lang="zh-CN" altLang="en-US" sz="2800" b="1" noProof="1">
                <a:latin typeface="Times New Roman" panose="02020603050405020304" pitchFamily="18" charset="0"/>
                <a:ea typeface="黑体" panose="02010609060101010101" pitchFamily="2" charset="-122"/>
                <a:cs typeface="Times New Roman" panose="02020603050405020304" pitchFamily="18" charset="0"/>
              </a:rPr>
              <a:t>恒等于</a:t>
            </a:r>
            <a:r>
              <a:rPr lang="en-US" altLang="zh-CN" sz="2800" b="1" noProof="1">
                <a:latin typeface="Times New Roman" panose="02020603050405020304" pitchFamily="18" charset="0"/>
                <a:ea typeface="黑体" panose="02010609060101010101" pitchFamily="2" charset="-122"/>
                <a:cs typeface="Times New Roman" panose="02020603050405020304" pitchFamily="18" charset="0"/>
              </a:rPr>
              <a:t>1</a:t>
            </a:r>
            <a:r>
              <a:rPr lang="zh-CN" altLang="en-US" sz="2800" b="1" noProof="1">
                <a:latin typeface="Times New Roman" panose="02020603050405020304" pitchFamily="18" charset="0"/>
                <a:ea typeface="黑体" panose="02010609060101010101" pitchFamily="2" charset="-122"/>
                <a:cs typeface="Times New Roman" panose="02020603050405020304" pitchFamily="18" charset="0"/>
              </a:rPr>
              <a:t>；对于实际气体，</a:t>
            </a:r>
            <a:r>
              <a:rPr lang="en-US" altLang="zh-CN" sz="2800" b="1" i="1" noProof="1">
                <a:latin typeface="Times New Roman" panose="02020603050405020304" pitchFamily="18" charset="0"/>
                <a:ea typeface="黑体" panose="02010609060101010101" pitchFamily="2" charset="-122"/>
                <a:cs typeface="Times New Roman" panose="02020603050405020304" pitchFamily="18" charset="0"/>
              </a:rPr>
              <a:t> Z</a:t>
            </a:r>
            <a:r>
              <a:rPr lang="zh-CN" altLang="en-US" sz="2800" b="1" noProof="1">
                <a:latin typeface="Times New Roman" panose="02020603050405020304" pitchFamily="18" charset="0"/>
                <a:ea typeface="黑体" panose="02010609060101010101" pitchFamily="2" charset="-122"/>
                <a:cs typeface="Times New Roman" panose="02020603050405020304" pitchFamily="18" charset="0"/>
              </a:rPr>
              <a:t>可大于</a:t>
            </a:r>
            <a:r>
              <a:rPr lang="en-US" altLang="zh-CN" sz="2800" b="1" noProof="1">
                <a:latin typeface="Times New Roman" panose="02020603050405020304" pitchFamily="18" charset="0"/>
                <a:ea typeface="黑体" panose="02010609060101010101" pitchFamily="2" charset="-122"/>
                <a:cs typeface="Times New Roman" panose="02020603050405020304" pitchFamily="18" charset="0"/>
              </a:rPr>
              <a:t>1</a:t>
            </a:r>
            <a:r>
              <a:rPr lang="zh-CN" altLang="en-US" sz="2800" b="1" noProof="1">
                <a:latin typeface="Times New Roman" panose="02020603050405020304" pitchFamily="18" charset="0"/>
                <a:ea typeface="黑体" panose="02010609060101010101" pitchFamily="2" charset="-122"/>
                <a:cs typeface="Times New Roman" panose="02020603050405020304" pitchFamily="18" charset="0"/>
              </a:rPr>
              <a:t>，也可小于</a:t>
            </a:r>
            <a:r>
              <a:rPr lang="en-US" altLang="zh-CN" sz="2800" b="1" noProof="1">
                <a:latin typeface="Times New Roman" panose="02020603050405020304" pitchFamily="18" charset="0"/>
                <a:ea typeface="黑体" panose="02010609060101010101" pitchFamily="2" charset="-122"/>
                <a:cs typeface="Times New Roman" panose="02020603050405020304" pitchFamily="18" charset="0"/>
              </a:rPr>
              <a:t>1</a:t>
            </a:r>
            <a:r>
              <a:rPr lang="zh-CN" altLang="en-US" sz="2800" b="1" noProof="1">
                <a:latin typeface="Times New Roman" panose="02020603050405020304" pitchFamily="18" charset="0"/>
                <a:ea typeface="黑体" panose="02010609060101010101" pitchFamily="2" charset="-122"/>
                <a:cs typeface="Times New Roman" panose="02020603050405020304" pitchFamily="18" charset="0"/>
              </a:rPr>
              <a:t>，</a:t>
            </a:r>
            <a:r>
              <a:rPr lang="en-US" altLang="zh-CN" sz="2800" b="1" i="1" noProof="1">
                <a:solidFill>
                  <a:srgbClr val="0070C0"/>
                </a:solidFill>
                <a:latin typeface="Times New Roman" panose="02020603050405020304" pitchFamily="18" charset="0"/>
                <a:ea typeface="黑体" panose="02010609060101010101" pitchFamily="2" charset="-122"/>
                <a:cs typeface="Times New Roman" panose="02020603050405020304" pitchFamily="18" charset="0"/>
              </a:rPr>
              <a:t>Z</a:t>
            </a:r>
            <a:r>
              <a:rPr lang="zh-CN" altLang="en-US" sz="2800" b="1" noProof="1">
                <a:solidFill>
                  <a:srgbClr val="0070C0"/>
                </a:solidFill>
                <a:latin typeface="Times New Roman" panose="02020603050405020304" pitchFamily="18" charset="0"/>
                <a:ea typeface="黑体" panose="02010609060101010101" pitchFamily="2" charset="-122"/>
                <a:cs typeface="Times New Roman" panose="02020603050405020304" pitchFamily="18" charset="0"/>
              </a:rPr>
              <a:t>值偏离</a:t>
            </a:r>
            <a:r>
              <a:rPr lang="en-US" altLang="zh-CN" sz="2800" b="1" noProof="1">
                <a:solidFill>
                  <a:srgbClr val="0070C0"/>
                </a:solidFill>
                <a:latin typeface="Times New Roman" panose="02020603050405020304" pitchFamily="18" charset="0"/>
                <a:ea typeface="黑体" panose="02010609060101010101" pitchFamily="2" charset="-122"/>
                <a:cs typeface="Times New Roman" panose="02020603050405020304" pitchFamily="18" charset="0"/>
              </a:rPr>
              <a:t>1</a:t>
            </a:r>
            <a:r>
              <a:rPr lang="zh-CN" altLang="en-US" sz="2800" b="1" noProof="1">
                <a:solidFill>
                  <a:srgbClr val="0070C0"/>
                </a:solidFill>
                <a:latin typeface="Times New Roman" panose="02020603050405020304" pitchFamily="18" charset="0"/>
                <a:ea typeface="黑体" panose="02010609060101010101" pitchFamily="2" charset="-122"/>
                <a:cs typeface="Times New Roman" panose="02020603050405020304" pitchFamily="18" charset="0"/>
              </a:rPr>
              <a:t>的大小，反映了实际气体对理想气体性质的偏离</a:t>
            </a:r>
            <a:r>
              <a:rPr lang="zh-CN" altLang="en-US" sz="2800" b="1" noProof="1" smtClean="0">
                <a:solidFill>
                  <a:srgbClr val="0070C0"/>
                </a:solidFill>
                <a:latin typeface="Times New Roman" panose="02020603050405020304" pitchFamily="18" charset="0"/>
                <a:ea typeface="黑体" panose="02010609060101010101" pitchFamily="2" charset="-122"/>
                <a:cs typeface="Times New Roman" panose="02020603050405020304" pitchFamily="18" charset="0"/>
              </a:rPr>
              <a:t>程度</a:t>
            </a:r>
            <a:r>
              <a:rPr lang="zh-CN" altLang="en-US" sz="2800" noProof="1">
                <a:latin typeface="楷体_GB2312" pitchFamily="49" charset="-122"/>
                <a:ea typeface="楷体_GB2312" pitchFamily="49" charset="-122"/>
              </a:rPr>
              <a:t>　</a:t>
            </a:r>
          </a:p>
          <a:p>
            <a:pPr marL="457200" indent="-457200">
              <a:buFont typeface="Arial" panose="020B0604020202020204" pitchFamily="34" charset="0"/>
              <a:buChar char="•"/>
            </a:pPr>
            <a:endParaRPr lang="zh-CN" altLang="en-US" sz="2800" b="1" u="none" noProof="1">
              <a:latin typeface="黑体" panose="02010609060101010101" pitchFamily="2" charset="-122"/>
              <a:ea typeface="黑体" panose="02010609060101010101" pitchFamily="2" charset="-122"/>
            </a:endParaRPr>
          </a:p>
        </p:txBody>
      </p:sp>
      <p:sp>
        <p:nvSpPr>
          <p:cNvPr id="27652" name="矩形 821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 name="矩形 8"/>
          <p:cNvSpPr/>
          <p:nvPr/>
        </p:nvSpPr>
        <p:spPr>
          <a:xfrm>
            <a:off x="403225" y="485775"/>
            <a:ext cx="8137525" cy="952500"/>
          </a:xfrm>
          <a:prstGeom prst="rect">
            <a:avLst/>
          </a:prstGeom>
          <a:noFill/>
          <a:ln w="9525">
            <a:noFill/>
          </a:ln>
        </p:spPr>
        <p:txBody>
          <a:bodyPr>
            <a:spAutoFit/>
          </a:bodyPr>
          <a:lstStyle/>
          <a:p>
            <a:pPr marL="457200" indent="-457200">
              <a:buFont typeface="Arial" panose="020B0604020202020204" pitchFamily="34" charset="0"/>
              <a:buChar char="•"/>
            </a:pPr>
            <a:r>
              <a:rPr lang="zh-CN" altLang="en-US" sz="2800" b="1" u="none" noProof="1" smtClean="0">
                <a:latin typeface="黑体" panose="02010609060101010101" pitchFamily="2" charset="-122"/>
                <a:ea typeface="黑体" panose="02010609060101010101" pitchFamily="2" charset="-122"/>
              </a:rPr>
              <a:t>实际</a:t>
            </a:r>
            <a:r>
              <a:rPr lang="zh-CN" altLang="en-US" sz="2800" b="1" u="none" noProof="1">
                <a:latin typeface="黑体" panose="02010609060101010101" pitchFamily="2" charset="-122"/>
                <a:ea typeface="黑体" panose="02010609060101010101" pitchFamily="2" charset="-122"/>
              </a:rPr>
              <a:t>气体的性质与理想气体的性质之间的偏离可以采用压缩因子</a:t>
            </a:r>
            <a:r>
              <a:rPr lang="en-US" altLang="zh-CN" sz="2800" b="1" i="1" u="none" noProof="1">
                <a:latin typeface="Times New Roman" panose="02020603050405020304" pitchFamily="18" charset="0"/>
                <a:ea typeface="黑体" panose="02010609060101010101" pitchFamily="2" charset="-122"/>
                <a:cs typeface="Times New Roman" panose="02020603050405020304" pitchFamily="18" charset="0"/>
              </a:rPr>
              <a:t>Z</a:t>
            </a:r>
            <a:r>
              <a:rPr lang="zh-CN" altLang="en-US" sz="2800" b="1" u="none" noProof="1">
                <a:latin typeface="黑体" panose="02010609060101010101" pitchFamily="2" charset="-122"/>
                <a:ea typeface="黑体" panose="02010609060101010101" pitchFamily="2" charset="-122"/>
              </a:rPr>
              <a:t>表示：</a:t>
            </a:r>
          </a:p>
        </p:txBody>
      </p:sp>
      <p:sp>
        <p:nvSpPr>
          <p:cNvPr id="10" name="矩形 9"/>
          <p:cNvSpPr/>
          <p:nvPr/>
        </p:nvSpPr>
        <p:spPr>
          <a:xfrm>
            <a:off x="403225" y="4826218"/>
            <a:ext cx="8137525" cy="1384995"/>
          </a:xfrm>
          <a:prstGeom prst="rect">
            <a:avLst/>
          </a:prstGeom>
          <a:noFill/>
          <a:ln w="9525">
            <a:noFill/>
          </a:ln>
        </p:spPr>
        <p:txBody>
          <a:bodyPr>
            <a:spAutoFit/>
          </a:bodyPr>
          <a:lstStyle/>
          <a:p>
            <a:pPr marL="457200" indent="-457200">
              <a:buFont typeface="Arial" panose="020B0604020202020204" pitchFamily="34" charset="0"/>
              <a:buChar char="•"/>
            </a:pPr>
            <a:r>
              <a:rPr lang="en-US" altLang="zh-CN" sz="2800" b="1" i="1" noProof="1" smtClean="0">
                <a:latin typeface="Times New Roman" panose="02020603050405020304" pitchFamily="18" charset="0"/>
                <a:ea typeface="黑体" panose="02010609060101010101" pitchFamily="2" charset="-122"/>
                <a:cs typeface="Times New Roman" panose="02020603050405020304" pitchFamily="18" charset="0"/>
              </a:rPr>
              <a:t>Z</a:t>
            </a:r>
            <a:r>
              <a:rPr lang="zh-CN" altLang="en-US" sz="2800" b="1" noProof="1">
                <a:latin typeface="黑体" panose="02010609060101010101" pitchFamily="2" charset="-122"/>
                <a:ea typeface="黑体" panose="02010609060101010101" pitchFamily="2" charset="-122"/>
              </a:rPr>
              <a:t>值的大小不仅与气体的种类有关，对于同种气体</a:t>
            </a:r>
            <a:r>
              <a:rPr lang="zh-CN" altLang="en-US" sz="2800" b="1" noProof="1" smtClean="0">
                <a:latin typeface="黑体" panose="02010609060101010101" pitchFamily="2" charset="-122"/>
                <a:ea typeface="黑体" panose="02010609060101010101" pitchFamily="2" charset="-122"/>
              </a:rPr>
              <a:t>，</a:t>
            </a:r>
            <a:r>
              <a:rPr lang="en-US" altLang="zh-CN" sz="2800" b="1" i="1" noProof="1" smtClean="0">
                <a:latin typeface="Times New Roman" panose="02020603050405020304" pitchFamily="18" charset="0"/>
                <a:ea typeface="黑体" panose="02010609060101010101" pitchFamily="2" charset="-122"/>
                <a:cs typeface="Times New Roman" panose="02020603050405020304" pitchFamily="18" charset="0"/>
              </a:rPr>
              <a:t>Z</a:t>
            </a:r>
            <a:r>
              <a:rPr lang="zh-CN" altLang="en-US" sz="2800" b="1" noProof="1" smtClean="0">
                <a:latin typeface="黑体" panose="02010609060101010101" pitchFamily="2" charset="-122"/>
                <a:ea typeface="黑体" panose="02010609060101010101" pitchFamily="2" charset="-122"/>
              </a:rPr>
              <a:t>值</a:t>
            </a:r>
            <a:r>
              <a:rPr lang="zh-CN" altLang="en-US" sz="2800" b="1" noProof="1">
                <a:latin typeface="黑体" panose="02010609060101010101" pitchFamily="2" charset="-122"/>
                <a:ea typeface="黑体" panose="02010609060101010101" pitchFamily="2" charset="-122"/>
              </a:rPr>
              <a:t>与气体所处的状态（如温度、压力等）也</a:t>
            </a:r>
            <a:r>
              <a:rPr lang="zh-CN" altLang="en-US" sz="2800" b="1" noProof="1" smtClean="0">
                <a:latin typeface="黑体" panose="02010609060101010101" pitchFamily="2" charset="-122"/>
                <a:ea typeface="黑体" panose="02010609060101010101" pitchFamily="2" charset="-122"/>
              </a:rPr>
              <a:t>有关</a:t>
            </a:r>
            <a:endParaRPr lang="zh-CN" altLang="en-US" sz="2800" noProof="1">
              <a:latin typeface="楷体_GB2312" pitchFamily="49" charset="-122"/>
              <a:ea typeface="楷体_GB2312" pitchFamily="49" charset="-122"/>
            </a:endParaRPr>
          </a:p>
        </p:txBody>
      </p:sp>
    </p:spTree>
    <p:extLst>
      <p:ext uri="{BB962C8B-B14F-4D97-AF65-F5344CB8AC3E}">
        <p14:creationId xmlns:p14="http://schemas.microsoft.com/office/powerpoint/2010/main" val="886273649"/>
      </p:ext>
    </p:extLst>
  </p:cSld>
  <p:clrMapOvr>
    <a:masterClrMapping/>
  </p:clrMapOvr>
  <p:transition/>
  <p:timing>
    <p:tnLst>
      <p:par>
        <p:cTn id="1" dur="indefinite" restart="never" nodeType="tmRoot"/>
      </p:par>
    </p:tnLst>
  </p:timing>
  <p:extLst mod="1"/>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矩形 821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675" name="矩形 8212"/>
          <p:cNvSpPr>
            <a:spLocks noChangeArrowheads="1"/>
          </p:cNvSpPr>
          <p:nvPr/>
        </p:nvSpPr>
        <p:spPr bwMode="auto">
          <a:xfrm>
            <a:off x="385763" y="3116263"/>
            <a:ext cx="82073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u="none" dirty="0" smtClean="0">
                <a:latin typeface="宋体" panose="02010600030101010101" pitchFamily="2" charset="-122"/>
              </a:rPr>
              <a:t>压缩因子的物理意义：相同</a:t>
            </a:r>
            <a:r>
              <a:rPr lang="zh-CN" altLang="en-US" sz="2400" b="1" u="none" dirty="0">
                <a:latin typeface="宋体" panose="02010600030101010101" pitchFamily="2" charset="-122"/>
              </a:rPr>
              <a:t>的温度和压力下实际气体的比体积和将实际气体近似为理想气体时的比体积之比</a:t>
            </a:r>
          </a:p>
        </p:txBody>
      </p:sp>
      <p:sp>
        <p:nvSpPr>
          <p:cNvPr id="28676" name="文本框 1"/>
          <p:cNvSpPr txBox="1">
            <a:spLocks noChangeArrowheads="1"/>
          </p:cNvSpPr>
          <p:nvPr/>
        </p:nvSpPr>
        <p:spPr bwMode="auto">
          <a:xfrm>
            <a:off x="684213" y="525463"/>
            <a:ext cx="32813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i="1" u="none">
                <a:latin typeface="Times New Roman" panose="02020603050405020304" pitchFamily="18" charset="0"/>
                <a:ea typeface="黑体" panose="02010609060101010101" pitchFamily="49" charset="-122"/>
                <a:sym typeface="宋体" panose="02010600030101010101" pitchFamily="2" charset="-122"/>
              </a:rPr>
              <a:t>Z</a:t>
            </a:r>
            <a:r>
              <a:rPr lang="zh-CN" altLang="en-US" sz="2800" b="1" u="none">
                <a:latin typeface="黑体" panose="02010609060101010101" pitchFamily="49" charset="-122"/>
                <a:ea typeface="黑体" panose="02010609060101010101" pitchFamily="49" charset="-122"/>
                <a:sym typeface="宋体" panose="02010600030101010101" pitchFamily="2" charset="-122"/>
              </a:rPr>
              <a:t>的另一种表达形式</a:t>
            </a:r>
            <a:endParaRPr lang="zh-CN" altLang="en-US" sz="2800"/>
          </a:p>
        </p:txBody>
      </p:sp>
      <p:sp>
        <p:nvSpPr>
          <p:cNvPr id="28677" name="文本框 3"/>
          <p:cNvSpPr txBox="1">
            <a:spLocks noChangeArrowheads="1"/>
          </p:cNvSpPr>
          <p:nvPr/>
        </p:nvSpPr>
        <p:spPr bwMode="auto">
          <a:xfrm>
            <a:off x="4621576" y="1399084"/>
            <a:ext cx="4851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u="none" dirty="0">
                <a:solidFill>
                  <a:srgbClr val="0070C0"/>
                </a:solidFill>
              </a:rPr>
              <a:t>实际气体在</a:t>
            </a:r>
            <a:r>
              <a:rPr lang="en-US" altLang="zh-CN" sz="2200" b="1" i="1" u="none" dirty="0">
                <a:solidFill>
                  <a:srgbClr val="0070C0"/>
                </a:solidFill>
                <a:latin typeface="Times New Roman" panose="02020603050405020304" pitchFamily="18" charset="0"/>
              </a:rPr>
              <a:t>p</a:t>
            </a:r>
            <a:r>
              <a:rPr lang="zh-CN" altLang="en-US" sz="2200" b="1" u="none" dirty="0">
                <a:solidFill>
                  <a:srgbClr val="0070C0"/>
                </a:solidFill>
                <a:latin typeface="Times New Roman" panose="02020603050405020304" pitchFamily="18" charset="0"/>
              </a:rPr>
              <a:t>、</a:t>
            </a:r>
            <a:r>
              <a:rPr lang="en-US" altLang="zh-CN" sz="2200" b="1" i="1" u="none" dirty="0">
                <a:solidFill>
                  <a:srgbClr val="0070C0"/>
                </a:solidFill>
                <a:latin typeface="Times New Roman" panose="02020603050405020304" pitchFamily="18" charset="0"/>
              </a:rPr>
              <a:t>T</a:t>
            </a:r>
            <a:r>
              <a:rPr lang="zh-CN" altLang="en-US" sz="2200" b="1" u="none" dirty="0">
                <a:solidFill>
                  <a:srgbClr val="0070C0"/>
                </a:solidFill>
                <a:latin typeface="Times New Roman" panose="02020603050405020304" pitchFamily="18" charset="0"/>
              </a:rPr>
              <a:t> </a:t>
            </a:r>
            <a:r>
              <a:rPr lang="zh-CN" altLang="en-US" sz="2200" b="1" u="none" dirty="0">
                <a:solidFill>
                  <a:srgbClr val="0070C0"/>
                </a:solidFill>
              </a:rPr>
              <a:t>时的比体积</a:t>
            </a:r>
          </a:p>
        </p:txBody>
      </p:sp>
      <p:sp>
        <p:nvSpPr>
          <p:cNvPr id="6" name="左箭头 5"/>
          <p:cNvSpPr/>
          <p:nvPr/>
        </p:nvSpPr>
        <p:spPr>
          <a:xfrm>
            <a:off x="3988163" y="1572122"/>
            <a:ext cx="504825" cy="11588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7" name="左箭头 6"/>
          <p:cNvSpPr/>
          <p:nvPr/>
        </p:nvSpPr>
        <p:spPr>
          <a:xfrm>
            <a:off x="3988163" y="2138859"/>
            <a:ext cx="504825" cy="11588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28680" name="文本框 7"/>
          <p:cNvSpPr txBox="1">
            <a:spLocks noChangeArrowheads="1"/>
          </p:cNvSpPr>
          <p:nvPr/>
        </p:nvSpPr>
        <p:spPr bwMode="auto">
          <a:xfrm>
            <a:off x="4621576" y="1934072"/>
            <a:ext cx="39776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200" b="1" u="none" dirty="0">
                <a:solidFill>
                  <a:srgbClr val="0070C0"/>
                </a:solidFill>
              </a:rPr>
              <a:t>在相同的</a:t>
            </a:r>
            <a:r>
              <a:rPr lang="en-US" altLang="zh-CN" sz="2200" b="1" i="1" u="none" dirty="0">
                <a:solidFill>
                  <a:srgbClr val="0070C0"/>
                </a:solidFill>
                <a:latin typeface="Times New Roman" panose="02020603050405020304" pitchFamily="18" charset="0"/>
              </a:rPr>
              <a:t>p</a:t>
            </a:r>
            <a:r>
              <a:rPr lang="zh-CN" altLang="en-US" sz="2200" b="1" u="none" dirty="0">
                <a:solidFill>
                  <a:srgbClr val="0070C0"/>
                </a:solidFill>
                <a:latin typeface="Times New Roman" panose="02020603050405020304" pitchFamily="18" charset="0"/>
              </a:rPr>
              <a:t>、</a:t>
            </a:r>
            <a:r>
              <a:rPr lang="en-US" altLang="zh-CN" sz="2200" b="1" i="1" u="none" dirty="0">
                <a:solidFill>
                  <a:srgbClr val="0070C0"/>
                </a:solidFill>
                <a:latin typeface="Times New Roman" panose="02020603050405020304" pitchFamily="18" charset="0"/>
              </a:rPr>
              <a:t>T</a:t>
            </a:r>
            <a:r>
              <a:rPr lang="zh-CN" altLang="en-US" sz="2200" b="1" u="none" dirty="0">
                <a:solidFill>
                  <a:srgbClr val="0070C0"/>
                </a:solidFill>
              </a:rPr>
              <a:t>下，把实际气体当作理想气体时计算的比体积</a:t>
            </a:r>
          </a:p>
        </p:txBody>
      </p:sp>
      <p:sp>
        <p:nvSpPr>
          <p:cNvPr id="28681" name="文本框 8"/>
          <p:cNvSpPr txBox="1">
            <a:spLocks noChangeArrowheads="1"/>
          </p:cNvSpPr>
          <p:nvPr/>
        </p:nvSpPr>
        <p:spPr bwMode="auto">
          <a:xfrm>
            <a:off x="684213" y="4192588"/>
            <a:ext cx="80137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i="1" u="none" dirty="0">
                <a:latin typeface="Times New Roman" panose="02020603050405020304" pitchFamily="18" charset="0"/>
              </a:rPr>
              <a:t>Z</a:t>
            </a:r>
            <a:r>
              <a:rPr lang="en-US" altLang="zh-CN" sz="2400" b="1" u="none" dirty="0">
                <a:latin typeface="Times New Roman" panose="02020603050405020304" pitchFamily="18" charset="0"/>
              </a:rPr>
              <a:t>&gt;1</a:t>
            </a:r>
            <a:r>
              <a:rPr lang="en-US" altLang="zh-CN" sz="2400" b="1" u="none" dirty="0"/>
              <a:t>——</a:t>
            </a:r>
            <a:r>
              <a:rPr lang="zh-CN" altLang="en-US" sz="2400" b="1" u="none" dirty="0"/>
              <a:t>说明实际</a:t>
            </a:r>
            <a:r>
              <a:rPr lang="zh-CN" altLang="en-US" sz="2400" b="1" u="none" dirty="0" smtClean="0"/>
              <a:t>气体</a:t>
            </a:r>
            <a:r>
              <a:rPr lang="zh-CN" altLang="en-US" sz="2400" b="1" dirty="0"/>
              <a:t>比</a:t>
            </a:r>
            <a:r>
              <a:rPr lang="zh-CN" altLang="en-US" sz="2400" b="1" u="none" dirty="0" smtClean="0"/>
              <a:t>理想气体</a:t>
            </a:r>
            <a:r>
              <a:rPr lang="zh-CN" altLang="en-US" sz="2400" b="1" u="none" dirty="0"/>
              <a:t>更难压缩；</a:t>
            </a:r>
          </a:p>
          <a:p>
            <a:r>
              <a:rPr lang="en-US" altLang="zh-CN" sz="2400" b="1" i="1" u="none" dirty="0">
                <a:latin typeface="Times New Roman" panose="02020603050405020304" pitchFamily="18" charset="0"/>
              </a:rPr>
              <a:t>Z</a:t>
            </a:r>
            <a:r>
              <a:rPr lang="en-US" altLang="zh-CN" sz="2400" b="1" u="none" dirty="0">
                <a:latin typeface="Times New Roman" panose="02020603050405020304" pitchFamily="18" charset="0"/>
              </a:rPr>
              <a:t>&lt;1</a:t>
            </a:r>
            <a:r>
              <a:rPr lang="en-US" altLang="zh-CN" sz="2400" b="1" u="none" dirty="0"/>
              <a:t>——</a:t>
            </a:r>
            <a:r>
              <a:rPr lang="zh-CN" altLang="en-US" sz="2400" b="1" u="none" dirty="0"/>
              <a:t>说明实际气体可压缩性大。</a:t>
            </a:r>
          </a:p>
        </p:txBody>
      </p:sp>
      <p:sp>
        <p:nvSpPr>
          <p:cNvPr id="28682" name="文本框 9"/>
          <p:cNvSpPr txBox="1">
            <a:spLocks noChangeArrowheads="1"/>
          </p:cNvSpPr>
          <p:nvPr/>
        </p:nvSpPr>
        <p:spPr bwMode="auto">
          <a:xfrm>
            <a:off x="762000" y="5435600"/>
            <a:ext cx="74533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u="none" dirty="0"/>
              <a:t>因此，</a:t>
            </a:r>
            <a:r>
              <a:rPr lang="en-US" altLang="zh-CN" sz="2400" b="1" i="1" u="none" dirty="0">
                <a:latin typeface="Times New Roman" panose="02020603050405020304" pitchFamily="18" charset="0"/>
              </a:rPr>
              <a:t>Z</a:t>
            </a:r>
            <a:r>
              <a:rPr lang="zh-CN" altLang="en-US" sz="2400" b="1" u="none" dirty="0"/>
              <a:t>是从比体积的比值或从</a:t>
            </a:r>
            <a:r>
              <a:rPr lang="zh-CN" altLang="en-US" sz="2400" b="1" u="none" dirty="0">
                <a:solidFill>
                  <a:srgbClr val="FF0000"/>
                </a:solidFill>
              </a:rPr>
              <a:t>可压缩性的大小</a:t>
            </a:r>
            <a:r>
              <a:rPr lang="zh-CN" altLang="en-US" sz="2400" b="1" u="none" dirty="0"/>
              <a:t>来描述实际气体对理想气体的偏离。</a:t>
            </a:r>
          </a:p>
        </p:txBody>
      </p:sp>
      <p:graphicFrame>
        <p:nvGraphicFramePr>
          <p:cNvPr id="4" name="对象 3"/>
          <p:cNvGraphicFramePr>
            <a:graphicFrameLocks noChangeAspect="1"/>
          </p:cNvGraphicFramePr>
          <p:nvPr>
            <p:extLst>
              <p:ext uri="{D42A27DB-BD31-4B8C-83A1-F6EECF244321}">
                <p14:modId xmlns:p14="http://schemas.microsoft.com/office/powerpoint/2010/main" val="3691101624"/>
              </p:ext>
            </p:extLst>
          </p:nvPr>
        </p:nvGraphicFramePr>
        <p:xfrm>
          <a:off x="166759" y="1324513"/>
          <a:ext cx="3821404" cy="1061501"/>
        </p:xfrm>
        <a:graphic>
          <a:graphicData uri="http://schemas.openxmlformats.org/presentationml/2006/ole">
            <mc:AlternateContent xmlns:mc="http://schemas.openxmlformats.org/markup-compatibility/2006">
              <mc:Choice xmlns:v="urn:schemas-microsoft-com:vml" Requires="v">
                <p:oleObj spid="_x0000_s4143" name="Equation" r:id="rId3" imgW="1600200" imgH="444500" progId="Equation.DSMT4">
                  <p:embed/>
                </p:oleObj>
              </mc:Choice>
              <mc:Fallback>
                <p:oleObj name="Equation" r:id="rId3" imgW="1600200" imgH="444500"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759" y="1324513"/>
                        <a:ext cx="3821404" cy="1061501"/>
                      </a:xfrm>
                      <a:prstGeom prst="rect">
                        <a:avLst/>
                      </a:prstGeom>
                      <a:noFill/>
                    </p:spPr>
                  </p:pic>
                </p:oleObj>
              </mc:Fallback>
            </mc:AlternateContent>
          </a:graphicData>
        </a:graphic>
      </p:graphicFrame>
    </p:spTree>
    <p:extLst>
      <p:ext uri="{BB962C8B-B14F-4D97-AF65-F5344CB8AC3E}">
        <p14:creationId xmlns:p14="http://schemas.microsoft.com/office/powerpoint/2010/main" val="3562752234"/>
      </p:ext>
    </p:extLst>
  </p:cSld>
  <p:clrMapOvr>
    <a:masterClrMapping/>
  </p:clrMapOvr>
  <p:transition/>
  <p:timing>
    <p:tnLst>
      <p:par>
        <p:cTn id="1" dur="indefinite" restart="never" nodeType="tmRoot"/>
      </p:par>
    </p:tn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44385"/>
          <p:cNvSpPr>
            <a:spLocks noGrp="1" noChangeArrowheads="1"/>
          </p:cNvSpPr>
          <p:nvPr>
            <p:ph type="title"/>
          </p:nvPr>
        </p:nvSpPr>
        <p:spPr>
          <a:xfrm>
            <a:off x="457200" y="274638"/>
            <a:ext cx="8229600" cy="1354137"/>
          </a:xfrm>
        </p:spPr>
        <p:txBody>
          <a:bodyPr/>
          <a:lstStyle/>
          <a:p>
            <a:pPr algn="l"/>
            <a:r>
              <a:rPr lang="zh-CN" altLang="en-US" sz="2800" b="1" smtClean="0">
                <a:latin typeface="Times New Roman" panose="02020603050405020304" pitchFamily="18" charset="0"/>
              </a:rPr>
              <a:t>我们总是说，实际气体在</a:t>
            </a:r>
            <a:r>
              <a:rPr lang="zh-CN" altLang="en-US" sz="2800" b="1" smtClean="0">
                <a:solidFill>
                  <a:srgbClr val="FF0000"/>
                </a:solidFill>
                <a:latin typeface="Times New Roman" panose="02020603050405020304" pitchFamily="18" charset="0"/>
              </a:rPr>
              <a:t>低压和高温</a:t>
            </a:r>
            <a:r>
              <a:rPr lang="zh-CN" altLang="en-US" sz="2800" b="1" smtClean="0">
                <a:latin typeface="Times New Roman" panose="02020603050405020304" pitchFamily="18" charset="0"/>
              </a:rPr>
              <a:t>下可以近似为理想气体。可是，什么样的压力算低压？什么样的温度算高温呢？ </a:t>
            </a:r>
            <a:r>
              <a:rPr lang="en-US" altLang="zh-CN" sz="2800" b="1" smtClean="0">
                <a:solidFill>
                  <a:srgbClr val="FF0000"/>
                </a:solidFill>
                <a:latin typeface="Times New Roman" panose="02020603050405020304" pitchFamily="18" charset="0"/>
              </a:rPr>
              <a:t>-100℃</a:t>
            </a:r>
            <a:r>
              <a:rPr lang="zh-CN" altLang="en-US" sz="2800" b="1" smtClean="0">
                <a:solidFill>
                  <a:srgbClr val="FF0000"/>
                </a:solidFill>
                <a:latin typeface="Times New Roman" panose="02020603050405020304" pitchFamily="18" charset="0"/>
              </a:rPr>
              <a:t>算低温还是高温</a:t>
            </a:r>
            <a:r>
              <a:rPr lang="zh-CN" altLang="en-US" sz="2800" b="1" smtClean="0">
                <a:latin typeface="Times New Roman" panose="02020603050405020304" pitchFamily="18" charset="0"/>
              </a:rPr>
              <a:t>？</a:t>
            </a:r>
          </a:p>
        </p:txBody>
      </p:sp>
      <p:sp>
        <p:nvSpPr>
          <p:cNvPr id="144387" name="内容占位符 144386"/>
          <p:cNvSpPr>
            <a:spLocks noGrp="1" noChangeArrowheads="1"/>
          </p:cNvSpPr>
          <p:nvPr>
            <p:ph idx="1"/>
          </p:nvPr>
        </p:nvSpPr>
        <p:spPr>
          <a:xfrm>
            <a:off x="457200" y="1711325"/>
            <a:ext cx="8229600" cy="4525963"/>
          </a:xfrm>
        </p:spPr>
        <p:txBody>
          <a:bodyPr/>
          <a:lstStyle/>
          <a:p>
            <a:pPr>
              <a:lnSpc>
                <a:spcPct val="90000"/>
              </a:lnSpc>
            </a:pPr>
            <a:r>
              <a:rPr lang="zh-CN" altLang="en-US" sz="2800" b="1" dirty="0" smtClean="0">
                <a:latin typeface="Times New Roman" panose="02020603050405020304" pitchFamily="18" charset="0"/>
              </a:rPr>
              <a:t>不同物质，低压和高温的标准不同</a:t>
            </a:r>
          </a:p>
          <a:p>
            <a:pPr>
              <a:lnSpc>
                <a:spcPct val="90000"/>
              </a:lnSpc>
            </a:pPr>
            <a:r>
              <a:rPr lang="zh-CN" altLang="en-US" sz="2800" b="1" dirty="0" smtClean="0">
                <a:latin typeface="Times New Roman" panose="02020603050405020304" pitchFamily="18" charset="0"/>
              </a:rPr>
              <a:t>压力或温度是高还是低与物质的临界压力和临界温度有关</a:t>
            </a:r>
          </a:p>
          <a:p>
            <a:pPr>
              <a:lnSpc>
                <a:spcPct val="90000"/>
              </a:lnSpc>
            </a:pPr>
            <a:r>
              <a:rPr lang="zh-CN" altLang="en-US" sz="2800" b="1" dirty="0" smtClean="0">
                <a:latin typeface="Times New Roman" panose="02020603050405020304" pitchFamily="18" charset="0"/>
              </a:rPr>
              <a:t>常压下，</a:t>
            </a:r>
            <a:r>
              <a:rPr lang="en-US" altLang="zh-CN" sz="2800" b="1" dirty="0" smtClean="0">
                <a:solidFill>
                  <a:srgbClr val="FF0000"/>
                </a:solidFill>
                <a:latin typeface="Times New Roman" panose="02020603050405020304" pitchFamily="18" charset="0"/>
              </a:rPr>
              <a:t>-100℃</a:t>
            </a:r>
            <a:r>
              <a:rPr lang="zh-CN" altLang="en-US" sz="2800" b="1" dirty="0" smtClean="0">
                <a:solidFill>
                  <a:srgbClr val="FF0000"/>
                </a:solidFill>
                <a:latin typeface="Times New Roman" panose="02020603050405020304" pitchFamily="18" charset="0"/>
              </a:rPr>
              <a:t>对于水来讲是低温</a:t>
            </a:r>
            <a:r>
              <a:rPr lang="zh-CN" altLang="en-US" sz="2800" b="1" dirty="0" smtClean="0">
                <a:latin typeface="Times New Roman" panose="02020603050405020304" pitchFamily="18" charset="0"/>
              </a:rPr>
              <a:t>，显然不能将此温度的水近似为理想气体（此温度下水还是固态）。然而，</a:t>
            </a:r>
            <a:r>
              <a:rPr lang="en-US" altLang="zh-CN" sz="2800" b="1" dirty="0" smtClean="0">
                <a:solidFill>
                  <a:srgbClr val="FF0000"/>
                </a:solidFill>
                <a:latin typeface="Times New Roman" panose="02020603050405020304" pitchFamily="18" charset="0"/>
              </a:rPr>
              <a:t>-100℃</a:t>
            </a:r>
            <a:r>
              <a:rPr lang="zh-CN" altLang="en-US" sz="2800" b="1" dirty="0" smtClean="0">
                <a:solidFill>
                  <a:srgbClr val="FF0000"/>
                </a:solidFill>
                <a:latin typeface="Times New Roman" panose="02020603050405020304" pitchFamily="18" charset="0"/>
              </a:rPr>
              <a:t>对于空气却已经是高温</a:t>
            </a:r>
            <a:r>
              <a:rPr lang="zh-CN" altLang="en-US" sz="2800" b="1" dirty="0" smtClean="0">
                <a:latin typeface="Times New Roman" panose="02020603050405020304" pitchFamily="18" charset="0"/>
              </a:rPr>
              <a:t>了，因为它远高于空气临界温度（</a:t>
            </a:r>
            <a:r>
              <a:rPr lang="en-US" altLang="zh-CN" sz="2800" b="1" dirty="0" smtClean="0">
                <a:latin typeface="Times New Roman" panose="02020603050405020304" pitchFamily="18" charset="0"/>
              </a:rPr>
              <a:t>-140.5℃</a:t>
            </a:r>
            <a:r>
              <a:rPr lang="zh-CN" altLang="en-US" sz="2800" b="1" dirty="0" smtClean="0">
                <a:latin typeface="Times New Roman" panose="02020603050405020304" pitchFamily="18" charset="0"/>
              </a:rPr>
              <a:t>），且根据其临界压力（</a:t>
            </a:r>
            <a:r>
              <a:rPr lang="en-US" altLang="zh-CN" sz="2800" b="1" dirty="0" smtClean="0">
                <a:latin typeface="Times New Roman" panose="02020603050405020304" pitchFamily="18" charset="0"/>
              </a:rPr>
              <a:t>3.77 MPa</a:t>
            </a:r>
            <a:r>
              <a:rPr lang="zh-CN" altLang="en-US" sz="2800" b="1" dirty="0" smtClean="0">
                <a:latin typeface="Times New Roman" panose="02020603050405020304" pitchFamily="18" charset="0"/>
              </a:rPr>
              <a:t>）判断，常压下</a:t>
            </a:r>
            <a:r>
              <a:rPr lang="en-US" altLang="zh-CN" sz="2800" b="1" dirty="0" smtClean="0">
                <a:latin typeface="Times New Roman" panose="02020603050405020304" pitchFamily="18" charset="0"/>
              </a:rPr>
              <a:t>-100℃</a:t>
            </a:r>
            <a:r>
              <a:rPr lang="zh-CN" altLang="en-US" sz="2800" b="1" dirty="0" smtClean="0">
                <a:latin typeface="Times New Roman" panose="02020603050405020304" pitchFamily="18" charset="0"/>
              </a:rPr>
              <a:t>的空气状态</a:t>
            </a:r>
            <a:r>
              <a:rPr lang="zh-CN" altLang="en-US" sz="2800" b="1" dirty="0" smtClean="0">
                <a:solidFill>
                  <a:srgbClr val="0000CC"/>
                </a:solidFill>
                <a:latin typeface="Times New Roman" panose="02020603050405020304" pitchFamily="18" charset="0"/>
              </a:rPr>
              <a:t>远离饱和区域和物质的临界点</a:t>
            </a:r>
            <a:r>
              <a:rPr lang="zh-CN" altLang="en-US" sz="2800" b="1" dirty="0" smtClean="0">
                <a:latin typeface="Times New Roman" panose="02020603050405020304" pitchFamily="18" charset="0"/>
              </a:rPr>
              <a:t>，故可将该状态的空气视为理想气体</a:t>
            </a:r>
          </a:p>
        </p:txBody>
      </p:sp>
    </p:spTree>
    <p:custDataLst>
      <p:tags r:id="rId1"/>
    </p:custDataLst>
    <p:extLst>
      <p:ext uri="{BB962C8B-B14F-4D97-AF65-F5344CB8AC3E}">
        <p14:creationId xmlns:p14="http://schemas.microsoft.com/office/powerpoint/2010/main" val="31362085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Effect transition="in" filter="blinds(horizontal)">
                                      <p:cBhvr>
                                        <p:cTn id="7" dur="500"/>
                                        <p:tgtEl>
                                          <p:spTgt spid="144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4387">
                                            <p:txEl>
                                              <p:pRg st="1" end="1"/>
                                            </p:txEl>
                                          </p:spTgt>
                                        </p:tgtEl>
                                        <p:attrNameLst>
                                          <p:attrName>style.visibility</p:attrName>
                                        </p:attrNameLst>
                                      </p:cBhvr>
                                      <p:to>
                                        <p:strVal val="visible"/>
                                      </p:to>
                                    </p:set>
                                    <p:animEffect transition="in" filter="blinds(horizontal)">
                                      <p:cBhvr>
                                        <p:cTn id="12" dur="500"/>
                                        <p:tgtEl>
                                          <p:spTgt spid="1443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4387">
                                            <p:txEl>
                                              <p:pRg st="2" end="2"/>
                                            </p:txEl>
                                          </p:spTgt>
                                        </p:tgtEl>
                                        <p:attrNameLst>
                                          <p:attrName>style.visibility</p:attrName>
                                        </p:attrNameLst>
                                      </p:cBhvr>
                                      <p:to>
                                        <p:strVal val="visible"/>
                                      </p:to>
                                    </p:set>
                                    <p:animEffect transition="in" filter="blinds(horizontal)">
                                      <p:cBhvr>
                                        <p:cTn id="17" dur="500"/>
                                        <p:tgtEl>
                                          <p:spTgt spid="1443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build="p"/>
    </p:bldLst>
  </p:timing>
  <p:extLst mod="1"/>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矩形 78851"/>
          <p:cNvSpPr>
            <a:spLocks noChangeArrowheads="1"/>
          </p:cNvSpPr>
          <p:nvPr/>
        </p:nvSpPr>
        <p:spPr bwMode="auto">
          <a:xfrm>
            <a:off x="115124" y="2351136"/>
            <a:ext cx="866590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buFontTx/>
              <a:buChar char="§"/>
            </a:pPr>
            <a:r>
              <a:rPr lang="en-US" altLang="zh-CN" sz="4000" b="1" u="none" dirty="0">
                <a:latin typeface="+mj-lt"/>
              </a:rPr>
              <a:t>15</a:t>
            </a:r>
            <a:r>
              <a:rPr lang="zh-CN" altLang="en-US" sz="4000" b="1" u="none" dirty="0">
                <a:latin typeface="+mj-lt"/>
              </a:rPr>
              <a:t>－</a:t>
            </a:r>
            <a:r>
              <a:rPr lang="en-US" altLang="zh-CN" sz="4000" b="1" u="none" dirty="0">
                <a:latin typeface="+mj-lt"/>
              </a:rPr>
              <a:t>2   </a:t>
            </a:r>
            <a:r>
              <a:rPr lang="zh-CN" altLang="en-US" sz="4000" b="1" u="none" dirty="0">
                <a:latin typeface="Arial" panose="020B0604020202020204" pitchFamily="34" charset="0"/>
              </a:rPr>
              <a:t>常用的实际气体状态方程</a:t>
            </a:r>
          </a:p>
        </p:txBody>
      </p:sp>
    </p:spTree>
    <p:extLst>
      <p:ext uri="{BB962C8B-B14F-4D97-AF65-F5344CB8AC3E}">
        <p14:creationId xmlns:p14="http://schemas.microsoft.com/office/powerpoint/2010/main" val="2126129794"/>
      </p:ext>
    </p:extLst>
  </p:cSld>
  <p:clrMapOvr>
    <a:masterClrMapping/>
  </p:clrMapOvr>
  <p:transition/>
  <p:timing>
    <p:tnLst>
      <p:par>
        <p:cTn id="1" dur="indefinite" restart="never" nodeType="tmRoot"/>
      </p:par>
    </p:tnLst>
  </p:timing>
  <p:extLst mod="1"/>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5" name="矩形 9219"/>
          <p:cNvSpPr>
            <a:spLocks noChangeArrowheads="1"/>
          </p:cNvSpPr>
          <p:nvPr/>
        </p:nvSpPr>
        <p:spPr bwMode="auto">
          <a:xfrm>
            <a:off x="1187450" y="333375"/>
            <a:ext cx="67762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u="none" dirty="0"/>
              <a:t>对于实际气体，理想气体的状态方程</a:t>
            </a:r>
          </a:p>
        </p:txBody>
      </p:sp>
      <p:graphicFrame>
        <p:nvGraphicFramePr>
          <p:cNvPr id="31746" name="内容占位符 9221"/>
          <p:cNvGraphicFramePr>
            <a:graphicFrameLocks noGrp="1"/>
          </p:cNvGraphicFramePr>
          <p:nvPr>
            <p:ph idx="1"/>
            <p:extLst>
              <p:ext uri="{D42A27DB-BD31-4B8C-83A1-F6EECF244321}">
                <p14:modId xmlns:p14="http://schemas.microsoft.com/office/powerpoint/2010/main" val="3082319562"/>
              </p:ext>
            </p:extLst>
          </p:nvPr>
        </p:nvGraphicFramePr>
        <p:xfrm>
          <a:off x="1525467" y="1270000"/>
          <a:ext cx="1835150" cy="727075"/>
        </p:xfrm>
        <a:graphic>
          <a:graphicData uri="http://schemas.openxmlformats.org/presentationml/2006/ole">
            <mc:AlternateContent xmlns:mc="http://schemas.openxmlformats.org/markup-compatibility/2006">
              <mc:Choice xmlns:v="urn:schemas-microsoft-com:vml" Requires="v">
                <p:oleObj spid="_x0000_s5165" r:id="rId3" imgW="609480" imgH="241200" progId="Equation.3">
                  <p:embed/>
                </p:oleObj>
              </mc:Choice>
              <mc:Fallback>
                <p:oleObj r:id="rId3" imgW="609480" imgH="241200" progId="Equation.3">
                  <p:embed/>
                  <p:pic>
                    <p:nvPicPr>
                      <p:cNvPr id="31746" name="内容占位符 9221"/>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5467" y="1270000"/>
                        <a:ext cx="1835150" cy="72707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47" name="矩形 9223"/>
          <p:cNvSpPr>
            <a:spLocks noChangeArrowheads="1"/>
          </p:cNvSpPr>
          <p:nvPr/>
        </p:nvSpPr>
        <p:spPr bwMode="auto">
          <a:xfrm>
            <a:off x="3635375" y="1270000"/>
            <a:ext cx="22445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u="none" dirty="0"/>
              <a:t>不再适用。</a:t>
            </a:r>
          </a:p>
        </p:txBody>
      </p:sp>
      <p:pic>
        <p:nvPicPr>
          <p:cNvPr id="31748" name="图片 9225" descr="thinking ma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2781300"/>
            <a:ext cx="2997200" cy="289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矩形 9226"/>
          <p:cNvSpPr>
            <a:spLocks noChangeArrowheads="1"/>
          </p:cNvSpPr>
          <p:nvPr/>
        </p:nvSpPr>
        <p:spPr bwMode="auto">
          <a:xfrm>
            <a:off x="3779838" y="2924175"/>
            <a:ext cx="471635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u="none" dirty="0"/>
              <a:t>百余年来人们导出了成百</a:t>
            </a:r>
          </a:p>
          <a:p>
            <a:r>
              <a:rPr lang="zh-CN" altLang="en-US" sz="3200" b="1" u="none" dirty="0"/>
              <a:t>上千个状态方程式。</a:t>
            </a:r>
          </a:p>
        </p:txBody>
      </p:sp>
      <p:sp>
        <p:nvSpPr>
          <p:cNvPr id="31750" name="矩形 9227"/>
          <p:cNvSpPr>
            <a:spLocks noChangeArrowheads="1"/>
          </p:cNvSpPr>
          <p:nvPr/>
        </p:nvSpPr>
        <p:spPr bwMode="auto">
          <a:xfrm>
            <a:off x="3779838" y="4435475"/>
            <a:ext cx="512832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u="none" dirty="0"/>
              <a:t>准确度高的，适用范围小；</a:t>
            </a:r>
          </a:p>
          <a:p>
            <a:r>
              <a:rPr lang="zh-CN" altLang="en-US" sz="3200" b="1" u="none" dirty="0"/>
              <a:t>通用性强的，准确度差。</a:t>
            </a:r>
          </a:p>
        </p:txBody>
      </p:sp>
    </p:spTree>
    <p:extLst>
      <p:ext uri="{BB962C8B-B14F-4D97-AF65-F5344CB8AC3E}">
        <p14:creationId xmlns:p14="http://schemas.microsoft.com/office/powerpoint/2010/main" val="2138751409"/>
      </p:ext>
    </p:extLst>
  </p:cSld>
  <p:clrMapOvr>
    <a:masterClrMapping/>
  </p:clrMapOvr>
  <p:transition/>
  <p:timing>
    <p:tnLst>
      <p:par>
        <p:cTn id="1" dur="indefinite" restart="never" nodeType="tmRoot"/>
      </p:par>
    </p:tnLst>
  </p:timing>
  <p:extLst mod="1"/>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文本框 72707"/>
          <p:cNvSpPr txBox="1">
            <a:spLocks noChangeArrowheads="1"/>
          </p:cNvSpPr>
          <p:nvPr/>
        </p:nvSpPr>
        <p:spPr bwMode="auto">
          <a:xfrm>
            <a:off x="1388129" y="1957171"/>
            <a:ext cx="762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u="none" dirty="0">
                <a:latin typeface="Arial" panose="020B0604020202020204" pitchFamily="34" charset="0"/>
                <a:ea typeface="黑体" panose="02010609060101010101" pitchFamily="49" charset="-122"/>
              </a:rPr>
              <a:t>1.</a:t>
            </a:r>
            <a:r>
              <a:rPr lang="zh-CN" altLang="en-US" sz="2800" b="1" u="none" dirty="0">
                <a:latin typeface="Arial" panose="020B0604020202020204" pitchFamily="34" charset="0"/>
                <a:ea typeface="黑体" panose="02010609060101010101" pitchFamily="49" charset="-122"/>
              </a:rPr>
              <a:t>分子是不占体积的弹性质点</a:t>
            </a:r>
          </a:p>
        </p:txBody>
      </p:sp>
      <p:sp>
        <p:nvSpPr>
          <p:cNvPr id="72709" name="文本框 72708"/>
          <p:cNvSpPr txBox="1">
            <a:spLocks noChangeArrowheads="1"/>
          </p:cNvSpPr>
          <p:nvPr/>
        </p:nvSpPr>
        <p:spPr bwMode="auto">
          <a:xfrm>
            <a:off x="1388129" y="2530055"/>
            <a:ext cx="762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u="none" dirty="0">
                <a:latin typeface="Arial" panose="020B0604020202020204" pitchFamily="34" charset="0"/>
                <a:ea typeface="黑体" panose="02010609060101010101" pitchFamily="49" charset="-122"/>
              </a:rPr>
              <a:t>2.</a:t>
            </a:r>
            <a:r>
              <a:rPr lang="zh-CN" altLang="en-US" sz="2800" b="1" u="none" dirty="0">
                <a:latin typeface="Arial" panose="020B0604020202020204" pitchFamily="34" charset="0"/>
                <a:ea typeface="黑体" panose="02010609060101010101" pitchFamily="49" charset="-122"/>
              </a:rPr>
              <a:t>分子间没有相互作用力</a:t>
            </a:r>
          </a:p>
        </p:txBody>
      </p:sp>
      <p:sp>
        <p:nvSpPr>
          <p:cNvPr id="32771" name="文本框 72709"/>
          <p:cNvSpPr txBox="1">
            <a:spLocks noChangeArrowheads="1"/>
          </p:cNvSpPr>
          <p:nvPr/>
        </p:nvSpPr>
        <p:spPr bwMode="auto">
          <a:xfrm>
            <a:off x="879172" y="1184573"/>
            <a:ext cx="7620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u="none" dirty="0">
                <a:latin typeface="Arial" panose="020B0604020202020204" pitchFamily="34" charset="0"/>
                <a:ea typeface="黑体" panose="02010609060101010101" pitchFamily="49" charset="-122"/>
              </a:rPr>
              <a:t>理想气体模型的假设：</a:t>
            </a:r>
          </a:p>
        </p:txBody>
      </p:sp>
      <p:sp>
        <p:nvSpPr>
          <p:cNvPr id="6" name="文本框 10244"/>
          <p:cNvSpPr txBox="1">
            <a:spLocks noChangeArrowheads="1"/>
          </p:cNvSpPr>
          <p:nvPr/>
        </p:nvSpPr>
        <p:spPr bwMode="auto">
          <a:xfrm>
            <a:off x="414107" y="383461"/>
            <a:ext cx="7704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tx2"/>
              </a:buClr>
              <a:buSzPct val="75000"/>
              <a:buFont typeface="Wingdings" panose="05000000000000000000" pitchFamily="2" charset="2"/>
              <a:buNone/>
            </a:pPr>
            <a:r>
              <a:rPr lang="zh-CN" altLang="en-US" sz="3200" b="1" u="none" dirty="0">
                <a:latin typeface="Times New Roman" panose="02020603050405020304" pitchFamily="18" charset="0"/>
              </a:rPr>
              <a:t>一、范德瓦尔方程（</a:t>
            </a:r>
            <a:r>
              <a:rPr lang="en-US" altLang="zh-CN" sz="3200" b="1" u="none" dirty="0">
                <a:latin typeface="Times New Roman" panose="02020603050405020304" pitchFamily="18" charset="0"/>
              </a:rPr>
              <a:t>1873</a:t>
            </a:r>
            <a:r>
              <a:rPr lang="zh-CN" altLang="en-US" sz="3200" b="1" u="none" dirty="0">
                <a:latin typeface="Times New Roman" panose="02020603050405020304" pitchFamily="18" charset="0"/>
              </a:rPr>
              <a:t>年）：</a:t>
            </a:r>
          </a:p>
        </p:txBody>
      </p:sp>
      <p:sp>
        <p:nvSpPr>
          <p:cNvPr id="2" name="矩形 1"/>
          <p:cNvSpPr/>
          <p:nvPr/>
        </p:nvSpPr>
        <p:spPr>
          <a:xfrm>
            <a:off x="771306" y="3522079"/>
            <a:ext cx="7479233" cy="2677656"/>
          </a:xfrm>
          <a:prstGeom prst="rect">
            <a:avLst/>
          </a:prstGeom>
        </p:spPr>
        <p:txBody>
          <a:bodyPr wrap="square">
            <a:spAutoFit/>
          </a:bodyPr>
          <a:lstStyle/>
          <a:p>
            <a:r>
              <a:rPr lang="zh-CN" altLang="en-US" sz="2800" b="1" dirty="0">
                <a:solidFill>
                  <a:srgbClr val="0070C0"/>
                </a:solidFill>
              </a:rPr>
              <a:t>范德瓦尔考虑到两点：</a:t>
            </a:r>
          </a:p>
          <a:p>
            <a:r>
              <a:rPr lang="zh-CN" altLang="en-US" sz="2800" b="1" dirty="0" smtClean="0">
                <a:solidFill>
                  <a:srgbClr val="0070C0"/>
                </a:solidFill>
              </a:rPr>
              <a:t>1</a:t>
            </a:r>
            <a:r>
              <a:rPr lang="zh-CN" altLang="en-US" sz="2800" b="1" dirty="0">
                <a:solidFill>
                  <a:srgbClr val="0070C0"/>
                </a:solidFill>
              </a:rPr>
              <a:t>.气体分子有一定的体积，所以分子可自由活动的空间为（</a:t>
            </a:r>
            <a:r>
              <a:rPr lang="zh-CN" altLang="en-US" sz="2800" b="1" i="1" dirty="0">
                <a:solidFill>
                  <a:srgbClr val="0070C0"/>
                </a:solidFill>
                <a:latin typeface="Times New Roman" panose="02020603050405020304" pitchFamily="18" charset="0"/>
                <a:cs typeface="Times New Roman" panose="02020603050405020304" pitchFamily="18" charset="0"/>
              </a:rPr>
              <a:t>v-b</a:t>
            </a:r>
            <a:r>
              <a:rPr lang="zh-CN" altLang="en-US" sz="2800" b="1" dirty="0" smtClean="0">
                <a:solidFill>
                  <a:srgbClr val="0070C0"/>
                </a:solidFill>
              </a:rPr>
              <a:t>）</a:t>
            </a:r>
            <a:endParaRPr lang="en-US" altLang="zh-CN" sz="2800" b="1" dirty="0" smtClean="0">
              <a:solidFill>
                <a:srgbClr val="0070C0"/>
              </a:solidFill>
            </a:endParaRPr>
          </a:p>
          <a:p>
            <a:r>
              <a:rPr lang="zh-CN" altLang="en-US" sz="2800" b="1" dirty="0" smtClean="0">
                <a:solidFill>
                  <a:srgbClr val="0070C0"/>
                </a:solidFill>
              </a:rPr>
              <a:t>2</a:t>
            </a:r>
            <a:r>
              <a:rPr lang="zh-CN" altLang="en-US" sz="2800" b="1" dirty="0">
                <a:solidFill>
                  <a:srgbClr val="0070C0"/>
                </a:solidFill>
              </a:rPr>
              <a:t>.气体分子间的引力作用，使气体对容器壁面所施加的压力要比理想气体的小，用内压力修正压力项。</a:t>
            </a:r>
          </a:p>
        </p:txBody>
      </p:sp>
    </p:spTree>
    <p:extLst>
      <p:ext uri="{BB962C8B-B14F-4D97-AF65-F5344CB8AC3E}">
        <p14:creationId xmlns:p14="http://schemas.microsoft.com/office/powerpoint/2010/main" val="2714692527"/>
      </p:ext>
    </p:extLst>
  </p:cSld>
  <p:clrMapOvr>
    <a:masterClrMapping/>
  </p:clrMapOvr>
  <p:transition/>
  <p:timing>
    <p:tnLst>
      <p:par>
        <p:cTn id="1" dur="indefinite" restart="never" nodeType="tmRoot"/>
      </p:par>
    </p:tnLst>
  </p:timing>
  <p:extLst mod="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文本框 10251"/>
          <p:cNvSpPr txBox="1">
            <a:spLocks noChangeArrowheads="1"/>
          </p:cNvSpPr>
          <p:nvPr/>
        </p:nvSpPr>
        <p:spPr bwMode="auto">
          <a:xfrm>
            <a:off x="859673" y="1758491"/>
            <a:ext cx="17864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buClr>
                <a:schemeClr val="tx2"/>
              </a:buClr>
              <a:buSzPct val="75000"/>
              <a:buFont typeface="Wingdings" panose="05000000000000000000" pitchFamily="2" charset="2"/>
              <a:buNone/>
            </a:pPr>
            <a:r>
              <a:rPr lang="zh-CN" altLang="en-US" sz="2800" b="1" u="none" dirty="0">
                <a:latin typeface="Times New Roman" panose="02020603050405020304" pitchFamily="18" charset="0"/>
              </a:rPr>
              <a:t>其中</a:t>
            </a:r>
            <a:r>
              <a:rPr lang="zh-CN" altLang="en-US" sz="2800" b="1" u="none" dirty="0" smtClean="0">
                <a:latin typeface="Times New Roman" panose="02020603050405020304" pitchFamily="18" charset="0"/>
              </a:rPr>
              <a:t>：</a:t>
            </a:r>
            <a:endParaRPr lang="zh-CN" altLang="en-US" sz="2800" b="1" u="none" dirty="0">
              <a:latin typeface="Times New Roman" panose="02020603050405020304" pitchFamily="18" charset="0"/>
            </a:endParaRPr>
          </a:p>
        </p:txBody>
      </p:sp>
      <p:sp>
        <p:nvSpPr>
          <p:cNvPr id="33797" name="矩形 10265"/>
          <p:cNvSpPr>
            <a:spLocks noChangeArrowheads="1"/>
          </p:cNvSpPr>
          <p:nvPr/>
        </p:nvSpPr>
        <p:spPr bwMode="auto">
          <a:xfrm>
            <a:off x="0" y="2708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3798" name="对象 10264"/>
          <p:cNvGraphicFramePr>
            <a:graphicFrameLocks/>
          </p:cNvGraphicFramePr>
          <p:nvPr>
            <p:extLst>
              <p:ext uri="{D42A27DB-BD31-4B8C-83A1-F6EECF244321}">
                <p14:modId xmlns:p14="http://schemas.microsoft.com/office/powerpoint/2010/main" val="2734029324"/>
              </p:ext>
            </p:extLst>
          </p:nvPr>
        </p:nvGraphicFramePr>
        <p:xfrm>
          <a:off x="2646132" y="621513"/>
          <a:ext cx="3240088" cy="992187"/>
        </p:xfrm>
        <a:graphic>
          <a:graphicData uri="http://schemas.openxmlformats.org/presentationml/2006/ole">
            <mc:AlternateContent xmlns:mc="http://schemas.openxmlformats.org/markup-compatibility/2006">
              <mc:Choice xmlns:v="urn:schemas-microsoft-com:vml" Requires="v">
                <p:oleObj spid="_x0000_s6234" r:id="rId3" imgW="1397000" imgH="431800" progId="Equation.DSMT4">
                  <p:embed/>
                </p:oleObj>
              </mc:Choice>
              <mc:Fallback>
                <p:oleObj r:id="rId3" imgW="1397000" imgH="431800" progId="Equation.DSMT4">
                  <p:embed/>
                  <p:pic>
                    <p:nvPicPr>
                      <p:cNvPr id="33798" name="对象 1026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6132" y="621513"/>
                        <a:ext cx="3240088" cy="992187"/>
                      </a:xfrm>
                      <a:prstGeom prst="rect">
                        <a:avLst/>
                      </a:prstGeom>
                      <a:noFill/>
                      <a:ln>
                        <a:noFill/>
                      </a:ln>
                      <a:extLst/>
                    </p:spPr>
                  </p:pic>
                </p:oleObj>
              </mc:Fallback>
            </mc:AlternateContent>
          </a:graphicData>
        </a:graphic>
      </p:graphicFrame>
      <p:graphicFrame>
        <p:nvGraphicFramePr>
          <p:cNvPr id="33799" name="内容占位符 10266"/>
          <p:cNvGraphicFramePr>
            <a:graphicFrameLocks noGrp="1"/>
          </p:cNvGraphicFramePr>
          <p:nvPr>
            <p:ph idx="4294967295"/>
            <p:extLst>
              <p:ext uri="{D42A27DB-BD31-4B8C-83A1-F6EECF244321}">
                <p14:modId xmlns:p14="http://schemas.microsoft.com/office/powerpoint/2010/main" val="2272102780"/>
              </p:ext>
            </p:extLst>
          </p:nvPr>
        </p:nvGraphicFramePr>
        <p:xfrm>
          <a:off x="1076470" y="3581252"/>
          <a:ext cx="446087" cy="865187"/>
        </p:xfrm>
        <a:graphic>
          <a:graphicData uri="http://schemas.openxmlformats.org/presentationml/2006/ole">
            <mc:AlternateContent xmlns:mc="http://schemas.openxmlformats.org/markup-compatibility/2006">
              <mc:Choice xmlns:v="urn:schemas-microsoft-com:vml" Requires="v">
                <p:oleObj spid="_x0000_s6235" r:id="rId5" imgW="203024" imgH="393359" progId="Equation.DSMT4">
                  <p:embed/>
                </p:oleObj>
              </mc:Choice>
              <mc:Fallback>
                <p:oleObj r:id="rId5" imgW="203024" imgH="393359" progId="Equation.DSMT4">
                  <p:embed/>
                  <p:pic>
                    <p:nvPicPr>
                      <p:cNvPr id="33799" name="内容占位符 10266"/>
                      <p:cNvPicPr>
                        <a:picLocks noGrp="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6470" y="3581252"/>
                        <a:ext cx="446087" cy="865187"/>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p:cNvSpPr/>
          <p:nvPr/>
        </p:nvSpPr>
        <p:spPr>
          <a:xfrm>
            <a:off x="999906" y="2513691"/>
            <a:ext cx="7144187" cy="830997"/>
          </a:xfrm>
          <a:prstGeom prst="rect">
            <a:avLst/>
          </a:prstGeom>
        </p:spPr>
        <p:txBody>
          <a:bodyPr wrap="square">
            <a:spAutoFit/>
          </a:bodyPr>
          <a:lstStyle/>
          <a:p>
            <a:r>
              <a:rPr lang="zh-CN" altLang="en-US" dirty="0"/>
              <a:t> </a:t>
            </a:r>
            <a:r>
              <a:rPr lang="zh-CN" altLang="en-US" sz="2400" b="1" i="1" dirty="0">
                <a:latin typeface="Times New Roman" panose="02020603050405020304" pitchFamily="18" charset="0"/>
                <a:cs typeface="Times New Roman" panose="02020603050405020304" pitchFamily="18" charset="0"/>
              </a:rPr>
              <a:t>a、b</a:t>
            </a:r>
            <a:r>
              <a:rPr lang="zh-CN" altLang="en-US" sz="2400" b="1" dirty="0" smtClean="0"/>
              <a:t>：范德瓦尔</a:t>
            </a:r>
            <a:r>
              <a:rPr lang="zh-CN" altLang="en-US" sz="2400" b="1" dirty="0"/>
              <a:t>常数（均为正），与气体种类</a:t>
            </a:r>
            <a:r>
              <a:rPr lang="zh-CN" altLang="en-US" sz="2400" b="1" dirty="0" smtClean="0"/>
              <a:t>有关，</a:t>
            </a:r>
            <a:endParaRPr lang="zh-CN" altLang="en-US" sz="2400" b="1" dirty="0"/>
          </a:p>
          <a:p>
            <a:r>
              <a:rPr lang="zh-CN" altLang="en-US" sz="2400" b="1" dirty="0"/>
              <a:t>数值由实验确定</a:t>
            </a:r>
          </a:p>
        </p:txBody>
      </p:sp>
      <p:sp>
        <p:nvSpPr>
          <p:cNvPr id="3" name="矩形 2"/>
          <p:cNvSpPr/>
          <p:nvPr/>
        </p:nvSpPr>
        <p:spPr>
          <a:xfrm>
            <a:off x="1812742" y="3771252"/>
            <a:ext cx="4515980" cy="461665"/>
          </a:xfrm>
          <a:prstGeom prst="rect">
            <a:avLst/>
          </a:prstGeom>
        </p:spPr>
        <p:txBody>
          <a:bodyPr wrap="none">
            <a:spAutoFit/>
          </a:bodyPr>
          <a:lstStyle/>
          <a:p>
            <a:r>
              <a:rPr lang="zh-CN" altLang="en-US" sz="2400" b="1" dirty="0"/>
              <a:t>体现分子间引力作用，内压力项</a:t>
            </a:r>
          </a:p>
        </p:txBody>
      </p:sp>
    </p:spTree>
    <p:extLst>
      <p:ext uri="{BB962C8B-B14F-4D97-AF65-F5344CB8AC3E}">
        <p14:creationId xmlns:p14="http://schemas.microsoft.com/office/powerpoint/2010/main" val="2426795384"/>
      </p:ext>
    </p:extLst>
  </p:cSld>
  <p:clrMapOvr>
    <a:masterClrMapping/>
  </p:clrMapOvr>
  <p:transition/>
  <p:timing>
    <p:tnLst>
      <p:par>
        <p:cTn id="1" dur="indefinite" restart="never" nodeType="tmRoot"/>
      </p:par>
    </p:tnLst>
  </p:timing>
  <p:extLst mod="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矩形 147462"/>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4820" name="对象 147461"/>
          <p:cNvGraphicFramePr>
            <a:graphicFrameLocks/>
          </p:cNvGraphicFramePr>
          <p:nvPr>
            <p:extLst>
              <p:ext uri="{D42A27DB-BD31-4B8C-83A1-F6EECF244321}">
                <p14:modId xmlns:p14="http://schemas.microsoft.com/office/powerpoint/2010/main" val="920233652"/>
              </p:ext>
            </p:extLst>
          </p:nvPr>
        </p:nvGraphicFramePr>
        <p:xfrm>
          <a:off x="3792857" y="3446998"/>
          <a:ext cx="1944688" cy="842963"/>
        </p:xfrm>
        <a:graphic>
          <a:graphicData uri="http://schemas.openxmlformats.org/presentationml/2006/ole">
            <mc:AlternateContent xmlns:mc="http://schemas.openxmlformats.org/markup-compatibility/2006">
              <mc:Choice xmlns:v="urn:schemas-microsoft-com:vml" Requires="v">
                <p:oleObj spid="_x0000_s7428" r:id="rId3" imgW="1079500" imgH="469900" progId="Equation.DSMT4">
                  <p:embed/>
                </p:oleObj>
              </mc:Choice>
              <mc:Fallback>
                <p:oleObj r:id="rId3" imgW="1079500" imgH="469900" progId="Equation.DSMT4">
                  <p:embed/>
                  <p:pic>
                    <p:nvPicPr>
                      <p:cNvPr id="34820" name="对象 14746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2857" y="3446998"/>
                        <a:ext cx="1944688"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4821" name="对象 147463"/>
          <p:cNvGraphicFramePr>
            <a:graphicFrameLocks/>
          </p:cNvGraphicFramePr>
          <p:nvPr>
            <p:extLst>
              <p:ext uri="{D42A27DB-BD31-4B8C-83A1-F6EECF244321}">
                <p14:modId xmlns:p14="http://schemas.microsoft.com/office/powerpoint/2010/main" val="1065325823"/>
              </p:ext>
            </p:extLst>
          </p:nvPr>
        </p:nvGraphicFramePr>
        <p:xfrm>
          <a:off x="450832" y="3868480"/>
          <a:ext cx="2447925" cy="749300"/>
        </p:xfrm>
        <a:graphic>
          <a:graphicData uri="http://schemas.openxmlformats.org/presentationml/2006/ole">
            <mc:AlternateContent xmlns:mc="http://schemas.openxmlformats.org/markup-compatibility/2006">
              <mc:Choice xmlns:v="urn:schemas-microsoft-com:vml" Requires="v">
                <p:oleObj spid="_x0000_s7429" r:id="rId5" imgW="1397000" imgH="431800" progId="Equation.DSMT4">
                  <p:embed/>
                </p:oleObj>
              </mc:Choice>
              <mc:Fallback>
                <p:oleObj r:id="rId5" imgW="1397000" imgH="431800" progId="Equation.DSMT4">
                  <p:embed/>
                  <p:pic>
                    <p:nvPicPr>
                      <p:cNvPr id="34821" name="对象 14746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832" y="3868480"/>
                        <a:ext cx="2447925"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22" name="矩形 147465"/>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4823" name="对象 147464"/>
          <p:cNvGraphicFramePr>
            <a:graphicFrameLocks/>
          </p:cNvGraphicFramePr>
          <p:nvPr>
            <p:extLst>
              <p:ext uri="{D42A27DB-BD31-4B8C-83A1-F6EECF244321}">
                <p14:modId xmlns:p14="http://schemas.microsoft.com/office/powerpoint/2010/main" val="1744583522"/>
              </p:ext>
            </p:extLst>
          </p:nvPr>
        </p:nvGraphicFramePr>
        <p:xfrm>
          <a:off x="3757932" y="4383623"/>
          <a:ext cx="2051050" cy="898525"/>
        </p:xfrm>
        <a:graphic>
          <a:graphicData uri="http://schemas.openxmlformats.org/presentationml/2006/ole">
            <mc:AlternateContent xmlns:mc="http://schemas.openxmlformats.org/markup-compatibility/2006">
              <mc:Choice xmlns:v="urn:schemas-microsoft-com:vml" Requires="v">
                <p:oleObj spid="_x0000_s7430" r:id="rId7" imgW="1155700" imgH="508000" progId="Equation.DSMT4">
                  <p:embed/>
                </p:oleObj>
              </mc:Choice>
              <mc:Fallback>
                <p:oleObj r:id="rId7" imgW="1155700" imgH="508000" progId="Equation.DSMT4">
                  <p:embed/>
                  <p:pic>
                    <p:nvPicPr>
                      <p:cNvPr id="34823" name="对象 14746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7932" y="4383623"/>
                        <a:ext cx="205105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24" name="直接连接符 147466"/>
          <p:cNvSpPr>
            <a:spLocks noChangeShapeType="1"/>
          </p:cNvSpPr>
          <p:nvPr/>
        </p:nvSpPr>
        <p:spPr bwMode="auto">
          <a:xfrm>
            <a:off x="3110233" y="4438392"/>
            <a:ext cx="576262" cy="35877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5" name="直接连接符 147467"/>
          <p:cNvSpPr>
            <a:spLocks noChangeShapeType="1"/>
          </p:cNvSpPr>
          <p:nvPr/>
        </p:nvSpPr>
        <p:spPr bwMode="auto">
          <a:xfrm flipV="1">
            <a:off x="3061752" y="3762317"/>
            <a:ext cx="576262" cy="504825"/>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7" name="左大括号 147469"/>
          <p:cNvSpPr>
            <a:spLocks/>
          </p:cNvSpPr>
          <p:nvPr/>
        </p:nvSpPr>
        <p:spPr bwMode="auto">
          <a:xfrm>
            <a:off x="6890725" y="3623211"/>
            <a:ext cx="288925" cy="1296988"/>
          </a:xfrm>
          <a:prstGeom prst="leftBrace">
            <a:avLst>
              <a:gd name="adj1" fmla="val 55965"/>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8" name="矩形 147471"/>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4829" name="对象 147470"/>
          <p:cNvGraphicFramePr>
            <a:graphicFrameLocks noChangeAspect="1"/>
          </p:cNvGraphicFramePr>
          <p:nvPr>
            <p:extLst>
              <p:ext uri="{D42A27DB-BD31-4B8C-83A1-F6EECF244321}">
                <p14:modId xmlns:p14="http://schemas.microsoft.com/office/powerpoint/2010/main" val="2367396975"/>
              </p:ext>
            </p:extLst>
          </p:nvPr>
        </p:nvGraphicFramePr>
        <p:xfrm>
          <a:off x="7174307" y="3293818"/>
          <a:ext cx="1347393" cy="817271"/>
        </p:xfrm>
        <a:graphic>
          <a:graphicData uri="http://schemas.openxmlformats.org/presentationml/2006/ole">
            <mc:AlternateContent xmlns:mc="http://schemas.openxmlformats.org/markup-compatibility/2006">
              <mc:Choice xmlns:v="urn:schemas-microsoft-com:vml" Requires="v">
                <p:oleObj spid="_x0000_s7431" r:id="rId9" imgW="774364" imgH="469696" progId="Equation.DSMT4">
                  <p:embed/>
                </p:oleObj>
              </mc:Choice>
              <mc:Fallback>
                <p:oleObj r:id="rId9" imgW="774364" imgH="469696" progId="Equation.DSMT4">
                  <p:embed/>
                  <p:pic>
                    <p:nvPicPr>
                      <p:cNvPr id="34829" name="对象 14747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74307" y="3293818"/>
                        <a:ext cx="1347393" cy="817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4831" name="对象 147472"/>
          <p:cNvGraphicFramePr>
            <a:graphicFrameLocks noChangeAspect="1"/>
          </p:cNvGraphicFramePr>
          <p:nvPr>
            <p:extLst>
              <p:ext uri="{D42A27DB-BD31-4B8C-83A1-F6EECF244321}">
                <p14:modId xmlns:p14="http://schemas.microsoft.com/office/powerpoint/2010/main" val="4011317601"/>
              </p:ext>
            </p:extLst>
          </p:nvPr>
        </p:nvGraphicFramePr>
        <p:xfrm>
          <a:off x="7214626" y="4461379"/>
          <a:ext cx="1060704" cy="817626"/>
        </p:xfrm>
        <a:graphic>
          <a:graphicData uri="http://schemas.openxmlformats.org/presentationml/2006/ole">
            <mc:AlternateContent xmlns:mc="http://schemas.openxmlformats.org/markup-compatibility/2006">
              <mc:Choice xmlns:v="urn:schemas-microsoft-com:vml" Requires="v">
                <p:oleObj spid="_x0000_s7432" r:id="rId11" imgW="609600" imgH="469900" progId="Equation.DSMT4">
                  <p:embed/>
                </p:oleObj>
              </mc:Choice>
              <mc:Fallback>
                <p:oleObj r:id="rId11" imgW="609600" imgH="469900" progId="Equation.DSMT4">
                  <p:embed/>
                  <p:pic>
                    <p:nvPicPr>
                      <p:cNvPr id="34831" name="对象 14747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14626" y="4461379"/>
                        <a:ext cx="1060704" cy="81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p:cNvSpPr/>
          <p:nvPr/>
        </p:nvSpPr>
        <p:spPr>
          <a:xfrm>
            <a:off x="3955028" y="1010119"/>
            <a:ext cx="4220489" cy="1569660"/>
          </a:xfrm>
          <a:prstGeom prst="rect">
            <a:avLst/>
          </a:prstGeom>
        </p:spPr>
        <p:txBody>
          <a:bodyPr wrap="square">
            <a:spAutoFit/>
          </a:bodyPr>
          <a:lstStyle/>
          <a:p>
            <a:pPr marL="342900" indent="-342900">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可借助</a:t>
            </a:r>
            <a:r>
              <a:rPr lang="zh-CN" altLang="en-US" sz="2400" b="1" i="1" dirty="0">
                <a:latin typeface="Times New Roman" panose="02020603050405020304" pitchFamily="18" charset="0"/>
                <a:cs typeface="Times New Roman" panose="02020603050405020304" pitchFamily="18" charset="0"/>
              </a:rPr>
              <a:t>p-v</a:t>
            </a:r>
            <a:r>
              <a:rPr lang="zh-CN" altLang="en-US" sz="2400" b="1" dirty="0">
                <a:latin typeface="Times New Roman" panose="02020603050405020304" pitchFamily="18" charset="0"/>
                <a:cs typeface="Times New Roman" panose="02020603050405020304" pitchFamily="18" charset="0"/>
              </a:rPr>
              <a:t>图上临界定温线上的临界点确定</a:t>
            </a:r>
            <a:r>
              <a:rPr lang="zh-CN" altLang="en-US" sz="2400" b="1" i="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和</a:t>
            </a:r>
            <a:r>
              <a:rPr lang="zh-CN" altLang="en-US" sz="2400" b="1" i="1" dirty="0" smtClean="0">
                <a:latin typeface="Times New Roman" panose="02020603050405020304" pitchFamily="18" charset="0"/>
                <a:cs typeface="Times New Roman" panose="02020603050405020304" pitchFamily="18" charset="0"/>
              </a:rPr>
              <a:t>b</a:t>
            </a:r>
            <a:endParaRPr lang="en-US" altLang="zh-CN" sz="2400" b="1" i="1"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zh-CN" altLang="en-US" sz="2400" b="1" dirty="0"/>
              <a:t>临界点为临界定温线的驻点和拐点 </a:t>
            </a:r>
          </a:p>
        </p:txBody>
      </p:sp>
      <p:sp>
        <p:nvSpPr>
          <p:cNvPr id="18" name="右大括号 191510"/>
          <p:cNvSpPr>
            <a:spLocks/>
          </p:cNvSpPr>
          <p:nvPr/>
        </p:nvSpPr>
        <p:spPr bwMode="auto">
          <a:xfrm>
            <a:off x="5911437" y="3762317"/>
            <a:ext cx="346935" cy="1098035"/>
          </a:xfrm>
          <a:prstGeom prst="rightBrace">
            <a:avLst>
              <a:gd name="adj1" fmla="val 49919"/>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右箭头 191513"/>
          <p:cNvSpPr>
            <a:spLocks noChangeArrowheads="1"/>
          </p:cNvSpPr>
          <p:nvPr/>
        </p:nvSpPr>
        <p:spPr bwMode="auto">
          <a:xfrm>
            <a:off x="6330374" y="4086961"/>
            <a:ext cx="504825" cy="360362"/>
          </a:xfrm>
          <a:prstGeom prst="rightArrow">
            <a:avLst>
              <a:gd name="adj1" fmla="val 50000"/>
              <a:gd name="adj2" fmla="val 34996"/>
            </a:avLst>
          </a:prstGeom>
          <a:solidFill>
            <a:schemeClr val="accent1"/>
          </a:solidFill>
          <a:ln w="9525">
            <a:solidFill>
              <a:schemeClr val="tx1"/>
            </a:solidFill>
            <a:miter lim="800000"/>
            <a:headEnd/>
            <a:tailEnd/>
          </a:ln>
        </p:spPr>
        <p:txBody>
          <a:bodyPr/>
          <a:lstStyle/>
          <a:p>
            <a:endParaRPr lang="zh-CN" altLang="en-US"/>
          </a:p>
        </p:txBody>
      </p:sp>
      <p:sp>
        <p:nvSpPr>
          <p:cNvPr id="21" name="矩形 20"/>
          <p:cNvSpPr/>
          <p:nvPr/>
        </p:nvSpPr>
        <p:spPr>
          <a:xfrm>
            <a:off x="534420" y="5607903"/>
            <a:ext cx="7740909" cy="830997"/>
          </a:xfrm>
          <a:prstGeom prst="rect">
            <a:avLst/>
          </a:prstGeom>
        </p:spPr>
        <p:txBody>
          <a:bodyPr wrap="square">
            <a:spAutoFit/>
          </a:bodyPr>
          <a:lstStyle/>
          <a:p>
            <a:r>
              <a:rPr lang="zh-CN" altLang="en-US" sz="2400" b="1" dirty="0" smtClean="0">
                <a:latin typeface="Times New Roman" panose="02020603050405020304" pitchFamily="18" charset="0"/>
                <a:cs typeface="Times New Roman" panose="02020603050405020304" pitchFamily="18" charset="0"/>
              </a:rPr>
              <a:t>在实验测定出物质的临界温度和临界压力后，即可计算得到物质的范德瓦尔常数</a:t>
            </a:r>
            <a:r>
              <a:rPr lang="en-US" altLang="zh-CN" sz="2400" b="1" i="1" dirty="0" smtClean="0">
                <a:latin typeface="Times New Roman" panose="02020603050405020304" pitchFamily="18" charset="0"/>
                <a:cs typeface="Times New Roman" panose="02020603050405020304" pitchFamily="18" charset="0"/>
              </a:rPr>
              <a:t>a</a:t>
            </a:r>
            <a:r>
              <a:rPr lang="zh-CN" altLang="en-US" sz="2400" b="1" dirty="0" smtClean="0">
                <a:latin typeface="Times New Roman" panose="02020603050405020304" pitchFamily="18" charset="0"/>
                <a:cs typeface="Times New Roman" panose="02020603050405020304" pitchFamily="18" charset="0"/>
              </a:rPr>
              <a:t>和</a:t>
            </a:r>
            <a:r>
              <a:rPr lang="en-US" altLang="zh-CN" sz="2400" b="1" i="1" dirty="0" smtClean="0">
                <a:latin typeface="Times New Roman" panose="02020603050405020304" pitchFamily="18" charset="0"/>
                <a:cs typeface="Times New Roman" panose="02020603050405020304" pitchFamily="18" charset="0"/>
              </a:rPr>
              <a:t>b</a:t>
            </a:r>
            <a:endParaRPr lang="zh-CN" altLang="en-US" sz="2400" b="1" i="1" dirty="0"/>
          </a:p>
        </p:txBody>
      </p:sp>
      <p:pic>
        <p:nvPicPr>
          <p:cNvPr id="3" name="图片 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91446" y="335531"/>
            <a:ext cx="3127519" cy="3292125"/>
          </a:xfrm>
          <a:prstGeom prst="rect">
            <a:avLst/>
          </a:prstGeom>
        </p:spPr>
      </p:pic>
    </p:spTree>
    <p:extLst>
      <p:ext uri="{BB962C8B-B14F-4D97-AF65-F5344CB8AC3E}">
        <p14:creationId xmlns:p14="http://schemas.microsoft.com/office/powerpoint/2010/main" val="3205160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1" name="组合 191491"/>
          <p:cNvGrpSpPr>
            <a:grpSpLocks/>
          </p:cNvGrpSpPr>
          <p:nvPr/>
        </p:nvGrpSpPr>
        <p:grpSpPr bwMode="auto">
          <a:xfrm>
            <a:off x="771862" y="5516563"/>
            <a:ext cx="2952750" cy="863600"/>
            <a:chOff x="3833" y="1661"/>
            <a:chExt cx="1860" cy="544"/>
          </a:xfrm>
        </p:grpSpPr>
        <p:sp>
          <p:nvSpPr>
            <p:cNvPr id="35842" name="文本框 191492"/>
            <p:cNvSpPr txBox="1">
              <a:spLocks noChangeArrowheads="1"/>
            </p:cNvSpPr>
            <p:nvPr/>
          </p:nvSpPr>
          <p:spPr bwMode="auto">
            <a:xfrm>
              <a:off x="3833" y="1661"/>
              <a:ext cx="186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tx2"/>
                </a:buClr>
                <a:buSzPct val="75000"/>
                <a:buFont typeface="Wingdings" panose="05000000000000000000" pitchFamily="2" charset="2"/>
                <a:buNone/>
              </a:pPr>
              <a:endParaRPr lang="zh-CN" altLang="en-US" u="none" dirty="0">
                <a:latin typeface="+mj-lt"/>
                <a:ea typeface="楷体_GB2312" pitchFamily="49" charset="-122"/>
              </a:endParaRPr>
            </a:p>
          </p:txBody>
        </p:sp>
        <p:sp>
          <p:nvSpPr>
            <p:cNvPr id="35843" name="矩形 191493"/>
            <p:cNvSpPr>
              <a:spLocks noChangeArrowheads="1"/>
            </p:cNvSpPr>
            <p:nvPr/>
          </p:nvSpPr>
          <p:spPr bwMode="auto">
            <a:xfrm>
              <a:off x="3833" y="1661"/>
              <a:ext cx="1837" cy="54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5844" name="组合 191495"/>
          <p:cNvGrpSpPr>
            <a:grpSpLocks/>
          </p:cNvGrpSpPr>
          <p:nvPr/>
        </p:nvGrpSpPr>
        <p:grpSpPr bwMode="auto">
          <a:xfrm>
            <a:off x="4404062" y="5516563"/>
            <a:ext cx="3871912" cy="863600"/>
            <a:chOff x="6393" y="1369"/>
            <a:chExt cx="2498" cy="755"/>
          </a:xfrm>
        </p:grpSpPr>
        <p:sp>
          <p:nvSpPr>
            <p:cNvPr id="35845" name="矩形 191496"/>
            <p:cNvSpPr>
              <a:spLocks noChangeArrowheads="1"/>
            </p:cNvSpPr>
            <p:nvPr/>
          </p:nvSpPr>
          <p:spPr bwMode="auto">
            <a:xfrm>
              <a:off x="6393" y="1584"/>
              <a:ext cx="23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u="none" dirty="0"/>
            </a:p>
          </p:txBody>
        </p:sp>
        <p:sp>
          <p:nvSpPr>
            <p:cNvPr id="35846" name="矩形 191497"/>
            <p:cNvSpPr>
              <a:spLocks noChangeArrowheads="1"/>
            </p:cNvSpPr>
            <p:nvPr/>
          </p:nvSpPr>
          <p:spPr bwMode="auto">
            <a:xfrm>
              <a:off x="6393" y="1369"/>
              <a:ext cx="2498" cy="75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35847" name="对象 191498"/>
          <p:cNvGraphicFramePr>
            <a:graphicFrameLocks noChangeAspect="1"/>
          </p:cNvGraphicFramePr>
          <p:nvPr>
            <p:extLst>
              <p:ext uri="{D42A27DB-BD31-4B8C-83A1-F6EECF244321}">
                <p14:modId xmlns:p14="http://schemas.microsoft.com/office/powerpoint/2010/main" val="2073191149"/>
              </p:ext>
            </p:extLst>
          </p:nvPr>
        </p:nvGraphicFramePr>
        <p:xfrm>
          <a:off x="5364163" y="3573463"/>
          <a:ext cx="2919732" cy="939392"/>
        </p:xfrm>
        <a:graphic>
          <a:graphicData uri="http://schemas.openxmlformats.org/presentationml/2006/ole">
            <mc:AlternateContent xmlns:mc="http://schemas.openxmlformats.org/markup-compatibility/2006">
              <mc:Choice xmlns:v="urn:schemas-microsoft-com:vml" Requires="v">
                <p:oleObj spid="_x0000_s8495" r:id="rId3" imgW="1459866" imgH="469696" progId="Equation.DSMT4">
                  <p:embed/>
                </p:oleObj>
              </mc:Choice>
              <mc:Fallback>
                <p:oleObj r:id="rId3" imgW="1459866" imgH="469696" progId="Equation.DSMT4">
                  <p:embed/>
                  <p:pic>
                    <p:nvPicPr>
                      <p:cNvPr id="35847" name="对象 19149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163" y="3573463"/>
                        <a:ext cx="2919732" cy="939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848" name="对象 191499"/>
          <p:cNvGraphicFramePr>
            <a:graphicFrameLocks noChangeAspect="1"/>
          </p:cNvGraphicFramePr>
          <p:nvPr>
            <p:extLst>
              <p:ext uri="{D42A27DB-BD31-4B8C-83A1-F6EECF244321}">
                <p14:modId xmlns:p14="http://schemas.microsoft.com/office/powerpoint/2010/main" val="1922311654"/>
              </p:ext>
            </p:extLst>
          </p:nvPr>
        </p:nvGraphicFramePr>
        <p:xfrm>
          <a:off x="827088" y="333375"/>
          <a:ext cx="1548728" cy="939392"/>
        </p:xfrm>
        <a:graphic>
          <a:graphicData uri="http://schemas.openxmlformats.org/presentationml/2006/ole">
            <mc:AlternateContent xmlns:mc="http://schemas.openxmlformats.org/markup-compatibility/2006">
              <mc:Choice xmlns:v="urn:schemas-microsoft-com:vml" Requires="v">
                <p:oleObj spid="_x0000_s8496" r:id="rId5" imgW="774364" imgH="469696" progId="Equation.DSMT4">
                  <p:embed/>
                </p:oleObj>
              </mc:Choice>
              <mc:Fallback>
                <p:oleObj r:id="rId5" imgW="774364" imgH="469696" progId="Equation.DSMT4">
                  <p:embed/>
                  <p:pic>
                    <p:nvPicPr>
                      <p:cNvPr id="35848" name="对象 19149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333375"/>
                        <a:ext cx="1548728" cy="939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849" name="对象 191500"/>
          <p:cNvGraphicFramePr>
            <a:graphicFrameLocks noChangeAspect="1"/>
          </p:cNvGraphicFramePr>
          <p:nvPr>
            <p:extLst>
              <p:ext uri="{D42A27DB-BD31-4B8C-83A1-F6EECF244321}">
                <p14:modId xmlns:p14="http://schemas.microsoft.com/office/powerpoint/2010/main" val="2908939889"/>
              </p:ext>
            </p:extLst>
          </p:nvPr>
        </p:nvGraphicFramePr>
        <p:xfrm>
          <a:off x="870950" y="1545755"/>
          <a:ext cx="1219200" cy="939800"/>
        </p:xfrm>
        <a:graphic>
          <a:graphicData uri="http://schemas.openxmlformats.org/presentationml/2006/ole">
            <mc:AlternateContent xmlns:mc="http://schemas.openxmlformats.org/markup-compatibility/2006">
              <mc:Choice xmlns:v="urn:schemas-microsoft-com:vml" Requires="v">
                <p:oleObj spid="_x0000_s8497" r:id="rId7" imgW="609600" imgH="469900" progId="Equation.DSMT4">
                  <p:embed/>
                </p:oleObj>
              </mc:Choice>
              <mc:Fallback>
                <p:oleObj r:id="rId7" imgW="609600" imgH="469900" progId="Equation.DSMT4">
                  <p:embed/>
                  <p:pic>
                    <p:nvPicPr>
                      <p:cNvPr id="35849" name="对象 19150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0950" y="1545755"/>
                        <a:ext cx="12192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0" name="右箭头 191502"/>
          <p:cNvSpPr>
            <a:spLocks noChangeArrowheads="1"/>
          </p:cNvSpPr>
          <p:nvPr/>
        </p:nvSpPr>
        <p:spPr bwMode="auto">
          <a:xfrm>
            <a:off x="2599845" y="1110047"/>
            <a:ext cx="863600" cy="412750"/>
          </a:xfrm>
          <a:prstGeom prst="rightArrow">
            <a:avLst>
              <a:gd name="adj1" fmla="val 50000"/>
              <a:gd name="adj2" fmla="val 52269"/>
            </a:avLst>
          </a:prstGeom>
          <a:solidFill>
            <a:schemeClr val="accent1"/>
          </a:solidFill>
          <a:ln w="9525">
            <a:solidFill>
              <a:schemeClr val="tx1"/>
            </a:solidFill>
            <a:miter lim="800000"/>
            <a:headEnd/>
            <a:tailEnd/>
          </a:ln>
        </p:spPr>
        <p:txBody>
          <a:bodyPr/>
          <a:lstStyle/>
          <a:p>
            <a:endParaRPr lang="zh-CN" altLang="en-US"/>
          </a:p>
        </p:txBody>
      </p:sp>
      <p:graphicFrame>
        <p:nvGraphicFramePr>
          <p:cNvPr id="35851" name="对象 191503"/>
          <p:cNvGraphicFramePr>
            <a:graphicFrameLocks/>
          </p:cNvGraphicFramePr>
          <p:nvPr/>
        </p:nvGraphicFramePr>
        <p:xfrm>
          <a:off x="3924300" y="333375"/>
          <a:ext cx="1403350" cy="787400"/>
        </p:xfrm>
        <a:graphic>
          <a:graphicData uri="http://schemas.openxmlformats.org/presentationml/2006/ole">
            <mc:AlternateContent xmlns:mc="http://schemas.openxmlformats.org/markup-compatibility/2006">
              <mc:Choice xmlns:v="urn:schemas-microsoft-com:vml" Requires="v">
                <p:oleObj spid="_x0000_s8498" r:id="rId9" imgW="698197" imgH="393529" progId="Equation.DSMT4">
                  <p:embed/>
                </p:oleObj>
              </mc:Choice>
              <mc:Fallback>
                <p:oleObj r:id="rId9" imgW="698197" imgH="393529" progId="Equation.DSMT4">
                  <p:embed/>
                  <p:pic>
                    <p:nvPicPr>
                      <p:cNvPr id="35851" name="对象 19150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4300" y="333375"/>
                        <a:ext cx="140335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2" name="左大括号 191505"/>
          <p:cNvSpPr>
            <a:spLocks/>
          </p:cNvSpPr>
          <p:nvPr/>
        </p:nvSpPr>
        <p:spPr bwMode="auto">
          <a:xfrm>
            <a:off x="3534883" y="681066"/>
            <a:ext cx="288925" cy="1384272"/>
          </a:xfrm>
          <a:prstGeom prst="leftBrace">
            <a:avLst>
              <a:gd name="adj1" fmla="val 55965"/>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53" name="矩形 191507"/>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5854" name="对象 191506"/>
          <p:cNvGraphicFramePr>
            <a:graphicFrameLocks noChangeAspect="1"/>
          </p:cNvGraphicFramePr>
          <p:nvPr>
            <p:extLst>
              <p:ext uri="{D42A27DB-BD31-4B8C-83A1-F6EECF244321}">
                <p14:modId xmlns:p14="http://schemas.microsoft.com/office/powerpoint/2010/main" val="3104683195"/>
              </p:ext>
            </p:extLst>
          </p:nvPr>
        </p:nvGraphicFramePr>
        <p:xfrm>
          <a:off x="3924299" y="1484312"/>
          <a:ext cx="1523338" cy="888614"/>
        </p:xfrm>
        <a:graphic>
          <a:graphicData uri="http://schemas.openxmlformats.org/presentationml/2006/ole">
            <mc:AlternateContent xmlns:mc="http://schemas.openxmlformats.org/markup-compatibility/2006">
              <mc:Choice xmlns:v="urn:schemas-microsoft-com:vml" Requires="v">
                <p:oleObj spid="_x0000_s8499" r:id="rId11" imgW="761669" imgH="444307" progId="Equation.DSMT4">
                  <p:embed/>
                </p:oleObj>
              </mc:Choice>
              <mc:Fallback>
                <p:oleObj r:id="rId11" imgW="761669" imgH="444307" progId="Equation.DSMT4">
                  <p:embed/>
                  <p:pic>
                    <p:nvPicPr>
                      <p:cNvPr id="35854" name="对象 19150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24299" y="1484312"/>
                        <a:ext cx="1523338" cy="888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5855" name="对象 191508"/>
          <p:cNvGraphicFramePr>
            <a:graphicFrameLocks noChangeAspect="1"/>
          </p:cNvGraphicFramePr>
          <p:nvPr>
            <p:extLst>
              <p:ext uri="{D42A27DB-BD31-4B8C-83A1-F6EECF244321}">
                <p14:modId xmlns:p14="http://schemas.microsoft.com/office/powerpoint/2010/main" val="2579117966"/>
              </p:ext>
            </p:extLst>
          </p:nvPr>
        </p:nvGraphicFramePr>
        <p:xfrm>
          <a:off x="2693987" y="2582070"/>
          <a:ext cx="3251200" cy="965200"/>
        </p:xfrm>
        <a:graphic>
          <a:graphicData uri="http://schemas.openxmlformats.org/presentationml/2006/ole">
            <mc:AlternateContent xmlns:mc="http://schemas.openxmlformats.org/markup-compatibility/2006">
              <mc:Choice xmlns:v="urn:schemas-microsoft-com:vml" Requires="v">
                <p:oleObj spid="_x0000_s8500" r:id="rId13" imgW="1625600" imgH="482600" progId="Equation.DSMT4">
                  <p:embed/>
                </p:oleObj>
              </mc:Choice>
              <mc:Fallback>
                <p:oleObj r:id="rId13" imgW="1625600" imgH="482600" progId="Equation.DSMT4">
                  <p:embed/>
                  <p:pic>
                    <p:nvPicPr>
                      <p:cNvPr id="35855" name="对象 19150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93987" y="2582070"/>
                        <a:ext cx="32512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6" name="右大括号 191510"/>
          <p:cNvSpPr>
            <a:spLocks/>
          </p:cNvSpPr>
          <p:nvPr/>
        </p:nvSpPr>
        <p:spPr bwMode="auto">
          <a:xfrm>
            <a:off x="6156325" y="620713"/>
            <a:ext cx="431800" cy="2592387"/>
          </a:xfrm>
          <a:prstGeom prst="rightBrace">
            <a:avLst>
              <a:gd name="adj1" fmla="val 49919"/>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35858" name="对象 191511"/>
          <p:cNvGraphicFramePr>
            <a:graphicFrameLocks noChangeAspect="1"/>
          </p:cNvGraphicFramePr>
          <p:nvPr>
            <p:extLst>
              <p:ext uri="{D42A27DB-BD31-4B8C-83A1-F6EECF244321}">
                <p14:modId xmlns:p14="http://schemas.microsoft.com/office/powerpoint/2010/main" val="1317322135"/>
              </p:ext>
            </p:extLst>
          </p:nvPr>
        </p:nvGraphicFramePr>
        <p:xfrm>
          <a:off x="7308850" y="1628775"/>
          <a:ext cx="990170" cy="482390"/>
        </p:xfrm>
        <a:graphic>
          <a:graphicData uri="http://schemas.openxmlformats.org/presentationml/2006/ole">
            <mc:AlternateContent xmlns:mc="http://schemas.openxmlformats.org/markup-compatibility/2006">
              <mc:Choice xmlns:v="urn:schemas-microsoft-com:vml" Requires="v">
                <p:oleObj spid="_x0000_s8501" r:id="rId15" imgW="495085" imgH="241195" progId="Equation.DSMT4">
                  <p:embed/>
                </p:oleObj>
              </mc:Choice>
              <mc:Fallback>
                <p:oleObj r:id="rId15" imgW="495085" imgH="241195" progId="Equation.DSMT4">
                  <p:embed/>
                  <p:pic>
                    <p:nvPicPr>
                      <p:cNvPr id="35858" name="对象 19151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08850" y="1628775"/>
                        <a:ext cx="990170" cy="482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59" name="右箭头 191513"/>
          <p:cNvSpPr>
            <a:spLocks noChangeArrowheads="1"/>
          </p:cNvSpPr>
          <p:nvPr/>
        </p:nvSpPr>
        <p:spPr bwMode="auto">
          <a:xfrm>
            <a:off x="6659563" y="1700213"/>
            <a:ext cx="504825" cy="360362"/>
          </a:xfrm>
          <a:prstGeom prst="rightArrow">
            <a:avLst>
              <a:gd name="adj1" fmla="val 50000"/>
              <a:gd name="adj2" fmla="val 34996"/>
            </a:avLst>
          </a:prstGeom>
          <a:solidFill>
            <a:schemeClr val="accent1"/>
          </a:solidFill>
          <a:ln w="9525">
            <a:solidFill>
              <a:schemeClr val="tx1"/>
            </a:solidFill>
            <a:miter lim="800000"/>
            <a:headEnd/>
            <a:tailEnd/>
          </a:ln>
        </p:spPr>
        <p:txBody>
          <a:bodyPr/>
          <a:lstStyle/>
          <a:p>
            <a:endParaRPr lang="zh-CN" altLang="en-US"/>
          </a:p>
        </p:txBody>
      </p:sp>
      <p:sp>
        <p:nvSpPr>
          <p:cNvPr id="35860" name="右箭头 191514"/>
          <p:cNvSpPr>
            <a:spLocks noChangeArrowheads="1"/>
          </p:cNvSpPr>
          <p:nvPr/>
        </p:nvSpPr>
        <p:spPr bwMode="auto">
          <a:xfrm rot="5400000">
            <a:off x="7056438" y="2744788"/>
            <a:ext cx="1439862" cy="360362"/>
          </a:xfrm>
          <a:prstGeom prst="rightArrow">
            <a:avLst>
              <a:gd name="adj1" fmla="val 50000"/>
              <a:gd name="adj2" fmla="val 99816"/>
            </a:avLst>
          </a:prstGeom>
          <a:solidFill>
            <a:schemeClr val="accent1"/>
          </a:solidFill>
          <a:ln w="9525">
            <a:solidFill>
              <a:schemeClr val="tx1"/>
            </a:solidFill>
            <a:miter lim="800000"/>
            <a:headEnd/>
            <a:tailEnd/>
          </a:ln>
        </p:spPr>
        <p:txBody>
          <a:bodyPr/>
          <a:lstStyle/>
          <a:p>
            <a:endParaRPr lang="zh-CN" altLang="en-US"/>
          </a:p>
        </p:txBody>
      </p:sp>
      <p:sp>
        <p:nvSpPr>
          <p:cNvPr id="35861" name="矩形 191515"/>
          <p:cNvSpPr>
            <a:spLocks noChangeArrowheads="1"/>
          </p:cNvSpPr>
          <p:nvPr/>
        </p:nvSpPr>
        <p:spPr bwMode="auto">
          <a:xfrm>
            <a:off x="192088" y="4749155"/>
            <a:ext cx="8879354" cy="461665"/>
          </a:xfrm>
          <a:prstGeom prst="rect">
            <a:avLst/>
          </a:prstGeom>
          <a:solidFill>
            <a:schemeClr val="bg1"/>
          </a:solidFill>
          <a:ln>
            <a:noFill/>
          </a:ln>
          <a:extLst/>
        </p:spPr>
        <p:txBody>
          <a:bodyPr wrap="none" anchor="ctr">
            <a:spAutoFit/>
          </a:bodyPr>
          <a:lstStyle/>
          <a:p>
            <a:r>
              <a:rPr lang="zh-CN" altLang="en-US" sz="2400" b="1" u="none" dirty="0"/>
              <a:t>基于范德瓦尔方程得到各种物质临界状态的压缩因子均等于</a:t>
            </a:r>
            <a:r>
              <a:rPr lang="en-US" altLang="zh-CN" sz="2400" b="1" u="none" dirty="0">
                <a:latin typeface="Times New Roman" panose="02020603050405020304" pitchFamily="18" charset="0"/>
              </a:rPr>
              <a:t>0.375</a:t>
            </a:r>
            <a:endParaRPr lang="en-US" altLang="zh-CN" sz="2400" b="1" dirty="0">
              <a:latin typeface="Times New Roman" panose="02020603050405020304" pitchFamily="18" charset="0"/>
            </a:endParaRPr>
          </a:p>
        </p:txBody>
      </p:sp>
      <p:sp>
        <p:nvSpPr>
          <p:cNvPr id="35862" name="右箭头 191516"/>
          <p:cNvSpPr>
            <a:spLocks noChangeArrowheads="1"/>
          </p:cNvSpPr>
          <p:nvPr/>
        </p:nvSpPr>
        <p:spPr bwMode="auto">
          <a:xfrm>
            <a:off x="3796049" y="5805488"/>
            <a:ext cx="504825" cy="360362"/>
          </a:xfrm>
          <a:prstGeom prst="rightArrow">
            <a:avLst>
              <a:gd name="adj1" fmla="val 50000"/>
              <a:gd name="adj2" fmla="val 34996"/>
            </a:avLst>
          </a:prstGeom>
          <a:solidFill>
            <a:schemeClr val="accent1"/>
          </a:solidFill>
          <a:ln w="9525">
            <a:solidFill>
              <a:schemeClr val="tx1"/>
            </a:solidFill>
            <a:miter lim="800000"/>
            <a:headEnd/>
            <a:tailEnd/>
          </a:ln>
        </p:spPr>
        <p:txBody>
          <a:bodyPr/>
          <a:lstStyle/>
          <a:p>
            <a:endParaRPr lang="zh-CN" altLang="en-US"/>
          </a:p>
        </p:txBody>
      </p:sp>
      <p:sp>
        <p:nvSpPr>
          <p:cNvPr id="35863" name="左大括号 191517"/>
          <p:cNvSpPr>
            <a:spLocks/>
          </p:cNvSpPr>
          <p:nvPr/>
        </p:nvSpPr>
        <p:spPr bwMode="auto">
          <a:xfrm>
            <a:off x="482937" y="757151"/>
            <a:ext cx="288925" cy="1296613"/>
          </a:xfrm>
          <a:prstGeom prst="leftBrace">
            <a:avLst>
              <a:gd name="adj1" fmla="val 55965"/>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 name="矩形 1"/>
          <p:cNvSpPr/>
          <p:nvPr/>
        </p:nvSpPr>
        <p:spPr>
          <a:xfrm>
            <a:off x="780516" y="5516563"/>
            <a:ext cx="2961912" cy="830997"/>
          </a:xfrm>
          <a:prstGeom prst="rect">
            <a:avLst/>
          </a:prstGeom>
        </p:spPr>
        <p:txBody>
          <a:bodyPr wrap="square">
            <a:spAutoFit/>
          </a:bodyPr>
          <a:lstStyle/>
          <a:p>
            <a:r>
              <a:rPr lang="zh-CN" altLang="en-US" sz="2400" b="1" dirty="0" smtClean="0"/>
              <a:t>不同物质的</a:t>
            </a:r>
            <a:r>
              <a:rPr lang="zh-CN" altLang="en-US" sz="2400" b="1" i="1" dirty="0" smtClean="0">
                <a:latin typeface="Times New Roman" panose="02020603050405020304" pitchFamily="18" charset="0"/>
                <a:cs typeface="Times New Roman" panose="02020603050405020304" pitchFamily="18" charset="0"/>
              </a:rPr>
              <a:t>Z</a:t>
            </a:r>
            <a:r>
              <a:rPr lang="en-US" altLang="zh-CN" sz="2400" b="1" baseline="-25000" dirty="0" err="1" smtClean="0">
                <a:latin typeface="Times New Roman" panose="02020603050405020304" pitchFamily="18" charset="0"/>
                <a:cs typeface="Times New Roman" panose="02020603050405020304" pitchFamily="18" charset="0"/>
              </a:rPr>
              <a:t>cr</a:t>
            </a:r>
            <a:r>
              <a:rPr lang="zh-CN" altLang="en-US" sz="2400" b="1" dirty="0" smtClean="0"/>
              <a:t>值并不相同</a:t>
            </a:r>
            <a:endParaRPr lang="zh-CN" altLang="en-US" sz="2400" b="1" dirty="0"/>
          </a:p>
        </p:txBody>
      </p:sp>
      <p:sp>
        <p:nvSpPr>
          <p:cNvPr id="3" name="矩形 2"/>
          <p:cNvSpPr/>
          <p:nvPr/>
        </p:nvSpPr>
        <p:spPr>
          <a:xfrm>
            <a:off x="4438866" y="5479666"/>
            <a:ext cx="3940296" cy="830997"/>
          </a:xfrm>
          <a:prstGeom prst="rect">
            <a:avLst/>
          </a:prstGeom>
        </p:spPr>
        <p:txBody>
          <a:bodyPr wrap="square">
            <a:spAutoFit/>
          </a:bodyPr>
          <a:lstStyle/>
          <a:p>
            <a:r>
              <a:rPr lang="zh-CN" altLang="en-US" sz="2400" b="1" dirty="0"/>
              <a:t>范德瓦尔</a:t>
            </a:r>
            <a:r>
              <a:rPr lang="zh-CN" altLang="en-US" sz="2400" b="1" dirty="0" smtClean="0"/>
              <a:t>方程用在</a:t>
            </a:r>
            <a:r>
              <a:rPr lang="zh-CN" altLang="en-US" sz="2400" b="1" dirty="0"/>
              <a:t>临界点或其附近区域有较大误差</a:t>
            </a:r>
          </a:p>
        </p:txBody>
      </p:sp>
    </p:spTree>
    <p:extLst>
      <p:ext uri="{BB962C8B-B14F-4D97-AF65-F5344CB8AC3E}">
        <p14:creationId xmlns:p14="http://schemas.microsoft.com/office/powerpoint/2010/main" val="42888102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48485"/>
          <p:cNvSpPr>
            <a:spLocks noGrp="1" noChangeArrowheads="1"/>
          </p:cNvSpPr>
          <p:nvPr>
            <p:ph type="title"/>
          </p:nvPr>
        </p:nvSpPr>
        <p:spPr/>
        <p:txBody>
          <a:bodyPr/>
          <a:lstStyle/>
          <a:p>
            <a:r>
              <a:rPr lang="zh-CN" altLang="en-US" sz="3600" b="1" smtClean="0"/>
              <a:t>范德瓦尔方程的重要历史价值</a:t>
            </a:r>
          </a:p>
        </p:txBody>
      </p:sp>
      <p:sp>
        <p:nvSpPr>
          <p:cNvPr id="148487" name="内容占位符 148486"/>
          <p:cNvSpPr>
            <a:spLocks noGrp="1" noChangeArrowheads="1"/>
          </p:cNvSpPr>
          <p:nvPr>
            <p:ph idx="1"/>
          </p:nvPr>
        </p:nvSpPr>
        <p:spPr/>
        <p:txBody>
          <a:bodyPr>
            <a:normAutofit/>
          </a:bodyPr>
          <a:lstStyle/>
          <a:p>
            <a:r>
              <a:rPr lang="zh-CN" altLang="en-US" sz="2800" b="1" dirty="0" smtClean="0"/>
              <a:t>虽然在临界点或其附近区域存在较大误差，但它开拓了一条研究实际气体状态方程的有效途径</a:t>
            </a:r>
          </a:p>
          <a:p>
            <a:r>
              <a:rPr lang="zh-CN" altLang="en-US" sz="2800" b="1" dirty="0" smtClean="0"/>
              <a:t>是非理想气体最简单、最基本的方程之一</a:t>
            </a:r>
          </a:p>
          <a:p>
            <a:r>
              <a:rPr lang="zh-CN" altLang="en-US" sz="2800" b="1" dirty="0" smtClean="0"/>
              <a:t>在此之后，很多学者对范德瓦尔方程作了进一步修正而提出许多状态方程，而这也正是本节将范德瓦尔方程放在第一个介绍的原因 </a:t>
            </a:r>
          </a:p>
        </p:txBody>
      </p:sp>
    </p:spTree>
    <p:custDataLst>
      <p:tags r:id="rId1"/>
    </p:custDataLst>
    <p:extLst>
      <p:ext uri="{BB962C8B-B14F-4D97-AF65-F5344CB8AC3E}">
        <p14:creationId xmlns:p14="http://schemas.microsoft.com/office/powerpoint/2010/main" val="15334186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8487">
                                            <p:txEl>
                                              <p:pRg st="1" end="1"/>
                                            </p:txEl>
                                          </p:spTgt>
                                        </p:tgtEl>
                                        <p:attrNameLst>
                                          <p:attrName>style.visibility</p:attrName>
                                        </p:attrNameLst>
                                      </p:cBhvr>
                                      <p:to>
                                        <p:strVal val="visible"/>
                                      </p:to>
                                    </p:set>
                                    <p:animEffect transition="in" filter="blinds(horizontal)">
                                      <p:cBhvr>
                                        <p:cTn id="7" dur="500"/>
                                        <p:tgtEl>
                                          <p:spTgt spid="1484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8487">
                                            <p:txEl>
                                              <p:pRg st="2" end="2"/>
                                            </p:txEl>
                                          </p:spTgt>
                                        </p:tgtEl>
                                        <p:attrNameLst>
                                          <p:attrName>style.visibility</p:attrName>
                                        </p:attrNameLst>
                                      </p:cBhvr>
                                      <p:to>
                                        <p:strVal val="visible"/>
                                      </p:to>
                                    </p:set>
                                    <p:animEffect transition="in" filter="blinds(horizontal)">
                                      <p:cBhvr>
                                        <p:cTn id="12" dur="500"/>
                                        <p:tgtEl>
                                          <p:spTgt spid="1484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图片 71684" descr="sta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404813"/>
            <a:ext cx="3733800" cy="535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矩形 71685"/>
          <p:cNvSpPr>
            <a:spLocks noChangeArrowheads="1"/>
          </p:cNvSpPr>
          <p:nvPr/>
        </p:nvSpPr>
        <p:spPr bwMode="auto">
          <a:xfrm>
            <a:off x="4572000" y="3692525"/>
            <a:ext cx="4033838"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u="none">
                <a:latin typeface="Times New Roman" panose="02020603050405020304" pitchFamily="18" charset="0"/>
                <a:ea typeface="楷体_GB2312" pitchFamily="49" charset="-122"/>
              </a:rPr>
              <a:t>因其在</a:t>
            </a:r>
            <a:r>
              <a:rPr lang="zh-CN" altLang="en-US" sz="3200" u="none">
                <a:solidFill>
                  <a:srgbClr val="FF0000"/>
                </a:solidFill>
                <a:latin typeface="Times New Roman" panose="02020603050405020304" pitchFamily="18" charset="0"/>
                <a:ea typeface="楷体_GB2312" pitchFamily="49" charset="-122"/>
              </a:rPr>
              <a:t>气态和液态物质方程的研究中</a:t>
            </a:r>
            <a:r>
              <a:rPr lang="zh-CN" altLang="en-US" sz="3200" u="none">
                <a:latin typeface="Times New Roman" panose="02020603050405020304" pitchFamily="18" charset="0"/>
                <a:ea typeface="楷体_GB2312" pitchFamily="49" charset="-122"/>
              </a:rPr>
              <a:t>的贡献，在</a:t>
            </a:r>
            <a:r>
              <a:rPr lang="en-US" altLang="zh-CN" sz="3200" u="none">
                <a:latin typeface="Times New Roman" panose="02020603050405020304" pitchFamily="18" charset="0"/>
                <a:ea typeface="楷体_GB2312" pitchFamily="49" charset="-122"/>
              </a:rPr>
              <a:t>1910</a:t>
            </a:r>
            <a:r>
              <a:rPr lang="zh-CN" altLang="en-US" sz="3200" u="none">
                <a:latin typeface="Times New Roman" panose="02020603050405020304" pitchFamily="18" charset="0"/>
                <a:ea typeface="楷体_GB2312" pitchFamily="49" charset="-122"/>
              </a:rPr>
              <a:t>年获得诺贝尔物理学奖。</a:t>
            </a:r>
          </a:p>
        </p:txBody>
      </p:sp>
      <p:sp>
        <p:nvSpPr>
          <p:cNvPr id="37891" name="矩形 71688"/>
          <p:cNvSpPr>
            <a:spLocks noChangeArrowheads="1"/>
          </p:cNvSpPr>
          <p:nvPr/>
        </p:nvSpPr>
        <p:spPr bwMode="auto">
          <a:xfrm>
            <a:off x="5003800" y="1268413"/>
            <a:ext cx="26225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u="none">
                <a:solidFill>
                  <a:srgbClr val="FF0000"/>
                </a:solidFill>
                <a:latin typeface="楷体_GB2312" pitchFamily="49" charset="-122"/>
                <a:ea typeface="楷体_GB2312" pitchFamily="49" charset="-122"/>
              </a:rPr>
              <a:t>范德瓦尔力</a:t>
            </a:r>
          </a:p>
          <a:p>
            <a:r>
              <a:rPr lang="zh-CN" altLang="en-US" sz="3200" u="none">
                <a:solidFill>
                  <a:srgbClr val="FF0000"/>
                </a:solidFill>
                <a:latin typeface="楷体_GB2312" pitchFamily="49" charset="-122"/>
                <a:ea typeface="楷体_GB2312" pitchFamily="49" charset="-122"/>
              </a:rPr>
              <a:t>范德瓦尔半径</a:t>
            </a:r>
          </a:p>
        </p:txBody>
      </p:sp>
      <p:sp>
        <p:nvSpPr>
          <p:cNvPr id="37892" name="矩形 71690"/>
          <p:cNvSpPr>
            <a:spLocks noChangeArrowheads="1"/>
          </p:cNvSpPr>
          <p:nvPr/>
        </p:nvSpPr>
        <p:spPr bwMode="auto">
          <a:xfrm>
            <a:off x="468313" y="5948363"/>
            <a:ext cx="39227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u="none">
                <a:latin typeface="Times New Roman" panose="02020603050405020304" pitchFamily="18" charset="0"/>
              </a:rPr>
              <a:t>Van der Waals</a:t>
            </a:r>
            <a:r>
              <a:rPr lang="zh-CN" altLang="en-US" u="none">
                <a:latin typeface="Times New Roman" panose="02020603050405020304" pitchFamily="18" charset="0"/>
              </a:rPr>
              <a:t>（</a:t>
            </a:r>
            <a:r>
              <a:rPr lang="en-US" altLang="zh-CN" u="none">
                <a:latin typeface="Times New Roman" panose="02020603050405020304" pitchFamily="18" charset="0"/>
              </a:rPr>
              <a:t>1837~1923</a:t>
            </a:r>
            <a:r>
              <a:rPr lang="zh-CN" altLang="en-US" u="none">
                <a:latin typeface="Times New Roman" panose="02020603050405020304" pitchFamily="18" charset="0"/>
              </a:rPr>
              <a:t>）</a:t>
            </a:r>
            <a:r>
              <a:rPr lang="zh-CN" altLang="en-US" u="none"/>
              <a:t> </a:t>
            </a:r>
          </a:p>
        </p:txBody>
      </p:sp>
    </p:spTree>
    <p:extLst>
      <p:ext uri="{BB962C8B-B14F-4D97-AF65-F5344CB8AC3E}">
        <p14:creationId xmlns:p14="http://schemas.microsoft.com/office/powerpoint/2010/main" val="3603785605"/>
      </p:ext>
    </p:extLst>
  </p:cSld>
  <p:clrMapOvr>
    <a:masterClrMapping/>
  </p:clrMapOvr>
  <p:transition/>
  <p:timing>
    <p:tnLst>
      <p:par>
        <p:cTn id="1" dur="indefinite" restart="never" nodeType="tmRoot"/>
      </p:par>
    </p:tnLst>
  </p:timing>
  <p:extLst mod="1"/>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3" name="文本占位符 1026"/>
          <p:cNvSpPr>
            <a:spLocks noGrp="1" noChangeArrowheads="1"/>
          </p:cNvSpPr>
          <p:nvPr>
            <p:ph idx="1"/>
          </p:nvPr>
        </p:nvSpPr>
        <p:spPr>
          <a:xfrm>
            <a:off x="590550" y="455613"/>
            <a:ext cx="7772400" cy="1211262"/>
          </a:xfrm>
        </p:spPr>
        <p:txBody>
          <a:bodyPr>
            <a:normAutofit/>
          </a:bodyPr>
          <a:lstStyle/>
          <a:p>
            <a:pPr>
              <a:lnSpc>
                <a:spcPct val="90000"/>
              </a:lnSpc>
              <a:buFontTx/>
              <a:buNone/>
            </a:pPr>
            <a:r>
              <a:rPr lang="zh-CN" altLang="en-US" sz="3200" b="1" dirty="0" smtClean="0"/>
              <a:t>二、</a:t>
            </a:r>
            <a:r>
              <a:rPr lang="en-US" altLang="zh-CN" sz="3200" b="1" dirty="0" smtClean="0">
                <a:latin typeface="Times New Roman" panose="02020603050405020304" pitchFamily="18" charset="0"/>
              </a:rPr>
              <a:t>R-K</a:t>
            </a:r>
            <a:r>
              <a:rPr lang="zh-CN" altLang="en-US" sz="3200" b="1" dirty="0" smtClean="0">
                <a:latin typeface="Times New Roman" panose="02020603050405020304" pitchFamily="18" charset="0"/>
              </a:rPr>
              <a:t>方程（</a:t>
            </a:r>
            <a:r>
              <a:rPr lang="en-US" altLang="zh-CN" sz="3200" b="1" dirty="0" smtClean="0">
                <a:latin typeface="Times New Roman" panose="02020603050405020304" pitchFamily="18" charset="0"/>
              </a:rPr>
              <a:t>1949</a:t>
            </a:r>
            <a:r>
              <a:rPr lang="zh-CN" altLang="en-US" sz="3200" b="1" dirty="0" smtClean="0">
                <a:latin typeface="Times New Roman" panose="02020603050405020304" pitchFamily="18" charset="0"/>
              </a:rPr>
              <a:t>年）</a:t>
            </a:r>
          </a:p>
        </p:txBody>
      </p:sp>
      <p:sp>
        <p:nvSpPr>
          <p:cNvPr id="38914" name="文本框 1029"/>
          <p:cNvSpPr txBox="1">
            <a:spLocks noChangeArrowheads="1"/>
          </p:cNvSpPr>
          <p:nvPr/>
        </p:nvSpPr>
        <p:spPr bwMode="auto">
          <a:xfrm>
            <a:off x="640030" y="1346789"/>
            <a:ext cx="772292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800" b="1" u="none" dirty="0" smtClean="0">
                <a:latin typeface="Times New Roman" panose="02020603050405020304" pitchFamily="18" charset="0"/>
              </a:rPr>
              <a:t>R-K</a:t>
            </a:r>
            <a:r>
              <a:rPr lang="zh-CN" altLang="en-US" sz="2800" b="1" u="none" dirty="0"/>
              <a:t>方程是在</a:t>
            </a:r>
            <a:r>
              <a:rPr lang="zh-CN" altLang="en-US" sz="2800" b="1" u="none" dirty="0">
                <a:solidFill>
                  <a:srgbClr val="FF0000"/>
                </a:solidFill>
              </a:rPr>
              <a:t>范德瓦尔方程的基础</a:t>
            </a:r>
            <a:r>
              <a:rPr lang="zh-CN" altLang="en-US" sz="2800" b="1" u="none" dirty="0"/>
              <a:t>上</a:t>
            </a:r>
            <a:r>
              <a:rPr lang="zh-CN" altLang="en-US" sz="2800" b="1" u="none" dirty="0">
                <a:solidFill>
                  <a:srgbClr val="FF0000"/>
                </a:solidFill>
              </a:rPr>
              <a:t>对内压力项</a:t>
            </a:r>
            <a:r>
              <a:rPr lang="zh-CN" altLang="en-US" sz="2800" b="1" u="none" dirty="0"/>
              <a:t>进行了修正，提高了精度。</a:t>
            </a:r>
          </a:p>
        </p:txBody>
      </p:sp>
      <p:sp>
        <p:nvSpPr>
          <p:cNvPr id="38915" name="矩形 1034"/>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8916" name="对象 1033"/>
          <p:cNvGraphicFramePr>
            <a:graphicFrameLocks noChangeAspect="1"/>
          </p:cNvGraphicFramePr>
          <p:nvPr>
            <p:extLst>
              <p:ext uri="{D42A27DB-BD31-4B8C-83A1-F6EECF244321}">
                <p14:modId xmlns:p14="http://schemas.microsoft.com/office/powerpoint/2010/main" val="3368801611"/>
              </p:ext>
            </p:extLst>
          </p:nvPr>
        </p:nvGraphicFramePr>
        <p:xfrm>
          <a:off x="960390" y="2943536"/>
          <a:ext cx="3211705" cy="1033331"/>
        </p:xfrm>
        <a:graphic>
          <a:graphicData uri="http://schemas.openxmlformats.org/presentationml/2006/ole">
            <mc:AlternateContent xmlns:mc="http://schemas.openxmlformats.org/markup-compatibility/2006">
              <mc:Choice xmlns:v="urn:schemas-microsoft-com:vml" Requires="v">
                <p:oleObj spid="_x0000_s9344" r:id="rId3" imgW="1459866" imgH="469696" progId="Equation.DSMT4">
                  <p:embed/>
                </p:oleObj>
              </mc:Choice>
              <mc:Fallback>
                <p:oleObj r:id="rId3" imgW="1459866" imgH="469696" progId="Equation.DSMT4">
                  <p:embed/>
                  <p:pic>
                    <p:nvPicPr>
                      <p:cNvPr id="38916" name="对象 103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390" y="2943536"/>
                        <a:ext cx="3211705" cy="1033331"/>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17" name="矩形 1036"/>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8918" name="对象 1035"/>
          <p:cNvGraphicFramePr>
            <a:graphicFrameLocks noChangeAspect="1"/>
          </p:cNvGraphicFramePr>
          <p:nvPr>
            <p:extLst>
              <p:ext uri="{D42A27DB-BD31-4B8C-83A1-F6EECF244321}">
                <p14:modId xmlns:p14="http://schemas.microsoft.com/office/powerpoint/2010/main" val="184391108"/>
              </p:ext>
            </p:extLst>
          </p:nvPr>
        </p:nvGraphicFramePr>
        <p:xfrm>
          <a:off x="4984750" y="2568575"/>
          <a:ext cx="2361176" cy="939392"/>
        </p:xfrm>
        <a:graphic>
          <a:graphicData uri="http://schemas.openxmlformats.org/presentationml/2006/ole">
            <mc:AlternateContent xmlns:mc="http://schemas.openxmlformats.org/markup-compatibility/2006">
              <mc:Choice xmlns:v="urn:schemas-microsoft-com:vml" Requires="v">
                <p:oleObj spid="_x0000_s9345" r:id="rId5" imgW="1180588" imgH="469696" progId="Equation.DSMT4">
                  <p:embed/>
                </p:oleObj>
              </mc:Choice>
              <mc:Fallback>
                <p:oleObj r:id="rId5" imgW="1180588" imgH="469696" progId="Equation.DSMT4">
                  <p:embed/>
                  <p:pic>
                    <p:nvPicPr>
                      <p:cNvPr id="38918" name="对象 103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4750" y="2568575"/>
                        <a:ext cx="2361176" cy="939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19" name="矩形 1038"/>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8920" name="对象 1037"/>
          <p:cNvGraphicFramePr>
            <a:graphicFrameLocks noChangeAspect="1"/>
          </p:cNvGraphicFramePr>
          <p:nvPr>
            <p:extLst>
              <p:ext uri="{D42A27DB-BD31-4B8C-83A1-F6EECF244321}">
                <p14:modId xmlns:p14="http://schemas.microsoft.com/office/powerpoint/2010/main" val="2116409439"/>
              </p:ext>
            </p:extLst>
          </p:nvPr>
        </p:nvGraphicFramePr>
        <p:xfrm>
          <a:off x="4992883" y="3485873"/>
          <a:ext cx="2209800" cy="939800"/>
        </p:xfrm>
        <a:graphic>
          <a:graphicData uri="http://schemas.openxmlformats.org/presentationml/2006/ole">
            <mc:AlternateContent xmlns:mc="http://schemas.openxmlformats.org/markup-compatibility/2006">
              <mc:Choice xmlns:v="urn:schemas-microsoft-com:vml" Requires="v">
                <p:oleObj spid="_x0000_s9346" r:id="rId7" imgW="1104900" imgH="469900" progId="Equation.DSMT4">
                  <p:embed/>
                </p:oleObj>
              </mc:Choice>
              <mc:Fallback>
                <p:oleObj r:id="rId7" imgW="1104900" imgH="469900" progId="Equation.DSMT4">
                  <p:embed/>
                  <p:pic>
                    <p:nvPicPr>
                      <p:cNvPr id="38920" name="对象 103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92883" y="3485873"/>
                        <a:ext cx="22098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21" name="文本框 1"/>
          <p:cNvSpPr txBox="1">
            <a:spLocks noChangeArrowheads="1"/>
          </p:cNvSpPr>
          <p:nvPr/>
        </p:nvSpPr>
        <p:spPr bwMode="auto">
          <a:xfrm>
            <a:off x="447675" y="4954394"/>
            <a:ext cx="82486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u="none" dirty="0">
                <a:latin typeface="Times New Roman" panose="02020603050405020304" pitchFamily="18" charset="0"/>
              </a:rPr>
              <a:t>由</a:t>
            </a:r>
            <a:r>
              <a:rPr lang="de-DE" altLang="zh-CN" sz="2400" b="1" u="none" dirty="0">
                <a:latin typeface="Times New Roman" panose="02020603050405020304" pitchFamily="18" charset="0"/>
              </a:rPr>
              <a:t>O. Redlich</a:t>
            </a:r>
            <a:r>
              <a:rPr lang="zh-CN" altLang="en-US" sz="2400" b="1" u="none" dirty="0">
                <a:latin typeface="Times New Roman" panose="02020603050405020304" pitchFamily="18" charset="0"/>
              </a:rPr>
              <a:t>和</a:t>
            </a:r>
            <a:r>
              <a:rPr lang="de-DE" altLang="zh-CN" sz="2400" b="1" u="none" dirty="0">
                <a:latin typeface="Times New Roman" panose="02020603050405020304" pitchFamily="18" charset="0"/>
              </a:rPr>
              <a:t>J. N. S. </a:t>
            </a:r>
            <a:r>
              <a:rPr lang="en-US" altLang="zh-CN" sz="2400" b="1" u="none" dirty="0" err="1">
                <a:latin typeface="Times New Roman" panose="02020603050405020304" pitchFamily="18" charset="0"/>
              </a:rPr>
              <a:t>Kwong</a:t>
            </a:r>
            <a:r>
              <a:rPr lang="zh-CN" altLang="en-US" sz="2400" b="1" u="none" dirty="0">
                <a:latin typeface="Times New Roman" panose="02020603050405020304" pitchFamily="18" charset="0"/>
              </a:rPr>
              <a:t>两人提出，该方程仅两个参数，精度较高，使用起来简便，因此工程上应用广泛</a:t>
            </a:r>
          </a:p>
        </p:txBody>
      </p:sp>
    </p:spTree>
    <p:extLst>
      <p:ext uri="{BB962C8B-B14F-4D97-AF65-F5344CB8AC3E}">
        <p14:creationId xmlns:p14="http://schemas.microsoft.com/office/powerpoint/2010/main" val="3035823049"/>
      </p:ext>
    </p:extLst>
  </p:cSld>
  <p:clrMapOvr>
    <a:masterClrMapping/>
  </p:clrMapOvr>
  <p:transition/>
  <p:timing>
    <p:tnLst>
      <p:par>
        <p:cTn id="1" dur="indefinite" restart="never" nodeType="tmRoot"/>
      </p:par>
    </p:tnLst>
  </p:timing>
  <p:extLst mod="1"/>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6385"/>
          <p:cNvSpPr>
            <a:spLocks noGrp="1" noChangeArrowheads="1"/>
          </p:cNvSpPr>
          <p:nvPr>
            <p:ph type="title"/>
          </p:nvPr>
        </p:nvSpPr>
        <p:spPr/>
        <p:txBody>
          <a:bodyPr/>
          <a:lstStyle/>
          <a:p>
            <a:pPr algn="l"/>
            <a:r>
              <a:rPr lang="zh-CN" altLang="en-US" sz="3200" b="1" smtClean="0">
                <a:solidFill>
                  <a:schemeClr val="tx1"/>
                </a:solidFill>
              </a:rPr>
              <a:t>三、维里方程（</a:t>
            </a:r>
            <a:r>
              <a:rPr lang="en-US" altLang="zh-CN" sz="3200" b="1" smtClean="0">
                <a:solidFill>
                  <a:schemeClr val="tx1"/>
                </a:solidFill>
                <a:latin typeface="Times New Roman" panose="02020603050405020304" pitchFamily="18" charset="0"/>
              </a:rPr>
              <a:t>1901</a:t>
            </a:r>
            <a:r>
              <a:rPr lang="zh-CN" altLang="en-US" sz="3200" b="1" smtClean="0">
                <a:solidFill>
                  <a:schemeClr val="tx1"/>
                </a:solidFill>
              </a:rPr>
              <a:t>年）</a:t>
            </a:r>
          </a:p>
        </p:txBody>
      </p:sp>
      <p:graphicFrame>
        <p:nvGraphicFramePr>
          <p:cNvPr id="39938" name="对象 16387"/>
          <p:cNvGraphicFramePr>
            <a:graphicFrameLocks/>
          </p:cNvGraphicFramePr>
          <p:nvPr/>
        </p:nvGraphicFramePr>
        <p:xfrm>
          <a:off x="3055938" y="1630363"/>
          <a:ext cx="5295900" cy="1065212"/>
        </p:xfrm>
        <a:graphic>
          <a:graphicData uri="http://schemas.openxmlformats.org/presentationml/2006/ole">
            <mc:AlternateContent xmlns:mc="http://schemas.openxmlformats.org/markup-compatibility/2006">
              <mc:Choice xmlns:v="urn:schemas-microsoft-com:vml" Requires="v">
                <p:oleObj spid="_x0000_s10284" r:id="rId3" imgW="2208841" imgH="444307" progId="Equation.3">
                  <p:embed/>
                </p:oleObj>
              </mc:Choice>
              <mc:Fallback>
                <p:oleObj r:id="rId3" imgW="2208841" imgH="444307" progId="Equation.3">
                  <p:embed/>
                  <p:pic>
                    <p:nvPicPr>
                      <p:cNvPr id="39938" name="对象 1638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5938" y="1630363"/>
                        <a:ext cx="5295900" cy="106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9939" name="图片 16390" descr="Kamerlingh portret.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630363"/>
            <a:ext cx="19050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矩形 16391"/>
          <p:cNvSpPr>
            <a:spLocks noChangeArrowheads="1"/>
          </p:cNvSpPr>
          <p:nvPr/>
        </p:nvSpPr>
        <p:spPr bwMode="auto">
          <a:xfrm>
            <a:off x="179388" y="4332288"/>
            <a:ext cx="32972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u="none">
                <a:latin typeface="Times New Roman" panose="02020603050405020304" pitchFamily="18" charset="0"/>
              </a:rPr>
              <a:t>Heike Kamerlingh Onnes</a:t>
            </a:r>
          </a:p>
          <a:p>
            <a:r>
              <a:rPr lang="zh-CN" altLang="en-US" u="none">
                <a:latin typeface="Times New Roman" panose="02020603050405020304" pitchFamily="18" charset="0"/>
              </a:rPr>
              <a:t>（</a:t>
            </a:r>
            <a:r>
              <a:rPr lang="en-US" altLang="zh-CN" u="none">
                <a:latin typeface="Times New Roman" panose="02020603050405020304" pitchFamily="18" charset="0"/>
              </a:rPr>
              <a:t>1853-1926</a:t>
            </a:r>
            <a:r>
              <a:rPr lang="zh-CN" altLang="en-US" u="none">
                <a:latin typeface="Times New Roman" panose="02020603050405020304" pitchFamily="18" charset="0"/>
              </a:rPr>
              <a:t>）</a:t>
            </a:r>
          </a:p>
        </p:txBody>
      </p:sp>
      <p:sp>
        <p:nvSpPr>
          <p:cNvPr id="39941" name="矩形 16392"/>
          <p:cNvSpPr>
            <a:spLocks noChangeArrowheads="1"/>
          </p:cNvSpPr>
          <p:nvPr/>
        </p:nvSpPr>
        <p:spPr bwMode="auto">
          <a:xfrm>
            <a:off x="414338" y="5311051"/>
            <a:ext cx="80025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1" u="none" dirty="0">
                <a:solidFill>
                  <a:srgbClr val="0070C0"/>
                </a:solidFill>
                <a:latin typeface="Times New Roman" panose="02020603050405020304" pitchFamily="18" charset="0"/>
              </a:rPr>
              <a:t>荷兰物理学家，</a:t>
            </a:r>
            <a:r>
              <a:rPr lang="en-US" altLang="zh-CN" sz="2000" b="1" u="none" dirty="0">
                <a:solidFill>
                  <a:srgbClr val="0070C0"/>
                </a:solidFill>
                <a:latin typeface="Times New Roman" panose="02020603050405020304" pitchFamily="18" charset="0"/>
              </a:rPr>
              <a:t>1911</a:t>
            </a:r>
            <a:r>
              <a:rPr lang="zh-CN" altLang="en-US" sz="2000" b="1" u="none" dirty="0">
                <a:solidFill>
                  <a:srgbClr val="0070C0"/>
                </a:solidFill>
                <a:latin typeface="Times New Roman" panose="02020603050405020304" pitchFamily="18" charset="0"/>
              </a:rPr>
              <a:t>年发现了物体的超导性，低温物理学的奠基人，</a:t>
            </a:r>
            <a:r>
              <a:rPr lang="en-US" altLang="zh-CN" sz="2000" b="1" u="none" dirty="0">
                <a:solidFill>
                  <a:srgbClr val="0070C0"/>
                </a:solidFill>
                <a:latin typeface="Times New Roman" panose="02020603050405020304" pitchFamily="18" charset="0"/>
              </a:rPr>
              <a:t>1913</a:t>
            </a:r>
            <a:r>
              <a:rPr lang="zh-CN" altLang="en-US" sz="2000" b="1" u="none" dirty="0">
                <a:solidFill>
                  <a:srgbClr val="0070C0"/>
                </a:solidFill>
                <a:latin typeface="Times New Roman" panose="02020603050405020304" pitchFamily="18" charset="0"/>
              </a:rPr>
              <a:t>年获诺</a:t>
            </a:r>
            <a:r>
              <a:rPr lang="zh-CN" altLang="en-US" sz="2000" b="1" u="none" dirty="0">
                <a:solidFill>
                  <a:srgbClr val="0070C0"/>
                </a:solidFill>
              </a:rPr>
              <a:t>贝尔物理学奖</a:t>
            </a:r>
            <a:endParaRPr lang="zh-CN" altLang="en-US" sz="2000" b="1" dirty="0">
              <a:solidFill>
                <a:srgbClr val="0070C0"/>
              </a:solidFill>
            </a:endParaRPr>
          </a:p>
        </p:txBody>
      </p:sp>
      <p:sp>
        <p:nvSpPr>
          <p:cNvPr id="39942" name="文本框 1"/>
          <p:cNvSpPr txBox="1">
            <a:spLocks noChangeArrowheads="1"/>
          </p:cNvSpPr>
          <p:nvPr/>
        </p:nvSpPr>
        <p:spPr bwMode="auto">
          <a:xfrm>
            <a:off x="2774156" y="3212774"/>
            <a:ext cx="58594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u="none" dirty="0"/>
              <a:t>“维里”一词来源于拉丁文</a:t>
            </a:r>
            <a:r>
              <a:rPr lang="zh-CN" altLang="en-US" sz="2400" b="1" u="none" dirty="0">
                <a:latin typeface="Times New Roman" panose="02020603050405020304" pitchFamily="18" charset="0"/>
              </a:rPr>
              <a:t>virial</a:t>
            </a:r>
            <a:r>
              <a:rPr lang="zh-CN" altLang="en-US" sz="2400" b="1" u="none" dirty="0"/>
              <a:t>，即“力”</a:t>
            </a:r>
          </a:p>
        </p:txBody>
      </p:sp>
    </p:spTree>
    <p:extLst>
      <p:ext uri="{BB962C8B-B14F-4D97-AF65-F5344CB8AC3E}">
        <p14:creationId xmlns:p14="http://schemas.microsoft.com/office/powerpoint/2010/main" val="3513019366"/>
      </p:ext>
    </p:extLst>
  </p:cSld>
  <p:clrMapOvr>
    <a:masterClrMapping/>
  </p:clrMapOvr>
  <p:transition/>
  <p:timing>
    <p:tnLst>
      <p:par>
        <p:cTn id="1" dur="indefinite" restart="never" nodeType="tmRoot"/>
      </p:par>
    </p:tnLst>
  </p:timing>
  <p:extLst mod="1"/>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文本占位符 153602"/>
          <p:cNvSpPr>
            <a:spLocks noGrp="1" noChangeArrowheads="1"/>
          </p:cNvSpPr>
          <p:nvPr>
            <p:ph idx="1"/>
          </p:nvPr>
        </p:nvSpPr>
        <p:spPr>
          <a:xfrm>
            <a:off x="457200" y="1989138"/>
            <a:ext cx="8229600" cy="4525962"/>
          </a:xfrm>
        </p:spPr>
        <p:txBody>
          <a:bodyPr>
            <a:normAutofit/>
          </a:bodyPr>
          <a:lstStyle/>
          <a:p>
            <a:pPr>
              <a:lnSpc>
                <a:spcPct val="90000"/>
              </a:lnSpc>
            </a:pPr>
            <a:r>
              <a:rPr lang="zh-CN" altLang="en-US" sz="2800" b="1" dirty="0" smtClean="0">
                <a:latin typeface="Times New Roman" panose="02020603050405020304" pitchFamily="18" charset="0"/>
              </a:rPr>
              <a:t>维里系数</a:t>
            </a:r>
            <a:r>
              <a:rPr lang="en-US" altLang="zh-CN" sz="2800" b="1" i="1" dirty="0" smtClean="0">
                <a:latin typeface="Times New Roman" panose="02020603050405020304" pitchFamily="18" charset="0"/>
              </a:rPr>
              <a:t>B</a:t>
            </a:r>
            <a:r>
              <a:rPr lang="zh-CN" altLang="en-US" sz="2800" b="1" dirty="0" smtClean="0">
                <a:latin typeface="Times New Roman" panose="02020603050405020304" pitchFamily="18" charset="0"/>
              </a:rPr>
              <a:t>、</a:t>
            </a:r>
            <a:r>
              <a:rPr lang="en-US" altLang="zh-CN" sz="2800" b="1" i="1" dirty="0" smtClean="0">
                <a:latin typeface="Times New Roman" panose="02020603050405020304" pitchFamily="18" charset="0"/>
              </a:rPr>
              <a:t>C</a:t>
            </a:r>
            <a:r>
              <a:rPr lang="zh-CN" altLang="en-US" sz="2800" b="1" dirty="0" smtClean="0">
                <a:latin typeface="Times New Roman" panose="02020603050405020304" pitchFamily="18" charset="0"/>
              </a:rPr>
              <a:t>、</a:t>
            </a:r>
            <a:r>
              <a:rPr lang="en-US" altLang="zh-CN" sz="2800" b="1" i="1" dirty="0" smtClean="0">
                <a:latin typeface="Times New Roman" panose="02020603050405020304" pitchFamily="18" charset="0"/>
              </a:rPr>
              <a:t>D</a:t>
            </a:r>
            <a:r>
              <a:rPr lang="zh-CN" altLang="en-US" sz="2800" b="1" dirty="0" smtClean="0">
                <a:latin typeface="Times New Roman" panose="02020603050405020304" pitchFamily="18" charset="0"/>
              </a:rPr>
              <a:t>等仅为温度的函数，具体值可以通过实验或统计力学的方法得到</a:t>
            </a:r>
          </a:p>
          <a:p>
            <a:pPr>
              <a:lnSpc>
                <a:spcPct val="90000"/>
              </a:lnSpc>
            </a:pPr>
            <a:r>
              <a:rPr lang="zh-CN" altLang="en-US" sz="2800" b="1" dirty="0" smtClean="0">
                <a:latin typeface="Times New Roman" panose="02020603050405020304" pitchFamily="18" charset="0"/>
              </a:rPr>
              <a:t>维里系数的物理含义在统计物理中有一定的解释，例如，</a:t>
            </a:r>
            <a:r>
              <a:rPr lang="zh-CN" altLang="en-US" sz="2800" b="1" dirty="0" smtClean="0">
                <a:solidFill>
                  <a:srgbClr val="FF0000"/>
                </a:solidFill>
                <a:latin typeface="Times New Roman" panose="02020603050405020304" pitchFamily="18" charset="0"/>
              </a:rPr>
              <a:t>第二维里系数</a:t>
            </a:r>
            <a:r>
              <a:rPr lang="en-US" altLang="zh-CN" sz="2800" b="1" i="1" dirty="0" smtClean="0">
                <a:solidFill>
                  <a:srgbClr val="FF0000"/>
                </a:solidFill>
                <a:latin typeface="Times New Roman" panose="02020603050405020304" pitchFamily="18" charset="0"/>
              </a:rPr>
              <a:t>B</a:t>
            </a:r>
            <a:r>
              <a:rPr lang="zh-CN" altLang="en-US" sz="2800" b="1" dirty="0" smtClean="0">
                <a:latin typeface="Times New Roman" panose="02020603050405020304" pitchFamily="18" charset="0"/>
              </a:rPr>
              <a:t>反映了一对分子间的相互作用造成的气体性质与理想气体的偏差，</a:t>
            </a:r>
            <a:r>
              <a:rPr lang="zh-CN" altLang="en-US" sz="2800" b="1" dirty="0" smtClean="0">
                <a:solidFill>
                  <a:srgbClr val="FF00FF"/>
                </a:solidFill>
                <a:latin typeface="Times New Roman" panose="02020603050405020304" pitchFamily="18" charset="0"/>
              </a:rPr>
              <a:t>第三维里系数</a:t>
            </a:r>
            <a:r>
              <a:rPr lang="en-US" altLang="zh-CN" sz="2800" b="1" i="1" dirty="0" smtClean="0">
                <a:solidFill>
                  <a:srgbClr val="FF00FF"/>
                </a:solidFill>
                <a:latin typeface="Times New Roman" panose="02020603050405020304" pitchFamily="18" charset="0"/>
              </a:rPr>
              <a:t>C</a:t>
            </a:r>
            <a:r>
              <a:rPr lang="zh-CN" altLang="en-US" sz="2800" b="1" dirty="0" smtClean="0">
                <a:latin typeface="Times New Roman" panose="02020603050405020304" pitchFamily="18" charset="0"/>
              </a:rPr>
              <a:t>反映了三个分子间的相互作用造成的偏差，等等 </a:t>
            </a:r>
          </a:p>
          <a:p>
            <a:pPr>
              <a:lnSpc>
                <a:spcPct val="90000"/>
              </a:lnSpc>
            </a:pPr>
            <a:r>
              <a:rPr lang="zh-CN" altLang="en-US" sz="2800" b="1" dirty="0" smtClean="0">
                <a:latin typeface="Times New Roman" panose="02020603050405020304" pitchFamily="18" charset="0"/>
              </a:rPr>
              <a:t>当压力趋近于</a:t>
            </a:r>
            <a:r>
              <a:rPr lang="en-US" altLang="zh-CN" sz="2800" b="1" dirty="0" smtClean="0">
                <a:latin typeface="Times New Roman" panose="02020603050405020304" pitchFamily="18" charset="0"/>
              </a:rPr>
              <a:t>0</a:t>
            </a:r>
            <a:r>
              <a:rPr lang="zh-CN" altLang="en-US" sz="2800" b="1" dirty="0" smtClean="0">
                <a:latin typeface="Times New Roman" panose="02020603050405020304" pitchFamily="18" charset="0"/>
              </a:rPr>
              <a:t>时，上式可退化为</a:t>
            </a:r>
            <a:r>
              <a:rPr lang="en-US" altLang="zh-CN" sz="2800" b="1" i="1" dirty="0" smtClean="0">
                <a:latin typeface="Times New Roman" panose="02020603050405020304" pitchFamily="18" charset="0"/>
              </a:rPr>
              <a:t>Z</a:t>
            </a:r>
            <a:r>
              <a:rPr lang="en-US" altLang="zh-CN" sz="2800" b="1" dirty="0" smtClean="0">
                <a:latin typeface="Times New Roman" panose="02020603050405020304" pitchFamily="18" charset="0"/>
              </a:rPr>
              <a:t>=1</a:t>
            </a:r>
            <a:r>
              <a:rPr lang="zh-CN" altLang="en-US" sz="2800" b="1" dirty="0" smtClean="0">
                <a:latin typeface="Times New Roman" panose="02020603050405020304" pitchFamily="18" charset="0"/>
              </a:rPr>
              <a:t>，也就是理想气体的状态方程</a:t>
            </a:r>
            <a:r>
              <a:rPr lang="zh-CN" altLang="en-US" sz="2800" dirty="0" smtClean="0">
                <a:latin typeface="Times New Roman" panose="02020603050405020304" pitchFamily="18" charset="0"/>
              </a:rPr>
              <a:t> </a:t>
            </a:r>
          </a:p>
        </p:txBody>
      </p:sp>
      <p:graphicFrame>
        <p:nvGraphicFramePr>
          <p:cNvPr id="40962" name="对象 153606"/>
          <p:cNvGraphicFramePr>
            <a:graphicFrameLocks/>
          </p:cNvGraphicFramePr>
          <p:nvPr>
            <p:extLst>
              <p:ext uri="{D42A27DB-BD31-4B8C-83A1-F6EECF244321}">
                <p14:modId xmlns:p14="http://schemas.microsoft.com/office/powerpoint/2010/main" val="1915603400"/>
              </p:ext>
            </p:extLst>
          </p:nvPr>
        </p:nvGraphicFramePr>
        <p:xfrm>
          <a:off x="1939131" y="574456"/>
          <a:ext cx="5265737" cy="1065213"/>
        </p:xfrm>
        <a:graphic>
          <a:graphicData uri="http://schemas.openxmlformats.org/presentationml/2006/ole">
            <mc:AlternateContent xmlns:mc="http://schemas.openxmlformats.org/markup-compatibility/2006">
              <mc:Choice xmlns:v="urn:schemas-microsoft-com:vml" Requires="v">
                <p:oleObj spid="_x0000_s11308" r:id="rId3" imgW="2196147" imgH="444307" progId="Equation.DSMT4">
                  <p:embed/>
                </p:oleObj>
              </mc:Choice>
              <mc:Fallback>
                <p:oleObj r:id="rId3" imgW="2196147" imgH="444307" progId="Equation.DSMT4">
                  <p:embed/>
                  <p:pic>
                    <p:nvPicPr>
                      <p:cNvPr id="40962" name="对象 15360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9131" y="574456"/>
                        <a:ext cx="5265737"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137426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矩形 192515"/>
          <p:cNvSpPr>
            <a:spLocks noChangeArrowheads="1"/>
          </p:cNvSpPr>
          <p:nvPr/>
        </p:nvSpPr>
        <p:spPr bwMode="auto">
          <a:xfrm>
            <a:off x="1258888" y="1341438"/>
            <a:ext cx="5976937"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buFontTx/>
              <a:buChar char="§"/>
            </a:pPr>
            <a:r>
              <a:rPr lang="en-US" altLang="zh-CN" sz="4000" b="1" u="none">
                <a:latin typeface="Times New Roman" panose="02020603050405020304" pitchFamily="18" charset="0"/>
              </a:rPr>
              <a:t>15-3  </a:t>
            </a:r>
            <a:r>
              <a:rPr lang="zh-CN" altLang="en-US" sz="4000" b="1" u="none">
                <a:latin typeface="Times New Roman" panose="02020603050405020304" pitchFamily="18" charset="0"/>
              </a:rPr>
              <a:t>对应态定律与通用压缩因子图</a:t>
            </a:r>
          </a:p>
        </p:txBody>
      </p:sp>
    </p:spTree>
    <p:extLst>
      <p:ext uri="{BB962C8B-B14F-4D97-AF65-F5344CB8AC3E}">
        <p14:creationId xmlns:p14="http://schemas.microsoft.com/office/powerpoint/2010/main" val="12001133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文本占位符 155650"/>
          <p:cNvSpPr>
            <a:spLocks noGrp="1" noChangeArrowheads="1"/>
          </p:cNvSpPr>
          <p:nvPr>
            <p:ph idx="1"/>
          </p:nvPr>
        </p:nvSpPr>
        <p:spPr>
          <a:xfrm>
            <a:off x="468313" y="836613"/>
            <a:ext cx="8229600" cy="4525962"/>
          </a:xfrm>
        </p:spPr>
        <p:txBody>
          <a:bodyPr>
            <a:normAutofit/>
          </a:bodyPr>
          <a:lstStyle/>
          <a:p>
            <a:r>
              <a:rPr lang="zh-CN" altLang="en-US" sz="3200" b="1" dirty="0" smtClean="0">
                <a:latin typeface="Times New Roman" panose="02020603050405020304" pitchFamily="18" charset="0"/>
                <a:ea typeface="黑体" panose="02010609060101010101" pitchFamily="49" charset="-122"/>
              </a:rPr>
              <a:t>实际气体状态方程均包含有一定数量的常数，这些常数与物质的固有性质有关，气体的种类不同，常数的值也不同。因此，这些常数需要根据所研究物质的</a:t>
            </a:r>
            <a:r>
              <a:rPr lang="en-US" altLang="zh-CN" sz="3200" b="1" i="1" dirty="0" smtClean="0">
                <a:latin typeface="Times New Roman" panose="02020603050405020304" pitchFamily="18" charset="0"/>
                <a:ea typeface="黑体" panose="02010609060101010101" pitchFamily="49" charset="-122"/>
              </a:rPr>
              <a:t>p</a:t>
            </a:r>
            <a:r>
              <a:rPr lang="zh-CN" altLang="en-US" sz="3200" b="1" i="1" dirty="0" smtClean="0">
                <a:latin typeface="Times New Roman" panose="02020603050405020304" pitchFamily="18" charset="0"/>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rPr>
              <a:t>v</a:t>
            </a:r>
            <a:r>
              <a:rPr lang="zh-CN" altLang="en-US" sz="3200" b="1" i="1" dirty="0" smtClean="0">
                <a:latin typeface="Times New Roman" panose="02020603050405020304" pitchFamily="18" charset="0"/>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rPr>
              <a:t>T</a:t>
            </a:r>
            <a:r>
              <a:rPr lang="zh-CN" altLang="en-US" sz="3200" b="1" dirty="0" smtClean="0">
                <a:latin typeface="Times New Roman" panose="02020603050405020304" pitchFamily="18" charset="0"/>
                <a:ea typeface="黑体" panose="02010609060101010101" pitchFamily="49" charset="-122"/>
              </a:rPr>
              <a:t>实验数据进行拟合才能</a:t>
            </a:r>
            <a:r>
              <a:rPr lang="zh-CN" altLang="en-US" sz="3200" b="1" dirty="0" smtClean="0">
                <a:latin typeface="Times New Roman" panose="02020603050405020304" pitchFamily="18" charset="0"/>
                <a:ea typeface="黑体" panose="02010609060101010101" pitchFamily="49" charset="-122"/>
              </a:rPr>
              <a:t>得到</a:t>
            </a:r>
            <a:endParaRPr lang="zh-CN" altLang="en-US" sz="3200" b="1" dirty="0" smtClean="0">
              <a:latin typeface="Times New Roman" panose="02020603050405020304" pitchFamily="18" charset="0"/>
              <a:ea typeface="黑体" panose="02010609060101010101" pitchFamily="49" charset="-122"/>
            </a:endParaRPr>
          </a:p>
          <a:p>
            <a:r>
              <a:rPr lang="zh-CN" altLang="en-US" sz="3200" b="1" dirty="0" smtClean="0">
                <a:latin typeface="Times New Roman" panose="02020603050405020304" pitchFamily="18" charset="0"/>
                <a:ea typeface="黑体" panose="02010609060101010101" pitchFamily="49" charset="-122"/>
              </a:rPr>
              <a:t>有没有可能</a:t>
            </a:r>
            <a:r>
              <a:rPr lang="zh-CN" altLang="en-US" sz="3200" b="1" dirty="0" smtClean="0">
                <a:solidFill>
                  <a:srgbClr val="FF0000"/>
                </a:solidFill>
                <a:latin typeface="Times New Roman" panose="02020603050405020304" pitchFamily="18" charset="0"/>
                <a:ea typeface="黑体" panose="02010609060101010101" pitchFamily="49" charset="-122"/>
              </a:rPr>
              <a:t>消除</a:t>
            </a:r>
            <a:r>
              <a:rPr lang="zh-CN" altLang="en-US" sz="3200" b="1" dirty="0" smtClean="0">
                <a:latin typeface="Times New Roman" panose="02020603050405020304" pitchFamily="18" charset="0"/>
                <a:ea typeface="黑体" panose="02010609060101010101" pitchFamily="49" charset="-122"/>
              </a:rPr>
              <a:t>这些与物质种类有关的常数，找到一个</a:t>
            </a:r>
            <a:r>
              <a:rPr lang="zh-CN" altLang="en-US" sz="3200" b="1" dirty="0" smtClean="0">
                <a:solidFill>
                  <a:srgbClr val="FF0000"/>
                </a:solidFill>
                <a:latin typeface="Times New Roman" panose="02020603050405020304" pitchFamily="18" charset="0"/>
                <a:ea typeface="黑体" panose="02010609060101010101" pitchFamily="49" charset="-122"/>
              </a:rPr>
              <a:t>对各种气体普适的状态方程式</a:t>
            </a:r>
            <a:r>
              <a:rPr lang="zh-CN" altLang="en-US" sz="3200" b="1" dirty="0" smtClean="0">
                <a:latin typeface="Times New Roman" panose="02020603050405020304" pitchFamily="18" charset="0"/>
                <a:ea typeface="黑体" panose="02010609060101010101" pitchFamily="49" charset="-122"/>
              </a:rPr>
              <a:t>？ </a:t>
            </a:r>
          </a:p>
        </p:txBody>
      </p:sp>
    </p:spTree>
    <p:extLst>
      <p:ext uri="{BB962C8B-B14F-4D97-AF65-F5344CB8AC3E}">
        <p14:creationId xmlns:p14="http://schemas.microsoft.com/office/powerpoint/2010/main" val="309278692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矩形 156676"/>
          <p:cNvSpPr>
            <a:spLocks noChangeArrowheads="1"/>
          </p:cNvSpPr>
          <p:nvPr/>
        </p:nvSpPr>
        <p:spPr bwMode="auto">
          <a:xfrm>
            <a:off x="0" y="3957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4034" name="对象 156675"/>
          <p:cNvGraphicFramePr>
            <a:graphicFrameLocks noChangeAspect="1"/>
          </p:cNvGraphicFramePr>
          <p:nvPr>
            <p:extLst>
              <p:ext uri="{D42A27DB-BD31-4B8C-83A1-F6EECF244321}">
                <p14:modId xmlns:p14="http://schemas.microsoft.com/office/powerpoint/2010/main" val="4132207196"/>
              </p:ext>
            </p:extLst>
          </p:nvPr>
        </p:nvGraphicFramePr>
        <p:xfrm>
          <a:off x="3148218" y="1764506"/>
          <a:ext cx="2057400" cy="723900"/>
        </p:xfrm>
        <a:graphic>
          <a:graphicData uri="http://schemas.openxmlformats.org/presentationml/2006/ole">
            <mc:AlternateContent xmlns:mc="http://schemas.openxmlformats.org/markup-compatibility/2006">
              <mc:Choice xmlns:v="urn:schemas-microsoft-com:vml" Requires="v">
                <p:oleObj spid="_x0000_s12332" r:id="rId3" imgW="685800" imgH="241300" progId="Equation.DSMT4">
                  <p:embed/>
                </p:oleObj>
              </mc:Choice>
              <mc:Fallback>
                <p:oleObj r:id="rId3" imgW="685800" imgH="241300" progId="Equation.DSMT4">
                  <p:embed/>
                  <p:pic>
                    <p:nvPicPr>
                      <p:cNvPr id="44034" name="对象 15667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8218" y="1764506"/>
                        <a:ext cx="20574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35" name="矩形 156678"/>
          <p:cNvSpPr>
            <a:spLocks noChangeArrowheads="1"/>
          </p:cNvSpPr>
          <p:nvPr/>
        </p:nvSpPr>
        <p:spPr bwMode="auto">
          <a:xfrm>
            <a:off x="395288" y="333375"/>
            <a:ext cx="8280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u="none">
                <a:latin typeface="Times New Roman" panose="02020603050405020304" pitchFamily="18" charset="0"/>
                <a:ea typeface="黑体" panose="02010609060101010101" pitchFamily="49" charset="-122"/>
              </a:rPr>
              <a:t>实际气体的性质与理想气体的性质之间的偏差可以用压缩因子</a:t>
            </a:r>
            <a:r>
              <a:rPr lang="en-US" altLang="zh-CN" sz="3200" b="1" i="1" u="none">
                <a:latin typeface="Times New Roman" panose="02020603050405020304" pitchFamily="18" charset="0"/>
                <a:ea typeface="黑体" panose="02010609060101010101" pitchFamily="49" charset="-122"/>
              </a:rPr>
              <a:t>Z</a:t>
            </a:r>
            <a:r>
              <a:rPr lang="zh-CN" altLang="en-US" sz="3200" b="1" u="none">
                <a:latin typeface="Times New Roman" panose="02020603050405020304" pitchFamily="18" charset="0"/>
                <a:ea typeface="黑体" panose="02010609060101010101" pitchFamily="49" charset="-122"/>
              </a:rPr>
              <a:t>来表示</a:t>
            </a:r>
          </a:p>
        </p:txBody>
      </p:sp>
      <p:sp>
        <p:nvSpPr>
          <p:cNvPr id="44036" name="文本框 156680"/>
          <p:cNvSpPr txBox="1">
            <a:spLocks noChangeArrowheads="1"/>
          </p:cNvSpPr>
          <p:nvPr/>
        </p:nvSpPr>
        <p:spPr bwMode="auto">
          <a:xfrm>
            <a:off x="539750" y="2852738"/>
            <a:ext cx="8001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u="none">
                <a:solidFill>
                  <a:srgbClr val="FF0000"/>
                </a:solidFill>
                <a:latin typeface="Times New Roman" panose="02020603050405020304" pitchFamily="18" charset="0"/>
                <a:ea typeface="黑体" panose="02010609060101010101" pitchFamily="49" charset="-122"/>
              </a:rPr>
              <a:t>优点</a:t>
            </a:r>
            <a:r>
              <a:rPr lang="zh-CN" altLang="en-US" sz="3200" b="1" u="none">
                <a:latin typeface="Times New Roman" panose="02020603050405020304" pitchFamily="18" charset="0"/>
                <a:ea typeface="黑体" panose="02010609060101010101" pitchFamily="49" charset="-122"/>
              </a:rPr>
              <a:t>：能保留理想气体状态方程的基本形式</a:t>
            </a:r>
            <a:r>
              <a:rPr lang="zh-CN" altLang="en-US">
                <a:latin typeface="Times New Roman" panose="02020603050405020304" pitchFamily="18" charset="0"/>
                <a:ea typeface="楷体_GB2312" pitchFamily="49" charset="-122"/>
              </a:rPr>
              <a:t> </a:t>
            </a:r>
          </a:p>
          <a:p>
            <a:pPr>
              <a:spcBef>
                <a:spcPct val="50000"/>
              </a:spcBef>
              <a:buClr>
                <a:schemeClr val="tx2"/>
              </a:buClr>
              <a:buSzPct val="75000"/>
              <a:buFont typeface="Wingdings" panose="05000000000000000000" pitchFamily="2" charset="2"/>
              <a:buNone/>
            </a:pPr>
            <a:r>
              <a:rPr lang="zh-CN" altLang="en-US" sz="3200" b="1" u="none">
                <a:solidFill>
                  <a:srgbClr val="FF0000"/>
                </a:solidFill>
                <a:latin typeface="Times New Roman" panose="02020603050405020304" pitchFamily="18" charset="0"/>
                <a:ea typeface="黑体" panose="02010609060101010101" pitchFamily="49" charset="-122"/>
              </a:rPr>
              <a:t>缺点：</a:t>
            </a:r>
            <a:r>
              <a:rPr lang="en-US" altLang="zh-CN" sz="3200" b="1" i="1" u="none">
                <a:latin typeface="Times New Roman" panose="02020603050405020304" pitchFamily="18" charset="0"/>
                <a:ea typeface="黑体" panose="02010609060101010101" pitchFamily="49" charset="-122"/>
              </a:rPr>
              <a:t>Z</a:t>
            </a:r>
            <a:r>
              <a:rPr lang="zh-CN" altLang="en-US" sz="3200" b="1" u="none">
                <a:latin typeface="Times New Roman" panose="02020603050405020304" pitchFamily="18" charset="0"/>
                <a:ea typeface="黑体" panose="02010609060101010101" pitchFamily="49" charset="-122"/>
              </a:rPr>
              <a:t>值的大小不仅与气体种类有关，而且同种气体</a:t>
            </a:r>
            <a:r>
              <a:rPr lang="en-US" altLang="zh-CN" sz="3200" b="1" i="1" u="none">
                <a:latin typeface="Times New Roman" panose="02020603050405020304" pitchFamily="18" charset="0"/>
                <a:ea typeface="黑体" panose="02010609060101010101" pitchFamily="49" charset="-122"/>
              </a:rPr>
              <a:t>Z</a:t>
            </a:r>
            <a:r>
              <a:rPr lang="zh-CN" altLang="en-US" sz="3200" b="1" u="none">
                <a:latin typeface="Times New Roman" panose="02020603050405020304" pitchFamily="18" charset="0"/>
                <a:ea typeface="黑体" panose="02010609060101010101" pitchFamily="49" charset="-122"/>
              </a:rPr>
              <a:t>值还随压力和温度而变化，给计算带来不便</a:t>
            </a:r>
          </a:p>
        </p:txBody>
      </p:sp>
    </p:spTree>
    <p:extLst>
      <p:ext uri="{BB962C8B-B14F-4D97-AF65-F5344CB8AC3E}">
        <p14:creationId xmlns:p14="http://schemas.microsoft.com/office/powerpoint/2010/main" val="11993226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文本占位符 157698"/>
          <p:cNvSpPr>
            <a:spLocks noGrp="1" noChangeArrowheads="1"/>
          </p:cNvSpPr>
          <p:nvPr>
            <p:ph idx="1"/>
          </p:nvPr>
        </p:nvSpPr>
        <p:spPr>
          <a:xfrm>
            <a:off x="436562" y="412278"/>
            <a:ext cx="8229600" cy="4525962"/>
          </a:xfrm>
        </p:spPr>
        <p:txBody>
          <a:bodyPr/>
          <a:lstStyle/>
          <a:p>
            <a:r>
              <a:rPr lang="zh-CN" altLang="en-US" sz="2800" b="1" dirty="0" smtClean="0">
                <a:latin typeface="黑体" panose="02010609060101010101" pitchFamily="49" charset="-122"/>
                <a:ea typeface="黑体" panose="02010609060101010101" pitchFamily="49" charset="-122"/>
              </a:rPr>
              <a:t>  对多种流体的实验数据分析发现，接近各自的临界点时，所有流体都显示出相似的性质，因此人们想到：</a:t>
            </a:r>
          </a:p>
          <a:p>
            <a:pPr>
              <a:buFontTx/>
              <a:buNone/>
            </a:pPr>
            <a:r>
              <a:rPr lang="zh-CN" altLang="en-US" sz="2800" b="1" dirty="0" smtClean="0">
                <a:latin typeface="黑体" panose="02010609060101010101" pitchFamily="49" charset="-122"/>
                <a:ea typeface="黑体" panose="02010609060101010101" pitchFamily="49" charset="-122"/>
              </a:rPr>
              <a:t>     </a:t>
            </a:r>
            <a:r>
              <a:rPr lang="zh-CN" altLang="en-US" sz="2800" b="1" dirty="0" smtClean="0">
                <a:solidFill>
                  <a:srgbClr val="FF0000"/>
                </a:solidFill>
                <a:latin typeface="黑体" panose="02010609060101010101" pitchFamily="49" charset="-122"/>
                <a:ea typeface="黑体" panose="02010609060101010101" pitchFamily="49" charset="-122"/>
              </a:rPr>
              <a:t>可以用气体的压力、温度、比体积与相应临界参数的比值</a:t>
            </a:r>
            <a:r>
              <a:rPr lang="zh-CN" altLang="en-US" sz="2800" b="1" dirty="0" smtClean="0">
                <a:latin typeface="黑体" panose="02010609060101010101" pitchFamily="49" charset="-122"/>
                <a:ea typeface="黑体" panose="02010609060101010101" pitchFamily="49" charset="-122"/>
              </a:rPr>
              <a:t>，来代替压力、温度、比体积的绝对值，并用这些比值导出普遍适用的实际气体状态方程 </a:t>
            </a:r>
          </a:p>
        </p:txBody>
      </p:sp>
      <p:sp>
        <p:nvSpPr>
          <p:cNvPr id="45058" name="矩形 157699"/>
          <p:cNvSpPr>
            <a:spLocks noChangeArrowheads="1"/>
          </p:cNvSpPr>
          <p:nvPr/>
        </p:nvSpPr>
        <p:spPr bwMode="auto">
          <a:xfrm>
            <a:off x="539266" y="3656334"/>
            <a:ext cx="77041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buFont typeface="Arial" panose="020B0604020202020204" pitchFamily="34" charset="0"/>
              <a:buChar char="•"/>
            </a:pPr>
            <a:r>
              <a:rPr lang="zh-CN" altLang="en-US" sz="2800" b="1" u="none" dirty="0" smtClean="0">
                <a:latin typeface="黑体" panose="02010609060101010101" pitchFamily="49" charset="-122"/>
                <a:ea typeface="黑体" panose="02010609060101010101" pitchFamily="49" charset="-122"/>
              </a:rPr>
              <a:t>定义</a:t>
            </a:r>
            <a:r>
              <a:rPr lang="zh-CN" altLang="en-US" sz="2800" b="1" dirty="0">
                <a:latin typeface="黑体" panose="02010609060101010101" pitchFamily="49" charset="-122"/>
                <a:ea typeface="黑体" panose="02010609060101010101" pitchFamily="49" charset="-122"/>
              </a:rPr>
              <a:t>：</a:t>
            </a:r>
            <a:r>
              <a:rPr lang="zh-CN" altLang="en-US" sz="2800" b="1" u="none" dirty="0" smtClean="0">
                <a:latin typeface="黑体" panose="02010609060101010101" pitchFamily="49" charset="-122"/>
                <a:ea typeface="黑体" panose="02010609060101010101" pitchFamily="49" charset="-122"/>
              </a:rPr>
              <a:t>对比压力</a:t>
            </a:r>
            <a:r>
              <a:rPr lang="zh-CN" altLang="en-US" sz="2800" b="1" u="none" dirty="0">
                <a:latin typeface="黑体" panose="02010609060101010101" pitchFamily="49" charset="-122"/>
                <a:ea typeface="黑体" panose="02010609060101010101" pitchFamily="49" charset="-122"/>
              </a:rPr>
              <a:t>、对比温度和对比比体积</a:t>
            </a:r>
          </a:p>
        </p:txBody>
      </p:sp>
      <p:graphicFrame>
        <p:nvGraphicFramePr>
          <p:cNvPr id="45059" name="对象 157703"/>
          <p:cNvGraphicFramePr>
            <a:graphicFrameLocks/>
          </p:cNvGraphicFramePr>
          <p:nvPr/>
        </p:nvGraphicFramePr>
        <p:xfrm>
          <a:off x="2384425" y="4652963"/>
          <a:ext cx="4333875" cy="1022350"/>
        </p:xfrm>
        <a:graphic>
          <a:graphicData uri="http://schemas.openxmlformats.org/presentationml/2006/ole">
            <mc:AlternateContent xmlns:mc="http://schemas.openxmlformats.org/markup-compatibility/2006">
              <mc:Choice xmlns:v="urn:schemas-microsoft-com:vml" Requires="v">
                <p:oleObj spid="_x0000_s13357" r:id="rId3" imgW="1828800" imgH="431640" progId="Equation.DSMT4">
                  <p:embed/>
                </p:oleObj>
              </mc:Choice>
              <mc:Fallback>
                <p:oleObj r:id="rId3" imgW="1828800" imgH="431640" progId="Equation.DSMT4">
                  <p:embed/>
                  <p:pic>
                    <p:nvPicPr>
                      <p:cNvPr id="45059" name="对象 15770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4425" y="4652963"/>
                        <a:ext cx="43338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622727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矩形 159748"/>
          <p:cNvSpPr>
            <a:spLocks noChangeArrowheads="1"/>
          </p:cNvSpPr>
          <p:nvPr/>
        </p:nvSpPr>
        <p:spPr bwMode="auto">
          <a:xfrm>
            <a:off x="468313" y="142170"/>
            <a:ext cx="82073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u="none" dirty="0">
                <a:latin typeface="Times New Roman" panose="02020603050405020304" pitchFamily="18" charset="0"/>
                <a:ea typeface="黑体" panose="02010609060101010101" pitchFamily="49" charset="-122"/>
              </a:rPr>
              <a:t>根据各种气体的实验数据，可确定不同气体的</a:t>
            </a:r>
            <a:r>
              <a:rPr lang="en-US" altLang="zh-CN" sz="2800" b="1" i="1" u="none" dirty="0">
                <a:latin typeface="Times New Roman" panose="02020603050405020304" pitchFamily="18" charset="0"/>
                <a:ea typeface="黑体" panose="02010609060101010101" pitchFamily="49" charset="-122"/>
              </a:rPr>
              <a:t>Z</a:t>
            </a:r>
            <a:r>
              <a:rPr lang="zh-CN" altLang="en-US" sz="2800" b="1" u="none" dirty="0">
                <a:latin typeface="Times New Roman" panose="02020603050405020304" pitchFamily="18" charset="0"/>
                <a:ea typeface="黑体" panose="02010609060101010101" pitchFamily="49" charset="-122"/>
              </a:rPr>
              <a:t>值与对比压力</a:t>
            </a:r>
            <a:r>
              <a:rPr lang="en-US" altLang="zh-CN" sz="2800" b="1" i="1" u="none" dirty="0" err="1">
                <a:latin typeface="Times New Roman" panose="02020603050405020304" pitchFamily="18" charset="0"/>
                <a:ea typeface="黑体" panose="02010609060101010101" pitchFamily="49" charset="-122"/>
              </a:rPr>
              <a:t>p</a:t>
            </a:r>
            <a:r>
              <a:rPr lang="en-US" altLang="zh-CN" sz="2800" b="1" u="none" baseline="-25000" dirty="0" err="1">
                <a:latin typeface="Times New Roman" panose="02020603050405020304" pitchFamily="18" charset="0"/>
                <a:ea typeface="黑体" panose="02010609060101010101" pitchFamily="49" charset="-122"/>
              </a:rPr>
              <a:t>r</a:t>
            </a:r>
            <a:r>
              <a:rPr lang="zh-CN" altLang="en-US" sz="2800" b="1" u="none" dirty="0">
                <a:latin typeface="Times New Roman" panose="02020603050405020304" pitchFamily="18" charset="0"/>
                <a:ea typeface="黑体" panose="02010609060101010101" pitchFamily="49" charset="-122"/>
              </a:rPr>
              <a:t>和对比温度</a:t>
            </a:r>
            <a:r>
              <a:rPr lang="en-US" altLang="zh-CN" sz="2800" b="1" i="1" u="none" dirty="0" err="1">
                <a:latin typeface="Times New Roman" panose="02020603050405020304" pitchFamily="18" charset="0"/>
                <a:ea typeface="黑体" panose="02010609060101010101" pitchFamily="49" charset="-122"/>
              </a:rPr>
              <a:t>T</a:t>
            </a:r>
            <a:r>
              <a:rPr lang="en-US" altLang="zh-CN" sz="2800" b="1" u="none" baseline="-25000" dirty="0" err="1">
                <a:latin typeface="Times New Roman" panose="02020603050405020304" pitchFamily="18" charset="0"/>
                <a:ea typeface="黑体" panose="02010609060101010101" pitchFamily="49" charset="-122"/>
              </a:rPr>
              <a:t>r</a:t>
            </a:r>
            <a:r>
              <a:rPr lang="zh-CN" altLang="en-US" sz="2800" b="1" u="none" dirty="0">
                <a:latin typeface="Times New Roman" panose="02020603050405020304" pitchFamily="18" charset="0"/>
                <a:ea typeface="黑体" panose="02010609060101010101" pitchFamily="49" charset="-122"/>
              </a:rPr>
              <a:t>的关系</a:t>
            </a:r>
            <a:r>
              <a:rPr lang="zh-CN" altLang="en-US" b="1" dirty="0">
                <a:latin typeface="Times New Roman" panose="02020603050405020304" pitchFamily="18" charset="0"/>
                <a:ea typeface="黑体" panose="02010609060101010101" pitchFamily="49" charset="-122"/>
              </a:rPr>
              <a:t> </a:t>
            </a:r>
          </a:p>
        </p:txBody>
      </p:sp>
      <p:pic>
        <p:nvPicPr>
          <p:cNvPr id="46082" name="图片 1597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113" y="1120675"/>
            <a:ext cx="7869237" cy="561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59" name="矩形 159758"/>
          <p:cNvSpPr>
            <a:spLocks noChangeArrowheads="1"/>
          </p:cNvSpPr>
          <p:nvPr/>
        </p:nvSpPr>
        <p:spPr bwMode="auto">
          <a:xfrm>
            <a:off x="5826918" y="1007357"/>
            <a:ext cx="2876550" cy="10064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1" u="none" dirty="0">
                <a:latin typeface="Times New Roman" panose="02020603050405020304" pitchFamily="18" charset="0"/>
              </a:rPr>
              <a:t>在相同的</a:t>
            </a:r>
            <a:r>
              <a:rPr lang="en-US" altLang="zh-CN" sz="2000" b="1" i="1" u="none" dirty="0" err="1">
                <a:latin typeface="Times New Roman" panose="02020603050405020304" pitchFamily="18" charset="0"/>
              </a:rPr>
              <a:t>T</a:t>
            </a:r>
            <a:r>
              <a:rPr lang="en-US" altLang="zh-CN" sz="2000" b="1" u="none" baseline="-25000" dirty="0" err="1">
                <a:latin typeface="Times New Roman" panose="02020603050405020304" pitchFamily="18" charset="0"/>
              </a:rPr>
              <a:t>r</a:t>
            </a:r>
            <a:r>
              <a:rPr lang="zh-CN" altLang="en-US" sz="2000" b="1" u="none" dirty="0">
                <a:latin typeface="Times New Roman" panose="02020603050405020304" pitchFamily="18" charset="0"/>
              </a:rPr>
              <a:t>下，各种气体的</a:t>
            </a:r>
            <a:r>
              <a:rPr lang="en-US" altLang="zh-CN" sz="2000" b="1" i="1" u="none" dirty="0">
                <a:latin typeface="Times New Roman" panose="02020603050405020304" pitchFamily="18" charset="0"/>
              </a:rPr>
              <a:t>Z</a:t>
            </a:r>
            <a:r>
              <a:rPr lang="zh-CN" altLang="en-US" sz="2000" b="1" u="none" dirty="0">
                <a:latin typeface="Times New Roman" panose="02020603050405020304" pitchFamily="18" charset="0"/>
              </a:rPr>
              <a:t>和</a:t>
            </a:r>
            <a:r>
              <a:rPr lang="en-US" altLang="zh-CN" sz="2000" b="1" i="1" u="none" dirty="0" err="1">
                <a:latin typeface="Times New Roman" panose="02020603050405020304" pitchFamily="18" charset="0"/>
              </a:rPr>
              <a:t>p</a:t>
            </a:r>
            <a:r>
              <a:rPr lang="en-US" altLang="zh-CN" sz="2000" b="1" u="none" baseline="-25000" dirty="0" err="1">
                <a:latin typeface="Times New Roman" panose="02020603050405020304" pitchFamily="18" charset="0"/>
              </a:rPr>
              <a:t>r</a:t>
            </a:r>
            <a:r>
              <a:rPr lang="zh-CN" altLang="en-US" sz="2000" b="1" u="none" dirty="0">
                <a:latin typeface="Times New Roman" panose="02020603050405020304" pitchFamily="18" charset="0"/>
              </a:rPr>
              <a:t>具有相近的函数关系</a:t>
            </a:r>
          </a:p>
        </p:txBody>
      </p:sp>
      <p:sp>
        <p:nvSpPr>
          <p:cNvPr id="159760" name="矩形 159759"/>
          <p:cNvSpPr>
            <a:spLocks noChangeArrowheads="1"/>
          </p:cNvSpPr>
          <p:nvPr/>
        </p:nvSpPr>
        <p:spPr bwMode="auto">
          <a:xfrm>
            <a:off x="3452018" y="5236202"/>
            <a:ext cx="2374900" cy="10064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1" u="none" dirty="0">
                <a:latin typeface="Times New Roman" panose="02020603050405020304" pitchFamily="18" charset="0"/>
              </a:rPr>
              <a:t>在具有相同的</a:t>
            </a:r>
            <a:r>
              <a:rPr lang="en-US" altLang="zh-CN" sz="2000" b="1" i="1" u="none" dirty="0" err="1">
                <a:latin typeface="Times New Roman" panose="02020603050405020304" pitchFamily="18" charset="0"/>
              </a:rPr>
              <a:t>T</a:t>
            </a:r>
            <a:r>
              <a:rPr lang="en-US" altLang="zh-CN" sz="2000" b="1" u="none" baseline="-25000" dirty="0" err="1">
                <a:latin typeface="Times New Roman" panose="02020603050405020304" pitchFamily="18" charset="0"/>
              </a:rPr>
              <a:t>r</a:t>
            </a:r>
            <a:r>
              <a:rPr lang="zh-CN" altLang="en-US" sz="2000" b="1" u="none" dirty="0">
                <a:latin typeface="Times New Roman" panose="02020603050405020304" pitchFamily="18" charset="0"/>
              </a:rPr>
              <a:t>和</a:t>
            </a:r>
            <a:r>
              <a:rPr lang="en-US" altLang="zh-CN" sz="2000" b="1" i="1" u="none" dirty="0" err="1">
                <a:latin typeface="Times New Roman" panose="02020603050405020304" pitchFamily="18" charset="0"/>
              </a:rPr>
              <a:t>p</a:t>
            </a:r>
            <a:r>
              <a:rPr lang="en-US" altLang="zh-CN" sz="2000" b="1" u="none" baseline="-25000" dirty="0" err="1">
                <a:latin typeface="Times New Roman" panose="02020603050405020304" pitchFamily="18" charset="0"/>
              </a:rPr>
              <a:t>r</a:t>
            </a:r>
            <a:r>
              <a:rPr lang="zh-CN" altLang="en-US" sz="2000" b="1" u="none" dirty="0">
                <a:latin typeface="Times New Roman" panose="02020603050405020304" pitchFamily="18" charset="0"/>
              </a:rPr>
              <a:t>时，各种气体的</a:t>
            </a:r>
            <a:r>
              <a:rPr lang="en-US" altLang="zh-CN" sz="2000" b="1" i="1" u="none" dirty="0" smtClean="0">
                <a:latin typeface="Times New Roman" panose="02020603050405020304" pitchFamily="18" charset="0"/>
              </a:rPr>
              <a:t>Z</a:t>
            </a:r>
            <a:r>
              <a:rPr lang="zh-CN" altLang="en-US" sz="2000" b="1" dirty="0" smtClean="0">
                <a:latin typeface="Times New Roman" panose="02020603050405020304" pitchFamily="18" charset="0"/>
              </a:rPr>
              <a:t>近似</a:t>
            </a:r>
            <a:r>
              <a:rPr lang="zh-CN" altLang="en-US" sz="2000" b="1" u="none" dirty="0" smtClean="0">
                <a:latin typeface="Times New Roman" panose="02020603050405020304" pitchFamily="18" charset="0"/>
              </a:rPr>
              <a:t>相等</a:t>
            </a:r>
            <a:endParaRPr lang="zh-CN" altLang="en-US" sz="2000" b="1" u="none" dirty="0">
              <a:latin typeface="Times New Roman" panose="02020603050405020304" pitchFamily="18" charset="0"/>
              <a:cs typeface="Times New Roman" panose="02020603050405020304" pitchFamily="18" charset="0"/>
            </a:endParaRPr>
          </a:p>
        </p:txBody>
      </p:sp>
      <p:sp>
        <p:nvSpPr>
          <p:cNvPr id="159761" name="矩形 159760"/>
          <p:cNvSpPr>
            <a:spLocks noChangeArrowheads="1"/>
          </p:cNvSpPr>
          <p:nvPr/>
        </p:nvSpPr>
        <p:spPr bwMode="auto">
          <a:xfrm>
            <a:off x="6516688" y="3468072"/>
            <a:ext cx="1405785" cy="369332"/>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b="1" u="none"/>
              <a:t>对应态定律</a:t>
            </a:r>
            <a:r>
              <a:rPr lang="zh-CN" altLang="en-US"/>
              <a:t> </a:t>
            </a:r>
          </a:p>
        </p:txBody>
      </p:sp>
      <p:sp>
        <p:nvSpPr>
          <p:cNvPr id="46086" name="矩形 159762"/>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59762" name="对象 159761"/>
          <p:cNvGraphicFramePr>
            <a:graphicFrameLocks/>
          </p:cNvGraphicFramePr>
          <p:nvPr>
            <p:extLst>
              <p:ext uri="{D42A27DB-BD31-4B8C-83A1-F6EECF244321}">
                <p14:modId xmlns:p14="http://schemas.microsoft.com/office/powerpoint/2010/main" val="2964203027"/>
              </p:ext>
            </p:extLst>
          </p:nvPr>
        </p:nvGraphicFramePr>
        <p:xfrm>
          <a:off x="6545262" y="3869759"/>
          <a:ext cx="1439862" cy="427037"/>
        </p:xfrm>
        <a:graphic>
          <a:graphicData uri="http://schemas.openxmlformats.org/presentationml/2006/ole">
            <mc:AlternateContent xmlns:mc="http://schemas.openxmlformats.org/markup-compatibility/2006">
              <mc:Choice xmlns:v="urn:schemas-microsoft-com:vml" Requires="v">
                <p:oleObj spid="_x0000_s14381" r:id="rId5" imgW="863225" imgH="253890" progId="Equation.DSMT4">
                  <p:embed/>
                </p:oleObj>
              </mc:Choice>
              <mc:Fallback>
                <p:oleObj r:id="rId5" imgW="863225" imgH="253890" progId="Equation.DSMT4">
                  <p:embed/>
                  <p:pic>
                    <p:nvPicPr>
                      <p:cNvPr id="159762" name="对象 15976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45262" y="3869759"/>
                        <a:ext cx="1439862" cy="427037"/>
                      </a:xfrm>
                      <a:prstGeom prst="rect">
                        <a:avLst/>
                      </a:prstGeom>
                      <a:solidFill>
                        <a:srgbClr val="FF99CC"/>
                      </a:solidFill>
                      <a:ln w="9525">
                        <a:solidFill>
                          <a:srgbClr val="FF99CC"/>
                        </a:solidFill>
                        <a:miter lim="800000"/>
                        <a:headEnd/>
                        <a:tailEnd/>
                      </a:ln>
                    </p:spPr>
                  </p:pic>
                </p:oleObj>
              </mc:Fallback>
            </mc:AlternateContent>
          </a:graphicData>
        </a:graphic>
      </p:graphicFrame>
      <p:sp>
        <p:nvSpPr>
          <p:cNvPr id="159764" name="矩形 159763"/>
          <p:cNvSpPr>
            <a:spLocks noChangeArrowheads="1"/>
          </p:cNvSpPr>
          <p:nvPr/>
        </p:nvSpPr>
        <p:spPr bwMode="auto">
          <a:xfrm>
            <a:off x="2555875" y="1164609"/>
            <a:ext cx="1918403" cy="369332"/>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b="1" u="none"/>
              <a:t>通用压缩因子图</a:t>
            </a:r>
            <a:endParaRPr lang="zh-CN" altLang="en-US"/>
          </a:p>
        </p:txBody>
      </p:sp>
    </p:spTree>
    <p:custDataLst>
      <p:tags r:id="rId2"/>
    </p:custDataLst>
    <p:extLst>
      <p:ext uri="{BB962C8B-B14F-4D97-AF65-F5344CB8AC3E}">
        <p14:creationId xmlns:p14="http://schemas.microsoft.com/office/powerpoint/2010/main" val="959256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9759"/>
                                        </p:tgtEl>
                                        <p:attrNameLst>
                                          <p:attrName>style.visibility</p:attrName>
                                        </p:attrNameLst>
                                      </p:cBhvr>
                                      <p:to>
                                        <p:strVal val="visible"/>
                                      </p:to>
                                    </p:set>
                                    <p:animEffect transition="in" filter="blinds(horizontal)">
                                      <p:cBhvr>
                                        <p:cTn id="7" dur="500"/>
                                        <p:tgtEl>
                                          <p:spTgt spid="1597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9760"/>
                                        </p:tgtEl>
                                        <p:attrNameLst>
                                          <p:attrName>style.visibility</p:attrName>
                                        </p:attrNameLst>
                                      </p:cBhvr>
                                      <p:to>
                                        <p:strVal val="visible"/>
                                      </p:to>
                                    </p:set>
                                    <p:animEffect transition="in" filter="blinds(horizontal)">
                                      <p:cBhvr>
                                        <p:cTn id="12" dur="500"/>
                                        <p:tgtEl>
                                          <p:spTgt spid="1597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9761"/>
                                        </p:tgtEl>
                                        <p:attrNameLst>
                                          <p:attrName>style.visibility</p:attrName>
                                        </p:attrNameLst>
                                      </p:cBhvr>
                                      <p:to>
                                        <p:strVal val="visible"/>
                                      </p:to>
                                    </p:set>
                                    <p:animEffect transition="in" filter="blinds(horizontal)">
                                      <p:cBhvr>
                                        <p:cTn id="17" dur="500"/>
                                        <p:tgtEl>
                                          <p:spTgt spid="159761"/>
                                        </p:tgtEl>
                                      </p:cBhvr>
                                    </p:animEffect>
                                  </p:childTnLst>
                                </p:cTn>
                              </p:par>
                              <p:par>
                                <p:cTn id="18" presetID="3" presetClass="entr" presetSubtype="10" fill="hold" nodeType="withEffect">
                                  <p:stCondLst>
                                    <p:cond delay="0"/>
                                  </p:stCondLst>
                                  <p:childTnLst>
                                    <p:set>
                                      <p:cBhvr>
                                        <p:cTn id="19" dur="1" fill="hold">
                                          <p:stCondLst>
                                            <p:cond delay="0"/>
                                          </p:stCondLst>
                                        </p:cTn>
                                        <p:tgtEl>
                                          <p:spTgt spid="159762"/>
                                        </p:tgtEl>
                                        <p:attrNameLst>
                                          <p:attrName>style.visibility</p:attrName>
                                        </p:attrNameLst>
                                      </p:cBhvr>
                                      <p:to>
                                        <p:strVal val="visible"/>
                                      </p:to>
                                    </p:set>
                                    <p:animEffect transition="in" filter="blinds(horizontal)">
                                      <p:cBhvr>
                                        <p:cTn id="20" dur="500"/>
                                        <p:tgtEl>
                                          <p:spTgt spid="15976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59764"/>
                                        </p:tgtEl>
                                        <p:attrNameLst>
                                          <p:attrName>style.visibility</p:attrName>
                                        </p:attrNameLst>
                                      </p:cBhvr>
                                      <p:to>
                                        <p:strVal val="visible"/>
                                      </p:to>
                                    </p:set>
                                    <p:animEffect transition="in" filter="blinds(horizontal)">
                                      <p:cBhvr>
                                        <p:cTn id="25" dur="500"/>
                                        <p:tgtEl>
                                          <p:spTgt spid="159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9" grpId="0" animBg="1"/>
      <p:bldP spid="159760" grpId="0" animBg="1"/>
      <p:bldP spid="159761" grpId="0" animBg="1"/>
      <p:bldP spid="159764" grpId="0" bldLvl="0" animBg="1"/>
    </p:bldLst>
  </p:timing>
  <p:extLst mod="1"/>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图片 1607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869238" cy="561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6" name="矩形 160779"/>
          <p:cNvSpPr>
            <a:spLocks noChangeArrowheads="1"/>
          </p:cNvSpPr>
          <p:nvPr/>
        </p:nvSpPr>
        <p:spPr bwMode="auto">
          <a:xfrm>
            <a:off x="611188" y="5730875"/>
            <a:ext cx="7775575" cy="8286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u="none" dirty="0">
                <a:latin typeface="Times New Roman" panose="02020603050405020304" pitchFamily="18" charset="0"/>
              </a:rPr>
              <a:t>当压力很低（接近于</a:t>
            </a:r>
            <a:r>
              <a:rPr lang="en-US" altLang="zh-CN" sz="2400" b="1" u="none" dirty="0">
                <a:latin typeface="Times New Roman" panose="02020603050405020304" pitchFamily="18" charset="0"/>
              </a:rPr>
              <a:t>0</a:t>
            </a:r>
            <a:r>
              <a:rPr lang="zh-CN" altLang="en-US" sz="2400" b="1" u="none" dirty="0">
                <a:latin typeface="Times New Roman" panose="02020603050405020304" pitchFamily="18" charset="0"/>
              </a:rPr>
              <a:t>）时，在各种温度下，</a:t>
            </a:r>
            <a:r>
              <a:rPr lang="en-US" altLang="zh-CN" sz="2400" b="1" i="1" u="none" dirty="0">
                <a:latin typeface="Times New Roman" panose="02020603050405020304" pitchFamily="18" charset="0"/>
              </a:rPr>
              <a:t>Z</a:t>
            </a:r>
            <a:r>
              <a:rPr lang="zh-CN" altLang="en-US" sz="2400" b="1" u="none" dirty="0">
                <a:latin typeface="Times New Roman" panose="02020603050405020304" pitchFamily="18" charset="0"/>
              </a:rPr>
              <a:t>均接近于</a:t>
            </a:r>
            <a:r>
              <a:rPr lang="en-US" altLang="zh-CN" sz="2400" b="1" u="none" dirty="0">
                <a:latin typeface="Times New Roman" panose="02020603050405020304" pitchFamily="18" charset="0"/>
              </a:rPr>
              <a:t>1</a:t>
            </a:r>
            <a:r>
              <a:rPr lang="zh-CN" altLang="en-US" sz="2400" b="1" u="none" dirty="0">
                <a:latin typeface="Times New Roman" panose="02020603050405020304" pitchFamily="18" charset="0"/>
              </a:rPr>
              <a:t>，即此范围内气体近似满足理想气体状态方程</a:t>
            </a:r>
          </a:p>
        </p:txBody>
      </p:sp>
      <p:sp>
        <p:nvSpPr>
          <p:cNvPr id="47107" name="上箭头 160781"/>
          <p:cNvSpPr>
            <a:spLocks noChangeArrowheads="1"/>
          </p:cNvSpPr>
          <p:nvPr/>
        </p:nvSpPr>
        <p:spPr bwMode="auto">
          <a:xfrm>
            <a:off x="900113" y="5229225"/>
            <a:ext cx="215900" cy="504825"/>
          </a:xfrm>
          <a:prstGeom prst="upArrow">
            <a:avLst>
              <a:gd name="adj1" fmla="val 50000"/>
              <a:gd name="adj2" fmla="val 58413"/>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0783" name="矩形 160782"/>
          <p:cNvSpPr>
            <a:spLocks noChangeArrowheads="1"/>
          </p:cNvSpPr>
          <p:nvPr/>
        </p:nvSpPr>
        <p:spPr bwMode="auto">
          <a:xfrm>
            <a:off x="5940425" y="2379663"/>
            <a:ext cx="2916238" cy="156845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u="none" dirty="0">
                <a:latin typeface="Times New Roman" panose="02020603050405020304" pitchFamily="18" charset="0"/>
              </a:rPr>
              <a:t>在高温区域（</a:t>
            </a:r>
            <a:r>
              <a:rPr lang="en-US" altLang="zh-CN" sz="2400" b="1" i="1" u="none" dirty="0" err="1">
                <a:latin typeface="Times New Roman" panose="02020603050405020304" pitchFamily="18" charset="0"/>
              </a:rPr>
              <a:t>T</a:t>
            </a:r>
            <a:r>
              <a:rPr lang="en-US" altLang="zh-CN" sz="2400" b="1" u="none" baseline="-25000" dirty="0" err="1">
                <a:latin typeface="Times New Roman" panose="02020603050405020304" pitchFamily="18" charset="0"/>
              </a:rPr>
              <a:t>r</a:t>
            </a:r>
            <a:r>
              <a:rPr lang="en-US" altLang="zh-CN" sz="2400" b="1" u="none" dirty="0">
                <a:latin typeface="Times New Roman" panose="02020603050405020304" pitchFamily="18" charset="0"/>
              </a:rPr>
              <a:t>&gt;2</a:t>
            </a:r>
            <a:r>
              <a:rPr lang="zh-CN" altLang="en-US" sz="2400" b="1" u="none" dirty="0">
                <a:latin typeface="Times New Roman" panose="02020603050405020304" pitchFamily="18" charset="0"/>
              </a:rPr>
              <a:t>）和低压（</a:t>
            </a:r>
            <a:r>
              <a:rPr lang="en-US" altLang="zh-CN" sz="2400" b="1" i="1" u="none" dirty="0" err="1">
                <a:latin typeface="Times New Roman" panose="02020603050405020304" pitchFamily="18" charset="0"/>
              </a:rPr>
              <a:t>p</a:t>
            </a:r>
            <a:r>
              <a:rPr lang="en-US" altLang="zh-CN" sz="2400" b="1" u="none" baseline="-25000" dirty="0" err="1">
                <a:latin typeface="Times New Roman" panose="02020603050405020304" pitchFamily="18" charset="0"/>
              </a:rPr>
              <a:t>r</a:t>
            </a:r>
            <a:r>
              <a:rPr lang="en-US" altLang="zh-CN" sz="2400" b="1" u="none" dirty="0">
                <a:latin typeface="Times New Roman" panose="02020603050405020304" pitchFamily="18" charset="0"/>
              </a:rPr>
              <a:t>&lt;7</a:t>
            </a:r>
            <a:r>
              <a:rPr lang="zh-CN" altLang="en-US" sz="2400" b="1" u="none" dirty="0">
                <a:latin typeface="Times New Roman" panose="02020603050405020304" pitchFamily="18" charset="0"/>
              </a:rPr>
              <a:t>）范围内，</a:t>
            </a:r>
            <a:r>
              <a:rPr lang="en-US" altLang="zh-CN" sz="2400" b="1" i="1" u="none" dirty="0">
                <a:latin typeface="Times New Roman" panose="02020603050405020304" pitchFamily="18" charset="0"/>
              </a:rPr>
              <a:t>Z</a:t>
            </a:r>
            <a:r>
              <a:rPr lang="zh-CN" altLang="en-US" sz="2400" b="1" u="none" dirty="0">
                <a:latin typeface="Times New Roman" panose="02020603050405020304" pitchFamily="18" charset="0"/>
              </a:rPr>
              <a:t>接近于</a:t>
            </a:r>
            <a:r>
              <a:rPr lang="en-US" altLang="zh-CN" sz="2400" b="1" u="none" dirty="0">
                <a:latin typeface="Times New Roman" panose="02020603050405020304" pitchFamily="18" charset="0"/>
              </a:rPr>
              <a:t>1</a:t>
            </a:r>
            <a:r>
              <a:rPr lang="zh-CN" altLang="en-US" sz="2400" b="1" u="none" dirty="0">
                <a:latin typeface="Times New Roman" panose="02020603050405020304" pitchFamily="18" charset="0"/>
              </a:rPr>
              <a:t>（理想气体）</a:t>
            </a:r>
          </a:p>
        </p:txBody>
      </p:sp>
      <p:sp>
        <p:nvSpPr>
          <p:cNvPr id="160784" name="矩形 160783"/>
          <p:cNvSpPr>
            <a:spLocks noChangeArrowheads="1"/>
          </p:cNvSpPr>
          <p:nvPr/>
        </p:nvSpPr>
        <p:spPr bwMode="auto">
          <a:xfrm>
            <a:off x="3419475" y="4143375"/>
            <a:ext cx="3095625" cy="120015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u="none" dirty="0"/>
              <a:t>在临界点附近，</a:t>
            </a:r>
            <a:r>
              <a:rPr lang="en-US" altLang="zh-CN" sz="2400" b="1" i="1" u="none" dirty="0">
                <a:latin typeface="Times New Roman" panose="02020603050405020304" pitchFamily="18" charset="0"/>
              </a:rPr>
              <a:t>Z</a:t>
            </a:r>
            <a:r>
              <a:rPr lang="zh-CN" altLang="en-US" sz="2400" b="1" u="none" dirty="0"/>
              <a:t>值最小，气体与理想气体状态方程偏差很大</a:t>
            </a:r>
          </a:p>
        </p:txBody>
      </p:sp>
      <p:sp>
        <p:nvSpPr>
          <p:cNvPr id="160786" name="上箭头 160785"/>
          <p:cNvSpPr>
            <a:spLocks noChangeArrowheads="1"/>
          </p:cNvSpPr>
          <p:nvPr/>
        </p:nvSpPr>
        <p:spPr bwMode="auto">
          <a:xfrm rot="5400000">
            <a:off x="2519363" y="4040188"/>
            <a:ext cx="215900" cy="1295400"/>
          </a:xfrm>
          <a:prstGeom prst="upArrow">
            <a:avLst>
              <a:gd name="adj1" fmla="val 50000"/>
              <a:gd name="adj2" fmla="val 149889"/>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ustDataLst>
      <p:tags r:id="rId1"/>
    </p:custDataLst>
    <p:extLst>
      <p:ext uri="{BB962C8B-B14F-4D97-AF65-F5344CB8AC3E}">
        <p14:creationId xmlns:p14="http://schemas.microsoft.com/office/powerpoint/2010/main" val="20018534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0786"/>
                                        </p:tgtEl>
                                        <p:attrNameLst>
                                          <p:attrName>style.visibility</p:attrName>
                                        </p:attrNameLst>
                                      </p:cBhvr>
                                      <p:to>
                                        <p:strVal val="visible"/>
                                      </p:to>
                                    </p:set>
                                    <p:animEffect transition="in" filter="wipe(left)">
                                      <p:cBhvr>
                                        <p:cTn id="7" dur="500"/>
                                        <p:tgtEl>
                                          <p:spTgt spid="16078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0784"/>
                                        </p:tgtEl>
                                        <p:attrNameLst>
                                          <p:attrName>style.visibility</p:attrName>
                                        </p:attrNameLst>
                                      </p:cBhvr>
                                      <p:to>
                                        <p:strVal val="visible"/>
                                      </p:to>
                                    </p:set>
                                    <p:animEffect transition="in" filter="wipe(left)">
                                      <p:cBhvr>
                                        <p:cTn id="10" dur="500"/>
                                        <p:tgtEl>
                                          <p:spTgt spid="16078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60783"/>
                                        </p:tgtEl>
                                        <p:attrNameLst>
                                          <p:attrName>style.visibility</p:attrName>
                                        </p:attrNameLst>
                                      </p:cBhvr>
                                      <p:to>
                                        <p:strVal val="visible"/>
                                      </p:to>
                                    </p:set>
                                    <p:animEffect transition="in" filter="blinds(horizontal)">
                                      <p:cBhvr>
                                        <p:cTn id="15" dur="500"/>
                                        <p:tgtEl>
                                          <p:spTgt spid="160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83" grpId="0" bldLvl="0" animBg="1"/>
      <p:bldP spid="160784" grpId="0" bldLvl="0" animBg="1"/>
    </p:bldLst>
  </p:timing>
  <p:extLst mod="1"/>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矩形 161795"/>
          <p:cNvSpPr>
            <a:spLocks noChangeArrowheads="1"/>
          </p:cNvSpPr>
          <p:nvPr/>
        </p:nvSpPr>
        <p:spPr bwMode="auto">
          <a:xfrm>
            <a:off x="4284663" y="4789488"/>
            <a:ext cx="4248150" cy="156845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u="none" dirty="0"/>
              <a:t>在高压范围（</a:t>
            </a:r>
            <a:r>
              <a:rPr lang="en-US" altLang="zh-CN" sz="2400" b="1" i="1" u="none" dirty="0" err="1">
                <a:latin typeface="Times New Roman" panose="02020603050405020304" pitchFamily="18" charset="0"/>
              </a:rPr>
              <a:t>p</a:t>
            </a:r>
            <a:r>
              <a:rPr lang="en-US" altLang="zh-CN" sz="2400" b="1" u="none" baseline="-25000" dirty="0" err="1">
                <a:latin typeface="Times New Roman" panose="02020603050405020304" pitchFamily="18" charset="0"/>
              </a:rPr>
              <a:t>r</a:t>
            </a:r>
            <a:r>
              <a:rPr lang="en-US" altLang="zh-CN" sz="2400" b="1" u="none" dirty="0">
                <a:latin typeface="Times New Roman" panose="02020603050405020304" pitchFamily="18" charset="0"/>
              </a:rPr>
              <a:t>&gt;10</a:t>
            </a:r>
            <a:r>
              <a:rPr lang="zh-CN" altLang="en-US" sz="2400" b="1" u="none" dirty="0"/>
              <a:t>），压缩因子可以很大，这意味着高压时气体与理想气体之间的差异很大</a:t>
            </a:r>
          </a:p>
        </p:txBody>
      </p:sp>
      <p:pic>
        <p:nvPicPr>
          <p:cNvPr id="48130" name="图片 16179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 y="4076700"/>
            <a:ext cx="3654425" cy="260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1" name="图片 1617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44450"/>
            <a:ext cx="6553200" cy="441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直接连接符 161798"/>
          <p:cNvSpPr>
            <a:spLocks noChangeShapeType="1"/>
          </p:cNvSpPr>
          <p:nvPr/>
        </p:nvSpPr>
        <p:spPr bwMode="auto">
          <a:xfrm>
            <a:off x="4140200" y="4221163"/>
            <a:ext cx="0" cy="936625"/>
          </a:xfrm>
          <a:prstGeom prst="line">
            <a:avLst/>
          </a:prstGeom>
          <a:noFill/>
          <a:ln w="63500">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 name="直接连接符 161799"/>
          <p:cNvSpPr>
            <a:spLocks noChangeShapeType="1"/>
          </p:cNvSpPr>
          <p:nvPr/>
        </p:nvSpPr>
        <p:spPr bwMode="auto">
          <a:xfrm>
            <a:off x="4211638" y="4581525"/>
            <a:ext cx="3816350" cy="0"/>
          </a:xfrm>
          <a:prstGeom prst="line">
            <a:avLst/>
          </a:prstGeom>
          <a:noFill/>
          <a:ln w="635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79096793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文本占位符 162818"/>
          <p:cNvSpPr>
            <a:spLocks noGrp="1" noChangeArrowheads="1"/>
          </p:cNvSpPr>
          <p:nvPr>
            <p:ph idx="1"/>
          </p:nvPr>
        </p:nvSpPr>
        <p:spPr>
          <a:xfrm>
            <a:off x="323850" y="981075"/>
            <a:ext cx="8507413" cy="4525963"/>
          </a:xfrm>
        </p:spPr>
        <p:txBody>
          <a:bodyPr>
            <a:normAutofit/>
          </a:bodyPr>
          <a:lstStyle/>
          <a:p>
            <a:r>
              <a:rPr lang="zh-CN" altLang="en-US" sz="2800" b="1" dirty="0" smtClean="0"/>
              <a:t>对于工程中常用的气体，如水蒸气，</a:t>
            </a:r>
            <a:r>
              <a:rPr lang="en-US" altLang="zh-CN" sz="2800" b="1" dirty="0" smtClean="0">
                <a:latin typeface="Times New Roman" panose="02020603050405020304" pitchFamily="18" charset="0"/>
              </a:rPr>
              <a:t>R134a</a:t>
            </a:r>
            <a:r>
              <a:rPr lang="zh-CN" altLang="en-US" sz="2800" b="1" dirty="0" smtClean="0">
                <a:latin typeface="Times New Roman" panose="02020603050405020304" pitchFamily="18" charset="0"/>
              </a:rPr>
              <a:t>蒸气等，人们已经制作出蒸汽热力性质图表以供查算，我们可直接利用这些图表来获取这些气体的</a:t>
            </a:r>
            <a:r>
              <a:rPr lang="en-US" altLang="zh-CN" sz="2800" b="1" i="1" dirty="0" smtClean="0">
                <a:latin typeface="Times New Roman" panose="02020603050405020304" pitchFamily="18" charset="0"/>
              </a:rPr>
              <a:t>p</a:t>
            </a:r>
            <a:r>
              <a:rPr lang="zh-CN" altLang="en-US" sz="2800" b="1" i="1" dirty="0" smtClean="0">
                <a:latin typeface="Times New Roman" panose="02020603050405020304" pitchFamily="18" charset="0"/>
              </a:rPr>
              <a:t>、</a:t>
            </a:r>
            <a:r>
              <a:rPr lang="en-US" altLang="zh-CN" sz="2800" b="1" i="1" dirty="0" smtClean="0">
                <a:latin typeface="Times New Roman" panose="02020603050405020304" pitchFamily="18" charset="0"/>
              </a:rPr>
              <a:t>T</a:t>
            </a:r>
            <a:r>
              <a:rPr lang="zh-CN" altLang="en-US" sz="2800" b="1" i="1" dirty="0" smtClean="0">
                <a:latin typeface="Times New Roman" panose="02020603050405020304" pitchFamily="18" charset="0"/>
              </a:rPr>
              <a:t>、</a:t>
            </a:r>
            <a:r>
              <a:rPr lang="en-US" altLang="zh-CN" sz="2800" b="1" i="1" dirty="0" smtClean="0">
                <a:latin typeface="Times New Roman" panose="02020603050405020304" pitchFamily="18" charset="0"/>
              </a:rPr>
              <a:t>v</a:t>
            </a:r>
            <a:r>
              <a:rPr lang="zh-CN" altLang="en-US" sz="2800" b="1" dirty="0" smtClean="0">
                <a:latin typeface="Times New Roman" panose="02020603050405020304" pitchFamily="18" charset="0"/>
              </a:rPr>
              <a:t>数值（非常准）</a:t>
            </a:r>
          </a:p>
          <a:p>
            <a:r>
              <a:rPr lang="zh-CN" altLang="en-US" sz="2800" b="1" dirty="0" smtClean="0"/>
              <a:t>在缺乏气体热力性质资料时，通用压缩因子图就非常有用了（其优点是通用性好，适用于各种气体）</a:t>
            </a:r>
          </a:p>
        </p:txBody>
      </p:sp>
    </p:spTree>
    <p:extLst>
      <p:ext uri="{BB962C8B-B14F-4D97-AF65-F5344CB8AC3E}">
        <p14:creationId xmlns:p14="http://schemas.microsoft.com/office/powerpoint/2010/main" val="37525393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64865"/>
          <p:cNvSpPr>
            <a:spLocks noGrp="1" noChangeArrowheads="1"/>
          </p:cNvSpPr>
          <p:nvPr>
            <p:ph type="title"/>
          </p:nvPr>
        </p:nvSpPr>
        <p:spPr>
          <a:xfrm>
            <a:off x="478358" y="249328"/>
            <a:ext cx="8187283" cy="1325563"/>
          </a:xfrm>
        </p:spPr>
        <p:txBody>
          <a:bodyPr/>
          <a:lstStyle/>
          <a:p>
            <a:pPr algn="l"/>
            <a:r>
              <a:rPr lang="zh-CN" altLang="en-US" sz="3200" b="1" dirty="0" smtClean="0"/>
              <a:t>在使用通用压缩因子图过程中，一般分为两种情况</a:t>
            </a:r>
          </a:p>
        </p:txBody>
      </p:sp>
      <p:sp>
        <p:nvSpPr>
          <p:cNvPr id="50178" name="文本占位符 164866"/>
          <p:cNvSpPr>
            <a:spLocks noGrp="1" noChangeArrowheads="1"/>
          </p:cNvSpPr>
          <p:nvPr>
            <p:ph idx="1"/>
          </p:nvPr>
        </p:nvSpPr>
        <p:spPr/>
        <p:txBody>
          <a:bodyPr>
            <a:noAutofit/>
          </a:bodyPr>
          <a:lstStyle/>
          <a:p>
            <a:pPr>
              <a:lnSpc>
                <a:spcPct val="100000"/>
              </a:lnSpc>
            </a:pPr>
            <a:r>
              <a:rPr lang="zh-CN" altLang="en-US" sz="2800" b="1" dirty="0" smtClean="0">
                <a:latin typeface="Times New Roman" panose="02020603050405020304" pitchFamily="18" charset="0"/>
              </a:rPr>
              <a:t>当气体的</a:t>
            </a:r>
            <a:r>
              <a:rPr lang="en-US" altLang="zh-CN" sz="2800" b="1" i="1" dirty="0" smtClean="0">
                <a:latin typeface="Times New Roman" panose="02020603050405020304" pitchFamily="18" charset="0"/>
              </a:rPr>
              <a:t>p</a:t>
            </a:r>
            <a:r>
              <a:rPr lang="zh-CN" altLang="en-US" sz="2800" b="1" i="1" dirty="0" smtClean="0">
                <a:latin typeface="Times New Roman" panose="02020603050405020304" pitchFamily="18" charset="0"/>
              </a:rPr>
              <a:t>、</a:t>
            </a:r>
            <a:r>
              <a:rPr lang="en-US" altLang="zh-CN" sz="2800" b="1" i="1" dirty="0" smtClean="0">
                <a:latin typeface="Times New Roman" panose="02020603050405020304" pitchFamily="18" charset="0"/>
              </a:rPr>
              <a:t>T</a:t>
            </a:r>
            <a:r>
              <a:rPr lang="zh-CN" altLang="en-US" sz="2800" b="1" dirty="0" smtClean="0">
                <a:latin typeface="Times New Roman" panose="02020603050405020304" pitchFamily="18" charset="0"/>
              </a:rPr>
              <a:t>给定时，可根据气体的</a:t>
            </a:r>
            <a:r>
              <a:rPr lang="en-US" altLang="zh-CN" sz="2800" b="1" i="1" dirty="0" err="1" smtClean="0">
                <a:latin typeface="Times New Roman" panose="02020603050405020304" pitchFamily="18" charset="0"/>
              </a:rPr>
              <a:t>p</a:t>
            </a:r>
            <a:r>
              <a:rPr lang="en-US" altLang="zh-CN" sz="2800" b="1" baseline="-25000" dirty="0" err="1" smtClean="0">
                <a:latin typeface="Times New Roman" panose="02020603050405020304" pitchFamily="18" charset="0"/>
              </a:rPr>
              <a:t>cr</a:t>
            </a:r>
            <a:r>
              <a:rPr lang="zh-CN" altLang="en-US" sz="2800" b="1" dirty="0" smtClean="0">
                <a:latin typeface="Times New Roman" panose="02020603050405020304" pitchFamily="18" charset="0"/>
              </a:rPr>
              <a:t>和</a:t>
            </a:r>
            <a:r>
              <a:rPr lang="en-US" altLang="zh-CN" sz="2800" b="1" i="1" dirty="0" err="1" smtClean="0">
                <a:latin typeface="Times New Roman" panose="02020603050405020304" pitchFamily="18" charset="0"/>
              </a:rPr>
              <a:t>T</a:t>
            </a:r>
            <a:r>
              <a:rPr lang="en-US" altLang="zh-CN" sz="2800" b="1" baseline="-25000" dirty="0" err="1" smtClean="0">
                <a:latin typeface="Times New Roman" panose="02020603050405020304" pitchFamily="18" charset="0"/>
              </a:rPr>
              <a:t>cr</a:t>
            </a:r>
            <a:r>
              <a:rPr lang="zh-CN" altLang="en-US" sz="2800" b="1" dirty="0" smtClean="0">
                <a:latin typeface="Times New Roman" panose="02020603050405020304" pitchFamily="18" charset="0"/>
              </a:rPr>
              <a:t>利用公式</a:t>
            </a:r>
          </a:p>
          <a:p>
            <a:endParaRPr lang="zh-CN" altLang="en-US" dirty="0" smtClean="0"/>
          </a:p>
          <a:p>
            <a:endParaRPr lang="zh-CN" altLang="en-US" dirty="0" smtClean="0"/>
          </a:p>
          <a:p>
            <a:pPr indent="0">
              <a:lnSpc>
                <a:spcPct val="110000"/>
              </a:lnSpc>
              <a:buFontTx/>
              <a:buNone/>
            </a:pPr>
            <a:r>
              <a:rPr lang="zh-CN" altLang="en-US" sz="2800" b="1" dirty="0" smtClean="0">
                <a:latin typeface="Times New Roman" panose="02020603050405020304" pitchFamily="18" charset="0"/>
              </a:rPr>
              <a:t>求出</a:t>
            </a:r>
            <a:r>
              <a:rPr lang="en-US" altLang="zh-CN" sz="2800" b="1" i="1" dirty="0" err="1" smtClean="0">
                <a:latin typeface="Times New Roman" panose="02020603050405020304" pitchFamily="18" charset="0"/>
              </a:rPr>
              <a:t>p</a:t>
            </a:r>
            <a:r>
              <a:rPr lang="en-US" altLang="zh-CN" sz="2800" b="1" baseline="-25000" dirty="0" err="1" smtClean="0">
                <a:latin typeface="Times New Roman" panose="02020603050405020304" pitchFamily="18" charset="0"/>
              </a:rPr>
              <a:t>r</a:t>
            </a:r>
            <a:r>
              <a:rPr lang="zh-CN" altLang="en-US" sz="2800" b="1" dirty="0" smtClean="0">
                <a:latin typeface="Times New Roman" panose="02020603050405020304" pitchFamily="18" charset="0"/>
              </a:rPr>
              <a:t>和</a:t>
            </a:r>
            <a:r>
              <a:rPr lang="en-US" altLang="zh-CN" sz="2800" b="1" i="1" dirty="0" err="1" smtClean="0">
                <a:latin typeface="Times New Roman" panose="02020603050405020304" pitchFamily="18" charset="0"/>
              </a:rPr>
              <a:t>T</a:t>
            </a:r>
            <a:r>
              <a:rPr lang="en-US" altLang="zh-CN" sz="2800" b="1" baseline="-25000" dirty="0" err="1" smtClean="0">
                <a:latin typeface="Times New Roman" panose="02020603050405020304" pitchFamily="18" charset="0"/>
              </a:rPr>
              <a:t>r</a:t>
            </a:r>
            <a:r>
              <a:rPr lang="zh-CN" altLang="en-US" sz="2800" b="1" dirty="0" smtClean="0">
                <a:latin typeface="Times New Roman" panose="02020603050405020304" pitchFamily="18" charset="0"/>
              </a:rPr>
              <a:t>，然后在通用压缩因子图查取出</a:t>
            </a:r>
            <a:r>
              <a:rPr lang="en-US" altLang="zh-CN" sz="2800" b="1" i="1" dirty="0" smtClean="0">
                <a:latin typeface="Times New Roman" panose="02020603050405020304" pitchFamily="18" charset="0"/>
              </a:rPr>
              <a:t>Z</a:t>
            </a:r>
            <a:r>
              <a:rPr lang="zh-CN" altLang="en-US" sz="2800" b="1" dirty="0" smtClean="0">
                <a:latin typeface="Times New Roman" panose="02020603050405020304" pitchFamily="18" charset="0"/>
              </a:rPr>
              <a:t>值</a:t>
            </a:r>
            <a:r>
              <a:rPr lang="zh-CN" altLang="en-US" sz="2800" b="1" dirty="0">
                <a:latin typeface="Times New Roman" panose="02020603050405020304" pitchFamily="18" charset="0"/>
              </a:rPr>
              <a:t>，</a:t>
            </a:r>
            <a:r>
              <a:rPr lang="zh-CN" altLang="en-US" sz="2800" b="1" dirty="0" smtClean="0">
                <a:latin typeface="Times New Roman" panose="02020603050405020304" pitchFamily="18" charset="0"/>
              </a:rPr>
              <a:t>最后利用关系</a:t>
            </a:r>
            <a:r>
              <a:rPr lang="zh-CN" altLang="en-US" sz="2800" b="1" dirty="0" smtClean="0"/>
              <a:t>式</a:t>
            </a:r>
            <a:endParaRPr lang="en-US" altLang="zh-CN" sz="2800" b="1" dirty="0" smtClean="0"/>
          </a:p>
          <a:p>
            <a:pPr>
              <a:buFontTx/>
              <a:buNone/>
            </a:pPr>
            <a:endParaRPr lang="en-US" altLang="zh-CN" sz="2800" b="1" dirty="0"/>
          </a:p>
          <a:p>
            <a:pPr>
              <a:buFontTx/>
              <a:buNone/>
            </a:pPr>
            <a:endParaRPr lang="zh-CN" altLang="en-US" sz="2800" b="1" dirty="0" smtClean="0"/>
          </a:p>
          <a:p>
            <a:pPr>
              <a:buFontTx/>
              <a:buNone/>
            </a:pPr>
            <a:r>
              <a:rPr lang="zh-CN" altLang="en-US" sz="2800" b="1" dirty="0" smtClean="0"/>
              <a:t> 求出气体的第三个状态参数</a:t>
            </a:r>
            <a:r>
              <a:rPr lang="en-US" altLang="zh-CN" sz="2800" b="1" i="1" dirty="0" smtClean="0">
                <a:latin typeface="Times New Roman" panose="02020603050405020304" pitchFamily="18" charset="0"/>
              </a:rPr>
              <a:t>v</a:t>
            </a:r>
          </a:p>
        </p:txBody>
      </p:sp>
      <p:graphicFrame>
        <p:nvGraphicFramePr>
          <p:cNvPr id="50179" name="对象 164870"/>
          <p:cNvGraphicFramePr>
            <a:graphicFrameLocks noChangeAspect="1"/>
          </p:cNvGraphicFramePr>
          <p:nvPr>
            <p:extLst>
              <p:ext uri="{D42A27DB-BD31-4B8C-83A1-F6EECF244321}">
                <p14:modId xmlns:p14="http://schemas.microsoft.com/office/powerpoint/2010/main" val="1707117048"/>
              </p:ext>
            </p:extLst>
          </p:nvPr>
        </p:nvGraphicFramePr>
        <p:xfrm>
          <a:off x="3241007" y="4702102"/>
          <a:ext cx="1838325" cy="568325"/>
        </p:xfrm>
        <a:graphic>
          <a:graphicData uri="http://schemas.openxmlformats.org/presentationml/2006/ole">
            <mc:AlternateContent xmlns:mc="http://schemas.openxmlformats.org/markup-compatibility/2006">
              <mc:Choice xmlns:v="urn:schemas-microsoft-com:vml" Requires="v">
                <p:oleObj spid="_x0000_s15446" name="Equation" r:id="rId3" imgW="774364" imgH="241195" progId="Equation.DSMT4">
                  <p:embed/>
                </p:oleObj>
              </mc:Choice>
              <mc:Fallback>
                <p:oleObj name="Equation" r:id="rId3" imgW="774364" imgH="241195" progId="Equation.DSMT4">
                  <p:embed/>
                  <p:pic>
                    <p:nvPicPr>
                      <p:cNvPr id="50179" name="对象 1648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1007" y="4702102"/>
                        <a:ext cx="183832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0180" name="对象 157703"/>
          <p:cNvGraphicFramePr>
            <a:graphicFrameLocks noChangeAspect="1"/>
          </p:cNvGraphicFramePr>
          <p:nvPr>
            <p:extLst>
              <p:ext uri="{D42A27DB-BD31-4B8C-83A1-F6EECF244321}">
                <p14:modId xmlns:p14="http://schemas.microsoft.com/office/powerpoint/2010/main" val="2695666791"/>
              </p:ext>
            </p:extLst>
          </p:nvPr>
        </p:nvGraphicFramePr>
        <p:xfrm>
          <a:off x="2878331" y="2532815"/>
          <a:ext cx="2828925" cy="1022350"/>
        </p:xfrm>
        <a:graphic>
          <a:graphicData uri="http://schemas.openxmlformats.org/presentationml/2006/ole">
            <mc:AlternateContent xmlns:mc="http://schemas.openxmlformats.org/markup-compatibility/2006">
              <mc:Choice xmlns:v="urn:schemas-microsoft-com:vml" Requires="v">
                <p:oleObj spid="_x0000_s15447" r:id="rId5" imgW="1193760" imgH="431640" progId="Equation.DSMT4">
                  <p:embed/>
                </p:oleObj>
              </mc:Choice>
              <mc:Fallback>
                <p:oleObj r:id="rId5" imgW="1193760" imgH="431640" progId="Equation.DSMT4">
                  <p:embed/>
                  <p:pic>
                    <p:nvPicPr>
                      <p:cNvPr id="50180" name="对象 15770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8331" y="2532815"/>
                        <a:ext cx="282892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81834082"/>
      </p:ext>
    </p:extLst>
  </p:cSld>
  <p:clrMapOvr>
    <a:masterClrMapping/>
  </p:clrMapOvr>
  <p:transition/>
  <p:timing>
    <p:tnLst>
      <p:par>
        <p:cTn id="1" dur="indefinite" restart="never" nodeType="tmRoot"/>
      </p:par>
    </p:tnLst>
  </p:timing>
  <p:extLst mod="1"/>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文本占位符 163842"/>
          <p:cNvSpPr>
            <a:spLocks noGrp="1" noChangeArrowheads="1"/>
          </p:cNvSpPr>
          <p:nvPr>
            <p:ph idx="1"/>
          </p:nvPr>
        </p:nvSpPr>
        <p:spPr>
          <a:xfrm>
            <a:off x="457200" y="572140"/>
            <a:ext cx="8229600" cy="3095625"/>
          </a:xfrm>
        </p:spPr>
        <p:txBody>
          <a:bodyPr>
            <a:normAutofit/>
          </a:bodyPr>
          <a:lstStyle/>
          <a:p>
            <a:pPr>
              <a:lnSpc>
                <a:spcPct val="100000"/>
              </a:lnSpc>
            </a:pPr>
            <a:r>
              <a:rPr lang="zh-CN" altLang="en-US" sz="2800" b="1" dirty="0" smtClean="0">
                <a:latin typeface="Times New Roman" panose="02020603050405020304" pitchFamily="18" charset="0"/>
              </a:rPr>
              <a:t>当气体的</a:t>
            </a:r>
            <a:r>
              <a:rPr lang="en-US" altLang="zh-CN" sz="2800" b="1" i="1" dirty="0" smtClean="0">
                <a:latin typeface="Times New Roman" panose="02020603050405020304" pitchFamily="18" charset="0"/>
              </a:rPr>
              <a:t>p</a:t>
            </a:r>
            <a:r>
              <a:rPr lang="zh-CN" altLang="en-US" sz="2800" b="1" i="1" dirty="0" smtClean="0">
                <a:latin typeface="Times New Roman" panose="02020603050405020304" pitchFamily="18" charset="0"/>
              </a:rPr>
              <a:t>、</a:t>
            </a:r>
            <a:r>
              <a:rPr lang="en-US" altLang="zh-CN" sz="2800" b="1" i="1" dirty="0" smtClean="0">
                <a:latin typeface="Times New Roman" panose="02020603050405020304" pitchFamily="18" charset="0"/>
              </a:rPr>
              <a:t>v</a:t>
            </a:r>
            <a:r>
              <a:rPr lang="zh-CN" altLang="en-US" sz="2800" b="1" dirty="0" smtClean="0">
                <a:latin typeface="Times New Roman" panose="02020603050405020304" pitchFamily="18" charset="0"/>
              </a:rPr>
              <a:t>给定，或是</a:t>
            </a:r>
            <a:r>
              <a:rPr lang="en-US" altLang="zh-CN" sz="2800" b="1" i="1" dirty="0" smtClean="0">
                <a:latin typeface="Times New Roman" panose="02020603050405020304" pitchFamily="18" charset="0"/>
              </a:rPr>
              <a:t>v</a:t>
            </a:r>
            <a:r>
              <a:rPr lang="zh-CN" altLang="en-US" sz="2800" b="1" i="1" dirty="0" smtClean="0">
                <a:latin typeface="Times New Roman" panose="02020603050405020304" pitchFamily="18" charset="0"/>
              </a:rPr>
              <a:t>、</a:t>
            </a:r>
            <a:r>
              <a:rPr lang="en-US" altLang="zh-CN" sz="2800" b="1" i="1" dirty="0" smtClean="0">
                <a:latin typeface="Times New Roman" panose="02020603050405020304" pitchFamily="18" charset="0"/>
              </a:rPr>
              <a:t>T</a:t>
            </a:r>
            <a:r>
              <a:rPr lang="zh-CN" altLang="en-US" sz="2800" b="1" dirty="0" smtClean="0">
                <a:latin typeface="Times New Roman" panose="02020603050405020304" pitchFamily="18" charset="0"/>
              </a:rPr>
              <a:t>给定时，仍然可利用通用压缩因子图确定第三个状态参数，但此时</a:t>
            </a:r>
            <a:r>
              <a:rPr lang="zh-CN" altLang="en-US" sz="2800" b="1" dirty="0" smtClean="0"/>
              <a:t>需要采用试凑和迭代法，给计算带来不便。为了避免繁琐而耗时的计算，可定义另一个对比参数，称为拟对比比体积： </a:t>
            </a:r>
          </a:p>
        </p:txBody>
      </p:sp>
      <p:sp>
        <p:nvSpPr>
          <p:cNvPr id="51202" name="矩形 163844"/>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1203" name="对象 163843"/>
          <p:cNvGraphicFramePr>
            <a:graphicFrameLocks noChangeAspect="1"/>
          </p:cNvGraphicFramePr>
          <p:nvPr>
            <p:extLst>
              <p:ext uri="{D42A27DB-BD31-4B8C-83A1-F6EECF244321}">
                <p14:modId xmlns:p14="http://schemas.microsoft.com/office/powerpoint/2010/main" val="231611018"/>
              </p:ext>
            </p:extLst>
          </p:nvPr>
        </p:nvGraphicFramePr>
        <p:xfrm>
          <a:off x="3241136" y="2807209"/>
          <a:ext cx="2157984" cy="1049020"/>
        </p:xfrm>
        <a:graphic>
          <a:graphicData uri="http://schemas.openxmlformats.org/presentationml/2006/ole">
            <mc:AlternateContent xmlns:mc="http://schemas.openxmlformats.org/markup-compatibility/2006">
              <mc:Choice xmlns:v="urn:schemas-microsoft-com:vml" Requires="v">
                <p:oleObj spid="_x0000_s16470" r:id="rId3" imgW="914400" imgH="444500" progId="Equation.DSMT4">
                  <p:embed/>
                </p:oleObj>
              </mc:Choice>
              <mc:Fallback>
                <p:oleObj r:id="rId3" imgW="914400" imgH="444500" progId="Equation.DSMT4">
                  <p:embed/>
                  <p:pic>
                    <p:nvPicPr>
                      <p:cNvPr id="51203" name="对象 16384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1136" y="2807209"/>
                        <a:ext cx="2157984" cy="1049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04" name="矩形 163845"/>
          <p:cNvSpPr>
            <a:spLocks noChangeArrowheads="1"/>
          </p:cNvSpPr>
          <p:nvPr/>
        </p:nvSpPr>
        <p:spPr bwMode="auto">
          <a:xfrm>
            <a:off x="573824" y="4568486"/>
            <a:ext cx="77604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zh-CN" altLang="en-US" sz="2800" b="1" u="none" dirty="0"/>
              <a:t>通用压缩因子图同时包含了  </a:t>
            </a:r>
            <a:r>
              <a:rPr lang="zh-CN" altLang="en-US" sz="2800" b="1" u="none" dirty="0" smtClean="0"/>
              <a:t>作为</a:t>
            </a:r>
            <a:r>
              <a:rPr lang="zh-CN" altLang="en-US" sz="2800" b="1" u="none" dirty="0"/>
              <a:t>参变量的曲线</a:t>
            </a:r>
          </a:p>
        </p:txBody>
      </p:sp>
      <p:graphicFrame>
        <p:nvGraphicFramePr>
          <p:cNvPr id="51205" name="对象 163850"/>
          <p:cNvGraphicFramePr>
            <a:graphicFrameLocks noChangeAspect="1"/>
          </p:cNvGraphicFramePr>
          <p:nvPr>
            <p:extLst>
              <p:ext uri="{D42A27DB-BD31-4B8C-83A1-F6EECF244321}">
                <p14:modId xmlns:p14="http://schemas.microsoft.com/office/powerpoint/2010/main" val="2893719549"/>
              </p:ext>
            </p:extLst>
          </p:nvPr>
        </p:nvGraphicFramePr>
        <p:xfrm>
          <a:off x="4915663" y="4601496"/>
          <a:ext cx="360875" cy="541313"/>
        </p:xfrm>
        <a:graphic>
          <a:graphicData uri="http://schemas.openxmlformats.org/presentationml/2006/ole">
            <mc:AlternateContent xmlns:mc="http://schemas.openxmlformats.org/markup-compatibility/2006">
              <mc:Choice xmlns:v="urn:schemas-microsoft-com:vml" Requires="v">
                <p:oleObj spid="_x0000_s16471" r:id="rId5" imgW="152268" imgH="228402" progId="Equation.DSMT4">
                  <p:embed/>
                </p:oleObj>
              </mc:Choice>
              <mc:Fallback>
                <p:oleObj r:id="rId5" imgW="152268" imgH="228402" progId="Equation.DSMT4">
                  <p:embed/>
                  <p:pic>
                    <p:nvPicPr>
                      <p:cNvPr id="51205" name="对象 16385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5663" y="4601496"/>
                        <a:ext cx="360875" cy="5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53473388"/>
      </p:ext>
    </p:extLst>
  </p:cSld>
  <p:clrMapOvr>
    <a:masterClrMapping/>
  </p:clrMapOvr>
  <p:transition/>
  <p:timing>
    <p:tnLst>
      <p:par>
        <p:cTn id="1" dur="indefinite" restart="never" nodeType="tmRoot"/>
      </p:par>
    </p:tnLst>
  </p:timing>
  <p:extLst mod="1"/>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图片 1679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60350"/>
            <a:ext cx="8650288" cy="59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7056783"/>
      </p:ext>
    </p:extLst>
  </p:cSld>
  <p:clrMapOvr>
    <a:masterClrMapping/>
  </p:clrMapOvr>
  <p:transition/>
  <p:timing>
    <p:tnLst>
      <p:par>
        <p:cTn id="1" dur="indefinite" restart="never" nodeType="tmRoot"/>
      </p:par>
    </p:tnLst>
  </p:timing>
  <p:extLst mod="1"/>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文本占位符 174082"/>
          <p:cNvSpPr>
            <a:spLocks noGrp="1" noChangeArrowheads="1"/>
          </p:cNvSpPr>
          <p:nvPr>
            <p:ph idx="1"/>
          </p:nvPr>
        </p:nvSpPr>
        <p:spPr>
          <a:xfrm>
            <a:off x="457200" y="981075"/>
            <a:ext cx="8229600" cy="4525963"/>
          </a:xfrm>
        </p:spPr>
        <p:txBody>
          <a:bodyPr>
            <a:normAutofit/>
          </a:bodyPr>
          <a:lstStyle/>
          <a:p>
            <a:pPr>
              <a:lnSpc>
                <a:spcPct val="100000"/>
              </a:lnSpc>
            </a:pPr>
            <a:r>
              <a:rPr lang="zh-CN" altLang="en-US" sz="2800" b="1" dirty="0" smtClean="0"/>
              <a:t>通用压缩因子图的</a:t>
            </a:r>
            <a:r>
              <a:rPr lang="zh-CN" altLang="en-US" sz="2800" b="1" dirty="0" smtClean="0">
                <a:solidFill>
                  <a:srgbClr val="FF0000"/>
                </a:solidFill>
              </a:rPr>
              <a:t>通用性</a:t>
            </a:r>
            <a:r>
              <a:rPr lang="zh-CN" altLang="en-US" sz="2800" b="1" dirty="0" smtClean="0"/>
              <a:t>是它的优点，对各种物质只需要知道它们的临界点参数就可以应用该图进行热力状态参数的计算</a:t>
            </a:r>
          </a:p>
          <a:p>
            <a:pPr>
              <a:lnSpc>
                <a:spcPct val="100000"/>
              </a:lnSpc>
            </a:pPr>
            <a:r>
              <a:rPr lang="zh-CN" altLang="en-US" sz="2800" b="1" dirty="0" smtClean="0"/>
              <a:t>但是，由于</a:t>
            </a:r>
            <a:r>
              <a:rPr lang="zh-CN" altLang="en-US" sz="2800" b="1" dirty="0" smtClean="0">
                <a:solidFill>
                  <a:srgbClr val="FF0000"/>
                </a:solidFill>
              </a:rPr>
              <a:t>对应态定律只是近似的</a:t>
            </a:r>
            <a:r>
              <a:rPr lang="zh-CN" altLang="en-US" sz="2800" b="1" dirty="0" smtClean="0"/>
              <a:t>，所以对于一些气体，如氢、氦等，通用压缩因子图有时并不能给出较精确的结果</a:t>
            </a:r>
          </a:p>
          <a:p>
            <a:pPr>
              <a:lnSpc>
                <a:spcPct val="100000"/>
              </a:lnSpc>
            </a:pPr>
            <a:r>
              <a:rPr lang="zh-CN" altLang="en-US" sz="2800" b="1" dirty="0" smtClean="0"/>
              <a:t>在有气体的热力性质图表的情况下，就不宜再用通用压缩因子图计算了</a:t>
            </a:r>
          </a:p>
        </p:txBody>
      </p:sp>
    </p:spTree>
    <p:extLst>
      <p:ext uri="{BB962C8B-B14F-4D97-AF65-F5344CB8AC3E}">
        <p14:creationId xmlns:p14="http://schemas.microsoft.com/office/powerpoint/2010/main" val="5383976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extLst mod="1"/>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68961"/>
          <p:cNvSpPr>
            <a:spLocks noGrp="1" noChangeArrowheads="1"/>
          </p:cNvSpPr>
          <p:nvPr>
            <p:ph type="title"/>
          </p:nvPr>
        </p:nvSpPr>
        <p:spPr>
          <a:xfrm>
            <a:off x="539750" y="184150"/>
            <a:ext cx="7886700" cy="1325563"/>
          </a:xfrm>
        </p:spPr>
        <p:txBody>
          <a:bodyPr/>
          <a:lstStyle/>
          <a:p>
            <a:r>
              <a:rPr lang="zh-CN" altLang="en-US" sz="3200" b="1" dirty="0" smtClean="0">
                <a:solidFill>
                  <a:srgbClr val="FF0000"/>
                </a:solidFill>
                <a:ea typeface="黑体" panose="02010609060101010101" pitchFamily="49" charset="-122"/>
              </a:rPr>
              <a:t>举例：</a:t>
            </a:r>
            <a:r>
              <a:rPr lang="zh-CN" altLang="en-US" sz="3200" b="1" dirty="0" smtClean="0">
                <a:ea typeface="黑体" panose="02010609060101010101" pitchFamily="49" charset="-122"/>
              </a:rPr>
              <a:t>利用通用压缩因子图确定气体压力</a:t>
            </a:r>
            <a:r>
              <a:rPr lang="zh-CN" altLang="en-US" sz="4000" dirty="0" smtClean="0"/>
              <a:t> </a:t>
            </a:r>
          </a:p>
        </p:txBody>
      </p:sp>
      <p:sp>
        <p:nvSpPr>
          <p:cNvPr id="53250" name="矩形 168964"/>
          <p:cNvSpPr>
            <a:spLocks noChangeArrowheads="1"/>
          </p:cNvSpPr>
          <p:nvPr/>
        </p:nvSpPr>
        <p:spPr bwMode="auto">
          <a:xfrm>
            <a:off x="0" y="2914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1" name="矩形 168966"/>
          <p:cNvSpPr>
            <a:spLocks noChangeArrowheads="1"/>
          </p:cNvSpPr>
          <p:nvPr/>
        </p:nvSpPr>
        <p:spPr bwMode="auto">
          <a:xfrm>
            <a:off x="0" y="2876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3" name="矩形 168967"/>
          <p:cNvSpPr>
            <a:spLocks noChangeArrowheads="1"/>
          </p:cNvSpPr>
          <p:nvPr/>
        </p:nvSpPr>
        <p:spPr bwMode="auto">
          <a:xfrm>
            <a:off x="2339975" y="1908085"/>
            <a:ext cx="645501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400" b="1" u="none" dirty="0"/>
              <a:t>已知水蒸气的温度和比体积，试通过以下三种方法确定水蒸气的压力</a:t>
            </a:r>
            <a:r>
              <a:rPr lang="zh-CN" altLang="en-US" sz="2400" b="1" u="none" dirty="0" smtClean="0"/>
              <a:t>：</a:t>
            </a:r>
            <a:r>
              <a:rPr lang="zh-CN" altLang="en-US" sz="2400" b="1" u="none" dirty="0" smtClean="0">
                <a:latin typeface="Times New Roman" panose="02020603050405020304" pitchFamily="18" charset="0"/>
              </a:rPr>
              <a:t>（</a:t>
            </a:r>
            <a:r>
              <a:rPr lang="en-US" altLang="zh-CN" sz="2400" b="1" u="none" dirty="0">
                <a:latin typeface="Times New Roman" panose="02020603050405020304" pitchFamily="18" charset="0"/>
              </a:rPr>
              <a:t>1</a:t>
            </a:r>
            <a:r>
              <a:rPr lang="zh-CN" altLang="en-US" sz="2400" b="1" u="none" dirty="0">
                <a:latin typeface="Times New Roman" panose="02020603050405020304" pitchFamily="18" charset="0"/>
              </a:rPr>
              <a:t>）水蒸气表；（</a:t>
            </a:r>
            <a:r>
              <a:rPr lang="en-US" altLang="zh-CN" sz="2400" b="1" u="none" dirty="0">
                <a:latin typeface="Times New Roman" panose="02020603050405020304" pitchFamily="18" charset="0"/>
              </a:rPr>
              <a:t>2</a:t>
            </a:r>
            <a:r>
              <a:rPr lang="zh-CN" altLang="en-US" sz="2400" b="1" u="none" dirty="0">
                <a:latin typeface="Times New Roman" panose="02020603050405020304" pitchFamily="18" charset="0"/>
              </a:rPr>
              <a:t>）理想气体状态方程；（</a:t>
            </a:r>
            <a:r>
              <a:rPr lang="en-US" altLang="zh-CN" sz="2400" b="1" u="none" dirty="0">
                <a:latin typeface="Times New Roman" panose="02020603050405020304" pitchFamily="18" charset="0"/>
              </a:rPr>
              <a:t>3</a:t>
            </a:r>
            <a:r>
              <a:rPr lang="zh-CN" altLang="en-US" sz="2400" b="1" u="none" dirty="0">
                <a:latin typeface="Times New Roman" panose="02020603050405020304" pitchFamily="18" charset="0"/>
              </a:rPr>
              <a:t>）通</a:t>
            </a:r>
            <a:r>
              <a:rPr lang="zh-CN" altLang="en-US" sz="2400" b="1" u="none" dirty="0"/>
              <a:t>用压缩因子图。</a:t>
            </a:r>
            <a:r>
              <a:rPr lang="zh-CN" altLang="en-US" sz="2400" b="1" dirty="0"/>
              <a:t> </a:t>
            </a:r>
          </a:p>
        </p:txBody>
      </p:sp>
      <p:sp>
        <p:nvSpPr>
          <p:cNvPr id="53254" name="矩形 168972"/>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5" name="矩形 168973"/>
          <p:cNvSpPr>
            <a:spLocks noChangeArrowheads="1"/>
          </p:cNvSpPr>
          <p:nvPr/>
        </p:nvSpPr>
        <p:spPr bwMode="auto">
          <a:xfrm>
            <a:off x="0" y="3548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6" name="矩形 168974"/>
          <p:cNvSpPr>
            <a:spLocks noChangeArrowheads="1"/>
          </p:cNvSpPr>
          <p:nvPr/>
        </p:nvSpPr>
        <p:spPr bwMode="auto">
          <a:xfrm>
            <a:off x="971550" y="3858568"/>
            <a:ext cx="57534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u="none" dirty="0">
                <a:latin typeface="Times New Roman" panose="02020603050405020304" pitchFamily="18" charset="0"/>
              </a:rPr>
              <a:t>（</a:t>
            </a:r>
            <a:r>
              <a:rPr lang="en-US" altLang="zh-CN" sz="2400" b="1" u="none" dirty="0">
                <a:latin typeface="Times New Roman" panose="02020603050405020304" pitchFamily="18" charset="0"/>
              </a:rPr>
              <a:t>1</a:t>
            </a:r>
            <a:r>
              <a:rPr lang="zh-CN" altLang="en-US" sz="2400" b="1" u="none" dirty="0">
                <a:latin typeface="Times New Roman" panose="02020603050405020304" pitchFamily="18" charset="0"/>
              </a:rPr>
              <a:t>）</a:t>
            </a:r>
            <a:r>
              <a:rPr lang="zh-CN" altLang="en-US" sz="2400" b="1" u="none" dirty="0"/>
              <a:t>查取水蒸气表</a:t>
            </a:r>
            <a:r>
              <a:rPr lang="zh-CN" altLang="en-US" sz="2400" b="1" u="none" dirty="0" smtClean="0"/>
              <a:t>（书后</a:t>
            </a:r>
            <a:r>
              <a:rPr lang="zh-CN" altLang="en-US" sz="2400" b="1" u="none" dirty="0"/>
              <a:t>附表），可知</a:t>
            </a:r>
            <a:r>
              <a:rPr lang="zh-CN" altLang="en-US" sz="2400" b="1" dirty="0"/>
              <a:t> </a:t>
            </a:r>
          </a:p>
        </p:txBody>
      </p:sp>
      <p:sp>
        <p:nvSpPr>
          <p:cNvPr id="53257" name="矩形 168976"/>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3258" name="对象 168975"/>
          <p:cNvGraphicFramePr>
            <a:graphicFrameLocks noChangeAspect="1"/>
          </p:cNvGraphicFramePr>
          <p:nvPr>
            <p:extLst>
              <p:ext uri="{D42A27DB-BD31-4B8C-83A1-F6EECF244321}">
                <p14:modId xmlns:p14="http://schemas.microsoft.com/office/powerpoint/2010/main" val="1690449858"/>
              </p:ext>
            </p:extLst>
          </p:nvPr>
        </p:nvGraphicFramePr>
        <p:xfrm>
          <a:off x="1343751" y="4526624"/>
          <a:ext cx="5562600" cy="965200"/>
        </p:xfrm>
        <a:graphic>
          <a:graphicData uri="http://schemas.openxmlformats.org/presentationml/2006/ole">
            <mc:AlternateContent xmlns:mc="http://schemas.openxmlformats.org/markup-compatibility/2006">
              <mc:Choice xmlns:v="urn:schemas-microsoft-com:vml" Requires="v">
                <p:oleObj spid="_x0000_s17494" r:id="rId3" imgW="2781300" imgH="482600" progId="Equation.DSMT4">
                  <p:embed/>
                </p:oleObj>
              </mc:Choice>
              <mc:Fallback>
                <p:oleObj r:id="rId3" imgW="2781300" imgH="482600" progId="Equation.DSMT4">
                  <p:embed/>
                  <p:pic>
                    <p:nvPicPr>
                      <p:cNvPr id="53258" name="对象 16897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3751" y="4526624"/>
                        <a:ext cx="55626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3259" name="矩形 168977"/>
          <p:cNvSpPr>
            <a:spLocks noChangeArrowheads="1"/>
          </p:cNvSpPr>
          <p:nvPr/>
        </p:nvSpPr>
        <p:spPr bwMode="auto">
          <a:xfrm>
            <a:off x="612422" y="5747413"/>
            <a:ext cx="79191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u="none" dirty="0" smtClean="0">
                <a:solidFill>
                  <a:srgbClr val="0070C0"/>
                </a:solidFill>
              </a:rPr>
              <a:t>水蒸气</a:t>
            </a:r>
            <a:r>
              <a:rPr lang="zh-CN" altLang="en-US" sz="2400" b="1" u="none" dirty="0">
                <a:solidFill>
                  <a:srgbClr val="0070C0"/>
                </a:solidFill>
              </a:rPr>
              <a:t>表是通过实验数据得到的，因此该数值是很准确的</a:t>
            </a:r>
            <a:endParaRPr lang="zh-CN" altLang="en-US" sz="2400" b="1" dirty="0">
              <a:solidFill>
                <a:srgbClr val="0070C0"/>
              </a:solidFill>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0181" y="1705423"/>
            <a:ext cx="1804572" cy="1700931"/>
          </a:xfrm>
          <a:prstGeom prst="rect">
            <a:avLst/>
          </a:prstGeom>
        </p:spPr>
      </p:pic>
    </p:spTree>
    <p:extLst>
      <p:ext uri="{BB962C8B-B14F-4D97-AF65-F5344CB8AC3E}">
        <p14:creationId xmlns:p14="http://schemas.microsoft.com/office/powerpoint/2010/main" val="878573550"/>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矩形 169987"/>
          <p:cNvSpPr>
            <a:spLocks noChangeArrowheads="1"/>
          </p:cNvSpPr>
          <p:nvPr/>
        </p:nvSpPr>
        <p:spPr bwMode="auto">
          <a:xfrm>
            <a:off x="2843213" y="547043"/>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u="none" dirty="0"/>
              <a:t>（</a:t>
            </a:r>
            <a:r>
              <a:rPr lang="en-US" altLang="zh-CN" sz="2400" b="1" u="none" dirty="0">
                <a:latin typeface="Times New Roman" panose="02020603050405020304" pitchFamily="18" charset="0"/>
              </a:rPr>
              <a:t>2</a:t>
            </a:r>
            <a:r>
              <a:rPr lang="zh-CN" altLang="en-US" sz="2400" b="1" u="none" dirty="0"/>
              <a:t>）理想气体状态方程</a:t>
            </a:r>
            <a:r>
              <a:rPr lang="zh-CN" altLang="en-US" sz="2400" b="1" dirty="0"/>
              <a:t> </a:t>
            </a:r>
          </a:p>
        </p:txBody>
      </p:sp>
      <p:sp>
        <p:nvSpPr>
          <p:cNvPr id="54275" name="矩形 169992"/>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4276" name="对象 169991"/>
          <p:cNvGraphicFramePr>
            <a:graphicFrameLocks noChangeAspect="1"/>
          </p:cNvGraphicFramePr>
          <p:nvPr>
            <p:extLst>
              <p:ext uri="{D42A27DB-BD31-4B8C-83A1-F6EECF244321}">
                <p14:modId xmlns:p14="http://schemas.microsoft.com/office/powerpoint/2010/main" val="2425157614"/>
              </p:ext>
            </p:extLst>
          </p:nvPr>
        </p:nvGraphicFramePr>
        <p:xfrm>
          <a:off x="4051300" y="1318270"/>
          <a:ext cx="2768600" cy="508000"/>
        </p:xfrm>
        <a:graphic>
          <a:graphicData uri="http://schemas.openxmlformats.org/presentationml/2006/ole">
            <mc:AlternateContent xmlns:mc="http://schemas.openxmlformats.org/markup-compatibility/2006">
              <mc:Choice xmlns:v="urn:schemas-microsoft-com:vml" Requires="v">
                <p:oleObj spid="_x0000_s18644" r:id="rId3" imgW="1384300" imgH="254000" progId="Equation.DSMT4">
                  <p:embed/>
                </p:oleObj>
              </mc:Choice>
              <mc:Fallback>
                <p:oleObj r:id="rId3" imgW="1384300" imgH="254000" progId="Equation.DSMT4">
                  <p:embed/>
                  <p:pic>
                    <p:nvPicPr>
                      <p:cNvPr id="54276" name="对象 16999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1300" y="1318270"/>
                        <a:ext cx="27686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77" name="矩形 169993"/>
          <p:cNvSpPr>
            <a:spLocks noChangeArrowheads="1"/>
          </p:cNvSpPr>
          <p:nvPr/>
        </p:nvSpPr>
        <p:spPr bwMode="auto">
          <a:xfrm>
            <a:off x="2700338" y="1266181"/>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u="none" dirty="0"/>
              <a:t>查表得</a:t>
            </a:r>
          </a:p>
        </p:txBody>
      </p:sp>
      <p:sp>
        <p:nvSpPr>
          <p:cNvPr id="54278" name="矩形 169995"/>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4279" name="对象 169994"/>
          <p:cNvGraphicFramePr>
            <a:graphicFrameLocks noChangeAspect="1"/>
          </p:cNvGraphicFramePr>
          <p:nvPr>
            <p:extLst>
              <p:ext uri="{D42A27DB-BD31-4B8C-83A1-F6EECF244321}">
                <p14:modId xmlns:p14="http://schemas.microsoft.com/office/powerpoint/2010/main" val="2286225687"/>
              </p:ext>
            </p:extLst>
          </p:nvPr>
        </p:nvGraphicFramePr>
        <p:xfrm>
          <a:off x="1498540" y="2141539"/>
          <a:ext cx="6654800" cy="914400"/>
        </p:xfrm>
        <a:graphic>
          <a:graphicData uri="http://schemas.openxmlformats.org/presentationml/2006/ole">
            <mc:AlternateContent xmlns:mc="http://schemas.openxmlformats.org/markup-compatibility/2006">
              <mc:Choice xmlns:v="urn:schemas-microsoft-com:vml" Requires="v">
                <p:oleObj spid="_x0000_s18645" r:id="rId5" imgW="3327400" imgH="457200" progId="Equation.DSMT4">
                  <p:embed/>
                </p:oleObj>
              </mc:Choice>
              <mc:Fallback>
                <p:oleObj r:id="rId5" imgW="3327400" imgH="457200" progId="Equation.DSMT4">
                  <p:embed/>
                  <p:pic>
                    <p:nvPicPr>
                      <p:cNvPr id="54279" name="对象 16999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8540" y="2141539"/>
                        <a:ext cx="6654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281" name="对象 169988"/>
          <p:cNvGraphicFramePr>
            <a:graphicFrameLocks noChangeAspect="1"/>
          </p:cNvGraphicFramePr>
          <p:nvPr>
            <p:extLst>
              <p:ext uri="{D42A27DB-BD31-4B8C-83A1-F6EECF244321}">
                <p14:modId xmlns:p14="http://schemas.microsoft.com/office/powerpoint/2010/main" val="1671436431"/>
              </p:ext>
            </p:extLst>
          </p:nvPr>
        </p:nvGraphicFramePr>
        <p:xfrm>
          <a:off x="1031843" y="3378883"/>
          <a:ext cx="5562600" cy="965200"/>
        </p:xfrm>
        <a:graphic>
          <a:graphicData uri="http://schemas.openxmlformats.org/presentationml/2006/ole">
            <mc:AlternateContent xmlns:mc="http://schemas.openxmlformats.org/markup-compatibility/2006">
              <mc:Choice xmlns:v="urn:schemas-microsoft-com:vml" Requires="v">
                <p:oleObj spid="_x0000_s18646" r:id="rId7" imgW="2781300" imgH="482600" progId="Equation.DSMT4">
                  <p:embed/>
                </p:oleObj>
              </mc:Choice>
              <mc:Fallback>
                <p:oleObj r:id="rId7" imgW="2781300" imgH="482600" progId="Equation.DSMT4">
                  <p:embed/>
                  <p:pic>
                    <p:nvPicPr>
                      <p:cNvPr id="54281" name="对象 16998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1843" y="3378883"/>
                        <a:ext cx="55626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83" name="矩形 169999"/>
          <p:cNvSpPr>
            <a:spLocks noChangeArrowheads="1"/>
          </p:cNvSpPr>
          <p:nvPr/>
        </p:nvSpPr>
        <p:spPr bwMode="auto">
          <a:xfrm>
            <a:off x="1044684" y="4568825"/>
            <a:ext cx="68387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smtClean="0">
                <a:solidFill>
                  <a:srgbClr val="0070C0"/>
                </a:solidFill>
              </a:rPr>
              <a:t>可见，若</a:t>
            </a:r>
            <a:r>
              <a:rPr lang="zh-CN" altLang="en-US" sz="2400" b="1" u="none" dirty="0" smtClean="0">
                <a:solidFill>
                  <a:srgbClr val="0070C0"/>
                </a:solidFill>
              </a:rPr>
              <a:t>将</a:t>
            </a:r>
            <a:r>
              <a:rPr lang="zh-CN" altLang="en-US" sz="2400" b="1" u="none" dirty="0">
                <a:solidFill>
                  <a:srgbClr val="0070C0"/>
                </a:solidFill>
              </a:rPr>
              <a:t>水蒸气视为理想气体，带来的误差为</a:t>
            </a:r>
          </a:p>
        </p:txBody>
      </p:sp>
      <p:graphicFrame>
        <p:nvGraphicFramePr>
          <p:cNvPr id="54284" name="对象 169998"/>
          <p:cNvGraphicFramePr>
            <a:graphicFrameLocks noChangeAspect="1"/>
          </p:cNvGraphicFramePr>
          <p:nvPr>
            <p:extLst>
              <p:ext uri="{D42A27DB-BD31-4B8C-83A1-F6EECF244321}">
                <p14:modId xmlns:p14="http://schemas.microsoft.com/office/powerpoint/2010/main" val="4010161240"/>
              </p:ext>
            </p:extLst>
          </p:nvPr>
        </p:nvGraphicFramePr>
        <p:xfrm>
          <a:off x="2555875" y="5300663"/>
          <a:ext cx="4011458" cy="507780"/>
        </p:xfrm>
        <a:graphic>
          <a:graphicData uri="http://schemas.openxmlformats.org/presentationml/2006/ole">
            <mc:AlternateContent xmlns:mc="http://schemas.openxmlformats.org/markup-compatibility/2006">
              <mc:Choice xmlns:v="urn:schemas-microsoft-com:vml" Requires="v">
                <p:oleObj spid="_x0000_s18647" r:id="rId9" imgW="2005729" imgH="253890" progId="Equation.DSMT4">
                  <p:embed/>
                </p:oleObj>
              </mc:Choice>
              <mc:Fallback>
                <p:oleObj r:id="rId9" imgW="2005729" imgH="253890" progId="Equation.DSMT4">
                  <p:embed/>
                  <p:pic>
                    <p:nvPicPr>
                      <p:cNvPr id="54284" name="对象 16999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5875" y="5300663"/>
                        <a:ext cx="4011458" cy="507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85" name="矩形 170000"/>
          <p:cNvSpPr>
            <a:spLocks noChangeArrowheads="1"/>
          </p:cNvSpPr>
          <p:nvPr/>
        </p:nvSpPr>
        <p:spPr bwMode="auto">
          <a:xfrm>
            <a:off x="3184525" y="3603625"/>
            <a:ext cx="2079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600" u="none"/>
              <a:t> </a:t>
            </a:r>
            <a:endParaRPr lang="en-US" altLang="zh-CN" u="none">
              <a:latin typeface="Times New Roman" panose="02020603050405020304" pitchFamily="18" charset="0"/>
            </a:endParaRPr>
          </a:p>
        </p:txBody>
      </p:sp>
      <p:sp>
        <p:nvSpPr>
          <p:cNvPr id="54286" name="直接连接符 170001"/>
          <p:cNvSpPr>
            <a:spLocks noChangeShapeType="1"/>
          </p:cNvSpPr>
          <p:nvPr/>
        </p:nvSpPr>
        <p:spPr bwMode="auto">
          <a:xfrm>
            <a:off x="5645005" y="5748011"/>
            <a:ext cx="1007080" cy="0"/>
          </a:xfrm>
          <a:prstGeom prst="line">
            <a:avLst/>
          </a:prstGeom>
          <a:noFill/>
          <a:ln w="25400">
            <a:solidFill>
              <a:srgbClr val="FF00FF"/>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矩形 171018"/>
          <p:cNvSpPr>
            <a:spLocks noChangeArrowheads="1"/>
          </p:cNvSpPr>
          <p:nvPr/>
        </p:nvSpPr>
        <p:spPr bwMode="auto">
          <a:xfrm>
            <a:off x="2070893" y="3371208"/>
            <a:ext cx="4749007" cy="93503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5" name="图片 1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21665" y="415715"/>
            <a:ext cx="1804572" cy="1700931"/>
          </a:xfrm>
          <a:prstGeom prst="rect">
            <a:avLst/>
          </a:prstGeom>
        </p:spPr>
      </p:pic>
    </p:spTree>
    <p:extLst>
      <p:ext uri="{BB962C8B-B14F-4D97-AF65-F5344CB8AC3E}">
        <p14:creationId xmlns:p14="http://schemas.microsoft.com/office/powerpoint/2010/main" val="3189532828"/>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矩形 171009"/>
          <p:cNvSpPr>
            <a:spLocks noChangeArrowheads="1"/>
          </p:cNvSpPr>
          <p:nvPr/>
        </p:nvSpPr>
        <p:spPr bwMode="auto">
          <a:xfrm>
            <a:off x="2843213" y="547043"/>
            <a:ext cx="54457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u="none" dirty="0"/>
              <a:t>（</a:t>
            </a:r>
            <a:r>
              <a:rPr lang="en-US" altLang="zh-CN" sz="2400" b="1" u="none" dirty="0">
                <a:latin typeface="Times New Roman" panose="02020603050405020304" pitchFamily="18" charset="0"/>
              </a:rPr>
              <a:t>3</a:t>
            </a:r>
            <a:r>
              <a:rPr lang="zh-CN" altLang="en-US" sz="2400" b="1" u="none" dirty="0"/>
              <a:t>）通用</a:t>
            </a:r>
            <a:r>
              <a:rPr lang="zh-CN" altLang="en-US" sz="2400" b="1" u="none" dirty="0" smtClean="0"/>
              <a:t>压缩因子图（见下一页</a:t>
            </a:r>
            <a:r>
              <a:rPr lang="en-US" altLang="zh-CN" sz="2400" b="1" u="none" dirty="0" err="1" smtClean="0"/>
              <a:t>ppt</a:t>
            </a:r>
            <a:r>
              <a:rPr lang="zh-CN" altLang="en-US" sz="2400" b="1" u="none" dirty="0" smtClean="0"/>
              <a:t>）</a:t>
            </a:r>
            <a:endParaRPr lang="zh-CN" altLang="en-US" sz="2400" b="1" u="none" dirty="0"/>
          </a:p>
        </p:txBody>
      </p:sp>
      <p:sp>
        <p:nvSpPr>
          <p:cNvPr id="55299" name="矩形 171011"/>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300" name="矩形 171013"/>
          <p:cNvSpPr>
            <a:spLocks noChangeArrowheads="1"/>
          </p:cNvSpPr>
          <p:nvPr/>
        </p:nvSpPr>
        <p:spPr bwMode="auto">
          <a:xfrm>
            <a:off x="2700338" y="1240780"/>
            <a:ext cx="60949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u="none" dirty="0"/>
              <a:t>并未已知</a:t>
            </a:r>
            <a:r>
              <a:rPr lang="en-US" altLang="zh-CN" sz="2400" b="1" i="1" u="none" dirty="0" err="1">
                <a:latin typeface="Times New Roman" panose="02020603050405020304" pitchFamily="18" charset="0"/>
              </a:rPr>
              <a:t>p</a:t>
            </a:r>
            <a:r>
              <a:rPr lang="en-US" altLang="zh-CN" sz="2400" b="1" u="none" dirty="0" err="1">
                <a:latin typeface="Times New Roman" panose="02020603050405020304" pitchFamily="18" charset="0"/>
              </a:rPr>
              <a:t>、</a:t>
            </a:r>
            <a:r>
              <a:rPr lang="en-US" altLang="zh-CN" sz="2400" b="1" i="1" u="none" dirty="0" err="1">
                <a:latin typeface="Times New Roman" panose="02020603050405020304" pitchFamily="18" charset="0"/>
              </a:rPr>
              <a:t>T</a:t>
            </a:r>
            <a:r>
              <a:rPr lang="zh-CN" altLang="en-US" sz="2400" b="1" u="none" dirty="0"/>
              <a:t>，故需要借助于拟对比比体积</a:t>
            </a:r>
          </a:p>
        </p:txBody>
      </p:sp>
      <p:sp>
        <p:nvSpPr>
          <p:cNvPr id="55301" name="矩形 171014"/>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5303" name="对象 171017"/>
          <p:cNvGraphicFramePr>
            <a:graphicFrameLocks/>
          </p:cNvGraphicFramePr>
          <p:nvPr/>
        </p:nvGraphicFramePr>
        <p:xfrm>
          <a:off x="-468313" y="4365625"/>
          <a:ext cx="4895851" cy="855662"/>
        </p:xfrm>
        <a:graphic>
          <a:graphicData uri="http://schemas.openxmlformats.org/presentationml/2006/ole">
            <mc:AlternateContent xmlns:mc="http://schemas.openxmlformats.org/markup-compatibility/2006">
              <mc:Choice xmlns:v="urn:schemas-microsoft-com:vml" Requires="v">
                <p:oleObj spid="_x0000_s19752" r:id="rId3" imgW="2781300" imgH="482600" progId="Equation.DSMT4">
                  <p:embed/>
                </p:oleObj>
              </mc:Choice>
              <mc:Fallback>
                <p:oleObj r:id="rId3" imgW="2781300" imgH="482600" progId="Equation.DSMT4">
                  <p:embed/>
                  <p:pic>
                    <p:nvPicPr>
                      <p:cNvPr id="55303" name="对象 17101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4365625"/>
                        <a:ext cx="4895851"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04" name="矩形 171018"/>
          <p:cNvSpPr>
            <a:spLocks noChangeArrowheads="1"/>
          </p:cNvSpPr>
          <p:nvPr/>
        </p:nvSpPr>
        <p:spPr bwMode="auto">
          <a:xfrm>
            <a:off x="466725" y="4294188"/>
            <a:ext cx="3960813" cy="93503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05" name="矩形 171019"/>
          <p:cNvSpPr>
            <a:spLocks noChangeArrowheads="1"/>
          </p:cNvSpPr>
          <p:nvPr/>
        </p:nvSpPr>
        <p:spPr bwMode="auto">
          <a:xfrm>
            <a:off x="971550" y="5458768"/>
            <a:ext cx="59811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u="none" dirty="0">
                <a:solidFill>
                  <a:srgbClr val="0070C0"/>
                </a:solidFill>
              </a:rPr>
              <a:t>使用通用压缩因子图，将误差从</a:t>
            </a:r>
            <a:r>
              <a:rPr lang="en-US" altLang="zh-CN" sz="2400" b="1" u="none" dirty="0">
                <a:solidFill>
                  <a:srgbClr val="0070C0"/>
                </a:solidFill>
                <a:latin typeface="Times New Roman" panose="02020603050405020304" pitchFamily="18" charset="0"/>
              </a:rPr>
              <a:t>17.5%</a:t>
            </a:r>
            <a:r>
              <a:rPr lang="zh-CN" altLang="en-US" sz="2400" b="1" u="none" dirty="0">
                <a:solidFill>
                  <a:srgbClr val="0070C0"/>
                </a:solidFill>
              </a:rPr>
              <a:t>降至</a:t>
            </a:r>
          </a:p>
        </p:txBody>
      </p:sp>
      <p:sp>
        <p:nvSpPr>
          <p:cNvPr id="55306" name="矩形 171021"/>
          <p:cNvSpPr>
            <a:spLocks noChangeArrowheads="1"/>
          </p:cNvSpPr>
          <p:nvPr/>
        </p:nvSpPr>
        <p:spPr bwMode="auto">
          <a:xfrm>
            <a:off x="3184525" y="4627563"/>
            <a:ext cx="2079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600" u="none"/>
              <a:t> </a:t>
            </a:r>
            <a:endParaRPr lang="en-US" altLang="zh-CN" u="none">
              <a:latin typeface="Times New Roman" panose="02020603050405020304" pitchFamily="18" charset="0"/>
            </a:endParaRPr>
          </a:p>
        </p:txBody>
      </p:sp>
      <p:sp>
        <p:nvSpPr>
          <p:cNvPr id="55307" name="直接连接符 171022"/>
          <p:cNvSpPr>
            <a:spLocks noChangeShapeType="1"/>
          </p:cNvSpPr>
          <p:nvPr/>
        </p:nvSpPr>
        <p:spPr bwMode="auto">
          <a:xfrm>
            <a:off x="4932363" y="6453188"/>
            <a:ext cx="863600" cy="0"/>
          </a:xfrm>
          <a:prstGeom prst="line">
            <a:avLst/>
          </a:prstGeom>
          <a:noFill/>
          <a:ln w="25400">
            <a:solidFill>
              <a:srgbClr val="FF00FF"/>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8" name="矩形 171024"/>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5309" name="对象 171023"/>
          <p:cNvGraphicFramePr>
            <a:graphicFrameLocks noChangeAspect="1"/>
          </p:cNvGraphicFramePr>
          <p:nvPr>
            <p:extLst>
              <p:ext uri="{D42A27DB-BD31-4B8C-83A1-F6EECF244321}">
                <p14:modId xmlns:p14="http://schemas.microsoft.com/office/powerpoint/2010/main" val="1548581099"/>
              </p:ext>
            </p:extLst>
          </p:nvPr>
        </p:nvGraphicFramePr>
        <p:xfrm>
          <a:off x="1808163" y="2025650"/>
          <a:ext cx="7112000" cy="939800"/>
        </p:xfrm>
        <a:graphic>
          <a:graphicData uri="http://schemas.openxmlformats.org/presentationml/2006/ole">
            <mc:AlternateContent xmlns:mc="http://schemas.openxmlformats.org/markup-compatibility/2006">
              <mc:Choice xmlns:v="urn:schemas-microsoft-com:vml" Requires="v">
                <p:oleObj spid="_x0000_s19753" r:id="rId5" imgW="3556000" imgH="469900" progId="Equation.DSMT4">
                  <p:embed/>
                </p:oleObj>
              </mc:Choice>
              <mc:Fallback>
                <p:oleObj r:id="rId5" imgW="3556000" imgH="469900" progId="Equation.DSMT4">
                  <p:embed/>
                  <p:pic>
                    <p:nvPicPr>
                      <p:cNvPr id="55309" name="对象 17102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8163" y="2025650"/>
                        <a:ext cx="71120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11" name="对象 171025"/>
          <p:cNvGraphicFramePr>
            <a:graphicFrameLocks noChangeAspect="1"/>
          </p:cNvGraphicFramePr>
          <p:nvPr>
            <p:extLst>
              <p:ext uri="{D42A27DB-BD31-4B8C-83A1-F6EECF244321}">
                <p14:modId xmlns:p14="http://schemas.microsoft.com/office/powerpoint/2010/main" val="2226867453"/>
              </p:ext>
            </p:extLst>
          </p:nvPr>
        </p:nvGraphicFramePr>
        <p:xfrm>
          <a:off x="1264444" y="3014096"/>
          <a:ext cx="3987800" cy="914400"/>
        </p:xfrm>
        <a:graphic>
          <a:graphicData uri="http://schemas.openxmlformats.org/presentationml/2006/ole">
            <mc:AlternateContent xmlns:mc="http://schemas.openxmlformats.org/markup-compatibility/2006">
              <mc:Choice xmlns:v="urn:schemas-microsoft-com:vml" Requires="v">
                <p:oleObj spid="_x0000_s19754" r:id="rId7" imgW="1993900" imgH="457200" progId="Equation.DSMT4">
                  <p:embed/>
                </p:oleObj>
              </mc:Choice>
              <mc:Fallback>
                <p:oleObj r:id="rId7" imgW="1993900" imgH="457200" progId="Equation.DSMT4">
                  <p:embed/>
                  <p:pic>
                    <p:nvPicPr>
                      <p:cNvPr id="55311" name="对象 17102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4444" y="3014096"/>
                        <a:ext cx="3987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12" name="矩形 171033"/>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5313" name="对象 171032"/>
          <p:cNvGraphicFramePr>
            <a:graphicFrameLocks noChangeAspect="1"/>
          </p:cNvGraphicFramePr>
          <p:nvPr>
            <p:extLst>
              <p:ext uri="{D42A27DB-BD31-4B8C-83A1-F6EECF244321}">
                <p14:modId xmlns:p14="http://schemas.microsoft.com/office/powerpoint/2010/main" val="2076084480"/>
              </p:ext>
            </p:extLst>
          </p:nvPr>
        </p:nvGraphicFramePr>
        <p:xfrm>
          <a:off x="6300788" y="3860800"/>
          <a:ext cx="1219200" cy="457200"/>
        </p:xfrm>
        <a:graphic>
          <a:graphicData uri="http://schemas.openxmlformats.org/presentationml/2006/ole">
            <mc:AlternateContent xmlns:mc="http://schemas.openxmlformats.org/markup-compatibility/2006">
              <mc:Choice xmlns:v="urn:schemas-microsoft-com:vml" Requires="v">
                <p:oleObj spid="_x0000_s19755" r:id="rId9" imgW="609600" imgH="228600" progId="Equation.DSMT4">
                  <p:embed/>
                </p:oleObj>
              </mc:Choice>
              <mc:Fallback>
                <p:oleObj r:id="rId9" imgW="609600" imgH="228600" progId="Equation.DSMT4">
                  <p:embed/>
                  <p:pic>
                    <p:nvPicPr>
                      <p:cNvPr id="55313" name="对象 17103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00788" y="38608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14" name="矩形 17103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5315" name="对象 171034"/>
          <p:cNvGraphicFramePr>
            <a:graphicFrameLocks noChangeAspect="1"/>
          </p:cNvGraphicFramePr>
          <p:nvPr>
            <p:extLst>
              <p:ext uri="{D42A27DB-BD31-4B8C-83A1-F6EECF244321}">
                <p14:modId xmlns:p14="http://schemas.microsoft.com/office/powerpoint/2010/main" val="2366119179"/>
              </p:ext>
            </p:extLst>
          </p:nvPr>
        </p:nvGraphicFramePr>
        <p:xfrm>
          <a:off x="4932363" y="4374131"/>
          <a:ext cx="3657600" cy="914400"/>
        </p:xfrm>
        <a:graphic>
          <a:graphicData uri="http://schemas.openxmlformats.org/presentationml/2006/ole">
            <mc:AlternateContent xmlns:mc="http://schemas.openxmlformats.org/markup-compatibility/2006">
              <mc:Choice xmlns:v="urn:schemas-microsoft-com:vml" Requires="v">
                <p:oleObj spid="_x0000_s19756" r:id="rId11" imgW="1828800" imgH="457200" progId="Equation.DSMT4">
                  <p:embed/>
                </p:oleObj>
              </mc:Choice>
              <mc:Fallback>
                <p:oleObj r:id="rId11" imgW="1828800" imgH="457200" progId="Equation.DSMT4">
                  <p:embed/>
                  <p:pic>
                    <p:nvPicPr>
                      <p:cNvPr id="55315" name="对象 17103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2363" y="4374131"/>
                        <a:ext cx="3657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16" name="矩形 17103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5317" name="对象 171036"/>
          <p:cNvGraphicFramePr>
            <a:graphicFrameLocks/>
          </p:cNvGraphicFramePr>
          <p:nvPr/>
        </p:nvGraphicFramePr>
        <p:xfrm>
          <a:off x="2268538" y="6021388"/>
          <a:ext cx="3492500" cy="455612"/>
        </p:xfrm>
        <a:graphic>
          <a:graphicData uri="http://schemas.openxmlformats.org/presentationml/2006/ole">
            <mc:AlternateContent xmlns:mc="http://schemas.openxmlformats.org/markup-compatibility/2006">
              <mc:Choice xmlns:v="urn:schemas-microsoft-com:vml" Requires="v">
                <p:oleObj spid="_x0000_s19757" r:id="rId13" imgW="1968500" imgH="254000" progId="Equation.DSMT4">
                  <p:embed/>
                </p:oleObj>
              </mc:Choice>
              <mc:Fallback>
                <p:oleObj r:id="rId13" imgW="1968500" imgH="254000" progId="Equation.DSMT4">
                  <p:embed/>
                  <p:pic>
                    <p:nvPicPr>
                      <p:cNvPr id="55317" name="对象 171036"/>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68538" y="6021388"/>
                        <a:ext cx="34925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18" name="矩形 171039"/>
          <p:cNvSpPr>
            <a:spLocks noChangeArrowheads="1"/>
          </p:cNvSpPr>
          <p:nvPr/>
        </p:nvSpPr>
        <p:spPr bwMode="auto">
          <a:xfrm>
            <a:off x="6156325" y="6021388"/>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u="none" dirty="0">
                <a:solidFill>
                  <a:srgbClr val="0070C0"/>
                </a:solidFill>
              </a:rPr>
              <a:t>工程上可以接受</a:t>
            </a:r>
            <a:endParaRPr lang="zh-CN" altLang="en-US" sz="2400" b="1" u="none" dirty="0">
              <a:solidFill>
                <a:srgbClr val="0070C0"/>
              </a:solidFill>
              <a:cs typeface="Times New Roman" panose="02020603050405020304" pitchFamily="18" charset="0"/>
            </a:endParaRPr>
          </a:p>
        </p:txBody>
      </p:sp>
      <p:cxnSp>
        <p:nvCxnSpPr>
          <p:cNvPr id="2" name="直接箭头连接符 1"/>
          <p:cNvCxnSpPr/>
          <p:nvPr/>
        </p:nvCxnSpPr>
        <p:spPr>
          <a:xfrm>
            <a:off x="5453063" y="3482975"/>
            <a:ext cx="990600" cy="3778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2"/>
          <p:cNvCxnSpPr/>
          <p:nvPr/>
        </p:nvCxnSpPr>
        <p:spPr>
          <a:xfrm flipH="1">
            <a:off x="6516688" y="2708275"/>
            <a:ext cx="1727200" cy="11525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4" name="图片 23"/>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42559" y="343959"/>
            <a:ext cx="1804572" cy="1700931"/>
          </a:xfrm>
          <a:prstGeom prst="rect">
            <a:avLst/>
          </a:prstGeom>
        </p:spPr>
      </p:pic>
    </p:spTree>
    <p:extLst>
      <p:ext uri="{BB962C8B-B14F-4D97-AF65-F5344CB8AC3E}">
        <p14:creationId xmlns:p14="http://schemas.microsoft.com/office/powerpoint/2010/main" val="3432553365"/>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图片 17305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44450"/>
            <a:ext cx="8843962" cy="679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2" name="椭圆 173060"/>
          <p:cNvSpPr>
            <a:spLocks noChangeArrowheads="1"/>
          </p:cNvSpPr>
          <p:nvPr/>
        </p:nvSpPr>
        <p:spPr bwMode="auto">
          <a:xfrm>
            <a:off x="4357688" y="1771650"/>
            <a:ext cx="285750" cy="288925"/>
          </a:xfrm>
          <a:prstGeom prst="ellipse">
            <a:avLst/>
          </a:prstGeom>
          <a:noFill/>
          <a:ln w="25400">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extLst>
      <p:ext uri="{BB962C8B-B14F-4D97-AF65-F5344CB8AC3E}">
        <p14:creationId xmlns:p14="http://schemas.microsoft.com/office/powerpoint/2010/main" val="3014428070"/>
      </p:ext>
    </p:extLst>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2.xml><?xml version="1.0" encoding="utf-8"?>
<p:tagLst xmlns:a="http://schemas.openxmlformats.org/drawingml/2006/main" xmlns:r="http://schemas.openxmlformats.org/officeDocument/2006/relationships" xmlns:p="http://schemas.openxmlformats.org/presentationml/2006/main">
  <p:tag name="TIMING" val="|26.7|10.3|8"/>
</p:tagLst>
</file>

<file path=ppt/tags/tag3.xml><?xml version="1.0" encoding="utf-8"?>
<p:tagLst xmlns:a="http://schemas.openxmlformats.org/drawingml/2006/main" xmlns:r="http://schemas.openxmlformats.org/officeDocument/2006/relationships" xmlns:p="http://schemas.openxmlformats.org/presentationml/2006/main">
  <p:tag name="TIMING" val="|19.9|5.7"/>
</p:tagLst>
</file>

<file path=ppt/tags/tag4.xml><?xml version="1.0" encoding="utf-8"?>
<p:tagLst xmlns:a="http://schemas.openxmlformats.org/drawingml/2006/main" xmlns:r="http://schemas.openxmlformats.org/officeDocument/2006/relationships" xmlns:p="http://schemas.openxmlformats.org/presentationml/2006/main">
  <p:tag name="TIMING" val="|27.5|23.1|13.8|18.5"/>
</p:tagLst>
</file>

<file path=ppt/tags/tag5.xml><?xml version="1.0" encoding="utf-8"?>
<p:tagLst xmlns:a="http://schemas.openxmlformats.org/drawingml/2006/main" xmlns:r="http://schemas.openxmlformats.org/officeDocument/2006/relationships" xmlns:p="http://schemas.openxmlformats.org/presentationml/2006/main">
  <p:tag name="TIMING" val="|32|30.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789</TotalTime>
  <Words>1786</Words>
  <Application>Microsoft Office PowerPoint</Application>
  <PresentationFormat>全屏显示(4:3)</PresentationFormat>
  <Paragraphs>113</Paragraphs>
  <Slides>34</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4</vt:i4>
      </vt:variant>
      <vt:variant>
        <vt:lpstr>幻灯片标题</vt:lpstr>
      </vt:variant>
      <vt:variant>
        <vt:i4>34</vt:i4>
      </vt:variant>
    </vt:vector>
  </HeadingPairs>
  <TitlesOfParts>
    <vt:vector size="45" baseType="lpstr">
      <vt:lpstr>黑体</vt:lpstr>
      <vt:lpstr>楷体_GB2312</vt:lpstr>
      <vt:lpstr>宋体</vt:lpstr>
      <vt:lpstr>Arial</vt:lpstr>
      <vt:lpstr>Times New Roman</vt:lpstr>
      <vt:lpstr>Wingdings</vt:lpstr>
      <vt:lpstr>Office 主题</vt:lpstr>
      <vt:lpstr>公式</vt:lpstr>
      <vt:lpstr>Microsoft 公式 3.0</vt:lpstr>
      <vt:lpstr>Equation</vt:lpstr>
      <vt:lpstr>MathType 5.0 Equation</vt:lpstr>
      <vt:lpstr>15  实际气体的性质</vt:lpstr>
      <vt:lpstr>15－1 实际气体与理想气体之间的差异</vt:lpstr>
      <vt:lpstr>PowerPoint 演示文稿</vt:lpstr>
      <vt:lpstr>PowerPoint 演示文稿</vt:lpstr>
      <vt:lpstr>PowerPoint 演示文稿</vt:lpstr>
      <vt:lpstr>PowerPoint 演示文稿</vt:lpstr>
      <vt:lpstr>我们总是说，实际气体在低压和高温下可以近似为理想气体。可是，什么样的压力算低压？什么样的温度算高温呢？ -100℃算低温还是高温？</vt:lpstr>
      <vt:lpstr>PowerPoint 演示文稿</vt:lpstr>
      <vt:lpstr>PowerPoint 演示文稿</vt:lpstr>
      <vt:lpstr>PowerPoint 演示文稿</vt:lpstr>
      <vt:lpstr>PowerPoint 演示文稿</vt:lpstr>
      <vt:lpstr>PowerPoint 演示文稿</vt:lpstr>
      <vt:lpstr>PowerPoint 演示文稿</vt:lpstr>
      <vt:lpstr>范德瓦尔方程的重要历史价值</vt:lpstr>
      <vt:lpstr>PowerPoint 演示文稿</vt:lpstr>
      <vt:lpstr>PowerPoint 演示文稿</vt:lpstr>
      <vt:lpstr>三、维里方程（1901年）</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在使用通用压缩因子图过程中，一般分为两种情况</vt:lpstr>
      <vt:lpstr>PowerPoint 演示文稿</vt:lpstr>
      <vt:lpstr>PowerPoint 演示文稿</vt:lpstr>
      <vt:lpstr>PowerPoint 演示文稿</vt:lpstr>
      <vt:lpstr>举例：利用通用压缩因子图确定气体压力 </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第15讲  实际气体的性质</dc:title>
  <dc:creator>jing wu</dc:creator>
  <cp:lastModifiedBy>jingwu</cp:lastModifiedBy>
  <cp:revision>43</cp:revision>
  <dcterms:created xsi:type="dcterms:W3CDTF">2020-05-28T02:02:21Z</dcterms:created>
  <dcterms:modified xsi:type="dcterms:W3CDTF">2020-09-29T14:42:02Z</dcterms:modified>
</cp:coreProperties>
</file>