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40" r:id="rId1"/>
    <p:sldMasterId id="2147483780" r:id="rId2"/>
  </p:sldMasterIdLst>
  <p:notesMasterIdLst>
    <p:notesMasterId r:id="rId55"/>
  </p:notesMasterIdLst>
  <p:handoutMasterIdLst>
    <p:handoutMasterId r:id="rId56"/>
  </p:handoutMasterIdLst>
  <p:sldIdLst>
    <p:sldId id="256" r:id="rId3"/>
    <p:sldId id="802" r:id="rId4"/>
    <p:sldId id="703" r:id="rId5"/>
    <p:sldId id="701" r:id="rId6"/>
    <p:sldId id="766" r:id="rId7"/>
    <p:sldId id="711" r:id="rId8"/>
    <p:sldId id="712" r:id="rId9"/>
    <p:sldId id="713" r:id="rId10"/>
    <p:sldId id="714" r:id="rId11"/>
    <p:sldId id="715" r:id="rId12"/>
    <p:sldId id="716" r:id="rId13"/>
    <p:sldId id="779" r:id="rId14"/>
    <p:sldId id="790" r:id="rId15"/>
    <p:sldId id="723" r:id="rId16"/>
    <p:sldId id="724" r:id="rId17"/>
    <p:sldId id="725" r:id="rId18"/>
    <p:sldId id="776" r:id="rId19"/>
    <p:sldId id="730" r:id="rId20"/>
    <p:sldId id="781" r:id="rId21"/>
    <p:sldId id="782" r:id="rId22"/>
    <p:sldId id="786" r:id="rId23"/>
    <p:sldId id="783" r:id="rId24"/>
    <p:sldId id="732" r:id="rId25"/>
    <p:sldId id="735" r:id="rId26"/>
    <p:sldId id="739" r:id="rId27"/>
    <p:sldId id="740" r:id="rId28"/>
    <p:sldId id="741" r:id="rId29"/>
    <p:sldId id="742" r:id="rId30"/>
    <p:sldId id="743" r:id="rId31"/>
    <p:sldId id="788" r:id="rId32"/>
    <p:sldId id="795" r:id="rId33"/>
    <p:sldId id="796" r:id="rId34"/>
    <p:sldId id="797" r:id="rId35"/>
    <p:sldId id="798" r:id="rId36"/>
    <p:sldId id="748" r:id="rId37"/>
    <p:sldId id="749" r:id="rId38"/>
    <p:sldId id="750" r:id="rId39"/>
    <p:sldId id="751" r:id="rId40"/>
    <p:sldId id="752" r:id="rId41"/>
    <p:sldId id="754" r:id="rId42"/>
    <p:sldId id="753" r:id="rId43"/>
    <p:sldId id="756" r:id="rId44"/>
    <p:sldId id="757" r:id="rId45"/>
    <p:sldId id="799" r:id="rId46"/>
    <p:sldId id="792" r:id="rId47"/>
    <p:sldId id="793" r:id="rId48"/>
    <p:sldId id="794" r:id="rId49"/>
    <p:sldId id="760" r:id="rId50"/>
    <p:sldId id="801" r:id="rId51"/>
    <p:sldId id="762" r:id="rId52"/>
    <p:sldId id="763" r:id="rId53"/>
    <p:sldId id="780" r:id="rId54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4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pos="14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5">
          <p15:clr>
            <a:srgbClr val="A4A3A4"/>
          </p15:clr>
        </p15:guide>
        <p15:guide id="2" pos="8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0066"/>
    <a:srgbClr val="99CCFF"/>
    <a:srgbClr val="FFCC99"/>
    <a:srgbClr val="CCFFCC"/>
    <a:srgbClr val="99FFCC"/>
    <a:srgbClr val="2D4E77"/>
    <a:srgbClr val="663300"/>
    <a:srgbClr val="004182"/>
    <a:srgbClr val="864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4" autoAdjust="0"/>
    <p:restoredTop sz="92144" autoAdjust="0"/>
  </p:normalViewPr>
  <p:slideViewPr>
    <p:cSldViewPr snapToGrid="0" showGuides="1">
      <p:cViewPr>
        <p:scale>
          <a:sx n="60" d="100"/>
          <a:sy n="60" d="100"/>
        </p:scale>
        <p:origin x="740" y="216"/>
      </p:cViewPr>
      <p:guideLst>
        <p:guide orient="horz" pos="704"/>
        <p:guide orient="horz" pos="4065"/>
        <p:guide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54"/>
    </p:cViewPr>
  </p:sorterViewPr>
  <p:notesViewPr>
    <p:cSldViewPr snapToGrid="0" showGuides="1">
      <p:cViewPr>
        <p:scale>
          <a:sx n="75" d="100"/>
          <a:sy n="75" d="100"/>
        </p:scale>
        <p:origin x="-5124" y="-48"/>
      </p:cViewPr>
      <p:guideLst>
        <p:guide orient="horz" pos="2145"/>
        <p:guide pos="8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pPr>
              <a:defRPr/>
            </a:pPr>
            <a:fld id="{3C89BC50-BFEA-41B3-8DF3-FFFB80B38F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9317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5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945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5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pPr>
              <a:defRPr/>
            </a:pPr>
            <a:fld id="{489A5128-4A2D-41EE-A667-B498D88446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9880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7D8E1F9-5F61-4464-8C44-256749BEE1AB}" type="slidenum">
              <a:rPr lang="zh-CN" altLang="en-US" sz="1200" smtClean="0"/>
              <a:pPr eaLnBrk="1" hangingPunct="1"/>
              <a:t>1</a:t>
            </a:fld>
            <a:endParaRPr lang="en-US" altLang="zh-CN" sz="120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709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4137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8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57201" y="4343399"/>
            <a:ext cx="5935132" cy="449580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686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5685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8146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116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613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3467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399"/>
            <a:ext cx="5486400" cy="4504267"/>
          </a:xfrm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5915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330200" y="4343400"/>
            <a:ext cx="6248399" cy="4521200"/>
          </a:xfrm>
        </p:spPr>
        <p:txBody>
          <a:bodyPr/>
          <a:lstStyle/>
          <a:p>
            <a:endParaRPr lang="zh-CN" altLang="en-US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1552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3467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3467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7068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0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359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16467" y="4343400"/>
            <a:ext cx="5926665" cy="4114800"/>
          </a:xfrm>
        </p:spPr>
        <p:txBody>
          <a:bodyPr/>
          <a:lstStyle/>
          <a:p>
            <a:endParaRPr lang="zh-CN" altLang="en-US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504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357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554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341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6322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84200" y="4343399"/>
            <a:ext cx="5715000" cy="4250267"/>
          </a:xfrm>
        </p:spPr>
        <p:txBody>
          <a:bodyPr/>
          <a:lstStyle/>
          <a:p>
            <a:pPr>
              <a:lnSpc>
                <a:spcPct val="11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3083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9525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9275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170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7828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44422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21696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0022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0677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0677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0677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5926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6451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7537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39052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0417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9018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3461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596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87556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82945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34673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799" y="4343400"/>
            <a:ext cx="5723467" cy="4114800"/>
          </a:xfr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24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/>
          </a:p>
          <a:p>
            <a:pPr>
              <a:lnSpc>
                <a:spcPct val="124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51850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18067" y="4343399"/>
            <a:ext cx="5554133" cy="4360333"/>
          </a:xfrm>
        </p:spPr>
        <p:txBody>
          <a:bodyPr/>
          <a:lstStyle/>
          <a:p>
            <a:pPr>
              <a:lnSpc>
                <a:spcPct val="114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4519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14007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90509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34673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9741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05921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A5128-4A2D-41EE-A667-B498D8844668}" type="slidenum">
              <a:rPr lang="zh-CN" altLang="en-US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64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188164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2813754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396619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xbh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1158760" y="4278004"/>
            <a:ext cx="1557808" cy="15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教学2012\清华校徽2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61" y="776294"/>
            <a:ext cx="1343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471964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530492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/>
          </p:cNvSpPr>
          <p:nvPr userDrawn="1"/>
        </p:nvSpPr>
        <p:spPr>
          <a:xfrm>
            <a:off x="6724681" y="627062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‹#›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89875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14684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48"/>
          <p:cNvGrpSpPr>
            <a:grpSpLocks/>
          </p:cNvGrpSpPr>
          <p:nvPr userDrawn="1"/>
        </p:nvGrpSpPr>
        <p:grpSpPr bwMode="auto">
          <a:xfrm>
            <a:off x="8031163" y="5454650"/>
            <a:ext cx="533400" cy="492125"/>
            <a:chOff x="96" y="2784"/>
            <a:chExt cx="1062" cy="981"/>
          </a:xfrm>
        </p:grpSpPr>
        <p:sp>
          <p:nvSpPr>
            <p:cNvPr id="59406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0" name="Freeform 150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1" name="Freeform 151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2" name="Freeform 152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3" name="Freeform 153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4" name="Freeform 154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5" name="Freeform 155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6" name="Freeform 156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7" name="Freeform 157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8" name="Freeform 158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79" name="Freeform 159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80" name="Freeform 160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81" name="Freeform 161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99CC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051" name="Group 162"/>
          <p:cNvGrpSpPr>
            <a:grpSpLocks/>
          </p:cNvGrpSpPr>
          <p:nvPr userDrawn="1"/>
        </p:nvGrpSpPr>
        <p:grpSpPr bwMode="auto">
          <a:xfrm>
            <a:off x="5805488" y="2881313"/>
            <a:ext cx="533400" cy="492125"/>
            <a:chOff x="96" y="2784"/>
            <a:chExt cx="1062" cy="981"/>
          </a:xfrm>
        </p:grpSpPr>
        <p:sp>
          <p:nvSpPr>
            <p:cNvPr id="594083" name="Freeform 163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84" name="Freeform 164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85" name="Freeform 165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86" name="Freeform 166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87" name="Freeform 167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88" name="Freeform 168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89" name="Freeform 169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90" name="Freeform 170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91" name="Freeform 171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92" name="Freeform 172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93" name="Freeform 173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94" name="Freeform 174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95" name="Freeform 175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052" name="Group 176"/>
          <p:cNvGrpSpPr>
            <a:grpSpLocks/>
          </p:cNvGrpSpPr>
          <p:nvPr userDrawn="1"/>
        </p:nvGrpSpPr>
        <p:grpSpPr bwMode="auto">
          <a:xfrm>
            <a:off x="1646238" y="4876800"/>
            <a:ext cx="533400" cy="492125"/>
            <a:chOff x="96" y="2784"/>
            <a:chExt cx="1062" cy="981"/>
          </a:xfrm>
        </p:grpSpPr>
        <p:sp>
          <p:nvSpPr>
            <p:cNvPr id="594097" name="Freeform 177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98" name="Freeform 178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099" name="Freeform 179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0" name="Freeform 180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1" name="Freeform 181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2" name="Freeform 182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3" name="Freeform 183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4" name="Freeform 184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5" name="Freeform 185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6" name="Freeform 186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7" name="Freeform 187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8" name="Freeform 188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09" name="Freeform 189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CC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053" name="Group 190"/>
          <p:cNvGrpSpPr>
            <a:grpSpLocks/>
          </p:cNvGrpSpPr>
          <p:nvPr userDrawn="1"/>
        </p:nvGrpSpPr>
        <p:grpSpPr bwMode="auto">
          <a:xfrm>
            <a:off x="5046663" y="4525963"/>
            <a:ext cx="533400" cy="492125"/>
            <a:chOff x="96" y="2784"/>
            <a:chExt cx="1062" cy="981"/>
          </a:xfrm>
        </p:grpSpPr>
        <p:sp>
          <p:nvSpPr>
            <p:cNvPr id="594111" name="Freeform 191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12" name="Freeform 192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13" name="Freeform 193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14" name="Freeform 194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15" name="Freeform 195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16" name="Freeform 196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17" name="Freeform 197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18" name="Freeform 198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19" name="Freeform 199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20" name="Freeform 200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21" name="Freeform 201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22" name="Freeform 202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23" name="Freeform 203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CCFFC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054" name="Group 204"/>
          <p:cNvGrpSpPr>
            <a:grpSpLocks/>
          </p:cNvGrpSpPr>
          <p:nvPr userDrawn="1"/>
        </p:nvGrpSpPr>
        <p:grpSpPr bwMode="auto">
          <a:xfrm>
            <a:off x="1096963" y="2486025"/>
            <a:ext cx="533400" cy="492125"/>
            <a:chOff x="96" y="2784"/>
            <a:chExt cx="1062" cy="981"/>
          </a:xfrm>
        </p:grpSpPr>
        <p:sp>
          <p:nvSpPr>
            <p:cNvPr id="594125" name="Freeform 205"/>
            <p:cNvSpPr>
              <a:spLocks/>
            </p:cNvSpPr>
            <p:nvPr userDrawn="1"/>
          </p:nvSpPr>
          <p:spPr bwMode="auto">
            <a:xfrm>
              <a:off x="121" y="2784"/>
              <a:ext cx="205" cy="82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26" name="Freeform 206"/>
            <p:cNvSpPr>
              <a:spLocks noEditPoints="1"/>
            </p:cNvSpPr>
            <p:nvPr userDrawn="1"/>
          </p:nvSpPr>
          <p:spPr bwMode="auto">
            <a:xfrm>
              <a:off x="96" y="2790"/>
              <a:ext cx="1062" cy="975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27" name="Freeform 207"/>
            <p:cNvSpPr>
              <a:spLocks/>
            </p:cNvSpPr>
            <p:nvPr userDrawn="1"/>
          </p:nvSpPr>
          <p:spPr bwMode="auto">
            <a:xfrm>
              <a:off x="349" y="3256"/>
              <a:ext cx="85" cy="101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28" name="Freeform 208"/>
            <p:cNvSpPr>
              <a:spLocks/>
            </p:cNvSpPr>
            <p:nvPr userDrawn="1"/>
          </p:nvSpPr>
          <p:spPr bwMode="auto">
            <a:xfrm>
              <a:off x="267" y="3293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29" name="Freeform 209"/>
            <p:cNvSpPr>
              <a:spLocks/>
            </p:cNvSpPr>
            <p:nvPr userDrawn="1"/>
          </p:nvSpPr>
          <p:spPr bwMode="auto">
            <a:xfrm>
              <a:off x="222" y="3021"/>
              <a:ext cx="243" cy="117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30" name="Freeform 210"/>
            <p:cNvSpPr>
              <a:spLocks/>
            </p:cNvSpPr>
            <p:nvPr userDrawn="1"/>
          </p:nvSpPr>
          <p:spPr bwMode="auto">
            <a:xfrm>
              <a:off x="501" y="3344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31" name="Freeform 211"/>
            <p:cNvSpPr>
              <a:spLocks/>
            </p:cNvSpPr>
            <p:nvPr userDrawn="1"/>
          </p:nvSpPr>
          <p:spPr bwMode="auto">
            <a:xfrm>
              <a:off x="905" y="3157"/>
              <a:ext cx="177" cy="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32" name="Freeform 212"/>
            <p:cNvSpPr>
              <a:spLocks/>
            </p:cNvSpPr>
            <p:nvPr userDrawn="1"/>
          </p:nvSpPr>
          <p:spPr bwMode="auto">
            <a:xfrm>
              <a:off x="965" y="3154"/>
              <a:ext cx="136" cy="79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33" name="Freeform 213"/>
            <p:cNvSpPr>
              <a:spLocks/>
            </p:cNvSpPr>
            <p:nvPr userDrawn="1"/>
          </p:nvSpPr>
          <p:spPr bwMode="auto">
            <a:xfrm>
              <a:off x="959" y="3205"/>
              <a:ext cx="177" cy="85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34" name="Freeform 214"/>
            <p:cNvSpPr>
              <a:spLocks/>
            </p:cNvSpPr>
            <p:nvPr userDrawn="1"/>
          </p:nvSpPr>
          <p:spPr bwMode="auto">
            <a:xfrm>
              <a:off x="845" y="3284"/>
              <a:ext cx="247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35" name="Freeform 215"/>
            <p:cNvSpPr>
              <a:spLocks/>
            </p:cNvSpPr>
            <p:nvPr userDrawn="1"/>
          </p:nvSpPr>
          <p:spPr bwMode="auto">
            <a:xfrm>
              <a:off x="870" y="3341"/>
              <a:ext cx="202" cy="54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36" name="Freeform 216"/>
            <p:cNvSpPr>
              <a:spLocks/>
            </p:cNvSpPr>
            <p:nvPr userDrawn="1"/>
          </p:nvSpPr>
          <p:spPr bwMode="auto">
            <a:xfrm>
              <a:off x="858" y="3385"/>
              <a:ext cx="209" cy="174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94137" name="Freeform 217"/>
            <p:cNvSpPr>
              <a:spLocks/>
            </p:cNvSpPr>
            <p:nvPr userDrawn="1"/>
          </p:nvSpPr>
          <p:spPr bwMode="auto">
            <a:xfrm>
              <a:off x="997" y="3306"/>
              <a:ext cx="126" cy="31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FF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2055" name="Picture 273" descr="校徽blue2"/>
          <p:cNvPicPr>
            <a:picLocks noChangeAspect="1" noChangeArrowheads="1"/>
          </p:cNvPicPr>
          <p:nvPr userDrawn="1"/>
        </p:nvPicPr>
        <p:blipFill>
          <a:blip r:embed="rId7" cstate="print">
            <a:lum bright="9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0988"/>
            <a:ext cx="3387725" cy="33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7" r:id="rId2"/>
    <p:sldLayoutId id="2147483750" r:id="rId3"/>
    <p:sldLayoutId id="2147483751" r:id="rId4"/>
    <p:sldLayoutId id="2147483755" r:id="rId5"/>
  </p:sldLayoutIdLst>
  <p:transition spd="med">
    <p:wipe dir="d"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7" name="Picture 13" descr="xbhs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baseline="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baseline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9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showchina.org/zgjbqkxl/zgzl/zrzl/03/200803/t155891.htm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G:\&#22303;&#21147;&#23398;\01-&#31532;0&#31456;-&#32490;&#35770;\&#24405;&#20687;1&#65293;&#19975;&#20136;&#22522;&#22353;&#30772;&#22351;2.MP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file:///G:\&#22303;&#21147;&#23398;\01-&#31532;0&#31456;-&#32490;&#35770;\ikuda-19711111.WMV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2.emf"/><Relationship Id="rId4" Type="http://schemas.openxmlformats.org/officeDocument/2006/relationships/oleObject" Target="../embeddings/oleObject1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580955" y="4390958"/>
            <a:ext cx="64246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2400" b="1" dirty="0">
                <a:solidFill>
                  <a:srgbClr val="660066"/>
                </a:solidFill>
                <a:latin typeface="幼圆" pitchFamily="49" charset="-122"/>
                <a:ea typeface="幼圆" pitchFamily="49" charset="-122"/>
              </a:rPr>
              <a:t>	</a:t>
            </a: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清华大学土木水利学院      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      	岩 土 工 程 研 究 所</a:t>
            </a:r>
          </a:p>
        </p:txBody>
      </p:sp>
      <p:sp>
        <p:nvSpPr>
          <p:cNvPr id="5123" name="Text Box 6"/>
          <p:cNvSpPr txBox="1">
            <a:spLocks noChangeArrowheads="1"/>
          </p:cNvSpPr>
          <p:nvPr/>
        </p:nvSpPr>
        <p:spPr bwMode="auto">
          <a:xfrm>
            <a:off x="3640303" y="3113088"/>
            <a:ext cx="21177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张 丙 印</a:t>
            </a:r>
          </a:p>
        </p:txBody>
      </p:sp>
      <p:sp>
        <p:nvSpPr>
          <p:cNvPr id="5125" name="Text Box 59"/>
          <p:cNvSpPr txBox="1">
            <a:spLocks noChangeArrowheads="1"/>
          </p:cNvSpPr>
          <p:nvPr/>
        </p:nvSpPr>
        <p:spPr bwMode="auto">
          <a:xfrm>
            <a:off x="2431061" y="814620"/>
            <a:ext cx="4241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ea typeface="黑体" pitchFamily="2" charset="-122"/>
              </a:rPr>
              <a:t>《</a:t>
            </a:r>
            <a:r>
              <a:rPr kumimoji="1" lang="zh-CN" altLang="en-US" sz="2400" b="1" dirty="0" smtClean="0">
                <a:solidFill>
                  <a:srgbClr val="990000"/>
                </a:solidFill>
                <a:ea typeface="黑体" pitchFamily="2" charset="-122"/>
              </a:rPr>
              <a:t>土力学</a:t>
            </a:r>
            <a:r>
              <a:rPr kumimoji="1" lang="en-US" altLang="zh-CN" sz="2400" b="1" dirty="0" smtClean="0">
                <a:solidFill>
                  <a:srgbClr val="990000"/>
                </a:solidFill>
                <a:ea typeface="黑体" pitchFamily="2" charset="-122"/>
              </a:rPr>
              <a:t>》</a:t>
            </a:r>
            <a:r>
              <a:rPr kumimoji="1" lang="zh-CN" altLang="en-US" sz="2400" b="1" dirty="0">
                <a:solidFill>
                  <a:srgbClr val="990000"/>
                </a:solidFill>
                <a:ea typeface="黑体" pitchFamily="2" charset="-122"/>
              </a:rPr>
              <a:t>之课程绪论</a:t>
            </a:r>
          </a:p>
        </p:txBody>
      </p:sp>
      <p:sp>
        <p:nvSpPr>
          <p:cNvPr id="5126" name="Text Box 60"/>
          <p:cNvSpPr txBox="1">
            <a:spLocks noChangeArrowheads="1"/>
          </p:cNvSpPr>
          <p:nvPr/>
        </p:nvSpPr>
        <p:spPr bwMode="auto">
          <a:xfrm>
            <a:off x="2467729" y="1596518"/>
            <a:ext cx="4919663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8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土力学及其特点</a:t>
            </a:r>
            <a:endParaRPr kumimoji="1" lang="en-US" altLang="zh-CN" sz="48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 bwMode="auto">
          <a:xfrm>
            <a:off x="661915" y="3833157"/>
            <a:ext cx="8144399" cy="2823231"/>
          </a:xfrm>
          <a:prstGeom prst="roundRect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292100" y="1180647"/>
            <a:ext cx="87485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9pPr>
          </a:lstStyle>
          <a:p>
            <a:pPr marL="266700" indent="-26670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pitchFamily="2" charset="2"/>
              <a:buChar char="u"/>
              <a:defRPr/>
            </a:pPr>
            <a:r>
              <a:rPr lang="en-US" altLang="zh-CN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【</a:t>
            </a:r>
            <a:r>
              <a:rPr lang="zh-CN" altLang="en-US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学堂在线：土力学</a:t>
            </a:r>
            <a:r>
              <a:rPr lang="en-US" altLang="zh-CN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MOOC】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https://next.xuetangx.com/course/THU08101000395/4230988</a:t>
            </a:r>
            <a:endParaRPr lang="en-US" altLang="zh-CN"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pitchFamily="2" charset="2"/>
              <a:buChar char="u"/>
              <a:defRPr/>
            </a:pPr>
            <a:r>
              <a:rPr lang="en-US" altLang="zh-CN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【</a:t>
            </a:r>
            <a:r>
              <a:rPr lang="zh-CN" altLang="en-US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爱课程：国家级精品资源共享课</a:t>
            </a:r>
            <a:r>
              <a:rPr lang="en-US" altLang="zh-CN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http://www.icourses.cn/coursestatic/course_2957.html</a:t>
            </a:r>
            <a:endParaRPr lang="en-US" altLang="zh-CN" sz="1800" b="1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683166" y="5310792"/>
            <a:ext cx="1686863" cy="108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solidFill>
                  <a:srgbClr val="C00000"/>
                </a:solidFill>
                <a:ea typeface="华文琥珀" pitchFamily="2" charset="-122"/>
                <a:cs typeface="Times New Roman" panose="02020603050405020304" pitchFamily="18" charset="0"/>
              </a:rPr>
              <a:t>欢迎前往注册学习！</a:t>
            </a:r>
          </a:p>
        </p:txBody>
      </p:sp>
      <p:sp>
        <p:nvSpPr>
          <p:cNvPr id="9" name="文本框 2"/>
          <p:cNvSpPr txBox="1"/>
          <p:nvPr/>
        </p:nvSpPr>
        <p:spPr>
          <a:xfrm>
            <a:off x="1006361" y="4003972"/>
            <a:ext cx="746704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幼圆" pitchFamily="49" charset="-122"/>
                <a:ea typeface="幼圆" pitchFamily="49" charset="-122"/>
              </a:defRPr>
            </a:lvl9pPr>
          </a:lstStyle>
          <a:p>
            <a:pPr marL="342900" indent="-34290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  <a:defRPr/>
            </a:pP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清华</a:t>
            </a:r>
            <a:r>
              <a:rPr lang="en-US" altLang="zh-CN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《</a:t>
            </a: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土力学</a:t>
            </a:r>
            <a:r>
              <a:rPr lang="en-US" altLang="zh-CN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》</a:t>
            </a: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课程全部</a:t>
            </a:r>
            <a:r>
              <a:rPr lang="zh-CN" altLang="en-US" sz="2200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教学内容和过程</a:t>
            </a:r>
            <a:endParaRPr lang="en-US" altLang="zh-CN" sz="2200" b="1" dirty="0">
              <a:solidFill>
                <a:srgbClr val="0000CC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812800" indent="-3683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课程</a:t>
            </a:r>
            <a:r>
              <a:rPr lang="zh-CN" altLang="en-US" sz="2200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全程实况</a:t>
            </a: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录像</a:t>
            </a:r>
            <a:endParaRPr lang="zh-CN" altLang="en-US" sz="2200" b="1" dirty="0">
              <a:solidFill>
                <a:srgbClr val="0000CC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812800" indent="-3683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课程小测验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lang="zh-CN" altLang="en-US" sz="2200" b="1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期末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考试</a:t>
            </a:r>
            <a:r>
              <a:rPr lang="zh-CN" altLang="en-US" sz="2200" b="1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试卷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及参考答案</a:t>
            </a:r>
          </a:p>
          <a:p>
            <a:pPr marL="812800" indent="-3683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课程</a:t>
            </a:r>
            <a:r>
              <a:rPr lang="zh-CN" altLang="en-US" sz="2200" b="1" dirty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作业和参考</a:t>
            </a: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答案等</a:t>
            </a:r>
            <a:endParaRPr lang="en-US" altLang="zh-CN" sz="2200" b="1" dirty="0" smtClean="0">
              <a:solidFill>
                <a:srgbClr val="0000CC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812800" indent="-3683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在线答疑、讨论</a:t>
            </a:r>
            <a:endParaRPr lang="en-US" altLang="zh-CN" sz="2200" b="1" dirty="0" smtClean="0">
              <a:solidFill>
                <a:srgbClr val="0000CC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812800" indent="-3683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手机</a:t>
            </a:r>
            <a:r>
              <a:rPr lang="en-US" altLang="zh-CN" sz="22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APP</a:t>
            </a:r>
            <a:endParaRPr lang="zh-CN" altLang="en-US" sz="2200" b="1" dirty="0">
              <a:solidFill>
                <a:srgbClr val="0000CC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714438" y="227013"/>
            <a:ext cx="48387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网上在线教学资源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84508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163763" y="2171700"/>
            <a:ext cx="5256212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什么是土？    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itchFamily="2" charset="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土有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哪些特点？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为什么要学习土力学？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土力学包括哪些内容？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如何学好土力学？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773238" y="1122363"/>
            <a:ext cx="523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课程绪论：土力学及其特点</a:t>
            </a:r>
            <a:endParaRPr kumimoji="1" lang="en-US" altLang="zh-CN" sz="3200" b="1" dirty="0">
              <a:solidFill>
                <a:srgbClr val="000066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5"/>
          <p:cNvSpPr txBox="1">
            <a:spLocks noChangeArrowheads="1"/>
          </p:cNvSpPr>
          <p:nvPr/>
        </p:nvSpPr>
        <p:spPr bwMode="auto">
          <a:xfrm>
            <a:off x="2847296" y="5746751"/>
            <a:ext cx="383698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一般概念中的土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绪论：什么是土？</a:t>
            </a:r>
            <a:r>
              <a:rPr lang="zh-CN" altLang="en-US" sz="2000" kern="900" spc="-140" dirty="0">
                <a:solidFill>
                  <a:srgbClr val="C00000"/>
                </a:solidFill>
                <a:latin typeface="宋体" pitchFamily="2" charset="-122"/>
              </a:rPr>
              <a:t> 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997742" y="930288"/>
            <a:ext cx="3998913" cy="358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地之吐生物者也。二象地之下、地之中，丨，物出形也</a:t>
            </a:r>
            <a:r>
              <a:rPr lang="zh-CN" altLang="en-US" sz="24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30000"/>
              </a:spcAft>
            </a:pP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   - 《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说文解字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》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endParaRPr lang="en-US" altLang="zh-CN" sz="24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字包括：地上植物部分、表土层、植物地下部分和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底土层等多个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层次。</a:t>
            </a:r>
          </a:p>
        </p:txBody>
      </p:sp>
      <p:pic>
        <p:nvPicPr>
          <p:cNvPr id="7" name="Picture 7" descr="tu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40" y="543025"/>
            <a:ext cx="2540377" cy="331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https://gss0.bdstatic.com/-4o3dSag_xI4khGkpoWK1HF6hhy/baike/s%3D250/sign=2d0faa295d6034a82de2bf84fb1349d9/b812c8fcc3cec3fd4829845dd788d43f8794278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61" y="4051387"/>
            <a:ext cx="2881295" cy="44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432402" y="4580490"/>
            <a:ext cx="2872902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隶书</a:t>
            </a:r>
            <a:r>
              <a:rPr lang="en-US" altLang="zh-CN" b="1" dirty="0"/>
              <a:t>-</a:t>
            </a:r>
            <a:r>
              <a:rPr lang="zh-CN" altLang="en-US" b="1" dirty="0"/>
              <a:t>小篆</a:t>
            </a:r>
            <a:r>
              <a:rPr lang="en-US" altLang="zh-CN" b="1" dirty="0"/>
              <a:t>--</a:t>
            </a:r>
            <a:r>
              <a:rPr lang="zh-CN" altLang="en-US" b="1" dirty="0"/>
              <a:t>金文</a:t>
            </a:r>
            <a:r>
              <a:rPr lang="en-US" altLang="zh-CN" b="1" dirty="0"/>
              <a:t>---</a:t>
            </a:r>
            <a:r>
              <a:rPr lang="zh-CN" altLang="en-US" b="1" dirty="0"/>
              <a:t>甲骨文</a:t>
            </a:r>
            <a:r>
              <a:rPr lang="en-US" altLang="zh-CN" b="1" dirty="0"/>
              <a:t>---</a:t>
            </a:r>
            <a:r>
              <a:rPr lang="zh-CN" altLang="en-US" b="1" dirty="0"/>
              <a:t>骨刻文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8"/>
          <p:cNvSpPr txBox="1">
            <a:spLocks noChangeArrowheads="1"/>
          </p:cNvSpPr>
          <p:nvPr/>
        </p:nvSpPr>
        <p:spPr bwMode="auto">
          <a:xfrm>
            <a:off x="2514538" y="5751513"/>
            <a:ext cx="48387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土与人类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绪论：什么是土？</a:t>
            </a:r>
            <a:r>
              <a:rPr lang="zh-CN" altLang="en-US" sz="2000" kern="900" spc="-140" dirty="0">
                <a:solidFill>
                  <a:srgbClr val="C00000"/>
                </a:solidFill>
                <a:latin typeface="宋体" pitchFamily="2" charset="-122"/>
              </a:rPr>
              <a:t> 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617663" y="1460500"/>
            <a:ext cx="6218532" cy="352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2438" indent="-4524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管仲： “地者，万物之本原，诸生之根苑也”</a:t>
            </a:r>
          </a:p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en-US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诗经</a:t>
            </a:r>
            <a:r>
              <a:rPr lang="en-US" altLang="zh-CN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：“</a:t>
            </a: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普天之下，莫非王土，率土之滨，莫非王臣</a:t>
            </a:r>
            <a:r>
              <a:rPr lang="zh-CN" altLang="en-US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2400" b="1" dirty="0" smtClean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</a:t>
            </a: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大古文明中人类起源的传说：不约而同地认为人是上帝（神）用土创造的</a:t>
            </a:r>
          </a:p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中国传统文化中的五行：金木水火土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000FF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000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000FF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000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000FF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000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000FF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000FF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9" name="Text Box 31"/>
          <p:cNvSpPr txBox="1">
            <a:spLocks noChangeArrowheads="1"/>
          </p:cNvSpPr>
          <p:nvPr/>
        </p:nvSpPr>
        <p:spPr bwMode="auto">
          <a:xfrm>
            <a:off x="2523092" y="5751513"/>
            <a:ext cx="48387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土壤在自然界的位置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绪论：什么是土？</a:t>
            </a:r>
            <a:r>
              <a:rPr lang="zh-CN" altLang="en-US" sz="2000" kern="900" spc="-140" dirty="0">
                <a:solidFill>
                  <a:srgbClr val="C00000"/>
                </a:solidFill>
                <a:latin typeface="宋体" pitchFamily="2" charset="-122"/>
              </a:rPr>
              <a:t> </a:t>
            </a:r>
          </a:p>
        </p:txBody>
      </p:sp>
      <p:pic>
        <p:nvPicPr>
          <p:cNvPr id="34" name="Picture 2" descr="tem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2" r="23820" b="6790"/>
          <a:stretch>
            <a:fillRect/>
          </a:stretch>
        </p:blipFill>
        <p:spPr bwMode="auto">
          <a:xfrm>
            <a:off x="467132" y="762000"/>
            <a:ext cx="4648200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" descr="Graphic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32" y="1411288"/>
            <a:ext cx="70485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4" descr="tre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695" y="912813"/>
            <a:ext cx="333375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5" descr="tre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095" y="754063"/>
            <a:ext cx="333375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" name="Group 6"/>
          <p:cNvGrpSpPr>
            <a:grpSpLocks/>
          </p:cNvGrpSpPr>
          <p:nvPr/>
        </p:nvGrpSpPr>
        <p:grpSpPr bwMode="auto">
          <a:xfrm>
            <a:off x="2659470" y="2252663"/>
            <a:ext cx="115887" cy="158750"/>
            <a:chOff x="1977" y="1448"/>
            <a:chExt cx="73" cy="100"/>
          </a:xfrm>
        </p:grpSpPr>
        <p:sp>
          <p:nvSpPr>
            <p:cNvPr id="40" name="Freeform 7"/>
            <p:cNvSpPr>
              <a:spLocks/>
            </p:cNvSpPr>
            <p:nvPr/>
          </p:nvSpPr>
          <p:spPr bwMode="auto">
            <a:xfrm>
              <a:off x="1998" y="1454"/>
              <a:ext cx="16" cy="94"/>
            </a:xfrm>
            <a:custGeom>
              <a:avLst/>
              <a:gdLst>
                <a:gd name="T0" fmla="*/ 0 w 10"/>
                <a:gd name="T1" fmla="*/ 94 h 77"/>
                <a:gd name="T2" fmla="*/ 8 w 10"/>
                <a:gd name="T3" fmla="*/ 17 h 77"/>
                <a:gd name="T4" fmla="*/ 16 w 10"/>
                <a:gd name="T5" fmla="*/ 0 h 77"/>
                <a:gd name="T6" fmla="*/ 0 60000 65536"/>
                <a:gd name="T7" fmla="*/ 0 60000 65536"/>
                <a:gd name="T8" fmla="*/ 0 60000 65536"/>
                <a:gd name="T9" fmla="*/ 0 w 10"/>
                <a:gd name="T10" fmla="*/ 0 h 77"/>
                <a:gd name="T11" fmla="*/ 10 w 10"/>
                <a:gd name="T12" fmla="*/ 77 h 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77">
                  <a:moveTo>
                    <a:pt x="0" y="77"/>
                  </a:moveTo>
                  <a:cubicBezTo>
                    <a:pt x="2" y="56"/>
                    <a:pt x="2" y="35"/>
                    <a:pt x="5" y="14"/>
                  </a:cubicBezTo>
                  <a:cubicBezTo>
                    <a:pt x="6" y="9"/>
                    <a:pt x="10" y="0"/>
                    <a:pt x="10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8"/>
            <p:cNvSpPr>
              <a:spLocks/>
            </p:cNvSpPr>
            <p:nvPr/>
          </p:nvSpPr>
          <p:spPr bwMode="auto">
            <a:xfrm>
              <a:off x="2006" y="1490"/>
              <a:ext cx="44" cy="23"/>
            </a:xfrm>
            <a:custGeom>
              <a:avLst/>
              <a:gdLst>
                <a:gd name="T0" fmla="*/ 0 w 29"/>
                <a:gd name="T1" fmla="*/ 23 h 19"/>
                <a:gd name="T2" fmla="*/ 44 w 29"/>
                <a:gd name="T3" fmla="*/ 0 h 19"/>
                <a:gd name="T4" fmla="*/ 0 60000 65536"/>
                <a:gd name="T5" fmla="*/ 0 60000 65536"/>
                <a:gd name="T6" fmla="*/ 0 w 29"/>
                <a:gd name="T7" fmla="*/ 0 h 19"/>
                <a:gd name="T8" fmla="*/ 29 w 29"/>
                <a:gd name="T9" fmla="*/ 19 h 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" h="19">
                  <a:moveTo>
                    <a:pt x="0" y="19"/>
                  </a:moveTo>
                  <a:cubicBezTo>
                    <a:pt x="9" y="16"/>
                    <a:pt x="29" y="12"/>
                    <a:pt x="29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9"/>
            <p:cNvSpPr>
              <a:spLocks/>
            </p:cNvSpPr>
            <p:nvPr/>
          </p:nvSpPr>
          <p:spPr bwMode="auto">
            <a:xfrm>
              <a:off x="1977" y="1448"/>
              <a:ext cx="21" cy="46"/>
            </a:xfrm>
            <a:custGeom>
              <a:avLst/>
              <a:gdLst>
                <a:gd name="T0" fmla="*/ 21 w 14"/>
                <a:gd name="T1" fmla="*/ 46 h 38"/>
                <a:gd name="T2" fmla="*/ 0 w 14"/>
                <a:gd name="T3" fmla="*/ 0 h 38"/>
                <a:gd name="T4" fmla="*/ 0 60000 65536"/>
                <a:gd name="T5" fmla="*/ 0 60000 65536"/>
                <a:gd name="T6" fmla="*/ 0 w 14"/>
                <a:gd name="T7" fmla="*/ 0 h 38"/>
                <a:gd name="T8" fmla="*/ 14 w 14"/>
                <a:gd name="T9" fmla="*/ 38 h 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" h="38">
                  <a:moveTo>
                    <a:pt x="14" y="38"/>
                  </a:moveTo>
                  <a:cubicBezTo>
                    <a:pt x="9" y="25"/>
                    <a:pt x="6" y="12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" name="Group 10"/>
          <p:cNvGrpSpPr>
            <a:grpSpLocks/>
          </p:cNvGrpSpPr>
          <p:nvPr/>
        </p:nvGrpSpPr>
        <p:grpSpPr bwMode="auto">
          <a:xfrm>
            <a:off x="2756307" y="2320925"/>
            <a:ext cx="80963" cy="111125"/>
            <a:chOff x="1364" y="1723"/>
            <a:chExt cx="42" cy="70"/>
          </a:xfrm>
        </p:grpSpPr>
        <p:sp>
          <p:nvSpPr>
            <p:cNvPr id="44" name="Freeform 11"/>
            <p:cNvSpPr>
              <a:spLocks/>
            </p:cNvSpPr>
            <p:nvPr/>
          </p:nvSpPr>
          <p:spPr bwMode="auto">
            <a:xfrm>
              <a:off x="1379" y="1726"/>
              <a:ext cx="9" cy="67"/>
            </a:xfrm>
            <a:custGeom>
              <a:avLst/>
              <a:gdLst>
                <a:gd name="T0" fmla="*/ 0 w 7"/>
                <a:gd name="T1" fmla="*/ 65 h 55"/>
                <a:gd name="T2" fmla="*/ 6 w 7"/>
                <a:gd name="T3" fmla="*/ 9 h 55"/>
                <a:gd name="T4" fmla="*/ 9 w 7"/>
                <a:gd name="T5" fmla="*/ 0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0" y="53"/>
                  </a:moveTo>
                  <a:cubicBezTo>
                    <a:pt x="7" y="26"/>
                    <a:pt x="0" y="55"/>
                    <a:pt x="5" y="7"/>
                  </a:cubicBezTo>
                  <a:cubicBezTo>
                    <a:pt x="5" y="5"/>
                    <a:pt x="7" y="0"/>
                    <a:pt x="7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12"/>
            <p:cNvSpPr>
              <a:spLocks/>
            </p:cNvSpPr>
            <p:nvPr/>
          </p:nvSpPr>
          <p:spPr bwMode="auto">
            <a:xfrm>
              <a:off x="1385" y="1738"/>
              <a:ext cx="21" cy="26"/>
            </a:xfrm>
            <a:custGeom>
              <a:avLst/>
              <a:gdLst>
                <a:gd name="T0" fmla="*/ 0 w 17"/>
                <a:gd name="T1" fmla="*/ 26 h 21"/>
                <a:gd name="T2" fmla="*/ 21 w 17"/>
                <a:gd name="T3" fmla="*/ 0 h 21"/>
                <a:gd name="T4" fmla="*/ 0 60000 65536"/>
                <a:gd name="T5" fmla="*/ 0 60000 65536"/>
                <a:gd name="T6" fmla="*/ 0 w 17"/>
                <a:gd name="T7" fmla="*/ 0 h 21"/>
                <a:gd name="T8" fmla="*/ 17 w 17"/>
                <a:gd name="T9" fmla="*/ 21 h 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" h="21">
                  <a:moveTo>
                    <a:pt x="0" y="21"/>
                  </a:moveTo>
                  <a:cubicBezTo>
                    <a:pt x="3" y="10"/>
                    <a:pt x="6" y="5"/>
                    <a:pt x="17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13"/>
            <p:cNvSpPr>
              <a:spLocks/>
            </p:cNvSpPr>
            <p:nvPr/>
          </p:nvSpPr>
          <p:spPr bwMode="auto">
            <a:xfrm>
              <a:off x="1364" y="1723"/>
              <a:ext cx="12" cy="20"/>
            </a:xfrm>
            <a:custGeom>
              <a:avLst/>
              <a:gdLst>
                <a:gd name="T0" fmla="*/ 12 w 10"/>
                <a:gd name="T1" fmla="*/ 20 h 16"/>
                <a:gd name="T2" fmla="*/ 0 w 10"/>
                <a:gd name="T3" fmla="*/ 0 h 16"/>
                <a:gd name="T4" fmla="*/ 0 60000 65536"/>
                <a:gd name="T5" fmla="*/ 0 60000 65536"/>
                <a:gd name="T6" fmla="*/ 0 w 10"/>
                <a:gd name="T7" fmla="*/ 0 h 16"/>
                <a:gd name="T8" fmla="*/ 10 w 10"/>
                <a:gd name="T9" fmla="*/ 16 h 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" h="16">
                  <a:moveTo>
                    <a:pt x="10" y="16"/>
                  </a:moveTo>
                  <a:cubicBezTo>
                    <a:pt x="6" y="11"/>
                    <a:pt x="5" y="3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" name="Group 14"/>
          <p:cNvGrpSpPr>
            <a:grpSpLocks/>
          </p:cNvGrpSpPr>
          <p:nvPr/>
        </p:nvGrpSpPr>
        <p:grpSpPr bwMode="auto">
          <a:xfrm>
            <a:off x="2562632" y="2301875"/>
            <a:ext cx="71438" cy="82550"/>
            <a:chOff x="1694" y="1389"/>
            <a:chExt cx="45" cy="52"/>
          </a:xfrm>
        </p:grpSpPr>
        <p:sp>
          <p:nvSpPr>
            <p:cNvPr id="48" name="Freeform 15"/>
            <p:cNvSpPr>
              <a:spLocks/>
            </p:cNvSpPr>
            <p:nvPr/>
          </p:nvSpPr>
          <p:spPr bwMode="auto">
            <a:xfrm flipH="1">
              <a:off x="1715" y="1391"/>
              <a:ext cx="8" cy="50"/>
            </a:xfrm>
            <a:custGeom>
              <a:avLst/>
              <a:gdLst>
                <a:gd name="T0" fmla="*/ 0 w 7"/>
                <a:gd name="T1" fmla="*/ 48 h 55"/>
                <a:gd name="T2" fmla="*/ 6 w 7"/>
                <a:gd name="T3" fmla="*/ 6 h 55"/>
                <a:gd name="T4" fmla="*/ 8 w 7"/>
                <a:gd name="T5" fmla="*/ 0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0" y="53"/>
                  </a:moveTo>
                  <a:cubicBezTo>
                    <a:pt x="7" y="26"/>
                    <a:pt x="0" y="55"/>
                    <a:pt x="5" y="7"/>
                  </a:cubicBezTo>
                  <a:cubicBezTo>
                    <a:pt x="5" y="5"/>
                    <a:pt x="7" y="0"/>
                    <a:pt x="7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16"/>
            <p:cNvSpPr>
              <a:spLocks/>
            </p:cNvSpPr>
            <p:nvPr/>
          </p:nvSpPr>
          <p:spPr bwMode="auto">
            <a:xfrm flipH="1">
              <a:off x="1694" y="1400"/>
              <a:ext cx="23" cy="19"/>
            </a:xfrm>
            <a:custGeom>
              <a:avLst/>
              <a:gdLst>
                <a:gd name="T0" fmla="*/ 0 w 17"/>
                <a:gd name="T1" fmla="*/ 19 h 21"/>
                <a:gd name="T2" fmla="*/ 23 w 17"/>
                <a:gd name="T3" fmla="*/ 0 h 21"/>
                <a:gd name="T4" fmla="*/ 0 60000 65536"/>
                <a:gd name="T5" fmla="*/ 0 60000 65536"/>
                <a:gd name="T6" fmla="*/ 0 w 17"/>
                <a:gd name="T7" fmla="*/ 0 h 21"/>
                <a:gd name="T8" fmla="*/ 17 w 17"/>
                <a:gd name="T9" fmla="*/ 21 h 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" h="21">
                  <a:moveTo>
                    <a:pt x="0" y="21"/>
                  </a:moveTo>
                  <a:cubicBezTo>
                    <a:pt x="3" y="10"/>
                    <a:pt x="6" y="5"/>
                    <a:pt x="17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17"/>
            <p:cNvSpPr>
              <a:spLocks/>
            </p:cNvSpPr>
            <p:nvPr/>
          </p:nvSpPr>
          <p:spPr bwMode="auto">
            <a:xfrm flipH="1">
              <a:off x="1727" y="1389"/>
              <a:ext cx="12" cy="14"/>
            </a:xfrm>
            <a:custGeom>
              <a:avLst/>
              <a:gdLst>
                <a:gd name="T0" fmla="*/ 12 w 10"/>
                <a:gd name="T1" fmla="*/ 14 h 16"/>
                <a:gd name="T2" fmla="*/ 0 w 10"/>
                <a:gd name="T3" fmla="*/ 0 h 16"/>
                <a:gd name="T4" fmla="*/ 0 60000 65536"/>
                <a:gd name="T5" fmla="*/ 0 60000 65536"/>
                <a:gd name="T6" fmla="*/ 0 w 10"/>
                <a:gd name="T7" fmla="*/ 0 h 16"/>
                <a:gd name="T8" fmla="*/ 10 w 10"/>
                <a:gd name="T9" fmla="*/ 16 h 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" h="16">
                  <a:moveTo>
                    <a:pt x="10" y="16"/>
                  </a:moveTo>
                  <a:cubicBezTo>
                    <a:pt x="6" y="11"/>
                    <a:pt x="5" y="3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" name="Group 18"/>
          <p:cNvGrpSpPr>
            <a:grpSpLocks/>
          </p:cNvGrpSpPr>
          <p:nvPr/>
        </p:nvGrpSpPr>
        <p:grpSpPr bwMode="auto">
          <a:xfrm flipH="1">
            <a:off x="2870607" y="2371725"/>
            <a:ext cx="80963" cy="111125"/>
            <a:chOff x="1866" y="1822"/>
            <a:chExt cx="42" cy="70"/>
          </a:xfrm>
        </p:grpSpPr>
        <p:sp>
          <p:nvSpPr>
            <p:cNvPr id="52" name="Freeform 19"/>
            <p:cNvSpPr>
              <a:spLocks/>
            </p:cNvSpPr>
            <p:nvPr/>
          </p:nvSpPr>
          <p:spPr bwMode="auto">
            <a:xfrm>
              <a:off x="1881" y="1824"/>
              <a:ext cx="9" cy="68"/>
            </a:xfrm>
            <a:custGeom>
              <a:avLst/>
              <a:gdLst>
                <a:gd name="T0" fmla="*/ 0 w 7"/>
                <a:gd name="T1" fmla="*/ 66 h 55"/>
                <a:gd name="T2" fmla="*/ 6 w 7"/>
                <a:gd name="T3" fmla="*/ 9 h 55"/>
                <a:gd name="T4" fmla="*/ 9 w 7"/>
                <a:gd name="T5" fmla="*/ 0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0" y="53"/>
                  </a:moveTo>
                  <a:cubicBezTo>
                    <a:pt x="7" y="26"/>
                    <a:pt x="0" y="55"/>
                    <a:pt x="5" y="7"/>
                  </a:cubicBezTo>
                  <a:cubicBezTo>
                    <a:pt x="5" y="5"/>
                    <a:pt x="7" y="0"/>
                    <a:pt x="7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20"/>
            <p:cNvSpPr>
              <a:spLocks/>
            </p:cNvSpPr>
            <p:nvPr/>
          </p:nvSpPr>
          <p:spPr bwMode="auto">
            <a:xfrm>
              <a:off x="1887" y="1837"/>
              <a:ext cx="21" cy="25"/>
            </a:xfrm>
            <a:custGeom>
              <a:avLst/>
              <a:gdLst>
                <a:gd name="T0" fmla="*/ 0 w 17"/>
                <a:gd name="T1" fmla="*/ 25 h 21"/>
                <a:gd name="T2" fmla="*/ 21 w 17"/>
                <a:gd name="T3" fmla="*/ 0 h 21"/>
                <a:gd name="T4" fmla="*/ 0 60000 65536"/>
                <a:gd name="T5" fmla="*/ 0 60000 65536"/>
                <a:gd name="T6" fmla="*/ 0 w 17"/>
                <a:gd name="T7" fmla="*/ 0 h 21"/>
                <a:gd name="T8" fmla="*/ 17 w 17"/>
                <a:gd name="T9" fmla="*/ 21 h 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" h="21">
                  <a:moveTo>
                    <a:pt x="0" y="21"/>
                  </a:moveTo>
                  <a:cubicBezTo>
                    <a:pt x="3" y="10"/>
                    <a:pt x="6" y="5"/>
                    <a:pt x="17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21"/>
            <p:cNvSpPr>
              <a:spLocks/>
            </p:cNvSpPr>
            <p:nvPr/>
          </p:nvSpPr>
          <p:spPr bwMode="auto">
            <a:xfrm>
              <a:off x="1866" y="1822"/>
              <a:ext cx="13" cy="20"/>
            </a:xfrm>
            <a:custGeom>
              <a:avLst/>
              <a:gdLst>
                <a:gd name="T0" fmla="*/ 13 w 10"/>
                <a:gd name="T1" fmla="*/ 20 h 16"/>
                <a:gd name="T2" fmla="*/ 0 w 10"/>
                <a:gd name="T3" fmla="*/ 0 h 16"/>
                <a:gd name="T4" fmla="*/ 0 60000 65536"/>
                <a:gd name="T5" fmla="*/ 0 60000 65536"/>
                <a:gd name="T6" fmla="*/ 0 w 10"/>
                <a:gd name="T7" fmla="*/ 0 h 16"/>
                <a:gd name="T8" fmla="*/ 10 w 10"/>
                <a:gd name="T9" fmla="*/ 16 h 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" h="16">
                  <a:moveTo>
                    <a:pt x="10" y="16"/>
                  </a:moveTo>
                  <a:cubicBezTo>
                    <a:pt x="6" y="11"/>
                    <a:pt x="5" y="3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" name="Text Box 22"/>
          <p:cNvSpPr txBox="1">
            <a:spLocks noChangeArrowheads="1"/>
          </p:cNvSpPr>
          <p:nvPr/>
        </p:nvSpPr>
        <p:spPr bwMode="auto">
          <a:xfrm>
            <a:off x="3651657" y="1184275"/>
            <a:ext cx="10271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/>
              <a:t>大气圈</a:t>
            </a:r>
          </a:p>
        </p:txBody>
      </p:sp>
      <p:sp>
        <p:nvSpPr>
          <p:cNvPr id="56" name="Text Box 23"/>
          <p:cNvSpPr txBox="1">
            <a:spLocks noChangeArrowheads="1"/>
          </p:cNvSpPr>
          <p:nvPr/>
        </p:nvSpPr>
        <p:spPr bwMode="auto">
          <a:xfrm>
            <a:off x="4327932" y="3033713"/>
            <a:ext cx="7461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0066"/>
                </a:solidFill>
              </a:rPr>
              <a:t>水圈</a:t>
            </a:r>
          </a:p>
        </p:txBody>
      </p:sp>
      <p:sp>
        <p:nvSpPr>
          <p:cNvPr id="57" name="Text Box 24"/>
          <p:cNvSpPr txBox="1">
            <a:spLocks noChangeArrowheads="1"/>
          </p:cNvSpPr>
          <p:nvPr/>
        </p:nvSpPr>
        <p:spPr bwMode="auto">
          <a:xfrm>
            <a:off x="2026057" y="3562350"/>
            <a:ext cx="10271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bg1"/>
                </a:solidFill>
              </a:rPr>
              <a:t>岩石圈</a:t>
            </a:r>
          </a:p>
        </p:txBody>
      </p: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797332" y="922338"/>
            <a:ext cx="10271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/>
              <a:t>生物圈</a:t>
            </a:r>
          </a:p>
        </p:txBody>
      </p:sp>
      <p:sp>
        <p:nvSpPr>
          <p:cNvPr id="59" name="Text Box 26"/>
          <p:cNvSpPr txBox="1">
            <a:spLocks noChangeArrowheads="1"/>
          </p:cNvSpPr>
          <p:nvPr/>
        </p:nvSpPr>
        <p:spPr bwMode="auto">
          <a:xfrm>
            <a:off x="1118007" y="2657475"/>
            <a:ext cx="10271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bg1"/>
                </a:solidFill>
              </a:rPr>
              <a:t>风化物</a:t>
            </a:r>
            <a:endParaRPr lang="en-US" altLang="zh-CN" sz="2200" b="1">
              <a:solidFill>
                <a:schemeClr val="bg1"/>
              </a:solidFill>
            </a:endParaRPr>
          </a:p>
        </p:txBody>
      </p:sp>
      <p:sp>
        <p:nvSpPr>
          <p:cNvPr id="60" name="Text Box 27"/>
          <p:cNvSpPr txBox="1">
            <a:spLocks noChangeArrowheads="1"/>
          </p:cNvSpPr>
          <p:nvPr/>
        </p:nvSpPr>
        <p:spPr bwMode="auto">
          <a:xfrm>
            <a:off x="2780120" y="1828800"/>
            <a:ext cx="10271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folHlink"/>
                </a:solidFill>
              </a:rPr>
              <a:t>土壤圈</a:t>
            </a:r>
          </a:p>
        </p:txBody>
      </p:sp>
      <p:sp>
        <p:nvSpPr>
          <p:cNvPr id="61" name="Line 28"/>
          <p:cNvSpPr>
            <a:spLocks noChangeShapeType="1"/>
          </p:cNvSpPr>
          <p:nvPr/>
        </p:nvSpPr>
        <p:spPr bwMode="auto">
          <a:xfrm flipV="1">
            <a:off x="2651532" y="2209800"/>
            <a:ext cx="315913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 flipV="1">
            <a:off x="3026182" y="2589213"/>
            <a:ext cx="528638" cy="233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Text Box 30"/>
          <p:cNvSpPr txBox="1">
            <a:spLocks noChangeArrowheads="1"/>
          </p:cNvSpPr>
          <p:nvPr/>
        </p:nvSpPr>
        <p:spPr bwMode="auto">
          <a:xfrm>
            <a:off x="3637370" y="2327275"/>
            <a:ext cx="10271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/>
              <a:t>地下水</a:t>
            </a:r>
          </a:p>
        </p:txBody>
      </p:sp>
      <p:sp>
        <p:nvSpPr>
          <p:cNvPr id="64" name="Text Box 36"/>
          <p:cNvSpPr txBox="1">
            <a:spLocks noChangeArrowheads="1"/>
          </p:cNvSpPr>
          <p:nvPr/>
        </p:nvSpPr>
        <p:spPr bwMode="auto">
          <a:xfrm>
            <a:off x="5345113" y="2296453"/>
            <a:ext cx="3462337" cy="29383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lIns="90000" tIns="46800" rIns="90000" bIns="46800">
            <a:spAutoFit/>
          </a:bodyPr>
          <a:lstStyle>
            <a:lvl1pPr marL="361950" indent="-3619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地球地壳部分：岩土</a:t>
            </a: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地球半径：</a:t>
            </a:r>
            <a:r>
              <a:rPr lang="en-US" altLang="zh-CN" sz="2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6370km</a:t>
            </a:r>
            <a:endParaRPr lang="zh-CN" altLang="en-US" sz="22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岩土工程</a:t>
            </a:r>
            <a:r>
              <a:rPr lang="zh-CN" altLang="en-US" sz="2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10km-33km</a:t>
            </a:r>
            <a:endParaRPr lang="zh-CN" altLang="en-US" sz="22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其中土（风化岩石）涉及地球表面深度一般</a:t>
            </a:r>
            <a:r>
              <a:rPr lang="en-US" altLang="zh-CN" sz="2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&lt;1km</a:t>
            </a:r>
            <a:endParaRPr lang="zh-CN" altLang="en-US" sz="22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153576" y="5751513"/>
            <a:ext cx="29178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土及其形成</a:t>
            </a:r>
          </a:p>
        </p:txBody>
      </p:sp>
      <p:sp>
        <p:nvSpPr>
          <p:cNvPr id="128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绪论：什么是土？</a:t>
            </a:r>
            <a:r>
              <a:rPr lang="zh-CN" altLang="en-US" sz="2000" kern="900" spc="-140" dirty="0">
                <a:solidFill>
                  <a:srgbClr val="C00000"/>
                </a:solidFill>
                <a:latin typeface="宋体" pitchFamily="2" charset="-122"/>
              </a:rPr>
              <a:t> </a:t>
            </a:r>
          </a:p>
        </p:txBody>
      </p:sp>
      <p:grpSp>
        <p:nvGrpSpPr>
          <p:cNvPr id="127" name="Group 24"/>
          <p:cNvGrpSpPr>
            <a:grpSpLocks/>
          </p:cNvGrpSpPr>
          <p:nvPr/>
        </p:nvGrpSpPr>
        <p:grpSpPr bwMode="auto">
          <a:xfrm>
            <a:off x="1385571" y="3124128"/>
            <a:ext cx="2047875" cy="1265237"/>
            <a:chOff x="556" y="600"/>
            <a:chExt cx="1290" cy="797"/>
          </a:xfrm>
        </p:grpSpPr>
        <p:sp>
          <p:nvSpPr>
            <p:cNvPr id="129" name="Freeform 25" descr="新闻纸"/>
            <p:cNvSpPr>
              <a:spLocks/>
            </p:cNvSpPr>
            <p:nvPr/>
          </p:nvSpPr>
          <p:spPr bwMode="auto">
            <a:xfrm>
              <a:off x="557" y="601"/>
              <a:ext cx="1289" cy="795"/>
            </a:xfrm>
            <a:custGeom>
              <a:avLst/>
              <a:gdLst>
                <a:gd name="T0" fmla="*/ 2 w 2661"/>
                <a:gd name="T1" fmla="*/ 608 h 1639"/>
                <a:gd name="T2" fmla="*/ 117 w 2661"/>
                <a:gd name="T3" fmla="*/ 648 h 1639"/>
                <a:gd name="T4" fmla="*/ 241 w 2661"/>
                <a:gd name="T5" fmla="*/ 698 h 1639"/>
                <a:gd name="T6" fmla="*/ 329 w 2661"/>
                <a:gd name="T7" fmla="*/ 731 h 1639"/>
                <a:gd name="T8" fmla="*/ 410 w 2661"/>
                <a:gd name="T9" fmla="*/ 759 h 1639"/>
                <a:gd name="T10" fmla="*/ 448 w 2661"/>
                <a:gd name="T11" fmla="*/ 778 h 1639"/>
                <a:gd name="T12" fmla="*/ 542 w 2661"/>
                <a:gd name="T13" fmla="*/ 795 h 1639"/>
                <a:gd name="T14" fmla="*/ 602 w 2661"/>
                <a:gd name="T15" fmla="*/ 771 h 1639"/>
                <a:gd name="T16" fmla="*/ 668 w 2661"/>
                <a:gd name="T17" fmla="*/ 735 h 1639"/>
                <a:gd name="T18" fmla="*/ 761 w 2661"/>
                <a:gd name="T19" fmla="*/ 757 h 1639"/>
                <a:gd name="T20" fmla="*/ 880 w 2661"/>
                <a:gd name="T21" fmla="*/ 698 h 1639"/>
                <a:gd name="T22" fmla="*/ 899 w 2661"/>
                <a:gd name="T23" fmla="*/ 687 h 1639"/>
                <a:gd name="T24" fmla="*/ 943 w 2661"/>
                <a:gd name="T25" fmla="*/ 671 h 1639"/>
                <a:gd name="T26" fmla="*/ 992 w 2661"/>
                <a:gd name="T27" fmla="*/ 657 h 1639"/>
                <a:gd name="T28" fmla="*/ 1029 w 2661"/>
                <a:gd name="T29" fmla="*/ 643 h 1639"/>
                <a:gd name="T30" fmla="*/ 1089 w 2661"/>
                <a:gd name="T31" fmla="*/ 654 h 1639"/>
                <a:gd name="T32" fmla="*/ 1108 w 2661"/>
                <a:gd name="T33" fmla="*/ 649 h 1639"/>
                <a:gd name="T34" fmla="*/ 1136 w 2661"/>
                <a:gd name="T35" fmla="*/ 648 h 1639"/>
                <a:gd name="T36" fmla="*/ 1164 w 2661"/>
                <a:gd name="T37" fmla="*/ 624 h 1639"/>
                <a:gd name="T38" fmla="*/ 1224 w 2661"/>
                <a:gd name="T39" fmla="*/ 608 h 1639"/>
                <a:gd name="T40" fmla="*/ 1257 w 2661"/>
                <a:gd name="T41" fmla="*/ 596 h 1639"/>
                <a:gd name="T42" fmla="*/ 1289 w 2661"/>
                <a:gd name="T43" fmla="*/ 575 h 1639"/>
                <a:gd name="T44" fmla="*/ 1241 w 2661"/>
                <a:gd name="T45" fmla="*/ 498 h 1639"/>
                <a:gd name="T46" fmla="*/ 1241 w 2661"/>
                <a:gd name="T47" fmla="*/ 480 h 1639"/>
                <a:gd name="T48" fmla="*/ 1227 w 2661"/>
                <a:gd name="T49" fmla="*/ 463 h 1639"/>
                <a:gd name="T50" fmla="*/ 1149 w 2661"/>
                <a:gd name="T51" fmla="*/ 354 h 1639"/>
                <a:gd name="T52" fmla="*/ 1087 w 2661"/>
                <a:gd name="T53" fmla="*/ 322 h 1639"/>
                <a:gd name="T54" fmla="*/ 1001 w 2661"/>
                <a:gd name="T55" fmla="*/ 198 h 1639"/>
                <a:gd name="T56" fmla="*/ 940 w 2661"/>
                <a:gd name="T57" fmla="*/ 184 h 1639"/>
                <a:gd name="T58" fmla="*/ 878 w 2661"/>
                <a:gd name="T59" fmla="*/ 159 h 1639"/>
                <a:gd name="T60" fmla="*/ 836 w 2661"/>
                <a:gd name="T61" fmla="*/ 140 h 1639"/>
                <a:gd name="T62" fmla="*/ 771 w 2661"/>
                <a:gd name="T63" fmla="*/ 124 h 1639"/>
                <a:gd name="T64" fmla="*/ 694 w 2661"/>
                <a:gd name="T65" fmla="*/ 89 h 1639"/>
                <a:gd name="T66" fmla="*/ 689 w 2661"/>
                <a:gd name="T67" fmla="*/ 35 h 1639"/>
                <a:gd name="T68" fmla="*/ 629 w 2661"/>
                <a:gd name="T69" fmla="*/ 5 h 1639"/>
                <a:gd name="T70" fmla="*/ 613 w 2661"/>
                <a:gd name="T71" fmla="*/ 0 h 1639"/>
                <a:gd name="T72" fmla="*/ 555 w 2661"/>
                <a:gd name="T73" fmla="*/ 21 h 1639"/>
                <a:gd name="T74" fmla="*/ 538 w 2661"/>
                <a:gd name="T75" fmla="*/ 21 h 1639"/>
                <a:gd name="T76" fmla="*/ 506 w 2661"/>
                <a:gd name="T77" fmla="*/ 47 h 1639"/>
                <a:gd name="T78" fmla="*/ 436 w 2661"/>
                <a:gd name="T79" fmla="*/ 77 h 1639"/>
                <a:gd name="T80" fmla="*/ 366 w 2661"/>
                <a:gd name="T81" fmla="*/ 98 h 1639"/>
                <a:gd name="T82" fmla="*/ 315 w 2661"/>
                <a:gd name="T83" fmla="*/ 121 h 1639"/>
                <a:gd name="T84" fmla="*/ 259 w 2661"/>
                <a:gd name="T85" fmla="*/ 151 h 1639"/>
                <a:gd name="T86" fmla="*/ 245 w 2661"/>
                <a:gd name="T87" fmla="*/ 159 h 1639"/>
                <a:gd name="T88" fmla="*/ 236 w 2661"/>
                <a:gd name="T89" fmla="*/ 234 h 1639"/>
                <a:gd name="T90" fmla="*/ 145 w 2661"/>
                <a:gd name="T91" fmla="*/ 265 h 1639"/>
                <a:gd name="T92" fmla="*/ 0 w 2661"/>
                <a:gd name="T93" fmla="*/ 331 h 1639"/>
                <a:gd name="T94" fmla="*/ 6 w 2661"/>
                <a:gd name="T95" fmla="*/ 406 h 1639"/>
                <a:gd name="T96" fmla="*/ 1 w 2661"/>
                <a:gd name="T97" fmla="*/ 471 h 1639"/>
                <a:gd name="T98" fmla="*/ 1 w 2661"/>
                <a:gd name="T99" fmla="*/ 569 h 1639"/>
                <a:gd name="T100" fmla="*/ 2 w 2661"/>
                <a:gd name="T101" fmla="*/ 608 h 163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661"/>
                <a:gd name="T154" fmla="*/ 0 h 1639"/>
                <a:gd name="T155" fmla="*/ 2661 w 2661"/>
                <a:gd name="T156" fmla="*/ 1639 h 163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661" h="1639">
                  <a:moveTo>
                    <a:pt x="5" y="1253"/>
                  </a:moveTo>
                  <a:lnTo>
                    <a:pt x="242" y="1335"/>
                  </a:lnTo>
                  <a:lnTo>
                    <a:pt x="497" y="1440"/>
                  </a:lnTo>
                  <a:lnTo>
                    <a:pt x="679" y="1507"/>
                  </a:lnTo>
                  <a:lnTo>
                    <a:pt x="847" y="1565"/>
                  </a:lnTo>
                  <a:lnTo>
                    <a:pt x="924" y="1603"/>
                  </a:lnTo>
                  <a:lnTo>
                    <a:pt x="1118" y="1639"/>
                  </a:lnTo>
                  <a:lnTo>
                    <a:pt x="1243" y="1589"/>
                  </a:lnTo>
                  <a:lnTo>
                    <a:pt x="1380" y="1515"/>
                  </a:lnTo>
                  <a:lnTo>
                    <a:pt x="1572" y="1560"/>
                  </a:lnTo>
                  <a:lnTo>
                    <a:pt x="1817" y="1440"/>
                  </a:lnTo>
                  <a:lnTo>
                    <a:pt x="1855" y="1416"/>
                  </a:lnTo>
                  <a:lnTo>
                    <a:pt x="1946" y="1383"/>
                  </a:lnTo>
                  <a:lnTo>
                    <a:pt x="2047" y="1354"/>
                  </a:lnTo>
                  <a:lnTo>
                    <a:pt x="2124" y="1325"/>
                  </a:lnTo>
                  <a:lnTo>
                    <a:pt x="2249" y="1349"/>
                  </a:lnTo>
                  <a:lnTo>
                    <a:pt x="2287" y="1339"/>
                  </a:lnTo>
                  <a:lnTo>
                    <a:pt x="2345" y="1335"/>
                  </a:lnTo>
                  <a:lnTo>
                    <a:pt x="2402" y="1287"/>
                  </a:lnTo>
                  <a:lnTo>
                    <a:pt x="2527" y="1253"/>
                  </a:lnTo>
                  <a:lnTo>
                    <a:pt x="2594" y="1229"/>
                  </a:lnTo>
                  <a:lnTo>
                    <a:pt x="2661" y="1186"/>
                  </a:lnTo>
                  <a:lnTo>
                    <a:pt x="2561" y="1027"/>
                  </a:lnTo>
                  <a:lnTo>
                    <a:pt x="2561" y="989"/>
                  </a:lnTo>
                  <a:lnTo>
                    <a:pt x="2532" y="955"/>
                  </a:lnTo>
                  <a:lnTo>
                    <a:pt x="2373" y="730"/>
                  </a:lnTo>
                  <a:lnTo>
                    <a:pt x="2244" y="663"/>
                  </a:lnTo>
                  <a:lnTo>
                    <a:pt x="2066" y="408"/>
                  </a:lnTo>
                  <a:lnTo>
                    <a:pt x="1941" y="379"/>
                  </a:lnTo>
                  <a:lnTo>
                    <a:pt x="1812" y="327"/>
                  </a:lnTo>
                  <a:lnTo>
                    <a:pt x="1725" y="288"/>
                  </a:lnTo>
                  <a:lnTo>
                    <a:pt x="1591" y="255"/>
                  </a:lnTo>
                  <a:lnTo>
                    <a:pt x="1433" y="183"/>
                  </a:lnTo>
                  <a:lnTo>
                    <a:pt x="1423" y="72"/>
                  </a:lnTo>
                  <a:lnTo>
                    <a:pt x="1298" y="10"/>
                  </a:lnTo>
                  <a:lnTo>
                    <a:pt x="1265" y="0"/>
                  </a:lnTo>
                  <a:lnTo>
                    <a:pt x="1145" y="43"/>
                  </a:lnTo>
                  <a:lnTo>
                    <a:pt x="1111" y="43"/>
                  </a:lnTo>
                  <a:lnTo>
                    <a:pt x="1044" y="96"/>
                  </a:lnTo>
                  <a:lnTo>
                    <a:pt x="900" y="159"/>
                  </a:lnTo>
                  <a:lnTo>
                    <a:pt x="756" y="202"/>
                  </a:lnTo>
                  <a:lnTo>
                    <a:pt x="650" y="250"/>
                  </a:lnTo>
                  <a:lnTo>
                    <a:pt x="535" y="312"/>
                  </a:lnTo>
                  <a:lnTo>
                    <a:pt x="506" y="327"/>
                  </a:lnTo>
                  <a:lnTo>
                    <a:pt x="487" y="483"/>
                  </a:lnTo>
                  <a:lnTo>
                    <a:pt x="300" y="547"/>
                  </a:lnTo>
                  <a:lnTo>
                    <a:pt x="0" y="682"/>
                  </a:lnTo>
                  <a:lnTo>
                    <a:pt x="12" y="838"/>
                  </a:lnTo>
                  <a:lnTo>
                    <a:pt x="2" y="970"/>
                  </a:lnTo>
                  <a:lnTo>
                    <a:pt x="2" y="1174"/>
                  </a:lnTo>
                  <a:lnTo>
                    <a:pt x="5" y="1253"/>
                  </a:lnTo>
                  <a:close/>
                </a:path>
              </a:pathLst>
            </a:custGeom>
            <a:blipFill dpi="0" rotWithShape="1">
              <a:blip r:embed="rId3" cstate="print"/>
              <a:srcRect/>
              <a:tile tx="0" ty="0" sx="100000" sy="100000" flip="none" algn="tl"/>
            </a:blip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26" descr="Großes Konfetti"/>
            <p:cNvSpPr>
              <a:spLocks/>
            </p:cNvSpPr>
            <p:nvPr/>
          </p:nvSpPr>
          <p:spPr bwMode="auto">
            <a:xfrm>
              <a:off x="763" y="929"/>
              <a:ext cx="216" cy="236"/>
            </a:xfrm>
            <a:custGeom>
              <a:avLst/>
              <a:gdLst>
                <a:gd name="T0" fmla="*/ 0 w 639"/>
                <a:gd name="T1" fmla="*/ 68 h 696"/>
                <a:gd name="T2" fmla="*/ 21 w 639"/>
                <a:gd name="T3" fmla="*/ 51 h 696"/>
                <a:gd name="T4" fmla="*/ 42 w 639"/>
                <a:gd name="T5" fmla="*/ 42 h 696"/>
                <a:gd name="T6" fmla="*/ 56 w 639"/>
                <a:gd name="T7" fmla="*/ 34 h 696"/>
                <a:gd name="T8" fmla="*/ 75 w 639"/>
                <a:gd name="T9" fmla="*/ 23 h 696"/>
                <a:gd name="T10" fmla="*/ 95 w 639"/>
                <a:gd name="T11" fmla="*/ 21 h 696"/>
                <a:gd name="T12" fmla="*/ 107 w 639"/>
                <a:gd name="T13" fmla="*/ 12 h 696"/>
                <a:gd name="T14" fmla="*/ 121 w 639"/>
                <a:gd name="T15" fmla="*/ 8 h 696"/>
                <a:gd name="T16" fmla="*/ 134 w 639"/>
                <a:gd name="T17" fmla="*/ 0 h 696"/>
                <a:gd name="T18" fmla="*/ 146 w 639"/>
                <a:gd name="T19" fmla="*/ 23 h 696"/>
                <a:gd name="T20" fmla="*/ 158 w 639"/>
                <a:gd name="T21" fmla="*/ 55 h 696"/>
                <a:gd name="T22" fmla="*/ 175 w 639"/>
                <a:gd name="T23" fmla="*/ 99 h 696"/>
                <a:gd name="T24" fmla="*/ 196 w 639"/>
                <a:gd name="T25" fmla="*/ 134 h 696"/>
                <a:gd name="T26" fmla="*/ 214 w 639"/>
                <a:gd name="T27" fmla="*/ 164 h 696"/>
                <a:gd name="T28" fmla="*/ 216 w 639"/>
                <a:gd name="T29" fmla="*/ 175 h 696"/>
                <a:gd name="T30" fmla="*/ 190 w 639"/>
                <a:gd name="T31" fmla="*/ 190 h 696"/>
                <a:gd name="T32" fmla="*/ 175 w 639"/>
                <a:gd name="T33" fmla="*/ 199 h 696"/>
                <a:gd name="T34" fmla="*/ 149 w 639"/>
                <a:gd name="T35" fmla="*/ 216 h 696"/>
                <a:gd name="T36" fmla="*/ 123 w 639"/>
                <a:gd name="T37" fmla="*/ 227 h 696"/>
                <a:gd name="T38" fmla="*/ 110 w 639"/>
                <a:gd name="T39" fmla="*/ 236 h 696"/>
                <a:gd name="T40" fmla="*/ 93 w 639"/>
                <a:gd name="T41" fmla="*/ 214 h 696"/>
                <a:gd name="T42" fmla="*/ 82 w 639"/>
                <a:gd name="T43" fmla="*/ 192 h 696"/>
                <a:gd name="T44" fmla="*/ 69 w 639"/>
                <a:gd name="T45" fmla="*/ 175 h 696"/>
                <a:gd name="T46" fmla="*/ 60 w 639"/>
                <a:gd name="T47" fmla="*/ 157 h 696"/>
                <a:gd name="T48" fmla="*/ 49 w 639"/>
                <a:gd name="T49" fmla="*/ 142 h 696"/>
                <a:gd name="T50" fmla="*/ 39 w 639"/>
                <a:gd name="T51" fmla="*/ 123 h 696"/>
                <a:gd name="T52" fmla="*/ 25 w 639"/>
                <a:gd name="T53" fmla="*/ 99 h 696"/>
                <a:gd name="T54" fmla="*/ 16 w 639"/>
                <a:gd name="T55" fmla="*/ 86 h 696"/>
                <a:gd name="T56" fmla="*/ 0 w 639"/>
                <a:gd name="T57" fmla="*/ 68 h 69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39"/>
                <a:gd name="T88" fmla="*/ 0 h 696"/>
                <a:gd name="T89" fmla="*/ 639 w 639"/>
                <a:gd name="T90" fmla="*/ 696 h 69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39" h="696">
                  <a:moveTo>
                    <a:pt x="0" y="200"/>
                  </a:moveTo>
                  <a:lnTo>
                    <a:pt x="62" y="151"/>
                  </a:lnTo>
                  <a:lnTo>
                    <a:pt x="124" y="123"/>
                  </a:lnTo>
                  <a:lnTo>
                    <a:pt x="165" y="99"/>
                  </a:lnTo>
                  <a:lnTo>
                    <a:pt x="222" y="67"/>
                  </a:lnTo>
                  <a:lnTo>
                    <a:pt x="280" y="61"/>
                  </a:lnTo>
                  <a:lnTo>
                    <a:pt x="318" y="35"/>
                  </a:lnTo>
                  <a:lnTo>
                    <a:pt x="357" y="23"/>
                  </a:lnTo>
                  <a:lnTo>
                    <a:pt x="395" y="0"/>
                  </a:lnTo>
                  <a:lnTo>
                    <a:pt x="432" y="67"/>
                  </a:lnTo>
                  <a:lnTo>
                    <a:pt x="466" y="163"/>
                  </a:lnTo>
                  <a:lnTo>
                    <a:pt x="517" y="291"/>
                  </a:lnTo>
                  <a:lnTo>
                    <a:pt x="581" y="394"/>
                  </a:lnTo>
                  <a:lnTo>
                    <a:pt x="632" y="483"/>
                  </a:lnTo>
                  <a:lnTo>
                    <a:pt x="638" y="515"/>
                  </a:lnTo>
                  <a:lnTo>
                    <a:pt x="562" y="560"/>
                  </a:lnTo>
                  <a:lnTo>
                    <a:pt x="517" y="586"/>
                  </a:lnTo>
                  <a:lnTo>
                    <a:pt x="440" y="637"/>
                  </a:lnTo>
                  <a:lnTo>
                    <a:pt x="363" y="669"/>
                  </a:lnTo>
                  <a:lnTo>
                    <a:pt x="325" y="695"/>
                  </a:lnTo>
                  <a:lnTo>
                    <a:pt x="274" y="631"/>
                  </a:lnTo>
                  <a:lnTo>
                    <a:pt x="242" y="567"/>
                  </a:lnTo>
                  <a:lnTo>
                    <a:pt x="203" y="515"/>
                  </a:lnTo>
                  <a:lnTo>
                    <a:pt x="178" y="464"/>
                  </a:lnTo>
                  <a:lnTo>
                    <a:pt x="146" y="419"/>
                  </a:lnTo>
                  <a:lnTo>
                    <a:pt x="114" y="362"/>
                  </a:lnTo>
                  <a:lnTo>
                    <a:pt x="75" y="291"/>
                  </a:lnTo>
                  <a:lnTo>
                    <a:pt x="48" y="254"/>
                  </a:lnTo>
                  <a:lnTo>
                    <a:pt x="0" y="200"/>
                  </a:lnTo>
                </a:path>
              </a:pathLst>
            </a:custGeom>
            <a:pattFill prst="lgConfetti">
              <a:fgClr>
                <a:srgbClr val="CCCC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27" descr="Großes Konfetti"/>
            <p:cNvSpPr>
              <a:spLocks/>
            </p:cNvSpPr>
            <p:nvPr/>
          </p:nvSpPr>
          <p:spPr bwMode="auto">
            <a:xfrm>
              <a:off x="1018" y="926"/>
              <a:ext cx="248" cy="230"/>
            </a:xfrm>
            <a:custGeom>
              <a:avLst/>
              <a:gdLst>
                <a:gd name="T0" fmla="*/ 0 w 730"/>
                <a:gd name="T1" fmla="*/ 58 h 679"/>
                <a:gd name="T2" fmla="*/ 17 w 730"/>
                <a:gd name="T3" fmla="*/ 43 h 679"/>
                <a:gd name="T4" fmla="*/ 35 w 730"/>
                <a:gd name="T5" fmla="*/ 37 h 679"/>
                <a:gd name="T6" fmla="*/ 50 w 730"/>
                <a:gd name="T7" fmla="*/ 30 h 679"/>
                <a:gd name="T8" fmla="*/ 72 w 730"/>
                <a:gd name="T9" fmla="*/ 24 h 679"/>
                <a:gd name="T10" fmla="*/ 117 w 730"/>
                <a:gd name="T11" fmla="*/ 8 h 679"/>
                <a:gd name="T12" fmla="*/ 126 w 730"/>
                <a:gd name="T13" fmla="*/ 4 h 679"/>
                <a:gd name="T14" fmla="*/ 135 w 730"/>
                <a:gd name="T15" fmla="*/ 0 h 679"/>
                <a:gd name="T16" fmla="*/ 141 w 730"/>
                <a:gd name="T17" fmla="*/ 8 h 679"/>
                <a:gd name="T18" fmla="*/ 155 w 730"/>
                <a:gd name="T19" fmla="*/ 21 h 679"/>
                <a:gd name="T20" fmla="*/ 159 w 730"/>
                <a:gd name="T21" fmla="*/ 35 h 679"/>
                <a:gd name="T22" fmla="*/ 172 w 730"/>
                <a:gd name="T23" fmla="*/ 43 h 679"/>
                <a:gd name="T24" fmla="*/ 182 w 730"/>
                <a:gd name="T25" fmla="*/ 63 h 679"/>
                <a:gd name="T26" fmla="*/ 196 w 730"/>
                <a:gd name="T27" fmla="*/ 82 h 679"/>
                <a:gd name="T28" fmla="*/ 204 w 730"/>
                <a:gd name="T29" fmla="*/ 102 h 679"/>
                <a:gd name="T30" fmla="*/ 215 w 730"/>
                <a:gd name="T31" fmla="*/ 126 h 679"/>
                <a:gd name="T32" fmla="*/ 228 w 730"/>
                <a:gd name="T33" fmla="*/ 139 h 679"/>
                <a:gd name="T34" fmla="*/ 241 w 730"/>
                <a:gd name="T35" fmla="*/ 156 h 679"/>
                <a:gd name="T36" fmla="*/ 248 w 730"/>
                <a:gd name="T37" fmla="*/ 167 h 679"/>
                <a:gd name="T38" fmla="*/ 226 w 730"/>
                <a:gd name="T39" fmla="*/ 173 h 679"/>
                <a:gd name="T40" fmla="*/ 209 w 730"/>
                <a:gd name="T41" fmla="*/ 177 h 679"/>
                <a:gd name="T42" fmla="*/ 189 w 730"/>
                <a:gd name="T43" fmla="*/ 195 h 679"/>
                <a:gd name="T44" fmla="*/ 156 w 730"/>
                <a:gd name="T45" fmla="*/ 210 h 679"/>
                <a:gd name="T46" fmla="*/ 128 w 730"/>
                <a:gd name="T47" fmla="*/ 221 h 679"/>
                <a:gd name="T48" fmla="*/ 106 w 730"/>
                <a:gd name="T49" fmla="*/ 230 h 679"/>
                <a:gd name="T50" fmla="*/ 93 w 730"/>
                <a:gd name="T51" fmla="*/ 214 h 679"/>
                <a:gd name="T52" fmla="*/ 85 w 730"/>
                <a:gd name="T53" fmla="*/ 195 h 679"/>
                <a:gd name="T54" fmla="*/ 74 w 730"/>
                <a:gd name="T55" fmla="*/ 173 h 679"/>
                <a:gd name="T56" fmla="*/ 56 w 730"/>
                <a:gd name="T57" fmla="*/ 156 h 679"/>
                <a:gd name="T58" fmla="*/ 46 w 730"/>
                <a:gd name="T59" fmla="*/ 143 h 679"/>
                <a:gd name="T60" fmla="*/ 35 w 730"/>
                <a:gd name="T61" fmla="*/ 130 h 679"/>
                <a:gd name="T62" fmla="*/ 26 w 730"/>
                <a:gd name="T63" fmla="*/ 104 h 679"/>
                <a:gd name="T64" fmla="*/ 22 w 730"/>
                <a:gd name="T65" fmla="*/ 84 h 679"/>
                <a:gd name="T66" fmla="*/ 0 w 730"/>
                <a:gd name="T67" fmla="*/ 58 h 67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30"/>
                <a:gd name="T103" fmla="*/ 0 h 679"/>
                <a:gd name="T104" fmla="*/ 730 w 730"/>
                <a:gd name="T105" fmla="*/ 679 h 67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30" h="679">
                  <a:moveTo>
                    <a:pt x="0" y="172"/>
                  </a:moveTo>
                  <a:lnTo>
                    <a:pt x="51" y="128"/>
                  </a:lnTo>
                  <a:lnTo>
                    <a:pt x="102" y="108"/>
                  </a:lnTo>
                  <a:lnTo>
                    <a:pt x="147" y="89"/>
                  </a:lnTo>
                  <a:lnTo>
                    <a:pt x="211" y="70"/>
                  </a:lnTo>
                  <a:lnTo>
                    <a:pt x="345" y="25"/>
                  </a:lnTo>
                  <a:lnTo>
                    <a:pt x="371" y="12"/>
                  </a:lnTo>
                  <a:lnTo>
                    <a:pt x="396" y="0"/>
                  </a:lnTo>
                  <a:lnTo>
                    <a:pt x="416" y="25"/>
                  </a:lnTo>
                  <a:lnTo>
                    <a:pt x="456" y="61"/>
                  </a:lnTo>
                  <a:lnTo>
                    <a:pt x="467" y="102"/>
                  </a:lnTo>
                  <a:lnTo>
                    <a:pt x="505" y="128"/>
                  </a:lnTo>
                  <a:lnTo>
                    <a:pt x="537" y="185"/>
                  </a:lnTo>
                  <a:lnTo>
                    <a:pt x="576" y="243"/>
                  </a:lnTo>
                  <a:lnTo>
                    <a:pt x="601" y="300"/>
                  </a:lnTo>
                  <a:lnTo>
                    <a:pt x="633" y="371"/>
                  </a:lnTo>
                  <a:lnTo>
                    <a:pt x="672" y="409"/>
                  </a:lnTo>
                  <a:lnTo>
                    <a:pt x="710" y="460"/>
                  </a:lnTo>
                  <a:lnTo>
                    <a:pt x="729" y="492"/>
                  </a:lnTo>
                  <a:lnTo>
                    <a:pt x="665" y="512"/>
                  </a:lnTo>
                  <a:lnTo>
                    <a:pt x="614" y="524"/>
                  </a:lnTo>
                  <a:lnTo>
                    <a:pt x="556" y="576"/>
                  </a:lnTo>
                  <a:lnTo>
                    <a:pt x="460" y="620"/>
                  </a:lnTo>
                  <a:lnTo>
                    <a:pt x="377" y="652"/>
                  </a:lnTo>
                  <a:lnTo>
                    <a:pt x="313" y="678"/>
                  </a:lnTo>
                  <a:lnTo>
                    <a:pt x="275" y="633"/>
                  </a:lnTo>
                  <a:lnTo>
                    <a:pt x="249" y="576"/>
                  </a:lnTo>
                  <a:lnTo>
                    <a:pt x="217" y="512"/>
                  </a:lnTo>
                  <a:lnTo>
                    <a:pt x="166" y="460"/>
                  </a:lnTo>
                  <a:lnTo>
                    <a:pt x="134" y="422"/>
                  </a:lnTo>
                  <a:lnTo>
                    <a:pt x="102" y="384"/>
                  </a:lnTo>
                  <a:lnTo>
                    <a:pt x="76" y="307"/>
                  </a:lnTo>
                  <a:lnTo>
                    <a:pt x="64" y="249"/>
                  </a:lnTo>
                  <a:lnTo>
                    <a:pt x="0" y="172"/>
                  </a:lnTo>
                </a:path>
              </a:pathLst>
            </a:custGeom>
            <a:pattFill prst="lgConfetti">
              <a:fgClr>
                <a:srgbClr val="CCCC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28" descr="Großes Konfetti"/>
            <p:cNvSpPr>
              <a:spLocks/>
            </p:cNvSpPr>
            <p:nvPr/>
          </p:nvSpPr>
          <p:spPr bwMode="auto">
            <a:xfrm>
              <a:off x="1163" y="869"/>
              <a:ext cx="220" cy="218"/>
            </a:xfrm>
            <a:custGeom>
              <a:avLst/>
              <a:gdLst>
                <a:gd name="T0" fmla="*/ 0 w 648"/>
                <a:gd name="T1" fmla="*/ 48 h 641"/>
                <a:gd name="T2" fmla="*/ 29 w 648"/>
                <a:gd name="T3" fmla="*/ 41 h 641"/>
                <a:gd name="T4" fmla="*/ 43 w 648"/>
                <a:gd name="T5" fmla="*/ 31 h 641"/>
                <a:gd name="T6" fmla="*/ 65 w 648"/>
                <a:gd name="T7" fmla="*/ 22 h 641"/>
                <a:gd name="T8" fmla="*/ 78 w 648"/>
                <a:gd name="T9" fmla="*/ 11 h 641"/>
                <a:gd name="T10" fmla="*/ 107 w 648"/>
                <a:gd name="T11" fmla="*/ 9 h 641"/>
                <a:gd name="T12" fmla="*/ 111 w 648"/>
                <a:gd name="T13" fmla="*/ 0 h 641"/>
                <a:gd name="T14" fmla="*/ 122 w 648"/>
                <a:gd name="T15" fmla="*/ 13 h 641"/>
                <a:gd name="T16" fmla="*/ 137 w 648"/>
                <a:gd name="T17" fmla="*/ 28 h 641"/>
                <a:gd name="T18" fmla="*/ 148 w 648"/>
                <a:gd name="T19" fmla="*/ 52 h 641"/>
                <a:gd name="T20" fmla="*/ 154 w 648"/>
                <a:gd name="T21" fmla="*/ 68 h 641"/>
                <a:gd name="T22" fmla="*/ 165 w 648"/>
                <a:gd name="T23" fmla="*/ 91 h 641"/>
                <a:gd name="T24" fmla="*/ 176 w 648"/>
                <a:gd name="T25" fmla="*/ 104 h 641"/>
                <a:gd name="T26" fmla="*/ 185 w 648"/>
                <a:gd name="T27" fmla="*/ 126 h 641"/>
                <a:gd name="T28" fmla="*/ 202 w 648"/>
                <a:gd name="T29" fmla="*/ 146 h 641"/>
                <a:gd name="T30" fmla="*/ 215 w 648"/>
                <a:gd name="T31" fmla="*/ 161 h 641"/>
                <a:gd name="T32" fmla="*/ 220 w 648"/>
                <a:gd name="T33" fmla="*/ 168 h 641"/>
                <a:gd name="T34" fmla="*/ 194 w 648"/>
                <a:gd name="T35" fmla="*/ 179 h 641"/>
                <a:gd name="T36" fmla="*/ 165 w 648"/>
                <a:gd name="T37" fmla="*/ 191 h 641"/>
                <a:gd name="T38" fmla="*/ 141 w 648"/>
                <a:gd name="T39" fmla="*/ 198 h 641"/>
                <a:gd name="T40" fmla="*/ 113 w 648"/>
                <a:gd name="T41" fmla="*/ 213 h 641"/>
                <a:gd name="T42" fmla="*/ 105 w 648"/>
                <a:gd name="T43" fmla="*/ 218 h 641"/>
                <a:gd name="T44" fmla="*/ 91 w 648"/>
                <a:gd name="T45" fmla="*/ 209 h 641"/>
                <a:gd name="T46" fmla="*/ 83 w 648"/>
                <a:gd name="T47" fmla="*/ 187 h 641"/>
                <a:gd name="T48" fmla="*/ 78 w 648"/>
                <a:gd name="T49" fmla="*/ 172 h 641"/>
                <a:gd name="T50" fmla="*/ 70 w 648"/>
                <a:gd name="T51" fmla="*/ 161 h 641"/>
                <a:gd name="T52" fmla="*/ 57 w 648"/>
                <a:gd name="T53" fmla="*/ 148 h 641"/>
                <a:gd name="T54" fmla="*/ 46 w 648"/>
                <a:gd name="T55" fmla="*/ 129 h 641"/>
                <a:gd name="T56" fmla="*/ 31 w 648"/>
                <a:gd name="T57" fmla="*/ 109 h 641"/>
                <a:gd name="T58" fmla="*/ 20 w 648"/>
                <a:gd name="T59" fmla="*/ 89 h 641"/>
                <a:gd name="T60" fmla="*/ 18 w 648"/>
                <a:gd name="T61" fmla="*/ 74 h 641"/>
                <a:gd name="T62" fmla="*/ 0 w 648"/>
                <a:gd name="T63" fmla="*/ 48 h 6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48"/>
                <a:gd name="T97" fmla="*/ 0 h 641"/>
                <a:gd name="T98" fmla="*/ 648 w 648"/>
                <a:gd name="T99" fmla="*/ 641 h 6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48" h="641">
                  <a:moveTo>
                    <a:pt x="0" y="141"/>
                  </a:moveTo>
                  <a:lnTo>
                    <a:pt x="84" y="122"/>
                  </a:lnTo>
                  <a:lnTo>
                    <a:pt x="128" y="90"/>
                  </a:lnTo>
                  <a:lnTo>
                    <a:pt x="192" y="64"/>
                  </a:lnTo>
                  <a:lnTo>
                    <a:pt x="231" y="32"/>
                  </a:lnTo>
                  <a:lnTo>
                    <a:pt x="314" y="26"/>
                  </a:lnTo>
                  <a:lnTo>
                    <a:pt x="327" y="0"/>
                  </a:lnTo>
                  <a:lnTo>
                    <a:pt x="359" y="39"/>
                  </a:lnTo>
                  <a:lnTo>
                    <a:pt x="404" y="83"/>
                  </a:lnTo>
                  <a:lnTo>
                    <a:pt x="436" y="154"/>
                  </a:lnTo>
                  <a:lnTo>
                    <a:pt x="455" y="199"/>
                  </a:lnTo>
                  <a:lnTo>
                    <a:pt x="487" y="269"/>
                  </a:lnTo>
                  <a:lnTo>
                    <a:pt x="519" y="307"/>
                  </a:lnTo>
                  <a:lnTo>
                    <a:pt x="544" y="371"/>
                  </a:lnTo>
                  <a:lnTo>
                    <a:pt x="596" y="429"/>
                  </a:lnTo>
                  <a:lnTo>
                    <a:pt x="634" y="474"/>
                  </a:lnTo>
                  <a:lnTo>
                    <a:pt x="647" y="493"/>
                  </a:lnTo>
                  <a:lnTo>
                    <a:pt x="570" y="525"/>
                  </a:lnTo>
                  <a:lnTo>
                    <a:pt x="487" y="563"/>
                  </a:lnTo>
                  <a:lnTo>
                    <a:pt x="416" y="583"/>
                  </a:lnTo>
                  <a:lnTo>
                    <a:pt x="333" y="627"/>
                  </a:lnTo>
                  <a:lnTo>
                    <a:pt x="308" y="640"/>
                  </a:lnTo>
                  <a:lnTo>
                    <a:pt x="269" y="615"/>
                  </a:lnTo>
                  <a:lnTo>
                    <a:pt x="244" y="551"/>
                  </a:lnTo>
                  <a:lnTo>
                    <a:pt x="231" y="506"/>
                  </a:lnTo>
                  <a:lnTo>
                    <a:pt x="205" y="474"/>
                  </a:lnTo>
                  <a:lnTo>
                    <a:pt x="167" y="435"/>
                  </a:lnTo>
                  <a:lnTo>
                    <a:pt x="135" y="378"/>
                  </a:lnTo>
                  <a:lnTo>
                    <a:pt x="90" y="320"/>
                  </a:lnTo>
                  <a:lnTo>
                    <a:pt x="58" y="263"/>
                  </a:lnTo>
                  <a:lnTo>
                    <a:pt x="52" y="218"/>
                  </a:lnTo>
                  <a:lnTo>
                    <a:pt x="0" y="141"/>
                  </a:lnTo>
                </a:path>
              </a:pathLst>
            </a:custGeom>
            <a:pattFill prst="lgConfetti">
              <a:fgClr>
                <a:srgbClr val="CCCC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29" descr="Großes Konfetti"/>
            <p:cNvSpPr>
              <a:spLocks/>
            </p:cNvSpPr>
            <p:nvPr/>
          </p:nvSpPr>
          <p:spPr bwMode="auto">
            <a:xfrm>
              <a:off x="1368" y="800"/>
              <a:ext cx="282" cy="209"/>
            </a:xfrm>
            <a:custGeom>
              <a:avLst/>
              <a:gdLst>
                <a:gd name="T0" fmla="*/ 73 w 833"/>
                <a:gd name="T1" fmla="*/ 209 h 616"/>
                <a:gd name="T2" fmla="*/ 60 w 833"/>
                <a:gd name="T3" fmla="*/ 189 h 616"/>
                <a:gd name="T4" fmla="*/ 56 w 833"/>
                <a:gd name="T5" fmla="*/ 170 h 616"/>
                <a:gd name="T6" fmla="*/ 49 w 833"/>
                <a:gd name="T7" fmla="*/ 156 h 616"/>
                <a:gd name="T8" fmla="*/ 47 w 833"/>
                <a:gd name="T9" fmla="*/ 141 h 616"/>
                <a:gd name="T10" fmla="*/ 36 w 833"/>
                <a:gd name="T11" fmla="*/ 124 h 616"/>
                <a:gd name="T12" fmla="*/ 15 w 833"/>
                <a:gd name="T13" fmla="*/ 98 h 616"/>
                <a:gd name="T14" fmla="*/ 0 w 833"/>
                <a:gd name="T15" fmla="*/ 85 h 616"/>
                <a:gd name="T16" fmla="*/ 19 w 833"/>
                <a:gd name="T17" fmla="*/ 78 h 616"/>
                <a:gd name="T18" fmla="*/ 36 w 833"/>
                <a:gd name="T19" fmla="*/ 70 h 616"/>
                <a:gd name="T20" fmla="*/ 58 w 833"/>
                <a:gd name="T21" fmla="*/ 57 h 616"/>
                <a:gd name="T22" fmla="*/ 84 w 833"/>
                <a:gd name="T23" fmla="*/ 52 h 616"/>
                <a:gd name="T24" fmla="*/ 106 w 833"/>
                <a:gd name="T25" fmla="*/ 41 h 616"/>
                <a:gd name="T26" fmla="*/ 125 w 833"/>
                <a:gd name="T27" fmla="*/ 33 h 616"/>
                <a:gd name="T28" fmla="*/ 145 w 833"/>
                <a:gd name="T29" fmla="*/ 26 h 616"/>
                <a:gd name="T30" fmla="*/ 160 w 833"/>
                <a:gd name="T31" fmla="*/ 17 h 616"/>
                <a:gd name="T32" fmla="*/ 179 w 833"/>
                <a:gd name="T33" fmla="*/ 6 h 616"/>
                <a:gd name="T34" fmla="*/ 190 w 833"/>
                <a:gd name="T35" fmla="*/ 0 h 616"/>
                <a:gd name="T36" fmla="*/ 214 w 833"/>
                <a:gd name="T37" fmla="*/ 22 h 616"/>
                <a:gd name="T38" fmla="*/ 229 w 833"/>
                <a:gd name="T39" fmla="*/ 48 h 616"/>
                <a:gd name="T40" fmla="*/ 246 w 833"/>
                <a:gd name="T41" fmla="*/ 68 h 616"/>
                <a:gd name="T42" fmla="*/ 259 w 833"/>
                <a:gd name="T43" fmla="*/ 91 h 616"/>
                <a:gd name="T44" fmla="*/ 276 w 833"/>
                <a:gd name="T45" fmla="*/ 118 h 616"/>
                <a:gd name="T46" fmla="*/ 282 w 833"/>
                <a:gd name="T47" fmla="*/ 128 h 616"/>
                <a:gd name="T48" fmla="*/ 248 w 833"/>
                <a:gd name="T49" fmla="*/ 139 h 616"/>
                <a:gd name="T50" fmla="*/ 212 w 833"/>
                <a:gd name="T51" fmla="*/ 156 h 616"/>
                <a:gd name="T52" fmla="*/ 199 w 833"/>
                <a:gd name="T53" fmla="*/ 158 h 616"/>
                <a:gd name="T54" fmla="*/ 183 w 833"/>
                <a:gd name="T55" fmla="*/ 150 h 616"/>
                <a:gd name="T56" fmla="*/ 160 w 833"/>
                <a:gd name="T57" fmla="*/ 130 h 616"/>
                <a:gd name="T58" fmla="*/ 148 w 833"/>
                <a:gd name="T59" fmla="*/ 115 h 616"/>
                <a:gd name="T60" fmla="*/ 138 w 833"/>
                <a:gd name="T61" fmla="*/ 98 h 616"/>
                <a:gd name="T62" fmla="*/ 123 w 833"/>
                <a:gd name="T63" fmla="*/ 87 h 616"/>
                <a:gd name="T64" fmla="*/ 114 w 833"/>
                <a:gd name="T65" fmla="*/ 87 h 616"/>
                <a:gd name="T66" fmla="*/ 125 w 833"/>
                <a:gd name="T67" fmla="*/ 100 h 616"/>
                <a:gd name="T68" fmla="*/ 132 w 833"/>
                <a:gd name="T69" fmla="*/ 106 h 616"/>
                <a:gd name="T70" fmla="*/ 135 w 833"/>
                <a:gd name="T71" fmla="*/ 111 h 616"/>
                <a:gd name="T72" fmla="*/ 140 w 833"/>
                <a:gd name="T73" fmla="*/ 122 h 616"/>
                <a:gd name="T74" fmla="*/ 153 w 833"/>
                <a:gd name="T75" fmla="*/ 135 h 616"/>
                <a:gd name="T76" fmla="*/ 173 w 833"/>
                <a:gd name="T77" fmla="*/ 150 h 616"/>
                <a:gd name="T78" fmla="*/ 186 w 833"/>
                <a:gd name="T79" fmla="*/ 161 h 616"/>
                <a:gd name="T80" fmla="*/ 160 w 833"/>
                <a:gd name="T81" fmla="*/ 174 h 616"/>
                <a:gd name="T82" fmla="*/ 131 w 833"/>
                <a:gd name="T83" fmla="*/ 187 h 616"/>
                <a:gd name="T84" fmla="*/ 110 w 833"/>
                <a:gd name="T85" fmla="*/ 202 h 616"/>
                <a:gd name="T86" fmla="*/ 73 w 833"/>
                <a:gd name="T87" fmla="*/ 209 h 6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33"/>
                <a:gd name="T133" fmla="*/ 0 h 616"/>
                <a:gd name="T134" fmla="*/ 833 w 833"/>
                <a:gd name="T135" fmla="*/ 616 h 6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33" h="616">
                  <a:moveTo>
                    <a:pt x="216" y="615"/>
                  </a:moveTo>
                  <a:lnTo>
                    <a:pt x="177" y="557"/>
                  </a:lnTo>
                  <a:lnTo>
                    <a:pt x="164" y="500"/>
                  </a:lnTo>
                  <a:lnTo>
                    <a:pt x="145" y="461"/>
                  </a:lnTo>
                  <a:lnTo>
                    <a:pt x="139" y="416"/>
                  </a:lnTo>
                  <a:lnTo>
                    <a:pt x="107" y="365"/>
                  </a:lnTo>
                  <a:lnTo>
                    <a:pt x="43" y="288"/>
                  </a:lnTo>
                  <a:lnTo>
                    <a:pt x="0" y="251"/>
                  </a:lnTo>
                  <a:lnTo>
                    <a:pt x="56" y="231"/>
                  </a:lnTo>
                  <a:lnTo>
                    <a:pt x="107" y="205"/>
                  </a:lnTo>
                  <a:lnTo>
                    <a:pt x="171" y="167"/>
                  </a:lnTo>
                  <a:lnTo>
                    <a:pt x="248" y="154"/>
                  </a:lnTo>
                  <a:lnTo>
                    <a:pt x="312" y="122"/>
                  </a:lnTo>
                  <a:lnTo>
                    <a:pt x="369" y="96"/>
                  </a:lnTo>
                  <a:lnTo>
                    <a:pt x="427" y="77"/>
                  </a:lnTo>
                  <a:lnTo>
                    <a:pt x="472" y="51"/>
                  </a:lnTo>
                  <a:lnTo>
                    <a:pt x="528" y="19"/>
                  </a:lnTo>
                  <a:lnTo>
                    <a:pt x="561" y="0"/>
                  </a:lnTo>
                  <a:lnTo>
                    <a:pt x="632" y="64"/>
                  </a:lnTo>
                  <a:lnTo>
                    <a:pt x="676" y="141"/>
                  </a:lnTo>
                  <a:lnTo>
                    <a:pt x="728" y="199"/>
                  </a:lnTo>
                  <a:lnTo>
                    <a:pt x="766" y="269"/>
                  </a:lnTo>
                  <a:lnTo>
                    <a:pt x="816" y="349"/>
                  </a:lnTo>
                  <a:lnTo>
                    <a:pt x="832" y="377"/>
                  </a:lnTo>
                  <a:lnTo>
                    <a:pt x="734" y="410"/>
                  </a:lnTo>
                  <a:lnTo>
                    <a:pt x="625" y="461"/>
                  </a:lnTo>
                  <a:lnTo>
                    <a:pt x="587" y="465"/>
                  </a:lnTo>
                  <a:lnTo>
                    <a:pt x="542" y="442"/>
                  </a:lnTo>
                  <a:lnTo>
                    <a:pt x="472" y="384"/>
                  </a:lnTo>
                  <a:lnTo>
                    <a:pt x="438" y="339"/>
                  </a:lnTo>
                  <a:lnTo>
                    <a:pt x="408" y="288"/>
                  </a:lnTo>
                  <a:lnTo>
                    <a:pt x="363" y="256"/>
                  </a:lnTo>
                  <a:lnTo>
                    <a:pt x="337" y="256"/>
                  </a:lnTo>
                  <a:lnTo>
                    <a:pt x="369" y="295"/>
                  </a:lnTo>
                  <a:lnTo>
                    <a:pt x="390" y="312"/>
                  </a:lnTo>
                  <a:lnTo>
                    <a:pt x="398" y="328"/>
                  </a:lnTo>
                  <a:lnTo>
                    <a:pt x="413" y="361"/>
                  </a:lnTo>
                  <a:lnTo>
                    <a:pt x="452" y="397"/>
                  </a:lnTo>
                  <a:lnTo>
                    <a:pt x="510" y="442"/>
                  </a:lnTo>
                  <a:lnTo>
                    <a:pt x="548" y="474"/>
                  </a:lnTo>
                  <a:lnTo>
                    <a:pt x="472" y="512"/>
                  </a:lnTo>
                  <a:lnTo>
                    <a:pt x="388" y="551"/>
                  </a:lnTo>
                  <a:lnTo>
                    <a:pt x="324" y="596"/>
                  </a:lnTo>
                  <a:lnTo>
                    <a:pt x="216" y="615"/>
                  </a:lnTo>
                </a:path>
              </a:pathLst>
            </a:custGeom>
            <a:pattFill prst="lgConfetti">
              <a:fgClr>
                <a:srgbClr val="CCCC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30" descr="Großes Konfetti"/>
            <p:cNvSpPr>
              <a:spLocks/>
            </p:cNvSpPr>
            <p:nvPr/>
          </p:nvSpPr>
          <p:spPr bwMode="auto">
            <a:xfrm>
              <a:off x="1531" y="956"/>
              <a:ext cx="313" cy="298"/>
            </a:xfrm>
            <a:custGeom>
              <a:avLst/>
              <a:gdLst>
                <a:gd name="T0" fmla="*/ 0 w 923"/>
                <a:gd name="T1" fmla="*/ 80 h 878"/>
                <a:gd name="T2" fmla="*/ 26 w 923"/>
                <a:gd name="T3" fmla="*/ 68 h 878"/>
                <a:gd name="T4" fmla="*/ 59 w 923"/>
                <a:gd name="T5" fmla="*/ 54 h 878"/>
                <a:gd name="T6" fmla="*/ 72 w 923"/>
                <a:gd name="T7" fmla="*/ 46 h 878"/>
                <a:gd name="T8" fmla="*/ 76 w 923"/>
                <a:gd name="T9" fmla="*/ 41 h 878"/>
                <a:gd name="T10" fmla="*/ 93 w 923"/>
                <a:gd name="T11" fmla="*/ 57 h 878"/>
                <a:gd name="T12" fmla="*/ 109 w 923"/>
                <a:gd name="T13" fmla="*/ 80 h 878"/>
                <a:gd name="T14" fmla="*/ 119 w 923"/>
                <a:gd name="T15" fmla="*/ 91 h 878"/>
                <a:gd name="T16" fmla="*/ 115 w 923"/>
                <a:gd name="T17" fmla="*/ 80 h 878"/>
                <a:gd name="T18" fmla="*/ 111 w 923"/>
                <a:gd name="T19" fmla="*/ 70 h 878"/>
                <a:gd name="T20" fmla="*/ 106 w 923"/>
                <a:gd name="T21" fmla="*/ 60 h 878"/>
                <a:gd name="T22" fmla="*/ 101 w 923"/>
                <a:gd name="T23" fmla="*/ 49 h 878"/>
                <a:gd name="T24" fmla="*/ 88 w 923"/>
                <a:gd name="T25" fmla="*/ 37 h 878"/>
                <a:gd name="T26" fmla="*/ 109 w 923"/>
                <a:gd name="T27" fmla="*/ 24 h 878"/>
                <a:gd name="T28" fmla="*/ 132 w 923"/>
                <a:gd name="T29" fmla="*/ 17 h 878"/>
                <a:gd name="T30" fmla="*/ 167 w 923"/>
                <a:gd name="T31" fmla="*/ 11 h 878"/>
                <a:gd name="T32" fmla="*/ 178 w 923"/>
                <a:gd name="T33" fmla="*/ 0 h 878"/>
                <a:gd name="T34" fmla="*/ 182 w 923"/>
                <a:gd name="T35" fmla="*/ 0 h 878"/>
                <a:gd name="T36" fmla="*/ 202 w 923"/>
                <a:gd name="T37" fmla="*/ 24 h 878"/>
                <a:gd name="T38" fmla="*/ 217 w 923"/>
                <a:gd name="T39" fmla="*/ 48 h 878"/>
                <a:gd name="T40" fmla="*/ 228 w 923"/>
                <a:gd name="T41" fmla="*/ 72 h 878"/>
                <a:gd name="T42" fmla="*/ 241 w 923"/>
                <a:gd name="T43" fmla="*/ 91 h 878"/>
                <a:gd name="T44" fmla="*/ 252 w 923"/>
                <a:gd name="T45" fmla="*/ 113 h 878"/>
                <a:gd name="T46" fmla="*/ 269 w 923"/>
                <a:gd name="T47" fmla="*/ 128 h 878"/>
                <a:gd name="T48" fmla="*/ 271 w 923"/>
                <a:gd name="T49" fmla="*/ 146 h 878"/>
                <a:gd name="T50" fmla="*/ 284 w 923"/>
                <a:gd name="T51" fmla="*/ 169 h 878"/>
                <a:gd name="T52" fmla="*/ 297 w 923"/>
                <a:gd name="T53" fmla="*/ 195 h 878"/>
                <a:gd name="T54" fmla="*/ 310 w 923"/>
                <a:gd name="T55" fmla="*/ 215 h 878"/>
                <a:gd name="T56" fmla="*/ 313 w 923"/>
                <a:gd name="T57" fmla="*/ 226 h 878"/>
                <a:gd name="T58" fmla="*/ 278 w 923"/>
                <a:gd name="T59" fmla="*/ 239 h 878"/>
                <a:gd name="T60" fmla="*/ 250 w 923"/>
                <a:gd name="T61" fmla="*/ 254 h 878"/>
                <a:gd name="T62" fmla="*/ 228 w 923"/>
                <a:gd name="T63" fmla="*/ 263 h 878"/>
                <a:gd name="T64" fmla="*/ 202 w 923"/>
                <a:gd name="T65" fmla="*/ 269 h 878"/>
                <a:gd name="T66" fmla="*/ 182 w 923"/>
                <a:gd name="T67" fmla="*/ 276 h 878"/>
                <a:gd name="T68" fmla="*/ 158 w 923"/>
                <a:gd name="T69" fmla="*/ 296 h 878"/>
                <a:gd name="T70" fmla="*/ 132 w 923"/>
                <a:gd name="T71" fmla="*/ 298 h 878"/>
                <a:gd name="T72" fmla="*/ 119 w 923"/>
                <a:gd name="T73" fmla="*/ 269 h 878"/>
                <a:gd name="T74" fmla="*/ 104 w 923"/>
                <a:gd name="T75" fmla="*/ 254 h 878"/>
                <a:gd name="T76" fmla="*/ 87 w 923"/>
                <a:gd name="T77" fmla="*/ 222 h 878"/>
                <a:gd name="T78" fmla="*/ 74 w 923"/>
                <a:gd name="T79" fmla="*/ 200 h 878"/>
                <a:gd name="T80" fmla="*/ 56 w 923"/>
                <a:gd name="T81" fmla="*/ 176 h 878"/>
                <a:gd name="T82" fmla="*/ 48 w 923"/>
                <a:gd name="T83" fmla="*/ 154 h 878"/>
                <a:gd name="T84" fmla="*/ 31 w 923"/>
                <a:gd name="T85" fmla="*/ 128 h 878"/>
                <a:gd name="T86" fmla="*/ 0 w 923"/>
                <a:gd name="T87" fmla="*/ 80 h 8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923"/>
                <a:gd name="T133" fmla="*/ 0 h 878"/>
                <a:gd name="T134" fmla="*/ 923 w 923"/>
                <a:gd name="T135" fmla="*/ 878 h 8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923" h="878">
                  <a:moveTo>
                    <a:pt x="0" y="237"/>
                  </a:moveTo>
                  <a:lnTo>
                    <a:pt x="77" y="199"/>
                  </a:lnTo>
                  <a:lnTo>
                    <a:pt x="173" y="160"/>
                  </a:lnTo>
                  <a:lnTo>
                    <a:pt x="211" y="135"/>
                  </a:lnTo>
                  <a:lnTo>
                    <a:pt x="224" y="122"/>
                  </a:lnTo>
                  <a:lnTo>
                    <a:pt x="275" y="167"/>
                  </a:lnTo>
                  <a:lnTo>
                    <a:pt x="320" y="237"/>
                  </a:lnTo>
                  <a:lnTo>
                    <a:pt x="352" y="269"/>
                  </a:lnTo>
                  <a:lnTo>
                    <a:pt x="339" y="237"/>
                  </a:lnTo>
                  <a:lnTo>
                    <a:pt x="326" y="205"/>
                  </a:lnTo>
                  <a:lnTo>
                    <a:pt x="313" y="177"/>
                  </a:lnTo>
                  <a:lnTo>
                    <a:pt x="299" y="145"/>
                  </a:lnTo>
                  <a:lnTo>
                    <a:pt x="259" y="108"/>
                  </a:lnTo>
                  <a:lnTo>
                    <a:pt x="320" y="71"/>
                  </a:lnTo>
                  <a:lnTo>
                    <a:pt x="390" y="51"/>
                  </a:lnTo>
                  <a:lnTo>
                    <a:pt x="493" y="32"/>
                  </a:lnTo>
                  <a:lnTo>
                    <a:pt x="525" y="0"/>
                  </a:lnTo>
                  <a:lnTo>
                    <a:pt x="538" y="0"/>
                  </a:lnTo>
                  <a:lnTo>
                    <a:pt x="595" y="71"/>
                  </a:lnTo>
                  <a:lnTo>
                    <a:pt x="640" y="141"/>
                  </a:lnTo>
                  <a:lnTo>
                    <a:pt x="672" y="211"/>
                  </a:lnTo>
                  <a:lnTo>
                    <a:pt x="710" y="269"/>
                  </a:lnTo>
                  <a:lnTo>
                    <a:pt x="742" y="333"/>
                  </a:lnTo>
                  <a:lnTo>
                    <a:pt x="794" y="378"/>
                  </a:lnTo>
                  <a:lnTo>
                    <a:pt x="800" y="429"/>
                  </a:lnTo>
                  <a:lnTo>
                    <a:pt x="838" y="499"/>
                  </a:lnTo>
                  <a:lnTo>
                    <a:pt x="877" y="576"/>
                  </a:lnTo>
                  <a:lnTo>
                    <a:pt x="915" y="634"/>
                  </a:lnTo>
                  <a:lnTo>
                    <a:pt x="922" y="666"/>
                  </a:lnTo>
                  <a:lnTo>
                    <a:pt x="819" y="704"/>
                  </a:lnTo>
                  <a:lnTo>
                    <a:pt x="736" y="749"/>
                  </a:lnTo>
                  <a:lnTo>
                    <a:pt x="672" y="775"/>
                  </a:lnTo>
                  <a:lnTo>
                    <a:pt x="595" y="794"/>
                  </a:lnTo>
                  <a:lnTo>
                    <a:pt x="538" y="813"/>
                  </a:lnTo>
                  <a:lnTo>
                    <a:pt x="467" y="871"/>
                  </a:lnTo>
                  <a:lnTo>
                    <a:pt x="390" y="877"/>
                  </a:lnTo>
                  <a:lnTo>
                    <a:pt x="352" y="794"/>
                  </a:lnTo>
                  <a:lnTo>
                    <a:pt x="307" y="749"/>
                  </a:lnTo>
                  <a:lnTo>
                    <a:pt x="256" y="653"/>
                  </a:lnTo>
                  <a:lnTo>
                    <a:pt x="218" y="589"/>
                  </a:lnTo>
                  <a:lnTo>
                    <a:pt x="166" y="519"/>
                  </a:lnTo>
                  <a:lnTo>
                    <a:pt x="141" y="455"/>
                  </a:lnTo>
                  <a:lnTo>
                    <a:pt x="90" y="378"/>
                  </a:lnTo>
                  <a:lnTo>
                    <a:pt x="0" y="237"/>
                  </a:lnTo>
                </a:path>
              </a:pathLst>
            </a:custGeom>
            <a:pattFill prst="lgConfetti">
              <a:fgClr>
                <a:srgbClr val="CCCC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31" descr="Großes Konfetti"/>
            <p:cNvSpPr>
              <a:spLocks/>
            </p:cNvSpPr>
            <p:nvPr/>
          </p:nvSpPr>
          <p:spPr bwMode="auto">
            <a:xfrm>
              <a:off x="1217" y="1127"/>
              <a:ext cx="231" cy="233"/>
            </a:xfrm>
            <a:custGeom>
              <a:avLst/>
              <a:gdLst>
                <a:gd name="T0" fmla="*/ 0 w 680"/>
                <a:gd name="T1" fmla="*/ 54 h 686"/>
                <a:gd name="T2" fmla="*/ 20 w 680"/>
                <a:gd name="T3" fmla="*/ 41 h 686"/>
                <a:gd name="T4" fmla="*/ 39 w 680"/>
                <a:gd name="T5" fmla="*/ 35 h 686"/>
                <a:gd name="T6" fmla="*/ 70 w 680"/>
                <a:gd name="T7" fmla="*/ 24 h 686"/>
                <a:gd name="T8" fmla="*/ 92 w 680"/>
                <a:gd name="T9" fmla="*/ 13 h 686"/>
                <a:gd name="T10" fmla="*/ 105 w 680"/>
                <a:gd name="T11" fmla="*/ 7 h 686"/>
                <a:gd name="T12" fmla="*/ 113 w 680"/>
                <a:gd name="T13" fmla="*/ 0 h 686"/>
                <a:gd name="T14" fmla="*/ 120 w 680"/>
                <a:gd name="T15" fmla="*/ 4 h 686"/>
                <a:gd name="T16" fmla="*/ 130 w 680"/>
                <a:gd name="T17" fmla="*/ 15 h 686"/>
                <a:gd name="T18" fmla="*/ 139 w 680"/>
                <a:gd name="T19" fmla="*/ 26 h 686"/>
                <a:gd name="T20" fmla="*/ 145 w 680"/>
                <a:gd name="T21" fmla="*/ 41 h 686"/>
                <a:gd name="T22" fmla="*/ 127 w 680"/>
                <a:gd name="T23" fmla="*/ 14 h 686"/>
                <a:gd name="T24" fmla="*/ 121 w 680"/>
                <a:gd name="T25" fmla="*/ 14 h 686"/>
                <a:gd name="T26" fmla="*/ 132 w 680"/>
                <a:gd name="T27" fmla="*/ 28 h 686"/>
                <a:gd name="T28" fmla="*/ 139 w 680"/>
                <a:gd name="T29" fmla="*/ 39 h 686"/>
                <a:gd name="T30" fmla="*/ 150 w 680"/>
                <a:gd name="T31" fmla="*/ 54 h 686"/>
                <a:gd name="T32" fmla="*/ 163 w 680"/>
                <a:gd name="T33" fmla="*/ 76 h 686"/>
                <a:gd name="T34" fmla="*/ 174 w 680"/>
                <a:gd name="T35" fmla="*/ 91 h 686"/>
                <a:gd name="T36" fmla="*/ 189 w 680"/>
                <a:gd name="T37" fmla="*/ 111 h 686"/>
                <a:gd name="T38" fmla="*/ 207 w 680"/>
                <a:gd name="T39" fmla="*/ 143 h 686"/>
                <a:gd name="T40" fmla="*/ 222 w 680"/>
                <a:gd name="T41" fmla="*/ 161 h 686"/>
                <a:gd name="T42" fmla="*/ 231 w 680"/>
                <a:gd name="T43" fmla="*/ 174 h 686"/>
                <a:gd name="T44" fmla="*/ 211 w 680"/>
                <a:gd name="T45" fmla="*/ 176 h 686"/>
                <a:gd name="T46" fmla="*/ 178 w 680"/>
                <a:gd name="T47" fmla="*/ 193 h 686"/>
                <a:gd name="T48" fmla="*/ 159 w 680"/>
                <a:gd name="T49" fmla="*/ 202 h 686"/>
                <a:gd name="T50" fmla="*/ 139 w 680"/>
                <a:gd name="T51" fmla="*/ 213 h 686"/>
                <a:gd name="T52" fmla="*/ 118 w 680"/>
                <a:gd name="T53" fmla="*/ 224 h 686"/>
                <a:gd name="T54" fmla="*/ 100 w 680"/>
                <a:gd name="T55" fmla="*/ 233 h 686"/>
                <a:gd name="T56" fmla="*/ 91 w 680"/>
                <a:gd name="T57" fmla="*/ 217 h 686"/>
                <a:gd name="T58" fmla="*/ 65 w 680"/>
                <a:gd name="T59" fmla="*/ 182 h 686"/>
                <a:gd name="T60" fmla="*/ 57 w 680"/>
                <a:gd name="T61" fmla="*/ 154 h 686"/>
                <a:gd name="T62" fmla="*/ 43 w 680"/>
                <a:gd name="T63" fmla="*/ 137 h 686"/>
                <a:gd name="T64" fmla="*/ 26 w 680"/>
                <a:gd name="T65" fmla="*/ 109 h 686"/>
                <a:gd name="T66" fmla="*/ 13 w 680"/>
                <a:gd name="T67" fmla="*/ 87 h 686"/>
                <a:gd name="T68" fmla="*/ 0 w 680"/>
                <a:gd name="T69" fmla="*/ 54 h 68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80"/>
                <a:gd name="T106" fmla="*/ 0 h 686"/>
                <a:gd name="T107" fmla="*/ 680 w 680"/>
                <a:gd name="T108" fmla="*/ 686 h 68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80" h="686">
                  <a:moveTo>
                    <a:pt x="0" y="160"/>
                  </a:moveTo>
                  <a:lnTo>
                    <a:pt x="58" y="121"/>
                  </a:lnTo>
                  <a:lnTo>
                    <a:pt x="116" y="102"/>
                  </a:lnTo>
                  <a:lnTo>
                    <a:pt x="205" y="70"/>
                  </a:lnTo>
                  <a:lnTo>
                    <a:pt x="271" y="39"/>
                  </a:lnTo>
                  <a:lnTo>
                    <a:pt x="308" y="20"/>
                  </a:lnTo>
                  <a:lnTo>
                    <a:pt x="333" y="0"/>
                  </a:lnTo>
                  <a:lnTo>
                    <a:pt x="354" y="11"/>
                  </a:lnTo>
                  <a:lnTo>
                    <a:pt x="384" y="43"/>
                  </a:lnTo>
                  <a:lnTo>
                    <a:pt x="410" y="77"/>
                  </a:lnTo>
                  <a:lnTo>
                    <a:pt x="428" y="121"/>
                  </a:lnTo>
                  <a:lnTo>
                    <a:pt x="375" y="41"/>
                  </a:lnTo>
                  <a:lnTo>
                    <a:pt x="357" y="42"/>
                  </a:lnTo>
                  <a:lnTo>
                    <a:pt x="388" y="82"/>
                  </a:lnTo>
                  <a:lnTo>
                    <a:pt x="410" y="115"/>
                  </a:lnTo>
                  <a:lnTo>
                    <a:pt x="442" y="160"/>
                  </a:lnTo>
                  <a:lnTo>
                    <a:pt x="480" y="224"/>
                  </a:lnTo>
                  <a:lnTo>
                    <a:pt x="512" y="269"/>
                  </a:lnTo>
                  <a:lnTo>
                    <a:pt x="557" y="326"/>
                  </a:lnTo>
                  <a:lnTo>
                    <a:pt x="608" y="422"/>
                  </a:lnTo>
                  <a:lnTo>
                    <a:pt x="653" y="473"/>
                  </a:lnTo>
                  <a:lnTo>
                    <a:pt x="679" y="512"/>
                  </a:lnTo>
                  <a:lnTo>
                    <a:pt x="621" y="518"/>
                  </a:lnTo>
                  <a:lnTo>
                    <a:pt x="525" y="569"/>
                  </a:lnTo>
                  <a:lnTo>
                    <a:pt x="468" y="595"/>
                  </a:lnTo>
                  <a:lnTo>
                    <a:pt x="410" y="627"/>
                  </a:lnTo>
                  <a:lnTo>
                    <a:pt x="346" y="659"/>
                  </a:lnTo>
                  <a:lnTo>
                    <a:pt x="295" y="685"/>
                  </a:lnTo>
                  <a:lnTo>
                    <a:pt x="269" y="640"/>
                  </a:lnTo>
                  <a:lnTo>
                    <a:pt x="192" y="537"/>
                  </a:lnTo>
                  <a:lnTo>
                    <a:pt x="167" y="454"/>
                  </a:lnTo>
                  <a:lnTo>
                    <a:pt x="128" y="403"/>
                  </a:lnTo>
                  <a:lnTo>
                    <a:pt x="77" y="320"/>
                  </a:lnTo>
                  <a:lnTo>
                    <a:pt x="39" y="256"/>
                  </a:lnTo>
                  <a:lnTo>
                    <a:pt x="0" y="160"/>
                  </a:lnTo>
                </a:path>
              </a:pathLst>
            </a:custGeom>
            <a:pattFill prst="lgConfetti">
              <a:fgClr>
                <a:srgbClr val="CCCC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32" descr="Großes Konfetti"/>
            <p:cNvSpPr>
              <a:spLocks/>
            </p:cNvSpPr>
            <p:nvPr/>
          </p:nvSpPr>
          <p:spPr bwMode="auto">
            <a:xfrm>
              <a:off x="1340" y="1060"/>
              <a:ext cx="245" cy="235"/>
            </a:xfrm>
            <a:custGeom>
              <a:avLst/>
              <a:gdLst>
                <a:gd name="T0" fmla="*/ 0 w 721"/>
                <a:gd name="T1" fmla="*/ 59 h 693"/>
                <a:gd name="T2" fmla="*/ 18 w 721"/>
                <a:gd name="T3" fmla="*/ 49 h 693"/>
                <a:gd name="T4" fmla="*/ 34 w 721"/>
                <a:gd name="T5" fmla="*/ 41 h 693"/>
                <a:gd name="T6" fmla="*/ 52 w 721"/>
                <a:gd name="T7" fmla="*/ 37 h 693"/>
                <a:gd name="T8" fmla="*/ 71 w 721"/>
                <a:gd name="T9" fmla="*/ 26 h 693"/>
                <a:gd name="T10" fmla="*/ 94 w 721"/>
                <a:gd name="T11" fmla="*/ 22 h 693"/>
                <a:gd name="T12" fmla="*/ 110 w 721"/>
                <a:gd name="T13" fmla="*/ 13 h 693"/>
                <a:gd name="T14" fmla="*/ 127 w 721"/>
                <a:gd name="T15" fmla="*/ 7 h 693"/>
                <a:gd name="T16" fmla="*/ 132 w 721"/>
                <a:gd name="T17" fmla="*/ 0 h 693"/>
                <a:gd name="T18" fmla="*/ 153 w 721"/>
                <a:gd name="T19" fmla="*/ 26 h 693"/>
                <a:gd name="T20" fmla="*/ 156 w 721"/>
                <a:gd name="T21" fmla="*/ 39 h 693"/>
                <a:gd name="T22" fmla="*/ 167 w 721"/>
                <a:gd name="T23" fmla="*/ 59 h 693"/>
                <a:gd name="T24" fmla="*/ 175 w 721"/>
                <a:gd name="T25" fmla="*/ 72 h 693"/>
                <a:gd name="T26" fmla="*/ 188 w 721"/>
                <a:gd name="T27" fmla="*/ 85 h 693"/>
                <a:gd name="T28" fmla="*/ 214 w 721"/>
                <a:gd name="T29" fmla="*/ 115 h 693"/>
                <a:gd name="T30" fmla="*/ 225 w 721"/>
                <a:gd name="T31" fmla="*/ 137 h 693"/>
                <a:gd name="T32" fmla="*/ 236 w 721"/>
                <a:gd name="T33" fmla="*/ 159 h 693"/>
                <a:gd name="T34" fmla="*/ 238 w 721"/>
                <a:gd name="T35" fmla="*/ 165 h 693"/>
                <a:gd name="T36" fmla="*/ 243 w 721"/>
                <a:gd name="T37" fmla="*/ 178 h 693"/>
                <a:gd name="T38" fmla="*/ 245 w 721"/>
                <a:gd name="T39" fmla="*/ 184 h 693"/>
                <a:gd name="T40" fmla="*/ 225 w 721"/>
                <a:gd name="T41" fmla="*/ 193 h 693"/>
                <a:gd name="T42" fmla="*/ 188 w 721"/>
                <a:gd name="T43" fmla="*/ 209 h 693"/>
                <a:gd name="T44" fmla="*/ 162 w 721"/>
                <a:gd name="T45" fmla="*/ 213 h 693"/>
                <a:gd name="T46" fmla="*/ 127 w 721"/>
                <a:gd name="T47" fmla="*/ 221 h 693"/>
                <a:gd name="T48" fmla="*/ 112 w 721"/>
                <a:gd name="T49" fmla="*/ 230 h 693"/>
                <a:gd name="T50" fmla="*/ 108 w 721"/>
                <a:gd name="T51" fmla="*/ 235 h 693"/>
                <a:gd name="T52" fmla="*/ 94 w 721"/>
                <a:gd name="T53" fmla="*/ 213 h 693"/>
                <a:gd name="T54" fmla="*/ 84 w 721"/>
                <a:gd name="T55" fmla="*/ 191 h 693"/>
                <a:gd name="T56" fmla="*/ 71 w 721"/>
                <a:gd name="T57" fmla="*/ 167 h 693"/>
                <a:gd name="T58" fmla="*/ 60 w 721"/>
                <a:gd name="T59" fmla="*/ 145 h 693"/>
                <a:gd name="T60" fmla="*/ 49 w 721"/>
                <a:gd name="T61" fmla="*/ 128 h 693"/>
                <a:gd name="T62" fmla="*/ 34 w 721"/>
                <a:gd name="T63" fmla="*/ 109 h 693"/>
                <a:gd name="T64" fmla="*/ 25 w 721"/>
                <a:gd name="T65" fmla="*/ 87 h 693"/>
                <a:gd name="T66" fmla="*/ 0 w 721"/>
                <a:gd name="T67" fmla="*/ 59 h 69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21"/>
                <a:gd name="T103" fmla="*/ 0 h 693"/>
                <a:gd name="T104" fmla="*/ 721 w 721"/>
                <a:gd name="T105" fmla="*/ 693 h 69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21" h="693">
                  <a:moveTo>
                    <a:pt x="0" y="173"/>
                  </a:moveTo>
                  <a:lnTo>
                    <a:pt x="53" y="145"/>
                  </a:lnTo>
                  <a:lnTo>
                    <a:pt x="99" y="121"/>
                  </a:lnTo>
                  <a:lnTo>
                    <a:pt x="154" y="109"/>
                  </a:lnTo>
                  <a:lnTo>
                    <a:pt x="208" y="77"/>
                  </a:lnTo>
                  <a:lnTo>
                    <a:pt x="278" y="64"/>
                  </a:lnTo>
                  <a:lnTo>
                    <a:pt x="323" y="39"/>
                  </a:lnTo>
                  <a:lnTo>
                    <a:pt x="374" y="20"/>
                  </a:lnTo>
                  <a:lnTo>
                    <a:pt x="387" y="0"/>
                  </a:lnTo>
                  <a:lnTo>
                    <a:pt x="451" y="77"/>
                  </a:lnTo>
                  <a:lnTo>
                    <a:pt x="458" y="116"/>
                  </a:lnTo>
                  <a:lnTo>
                    <a:pt x="490" y="173"/>
                  </a:lnTo>
                  <a:lnTo>
                    <a:pt x="515" y="212"/>
                  </a:lnTo>
                  <a:lnTo>
                    <a:pt x="554" y="250"/>
                  </a:lnTo>
                  <a:lnTo>
                    <a:pt x="630" y="340"/>
                  </a:lnTo>
                  <a:lnTo>
                    <a:pt x="662" y="404"/>
                  </a:lnTo>
                  <a:lnTo>
                    <a:pt x="694" y="468"/>
                  </a:lnTo>
                  <a:lnTo>
                    <a:pt x="701" y="487"/>
                  </a:lnTo>
                  <a:lnTo>
                    <a:pt x="714" y="525"/>
                  </a:lnTo>
                  <a:lnTo>
                    <a:pt x="720" y="544"/>
                  </a:lnTo>
                  <a:lnTo>
                    <a:pt x="662" y="570"/>
                  </a:lnTo>
                  <a:lnTo>
                    <a:pt x="554" y="615"/>
                  </a:lnTo>
                  <a:lnTo>
                    <a:pt x="477" y="628"/>
                  </a:lnTo>
                  <a:lnTo>
                    <a:pt x="374" y="653"/>
                  </a:lnTo>
                  <a:lnTo>
                    <a:pt x="330" y="679"/>
                  </a:lnTo>
                  <a:lnTo>
                    <a:pt x="317" y="692"/>
                  </a:lnTo>
                  <a:lnTo>
                    <a:pt x="278" y="628"/>
                  </a:lnTo>
                  <a:lnTo>
                    <a:pt x="246" y="564"/>
                  </a:lnTo>
                  <a:lnTo>
                    <a:pt x="208" y="493"/>
                  </a:lnTo>
                  <a:lnTo>
                    <a:pt x="176" y="429"/>
                  </a:lnTo>
                  <a:lnTo>
                    <a:pt x="144" y="378"/>
                  </a:lnTo>
                  <a:lnTo>
                    <a:pt x="99" y="320"/>
                  </a:lnTo>
                  <a:lnTo>
                    <a:pt x="74" y="256"/>
                  </a:lnTo>
                  <a:lnTo>
                    <a:pt x="0" y="173"/>
                  </a:lnTo>
                </a:path>
              </a:pathLst>
            </a:custGeom>
            <a:pattFill prst="lgConfetti">
              <a:fgClr>
                <a:srgbClr val="CCCC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33" descr="Großes Konfetti"/>
            <p:cNvSpPr>
              <a:spLocks/>
            </p:cNvSpPr>
            <p:nvPr/>
          </p:nvSpPr>
          <p:spPr bwMode="auto">
            <a:xfrm>
              <a:off x="998" y="1158"/>
              <a:ext cx="224" cy="239"/>
            </a:xfrm>
            <a:custGeom>
              <a:avLst/>
              <a:gdLst>
                <a:gd name="T0" fmla="*/ 0 w 660"/>
                <a:gd name="T1" fmla="*/ 64 h 705"/>
                <a:gd name="T2" fmla="*/ 17 w 660"/>
                <a:gd name="T3" fmla="*/ 57 h 705"/>
                <a:gd name="T4" fmla="*/ 33 w 660"/>
                <a:gd name="T5" fmla="*/ 45 h 705"/>
                <a:gd name="T6" fmla="*/ 53 w 660"/>
                <a:gd name="T7" fmla="*/ 38 h 705"/>
                <a:gd name="T8" fmla="*/ 63 w 660"/>
                <a:gd name="T9" fmla="*/ 36 h 705"/>
                <a:gd name="T10" fmla="*/ 74 w 660"/>
                <a:gd name="T11" fmla="*/ 44 h 705"/>
                <a:gd name="T12" fmla="*/ 87 w 660"/>
                <a:gd name="T13" fmla="*/ 65 h 705"/>
                <a:gd name="T14" fmla="*/ 93 w 660"/>
                <a:gd name="T15" fmla="*/ 74 h 705"/>
                <a:gd name="T16" fmla="*/ 98 w 660"/>
                <a:gd name="T17" fmla="*/ 83 h 705"/>
                <a:gd name="T18" fmla="*/ 95 w 660"/>
                <a:gd name="T19" fmla="*/ 72 h 705"/>
                <a:gd name="T20" fmla="*/ 89 w 660"/>
                <a:gd name="T21" fmla="*/ 61 h 705"/>
                <a:gd name="T22" fmla="*/ 82 w 660"/>
                <a:gd name="T23" fmla="*/ 48 h 705"/>
                <a:gd name="T24" fmla="*/ 74 w 660"/>
                <a:gd name="T25" fmla="*/ 36 h 705"/>
                <a:gd name="T26" fmla="*/ 69 w 660"/>
                <a:gd name="T27" fmla="*/ 28 h 705"/>
                <a:gd name="T28" fmla="*/ 85 w 660"/>
                <a:gd name="T29" fmla="*/ 15 h 705"/>
                <a:gd name="T30" fmla="*/ 100 w 660"/>
                <a:gd name="T31" fmla="*/ 11 h 705"/>
                <a:gd name="T32" fmla="*/ 111 w 660"/>
                <a:gd name="T33" fmla="*/ 9 h 705"/>
                <a:gd name="T34" fmla="*/ 126 w 660"/>
                <a:gd name="T35" fmla="*/ 0 h 705"/>
                <a:gd name="T36" fmla="*/ 134 w 660"/>
                <a:gd name="T37" fmla="*/ 20 h 705"/>
                <a:gd name="T38" fmla="*/ 139 w 660"/>
                <a:gd name="T39" fmla="*/ 39 h 705"/>
                <a:gd name="T40" fmla="*/ 148 w 660"/>
                <a:gd name="T41" fmla="*/ 61 h 705"/>
                <a:gd name="T42" fmla="*/ 163 w 660"/>
                <a:gd name="T43" fmla="*/ 83 h 705"/>
                <a:gd name="T44" fmla="*/ 178 w 660"/>
                <a:gd name="T45" fmla="*/ 100 h 705"/>
                <a:gd name="T46" fmla="*/ 195 w 660"/>
                <a:gd name="T47" fmla="*/ 119 h 705"/>
                <a:gd name="T48" fmla="*/ 202 w 660"/>
                <a:gd name="T49" fmla="*/ 145 h 705"/>
                <a:gd name="T50" fmla="*/ 217 w 660"/>
                <a:gd name="T51" fmla="*/ 165 h 705"/>
                <a:gd name="T52" fmla="*/ 224 w 660"/>
                <a:gd name="T53" fmla="*/ 174 h 705"/>
                <a:gd name="T54" fmla="*/ 221 w 660"/>
                <a:gd name="T55" fmla="*/ 182 h 705"/>
                <a:gd name="T56" fmla="*/ 198 w 660"/>
                <a:gd name="T57" fmla="*/ 198 h 705"/>
                <a:gd name="T58" fmla="*/ 180 w 660"/>
                <a:gd name="T59" fmla="*/ 204 h 705"/>
                <a:gd name="T60" fmla="*/ 174 w 660"/>
                <a:gd name="T61" fmla="*/ 204 h 705"/>
                <a:gd name="T62" fmla="*/ 163 w 660"/>
                <a:gd name="T63" fmla="*/ 187 h 705"/>
                <a:gd name="T64" fmla="*/ 150 w 660"/>
                <a:gd name="T65" fmla="*/ 172 h 705"/>
                <a:gd name="T66" fmla="*/ 141 w 660"/>
                <a:gd name="T67" fmla="*/ 154 h 705"/>
                <a:gd name="T68" fmla="*/ 126 w 660"/>
                <a:gd name="T69" fmla="*/ 141 h 705"/>
                <a:gd name="T70" fmla="*/ 139 w 660"/>
                <a:gd name="T71" fmla="*/ 161 h 705"/>
                <a:gd name="T72" fmla="*/ 150 w 660"/>
                <a:gd name="T73" fmla="*/ 178 h 705"/>
                <a:gd name="T74" fmla="*/ 161 w 660"/>
                <a:gd name="T75" fmla="*/ 200 h 705"/>
                <a:gd name="T76" fmla="*/ 163 w 660"/>
                <a:gd name="T77" fmla="*/ 215 h 705"/>
                <a:gd name="T78" fmla="*/ 117 w 660"/>
                <a:gd name="T79" fmla="*/ 230 h 705"/>
                <a:gd name="T80" fmla="*/ 102 w 660"/>
                <a:gd name="T81" fmla="*/ 237 h 705"/>
                <a:gd name="T82" fmla="*/ 98 w 660"/>
                <a:gd name="T83" fmla="*/ 239 h 705"/>
                <a:gd name="T84" fmla="*/ 87 w 660"/>
                <a:gd name="T85" fmla="*/ 221 h 705"/>
                <a:gd name="T86" fmla="*/ 74 w 660"/>
                <a:gd name="T87" fmla="*/ 198 h 705"/>
                <a:gd name="T88" fmla="*/ 63 w 660"/>
                <a:gd name="T89" fmla="*/ 174 h 705"/>
                <a:gd name="T90" fmla="*/ 61 w 660"/>
                <a:gd name="T91" fmla="*/ 161 h 705"/>
                <a:gd name="T92" fmla="*/ 50 w 660"/>
                <a:gd name="T93" fmla="*/ 133 h 705"/>
                <a:gd name="T94" fmla="*/ 33 w 660"/>
                <a:gd name="T95" fmla="*/ 111 h 705"/>
                <a:gd name="T96" fmla="*/ 6 w 660"/>
                <a:gd name="T97" fmla="*/ 87 h 705"/>
                <a:gd name="T98" fmla="*/ 0 w 660"/>
                <a:gd name="T99" fmla="*/ 64 h 70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660"/>
                <a:gd name="T151" fmla="*/ 0 h 705"/>
                <a:gd name="T152" fmla="*/ 660 w 660"/>
                <a:gd name="T153" fmla="*/ 705 h 70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660" h="705">
                  <a:moveTo>
                    <a:pt x="0" y="189"/>
                  </a:moveTo>
                  <a:lnTo>
                    <a:pt x="51" y="167"/>
                  </a:lnTo>
                  <a:lnTo>
                    <a:pt x="97" y="134"/>
                  </a:lnTo>
                  <a:lnTo>
                    <a:pt x="156" y="112"/>
                  </a:lnTo>
                  <a:lnTo>
                    <a:pt x="187" y="107"/>
                  </a:lnTo>
                  <a:lnTo>
                    <a:pt x="217" y="129"/>
                  </a:lnTo>
                  <a:lnTo>
                    <a:pt x="256" y="192"/>
                  </a:lnTo>
                  <a:lnTo>
                    <a:pt x="275" y="218"/>
                  </a:lnTo>
                  <a:lnTo>
                    <a:pt x="288" y="244"/>
                  </a:lnTo>
                  <a:lnTo>
                    <a:pt x="281" y="212"/>
                  </a:lnTo>
                  <a:lnTo>
                    <a:pt x="262" y="180"/>
                  </a:lnTo>
                  <a:lnTo>
                    <a:pt x="243" y="141"/>
                  </a:lnTo>
                  <a:lnTo>
                    <a:pt x="217" y="105"/>
                  </a:lnTo>
                  <a:lnTo>
                    <a:pt x="203" y="83"/>
                  </a:lnTo>
                  <a:lnTo>
                    <a:pt x="249" y="45"/>
                  </a:lnTo>
                  <a:lnTo>
                    <a:pt x="294" y="32"/>
                  </a:lnTo>
                  <a:lnTo>
                    <a:pt x="326" y="26"/>
                  </a:lnTo>
                  <a:lnTo>
                    <a:pt x="372" y="0"/>
                  </a:lnTo>
                  <a:lnTo>
                    <a:pt x="396" y="58"/>
                  </a:lnTo>
                  <a:lnTo>
                    <a:pt x="409" y="116"/>
                  </a:lnTo>
                  <a:lnTo>
                    <a:pt x="435" y="180"/>
                  </a:lnTo>
                  <a:lnTo>
                    <a:pt x="480" y="244"/>
                  </a:lnTo>
                  <a:lnTo>
                    <a:pt x="524" y="295"/>
                  </a:lnTo>
                  <a:lnTo>
                    <a:pt x="576" y="352"/>
                  </a:lnTo>
                  <a:lnTo>
                    <a:pt x="595" y="429"/>
                  </a:lnTo>
                  <a:lnTo>
                    <a:pt x="640" y="487"/>
                  </a:lnTo>
                  <a:lnTo>
                    <a:pt x="659" y="512"/>
                  </a:lnTo>
                  <a:lnTo>
                    <a:pt x="652" y="538"/>
                  </a:lnTo>
                  <a:lnTo>
                    <a:pt x="582" y="583"/>
                  </a:lnTo>
                  <a:lnTo>
                    <a:pt x="531" y="602"/>
                  </a:lnTo>
                  <a:lnTo>
                    <a:pt x="512" y="602"/>
                  </a:lnTo>
                  <a:lnTo>
                    <a:pt x="480" y="551"/>
                  </a:lnTo>
                  <a:lnTo>
                    <a:pt x="441" y="506"/>
                  </a:lnTo>
                  <a:lnTo>
                    <a:pt x="416" y="455"/>
                  </a:lnTo>
                  <a:lnTo>
                    <a:pt x="371" y="416"/>
                  </a:lnTo>
                  <a:lnTo>
                    <a:pt x="409" y="474"/>
                  </a:lnTo>
                  <a:lnTo>
                    <a:pt x="441" y="525"/>
                  </a:lnTo>
                  <a:lnTo>
                    <a:pt x="473" y="589"/>
                  </a:lnTo>
                  <a:lnTo>
                    <a:pt x="480" y="634"/>
                  </a:lnTo>
                  <a:lnTo>
                    <a:pt x="345" y="679"/>
                  </a:lnTo>
                  <a:lnTo>
                    <a:pt x="300" y="698"/>
                  </a:lnTo>
                  <a:lnTo>
                    <a:pt x="288" y="704"/>
                  </a:lnTo>
                  <a:lnTo>
                    <a:pt x="256" y="653"/>
                  </a:lnTo>
                  <a:lnTo>
                    <a:pt x="217" y="583"/>
                  </a:lnTo>
                  <a:lnTo>
                    <a:pt x="185" y="512"/>
                  </a:lnTo>
                  <a:lnTo>
                    <a:pt x="179" y="474"/>
                  </a:lnTo>
                  <a:lnTo>
                    <a:pt x="147" y="391"/>
                  </a:lnTo>
                  <a:lnTo>
                    <a:pt x="96" y="327"/>
                  </a:lnTo>
                  <a:lnTo>
                    <a:pt x="19" y="256"/>
                  </a:lnTo>
                  <a:lnTo>
                    <a:pt x="0" y="189"/>
                  </a:lnTo>
                </a:path>
              </a:pathLst>
            </a:custGeom>
            <a:pattFill prst="lgConfetti">
              <a:fgClr>
                <a:srgbClr val="CCCC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34" descr="5%"/>
            <p:cNvSpPr>
              <a:spLocks/>
            </p:cNvSpPr>
            <p:nvPr/>
          </p:nvSpPr>
          <p:spPr bwMode="auto">
            <a:xfrm>
              <a:off x="799" y="600"/>
              <a:ext cx="451" cy="186"/>
            </a:xfrm>
            <a:custGeom>
              <a:avLst/>
              <a:gdLst>
                <a:gd name="T0" fmla="*/ 0 w 1332"/>
                <a:gd name="T1" fmla="*/ 159 h 547"/>
                <a:gd name="T2" fmla="*/ 30 w 1332"/>
                <a:gd name="T3" fmla="*/ 148 h 547"/>
                <a:gd name="T4" fmla="*/ 67 w 1332"/>
                <a:gd name="T5" fmla="*/ 124 h 547"/>
                <a:gd name="T6" fmla="*/ 85 w 1332"/>
                <a:gd name="T7" fmla="*/ 117 h 547"/>
                <a:gd name="T8" fmla="*/ 115 w 1332"/>
                <a:gd name="T9" fmla="*/ 104 h 547"/>
                <a:gd name="T10" fmla="*/ 147 w 1332"/>
                <a:gd name="T11" fmla="*/ 94 h 547"/>
                <a:gd name="T12" fmla="*/ 195 w 1332"/>
                <a:gd name="T13" fmla="*/ 78 h 547"/>
                <a:gd name="T14" fmla="*/ 221 w 1332"/>
                <a:gd name="T15" fmla="*/ 67 h 547"/>
                <a:gd name="T16" fmla="*/ 260 w 1332"/>
                <a:gd name="T17" fmla="*/ 48 h 547"/>
                <a:gd name="T18" fmla="*/ 277 w 1332"/>
                <a:gd name="T19" fmla="*/ 52 h 547"/>
                <a:gd name="T20" fmla="*/ 289 w 1332"/>
                <a:gd name="T21" fmla="*/ 63 h 547"/>
                <a:gd name="T22" fmla="*/ 297 w 1332"/>
                <a:gd name="T23" fmla="*/ 66 h 547"/>
                <a:gd name="T24" fmla="*/ 313 w 1332"/>
                <a:gd name="T25" fmla="*/ 71 h 547"/>
                <a:gd name="T26" fmla="*/ 303 w 1332"/>
                <a:gd name="T27" fmla="*/ 63 h 547"/>
                <a:gd name="T28" fmla="*/ 291 w 1332"/>
                <a:gd name="T29" fmla="*/ 56 h 547"/>
                <a:gd name="T30" fmla="*/ 280 w 1332"/>
                <a:gd name="T31" fmla="*/ 50 h 547"/>
                <a:gd name="T32" fmla="*/ 267 w 1332"/>
                <a:gd name="T33" fmla="*/ 44 h 547"/>
                <a:gd name="T34" fmla="*/ 284 w 1332"/>
                <a:gd name="T35" fmla="*/ 35 h 547"/>
                <a:gd name="T36" fmla="*/ 303 w 1332"/>
                <a:gd name="T37" fmla="*/ 22 h 547"/>
                <a:gd name="T38" fmla="*/ 323 w 1332"/>
                <a:gd name="T39" fmla="*/ 19 h 547"/>
                <a:gd name="T40" fmla="*/ 342 w 1332"/>
                <a:gd name="T41" fmla="*/ 11 h 547"/>
                <a:gd name="T42" fmla="*/ 360 w 1332"/>
                <a:gd name="T43" fmla="*/ 4 h 547"/>
                <a:gd name="T44" fmla="*/ 368 w 1332"/>
                <a:gd name="T45" fmla="*/ 0 h 547"/>
                <a:gd name="T46" fmla="*/ 394 w 1332"/>
                <a:gd name="T47" fmla="*/ 9 h 547"/>
                <a:gd name="T48" fmla="*/ 429 w 1332"/>
                <a:gd name="T49" fmla="*/ 24 h 547"/>
                <a:gd name="T50" fmla="*/ 451 w 1332"/>
                <a:gd name="T51" fmla="*/ 35 h 547"/>
                <a:gd name="T52" fmla="*/ 436 w 1332"/>
                <a:gd name="T53" fmla="*/ 48 h 547"/>
                <a:gd name="T54" fmla="*/ 412 w 1332"/>
                <a:gd name="T55" fmla="*/ 54 h 547"/>
                <a:gd name="T56" fmla="*/ 375 w 1332"/>
                <a:gd name="T57" fmla="*/ 72 h 547"/>
                <a:gd name="T58" fmla="*/ 366 w 1332"/>
                <a:gd name="T59" fmla="*/ 80 h 547"/>
                <a:gd name="T60" fmla="*/ 352 w 1332"/>
                <a:gd name="T61" fmla="*/ 85 h 547"/>
                <a:gd name="T62" fmla="*/ 342 w 1332"/>
                <a:gd name="T63" fmla="*/ 80 h 547"/>
                <a:gd name="T64" fmla="*/ 323 w 1332"/>
                <a:gd name="T65" fmla="*/ 75 h 547"/>
                <a:gd name="T66" fmla="*/ 312 w 1332"/>
                <a:gd name="T67" fmla="*/ 72 h 547"/>
                <a:gd name="T68" fmla="*/ 327 w 1332"/>
                <a:gd name="T69" fmla="*/ 80 h 547"/>
                <a:gd name="T70" fmla="*/ 342 w 1332"/>
                <a:gd name="T71" fmla="*/ 87 h 547"/>
                <a:gd name="T72" fmla="*/ 325 w 1332"/>
                <a:gd name="T73" fmla="*/ 94 h 547"/>
                <a:gd name="T74" fmla="*/ 282 w 1332"/>
                <a:gd name="T75" fmla="*/ 109 h 547"/>
                <a:gd name="T76" fmla="*/ 262 w 1332"/>
                <a:gd name="T77" fmla="*/ 120 h 547"/>
                <a:gd name="T78" fmla="*/ 234 w 1332"/>
                <a:gd name="T79" fmla="*/ 133 h 547"/>
                <a:gd name="T80" fmla="*/ 222 w 1332"/>
                <a:gd name="T81" fmla="*/ 135 h 547"/>
                <a:gd name="T82" fmla="*/ 197 w 1332"/>
                <a:gd name="T83" fmla="*/ 120 h 547"/>
                <a:gd name="T84" fmla="*/ 187 w 1332"/>
                <a:gd name="T85" fmla="*/ 115 h 547"/>
                <a:gd name="T86" fmla="*/ 173 w 1332"/>
                <a:gd name="T87" fmla="*/ 113 h 547"/>
                <a:gd name="T88" fmla="*/ 158 w 1332"/>
                <a:gd name="T89" fmla="*/ 106 h 547"/>
                <a:gd name="T90" fmla="*/ 137 w 1332"/>
                <a:gd name="T91" fmla="*/ 101 h 547"/>
                <a:gd name="T92" fmla="*/ 145 w 1332"/>
                <a:gd name="T93" fmla="*/ 108 h 547"/>
                <a:gd name="T94" fmla="*/ 163 w 1332"/>
                <a:gd name="T95" fmla="*/ 115 h 547"/>
                <a:gd name="T96" fmla="*/ 178 w 1332"/>
                <a:gd name="T97" fmla="*/ 120 h 547"/>
                <a:gd name="T98" fmla="*/ 189 w 1332"/>
                <a:gd name="T99" fmla="*/ 126 h 547"/>
                <a:gd name="T100" fmla="*/ 200 w 1332"/>
                <a:gd name="T101" fmla="*/ 129 h 547"/>
                <a:gd name="T102" fmla="*/ 213 w 1332"/>
                <a:gd name="T103" fmla="*/ 139 h 547"/>
                <a:gd name="T104" fmla="*/ 189 w 1332"/>
                <a:gd name="T105" fmla="*/ 150 h 547"/>
                <a:gd name="T106" fmla="*/ 156 w 1332"/>
                <a:gd name="T107" fmla="*/ 156 h 547"/>
                <a:gd name="T108" fmla="*/ 126 w 1332"/>
                <a:gd name="T109" fmla="*/ 167 h 547"/>
                <a:gd name="T110" fmla="*/ 104 w 1332"/>
                <a:gd name="T111" fmla="*/ 181 h 547"/>
                <a:gd name="T112" fmla="*/ 84 w 1332"/>
                <a:gd name="T113" fmla="*/ 186 h 547"/>
                <a:gd name="T114" fmla="*/ 59 w 1332"/>
                <a:gd name="T115" fmla="*/ 174 h 547"/>
                <a:gd name="T116" fmla="*/ 37 w 1332"/>
                <a:gd name="T117" fmla="*/ 172 h 547"/>
                <a:gd name="T118" fmla="*/ 0 w 1332"/>
                <a:gd name="T119" fmla="*/ 159 h 547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332"/>
                <a:gd name="T181" fmla="*/ 0 h 547"/>
                <a:gd name="T182" fmla="*/ 1332 w 1332"/>
                <a:gd name="T183" fmla="*/ 547 h 547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332" h="547">
                  <a:moveTo>
                    <a:pt x="0" y="467"/>
                  </a:moveTo>
                  <a:lnTo>
                    <a:pt x="90" y="435"/>
                  </a:lnTo>
                  <a:lnTo>
                    <a:pt x="199" y="364"/>
                  </a:lnTo>
                  <a:lnTo>
                    <a:pt x="250" y="345"/>
                  </a:lnTo>
                  <a:lnTo>
                    <a:pt x="339" y="307"/>
                  </a:lnTo>
                  <a:lnTo>
                    <a:pt x="435" y="275"/>
                  </a:lnTo>
                  <a:lnTo>
                    <a:pt x="576" y="230"/>
                  </a:lnTo>
                  <a:lnTo>
                    <a:pt x="653" y="198"/>
                  </a:lnTo>
                  <a:lnTo>
                    <a:pt x="768" y="140"/>
                  </a:lnTo>
                  <a:lnTo>
                    <a:pt x="817" y="152"/>
                  </a:lnTo>
                  <a:lnTo>
                    <a:pt x="855" y="186"/>
                  </a:lnTo>
                  <a:lnTo>
                    <a:pt x="877" y="195"/>
                  </a:lnTo>
                  <a:lnTo>
                    <a:pt x="923" y="209"/>
                  </a:lnTo>
                  <a:lnTo>
                    <a:pt x="896" y="185"/>
                  </a:lnTo>
                  <a:lnTo>
                    <a:pt x="858" y="166"/>
                  </a:lnTo>
                  <a:lnTo>
                    <a:pt x="826" y="147"/>
                  </a:lnTo>
                  <a:lnTo>
                    <a:pt x="788" y="128"/>
                  </a:lnTo>
                  <a:lnTo>
                    <a:pt x="839" y="102"/>
                  </a:lnTo>
                  <a:lnTo>
                    <a:pt x="896" y="64"/>
                  </a:lnTo>
                  <a:lnTo>
                    <a:pt x="954" y="57"/>
                  </a:lnTo>
                  <a:lnTo>
                    <a:pt x="1011" y="32"/>
                  </a:lnTo>
                  <a:lnTo>
                    <a:pt x="1063" y="12"/>
                  </a:lnTo>
                  <a:lnTo>
                    <a:pt x="1088" y="0"/>
                  </a:lnTo>
                  <a:lnTo>
                    <a:pt x="1165" y="25"/>
                  </a:lnTo>
                  <a:lnTo>
                    <a:pt x="1267" y="70"/>
                  </a:lnTo>
                  <a:lnTo>
                    <a:pt x="1331" y="102"/>
                  </a:lnTo>
                  <a:lnTo>
                    <a:pt x="1287" y="140"/>
                  </a:lnTo>
                  <a:lnTo>
                    <a:pt x="1216" y="160"/>
                  </a:lnTo>
                  <a:lnTo>
                    <a:pt x="1107" y="211"/>
                  </a:lnTo>
                  <a:lnTo>
                    <a:pt x="1082" y="236"/>
                  </a:lnTo>
                  <a:lnTo>
                    <a:pt x="1040" y="251"/>
                  </a:lnTo>
                  <a:lnTo>
                    <a:pt x="1010" y="235"/>
                  </a:lnTo>
                  <a:lnTo>
                    <a:pt x="954" y="220"/>
                  </a:lnTo>
                  <a:lnTo>
                    <a:pt x="920" y="211"/>
                  </a:lnTo>
                  <a:lnTo>
                    <a:pt x="967" y="236"/>
                  </a:lnTo>
                  <a:lnTo>
                    <a:pt x="1011" y="256"/>
                  </a:lnTo>
                  <a:lnTo>
                    <a:pt x="960" y="275"/>
                  </a:lnTo>
                  <a:lnTo>
                    <a:pt x="832" y="320"/>
                  </a:lnTo>
                  <a:lnTo>
                    <a:pt x="775" y="352"/>
                  </a:lnTo>
                  <a:lnTo>
                    <a:pt x="691" y="390"/>
                  </a:lnTo>
                  <a:lnTo>
                    <a:pt x="656" y="397"/>
                  </a:lnTo>
                  <a:lnTo>
                    <a:pt x="583" y="352"/>
                  </a:lnTo>
                  <a:lnTo>
                    <a:pt x="551" y="339"/>
                  </a:lnTo>
                  <a:lnTo>
                    <a:pt x="512" y="332"/>
                  </a:lnTo>
                  <a:lnTo>
                    <a:pt x="467" y="313"/>
                  </a:lnTo>
                  <a:lnTo>
                    <a:pt x="405" y="296"/>
                  </a:lnTo>
                  <a:lnTo>
                    <a:pt x="429" y="318"/>
                  </a:lnTo>
                  <a:lnTo>
                    <a:pt x="480" y="339"/>
                  </a:lnTo>
                  <a:lnTo>
                    <a:pt x="525" y="352"/>
                  </a:lnTo>
                  <a:lnTo>
                    <a:pt x="557" y="371"/>
                  </a:lnTo>
                  <a:lnTo>
                    <a:pt x="592" y="380"/>
                  </a:lnTo>
                  <a:lnTo>
                    <a:pt x="630" y="409"/>
                  </a:lnTo>
                  <a:lnTo>
                    <a:pt x="557" y="441"/>
                  </a:lnTo>
                  <a:lnTo>
                    <a:pt x="461" y="460"/>
                  </a:lnTo>
                  <a:lnTo>
                    <a:pt x="371" y="492"/>
                  </a:lnTo>
                  <a:lnTo>
                    <a:pt x="307" y="531"/>
                  </a:lnTo>
                  <a:lnTo>
                    <a:pt x="248" y="546"/>
                  </a:lnTo>
                  <a:lnTo>
                    <a:pt x="173" y="512"/>
                  </a:lnTo>
                  <a:lnTo>
                    <a:pt x="109" y="505"/>
                  </a:lnTo>
                  <a:lnTo>
                    <a:pt x="0" y="467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35" descr="25%"/>
            <p:cNvSpPr>
              <a:spLocks/>
            </p:cNvSpPr>
            <p:nvPr/>
          </p:nvSpPr>
          <p:spPr bwMode="auto">
            <a:xfrm>
              <a:off x="634" y="693"/>
              <a:ext cx="656" cy="561"/>
            </a:xfrm>
            <a:custGeom>
              <a:avLst/>
              <a:gdLst>
                <a:gd name="T0" fmla="*/ 623 w 1934"/>
                <a:gd name="T1" fmla="*/ 0 h 1652"/>
                <a:gd name="T2" fmla="*/ 569 w 1934"/>
                <a:gd name="T3" fmla="*/ 15 h 1652"/>
                <a:gd name="T4" fmla="*/ 551 w 1934"/>
                <a:gd name="T5" fmla="*/ 30 h 1652"/>
                <a:gd name="T6" fmla="*/ 532 w 1934"/>
                <a:gd name="T7" fmla="*/ 37 h 1652"/>
                <a:gd name="T8" fmla="*/ 501 w 1934"/>
                <a:gd name="T9" fmla="*/ 52 h 1652"/>
                <a:gd name="T10" fmla="*/ 469 w 1934"/>
                <a:gd name="T11" fmla="*/ 63 h 1652"/>
                <a:gd name="T12" fmla="*/ 434 w 1934"/>
                <a:gd name="T13" fmla="*/ 87 h 1652"/>
                <a:gd name="T14" fmla="*/ 412 w 1934"/>
                <a:gd name="T15" fmla="*/ 91 h 1652"/>
                <a:gd name="T16" fmla="*/ 399 w 1934"/>
                <a:gd name="T17" fmla="*/ 95 h 1652"/>
                <a:gd name="T18" fmla="*/ 378 w 1934"/>
                <a:gd name="T19" fmla="*/ 106 h 1652"/>
                <a:gd name="T20" fmla="*/ 339 w 1934"/>
                <a:gd name="T21" fmla="*/ 124 h 1652"/>
                <a:gd name="T22" fmla="*/ 297 w 1934"/>
                <a:gd name="T23" fmla="*/ 143 h 1652"/>
                <a:gd name="T24" fmla="*/ 243 w 1934"/>
                <a:gd name="T25" fmla="*/ 167 h 1652"/>
                <a:gd name="T26" fmla="*/ 139 w 1934"/>
                <a:gd name="T27" fmla="*/ 202 h 1652"/>
                <a:gd name="T28" fmla="*/ 95 w 1934"/>
                <a:gd name="T29" fmla="*/ 222 h 1652"/>
                <a:gd name="T30" fmla="*/ 35 w 1934"/>
                <a:gd name="T31" fmla="*/ 246 h 1652"/>
                <a:gd name="T32" fmla="*/ 4 w 1934"/>
                <a:gd name="T33" fmla="*/ 261 h 1652"/>
                <a:gd name="T34" fmla="*/ 8 w 1934"/>
                <a:gd name="T35" fmla="*/ 304 h 1652"/>
                <a:gd name="T36" fmla="*/ 0 w 1934"/>
                <a:gd name="T37" fmla="*/ 356 h 1652"/>
                <a:gd name="T38" fmla="*/ 8 w 1934"/>
                <a:gd name="T39" fmla="*/ 432 h 1652"/>
                <a:gd name="T40" fmla="*/ 13 w 1934"/>
                <a:gd name="T41" fmla="*/ 497 h 1652"/>
                <a:gd name="T42" fmla="*/ 15 w 1934"/>
                <a:gd name="T43" fmla="*/ 524 h 1652"/>
                <a:gd name="T44" fmla="*/ 13 w 1934"/>
                <a:gd name="T45" fmla="*/ 545 h 1652"/>
                <a:gd name="T46" fmla="*/ 50 w 1934"/>
                <a:gd name="T47" fmla="*/ 561 h 1652"/>
                <a:gd name="T48" fmla="*/ 48 w 1934"/>
                <a:gd name="T49" fmla="*/ 513 h 1652"/>
                <a:gd name="T50" fmla="*/ 52 w 1934"/>
                <a:gd name="T51" fmla="*/ 472 h 1652"/>
                <a:gd name="T52" fmla="*/ 52 w 1934"/>
                <a:gd name="T53" fmla="*/ 417 h 1652"/>
                <a:gd name="T54" fmla="*/ 50 w 1934"/>
                <a:gd name="T55" fmla="*/ 385 h 1652"/>
                <a:gd name="T56" fmla="*/ 50 w 1934"/>
                <a:gd name="T57" fmla="*/ 354 h 1652"/>
                <a:gd name="T58" fmla="*/ 50 w 1934"/>
                <a:gd name="T59" fmla="*/ 317 h 1652"/>
                <a:gd name="T60" fmla="*/ 50 w 1934"/>
                <a:gd name="T61" fmla="*/ 276 h 1652"/>
                <a:gd name="T62" fmla="*/ 66 w 1934"/>
                <a:gd name="T63" fmla="*/ 258 h 1652"/>
                <a:gd name="T64" fmla="*/ 115 w 1934"/>
                <a:gd name="T65" fmla="*/ 241 h 1652"/>
                <a:gd name="T66" fmla="*/ 187 w 1934"/>
                <a:gd name="T67" fmla="*/ 213 h 1652"/>
                <a:gd name="T68" fmla="*/ 239 w 1934"/>
                <a:gd name="T69" fmla="*/ 196 h 1652"/>
                <a:gd name="T70" fmla="*/ 297 w 1934"/>
                <a:gd name="T71" fmla="*/ 171 h 1652"/>
                <a:gd name="T72" fmla="*/ 336 w 1934"/>
                <a:gd name="T73" fmla="*/ 150 h 1652"/>
                <a:gd name="T74" fmla="*/ 378 w 1934"/>
                <a:gd name="T75" fmla="*/ 132 h 1652"/>
                <a:gd name="T76" fmla="*/ 414 w 1934"/>
                <a:gd name="T77" fmla="*/ 117 h 1652"/>
                <a:gd name="T78" fmla="*/ 462 w 1934"/>
                <a:gd name="T79" fmla="*/ 95 h 1652"/>
                <a:gd name="T80" fmla="*/ 525 w 1934"/>
                <a:gd name="T81" fmla="*/ 74 h 1652"/>
                <a:gd name="T82" fmla="*/ 605 w 1934"/>
                <a:gd name="T83" fmla="*/ 32 h 1652"/>
                <a:gd name="T84" fmla="*/ 656 w 1934"/>
                <a:gd name="T85" fmla="*/ 13 h 1652"/>
                <a:gd name="T86" fmla="*/ 623 w 1934"/>
                <a:gd name="T87" fmla="*/ 0 h 16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34"/>
                <a:gd name="T133" fmla="*/ 0 h 1652"/>
                <a:gd name="T134" fmla="*/ 1934 w 1934"/>
                <a:gd name="T135" fmla="*/ 1652 h 165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34" h="1652">
                  <a:moveTo>
                    <a:pt x="1837" y="0"/>
                  </a:moveTo>
                  <a:lnTo>
                    <a:pt x="1677" y="45"/>
                  </a:lnTo>
                  <a:lnTo>
                    <a:pt x="1625" y="89"/>
                  </a:lnTo>
                  <a:lnTo>
                    <a:pt x="1568" y="109"/>
                  </a:lnTo>
                  <a:lnTo>
                    <a:pt x="1478" y="153"/>
                  </a:lnTo>
                  <a:lnTo>
                    <a:pt x="1382" y="185"/>
                  </a:lnTo>
                  <a:lnTo>
                    <a:pt x="1280" y="256"/>
                  </a:lnTo>
                  <a:lnTo>
                    <a:pt x="1216" y="269"/>
                  </a:lnTo>
                  <a:lnTo>
                    <a:pt x="1177" y="281"/>
                  </a:lnTo>
                  <a:lnTo>
                    <a:pt x="1113" y="313"/>
                  </a:lnTo>
                  <a:lnTo>
                    <a:pt x="998" y="365"/>
                  </a:lnTo>
                  <a:lnTo>
                    <a:pt x="877" y="422"/>
                  </a:lnTo>
                  <a:lnTo>
                    <a:pt x="717" y="493"/>
                  </a:lnTo>
                  <a:lnTo>
                    <a:pt x="409" y="595"/>
                  </a:lnTo>
                  <a:lnTo>
                    <a:pt x="281" y="653"/>
                  </a:lnTo>
                  <a:lnTo>
                    <a:pt x="102" y="723"/>
                  </a:lnTo>
                  <a:lnTo>
                    <a:pt x="13" y="768"/>
                  </a:lnTo>
                  <a:lnTo>
                    <a:pt x="25" y="896"/>
                  </a:lnTo>
                  <a:lnTo>
                    <a:pt x="0" y="1049"/>
                  </a:lnTo>
                  <a:lnTo>
                    <a:pt x="25" y="1273"/>
                  </a:lnTo>
                  <a:lnTo>
                    <a:pt x="38" y="1465"/>
                  </a:lnTo>
                  <a:lnTo>
                    <a:pt x="45" y="1542"/>
                  </a:lnTo>
                  <a:lnTo>
                    <a:pt x="38" y="1606"/>
                  </a:lnTo>
                  <a:lnTo>
                    <a:pt x="147" y="1651"/>
                  </a:lnTo>
                  <a:lnTo>
                    <a:pt x="141" y="1510"/>
                  </a:lnTo>
                  <a:lnTo>
                    <a:pt x="153" y="1389"/>
                  </a:lnTo>
                  <a:lnTo>
                    <a:pt x="153" y="1229"/>
                  </a:lnTo>
                  <a:lnTo>
                    <a:pt x="147" y="1133"/>
                  </a:lnTo>
                  <a:lnTo>
                    <a:pt x="147" y="1043"/>
                  </a:lnTo>
                  <a:lnTo>
                    <a:pt x="147" y="934"/>
                  </a:lnTo>
                  <a:lnTo>
                    <a:pt x="147" y="813"/>
                  </a:lnTo>
                  <a:lnTo>
                    <a:pt x="195" y="761"/>
                  </a:lnTo>
                  <a:lnTo>
                    <a:pt x="339" y="710"/>
                  </a:lnTo>
                  <a:lnTo>
                    <a:pt x="550" y="627"/>
                  </a:lnTo>
                  <a:lnTo>
                    <a:pt x="704" y="576"/>
                  </a:lnTo>
                  <a:lnTo>
                    <a:pt x="877" y="505"/>
                  </a:lnTo>
                  <a:lnTo>
                    <a:pt x="992" y="441"/>
                  </a:lnTo>
                  <a:lnTo>
                    <a:pt x="1113" y="390"/>
                  </a:lnTo>
                  <a:lnTo>
                    <a:pt x="1222" y="345"/>
                  </a:lnTo>
                  <a:lnTo>
                    <a:pt x="1363" y="281"/>
                  </a:lnTo>
                  <a:lnTo>
                    <a:pt x="1549" y="217"/>
                  </a:lnTo>
                  <a:lnTo>
                    <a:pt x="1783" y="93"/>
                  </a:lnTo>
                  <a:lnTo>
                    <a:pt x="1933" y="38"/>
                  </a:lnTo>
                  <a:lnTo>
                    <a:pt x="1837" y="0"/>
                  </a:lnTo>
                </a:path>
              </a:pathLst>
            </a:custGeom>
            <a:pattFill prst="pct25">
              <a:fgClr>
                <a:schemeClr val="tx1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36" descr="5%"/>
            <p:cNvSpPr>
              <a:spLocks/>
            </p:cNvSpPr>
            <p:nvPr/>
          </p:nvSpPr>
          <p:spPr bwMode="auto">
            <a:xfrm>
              <a:off x="558" y="832"/>
              <a:ext cx="326" cy="120"/>
            </a:xfrm>
            <a:custGeom>
              <a:avLst/>
              <a:gdLst>
                <a:gd name="T0" fmla="*/ 236 w 961"/>
                <a:gd name="T1" fmla="*/ 0 h 353"/>
                <a:gd name="T2" fmla="*/ 267 w 961"/>
                <a:gd name="T3" fmla="*/ 9 h 353"/>
                <a:gd name="T4" fmla="*/ 308 w 961"/>
                <a:gd name="T5" fmla="*/ 18 h 353"/>
                <a:gd name="T6" fmla="*/ 326 w 961"/>
                <a:gd name="T7" fmla="*/ 22 h 353"/>
                <a:gd name="T8" fmla="*/ 241 w 961"/>
                <a:gd name="T9" fmla="*/ 54 h 353"/>
                <a:gd name="T10" fmla="*/ 206 w 961"/>
                <a:gd name="T11" fmla="*/ 65 h 353"/>
                <a:gd name="T12" fmla="*/ 167 w 961"/>
                <a:gd name="T13" fmla="*/ 83 h 353"/>
                <a:gd name="T14" fmla="*/ 113 w 961"/>
                <a:gd name="T15" fmla="*/ 105 h 353"/>
                <a:gd name="T16" fmla="*/ 78 w 961"/>
                <a:gd name="T17" fmla="*/ 120 h 353"/>
                <a:gd name="T18" fmla="*/ 26 w 961"/>
                <a:gd name="T19" fmla="*/ 111 h 353"/>
                <a:gd name="T20" fmla="*/ 0 w 961"/>
                <a:gd name="T21" fmla="*/ 100 h 353"/>
                <a:gd name="T22" fmla="*/ 28 w 961"/>
                <a:gd name="T23" fmla="*/ 81 h 353"/>
                <a:gd name="T24" fmla="*/ 65 w 961"/>
                <a:gd name="T25" fmla="*/ 70 h 353"/>
                <a:gd name="T26" fmla="*/ 100 w 961"/>
                <a:gd name="T27" fmla="*/ 54 h 353"/>
                <a:gd name="T28" fmla="*/ 126 w 961"/>
                <a:gd name="T29" fmla="*/ 44 h 353"/>
                <a:gd name="T30" fmla="*/ 154 w 961"/>
                <a:gd name="T31" fmla="*/ 29 h 353"/>
                <a:gd name="T32" fmla="*/ 195 w 961"/>
                <a:gd name="T33" fmla="*/ 15 h 353"/>
                <a:gd name="T34" fmla="*/ 236 w 961"/>
                <a:gd name="T35" fmla="*/ 0 h 3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61"/>
                <a:gd name="T55" fmla="*/ 0 h 353"/>
                <a:gd name="T56" fmla="*/ 961 w 961"/>
                <a:gd name="T57" fmla="*/ 353 h 35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61" h="353">
                  <a:moveTo>
                    <a:pt x="697" y="0"/>
                  </a:moveTo>
                  <a:lnTo>
                    <a:pt x="787" y="26"/>
                  </a:lnTo>
                  <a:lnTo>
                    <a:pt x="909" y="52"/>
                  </a:lnTo>
                  <a:lnTo>
                    <a:pt x="960" y="64"/>
                  </a:lnTo>
                  <a:lnTo>
                    <a:pt x="710" y="160"/>
                  </a:lnTo>
                  <a:lnTo>
                    <a:pt x="608" y="192"/>
                  </a:lnTo>
                  <a:lnTo>
                    <a:pt x="493" y="244"/>
                  </a:lnTo>
                  <a:lnTo>
                    <a:pt x="333" y="308"/>
                  </a:lnTo>
                  <a:lnTo>
                    <a:pt x="230" y="352"/>
                  </a:lnTo>
                  <a:lnTo>
                    <a:pt x="77" y="327"/>
                  </a:lnTo>
                  <a:lnTo>
                    <a:pt x="0" y="295"/>
                  </a:lnTo>
                  <a:lnTo>
                    <a:pt x="83" y="237"/>
                  </a:lnTo>
                  <a:lnTo>
                    <a:pt x="192" y="205"/>
                  </a:lnTo>
                  <a:lnTo>
                    <a:pt x="294" y="160"/>
                  </a:lnTo>
                  <a:lnTo>
                    <a:pt x="371" y="128"/>
                  </a:lnTo>
                  <a:lnTo>
                    <a:pt x="454" y="84"/>
                  </a:lnTo>
                  <a:lnTo>
                    <a:pt x="576" y="45"/>
                  </a:lnTo>
                  <a:lnTo>
                    <a:pt x="697" y="0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37" descr="5%"/>
            <p:cNvSpPr>
              <a:spLocks/>
            </p:cNvSpPr>
            <p:nvPr/>
          </p:nvSpPr>
          <p:spPr bwMode="auto">
            <a:xfrm>
              <a:off x="685" y="897"/>
              <a:ext cx="210" cy="101"/>
            </a:xfrm>
            <a:custGeom>
              <a:avLst/>
              <a:gdLst>
                <a:gd name="T0" fmla="*/ 76 w 622"/>
                <a:gd name="T1" fmla="*/ 101 h 297"/>
                <a:gd name="T2" fmla="*/ 97 w 622"/>
                <a:gd name="T3" fmla="*/ 84 h 297"/>
                <a:gd name="T4" fmla="*/ 112 w 622"/>
                <a:gd name="T5" fmla="*/ 75 h 297"/>
                <a:gd name="T6" fmla="*/ 129 w 622"/>
                <a:gd name="T7" fmla="*/ 68 h 297"/>
                <a:gd name="T8" fmla="*/ 120 w 622"/>
                <a:gd name="T9" fmla="*/ 60 h 297"/>
                <a:gd name="T10" fmla="*/ 112 w 622"/>
                <a:gd name="T11" fmla="*/ 48 h 297"/>
                <a:gd name="T12" fmla="*/ 103 w 622"/>
                <a:gd name="T13" fmla="*/ 38 h 297"/>
                <a:gd name="T14" fmla="*/ 118 w 622"/>
                <a:gd name="T15" fmla="*/ 51 h 297"/>
                <a:gd name="T16" fmla="*/ 129 w 622"/>
                <a:gd name="T17" fmla="*/ 58 h 297"/>
                <a:gd name="T18" fmla="*/ 134 w 622"/>
                <a:gd name="T19" fmla="*/ 63 h 297"/>
                <a:gd name="T20" fmla="*/ 155 w 622"/>
                <a:gd name="T21" fmla="*/ 55 h 297"/>
                <a:gd name="T22" fmla="*/ 177 w 622"/>
                <a:gd name="T23" fmla="*/ 49 h 297"/>
                <a:gd name="T24" fmla="*/ 194 w 622"/>
                <a:gd name="T25" fmla="*/ 38 h 297"/>
                <a:gd name="T26" fmla="*/ 210 w 622"/>
                <a:gd name="T27" fmla="*/ 30 h 297"/>
                <a:gd name="T28" fmla="*/ 202 w 622"/>
                <a:gd name="T29" fmla="*/ 25 h 297"/>
                <a:gd name="T30" fmla="*/ 192 w 622"/>
                <a:gd name="T31" fmla="*/ 19 h 297"/>
                <a:gd name="T32" fmla="*/ 175 w 622"/>
                <a:gd name="T33" fmla="*/ 11 h 297"/>
                <a:gd name="T34" fmla="*/ 168 w 622"/>
                <a:gd name="T35" fmla="*/ 6 h 297"/>
                <a:gd name="T36" fmla="*/ 162 w 622"/>
                <a:gd name="T37" fmla="*/ 0 h 297"/>
                <a:gd name="T38" fmla="*/ 116 w 622"/>
                <a:gd name="T39" fmla="*/ 14 h 297"/>
                <a:gd name="T40" fmla="*/ 75 w 622"/>
                <a:gd name="T41" fmla="*/ 27 h 297"/>
                <a:gd name="T42" fmla="*/ 47 w 622"/>
                <a:gd name="T43" fmla="*/ 44 h 297"/>
                <a:gd name="T44" fmla="*/ 19 w 622"/>
                <a:gd name="T45" fmla="*/ 57 h 297"/>
                <a:gd name="T46" fmla="*/ 0 w 622"/>
                <a:gd name="T47" fmla="*/ 72 h 297"/>
                <a:gd name="T48" fmla="*/ 15 w 622"/>
                <a:gd name="T49" fmla="*/ 79 h 297"/>
                <a:gd name="T50" fmla="*/ 43 w 622"/>
                <a:gd name="T51" fmla="*/ 90 h 297"/>
                <a:gd name="T52" fmla="*/ 76 w 622"/>
                <a:gd name="T53" fmla="*/ 101 h 2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22"/>
                <a:gd name="T82" fmla="*/ 0 h 297"/>
                <a:gd name="T83" fmla="*/ 622 w 622"/>
                <a:gd name="T84" fmla="*/ 297 h 29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22" h="297">
                  <a:moveTo>
                    <a:pt x="224" y="296"/>
                  </a:moveTo>
                  <a:lnTo>
                    <a:pt x="286" y="246"/>
                  </a:lnTo>
                  <a:lnTo>
                    <a:pt x="331" y="220"/>
                  </a:lnTo>
                  <a:lnTo>
                    <a:pt x="382" y="201"/>
                  </a:lnTo>
                  <a:lnTo>
                    <a:pt x="356" y="175"/>
                  </a:lnTo>
                  <a:lnTo>
                    <a:pt x="332" y="142"/>
                  </a:lnTo>
                  <a:lnTo>
                    <a:pt x="304" y="111"/>
                  </a:lnTo>
                  <a:lnTo>
                    <a:pt x="350" y="150"/>
                  </a:lnTo>
                  <a:lnTo>
                    <a:pt x="381" y="172"/>
                  </a:lnTo>
                  <a:lnTo>
                    <a:pt x="396" y="184"/>
                  </a:lnTo>
                  <a:lnTo>
                    <a:pt x="459" y="162"/>
                  </a:lnTo>
                  <a:lnTo>
                    <a:pt x="523" y="143"/>
                  </a:lnTo>
                  <a:lnTo>
                    <a:pt x="574" y="111"/>
                  </a:lnTo>
                  <a:lnTo>
                    <a:pt x="621" y="87"/>
                  </a:lnTo>
                  <a:lnTo>
                    <a:pt x="597" y="74"/>
                  </a:lnTo>
                  <a:lnTo>
                    <a:pt x="569" y="55"/>
                  </a:lnTo>
                  <a:lnTo>
                    <a:pt x="518" y="31"/>
                  </a:lnTo>
                  <a:lnTo>
                    <a:pt x="497" y="19"/>
                  </a:lnTo>
                  <a:lnTo>
                    <a:pt x="481" y="0"/>
                  </a:lnTo>
                  <a:lnTo>
                    <a:pt x="344" y="41"/>
                  </a:lnTo>
                  <a:lnTo>
                    <a:pt x="222" y="79"/>
                  </a:lnTo>
                  <a:lnTo>
                    <a:pt x="139" y="130"/>
                  </a:lnTo>
                  <a:lnTo>
                    <a:pt x="56" y="169"/>
                  </a:lnTo>
                  <a:lnTo>
                    <a:pt x="0" y="213"/>
                  </a:lnTo>
                  <a:lnTo>
                    <a:pt x="43" y="233"/>
                  </a:lnTo>
                  <a:lnTo>
                    <a:pt x="128" y="264"/>
                  </a:lnTo>
                  <a:lnTo>
                    <a:pt x="224" y="296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38" descr="5%"/>
            <p:cNvSpPr>
              <a:spLocks/>
            </p:cNvSpPr>
            <p:nvPr/>
          </p:nvSpPr>
          <p:spPr bwMode="auto">
            <a:xfrm>
              <a:off x="853" y="838"/>
              <a:ext cx="300" cy="143"/>
            </a:xfrm>
            <a:custGeom>
              <a:avLst/>
              <a:gdLst>
                <a:gd name="T0" fmla="*/ 0 w 885"/>
                <a:gd name="T1" fmla="*/ 58 h 421"/>
                <a:gd name="T2" fmla="*/ 33 w 885"/>
                <a:gd name="T3" fmla="*/ 73 h 421"/>
                <a:gd name="T4" fmla="*/ 67 w 885"/>
                <a:gd name="T5" fmla="*/ 86 h 421"/>
                <a:gd name="T6" fmla="*/ 91 w 885"/>
                <a:gd name="T7" fmla="*/ 97 h 421"/>
                <a:gd name="T8" fmla="*/ 122 w 885"/>
                <a:gd name="T9" fmla="*/ 117 h 421"/>
                <a:gd name="T10" fmla="*/ 150 w 885"/>
                <a:gd name="T11" fmla="*/ 127 h 421"/>
                <a:gd name="T12" fmla="*/ 165 w 885"/>
                <a:gd name="T13" fmla="*/ 143 h 421"/>
                <a:gd name="T14" fmla="*/ 187 w 885"/>
                <a:gd name="T15" fmla="*/ 127 h 421"/>
                <a:gd name="T16" fmla="*/ 234 w 885"/>
                <a:gd name="T17" fmla="*/ 114 h 421"/>
                <a:gd name="T18" fmla="*/ 265 w 885"/>
                <a:gd name="T19" fmla="*/ 101 h 421"/>
                <a:gd name="T20" fmla="*/ 291 w 885"/>
                <a:gd name="T21" fmla="*/ 92 h 421"/>
                <a:gd name="T22" fmla="*/ 300 w 885"/>
                <a:gd name="T23" fmla="*/ 86 h 421"/>
                <a:gd name="T24" fmla="*/ 282 w 885"/>
                <a:gd name="T25" fmla="*/ 68 h 421"/>
                <a:gd name="T26" fmla="*/ 247 w 885"/>
                <a:gd name="T27" fmla="*/ 62 h 421"/>
                <a:gd name="T28" fmla="*/ 228 w 885"/>
                <a:gd name="T29" fmla="*/ 49 h 421"/>
                <a:gd name="T30" fmla="*/ 208 w 885"/>
                <a:gd name="T31" fmla="*/ 36 h 421"/>
                <a:gd name="T32" fmla="*/ 177 w 885"/>
                <a:gd name="T33" fmla="*/ 19 h 421"/>
                <a:gd name="T34" fmla="*/ 149 w 885"/>
                <a:gd name="T35" fmla="*/ 8 h 421"/>
                <a:gd name="T36" fmla="*/ 134 w 885"/>
                <a:gd name="T37" fmla="*/ 0 h 421"/>
                <a:gd name="T38" fmla="*/ 106 w 885"/>
                <a:gd name="T39" fmla="*/ 12 h 421"/>
                <a:gd name="T40" fmla="*/ 87 w 885"/>
                <a:gd name="T41" fmla="*/ 27 h 421"/>
                <a:gd name="T42" fmla="*/ 48 w 885"/>
                <a:gd name="T43" fmla="*/ 40 h 421"/>
                <a:gd name="T44" fmla="*/ 0 w 885"/>
                <a:gd name="T45" fmla="*/ 58 h 42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85"/>
                <a:gd name="T70" fmla="*/ 0 h 421"/>
                <a:gd name="T71" fmla="*/ 885 w 885"/>
                <a:gd name="T72" fmla="*/ 421 h 421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85" h="421">
                  <a:moveTo>
                    <a:pt x="0" y="170"/>
                  </a:moveTo>
                  <a:lnTo>
                    <a:pt x="96" y="215"/>
                  </a:lnTo>
                  <a:lnTo>
                    <a:pt x="199" y="253"/>
                  </a:lnTo>
                  <a:lnTo>
                    <a:pt x="269" y="285"/>
                  </a:lnTo>
                  <a:lnTo>
                    <a:pt x="359" y="343"/>
                  </a:lnTo>
                  <a:lnTo>
                    <a:pt x="442" y="375"/>
                  </a:lnTo>
                  <a:lnTo>
                    <a:pt x="487" y="420"/>
                  </a:lnTo>
                  <a:lnTo>
                    <a:pt x="551" y="375"/>
                  </a:lnTo>
                  <a:lnTo>
                    <a:pt x="691" y="336"/>
                  </a:lnTo>
                  <a:lnTo>
                    <a:pt x="781" y="298"/>
                  </a:lnTo>
                  <a:lnTo>
                    <a:pt x="858" y="272"/>
                  </a:lnTo>
                  <a:lnTo>
                    <a:pt x="884" y="253"/>
                  </a:lnTo>
                  <a:lnTo>
                    <a:pt x="831" y="200"/>
                  </a:lnTo>
                  <a:lnTo>
                    <a:pt x="730" y="183"/>
                  </a:lnTo>
                  <a:lnTo>
                    <a:pt x="672" y="144"/>
                  </a:lnTo>
                  <a:lnTo>
                    <a:pt x="615" y="106"/>
                  </a:lnTo>
                  <a:lnTo>
                    <a:pt x="522" y="57"/>
                  </a:lnTo>
                  <a:lnTo>
                    <a:pt x="440" y="25"/>
                  </a:lnTo>
                  <a:lnTo>
                    <a:pt x="396" y="0"/>
                  </a:lnTo>
                  <a:lnTo>
                    <a:pt x="314" y="36"/>
                  </a:lnTo>
                  <a:lnTo>
                    <a:pt x="256" y="80"/>
                  </a:lnTo>
                  <a:lnTo>
                    <a:pt x="141" y="119"/>
                  </a:lnTo>
                  <a:lnTo>
                    <a:pt x="0" y="170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39" descr="5%"/>
            <p:cNvSpPr>
              <a:spLocks/>
            </p:cNvSpPr>
            <p:nvPr/>
          </p:nvSpPr>
          <p:spPr bwMode="auto">
            <a:xfrm>
              <a:off x="999" y="778"/>
              <a:ext cx="278" cy="143"/>
            </a:xfrm>
            <a:custGeom>
              <a:avLst/>
              <a:gdLst>
                <a:gd name="T0" fmla="*/ 278 w 820"/>
                <a:gd name="T1" fmla="*/ 93 h 424"/>
                <a:gd name="T2" fmla="*/ 271 w 820"/>
                <a:gd name="T3" fmla="*/ 74 h 424"/>
                <a:gd name="T4" fmla="*/ 260 w 820"/>
                <a:gd name="T5" fmla="*/ 65 h 424"/>
                <a:gd name="T6" fmla="*/ 243 w 820"/>
                <a:gd name="T7" fmla="*/ 58 h 424"/>
                <a:gd name="T8" fmla="*/ 230 w 820"/>
                <a:gd name="T9" fmla="*/ 54 h 424"/>
                <a:gd name="T10" fmla="*/ 207 w 820"/>
                <a:gd name="T11" fmla="*/ 41 h 424"/>
                <a:gd name="T12" fmla="*/ 183 w 820"/>
                <a:gd name="T13" fmla="*/ 32 h 424"/>
                <a:gd name="T14" fmla="*/ 143 w 820"/>
                <a:gd name="T15" fmla="*/ 15 h 424"/>
                <a:gd name="T16" fmla="*/ 135 w 820"/>
                <a:gd name="T17" fmla="*/ 7 h 424"/>
                <a:gd name="T18" fmla="*/ 121 w 820"/>
                <a:gd name="T19" fmla="*/ 0 h 424"/>
                <a:gd name="T20" fmla="*/ 93 w 820"/>
                <a:gd name="T21" fmla="*/ 9 h 424"/>
                <a:gd name="T22" fmla="*/ 61 w 820"/>
                <a:gd name="T23" fmla="*/ 24 h 424"/>
                <a:gd name="T24" fmla="*/ 33 w 820"/>
                <a:gd name="T25" fmla="*/ 37 h 424"/>
                <a:gd name="T26" fmla="*/ 11 w 820"/>
                <a:gd name="T27" fmla="*/ 48 h 424"/>
                <a:gd name="T28" fmla="*/ 0 w 820"/>
                <a:gd name="T29" fmla="*/ 51 h 424"/>
                <a:gd name="T30" fmla="*/ 15 w 820"/>
                <a:gd name="T31" fmla="*/ 63 h 424"/>
                <a:gd name="T32" fmla="*/ 33 w 820"/>
                <a:gd name="T33" fmla="*/ 73 h 424"/>
                <a:gd name="T34" fmla="*/ 59 w 820"/>
                <a:gd name="T35" fmla="*/ 82 h 424"/>
                <a:gd name="T36" fmla="*/ 74 w 820"/>
                <a:gd name="T37" fmla="*/ 93 h 424"/>
                <a:gd name="T38" fmla="*/ 89 w 820"/>
                <a:gd name="T39" fmla="*/ 95 h 424"/>
                <a:gd name="T40" fmla="*/ 101 w 820"/>
                <a:gd name="T41" fmla="*/ 110 h 424"/>
                <a:gd name="T42" fmla="*/ 126 w 820"/>
                <a:gd name="T43" fmla="*/ 115 h 424"/>
                <a:gd name="T44" fmla="*/ 147 w 820"/>
                <a:gd name="T45" fmla="*/ 121 h 424"/>
                <a:gd name="T46" fmla="*/ 161 w 820"/>
                <a:gd name="T47" fmla="*/ 132 h 424"/>
                <a:gd name="T48" fmla="*/ 169 w 820"/>
                <a:gd name="T49" fmla="*/ 143 h 424"/>
                <a:gd name="T50" fmla="*/ 189 w 820"/>
                <a:gd name="T51" fmla="*/ 130 h 424"/>
                <a:gd name="T52" fmla="*/ 217 w 820"/>
                <a:gd name="T53" fmla="*/ 119 h 424"/>
                <a:gd name="T54" fmla="*/ 230 w 820"/>
                <a:gd name="T55" fmla="*/ 115 h 424"/>
                <a:gd name="T56" fmla="*/ 239 w 820"/>
                <a:gd name="T57" fmla="*/ 104 h 424"/>
                <a:gd name="T58" fmla="*/ 247 w 820"/>
                <a:gd name="T59" fmla="*/ 102 h 424"/>
                <a:gd name="T60" fmla="*/ 278 w 820"/>
                <a:gd name="T61" fmla="*/ 93 h 42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20"/>
                <a:gd name="T94" fmla="*/ 0 h 424"/>
                <a:gd name="T95" fmla="*/ 820 w 820"/>
                <a:gd name="T96" fmla="*/ 424 h 42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20" h="424">
                  <a:moveTo>
                    <a:pt x="819" y="276"/>
                  </a:moveTo>
                  <a:lnTo>
                    <a:pt x="800" y="218"/>
                  </a:lnTo>
                  <a:lnTo>
                    <a:pt x="768" y="192"/>
                  </a:lnTo>
                  <a:lnTo>
                    <a:pt x="717" y="173"/>
                  </a:lnTo>
                  <a:lnTo>
                    <a:pt x="678" y="160"/>
                  </a:lnTo>
                  <a:lnTo>
                    <a:pt x="612" y="123"/>
                  </a:lnTo>
                  <a:lnTo>
                    <a:pt x="540" y="96"/>
                  </a:lnTo>
                  <a:lnTo>
                    <a:pt x="422" y="45"/>
                  </a:lnTo>
                  <a:lnTo>
                    <a:pt x="397" y="20"/>
                  </a:lnTo>
                  <a:lnTo>
                    <a:pt x="358" y="0"/>
                  </a:lnTo>
                  <a:lnTo>
                    <a:pt x="275" y="26"/>
                  </a:lnTo>
                  <a:lnTo>
                    <a:pt x="179" y="71"/>
                  </a:lnTo>
                  <a:lnTo>
                    <a:pt x="96" y="109"/>
                  </a:lnTo>
                  <a:lnTo>
                    <a:pt x="32" y="141"/>
                  </a:lnTo>
                  <a:lnTo>
                    <a:pt x="0" y="152"/>
                  </a:lnTo>
                  <a:lnTo>
                    <a:pt x="45" y="186"/>
                  </a:lnTo>
                  <a:lnTo>
                    <a:pt x="98" y="217"/>
                  </a:lnTo>
                  <a:lnTo>
                    <a:pt x="173" y="244"/>
                  </a:lnTo>
                  <a:lnTo>
                    <a:pt x="218" y="276"/>
                  </a:lnTo>
                  <a:lnTo>
                    <a:pt x="262" y="282"/>
                  </a:lnTo>
                  <a:lnTo>
                    <a:pt x="298" y="326"/>
                  </a:lnTo>
                  <a:lnTo>
                    <a:pt x="371" y="340"/>
                  </a:lnTo>
                  <a:lnTo>
                    <a:pt x="435" y="359"/>
                  </a:lnTo>
                  <a:lnTo>
                    <a:pt x="475" y="392"/>
                  </a:lnTo>
                  <a:lnTo>
                    <a:pt x="499" y="423"/>
                  </a:lnTo>
                  <a:lnTo>
                    <a:pt x="557" y="384"/>
                  </a:lnTo>
                  <a:lnTo>
                    <a:pt x="640" y="352"/>
                  </a:lnTo>
                  <a:lnTo>
                    <a:pt x="678" y="340"/>
                  </a:lnTo>
                  <a:lnTo>
                    <a:pt x="704" y="308"/>
                  </a:lnTo>
                  <a:lnTo>
                    <a:pt x="730" y="301"/>
                  </a:lnTo>
                  <a:lnTo>
                    <a:pt x="819" y="276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40" descr="5%"/>
            <p:cNvSpPr>
              <a:spLocks/>
            </p:cNvSpPr>
            <p:nvPr/>
          </p:nvSpPr>
          <p:spPr bwMode="auto">
            <a:xfrm>
              <a:off x="1129" y="707"/>
              <a:ext cx="428" cy="180"/>
            </a:xfrm>
            <a:custGeom>
              <a:avLst/>
              <a:gdLst>
                <a:gd name="T0" fmla="*/ 0 w 1264"/>
                <a:gd name="T1" fmla="*/ 71 h 529"/>
                <a:gd name="T2" fmla="*/ 22 w 1264"/>
                <a:gd name="T3" fmla="*/ 62 h 529"/>
                <a:gd name="T4" fmla="*/ 45 w 1264"/>
                <a:gd name="T5" fmla="*/ 53 h 529"/>
                <a:gd name="T6" fmla="*/ 67 w 1264"/>
                <a:gd name="T7" fmla="*/ 36 h 529"/>
                <a:gd name="T8" fmla="*/ 89 w 1264"/>
                <a:gd name="T9" fmla="*/ 27 h 529"/>
                <a:gd name="T10" fmla="*/ 120 w 1264"/>
                <a:gd name="T11" fmla="*/ 17 h 529"/>
                <a:gd name="T12" fmla="*/ 147 w 1264"/>
                <a:gd name="T13" fmla="*/ 5 h 529"/>
                <a:gd name="T14" fmla="*/ 162 w 1264"/>
                <a:gd name="T15" fmla="*/ 0 h 529"/>
                <a:gd name="T16" fmla="*/ 186 w 1264"/>
                <a:gd name="T17" fmla="*/ 12 h 529"/>
                <a:gd name="T18" fmla="*/ 208 w 1264"/>
                <a:gd name="T19" fmla="*/ 21 h 529"/>
                <a:gd name="T20" fmla="*/ 230 w 1264"/>
                <a:gd name="T21" fmla="*/ 27 h 529"/>
                <a:gd name="T22" fmla="*/ 273 w 1264"/>
                <a:gd name="T23" fmla="*/ 36 h 529"/>
                <a:gd name="T24" fmla="*/ 321 w 1264"/>
                <a:gd name="T25" fmla="*/ 58 h 529"/>
                <a:gd name="T26" fmla="*/ 362 w 1264"/>
                <a:gd name="T27" fmla="*/ 75 h 529"/>
                <a:gd name="T28" fmla="*/ 401 w 1264"/>
                <a:gd name="T29" fmla="*/ 86 h 529"/>
                <a:gd name="T30" fmla="*/ 428 w 1264"/>
                <a:gd name="T31" fmla="*/ 93 h 529"/>
                <a:gd name="T32" fmla="*/ 410 w 1264"/>
                <a:gd name="T33" fmla="*/ 101 h 529"/>
                <a:gd name="T34" fmla="*/ 377 w 1264"/>
                <a:gd name="T35" fmla="*/ 117 h 529"/>
                <a:gd name="T36" fmla="*/ 342 w 1264"/>
                <a:gd name="T37" fmla="*/ 132 h 529"/>
                <a:gd name="T38" fmla="*/ 319 w 1264"/>
                <a:gd name="T39" fmla="*/ 147 h 529"/>
                <a:gd name="T40" fmla="*/ 312 w 1264"/>
                <a:gd name="T41" fmla="*/ 147 h 529"/>
                <a:gd name="T42" fmla="*/ 305 w 1264"/>
                <a:gd name="T43" fmla="*/ 147 h 529"/>
                <a:gd name="T44" fmla="*/ 295 w 1264"/>
                <a:gd name="T45" fmla="*/ 147 h 529"/>
                <a:gd name="T46" fmla="*/ 273 w 1264"/>
                <a:gd name="T47" fmla="*/ 162 h 529"/>
                <a:gd name="T48" fmla="*/ 236 w 1264"/>
                <a:gd name="T49" fmla="*/ 178 h 529"/>
                <a:gd name="T50" fmla="*/ 215 w 1264"/>
                <a:gd name="T51" fmla="*/ 180 h 529"/>
                <a:gd name="T52" fmla="*/ 193 w 1264"/>
                <a:gd name="T53" fmla="*/ 171 h 529"/>
                <a:gd name="T54" fmla="*/ 182 w 1264"/>
                <a:gd name="T55" fmla="*/ 160 h 529"/>
                <a:gd name="T56" fmla="*/ 160 w 1264"/>
                <a:gd name="T57" fmla="*/ 154 h 529"/>
                <a:gd name="T58" fmla="*/ 139 w 1264"/>
                <a:gd name="T59" fmla="*/ 136 h 529"/>
                <a:gd name="T60" fmla="*/ 119 w 1264"/>
                <a:gd name="T61" fmla="*/ 123 h 529"/>
                <a:gd name="T62" fmla="*/ 98 w 1264"/>
                <a:gd name="T63" fmla="*/ 117 h 529"/>
                <a:gd name="T64" fmla="*/ 85 w 1264"/>
                <a:gd name="T65" fmla="*/ 112 h 529"/>
                <a:gd name="T66" fmla="*/ 68 w 1264"/>
                <a:gd name="T67" fmla="*/ 103 h 529"/>
                <a:gd name="T68" fmla="*/ 51 w 1264"/>
                <a:gd name="T69" fmla="*/ 98 h 529"/>
                <a:gd name="T70" fmla="*/ 31 w 1264"/>
                <a:gd name="T71" fmla="*/ 91 h 529"/>
                <a:gd name="T72" fmla="*/ 0 w 1264"/>
                <a:gd name="T73" fmla="*/ 71 h 52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264"/>
                <a:gd name="T112" fmla="*/ 0 h 529"/>
                <a:gd name="T113" fmla="*/ 1264 w 1264"/>
                <a:gd name="T114" fmla="*/ 529 h 52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264" h="529">
                  <a:moveTo>
                    <a:pt x="0" y="208"/>
                  </a:moveTo>
                  <a:lnTo>
                    <a:pt x="64" y="183"/>
                  </a:lnTo>
                  <a:lnTo>
                    <a:pt x="134" y="157"/>
                  </a:lnTo>
                  <a:lnTo>
                    <a:pt x="198" y="106"/>
                  </a:lnTo>
                  <a:lnTo>
                    <a:pt x="262" y="80"/>
                  </a:lnTo>
                  <a:lnTo>
                    <a:pt x="353" y="50"/>
                  </a:lnTo>
                  <a:lnTo>
                    <a:pt x="435" y="16"/>
                  </a:lnTo>
                  <a:lnTo>
                    <a:pt x="477" y="0"/>
                  </a:lnTo>
                  <a:lnTo>
                    <a:pt x="550" y="36"/>
                  </a:lnTo>
                  <a:lnTo>
                    <a:pt x="614" y="61"/>
                  </a:lnTo>
                  <a:lnTo>
                    <a:pt x="678" y="80"/>
                  </a:lnTo>
                  <a:lnTo>
                    <a:pt x="806" y="106"/>
                  </a:lnTo>
                  <a:lnTo>
                    <a:pt x="947" y="170"/>
                  </a:lnTo>
                  <a:lnTo>
                    <a:pt x="1069" y="221"/>
                  </a:lnTo>
                  <a:lnTo>
                    <a:pt x="1184" y="253"/>
                  </a:lnTo>
                  <a:lnTo>
                    <a:pt x="1263" y="272"/>
                  </a:lnTo>
                  <a:lnTo>
                    <a:pt x="1210" y="298"/>
                  </a:lnTo>
                  <a:lnTo>
                    <a:pt x="1114" y="343"/>
                  </a:lnTo>
                  <a:lnTo>
                    <a:pt x="1011" y="388"/>
                  </a:lnTo>
                  <a:lnTo>
                    <a:pt x="941" y="432"/>
                  </a:lnTo>
                  <a:lnTo>
                    <a:pt x="922" y="432"/>
                  </a:lnTo>
                  <a:lnTo>
                    <a:pt x="902" y="432"/>
                  </a:lnTo>
                  <a:lnTo>
                    <a:pt x="870" y="432"/>
                  </a:lnTo>
                  <a:lnTo>
                    <a:pt x="806" y="477"/>
                  </a:lnTo>
                  <a:lnTo>
                    <a:pt x="698" y="522"/>
                  </a:lnTo>
                  <a:lnTo>
                    <a:pt x="634" y="528"/>
                  </a:lnTo>
                  <a:lnTo>
                    <a:pt x="570" y="503"/>
                  </a:lnTo>
                  <a:lnTo>
                    <a:pt x="538" y="471"/>
                  </a:lnTo>
                  <a:lnTo>
                    <a:pt x="474" y="452"/>
                  </a:lnTo>
                  <a:lnTo>
                    <a:pt x="410" y="400"/>
                  </a:lnTo>
                  <a:lnTo>
                    <a:pt x="352" y="362"/>
                  </a:lnTo>
                  <a:lnTo>
                    <a:pt x="288" y="343"/>
                  </a:lnTo>
                  <a:lnTo>
                    <a:pt x="250" y="330"/>
                  </a:lnTo>
                  <a:lnTo>
                    <a:pt x="202" y="304"/>
                  </a:lnTo>
                  <a:lnTo>
                    <a:pt x="151" y="288"/>
                  </a:lnTo>
                  <a:lnTo>
                    <a:pt x="91" y="268"/>
                  </a:lnTo>
                  <a:lnTo>
                    <a:pt x="0" y="208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41" descr="5%"/>
            <p:cNvSpPr>
              <a:spLocks/>
            </p:cNvSpPr>
            <p:nvPr/>
          </p:nvSpPr>
          <p:spPr bwMode="auto">
            <a:xfrm>
              <a:off x="873" y="1131"/>
              <a:ext cx="187" cy="90"/>
            </a:xfrm>
            <a:custGeom>
              <a:avLst/>
              <a:gdLst>
                <a:gd name="T0" fmla="*/ 0 w 551"/>
                <a:gd name="T1" fmla="*/ 34 h 267"/>
                <a:gd name="T2" fmla="*/ 30 w 551"/>
                <a:gd name="T3" fmla="*/ 21 h 267"/>
                <a:gd name="T4" fmla="*/ 50 w 551"/>
                <a:gd name="T5" fmla="*/ 5 h 267"/>
                <a:gd name="T6" fmla="*/ 67 w 551"/>
                <a:gd name="T7" fmla="*/ 0 h 267"/>
                <a:gd name="T8" fmla="*/ 83 w 551"/>
                <a:gd name="T9" fmla="*/ 11 h 267"/>
                <a:gd name="T10" fmla="*/ 103 w 551"/>
                <a:gd name="T11" fmla="*/ 21 h 267"/>
                <a:gd name="T12" fmla="*/ 133 w 551"/>
                <a:gd name="T13" fmla="*/ 33 h 267"/>
                <a:gd name="T14" fmla="*/ 171 w 551"/>
                <a:gd name="T15" fmla="*/ 51 h 267"/>
                <a:gd name="T16" fmla="*/ 187 w 551"/>
                <a:gd name="T17" fmla="*/ 61 h 267"/>
                <a:gd name="T18" fmla="*/ 154 w 551"/>
                <a:gd name="T19" fmla="*/ 74 h 267"/>
                <a:gd name="T20" fmla="*/ 128 w 551"/>
                <a:gd name="T21" fmla="*/ 85 h 267"/>
                <a:gd name="T22" fmla="*/ 121 w 551"/>
                <a:gd name="T23" fmla="*/ 90 h 267"/>
                <a:gd name="T24" fmla="*/ 104 w 551"/>
                <a:gd name="T25" fmla="*/ 83 h 267"/>
                <a:gd name="T26" fmla="*/ 59 w 551"/>
                <a:gd name="T27" fmla="*/ 66 h 267"/>
                <a:gd name="T28" fmla="*/ 39 w 551"/>
                <a:gd name="T29" fmla="*/ 55 h 267"/>
                <a:gd name="T30" fmla="*/ 0 w 551"/>
                <a:gd name="T31" fmla="*/ 34 h 2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51"/>
                <a:gd name="T49" fmla="*/ 0 h 267"/>
                <a:gd name="T50" fmla="*/ 551 w 551"/>
                <a:gd name="T51" fmla="*/ 267 h 26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51" h="267">
                  <a:moveTo>
                    <a:pt x="0" y="100"/>
                  </a:moveTo>
                  <a:lnTo>
                    <a:pt x="89" y="61"/>
                  </a:lnTo>
                  <a:lnTo>
                    <a:pt x="147" y="16"/>
                  </a:lnTo>
                  <a:lnTo>
                    <a:pt x="198" y="0"/>
                  </a:lnTo>
                  <a:lnTo>
                    <a:pt x="246" y="32"/>
                  </a:lnTo>
                  <a:lnTo>
                    <a:pt x="304" y="62"/>
                  </a:lnTo>
                  <a:lnTo>
                    <a:pt x="392" y="99"/>
                  </a:lnTo>
                  <a:lnTo>
                    <a:pt x="504" y="150"/>
                  </a:lnTo>
                  <a:lnTo>
                    <a:pt x="550" y="181"/>
                  </a:lnTo>
                  <a:lnTo>
                    <a:pt x="454" y="221"/>
                  </a:lnTo>
                  <a:lnTo>
                    <a:pt x="377" y="253"/>
                  </a:lnTo>
                  <a:lnTo>
                    <a:pt x="358" y="266"/>
                  </a:lnTo>
                  <a:lnTo>
                    <a:pt x="307" y="247"/>
                  </a:lnTo>
                  <a:lnTo>
                    <a:pt x="173" y="196"/>
                  </a:lnTo>
                  <a:lnTo>
                    <a:pt x="115" y="164"/>
                  </a:lnTo>
                  <a:lnTo>
                    <a:pt x="0" y="100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42" descr="5%"/>
            <p:cNvSpPr>
              <a:spLocks/>
            </p:cNvSpPr>
            <p:nvPr/>
          </p:nvSpPr>
          <p:spPr bwMode="auto">
            <a:xfrm>
              <a:off x="944" y="1105"/>
              <a:ext cx="176" cy="80"/>
            </a:xfrm>
            <a:custGeom>
              <a:avLst/>
              <a:gdLst>
                <a:gd name="T0" fmla="*/ 120 w 520"/>
                <a:gd name="T1" fmla="*/ 80 h 236"/>
                <a:gd name="T2" fmla="*/ 146 w 520"/>
                <a:gd name="T3" fmla="*/ 61 h 236"/>
                <a:gd name="T4" fmla="*/ 176 w 520"/>
                <a:gd name="T5" fmla="*/ 53 h 236"/>
                <a:gd name="T6" fmla="*/ 163 w 520"/>
                <a:gd name="T7" fmla="*/ 47 h 236"/>
                <a:gd name="T8" fmla="*/ 137 w 520"/>
                <a:gd name="T9" fmla="*/ 48 h 236"/>
                <a:gd name="T10" fmla="*/ 118 w 520"/>
                <a:gd name="T11" fmla="*/ 42 h 236"/>
                <a:gd name="T12" fmla="*/ 100 w 520"/>
                <a:gd name="T13" fmla="*/ 29 h 236"/>
                <a:gd name="T14" fmla="*/ 74 w 520"/>
                <a:gd name="T15" fmla="*/ 18 h 236"/>
                <a:gd name="T16" fmla="*/ 48 w 520"/>
                <a:gd name="T17" fmla="*/ 9 h 236"/>
                <a:gd name="T18" fmla="*/ 37 w 520"/>
                <a:gd name="T19" fmla="*/ 0 h 236"/>
                <a:gd name="T20" fmla="*/ 27 w 520"/>
                <a:gd name="T21" fmla="*/ 5 h 236"/>
                <a:gd name="T22" fmla="*/ 9 w 520"/>
                <a:gd name="T23" fmla="*/ 17 h 236"/>
                <a:gd name="T24" fmla="*/ 0 w 520"/>
                <a:gd name="T25" fmla="*/ 21 h 236"/>
                <a:gd name="T26" fmla="*/ 27 w 520"/>
                <a:gd name="T27" fmla="*/ 38 h 236"/>
                <a:gd name="T28" fmla="*/ 40 w 520"/>
                <a:gd name="T29" fmla="*/ 46 h 236"/>
                <a:gd name="T30" fmla="*/ 57 w 520"/>
                <a:gd name="T31" fmla="*/ 60 h 236"/>
                <a:gd name="T32" fmla="*/ 82 w 520"/>
                <a:gd name="T33" fmla="*/ 63 h 236"/>
                <a:gd name="T34" fmla="*/ 101 w 520"/>
                <a:gd name="T35" fmla="*/ 73 h 236"/>
                <a:gd name="T36" fmla="*/ 120 w 520"/>
                <a:gd name="T37" fmla="*/ 80 h 2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20"/>
                <a:gd name="T58" fmla="*/ 0 h 236"/>
                <a:gd name="T59" fmla="*/ 520 w 520"/>
                <a:gd name="T60" fmla="*/ 236 h 2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20" h="236">
                  <a:moveTo>
                    <a:pt x="354" y="235"/>
                  </a:moveTo>
                  <a:lnTo>
                    <a:pt x="431" y="181"/>
                  </a:lnTo>
                  <a:lnTo>
                    <a:pt x="519" y="156"/>
                  </a:lnTo>
                  <a:lnTo>
                    <a:pt x="482" y="140"/>
                  </a:lnTo>
                  <a:lnTo>
                    <a:pt x="405" y="143"/>
                  </a:lnTo>
                  <a:lnTo>
                    <a:pt x="348" y="123"/>
                  </a:lnTo>
                  <a:lnTo>
                    <a:pt x="296" y="85"/>
                  </a:lnTo>
                  <a:lnTo>
                    <a:pt x="220" y="53"/>
                  </a:lnTo>
                  <a:lnTo>
                    <a:pt x="143" y="27"/>
                  </a:lnTo>
                  <a:lnTo>
                    <a:pt x="108" y="0"/>
                  </a:lnTo>
                  <a:lnTo>
                    <a:pt x="79" y="15"/>
                  </a:lnTo>
                  <a:lnTo>
                    <a:pt x="26" y="50"/>
                  </a:lnTo>
                  <a:lnTo>
                    <a:pt x="0" y="61"/>
                  </a:lnTo>
                  <a:lnTo>
                    <a:pt x="79" y="111"/>
                  </a:lnTo>
                  <a:lnTo>
                    <a:pt x="117" y="136"/>
                  </a:lnTo>
                  <a:lnTo>
                    <a:pt x="167" y="176"/>
                  </a:lnTo>
                  <a:lnTo>
                    <a:pt x="241" y="185"/>
                  </a:lnTo>
                  <a:lnTo>
                    <a:pt x="297" y="214"/>
                  </a:lnTo>
                  <a:lnTo>
                    <a:pt x="354" y="235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43" descr="5%"/>
            <p:cNvSpPr>
              <a:spLocks/>
            </p:cNvSpPr>
            <p:nvPr/>
          </p:nvSpPr>
          <p:spPr bwMode="auto">
            <a:xfrm>
              <a:off x="1127" y="1093"/>
              <a:ext cx="204" cy="91"/>
            </a:xfrm>
            <a:custGeom>
              <a:avLst/>
              <a:gdLst>
                <a:gd name="T0" fmla="*/ 0 w 601"/>
                <a:gd name="T1" fmla="*/ 62 h 270"/>
                <a:gd name="T2" fmla="*/ 36 w 601"/>
                <a:gd name="T3" fmla="*/ 48 h 270"/>
                <a:gd name="T4" fmla="*/ 58 w 601"/>
                <a:gd name="T5" fmla="*/ 39 h 270"/>
                <a:gd name="T6" fmla="*/ 78 w 601"/>
                <a:gd name="T7" fmla="*/ 32 h 270"/>
                <a:gd name="T8" fmla="*/ 89 w 601"/>
                <a:gd name="T9" fmla="*/ 22 h 270"/>
                <a:gd name="T10" fmla="*/ 101 w 601"/>
                <a:gd name="T11" fmla="*/ 11 h 270"/>
                <a:gd name="T12" fmla="*/ 123 w 601"/>
                <a:gd name="T13" fmla="*/ 7 h 270"/>
                <a:gd name="T14" fmla="*/ 138 w 601"/>
                <a:gd name="T15" fmla="*/ 0 h 270"/>
                <a:gd name="T16" fmla="*/ 163 w 601"/>
                <a:gd name="T17" fmla="*/ 11 h 270"/>
                <a:gd name="T18" fmla="*/ 186 w 601"/>
                <a:gd name="T19" fmla="*/ 24 h 270"/>
                <a:gd name="T20" fmla="*/ 204 w 601"/>
                <a:gd name="T21" fmla="*/ 32 h 270"/>
                <a:gd name="T22" fmla="*/ 182 w 601"/>
                <a:gd name="T23" fmla="*/ 46 h 270"/>
                <a:gd name="T24" fmla="*/ 156 w 601"/>
                <a:gd name="T25" fmla="*/ 56 h 270"/>
                <a:gd name="T26" fmla="*/ 119 w 601"/>
                <a:gd name="T27" fmla="*/ 69 h 270"/>
                <a:gd name="T28" fmla="*/ 93 w 601"/>
                <a:gd name="T29" fmla="*/ 82 h 270"/>
                <a:gd name="T30" fmla="*/ 89 w 601"/>
                <a:gd name="T31" fmla="*/ 91 h 270"/>
                <a:gd name="T32" fmla="*/ 64 w 601"/>
                <a:gd name="T33" fmla="*/ 84 h 270"/>
                <a:gd name="T34" fmla="*/ 31 w 601"/>
                <a:gd name="T35" fmla="*/ 70 h 270"/>
                <a:gd name="T36" fmla="*/ 0 w 601"/>
                <a:gd name="T37" fmla="*/ 62 h 27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1"/>
                <a:gd name="T58" fmla="*/ 0 h 270"/>
                <a:gd name="T59" fmla="*/ 601 w 601"/>
                <a:gd name="T60" fmla="*/ 270 h 27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1" h="270">
                  <a:moveTo>
                    <a:pt x="0" y="185"/>
                  </a:moveTo>
                  <a:lnTo>
                    <a:pt x="107" y="141"/>
                  </a:lnTo>
                  <a:lnTo>
                    <a:pt x="171" y="116"/>
                  </a:lnTo>
                  <a:lnTo>
                    <a:pt x="229" y="96"/>
                  </a:lnTo>
                  <a:lnTo>
                    <a:pt x="261" y="64"/>
                  </a:lnTo>
                  <a:lnTo>
                    <a:pt x="299" y="32"/>
                  </a:lnTo>
                  <a:lnTo>
                    <a:pt x="363" y="20"/>
                  </a:lnTo>
                  <a:lnTo>
                    <a:pt x="408" y="0"/>
                  </a:lnTo>
                  <a:lnTo>
                    <a:pt x="479" y="32"/>
                  </a:lnTo>
                  <a:lnTo>
                    <a:pt x="549" y="71"/>
                  </a:lnTo>
                  <a:lnTo>
                    <a:pt x="600" y="96"/>
                  </a:lnTo>
                  <a:lnTo>
                    <a:pt x="536" y="135"/>
                  </a:lnTo>
                  <a:lnTo>
                    <a:pt x="461" y="166"/>
                  </a:lnTo>
                  <a:lnTo>
                    <a:pt x="351" y="205"/>
                  </a:lnTo>
                  <a:lnTo>
                    <a:pt x="274" y="244"/>
                  </a:lnTo>
                  <a:lnTo>
                    <a:pt x="261" y="269"/>
                  </a:lnTo>
                  <a:lnTo>
                    <a:pt x="189" y="249"/>
                  </a:lnTo>
                  <a:lnTo>
                    <a:pt x="92" y="209"/>
                  </a:lnTo>
                  <a:lnTo>
                    <a:pt x="0" y="185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44" descr="5%"/>
            <p:cNvSpPr>
              <a:spLocks/>
            </p:cNvSpPr>
            <p:nvPr/>
          </p:nvSpPr>
          <p:spPr bwMode="auto">
            <a:xfrm>
              <a:off x="1274" y="1034"/>
              <a:ext cx="193" cy="85"/>
            </a:xfrm>
            <a:custGeom>
              <a:avLst/>
              <a:gdLst>
                <a:gd name="T0" fmla="*/ 0 w 570"/>
                <a:gd name="T1" fmla="*/ 50 h 250"/>
                <a:gd name="T2" fmla="*/ 26 w 570"/>
                <a:gd name="T3" fmla="*/ 35 h 250"/>
                <a:gd name="T4" fmla="*/ 54 w 570"/>
                <a:gd name="T5" fmla="*/ 28 h 250"/>
                <a:gd name="T6" fmla="*/ 80 w 570"/>
                <a:gd name="T7" fmla="*/ 19 h 250"/>
                <a:gd name="T8" fmla="*/ 93 w 570"/>
                <a:gd name="T9" fmla="*/ 11 h 250"/>
                <a:gd name="T10" fmla="*/ 108 w 570"/>
                <a:gd name="T11" fmla="*/ 0 h 250"/>
                <a:gd name="T12" fmla="*/ 130 w 570"/>
                <a:gd name="T13" fmla="*/ 11 h 250"/>
                <a:gd name="T14" fmla="*/ 163 w 570"/>
                <a:gd name="T15" fmla="*/ 15 h 250"/>
                <a:gd name="T16" fmla="*/ 193 w 570"/>
                <a:gd name="T17" fmla="*/ 24 h 250"/>
                <a:gd name="T18" fmla="*/ 186 w 570"/>
                <a:gd name="T19" fmla="*/ 30 h 250"/>
                <a:gd name="T20" fmla="*/ 163 w 570"/>
                <a:gd name="T21" fmla="*/ 44 h 250"/>
                <a:gd name="T22" fmla="*/ 132 w 570"/>
                <a:gd name="T23" fmla="*/ 54 h 250"/>
                <a:gd name="T24" fmla="*/ 102 w 570"/>
                <a:gd name="T25" fmla="*/ 63 h 250"/>
                <a:gd name="T26" fmla="*/ 73 w 570"/>
                <a:gd name="T27" fmla="*/ 76 h 250"/>
                <a:gd name="T28" fmla="*/ 63 w 570"/>
                <a:gd name="T29" fmla="*/ 85 h 250"/>
                <a:gd name="T30" fmla="*/ 52 w 570"/>
                <a:gd name="T31" fmla="*/ 69 h 250"/>
                <a:gd name="T32" fmla="*/ 43 w 570"/>
                <a:gd name="T33" fmla="*/ 65 h 250"/>
                <a:gd name="T34" fmla="*/ 19 w 570"/>
                <a:gd name="T35" fmla="*/ 58 h 250"/>
                <a:gd name="T36" fmla="*/ 0 w 570"/>
                <a:gd name="T37" fmla="*/ 50 h 2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70"/>
                <a:gd name="T58" fmla="*/ 0 h 250"/>
                <a:gd name="T59" fmla="*/ 570 w 570"/>
                <a:gd name="T60" fmla="*/ 250 h 2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70" h="250">
                  <a:moveTo>
                    <a:pt x="0" y="147"/>
                  </a:moveTo>
                  <a:lnTo>
                    <a:pt x="77" y="102"/>
                  </a:lnTo>
                  <a:lnTo>
                    <a:pt x="160" y="83"/>
                  </a:lnTo>
                  <a:lnTo>
                    <a:pt x="237" y="57"/>
                  </a:lnTo>
                  <a:lnTo>
                    <a:pt x="275" y="32"/>
                  </a:lnTo>
                  <a:lnTo>
                    <a:pt x="320" y="0"/>
                  </a:lnTo>
                  <a:lnTo>
                    <a:pt x="384" y="32"/>
                  </a:lnTo>
                  <a:lnTo>
                    <a:pt x="480" y="44"/>
                  </a:lnTo>
                  <a:lnTo>
                    <a:pt x="569" y="70"/>
                  </a:lnTo>
                  <a:lnTo>
                    <a:pt x="550" y="89"/>
                  </a:lnTo>
                  <a:lnTo>
                    <a:pt x="480" y="128"/>
                  </a:lnTo>
                  <a:lnTo>
                    <a:pt x="390" y="160"/>
                  </a:lnTo>
                  <a:lnTo>
                    <a:pt x="301" y="185"/>
                  </a:lnTo>
                  <a:lnTo>
                    <a:pt x="217" y="224"/>
                  </a:lnTo>
                  <a:lnTo>
                    <a:pt x="185" y="249"/>
                  </a:lnTo>
                  <a:lnTo>
                    <a:pt x="153" y="204"/>
                  </a:lnTo>
                  <a:lnTo>
                    <a:pt x="128" y="192"/>
                  </a:lnTo>
                  <a:lnTo>
                    <a:pt x="57" y="172"/>
                  </a:lnTo>
                  <a:lnTo>
                    <a:pt x="0" y="147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45" descr="5%"/>
            <p:cNvSpPr>
              <a:spLocks/>
            </p:cNvSpPr>
            <p:nvPr/>
          </p:nvSpPr>
          <p:spPr bwMode="auto">
            <a:xfrm>
              <a:off x="1444" y="963"/>
              <a:ext cx="161" cy="74"/>
            </a:xfrm>
            <a:custGeom>
              <a:avLst/>
              <a:gdLst>
                <a:gd name="T0" fmla="*/ 82 w 474"/>
                <a:gd name="T1" fmla="*/ 74 h 218"/>
                <a:gd name="T2" fmla="*/ 62 w 474"/>
                <a:gd name="T3" fmla="*/ 65 h 218"/>
                <a:gd name="T4" fmla="*/ 43 w 474"/>
                <a:gd name="T5" fmla="*/ 58 h 218"/>
                <a:gd name="T6" fmla="*/ 11 w 474"/>
                <a:gd name="T7" fmla="*/ 55 h 218"/>
                <a:gd name="T8" fmla="*/ 0 w 474"/>
                <a:gd name="T9" fmla="*/ 50 h 218"/>
                <a:gd name="T10" fmla="*/ 15 w 474"/>
                <a:gd name="T11" fmla="*/ 39 h 218"/>
                <a:gd name="T12" fmla="*/ 34 w 474"/>
                <a:gd name="T13" fmla="*/ 32 h 218"/>
                <a:gd name="T14" fmla="*/ 56 w 474"/>
                <a:gd name="T15" fmla="*/ 24 h 218"/>
                <a:gd name="T16" fmla="*/ 71 w 474"/>
                <a:gd name="T17" fmla="*/ 15 h 218"/>
                <a:gd name="T18" fmla="*/ 86 w 474"/>
                <a:gd name="T19" fmla="*/ 8 h 218"/>
                <a:gd name="T20" fmla="*/ 111 w 474"/>
                <a:gd name="T21" fmla="*/ 0 h 218"/>
                <a:gd name="T22" fmla="*/ 121 w 474"/>
                <a:gd name="T23" fmla="*/ 7 h 218"/>
                <a:gd name="T24" fmla="*/ 136 w 474"/>
                <a:gd name="T25" fmla="*/ 19 h 218"/>
                <a:gd name="T26" fmla="*/ 150 w 474"/>
                <a:gd name="T27" fmla="*/ 30 h 218"/>
                <a:gd name="T28" fmla="*/ 161 w 474"/>
                <a:gd name="T29" fmla="*/ 34 h 218"/>
                <a:gd name="T30" fmla="*/ 139 w 474"/>
                <a:gd name="T31" fmla="*/ 50 h 218"/>
                <a:gd name="T32" fmla="*/ 82 w 474"/>
                <a:gd name="T33" fmla="*/ 74 h 2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74"/>
                <a:gd name="T52" fmla="*/ 0 h 218"/>
                <a:gd name="T53" fmla="*/ 474 w 474"/>
                <a:gd name="T54" fmla="*/ 218 h 2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74" h="218">
                  <a:moveTo>
                    <a:pt x="241" y="217"/>
                  </a:moveTo>
                  <a:lnTo>
                    <a:pt x="184" y="191"/>
                  </a:lnTo>
                  <a:lnTo>
                    <a:pt x="126" y="172"/>
                  </a:lnTo>
                  <a:lnTo>
                    <a:pt x="33" y="162"/>
                  </a:lnTo>
                  <a:lnTo>
                    <a:pt x="0" y="146"/>
                  </a:lnTo>
                  <a:lnTo>
                    <a:pt x="43" y="115"/>
                  </a:lnTo>
                  <a:lnTo>
                    <a:pt x="100" y="95"/>
                  </a:lnTo>
                  <a:lnTo>
                    <a:pt x="164" y="70"/>
                  </a:lnTo>
                  <a:lnTo>
                    <a:pt x="209" y="44"/>
                  </a:lnTo>
                  <a:lnTo>
                    <a:pt x="254" y="25"/>
                  </a:lnTo>
                  <a:lnTo>
                    <a:pt x="328" y="0"/>
                  </a:lnTo>
                  <a:lnTo>
                    <a:pt x="357" y="21"/>
                  </a:lnTo>
                  <a:lnTo>
                    <a:pt x="401" y="57"/>
                  </a:lnTo>
                  <a:lnTo>
                    <a:pt x="441" y="87"/>
                  </a:lnTo>
                  <a:lnTo>
                    <a:pt x="473" y="100"/>
                  </a:lnTo>
                  <a:lnTo>
                    <a:pt x="408" y="147"/>
                  </a:lnTo>
                  <a:lnTo>
                    <a:pt x="241" y="217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46" descr="5%"/>
            <p:cNvSpPr>
              <a:spLocks/>
            </p:cNvSpPr>
            <p:nvPr/>
          </p:nvSpPr>
          <p:spPr bwMode="auto">
            <a:xfrm>
              <a:off x="1569" y="926"/>
              <a:ext cx="139" cy="67"/>
            </a:xfrm>
            <a:custGeom>
              <a:avLst/>
              <a:gdLst>
                <a:gd name="T0" fmla="*/ 0 w 412"/>
                <a:gd name="T1" fmla="*/ 32 h 197"/>
                <a:gd name="T2" fmla="*/ 20 w 412"/>
                <a:gd name="T3" fmla="*/ 28 h 197"/>
                <a:gd name="T4" fmla="*/ 39 w 412"/>
                <a:gd name="T5" fmla="*/ 17 h 197"/>
                <a:gd name="T6" fmla="*/ 61 w 412"/>
                <a:gd name="T7" fmla="*/ 11 h 197"/>
                <a:gd name="T8" fmla="*/ 82 w 412"/>
                <a:gd name="T9" fmla="*/ 0 h 197"/>
                <a:gd name="T10" fmla="*/ 106 w 412"/>
                <a:gd name="T11" fmla="*/ 9 h 197"/>
                <a:gd name="T12" fmla="*/ 130 w 412"/>
                <a:gd name="T13" fmla="*/ 25 h 197"/>
                <a:gd name="T14" fmla="*/ 139 w 412"/>
                <a:gd name="T15" fmla="*/ 31 h 197"/>
                <a:gd name="T16" fmla="*/ 126 w 412"/>
                <a:gd name="T17" fmla="*/ 44 h 197"/>
                <a:gd name="T18" fmla="*/ 98 w 412"/>
                <a:gd name="T19" fmla="*/ 48 h 197"/>
                <a:gd name="T20" fmla="*/ 74 w 412"/>
                <a:gd name="T21" fmla="*/ 50 h 197"/>
                <a:gd name="T22" fmla="*/ 57 w 412"/>
                <a:gd name="T23" fmla="*/ 63 h 197"/>
                <a:gd name="T24" fmla="*/ 46 w 412"/>
                <a:gd name="T25" fmla="*/ 67 h 197"/>
                <a:gd name="T26" fmla="*/ 39 w 412"/>
                <a:gd name="T27" fmla="*/ 64 h 197"/>
                <a:gd name="T28" fmla="*/ 18 w 412"/>
                <a:gd name="T29" fmla="*/ 50 h 197"/>
                <a:gd name="T30" fmla="*/ 0 w 412"/>
                <a:gd name="T31" fmla="*/ 32 h 19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2"/>
                <a:gd name="T49" fmla="*/ 0 h 197"/>
                <a:gd name="T50" fmla="*/ 412 w 412"/>
                <a:gd name="T51" fmla="*/ 197 h 19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2" h="197">
                  <a:moveTo>
                    <a:pt x="0" y="95"/>
                  </a:moveTo>
                  <a:lnTo>
                    <a:pt x="59" y="83"/>
                  </a:lnTo>
                  <a:lnTo>
                    <a:pt x="116" y="51"/>
                  </a:lnTo>
                  <a:lnTo>
                    <a:pt x="180" y="32"/>
                  </a:lnTo>
                  <a:lnTo>
                    <a:pt x="244" y="0"/>
                  </a:lnTo>
                  <a:lnTo>
                    <a:pt x="315" y="25"/>
                  </a:lnTo>
                  <a:lnTo>
                    <a:pt x="384" y="73"/>
                  </a:lnTo>
                  <a:lnTo>
                    <a:pt x="411" y="90"/>
                  </a:lnTo>
                  <a:lnTo>
                    <a:pt x="372" y="128"/>
                  </a:lnTo>
                  <a:lnTo>
                    <a:pt x="289" y="140"/>
                  </a:lnTo>
                  <a:lnTo>
                    <a:pt x="219" y="147"/>
                  </a:lnTo>
                  <a:lnTo>
                    <a:pt x="168" y="185"/>
                  </a:lnTo>
                  <a:lnTo>
                    <a:pt x="137" y="196"/>
                  </a:lnTo>
                  <a:lnTo>
                    <a:pt x="115" y="188"/>
                  </a:lnTo>
                  <a:lnTo>
                    <a:pt x="54" y="146"/>
                  </a:lnTo>
                  <a:lnTo>
                    <a:pt x="0" y="95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47"/>
            <p:cNvSpPr>
              <a:spLocks/>
            </p:cNvSpPr>
            <p:nvPr/>
          </p:nvSpPr>
          <p:spPr bwMode="auto">
            <a:xfrm>
              <a:off x="732" y="1045"/>
              <a:ext cx="65" cy="20"/>
            </a:xfrm>
            <a:custGeom>
              <a:avLst/>
              <a:gdLst>
                <a:gd name="T0" fmla="*/ 0 w 193"/>
                <a:gd name="T1" fmla="*/ 4 h 58"/>
                <a:gd name="T2" fmla="*/ 15 w 193"/>
                <a:gd name="T3" fmla="*/ 0 h 58"/>
                <a:gd name="T4" fmla="*/ 28 w 193"/>
                <a:gd name="T5" fmla="*/ 4 h 58"/>
                <a:gd name="T6" fmla="*/ 52 w 193"/>
                <a:gd name="T7" fmla="*/ 20 h 58"/>
                <a:gd name="T8" fmla="*/ 65 w 193"/>
                <a:gd name="T9" fmla="*/ 20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58"/>
                <a:gd name="T17" fmla="*/ 193 w 193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58">
                  <a:moveTo>
                    <a:pt x="0" y="12"/>
                  </a:moveTo>
                  <a:lnTo>
                    <a:pt x="45" y="0"/>
                  </a:lnTo>
                  <a:lnTo>
                    <a:pt x="83" y="12"/>
                  </a:lnTo>
                  <a:lnTo>
                    <a:pt x="153" y="57"/>
                  </a:lnTo>
                  <a:lnTo>
                    <a:pt x="192" y="5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48"/>
            <p:cNvSpPr>
              <a:spLocks/>
            </p:cNvSpPr>
            <p:nvPr/>
          </p:nvSpPr>
          <p:spPr bwMode="auto">
            <a:xfrm>
              <a:off x="686" y="1021"/>
              <a:ext cx="42" cy="74"/>
            </a:xfrm>
            <a:custGeom>
              <a:avLst/>
              <a:gdLst>
                <a:gd name="T0" fmla="*/ 0 w 123"/>
                <a:gd name="T1" fmla="*/ 0 h 219"/>
                <a:gd name="T2" fmla="*/ 11 w 123"/>
                <a:gd name="T3" fmla="*/ 20 h 219"/>
                <a:gd name="T4" fmla="*/ 20 w 123"/>
                <a:gd name="T5" fmla="*/ 35 h 219"/>
                <a:gd name="T6" fmla="*/ 31 w 123"/>
                <a:gd name="T7" fmla="*/ 54 h 219"/>
                <a:gd name="T8" fmla="*/ 42 w 123"/>
                <a:gd name="T9" fmla="*/ 74 h 2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3"/>
                <a:gd name="T16" fmla="*/ 0 h 219"/>
                <a:gd name="T17" fmla="*/ 123 w 123"/>
                <a:gd name="T18" fmla="*/ 219 h 2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3" h="219">
                  <a:moveTo>
                    <a:pt x="0" y="0"/>
                  </a:moveTo>
                  <a:lnTo>
                    <a:pt x="32" y="58"/>
                  </a:lnTo>
                  <a:lnTo>
                    <a:pt x="58" y="103"/>
                  </a:lnTo>
                  <a:lnTo>
                    <a:pt x="90" y="160"/>
                  </a:lnTo>
                  <a:lnTo>
                    <a:pt x="122" y="218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49"/>
            <p:cNvSpPr>
              <a:spLocks/>
            </p:cNvSpPr>
            <p:nvPr/>
          </p:nvSpPr>
          <p:spPr bwMode="auto">
            <a:xfrm>
              <a:off x="684" y="1084"/>
              <a:ext cx="68" cy="9"/>
            </a:xfrm>
            <a:custGeom>
              <a:avLst/>
              <a:gdLst>
                <a:gd name="T0" fmla="*/ 0 w 199"/>
                <a:gd name="T1" fmla="*/ 0 h 26"/>
                <a:gd name="T2" fmla="*/ 17 w 199"/>
                <a:gd name="T3" fmla="*/ 5 h 26"/>
                <a:gd name="T4" fmla="*/ 37 w 199"/>
                <a:gd name="T5" fmla="*/ 7 h 26"/>
                <a:gd name="T6" fmla="*/ 53 w 199"/>
                <a:gd name="T7" fmla="*/ 2 h 26"/>
                <a:gd name="T8" fmla="*/ 68 w 199"/>
                <a:gd name="T9" fmla="*/ 9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9"/>
                <a:gd name="T16" fmla="*/ 0 h 26"/>
                <a:gd name="T17" fmla="*/ 199 w 199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9" h="26">
                  <a:moveTo>
                    <a:pt x="0" y="0"/>
                  </a:moveTo>
                  <a:lnTo>
                    <a:pt x="51" y="13"/>
                  </a:lnTo>
                  <a:lnTo>
                    <a:pt x="109" y="19"/>
                  </a:lnTo>
                  <a:lnTo>
                    <a:pt x="154" y="6"/>
                  </a:lnTo>
                  <a:lnTo>
                    <a:pt x="198" y="25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50"/>
            <p:cNvSpPr>
              <a:spLocks/>
            </p:cNvSpPr>
            <p:nvPr/>
          </p:nvSpPr>
          <p:spPr bwMode="auto">
            <a:xfrm>
              <a:off x="699" y="1112"/>
              <a:ext cx="1" cy="50"/>
            </a:xfrm>
            <a:custGeom>
              <a:avLst/>
              <a:gdLst>
                <a:gd name="T0" fmla="*/ 0 w 1"/>
                <a:gd name="T1" fmla="*/ 0 h 148"/>
                <a:gd name="T2" fmla="*/ 0 w 1"/>
                <a:gd name="T3" fmla="*/ 24 h 148"/>
                <a:gd name="T4" fmla="*/ 0 w 1"/>
                <a:gd name="T5" fmla="*/ 50 h 148"/>
                <a:gd name="T6" fmla="*/ 0 60000 65536"/>
                <a:gd name="T7" fmla="*/ 0 60000 65536"/>
                <a:gd name="T8" fmla="*/ 0 60000 65536"/>
                <a:gd name="T9" fmla="*/ 0 w 1"/>
                <a:gd name="T10" fmla="*/ 0 h 148"/>
                <a:gd name="T11" fmla="*/ 1 w 1"/>
                <a:gd name="T12" fmla="*/ 148 h 1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8">
                  <a:moveTo>
                    <a:pt x="0" y="0"/>
                  </a:moveTo>
                  <a:lnTo>
                    <a:pt x="0" y="70"/>
                  </a:lnTo>
                  <a:lnTo>
                    <a:pt x="0" y="14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51"/>
            <p:cNvSpPr>
              <a:spLocks/>
            </p:cNvSpPr>
            <p:nvPr/>
          </p:nvSpPr>
          <p:spPr bwMode="auto">
            <a:xfrm>
              <a:off x="684" y="1158"/>
              <a:ext cx="55" cy="111"/>
            </a:xfrm>
            <a:custGeom>
              <a:avLst/>
              <a:gdLst>
                <a:gd name="T0" fmla="*/ 0 w 161"/>
                <a:gd name="T1" fmla="*/ 0 h 328"/>
                <a:gd name="T2" fmla="*/ 13 w 161"/>
                <a:gd name="T3" fmla="*/ 11 h 328"/>
                <a:gd name="T4" fmla="*/ 15 w 161"/>
                <a:gd name="T5" fmla="*/ 30 h 328"/>
                <a:gd name="T6" fmla="*/ 28 w 161"/>
                <a:gd name="T7" fmla="*/ 50 h 328"/>
                <a:gd name="T8" fmla="*/ 35 w 161"/>
                <a:gd name="T9" fmla="*/ 74 h 328"/>
                <a:gd name="T10" fmla="*/ 48 w 161"/>
                <a:gd name="T11" fmla="*/ 93 h 328"/>
                <a:gd name="T12" fmla="*/ 55 w 161"/>
                <a:gd name="T13" fmla="*/ 111 h 3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1"/>
                <a:gd name="T22" fmla="*/ 0 h 328"/>
                <a:gd name="T23" fmla="*/ 161 w 161"/>
                <a:gd name="T24" fmla="*/ 328 h 3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1" h="328">
                  <a:moveTo>
                    <a:pt x="0" y="0"/>
                  </a:moveTo>
                  <a:lnTo>
                    <a:pt x="38" y="32"/>
                  </a:lnTo>
                  <a:lnTo>
                    <a:pt x="45" y="90"/>
                  </a:lnTo>
                  <a:lnTo>
                    <a:pt x="83" y="148"/>
                  </a:lnTo>
                  <a:lnTo>
                    <a:pt x="102" y="218"/>
                  </a:lnTo>
                  <a:lnTo>
                    <a:pt x="141" y="276"/>
                  </a:lnTo>
                  <a:lnTo>
                    <a:pt x="160" y="32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52"/>
            <p:cNvSpPr>
              <a:spLocks/>
            </p:cNvSpPr>
            <p:nvPr/>
          </p:nvSpPr>
          <p:spPr bwMode="auto">
            <a:xfrm>
              <a:off x="697" y="1227"/>
              <a:ext cx="7" cy="11"/>
            </a:xfrm>
            <a:custGeom>
              <a:avLst/>
              <a:gdLst>
                <a:gd name="T0" fmla="*/ 0 w 21"/>
                <a:gd name="T1" fmla="*/ 0 h 33"/>
                <a:gd name="T2" fmla="*/ 7 w 21"/>
                <a:gd name="T3" fmla="*/ 11 h 33"/>
                <a:gd name="T4" fmla="*/ 0 60000 65536"/>
                <a:gd name="T5" fmla="*/ 0 60000 65536"/>
                <a:gd name="T6" fmla="*/ 0 w 21"/>
                <a:gd name="T7" fmla="*/ 0 h 33"/>
                <a:gd name="T8" fmla="*/ 21 w 21"/>
                <a:gd name="T9" fmla="*/ 33 h 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" h="33">
                  <a:moveTo>
                    <a:pt x="0" y="0"/>
                  </a:moveTo>
                  <a:lnTo>
                    <a:pt x="20" y="32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Freeform 53"/>
            <p:cNvSpPr>
              <a:spLocks/>
            </p:cNvSpPr>
            <p:nvPr/>
          </p:nvSpPr>
          <p:spPr bwMode="auto">
            <a:xfrm>
              <a:off x="556" y="934"/>
              <a:ext cx="534" cy="463"/>
            </a:xfrm>
            <a:custGeom>
              <a:avLst/>
              <a:gdLst>
                <a:gd name="T0" fmla="*/ 0 w 1576"/>
                <a:gd name="T1" fmla="*/ 0 h 1364"/>
                <a:gd name="T2" fmla="*/ 4 w 1576"/>
                <a:gd name="T3" fmla="*/ 46 h 1364"/>
                <a:gd name="T4" fmla="*/ 7 w 1576"/>
                <a:gd name="T5" fmla="*/ 74 h 1364"/>
                <a:gd name="T6" fmla="*/ 4 w 1576"/>
                <a:gd name="T7" fmla="*/ 111 h 1364"/>
                <a:gd name="T8" fmla="*/ 2 w 1576"/>
                <a:gd name="T9" fmla="*/ 152 h 1364"/>
                <a:gd name="T10" fmla="*/ 2 w 1576"/>
                <a:gd name="T11" fmla="*/ 193 h 1364"/>
                <a:gd name="T12" fmla="*/ 4 w 1576"/>
                <a:gd name="T13" fmla="*/ 235 h 1364"/>
                <a:gd name="T14" fmla="*/ 4 w 1576"/>
                <a:gd name="T15" fmla="*/ 267 h 1364"/>
                <a:gd name="T16" fmla="*/ 4 w 1576"/>
                <a:gd name="T17" fmla="*/ 278 h 1364"/>
                <a:gd name="T18" fmla="*/ 28 w 1576"/>
                <a:gd name="T19" fmla="*/ 287 h 1364"/>
                <a:gd name="T20" fmla="*/ 61 w 1576"/>
                <a:gd name="T21" fmla="*/ 298 h 1364"/>
                <a:gd name="T22" fmla="*/ 108 w 1576"/>
                <a:gd name="T23" fmla="*/ 313 h 1364"/>
                <a:gd name="T24" fmla="*/ 152 w 1576"/>
                <a:gd name="T25" fmla="*/ 326 h 1364"/>
                <a:gd name="T26" fmla="*/ 219 w 1576"/>
                <a:gd name="T27" fmla="*/ 356 h 1364"/>
                <a:gd name="T28" fmla="*/ 260 w 1576"/>
                <a:gd name="T29" fmla="*/ 372 h 1364"/>
                <a:gd name="T30" fmla="*/ 291 w 1576"/>
                <a:gd name="T31" fmla="*/ 385 h 1364"/>
                <a:gd name="T32" fmla="*/ 338 w 1576"/>
                <a:gd name="T33" fmla="*/ 400 h 1364"/>
                <a:gd name="T34" fmla="*/ 384 w 1576"/>
                <a:gd name="T35" fmla="*/ 415 h 1364"/>
                <a:gd name="T36" fmla="*/ 416 w 1576"/>
                <a:gd name="T37" fmla="*/ 428 h 1364"/>
                <a:gd name="T38" fmla="*/ 453 w 1576"/>
                <a:gd name="T39" fmla="*/ 445 h 1364"/>
                <a:gd name="T40" fmla="*/ 503 w 1576"/>
                <a:gd name="T41" fmla="*/ 454 h 1364"/>
                <a:gd name="T42" fmla="*/ 534 w 1576"/>
                <a:gd name="T43" fmla="*/ 463 h 13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76"/>
                <a:gd name="T67" fmla="*/ 0 h 1364"/>
                <a:gd name="T68" fmla="*/ 1576 w 1576"/>
                <a:gd name="T69" fmla="*/ 1364 h 136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76" h="1364">
                  <a:moveTo>
                    <a:pt x="0" y="0"/>
                  </a:moveTo>
                  <a:lnTo>
                    <a:pt x="13" y="135"/>
                  </a:lnTo>
                  <a:lnTo>
                    <a:pt x="20" y="218"/>
                  </a:lnTo>
                  <a:lnTo>
                    <a:pt x="13" y="327"/>
                  </a:lnTo>
                  <a:lnTo>
                    <a:pt x="7" y="448"/>
                  </a:lnTo>
                  <a:lnTo>
                    <a:pt x="7" y="570"/>
                  </a:lnTo>
                  <a:lnTo>
                    <a:pt x="13" y="691"/>
                  </a:lnTo>
                  <a:lnTo>
                    <a:pt x="13" y="787"/>
                  </a:lnTo>
                  <a:lnTo>
                    <a:pt x="13" y="819"/>
                  </a:lnTo>
                  <a:lnTo>
                    <a:pt x="84" y="845"/>
                  </a:lnTo>
                  <a:lnTo>
                    <a:pt x="180" y="877"/>
                  </a:lnTo>
                  <a:lnTo>
                    <a:pt x="320" y="922"/>
                  </a:lnTo>
                  <a:lnTo>
                    <a:pt x="448" y="960"/>
                  </a:lnTo>
                  <a:lnTo>
                    <a:pt x="647" y="1050"/>
                  </a:lnTo>
                  <a:lnTo>
                    <a:pt x="768" y="1095"/>
                  </a:lnTo>
                  <a:lnTo>
                    <a:pt x="858" y="1133"/>
                  </a:lnTo>
                  <a:lnTo>
                    <a:pt x="999" y="1178"/>
                  </a:lnTo>
                  <a:lnTo>
                    <a:pt x="1133" y="1223"/>
                  </a:lnTo>
                  <a:lnTo>
                    <a:pt x="1229" y="1261"/>
                  </a:lnTo>
                  <a:lnTo>
                    <a:pt x="1338" y="1312"/>
                  </a:lnTo>
                  <a:lnTo>
                    <a:pt x="1485" y="1338"/>
                  </a:lnTo>
                  <a:lnTo>
                    <a:pt x="1575" y="1363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54"/>
            <p:cNvSpPr>
              <a:spLocks/>
            </p:cNvSpPr>
            <p:nvPr/>
          </p:nvSpPr>
          <p:spPr bwMode="auto">
            <a:xfrm>
              <a:off x="727" y="1108"/>
              <a:ext cx="107" cy="187"/>
            </a:xfrm>
            <a:custGeom>
              <a:avLst/>
              <a:gdLst>
                <a:gd name="T0" fmla="*/ 0 w 315"/>
                <a:gd name="T1" fmla="*/ 0 h 552"/>
                <a:gd name="T2" fmla="*/ 20 w 315"/>
                <a:gd name="T3" fmla="*/ 28 h 552"/>
                <a:gd name="T4" fmla="*/ 26 w 315"/>
                <a:gd name="T5" fmla="*/ 46 h 552"/>
                <a:gd name="T6" fmla="*/ 39 w 315"/>
                <a:gd name="T7" fmla="*/ 65 h 552"/>
                <a:gd name="T8" fmla="*/ 52 w 315"/>
                <a:gd name="T9" fmla="*/ 78 h 552"/>
                <a:gd name="T10" fmla="*/ 61 w 315"/>
                <a:gd name="T11" fmla="*/ 100 h 552"/>
                <a:gd name="T12" fmla="*/ 70 w 315"/>
                <a:gd name="T13" fmla="*/ 130 h 552"/>
                <a:gd name="T14" fmla="*/ 83 w 315"/>
                <a:gd name="T15" fmla="*/ 156 h 552"/>
                <a:gd name="T16" fmla="*/ 98 w 315"/>
                <a:gd name="T17" fmla="*/ 173 h 552"/>
                <a:gd name="T18" fmla="*/ 107 w 315"/>
                <a:gd name="T19" fmla="*/ 187 h 5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5"/>
                <a:gd name="T31" fmla="*/ 0 h 552"/>
                <a:gd name="T32" fmla="*/ 315 w 315"/>
                <a:gd name="T33" fmla="*/ 552 h 55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5" h="552">
                  <a:moveTo>
                    <a:pt x="0" y="0"/>
                  </a:moveTo>
                  <a:lnTo>
                    <a:pt x="58" y="83"/>
                  </a:lnTo>
                  <a:lnTo>
                    <a:pt x="77" y="135"/>
                  </a:lnTo>
                  <a:lnTo>
                    <a:pt x="115" y="192"/>
                  </a:lnTo>
                  <a:lnTo>
                    <a:pt x="154" y="231"/>
                  </a:lnTo>
                  <a:lnTo>
                    <a:pt x="179" y="295"/>
                  </a:lnTo>
                  <a:lnTo>
                    <a:pt x="205" y="384"/>
                  </a:lnTo>
                  <a:lnTo>
                    <a:pt x="243" y="461"/>
                  </a:lnTo>
                  <a:lnTo>
                    <a:pt x="288" y="512"/>
                  </a:lnTo>
                  <a:lnTo>
                    <a:pt x="314" y="551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Freeform 55"/>
            <p:cNvSpPr>
              <a:spLocks/>
            </p:cNvSpPr>
            <p:nvPr/>
          </p:nvSpPr>
          <p:spPr bwMode="auto">
            <a:xfrm>
              <a:off x="764" y="1227"/>
              <a:ext cx="77" cy="20"/>
            </a:xfrm>
            <a:custGeom>
              <a:avLst/>
              <a:gdLst>
                <a:gd name="T0" fmla="*/ 0 w 225"/>
                <a:gd name="T1" fmla="*/ 0 h 59"/>
                <a:gd name="T2" fmla="*/ 24 w 225"/>
                <a:gd name="T3" fmla="*/ 0 h 59"/>
                <a:gd name="T4" fmla="*/ 46 w 225"/>
                <a:gd name="T5" fmla="*/ 15 h 59"/>
                <a:gd name="T6" fmla="*/ 59 w 225"/>
                <a:gd name="T7" fmla="*/ 15 h 59"/>
                <a:gd name="T8" fmla="*/ 77 w 225"/>
                <a:gd name="T9" fmla="*/ 2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5"/>
                <a:gd name="T16" fmla="*/ 0 h 59"/>
                <a:gd name="T17" fmla="*/ 225 w 22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5" h="59">
                  <a:moveTo>
                    <a:pt x="0" y="0"/>
                  </a:moveTo>
                  <a:lnTo>
                    <a:pt x="70" y="0"/>
                  </a:lnTo>
                  <a:lnTo>
                    <a:pt x="134" y="45"/>
                  </a:lnTo>
                  <a:lnTo>
                    <a:pt x="173" y="45"/>
                  </a:lnTo>
                  <a:lnTo>
                    <a:pt x="224" y="58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Freeform 56"/>
            <p:cNvSpPr>
              <a:spLocks/>
            </p:cNvSpPr>
            <p:nvPr/>
          </p:nvSpPr>
          <p:spPr bwMode="auto">
            <a:xfrm>
              <a:off x="732" y="1045"/>
              <a:ext cx="63" cy="20"/>
            </a:xfrm>
            <a:custGeom>
              <a:avLst/>
              <a:gdLst>
                <a:gd name="T0" fmla="*/ 0 w 186"/>
                <a:gd name="T1" fmla="*/ 0 h 58"/>
                <a:gd name="T2" fmla="*/ 13 w 186"/>
                <a:gd name="T3" fmla="*/ 0 h 58"/>
                <a:gd name="T4" fmla="*/ 30 w 186"/>
                <a:gd name="T5" fmla="*/ 7 h 58"/>
                <a:gd name="T6" fmla="*/ 50 w 186"/>
                <a:gd name="T7" fmla="*/ 20 h 58"/>
                <a:gd name="T8" fmla="*/ 63 w 186"/>
                <a:gd name="T9" fmla="*/ 20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58"/>
                <a:gd name="T17" fmla="*/ 186 w 186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58">
                  <a:moveTo>
                    <a:pt x="0" y="0"/>
                  </a:moveTo>
                  <a:lnTo>
                    <a:pt x="38" y="0"/>
                  </a:lnTo>
                  <a:lnTo>
                    <a:pt x="89" y="19"/>
                  </a:lnTo>
                  <a:lnTo>
                    <a:pt x="147" y="57"/>
                  </a:lnTo>
                  <a:lnTo>
                    <a:pt x="185" y="5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57"/>
            <p:cNvSpPr>
              <a:spLocks/>
            </p:cNvSpPr>
            <p:nvPr/>
          </p:nvSpPr>
          <p:spPr bwMode="auto">
            <a:xfrm>
              <a:off x="818" y="1089"/>
              <a:ext cx="29" cy="87"/>
            </a:xfrm>
            <a:custGeom>
              <a:avLst/>
              <a:gdLst>
                <a:gd name="T0" fmla="*/ 0 w 84"/>
                <a:gd name="T1" fmla="*/ 0 h 257"/>
                <a:gd name="T2" fmla="*/ 13 w 84"/>
                <a:gd name="T3" fmla="*/ 19 h 257"/>
                <a:gd name="T4" fmla="*/ 18 w 84"/>
                <a:gd name="T5" fmla="*/ 47 h 257"/>
                <a:gd name="T6" fmla="*/ 27 w 84"/>
                <a:gd name="T7" fmla="*/ 65 h 257"/>
                <a:gd name="T8" fmla="*/ 27 w 84"/>
                <a:gd name="T9" fmla="*/ 71 h 257"/>
                <a:gd name="T10" fmla="*/ 29 w 84"/>
                <a:gd name="T11" fmla="*/ 87 h 2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"/>
                <a:gd name="T19" fmla="*/ 0 h 257"/>
                <a:gd name="T20" fmla="*/ 84 w 84"/>
                <a:gd name="T21" fmla="*/ 257 h 2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" h="257">
                  <a:moveTo>
                    <a:pt x="0" y="0"/>
                  </a:moveTo>
                  <a:lnTo>
                    <a:pt x="38" y="57"/>
                  </a:lnTo>
                  <a:lnTo>
                    <a:pt x="51" y="140"/>
                  </a:lnTo>
                  <a:lnTo>
                    <a:pt x="77" y="192"/>
                  </a:lnTo>
                  <a:lnTo>
                    <a:pt x="77" y="211"/>
                  </a:lnTo>
                  <a:lnTo>
                    <a:pt x="83" y="256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58"/>
            <p:cNvSpPr>
              <a:spLocks/>
            </p:cNvSpPr>
            <p:nvPr/>
          </p:nvSpPr>
          <p:spPr bwMode="auto">
            <a:xfrm>
              <a:off x="812" y="1104"/>
              <a:ext cx="9" cy="9"/>
            </a:xfrm>
            <a:custGeom>
              <a:avLst/>
              <a:gdLst>
                <a:gd name="T0" fmla="*/ 0 w 26"/>
                <a:gd name="T1" fmla="*/ 0 h 27"/>
                <a:gd name="T2" fmla="*/ 9 w 26"/>
                <a:gd name="T3" fmla="*/ 9 h 27"/>
                <a:gd name="T4" fmla="*/ 0 60000 65536"/>
                <a:gd name="T5" fmla="*/ 0 60000 65536"/>
                <a:gd name="T6" fmla="*/ 0 w 26"/>
                <a:gd name="T7" fmla="*/ 0 h 27"/>
                <a:gd name="T8" fmla="*/ 26 w 26"/>
                <a:gd name="T9" fmla="*/ 27 h 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" h="27">
                  <a:moveTo>
                    <a:pt x="0" y="0"/>
                  </a:moveTo>
                  <a:lnTo>
                    <a:pt x="25" y="26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Freeform 59"/>
            <p:cNvSpPr>
              <a:spLocks/>
            </p:cNvSpPr>
            <p:nvPr/>
          </p:nvSpPr>
          <p:spPr bwMode="auto">
            <a:xfrm>
              <a:off x="810" y="1147"/>
              <a:ext cx="83" cy="61"/>
            </a:xfrm>
            <a:custGeom>
              <a:avLst/>
              <a:gdLst>
                <a:gd name="T0" fmla="*/ 0 w 244"/>
                <a:gd name="T1" fmla="*/ 0 h 181"/>
                <a:gd name="T2" fmla="*/ 22 w 244"/>
                <a:gd name="T3" fmla="*/ 2 h 181"/>
                <a:gd name="T4" fmla="*/ 37 w 244"/>
                <a:gd name="T5" fmla="*/ 4 h 181"/>
                <a:gd name="T6" fmla="*/ 50 w 244"/>
                <a:gd name="T7" fmla="*/ 11 h 181"/>
                <a:gd name="T8" fmla="*/ 57 w 244"/>
                <a:gd name="T9" fmla="*/ 13 h 181"/>
                <a:gd name="T10" fmla="*/ 63 w 244"/>
                <a:gd name="T11" fmla="*/ 28 h 181"/>
                <a:gd name="T12" fmla="*/ 72 w 244"/>
                <a:gd name="T13" fmla="*/ 45 h 181"/>
                <a:gd name="T14" fmla="*/ 83 w 244"/>
                <a:gd name="T15" fmla="*/ 61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4"/>
                <a:gd name="T25" fmla="*/ 0 h 181"/>
                <a:gd name="T26" fmla="*/ 244 w 244"/>
                <a:gd name="T27" fmla="*/ 181 h 18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4" h="181">
                  <a:moveTo>
                    <a:pt x="0" y="0"/>
                  </a:moveTo>
                  <a:lnTo>
                    <a:pt x="64" y="7"/>
                  </a:lnTo>
                  <a:lnTo>
                    <a:pt x="109" y="13"/>
                  </a:lnTo>
                  <a:lnTo>
                    <a:pt x="147" y="32"/>
                  </a:lnTo>
                  <a:lnTo>
                    <a:pt x="167" y="39"/>
                  </a:lnTo>
                  <a:lnTo>
                    <a:pt x="186" y="84"/>
                  </a:lnTo>
                  <a:lnTo>
                    <a:pt x="211" y="135"/>
                  </a:lnTo>
                  <a:lnTo>
                    <a:pt x="243" y="18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reeform 60"/>
            <p:cNvSpPr>
              <a:spLocks/>
            </p:cNvSpPr>
            <p:nvPr/>
          </p:nvSpPr>
          <p:spPr bwMode="auto">
            <a:xfrm>
              <a:off x="949" y="1210"/>
              <a:ext cx="11" cy="33"/>
            </a:xfrm>
            <a:custGeom>
              <a:avLst/>
              <a:gdLst>
                <a:gd name="T0" fmla="*/ 0 w 33"/>
                <a:gd name="T1" fmla="*/ 0 h 97"/>
                <a:gd name="T2" fmla="*/ 8 w 33"/>
                <a:gd name="T3" fmla="*/ 20 h 97"/>
                <a:gd name="T4" fmla="*/ 11 w 33"/>
                <a:gd name="T5" fmla="*/ 33 h 97"/>
                <a:gd name="T6" fmla="*/ 0 60000 65536"/>
                <a:gd name="T7" fmla="*/ 0 60000 65536"/>
                <a:gd name="T8" fmla="*/ 0 60000 65536"/>
                <a:gd name="T9" fmla="*/ 0 w 33"/>
                <a:gd name="T10" fmla="*/ 0 h 97"/>
                <a:gd name="T11" fmla="*/ 33 w 33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97">
                  <a:moveTo>
                    <a:pt x="0" y="0"/>
                  </a:moveTo>
                  <a:lnTo>
                    <a:pt x="25" y="58"/>
                  </a:lnTo>
                  <a:lnTo>
                    <a:pt x="32" y="96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Freeform 61"/>
            <p:cNvSpPr>
              <a:spLocks/>
            </p:cNvSpPr>
            <p:nvPr/>
          </p:nvSpPr>
          <p:spPr bwMode="auto">
            <a:xfrm>
              <a:off x="932" y="1260"/>
              <a:ext cx="39" cy="85"/>
            </a:xfrm>
            <a:custGeom>
              <a:avLst/>
              <a:gdLst>
                <a:gd name="T0" fmla="*/ 0 w 116"/>
                <a:gd name="T1" fmla="*/ 0 h 251"/>
                <a:gd name="T2" fmla="*/ 15 w 116"/>
                <a:gd name="T3" fmla="*/ 41 h 251"/>
                <a:gd name="T4" fmla="*/ 32 w 116"/>
                <a:gd name="T5" fmla="*/ 67 h 251"/>
                <a:gd name="T6" fmla="*/ 39 w 116"/>
                <a:gd name="T7" fmla="*/ 85 h 2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6"/>
                <a:gd name="T13" fmla="*/ 0 h 251"/>
                <a:gd name="T14" fmla="*/ 116 w 116"/>
                <a:gd name="T15" fmla="*/ 251 h 2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6" h="251">
                  <a:moveTo>
                    <a:pt x="0" y="0"/>
                  </a:moveTo>
                  <a:lnTo>
                    <a:pt x="44" y="122"/>
                  </a:lnTo>
                  <a:lnTo>
                    <a:pt x="96" y="199"/>
                  </a:lnTo>
                  <a:lnTo>
                    <a:pt x="115" y="25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Freeform 62"/>
            <p:cNvSpPr>
              <a:spLocks/>
            </p:cNvSpPr>
            <p:nvPr/>
          </p:nvSpPr>
          <p:spPr bwMode="auto">
            <a:xfrm>
              <a:off x="916" y="1286"/>
              <a:ext cx="55" cy="11"/>
            </a:xfrm>
            <a:custGeom>
              <a:avLst/>
              <a:gdLst>
                <a:gd name="T0" fmla="*/ 0 w 161"/>
                <a:gd name="T1" fmla="*/ 0 h 33"/>
                <a:gd name="T2" fmla="*/ 22 w 161"/>
                <a:gd name="T3" fmla="*/ 2 h 33"/>
                <a:gd name="T4" fmla="*/ 55 w 161"/>
                <a:gd name="T5" fmla="*/ 11 h 33"/>
                <a:gd name="T6" fmla="*/ 0 60000 65536"/>
                <a:gd name="T7" fmla="*/ 0 60000 65536"/>
                <a:gd name="T8" fmla="*/ 0 60000 65536"/>
                <a:gd name="T9" fmla="*/ 0 w 161"/>
                <a:gd name="T10" fmla="*/ 0 h 33"/>
                <a:gd name="T11" fmla="*/ 161 w 161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" h="33">
                  <a:moveTo>
                    <a:pt x="0" y="0"/>
                  </a:moveTo>
                  <a:lnTo>
                    <a:pt x="64" y="6"/>
                  </a:lnTo>
                  <a:lnTo>
                    <a:pt x="160" y="32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Freeform 63"/>
            <p:cNvSpPr>
              <a:spLocks/>
            </p:cNvSpPr>
            <p:nvPr/>
          </p:nvSpPr>
          <p:spPr bwMode="auto">
            <a:xfrm>
              <a:off x="944" y="1208"/>
              <a:ext cx="23" cy="33"/>
            </a:xfrm>
            <a:custGeom>
              <a:avLst/>
              <a:gdLst>
                <a:gd name="T0" fmla="*/ 0 w 65"/>
                <a:gd name="T1" fmla="*/ 0 h 97"/>
                <a:gd name="T2" fmla="*/ 13 w 65"/>
                <a:gd name="T3" fmla="*/ 17 h 97"/>
                <a:gd name="T4" fmla="*/ 23 w 65"/>
                <a:gd name="T5" fmla="*/ 33 h 97"/>
                <a:gd name="T6" fmla="*/ 0 60000 65536"/>
                <a:gd name="T7" fmla="*/ 0 60000 65536"/>
                <a:gd name="T8" fmla="*/ 0 60000 65536"/>
                <a:gd name="T9" fmla="*/ 0 w 65"/>
                <a:gd name="T10" fmla="*/ 0 h 97"/>
                <a:gd name="T11" fmla="*/ 65 w 65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" h="97">
                  <a:moveTo>
                    <a:pt x="0" y="0"/>
                  </a:moveTo>
                  <a:lnTo>
                    <a:pt x="38" y="51"/>
                  </a:lnTo>
                  <a:lnTo>
                    <a:pt x="64" y="96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64"/>
            <p:cNvSpPr>
              <a:spLocks/>
            </p:cNvSpPr>
            <p:nvPr/>
          </p:nvSpPr>
          <p:spPr bwMode="auto">
            <a:xfrm>
              <a:off x="1003" y="1310"/>
              <a:ext cx="30" cy="61"/>
            </a:xfrm>
            <a:custGeom>
              <a:avLst/>
              <a:gdLst>
                <a:gd name="T0" fmla="*/ 0 w 90"/>
                <a:gd name="T1" fmla="*/ 0 h 181"/>
                <a:gd name="T2" fmla="*/ 15 w 90"/>
                <a:gd name="T3" fmla="*/ 24 h 181"/>
                <a:gd name="T4" fmla="*/ 21 w 90"/>
                <a:gd name="T5" fmla="*/ 43 h 181"/>
                <a:gd name="T6" fmla="*/ 30 w 90"/>
                <a:gd name="T7" fmla="*/ 61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0"/>
                <a:gd name="T13" fmla="*/ 0 h 181"/>
                <a:gd name="T14" fmla="*/ 90 w 90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0" h="181">
                  <a:moveTo>
                    <a:pt x="0" y="0"/>
                  </a:moveTo>
                  <a:lnTo>
                    <a:pt x="45" y="71"/>
                  </a:lnTo>
                  <a:lnTo>
                    <a:pt x="64" y="128"/>
                  </a:lnTo>
                  <a:lnTo>
                    <a:pt x="89" y="18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Freeform 65"/>
            <p:cNvSpPr>
              <a:spLocks/>
            </p:cNvSpPr>
            <p:nvPr/>
          </p:nvSpPr>
          <p:spPr bwMode="auto">
            <a:xfrm>
              <a:off x="1025" y="1303"/>
              <a:ext cx="24" cy="12"/>
            </a:xfrm>
            <a:custGeom>
              <a:avLst/>
              <a:gdLst>
                <a:gd name="T0" fmla="*/ 0 w 71"/>
                <a:gd name="T1" fmla="*/ 0 h 33"/>
                <a:gd name="T2" fmla="*/ 15 w 71"/>
                <a:gd name="T3" fmla="*/ 5 h 33"/>
                <a:gd name="T4" fmla="*/ 24 w 71"/>
                <a:gd name="T5" fmla="*/ 12 h 33"/>
                <a:gd name="T6" fmla="*/ 0 60000 65536"/>
                <a:gd name="T7" fmla="*/ 0 60000 65536"/>
                <a:gd name="T8" fmla="*/ 0 60000 65536"/>
                <a:gd name="T9" fmla="*/ 0 w 71"/>
                <a:gd name="T10" fmla="*/ 0 h 33"/>
                <a:gd name="T11" fmla="*/ 71 w 71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" h="33">
                  <a:moveTo>
                    <a:pt x="0" y="0"/>
                  </a:moveTo>
                  <a:lnTo>
                    <a:pt x="45" y="13"/>
                  </a:lnTo>
                  <a:lnTo>
                    <a:pt x="70" y="32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Freeform 66"/>
            <p:cNvSpPr>
              <a:spLocks/>
            </p:cNvSpPr>
            <p:nvPr/>
          </p:nvSpPr>
          <p:spPr bwMode="auto">
            <a:xfrm>
              <a:off x="699" y="1110"/>
              <a:ext cx="6" cy="74"/>
            </a:xfrm>
            <a:custGeom>
              <a:avLst/>
              <a:gdLst>
                <a:gd name="T0" fmla="*/ 0 w 17"/>
                <a:gd name="T1" fmla="*/ 0 h 218"/>
                <a:gd name="T2" fmla="*/ 6 w 17"/>
                <a:gd name="T3" fmla="*/ 19 h 218"/>
                <a:gd name="T4" fmla="*/ 0 w 17"/>
                <a:gd name="T5" fmla="*/ 50 h 218"/>
                <a:gd name="T6" fmla="*/ 0 w 17"/>
                <a:gd name="T7" fmla="*/ 74 h 2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218"/>
                <a:gd name="T14" fmla="*/ 17 w 17"/>
                <a:gd name="T15" fmla="*/ 218 h 2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218">
                  <a:moveTo>
                    <a:pt x="0" y="0"/>
                  </a:moveTo>
                  <a:lnTo>
                    <a:pt x="16" y="57"/>
                  </a:lnTo>
                  <a:lnTo>
                    <a:pt x="0" y="147"/>
                  </a:lnTo>
                  <a:lnTo>
                    <a:pt x="0" y="21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Freeform 67"/>
            <p:cNvSpPr>
              <a:spLocks/>
            </p:cNvSpPr>
            <p:nvPr/>
          </p:nvSpPr>
          <p:spPr bwMode="auto">
            <a:xfrm>
              <a:off x="602" y="948"/>
              <a:ext cx="32" cy="98"/>
            </a:xfrm>
            <a:custGeom>
              <a:avLst/>
              <a:gdLst>
                <a:gd name="T0" fmla="*/ 0 w 97"/>
                <a:gd name="T1" fmla="*/ 0 h 289"/>
                <a:gd name="T2" fmla="*/ 13 w 97"/>
                <a:gd name="T3" fmla="*/ 26 h 289"/>
                <a:gd name="T4" fmla="*/ 17 w 97"/>
                <a:gd name="T5" fmla="*/ 54 h 289"/>
                <a:gd name="T6" fmla="*/ 25 w 97"/>
                <a:gd name="T7" fmla="*/ 78 h 289"/>
                <a:gd name="T8" fmla="*/ 32 w 97"/>
                <a:gd name="T9" fmla="*/ 98 h 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"/>
                <a:gd name="T16" fmla="*/ 0 h 289"/>
                <a:gd name="T17" fmla="*/ 97 w 97"/>
                <a:gd name="T18" fmla="*/ 289 h 2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" h="289">
                  <a:moveTo>
                    <a:pt x="0" y="0"/>
                  </a:moveTo>
                  <a:lnTo>
                    <a:pt x="38" y="76"/>
                  </a:lnTo>
                  <a:lnTo>
                    <a:pt x="51" y="160"/>
                  </a:lnTo>
                  <a:lnTo>
                    <a:pt x="77" y="230"/>
                  </a:lnTo>
                  <a:lnTo>
                    <a:pt x="96" y="288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Freeform 68"/>
            <p:cNvSpPr>
              <a:spLocks/>
            </p:cNvSpPr>
            <p:nvPr/>
          </p:nvSpPr>
          <p:spPr bwMode="auto">
            <a:xfrm>
              <a:off x="595" y="988"/>
              <a:ext cx="37" cy="14"/>
            </a:xfrm>
            <a:custGeom>
              <a:avLst/>
              <a:gdLst>
                <a:gd name="T0" fmla="*/ 0 w 109"/>
                <a:gd name="T1" fmla="*/ 0 h 40"/>
                <a:gd name="T2" fmla="*/ 26 w 109"/>
                <a:gd name="T3" fmla="*/ 5 h 40"/>
                <a:gd name="T4" fmla="*/ 37 w 109"/>
                <a:gd name="T5" fmla="*/ 14 h 40"/>
                <a:gd name="T6" fmla="*/ 0 60000 65536"/>
                <a:gd name="T7" fmla="*/ 0 60000 65536"/>
                <a:gd name="T8" fmla="*/ 0 60000 65536"/>
                <a:gd name="T9" fmla="*/ 0 w 109"/>
                <a:gd name="T10" fmla="*/ 0 h 40"/>
                <a:gd name="T11" fmla="*/ 109 w 109"/>
                <a:gd name="T12" fmla="*/ 40 h 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40">
                  <a:moveTo>
                    <a:pt x="0" y="0"/>
                  </a:moveTo>
                  <a:lnTo>
                    <a:pt x="76" y="13"/>
                  </a:lnTo>
                  <a:lnTo>
                    <a:pt x="108" y="39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Freeform 69"/>
            <p:cNvSpPr>
              <a:spLocks/>
            </p:cNvSpPr>
            <p:nvPr/>
          </p:nvSpPr>
          <p:spPr bwMode="auto">
            <a:xfrm>
              <a:off x="560" y="1064"/>
              <a:ext cx="53" cy="155"/>
            </a:xfrm>
            <a:custGeom>
              <a:avLst/>
              <a:gdLst>
                <a:gd name="T0" fmla="*/ 0 w 155"/>
                <a:gd name="T1" fmla="*/ 0 h 456"/>
                <a:gd name="T2" fmla="*/ 17 w 155"/>
                <a:gd name="T3" fmla="*/ 35 h 456"/>
                <a:gd name="T4" fmla="*/ 26 w 155"/>
                <a:gd name="T5" fmla="*/ 79 h 456"/>
                <a:gd name="T6" fmla="*/ 37 w 155"/>
                <a:gd name="T7" fmla="*/ 115 h 456"/>
                <a:gd name="T8" fmla="*/ 53 w 155"/>
                <a:gd name="T9" fmla="*/ 155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456"/>
                <a:gd name="T17" fmla="*/ 155 w 155"/>
                <a:gd name="T18" fmla="*/ 456 h 4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456">
                  <a:moveTo>
                    <a:pt x="0" y="0"/>
                  </a:moveTo>
                  <a:lnTo>
                    <a:pt x="51" y="103"/>
                  </a:lnTo>
                  <a:lnTo>
                    <a:pt x="77" y="231"/>
                  </a:lnTo>
                  <a:lnTo>
                    <a:pt x="109" y="339"/>
                  </a:lnTo>
                  <a:lnTo>
                    <a:pt x="154" y="455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Freeform 70"/>
            <p:cNvSpPr>
              <a:spLocks/>
            </p:cNvSpPr>
            <p:nvPr/>
          </p:nvSpPr>
          <p:spPr bwMode="auto">
            <a:xfrm>
              <a:off x="582" y="1101"/>
              <a:ext cx="48" cy="21"/>
            </a:xfrm>
            <a:custGeom>
              <a:avLst/>
              <a:gdLst>
                <a:gd name="T0" fmla="*/ 0 w 142"/>
                <a:gd name="T1" fmla="*/ 0 h 59"/>
                <a:gd name="T2" fmla="*/ 9 w 142"/>
                <a:gd name="T3" fmla="*/ 5 h 59"/>
                <a:gd name="T4" fmla="*/ 22 w 142"/>
                <a:gd name="T5" fmla="*/ 7 h 59"/>
                <a:gd name="T6" fmla="*/ 35 w 142"/>
                <a:gd name="T7" fmla="*/ 21 h 59"/>
                <a:gd name="T8" fmla="*/ 48 w 142"/>
                <a:gd name="T9" fmla="*/ 1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59"/>
                <a:gd name="T17" fmla="*/ 142 w 142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59">
                  <a:moveTo>
                    <a:pt x="0" y="0"/>
                  </a:moveTo>
                  <a:lnTo>
                    <a:pt x="26" y="13"/>
                  </a:lnTo>
                  <a:lnTo>
                    <a:pt x="64" y="19"/>
                  </a:lnTo>
                  <a:lnTo>
                    <a:pt x="103" y="58"/>
                  </a:lnTo>
                  <a:lnTo>
                    <a:pt x="141" y="32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Freeform 71"/>
            <p:cNvSpPr>
              <a:spLocks/>
            </p:cNvSpPr>
            <p:nvPr/>
          </p:nvSpPr>
          <p:spPr bwMode="auto">
            <a:xfrm>
              <a:off x="558" y="1167"/>
              <a:ext cx="61" cy="26"/>
            </a:xfrm>
            <a:custGeom>
              <a:avLst/>
              <a:gdLst>
                <a:gd name="T0" fmla="*/ 0 w 180"/>
                <a:gd name="T1" fmla="*/ 0 h 78"/>
                <a:gd name="T2" fmla="*/ 26 w 180"/>
                <a:gd name="T3" fmla="*/ 9 h 78"/>
                <a:gd name="T4" fmla="*/ 45 w 180"/>
                <a:gd name="T5" fmla="*/ 21 h 78"/>
                <a:gd name="T6" fmla="*/ 61 w 180"/>
                <a:gd name="T7" fmla="*/ 26 h 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0"/>
                <a:gd name="T13" fmla="*/ 0 h 78"/>
                <a:gd name="T14" fmla="*/ 180 w 180"/>
                <a:gd name="T15" fmla="*/ 78 h 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0" h="78">
                  <a:moveTo>
                    <a:pt x="0" y="0"/>
                  </a:moveTo>
                  <a:lnTo>
                    <a:pt x="77" y="26"/>
                  </a:lnTo>
                  <a:lnTo>
                    <a:pt x="134" y="64"/>
                  </a:lnTo>
                  <a:lnTo>
                    <a:pt x="179" y="7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Freeform 72"/>
            <p:cNvSpPr>
              <a:spLocks/>
            </p:cNvSpPr>
            <p:nvPr/>
          </p:nvSpPr>
          <p:spPr bwMode="auto">
            <a:xfrm>
              <a:off x="955" y="967"/>
              <a:ext cx="37" cy="70"/>
            </a:xfrm>
            <a:custGeom>
              <a:avLst/>
              <a:gdLst>
                <a:gd name="T0" fmla="*/ 0 w 110"/>
                <a:gd name="T1" fmla="*/ 0 h 206"/>
                <a:gd name="T2" fmla="*/ 24 w 110"/>
                <a:gd name="T3" fmla="*/ 31 h 206"/>
                <a:gd name="T4" fmla="*/ 30 w 110"/>
                <a:gd name="T5" fmla="*/ 50 h 206"/>
                <a:gd name="T6" fmla="*/ 37 w 110"/>
                <a:gd name="T7" fmla="*/ 70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206"/>
                <a:gd name="T14" fmla="*/ 110 w 110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206">
                  <a:moveTo>
                    <a:pt x="0" y="0"/>
                  </a:moveTo>
                  <a:lnTo>
                    <a:pt x="70" y="90"/>
                  </a:lnTo>
                  <a:lnTo>
                    <a:pt x="90" y="147"/>
                  </a:lnTo>
                  <a:lnTo>
                    <a:pt x="109" y="205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Freeform 73"/>
            <p:cNvSpPr>
              <a:spLocks/>
            </p:cNvSpPr>
            <p:nvPr/>
          </p:nvSpPr>
          <p:spPr bwMode="auto">
            <a:xfrm>
              <a:off x="927" y="988"/>
              <a:ext cx="42" cy="38"/>
            </a:xfrm>
            <a:custGeom>
              <a:avLst/>
              <a:gdLst>
                <a:gd name="T0" fmla="*/ 0 w 122"/>
                <a:gd name="T1" fmla="*/ 0 h 110"/>
                <a:gd name="T2" fmla="*/ 15 w 122"/>
                <a:gd name="T3" fmla="*/ 22 h 110"/>
                <a:gd name="T4" fmla="*/ 22 w 122"/>
                <a:gd name="T5" fmla="*/ 36 h 110"/>
                <a:gd name="T6" fmla="*/ 42 w 122"/>
                <a:gd name="T7" fmla="*/ 38 h 1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2"/>
                <a:gd name="T13" fmla="*/ 0 h 110"/>
                <a:gd name="T14" fmla="*/ 122 w 122"/>
                <a:gd name="T15" fmla="*/ 110 h 1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2" h="110">
                  <a:moveTo>
                    <a:pt x="0" y="0"/>
                  </a:moveTo>
                  <a:lnTo>
                    <a:pt x="45" y="64"/>
                  </a:lnTo>
                  <a:lnTo>
                    <a:pt x="64" y="103"/>
                  </a:lnTo>
                  <a:lnTo>
                    <a:pt x="121" y="109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Freeform 74"/>
            <p:cNvSpPr>
              <a:spLocks/>
            </p:cNvSpPr>
            <p:nvPr/>
          </p:nvSpPr>
          <p:spPr bwMode="auto">
            <a:xfrm>
              <a:off x="1014" y="1043"/>
              <a:ext cx="28" cy="16"/>
            </a:xfrm>
            <a:custGeom>
              <a:avLst/>
              <a:gdLst>
                <a:gd name="T0" fmla="*/ 0 w 84"/>
                <a:gd name="T1" fmla="*/ 0 h 46"/>
                <a:gd name="T2" fmla="*/ 15 w 84"/>
                <a:gd name="T3" fmla="*/ 9 h 46"/>
                <a:gd name="T4" fmla="*/ 28 w 84"/>
                <a:gd name="T5" fmla="*/ 16 h 46"/>
                <a:gd name="T6" fmla="*/ 0 60000 65536"/>
                <a:gd name="T7" fmla="*/ 0 60000 65536"/>
                <a:gd name="T8" fmla="*/ 0 60000 65536"/>
                <a:gd name="T9" fmla="*/ 0 w 84"/>
                <a:gd name="T10" fmla="*/ 0 h 46"/>
                <a:gd name="T11" fmla="*/ 84 w 84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" h="46">
                  <a:moveTo>
                    <a:pt x="0" y="0"/>
                  </a:moveTo>
                  <a:lnTo>
                    <a:pt x="45" y="26"/>
                  </a:lnTo>
                  <a:lnTo>
                    <a:pt x="83" y="45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Freeform 75"/>
            <p:cNvSpPr>
              <a:spLocks/>
            </p:cNvSpPr>
            <p:nvPr/>
          </p:nvSpPr>
          <p:spPr bwMode="auto">
            <a:xfrm>
              <a:off x="966" y="1073"/>
              <a:ext cx="42" cy="9"/>
            </a:xfrm>
            <a:custGeom>
              <a:avLst/>
              <a:gdLst>
                <a:gd name="T0" fmla="*/ 0 w 123"/>
                <a:gd name="T1" fmla="*/ 0 h 26"/>
                <a:gd name="T2" fmla="*/ 24 w 123"/>
                <a:gd name="T3" fmla="*/ 9 h 26"/>
                <a:gd name="T4" fmla="*/ 42 w 123"/>
                <a:gd name="T5" fmla="*/ 9 h 26"/>
                <a:gd name="T6" fmla="*/ 0 60000 65536"/>
                <a:gd name="T7" fmla="*/ 0 60000 65536"/>
                <a:gd name="T8" fmla="*/ 0 60000 65536"/>
                <a:gd name="T9" fmla="*/ 0 w 123"/>
                <a:gd name="T10" fmla="*/ 0 h 26"/>
                <a:gd name="T11" fmla="*/ 123 w 123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3" h="26">
                  <a:moveTo>
                    <a:pt x="0" y="0"/>
                  </a:moveTo>
                  <a:lnTo>
                    <a:pt x="70" y="25"/>
                  </a:lnTo>
                  <a:lnTo>
                    <a:pt x="122" y="25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Freeform 76"/>
            <p:cNvSpPr>
              <a:spLocks/>
            </p:cNvSpPr>
            <p:nvPr/>
          </p:nvSpPr>
          <p:spPr bwMode="auto">
            <a:xfrm>
              <a:off x="1031" y="1099"/>
              <a:ext cx="39" cy="11"/>
            </a:xfrm>
            <a:custGeom>
              <a:avLst/>
              <a:gdLst>
                <a:gd name="T0" fmla="*/ 0 w 116"/>
                <a:gd name="T1" fmla="*/ 0 h 33"/>
                <a:gd name="T2" fmla="*/ 20 w 116"/>
                <a:gd name="T3" fmla="*/ 4 h 33"/>
                <a:gd name="T4" fmla="*/ 39 w 116"/>
                <a:gd name="T5" fmla="*/ 11 h 33"/>
                <a:gd name="T6" fmla="*/ 0 60000 65536"/>
                <a:gd name="T7" fmla="*/ 0 60000 65536"/>
                <a:gd name="T8" fmla="*/ 0 60000 65536"/>
                <a:gd name="T9" fmla="*/ 0 w 116"/>
                <a:gd name="T10" fmla="*/ 0 h 33"/>
                <a:gd name="T11" fmla="*/ 116 w 116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6" h="33">
                  <a:moveTo>
                    <a:pt x="0" y="0"/>
                  </a:moveTo>
                  <a:lnTo>
                    <a:pt x="58" y="12"/>
                  </a:lnTo>
                  <a:lnTo>
                    <a:pt x="115" y="32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Freeform 77"/>
            <p:cNvSpPr>
              <a:spLocks/>
            </p:cNvSpPr>
            <p:nvPr/>
          </p:nvSpPr>
          <p:spPr bwMode="auto">
            <a:xfrm>
              <a:off x="1022" y="1073"/>
              <a:ext cx="31" cy="53"/>
            </a:xfrm>
            <a:custGeom>
              <a:avLst/>
              <a:gdLst>
                <a:gd name="T0" fmla="*/ 0 w 91"/>
                <a:gd name="T1" fmla="*/ 0 h 154"/>
                <a:gd name="T2" fmla="*/ 20 w 91"/>
                <a:gd name="T3" fmla="*/ 31 h 154"/>
                <a:gd name="T4" fmla="*/ 31 w 91"/>
                <a:gd name="T5" fmla="*/ 53 h 154"/>
                <a:gd name="T6" fmla="*/ 0 60000 65536"/>
                <a:gd name="T7" fmla="*/ 0 60000 65536"/>
                <a:gd name="T8" fmla="*/ 0 60000 65536"/>
                <a:gd name="T9" fmla="*/ 0 w 91"/>
                <a:gd name="T10" fmla="*/ 0 h 154"/>
                <a:gd name="T11" fmla="*/ 91 w 91"/>
                <a:gd name="T12" fmla="*/ 154 h 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154">
                  <a:moveTo>
                    <a:pt x="0" y="0"/>
                  </a:moveTo>
                  <a:lnTo>
                    <a:pt x="58" y="89"/>
                  </a:lnTo>
                  <a:lnTo>
                    <a:pt x="90" y="153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Freeform 78"/>
            <p:cNvSpPr>
              <a:spLocks/>
            </p:cNvSpPr>
            <p:nvPr/>
          </p:nvSpPr>
          <p:spPr bwMode="auto">
            <a:xfrm>
              <a:off x="803" y="791"/>
              <a:ext cx="27" cy="39"/>
            </a:xfrm>
            <a:custGeom>
              <a:avLst/>
              <a:gdLst>
                <a:gd name="T0" fmla="*/ 0 w 78"/>
                <a:gd name="T1" fmla="*/ 0 h 116"/>
                <a:gd name="T2" fmla="*/ 13 w 78"/>
                <a:gd name="T3" fmla="*/ 24 h 116"/>
                <a:gd name="T4" fmla="*/ 27 w 78"/>
                <a:gd name="T5" fmla="*/ 39 h 116"/>
                <a:gd name="T6" fmla="*/ 0 60000 65536"/>
                <a:gd name="T7" fmla="*/ 0 60000 65536"/>
                <a:gd name="T8" fmla="*/ 0 60000 65536"/>
                <a:gd name="T9" fmla="*/ 0 w 78"/>
                <a:gd name="T10" fmla="*/ 0 h 116"/>
                <a:gd name="T11" fmla="*/ 78 w 78"/>
                <a:gd name="T12" fmla="*/ 116 h 1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" h="116">
                  <a:moveTo>
                    <a:pt x="0" y="0"/>
                  </a:moveTo>
                  <a:lnTo>
                    <a:pt x="38" y="70"/>
                  </a:lnTo>
                  <a:lnTo>
                    <a:pt x="77" y="115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Freeform 79"/>
            <p:cNvSpPr>
              <a:spLocks/>
            </p:cNvSpPr>
            <p:nvPr/>
          </p:nvSpPr>
          <p:spPr bwMode="auto">
            <a:xfrm>
              <a:off x="849" y="778"/>
              <a:ext cx="20" cy="50"/>
            </a:xfrm>
            <a:custGeom>
              <a:avLst/>
              <a:gdLst>
                <a:gd name="T0" fmla="*/ 0 w 59"/>
                <a:gd name="T1" fmla="*/ 0 h 149"/>
                <a:gd name="T2" fmla="*/ 9 w 59"/>
                <a:gd name="T3" fmla="*/ 21 h 149"/>
                <a:gd name="T4" fmla="*/ 20 w 59"/>
                <a:gd name="T5" fmla="*/ 50 h 149"/>
                <a:gd name="T6" fmla="*/ 0 60000 65536"/>
                <a:gd name="T7" fmla="*/ 0 60000 65536"/>
                <a:gd name="T8" fmla="*/ 0 60000 65536"/>
                <a:gd name="T9" fmla="*/ 0 w 59"/>
                <a:gd name="T10" fmla="*/ 0 h 149"/>
                <a:gd name="T11" fmla="*/ 59 w 59"/>
                <a:gd name="T12" fmla="*/ 149 h 1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49">
                  <a:moveTo>
                    <a:pt x="0" y="0"/>
                  </a:moveTo>
                  <a:lnTo>
                    <a:pt x="26" y="64"/>
                  </a:lnTo>
                  <a:lnTo>
                    <a:pt x="58" y="148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Freeform 80"/>
            <p:cNvSpPr>
              <a:spLocks/>
            </p:cNvSpPr>
            <p:nvPr/>
          </p:nvSpPr>
          <p:spPr bwMode="auto">
            <a:xfrm>
              <a:off x="918" y="767"/>
              <a:ext cx="57" cy="13"/>
            </a:xfrm>
            <a:custGeom>
              <a:avLst/>
              <a:gdLst>
                <a:gd name="T0" fmla="*/ 57 w 168"/>
                <a:gd name="T1" fmla="*/ 0 h 40"/>
                <a:gd name="T2" fmla="*/ 41 w 168"/>
                <a:gd name="T3" fmla="*/ 8 h 40"/>
                <a:gd name="T4" fmla="*/ 17 w 168"/>
                <a:gd name="T5" fmla="*/ 10 h 40"/>
                <a:gd name="T6" fmla="*/ 0 w 168"/>
                <a:gd name="T7" fmla="*/ 13 h 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40"/>
                <a:gd name="T14" fmla="*/ 168 w 168"/>
                <a:gd name="T15" fmla="*/ 40 h 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40">
                  <a:moveTo>
                    <a:pt x="167" y="0"/>
                  </a:moveTo>
                  <a:lnTo>
                    <a:pt x="122" y="26"/>
                  </a:lnTo>
                  <a:lnTo>
                    <a:pt x="51" y="32"/>
                  </a:lnTo>
                  <a:lnTo>
                    <a:pt x="0" y="39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Freeform 81"/>
            <p:cNvSpPr>
              <a:spLocks/>
            </p:cNvSpPr>
            <p:nvPr/>
          </p:nvSpPr>
          <p:spPr bwMode="auto">
            <a:xfrm>
              <a:off x="910" y="778"/>
              <a:ext cx="0" cy="18"/>
            </a:xfrm>
            <a:custGeom>
              <a:avLst/>
              <a:gdLst>
                <a:gd name="T0" fmla="*/ 0 w 1"/>
                <a:gd name="T1" fmla="*/ 0 h 53"/>
                <a:gd name="T2" fmla="*/ 0 w 1"/>
                <a:gd name="T3" fmla="*/ 18 h 53"/>
                <a:gd name="T4" fmla="*/ 0 60000 65536"/>
                <a:gd name="T5" fmla="*/ 0 60000 65536"/>
                <a:gd name="T6" fmla="*/ 0 w 1"/>
                <a:gd name="T7" fmla="*/ 0 h 53"/>
                <a:gd name="T8" fmla="*/ 0 w 1"/>
                <a:gd name="T9" fmla="*/ 53 h 5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">
                  <a:moveTo>
                    <a:pt x="0" y="0"/>
                  </a:moveTo>
                  <a:lnTo>
                    <a:pt x="0" y="52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Freeform 82"/>
            <p:cNvSpPr>
              <a:spLocks/>
            </p:cNvSpPr>
            <p:nvPr/>
          </p:nvSpPr>
          <p:spPr bwMode="auto">
            <a:xfrm>
              <a:off x="1290" y="865"/>
              <a:ext cx="123" cy="113"/>
            </a:xfrm>
            <a:custGeom>
              <a:avLst/>
              <a:gdLst>
                <a:gd name="T0" fmla="*/ 0 w 365"/>
                <a:gd name="T1" fmla="*/ 0 h 334"/>
                <a:gd name="T2" fmla="*/ 15 w 365"/>
                <a:gd name="T3" fmla="*/ 22 h 334"/>
                <a:gd name="T4" fmla="*/ 26 w 365"/>
                <a:gd name="T5" fmla="*/ 46 h 334"/>
                <a:gd name="T6" fmla="*/ 36 w 365"/>
                <a:gd name="T7" fmla="*/ 72 h 334"/>
                <a:gd name="T8" fmla="*/ 50 w 365"/>
                <a:gd name="T9" fmla="*/ 89 h 334"/>
                <a:gd name="T10" fmla="*/ 82 w 365"/>
                <a:gd name="T11" fmla="*/ 97 h 334"/>
                <a:gd name="T12" fmla="*/ 93 w 365"/>
                <a:gd name="T13" fmla="*/ 104 h 334"/>
                <a:gd name="T14" fmla="*/ 105 w 365"/>
                <a:gd name="T15" fmla="*/ 108 h 334"/>
                <a:gd name="T16" fmla="*/ 123 w 365"/>
                <a:gd name="T17" fmla="*/ 113 h 3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334"/>
                <a:gd name="T29" fmla="*/ 365 w 365"/>
                <a:gd name="T30" fmla="*/ 334 h 33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334">
                  <a:moveTo>
                    <a:pt x="0" y="0"/>
                  </a:moveTo>
                  <a:lnTo>
                    <a:pt x="44" y="64"/>
                  </a:lnTo>
                  <a:lnTo>
                    <a:pt x="76" y="135"/>
                  </a:lnTo>
                  <a:lnTo>
                    <a:pt x="108" y="212"/>
                  </a:lnTo>
                  <a:lnTo>
                    <a:pt x="147" y="263"/>
                  </a:lnTo>
                  <a:lnTo>
                    <a:pt x="243" y="288"/>
                  </a:lnTo>
                  <a:lnTo>
                    <a:pt x="275" y="308"/>
                  </a:lnTo>
                  <a:lnTo>
                    <a:pt x="313" y="320"/>
                  </a:lnTo>
                  <a:lnTo>
                    <a:pt x="364" y="333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Freeform 83"/>
            <p:cNvSpPr>
              <a:spLocks/>
            </p:cNvSpPr>
            <p:nvPr/>
          </p:nvSpPr>
          <p:spPr bwMode="auto">
            <a:xfrm>
              <a:off x="1226" y="1336"/>
              <a:ext cx="97" cy="20"/>
            </a:xfrm>
            <a:custGeom>
              <a:avLst/>
              <a:gdLst>
                <a:gd name="T0" fmla="*/ 0 w 283"/>
                <a:gd name="T1" fmla="*/ 0 h 58"/>
                <a:gd name="T2" fmla="*/ 15 w 283"/>
                <a:gd name="T3" fmla="*/ 2 h 58"/>
                <a:gd name="T4" fmla="*/ 35 w 283"/>
                <a:gd name="T5" fmla="*/ 9 h 58"/>
                <a:gd name="T6" fmla="*/ 61 w 283"/>
                <a:gd name="T7" fmla="*/ 16 h 58"/>
                <a:gd name="T8" fmla="*/ 97 w 283"/>
                <a:gd name="T9" fmla="*/ 20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3"/>
                <a:gd name="T16" fmla="*/ 0 h 58"/>
                <a:gd name="T17" fmla="*/ 283 w 283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3" h="58">
                  <a:moveTo>
                    <a:pt x="0" y="0"/>
                  </a:moveTo>
                  <a:lnTo>
                    <a:pt x="45" y="7"/>
                  </a:lnTo>
                  <a:lnTo>
                    <a:pt x="102" y="26"/>
                  </a:lnTo>
                  <a:lnTo>
                    <a:pt x="179" y="45"/>
                  </a:lnTo>
                  <a:lnTo>
                    <a:pt x="282" y="5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Freeform 84"/>
            <p:cNvSpPr>
              <a:spLocks/>
            </p:cNvSpPr>
            <p:nvPr/>
          </p:nvSpPr>
          <p:spPr bwMode="auto">
            <a:xfrm>
              <a:off x="1339" y="954"/>
              <a:ext cx="77" cy="24"/>
            </a:xfrm>
            <a:custGeom>
              <a:avLst/>
              <a:gdLst>
                <a:gd name="T0" fmla="*/ 0 w 225"/>
                <a:gd name="T1" fmla="*/ 0 h 71"/>
                <a:gd name="T2" fmla="*/ 30 w 225"/>
                <a:gd name="T3" fmla="*/ 4 h 71"/>
                <a:gd name="T4" fmla="*/ 50 w 225"/>
                <a:gd name="T5" fmla="*/ 17 h 71"/>
                <a:gd name="T6" fmla="*/ 77 w 225"/>
                <a:gd name="T7" fmla="*/ 24 h 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1"/>
                <a:gd name="T14" fmla="*/ 225 w 225"/>
                <a:gd name="T15" fmla="*/ 71 h 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1">
                  <a:moveTo>
                    <a:pt x="0" y="0"/>
                  </a:moveTo>
                  <a:lnTo>
                    <a:pt x="89" y="13"/>
                  </a:lnTo>
                  <a:lnTo>
                    <a:pt x="147" y="51"/>
                  </a:lnTo>
                  <a:lnTo>
                    <a:pt x="224" y="7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Freeform 85"/>
            <p:cNvSpPr>
              <a:spLocks/>
            </p:cNvSpPr>
            <p:nvPr/>
          </p:nvSpPr>
          <p:spPr bwMode="auto">
            <a:xfrm>
              <a:off x="1394" y="995"/>
              <a:ext cx="43" cy="11"/>
            </a:xfrm>
            <a:custGeom>
              <a:avLst/>
              <a:gdLst>
                <a:gd name="T0" fmla="*/ 0 w 129"/>
                <a:gd name="T1" fmla="*/ 0 h 33"/>
                <a:gd name="T2" fmla="*/ 28 w 129"/>
                <a:gd name="T3" fmla="*/ 4 h 33"/>
                <a:gd name="T4" fmla="*/ 43 w 129"/>
                <a:gd name="T5" fmla="*/ 11 h 33"/>
                <a:gd name="T6" fmla="*/ 0 60000 65536"/>
                <a:gd name="T7" fmla="*/ 0 60000 65536"/>
                <a:gd name="T8" fmla="*/ 0 60000 65536"/>
                <a:gd name="T9" fmla="*/ 0 w 129"/>
                <a:gd name="T10" fmla="*/ 0 h 33"/>
                <a:gd name="T11" fmla="*/ 129 w 129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" h="33">
                  <a:moveTo>
                    <a:pt x="0" y="0"/>
                  </a:moveTo>
                  <a:lnTo>
                    <a:pt x="83" y="13"/>
                  </a:lnTo>
                  <a:lnTo>
                    <a:pt x="128" y="32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Freeform 86"/>
            <p:cNvSpPr>
              <a:spLocks/>
            </p:cNvSpPr>
            <p:nvPr/>
          </p:nvSpPr>
          <p:spPr bwMode="auto">
            <a:xfrm>
              <a:off x="1424" y="1008"/>
              <a:ext cx="13" cy="7"/>
            </a:xfrm>
            <a:custGeom>
              <a:avLst/>
              <a:gdLst>
                <a:gd name="T0" fmla="*/ 0 w 40"/>
                <a:gd name="T1" fmla="*/ 2 h 20"/>
                <a:gd name="T2" fmla="*/ 10 w 40"/>
                <a:gd name="T3" fmla="*/ 7 h 20"/>
                <a:gd name="T4" fmla="*/ 13 w 40"/>
                <a:gd name="T5" fmla="*/ 0 h 20"/>
                <a:gd name="T6" fmla="*/ 0 60000 65536"/>
                <a:gd name="T7" fmla="*/ 0 60000 65536"/>
                <a:gd name="T8" fmla="*/ 0 60000 65536"/>
                <a:gd name="T9" fmla="*/ 0 w 40"/>
                <a:gd name="T10" fmla="*/ 0 h 20"/>
                <a:gd name="T11" fmla="*/ 40 w 40"/>
                <a:gd name="T12" fmla="*/ 20 h 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" h="20">
                  <a:moveTo>
                    <a:pt x="0" y="6"/>
                  </a:moveTo>
                  <a:lnTo>
                    <a:pt x="32" y="19"/>
                  </a:lnTo>
                  <a:lnTo>
                    <a:pt x="39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Freeform 87"/>
            <p:cNvSpPr>
              <a:spLocks/>
            </p:cNvSpPr>
            <p:nvPr/>
          </p:nvSpPr>
          <p:spPr bwMode="auto">
            <a:xfrm>
              <a:off x="1459" y="1054"/>
              <a:ext cx="102" cy="54"/>
            </a:xfrm>
            <a:custGeom>
              <a:avLst/>
              <a:gdLst>
                <a:gd name="T0" fmla="*/ 0 w 302"/>
                <a:gd name="T1" fmla="*/ 0 h 161"/>
                <a:gd name="T2" fmla="*/ 19 w 302"/>
                <a:gd name="T3" fmla="*/ 6 h 161"/>
                <a:gd name="T4" fmla="*/ 34 w 302"/>
                <a:gd name="T5" fmla="*/ 6 h 161"/>
                <a:gd name="T6" fmla="*/ 54 w 302"/>
                <a:gd name="T7" fmla="*/ 11 h 161"/>
                <a:gd name="T8" fmla="*/ 67 w 302"/>
                <a:gd name="T9" fmla="*/ 17 h 161"/>
                <a:gd name="T10" fmla="*/ 82 w 302"/>
                <a:gd name="T11" fmla="*/ 28 h 161"/>
                <a:gd name="T12" fmla="*/ 88 w 302"/>
                <a:gd name="T13" fmla="*/ 43 h 161"/>
                <a:gd name="T14" fmla="*/ 102 w 302"/>
                <a:gd name="T15" fmla="*/ 54 h 1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2"/>
                <a:gd name="T25" fmla="*/ 0 h 161"/>
                <a:gd name="T26" fmla="*/ 302 w 302"/>
                <a:gd name="T27" fmla="*/ 161 h 16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2" h="161">
                  <a:moveTo>
                    <a:pt x="0" y="0"/>
                  </a:moveTo>
                  <a:lnTo>
                    <a:pt x="57" y="19"/>
                  </a:lnTo>
                  <a:lnTo>
                    <a:pt x="102" y="19"/>
                  </a:lnTo>
                  <a:lnTo>
                    <a:pt x="160" y="32"/>
                  </a:lnTo>
                  <a:lnTo>
                    <a:pt x="198" y="51"/>
                  </a:lnTo>
                  <a:lnTo>
                    <a:pt x="243" y="83"/>
                  </a:lnTo>
                  <a:lnTo>
                    <a:pt x="262" y="128"/>
                  </a:lnTo>
                  <a:lnTo>
                    <a:pt x="301" y="16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Freeform 88"/>
            <p:cNvSpPr>
              <a:spLocks/>
            </p:cNvSpPr>
            <p:nvPr/>
          </p:nvSpPr>
          <p:spPr bwMode="auto">
            <a:xfrm>
              <a:off x="1482" y="1071"/>
              <a:ext cx="53" cy="22"/>
            </a:xfrm>
            <a:custGeom>
              <a:avLst/>
              <a:gdLst>
                <a:gd name="T0" fmla="*/ 0 w 155"/>
                <a:gd name="T1" fmla="*/ 0 h 65"/>
                <a:gd name="T2" fmla="*/ 17 w 155"/>
                <a:gd name="T3" fmla="*/ 4 h 65"/>
                <a:gd name="T4" fmla="*/ 33 w 155"/>
                <a:gd name="T5" fmla="*/ 11 h 65"/>
                <a:gd name="T6" fmla="*/ 53 w 155"/>
                <a:gd name="T7" fmla="*/ 22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5"/>
                <a:gd name="T13" fmla="*/ 0 h 65"/>
                <a:gd name="T14" fmla="*/ 155 w 155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5" h="65">
                  <a:moveTo>
                    <a:pt x="0" y="0"/>
                  </a:moveTo>
                  <a:lnTo>
                    <a:pt x="51" y="13"/>
                  </a:lnTo>
                  <a:lnTo>
                    <a:pt x="96" y="32"/>
                  </a:lnTo>
                  <a:lnTo>
                    <a:pt x="154" y="64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Freeform 89"/>
            <p:cNvSpPr>
              <a:spLocks/>
            </p:cNvSpPr>
            <p:nvPr/>
          </p:nvSpPr>
          <p:spPr bwMode="auto">
            <a:xfrm>
              <a:off x="1528" y="1139"/>
              <a:ext cx="61" cy="21"/>
            </a:xfrm>
            <a:custGeom>
              <a:avLst/>
              <a:gdLst>
                <a:gd name="T0" fmla="*/ 0 w 180"/>
                <a:gd name="T1" fmla="*/ 0 h 65"/>
                <a:gd name="T2" fmla="*/ 22 w 180"/>
                <a:gd name="T3" fmla="*/ 8 h 65"/>
                <a:gd name="T4" fmla="*/ 61 w 180"/>
                <a:gd name="T5" fmla="*/ 21 h 65"/>
                <a:gd name="T6" fmla="*/ 0 60000 65536"/>
                <a:gd name="T7" fmla="*/ 0 60000 65536"/>
                <a:gd name="T8" fmla="*/ 0 60000 65536"/>
                <a:gd name="T9" fmla="*/ 0 w 180"/>
                <a:gd name="T10" fmla="*/ 0 h 65"/>
                <a:gd name="T11" fmla="*/ 180 w 180"/>
                <a:gd name="T12" fmla="*/ 65 h 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0" h="65">
                  <a:moveTo>
                    <a:pt x="0" y="0"/>
                  </a:moveTo>
                  <a:lnTo>
                    <a:pt x="64" y="25"/>
                  </a:lnTo>
                  <a:lnTo>
                    <a:pt x="179" y="64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Freeform 90"/>
            <p:cNvSpPr>
              <a:spLocks/>
            </p:cNvSpPr>
            <p:nvPr/>
          </p:nvSpPr>
          <p:spPr bwMode="auto">
            <a:xfrm>
              <a:off x="1589" y="1243"/>
              <a:ext cx="82" cy="13"/>
            </a:xfrm>
            <a:custGeom>
              <a:avLst/>
              <a:gdLst>
                <a:gd name="T0" fmla="*/ 0 w 243"/>
                <a:gd name="T1" fmla="*/ 0 h 39"/>
                <a:gd name="T2" fmla="*/ 52 w 243"/>
                <a:gd name="T3" fmla="*/ 13 h 39"/>
                <a:gd name="T4" fmla="*/ 82 w 243"/>
                <a:gd name="T5" fmla="*/ 10 h 39"/>
                <a:gd name="T6" fmla="*/ 0 60000 65536"/>
                <a:gd name="T7" fmla="*/ 0 60000 65536"/>
                <a:gd name="T8" fmla="*/ 0 60000 65536"/>
                <a:gd name="T9" fmla="*/ 0 w 243"/>
                <a:gd name="T10" fmla="*/ 0 h 39"/>
                <a:gd name="T11" fmla="*/ 243 w 243"/>
                <a:gd name="T12" fmla="*/ 39 h 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3" h="39">
                  <a:moveTo>
                    <a:pt x="0" y="0"/>
                  </a:moveTo>
                  <a:lnTo>
                    <a:pt x="153" y="38"/>
                  </a:lnTo>
                  <a:lnTo>
                    <a:pt x="242" y="3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Freeform 91"/>
            <p:cNvSpPr>
              <a:spLocks/>
            </p:cNvSpPr>
            <p:nvPr/>
          </p:nvSpPr>
          <p:spPr bwMode="auto">
            <a:xfrm>
              <a:off x="1010" y="740"/>
              <a:ext cx="11" cy="53"/>
            </a:xfrm>
            <a:custGeom>
              <a:avLst/>
              <a:gdLst>
                <a:gd name="T0" fmla="*/ 0 w 31"/>
                <a:gd name="T1" fmla="*/ 0 h 158"/>
                <a:gd name="T2" fmla="*/ 7 w 31"/>
                <a:gd name="T3" fmla="*/ 15 h 158"/>
                <a:gd name="T4" fmla="*/ 6 w 31"/>
                <a:gd name="T5" fmla="*/ 34 h 158"/>
                <a:gd name="T6" fmla="*/ 11 w 31"/>
                <a:gd name="T7" fmla="*/ 53 h 1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58"/>
                <a:gd name="T14" fmla="*/ 31 w 31"/>
                <a:gd name="T15" fmla="*/ 158 h 1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58">
                  <a:moveTo>
                    <a:pt x="0" y="0"/>
                  </a:moveTo>
                  <a:lnTo>
                    <a:pt x="19" y="45"/>
                  </a:lnTo>
                  <a:lnTo>
                    <a:pt x="17" y="100"/>
                  </a:lnTo>
                  <a:lnTo>
                    <a:pt x="30" y="15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Freeform 92"/>
            <p:cNvSpPr>
              <a:spLocks/>
            </p:cNvSpPr>
            <p:nvPr/>
          </p:nvSpPr>
          <p:spPr bwMode="auto">
            <a:xfrm>
              <a:off x="1021" y="736"/>
              <a:ext cx="6" cy="53"/>
            </a:xfrm>
            <a:custGeom>
              <a:avLst/>
              <a:gdLst>
                <a:gd name="T0" fmla="*/ 0 w 19"/>
                <a:gd name="T1" fmla="*/ 0 h 157"/>
                <a:gd name="T2" fmla="*/ 0 w 19"/>
                <a:gd name="T3" fmla="*/ 18 h 157"/>
                <a:gd name="T4" fmla="*/ 4 w 19"/>
                <a:gd name="T5" fmla="*/ 35 h 157"/>
                <a:gd name="T6" fmla="*/ 6 w 19"/>
                <a:gd name="T7" fmla="*/ 53 h 15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157"/>
                <a:gd name="T14" fmla="*/ 19 w 19"/>
                <a:gd name="T15" fmla="*/ 157 h 15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157">
                  <a:moveTo>
                    <a:pt x="0" y="0"/>
                  </a:moveTo>
                  <a:lnTo>
                    <a:pt x="0" y="52"/>
                  </a:lnTo>
                  <a:lnTo>
                    <a:pt x="14" y="103"/>
                  </a:lnTo>
                  <a:lnTo>
                    <a:pt x="18" y="156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Freeform 93"/>
            <p:cNvSpPr>
              <a:spLocks/>
            </p:cNvSpPr>
            <p:nvPr/>
          </p:nvSpPr>
          <p:spPr bwMode="auto">
            <a:xfrm>
              <a:off x="1141" y="685"/>
              <a:ext cx="25" cy="48"/>
            </a:xfrm>
            <a:custGeom>
              <a:avLst/>
              <a:gdLst>
                <a:gd name="T0" fmla="*/ 0 w 72"/>
                <a:gd name="T1" fmla="*/ 2 h 140"/>
                <a:gd name="T2" fmla="*/ 11 w 72"/>
                <a:gd name="T3" fmla="*/ 13 h 140"/>
                <a:gd name="T4" fmla="*/ 14 w 72"/>
                <a:gd name="T5" fmla="*/ 26 h 140"/>
                <a:gd name="T6" fmla="*/ 18 w 72"/>
                <a:gd name="T7" fmla="*/ 39 h 140"/>
                <a:gd name="T8" fmla="*/ 18 w 72"/>
                <a:gd name="T9" fmla="*/ 48 h 140"/>
                <a:gd name="T10" fmla="*/ 25 w 72"/>
                <a:gd name="T11" fmla="*/ 43 h 140"/>
                <a:gd name="T12" fmla="*/ 22 w 72"/>
                <a:gd name="T13" fmla="*/ 24 h 140"/>
                <a:gd name="T14" fmla="*/ 18 w 72"/>
                <a:gd name="T15" fmla="*/ 10 h 140"/>
                <a:gd name="T16" fmla="*/ 12 w 72"/>
                <a:gd name="T17" fmla="*/ 0 h 1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2"/>
                <a:gd name="T28" fmla="*/ 0 h 140"/>
                <a:gd name="T29" fmla="*/ 72 w 72"/>
                <a:gd name="T30" fmla="*/ 140 h 1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2" h="140">
                  <a:moveTo>
                    <a:pt x="0" y="5"/>
                  </a:moveTo>
                  <a:lnTo>
                    <a:pt x="32" y="37"/>
                  </a:lnTo>
                  <a:lnTo>
                    <a:pt x="39" y="75"/>
                  </a:lnTo>
                  <a:lnTo>
                    <a:pt x="52" y="113"/>
                  </a:lnTo>
                  <a:lnTo>
                    <a:pt x="52" y="139"/>
                  </a:lnTo>
                  <a:lnTo>
                    <a:pt x="71" y="126"/>
                  </a:lnTo>
                  <a:lnTo>
                    <a:pt x="64" y="69"/>
                  </a:lnTo>
                  <a:lnTo>
                    <a:pt x="51" y="29"/>
                  </a:lnTo>
                  <a:lnTo>
                    <a:pt x="34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Freeform 94"/>
            <p:cNvSpPr>
              <a:spLocks/>
            </p:cNvSpPr>
            <p:nvPr/>
          </p:nvSpPr>
          <p:spPr bwMode="auto">
            <a:xfrm>
              <a:off x="1251" y="637"/>
              <a:ext cx="6" cy="57"/>
            </a:xfrm>
            <a:custGeom>
              <a:avLst/>
              <a:gdLst>
                <a:gd name="T0" fmla="*/ 0 w 17"/>
                <a:gd name="T1" fmla="*/ 0 h 167"/>
                <a:gd name="T2" fmla="*/ 0 w 17"/>
                <a:gd name="T3" fmla="*/ 22 h 167"/>
                <a:gd name="T4" fmla="*/ 3 w 17"/>
                <a:gd name="T5" fmla="*/ 39 h 167"/>
                <a:gd name="T6" fmla="*/ 6 w 17"/>
                <a:gd name="T7" fmla="*/ 57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167"/>
                <a:gd name="T14" fmla="*/ 17 w 17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167">
                  <a:moveTo>
                    <a:pt x="0" y="0"/>
                  </a:moveTo>
                  <a:lnTo>
                    <a:pt x="0" y="65"/>
                  </a:lnTo>
                  <a:lnTo>
                    <a:pt x="8" y="115"/>
                  </a:lnTo>
                  <a:lnTo>
                    <a:pt x="16" y="166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Freeform 95"/>
            <p:cNvSpPr>
              <a:spLocks/>
            </p:cNvSpPr>
            <p:nvPr/>
          </p:nvSpPr>
          <p:spPr bwMode="auto">
            <a:xfrm>
              <a:off x="636" y="951"/>
              <a:ext cx="49" cy="18"/>
            </a:xfrm>
            <a:custGeom>
              <a:avLst/>
              <a:gdLst>
                <a:gd name="T0" fmla="*/ 0 w 145"/>
                <a:gd name="T1" fmla="*/ 0 h 52"/>
                <a:gd name="T2" fmla="*/ 17 w 145"/>
                <a:gd name="T3" fmla="*/ 11 h 52"/>
                <a:gd name="T4" fmla="*/ 35 w 145"/>
                <a:gd name="T5" fmla="*/ 12 h 52"/>
                <a:gd name="T6" fmla="*/ 49 w 145"/>
                <a:gd name="T7" fmla="*/ 18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"/>
                <a:gd name="T13" fmla="*/ 0 h 52"/>
                <a:gd name="T14" fmla="*/ 145 w 145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" h="52">
                  <a:moveTo>
                    <a:pt x="0" y="0"/>
                  </a:moveTo>
                  <a:lnTo>
                    <a:pt x="51" y="32"/>
                  </a:lnTo>
                  <a:lnTo>
                    <a:pt x="103" y="35"/>
                  </a:lnTo>
                  <a:lnTo>
                    <a:pt x="144" y="51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Freeform 96"/>
            <p:cNvSpPr>
              <a:spLocks/>
            </p:cNvSpPr>
            <p:nvPr/>
          </p:nvSpPr>
          <p:spPr bwMode="auto">
            <a:xfrm>
              <a:off x="795" y="759"/>
              <a:ext cx="6" cy="76"/>
            </a:xfrm>
            <a:custGeom>
              <a:avLst/>
              <a:gdLst>
                <a:gd name="T0" fmla="*/ 6 w 17"/>
                <a:gd name="T1" fmla="*/ 0 h 225"/>
                <a:gd name="T2" fmla="*/ 6 w 17"/>
                <a:gd name="T3" fmla="*/ 24 h 225"/>
                <a:gd name="T4" fmla="*/ 3 w 17"/>
                <a:gd name="T5" fmla="*/ 43 h 225"/>
                <a:gd name="T6" fmla="*/ 0 w 17"/>
                <a:gd name="T7" fmla="*/ 76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225"/>
                <a:gd name="T14" fmla="*/ 17 w 17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225">
                  <a:moveTo>
                    <a:pt x="16" y="0"/>
                  </a:moveTo>
                  <a:lnTo>
                    <a:pt x="16" y="70"/>
                  </a:lnTo>
                  <a:lnTo>
                    <a:pt x="8" y="128"/>
                  </a:lnTo>
                  <a:lnTo>
                    <a:pt x="0" y="224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Freeform 97"/>
            <p:cNvSpPr>
              <a:spLocks/>
            </p:cNvSpPr>
            <p:nvPr/>
          </p:nvSpPr>
          <p:spPr bwMode="auto">
            <a:xfrm>
              <a:off x="1055" y="1295"/>
              <a:ext cx="35" cy="22"/>
            </a:xfrm>
            <a:custGeom>
              <a:avLst/>
              <a:gdLst>
                <a:gd name="T0" fmla="*/ 0 w 104"/>
                <a:gd name="T1" fmla="*/ 22 h 65"/>
                <a:gd name="T2" fmla="*/ 18 w 104"/>
                <a:gd name="T3" fmla="*/ 11 h 65"/>
                <a:gd name="T4" fmla="*/ 28 w 104"/>
                <a:gd name="T5" fmla="*/ 2 h 65"/>
                <a:gd name="T6" fmla="*/ 35 w 104"/>
                <a:gd name="T7" fmla="*/ 0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65"/>
                <a:gd name="T14" fmla="*/ 104 w 104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65">
                  <a:moveTo>
                    <a:pt x="0" y="64"/>
                  </a:moveTo>
                  <a:lnTo>
                    <a:pt x="52" y="32"/>
                  </a:lnTo>
                  <a:lnTo>
                    <a:pt x="84" y="6"/>
                  </a:lnTo>
                  <a:lnTo>
                    <a:pt x="103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Freeform 98"/>
            <p:cNvSpPr>
              <a:spLocks/>
            </p:cNvSpPr>
            <p:nvPr/>
          </p:nvSpPr>
          <p:spPr bwMode="auto">
            <a:xfrm>
              <a:off x="1118" y="1255"/>
              <a:ext cx="46" cy="20"/>
            </a:xfrm>
            <a:custGeom>
              <a:avLst/>
              <a:gdLst>
                <a:gd name="T0" fmla="*/ 0 w 135"/>
                <a:gd name="T1" fmla="*/ 20 h 59"/>
                <a:gd name="T2" fmla="*/ 24 w 135"/>
                <a:gd name="T3" fmla="*/ 11 h 59"/>
                <a:gd name="T4" fmla="*/ 37 w 135"/>
                <a:gd name="T5" fmla="*/ 4 h 59"/>
                <a:gd name="T6" fmla="*/ 46 w 135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5"/>
                <a:gd name="T13" fmla="*/ 0 h 59"/>
                <a:gd name="T14" fmla="*/ 135 w 135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5" h="59">
                  <a:moveTo>
                    <a:pt x="0" y="58"/>
                  </a:moveTo>
                  <a:lnTo>
                    <a:pt x="70" y="32"/>
                  </a:lnTo>
                  <a:lnTo>
                    <a:pt x="109" y="13"/>
                  </a:lnTo>
                  <a:lnTo>
                    <a:pt x="134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Freeform 99"/>
            <p:cNvSpPr>
              <a:spLocks/>
            </p:cNvSpPr>
            <p:nvPr/>
          </p:nvSpPr>
          <p:spPr bwMode="auto">
            <a:xfrm>
              <a:off x="817" y="1038"/>
              <a:ext cx="34" cy="18"/>
            </a:xfrm>
            <a:custGeom>
              <a:avLst/>
              <a:gdLst>
                <a:gd name="T0" fmla="*/ 0 w 104"/>
                <a:gd name="T1" fmla="*/ 18 h 53"/>
                <a:gd name="T2" fmla="*/ 19 w 104"/>
                <a:gd name="T3" fmla="*/ 11 h 53"/>
                <a:gd name="T4" fmla="*/ 25 w 104"/>
                <a:gd name="T5" fmla="*/ 4 h 53"/>
                <a:gd name="T6" fmla="*/ 34 w 104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53"/>
                <a:gd name="T14" fmla="*/ 104 w 104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53">
                  <a:moveTo>
                    <a:pt x="0" y="52"/>
                  </a:moveTo>
                  <a:lnTo>
                    <a:pt x="58" y="32"/>
                  </a:lnTo>
                  <a:lnTo>
                    <a:pt x="77" y="13"/>
                  </a:lnTo>
                  <a:lnTo>
                    <a:pt x="103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Freeform 100"/>
            <p:cNvSpPr>
              <a:spLocks/>
            </p:cNvSpPr>
            <p:nvPr/>
          </p:nvSpPr>
          <p:spPr bwMode="auto">
            <a:xfrm>
              <a:off x="849" y="1110"/>
              <a:ext cx="11" cy="6"/>
            </a:xfrm>
            <a:custGeom>
              <a:avLst/>
              <a:gdLst>
                <a:gd name="T0" fmla="*/ 0 w 33"/>
                <a:gd name="T1" fmla="*/ 6 h 17"/>
                <a:gd name="T2" fmla="*/ 11 w 33"/>
                <a:gd name="T3" fmla="*/ 0 h 17"/>
                <a:gd name="T4" fmla="*/ 0 60000 65536"/>
                <a:gd name="T5" fmla="*/ 0 60000 65536"/>
                <a:gd name="T6" fmla="*/ 0 w 33"/>
                <a:gd name="T7" fmla="*/ 0 h 17"/>
                <a:gd name="T8" fmla="*/ 33 w 33"/>
                <a:gd name="T9" fmla="*/ 17 h 1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" h="17">
                  <a:moveTo>
                    <a:pt x="0" y="16"/>
                  </a:moveTo>
                  <a:lnTo>
                    <a:pt x="32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Freeform 101"/>
            <p:cNvSpPr>
              <a:spLocks/>
            </p:cNvSpPr>
            <p:nvPr/>
          </p:nvSpPr>
          <p:spPr bwMode="auto">
            <a:xfrm>
              <a:off x="892" y="1003"/>
              <a:ext cx="24" cy="15"/>
            </a:xfrm>
            <a:custGeom>
              <a:avLst/>
              <a:gdLst>
                <a:gd name="T0" fmla="*/ 0 w 70"/>
                <a:gd name="T1" fmla="*/ 15 h 45"/>
                <a:gd name="T2" fmla="*/ 11 w 70"/>
                <a:gd name="T3" fmla="*/ 10 h 45"/>
                <a:gd name="T4" fmla="*/ 18 w 70"/>
                <a:gd name="T5" fmla="*/ 5 h 45"/>
                <a:gd name="T6" fmla="*/ 24 w 70"/>
                <a:gd name="T7" fmla="*/ 0 h 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"/>
                <a:gd name="T13" fmla="*/ 0 h 45"/>
                <a:gd name="T14" fmla="*/ 70 w 70"/>
                <a:gd name="T15" fmla="*/ 45 h 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" h="45">
                  <a:moveTo>
                    <a:pt x="0" y="44"/>
                  </a:moveTo>
                  <a:lnTo>
                    <a:pt x="32" y="29"/>
                  </a:lnTo>
                  <a:lnTo>
                    <a:pt x="53" y="15"/>
                  </a:lnTo>
                  <a:lnTo>
                    <a:pt x="69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Freeform 102"/>
            <p:cNvSpPr>
              <a:spLocks/>
            </p:cNvSpPr>
            <p:nvPr/>
          </p:nvSpPr>
          <p:spPr bwMode="auto">
            <a:xfrm>
              <a:off x="924" y="1069"/>
              <a:ext cx="23" cy="15"/>
            </a:xfrm>
            <a:custGeom>
              <a:avLst/>
              <a:gdLst>
                <a:gd name="T0" fmla="*/ 0 w 69"/>
                <a:gd name="T1" fmla="*/ 15 h 46"/>
                <a:gd name="T2" fmla="*/ 7 w 69"/>
                <a:gd name="T3" fmla="*/ 10 h 46"/>
                <a:gd name="T4" fmla="*/ 12 w 69"/>
                <a:gd name="T5" fmla="*/ 7 h 46"/>
                <a:gd name="T6" fmla="*/ 16 w 69"/>
                <a:gd name="T7" fmla="*/ 3 h 46"/>
                <a:gd name="T8" fmla="*/ 23 w 6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46"/>
                <a:gd name="T17" fmla="*/ 69 w 69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46">
                  <a:moveTo>
                    <a:pt x="0" y="45"/>
                  </a:moveTo>
                  <a:lnTo>
                    <a:pt x="22" y="30"/>
                  </a:lnTo>
                  <a:lnTo>
                    <a:pt x="35" y="21"/>
                  </a:lnTo>
                  <a:lnTo>
                    <a:pt x="49" y="8"/>
                  </a:lnTo>
                  <a:lnTo>
                    <a:pt x="68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Freeform 103"/>
            <p:cNvSpPr>
              <a:spLocks/>
            </p:cNvSpPr>
            <p:nvPr/>
          </p:nvSpPr>
          <p:spPr bwMode="auto">
            <a:xfrm>
              <a:off x="883" y="785"/>
              <a:ext cx="6" cy="71"/>
            </a:xfrm>
            <a:custGeom>
              <a:avLst/>
              <a:gdLst>
                <a:gd name="T0" fmla="*/ 6 w 17"/>
                <a:gd name="T1" fmla="*/ 0 h 211"/>
                <a:gd name="T2" fmla="*/ 0 w 17"/>
                <a:gd name="T3" fmla="*/ 20 h 211"/>
                <a:gd name="T4" fmla="*/ 0 w 17"/>
                <a:gd name="T5" fmla="*/ 32 h 211"/>
                <a:gd name="T6" fmla="*/ 0 w 17"/>
                <a:gd name="T7" fmla="*/ 47 h 211"/>
                <a:gd name="T8" fmla="*/ 4 w 17"/>
                <a:gd name="T9" fmla="*/ 58 h 211"/>
                <a:gd name="T10" fmla="*/ 2 w 17"/>
                <a:gd name="T11" fmla="*/ 71 h 2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211"/>
                <a:gd name="T20" fmla="*/ 17 w 17"/>
                <a:gd name="T21" fmla="*/ 211 h 2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211">
                  <a:moveTo>
                    <a:pt x="16" y="0"/>
                  </a:moveTo>
                  <a:lnTo>
                    <a:pt x="0" y="58"/>
                  </a:lnTo>
                  <a:lnTo>
                    <a:pt x="0" y="96"/>
                  </a:lnTo>
                  <a:lnTo>
                    <a:pt x="0" y="139"/>
                  </a:lnTo>
                  <a:lnTo>
                    <a:pt x="12" y="171"/>
                  </a:lnTo>
                  <a:lnTo>
                    <a:pt x="6" y="21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Freeform 104"/>
            <p:cNvSpPr>
              <a:spLocks/>
            </p:cNvSpPr>
            <p:nvPr/>
          </p:nvSpPr>
          <p:spPr bwMode="auto">
            <a:xfrm>
              <a:off x="1062" y="712"/>
              <a:ext cx="56" cy="39"/>
            </a:xfrm>
            <a:custGeom>
              <a:avLst/>
              <a:gdLst>
                <a:gd name="T0" fmla="*/ 0 w 164"/>
                <a:gd name="T1" fmla="*/ 39 h 116"/>
                <a:gd name="T2" fmla="*/ 20 w 164"/>
                <a:gd name="T3" fmla="*/ 31 h 116"/>
                <a:gd name="T4" fmla="*/ 31 w 164"/>
                <a:gd name="T5" fmla="*/ 21 h 116"/>
                <a:gd name="T6" fmla="*/ 41 w 164"/>
                <a:gd name="T7" fmla="*/ 3 h 116"/>
                <a:gd name="T8" fmla="*/ 56 w 164"/>
                <a:gd name="T9" fmla="*/ 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4"/>
                <a:gd name="T16" fmla="*/ 0 h 116"/>
                <a:gd name="T17" fmla="*/ 164 w 164"/>
                <a:gd name="T18" fmla="*/ 116 h 1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4" h="116">
                  <a:moveTo>
                    <a:pt x="0" y="115"/>
                  </a:moveTo>
                  <a:lnTo>
                    <a:pt x="58" y="91"/>
                  </a:lnTo>
                  <a:lnTo>
                    <a:pt x="91" y="63"/>
                  </a:lnTo>
                  <a:lnTo>
                    <a:pt x="120" y="10"/>
                  </a:lnTo>
                  <a:lnTo>
                    <a:pt x="163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Freeform 105"/>
            <p:cNvSpPr>
              <a:spLocks/>
            </p:cNvSpPr>
            <p:nvPr/>
          </p:nvSpPr>
          <p:spPr bwMode="auto">
            <a:xfrm>
              <a:off x="1208" y="668"/>
              <a:ext cx="6" cy="10"/>
            </a:xfrm>
            <a:custGeom>
              <a:avLst/>
              <a:gdLst>
                <a:gd name="T0" fmla="*/ 0 w 17"/>
                <a:gd name="T1" fmla="*/ 0 h 29"/>
                <a:gd name="T2" fmla="*/ 6 w 17"/>
                <a:gd name="T3" fmla="*/ 10 h 29"/>
                <a:gd name="T4" fmla="*/ 0 60000 65536"/>
                <a:gd name="T5" fmla="*/ 0 60000 65536"/>
                <a:gd name="T6" fmla="*/ 0 w 17"/>
                <a:gd name="T7" fmla="*/ 0 h 29"/>
                <a:gd name="T8" fmla="*/ 17 w 17"/>
                <a:gd name="T9" fmla="*/ 29 h 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" h="29">
                  <a:moveTo>
                    <a:pt x="0" y="0"/>
                  </a:moveTo>
                  <a:lnTo>
                    <a:pt x="16" y="28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Freeform 106" descr="5%"/>
            <p:cNvSpPr>
              <a:spLocks/>
            </p:cNvSpPr>
            <p:nvPr/>
          </p:nvSpPr>
          <p:spPr bwMode="auto">
            <a:xfrm>
              <a:off x="986" y="669"/>
              <a:ext cx="109" cy="43"/>
            </a:xfrm>
            <a:custGeom>
              <a:avLst/>
              <a:gdLst>
                <a:gd name="T0" fmla="*/ 0 w 322"/>
                <a:gd name="T1" fmla="*/ 43 h 126"/>
                <a:gd name="T2" fmla="*/ 34 w 322"/>
                <a:gd name="T3" fmla="*/ 34 h 126"/>
                <a:gd name="T4" fmla="*/ 37 w 322"/>
                <a:gd name="T5" fmla="*/ 25 h 126"/>
                <a:gd name="T6" fmla="*/ 55 w 322"/>
                <a:gd name="T7" fmla="*/ 23 h 126"/>
                <a:gd name="T8" fmla="*/ 68 w 322"/>
                <a:gd name="T9" fmla="*/ 16 h 126"/>
                <a:gd name="T10" fmla="*/ 92 w 322"/>
                <a:gd name="T11" fmla="*/ 10 h 126"/>
                <a:gd name="T12" fmla="*/ 109 w 322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2"/>
                <a:gd name="T22" fmla="*/ 0 h 126"/>
                <a:gd name="T23" fmla="*/ 322 w 322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2" h="126">
                  <a:moveTo>
                    <a:pt x="0" y="125"/>
                  </a:moveTo>
                  <a:lnTo>
                    <a:pt x="100" y="101"/>
                  </a:lnTo>
                  <a:lnTo>
                    <a:pt x="110" y="72"/>
                  </a:lnTo>
                  <a:lnTo>
                    <a:pt x="163" y="68"/>
                  </a:lnTo>
                  <a:lnTo>
                    <a:pt x="201" y="48"/>
                  </a:lnTo>
                  <a:lnTo>
                    <a:pt x="273" y="29"/>
                  </a:lnTo>
                  <a:lnTo>
                    <a:pt x="321" y="0"/>
                  </a:lnTo>
                </a:path>
              </a:pathLst>
            </a:custGeom>
            <a:pattFill prst="pct5">
              <a:fgClr>
                <a:srgbClr val="3399FF"/>
              </a:fgClr>
              <a:bgClr>
                <a:schemeClr val="bg1"/>
              </a:bgClr>
            </a:pattFill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Freeform 107"/>
            <p:cNvSpPr>
              <a:spLocks/>
            </p:cNvSpPr>
            <p:nvPr/>
          </p:nvSpPr>
          <p:spPr bwMode="auto">
            <a:xfrm>
              <a:off x="1109" y="660"/>
              <a:ext cx="9" cy="6"/>
            </a:xfrm>
            <a:custGeom>
              <a:avLst/>
              <a:gdLst>
                <a:gd name="T0" fmla="*/ 0 w 25"/>
                <a:gd name="T1" fmla="*/ 6 h 20"/>
                <a:gd name="T2" fmla="*/ 9 w 25"/>
                <a:gd name="T3" fmla="*/ 0 h 20"/>
                <a:gd name="T4" fmla="*/ 0 60000 65536"/>
                <a:gd name="T5" fmla="*/ 0 60000 65536"/>
                <a:gd name="T6" fmla="*/ 0 w 25"/>
                <a:gd name="T7" fmla="*/ 0 h 20"/>
                <a:gd name="T8" fmla="*/ 25 w 25"/>
                <a:gd name="T9" fmla="*/ 20 h 2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" h="20">
                  <a:moveTo>
                    <a:pt x="0" y="19"/>
                  </a:moveTo>
                  <a:lnTo>
                    <a:pt x="24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Freeform 108"/>
            <p:cNvSpPr>
              <a:spLocks/>
            </p:cNvSpPr>
            <p:nvPr/>
          </p:nvSpPr>
          <p:spPr bwMode="auto">
            <a:xfrm>
              <a:off x="848" y="759"/>
              <a:ext cx="19" cy="12"/>
            </a:xfrm>
            <a:custGeom>
              <a:avLst/>
              <a:gdLst>
                <a:gd name="T0" fmla="*/ 0 w 58"/>
                <a:gd name="T1" fmla="*/ 12 h 35"/>
                <a:gd name="T2" fmla="*/ 9 w 58"/>
                <a:gd name="T3" fmla="*/ 3 h 35"/>
                <a:gd name="T4" fmla="*/ 19 w 58"/>
                <a:gd name="T5" fmla="*/ 0 h 35"/>
                <a:gd name="T6" fmla="*/ 0 60000 65536"/>
                <a:gd name="T7" fmla="*/ 0 60000 65536"/>
                <a:gd name="T8" fmla="*/ 0 60000 65536"/>
                <a:gd name="T9" fmla="*/ 0 w 58"/>
                <a:gd name="T10" fmla="*/ 0 h 35"/>
                <a:gd name="T11" fmla="*/ 58 w 58"/>
                <a:gd name="T12" fmla="*/ 35 h 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35">
                  <a:moveTo>
                    <a:pt x="0" y="34"/>
                  </a:moveTo>
                  <a:lnTo>
                    <a:pt x="28" y="10"/>
                  </a:lnTo>
                  <a:lnTo>
                    <a:pt x="57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Freeform 109"/>
            <p:cNvSpPr>
              <a:spLocks/>
            </p:cNvSpPr>
            <p:nvPr/>
          </p:nvSpPr>
          <p:spPr bwMode="auto">
            <a:xfrm>
              <a:off x="600" y="917"/>
              <a:ext cx="65" cy="30"/>
            </a:xfrm>
            <a:custGeom>
              <a:avLst/>
              <a:gdLst>
                <a:gd name="T0" fmla="*/ 0 w 193"/>
                <a:gd name="T1" fmla="*/ 30 h 87"/>
                <a:gd name="T2" fmla="*/ 21 w 193"/>
                <a:gd name="T3" fmla="*/ 20 h 87"/>
                <a:gd name="T4" fmla="*/ 29 w 193"/>
                <a:gd name="T5" fmla="*/ 17 h 87"/>
                <a:gd name="T6" fmla="*/ 39 w 193"/>
                <a:gd name="T7" fmla="*/ 8 h 87"/>
                <a:gd name="T8" fmla="*/ 52 w 193"/>
                <a:gd name="T9" fmla="*/ 3 h 87"/>
                <a:gd name="T10" fmla="*/ 65 w 193"/>
                <a:gd name="T11" fmla="*/ 0 h 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3"/>
                <a:gd name="T19" fmla="*/ 0 h 87"/>
                <a:gd name="T20" fmla="*/ 193 w 193"/>
                <a:gd name="T21" fmla="*/ 87 h 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3" h="87">
                  <a:moveTo>
                    <a:pt x="0" y="86"/>
                  </a:moveTo>
                  <a:lnTo>
                    <a:pt x="62" y="58"/>
                  </a:lnTo>
                  <a:lnTo>
                    <a:pt x="86" y="48"/>
                  </a:lnTo>
                  <a:lnTo>
                    <a:pt x="115" y="24"/>
                  </a:lnTo>
                  <a:lnTo>
                    <a:pt x="154" y="10"/>
                  </a:lnTo>
                  <a:lnTo>
                    <a:pt x="192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Freeform 110"/>
            <p:cNvSpPr>
              <a:spLocks/>
            </p:cNvSpPr>
            <p:nvPr/>
          </p:nvSpPr>
          <p:spPr bwMode="auto">
            <a:xfrm>
              <a:off x="743" y="850"/>
              <a:ext cx="65" cy="31"/>
            </a:xfrm>
            <a:custGeom>
              <a:avLst/>
              <a:gdLst>
                <a:gd name="T0" fmla="*/ 0 w 193"/>
                <a:gd name="T1" fmla="*/ 31 h 92"/>
                <a:gd name="T2" fmla="*/ 11 w 193"/>
                <a:gd name="T3" fmla="*/ 24 h 92"/>
                <a:gd name="T4" fmla="*/ 24 w 193"/>
                <a:gd name="T5" fmla="*/ 16 h 92"/>
                <a:gd name="T6" fmla="*/ 40 w 193"/>
                <a:gd name="T7" fmla="*/ 11 h 92"/>
                <a:gd name="T8" fmla="*/ 54 w 193"/>
                <a:gd name="T9" fmla="*/ 3 h 92"/>
                <a:gd name="T10" fmla="*/ 65 w 193"/>
                <a:gd name="T11" fmla="*/ 0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3"/>
                <a:gd name="T19" fmla="*/ 0 h 92"/>
                <a:gd name="T20" fmla="*/ 193 w 193"/>
                <a:gd name="T21" fmla="*/ 92 h 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3" h="92">
                  <a:moveTo>
                    <a:pt x="0" y="91"/>
                  </a:moveTo>
                  <a:lnTo>
                    <a:pt x="34" y="72"/>
                  </a:lnTo>
                  <a:lnTo>
                    <a:pt x="72" y="48"/>
                  </a:lnTo>
                  <a:lnTo>
                    <a:pt x="120" y="34"/>
                  </a:lnTo>
                  <a:lnTo>
                    <a:pt x="159" y="10"/>
                  </a:lnTo>
                  <a:lnTo>
                    <a:pt x="192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Freeform 111"/>
            <p:cNvSpPr>
              <a:spLocks/>
            </p:cNvSpPr>
            <p:nvPr/>
          </p:nvSpPr>
          <p:spPr bwMode="auto">
            <a:xfrm>
              <a:off x="698" y="871"/>
              <a:ext cx="21" cy="16"/>
            </a:xfrm>
            <a:custGeom>
              <a:avLst/>
              <a:gdLst>
                <a:gd name="T0" fmla="*/ 0 w 63"/>
                <a:gd name="T1" fmla="*/ 0 h 44"/>
                <a:gd name="T2" fmla="*/ 13 w 63"/>
                <a:gd name="T3" fmla="*/ 5 h 44"/>
                <a:gd name="T4" fmla="*/ 21 w 63"/>
                <a:gd name="T5" fmla="*/ 16 h 44"/>
                <a:gd name="T6" fmla="*/ 0 60000 65536"/>
                <a:gd name="T7" fmla="*/ 0 60000 65536"/>
                <a:gd name="T8" fmla="*/ 0 60000 65536"/>
                <a:gd name="T9" fmla="*/ 0 w 63"/>
                <a:gd name="T10" fmla="*/ 0 h 44"/>
                <a:gd name="T11" fmla="*/ 63 w 63"/>
                <a:gd name="T12" fmla="*/ 44 h 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" h="44">
                  <a:moveTo>
                    <a:pt x="0" y="0"/>
                  </a:moveTo>
                  <a:lnTo>
                    <a:pt x="38" y="14"/>
                  </a:lnTo>
                  <a:lnTo>
                    <a:pt x="62" y="43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Freeform 112"/>
            <p:cNvSpPr>
              <a:spLocks/>
            </p:cNvSpPr>
            <p:nvPr/>
          </p:nvSpPr>
          <p:spPr bwMode="auto">
            <a:xfrm>
              <a:off x="914" y="897"/>
              <a:ext cx="46" cy="20"/>
            </a:xfrm>
            <a:custGeom>
              <a:avLst/>
              <a:gdLst>
                <a:gd name="T0" fmla="*/ 0 w 136"/>
                <a:gd name="T1" fmla="*/ 20 h 59"/>
                <a:gd name="T2" fmla="*/ 16 w 136"/>
                <a:gd name="T3" fmla="*/ 13 h 59"/>
                <a:gd name="T4" fmla="*/ 28 w 136"/>
                <a:gd name="T5" fmla="*/ 5 h 59"/>
                <a:gd name="T6" fmla="*/ 46 w 136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59"/>
                <a:gd name="T14" fmla="*/ 136 w 136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59">
                  <a:moveTo>
                    <a:pt x="0" y="58"/>
                  </a:moveTo>
                  <a:lnTo>
                    <a:pt x="48" y="39"/>
                  </a:lnTo>
                  <a:lnTo>
                    <a:pt x="82" y="15"/>
                  </a:lnTo>
                  <a:lnTo>
                    <a:pt x="135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Freeform 113"/>
            <p:cNvSpPr>
              <a:spLocks/>
            </p:cNvSpPr>
            <p:nvPr/>
          </p:nvSpPr>
          <p:spPr bwMode="auto">
            <a:xfrm>
              <a:off x="1030" y="887"/>
              <a:ext cx="57" cy="35"/>
            </a:xfrm>
            <a:custGeom>
              <a:avLst/>
              <a:gdLst>
                <a:gd name="T0" fmla="*/ 0 w 169"/>
                <a:gd name="T1" fmla="*/ 35 h 101"/>
                <a:gd name="T2" fmla="*/ 24 w 169"/>
                <a:gd name="T3" fmla="*/ 26 h 101"/>
                <a:gd name="T4" fmla="*/ 36 w 169"/>
                <a:gd name="T5" fmla="*/ 20 h 101"/>
                <a:gd name="T6" fmla="*/ 46 w 169"/>
                <a:gd name="T7" fmla="*/ 11 h 101"/>
                <a:gd name="T8" fmla="*/ 50 w 169"/>
                <a:gd name="T9" fmla="*/ 5 h 101"/>
                <a:gd name="T10" fmla="*/ 57 w 169"/>
                <a:gd name="T11" fmla="*/ 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9"/>
                <a:gd name="T19" fmla="*/ 0 h 101"/>
                <a:gd name="T20" fmla="*/ 169 w 169"/>
                <a:gd name="T21" fmla="*/ 101 h 1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9" h="101">
                  <a:moveTo>
                    <a:pt x="0" y="100"/>
                  </a:moveTo>
                  <a:lnTo>
                    <a:pt x="72" y="76"/>
                  </a:lnTo>
                  <a:lnTo>
                    <a:pt x="106" y="57"/>
                  </a:lnTo>
                  <a:lnTo>
                    <a:pt x="135" y="33"/>
                  </a:lnTo>
                  <a:lnTo>
                    <a:pt x="149" y="14"/>
                  </a:lnTo>
                  <a:lnTo>
                    <a:pt x="168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Freeform 114"/>
            <p:cNvSpPr>
              <a:spLocks/>
            </p:cNvSpPr>
            <p:nvPr/>
          </p:nvSpPr>
          <p:spPr bwMode="auto">
            <a:xfrm>
              <a:off x="1100" y="858"/>
              <a:ext cx="27" cy="17"/>
            </a:xfrm>
            <a:custGeom>
              <a:avLst/>
              <a:gdLst>
                <a:gd name="T0" fmla="*/ 0 w 82"/>
                <a:gd name="T1" fmla="*/ 17 h 49"/>
                <a:gd name="T2" fmla="*/ 8 w 82"/>
                <a:gd name="T3" fmla="*/ 14 h 49"/>
                <a:gd name="T4" fmla="*/ 17 w 82"/>
                <a:gd name="T5" fmla="*/ 7 h 49"/>
                <a:gd name="T6" fmla="*/ 27 w 82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2"/>
                <a:gd name="T13" fmla="*/ 0 h 49"/>
                <a:gd name="T14" fmla="*/ 82 w 82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2" h="49">
                  <a:moveTo>
                    <a:pt x="0" y="48"/>
                  </a:moveTo>
                  <a:lnTo>
                    <a:pt x="24" y="39"/>
                  </a:lnTo>
                  <a:lnTo>
                    <a:pt x="52" y="19"/>
                  </a:lnTo>
                  <a:lnTo>
                    <a:pt x="81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Freeform 115"/>
            <p:cNvSpPr>
              <a:spLocks/>
            </p:cNvSpPr>
            <p:nvPr/>
          </p:nvSpPr>
          <p:spPr bwMode="auto">
            <a:xfrm>
              <a:off x="1101" y="811"/>
              <a:ext cx="56" cy="28"/>
            </a:xfrm>
            <a:custGeom>
              <a:avLst/>
              <a:gdLst>
                <a:gd name="T0" fmla="*/ 0 w 165"/>
                <a:gd name="T1" fmla="*/ 28 h 83"/>
                <a:gd name="T2" fmla="*/ 28 w 165"/>
                <a:gd name="T3" fmla="*/ 24 h 83"/>
                <a:gd name="T4" fmla="*/ 34 w 165"/>
                <a:gd name="T5" fmla="*/ 15 h 83"/>
                <a:gd name="T6" fmla="*/ 41 w 165"/>
                <a:gd name="T7" fmla="*/ 11 h 83"/>
                <a:gd name="T8" fmla="*/ 51 w 165"/>
                <a:gd name="T9" fmla="*/ 5 h 83"/>
                <a:gd name="T10" fmla="*/ 56 w 165"/>
                <a:gd name="T11" fmla="*/ 0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5"/>
                <a:gd name="T19" fmla="*/ 0 h 83"/>
                <a:gd name="T20" fmla="*/ 165 w 165"/>
                <a:gd name="T21" fmla="*/ 83 h 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5" h="83">
                  <a:moveTo>
                    <a:pt x="0" y="82"/>
                  </a:moveTo>
                  <a:lnTo>
                    <a:pt x="82" y="72"/>
                  </a:lnTo>
                  <a:lnTo>
                    <a:pt x="101" y="43"/>
                  </a:lnTo>
                  <a:lnTo>
                    <a:pt x="120" y="34"/>
                  </a:lnTo>
                  <a:lnTo>
                    <a:pt x="149" y="14"/>
                  </a:lnTo>
                  <a:lnTo>
                    <a:pt x="164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Freeform 116"/>
            <p:cNvSpPr>
              <a:spLocks/>
            </p:cNvSpPr>
            <p:nvPr/>
          </p:nvSpPr>
          <p:spPr bwMode="auto">
            <a:xfrm>
              <a:off x="1259" y="731"/>
              <a:ext cx="65" cy="44"/>
            </a:xfrm>
            <a:custGeom>
              <a:avLst/>
              <a:gdLst>
                <a:gd name="T0" fmla="*/ 0 w 193"/>
                <a:gd name="T1" fmla="*/ 44 h 130"/>
                <a:gd name="T2" fmla="*/ 24 w 193"/>
                <a:gd name="T3" fmla="*/ 37 h 130"/>
                <a:gd name="T4" fmla="*/ 40 w 193"/>
                <a:gd name="T5" fmla="*/ 24 h 130"/>
                <a:gd name="T6" fmla="*/ 48 w 193"/>
                <a:gd name="T7" fmla="*/ 10 h 130"/>
                <a:gd name="T8" fmla="*/ 58 w 193"/>
                <a:gd name="T9" fmla="*/ 5 h 130"/>
                <a:gd name="T10" fmla="*/ 65 w 193"/>
                <a:gd name="T11" fmla="*/ 0 h 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3"/>
                <a:gd name="T19" fmla="*/ 0 h 130"/>
                <a:gd name="T20" fmla="*/ 193 w 193"/>
                <a:gd name="T21" fmla="*/ 130 h 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3" h="130">
                  <a:moveTo>
                    <a:pt x="0" y="129"/>
                  </a:moveTo>
                  <a:lnTo>
                    <a:pt x="72" y="110"/>
                  </a:lnTo>
                  <a:lnTo>
                    <a:pt x="120" y="72"/>
                  </a:lnTo>
                  <a:lnTo>
                    <a:pt x="144" y="29"/>
                  </a:lnTo>
                  <a:lnTo>
                    <a:pt x="173" y="14"/>
                  </a:lnTo>
                  <a:lnTo>
                    <a:pt x="192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Freeform 117"/>
            <p:cNvSpPr>
              <a:spLocks/>
            </p:cNvSpPr>
            <p:nvPr/>
          </p:nvSpPr>
          <p:spPr bwMode="auto">
            <a:xfrm>
              <a:off x="1288" y="768"/>
              <a:ext cx="128" cy="61"/>
            </a:xfrm>
            <a:custGeom>
              <a:avLst/>
              <a:gdLst>
                <a:gd name="T0" fmla="*/ 0 w 377"/>
                <a:gd name="T1" fmla="*/ 0 h 180"/>
                <a:gd name="T2" fmla="*/ 4 w 377"/>
                <a:gd name="T3" fmla="*/ 6 h 180"/>
                <a:gd name="T4" fmla="*/ 12 w 377"/>
                <a:gd name="T5" fmla="*/ 9 h 180"/>
                <a:gd name="T6" fmla="*/ 25 w 377"/>
                <a:gd name="T7" fmla="*/ 12 h 180"/>
                <a:gd name="T8" fmla="*/ 33 w 377"/>
                <a:gd name="T9" fmla="*/ 16 h 180"/>
                <a:gd name="T10" fmla="*/ 38 w 377"/>
                <a:gd name="T11" fmla="*/ 19 h 180"/>
                <a:gd name="T12" fmla="*/ 51 w 377"/>
                <a:gd name="T13" fmla="*/ 24 h 180"/>
                <a:gd name="T14" fmla="*/ 60 w 377"/>
                <a:gd name="T15" fmla="*/ 29 h 180"/>
                <a:gd name="T16" fmla="*/ 74 w 377"/>
                <a:gd name="T17" fmla="*/ 35 h 180"/>
                <a:gd name="T18" fmla="*/ 81 w 377"/>
                <a:gd name="T19" fmla="*/ 42 h 180"/>
                <a:gd name="T20" fmla="*/ 95 w 377"/>
                <a:gd name="T21" fmla="*/ 47 h 180"/>
                <a:gd name="T22" fmla="*/ 111 w 377"/>
                <a:gd name="T23" fmla="*/ 53 h 180"/>
                <a:gd name="T24" fmla="*/ 117 w 377"/>
                <a:gd name="T25" fmla="*/ 55 h 180"/>
                <a:gd name="T26" fmla="*/ 121 w 377"/>
                <a:gd name="T27" fmla="*/ 58 h 180"/>
                <a:gd name="T28" fmla="*/ 128 w 377"/>
                <a:gd name="T29" fmla="*/ 61 h 180"/>
                <a:gd name="T30" fmla="*/ 126 w 377"/>
                <a:gd name="T31" fmla="*/ 59 h 180"/>
                <a:gd name="T32" fmla="*/ 123 w 377"/>
                <a:gd name="T33" fmla="*/ 56 h 180"/>
                <a:gd name="T34" fmla="*/ 116 w 377"/>
                <a:gd name="T35" fmla="*/ 53 h 180"/>
                <a:gd name="T36" fmla="*/ 109 w 377"/>
                <a:gd name="T37" fmla="*/ 50 h 180"/>
                <a:gd name="T38" fmla="*/ 105 w 377"/>
                <a:gd name="T39" fmla="*/ 48 h 180"/>
                <a:gd name="T40" fmla="*/ 92 w 377"/>
                <a:gd name="T41" fmla="*/ 45 h 180"/>
                <a:gd name="T42" fmla="*/ 85 w 377"/>
                <a:gd name="T43" fmla="*/ 42 h 180"/>
                <a:gd name="T44" fmla="*/ 84 w 377"/>
                <a:gd name="T45" fmla="*/ 39 h 180"/>
                <a:gd name="T46" fmla="*/ 80 w 377"/>
                <a:gd name="T47" fmla="*/ 35 h 180"/>
                <a:gd name="T48" fmla="*/ 70 w 377"/>
                <a:gd name="T49" fmla="*/ 32 h 180"/>
                <a:gd name="T50" fmla="*/ 66 w 377"/>
                <a:gd name="T51" fmla="*/ 29 h 180"/>
                <a:gd name="T52" fmla="*/ 62 w 377"/>
                <a:gd name="T53" fmla="*/ 28 h 180"/>
                <a:gd name="T54" fmla="*/ 52 w 377"/>
                <a:gd name="T55" fmla="*/ 23 h 180"/>
                <a:gd name="T56" fmla="*/ 41 w 377"/>
                <a:gd name="T57" fmla="*/ 21 h 180"/>
                <a:gd name="T58" fmla="*/ 40 w 377"/>
                <a:gd name="T59" fmla="*/ 20 h 180"/>
                <a:gd name="T60" fmla="*/ 36 w 377"/>
                <a:gd name="T61" fmla="*/ 16 h 180"/>
                <a:gd name="T62" fmla="*/ 27 w 377"/>
                <a:gd name="T63" fmla="*/ 13 h 180"/>
                <a:gd name="T64" fmla="*/ 23 w 377"/>
                <a:gd name="T65" fmla="*/ 10 h 180"/>
                <a:gd name="T66" fmla="*/ 19 w 377"/>
                <a:gd name="T67" fmla="*/ 10 h 180"/>
                <a:gd name="T68" fmla="*/ 14 w 377"/>
                <a:gd name="T69" fmla="*/ 8 h 180"/>
                <a:gd name="T70" fmla="*/ 4 w 377"/>
                <a:gd name="T71" fmla="*/ 6 h 180"/>
                <a:gd name="T72" fmla="*/ 0 w 377"/>
                <a:gd name="T73" fmla="*/ 0 h 18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77"/>
                <a:gd name="T112" fmla="*/ 0 h 180"/>
                <a:gd name="T113" fmla="*/ 377 w 377"/>
                <a:gd name="T114" fmla="*/ 180 h 18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77" h="180">
                  <a:moveTo>
                    <a:pt x="0" y="0"/>
                  </a:moveTo>
                  <a:lnTo>
                    <a:pt x="13" y="18"/>
                  </a:lnTo>
                  <a:lnTo>
                    <a:pt x="35" y="26"/>
                  </a:lnTo>
                  <a:lnTo>
                    <a:pt x="75" y="35"/>
                  </a:lnTo>
                  <a:lnTo>
                    <a:pt x="97" y="48"/>
                  </a:lnTo>
                  <a:lnTo>
                    <a:pt x="112" y="56"/>
                  </a:lnTo>
                  <a:lnTo>
                    <a:pt x="149" y="72"/>
                  </a:lnTo>
                  <a:lnTo>
                    <a:pt x="177" y="85"/>
                  </a:lnTo>
                  <a:lnTo>
                    <a:pt x="219" y="104"/>
                  </a:lnTo>
                  <a:lnTo>
                    <a:pt x="240" y="125"/>
                  </a:lnTo>
                  <a:lnTo>
                    <a:pt x="280" y="138"/>
                  </a:lnTo>
                  <a:lnTo>
                    <a:pt x="328" y="155"/>
                  </a:lnTo>
                  <a:lnTo>
                    <a:pt x="345" y="163"/>
                  </a:lnTo>
                  <a:lnTo>
                    <a:pt x="357" y="170"/>
                  </a:lnTo>
                  <a:lnTo>
                    <a:pt x="376" y="179"/>
                  </a:lnTo>
                  <a:lnTo>
                    <a:pt x="371" y="173"/>
                  </a:lnTo>
                  <a:lnTo>
                    <a:pt x="361" y="166"/>
                  </a:lnTo>
                  <a:lnTo>
                    <a:pt x="342" y="157"/>
                  </a:lnTo>
                  <a:lnTo>
                    <a:pt x="321" y="147"/>
                  </a:lnTo>
                  <a:lnTo>
                    <a:pt x="310" y="142"/>
                  </a:lnTo>
                  <a:lnTo>
                    <a:pt x="272" y="133"/>
                  </a:lnTo>
                  <a:lnTo>
                    <a:pt x="251" y="125"/>
                  </a:lnTo>
                  <a:lnTo>
                    <a:pt x="248" y="114"/>
                  </a:lnTo>
                  <a:lnTo>
                    <a:pt x="235" y="104"/>
                  </a:lnTo>
                  <a:lnTo>
                    <a:pt x="206" y="93"/>
                  </a:lnTo>
                  <a:lnTo>
                    <a:pt x="195" y="85"/>
                  </a:lnTo>
                  <a:lnTo>
                    <a:pt x="182" y="82"/>
                  </a:lnTo>
                  <a:lnTo>
                    <a:pt x="152" y="69"/>
                  </a:lnTo>
                  <a:lnTo>
                    <a:pt x="121" y="62"/>
                  </a:lnTo>
                  <a:lnTo>
                    <a:pt x="118" y="59"/>
                  </a:lnTo>
                  <a:lnTo>
                    <a:pt x="107" y="46"/>
                  </a:lnTo>
                  <a:lnTo>
                    <a:pt x="80" y="38"/>
                  </a:lnTo>
                  <a:lnTo>
                    <a:pt x="67" y="30"/>
                  </a:lnTo>
                  <a:lnTo>
                    <a:pt x="56" y="29"/>
                  </a:lnTo>
                  <a:lnTo>
                    <a:pt x="40" y="24"/>
                  </a:lnTo>
                  <a:lnTo>
                    <a:pt x="13" y="18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Freeform 118"/>
            <p:cNvSpPr>
              <a:spLocks/>
            </p:cNvSpPr>
            <p:nvPr/>
          </p:nvSpPr>
          <p:spPr bwMode="auto">
            <a:xfrm>
              <a:off x="1293" y="772"/>
              <a:ext cx="90" cy="49"/>
            </a:xfrm>
            <a:custGeom>
              <a:avLst/>
              <a:gdLst>
                <a:gd name="T0" fmla="*/ 0 w 265"/>
                <a:gd name="T1" fmla="*/ 49 h 145"/>
                <a:gd name="T2" fmla="*/ 16 w 265"/>
                <a:gd name="T3" fmla="*/ 45 h 145"/>
                <a:gd name="T4" fmla="*/ 28 w 265"/>
                <a:gd name="T5" fmla="*/ 37 h 145"/>
                <a:gd name="T6" fmla="*/ 39 w 265"/>
                <a:gd name="T7" fmla="*/ 31 h 145"/>
                <a:gd name="T8" fmla="*/ 62 w 265"/>
                <a:gd name="T9" fmla="*/ 21 h 145"/>
                <a:gd name="T10" fmla="*/ 73 w 265"/>
                <a:gd name="T11" fmla="*/ 8 h 145"/>
                <a:gd name="T12" fmla="*/ 90 w 265"/>
                <a:gd name="T13" fmla="*/ 0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65"/>
                <a:gd name="T22" fmla="*/ 0 h 145"/>
                <a:gd name="T23" fmla="*/ 265 w 265"/>
                <a:gd name="T24" fmla="*/ 145 h 1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65" h="145">
                  <a:moveTo>
                    <a:pt x="0" y="144"/>
                  </a:moveTo>
                  <a:lnTo>
                    <a:pt x="48" y="134"/>
                  </a:lnTo>
                  <a:lnTo>
                    <a:pt x="81" y="110"/>
                  </a:lnTo>
                  <a:lnTo>
                    <a:pt x="115" y="91"/>
                  </a:lnTo>
                  <a:lnTo>
                    <a:pt x="182" y="62"/>
                  </a:lnTo>
                  <a:lnTo>
                    <a:pt x="216" y="24"/>
                  </a:lnTo>
                  <a:lnTo>
                    <a:pt x="264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Freeform 119"/>
            <p:cNvSpPr>
              <a:spLocks/>
            </p:cNvSpPr>
            <p:nvPr/>
          </p:nvSpPr>
          <p:spPr bwMode="auto">
            <a:xfrm>
              <a:off x="1428" y="943"/>
              <a:ext cx="72" cy="25"/>
            </a:xfrm>
            <a:custGeom>
              <a:avLst/>
              <a:gdLst>
                <a:gd name="T0" fmla="*/ 0 w 212"/>
                <a:gd name="T1" fmla="*/ 25 h 73"/>
                <a:gd name="T2" fmla="*/ 16 w 212"/>
                <a:gd name="T3" fmla="*/ 18 h 73"/>
                <a:gd name="T4" fmla="*/ 41 w 212"/>
                <a:gd name="T5" fmla="*/ 13 h 73"/>
                <a:gd name="T6" fmla="*/ 65 w 212"/>
                <a:gd name="T7" fmla="*/ 7 h 73"/>
                <a:gd name="T8" fmla="*/ 72 w 212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2"/>
                <a:gd name="T16" fmla="*/ 0 h 73"/>
                <a:gd name="T17" fmla="*/ 212 w 212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2" h="73">
                  <a:moveTo>
                    <a:pt x="0" y="72"/>
                  </a:moveTo>
                  <a:lnTo>
                    <a:pt x="48" y="53"/>
                  </a:lnTo>
                  <a:lnTo>
                    <a:pt x="120" y="38"/>
                  </a:lnTo>
                  <a:lnTo>
                    <a:pt x="192" y="19"/>
                  </a:lnTo>
                  <a:lnTo>
                    <a:pt x="211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Freeform 120"/>
            <p:cNvSpPr>
              <a:spLocks/>
            </p:cNvSpPr>
            <p:nvPr/>
          </p:nvSpPr>
          <p:spPr bwMode="auto">
            <a:xfrm>
              <a:off x="1540" y="878"/>
              <a:ext cx="55" cy="42"/>
            </a:xfrm>
            <a:custGeom>
              <a:avLst/>
              <a:gdLst>
                <a:gd name="T0" fmla="*/ 0 w 160"/>
                <a:gd name="T1" fmla="*/ 42 h 126"/>
                <a:gd name="T2" fmla="*/ 22 w 160"/>
                <a:gd name="T3" fmla="*/ 26 h 126"/>
                <a:gd name="T4" fmla="*/ 30 w 160"/>
                <a:gd name="T5" fmla="*/ 19 h 126"/>
                <a:gd name="T6" fmla="*/ 46 w 160"/>
                <a:gd name="T7" fmla="*/ 10 h 126"/>
                <a:gd name="T8" fmla="*/ 55 w 160"/>
                <a:gd name="T9" fmla="*/ 0 h 1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"/>
                <a:gd name="T16" fmla="*/ 0 h 126"/>
                <a:gd name="T17" fmla="*/ 160 w 160"/>
                <a:gd name="T18" fmla="*/ 126 h 1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" h="126">
                  <a:moveTo>
                    <a:pt x="0" y="125"/>
                  </a:moveTo>
                  <a:lnTo>
                    <a:pt x="63" y="77"/>
                  </a:lnTo>
                  <a:lnTo>
                    <a:pt x="87" y="57"/>
                  </a:lnTo>
                  <a:lnTo>
                    <a:pt x="135" y="29"/>
                  </a:lnTo>
                  <a:lnTo>
                    <a:pt x="159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121"/>
            <p:cNvSpPr>
              <a:spLocks/>
            </p:cNvSpPr>
            <p:nvPr/>
          </p:nvSpPr>
          <p:spPr bwMode="auto">
            <a:xfrm>
              <a:off x="1059" y="1023"/>
              <a:ext cx="93" cy="38"/>
            </a:xfrm>
            <a:custGeom>
              <a:avLst/>
              <a:gdLst>
                <a:gd name="T0" fmla="*/ 0 w 274"/>
                <a:gd name="T1" fmla="*/ 38 h 111"/>
                <a:gd name="T2" fmla="*/ 18 w 274"/>
                <a:gd name="T3" fmla="*/ 29 h 111"/>
                <a:gd name="T4" fmla="*/ 27 w 274"/>
                <a:gd name="T5" fmla="*/ 25 h 111"/>
                <a:gd name="T6" fmla="*/ 41 w 274"/>
                <a:gd name="T7" fmla="*/ 21 h 111"/>
                <a:gd name="T8" fmla="*/ 57 w 274"/>
                <a:gd name="T9" fmla="*/ 20 h 111"/>
                <a:gd name="T10" fmla="*/ 63 w 274"/>
                <a:gd name="T11" fmla="*/ 13 h 111"/>
                <a:gd name="T12" fmla="*/ 76 w 274"/>
                <a:gd name="T13" fmla="*/ 7 h 111"/>
                <a:gd name="T14" fmla="*/ 93 w 274"/>
                <a:gd name="T15" fmla="*/ 0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74"/>
                <a:gd name="T25" fmla="*/ 0 h 111"/>
                <a:gd name="T26" fmla="*/ 274 w 274"/>
                <a:gd name="T27" fmla="*/ 111 h 1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74" h="111">
                  <a:moveTo>
                    <a:pt x="0" y="110"/>
                  </a:moveTo>
                  <a:lnTo>
                    <a:pt x="52" y="86"/>
                  </a:lnTo>
                  <a:lnTo>
                    <a:pt x="81" y="72"/>
                  </a:lnTo>
                  <a:lnTo>
                    <a:pt x="120" y="62"/>
                  </a:lnTo>
                  <a:lnTo>
                    <a:pt x="168" y="58"/>
                  </a:lnTo>
                  <a:lnTo>
                    <a:pt x="187" y="38"/>
                  </a:lnTo>
                  <a:lnTo>
                    <a:pt x="225" y="19"/>
                  </a:lnTo>
                  <a:lnTo>
                    <a:pt x="273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Freeform 122"/>
            <p:cNvSpPr>
              <a:spLocks/>
            </p:cNvSpPr>
            <p:nvPr/>
          </p:nvSpPr>
          <p:spPr bwMode="auto">
            <a:xfrm>
              <a:off x="1249" y="951"/>
              <a:ext cx="51" cy="28"/>
            </a:xfrm>
            <a:custGeom>
              <a:avLst/>
              <a:gdLst>
                <a:gd name="T0" fmla="*/ 0 w 150"/>
                <a:gd name="T1" fmla="*/ 28 h 82"/>
                <a:gd name="T2" fmla="*/ 13 w 150"/>
                <a:gd name="T3" fmla="*/ 19 h 82"/>
                <a:gd name="T4" fmla="*/ 24 w 150"/>
                <a:gd name="T5" fmla="*/ 15 h 82"/>
                <a:gd name="T6" fmla="*/ 39 w 150"/>
                <a:gd name="T7" fmla="*/ 5 h 82"/>
                <a:gd name="T8" fmla="*/ 51 w 150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82"/>
                <a:gd name="T17" fmla="*/ 150 w 150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82">
                  <a:moveTo>
                    <a:pt x="0" y="81"/>
                  </a:moveTo>
                  <a:lnTo>
                    <a:pt x="39" y="57"/>
                  </a:lnTo>
                  <a:lnTo>
                    <a:pt x="72" y="43"/>
                  </a:lnTo>
                  <a:lnTo>
                    <a:pt x="115" y="14"/>
                  </a:lnTo>
                  <a:lnTo>
                    <a:pt x="149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Freeform 123"/>
            <p:cNvSpPr>
              <a:spLocks/>
            </p:cNvSpPr>
            <p:nvPr/>
          </p:nvSpPr>
          <p:spPr bwMode="auto">
            <a:xfrm>
              <a:off x="1129" y="1055"/>
              <a:ext cx="75" cy="30"/>
            </a:xfrm>
            <a:custGeom>
              <a:avLst/>
              <a:gdLst>
                <a:gd name="T0" fmla="*/ 0 w 222"/>
                <a:gd name="T1" fmla="*/ 30 h 87"/>
                <a:gd name="T2" fmla="*/ 28 w 222"/>
                <a:gd name="T3" fmla="*/ 27 h 87"/>
                <a:gd name="T4" fmla="*/ 39 w 222"/>
                <a:gd name="T5" fmla="*/ 17 h 87"/>
                <a:gd name="T6" fmla="*/ 60 w 222"/>
                <a:gd name="T7" fmla="*/ 8 h 87"/>
                <a:gd name="T8" fmla="*/ 75 w 222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2"/>
                <a:gd name="T16" fmla="*/ 0 h 87"/>
                <a:gd name="T17" fmla="*/ 222 w 222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2" h="87">
                  <a:moveTo>
                    <a:pt x="0" y="86"/>
                  </a:moveTo>
                  <a:lnTo>
                    <a:pt x="82" y="77"/>
                  </a:lnTo>
                  <a:lnTo>
                    <a:pt x="115" y="48"/>
                  </a:lnTo>
                  <a:lnTo>
                    <a:pt x="178" y="24"/>
                  </a:lnTo>
                  <a:lnTo>
                    <a:pt x="221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Freeform 124"/>
            <p:cNvSpPr>
              <a:spLocks/>
            </p:cNvSpPr>
            <p:nvPr/>
          </p:nvSpPr>
          <p:spPr bwMode="auto">
            <a:xfrm>
              <a:off x="1246" y="994"/>
              <a:ext cx="90" cy="41"/>
            </a:xfrm>
            <a:custGeom>
              <a:avLst/>
              <a:gdLst>
                <a:gd name="T0" fmla="*/ 0 w 265"/>
                <a:gd name="T1" fmla="*/ 41 h 121"/>
                <a:gd name="T2" fmla="*/ 16 w 265"/>
                <a:gd name="T3" fmla="*/ 41 h 121"/>
                <a:gd name="T4" fmla="*/ 39 w 265"/>
                <a:gd name="T5" fmla="*/ 37 h 121"/>
                <a:gd name="T6" fmla="*/ 49 w 265"/>
                <a:gd name="T7" fmla="*/ 19 h 121"/>
                <a:gd name="T8" fmla="*/ 57 w 265"/>
                <a:gd name="T9" fmla="*/ 15 h 121"/>
                <a:gd name="T10" fmla="*/ 65 w 265"/>
                <a:gd name="T11" fmla="*/ 13 h 121"/>
                <a:gd name="T12" fmla="*/ 75 w 265"/>
                <a:gd name="T13" fmla="*/ 6 h 121"/>
                <a:gd name="T14" fmla="*/ 83 w 265"/>
                <a:gd name="T15" fmla="*/ 5 h 121"/>
                <a:gd name="T16" fmla="*/ 90 w 265"/>
                <a:gd name="T17" fmla="*/ 0 h 1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65"/>
                <a:gd name="T28" fmla="*/ 0 h 121"/>
                <a:gd name="T29" fmla="*/ 265 w 265"/>
                <a:gd name="T30" fmla="*/ 121 h 1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65" h="121">
                  <a:moveTo>
                    <a:pt x="0" y="120"/>
                  </a:moveTo>
                  <a:lnTo>
                    <a:pt x="48" y="120"/>
                  </a:lnTo>
                  <a:lnTo>
                    <a:pt x="115" y="110"/>
                  </a:lnTo>
                  <a:lnTo>
                    <a:pt x="144" y="57"/>
                  </a:lnTo>
                  <a:lnTo>
                    <a:pt x="168" y="43"/>
                  </a:lnTo>
                  <a:lnTo>
                    <a:pt x="192" y="38"/>
                  </a:lnTo>
                  <a:lnTo>
                    <a:pt x="220" y="19"/>
                  </a:lnTo>
                  <a:lnTo>
                    <a:pt x="244" y="14"/>
                  </a:lnTo>
                  <a:lnTo>
                    <a:pt x="264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Freeform 125"/>
            <p:cNvSpPr>
              <a:spLocks/>
            </p:cNvSpPr>
            <p:nvPr/>
          </p:nvSpPr>
          <p:spPr bwMode="auto">
            <a:xfrm>
              <a:off x="1290" y="1222"/>
              <a:ext cx="95" cy="42"/>
            </a:xfrm>
            <a:custGeom>
              <a:avLst/>
              <a:gdLst>
                <a:gd name="T0" fmla="*/ 0 w 280"/>
                <a:gd name="T1" fmla="*/ 42 h 125"/>
                <a:gd name="T2" fmla="*/ 18 w 280"/>
                <a:gd name="T3" fmla="*/ 37 h 125"/>
                <a:gd name="T4" fmla="*/ 46 w 280"/>
                <a:gd name="T5" fmla="*/ 29 h 125"/>
                <a:gd name="T6" fmla="*/ 62 w 280"/>
                <a:gd name="T7" fmla="*/ 19 h 125"/>
                <a:gd name="T8" fmla="*/ 75 w 280"/>
                <a:gd name="T9" fmla="*/ 11 h 125"/>
                <a:gd name="T10" fmla="*/ 83 w 280"/>
                <a:gd name="T11" fmla="*/ 5 h 125"/>
                <a:gd name="T12" fmla="*/ 95 w 280"/>
                <a:gd name="T13" fmla="*/ 0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0"/>
                <a:gd name="T22" fmla="*/ 0 h 125"/>
                <a:gd name="T23" fmla="*/ 280 w 280"/>
                <a:gd name="T24" fmla="*/ 125 h 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0" h="125">
                  <a:moveTo>
                    <a:pt x="0" y="124"/>
                  </a:moveTo>
                  <a:lnTo>
                    <a:pt x="53" y="110"/>
                  </a:lnTo>
                  <a:lnTo>
                    <a:pt x="135" y="86"/>
                  </a:lnTo>
                  <a:lnTo>
                    <a:pt x="183" y="57"/>
                  </a:lnTo>
                  <a:lnTo>
                    <a:pt x="221" y="33"/>
                  </a:lnTo>
                  <a:lnTo>
                    <a:pt x="245" y="14"/>
                  </a:lnTo>
                  <a:lnTo>
                    <a:pt x="279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Freeform 126"/>
            <p:cNvSpPr>
              <a:spLocks/>
            </p:cNvSpPr>
            <p:nvPr/>
          </p:nvSpPr>
          <p:spPr bwMode="auto">
            <a:xfrm>
              <a:off x="1407" y="1202"/>
              <a:ext cx="22" cy="8"/>
            </a:xfrm>
            <a:custGeom>
              <a:avLst/>
              <a:gdLst>
                <a:gd name="T0" fmla="*/ 0 w 63"/>
                <a:gd name="T1" fmla="*/ 8 h 25"/>
                <a:gd name="T2" fmla="*/ 13 w 63"/>
                <a:gd name="T3" fmla="*/ 6 h 25"/>
                <a:gd name="T4" fmla="*/ 22 w 63"/>
                <a:gd name="T5" fmla="*/ 0 h 25"/>
                <a:gd name="T6" fmla="*/ 0 60000 65536"/>
                <a:gd name="T7" fmla="*/ 0 60000 65536"/>
                <a:gd name="T8" fmla="*/ 0 60000 65536"/>
                <a:gd name="T9" fmla="*/ 0 w 63"/>
                <a:gd name="T10" fmla="*/ 0 h 25"/>
                <a:gd name="T11" fmla="*/ 63 w 63"/>
                <a:gd name="T12" fmla="*/ 25 h 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" h="25">
                  <a:moveTo>
                    <a:pt x="0" y="24"/>
                  </a:moveTo>
                  <a:lnTo>
                    <a:pt x="38" y="19"/>
                  </a:lnTo>
                  <a:lnTo>
                    <a:pt x="62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Freeform 127"/>
            <p:cNvSpPr>
              <a:spLocks/>
            </p:cNvSpPr>
            <p:nvPr/>
          </p:nvSpPr>
          <p:spPr bwMode="auto">
            <a:xfrm>
              <a:off x="1459" y="1163"/>
              <a:ext cx="75" cy="25"/>
            </a:xfrm>
            <a:custGeom>
              <a:avLst/>
              <a:gdLst>
                <a:gd name="T0" fmla="*/ 0 w 222"/>
                <a:gd name="T1" fmla="*/ 25 h 73"/>
                <a:gd name="T2" fmla="*/ 13 w 222"/>
                <a:gd name="T3" fmla="*/ 23 h 73"/>
                <a:gd name="T4" fmla="*/ 26 w 222"/>
                <a:gd name="T5" fmla="*/ 18 h 73"/>
                <a:gd name="T6" fmla="*/ 41 w 222"/>
                <a:gd name="T7" fmla="*/ 8 h 73"/>
                <a:gd name="T8" fmla="*/ 50 w 222"/>
                <a:gd name="T9" fmla="*/ 3 h 73"/>
                <a:gd name="T10" fmla="*/ 75 w 222"/>
                <a:gd name="T11" fmla="*/ 0 h 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2"/>
                <a:gd name="T19" fmla="*/ 0 h 73"/>
                <a:gd name="T20" fmla="*/ 222 w 222"/>
                <a:gd name="T21" fmla="*/ 73 h 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2" h="73">
                  <a:moveTo>
                    <a:pt x="0" y="72"/>
                  </a:moveTo>
                  <a:lnTo>
                    <a:pt x="39" y="67"/>
                  </a:lnTo>
                  <a:lnTo>
                    <a:pt x="77" y="53"/>
                  </a:lnTo>
                  <a:lnTo>
                    <a:pt x="120" y="24"/>
                  </a:lnTo>
                  <a:lnTo>
                    <a:pt x="149" y="9"/>
                  </a:lnTo>
                  <a:lnTo>
                    <a:pt x="221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128"/>
            <p:cNvSpPr>
              <a:spLocks/>
            </p:cNvSpPr>
            <p:nvPr/>
          </p:nvSpPr>
          <p:spPr bwMode="auto">
            <a:xfrm>
              <a:off x="1493" y="1166"/>
              <a:ext cx="28" cy="53"/>
            </a:xfrm>
            <a:custGeom>
              <a:avLst/>
              <a:gdLst>
                <a:gd name="T0" fmla="*/ 0 w 83"/>
                <a:gd name="T1" fmla="*/ 0 h 155"/>
                <a:gd name="T2" fmla="*/ 10 w 83"/>
                <a:gd name="T3" fmla="*/ 16 h 155"/>
                <a:gd name="T4" fmla="*/ 15 w 83"/>
                <a:gd name="T5" fmla="*/ 30 h 155"/>
                <a:gd name="T6" fmla="*/ 21 w 83"/>
                <a:gd name="T7" fmla="*/ 40 h 155"/>
                <a:gd name="T8" fmla="*/ 28 w 83"/>
                <a:gd name="T9" fmla="*/ 53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3"/>
                <a:gd name="T16" fmla="*/ 0 h 155"/>
                <a:gd name="T17" fmla="*/ 83 w 83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3" h="155">
                  <a:moveTo>
                    <a:pt x="0" y="0"/>
                  </a:moveTo>
                  <a:lnTo>
                    <a:pt x="29" y="48"/>
                  </a:lnTo>
                  <a:lnTo>
                    <a:pt x="43" y="87"/>
                  </a:lnTo>
                  <a:lnTo>
                    <a:pt x="63" y="116"/>
                  </a:lnTo>
                  <a:lnTo>
                    <a:pt x="82" y="154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Freeform 129"/>
            <p:cNvSpPr>
              <a:spLocks/>
            </p:cNvSpPr>
            <p:nvPr/>
          </p:nvSpPr>
          <p:spPr bwMode="auto">
            <a:xfrm>
              <a:off x="1583" y="1088"/>
              <a:ext cx="65" cy="26"/>
            </a:xfrm>
            <a:custGeom>
              <a:avLst/>
              <a:gdLst>
                <a:gd name="T0" fmla="*/ 0 w 193"/>
                <a:gd name="T1" fmla="*/ 26 h 78"/>
                <a:gd name="T2" fmla="*/ 32 w 193"/>
                <a:gd name="T3" fmla="*/ 21 h 78"/>
                <a:gd name="T4" fmla="*/ 39 w 193"/>
                <a:gd name="T5" fmla="*/ 14 h 78"/>
                <a:gd name="T6" fmla="*/ 48 w 193"/>
                <a:gd name="T7" fmla="*/ 8 h 78"/>
                <a:gd name="T8" fmla="*/ 65 w 193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78"/>
                <a:gd name="T17" fmla="*/ 193 w 193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78">
                  <a:moveTo>
                    <a:pt x="0" y="77"/>
                  </a:moveTo>
                  <a:lnTo>
                    <a:pt x="96" y="62"/>
                  </a:lnTo>
                  <a:lnTo>
                    <a:pt x="115" y="43"/>
                  </a:lnTo>
                  <a:lnTo>
                    <a:pt x="144" y="24"/>
                  </a:lnTo>
                  <a:lnTo>
                    <a:pt x="192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130"/>
            <p:cNvSpPr>
              <a:spLocks/>
            </p:cNvSpPr>
            <p:nvPr/>
          </p:nvSpPr>
          <p:spPr bwMode="auto">
            <a:xfrm>
              <a:off x="1596" y="1159"/>
              <a:ext cx="95" cy="42"/>
            </a:xfrm>
            <a:custGeom>
              <a:avLst/>
              <a:gdLst>
                <a:gd name="T0" fmla="*/ 0 w 279"/>
                <a:gd name="T1" fmla="*/ 26 h 123"/>
                <a:gd name="T2" fmla="*/ 13 w 279"/>
                <a:gd name="T3" fmla="*/ 34 h 123"/>
                <a:gd name="T4" fmla="*/ 27 w 279"/>
                <a:gd name="T5" fmla="*/ 40 h 123"/>
                <a:gd name="T6" fmla="*/ 34 w 279"/>
                <a:gd name="T7" fmla="*/ 42 h 123"/>
                <a:gd name="T8" fmla="*/ 52 w 279"/>
                <a:gd name="T9" fmla="*/ 31 h 123"/>
                <a:gd name="T10" fmla="*/ 64 w 279"/>
                <a:gd name="T11" fmla="*/ 25 h 123"/>
                <a:gd name="T12" fmla="*/ 86 w 279"/>
                <a:gd name="T13" fmla="*/ 12 h 123"/>
                <a:gd name="T14" fmla="*/ 95 w 279"/>
                <a:gd name="T15" fmla="*/ 0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79"/>
                <a:gd name="T25" fmla="*/ 0 h 123"/>
                <a:gd name="T26" fmla="*/ 279 w 279"/>
                <a:gd name="T27" fmla="*/ 123 h 1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79" h="123">
                  <a:moveTo>
                    <a:pt x="0" y="77"/>
                  </a:moveTo>
                  <a:lnTo>
                    <a:pt x="38" y="101"/>
                  </a:lnTo>
                  <a:lnTo>
                    <a:pt x="80" y="117"/>
                  </a:lnTo>
                  <a:lnTo>
                    <a:pt x="100" y="122"/>
                  </a:lnTo>
                  <a:lnTo>
                    <a:pt x="153" y="90"/>
                  </a:lnTo>
                  <a:lnTo>
                    <a:pt x="187" y="74"/>
                  </a:lnTo>
                  <a:lnTo>
                    <a:pt x="254" y="34"/>
                  </a:lnTo>
                  <a:lnTo>
                    <a:pt x="278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131"/>
            <p:cNvSpPr>
              <a:spLocks/>
            </p:cNvSpPr>
            <p:nvPr/>
          </p:nvSpPr>
          <p:spPr bwMode="auto">
            <a:xfrm>
              <a:off x="1705" y="1049"/>
              <a:ext cx="55" cy="28"/>
            </a:xfrm>
            <a:custGeom>
              <a:avLst/>
              <a:gdLst>
                <a:gd name="T0" fmla="*/ 0 w 164"/>
                <a:gd name="T1" fmla="*/ 28 h 82"/>
                <a:gd name="T2" fmla="*/ 14 w 164"/>
                <a:gd name="T3" fmla="*/ 21 h 82"/>
                <a:gd name="T4" fmla="*/ 31 w 164"/>
                <a:gd name="T5" fmla="*/ 15 h 82"/>
                <a:gd name="T6" fmla="*/ 40 w 164"/>
                <a:gd name="T7" fmla="*/ 8 h 82"/>
                <a:gd name="T8" fmla="*/ 55 w 164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4"/>
                <a:gd name="T16" fmla="*/ 0 h 82"/>
                <a:gd name="T17" fmla="*/ 164 w 164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4" h="82">
                  <a:moveTo>
                    <a:pt x="0" y="81"/>
                  </a:moveTo>
                  <a:lnTo>
                    <a:pt x="43" y="62"/>
                  </a:lnTo>
                  <a:lnTo>
                    <a:pt x="91" y="43"/>
                  </a:lnTo>
                  <a:lnTo>
                    <a:pt x="120" y="24"/>
                  </a:lnTo>
                  <a:lnTo>
                    <a:pt x="163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132"/>
            <p:cNvSpPr>
              <a:spLocks/>
            </p:cNvSpPr>
            <p:nvPr/>
          </p:nvSpPr>
          <p:spPr bwMode="auto">
            <a:xfrm>
              <a:off x="1740" y="1127"/>
              <a:ext cx="69" cy="25"/>
            </a:xfrm>
            <a:custGeom>
              <a:avLst/>
              <a:gdLst>
                <a:gd name="T0" fmla="*/ 0 w 202"/>
                <a:gd name="T1" fmla="*/ 25 h 73"/>
                <a:gd name="T2" fmla="*/ 31 w 202"/>
                <a:gd name="T3" fmla="*/ 18 h 73"/>
                <a:gd name="T4" fmla="*/ 46 w 202"/>
                <a:gd name="T5" fmla="*/ 10 h 73"/>
                <a:gd name="T6" fmla="*/ 60 w 202"/>
                <a:gd name="T7" fmla="*/ 7 h 73"/>
                <a:gd name="T8" fmla="*/ 69 w 202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73"/>
                <a:gd name="T17" fmla="*/ 202 w 202"/>
                <a:gd name="T18" fmla="*/ 73 h 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73">
                  <a:moveTo>
                    <a:pt x="0" y="72"/>
                  </a:moveTo>
                  <a:lnTo>
                    <a:pt x="91" y="53"/>
                  </a:lnTo>
                  <a:lnTo>
                    <a:pt x="134" y="29"/>
                  </a:lnTo>
                  <a:lnTo>
                    <a:pt x="177" y="19"/>
                  </a:lnTo>
                  <a:lnTo>
                    <a:pt x="201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133"/>
            <p:cNvSpPr>
              <a:spLocks/>
            </p:cNvSpPr>
            <p:nvPr/>
          </p:nvSpPr>
          <p:spPr bwMode="auto">
            <a:xfrm>
              <a:off x="1670" y="1083"/>
              <a:ext cx="63" cy="134"/>
            </a:xfrm>
            <a:custGeom>
              <a:avLst/>
              <a:gdLst>
                <a:gd name="T0" fmla="*/ 0 w 186"/>
                <a:gd name="T1" fmla="*/ 0 h 394"/>
                <a:gd name="T2" fmla="*/ 4 w 186"/>
                <a:gd name="T3" fmla="*/ 7 h 394"/>
                <a:gd name="T4" fmla="*/ 8 w 186"/>
                <a:gd name="T5" fmla="*/ 15 h 394"/>
                <a:gd name="T6" fmla="*/ 13 w 186"/>
                <a:gd name="T7" fmla="*/ 28 h 394"/>
                <a:gd name="T8" fmla="*/ 23 w 186"/>
                <a:gd name="T9" fmla="*/ 37 h 394"/>
                <a:gd name="T10" fmla="*/ 26 w 186"/>
                <a:gd name="T11" fmla="*/ 53 h 394"/>
                <a:gd name="T12" fmla="*/ 32 w 186"/>
                <a:gd name="T13" fmla="*/ 71 h 394"/>
                <a:gd name="T14" fmla="*/ 36 w 186"/>
                <a:gd name="T15" fmla="*/ 80 h 394"/>
                <a:gd name="T16" fmla="*/ 45 w 186"/>
                <a:gd name="T17" fmla="*/ 95 h 394"/>
                <a:gd name="T18" fmla="*/ 52 w 186"/>
                <a:gd name="T19" fmla="*/ 109 h 394"/>
                <a:gd name="T20" fmla="*/ 55 w 186"/>
                <a:gd name="T21" fmla="*/ 114 h 394"/>
                <a:gd name="T22" fmla="*/ 57 w 186"/>
                <a:gd name="T23" fmla="*/ 121 h 394"/>
                <a:gd name="T24" fmla="*/ 63 w 186"/>
                <a:gd name="T25" fmla="*/ 134 h 394"/>
                <a:gd name="T26" fmla="*/ 62 w 186"/>
                <a:gd name="T27" fmla="*/ 134 h 394"/>
                <a:gd name="T28" fmla="*/ 62 w 186"/>
                <a:gd name="T29" fmla="*/ 131 h 394"/>
                <a:gd name="T30" fmla="*/ 61 w 186"/>
                <a:gd name="T31" fmla="*/ 127 h 394"/>
                <a:gd name="T32" fmla="*/ 60 w 186"/>
                <a:gd name="T33" fmla="*/ 123 h 394"/>
                <a:gd name="T34" fmla="*/ 59 w 186"/>
                <a:gd name="T35" fmla="*/ 118 h 394"/>
                <a:gd name="T36" fmla="*/ 57 w 186"/>
                <a:gd name="T37" fmla="*/ 113 h 394"/>
                <a:gd name="T38" fmla="*/ 55 w 186"/>
                <a:gd name="T39" fmla="*/ 107 h 394"/>
                <a:gd name="T40" fmla="*/ 52 w 186"/>
                <a:gd name="T41" fmla="*/ 100 h 394"/>
                <a:gd name="T42" fmla="*/ 48 w 186"/>
                <a:gd name="T43" fmla="*/ 94 h 394"/>
                <a:gd name="T44" fmla="*/ 44 w 186"/>
                <a:gd name="T45" fmla="*/ 84 h 394"/>
                <a:gd name="T46" fmla="*/ 38 w 186"/>
                <a:gd name="T47" fmla="*/ 76 h 394"/>
                <a:gd name="T48" fmla="*/ 35 w 186"/>
                <a:gd name="T49" fmla="*/ 71 h 394"/>
                <a:gd name="T50" fmla="*/ 33 w 186"/>
                <a:gd name="T51" fmla="*/ 64 h 394"/>
                <a:gd name="T52" fmla="*/ 31 w 186"/>
                <a:gd name="T53" fmla="*/ 57 h 394"/>
                <a:gd name="T54" fmla="*/ 28 w 186"/>
                <a:gd name="T55" fmla="*/ 52 h 394"/>
                <a:gd name="T56" fmla="*/ 27 w 186"/>
                <a:gd name="T57" fmla="*/ 47 h 394"/>
                <a:gd name="T58" fmla="*/ 24 w 186"/>
                <a:gd name="T59" fmla="*/ 38 h 394"/>
                <a:gd name="T60" fmla="*/ 21 w 186"/>
                <a:gd name="T61" fmla="*/ 34 h 394"/>
                <a:gd name="T62" fmla="*/ 16 w 186"/>
                <a:gd name="T63" fmla="*/ 30 h 394"/>
                <a:gd name="T64" fmla="*/ 14 w 186"/>
                <a:gd name="T65" fmla="*/ 28 h 394"/>
                <a:gd name="T66" fmla="*/ 11 w 186"/>
                <a:gd name="T67" fmla="*/ 22 h 394"/>
                <a:gd name="T68" fmla="*/ 7 w 186"/>
                <a:gd name="T69" fmla="*/ 15 h 394"/>
                <a:gd name="T70" fmla="*/ 4 w 186"/>
                <a:gd name="T71" fmla="*/ 9 h 39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86"/>
                <a:gd name="T109" fmla="*/ 0 h 394"/>
                <a:gd name="T110" fmla="*/ 186 w 186"/>
                <a:gd name="T111" fmla="*/ 394 h 39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86" h="394">
                  <a:moveTo>
                    <a:pt x="0" y="0"/>
                  </a:moveTo>
                  <a:lnTo>
                    <a:pt x="13" y="22"/>
                  </a:lnTo>
                  <a:lnTo>
                    <a:pt x="24" y="44"/>
                  </a:lnTo>
                  <a:lnTo>
                    <a:pt x="37" y="83"/>
                  </a:lnTo>
                  <a:lnTo>
                    <a:pt x="69" y="110"/>
                  </a:lnTo>
                  <a:lnTo>
                    <a:pt x="78" y="155"/>
                  </a:lnTo>
                  <a:lnTo>
                    <a:pt x="94" y="209"/>
                  </a:lnTo>
                  <a:lnTo>
                    <a:pt x="107" y="236"/>
                  </a:lnTo>
                  <a:lnTo>
                    <a:pt x="133" y="280"/>
                  </a:lnTo>
                  <a:lnTo>
                    <a:pt x="153" y="320"/>
                  </a:lnTo>
                  <a:lnTo>
                    <a:pt x="161" y="336"/>
                  </a:lnTo>
                  <a:lnTo>
                    <a:pt x="168" y="356"/>
                  </a:lnTo>
                  <a:lnTo>
                    <a:pt x="185" y="393"/>
                  </a:lnTo>
                  <a:lnTo>
                    <a:pt x="184" y="393"/>
                  </a:lnTo>
                  <a:lnTo>
                    <a:pt x="184" y="385"/>
                  </a:lnTo>
                  <a:lnTo>
                    <a:pt x="181" y="372"/>
                  </a:lnTo>
                  <a:lnTo>
                    <a:pt x="177" y="361"/>
                  </a:lnTo>
                  <a:lnTo>
                    <a:pt x="174" y="347"/>
                  </a:lnTo>
                  <a:lnTo>
                    <a:pt x="169" y="332"/>
                  </a:lnTo>
                  <a:lnTo>
                    <a:pt x="163" y="316"/>
                  </a:lnTo>
                  <a:lnTo>
                    <a:pt x="153" y="294"/>
                  </a:lnTo>
                  <a:lnTo>
                    <a:pt x="142" y="275"/>
                  </a:lnTo>
                  <a:lnTo>
                    <a:pt x="131" y="248"/>
                  </a:lnTo>
                  <a:lnTo>
                    <a:pt x="112" y="224"/>
                  </a:lnTo>
                  <a:lnTo>
                    <a:pt x="104" y="208"/>
                  </a:lnTo>
                  <a:lnTo>
                    <a:pt x="96" y="188"/>
                  </a:lnTo>
                  <a:lnTo>
                    <a:pt x="91" y="169"/>
                  </a:lnTo>
                  <a:lnTo>
                    <a:pt x="83" y="153"/>
                  </a:lnTo>
                  <a:lnTo>
                    <a:pt x="80" y="139"/>
                  </a:lnTo>
                  <a:lnTo>
                    <a:pt x="70" y="112"/>
                  </a:lnTo>
                  <a:lnTo>
                    <a:pt x="62" y="100"/>
                  </a:lnTo>
                  <a:lnTo>
                    <a:pt x="48" y="89"/>
                  </a:lnTo>
                  <a:lnTo>
                    <a:pt x="41" y="83"/>
                  </a:lnTo>
                  <a:lnTo>
                    <a:pt x="32" y="64"/>
                  </a:lnTo>
                  <a:lnTo>
                    <a:pt x="22" y="43"/>
                  </a:lnTo>
                  <a:lnTo>
                    <a:pt x="13" y="27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134"/>
            <p:cNvSpPr>
              <a:spLocks/>
            </p:cNvSpPr>
            <p:nvPr/>
          </p:nvSpPr>
          <p:spPr bwMode="auto">
            <a:xfrm>
              <a:off x="1183" y="1252"/>
              <a:ext cx="57" cy="13"/>
            </a:xfrm>
            <a:custGeom>
              <a:avLst/>
              <a:gdLst>
                <a:gd name="T0" fmla="*/ 0 w 167"/>
                <a:gd name="T1" fmla="*/ 0 h 39"/>
                <a:gd name="T2" fmla="*/ 28 w 167"/>
                <a:gd name="T3" fmla="*/ 11 h 39"/>
                <a:gd name="T4" fmla="*/ 42 w 167"/>
                <a:gd name="T5" fmla="*/ 13 h 39"/>
                <a:gd name="T6" fmla="*/ 57 w 167"/>
                <a:gd name="T7" fmla="*/ 13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39"/>
                <a:gd name="T14" fmla="*/ 167 w 167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39">
                  <a:moveTo>
                    <a:pt x="0" y="0"/>
                  </a:moveTo>
                  <a:lnTo>
                    <a:pt x="83" y="32"/>
                  </a:lnTo>
                  <a:lnTo>
                    <a:pt x="122" y="38"/>
                  </a:lnTo>
                  <a:lnTo>
                    <a:pt x="166" y="38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135"/>
            <p:cNvSpPr>
              <a:spLocks/>
            </p:cNvSpPr>
            <p:nvPr/>
          </p:nvSpPr>
          <p:spPr bwMode="auto">
            <a:xfrm>
              <a:off x="917" y="1092"/>
              <a:ext cx="28" cy="37"/>
            </a:xfrm>
            <a:custGeom>
              <a:avLst/>
              <a:gdLst>
                <a:gd name="T0" fmla="*/ 22 w 82"/>
                <a:gd name="T1" fmla="*/ 37 h 111"/>
                <a:gd name="T2" fmla="*/ 18 w 82"/>
                <a:gd name="T3" fmla="*/ 33 h 111"/>
                <a:gd name="T4" fmla="*/ 16 w 82"/>
                <a:gd name="T5" fmla="*/ 29 h 111"/>
                <a:gd name="T6" fmla="*/ 12 w 82"/>
                <a:gd name="T7" fmla="*/ 25 h 111"/>
                <a:gd name="T8" fmla="*/ 8 w 82"/>
                <a:gd name="T9" fmla="*/ 14 h 111"/>
                <a:gd name="T10" fmla="*/ 3 w 82"/>
                <a:gd name="T11" fmla="*/ 6 h 111"/>
                <a:gd name="T12" fmla="*/ 0 w 82"/>
                <a:gd name="T13" fmla="*/ 0 h 111"/>
                <a:gd name="T14" fmla="*/ 3 w 82"/>
                <a:gd name="T15" fmla="*/ 4 h 111"/>
                <a:gd name="T16" fmla="*/ 4 w 82"/>
                <a:gd name="T17" fmla="*/ 7 h 111"/>
                <a:gd name="T18" fmla="*/ 8 w 82"/>
                <a:gd name="T19" fmla="*/ 12 h 111"/>
                <a:gd name="T20" fmla="*/ 10 w 82"/>
                <a:gd name="T21" fmla="*/ 17 h 111"/>
                <a:gd name="T22" fmla="*/ 14 w 82"/>
                <a:gd name="T23" fmla="*/ 21 h 111"/>
                <a:gd name="T24" fmla="*/ 17 w 82"/>
                <a:gd name="T25" fmla="*/ 25 h 111"/>
                <a:gd name="T26" fmla="*/ 22 w 82"/>
                <a:gd name="T27" fmla="*/ 29 h 111"/>
                <a:gd name="T28" fmla="*/ 26 w 82"/>
                <a:gd name="T29" fmla="*/ 31 h 111"/>
                <a:gd name="T30" fmla="*/ 28 w 82"/>
                <a:gd name="T31" fmla="*/ 33 h 111"/>
                <a:gd name="T32" fmla="*/ 22 w 82"/>
                <a:gd name="T33" fmla="*/ 37 h 11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2"/>
                <a:gd name="T52" fmla="*/ 0 h 111"/>
                <a:gd name="T53" fmla="*/ 82 w 82"/>
                <a:gd name="T54" fmla="*/ 111 h 11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2" h="111">
                  <a:moveTo>
                    <a:pt x="64" y="110"/>
                  </a:moveTo>
                  <a:lnTo>
                    <a:pt x="52" y="100"/>
                  </a:lnTo>
                  <a:lnTo>
                    <a:pt x="46" y="88"/>
                  </a:lnTo>
                  <a:lnTo>
                    <a:pt x="36" y="75"/>
                  </a:lnTo>
                  <a:lnTo>
                    <a:pt x="24" y="43"/>
                  </a:lnTo>
                  <a:lnTo>
                    <a:pt x="8" y="17"/>
                  </a:lnTo>
                  <a:lnTo>
                    <a:pt x="0" y="0"/>
                  </a:lnTo>
                  <a:lnTo>
                    <a:pt x="9" y="12"/>
                  </a:lnTo>
                  <a:lnTo>
                    <a:pt x="12" y="22"/>
                  </a:lnTo>
                  <a:lnTo>
                    <a:pt x="22" y="36"/>
                  </a:lnTo>
                  <a:lnTo>
                    <a:pt x="30" y="51"/>
                  </a:lnTo>
                  <a:lnTo>
                    <a:pt x="40" y="64"/>
                  </a:lnTo>
                  <a:lnTo>
                    <a:pt x="49" y="76"/>
                  </a:lnTo>
                  <a:lnTo>
                    <a:pt x="64" y="88"/>
                  </a:lnTo>
                  <a:lnTo>
                    <a:pt x="75" y="92"/>
                  </a:lnTo>
                  <a:lnTo>
                    <a:pt x="81" y="99"/>
                  </a:lnTo>
                  <a:lnTo>
                    <a:pt x="64" y="110"/>
                  </a:lnTo>
                </a:path>
              </a:pathLst>
            </a:custGeom>
            <a:solidFill>
              <a:schemeClr val="bg1"/>
            </a:solid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Freeform 136"/>
            <p:cNvSpPr>
              <a:spLocks/>
            </p:cNvSpPr>
            <p:nvPr/>
          </p:nvSpPr>
          <p:spPr bwMode="auto">
            <a:xfrm>
              <a:off x="814" y="961"/>
              <a:ext cx="38" cy="60"/>
            </a:xfrm>
            <a:custGeom>
              <a:avLst/>
              <a:gdLst>
                <a:gd name="T0" fmla="*/ 0 w 114"/>
                <a:gd name="T1" fmla="*/ 3 h 177"/>
                <a:gd name="T2" fmla="*/ 13 w 114"/>
                <a:gd name="T3" fmla="*/ 14 h 177"/>
                <a:gd name="T4" fmla="*/ 15 w 114"/>
                <a:gd name="T5" fmla="*/ 19 h 177"/>
                <a:gd name="T6" fmla="*/ 19 w 114"/>
                <a:gd name="T7" fmla="*/ 28 h 177"/>
                <a:gd name="T8" fmla="*/ 26 w 114"/>
                <a:gd name="T9" fmla="*/ 34 h 177"/>
                <a:gd name="T10" fmla="*/ 32 w 114"/>
                <a:gd name="T11" fmla="*/ 49 h 177"/>
                <a:gd name="T12" fmla="*/ 34 w 114"/>
                <a:gd name="T13" fmla="*/ 56 h 177"/>
                <a:gd name="T14" fmla="*/ 38 w 114"/>
                <a:gd name="T15" fmla="*/ 60 h 177"/>
                <a:gd name="T16" fmla="*/ 35 w 114"/>
                <a:gd name="T17" fmla="*/ 55 h 177"/>
                <a:gd name="T18" fmla="*/ 34 w 114"/>
                <a:gd name="T19" fmla="*/ 49 h 177"/>
                <a:gd name="T20" fmla="*/ 32 w 114"/>
                <a:gd name="T21" fmla="*/ 44 h 177"/>
                <a:gd name="T22" fmla="*/ 29 w 114"/>
                <a:gd name="T23" fmla="*/ 40 h 177"/>
                <a:gd name="T24" fmla="*/ 26 w 114"/>
                <a:gd name="T25" fmla="*/ 35 h 177"/>
                <a:gd name="T26" fmla="*/ 24 w 114"/>
                <a:gd name="T27" fmla="*/ 32 h 177"/>
                <a:gd name="T28" fmla="*/ 19 w 114"/>
                <a:gd name="T29" fmla="*/ 26 h 177"/>
                <a:gd name="T30" fmla="*/ 17 w 114"/>
                <a:gd name="T31" fmla="*/ 17 h 177"/>
                <a:gd name="T32" fmla="*/ 14 w 114"/>
                <a:gd name="T33" fmla="*/ 13 h 177"/>
                <a:gd name="T34" fmla="*/ 12 w 114"/>
                <a:gd name="T35" fmla="*/ 4 h 177"/>
                <a:gd name="T36" fmla="*/ 9 w 114"/>
                <a:gd name="T37" fmla="*/ 1 h 177"/>
                <a:gd name="T38" fmla="*/ 8 w 114"/>
                <a:gd name="T39" fmla="*/ 0 h 177"/>
                <a:gd name="T40" fmla="*/ 6 w 114"/>
                <a:gd name="T41" fmla="*/ 0 h 177"/>
                <a:gd name="T42" fmla="*/ 0 w 114"/>
                <a:gd name="T43" fmla="*/ 3 h 17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14"/>
                <a:gd name="T67" fmla="*/ 0 h 177"/>
                <a:gd name="T68" fmla="*/ 114 w 114"/>
                <a:gd name="T69" fmla="*/ 177 h 17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14" h="177">
                  <a:moveTo>
                    <a:pt x="0" y="10"/>
                  </a:moveTo>
                  <a:lnTo>
                    <a:pt x="40" y="41"/>
                  </a:lnTo>
                  <a:lnTo>
                    <a:pt x="45" y="57"/>
                  </a:lnTo>
                  <a:lnTo>
                    <a:pt x="58" y="82"/>
                  </a:lnTo>
                  <a:lnTo>
                    <a:pt x="79" y="101"/>
                  </a:lnTo>
                  <a:lnTo>
                    <a:pt x="95" y="146"/>
                  </a:lnTo>
                  <a:lnTo>
                    <a:pt x="102" y="164"/>
                  </a:lnTo>
                  <a:lnTo>
                    <a:pt x="113" y="176"/>
                  </a:lnTo>
                  <a:lnTo>
                    <a:pt x="106" y="161"/>
                  </a:lnTo>
                  <a:lnTo>
                    <a:pt x="101" y="146"/>
                  </a:lnTo>
                  <a:lnTo>
                    <a:pt x="96" y="130"/>
                  </a:lnTo>
                  <a:lnTo>
                    <a:pt x="87" y="118"/>
                  </a:lnTo>
                  <a:lnTo>
                    <a:pt x="79" y="103"/>
                  </a:lnTo>
                  <a:lnTo>
                    <a:pt x="72" y="93"/>
                  </a:lnTo>
                  <a:lnTo>
                    <a:pt x="57" y="77"/>
                  </a:lnTo>
                  <a:lnTo>
                    <a:pt x="52" y="51"/>
                  </a:lnTo>
                  <a:lnTo>
                    <a:pt x="43" y="37"/>
                  </a:lnTo>
                  <a:lnTo>
                    <a:pt x="35" y="12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0" y="10"/>
                  </a:lnTo>
                </a:path>
              </a:pathLst>
            </a:custGeom>
            <a:solidFill>
              <a:schemeClr val="bg1"/>
            </a:solidFill>
            <a:ln w="6350" cap="rnd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1" name="Group 137"/>
          <p:cNvGrpSpPr>
            <a:grpSpLocks/>
          </p:cNvGrpSpPr>
          <p:nvPr/>
        </p:nvGrpSpPr>
        <p:grpSpPr bwMode="auto">
          <a:xfrm>
            <a:off x="6268721" y="3435278"/>
            <a:ext cx="2093913" cy="766762"/>
            <a:chOff x="3472" y="796"/>
            <a:chExt cx="1319" cy="483"/>
          </a:xfrm>
        </p:grpSpPr>
        <p:sp>
          <p:nvSpPr>
            <p:cNvPr id="242" name="Freeform 138" descr="沙滩"/>
            <p:cNvSpPr>
              <a:spLocks/>
            </p:cNvSpPr>
            <p:nvPr/>
          </p:nvSpPr>
          <p:spPr bwMode="auto">
            <a:xfrm>
              <a:off x="3657" y="796"/>
              <a:ext cx="909" cy="483"/>
            </a:xfrm>
            <a:custGeom>
              <a:avLst/>
              <a:gdLst>
                <a:gd name="T0" fmla="*/ 0 w 909"/>
                <a:gd name="T1" fmla="*/ 476 h 483"/>
                <a:gd name="T2" fmla="*/ 64 w 909"/>
                <a:gd name="T3" fmla="*/ 374 h 483"/>
                <a:gd name="T4" fmla="*/ 141 w 909"/>
                <a:gd name="T5" fmla="*/ 252 h 483"/>
                <a:gd name="T6" fmla="*/ 249 w 909"/>
                <a:gd name="T7" fmla="*/ 144 h 483"/>
                <a:gd name="T8" fmla="*/ 326 w 909"/>
                <a:gd name="T9" fmla="*/ 48 h 483"/>
                <a:gd name="T10" fmla="*/ 461 w 909"/>
                <a:gd name="T11" fmla="*/ 3 h 483"/>
                <a:gd name="T12" fmla="*/ 550 w 909"/>
                <a:gd name="T13" fmla="*/ 67 h 483"/>
                <a:gd name="T14" fmla="*/ 659 w 909"/>
                <a:gd name="T15" fmla="*/ 188 h 483"/>
                <a:gd name="T16" fmla="*/ 736 w 909"/>
                <a:gd name="T17" fmla="*/ 297 h 483"/>
                <a:gd name="T18" fmla="*/ 800 w 909"/>
                <a:gd name="T19" fmla="*/ 355 h 483"/>
                <a:gd name="T20" fmla="*/ 832 w 909"/>
                <a:gd name="T21" fmla="*/ 412 h 483"/>
                <a:gd name="T22" fmla="*/ 909 w 909"/>
                <a:gd name="T23" fmla="*/ 483 h 4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09"/>
                <a:gd name="T37" fmla="*/ 0 h 483"/>
                <a:gd name="T38" fmla="*/ 909 w 909"/>
                <a:gd name="T39" fmla="*/ 483 h 48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09" h="483">
                  <a:moveTo>
                    <a:pt x="0" y="476"/>
                  </a:moveTo>
                  <a:cubicBezTo>
                    <a:pt x="20" y="443"/>
                    <a:pt x="41" y="411"/>
                    <a:pt x="64" y="374"/>
                  </a:cubicBezTo>
                  <a:cubicBezTo>
                    <a:pt x="87" y="337"/>
                    <a:pt x="110" y="290"/>
                    <a:pt x="141" y="252"/>
                  </a:cubicBezTo>
                  <a:cubicBezTo>
                    <a:pt x="172" y="214"/>
                    <a:pt x="218" y="178"/>
                    <a:pt x="249" y="144"/>
                  </a:cubicBezTo>
                  <a:cubicBezTo>
                    <a:pt x="280" y="110"/>
                    <a:pt x="291" y="71"/>
                    <a:pt x="326" y="48"/>
                  </a:cubicBezTo>
                  <a:cubicBezTo>
                    <a:pt x="361" y="25"/>
                    <a:pt x="424" y="0"/>
                    <a:pt x="461" y="3"/>
                  </a:cubicBezTo>
                  <a:cubicBezTo>
                    <a:pt x="498" y="6"/>
                    <a:pt x="517" y="36"/>
                    <a:pt x="550" y="67"/>
                  </a:cubicBezTo>
                  <a:cubicBezTo>
                    <a:pt x="583" y="98"/>
                    <a:pt x="628" y="150"/>
                    <a:pt x="659" y="188"/>
                  </a:cubicBezTo>
                  <a:cubicBezTo>
                    <a:pt x="690" y="226"/>
                    <a:pt x="713" y="269"/>
                    <a:pt x="736" y="297"/>
                  </a:cubicBezTo>
                  <a:cubicBezTo>
                    <a:pt x="759" y="325"/>
                    <a:pt x="784" y="336"/>
                    <a:pt x="800" y="355"/>
                  </a:cubicBezTo>
                  <a:cubicBezTo>
                    <a:pt x="816" y="374"/>
                    <a:pt x="814" y="391"/>
                    <a:pt x="832" y="412"/>
                  </a:cubicBezTo>
                  <a:cubicBezTo>
                    <a:pt x="850" y="433"/>
                    <a:pt x="879" y="458"/>
                    <a:pt x="909" y="483"/>
                  </a:cubicBezTo>
                </a:path>
              </a:pathLst>
            </a:custGeom>
            <a:blipFill dpi="0" rotWithShape="1">
              <a:blip r:embed="rId4" cstate="print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139"/>
            <p:cNvSpPr>
              <a:spLocks noChangeShapeType="1"/>
            </p:cNvSpPr>
            <p:nvPr/>
          </p:nvSpPr>
          <p:spPr bwMode="auto">
            <a:xfrm>
              <a:off x="3472" y="1271"/>
              <a:ext cx="13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4" name="Text Box 140"/>
          <p:cNvSpPr txBox="1">
            <a:spLocks noChangeArrowheads="1"/>
          </p:cNvSpPr>
          <p:nvPr/>
        </p:nvSpPr>
        <p:spPr bwMode="auto">
          <a:xfrm>
            <a:off x="7003734" y="4424290"/>
            <a:ext cx="5921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</a:t>
            </a:r>
          </a:p>
        </p:txBody>
      </p:sp>
      <p:sp>
        <p:nvSpPr>
          <p:cNvPr id="245" name="Text Box 141"/>
          <p:cNvSpPr txBox="1">
            <a:spLocks noChangeArrowheads="1"/>
          </p:cNvSpPr>
          <p:nvPr/>
        </p:nvSpPr>
        <p:spPr bwMode="auto">
          <a:xfrm>
            <a:off x="1785621" y="4430640"/>
            <a:ext cx="11382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岩石</a:t>
            </a:r>
          </a:p>
        </p:txBody>
      </p:sp>
      <p:sp>
        <p:nvSpPr>
          <p:cNvPr id="246" name="Text Box 142"/>
          <p:cNvSpPr txBox="1">
            <a:spLocks noChangeArrowheads="1"/>
          </p:cNvSpPr>
          <p:nvPr/>
        </p:nvSpPr>
        <p:spPr bwMode="auto">
          <a:xfrm>
            <a:off x="3574734" y="3143178"/>
            <a:ext cx="2695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风化、搬运、沉积</a:t>
            </a:r>
          </a:p>
        </p:txBody>
      </p:sp>
      <p:sp>
        <p:nvSpPr>
          <p:cNvPr id="247" name="Line 143"/>
          <p:cNvSpPr>
            <a:spLocks noChangeShapeType="1"/>
          </p:cNvSpPr>
          <p:nvPr/>
        </p:nvSpPr>
        <p:spPr bwMode="auto">
          <a:xfrm>
            <a:off x="3833496" y="3828978"/>
            <a:ext cx="2211388" cy="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" name="Text Box 144"/>
          <p:cNvSpPr txBox="1">
            <a:spLocks noChangeArrowheads="1"/>
          </p:cNvSpPr>
          <p:nvPr/>
        </p:nvSpPr>
        <p:spPr bwMode="auto">
          <a:xfrm>
            <a:off x="3658871" y="4287765"/>
            <a:ext cx="2144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地质成岩作用</a:t>
            </a:r>
            <a:endParaRPr lang="en-US" altLang="zh-CN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49" name="Line 145"/>
          <p:cNvSpPr>
            <a:spLocks noChangeShapeType="1"/>
          </p:cNvSpPr>
          <p:nvPr/>
        </p:nvSpPr>
        <p:spPr bwMode="auto">
          <a:xfrm flipH="1">
            <a:off x="3774759" y="4121078"/>
            <a:ext cx="2211387" cy="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0" name="Text Box 270"/>
          <p:cNvSpPr txBox="1">
            <a:spLocks noChangeArrowheads="1"/>
          </p:cNvSpPr>
          <p:nvPr/>
        </p:nvSpPr>
        <p:spPr bwMode="auto">
          <a:xfrm>
            <a:off x="1192586" y="975971"/>
            <a:ext cx="7334250" cy="14219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</a:t>
            </a: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是地球表面的整体岩石在大气中经受长期的风化作用而形成的、覆盖在地表上碎散的、没有胶结或胶结很弱的</a:t>
            </a:r>
            <a:r>
              <a:rPr lang="zh-CN" altLang="en-US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颗粒堆积物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5"/>
          <p:cNvSpPr>
            <a:spLocks noChangeArrowheads="1"/>
          </p:cNvSpPr>
          <p:nvPr/>
        </p:nvSpPr>
        <p:spPr bwMode="auto">
          <a:xfrm>
            <a:off x="0" y="5226050"/>
            <a:ext cx="3978275" cy="1631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2291" name="Picture 17" descr="tu2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"/>
          <a:stretch>
            <a:fillRect/>
          </a:stretch>
        </p:blipFill>
        <p:spPr bwMode="auto">
          <a:xfrm>
            <a:off x="0" y="2765425"/>
            <a:ext cx="382270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 Box 19"/>
          <p:cNvSpPr txBox="1">
            <a:spLocks noChangeArrowheads="1"/>
          </p:cNvSpPr>
          <p:nvPr/>
        </p:nvSpPr>
        <p:spPr bwMode="auto">
          <a:xfrm>
            <a:off x="-19050" y="2768600"/>
            <a:ext cx="24320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C00000"/>
                </a:solidFill>
              </a:rPr>
              <a:t>高山下的冲积锥群</a:t>
            </a:r>
            <a:endParaRPr lang="en-US" altLang="zh-CN" sz="2200" b="1" dirty="0">
              <a:solidFill>
                <a:srgbClr val="C00000"/>
              </a:solidFill>
            </a:endParaRPr>
          </a:p>
        </p:txBody>
      </p:sp>
      <p:pic>
        <p:nvPicPr>
          <p:cNvPr id="12293" name="Picture 20" descr="tu2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75"/>
            <a:ext cx="381635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 Box 21"/>
          <p:cNvSpPr txBox="1">
            <a:spLocks noChangeArrowheads="1"/>
          </p:cNvSpPr>
          <p:nvPr/>
        </p:nvSpPr>
        <p:spPr bwMode="auto">
          <a:xfrm>
            <a:off x="240900" y="155869"/>
            <a:ext cx="131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C00000"/>
                </a:solidFill>
              </a:rPr>
              <a:t>风蚀蘑菇</a:t>
            </a:r>
            <a:endParaRPr lang="en-US" altLang="zh-CN" sz="2200" b="1" dirty="0">
              <a:solidFill>
                <a:srgbClr val="C00000"/>
              </a:solidFill>
            </a:endParaRPr>
          </a:p>
        </p:txBody>
      </p:sp>
      <p:pic>
        <p:nvPicPr>
          <p:cNvPr id="12295" name="Picture 22" descr="黄河三角洲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9" r="7417" b="8806"/>
          <a:stretch>
            <a:fillRect/>
          </a:stretch>
        </p:blipFill>
        <p:spPr bwMode="auto">
          <a:xfrm>
            <a:off x="4022725" y="2779713"/>
            <a:ext cx="5121275" cy="384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Text Box 23"/>
          <p:cNvSpPr txBox="1">
            <a:spLocks noChangeArrowheads="1"/>
          </p:cNvSpPr>
          <p:nvPr/>
        </p:nvSpPr>
        <p:spPr bwMode="auto">
          <a:xfrm>
            <a:off x="266700" y="5772150"/>
            <a:ext cx="3635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土的形成过程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297" name="Text Box 25"/>
          <p:cNvSpPr txBox="1">
            <a:spLocks noChangeArrowheads="1"/>
          </p:cNvSpPr>
          <p:nvPr/>
        </p:nvSpPr>
        <p:spPr bwMode="auto">
          <a:xfrm>
            <a:off x="6796088" y="2789238"/>
            <a:ext cx="21399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dirty="0">
                <a:solidFill>
                  <a:schemeClr val="bg1"/>
                </a:solidFill>
              </a:rPr>
              <a:t>黄河冲积三角洲</a:t>
            </a:r>
            <a:endParaRPr lang="en-US" altLang="zh-CN" sz="2200" dirty="0">
              <a:solidFill>
                <a:schemeClr val="bg1"/>
              </a:solidFill>
            </a:endParaRPr>
          </a:p>
        </p:txBody>
      </p:sp>
      <p:sp>
        <p:nvSpPr>
          <p:cNvPr id="12298" name="Line 26"/>
          <p:cNvSpPr>
            <a:spLocks noChangeShapeType="1"/>
          </p:cNvSpPr>
          <p:nvPr/>
        </p:nvSpPr>
        <p:spPr bwMode="auto">
          <a:xfrm>
            <a:off x="1096963" y="3246438"/>
            <a:ext cx="1357312" cy="15700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9" name="Picture 32" descr="W020080327549100609351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15" r="-34"/>
          <a:stretch>
            <a:fillRect/>
          </a:stretch>
        </p:blipFill>
        <p:spPr bwMode="auto">
          <a:xfrm>
            <a:off x="4183710" y="8878"/>
            <a:ext cx="4951412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0" name="Text Box 37"/>
          <p:cNvSpPr txBox="1">
            <a:spLocks noChangeArrowheads="1"/>
          </p:cNvSpPr>
          <p:nvPr/>
        </p:nvSpPr>
        <p:spPr bwMode="auto">
          <a:xfrm>
            <a:off x="4621213" y="325438"/>
            <a:ext cx="7461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C00000"/>
                </a:solidFill>
              </a:rPr>
              <a:t>输运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549479" y="5751513"/>
            <a:ext cx="4991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工程与土力学中的土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绪论：什么是土？</a:t>
            </a:r>
            <a:r>
              <a:rPr lang="zh-CN" altLang="en-US" sz="2000" kern="900" spc="-140" dirty="0">
                <a:solidFill>
                  <a:srgbClr val="C00000"/>
                </a:solidFill>
                <a:latin typeface="宋体" pitchFamily="2" charset="-122"/>
              </a:rPr>
              <a:t> </a:t>
            </a:r>
          </a:p>
        </p:txBody>
      </p:sp>
      <p:pic>
        <p:nvPicPr>
          <p:cNvPr id="9" name="Picture 3" descr="DSC0032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180" y="1606550"/>
            <a:ext cx="2786062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-107950" y="3902075"/>
            <a:ext cx="897731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砾石料     卵 石        </a:t>
            </a:r>
            <a:r>
              <a:rPr lang="zh-CN" altLang="en-US" sz="2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砂 </a:t>
            </a:r>
            <a:r>
              <a:rPr lang="zh-CN" altLang="en-US" sz="2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土            黏     </a:t>
            </a:r>
            <a:r>
              <a:rPr lang="zh-CN" altLang="en-US" sz="2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（人工破碎）</a:t>
            </a:r>
          </a:p>
        </p:txBody>
      </p:sp>
      <p:pic>
        <p:nvPicPr>
          <p:cNvPr id="12" name="Picture 8" descr="砂砾石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4" t="30872" r="9796" b="2272"/>
          <a:stretch>
            <a:fillRect/>
          </a:stretch>
        </p:blipFill>
        <p:spPr bwMode="auto">
          <a:xfrm>
            <a:off x="1579563" y="1627188"/>
            <a:ext cx="1589087" cy="220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F:\DSCN6556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63" t="26725" b="-1"/>
          <a:stretch/>
        </p:blipFill>
        <p:spPr bwMode="auto">
          <a:xfrm>
            <a:off x="150469" y="1626244"/>
            <a:ext cx="1430724" cy="220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timgsa.baidu.com/timg?image&amp;quality=80&amp;size=b9999_10000&amp;sec=1503145732364&amp;di=c64cd5708074339e4402679a901b32b1&amp;imgtype=0&amp;src=http%3A%2F%2F8.ims.365imgs.cn%2F8%2Ff%2F1f%2F101698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61" b="48279"/>
          <a:stretch/>
        </p:blipFill>
        <p:spPr bwMode="auto">
          <a:xfrm>
            <a:off x="3320012" y="1621466"/>
            <a:ext cx="2751175" cy="221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863725" y="1000125"/>
            <a:ext cx="523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课程绪论：土力学及其特点</a:t>
            </a:r>
            <a:endParaRPr kumimoji="1" lang="en-US" altLang="zh-CN" sz="32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163763" y="2171700"/>
            <a:ext cx="5256212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什么是土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   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itchFamily="2" charset="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土有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哪些特点？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为什么要学习土力学？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土力学包括哪些内容？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如何学好土力学？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802063" y="2979738"/>
            <a:ext cx="1720850" cy="48736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3" name="Freeform 3" descr="沙滩"/>
          <p:cNvSpPr>
            <a:spLocks/>
          </p:cNvSpPr>
          <p:nvPr/>
        </p:nvSpPr>
        <p:spPr bwMode="auto">
          <a:xfrm>
            <a:off x="4592638" y="4283075"/>
            <a:ext cx="1443037" cy="766763"/>
          </a:xfrm>
          <a:custGeom>
            <a:avLst/>
            <a:gdLst>
              <a:gd name="T0" fmla="*/ 0 w 909"/>
              <a:gd name="T1" fmla="*/ 755650 h 483"/>
              <a:gd name="T2" fmla="*/ 101600 w 909"/>
              <a:gd name="T3" fmla="*/ 593725 h 483"/>
              <a:gd name="T4" fmla="*/ 223837 w 909"/>
              <a:gd name="T5" fmla="*/ 400050 h 483"/>
              <a:gd name="T6" fmla="*/ 395287 w 909"/>
              <a:gd name="T7" fmla="*/ 228600 h 483"/>
              <a:gd name="T8" fmla="*/ 517525 w 909"/>
              <a:gd name="T9" fmla="*/ 76200 h 483"/>
              <a:gd name="T10" fmla="*/ 731837 w 909"/>
              <a:gd name="T11" fmla="*/ 4763 h 483"/>
              <a:gd name="T12" fmla="*/ 873125 w 909"/>
              <a:gd name="T13" fmla="*/ 106363 h 483"/>
              <a:gd name="T14" fmla="*/ 1046162 w 909"/>
              <a:gd name="T15" fmla="*/ 298450 h 483"/>
              <a:gd name="T16" fmla="*/ 1168400 w 909"/>
              <a:gd name="T17" fmla="*/ 471488 h 483"/>
              <a:gd name="T18" fmla="*/ 1270000 w 909"/>
              <a:gd name="T19" fmla="*/ 563563 h 483"/>
              <a:gd name="T20" fmla="*/ 1320800 w 909"/>
              <a:gd name="T21" fmla="*/ 654050 h 483"/>
              <a:gd name="T22" fmla="*/ 1443037 w 909"/>
              <a:gd name="T23" fmla="*/ 766763 h 4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09"/>
              <a:gd name="T37" fmla="*/ 0 h 483"/>
              <a:gd name="T38" fmla="*/ 909 w 909"/>
              <a:gd name="T39" fmla="*/ 483 h 48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09" h="483">
                <a:moveTo>
                  <a:pt x="0" y="476"/>
                </a:moveTo>
                <a:cubicBezTo>
                  <a:pt x="20" y="443"/>
                  <a:pt x="41" y="411"/>
                  <a:pt x="64" y="374"/>
                </a:cubicBezTo>
                <a:cubicBezTo>
                  <a:pt x="87" y="337"/>
                  <a:pt x="110" y="290"/>
                  <a:pt x="141" y="252"/>
                </a:cubicBezTo>
                <a:cubicBezTo>
                  <a:pt x="172" y="214"/>
                  <a:pt x="218" y="178"/>
                  <a:pt x="249" y="144"/>
                </a:cubicBezTo>
                <a:cubicBezTo>
                  <a:pt x="280" y="110"/>
                  <a:pt x="291" y="71"/>
                  <a:pt x="326" y="48"/>
                </a:cubicBezTo>
                <a:cubicBezTo>
                  <a:pt x="361" y="25"/>
                  <a:pt x="424" y="0"/>
                  <a:pt x="461" y="3"/>
                </a:cubicBezTo>
                <a:cubicBezTo>
                  <a:pt x="498" y="6"/>
                  <a:pt x="517" y="36"/>
                  <a:pt x="550" y="67"/>
                </a:cubicBezTo>
                <a:cubicBezTo>
                  <a:pt x="583" y="98"/>
                  <a:pt x="628" y="150"/>
                  <a:pt x="659" y="188"/>
                </a:cubicBezTo>
                <a:cubicBezTo>
                  <a:pt x="690" y="226"/>
                  <a:pt x="713" y="269"/>
                  <a:pt x="736" y="297"/>
                </a:cubicBezTo>
                <a:cubicBezTo>
                  <a:pt x="759" y="325"/>
                  <a:pt x="784" y="336"/>
                  <a:pt x="800" y="355"/>
                </a:cubicBezTo>
                <a:cubicBezTo>
                  <a:pt x="816" y="374"/>
                  <a:pt x="814" y="391"/>
                  <a:pt x="832" y="412"/>
                </a:cubicBezTo>
                <a:cubicBezTo>
                  <a:pt x="850" y="433"/>
                  <a:pt x="879" y="458"/>
                  <a:pt x="909" y="483"/>
                </a:cubicBezTo>
              </a:path>
            </a:pathLst>
          </a:custGeom>
          <a:blipFill dpi="0" rotWithShape="1">
            <a:blip r:embed="rId3" cstate="print"/>
            <a:srcRect/>
            <a:tile tx="0" ty="0" sx="100000" sy="100000" flip="none" algn="tl"/>
          </a:blip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028148" y="5751513"/>
            <a:ext cx="3086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土体的特点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914400" y="1402290"/>
            <a:ext cx="3640138" cy="3530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itchFamily="2" charset="2"/>
              </a:rPr>
              <a:t> 一般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固体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800" b="1" dirty="0" smtClean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endParaRPr lang="en-US" altLang="zh-CN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endParaRPr lang="en-US" altLang="zh-CN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液体：</a:t>
            </a:r>
            <a:endParaRPr lang="en-US" altLang="zh-CN" sz="2800" b="1" dirty="0" smtClean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endParaRPr lang="en-US" altLang="zh-CN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endParaRPr lang="en-US" altLang="zh-CN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土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体（散粒）：</a:t>
            </a:r>
            <a:endParaRPr lang="en-US" altLang="zh-CN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6292850" y="1404938"/>
            <a:ext cx="25685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C00000"/>
                </a:solidFill>
                <a:ea typeface="幼圆" pitchFamily="49" charset="-122"/>
              </a:rPr>
              <a:t>可保持固定的形状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6345238" y="2927350"/>
            <a:ext cx="24923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C00000"/>
                </a:solidFill>
                <a:ea typeface="幼圆" pitchFamily="49" charset="-122"/>
              </a:rPr>
              <a:t>不具有特定的形状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6597650" y="4392613"/>
            <a:ext cx="22733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C00000"/>
                </a:solidFill>
                <a:ea typeface="幼圆" pitchFamily="49" charset="-122"/>
              </a:rPr>
              <a:t>具有一定但不固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C00000"/>
                </a:solidFill>
                <a:ea typeface="幼圆" pitchFamily="49" charset="-122"/>
              </a:rPr>
              <a:t>定的形状</a:t>
            </a:r>
          </a:p>
        </p:txBody>
      </p:sp>
      <p:sp>
        <p:nvSpPr>
          <p:cNvPr id="15369" name="AutoShape 9" descr="花岗岩"/>
          <p:cNvSpPr>
            <a:spLocks noChangeArrowheads="1"/>
          </p:cNvSpPr>
          <p:nvPr/>
        </p:nvSpPr>
        <p:spPr bwMode="auto">
          <a:xfrm>
            <a:off x="3902075" y="1189038"/>
            <a:ext cx="808038" cy="808037"/>
          </a:xfrm>
          <a:prstGeom prst="cube">
            <a:avLst>
              <a:gd name="adj" fmla="val 25000"/>
            </a:avLst>
          </a:prstGeom>
          <a:blipFill dpi="0" rotWithShape="1">
            <a:blip r:embed="rId4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0" name="AutoShape 10" descr="花岗岩"/>
          <p:cNvSpPr>
            <a:spLocks noChangeArrowheads="1"/>
          </p:cNvSpPr>
          <p:nvPr/>
        </p:nvSpPr>
        <p:spPr bwMode="auto">
          <a:xfrm>
            <a:off x="5165725" y="1098550"/>
            <a:ext cx="717550" cy="952500"/>
          </a:xfrm>
          <a:prstGeom prst="can">
            <a:avLst>
              <a:gd name="adj" fmla="val 33186"/>
            </a:avLst>
          </a:prstGeom>
          <a:blipFill dpi="0" rotWithShape="1">
            <a:blip r:embed="rId4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1" name="Freeform 11"/>
          <p:cNvSpPr>
            <a:spLocks/>
          </p:cNvSpPr>
          <p:nvPr/>
        </p:nvSpPr>
        <p:spPr bwMode="auto">
          <a:xfrm>
            <a:off x="3790950" y="2727325"/>
            <a:ext cx="1736725" cy="747713"/>
          </a:xfrm>
          <a:custGeom>
            <a:avLst/>
            <a:gdLst>
              <a:gd name="T0" fmla="*/ 0 w 1094"/>
              <a:gd name="T1" fmla="*/ 31750 h 471"/>
              <a:gd name="T2" fmla="*/ 0 w 1094"/>
              <a:gd name="T3" fmla="*/ 747713 h 471"/>
              <a:gd name="T4" fmla="*/ 1736725 w 1094"/>
              <a:gd name="T5" fmla="*/ 747713 h 471"/>
              <a:gd name="T6" fmla="*/ 1736725 w 1094"/>
              <a:gd name="T7" fmla="*/ 0 h 471"/>
              <a:gd name="T8" fmla="*/ 0 60000 65536"/>
              <a:gd name="T9" fmla="*/ 0 60000 65536"/>
              <a:gd name="T10" fmla="*/ 0 60000 65536"/>
              <a:gd name="T11" fmla="*/ 0 60000 65536"/>
              <a:gd name="T12" fmla="*/ 0 w 1094"/>
              <a:gd name="T13" fmla="*/ 0 h 471"/>
              <a:gd name="T14" fmla="*/ 1094 w 1094"/>
              <a:gd name="T15" fmla="*/ 471 h 4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94" h="471">
                <a:moveTo>
                  <a:pt x="0" y="20"/>
                </a:moveTo>
                <a:lnTo>
                  <a:pt x="0" y="471"/>
                </a:lnTo>
                <a:lnTo>
                  <a:pt x="1094" y="471"/>
                </a:lnTo>
                <a:lnTo>
                  <a:pt x="1094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3800475" y="2971800"/>
            <a:ext cx="1716088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3" name="AutoShape 13"/>
          <p:cNvSpPr>
            <a:spLocks noChangeArrowheads="1"/>
          </p:cNvSpPr>
          <p:nvPr/>
        </p:nvSpPr>
        <p:spPr bwMode="auto">
          <a:xfrm flipV="1">
            <a:off x="4008438" y="2816225"/>
            <a:ext cx="203200" cy="1524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4022725" y="3021013"/>
            <a:ext cx="24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>
            <a:off x="4095750" y="3059113"/>
            <a:ext cx="13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4146550" y="3098800"/>
            <a:ext cx="65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4298950" y="5049838"/>
            <a:ext cx="20939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0"/>
            <a:ext cx="41465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土及土力学有哪些特点？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3214580" y="5751513"/>
            <a:ext cx="3222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土体的特点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0" y="0"/>
            <a:ext cx="41465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土及土力学有哪些特点？ </a:t>
            </a:r>
          </a:p>
        </p:txBody>
      </p:sp>
      <p:sp>
        <p:nvSpPr>
          <p:cNvPr id="18" name="矩形 17"/>
          <p:cNvSpPr/>
          <p:nvPr/>
        </p:nvSpPr>
        <p:spPr>
          <a:xfrm>
            <a:off x="2244725" y="4295050"/>
            <a:ext cx="6385135" cy="1313898"/>
          </a:xfrm>
          <a:prstGeom prst="rect">
            <a:avLst/>
          </a:prstGeom>
          <a:solidFill>
            <a:srgbClr val="99CCFF">
              <a:alpha val="90588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44725" y="2626166"/>
            <a:ext cx="6383994" cy="1478005"/>
          </a:xfrm>
          <a:prstGeom prst="rect">
            <a:avLst/>
          </a:prstGeom>
          <a:solidFill>
            <a:srgbClr val="FFCC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238998" y="748947"/>
            <a:ext cx="6397116" cy="1696541"/>
          </a:xfrm>
          <a:prstGeom prst="rect">
            <a:avLst/>
          </a:prstGeom>
          <a:solidFill>
            <a:srgbClr val="CC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AutoShape 2"/>
          <p:cNvSpPr>
            <a:spLocks noChangeArrowheads="1"/>
          </p:cNvSpPr>
          <p:nvPr/>
        </p:nvSpPr>
        <p:spPr bwMode="auto">
          <a:xfrm>
            <a:off x="2274474" y="771040"/>
            <a:ext cx="2011363" cy="1225868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lIns="18000" tIns="0" rIns="1800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幼圆" pitchFamily="49" charset="-122"/>
                <a:ea typeface="幼圆" pitchFamily="49" charset="-122"/>
              </a:rPr>
              <a:t>岩石风化或破碎的产物，是非连续体</a:t>
            </a:r>
            <a:endParaRPr kumimoji="1" lang="en-US" altLang="zh-CN" sz="2400" b="1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4872798" y="802568"/>
            <a:ext cx="3883025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rnd" algn="ctr">
                <a:solidFill>
                  <a:srgbClr val="000000"/>
                </a:solidFill>
                <a:prstDash val="sysDot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受力以后易变形，强度低</a:t>
            </a:r>
            <a:endParaRPr lang="zh-CN" altLang="en-US" sz="2200" dirty="0">
              <a:latin typeface="Garamond" pitchFamily="18" charset="0"/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体积变化主要是孔隙变化</a:t>
            </a:r>
          </a:p>
          <a:p>
            <a:pPr marL="180975" indent="-180975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剪切变形主要由颗粒相对   </a:t>
            </a:r>
            <a:br>
              <a:rPr kumimoji="1" lang="zh-CN" altLang="en-US" sz="2200" b="1" dirty="0">
                <a:latin typeface="Garamond" pitchFamily="18" charset="0"/>
                <a:ea typeface="幼圆" pitchFamily="49" charset="-122"/>
              </a:rPr>
            </a:br>
            <a:r>
              <a:rPr kumimoji="1" lang="zh-CN" altLang="en-US" sz="2200" b="1" dirty="0" smtClean="0">
                <a:latin typeface="Garamond" pitchFamily="18" charset="0"/>
                <a:ea typeface="幼圆" pitchFamily="49" charset="-122"/>
              </a:rPr>
              <a:t> </a:t>
            </a: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位移引起</a:t>
            </a:r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2290996" y="2562582"/>
            <a:ext cx="1936750" cy="1396127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lIns="18000" tIns="0" rIns="18000" bIns="0" anchor="ctr">
            <a:sp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幼圆" pitchFamily="49" charset="-122"/>
                <a:ea typeface="幼圆" pitchFamily="49" charset="-122"/>
              </a:rPr>
              <a:t>固相</a:t>
            </a:r>
            <a:r>
              <a:rPr kumimoji="1" lang="en-US" altLang="zh-CN" sz="2400" b="1" dirty="0">
                <a:latin typeface="幼圆" pitchFamily="49" charset="-122"/>
                <a:ea typeface="幼圆" pitchFamily="49" charset="-122"/>
              </a:rPr>
              <a:t>-</a:t>
            </a:r>
            <a:r>
              <a:rPr kumimoji="1" lang="zh-CN" altLang="en-US" sz="2400" b="1" dirty="0">
                <a:latin typeface="幼圆" pitchFamily="49" charset="-122"/>
                <a:ea typeface="幼圆" pitchFamily="49" charset="-122"/>
              </a:rPr>
              <a:t>土骨架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幼圆" pitchFamily="49" charset="-122"/>
                <a:ea typeface="幼圆" pitchFamily="49" charset="-122"/>
              </a:rPr>
              <a:t>液相</a:t>
            </a:r>
            <a:r>
              <a:rPr kumimoji="1" lang="en-US" altLang="zh-CN" sz="2400" b="1" dirty="0">
                <a:latin typeface="幼圆" pitchFamily="49" charset="-122"/>
                <a:ea typeface="幼圆" pitchFamily="49" charset="-122"/>
              </a:rPr>
              <a:t>-</a:t>
            </a:r>
            <a:r>
              <a:rPr kumimoji="1" lang="zh-CN" altLang="en-US" sz="2400" b="1" dirty="0">
                <a:latin typeface="幼圆" pitchFamily="49" charset="-122"/>
                <a:ea typeface="幼圆" pitchFamily="49" charset="-122"/>
              </a:rPr>
              <a:t>水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幼圆" pitchFamily="49" charset="-122"/>
                <a:ea typeface="幼圆" pitchFamily="49" charset="-122"/>
              </a:rPr>
              <a:t>气相</a:t>
            </a:r>
            <a:r>
              <a:rPr kumimoji="1" lang="en-US" altLang="zh-CN" sz="2400" b="1" dirty="0">
                <a:latin typeface="幼圆" pitchFamily="49" charset="-122"/>
                <a:ea typeface="幼圆" pitchFamily="49" charset="-122"/>
              </a:rPr>
              <a:t>-</a:t>
            </a:r>
            <a:r>
              <a:rPr kumimoji="1" lang="zh-CN" altLang="en-US" sz="2400" b="1" dirty="0">
                <a:latin typeface="幼圆" pitchFamily="49" charset="-122"/>
                <a:ea typeface="幼圆" pitchFamily="49" charset="-122"/>
              </a:rPr>
              <a:t>空气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4887733" y="2694408"/>
            <a:ext cx="3835400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rnd" algn="ctr">
                <a:solidFill>
                  <a:srgbClr val="000000"/>
                </a:solidFill>
                <a:prstDash val="sysDot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受力后</a:t>
            </a:r>
            <a:r>
              <a:rPr kumimoji="1" lang="zh-CN" altLang="en-US" sz="2200" b="1" dirty="0" smtClean="0">
                <a:latin typeface="Garamond" pitchFamily="18" charset="0"/>
                <a:ea typeface="幼圆" pitchFamily="49" charset="-122"/>
              </a:rPr>
              <a:t>由三相共同</a:t>
            </a: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承担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相间存在复杂的相互作用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孔隙水和孔隙气可流动</a:t>
            </a:r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auto">
          <a:xfrm>
            <a:off x="2272300" y="4380115"/>
            <a:ext cx="2306637" cy="81724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lIns="18000" tIns="0" rIns="1800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幼圆" pitchFamily="49" charset="-122"/>
                <a:ea typeface="幼圆" pitchFamily="49" charset="-122"/>
              </a:rPr>
              <a:t>自然界的产物，存在自然变异性</a:t>
            </a:r>
            <a:endParaRPr kumimoji="1" lang="en-US" altLang="zh-CN" sz="2400" b="1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4855689" y="4400094"/>
            <a:ext cx="3744913" cy="118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rnd" algn="ctr">
                <a:solidFill>
                  <a:srgbClr val="000000"/>
                </a:solidFill>
                <a:prstDash val="sysDot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非均匀性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各向异性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200" b="1" dirty="0">
                <a:latin typeface="Garamond" pitchFamily="18" charset="0"/>
                <a:ea typeface="幼圆" pitchFamily="49" charset="-122"/>
              </a:rPr>
              <a:t> 时空变异性</a:t>
            </a: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45687" y="748947"/>
            <a:ext cx="1706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碎散性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528871" y="2644255"/>
            <a:ext cx="1739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三相性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503825" y="4345238"/>
            <a:ext cx="177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天然性</a:t>
            </a:r>
          </a:p>
        </p:txBody>
      </p:sp>
    </p:spTree>
    <p:extLst>
      <p:ext uri="{BB962C8B-B14F-4D97-AF65-F5344CB8AC3E}">
        <p14:creationId xmlns:p14="http://schemas.microsoft.com/office/powerpoint/2010/main" val="79808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863725" y="1000125"/>
            <a:ext cx="523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课程绪论：土力学及其特点</a:t>
            </a:r>
            <a:endParaRPr kumimoji="1" lang="en-US" altLang="zh-CN" sz="32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163763" y="2171700"/>
            <a:ext cx="5256212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什么是土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   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itchFamily="2" charset="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土有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哪些特点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为什么要学习土力学？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土力学包括哪些内容？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如何学好土力学？</a:t>
            </a:r>
          </a:p>
        </p:txBody>
      </p:sp>
    </p:spTree>
    <p:extLst>
      <p:ext uri="{BB962C8B-B14F-4D97-AF65-F5344CB8AC3E}">
        <p14:creationId xmlns:p14="http://schemas.microsoft.com/office/powerpoint/2010/main" val="164888551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84" name="AutoShape 8"/>
          <p:cNvSpPr>
            <a:spLocks noChangeArrowheads="1"/>
          </p:cNvSpPr>
          <p:nvPr/>
        </p:nvSpPr>
        <p:spPr bwMode="auto">
          <a:xfrm>
            <a:off x="3554413" y="3365500"/>
            <a:ext cx="4070350" cy="1938338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28575" algn="ctr">
            <a:solidFill>
              <a:srgbClr val="A5002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423988" y="1157288"/>
            <a:ext cx="635000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土是工程中应用最广泛的建筑材料</a:t>
            </a: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土地是工程建设的基础和环境</a:t>
            </a: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土的性质十分复杂</a:t>
            </a: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2926842" y="5751513"/>
            <a:ext cx="40259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土力学的重要性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55781" name="Text Box 5"/>
          <p:cNvSpPr txBox="1">
            <a:spLocks noChangeArrowheads="1"/>
          </p:cNvSpPr>
          <p:nvPr/>
        </p:nvSpPr>
        <p:spPr bwMode="auto">
          <a:xfrm>
            <a:off x="3714750" y="3457575"/>
            <a:ext cx="381476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ea typeface="幼圆" pitchFamily="49" charset="-122"/>
              </a:rPr>
              <a:t>对土工程性质认识的偏差可能会导致损失巨大的事故 ！！！</a:t>
            </a:r>
            <a:endParaRPr lang="zh-CN" altLang="en-US" sz="2800" dirty="0">
              <a:solidFill>
                <a:srgbClr val="C00000"/>
              </a:solidFill>
              <a:ea typeface="幼圆" pitchFamily="49" charset="-122"/>
            </a:endParaRPr>
          </a:p>
        </p:txBody>
      </p:sp>
      <p:sp>
        <p:nvSpPr>
          <p:cNvPr id="1355783" name="Freeform 7"/>
          <p:cNvSpPr>
            <a:spLocks/>
          </p:cNvSpPr>
          <p:nvPr/>
        </p:nvSpPr>
        <p:spPr bwMode="auto">
          <a:xfrm>
            <a:off x="2349500" y="3213100"/>
            <a:ext cx="903288" cy="512763"/>
          </a:xfrm>
          <a:custGeom>
            <a:avLst/>
            <a:gdLst>
              <a:gd name="T0" fmla="*/ 0 w 512"/>
              <a:gd name="T1" fmla="*/ 0 h 323"/>
              <a:gd name="T2" fmla="*/ 0 w 512"/>
              <a:gd name="T3" fmla="*/ 512763 h 323"/>
              <a:gd name="T4" fmla="*/ 903288 w 512"/>
              <a:gd name="T5" fmla="*/ 512763 h 323"/>
              <a:gd name="T6" fmla="*/ 0 60000 65536"/>
              <a:gd name="T7" fmla="*/ 0 60000 65536"/>
              <a:gd name="T8" fmla="*/ 0 60000 65536"/>
              <a:gd name="T9" fmla="*/ 0 w 512"/>
              <a:gd name="T10" fmla="*/ 0 h 323"/>
              <a:gd name="T11" fmla="*/ 512 w 512"/>
              <a:gd name="T12" fmla="*/ 323 h 3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2" h="323">
                <a:moveTo>
                  <a:pt x="0" y="0"/>
                </a:moveTo>
                <a:lnTo>
                  <a:pt x="0" y="323"/>
                </a:lnTo>
                <a:lnTo>
                  <a:pt x="512" y="323"/>
                </a:lnTo>
              </a:path>
            </a:pathLst>
          </a:custGeom>
          <a:noFill/>
          <a:ln w="57150" cap="flat" cmpd="sng">
            <a:solidFill>
              <a:srgbClr val="A50021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5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13557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3557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355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1355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55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55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55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55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557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5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5784" grpId="0" animBg="1"/>
      <p:bldP spid="1355781" grpId="0"/>
      <p:bldP spid="135578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5"/>
          <p:cNvSpPr txBox="1">
            <a:spLocks noChangeArrowheads="1"/>
          </p:cNvSpPr>
          <p:nvPr/>
        </p:nvSpPr>
        <p:spPr bwMode="auto">
          <a:xfrm>
            <a:off x="2784668" y="5751513"/>
            <a:ext cx="40446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上海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新宋体" pitchFamily="49" charset="-122"/>
                <a:ea typeface="黑体" pitchFamily="2" charset="-122"/>
              </a:rPr>
              <a:t>“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楼倒倒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新宋体" pitchFamily="49" charset="-122"/>
                <a:ea typeface="黑体" pitchFamily="2" charset="-122"/>
              </a:rPr>
              <a:t>”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604" name="Text Box 11"/>
          <p:cNvSpPr txBox="1">
            <a:spLocks noChangeArrowheads="1"/>
          </p:cNvSpPr>
          <p:nvPr/>
        </p:nvSpPr>
        <p:spPr bwMode="auto">
          <a:xfrm>
            <a:off x="401653" y="3583502"/>
            <a:ext cx="8460336" cy="1837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xtLst/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solidFill>
                  <a:schemeClr val="folHlink"/>
                </a:solidFill>
                <a:latin typeface="幼圆" pitchFamily="49" charset="-122"/>
                <a:ea typeface="幼圆" pitchFamily="49" charset="-122"/>
              </a:rPr>
              <a:t>事件：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2009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年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6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月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27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日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清晨，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上海莲花南路西侧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“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莲花河畔景苑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”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小区一栋在建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13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层住宅楼整体倒塌，造成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名工人死亡，无人受伤（幸运：尚未交付使用）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2800" b="1" dirty="0">
                <a:solidFill>
                  <a:schemeClr val="folHlink"/>
                </a:solidFill>
                <a:latin typeface="幼圆" pitchFamily="49" charset="-122"/>
                <a:ea typeface="幼圆" pitchFamily="49" charset="-122"/>
              </a:rPr>
              <a:t>惊奇：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上部结构整体完整，尤其是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“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山寨牌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”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玻璃一块未碎</a:t>
            </a:r>
          </a:p>
        </p:txBody>
      </p:sp>
      <p:pic>
        <p:nvPicPr>
          <p:cNvPr id="25605" name="Picture 12" descr="6月27日6时左右，上海闵行区莲花南路罗阳路口一幢13层在建商品楼发生倒塌事故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29" y="638044"/>
            <a:ext cx="3923379" cy="2886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13" descr="6月27日6时左右，上海闵行区莲花南路罗阳路口一幢13层在建商品楼发生倒塌事故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179" y="649812"/>
            <a:ext cx="4332718" cy="2871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784668" y="5751513"/>
            <a:ext cx="40446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上海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新宋体" pitchFamily="49" charset="-122"/>
                <a:ea typeface="黑体" pitchFamily="2" charset="-122"/>
              </a:rPr>
              <a:t>“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楼倒倒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新宋体" pitchFamily="49" charset="-122"/>
                <a:ea typeface="黑体" pitchFamily="2" charset="-122"/>
              </a:rPr>
              <a:t>”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" name="Text Box 122"/>
          <p:cNvSpPr txBox="1">
            <a:spLocks noChangeArrowheads="1"/>
          </p:cNvSpPr>
          <p:nvPr/>
        </p:nvSpPr>
        <p:spPr bwMode="auto">
          <a:xfrm>
            <a:off x="562014" y="3629607"/>
            <a:ext cx="8469085" cy="18605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xtLst/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专家认定的原因：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楼北侧在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短期内堆土过高，最高处达</a:t>
            </a:r>
            <a:r>
              <a:rPr kumimoji="1"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10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米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左右，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紧邻大楼南侧的地下车库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基坑开挖</a:t>
            </a:r>
            <a:r>
              <a:rPr kumimoji="1" lang="en-US" altLang="zh-CN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4.6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米，大楼两侧的</a:t>
            </a:r>
            <a:r>
              <a:rPr kumimoji="1" lang="zh-CN" altLang="en-US" sz="2200" b="1" dirty="0">
                <a:solidFill>
                  <a:srgbClr val="A50021"/>
                </a:solidFill>
                <a:latin typeface="宋体" pitchFamily="2" charset="-122"/>
                <a:ea typeface="黑体" pitchFamily="2" charset="-122"/>
              </a:rPr>
              <a:t>“</a:t>
            </a:r>
            <a:r>
              <a:rPr kumimoji="1" lang="zh-CN" altLang="en-US" sz="2200" b="1" dirty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压力差</a:t>
            </a:r>
            <a:r>
              <a:rPr kumimoji="1" lang="zh-CN" altLang="en-US" sz="2200" b="1" dirty="0">
                <a:solidFill>
                  <a:srgbClr val="A50021"/>
                </a:solidFill>
                <a:latin typeface="宋体" pitchFamily="2" charset="-122"/>
                <a:ea typeface="黑体" pitchFamily="2" charset="-122"/>
              </a:rPr>
              <a:t>”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使土体产生水平位移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，水平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力超过了桩基的抗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侧剪能力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，导致房屋倾倒覆 </a:t>
            </a:r>
          </a:p>
        </p:txBody>
      </p:sp>
      <p:pic>
        <p:nvPicPr>
          <p:cNvPr id="10" name="Picture 4" descr="https://timgsa.baidu.com/timg?image&amp;quality=80&amp;size=b9999_10000&amp;sec=1503308019419&amp;di=4d74e2ad14cc21861267f0bb7a41f038&amp;imgtype=0&amp;src=http%3A%2F%2Fsh.eastday.com%2Fqtmt%2F20090703%2Fimages%2F00143877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0"/>
          <a:stretch/>
        </p:blipFill>
        <p:spPr bwMode="auto">
          <a:xfrm>
            <a:off x="943564" y="479503"/>
            <a:ext cx="5938975" cy="3050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Text Box 8"/>
          <p:cNvSpPr txBox="1">
            <a:spLocks noChangeArrowheads="1"/>
          </p:cNvSpPr>
          <p:nvPr/>
        </p:nvSpPr>
        <p:spPr bwMode="auto">
          <a:xfrm>
            <a:off x="786421" y="958585"/>
            <a:ext cx="7793557" cy="660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“</a:t>
            </a:r>
            <a:r>
              <a:rPr lang="zh-CN" altLang="en-US" sz="32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楼倒倒</a:t>
            </a:r>
            <a:r>
              <a:rPr lang="zh-CN" altLang="en-US" sz="3200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”</a:t>
            </a:r>
            <a:r>
              <a:rPr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被网友戏称</a:t>
            </a:r>
            <a:r>
              <a:rPr lang="zh-CN" altLang="en-US" sz="32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“</a:t>
            </a:r>
            <a:r>
              <a:rPr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第</a:t>
            </a:r>
            <a:r>
              <a:rPr lang="en-US" altLang="zh-CN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9</a:t>
            </a:r>
            <a:r>
              <a:rPr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大建筑奇迹</a:t>
            </a:r>
            <a:r>
              <a:rPr lang="zh-CN" altLang="en-US" sz="3200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”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7653" name="Text Box 9"/>
          <p:cNvSpPr txBox="1">
            <a:spLocks noChangeArrowheads="1"/>
          </p:cNvSpPr>
          <p:nvPr/>
        </p:nvSpPr>
        <p:spPr bwMode="auto">
          <a:xfrm>
            <a:off x="768350" y="1900238"/>
            <a:ext cx="8056563" cy="29495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xtLst/>
        </p:spPr>
        <p:txBody>
          <a:bodyPr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 中国惊世大发现，环保拆楼法：十米堆土拆楼法！</a:t>
            </a: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 给我一堆黄土 我能推到一栋大楼！</a:t>
            </a: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 专家快帮帮我，我家边上正在造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13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层楼。估计比这</a:t>
            </a:r>
            <a:b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</a:b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土堆重，我现在都不敢住了。</a:t>
            </a:r>
          </a:p>
          <a:p>
            <a:pPr eaLnBrk="1" hangingPunct="1"/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 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楼：比萨塔斜了几百年了，咋还不倒呀？</a:t>
            </a:r>
            <a:b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</a:b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2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楼：因为旁边没有</a:t>
            </a: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10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米土堆</a:t>
            </a: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”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啊！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784668" y="5751513"/>
            <a:ext cx="40446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上海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新宋体" pitchFamily="49" charset="-122"/>
                <a:ea typeface="黑体" pitchFamily="2" charset="-122"/>
              </a:rPr>
              <a:t>“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楼倒倒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新宋体" pitchFamily="49" charset="-122"/>
                <a:ea typeface="黑体" pitchFamily="2" charset="-122"/>
              </a:rPr>
              <a:t>”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3"/>
          <p:cNvSpPr txBox="1">
            <a:spLocks noChangeArrowheads="1"/>
          </p:cNvSpPr>
          <p:nvPr/>
        </p:nvSpPr>
        <p:spPr bwMode="auto">
          <a:xfrm>
            <a:off x="2591738" y="5751513"/>
            <a:ext cx="43011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万亨大厦基坑倒塌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62152" y="948199"/>
            <a:ext cx="6826469" cy="4249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square" lIns="90000" tIns="46800" rIns="90000" bIns="46800">
            <a:spAutoFit/>
          </a:bodyPr>
          <a:lstStyle>
            <a:lvl1pPr marL="452438" indent="-4524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某大厦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位于北京东二环，是一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22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层框剪结构商业办公楼，坑壁附近有：地铁线路、高层塔楼、多层居民楼等</a:t>
            </a:r>
          </a:p>
          <a:p>
            <a:pPr eaLnBrk="1" hangingPunct="1"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基础埋深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17.72m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，基坑边坡一部分采用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护坡桩加土层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锚杆支护，其余部分复合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土钉墙支护</a:t>
            </a:r>
          </a:p>
          <a:p>
            <a:pPr eaLnBrk="1" hangingPunct="1"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2003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23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日晚至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24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日晨倒塌</a:t>
            </a:r>
          </a:p>
          <a:p>
            <a:pPr eaLnBrk="1" hangingPunct="1"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由于当时正值“非典”紧张时期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，倒塌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后，有关部门要求立即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填满基坑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，附近楼房清空，损失上亿元</a:t>
            </a:r>
          </a:p>
        </p:txBody>
      </p:sp>
      <p:sp>
        <p:nvSpPr>
          <p:cNvPr id="8" name="AutoShape 12">
            <a:hlinkClick r:id="rId3" action="ppaction://hlinkfile" highlightClick="1"/>
          </p:cNvPr>
          <p:cNvSpPr>
            <a:spLocks noChangeArrowheads="1"/>
          </p:cNvSpPr>
          <p:nvPr/>
        </p:nvSpPr>
        <p:spPr bwMode="auto">
          <a:xfrm>
            <a:off x="7822220" y="1587750"/>
            <a:ext cx="988642" cy="850484"/>
          </a:xfrm>
          <a:prstGeom prst="actionButtonMovie">
            <a:avLst/>
          </a:prstGeom>
          <a:solidFill>
            <a:schemeClr val="accent2">
              <a:lumMod val="50000"/>
            </a:schemeClr>
          </a:solidFill>
          <a:ln>
            <a:noFill/>
          </a:ln>
          <a:extLst/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853732" y="2542223"/>
            <a:ext cx="897362" cy="7550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pc="-160" dirty="0" smtClean="0">
                <a:solidFill>
                  <a:srgbClr val="C00000"/>
                </a:solidFill>
                <a:latin typeface="+mn-ea"/>
                <a:ea typeface="+mn-ea"/>
              </a:rPr>
              <a:t>基坑倒</a:t>
            </a:r>
            <a:r>
              <a:rPr lang="en-US" altLang="zh-CN" sz="2000" b="1" spc="-160" dirty="0" smtClean="0">
                <a:solidFill>
                  <a:srgbClr val="C00000"/>
                </a:solidFill>
                <a:latin typeface="+mn-ea"/>
                <a:ea typeface="+mn-ea"/>
              </a:rPr>
              <a:t/>
            </a:r>
            <a:br>
              <a:rPr lang="en-US" altLang="zh-CN" sz="2000" b="1" spc="-160" dirty="0" smtClean="0">
                <a:solidFill>
                  <a:srgbClr val="C00000"/>
                </a:solidFill>
                <a:latin typeface="+mn-ea"/>
                <a:ea typeface="+mn-ea"/>
              </a:rPr>
            </a:br>
            <a:r>
              <a:rPr lang="zh-CN" altLang="en-US" sz="2000" b="1" spc="-160" dirty="0" smtClean="0">
                <a:solidFill>
                  <a:srgbClr val="C00000"/>
                </a:solidFill>
                <a:latin typeface="+mn-ea"/>
                <a:ea typeface="+mn-ea"/>
              </a:rPr>
              <a:t>塌录像</a:t>
            </a:r>
            <a:endParaRPr lang="zh-CN" altLang="en-US" sz="2000" b="1" spc="-160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5" name="Picture 3" descr="dot0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196" y="789593"/>
            <a:ext cx="6171663" cy="4549508"/>
          </a:xfrm>
          <a:prstGeom prst="rect">
            <a:avLst/>
          </a:prstGeom>
          <a:noFill/>
          <a:ln>
            <a:solidFill>
              <a:srgbClr val="800000"/>
            </a:solidFill>
            <a:miter lim="800000"/>
            <a:headEnd/>
            <a:tailEnd/>
          </a:ln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12625" y="5751513"/>
            <a:ext cx="533030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未来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城市地下空间开发</a:t>
            </a:r>
          </a:p>
        </p:txBody>
      </p:sp>
    </p:spTree>
    <p:extLst>
      <p:ext uri="{BB962C8B-B14F-4D97-AF65-F5344CB8AC3E}">
        <p14:creationId xmlns:p14="http://schemas.microsoft.com/office/powerpoint/2010/main" val="383291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591738" y="5751513"/>
            <a:ext cx="43011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杭州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地铁基坑事故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2748168" y="2052863"/>
            <a:ext cx="1511300" cy="71438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8" name="Picture 2" descr="c:\users\zhang\appdata\roaming\360se6\USERDA~1\Temp\7FF674~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" t="4155" r="8828" b="6866"/>
          <a:stretch/>
        </p:blipFill>
        <p:spPr bwMode="auto">
          <a:xfrm>
            <a:off x="184083" y="336200"/>
            <a:ext cx="3883413" cy="5363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099035" y="804248"/>
            <a:ext cx="4808482" cy="457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400" b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时间：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2008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日下午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点</a:t>
            </a:r>
            <a:endParaRPr lang="en-US" altLang="zh-CN" sz="2400" dirty="0" smtClean="0"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地点：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杭州地铁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号线的起点站湘湖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站，位于风情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大道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东侧</a:t>
            </a:r>
            <a:endParaRPr lang="en-US" altLang="zh-CN" sz="24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车站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总长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932m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，宽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21m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。分为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个基坑施工，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发生事故的为南北走向的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号基坑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，基坑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长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107.8 m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，宽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21.05 m</a:t>
            </a:r>
            <a:r>
              <a:rPr lang="zh-CN" altLang="en-US" sz="2400" b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，深</a:t>
            </a:r>
            <a:r>
              <a:rPr lang="en-US" altLang="zh-CN" sz="2400" b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16.3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</a:p>
          <a:p>
            <a:pPr marL="342900" indent="-342900">
              <a:lnSpc>
                <a:spcPct val="125000"/>
              </a:lnSpc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设计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采用地下连续墙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结合四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道钢管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支撑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的支护方案</a:t>
            </a:r>
            <a:endParaRPr lang="zh-CN" altLang="en-US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39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26065612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59" b="12003"/>
          <a:stretch>
            <a:fillRect/>
          </a:stretch>
        </p:blipFill>
        <p:spPr bwMode="auto">
          <a:xfrm>
            <a:off x="4920005" y="3605260"/>
            <a:ext cx="4046537" cy="247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 descr="图1b"/>
          <p:cNvPicPr>
            <a:picLocks noGrp="1"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005" y="759151"/>
            <a:ext cx="4096198" cy="2477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7229817" y="4965747"/>
            <a:ext cx="1511300" cy="71438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374280" y="5282566"/>
            <a:ext cx="1150937" cy="606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00000"/>
                </a:solidFill>
                <a:ea typeface="楷体_GB2312" pitchFamily="49" charset="-122"/>
              </a:rPr>
              <a:t>西侧</a:t>
            </a:r>
          </a:p>
        </p:txBody>
      </p:sp>
      <p:pic>
        <p:nvPicPr>
          <p:cNvPr id="8" name="Picture 4" descr="c:\users\zhang\appdata\roaming\360se6\USERDA~1\Temp\shiyi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02" y="853801"/>
            <a:ext cx="4549203" cy="3336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48026" y="4543826"/>
            <a:ext cx="43011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杭州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地铁基坑事故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849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453904" y="5854150"/>
            <a:ext cx="43011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杭州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地铁基坑事故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5" name="Picture 3" descr="照片 050"/>
          <p:cNvPicPr>
            <a:picLocks noGrp="1"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0032" y="886037"/>
            <a:ext cx="3156701" cy="2367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 descr="照片 046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9684" y="3418440"/>
            <a:ext cx="3265746" cy="244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78" descr="IMG_0060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35753" y="962560"/>
            <a:ext cx="2739678" cy="228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518089" y="672094"/>
            <a:ext cx="2416502" cy="344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事故主要原因</a:t>
            </a:r>
            <a:endParaRPr lang="en-US" altLang="zh-CN" sz="2400" b="1" dirty="0" smtClean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65113" indent="-265113">
              <a:spcBef>
                <a:spcPts val="1200"/>
              </a:spcBef>
              <a:spcAft>
                <a:spcPts val="0"/>
              </a:spcAft>
            </a:pPr>
            <a:r>
              <a:rPr lang="en-US" altLang="zh-CN" sz="2400" b="1" dirty="0" smtClean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1.</a:t>
            </a:r>
            <a:r>
              <a:rPr lang="zh-CN" altLang="en-US" sz="24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土方超挖</a:t>
            </a:r>
          </a:p>
          <a:p>
            <a:pPr marL="265113" indent="-265113">
              <a:spcAft>
                <a:spcPts val="0"/>
              </a:spcAft>
            </a:pPr>
            <a:r>
              <a:rPr lang="en-US" altLang="zh-CN" sz="2400" b="1" dirty="0" smtClean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2.</a:t>
            </a:r>
            <a:r>
              <a:rPr lang="zh-CN" altLang="en-US" sz="24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支撑体系存在</a:t>
            </a:r>
            <a:r>
              <a:rPr lang="zh-CN" altLang="en-US" sz="2400" b="1" dirty="0" smtClean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薄弱环节</a:t>
            </a:r>
            <a:endParaRPr lang="en-US" altLang="zh-CN" sz="2400" b="1" dirty="0" smtClean="0">
              <a:solidFill>
                <a:srgbClr val="00206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65113" indent="-265113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 smtClean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3.</a:t>
            </a:r>
            <a:r>
              <a:rPr lang="zh-CN" altLang="en-US" sz="2400" b="1" dirty="0" smtClean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监测</a:t>
            </a:r>
            <a:r>
              <a:rPr lang="zh-CN" altLang="en-US" sz="24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工作处于</a:t>
            </a:r>
            <a:r>
              <a:rPr lang="zh-CN" altLang="en-US" sz="2400" b="1" dirty="0" smtClean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失效状态</a:t>
            </a:r>
            <a:endParaRPr lang="en-US" altLang="zh-CN" sz="2400" b="1" dirty="0" smtClean="0">
              <a:solidFill>
                <a:srgbClr val="00206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65113" indent="-265113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 smtClean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lang="en-US" altLang="zh-CN" sz="24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…</a:t>
            </a:r>
            <a:endParaRPr lang="zh-CN" altLang="en-US" sz="2400" b="1" dirty="0">
              <a:solidFill>
                <a:srgbClr val="00206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9930" y="3987900"/>
            <a:ext cx="4823940" cy="1366528"/>
          </a:xfrm>
          <a:prstGeom prst="rect">
            <a:avLst/>
          </a:prstGeom>
          <a:solidFill>
            <a:srgbClr val="660066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事故中的八名相关</a:t>
            </a:r>
            <a:r>
              <a:rPr lang="zh-CN" altLang="en-US" sz="2400" b="1" dirty="0" smtClean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责任人</a:t>
            </a:r>
            <a:r>
              <a:rPr lang="zh-CN" altLang="en-US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被</a:t>
            </a:r>
            <a:r>
              <a:rPr lang="zh-CN" altLang="en-US" sz="2400" b="1" dirty="0" smtClean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起诉，认定</a:t>
            </a:r>
            <a:r>
              <a:rPr lang="zh-CN" altLang="en-US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该八名被告人犯重大责任事故罪，分别处以三至六年刑期</a:t>
            </a:r>
          </a:p>
        </p:txBody>
      </p:sp>
    </p:spTree>
    <p:extLst>
      <p:ext uri="{BB962C8B-B14F-4D97-AF65-F5344CB8AC3E}">
        <p14:creationId xmlns:p14="http://schemas.microsoft.com/office/powerpoint/2010/main" val="315393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984309" y="756680"/>
            <a:ext cx="48974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A50021"/>
                </a:solidFill>
                <a:ea typeface="黑体" pitchFamily="2" charset="-122"/>
              </a:rPr>
              <a:t>日本泥石流室外试验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150391" y="1590624"/>
            <a:ext cx="4486891" cy="498598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marL="361950" indent="-3619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 eaLnBrk="1" hangingPunct="1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SzPct val="85000"/>
            </a:pP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(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神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奈川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县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,</a:t>
            </a:r>
            <a:r>
              <a:rPr kumimoji="1" lang="en-US" altLang="ja-JP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1971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年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11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月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9-11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日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)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8" name="Picture 2" descr="031107_02-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0" t="10626" r="4054" b="5557"/>
          <a:stretch>
            <a:fillRect/>
          </a:stretch>
        </p:blipFill>
        <p:spPr bwMode="auto">
          <a:xfrm>
            <a:off x="3184634" y="2270234"/>
            <a:ext cx="5628667" cy="438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682139" y="3186876"/>
            <a:ext cx="2275372" cy="1477328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Aft>
                <a:spcPct val="0"/>
              </a:spcAft>
            </a:pPr>
            <a:r>
              <a:rPr kumimoji="1" lang="zh-CN" altLang="en-US" sz="2400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关东壤土</a:t>
            </a:r>
            <a:r>
              <a:rPr kumimoji="1" lang="zh-CN" altLang="en-US" sz="2400" dirty="0" smtClean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kumimoji="1" lang="en-US" altLang="zh-CN" sz="2400" dirty="0" smtClean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/>
            </a:r>
            <a:br>
              <a:rPr kumimoji="1" lang="en-US" altLang="zh-CN" sz="2400" dirty="0" smtClean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</a:br>
            <a:r>
              <a:rPr kumimoji="1" lang="zh-CN" altLang="en-US" sz="2400" dirty="0" smtClean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风化</a:t>
            </a:r>
            <a:r>
              <a:rPr kumimoji="1" lang="zh-CN" altLang="en-US" sz="2400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花岗岩上火山灰堆积层</a:t>
            </a:r>
            <a:endParaRPr kumimoji="1" lang="en-US" altLang="ja-JP" sz="2400" dirty="0">
              <a:solidFill>
                <a:srgbClr val="660066"/>
              </a:solidFill>
              <a:latin typeface="黑体" pitchFamily="2" charset="-122"/>
              <a:ea typeface="ＭＳ Ｐゴシック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124312" y="5751513"/>
            <a:ext cx="63594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2060"/>
                </a:solidFill>
                <a:ea typeface="黑体" pitchFamily="2" charset="-122"/>
              </a:rPr>
              <a:t>现场泥石流实验布置和录像</a:t>
            </a:r>
            <a:endParaRPr lang="en-US" altLang="zh-CN" sz="4000" b="1" dirty="0">
              <a:solidFill>
                <a:srgbClr val="002060"/>
              </a:solidFill>
              <a:ea typeface="黑体" pitchFamily="2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937015" y="977397"/>
            <a:ext cx="48974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A50021"/>
                </a:solidFill>
                <a:ea typeface="黑体" pitchFamily="2" charset="-122"/>
              </a:rPr>
              <a:t>日本泥石流室外试验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983758" y="2478477"/>
            <a:ext cx="4928311" cy="19528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61950" indent="-3619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SzPct val="85000"/>
              <a:buFont typeface="Wingdings" pitchFamily="2" charset="2"/>
              <a:buChar char="u"/>
            </a:pPr>
            <a:r>
              <a:rPr kumimoji="1" lang="en-US" altLang="zh-CN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9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日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15:00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开始人工降雨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SzPct val="85000"/>
              <a:buFont typeface="Wingdings" pitchFamily="2" charset="2"/>
              <a:buChar char="u"/>
            </a:pP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日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15:00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降雨量达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500mm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，陡坡</a:t>
            </a:r>
            <a:r>
              <a:rPr kumimoji="1" lang="zh-CN" altLang="en-US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中的泥土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突然以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20-30m/s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流出，斜坡崩塌，泥石流产生</a:t>
            </a:r>
            <a:endParaRPr kumimoji="1" lang="ja-JP" altLang="en-US" sz="26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2">
            <a:hlinkClick r:id="rId3" action="ppaction://hlinkfile" highlightClick="1"/>
          </p:cNvPr>
          <p:cNvSpPr>
            <a:spLocks noChangeArrowheads="1"/>
          </p:cNvSpPr>
          <p:nvPr/>
        </p:nvSpPr>
        <p:spPr bwMode="auto">
          <a:xfrm>
            <a:off x="7017144" y="2629872"/>
            <a:ext cx="988642" cy="850484"/>
          </a:xfrm>
          <a:prstGeom prst="actionButtonMovie">
            <a:avLst/>
          </a:prstGeom>
          <a:solidFill>
            <a:schemeClr val="accent2">
              <a:lumMod val="50000"/>
            </a:schemeClr>
          </a:solidFill>
          <a:ln>
            <a:noFill/>
          </a:ln>
          <a:extLst/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869195" y="3575799"/>
            <a:ext cx="12733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-160" dirty="0" smtClean="0">
                <a:solidFill>
                  <a:srgbClr val="C00000"/>
                </a:solidFill>
                <a:latin typeface="+mn-ea"/>
                <a:ea typeface="+mn-ea"/>
              </a:rPr>
              <a:t>滑坡事故现场录像</a:t>
            </a:r>
            <a:endParaRPr lang="zh-CN" altLang="en-US" sz="2000" b="1" spc="-160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598085" y="775235"/>
            <a:ext cx="4033170" cy="45935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</a:pP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泥石流推倒</a:t>
            </a:r>
            <a:r>
              <a:rPr kumimoji="1" lang="en-US" altLang="zh-CN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28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米外的护栏，一直冲到</a:t>
            </a:r>
            <a:r>
              <a:rPr kumimoji="1" lang="en-US" altLang="zh-CN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55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米外的水池中央，造成</a:t>
            </a:r>
            <a:r>
              <a:rPr kumimoji="1" lang="en-US" altLang="zh-CN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31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人被埋，</a:t>
            </a:r>
            <a:r>
              <a:rPr kumimoji="1" lang="en-US" altLang="ja-JP" sz="2600" dirty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15</a:t>
            </a:r>
            <a:r>
              <a:rPr kumimoji="1" lang="zh-CN" altLang="en-US" sz="2600" dirty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人不幸遇难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kumimoji="1" lang="en-US" altLang="zh-CN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11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人受伤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</a:pP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死者当中：</a:t>
            </a:r>
            <a:b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</a:b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实验人员      </a:t>
            </a:r>
            <a:r>
              <a:rPr kumimoji="1" lang="en-US" altLang="zh-CN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人</a:t>
            </a:r>
            <a:b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</a:b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参观者       </a:t>
            </a:r>
            <a:r>
              <a:rPr kumimoji="1" lang="en-US" altLang="zh-CN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10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人</a:t>
            </a:r>
            <a:b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</a:b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报社记者      </a:t>
            </a:r>
            <a:r>
              <a:rPr kumimoji="1" lang="en-US" altLang="zh-CN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人</a:t>
            </a:r>
            <a:b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</a:b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电视采访人员  </a:t>
            </a:r>
            <a:r>
              <a:rPr kumimoji="1" lang="en-US" altLang="zh-CN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kumimoji="1" lang="zh-CN" altLang="en-US" sz="2600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人</a:t>
            </a:r>
            <a:endParaRPr kumimoji="1" lang="ja-JP" altLang="en-US" sz="2600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4819" name="Picture 3" descr="romuso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7" y="792506"/>
            <a:ext cx="3641725" cy="451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833246" y="5751513"/>
            <a:ext cx="3409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2060"/>
                </a:solidFill>
                <a:ea typeface="黑体" pitchFamily="2" charset="-122"/>
              </a:rPr>
              <a:t>事故伤亡情况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2845843" y="5751513"/>
            <a:ext cx="37866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2060"/>
                </a:solidFill>
                <a:ea typeface="黑体" pitchFamily="2" charset="-122"/>
              </a:rPr>
              <a:t>案例总结（一）</a:t>
            </a:r>
            <a:endParaRPr lang="en-US" altLang="zh-CN" sz="4000" b="1" dirty="0">
              <a:solidFill>
                <a:srgbClr val="002060"/>
              </a:solidFill>
              <a:ea typeface="黑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535488" y="4246260"/>
            <a:ext cx="3856037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可归结为与土有关的</a:t>
            </a:r>
            <a:endParaRPr kumimoji="1" lang="en-US" altLang="zh-CN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强度问题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135867" y="1117600"/>
            <a:ext cx="5581650" cy="233294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上海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“楼倒倒”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 typeface="Wingdings" pitchFamily="2" charset="2"/>
              <a:buChar char="F"/>
            </a:pP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万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亨大厦基坑倒塌</a:t>
            </a:r>
            <a:endParaRPr kumimoji="1"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 typeface="Wingdings" pitchFamily="2" charset="2"/>
              <a:buChar char="F"/>
            </a:pP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杭州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地铁基坑事故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泥石流室外试验事故</a:t>
            </a:r>
            <a:endParaRPr kumimoji="1"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3308350" y="4386596"/>
            <a:ext cx="822325" cy="717550"/>
          </a:xfrm>
          <a:prstGeom prst="homePlate">
            <a:avLst>
              <a:gd name="adj" fmla="val 31441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8" presetClass="entr" presetSubtype="0" accel="5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395225" y="5751513"/>
            <a:ext cx="31877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比 萨 斜 塔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17" name="Picture 17" descr="Pisa_clip_image0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6" t="2916" r="15425" b="3539"/>
          <a:stretch>
            <a:fillRect/>
          </a:stretch>
        </p:blipFill>
        <p:spPr bwMode="auto">
          <a:xfrm>
            <a:off x="505274" y="775044"/>
            <a:ext cx="2860675" cy="453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4"/>
          <p:cNvGrpSpPr>
            <a:grpSpLocks/>
          </p:cNvGrpSpPr>
          <p:nvPr/>
        </p:nvGrpSpPr>
        <p:grpSpPr bwMode="auto">
          <a:xfrm>
            <a:off x="2116587" y="4442169"/>
            <a:ext cx="3760787" cy="457200"/>
            <a:chOff x="1123" y="2643"/>
            <a:chExt cx="2369" cy="288"/>
          </a:xfrm>
        </p:grpSpPr>
        <p:sp>
          <p:nvSpPr>
            <p:cNvPr id="20" name="Line 5"/>
            <p:cNvSpPr>
              <a:spLocks noChangeShapeType="1"/>
            </p:cNvSpPr>
            <p:nvPr/>
          </p:nvSpPr>
          <p:spPr bwMode="auto">
            <a:xfrm>
              <a:off x="1123" y="2784"/>
              <a:ext cx="105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2224" y="2643"/>
              <a:ext cx="1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1173</a:t>
              </a: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年：动工</a:t>
              </a:r>
            </a:p>
          </p:txBody>
        </p:sp>
      </p:grpSp>
      <p:grpSp>
        <p:nvGrpSpPr>
          <p:cNvPr id="22" name="Group 7"/>
          <p:cNvGrpSpPr>
            <a:grpSpLocks/>
          </p:cNvGrpSpPr>
          <p:nvPr/>
        </p:nvGrpSpPr>
        <p:grpSpPr bwMode="auto">
          <a:xfrm>
            <a:off x="2210249" y="786156"/>
            <a:ext cx="6457950" cy="863600"/>
            <a:chOff x="1182" y="394"/>
            <a:chExt cx="4068" cy="544"/>
          </a:xfrm>
        </p:grpSpPr>
        <p:sp>
          <p:nvSpPr>
            <p:cNvPr id="23" name="Text Box 8"/>
            <p:cNvSpPr txBox="1">
              <a:spLocks noChangeArrowheads="1"/>
            </p:cNvSpPr>
            <p:nvPr/>
          </p:nvSpPr>
          <p:spPr bwMode="auto">
            <a:xfrm>
              <a:off x="2306" y="394"/>
              <a:ext cx="2944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1360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年：再复工，至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1370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年竣工，</a:t>
              </a:r>
              <a:b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</a:b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       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       全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塔共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8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层，高度为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55m</a:t>
              </a:r>
            </a:p>
          </p:txBody>
        </p:sp>
        <p:sp>
          <p:nvSpPr>
            <p:cNvPr id="24" name="Line 9"/>
            <p:cNvSpPr>
              <a:spLocks noChangeShapeType="1"/>
            </p:cNvSpPr>
            <p:nvPr/>
          </p:nvSpPr>
          <p:spPr bwMode="auto">
            <a:xfrm>
              <a:off x="1182" y="741"/>
              <a:ext cx="105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10"/>
          <p:cNvGrpSpPr>
            <a:grpSpLocks/>
          </p:cNvGrpSpPr>
          <p:nvPr/>
        </p:nvGrpSpPr>
        <p:grpSpPr bwMode="auto">
          <a:xfrm>
            <a:off x="2224537" y="1673569"/>
            <a:ext cx="6854825" cy="863600"/>
            <a:chOff x="1191" y="971"/>
            <a:chExt cx="4318" cy="544"/>
          </a:xfrm>
        </p:grpSpPr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2267" y="971"/>
              <a:ext cx="3242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1272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年：复工，经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6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年，至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7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层，</a:t>
              </a:r>
              <a:b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</a:b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       高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48m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，再停工</a:t>
              </a:r>
            </a:p>
          </p:txBody>
        </p:sp>
        <p:sp>
          <p:nvSpPr>
            <p:cNvPr id="27" name="Line 12"/>
            <p:cNvSpPr>
              <a:spLocks noChangeShapeType="1"/>
            </p:cNvSpPr>
            <p:nvPr/>
          </p:nvSpPr>
          <p:spPr bwMode="auto">
            <a:xfrm>
              <a:off x="1191" y="1146"/>
              <a:ext cx="105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13"/>
          <p:cNvGrpSpPr>
            <a:grpSpLocks/>
          </p:cNvGrpSpPr>
          <p:nvPr/>
        </p:nvGrpSpPr>
        <p:grpSpPr bwMode="auto">
          <a:xfrm>
            <a:off x="2224537" y="2964206"/>
            <a:ext cx="5805487" cy="863600"/>
            <a:chOff x="1191" y="1794"/>
            <a:chExt cx="3657" cy="544"/>
          </a:xfrm>
        </p:grpSpPr>
        <p:sp>
          <p:nvSpPr>
            <p:cNvPr id="29" name="Text Box 14"/>
            <p:cNvSpPr txBox="1">
              <a:spLocks noChangeArrowheads="1"/>
            </p:cNvSpPr>
            <p:nvPr/>
          </p:nvSpPr>
          <p:spPr bwMode="auto">
            <a:xfrm>
              <a:off x="2269" y="1794"/>
              <a:ext cx="2579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1178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年：至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4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层中，高约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29m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，</a:t>
              </a:r>
              <a:b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</a:b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       因倾斜停工</a:t>
              </a:r>
            </a:p>
          </p:txBody>
        </p:sp>
        <p:sp>
          <p:nvSpPr>
            <p:cNvPr id="30" name="Line 15"/>
            <p:cNvSpPr>
              <a:spLocks noChangeShapeType="1"/>
            </p:cNvSpPr>
            <p:nvPr/>
          </p:nvSpPr>
          <p:spPr bwMode="auto">
            <a:xfrm>
              <a:off x="1191" y="1935"/>
              <a:ext cx="105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Text Box 8"/>
          <p:cNvSpPr txBox="1">
            <a:spLocks noChangeArrowheads="1"/>
          </p:cNvSpPr>
          <p:nvPr/>
        </p:nvSpPr>
        <p:spPr bwMode="auto">
          <a:xfrm>
            <a:off x="3276556" y="5751513"/>
            <a:ext cx="3308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比 萨 斜 塔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11" name="Picture 12" descr="Pisa_clip_image0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6" t="2916" r="15425" b="3539"/>
          <a:stretch>
            <a:fillRect/>
          </a:stretch>
        </p:blipFill>
        <p:spPr bwMode="auto">
          <a:xfrm>
            <a:off x="342900" y="681038"/>
            <a:ext cx="2860675" cy="453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678238" y="2063750"/>
            <a:ext cx="5068887" cy="1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目前：塔向南倾斜，南北两端沉降差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1.80m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，塔顶离中心线已达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5.27m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，倾斜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5.5</a:t>
            </a:r>
            <a:r>
              <a:rPr kumimoji="1"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°</a:t>
            </a: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3495305" y="3797803"/>
            <a:ext cx="5530850" cy="1532334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原因：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地基持力层为粉砂，下面为粉土</a:t>
            </a: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和黏土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层，强度低，变形大</a:t>
            </a:r>
          </a:p>
        </p:txBody>
      </p:sp>
      <p:grpSp>
        <p:nvGrpSpPr>
          <p:cNvPr id="15" name="Group 5"/>
          <p:cNvGrpSpPr>
            <a:grpSpLocks/>
          </p:cNvGrpSpPr>
          <p:nvPr/>
        </p:nvGrpSpPr>
        <p:grpSpPr bwMode="auto">
          <a:xfrm>
            <a:off x="2193925" y="1058863"/>
            <a:ext cx="906463" cy="560387"/>
            <a:chOff x="2018" y="164"/>
            <a:chExt cx="1665" cy="1030"/>
          </a:xfrm>
        </p:grpSpPr>
        <p:sp>
          <p:nvSpPr>
            <p:cNvPr id="16" name="Oval 6"/>
            <p:cNvSpPr>
              <a:spLocks noChangeArrowheads="1"/>
            </p:cNvSpPr>
            <p:nvPr/>
          </p:nvSpPr>
          <p:spPr bwMode="auto">
            <a:xfrm>
              <a:off x="3107" y="618"/>
              <a:ext cx="576" cy="576"/>
            </a:xfrm>
            <a:prstGeom prst="ellipse">
              <a:avLst/>
            </a:prstGeom>
            <a:solidFill>
              <a:srgbClr val="FFCC00"/>
            </a:solidFill>
            <a:ln w="38100" algn="ctr">
              <a:solidFill>
                <a:srgbClr val="990000"/>
              </a:solidFill>
              <a:round/>
              <a:headEnd/>
              <a:tailEnd/>
            </a:ln>
          </p:spPr>
          <p:txBody>
            <a:bodyPr wrap="none" lIns="18000" tIns="10800" rIns="18000" bIns="10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Oval 7"/>
            <p:cNvSpPr>
              <a:spLocks noChangeArrowheads="1"/>
            </p:cNvSpPr>
            <p:nvPr/>
          </p:nvSpPr>
          <p:spPr bwMode="auto">
            <a:xfrm>
              <a:off x="2018" y="164"/>
              <a:ext cx="1043" cy="1029"/>
            </a:xfrm>
            <a:prstGeom prst="ellipse">
              <a:avLst/>
            </a:prstGeom>
            <a:solidFill>
              <a:srgbClr val="FFCC00"/>
            </a:solidFill>
            <a:ln w="38100" algn="ctr">
              <a:solidFill>
                <a:srgbClr val="990000"/>
              </a:solidFill>
              <a:round/>
              <a:headEnd/>
              <a:tailEnd/>
            </a:ln>
          </p:spPr>
          <p:txBody>
            <a:bodyPr lIns="18000" tIns="10800" rIns="18000" bIns="10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3630613" y="715963"/>
            <a:ext cx="41179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1590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年</a:t>
            </a:r>
            <a:r>
              <a:rPr kumimoji="1" lang="en-US" altLang="zh-CN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: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伽利略在此塔做</a:t>
            </a:r>
            <a:b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</a:b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       自由落体实验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44444E-6 L -0.0033 0.50671 " pathEditMode="relative" rAng="0" ptsTypes="AA">
                                      <p:cBhvr>
                                        <p:cTn id="15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" y="2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2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3232847" y="5751513"/>
            <a:ext cx="31099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比 萨 斜 塔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7" name="Picture 18" descr="http://photo.l99.com/bigger/02/1423644504910_7ddd9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1" y="782053"/>
            <a:ext cx="3108991" cy="479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290340" y="1534366"/>
            <a:ext cx="4752975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1838-1839</a:t>
            </a: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：挖环形基坑卸载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1933-1935</a:t>
            </a: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：基坑防水处理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　　　　　 基础环灌浆加固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1992</a:t>
            </a: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年</a:t>
            </a:r>
            <a:r>
              <a:rPr kumimoji="1" lang="en-US" altLang="zh-CN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7</a:t>
            </a: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月：加固塔身，用压重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　　　　　 法和取土法进行地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     基</a:t>
            </a:r>
            <a:r>
              <a:rPr kumimoji="1" lang="zh-CN" altLang="en-US" sz="26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处理</a:t>
            </a:r>
            <a:endParaRPr kumimoji="1" lang="zh-CN" altLang="en-US" sz="26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66738" y="668338"/>
            <a:ext cx="19669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C00000"/>
                </a:solidFill>
                <a:ea typeface="幼圆" pitchFamily="49" charset="-122"/>
              </a:rPr>
              <a:t>处理措施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2" name="Text Box 4"/>
          <p:cNvSpPr txBox="1">
            <a:spLocks noChangeArrowheads="1"/>
          </p:cNvSpPr>
          <p:nvPr/>
        </p:nvSpPr>
        <p:spPr bwMode="auto">
          <a:xfrm>
            <a:off x="2997722" y="5751513"/>
            <a:ext cx="48157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上海惊现“楼亲亲”</a:t>
            </a:r>
            <a:endParaRPr kumimoji="1" lang="zh-CN" altLang="en-US" sz="4000" b="1" dirty="0">
              <a:solidFill>
                <a:srgbClr val="00206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58803" y="3702252"/>
            <a:ext cx="4659082" cy="17420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上海浦东新区华夏二路心园西苑，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</a:rPr>
              <a:t>17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号和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</a:rPr>
              <a:t>18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号楼间原本有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</a:rPr>
              <a:t>11cm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的间隙，现发现在最顶层已经紧靠在一起，像在“接吻”。</a:t>
            </a:r>
            <a:endParaRPr kumimoji="1" lang="en-US" altLang="zh-CN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4799" y="2391326"/>
            <a:ext cx="2509657" cy="3197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48085" y="620485"/>
            <a:ext cx="2529115" cy="1684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5174" y="634320"/>
            <a:ext cx="4684482" cy="2966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425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425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54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436" name="Text Box 4"/>
          <p:cNvSpPr txBox="1">
            <a:spLocks noChangeArrowheads="1"/>
          </p:cNvSpPr>
          <p:nvPr/>
        </p:nvSpPr>
        <p:spPr bwMode="auto">
          <a:xfrm>
            <a:off x="2435749" y="5745302"/>
            <a:ext cx="48013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zh-CN" sz="4000" b="1" dirty="0" smtClean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墨西哥城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的</a:t>
            </a:r>
            <a:r>
              <a:rPr kumimoji="1" lang="zh-CN" altLang="en-US" sz="4000" b="1" dirty="0" smtClean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地基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沉降</a:t>
            </a:r>
          </a:p>
        </p:txBody>
      </p:sp>
      <p:sp>
        <p:nvSpPr>
          <p:cNvPr id="43011" name="Text Box 5"/>
          <p:cNvSpPr txBox="1">
            <a:spLocks noChangeArrowheads="1"/>
          </p:cNvSpPr>
          <p:nvPr/>
        </p:nvSpPr>
        <p:spPr bwMode="auto">
          <a:xfrm>
            <a:off x="4763386" y="795125"/>
            <a:ext cx="4167963" cy="41488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处于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四面环山的盆地中，古代原是一个大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湖泊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表层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为人工填土与砂夹卵石硬壳层，厚度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5m</a:t>
            </a:r>
          </a:p>
          <a:p>
            <a:pPr marL="342900" indent="-34290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其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下为超高压缩性淤泥质土，天然孔隙比高达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7~12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，天然含水量可高达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650%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，为世界罕见的软弱土，层厚达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25m</a:t>
            </a:r>
          </a:p>
          <a:p>
            <a:pPr marL="342900" indent="-34290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据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统计，在过去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100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年中，墨西哥城大约下陷了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9.14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米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76067" y="4918752"/>
            <a:ext cx="2969083" cy="4628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墨西哥城的地理变迁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AutoShape 2" descr="data:image/jpeg;base64,/9j/4AAQSkZJRgABAQAAAQABAAD/2wBDABERERMTExMTExMTExMTExMTExMTExMTExMTExMTExMTExMTExMTExMTExMTExMTExMTExMTExMTExMTExMTExP/wQARCAEsAe8DACIAAREAAhEA/8QAvAAAAQUBAQAAAAAAAAAAAAAABQACAwQGAQcBAQEBAQEBAAAAAAAAAAAAAAABAgMEBRAAAQIEAgUGBg0JBQcEAgMBAgEDAAQREhMiBSEyQlIjMTNBYnIUUYKSobIVQ1NhcZGTorPC0tTwBiQ0Y3N0gdPig6OxwfIlRFSEw9HhNWSU8aS0dcTj8xEBAAIBAgMHAgQFBAMAAAAAAAERAgMSEyExFCIyQVFSskJTBGFygiMzcYGiQ2KS8LHC0v/aAAwDAAABEQIRAD8AM6U0pMykyjLKMWYAOcq2ZFcbjo+7CO5wQO9n57hlPkXfvMd08n58P7oz9LMQGpHv0tLTy08JnDm82epnGcxEjHs/PcMr8i795hez89wyvyLv3mA9IVI6cDS9jHEz9Rj2fnuGV+Rd+8wvZ+f4ZX5F37zAekKkWNDR9hxc/UY9n57hlfkXfvML2fnuGV+Rd+8wHpCi8DR9hxc/UY9n5/hlfkXfvML2fn+GV+Rd+8wHpCpDgaPsTi5+ox7Pz3DK/Iu/eYXs/PcMr8i795gPSFSHZ9H2HFz9Rj2fnuGV+Rd+8wvZ+e4ZX5F37zAikKkXgaPsOLn6jHs/PcMr8i795hez89wyvyLv3mA9IVIdn0fYcXMY9np7hlfkXfvML2enuGV+Rd+8wIhUidn0vtnFz9Rj2envFK/Iu/eYXs9PcMr8i795gRCh2fR9nzOLn6i/s9PeKV+Rd+8wvZ6e8Ur8i795gRCh2fR9hxc/UX9np7xSvyLv3mF7Oz3ilfkXfvMCYUOz6XsOLn6i3s7PeKV+Rd+8x32dnvFK/Iu/eYEQqQ7Po+z5pxc/UX9nZ7xSvyLv3mF7Oz3ilfkXfvMCI7SL2fS9hxc/UV9np7hlfkXfvML2envFK/Iu/eYE0jlIdn0ft/M4ufqL+z094pX5F37zC9np7xSvyLv3mBFI7SL2fR+38zi5+ot7PT3ilfkXfvML2envFK/Iu/eYEUhUh2fR+38zi5+ov7PT3ilfkXfvML2envFK/Iu/eYEQovZ9H7fzOLn6i/s9PeKV+Rd+8wvZ6e8Ur8i795gRSFDs+j9v5nFz94v7PT3ilfkXfvML2envFK/Iu/eYEQqQ7No/b+ZxdT3i/s9PeKV+Rd+8wvZ2e8Ur8i795gTSFDs+j9v5pxdT3i3s7PeKV+Rd+8x32dnuGV+Rd+8wIjsOz6P2/mvFz94t7Oz3ilfkXfvML2dnuGV+Rd+8wJpCpDs+j9v5pxdT3i3s7PcMr8i795hezs94pX5F37zAmkKkOz6P2/mvF1PeLezs94pX5F37zC9nZ7hlfkXfvMCaQqQ7Po/b+acXU94t7Oz3ilfkXfvML2dnvFK/Iu/eYEwodn0ft/M4up7xb2dnvFK/Iu/eYXs7PeKV+Rd+8wJpCpDs+j9v5rxdT3i3s7PeKV+Rd+8wvZ2e8Ur8i795gTSFSHZ9H7fzOLqe8W9nZ7xSvyLv3mF7Oz3ilfkXfvMCaQqQ7Po/bOLqC3s7PcMr8i795hezs94pX5F37zAmkKHZ9H7fzOLqe8cltNzRzMu08kthuuEB2tuCVMJ0/drdzgjTgaEkeaPkrasGnU+Pzm3Rjc6McU2k+CPnficMcNSsY5bHq0spywuQTTv6cP7q19LMQHgzpz9OT91Z+lmIEUj1aM/w8Hn1PHJtIVIdHaR2tgyFSH0hQiUMpCpD6QqRbDKQqQ+FFsMpCpD6QqQsMpHaQ6kKkW0s2FSHUhUhYbCh0KkWw2Ox2kdhZZsKkOpCpAcpCh1I5SA5SFDoUENpHY7CpFDYVIdSFSAbSFDqQqQQ2FSHUhUi2G0hUh1IVIWG0hUh9IVIWGUhUh9IVIWG0hQ6kKkLSzaQqQ+kKkWwykKkPpCpCyzaQqQ6kKkLLNpCpDqQqQss2kKkPpCpEssyFSHUhUi2G0jlIfSFSFlm0hUh1IVIllm0hUh1IVILajObLP7cfo3Y22iehSMXOplZ/eB+jdjaaJ6FI+Z+L/m/swe3Q8AVpz9OT91Z+lmIEwY01+nJ+6s/SzECaR20f5eDjqeOTaR2O0jtI62wbSFSHUhUixKG0hUh1IVIsSG0hUh1IVIWhsKH0hUi2GUhUh9IVIWG0hUh1IVIWGxykSUhUi2iOkdpD6QoWGUhUh8KkLDYUdVUSlVRKrRKrSq+KO6vGmtaJVedfFC0NhUh9I5SKOUhUh1IVIWG0hUh9IVIWGUjtIfSFSFlGUhUh9IVIWUZCpD6QqRbKMpCpD6QqQKNpCpDqQqRSjaQqQ6kdpC0oykKkPpCpC1oykKkPpCpCyjKQqQ+kKkLKMpHaQ6kKkLSjaQqQ6kKkLKNpCpD6QqRLWjKQqQ+kKkSyjKQqQ+kKkLKMpCpD6QqQsoOnthn94D6N2NlonoUjHaQTIz+8B9G7Gx0T0KR838V/M/Zg9uh4A3TP6b/AMsz9LMQMpBTTH6b/wAsz9LMQNpHfSn+Hg46njk2kKkOhR1iWKNpCpDoVIWUbCh0KKlG0hUh0dpCyjKR2kOpCpFso2kKkOpCpCJJg2kKkOpCpFtKNhQ6kdpCyjKQofSFSFlG0hUh9IVIWIHWkdAmy5i/GrtCWaBciBPOm645fgmVg/tbuU8qCrzotIlVoR3IC03hS4VXs3QGkprCcdR0wEStW23MRcadm2OGeWPEw/zdcIy2Z0OUjtIfSFSO8S5GUhUiSkKkWykdI7SH0jtIllGUhQ+kKkIkpHSFSJKRykW0MpCpD6R2kW4EdIVIkpHaQsR0hUiSkKkLDKQqRJSO0ibikdIVIfSO0hYipCpElIVIWI6QqRJSO0hZSOkKkSUhUhuKR0hUiSkKkLWjKRykSUhUiWI6QqRJSFSFiOkKkPpCpCwykcpElIVIWUF6RTIz+8h9G7Gv0T0KRk9JJybP7yH0b8avRPQpHg/Ezep+x69HwKGmP03/AJZn6WYgbSCml/03/lmfpZiB1I6aWXcc8478m0hUh1I7SOm5mjaQqRODSnSlERVpVV5osjKtpW8605kTVWM5auOPWWo08p5wH0hUi44wKCqiutNdF16orUi46kZRcM5YTE1JlIVIkpCpGtyUZSFSH0hQ3FGUjtIfSFSG5KMpCpD4UXcUZSO0h1I7SG4oykKkPhUi7ijaQqQ6kQOTLDVb3BuHnHWVPht2fKsjM5RHWSMZnoHaUTKznQMxfU862M8Y59ZpWraJRNSpTMtezRBgzOTBPOZOiAN8Pe29ovI37IHkwda5ULUXOu8px4tTOJzevTxmMItr6QqRTlZtCbBHnBxqLetFtLWVqp5O324vJRUqi1ReZUWqR7MdTHKOUvLlhMTzhykKkOpHaRtkykKkPpCpF3FGUhUh9I7SG4pHSFSJKQqQ3JSOkdpD6R2kNxtR0jtIfSHIKktESqrzIkN0EYzKKkKkWSYMF1pWq0RRWqKsR2r8USM4nnErOMx1hHSFSH0hUhuKMpCpElIVIbikdIVIkpCpF3G2UdIVIsC0q6+r4IkRoOtV1c6pGJ1cY82o08p5qdIVIsmIbi/wWI6RYziYuEnCYmkVIVIkpHKRdyUbSOUh8KG4oykKkPpCpDcUZSOUiSkchZRlIVIfSFSFlBWk05Nj95D6N+NTonoYzGlOiY/eQ+jfjT6J6FI8WvN5vVpcsFPS36b/AMsz9JMQPgjpX9N/5Zn6SYgfFwmsYTKLmSpHaQo7G90pTqKqcy/FHbl8fphsdjNxZUlVfHHPxSOwosTEExblIVI7Ci7k2uUhUh0KLuNrlIUOhQ3JtNpCpDoUNxtchUjsdhuNrkcWiJVetaInWq+JIdEiilo27briS7P7XfNP2TcctbX4WFx3p+hvT0ozyqe7AQ+TxoeawAW0rOLg73zIolKmCVoN13zv5nGRRqSlAJ9pmmRoFdXtFW1qvEN2Yx44Y/LCcywFNgHHvqB5sfI7Vq5PqY4fh8foZo5UhsD3Q/8AK+9e9DvBCxxGu67r7h/jzoPOyv50wNPannfS16t8RuNJ4bLB7pjxONqNZcG/B9eAKEmWIbV6CoUO2i7Jpzol26W3weVErbT7aHY5naTOHFq29q20hzZg7EFJgRbn5M6dO29f68MnKtzEu9zA4ngz3fzG12brst3BGsdbNieF7EbE2h2A5bc50RjsPfZc7O/uRejNTnJvONUoDvKt69bTo7Wsd65Ljgvo2ZWZZzryreVy7117XH24+poa85Y958/X0sccu4vQocqU/wDEKPRvcNpsdpHaQoRkbXKQo7ChulNsOQo7Ci7jaUStFYSF4uZKRHHYkzcVKxFTa4swmqic3jSGCYa70FaqvVFalY7SOcYYxFRLpOcz5Onaq1HVXqRKJDIfT3okRbVqia/Hqje6oqGdtzcmIPYX+KR3Ui6x5udKQ9XThpEpc/8AhGYnKZ5w1MREcnKjXm9EK5NWrm96uqOavFCqni9EXklyermqgpRPFTniJSWOxyNYxEMZTM+ZsKHQo1bNGwqQ6FCynLV/8x21E6/4IkKORLmfNeUeRUTxpHNUdhQ/uf2JLetF+OO5fFDYUKvzImvJ3V4oVadX8FjkKFQXPkF6XLkWP3pvq/VvxpNE9DGa0t0LH7039G/Gl0T0MebV8b0ad7VTSv6b/wAsz9JMRQi7pZaTv/LM/SzEULkhjPJJjnJ0dhtUjtY1aU7ChQqwtadhQ1SREqqxGrw+/Eu0pNCiDHTxL/hHUeHxLFKTQojxQ8cMV8K86/FAWIUVlfTXalaJVVVUT/VEKvOKla0TqolIRckwIQoFYhV2i+NYkQ3B1oS6/GtfWjUxXmkcxGOiJGVBRV5uZIoHOI2mdRu5+u75sEdETQTDjnPlbDaRLbsS0kTejnllTWONonDRsCcLZDX5qjFlqaYxZMM+Rh7LhnvxBKyTE0DuMjjlj77fSHbZiEW7F8pWWsbYotmffO+4E49ryY8+p/EdcO6jYmgOanLUc2Gw2OHjiNJkfZB3U5lYZy2bNxnFtiSlmTvBu09VpGSnb8FxFu8MVg0ZJuJi4JLenujnj6rSt2s0ceE2quzzfhzeV39DMLLOUzmG5dFaanW/DZFy1zbcykFp7FmTigu/Iysw40Jtqvg7Ii2InbaNSHXbmtyRwdHyjDb1jVuKFh3EpFbXc70XhfAB9IzbdZR2x8MF8dtu3JZyoJmthmlpoHGUtB4LXr87ah7eEFk0NI5eQPKo+2uW+Zs2xM7ISc046bzCOnegkWI6HtYcDg/Oi8IY6bdBzwc6F13atq9Bu+dD9FF+eKAe2Yg28WQT9aNeshJ+DhKYCYJvX4V57Qhf+03OOFL6JkZd4H2ZdG3AQs2I6fV+tcLNb/rjr4WMlchUVoSUVOdFjkD9L6TCVmiZwyO4WzxBfULOLk8MhPzwiBufbNM7jg3JwJ9W6O8anK5cpw58heEiovMvxLFe0DaxAcVxFeEEVSQktwr90dq6IlFRSteZdfUnxxrHOJi0nGYXYUDsQqbSqi+JVpEavn1KSfxVIu5NotCgP4S6nWvxw4ZxwfF/GF2ULR2KATibyROkwPiX+FItpUrMKIkeHrqmrrRURf47MPuTxp8cRTo7ERPNgmsk+PXEPhjfiPUutaIvqlDdBUrcKIEmmePzkWJhISTKqF/GKh0KFCijkdhQoI5CjsKLuNrkKOwoG1yOQ6FDclORyHQou5NpsKHRyAbCh0KFlBGl+hY/em/on40uiehSM3pfoWP3tv6J+NJonoUjhqO+my/5VGYaSaICt/MmvpZqArWk3AGhJiLVc1/opbBf8rP/AFFr9ya+nmoyv45oxEzHRqYierUA+WW9twBW3rAdpLh2yHa4oa7MCKcxc6J1b2bdLZhjWm1EGwucyAA5Ww8X7S7LAZSfMyKq5yLNqib5JxiJG8e8TC1y+mW0XMurryxVHwtfb/FX4C66EMRuTriNjLhlJsLXnUNbn7k37rhEbcuUL+3D3ZsHWwyW2qd9q3bSD2bvqRN691aaB8m3uUElpkO4Mvq+ocQI3NbJPJcV2QUxMtnYbLLFRHxyWp0acO137spFdvROwZPPWBZju5RuFBD5vz4m9UjT5NqWI5iJZXKmxavPW0bsvbiVZsFRcriEq0BERLVQutFu+DciBxx2XW+4bju2uULh3spDDptnIM1f0oWhhYftXc2M0XfJtjzSvE4bI4KHiVTZTNaOLf8ANC7uRSFZu5AFHLi2ckOud6Vt9towAeSz4jl6dJs2/PhA7NutkwDwYZDsE2vlcW9/RF3ptTJOWjsEpUG7V7xfNKJgm1ISWxcvEqfWh7DDCNBjLME9RcTCO1ves2uzxBtxM0rbBoQNCVqW2mSkJau0JZhLNsRniNcNA1Mg6eDYWIVAbtRMx1Hh4o6rb7bQ3uKZuLTJTduusUR2eNzY4MlkFJeUbvem3aMt0zlsg2HuTZ5SuLft2A7ccdQzoYjyszyUsz7gz7qf0h5LI5aurn9Denhh9YK00Zo46dmG3duJmIU860fPPtwf0My4DhuOU5RsN3ZzjkD9XCmZZLJWUb9sMer2trpXfxkgsy2gOdf49r8mOLrlsZp7Sb0jc2wDPKPTDpk7eXttlnnduDYzqlI+G2Dd4O8dlVtuGwOHZuzdyMlpcrXk1e7/AP7EHpRULQy8+w+GVO2Eet5j9DaWennnGnhZyjeOEJjsLm2iL6kU5rTj8vMKwDbOGzt3oeIdm3vCIZdjJtxJoWVWWmQcq3hTDDxtmK++G3ALSpIM7M6rv/8AnAa3SukHJIQJoAI3sMBxK2DtnXLaXZ2whujdIOTsq6bohe2Xtezb5xeucUvyk6KWWibQfROxHoAk8CmtW/EHJPTz8xONNE2yLTpiAjnxeVMQDPdbcO/yVkT6W0s9IvK2yDO6Rk7ee23ud3Bz54A6PaUJySuH26X6ly8o1t7t0W/yiX86XLdlZ6l3Qf4fhijQeyBlo4JywMS08tVw76OgPatuzccV9DaXfnXTaeFnoydEmkMLdniIvXCK6L/sJvV7p/14o/kwv54eX/dXPpGogp/lIn+0S/ZNwLYfNsdkDsLZNPODKQ5fngcGdPp/tIv2LcP0Vo8fCg8JHpG8ZkNXz4L5rco0JtC7hExi1w8+XubV2bcuC+yInCC8gIjvFdml/wBa3yoLAwNz+j7rD6eTdpl57+9yXZ3IrTMmsyKKBozOS5WGN9nz8uUtpkt/Yjn4W+6oNEDh2K4qIKqhqqgKpquGxCIbudIJlo+xnEJVuJRUbqbNRxezlbvLKcV0ELQU3ZgHcidVpWraerDyFblMXdjyr4tuaSN1lWSljEbVHqc20IN4bbh2rdsAjtutx/oCtkrpqjaGe11Lsj+N2LrsuA4Ygpm64BLYI37CCRIiCObLffwROw022ANm4HRpmmJg2v8AS5EYPmyRcm05apgLgt+/thZ9UImWpTWxVNogptVrwHwXlrIRutHlMu5HRdsu5VvLuHTxjxbPzIsOvsvEPJOtWpZybZgOx13W7Ozx2diE03KhiaxNXannpl1Fkz3ROKvDWHkcwRcFMpNNdW1ajt3r/i2KzZIhgpKlm/m97KsPR6ayi28BjQcuo7bk61Ed36sRygK+yw4Z5jD3MC2Im8RESOmWtsGm8Ib9i5yzY7Vu/wBuJllXU1IrdErXWvpth5yrgEpNvqeZbhsTslxXZdyHtszGYnQaLXubVvb/ANcOIIUk5ii8nXnVbBXL8No5Y4DRlTD95VtLdrbzjDHkl7iDYPEAbQavuvC+z7cPdS4VVtKDRAsbbS4smbWHD/ri8Q2LKFhbTp9e2uUS8ocw904nxkTUqoiqqImvUqkttIpSzQ0DFVxrNnynY39WLrgywof5yhc65UDNco8wCV3ZjXEScIgxX1qtPiotfiiZsVdbvx0Da9rQvrbu/wAEMWWla/pBlqt3Helz5OUut3btyLDQo2CBiKJEZ2haHHt2bNvzO/E4hsNdBZcBcJ3ES5Pa7ftepFgFFw9lBAmGTtpxm/8A0RE4+yRC26rfJOW2ku2VmS/vcUWgJsx5JA2UHnzZVy5N0RjG5raFy7pOso4ortEBfH9baiXET8aoKNibTINU2AQdqB78s5crjbNxlfddYWU/xtXx24rnw0d6f/UNJ0R2lQa8S0rCYbmZcjPAU7gXLqykXitIssMnEcmBb5CYGxCv5FcxUyZxhOty5Rzaw0onKsp2was02ntg8/NterHW5pklWrwBq36j8WXaigrDge1O8/Ap6/s/Mhr0s5aOHb2yMwD+CXRx4+q9XZvw33s8hcHpc9mZa9MPRxitPCG/Ky/FdGaVp8RSoldfrRFbUEH4RLa7NkNpMDs1Hm2f81EovGTsuj9z/v8AzapEaJaY7dfhX0RJ4Ma1scaLm3l+qJRkGxmjcVFqFE1G4B/43ZS7O3EjaTSltkFvvOeIuEvJ78XiZufA059ndEdNMuAxLlyf6WGwR+5P/qxjQaJ6FIw846dWmlfN3lxLmPD2HeIrbo3GiehSNY5OeTI/lev+0Wv3Jr6eajPMMYtaovOmbWOWubdzRpPyrJR0mzT/AIJvnT9fMeTGcJ8yBbl2KZbjt7WocsSfQxrqtpLtXIF9x8NU/pjuCAOWuEVtPnVu8mKyTJiN1R5kpaPpVdovPjiGe3ei6kK2m6WWMVLpOWHoUwSYria0LWvPtahIfK3oiGpagE1qnPaqqSe9bDHnUNytlP4+8MSeEmACjZkK684mYkI8AZtmNxFQ55TEzMrKSiUG5+y+6wSZduy+TltglIS8qyQm48fhAqpN6rdwtwhuLLAjwlX2RbfcLk3Nszv5Pg/HcgpJsSky7y7kxZYX5wImGwg5IiL4MY12ps7UTNw3p13Dbb3TOJJpGyYVtKNWpaOTIJZbt220uzuRZFmVsQfDZgd3mzfR/Uhqyst/x07z8Wr6H4I57HfiYbGbmXQCxihE6y4QuHan+q0e1FiRVCNzIQZR67vqwSmNH6PBo3sWZdPtHbmLZ9riqwgPvhtgFBCyXcD2oNvZuPtxrJjd3hSTBDmAQkFRoWok4QItfxQyaek5Z0XHpbcBxqw+Uz3/AMv59kWWmpNl4GwmnSfEnMpnmK9suz7VZk7d0WjVjGW8xdtbw7sEHSuvy/jtRnHHaZZBjj7bujymmLuRUekc6A68HR5b8kUGvygYEhxJXlaDiOgf9UaIxZOXQBNu03BxAwW+MdsLhgLILLzGkHpXwSX9u9r2fB43EMr07pJuUNl3DR0320w7L7rNveLKJb48e5EshPDNojrQq2V5NmLpmWazvEMN8EmnDewkkrG5nDDGaO8WxbAj2SylceSLIST44mJ4KI0dswWs/wCq/u9vtxFRyQoZzd+DkmCDMIF298cuaCJZMMBstxAyhRvqPg3S34GpKaRtDDXR2ZsCO5hy4j396LIsrdyll4JttBYGYO962/BA2YfmmTbeQFMqjhgWe7BUr28MhyXbRkN+TuxJIzBzBH4Q201/Yhtd+31ogn59GzabaQHLGsypZaJEvNXMRXDtlffZcEC28d8hzPOfs+0eXhHLuXbm3GmWuLCNM7rZ6v1R/VLuhDwRBrZh5t3DAbvVugK3oosl7T11in0wCQ2faLY8qLzUoQkmG++HYdsea6PzvJiKCzCm0c1LlMIZkjUwLlf0exw2jaDLtFiN2W2WBGhYZO0sVzEcy5rA9zD1Y4+0mDMBhN3uIeey4SxQPfyl3+3APRU+uph+pnulS7cCy+220hHe8+A0TgrVsLgsuXqDgPyYeKINbDb5v1f2opzcsrtmE7hOFSw8hhvfqyK3y4qNaLn68rpFsxqOxLNjv/sd4YiqU+8kvNnMG0D+oWh2CzH17w7MWJWf8LCZcNkWnpZLsyYnV7WeVzEictGzTiurLzuDy2S9lty3IN+yzvF6sPDR00Al4RPK9kcyg223m3PaYAdLaVWYfZE5a1s3FabcJeUEuPhC3vxYnpgWXcM5cJi4EMOk2e/mLa4djbiIQmfCgu/RmlwrrwxnWsO++zD902IKy4hjOFjzHRt2XuJ/LgoLpJWz0cM2LVpYgB2+ffv2+xDdBTiNg7i13LR1ZNri4vMi5pkECTdzuU8JAFEjy859kc3lwH0Wy48MwLY6qN3a0uzXDzFlLu8EVkddfM1JxnGw7thttiZb/tJa7+8hmAB8pZqJV2eTHn9z3O7uRSWQ8EljmnquOA4XI3GINt9hxrlMTYcuHJ2IKNuS78sDsu6hiJZyI8936z9ZGcmsQPSCKABZXrv+bD9EtrMtOCSLRpURFUlqSD7/ABCSplgk+IE07XZsXLubu53u2dkJllGy5slOCwfpIxeMRNukYZTl1MelRlybfq7krbaSFd37stvZjqq26SHVbrENBFUby5twS4oe9LAYLrLr3lLa9+71YrYJZOWLk7ctA8exs3W8Y3xne68FelHnjkyeMRV6q81EA0I8u7w+rDEnCHJgklq7hZcylzXW5d7LE7DYA3kTD3+S2Qz2ZIeolRM4ntbaZtvtdrLEclEZuTOhutKmIZKhKAEXJJmWojdsxMhSLhLnb58olk+tExMtkmdhN7ZVMvF+LIqlIy5U529Z7Xm9naiiQpGWM15S0q7rp/atyw0pURy2EfPtXld5m1DTkUVzFFxva2aZS2eEYuYRictmPJXEz8/fXegBCs8qt45K8LmyPVl82J8VxtVNEEjUR1kq3CJIJWItu9RL+6MTT7joyr6s3YtmS1M+31RT0cszjTGOpplaELkQbsmfhjLScZRt/l31tMir0amOVMvDmHZi2LLtUsngRLhPo0TZMTGtttw9m/PETsq9TEbnZprPsBh2f3sc/Pww/wA7bcxbenlU37Pcv2kVEKvAxM4puzz5s5LLORLJZxbJQSlHHCEHXHDFKKRCSplEjmjFDy7reGPmxURyeA1D/Z7p1/Xs9WXdLdhLMTg/7lLH2Wpr6lo/6IIttTJeFH+dS7jJlybQrn6OLqEd5c1mIo82bK315uKM8s0Ylymi5nn9qRo80PTSzADaYTzObeZMy+DzcsEHHX3AXUKF0W8vtp5vmxyamMBEW1TSx01t2kRpLubtbMBk0nJEafnVvN04GFvnbwxZcelJkU/PWXNXuwBFBFFExE7EzAPUmW6K8yQMNG9hiVm6KAN31Yq+FmFE8KlFS33i2dnPdmiMptXhsJ2WRK8abvlQFsXGymSlsHMDQO3Wt250HJDnXWW30Zwbvzc5kitbtFtr521FJZhGnvCcVs70AHQBxvZ2B2s2Xvw43mHDcfvHlZQ5W29u4bl70UUNKug/ISj4N4QuTbduoLuimOCNBonoYzeknmvApOXbXoZhkdoCryD/AGo0uiehSO+Dkyf5WJXSbPvSTX08xGcQVo8NdptPXGNP+Va/7Qb1/wC5tfTzUZUiXxwmZumSFaCfwInNEwlqts6vGsVk19mq8664IsTZsy7jWI1aaqlqs4judLSNHN0RpswW/ULd2+bqhqc3wLExAKnmcoiJtWKqr/C6GiLevMvmrmjVpyMtXqRV1JzIsa/QmuTT3nHEp3lujPyjCk63V0WdzlL7c32Y0bLIaPZH84ZmAdMyyHs2AOra3tzYzxM2sYm1x81bbdPrbBT5+FIHyeknJiYl2VbFBebU8pnl2oTs+wYTA0JOTsLs3oQ7twnbtZYmYlTlpZrCm5HLdnw8RzjjALmyprZyZat7EutH38w3d2IjlsLZYReLDw81y8BWll3InZmGqDyl527iL2eG7LE60cWuqlUXXtZVjDYCgrjO8gQuCyBG6+OG20HK7eYi/oCyK7MwbqlhN4oe7TDjjfybLWx68aF6XbcSYvNLJhltk8yBsK/87lorNSUk0iBjKQ7vKfZjTKNlUO4bLXQS+zpBLub2XhKKLjZSbb8wzLusvYZ/nNme8zz70GGpdlsrxdvKnEn1ez9uJJsUclnx4m1oKc6kNpCkAG0ZpZwz5YCQrTJzxOFuuWW9Jx7lkFz0m0QFybnNTmTeTxwD04BDMS7zQlzOdGC29IO33u1BsFZIAqLY5ELq2j8qJk0c3pFCFAFsxKxBuLZG1BEVywP0rMqwAy7aDc4hX9m5NvvDudvbgq2jVU2Mo6tf4zRkp41Kad/VpZ17Xm5XLtvbiso5WVx8TlEaaZC9x0h97Y/aFuduHDOuMtYDBEAXERFqvPdz27tu6PfiWc5BiXl0K7Krruve3A8ncgOSXda0TX6eqOjC34a5d0z3nuQe0fNTcwOHTHaNbTO5L2k+Ec1vZKATcuBSzpprNo2yRFXVYVwkneEo0Mk2gOShgo5xADD9WbWT1Av/AFsSahYuR1EqGG4tyElnOubVdXvW5ozM3o4JBxh7aYuwZi9fdfbcvz+5+tjSvWg2rjl1rS5uIrFv3d66Ip9pJiTeQUuvZKz4sVr+8CIrJtzczITWHYUxLYmTWZjbT2s7d0fPCDfs0nuJdcM0bTwVsXxUDC4M+1Z534sgnc34xWqovVu7MY3N/wCSpLzDkwhEAK3yvulhbHd3oThzfR4bi4pe7ANtiX+bx8YZItGjZgQ3ogmi3603vrR25vJnTJXapvBm+bEGe8LU3jwwbPn/ADh1XMO7gYbD2v8AaxclnkdcwnG20XXYbanYffA9nsW78PBjRjJ7Q9fJ4nJ/jgiVvwAHcQHBv17+QI0wTwPYZXtITYC67ncA7rGzzxnvZZ4Aaul0HUV40whMSUbDy2kJD5ka5xwcM8yZ23PKvbjO6cZN7wXAEnrAMCzBlEbeItm7egqQnph02npZWXGsE3Jgankbd27w916Sy2CMs1Kj0LjWZNgFbzcG9uxktHTAtOk4RWiIFiD7oFC7Q7MUHWkZIcN+7ycK31ro1tRsZx4GgPe5ZAzd/wDo8uIxcYmRyqSbXXwIPauzbNsBcZCZaEzJ0iJq+8rrivu+jy5uyETyzDYuJYp2mu1W1zozyecYeZHPY7aeovPzbrJtsot42LlFU3Uy3qWbLuRRbnbHDAAK4lcXnQhu+1uw6abaNwr3/Hfq7nBFMpdrPyil3B3TiRTc5ZX+9q5NUdlwNdRGi5dXNj3c3eCH2kgOLr6Nzq3/AAj+XlitINfmsuPMQim1+3N3u+bEom62znqq4fMScUwQDX+z+rHNFklUVL9sAfjiGEjma3/3JS/N72SOo6FObN4QYD3qfW+ZHBRCRvNcmJjXV3s3DECRW7brE6SzL8MPsRCQbzS0F2S2rfGvFEStcgoccxif3gn/AJbUIiLwol3MBfJ1kUBCZGIFrTn3kDLriMUN4FHnuu2UQTERUfx50Q6TMhknFbXlL27aJVcxjzRzR5EQqThGlzz+5uXhxbsK7q35IzJ9u1ux+wFWzCsd6i4iu2Yac28SN8og2U6VpzE2wPu+1wSmiFvB1XYjlpFs7ha8u9HSIPCAY5ToiO7cyr60VFBJw8XEo0ezsOZ8oHueXEnhaYpEbBpmU7qJ7lhd7aiwgS7pmyqS5kCJcNlpDf3YhSTlyrZcyYkvQvGP4uiK41NMY6XHZyzm1fs+DjZ5zkTYonNFy/J40v7Zk5jvioTBbsw5/bMA43DllHf/AGjvntevFQQmVTETUz0Tm0227uRC5KyrjY3yzWYQ9qt6h7sCVB4F1ykzzWXsmjoZu7uwxyewbBvmfLbwwyJ2t7di7TokflZTwkGAkpbojdz4kDwCXslz8CluXmCZ9vhFOsm4ruI7fhK1z+6/OuiPGYa8HFVf5FSMLlDaPydn58dIif8AexyXZvRss20Z4aDz7PcI94t6GM6OZq02bDX6Osw4ZG75n+qK7ukGXRsMnN7fDyo41pJsRPlHdjD59z7UI319ZM4+SN1hsAlHhZBonnS2SMrQBC4uKN/onoUjz96Zbd8HACc5JxLbqc1hXrl7VI3+iehjrg550yf5Xr/tFr9ya5v281GTrGp/LH/1Jn9yb+nmIylY05uoVP8AzDkQzrTqRSWqomoe9DP+8Kmtfh1woOVFtRdXX18Pj4Y6ArtaqCqdaf4XXQ9uwRO8CUiFMMq7BV6920uGJBc1bvmB4oKkV7FSzBTyG/s3Q5u5EtRqtK7Sa8y9dxD5EMGaUEXmoQ0yxCZDWtS6+uIq5VwVTkR183MXZ3CLNFuWmkN6XZ8HYbuebEjG+/MdnF78BQO0uen8YISrJ3tvVFExAPzTGIdWmSUlcY7TQSJXEHlHW9lc1N0S+ZDHpOYB60Jh4A1ZbMbq47vwEEXmG/DZQ7dpt74MueGT0rnZcbctx5hts8vvFnjDYW/ITBpnmjPUXtJj3fbNkfmBECSUoFcaaTYL29uz+ZFzSzDjUu6Yue1IJZP1gebtxi7fxSNM217EpLEKYcy9fTcfYI+bcDah8xLzFCLwqZ3ttn3oybKG2YuBS4V97e96N2Umfg58svRDuB7n86IvVlJoZiXELnnlF+qkiqYoWobdos2WnBEbL61GpuW110cDxW6riizpFD8H0dyl2LL4nN24C26yjbM9Wul5VhwQIZ0s6e7MX83eu/oi6ej22G3nvCMQ7OJs/bGoxss2ovNUVU5RsfOMRLX3Y3U8xbIzdpncLRmPZsiHkC6XBG3m7VU7mkLnQvbCu2csBsVkD5TE/gO750FdKN2vJtUSWlyHs32X+cWaBayouEV1ya1H8fZjSNLMzGjJU25Ykdbw8FzkmcS/k7wvPEi2/pHR8rMoy4DuMAt9G1uuhihnxhLfzxE9o2WnnvCqTOwzsIxZyTf7SHTOjJeZmTedCZv5D3L3IIyo8ToG2WYVzU57f4Zst0VZhRNkmqFZ2Xwu5+9uw5xgTbeuD2sSC7aHJ60C5SXA5AbqkRgfXmyOH19qMqGuy8kJkhm4C12cdjL5xXbMcRmSxTsfcc5TIQPNdmM1MDc+9cvthfj6sIGdaWrrUwp1qmuLGJuatyRCqcu6G9mdYhqaPSmabct8WI3rEc3DtXRfn5MGmhwiNv8AOGZchAuTw7x3Ii0pLKzLOYb73Ru78YiJvq1cV0Dgb0U3bjTYFrzBe5d/dNxIwOiTpyzRES9FiOgfqi3m388ZJA7SRKDeYM+8H+Ix0Yax3R7Vq2zR2CJWj4QBW6u7xQDnZdyXFose/FQrs3dt/wBMa1yRAWXs7vROb2bkm7/ncUZfSIWLKheZfmrR5uPj7xRnBrII1Vpz0TnokIE/x8USqKVX9mXVETez8Kx1cz/CVAwW0eTVNpMsFmtIBaNDexyEs2MAg3yefbG7tbfK4UZ8tpfhWGxFagZd1WsYHBfxCHYPFMHNvlGxby28ptWBfvx1MM1UrCLOIdIACW1aecbrePtxDK6WGwMZpx422XG8Vo/B3bTyWGftv6krIY4+hmOIy62ydthuuXu984zLXIfamgBlkCFKWMCGrjB0zqo5RIeHjyRdacAgGwrrm2ch9sPO+fuxnWwJlCNpyoFXL0gH+O0F8StTQkYAXI9F3LWdgNne4o8+x1aFUHKWW7EU9q7Nv+Tb5kU0FRdlqLqpMGpDs50G2neiij5ArN6lncfMrs1w2ZPJiyxN3pLiXtrR69WUQ9X7EZbXJd5zBlt69y0+5n1xKhpjOj+rH60RiYWMEGsRIi50zavV7sdqN7rlyZkEA7WrtZvJiKgmCbbaAyMEzjt7O9BWWabdl2C27mQ8q77UZ/SYK7IzGU+SVqY6vxaI8MF5OYFpqTl6F+iy+YfL/l7UaxYy6qmkWyI5IW0yhNBf+ziJHD9lhGi2eDbVO95O1FeanXgmAxGeicLYWz1uzmy33x1nSTJTa3rhXIPSB2POu8iAdLOK5pKb1bF3/SCItHEJzs3Zcg67+faxO1l82JpVQ8Pmzy7Hj7fZ/ZxU0clj07z9J9d2JP1tdf8AmsSTinNzQE5eFCsvXtiGS2Hy8wTk4+yYcm2mTMeJzdr6sVdEt4UzM3KmbDt7pmf2I5oxwz0hN3rxn/e2er24pu/yzEDm2GphJejiE4m3Rbb65M/aiWcRSABuIu+kA5t5XNJtN27L7UH5lVqFVpRC1CmtYz7F+r9IWRIA8ph2V4GwT1YgZVHSJ1sQ5/EB9flfbiDSaoRsXrloZ7OXsw6SQTbKmrOqLalvVz0jX+5L75k8TLQji4bmosmGA+ZFJqfD2uVXycP+XC0xTEYBN0CVVrzqR8/oiPRxAkwHw+NB3Du+dHXHHuX4nPLKs+XdWHnVLBGyzlhK20MuQ+yMb7RPQpGJ0nTGlNW8f+EbXRPQxvS8DOrHfZD8sK+yTP7k19PMRmBZX4I1v5WatItLT/c2vp5iMsriqtETx6kSNTM3UMRBuDTnXq8cJdSr7yw0yKuuJH1DE5K6y0NpEurYN2z2oIhIl/8AqOIWv/PxQ3X+EiVtg3CQRTWXwVypdquixyRHWJW0b1X3eTve9tQ5GlrsXc34Tii+yy97WwPfw/wMFQNg3dcAP6t5bKfHbbB6T0WrzRvg0Tp1HDB5UsLj+d5ED1ewrdYPu3bFwWj5A727t7G/BbR+lOTexVJqwhtwm79v3S67Ldwxlqhl6vhEitPdU/uyiSfXk5f96Y9eICMnPAnCFR5cxzfsz7RbUSaT/Rrq7DrRfPjKoNMp+Zv9xPpGo8+JNn4Y9F0l+hzHcjzxz6yxrFmepCiYid9I9NBOSD9iP0EeZltqX43Y9LapYH7Jr6CGRDIaQ/QdE/u//UgDbnP4SjRaQT/Zujf7UP8A8p+AHtxfAv8AhGkSyQ8s3+0b6/1gR6FO/oM3+wejAaP6cNfWPrx6BN/ocz+xf9SMrDPaYTO3+5y/1IzsylHl1683X3o0elE/R/3Jr6kZ+bSrv8F/wKKg3pZtAnQ1qI4LXX2Ik0w3bMAdy7beWvA00f147pgF8Na7cu36hxLplFxg+Ed79UHVxRFask6b9n9SBckn5m3r92+ldgsvtuv2of8AB2Bcii+Dj3n/AKd2MrDz+aH84mv20SSraE26tN9iz/5AXQppKTM2n66mv4YtSA5T5+kl/p435M+baaT6H/n2/pIr6Y/QZruHFjSa8kP7+3FfTH6DNfsy6tcYbedLSg/BF6Xb/OJTvBFFzmD4ILygVm5HUu51L446ObeP9DMfsJv/APXdjGaY6aW/c2Y2c0v5vN/u859A7GN02v5y1+6MfRjGMW5COsv2X2ohDUKfCvPE3WX7Px++UV6FVfeXxx0YOsSu1FckoSonUuqkSV12064iXn/jBThJfH78S4rtE15Q9+IaQ4SQa5UX8doS+bAEZV0hzYlg67gryZebxQQbdYeHnsOq7Reo59qM6lV5k+JP8bYsI85ZZRLbq6t7hrbtRjYu4acFxnPnK0C6tm5LdfZ7QxXlX1Q1I1Vu1hwWdS2ndBPRz8lhh4Tiyx+1vdLL/KZsBz8XxYnNEFqcuJ5sBSw79kIy2ZLvGCSLfYPEi81Mg8Ipv45BrVLsl2uhZsw+tAQUmJcuTqqcNLv6vNiZubbbARphkBkVusg8/ajjlg6Rl+0UYmPChmpfUtlzZ7yWmHj2rd3vwQFtq5twV6MGm+fcax/KHM95eWMvoyYQPD3tdx0s1bUERm0N4GCBG728UCuz/rQ/FkQXXVAphu5dkHS5uHC508tYpJKNG6/aggjVLLUy3EgmR2Fc33OCE6oIJt1BTLbHYctpz5fx24eLmHi1RRuWuZNrJaNDHKPDtxltRCTMVJ5pXLWyXZXa48huW23duIm3X5dXFS3DcVLzJUG4xQraKe0W7aJnngu2q+DqPEThc/G5HW0DwYea4g4Pe7W9x9uLvAySmm23XcUcPGRu3nt5JLeHevuy3w7RhJ4XNOGQZgQc2z0t/qxZZk23Gb9dzlhkYgGbJwWk3lHLlDYiikhUVcAS2+TASRsufb9ztIuwGSNd3vs10TYIHpVn9q9n/Yt5YJzaLcPc/wA4ESomk0FpKpIriEJVubQ7cWigRNjdRMxWHlgtNKd+rqAUVSXWvwxnP/0ax65svpXO/LhzVGlV6rnLarswTk2EYZGhjmUi5vfgW+pOTAOuKIkyo282aw/2kWVnSq0A2WVsO2mbX2nNqOsxM4YYw5xMRnMyjmWAfnLHHFBBZFbgTiXulEMkwCPqd9cMjs7WrLu9vZiwRzPhb7jdeZtosl2wg8URy4vg+IUK0zUiEm4t9xmu+dpAi8JlfgWN3onoYwukALwts6IiBYFETiR0o3Wiehjel4E1fGy35Uoh6UlwU7PzRrudPNbcZNTRCRUTmXnpzxr/AMqQA9ItZlE/BG+50s1AAZRnVnJxez+CKNMBqElddPTE7b48xMtl2rM38FgsMg1quRQH8eVDhk2q7Cc3Wimvzt6ItSEo8NOTZT47/qxO23MGd4M2823u/BeQxfxJRgqKSX9erYLyRt82J3HWToJOdLsWl/TBEGG2yCHiCTrSCZ5Lu/Zm2RHhDvxxdIFdracFoS6UbLrfNw8Ts39+IzlAZW9l8gIa0Ow8S2mx0giI+QcSyLC4ok0Rk6Cqt23bcmbIVw2j2ggKhMsEplnwvdj5Nwv7G0trsnFphwTZn0bTX4PiXe2FY6Fuzl8mCDGj2fCFxrnXGlzslmD5g9GW0GxfwRdOTYZbm3RqOKy5k2W9sMmzCVPGaCyWxVMSbBp0R1DufWiadeSZknUYFTLV+P6YnZZacaaPDROSbtHs2DwlmyxHMyjlW8A8PUu8v1m3Rt7OSObSeYaV6VdBFHM2v+HXljGu6EnQS+xkx/afbESjWNtTdhBiA5/EP5bQ2xUnp59gSBXpa+i8meHd9I7mLuRUZYdGPm+LN7AuGmzef1G96No3MADoSi9Lhgn6srG834sjMMTM7MvgrZtXZ0pc2No0zVASErbYtvpPeFMNg8t5J4svb3ncojGkWH5IjlJVl1VbAJly9yzEsF1/JkuHzr46X5Os4p8u7sDuNbRIXaHZ7hxA8082wbpP5L0vz/rLC/3aJ35uVliEHJx/5EP5flBGd2SpJX8nmGlxcd66mwWFBabI9bPg7zjbzDt7jQX4Zm3kyQJlZySfI8KbmOTHEzNBs19WNOLqEAmOa8U8Xi70VGd0no9025TBEnrGsEx1N25Az5yHegaWgX3jzui0NieN07vmj8+NiTgatT3X0aO+lR2ihpTDdULlEy9tv48sUCpvR/hLzTuIoEy2IJbTdUyvzd/5sOndGpOOiZOGFoANo9lT4uL7MWTmGb7sR4dSZQOz7P2IjdnZYiQ/zjZ2QA+1wXFEBO4M9y23BvcIeVAw52UlJVzDeF6y/Y43TxfxtwJmJsBeOY8HK9wNokmdmnblmvpYBuzC2na223z+PN84s3mWRoGfY+RnTV1l121wuUuebYsc3kzyzpeaEX9EybMqhuXrtvB0zftT7oBk8H/6sYyXnXJbNe7aa3EAOGGJ37CH14OyOkmJggYsmhc5Zz9Ifs6R14vbrsrfEEQH5pCmGwCrWSZB3b4Px/XE8xKhNS7rZHS9FzDQopS7UvMto8KuUqSVJx/Nblr013cu3IIhLBhql50rXaUvWIow0y7v5MZLxmy6sng1n/8AYieVkxYea5WYPZ9pbaaDvniOxZfnpYCwhm5k9f8Au7LRcXtlpeXAeWbObdHGmXAcoXSMpmHsHbbs8QBGkaFx9JhyclSGwSlzw3ePFAg+bGd061rZmRNDyC0Qju2Bk87uRYCQQpyYqbljLTe+oXYq9ndHhivpuUalll8K7Oh3XQPUARVVdYrzUqidUJERCOlbbltu2rd2tuW6JupfeReb4IqtVtLX1pSq80dXMvbP4L/hDDRFpamvXdROuHpqNVp1KlUjqJ/9pFiC6Qpr1emFSJbfTr10jiotNXMuqtNS/wAYCNF1/wDiJ2r0QzsUmxVEOioKCp7OsroiUVqmrajqX22ZqEX+XmxmfQ5DGjJ5tgzYdYE5eYtB0SXE2fKEdrevv4I0E9pqTclH2GSO4mcJvkz7Hq8UYwBcBRd4Vy8xej6pBFltHXHLqhzjmOxseLd+qB9uJLeOOU+GNwoHhIsI4YE+1mz7tn90564RGjTM0HJHyhKmSuyPmleV0aJjSJS8qnhLOIAB0snLuuM+fyUv8k67GZenrZx1+UBAaLdw0C7+zuIdrt+XGdq/qSIw6w9wX0Oz+jyP6ImaPEncR1LbAK0+1l8m3bis3NkIBcDCNki7IWEW12h2ezki0LjLyJhkt+rKSp6Mv17+xGG0i55iY1r0bWdss22H43IklnzFiYdJVLDUsO5fe8714Uo2N7uM5gADanf3DCwM0VRIBlXWs1xZsyp7baWfguHsBGGoWxdExF0+QA66xLZz9rLaRZtiJlIqZKGFNsFX0gWW3umd/Yge6K+BCqU5g8XjuJOzHSmFGXEWsp5drKX8vyoy3/8AAirphL2JSoguWlpbA27RcPYieXcAWUbrntDaL3i7XFAt5/kUvVV2ecOa7aVN3yhOJ5ew1cMCVBI6ihoq3LTmVS5Qe9efciTjNTaRMTMUsSYrV9zDG5x8/HmELe7s7meJXkEjX+Hj+zEkugDdlVoqZt4Pm7veAIplON3Fy7evvxKuV6QHTkq2b5ZqWtBuYl17g8Q2jl3okGRliJKNilq+r10uHMXFHFmG7z5YLXMPj3I4kyFxZ2trerHSbr9jFc87+pALaOE90luLNnyRcGxFhu0HyS3YbaEfKvKGS5sW9O5muHkxy+rveRE6lLCRlc9cSJms963sxcjHrMqU0mYiolPC2g81gy+vG50T0KRhH3UMWtu7wgNz9W7G70T0KR204rFy1JicrZ78pP8A1Fu6yzwRrv8ASzUC2i1qqJYlNdUVVVN7tCMG/wAoEDw3ELckmfp5iA1yLYqbJoqJRPeuqqcNtYT15pE1HJOih1r1alu2fhWK88r7YgrbFqe7FmDubVouD5cPSirTVzc1K+iGOtXoKbt43BcdhW7O9wwgBRF93Ph4tylcRhkEu/lES8uJxQGUz7VRUOUUrOLZG3NtXXwd1eDlK6hbJb7m28wlXycxDxR2b0i5Kst4IM1JVBNV2HaGXZ3vUhzA0hmMM3cEwAMPpf1uxye/9SL2jp16WBqUwmQxTKw718ftkBpnSD8xXEeLYs2EG7e12iN2aKAkKJrr16oTHIuLeq4LZkjtg32DmHh/GxdDSEdkk66bPkxhdFaSmQmGGBdIWarcHFk7Q3W9mNgk67RM/ojnk11XFrd/CnNHCpq1+OGsmjg3lStfe/G1DiQepa+NKp4ogrzDqsS8w63S8Qyd4lG2vdLNGA0jc05Z7YVpvOFtE4aX/Xj0F5lH2TaWo3JtDSMJptnBmECt1ohmLayttR0xZM0dNL4XL4q5cTatttvSzhutu27skax8bZ6S+F0fmRhBFwMNyxRC9LDptECx6HpCVxXpdwHDb5c/FwH+OCApaSbXwB79mX0hwJ0jL+EaQkGvdZaW+gjQzYH4DOZD6J/5ueAk8BnOaIwlzYMn4vcwiKnktHhKThYZKQvaPnCzfAPq+RF1t1xl7R7bWTwqQS/+/wD7yH4BNaSaFTvH2NnrbsuWsRV/OdBfsSD6eKgQ9pSfZZl3PCiXFxL7mmNw7Pc4tTOl5sJWTfDDHwgHiLLd0S2Dw96BU04GEw2QZgN8vPdyRNpEv9m6L+CZ+ccBVLT8/wC6N83uQQS0nNvsBL2W/nEt4Vs/3cZgGHTEjBslAU2qRo9OiuHo7/8AjmxjSHSAuTM0mI6NhtuZQsvEgYd7PYgWSKZOqe1Z4k3U7ME9CldOy4mA3Yb2fV/w7sVAFTOZH3Nt4vMQuaAFqIkjVa85c3w5oK6HbEZ5n9jN/ROwPbBTWVENojVPOUR1XZYL6JaIdJNIW63Ojb3QfCA0mjCvlQ1bx9fkRbm1VZXDrZiuttGVbbWq5/OHeipogF8DHvu+uUXnGW3QQHRRbVuRK0zDs7Mcm3mk4am+4NLQbMgbDdAN3+uDOgFNx42bsgt328Pc70BpuvhMxq9tKDX5NL+dur45dU1d+OmVbWOdjwZZuduVOjk+vhcG7VwwM/KTpJb+1g4klykw8AZnMPN5hu73YgH+UjaiUqe7RwPTfGWvJnFVEElrRaLTX10imC0T4V8cWSVFFEpzkmr3oaqJbqRNa11R0czUVF/7LDrqf9kSIi1D8NPtRLLNHMOI2NKqlVrqog5iWFlG0Ul5ufUiIlY08poVl2SZxkcbfNzNrW+y/gLL2ruCJ5KWalzGjAmarkdNFIi95d0SHcIbIKDMiQ9Ixz7pAX8cxFbGMs24xVJbRUuwLoWlMA5bfiihG3ZwbJevAyckUA8FvJKit4alxCIkz35rbvIjQE7mtOZQbkydr1Rii86wV4CpPPt7bOw5b2OP14w0y5tmypZVsrbfRbC7GbLHL7gyIN3uRbP9nl+v58FbW5i6y63ZtKhf03drPFB+RMeiRSH3414jHPLDwTtUrz1jUm2t5m87eff3fOCC7jcrgXto3vLeRqjlpN5QpiEJkLm9sWb8DQd908+mbL1Zt3jHbi8jYONO2Sau4TfIvA8uS8y3Lh9SNMeIx1p5kBE2H0OymWzDEq3DvF5YxXZlZg1Lkj6zu/FsI5x7Dbb1dG3n13fxiwxpR0AsMGnhvS7HG/yO6XkWRV392u/+g5XZhhMN4LgLVmrmHsOD2omb8G222mzdyk2y9s3h2Ojfb70WZ2clHZT9K2WckiDQYWNxg9h4n6yAALlRVOhKVFaJDVaU20O23ay2xJxqe7KxlyuYXSCbJTq1cZudEDfvkeoA83LfFl1xXGhBBG4bOtR8g+1FdidcbUdd1uzrzD3DibknB5HaqmS0Lu1S7KXe245z/wBz+huJ/Pd81yYwzl6K6FtB2jQM1PtRCBYcm7zb3iId3/VdsRblGWXnibcaTEwxPn5UbUH3W5u27dyZ7s8XZsGW2l8IXECmybdvd6JsXLe0N4RF3fAN0c8dotumRGSkbes8oh29oS8+KZvcoVCcDOW9Flg5XHAWiUXgQuPZ7+UvlbIrzTDrpXEuS67bCJ9ftXHwq6Tx9HaOs1zXHdw646TnVVeZaaziszebjQ2rtrtbNaFBApcaG484Qk2BYdubNTtbsamMYmmcZzmJlAjbiC2YURRRF4rvNKOo4ZIRGCde7/hmiJ5FvFRcHKCZqrvIXXE9GzbEsUcSqXfGPF60JquiYXEzESgd1E0lNauoq07IEMehaJ6FI8+fQb2eiIr0uJvy/W+rHoGiehjph4WdSO8DafRs56xxUFPBGKrXifmtfa7vBAFUbotpqtlwgRev/qgz+UbaHpBvKNwSzP0s1Am2okCqlp8AJdz3alIvPgyqFNk2NjYoSgCV5+7r4YmYnjtztAQbzo3h5He7Q+ZEJyS8Y8/bH492LgspY3dYJN0yChkyevzri3/XjKpinGRXo1QPhS49Xeutu2IG6QmGnGwt263U6x+t5RRdJoCcIyJTuu29sL+Du7nBFKYlEBl1y9d3cDNrgBOuIl54kXn/AMIiWOjK1KOo3MNOKtEE6qtK0ShDzRrVm2gG66/sgua0jAS9fZjFN23hds3j5v8ApjW+CSdyrmMs29x28MZziPNvGZaNlW0EUJQQqqiISNqS3ZqJdmzWL5pRJVRrhhmLuAI+bmtujJvTC+FS4i3qYcazKa5iPZ8lrcz8UXGdKG+5MYxNMi05ZbXN+Lo57WhlqbWZaxAQQuJekrlsXNs9rh3Izml5R6ammyvCwW7bhW620y6otrpBgPbTIq6qbPZ125YpO6SK7Kg+UtxerBFd2V5NAM+kmAz4fQ/2YcnyvJ+ZGi0Y474M1mbPUqZyXE2y+ruwAKfLk70C0X2T8xzqgrKvciKnazrLLSlM5WrQd4hpFBZ15y14OSuJq0Na7Vh/WgGUq+Z6OOx381abBzJwQTElqDg5rK159d3iui2LoEiUXWnOnMqRMSVKj/hTUwYPcnLzDOynt0QNBy+hv/bkeJ/f/Og1X3ohRkBJCColr2f+0VGaTRzLq4sxN7ewy0mcdqCrktL4EkwEucxhi+QA6tpDym3mty+RCFhW33AbycmjuLrC+4yuqYlu9qHusm+DfKDyd2dsz3tsIoroqh0hyctwNthjHFmcwjKXbNtXsSUatAjwb9rb6KIW5NxroiBuvOopm/idtxefHZqRcmsLHJrk0ybcB2SAAmA1SjdjZWMM8q5kbd9s8uADr8o2Tghig6TLwvFtcqYFkDe/og+zo7D2XjDV7SiN9XnRI1o2VAl5K8teZwryioyUlJzJo04DDh58m4HlufOgxozRz7RhNHU3eXDby77Jnte6XxoCcbbpeYhzbSpFBmaXB5ELixJnOaWs/pb/AJUBalVCXEZbEK4EJy22/Lf49na3YnKxU6Y6progLrig2NFUlK5w6XnxfZbHcGHKXPr5uqvNHOY5ukBJaLZxHTMTcI3CLMXvxalJZqVMjBk9ncXPzxNeldfVzUWkOQtfV6YTMz1lKgSFQp0z3NvHxeTtRTnpJqfbAHJgxVtSVsqJluQbtW958NvSkRka7v8AjCCmTmZJyVeJl5RLUBhae0JXW6tofKioQ5E1rB/SirY3Wm3tfw5lXajPkWUY64ucoi2f4wQ0ON02n7M/6oHFzRNKPnLuYja0Kz4rrY1PQjq3aGLGc1tT+O7td6AM0ssb35uKiySj3Lt+zMPkXQMKamnao466XEN52eZEo6MnC5pZ7nt2IzwrN400LotutOC7hEnJBteX7nm78QPi+64y5aeMzXldnrHCS/KPJDluhjEhPMmFyiI8Jn9SDKMGuzQlRNaCSKsc5wqbtqJiYoNalyxcZ1AEqrYAbI9vKVvcEYtKKf8AiJ1FUWioqLz81FjlE4V86C9A1+WA0Kygn3Uzd+4bvKEwgddONIfO2NoAdg5bQ2PswdIarUUovNrW6sVnpdx1swy/HbGuR/5UJdZYC5dsSasETC7lW/1jJ75DviUTTUrJvs48vOywWJybVuDMXfrPx3IrPy70ut7vROEWGNLthSAvNLvxCTssSczgn2EAR/02+WEa3MompB05bwq9sRr0Vy4hQ11jDFCE0JaZxotQt9+ELhDrvUAr3rrriHvfUh+aimLuS9L9YfZKLEpMfnyJUFRE8QiIrb9Ver8Zi246SIKXgVQ1fO+rErUm9MKlgbdM2sQ2x2zHLaO1dZZF0tBTwD7UXCF/1+L14rKvKz5sFXn1UX30+Hagg7PjMuNJZfz7dloll2N3zt+ADrTjJk262oGK5hJFuhiGorUdUY2um6YFH2lWaN7DJoLffzardeYt2Ira8y1qtNSqtfnZoqhNvAmQ/rD9n5kTtzzwleOHeOsCsQbfq3eRE77W7H1StDn5VVw/Lu9aHuiy6Vsvf0adIW9TtZbYiGYMrEwgIq8patp29gLrbuDbz7cMm3GSILAdS0c+Kua/ycoiPFvwi/Qy5T13KxCYgWzl2ebPriC14SuooX7Pa1dUSKq0U8OqVpcS5ea7Uvdhzbh1G5LrF2RSnzx2Mu9uRqImOkMRMTPOdrjd94C4mbFHq7B3R6ZonoY80EwJ0EEVTlKpVVWmotVSj0vRPQxoz/ruCtOgJTyKS0TwRnr/AFs1AZDYXYAz105udfeugzpxtDnw1bMs1f3ScmvnRQFoRTaIu8qxnJEOGm8ojr7xfZuhyi1bzFz6iIU72oN6J1YBFUkcTWg2oQGKZU5q5s3Pmiu7OMMgd4gpiGTbEiUV6l2S8rJGV5rA4YU5ESSibQrd82IdJkASZkVKP8myIgmUtobzuy5Yz7k9MTBCIXalWiBWpKXGo7vZi9MNPTAdGl5Ntb6ZCA/NzDFqpizrEgBc8MWLTsu6B4dhX9lLvVhLJzGrki9WNsqkGE0gVqI2CDzVJVu9GUYhb0Y8VLiANXju9WL7Ojmg6Qlc1eOz1Ym7FqIkOdcMyAiNalZ18N1tLeGJ5dtwzOwCzL4vfgkEu2F1AHZVEoOzq8ZbUSyyuCy0NhXCCbVG4k5m1RKTdEsRwQK02lw7trsZYkGVYJ1TRzGEq5W7/EOrKN2XZ7cEar4g/jm7q14orkAAJllTXfYqra4RKPUPthbkZjJpVcYFqWOiJeKofVl5QSpxFwwcRAHqEcxbObr86A8yvJO6kQcG9NSePq3rrYIgSWilalai+d47coxlVpVRaZv8Y7VF1+/StKLEFU4kqn41wlVKJ/msYuYa5LKPFVLTX4P/ADEnhB1TWPxRTTWlff1a4a84LLavEp2t8MaiZZmIWyeQlqbQKtLds6c93NsxJ4UtqZBRO8mqBbTqPK6iCSYTli1JKrcglX0xMigqUqirXqWLdC2k2vCPnx0pk9WptNXbKKSINfg97mhKSaku8fVmhukqFnHeVekEdW63/VDbzKt7rh+Ujf1YoOtkWEYYnJuidt+18Id3YG+Fe4TmGqIOXE1lrtFbSSwfWgUtckBItBuqnbLn7VxRE0+loaukffDyvCH/AMHwR0CG1D3a7WzsrbvfBEbLaGArwuPqlF4nXR5+6sBbVEXaJe6K2/1eVDqIiZU/inP/ABiBGgu1oly/DX44lWnVT49cRTFp+EpSOoSf/XVDV16kX4KqtawkRU6/SnPAP/gsNVVpu+ekOVObq+FYhqK8wodF1qiJRfLL+uEAbpFStb5rb13vegIdFEdUasm0Ol6Bbwin1/sxTWUlHxDJh6tw43jlERUsZYzM2zyMm6LmGPRN4rmv2u8A/wCpF7QrYnPN4iJa2hHaQoSKtLR1F2jQoJozJMBM2Obcv4O5iEdtTdE7Mg3bLe7vw+Tl1bVSusu2svKfO2B7ueNbk2ioybLTqzAti44Z3GLuzd+r7Q9wwgmU2hqQgJu5Fvru8IKh5s3FA4Xe0tK+KOPG9c240COgDqE9hGgXNZclm15OeOdy1UHtGYsr4QYOm3t85W7WTLm7MRNq7hjVUB21erZ/0/PhOTEsmw2+HkLFAZqYxq4aYNNQ25i99bo2ytzM8cuDGKHhBOuWZUQdlO1vbwDEt4Hs1zVpq9C8JQJdZcmHxdcVcnRtDsj5uUiiyQEajeq5jCtq0Ul8a2+bbElYmVtU601++i1SOdf/AH1xIlI4tIlLaMyMkSiCXOiXImoS207pQDnNHkJ3MpXkxcId3MmezitKCrjlhFyLjvJ7qr48nZylujnOHiqmOcLCrqS6pDq61HeijMSjOPMMS+668213bz+rG0XQGDJTEuxY844d4OuoomOsNXue5tRQl5UPZOWdFBTlRPtZG89/auzBbBxybmxVdQjcq4ZEnvxOLtXDRyz9gHpNHtHSDQNETJOzLl1KdHT3Qc2yFpjvxab/ACplMLl23GnabIDiBAHTc09MvNg4ex5vNA8QA7BFsD1Z7itc/hux18TnljOM/pS6TnknJxyYZQ0aUAFEOlUsT/zFZGiMEc1a1t59dffTdjsw0LZ5buYeSMVy5OOIRmHRXJXyU/F0VEpMmA3dVdoc3x8MRouv/OlaxaWcbMLHW1vrtBkIu/dlIYpUWvN44kwiYUqqUWhVSnw7tOGLTgzFLHQQtWpXRW5LvEcVMIxS5aInw7O9u7MWuU1coTnlLEaTNLKComOLa2JcmYgV8xZtrmtwy8++KbzT7arVCbJUK9Oa27qRB7O7DnyR4WwaEQtMj596JpltwzRx81AaZ3tvlMPKGXiLYiNK6iCPN2V6Tu9RcPnR6TonoY8xbW51vVvp6hR6donoY2wp6VcfCc5IRIfBmfF7pNQOJ4yTPLiJ8VyWxJp+YBqfRD/4Rm0qfrZrzYE3oYEd4Wb3KBveaXmxzaV3lfdxeXsbbW0xCGsM4zbRkV1oKA7xWXl5P1wioJywo63iZD3bcv4HaiSWVnY8Jdsrs9GEASJWpdo8qZAyD+M3fiFiaBGW61UyTcG7aMrfmx11WW2+Tcl9ofbLro4mkJXiu1bqf6YnKlNBy9xxRQ0XKlt1uzs7OzFhBCutEuVKpcVy/O3vIiqEwBTFABCSYbz8QkC5drZuHhzxYU2kprFO6iEXzboTPosc01EpqSElE5/HqSsJFSnPr/HVEbwCTesTymOyu/X7N8SCUtPF/jDkVaa/Fz054q45YtiNWiSKY4h2lbW2naKLAFci6l/gh+i7NCYoibP6tfV1onNETrIugQlza+riS31Ylrqp4+uO3IicX8Naxm66LSjMS7YS7pbS4aohEuzdlH5yxdlcM5ZDrbYzi9W5thm4i8vgiw22T0vN4SKh4SgK015wLYQspFA2YJZSeJuljL1nVlvwxz5h2Sc3RjSJ1m2hXaU9e4ClFi5EQbkopVy6vFd6sClnGwecz5LG8O358VzfJ99swbLkyyWjbfkIe1yl28O5Dau6htHArz/ANF+Pu9qHuWGBDukKj+LsvnQGZbm7gWgoQCYFcu6S3Dr7PZC+CAgXtiovcRfjW7NEIk1pplLukdzZue275o+UN8WVQrciCGvvQ6q+iurmhleZVSvv88RTU50rUokuLxfFT8FEVSI0GhbFuVO2Z70Ri8SEgGVpKuQEQ1c7VV2bdcVFjWq/x86IzaQyxFUkyqGpddCUSJK7XUkO1r1Lz89dULX4/eoq/wCUTmpjcs17W3noVm/m2uK3MUQyiq2JNPXC8Dh5N7Mvm7V8FpEL3VVdVrZqhV1Vyj/nFTSRBJo07W9sjmLhE0vuecv80fmRUPRVTn8etKx1C9KdSwITSKmVGmbi3ar9mLjYmdFdcW5dStDkbH4bcxw2lpjdQdoudaW85fjzIjRxCtEVtcO4gGz2sNsz3su58+OG0AuNfCeVOyH2ocTYGqLtWiv9ezu3QiIoubdS0itUrypxfZyj3YctR/FIclE5kRKpVURKVhtaLrUfgJaRKUnENQSlBtqmpM/FVd3sxTZlxsaq4uypWoto5sxJm9UYsuGAdK4jQa0vopbSFbs7xbIQGdfN4xw6MAyll115l9XNFZmaG0wx6h5uH346OYlsS5bVJURU5hzEubhFFLyYAreBJyzt3OmvN9m2JX3X7Mz77gkSZRL8d2Im/wDIXvHXr6ve+1Dh95C81YEpIuB0gNAW9jTrd/mXFm7MLD/Xyv8A8l/+TF5l/kIrNoJmBESWUzEuUrupO0MStOg7lQs+vfD/ABuEYCK2zd00p5r8PQGvdw8mTMv+tBP7CTs0LLth0QLKmV4FadcuyRDs8MRHpBjLaa7Ybne7UUFbZGlXj/8Aif8A+xROwwLxFgzF5iBFgGzhGW9yebPFnd6IupOMOENpIRdrJ+O7EwiqLVbiIfeXJ5HD2igQ4qIlaJZStUTMPv8AaiyxNusU1Y7NPHuH862Mxn6rEiVfxWGqtPg/wiBt5khUmjc51vbe6Rr6uEPnhE6EixvlPRbSNPiwWOadEB/Y+vF5ubE2Dce9uZJ5tu/owzZ/xwQKfJQBXEbxLLV9PPFFyZQHm5uWPPmtB1rNnTO3nyuxxzx3ZOuHKLDpsSdmTRFRbQU+dVrahEVN4oYkrMtmIm2QnYDoHq2D2D2rYnEkfnJp11bBJt0jLgvt2O7uQ6YdM3go+rjYNN4XuhNiEehzr5o0CZccGXfmQaByvKmnJ+eOa6HTMqci5hX3225xG0C1erbvDE4cpqIepOpO9zlaPk37fAcOmZpTYCXcMZgQc5JwT5ZjsOZbXW92PR+C/ERpasb47mXcz7m9jV07jkoGYGOcNfNzQxF1WFVxKZapnFPe4u7BeWZGy1jlzO24722hAt8A4/XiKccclVAHh2rth9hzrt3Bj16uP4PU37dTZ7Hn3a2P+nuURQgFSrc3xVsIfO2+7niVlpky6VW2r2wyN39LsZPxZD6uzFCYlydHUPPvfN+bEyPlLnZNSNLqYYjRvN7piZhxGvPvj5+eO3Pxu2K/NaEVgLx5bVtavU+zAtGCVEvcVRuHqS3L9mNrIFKvBisOOP8A7w4brrOrt7ER6Qk5c7Ctw3DLbAU7I8p/Tn2oy0xszg3M2N2HijmpS7IfD6sbzRPQxj9JSTstg4lv6QOyv6t2NhonoYozf5Tt36Qb5dhr8za6b9rMRmsBr/i5X+9/kwd/K5f9otfubXVVOnmIzCfjVEpFtAb/AOMl/k3f5McMUBK4zboklaghog+8qGIxXVUHa6+qmuIFInCpr54ztieh16JgdTE6IDuVNxIvOOC3aIgNxIvVs/aiFsW5dKmtT9PwIkPBtycc5NLAASxHj2G2/wAbFsZnvSvkjYYemFvDo2s5mexkz57fmZO5E7k0sxOq+0Kt4hjkHNURS0t0bru1ERPmYBJsDa2K7vt5e6veTsbkXGJbCNlcRG+MeO67ybR4Y6KIii0yjRPERIi/xQbvXiQUXa1+r/VFYngErW6mXjFMvrerDxM1JbtXNREK6q+JLRG2ObfVSfv8PFkUuuBvt3AYYp+bBAH2sUGBNFvIQG7YG7Z5QstvnxRniJh8SacPwhsM/Yv3M13KW7fBsQPInnwTFdLD7ykX2Qis7mmTWpjwLmtzeru9qKzjrTZqirntuXny6x19nLmgALpASWOuNlTaHa+rFhScIb/Ci8v/AAjK7mwln22QRqpETlrvIHdkMPtZT/AQD0sDc5Mti24mZNqpukVqd60S4LduAqk44tnhB9X42oTSMkSg2R3a8xQQYCSZY1uJdzdKPoALdqJm2RFyY56VEwtplUwyp3bggYE3MSntp202dsfMi63OLMtvP2hLONo3wC09YB5LLh5R3cirC2gKial/iqakiRE1ePx6kSKstMi+CnryrnGuzEqrzWXH6vx/ZjNTE1LXKrPTn8SJzVSlV8UduEd8UVequv4ojVu9M5L16hX0Kd2z3bIaDCiRa8nV+N3u54qLGrX15S6+JCt80s0VDQQfZLm5F5Ep8LGpM3wxMoU1Kq/wWvotilpMLGWcgcsj+ctsQ/N8+z+rOy3jhigkK4mxm1V5tcI1Fgb3SbDvOt+oBRl2niEcNtXHVp79nZ7ojCwbixHVQuzXLBN7Uy2mZRutFqutK2rvWw+aelZ8W8U2sMCLLi2efye7GbRxumptOf8ACUiu4bfiQdf42olpuH1KRlml5QLrwswTXZ38TL82IJWeAx5VwRzFnucw7S/syK7zMkAlMaiW1/BIlJ/OAGG1S7iH8dqNDQTJ4YNPXiYFiIlhoQryfWu1dDG5vEHEw1Hs622g7F58p8yB0kjbukJZgg5LFTEuzDb5USSbYNPzLbqXEw5QFWqqKVIdSbuWkFFBQyHm84cv8E2vOMIYsuVEVDLE7dlvq+rZFGXmnTnHAco21zZ6Zc+ThKCJvJiGAUMQ2nqoLRXJls5T6+SCrktKtTKqDyAfJmIiQoQiZ22up2hHYjLzDS4vg9gNcoWJan42o1Mo9rEkpQkqhIVULeGkU9MSqYqTArkeHzbEu+cPz4kzMQmUAjopqPUu6Y8Wrm8ofniMcArkIOsFp3h2hXyhzQ1pxTcMK1AQ9ZctIbeoF+zyKvZraNe65TyD7MZpnyRvt2kjnut137TLi+viB34nbJaUVFrq2kptbK5h2e1FkUbNp1t1OkEVA/cngXI52hIVNs+wd8VUYmBHFVs7BtHEopBzZaHskNu95G3kjrjluQ4s3PzpEYkoL7y86RPtJVOvxxGQ+9FikWEVDSi9afHEKiTRCYXCYrcBQ1tVFUT39VYt0uT/ADiTyI5rSkk62cwAiDzf6UzT/wDIb73t3bgZXAItfJ18y71hixL3hNy+H0uKAd4d/vcnEc8434VMA1asviEghTLlXx7W1HPLFoiUxIXAO200JCp1fBvDx8eaDFQIMZowUNWI2NeR872q75LYgCDlqj7kafJl9mLClYQm2pNnrzAvdiWowjeLzryftncwnfKuLct34asukxLriO7A3gIj0Orb4vqRDKC9ON1l6tnlvOzI3tbH7X3Pcgk9aLD5hldwbDy2/qo55+N6tHw/sZSTcZx5nGLISKHz4vg9IthZeHm7WuBEug3G862TjNxiVh2Ztzi2Yqe96Y9cxby9BCYbQrnWHFca4a7HnbvaioJKK3CvXDW3DaK8F/H2YuILb9xthnpyjKL89mJHdJ739UUw7jEGohc1XiK5C1ZTC3eieTl78dcQBeC0G2nQvxjPczlbliNlJfFz+5u5XN0qZLD3re5FAnCMsxrdqzRpBTCcJ8G66xJGibbXC6+yNu1vRpJdpt4DYcZY5NRHOCjm80hu/WCdhxlZZx4pkDdHFN3jyX+XcI5h8iNRL6WkkFwuUZuEBOxPcvm+bZFArSEu5ouYbOXcsVwFMRAjy6yHezW3QYk9OI6IJOjhllUHkRMI0rbeYXFhFdvDATTc4zNvy+Fcgtt2X3XlmMuEvrxRJoURLnUqfNqX4lWMZd10x0s87297bs3/AL2s0+aG3L2rl8IZ+imOvu+ZBvRPQxgHXpo/BweMXAvDPv5AOzzY3+iehi4s54ZYd3L/ADQ6X0GxPupMOOPg4DOFa3h2W3mfuZFdc5xxkXdBuNlkM1T30Cv0cenLzRErYeJPijTDy4tCPV3vRDh0O+Gyqp5IfZj07CDh9ELCDh9EQeYewr2ra+JPsxOujp3CwcQsKt1ogA+fvH2OCPSMIOH0QsIOH0Q5DzVrRc0z0Zf3bZf9OJkk5/3T+5aj0TCDh9ELCDh9EFedLJTxe2rzp7W1/L2YcMppAVQheLn9za/lx6HhBw+iFhBw+iA8zPRU0akpmSkS5iombWRV2dqGpod+lLi+JPsx6dhBw+iFhBw+iCPMPYZ+u0XxJ9mEuhX+IviSPT8IOH0QsIOH0QHl6aFeHrLr8X2Ye3od9tagqpq15Q+sMem4QcPohYQcPogPM10VMlzmq++oBX1Y4OiJgUPMvKJadwAX1Y9Nwg4fRCwg4fRCvyHnYSk83vB0WD+jS2x8jDvBtI+7L8k1/Lj0LCDh9ELCDh9EFeeeC6Q91/uWP5cLwTSHuv8AdNfy49Dwg4fRCwg4fRDbBc+rz3wfSNem96issU+LDhkxJT0zTHdU7Qw+jbDJ5DYx6LhBw+iFhBw+iFR6EzPm80HRc0CZTLm4AhqaImESl5fEn2fej03CDh9ELCDh9EEeZexExxF8QfZji6GfJOdfNCPTsIOH0QsIOH0QqB5gOhXhXUpfEn2YQ6GfErt7zvqx6fhBw+iFhBw+iA82DRs2Dgug4QmHYD7MPWRnsZx/EXFd6Tk2/wCXHo2EHD6IWEHD6IDzcdHzguK9iLiWEF2G3sn/AGdsL2OnKByhWt7A2BZ5kekYQcPohYQcPogrz5JfSPu39yx/Lhz7Ok5htGnnrwr7iwP/AEbo3+EHD6IWEHD6IV+Q80HRc0CKglzqq7DfP8nCXRc1VVvXMKiuRveS3Xl4fqx6XhBw+iFhBw+iG1HmS6JmSpnLzQ+zEo6OnbMPGcw9eTc8zZj0jCDh9ELCDh9EB5qOjJseZwvNBfqx32Nm1318xv8Alx6ThBw+iFhBw+iFQPNfYya4/mQ9JCd90X5Nv+XHo+EHD6IWEHD6IDzoJKebusdW40Ub8Nq+3sHh3Bd2Yr+xEwu8vmh9mPTcIOH0QsIOH0QqPQeZJoiYoQ3LQk4Q1/Nh6aMm6W3lzcAR6VhBw+iFhBw+iA8/YZ0nLhY0+ojdf0TRZvKbjrrOknbr3q3DbqZY2aiXOLcb/CDh9ELCDh9EZ4f6GnmzejZtsCbA8hKqkOG2XrNxD7Cvdr4kj0/CDh9ELCDh9EbZeX+wr3a9EOHQz4qiiZoqdaIn2Y9Owg4fRCwg4fRAeZOaImHCuP1A/F3aiP2Dd7Xoj1HCDh9ELCDh9EB5mOiZkRsuWzuAX+nyYamhn0rrXWnWAfWHa7UenYQcPohYQcPogPMU0O+KLrXX2Q+sOUu1D00XNIm2S694QLX5Qx6XhBw+iFhBw+iI1jnlj4d+P6HnLWi5i4LzIhArubvdm6N1o9lWm4uYQcPoiVKQ5JllOU853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s://goss1.vcg.com/creative/vcg/800/version23/VCG41131373918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6" descr="https://goss1.vcg.com/creative/vcg/800/version23/VCG41131373918.jp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8" descr="https://goss1.vcg.com/creative/vcg/800/version23/VCG41131373918.jp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10" descr="https://goss1.vcg.com/creative/vcg/800/version23/VCG41131373918.jp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7" name="Picture 13" descr="http://image.thepaper.cn/wap/image/5/493/173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65" y="658778"/>
            <a:ext cx="3870252" cy="427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25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64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436" name="Text Box 4"/>
          <p:cNvSpPr txBox="1">
            <a:spLocks noChangeArrowheads="1"/>
          </p:cNvSpPr>
          <p:nvPr/>
        </p:nvSpPr>
        <p:spPr bwMode="auto">
          <a:xfrm>
            <a:off x="2435749" y="5745302"/>
            <a:ext cx="48013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zh-CN" sz="4000" b="1" dirty="0" smtClean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墨西哥城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的</a:t>
            </a:r>
            <a:r>
              <a:rPr kumimoji="1" lang="zh-CN" altLang="en-US" sz="4000" b="1" dirty="0" smtClean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地基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沉降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" name="AutoShape 2" descr="data:image/jpeg;base64,/9j/4AAQSkZJRgABAQAAAQABAAD/2wBDABERERMTExMTExMTExMTExMTExMTExMTExMTExMTExMTExMTExMTExMTExMTExMTExMTExMTExMTExMTExMTExP/wQARCAEsAe8DACIAAREAAhEA/8QAvAAAAQUBAQAAAAAAAAAAAAAABQACAwQGAQcBAQEBAQEBAAAAAAAAAAAAAAABAgMEBRAAAQIEAgUGBg0JBQcEAgMBAgEDAAQREhMiBSEyQlIjMTNBYnIUUYKSobIVQ1NhcZGTorPC0tTwBiQ0Y3N0gdPig6OxwfIlRFSEw9HhNWSU8aS0dcTj8xEBAAIBAgMHAgQFBAMAAAAAAAERAgMSEyExFCIyQVFSskJTBGFygiMzcYGiQ2KS8LHC0v/aAAwDAAABEQIRAD8AM6U0pMykyjLKMWYAOcq2ZFcbjo+7CO5wQO9n57hlPkXfvMd08n58P7oz9LMQGpHv0tLTy08JnDm82epnGcxEjHs/PcMr8i795hez89wyvyLv3mA9IVI6cDS9jHEz9Rj2fnuGV+Rd+8wvZ+f4ZX5F37zAekKkWNDR9hxc/UY9n57hlfkXfvML2fnuGV+Rd+8wHpCi8DR9hxc/UY9n5/hlfkXfvML2fn+GV+Rd+8wHpCpDgaPsTi5+ox7Pz3DK/Iu/eYXs/PcMr8i795gPSFSHZ9H2HFz9Rj2fnuGV+Rd+8wvZ+e4ZX5F37zAikKkXgaPsOLn6jHs/PcMr8i795hez89wyvyLv3mA9IVIdn0fYcXMY9np7hlfkXfvML2enuGV+Rd+8wIhUidn0vtnFz9Rj2envFK/Iu/eYXs9PcMr8i795gRCh2fR9nzOLn6i/s9PeKV+Rd+8wvZ6e8Ur8i795gRCh2fR9hxc/UX9np7xSvyLv3mF7Oz3ilfkXfvMCYUOz6XsOLn6i3s7PeKV+Rd+8x32dnvFK/Iu/eYEQqQ7Po+z5pxc/UX9nZ7xSvyLv3mF7Oz3ilfkXfvMCI7SL2fS9hxc/UV9np7hlfkXfvML2envFK/Iu/eYE0jlIdn0ft/M4ufqL+z094pX5F37zC9np7xSvyLv3mBFI7SL2fR+38zi5+ot7PT3ilfkXfvML2envFK/Iu/eYEUhUh2fR+38zi5+ov7PT3ilfkXfvML2envFK/Iu/eYEQovZ9H7fzOLn6i/s9PeKV+Rd+8wvZ6e8Ur8i795gRSFDs+j9v5nFz94v7PT3ilfkXfvML2envFK/Iu/eYEQqQ7No/b+ZxdT3i/s9PeKV+Rd+8wvZ2e8Ur8i795gTSFDs+j9v5pxdT3i3s7PeKV+Rd+8x32dnuGV+Rd+8wIjsOz6P2/mvFz94t7Oz3ilfkXfvML2dnuGV+Rd+8wJpCpDs+j9v5pxdT3i3s7PcMr8i795hezs94pX5F37zAmkKkOz6P2/mvF1PeLezs94pX5F37zC9nZ7hlfkXfvMCaQqQ7Po/b+acXU94t7Oz3ilfkXfvML2dnvFK/Iu/eYEwodn0ft/M4up7xb2dnvFK/Iu/eYXs7PeKV+Rd+8wJpCpDs+j9v5rxdT3i3s7PeKV+Rd+8wvZ2e8Ur8i795gTSFSHZ9H7fzOLqe8W9nZ7xSvyLv3mF7Oz3ilfkXfvMCaQqQ7Po/bOLqC3s7PcMr8i795hezs94pX5F37zAmkKHZ9H7fzOLqe8cltNzRzMu08kthuuEB2tuCVMJ0/drdzgjTgaEkeaPkrasGnU+Pzm3Rjc6McU2k+CPnficMcNSsY5bHq0spywuQTTv6cP7q19LMQHgzpz9OT91Z+lmIEUj1aM/w8Hn1PHJtIVIdHaR2tgyFSH0hQiUMpCpD6QqRbDKQqQ+FFsMpCpD6QqQsMpHaQ6kKkW0s2FSHUhUhYbCh0KkWw2Ox2kdhZZsKkOpCpAcpCh1I5SA5SFDoUENpHY7CpFDYVIdSFSAbSFDqQqQQ2FSHUhUi2G0hUh1IVIWG0hUh9IVIWGUhUh9IVIWG0hQ6kKkLSzaQqQ+kKkWwykKkPpCpCyzaQqQ6kKkLLNpCpDqQqQss2kKkPpCpEssyFSHUhUi2G0jlIfSFSFlm0hUh1IVIllm0hUh1IVILajObLP7cfo3Y22iehSMXOplZ/eB+jdjaaJ6FI+Z+L/m/swe3Q8AVpz9OT91Z+lmIEwY01+nJ+6s/SzECaR20f5eDjqeOTaR2O0jtI62wbSFSHUhUixKG0hUh1IVIsSG0hUh1IVIWhsKH0hUi2GUhUh9IVIWG0hUh1IVIWGxykSUhUi2iOkdpD6QoWGUhUh8KkLDYUdVUSlVRKrRKrSq+KO6vGmtaJVedfFC0NhUh9I5SKOUhUh1IVIWG0hUh9IVIWGUjtIfSFSFlGUhUh9IVIWUZCpD6QqRbKMpCpD6QqQKNpCpDqQqRSjaQqQ6kdpC0oykKkPpCpC1oykKkPpCpCyjKQqQ+kKkLKMpHaQ6kKkLSjaQqQ6kKkLKNpCpD6QqRLWjKQqQ+kKkSyjKQqQ+kKkLKMpCpD6QqQsoOnthn94D6N2NlonoUjHaQTIz+8B9G7Gx0T0KR838V/M/Zg9uh4A3TP6b/AMsz9LMQMpBTTH6b/wAsz9LMQNpHfSn+Hg46njk2kKkOhR1iWKNpCpDoVIWUbCh0KKlG0hUh0dpCyjKR2kOpCpFso2kKkOpCpCJJg2kKkOpCpFtKNhQ6kdpCyjKQofSFSFlG0hUh9IVIWIHWkdAmy5i/GrtCWaBciBPOm645fgmVg/tbuU8qCrzotIlVoR3IC03hS4VXs3QGkprCcdR0wEStW23MRcadm2OGeWPEw/zdcIy2Z0OUjtIfSFSO8S5GUhUiSkKkWykdI7SH0jtIllGUhQ+kKkIkpHSFSJKRykW0MpCpD6R2kW4EdIVIkpHaQsR0hUiSkKkLDKQqRJSO0ibikdIVIfSO0hYipCpElIVIWI6QqRJSO0hZSOkKkSUhUhuKR0hUiSkKkLWjKRykSUhUiWI6QqRJSFSFiOkKkPpCpCwykcpElIVIWUF6RTIz+8h9G7Gv0T0KRk9JJybP7yH0b8avRPQpHg/Ezep+x69HwKGmP03/AJZn6WYgbSCml/03/lmfpZiB1I6aWXcc8478m0hUh1I7SOm5mjaQqRODSnSlERVpVV5osjKtpW8605kTVWM5auOPWWo08p5wH0hUi44wKCqiutNdF16orUi46kZRcM5YTE1JlIVIkpCpGtyUZSFSH0hQ3FGUjtIfSFSG5KMpCpD4UXcUZSO0h1I7SG4oykKkPhUi7ijaQqQ6kQOTLDVb3BuHnHWVPht2fKsjM5RHWSMZnoHaUTKznQMxfU862M8Y59ZpWraJRNSpTMtezRBgzOTBPOZOiAN8Pe29ovI37IHkwda5ULUXOu8px4tTOJzevTxmMItr6QqRTlZtCbBHnBxqLetFtLWVqp5O324vJRUqi1ReZUWqR7MdTHKOUvLlhMTzhykKkOpHaRtkykKkPpCpF3FGUhUh9I7SG4pHSFSJKQqQ3JSOkdpD6R2kNxtR0jtIfSHIKktESqrzIkN0EYzKKkKkWSYMF1pWq0RRWqKsR2r8USM4nnErOMx1hHSFSH0hUhuKMpCpElIVIbikdIVIkpCpF3G2UdIVIsC0q6+r4IkRoOtV1c6pGJ1cY82o08p5qdIVIsmIbi/wWI6RYziYuEnCYmkVIVIkpHKRdyUbSOUh8KG4oykKkPpCpDcUZSOUiSkchZRlIVIfSFSFlBWk05Nj95D6N+NTonoYzGlOiY/eQ+jfjT6J6FI8WvN5vVpcsFPS36b/AMsz9JMQPgjpX9N/5Zn6SYgfFwmsYTKLmSpHaQo7G90pTqKqcy/FHbl8fphsdjNxZUlVfHHPxSOwosTEExblIVI7Ci7k2uUhUh0KLuNrlIUOhQ3JtNpCpDoUNxtchUjsdhuNrkcWiJVetaInWq+JIdEiilo27briS7P7XfNP2TcctbX4WFx3p+hvT0ozyqe7AQ+TxoeawAW0rOLg73zIolKmCVoN13zv5nGRRqSlAJ9pmmRoFdXtFW1qvEN2Yx44Y/LCcywFNgHHvqB5sfI7Vq5PqY4fh8foZo5UhsD3Q/8AK+9e9DvBCxxGu67r7h/jzoPOyv50wNPannfS16t8RuNJ4bLB7pjxONqNZcG/B9eAKEmWIbV6CoUO2i7Jpzol26W3weVErbT7aHY5naTOHFq29q20hzZg7EFJgRbn5M6dO29f68MnKtzEu9zA4ngz3fzG12brst3BGsdbNieF7EbE2h2A5bc50RjsPfZc7O/uRejNTnJvONUoDvKt69bTo7Wsd65Ljgvo2ZWZZzryreVy7117XH24+poa85Y958/X0sccu4vQocqU/wDEKPRvcNpsdpHaQoRkbXKQo7ChulNsOQo7Ci7jaUStFYSF4uZKRHHYkzcVKxFTa4swmqic3jSGCYa70FaqvVFalY7SOcYYxFRLpOcz5Onaq1HVXqRKJDIfT3okRbVqia/Hqje6oqGdtzcmIPYX+KR3Ui6x5udKQ9XThpEpc/8AhGYnKZ5w1MREcnKjXm9EK5NWrm96uqOavFCqni9EXklyermqgpRPFTniJSWOxyNYxEMZTM+ZsKHQo1bNGwqQ6FCynLV/8x21E6/4IkKORLmfNeUeRUTxpHNUdhQ/uf2JLetF+OO5fFDYUKvzImvJ3V4oVadX8FjkKFQXPkF6XLkWP3pvq/VvxpNE9DGa0t0LH7039G/Gl0T0MebV8b0ad7VTSv6b/wAsz9JMRQi7pZaTv/LM/SzEULkhjPJJjnJ0dhtUjtY1aU7ChQqwtadhQ1SREqqxGrw+/Eu0pNCiDHTxL/hHUeHxLFKTQojxQ8cMV8K86/FAWIUVlfTXalaJVVVUT/VEKvOKla0TqolIRckwIQoFYhV2i+NYkQ3B1oS6/GtfWjUxXmkcxGOiJGVBRV5uZIoHOI2mdRu5+u75sEdETQTDjnPlbDaRLbsS0kTejnllTWONonDRsCcLZDX5qjFlqaYxZMM+Rh7LhnvxBKyTE0DuMjjlj77fSHbZiEW7F8pWWsbYotmffO+4E49ryY8+p/EdcO6jYmgOanLUc2Gw2OHjiNJkfZB3U5lYZy2bNxnFtiSlmTvBu09VpGSnb8FxFu8MVg0ZJuJi4JLenujnj6rSt2s0ceE2quzzfhzeV39DMLLOUzmG5dFaanW/DZFy1zbcykFp7FmTigu/Iysw40Jtqvg7Ii2InbaNSHXbmtyRwdHyjDb1jVuKFh3EpFbXc70XhfAB9IzbdZR2x8MF8dtu3JZyoJmthmlpoHGUtB4LXr87ah7eEFk0NI5eQPKo+2uW+Zs2xM7ISc046bzCOnegkWI6HtYcDg/Oi8IY6bdBzwc6F13atq9Bu+dD9FF+eKAe2Yg28WQT9aNeshJ+DhKYCYJvX4V57Qhf+03OOFL6JkZd4H2ZdG3AQs2I6fV+tcLNb/rjr4WMlchUVoSUVOdFjkD9L6TCVmiZwyO4WzxBfULOLk8MhPzwiBufbNM7jg3JwJ9W6O8anK5cpw58heEiovMvxLFe0DaxAcVxFeEEVSQktwr90dq6IlFRSteZdfUnxxrHOJi0nGYXYUDsQqbSqi+JVpEavn1KSfxVIu5NotCgP4S6nWvxw4ZxwfF/GF2ULR2KATibyROkwPiX+FItpUrMKIkeHrqmrrRURf47MPuTxp8cRTo7ERPNgmsk+PXEPhjfiPUutaIvqlDdBUrcKIEmmePzkWJhISTKqF/GKh0KFCijkdhQoI5CjsKLuNrkKOwoG1yOQ6FDclORyHQou5NpsKHRyAbCh0KFlBGl+hY/em/on40uiehSM3pfoWP3tv6J+NJonoUjhqO+my/5VGYaSaICt/MmvpZqArWk3AGhJiLVc1/opbBf8rP/AFFr9ya+nmoyv45oxEzHRqYierUA+WW9twBW3rAdpLh2yHa4oa7MCKcxc6J1b2bdLZhjWm1EGwucyAA5Ww8X7S7LAZSfMyKq5yLNqib5JxiJG8e8TC1y+mW0XMurryxVHwtfb/FX4C66EMRuTriNjLhlJsLXnUNbn7k37rhEbcuUL+3D3ZsHWwyW2qd9q3bSD2bvqRN691aaB8m3uUElpkO4Mvq+ocQI3NbJPJcV2QUxMtnYbLLFRHxyWp0acO137spFdvROwZPPWBZju5RuFBD5vz4m9UjT5NqWI5iJZXKmxavPW0bsvbiVZsFRcriEq0BERLVQutFu+DciBxx2XW+4bju2uULh3spDDptnIM1f0oWhhYftXc2M0XfJtjzSvE4bI4KHiVTZTNaOLf8ANC7uRSFZu5AFHLi2ckOud6Vt9towAeSz4jl6dJs2/PhA7NutkwDwYZDsE2vlcW9/RF3ptTJOWjsEpUG7V7xfNKJgm1ISWxcvEqfWh7DDCNBjLME9RcTCO1ves2uzxBtxM0rbBoQNCVqW2mSkJau0JZhLNsRniNcNA1Mg6eDYWIVAbtRMx1Hh4o6rb7bQ3uKZuLTJTduusUR2eNzY4MlkFJeUbvem3aMt0zlsg2HuTZ5SuLft2A7ccdQzoYjyszyUsz7gz7qf0h5LI5aurn9Denhh9YK00Zo46dmG3duJmIU860fPPtwf0My4DhuOU5RsN3ZzjkD9XCmZZLJWUb9sMer2trpXfxkgsy2gOdf49r8mOLrlsZp7Sb0jc2wDPKPTDpk7eXttlnnduDYzqlI+G2Dd4O8dlVtuGwOHZuzdyMlpcrXk1e7/AP7EHpRULQy8+w+GVO2Eet5j9DaWennnGnhZyjeOEJjsLm2iL6kU5rTj8vMKwDbOGzt3oeIdm3vCIZdjJtxJoWVWWmQcq3hTDDxtmK++G3ALSpIM7M6rv/8AnAa3SukHJIQJoAI3sMBxK2DtnXLaXZ2whujdIOTsq6bohe2Xtezb5xeucUvyk6KWWibQfROxHoAk8CmtW/EHJPTz8xONNE2yLTpiAjnxeVMQDPdbcO/yVkT6W0s9IvK2yDO6Rk7ee23ud3Bz54A6PaUJySuH26X6ly8o1t7t0W/yiX86XLdlZ6l3Qf4fhijQeyBlo4JywMS08tVw76OgPatuzccV9DaXfnXTaeFnoydEmkMLdniIvXCK6L/sJvV7p/14o/kwv54eX/dXPpGogp/lIn+0S/ZNwLYfNsdkDsLZNPODKQ5fngcGdPp/tIv2LcP0Vo8fCg8JHpG8ZkNXz4L5rco0JtC7hExi1w8+XubV2bcuC+yInCC8gIjvFdml/wBa3yoLAwNz+j7rD6eTdpl57+9yXZ3IrTMmsyKKBozOS5WGN9nz8uUtpkt/Yjn4W+6oNEDh2K4qIKqhqqgKpquGxCIbudIJlo+xnEJVuJRUbqbNRxezlbvLKcV0ELQU3ZgHcidVpWraerDyFblMXdjyr4tuaSN1lWSljEbVHqc20IN4bbh2rdsAjtutx/oCtkrpqjaGe11Lsj+N2LrsuA4Ygpm64BLYI37CCRIiCObLffwROw022ANm4HRpmmJg2v8AS5EYPmyRcm05apgLgt+/thZ9UImWpTWxVNogptVrwHwXlrIRutHlMu5HRdsu5VvLuHTxjxbPzIsOvsvEPJOtWpZybZgOx13W7Ozx2diE03KhiaxNXannpl1Fkz3ROKvDWHkcwRcFMpNNdW1ajt3r/i2KzZIhgpKlm/m97KsPR6ayi28BjQcuo7bk61Ed36sRygK+yw4Z5jD3MC2Im8RESOmWtsGm8Ib9i5yzY7Vu/wBuJllXU1IrdErXWvpth5yrgEpNvqeZbhsTslxXZdyHtszGYnQaLXubVvb/ANcOIIUk5ii8nXnVbBXL8No5Y4DRlTD95VtLdrbzjDHkl7iDYPEAbQavuvC+z7cPdS4VVtKDRAsbbS4smbWHD/ri8Q2LKFhbTp9e2uUS8ocw904nxkTUqoiqqImvUqkttIpSzQ0DFVxrNnynY39WLrgywof5yhc65UDNco8wCV3ZjXEScIgxX1qtPiotfiiZsVdbvx0Da9rQvrbu/wAEMWWla/pBlqt3Helz5OUut3btyLDQo2CBiKJEZ2haHHt2bNvzO/E4hsNdBZcBcJ3ES5Pa7ftepFgFFw9lBAmGTtpxm/8A0RE4+yRC26rfJOW2ku2VmS/vcUWgJsx5JA2UHnzZVy5N0RjG5raFy7pOso4ortEBfH9baiXET8aoKNibTINU2AQdqB78s5crjbNxlfddYWU/xtXx24rnw0d6f/UNJ0R2lQa8S0rCYbmZcjPAU7gXLqykXitIssMnEcmBb5CYGxCv5FcxUyZxhOty5Rzaw0onKsp2was02ntg8/NterHW5pklWrwBq36j8WXaigrDge1O8/Ap6/s/Mhr0s5aOHb2yMwD+CXRx4+q9XZvw33s8hcHpc9mZa9MPRxitPCG/Ky/FdGaVp8RSoldfrRFbUEH4RLa7NkNpMDs1Hm2f81EovGTsuj9z/v8AzapEaJaY7dfhX0RJ4Ma1scaLm3l+qJRkGxmjcVFqFE1G4B/43ZS7O3EjaTSltkFvvOeIuEvJ78XiZufA059ndEdNMuAxLlyf6WGwR+5P/qxjQaJ6FIw846dWmlfN3lxLmPD2HeIrbo3GiehSNY5OeTI/lev+0Wv3Jr6eajPMMYtaovOmbWOWubdzRpPyrJR0mzT/AIJvnT9fMeTGcJ8yBbl2KZbjt7WocsSfQxrqtpLtXIF9x8NU/pjuCAOWuEVtPnVu8mKyTJiN1R5kpaPpVdovPjiGe3ei6kK2m6WWMVLpOWHoUwSYria0LWvPtahIfK3oiGpagE1qnPaqqSe9bDHnUNytlP4+8MSeEmACjZkK684mYkI8AZtmNxFQ55TEzMrKSiUG5+y+6wSZduy+TltglIS8qyQm48fhAqpN6rdwtwhuLLAjwlX2RbfcLk3Nszv5Pg/HcgpJsSky7y7kxZYX5wImGwg5IiL4MY12ps7UTNw3p13Dbb3TOJJpGyYVtKNWpaOTIJZbt220uzuRZFmVsQfDZgd3mzfR/Uhqyst/x07z8Wr6H4I57HfiYbGbmXQCxihE6y4QuHan+q0e1FiRVCNzIQZR67vqwSmNH6PBo3sWZdPtHbmLZ9riqwgPvhtgFBCyXcD2oNvZuPtxrJjd3hSTBDmAQkFRoWok4QItfxQyaek5Z0XHpbcBxqw+Uz3/AMv59kWWmpNl4GwmnSfEnMpnmK9suz7VZk7d0WjVjGW8xdtbw7sEHSuvy/jtRnHHaZZBjj7bujymmLuRUekc6A68HR5b8kUGvygYEhxJXlaDiOgf9UaIxZOXQBNu03BxAwW+MdsLhgLILLzGkHpXwSX9u9r2fB43EMr07pJuUNl3DR0320w7L7rNveLKJb48e5EshPDNojrQq2V5NmLpmWazvEMN8EmnDewkkrG5nDDGaO8WxbAj2SylceSLIST44mJ4KI0dswWs/wCq/u9vtxFRyQoZzd+DkmCDMIF298cuaCJZMMBstxAyhRvqPg3S34GpKaRtDDXR2ZsCO5hy4j396LIsrdyll4JttBYGYO962/BA2YfmmTbeQFMqjhgWe7BUr28MhyXbRkN+TuxJIzBzBH4Q201/Yhtd+31ogn59GzabaQHLGsypZaJEvNXMRXDtlffZcEC28d8hzPOfs+0eXhHLuXbm3GmWuLCNM7rZ6v1R/VLuhDwRBrZh5t3DAbvVugK3oosl7T11in0wCQ2faLY8qLzUoQkmG++HYdsea6PzvJiKCzCm0c1LlMIZkjUwLlf0exw2jaDLtFiN2W2WBGhYZO0sVzEcy5rA9zD1Y4+0mDMBhN3uIeey4SxQPfyl3+3APRU+uph+pnulS7cCy+220hHe8+A0TgrVsLgsuXqDgPyYeKINbDb5v1f2opzcsrtmE7hOFSw8hhvfqyK3y4qNaLn68rpFsxqOxLNjv/sd4YiqU+8kvNnMG0D+oWh2CzH17w7MWJWf8LCZcNkWnpZLsyYnV7WeVzEictGzTiurLzuDy2S9lty3IN+yzvF6sPDR00Al4RPK9kcyg223m3PaYAdLaVWYfZE5a1s3FabcJeUEuPhC3vxYnpgWXcM5cJi4EMOk2e/mLa4djbiIQmfCgu/RmlwrrwxnWsO++zD902IKy4hjOFjzHRt2XuJ/LgoLpJWz0cM2LVpYgB2+ffv2+xDdBTiNg7i13LR1ZNri4vMi5pkECTdzuU8JAFEjy859kc3lwH0Wy48MwLY6qN3a0uzXDzFlLu8EVkddfM1JxnGw7thttiZb/tJa7+8hmAB8pZqJV2eTHn9z3O7uRSWQ8EljmnquOA4XI3GINt9hxrlMTYcuHJ2IKNuS78sDsu6hiJZyI8936z9ZGcmsQPSCKABZXrv+bD9EtrMtOCSLRpURFUlqSD7/ABCSplgk+IE07XZsXLubu53u2dkJllGy5slOCwfpIxeMRNukYZTl1MelRlybfq7krbaSFd37stvZjqq26SHVbrENBFUby5twS4oe9LAYLrLr3lLa9+71YrYJZOWLk7ctA8exs3W8Y3xne68FelHnjkyeMRV6q81EA0I8u7w+rDEnCHJgklq7hZcylzXW5d7LE7DYA3kTD3+S2Qz2ZIeolRM4ntbaZtvtdrLEclEZuTOhutKmIZKhKAEXJJmWojdsxMhSLhLnb58olk+tExMtkmdhN7ZVMvF+LIqlIy5U529Z7Xm9naiiQpGWM15S0q7rp/atyw0pURy2EfPtXld5m1DTkUVzFFxva2aZS2eEYuYRictmPJXEz8/fXegBCs8qt45K8LmyPVl82J8VxtVNEEjUR1kq3CJIJWItu9RL+6MTT7joyr6s3YtmS1M+31RT0cszjTGOpplaELkQbsmfhjLScZRt/l31tMir0amOVMvDmHZi2LLtUsngRLhPo0TZMTGtttw9m/PETsq9TEbnZprPsBh2f3sc/Pww/wA7bcxbenlU37Pcv2kVEKvAxM4puzz5s5LLORLJZxbJQSlHHCEHXHDFKKRCSplEjmjFDy7reGPmxURyeA1D/Z7p1/Xs9WXdLdhLMTg/7lLH2Wpr6lo/6IIttTJeFH+dS7jJlybQrn6OLqEd5c1mIo82bK315uKM8s0Ylymi5nn9qRo80PTSzADaYTzObeZMy+DzcsEHHX3AXUKF0W8vtp5vmxyamMBEW1TSx01t2kRpLubtbMBk0nJEafnVvN04GFvnbwxZcelJkU/PWXNXuwBFBFFExE7EzAPUmW6K8yQMNG9hiVm6KAN31Yq+FmFE8KlFS33i2dnPdmiMptXhsJ2WRK8abvlQFsXGymSlsHMDQO3Wt250HJDnXWW30Zwbvzc5kitbtFtr521FJZhGnvCcVs70AHQBxvZ2B2s2Xvw43mHDcfvHlZQ5W29u4bl70UUNKug/ISj4N4QuTbduoLuimOCNBonoYzeknmvApOXbXoZhkdoCryD/AGo0uiehSO+Dkyf5WJXSbPvSTX08xGcQVo8NdptPXGNP+Va/7Qb1/wC5tfTzUZUiXxwmZumSFaCfwInNEwlqts6vGsVk19mq8664IsTZsy7jWI1aaqlqs4judLSNHN0RpswW/ULd2+bqhqc3wLExAKnmcoiJtWKqr/C6GiLevMvmrmjVpyMtXqRV1JzIsa/QmuTT3nHEp3lujPyjCk63V0WdzlL7c32Y0bLIaPZH84ZmAdMyyHs2AOra3tzYzxM2sYm1x81bbdPrbBT5+FIHyeknJiYl2VbFBebU8pnl2oTs+wYTA0JOTsLs3oQ7twnbtZYmYlTlpZrCm5HLdnw8RzjjALmyprZyZat7EutH38w3d2IjlsLZYReLDw81y8BWll3InZmGqDyl527iL2eG7LE60cWuqlUXXtZVjDYCgrjO8gQuCyBG6+OG20HK7eYi/oCyK7MwbqlhN4oe7TDjjfybLWx68aF6XbcSYvNLJhltk8yBsK/87lorNSUk0iBjKQ7vKfZjTKNlUO4bLXQS+zpBLub2XhKKLjZSbb8wzLusvYZ/nNme8zz70GGpdlsrxdvKnEn1ez9uJJsUclnx4m1oKc6kNpCkAG0ZpZwz5YCQrTJzxOFuuWW9Jx7lkFz0m0QFybnNTmTeTxwD04BDMS7zQlzOdGC29IO33u1BsFZIAqLY5ELq2j8qJk0c3pFCFAFsxKxBuLZG1BEVywP0rMqwAy7aDc4hX9m5NvvDudvbgq2jVU2Mo6tf4zRkp41Kad/VpZ17Xm5XLtvbiso5WVx8TlEaaZC9x0h97Y/aFuduHDOuMtYDBEAXERFqvPdz27tu6PfiWc5BiXl0K7Krruve3A8ncgOSXda0TX6eqOjC34a5d0z3nuQe0fNTcwOHTHaNbTO5L2k+Ec1vZKATcuBSzpprNo2yRFXVYVwkneEo0Mk2gOShgo5xADD9WbWT1Av/AFsSahYuR1EqGG4tyElnOubVdXvW5ozM3o4JBxh7aYuwZi9fdfbcvz+5+tjSvWg2rjl1rS5uIrFv3d66Ip9pJiTeQUuvZKz4sVr+8CIrJtzczITWHYUxLYmTWZjbT2s7d0fPCDfs0nuJdcM0bTwVsXxUDC4M+1Z534sgnc34xWqovVu7MY3N/wCSpLzDkwhEAK3yvulhbHd3oThzfR4bi4pe7ANtiX+bx8YZItGjZgQ3ogmi3603vrR25vJnTJXapvBm+bEGe8LU3jwwbPn/ADh1XMO7gYbD2v8AaxclnkdcwnG20XXYbanYffA9nsW78PBjRjJ7Q9fJ4nJ/jgiVvwAHcQHBv17+QI0wTwPYZXtITYC67ncA7rGzzxnvZZ4Aaul0HUV40whMSUbDy2kJD5ka5xwcM8yZ23PKvbjO6cZN7wXAEnrAMCzBlEbeItm7egqQnph02npZWXGsE3Jgankbd27w916Sy2CMs1Kj0LjWZNgFbzcG9uxktHTAtOk4RWiIFiD7oFC7Q7MUHWkZIcN+7ycK31ro1tRsZx4GgPe5ZAzd/wDo8uIxcYmRyqSbXXwIPauzbNsBcZCZaEzJ0iJq+8rrivu+jy5uyETyzDYuJYp2mu1W1zozyecYeZHPY7aeovPzbrJtsot42LlFU3Uy3qWbLuRRbnbHDAAK4lcXnQhu+1uw6abaNwr3/Hfq7nBFMpdrPyil3B3TiRTc5ZX+9q5NUdlwNdRGi5dXNj3c3eCH2kgOLr6Nzq3/AAj+XlitINfmsuPMQim1+3N3u+bEom62znqq4fMScUwQDX+z+rHNFklUVL9sAfjiGEjma3/3JS/N72SOo6FObN4QYD3qfW+ZHBRCRvNcmJjXV3s3DECRW7brE6SzL8MPsRCQbzS0F2S2rfGvFEStcgoccxif3gn/AJbUIiLwol3MBfJ1kUBCZGIFrTn3kDLriMUN4FHnuu2UQTERUfx50Q6TMhknFbXlL27aJVcxjzRzR5EQqThGlzz+5uXhxbsK7q35IzJ9u1ux+wFWzCsd6i4iu2Yac28SN8og2U6VpzE2wPu+1wSmiFvB1XYjlpFs7ha8u9HSIPCAY5ToiO7cyr60VFBJw8XEo0ezsOZ8oHueXEnhaYpEbBpmU7qJ7lhd7aiwgS7pmyqS5kCJcNlpDf3YhSTlyrZcyYkvQvGP4uiK41NMY6XHZyzm1fs+DjZ5zkTYonNFy/J40v7Zk5jvioTBbsw5/bMA43DllHf/AGjvntevFQQmVTETUz0Tm0227uRC5KyrjY3yzWYQ9qt6h7sCVB4F1ykzzWXsmjoZu7uwxyewbBvmfLbwwyJ2t7di7TokflZTwkGAkpbojdz4kDwCXslz8CluXmCZ9vhFOsm4ruI7fhK1z+6/OuiPGYa8HFVf5FSMLlDaPydn58dIif8AexyXZvRss20Z4aDz7PcI94t6GM6OZq02bDX6Osw4ZG75n+qK7ukGXRsMnN7fDyo41pJsRPlHdjD59z7UI319ZM4+SN1hsAlHhZBonnS2SMrQBC4uKN/onoUjz96Zbd8HACc5JxLbqc1hXrl7VI3+iehjrg550yf5Xr/tFr9ya5v281GTrGp/LH/1Jn9yb+nmIylY05uoVP8AzDkQzrTqRSWqomoe9DP+8Kmtfh1woOVFtRdXX18Pj4Y6ArtaqCqdaf4XXQ9uwRO8CUiFMMq7BV6920uGJBc1bvmB4oKkV7FSzBTyG/s3Q5u5EtRqtK7Sa8y9dxD5EMGaUEXmoQ0yxCZDWtS6+uIq5VwVTkR183MXZ3CLNFuWmkN6XZ8HYbuebEjG+/MdnF78BQO0uen8YISrJ3tvVFExAPzTGIdWmSUlcY7TQSJXEHlHW9lc1N0S+ZDHpOYB60Jh4A1ZbMbq47vwEEXmG/DZQ7dpt74MueGT0rnZcbctx5hts8vvFnjDYW/ITBpnmjPUXtJj3fbNkfmBECSUoFcaaTYL29uz+ZFzSzDjUu6Yue1IJZP1gebtxi7fxSNM217EpLEKYcy9fTcfYI+bcDah8xLzFCLwqZ3ttn3oybKG2YuBS4V97e96N2Umfg58svRDuB7n86IvVlJoZiXELnnlF+qkiqYoWobdos2WnBEbL61GpuW110cDxW6riizpFD8H0dyl2LL4nN24C26yjbM9Wul5VhwQIZ0s6e7MX83eu/oi6ej22G3nvCMQ7OJs/bGoxss2ovNUVU5RsfOMRLX3Y3U8xbIzdpncLRmPZsiHkC6XBG3m7VU7mkLnQvbCu2csBsVkD5TE/gO750FdKN2vJtUSWlyHs32X+cWaBayouEV1ya1H8fZjSNLMzGjJU25Ykdbw8FzkmcS/k7wvPEi2/pHR8rMoy4DuMAt9G1uuhihnxhLfzxE9o2WnnvCqTOwzsIxZyTf7SHTOjJeZmTedCZv5D3L3IIyo8ToG2WYVzU57f4Zst0VZhRNkmqFZ2Xwu5+9uw5xgTbeuD2sSC7aHJ60C5SXA5AbqkRgfXmyOH19qMqGuy8kJkhm4C12cdjL5xXbMcRmSxTsfcc5TIQPNdmM1MDc+9cvthfj6sIGdaWrrUwp1qmuLGJuatyRCqcu6G9mdYhqaPSmabct8WI3rEc3DtXRfn5MGmhwiNv8AOGZchAuTw7x3Ii0pLKzLOYb73Ru78YiJvq1cV0Dgb0U3bjTYFrzBe5d/dNxIwOiTpyzRES9FiOgfqi3m388ZJA7SRKDeYM+8H+Ix0Yax3R7Vq2zR2CJWj4QBW6u7xQDnZdyXFose/FQrs3dt/wBMa1yRAWXs7vROb2bkm7/ncUZfSIWLKheZfmrR5uPj7xRnBrII1Vpz0TnokIE/x8USqKVX9mXVETez8Kx1cz/CVAwW0eTVNpMsFmtIBaNDexyEs2MAg3yefbG7tbfK4UZ8tpfhWGxFagZd1WsYHBfxCHYPFMHNvlGxby28ptWBfvx1MM1UrCLOIdIACW1aecbrePtxDK6WGwMZpx422XG8Vo/B3bTyWGftv6krIY4+hmOIy62ydthuuXu984zLXIfamgBlkCFKWMCGrjB0zqo5RIeHjyRdacAgGwrrm2ch9sPO+fuxnWwJlCNpyoFXL0gH+O0F8StTQkYAXI9F3LWdgNne4o8+x1aFUHKWW7EU9q7Nv+Tb5kU0FRdlqLqpMGpDs50G2neiij5ArN6lncfMrs1w2ZPJiyxN3pLiXtrR69WUQ9X7EZbXJd5zBlt69y0+5n1xKhpjOj+rH60RiYWMEGsRIi50zavV7sdqN7rlyZkEA7WrtZvJiKgmCbbaAyMEzjt7O9BWWabdl2C27mQ8q77UZ/SYK7IzGU+SVqY6vxaI8MF5OYFpqTl6F+iy+YfL/l7UaxYy6qmkWyI5IW0yhNBf+ziJHD9lhGi2eDbVO95O1FeanXgmAxGeicLYWz1uzmy33x1nSTJTa3rhXIPSB2POu8iAdLOK5pKb1bF3/SCItHEJzs3Zcg67+faxO1l82JpVQ8Pmzy7Hj7fZ/ZxU0clj07z9J9d2JP1tdf8AmsSTinNzQE5eFCsvXtiGS2Hy8wTk4+yYcm2mTMeJzdr6sVdEt4UzM3KmbDt7pmf2I5oxwz0hN3rxn/e2er24pu/yzEDm2GphJejiE4m3Rbb65M/aiWcRSABuIu+kA5t5XNJtN27L7UH5lVqFVpRC1CmtYz7F+r9IWRIA8ph2V4GwT1YgZVHSJ1sQ5/EB9flfbiDSaoRsXrloZ7OXsw6SQTbKmrOqLalvVz0jX+5L75k8TLQji4bmosmGA+ZFJqfD2uVXycP+XC0xTEYBN0CVVrzqR8/oiPRxAkwHw+NB3Du+dHXHHuX4nPLKs+XdWHnVLBGyzlhK20MuQ+yMb7RPQpGJ0nTGlNW8f+EbXRPQxvS8DOrHfZD8sK+yTP7k19PMRmBZX4I1v5WatItLT/c2vp5iMsriqtETx6kSNTM3UMRBuDTnXq8cJdSr7yw0yKuuJH1DE5K6y0NpEurYN2z2oIhIl/8AqOIWv/PxQ3X+EiVtg3CQRTWXwVypdquixyRHWJW0b1X3eTve9tQ5GlrsXc34Tii+yy97WwPfw/wMFQNg3dcAP6t5bKfHbbB6T0WrzRvg0Tp1HDB5UsLj+d5ED1ewrdYPu3bFwWj5A727t7G/BbR+lOTexVJqwhtwm79v3S67Ldwxlqhl6vhEitPdU/uyiSfXk5f96Y9eICMnPAnCFR5cxzfsz7RbUSaT/Rrq7DrRfPjKoNMp+Zv9xPpGo8+JNn4Y9F0l+hzHcjzxz6yxrFmepCiYid9I9NBOSD9iP0EeZltqX43Y9LapYH7Jr6CGRDIaQ/QdE/u//UgDbnP4SjRaQT/Zujf7UP8A8p+AHtxfAv8AhGkSyQ8s3+0b6/1gR6FO/oM3+wejAaP6cNfWPrx6BN/ocz+xf9SMrDPaYTO3+5y/1IzsylHl1683X3o0elE/R/3Jr6kZ+bSrv8F/wKKg3pZtAnQ1qI4LXX2Ik0w3bMAdy7beWvA00f147pgF8Na7cu36hxLplFxg+Ed79UHVxRFask6b9n9SBckn5m3r92+ldgsvtuv2of8AB2Bcii+Dj3n/AKd2MrDz+aH84mv20SSraE26tN9iz/5AXQppKTM2n66mv4YtSA5T5+kl/p435M+baaT6H/n2/pIr6Y/QZruHFjSa8kP7+3FfTH6DNfsy6tcYbedLSg/BF6Xb/OJTvBFFzmD4ILygVm5HUu51L446ObeP9DMfsJv/APXdjGaY6aW/c2Y2c0v5vN/u859A7GN02v5y1+6MfRjGMW5COsv2X2ohDUKfCvPE3WX7Px++UV6FVfeXxx0YOsSu1FckoSonUuqkSV12064iXn/jBThJfH78S4rtE15Q9+IaQ4SQa5UX8doS+bAEZV0hzYlg67gryZebxQQbdYeHnsOq7Reo59qM6lV5k+JP8bYsI85ZZRLbq6t7hrbtRjYu4acFxnPnK0C6tm5LdfZ7QxXlX1Q1I1Vu1hwWdS2ndBPRz8lhh4Tiyx+1vdLL/KZsBz8XxYnNEFqcuJ5sBSw79kIy2ZLvGCSLfYPEi81Mg8Ipv45BrVLsl2uhZsw+tAQUmJcuTqqcNLv6vNiZubbbARphkBkVusg8/ajjlg6Rl+0UYmPChmpfUtlzZ7yWmHj2rd3vwQFtq5twV6MGm+fcax/KHM95eWMvoyYQPD3tdx0s1bUERm0N4GCBG728UCuz/rQ/FkQXXVAphu5dkHS5uHC508tYpJKNG6/aggjVLLUy3EgmR2Fc33OCE6oIJt1BTLbHYctpz5fx24eLmHi1RRuWuZNrJaNDHKPDtxltRCTMVJ5pXLWyXZXa48huW23duIm3X5dXFS3DcVLzJUG4xQraKe0W7aJnngu2q+DqPEThc/G5HW0DwYea4g4Pe7W9x9uLvAySmm23XcUcPGRu3nt5JLeHevuy3w7RhJ4XNOGQZgQc2z0t/qxZZk23Gb9dzlhkYgGbJwWk3lHLlDYiikhUVcAS2+TASRsufb9ztIuwGSNd3vs10TYIHpVn9q9n/Yt5YJzaLcPc/wA4ESomk0FpKpIriEJVubQ7cWigRNjdRMxWHlgtNKd+rqAUVSXWvwxnP/0ax65svpXO/LhzVGlV6rnLarswTk2EYZGhjmUi5vfgW+pOTAOuKIkyo282aw/2kWVnSq0A2WVsO2mbX2nNqOsxM4YYw5xMRnMyjmWAfnLHHFBBZFbgTiXulEMkwCPqd9cMjs7WrLu9vZiwRzPhb7jdeZtosl2wg8URy4vg+IUK0zUiEm4t9xmu+dpAi8JlfgWN3onoYwukALwts6IiBYFETiR0o3Wiehjel4E1fGy35Uoh6UlwU7PzRrudPNbcZNTRCRUTmXnpzxr/AMqQA9ItZlE/BG+50s1AAZRnVnJxez+CKNMBqElddPTE7b48xMtl2rM38FgsMg1quRQH8eVDhk2q7Cc3Wimvzt6ItSEo8NOTZT47/qxO23MGd4M2823u/BeQxfxJRgqKSX9erYLyRt82J3HWToJOdLsWl/TBEGG2yCHiCTrSCZ5Lu/Zm2RHhDvxxdIFdracFoS6UbLrfNw8Ts39+IzlAZW9l8gIa0Ow8S2mx0giI+QcSyLC4ok0Rk6Cqt23bcmbIVw2j2ggKhMsEplnwvdj5Nwv7G0trsnFphwTZn0bTX4PiXe2FY6Fuzl8mCDGj2fCFxrnXGlzslmD5g9GW0GxfwRdOTYZbm3RqOKy5k2W9sMmzCVPGaCyWxVMSbBp0R1DufWiadeSZknUYFTLV+P6YnZZacaaPDROSbtHs2DwlmyxHMyjlW8A8PUu8v1m3Rt7OSObSeYaV6VdBFHM2v+HXljGu6EnQS+xkx/afbESjWNtTdhBiA5/EP5bQ2xUnp59gSBXpa+i8meHd9I7mLuRUZYdGPm+LN7AuGmzef1G96No3MADoSi9Lhgn6srG834sjMMTM7MvgrZtXZ0pc2No0zVASErbYtvpPeFMNg8t5J4svb3ncojGkWH5IjlJVl1VbAJly9yzEsF1/JkuHzr46X5Os4p8u7sDuNbRIXaHZ7hxA8082wbpP5L0vz/rLC/3aJ35uVliEHJx/5EP5flBGd2SpJX8nmGlxcd66mwWFBabI9bPg7zjbzDt7jQX4Zm3kyQJlZySfI8KbmOTHEzNBs19WNOLqEAmOa8U8Xi70VGd0no9025TBEnrGsEx1N25Az5yHegaWgX3jzui0NieN07vmj8+NiTgatT3X0aO+lR2ihpTDdULlEy9tv48sUCpvR/hLzTuIoEy2IJbTdUyvzd/5sOndGpOOiZOGFoANo9lT4uL7MWTmGb7sR4dSZQOz7P2IjdnZYiQ/zjZ2QA+1wXFEBO4M9y23BvcIeVAw52UlJVzDeF6y/Y43TxfxtwJmJsBeOY8HK9wNokmdmnblmvpYBuzC2na223z+PN84s3mWRoGfY+RnTV1l121wuUuebYsc3kzyzpeaEX9EybMqhuXrtvB0zftT7oBk8H/6sYyXnXJbNe7aa3EAOGGJ37CH14OyOkmJggYsmhc5Zz9Ifs6R14vbrsrfEEQH5pCmGwCrWSZB3b4Px/XE8xKhNS7rZHS9FzDQopS7UvMto8KuUqSVJx/Nblr013cu3IIhLBhql50rXaUvWIow0y7v5MZLxmy6sng1n/8AYieVkxYea5WYPZ9pbaaDvniOxZfnpYCwhm5k9f8Au7LRcXtlpeXAeWbObdHGmXAcoXSMpmHsHbbs8QBGkaFx9JhyclSGwSlzw3ePFAg+bGd061rZmRNDyC0Qju2Bk87uRYCQQpyYqbljLTe+oXYq9ndHhivpuUalll8K7Oh3XQPUARVVdYrzUqidUJERCOlbbltu2rd2tuW6JupfeReb4IqtVtLX1pSq80dXMvbP4L/hDDRFpamvXdROuHpqNVp1KlUjqJ/9pFiC6Qpr1emFSJbfTr10jiotNXMuqtNS/wAYCNF1/wDiJ2r0QzsUmxVEOioKCp7OsroiUVqmrajqX22ZqEX+XmxmfQ5DGjJ5tgzYdYE5eYtB0SXE2fKEdrevv4I0E9pqTclH2GSO4mcJvkz7Hq8UYwBcBRd4Vy8xej6pBFltHXHLqhzjmOxseLd+qB9uJLeOOU+GNwoHhIsI4YE+1mz7tn90564RGjTM0HJHyhKmSuyPmleV0aJjSJS8qnhLOIAB0snLuuM+fyUv8k67GZenrZx1+UBAaLdw0C7+zuIdrt+XGdq/qSIw6w9wX0Oz+jyP6ImaPEncR1LbAK0+1l8m3bis3NkIBcDCNki7IWEW12h2ezki0LjLyJhkt+rKSp6Mv17+xGG0i55iY1r0bWdss22H43IklnzFiYdJVLDUsO5fe8714Uo2N7uM5gADanf3DCwM0VRIBlXWs1xZsyp7baWfguHsBGGoWxdExF0+QA66xLZz9rLaRZtiJlIqZKGFNsFX0gWW3umd/Yge6K+BCqU5g8XjuJOzHSmFGXEWsp5drKX8vyoy3/8AAirphL2JSoguWlpbA27RcPYieXcAWUbrntDaL3i7XFAt5/kUvVV2ecOa7aVN3yhOJ5ew1cMCVBI6ihoq3LTmVS5Qe9efciTjNTaRMTMUsSYrV9zDG5x8/HmELe7s7meJXkEjX+Hj+zEkugDdlVoqZt4Pm7veAIplON3Fy7evvxKuV6QHTkq2b5ZqWtBuYl17g8Q2jl3okGRliJKNilq+r10uHMXFHFmG7z5YLXMPj3I4kyFxZ2trerHSbr9jFc87+pALaOE90luLNnyRcGxFhu0HyS3YbaEfKvKGS5sW9O5muHkxy+rveRE6lLCRlc9cSJms963sxcjHrMqU0mYiolPC2g81gy+vG50T0KRhH3UMWtu7wgNz9W7G70T0KR204rFy1JicrZ78pP8A1Fu6yzwRrv8ASzUC2i1qqJYlNdUVVVN7tCMG/wAoEDw3ELckmfp5iA1yLYqbJoqJRPeuqqcNtYT15pE1HJOih1r1alu2fhWK88r7YgrbFqe7FmDubVouD5cPSirTVzc1K+iGOtXoKbt43BcdhW7O9wwgBRF93Ph4tylcRhkEu/lES8uJxQGUz7VRUOUUrOLZG3NtXXwd1eDlK6hbJb7m28wlXycxDxR2b0i5Kst4IM1JVBNV2HaGXZ3vUhzA0hmMM3cEwAMPpf1uxye/9SL2jp16WBqUwmQxTKw718ftkBpnSD8xXEeLYs2EG7e12iN2aKAkKJrr16oTHIuLeq4LZkjtg32DmHh/GxdDSEdkk66bPkxhdFaSmQmGGBdIWarcHFk7Q3W9mNgk67RM/ojnk11XFrd/CnNHCpq1+OGsmjg3lStfe/G1DiQepa+NKp4ogrzDqsS8w63S8Qyd4lG2vdLNGA0jc05Z7YVpvOFtE4aX/Xj0F5lH2TaWo3JtDSMJptnBmECt1ohmLayttR0xZM0dNL4XL4q5cTatttvSzhutu27skax8bZ6S+F0fmRhBFwMNyxRC9LDptECx6HpCVxXpdwHDb5c/FwH+OCApaSbXwB79mX0hwJ0jL+EaQkGvdZaW+gjQzYH4DOZD6J/5ueAk8BnOaIwlzYMn4vcwiKnktHhKThYZKQvaPnCzfAPq+RF1t1xl7R7bWTwqQS/+/wD7yH4BNaSaFTvH2NnrbsuWsRV/OdBfsSD6eKgQ9pSfZZl3PCiXFxL7mmNw7Pc4tTOl5sJWTfDDHwgHiLLd0S2Dw96BU04GEw2QZgN8vPdyRNpEv9m6L+CZ+ccBVLT8/wC6N83uQQS0nNvsBL2W/nEt4Vs/3cZgGHTEjBslAU2qRo9OiuHo7/8AjmxjSHSAuTM0mI6NhtuZQsvEgYd7PYgWSKZOqe1Z4k3U7ME9CldOy4mA3Yb2fV/w7sVAFTOZH3Nt4vMQuaAFqIkjVa85c3w5oK6HbEZ5n9jN/ROwPbBTWVENojVPOUR1XZYL6JaIdJNIW63Ojb3QfCA0mjCvlQ1bx9fkRbm1VZXDrZiuttGVbbWq5/OHeipogF8DHvu+uUXnGW3QQHRRbVuRK0zDs7Mcm3mk4am+4NLQbMgbDdAN3+uDOgFNx42bsgt328Pc70BpuvhMxq9tKDX5NL+dur45dU1d+OmVbWOdjwZZuduVOjk+vhcG7VwwM/KTpJb+1g4klykw8AZnMPN5hu73YgH+UjaiUqe7RwPTfGWvJnFVEElrRaLTX10imC0T4V8cWSVFFEpzkmr3oaqJbqRNa11R0czUVF/7LDrqf9kSIi1D8NPtRLLNHMOI2NKqlVrqog5iWFlG0Ul5ufUiIlY08poVl2SZxkcbfNzNrW+y/gLL2ruCJ5KWalzGjAmarkdNFIi95d0SHcIbIKDMiQ9Ixz7pAX8cxFbGMs24xVJbRUuwLoWlMA5bfiihG3ZwbJevAyckUA8FvJKit4alxCIkz35rbvIjQE7mtOZQbkydr1Rii86wV4CpPPt7bOw5b2OP14w0y5tmypZVsrbfRbC7GbLHL7gyIN3uRbP9nl+v58FbW5i6y63ZtKhf03drPFB+RMeiRSH3414jHPLDwTtUrz1jUm2t5m87eff3fOCC7jcrgXto3vLeRqjlpN5QpiEJkLm9sWb8DQd908+mbL1Zt3jHbi8jYONO2Sau4TfIvA8uS8y3Lh9SNMeIx1p5kBE2H0OymWzDEq3DvF5YxXZlZg1Lkj6zu/FsI5x7Dbb1dG3n13fxiwxpR0AsMGnhvS7HG/yO6XkWRV392u/+g5XZhhMN4LgLVmrmHsOD2omb8G222mzdyk2y9s3h2Ojfb70WZ2clHZT9K2WckiDQYWNxg9h4n6yAALlRVOhKVFaJDVaU20O23ay2xJxqe7KxlyuYXSCbJTq1cZudEDfvkeoA83LfFl1xXGhBBG4bOtR8g+1FdidcbUdd1uzrzD3DibknB5HaqmS0Lu1S7KXe245z/wBz+huJ/Pd81yYwzl6K6FtB2jQM1PtRCBYcm7zb3iId3/VdsRblGWXnibcaTEwxPn5UbUH3W5u27dyZ7s8XZsGW2l8IXECmybdvd6JsXLe0N4RF3fAN0c8dotumRGSkbes8oh29oS8+KZvcoVCcDOW9Flg5XHAWiUXgQuPZ7+UvlbIrzTDrpXEuS67bCJ9ftXHwq6Tx9HaOs1zXHdw646TnVVeZaaziszebjQ2rtrtbNaFBApcaG484Qk2BYdubNTtbsamMYmmcZzmJlAjbiC2YURRRF4rvNKOo4ZIRGCde7/hmiJ5FvFRcHKCZqrvIXXE9GzbEsUcSqXfGPF60JquiYXEzESgd1E0lNauoq07IEMehaJ6FI8+fQb2eiIr0uJvy/W+rHoGiehjph4WdSO8DafRs56xxUFPBGKrXifmtfa7vBAFUbotpqtlwgRev/qgz+UbaHpBvKNwSzP0s1Am2okCqlp8AJdz3alIvPgyqFNk2NjYoSgCV5+7r4YmYnjtztAQbzo3h5He7Q+ZEJyS8Y8/bH492LgspY3dYJN0yChkyevzri3/XjKpinGRXo1QPhS49Xeutu2IG6QmGnGwt263U6x+t5RRdJoCcIyJTuu29sL+Du7nBFKYlEBl1y9d3cDNrgBOuIl54kXn/AMIiWOjK1KOo3MNOKtEE6qtK0ShDzRrVm2gG66/sgua0jAS9fZjFN23hds3j5v8ApjW+CSdyrmMs29x28MZziPNvGZaNlW0EUJQQqqiISNqS3ZqJdmzWL5pRJVRrhhmLuAI+bmtujJvTC+FS4i3qYcazKa5iPZ8lrcz8UXGdKG+5MYxNMi05ZbXN+Lo57WhlqbWZaxAQQuJekrlsXNs9rh3Izml5R6ammyvCwW7bhW620y6otrpBgPbTIq6qbPZ125YpO6SK7Kg+UtxerBFd2V5NAM+kmAz4fQ/2YcnyvJ+ZGi0Y474M1mbPUqZyXE2y+ruwAKfLk70C0X2T8xzqgrKvciKnazrLLSlM5WrQd4hpFBZ15y14OSuJq0Na7Vh/WgGUq+Z6OOx381abBzJwQTElqDg5rK159d3iui2LoEiUXWnOnMqRMSVKj/hTUwYPcnLzDOynt0QNBy+hv/bkeJ/f/Og1X3ohRkBJCColr2f+0VGaTRzLq4sxN7ewy0mcdqCrktL4EkwEucxhi+QA6tpDym3mty+RCFhW33AbycmjuLrC+4yuqYlu9qHusm+DfKDyd2dsz3tsIoroqh0hyctwNthjHFmcwjKXbNtXsSUatAjwb9rb6KIW5NxroiBuvOopm/idtxefHZqRcmsLHJrk0ybcB2SAAmA1SjdjZWMM8q5kbd9s8uADr8o2Tghig6TLwvFtcqYFkDe/og+zo7D2XjDV7SiN9XnRI1o2VAl5K8teZwryioyUlJzJo04DDh58m4HlufOgxozRz7RhNHU3eXDby77Jnte6XxoCcbbpeYhzbSpFBmaXB5ELixJnOaWs/pb/AJUBalVCXEZbEK4EJy22/Lf49na3YnKxU6Y6progLrig2NFUlK5w6XnxfZbHcGHKXPr5uqvNHOY5ukBJaLZxHTMTcI3CLMXvxalJZqVMjBk9ncXPzxNeldfVzUWkOQtfV6YTMz1lKgSFQp0z3NvHxeTtRTnpJqfbAHJgxVtSVsqJluQbtW958NvSkRka7v8AjCCmTmZJyVeJl5RLUBhae0JXW6tofKioQ5E1rB/SirY3Wm3tfw5lXajPkWUY64ucoi2f4wQ0ON02n7M/6oHFzRNKPnLuYja0Kz4rrY1PQjq3aGLGc1tT+O7td6AM0ssb35uKiySj3Lt+zMPkXQMKamnao466XEN52eZEo6MnC5pZ7nt2IzwrN400LotutOC7hEnJBteX7nm78QPi+64y5aeMzXldnrHCS/KPJDluhjEhPMmFyiI8Jn9SDKMGuzQlRNaCSKsc5wqbtqJiYoNalyxcZ1AEqrYAbI9vKVvcEYtKKf8AiJ1FUWioqLz81FjlE4V86C9A1+WA0Kygn3Uzd+4bvKEwgddONIfO2NoAdg5bQ2PswdIarUUovNrW6sVnpdx1swy/HbGuR/5UJdZYC5dsSasETC7lW/1jJ75DviUTTUrJvs48vOywWJybVuDMXfrPx3IrPy70ut7vROEWGNLthSAvNLvxCTssSczgn2EAR/02+WEa3MompB05bwq9sRr0Vy4hQ11jDFCE0JaZxotQt9+ELhDrvUAr3rrriHvfUh+aimLuS9L9YfZKLEpMfnyJUFRE8QiIrb9Ver8Zi246SIKXgVQ1fO+rErUm9MKlgbdM2sQ2x2zHLaO1dZZF0tBTwD7UXCF/1+L14rKvKz5sFXn1UX30+Hagg7PjMuNJZfz7dloll2N3zt+ADrTjJk262oGK5hJFuhiGorUdUY2um6YFH2lWaN7DJoLffzardeYt2Ira8y1qtNSqtfnZoqhNvAmQ/rD9n5kTtzzwleOHeOsCsQbfq3eRE77W7H1StDn5VVw/Lu9aHuiy6Vsvf0adIW9TtZbYiGYMrEwgIq8patp29gLrbuDbz7cMm3GSILAdS0c+Kua/ycoiPFvwi/Qy5T13KxCYgWzl2ebPriC14SuooX7Pa1dUSKq0U8OqVpcS5ea7Uvdhzbh1G5LrF2RSnzx2Mu9uRqImOkMRMTPOdrjd94C4mbFHq7B3R6ZonoY80EwJ0EEVTlKpVVWmotVSj0vRPQxoz/ruCtOgJTyKS0TwRnr/AFs1AZDYXYAz105udfeugzpxtDnw1bMs1f3ScmvnRQFoRTaIu8qxnJEOGm8ojr7xfZuhyi1bzFz6iIU72oN6J1YBFUkcTWg2oQGKZU5q5s3Pmiu7OMMgd4gpiGTbEiUV6l2S8rJGV5rA4YU5ESSibQrd82IdJkASZkVKP8myIgmUtobzuy5Yz7k9MTBCIXalWiBWpKXGo7vZi9MNPTAdGl5Ntb6ZCA/NzDFqpizrEgBc8MWLTsu6B4dhX9lLvVhLJzGrki9WNsqkGE0gVqI2CDzVJVu9GUYhb0Y8VLiANXju9WL7Ojmg6Qlc1eOz1Ym7FqIkOdcMyAiNalZ18N1tLeGJ5dtwzOwCzL4vfgkEu2F1AHZVEoOzq8ZbUSyyuCy0NhXCCbVG4k5m1RKTdEsRwQK02lw7trsZYkGVYJ1TRzGEq5W7/EOrKN2XZ7cEar4g/jm7q14orkAAJllTXfYqra4RKPUPthbkZjJpVcYFqWOiJeKofVl5QSpxFwwcRAHqEcxbObr86A8yvJO6kQcG9NSePq3rrYIgSWilalai+d47coxlVpVRaZv8Y7VF1+/StKLEFU4kqn41wlVKJ/msYuYa5LKPFVLTX4P/ADEnhB1TWPxRTTWlff1a4a84LLavEp2t8MaiZZmIWyeQlqbQKtLds6c93NsxJ4UtqZBRO8mqBbTqPK6iCSYTli1JKrcglX0xMigqUqirXqWLdC2k2vCPnx0pk9WptNXbKKSINfg97mhKSaku8fVmhukqFnHeVekEdW63/VDbzKt7rh+Ujf1YoOtkWEYYnJuidt+18Id3YG+Fe4TmGqIOXE1lrtFbSSwfWgUtckBItBuqnbLn7VxRE0+loaukffDyvCH/AMHwR0CG1D3a7WzsrbvfBEbLaGArwuPqlF4nXR5+6sBbVEXaJe6K2/1eVDqIiZU/inP/ABiBGgu1oly/DX44lWnVT49cRTFp+EpSOoSf/XVDV16kX4KqtawkRU6/SnPAP/gsNVVpu+ekOVObq+FYhqK8wodF1qiJRfLL+uEAbpFStb5rb13vegIdFEdUasm0Ol6Bbwin1/sxTWUlHxDJh6tw43jlERUsZYzM2zyMm6LmGPRN4rmv2u8A/wCpF7QrYnPN4iJa2hHaQoSKtLR1F2jQoJozJMBM2Obcv4O5iEdtTdE7Mg3bLe7vw+Tl1bVSusu2svKfO2B7ueNbk2ioybLTqzAti44Z3GLuzd+r7Q9wwgmU2hqQgJu5Fvru8IKh5s3FA4Xe0tK+KOPG9c240COgDqE9hGgXNZclm15OeOdy1UHtGYsr4QYOm3t85W7WTLm7MRNq7hjVUB21erZ/0/PhOTEsmw2+HkLFAZqYxq4aYNNQ25i99bo2ytzM8cuDGKHhBOuWZUQdlO1vbwDEt4Hs1zVpq9C8JQJdZcmHxdcVcnRtDsj5uUiiyQEajeq5jCtq0Ul8a2+bbElYmVtU601++i1SOdf/AH1xIlI4tIlLaMyMkSiCXOiXImoS207pQDnNHkJ3MpXkxcId3MmezitKCrjlhFyLjvJ7qr48nZylujnOHiqmOcLCrqS6pDq61HeijMSjOPMMS+668213bz+rG0XQGDJTEuxY844d4OuoomOsNXue5tRQl5UPZOWdFBTlRPtZG89/auzBbBxybmxVdQjcq4ZEnvxOLtXDRyz9gHpNHtHSDQNETJOzLl1KdHT3Qc2yFpjvxab/ACplMLl23GnabIDiBAHTc09MvNg4ex5vNA8QA7BFsD1Z7itc/hux18TnljOM/pS6TnknJxyYZQ0aUAFEOlUsT/zFZGiMEc1a1t59dffTdjsw0LZ5buYeSMVy5OOIRmHRXJXyU/F0VEpMmA3dVdoc3x8MRouv/OlaxaWcbMLHW1vrtBkIu/dlIYpUWvN44kwiYUqqUWhVSnw7tOGLTgzFLHQQtWpXRW5LvEcVMIxS5aInw7O9u7MWuU1coTnlLEaTNLKComOLa2JcmYgV8xZtrmtwy8++KbzT7arVCbJUK9Oa27qRB7O7DnyR4WwaEQtMj596JpltwzRx81AaZ3tvlMPKGXiLYiNK6iCPN2V6Tu9RcPnR6TonoY8xbW51vVvp6hR6donoY2wp6VcfCc5IRIfBmfF7pNQOJ4yTPLiJ8VyWxJp+YBqfRD/4Rm0qfrZrzYE3oYEd4Wb3KBveaXmxzaV3lfdxeXsbbW0xCGsM4zbRkV1oKA7xWXl5P1wioJywo63iZD3bcv4HaiSWVnY8Jdsrs9GEASJWpdo8qZAyD+M3fiFiaBGW61UyTcG7aMrfmx11WW2+Tcl9ofbLro4mkJXiu1bqf6YnKlNBy9xxRQ0XKlt1uzs7OzFhBCutEuVKpcVy/O3vIiqEwBTFABCSYbz8QkC5drZuHhzxYU2kprFO6iEXzboTPosc01EpqSElE5/HqSsJFSnPr/HVEbwCTesTymOyu/X7N8SCUtPF/jDkVaa/Fz054q45YtiNWiSKY4h2lbW2naKLAFci6l/gh+i7NCYoibP6tfV1onNETrIugQlza+riS31Ylrqp4+uO3IicX8Naxm66LSjMS7YS7pbS4aohEuzdlH5yxdlcM5ZDrbYzi9W5thm4i8vgiw22T0vN4SKh4SgK015wLYQspFA2YJZSeJuljL1nVlvwxz5h2Sc3RjSJ1m2hXaU9e4ClFi5EQbkopVy6vFd6sClnGwecz5LG8O358VzfJ99swbLkyyWjbfkIe1yl28O5Dau6htHArz/ANF+Pu9qHuWGBDukKj+LsvnQGZbm7gWgoQCYFcu6S3Dr7PZC+CAgXtiovcRfjW7NEIk1pplLukdzZue275o+UN8WVQrciCGvvQ6q+iurmhleZVSvv88RTU50rUokuLxfFT8FEVSI0GhbFuVO2Z70Ri8SEgGVpKuQEQ1c7VV2bdcVFjWq/x86IzaQyxFUkyqGpddCUSJK7XUkO1r1Lz89dULX4/eoq/wCUTmpjcs17W3noVm/m2uK3MUQyiq2JNPXC8Dh5N7Mvm7V8FpEL3VVdVrZqhV1Vyj/nFTSRBJo07W9sjmLhE0vuecv80fmRUPRVTn8etKx1C9KdSwITSKmVGmbi3ar9mLjYmdFdcW5dStDkbH4bcxw2lpjdQdoudaW85fjzIjRxCtEVtcO4gGz2sNsz3su58+OG0AuNfCeVOyH2ocTYGqLtWiv9ezu3QiIoubdS0itUrypxfZyj3YctR/FIclE5kRKpVURKVhtaLrUfgJaRKUnENQSlBtqmpM/FVd3sxTZlxsaq4uypWoto5sxJm9UYsuGAdK4jQa0vopbSFbs7xbIQGdfN4xw6MAyll115l9XNFZmaG0wx6h5uH346OYlsS5bVJURU5hzEubhFFLyYAreBJyzt3OmvN9m2JX3X7Mz77gkSZRL8d2Im/wDIXvHXr6ve+1Dh95C81YEpIuB0gNAW9jTrd/mXFm7MLD/Xyv8A8l/+TF5l/kIrNoJmBESWUzEuUrupO0MStOg7lQs+vfD/ABuEYCK2zd00p5r8PQGvdw8mTMv+tBP7CTs0LLth0QLKmV4FadcuyRDs8MRHpBjLaa7Ybne7UUFbZGlXj/8Aif8A+xROwwLxFgzF5iBFgGzhGW9yebPFnd6IupOMOENpIRdrJ+O7EwiqLVbiIfeXJ5HD2igQ4qIlaJZStUTMPv8AaiyxNusU1Y7NPHuH862Mxn6rEiVfxWGqtPg/wiBt5khUmjc51vbe6Rr6uEPnhE6EixvlPRbSNPiwWOadEB/Y+vF5ubE2Dce9uZJ5tu/owzZ/xwQKfJQBXEbxLLV9PPFFyZQHm5uWPPmtB1rNnTO3nyuxxzx3ZOuHKLDpsSdmTRFRbQU+dVrahEVN4oYkrMtmIm2QnYDoHq2D2D2rYnEkfnJp11bBJt0jLgvt2O7uQ6YdM3go+rjYNN4XuhNiEehzr5o0CZccGXfmQaByvKmnJ+eOa6HTMqci5hX3225xG0C1erbvDE4cpqIepOpO9zlaPk37fAcOmZpTYCXcMZgQc5JwT5ZjsOZbXW92PR+C/ERpasb47mXcz7m9jV07jkoGYGOcNfNzQxF1WFVxKZapnFPe4u7BeWZGy1jlzO24722hAt8A4/XiKccclVAHh2rth9hzrt3Bj16uP4PU37dTZ7Hn3a2P+nuURQgFSrc3xVsIfO2+7niVlpky6VW2r2wyN39LsZPxZD6uzFCYlydHUPPvfN+bEyPlLnZNSNLqYYjRvN7piZhxGvPvj5+eO3Pxu2K/NaEVgLx5bVtavU+zAtGCVEvcVRuHqS3L9mNrIFKvBisOOP8A7w4brrOrt7ER6Qk5c7Ctw3DLbAU7I8p/Tn2oy0xszg3M2N2HijmpS7IfD6sbzRPQxj9JSTstg4lv6QOyv6t2NhonoYozf5Tt36Qb5dhr8za6b9rMRmsBr/i5X+9/kwd/K5f9otfubXVVOnmIzCfjVEpFtAb/AOMl/k3f5McMUBK4zboklaghog+8qGIxXVUHa6+qmuIFInCpr54ztieh16JgdTE6IDuVNxIvOOC3aIgNxIvVs/aiFsW5dKmtT9PwIkPBtycc5NLAASxHj2G2/wAbFsZnvSvkjYYemFvDo2s5mexkz57fmZO5E7k0sxOq+0Kt4hjkHNURS0t0bru1ERPmYBJsDa2K7vt5e6veTsbkXGJbCNlcRG+MeO67ybR4Y6KIii0yjRPERIi/xQbvXiQUXa1+r/VFYngErW6mXjFMvrerDxM1JbtXNREK6q+JLRG2ObfVSfv8PFkUuuBvt3AYYp+bBAH2sUGBNFvIQG7YG7Z5QstvnxRniJh8SacPwhsM/Yv3M13KW7fBsQPInnwTFdLD7ykX2Qis7mmTWpjwLmtzeru9qKzjrTZqirntuXny6x19nLmgALpASWOuNlTaHa+rFhScIb/Ci8v/AAjK7mwln22QRqpETlrvIHdkMPtZT/AQD0sDc5Mti24mZNqpukVqd60S4LduAqk44tnhB9X42oTSMkSg2R3a8xQQYCSZY1uJdzdKPoALdqJm2RFyY56VEwtplUwyp3bggYE3MSntp202dsfMi63OLMtvP2hLONo3wC09YB5LLh5R3cirC2gKial/iqakiRE1ePx6kSKstMi+CnryrnGuzEqrzWXH6vx/ZjNTE1LXKrPTn8SJzVSlV8UduEd8UVequv4ojVu9M5L16hX0Kd2z3bIaDCiRa8nV+N3u54qLGrX15S6+JCt80s0VDQQfZLm5F5Ep8LGpM3wxMoU1Kq/wWvotilpMLGWcgcsj+ctsQ/N8+z+rOy3jhigkK4mxm1V5tcI1Fgb3SbDvOt+oBRl2niEcNtXHVp79nZ7ojCwbixHVQuzXLBN7Uy2mZRutFqutK2rvWw+aelZ8W8U2sMCLLi2efye7GbRxumptOf8ACUiu4bfiQdf42olpuH1KRlml5QLrwswTXZ38TL82IJWeAx5VwRzFnucw7S/syK7zMkAlMaiW1/BIlJ/OAGG1S7iH8dqNDQTJ4YNPXiYFiIlhoQryfWu1dDG5vEHEw1Hs622g7F58p8yB0kjbukJZgg5LFTEuzDb5USSbYNPzLbqXEw5QFWqqKVIdSbuWkFFBQyHm84cv8E2vOMIYsuVEVDLE7dlvq+rZFGXmnTnHAco21zZ6Zc+ThKCJvJiGAUMQ2nqoLRXJls5T6+SCrktKtTKqDyAfJmIiQoQiZ22up2hHYjLzDS4vg9gNcoWJan42o1Mo9rEkpQkqhIVULeGkU9MSqYqTArkeHzbEu+cPz4kzMQmUAjopqPUu6Y8Wrm8ofniMcArkIOsFp3h2hXyhzQ1pxTcMK1AQ9ZctIbeoF+zyKvZraNe65TyD7MZpnyRvt2kjnut137TLi+viB34nbJaUVFrq2kptbK5h2e1FkUbNp1t1OkEVA/cngXI52hIVNs+wd8VUYmBHFVs7BtHEopBzZaHskNu95G3kjrjluQ4s3PzpEYkoL7y86RPtJVOvxxGQ+9FikWEVDSi9afHEKiTRCYXCYrcBQ1tVFUT39VYt0uT/ADiTyI5rSkk62cwAiDzf6UzT/wDIb73t3bgZXAItfJ18y71hixL3hNy+H0uKAd4d/vcnEc8434VMA1asviEghTLlXx7W1HPLFoiUxIXAO200JCp1fBvDx8eaDFQIMZowUNWI2NeR872q75LYgCDlqj7kafJl9mLClYQm2pNnrzAvdiWowjeLzryftncwnfKuLct34asukxLriO7A3gIj0Orb4vqRDKC9ON1l6tnlvOzI3tbH7X3Pcgk9aLD5hldwbDy2/qo55+N6tHw/sZSTcZx5nGLISKHz4vg9IthZeHm7WuBEug3G862TjNxiVh2Ztzi2Yqe96Y9cxby9BCYbQrnWHFca4a7HnbvaioJKK3CvXDW3DaK8F/H2YuILb9xthnpyjKL89mJHdJ739UUw7jEGohc1XiK5C1ZTC3eieTl78dcQBeC0G2nQvxjPczlbliNlJfFz+5u5XN0qZLD3re5FAnCMsxrdqzRpBTCcJ8G66xJGibbXC6+yNu1vRpJdpt4DYcZY5NRHOCjm80hu/WCdhxlZZx4pkDdHFN3jyX+XcI5h8iNRL6WkkFwuUZuEBOxPcvm+bZFArSEu5ouYbOXcsVwFMRAjy6yHezW3QYk9OI6IJOjhllUHkRMI0rbeYXFhFdvDATTc4zNvy+Fcgtt2X3XlmMuEvrxRJoURLnUqfNqX4lWMZd10x0s87297bs3/AL2s0+aG3L2rl8IZ+imOvu+ZBvRPQxgHXpo/BweMXAvDPv5AOzzY3+iehi4s54ZYd3L/ADQ6X0GxPupMOOPg4DOFa3h2W3mfuZFdc5xxkXdBuNlkM1T30Cv0cenLzRErYeJPijTDy4tCPV3vRDh0O+Gyqp5IfZj07CDh9ELCDh9EQeYewr2ra+JPsxOujp3CwcQsKt1ogA+fvH2OCPSMIOH0QsIOH0Q5DzVrRc0z0Zf3bZf9OJkk5/3T+5aj0TCDh9ELCDh9EFedLJTxe2rzp7W1/L2YcMppAVQheLn9za/lx6HhBw+iFhBw+iA8zPRU0akpmSkS5iombWRV2dqGpod+lLi+JPsx6dhBw+iFhBw+iCPMPYZ+u0XxJ9mEuhX+IviSPT8IOH0QsIOH0QHl6aFeHrLr8X2Ye3od9tagqpq15Q+sMem4QcPohYQcPogPM10VMlzmq++oBX1Y4OiJgUPMvKJadwAX1Y9Nwg4fRCwg4fRCvyHnYSk83vB0WD+jS2x8jDvBtI+7L8k1/Lj0LCDh9ELCDh9EFeeeC6Q91/uWP5cLwTSHuv8AdNfy49Dwg4fRCwg4fRDbBc+rz3wfSNem96issU+LDhkxJT0zTHdU7Qw+jbDJ5DYx6LhBw+iFhBw+iFR6EzPm80HRc0CZTLm4AhqaImESl5fEn2fej03CDh9ELCDh9EEeZexExxF8QfZji6GfJOdfNCPTsIOH0QsIOH0QqB5gOhXhXUpfEn2YQ6GfErt7zvqx6fhBw+iFhBw+iA82DRs2Dgug4QmHYD7MPWRnsZx/EXFd6Tk2/wCXHo2EHD6IWEHD6IDzcdHzguK9iLiWEF2G3sn/AGdsL2OnKByhWt7A2BZ5kekYQcPohYQcPogrz5JfSPu39yx/Lhz7Ok5htGnnrwr7iwP/AEbo3+EHD6IWEHD6IV+Q80HRc0CKglzqq7DfP8nCXRc1VVvXMKiuRveS3Xl4fqx6XhBw+iFhBw+iG1HmS6JmSpnLzQ+zEo6OnbMPGcw9eTc8zZj0jCDh9ELCDh9EB5qOjJseZwvNBfqx32Nm1318xv8Alx6ThBw+iFhBw+iFQPNfYya4/mQ9JCd90X5Nv+XHo+EHD6IWEHD6IDzoJKebusdW40Ub8Nq+3sHh3Bd2Yr+xEwu8vmh9mPTcIOH0QsIOH0QqPQeZJoiYoQ3LQk4Q1/Nh6aMm6W3lzcAR6VhBw+iFhBw+iA8/YZ0nLhY0+ojdf0TRZvKbjrrOknbr3q3DbqZY2aiXOLcb/CDh9ELCDh9EZ4f6GnmzejZtsCbA8hKqkOG2XrNxD7Cvdr4kj0/CDh9ELCDh9EbZeX+wr3a9EOHQz4qiiZoqdaIn2Y9Owg4fRCwg4fRAeZOaImHCuP1A/F3aiP2Dd7Xoj1HCDh9ELCDh9EB5mOiZkRsuWzuAX+nyYamhn0rrXWnWAfWHa7UenYQcPohYQcPogPMU0O+KLrXX2Q+sOUu1D00XNIm2S694QLX5Qx6XhBw+iFhBw+iI1jnlj4d+P6HnLWi5i4LzIhArubvdm6N1o9lWm4uYQcPoiVKQ5JllOU853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s://goss1.vcg.com/creative/vcg/800/version23/VCG41131373918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6" descr="https://goss1.vcg.com/creative/vcg/800/version23/VCG41131373918.jp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8" descr="https://goss1.vcg.com/creative/vcg/800/version23/VCG41131373918.jp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10" descr="https://goss1.vcg.com/creative/vcg/800/version23/VCG41131373918.jp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0" name="Picture 2" descr="http://s15.sinaimg.cn/middle/598e0e9ahb99f22461d5e&amp;69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"/>
          <a:stretch/>
        </p:blipFill>
        <p:spPr bwMode="auto">
          <a:xfrm>
            <a:off x="38609" y="1010092"/>
            <a:ext cx="5067390" cy="350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5220587" y="943988"/>
            <a:ext cx="3785190" cy="34106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1904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年落成，至今已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有百余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年的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历史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严重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下沉，沉降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量高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达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4m</a:t>
            </a:r>
          </a:p>
          <a:p>
            <a:pPr marL="342900" indent="-34290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临近公路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下沉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2m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，路面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至艺术宫门前高差达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2m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。参观者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需步下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9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级台阶，才能从公路进入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艺术宫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5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沉降最严重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的实例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39876" y="4674203"/>
            <a:ext cx="2350323" cy="4628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墨西哥城艺术宫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984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64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436" name="Text Box 4"/>
          <p:cNvSpPr txBox="1">
            <a:spLocks noChangeArrowheads="1"/>
          </p:cNvSpPr>
          <p:nvPr/>
        </p:nvSpPr>
        <p:spPr bwMode="auto">
          <a:xfrm>
            <a:off x="2435749" y="5745302"/>
            <a:ext cx="48013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zh-CN" sz="4000" b="1" dirty="0" smtClean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墨西哥城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的</a:t>
            </a:r>
            <a:r>
              <a:rPr kumimoji="1" lang="zh-CN" altLang="en-US" sz="4000" b="1" dirty="0" smtClean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地基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沉降</a:t>
            </a:r>
          </a:p>
        </p:txBody>
      </p:sp>
      <p:pic>
        <p:nvPicPr>
          <p:cNvPr id="43013" name="Picture 7" descr="djcj_clip_image00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69" y="1155077"/>
            <a:ext cx="4951413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" name="AutoShape 4" descr="https://wkbos.bdimg.com/v1/docconvert1351/wk/611a8050294c77a318d656847e9ef7e0/0.png?responseCacheControl=max-age%3D3888000&amp;responseExpires=Sun%2C%2008%20Oct%202017%2015%3A29%3A17%20%2B0800&amp;authorization=bce-auth-v1%2Ffa1126e91489401fa7cc85045ce7179e%2F2017-08-24T07%3A29%3A17Z%2F3600%2Fhost%2F9a821b32b1079b1ec72a15d1a361121a1f59a33b52224944a0fbe82c83020865&amp;x-bce-range=214224-&amp;token=e714748055bb9aedb8b0c9292f1d74d69ba1312b8902d75c7d15822a58786812&amp;expire=2017-08-24T08:29:17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6" descr="https://wkbos.bdimg.com/v1/docconvert1351/wk/611a8050294c77a318d656847e9ef7e0/0.png?responseCacheControl=max-age%3D3888000&amp;responseExpires=Sun%2C%2008%20Oct%202017%2015%3A29%3A17%20%2B0800&amp;authorization=bce-auth-v1%2Ffa1126e91489401fa7cc85045ce7179e%2F2017-08-24T07%3A29%3A17Z%2F3600%2Fhost%2F9a821b32b1079b1ec72a15d1a361121a1f59a33b52224944a0fbe82c83020865&amp;x-bce-range=214224-&amp;token=e714748055bb9aedb8b0c9292f1d74d69ba1312b8902d75c7d15822a58786812&amp;expire=2017-08-24T08:29:17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582121" y="4589140"/>
            <a:ext cx="3587842" cy="4628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一座博物馆的不均匀沉降</a:t>
            </a:r>
          </a:p>
        </p:txBody>
      </p:sp>
    </p:spTree>
    <p:extLst>
      <p:ext uri="{BB962C8B-B14F-4D97-AF65-F5344CB8AC3E}">
        <p14:creationId xmlns:p14="http://schemas.microsoft.com/office/powerpoint/2010/main" val="103065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643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54" name="Text Box 2"/>
          <p:cNvSpPr txBox="1">
            <a:spLocks noChangeArrowheads="1"/>
          </p:cNvSpPr>
          <p:nvPr/>
        </p:nvSpPr>
        <p:spPr bwMode="auto">
          <a:xfrm>
            <a:off x="4664075" y="4030663"/>
            <a:ext cx="384175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可归结为与土有关的</a:t>
            </a:r>
            <a:endParaRPr kumimoji="1" lang="en-US" altLang="zh-CN" sz="32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变形问题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1637393" y="1363155"/>
            <a:ext cx="4017446" cy="17727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意大利比萨斜塔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上海</a:t>
            </a: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“楼亲亲”</a:t>
            </a:r>
            <a:endParaRPr kumimoji="1"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墨西哥城</a:t>
            </a: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地面的沉降</a:t>
            </a:r>
            <a:endParaRPr kumimoji="1"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80356" name="AutoShape 4"/>
          <p:cNvSpPr>
            <a:spLocks noChangeArrowheads="1"/>
          </p:cNvSpPr>
          <p:nvPr/>
        </p:nvSpPr>
        <p:spPr bwMode="auto">
          <a:xfrm>
            <a:off x="3376613" y="4062413"/>
            <a:ext cx="814387" cy="625475"/>
          </a:xfrm>
          <a:prstGeom prst="homePlate">
            <a:avLst>
              <a:gd name="adj" fmla="val 37054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3110098" y="5751513"/>
            <a:ext cx="37866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2060"/>
                </a:solidFill>
                <a:ea typeface="黑体" pitchFamily="2" charset="-122"/>
              </a:rPr>
              <a:t>案例总结（二）</a:t>
            </a:r>
            <a:endParaRPr lang="en-US" altLang="zh-CN" sz="4000" b="1" dirty="0">
              <a:solidFill>
                <a:srgbClr val="002060"/>
              </a:solidFill>
              <a:ea typeface="黑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288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80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80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8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8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38" presetClass="entr" presetSubtype="0" accel="5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8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8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8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035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View of the Teton dam spillway - C549-100-8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923" y="653391"/>
            <a:ext cx="6506125" cy="5791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1379" name="Text Box 3"/>
          <p:cNvSpPr txBox="1">
            <a:spLocks noChangeArrowheads="1"/>
          </p:cNvSpPr>
          <p:nvPr/>
        </p:nvSpPr>
        <p:spPr bwMode="auto">
          <a:xfrm>
            <a:off x="6707480" y="694717"/>
            <a:ext cx="2035175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SzPct val="12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土坝，</a:t>
            </a:r>
          </a:p>
          <a:p>
            <a:pPr eaLnBrk="1" hangingPunct="1">
              <a:lnSpc>
                <a:spcPct val="110000"/>
              </a:lnSpc>
              <a:buSzPct val="12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高</a:t>
            </a: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90m</a:t>
            </a: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，</a:t>
            </a:r>
          </a:p>
          <a:p>
            <a:pPr eaLnBrk="1" hangingPunct="1">
              <a:lnSpc>
                <a:spcPct val="110000"/>
              </a:lnSpc>
              <a:buSzPct val="12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长</a:t>
            </a: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1000m</a:t>
            </a: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，</a:t>
            </a:r>
          </a:p>
          <a:p>
            <a:pPr eaLnBrk="1" hangingPunct="1">
              <a:lnSpc>
                <a:spcPct val="110000"/>
              </a:lnSpc>
              <a:buSzPct val="120000"/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1975</a:t>
            </a: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年建成</a:t>
            </a:r>
          </a:p>
          <a:p>
            <a:pPr eaLnBrk="1" hangingPunct="1">
              <a:lnSpc>
                <a:spcPct val="110000"/>
              </a:lnSpc>
              <a:buSzPct val="12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次年</a:t>
            </a: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6</a:t>
            </a: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月失事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827280" y="776051"/>
            <a:ext cx="800219" cy="397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美国</a:t>
            </a:r>
            <a:r>
              <a:rPr kumimoji="1" lang="en-US" altLang="zh-CN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Teton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坝失事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500"/>
                                        <p:tgtEl>
                                          <p:spTgt spid="1381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500"/>
                                        <p:tgtEl>
                                          <p:spTgt spid="1381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/>
                                        <p:tgtEl>
                                          <p:spTgt spid="1381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1379" grpId="0"/>
      <p:bldP spid="4506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2491159" y="5751513"/>
            <a:ext cx="53133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Teton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坝渗流破坏过程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10" name="Picture 2" descr="test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6"/>
          <a:stretch/>
        </p:blipFill>
        <p:spPr bwMode="auto">
          <a:xfrm>
            <a:off x="674688" y="727937"/>
            <a:ext cx="7879652" cy="4724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200512" y="3532328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993300"/>
                </a:solidFill>
                <a:latin typeface="Arial" charset="0"/>
              </a:rPr>
              <a:t>①</a:t>
            </a:r>
            <a:endParaRPr lang="zh-CN" altLang="en-US" sz="2800" b="1" dirty="0">
              <a:solidFill>
                <a:srgbClr val="993300"/>
              </a:solidFill>
              <a:latin typeface="Arial" charset="0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291013" y="3925888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993300"/>
                </a:solidFill>
                <a:latin typeface="宋体"/>
                <a:ea typeface="宋体"/>
              </a:rPr>
              <a:t>②</a:t>
            </a:r>
            <a:endParaRPr lang="zh-CN" altLang="en-US" sz="2800" b="1" dirty="0">
              <a:solidFill>
                <a:srgbClr val="993300"/>
              </a:solidFill>
              <a:latin typeface="Arial" charset="0"/>
            </a:endParaRPr>
          </a:p>
        </p:txBody>
      </p:sp>
      <p:sp>
        <p:nvSpPr>
          <p:cNvPr id="14" name="矩形 13"/>
          <p:cNvSpPr/>
          <p:nvPr/>
        </p:nvSpPr>
        <p:spPr>
          <a:xfrm rot="20923473">
            <a:off x="4983326" y="4706754"/>
            <a:ext cx="1731564" cy="47929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岸边溢洪道</a:t>
            </a:r>
          </a:p>
        </p:txBody>
      </p:sp>
      <p:sp>
        <p:nvSpPr>
          <p:cNvPr id="15" name="右箭头 14"/>
          <p:cNvSpPr/>
          <p:nvPr/>
        </p:nvSpPr>
        <p:spPr>
          <a:xfrm rot="486818">
            <a:off x="1146951" y="2992345"/>
            <a:ext cx="580170" cy="40220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 rot="1456920">
            <a:off x="7138146" y="3703638"/>
            <a:ext cx="1091966" cy="4147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Teton</a:t>
            </a:r>
            <a:r>
              <a:rPr kumimoji="1" lang="zh-CN" altLang="en-US" sz="20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河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7" name="右箭头 16"/>
          <p:cNvSpPr/>
          <p:nvPr/>
        </p:nvSpPr>
        <p:spPr>
          <a:xfrm rot="1234352">
            <a:off x="6455551" y="3474945"/>
            <a:ext cx="580170" cy="40220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47106" name="Picture 6" descr="TD-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32"/>
          <a:stretch>
            <a:fillRect/>
          </a:stretch>
        </p:blipFill>
        <p:spPr bwMode="auto">
          <a:xfrm>
            <a:off x="5233511" y="630237"/>
            <a:ext cx="3286657" cy="250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3" descr="TD-0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438" y="642701"/>
            <a:ext cx="3478121" cy="249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Line 4"/>
          <p:cNvSpPr>
            <a:spLocks noChangeShapeType="1"/>
          </p:cNvSpPr>
          <p:nvPr/>
        </p:nvSpPr>
        <p:spPr bwMode="auto">
          <a:xfrm flipH="1">
            <a:off x="2615619" y="917645"/>
            <a:ext cx="74613" cy="5921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8000" tIns="10800" rIns="18000" bIns="10800">
            <a:spAutoFit/>
          </a:bodyPr>
          <a:lstStyle/>
          <a:p>
            <a:endParaRPr lang="zh-CN" altLang="en-US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3318733" y="683955"/>
            <a:ext cx="1624012" cy="46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上午</a:t>
            </a: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10:30</a:t>
            </a:r>
            <a:endParaRPr kumimoji="1" lang="zh-CN" altLang="en-US" sz="2400" b="1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7110" name="Text Box 7"/>
          <p:cNvSpPr txBox="1">
            <a:spLocks noChangeArrowheads="1"/>
          </p:cNvSpPr>
          <p:nvPr/>
        </p:nvSpPr>
        <p:spPr bwMode="auto">
          <a:xfrm>
            <a:off x="7201639" y="695306"/>
            <a:ext cx="1301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en-US" altLang="zh-CN" sz="2400" b="1" dirty="0" smtClean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11:00</a:t>
            </a:r>
            <a:endParaRPr kumimoji="1" lang="zh-CN" altLang="en-US" sz="2400" b="1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47111" name="Picture 8" descr="TD-0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43"/>
          <a:stretch>
            <a:fillRect/>
          </a:stretch>
        </p:blipFill>
        <p:spPr bwMode="auto">
          <a:xfrm>
            <a:off x="1580922" y="3219372"/>
            <a:ext cx="3461091" cy="255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2" name="Text Box 9"/>
          <p:cNvSpPr txBox="1">
            <a:spLocks noChangeArrowheads="1"/>
          </p:cNvSpPr>
          <p:nvPr/>
        </p:nvSpPr>
        <p:spPr bwMode="auto">
          <a:xfrm>
            <a:off x="3852267" y="3543637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11:30</a:t>
            </a:r>
            <a:endParaRPr kumimoji="1" lang="zh-CN" altLang="en-US" sz="2400" b="1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47113" name="Picture 10" descr="TD-0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602" y="3221761"/>
            <a:ext cx="3268463" cy="255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4" name="Text Box 11"/>
          <p:cNvSpPr txBox="1">
            <a:spLocks noChangeArrowheads="1"/>
          </p:cNvSpPr>
          <p:nvPr/>
        </p:nvSpPr>
        <p:spPr bwMode="auto">
          <a:xfrm>
            <a:off x="7589335" y="3938255"/>
            <a:ext cx="1166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11:57</a:t>
            </a:r>
            <a:endParaRPr kumimoji="1" lang="zh-CN" altLang="en-US" sz="2400" b="1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576619" y="5854065"/>
            <a:ext cx="53133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Teton</a:t>
            </a:r>
            <a:r>
              <a:rPr kumimoji="1" lang="zh-CN" altLang="en-US" sz="4000" b="1" dirty="0" smtClean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坝破坏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过程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2"/>
          <p:cNvSpPr>
            <a:spLocks noChangeArrowheads="1"/>
          </p:cNvSpPr>
          <p:nvPr/>
        </p:nvSpPr>
        <p:spPr bwMode="auto">
          <a:xfrm>
            <a:off x="2568160" y="5754688"/>
            <a:ext cx="5168900" cy="705169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Teton</a:t>
            </a: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坝失事现场现状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6" name="Picture 3" descr="View of  Teton dam after collapse - C549-100-538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1"/>
            <a:ext cx="5334000" cy="388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461000" y="1076828"/>
            <a:ext cx="3413867" cy="36625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损失</a:t>
            </a:r>
          </a:p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直接损失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8000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万美元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，死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14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人，受灾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2.5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万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人</a:t>
            </a:r>
            <a:endParaRPr kumimoji="1" lang="en-US" altLang="zh-CN" sz="24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5500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起诉讼，涉及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2.5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亿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美元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原因</a:t>
            </a:r>
            <a:r>
              <a:rPr kumimoji="1" lang="zh-CN" altLang="en-US" sz="3200" b="1" dirty="0">
                <a:solidFill>
                  <a:srgbClr val="FFCC66"/>
                </a:solidFill>
                <a:latin typeface="幼圆" pitchFamily="49" charset="-122"/>
                <a:ea typeface="幼圆" pitchFamily="49" charset="-122"/>
              </a:rPr>
              <a:t/>
            </a:r>
            <a:br>
              <a:rPr kumimoji="1" lang="zh-CN" altLang="en-US" sz="3200" b="1" dirty="0">
                <a:solidFill>
                  <a:srgbClr val="FFCC66"/>
                </a:solidFill>
                <a:latin typeface="幼圆" pitchFamily="49" charset="-122"/>
                <a:ea typeface="幼圆" pitchFamily="49" charset="-122"/>
              </a:rPr>
            </a:b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渗透破坏：水力劈裂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    冲蚀          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2290" y="557312"/>
            <a:ext cx="15208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2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坝体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冲走</a:t>
            </a:r>
            <a:r>
              <a:rPr lang="zh-CN" altLang="en-US" sz="2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留下的豁口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1270000" y="1257300"/>
            <a:ext cx="635000" cy="116840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165491" y="570012"/>
            <a:ext cx="12604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2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人工挖出的豁口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3683000" y="1308100"/>
            <a:ext cx="190500" cy="115570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2762472" y="5751513"/>
            <a:ext cx="40147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1998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年长江大堤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9" b="6920"/>
          <a:stretch>
            <a:fillRect/>
          </a:stretch>
        </p:blipFill>
        <p:spPr bwMode="auto">
          <a:xfrm>
            <a:off x="198019" y="517969"/>
            <a:ext cx="4221581" cy="21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171854" y="912813"/>
            <a:ext cx="277834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98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年</a:t>
            </a:r>
            <a:r>
              <a:rPr kumimoji="1"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洪水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中的长江大堤和等待救援的灾民</a:t>
            </a:r>
            <a:endParaRPr kumimoji="1" lang="zh-CN" altLang="en-US" sz="2800" b="1" dirty="0">
              <a:solidFill>
                <a:srgbClr val="C00000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8" name="Picture 2" descr="http://www.chinadaily.com.cn/china/images/attachement/jpg/site1/20160711/b083fe955a7418ed53141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807352"/>
            <a:ext cx="4233863" cy="279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www.sinaimg.cn/dy/slidenews/1_img/2016_27/45272_710019_62174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075" y="2909888"/>
            <a:ext cx="4014519" cy="267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2796908" y="5751513"/>
            <a:ext cx="3486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t>九江大堤决口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245100" y="1030288"/>
            <a:ext cx="3378201" cy="275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1998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8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月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7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日中午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时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20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分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，九江大堤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在位于城西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4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公里处发生决堤，顷刻间，大堤被撕开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</a:rPr>
              <a:t>50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多米的口子，江水直扑城区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253038" y="4090988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溃口原因：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</a:rPr>
              <a:t>堤基管涌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5281613" y="4762500"/>
            <a:ext cx="3756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焦点词汇：</a:t>
            </a: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豆腐渣工程</a:t>
            </a:r>
          </a:p>
        </p:txBody>
      </p:sp>
      <p:pic>
        <p:nvPicPr>
          <p:cNvPr id="12" name="Picture 2" descr="http://www.ptfish.com/data/attachment/forum/201108/07/232447k7er91kdp7dwi65d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56"/>
          <a:stretch/>
        </p:blipFill>
        <p:spPr bwMode="auto">
          <a:xfrm>
            <a:off x="127000" y="1084580"/>
            <a:ext cx="4953000" cy="3284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/>
        </p:nvSpPr>
        <p:spPr>
          <a:xfrm>
            <a:off x="803290" y="4570512"/>
            <a:ext cx="34893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九江大堤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沉船堵溃口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410198" y="1324598"/>
            <a:ext cx="8323604" cy="4177676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646418"/>
              </p:ext>
            </p:extLst>
          </p:nvPr>
        </p:nvGraphicFramePr>
        <p:xfrm>
          <a:off x="668338" y="1410520"/>
          <a:ext cx="7556500" cy="396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图表" r:id="rId4" imgW="6096090" imgH="4067280" progId="">
                  <p:embed followColorScheme="full"/>
                </p:oleObj>
              </mc:Choice>
              <mc:Fallback>
                <p:oleObj name="图表" r:id="rId4" imgW="6096090" imgH="4067280" progId="">
                  <p:embed followColorScheme="full"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6360" b="17821"/>
                      <a:stretch>
                        <a:fillRect/>
                      </a:stretch>
                    </p:blipFill>
                    <p:spPr bwMode="auto">
                      <a:xfrm>
                        <a:off x="668338" y="1410520"/>
                        <a:ext cx="7556500" cy="3960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6500" name="Text Box 4"/>
          <p:cNvSpPr txBox="1">
            <a:spLocks noChangeArrowheads="1"/>
          </p:cNvSpPr>
          <p:nvPr/>
        </p:nvSpPr>
        <p:spPr bwMode="auto">
          <a:xfrm>
            <a:off x="2253298" y="5742967"/>
            <a:ext cx="6035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98</a:t>
            </a:r>
            <a:r>
              <a:rPr kumimoji="1"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洪水长江堤防险情统计</a:t>
            </a:r>
          </a:p>
        </p:txBody>
      </p:sp>
      <p:sp>
        <p:nvSpPr>
          <p:cNvPr id="1386501" name="Text Box 5"/>
          <p:cNvSpPr txBox="1">
            <a:spLocks noChangeArrowheads="1"/>
          </p:cNvSpPr>
          <p:nvPr/>
        </p:nvSpPr>
        <p:spPr bwMode="auto">
          <a:xfrm>
            <a:off x="356537" y="683753"/>
            <a:ext cx="47111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40000"/>
              <a:buFont typeface="Wingdings" pitchFamily="2" charset="2"/>
              <a:buChar char="F"/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</a:rPr>
              <a:t>共发生各种险情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</a:rPr>
              <a:t>6000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</a:rPr>
              <a:t>余处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570" name="Text Box 2"/>
          <p:cNvSpPr txBox="1">
            <a:spLocks noChangeArrowheads="1"/>
          </p:cNvSpPr>
          <p:nvPr/>
        </p:nvSpPr>
        <p:spPr bwMode="auto">
          <a:xfrm>
            <a:off x="4682146" y="3627781"/>
            <a:ext cx="3856038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可归结为与土有关的</a:t>
            </a:r>
            <a:endParaRPr kumimoji="1" lang="en-US" altLang="zh-CN" sz="32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渗透问题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1125981" y="1292927"/>
            <a:ext cx="4564070" cy="14219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美国</a:t>
            </a:r>
            <a:r>
              <a:rPr kumimoji="1" lang="en-US" altLang="zh-CN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Teton</a:t>
            </a: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坝失事</a:t>
            </a:r>
          </a:p>
          <a:p>
            <a:pPr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en-US" altLang="zh-CN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98</a:t>
            </a: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洪水长江堤防</a:t>
            </a: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险情</a:t>
            </a:r>
            <a:endParaRPr kumimoji="1" lang="zh-CN" altLang="en-US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89572" name="AutoShape 4"/>
          <p:cNvSpPr>
            <a:spLocks noChangeArrowheads="1"/>
          </p:cNvSpPr>
          <p:nvPr/>
        </p:nvSpPr>
        <p:spPr bwMode="auto">
          <a:xfrm>
            <a:off x="3329596" y="3659531"/>
            <a:ext cx="885825" cy="711200"/>
          </a:xfrm>
          <a:prstGeom prst="homePlate">
            <a:avLst>
              <a:gd name="adj" fmla="val 31138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2716439" y="5751513"/>
            <a:ext cx="37866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2060"/>
                </a:solidFill>
                <a:ea typeface="黑体" pitchFamily="2" charset="-122"/>
              </a:rPr>
              <a:t>案例总结（三）</a:t>
            </a:r>
            <a:endParaRPr lang="en-US" altLang="zh-CN" sz="4000" b="1" dirty="0">
              <a:solidFill>
                <a:srgbClr val="002060"/>
              </a:solidFill>
              <a:ea typeface="黑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8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8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9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9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38" presetClass="entr" presetSubtype="0" accel="5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8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8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89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57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594" name="AutoShape 2"/>
          <p:cNvSpPr>
            <a:spLocks noChangeArrowheads="1"/>
          </p:cNvSpPr>
          <p:nvPr/>
        </p:nvSpPr>
        <p:spPr bwMode="auto">
          <a:xfrm>
            <a:off x="614363" y="714375"/>
            <a:ext cx="4564062" cy="793750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latin typeface="幼圆" pitchFamily="49" charset="-122"/>
                <a:ea typeface="幼圆" pitchFamily="49" charset="-122"/>
              </a:rPr>
              <a:t>土工结构物或地基</a:t>
            </a:r>
          </a:p>
        </p:txBody>
      </p:sp>
      <p:sp>
        <p:nvSpPr>
          <p:cNvPr id="1390595" name="AutoShape 3"/>
          <p:cNvSpPr>
            <a:spLocks noChangeArrowheads="1"/>
          </p:cNvSpPr>
          <p:nvPr/>
        </p:nvSpPr>
        <p:spPr bwMode="auto">
          <a:xfrm>
            <a:off x="6216650" y="723900"/>
            <a:ext cx="1228725" cy="725488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>
                <a:solidFill>
                  <a:srgbClr val="990000"/>
                </a:solidFill>
                <a:latin typeface="幼圆" pitchFamily="49" charset="-122"/>
                <a:ea typeface="幼圆" pitchFamily="49" charset="-122"/>
              </a:rPr>
              <a:t> 土 </a:t>
            </a:r>
          </a:p>
        </p:txBody>
      </p:sp>
      <p:sp>
        <p:nvSpPr>
          <p:cNvPr id="1390596" name="AutoShape 4"/>
          <p:cNvSpPr>
            <a:spLocks noChangeArrowheads="1"/>
          </p:cNvSpPr>
          <p:nvPr/>
        </p:nvSpPr>
        <p:spPr bwMode="auto">
          <a:xfrm>
            <a:off x="1095375" y="2286874"/>
            <a:ext cx="2963863" cy="1676400"/>
          </a:xfrm>
          <a:prstGeom prst="roundRect">
            <a:avLst>
              <a:gd name="adj" fmla="val 11176"/>
            </a:avLst>
          </a:prstGeom>
          <a:solidFill>
            <a:srgbClr val="99CCF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3200" b="1">
                <a:latin typeface="幼圆" pitchFamily="49" charset="-122"/>
                <a:ea typeface="幼圆" pitchFamily="49" charset="-122"/>
              </a:rPr>
              <a:t> 强度问题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3200" b="1">
                <a:latin typeface="幼圆" pitchFamily="49" charset="-122"/>
                <a:ea typeface="幼圆" pitchFamily="49" charset="-122"/>
              </a:rPr>
              <a:t> 变形问题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3200" b="1">
                <a:latin typeface="幼圆" pitchFamily="49" charset="-122"/>
                <a:ea typeface="幼圆" pitchFamily="49" charset="-122"/>
              </a:rPr>
              <a:t> 渗透问题</a:t>
            </a:r>
          </a:p>
        </p:txBody>
      </p:sp>
      <p:sp>
        <p:nvSpPr>
          <p:cNvPr id="1390597" name="AutoShape 5"/>
          <p:cNvSpPr>
            <a:spLocks noChangeArrowheads="1"/>
          </p:cNvSpPr>
          <p:nvPr/>
        </p:nvSpPr>
        <p:spPr bwMode="auto">
          <a:xfrm>
            <a:off x="5391150" y="2288461"/>
            <a:ext cx="3014663" cy="1676400"/>
          </a:xfrm>
          <a:prstGeom prst="roundRect">
            <a:avLst>
              <a:gd name="adj" fmla="val 13069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³"/>
            </a:pPr>
            <a:r>
              <a:rPr kumimoji="1" lang="zh-CN" altLang="en-US" sz="3200" b="1">
                <a:latin typeface="幼圆" pitchFamily="49" charset="-122"/>
                <a:ea typeface="幼圆" pitchFamily="49" charset="-122"/>
              </a:rPr>
              <a:t> 强度特性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³"/>
            </a:pPr>
            <a:r>
              <a:rPr kumimoji="1" lang="zh-CN" altLang="en-US" sz="3200" b="1">
                <a:latin typeface="幼圆" pitchFamily="49" charset="-122"/>
                <a:ea typeface="幼圆" pitchFamily="49" charset="-122"/>
              </a:rPr>
              <a:t> 变形特性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³"/>
            </a:pPr>
            <a:r>
              <a:rPr kumimoji="1" lang="zh-CN" altLang="en-US" sz="3200" b="1">
                <a:latin typeface="幼圆" pitchFamily="49" charset="-122"/>
                <a:ea typeface="幼圆" pitchFamily="49" charset="-122"/>
              </a:rPr>
              <a:t> 渗透特性</a:t>
            </a:r>
          </a:p>
        </p:txBody>
      </p:sp>
      <p:sp>
        <p:nvSpPr>
          <p:cNvPr id="1390598" name="AutoShape 6"/>
          <p:cNvSpPr>
            <a:spLocks noChangeArrowheads="1"/>
          </p:cNvSpPr>
          <p:nvPr/>
        </p:nvSpPr>
        <p:spPr bwMode="auto">
          <a:xfrm>
            <a:off x="4248150" y="2883774"/>
            <a:ext cx="974725" cy="690562"/>
          </a:xfrm>
          <a:prstGeom prst="leftRightArrow">
            <a:avLst>
              <a:gd name="adj1" fmla="val 45750"/>
              <a:gd name="adj2" fmla="val 52408"/>
            </a:avLst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0599" name="AutoShape 7"/>
          <p:cNvSpPr>
            <a:spLocks noChangeArrowheads="1"/>
          </p:cNvSpPr>
          <p:nvPr/>
        </p:nvSpPr>
        <p:spPr bwMode="auto">
          <a:xfrm>
            <a:off x="2274888" y="1638062"/>
            <a:ext cx="712787" cy="576263"/>
          </a:xfrm>
          <a:prstGeom prst="downArrow">
            <a:avLst>
              <a:gd name="adj1" fmla="val 46611"/>
              <a:gd name="adj2" fmla="val 61981"/>
            </a:avLst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90600" name="AutoShape 8"/>
          <p:cNvSpPr>
            <a:spLocks noChangeArrowheads="1"/>
          </p:cNvSpPr>
          <p:nvPr/>
        </p:nvSpPr>
        <p:spPr bwMode="auto">
          <a:xfrm>
            <a:off x="870188" y="4195657"/>
            <a:ext cx="7913688" cy="1215947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10800" rIns="0" bIns="10800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土力学可以解决工程实践问题，这正是</a:t>
            </a:r>
            <a:r>
              <a:rPr kumimoji="1" lang="zh-CN" altLang="en-US" sz="2800" b="1" dirty="0">
                <a:solidFill>
                  <a:srgbClr val="C00000"/>
                </a:solidFill>
                <a:latin typeface="方正舒体" pitchFamily="2" charset="-122"/>
                <a:ea typeface="幼圆" pitchFamily="49" charset="-122"/>
              </a:rPr>
              <a:t>土力学存在的价值以及我们学习土力学的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方正舒体" pitchFamily="2" charset="-122"/>
                <a:ea typeface="幼圆" pitchFamily="49" charset="-122"/>
              </a:rPr>
              <a:t>目的</a:t>
            </a:r>
            <a:endParaRPr kumimoji="1" lang="zh-CN" altLang="en-US" sz="2800" b="1" dirty="0">
              <a:solidFill>
                <a:srgbClr val="C00000"/>
              </a:solidFill>
              <a:latin typeface="方正舒体" pitchFamily="2" charset="-122"/>
              <a:ea typeface="幼圆" pitchFamily="49" charset="-122"/>
            </a:endParaRPr>
          </a:p>
        </p:txBody>
      </p:sp>
      <p:sp>
        <p:nvSpPr>
          <p:cNvPr id="1390601" name="AutoShape 9"/>
          <p:cNvSpPr>
            <a:spLocks noChangeArrowheads="1"/>
          </p:cNvSpPr>
          <p:nvPr/>
        </p:nvSpPr>
        <p:spPr bwMode="auto">
          <a:xfrm>
            <a:off x="6469063" y="1671400"/>
            <a:ext cx="712787" cy="576262"/>
          </a:xfrm>
          <a:prstGeom prst="downArrow">
            <a:avLst>
              <a:gd name="adj1" fmla="val 46611"/>
              <a:gd name="adj2" fmla="val 61981"/>
            </a:avLst>
          </a:prstGeom>
          <a:solidFill>
            <a:srgbClr val="FF9933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2725629" y="5751513"/>
            <a:ext cx="44577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2060"/>
                </a:solidFill>
                <a:ea typeface="黑体" pitchFamily="2" charset="-122"/>
              </a:rPr>
              <a:t>学习土力学的目的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：为什么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要学习土力学？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0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0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90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90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90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39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90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90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906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90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9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39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1390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1390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2000"/>
                                        <p:tgtEl>
                                          <p:spTgt spid="139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0594" grpId="0" animBg="1"/>
      <p:bldP spid="1390595" grpId="0" animBg="1"/>
      <p:bldP spid="1390596" grpId="0" animBg="1" autoUpdateAnimBg="0"/>
      <p:bldP spid="1390597" grpId="0" animBg="1" autoUpdateAnimBg="0"/>
      <p:bldP spid="1390598" grpId="0" animBg="1"/>
      <p:bldP spid="1390599" grpId="0" animBg="1"/>
      <p:bldP spid="1390600" grpId="0"/>
      <p:bldP spid="139060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863725" y="1000125"/>
            <a:ext cx="523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课程绪论：土力学及其特点</a:t>
            </a:r>
            <a:endParaRPr kumimoji="1" lang="en-US" altLang="zh-CN" sz="32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163763" y="2171700"/>
            <a:ext cx="5256212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什么是土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   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itchFamily="2" charset="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土有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哪些特点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为什么要学习土力学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土力学包括哪些内容？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如何学好土力学？</a:t>
            </a:r>
          </a:p>
        </p:txBody>
      </p:sp>
    </p:spTree>
    <p:extLst>
      <p:ext uri="{BB962C8B-B14F-4D97-AF65-F5344CB8AC3E}">
        <p14:creationId xmlns:p14="http://schemas.microsoft.com/office/powerpoint/2010/main" val="318080326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4" name="AutoShape 32"/>
          <p:cNvSpPr>
            <a:spLocks noChangeArrowheads="1"/>
          </p:cNvSpPr>
          <p:nvPr/>
        </p:nvSpPr>
        <p:spPr bwMode="auto">
          <a:xfrm>
            <a:off x="2318687" y="5807075"/>
            <a:ext cx="6084887" cy="64611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/>
          <a:p>
            <a:pPr marL="342900" indent="-342900" fontAlgn="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37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土力学与其他学科的比较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0" y="0"/>
            <a:ext cx="41465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土及土力学有哪些特点？ </a:t>
            </a:r>
          </a:p>
        </p:txBody>
      </p:sp>
      <p:graphicFrame>
        <p:nvGraphicFramePr>
          <p:cNvPr id="5" name="Group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261502"/>
              </p:ext>
            </p:extLst>
          </p:nvPr>
        </p:nvGraphicFramePr>
        <p:xfrm>
          <a:off x="757531" y="984429"/>
          <a:ext cx="7872413" cy="4119234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1573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4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学   科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研   究   对   象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4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理论力学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质点或刚体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理想物体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4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材料力学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单个弹性杆件（杆、轴、梁）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连续固体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4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结构力学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若干弹性杆件组成的杆件结构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4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弹性力学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弹性实体结构或板壳结构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4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水力学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水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连续流体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E77">
                        <a:alpha val="7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4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土力学</a:t>
                      </a:r>
                      <a:endParaRPr kumimoji="1" lang="zh-CN" alt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土：天然的三相碎散堆积物</a:t>
                      </a:r>
                      <a:endParaRPr kumimoji="1" lang="zh-CN" alt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>
                        <a:alpha val="7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幼圆" pitchFamily="49" charset="-122"/>
                          <a:ea typeface="幼圆" pitchFamily="49" charset="-122"/>
                        </a:rPr>
                        <a:t>碎散材料</a:t>
                      </a:r>
                      <a:endParaRPr kumimoji="1" lang="zh-CN" alt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幼圆" pitchFamily="49" charset="-122"/>
                        <a:ea typeface="幼圆" pitchFamily="49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>
                        <a:alpha val="7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87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AutoShape 35"/>
          <p:cNvSpPr>
            <a:spLocks noChangeArrowheads="1"/>
          </p:cNvSpPr>
          <p:nvPr/>
        </p:nvSpPr>
        <p:spPr bwMode="auto">
          <a:xfrm>
            <a:off x="3282858" y="5843588"/>
            <a:ext cx="2955925" cy="609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5390" tIns="9234" rIns="15390" bIns="9234">
            <a:spAutoFit/>
          </a:bodyPr>
          <a:lstStyle/>
          <a:p>
            <a:pPr marL="342900" indent="-342900" fontAlgn="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35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土力学的特点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0"/>
            <a:ext cx="41465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土及土力学有哪些特点？ </a:t>
            </a:r>
          </a:p>
        </p:txBody>
      </p:sp>
      <p:sp>
        <p:nvSpPr>
          <p:cNvPr id="19" name="AutoShape 4"/>
          <p:cNvSpPr>
            <a:spLocks noChangeArrowheads="1"/>
          </p:cNvSpPr>
          <p:nvPr/>
        </p:nvSpPr>
        <p:spPr bwMode="gray">
          <a:xfrm flipV="1">
            <a:off x="1599834" y="2604974"/>
            <a:ext cx="5530850" cy="1041997"/>
          </a:xfrm>
          <a:prstGeom prst="upArrow">
            <a:avLst>
              <a:gd name="adj1" fmla="val 57824"/>
              <a:gd name="adj2" fmla="val 54398"/>
            </a:avLst>
          </a:prstGeom>
          <a:gradFill rotWithShape="1">
            <a:gsLst>
              <a:gs pos="0">
                <a:srgbClr val="FFCCCC"/>
              </a:gs>
              <a:gs pos="100000">
                <a:srgbClr val="EAEAEA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" name="Group 42"/>
          <p:cNvGrpSpPr>
            <a:grpSpLocks/>
          </p:cNvGrpSpPr>
          <p:nvPr/>
        </p:nvGrpSpPr>
        <p:grpSpPr bwMode="auto">
          <a:xfrm>
            <a:off x="1007453" y="979605"/>
            <a:ext cx="2060575" cy="1293812"/>
            <a:chOff x="463" y="398"/>
            <a:chExt cx="1498" cy="970"/>
          </a:xfrm>
        </p:grpSpPr>
        <p:sp>
          <p:nvSpPr>
            <p:cNvPr id="22" name="AutoShape 43"/>
            <p:cNvSpPr>
              <a:spLocks noChangeArrowheads="1"/>
            </p:cNvSpPr>
            <p:nvPr/>
          </p:nvSpPr>
          <p:spPr bwMode="auto">
            <a:xfrm>
              <a:off x="463" y="398"/>
              <a:ext cx="1498" cy="970"/>
            </a:xfrm>
            <a:prstGeom prst="pentagon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44"/>
            <p:cNvSpPr txBox="1">
              <a:spLocks noChangeArrowheads="1"/>
            </p:cNvSpPr>
            <p:nvPr/>
          </p:nvSpPr>
          <p:spPr bwMode="auto">
            <a:xfrm>
              <a:off x="561" y="707"/>
              <a:ext cx="1305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8181" tIns="39091" rIns="78181" bIns="39091">
              <a:spAutoFit/>
            </a:bodyPr>
            <a:lstStyle>
              <a:lvl1pPr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100" b="1" dirty="0" smtClean="0">
                  <a:ea typeface="幼圆" pitchFamily="49" charset="-122"/>
                </a:rPr>
                <a:t>连续介质</a:t>
              </a:r>
              <a:r>
                <a:rPr kumimoji="1" lang="en-US" altLang="zh-CN" sz="2100" b="1" dirty="0" smtClean="0">
                  <a:ea typeface="幼圆" pitchFamily="49" charset="-122"/>
                </a:rPr>
                <a:t/>
              </a:r>
              <a:br>
                <a:rPr kumimoji="1" lang="en-US" altLang="zh-CN" sz="2100" b="1" dirty="0" smtClean="0">
                  <a:ea typeface="幼圆" pitchFamily="49" charset="-122"/>
                </a:rPr>
              </a:br>
              <a:r>
                <a:rPr kumimoji="1" lang="zh-CN" altLang="en-US" sz="2100" b="1" dirty="0" smtClean="0">
                  <a:ea typeface="幼圆" pitchFamily="49" charset="-122"/>
                </a:rPr>
                <a:t>力学的知识</a:t>
              </a:r>
              <a:endParaRPr kumimoji="1" lang="zh-CN" altLang="en-US" sz="2100" b="1" dirty="0">
                <a:ea typeface="幼圆" pitchFamily="49" charset="-122"/>
              </a:endParaRPr>
            </a:p>
          </p:txBody>
        </p:sp>
      </p:grpSp>
      <p:grpSp>
        <p:nvGrpSpPr>
          <p:cNvPr id="24" name="Group 45"/>
          <p:cNvGrpSpPr>
            <a:grpSpLocks/>
          </p:cNvGrpSpPr>
          <p:nvPr/>
        </p:nvGrpSpPr>
        <p:grpSpPr bwMode="auto">
          <a:xfrm>
            <a:off x="3434741" y="1082792"/>
            <a:ext cx="1914525" cy="1189038"/>
            <a:chOff x="2228" y="475"/>
            <a:chExt cx="1392" cy="89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5" name="Oval 46"/>
            <p:cNvSpPr>
              <a:spLocks noChangeArrowheads="1"/>
            </p:cNvSpPr>
            <p:nvPr/>
          </p:nvSpPr>
          <p:spPr bwMode="auto">
            <a:xfrm>
              <a:off x="2228" y="475"/>
              <a:ext cx="1392" cy="892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Text Box 47"/>
            <p:cNvSpPr txBox="1">
              <a:spLocks noChangeArrowheads="1"/>
            </p:cNvSpPr>
            <p:nvPr/>
          </p:nvSpPr>
          <p:spPr bwMode="auto">
            <a:xfrm>
              <a:off x="2391" y="668"/>
              <a:ext cx="1099" cy="5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8181" tIns="39091" rIns="78181" bIns="39091">
              <a:spAutoFit/>
            </a:bodyPr>
            <a:lstStyle>
              <a:lvl1pPr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100" b="1" dirty="0">
                  <a:ea typeface="幼圆" pitchFamily="49" charset="-122"/>
                </a:rPr>
                <a:t>描述碎散体特性的理论</a:t>
              </a:r>
            </a:p>
          </p:txBody>
        </p:sp>
      </p:grpSp>
      <p:grpSp>
        <p:nvGrpSpPr>
          <p:cNvPr id="27" name="Group 48"/>
          <p:cNvGrpSpPr>
            <a:grpSpLocks/>
          </p:cNvGrpSpPr>
          <p:nvPr/>
        </p:nvGrpSpPr>
        <p:grpSpPr bwMode="auto">
          <a:xfrm>
            <a:off x="5815991" y="1033580"/>
            <a:ext cx="2060575" cy="1293812"/>
            <a:chOff x="3959" y="438"/>
            <a:chExt cx="1498" cy="970"/>
          </a:xfrm>
        </p:grpSpPr>
        <p:sp>
          <p:nvSpPr>
            <p:cNvPr id="28" name="AutoShape 49"/>
            <p:cNvSpPr>
              <a:spLocks noChangeArrowheads="1"/>
            </p:cNvSpPr>
            <p:nvPr/>
          </p:nvSpPr>
          <p:spPr bwMode="auto">
            <a:xfrm>
              <a:off x="3959" y="438"/>
              <a:ext cx="1498" cy="970"/>
            </a:xfrm>
            <a:prstGeom prst="pentagon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Text Box 50"/>
            <p:cNvSpPr txBox="1">
              <a:spLocks noChangeArrowheads="1"/>
            </p:cNvSpPr>
            <p:nvPr/>
          </p:nvSpPr>
          <p:spPr bwMode="auto">
            <a:xfrm>
              <a:off x="4127" y="733"/>
              <a:ext cx="1181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8181" tIns="39091" rIns="78181" bIns="39091">
              <a:spAutoFit/>
            </a:bodyPr>
            <a:lstStyle>
              <a:lvl1pPr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810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defTabSz="7810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900" b="1" dirty="0" smtClean="0">
                  <a:ea typeface="幼圆" pitchFamily="49" charset="-122"/>
                </a:rPr>
                <a:t>试验规律</a:t>
              </a:r>
              <a:r>
                <a:rPr kumimoji="1" lang="zh-CN" altLang="en-US" sz="1900" b="1" dirty="0">
                  <a:ea typeface="幼圆" pitchFamily="49" charset="-122"/>
                </a:rPr>
                <a:t>及工程实践经验</a:t>
              </a:r>
            </a:p>
          </p:txBody>
        </p:sp>
      </p:grpSp>
      <p:sp>
        <p:nvSpPr>
          <p:cNvPr id="30" name="AutoShape 5"/>
          <p:cNvSpPr>
            <a:spLocks noChangeArrowheads="1"/>
          </p:cNvSpPr>
          <p:nvPr/>
        </p:nvSpPr>
        <p:spPr bwMode="gray">
          <a:xfrm>
            <a:off x="1687193" y="3752730"/>
            <a:ext cx="5532327" cy="1597145"/>
          </a:xfrm>
          <a:prstGeom prst="roundRect">
            <a:avLst>
              <a:gd name="adj" fmla="val 50000"/>
            </a:avLst>
          </a:prstGeom>
          <a:solidFill>
            <a:srgbClr val="FFCCFF"/>
          </a:soli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 eaLnBrk="0" hangingPunct="0">
              <a:spcAft>
                <a:spcPct val="20000"/>
              </a:spcAft>
            </a:pPr>
            <a:r>
              <a:rPr lang="zh-CN" alt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土力学：</a:t>
            </a:r>
            <a:endParaRPr lang="en-US" altLang="zh-CN" sz="2800" dirty="0" smtClean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研究</a:t>
            </a:r>
            <a:r>
              <a:rPr lang="zh-CN" altLang="en-US" sz="24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土的渗透、变形和强度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特性</a:t>
            </a:r>
            <a:endParaRPr lang="en-US" altLang="zh-CN" sz="2400" b="1" dirty="0" smtClean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以及</a:t>
            </a:r>
            <a:r>
              <a:rPr lang="zh-CN" altLang="en-US" sz="24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与此有关的工程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问题</a:t>
            </a:r>
            <a:endParaRPr lang="zh-CN" altLang="en-US" sz="2400" b="1" dirty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132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ChangeArrowheads="1"/>
          </p:cNvSpPr>
          <p:nvPr/>
        </p:nvSpPr>
        <p:spPr bwMode="auto">
          <a:xfrm>
            <a:off x="2731749" y="5807075"/>
            <a:ext cx="4522787" cy="64611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/>
          <a:p>
            <a:pPr marL="342900" indent="-342900" fontAlgn="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37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土力学发展的历史</a:t>
            </a:r>
          </a:p>
        </p:txBody>
      </p:sp>
      <p:sp>
        <p:nvSpPr>
          <p:cNvPr id="1353731" name="Text Box 3"/>
          <p:cNvSpPr txBox="1">
            <a:spLocks noChangeArrowheads="1"/>
          </p:cNvSpPr>
          <p:nvPr/>
        </p:nvSpPr>
        <p:spPr bwMode="auto">
          <a:xfrm>
            <a:off x="1214251" y="879175"/>
            <a:ext cx="6661150" cy="447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266700" indent="-266700" eaLnBrk="1" hangingPunct="1">
              <a:spcBef>
                <a:spcPts val="200"/>
              </a:spcBef>
              <a:spcAft>
                <a:spcPts val="200"/>
              </a:spcAft>
              <a:buClr>
                <a:srgbClr val="CC0000"/>
              </a:buClr>
              <a:buSzPct val="70000"/>
              <a:buFont typeface="Wingdings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1773-1776 Coulomb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，强度理论，土压力理论</a:t>
            </a:r>
          </a:p>
          <a:p>
            <a:pPr marL="266700" indent="-266700" eaLnBrk="1" hangingPunct="1">
              <a:spcBef>
                <a:spcPts val="200"/>
              </a:spcBef>
              <a:spcAft>
                <a:spcPts val="200"/>
              </a:spcAft>
              <a:buClr>
                <a:srgbClr val="CC0000"/>
              </a:buClr>
              <a:buSzPct val="70000"/>
              <a:buFont typeface="Wingdings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1856  Darcy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：达西渗流定律</a:t>
            </a:r>
          </a:p>
          <a:p>
            <a:pPr marL="266700" indent="-266700" eaLnBrk="1" hangingPunct="1">
              <a:spcBef>
                <a:spcPts val="200"/>
              </a:spcBef>
              <a:spcAft>
                <a:spcPts val="200"/>
              </a:spcAft>
              <a:buClr>
                <a:srgbClr val="CC0000"/>
              </a:buClr>
              <a:buSzPct val="70000"/>
              <a:buFont typeface="Wingdings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1857  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Rankine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：朗肯土压力理论</a:t>
            </a:r>
          </a:p>
          <a:p>
            <a:pPr marL="266700" indent="-266700" eaLnBrk="1" hangingPunct="1">
              <a:spcBef>
                <a:spcPts val="200"/>
              </a:spcBef>
              <a:spcAft>
                <a:spcPts val="1200"/>
              </a:spcAft>
              <a:buClr>
                <a:srgbClr val="CC0000"/>
              </a:buClr>
              <a:buSzPct val="70000"/>
              <a:buFont typeface="Wingdings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1920 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Prandtl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：普朗特极限力承载公式</a:t>
            </a:r>
          </a:p>
          <a:p>
            <a:pPr marL="266700" indent="-266700" eaLnBrk="1" hangingPunct="1">
              <a:spcBef>
                <a:spcPts val="200"/>
              </a:spcBef>
              <a:spcAft>
                <a:spcPts val="200"/>
              </a:spcAft>
              <a:buClr>
                <a:srgbClr val="CC0000"/>
              </a:buClr>
              <a:buSzPct val="70000"/>
              <a:buFont typeface="Wingdings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1921-1925 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Terzaghi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，有效应力原理及固结理论，出版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土力学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》</a:t>
            </a:r>
            <a:b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</a:br>
            <a:r>
              <a:rPr kumimoji="1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土力学成为一门独立学科的标志</a:t>
            </a:r>
            <a:endParaRPr kumimoji="1" lang="en-US" altLang="zh-CN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6700" indent="-266700" eaLnBrk="1" hangingPunct="1">
              <a:spcBef>
                <a:spcPts val="200"/>
              </a:spcBef>
              <a:spcAft>
                <a:spcPts val="1200"/>
              </a:spcAft>
              <a:buClr>
                <a:srgbClr val="CC0000"/>
              </a:buClr>
              <a:buSzPct val="70000"/>
              <a:buFont typeface="Wingdings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1936 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第一届国际土力学及基础工程会议</a:t>
            </a:r>
          </a:p>
          <a:p>
            <a:pPr marL="266700" indent="-266700" eaLnBrk="1" hangingPunct="1">
              <a:spcBef>
                <a:spcPts val="200"/>
              </a:spcBef>
              <a:spcAft>
                <a:spcPts val="200"/>
              </a:spcAft>
              <a:buClr>
                <a:srgbClr val="CC0000"/>
              </a:buClr>
              <a:buSzPct val="70000"/>
              <a:buFont typeface="Wingdings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1960’s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后 现代土力学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53363" y="862002"/>
            <a:ext cx="800100" cy="4695420"/>
            <a:chOff x="4917" y="962"/>
            <a:chExt cx="504" cy="2647"/>
          </a:xfrm>
        </p:grpSpPr>
        <p:sp>
          <p:nvSpPr>
            <p:cNvPr id="20486" name="Line 5"/>
            <p:cNvSpPr>
              <a:spLocks noChangeShapeType="1"/>
            </p:cNvSpPr>
            <p:nvPr/>
          </p:nvSpPr>
          <p:spPr bwMode="auto">
            <a:xfrm>
              <a:off x="5027" y="2102"/>
              <a:ext cx="384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7" name="Line 6"/>
            <p:cNvSpPr>
              <a:spLocks noChangeShapeType="1"/>
            </p:cNvSpPr>
            <p:nvPr/>
          </p:nvSpPr>
          <p:spPr bwMode="auto">
            <a:xfrm>
              <a:off x="5037" y="3170"/>
              <a:ext cx="384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8" name="Text Box 7"/>
            <p:cNvSpPr txBox="1">
              <a:spLocks noChangeArrowheads="1"/>
            </p:cNvSpPr>
            <p:nvPr/>
          </p:nvSpPr>
          <p:spPr bwMode="auto">
            <a:xfrm>
              <a:off x="4917" y="994"/>
              <a:ext cx="309" cy="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萌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芽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期</a:t>
              </a:r>
              <a:endPara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9" name="Text Box 8"/>
            <p:cNvSpPr txBox="1">
              <a:spLocks noChangeArrowheads="1"/>
            </p:cNvSpPr>
            <p:nvPr/>
          </p:nvSpPr>
          <p:spPr bwMode="auto">
            <a:xfrm>
              <a:off x="4947" y="2132"/>
              <a:ext cx="309" cy="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古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典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期</a:t>
              </a:r>
              <a:endParaRPr lang="en-US" altLang="zh-CN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90" name="Line 9"/>
            <p:cNvSpPr>
              <a:spLocks noChangeShapeType="1"/>
            </p:cNvSpPr>
            <p:nvPr/>
          </p:nvSpPr>
          <p:spPr bwMode="auto">
            <a:xfrm>
              <a:off x="5289" y="962"/>
              <a:ext cx="0" cy="114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91" name="Line 10"/>
            <p:cNvSpPr>
              <a:spLocks noChangeShapeType="1"/>
            </p:cNvSpPr>
            <p:nvPr/>
          </p:nvSpPr>
          <p:spPr bwMode="auto">
            <a:xfrm>
              <a:off x="5289" y="2104"/>
              <a:ext cx="0" cy="106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92" name="Line 11"/>
            <p:cNvSpPr>
              <a:spLocks noChangeShapeType="1"/>
            </p:cNvSpPr>
            <p:nvPr/>
          </p:nvSpPr>
          <p:spPr bwMode="auto">
            <a:xfrm>
              <a:off x="5289" y="3166"/>
              <a:ext cx="0" cy="394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93" name="Text Box 12"/>
            <p:cNvSpPr txBox="1">
              <a:spLocks noChangeArrowheads="1"/>
            </p:cNvSpPr>
            <p:nvPr/>
          </p:nvSpPr>
          <p:spPr bwMode="auto">
            <a:xfrm>
              <a:off x="4960" y="3177"/>
              <a:ext cx="293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现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代</a:t>
              </a:r>
            </a:p>
          </p:txBody>
        </p:sp>
      </p:grp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0" y="0"/>
            <a:ext cx="41465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绪论：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什么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土及土力学有哪些特点？ </a:t>
            </a:r>
          </a:p>
        </p:txBody>
      </p:sp>
    </p:spTree>
    <p:extLst>
      <p:ext uri="{BB962C8B-B14F-4D97-AF65-F5344CB8AC3E}">
        <p14:creationId xmlns:p14="http://schemas.microsoft.com/office/powerpoint/2010/main" val="124022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35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73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2776723" y="5751513"/>
            <a:ext cx="444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2060"/>
                </a:solidFill>
                <a:ea typeface="黑体" pitchFamily="2" charset="-122"/>
              </a:rPr>
              <a:t>土力学的主要内容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：土力学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包括哪些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内容？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938338" y="766763"/>
            <a:ext cx="5726112" cy="474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绪  论  土力学及其特点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第一章  土的物理性质与工程分类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第二章  土的渗透性和渗透破坏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第三章  土中应力计算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第四章  土的变形特性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第五章  土的强度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第六章  挡土墙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土压力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第七章  土坡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稳定分析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第八章  地基承载力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863725" y="1000125"/>
            <a:ext cx="523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课程绪论：土力学及其特点</a:t>
            </a:r>
            <a:endParaRPr kumimoji="1" lang="en-US" altLang="zh-CN" sz="32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163763" y="2171700"/>
            <a:ext cx="5256212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什么是土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   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itchFamily="2" charset="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土有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哪些特点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为什么要学习土力学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土力学包括哪些内容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 </a:t>
            </a:r>
            <a:r>
              <a:rPr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如何学好土力学？</a:t>
            </a:r>
          </a:p>
        </p:txBody>
      </p:sp>
    </p:spTree>
    <p:extLst>
      <p:ext uri="{BB962C8B-B14F-4D97-AF65-F5344CB8AC3E}">
        <p14:creationId xmlns:p14="http://schemas.microsoft.com/office/powerpoint/2010/main" val="323684484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977900" y="1245127"/>
            <a:ext cx="7550150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2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注意土的基本特点：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通过与其它材料对比</a:t>
            </a:r>
          </a:p>
          <a:p>
            <a:pPr eaLnBrk="1" hangingPunct="1">
              <a:lnSpc>
                <a:spcPct val="135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2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注重理论联系实际：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通过现场观察与试验</a:t>
            </a:r>
          </a:p>
          <a:p>
            <a:pPr eaLnBrk="1" hangingPunct="1">
              <a:lnSpc>
                <a:spcPct val="135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2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8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注重正确学习方法 </a:t>
            </a:r>
            <a:r>
              <a:rPr kumimoji="1"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 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概念，原理，方法</a:t>
            </a:r>
            <a:b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</a:b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			     </a:t>
            </a:r>
            <a:r>
              <a:rPr kumimoji="1"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 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内容间联系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			     </a:t>
            </a:r>
            <a:r>
              <a:rPr kumimoji="1"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 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要记忆，但不能死记</a:t>
            </a: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2773086" y="5751513"/>
            <a:ext cx="44592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2060"/>
                </a:solidFill>
                <a:ea typeface="黑体" pitchFamily="2" charset="-122"/>
              </a:rPr>
              <a:t>土力学的学习方法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：如何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学好土力学？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0" y="0"/>
            <a:ext cx="39275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绪论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：如何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学好土力学？ 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604970" y="2420986"/>
            <a:ext cx="5079943" cy="97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教学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环节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讲课  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(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40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学时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) 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    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实验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课 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(3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次 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8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学时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)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619494" y="3652516"/>
            <a:ext cx="6840953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考核及成绩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kumimoji="1" lang="en-US" altLang="zh-CN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5</a:t>
            </a:r>
            <a:r>
              <a:rPr kumimoji="1" lang="en-US" altLang="zh-CN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0</a:t>
            </a: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％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期末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考试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</a:b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        </a:t>
            </a:r>
            <a:r>
              <a:rPr kumimoji="1" lang="en-US" altLang="zh-CN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3</a:t>
            </a:r>
            <a:r>
              <a:rPr kumimoji="1" lang="en-US" altLang="zh-CN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0</a:t>
            </a: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％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期中测验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</a:b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       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en-US" altLang="zh-CN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5</a:t>
            </a: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％</a:t>
            </a:r>
            <a:r>
              <a:rPr kumimoji="1" lang="zh-CN" altLang="en-US" sz="2400" b="1" dirty="0">
                <a:solidFill>
                  <a:srgbClr val="000066"/>
                </a:solidFill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平时表现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        </a:t>
            </a:r>
            <a:r>
              <a:rPr kumimoji="1" lang="en-US" altLang="zh-CN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15</a:t>
            </a: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％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实验：预习＋操作＋报告</a:t>
            </a:r>
            <a:endParaRPr kumimoji="1"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620206" y="1234964"/>
            <a:ext cx="5895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土力学课程的安排和要求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Rot="1" noChangeArrowheads="1"/>
          </p:cNvSpPr>
          <p:nvPr/>
        </p:nvSpPr>
        <p:spPr bwMode="auto">
          <a:xfrm>
            <a:off x="796925" y="822325"/>
            <a:ext cx="6627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《</a:t>
            </a:r>
            <a:r>
              <a:rPr lang="zh-CN" altLang="en-US" sz="36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土力学</a:t>
            </a:r>
            <a:r>
              <a:rPr lang="en-US" altLang="zh-CN" sz="36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》</a:t>
            </a:r>
            <a:r>
              <a:rPr lang="zh-CN" altLang="en-US" sz="3600" b="1" dirty="0">
                <a:solidFill>
                  <a:srgbClr val="A50021"/>
                </a:solidFill>
                <a:latin typeface="Arial" charset="0"/>
                <a:ea typeface="黑体" pitchFamily="2" charset="-122"/>
              </a:rPr>
              <a:t>：国家级精品课程</a:t>
            </a:r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533071" y="1775059"/>
            <a:ext cx="6840538" cy="3813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0" bIns="10800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800" b="1" dirty="0">
                <a:solidFill>
                  <a:srgbClr val="00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土水学院：</a:t>
            </a: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院级平台课－专业基础课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800" b="1" dirty="0">
                <a:solidFill>
                  <a:srgbClr val="00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清华大学</a:t>
            </a:r>
            <a:r>
              <a:rPr kumimoji="1" lang="zh-CN" altLang="en-US" sz="2800" b="1" dirty="0" smtClean="0">
                <a:solidFill>
                  <a:srgbClr val="00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最早的一类课、校</a:t>
            </a: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级精品课程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800" b="1" dirty="0">
                <a:solidFill>
                  <a:srgbClr val="00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北 京 市：</a:t>
            </a: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精品课（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2004</a:t>
            </a: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年）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国 家 级：精品课（</a:t>
            </a:r>
            <a:r>
              <a:rPr kumimoji="1"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2006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2800" b="1" dirty="0" smtClean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精品资源共享课（</a:t>
            </a: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2016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2800" b="1" dirty="0" smtClean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		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精品在线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开放课程课（</a:t>
            </a: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2018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2800" b="1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6186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9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0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28797</TotalTime>
  <Words>2751</Words>
  <Application>Microsoft Office PowerPoint</Application>
  <PresentationFormat>全屏显示(4:3)</PresentationFormat>
  <Paragraphs>425</Paragraphs>
  <Slides>52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1" baseType="lpstr">
      <vt:lpstr>ＭＳ Ｐゴシック</vt:lpstr>
      <vt:lpstr>方正舒体</vt:lpstr>
      <vt:lpstr>黑体</vt:lpstr>
      <vt:lpstr>华文琥珀</vt:lpstr>
      <vt:lpstr>华文新魏</vt:lpstr>
      <vt:lpstr>楷体_GB2312</vt:lpstr>
      <vt:lpstr>宋体</vt:lpstr>
      <vt:lpstr>新宋体</vt:lpstr>
      <vt:lpstr>幼圆</vt:lpstr>
      <vt:lpstr>Arial</vt:lpstr>
      <vt:lpstr>Calibri</vt:lpstr>
      <vt:lpstr>Garamond</vt:lpstr>
      <vt:lpstr>Symbol</vt:lpstr>
      <vt:lpstr>Times New Roman</vt:lpstr>
      <vt:lpstr>Wingdings</vt:lpstr>
      <vt:lpstr>Wingdings 2</vt:lpstr>
      <vt:lpstr>吉祥如意</vt:lpstr>
      <vt:lpstr>1_自定义设计方案</vt:lpstr>
      <vt:lpstr>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zhang0</dc:creator>
  <cp:lastModifiedBy>Administrator</cp:lastModifiedBy>
  <cp:revision>2342</cp:revision>
  <dcterms:created xsi:type="dcterms:W3CDTF">1601-01-01T00:00:00Z</dcterms:created>
  <dcterms:modified xsi:type="dcterms:W3CDTF">2020-09-07T07:34:59Z</dcterms:modified>
</cp:coreProperties>
</file>