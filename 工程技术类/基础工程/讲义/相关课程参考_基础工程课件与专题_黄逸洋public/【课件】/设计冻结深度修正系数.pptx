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C9EB-72D3-4BBE-AF08-F8B71E9AE376}" type="datetimeFigureOut">
              <a:rPr lang="zh-CN" altLang="en-US" smtClean="0"/>
              <a:t>2013/5/28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F476A-99FE-40A5-9E2B-0890C89BC0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fld id="{756DC9EB-72D3-4BBE-AF08-F8B71E9AE376}" type="datetimeFigureOut">
              <a:rPr lang="zh-CN" altLang="en-US" smtClean="0"/>
              <a:t>2013/5/28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F476A-99FE-40A5-9E2B-0890C89BC0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C9EB-72D3-4BBE-AF08-F8B71E9AE376}" type="datetimeFigureOut">
              <a:rPr lang="zh-CN" altLang="en-US" smtClean="0"/>
              <a:t>2013/5/28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F476A-99FE-40A5-9E2B-0890C89BC0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C9EB-72D3-4BBE-AF08-F8B71E9AE376}" type="datetimeFigureOut">
              <a:rPr lang="zh-CN" altLang="en-US" smtClean="0"/>
              <a:t>2013/5/28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F476A-99FE-40A5-9E2B-0890C89BC0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C9EB-72D3-4BBE-AF08-F8B71E9AE376}" type="datetimeFigureOut">
              <a:rPr lang="zh-CN" altLang="en-US" smtClean="0"/>
              <a:t>2013/5/28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F476A-99FE-40A5-9E2B-0890C89BC0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C9EB-72D3-4BBE-AF08-F8B71E9AE376}" type="datetimeFigureOut">
              <a:rPr lang="zh-CN" altLang="en-US" smtClean="0"/>
              <a:t>2013/5/28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F476A-99FE-40A5-9E2B-0890C89BC0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C9EB-72D3-4BBE-AF08-F8B71E9AE376}" type="datetimeFigureOut">
              <a:rPr lang="zh-CN" altLang="en-US" smtClean="0"/>
              <a:t>2013/5/28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F476A-99FE-40A5-9E2B-0890C89BC0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C9EB-72D3-4BBE-AF08-F8B71E9AE376}" type="datetimeFigureOut">
              <a:rPr lang="zh-CN" altLang="en-US" smtClean="0"/>
              <a:t>2013/5/28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F476A-99FE-40A5-9E2B-0890C89BC0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C9EB-72D3-4BBE-AF08-F8B71E9AE376}" type="datetimeFigureOut">
              <a:rPr lang="zh-CN" altLang="en-US" smtClean="0"/>
              <a:t>2013/5/28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F476A-99FE-40A5-9E2B-0890C89BC0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C9EB-72D3-4BBE-AF08-F8B71E9AE376}" type="datetimeFigureOut">
              <a:rPr lang="zh-CN" altLang="en-US" smtClean="0"/>
              <a:t>2013/5/28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F476A-99FE-40A5-9E2B-0890C89BC08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C9EB-72D3-4BBE-AF08-F8B71E9AE376}" type="datetimeFigureOut">
              <a:rPr lang="zh-CN" altLang="en-US" smtClean="0"/>
              <a:t>2013/5/28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F476A-99FE-40A5-9E2B-0890C89BC0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756DC9EB-72D3-4BBE-AF08-F8B71E9AE376}" type="datetimeFigureOut">
              <a:rPr lang="zh-CN" altLang="en-US" smtClean="0"/>
              <a:t>2013/5/28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F74F476A-99FE-40A5-9E2B-0890C89BC08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设计冻结深度修正系数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 smtClean="0"/>
              <a:t>     </a:t>
            </a:r>
          </a:p>
          <a:p>
            <a:pPr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</a:t>
            </a:r>
            <a:endParaRPr lang="zh-CN" altLang="en-US" dirty="0"/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1643042" y="285728"/>
          <a:ext cx="6537051" cy="1257308"/>
        </p:xfrm>
        <a:graphic>
          <a:graphicData uri="http://schemas.openxmlformats.org/presentationml/2006/ole">
            <p:oleObj spid="_x0000_s1027" name="Equation" r:id="rId3" imgW="1028520" imgH="228600" progId="Equation.DSMT4">
              <p:embed/>
            </p:oleObj>
          </a:graphicData>
        </a:graphic>
      </p:graphicFrame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500035" y="3571877"/>
          <a:ext cx="5072097" cy="596328"/>
        </p:xfrm>
        <a:graphic>
          <a:graphicData uri="http://schemas.openxmlformats.org/presentationml/2006/ole">
            <p:oleObj spid="_x0000_s1028" name="Equation" r:id="rId4" imgW="2222280" imgH="228600" progId="Equation.DSMT4">
              <p:embed/>
            </p:oleObj>
          </a:graphicData>
        </a:graphic>
      </p:graphicFrame>
      <p:graphicFrame>
        <p:nvGraphicFramePr>
          <p:cNvPr id="1029" name="Object 5"/>
          <p:cNvGraphicFramePr>
            <a:graphicFrameLocks noChangeAspect="1"/>
          </p:cNvGraphicFramePr>
          <p:nvPr/>
        </p:nvGraphicFramePr>
        <p:xfrm>
          <a:off x="428596" y="4429132"/>
          <a:ext cx="5684838" cy="541338"/>
        </p:xfrm>
        <a:graphic>
          <a:graphicData uri="http://schemas.openxmlformats.org/presentationml/2006/ole">
            <p:oleObj spid="_x0000_s1029" name="Equation" r:id="rId5" imgW="2400120" imgH="228600" progId="Equation.DSMT4">
              <p:embed/>
            </p:oleObj>
          </a:graphicData>
        </a:graphic>
      </p:graphicFrame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428596" y="5286388"/>
          <a:ext cx="4794251" cy="571500"/>
        </p:xfrm>
        <a:graphic>
          <a:graphicData uri="http://schemas.openxmlformats.org/presentationml/2006/ole">
            <p:oleObj spid="_x0000_s1030" name="Equation" r:id="rId6" imgW="1917360" imgH="228600" progId="Equation.DSMT4">
              <p:embed/>
            </p:oleObj>
          </a:graphicData>
        </a:graphic>
      </p:graphicFrame>
      <p:graphicFrame>
        <p:nvGraphicFramePr>
          <p:cNvPr id="1031" name="Object 7"/>
          <p:cNvGraphicFramePr>
            <a:graphicFrameLocks noChangeAspect="1"/>
          </p:cNvGraphicFramePr>
          <p:nvPr/>
        </p:nvGraphicFramePr>
        <p:xfrm>
          <a:off x="571472" y="1870351"/>
          <a:ext cx="3357586" cy="610338"/>
        </p:xfrm>
        <a:graphic>
          <a:graphicData uri="http://schemas.openxmlformats.org/presentationml/2006/ole">
            <p:oleObj spid="_x0000_s1031" name="Equation" r:id="rId7" imgW="1257120" imgH="228600" progId="Equation.DSMT4">
              <p:embed/>
            </p:oleObj>
          </a:graphicData>
        </a:graphic>
      </p:graphicFrame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571472" y="2714620"/>
          <a:ext cx="4071966" cy="607869"/>
        </p:xfrm>
        <a:graphic>
          <a:graphicData uri="http://schemas.openxmlformats.org/presentationml/2006/ole">
            <p:oleObj spid="_x0000_s1032" name="Equation" r:id="rId8" imgW="1244520" imgH="228600" progId="Equation.DSMT4">
              <p:embed/>
            </p:oleObj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360截图20130528202059359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20" y="0"/>
            <a:ext cx="8900772" cy="2143116"/>
          </a:xfrm>
        </p:spPr>
      </p:pic>
      <p:sp>
        <p:nvSpPr>
          <p:cNvPr id="5" name="TextBox 4"/>
          <p:cNvSpPr txBox="1"/>
          <p:nvPr/>
        </p:nvSpPr>
        <p:spPr>
          <a:xfrm>
            <a:off x="357158" y="2786058"/>
            <a:ext cx="850112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土质对冻深的影响是众所周知的，因岩性不同其热物理参数也不同，粗颗粒土的导热系数比细颗粒土的大。因此，当其他条件一致时，粗颗粒土比细颗粒土的冻深大，砂类土的冻深比粘性土的大。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内容占位符 7" descr="360截图20130528202117959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034" y="285728"/>
            <a:ext cx="8229600" cy="2333134"/>
          </a:xfrm>
        </p:spPr>
      </p:pic>
      <p:sp>
        <p:nvSpPr>
          <p:cNvPr id="9" name="TextBox 8"/>
          <p:cNvSpPr txBox="1"/>
          <p:nvPr/>
        </p:nvSpPr>
        <p:spPr>
          <a:xfrm>
            <a:off x="428596" y="3071810"/>
            <a:ext cx="8429684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土</a:t>
            </a:r>
            <a:r>
              <a:rPr lang="zh-CN" altLang="en-US" sz="3200" dirty="0" smtClean="0"/>
              <a:t>的冻胀性由</a:t>
            </a:r>
            <a:r>
              <a:rPr lang="zh-CN" altLang="en-US" sz="3200" u="sng" dirty="0" smtClean="0"/>
              <a:t>含水量</a:t>
            </a:r>
            <a:r>
              <a:rPr lang="zh-CN" altLang="en-US" sz="3200" dirty="0" smtClean="0"/>
              <a:t>和</a:t>
            </a:r>
            <a:r>
              <a:rPr lang="zh-CN" altLang="en-US" sz="3200" u="sng" dirty="0" smtClean="0"/>
              <a:t>地下水位</a:t>
            </a:r>
            <a:r>
              <a:rPr lang="zh-CN" altLang="en-US" sz="3200" dirty="0" smtClean="0"/>
              <a:t>决定。</a:t>
            </a:r>
            <a:endParaRPr lang="en-US" altLang="zh-CN" sz="3200" dirty="0" smtClean="0"/>
          </a:p>
          <a:p>
            <a:r>
              <a:rPr lang="zh-CN" altLang="en-US" sz="3200" dirty="0" smtClean="0"/>
              <a:t>土</a:t>
            </a:r>
            <a:r>
              <a:rPr lang="zh-CN" altLang="en-US" sz="3200" dirty="0"/>
              <a:t>中水在相变时要放出大量的潜热，所以含水量越多，地下水位越高（冻结时向上迁移水量越多），参与相变的水量就越多，放出的潜热也就越多，由于冻胀土冻结的过程也是放热的过程，放热在某种程度上减缓了冻深的发展速度，因此冻深相对变浅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360截图20130528202134399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282" y="0"/>
            <a:ext cx="8599090" cy="1714488"/>
          </a:xfrm>
        </p:spPr>
      </p:pic>
      <p:sp>
        <p:nvSpPr>
          <p:cNvPr id="6" name="TextBox 5"/>
          <p:cNvSpPr txBox="1"/>
          <p:nvPr/>
        </p:nvSpPr>
        <p:spPr>
          <a:xfrm>
            <a:off x="285720" y="2143116"/>
            <a:ext cx="885828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/>
              <a:t>1</a:t>
            </a:r>
            <a:r>
              <a:rPr lang="zh-CN" altLang="en-US" sz="3200" dirty="0" smtClean="0"/>
              <a:t>、</a:t>
            </a:r>
            <a:r>
              <a:rPr lang="zh-CN" altLang="en-US" sz="3200" dirty="0"/>
              <a:t>城市的</a:t>
            </a:r>
            <a:r>
              <a:rPr lang="zh-CN" altLang="en-US" sz="3200" dirty="0" smtClean="0"/>
              <a:t>“热岛效应”</a:t>
            </a:r>
            <a:endParaRPr lang="en-US" altLang="zh-CN" sz="3200" dirty="0" smtClean="0"/>
          </a:p>
          <a:p>
            <a:r>
              <a:rPr lang="en-US" altLang="zh-CN" sz="3200" dirty="0" smtClean="0"/>
              <a:t>2</a:t>
            </a:r>
            <a:r>
              <a:rPr lang="zh-CN" altLang="en-US" sz="3200" dirty="0" smtClean="0"/>
              <a:t>、</a:t>
            </a:r>
            <a:r>
              <a:rPr lang="zh-CN" altLang="en-US" sz="3200" dirty="0"/>
              <a:t>高耸的建筑物吸收更多的阳光，各种建筑材料的热容量和传热量大于</a:t>
            </a:r>
            <a:r>
              <a:rPr lang="zh-CN" altLang="en-US" sz="3200" dirty="0" smtClean="0"/>
              <a:t>松土，城市</a:t>
            </a:r>
            <a:r>
              <a:rPr lang="zh-CN" altLang="en-US" sz="3200" dirty="0"/>
              <a:t>建筑物和路面传送热量的速度比郊外湿润的砂质土壤快</a:t>
            </a:r>
            <a:r>
              <a:rPr lang="en-US" sz="3200" dirty="0"/>
              <a:t>3 </a:t>
            </a:r>
            <a:r>
              <a:rPr lang="zh-CN" altLang="en-US" sz="3200" dirty="0"/>
              <a:t>倍，</a:t>
            </a:r>
          </a:p>
          <a:p>
            <a:r>
              <a:rPr lang="en-US" altLang="zh-CN" sz="3200" dirty="0" smtClean="0"/>
              <a:t>3</a:t>
            </a:r>
            <a:r>
              <a:rPr lang="zh-CN" altLang="en-US" sz="3200" dirty="0" smtClean="0"/>
              <a:t>、</a:t>
            </a:r>
            <a:r>
              <a:rPr lang="zh-CN" altLang="en-US" sz="3200" dirty="0"/>
              <a:t>工业排放、交通车辆排放尾气，人为活动等都放出很多热量，加之建筑群集中，风小对流差等，使周围气温升高。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4348" y="164305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endParaRPr lang="en-US" altLang="zh-CN" sz="6600" dirty="0" smtClean="0"/>
          </a:p>
          <a:p>
            <a:pPr>
              <a:buNone/>
            </a:pPr>
            <a:r>
              <a:rPr lang="en-US" altLang="zh-CN" sz="6600" dirty="0"/>
              <a:t> </a:t>
            </a:r>
            <a:r>
              <a:rPr lang="en-US" altLang="zh-CN" sz="6600" dirty="0" smtClean="0"/>
              <a:t>           THE END</a:t>
            </a:r>
            <a:endParaRPr lang="zh-CN" altLang="en-US" sz="66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21</TotalTime>
  <Words>230</Words>
  <Application>Microsoft Office PowerPoint</Application>
  <PresentationFormat>全屏显示(4:3)</PresentationFormat>
  <Paragraphs>11</Paragraphs>
  <Slides>6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8" baseType="lpstr">
      <vt:lpstr>暗香扑面</vt:lpstr>
      <vt:lpstr>MathType 6.0 Equation</vt:lpstr>
      <vt:lpstr>设计冻结深度修正系数</vt:lpstr>
      <vt:lpstr>幻灯片 2</vt:lpstr>
      <vt:lpstr>幻灯片 3</vt:lpstr>
      <vt:lpstr>幻灯片 4</vt:lpstr>
      <vt:lpstr>幻灯片 5</vt:lpstr>
      <vt:lpstr>幻灯片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设计冻结深度修正系数</dc:title>
  <dc:creator>super</dc:creator>
  <cp:lastModifiedBy>super</cp:lastModifiedBy>
  <cp:revision>3</cp:revision>
  <dcterms:created xsi:type="dcterms:W3CDTF">2013-05-28T12:11:06Z</dcterms:created>
  <dcterms:modified xsi:type="dcterms:W3CDTF">2013-05-28T12:32:47Z</dcterms:modified>
</cp:coreProperties>
</file>