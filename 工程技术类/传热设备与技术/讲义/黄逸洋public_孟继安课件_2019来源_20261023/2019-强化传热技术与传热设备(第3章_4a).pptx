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avi" ContentType="video/x-msvideo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3"/>
  </p:handoutMasterIdLst>
  <p:sldIdLst>
    <p:sldId id="375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98" r:id="rId10"/>
    <p:sldId id="266" r:id="rId11"/>
    <p:sldId id="299" r:id="rId12"/>
    <p:sldId id="269" r:id="rId13"/>
    <p:sldId id="270" r:id="rId14"/>
    <p:sldId id="290" r:id="rId15"/>
    <p:sldId id="296" r:id="rId16"/>
    <p:sldId id="297" r:id="rId17"/>
    <p:sldId id="318" r:id="rId18"/>
    <p:sldId id="321" r:id="rId19"/>
    <p:sldId id="311" r:id="rId20"/>
    <p:sldId id="313" r:id="rId21"/>
    <p:sldId id="322" r:id="rId22"/>
    <p:sldId id="275" r:id="rId23"/>
    <p:sldId id="330" r:id="rId24"/>
    <p:sldId id="334" r:id="rId25"/>
    <p:sldId id="276" r:id="rId26"/>
    <p:sldId id="281" r:id="rId27"/>
    <p:sldId id="282" r:id="rId28"/>
    <p:sldId id="283" r:id="rId29"/>
    <p:sldId id="284" r:id="rId30"/>
    <p:sldId id="288" r:id="rId31"/>
    <p:sldId id="286" r:id="rId32"/>
    <p:sldId id="285" r:id="rId33"/>
    <p:sldId id="346" r:id="rId34"/>
    <p:sldId id="342" r:id="rId35"/>
    <p:sldId id="324" r:id="rId36"/>
    <p:sldId id="331" r:id="rId37"/>
    <p:sldId id="332" r:id="rId38"/>
    <p:sldId id="333" r:id="rId39"/>
    <p:sldId id="335" r:id="rId40"/>
    <p:sldId id="325" r:id="rId41"/>
    <p:sldId id="327" r:id="rId42"/>
    <p:sldId id="338" r:id="rId43"/>
    <p:sldId id="336" r:id="rId44"/>
    <p:sldId id="337" r:id="rId45"/>
    <p:sldId id="339" r:id="rId46"/>
    <p:sldId id="341" r:id="rId47"/>
    <p:sldId id="340" r:id="rId48"/>
    <p:sldId id="326" r:id="rId49"/>
    <p:sldId id="352" r:id="rId50"/>
    <p:sldId id="371" r:id="rId51"/>
    <p:sldId id="355" r:id="rId52"/>
    <p:sldId id="356" r:id="rId53"/>
    <p:sldId id="357" r:id="rId54"/>
    <p:sldId id="358" r:id="rId55"/>
    <p:sldId id="359" r:id="rId56"/>
    <p:sldId id="366" r:id="rId57"/>
    <p:sldId id="367" r:id="rId58"/>
    <p:sldId id="368" r:id="rId59"/>
    <p:sldId id="374" r:id="rId60"/>
    <p:sldId id="370" r:id="rId61"/>
    <p:sldId id="373" r:id="rId62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5000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24" autoAdjust="0"/>
  </p:normalViewPr>
  <p:slideViewPr>
    <p:cSldViewPr>
      <p:cViewPr varScale="1">
        <p:scale>
          <a:sx n="66" d="100"/>
          <a:sy n="66" d="100"/>
        </p:scale>
        <p:origin x="63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pPr>
              <a:defRPr/>
            </a:pPr>
            <a:fld id="{3588EF22-6AA5-445B-83CF-289ADA990E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0747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CB8A8-6D4F-47C1-B6B6-C2DB408DBA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38FD9A-BE68-40D1-8C46-143817CBF1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9D4E7-932F-407F-A9EF-E23DE4E45E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19550-CB2A-407E-87C8-E69BD6CEC7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410C6-1962-48C1-9B78-27E40C6BF4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88543-C6CF-4C7D-B9C8-47C7019E4D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883B14-F4D1-47CF-A5C0-EB7DA1965B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DFD8AA-5D1A-4A8E-872E-7CADBA20AE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2D6022-1FEE-4C43-9F64-EDFFEA1EA2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D5C758-CAE8-4A78-BC35-6B494CC910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EBC5B8-B3C4-4E09-8818-82A4223D8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37798-FFC6-4CAE-AC99-2D07E0CD16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/>
            </a:lvl1pPr>
          </a:lstStyle>
          <a:p>
            <a:pPr>
              <a:defRPr/>
            </a:pPr>
            <a:fld id="{4C10CA73-343E-4E66-B130-B855312E5A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2.bin"/><Relationship Id="rId21" Type="http://schemas.openxmlformats.org/officeDocument/2006/relationships/image" Target="../media/image2.png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5.jpeg"/><Relationship Id="rId4" Type="http://schemas.openxmlformats.org/officeDocument/2006/relationships/image" Target="../media/image2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e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jpeg"/><Relationship Id="rId10" Type="http://schemas.openxmlformats.org/officeDocument/2006/relationships/image" Target="../media/image34.png"/><Relationship Id="rId4" Type="http://schemas.openxmlformats.org/officeDocument/2006/relationships/image" Target="../media/image28.jpe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45.jpeg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4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55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7" Type="http://schemas.openxmlformats.org/officeDocument/2006/relationships/image" Target="../media/image7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70.png"/><Relationship Id="rId5" Type="http://schemas.openxmlformats.org/officeDocument/2006/relationships/image" Target="../media/image68.wmf"/><Relationship Id="rId4" Type="http://schemas.openxmlformats.org/officeDocument/2006/relationships/oleObject" Target="../embeddings/oleObject16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___111.xls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76.png"/><Relationship Id="rId4" Type="http://schemas.openxmlformats.org/officeDocument/2006/relationships/image" Target="../media/image75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jpeg"/><Relationship Id="rId4" Type="http://schemas.openxmlformats.org/officeDocument/2006/relationships/image" Target="../media/image83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jpe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jpe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9" Type="http://schemas.openxmlformats.org/officeDocument/2006/relationships/image" Target="http://www.heseco.com/WCRframehang.jpg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00.png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5.png"/><Relationship Id="rId2" Type="http://schemas.openxmlformats.org/officeDocument/2006/relationships/video" Target="../media/media2.avi"/><Relationship Id="rId1" Type="http://schemas.microsoft.com/office/2007/relationships/media" Target="../media/media2.avi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jpeg"/><Relationship Id="rId4" Type="http://schemas.openxmlformats.org/officeDocument/2006/relationships/image" Target="../media/image126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2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395288" y="692150"/>
            <a:ext cx="8534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000" b="1">
                <a:solidFill>
                  <a:schemeClr val="tx2"/>
                </a:solidFill>
              </a:rPr>
              <a:t>第三章  对流换热的强化理论与技术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1116013" y="1426032"/>
            <a:ext cx="7061549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altLang="zh-CN" b="1" dirty="0">
                <a:solidFill>
                  <a:schemeClr val="accent1"/>
                </a:solidFill>
              </a:rPr>
              <a:t>§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3.1   </a:t>
            </a:r>
            <a:r>
              <a:rPr lang="zh-CN" altLang="en-US" b="1" dirty="0">
                <a:solidFill>
                  <a:schemeClr val="accent1"/>
                </a:solidFill>
              </a:rPr>
              <a:t>对流换热场协同原理</a:t>
            </a:r>
            <a:endParaRPr lang="zh-CN" altLang="en-US" dirty="0">
              <a:solidFill>
                <a:schemeClr val="accent1"/>
              </a:solidFill>
            </a:endParaRPr>
          </a:p>
          <a:p>
            <a:pPr>
              <a:spcBef>
                <a:spcPts val="300"/>
              </a:spcBef>
              <a:defRPr/>
            </a:pPr>
            <a:r>
              <a:rPr lang="en-US" altLang="zh-CN" b="1" dirty="0">
                <a:solidFill>
                  <a:schemeClr val="accent1"/>
                </a:solidFill>
              </a:rPr>
              <a:t>§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3.2   </a:t>
            </a:r>
            <a:r>
              <a:rPr lang="zh-CN" altLang="en-US" b="1" dirty="0">
                <a:solidFill>
                  <a:schemeClr val="accent1"/>
                </a:solidFill>
              </a:rPr>
              <a:t>对流换热优化与场协同方程</a:t>
            </a:r>
            <a:endParaRPr lang="zh-CN" altLang="en-US" dirty="0">
              <a:solidFill>
                <a:schemeClr val="accent1"/>
              </a:solidFill>
            </a:endParaRPr>
          </a:p>
          <a:p>
            <a:pPr>
              <a:spcBef>
                <a:spcPts val="300"/>
              </a:spcBef>
              <a:defRPr/>
            </a:pPr>
            <a:r>
              <a:rPr lang="en-US" altLang="zh-CN" b="1" dirty="0">
                <a:solidFill>
                  <a:schemeClr val="accent1"/>
                </a:solidFill>
              </a:rPr>
              <a:t>§ 3.3   </a:t>
            </a:r>
            <a:r>
              <a:rPr lang="zh-CN" altLang="en-US" b="1" dirty="0">
                <a:solidFill>
                  <a:schemeClr val="accent1"/>
                </a:solidFill>
              </a:rPr>
              <a:t>基于场协同理论强化换热技术简介</a:t>
            </a:r>
          </a:p>
          <a:p>
            <a:pPr>
              <a:spcBef>
                <a:spcPts val="300"/>
              </a:spcBef>
              <a:defRPr/>
            </a:pPr>
            <a:r>
              <a:rPr lang="en-US" altLang="zh-CN" b="1" dirty="0"/>
              <a:t>§</a:t>
            </a:r>
            <a:r>
              <a:rPr lang="en-US" altLang="zh-CN" dirty="0"/>
              <a:t> </a:t>
            </a:r>
            <a:r>
              <a:rPr lang="en-US" altLang="zh-CN" b="1" dirty="0"/>
              <a:t>3.4   </a:t>
            </a:r>
            <a:r>
              <a:rPr lang="zh-CN" altLang="en-US" b="1" dirty="0"/>
              <a:t>对流换热的无源强化技术</a:t>
            </a:r>
            <a:r>
              <a:rPr lang="en-US" altLang="zh-CN" b="1" dirty="0"/>
              <a:t>——</a:t>
            </a:r>
            <a:r>
              <a:rPr lang="zh-CN" altLang="en-US" b="1" dirty="0"/>
              <a:t>内流换热强化</a:t>
            </a:r>
            <a:endParaRPr lang="zh-CN" altLang="en-US" dirty="0"/>
          </a:p>
          <a:p>
            <a:pPr>
              <a:spcBef>
                <a:spcPts val="300"/>
              </a:spcBef>
              <a:defRPr/>
            </a:pPr>
            <a:r>
              <a:rPr lang="en-US" altLang="zh-CN" b="1" dirty="0"/>
              <a:t>§</a:t>
            </a:r>
            <a:r>
              <a:rPr lang="en-US" altLang="zh-CN" dirty="0"/>
              <a:t> </a:t>
            </a:r>
            <a:r>
              <a:rPr lang="en-US" altLang="zh-CN" b="1" dirty="0"/>
              <a:t>3.5   </a:t>
            </a:r>
            <a:r>
              <a:rPr lang="zh-CN" altLang="en-US" b="1" dirty="0"/>
              <a:t>对流换热的无源强化技术</a:t>
            </a:r>
            <a:r>
              <a:rPr lang="en-US" altLang="zh-CN" b="1" dirty="0"/>
              <a:t>——</a:t>
            </a:r>
            <a:r>
              <a:rPr lang="zh-CN" altLang="en-US" b="1" dirty="0"/>
              <a:t>外流换热强化</a:t>
            </a:r>
            <a:endParaRPr lang="zh-CN" altLang="en-US" dirty="0"/>
          </a:p>
          <a:p>
            <a:pPr>
              <a:spcBef>
                <a:spcPts val="300"/>
              </a:spcBef>
              <a:defRPr/>
            </a:pPr>
            <a:r>
              <a:rPr lang="en-US" altLang="zh-CN" b="1" dirty="0"/>
              <a:t>§</a:t>
            </a:r>
            <a:r>
              <a:rPr lang="en-US" altLang="zh-CN" dirty="0"/>
              <a:t> </a:t>
            </a:r>
            <a:r>
              <a:rPr lang="en-US" altLang="zh-CN" b="1" dirty="0"/>
              <a:t>3.6   </a:t>
            </a:r>
            <a:r>
              <a:rPr lang="zh-CN" altLang="en-US" b="1" dirty="0"/>
              <a:t>对流换热的有源强化技术</a:t>
            </a:r>
            <a:endParaRPr lang="zh-CN" altLang="en-US" dirty="0"/>
          </a:p>
          <a:p>
            <a:pPr indent="3175" eaLnBrk="0" hangingPunct="0">
              <a:spcBef>
                <a:spcPts val="300"/>
              </a:spcBef>
              <a:defRPr/>
            </a:pPr>
            <a:r>
              <a:rPr lang="en-US" altLang="zh-CN" b="1" dirty="0"/>
              <a:t>§</a:t>
            </a:r>
            <a:r>
              <a:rPr lang="en-US" altLang="zh-CN" dirty="0"/>
              <a:t> </a:t>
            </a:r>
            <a:r>
              <a:rPr lang="en-US" altLang="zh-CN" b="1" dirty="0"/>
              <a:t>3.7  </a:t>
            </a:r>
            <a:r>
              <a:rPr lang="zh-CN" altLang="en-US" b="1" dirty="0"/>
              <a:t>单管对流换热实验简介</a:t>
            </a:r>
          </a:p>
          <a:p>
            <a:pPr indent="3175" eaLnBrk="0" hangingPunct="0">
              <a:spcBef>
                <a:spcPts val="300"/>
              </a:spcBef>
              <a:defRPr/>
            </a:pPr>
            <a:r>
              <a:rPr lang="en-US" altLang="zh-CN" b="1" dirty="0"/>
              <a:t>§</a:t>
            </a:r>
            <a:r>
              <a:rPr lang="en-US" altLang="zh-CN" dirty="0"/>
              <a:t> </a:t>
            </a:r>
            <a:r>
              <a:rPr lang="en-US" altLang="zh-CN" b="1" dirty="0"/>
              <a:t>3.8  </a:t>
            </a:r>
            <a:r>
              <a:rPr lang="zh-CN" altLang="en-US" b="1" dirty="0"/>
              <a:t>对流换热数值模拟优化分析与示例</a:t>
            </a:r>
            <a:endParaRPr lang="en-US" altLang="zh-CN" b="1" dirty="0"/>
          </a:p>
          <a:p>
            <a:pPr indent="3175" eaLnBrk="0" hangingPunct="0">
              <a:spcBef>
                <a:spcPts val="300"/>
              </a:spcBef>
              <a:defRPr/>
            </a:pPr>
            <a:r>
              <a:rPr lang="en-US" altLang="zh-CN" b="1" dirty="0"/>
              <a:t>§</a:t>
            </a:r>
            <a:r>
              <a:rPr lang="en-US" altLang="zh-CN" dirty="0"/>
              <a:t> </a:t>
            </a:r>
            <a:r>
              <a:rPr lang="en-US" altLang="zh-CN" b="1" dirty="0"/>
              <a:t>3.9  </a:t>
            </a:r>
            <a:r>
              <a:rPr lang="zh-CN" altLang="en-US" b="1" dirty="0"/>
              <a:t>应用专题讨论</a:t>
            </a:r>
          </a:p>
          <a:p>
            <a:pPr>
              <a:spcBef>
                <a:spcPts val="300"/>
              </a:spcBef>
              <a:defRPr/>
            </a:pPr>
            <a:r>
              <a:rPr lang="zh-CN" altLang="en-US" b="1" dirty="0"/>
              <a:t>           </a:t>
            </a:r>
            <a:r>
              <a:rPr lang="en-US" altLang="zh-CN" b="1" dirty="0"/>
              <a:t>(1)  </a:t>
            </a:r>
            <a:r>
              <a:rPr lang="zh-CN" altLang="en-US" b="1" dirty="0"/>
              <a:t>电子器件散热技术简介与热分析</a:t>
            </a:r>
            <a:endParaRPr lang="zh-CN" altLang="en-US" dirty="0"/>
          </a:p>
          <a:p>
            <a:pPr>
              <a:spcBef>
                <a:spcPts val="300"/>
              </a:spcBef>
              <a:defRPr/>
            </a:pPr>
            <a:r>
              <a:rPr lang="zh-CN" altLang="en-US" b="1" dirty="0"/>
              <a:t>           </a:t>
            </a:r>
            <a:r>
              <a:rPr lang="en-US" altLang="zh-CN" b="1" dirty="0"/>
              <a:t>(2)  LED</a:t>
            </a:r>
            <a:r>
              <a:rPr lang="zh-CN" altLang="en-US" b="1" dirty="0"/>
              <a:t>散热技术简介与热分析</a:t>
            </a:r>
            <a:endParaRPr lang="zh-CN" altLang="en-US" dirty="0"/>
          </a:p>
          <a:p>
            <a:pPr>
              <a:spcBef>
                <a:spcPts val="300"/>
              </a:spcBef>
              <a:defRPr/>
            </a:pPr>
            <a:r>
              <a:rPr lang="zh-CN" altLang="en-US" b="1" dirty="0"/>
              <a:t>           </a:t>
            </a:r>
            <a:r>
              <a:rPr lang="en-US" altLang="zh-CN" b="1" dirty="0"/>
              <a:t>(3)  </a:t>
            </a:r>
            <a:r>
              <a:rPr lang="zh-CN" altLang="en-US" b="1" dirty="0"/>
              <a:t>航空发动机叶片冷却技术</a:t>
            </a:r>
            <a:r>
              <a:rPr lang="zh-CN" altLang="en-US" b="1" dirty="0" smtClean="0"/>
              <a:t>简介</a:t>
            </a:r>
            <a:endParaRPr lang="en-US" altLang="zh-CN" b="1" dirty="0" smtClean="0"/>
          </a:p>
          <a:p>
            <a:pPr>
              <a:spcBef>
                <a:spcPts val="300"/>
              </a:spcBef>
              <a:defRPr/>
            </a:pPr>
            <a:r>
              <a:rPr lang="zh-CN" altLang="en-US" b="1" dirty="0" smtClean="0"/>
              <a:t>           </a:t>
            </a:r>
            <a:r>
              <a:rPr lang="en-US" altLang="zh-CN" b="1" dirty="0" smtClean="0"/>
              <a:t>(4)  </a:t>
            </a:r>
            <a:r>
              <a:rPr lang="zh-CN" altLang="en-US" b="1" dirty="0" smtClean="0"/>
              <a:t>燃气热水器样机强化传热技术讨论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844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468313" y="1268413"/>
            <a:ext cx="8675687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4000" b="1"/>
              <a:t>§3.4  </a:t>
            </a:r>
            <a:r>
              <a:rPr lang="zh-CN" altLang="en-US" sz="4000" b="1"/>
              <a:t>对流换热的无源强化技术</a:t>
            </a:r>
            <a:endParaRPr lang="en-US" altLang="zh-CN" sz="4000" b="1"/>
          </a:p>
          <a:p>
            <a:r>
              <a:rPr lang="en-US" altLang="zh-CN" sz="4000" b="1"/>
              <a:t>                     ——</a:t>
            </a:r>
            <a:r>
              <a:rPr lang="zh-CN" altLang="en-US" sz="4000" b="1"/>
              <a:t>内流换热强化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719138" y="3641725"/>
            <a:ext cx="81010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b="1"/>
              <a:t>§3.4.1  </a:t>
            </a:r>
            <a:r>
              <a:rPr lang="zh-CN" altLang="en-US" sz="3200" b="1"/>
              <a:t>层流和低</a:t>
            </a:r>
            <a:r>
              <a:rPr lang="en-US" altLang="zh-CN" sz="3200" b="1"/>
              <a:t>Re</a:t>
            </a:r>
            <a:r>
              <a:rPr lang="zh-CN" altLang="en-US" sz="3200" b="1"/>
              <a:t>流动对流换热强化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722313" y="4649788"/>
            <a:ext cx="77739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b="1"/>
              <a:t>§3.4.2  </a:t>
            </a:r>
            <a:r>
              <a:rPr lang="zh-CN" altLang="en-US" sz="3200" b="1"/>
              <a:t>湍流换热强化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mainpic" descr="1516096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6013" y="4941888"/>
            <a:ext cx="2376487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17"/>
          <p:cNvPicPr>
            <a:picLocks noChangeAspect="1" noChangeArrowheads="1"/>
          </p:cNvPicPr>
          <p:nvPr/>
        </p:nvPicPr>
        <p:blipFill>
          <a:blip r:embed="rId3" cstate="print"/>
          <a:srcRect b="27678"/>
          <a:stretch>
            <a:fillRect/>
          </a:stretch>
        </p:blipFill>
        <p:spPr bwMode="auto">
          <a:xfrm>
            <a:off x="0" y="5634038"/>
            <a:ext cx="3203575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Text Box 2"/>
          <p:cNvSpPr txBox="1">
            <a:spLocks noChangeArrowheads="1"/>
          </p:cNvSpPr>
          <p:nvPr/>
        </p:nvSpPr>
        <p:spPr bwMode="auto">
          <a:xfrm>
            <a:off x="539750" y="404813"/>
            <a:ext cx="8604250" cy="1068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/>
              <a:t>       </a:t>
            </a:r>
            <a:r>
              <a:rPr lang="zh-CN" altLang="en-US" sz="2800" b="1"/>
              <a:t>无源强化技术不需要附加动力和设备，工作可靠、应用广泛。</a:t>
            </a:r>
          </a:p>
        </p:txBody>
      </p:sp>
      <p:pic>
        <p:nvPicPr>
          <p:cNvPr id="13317" name="Picture 9" descr="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1838" y="6019800"/>
            <a:ext cx="173355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10" descr="c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76600" y="5157788"/>
            <a:ext cx="1692275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9" name="Picture 12" descr="06408-2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03800" y="5187950"/>
            <a:ext cx="1728788" cy="167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0" name="Picture 13" descr="541579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777163" y="3429000"/>
            <a:ext cx="1366837" cy="148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1" name="Picture 14" descr="Transversely grooved tube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5013325"/>
            <a:ext cx="10795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2" name="Rectangle 4"/>
          <p:cNvSpPr>
            <a:spLocks noChangeArrowheads="1"/>
          </p:cNvSpPr>
          <p:nvPr/>
        </p:nvSpPr>
        <p:spPr bwMode="auto">
          <a:xfrm>
            <a:off x="611188" y="1628775"/>
            <a:ext cx="8302625" cy="280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5000"/>
              </a:spcBef>
              <a:buFont typeface="Wingdings 2" pitchFamily="18" charset="2"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现有单相对流换热的传热强化技术：</a:t>
            </a:r>
            <a:endParaRPr lang="zh-CN" altLang="en-US" sz="2800" b="1">
              <a:solidFill>
                <a:srgbClr val="FF00FF"/>
              </a:solidFill>
              <a:latin typeface="宋体" pitchFamily="2" charset="-122"/>
            </a:endParaRPr>
          </a:p>
          <a:p>
            <a:pPr marL="533400" indent="-533400">
              <a:lnSpc>
                <a:spcPct val="80000"/>
              </a:lnSpc>
              <a:spcBef>
                <a:spcPct val="25000"/>
              </a:spcBef>
              <a:buFont typeface="Wingdings 2" pitchFamily="18" charset="2"/>
              <a:buNone/>
            </a:pPr>
            <a:r>
              <a:rPr lang="zh-CN" altLang="en-US" sz="2800" b="1">
                <a:solidFill>
                  <a:srgbClr val="FF00FF"/>
                </a:solidFill>
                <a:latin typeface="宋体" pitchFamily="2" charset="-122"/>
              </a:rPr>
              <a:t>☆ </a:t>
            </a:r>
            <a:r>
              <a:rPr lang="zh-CN" altLang="en-US" sz="2800" b="1">
                <a:latin typeface="宋体" pitchFamily="2" charset="-122"/>
              </a:rPr>
              <a:t>管内插物：</a:t>
            </a:r>
            <a:r>
              <a:rPr lang="zh-CN" altLang="en-US" sz="2800" b="1">
                <a:solidFill>
                  <a:srgbClr val="FF3300"/>
                </a:solidFill>
                <a:latin typeface="宋体" pitchFamily="2" charset="-122"/>
              </a:rPr>
              <a:t>扭曲带</a:t>
            </a:r>
            <a:r>
              <a:rPr lang="zh-CN" altLang="en-US" sz="2800" b="1">
                <a:latin typeface="宋体" pitchFamily="2" charset="-122"/>
              </a:rPr>
              <a:t>、旋流发生器、</a:t>
            </a:r>
            <a:r>
              <a:rPr lang="zh-CN" altLang="en-US" sz="2800" b="1"/>
              <a:t>纤毛肋</a:t>
            </a:r>
            <a:endParaRPr lang="zh-CN" altLang="en-US" sz="2800" b="1">
              <a:latin typeface="宋体" pitchFamily="2" charset="-122"/>
            </a:endParaRPr>
          </a:p>
          <a:p>
            <a:pPr marL="533400" indent="-533400">
              <a:lnSpc>
                <a:spcPct val="80000"/>
              </a:lnSpc>
              <a:spcBef>
                <a:spcPct val="25000"/>
              </a:spcBef>
            </a:pPr>
            <a:r>
              <a:rPr lang="zh-CN" altLang="en-US" sz="2800" b="1">
                <a:solidFill>
                  <a:srgbClr val="FF00FF"/>
                </a:solidFill>
                <a:latin typeface="宋体" pitchFamily="2" charset="-122"/>
              </a:rPr>
              <a:t>☆ </a:t>
            </a:r>
            <a:r>
              <a:rPr lang="zh-CN" altLang="en-US" sz="2800" b="1">
                <a:latin typeface="宋体" pitchFamily="2" charset="-122"/>
              </a:rPr>
              <a:t>粗糙表面：螺纹、</a:t>
            </a:r>
            <a:r>
              <a:rPr lang="zh-CN" altLang="en-US" sz="2800" b="1">
                <a:solidFill>
                  <a:srgbClr val="FF3300"/>
                </a:solidFill>
                <a:latin typeface="宋体" pitchFamily="2" charset="-122"/>
              </a:rPr>
              <a:t>螺旋槽管</a:t>
            </a:r>
            <a:r>
              <a:rPr lang="zh-CN" altLang="en-US" sz="2800" b="1">
                <a:latin typeface="宋体" pitchFamily="2" charset="-122"/>
              </a:rPr>
              <a:t>、横槽管</a:t>
            </a:r>
          </a:p>
          <a:p>
            <a:pPr marL="533400" indent="-533400">
              <a:lnSpc>
                <a:spcPct val="80000"/>
              </a:lnSpc>
              <a:spcBef>
                <a:spcPct val="25000"/>
              </a:spcBef>
            </a:pPr>
            <a:r>
              <a:rPr lang="zh-CN" altLang="en-US" sz="2800" b="1">
                <a:solidFill>
                  <a:srgbClr val="FF00FF"/>
                </a:solidFill>
                <a:latin typeface="宋体" pitchFamily="2" charset="-122"/>
              </a:rPr>
              <a:t>☆ </a:t>
            </a:r>
            <a:r>
              <a:rPr lang="zh-CN" altLang="en-US" sz="2800" b="1">
                <a:latin typeface="宋体" pitchFamily="2" charset="-122"/>
              </a:rPr>
              <a:t>异 形 管：</a:t>
            </a:r>
            <a:r>
              <a:rPr lang="zh-CN" altLang="en-US" sz="2800" b="1">
                <a:solidFill>
                  <a:srgbClr val="FF3300"/>
                </a:solidFill>
                <a:latin typeface="宋体" pitchFamily="2" charset="-122"/>
              </a:rPr>
              <a:t>波纹</a:t>
            </a:r>
            <a:r>
              <a:rPr lang="zh-CN" altLang="en-US" sz="2800" b="1">
                <a:latin typeface="宋体" pitchFamily="2" charset="-122"/>
              </a:rPr>
              <a:t>、局部压扁、扭曲、</a:t>
            </a:r>
            <a:r>
              <a:rPr lang="en-US" altLang="zh-CN" sz="2800" b="1">
                <a:solidFill>
                  <a:srgbClr val="FF3300"/>
                </a:solidFill>
                <a:latin typeface="宋体" pitchFamily="2" charset="-122"/>
              </a:rPr>
              <a:t>AEA</a:t>
            </a:r>
          </a:p>
          <a:p>
            <a:pPr marL="533400" indent="-533400">
              <a:lnSpc>
                <a:spcPct val="80000"/>
              </a:lnSpc>
              <a:spcBef>
                <a:spcPct val="25000"/>
              </a:spcBef>
            </a:pPr>
            <a:r>
              <a:rPr lang="en-US" altLang="zh-CN" sz="2800" b="1">
                <a:solidFill>
                  <a:srgbClr val="FF00FF"/>
                </a:solidFill>
                <a:latin typeface="宋体" pitchFamily="2" charset="-122"/>
              </a:rPr>
              <a:t>☆ </a:t>
            </a:r>
            <a:r>
              <a:rPr lang="zh-CN" altLang="en-US" sz="2800" b="1">
                <a:latin typeface="宋体" pitchFamily="2" charset="-122"/>
              </a:rPr>
              <a:t>扩展壁面</a:t>
            </a:r>
            <a:r>
              <a:rPr lang="en-US" altLang="zh-CN" sz="2800" b="1">
                <a:latin typeface="宋体" pitchFamily="2" charset="-122"/>
              </a:rPr>
              <a:t>: </a:t>
            </a:r>
            <a:r>
              <a:rPr lang="zh-CN" altLang="en-US" sz="2800" b="1" i="1">
                <a:solidFill>
                  <a:srgbClr val="FF3300"/>
                </a:solidFill>
                <a:latin typeface="宋体" pitchFamily="2" charset="-122"/>
              </a:rPr>
              <a:t>翅片</a:t>
            </a:r>
            <a:r>
              <a:rPr lang="zh-CN" altLang="en-US" sz="2800" b="1">
                <a:solidFill>
                  <a:srgbClr val="FF3300"/>
                </a:solidFill>
                <a:latin typeface="宋体" pitchFamily="2" charset="-122"/>
              </a:rPr>
              <a:t>、微翅</a:t>
            </a:r>
          </a:p>
          <a:p>
            <a:pPr marL="533400" indent="-533400">
              <a:lnSpc>
                <a:spcPct val="80000"/>
              </a:lnSpc>
              <a:spcBef>
                <a:spcPct val="25000"/>
              </a:spcBef>
            </a:pPr>
            <a:r>
              <a:rPr lang="zh-CN" altLang="en-US" sz="2800" b="1">
                <a:solidFill>
                  <a:srgbClr val="FF00FF"/>
                </a:solidFill>
                <a:latin typeface="宋体" pitchFamily="2" charset="-122"/>
              </a:rPr>
              <a:t>☆ </a:t>
            </a:r>
            <a:r>
              <a:rPr lang="zh-CN" altLang="en-US" sz="2800" b="1">
                <a:latin typeface="宋体" pitchFamily="2" charset="-122"/>
              </a:rPr>
              <a:t>涡　　流</a:t>
            </a:r>
            <a:r>
              <a:rPr lang="en-US" altLang="zh-CN" sz="2800" b="1">
                <a:latin typeface="宋体" pitchFamily="2" charset="-122"/>
              </a:rPr>
              <a:t>: </a:t>
            </a:r>
            <a:r>
              <a:rPr lang="en-US" altLang="zh-CN" sz="2800" b="1">
                <a:solidFill>
                  <a:srgbClr val="FF3300"/>
                </a:solidFill>
                <a:latin typeface="宋体" pitchFamily="2" charset="-122"/>
              </a:rPr>
              <a:t>DDIR</a:t>
            </a:r>
            <a:r>
              <a:rPr lang="zh-CN" altLang="en-US" sz="2800" b="1">
                <a:solidFill>
                  <a:srgbClr val="FF3300"/>
                </a:solidFill>
                <a:latin typeface="宋体" pitchFamily="2" charset="-122"/>
              </a:rPr>
              <a:t>、</a:t>
            </a:r>
            <a:r>
              <a:rPr lang="en-US" altLang="zh-CN" sz="2800" b="1">
                <a:solidFill>
                  <a:srgbClr val="FF3300"/>
                </a:solidFill>
                <a:latin typeface="宋体" pitchFamily="2" charset="-122"/>
              </a:rPr>
              <a:t>AEA</a:t>
            </a:r>
          </a:p>
          <a:p>
            <a:pPr marL="533400" indent="-533400">
              <a:lnSpc>
                <a:spcPct val="80000"/>
              </a:lnSpc>
              <a:spcBef>
                <a:spcPct val="25000"/>
              </a:spcBef>
            </a:pPr>
            <a:r>
              <a:rPr lang="en-US" altLang="zh-CN" sz="2800" b="1">
                <a:solidFill>
                  <a:srgbClr val="FF00FF"/>
                </a:solidFill>
                <a:latin typeface="宋体" pitchFamily="2" charset="-122"/>
              </a:rPr>
              <a:t>☆ </a:t>
            </a:r>
            <a:r>
              <a:rPr lang="zh-CN" altLang="en-US" sz="2800" b="1">
                <a:latin typeface="宋体" pitchFamily="2" charset="-122"/>
              </a:rPr>
              <a:t>振　　动</a:t>
            </a:r>
            <a:r>
              <a:rPr lang="en-US" altLang="zh-CN" sz="2800" b="1">
                <a:latin typeface="宋体" pitchFamily="2" charset="-122"/>
              </a:rPr>
              <a:t>: </a:t>
            </a:r>
            <a:r>
              <a:rPr lang="zh-CN" altLang="en-US" sz="2800" b="1">
                <a:solidFill>
                  <a:srgbClr val="FF3300"/>
                </a:solidFill>
                <a:latin typeface="宋体" pitchFamily="2" charset="-122"/>
              </a:rPr>
              <a:t>弹性管束</a:t>
            </a:r>
          </a:p>
        </p:txBody>
      </p:sp>
      <p:pic>
        <p:nvPicPr>
          <p:cNvPr id="13323" name="Picture 1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732588" y="4894263"/>
            <a:ext cx="2411412" cy="196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4" name="Picture 19" descr="螺旋翅片管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584950" y="3429000"/>
            <a:ext cx="1201738" cy="148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2"/>
          <p:cNvSpPr txBox="1">
            <a:spLocks noChangeArrowheads="1"/>
          </p:cNvSpPr>
          <p:nvPr/>
        </p:nvSpPr>
        <p:spPr bwMode="auto">
          <a:xfrm>
            <a:off x="685800" y="685800"/>
            <a:ext cx="80629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 b="1"/>
              <a:t>§3.4.1  </a:t>
            </a:r>
            <a:r>
              <a:rPr lang="zh-CN" altLang="en-US" sz="3600" b="1"/>
              <a:t>层流和低</a:t>
            </a:r>
            <a:r>
              <a:rPr lang="en-US" altLang="zh-CN" sz="3600" b="1"/>
              <a:t>Re</a:t>
            </a:r>
            <a:r>
              <a:rPr lang="zh-CN" altLang="en-US" sz="3600" b="1"/>
              <a:t>流动对流换热强化</a:t>
            </a:r>
          </a:p>
        </p:txBody>
      </p:sp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609600" y="1524000"/>
            <a:ext cx="6699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800"/>
              <a:t>层流换热在工业领域应用比较广泛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30263" y="3341688"/>
            <a:ext cx="7270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/>
              <a:t>1</a:t>
            </a:r>
            <a:r>
              <a:rPr lang="zh-CN" altLang="en-US" sz="2800"/>
              <a:t>、石油、化工行业，高粘流体的加热与冷却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2286000" y="3846513"/>
            <a:ext cx="1295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FF3300"/>
                </a:solidFill>
              </a:rPr>
              <a:t>粘度高</a:t>
            </a: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838200" y="4494213"/>
            <a:ext cx="6397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/>
              <a:t>2</a:t>
            </a:r>
            <a:r>
              <a:rPr lang="zh-CN" altLang="en-US" sz="2800"/>
              <a:t>、紧凑式换热器中流体的换热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2286000" y="4997450"/>
            <a:ext cx="167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FF3300"/>
                </a:solidFill>
              </a:rPr>
              <a:t>尺寸小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914400" y="5646738"/>
            <a:ext cx="65373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/>
              <a:t>3</a:t>
            </a:r>
            <a:r>
              <a:rPr lang="zh-CN" altLang="en-US" sz="2800"/>
              <a:t>、太阳能集热器中流体的加热</a:t>
            </a: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2339975" y="6096000"/>
            <a:ext cx="167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FF3300"/>
                </a:solidFill>
              </a:rPr>
              <a:t>流速低</a:t>
            </a:r>
          </a:p>
        </p:txBody>
      </p:sp>
      <p:graphicFrame>
        <p:nvGraphicFramePr>
          <p:cNvPr id="1026" name="Object 10"/>
          <p:cNvGraphicFramePr>
            <a:graphicFrameLocks noChangeAspect="1"/>
          </p:cNvGraphicFramePr>
          <p:nvPr/>
        </p:nvGraphicFramePr>
        <p:xfrm>
          <a:off x="2268538" y="2227263"/>
          <a:ext cx="19081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711000" imgH="393480" progId="Equation.DSMT4">
                  <p:embed/>
                </p:oleObj>
              </mc:Choice>
              <mc:Fallback>
                <p:oleObj name="Equation" r:id="rId3" imgW="711000" imgH="393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227263"/>
                        <a:ext cx="1908175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utoUpdateAnimBg="0"/>
      <p:bldP spid="4101" grpId="0" autoUpdateAnimBg="0"/>
      <p:bldP spid="4102" grpId="0" autoUpdateAnimBg="0"/>
      <p:bldP spid="4103" grpId="0" autoUpdateAnimBg="0"/>
      <p:bldP spid="4104" grpId="0" autoUpdateAnimBg="0"/>
      <p:bldP spid="410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457200" y="609600"/>
            <a:ext cx="80756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200" b="1"/>
              <a:t>层流和低</a:t>
            </a:r>
            <a:r>
              <a:rPr lang="en-US" altLang="zh-CN" sz="3200" b="1"/>
              <a:t>Re</a:t>
            </a:r>
            <a:r>
              <a:rPr lang="zh-CN" altLang="en-US" sz="3200" b="1"/>
              <a:t>流动对流换的强化方法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539750" y="1484313"/>
            <a:ext cx="8353425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zh-CN" b="1"/>
              <a:t>1</a:t>
            </a:r>
            <a:r>
              <a:rPr lang="zh-CN" altLang="en-US" b="1"/>
              <a:t>、 搅拌。像有源强化的搅拌釜那样，设置搅拌器，使流体产生径向流动和其它复杂流动。</a:t>
            </a:r>
          </a:p>
          <a:p>
            <a:pPr>
              <a:spcBef>
                <a:spcPct val="25000"/>
              </a:spcBef>
            </a:pPr>
            <a:r>
              <a:rPr lang="zh-CN" altLang="en-US" b="1"/>
              <a:t>      　</a:t>
            </a:r>
            <a:r>
              <a:rPr lang="zh-CN" altLang="en-US" b="1">
                <a:solidFill>
                  <a:schemeClr val="accent2"/>
                </a:solidFill>
              </a:rPr>
              <a:t>结构复杂，流阻较大。应用：自旋转子／扭带。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611188" y="2781300"/>
            <a:ext cx="8281987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zh-CN" b="1"/>
              <a:t>2</a:t>
            </a:r>
            <a:r>
              <a:rPr lang="zh-CN" altLang="en-US" b="1"/>
              <a:t>、静止的流体混合装置／表面。利用各种管内插入物／改变换热表面结构，使流体产生径向流动。</a:t>
            </a:r>
          </a:p>
          <a:p>
            <a:pPr>
              <a:spcBef>
                <a:spcPct val="25000"/>
              </a:spcBef>
            </a:pPr>
            <a:r>
              <a:rPr lang="zh-CN" altLang="en-US" b="1">
                <a:solidFill>
                  <a:srgbClr val="FF3300"/>
                </a:solidFill>
              </a:rPr>
              <a:t>　　</a:t>
            </a:r>
            <a:r>
              <a:rPr lang="zh-CN" altLang="en-US" b="1">
                <a:solidFill>
                  <a:schemeClr val="accent2"/>
                </a:solidFill>
              </a:rPr>
              <a:t>结构简单、可靠性高、流阻较大、应用比较多。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611188" y="4149725"/>
            <a:ext cx="8281987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zh-CN" b="1"/>
              <a:t>3</a:t>
            </a:r>
            <a:r>
              <a:rPr lang="zh-CN" altLang="en-US" b="1"/>
              <a:t>、扩展表面。采用翅片／突起增加换热面积。</a:t>
            </a:r>
          </a:p>
          <a:p>
            <a:pPr>
              <a:spcBef>
                <a:spcPct val="25000"/>
              </a:spcBef>
            </a:pPr>
            <a:r>
              <a:rPr lang="zh-CN" altLang="en-US" b="1">
                <a:solidFill>
                  <a:srgbClr val="FF3300"/>
                </a:solidFill>
              </a:rPr>
              <a:t>　　</a:t>
            </a:r>
            <a:r>
              <a:rPr lang="zh-CN" altLang="en-US" b="1">
                <a:solidFill>
                  <a:schemeClr val="accent2"/>
                </a:solidFill>
              </a:rPr>
              <a:t>主要针对换热系数较低的一侧的换热强化。应用：外流（层流／湍流）、微尺度换热。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611188" y="5445125"/>
            <a:ext cx="8062912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zh-CN" b="1"/>
              <a:t>4</a:t>
            </a:r>
            <a:r>
              <a:rPr lang="zh-CN" altLang="en-US" b="1"/>
              <a:t>、多纵向涡流。利用一次换热表面使流体产生多纵向涡流流动。</a:t>
            </a:r>
          </a:p>
          <a:p>
            <a:pPr>
              <a:spcBef>
                <a:spcPct val="25000"/>
              </a:spcBef>
            </a:pPr>
            <a:r>
              <a:rPr lang="zh-CN" altLang="en-US" b="1">
                <a:solidFill>
                  <a:srgbClr val="FF3300"/>
                </a:solidFill>
              </a:rPr>
              <a:t>　　</a:t>
            </a:r>
            <a:r>
              <a:rPr lang="zh-CN" altLang="en-US" b="1">
                <a:solidFill>
                  <a:schemeClr val="accent2"/>
                </a:solidFill>
              </a:rPr>
              <a:t>阻力增加明显降低。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utoUpdateAnimBg="0"/>
      <p:bldP spid="6148" grpId="0" autoUpdateAnimBg="0"/>
      <p:bldP spid="6150" grpId="0" autoUpdateAnimBg="0"/>
      <p:bldP spid="615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827088" y="1844675"/>
            <a:ext cx="7777162" cy="430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FF0000"/>
                </a:solidFill>
              </a:rPr>
              <a:t>管内插扭曲带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dirty="0"/>
              <a:t> </a:t>
            </a:r>
            <a:r>
              <a:rPr lang="en-US" altLang="zh-CN" b="1" dirty="0" err="1"/>
              <a:t>Kenics</a:t>
            </a:r>
            <a:r>
              <a:rPr lang="zh-CN" altLang="en-US" b="1" dirty="0"/>
              <a:t>静态混合器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 dirty="0"/>
              <a:t>扭曲椭圆管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 dirty="0"/>
              <a:t>内翅片管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 dirty="0"/>
              <a:t>螺旋管／板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 dirty="0"/>
              <a:t>弹性管束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FF0000"/>
                </a:solidFill>
              </a:rPr>
              <a:t>波纹板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 dirty="0"/>
              <a:t>板翅式换热器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 dirty="0"/>
              <a:t>多纵向涡流</a:t>
            </a:r>
            <a:r>
              <a:rPr lang="en-US" altLang="zh-CN" b="1" dirty="0">
                <a:solidFill>
                  <a:srgbClr val="FF3300"/>
                </a:solidFill>
              </a:rPr>
              <a:t>(AEA /DDIR</a:t>
            </a:r>
            <a:r>
              <a:rPr lang="zh-CN" altLang="en-US" b="1" dirty="0">
                <a:solidFill>
                  <a:srgbClr val="FF3300"/>
                </a:solidFill>
              </a:rPr>
              <a:t>管</a:t>
            </a:r>
            <a:r>
              <a:rPr lang="en-US" altLang="zh-CN" b="1" dirty="0">
                <a:solidFill>
                  <a:srgbClr val="FF3300"/>
                </a:solidFill>
              </a:rPr>
              <a:t>)</a:t>
            </a:r>
          </a:p>
        </p:txBody>
      </p:sp>
      <p:sp>
        <p:nvSpPr>
          <p:cNvPr id="15363" name="Text Box 8"/>
          <p:cNvSpPr txBox="1">
            <a:spLocks noChangeArrowheads="1"/>
          </p:cNvSpPr>
          <p:nvPr/>
        </p:nvSpPr>
        <p:spPr bwMode="auto">
          <a:xfrm>
            <a:off x="468313" y="836613"/>
            <a:ext cx="77152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3200"/>
              <a:t>   </a:t>
            </a:r>
            <a:r>
              <a:rPr lang="zh-CN" altLang="en-US" sz="3200" b="1"/>
              <a:t>层流和低</a:t>
            </a:r>
            <a:r>
              <a:rPr lang="en-US" altLang="zh-CN" sz="3200" b="1"/>
              <a:t>Re</a:t>
            </a:r>
            <a:r>
              <a:rPr lang="zh-CN" altLang="en-US" sz="3200" b="1"/>
              <a:t>流动对流换热的强化技术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533400" y="4508500"/>
            <a:ext cx="4038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zh-CN" altLang="en-US" sz="2800" b="1"/>
              <a:t>扭曲带强化机理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539750" y="5127625"/>
            <a:ext cx="813593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       </a:t>
            </a:r>
            <a:r>
              <a:rPr lang="zh-CN" altLang="en-US"/>
              <a:t>流体流经扭曲带时，产生螺旋式前进运动，引起径向流动和混合，使流体温度均匀，增加壁面的温度梯度。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1042988" y="6067425"/>
            <a:ext cx="66976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层流：强化效果明显     湍流：强化效果比较差</a:t>
            </a:r>
          </a:p>
        </p:txBody>
      </p:sp>
      <p:pic>
        <p:nvPicPr>
          <p:cNvPr id="16389" name="Picture 6"/>
          <p:cNvPicPr>
            <a:picLocks noChangeAspect="1" noChangeArrowheads="1"/>
          </p:cNvPicPr>
          <p:nvPr/>
        </p:nvPicPr>
        <p:blipFill>
          <a:blip r:embed="rId2" cstate="print"/>
          <a:srcRect b="27678"/>
          <a:stretch>
            <a:fillRect/>
          </a:stretch>
        </p:blipFill>
        <p:spPr bwMode="auto">
          <a:xfrm>
            <a:off x="4284663" y="1412875"/>
            <a:ext cx="4859337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466725" y="1989138"/>
            <a:ext cx="43926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zh-CN" altLang="en-US" sz="2800" b="1"/>
              <a:t>结构：管子＋扭曲带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684213" y="2924175"/>
            <a:ext cx="594042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/>
              <a:t>节距</a:t>
            </a:r>
            <a:r>
              <a:rPr lang="en-US" altLang="zh-CN"/>
              <a:t>S</a:t>
            </a:r>
            <a:r>
              <a:rPr lang="zh-CN" altLang="en-US"/>
              <a:t>：扭曲</a:t>
            </a:r>
            <a:r>
              <a:rPr lang="en-US" altLang="zh-CN"/>
              <a:t>180</a:t>
            </a:r>
            <a:r>
              <a:rPr lang="zh-CN" altLang="en-US"/>
              <a:t>度的轴向长度</a:t>
            </a:r>
          </a:p>
          <a:p>
            <a:pPr>
              <a:spcBef>
                <a:spcPct val="25000"/>
              </a:spcBef>
            </a:pPr>
            <a:r>
              <a:rPr lang="zh-CN" altLang="en-US"/>
              <a:t>扭曲比</a:t>
            </a:r>
            <a:r>
              <a:rPr lang="en-US" altLang="zh-CN"/>
              <a:t>y</a:t>
            </a:r>
            <a:r>
              <a:rPr lang="zh-CN" altLang="en-US"/>
              <a:t>：</a:t>
            </a:r>
            <a:r>
              <a:rPr lang="en-US" altLang="zh-CN"/>
              <a:t>S/D</a:t>
            </a:r>
            <a:r>
              <a:rPr lang="zh-CN" altLang="en-US"/>
              <a:t>。</a:t>
            </a:r>
            <a:r>
              <a:rPr lang="en-US" altLang="zh-CN"/>
              <a:t>y</a:t>
            </a:r>
            <a:r>
              <a:rPr lang="zh-CN" altLang="en-US"/>
              <a:t>小，扭曲程度高</a:t>
            </a:r>
          </a:p>
          <a:p>
            <a:pPr>
              <a:spcBef>
                <a:spcPct val="25000"/>
              </a:spcBef>
            </a:pPr>
            <a:r>
              <a:rPr lang="zh-CN" altLang="en-US"/>
              <a:t>扭曲带的布局：全长、分段、进口段</a:t>
            </a:r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539750" y="792163"/>
            <a:ext cx="32067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b="1"/>
              <a:t>(1) </a:t>
            </a:r>
            <a:r>
              <a:rPr lang="zh-CN" altLang="en-US" sz="3200" b="1"/>
              <a:t>管内插扭曲带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5" grpId="0"/>
      <p:bldP spid="8196" grpId="0"/>
      <p:bldP spid="8199" grpId="0"/>
      <p:bldP spid="820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Text Box 2"/>
          <p:cNvSpPr txBox="1">
            <a:spLocks noChangeArrowheads="1"/>
          </p:cNvSpPr>
          <p:nvPr/>
        </p:nvSpPr>
        <p:spPr bwMode="auto">
          <a:xfrm>
            <a:off x="381000" y="746125"/>
            <a:ext cx="51990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zh-CN" altLang="en-US" sz="2800" b="1"/>
              <a:t>流动阻力和换热性能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755650" y="1484313"/>
            <a:ext cx="20875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/>
              <a:t>层流、直带</a:t>
            </a:r>
          </a:p>
        </p:txBody>
      </p:sp>
      <p:graphicFrame>
        <p:nvGraphicFramePr>
          <p:cNvPr id="9232" name="Object 16"/>
          <p:cNvGraphicFramePr>
            <a:graphicFrameLocks noChangeAspect="1"/>
          </p:cNvGraphicFramePr>
          <p:nvPr/>
        </p:nvGraphicFramePr>
        <p:xfrm>
          <a:off x="684213" y="2058988"/>
          <a:ext cx="421005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Equation" r:id="rId3" imgW="1688760" imgH="444240" progId="Equation.DSMT4">
                  <p:embed/>
                </p:oleObj>
              </mc:Choice>
              <mc:Fallback>
                <p:oleObj name="Equation" r:id="rId3" imgW="1688760" imgH="4442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058988"/>
                        <a:ext cx="4210050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" name="Object 20"/>
          <p:cNvGraphicFramePr>
            <a:graphicFrameLocks noChangeAspect="1"/>
          </p:cNvGraphicFramePr>
          <p:nvPr/>
        </p:nvGraphicFramePr>
        <p:xfrm>
          <a:off x="2790825" y="1530350"/>
          <a:ext cx="15652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Equation" r:id="rId5" imgW="609480" imgH="177480" progId="Equation.DSMT4">
                  <p:embed/>
                </p:oleObj>
              </mc:Choice>
              <mc:Fallback>
                <p:oleObj name="Equation" r:id="rId5" imgW="609480" imgH="1774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1530350"/>
                        <a:ext cx="15652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2" name="Object 26"/>
          <p:cNvGraphicFramePr>
            <a:graphicFrameLocks noChangeAspect="1"/>
          </p:cNvGraphicFramePr>
          <p:nvPr/>
        </p:nvGraphicFramePr>
        <p:xfrm>
          <a:off x="2065338" y="3644900"/>
          <a:ext cx="16906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Equation" r:id="rId7" imgW="736560" imgH="431640" progId="Equation.DSMT4">
                  <p:embed/>
                </p:oleObj>
              </mc:Choice>
              <mc:Fallback>
                <p:oleObj name="Equation" r:id="rId7" imgW="736560" imgH="4316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3644900"/>
                        <a:ext cx="1690687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684213" y="5835650"/>
            <a:ext cx="12239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/>
              <a:t>湍流：</a:t>
            </a:r>
          </a:p>
        </p:txBody>
      </p:sp>
      <p:graphicFrame>
        <p:nvGraphicFramePr>
          <p:cNvPr id="9244" name="Object 28"/>
          <p:cNvGraphicFramePr>
            <a:graphicFrameLocks noChangeAspect="1"/>
          </p:cNvGraphicFramePr>
          <p:nvPr/>
        </p:nvGraphicFramePr>
        <p:xfrm>
          <a:off x="1979613" y="5678488"/>
          <a:ext cx="21859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name="Equation" r:id="rId9" imgW="952200" imgH="431640" progId="Equation.DSMT4">
                  <p:embed/>
                </p:oleObj>
              </mc:Choice>
              <mc:Fallback>
                <p:oleObj name="Equation" r:id="rId9" imgW="952200" imgH="43164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678488"/>
                        <a:ext cx="2185987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5" name="Text Box 29"/>
          <p:cNvSpPr txBox="1">
            <a:spLocks noChangeArrowheads="1"/>
          </p:cNvSpPr>
          <p:nvPr/>
        </p:nvSpPr>
        <p:spPr bwMode="auto">
          <a:xfrm>
            <a:off x="687388" y="3797300"/>
            <a:ext cx="11477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/>
              <a:t>层流：</a:t>
            </a:r>
          </a:p>
        </p:txBody>
      </p:sp>
      <p:graphicFrame>
        <p:nvGraphicFramePr>
          <p:cNvPr id="9246" name="Object 30"/>
          <p:cNvGraphicFramePr>
            <a:graphicFrameLocks noChangeAspect="1"/>
          </p:cNvGraphicFramePr>
          <p:nvPr/>
        </p:nvGraphicFramePr>
        <p:xfrm>
          <a:off x="4427538" y="5661025"/>
          <a:ext cx="17176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Equation" r:id="rId11" imgW="749160" imgH="431640" progId="Equation.DSMT4">
                  <p:embed/>
                </p:oleObj>
              </mc:Choice>
              <mc:Fallback>
                <p:oleObj name="Equation" r:id="rId11" imgW="749160" imgH="43164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661025"/>
                        <a:ext cx="1717675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7" name="Object 31"/>
          <p:cNvGraphicFramePr>
            <a:graphicFrameLocks noChangeAspect="1"/>
          </p:cNvGraphicFramePr>
          <p:nvPr/>
        </p:nvGraphicFramePr>
        <p:xfrm>
          <a:off x="6357938" y="5876925"/>
          <a:ext cx="2328862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name="Equation" r:id="rId13" imgW="1015920" imgH="177480" progId="Equation.DSMT4">
                  <p:embed/>
                </p:oleObj>
              </mc:Choice>
              <mc:Fallback>
                <p:oleObj name="Equation" r:id="rId13" imgW="1015920" imgH="17748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938" y="5876925"/>
                        <a:ext cx="2328862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8" name="Object 32"/>
          <p:cNvGraphicFramePr>
            <a:graphicFrameLocks noChangeAspect="1"/>
          </p:cNvGraphicFramePr>
          <p:nvPr/>
        </p:nvGraphicFramePr>
        <p:xfrm>
          <a:off x="2105025" y="4646613"/>
          <a:ext cx="145573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name="Equation" r:id="rId15" imgW="634680" imgH="431640" progId="Equation.DSMT4">
                  <p:embed/>
                </p:oleObj>
              </mc:Choice>
              <mc:Fallback>
                <p:oleObj name="Equation" r:id="rId15" imgW="634680" imgH="43164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4646613"/>
                        <a:ext cx="1455738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9" name="Object 33"/>
          <p:cNvGraphicFramePr>
            <a:graphicFrameLocks noChangeAspect="1"/>
          </p:cNvGraphicFramePr>
          <p:nvPr/>
        </p:nvGraphicFramePr>
        <p:xfrm>
          <a:off x="3910013" y="4868863"/>
          <a:ext cx="203993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" name="Equation" r:id="rId17" imgW="888840" imgH="177480" progId="Equation.DSMT4">
                  <p:embed/>
                </p:oleObj>
              </mc:Choice>
              <mc:Fallback>
                <p:oleObj name="Equation" r:id="rId17" imgW="888840" imgH="17748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013" y="4868863"/>
                        <a:ext cx="2039937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5508625" y="1125538"/>
            <a:ext cx="2390775" cy="1587500"/>
            <a:chOff x="2544" y="1104"/>
            <a:chExt cx="2544" cy="1680"/>
          </a:xfrm>
        </p:grpSpPr>
        <p:sp>
          <p:nvSpPr>
            <p:cNvPr id="2065" name="Oval 35"/>
            <p:cNvSpPr>
              <a:spLocks noChangeArrowheads="1"/>
            </p:cNvSpPr>
            <p:nvPr/>
          </p:nvSpPr>
          <p:spPr bwMode="auto">
            <a:xfrm>
              <a:off x="2832" y="1104"/>
              <a:ext cx="240" cy="528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6" name="Oval 36"/>
            <p:cNvSpPr>
              <a:spLocks noChangeArrowheads="1"/>
            </p:cNvSpPr>
            <p:nvPr/>
          </p:nvSpPr>
          <p:spPr bwMode="auto">
            <a:xfrm>
              <a:off x="2928" y="1296"/>
              <a:ext cx="576" cy="72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7" name="Oval 37"/>
            <p:cNvSpPr>
              <a:spLocks noChangeArrowheads="1"/>
            </p:cNvSpPr>
            <p:nvPr/>
          </p:nvSpPr>
          <p:spPr bwMode="auto">
            <a:xfrm>
              <a:off x="2544" y="1392"/>
              <a:ext cx="672" cy="139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8" name="Oval 38"/>
            <p:cNvSpPr>
              <a:spLocks noChangeArrowheads="1"/>
            </p:cNvSpPr>
            <p:nvPr/>
          </p:nvSpPr>
          <p:spPr bwMode="auto">
            <a:xfrm>
              <a:off x="4416" y="1200"/>
              <a:ext cx="672" cy="139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9" name="Line 39"/>
            <p:cNvSpPr>
              <a:spLocks noChangeShapeType="1"/>
            </p:cNvSpPr>
            <p:nvPr/>
          </p:nvSpPr>
          <p:spPr bwMode="auto">
            <a:xfrm flipV="1">
              <a:off x="2879" y="2591"/>
              <a:ext cx="192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70" name="Line 40"/>
            <p:cNvSpPr>
              <a:spLocks noChangeShapeType="1"/>
            </p:cNvSpPr>
            <p:nvPr/>
          </p:nvSpPr>
          <p:spPr bwMode="auto">
            <a:xfrm flipV="1">
              <a:off x="2880" y="1200"/>
              <a:ext cx="18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71" name="Line 41"/>
            <p:cNvSpPr>
              <a:spLocks noChangeShapeType="1"/>
            </p:cNvSpPr>
            <p:nvPr/>
          </p:nvSpPr>
          <p:spPr bwMode="auto">
            <a:xfrm>
              <a:off x="2544" y="1968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72" name="Line 42"/>
            <p:cNvSpPr>
              <a:spLocks noChangeShapeType="1"/>
            </p:cNvSpPr>
            <p:nvPr/>
          </p:nvSpPr>
          <p:spPr bwMode="auto">
            <a:xfrm flipV="1">
              <a:off x="3216" y="2112"/>
              <a:ext cx="182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73" name="Line 43"/>
            <p:cNvSpPr>
              <a:spLocks noChangeShapeType="1"/>
            </p:cNvSpPr>
            <p:nvPr/>
          </p:nvSpPr>
          <p:spPr bwMode="auto">
            <a:xfrm flipV="1">
              <a:off x="2544" y="1728"/>
              <a:ext cx="19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74" name="Line 44"/>
            <p:cNvSpPr>
              <a:spLocks noChangeShapeType="1"/>
            </p:cNvSpPr>
            <p:nvPr/>
          </p:nvSpPr>
          <p:spPr bwMode="auto">
            <a:xfrm>
              <a:off x="4416" y="1680"/>
              <a:ext cx="62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75" name="Line 45"/>
            <p:cNvSpPr>
              <a:spLocks noChangeShapeType="1"/>
            </p:cNvSpPr>
            <p:nvPr/>
          </p:nvSpPr>
          <p:spPr bwMode="auto">
            <a:xfrm>
              <a:off x="2544" y="1920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76" name="Line 46"/>
            <p:cNvSpPr>
              <a:spLocks noChangeShapeType="1"/>
            </p:cNvSpPr>
            <p:nvPr/>
          </p:nvSpPr>
          <p:spPr bwMode="auto">
            <a:xfrm flipV="1">
              <a:off x="3216" y="2064"/>
              <a:ext cx="182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77" name="Line 47"/>
            <p:cNvSpPr>
              <a:spLocks noChangeShapeType="1"/>
            </p:cNvSpPr>
            <p:nvPr/>
          </p:nvSpPr>
          <p:spPr bwMode="auto">
            <a:xfrm>
              <a:off x="3696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78" name="Line 48"/>
            <p:cNvSpPr>
              <a:spLocks noChangeShapeType="1"/>
            </p:cNvSpPr>
            <p:nvPr/>
          </p:nvSpPr>
          <p:spPr bwMode="auto">
            <a:xfrm flipV="1">
              <a:off x="3696" y="22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058" name="Object 49"/>
            <p:cNvGraphicFramePr>
              <a:graphicFrameLocks noChangeAspect="1"/>
            </p:cNvGraphicFramePr>
            <p:nvPr/>
          </p:nvGraphicFramePr>
          <p:xfrm>
            <a:off x="3744" y="2208"/>
            <a:ext cx="22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" name="Equation" r:id="rId19" imgW="139680" imgH="177480" progId="Equation.DSMT4">
                    <p:embed/>
                  </p:oleObj>
                </mc:Choice>
                <mc:Fallback>
                  <p:oleObj name="Equation" r:id="rId19" imgW="139680" imgH="17748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208"/>
                          <a:ext cx="22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064" name="Picture 50"/>
          <p:cNvPicPr>
            <a:picLocks noChangeAspect="1" noChangeArrowheads="1"/>
          </p:cNvPicPr>
          <p:nvPr/>
        </p:nvPicPr>
        <p:blipFill>
          <a:blip r:embed="rId21" cstate="print"/>
          <a:srcRect b="27678"/>
          <a:stretch>
            <a:fillRect/>
          </a:stretch>
        </p:blipFill>
        <p:spPr bwMode="auto">
          <a:xfrm>
            <a:off x="4067175" y="2924175"/>
            <a:ext cx="50768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1" grpId="0"/>
      <p:bldP spid="9243" grpId="0"/>
      <p:bldP spid="92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2"/>
          <p:cNvPicPr>
            <a:picLocks noChangeAspect="1" noChangeArrowheads="1"/>
          </p:cNvPicPr>
          <p:nvPr/>
        </p:nvPicPr>
        <p:blipFill>
          <a:blip r:embed="rId3" cstate="print"/>
          <a:srcRect b="10880"/>
          <a:stretch>
            <a:fillRect/>
          </a:stretch>
        </p:blipFill>
        <p:spPr bwMode="auto">
          <a:xfrm>
            <a:off x="1547813" y="260350"/>
            <a:ext cx="5616575" cy="403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2227" name="Object 1027"/>
          <p:cNvGraphicFramePr>
            <a:graphicFrameLocks noChangeAspect="1"/>
          </p:cNvGraphicFramePr>
          <p:nvPr/>
        </p:nvGraphicFramePr>
        <p:xfrm>
          <a:off x="2555875" y="4797425"/>
          <a:ext cx="3960813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4" imgW="1574640" imgH="419040" progId="Equation.DSMT4">
                  <p:embed/>
                </p:oleObj>
              </mc:Choice>
              <mc:Fallback>
                <p:oleObj name="Equation" r:id="rId4" imgW="1574640" imgH="419040" progId="Equation.DSMT4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797425"/>
                        <a:ext cx="3960813" cy="1055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" name="Rectangle 1028"/>
          <p:cNvSpPr>
            <a:spLocks noChangeArrowheads="1"/>
          </p:cNvSpPr>
          <p:nvPr/>
        </p:nvSpPr>
        <p:spPr bwMode="auto">
          <a:xfrm>
            <a:off x="1692275" y="6165850"/>
            <a:ext cx="551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/>
              <a:t>Pr</a:t>
            </a:r>
            <a:r>
              <a:rPr lang="zh-CN" altLang="en-US" b="1"/>
              <a:t>＝</a:t>
            </a:r>
            <a:r>
              <a:rPr lang="en-US" altLang="zh-CN" b="1"/>
              <a:t>3</a:t>
            </a:r>
            <a:r>
              <a:rPr lang="zh-CN" altLang="en-US" b="1"/>
              <a:t>～</a:t>
            </a:r>
            <a:r>
              <a:rPr lang="en-US" altLang="zh-CN" b="1"/>
              <a:t>192</a:t>
            </a:r>
            <a:r>
              <a:rPr lang="zh-CN" altLang="en-US" b="1"/>
              <a:t>、 </a:t>
            </a:r>
            <a:r>
              <a:rPr lang="en-US" altLang="zh-CN" b="1"/>
              <a:t>Re</a:t>
            </a:r>
            <a:r>
              <a:rPr lang="zh-CN" altLang="en-US" b="1"/>
              <a:t>＝</a:t>
            </a:r>
            <a:r>
              <a:rPr lang="en-US" altLang="zh-CN" b="1"/>
              <a:t>13 </a:t>
            </a:r>
            <a:r>
              <a:rPr lang="zh-CN" altLang="en-US" b="1"/>
              <a:t>～</a:t>
            </a:r>
            <a:r>
              <a:rPr lang="en-US" altLang="zh-CN" b="1"/>
              <a:t>2460 </a:t>
            </a:r>
            <a:r>
              <a:rPr lang="zh-CN" altLang="en-US" b="1"/>
              <a:t>、</a:t>
            </a:r>
            <a:r>
              <a:rPr lang="en-US" altLang="zh-CN" b="1"/>
              <a:t>Re/y&gt;10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6"/>
          <p:cNvGrpSpPr>
            <a:grpSpLocks/>
          </p:cNvGrpSpPr>
          <p:nvPr/>
        </p:nvGrpSpPr>
        <p:grpSpPr bwMode="auto">
          <a:xfrm>
            <a:off x="1524000" y="1219200"/>
            <a:ext cx="5791200" cy="2781300"/>
            <a:chOff x="192" y="1152"/>
            <a:chExt cx="3648" cy="1752"/>
          </a:xfrm>
        </p:grpSpPr>
        <p:sp>
          <p:nvSpPr>
            <p:cNvPr id="17425" name="Text Box 3"/>
            <p:cNvSpPr txBox="1">
              <a:spLocks noChangeArrowheads="1"/>
            </p:cNvSpPr>
            <p:nvPr/>
          </p:nvSpPr>
          <p:spPr bwMode="auto">
            <a:xfrm>
              <a:off x="192" y="2112"/>
              <a:ext cx="8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/>
                <a:t>扭曲带</a:t>
              </a:r>
            </a:p>
          </p:txBody>
        </p:sp>
        <p:sp>
          <p:nvSpPr>
            <p:cNvPr id="17426" name="Text Box 4"/>
            <p:cNvSpPr txBox="1">
              <a:spLocks noChangeArrowheads="1"/>
            </p:cNvSpPr>
            <p:nvPr/>
          </p:nvSpPr>
          <p:spPr bwMode="auto">
            <a:xfrm>
              <a:off x="1584" y="1584"/>
              <a:ext cx="67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/>
                <a:t>旋流</a:t>
              </a:r>
            </a:p>
          </p:txBody>
        </p:sp>
        <p:sp>
          <p:nvSpPr>
            <p:cNvPr id="17427" name="Text Box 5"/>
            <p:cNvSpPr txBox="1">
              <a:spLocks noChangeArrowheads="1"/>
            </p:cNvSpPr>
            <p:nvPr/>
          </p:nvSpPr>
          <p:spPr bwMode="auto">
            <a:xfrm>
              <a:off x="1536" y="2592"/>
              <a:ext cx="115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/>
                <a:t>摩擦面积</a:t>
              </a:r>
            </a:p>
          </p:txBody>
        </p:sp>
        <p:sp>
          <p:nvSpPr>
            <p:cNvPr id="17428" name="Text Box 6"/>
            <p:cNvSpPr txBox="1">
              <a:spLocks noChangeArrowheads="1"/>
            </p:cNvSpPr>
            <p:nvPr/>
          </p:nvSpPr>
          <p:spPr bwMode="auto">
            <a:xfrm>
              <a:off x="2832" y="1152"/>
              <a:ext cx="10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/>
                <a:t>强化换热</a:t>
              </a:r>
            </a:p>
          </p:txBody>
        </p:sp>
        <p:sp>
          <p:nvSpPr>
            <p:cNvPr id="17429" name="Text Box 7"/>
            <p:cNvSpPr txBox="1">
              <a:spLocks noChangeArrowheads="1"/>
            </p:cNvSpPr>
            <p:nvPr/>
          </p:nvSpPr>
          <p:spPr bwMode="auto">
            <a:xfrm>
              <a:off x="2832" y="1776"/>
              <a:ext cx="9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/>
                <a:t>增加阻力</a:t>
              </a:r>
            </a:p>
          </p:txBody>
        </p:sp>
        <p:sp>
          <p:nvSpPr>
            <p:cNvPr id="17430" name="Text Box 8"/>
            <p:cNvSpPr txBox="1">
              <a:spLocks noChangeArrowheads="1"/>
            </p:cNvSpPr>
            <p:nvPr/>
          </p:nvSpPr>
          <p:spPr bwMode="auto">
            <a:xfrm>
              <a:off x="2880" y="2592"/>
              <a:ext cx="9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/>
                <a:t>增加阻力</a:t>
              </a:r>
            </a:p>
          </p:txBody>
        </p:sp>
        <p:sp>
          <p:nvSpPr>
            <p:cNvPr id="17431" name="AutoShape 9"/>
            <p:cNvSpPr>
              <a:spLocks noChangeArrowheads="1"/>
            </p:cNvSpPr>
            <p:nvPr/>
          </p:nvSpPr>
          <p:spPr bwMode="auto">
            <a:xfrm rot="1800000">
              <a:off x="1056" y="2400"/>
              <a:ext cx="480" cy="312"/>
            </a:xfrm>
            <a:prstGeom prst="rightArrow">
              <a:avLst>
                <a:gd name="adj1" fmla="val 37500"/>
                <a:gd name="adj2" fmla="val 46154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32" name="AutoShape 10"/>
            <p:cNvSpPr>
              <a:spLocks noChangeArrowheads="1"/>
            </p:cNvSpPr>
            <p:nvPr/>
          </p:nvSpPr>
          <p:spPr bwMode="auto">
            <a:xfrm rot="1800000">
              <a:off x="2208" y="1728"/>
              <a:ext cx="480" cy="312"/>
            </a:xfrm>
            <a:prstGeom prst="rightArrow">
              <a:avLst>
                <a:gd name="adj1" fmla="val 37500"/>
                <a:gd name="adj2" fmla="val 46154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33" name="AutoShape 11"/>
            <p:cNvSpPr>
              <a:spLocks noChangeArrowheads="1"/>
            </p:cNvSpPr>
            <p:nvPr/>
          </p:nvSpPr>
          <p:spPr bwMode="auto">
            <a:xfrm rot="-1800000">
              <a:off x="1008" y="1776"/>
              <a:ext cx="480" cy="312"/>
            </a:xfrm>
            <a:prstGeom prst="rightArrow">
              <a:avLst>
                <a:gd name="adj1" fmla="val 37500"/>
                <a:gd name="adj2" fmla="val 46154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34" name="AutoShape 12"/>
            <p:cNvSpPr>
              <a:spLocks noChangeArrowheads="1"/>
            </p:cNvSpPr>
            <p:nvPr/>
          </p:nvSpPr>
          <p:spPr bwMode="auto">
            <a:xfrm rot="-1800000">
              <a:off x="2208" y="1248"/>
              <a:ext cx="480" cy="312"/>
            </a:xfrm>
            <a:prstGeom prst="rightArrow">
              <a:avLst>
                <a:gd name="adj1" fmla="val 37500"/>
                <a:gd name="adj2" fmla="val 4615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35" name="AutoShape 13"/>
            <p:cNvSpPr>
              <a:spLocks noChangeArrowheads="1"/>
            </p:cNvSpPr>
            <p:nvPr/>
          </p:nvSpPr>
          <p:spPr bwMode="auto">
            <a:xfrm>
              <a:off x="2400" y="2592"/>
              <a:ext cx="480" cy="312"/>
            </a:xfrm>
            <a:prstGeom prst="rightArrow">
              <a:avLst>
                <a:gd name="adj1" fmla="val 37500"/>
                <a:gd name="adj2" fmla="val 46154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411" name="Group 25"/>
          <p:cNvGrpSpPr>
            <a:grpSpLocks/>
          </p:cNvGrpSpPr>
          <p:nvPr/>
        </p:nvGrpSpPr>
        <p:grpSpPr bwMode="auto">
          <a:xfrm>
            <a:off x="971550" y="4221163"/>
            <a:ext cx="6781800" cy="1143000"/>
            <a:chOff x="912" y="3264"/>
            <a:chExt cx="4272" cy="720"/>
          </a:xfrm>
        </p:grpSpPr>
        <p:grpSp>
          <p:nvGrpSpPr>
            <p:cNvPr id="17415" name="Group 20"/>
            <p:cNvGrpSpPr>
              <a:grpSpLocks/>
            </p:cNvGrpSpPr>
            <p:nvPr/>
          </p:nvGrpSpPr>
          <p:grpSpPr bwMode="auto">
            <a:xfrm>
              <a:off x="1728" y="3264"/>
              <a:ext cx="3408" cy="384"/>
              <a:chOff x="240" y="3408"/>
              <a:chExt cx="3408" cy="384"/>
            </a:xfrm>
          </p:grpSpPr>
          <p:sp>
            <p:nvSpPr>
              <p:cNvPr id="17420" name="Rectangle 15"/>
              <p:cNvSpPr>
                <a:spLocks noChangeArrowheads="1"/>
              </p:cNvSpPr>
              <p:nvPr/>
            </p:nvSpPr>
            <p:spPr bwMode="auto">
              <a:xfrm>
                <a:off x="240" y="3408"/>
                <a:ext cx="3408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21" name="AutoShape 16"/>
              <p:cNvSpPr>
                <a:spLocks noChangeArrowheads="1"/>
              </p:cNvSpPr>
              <p:nvPr/>
            </p:nvSpPr>
            <p:spPr bwMode="auto">
              <a:xfrm>
                <a:off x="240" y="3408"/>
                <a:ext cx="480" cy="384"/>
              </a:xfrm>
              <a:prstGeom prst="flowChartCollat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22" name="AutoShape 17"/>
              <p:cNvSpPr>
                <a:spLocks noChangeArrowheads="1"/>
              </p:cNvSpPr>
              <p:nvPr/>
            </p:nvSpPr>
            <p:spPr bwMode="auto">
              <a:xfrm>
                <a:off x="720" y="3408"/>
                <a:ext cx="480" cy="384"/>
              </a:xfrm>
              <a:prstGeom prst="flowChartCollat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23" name="AutoShape 18"/>
              <p:cNvSpPr>
                <a:spLocks noChangeArrowheads="1"/>
              </p:cNvSpPr>
              <p:nvPr/>
            </p:nvSpPr>
            <p:spPr bwMode="auto">
              <a:xfrm>
                <a:off x="1200" y="3408"/>
                <a:ext cx="480" cy="384"/>
              </a:xfrm>
              <a:prstGeom prst="flowChartCollat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24" name="Line 19"/>
              <p:cNvSpPr>
                <a:spLocks noChangeShapeType="1"/>
              </p:cNvSpPr>
              <p:nvPr/>
            </p:nvSpPr>
            <p:spPr bwMode="auto">
              <a:xfrm>
                <a:off x="1680" y="340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7416" name="AutoShape 21"/>
            <p:cNvSpPr>
              <a:spLocks noChangeArrowheads="1"/>
            </p:cNvSpPr>
            <p:nvPr/>
          </p:nvSpPr>
          <p:spPr bwMode="auto">
            <a:xfrm>
              <a:off x="912" y="3408"/>
              <a:ext cx="720" cy="144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17" name="AutoShape 22"/>
            <p:cNvSpPr>
              <a:spLocks noChangeArrowheads="1"/>
            </p:cNvSpPr>
            <p:nvPr/>
          </p:nvSpPr>
          <p:spPr bwMode="auto">
            <a:xfrm>
              <a:off x="3264" y="3408"/>
              <a:ext cx="720" cy="144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18" name="Text Box 23"/>
            <p:cNvSpPr txBox="1">
              <a:spLocks noChangeArrowheads="1"/>
            </p:cNvSpPr>
            <p:nvPr/>
          </p:nvSpPr>
          <p:spPr bwMode="auto">
            <a:xfrm>
              <a:off x="4032" y="3312"/>
              <a:ext cx="115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/>
                <a:t>自由旋流</a:t>
              </a:r>
            </a:p>
          </p:txBody>
        </p:sp>
        <p:sp>
          <p:nvSpPr>
            <p:cNvPr id="17419" name="Text Box 24"/>
            <p:cNvSpPr txBox="1">
              <a:spLocks noChangeArrowheads="1"/>
            </p:cNvSpPr>
            <p:nvPr/>
          </p:nvSpPr>
          <p:spPr bwMode="auto">
            <a:xfrm>
              <a:off x="1920" y="3696"/>
              <a:ext cx="12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/>
                <a:t>强迫旋流</a:t>
              </a:r>
            </a:p>
          </p:txBody>
        </p:sp>
      </p:grpSp>
      <p:sp>
        <p:nvSpPr>
          <p:cNvPr id="12315" name="Text Box 27"/>
          <p:cNvSpPr txBox="1">
            <a:spLocks noChangeArrowheads="1"/>
          </p:cNvSpPr>
          <p:nvPr/>
        </p:nvSpPr>
        <p:spPr bwMode="auto">
          <a:xfrm>
            <a:off x="1042988" y="5516563"/>
            <a:ext cx="763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/>
              <a:t>特点：自由旋流</a:t>
            </a:r>
            <a:r>
              <a:rPr lang="zh-CN" altLang="en-US" b="1">
                <a:solidFill>
                  <a:srgbClr val="FF3300"/>
                </a:solidFill>
              </a:rPr>
              <a:t>强化换热变化较小，流动阻力明显下降</a:t>
            </a:r>
          </a:p>
        </p:txBody>
      </p:sp>
      <p:sp>
        <p:nvSpPr>
          <p:cNvPr id="17413" name="Text Box 28"/>
          <p:cNvSpPr txBox="1">
            <a:spLocks noChangeArrowheads="1"/>
          </p:cNvSpPr>
          <p:nvPr/>
        </p:nvSpPr>
        <p:spPr bwMode="auto">
          <a:xfrm>
            <a:off x="684213" y="333375"/>
            <a:ext cx="82089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en-US" altLang="zh-CN" sz="2800" b="1"/>
              <a:t> </a:t>
            </a:r>
            <a:r>
              <a:rPr lang="zh-CN" altLang="en-US" sz="2800" b="1"/>
              <a:t>通道中部分设置扭曲带管内的流动和传热</a:t>
            </a:r>
          </a:p>
        </p:txBody>
      </p:sp>
      <p:sp>
        <p:nvSpPr>
          <p:cNvPr id="12317" name="Text Box 29"/>
          <p:cNvSpPr txBox="1">
            <a:spLocks noChangeArrowheads="1"/>
          </p:cNvSpPr>
          <p:nvPr/>
        </p:nvSpPr>
        <p:spPr bwMode="auto">
          <a:xfrm>
            <a:off x="1042988" y="6092825"/>
            <a:ext cx="727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/>
              <a:t>不足：</a:t>
            </a:r>
            <a:r>
              <a:rPr lang="zh-CN" altLang="en-US" b="1">
                <a:solidFill>
                  <a:srgbClr val="FF3300"/>
                </a:solidFill>
              </a:rPr>
              <a:t>安装有困难        应用：乙烯炉管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5" grpId="0"/>
      <p:bldP spid="123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-9525"/>
            <a:ext cx="7467600" cy="686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395288" y="1268413"/>
            <a:ext cx="84978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zh-CN" altLang="en-US" sz="2800" b="1"/>
              <a:t>结构：扭曲带</a:t>
            </a:r>
            <a:r>
              <a:rPr lang="en-US" altLang="zh-CN" sz="2800" b="1"/>
              <a:t>(</a:t>
            </a:r>
            <a:r>
              <a:rPr lang="zh-CN" altLang="en-US" sz="2800" b="1"/>
              <a:t>左旋</a:t>
            </a:r>
            <a:r>
              <a:rPr lang="en-US" altLang="zh-CN" sz="2800" b="1"/>
              <a:t>)</a:t>
            </a:r>
            <a:r>
              <a:rPr lang="zh-CN" altLang="en-US" sz="2800" b="1"/>
              <a:t>＋扭曲带</a:t>
            </a:r>
            <a:r>
              <a:rPr lang="en-US" altLang="zh-CN" sz="2800" b="1"/>
              <a:t>(</a:t>
            </a:r>
            <a:r>
              <a:rPr lang="zh-CN" altLang="en-US" sz="2800" b="1"/>
              <a:t>右旋</a:t>
            </a:r>
            <a:r>
              <a:rPr lang="en-US" altLang="zh-CN" sz="2800" b="1"/>
              <a:t>)+</a:t>
            </a:r>
            <a:r>
              <a:rPr lang="zh-CN" altLang="en-US" sz="2800" b="1"/>
              <a:t>错位</a:t>
            </a:r>
            <a:r>
              <a:rPr lang="en-US" altLang="zh-CN" sz="2800" b="1"/>
              <a:t>90</a:t>
            </a:r>
            <a:r>
              <a:rPr lang="zh-CN" altLang="en-US" sz="2800" b="1"/>
              <a:t>度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827088" y="5445125"/>
            <a:ext cx="571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/>
              <a:t>流体：周期性分割、向心运动、离心运动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827088" y="6092825"/>
            <a:ext cx="7632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3300"/>
                </a:solidFill>
              </a:rPr>
              <a:t>混合充分，强化效果好。主要应用：流体混合</a:t>
            </a:r>
          </a:p>
        </p:txBody>
      </p:sp>
      <p:pic>
        <p:nvPicPr>
          <p:cNvPr id="19461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2349500"/>
            <a:ext cx="769620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468313" y="404813"/>
            <a:ext cx="5867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b="1"/>
              <a:t>(2) Kenics</a:t>
            </a:r>
            <a:r>
              <a:rPr lang="zh-CN" altLang="en-US" sz="3200" b="1"/>
              <a:t>静态混合器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153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762000" y="1066800"/>
            <a:ext cx="5610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zh-CN" altLang="en-US" sz="2800" b="1"/>
              <a:t>相同功率下的换热强化比</a:t>
            </a: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1412875" y="1901825"/>
          <a:ext cx="430053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3" imgW="1688760" imgH="228600" progId="Equation.DSMT4">
                  <p:embed/>
                </p:oleObj>
              </mc:Choice>
              <mc:Fallback>
                <p:oleObj name="Equation" r:id="rId3" imgW="168876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1901825"/>
                        <a:ext cx="4300538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403350" y="2636838"/>
            <a:ext cx="6477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/>
              <a:t>y=2,Re</a:t>
            </a:r>
            <a:r>
              <a:rPr lang="zh-CN" altLang="en-US" sz="2800"/>
              <a:t>＝</a:t>
            </a:r>
            <a:r>
              <a:rPr lang="en-US" altLang="zh-CN" sz="2800"/>
              <a:t>200~2000</a:t>
            </a:r>
            <a:r>
              <a:rPr lang="zh-CN" altLang="en-US" sz="2800"/>
              <a:t>时，</a:t>
            </a:r>
            <a:r>
              <a:rPr lang="en-US" altLang="zh-CN" sz="2800"/>
              <a:t>PEC</a:t>
            </a:r>
            <a:r>
              <a:rPr lang="zh-CN" altLang="en-US" sz="2800"/>
              <a:t>＝</a:t>
            </a:r>
            <a:r>
              <a:rPr lang="en-US" altLang="zh-CN" sz="2800"/>
              <a:t>1.8~2.8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755650" y="3933825"/>
            <a:ext cx="3673475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3300"/>
                </a:solidFill>
              </a:rPr>
              <a:t>应用：</a:t>
            </a:r>
          </a:p>
          <a:p>
            <a:r>
              <a:rPr lang="zh-CN" altLang="en-US" sz="2800" b="1">
                <a:solidFill>
                  <a:srgbClr val="FF3300"/>
                </a:solidFill>
              </a:rPr>
              <a:t>　　低速／低</a:t>
            </a:r>
            <a:r>
              <a:rPr lang="en-US" altLang="zh-CN" sz="2800" b="1">
                <a:solidFill>
                  <a:srgbClr val="FF3300"/>
                </a:solidFill>
              </a:rPr>
              <a:t>Re____</a:t>
            </a:r>
            <a:r>
              <a:rPr lang="zh-CN" altLang="en-US" sz="2800" b="1">
                <a:solidFill>
                  <a:srgbClr val="FF3300"/>
                </a:solidFill>
              </a:rPr>
              <a:t>石油化工、食品、制药。</a:t>
            </a:r>
          </a:p>
        </p:txBody>
      </p:sp>
      <p:pic>
        <p:nvPicPr>
          <p:cNvPr id="4102" name="Picture 6" descr="z-SK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00563" y="3819525"/>
            <a:ext cx="4643437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5" descr="z-S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538" y="0"/>
            <a:ext cx="2595562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Text Box 12"/>
          <p:cNvSpPr txBox="1">
            <a:spLocks noChangeArrowheads="1"/>
          </p:cNvSpPr>
          <p:nvPr/>
        </p:nvSpPr>
        <p:spPr bwMode="auto">
          <a:xfrm>
            <a:off x="0" y="6338888"/>
            <a:ext cx="3581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/>
              <a:t>其它静态混合器</a:t>
            </a:r>
          </a:p>
        </p:txBody>
      </p:sp>
      <p:pic>
        <p:nvPicPr>
          <p:cNvPr id="20484" name="Picture 13" descr="z-S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7538" y="1268413"/>
            <a:ext cx="2595562" cy="110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Picture 14" descr="z-SV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99288" y="0"/>
            <a:ext cx="2144712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6" name="Picture 15" descr="z-SX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00338" y="0"/>
            <a:ext cx="1709737" cy="171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7" name="Picture 1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0"/>
            <a:ext cx="255270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8" name="Picture 1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1700213"/>
            <a:ext cx="24384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9" name="Picture 1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3644900"/>
            <a:ext cx="2419350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0" name="Picture 20" descr="twister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1868488"/>
            <a:ext cx="2627312" cy="2487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1" name="Picture 21" descr="twister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851275" y="4481513"/>
            <a:ext cx="2447925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2" name="Picture 22" descr="twister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284913" y="4389438"/>
            <a:ext cx="2859087" cy="246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3" name="Picture 23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555875" y="1628775"/>
            <a:ext cx="1952625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jtP7-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219200"/>
            <a:ext cx="4419600" cy="438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7" name="Picture 3" descr="jtP7-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371600"/>
            <a:ext cx="413702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524000" y="6019800"/>
            <a:ext cx="533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常用的夹套式和盘管式两种换热装置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685800" y="53340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/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457200" y="685800"/>
            <a:ext cx="4648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en-US" altLang="zh-CN" sz="2800" b="1"/>
              <a:t>  </a:t>
            </a:r>
            <a:r>
              <a:rPr lang="zh-CN" altLang="en-US" sz="2800" b="1"/>
              <a:t>用于传热强化实例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66800"/>
            <a:ext cx="5732463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5638800" y="2019300"/>
            <a:ext cx="3276600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        </a:t>
            </a:r>
            <a:r>
              <a:rPr lang="zh-CN" altLang="en-US" sz="2800"/>
              <a:t>改用静态混合器传热的操作过程。省略了机械搅拌动力，设备紧凑，实现了连续操作，并能避免物料因传热不匀而引起的高温分解问题。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52513"/>
            <a:ext cx="4589463" cy="3509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Text Box 13"/>
          <p:cNvSpPr txBox="1">
            <a:spLocks noChangeArrowheads="1"/>
          </p:cNvSpPr>
          <p:nvPr/>
        </p:nvSpPr>
        <p:spPr bwMode="auto">
          <a:xfrm>
            <a:off x="127000" y="5589588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用静态混合器组成的高效换热器 </a:t>
            </a:r>
          </a:p>
        </p:txBody>
      </p:sp>
      <p:pic>
        <p:nvPicPr>
          <p:cNvPr id="23556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065213"/>
            <a:ext cx="4572000" cy="351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Text Box 15"/>
          <p:cNvSpPr txBox="1">
            <a:spLocks noChangeArrowheads="1"/>
          </p:cNvSpPr>
          <p:nvPr/>
        </p:nvSpPr>
        <p:spPr bwMode="auto">
          <a:xfrm>
            <a:off x="5148263" y="5516563"/>
            <a:ext cx="3559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带夹套静态混态器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0"/>
            <a:ext cx="6477000" cy="451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6019800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静态混合器应用于螺杆挤出机上实例 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6781800" y="981075"/>
            <a:ext cx="2362200" cy="520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        </a:t>
            </a:r>
            <a:r>
              <a:rPr lang="zh-CN" altLang="en-US"/>
              <a:t>在挤出机的螺杆与口模之间装有静态混合器，使熔体的的温度分布均化，以及物料混合均匀，从而使成型件的机械强度及外观、质量得到了进一步的提高。在吹塑生产中使用，可使薄膜厚度均匀，提高成品率。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 Box 2"/>
          <p:cNvSpPr txBox="1">
            <a:spLocks noChangeArrowheads="1"/>
          </p:cNvSpPr>
          <p:nvPr/>
        </p:nvSpPr>
        <p:spPr bwMode="auto">
          <a:xfrm>
            <a:off x="611188" y="476250"/>
            <a:ext cx="6019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b="1"/>
              <a:t>(3) </a:t>
            </a:r>
            <a:r>
              <a:rPr lang="zh-CN" altLang="en-US" sz="3200" b="1"/>
              <a:t>扭曲椭圆管</a:t>
            </a:r>
          </a:p>
        </p:txBody>
      </p:sp>
      <p:pic>
        <p:nvPicPr>
          <p:cNvPr id="5125" name="Picture 4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5375" y="1052513"/>
            <a:ext cx="2139950" cy="580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5" descr="图片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4375" y="1025525"/>
            <a:ext cx="3333750" cy="583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122" name="Object 6"/>
          <p:cNvGraphicFramePr>
            <a:graphicFrameLocks noChangeAspect="1"/>
          </p:cNvGraphicFramePr>
          <p:nvPr/>
        </p:nvGraphicFramePr>
        <p:xfrm>
          <a:off x="568325" y="2565400"/>
          <a:ext cx="19526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5" imgW="850680" imgH="431640" progId="Equation.DSMT4">
                  <p:embed/>
                </p:oleObj>
              </mc:Choice>
              <mc:Fallback>
                <p:oleObj name="Equation" r:id="rId5" imgW="850680" imgH="431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" y="2565400"/>
                        <a:ext cx="1952625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7"/>
          <p:cNvGraphicFramePr>
            <a:graphicFrameLocks noChangeAspect="1"/>
          </p:cNvGraphicFramePr>
          <p:nvPr/>
        </p:nvGraphicFramePr>
        <p:xfrm>
          <a:off x="611188" y="3644900"/>
          <a:ext cx="1689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7" imgW="736560" imgH="431640" progId="Equation.DSMT4">
                  <p:embed/>
                </p:oleObj>
              </mc:Choice>
              <mc:Fallback>
                <p:oleObj name="Equation" r:id="rId7" imgW="73656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644900"/>
                        <a:ext cx="16891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539750" y="1484313"/>
            <a:ext cx="27368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zh-CN" altLang="en-US" sz="2800" b="1"/>
              <a:t>性能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6" descr="产品1"/>
          <p:cNvPicPr>
            <a:picLocks noChangeAspect="1" noChangeArrowheads="1"/>
          </p:cNvPicPr>
          <p:nvPr/>
        </p:nvPicPr>
        <p:blipFill>
          <a:blip r:embed="rId2" cstate="print"/>
          <a:srcRect t="-243" b="13103"/>
          <a:stretch>
            <a:fillRect/>
          </a:stretch>
        </p:blipFill>
        <p:spPr bwMode="auto">
          <a:xfrm>
            <a:off x="1187450" y="1454150"/>
            <a:ext cx="6913563" cy="441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1447800" y="6165850"/>
            <a:ext cx="617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 </a:t>
            </a:r>
            <a:r>
              <a:rPr lang="zh-CN" altLang="en-US"/>
              <a:t>炼油厂蜡脱油螺旋扭曲椭圆管换热器管束</a:t>
            </a:r>
          </a:p>
        </p:txBody>
      </p:sp>
      <p:sp>
        <p:nvSpPr>
          <p:cNvPr id="25604" name="Text Box 5"/>
          <p:cNvSpPr txBox="1">
            <a:spLocks noChangeArrowheads="1"/>
          </p:cNvSpPr>
          <p:nvPr/>
        </p:nvSpPr>
        <p:spPr bwMode="auto">
          <a:xfrm>
            <a:off x="1908175" y="1844675"/>
            <a:ext cx="480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            </a:t>
            </a:r>
            <a:r>
              <a:rPr lang="zh-CN" altLang="en-US"/>
              <a:t>换热面积</a:t>
            </a:r>
            <a:r>
              <a:rPr lang="en-US" altLang="zh-CN"/>
              <a:t>125m</a:t>
            </a:r>
            <a:r>
              <a:rPr lang="en-US" altLang="zh-CN" baseline="30000"/>
              <a:t>2</a:t>
            </a:r>
          </a:p>
        </p:txBody>
      </p:sp>
      <p:sp>
        <p:nvSpPr>
          <p:cNvPr id="25605" name="Text Box 7"/>
          <p:cNvSpPr txBox="1">
            <a:spLocks noChangeArrowheads="1"/>
          </p:cNvSpPr>
          <p:nvPr/>
        </p:nvSpPr>
        <p:spPr bwMode="auto">
          <a:xfrm>
            <a:off x="755650" y="620713"/>
            <a:ext cx="63373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zh-CN" altLang="en-US" sz="2800" b="1"/>
              <a:t>扭曲椭圆管换热器的应用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图片3"/>
          <p:cNvPicPr>
            <a:picLocks noChangeAspect="1" noChangeArrowheads="1"/>
          </p:cNvPicPr>
          <p:nvPr/>
        </p:nvPicPr>
        <p:blipFill>
          <a:blip r:embed="rId2" cstate="print"/>
          <a:srcRect l="-943" t="8752" b="16098"/>
          <a:stretch>
            <a:fillRect/>
          </a:stretch>
        </p:blipFill>
        <p:spPr bwMode="auto">
          <a:xfrm>
            <a:off x="4859338" y="404813"/>
            <a:ext cx="4284662" cy="289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7" name="Picture 3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9338" y="4005263"/>
            <a:ext cx="4284662" cy="279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4" descr="现场安装3"/>
          <p:cNvPicPr>
            <a:picLocks noChangeAspect="1" noChangeArrowheads="1"/>
          </p:cNvPicPr>
          <p:nvPr/>
        </p:nvPicPr>
        <p:blipFill>
          <a:blip r:embed="rId4" cstate="print"/>
          <a:srcRect l="2757" t="1967" r="2530"/>
          <a:stretch>
            <a:fillRect/>
          </a:stretch>
        </p:blipFill>
        <p:spPr bwMode="auto">
          <a:xfrm>
            <a:off x="0" y="3933825"/>
            <a:ext cx="4464050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Picture 5" descr="图片6"/>
          <p:cNvPicPr>
            <a:picLocks noGrp="1" noChangeAspect="1" noChangeArrowheads="1"/>
          </p:cNvPicPr>
          <p:nvPr>
            <p:ph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0" y="333375"/>
            <a:ext cx="4392613" cy="29384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042988" y="1219200"/>
            <a:ext cx="449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管内流动：与内插扭曲带类似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042988" y="1773238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管外流动：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476375" y="2349500"/>
            <a:ext cx="6400800" cy="137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 </a:t>
            </a:r>
            <a:r>
              <a:rPr lang="zh-CN" altLang="en-US"/>
              <a:t>纵掠：螺旋通道、受离心力作用，流体速度大小和方向改变，强化了径向混合，</a:t>
            </a:r>
          </a:p>
          <a:p>
            <a:r>
              <a:rPr lang="zh-CN" altLang="en-US"/>
              <a:t>脱离管壁的尾迹流，增加流体的湍流度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524000" y="3860800"/>
            <a:ext cx="6705600" cy="173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横掠：复杂的不规则通道，管子周向的局部换热系数比一般圆管均匀，平均换热系数有所提高（</a:t>
            </a:r>
            <a:r>
              <a:rPr lang="en-US" altLang="zh-CN"/>
              <a:t>10</a:t>
            </a:r>
            <a:r>
              <a:rPr lang="zh-CN" altLang="en-US"/>
              <a:t>～</a:t>
            </a:r>
            <a:r>
              <a:rPr lang="en-US" altLang="zh-CN"/>
              <a:t>30</a:t>
            </a:r>
            <a:r>
              <a:rPr lang="zh-CN" altLang="en-US"/>
              <a:t>％）</a:t>
            </a:r>
          </a:p>
          <a:p>
            <a:r>
              <a:rPr lang="zh-CN" altLang="en-US"/>
              <a:t>管子的相互接触，起支撑作用，减轻振动</a:t>
            </a:r>
          </a:p>
        </p:txBody>
      </p:sp>
      <p:sp>
        <p:nvSpPr>
          <p:cNvPr id="27654" name="Text Box 7"/>
          <p:cNvSpPr txBox="1">
            <a:spLocks noChangeArrowheads="1"/>
          </p:cNvSpPr>
          <p:nvPr/>
        </p:nvSpPr>
        <p:spPr bwMode="auto">
          <a:xfrm>
            <a:off x="755650" y="549275"/>
            <a:ext cx="2667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zh-CN" altLang="en-US" sz="2800" b="1"/>
              <a:t>特点：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1116013" y="5949950"/>
            <a:ext cx="579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不足：换热／流量／结构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  <p:bldP spid="21508" grpId="0" autoUpdateAnimBg="0"/>
      <p:bldP spid="21509" grpId="0" autoUpdateAnimBg="0"/>
      <p:bldP spid="215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ChangeArrowheads="1"/>
          </p:cNvSpPr>
          <p:nvPr/>
        </p:nvSpPr>
        <p:spPr bwMode="auto">
          <a:xfrm>
            <a:off x="5899150" y="3716338"/>
            <a:ext cx="32448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0" lang="zh-CN" altLang="en-US" sz="2800" b="1">
                <a:latin typeface="Arial" charset="0"/>
              </a:rPr>
              <a:t>中心被堵内肋片管</a:t>
            </a:r>
          </a:p>
        </p:txBody>
      </p:sp>
      <p:pic>
        <p:nvPicPr>
          <p:cNvPr id="28675" name="Picture 5"/>
          <p:cNvPicPr>
            <a:picLocks noChangeAspect="1" noChangeArrowheads="1"/>
          </p:cNvPicPr>
          <p:nvPr/>
        </p:nvPicPr>
        <p:blipFill>
          <a:blip r:embed="rId2" cstate="print"/>
          <a:srcRect l="34657" t="73573" r="53149" b="10680"/>
          <a:stretch>
            <a:fillRect/>
          </a:stretch>
        </p:blipFill>
        <p:spPr bwMode="auto">
          <a:xfrm>
            <a:off x="5867400" y="692150"/>
            <a:ext cx="327660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Text Box 6"/>
          <p:cNvSpPr txBox="1">
            <a:spLocks noChangeArrowheads="1"/>
          </p:cNvSpPr>
          <p:nvPr/>
        </p:nvSpPr>
        <p:spPr bwMode="auto">
          <a:xfrm>
            <a:off x="250825" y="1341438"/>
            <a:ext cx="5329238" cy="457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/>
              <a:t>　　当来流速度一定时，由于内翅的存在，通道的当量直径减小，内翅管容易出现层流流动。由于层流时，对流换热</a:t>
            </a:r>
            <a:r>
              <a:rPr lang="en-US" altLang="zh-CN" sz="2800" b="1"/>
              <a:t>Nu</a:t>
            </a:r>
            <a:r>
              <a:rPr lang="zh-CN" altLang="en-US" sz="2800" b="1"/>
              <a:t>数与</a:t>
            </a:r>
            <a:r>
              <a:rPr lang="en-US" altLang="zh-CN" sz="2800" b="1"/>
              <a:t>Re</a:t>
            </a:r>
            <a:r>
              <a:rPr lang="zh-CN" altLang="en-US" sz="2800" b="1"/>
              <a:t>数无关，所以，翅片越高，面积越大，换热就越强。</a:t>
            </a:r>
          </a:p>
          <a:p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效果：与光管相比，同功耗情况下换热增强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1.5-1.8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倍。 </a:t>
            </a:r>
            <a:r>
              <a:rPr lang="zh-CN" altLang="en-US" sz="2800"/>
              <a:t>换热甚至可增强</a:t>
            </a:r>
            <a:r>
              <a:rPr lang="en-US" altLang="zh-CN" sz="2800"/>
              <a:t>10-30</a:t>
            </a:r>
            <a:r>
              <a:rPr lang="zh-CN" altLang="en-US" sz="2800"/>
              <a:t>倍，但阻力也增加显著 。</a:t>
            </a:r>
          </a:p>
        </p:txBody>
      </p:sp>
      <p:sp>
        <p:nvSpPr>
          <p:cNvPr id="28677" name="Text Box 7"/>
          <p:cNvSpPr txBox="1">
            <a:spLocks noChangeArrowheads="1"/>
          </p:cNvSpPr>
          <p:nvPr/>
        </p:nvSpPr>
        <p:spPr bwMode="auto">
          <a:xfrm>
            <a:off x="611188" y="476250"/>
            <a:ext cx="6019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b="1"/>
              <a:t>(4)  </a:t>
            </a:r>
            <a:r>
              <a:rPr lang="zh-CN" altLang="en-US" sz="3200" b="1"/>
              <a:t>内翅片管</a:t>
            </a:r>
          </a:p>
        </p:txBody>
      </p:sp>
      <p:sp>
        <p:nvSpPr>
          <p:cNvPr id="28678" name="Text Box 9"/>
          <p:cNvSpPr txBox="1">
            <a:spLocks noChangeArrowheads="1"/>
          </p:cNvSpPr>
          <p:nvPr/>
        </p:nvSpPr>
        <p:spPr bwMode="auto">
          <a:xfrm>
            <a:off x="6084888" y="4581525"/>
            <a:ext cx="2895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6600FF"/>
                </a:solidFill>
              </a:rPr>
              <a:t>在一定的</a:t>
            </a:r>
            <a:r>
              <a:rPr lang="en-US" altLang="zh-CN" sz="2800" b="1">
                <a:solidFill>
                  <a:srgbClr val="6600FF"/>
                </a:solidFill>
              </a:rPr>
              <a:t>h/R</a:t>
            </a:r>
            <a:r>
              <a:rPr lang="zh-CN" altLang="en-US" sz="2800" b="1">
                <a:solidFill>
                  <a:srgbClr val="6600FF"/>
                </a:solidFill>
              </a:rPr>
              <a:t>下，三角形内翅存在最佳的翅片数</a:t>
            </a:r>
            <a:r>
              <a:rPr lang="en-US" altLang="zh-CN" sz="2800" b="1">
                <a:solidFill>
                  <a:srgbClr val="6600FF"/>
                </a:solidFill>
              </a:rPr>
              <a:t>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4"/>
          <p:cNvSpPr txBox="1">
            <a:spLocks noChangeArrowheads="1"/>
          </p:cNvSpPr>
          <p:nvPr/>
        </p:nvSpPr>
        <p:spPr bwMode="auto">
          <a:xfrm>
            <a:off x="611188" y="476250"/>
            <a:ext cx="3313112" cy="393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     </a:t>
            </a:r>
            <a:r>
              <a:rPr lang="zh-CN" altLang="en-US" sz="2800"/>
              <a:t>流体在管内作湍流运动时，内翅片的存在会使流体的湍流强度减弱，引起换热系数的下降，因此湍流时采用的翅片高度要比层流的小，翅化比较小。</a:t>
            </a:r>
          </a:p>
        </p:txBody>
      </p:sp>
      <p:sp>
        <p:nvSpPr>
          <p:cNvPr id="29699" name="Rectangle 5"/>
          <p:cNvSpPr>
            <a:spLocks noChangeArrowheads="1"/>
          </p:cNvSpPr>
          <p:nvPr/>
        </p:nvSpPr>
        <p:spPr bwMode="auto">
          <a:xfrm>
            <a:off x="771525" y="4797425"/>
            <a:ext cx="6407150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 sz="2800" b="1"/>
              <a:t>应用：</a:t>
            </a:r>
          </a:p>
          <a:p>
            <a:r>
              <a:rPr kumimoji="0" lang="zh-CN" altLang="en-US" sz="2800" b="1"/>
              <a:t>　　长翅片：气体（</a:t>
            </a:r>
            <a:r>
              <a:rPr kumimoji="0" lang="en-US" altLang="zh-CN" sz="2800" b="1"/>
              <a:t>O</a:t>
            </a:r>
            <a:r>
              <a:rPr kumimoji="0" lang="en-US" altLang="zh-CN" sz="2800" b="1" baseline="-25000"/>
              <a:t>2</a:t>
            </a:r>
            <a:r>
              <a:rPr kumimoji="0" lang="zh-CN" altLang="en-US" sz="2800" b="1"/>
              <a:t>、</a:t>
            </a:r>
            <a:r>
              <a:rPr kumimoji="0" lang="en-US" altLang="zh-CN" sz="2800" b="1"/>
              <a:t>air</a:t>
            </a:r>
            <a:r>
              <a:rPr kumimoji="0" lang="zh-CN" altLang="en-US" sz="2800" b="1"/>
              <a:t>）</a:t>
            </a:r>
            <a:r>
              <a:rPr kumimoji="0" lang="en-US" altLang="zh-CN" sz="2800" b="1"/>
              <a:t>——</a:t>
            </a:r>
            <a:r>
              <a:rPr kumimoji="0" lang="zh-CN" altLang="en-US" sz="2800" b="1"/>
              <a:t>低</a:t>
            </a:r>
            <a:r>
              <a:rPr kumimoji="0" lang="en-US" altLang="zh-CN" sz="2800" b="1"/>
              <a:t>Re</a:t>
            </a:r>
          </a:p>
          <a:p>
            <a:r>
              <a:rPr kumimoji="0" lang="zh-CN" altLang="en-US" sz="2800" b="1"/>
              <a:t>　　低翅／微翅：　　　　　  </a:t>
            </a:r>
            <a:r>
              <a:rPr kumimoji="0" lang="en-US" altLang="zh-CN" sz="2800" b="1"/>
              <a:t>——</a:t>
            </a:r>
            <a:r>
              <a:rPr kumimoji="0" lang="zh-CN" altLang="en-US" sz="2800" b="1"/>
              <a:t>湍流</a:t>
            </a:r>
          </a:p>
        </p:txBody>
      </p:sp>
      <p:pic>
        <p:nvPicPr>
          <p:cNvPr id="29700" name="Picture 6" descr="Pict005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67175" y="692150"/>
            <a:ext cx="4859338" cy="388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5"/>
          <p:cNvSpPr txBox="1">
            <a:spLocks noChangeArrowheads="1"/>
          </p:cNvSpPr>
          <p:nvPr/>
        </p:nvSpPr>
        <p:spPr bwMode="auto">
          <a:xfrm>
            <a:off x="684213" y="549275"/>
            <a:ext cx="6019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b="1"/>
              <a:t>(5)  </a:t>
            </a:r>
            <a:r>
              <a:rPr lang="zh-CN" altLang="en-US" sz="3200" b="1"/>
              <a:t>螺旋管／螺旋板</a:t>
            </a:r>
          </a:p>
        </p:txBody>
      </p:sp>
      <p:sp>
        <p:nvSpPr>
          <p:cNvPr id="30723" name="Text Box 36"/>
          <p:cNvSpPr txBox="1">
            <a:spLocks noChangeArrowheads="1"/>
          </p:cNvSpPr>
          <p:nvPr/>
        </p:nvSpPr>
        <p:spPr bwMode="auto">
          <a:xfrm>
            <a:off x="468313" y="1254125"/>
            <a:ext cx="434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en-US" altLang="zh-CN" sz="2800" b="1"/>
              <a:t>  </a:t>
            </a:r>
            <a:r>
              <a:rPr lang="zh-CN" altLang="en-US" sz="2800" b="1"/>
              <a:t>螺旋管内的传热</a:t>
            </a:r>
          </a:p>
        </p:txBody>
      </p:sp>
      <p:sp>
        <p:nvSpPr>
          <p:cNvPr id="30724" name="Text Box 37"/>
          <p:cNvSpPr txBox="1">
            <a:spLocks noChangeArrowheads="1"/>
          </p:cNvSpPr>
          <p:nvPr/>
        </p:nvSpPr>
        <p:spPr bwMode="auto">
          <a:xfrm>
            <a:off x="533400" y="2495550"/>
            <a:ext cx="495300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中部：离心力作用，从内向外流动</a:t>
            </a:r>
          </a:p>
          <a:p>
            <a:r>
              <a:rPr lang="zh-CN" altLang="en-US"/>
              <a:t>壁面：压差作用，从外向里流动</a:t>
            </a:r>
          </a:p>
        </p:txBody>
      </p:sp>
      <p:sp>
        <p:nvSpPr>
          <p:cNvPr id="30725" name="Text Box 38"/>
          <p:cNvSpPr txBox="1">
            <a:spLocks noChangeArrowheads="1"/>
          </p:cNvSpPr>
          <p:nvPr/>
        </p:nvSpPr>
        <p:spPr bwMode="auto">
          <a:xfrm>
            <a:off x="1524000" y="4014788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二次流</a:t>
            </a:r>
          </a:p>
        </p:txBody>
      </p:sp>
      <p:sp>
        <p:nvSpPr>
          <p:cNvPr id="30726" name="AutoShape 39"/>
          <p:cNvSpPr>
            <a:spLocks noChangeArrowheads="1"/>
          </p:cNvSpPr>
          <p:nvPr/>
        </p:nvSpPr>
        <p:spPr bwMode="auto">
          <a:xfrm>
            <a:off x="2195513" y="3606800"/>
            <a:ext cx="166687" cy="368300"/>
          </a:xfrm>
          <a:prstGeom prst="downArrow">
            <a:avLst>
              <a:gd name="adj1" fmla="val 50000"/>
              <a:gd name="adj2" fmla="val 55238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0727" name="Text Box 40"/>
          <p:cNvSpPr txBox="1">
            <a:spLocks noChangeArrowheads="1"/>
          </p:cNvSpPr>
          <p:nvPr/>
        </p:nvSpPr>
        <p:spPr bwMode="auto">
          <a:xfrm>
            <a:off x="2609850" y="4014788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＋主流</a:t>
            </a:r>
          </a:p>
        </p:txBody>
      </p:sp>
      <p:sp>
        <p:nvSpPr>
          <p:cNvPr id="30728" name="Text Box 41"/>
          <p:cNvSpPr txBox="1">
            <a:spLocks noChangeArrowheads="1"/>
          </p:cNvSpPr>
          <p:nvPr/>
        </p:nvSpPr>
        <p:spPr bwMode="auto">
          <a:xfrm>
            <a:off x="2209800" y="5059363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螺旋流动</a:t>
            </a:r>
          </a:p>
        </p:txBody>
      </p:sp>
      <p:sp>
        <p:nvSpPr>
          <p:cNvPr id="30729" name="Text Box 42"/>
          <p:cNvSpPr txBox="1">
            <a:spLocks noChangeArrowheads="1"/>
          </p:cNvSpPr>
          <p:nvPr/>
        </p:nvSpPr>
        <p:spPr bwMode="auto">
          <a:xfrm>
            <a:off x="1828800" y="6096000"/>
            <a:ext cx="236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强化壁面换热</a:t>
            </a:r>
          </a:p>
        </p:txBody>
      </p:sp>
      <p:sp>
        <p:nvSpPr>
          <p:cNvPr id="30730" name="AutoShape 43"/>
          <p:cNvSpPr>
            <a:spLocks noChangeArrowheads="1"/>
          </p:cNvSpPr>
          <p:nvPr/>
        </p:nvSpPr>
        <p:spPr bwMode="auto">
          <a:xfrm>
            <a:off x="2862263" y="5661025"/>
            <a:ext cx="166687" cy="368300"/>
          </a:xfrm>
          <a:prstGeom prst="downArrow">
            <a:avLst>
              <a:gd name="adj1" fmla="val 50000"/>
              <a:gd name="adj2" fmla="val 55238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pic>
        <p:nvPicPr>
          <p:cNvPr id="30731" name="Picture 4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263" y="3068638"/>
            <a:ext cx="3995737" cy="3275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32" name="Text Box 45"/>
          <p:cNvSpPr txBox="1">
            <a:spLocks noChangeArrowheads="1"/>
          </p:cNvSpPr>
          <p:nvPr/>
        </p:nvSpPr>
        <p:spPr bwMode="auto">
          <a:xfrm>
            <a:off x="611188" y="1901825"/>
            <a:ext cx="22320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p"/>
            </a:pPr>
            <a:r>
              <a:rPr lang="en-US" altLang="zh-CN" sz="2800" b="1"/>
              <a:t> </a:t>
            </a:r>
            <a:r>
              <a:rPr lang="zh-CN" altLang="en-US" sz="2800" b="1"/>
              <a:t>流动形态</a:t>
            </a:r>
          </a:p>
        </p:txBody>
      </p:sp>
      <p:sp>
        <p:nvSpPr>
          <p:cNvPr id="30733" name="AutoShape 46"/>
          <p:cNvSpPr>
            <a:spLocks noChangeArrowheads="1"/>
          </p:cNvSpPr>
          <p:nvPr/>
        </p:nvSpPr>
        <p:spPr bwMode="auto">
          <a:xfrm>
            <a:off x="2843213" y="4614863"/>
            <a:ext cx="166687" cy="368300"/>
          </a:xfrm>
          <a:prstGeom prst="downArrow">
            <a:avLst>
              <a:gd name="adj1" fmla="val 50000"/>
              <a:gd name="adj2" fmla="val 55238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762000" y="609600"/>
            <a:ext cx="4800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p"/>
            </a:pPr>
            <a:r>
              <a:rPr lang="zh-CN" altLang="en-US" sz="2800" b="1"/>
              <a:t>螺旋管流动换热特点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838200" y="1752600"/>
            <a:ext cx="75438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1</a:t>
            </a:r>
            <a:r>
              <a:rPr lang="zh-CN" altLang="en-US"/>
              <a:t>、螺旋管内外侧的温度分布和换热系数相差较大</a:t>
            </a:r>
          </a:p>
          <a:p>
            <a:r>
              <a:rPr lang="zh-CN" altLang="en-US"/>
              <a:t>内侧，离壁流动，协同性差，热边界层厚，换热系数小</a:t>
            </a:r>
          </a:p>
          <a:p>
            <a:r>
              <a:rPr lang="zh-CN" altLang="en-US"/>
              <a:t>外侧，射流流动，协同性好，热边界层薄，换热系数大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762000" y="3886200"/>
            <a:ext cx="739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2</a:t>
            </a:r>
            <a:r>
              <a:rPr lang="zh-CN" altLang="en-US"/>
              <a:t>、层流时强化比 </a:t>
            </a:r>
            <a:r>
              <a:rPr lang="en-US" altLang="zh-CN"/>
              <a:t>Nu/Nu</a:t>
            </a:r>
            <a:r>
              <a:rPr lang="en-US" altLang="zh-CN" baseline="-25000"/>
              <a:t>0</a:t>
            </a:r>
            <a:r>
              <a:rPr lang="en-US" altLang="zh-CN"/>
              <a:t> </a:t>
            </a:r>
            <a:r>
              <a:rPr lang="zh-CN" altLang="en-US"/>
              <a:t>随</a:t>
            </a:r>
            <a:r>
              <a:rPr lang="en-US" altLang="zh-CN"/>
              <a:t>Re</a:t>
            </a:r>
            <a:r>
              <a:rPr lang="zh-CN" altLang="en-US"/>
              <a:t>数的增大而增加</a:t>
            </a:r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838200" y="5181600"/>
            <a:ext cx="464820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3</a:t>
            </a:r>
            <a:r>
              <a:rPr lang="zh-CN" altLang="en-US"/>
              <a:t>、湍流时，强化作用有限</a:t>
            </a:r>
          </a:p>
          <a:p>
            <a:r>
              <a:rPr lang="zh-CN" altLang="en-US"/>
              <a:t>      空气：</a:t>
            </a:r>
            <a:r>
              <a:rPr lang="en-US" altLang="zh-CN"/>
              <a:t>Nu/Nu</a:t>
            </a:r>
            <a:r>
              <a:rPr lang="en-US" altLang="zh-CN" baseline="-25000"/>
              <a:t>0</a:t>
            </a:r>
            <a:r>
              <a:rPr lang="en-US" altLang="zh-CN"/>
              <a:t>=1.1 ~1.3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utoUpdateAnimBg="0"/>
      <p:bldP spid="27652" grpId="0" autoUpdateAnimBg="0"/>
      <p:bldP spid="2765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5791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p"/>
            </a:pPr>
            <a:r>
              <a:rPr lang="zh-CN" altLang="en-US" sz="2800" b="1"/>
              <a:t>螺旋管内流动的相似准则</a:t>
            </a: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2057400" y="1371600"/>
          <a:ext cx="19050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3" imgW="850680" imgH="444240" progId="Equation.DSMT4">
                  <p:embed/>
                </p:oleObj>
              </mc:Choice>
              <mc:Fallback>
                <p:oleObj name="Equation" r:id="rId3" imgW="850680" imgH="4442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371600"/>
                        <a:ext cx="1905000" cy="995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609600" y="2438400"/>
            <a:ext cx="723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物理意义：流体做圆周运动时的离心力和粘性力之比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762000" y="3200400"/>
            <a:ext cx="708660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Dn</a:t>
            </a:r>
            <a:r>
              <a:rPr lang="zh-CN" altLang="en-US"/>
              <a:t>大，离心力大，粘性力小，要考虑二次流的作用</a:t>
            </a:r>
          </a:p>
          <a:p>
            <a:r>
              <a:rPr lang="en-US" altLang="zh-CN"/>
              <a:t>Dn</a:t>
            </a:r>
            <a:r>
              <a:rPr lang="zh-CN" altLang="en-US"/>
              <a:t>小，离心力小，粘性力大，可忽略二次流的作用</a:t>
            </a:r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412750" y="5127625"/>
            <a:ext cx="990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计算结果</a:t>
            </a: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1692275" y="4437063"/>
            <a:ext cx="6813550" cy="210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Dn</a:t>
            </a:r>
            <a:r>
              <a:rPr lang="en-US" altLang="zh-CN" dirty="0"/>
              <a:t> &lt;20 </a:t>
            </a:r>
            <a:r>
              <a:rPr lang="zh-CN" altLang="en-US" dirty="0"/>
              <a:t>时，二次流的惯性力可以忽略</a:t>
            </a:r>
          </a:p>
          <a:p>
            <a:r>
              <a:rPr lang="en-US" altLang="zh-CN" dirty="0"/>
              <a:t>20 ≤ </a:t>
            </a:r>
            <a:r>
              <a:rPr lang="en-US" altLang="zh-CN" dirty="0" err="1"/>
              <a:t>Dn</a:t>
            </a:r>
            <a:r>
              <a:rPr lang="en-US" altLang="zh-CN" dirty="0"/>
              <a:t> ≤100</a:t>
            </a:r>
            <a:r>
              <a:rPr lang="zh-CN" altLang="en-US" dirty="0"/>
              <a:t>时，二次流的惯性力与粘性力相当</a:t>
            </a:r>
          </a:p>
          <a:p>
            <a:r>
              <a:rPr lang="en-US" altLang="zh-CN" dirty="0" err="1"/>
              <a:t>Dn</a:t>
            </a:r>
            <a:r>
              <a:rPr lang="en-US" altLang="zh-CN" dirty="0"/>
              <a:t> &gt;100</a:t>
            </a:r>
            <a:r>
              <a:rPr lang="zh-CN" altLang="en-US" dirty="0"/>
              <a:t>时，二次流速度很大，核心区粘性力小</a:t>
            </a:r>
          </a:p>
          <a:p>
            <a:r>
              <a:rPr lang="zh-CN" altLang="en-US" dirty="0"/>
              <a:t>近壁区粘性力大</a:t>
            </a:r>
          </a:p>
        </p:txBody>
      </p:sp>
      <p:sp>
        <p:nvSpPr>
          <p:cNvPr id="132096" name="AutoShape 1024"/>
          <p:cNvSpPr>
            <a:spLocks/>
          </p:cNvSpPr>
          <p:nvPr/>
        </p:nvSpPr>
        <p:spPr bwMode="auto">
          <a:xfrm>
            <a:off x="1331913" y="4652963"/>
            <a:ext cx="142875" cy="1728787"/>
          </a:xfrm>
          <a:prstGeom prst="leftBrace">
            <a:avLst>
              <a:gd name="adj1" fmla="val 10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3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/>
      <p:bldP spid="28679" grpId="0" autoUpdateAnimBg="0"/>
      <p:bldP spid="13209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539750" y="908050"/>
            <a:ext cx="35290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p"/>
            </a:pPr>
            <a:r>
              <a:rPr lang="zh-CN" altLang="en-US" sz="2800" b="1"/>
              <a:t>空气的强化换热比</a:t>
            </a: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00613" y="549275"/>
            <a:ext cx="4243387" cy="630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67013"/>
            <a:ext cx="4284663" cy="4090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457200" y="762000"/>
            <a:ext cx="3048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en-US" altLang="zh-CN" sz="2800" b="1"/>
              <a:t> </a:t>
            </a:r>
            <a:r>
              <a:rPr lang="zh-CN" altLang="en-US" sz="2800" b="1"/>
              <a:t>螺旋板换热器</a:t>
            </a:r>
          </a:p>
        </p:txBody>
      </p:sp>
      <p:sp>
        <p:nvSpPr>
          <p:cNvPr id="33795" name="Rectangle 9"/>
          <p:cNvSpPr>
            <a:spLocks noChangeArrowheads="1"/>
          </p:cNvSpPr>
          <p:nvPr/>
        </p:nvSpPr>
        <p:spPr bwMode="auto">
          <a:xfrm>
            <a:off x="533400" y="1447800"/>
            <a:ext cx="8142288" cy="320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CN" sz="2800"/>
              <a:t>        </a:t>
            </a:r>
            <a:r>
              <a:rPr lang="zh-CN" altLang="en-US"/>
              <a:t>由两张卷制而成，形成了两个均匀的螺旋通道，两种传热介质可进行全逆流流动，大大增强了换热效果，即使两种小温差介质，也能达到理想的换热效果。</a:t>
            </a:r>
          </a:p>
        </p:txBody>
      </p:sp>
      <p:pic>
        <p:nvPicPr>
          <p:cNvPr id="33796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852738"/>
            <a:ext cx="2803525" cy="400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7" name="Picture 11" descr="2-10"/>
          <p:cNvPicPr>
            <a:picLocks noChangeAspect="1" noChangeArrowheads="1"/>
          </p:cNvPicPr>
          <p:nvPr/>
        </p:nvPicPr>
        <p:blipFill>
          <a:blip r:embed="rId3" cstate="print"/>
          <a:srcRect t="9956"/>
          <a:stretch>
            <a:fillRect/>
          </a:stretch>
        </p:blipFill>
        <p:spPr bwMode="auto">
          <a:xfrm>
            <a:off x="3348038" y="3976688"/>
            <a:ext cx="5795962" cy="288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2"/>
          <p:cNvSpPr txBox="1">
            <a:spLocks noChangeArrowheads="1"/>
          </p:cNvSpPr>
          <p:nvPr/>
        </p:nvSpPr>
        <p:spPr bwMode="auto">
          <a:xfrm>
            <a:off x="533400" y="1628775"/>
            <a:ext cx="8215313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结构和流动对称</a:t>
            </a:r>
          </a:p>
          <a:p>
            <a:r>
              <a:rPr lang="zh-CN" altLang="en-US"/>
              <a:t>       无二次流出现存在微小差别</a:t>
            </a:r>
          </a:p>
          <a:p>
            <a:r>
              <a:rPr lang="zh-CN" altLang="en-US"/>
              <a:t>       各个截面上的△</a:t>
            </a:r>
            <a:r>
              <a:rPr lang="en-US" altLang="zh-CN"/>
              <a:t>P</a:t>
            </a:r>
            <a:r>
              <a:rPr lang="zh-CN" altLang="en-US"/>
              <a:t>不相等，出现类似</a:t>
            </a:r>
            <a:r>
              <a:rPr lang="en-US" altLang="zh-CN"/>
              <a:t>Benard </a:t>
            </a:r>
            <a:r>
              <a:rPr lang="zh-CN" altLang="en-US"/>
              <a:t>对流的横向流动</a:t>
            </a:r>
          </a:p>
        </p:txBody>
      </p:sp>
      <p:sp>
        <p:nvSpPr>
          <p:cNvPr id="34819" name="Text Box 13"/>
          <p:cNvSpPr txBox="1">
            <a:spLocks noChangeArrowheads="1"/>
          </p:cNvSpPr>
          <p:nvPr/>
        </p:nvSpPr>
        <p:spPr bwMode="auto">
          <a:xfrm>
            <a:off x="611188" y="908050"/>
            <a:ext cx="4648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/>
              <a:t>螺旋板通道中二次流的形成</a:t>
            </a:r>
          </a:p>
        </p:txBody>
      </p:sp>
      <p:pic>
        <p:nvPicPr>
          <p:cNvPr id="34820" name="Picture 1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313" y="3500438"/>
            <a:ext cx="6516687" cy="314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1" name="Text Box 15"/>
          <p:cNvSpPr txBox="1">
            <a:spLocks noChangeArrowheads="1"/>
          </p:cNvSpPr>
          <p:nvPr/>
        </p:nvSpPr>
        <p:spPr bwMode="auto">
          <a:xfrm>
            <a:off x="6372225" y="3860800"/>
            <a:ext cx="603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Tc</a:t>
            </a:r>
          </a:p>
        </p:txBody>
      </p:sp>
      <p:sp>
        <p:nvSpPr>
          <p:cNvPr id="34822" name="Text Box 16"/>
          <p:cNvSpPr txBox="1">
            <a:spLocks noChangeArrowheads="1"/>
          </p:cNvSpPr>
          <p:nvPr/>
        </p:nvSpPr>
        <p:spPr bwMode="auto">
          <a:xfrm>
            <a:off x="3995738" y="5805488"/>
            <a:ext cx="936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Th</a:t>
            </a:r>
          </a:p>
        </p:txBody>
      </p:sp>
      <p:pic>
        <p:nvPicPr>
          <p:cNvPr id="34823" name="Picture 17"/>
          <p:cNvPicPr>
            <a:picLocks noChangeAspect="1" noChangeArrowheads="1"/>
          </p:cNvPicPr>
          <p:nvPr/>
        </p:nvPicPr>
        <p:blipFill>
          <a:blip r:embed="rId3" cstate="print"/>
          <a:srcRect r="31937" b="10107"/>
          <a:stretch>
            <a:fillRect/>
          </a:stretch>
        </p:blipFill>
        <p:spPr bwMode="auto">
          <a:xfrm>
            <a:off x="395288" y="3500438"/>
            <a:ext cx="1779587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p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752600"/>
            <a:ext cx="3352800" cy="326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3" name="Picture 3" descr="p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371600"/>
            <a:ext cx="4343400" cy="394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3048000" y="5410200"/>
            <a:ext cx="251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两侧不可拆结构</a:t>
            </a: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533400" y="533400"/>
            <a:ext cx="350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/>
              <a:t>螺旋板换热器实例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p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676400"/>
            <a:ext cx="3810000" cy="370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7" name="Picture 5" descr="p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914400"/>
            <a:ext cx="267493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8" name="Text Box 8"/>
          <p:cNvSpPr txBox="1">
            <a:spLocks noChangeArrowheads="1"/>
          </p:cNvSpPr>
          <p:nvPr/>
        </p:nvSpPr>
        <p:spPr bwMode="auto">
          <a:xfrm>
            <a:off x="1524000" y="5334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66177"/>
                </a:solidFill>
              </a:rPr>
              <a:t> </a:t>
            </a:r>
          </a:p>
        </p:txBody>
      </p:sp>
      <p:sp>
        <p:nvSpPr>
          <p:cNvPr id="36869" name="Text Box 9"/>
          <p:cNvSpPr txBox="1">
            <a:spLocks noChangeArrowheads="1"/>
          </p:cNvSpPr>
          <p:nvPr/>
        </p:nvSpPr>
        <p:spPr bwMode="auto">
          <a:xfrm>
            <a:off x="1905000" y="59436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一侧可拆</a:t>
            </a:r>
          </a:p>
        </p:txBody>
      </p:sp>
      <p:sp>
        <p:nvSpPr>
          <p:cNvPr id="36870" name="Text Box 10"/>
          <p:cNvSpPr txBox="1">
            <a:spLocks noChangeArrowheads="1"/>
          </p:cNvSpPr>
          <p:nvPr/>
        </p:nvSpPr>
        <p:spPr bwMode="auto">
          <a:xfrm>
            <a:off x="6324600" y="58674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两侧可拆</a:t>
            </a:r>
          </a:p>
        </p:txBody>
      </p:sp>
      <p:sp>
        <p:nvSpPr>
          <p:cNvPr id="36871" name="Text Box 11"/>
          <p:cNvSpPr txBox="1">
            <a:spLocks noChangeArrowheads="1"/>
          </p:cNvSpPr>
          <p:nvPr/>
        </p:nvSpPr>
        <p:spPr bwMode="auto">
          <a:xfrm>
            <a:off x="533400" y="533400"/>
            <a:ext cx="3505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/>
              <a:t>螺旋板换热器实例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4" descr="XA2_08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3438" y="1268413"/>
            <a:ext cx="4500562" cy="369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5" descr="XA2_08B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68413"/>
            <a:ext cx="4500563" cy="370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2" name="Text Box 6"/>
          <p:cNvSpPr txBox="1">
            <a:spLocks noChangeArrowheads="1"/>
          </p:cNvSpPr>
          <p:nvPr/>
        </p:nvSpPr>
        <p:spPr bwMode="auto">
          <a:xfrm>
            <a:off x="1758950" y="5203825"/>
            <a:ext cx="796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/>
              <a:t>卷板</a:t>
            </a:r>
          </a:p>
        </p:txBody>
      </p:sp>
      <p:sp>
        <p:nvSpPr>
          <p:cNvPr id="37893" name="Text Box 7"/>
          <p:cNvSpPr txBox="1">
            <a:spLocks noChangeArrowheads="1"/>
          </p:cNvSpPr>
          <p:nvPr/>
        </p:nvSpPr>
        <p:spPr bwMode="auto">
          <a:xfrm>
            <a:off x="6011863" y="5203825"/>
            <a:ext cx="796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/>
              <a:t>焊接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4"/>
          <p:cNvGrpSpPr>
            <a:grpSpLocks/>
          </p:cNvGrpSpPr>
          <p:nvPr/>
        </p:nvGrpSpPr>
        <p:grpSpPr bwMode="auto">
          <a:xfrm>
            <a:off x="611188" y="1125538"/>
            <a:ext cx="7772400" cy="3570287"/>
            <a:chOff x="624" y="1008"/>
            <a:chExt cx="4896" cy="2249"/>
          </a:xfrm>
        </p:grpSpPr>
        <p:sp>
          <p:nvSpPr>
            <p:cNvPr id="38919" name="Oval 5"/>
            <p:cNvSpPr>
              <a:spLocks noChangeArrowheads="1"/>
            </p:cNvSpPr>
            <p:nvPr/>
          </p:nvSpPr>
          <p:spPr bwMode="auto">
            <a:xfrm>
              <a:off x="624" y="1632"/>
              <a:ext cx="1248" cy="480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sz="3600" b="1"/>
                <a:t>优点</a:t>
              </a:r>
            </a:p>
          </p:txBody>
        </p:sp>
        <p:sp>
          <p:nvSpPr>
            <p:cNvPr id="38920" name="AutoShape 6"/>
            <p:cNvSpPr>
              <a:spLocks/>
            </p:cNvSpPr>
            <p:nvPr/>
          </p:nvSpPr>
          <p:spPr bwMode="auto">
            <a:xfrm>
              <a:off x="2592" y="1008"/>
              <a:ext cx="2246" cy="624"/>
            </a:xfrm>
            <a:prstGeom prst="accentBorderCallout2">
              <a:avLst>
                <a:gd name="adj1" fmla="val 11537"/>
                <a:gd name="adj2" fmla="val -2139"/>
                <a:gd name="adj3" fmla="val 11537"/>
                <a:gd name="adj4" fmla="val -15537"/>
                <a:gd name="adj5" fmla="val 124199"/>
                <a:gd name="adj6" fmla="val -29384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800" b="1"/>
                <a:t>结构紧凑，单位体积传热面积大。</a:t>
              </a:r>
            </a:p>
          </p:txBody>
        </p:sp>
        <p:sp>
          <p:nvSpPr>
            <p:cNvPr id="38921" name="AutoShape 7"/>
            <p:cNvSpPr>
              <a:spLocks/>
            </p:cNvSpPr>
            <p:nvPr/>
          </p:nvSpPr>
          <p:spPr bwMode="auto">
            <a:xfrm>
              <a:off x="2592" y="1831"/>
              <a:ext cx="2400" cy="624"/>
            </a:xfrm>
            <a:prstGeom prst="accentBorderCallout2">
              <a:avLst>
                <a:gd name="adj1" fmla="val 11537"/>
                <a:gd name="adj2" fmla="val -2000"/>
                <a:gd name="adj3" fmla="val 11537"/>
                <a:gd name="adj4" fmla="val -15292"/>
                <a:gd name="adj5" fmla="val 11056"/>
                <a:gd name="adj6" fmla="val -29042"/>
              </a:avLst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800" b="1">
                  <a:solidFill>
                    <a:schemeClr val="bg1"/>
                  </a:solidFill>
                </a:rPr>
                <a:t>两种流体都能以高速流动，传热效率高。</a:t>
              </a:r>
            </a:p>
          </p:txBody>
        </p:sp>
        <p:sp>
          <p:nvSpPr>
            <p:cNvPr id="38922" name="AutoShape 8"/>
            <p:cNvSpPr>
              <a:spLocks/>
            </p:cNvSpPr>
            <p:nvPr/>
          </p:nvSpPr>
          <p:spPr bwMode="auto">
            <a:xfrm>
              <a:off x="2592" y="2640"/>
              <a:ext cx="2928" cy="617"/>
            </a:xfrm>
            <a:prstGeom prst="accentBorderCallout2">
              <a:avLst>
                <a:gd name="adj1" fmla="val 11671"/>
                <a:gd name="adj2" fmla="val -1639"/>
                <a:gd name="adj3" fmla="val 11671"/>
                <a:gd name="adj4" fmla="val -12569"/>
                <a:gd name="adj5" fmla="val -90116"/>
                <a:gd name="adj6" fmla="val -23838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800" b="1">
                  <a:solidFill>
                    <a:srgbClr val="FF0000"/>
                  </a:solidFill>
                </a:rPr>
                <a:t>螺旋流动，有自冲刷作用，适于处理粘性和易结垢流体。</a:t>
              </a:r>
            </a:p>
          </p:txBody>
        </p:sp>
      </p:grpSp>
      <p:grpSp>
        <p:nvGrpSpPr>
          <p:cNvPr id="38915" name="Group 9"/>
          <p:cNvGrpSpPr>
            <a:grpSpLocks/>
          </p:cNvGrpSpPr>
          <p:nvPr/>
        </p:nvGrpSpPr>
        <p:grpSpPr bwMode="auto">
          <a:xfrm>
            <a:off x="250825" y="4895850"/>
            <a:ext cx="8340725" cy="1581150"/>
            <a:chOff x="492" y="3084"/>
            <a:chExt cx="5076" cy="996"/>
          </a:xfrm>
        </p:grpSpPr>
        <p:sp>
          <p:nvSpPr>
            <p:cNvPr id="38916" name="Oval 10"/>
            <p:cNvSpPr>
              <a:spLocks noChangeArrowheads="1"/>
            </p:cNvSpPr>
            <p:nvPr/>
          </p:nvSpPr>
          <p:spPr bwMode="auto">
            <a:xfrm>
              <a:off x="492" y="3084"/>
              <a:ext cx="1136" cy="468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sz="3600" b="1"/>
                <a:t>缺点</a:t>
              </a:r>
            </a:p>
          </p:txBody>
        </p:sp>
        <p:sp>
          <p:nvSpPr>
            <p:cNvPr id="38917" name="AutoShape 11"/>
            <p:cNvSpPr>
              <a:spLocks/>
            </p:cNvSpPr>
            <p:nvPr/>
          </p:nvSpPr>
          <p:spPr bwMode="auto">
            <a:xfrm>
              <a:off x="2112" y="3216"/>
              <a:ext cx="3456" cy="384"/>
            </a:xfrm>
            <a:prstGeom prst="accentBorderCallout2">
              <a:avLst>
                <a:gd name="adj1" fmla="val 18750"/>
                <a:gd name="adj2" fmla="val -1389"/>
                <a:gd name="adj3" fmla="val 18750"/>
                <a:gd name="adj4" fmla="val -7120"/>
                <a:gd name="adj5" fmla="val 18750"/>
                <a:gd name="adj6" fmla="val -13079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800" b="1">
                  <a:solidFill>
                    <a:schemeClr val="bg1"/>
                  </a:solidFill>
                </a:rPr>
                <a:t>承压能力差（</a:t>
              </a:r>
              <a:r>
                <a:rPr lang="en-US" altLang="zh-CN" sz="2800" b="1">
                  <a:solidFill>
                    <a:schemeClr val="bg1"/>
                  </a:solidFill>
                </a:rPr>
                <a:t>P&lt;1MPa</a:t>
              </a:r>
              <a:r>
                <a:rPr lang="zh-CN" altLang="en-US" sz="2800" b="1">
                  <a:solidFill>
                    <a:schemeClr val="bg1"/>
                  </a:solidFill>
                </a:rPr>
                <a:t>，</a:t>
              </a:r>
              <a:r>
                <a:rPr lang="en-US" altLang="zh-CN" sz="2800" b="1">
                  <a:solidFill>
                    <a:schemeClr val="bg1"/>
                  </a:solidFill>
                </a:rPr>
                <a:t>t&lt;500</a:t>
              </a:r>
              <a:r>
                <a:rPr lang="en-US" altLang="zh-CN" sz="2800" b="1">
                  <a:solidFill>
                    <a:schemeClr val="bg1"/>
                  </a:solidFill>
                  <a:cs typeface="Times New Roman" pitchFamily="18" charset="0"/>
                </a:rPr>
                <a:t>º</a:t>
              </a:r>
              <a:r>
                <a:rPr lang="en-US" altLang="zh-CN" sz="2800" b="1">
                  <a:solidFill>
                    <a:schemeClr val="bg1"/>
                  </a:solidFill>
                </a:rPr>
                <a:t>C</a:t>
              </a:r>
              <a:r>
                <a:rPr lang="zh-CN" altLang="en-US" sz="2800" b="1">
                  <a:solidFill>
                    <a:schemeClr val="bg1"/>
                  </a:solidFill>
                </a:rPr>
                <a:t>）</a:t>
              </a:r>
            </a:p>
          </p:txBody>
        </p:sp>
        <p:sp>
          <p:nvSpPr>
            <p:cNvPr id="38918" name="AutoShape 12"/>
            <p:cNvSpPr>
              <a:spLocks/>
            </p:cNvSpPr>
            <p:nvPr/>
          </p:nvSpPr>
          <p:spPr bwMode="auto">
            <a:xfrm>
              <a:off x="2112" y="3744"/>
              <a:ext cx="1872" cy="336"/>
            </a:xfrm>
            <a:prstGeom prst="accentBorderCallout2">
              <a:avLst>
                <a:gd name="adj1" fmla="val 21431"/>
                <a:gd name="adj2" fmla="val -2565"/>
                <a:gd name="adj3" fmla="val 21431"/>
                <a:gd name="adj4" fmla="val -13782"/>
                <a:gd name="adj5" fmla="val -59819"/>
                <a:gd name="adj6" fmla="val -25375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800" b="1">
                  <a:solidFill>
                    <a:srgbClr val="CC3300"/>
                  </a:solidFill>
                </a:rPr>
                <a:t>损坏后检修困难。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28"/>
          <p:cNvSpPr txBox="1">
            <a:spLocks noChangeArrowheads="1"/>
          </p:cNvSpPr>
          <p:nvPr/>
        </p:nvSpPr>
        <p:spPr bwMode="auto">
          <a:xfrm>
            <a:off x="684213" y="549275"/>
            <a:ext cx="6019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b="1"/>
              <a:t>(6)  </a:t>
            </a:r>
            <a:r>
              <a:rPr lang="zh-CN" altLang="en-US" sz="3200" b="1"/>
              <a:t>弹性管束</a:t>
            </a:r>
          </a:p>
        </p:txBody>
      </p:sp>
      <p:pic>
        <p:nvPicPr>
          <p:cNvPr id="7172" name="Picture 29"/>
          <p:cNvPicPr>
            <a:picLocks noChangeAspect="1" noChangeArrowheads="1"/>
          </p:cNvPicPr>
          <p:nvPr/>
        </p:nvPicPr>
        <p:blipFill>
          <a:blip r:embed="rId3" cstate="print"/>
          <a:srcRect l="7616" t="7968" b="6374"/>
          <a:stretch>
            <a:fillRect/>
          </a:stretch>
        </p:blipFill>
        <p:spPr bwMode="auto">
          <a:xfrm>
            <a:off x="3851275" y="476250"/>
            <a:ext cx="2700338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3" name="Rectangle 31"/>
          <p:cNvSpPr>
            <a:spLocks noChangeArrowheads="1"/>
          </p:cNvSpPr>
          <p:nvPr/>
        </p:nvSpPr>
        <p:spPr bwMode="auto">
          <a:xfrm>
            <a:off x="0" y="27003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170" name="Object 30"/>
          <p:cNvGraphicFramePr>
            <a:graphicFrameLocks noChangeAspect="1"/>
          </p:cNvGraphicFramePr>
          <p:nvPr/>
        </p:nvGraphicFramePr>
        <p:xfrm>
          <a:off x="0" y="4332288"/>
          <a:ext cx="5724525" cy="252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AutoCAD Drawing" r:id="rId4" imgW="5648325" imgH="2000250" progId="">
                  <p:embed/>
                </p:oleObj>
              </mc:Choice>
              <mc:Fallback>
                <p:oleObj name="AutoCAD Drawing" r:id="rId4" imgW="5648325" imgH="2000250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3442" r="37396" b="18198"/>
                      <a:stretch>
                        <a:fillRect/>
                      </a:stretch>
                    </p:blipFill>
                    <p:spPr bwMode="auto">
                      <a:xfrm>
                        <a:off x="0" y="4332288"/>
                        <a:ext cx="5724525" cy="2525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33"/>
          <p:cNvSpPr>
            <a:spLocks noChangeArrowheads="1"/>
          </p:cNvSpPr>
          <p:nvPr/>
        </p:nvSpPr>
        <p:spPr bwMode="auto">
          <a:xfrm>
            <a:off x="4284663" y="3429000"/>
            <a:ext cx="2098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b="1"/>
              <a:t>弹性管束结构</a:t>
            </a:r>
            <a:r>
              <a:rPr lang="zh-CN" altLang="en-US"/>
              <a:t> </a:t>
            </a:r>
          </a:p>
        </p:txBody>
      </p:sp>
      <p:pic>
        <p:nvPicPr>
          <p:cNvPr id="7175" name="Picture 3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8313" y="1341438"/>
            <a:ext cx="2463800" cy="287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6" name="Picture 3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94463" y="2420938"/>
            <a:ext cx="2649537" cy="4437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4" descr="2222"/>
          <p:cNvPicPr>
            <a:picLocks noChangeAspect="1" noChangeArrowheads="1"/>
          </p:cNvPicPr>
          <p:nvPr/>
        </p:nvPicPr>
        <p:blipFill>
          <a:blip r:embed="rId2" cstate="print"/>
          <a:srcRect t="9927" b="10269"/>
          <a:stretch>
            <a:fillRect/>
          </a:stretch>
        </p:blipFill>
        <p:spPr bwMode="auto">
          <a:xfrm>
            <a:off x="682625" y="3559175"/>
            <a:ext cx="8353425" cy="321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513" y="0"/>
            <a:ext cx="4321175" cy="351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938" y="3795713"/>
            <a:ext cx="5580062" cy="306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5219700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grpSp>
        <p:nvGrpSpPr>
          <p:cNvPr id="8197" name="Group 4"/>
          <p:cNvGrpSpPr>
            <a:grpSpLocks/>
          </p:cNvGrpSpPr>
          <p:nvPr/>
        </p:nvGrpSpPr>
        <p:grpSpPr bwMode="auto">
          <a:xfrm>
            <a:off x="755650" y="620713"/>
            <a:ext cx="7993063" cy="5092700"/>
            <a:chOff x="1800" y="2115"/>
            <a:chExt cx="7920" cy="4285"/>
          </a:xfrm>
        </p:grpSpPr>
        <p:grpSp>
          <p:nvGrpSpPr>
            <p:cNvPr id="8200" name="Group 5"/>
            <p:cNvGrpSpPr>
              <a:grpSpLocks/>
            </p:cNvGrpSpPr>
            <p:nvPr/>
          </p:nvGrpSpPr>
          <p:grpSpPr bwMode="auto">
            <a:xfrm>
              <a:off x="8460" y="2688"/>
              <a:ext cx="1260" cy="312"/>
              <a:chOff x="7200" y="15948"/>
              <a:chExt cx="1260" cy="312"/>
            </a:xfrm>
          </p:grpSpPr>
          <p:sp>
            <p:nvSpPr>
              <p:cNvPr id="8201" name="Line 6"/>
              <p:cNvSpPr>
                <a:spLocks noChangeShapeType="1"/>
              </p:cNvSpPr>
              <p:nvPr/>
            </p:nvSpPr>
            <p:spPr bwMode="auto">
              <a:xfrm>
                <a:off x="7200" y="16104"/>
                <a:ext cx="3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2" name="Text Box 7"/>
              <p:cNvSpPr txBox="1">
                <a:spLocks noChangeArrowheads="1"/>
              </p:cNvSpPr>
              <p:nvPr/>
            </p:nvSpPr>
            <p:spPr bwMode="auto">
              <a:xfrm>
                <a:off x="7560" y="15948"/>
                <a:ext cx="90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/>
                <a:r>
                  <a:rPr lang="en-US" altLang="zh-CN" sz="1000"/>
                  <a:t>1.25x10</a:t>
                </a:r>
                <a:r>
                  <a:rPr lang="en-US" altLang="zh-CN" sz="1000" baseline="30000"/>
                  <a:t>-4</a:t>
                </a:r>
                <a:endParaRPr lang="en-US" altLang="zh-CN"/>
              </a:p>
            </p:txBody>
          </p:sp>
        </p:grpSp>
        <p:graphicFrame>
          <p:nvGraphicFramePr>
            <p:cNvPr id="8194" name="Object 8"/>
            <p:cNvGraphicFramePr>
              <a:graphicFrameLocks noChangeAspect="1"/>
            </p:cNvGraphicFramePr>
            <p:nvPr/>
          </p:nvGraphicFramePr>
          <p:xfrm>
            <a:off x="1800" y="2115"/>
            <a:ext cx="6933" cy="4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8" name="图表" r:id="rId3" imgW="9306018" imgH="5714865" progId="Excel.Sheet.8">
                    <p:embed/>
                  </p:oleObj>
                </mc:Choice>
                <mc:Fallback>
                  <p:oleObj name="图表" r:id="rId3" imgW="9306018" imgH="5714865" progId="Excel.Sheet.8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0" y="2115"/>
                          <a:ext cx="6933" cy="42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98" name="Rectangle 9"/>
          <p:cNvSpPr>
            <a:spLocks noChangeArrowheads="1"/>
          </p:cNvSpPr>
          <p:nvPr/>
        </p:nvSpPr>
        <p:spPr bwMode="auto">
          <a:xfrm>
            <a:off x="2663825" y="3200400"/>
            <a:ext cx="3816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污垢生长曲线（</a:t>
            </a:r>
            <a:r>
              <a:rPr lang="en-US" altLang="zh-CN"/>
              <a:t>18.33 Hz</a:t>
            </a:r>
            <a:r>
              <a:rPr lang="zh-CN" altLang="en-US"/>
              <a:t>） </a:t>
            </a:r>
          </a:p>
        </p:txBody>
      </p:sp>
      <p:pic>
        <p:nvPicPr>
          <p:cNvPr id="8199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16013" y="5157788"/>
            <a:ext cx="6840537" cy="134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260350"/>
            <a:ext cx="5624513" cy="633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7" name="Line 6"/>
          <p:cNvSpPr>
            <a:spLocks noChangeShapeType="1"/>
          </p:cNvSpPr>
          <p:nvPr/>
        </p:nvSpPr>
        <p:spPr bwMode="auto">
          <a:xfrm>
            <a:off x="2700338" y="2060575"/>
            <a:ext cx="280828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1988" name="Line 7"/>
          <p:cNvSpPr>
            <a:spLocks noChangeShapeType="1"/>
          </p:cNvSpPr>
          <p:nvPr/>
        </p:nvSpPr>
        <p:spPr bwMode="auto">
          <a:xfrm>
            <a:off x="250825" y="2708275"/>
            <a:ext cx="201771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1989" name="Text Box 8"/>
          <p:cNvSpPr txBox="1">
            <a:spLocks noChangeArrowheads="1"/>
          </p:cNvSpPr>
          <p:nvPr/>
        </p:nvSpPr>
        <p:spPr bwMode="auto">
          <a:xfrm>
            <a:off x="6567488" y="69215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41990" name="Rectangle 9"/>
          <p:cNvSpPr>
            <a:spLocks noChangeArrowheads="1"/>
          </p:cNvSpPr>
          <p:nvPr/>
        </p:nvSpPr>
        <p:spPr bwMode="auto">
          <a:xfrm>
            <a:off x="5975350" y="1412875"/>
            <a:ext cx="2773363" cy="283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zh-CN" altLang="en-US" b="1"/>
              <a:t>可减少污垢热阻</a:t>
            </a:r>
            <a:r>
              <a:rPr lang="en-US" altLang="zh-CN" b="1"/>
              <a:t>1/2-2/3</a:t>
            </a:r>
          </a:p>
          <a:p>
            <a:pPr>
              <a:buFont typeface="Wingdings" pitchFamily="2" charset="2"/>
              <a:buChar char="n"/>
            </a:pPr>
            <a:r>
              <a:rPr lang="zh-CN" altLang="en-US" b="1"/>
              <a:t>降低污垢热阻的主要原因：</a:t>
            </a:r>
          </a:p>
          <a:p>
            <a:pPr>
              <a:buFont typeface="Wingdings" pitchFamily="2" charset="2"/>
              <a:buChar char="p"/>
            </a:pPr>
            <a:r>
              <a:rPr lang="zh-CN" altLang="en-US" b="1"/>
              <a:t>振动</a:t>
            </a:r>
          </a:p>
          <a:p>
            <a:pPr>
              <a:buFont typeface="Wingdings" pitchFamily="2" charset="2"/>
              <a:buChar char="p"/>
            </a:pPr>
            <a:r>
              <a:rPr lang="zh-CN" altLang="en-US" b="1"/>
              <a:t>热应力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 noChangeArrowheads="1"/>
          </p:cNvSpPr>
          <p:nvPr/>
        </p:nvSpPr>
        <p:spPr bwMode="auto">
          <a:xfrm>
            <a:off x="971550" y="549275"/>
            <a:ext cx="40957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/>
              <a:t>弹性管束强化换热特点：</a:t>
            </a:r>
          </a:p>
        </p:txBody>
      </p:sp>
      <p:sp>
        <p:nvSpPr>
          <p:cNvPr id="43011" name="Rectangle 5"/>
          <p:cNvSpPr>
            <a:spLocks noChangeArrowheads="1"/>
          </p:cNvSpPr>
          <p:nvPr/>
        </p:nvSpPr>
        <p:spPr bwMode="auto">
          <a:xfrm>
            <a:off x="755650" y="1628775"/>
            <a:ext cx="8313738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b="1"/>
              <a:t>弹性管束结构设计</a:t>
            </a:r>
            <a:r>
              <a:rPr lang="en-US" altLang="zh-CN" b="1"/>
              <a:t>——</a:t>
            </a:r>
            <a:r>
              <a:rPr lang="zh-CN" altLang="en-US" b="1"/>
              <a:t>变害为用</a:t>
            </a:r>
            <a:r>
              <a:rPr lang="en-US" altLang="zh-CN" b="1"/>
              <a:t>——</a:t>
            </a:r>
            <a:r>
              <a:rPr lang="zh-CN" altLang="en-US" b="1"/>
              <a:t>创新核心。</a:t>
            </a:r>
          </a:p>
          <a:p>
            <a:pPr>
              <a:buFont typeface="Wingdings" pitchFamily="2" charset="2"/>
              <a:buChar char="ü"/>
            </a:pPr>
            <a:r>
              <a:rPr lang="zh-CN" altLang="en-US" b="1"/>
              <a:t>弹性管束管外强化换热</a:t>
            </a:r>
            <a:r>
              <a:rPr lang="en-US" altLang="zh-CN" b="1"/>
              <a:t>3-4</a:t>
            </a:r>
            <a:r>
              <a:rPr lang="zh-CN" altLang="en-US" b="1"/>
              <a:t>倍，而流动阻力几乎不增加。</a:t>
            </a:r>
          </a:p>
          <a:p>
            <a:pPr>
              <a:buFont typeface="Wingdings" pitchFamily="2" charset="2"/>
              <a:buChar char="ü"/>
            </a:pPr>
            <a:r>
              <a:rPr lang="zh-CN" altLang="en-US" b="1"/>
              <a:t>防垢除垢</a:t>
            </a:r>
            <a:r>
              <a:rPr lang="en-US" altLang="zh-CN" b="1"/>
              <a:t>——</a:t>
            </a:r>
            <a:r>
              <a:rPr lang="zh-CN" altLang="en-US" b="1"/>
              <a:t>至少减少污垢热阻</a:t>
            </a:r>
            <a:r>
              <a:rPr lang="en-US" altLang="zh-CN" b="1"/>
              <a:t>20%</a:t>
            </a:r>
            <a:r>
              <a:rPr lang="zh-CN" altLang="en-US" b="1"/>
              <a:t>，某些可降低</a:t>
            </a:r>
            <a:r>
              <a:rPr lang="en-US" altLang="zh-CN" b="1"/>
              <a:t>1/2-2/3</a:t>
            </a:r>
            <a:r>
              <a:rPr lang="zh-CN" altLang="en-US" b="1"/>
              <a:t>。</a:t>
            </a:r>
          </a:p>
          <a:p>
            <a:pPr>
              <a:buFont typeface="Wingdings" pitchFamily="2" charset="2"/>
              <a:buChar char="ü"/>
            </a:pPr>
            <a:r>
              <a:rPr lang="zh-CN" altLang="en-US" b="1"/>
              <a:t>主要应用于建筑供热的汽</a:t>
            </a:r>
            <a:r>
              <a:rPr lang="en-US" altLang="zh-CN" b="1"/>
              <a:t>——</a:t>
            </a:r>
            <a:r>
              <a:rPr lang="zh-CN" altLang="en-US" b="1"/>
              <a:t>水换热器。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4"/>
          <p:cNvSpPr txBox="1">
            <a:spLocks noChangeArrowheads="1"/>
          </p:cNvSpPr>
          <p:nvPr/>
        </p:nvSpPr>
        <p:spPr bwMode="auto">
          <a:xfrm>
            <a:off x="684213" y="549275"/>
            <a:ext cx="6019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b="1"/>
              <a:t>(7)  </a:t>
            </a:r>
            <a:r>
              <a:rPr lang="zh-CN" altLang="en-US" sz="3200" b="1"/>
              <a:t>波纹板换热器</a:t>
            </a:r>
          </a:p>
        </p:txBody>
      </p:sp>
      <p:pic>
        <p:nvPicPr>
          <p:cNvPr id="44035" name="Picture 5" descr="jg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8134350" cy="442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5" descr="b3-12b"/>
          <p:cNvPicPr>
            <a:picLocks noChangeAspect="1" noChangeArrowheads="1"/>
          </p:cNvPicPr>
          <p:nvPr/>
        </p:nvPicPr>
        <p:blipFill>
          <a:blip r:embed="rId2" cstate="print"/>
          <a:srcRect l="6581" r="47311"/>
          <a:stretch>
            <a:fillRect/>
          </a:stretch>
        </p:blipFill>
        <p:spPr bwMode="auto">
          <a:xfrm>
            <a:off x="5580063" y="765175"/>
            <a:ext cx="2751137" cy="532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59" name="Picture 6" descr="pheblu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650" y="908050"/>
            <a:ext cx="4070350" cy="4681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0" name="Rectangle 7"/>
          <p:cNvSpPr>
            <a:spLocks noChangeArrowheads="1"/>
          </p:cNvSpPr>
          <p:nvPr/>
        </p:nvSpPr>
        <p:spPr bwMode="auto">
          <a:xfrm>
            <a:off x="5867400" y="5805488"/>
            <a:ext cx="2317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/>
              <a:t>钎焊板式换热器</a:t>
            </a:r>
          </a:p>
        </p:txBody>
      </p:sp>
      <p:sp>
        <p:nvSpPr>
          <p:cNvPr id="45061" name="Rectangle 8"/>
          <p:cNvSpPr>
            <a:spLocks noChangeArrowheads="1"/>
          </p:cNvSpPr>
          <p:nvPr/>
        </p:nvSpPr>
        <p:spPr bwMode="auto">
          <a:xfrm>
            <a:off x="1258888" y="5876925"/>
            <a:ext cx="3232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/>
              <a:t>可拆卸波纹板式换热器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2988" y="1341438"/>
            <a:ext cx="4005262" cy="530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3" name="AutoShape 8"/>
          <p:cNvSpPr>
            <a:spLocks/>
          </p:cNvSpPr>
          <p:nvPr/>
        </p:nvSpPr>
        <p:spPr bwMode="auto">
          <a:xfrm>
            <a:off x="0" y="476250"/>
            <a:ext cx="1600200" cy="609600"/>
          </a:xfrm>
          <a:prstGeom prst="borderCallout2">
            <a:avLst>
              <a:gd name="adj1" fmla="val 18750"/>
              <a:gd name="adj2" fmla="val 104764"/>
              <a:gd name="adj3" fmla="val 18750"/>
              <a:gd name="adj4" fmla="val 193056"/>
              <a:gd name="adj5" fmla="val 490106"/>
              <a:gd name="adj6" fmla="val 284625"/>
            </a:avLst>
          </a:prstGeom>
          <a:solidFill>
            <a:schemeClr val="accent2"/>
          </a:solidFill>
          <a:ln w="25400">
            <a:pattFill prst="lgConfetti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0"/>
              </a:spcBef>
            </a:pPr>
            <a:r>
              <a:rPr kumimoji="0" lang="zh-CN" altLang="en-US" b="1">
                <a:latin typeface="Arial" charset="0"/>
                <a:ea typeface="隶书" pitchFamily="49" charset="-122"/>
              </a:rPr>
              <a:t>斜波纹片</a:t>
            </a:r>
          </a:p>
        </p:txBody>
      </p:sp>
      <p:sp>
        <p:nvSpPr>
          <p:cNvPr id="46084" name="AutoShape 9"/>
          <p:cNvSpPr>
            <a:spLocks/>
          </p:cNvSpPr>
          <p:nvPr/>
        </p:nvSpPr>
        <p:spPr bwMode="auto">
          <a:xfrm>
            <a:off x="77788" y="3390900"/>
            <a:ext cx="914400" cy="1104900"/>
          </a:xfrm>
          <a:prstGeom prst="borderCallout1">
            <a:avLst>
              <a:gd name="adj1" fmla="val 10343"/>
              <a:gd name="adj2" fmla="val 108333"/>
              <a:gd name="adj3" fmla="val 65519"/>
              <a:gd name="adj4" fmla="val 175000"/>
            </a:avLst>
          </a:prstGeom>
          <a:solidFill>
            <a:schemeClr val="accent2"/>
          </a:solidFill>
          <a:ln w="25400">
            <a:pattFill prst="lgConfetti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0"/>
              </a:spcBef>
            </a:pPr>
            <a:r>
              <a:rPr kumimoji="0" lang="zh-CN" altLang="en-US">
                <a:latin typeface="Arial" charset="0"/>
                <a:ea typeface="隶书" pitchFamily="49" charset="-122"/>
              </a:rPr>
              <a:t>双人字波纹片</a:t>
            </a:r>
          </a:p>
        </p:txBody>
      </p:sp>
      <p:sp>
        <p:nvSpPr>
          <p:cNvPr id="46085" name="AutoShape 10"/>
          <p:cNvSpPr>
            <a:spLocks/>
          </p:cNvSpPr>
          <p:nvPr/>
        </p:nvSpPr>
        <p:spPr bwMode="auto">
          <a:xfrm>
            <a:off x="153988" y="5029200"/>
            <a:ext cx="914400" cy="1143000"/>
          </a:xfrm>
          <a:prstGeom prst="borderCallout1">
            <a:avLst>
              <a:gd name="adj1" fmla="val 10000"/>
              <a:gd name="adj2" fmla="val 108333"/>
              <a:gd name="adj3" fmla="val 71528"/>
              <a:gd name="adj4" fmla="val 172051"/>
            </a:avLst>
          </a:prstGeom>
          <a:solidFill>
            <a:schemeClr val="accent2"/>
          </a:solidFill>
          <a:ln w="25400">
            <a:pattFill prst="lgConfetti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0"/>
              </a:spcBef>
            </a:pPr>
            <a:r>
              <a:rPr kumimoji="0" lang="zh-CN" altLang="en-US">
                <a:latin typeface="Arial" charset="0"/>
                <a:ea typeface="隶书" pitchFamily="49" charset="-122"/>
              </a:rPr>
              <a:t>人字波纹片</a:t>
            </a:r>
          </a:p>
        </p:txBody>
      </p:sp>
      <p:pic>
        <p:nvPicPr>
          <p:cNvPr id="46086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4625" y="2924175"/>
            <a:ext cx="3889375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7" name="Picture 12" descr="core3"/>
          <p:cNvPicPr>
            <a:picLocks noChangeAspect="1" noChangeArrowheads="1"/>
          </p:cNvPicPr>
          <p:nvPr/>
        </p:nvPicPr>
        <p:blipFill>
          <a:blip r:embed="rId4" cstate="print"/>
          <a:srcRect l="10985" t="12419" r="11572" b="4039"/>
          <a:stretch>
            <a:fillRect/>
          </a:stretch>
        </p:blipFill>
        <p:spPr bwMode="auto">
          <a:xfrm>
            <a:off x="6084888" y="4991100"/>
            <a:ext cx="2484437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8" name="Picture 13" descr="换热板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3800" y="0"/>
            <a:ext cx="4140200" cy="278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/>
          <p:cNvSpPr>
            <a:spLocks noRot="1" noChangeArrowheads="1"/>
          </p:cNvSpPr>
          <p:nvPr/>
        </p:nvSpPr>
        <p:spPr bwMode="auto">
          <a:xfrm>
            <a:off x="900113" y="260350"/>
            <a:ext cx="70564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zh-CN" sz="3200" b="1">
              <a:solidFill>
                <a:schemeClr val="tx2"/>
              </a:solidFill>
            </a:endParaRPr>
          </a:p>
        </p:txBody>
      </p:sp>
      <p:sp>
        <p:nvSpPr>
          <p:cNvPr id="47107" name="Rectangle 5"/>
          <p:cNvSpPr>
            <a:spLocks noRot="1" noChangeArrowheads="1"/>
          </p:cNvSpPr>
          <p:nvPr/>
        </p:nvSpPr>
        <p:spPr bwMode="auto">
          <a:xfrm>
            <a:off x="323850" y="5373688"/>
            <a:ext cx="7920038" cy="148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n"/>
            </a:pPr>
            <a:r>
              <a:rPr lang="zh-CN" altLang="en-US" sz="2800" b="1"/>
              <a:t>应用领域：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/>
              <a:t>             主要应用于医药、食品、制酒、饮料、合成纤维、造船、化工等行业。</a:t>
            </a:r>
          </a:p>
        </p:txBody>
      </p:sp>
      <p:sp>
        <p:nvSpPr>
          <p:cNvPr id="47108" name="Oval 7"/>
          <p:cNvSpPr>
            <a:spLocks noChangeArrowheads="1"/>
          </p:cNvSpPr>
          <p:nvPr/>
        </p:nvSpPr>
        <p:spPr bwMode="auto">
          <a:xfrm>
            <a:off x="179388" y="1312863"/>
            <a:ext cx="2197100" cy="7620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3600" b="1"/>
              <a:t>优点</a:t>
            </a:r>
          </a:p>
        </p:txBody>
      </p:sp>
      <p:sp>
        <p:nvSpPr>
          <p:cNvPr id="47109" name="AutoShape 8"/>
          <p:cNvSpPr>
            <a:spLocks/>
          </p:cNvSpPr>
          <p:nvPr/>
        </p:nvSpPr>
        <p:spPr bwMode="auto">
          <a:xfrm>
            <a:off x="3429000" y="908050"/>
            <a:ext cx="4648200" cy="609600"/>
          </a:xfrm>
          <a:prstGeom prst="accentBorderCallout2">
            <a:avLst>
              <a:gd name="adj1" fmla="val 18750"/>
              <a:gd name="adj2" fmla="val -1639"/>
              <a:gd name="adj3" fmla="val 18750"/>
              <a:gd name="adj4" fmla="val -12227"/>
              <a:gd name="adj5" fmla="val 124218"/>
              <a:gd name="adj6" fmla="val -2319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800" b="1"/>
              <a:t>结构紧凑、体积小、重量轻。</a:t>
            </a:r>
          </a:p>
        </p:txBody>
      </p:sp>
      <p:sp>
        <p:nvSpPr>
          <p:cNvPr id="47110" name="AutoShape 9"/>
          <p:cNvSpPr>
            <a:spLocks/>
          </p:cNvSpPr>
          <p:nvPr/>
        </p:nvSpPr>
        <p:spPr bwMode="auto">
          <a:xfrm>
            <a:off x="3203575" y="1601788"/>
            <a:ext cx="5689600" cy="608012"/>
          </a:xfrm>
          <a:prstGeom prst="accentBorderCallout2">
            <a:avLst>
              <a:gd name="adj1" fmla="val 18801"/>
              <a:gd name="adj2" fmla="val -1338"/>
              <a:gd name="adj3" fmla="val 18801"/>
              <a:gd name="adj4" fmla="val -8176"/>
              <a:gd name="adj5" fmla="val 13579"/>
              <a:gd name="adj6" fmla="val -15236"/>
            </a:avLst>
          </a:prstGeom>
          <a:solidFill>
            <a:srgbClr val="CC99FF"/>
          </a:solidFill>
          <a:ln w="25400">
            <a:solidFill>
              <a:srgbClr val="FF99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800" b="1">
                <a:solidFill>
                  <a:schemeClr val="bg1"/>
                </a:solidFill>
              </a:rPr>
              <a:t>流体扰动程度大，强化传热效果好。</a:t>
            </a:r>
          </a:p>
        </p:txBody>
      </p:sp>
      <p:sp>
        <p:nvSpPr>
          <p:cNvPr id="47111" name="AutoShape 10"/>
          <p:cNvSpPr>
            <a:spLocks/>
          </p:cNvSpPr>
          <p:nvPr/>
        </p:nvSpPr>
        <p:spPr bwMode="auto">
          <a:xfrm>
            <a:off x="2987675" y="2320925"/>
            <a:ext cx="3024188" cy="609600"/>
          </a:xfrm>
          <a:prstGeom prst="accentBorderCallout2">
            <a:avLst>
              <a:gd name="adj1" fmla="val 18750"/>
              <a:gd name="adj2" fmla="val -2519"/>
              <a:gd name="adj3" fmla="val 18750"/>
              <a:gd name="adj4" fmla="val -12282"/>
              <a:gd name="adj5" fmla="val -97398"/>
              <a:gd name="adj6" fmla="val -22361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便于清洗和维修。</a:t>
            </a:r>
          </a:p>
        </p:txBody>
      </p:sp>
      <p:sp>
        <p:nvSpPr>
          <p:cNvPr id="47112" name="Oval 12"/>
          <p:cNvSpPr>
            <a:spLocks noChangeArrowheads="1"/>
          </p:cNvSpPr>
          <p:nvPr/>
        </p:nvSpPr>
        <p:spPr bwMode="auto">
          <a:xfrm>
            <a:off x="755650" y="3746500"/>
            <a:ext cx="2557463" cy="7620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3600" b="1"/>
              <a:t>缺点</a:t>
            </a:r>
          </a:p>
        </p:txBody>
      </p:sp>
      <p:sp>
        <p:nvSpPr>
          <p:cNvPr id="47113" name="AutoShape 13"/>
          <p:cNvSpPr>
            <a:spLocks/>
          </p:cNvSpPr>
          <p:nvPr/>
        </p:nvSpPr>
        <p:spPr bwMode="auto">
          <a:xfrm>
            <a:off x="4379913" y="3213100"/>
            <a:ext cx="3657600" cy="609600"/>
          </a:xfrm>
          <a:prstGeom prst="accentBorderCallout2">
            <a:avLst>
              <a:gd name="adj1" fmla="val 18750"/>
              <a:gd name="adj2" fmla="val -2083"/>
              <a:gd name="adj3" fmla="val 18750"/>
              <a:gd name="adj4" fmla="val -14106"/>
              <a:gd name="adj5" fmla="val 126824"/>
              <a:gd name="adj6" fmla="val -26565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800" b="1">
                <a:solidFill>
                  <a:schemeClr val="bg2"/>
                </a:solidFill>
              </a:rPr>
              <a:t>密封周边长，易泄漏。</a:t>
            </a:r>
          </a:p>
        </p:txBody>
      </p:sp>
      <p:sp>
        <p:nvSpPr>
          <p:cNvPr id="47114" name="AutoShape 14"/>
          <p:cNvSpPr>
            <a:spLocks/>
          </p:cNvSpPr>
          <p:nvPr/>
        </p:nvSpPr>
        <p:spPr bwMode="auto">
          <a:xfrm>
            <a:off x="4427538" y="4005263"/>
            <a:ext cx="4267200" cy="598487"/>
          </a:xfrm>
          <a:prstGeom prst="accentBorderCallout2">
            <a:avLst>
              <a:gd name="adj1" fmla="val 19097"/>
              <a:gd name="adj2" fmla="val -1787"/>
              <a:gd name="adj3" fmla="val 19097"/>
              <a:gd name="adj4" fmla="val -13653"/>
              <a:gd name="adj5" fmla="val 18301"/>
              <a:gd name="adj6" fmla="val -25931"/>
            </a:avLst>
          </a:prstGeom>
          <a:solidFill>
            <a:srgbClr val="FF00FF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800" b="1"/>
              <a:t>承压能力低（</a:t>
            </a:r>
            <a:r>
              <a:rPr lang="en-US" altLang="zh-CN" sz="2800" b="1"/>
              <a:t>P&lt;2MPa</a:t>
            </a:r>
            <a:r>
              <a:rPr lang="zh-CN" altLang="en-US" sz="2800" b="1"/>
              <a:t>）。</a:t>
            </a:r>
          </a:p>
        </p:txBody>
      </p:sp>
      <p:sp>
        <p:nvSpPr>
          <p:cNvPr id="47115" name="AutoShape 15"/>
          <p:cNvSpPr>
            <a:spLocks/>
          </p:cNvSpPr>
          <p:nvPr/>
        </p:nvSpPr>
        <p:spPr bwMode="auto">
          <a:xfrm>
            <a:off x="4456113" y="4725988"/>
            <a:ext cx="4038600" cy="609600"/>
          </a:xfrm>
          <a:prstGeom prst="accentBorderCallout2">
            <a:avLst>
              <a:gd name="adj1" fmla="val 18750"/>
              <a:gd name="adj2" fmla="val -1889"/>
              <a:gd name="adj3" fmla="val 18750"/>
              <a:gd name="adj4" fmla="val -12657"/>
              <a:gd name="adj5" fmla="val -65366"/>
              <a:gd name="adj6" fmla="val -23741"/>
            </a:avLst>
          </a:pr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800" b="1">
                <a:solidFill>
                  <a:srgbClr val="FFCCFF"/>
                </a:solidFill>
              </a:rPr>
              <a:t>流动阻力大，处理量小。</a:t>
            </a:r>
          </a:p>
        </p:txBody>
      </p:sp>
      <p:sp>
        <p:nvSpPr>
          <p:cNvPr id="47116" name="Rectangle 16"/>
          <p:cNvSpPr>
            <a:spLocks noChangeArrowheads="1"/>
          </p:cNvSpPr>
          <p:nvPr/>
        </p:nvSpPr>
        <p:spPr bwMode="auto">
          <a:xfrm>
            <a:off x="468313" y="207963"/>
            <a:ext cx="48275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tx2"/>
                </a:solidFill>
              </a:rPr>
              <a:t>板式换热器的特点及应用领域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4"/>
          <p:cNvSpPr txBox="1">
            <a:spLocks noChangeArrowheads="1"/>
          </p:cNvSpPr>
          <p:nvPr/>
        </p:nvSpPr>
        <p:spPr bwMode="auto">
          <a:xfrm>
            <a:off x="684213" y="549275"/>
            <a:ext cx="6019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b="1"/>
              <a:t>(8)</a:t>
            </a:r>
            <a:r>
              <a:rPr lang="zh-CN" altLang="en-US" sz="3200" b="1"/>
              <a:t>板翅式换热器</a:t>
            </a:r>
          </a:p>
        </p:txBody>
      </p:sp>
      <p:pic>
        <p:nvPicPr>
          <p:cNvPr id="48131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350" y="1557338"/>
            <a:ext cx="6624638" cy="417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2" name="Rectangle 7"/>
          <p:cNvSpPr>
            <a:spLocks noChangeArrowheads="1"/>
          </p:cNvSpPr>
          <p:nvPr/>
        </p:nvSpPr>
        <p:spPr bwMode="auto">
          <a:xfrm>
            <a:off x="3276600" y="6165850"/>
            <a:ext cx="3232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空分装置板翅式换热器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4" descr="2-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2275" y="333375"/>
            <a:ext cx="6324600" cy="340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5" name="Picture 5" descr="2-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2988" y="3916363"/>
            <a:ext cx="7239000" cy="294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oup 4"/>
          <p:cNvGrpSpPr>
            <a:grpSpLocks/>
          </p:cNvGrpSpPr>
          <p:nvPr/>
        </p:nvGrpSpPr>
        <p:grpSpPr bwMode="auto">
          <a:xfrm>
            <a:off x="611188" y="1341438"/>
            <a:ext cx="7696200" cy="1524000"/>
            <a:chOff x="432" y="1344"/>
            <a:chExt cx="4848" cy="960"/>
          </a:xfrm>
        </p:grpSpPr>
        <p:sp>
          <p:nvSpPr>
            <p:cNvPr id="50183" name="Oval 5"/>
            <p:cNvSpPr>
              <a:spLocks noChangeArrowheads="1"/>
            </p:cNvSpPr>
            <p:nvPr/>
          </p:nvSpPr>
          <p:spPr bwMode="auto">
            <a:xfrm>
              <a:off x="432" y="1440"/>
              <a:ext cx="1248" cy="480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sz="3600" b="1"/>
                <a:t>优点</a:t>
              </a:r>
            </a:p>
          </p:txBody>
        </p:sp>
        <p:sp>
          <p:nvSpPr>
            <p:cNvPr id="50184" name="AutoShape 6"/>
            <p:cNvSpPr>
              <a:spLocks/>
            </p:cNvSpPr>
            <p:nvPr/>
          </p:nvSpPr>
          <p:spPr bwMode="auto">
            <a:xfrm>
              <a:off x="2352" y="1344"/>
              <a:ext cx="2928" cy="384"/>
            </a:xfrm>
            <a:prstGeom prst="accentBorderCallout2">
              <a:avLst>
                <a:gd name="adj1" fmla="val 18750"/>
                <a:gd name="adj2" fmla="val -1639"/>
                <a:gd name="adj3" fmla="val 18750"/>
                <a:gd name="adj4" fmla="val -11102"/>
                <a:gd name="adj5" fmla="val 47134"/>
                <a:gd name="adj6" fmla="val -20903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800" b="1">
                  <a:solidFill>
                    <a:srgbClr val="CC3300"/>
                  </a:solidFill>
                </a:rPr>
                <a:t>结构紧凑、体积小、重量轻。</a:t>
              </a:r>
            </a:p>
          </p:txBody>
        </p:sp>
        <p:sp>
          <p:nvSpPr>
            <p:cNvPr id="50185" name="AutoShape 7"/>
            <p:cNvSpPr>
              <a:spLocks/>
            </p:cNvSpPr>
            <p:nvPr/>
          </p:nvSpPr>
          <p:spPr bwMode="auto">
            <a:xfrm>
              <a:off x="2400" y="1927"/>
              <a:ext cx="2832" cy="377"/>
            </a:xfrm>
            <a:prstGeom prst="accentBorderCallout2">
              <a:avLst>
                <a:gd name="adj1" fmla="val 19097"/>
                <a:gd name="adj2" fmla="val -1694"/>
                <a:gd name="adj3" fmla="val 19097"/>
                <a:gd name="adj4" fmla="val -12148"/>
                <a:gd name="adj5" fmla="val -25463"/>
                <a:gd name="adj6" fmla="val -22954"/>
              </a:avLst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800" b="1">
                  <a:solidFill>
                    <a:schemeClr val="bg1"/>
                  </a:solidFill>
                </a:rPr>
                <a:t>传热面积大，传热效率高。</a:t>
              </a:r>
            </a:p>
          </p:txBody>
        </p:sp>
      </p:grpSp>
      <p:sp>
        <p:nvSpPr>
          <p:cNvPr id="50179" name="Oval 9"/>
          <p:cNvSpPr>
            <a:spLocks noChangeArrowheads="1"/>
          </p:cNvSpPr>
          <p:nvPr/>
        </p:nvSpPr>
        <p:spPr bwMode="auto">
          <a:xfrm>
            <a:off x="539750" y="4279900"/>
            <a:ext cx="2203450" cy="7620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sz="3600" b="1"/>
              <a:t>缺点</a:t>
            </a:r>
          </a:p>
        </p:txBody>
      </p:sp>
      <p:sp>
        <p:nvSpPr>
          <p:cNvPr id="50180" name="AutoShape 10"/>
          <p:cNvSpPr>
            <a:spLocks/>
          </p:cNvSpPr>
          <p:nvPr/>
        </p:nvSpPr>
        <p:spPr bwMode="auto">
          <a:xfrm>
            <a:off x="3886200" y="3757613"/>
            <a:ext cx="5078413" cy="598487"/>
          </a:xfrm>
          <a:prstGeom prst="accentBorderCallout2">
            <a:avLst>
              <a:gd name="adj1" fmla="val 19097"/>
              <a:gd name="adj2" fmla="val -1500"/>
              <a:gd name="adj3" fmla="val 19097"/>
              <a:gd name="adj4" fmla="val -10565"/>
              <a:gd name="adj5" fmla="val 105833"/>
              <a:gd name="adj6" fmla="val -19912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800" b="1"/>
              <a:t>翅片间距小，易堵塞，流阻大。</a:t>
            </a:r>
          </a:p>
        </p:txBody>
      </p:sp>
      <p:sp>
        <p:nvSpPr>
          <p:cNvPr id="50181" name="AutoShape 11"/>
          <p:cNvSpPr>
            <a:spLocks/>
          </p:cNvSpPr>
          <p:nvPr/>
        </p:nvSpPr>
        <p:spPr bwMode="auto">
          <a:xfrm>
            <a:off x="3886200" y="4606925"/>
            <a:ext cx="3810000" cy="587375"/>
          </a:xfrm>
          <a:prstGeom prst="accentBorderCallout2">
            <a:avLst>
              <a:gd name="adj1" fmla="val 19458"/>
              <a:gd name="adj2" fmla="val -2000"/>
              <a:gd name="adj3" fmla="val 19458"/>
              <a:gd name="adj4" fmla="val -14333"/>
              <a:gd name="adj5" fmla="val 24866"/>
              <a:gd name="adj6" fmla="val -27083"/>
            </a:avLst>
          </a:prstGeom>
          <a:solidFill>
            <a:srgbClr val="FF00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800" b="1"/>
              <a:t>不可拆，清洗困难。</a:t>
            </a:r>
          </a:p>
        </p:txBody>
      </p:sp>
      <p:sp>
        <p:nvSpPr>
          <p:cNvPr id="50182" name="AutoShape 12"/>
          <p:cNvSpPr>
            <a:spLocks/>
          </p:cNvSpPr>
          <p:nvPr/>
        </p:nvSpPr>
        <p:spPr bwMode="auto">
          <a:xfrm>
            <a:off x="3886200" y="5499100"/>
            <a:ext cx="4038600" cy="522288"/>
          </a:xfrm>
          <a:prstGeom prst="accentBorderCallout2">
            <a:avLst>
              <a:gd name="adj1" fmla="val 21884"/>
              <a:gd name="adj2" fmla="val -1889"/>
              <a:gd name="adj3" fmla="val 21884"/>
              <a:gd name="adj4" fmla="val -14468"/>
              <a:gd name="adj5" fmla="val -119148"/>
              <a:gd name="adj6" fmla="val -27435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制造工艺复杂，成本高。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4"/>
          <p:cNvSpPr txBox="1">
            <a:spLocks noChangeArrowheads="1"/>
          </p:cNvSpPr>
          <p:nvPr/>
        </p:nvSpPr>
        <p:spPr bwMode="auto">
          <a:xfrm>
            <a:off x="468313" y="260350"/>
            <a:ext cx="6019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b="1"/>
              <a:t>(9)  </a:t>
            </a:r>
            <a:r>
              <a:rPr lang="zh-CN" altLang="en-US" sz="3200" b="1"/>
              <a:t>不连续交叉肋平板</a:t>
            </a:r>
            <a:r>
              <a:rPr lang="en-US" altLang="zh-CN" sz="3200" b="1"/>
              <a:t>(DCIR)</a:t>
            </a:r>
          </a:p>
        </p:txBody>
      </p:sp>
      <p:sp>
        <p:nvSpPr>
          <p:cNvPr id="51203" name="Rectangle 7"/>
          <p:cNvSpPr>
            <a:spLocks noChangeArrowheads="1"/>
          </p:cNvSpPr>
          <p:nvPr/>
        </p:nvSpPr>
        <p:spPr bwMode="auto">
          <a:xfrm>
            <a:off x="1835150" y="6356350"/>
            <a:ext cx="3627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zh-CN" b="1"/>
              <a:t>discrete cross inclined ribs</a:t>
            </a:r>
          </a:p>
        </p:txBody>
      </p:sp>
      <p:pic>
        <p:nvPicPr>
          <p:cNvPr id="51204" name="Picture 8" descr="三种不同纵向涡发生结构-2-缩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38" y="3721100"/>
            <a:ext cx="1743075" cy="207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5" name="Picture 9" descr="三种不同纵向涡发生结构-1-缩小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3338" y="3722688"/>
            <a:ext cx="1747837" cy="206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6" name="Picture 10" descr="三种不同纵向涡发生结构-3-缩小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3800" y="3644900"/>
            <a:ext cx="2736850" cy="215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7" name="Rectangle 11"/>
          <p:cNvSpPr>
            <a:spLocks noChangeArrowheads="1"/>
          </p:cNvSpPr>
          <p:nvPr/>
        </p:nvSpPr>
        <p:spPr bwMode="auto">
          <a:xfrm>
            <a:off x="755650" y="5870575"/>
            <a:ext cx="1047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kumimoji="0" lang="zh-CN" altLang="en-US" b="1">
                <a:latin typeface="Arial" charset="0"/>
              </a:rPr>
              <a:t>结构</a:t>
            </a:r>
            <a:r>
              <a:rPr kumimoji="0" lang="en-US" altLang="zh-CN" b="1">
                <a:latin typeface="Arial" charset="0"/>
              </a:rPr>
              <a:t>1 </a:t>
            </a:r>
          </a:p>
        </p:txBody>
      </p:sp>
      <p:sp>
        <p:nvSpPr>
          <p:cNvPr id="51208" name="Rectangle 12"/>
          <p:cNvSpPr>
            <a:spLocks noChangeArrowheads="1"/>
          </p:cNvSpPr>
          <p:nvPr/>
        </p:nvSpPr>
        <p:spPr bwMode="auto">
          <a:xfrm>
            <a:off x="2916238" y="5902325"/>
            <a:ext cx="1047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kumimoji="0" lang="zh-CN" altLang="en-US" b="1">
                <a:latin typeface="Arial" charset="0"/>
              </a:rPr>
              <a:t>结构</a:t>
            </a:r>
            <a:r>
              <a:rPr kumimoji="0" lang="en-US" altLang="zh-CN" b="1">
                <a:latin typeface="Arial" charset="0"/>
              </a:rPr>
              <a:t>2 </a:t>
            </a:r>
          </a:p>
        </p:txBody>
      </p:sp>
      <p:sp>
        <p:nvSpPr>
          <p:cNvPr id="51209" name="Rectangle 13"/>
          <p:cNvSpPr>
            <a:spLocks noChangeArrowheads="1"/>
          </p:cNvSpPr>
          <p:nvPr/>
        </p:nvSpPr>
        <p:spPr bwMode="auto">
          <a:xfrm>
            <a:off x="6046788" y="5902325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</a:pPr>
            <a:r>
              <a:rPr kumimoji="0" lang="zh-CN" altLang="en-US" b="1">
                <a:latin typeface="Arial" charset="0"/>
              </a:rPr>
              <a:t>结构</a:t>
            </a:r>
            <a:r>
              <a:rPr kumimoji="0" lang="en-US" altLang="zh-CN" b="1">
                <a:latin typeface="Arial" charset="0"/>
              </a:rPr>
              <a:t>3 </a:t>
            </a:r>
          </a:p>
        </p:txBody>
      </p:sp>
      <p:pic>
        <p:nvPicPr>
          <p:cNvPr id="51210" name="Picture 14" descr="E--SAVAGER-PATENT-平行平板-板式换热器结构图-板式换热器结构示意图-板片-缩小"/>
          <p:cNvPicPr>
            <a:picLocks noChangeAspect="1" noChangeArrowheads="1"/>
          </p:cNvPicPr>
          <p:nvPr/>
        </p:nvPicPr>
        <p:blipFill>
          <a:blip r:embed="rId5" cstate="print"/>
          <a:srcRect r="38000"/>
          <a:stretch>
            <a:fillRect/>
          </a:stretch>
        </p:blipFill>
        <p:spPr bwMode="auto">
          <a:xfrm>
            <a:off x="6659563" y="801688"/>
            <a:ext cx="2230437" cy="2843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11" name="Picture 16" descr="未标题-1 拷贝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500563" y="1020763"/>
            <a:ext cx="214312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12" name="Picture 17" descr="Plate heat exchanger-英文-缩小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79388" y="1412875"/>
            <a:ext cx="2795587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13" name="Picture 18" descr="http://www.heseco.com/WCRframehang.jpg"/>
          <p:cNvPicPr>
            <a:picLocks noChangeAspect="1" noChangeArrowheads="1"/>
          </p:cNvPicPr>
          <p:nvPr/>
        </p:nvPicPr>
        <p:blipFill>
          <a:blip r:embed="rId8" r:link="rId9" cstate="print"/>
          <a:srcRect r="4047" b="9091"/>
          <a:stretch>
            <a:fillRect/>
          </a:stretch>
        </p:blipFill>
        <p:spPr bwMode="auto">
          <a:xfrm>
            <a:off x="3059113" y="1446213"/>
            <a:ext cx="1136650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3" descr="PEC-缩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1652588"/>
            <a:ext cx="5410200" cy="406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7" name="Rectangle 4"/>
          <p:cNvSpPr>
            <a:spLocks noChangeArrowheads="1"/>
          </p:cNvSpPr>
          <p:nvPr/>
        </p:nvSpPr>
        <p:spPr bwMode="auto">
          <a:xfrm>
            <a:off x="669925" y="5943600"/>
            <a:ext cx="7820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r>
              <a:rPr kumimoji="0" lang="zh-CN" altLang="en-US" b="1">
                <a:latin typeface="Arial" charset="0"/>
              </a:rPr>
              <a:t>结构</a:t>
            </a:r>
            <a:r>
              <a:rPr kumimoji="0" lang="en-US" altLang="zh-CN" b="1">
                <a:latin typeface="Arial" charset="0"/>
              </a:rPr>
              <a:t>2 </a:t>
            </a:r>
            <a:r>
              <a:rPr kumimoji="0" lang="zh-CN" altLang="en-US" b="1">
                <a:latin typeface="Arial" charset="0"/>
              </a:rPr>
              <a:t>有较高的</a:t>
            </a:r>
            <a:r>
              <a:rPr kumimoji="0" lang="en-US" altLang="zh-CN" b="1">
                <a:latin typeface="Arial" charset="0"/>
              </a:rPr>
              <a:t>PEC</a:t>
            </a:r>
            <a:r>
              <a:rPr kumimoji="0" lang="zh-CN" altLang="en-US" b="1">
                <a:latin typeface="Arial" charset="0"/>
              </a:rPr>
              <a:t>，承压能力较强，适合于</a:t>
            </a:r>
            <a:r>
              <a:rPr kumimoji="0" lang="en-US" altLang="zh-CN" b="1">
                <a:latin typeface="Arial" charset="0"/>
              </a:rPr>
              <a:t>PHE</a:t>
            </a:r>
            <a:r>
              <a:rPr kumimoji="0" lang="zh-CN" altLang="en-US" b="1">
                <a:latin typeface="Arial" charset="0"/>
              </a:rPr>
              <a:t>应用。</a:t>
            </a:r>
          </a:p>
        </p:txBody>
      </p:sp>
      <p:pic>
        <p:nvPicPr>
          <p:cNvPr id="52228" name="Picture 5" descr="结构2-增高-缩小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025" y="2514600"/>
            <a:ext cx="200977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9" name="Rectangle 6"/>
          <p:cNvSpPr>
            <a:spLocks noChangeArrowheads="1"/>
          </p:cNvSpPr>
          <p:nvPr/>
        </p:nvSpPr>
        <p:spPr bwMode="auto">
          <a:xfrm>
            <a:off x="260350" y="5105400"/>
            <a:ext cx="2940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0" lang="zh-CN" altLang="en-US" b="1">
                <a:solidFill>
                  <a:srgbClr val="FF0000"/>
                </a:solidFill>
                <a:latin typeface="Arial" charset="0"/>
              </a:rPr>
              <a:t>不连续交叉肋</a:t>
            </a:r>
            <a:r>
              <a:rPr kumimoji="0" lang="zh-CN" altLang="en-US" b="1">
                <a:latin typeface="Arial" charset="0"/>
              </a:rPr>
              <a:t>结构</a:t>
            </a:r>
          </a:p>
        </p:txBody>
      </p:sp>
      <p:sp>
        <p:nvSpPr>
          <p:cNvPr id="52230" name="Rectangle 7"/>
          <p:cNvSpPr>
            <a:spLocks noChangeArrowheads="1"/>
          </p:cNvSpPr>
          <p:nvPr/>
        </p:nvSpPr>
        <p:spPr bwMode="auto">
          <a:xfrm>
            <a:off x="539750" y="692150"/>
            <a:ext cx="5110163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800" b="1"/>
              <a:t>三种结构的数值模拟性能比较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主涡-正面-缩小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06925" y="1628775"/>
            <a:ext cx="4537075" cy="182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1" name="Picture 3" descr="主涡-侧面-缩小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06925" y="3500438"/>
            <a:ext cx="45370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2" name="Picture 4" descr="前角涡-缩小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06925" y="4946650"/>
            <a:ext cx="4537075" cy="191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1250950" y="2103438"/>
            <a:ext cx="41402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1250950" y="2103438"/>
            <a:ext cx="41402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auto">
          <a:xfrm>
            <a:off x="6516688" y="5300663"/>
            <a:ext cx="1150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Re=500</a:t>
            </a:r>
          </a:p>
        </p:txBody>
      </p:sp>
      <p:pic>
        <p:nvPicPr>
          <p:cNvPr id="53256" name="Picture 8" descr="Flow structure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692150"/>
            <a:ext cx="4284663" cy="299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7235825" y="6021388"/>
            <a:ext cx="1403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数值模拟</a:t>
            </a:r>
          </a:p>
        </p:txBody>
      </p:sp>
      <p:sp>
        <p:nvSpPr>
          <p:cNvPr id="53258" name="Rectangle 10"/>
          <p:cNvSpPr>
            <a:spLocks noChangeArrowheads="1"/>
          </p:cNvSpPr>
          <p:nvPr/>
        </p:nvSpPr>
        <p:spPr bwMode="auto">
          <a:xfrm>
            <a:off x="539750" y="476250"/>
            <a:ext cx="260985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800" b="1"/>
              <a:t>数值模拟流场</a:t>
            </a:r>
          </a:p>
        </p:txBody>
      </p:sp>
      <p:pic>
        <p:nvPicPr>
          <p:cNvPr id="133131" name="Single-cross-contact-4mm-3.1L-back-cut-compressed.wmv">
            <a:hlinkClick r:id="" action="ppaction://media"/>
          </p:cNvPr>
          <p:cNvPicPr>
            <a:picLocks noGrp="1" noChangeAspect="1" noChangeArrowheads="1"/>
          </p:cNvPicPr>
          <p:nvPr>
            <p:ph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 cstate="print"/>
          <a:srcRect/>
          <a:stretch>
            <a:fillRect/>
          </a:stretch>
        </p:blipFill>
        <p:spPr>
          <a:xfrm>
            <a:off x="107950" y="3573463"/>
            <a:ext cx="4105275" cy="3284537"/>
          </a:xfrm>
        </p:spPr>
      </p:pic>
      <p:sp>
        <p:nvSpPr>
          <p:cNvPr id="53260" name="Rectangle 12"/>
          <p:cNvSpPr>
            <a:spLocks noChangeArrowheads="1"/>
          </p:cNvSpPr>
          <p:nvPr/>
        </p:nvSpPr>
        <p:spPr bwMode="auto">
          <a:xfrm>
            <a:off x="5508625" y="404813"/>
            <a:ext cx="260985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800" b="1"/>
              <a:t>流动显示实验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40" fill="hold"/>
                                        <p:tgtEl>
                                          <p:spTgt spid="1331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3313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3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31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31"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3" descr="Velocity field-缩小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638" y="2855913"/>
            <a:ext cx="4264025" cy="167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5" name="Picture 4" descr="Temperature field-缩小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" y="4381500"/>
            <a:ext cx="420687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6" name="Rectangle 5"/>
          <p:cNvSpPr>
            <a:spLocks noChangeArrowheads="1"/>
          </p:cNvSpPr>
          <p:nvPr/>
        </p:nvSpPr>
        <p:spPr bwMode="auto">
          <a:xfrm>
            <a:off x="1936750" y="6284913"/>
            <a:ext cx="5365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kumimoji="0" lang="zh-CN" altLang="el-GR" b="1">
                <a:latin typeface="Arial" charset="0"/>
              </a:rPr>
              <a:t>由于</a:t>
            </a:r>
            <a:r>
              <a:rPr kumimoji="0" lang="zh-CN" altLang="el-GR" b="1">
                <a:solidFill>
                  <a:srgbClr val="FF0000"/>
                </a:solidFill>
                <a:latin typeface="Arial" charset="0"/>
              </a:rPr>
              <a:t>纵向涡</a:t>
            </a:r>
            <a:r>
              <a:rPr kumimoji="0" lang="zh-CN" altLang="el-GR" b="1">
                <a:latin typeface="Arial" charset="0"/>
              </a:rPr>
              <a:t>的作用，通道间</a:t>
            </a:r>
            <a:r>
              <a:rPr kumimoji="0" lang="zh-CN" altLang="el-GR" b="1">
                <a:solidFill>
                  <a:srgbClr val="FF0000"/>
                </a:solidFill>
                <a:latin typeface="Arial" charset="0"/>
              </a:rPr>
              <a:t>温度</a:t>
            </a:r>
            <a:r>
              <a:rPr kumimoji="0" lang="zh-CN" altLang="el-GR" b="1">
                <a:latin typeface="Arial" charset="0"/>
              </a:rPr>
              <a:t>很</a:t>
            </a:r>
            <a:r>
              <a:rPr kumimoji="0" lang="zh-CN" altLang="el-GR" b="1">
                <a:solidFill>
                  <a:srgbClr val="FF0000"/>
                </a:solidFill>
                <a:latin typeface="Arial" charset="0"/>
              </a:rPr>
              <a:t>均匀</a:t>
            </a:r>
            <a:endParaRPr kumimoji="0" lang="zh-CN" altLang="en-US" b="1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54277" name="Rectangle 6"/>
          <p:cNvSpPr>
            <a:spLocks noChangeArrowheads="1"/>
          </p:cNvSpPr>
          <p:nvPr/>
        </p:nvSpPr>
        <p:spPr bwMode="auto">
          <a:xfrm>
            <a:off x="539750" y="476250"/>
            <a:ext cx="260985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800" b="1"/>
              <a:t>速度与温度场</a:t>
            </a:r>
          </a:p>
        </p:txBody>
      </p:sp>
      <p:pic>
        <p:nvPicPr>
          <p:cNvPr id="54278" name="Picture 7"/>
          <p:cNvPicPr>
            <a:picLocks noChangeAspect="1" noChangeArrowheads="1"/>
          </p:cNvPicPr>
          <p:nvPr/>
        </p:nvPicPr>
        <p:blipFill>
          <a:blip r:embed="rId6" cstate="print"/>
          <a:srcRect l="34064" t="27078" r="14940" b="33954"/>
          <a:stretch>
            <a:fillRect/>
          </a:stretch>
        </p:blipFill>
        <p:spPr bwMode="auto">
          <a:xfrm>
            <a:off x="323850" y="1412875"/>
            <a:ext cx="2514600" cy="133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9" name="Picture 8"/>
          <p:cNvPicPr>
            <a:picLocks noChangeAspect="1" noChangeArrowheads="1"/>
          </p:cNvPicPr>
          <p:nvPr/>
        </p:nvPicPr>
        <p:blipFill>
          <a:blip r:embed="rId7" cstate="print"/>
          <a:srcRect l="18768" t="25879" r="4594" b="36990"/>
          <a:stretch>
            <a:fillRect/>
          </a:stretch>
        </p:blipFill>
        <p:spPr bwMode="auto">
          <a:xfrm>
            <a:off x="4643438" y="2924175"/>
            <a:ext cx="3889375" cy="139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80" name="Picture 10"/>
          <p:cNvPicPr>
            <a:picLocks noChangeAspect="1" noChangeArrowheads="1"/>
          </p:cNvPicPr>
          <p:nvPr/>
        </p:nvPicPr>
        <p:blipFill>
          <a:blip r:embed="rId8" cstate="print"/>
          <a:srcRect l="1564" t="3375" r="85141" b="14487"/>
          <a:stretch>
            <a:fillRect/>
          </a:stretch>
        </p:blipFill>
        <p:spPr bwMode="auto">
          <a:xfrm>
            <a:off x="8637588" y="4221163"/>
            <a:ext cx="506412" cy="170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81" name="Picture 11"/>
          <p:cNvPicPr>
            <a:picLocks noChangeAspect="1" noChangeArrowheads="1"/>
          </p:cNvPicPr>
          <p:nvPr/>
        </p:nvPicPr>
        <p:blipFill>
          <a:blip r:embed="rId9" cstate="print"/>
          <a:srcRect l="17204" t="24754" r="684" b="34740"/>
          <a:stretch>
            <a:fillRect/>
          </a:stretch>
        </p:blipFill>
        <p:spPr bwMode="auto">
          <a:xfrm>
            <a:off x="4643438" y="4365625"/>
            <a:ext cx="3889375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4" name="DDIR short.avi">
            <a:hlinkClick r:id="" action="ppaction://media"/>
          </p:cNvPr>
          <p:cNvPicPr>
            <a:picLocks noChangeAspect="1" noChangeArrowheads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563938" y="0"/>
            <a:ext cx="5580062" cy="283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1157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57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57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724"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15724"/>
                </p:tgtEl>
              </p:cMediaNode>
            </p:vide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3" descr="Nu-缩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68488"/>
            <a:ext cx="4572000" cy="343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299" name="Rectangle 4"/>
          <p:cNvSpPr>
            <a:spLocks noChangeArrowheads="1"/>
          </p:cNvSpPr>
          <p:nvPr/>
        </p:nvSpPr>
        <p:spPr bwMode="auto">
          <a:xfrm>
            <a:off x="668338" y="5791200"/>
            <a:ext cx="797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kumimoji="0" lang="zh-CN" altLang="el-GR" b="1">
                <a:latin typeface="Arial" charset="0"/>
              </a:rPr>
              <a:t>与人字形板片相比，</a:t>
            </a:r>
            <a:r>
              <a:rPr kumimoji="0" lang="zh-CN" altLang="el-GR" b="1">
                <a:solidFill>
                  <a:srgbClr val="FF0000"/>
                </a:solidFill>
                <a:latin typeface="Arial" charset="0"/>
              </a:rPr>
              <a:t>换热</a:t>
            </a:r>
            <a:r>
              <a:rPr kumimoji="0" lang="zh-CN" altLang="el-GR" b="1">
                <a:latin typeface="Arial" charset="0"/>
              </a:rPr>
              <a:t>增加</a:t>
            </a:r>
            <a:r>
              <a:rPr kumimoji="0" lang="el-GR" altLang="zh-CN" b="1">
                <a:solidFill>
                  <a:srgbClr val="FF0000"/>
                </a:solidFill>
                <a:latin typeface="Arial" charset="0"/>
              </a:rPr>
              <a:t>60</a:t>
            </a:r>
            <a:r>
              <a:rPr kumimoji="0" lang="en-US" altLang="zh-CN" b="1">
                <a:solidFill>
                  <a:srgbClr val="FF0000"/>
                </a:solidFill>
                <a:latin typeface="Arial" charset="0"/>
              </a:rPr>
              <a:t>-70%</a:t>
            </a:r>
            <a:r>
              <a:rPr kumimoji="0" lang="zh-CN" altLang="en-US" b="1">
                <a:latin typeface="Arial" charset="0"/>
              </a:rPr>
              <a:t>，</a:t>
            </a:r>
            <a:r>
              <a:rPr kumimoji="0" lang="zh-CN" altLang="en-US" b="1">
                <a:solidFill>
                  <a:srgbClr val="FF0000"/>
                </a:solidFill>
                <a:latin typeface="Arial" charset="0"/>
              </a:rPr>
              <a:t>阻力</a:t>
            </a:r>
            <a:r>
              <a:rPr kumimoji="0" lang="zh-CN" altLang="en-US" b="1">
                <a:latin typeface="Arial" charset="0"/>
              </a:rPr>
              <a:t>增加</a:t>
            </a:r>
            <a:r>
              <a:rPr kumimoji="0" lang="en-US" altLang="zh-CN" b="1">
                <a:solidFill>
                  <a:srgbClr val="FF0000"/>
                </a:solidFill>
                <a:latin typeface="Arial" charset="0"/>
              </a:rPr>
              <a:t>90-100%</a:t>
            </a:r>
            <a:endParaRPr kumimoji="0" lang="en-US" altLang="zh-CN" b="1">
              <a:latin typeface="Arial" charset="0"/>
            </a:endParaRPr>
          </a:p>
        </p:txBody>
      </p:sp>
      <p:pic>
        <p:nvPicPr>
          <p:cNvPr id="55300" name="Picture 5" descr="f-缩小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905000"/>
            <a:ext cx="4572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1" name="Rectangle 6"/>
          <p:cNvSpPr>
            <a:spLocks noChangeArrowheads="1"/>
          </p:cNvSpPr>
          <p:nvPr/>
        </p:nvSpPr>
        <p:spPr bwMode="auto">
          <a:xfrm>
            <a:off x="1258888" y="765175"/>
            <a:ext cx="4395787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800" b="1"/>
              <a:t>数值模拟换热和阻力性能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ChangeArrowheads="1"/>
          </p:cNvSpPr>
          <p:nvPr/>
        </p:nvSpPr>
        <p:spPr bwMode="auto">
          <a:xfrm>
            <a:off x="1604963" y="5943600"/>
            <a:ext cx="714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kumimoji="0" lang="zh-CN" altLang="el-GR" b="1">
                <a:latin typeface="Arial" charset="0"/>
              </a:rPr>
              <a:t>与人字形板片相比，</a:t>
            </a:r>
            <a:r>
              <a:rPr kumimoji="0" lang="zh-CN" altLang="el-GR" b="1">
                <a:solidFill>
                  <a:srgbClr val="FF0000"/>
                </a:solidFill>
                <a:latin typeface="Arial" charset="0"/>
              </a:rPr>
              <a:t>同功耗</a:t>
            </a:r>
            <a:r>
              <a:rPr kumimoji="0" lang="zh-CN" altLang="el-GR" b="1">
                <a:latin typeface="Arial" charset="0"/>
              </a:rPr>
              <a:t>强化换热</a:t>
            </a:r>
            <a:r>
              <a:rPr kumimoji="0" lang="el-GR" altLang="zh-CN" b="1">
                <a:solidFill>
                  <a:srgbClr val="FF0000"/>
                </a:solidFill>
                <a:latin typeface="Arial" charset="0"/>
              </a:rPr>
              <a:t>25</a:t>
            </a:r>
            <a:r>
              <a:rPr kumimoji="0" lang="en-US" altLang="zh-CN" b="1">
                <a:solidFill>
                  <a:srgbClr val="FF0000"/>
                </a:solidFill>
                <a:latin typeface="Arial" charset="0"/>
              </a:rPr>
              <a:t>-</a:t>
            </a:r>
            <a:r>
              <a:rPr kumimoji="0" lang="el-GR" altLang="zh-CN" b="1">
                <a:solidFill>
                  <a:srgbClr val="FF0000"/>
                </a:solidFill>
                <a:latin typeface="Arial" charset="0"/>
              </a:rPr>
              <a:t>30</a:t>
            </a:r>
            <a:r>
              <a:rPr kumimoji="0" lang="en-US" altLang="zh-CN" b="1">
                <a:solidFill>
                  <a:srgbClr val="FF0000"/>
                </a:solidFill>
                <a:latin typeface="Arial" charset="0"/>
              </a:rPr>
              <a:t>%</a:t>
            </a:r>
          </a:p>
        </p:txBody>
      </p:sp>
      <p:grpSp>
        <p:nvGrpSpPr>
          <p:cNvPr id="56323" name="Group 4"/>
          <p:cNvGrpSpPr>
            <a:grpSpLocks/>
          </p:cNvGrpSpPr>
          <p:nvPr/>
        </p:nvGrpSpPr>
        <p:grpSpPr bwMode="auto">
          <a:xfrm>
            <a:off x="1752600" y="1828800"/>
            <a:ext cx="5410200" cy="4078288"/>
            <a:chOff x="1104" y="887"/>
            <a:chExt cx="3408" cy="2569"/>
          </a:xfrm>
        </p:grpSpPr>
        <p:pic>
          <p:nvPicPr>
            <p:cNvPr id="56325" name="Picture 5" descr="PEC-缩小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04" y="887"/>
              <a:ext cx="3408" cy="25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326" name="Text Box 6"/>
            <p:cNvSpPr txBox="1">
              <a:spLocks noChangeArrowheads="1"/>
            </p:cNvSpPr>
            <p:nvPr/>
          </p:nvSpPr>
          <p:spPr bwMode="auto">
            <a:xfrm rot="10800000">
              <a:off x="1218" y="1680"/>
              <a:ext cx="270" cy="9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eaVert">
              <a:spAutoFit/>
            </a:bodyPr>
            <a:lstStyle/>
            <a:p>
              <a:pPr algn="ctr"/>
              <a:r>
                <a:rPr kumimoji="0" lang="en-US" altLang="zh-CN" sz="1600">
                  <a:latin typeface="Arial" charset="0"/>
                </a:rPr>
                <a:t>PEC</a:t>
              </a:r>
            </a:p>
          </p:txBody>
        </p:sp>
      </p:grpSp>
      <p:sp>
        <p:nvSpPr>
          <p:cNvPr id="56324" name="Rectangle 7"/>
          <p:cNvSpPr>
            <a:spLocks noChangeArrowheads="1"/>
          </p:cNvSpPr>
          <p:nvPr/>
        </p:nvSpPr>
        <p:spPr bwMode="auto">
          <a:xfrm>
            <a:off x="1116013" y="981075"/>
            <a:ext cx="5110162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800" b="1"/>
              <a:t>数值模拟同功耗强化换热性能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3" descr="e-PEC-缩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089150"/>
            <a:ext cx="5334000" cy="400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6934200" y="2667000"/>
            <a:ext cx="19812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CN" sz="2000"/>
              <a:t>e/(H/2)=1</a:t>
            </a:r>
            <a:r>
              <a:rPr kumimoji="0" lang="zh-CN" altLang="en-US" sz="2000"/>
              <a:t>时上下肋接触，承压能力较强</a:t>
            </a:r>
          </a:p>
        </p:txBody>
      </p:sp>
      <p:pic>
        <p:nvPicPr>
          <p:cNvPr id="57348" name="Picture 5" descr="Structure and dimensions-with boundary condi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990600"/>
            <a:ext cx="19050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9" name="Rectangle 6"/>
          <p:cNvSpPr>
            <a:spLocks noChangeArrowheads="1"/>
          </p:cNvSpPr>
          <p:nvPr/>
        </p:nvSpPr>
        <p:spPr bwMode="auto">
          <a:xfrm>
            <a:off x="1589088" y="6096000"/>
            <a:ext cx="6118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kumimoji="0" lang="en-US" altLang="zh-CN" b="1">
                <a:latin typeface="Arial" charset="0"/>
              </a:rPr>
              <a:t>0.75</a:t>
            </a:r>
            <a:r>
              <a:rPr kumimoji="0" lang="zh-CN" altLang="en-US" b="1">
                <a:latin typeface="Arial" charset="0"/>
              </a:rPr>
              <a:t>时</a:t>
            </a:r>
            <a:r>
              <a:rPr kumimoji="0" lang="en-US" altLang="zh-CN" b="1">
                <a:latin typeface="Arial" charset="0"/>
              </a:rPr>
              <a:t>PEC</a:t>
            </a:r>
            <a:r>
              <a:rPr kumimoji="0" lang="zh-CN" altLang="en-US" b="1">
                <a:latin typeface="Arial" charset="0"/>
              </a:rPr>
              <a:t>最大，</a:t>
            </a:r>
            <a:r>
              <a:rPr kumimoji="0" lang="en-US" altLang="zh-CN" b="1">
                <a:solidFill>
                  <a:srgbClr val="FF0000"/>
                </a:solidFill>
                <a:latin typeface="Arial" charset="0"/>
              </a:rPr>
              <a:t>1.0</a:t>
            </a:r>
            <a:r>
              <a:rPr kumimoji="0" lang="zh-CN" altLang="en-US" b="1">
                <a:latin typeface="Arial" charset="0"/>
              </a:rPr>
              <a:t>时相当但</a:t>
            </a:r>
            <a:r>
              <a:rPr kumimoji="0" lang="zh-CN" altLang="en-US" b="1">
                <a:solidFill>
                  <a:srgbClr val="FF0000"/>
                </a:solidFill>
                <a:latin typeface="Arial" charset="0"/>
              </a:rPr>
              <a:t>承压能力</a:t>
            </a:r>
            <a:r>
              <a:rPr kumimoji="0" lang="zh-CN" altLang="en-US" b="1">
                <a:latin typeface="Arial" charset="0"/>
              </a:rPr>
              <a:t>很好</a:t>
            </a:r>
          </a:p>
        </p:txBody>
      </p:sp>
      <p:sp>
        <p:nvSpPr>
          <p:cNvPr id="57350" name="Rectangle 7"/>
          <p:cNvSpPr>
            <a:spLocks noChangeArrowheads="1"/>
          </p:cNvSpPr>
          <p:nvPr/>
        </p:nvSpPr>
        <p:spPr bwMode="auto">
          <a:xfrm>
            <a:off x="611188" y="549275"/>
            <a:ext cx="41275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800" b="1"/>
              <a:t>几何参数对性能的影响 </a:t>
            </a:r>
          </a:p>
        </p:txBody>
      </p:sp>
      <p:sp>
        <p:nvSpPr>
          <p:cNvPr id="57351" name="Rectangle 8"/>
          <p:cNvSpPr>
            <a:spLocks noChangeArrowheads="1"/>
          </p:cNvSpPr>
          <p:nvPr/>
        </p:nvSpPr>
        <p:spPr bwMode="auto">
          <a:xfrm>
            <a:off x="971550" y="1341438"/>
            <a:ext cx="1649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vl="1">
              <a:buFont typeface="Wingdings" pitchFamily="2" charset="2"/>
              <a:buChar char="ü"/>
            </a:pPr>
            <a:r>
              <a:rPr lang="zh-CN" altLang="en-US" b="1"/>
              <a:t>肋高影响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3" descr="s-PEC-缩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01788"/>
            <a:ext cx="4572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1" name="Text Box 4"/>
          <p:cNvSpPr txBox="1">
            <a:spLocks noChangeArrowheads="1"/>
          </p:cNvSpPr>
          <p:nvPr/>
        </p:nvSpPr>
        <p:spPr bwMode="auto">
          <a:xfrm>
            <a:off x="1692275" y="3213100"/>
            <a:ext cx="1828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CN" sz="2000"/>
              <a:t>s/(H/2)=8.5 </a:t>
            </a:r>
            <a:r>
              <a:rPr kumimoji="0" lang="zh-CN" altLang="en-US" sz="2000"/>
              <a:t>对应连续肋情况</a:t>
            </a:r>
          </a:p>
        </p:txBody>
      </p:sp>
      <p:sp>
        <p:nvSpPr>
          <p:cNvPr id="58372" name="Rectangle 5"/>
          <p:cNvSpPr>
            <a:spLocks noChangeArrowheads="1"/>
          </p:cNvSpPr>
          <p:nvPr/>
        </p:nvSpPr>
        <p:spPr bwMode="auto">
          <a:xfrm>
            <a:off x="468313" y="6021388"/>
            <a:ext cx="37385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b="1"/>
              <a:t>肋长为</a:t>
            </a:r>
            <a:r>
              <a:rPr kumimoji="0" lang="en-US" altLang="zh-CN" b="1">
                <a:solidFill>
                  <a:srgbClr val="FF0000"/>
                </a:solidFill>
                <a:latin typeface="Arial" charset="0"/>
              </a:rPr>
              <a:t>6</a:t>
            </a:r>
            <a:r>
              <a:rPr kumimoji="0" lang="zh-CN" altLang="en-US" b="1">
                <a:latin typeface="Arial" charset="0"/>
              </a:rPr>
              <a:t>倍肋高时</a:t>
            </a:r>
            <a:r>
              <a:rPr kumimoji="0" lang="en-US" altLang="zh-CN" b="1">
                <a:latin typeface="Arial" charset="0"/>
              </a:rPr>
              <a:t>PEC</a:t>
            </a:r>
            <a:r>
              <a:rPr kumimoji="0" lang="zh-CN" altLang="en-US" b="1">
                <a:latin typeface="Arial" charset="0"/>
              </a:rPr>
              <a:t>较大</a:t>
            </a:r>
          </a:p>
        </p:txBody>
      </p:sp>
      <p:sp>
        <p:nvSpPr>
          <p:cNvPr id="58373" name="Rectangle 6"/>
          <p:cNvSpPr>
            <a:spLocks noChangeArrowheads="1"/>
          </p:cNvSpPr>
          <p:nvPr/>
        </p:nvSpPr>
        <p:spPr bwMode="auto">
          <a:xfrm>
            <a:off x="900113" y="692150"/>
            <a:ext cx="1649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vl="1">
              <a:buFont typeface="Wingdings" pitchFamily="2" charset="2"/>
              <a:buChar char="ü"/>
            </a:pPr>
            <a:r>
              <a:rPr lang="zh-CN" altLang="en-US" b="1"/>
              <a:t>肋长影响</a:t>
            </a:r>
          </a:p>
        </p:txBody>
      </p:sp>
      <p:pic>
        <p:nvPicPr>
          <p:cNvPr id="58374" name="Picture 8" descr="w-PEC-缩小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557338"/>
            <a:ext cx="45720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5" name="Rectangle 9"/>
          <p:cNvSpPr>
            <a:spLocks noChangeArrowheads="1"/>
          </p:cNvSpPr>
          <p:nvPr/>
        </p:nvSpPr>
        <p:spPr bwMode="auto">
          <a:xfrm>
            <a:off x="5292725" y="692150"/>
            <a:ext cx="16494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b="1"/>
              <a:t>肋宽影响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3" descr="实验系统示意图-改进-加粗-cu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1700213"/>
            <a:ext cx="8001000" cy="378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5" name="Rectangle 4"/>
          <p:cNvSpPr>
            <a:spLocks noChangeArrowheads="1"/>
          </p:cNvSpPr>
          <p:nvPr/>
        </p:nvSpPr>
        <p:spPr bwMode="auto">
          <a:xfrm>
            <a:off x="611188" y="620713"/>
            <a:ext cx="3324225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800" b="1"/>
              <a:t>换热及阻力的实验</a:t>
            </a:r>
          </a:p>
        </p:txBody>
      </p:sp>
      <p:sp>
        <p:nvSpPr>
          <p:cNvPr id="59396" name="Rectangle 5"/>
          <p:cNvSpPr>
            <a:spLocks noChangeArrowheads="1"/>
          </p:cNvSpPr>
          <p:nvPr/>
        </p:nvSpPr>
        <p:spPr bwMode="auto">
          <a:xfrm>
            <a:off x="3708400" y="5949950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/>
              <a:t>实验系统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3" descr="DCIR-single plate-cu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363663"/>
            <a:ext cx="4191000" cy="220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19" name="Picture 4" descr="DCIR-double plate-cu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550" y="3563938"/>
            <a:ext cx="4210050" cy="221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0" name="Rectangle 5"/>
          <p:cNvSpPr>
            <a:spLocks noChangeArrowheads="1"/>
          </p:cNvSpPr>
          <p:nvPr/>
        </p:nvSpPr>
        <p:spPr bwMode="auto">
          <a:xfrm>
            <a:off x="1060450" y="5805488"/>
            <a:ext cx="2635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0"/>
              </a:spcBef>
            </a:pPr>
            <a:r>
              <a:rPr kumimoji="0" lang="zh-CN" altLang="en-US" b="1">
                <a:cs typeface="Times New Roman" pitchFamily="18" charset="0"/>
              </a:rPr>
              <a:t>不连续交叉肋板片</a:t>
            </a:r>
            <a:endParaRPr kumimoji="0" lang="zh-CN" altLang="en-US" b="1">
              <a:latin typeface="Arial" charset="0"/>
            </a:endParaRPr>
          </a:p>
        </p:txBody>
      </p:sp>
      <p:pic>
        <p:nvPicPr>
          <p:cNvPr id="60421" name="Picture 6" descr="Continuous ribs-single plate-cu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81525" y="1162050"/>
            <a:ext cx="4562475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2" name="Picture 7" descr="Continuous ribs-double plate-cut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19650" y="3565525"/>
            <a:ext cx="4095750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Rectangle 8"/>
          <p:cNvSpPr>
            <a:spLocks noChangeArrowheads="1"/>
          </p:cNvSpPr>
          <p:nvPr/>
        </p:nvSpPr>
        <p:spPr bwMode="auto">
          <a:xfrm>
            <a:off x="0" y="5762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4" name="Rectangle 9"/>
          <p:cNvSpPr>
            <a:spLocks noChangeArrowheads="1"/>
          </p:cNvSpPr>
          <p:nvPr/>
        </p:nvSpPr>
        <p:spPr bwMode="auto">
          <a:xfrm>
            <a:off x="5221288" y="5791200"/>
            <a:ext cx="23288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0"/>
              </a:spcBef>
            </a:pPr>
            <a:r>
              <a:rPr kumimoji="0" lang="zh-CN" altLang="en-US" b="1">
                <a:cs typeface="Times New Roman" pitchFamily="18" charset="0"/>
              </a:rPr>
              <a:t>连续交叉肋板片</a:t>
            </a:r>
            <a:endParaRPr kumimoji="0" lang="zh-CN" altLang="en-US" b="1">
              <a:latin typeface="Arial" charset="0"/>
            </a:endParaRPr>
          </a:p>
        </p:txBody>
      </p:sp>
      <p:sp>
        <p:nvSpPr>
          <p:cNvPr id="60425" name="Text Box 10"/>
          <p:cNvSpPr txBox="1">
            <a:spLocks noChangeArrowheads="1"/>
          </p:cNvSpPr>
          <p:nvPr/>
        </p:nvSpPr>
        <p:spPr bwMode="auto">
          <a:xfrm>
            <a:off x="1676400" y="6345238"/>
            <a:ext cx="5638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zh-CN" altLang="en-US" sz="2000" b="1"/>
              <a:t>对通道的阻塞比例相同，模拟波纹板片</a:t>
            </a:r>
          </a:p>
        </p:txBody>
      </p:sp>
      <p:sp>
        <p:nvSpPr>
          <p:cNvPr id="60426" name="Rectangle 11"/>
          <p:cNvSpPr>
            <a:spLocks noChangeArrowheads="1"/>
          </p:cNvSpPr>
          <p:nvPr/>
        </p:nvSpPr>
        <p:spPr bwMode="auto">
          <a:xfrm>
            <a:off x="971550" y="692150"/>
            <a:ext cx="304165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2800" b="1"/>
              <a:t>实验段结构示意图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3" descr="Smooth+DCIR+CIR+error-cu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113" y="1844675"/>
            <a:ext cx="3097212" cy="343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3" name="Picture 4" descr="Exps+Equaions+error-cu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828800"/>
            <a:ext cx="3059113" cy="343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4" name="Text Box 5"/>
          <p:cNvSpPr txBox="1">
            <a:spLocks noChangeArrowheads="1"/>
          </p:cNvSpPr>
          <p:nvPr/>
        </p:nvSpPr>
        <p:spPr bwMode="auto">
          <a:xfrm>
            <a:off x="900113" y="5445125"/>
            <a:ext cx="7772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/>
              <a:t>与连续交叉类相比，</a:t>
            </a:r>
            <a:r>
              <a:rPr kumimoji="0" lang="zh-CN" altLang="en-US" b="1">
                <a:solidFill>
                  <a:srgbClr val="FF0000"/>
                </a:solidFill>
              </a:rPr>
              <a:t>换热</a:t>
            </a:r>
            <a:r>
              <a:rPr kumimoji="0" lang="zh-CN" altLang="en-US" b="1"/>
              <a:t>大</a:t>
            </a:r>
            <a:r>
              <a:rPr kumimoji="0" lang="en-US" altLang="zh-CN" b="1">
                <a:solidFill>
                  <a:srgbClr val="FF0000"/>
                </a:solidFill>
              </a:rPr>
              <a:t>5-10%</a:t>
            </a:r>
            <a:r>
              <a:rPr kumimoji="0" lang="zh-CN" altLang="en-US" b="1"/>
              <a:t>，</a:t>
            </a:r>
            <a:r>
              <a:rPr kumimoji="0" lang="zh-CN" altLang="en-US" b="1">
                <a:solidFill>
                  <a:srgbClr val="FF0000"/>
                </a:solidFill>
              </a:rPr>
              <a:t>阻力</a:t>
            </a:r>
            <a:r>
              <a:rPr kumimoji="0" lang="zh-CN" altLang="en-US" b="1"/>
              <a:t>减小</a:t>
            </a:r>
            <a:r>
              <a:rPr kumimoji="0" lang="en-US" altLang="zh-CN" b="1">
                <a:solidFill>
                  <a:srgbClr val="FF0000"/>
                </a:solidFill>
              </a:rPr>
              <a:t>30-40%</a:t>
            </a:r>
            <a:r>
              <a:rPr kumimoji="0" lang="zh-CN" altLang="en-US" b="1">
                <a:solidFill>
                  <a:srgbClr val="FF0000"/>
                </a:solidFill>
              </a:rPr>
              <a:t>，同功耗</a:t>
            </a:r>
            <a:r>
              <a:rPr kumimoji="0" lang="zh-CN" altLang="en-US" b="1"/>
              <a:t>强化换热</a:t>
            </a:r>
            <a:r>
              <a:rPr kumimoji="0" lang="en-US" altLang="zh-CN" b="1">
                <a:solidFill>
                  <a:srgbClr val="FF0000"/>
                </a:solidFill>
              </a:rPr>
              <a:t>20-25%</a:t>
            </a:r>
            <a:r>
              <a:rPr kumimoji="0" lang="zh-CN" altLang="en-US" b="1"/>
              <a:t>。</a:t>
            </a:r>
            <a:endParaRPr kumimoji="0" lang="zh-CN" altLang="en-US" b="1">
              <a:solidFill>
                <a:srgbClr val="FF0000"/>
              </a:solidFill>
            </a:endParaRPr>
          </a:p>
        </p:txBody>
      </p:sp>
      <p:sp>
        <p:nvSpPr>
          <p:cNvPr id="61445" name="Rectangle 6"/>
          <p:cNvSpPr>
            <a:spLocks noChangeArrowheads="1"/>
          </p:cNvSpPr>
          <p:nvPr/>
        </p:nvSpPr>
        <p:spPr bwMode="auto">
          <a:xfrm>
            <a:off x="900113" y="928688"/>
            <a:ext cx="161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2800" b="1"/>
              <a:t>实验结果</a:t>
            </a:r>
          </a:p>
        </p:txBody>
      </p:sp>
      <p:pic>
        <p:nvPicPr>
          <p:cNvPr id="61446" name="Picture 7" descr="PEC-cu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84888" y="1844675"/>
            <a:ext cx="3059112" cy="336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575" y="188913"/>
            <a:ext cx="2946400" cy="3978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00563" y="1557338"/>
            <a:ext cx="2786062" cy="39084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2468" name="Picture 4" descr="D:\!哈雷板换\new板换2010-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914900"/>
            <a:ext cx="338455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9" name="图片 4" descr="照片 944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1268413"/>
            <a:ext cx="2843213" cy="352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64288" y="2900363"/>
            <a:ext cx="2779712" cy="39576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323850" y="404813"/>
            <a:ext cx="5416550" cy="4619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/>
              <a:t>为某公司开发的新产品超国外同类产品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4"/>
          <p:cNvSpPr>
            <a:spLocks noChangeArrowheads="1"/>
          </p:cNvSpPr>
          <p:nvPr/>
        </p:nvSpPr>
        <p:spPr bwMode="auto">
          <a:xfrm>
            <a:off x="1042988" y="765175"/>
            <a:ext cx="47498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800" b="1"/>
              <a:t>不连续交叉肋平板</a:t>
            </a:r>
            <a:r>
              <a:rPr lang="en-US" altLang="zh-CN" sz="2800" b="1"/>
              <a:t>——</a:t>
            </a:r>
            <a:r>
              <a:rPr lang="zh-CN" altLang="en-US" sz="2800" b="1"/>
              <a:t>小结</a:t>
            </a:r>
          </a:p>
        </p:txBody>
      </p:sp>
      <p:sp>
        <p:nvSpPr>
          <p:cNvPr id="63491" name="Rectangle 5"/>
          <p:cNvSpPr>
            <a:spLocks noChangeArrowheads="1"/>
          </p:cNvSpPr>
          <p:nvPr/>
        </p:nvSpPr>
        <p:spPr bwMode="auto">
          <a:xfrm>
            <a:off x="755650" y="1700213"/>
            <a:ext cx="7777163" cy="436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2800" b="1"/>
              <a:t>数值分析和流动显示实验表明，</a:t>
            </a:r>
            <a:r>
              <a:rPr lang="zh-CN" altLang="en-US" sz="2800" b="1">
                <a:solidFill>
                  <a:srgbClr val="FF0000"/>
                </a:solidFill>
              </a:rPr>
              <a:t>不连续交叉肋板片</a:t>
            </a:r>
            <a:r>
              <a:rPr lang="zh-CN" altLang="en-US" sz="2800" b="1"/>
              <a:t>间产生了包括</a:t>
            </a:r>
            <a:r>
              <a:rPr lang="zh-CN" altLang="en-US" sz="2800" b="1">
                <a:solidFill>
                  <a:srgbClr val="FF0000"/>
                </a:solidFill>
              </a:rPr>
              <a:t>前纵向涡</a:t>
            </a:r>
            <a:r>
              <a:rPr lang="zh-CN" altLang="en-US" sz="2800" b="1"/>
              <a:t>、</a:t>
            </a:r>
            <a:r>
              <a:rPr lang="zh-CN" altLang="en-US" sz="2800" b="1">
                <a:solidFill>
                  <a:srgbClr val="FF0000"/>
                </a:solidFill>
              </a:rPr>
              <a:t>后纵向涡</a:t>
            </a:r>
            <a:r>
              <a:rPr lang="zh-CN" altLang="en-US" sz="2800" b="1"/>
              <a:t>、</a:t>
            </a:r>
            <a:r>
              <a:rPr lang="zh-CN" altLang="en-US" sz="2800" b="1">
                <a:solidFill>
                  <a:srgbClr val="FF0000"/>
                </a:solidFill>
              </a:rPr>
              <a:t>主纵向涡</a:t>
            </a:r>
            <a:r>
              <a:rPr lang="zh-CN" altLang="en-US" sz="2800" b="1"/>
              <a:t>等多纵向涡流动结构。</a:t>
            </a:r>
          </a:p>
          <a:p>
            <a:pPr>
              <a:buFont typeface="Wingdings" pitchFamily="2" charset="2"/>
              <a:buChar char="ü"/>
            </a:pPr>
            <a:r>
              <a:rPr lang="zh-CN" altLang="en-US" sz="2800" b="1">
                <a:solidFill>
                  <a:srgbClr val="FF0000"/>
                </a:solidFill>
              </a:rPr>
              <a:t>不连续交叉肋板片</a:t>
            </a:r>
            <a:r>
              <a:rPr lang="zh-CN" altLang="en-US" sz="2800" b="1"/>
              <a:t>可以比人字形板片</a:t>
            </a:r>
            <a:r>
              <a:rPr lang="zh-CN" altLang="en-US" sz="2800" b="1">
                <a:solidFill>
                  <a:srgbClr val="FF0000"/>
                </a:solidFill>
              </a:rPr>
              <a:t>同功耗</a:t>
            </a:r>
            <a:r>
              <a:rPr lang="zh-CN" altLang="en-US" sz="2800" b="1"/>
              <a:t>强化换热</a:t>
            </a:r>
            <a:r>
              <a:rPr lang="en-US" altLang="zh-CN" sz="2800" b="1">
                <a:solidFill>
                  <a:srgbClr val="FF0000"/>
                </a:solidFill>
              </a:rPr>
              <a:t>25-30%</a:t>
            </a:r>
            <a:r>
              <a:rPr lang="zh-CN" altLang="en-US" sz="2800" b="1"/>
              <a:t>。</a:t>
            </a:r>
          </a:p>
          <a:p>
            <a:pPr>
              <a:buFont typeface="Wingdings" pitchFamily="2" charset="2"/>
              <a:buChar char="ü"/>
            </a:pPr>
            <a:r>
              <a:rPr lang="zh-CN" altLang="en-US" sz="2800" b="1"/>
              <a:t>数值模拟表明</a:t>
            </a:r>
            <a:r>
              <a:rPr lang="zh-CN" altLang="en-US" sz="2800" b="1">
                <a:solidFill>
                  <a:srgbClr val="FF0000"/>
                </a:solidFill>
              </a:rPr>
              <a:t>肋参数</a:t>
            </a:r>
            <a:r>
              <a:rPr lang="zh-CN" altLang="en-US" sz="2800" b="1"/>
              <a:t>对其阻力和换热有较大影响。合理的肋参数为：无量纲肋高</a:t>
            </a:r>
            <a:r>
              <a:rPr lang="en-US" altLang="zh-CN" sz="2800" b="1"/>
              <a:t>e/</a:t>
            </a:r>
            <a:r>
              <a:rPr lang="zh-CN" altLang="en-US" sz="2800" b="1"/>
              <a:t>（</a:t>
            </a:r>
            <a:r>
              <a:rPr lang="en-US" altLang="zh-CN" sz="2800" b="1"/>
              <a:t>H/2</a:t>
            </a:r>
            <a:r>
              <a:rPr lang="zh-CN" altLang="en-US" sz="2800" b="1"/>
              <a:t>）</a:t>
            </a:r>
            <a:r>
              <a:rPr lang="en-US" altLang="zh-CN" sz="2800" b="1"/>
              <a:t>=1</a:t>
            </a:r>
            <a:r>
              <a:rPr lang="zh-CN" altLang="en-US" sz="2800" b="1"/>
              <a:t>，无量纲肋长</a:t>
            </a:r>
            <a:r>
              <a:rPr lang="en-US" altLang="zh-CN" sz="2800" b="1"/>
              <a:t>s/</a:t>
            </a:r>
            <a:r>
              <a:rPr lang="zh-CN" altLang="en-US" sz="2800" b="1"/>
              <a:t>（</a:t>
            </a:r>
            <a:r>
              <a:rPr lang="en-US" altLang="zh-CN" sz="2800" b="1"/>
              <a:t>H/2</a:t>
            </a:r>
            <a:r>
              <a:rPr lang="zh-CN" altLang="en-US" sz="2800" b="1"/>
              <a:t>）</a:t>
            </a:r>
            <a:r>
              <a:rPr lang="en-US" altLang="zh-CN" sz="2800" b="1"/>
              <a:t>=6</a:t>
            </a:r>
            <a:r>
              <a:rPr lang="zh-CN" altLang="en-US" sz="2800" b="1"/>
              <a:t>，无量纲肋宽</a:t>
            </a:r>
            <a:r>
              <a:rPr lang="en-US" altLang="zh-CN" sz="2800" b="1"/>
              <a:t>w/</a:t>
            </a:r>
            <a:r>
              <a:rPr lang="zh-CN" altLang="en-US" sz="2800" b="1"/>
              <a:t>（</a:t>
            </a:r>
            <a:r>
              <a:rPr lang="en-US" altLang="zh-CN" sz="2800" b="1"/>
              <a:t>H/2</a:t>
            </a:r>
            <a:r>
              <a:rPr lang="zh-CN" altLang="en-US" sz="2800" b="1"/>
              <a:t>）</a:t>
            </a:r>
            <a:r>
              <a:rPr lang="en-US" altLang="zh-CN" sz="2800" b="1"/>
              <a:t>=1</a:t>
            </a:r>
            <a:r>
              <a:rPr lang="zh-CN" altLang="en-US" sz="2800" b="1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827088" y="2127250"/>
            <a:ext cx="4321175" cy="425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/>
              <a:t>管内插扭曲带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/>
              <a:t> </a:t>
            </a:r>
            <a:r>
              <a:rPr lang="en-US" altLang="zh-CN" b="1"/>
              <a:t>Kenics</a:t>
            </a:r>
            <a:r>
              <a:rPr lang="zh-CN" altLang="en-US" b="1"/>
              <a:t>静态混合器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/>
              <a:t>扭曲椭圆管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/>
              <a:t>内翅片管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/>
              <a:t>螺旋管／板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/>
              <a:t>弹性管束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/>
              <a:t>波纹板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/>
              <a:t>板翅式换热器</a:t>
            </a:r>
          </a:p>
          <a:p>
            <a:pPr>
              <a:spcBef>
                <a:spcPct val="30000"/>
              </a:spcBef>
              <a:buFont typeface="Wingdings" pitchFamily="2" charset="2"/>
              <a:buChar char="ü"/>
            </a:pPr>
            <a:r>
              <a:rPr lang="zh-CN" altLang="en-US" b="1"/>
              <a:t>不连续交叉肋平板</a:t>
            </a:r>
            <a:r>
              <a:rPr lang="en-US" altLang="zh-CN" b="1"/>
              <a:t>(DCIR)</a:t>
            </a: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900113" y="549275"/>
            <a:ext cx="65516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4000"/>
              <a:t>低</a:t>
            </a:r>
            <a:r>
              <a:rPr lang="en-US" altLang="zh-CN" sz="4000"/>
              <a:t>Re</a:t>
            </a:r>
            <a:r>
              <a:rPr lang="zh-CN" altLang="en-US" sz="4000"/>
              <a:t>换热强化</a:t>
            </a:r>
            <a:r>
              <a:rPr lang="en-US" altLang="zh-CN" sz="4000"/>
              <a:t>——</a:t>
            </a:r>
            <a:r>
              <a:rPr lang="zh-CN" altLang="en-US" sz="4000"/>
              <a:t>小节</a:t>
            </a:r>
            <a:endParaRPr lang="zh-CN" altLang="en-US" sz="4000" b="1"/>
          </a:p>
        </p:txBody>
      </p:sp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219700" y="2133600"/>
            <a:ext cx="288131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  <a:buFont typeface="Wingdings" pitchFamily="2" charset="2"/>
              <a:buChar char="ü"/>
            </a:pPr>
            <a:r>
              <a:rPr lang="zh-CN" altLang="en-US" b="1"/>
              <a:t>搅拌</a:t>
            </a:r>
            <a:r>
              <a:rPr lang="en-US" altLang="zh-CN" b="1"/>
              <a:t>/</a:t>
            </a:r>
            <a:r>
              <a:rPr lang="zh-CN" altLang="en-US" b="1"/>
              <a:t>混合</a:t>
            </a:r>
            <a:r>
              <a:rPr lang="en-US" altLang="zh-CN" b="1"/>
              <a:t>/</a:t>
            </a:r>
            <a:r>
              <a:rPr lang="zh-CN" altLang="en-US" b="1"/>
              <a:t>扰流</a:t>
            </a:r>
          </a:p>
          <a:p>
            <a:pPr>
              <a:spcBef>
                <a:spcPct val="25000"/>
              </a:spcBef>
              <a:buFont typeface="Wingdings" pitchFamily="2" charset="2"/>
              <a:buChar char="ü"/>
            </a:pPr>
            <a:r>
              <a:rPr lang="zh-CN" altLang="en-US" b="1"/>
              <a:t>扩展表面</a:t>
            </a:r>
          </a:p>
          <a:p>
            <a:pPr>
              <a:spcBef>
                <a:spcPct val="25000"/>
              </a:spcBef>
              <a:buFont typeface="Wingdings" pitchFamily="2" charset="2"/>
              <a:buChar char="ü"/>
            </a:pPr>
            <a:r>
              <a:rPr lang="zh-CN" altLang="en-US" b="1"/>
              <a:t>多纵向涡流</a:t>
            </a:r>
          </a:p>
        </p:txBody>
      </p:sp>
      <p:sp>
        <p:nvSpPr>
          <p:cNvPr id="135176" name="Rectangle 8"/>
          <p:cNvSpPr>
            <a:spLocks noChangeArrowheads="1"/>
          </p:cNvSpPr>
          <p:nvPr/>
        </p:nvSpPr>
        <p:spPr bwMode="auto">
          <a:xfrm>
            <a:off x="827088" y="1412875"/>
            <a:ext cx="1895475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800" b="1"/>
              <a:t>强化技术</a:t>
            </a:r>
          </a:p>
        </p:txBody>
      </p:sp>
      <p:sp>
        <p:nvSpPr>
          <p:cNvPr id="135177" name="Rectangle 9"/>
          <p:cNvSpPr>
            <a:spLocks noChangeArrowheads="1"/>
          </p:cNvSpPr>
          <p:nvPr/>
        </p:nvSpPr>
        <p:spPr bwMode="auto">
          <a:xfrm>
            <a:off x="5219700" y="1412875"/>
            <a:ext cx="1889125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800" b="1"/>
              <a:t>强化方法</a:t>
            </a:r>
          </a:p>
        </p:txBody>
      </p:sp>
      <p:sp>
        <p:nvSpPr>
          <p:cNvPr id="135178" name="AutoShape 10"/>
          <p:cNvSpPr>
            <a:spLocks noChangeArrowheads="1"/>
          </p:cNvSpPr>
          <p:nvPr/>
        </p:nvSpPr>
        <p:spPr bwMode="auto">
          <a:xfrm>
            <a:off x="6084888" y="3716338"/>
            <a:ext cx="792162" cy="865187"/>
          </a:xfrm>
          <a:prstGeom prst="downArrow">
            <a:avLst>
              <a:gd name="adj1" fmla="val 50000"/>
              <a:gd name="adj2" fmla="val 2730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5179" name="Text Box 11"/>
          <p:cNvSpPr txBox="1">
            <a:spLocks noChangeArrowheads="1"/>
          </p:cNvSpPr>
          <p:nvPr/>
        </p:nvSpPr>
        <p:spPr bwMode="auto">
          <a:xfrm>
            <a:off x="5940425" y="4652963"/>
            <a:ext cx="1103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二次流</a:t>
            </a:r>
          </a:p>
        </p:txBody>
      </p:sp>
      <p:sp>
        <p:nvSpPr>
          <p:cNvPr id="135180" name="Text Box 12"/>
          <p:cNvSpPr txBox="1">
            <a:spLocks noChangeArrowheads="1"/>
          </p:cNvSpPr>
          <p:nvPr/>
        </p:nvSpPr>
        <p:spPr bwMode="auto">
          <a:xfrm>
            <a:off x="7308850" y="4403725"/>
            <a:ext cx="79375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4800"/>
              <a:t>？</a:t>
            </a:r>
          </a:p>
        </p:txBody>
      </p:sp>
      <p:graphicFrame>
        <p:nvGraphicFramePr>
          <p:cNvPr id="135181" name="Object 13"/>
          <p:cNvGraphicFramePr>
            <a:graphicFrameLocks noChangeAspect="1"/>
          </p:cNvGraphicFramePr>
          <p:nvPr/>
        </p:nvGraphicFramePr>
        <p:xfrm>
          <a:off x="5795963" y="5661025"/>
          <a:ext cx="310356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3" imgW="1714320" imgH="393480" progId="Equation.DSMT4">
                  <p:embed/>
                </p:oleObj>
              </mc:Choice>
              <mc:Fallback>
                <p:oleObj name="Equation" r:id="rId3" imgW="171432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5661025"/>
                        <a:ext cx="3103562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0" grpId="0"/>
      <p:bldP spid="135172" grpId="0"/>
      <p:bldP spid="135176" grpId="0"/>
      <p:bldP spid="135177" grpId="0"/>
      <p:bldP spid="135178" grpId="0" animBg="1"/>
      <p:bldP spid="135179" grpId="0"/>
      <p:bldP spid="135180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4842</TotalTime>
  <Words>1991</Words>
  <Application>Microsoft Office PowerPoint</Application>
  <PresentationFormat>全屏显示(4:3)</PresentationFormat>
  <Paragraphs>260</Paragraphs>
  <Slides>61</Slides>
  <Notes>0</Notes>
  <HiddenSlides>0</HiddenSlides>
  <MMClips>2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61</vt:i4>
      </vt:variant>
    </vt:vector>
  </HeadingPairs>
  <TitlesOfParts>
    <vt:vector size="72" baseType="lpstr">
      <vt:lpstr>楷体_GB2312</vt:lpstr>
      <vt:lpstr>隶书</vt:lpstr>
      <vt:lpstr>宋体</vt:lpstr>
      <vt:lpstr>Arial</vt:lpstr>
      <vt:lpstr>Times New Roman</vt:lpstr>
      <vt:lpstr>Wingdings</vt:lpstr>
      <vt:lpstr>Wingdings 2</vt:lpstr>
      <vt:lpstr>默认设计模板</vt:lpstr>
      <vt:lpstr>Equation</vt:lpstr>
      <vt:lpstr>AutoCAD Drawing</vt:lpstr>
      <vt:lpstr>图表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heat transfer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mja</cp:lastModifiedBy>
  <cp:revision>131</cp:revision>
  <dcterms:created xsi:type="dcterms:W3CDTF">2003-10-22T09:05:12Z</dcterms:created>
  <dcterms:modified xsi:type="dcterms:W3CDTF">2017-04-20T01:31:00Z</dcterms:modified>
</cp:coreProperties>
</file>